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71506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1506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182" y="372281"/>
            <a:ext cx="7352940" cy="2051058"/>
          </a:xfrm>
          <a:prstGeom prst="rect">
            <a:avLst/>
          </a:prstGeom>
          <a:solidFill>
            <a:srgbClr val="E9DCE0"/>
          </a:solidFill>
          <a:ln w="5080">
            <a:solidFill>
              <a:srgbClr val="E0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320" y="63217"/>
            <a:ext cx="4319062" cy="238821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725" b="1" i="0">
                <a:solidFill>
                  <a:srgbClr val="000000"/>
                </a:solidFill>
                <a:latin typeface="Arial"/>
              </a:rPr>
              <a:t>(a) Construction of Object Agent 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2329" y="372281"/>
            <a:ext cx="4663182" cy="3287312"/>
          </a:xfrm>
          <a:prstGeom prst="rect">
            <a:avLst/>
          </a:prstGeom>
          <a:solidFill>
            <a:srgbClr val="C8E7E1"/>
          </a:solidFill>
          <a:ln w="5080">
            <a:solidFill>
              <a:srgbClr val="E0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21489" y="63217"/>
            <a:ext cx="4354176" cy="238821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725" b="1" i="0">
                <a:solidFill>
                  <a:srgbClr val="000000"/>
                </a:solidFill>
                <a:latin typeface="Arial"/>
              </a:rPr>
              <a:t>(b) Dual-queries Consistency Scheme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47317" y="2493581"/>
            <a:ext cx="9888195" cy="1166012"/>
          </a:xfrm>
          <a:prstGeom prst="rect">
            <a:avLst/>
          </a:prstGeom>
          <a:solidFill>
            <a:srgbClr val="E5F1DC"/>
          </a:solidFill>
          <a:ln w="5080">
            <a:solidFill>
              <a:srgbClr val="E0E4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182" y="3666618"/>
            <a:ext cx="12079329" cy="3210047"/>
          </a:xfrm>
          <a:prstGeom prst="rect">
            <a:avLst/>
          </a:prstGeom>
          <a:solidFill>
            <a:srgbClr val="FFF1C7"/>
          </a:solidFill>
          <a:ln w="5080">
            <a:solidFill>
              <a:srgbClr val="E7D8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320" y="6897737"/>
            <a:ext cx="4354176" cy="196676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00000"/>
                </a:solidFill>
                <a:latin typeface="Arial"/>
              </a:rPr>
              <a:t>(c) Cross-modal Semantic Enhancement</a:t>
            </a:r>
          </a:p>
        </p:txBody>
      </p:sp>
      <p:pic>
        <p:nvPicPr>
          <p:cNvPr id="10" name="Picture 9" descr="sourc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71" y="590030"/>
            <a:ext cx="1643350" cy="101850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6714" y="1763067"/>
            <a:ext cx="1123658" cy="196676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350" b="0" i="0">
                <a:solidFill>
                  <a:srgbClr val="000000"/>
                </a:solidFill>
                <a:latin typeface="Arial"/>
              </a:rPr>
              <a:t>Source Image</a:t>
            </a:r>
          </a:p>
        </p:txBody>
      </p:sp>
      <p:pic>
        <p:nvPicPr>
          <p:cNvPr id="12" name="Picture 11" descr="source_point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17" y="5197887"/>
            <a:ext cx="1530984" cy="1060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6411" y="6272586"/>
            <a:ext cx="1650373" cy="189652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Source Point Cloud</a:t>
            </a:r>
          </a:p>
        </p:txBody>
      </p:sp>
      <p:pic>
        <p:nvPicPr>
          <p:cNvPr id="14" name="Picture 13" descr="label_point_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9413" y="5893281"/>
            <a:ext cx="1502893" cy="9201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625596" y="6820471"/>
            <a:ext cx="561829" cy="175604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Label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182" y="2493581"/>
            <a:ext cx="2127928" cy="1151964"/>
          </a:xfrm>
          <a:prstGeom prst="rect">
            <a:avLst/>
          </a:prstGeom>
          <a:solidFill>
            <a:srgbClr val="F9F9F9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6411" y="2584895"/>
            <a:ext cx="140457" cy="140483"/>
          </a:xfrm>
          <a:prstGeom prst="rect">
            <a:avLst/>
          </a:prstGeom>
          <a:solidFill>
            <a:srgbClr val="BFD5E8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3051" y="2591919"/>
            <a:ext cx="1720602" cy="161555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454545"/>
                </a:solidFill>
                <a:latin typeface="Arial"/>
              </a:rPr>
              <a:t>Learnable Queries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411" y="2802644"/>
            <a:ext cx="140457" cy="140483"/>
          </a:xfrm>
          <a:prstGeom prst="rect">
            <a:avLst/>
          </a:prstGeom>
          <a:solidFill>
            <a:srgbClr val="BFD5E8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3051" y="2809669"/>
            <a:ext cx="1720602" cy="161555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454545"/>
                </a:solidFill>
                <a:latin typeface="Arial"/>
              </a:rPr>
              <a:t>2D Object Agent Queries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411" y="3020394"/>
            <a:ext cx="140457" cy="140483"/>
          </a:xfrm>
          <a:prstGeom prst="rect">
            <a:avLst/>
          </a:prstGeom>
          <a:solidFill>
            <a:srgbClr val="3B9FB5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3051" y="3027418"/>
            <a:ext cx="1720602" cy="161555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454545"/>
                </a:solidFill>
                <a:latin typeface="Arial"/>
              </a:rPr>
              <a:t>2D Auxiliary Object Agent Queries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6411" y="3238143"/>
            <a:ext cx="140457" cy="140483"/>
          </a:xfrm>
          <a:prstGeom prst="rect">
            <a:avLst/>
          </a:prstGeom>
          <a:solidFill>
            <a:srgbClr val="F6B79C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3051" y="3245167"/>
            <a:ext cx="1720602" cy="161555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454545"/>
                </a:solidFill>
                <a:latin typeface="Arial"/>
              </a:rPr>
              <a:t>3D Object Agent Queries</a:t>
            </a:r>
          </a:p>
        </p:txBody>
      </p:sp>
      <p:sp>
        <p:nvSpPr>
          <p:cNvPr id="25" name="TextBox 24"/>
          <p:cNvSpPr txBox="1"/>
          <p:nvPr/>
        </p:nvSpPr>
        <p:spPr>
          <a:xfrm rot="5400000">
            <a:off x="182594" y="4390108"/>
            <a:ext cx="477554" cy="168580"/>
          </a:xfrm>
          <a:prstGeom prst="rect">
            <a:avLst/>
          </a:prstGeom>
          <a:noFill/>
        </p:spPr>
        <p:txBody>
          <a:bodyPr wrap="none" lIns="27432" rIns="27432" tIns="13716" bIns="13716" anchor="ctr">
            <a:spAutoFit/>
          </a:bodyPr>
          <a:lstStyle/>
          <a:p>
            <a:pPr algn="ctr"/>
            <a:r>
              <a:rPr sz="1200" b="0" i="0">
                <a:solidFill>
                  <a:srgbClr val="969696"/>
                </a:solidFill>
                <a:latin typeface="Arial"/>
              </a:rPr>
              <a:t>Paired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818922" y="1095770"/>
            <a:ext cx="196640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990982" y="1071186"/>
            <a:ext cx="49160" cy="49169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022585" y="449547"/>
            <a:ext cx="582897" cy="1552342"/>
          </a:xfrm>
          <a:prstGeom prst="roundRect">
            <a:avLst/>
          </a:prstGeom>
          <a:solidFill>
            <a:srgbClr val="F1E6E9"/>
          </a:solidFill>
          <a:ln w="215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 rot="5400000">
            <a:off x="1748693" y="1130891"/>
            <a:ext cx="1130681" cy="182628"/>
          </a:xfrm>
          <a:prstGeom prst="rect">
            <a:avLst/>
          </a:prstGeom>
          <a:noFill/>
        </p:spPr>
        <p:txBody>
          <a:bodyPr wrap="none" lIns="27432" rIns="27432" tIns="13716" bIns="13716" anchor="ctr">
            <a:spAutoFit/>
          </a:bodyPr>
          <a:lstStyle/>
          <a:p>
            <a:pPr algn="ctr"/>
            <a:r>
              <a:rPr sz="1275" b="0" i="0">
                <a:solidFill>
                  <a:srgbClr val="0F2C50"/>
                </a:solidFill>
                <a:latin typeface="Arial"/>
              </a:rPr>
              <a:t>Pre-trained Encoder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9911" y="1826284"/>
            <a:ext cx="161525" cy="16155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0F2C50"/>
                </a:solidFill>
                <a:latin typeface="Arial"/>
              </a:rPr>
              <a:t>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56626" y="786707"/>
            <a:ext cx="245800" cy="716465"/>
          </a:xfrm>
          <a:prstGeom prst="rect">
            <a:avLst/>
          </a:prstGeom>
          <a:solidFill>
            <a:srgbClr val="E1E1E1"/>
          </a:solidFill>
          <a:ln w="12700">
            <a:solidFill>
              <a:srgbClr val="8B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077" y="1580438"/>
            <a:ext cx="639080" cy="182628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0">
                <a:solidFill>
                  <a:srgbClr val="444444"/>
                </a:solidFill>
                <a:latin typeface="Arial"/>
              </a:rPr>
              <a:t>Latent z₀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605483" y="1095770"/>
            <a:ext cx="323052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2903955" y="1071186"/>
            <a:ext cx="49160" cy="49169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30821" y="449547"/>
            <a:ext cx="358166" cy="1552342"/>
          </a:xfrm>
          <a:prstGeom prst="roundRect">
            <a:avLst/>
          </a:prstGeom>
          <a:solidFill>
            <a:srgbClr val="F1E6E9"/>
          </a:solidFill>
          <a:ln w="215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 rot="5400000">
            <a:off x="3392044" y="1130891"/>
            <a:ext cx="842743" cy="182628"/>
          </a:xfrm>
          <a:prstGeom prst="rect">
            <a:avLst/>
          </a:prstGeom>
          <a:noFill/>
        </p:spPr>
        <p:txBody>
          <a:bodyPr wrap="none" lIns="27432" rIns="27432" tIns="13716" bIns="13716" anchor="ctr">
            <a:spAutoFit/>
          </a:bodyPr>
          <a:lstStyle/>
          <a:p>
            <a:pPr algn="ctr"/>
            <a:r>
              <a:rPr sz="1275" b="0" i="0">
                <a:solidFill>
                  <a:srgbClr val="0F2C50"/>
                </a:solidFill>
                <a:latin typeface="Arial"/>
              </a:rPr>
              <a:t>Add Noise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6393" y="1826284"/>
            <a:ext cx="140457" cy="16155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0F2C50"/>
                </a:solidFill>
                <a:latin typeface="Arial"/>
              </a:rPr>
              <a:t>✳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272655" y="1095770"/>
            <a:ext cx="358166" cy="0"/>
          </a:xfrm>
          <a:prstGeom prst="line">
            <a:avLst/>
          </a:prstGeom>
          <a:ln w="2286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Isosceles Triangle 38"/>
          <p:cNvSpPr/>
          <p:nvPr/>
        </p:nvSpPr>
        <p:spPr>
          <a:xfrm rot="5400000">
            <a:off x="3606241" y="1071186"/>
            <a:ext cx="49160" cy="49169"/>
          </a:xfrm>
          <a:prstGeom prst="triangl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20880000">
            <a:off x="4726388" y="667296"/>
            <a:ext cx="238777" cy="632175"/>
          </a:xfrm>
          <a:prstGeom prst="rect">
            <a:avLst/>
          </a:prstGeom>
          <a:solidFill>
            <a:srgbClr val="BFD5E8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 rot="20880000">
            <a:off x="4817686" y="618127"/>
            <a:ext cx="238777" cy="632175"/>
          </a:xfrm>
          <a:prstGeom prst="rect">
            <a:avLst/>
          </a:prstGeom>
          <a:solidFill>
            <a:srgbClr val="3B9FB5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0880000">
            <a:off x="4747457" y="1468052"/>
            <a:ext cx="126552" cy="335053"/>
          </a:xfrm>
          <a:prstGeom prst="rect">
            <a:avLst/>
          </a:prstGeom>
          <a:solidFill>
            <a:srgbClr val="BFD5E8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 rot="20880000">
            <a:off x="4795844" y="1441992"/>
            <a:ext cx="126552" cy="335053"/>
          </a:xfrm>
          <a:prstGeom prst="rect">
            <a:avLst/>
          </a:prstGeom>
          <a:solidFill>
            <a:srgbClr val="3B9FB5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0131" y="941239"/>
            <a:ext cx="196640" cy="245846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0" i="1">
                <a:solidFill>
                  <a:srgbClr val="333333"/>
                </a:solidFill>
                <a:latin typeface="Arial"/>
              </a:rPr>
              <a:t>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7153" y="1327568"/>
            <a:ext cx="252823" cy="21072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200" b="0" i="1">
                <a:solidFill>
                  <a:srgbClr val="333333"/>
                </a:solidFill>
                <a:latin typeface="Arial"/>
              </a:rPr>
              <a:t>t′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3988987" y="1095770"/>
            <a:ext cx="723356" cy="0"/>
          </a:xfrm>
          <a:prstGeom prst="line">
            <a:avLst/>
          </a:prstGeom>
          <a:ln w="3302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4687762" y="1071186"/>
            <a:ext cx="49160" cy="49169"/>
          </a:xfrm>
          <a:prstGeom prst="triangle">
            <a:avLst/>
          </a:prstGeom>
          <a:solidFill>
            <a:srgbClr val="3A9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3988987" y="1236254"/>
            <a:ext cx="182595" cy="0"/>
          </a:xfrm>
          <a:prstGeom prst="line">
            <a:avLst/>
          </a:prstGeom>
          <a:ln w="3302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171582" y="1236254"/>
            <a:ext cx="0" cy="526813"/>
          </a:xfrm>
          <a:prstGeom prst="line">
            <a:avLst/>
          </a:prstGeom>
          <a:ln w="3302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171582" y="1763067"/>
            <a:ext cx="575875" cy="0"/>
          </a:xfrm>
          <a:prstGeom prst="line">
            <a:avLst/>
          </a:prstGeom>
          <a:ln w="3302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Isosceles Triangle 50"/>
          <p:cNvSpPr/>
          <p:nvPr/>
        </p:nvSpPr>
        <p:spPr>
          <a:xfrm rot="5400000">
            <a:off x="4722877" y="1738482"/>
            <a:ext cx="49160" cy="49169"/>
          </a:xfrm>
          <a:prstGeom prst="triangle">
            <a:avLst/>
          </a:prstGeom>
          <a:solidFill>
            <a:srgbClr val="3A9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5021349" y="526812"/>
            <a:ext cx="0" cy="147508"/>
          </a:xfrm>
          <a:prstGeom prst="line">
            <a:avLst/>
          </a:prstGeom>
          <a:ln w="29209">
            <a:solidFill>
              <a:srgbClr val="7CB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021349" y="526812"/>
            <a:ext cx="1186864" cy="0"/>
          </a:xfrm>
          <a:prstGeom prst="line">
            <a:avLst/>
          </a:prstGeom>
          <a:ln w="29209">
            <a:solidFill>
              <a:srgbClr val="7CB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208213" y="526812"/>
            <a:ext cx="0" cy="330137"/>
          </a:xfrm>
          <a:prstGeom prst="line">
            <a:avLst/>
          </a:prstGeom>
          <a:ln w="29209">
            <a:solidFill>
              <a:srgbClr val="7CB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sosceles Triangle 54"/>
          <p:cNvSpPr/>
          <p:nvPr/>
        </p:nvSpPr>
        <p:spPr>
          <a:xfrm rot="10800000">
            <a:off x="6183633" y="832364"/>
            <a:ext cx="49160" cy="49169"/>
          </a:xfrm>
          <a:prstGeom prst="triangle">
            <a:avLst/>
          </a:prstGeom>
          <a:solidFill>
            <a:srgbClr val="7C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611269" y="856949"/>
            <a:ext cx="1221978" cy="625151"/>
          </a:xfrm>
          <a:prstGeom prst="roundRect">
            <a:avLst/>
          </a:prstGeom>
          <a:solidFill>
            <a:srgbClr val="F0DEE5"/>
          </a:solidFill>
          <a:ln w="228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667452" y="976360"/>
            <a:ext cx="1109612" cy="40740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425" b="0" i="0">
                <a:solidFill>
                  <a:srgbClr val="0F2C50"/>
                </a:solidFill>
                <a:latin typeface="Arial"/>
              </a:rPr>
              <a:t>Diffusion
Model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29585" y="941239"/>
            <a:ext cx="154503" cy="16858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0F2C50"/>
                </a:solidFill>
                <a:latin typeface="Arial"/>
              </a:rPr>
              <a:t>✳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309286" y="1130891"/>
            <a:ext cx="301983" cy="0"/>
          </a:xfrm>
          <a:prstGeom prst="line">
            <a:avLst/>
          </a:prstGeom>
          <a:ln w="3429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 rot="5400000">
            <a:off x="5586689" y="1106307"/>
            <a:ext cx="49160" cy="49169"/>
          </a:xfrm>
          <a:prstGeom prst="triangle">
            <a:avLst/>
          </a:prstGeom>
          <a:solidFill>
            <a:srgbClr val="3A9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5920275" y="1482100"/>
            <a:ext cx="0" cy="470620"/>
          </a:xfrm>
          <a:prstGeom prst="line">
            <a:avLst/>
          </a:prstGeom>
          <a:ln w="3429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Isosceles Triangle 61"/>
          <p:cNvSpPr/>
          <p:nvPr/>
        </p:nvSpPr>
        <p:spPr>
          <a:xfrm rot="10800000">
            <a:off x="5895695" y="1928135"/>
            <a:ext cx="49160" cy="49169"/>
          </a:xfrm>
          <a:prstGeom prst="triangle">
            <a:avLst/>
          </a:prstGeom>
          <a:solidFill>
            <a:srgbClr val="3A9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6496150" y="1482100"/>
            <a:ext cx="0" cy="470620"/>
          </a:xfrm>
          <a:prstGeom prst="line">
            <a:avLst/>
          </a:prstGeom>
          <a:ln w="3429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sosceles Triangle 63"/>
          <p:cNvSpPr/>
          <p:nvPr/>
        </p:nvSpPr>
        <p:spPr>
          <a:xfrm rot="10800000">
            <a:off x="6471570" y="1928135"/>
            <a:ext cx="49160" cy="49169"/>
          </a:xfrm>
          <a:prstGeom prst="triangle">
            <a:avLst/>
          </a:prstGeom>
          <a:solidFill>
            <a:srgbClr val="3A9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 rot="20880000">
            <a:off x="5562109" y="1545318"/>
            <a:ext cx="90735" cy="240226"/>
          </a:xfrm>
          <a:prstGeom prst="rect">
            <a:avLst/>
          </a:prstGeom>
          <a:solidFill>
            <a:srgbClr val="BFD5E8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 rot="20880000">
            <a:off x="5596802" y="1526633"/>
            <a:ext cx="90735" cy="240226"/>
          </a:xfrm>
          <a:prstGeom prst="rect">
            <a:avLst/>
          </a:prstGeom>
          <a:solidFill>
            <a:srgbClr val="3B9FB5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 rot="20880000">
            <a:off x="6257373" y="1545318"/>
            <a:ext cx="90735" cy="240226"/>
          </a:xfrm>
          <a:prstGeom prst="rect">
            <a:avLst/>
          </a:prstGeom>
          <a:solidFill>
            <a:srgbClr val="BFD5E8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 rot="20880000">
            <a:off x="6292066" y="1526633"/>
            <a:ext cx="90735" cy="240226"/>
          </a:xfrm>
          <a:prstGeom prst="rect">
            <a:avLst/>
          </a:prstGeom>
          <a:solidFill>
            <a:srgbClr val="3B9FB5"/>
          </a:solidFill>
          <a:ln w="11430"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310522" y="1847357"/>
            <a:ext cx="1267627" cy="413723"/>
          </a:xfrm>
          <a:prstGeom prst="rect">
            <a:avLst/>
          </a:prstGeom>
          <a:noFill/>
          <a:ln w="11430">
            <a:solidFill>
              <a:srgbClr val="193B6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377240" y="1954124"/>
            <a:ext cx="213495" cy="213534"/>
          </a:xfrm>
          <a:prstGeom prst="rect">
            <a:avLst/>
          </a:prstGeom>
          <a:solidFill>
            <a:srgbClr val="BFD5E8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630765" y="1947451"/>
            <a:ext cx="160121" cy="20018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193B60"/>
                </a:solidFill>
                <a:latin typeface="Arial"/>
              </a:rPr>
              <a:t>…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837588" y="1954124"/>
            <a:ext cx="213495" cy="213534"/>
          </a:xfrm>
          <a:prstGeom prst="rect">
            <a:avLst/>
          </a:prstGeom>
          <a:solidFill>
            <a:srgbClr val="BFD5E8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064427" y="1954124"/>
            <a:ext cx="213495" cy="213534"/>
          </a:xfrm>
          <a:prstGeom prst="rect">
            <a:avLst/>
          </a:prstGeom>
          <a:solidFill>
            <a:srgbClr val="BFD5E8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291266" y="1954124"/>
            <a:ext cx="213495" cy="213534"/>
          </a:xfrm>
          <a:prstGeom prst="rect">
            <a:avLst/>
          </a:prstGeom>
          <a:solidFill>
            <a:srgbClr val="BFD5E8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518104" y="1954124"/>
            <a:ext cx="213495" cy="213534"/>
          </a:xfrm>
          <a:prstGeom prst="rect">
            <a:avLst/>
          </a:prstGeom>
          <a:solidFill>
            <a:srgbClr val="BFD5E8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310522" y="2563823"/>
            <a:ext cx="1267627" cy="413723"/>
          </a:xfrm>
          <a:prstGeom prst="rect">
            <a:avLst/>
          </a:prstGeom>
          <a:noFill/>
          <a:ln w="11430">
            <a:solidFill>
              <a:srgbClr val="193B6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377240" y="2670590"/>
            <a:ext cx="213495" cy="213534"/>
          </a:xfrm>
          <a:prstGeom prst="rect">
            <a:avLst/>
          </a:prstGeom>
          <a:solidFill>
            <a:srgbClr val="BFD5E8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30765" y="2663917"/>
            <a:ext cx="160121" cy="20018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193B60"/>
                </a:solidFill>
                <a:latin typeface="Arial"/>
              </a:rPr>
              <a:t>…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837588" y="2670590"/>
            <a:ext cx="213495" cy="213534"/>
          </a:xfrm>
          <a:prstGeom prst="rect">
            <a:avLst/>
          </a:prstGeom>
          <a:solidFill>
            <a:srgbClr val="BFD5E8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064427" y="2670590"/>
            <a:ext cx="213495" cy="213534"/>
          </a:xfrm>
          <a:prstGeom prst="rect">
            <a:avLst/>
          </a:prstGeom>
          <a:solidFill>
            <a:srgbClr val="BFD5E8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291266" y="2670590"/>
            <a:ext cx="213495" cy="213534"/>
          </a:xfrm>
          <a:prstGeom prst="rect">
            <a:avLst/>
          </a:prstGeom>
          <a:solidFill>
            <a:srgbClr val="BFD5E8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518104" y="2670590"/>
            <a:ext cx="213495" cy="213534"/>
          </a:xfrm>
          <a:prstGeom prst="rect">
            <a:avLst/>
          </a:prstGeom>
          <a:solidFill>
            <a:srgbClr val="BFD5E8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310522" y="1847357"/>
            <a:ext cx="1516939" cy="1671753"/>
          </a:xfrm>
          <a:prstGeom prst="rect">
            <a:avLst/>
          </a:prstGeom>
          <a:noFill/>
          <a:ln w="22860">
            <a:solidFill>
              <a:srgbClr val="193B6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514185" y="3076587"/>
            <a:ext cx="1018315" cy="37930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1">
                <a:solidFill>
                  <a:srgbClr val="111111"/>
                </a:solidFill>
                <a:latin typeface="Arial"/>
              </a:rPr>
              <a:t>Dual-queries
Design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827461" y="2051058"/>
            <a:ext cx="428395" cy="0"/>
          </a:xfrm>
          <a:prstGeom prst="line">
            <a:avLst/>
          </a:prstGeom>
          <a:ln w="2667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Isosceles Triangle 85"/>
          <p:cNvSpPr/>
          <p:nvPr/>
        </p:nvSpPr>
        <p:spPr>
          <a:xfrm rot="5400000">
            <a:off x="4231276" y="2026473"/>
            <a:ext cx="49160" cy="49169"/>
          </a:xfrm>
          <a:prstGeom prst="triangle">
            <a:avLst/>
          </a:prstGeom>
          <a:solidFill>
            <a:srgbClr val="3A9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3827461" y="2767524"/>
            <a:ext cx="175572" cy="0"/>
          </a:xfrm>
          <a:prstGeom prst="line">
            <a:avLst/>
          </a:prstGeom>
          <a:ln w="2667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4003033" y="2121300"/>
            <a:ext cx="0" cy="646224"/>
          </a:xfrm>
          <a:prstGeom prst="line">
            <a:avLst/>
          </a:prstGeom>
          <a:ln w="2667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003033" y="2121300"/>
            <a:ext cx="252823" cy="0"/>
          </a:xfrm>
          <a:prstGeom prst="line">
            <a:avLst/>
          </a:prstGeom>
          <a:ln w="2667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Isosceles Triangle 89"/>
          <p:cNvSpPr/>
          <p:nvPr/>
        </p:nvSpPr>
        <p:spPr>
          <a:xfrm rot="5400000">
            <a:off x="4231276" y="2096715"/>
            <a:ext cx="49160" cy="49169"/>
          </a:xfrm>
          <a:prstGeom prst="triangle">
            <a:avLst/>
          </a:prstGeom>
          <a:solidFill>
            <a:srgbClr val="3A9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4262879" y="1952720"/>
            <a:ext cx="3040900" cy="337160"/>
          </a:xfrm>
          <a:prstGeom prst="roundRect">
            <a:avLst/>
          </a:prstGeom>
          <a:solidFill>
            <a:srgbClr val="E6C9D7"/>
          </a:solidFill>
          <a:ln w="22860">
            <a:solidFill>
              <a:srgbClr val="071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19062" y="1994865"/>
            <a:ext cx="2928535" cy="238821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0" i="0">
                <a:solidFill>
                  <a:srgbClr val="071B36"/>
                </a:solidFill>
                <a:latin typeface="Arial"/>
              </a:rPr>
              <a:t>Aggregating Instance Semantic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71582" y="2563823"/>
            <a:ext cx="1207932" cy="365256"/>
          </a:xfrm>
          <a:prstGeom prst="rect">
            <a:avLst/>
          </a:prstGeom>
          <a:noFill/>
          <a:ln w="10160">
            <a:solidFill>
              <a:srgbClr val="193B6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248833" y="2648113"/>
            <a:ext cx="203663" cy="203701"/>
          </a:xfrm>
          <a:prstGeom prst="rect">
            <a:avLst/>
          </a:prstGeom>
          <a:solidFill>
            <a:srgbClr val="BFD5E8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87611" y="2634064"/>
            <a:ext cx="168548" cy="21774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193B60"/>
                </a:solidFill>
                <a:latin typeface="Arial"/>
              </a:rPr>
              <a:t>…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712343" y="2648113"/>
            <a:ext cx="203663" cy="203701"/>
          </a:xfrm>
          <a:prstGeom prst="rect">
            <a:avLst/>
          </a:prstGeom>
          <a:solidFill>
            <a:srgbClr val="BFD5E8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930051" y="2648113"/>
            <a:ext cx="203663" cy="203701"/>
          </a:xfrm>
          <a:prstGeom prst="rect">
            <a:avLst/>
          </a:prstGeom>
          <a:solidFill>
            <a:srgbClr val="BFD5E8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147760" y="2648113"/>
            <a:ext cx="203663" cy="203701"/>
          </a:xfrm>
          <a:prstGeom prst="rect">
            <a:avLst/>
          </a:prstGeom>
          <a:solidFill>
            <a:srgbClr val="BFD5E8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365469" y="2648113"/>
            <a:ext cx="203663" cy="203701"/>
          </a:xfrm>
          <a:prstGeom prst="rect">
            <a:avLst/>
          </a:prstGeom>
          <a:solidFill>
            <a:srgbClr val="BFD5E8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171582" y="2964200"/>
            <a:ext cx="1207932" cy="1685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1">
                <a:solidFill>
                  <a:srgbClr val="071B36"/>
                </a:solidFill>
                <a:latin typeface="Arial"/>
              </a:rPr>
              <a:t>q_ins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899207" y="2563823"/>
            <a:ext cx="1207932" cy="365256"/>
          </a:xfrm>
          <a:prstGeom prst="rect">
            <a:avLst/>
          </a:prstGeom>
          <a:noFill/>
          <a:ln w="10160">
            <a:solidFill>
              <a:srgbClr val="193B6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76458" y="2648113"/>
            <a:ext cx="203663" cy="203701"/>
          </a:xfrm>
          <a:prstGeom prst="rect">
            <a:avLst/>
          </a:prstGeom>
          <a:solidFill>
            <a:srgbClr val="3B9FB5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215236" y="2634064"/>
            <a:ext cx="168548" cy="21774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193B60"/>
                </a:solidFill>
                <a:latin typeface="Arial"/>
              </a:rPr>
              <a:t>…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439968" y="2648113"/>
            <a:ext cx="203663" cy="203701"/>
          </a:xfrm>
          <a:prstGeom prst="rect">
            <a:avLst/>
          </a:prstGeom>
          <a:solidFill>
            <a:srgbClr val="3B9FB5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657676" y="2648113"/>
            <a:ext cx="203663" cy="203701"/>
          </a:xfrm>
          <a:prstGeom prst="rect">
            <a:avLst/>
          </a:prstGeom>
          <a:solidFill>
            <a:srgbClr val="3B9FB5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875385" y="2648113"/>
            <a:ext cx="203663" cy="203701"/>
          </a:xfrm>
          <a:prstGeom prst="rect">
            <a:avLst/>
          </a:prstGeom>
          <a:solidFill>
            <a:srgbClr val="3B9FB5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093094" y="2648113"/>
            <a:ext cx="203663" cy="203701"/>
          </a:xfrm>
          <a:prstGeom prst="rect">
            <a:avLst/>
          </a:prstGeom>
          <a:solidFill>
            <a:srgbClr val="3B9FB5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899207" y="2964200"/>
            <a:ext cx="1207932" cy="1685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1">
                <a:solidFill>
                  <a:srgbClr val="071B36"/>
                </a:solidFill>
                <a:latin typeface="Arial"/>
              </a:rPr>
              <a:t>q′_ins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4845777" y="2289880"/>
            <a:ext cx="0" cy="273943"/>
          </a:xfrm>
          <a:prstGeom prst="line">
            <a:avLst/>
          </a:prstGeom>
          <a:ln w="2667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Isosceles Triangle 109"/>
          <p:cNvSpPr/>
          <p:nvPr/>
        </p:nvSpPr>
        <p:spPr>
          <a:xfrm rot="10800000">
            <a:off x="4821197" y="2539238"/>
            <a:ext cx="49160" cy="49169"/>
          </a:xfrm>
          <a:prstGeom prst="triangle">
            <a:avLst/>
          </a:prstGeom>
          <a:solidFill>
            <a:srgbClr val="3A9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6461036" y="2289880"/>
            <a:ext cx="0" cy="273943"/>
          </a:xfrm>
          <a:prstGeom prst="line">
            <a:avLst/>
          </a:prstGeom>
          <a:ln w="2667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Isosceles Triangle 111"/>
          <p:cNvSpPr/>
          <p:nvPr/>
        </p:nvSpPr>
        <p:spPr>
          <a:xfrm rot="10800000">
            <a:off x="6436456" y="2539238"/>
            <a:ext cx="49160" cy="49169"/>
          </a:xfrm>
          <a:prstGeom prst="triangle">
            <a:avLst/>
          </a:prstGeom>
          <a:solidFill>
            <a:srgbClr val="3A9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4164559" y="3252192"/>
            <a:ext cx="2977695" cy="351208"/>
          </a:xfrm>
          <a:prstGeom prst="roundRect">
            <a:avLst/>
          </a:prstGeom>
          <a:solidFill>
            <a:srgbClr val="C4E3DA"/>
          </a:solidFill>
          <a:ln w="22860">
            <a:solidFill>
              <a:srgbClr val="071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213719" y="3294337"/>
            <a:ext cx="2879375" cy="238821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0" i="0">
                <a:solidFill>
                  <a:srgbClr val="071B36"/>
                </a:solidFill>
                <a:latin typeface="Arial"/>
              </a:rPr>
              <a:t>Principal Component Extraction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4775548" y="2929080"/>
            <a:ext cx="0" cy="323112"/>
          </a:xfrm>
          <a:prstGeom prst="line">
            <a:avLst/>
          </a:prstGeom>
          <a:ln w="2667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Isosceles Triangle 115"/>
          <p:cNvSpPr/>
          <p:nvPr/>
        </p:nvSpPr>
        <p:spPr>
          <a:xfrm rot="10800000">
            <a:off x="4750968" y="3227607"/>
            <a:ext cx="49160" cy="49169"/>
          </a:xfrm>
          <a:prstGeom prst="triangle">
            <a:avLst/>
          </a:prstGeom>
          <a:solidFill>
            <a:srgbClr val="3A9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6461036" y="2929080"/>
            <a:ext cx="0" cy="323112"/>
          </a:xfrm>
          <a:prstGeom prst="line">
            <a:avLst/>
          </a:prstGeom>
          <a:ln w="2667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Isosceles Triangle 117"/>
          <p:cNvSpPr/>
          <p:nvPr/>
        </p:nvSpPr>
        <p:spPr>
          <a:xfrm rot="10800000">
            <a:off x="6436456" y="3227607"/>
            <a:ext cx="49160" cy="49169"/>
          </a:xfrm>
          <a:prstGeom prst="triangle">
            <a:avLst/>
          </a:prstGeom>
          <a:solidFill>
            <a:srgbClr val="3A9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nded Rectangle 118"/>
          <p:cNvSpPr/>
          <p:nvPr/>
        </p:nvSpPr>
        <p:spPr>
          <a:xfrm>
            <a:off x="7584695" y="421450"/>
            <a:ext cx="4550817" cy="2205590"/>
          </a:xfrm>
          <a:prstGeom prst="roundRect">
            <a:avLst/>
          </a:prstGeom>
          <a:solidFill>
            <a:srgbClr val="C8E7E1"/>
          </a:solidFill>
          <a:ln w="22860">
            <a:solidFill>
              <a:srgbClr val="071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371256" y="554909"/>
            <a:ext cx="203663" cy="196676"/>
          </a:xfrm>
          <a:prstGeom prst="rect">
            <a:avLst/>
          </a:prstGeom>
          <a:solidFill>
            <a:srgbClr val="FFF0A7"/>
          </a:solidFill>
          <a:ln w="1143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617056" y="540861"/>
            <a:ext cx="175571" cy="21072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425" b="1" i="0">
                <a:solidFill>
                  <a:srgbClr val="0F2C50"/>
                </a:solidFill>
                <a:latin typeface="Arial"/>
              </a:rPr>
              <a:t>…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855833" y="554909"/>
            <a:ext cx="196640" cy="196676"/>
          </a:xfrm>
          <a:prstGeom prst="rect">
            <a:avLst/>
          </a:prstGeom>
          <a:solidFill>
            <a:srgbClr val="FFF0A7"/>
          </a:solidFill>
          <a:ln w="1143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052474" y="554909"/>
            <a:ext cx="196640" cy="196676"/>
          </a:xfrm>
          <a:prstGeom prst="rect">
            <a:avLst/>
          </a:prstGeom>
          <a:solidFill>
            <a:srgbClr val="FFF0A7"/>
          </a:solidFill>
          <a:ln w="1143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249114" y="554909"/>
            <a:ext cx="196640" cy="196676"/>
          </a:xfrm>
          <a:prstGeom prst="rect">
            <a:avLst/>
          </a:prstGeom>
          <a:solidFill>
            <a:srgbClr val="FFF0A7"/>
          </a:solidFill>
          <a:ln w="1143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558120" y="554909"/>
            <a:ext cx="1825945" cy="21072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425" b="0" i="0">
                <a:solidFill>
                  <a:srgbClr val="071B36"/>
                </a:solidFill>
                <a:latin typeface="Arial"/>
              </a:rPr>
              <a:t>Object Agent Queries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8476599" y="758610"/>
            <a:ext cx="0" cy="238822"/>
          </a:xfrm>
          <a:prstGeom prst="line">
            <a:avLst/>
          </a:prstGeom>
          <a:ln w="22860">
            <a:solidFill>
              <a:srgbClr val="071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Isosceles Triangle 126"/>
          <p:cNvSpPr/>
          <p:nvPr/>
        </p:nvSpPr>
        <p:spPr>
          <a:xfrm rot="10800000">
            <a:off x="8452019" y="972847"/>
            <a:ext cx="49160" cy="49169"/>
          </a:xfrm>
          <a:prstGeom prst="triangle">
            <a:avLst/>
          </a:prstGeom>
          <a:solidFill>
            <a:srgbClr val="07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480868" y="1025529"/>
            <a:ext cx="512669" cy="21072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425" b="1" i="1">
                <a:solidFill>
                  <a:srgbClr val="071B36"/>
                </a:solidFill>
                <a:latin typeface="Arial"/>
              </a:rPr>
              <a:t>SVD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640878" y="1004456"/>
            <a:ext cx="2338614" cy="1039577"/>
          </a:xfrm>
          <a:prstGeom prst="rect">
            <a:avLst/>
          </a:prstGeom>
          <a:noFill/>
          <a:ln w="12700">
            <a:solidFill>
              <a:srgbClr val="193B6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042698" y="1004456"/>
            <a:ext cx="2008539" cy="1039577"/>
          </a:xfrm>
          <a:prstGeom prst="rect">
            <a:avLst/>
          </a:prstGeom>
          <a:noFill/>
          <a:ln w="12700">
            <a:solidFill>
              <a:srgbClr val="193B6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7725152" y="1355665"/>
            <a:ext cx="477554" cy="477643"/>
          </a:xfrm>
          <a:prstGeom prst="roundRect">
            <a:avLst/>
          </a:prstGeom>
          <a:solidFill>
            <a:srgbClr val="B1DDE1"/>
          </a:solidFill>
          <a:ln w="1524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7886678" y="1299471"/>
            <a:ext cx="330074" cy="54086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216753" y="1552342"/>
            <a:ext cx="182594" cy="21072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275" b="0" i="0">
                <a:solidFill>
                  <a:srgbClr val="0F2C50"/>
                </a:solidFill>
                <a:latin typeface="Arial"/>
              </a:rPr>
              <a:t>r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8673239" y="1355665"/>
            <a:ext cx="379234" cy="477643"/>
          </a:xfrm>
          <a:prstGeom prst="roundRect">
            <a:avLst/>
          </a:prstGeom>
          <a:solidFill>
            <a:srgbClr val="FAE6BF"/>
          </a:solidFill>
          <a:ln w="1524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 rot="20280000">
            <a:off x="8715376" y="1355665"/>
            <a:ext cx="245800" cy="477643"/>
          </a:xfrm>
          <a:prstGeom prst="rect">
            <a:avLst/>
          </a:prstGeom>
          <a:solidFill>
            <a:srgbClr val="F6D9A7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9031405" y="1552342"/>
            <a:ext cx="182594" cy="21072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275" b="0" i="0">
                <a:solidFill>
                  <a:srgbClr val="0F2C50"/>
                </a:solidFill>
                <a:latin typeface="Arial"/>
              </a:rPr>
              <a:t>r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9515983" y="1355665"/>
            <a:ext cx="407326" cy="477643"/>
          </a:xfrm>
          <a:prstGeom prst="roundRect">
            <a:avLst/>
          </a:prstGeom>
          <a:solidFill>
            <a:srgbClr val="E8C8D8"/>
          </a:solidFill>
          <a:ln w="1524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256137" y="1552342"/>
            <a:ext cx="238777" cy="21072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275" b="0" i="0">
                <a:solidFill>
                  <a:srgbClr val="0F2C50"/>
                </a:solidFill>
                <a:latin typeface="Arial"/>
              </a:rPr>
              <a:t>r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9972469" y="1510197"/>
            <a:ext cx="77252" cy="0"/>
          </a:xfrm>
          <a:prstGeom prst="line">
            <a:avLst/>
          </a:prstGeom>
          <a:ln w="21590">
            <a:solidFill>
              <a:srgbClr val="071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Isosceles Triangle 139"/>
          <p:cNvSpPr/>
          <p:nvPr/>
        </p:nvSpPr>
        <p:spPr>
          <a:xfrm rot="5400000">
            <a:off x="10025141" y="1485612"/>
            <a:ext cx="49160" cy="49169"/>
          </a:xfrm>
          <a:prstGeom prst="triangle">
            <a:avLst/>
          </a:prstGeom>
          <a:solidFill>
            <a:srgbClr val="07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10225292" y="1355665"/>
            <a:ext cx="421371" cy="477643"/>
          </a:xfrm>
          <a:prstGeom prst="roundRect">
            <a:avLst/>
          </a:prstGeom>
          <a:solidFill>
            <a:srgbClr val="B1DDE1"/>
          </a:solidFill>
          <a:ln w="1524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10885442" y="1355665"/>
            <a:ext cx="379234" cy="477643"/>
          </a:xfrm>
          <a:prstGeom prst="roundRect">
            <a:avLst/>
          </a:prstGeom>
          <a:solidFill>
            <a:srgbClr val="FAE6BF"/>
          </a:solidFill>
          <a:ln w="1524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 rot="20280000">
            <a:off x="10920556" y="1355665"/>
            <a:ext cx="245800" cy="477643"/>
          </a:xfrm>
          <a:prstGeom prst="rect">
            <a:avLst/>
          </a:prstGeom>
          <a:solidFill>
            <a:srgbClr val="F6D9A7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11587728" y="1355665"/>
            <a:ext cx="407326" cy="477643"/>
          </a:xfrm>
          <a:prstGeom prst="roundRect">
            <a:avLst/>
          </a:prstGeom>
          <a:solidFill>
            <a:srgbClr val="E8C8D8"/>
          </a:solidFill>
          <a:ln w="1524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>
            <a:off x="11068036" y="1840333"/>
            <a:ext cx="0" cy="358233"/>
          </a:xfrm>
          <a:prstGeom prst="line">
            <a:avLst/>
          </a:prstGeom>
          <a:ln w="22860">
            <a:solidFill>
              <a:srgbClr val="071B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Isosceles Triangle 145"/>
          <p:cNvSpPr/>
          <p:nvPr/>
        </p:nvSpPr>
        <p:spPr>
          <a:xfrm rot="10800000">
            <a:off x="11043456" y="2173981"/>
            <a:ext cx="49160" cy="49169"/>
          </a:xfrm>
          <a:prstGeom prst="triangle">
            <a:avLst/>
          </a:prstGeom>
          <a:solidFill>
            <a:srgbClr val="071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815213" y="2191541"/>
            <a:ext cx="182594" cy="175604"/>
          </a:xfrm>
          <a:prstGeom prst="rect">
            <a:avLst/>
          </a:prstGeom>
          <a:solidFill>
            <a:srgbClr val="F6D9A7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795381" y="2317977"/>
            <a:ext cx="3300746" cy="182628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75" b="0" i="0">
                <a:solidFill>
                  <a:srgbClr val="071B36"/>
                </a:solidFill>
                <a:latin typeface="Arial"/>
              </a:rPr>
              <a:t>Quantized Object Agent Queries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1068036" y="2233686"/>
            <a:ext cx="182594" cy="21072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0F2C50"/>
                </a:solidFill>
                <a:latin typeface="Arial"/>
              </a:rPr>
              <a:t>…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1306814" y="2191541"/>
            <a:ext cx="168548" cy="175604"/>
          </a:xfrm>
          <a:prstGeom prst="rect">
            <a:avLst/>
          </a:prstGeom>
          <a:solidFill>
            <a:srgbClr val="F6D9A7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1489408" y="2191541"/>
            <a:ext cx="168548" cy="175604"/>
          </a:xfrm>
          <a:prstGeom prst="rect">
            <a:avLst/>
          </a:prstGeom>
          <a:solidFill>
            <a:srgbClr val="F6D9A7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672003" y="2191541"/>
            <a:ext cx="168548" cy="175604"/>
          </a:xfrm>
          <a:prstGeom prst="rect">
            <a:avLst/>
          </a:prstGeom>
          <a:solidFill>
            <a:srgbClr val="F6D9A7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854597" y="2191541"/>
            <a:ext cx="168548" cy="175604"/>
          </a:xfrm>
          <a:prstGeom prst="rect">
            <a:avLst/>
          </a:prstGeom>
          <a:solidFill>
            <a:srgbClr val="F6D9A7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668969" y="2929080"/>
            <a:ext cx="1200910" cy="365256"/>
          </a:xfrm>
          <a:prstGeom prst="rect">
            <a:avLst/>
          </a:prstGeom>
          <a:noFill/>
          <a:ln w="10160">
            <a:solidFill>
              <a:srgbClr val="193B6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746221" y="3013370"/>
            <a:ext cx="203663" cy="203701"/>
          </a:xfrm>
          <a:prstGeom prst="rect">
            <a:avLst/>
          </a:prstGeom>
          <a:solidFill>
            <a:srgbClr val="E1D7F1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984998" y="2999321"/>
            <a:ext cx="168548" cy="21774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193B60"/>
                </a:solidFill>
                <a:latin typeface="Arial"/>
              </a:rPr>
              <a:t>…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209730" y="3013370"/>
            <a:ext cx="203663" cy="203701"/>
          </a:xfrm>
          <a:prstGeom prst="rect">
            <a:avLst/>
          </a:prstGeom>
          <a:solidFill>
            <a:srgbClr val="E1D7F1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8427439" y="3013370"/>
            <a:ext cx="203663" cy="203701"/>
          </a:xfrm>
          <a:prstGeom prst="rect">
            <a:avLst/>
          </a:prstGeom>
          <a:solidFill>
            <a:srgbClr val="E1D7F1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645147" y="3013370"/>
            <a:ext cx="203663" cy="203701"/>
          </a:xfrm>
          <a:prstGeom prst="rect">
            <a:avLst/>
          </a:prstGeom>
          <a:solidFill>
            <a:srgbClr val="E1D7F1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8862856" y="3013370"/>
            <a:ext cx="203663" cy="203701"/>
          </a:xfrm>
          <a:prstGeom prst="rect">
            <a:avLst/>
          </a:prstGeom>
          <a:solidFill>
            <a:srgbClr val="E1D7F1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668969" y="3329457"/>
            <a:ext cx="1200910" cy="1685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1">
                <a:solidFill>
                  <a:srgbClr val="071B36"/>
                </a:solidFill>
                <a:latin typeface="Arial"/>
              </a:rPr>
              <a:t>q_ins_pc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9059497" y="2992297"/>
            <a:ext cx="632057" cy="287991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9073542" y="3027418"/>
            <a:ext cx="603966" cy="18262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275" b="0" i="0">
                <a:solidFill>
                  <a:srgbClr val="071B36"/>
                </a:solidFill>
                <a:latin typeface="Arial"/>
              </a:rPr>
              <a:t>MLP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9874149" y="2950152"/>
            <a:ext cx="772515" cy="358232"/>
          </a:xfrm>
          <a:prstGeom prst="roundRect">
            <a:avLst/>
          </a:prstGeom>
          <a:solidFill>
            <a:srgbClr val="EAF0E0"/>
          </a:solidFill>
          <a:ln w="2032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9902240" y="2992297"/>
            <a:ext cx="716332" cy="21072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200" b="0" i="0">
                <a:solidFill>
                  <a:srgbClr val="071B36"/>
                </a:solidFill>
                <a:latin typeface="Arial"/>
              </a:rPr>
              <a:t>L_consist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10983762" y="2929080"/>
            <a:ext cx="1200910" cy="365256"/>
          </a:xfrm>
          <a:prstGeom prst="rect">
            <a:avLst/>
          </a:prstGeom>
          <a:noFill/>
          <a:ln w="10160">
            <a:solidFill>
              <a:srgbClr val="193B6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11061013" y="3013370"/>
            <a:ext cx="203663" cy="203701"/>
          </a:xfrm>
          <a:prstGeom prst="rect">
            <a:avLst/>
          </a:prstGeom>
          <a:solidFill>
            <a:srgbClr val="3B9FB5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1299791" y="2999321"/>
            <a:ext cx="168548" cy="21774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193B60"/>
                </a:solidFill>
                <a:latin typeface="Arial"/>
              </a:rPr>
              <a:t>…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1524522" y="3013370"/>
            <a:ext cx="203663" cy="203701"/>
          </a:xfrm>
          <a:prstGeom prst="rect">
            <a:avLst/>
          </a:prstGeom>
          <a:solidFill>
            <a:srgbClr val="3B9FB5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742231" y="3013370"/>
            <a:ext cx="203663" cy="203701"/>
          </a:xfrm>
          <a:prstGeom prst="rect">
            <a:avLst/>
          </a:prstGeom>
          <a:solidFill>
            <a:srgbClr val="3B9FB5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959940" y="3013370"/>
            <a:ext cx="203663" cy="203701"/>
          </a:xfrm>
          <a:prstGeom prst="rect">
            <a:avLst/>
          </a:prstGeom>
          <a:solidFill>
            <a:srgbClr val="3B9FB5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2177649" y="3013370"/>
            <a:ext cx="203663" cy="203701"/>
          </a:xfrm>
          <a:prstGeom prst="rect">
            <a:avLst/>
          </a:prstGeom>
          <a:solidFill>
            <a:srgbClr val="3B9FB5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10983762" y="3329457"/>
            <a:ext cx="1200910" cy="1685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1">
                <a:solidFill>
                  <a:srgbClr val="071B36"/>
                </a:solidFill>
                <a:latin typeface="Arial"/>
              </a:rPr>
              <a:t>q′_ins_pc</a:t>
            </a:r>
          </a:p>
        </p:txBody>
      </p:sp>
      <p:cxnSp>
        <p:nvCxnSpPr>
          <p:cNvPr id="174" name="Connector 173"/>
          <p:cNvCxnSpPr/>
          <p:nvPr/>
        </p:nvCxnSpPr>
        <p:spPr>
          <a:xfrm>
            <a:off x="8869879" y="3111708"/>
            <a:ext cx="189618" cy="0"/>
          </a:xfrm>
          <a:prstGeom prst="line">
            <a:avLst/>
          </a:prstGeom>
          <a:ln w="26670">
            <a:solidFill>
              <a:srgbClr val="7CB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Isosceles Triangle 174"/>
          <p:cNvSpPr/>
          <p:nvPr/>
        </p:nvSpPr>
        <p:spPr>
          <a:xfrm rot="5400000">
            <a:off x="9034916" y="3087123"/>
            <a:ext cx="49160" cy="49169"/>
          </a:xfrm>
          <a:prstGeom prst="triangle">
            <a:avLst/>
          </a:prstGeom>
          <a:solidFill>
            <a:srgbClr val="7C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6" name="Connector 175"/>
          <p:cNvCxnSpPr/>
          <p:nvPr/>
        </p:nvCxnSpPr>
        <p:spPr>
          <a:xfrm>
            <a:off x="9691554" y="3132781"/>
            <a:ext cx="182595" cy="0"/>
          </a:xfrm>
          <a:prstGeom prst="line">
            <a:avLst/>
          </a:prstGeom>
          <a:ln w="26670">
            <a:solidFill>
              <a:srgbClr val="7CB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Isosceles Triangle 176"/>
          <p:cNvSpPr/>
          <p:nvPr/>
        </p:nvSpPr>
        <p:spPr>
          <a:xfrm rot="5400000">
            <a:off x="9849569" y="3108196"/>
            <a:ext cx="49160" cy="49169"/>
          </a:xfrm>
          <a:prstGeom prst="triangle">
            <a:avLst/>
          </a:prstGeom>
          <a:solidFill>
            <a:srgbClr val="7C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8" name="Connector 177"/>
          <p:cNvCxnSpPr/>
          <p:nvPr/>
        </p:nvCxnSpPr>
        <p:spPr>
          <a:xfrm>
            <a:off x="10646664" y="3132781"/>
            <a:ext cx="337098" cy="0"/>
          </a:xfrm>
          <a:prstGeom prst="line">
            <a:avLst/>
          </a:prstGeom>
          <a:ln w="26670">
            <a:solidFill>
              <a:srgbClr val="7CBF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Isosceles Triangle 178"/>
          <p:cNvSpPr/>
          <p:nvPr/>
        </p:nvSpPr>
        <p:spPr>
          <a:xfrm rot="5400000">
            <a:off x="10959182" y="3108196"/>
            <a:ext cx="49160" cy="49169"/>
          </a:xfrm>
          <a:prstGeom prst="triangle">
            <a:avLst/>
          </a:prstGeom>
          <a:solidFill>
            <a:srgbClr val="7CB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>
            <a:off x="7142254" y="3413748"/>
            <a:ext cx="182595" cy="0"/>
          </a:xfrm>
          <a:prstGeom prst="line">
            <a:avLst/>
          </a:prstGeom>
          <a:ln w="2667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7324849" y="2774548"/>
            <a:ext cx="0" cy="639200"/>
          </a:xfrm>
          <a:prstGeom prst="line">
            <a:avLst/>
          </a:prstGeom>
          <a:ln w="2667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324849" y="2774548"/>
            <a:ext cx="4248834" cy="0"/>
          </a:xfrm>
          <a:prstGeom prst="line">
            <a:avLst/>
          </a:prstGeom>
          <a:ln w="2667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11573683" y="2774548"/>
            <a:ext cx="0" cy="154532"/>
          </a:xfrm>
          <a:prstGeom prst="line">
            <a:avLst/>
          </a:prstGeom>
          <a:ln w="26670">
            <a:solidFill>
              <a:srgbClr val="3A9A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Isosceles Triangle 183"/>
          <p:cNvSpPr/>
          <p:nvPr/>
        </p:nvSpPr>
        <p:spPr>
          <a:xfrm rot="10800000">
            <a:off x="11549102" y="2904495"/>
            <a:ext cx="49160" cy="49169"/>
          </a:xfrm>
          <a:prstGeom prst="triangle">
            <a:avLst/>
          </a:prstGeom>
          <a:solidFill>
            <a:srgbClr val="3A9A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2177088" y="3779005"/>
            <a:ext cx="1267627" cy="413723"/>
          </a:xfrm>
          <a:prstGeom prst="rect">
            <a:avLst/>
          </a:prstGeom>
          <a:noFill/>
          <a:ln w="11430">
            <a:solidFill>
              <a:srgbClr val="193B6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2243805" y="3885772"/>
            <a:ext cx="213495" cy="213534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497331" y="3879099"/>
            <a:ext cx="160121" cy="20018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193B60"/>
                </a:solidFill>
                <a:latin typeface="Arial"/>
              </a:rPr>
              <a:t>…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704154" y="3885772"/>
            <a:ext cx="213495" cy="213534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2930993" y="3885772"/>
            <a:ext cx="213495" cy="213534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157831" y="3885772"/>
            <a:ext cx="213495" cy="213534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3384670" y="3885772"/>
            <a:ext cx="213495" cy="213534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2830214" y="4221527"/>
            <a:ext cx="0" cy="182629"/>
          </a:xfrm>
          <a:prstGeom prst="line">
            <a:avLst/>
          </a:prstGeom>
          <a:ln w="2286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Isosceles Triangle 192"/>
          <p:cNvSpPr/>
          <p:nvPr/>
        </p:nvSpPr>
        <p:spPr>
          <a:xfrm rot="10800000">
            <a:off x="2805634" y="4379571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1348390" y="4411180"/>
            <a:ext cx="3068992" cy="351208"/>
          </a:xfrm>
          <a:prstGeom prst="roundRect">
            <a:avLst/>
          </a:prstGeom>
          <a:solidFill>
            <a:srgbClr val="FFF0A8"/>
          </a:solidFill>
          <a:ln w="22860">
            <a:solidFill>
              <a:srgbClr val="071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397550" y="4453325"/>
            <a:ext cx="2970672" cy="238821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0" i="0">
                <a:solidFill>
                  <a:srgbClr val="071B36"/>
                </a:solidFill>
                <a:latin typeface="Arial"/>
              </a:rPr>
              <a:t>Aggregating Instance Semantic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4901960" y="4523567"/>
            <a:ext cx="1200910" cy="365256"/>
          </a:xfrm>
          <a:prstGeom prst="rect">
            <a:avLst/>
          </a:prstGeom>
          <a:noFill/>
          <a:ln w="10160">
            <a:solidFill>
              <a:srgbClr val="193B6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979211" y="4607857"/>
            <a:ext cx="203663" cy="203701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5217989" y="4593809"/>
            <a:ext cx="168548" cy="21774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193B60"/>
                </a:solidFill>
                <a:latin typeface="Arial"/>
              </a:rPr>
              <a:t>…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442721" y="4607857"/>
            <a:ext cx="203663" cy="203701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660429" y="4607857"/>
            <a:ext cx="203663" cy="203701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878138" y="4607857"/>
            <a:ext cx="203663" cy="203701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6095847" y="4607857"/>
            <a:ext cx="203663" cy="203701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901960" y="4923945"/>
            <a:ext cx="1200910" cy="1685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1">
                <a:solidFill>
                  <a:srgbClr val="071B36"/>
                </a:solidFill>
                <a:latin typeface="Arial"/>
              </a:rPr>
              <a:t>q₃ᴰ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4417382" y="4579760"/>
            <a:ext cx="484578" cy="0"/>
          </a:xfrm>
          <a:prstGeom prst="line">
            <a:avLst/>
          </a:prstGeom>
          <a:ln w="2286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Isosceles Triangle 204"/>
          <p:cNvSpPr/>
          <p:nvPr/>
        </p:nvSpPr>
        <p:spPr>
          <a:xfrm rot="5400000">
            <a:off x="4877380" y="4555176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2106859" y="5057404"/>
            <a:ext cx="1545030" cy="1397810"/>
          </a:xfrm>
          <a:prstGeom prst="roundRect">
            <a:avLst/>
          </a:prstGeom>
          <a:noFill/>
          <a:ln w="228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2106859" y="5057404"/>
            <a:ext cx="386257" cy="1201133"/>
          </a:xfrm>
          <a:prstGeom prst="rect">
            <a:avLst/>
          </a:prstGeom>
          <a:solidFill>
            <a:srgbClr val="FFF1C7"/>
          </a:solidFill>
          <a:ln w="1778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3153266" y="5057404"/>
            <a:ext cx="386257" cy="1201133"/>
          </a:xfrm>
          <a:prstGeom prst="rect">
            <a:avLst/>
          </a:prstGeom>
          <a:solidFill>
            <a:srgbClr val="FFF1C7"/>
          </a:solidFill>
          <a:ln w="1778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 rot="5400000">
            <a:off x="2064722" y="5570169"/>
            <a:ext cx="477554" cy="168580"/>
          </a:xfrm>
          <a:prstGeom prst="rect">
            <a:avLst/>
          </a:prstGeom>
          <a:noFill/>
        </p:spPr>
        <p:txBody>
          <a:bodyPr wrap="none" lIns="27432" rIns="27432" tIns="13716" bIns="13716" anchor="ctr">
            <a:spAutoFit/>
          </a:bodyPr>
          <a:lstStyle/>
          <a:p>
            <a:pPr algn="ctr"/>
            <a:r>
              <a:rPr sz="1200" b="0" i="0">
                <a:solidFill>
                  <a:srgbClr val="071B36"/>
                </a:solidFill>
                <a:latin typeface="Arial"/>
              </a:rPr>
              <a:t>Layer 1</a:t>
            </a:r>
          </a:p>
        </p:txBody>
      </p:sp>
      <p:sp>
        <p:nvSpPr>
          <p:cNvPr id="210" name="TextBox 209"/>
          <p:cNvSpPr txBox="1"/>
          <p:nvPr/>
        </p:nvSpPr>
        <p:spPr>
          <a:xfrm rot="5400000">
            <a:off x="3111129" y="5570169"/>
            <a:ext cx="477554" cy="168580"/>
          </a:xfrm>
          <a:prstGeom prst="rect">
            <a:avLst/>
          </a:prstGeom>
          <a:noFill/>
        </p:spPr>
        <p:txBody>
          <a:bodyPr wrap="none" lIns="27432" rIns="27432" tIns="13716" bIns="13716" anchor="ctr">
            <a:spAutoFit/>
          </a:bodyPr>
          <a:lstStyle/>
          <a:p>
            <a:pPr algn="ctr"/>
            <a:r>
              <a:rPr sz="1200" b="0" i="0">
                <a:solidFill>
                  <a:srgbClr val="071B36"/>
                </a:solidFill>
                <a:latin typeface="Arial"/>
              </a:rPr>
              <a:t>Layer L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2275408" y="6272586"/>
            <a:ext cx="1207932" cy="189652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350" b="0" i="0">
                <a:solidFill>
                  <a:srgbClr val="071B36"/>
                </a:solidFill>
                <a:latin typeface="Arial"/>
              </a:rPr>
              <a:t>Backbone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1720602" y="5724700"/>
            <a:ext cx="386257" cy="0"/>
          </a:xfrm>
          <a:prstGeom prst="line">
            <a:avLst/>
          </a:prstGeom>
          <a:ln w="2286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Isosceles Triangle 212"/>
          <p:cNvSpPr/>
          <p:nvPr/>
        </p:nvSpPr>
        <p:spPr>
          <a:xfrm rot="5400000">
            <a:off x="2082279" y="5700116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Connector 213"/>
          <p:cNvCxnSpPr/>
          <p:nvPr/>
        </p:nvCxnSpPr>
        <p:spPr>
          <a:xfrm>
            <a:off x="2493117" y="5654459"/>
            <a:ext cx="660149" cy="0"/>
          </a:xfrm>
          <a:prstGeom prst="line">
            <a:avLst/>
          </a:prstGeom>
          <a:ln w="2286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Isosceles Triangle 214"/>
          <p:cNvSpPr/>
          <p:nvPr/>
        </p:nvSpPr>
        <p:spPr>
          <a:xfrm rot="5400000">
            <a:off x="3128686" y="5629874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2774032" y="5549096"/>
            <a:ext cx="140457" cy="21072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071B36"/>
                </a:solidFill>
                <a:latin typeface="Arial"/>
              </a:rPr>
              <a:t>…</a:t>
            </a:r>
          </a:p>
        </p:txBody>
      </p:sp>
      <p:cxnSp>
        <p:nvCxnSpPr>
          <p:cNvPr id="217" name="Connector 216"/>
          <p:cNvCxnSpPr/>
          <p:nvPr/>
        </p:nvCxnSpPr>
        <p:spPr>
          <a:xfrm>
            <a:off x="3539524" y="5654459"/>
            <a:ext cx="358166" cy="0"/>
          </a:xfrm>
          <a:prstGeom prst="line">
            <a:avLst/>
          </a:prstGeom>
          <a:ln w="2286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Isosceles Triangle 217"/>
          <p:cNvSpPr/>
          <p:nvPr/>
        </p:nvSpPr>
        <p:spPr>
          <a:xfrm rot="5400000">
            <a:off x="3873110" y="5629874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ounded Rectangle 218"/>
          <p:cNvSpPr/>
          <p:nvPr/>
        </p:nvSpPr>
        <p:spPr>
          <a:xfrm>
            <a:off x="3918759" y="5282178"/>
            <a:ext cx="182594" cy="168580"/>
          </a:xfrm>
          <a:prstGeom prst="roundRect">
            <a:avLst/>
          </a:prstGeom>
          <a:solidFill>
            <a:srgbClr val="F5A98C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3918759" y="5471830"/>
            <a:ext cx="182594" cy="168580"/>
          </a:xfrm>
          <a:prstGeom prst="roundRect">
            <a:avLst/>
          </a:prstGeom>
          <a:solidFill>
            <a:srgbClr val="F5A98C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ounded Rectangle 220"/>
          <p:cNvSpPr/>
          <p:nvPr/>
        </p:nvSpPr>
        <p:spPr>
          <a:xfrm>
            <a:off x="3918759" y="5661483"/>
            <a:ext cx="182594" cy="168580"/>
          </a:xfrm>
          <a:prstGeom prst="roundRect">
            <a:avLst/>
          </a:prstGeom>
          <a:solidFill>
            <a:srgbClr val="F5A98C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ounded Rectangle 221"/>
          <p:cNvSpPr/>
          <p:nvPr/>
        </p:nvSpPr>
        <p:spPr>
          <a:xfrm>
            <a:off x="3918759" y="5851136"/>
            <a:ext cx="182594" cy="168580"/>
          </a:xfrm>
          <a:prstGeom prst="roundRect">
            <a:avLst/>
          </a:prstGeom>
          <a:solidFill>
            <a:srgbClr val="F5A98C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4529748" y="4888824"/>
            <a:ext cx="5632338" cy="1987840"/>
          </a:xfrm>
          <a:prstGeom prst="rect">
            <a:avLst/>
          </a:prstGeom>
          <a:solidFill>
            <a:srgbClr val="F7D39C"/>
          </a:solidFill>
          <a:ln>
            <a:solidFill>
              <a:srgbClr val="F7D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ounded Rectangle 223"/>
          <p:cNvSpPr/>
          <p:nvPr/>
        </p:nvSpPr>
        <p:spPr>
          <a:xfrm>
            <a:off x="4663182" y="4930969"/>
            <a:ext cx="1439687" cy="421450"/>
          </a:xfrm>
          <a:prstGeom prst="roundRect">
            <a:avLst/>
          </a:prstGeom>
          <a:solidFill>
            <a:srgbClr val="FFF0A7"/>
          </a:solidFill>
          <a:ln w="20320">
            <a:solidFill>
              <a:srgbClr val="071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4705320" y="4980138"/>
            <a:ext cx="1355413" cy="323111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275" b="0" i="0">
                <a:solidFill>
                  <a:srgbClr val="071B36"/>
                </a:solidFill>
                <a:latin typeface="Arial"/>
              </a:rPr>
              <a:t>Feature
Refinement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4656160" y="5942450"/>
            <a:ext cx="1439687" cy="421450"/>
          </a:xfrm>
          <a:prstGeom prst="roundRect">
            <a:avLst/>
          </a:prstGeom>
          <a:solidFill>
            <a:srgbClr val="FFF0A7"/>
          </a:solidFill>
          <a:ln w="20320">
            <a:solidFill>
              <a:srgbClr val="071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4698297" y="5991619"/>
            <a:ext cx="1355413" cy="323111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275" b="0" i="0">
                <a:solidFill>
                  <a:srgbClr val="071B36"/>
                </a:solidFill>
                <a:latin typeface="Arial"/>
              </a:rPr>
              <a:t>Feature
Refinement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7402100" y="4930969"/>
            <a:ext cx="1439687" cy="421450"/>
          </a:xfrm>
          <a:prstGeom prst="roundRect">
            <a:avLst/>
          </a:prstGeom>
          <a:solidFill>
            <a:srgbClr val="FFF0A7"/>
          </a:solidFill>
          <a:ln w="20320">
            <a:solidFill>
              <a:srgbClr val="071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7444237" y="4980138"/>
            <a:ext cx="1355413" cy="323111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275" b="0" i="0">
                <a:solidFill>
                  <a:srgbClr val="071B36"/>
                </a:solidFill>
                <a:latin typeface="Arial"/>
              </a:rPr>
              <a:t>Feature
Refinement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7402100" y="5942450"/>
            <a:ext cx="1439687" cy="421450"/>
          </a:xfrm>
          <a:prstGeom prst="roundRect">
            <a:avLst/>
          </a:prstGeom>
          <a:solidFill>
            <a:srgbClr val="FFF0A7"/>
          </a:solidFill>
          <a:ln w="20320">
            <a:solidFill>
              <a:srgbClr val="071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7444237" y="5991619"/>
            <a:ext cx="1355413" cy="323111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275" b="0" i="0">
                <a:solidFill>
                  <a:srgbClr val="071B36"/>
                </a:solidFill>
                <a:latin typeface="Arial"/>
              </a:rPr>
              <a:t>Feature
Refinement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6383785" y="4994186"/>
            <a:ext cx="140457" cy="196676"/>
          </a:xfrm>
          <a:prstGeom prst="roundRect">
            <a:avLst/>
          </a:prstGeom>
          <a:solidFill>
            <a:srgbClr val="E8B09D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ounded Rectangle 232"/>
          <p:cNvSpPr/>
          <p:nvPr/>
        </p:nvSpPr>
        <p:spPr>
          <a:xfrm>
            <a:off x="6538288" y="4994186"/>
            <a:ext cx="140457" cy="196676"/>
          </a:xfrm>
          <a:prstGeom prst="roundRect">
            <a:avLst/>
          </a:prstGeom>
          <a:solidFill>
            <a:srgbClr val="E8B09D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ounded Rectangle 233"/>
          <p:cNvSpPr/>
          <p:nvPr/>
        </p:nvSpPr>
        <p:spPr>
          <a:xfrm>
            <a:off x="6692791" y="4994186"/>
            <a:ext cx="140457" cy="196676"/>
          </a:xfrm>
          <a:prstGeom prst="roundRect">
            <a:avLst/>
          </a:prstGeom>
          <a:solidFill>
            <a:srgbClr val="E8B09D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ounded Rectangle 234"/>
          <p:cNvSpPr/>
          <p:nvPr/>
        </p:nvSpPr>
        <p:spPr>
          <a:xfrm>
            <a:off x="6847294" y="4994186"/>
            <a:ext cx="140457" cy="196676"/>
          </a:xfrm>
          <a:prstGeom prst="roundRect">
            <a:avLst/>
          </a:prstGeom>
          <a:solidFill>
            <a:srgbClr val="E8B09D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ounded Rectangle 235"/>
          <p:cNvSpPr/>
          <p:nvPr/>
        </p:nvSpPr>
        <p:spPr>
          <a:xfrm>
            <a:off x="7001797" y="4994186"/>
            <a:ext cx="140457" cy="196676"/>
          </a:xfrm>
          <a:prstGeom prst="roundRect">
            <a:avLst/>
          </a:prstGeom>
          <a:solidFill>
            <a:srgbClr val="E8B09D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ounded Rectangle 236"/>
          <p:cNvSpPr/>
          <p:nvPr/>
        </p:nvSpPr>
        <p:spPr>
          <a:xfrm>
            <a:off x="6383785" y="6005667"/>
            <a:ext cx="140457" cy="196676"/>
          </a:xfrm>
          <a:prstGeom prst="roundRect">
            <a:avLst/>
          </a:prstGeom>
          <a:solidFill>
            <a:srgbClr val="E8B09D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ounded Rectangle 237"/>
          <p:cNvSpPr/>
          <p:nvPr/>
        </p:nvSpPr>
        <p:spPr>
          <a:xfrm>
            <a:off x="6538288" y="6005667"/>
            <a:ext cx="140457" cy="196676"/>
          </a:xfrm>
          <a:prstGeom prst="roundRect">
            <a:avLst/>
          </a:prstGeom>
          <a:solidFill>
            <a:srgbClr val="E8B09D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ounded Rectangle 238"/>
          <p:cNvSpPr/>
          <p:nvPr/>
        </p:nvSpPr>
        <p:spPr>
          <a:xfrm>
            <a:off x="6692791" y="6005667"/>
            <a:ext cx="140457" cy="196676"/>
          </a:xfrm>
          <a:prstGeom prst="roundRect">
            <a:avLst/>
          </a:prstGeom>
          <a:solidFill>
            <a:srgbClr val="E8B09D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ounded Rectangle 239"/>
          <p:cNvSpPr/>
          <p:nvPr/>
        </p:nvSpPr>
        <p:spPr>
          <a:xfrm>
            <a:off x="6847294" y="6005667"/>
            <a:ext cx="140457" cy="196676"/>
          </a:xfrm>
          <a:prstGeom prst="roundRect">
            <a:avLst/>
          </a:prstGeom>
          <a:solidFill>
            <a:srgbClr val="E8B09D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ounded Rectangle 240"/>
          <p:cNvSpPr/>
          <p:nvPr/>
        </p:nvSpPr>
        <p:spPr>
          <a:xfrm>
            <a:off x="7001797" y="6005667"/>
            <a:ext cx="140457" cy="196676"/>
          </a:xfrm>
          <a:prstGeom prst="roundRect">
            <a:avLst/>
          </a:prstGeom>
          <a:solidFill>
            <a:srgbClr val="E8B09D"/>
          </a:solidFill>
          <a:ln w="889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2" name="Connector 241"/>
          <p:cNvCxnSpPr/>
          <p:nvPr/>
        </p:nvCxnSpPr>
        <p:spPr>
          <a:xfrm>
            <a:off x="4101353" y="5654459"/>
            <a:ext cx="294961" cy="0"/>
          </a:xfrm>
          <a:prstGeom prst="line">
            <a:avLst/>
          </a:prstGeom>
          <a:ln w="2159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 flipV="1">
            <a:off x="4396314" y="5141694"/>
            <a:ext cx="0" cy="512765"/>
          </a:xfrm>
          <a:prstGeom prst="line">
            <a:avLst/>
          </a:prstGeom>
          <a:ln w="2159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4396314" y="5141694"/>
            <a:ext cx="266868" cy="0"/>
          </a:xfrm>
          <a:prstGeom prst="line">
            <a:avLst/>
          </a:prstGeom>
          <a:ln w="2159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Isosceles Triangle 244"/>
          <p:cNvSpPr/>
          <p:nvPr/>
        </p:nvSpPr>
        <p:spPr>
          <a:xfrm rot="5400000">
            <a:off x="4638602" y="5117109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4101353" y="5654459"/>
            <a:ext cx="294961" cy="0"/>
          </a:xfrm>
          <a:prstGeom prst="line">
            <a:avLst/>
          </a:prstGeom>
          <a:ln w="2159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4396314" y="5654459"/>
            <a:ext cx="0" cy="498716"/>
          </a:xfrm>
          <a:prstGeom prst="line">
            <a:avLst/>
          </a:prstGeom>
          <a:ln w="2159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4396314" y="6153175"/>
            <a:ext cx="259846" cy="0"/>
          </a:xfrm>
          <a:prstGeom prst="line">
            <a:avLst/>
          </a:prstGeom>
          <a:ln w="2159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Isosceles Triangle 248"/>
          <p:cNvSpPr/>
          <p:nvPr/>
        </p:nvSpPr>
        <p:spPr>
          <a:xfrm rot="5400000">
            <a:off x="4631580" y="6128590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Connector 249"/>
          <p:cNvCxnSpPr/>
          <p:nvPr/>
        </p:nvCxnSpPr>
        <p:spPr>
          <a:xfrm>
            <a:off x="6102870" y="5141694"/>
            <a:ext cx="280915" cy="0"/>
          </a:xfrm>
          <a:prstGeom prst="line">
            <a:avLst/>
          </a:prstGeom>
          <a:ln w="2159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Isosceles Triangle 250"/>
          <p:cNvSpPr/>
          <p:nvPr/>
        </p:nvSpPr>
        <p:spPr>
          <a:xfrm rot="5400000">
            <a:off x="6359205" y="5117109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2" name="Connector 251"/>
          <p:cNvCxnSpPr/>
          <p:nvPr/>
        </p:nvCxnSpPr>
        <p:spPr>
          <a:xfrm>
            <a:off x="6102870" y="6153175"/>
            <a:ext cx="280915" cy="0"/>
          </a:xfrm>
          <a:prstGeom prst="line">
            <a:avLst/>
          </a:prstGeom>
          <a:ln w="2159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Isosceles Triangle 252"/>
          <p:cNvSpPr/>
          <p:nvPr/>
        </p:nvSpPr>
        <p:spPr>
          <a:xfrm rot="5400000">
            <a:off x="6359205" y="6128590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Connector 253"/>
          <p:cNvCxnSpPr/>
          <p:nvPr/>
        </p:nvCxnSpPr>
        <p:spPr>
          <a:xfrm>
            <a:off x="7163323" y="5141694"/>
            <a:ext cx="238777" cy="0"/>
          </a:xfrm>
          <a:prstGeom prst="line">
            <a:avLst/>
          </a:prstGeom>
          <a:ln w="2159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Isosceles Triangle 254"/>
          <p:cNvSpPr/>
          <p:nvPr/>
        </p:nvSpPr>
        <p:spPr>
          <a:xfrm rot="5400000">
            <a:off x="7377520" y="5117109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6" name="Connector 255"/>
          <p:cNvCxnSpPr/>
          <p:nvPr/>
        </p:nvCxnSpPr>
        <p:spPr>
          <a:xfrm>
            <a:off x="7163323" y="6153175"/>
            <a:ext cx="238777" cy="0"/>
          </a:xfrm>
          <a:prstGeom prst="line">
            <a:avLst/>
          </a:prstGeom>
          <a:ln w="2159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Isosceles Triangle 256"/>
          <p:cNvSpPr/>
          <p:nvPr/>
        </p:nvSpPr>
        <p:spPr>
          <a:xfrm rot="5400000">
            <a:off x="7377520" y="6128590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8" name="Connector 257"/>
          <p:cNvCxnSpPr/>
          <p:nvPr/>
        </p:nvCxnSpPr>
        <p:spPr>
          <a:xfrm>
            <a:off x="4796617" y="5830063"/>
            <a:ext cx="0" cy="112387"/>
          </a:xfrm>
          <a:prstGeom prst="line">
            <a:avLst/>
          </a:prstGeom>
          <a:ln w="19050">
            <a:solidFill>
              <a:srgbClr val="8989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Isosceles Triangle 258"/>
          <p:cNvSpPr/>
          <p:nvPr/>
        </p:nvSpPr>
        <p:spPr>
          <a:xfrm rot="10800000">
            <a:off x="4772037" y="5917865"/>
            <a:ext cx="49160" cy="49169"/>
          </a:xfrm>
          <a:prstGeom prst="triangle">
            <a:avLst/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0" name="Connector 259"/>
          <p:cNvCxnSpPr/>
          <p:nvPr/>
        </p:nvCxnSpPr>
        <p:spPr>
          <a:xfrm>
            <a:off x="7535535" y="5830063"/>
            <a:ext cx="0" cy="112387"/>
          </a:xfrm>
          <a:prstGeom prst="line">
            <a:avLst/>
          </a:prstGeom>
          <a:ln w="19050">
            <a:solidFill>
              <a:srgbClr val="8989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Isosceles Triangle 260"/>
          <p:cNvSpPr/>
          <p:nvPr/>
        </p:nvSpPr>
        <p:spPr>
          <a:xfrm rot="10800000">
            <a:off x="7510955" y="5917865"/>
            <a:ext cx="49160" cy="49169"/>
          </a:xfrm>
          <a:prstGeom prst="triangle">
            <a:avLst/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4845777" y="5668507"/>
            <a:ext cx="337097" cy="26691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825" b="0" i="0">
                <a:solidFill>
                  <a:srgbClr val="888888"/>
                </a:solidFill>
                <a:latin typeface="Arial"/>
              </a:rPr>
              <a:t>Share
Weight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7584695" y="5668507"/>
            <a:ext cx="337097" cy="26691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825" b="0" i="0">
                <a:solidFill>
                  <a:srgbClr val="888888"/>
                </a:solidFill>
                <a:latin typeface="Arial"/>
              </a:rPr>
              <a:t>Share
Weight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5393561" y="5689580"/>
            <a:ext cx="730378" cy="280966"/>
          </a:xfrm>
          <a:prstGeom prst="roundRect">
            <a:avLst/>
          </a:prstGeom>
          <a:solidFill>
            <a:srgbClr val="EAF0E0"/>
          </a:solidFill>
          <a:ln w="1905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5414629" y="5731725"/>
            <a:ext cx="688240" cy="18965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0" i="0">
                <a:solidFill>
                  <a:srgbClr val="071B36"/>
                </a:solidFill>
                <a:latin typeface="Arial"/>
              </a:rPr>
              <a:t>L1_sup</a:t>
            </a:r>
          </a:p>
        </p:txBody>
      </p:sp>
      <p:sp>
        <p:nvSpPr>
          <p:cNvPr id="266" name="Rounded Rectangle 265"/>
          <p:cNvSpPr/>
          <p:nvPr/>
        </p:nvSpPr>
        <p:spPr>
          <a:xfrm>
            <a:off x="8188661" y="5689580"/>
            <a:ext cx="730378" cy="280966"/>
          </a:xfrm>
          <a:prstGeom prst="roundRect">
            <a:avLst/>
          </a:prstGeom>
          <a:solidFill>
            <a:srgbClr val="EAF0E0"/>
          </a:solidFill>
          <a:ln w="1905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8209730" y="5731725"/>
            <a:ext cx="688240" cy="189652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0" i="0">
                <a:solidFill>
                  <a:srgbClr val="071B36"/>
                </a:solidFill>
                <a:latin typeface="Arial"/>
              </a:rPr>
              <a:t>Ls_sup</a:t>
            </a:r>
          </a:p>
        </p:txBody>
      </p:sp>
      <p:cxnSp>
        <p:nvCxnSpPr>
          <p:cNvPr id="268" name="Connector 267"/>
          <p:cNvCxnSpPr/>
          <p:nvPr/>
        </p:nvCxnSpPr>
        <p:spPr>
          <a:xfrm>
            <a:off x="5744704" y="5352419"/>
            <a:ext cx="0" cy="337161"/>
          </a:xfrm>
          <a:prstGeom prst="line">
            <a:avLst/>
          </a:prstGeom>
          <a:ln w="2159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Isosceles Triangle 268"/>
          <p:cNvSpPr/>
          <p:nvPr/>
        </p:nvSpPr>
        <p:spPr>
          <a:xfrm rot="10800000">
            <a:off x="5720124" y="5664995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0" name="Connector 269"/>
          <p:cNvCxnSpPr/>
          <p:nvPr/>
        </p:nvCxnSpPr>
        <p:spPr>
          <a:xfrm>
            <a:off x="8553850" y="5352419"/>
            <a:ext cx="0" cy="337161"/>
          </a:xfrm>
          <a:prstGeom prst="line">
            <a:avLst/>
          </a:prstGeom>
          <a:ln w="2159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Isosceles Triangle 270"/>
          <p:cNvSpPr/>
          <p:nvPr/>
        </p:nvSpPr>
        <p:spPr>
          <a:xfrm rot="10800000">
            <a:off x="8529270" y="5664995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6320579" y="3800077"/>
            <a:ext cx="5618292" cy="1158988"/>
          </a:xfrm>
          <a:prstGeom prst="rect">
            <a:avLst/>
          </a:prstGeom>
          <a:noFill/>
          <a:ln w="21590">
            <a:solidFill>
              <a:srgbClr val="193B6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7795381" y="3814125"/>
            <a:ext cx="2528231" cy="210725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350" b="1" i="1">
                <a:solidFill>
                  <a:srgbClr val="071B36"/>
                </a:solidFill>
                <a:latin typeface="Arial"/>
              </a:rPr>
              <a:t>Cross-modal Semantic Alignment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6482105" y="4038899"/>
            <a:ext cx="1214955" cy="365256"/>
          </a:xfrm>
          <a:prstGeom prst="rect">
            <a:avLst/>
          </a:prstGeom>
          <a:noFill/>
          <a:ln w="10160">
            <a:solidFill>
              <a:srgbClr val="193B6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6559356" y="4123189"/>
            <a:ext cx="203663" cy="203701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6798134" y="4109141"/>
            <a:ext cx="168548" cy="21774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193B60"/>
                </a:solidFill>
                <a:latin typeface="Arial"/>
              </a:rPr>
              <a:t>…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7022865" y="4123189"/>
            <a:ext cx="203663" cy="203701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7240574" y="4123189"/>
            <a:ext cx="203663" cy="203701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7458283" y="4123189"/>
            <a:ext cx="203663" cy="203701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7675992" y="4123189"/>
            <a:ext cx="203663" cy="203701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6671722" y="4024851"/>
            <a:ext cx="561829" cy="1685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0">
                <a:solidFill>
                  <a:srgbClr val="777777"/>
                </a:solidFill>
                <a:latin typeface="Arial"/>
              </a:rPr>
              <a:t>Linear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8610033" y="4024851"/>
            <a:ext cx="561829" cy="1685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0">
                <a:solidFill>
                  <a:srgbClr val="777777"/>
                </a:solidFill>
                <a:latin typeface="Arial"/>
              </a:rPr>
              <a:t>Linear</a:t>
            </a:r>
          </a:p>
        </p:txBody>
      </p:sp>
      <p:sp>
        <p:nvSpPr>
          <p:cNvPr id="283" name="Oval 282"/>
          <p:cNvSpPr/>
          <p:nvPr/>
        </p:nvSpPr>
        <p:spPr>
          <a:xfrm>
            <a:off x="6545311" y="4502494"/>
            <a:ext cx="224731" cy="224773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71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6587448" y="4537615"/>
            <a:ext cx="140457" cy="16155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200" b="0" i="0">
                <a:solidFill>
                  <a:srgbClr val="071B36"/>
                </a:solidFill>
                <a:latin typeface="Arial"/>
              </a:rPr>
              <a:t>×</a:t>
            </a:r>
          </a:p>
        </p:txBody>
      </p:sp>
      <p:sp>
        <p:nvSpPr>
          <p:cNvPr id="285" name="Oval 284"/>
          <p:cNvSpPr/>
          <p:nvPr/>
        </p:nvSpPr>
        <p:spPr>
          <a:xfrm>
            <a:off x="7015843" y="4502494"/>
            <a:ext cx="224731" cy="224773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71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7057980" y="4537615"/>
            <a:ext cx="140457" cy="16155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25" b="0" i="0">
                <a:solidFill>
                  <a:srgbClr val="071B36"/>
                </a:solidFill>
                <a:latin typeface="Arial"/>
              </a:rPr>
              <a:t>S</a:t>
            </a:r>
          </a:p>
        </p:txBody>
      </p:sp>
      <p:cxnSp>
        <p:nvCxnSpPr>
          <p:cNvPr id="287" name="Connector 286"/>
          <p:cNvCxnSpPr/>
          <p:nvPr/>
        </p:nvCxnSpPr>
        <p:spPr>
          <a:xfrm>
            <a:off x="7240574" y="4614881"/>
            <a:ext cx="309006" cy="0"/>
          </a:xfrm>
          <a:prstGeom prst="line">
            <a:avLst/>
          </a:prstGeom>
          <a:ln w="2286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Isosceles Triangle 287"/>
          <p:cNvSpPr/>
          <p:nvPr/>
        </p:nvSpPr>
        <p:spPr>
          <a:xfrm rot="5400000">
            <a:off x="7525000" y="4590296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7549580" y="4383083"/>
            <a:ext cx="140457" cy="126435"/>
          </a:xfrm>
          <a:prstGeom prst="rect">
            <a:avLst/>
          </a:prstGeom>
          <a:solidFill>
            <a:srgbClr val="F9D6C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7690038" y="4383083"/>
            <a:ext cx="140457" cy="126435"/>
          </a:xfrm>
          <a:prstGeom prst="rect">
            <a:avLst/>
          </a:prstGeom>
          <a:solidFill>
            <a:srgbClr val="FFF7D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7830495" y="4383083"/>
            <a:ext cx="140457" cy="126435"/>
          </a:xfrm>
          <a:prstGeom prst="rect">
            <a:avLst/>
          </a:prstGeom>
          <a:solidFill>
            <a:srgbClr val="F9D6C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7549580" y="4509518"/>
            <a:ext cx="140457" cy="126435"/>
          </a:xfrm>
          <a:prstGeom prst="rect">
            <a:avLst/>
          </a:prstGeom>
          <a:solidFill>
            <a:srgbClr val="FFF7D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7690038" y="4509518"/>
            <a:ext cx="140457" cy="126435"/>
          </a:xfrm>
          <a:prstGeom prst="rect">
            <a:avLst/>
          </a:prstGeom>
          <a:solidFill>
            <a:srgbClr val="F9D6C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7830495" y="4509518"/>
            <a:ext cx="140457" cy="126435"/>
          </a:xfrm>
          <a:prstGeom prst="rect">
            <a:avLst/>
          </a:prstGeom>
          <a:solidFill>
            <a:srgbClr val="FFF7D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7549580" y="4635954"/>
            <a:ext cx="140457" cy="126435"/>
          </a:xfrm>
          <a:prstGeom prst="rect">
            <a:avLst/>
          </a:prstGeom>
          <a:solidFill>
            <a:srgbClr val="F9D6C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7690038" y="4635954"/>
            <a:ext cx="140457" cy="126435"/>
          </a:xfrm>
          <a:prstGeom prst="rect">
            <a:avLst/>
          </a:prstGeom>
          <a:solidFill>
            <a:srgbClr val="FFF7DD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7830495" y="4635954"/>
            <a:ext cx="140457" cy="126435"/>
          </a:xfrm>
          <a:prstGeom prst="rect">
            <a:avLst/>
          </a:prstGeom>
          <a:solidFill>
            <a:srgbClr val="F9D6C2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8" name="Connector 297"/>
          <p:cNvCxnSpPr/>
          <p:nvPr/>
        </p:nvCxnSpPr>
        <p:spPr>
          <a:xfrm>
            <a:off x="7851564" y="4614881"/>
            <a:ext cx="294960" cy="0"/>
          </a:xfrm>
          <a:prstGeom prst="line">
            <a:avLst/>
          </a:prstGeom>
          <a:ln w="2286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Isosceles Triangle 298"/>
          <p:cNvSpPr/>
          <p:nvPr/>
        </p:nvSpPr>
        <p:spPr>
          <a:xfrm rot="5400000">
            <a:off x="8121944" y="4590296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8174615" y="4502494"/>
            <a:ext cx="224731" cy="224773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71B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8216753" y="4537615"/>
            <a:ext cx="140457" cy="16155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200" b="0" i="0">
                <a:solidFill>
                  <a:srgbClr val="071B36"/>
                </a:solidFill>
                <a:latin typeface="Arial"/>
              </a:rPr>
              <a:t>×</a:t>
            </a:r>
          </a:p>
        </p:txBody>
      </p:sp>
      <p:cxnSp>
        <p:nvCxnSpPr>
          <p:cNvPr id="302" name="Connector 301"/>
          <p:cNvCxnSpPr/>
          <p:nvPr/>
        </p:nvCxnSpPr>
        <p:spPr>
          <a:xfrm>
            <a:off x="8406370" y="4614881"/>
            <a:ext cx="259846" cy="0"/>
          </a:xfrm>
          <a:prstGeom prst="line">
            <a:avLst/>
          </a:prstGeom>
          <a:ln w="2286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Isosceles Triangle 302"/>
          <p:cNvSpPr/>
          <p:nvPr/>
        </p:nvSpPr>
        <p:spPr>
          <a:xfrm rot="5400000">
            <a:off x="8641636" y="4590296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ounded Rectangle 303"/>
          <p:cNvSpPr/>
          <p:nvPr/>
        </p:nvSpPr>
        <p:spPr>
          <a:xfrm>
            <a:off x="8666216" y="4439277"/>
            <a:ext cx="702286" cy="337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8680262" y="4481422"/>
            <a:ext cx="674195" cy="210725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275" b="0" i="0">
                <a:solidFill>
                  <a:srgbClr val="071B36"/>
                </a:solidFill>
                <a:latin typeface="Arial"/>
              </a:rPr>
              <a:t>MLP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0077812" y="4038899"/>
            <a:ext cx="1214955" cy="365256"/>
          </a:xfrm>
          <a:prstGeom prst="rect">
            <a:avLst/>
          </a:prstGeom>
          <a:noFill/>
          <a:ln w="10160">
            <a:solidFill>
              <a:srgbClr val="193B60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0155064" y="4123189"/>
            <a:ext cx="203663" cy="203701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10393841" y="4109141"/>
            <a:ext cx="168548" cy="21774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350" b="1" i="0">
                <a:solidFill>
                  <a:srgbClr val="193B60"/>
                </a:solidFill>
                <a:latin typeface="Arial"/>
              </a:rPr>
              <a:t>…</a:t>
            </a:r>
          </a:p>
        </p:txBody>
      </p:sp>
      <p:sp>
        <p:nvSpPr>
          <p:cNvPr id="309" name="Rectangle 308"/>
          <p:cNvSpPr/>
          <p:nvPr/>
        </p:nvSpPr>
        <p:spPr>
          <a:xfrm>
            <a:off x="10618573" y="4123189"/>
            <a:ext cx="203663" cy="203701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0836282" y="4123189"/>
            <a:ext cx="203663" cy="203701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1053990" y="4123189"/>
            <a:ext cx="203663" cy="203701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1271699" y="4123189"/>
            <a:ext cx="203663" cy="203701"/>
          </a:xfrm>
          <a:prstGeom prst="rect">
            <a:avLst/>
          </a:prstGeom>
          <a:solidFill>
            <a:srgbClr val="F6B79C"/>
          </a:solidFill>
          <a:ln w="1016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10077812" y="4439277"/>
            <a:ext cx="1214955" cy="1685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1">
                <a:solidFill>
                  <a:srgbClr val="071B36"/>
                </a:solidFill>
                <a:latin typeface="Arial"/>
              </a:rPr>
              <a:t>q̂₃ᴰ</a:t>
            </a:r>
          </a:p>
        </p:txBody>
      </p:sp>
      <p:cxnSp>
        <p:nvCxnSpPr>
          <p:cNvPr id="314" name="Connector 313"/>
          <p:cNvCxnSpPr/>
          <p:nvPr/>
        </p:nvCxnSpPr>
        <p:spPr>
          <a:xfrm flipV="1">
            <a:off x="9375525" y="4221527"/>
            <a:ext cx="702287" cy="393354"/>
          </a:xfrm>
          <a:prstGeom prst="line">
            <a:avLst/>
          </a:prstGeom>
          <a:ln w="2286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Isosceles Triangle 314"/>
          <p:cNvSpPr/>
          <p:nvPr/>
        </p:nvSpPr>
        <p:spPr>
          <a:xfrm rot="3645070">
            <a:off x="10053232" y="4196943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 rot="5400000">
            <a:off x="9242091" y="5865184"/>
            <a:ext cx="646103" cy="168580"/>
          </a:xfrm>
          <a:prstGeom prst="rect">
            <a:avLst/>
          </a:prstGeom>
          <a:noFill/>
        </p:spPr>
        <p:txBody>
          <a:bodyPr wrap="none" lIns="27432" rIns="27432" tIns="13716" bIns="13716" anchor="ctr">
            <a:spAutoFit/>
          </a:bodyPr>
          <a:lstStyle/>
          <a:p>
            <a:pPr algn="ctr"/>
            <a:r>
              <a:rPr sz="1275" b="0" i="0">
                <a:solidFill>
                  <a:srgbClr val="071B36"/>
                </a:solidFill>
                <a:latin typeface="Arial"/>
              </a:rPr>
              <a:t>Decoder</a:t>
            </a:r>
          </a:p>
        </p:txBody>
      </p:sp>
      <p:cxnSp>
        <p:nvCxnSpPr>
          <p:cNvPr id="317" name="Connector 316"/>
          <p:cNvCxnSpPr/>
          <p:nvPr/>
        </p:nvCxnSpPr>
        <p:spPr>
          <a:xfrm>
            <a:off x="10077812" y="4221527"/>
            <a:ext cx="0" cy="1432932"/>
          </a:xfrm>
          <a:prstGeom prst="line">
            <a:avLst/>
          </a:prstGeom>
          <a:ln w="2286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10077812" y="5654459"/>
            <a:ext cx="252823" cy="0"/>
          </a:xfrm>
          <a:prstGeom prst="line">
            <a:avLst/>
          </a:prstGeom>
          <a:ln w="2286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Isosceles Triangle 318"/>
          <p:cNvSpPr/>
          <p:nvPr/>
        </p:nvSpPr>
        <p:spPr>
          <a:xfrm rot="5400000">
            <a:off x="10306055" y="5629874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ounded Rectangle 319"/>
          <p:cNvSpPr/>
          <p:nvPr/>
        </p:nvSpPr>
        <p:spPr>
          <a:xfrm>
            <a:off x="10323612" y="5513975"/>
            <a:ext cx="618012" cy="287991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10337658" y="5556120"/>
            <a:ext cx="589920" cy="18262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275" b="0" i="0">
                <a:solidFill>
                  <a:srgbClr val="071B36"/>
                </a:solidFill>
                <a:latin typeface="Arial"/>
              </a:rPr>
              <a:t>Conv</a:t>
            </a:r>
          </a:p>
        </p:txBody>
      </p:sp>
      <p:cxnSp>
        <p:nvCxnSpPr>
          <p:cNvPr id="322" name="Connector 321"/>
          <p:cNvCxnSpPr/>
          <p:nvPr/>
        </p:nvCxnSpPr>
        <p:spPr>
          <a:xfrm>
            <a:off x="10941625" y="5654459"/>
            <a:ext cx="456486" cy="0"/>
          </a:xfrm>
          <a:prstGeom prst="line">
            <a:avLst/>
          </a:prstGeom>
          <a:ln w="2286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Isosceles Triangle 322"/>
          <p:cNvSpPr/>
          <p:nvPr/>
        </p:nvSpPr>
        <p:spPr>
          <a:xfrm rot="5400000">
            <a:off x="11373531" y="5629874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ounded Rectangle 323"/>
          <p:cNvSpPr/>
          <p:nvPr/>
        </p:nvSpPr>
        <p:spPr>
          <a:xfrm>
            <a:off x="11412157" y="5513975"/>
            <a:ext cx="618012" cy="287991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93B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11426202" y="5556120"/>
            <a:ext cx="589920" cy="182628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275" b="0" i="0">
                <a:solidFill>
                  <a:srgbClr val="071B36"/>
                </a:solidFill>
                <a:latin typeface="Arial"/>
              </a:rPr>
              <a:t>L_seg</a:t>
            </a:r>
          </a:p>
        </p:txBody>
      </p:sp>
      <p:cxnSp>
        <p:nvCxnSpPr>
          <p:cNvPr id="326" name="Connector 325"/>
          <p:cNvCxnSpPr/>
          <p:nvPr/>
        </p:nvCxnSpPr>
        <p:spPr>
          <a:xfrm flipV="1">
            <a:off x="11320859" y="5801966"/>
            <a:ext cx="400304" cy="554910"/>
          </a:xfrm>
          <a:prstGeom prst="line">
            <a:avLst/>
          </a:prstGeom>
          <a:ln w="2159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Isosceles Triangle 326"/>
          <p:cNvSpPr/>
          <p:nvPr/>
        </p:nvSpPr>
        <p:spPr>
          <a:xfrm rot="2148670">
            <a:off x="11696583" y="5777382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8" name="Connector 327"/>
          <p:cNvCxnSpPr/>
          <p:nvPr/>
        </p:nvCxnSpPr>
        <p:spPr>
          <a:xfrm>
            <a:off x="10077812" y="4221527"/>
            <a:ext cx="0" cy="2367147"/>
          </a:xfrm>
          <a:prstGeom prst="line">
            <a:avLst/>
          </a:prstGeom>
          <a:ln w="2032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H="1">
            <a:off x="5744704" y="6588674"/>
            <a:ext cx="4333108" cy="0"/>
          </a:xfrm>
          <a:prstGeom prst="line">
            <a:avLst/>
          </a:prstGeom>
          <a:ln w="2032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Isosceles Triangle 329"/>
          <p:cNvSpPr/>
          <p:nvPr/>
        </p:nvSpPr>
        <p:spPr>
          <a:xfrm rot="16200000">
            <a:off x="5720124" y="6564089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10077812" y="5654459"/>
            <a:ext cx="0" cy="751586"/>
          </a:xfrm>
          <a:prstGeom prst="line">
            <a:avLst/>
          </a:prstGeom>
          <a:ln w="2032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H="1">
            <a:off x="8216753" y="6406045"/>
            <a:ext cx="1861059" cy="0"/>
          </a:xfrm>
          <a:prstGeom prst="line">
            <a:avLst/>
          </a:prstGeom>
          <a:ln w="2032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" name="Isosceles Triangle 332"/>
          <p:cNvSpPr/>
          <p:nvPr/>
        </p:nvSpPr>
        <p:spPr>
          <a:xfrm rot="16200000">
            <a:off x="8192173" y="6381461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4" name="Connector 333"/>
          <p:cNvCxnSpPr/>
          <p:nvPr/>
        </p:nvCxnSpPr>
        <p:spPr>
          <a:xfrm flipV="1">
            <a:off x="5407606" y="4523567"/>
            <a:ext cx="0" cy="365257"/>
          </a:xfrm>
          <a:prstGeom prst="line">
            <a:avLst/>
          </a:prstGeom>
          <a:ln w="1778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" name="Isosceles Triangle 334"/>
          <p:cNvSpPr/>
          <p:nvPr/>
        </p:nvSpPr>
        <p:spPr>
          <a:xfrm>
            <a:off x="5383026" y="4498982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6" name="Connector 335"/>
          <p:cNvCxnSpPr/>
          <p:nvPr/>
        </p:nvCxnSpPr>
        <p:spPr>
          <a:xfrm flipV="1">
            <a:off x="8286981" y="4776437"/>
            <a:ext cx="0" cy="105363"/>
          </a:xfrm>
          <a:prstGeom prst="line">
            <a:avLst/>
          </a:prstGeom>
          <a:ln w="17780">
            <a:solidFill>
              <a:srgbClr val="193B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Isosceles Triangle 336"/>
          <p:cNvSpPr/>
          <p:nvPr/>
        </p:nvSpPr>
        <p:spPr>
          <a:xfrm>
            <a:off x="8262401" y="4751852"/>
            <a:ext cx="49160" cy="49169"/>
          </a:xfrm>
          <a:prstGeom prst="triangle">
            <a:avLst/>
          </a:prstGeom>
          <a:solidFill>
            <a:srgbClr val="193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No Object Is an Island Enhancing 3D Semantic Segmentation Generalization with Diffusion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5"/>
            <a:ext cx="12191695" cy="71492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