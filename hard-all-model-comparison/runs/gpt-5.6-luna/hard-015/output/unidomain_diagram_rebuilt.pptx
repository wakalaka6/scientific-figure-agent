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00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008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850" y="88899"/>
            <a:ext cx="12052300" cy="3429000"/>
          </a:xfrm>
          <a:prstGeom prst="roundRect">
            <a:avLst/>
          </a:prstGeom>
          <a:solidFill>
            <a:srgbClr val="EFF8F2"/>
          </a:solidFill>
          <a:ln w="9525">
            <a:solidFill>
              <a:srgbClr val="EF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850" y="3651250"/>
            <a:ext cx="12052300" cy="3143250"/>
          </a:xfrm>
          <a:prstGeom prst="roundRect">
            <a:avLst/>
          </a:prstGeom>
          <a:solidFill>
            <a:srgbClr val="F3EFF9"/>
          </a:solidFill>
          <a:ln w="9525">
            <a:solidFill>
              <a:srgbClr val="F3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5750" y="190499"/>
            <a:ext cx="3143250" cy="3238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70450" y="190499"/>
            <a:ext cx="3917950" cy="3238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04300" y="190499"/>
            <a:ext cx="3111500" cy="3238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0700" y="3752849"/>
            <a:ext cx="2381250" cy="301624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6750" y="3752849"/>
            <a:ext cx="2463800" cy="301624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3752849"/>
            <a:ext cx="1968500" cy="301624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5149" y="3752849"/>
            <a:ext cx="3816349" cy="301624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165100" y="1301749"/>
            <a:ext cx="254000" cy="984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25" b="1" i="0">
                <a:solidFill>
                  <a:srgbClr val="101110"/>
                </a:solidFill>
                <a:latin typeface="Arial"/>
              </a:rPr>
              <a:t>Learning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165100" y="5111750"/>
            <a:ext cx="254000" cy="984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25" b="1" i="0">
                <a:solidFill>
                  <a:srgbClr val="101110"/>
                </a:solidFill>
                <a:latin typeface="Arial"/>
              </a:rPr>
              <a:t>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6599" y="266699"/>
            <a:ext cx="2254250" cy="247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5" b="1" i="0">
                <a:solidFill>
                  <a:srgbClr val="101110"/>
                </a:solidFill>
                <a:latin typeface="Arial"/>
              </a:rPr>
              <a:t>(a) Keyframe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7950" y="266699"/>
            <a:ext cx="3270250" cy="247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5" b="1" i="0">
                <a:solidFill>
                  <a:srgbClr val="101110"/>
                </a:solidFill>
                <a:latin typeface="Arial"/>
              </a:rPr>
              <a:t>(b) Atomic Domain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6900" y="266699"/>
            <a:ext cx="2286000" cy="247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5" b="1" i="0">
                <a:solidFill>
                  <a:srgbClr val="101110"/>
                </a:solidFill>
                <a:latin typeface="Arial"/>
              </a:rPr>
              <a:t>(c) Domain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3749" y="3835400"/>
            <a:ext cx="2146299" cy="247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5" b="1" i="0">
                <a:solidFill>
                  <a:srgbClr val="101110"/>
                </a:solidFill>
                <a:latin typeface="Arial"/>
              </a:rPr>
              <a:t>(d) Problem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6650" y="3835400"/>
            <a:ext cx="1428750" cy="247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5" b="1" i="0">
                <a:solidFill>
                  <a:srgbClr val="101110"/>
                </a:solidFill>
                <a:latin typeface="Arial"/>
              </a:rPr>
              <a:t>(e)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5500" y="3835400"/>
            <a:ext cx="3301999" cy="247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5" b="1" i="0">
                <a:solidFill>
                  <a:srgbClr val="101110"/>
                </a:solidFill>
                <a:latin typeface="Arial"/>
              </a:rPr>
              <a:t>(f) Execution</a:t>
            </a:r>
          </a:p>
        </p:txBody>
      </p:sp>
      <p:pic>
        <p:nvPicPr>
          <p:cNvPr id="20" name="Picture 19" descr="top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552450"/>
            <a:ext cx="806450" cy="768349"/>
          </a:xfrm>
          <a:prstGeom prst="rect">
            <a:avLst/>
          </a:prstGeom>
        </p:spPr>
      </p:pic>
      <p:pic>
        <p:nvPicPr>
          <p:cNvPr id="21" name="Picture 20" descr="top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499" y="552450"/>
            <a:ext cx="863600" cy="768349"/>
          </a:xfrm>
          <a:prstGeom prst="rect">
            <a:avLst/>
          </a:prstGeom>
        </p:spPr>
      </p:pic>
      <p:pic>
        <p:nvPicPr>
          <p:cNvPr id="22" name="Picture 21" descr="top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49" y="552450"/>
            <a:ext cx="882649" cy="768349"/>
          </a:xfrm>
          <a:prstGeom prst="rect">
            <a:avLst/>
          </a:prstGeom>
        </p:spPr>
      </p:pic>
      <p:pic>
        <p:nvPicPr>
          <p:cNvPr id="23" name="Picture 22" descr="top_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1473199"/>
            <a:ext cx="806450" cy="761999"/>
          </a:xfrm>
          <a:prstGeom prst="rect">
            <a:avLst/>
          </a:prstGeom>
        </p:spPr>
      </p:pic>
      <p:pic>
        <p:nvPicPr>
          <p:cNvPr id="24" name="Picture 23" descr="top_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3499" y="1473199"/>
            <a:ext cx="863600" cy="761999"/>
          </a:xfrm>
          <a:prstGeom prst="rect">
            <a:avLst/>
          </a:prstGeom>
        </p:spPr>
      </p:pic>
      <p:pic>
        <p:nvPicPr>
          <p:cNvPr id="25" name="Picture 24" descr="top_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7749" y="1473199"/>
            <a:ext cx="882649" cy="761999"/>
          </a:xfrm>
          <a:prstGeom prst="rect">
            <a:avLst/>
          </a:prstGeom>
        </p:spPr>
      </p:pic>
      <p:pic>
        <p:nvPicPr>
          <p:cNvPr id="26" name="Picture 25" descr="top_3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2482850"/>
            <a:ext cx="806450" cy="768349"/>
          </a:xfrm>
          <a:prstGeom prst="rect">
            <a:avLst/>
          </a:prstGeom>
        </p:spPr>
      </p:pic>
      <p:pic>
        <p:nvPicPr>
          <p:cNvPr id="27" name="Picture 26" descr="top_3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3499" y="2482850"/>
            <a:ext cx="863600" cy="768349"/>
          </a:xfrm>
          <a:prstGeom prst="rect">
            <a:avLst/>
          </a:prstGeom>
        </p:spPr>
      </p:pic>
      <p:pic>
        <p:nvPicPr>
          <p:cNvPr id="28" name="Picture 27" descr="top_3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7749" y="2482850"/>
            <a:ext cx="882649" cy="768349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650999" y="533399"/>
            <a:ext cx="2901949" cy="857250"/>
          </a:xfrm>
          <a:prstGeom prst="rect">
            <a:avLst/>
          </a:prstGeom>
          <a:solidFill>
            <a:srgbClr val="D2E8D3"/>
          </a:solidFill>
          <a:ln w="9525">
            <a:solidFill>
              <a:srgbClr val="D2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50999" y="1454150"/>
            <a:ext cx="2901949" cy="857250"/>
          </a:xfrm>
          <a:prstGeom prst="rect">
            <a:avLst/>
          </a:prstGeom>
          <a:solidFill>
            <a:srgbClr val="D2E8D3"/>
          </a:solidFill>
          <a:ln w="9525">
            <a:solidFill>
              <a:srgbClr val="D2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50999" y="2463800"/>
            <a:ext cx="2901949" cy="857250"/>
          </a:xfrm>
          <a:prstGeom prst="rect">
            <a:avLst/>
          </a:prstGeom>
          <a:solidFill>
            <a:srgbClr val="D2E8D3"/>
          </a:solidFill>
          <a:ln w="9525">
            <a:solidFill>
              <a:srgbClr val="D2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p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552450"/>
            <a:ext cx="806450" cy="768349"/>
          </a:xfrm>
          <a:prstGeom prst="rect">
            <a:avLst/>
          </a:prstGeom>
        </p:spPr>
      </p:pic>
      <p:pic>
        <p:nvPicPr>
          <p:cNvPr id="33" name="Picture 32" descr="top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499" y="552450"/>
            <a:ext cx="863600" cy="768349"/>
          </a:xfrm>
          <a:prstGeom prst="rect">
            <a:avLst/>
          </a:prstGeom>
        </p:spPr>
      </p:pic>
      <p:pic>
        <p:nvPicPr>
          <p:cNvPr id="34" name="Picture 33" descr="top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49" y="552450"/>
            <a:ext cx="882649" cy="768349"/>
          </a:xfrm>
          <a:prstGeom prst="rect">
            <a:avLst/>
          </a:prstGeom>
        </p:spPr>
      </p:pic>
      <p:pic>
        <p:nvPicPr>
          <p:cNvPr id="35" name="Picture 34" descr="top_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1473199"/>
            <a:ext cx="806450" cy="761999"/>
          </a:xfrm>
          <a:prstGeom prst="rect">
            <a:avLst/>
          </a:prstGeom>
        </p:spPr>
      </p:pic>
      <p:pic>
        <p:nvPicPr>
          <p:cNvPr id="36" name="Picture 35" descr="top_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3499" y="1473199"/>
            <a:ext cx="863600" cy="761999"/>
          </a:xfrm>
          <a:prstGeom prst="rect">
            <a:avLst/>
          </a:prstGeom>
        </p:spPr>
      </p:pic>
      <p:pic>
        <p:nvPicPr>
          <p:cNvPr id="37" name="Picture 36" descr="top_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7749" y="1473199"/>
            <a:ext cx="882649" cy="761999"/>
          </a:xfrm>
          <a:prstGeom prst="rect">
            <a:avLst/>
          </a:prstGeom>
        </p:spPr>
      </p:pic>
      <p:pic>
        <p:nvPicPr>
          <p:cNvPr id="38" name="Picture 37" descr="top_3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2482850"/>
            <a:ext cx="806450" cy="768349"/>
          </a:xfrm>
          <a:prstGeom prst="rect">
            <a:avLst/>
          </a:prstGeom>
        </p:spPr>
      </p:pic>
      <p:pic>
        <p:nvPicPr>
          <p:cNvPr id="39" name="Picture 38" descr="top_3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3499" y="2482850"/>
            <a:ext cx="863600" cy="768349"/>
          </a:xfrm>
          <a:prstGeom prst="rect">
            <a:avLst/>
          </a:prstGeom>
        </p:spPr>
      </p:pic>
      <p:pic>
        <p:nvPicPr>
          <p:cNvPr id="40" name="Picture 39" descr="top_3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7749" y="2482850"/>
            <a:ext cx="882649" cy="76834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959099" y="2228850"/>
            <a:ext cx="3175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101110"/>
                </a:solidFill>
                <a:latin typeface="Arial"/>
              </a:rPr>
              <a:t>⋮</a:t>
            </a:r>
          </a:p>
        </p:txBody>
      </p:sp>
      <p:sp>
        <p:nvSpPr>
          <p:cNvPr id="42" name="Can 41"/>
          <p:cNvSpPr/>
          <p:nvPr/>
        </p:nvSpPr>
        <p:spPr>
          <a:xfrm>
            <a:off x="527050" y="1073149"/>
            <a:ext cx="774700" cy="1447800"/>
          </a:xfrm>
          <a:prstGeom prst="can">
            <a:avLst/>
          </a:prstGeom>
          <a:solidFill>
            <a:srgbClr val="FFFFFF"/>
          </a:solidFill>
          <a:ln w="19050">
            <a:solidFill>
              <a:srgbClr val="81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250" y="1536699"/>
            <a:ext cx="635000" cy="533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0" i="0">
                <a:solidFill>
                  <a:srgbClr val="101110"/>
                </a:solidFill>
                <a:latin typeface="Arial"/>
              </a:rPr>
              <a:t>DROID
Dataset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301749" y="1784350"/>
            <a:ext cx="133351" cy="0"/>
          </a:xfrm>
          <a:prstGeom prst="line">
            <a:avLst/>
          </a:prstGeom>
          <a:ln w="38100">
            <a:solidFill>
              <a:srgbClr val="2D6E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435100" y="952499"/>
            <a:ext cx="0" cy="831851"/>
          </a:xfrm>
          <a:prstGeom prst="line">
            <a:avLst/>
          </a:prstGeom>
          <a:ln w="38100">
            <a:solidFill>
              <a:srgbClr val="2D6E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35100" y="952499"/>
            <a:ext cx="203199" cy="0"/>
          </a:xfrm>
          <a:prstGeom prst="line">
            <a:avLst/>
          </a:prstGeom>
          <a:ln w="38100">
            <a:solidFill>
              <a:srgbClr val="2D6E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435100" y="1784350"/>
            <a:ext cx="0" cy="107949"/>
          </a:xfrm>
          <a:prstGeom prst="line">
            <a:avLst/>
          </a:prstGeom>
          <a:ln w="38100">
            <a:solidFill>
              <a:srgbClr val="2D6E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435100" y="1892299"/>
            <a:ext cx="203199" cy="0"/>
          </a:xfrm>
          <a:prstGeom prst="line">
            <a:avLst/>
          </a:prstGeom>
          <a:ln w="38100">
            <a:solidFill>
              <a:srgbClr val="2D6E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435100" y="1784350"/>
            <a:ext cx="0" cy="1104899"/>
          </a:xfrm>
          <a:prstGeom prst="line">
            <a:avLst/>
          </a:prstGeom>
          <a:ln w="38100">
            <a:solidFill>
              <a:srgbClr val="2D6E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435100" y="2889249"/>
            <a:ext cx="203199" cy="0"/>
          </a:xfrm>
          <a:prstGeom prst="line">
            <a:avLst/>
          </a:prstGeom>
          <a:ln w="38100">
            <a:solidFill>
              <a:srgbClr val="2D6E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59300" y="952499"/>
            <a:ext cx="596900" cy="0"/>
          </a:xfrm>
          <a:prstGeom prst="line">
            <a:avLst/>
          </a:prstGeom>
          <a:ln w="38100">
            <a:solidFill>
              <a:srgbClr val="2D6E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59300" y="1892299"/>
            <a:ext cx="596900" cy="0"/>
          </a:xfrm>
          <a:prstGeom prst="line">
            <a:avLst/>
          </a:prstGeom>
          <a:ln w="38100">
            <a:solidFill>
              <a:srgbClr val="2D6E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59300" y="2889249"/>
            <a:ext cx="596900" cy="0"/>
          </a:xfrm>
          <a:prstGeom prst="line">
            <a:avLst/>
          </a:prstGeom>
          <a:ln w="38100">
            <a:solidFill>
              <a:srgbClr val="2D6E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5156200" y="685800"/>
            <a:ext cx="3327400" cy="793749"/>
          </a:xfrm>
          <a:prstGeom prst="roundRect">
            <a:avLst/>
          </a:prstGeom>
          <a:solidFill>
            <a:srgbClr val="C6EDCF"/>
          </a:solidFill>
          <a:ln w="9525">
            <a:solidFill>
              <a:srgbClr val="C6E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72664" y="84962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372664" y="89280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335270" y="914400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297875" y="89280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297875" y="84962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335270" y="82803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344160" y="880109"/>
            <a:ext cx="55880" cy="5588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94350" y="742950"/>
            <a:ext cx="1809749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25" b="0" i="0">
                <a:solidFill>
                  <a:srgbClr val="101110"/>
                </a:solidFill>
                <a:latin typeface="Arial"/>
              </a:rPr>
              <a:t>Domain Construction
&amp; Revision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29500" y="730250"/>
            <a:ext cx="920750" cy="558800"/>
          </a:xfrm>
          <a:prstGeom prst="rect">
            <a:avLst/>
          </a:prstGeom>
          <a:solidFill>
            <a:srgbClr val="ECFAF5"/>
          </a:solidFill>
          <a:ln w="14287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ight Triangle 63"/>
          <p:cNvSpPr/>
          <p:nvPr/>
        </p:nvSpPr>
        <p:spPr>
          <a:xfrm rot="5400000">
            <a:off x="8223250" y="730250"/>
            <a:ext cx="127000" cy="127000"/>
          </a:xfrm>
          <a:prstGeom prst="rtTriangle">
            <a:avLst/>
          </a:prstGeom>
          <a:solidFill>
            <a:srgbClr val="ECFAF5"/>
          </a:solidFill>
          <a:ln w="1397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8223250" y="730250"/>
            <a:ext cx="0" cy="127000"/>
          </a:xfrm>
          <a:prstGeom prst="line">
            <a:avLst/>
          </a:prstGeom>
          <a:ln w="9525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480300" y="761999"/>
            <a:ext cx="812800" cy="482600"/>
          </a:xfrm>
          <a:prstGeom prst="rect">
            <a:avLst/>
          </a:prstGeom>
          <a:noFill/>
        </p:spPr>
        <p:txBody>
          <a:bodyPr wrap="none" lIns="25400" rIns="25400" tIns="25400" bIns="25400" anchor="t">
            <a:spAutoFit/>
          </a:bodyPr>
          <a:lstStyle/>
          <a:p>
            <a:pPr algn="l"/>
            <a:r>
              <a:rPr sz="825" b="0" i="1">
                <a:solidFill>
                  <a:srgbClr val="101110"/>
                </a:solidFill>
                <a:latin typeface="Courier New"/>
              </a:rPr>
              <a:t>:predicates (...)
:actions ...
:precondition (...)
:effect (...)
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807199" y="1479549"/>
            <a:ext cx="0" cy="88901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5029200" y="1479549"/>
            <a:ext cx="3460749" cy="1752599"/>
          </a:xfrm>
          <a:prstGeom prst="roundRect">
            <a:avLst/>
          </a:prstGeom>
          <a:solidFill>
            <a:srgbClr val="D9F2DF"/>
          </a:solidFill>
          <a:ln w="9525">
            <a:solidFill>
              <a:srgbClr val="D9F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156200" y="1574800"/>
            <a:ext cx="1441450" cy="781050"/>
          </a:xfrm>
          <a:prstGeom prst="roundRect">
            <a:avLst/>
          </a:prstGeom>
          <a:solidFill>
            <a:srgbClr val="C6EDCF"/>
          </a:solidFill>
          <a:ln w="9525">
            <a:solidFill>
              <a:srgbClr val="C6E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72636" y="1722500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72636" y="1763522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37111" y="1784032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1586" y="1763522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1586" y="1722500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37111" y="1701990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45557" y="1751457"/>
            <a:ext cx="53085" cy="53085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594350" y="1739900"/>
            <a:ext cx="9207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0" i="0">
                <a:solidFill>
                  <a:srgbClr val="101110"/>
                </a:solidFill>
                <a:latin typeface="Arial"/>
              </a:rPr>
              <a:t>Solvability
Check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372100" y="2086863"/>
            <a:ext cx="0" cy="51562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5302123" y="2138425"/>
            <a:ext cx="69977" cy="0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372100" y="2138425"/>
            <a:ext cx="69977" cy="0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302123" y="2138425"/>
            <a:ext cx="0" cy="33148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442077" y="2138425"/>
            <a:ext cx="0" cy="33148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5342635" y="2027935"/>
            <a:ext cx="58928" cy="58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272659" y="2142109"/>
            <a:ext cx="58928" cy="58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412612" y="2142109"/>
            <a:ext cx="58928" cy="58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5156200" y="2495550"/>
            <a:ext cx="1441450" cy="679449"/>
          </a:xfrm>
          <a:prstGeom prst="roundRect">
            <a:avLst/>
          </a:prstGeom>
          <a:solidFill>
            <a:srgbClr val="C6EDCF"/>
          </a:solidFill>
          <a:ln w="9525">
            <a:solidFill>
              <a:srgbClr val="C6E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372636" y="2630551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372636" y="2671572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337111" y="2692082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301586" y="2671572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301586" y="2630551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337111" y="2610040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345557" y="2659507"/>
            <a:ext cx="53085" cy="53085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94350" y="2628900"/>
            <a:ext cx="920750" cy="469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75" b="0" i="0">
                <a:solidFill>
                  <a:srgbClr val="101110"/>
                </a:solidFill>
                <a:latin typeface="Arial"/>
              </a:rPr>
              <a:t>Solution
Verification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308850" y="1574800"/>
            <a:ext cx="1181099" cy="1587499"/>
          </a:xfrm>
          <a:prstGeom prst="roundRect">
            <a:avLst/>
          </a:prstGeom>
          <a:solidFill>
            <a:srgbClr val="C6EDCF"/>
          </a:solidFill>
          <a:ln w="9525">
            <a:solidFill>
              <a:srgbClr val="C6E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709493" y="1716659"/>
            <a:ext cx="77343" cy="77343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709493" y="1761998"/>
            <a:ext cx="77343" cy="77343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70228" y="1784667"/>
            <a:ext cx="77343" cy="77343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630963" y="1761998"/>
            <a:ext cx="77343" cy="77343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630963" y="1716659"/>
            <a:ext cx="77343" cy="77343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670228" y="1693989"/>
            <a:ext cx="77343" cy="77343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679563" y="1748662"/>
            <a:ext cx="58674" cy="58674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404099" y="1943100"/>
            <a:ext cx="1016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75" b="0" i="0">
                <a:solidFill>
                  <a:srgbClr val="101110"/>
                </a:solidFill>
                <a:latin typeface="Arial"/>
              </a:rPr>
              <a:t>Closed-Loop
Refinement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435850" y="2571750"/>
            <a:ext cx="920750" cy="571500"/>
          </a:xfrm>
          <a:prstGeom prst="rect">
            <a:avLst/>
          </a:prstGeom>
          <a:solidFill>
            <a:srgbClr val="ECFAF5"/>
          </a:solidFill>
          <a:ln w="14287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ight Triangle 104"/>
          <p:cNvSpPr/>
          <p:nvPr/>
        </p:nvSpPr>
        <p:spPr>
          <a:xfrm rot="5400000">
            <a:off x="8229600" y="2571750"/>
            <a:ext cx="127000" cy="127000"/>
          </a:xfrm>
          <a:prstGeom prst="rtTriangle">
            <a:avLst/>
          </a:prstGeom>
          <a:solidFill>
            <a:srgbClr val="ECFAF5"/>
          </a:solidFill>
          <a:ln w="1397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8229600" y="2571750"/>
            <a:ext cx="0" cy="127000"/>
          </a:xfrm>
          <a:prstGeom prst="line">
            <a:avLst/>
          </a:prstGeom>
          <a:ln w="9525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7480300" y="2603499"/>
            <a:ext cx="825499" cy="488950"/>
          </a:xfrm>
          <a:prstGeom prst="rect">
            <a:avLst/>
          </a:prstGeom>
          <a:noFill/>
        </p:spPr>
        <p:txBody>
          <a:bodyPr wrap="none" lIns="25400" rIns="25400" tIns="25400" bIns="25400" anchor="t">
            <a:spAutoFit/>
          </a:bodyPr>
          <a:lstStyle/>
          <a:p>
            <a:pPr algn="l"/>
            <a:r>
              <a:rPr sz="825" b="0" i="1">
                <a:solidFill>
                  <a:srgbClr val="101110"/>
                </a:solidFill>
                <a:latin typeface="Courier New"/>
              </a:rPr>
              <a:t>:predicates (...)
:actions ...
:precondition (...)
:effect (...)
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6807199" y="2355850"/>
            <a:ext cx="0" cy="133349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597650" y="1962149"/>
            <a:ext cx="711200" cy="0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6597650" y="2178050"/>
            <a:ext cx="711200" cy="0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553199" y="2006599"/>
            <a:ext cx="8254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01110"/>
                </a:solidFill>
                <a:latin typeface="Arial"/>
              </a:rPr>
              <a:t>Feedback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6597650" y="2838450"/>
            <a:ext cx="711200" cy="0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6572250" y="2870200"/>
            <a:ext cx="825499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01110"/>
                </a:solidFill>
                <a:latin typeface="Arial"/>
              </a:rPr>
              <a:t>Feedback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061450" y="603250"/>
            <a:ext cx="2990849" cy="793749"/>
          </a:xfrm>
          <a:prstGeom prst="rect">
            <a:avLst/>
          </a:prstGeom>
          <a:solidFill>
            <a:srgbClr val="FFFFFF"/>
          </a:solidFill>
          <a:ln w="1905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588500" y="641350"/>
            <a:ext cx="190499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25" b="0" i="0">
                <a:solidFill>
                  <a:srgbClr val="101110"/>
                </a:solidFill>
                <a:latin typeface="Arial"/>
              </a:rPr>
              <a:t>Unified Domain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12250" y="876299"/>
            <a:ext cx="577850" cy="527050"/>
          </a:xfrm>
          <a:prstGeom prst="rect">
            <a:avLst/>
          </a:prstGeom>
          <a:solidFill>
            <a:srgbClr val="ECFAF5"/>
          </a:solidFill>
          <a:ln w="14287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ight Triangle 116"/>
          <p:cNvSpPr/>
          <p:nvPr/>
        </p:nvSpPr>
        <p:spPr>
          <a:xfrm rot="5400000">
            <a:off x="9563099" y="876299"/>
            <a:ext cx="127000" cy="127000"/>
          </a:xfrm>
          <a:prstGeom prst="rtTriangle">
            <a:avLst/>
          </a:prstGeom>
          <a:solidFill>
            <a:srgbClr val="ECFAF5"/>
          </a:solidFill>
          <a:ln w="1397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9563099" y="876299"/>
            <a:ext cx="0" cy="127000"/>
          </a:xfrm>
          <a:prstGeom prst="line">
            <a:avLst/>
          </a:prstGeom>
          <a:ln w="9525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9163049" y="952499"/>
            <a:ext cx="476249" cy="336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101110"/>
                </a:solidFill>
                <a:latin typeface="Arial"/>
              </a:rPr>
              <a:t>Atomic
Domain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747250" y="876299"/>
            <a:ext cx="577850" cy="527050"/>
          </a:xfrm>
          <a:prstGeom prst="rect">
            <a:avLst/>
          </a:prstGeom>
          <a:solidFill>
            <a:srgbClr val="ECFAF5"/>
          </a:solidFill>
          <a:ln w="14287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ight Triangle 120"/>
          <p:cNvSpPr/>
          <p:nvPr/>
        </p:nvSpPr>
        <p:spPr>
          <a:xfrm rot="5400000">
            <a:off x="10198100" y="876299"/>
            <a:ext cx="127000" cy="127000"/>
          </a:xfrm>
          <a:prstGeom prst="rtTriangle">
            <a:avLst/>
          </a:prstGeom>
          <a:solidFill>
            <a:srgbClr val="ECFAF5"/>
          </a:solidFill>
          <a:ln w="1397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10198100" y="876299"/>
            <a:ext cx="0" cy="127000"/>
          </a:xfrm>
          <a:prstGeom prst="line">
            <a:avLst/>
          </a:prstGeom>
          <a:ln w="9525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9798050" y="952499"/>
            <a:ext cx="476249" cy="336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101110"/>
                </a:solidFill>
                <a:latin typeface="Arial"/>
              </a:rPr>
              <a:t>Atomic
Domain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293350" y="1003299"/>
            <a:ext cx="24130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01110"/>
                </a:solidFill>
                <a:latin typeface="Arial"/>
              </a:rPr>
              <a:t>⋯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572750" y="876299"/>
            <a:ext cx="577850" cy="527050"/>
          </a:xfrm>
          <a:prstGeom prst="rect">
            <a:avLst/>
          </a:prstGeom>
          <a:solidFill>
            <a:srgbClr val="ECFAF5"/>
          </a:solidFill>
          <a:ln w="14287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ight Triangle 125"/>
          <p:cNvSpPr/>
          <p:nvPr/>
        </p:nvSpPr>
        <p:spPr>
          <a:xfrm rot="5400000">
            <a:off x="11023600" y="876299"/>
            <a:ext cx="127000" cy="127000"/>
          </a:xfrm>
          <a:prstGeom prst="rtTriangle">
            <a:avLst/>
          </a:prstGeom>
          <a:solidFill>
            <a:srgbClr val="ECFAF5"/>
          </a:solidFill>
          <a:ln w="1397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11023600" y="876299"/>
            <a:ext cx="0" cy="127000"/>
          </a:xfrm>
          <a:prstGeom prst="line">
            <a:avLst/>
          </a:prstGeom>
          <a:ln w="9525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0623550" y="952499"/>
            <a:ext cx="476249" cy="336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101110"/>
                </a:solidFill>
                <a:latin typeface="Arial"/>
              </a:rPr>
              <a:t>Atomic
Domain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1176000" y="876299"/>
            <a:ext cx="577850" cy="527050"/>
          </a:xfrm>
          <a:prstGeom prst="rect">
            <a:avLst/>
          </a:prstGeom>
          <a:solidFill>
            <a:srgbClr val="ECFAF5"/>
          </a:solidFill>
          <a:ln w="14287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ight Triangle 129"/>
          <p:cNvSpPr/>
          <p:nvPr/>
        </p:nvSpPr>
        <p:spPr>
          <a:xfrm rot="5400000">
            <a:off x="11626850" y="876299"/>
            <a:ext cx="127000" cy="127000"/>
          </a:xfrm>
          <a:prstGeom prst="rtTriangle">
            <a:avLst/>
          </a:prstGeom>
          <a:solidFill>
            <a:srgbClr val="ECFAF5"/>
          </a:solidFill>
          <a:ln w="1397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11626850" y="876299"/>
            <a:ext cx="0" cy="127000"/>
          </a:xfrm>
          <a:prstGeom prst="line">
            <a:avLst/>
          </a:prstGeom>
          <a:ln w="9525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1226800" y="952499"/>
            <a:ext cx="476249" cy="336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101110"/>
                </a:solidFill>
                <a:latin typeface="Arial"/>
              </a:rPr>
              <a:t>Atomic
Domain</a:t>
            </a:r>
          </a:p>
        </p:txBody>
      </p:sp>
      <p:sp>
        <p:nvSpPr>
          <p:cNvPr id="133" name="Oval 132"/>
          <p:cNvSpPr/>
          <p:nvPr/>
        </p:nvSpPr>
        <p:spPr>
          <a:xfrm>
            <a:off x="9779564" y="153542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779564" y="157860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742170" y="1600200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704775" y="157860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704775" y="153542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742170" y="151383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751059" y="1565910"/>
            <a:ext cx="55880" cy="5588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246414" y="153542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246414" y="157860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1209020" y="1600200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1171625" y="157860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1171625" y="153542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1209020" y="1513839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1217909" y="1565910"/>
            <a:ext cx="55880" cy="5588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579664" y="2291080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579664" y="2334260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542270" y="2355850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504875" y="2334260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504875" y="2291080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542270" y="2269490"/>
            <a:ext cx="73659" cy="73659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551159" y="2321560"/>
            <a:ext cx="55880" cy="5588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9290050" y="1758949"/>
            <a:ext cx="1016000" cy="622299"/>
          </a:xfrm>
          <a:prstGeom prst="rect">
            <a:avLst/>
          </a:prstGeom>
          <a:solidFill>
            <a:srgbClr val="ECFAF5"/>
          </a:solidFill>
          <a:ln w="14287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ight Triangle 154"/>
          <p:cNvSpPr/>
          <p:nvPr/>
        </p:nvSpPr>
        <p:spPr>
          <a:xfrm rot="5400000">
            <a:off x="10179050" y="1758949"/>
            <a:ext cx="127000" cy="127000"/>
          </a:xfrm>
          <a:prstGeom prst="rtTriangle">
            <a:avLst/>
          </a:prstGeom>
          <a:solidFill>
            <a:srgbClr val="ECFAF5"/>
          </a:solidFill>
          <a:ln w="1397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>
            <a:off x="10179050" y="1758949"/>
            <a:ext cx="0" cy="127001"/>
          </a:xfrm>
          <a:prstGeom prst="line">
            <a:avLst/>
          </a:prstGeom>
          <a:ln w="9525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9398000" y="1854200"/>
            <a:ext cx="80010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75" b="0" i="0">
                <a:solidFill>
                  <a:srgbClr val="101110"/>
                </a:solidFill>
                <a:latin typeface="Arial"/>
              </a:rPr>
              <a:t>Meta
Domain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864850" y="1758949"/>
            <a:ext cx="1016000" cy="622299"/>
          </a:xfrm>
          <a:prstGeom prst="rect">
            <a:avLst/>
          </a:prstGeom>
          <a:solidFill>
            <a:srgbClr val="ECFAF5"/>
          </a:solidFill>
          <a:ln w="14287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ight Triangle 158"/>
          <p:cNvSpPr/>
          <p:nvPr/>
        </p:nvSpPr>
        <p:spPr>
          <a:xfrm rot="5400000">
            <a:off x="11753850" y="1758949"/>
            <a:ext cx="127000" cy="127000"/>
          </a:xfrm>
          <a:prstGeom prst="rtTriangle">
            <a:avLst/>
          </a:prstGeom>
          <a:solidFill>
            <a:srgbClr val="ECFAF5"/>
          </a:solidFill>
          <a:ln w="1397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>
            <a:off x="11753850" y="1758949"/>
            <a:ext cx="0" cy="127001"/>
          </a:xfrm>
          <a:prstGeom prst="line">
            <a:avLst/>
          </a:prstGeom>
          <a:ln w="9525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10972800" y="1854200"/>
            <a:ext cx="80010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75" b="0" i="0">
                <a:solidFill>
                  <a:srgbClr val="101110"/>
                </a:solidFill>
                <a:latin typeface="Arial"/>
              </a:rPr>
              <a:t>Meta
Domain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956799" y="2660649"/>
            <a:ext cx="1295399" cy="654050"/>
          </a:xfrm>
          <a:prstGeom prst="rect">
            <a:avLst/>
          </a:prstGeom>
          <a:solidFill>
            <a:srgbClr val="ECFAF5"/>
          </a:solidFill>
          <a:ln w="14287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ight Triangle 162"/>
          <p:cNvSpPr/>
          <p:nvPr/>
        </p:nvSpPr>
        <p:spPr>
          <a:xfrm rot="5400000">
            <a:off x="11125200" y="2660649"/>
            <a:ext cx="127000" cy="127000"/>
          </a:xfrm>
          <a:prstGeom prst="rtTriangle">
            <a:avLst/>
          </a:prstGeom>
          <a:solidFill>
            <a:srgbClr val="ECFAF5"/>
          </a:solidFill>
          <a:ln w="1397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>
            <a:off x="11125200" y="2660649"/>
            <a:ext cx="0" cy="127001"/>
          </a:xfrm>
          <a:prstGeom prst="line">
            <a:avLst/>
          </a:prstGeom>
          <a:ln w="9525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10083800" y="2736850"/>
            <a:ext cx="1041400" cy="4762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0" i="0">
                <a:solidFill>
                  <a:srgbClr val="101110"/>
                </a:solidFill>
                <a:latin typeface="Arial"/>
              </a:rPr>
              <a:t>Meta
Domain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9321800" y="1397000"/>
            <a:ext cx="203200" cy="361949"/>
          </a:xfrm>
          <a:prstGeom prst="line">
            <a:avLst/>
          </a:prstGeom>
          <a:ln w="14287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9874250" y="1397000"/>
            <a:ext cx="127000" cy="361949"/>
          </a:xfrm>
          <a:prstGeom prst="line">
            <a:avLst/>
          </a:prstGeom>
          <a:ln w="14287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H="1">
            <a:off x="11048999" y="1397000"/>
            <a:ext cx="177801" cy="361949"/>
          </a:xfrm>
          <a:prstGeom prst="line">
            <a:avLst/>
          </a:prstGeom>
          <a:ln w="14287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11525250" y="1397000"/>
            <a:ext cx="209549" cy="361949"/>
          </a:xfrm>
          <a:prstGeom prst="line">
            <a:avLst/>
          </a:prstGeom>
          <a:ln w="14287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9810750" y="2381250"/>
            <a:ext cx="539750" cy="279399"/>
          </a:xfrm>
          <a:prstGeom prst="line">
            <a:avLst/>
          </a:prstGeom>
          <a:ln w="14287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10858500" y="2381250"/>
            <a:ext cx="444500" cy="279399"/>
          </a:xfrm>
          <a:prstGeom prst="line">
            <a:avLst/>
          </a:prstGeom>
          <a:ln w="14287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10350500" y="2038349"/>
            <a:ext cx="50800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01110"/>
                </a:solidFill>
                <a:latin typeface="Arial"/>
              </a:rPr>
              <a:t>⋯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8489950" y="2889249"/>
            <a:ext cx="527050" cy="0"/>
          </a:xfrm>
          <a:prstGeom prst="line">
            <a:avLst/>
          </a:prstGeom>
          <a:ln w="38100">
            <a:solidFill>
              <a:srgbClr val="2D6E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ounded Rectangle 173"/>
          <p:cNvSpPr/>
          <p:nvPr/>
        </p:nvSpPr>
        <p:spPr>
          <a:xfrm>
            <a:off x="539750" y="3759199"/>
            <a:ext cx="2349500" cy="1111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35000" y="3854450"/>
            <a:ext cx="2159000" cy="901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0" i="1">
                <a:solidFill>
                  <a:srgbClr val="101110"/>
                </a:solidFill>
                <a:latin typeface="Arial"/>
              </a:rPr>
              <a:t>Move the corn from the pot
into the orange bowl, wipe the
table with the towel in the
drawer and put it back to the
closed drawer.</a:t>
            </a:r>
          </a:p>
        </p:txBody>
      </p:sp>
      <p:pic>
        <p:nvPicPr>
          <p:cNvPr id="176" name="Picture 175" descr="sce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350" y="4991100"/>
            <a:ext cx="2171700" cy="1752599"/>
          </a:xfrm>
          <a:prstGeom prst="rect">
            <a:avLst/>
          </a:prstGeom>
        </p:spPr>
      </p:pic>
      <p:cxnSp>
        <p:nvCxnSpPr>
          <p:cNvPr id="177" name="Connector 176"/>
          <p:cNvCxnSpPr/>
          <p:nvPr/>
        </p:nvCxnSpPr>
        <p:spPr>
          <a:xfrm>
            <a:off x="2895600" y="4318000"/>
            <a:ext cx="165099" cy="0"/>
          </a:xfrm>
          <a:prstGeom prst="line">
            <a:avLst/>
          </a:prstGeom>
          <a:ln w="28575">
            <a:solidFill>
              <a:srgbClr val="704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3060699" y="4318000"/>
            <a:ext cx="0" cy="1174749"/>
          </a:xfrm>
          <a:prstGeom prst="line">
            <a:avLst/>
          </a:prstGeom>
          <a:ln w="28575">
            <a:solidFill>
              <a:srgbClr val="704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3060699" y="5492749"/>
            <a:ext cx="298450" cy="0"/>
          </a:xfrm>
          <a:prstGeom prst="line">
            <a:avLst/>
          </a:prstGeom>
          <a:ln w="28575">
            <a:solidFill>
              <a:srgbClr val="704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2895600" y="5892799"/>
            <a:ext cx="165099" cy="0"/>
          </a:xfrm>
          <a:prstGeom prst="line">
            <a:avLst/>
          </a:prstGeom>
          <a:ln w="28575">
            <a:solidFill>
              <a:srgbClr val="704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3060699" y="5492749"/>
            <a:ext cx="0" cy="400050"/>
          </a:xfrm>
          <a:prstGeom prst="line">
            <a:avLst/>
          </a:prstGeom>
          <a:ln w="28575">
            <a:solidFill>
              <a:srgbClr val="704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ectangle 181"/>
          <p:cNvSpPr/>
          <p:nvPr/>
        </p:nvSpPr>
        <p:spPr>
          <a:xfrm>
            <a:off x="3333749" y="4349749"/>
            <a:ext cx="933449" cy="635000"/>
          </a:xfrm>
          <a:prstGeom prst="rect">
            <a:avLst/>
          </a:prstGeom>
          <a:solidFill>
            <a:srgbClr val="ECFAF5"/>
          </a:solidFill>
          <a:ln w="14287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ight Triangle 182"/>
          <p:cNvSpPr/>
          <p:nvPr/>
        </p:nvSpPr>
        <p:spPr>
          <a:xfrm rot="5400000">
            <a:off x="4140200" y="4349749"/>
            <a:ext cx="127000" cy="127000"/>
          </a:xfrm>
          <a:prstGeom prst="rtTriangle">
            <a:avLst/>
          </a:prstGeom>
          <a:solidFill>
            <a:srgbClr val="ECFAF5"/>
          </a:solidFill>
          <a:ln w="1397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>
            <a:off x="4140200" y="4349749"/>
            <a:ext cx="0" cy="127001"/>
          </a:xfrm>
          <a:prstGeom prst="line">
            <a:avLst/>
          </a:prstGeom>
          <a:ln w="9525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3435350" y="4438649"/>
            <a:ext cx="730250" cy="4762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01110"/>
                </a:solidFill>
                <a:latin typeface="Arial"/>
              </a:rPr>
              <a:t>Meta
Domain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4483100" y="4349749"/>
            <a:ext cx="1130299" cy="457200"/>
          </a:xfrm>
          <a:prstGeom prst="roundRect">
            <a:avLst/>
          </a:prstGeom>
          <a:solidFill>
            <a:srgbClr val="DDD2FB"/>
          </a:solidFill>
          <a:ln w="9525">
            <a:solidFill>
              <a:srgbClr val="DDD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559300" y="4394200"/>
            <a:ext cx="984250" cy="349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01110"/>
                </a:solidFill>
                <a:latin typeface="Arial"/>
              </a:rPr>
              <a:t>Predicate
Grouping</a:t>
            </a:r>
          </a:p>
        </p:txBody>
      </p:sp>
      <p:cxnSp>
        <p:nvCxnSpPr>
          <p:cNvPr id="188" name="Connector 187"/>
          <p:cNvCxnSpPr/>
          <p:nvPr/>
        </p:nvCxnSpPr>
        <p:spPr>
          <a:xfrm flipV="1">
            <a:off x="4267199" y="4578349"/>
            <a:ext cx="215901" cy="88900"/>
          </a:xfrm>
          <a:prstGeom prst="line">
            <a:avLst/>
          </a:prstGeom>
          <a:ln w="19050">
            <a:solidFill>
              <a:srgbClr val="8181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ounded Rectangle 188"/>
          <p:cNvSpPr/>
          <p:nvPr/>
        </p:nvSpPr>
        <p:spPr>
          <a:xfrm>
            <a:off x="3333749" y="5149849"/>
            <a:ext cx="2279650" cy="666750"/>
          </a:xfrm>
          <a:prstGeom prst="roundRect">
            <a:avLst/>
          </a:prstGeom>
          <a:solidFill>
            <a:srgbClr val="DDD2FB"/>
          </a:solidFill>
          <a:ln w="9525">
            <a:solidFill>
              <a:srgbClr val="DDD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575586" y="5291201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575586" y="5332222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3540061" y="5352732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3504536" y="5332222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3504536" y="5291201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540061" y="5270690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548507" y="5320157"/>
            <a:ext cx="53085" cy="53085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771900" y="5226050"/>
            <a:ext cx="161925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 i="0">
                <a:solidFill>
                  <a:srgbClr val="101110"/>
                </a:solidFill>
                <a:latin typeface="Arial"/>
              </a:rPr>
              <a:t>Predicate
&amp; Operator Filtering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5048250" y="4806949"/>
            <a:ext cx="0" cy="342900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ounded Rectangle 198"/>
          <p:cNvSpPr/>
          <p:nvPr/>
        </p:nvSpPr>
        <p:spPr>
          <a:xfrm>
            <a:off x="3333749" y="5981699"/>
            <a:ext cx="2279650" cy="679449"/>
          </a:xfrm>
          <a:prstGeom prst="roundRect">
            <a:avLst/>
          </a:prstGeom>
          <a:solidFill>
            <a:srgbClr val="DDD2FB"/>
          </a:solidFill>
          <a:ln w="9525">
            <a:solidFill>
              <a:srgbClr val="DDD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3575586" y="6129400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3575586" y="6170422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3540061" y="6190932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3504536" y="6170422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3504536" y="6129400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540061" y="6108890"/>
            <a:ext cx="69976" cy="69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548507" y="6158357"/>
            <a:ext cx="53085" cy="53085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3771900" y="6051550"/>
            <a:ext cx="1003299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5" b="0" i="0">
                <a:solidFill>
                  <a:srgbClr val="101110"/>
                </a:solidFill>
                <a:latin typeface="Arial"/>
              </a:rPr>
              <a:t>Problem
Generation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692649" y="6095999"/>
            <a:ext cx="742950" cy="488950"/>
          </a:xfrm>
          <a:prstGeom prst="rect">
            <a:avLst/>
          </a:prstGeom>
          <a:solidFill>
            <a:srgbClr val="ECFAF5"/>
          </a:solidFill>
          <a:ln w="14287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ight Triangle 208"/>
          <p:cNvSpPr/>
          <p:nvPr/>
        </p:nvSpPr>
        <p:spPr>
          <a:xfrm rot="5400000">
            <a:off x="5308600" y="6095999"/>
            <a:ext cx="127000" cy="127000"/>
          </a:xfrm>
          <a:prstGeom prst="rtTriangle">
            <a:avLst/>
          </a:prstGeom>
          <a:solidFill>
            <a:srgbClr val="ECFAF5"/>
          </a:solidFill>
          <a:ln w="1397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Connector 209"/>
          <p:cNvCxnSpPr/>
          <p:nvPr/>
        </p:nvCxnSpPr>
        <p:spPr>
          <a:xfrm>
            <a:off x="5308600" y="6095999"/>
            <a:ext cx="0" cy="127001"/>
          </a:xfrm>
          <a:prstGeom prst="line">
            <a:avLst/>
          </a:prstGeom>
          <a:ln w="9525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Box 210"/>
          <p:cNvSpPr txBox="1"/>
          <p:nvPr/>
        </p:nvSpPr>
        <p:spPr>
          <a:xfrm>
            <a:off x="4737100" y="6127750"/>
            <a:ext cx="654050" cy="419100"/>
          </a:xfrm>
          <a:prstGeom prst="rect">
            <a:avLst/>
          </a:prstGeom>
          <a:noFill/>
        </p:spPr>
        <p:txBody>
          <a:bodyPr wrap="none" lIns="19050" rIns="19050" tIns="19050" bIns="19050" anchor="t">
            <a:spAutoFit/>
          </a:bodyPr>
          <a:lstStyle/>
          <a:p>
            <a:pPr algn="l"/>
            <a:r>
              <a:rPr sz="750" b="0" i="1">
                <a:solidFill>
                  <a:srgbClr val="101110"/>
                </a:solidFill>
                <a:latin typeface="Courier New"/>
              </a:rPr>
              <a:t>:objects (...)
:init ...
:goal (...)
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4483100" y="4806949"/>
            <a:ext cx="0" cy="342900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4483100" y="5816600"/>
            <a:ext cx="0" cy="165099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5613400" y="6318249"/>
            <a:ext cx="190499" cy="0"/>
          </a:xfrm>
          <a:prstGeom prst="line">
            <a:avLst/>
          </a:prstGeom>
          <a:ln w="28575">
            <a:solidFill>
              <a:srgbClr val="704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5803899" y="4654550"/>
            <a:ext cx="0" cy="1663699"/>
          </a:xfrm>
          <a:prstGeom prst="line">
            <a:avLst/>
          </a:prstGeom>
          <a:ln w="28575">
            <a:solidFill>
              <a:srgbClr val="704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5803899" y="4654550"/>
            <a:ext cx="279401" cy="0"/>
          </a:xfrm>
          <a:prstGeom prst="line">
            <a:avLst/>
          </a:prstGeom>
          <a:ln w="28575">
            <a:solidFill>
              <a:srgbClr val="704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Rounded Rectangle 216"/>
          <p:cNvSpPr/>
          <p:nvPr/>
        </p:nvSpPr>
        <p:spPr>
          <a:xfrm>
            <a:off x="6076950" y="4349749"/>
            <a:ext cx="1727200" cy="463550"/>
          </a:xfrm>
          <a:prstGeom prst="roundRect">
            <a:avLst/>
          </a:prstGeom>
          <a:solidFill>
            <a:srgbClr val="DDD2FB"/>
          </a:solidFill>
          <a:ln w="9525">
            <a:solidFill>
              <a:srgbClr val="DDD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>
            <a:off x="6540500" y="4502150"/>
            <a:ext cx="0" cy="66675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H="1">
            <a:off x="6450012" y="4568825"/>
            <a:ext cx="90488" cy="0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6540500" y="4568825"/>
            <a:ext cx="90487" cy="0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6450012" y="4568825"/>
            <a:ext cx="0" cy="42862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6630987" y="4568825"/>
            <a:ext cx="0" cy="42862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Rounded Rectangle 222"/>
          <p:cNvSpPr/>
          <p:nvPr/>
        </p:nvSpPr>
        <p:spPr>
          <a:xfrm>
            <a:off x="6502400" y="4425950"/>
            <a:ext cx="76200" cy="7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ounded Rectangle 223"/>
          <p:cNvSpPr/>
          <p:nvPr/>
        </p:nvSpPr>
        <p:spPr>
          <a:xfrm>
            <a:off x="6411912" y="4573587"/>
            <a:ext cx="76200" cy="7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ounded Rectangle 224"/>
          <p:cNvSpPr/>
          <p:nvPr/>
        </p:nvSpPr>
        <p:spPr>
          <a:xfrm>
            <a:off x="6592887" y="4573587"/>
            <a:ext cx="76200" cy="7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889749" y="4406899"/>
            <a:ext cx="800100" cy="368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01110"/>
                </a:solidFill>
                <a:latin typeface="Arial"/>
              </a:rPr>
              <a:t>PDDL
Solver</a:t>
            </a:r>
          </a:p>
        </p:txBody>
      </p:sp>
      <p:cxnSp>
        <p:nvCxnSpPr>
          <p:cNvPr id="227" name="Connector 226"/>
          <p:cNvCxnSpPr/>
          <p:nvPr/>
        </p:nvCxnSpPr>
        <p:spPr>
          <a:xfrm>
            <a:off x="6934200" y="4813300"/>
            <a:ext cx="0" cy="330200"/>
          </a:xfrm>
          <a:prstGeom prst="line">
            <a:avLst/>
          </a:prstGeom>
          <a:ln w="19050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Rectangle 227"/>
          <p:cNvSpPr/>
          <p:nvPr/>
        </p:nvSpPr>
        <p:spPr>
          <a:xfrm>
            <a:off x="6070600" y="5143500"/>
            <a:ext cx="1720850" cy="1454150"/>
          </a:xfrm>
          <a:prstGeom prst="rect">
            <a:avLst/>
          </a:prstGeom>
          <a:solidFill>
            <a:srgbClr val="ECFAF5"/>
          </a:solidFill>
          <a:ln w="14287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ight Triangle 228"/>
          <p:cNvSpPr/>
          <p:nvPr/>
        </p:nvSpPr>
        <p:spPr>
          <a:xfrm rot="5400000">
            <a:off x="7664450" y="5143500"/>
            <a:ext cx="127000" cy="127000"/>
          </a:xfrm>
          <a:prstGeom prst="rtTriangle">
            <a:avLst/>
          </a:prstGeom>
          <a:solidFill>
            <a:srgbClr val="ECFAF5"/>
          </a:solidFill>
          <a:ln w="13970">
            <a:solidFill>
              <a:srgbClr val="1011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>
            <a:off x="7664450" y="5143500"/>
            <a:ext cx="0" cy="127000"/>
          </a:xfrm>
          <a:prstGeom prst="line">
            <a:avLst/>
          </a:prstGeom>
          <a:ln w="9525">
            <a:solidFill>
              <a:srgbClr val="1011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TextBox 230"/>
          <p:cNvSpPr txBox="1"/>
          <p:nvPr/>
        </p:nvSpPr>
        <p:spPr>
          <a:xfrm>
            <a:off x="6184900" y="5226050"/>
            <a:ext cx="1511300" cy="13017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i="1">
                <a:solidFill>
                  <a:srgbClr val="2D6E3B"/>
                </a:solidFill>
                <a:latin typeface="Courier New"/>
              </a:rPr>
              <a:t>remove_lid</a:t>
            </a:r>
            <a:r>
              <a:rPr sz="900" i="1">
                <a:solidFill>
                  <a:srgbClr val="704496"/>
                </a:solidFill>
                <a:latin typeface="Courier New"/>
              </a:rPr>
              <a:t> (lid)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i="1">
                <a:solidFill>
                  <a:srgbClr val="2D6E3B"/>
                </a:solidFill>
                <a:latin typeface="Courier New"/>
              </a:rPr>
              <a:t>pick_from_rack</a:t>
            </a:r>
            <a:r>
              <a:rPr sz="900" i="1">
                <a:solidFill>
                  <a:srgbClr val="704496"/>
                </a:solidFill>
                <a:latin typeface="Courier New"/>
              </a:rPr>
              <a:t> (bowl)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i="1">
                <a:solidFill>
                  <a:srgbClr val="2D6E3B"/>
                </a:solidFill>
                <a:latin typeface="Courier New"/>
              </a:rPr>
              <a:t>place_on_table</a:t>
            </a:r>
            <a:r>
              <a:rPr sz="900" i="1">
                <a:solidFill>
                  <a:srgbClr val="704496"/>
                </a:solidFill>
                <a:latin typeface="Courier New"/>
              </a:rPr>
              <a:t> (bowl)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i="1">
                <a:solidFill>
                  <a:srgbClr val="2D6E3B"/>
                </a:solidFill>
                <a:latin typeface="Courier New"/>
              </a:rPr>
              <a:t>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i="1">
                <a:solidFill>
                  <a:srgbClr val="2D6E3B"/>
                </a:solidFill>
                <a:latin typeface="Courier New"/>
              </a:rPr>
              <a:t>wipe_table</a:t>
            </a:r>
            <a:r>
              <a:rPr sz="900" i="1">
                <a:solidFill>
                  <a:srgbClr val="704496"/>
                </a:solidFill>
                <a:latin typeface="Courier New"/>
              </a:rPr>
              <a:t> (towel)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i="1">
                <a:solidFill>
                  <a:srgbClr val="2D6E3B"/>
                </a:solidFill>
                <a:latin typeface="Courier New"/>
              </a:rPr>
              <a:t>place_in_drawer</a:t>
            </a:r>
            <a:r>
              <a:rPr sz="900" i="1">
                <a:solidFill>
                  <a:srgbClr val="704496"/>
                </a:solidFill>
                <a:latin typeface="Courier New"/>
              </a:rPr>
              <a:t> (towel)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i="1">
                <a:solidFill>
                  <a:srgbClr val="2D6E3B"/>
                </a:solidFill>
                <a:latin typeface="Courier New"/>
              </a:rPr>
              <a:t>close_drawer</a:t>
            </a:r>
            <a:r>
              <a:rPr sz="900" i="1">
                <a:solidFill>
                  <a:srgbClr val="704496"/>
                </a:solidFill>
                <a:latin typeface="Courier New"/>
              </a:rPr>
              <a:t> (drawer)</a:t>
            </a:r>
          </a:p>
        </p:txBody>
      </p:sp>
      <p:pic>
        <p:nvPicPr>
          <p:cNvPr id="232" name="Picture 231" descr="exec_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2149" y="4171950"/>
            <a:ext cx="895350" cy="774700"/>
          </a:xfrm>
          <a:prstGeom prst="rect">
            <a:avLst/>
          </a:prstGeom>
        </p:spPr>
      </p:pic>
      <p:pic>
        <p:nvPicPr>
          <p:cNvPr id="233" name="Picture 232" descr="exec_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5600" y="4171950"/>
            <a:ext cx="895350" cy="774700"/>
          </a:xfrm>
          <a:prstGeom prst="rect">
            <a:avLst/>
          </a:prstGeom>
        </p:spPr>
      </p:pic>
      <p:pic>
        <p:nvPicPr>
          <p:cNvPr id="234" name="Picture 233" descr="exec_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91749" y="4171950"/>
            <a:ext cx="882649" cy="774700"/>
          </a:xfrm>
          <a:prstGeom prst="rect">
            <a:avLst/>
          </a:prstGeom>
        </p:spPr>
      </p:pic>
      <p:pic>
        <p:nvPicPr>
          <p:cNvPr id="235" name="Picture 234" descr="exec_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12500" y="4171950"/>
            <a:ext cx="882649" cy="774700"/>
          </a:xfrm>
          <a:prstGeom prst="rect">
            <a:avLst/>
          </a:prstGeom>
        </p:spPr>
      </p:pic>
      <p:pic>
        <p:nvPicPr>
          <p:cNvPr id="236" name="Picture 235" descr="exec_2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2149" y="5010149"/>
            <a:ext cx="895350" cy="761999"/>
          </a:xfrm>
          <a:prstGeom prst="rect">
            <a:avLst/>
          </a:prstGeom>
        </p:spPr>
      </p:pic>
      <p:pic>
        <p:nvPicPr>
          <p:cNvPr id="237" name="Picture 236" descr="exec_2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5600" y="5010149"/>
            <a:ext cx="895350" cy="761999"/>
          </a:xfrm>
          <a:prstGeom prst="rect">
            <a:avLst/>
          </a:prstGeom>
        </p:spPr>
      </p:pic>
      <p:pic>
        <p:nvPicPr>
          <p:cNvPr id="238" name="Picture 237" descr="exec_2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91749" y="5010149"/>
            <a:ext cx="882649" cy="761999"/>
          </a:xfrm>
          <a:prstGeom prst="rect">
            <a:avLst/>
          </a:prstGeom>
        </p:spPr>
      </p:pic>
      <p:pic>
        <p:nvPicPr>
          <p:cNvPr id="239" name="Picture 238" descr="exec_2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12500" y="5010149"/>
            <a:ext cx="882649" cy="761999"/>
          </a:xfrm>
          <a:prstGeom prst="rect">
            <a:avLst/>
          </a:prstGeom>
        </p:spPr>
      </p:pic>
      <p:pic>
        <p:nvPicPr>
          <p:cNvPr id="240" name="Picture 239" descr="exec_3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2149" y="5848350"/>
            <a:ext cx="895350" cy="768349"/>
          </a:xfrm>
          <a:prstGeom prst="rect">
            <a:avLst/>
          </a:prstGeom>
        </p:spPr>
      </p:pic>
      <p:pic>
        <p:nvPicPr>
          <p:cNvPr id="241" name="Picture 240" descr="exec_3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45600" y="5848350"/>
            <a:ext cx="895350" cy="768349"/>
          </a:xfrm>
          <a:prstGeom prst="rect">
            <a:avLst/>
          </a:prstGeom>
        </p:spPr>
      </p:pic>
      <p:pic>
        <p:nvPicPr>
          <p:cNvPr id="242" name="Picture 241" descr="exec_3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91749" y="5848350"/>
            <a:ext cx="882649" cy="768349"/>
          </a:xfrm>
          <a:prstGeom prst="rect">
            <a:avLst/>
          </a:prstGeom>
        </p:spPr>
      </p:pic>
      <p:pic>
        <p:nvPicPr>
          <p:cNvPr id="243" name="Picture 242" descr="exec_34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112500" y="5848350"/>
            <a:ext cx="882649" cy="7683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UniDomain Pretraining a Unified PDDL Domain from Real-World Demonstrations for Generalizable Robot Task Plann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008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