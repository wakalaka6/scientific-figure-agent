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419320" cy="9692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79208" y="173736"/>
            <a:ext cx="1847088" cy="365760"/>
          </a:xfrm>
          <a:prstGeom prst="roundRect">
            <a:avLst/>
          </a:prstGeom>
          <a:solidFill>
            <a:srgbClr val="F0D5E7"/>
          </a:solidFill>
          <a:ln w="28575">
            <a:solidFill>
              <a:srgbClr val="6F1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01168"/>
            <a:ext cx="255117" cy="312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71816" y="182880"/>
            <a:ext cx="12344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6F1D7A"/>
                </a:solidFill>
                <a:latin typeface="URW Gothic"/>
              </a:rPr>
              <a:t>Time Head</a:t>
            </a:r>
          </a:p>
        </p:txBody>
      </p:sp>
      <p:pic>
        <p:nvPicPr>
          <p:cNvPr id="5" name="Picture 4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01168"/>
            <a:ext cx="255117" cy="3127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222992" y="173736"/>
            <a:ext cx="1746504" cy="365760"/>
          </a:xfrm>
          <a:prstGeom prst="roundRect">
            <a:avLst/>
          </a:prstGeom>
          <a:solidFill>
            <a:srgbClr val="F0D5E7"/>
          </a:solidFill>
          <a:ln w="28575">
            <a:solidFill>
              <a:srgbClr val="6F1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201168"/>
            <a:ext cx="255117" cy="3127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0" y="182880"/>
            <a:ext cx="10515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6F1D7A"/>
                </a:solidFill>
                <a:latin typeface="URW Gothic"/>
              </a:rPr>
              <a:t>LM Head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226296" y="356616"/>
            <a:ext cx="996696" cy="0"/>
          </a:xfrm>
          <a:prstGeom prst="line">
            <a:avLst/>
          </a:prstGeom>
          <a:ln w="28575">
            <a:solidFill>
              <a:srgbClr val="6F1D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0177272" y="310896"/>
            <a:ext cx="91440" cy="91440"/>
          </a:xfrm>
          <a:prstGeom prst="triangle">
            <a:avLst/>
          </a:prstGeom>
          <a:solidFill>
            <a:srgbClr val="6F1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27432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F1D7A"/>
                </a:solidFill>
                <a:latin typeface="URW Gothic"/>
              </a:rPr>
              <a:t>&lt;sync&gt;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311896" y="539496"/>
            <a:ext cx="0" cy="173736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>
            <a:off x="8266175" y="493776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1091672" y="539496"/>
            <a:ext cx="0" cy="173736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11045952" y="493776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713232"/>
            <a:ext cx="10826496" cy="621792"/>
          </a:xfrm>
          <a:prstGeom prst="roundRect">
            <a:avLst/>
          </a:prstGeom>
          <a:solidFill>
            <a:srgbClr val="F8DFCF"/>
          </a:solidFill>
          <a:ln w="28575">
            <a:solidFill>
              <a:srgbClr val="8E3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804672"/>
            <a:ext cx="354330" cy="4343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0" y="832104"/>
            <a:ext cx="662940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8E3D0C"/>
                </a:solidFill>
                <a:latin typeface="URW Gothic"/>
              </a:rPr>
              <a:t>Large Language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481328"/>
            <a:ext cx="13505688" cy="3767328"/>
          </a:xfrm>
          <a:prstGeom prst="rect">
            <a:avLst/>
          </a:prstGeom>
          <a:noFill/>
          <a:ln w="28575">
            <a:solidFill>
              <a:srgbClr val="14618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62304" y="1481328"/>
            <a:ext cx="3383280" cy="1837943"/>
          </a:xfrm>
          <a:prstGeom prst="rect">
            <a:avLst/>
          </a:prstGeom>
          <a:noFill/>
          <a:ln w="28575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519672" y="1344168"/>
            <a:ext cx="0" cy="25603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>
            <a:off x="6473952" y="1298448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9672" y="2075688"/>
            <a:ext cx="0" cy="612648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6473952" y="2642616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19672" y="2633472"/>
            <a:ext cx="0" cy="164592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473952" y="2752344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519672" y="3346704"/>
            <a:ext cx="0" cy="502920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6473952" y="3803904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19672" y="3236976"/>
            <a:ext cx="0" cy="612648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6473952" y="3803904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2368296" y="3008376"/>
            <a:ext cx="0" cy="886968"/>
          </a:xfrm>
          <a:prstGeom prst="line">
            <a:avLst/>
          </a:prstGeom>
          <a:ln w="28575">
            <a:solidFill>
              <a:srgbClr val="14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68296" y="3008376"/>
            <a:ext cx="713232" cy="0"/>
          </a:xfrm>
          <a:prstGeom prst="line">
            <a:avLst/>
          </a:prstGeom>
          <a:ln w="28575">
            <a:solidFill>
              <a:srgbClr val="14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05656" y="3008376"/>
            <a:ext cx="2203704" cy="0"/>
          </a:xfrm>
          <a:prstGeom prst="line">
            <a:avLst/>
          </a:prstGeom>
          <a:ln w="28575">
            <a:solidFill>
              <a:srgbClr val="14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6263640" y="2962656"/>
            <a:ext cx="91440" cy="91440"/>
          </a:xfrm>
          <a:prstGeom prst="triangle">
            <a:avLst/>
          </a:prstGeom>
          <a:solidFill>
            <a:srgbClr val="14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6528816" y="3712463"/>
            <a:ext cx="0" cy="137161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>
            <a:off x="6483096" y="3666744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528816" y="3200400"/>
            <a:ext cx="0" cy="182880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>
            <a:off x="6483096" y="3154680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180576" y="3008376"/>
            <a:ext cx="1380744" cy="0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10515600" y="2962656"/>
            <a:ext cx="91440" cy="91440"/>
          </a:xfrm>
          <a:prstGeom prst="triangle">
            <a:avLst/>
          </a:prstGeom>
          <a:solidFill>
            <a:srgbClr val="F2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0561320" y="3008376"/>
            <a:ext cx="0" cy="813815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833104" y="3008376"/>
            <a:ext cx="347472" cy="0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16200000">
            <a:off x="8787384" y="2962656"/>
            <a:ext cx="91440" cy="91440"/>
          </a:xfrm>
          <a:prstGeom prst="triangle">
            <a:avLst/>
          </a:prstGeom>
          <a:solidFill>
            <a:srgbClr val="F2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561320" y="4398264"/>
            <a:ext cx="0" cy="941832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10515600" y="5294376"/>
            <a:ext cx="91440" cy="91440"/>
          </a:xfrm>
          <a:prstGeom prst="triangle">
            <a:avLst/>
          </a:prstGeom>
          <a:solidFill>
            <a:srgbClr val="F2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2368296" y="4462272"/>
            <a:ext cx="0" cy="274320"/>
          </a:xfrm>
          <a:prstGeom prst="line">
            <a:avLst/>
          </a:prstGeom>
          <a:ln w="28575">
            <a:solidFill>
              <a:srgbClr val="14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>
            <a:off x="2322576" y="4416552"/>
            <a:ext cx="91440" cy="91440"/>
          </a:xfrm>
          <a:prstGeom prst="triangle">
            <a:avLst/>
          </a:prstGeom>
          <a:solidFill>
            <a:srgbClr val="14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6528816" y="4434840"/>
            <a:ext cx="0" cy="301752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6483096" y="4389120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10561320" y="4407408"/>
            <a:ext cx="0" cy="329184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>
            <a:off x="10515600" y="4361688"/>
            <a:ext cx="91440" cy="91440"/>
          </a:xfrm>
          <a:prstGeom prst="triangle">
            <a:avLst/>
          </a:prstGeom>
          <a:solidFill>
            <a:srgbClr val="F2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368296" y="5029200"/>
            <a:ext cx="0" cy="301752"/>
          </a:xfrm>
          <a:prstGeom prst="line">
            <a:avLst/>
          </a:prstGeom>
          <a:ln w="28575">
            <a:solidFill>
              <a:srgbClr val="14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>
            <a:off x="2322576" y="4983480"/>
            <a:ext cx="91440" cy="91440"/>
          </a:xfrm>
          <a:prstGeom prst="triangle">
            <a:avLst/>
          </a:prstGeom>
          <a:solidFill>
            <a:srgbClr val="14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6528816" y="5029200"/>
            <a:ext cx="0" cy="320040"/>
          </a:xfrm>
          <a:prstGeom prst="line">
            <a:avLst/>
          </a:prstGeom>
          <a:ln w="28575">
            <a:solidFill>
              <a:srgbClr val="65B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>
            <a:off x="6483096" y="4983480"/>
            <a:ext cx="91440" cy="91440"/>
          </a:xfrm>
          <a:prstGeom prst="triangle">
            <a:avLst/>
          </a:prstGeom>
          <a:solidFill>
            <a:srgbClr val="65B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0561320" y="5020056"/>
            <a:ext cx="0" cy="320040"/>
          </a:xfrm>
          <a:prstGeom prst="line">
            <a:avLst/>
          </a:prstGeom>
          <a:ln w="28575">
            <a:solidFill>
              <a:srgbClr val="F2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10515600" y="4974336"/>
            <a:ext cx="91440" cy="91440"/>
          </a:xfrm>
          <a:prstGeom prst="triangle">
            <a:avLst/>
          </a:prstGeom>
          <a:solidFill>
            <a:srgbClr val="F27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3438144" y="5148072"/>
            <a:ext cx="0" cy="950976"/>
          </a:xfrm>
          <a:prstGeom prst="line">
            <a:avLst/>
          </a:prstGeom>
          <a:ln w="28575">
            <a:solidFill>
              <a:srgbClr val="6F1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438144" y="5148072"/>
            <a:ext cx="12490704" cy="0"/>
          </a:xfrm>
          <a:prstGeom prst="line">
            <a:avLst/>
          </a:prstGeom>
          <a:ln w="28575">
            <a:solidFill>
              <a:srgbClr val="6F1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928848" y="5148072"/>
            <a:ext cx="0" cy="1225296"/>
          </a:xfrm>
          <a:prstGeom prst="line">
            <a:avLst/>
          </a:prstGeom>
          <a:ln w="28575">
            <a:solidFill>
              <a:srgbClr val="6F1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5517367" y="4773168"/>
            <a:ext cx="640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6F1D7A"/>
                </a:solidFill>
                <a:latin typeface="URW Gothic"/>
              </a:rPr>
              <a:t>fᵢ,q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15928848" y="6793992"/>
            <a:ext cx="0" cy="39319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>
            <a:off x="15883128" y="6748272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5928848" y="7772400"/>
            <a:ext cx="0" cy="39319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>
            <a:off x="15883128" y="7726679"/>
            <a:ext cx="91440" cy="91440"/>
          </a:xfrm>
          <a:prstGeom prst="triangl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12874752" y="2459736"/>
            <a:ext cx="0" cy="3026664"/>
          </a:xfrm>
          <a:prstGeom prst="line">
            <a:avLst/>
          </a:prstGeom>
          <a:ln w="28575">
            <a:solidFill>
              <a:srgbClr val="D8A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299448" y="2459736"/>
            <a:ext cx="3575304" cy="0"/>
          </a:xfrm>
          <a:prstGeom prst="line">
            <a:avLst/>
          </a:prstGeom>
          <a:ln w="28575">
            <a:solidFill>
              <a:srgbClr val="D8A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16200000">
            <a:off x="9253728" y="2414016"/>
            <a:ext cx="91440" cy="91440"/>
          </a:xfrm>
          <a:prstGeom prst="triangle">
            <a:avLst/>
          </a:prstGeom>
          <a:solidFill>
            <a:srgbClr val="D8A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03704" y="2295144"/>
            <a:ext cx="19202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4618D"/>
                </a:solidFill>
                <a:latin typeface="URW Gothic"/>
              </a:rPr>
              <a:t>Multimodal </a:t>
            </a:r>
            <a:r>
              <a:rPr sz="1875" b="0" i="0">
                <a:solidFill>
                  <a:srgbClr val="F27A37"/>
                </a:solidFill>
                <a:latin typeface="URW Gothic"/>
              </a:rPr>
              <a:t>tokens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87952" y="2286000"/>
            <a:ext cx="5193792" cy="356616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06824" y="2313432"/>
            <a:ext cx="82296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618D"/>
                </a:solidFill>
                <a:latin typeface="URW Gothic"/>
              </a:rPr>
              <a:t>Concat(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9784" y="2313432"/>
            <a:ext cx="68580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32C52"/>
                </a:solidFill>
                <a:latin typeface="URW Gothic"/>
              </a:rPr>
              <a:t>Wᵥ *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06440" y="2350008"/>
            <a:ext cx="283464" cy="265176"/>
          </a:xfrm>
          <a:prstGeom prst="roundRect">
            <a:avLst/>
          </a:prstGeom>
          <a:solidFill>
            <a:srgbClr val="B2D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35624" y="2350008"/>
            <a:ext cx="283464" cy="265176"/>
          </a:xfrm>
          <a:prstGeom prst="roundRect">
            <a:avLst/>
          </a:prstGeom>
          <a:solidFill>
            <a:srgbClr val="A8C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01384" y="2313432"/>
            <a:ext cx="62179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387226"/>
                </a:solidFill>
                <a:latin typeface="URW Gothic"/>
              </a:rPr>
              <a:t>Wₐ *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14032" y="2350008"/>
            <a:ext cx="283464" cy="265176"/>
          </a:xfrm>
          <a:prstGeom prst="roundRect">
            <a:avLst/>
          </a:prstGeom>
          <a:solidFill>
            <a:srgbClr val="8BC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452360" y="2350008"/>
            <a:ext cx="283464" cy="265176"/>
          </a:xfrm>
          <a:prstGeom prst="roundRect">
            <a:avLst/>
          </a:prstGeom>
          <a:solidFill>
            <a:srgbClr val="7CC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08975" y="2313432"/>
            <a:ext cx="62179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9A4218"/>
                </a:solidFill>
                <a:latin typeface="URW Gothic"/>
              </a:rPr>
              <a:t>Wₛ *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49056" y="2350008"/>
            <a:ext cx="283464" cy="265176"/>
          </a:xfrm>
          <a:prstGeom prst="roundRect">
            <a:avLst/>
          </a:prstGeom>
          <a:solidFill>
            <a:srgbClr val="F6C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778240" y="2350008"/>
            <a:ext cx="283464" cy="265176"/>
          </a:xfrm>
          <a:prstGeom prst="roundRect">
            <a:avLst/>
          </a:prstGeom>
          <a:solidFill>
            <a:srgbClr val="F1B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98280" y="2313432"/>
            <a:ext cx="256032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618D"/>
                </a:solidFill>
                <a:latin typeface="URW Gothic"/>
              </a:rPr>
              <a:t>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79408" y="2313432"/>
            <a:ext cx="292608" cy="283464"/>
          </a:xfrm>
          <a:prstGeom prst="roundRect">
            <a:avLst/>
          </a:prstGeom>
          <a:solidFill>
            <a:srgbClr val="D8A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681728" y="1600200"/>
            <a:ext cx="3831336" cy="475488"/>
          </a:xfrm>
          <a:prstGeom prst="roundRect">
            <a:avLst/>
          </a:prstGeom>
          <a:solidFill>
            <a:srgbClr val="F7E3D3"/>
          </a:solidFill>
          <a:ln w="28575">
            <a:solidFill>
              <a:srgbClr val="8E3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73168" y="1645920"/>
            <a:ext cx="3657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8E3D0C"/>
                </a:solidFill>
                <a:latin typeface="URW Gothic"/>
              </a:rPr>
              <a:t>Compress &amp; Two-layer MLP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13848" y="1517904"/>
            <a:ext cx="33832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D71920"/>
                </a:solidFill>
                <a:latin typeface="URW Gothic"/>
              </a:rPr>
              <a:t>🔥 </a:t>
            </a:r>
            <a:r>
              <a:rPr sz="2025" b="1" i="0">
                <a:solidFill>
                  <a:srgbClr val="14618D"/>
                </a:solidFill>
                <a:latin typeface="URW Gothic"/>
              </a:rPr>
              <a:t>Query-Based Connector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7280" y="3886200"/>
            <a:ext cx="2551176" cy="576072"/>
          </a:xfrm>
          <a:prstGeom prst="roundRect">
            <a:avLst/>
          </a:prstGeom>
          <a:solidFill>
            <a:srgbClr val="DCEAF6"/>
          </a:solidFill>
          <a:ln w="28575">
            <a:solidFill>
              <a:srgbClr val="14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97280" y="3931920"/>
            <a:ext cx="255117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14618D"/>
                </a:solidFill>
                <a:latin typeface="URW Gothic"/>
              </a:rPr>
              <a:t>Cross Attention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57800" y="3849624"/>
            <a:ext cx="2551176" cy="585216"/>
          </a:xfrm>
          <a:prstGeom prst="roundRect">
            <a:avLst/>
          </a:prstGeom>
          <a:solidFill>
            <a:srgbClr val="DFF2D4"/>
          </a:solidFill>
          <a:ln w="28575">
            <a:solidFill>
              <a:srgbClr val="387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57800" y="3895344"/>
            <a:ext cx="255117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274D25"/>
                </a:solidFill>
                <a:latin typeface="URW Gothic"/>
              </a:rPr>
              <a:t>Cross Attention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281160" y="3822191"/>
            <a:ext cx="2551176" cy="585216"/>
          </a:xfrm>
          <a:prstGeom prst="roundRect">
            <a:avLst/>
          </a:prstGeom>
          <a:solidFill>
            <a:srgbClr val="F8D1B9"/>
          </a:solidFill>
          <a:ln w="28575">
            <a:solidFill>
              <a:srgbClr val="9A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81160" y="3867912"/>
            <a:ext cx="255117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9A4218"/>
                </a:solidFill>
                <a:latin typeface="URW Gothic"/>
              </a:rPr>
              <a:t>Cross Attention</a:t>
            </a:r>
          </a:p>
        </p:txBody>
      </p:sp>
      <p:sp>
        <p:nvSpPr>
          <p:cNvPr id="92" name="Oval 91"/>
          <p:cNvSpPr/>
          <p:nvPr/>
        </p:nvSpPr>
        <p:spPr>
          <a:xfrm>
            <a:off x="3081528" y="3008376"/>
            <a:ext cx="1024128" cy="320040"/>
          </a:xfrm>
          <a:prstGeom prst="ellipse">
            <a:avLst/>
          </a:prstGeom>
          <a:solidFill>
            <a:srgbClr val="D9E6F2"/>
          </a:solidFill>
          <a:ln w="28575">
            <a:solidFill>
              <a:srgbClr val="13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81528" y="3035808"/>
            <a:ext cx="102412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32C52"/>
                </a:solidFill>
                <a:latin typeface="URW Gothic"/>
              </a:rPr>
              <a:t>Wᵥ</a:t>
            </a:r>
          </a:p>
        </p:txBody>
      </p:sp>
      <p:sp>
        <p:nvSpPr>
          <p:cNvPr id="94" name="Oval 93"/>
          <p:cNvSpPr/>
          <p:nvPr/>
        </p:nvSpPr>
        <p:spPr>
          <a:xfrm>
            <a:off x="6016752" y="3392424"/>
            <a:ext cx="1024128" cy="320040"/>
          </a:xfrm>
          <a:prstGeom prst="ellipse">
            <a:avLst/>
          </a:prstGeom>
          <a:solidFill>
            <a:srgbClr val="B9E8AE"/>
          </a:solidFill>
          <a:ln w="28575">
            <a:solidFill>
              <a:srgbClr val="185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16752" y="3419856"/>
            <a:ext cx="102412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85E25"/>
                </a:solidFill>
                <a:latin typeface="URW Gothic"/>
              </a:rPr>
              <a:t>Wₐ</a:t>
            </a:r>
          </a:p>
        </p:txBody>
      </p:sp>
      <p:sp>
        <p:nvSpPr>
          <p:cNvPr id="96" name="Oval 95"/>
          <p:cNvSpPr/>
          <p:nvPr/>
        </p:nvSpPr>
        <p:spPr>
          <a:xfrm>
            <a:off x="9171432" y="3008376"/>
            <a:ext cx="914400" cy="320040"/>
          </a:xfrm>
          <a:prstGeom prst="ellipse">
            <a:avLst/>
          </a:prstGeom>
          <a:solidFill>
            <a:srgbClr val="FAE1D2"/>
          </a:solidFill>
          <a:ln w="28575">
            <a:solidFill>
              <a:srgbClr val="9A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71432" y="3035808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9A4218"/>
                </a:solidFill>
                <a:latin typeface="URW Gothic"/>
              </a:rPr>
              <a:t>Wₛ</a:t>
            </a:r>
          </a:p>
        </p:txBody>
      </p:sp>
      <p:sp>
        <p:nvSpPr>
          <p:cNvPr id="98" name="Oval 97"/>
          <p:cNvSpPr/>
          <p:nvPr/>
        </p:nvSpPr>
        <p:spPr>
          <a:xfrm>
            <a:off x="6318504" y="2825496"/>
            <a:ext cx="365760" cy="3657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6327648" y="3008376"/>
            <a:ext cx="347472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501384" y="2834640"/>
            <a:ext cx="0" cy="34747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251960" y="3090672"/>
            <a:ext cx="914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14618D"/>
                </a:solidFill>
                <a:latin typeface="URW Gothic"/>
              </a:rPr>
              <a:t>fᵢᵥ,q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0840" y="3099816"/>
            <a:ext cx="914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65BD3B"/>
                </a:solidFill>
                <a:latin typeface="URW Gothic"/>
              </a:rPr>
              <a:t>fᵢₐ,q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50808" y="3108960"/>
            <a:ext cx="914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F27A37"/>
                </a:solidFill>
                <a:latin typeface="URW Gothic"/>
              </a:rPr>
              <a:t>fᵢₛ,q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6032" y="4572000"/>
            <a:ext cx="14630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618D"/>
                </a:solidFill>
                <a:latin typeface="URW Gothic"/>
              </a:rPr>
              <a:t>Vision Tokens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691640" y="4626864"/>
            <a:ext cx="1353312" cy="457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810512" y="4745736"/>
            <a:ext cx="283464" cy="274320"/>
          </a:xfrm>
          <a:prstGeom prst="roundRect">
            <a:avLst/>
          </a:prstGeom>
          <a:solidFill>
            <a:srgbClr val="A9C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2267712" y="4745736"/>
            <a:ext cx="283464" cy="274320"/>
          </a:xfrm>
          <a:prstGeom prst="roundRect">
            <a:avLst/>
          </a:prstGeom>
          <a:solidFill>
            <a:srgbClr val="A9C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688336" y="4745736"/>
            <a:ext cx="283464" cy="274320"/>
          </a:xfrm>
          <a:prstGeom prst="roundRect">
            <a:avLst/>
          </a:prstGeom>
          <a:solidFill>
            <a:srgbClr val="A9C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52544" y="4572000"/>
            <a:ext cx="14630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87226"/>
                </a:solidFill>
                <a:latin typeface="URW Gothic"/>
              </a:rPr>
              <a:t>Audio Tokens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742432" y="4626864"/>
            <a:ext cx="1472184" cy="457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870448" y="4745736"/>
            <a:ext cx="283464" cy="274320"/>
          </a:xfrm>
          <a:prstGeom prst="roundRect">
            <a:avLst/>
          </a:prstGeom>
          <a:solidFill>
            <a:srgbClr val="93D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281928" y="4745736"/>
            <a:ext cx="283464" cy="274320"/>
          </a:xfrm>
          <a:prstGeom prst="roundRect">
            <a:avLst/>
          </a:prstGeom>
          <a:solidFill>
            <a:srgbClr val="93D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702552" y="4745736"/>
            <a:ext cx="283464" cy="274320"/>
          </a:xfrm>
          <a:prstGeom prst="roundRect">
            <a:avLst/>
          </a:prstGeom>
          <a:solidFill>
            <a:srgbClr val="93D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56448" y="4572000"/>
            <a:ext cx="164592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4218"/>
                </a:solidFill>
                <a:latin typeface="URW Gothic"/>
              </a:rPr>
              <a:t>Speech Tokens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774936" y="4626864"/>
            <a:ext cx="1371600" cy="457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9893808" y="4736592"/>
            <a:ext cx="283464" cy="283464"/>
          </a:xfrm>
          <a:prstGeom prst="roundRect">
            <a:avLst/>
          </a:prstGeom>
          <a:solidFill>
            <a:srgbClr val="F2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305288" y="4736592"/>
            <a:ext cx="283464" cy="283464"/>
          </a:xfrm>
          <a:prstGeom prst="roundRect">
            <a:avLst/>
          </a:prstGeom>
          <a:solidFill>
            <a:srgbClr val="F2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725912" y="4736592"/>
            <a:ext cx="283464" cy="283464"/>
          </a:xfrm>
          <a:prstGeom prst="roundRect">
            <a:avLst/>
          </a:prstGeom>
          <a:solidFill>
            <a:srgbClr val="F28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97280" y="5340096"/>
            <a:ext cx="2551176" cy="576072"/>
          </a:xfrm>
          <a:prstGeom prst="roundRect">
            <a:avLst/>
          </a:prstGeom>
          <a:solidFill>
            <a:srgbClr val="DCEAF6"/>
          </a:solidFill>
          <a:ln w="28575">
            <a:solidFill>
              <a:srgbClr val="14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7280" y="5394960"/>
            <a:ext cx="2551176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3537D"/>
                </a:solidFill>
                <a:latin typeface="URW Gothic"/>
              </a:rPr>
              <a:t>Vision Projector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257800" y="5340096"/>
            <a:ext cx="2551176" cy="576072"/>
          </a:xfrm>
          <a:prstGeom prst="roundRect">
            <a:avLst/>
          </a:prstGeom>
          <a:solidFill>
            <a:srgbClr val="DFF2D4"/>
          </a:solidFill>
          <a:ln w="28575">
            <a:solidFill>
              <a:srgbClr val="387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57800" y="5394960"/>
            <a:ext cx="2551176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275F24"/>
                </a:solidFill>
                <a:latin typeface="URW Gothic"/>
              </a:rPr>
              <a:t>Audio Projector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281160" y="5340096"/>
            <a:ext cx="2551176" cy="576072"/>
          </a:xfrm>
          <a:prstGeom prst="roundRect">
            <a:avLst/>
          </a:prstGeom>
          <a:solidFill>
            <a:srgbClr val="F8D1B9"/>
          </a:solidFill>
          <a:ln w="28575">
            <a:solidFill>
              <a:srgbClr val="9A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281160" y="5394960"/>
            <a:ext cx="2551176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9A4218"/>
                </a:solidFill>
                <a:latin typeface="URW Gothic"/>
              </a:rPr>
              <a:t>Speech Projector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97280" y="6099048"/>
            <a:ext cx="2551176" cy="585216"/>
          </a:xfrm>
          <a:prstGeom prst="roundRect">
            <a:avLst/>
          </a:prstGeom>
          <a:solidFill>
            <a:srgbClr val="DCEAF6"/>
          </a:solidFill>
          <a:ln w="28575">
            <a:solidFill>
              <a:srgbClr val="14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7280" y="6153912"/>
            <a:ext cx="2551176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3537D"/>
                </a:solidFill>
                <a:latin typeface="URW Gothic"/>
              </a:rPr>
              <a:t>Vision Encoder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257800" y="6099048"/>
            <a:ext cx="2551176" cy="585216"/>
          </a:xfrm>
          <a:prstGeom prst="roundRect">
            <a:avLst/>
          </a:prstGeom>
          <a:solidFill>
            <a:srgbClr val="DFF2D4"/>
          </a:solidFill>
          <a:ln w="28575">
            <a:solidFill>
              <a:srgbClr val="387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57800" y="6153912"/>
            <a:ext cx="2551176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275F24"/>
                </a:solidFill>
                <a:latin typeface="URW Gothic"/>
              </a:rPr>
              <a:t>Audio Encoder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281160" y="6099048"/>
            <a:ext cx="2551176" cy="585216"/>
          </a:xfrm>
          <a:prstGeom prst="roundRect">
            <a:avLst/>
          </a:prstGeom>
          <a:solidFill>
            <a:srgbClr val="F8D1B9"/>
          </a:solidFill>
          <a:ln w="28575">
            <a:solidFill>
              <a:srgbClr val="9A4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281160" y="6153912"/>
            <a:ext cx="2551176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9A4218"/>
                </a:solidFill>
                <a:latin typeface="URW Gothic"/>
              </a:rPr>
              <a:t>Speech Encoder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21608" y="5486400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4618D"/>
                </a:solidFill>
                <a:latin typeface="URW Gothic"/>
              </a:rPr>
              <a:t>f′ᵢᵛ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82127" y="5486400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65BD3B"/>
                </a:solidFill>
                <a:latin typeface="URW Gothic"/>
              </a:rPr>
              <a:t>f′ᵢᵃ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905488" y="5486400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F27A37"/>
                </a:solidFill>
                <a:latin typeface="URW Gothic"/>
              </a:rPr>
              <a:t>f′ᵢˢ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21608" y="6236208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4618D"/>
                </a:solidFill>
                <a:latin typeface="URW Gothic"/>
              </a:rPr>
              <a:t>fᵢᵛ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82127" y="6236208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65BD3B"/>
                </a:solidFill>
                <a:latin typeface="URW Gothic"/>
              </a:rPr>
              <a:t>fᵢₐ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905488" y="6236208"/>
            <a:ext cx="5486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F27A37"/>
                </a:solidFill>
                <a:latin typeface="URW Gothic"/>
              </a:rPr>
              <a:t>fᵢˢ</a:t>
            </a:r>
          </a:p>
        </p:txBody>
      </p:sp>
      <p:pic>
        <p:nvPicPr>
          <p:cNvPr id="137" name="Picture 136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5376672"/>
            <a:ext cx="240944" cy="295351"/>
          </a:xfrm>
          <a:prstGeom prst="rect">
            <a:avLst/>
          </a:prstGeom>
        </p:spPr>
      </p:pic>
      <p:pic>
        <p:nvPicPr>
          <p:cNvPr id="138" name="Picture 137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5" y="5385816"/>
            <a:ext cx="240944" cy="295351"/>
          </a:xfrm>
          <a:prstGeom prst="rect">
            <a:avLst/>
          </a:prstGeom>
        </p:spPr>
      </p:pic>
      <p:pic>
        <p:nvPicPr>
          <p:cNvPr id="139" name="Picture 138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736" y="5376672"/>
            <a:ext cx="240944" cy="295351"/>
          </a:xfrm>
          <a:prstGeom prst="rect">
            <a:avLst/>
          </a:prstGeom>
        </p:spPr>
      </p:pic>
      <p:cxnSp>
        <p:nvCxnSpPr>
          <p:cNvPr id="140" name="Connector 139"/>
          <p:cNvCxnSpPr/>
          <p:nvPr/>
        </p:nvCxnSpPr>
        <p:spPr>
          <a:xfrm>
            <a:off x="3504438" y="6144768"/>
            <a:ext cx="0" cy="260604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374136" y="6275070"/>
            <a:ext cx="260604" cy="0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40888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340888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664958" y="6144768"/>
            <a:ext cx="0" cy="260604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534656" y="6275070"/>
            <a:ext cx="260604" cy="0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56940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756940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1688318" y="6144768"/>
            <a:ext cx="0" cy="260604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558016" y="6275070"/>
            <a:ext cx="260604" cy="0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159276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11592763" y="6179515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12234672" y="5486400"/>
            <a:ext cx="1499616" cy="621792"/>
          </a:xfrm>
          <a:prstGeom prst="roundRect">
            <a:avLst/>
          </a:prstGeom>
          <a:solidFill>
            <a:srgbClr val="F3D59E"/>
          </a:solidFill>
          <a:ln w="28575">
            <a:solidFill>
              <a:srgbClr val="8E3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234672" y="5513832"/>
            <a:ext cx="149961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8E3D0C"/>
                </a:solidFill>
                <a:latin typeface="URW Gothic"/>
              </a:rPr>
              <a:t>Time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234672" y="5788152"/>
            <a:ext cx="149961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8E3D0C"/>
                </a:solidFill>
                <a:latin typeface="URW Gothic"/>
              </a:rPr>
              <a:t>Encoder</a:t>
            </a:r>
          </a:p>
        </p:txBody>
      </p:sp>
      <p:pic>
        <p:nvPicPr>
          <p:cNvPr id="155" name="Picture 154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112" y="5522976"/>
            <a:ext cx="212598" cy="260603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4054328" y="635508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F1D7A"/>
                </a:solidFill>
                <a:latin typeface="URW Gothic"/>
              </a:rPr>
              <a:t>Text Tokens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5307055" y="6373368"/>
            <a:ext cx="1252728" cy="4114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5380208" y="6437376"/>
            <a:ext cx="283464" cy="283464"/>
          </a:xfrm>
          <a:prstGeom prst="roundRect">
            <a:avLst/>
          </a:prstGeom>
          <a:solidFill>
            <a:srgbClr val="8D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5791688" y="6437376"/>
            <a:ext cx="283464" cy="283464"/>
          </a:xfrm>
          <a:prstGeom prst="roundRect">
            <a:avLst/>
          </a:prstGeom>
          <a:solidFill>
            <a:srgbClr val="8D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6212312" y="6437376"/>
            <a:ext cx="283464" cy="283464"/>
          </a:xfrm>
          <a:prstGeom prst="roundRect">
            <a:avLst/>
          </a:prstGeom>
          <a:solidFill>
            <a:srgbClr val="8D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4886432" y="7187184"/>
            <a:ext cx="2121408" cy="585216"/>
          </a:xfrm>
          <a:prstGeom prst="roundRect">
            <a:avLst/>
          </a:prstGeom>
          <a:solidFill>
            <a:srgbClr val="EAD7EE"/>
          </a:solidFill>
          <a:ln w="28575">
            <a:solidFill>
              <a:srgbClr val="6F1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4886432" y="7269480"/>
            <a:ext cx="212140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F1D7A"/>
                </a:solidFill>
                <a:latin typeface="URW Gothic"/>
              </a:rPr>
              <a:t>Text Tokenizer</a:t>
            </a:r>
          </a:p>
        </p:txBody>
      </p:sp>
      <p:pic>
        <p:nvPicPr>
          <p:cNvPr id="163" name="Picture 162" descr="vision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6931152"/>
            <a:ext cx="4123944" cy="786384"/>
          </a:xfrm>
          <a:prstGeom prst="rect">
            <a:avLst/>
          </a:prstGeom>
        </p:spPr>
      </p:pic>
      <p:pic>
        <p:nvPicPr>
          <p:cNvPr id="164" name="Picture 163" descr="audio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6931152"/>
            <a:ext cx="2926080" cy="786384"/>
          </a:xfrm>
          <a:prstGeom prst="rect">
            <a:avLst/>
          </a:prstGeom>
        </p:spPr>
      </p:pic>
      <p:pic>
        <p:nvPicPr>
          <p:cNvPr id="165" name="Picture 164" descr="speech_in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6922008"/>
            <a:ext cx="2953512" cy="795528"/>
          </a:xfrm>
          <a:prstGeom prst="rect">
            <a:avLst/>
          </a:prstGeom>
        </p:spPr>
      </p:pic>
      <p:pic>
        <p:nvPicPr>
          <p:cNvPr id="166" name="Picture 165" descr="film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8110727"/>
            <a:ext cx="1225296" cy="768096"/>
          </a:xfrm>
          <a:prstGeom prst="rect">
            <a:avLst/>
          </a:prstGeom>
        </p:spPr>
      </p:pic>
      <p:pic>
        <p:nvPicPr>
          <p:cNvPr id="167" name="Picture 166" descr="film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088" y="8110727"/>
            <a:ext cx="2386584" cy="768096"/>
          </a:xfrm>
          <a:prstGeom prst="rect">
            <a:avLst/>
          </a:prstGeom>
        </p:spPr>
      </p:pic>
      <p:pic>
        <p:nvPicPr>
          <p:cNvPr id="168" name="Picture 167" descr="film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8110727"/>
            <a:ext cx="2386584" cy="768096"/>
          </a:xfrm>
          <a:prstGeom prst="rect">
            <a:avLst/>
          </a:prstGeom>
        </p:spPr>
      </p:pic>
      <p:pic>
        <p:nvPicPr>
          <p:cNvPr id="169" name="Picture 168" descr="film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4072" y="8110727"/>
            <a:ext cx="2404872" cy="768096"/>
          </a:xfrm>
          <a:prstGeom prst="rect">
            <a:avLst/>
          </a:prstGeom>
        </p:spPr>
      </p:pic>
      <p:pic>
        <p:nvPicPr>
          <p:cNvPr id="170" name="Picture 169" descr="film_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5288" y="8110727"/>
            <a:ext cx="2432304" cy="768096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554480" y="857707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11111"/>
                </a:solidFill>
                <a:latin typeface="URW Gothic"/>
              </a:rPr>
              <a:t>···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370832" y="857707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11111"/>
                </a:solidFill>
                <a:latin typeface="URW Gothic"/>
              </a:rPr>
              <a:t>···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87184" y="857707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11111"/>
                </a:solidFill>
                <a:latin typeface="URW Gothic"/>
              </a:rPr>
              <a:t>···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948672" y="857707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11111"/>
                </a:solidFill>
                <a:latin typeface="URW Gothic"/>
              </a:rPr>
              <a:t>···</a:t>
            </a:r>
          </a:p>
        </p:txBody>
      </p:sp>
      <p:sp>
        <p:nvSpPr>
          <p:cNvPr id="175" name="Oval 174"/>
          <p:cNvSpPr/>
          <p:nvPr/>
        </p:nvSpPr>
        <p:spPr>
          <a:xfrm>
            <a:off x="13926312" y="1508760"/>
            <a:ext cx="365760" cy="3657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13935456" y="1691640"/>
            <a:ext cx="347472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4109192" y="1517904"/>
            <a:ext cx="0" cy="34747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4346936" y="1581912"/>
            <a:ext cx="23774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URW Gothic"/>
              </a:rPr>
              <a:t>Point-wise Addition</a:t>
            </a:r>
          </a:p>
        </p:txBody>
      </p:sp>
      <p:pic>
        <p:nvPicPr>
          <p:cNvPr id="179" name="Picture 178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0" y="1965960"/>
            <a:ext cx="255117" cy="312724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14346936" y="1984248"/>
            <a:ext cx="2651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URW Gothic"/>
              </a:rPr>
              <a:t>Stage2 Trainable Modules</a:t>
            </a:r>
          </a:p>
        </p:txBody>
      </p:sp>
      <p:pic>
        <p:nvPicPr>
          <p:cNvPr id="181" name="Picture 180" descr="flam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0" y="2404872"/>
            <a:ext cx="311810" cy="382219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4346936" y="2441448"/>
            <a:ext cx="26517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URW Gothic"/>
              </a:rPr>
              <a:t>Stage3 Trainable Modules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4120622" y="2862072"/>
            <a:ext cx="0" cy="260604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3990320" y="2992374"/>
            <a:ext cx="260604" cy="0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4025067" y="2896819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14025067" y="2896819"/>
            <a:ext cx="191109" cy="191109"/>
          </a:xfrm>
          <a:prstGeom prst="line">
            <a:avLst/>
          </a:prstGeom>
          <a:ln w="19050">
            <a:solidFill>
              <a:srgbClr val="1C6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14346936" y="2889504"/>
            <a:ext cx="22860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URW Gothic"/>
              </a:rPr>
              <a:t>Frozen Components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91440" y="8951976"/>
            <a:ext cx="12618720" cy="0"/>
          </a:xfrm>
          <a:prstGeom prst="line">
            <a:avLst/>
          </a:prstGeom>
          <a:ln w="476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18288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344168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682496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169663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581144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967728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370064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756648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0232136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2637008" y="8878824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6576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0s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98448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6s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874519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50s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105656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60s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17136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97s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30568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106s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306056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256s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537192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267s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168128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1747s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2252960" y="905256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1759s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91440" y="9409176"/>
            <a:ext cx="12893040" cy="0"/>
          </a:xfrm>
          <a:prstGeom prst="line">
            <a:avLst/>
          </a:prstGeom>
          <a:ln w="28575">
            <a:solidFill>
              <a:srgbClr val="D8AA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440" y="9582912"/>
            <a:ext cx="12893040" cy="0"/>
          </a:xfrm>
          <a:prstGeom prst="line">
            <a:avLst/>
          </a:prstGeom>
          <a:ln w="28575">
            <a:solidFill>
              <a:srgbClr val="D8AA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13057632" y="8174736"/>
            <a:ext cx="4754880" cy="1517904"/>
          </a:xfrm>
          <a:prstGeom prst="rect">
            <a:avLst/>
          </a:prstGeom>
          <a:solidFill>
            <a:srgbClr val="FFC900"/>
          </a:solidFill>
          <a:ln w="285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3203936" y="8257031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11111"/>
                </a:solidFill>
                <a:latin typeface="URW Gothic"/>
              </a:rPr>
              <a:t>Query:</a:t>
            </a:r>
            <a:r>
              <a:rPr sz="1650" b="0" i="0">
                <a:solidFill>
                  <a:srgbClr val="111111"/>
                </a:solidFill>
                <a:latin typeface="URW Gothic"/>
              </a:rPr>
              <a:t> Locate the moment where “A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3203936" y="853135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4618D"/>
                </a:solidFill>
                <a:latin typeface="URW Gothic"/>
              </a:rPr>
              <a:t>man wearing a white mask is talking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3203936" y="880567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about the </a:t>
            </a:r>
            <a:r>
              <a:rPr sz="1650" b="0" i="0">
                <a:solidFill>
                  <a:srgbClr val="F27A37"/>
                </a:solidFill>
                <a:latin typeface="URW Gothic"/>
              </a:rPr>
              <a:t>sponsor</a:t>
            </a:r>
            <a:r>
              <a:rPr sz="1650" b="0" i="0">
                <a:solidFill>
                  <a:srgbClr val="387226"/>
                </a:solidFill>
                <a:latin typeface="URW Gothic"/>
              </a:rPr>
              <a:t> under noisy street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3203936" y="907999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URW Gothic"/>
              </a:rPr>
              <a:t>sound, which they have been </a:t>
            </a:r>
            <a:r>
              <a:rPr sz="1650" b="0" i="0">
                <a:solidFill>
                  <a:srgbClr val="F27A37"/>
                </a:solidFill>
                <a:latin typeface="URW Gothic"/>
              </a:rPr>
              <a:t>trying for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3203936" y="9354312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27A37"/>
                </a:solidFill>
                <a:latin typeface="URW Gothic"/>
              </a:rPr>
              <a:t>over a year”,</a:t>
            </a:r>
            <a:r>
              <a:rPr sz="1650" b="0" i="0">
                <a:solidFill>
                  <a:srgbClr val="111111"/>
                </a:solidFill>
                <a:latin typeface="URW Gothic"/>
              </a:rPr>
              <a:t> return precise timestamps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tch and Listen Understanding Audio-Visual-Speech Moments with Multimodal LLM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19320" cy="9692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