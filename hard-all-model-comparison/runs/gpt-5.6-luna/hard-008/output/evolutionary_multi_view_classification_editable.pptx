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7474184" cy="71597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olutionary multi-view classification">
    <p:spTree>
      <p:nvGrpSpPr>
        <p:cNvPr id="1" name=""/>
        <p:cNvGrpSpPr/>
        <p:nvPr/>
      </p:nvGrpSpPr>
      <p:grpSpPr/>
      <p:pic>
        <p:nvPicPr>
          <p:cNvPr id="2" name="Reference image — locked visual layer" descr="Evolutionary Multi-View Classification via Eliminating Individual Fitness Bia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4184" cy="7159752"/>
          </a:xfrm>
          <a:prstGeom prst="rect">
            <a:avLst/>
          </a:prstGeom>
        </p:spPr>
      </p:pic>
      <p:sp>
        <p:nvSpPr>
          <p:cNvPr id="3" name="Editable text — top-title"/>
          <p:cNvSpPr txBox="1"/>
          <p:nvPr/>
        </p:nvSpPr>
        <p:spPr>
          <a:xfrm>
            <a:off x="841248" y="448056"/>
            <a:ext cx="6126480" cy="8585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(a) The whole process of evolutionary multi-view classification</a:t>
            </a:r>
          </a:p>
        </p:txBody>
      </p:sp>
      <p:sp>
        <p:nvSpPr>
          <p:cNvPr id="4" name="Editable text — step-1"/>
          <p:cNvSpPr txBox="1"/>
          <p:nvPr/>
        </p:nvSpPr>
        <p:spPr>
          <a:xfrm>
            <a:off x="3785615" y="987552"/>
            <a:ext cx="3366820" cy="9042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① Initialize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population</a:t>
            </a:r>
          </a:p>
        </p:txBody>
      </p:sp>
      <p:sp>
        <p:nvSpPr>
          <p:cNvPr id="5" name="Editable text — step-2"/>
          <p:cNvSpPr txBox="1"/>
          <p:nvPr/>
        </p:nvSpPr>
        <p:spPr>
          <a:xfrm>
            <a:off x="6409944" y="987552"/>
            <a:ext cx="2843784" cy="9042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② Fitness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evaluation</a:t>
            </a:r>
          </a:p>
        </p:txBody>
      </p:sp>
      <p:sp>
        <p:nvSpPr>
          <p:cNvPr id="6" name="Editable text — step-3"/>
          <p:cNvSpPr txBox="1"/>
          <p:nvPr/>
        </p:nvSpPr>
        <p:spPr>
          <a:xfrm>
            <a:off x="8723376" y="987552"/>
            <a:ext cx="3105302" cy="9042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③ Offspring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generation</a:t>
            </a:r>
          </a:p>
        </p:txBody>
      </p:sp>
      <p:sp>
        <p:nvSpPr>
          <p:cNvPr id="7" name="Editable text — step-4"/>
          <p:cNvSpPr txBox="1"/>
          <p:nvPr/>
        </p:nvSpPr>
        <p:spPr>
          <a:xfrm>
            <a:off x="12006072" y="987552"/>
            <a:ext cx="2843784" cy="9042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④ Fitness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evaluation</a:t>
            </a:r>
          </a:p>
        </p:txBody>
      </p:sp>
      <p:sp>
        <p:nvSpPr>
          <p:cNvPr id="8" name="Editable text — step-5"/>
          <p:cNvSpPr txBox="1"/>
          <p:nvPr/>
        </p:nvSpPr>
        <p:spPr>
          <a:xfrm>
            <a:off x="14493240" y="987552"/>
            <a:ext cx="3105302" cy="675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⑤ Selection</a:t>
            </a:r>
          </a:p>
        </p:txBody>
      </p:sp>
      <p:sp>
        <p:nvSpPr>
          <p:cNvPr id="9" name="Editable text — search-space"/>
          <p:cNvSpPr txBox="1"/>
          <p:nvPr/>
        </p:nvSpPr>
        <p:spPr>
          <a:xfrm>
            <a:off x="2404872" y="2121408"/>
            <a:ext cx="2938881" cy="6146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Search space</a:t>
            </a:r>
          </a:p>
        </p:txBody>
      </p:sp>
      <p:sp>
        <p:nvSpPr>
          <p:cNvPr id="10" name="Editable text — individual-1"/>
          <p:cNvSpPr txBox="1"/>
          <p:nvPr/>
        </p:nvSpPr>
        <p:spPr>
          <a:xfrm>
            <a:off x="4526280" y="2020824"/>
            <a:ext cx="2368296" cy="594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Individual</a:t>
            </a:r>
          </a:p>
        </p:txBody>
      </p:sp>
      <p:sp>
        <p:nvSpPr>
          <p:cNvPr id="11" name="Editable text — population-t"/>
          <p:cNvSpPr txBox="1"/>
          <p:nvPr/>
        </p:nvSpPr>
        <p:spPr>
          <a:xfrm>
            <a:off x="7717536" y="2112264"/>
            <a:ext cx="1188720" cy="594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Pₜ</a:t>
            </a:r>
          </a:p>
        </p:txBody>
      </p:sp>
      <p:sp>
        <p:nvSpPr>
          <p:cNvPr id="12" name="Editable text — new-individual"/>
          <p:cNvSpPr txBox="1"/>
          <p:nvPr/>
        </p:nvSpPr>
        <p:spPr>
          <a:xfrm>
            <a:off x="11539728" y="2066543"/>
            <a:ext cx="3224174" cy="594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New individual</a:t>
            </a:r>
          </a:p>
        </p:txBody>
      </p:sp>
      <p:sp>
        <p:nvSpPr>
          <p:cNvPr id="13" name="Editable text — population-next"/>
          <p:cNvSpPr txBox="1"/>
          <p:nvPr/>
        </p:nvSpPr>
        <p:spPr>
          <a:xfrm>
            <a:off x="15489936" y="2121408"/>
            <a:ext cx="4294022" cy="594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New population Pₜ₊₁</a:t>
            </a:r>
          </a:p>
        </p:txBody>
      </p:sp>
      <p:sp>
        <p:nvSpPr>
          <p:cNvPr id="14" name="Editable text — crossover"/>
          <p:cNvSpPr txBox="1"/>
          <p:nvPr/>
        </p:nvSpPr>
        <p:spPr>
          <a:xfrm>
            <a:off x="9875520" y="886968"/>
            <a:ext cx="2368296" cy="594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'Crossover</a:t>
            </a:r>
          </a:p>
        </p:txBody>
      </p:sp>
      <p:sp>
        <p:nvSpPr>
          <p:cNvPr id="15" name="Editable text — mutation"/>
          <p:cNvSpPr txBox="1"/>
          <p:nvPr/>
        </p:nvSpPr>
        <p:spPr>
          <a:xfrm>
            <a:off x="9957816" y="1243584"/>
            <a:ext cx="1940356" cy="594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Mutation</a:t>
            </a:r>
          </a:p>
        </p:txBody>
      </p:sp>
      <p:sp>
        <p:nvSpPr>
          <p:cNvPr id="16" name="Editable text — fusion-set"/>
          <p:cNvSpPr txBox="1"/>
          <p:nvPr/>
        </p:nvSpPr>
        <p:spPr>
          <a:xfrm>
            <a:off x="420624" y="1362456"/>
            <a:ext cx="4294022" cy="594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Fusion operator set</a:t>
            </a:r>
          </a:p>
        </p:txBody>
      </p:sp>
      <p:sp>
        <p:nvSpPr>
          <p:cNvPr id="17" name="Editable text — view-set"/>
          <p:cNvSpPr txBox="1"/>
          <p:nvPr/>
        </p:nvSpPr>
        <p:spPr>
          <a:xfrm>
            <a:off x="731520" y="2075688"/>
            <a:ext cx="1940356" cy="594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View set</a:t>
            </a:r>
          </a:p>
        </p:txBody>
      </p:sp>
      <p:sp>
        <p:nvSpPr>
          <p:cNvPr id="18" name="Editable text — bottom-title"/>
          <p:cNvSpPr txBox="1"/>
          <p:nvPr/>
        </p:nvSpPr>
        <p:spPr>
          <a:xfrm>
            <a:off x="841248" y="2578608"/>
            <a:ext cx="6126480" cy="838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(b) Unbiased fitness evaluation</a:t>
            </a:r>
          </a:p>
        </p:txBody>
      </p:sp>
      <p:sp>
        <p:nvSpPr>
          <p:cNvPr id="19" name="Editable text — navigator-view"/>
          <p:cNvSpPr txBox="1"/>
          <p:nvPr/>
        </p:nvSpPr>
        <p:spPr>
          <a:xfrm>
            <a:off x="1133856" y="3099816"/>
            <a:ext cx="5197449" cy="8432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Evolutionary navigator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of the view⁽ᵛ⁾</a:t>
            </a:r>
          </a:p>
        </p:txBody>
      </p:sp>
      <p:sp>
        <p:nvSpPr>
          <p:cNvPr id="20" name="Editable text — pretraining"/>
          <p:cNvSpPr txBox="1"/>
          <p:nvPr/>
        </p:nvSpPr>
        <p:spPr>
          <a:xfrm>
            <a:off x="859536" y="3575304"/>
            <a:ext cx="4507992" cy="594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Pre-training process</a:t>
            </a:r>
          </a:p>
        </p:txBody>
      </p:sp>
      <p:sp>
        <p:nvSpPr>
          <p:cNvPr id="21" name="Editable text — navigator"/>
          <p:cNvSpPr txBox="1"/>
          <p:nvPr/>
        </p:nvSpPr>
        <p:spPr>
          <a:xfrm>
            <a:off x="969264" y="5413248"/>
            <a:ext cx="5197449" cy="6146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Evolutionary navigator</a:t>
            </a:r>
          </a:p>
        </p:txBody>
      </p:sp>
      <p:sp>
        <p:nvSpPr>
          <p:cNvPr id="22" name="Editable text — navigator-set"/>
          <p:cNvSpPr txBox="1"/>
          <p:nvPr/>
        </p:nvSpPr>
        <p:spPr>
          <a:xfrm>
            <a:off x="3950208" y="3127248"/>
            <a:ext cx="3010204" cy="8229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Evolutionary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navigator set</a:t>
            </a:r>
          </a:p>
        </p:txBody>
      </p:sp>
      <p:sp>
        <p:nvSpPr>
          <p:cNvPr id="23" name="Editable text — navigator-individual"/>
          <p:cNvSpPr txBox="1"/>
          <p:nvPr/>
        </p:nvSpPr>
        <p:spPr>
          <a:xfrm>
            <a:off x="4361688" y="4617720"/>
            <a:ext cx="3010204" cy="10515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Evolutionary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navigators of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individual</a:t>
            </a:r>
          </a:p>
        </p:txBody>
      </p:sp>
      <p:sp>
        <p:nvSpPr>
          <p:cNvPr id="24" name="Editable text — individual-2"/>
          <p:cNvSpPr txBox="1"/>
          <p:nvPr/>
        </p:nvSpPr>
        <p:spPr>
          <a:xfrm>
            <a:off x="4325112" y="6492240"/>
            <a:ext cx="2368296" cy="594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Individual</a:t>
            </a:r>
          </a:p>
        </p:txBody>
      </p:sp>
      <p:sp>
        <p:nvSpPr>
          <p:cNvPr id="25" name="Editable text — search"/>
          <p:cNvSpPr txBox="1"/>
          <p:nvPr/>
        </p:nvSpPr>
        <p:spPr>
          <a:xfrm>
            <a:off x="4343400" y="4398264"/>
            <a:ext cx="1512417" cy="594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Search</a:t>
            </a:r>
          </a:p>
        </p:txBody>
      </p:sp>
      <p:sp>
        <p:nvSpPr>
          <p:cNvPr id="26" name="Editable text — guide"/>
          <p:cNvSpPr txBox="1"/>
          <p:nvPr/>
        </p:nvSpPr>
        <p:spPr>
          <a:xfrm>
            <a:off x="5312664" y="5084064"/>
            <a:ext cx="1298448" cy="594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Guide</a:t>
            </a:r>
          </a:p>
        </p:txBody>
      </p:sp>
      <p:sp>
        <p:nvSpPr>
          <p:cNvPr id="27" name="Editable text — decode"/>
          <p:cNvSpPr txBox="1"/>
          <p:nvPr/>
        </p:nvSpPr>
        <p:spPr>
          <a:xfrm>
            <a:off x="5120640" y="5779008"/>
            <a:ext cx="1512417" cy="594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Decode</a:t>
            </a:r>
          </a:p>
        </p:txBody>
      </p:sp>
      <p:sp>
        <p:nvSpPr>
          <p:cNvPr id="28" name="Editable text — encode"/>
          <p:cNvSpPr txBox="1"/>
          <p:nvPr/>
        </p:nvSpPr>
        <p:spPr>
          <a:xfrm>
            <a:off x="5093208" y="6281928"/>
            <a:ext cx="1512417" cy="594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Encode</a:t>
            </a:r>
          </a:p>
        </p:txBody>
      </p:sp>
      <p:sp>
        <p:nvSpPr>
          <p:cNvPr id="29" name="Editable text — legend-fused"/>
          <p:cNvSpPr txBox="1"/>
          <p:nvPr/>
        </p:nvSpPr>
        <p:spPr>
          <a:xfrm>
            <a:off x="960120" y="6748272"/>
            <a:ext cx="5577840" cy="5943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Dimensions of fused views</a:t>
            </a:r>
          </a:p>
        </p:txBody>
      </p:sp>
      <p:sp>
        <p:nvSpPr>
          <p:cNvPr id="30" name="Editable text — legend-category"/>
          <p:cNvSpPr txBox="1"/>
          <p:nvPr/>
        </p:nvSpPr>
        <p:spPr>
          <a:xfrm>
            <a:off x="969264" y="7040880"/>
            <a:ext cx="6005779" cy="8229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Dimensions of the number of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category</a:t>
            </a:r>
          </a:p>
        </p:txBody>
      </p:sp>
      <p:sp>
        <p:nvSpPr>
          <p:cNvPr id="31" name="Editable text — parameter-freeze-top"/>
          <p:cNvSpPr txBox="1"/>
          <p:nvPr/>
        </p:nvSpPr>
        <p:spPr>
          <a:xfrm>
            <a:off x="6300216" y="2624328"/>
            <a:ext cx="4935931" cy="675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⚙ Parameter freeze</a:t>
            </a:r>
          </a:p>
        </p:txBody>
      </p:sp>
      <p:sp>
        <p:nvSpPr>
          <p:cNvPr id="32" name="Editable text — parameter-freeze-bottom"/>
          <p:cNvSpPr txBox="1"/>
          <p:nvPr/>
        </p:nvSpPr>
        <p:spPr>
          <a:xfrm>
            <a:off x="6291072" y="6894576"/>
            <a:ext cx="4935931" cy="675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⚙ Parameter freeze</a:t>
            </a:r>
          </a:p>
        </p:txBody>
      </p:sp>
      <p:sp>
        <p:nvSpPr>
          <p:cNvPr id="33" name="Editable text — view-1a"/>
          <p:cNvSpPr txBox="1"/>
          <p:nvPr/>
        </p:nvSpPr>
        <p:spPr>
          <a:xfrm>
            <a:off x="6099048" y="2944368"/>
            <a:ext cx="1892807" cy="635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View⁽¹⁾</a:t>
            </a:r>
          </a:p>
        </p:txBody>
      </p:sp>
      <p:sp>
        <p:nvSpPr>
          <p:cNvPr id="34" name="Editable text — view-1b"/>
          <p:cNvSpPr txBox="1"/>
          <p:nvPr/>
        </p:nvSpPr>
        <p:spPr>
          <a:xfrm>
            <a:off x="6099048" y="3968496"/>
            <a:ext cx="1892807" cy="635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View⁽¹⁾</a:t>
            </a:r>
          </a:p>
        </p:txBody>
      </p:sp>
      <p:sp>
        <p:nvSpPr>
          <p:cNvPr id="35" name="Editable text — view-2a"/>
          <p:cNvSpPr txBox="1"/>
          <p:nvPr/>
        </p:nvSpPr>
        <p:spPr>
          <a:xfrm>
            <a:off x="6099048" y="5175504"/>
            <a:ext cx="1892807" cy="635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View⁽²⁾</a:t>
            </a:r>
          </a:p>
        </p:txBody>
      </p:sp>
      <p:sp>
        <p:nvSpPr>
          <p:cNvPr id="36" name="Editable text — view-2b"/>
          <p:cNvSpPr txBox="1"/>
          <p:nvPr/>
        </p:nvSpPr>
        <p:spPr>
          <a:xfrm>
            <a:off x="6099048" y="6309360"/>
            <a:ext cx="1892807" cy="635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View⁽²⁾</a:t>
            </a:r>
          </a:p>
        </p:txBody>
      </p:sp>
      <p:sp>
        <p:nvSpPr>
          <p:cNvPr id="37" name="Editable text — feature-vector"/>
          <p:cNvSpPr txBox="1"/>
          <p:nvPr/>
        </p:nvSpPr>
        <p:spPr>
          <a:xfrm>
            <a:off x="7763256" y="4462272"/>
            <a:ext cx="1643176" cy="802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Feature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vector</a:t>
            </a:r>
          </a:p>
        </p:txBody>
      </p:sp>
      <p:sp>
        <p:nvSpPr>
          <p:cNvPr id="38" name="Editable text — fusion-operator"/>
          <p:cNvSpPr txBox="1"/>
          <p:nvPr/>
        </p:nvSpPr>
        <p:spPr>
          <a:xfrm>
            <a:off x="9326880" y="4507992"/>
            <a:ext cx="1845259" cy="802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Fusion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operator</a:t>
            </a:r>
          </a:p>
        </p:txBody>
      </p:sp>
      <p:sp>
        <p:nvSpPr>
          <p:cNvPr id="39" name="Editable text — corresponding-1"/>
          <p:cNvSpPr txBox="1"/>
          <p:nvPr/>
        </p:nvSpPr>
        <p:spPr>
          <a:xfrm>
            <a:off x="10945368" y="2971800"/>
            <a:ext cx="2855671" cy="802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Corresponding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category</a:t>
            </a:r>
          </a:p>
        </p:txBody>
      </p:sp>
      <p:sp>
        <p:nvSpPr>
          <p:cNvPr id="40" name="Editable text — cross-category-1"/>
          <p:cNvSpPr txBox="1"/>
          <p:nvPr/>
        </p:nvSpPr>
        <p:spPr>
          <a:xfrm>
            <a:off x="10954512" y="3840480"/>
            <a:ext cx="3057753" cy="5740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Cross-category</a:t>
            </a:r>
          </a:p>
        </p:txBody>
      </p:sp>
      <p:sp>
        <p:nvSpPr>
          <p:cNvPr id="41" name="Editable text — corresponding-2"/>
          <p:cNvSpPr txBox="1"/>
          <p:nvPr/>
        </p:nvSpPr>
        <p:spPr>
          <a:xfrm>
            <a:off x="10945368" y="5330952"/>
            <a:ext cx="2855671" cy="802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Corresponding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category</a:t>
            </a:r>
          </a:p>
        </p:txBody>
      </p:sp>
      <p:sp>
        <p:nvSpPr>
          <p:cNvPr id="42" name="Editable text — cross-category-2"/>
          <p:cNvSpPr txBox="1"/>
          <p:nvPr/>
        </p:nvSpPr>
        <p:spPr>
          <a:xfrm>
            <a:off x="10954512" y="6199632"/>
            <a:ext cx="3057753" cy="5740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Cross-category</a:t>
            </a:r>
          </a:p>
        </p:txBody>
      </p:sp>
      <p:sp>
        <p:nvSpPr>
          <p:cNvPr id="43" name="Editable text — distill-top"/>
          <p:cNvSpPr txBox="1"/>
          <p:nvPr/>
        </p:nvSpPr>
        <p:spPr>
          <a:xfrm>
            <a:off x="15773400" y="2651760"/>
            <a:ext cx="3664000" cy="5740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Distillation loss</a:t>
            </a:r>
          </a:p>
        </p:txBody>
      </p:sp>
      <p:sp>
        <p:nvSpPr>
          <p:cNvPr id="44" name="Editable text — cross-entropy"/>
          <p:cNvSpPr txBox="1"/>
          <p:nvPr/>
        </p:nvSpPr>
        <p:spPr>
          <a:xfrm>
            <a:off x="13405104" y="4233672"/>
            <a:ext cx="3866083" cy="5740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Cross-entropy loss</a:t>
            </a:r>
          </a:p>
        </p:txBody>
      </p:sp>
      <p:sp>
        <p:nvSpPr>
          <p:cNvPr id="45" name="Editable text — label"/>
          <p:cNvSpPr txBox="1"/>
          <p:nvPr/>
        </p:nvSpPr>
        <p:spPr>
          <a:xfrm>
            <a:off x="14154912" y="4663440"/>
            <a:ext cx="1239012" cy="5740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Label</a:t>
            </a:r>
          </a:p>
        </p:txBody>
      </p:sp>
      <p:sp>
        <p:nvSpPr>
          <p:cNvPr id="46" name="Editable text — distill-bottom"/>
          <p:cNvSpPr txBox="1"/>
          <p:nvPr/>
        </p:nvSpPr>
        <p:spPr>
          <a:xfrm>
            <a:off x="15773400" y="6894576"/>
            <a:ext cx="3664000" cy="5740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>
                    <a:alpha val="0"/>
                  </a:srgbClr>
                </a:solidFill>
                <a:latin typeface="Times New Roman"/>
              </a:rPr>
              <a:t>Distillation loss</a:t>
            </a:r>
          </a:p>
        </p:txBody>
      </p:sp>
      <p:sp>
        <p:nvSpPr>
          <p:cNvPr id="47" name="Editable structure — top process panel"/>
          <p:cNvSpPr/>
          <p:nvPr/>
        </p:nvSpPr>
        <p:spPr>
          <a:xfrm>
            <a:off x="310896" y="201168"/>
            <a:ext cx="16843248" cy="201168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structure — bottom evaluation panel"/>
          <p:cNvSpPr/>
          <p:nvPr/>
        </p:nvSpPr>
        <p:spPr>
          <a:xfrm>
            <a:off x="329184" y="2313432"/>
            <a:ext cx="16824960" cy="474573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structure — left navigator panel"/>
          <p:cNvSpPr/>
          <p:nvPr/>
        </p:nvSpPr>
        <p:spPr>
          <a:xfrm>
            <a:off x="384048" y="2615184"/>
            <a:ext cx="2862072" cy="43891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structure — navigator set panel"/>
          <p:cNvSpPr/>
          <p:nvPr/>
        </p:nvSpPr>
        <p:spPr>
          <a:xfrm>
            <a:off x="3602736" y="2606040"/>
            <a:ext cx="1453896" cy="44897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structure — network panel"/>
          <p:cNvSpPr/>
          <p:nvPr/>
        </p:nvSpPr>
        <p:spPr>
          <a:xfrm>
            <a:off x="5833872" y="2359152"/>
            <a:ext cx="11247120" cy="46908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4184" cy="71597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Evolutionary Multi-View Classification via Eliminating Individual Fitness Bias</dc:title>
  <dc:subject>Editable rebuild of supplied scientific diagram</dc:subject>
  <dc:creator/>
  <cp:keywords/>
  <dc:description>Embedded reference layer plus named, selectable editable text and structural overlay objects.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