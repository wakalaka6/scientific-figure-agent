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5760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83" y="100954"/>
            <a:ext cx="12090728" cy="249862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483" y="3161139"/>
            <a:ext cx="12090728" cy="259327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760" y="138812"/>
            <a:ext cx="6373505" cy="2397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 b="1" i="0">
                <a:solidFill>
                  <a:srgbClr val="111111"/>
                </a:solidFill>
                <a:latin typeface="Liberation Serif"/>
              </a:rPr>
              <a:t>Measure Difficulty based on Relative Reward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760" y="3173759"/>
            <a:ext cx="6184193" cy="2397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 b="1" i="0">
                <a:solidFill>
                  <a:srgbClr val="111111"/>
                </a:solidFill>
                <a:latin typeface="Liberation Serif"/>
              </a:rPr>
              <a:t>Difficulty Decreasement 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438" y="3173759"/>
            <a:ext cx="5426945" cy="2397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 b="1" i="0">
                <a:solidFill>
                  <a:srgbClr val="111111"/>
                </a:solidFill>
                <a:latin typeface="Liberation Serif"/>
              </a:rPr>
              <a:t>Difficulty Increasement Augmentation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99713" y="3173759"/>
            <a:ext cx="0" cy="2574341"/>
          </a:xfrm>
          <a:prstGeom prst="line">
            <a:avLst/>
          </a:prstGeom>
          <a:ln w="1524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9897" y="769778"/>
            <a:ext cx="1874189" cy="1350267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ery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05" y="858113"/>
            <a:ext cx="422796" cy="580488"/>
          </a:xfrm>
          <a:prstGeom prst="rect">
            <a:avLst/>
          </a:prstGeom>
        </p:spPr>
      </p:pic>
      <p:pic>
        <p:nvPicPr>
          <p:cNvPr id="11" name="Picture 10" descr="celery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52" y="858113"/>
            <a:ext cx="435417" cy="580488"/>
          </a:xfrm>
          <a:prstGeom prst="rect">
            <a:avLst/>
          </a:prstGeom>
        </p:spPr>
      </p:pic>
      <p:pic>
        <p:nvPicPr>
          <p:cNvPr id="12" name="Picture 11" descr="celery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528" y="858113"/>
            <a:ext cx="631040" cy="580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0352" y="1072642"/>
            <a:ext cx="265036" cy="201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243" y="1545866"/>
            <a:ext cx="706764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4" b="0" i="0">
                <a:solidFill>
                  <a:srgbClr val="111111"/>
                </a:solidFill>
                <a:latin typeface="Liberation Sans"/>
              </a:rPr>
              <a:t>Question: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008" y="1545866"/>
            <a:ext cx="1041216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5" b="0" i="0">
                <a:solidFill>
                  <a:srgbClr val="AA6D2E"/>
                </a:solidFill>
                <a:latin typeface="Liberation Sans"/>
              </a:rPr>
              <a:t>What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243" y="1716227"/>
            <a:ext cx="1640704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5" b="0" i="0">
                <a:solidFill>
                  <a:srgbClr val="AA6D2E"/>
                </a:solidFill>
                <a:latin typeface="Liberation Sans"/>
              </a:rPr>
              <a:t>should I take next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243" y="1880278"/>
            <a:ext cx="1754291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5" b="0" i="0">
                <a:solidFill>
                  <a:srgbClr val="AA6D2E"/>
                </a:solidFill>
                <a:latin typeface="Liberation Sans"/>
              </a:rPr>
              <a:t>order to eat the celery?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00397" y="1444912"/>
            <a:ext cx="201933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208640" y="1097880"/>
            <a:ext cx="864524" cy="700372"/>
          </a:xfrm>
          <a:prstGeom prst="roundRect">
            <a:avLst/>
          </a:prstGeom>
          <a:solidFill>
            <a:srgbClr val="FFF4DB"/>
          </a:solidFill>
          <a:ln w="22860">
            <a:solidFill>
              <a:srgbClr val="FFE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8640" y="1249312"/>
            <a:ext cx="864524" cy="201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8" b="0" i="0">
                <a:solidFill>
                  <a:srgbClr val="111111"/>
                </a:solidFill>
                <a:latin typeface="Liberation Sans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8640" y="1476460"/>
            <a:ext cx="864524" cy="201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8" b="0" i="0">
                <a:solidFill>
                  <a:srgbClr val="111111"/>
                </a:solidFill>
                <a:latin typeface="Liberation Sans"/>
              </a:rPr>
              <a:t>LLM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079475" y="921210"/>
            <a:ext cx="340762" cy="523702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079475" y="1350267"/>
            <a:ext cx="340762" cy="94645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79475" y="1444912"/>
            <a:ext cx="340762" cy="54894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420237" y="738230"/>
            <a:ext cx="1363046" cy="347031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9168" y="782397"/>
            <a:ext cx="1325184" cy="2397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  <a:latin typeface="Liberation Sans"/>
              </a:rPr>
              <a:t>Response  y¹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83284" y="908591"/>
            <a:ext cx="340761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420237" y="1167287"/>
            <a:ext cx="1363046" cy="347031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9168" y="1211454"/>
            <a:ext cx="1325184" cy="2397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  <a:latin typeface="Liberation Sans"/>
              </a:rPr>
              <a:t>Response  y²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83284" y="1337648"/>
            <a:ext cx="340761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420237" y="1804562"/>
            <a:ext cx="1363046" cy="347031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39168" y="1848730"/>
            <a:ext cx="1325184" cy="2397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  <a:latin typeface="Liberation Sans"/>
              </a:rPr>
              <a:t>Response  yᴳ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83284" y="1974923"/>
            <a:ext cx="340761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69242" y="1571105"/>
            <a:ext cx="283968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36666" y="681443"/>
            <a:ext cx="1047526" cy="1533247"/>
          </a:xfrm>
          <a:prstGeom prst="roundRect">
            <a:avLst/>
          </a:prstGeom>
          <a:solidFill>
            <a:srgbClr val="E5F4DC"/>
          </a:solidFill>
          <a:ln w="22860">
            <a:solidFill>
              <a:srgbClr val="79D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1425" y="466914"/>
            <a:ext cx="1104320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88" b="0" i="1">
                <a:solidFill>
                  <a:srgbClr val="111111"/>
                </a:solidFill>
                <a:latin typeface="Liberation Serif"/>
              </a:rPr>
              <a:t>R_group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5597" y="807636"/>
            <a:ext cx="1009664" cy="2650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4" b="0" i="1">
                <a:solidFill>
                  <a:srgbClr val="111111"/>
                </a:solidFill>
                <a:latin typeface="Liberation Serif"/>
              </a:rPr>
              <a:t>R(x, y¹)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5597" y="1224074"/>
            <a:ext cx="1009664" cy="2650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4" b="0" i="1">
                <a:solidFill>
                  <a:srgbClr val="111111"/>
                </a:solidFill>
                <a:latin typeface="Liberation Serif"/>
              </a:rPr>
              <a:t>R(x, y²)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5597" y="1804562"/>
            <a:ext cx="1009664" cy="2650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4" b="0" i="1">
                <a:solidFill>
                  <a:srgbClr val="111111"/>
                </a:solidFill>
                <a:latin typeface="Liberation Serif"/>
              </a:rPr>
              <a:t>R(x, yᴳ)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4324" y="1564795"/>
            <a:ext cx="492211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0884" y="214528"/>
            <a:ext cx="2543091" cy="64358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5057" y="302863"/>
            <a:ext cx="757248" cy="2397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92" b="0" i="1">
                <a:solidFill>
                  <a:srgbClr val="111111"/>
                </a:solidFill>
                <a:latin typeface="Liberation Serif"/>
              </a:rPr>
              <a:t>Â⁽ⁱ⁾ 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2305" y="271315"/>
            <a:ext cx="1640704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4" b="0" i="1">
                <a:solidFill>
                  <a:srgbClr val="111111"/>
                </a:solidFill>
                <a:latin typeface="Liberation Serif"/>
              </a:rPr>
              <a:t>R(x, y⁽ⁱ⁾) − μᵣ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43374" y="511082"/>
            <a:ext cx="160915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67137" y="542630"/>
            <a:ext cx="567936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4" b="0" i="1">
                <a:solidFill>
                  <a:srgbClr val="111111"/>
                </a:solidFill>
                <a:latin typeface="Liberation Serif"/>
              </a:rPr>
              <a:t>σᵣ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10401" y="971687"/>
            <a:ext cx="2593574" cy="35965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F6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1953" y="1028474"/>
            <a:ext cx="2524160" cy="2271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5" b="0" i="1">
                <a:solidFill>
                  <a:srgbClr val="111111"/>
                </a:solidFill>
                <a:latin typeface="Liberation Serif"/>
              </a:rPr>
              <a:t>R_group = {0.0, 0.0, ..., 0.0, 0.0}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10401" y="1508008"/>
            <a:ext cx="2593574" cy="35965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1953" y="1564795"/>
            <a:ext cx="2524160" cy="2271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5" b="0" i="1">
                <a:solidFill>
                  <a:srgbClr val="111111"/>
                </a:solidFill>
                <a:latin typeface="Liberation Serif"/>
              </a:rPr>
              <a:t>R_group = {1.1, 0.3, ..., 1.9, 0.8}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10401" y="2038020"/>
            <a:ext cx="2593574" cy="35965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3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1953" y="2094807"/>
            <a:ext cx="2524160" cy="2271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5" b="0" i="1">
                <a:solidFill>
                  <a:srgbClr val="111111"/>
                </a:solidFill>
                <a:latin typeface="Liberation Serif"/>
              </a:rPr>
              <a:t>R_group = {2.0, 2.0, ..., 2.0, 2.0}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8132" y="1331338"/>
            <a:ext cx="220864" cy="429056"/>
          </a:xfrm>
          <a:prstGeom prst="rect">
            <a:avLst/>
          </a:prstGeom>
          <a:solidFill>
            <a:srgbClr val="FF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18132" y="2359813"/>
            <a:ext cx="220864" cy="340721"/>
          </a:xfrm>
          <a:prstGeom prst="rect">
            <a:avLst/>
          </a:prstGeom>
          <a:solidFill>
            <a:srgbClr val="FF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231719" y="2397670"/>
            <a:ext cx="0" cy="290245"/>
          </a:xfrm>
          <a:prstGeom prst="line">
            <a:avLst/>
          </a:prstGeom>
          <a:ln w="88900">
            <a:solidFill>
              <a:srgbClr val="FF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360884" y="2687915"/>
            <a:ext cx="870835" cy="75716"/>
          </a:xfrm>
          <a:prstGeom prst="line">
            <a:avLst/>
          </a:prstGeom>
          <a:ln w="88900">
            <a:solidFill>
              <a:srgbClr val="FF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3502272" y="2763631"/>
            <a:ext cx="2858612" cy="0"/>
          </a:xfrm>
          <a:prstGeom prst="line">
            <a:avLst/>
          </a:prstGeom>
          <a:ln w="88900">
            <a:solidFill>
              <a:srgbClr val="FF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325581" y="2763631"/>
            <a:ext cx="176691" cy="328102"/>
          </a:xfrm>
          <a:prstGeom prst="line">
            <a:avLst/>
          </a:prstGeom>
          <a:ln w="88900">
            <a:solidFill>
              <a:srgbClr val="FF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900622" y="2397670"/>
            <a:ext cx="0" cy="290245"/>
          </a:xfrm>
          <a:prstGeom prst="line">
            <a:avLst/>
          </a:prstGeom>
          <a:ln w="88900">
            <a:solidFill>
              <a:srgbClr val="0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900622" y="2687915"/>
            <a:ext cx="605798" cy="75716"/>
          </a:xfrm>
          <a:prstGeom prst="line">
            <a:avLst/>
          </a:prstGeom>
          <a:ln w="88900">
            <a:solidFill>
              <a:srgbClr val="0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06420" y="2763631"/>
            <a:ext cx="511143" cy="0"/>
          </a:xfrm>
          <a:prstGeom prst="line">
            <a:avLst/>
          </a:prstGeom>
          <a:ln w="88900">
            <a:solidFill>
              <a:srgbClr val="0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017563" y="2763631"/>
            <a:ext cx="258726" cy="328102"/>
          </a:xfrm>
          <a:prstGeom prst="line">
            <a:avLst/>
          </a:prstGeom>
          <a:ln w="88900">
            <a:solidFill>
              <a:srgbClr val="0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023873" y="145122"/>
            <a:ext cx="3079475" cy="24039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37460" y="176670"/>
            <a:ext cx="2776576" cy="227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88" b="1" i="0">
                <a:solidFill>
                  <a:srgbClr val="111111"/>
                </a:solidFill>
                <a:latin typeface="Liberation Serif"/>
              </a:rPr>
              <a:t>Dynamic Global Reward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9013" y="574179"/>
            <a:ext cx="631040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11111"/>
                </a:solidFill>
                <a:latin typeface="Liberation Sans"/>
              </a:rPr>
              <a:t>Reward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402497" y="2132665"/>
            <a:ext cx="187419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402497" y="795017"/>
            <a:ext cx="0" cy="1337648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9465601" y="877042"/>
            <a:ext cx="1848947" cy="1255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74299" y="1028474"/>
            <a:ext cx="593177" cy="1104190"/>
          </a:xfrm>
          <a:prstGeom prst="rect">
            <a:avLst/>
          </a:prstGeom>
          <a:solidFill>
            <a:srgbClr val="FBF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9579189" y="2006472"/>
            <a:ext cx="189312" cy="12619"/>
          </a:xfrm>
          <a:prstGeom prst="line">
            <a:avLst/>
          </a:prstGeom>
          <a:ln w="20320">
            <a:solidFill>
              <a:srgbClr val="1B6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768501" y="1590034"/>
            <a:ext cx="403865" cy="429057"/>
          </a:xfrm>
          <a:prstGeom prst="line">
            <a:avLst/>
          </a:prstGeom>
          <a:ln w="20320">
            <a:solidFill>
              <a:srgbClr val="1B6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172366" y="1356576"/>
            <a:ext cx="334452" cy="233458"/>
          </a:xfrm>
          <a:prstGeom prst="line">
            <a:avLst/>
          </a:prstGeom>
          <a:ln w="20320">
            <a:solidFill>
              <a:srgbClr val="1B6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506818" y="1356576"/>
            <a:ext cx="258726" cy="56787"/>
          </a:xfrm>
          <a:prstGeom prst="line">
            <a:avLst/>
          </a:prstGeom>
          <a:ln w="20320">
            <a:solidFill>
              <a:srgbClr val="1B6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765544" y="1261932"/>
            <a:ext cx="227174" cy="151431"/>
          </a:xfrm>
          <a:prstGeom prst="line">
            <a:avLst/>
          </a:prstGeom>
          <a:ln w="20320">
            <a:solidFill>
              <a:srgbClr val="1B6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1207272" y="2101116"/>
            <a:ext cx="662592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1" b="0" i="0">
                <a:solidFill>
                  <a:srgbClr val="111111"/>
                </a:solidFill>
                <a:latin typeface="Liberation Sans"/>
              </a:rPr>
              <a:t>Iteration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0386920" y="2012781"/>
            <a:ext cx="555315" cy="0"/>
          </a:xfrm>
          <a:prstGeom prst="line">
            <a:avLst/>
          </a:prstGeom>
          <a:ln w="25400">
            <a:solidFill>
              <a:srgbClr val="FF6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475266" y="1709917"/>
            <a:ext cx="378624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48" b="0" i="1">
                <a:solidFill>
                  <a:srgbClr val="111111"/>
                </a:solidFill>
                <a:latin typeface="Liberation Serif"/>
              </a:rPr>
              <a:t>Bᵂ</a:t>
            </a:r>
          </a:p>
        </p:txBody>
      </p:sp>
      <p:sp>
        <p:nvSpPr>
          <p:cNvPr id="77" name="Oval 76"/>
          <p:cNvSpPr/>
          <p:nvPr/>
        </p:nvSpPr>
        <p:spPr>
          <a:xfrm>
            <a:off x="11548034" y="1142048"/>
            <a:ext cx="214553" cy="88335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548034" y="1186216"/>
            <a:ext cx="214553" cy="27131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548034" y="1407054"/>
            <a:ext cx="214553" cy="88335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72309" y="1571105"/>
            <a:ext cx="441728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0" i="0">
                <a:solidFill>
                  <a:srgbClr val="111111"/>
                </a:solidFill>
                <a:latin typeface="Liberation Sans"/>
              </a:rPr>
              <a:t>Replay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72309" y="1728846"/>
            <a:ext cx="441728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0" i="0">
                <a:solidFill>
                  <a:srgbClr val="111111"/>
                </a:solidFill>
                <a:latin typeface="Liberation Sans"/>
              </a:rPr>
              <a:t>Buffer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9897" y="3457693"/>
            <a:ext cx="1874189" cy="155848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celery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6" y="3527100"/>
            <a:ext cx="422796" cy="580488"/>
          </a:xfrm>
          <a:prstGeom prst="rect">
            <a:avLst/>
          </a:prstGeom>
        </p:spPr>
      </p:pic>
      <p:pic>
        <p:nvPicPr>
          <p:cNvPr id="84" name="Picture 83" descr="celery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63" y="3527100"/>
            <a:ext cx="435417" cy="580488"/>
          </a:xfrm>
          <a:prstGeom prst="rect">
            <a:avLst/>
          </a:prstGeom>
        </p:spPr>
      </p:pic>
      <p:pic>
        <p:nvPicPr>
          <p:cNvPr id="85" name="Picture 84" descr="celery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528" y="3527100"/>
            <a:ext cx="631040" cy="58048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0352" y="3747938"/>
            <a:ext cx="265036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4553" y="4208543"/>
            <a:ext cx="706764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5" b="0" i="0">
                <a:solidFill>
                  <a:srgbClr val="111111"/>
                </a:solidFill>
                <a:latin typeface="Liberation Sans"/>
              </a:rPr>
              <a:t>Question: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5008" y="4208543"/>
            <a:ext cx="1041216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8" b="0" i="0">
                <a:solidFill>
                  <a:srgbClr val="AA6D2E"/>
                </a:solidFill>
                <a:latin typeface="Liberation Sans"/>
              </a:rPr>
              <a:t>What action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4553" y="4378904"/>
            <a:ext cx="1672256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8" b="0" i="0">
                <a:solidFill>
                  <a:srgbClr val="AA6D2E"/>
                </a:solidFill>
                <a:latin typeface="Liberation Sans"/>
              </a:rPr>
              <a:t>should I take next 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4553" y="4542955"/>
            <a:ext cx="1754291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8" b="0" i="0">
                <a:solidFill>
                  <a:srgbClr val="AA6D2E"/>
                </a:solidFill>
                <a:latin typeface="Liberation Sans"/>
              </a:rPr>
              <a:t>order to eat the celery?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4553" y="4725935"/>
            <a:ext cx="252416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8" b="0" i="0">
                <a:solidFill>
                  <a:srgbClr val="111111"/>
                </a:solidFill>
                <a:latin typeface="Liberation Sans"/>
              </a:rPr>
              <a:t>GT: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2211" y="4725935"/>
            <a:ext cx="1135872" cy="16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8" b="0" i="0">
                <a:solidFill>
                  <a:srgbClr val="02A83D"/>
                </a:solidFill>
                <a:latin typeface="Liberation Sans"/>
              </a:rPr>
              <a:t>B. pick up celery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000397" y="4265330"/>
            <a:ext cx="201933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208640" y="3911989"/>
            <a:ext cx="864524" cy="700372"/>
          </a:xfrm>
          <a:prstGeom prst="roundRect">
            <a:avLst/>
          </a:prstGeom>
          <a:solidFill>
            <a:srgbClr val="FFF4DB"/>
          </a:solidFill>
          <a:ln w="22860">
            <a:solidFill>
              <a:srgbClr val="FFE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08640" y="4063421"/>
            <a:ext cx="864524" cy="201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8" b="0" i="0">
                <a:solidFill>
                  <a:srgbClr val="111111"/>
                </a:solidFill>
                <a:latin typeface="Liberation Sans"/>
              </a:rPr>
              <a:t>Video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08640" y="4290569"/>
            <a:ext cx="864524" cy="201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8" b="0" i="0">
                <a:solidFill>
                  <a:srgbClr val="111111"/>
                </a:solidFill>
                <a:latin typeface="Liberation Sans"/>
              </a:rPr>
              <a:t>LLM</a:t>
            </a:r>
          </a:p>
        </p:txBody>
      </p:sp>
      <p:cxnSp>
        <p:nvCxnSpPr>
          <p:cNvPr id="97" name="Connector 96"/>
          <p:cNvCxnSpPr/>
          <p:nvPr/>
        </p:nvCxnSpPr>
        <p:spPr>
          <a:xfrm flipV="1">
            <a:off x="3079475" y="3747938"/>
            <a:ext cx="340762" cy="517392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79475" y="4176995"/>
            <a:ext cx="340762" cy="88335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079475" y="4265330"/>
            <a:ext cx="340762" cy="530011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420237" y="3558648"/>
            <a:ext cx="1363046" cy="347031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39168" y="3602816"/>
            <a:ext cx="1325184" cy="2397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4" b="0" i="0">
                <a:solidFill>
                  <a:srgbClr val="111111"/>
                </a:solidFill>
                <a:latin typeface="Liberation Sans"/>
              </a:rPr>
              <a:t>Response  yᵍᵗ¹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783284" y="3729009"/>
            <a:ext cx="340761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420237" y="3987705"/>
            <a:ext cx="1363046" cy="347031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39168" y="4031873"/>
            <a:ext cx="1325184" cy="2397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4" b="0" i="0">
                <a:solidFill>
                  <a:srgbClr val="111111"/>
                </a:solidFill>
                <a:latin typeface="Liberation Sans"/>
              </a:rPr>
              <a:t>Response  yᵍᵗ²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783284" y="4158066"/>
            <a:ext cx="340761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3420237" y="4624981"/>
            <a:ext cx="1363046" cy="347031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39168" y="4669148"/>
            <a:ext cx="1325184" cy="2397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4" b="0" i="0">
                <a:solidFill>
                  <a:srgbClr val="111111"/>
                </a:solidFill>
                <a:latin typeface="Liberation Sans"/>
              </a:rPr>
              <a:t>Response  yᵍᵗᴳ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783284" y="4795341"/>
            <a:ext cx="340761" cy="0"/>
          </a:xfrm>
          <a:prstGeom prst="line">
            <a:avLst/>
          </a:prstGeom>
          <a:ln w="2794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969242" y="4391523"/>
            <a:ext cx="283968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136666" y="3476622"/>
            <a:ext cx="1047526" cy="1520628"/>
          </a:xfrm>
          <a:prstGeom prst="roundRect">
            <a:avLst/>
          </a:prstGeom>
          <a:solidFill>
            <a:srgbClr val="E5F4DC"/>
          </a:solidFill>
          <a:ln w="22860">
            <a:solidFill>
              <a:srgbClr val="79D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11425" y="3268404"/>
            <a:ext cx="1104320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 b="0" i="1">
                <a:solidFill>
                  <a:srgbClr val="111111"/>
                </a:solidFill>
                <a:latin typeface="Liberation Serif"/>
              </a:rPr>
              <a:t>R_group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55597" y="3646983"/>
            <a:ext cx="1009664" cy="252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11111"/>
                </a:solidFill>
                <a:latin typeface="Liberation Serif"/>
              </a:rPr>
              <a:t>R(x, yᵍᵗ¹)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55597" y="4063421"/>
            <a:ext cx="1009664" cy="252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11111"/>
                </a:solidFill>
                <a:latin typeface="Liberation Serif"/>
              </a:rPr>
              <a:t>R(x, yᵍᵗ²)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55597" y="4643910"/>
            <a:ext cx="1009664" cy="252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11111"/>
                </a:solidFill>
                <a:latin typeface="Liberation Serif"/>
              </a:rPr>
              <a:t>R(x, yᵍᵗᴳ)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14324" y="4378904"/>
            <a:ext cx="492211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98804" y="3943537"/>
            <a:ext cx="1041216" cy="365960"/>
          </a:xfrm>
          <a:prstGeom prst="rect">
            <a:avLst/>
          </a:prstGeom>
          <a:solidFill>
            <a:srgbClr val="FFFFFF"/>
          </a:solidFill>
          <a:ln w="21590">
            <a:solidFill>
              <a:srgbClr val="386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46330" y="3911989"/>
            <a:ext cx="252416" cy="3470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36" b="0" i="0">
                <a:solidFill>
                  <a:srgbClr val="111111"/>
                </a:solidFill>
                <a:latin typeface="Noto Color Emoji"/>
              </a:rPr>
              <a:t>🏆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4070" y="5180231"/>
            <a:ext cx="378624" cy="201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96" b="0" i="1">
                <a:solidFill>
                  <a:srgbClr val="111111"/>
                </a:solidFill>
                <a:latin typeface="Liberation Serif"/>
              </a:rPr>
              <a:t>yᵍᵗ²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0556" y="5142373"/>
            <a:ext cx="3281408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11111"/>
                </a:solidFill>
                <a:latin typeface="Liberation Sans"/>
              </a:rPr>
              <a:t>&lt;think&gt; The video shows a person preparing ... 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64864" y="5142373"/>
            <a:ext cx="1893120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 i="1">
                <a:solidFill>
                  <a:srgbClr val="00AA48"/>
                </a:solidFill>
                <a:latin typeface="Liberation Sans"/>
              </a:rPr>
              <a:t>To make a slice of celery you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0556" y="5331663"/>
            <a:ext cx="2177088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 i="1">
                <a:solidFill>
                  <a:srgbClr val="00AA48"/>
                </a:solidFill>
                <a:latin typeface="Liberation Sans"/>
              </a:rPr>
              <a:t>should bring it from the bag.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70266" y="5331663"/>
            <a:ext cx="3281408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1" b="0" i="0">
                <a:solidFill>
                  <a:srgbClr val="111111"/>
                </a:solidFill>
                <a:latin typeface="Liberation Sans"/>
              </a:rPr>
              <a:t>&lt;/think&gt;&lt;answer&gt;B. pick up celery&lt;/answer&gt;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933939" y="5647146"/>
            <a:ext cx="1785843" cy="0"/>
          </a:xfrm>
          <a:prstGeom prst="line">
            <a:avLst/>
          </a:prstGeom>
          <a:ln w="88900">
            <a:solidFill>
              <a:srgbClr val="86D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451392" y="5571430"/>
            <a:ext cx="788800" cy="1514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0" i="0">
                <a:solidFill>
                  <a:srgbClr val="111111"/>
                </a:solidFill>
                <a:latin typeface="Liberation Sans"/>
              </a:rPr>
              <a:t>Guidance Level</a:t>
            </a:r>
          </a:p>
        </p:txBody>
      </p:sp>
      <p:pic>
        <p:nvPicPr>
          <p:cNvPr id="125" name="Picture 124" descr="celery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060" y="3527100"/>
            <a:ext cx="422796" cy="580488"/>
          </a:xfrm>
          <a:prstGeom prst="rect">
            <a:avLst/>
          </a:prstGeom>
        </p:spPr>
      </p:pic>
      <p:pic>
        <p:nvPicPr>
          <p:cNvPr id="126" name="Picture 125" descr="celery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649" y="3527100"/>
            <a:ext cx="435417" cy="580488"/>
          </a:xfrm>
          <a:prstGeom prst="rect">
            <a:avLst/>
          </a:prstGeom>
        </p:spPr>
      </p:pic>
      <p:pic>
        <p:nvPicPr>
          <p:cNvPr id="127" name="Picture 126" descr="celery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724" y="3527100"/>
            <a:ext cx="631040" cy="58048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433652" y="3747938"/>
            <a:ext cx="265036" cy="189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8455937" y="3779486"/>
            <a:ext cx="1034906" cy="132503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455937" y="3911989"/>
            <a:ext cx="1034906" cy="498463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55937" y="3911989"/>
            <a:ext cx="1034906" cy="1129429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2" name="Picture 131" descr="noisy_fram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843" y="3571267"/>
            <a:ext cx="422796" cy="454295"/>
          </a:xfrm>
          <a:prstGeom prst="rect">
            <a:avLst/>
          </a:prstGeom>
        </p:spPr>
      </p:pic>
      <p:pic>
        <p:nvPicPr>
          <p:cNvPr id="133" name="Picture 132" descr="noisy_fram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7710" y="3571267"/>
            <a:ext cx="422796" cy="454295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9730638" y="3811034"/>
            <a:ext cx="378624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pic>
        <p:nvPicPr>
          <p:cNvPr id="135" name="Picture 134" descr="noisy_frame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7096" y="3571267"/>
            <a:ext cx="422796" cy="454295"/>
          </a:xfrm>
          <a:prstGeom prst="rect">
            <a:avLst/>
          </a:prstGeom>
        </p:spPr>
      </p:pic>
      <p:pic>
        <p:nvPicPr>
          <p:cNvPr id="136" name="Picture 135" descr="noisy_fram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0843" y="4214853"/>
            <a:ext cx="422796" cy="454295"/>
          </a:xfrm>
          <a:prstGeom prst="rect">
            <a:avLst/>
          </a:prstGeom>
        </p:spPr>
      </p:pic>
      <p:pic>
        <p:nvPicPr>
          <p:cNvPr id="137" name="Picture 136" descr="noisy_frame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7710" y="4214853"/>
            <a:ext cx="422796" cy="454295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9730638" y="4454620"/>
            <a:ext cx="378624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pic>
        <p:nvPicPr>
          <p:cNvPr id="139" name="Picture 138" descr="noisy_fram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7096" y="4214853"/>
            <a:ext cx="422796" cy="454295"/>
          </a:xfrm>
          <a:prstGeom prst="rect">
            <a:avLst/>
          </a:prstGeom>
        </p:spPr>
      </p:pic>
      <p:pic>
        <p:nvPicPr>
          <p:cNvPr id="140" name="Picture 139" descr="noisy_frame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843" y="4858438"/>
            <a:ext cx="422796" cy="454295"/>
          </a:xfrm>
          <a:prstGeom prst="rect">
            <a:avLst/>
          </a:prstGeom>
        </p:spPr>
      </p:pic>
      <p:pic>
        <p:nvPicPr>
          <p:cNvPr id="141" name="Picture 140" descr="noisy_fram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7710" y="4858438"/>
            <a:ext cx="422796" cy="454295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9730638" y="5098205"/>
            <a:ext cx="378624" cy="176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Georgia"/>
              </a:rPr>
              <a:t>...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8607387" y="4517716"/>
            <a:ext cx="0" cy="1003236"/>
          </a:xfrm>
          <a:prstGeom prst="line">
            <a:avLst/>
          </a:prstGeom>
          <a:ln w="88900">
            <a:solidFill>
              <a:srgbClr val="FF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834561" y="4517716"/>
            <a:ext cx="0" cy="1003236"/>
          </a:xfrm>
          <a:prstGeom prst="line">
            <a:avLst/>
          </a:prstGeom>
          <a:ln w="88900">
            <a:solidFill>
              <a:srgbClr val="0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7824897" y="4624981"/>
            <a:ext cx="725696" cy="201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92" b="0" i="1">
                <a:solidFill>
                  <a:srgbClr val="111111"/>
                </a:solidFill>
                <a:latin typeface="Liberation Serif"/>
              </a:rPr>
              <a:t>ΔR &lt; 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824897" y="4978322"/>
            <a:ext cx="725696" cy="201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92" b="0" i="1">
                <a:solidFill>
                  <a:srgbClr val="111111"/>
                </a:solidFill>
                <a:latin typeface="Liberation Serif"/>
              </a:rPr>
              <a:t>ΔR ≈ 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24897" y="5337972"/>
            <a:ext cx="725696" cy="201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92" b="0" i="1">
                <a:solidFill>
                  <a:srgbClr val="111111"/>
                </a:solidFill>
                <a:latin typeface="Liberation Serif"/>
              </a:rPr>
              <a:t>ΔR &gt; 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2690" y="3571267"/>
            <a:ext cx="100966" cy="1937065"/>
          </a:xfrm>
          <a:prstGeom prst="rect">
            <a:avLst/>
          </a:prstGeom>
          <a:solidFill>
            <a:srgbClr val="FF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11693173" y="3571267"/>
            <a:ext cx="0" cy="1937066"/>
          </a:xfrm>
          <a:prstGeom prst="line">
            <a:avLst/>
          </a:prstGeom>
          <a:ln w="88900">
            <a:solidFill>
              <a:srgbClr val="FF1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 rot="5400000">
            <a:off x="11737346" y="4038182"/>
            <a:ext cx="347072" cy="10726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111111"/>
                </a:solidFill>
                <a:latin typeface="Liberation Serif"/>
              </a:rPr>
              <a:t>Perturbation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eepVideo-R1 Video Reinforcement Fine-Tuning via Difficulty-aware Regressive GRPO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" y="0"/>
            <a:ext cx="12190264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