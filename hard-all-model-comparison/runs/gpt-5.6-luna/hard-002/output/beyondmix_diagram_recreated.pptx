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19473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1947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3974"/>
            <a:ext cx="7719493" cy="1888404"/>
          </a:xfrm>
          <a:prstGeom prst="rect">
            <a:avLst/>
          </a:prstGeom>
          <a:solidFill>
            <a:srgbClr val="FF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22379"/>
            <a:ext cx="7719493" cy="2328607"/>
          </a:xfrm>
          <a:prstGeom prst="rect">
            <a:avLst/>
          </a:prstGeom>
          <a:solidFill>
            <a:srgbClr val="F2F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350986"/>
            <a:ext cx="7719493" cy="1843746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13113" y="133974"/>
            <a:ext cx="4421164" cy="6054379"/>
          </a:xfrm>
          <a:prstGeom prst="rect">
            <a:avLst/>
          </a:prstGeom>
          <a:solidFill>
            <a:srgbClr val="FF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0" y="133974"/>
            <a:ext cx="7719493" cy="6054379"/>
          </a:xfrm>
          <a:prstGeom prst="roundRect">
            <a:avLst/>
          </a:prstGeom>
          <a:noFill/>
          <a:ln w="25518">
            <a:solidFill>
              <a:srgbClr val="0B0B0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13113" y="133974"/>
            <a:ext cx="4421164" cy="6054379"/>
          </a:xfrm>
          <a:prstGeom prst="roundRect">
            <a:avLst/>
          </a:prstGeom>
          <a:noFill/>
          <a:ln w="25518">
            <a:solidFill>
              <a:srgbClr val="0B0B0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531" y="162045"/>
            <a:ext cx="1658734" cy="22329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56" b="1" i="0">
                <a:solidFill>
                  <a:srgbClr val="0B0B0B"/>
                </a:solidFill>
                <a:latin typeface="Arial"/>
              </a:rPr>
              <a:t>Source 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531" y="2044070"/>
            <a:ext cx="1658734" cy="22329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56" b="1" i="0">
                <a:solidFill>
                  <a:srgbClr val="0B0B0B"/>
                </a:solidFill>
                <a:latin typeface="Arial"/>
              </a:rPr>
              <a:t>Mixed Domain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531" y="4366298"/>
            <a:ext cx="1658734" cy="22329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56" b="1" i="0">
                <a:solidFill>
                  <a:srgbClr val="0B0B0B"/>
                </a:solidFill>
                <a:latin typeface="Arial"/>
              </a:rPr>
              <a:t>Target Domain</a:t>
            </a:r>
          </a:p>
        </p:txBody>
      </p:sp>
      <p:pic>
        <p:nvPicPr>
          <p:cNvPr id="12" name="Picture 11" descr="source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13" y="446582"/>
            <a:ext cx="1365265" cy="925063"/>
          </a:xfrm>
          <a:prstGeom prst="rect">
            <a:avLst/>
          </a:prstGeom>
        </p:spPr>
      </p:pic>
      <p:pic>
        <p:nvPicPr>
          <p:cNvPr id="13" name="Picture 12" descr="source_fea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9062" y="446582"/>
            <a:ext cx="1371645" cy="925063"/>
          </a:xfrm>
          <a:prstGeom prst="rect">
            <a:avLst/>
          </a:prstGeom>
        </p:spPr>
      </p:pic>
      <p:pic>
        <p:nvPicPr>
          <p:cNvPr id="14" name="Picture 13" descr="source_out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6277" y="446582"/>
            <a:ext cx="1371645" cy="925063"/>
          </a:xfrm>
          <a:prstGeom prst="rect">
            <a:avLst/>
          </a:prstGeom>
        </p:spPr>
      </p:pic>
      <p:pic>
        <p:nvPicPr>
          <p:cNvPr id="15" name="Picture 14" descr="mixed_inp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873" y="2705012"/>
            <a:ext cx="1365265" cy="925063"/>
          </a:xfrm>
          <a:prstGeom prst="rect">
            <a:avLst/>
          </a:prstGeom>
        </p:spPr>
      </p:pic>
      <p:pic>
        <p:nvPicPr>
          <p:cNvPr id="16" name="Picture 15" descr="mixed_fea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1822" y="2705012"/>
            <a:ext cx="1378025" cy="925063"/>
          </a:xfrm>
          <a:prstGeom prst="rect">
            <a:avLst/>
          </a:prstGeom>
        </p:spPr>
      </p:pic>
      <p:pic>
        <p:nvPicPr>
          <p:cNvPr id="17" name="Picture 16" descr="mixed_outpu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2657" y="2705012"/>
            <a:ext cx="1371645" cy="925063"/>
          </a:xfrm>
          <a:prstGeom prst="rect">
            <a:avLst/>
          </a:prstGeom>
        </p:spPr>
      </p:pic>
      <p:pic>
        <p:nvPicPr>
          <p:cNvPr id="18" name="Picture 17" descr="target_inpu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873" y="4740151"/>
            <a:ext cx="1365265" cy="931442"/>
          </a:xfrm>
          <a:prstGeom prst="rect">
            <a:avLst/>
          </a:prstGeom>
        </p:spPr>
      </p:pic>
      <p:pic>
        <p:nvPicPr>
          <p:cNvPr id="19" name="Picture 18" descr="target_featur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61822" y="4740151"/>
            <a:ext cx="1378025" cy="931442"/>
          </a:xfrm>
          <a:prstGeom prst="rect">
            <a:avLst/>
          </a:prstGeom>
        </p:spPr>
      </p:pic>
      <p:pic>
        <p:nvPicPr>
          <p:cNvPr id="20" name="Picture 19" descr="target_outpu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2657" y="4740151"/>
            <a:ext cx="1371645" cy="931442"/>
          </a:xfrm>
          <a:prstGeom prst="rect">
            <a:avLst/>
          </a:prstGeom>
        </p:spPr>
      </p:pic>
      <p:cxnSp>
        <p:nvCxnSpPr>
          <p:cNvPr id="21" name="Connector 20"/>
          <p:cNvCxnSpPr/>
          <p:nvPr/>
        </p:nvCxnSpPr>
        <p:spPr>
          <a:xfrm>
            <a:off x="1518379" y="905923"/>
            <a:ext cx="312608" cy="0"/>
          </a:xfrm>
          <a:prstGeom prst="line">
            <a:avLst/>
          </a:prstGeom>
          <a:ln w="19139">
            <a:solidFill>
              <a:srgbClr val="C92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1799088" y="874025"/>
            <a:ext cx="63797" cy="63797"/>
          </a:xfrm>
          <a:prstGeom prst="triangle">
            <a:avLst/>
          </a:prstGeom>
          <a:solidFill>
            <a:srgbClr val="C92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2386025" y="905923"/>
            <a:ext cx="197772" cy="0"/>
          </a:xfrm>
          <a:prstGeom prst="line">
            <a:avLst/>
          </a:prstGeom>
          <a:ln w="19139">
            <a:solidFill>
              <a:srgbClr val="C92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2551898" y="874025"/>
            <a:ext cx="63797" cy="63797"/>
          </a:xfrm>
          <a:prstGeom prst="triangle">
            <a:avLst/>
          </a:prstGeom>
          <a:solidFill>
            <a:srgbClr val="C92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2749670" y="905923"/>
            <a:ext cx="223291" cy="0"/>
          </a:xfrm>
          <a:prstGeom prst="line">
            <a:avLst/>
          </a:prstGeom>
          <a:ln w="19139">
            <a:solidFill>
              <a:srgbClr val="C92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2941063" y="874025"/>
            <a:ext cx="63797" cy="63797"/>
          </a:xfrm>
          <a:prstGeom prst="triangle">
            <a:avLst/>
          </a:prstGeom>
          <a:solidFill>
            <a:srgbClr val="C92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515240" y="905923"/>
            <a:ext cx="433822" cy="0"/>
          </a:xfrm>
          <a:prstGeom prst="line">
            <a:avLst/>
          </a:prstGeom>
          <a:ln w="19139">
            <a:solidFill>
              <a:srgbClr val="C92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3917164" y="874025"/>
            <a:ext cx="63797" cy="63797"/>
          </a:xfrm>
          <a:prstGeom prst="triangle">
            <a:avLst/>
          </a:prstGeom>
          <a:solidFill>
            <a:srgbClr val="C92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20708" y="905923"/>
            <a:ext cx="765569" cy="0"/>
          </a:xfrm>
          <a:prstGeom prst="line">
            <a:avLst/>
          </a:prstGeom>
          <a:ln w="19139">
            <a:solidFill>
              <a:srgbClr val="C926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6054379" y="874025"/>
            <a:ext cx="63797" cy="63797"/>
          </a:xfrm>
          <a:prstGeom prst="triangle">
            <a:avLst/>
          </a:prstGeom>
          <a:solidFill>
            <a:srgbClr val="C92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 rot="16200000">
            <a:off x="5288809" y="874025"/>
            <a:ext cx="63797" cy="63797"/>
          </a:xfrm>
          <a:prstGeom prst="triangle">
            <a:avLst/>
          </a:prstGeom>
          <a:solidFill>
            <a:srgbClr val="C92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1518379" y="3170733"/>
            <a:ext cx="312608" cy="0"/>
          </a:xfrm>
          <a:prstGeom prst="line">
            <a:avLst/>
          </a:prstGeom>
          <a:ln w="19139">
            <a:solidFill>
              <a:srgbClr val="4A9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1799088" y="3138835"/>
            <a:ext cx="63797" cy="63797"/>
          </a:xfrm>
          <a:prstGeom prst="triangle">
            <a:avLst/>
          </a:prstGeom>
          <a:solidFill>
            <a:srgbClr val="4A9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2386025" y="3170733"/>
            <a:ext cx="197772" cy="0"/>
          </a:xfrm>
          <a:prstGeom prst="line">
            <a:avLst/>
          </a:prstGeom>
          <a:ln w="19139">
            <a:solidFill>
              <a:srgbClr val="4A9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5400000">
            <a:off x="2551898" y="3138835"/>
            <a:ext cx="63797" cy="63797"/>
          </a:xfrm>
          <a:prstGeom prst="triangle">
            <a:avLst/>
          </a:prstGeom>
          <a:solidFill>
            <a:srgbClr val="4A9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2749670" y="3170733"/>
            <a:ext cx="223291" cy="0"/>
          </a:xfrm>
          <a:prstGeom prst="line">
            <a:avLst/>
          </a:prstGeom>
          <a:ln w="19139">
            <a:solidFill>
              <a:srgbClr val="4A9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2941063" y="3138835"/>
            <a:ext cx="63797" cy="63797"/>
          </a:xfrm>
          <a:prstGeom prst="triangle">
            <a:avLst/>
          </a:prstGeom>
          <a:solidFill>
            <a:srgbClr val="4A9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3515240" y="3170733"/>
            <a:ext cx="433822" cy="0"/>
          </a:xfrm>
          <a:prstGeom prst="line">
            <a:avLst/>
          </a:prstGeom>
          <a:ln w="19139">
            <a:solidFill>
              <a:srgbClr val="4A9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/>
          <p:cNvSpPr/>
          <p:nvPr/>
        </p:nvSpPr>
        <p:spPr>
          <a:xfrm rot="5400000">
            <a:off x="3917164" y="3138835"/>
            <a:ext cx="63797" cy="63797"/>
          </a:xfrm>
          <a:prstGeom prst="triangle">
            <a:avLst/>
          </a:prstGeom>
          <a:solidFill>
            <a:srgbClr val="4A9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5320708" y="3170733"/>
            <a:ext cx="765569" cy="0"/>
          </a:xfrm>
          <a:prstGeom prst="line">
            <a:avLst/>
          </a:prstGeom>
          <a:ln w="19139">
            <a:solidFill>
              <a:srgbClr val="4A9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5400000">
            <a:off x="6054379" y="3138835"/>
            <a:ext cx="63797" cy="63797"/>
          </a:xfrm>
          <a:prstGeom prst="triangle">
            <a:avLst/>
          </a:prstGeom>
          <a:solidFill>
            <a:srgbClr val="4A9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 rot="16200000">
            <a:off x="5288809" y="3138835"/>
            <a:ext cx="63797" cy="63797"/>
          </a:xfrm>
          <a:prstGeom prst="triangle">
            <a:avLst/>
          </a:prstGeom>
          <a:solidFill>
            <a:srgbClr val="4A9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1518379" y="5205872"/>
            <a:ext cx="312608" cy="0"/>
          </a:xfrm>
          <a:prstGeom prst="line">
            <a:avLst/>
          </a:prstGeom>
          <a:ln w="19139">
            <a:solidFill>
              <a:srgbClr val="1A83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5400000">
            <a:off x="1799088" y="5173974"/>
            <a:ext cx="63797" cy="63797"/>
          </a:xfrm>
          <a:prstGeom prst="triangle">
            <a:avLst/>
          </a:prstGeom>
          <a:solidFill>
            <a:srgbClr val="1A8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2386025" y="5205872"/>
            <a:ext cx="197772" cy="0"/>
          </a:xfrm>
          <a:prstGeom prst="line">
            <a:avLst/>
          </a:prstGeom>
          <a:ln w="19139">
            <a:solidFill>
              <a:srgbClr val="1A83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/>
          <p:cNvSpPr/>
          <p:nvPr/>
        </p:nvSpPr>
        <p:spPr>
          <a:xfrm rot="5400000">
            <a:off x="2551898" y="5173974"/>
            <a:ext cx="63797" cy="63797"/>
          </a:xfrm>
          <a:prstGeom prst="triangle">
            <a:avLst/>
          </a:prstGeom>
          <a:solidFill>
            <a:srgbClr val="1A8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2749670" y="5205872"/>
            <a:ext cx="223291" cy="0"/>
          </a:xfrm>
          <a:prstGeom prst="line">
            <a:avLst/>
          </a:prstGeom>
          <a:ln w="19139">
            <a:solidFill>
              <a:srgbClr val="1A83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Isosceles Triangle 47"/>
          <p:cNvSpPr/>
          <p:nvPr/>
        </p:nvSpPr>
        <p:spPr>
          <a:xfrm rot="5400000">
            <a:off x="2941063" y="5173974"/>
            <a:ext cx="63797" cy="63797"/>
          </a:xfrm>
          <a:prstGeom prst="triangle">
            <a:avLst/>
          </a:prstGeom>
          <a:solidFill>
            <a:srgbClr val="1A8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3515240" y="5205872"/>
            <a:ext cx="433822" cy="0"/>
          </a:xfrm>
          <a:prstGeom prst="line">
            <a:avLst/>
          </a:prstGeom>
          <a:ln w="19139">
            <a:solidFill>
              <a:srgbClr val="1A83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Isosceles Triangle 49"/>
          <p:cNvSpPr/>
          <p:nvPr/>
        </p:nvSpPr>
        <p:spPr>
          <a:xfrm rot="5400000">
            <a:off x="3917164" y="5173974"/>
            <a:ext cx="63797" cy="63797"/>
          </a:xfrm>
          <a:prstGeom prst="triangle">
            <a:avLst/>
          </a:prstGeom>
          <a:solidFill>
            <a:srgbClr val="1A8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5320708" y="5205872"/>
            <a:ext cx="765569" cy="0"/>
          </a:xfrm>
          <a:prstGeom prst="line">
            <a:avLst/>
          </a:prstGeom>
          <a:ln w="19139">
            <a:solidFill>
              <a:srgbClr val="1A83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Isosceles Triangle 51"/>
          <p:cNvSpPr/>
          <p:nvPr/>
        </p:nvSpPr>
        <p:spPr>
          <a:xfrm rot="5400000">
            <a:off x="6054379" y="5173974"/>
            <a:ext cx="63797" cy="63797"/>
          </a:xfrm>
          <a:prstGeom prst="triangle">
            <a:avLst/>
          </a:prstGeom>
          <a:solidFill>
            <a:srgbClr val="1A8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 rot="16200000">
            <a:off x="5288809" y="5173974"/>
            <a:ext cx="63797" cy="63797"/>
          </a:xfrm>
          <a:prstGeom prst="triangle">
            <a:avLst/>
          </a:prstGeom>
          <a:solidFill>
            <a:srgbClr val="1A8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arallelogram 53"/>
          <p:cNvSpPr/>
          <p:nvPr/>
        </p:nvSpPr>
        <p:spPr>
          <a:xfrm>
            <a:off x="1837366" y="446582"/>
            <a:ext cx="548658" cy="912303"/>
          </a:xfrm>
          <a:prstGeom prst="parallelogram">
            <a:avLst/>
          </a:prstGeom>
          <a:solidFill>
            <a:srgbClr val="FFE7D0"/>
          </a:solidFill>
          <a:ln w="31898">
            <a:solidFill>
              <a:srgbClr val="D568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2972961" y="446582"/>
            <a:ext cx="542278" cy="912303"/>
          </a:xfrm>
          <a:prstGeom prst="parallelogram">
            <a:avLst/>
          </a:prstGeom>
          <a:solidFill>
            <a:srgbClr val="FFE7D0"/>
          </a:solidFill>
          <a:ln w="31898">
            <a:solidFill>
              <a:srgbClr val="D568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792708" y="750258"/>
            <a:ext cx="637974" cy="25518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6" b="0" i="1">
                <a:solidFill>
                  <a:srgbClr val="0B0B0B"/>
                </a:solidFill>
                <a:latin typeface="Georgia"/>
              </a:rPr>
              <a:t>Eₛₜᵤ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21923" y="750258"/>
            <a:ext cx="637974" cy="25518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6" b="0" i="1">
                <a:solidFill>
                  <a:srgbClr val="0B0B0B"/>
                </a:solidFill>
                <a:latin typeface="Georgia"/>
              </a:rPr>
              <a:t>Dₛₜᵤ</a:t>
            </a:r>
          </a:p>
        </p:txBody>
      </p:sp>
      <p:sp>
        <p:nvSpPr>
          <p:cNvPr id="58" name="Parallelogram 57"/>
          <p:cNvSpPr/>
          <p:nvPr/>
        </p:nvSpPr>
        <p:spPr>
          <a:xfrm>
            <a:off x="1837366" y="2705012"/>
            <a:ext cx="548658" cy="912303"/>
          </a:xfrm>
          <a:prstGeom prst="parallelogram">
            <a:avLst/>
          </a:prstGeom>
          <a:solidFill>
            <a:srgbClr val="FFE7D0"/>
          </a:solidFill>
          <a:ln w="31898">
            <a:solidFill>
              <a:srgbClr val="D568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Parallelogram 58"/>
          <p:cNvSpPr/>
          <p:nvPr/>
        </p:nvSpPr>
        <p:spPr>
          <a:xfrm>
            <a:off x="2972961" y="2705012"/>
            <a:ext cx="542278" cy="912303"/>
          </a:xfrm>
          <a:prstGeom prst="parallelogram">
            <a:avLst/>
          </a:prstGeom>
          <a:solidFill>
            <a:srgbClr val="FFE7D0"/>
          </a:solidFill>
          <a:ln w="31898">
            <a:solidFill>
              <a:srgbClr val="D568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792708" y="3008688"/>
            <a:ext cx="637974" cy="25518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6" b="0" i="1">
                <a:solidFill>
                  <a:srgbClr val="0B0B0B"/>
                </a:solidFill>
                <a:latin typeface="Georgia"/>
              </a:rPr>
              <a:t>Eₛₜᵤ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21923" y="3008688"/>
            <a:ext cx="637974" cy="25518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6" b="0" i="1">
                <a:solidFill>
                  <a:srgbClr val="0B0B0B"/>
                </a:solidFill>
                <a:latin typeface="Georgia"/>
              </a:rPr>
              <a:t>Dₛₜᵤ</a:t>
            </a:r>
          </a:p>
        </p:txBody>
      </p:sp>
      <p:sp>
        <p:nvSpPr>
          <p:cNvPr id="62" name="Parallelogram 61"/>
          <p:cNvSpPr/>
          <p:nvPr/>
        </p:nvSpPr>
        <p:spPr>
          <a:xfrm>
            <a:off x="1837366" y="4740151"/>
            <a:ext cx="548658" cy="912303"/>
          </a:xfrm>
          <a:prstGeom prst="parallelogram">
            <a:avLst/>
          </a:prstGeom>
          <a:solidFill>
            <a:srgbClr val="CEDBF0"/>
          </a:solidFill>
          <a:ln w="31898">
            <a:solidFill>
              <a:srgbClr val="5C7E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Parallelogram 62"/>
          <p:cNvSpPr/>
          <p:nvPr/>
        </p:nvSpPr>
        <p:spPr>
          <a:xfrm>
            <a:off x="2972961" y="4740151"/>
            <a:ext cx="542278" cy="912303"/>
          </a:xfrm>
          <a:prstGeom prst="parallelogram">
            <a:avLst/>
          </a:prstGeom>
          <a:solidFill>
            <a:srgbClr val="CEDBF0"/>
          </a:solidFill>
          <a:ln w="31898">
            <a:solidFill>
              <a:srgbClr val="5C7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792708" y="5043827"/>
            <a:ext cx="637974" cy="25518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6" b="0" i="1">
                <a:solidFill>
                  <a:srgbClr val="0B0B0B"/>
                </a:solidFill>
                <a:latin typeface="Georgia"/>
              </a:rPr>
              <a:t>Eₜₑₐ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21923" y="5043827"/>
            <a:ext cx="637974" cy="25518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6" b="0" i="1">
                <a:solidFill>
                  <a:srgbClr val="0B0B0B"/>
                </a:solidFill>
                <a:latin typeface="Georgia"/>
              </a:rPr>
              <a:t>Dₜₑₐ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590177" y="599696"/>
            <a:ext cx="159493" cy="159493"/>
          </a:xfrm>
          <a:prstGeom prst="rect">
            <a:avLst/>
          </a:prstGeom>
          <a:solidFill>
            <a:srgbClr val="FFF2BF"/>
          </a:solidFill>
          <a:ln w="1913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590177" y="822987"/>
            <a:ext cx="159493" cy="159493"/>
          </a:xfrm>
          <a:prstGeom prst="rect">
            <a:avLst/>
          </a:prstGeom>
          <a:solidFill>
            <a:srgbClr val="FFF7DF"/>
          </a:solidFill>
          <a:ln w="1913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590177" y="1046278"/>
            <a:ext cx="159493" cy="159493"/>
          </a:xfrm>
          <a:prstGeom prst="rect">
            <a:avLst/>
          </a:prstGeom>
          <a:solidFill>
            <a:srgbClr val="FFF2BF"/>
          </a:solidFill>
          <a:ln w="1913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590177" y="2858126"/>
            <a:ext cx="159493" cy="159493"/>
          </a:xfrm>
          <a:prstGeom prst="rect">
            <a:avLst/>
          </a:prstGeom>
          <a:solidFill>
            <a:srgbClr val="FFF2BF"/>
          </a:solidFill>
          <a:ln w="1913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590177" y="3081417"/>
            <a:ext cx="159493" cy="159493"/>
          </a:xfrm>
          <a:prstGeom prst="rect">
            <a:avLst/>
          </a:prstGeom>
          <a:solidFill>
            <a:srgbClr val="D8F4CE"/>
          </a:solidFill>
          <a:ln w="1913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590177" y="3304708"/>
            <a:ext cx="159493" cy="159493"/>
          </a:xfrm>
          <a:prstGeom prst="rect">
            <a:avLst/>
          </a:prstGeom>
          <a:solidFill>
            <a:srgbClr val="D2F2FB"/>
          </a:solidFill>
          <a:ln w="1913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590177" y="4893265"/>
            <a:ext cx="159493" cy="159493"/>
          </a:xfrm>
          <a:prstGeom prst="rect">
            <a:avLst/>
          </a:prstGeom>
          <a:solidFill>
            <a:srgbClr val="D2F2FB"/>
          </a:solidFill>
          <a:ln w="1913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590177" y="5116556"/>
            <a:ext cx="159493" cy="159493"/>
          </a:xfrm>
          <a:prstGeom prst="rect">
            <a:avLst/>
          </a:prstGeom>
          <a:solidFill>
            <a:srgbClr val="D2F2FB"/>
          </a:solidFill>
          <a:ln w="1913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590177" y="5339847"/>
            <a:ext cx="159493" cy="159493"/>
          </a:xfrm>
          <a:prstGeom prst="rect">
            <a:avLst/>
          </a:prstGeom>
          <a:solidFill>
            <a:srgbClr val="D2F2FB"/>
          </a:solidFill>
          <a:ln w="1913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778329" y="1371645"/>
            <a:ext cx="0" cy="1333367"/>
          </a:xfrm>
          <a:prstGeom prst="line">
            <a:avLst/>
          </a:prstGeom>
          <a:ln w="19139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Isosceles Triangle 75"/>
          <p:cNvSpPr/>
          <p:nvPr/>
        </p:nvSpPr>
        <p:spPr>
          <a:xfrm rot="10800000">
            <a:off x="746430" y="2673113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778329" y="3630075"/>
            <a:ext cx="0" cy="1110076"/>
          </a:xfrm>
          <a:prstGeom prst="line">
            <a:avLst/>
          </a:prstGeom>
          <a:ln w="19139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Isosceles Triangle 77"/>
          <p:cNvSpPr/>
          <p:nvPr/>
        </p:nvSpPr>
        <p:spPr>
          <a:xfrm rot="10800000">
            <a:off x="746430" y="4708252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6775290" y="1371645"/>
            <a:ext cx="0" cy="1333367"/>
          </a:xfrm>
          <a:prstGeom prst="line">
            <a:avLst/>
          </a:prstGeom>
          <a:ln w="19139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Isosceles Triangle 79"/>
          <p:cNvSpPr/>
          <p:nvPr/>
        </p:nvSpPr>
        <p:spPr>
          <a:xfrm rot="10800000">
            <a:off x="6743391" y="2673113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6775290" y="3630075"/>
            <a:ext cx="0" cy="1110076"/>
          </a:xfrm>
          <a:prstGeom prst="line">
            <a:avLst/>
          </a:prstGeom>
          <a:ln w="19139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Isosceles Triangle 81"/>
          <p:cNvSpPr/>
          <p:nvPr/>
        </p:nvSpPr>
        <p:spPr>
          <a:xfrm rot="10800000">
            <a:off x="6743391" y="4708252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2124455" y="1237670"/>
            <a:ext cx="0" cy="1467342"/>
          </a:xfrm>
          <a:prstGeom prst="line">
            <a:avLst/>
          </a:prstGeom>
          <a:ln w="19139">
            <a:solidFill>
              <a:srgbClr val="0B0B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Isosceles Triangle 83"/>
          <p:cNvSpPr/>
          <p:nvPr/>
        </p:nvSpPr>
        <p:spPr>
          <a:xfrm rot="10800000">
            <a:off x="2092556" y="2673113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2124455" y="3630075"/>
            <a:ext cx="0" cy="1110076"/>
          </a:xfrm>
          <a:prstGeom prst="line">
            <a:avLst/>
          </a:prstGeom>
          <a:ln w="19139">
            <a:solidFill>
              <a:srgbClr val="0B0B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Isosceles Triangle 85"/>
          <p:cNvSpPr/>
          <p:nvPr/>
        </p:nvSpPr>
        <p:spPr>
          <a:xfrm rot="10800000">
            <a:off x="2092556" y="4708252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3260050" y="1237670"/>
            <a:ext cx="0" cy="1467342"/>
          </a:xfrm>
          <a:prstGeom prst="line">
            <a:avLst/>
          </a:prstGeom>
          <a:ln w="19139">
            <a:solidFill>
              <a:srgbClr val="0B0B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Isosceles Triangle 87"/>
          <p:cNvSpPr/>
          <p:nvPr/>
        </p:nvSpPr>
        <p:spPr>
          <a:xfrm rot="10800000">
            <a:off x="3228151" y="2673113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3260050" y="3630075"/>
            <a:ext cx="0" cy="1110076"/>
          </a:xfrm>
          <a:prstGeom prst="line">
            <a:avLst/>
          </a:prstGeom>
          <a:ln w="19139">
            <a:solidFill>
              <a:srgbClr val="0B0B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Isosceles Triangle 89"/>
          <p:cNvSpPr/>
          <p:nvPr/>
        </p:nvSpPr>
        <p:spPr>
          <a:xfrm rot="10800000">
            <a:off x="3228151" y="4708252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601316" y="1711047"/>
            <a:ext cx="956961" cy="1913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5" b="0" i="1">
                <a:solidFill>
                  <a:srgbClr val="0B0B0B"/>
                </a:solidFill>
                <a:latin typeface="Arial"/>
              </a:rPr>
              <a:t>Shared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311088" y="1711047"/>
            <a:ext cx="956961" cy="1913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5" b="0" i="1">
                <a:solidFill>
                  <a:srgbClr val="0B0B0B"/>
                </a:solidFill>
                <a:latin typeface="Arial"/>
              </a:rPr>
              <a:t>Shared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633215" y="3877099"/>
            <a:ext cx="829367" cy="1786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5" b="0" i="1">
                <a:solidFill>
                  <a:srgbClr val="0B0B0B"/>
                </a:solidFill>
                <a:latin typeface="Arial"/>
              </a:rPr>
              <a:t>EMA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633215" y="4042972"/>
            <a:ext cx="893164" cy="1786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5" b="0" i="1">
                <a:solidFill>
                  <a:srgbClr val="0B0B0B"/>
                </a:solidFill>
                <a:latin typeface="Arial"/>
              </a:rPr>
              <a:t>update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311088" y="3877099"/>
            <a:ext cx="829367" cy="1786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5" b="0" i="1">
                <a:solidFill>
                  <a:srgbClr val="0B0B0B"/>
                </a:solidFill>
                <a:latin typeface="Arial"/>
              </a:rPr>
              <a:t>EMA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11088" y="4042972"/>
            <a:ext cx="893164" cy="1786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5" b="0" i="1">
                <a:solidFill>
                  <a:srgbClr val="0B0B0B"/>
                </a:solidFill>
                <a:latin typeface="Arial"/>
              </a:rPr>
              <a:t>update</a:t>
            </a:r>
          </a:p>
        </p:txBody>
      </p:sp>
      <p:cxnSp>
        <p:nvCxnSpPr>
          <p:cNvPr id="97" name="Connector 96"/>
          <p:cNvCxnSpPr/>
          <p:nvPr/>
        </p:nvCxnSpPr>
        <p:spPr>
          <a:xfrm flipV="1">
            <a:off x="2679493" y="2118075"/>
            <a:ext cx="0" cy="586937"/>
          </a:xfrm>
          <a:prstGeom prst="line">
            <a:avLst/>
          </a:prstGeom>
          <a:ln w="19139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2679493" y="2118075"/>
            <a:ext cx="5027240" cy="0"/>
          </a:xfrm>
          <a:prstGeom prst="line">
            <a:avLst/>
          </a:prstGeom>
          <a:ln w="19139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Isosceles Triangle 98"/>
          <p:cNvSpPr/>
          <p:nvPr/>
        </p:nvSpPr>
        <p:spPr>
          <a:xfrm rot="5400000">
            <a:off x="7674834" y="2086177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8835" y="1398440"/>
            <a:ext cx="510379" cy="1913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5" b="0" i="1">
                <a:solidFill>
                  <a:srgbClr val="0B0B0B"/>
                </a:solidFill>
                <a:latin typeface="Georgia"/>
              </a:rPr>
              <a:t>xˢ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955442" y="1474997"/>
            <a:ext cx="1403544" cy="1913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5" b="0" i="1">
                <a:solidFill>
                  <a:srgbClr val="0B0B0B"/>
                </a:solidFill>
                <a:latin typeface="Georgia"/>
              </a:rPr>
              <a:t>fₛₜᵤ(xˢ)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532860" y="1487756"/>
            <a:ext cx="510379" cy="1913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5" b="0" i="1">
                <a:solidFill>
                  <a:srgbClr val="0B0B0B"/>
                </a:solidFill>
                <a:latin typeface="Georgia"/>
              </a:rPr>
              <a:t>yˢ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33822" y="3714288"/>
            <a:ext cx="829367" cy="1913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5" b="0" i="1">
                <a:solidFill>
                  <a:srgbClr val="0B0B0B"/>
                </a:solidFill>
                <a:latin typeface="Georgia"/>
              </a:rPr>
              <a:t>xᵐⁱˣ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859746" y="3714288"/>
            <a:ext cx="1594936" cy="1913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5" b="0" i="1">
                <a:solidFill>
                  <a:srgbClr val="0B0B0B"/>
                </a:solidFill>
                <a:latin typeface="Georgia"/>
              </a:rPr>
              <a:t>fₛₜᵤ(xᵐⁱˣ)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366986" y="3714288"/>
            <a:ext cx="829367" cy="1913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5" b="0" i="1">
                <a:solidFill>
                  <a:srgbClr val="0B0B0B"/>
                </a:solidFill>
                <a:latin typeface="Georgia"/>
              </a:rPr>
              <a:t>yᵐⁱˣ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91392" y="5660110"/>
            <a:ext cx="1275949" cy="1913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5" b="1" i="0">
                <a:solidFill>
                  <a:srgbClr val="0B0B0B"/>
                </a:solidFill>
                <a:latin typeface="Arial"/>
              </a:rPr>
              <a:t>Input  xᵗ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955442" y="5755807"/>
            <a:ext cx="1403544" cy="1913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5" b="1" i="0">
                <a:solidFill>
                  <a:srgbClr val="0B0B0B"/>
                </a:solidFill>
                <a:latin typeface="Arial"/>
              </a:rPr>
              <a:t>Prediction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019240" y="5908921"/>
            <a:ext cx="1275949" cy="1913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5" b="0" i="1">
                <a:solidFill>
                  <a:srgbClr val="0B0B0B"/>
                </a:solidFill>
                <a:latin typeface="Georgia"/>
              </a:rPr>
              <a:t>fₜₑₐ(xᵗ)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952303" y="5755807"/>
            <a:ext cx="1658734" cy="1913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5" b="1" i="0">
                <a:solidFill>
                  <a:srgbClr val="0B0B0B"/>
                </a:solidFill>
                <a:latin typeface="Arial"/>
              </a:rPr>
              <a:t>(Pseudo) Label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462683" y="5908921"/>
            <a:ext cx="637974" cy="1913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5" b="0" i="1">
                <a:solidFill>
                  <a:srgbClr val="0B0B0B"/>
                </a:solidFill>
                <a:latin typeface="Georgia"/>
              </a:rPr>
              <a:t>ŷᵗ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486581" y="623428"/>
            <a:ext cx="446582" cy="1786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5" b="0" i="1">
                <a:solidFill>
                  <a:srgbClr val="0B0B0B"/>
                </a:solidFill>
                <a:latin typeface="Georgia"/>
              </a:rPr>
              <a:t>L_s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390885" y="2875479"/>
            <a:ext cx="637974" cy="1786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5" b="0" i="1">
                <a:solidFill>
                  <a:srgbClr val="0B0B0B"/>
                </a:solidFill>
                <a:latin typeface="Georgia"/>
              </a:rPr>
              <a:t>L_mix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486581" y="4885099"/>
            <a:ext cx="446582" cy="1786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5" b="0" i="1">
                <a:solidFill>
                  <a:srgbClr val="0B0B0B"/>
                </a:solidFill>
                <a:latin typeface="Georgia"/>
              </a:rPr>
              <a:t>L_t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595037" y="5102010"/>
            <a:ext cx="255189" cy="1786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0" i="1">
                <a:solidFill>
                  <a:srgbClr val="0B0B0B"/>
                </a:solidFill>
                <a:latin typeface="Georgia"/>
              </a:rPr>
              <a:t>tau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61923" y="131167"/>
            <a:ext cx="3955442" cy="2807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57" b="1" i="0">
                <a:solidFill>
                  <a:srgbClr val="0B0B0B"/>
                </a:solidFill>
                <a:latin typeface="Arial"/>
              </a:rPr>
              <a:t>Additional Structural Priors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923644" y="529518"/>
            <a:ext cx="1263189" cy="1186632"/>
          </a:xfrm>
          <a:prstGeom prst="roundRect">
            <a:avLst/>
          </a:prstGeom>
          <a:solidFill>
            <a:srgbClr val="FFFEF1"/>
          </a:solidFill>
          <a:ln w="12759">
            <a:solidFill>
              <a:srgbClr val="0B0B0B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10717973" y="529518"/>
            <a:ext cx="1263189" cy="1186632"/>
          </a:xfrm>
          <a:prstGeom prst="roundRect">
            <a:avLst/>
          </a:prstGeom>
          <a:solidFill>
            <a:srgbClr val="FFFEF1"/>
          </a:solidFill>
          <a:ln w="12759">
            <a:solidFill>
              <a:srgbClr val="0B0B0B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044860" y="625215"/>
            <a:ext cx="216911" cy="216911"/>
          </a:xfrm>
          <a:prstGeom prst="rect">
            <a:avLst/>
          </a:prstGeom>
          <a:solidFill>
            <a:srgbClr val="FFF2BF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044860" y="568818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427644" y="625215"/>
            <a:ext cx="216911" cy="216911"/>
          </a:xfrm>
          <a:prstGeom prst="rect">
            <a:avLst/>
          </a:prstGeom>
          <a:solidFill>
            <a:srgbClr val="FFF7DF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427644" y="568818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2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810429" y="625215"/>
            <a:ext cx="216911" cy="216911"/>
          </a:xfrm>
          <a:prstGeom prst="rect">
            <a:avLst/>
          </a:prstGeom>
          <a:solidFill>
            <a:srgbClr val="D8F4CE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810429" y="568818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3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044860" y="982480"/>
            <a:ext cx="216911" cy="216911"/>
          </a:xfrm>
          <a:prstGeom prst="rect">
            <a:avLst/>
          </a:prstGeom>
          <a:solidFill>
            <a:srgbClr val="CFF3CF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044860" y="926083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4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427644" y="982480"/>
            <a:ext cx="216911" cy="216911"/>
          </a:xfrm>
          <a:prstGeom prst="rect">
            <a:avLst/>
          </a:prstGeom>
          <a:solidFill>
            <a:srgbClr val="F4D4DC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427644" y="926083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5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810429" y="982480"/>
            <a:ext cx="216911" cy="216911"/>
          </a:xfrm>
          <a:prstGeom prst="rect">
            <a:avLst/>
          </a:prstGeom>
          <a:solidFill>
            <a:srgbClr val="D2F2FB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810429" y="926083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6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044860" y="1339746"/>
            <a:ext cx="216911" cy="216911"/>
          </a:xfrm>
          <a:prstGeom prst="rect">
            <a:avLst/>
          </a:prstGeom>
          <a:solidFill>
            <a:srgbClr val="CCEFF4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044860" y="1283349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7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427644" y="1339746"/>
            <a:ext cx="216911" cy="216911"/>
          </a:xfrm>
          <a:prstGeom prst="rect">
            <a:avLst/>
          </a:prstGeom>
          <a:solidFill>
            <a:srgbClr val="E4EDF1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427644" y="1283349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8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810429" y="1339746"/>
            <a:ext cx="216911" cy="216911"/>
          </a:xfrm>
          <a:prstGeom prst="rect">
            <a:avLst/>
          </a:prstGeom>
          <a:solidFill>
            <a:srgbClr val="F0CFD2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810429" y="1283349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9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8261771" y="733670"/>
            <a:ext cx="165873" cy="0"/>
          </a:xfrm>
          <a:prstGeom prst="line">
            <a:avLst/>
          </a:prstGeom>
          <a:ln w="12759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Isosceles Triangle 136"/>
          <p:cNvSpPr/>
          <p:nvPr/>
        </p:nvSpPr>
        <p:spPr>
          <a:xfrm rot="5400000">
            <a:off x="8395746" y="701772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>
            <a:off x="8644556" y="733670"/>
            <a:ext cx="165873" cy="0"/>
          </a:xfrm>
          <a:prstGeom prst="line">
            <a:avLst/>
          </a:prstGeom>
          <a:ln w="12759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Isosceles Triangle 138"/>
          <p:cNvSpPr/>
          <p:nvPr/>
        </p:nvSpPr>
        <p:spPr>
          <a:xfrm rot="5400000">
            <a:off x="8778530" y="701772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 flipH="1">
            <a:off x="8044860" y="733670"/>
            <a:ext cx="982481" cy="357266"/>
          </a:xfrm>
          <a:prstGeom prst="line">
            <a:avLst/>
          </a:prstGeom>
          <a:ln w="12759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Isosceles Triangle 140"/>
          <p:cNvSpPr/>
          <p:nvPr/>
        </p:nvSpPr>
        <p:spPr>
          <a:xfrm rot="15001014">
            <a:off x="8012961" y="1059037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2" name="Connector 141"/>
          <p:cNvCxnSpPr/>
          <p:nvPr/>
        </p:nvCxnSpPr>
        <p:spPr>
          <a:xfrm>
            <a:off x="8261771" y="1090936"/>
            <a:ext cx="165873" cy="0"/>
          </a:xfrm>
          <a:prstGeom prst="line">
            <a:avLst/>
          </a:prstGeom>
          <a:ln w="12759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Isosceles Triangle 142"/>
          <p:cNvSpPr/>
          <p:nvPr/>
        </p:nvSpPr>
        <p:spPr>
          <a:xfrm rot="5400000">
            <a:off x="8395746" y="1059037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4" name="Connector 143"/>
          <p:cNvCxnSpPr/>
          <p:nvPr/>
        </p:nvCxnSpPr>
        <p:spPr>
          <a:xfrm>
            <a:off x="8644556" y="1090936"/>
            <a:ext cx="165873" cy="0"/>
          </a:xfrm>
          <a:prstGeom prst="line">
            <a:avLst/>
          </a:prstGeom>
          <a:ln w="12759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Isosceles Triangle 144"/>
          <p:cNvSpPr/>
          <p:nvPr/>
        </p:nvSpPr>
        <p:spPr>
          <a:xfrm rot="5400000">
            <a:off x="8778530" y="1059037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6" name="Connector 145"/>
          <p:cNvCxnSpPr/>
          <p:nvPr/>
        </p:nvCxnSpPr>
        <p:spPr>
          <a:xfrm flipH="1">
            <a:off x="8044860" y="1090936"/>
            <a:ext cx="982481" cy="357266"/>
          </a:xfrm>
          <a:prstGeom prst="line">
            <a:avLst/>
          </a:prstGeom>
          <a:ln w="12759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Isosceles Triangle 146"/>
          <p:cNvSpPr/>
          <p:nvPr/>
        </p:nvSpPr>
        <p:spPr>
          <a:xfrm rot="15001014">
            <a:off x="8012961" y="1416303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8" name="Connector 147"/>
          <p:cNvCxnSpPr/>
          <p:nvPr/>
        </p:nvCxnSpPr>
        <p:spPr>
          <a:xfrm>
            <a:off x="8261771" y="1448202"/>
            <a:ext cx="165873" cy="0"/>
          </a:xfrm>
          <a:prstGeom prst="line">
            <a:avLst/>
          </a:prstGeom>
          <a:ln w="12759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Isosceles Triangle 148"/>
          <p:cNvSpPr/>
          <p:nvPr/>
        </p:nvSpPr>
        <p:spPr>
          <a:xfrm rot="5400000">
            <a:off x="8395746" y="1416303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0" name="Connector 149"/>
          <p:cNvCxnSpPr/>
          <p:nvPr/>
        </p:nvCxnSpPr>
        <p:spPr>
          <a:xfrm>
            <a:off x="8644556" y="1448202"/>
            <a:ext cx="165873" cy="0"/>
          </a:xfrm>
          <a:prstGeom prst="line">
            <a:avLst/>
          </a:prstGeom>
          <a:ln w="12759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Isosceles Triangle 150"/>
          <p:cNvSpPr/>
          <p:nvPr/>
        </p:nvSpPr>
        <p:spPr>
          <a:xfrm rot="5400000">
            <a:off x="8778530" y="1416303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0845568" y="625215"/>
            <a:ext cx="216911" cy="216911"/>
          </a:xfrm>
          <a:prstGeom prst="rect">
            <a:avLst/>
          </a:prstGeom>
          <a:solidFill>
            <a:srgbClr val="FFF2BF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0845568" y="568818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1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1228353" y="625215"/>
            <a:ext cx="216911" cy="216911"/>
          </a:xfrm>
          <a:prstGeom prst="rect">
            <a:avLst/>
          </a:prstGeom>
          <a:solidFill>
            <a:srgbClr val="FFF7DF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1228353" y="568818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2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1611138" y="625215"/>
            <a:ext cx="216911" cy="216911"/>
          </a:xfrm>
          <a:prstGeom prst="rect">
            <a:avLst/>
          </a:prstGeom>
          <a:solidFill>
            <a:srgbClr val="D8F4CE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1611138" y="568818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3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0845568" y="982480"/>
            <a:ext cx="216911" cy="216911"/>
          </a:xfrm>
          <a:prstGeom prst="rect">
            <a:avLst/>
          </a:prstGeom>
          <a:solidFill>
            <a:srgbClr val="CFF3CF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0845568" y="926083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4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1228353" y="982480"/>
            <a:ext cx="216911" cy="216911"/>
          </a:xfrm>
          <a:prstGeom prst="rect">
            <a:avLst/>
          </a:prstGeom>
          <a:solidFill>
            <a:srgbClr val="F4D4DC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1228353" y="926083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5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1611138" y="982480"/>
            <a:ext cx="216911" cy="216911"/>
          </a:xfrm>
          <a:prstGeom prst="rect">
            <a:avLst/>
          </a:prstGeom>
          <a:solidFill>
            <a:srgbClr val="D2F2FB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1611138" y="926083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6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10845568" y="1339746"/>
            <a:ext cx="216911" cy="216911"/>
          </a:xfrm>
          <a:prstGeom prst="rect">
            <a:avLst/>
          </a:prstGeom>
          <a:solidFill>
            <a:srgbClr val="CCEFF4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0845568" y="1283349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7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1228353" y="1339746"/>
            <a:ext cx="216911" cy="216911"/>
          </a:xfrm>
          <a:prstGeom prst="rect">
            <a:avLst/>
          </a:prstGeom>
          <a:solidFill>
            <a:srgbClr val="E4EDF1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1228353" y="1283349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8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1611138" y="1339746"/>
            <a:ext cx="216911" cy="216911"/>
          </a:xfrm>
          <a:prstGeom prst="rect">
            <a:avLst/>
          </a:prstGeom>
          <a:solidFill>
            <a:srgbClr val="F0CFD2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1611138" y="1283349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9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10954024" y="842126"/>
            <a:ext cx="0" cy="140354"/>
          </a:xfrm>
          <a:prstGeom prst="line">
            <a:avLst/>
          </a:prstGeom>
          <a:ln w="12759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Isosceles Triangle 170"/>
          <p:cNvSpPr/>
          <p:nvPr/>
        </p:nvSpPr>
        <p:spPr>
          <a:xfrm rot="10800000">
            <a:off x="10922125" y="950582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2" name="Connector 171"/>
          <p:cNvCxnSpPr/>
          <p:nvPr/>
        </p:nvCxnSpPr>
        <p:spPr>
          <a:xfrm>
            <a:off x="10954024" y="1199392"/>
            <a:ext cx="0" cy="140354"/>
          </a:xfrm>
          <a:prstGeom prst="line">
            <a:avLst/>
          </a:prstGeom>
          <a:ln w="12759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Isosceles Triangle 172"/>
          <p:cNvSpPr/>
          <p:nvPr/>
        </p:nvSpPr>
        <p:spPr>
          <a:xfrm rot="10800000">
            <a:off x="10922125" y="1307847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4" name="Connector 173"/>
          <p:cNvCxnSpPr/>
          <p:nvPr/>
        </p:nvCxnSpPr>
        <p:spPr>
          <a:xfrm>
            <a:off x="11336809" y="842126"/>
            <a:ext cx="0" cy="140354"/>
          </a:xfrm>
          <a:prstGeom prst="line">
            <a:avLst/>
          </a:prstGeom>
          <a:ln w="12759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Isosceles Triangle 174"/>
          <p:cNvSpPr/>
          <p:nvPr/>
        </p:nvSpPr>
        <p:spPr>
          <a:xfrm rot="10800000">
            <a:off x="11304910" y="950582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6" name="Connector 175"/>
          <p:cNvCxnSpPr/>
          <p:nvPr/>
        </p:nvCxnSpPr>
        <p:spPr>
          <a:xfrm>
            <a:off x="11336809" y="1199392"/>
            <a:ext cx="0" cy="140354"/>
          </a:xfrm>
          <a:prstGeom prst="line">
            <a:avLst/>
          </a:prstGeom>
          <a:ln w="12759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Isosceles Triangle 176"/>
          <p:cNvSpPr/>
          <p:nvPr/>
        </p:nvSpPr>
        <p:spPr>
          <a:xfrm rot="10800000">
            <a:off x="11304910" y="1307847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8" name="Connector 177"/>
          <p:cNvCxnSpPr/>
          <p:nvPr/>
        </p:nvCxnSpPr>
        <p:spPr>
          <a:xfrm>
            <a:off x="11719593" y="842126"/>
            <a:ext cx="0" cy="140354"/>
          </a:xfrm>
          <a:prstGeom prst="line">
            <a:avLst/>
          </a:prstGeom>
          <a:ln w="12759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Isosceles Triangle 178"/>
          <p:cNvSpPr/>
          <p:nvPr/>
        </p:nvSpPr>
        <p:spPr>
          <a:xfrm rot="10800000">
            <a:off x="11687695" y="950582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0" name="Connector 179"/>
          <p:cNvCxnSpPr/>
          <p:nvPr/>
        </p:nvCxnSpPr>
        <p:spPr>
          <a:xfrm>
            <a:off x="11719593" y="1199392"/>
            <a:ext cx="0" cy="140354"/>
          </a:xfrm>
          <a:prstGeom prst="line">
            <a:avLst/>
          </a:prstGeom>
          <a:ln w="12759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Isosceles Triangle 180"/>
          <p:cNvSpPr/>
          <p:nvPr/>
        </p:nvSpPr>
        <p:spPr>
          <a:xfrm rot="10800000">
            <a:off x="11687695" y="1307847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2" name="Connector 181"/>
          <p:cNvCxnSpPr/>
          <p:nvPr/>
        </p:nvCxnSpPr>
        <p:spPr>
          <a:xfrm>
            <a:off x="10954024" y="842126"/>
            <a:ext cx="382785" cy="140354"/>
          </a:xfrm>
          <a:prstGeom prst="line">
            <a:avLst/>
          </a:prstGeom>
          <a:ln w="12759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Isosceles Triangle 182"/>
          <p:cNvSpPr/>
          <p:nvPr/>
        </p:nvSpPr>
        <p:spPr>
          <a:xfrm rot="6608178">
            <a:off x="11304910" y="950582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4" name="Connector 183"/>
          <p:cNvCxnSpPr/>
          <p:nvPr/>
        </p:nvCxnSpPr>
        <p:spPr>
          <a:xfrm flipH="1">
            <a:off x="11336809" y="842126"/>
            <a:ext cx="382784" cy="140354"/>
          </a:xfrm>
          <a:prstGeom prst="line">
            <a:avLst/>
          </a:prstGeom>
          <a:ln w="12759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Isosceles Triangle 184"/>
          <p:cNvSpPr/>
          <p:nvPr/>
        </p:nvSpPr>
        <p:spPr>
          <a:xfrm rot="14991822">
            <a:off x="11304910" y="950582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6" name="Connector 185"/>
          <p:cNvCxnSpPr/>
          <p:nvPr/>
        </p:nvCxnSpPr>
        <p:spPr>
          <a:xfrm>
            <a:off x="9186834" y="1122835"/>
            <a:ext cx="1524760" cy="0"/>
          </a:xfrm>
          <a:prstGeom prst="line">
            <a:avLst/>
          </a:prstGeom>
          <a:ln w="15949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Isosceles Triangle 186"/>
          <p:cNvSpPr/>
          <p:nvPr/>
        </p:nvSpPr>
        <p:spPr>
          <a:xfrm rot="5400000">
            <a:off x="10679695" y="1090936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Isosceles Triangle 187"/>
          <p:cNvSpPr/>
          <p:nvPr/>
        </p:nvSpPr>
        <p:spPr>
          <a:xfrm rot="16200000">
            <a:off x="9154935" y="1090936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8918885" y="795681"/>
            <a:ext cx="2041518" cy="1786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5" b="0" i="1">
                <a:solidFill>
                  <a:srgbClr val="0B0B0B"/>
                </a:solidFill>
                <a:latin typeface="Georgia"/>
              </a:rPr>
              <a:t>L_permutation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8855087" y="1180253"/>
            <a:ext cx="2169113" cy="15949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4" b="1" i="0">
                <a:solidFill>
                  <a:srgbClr val="0B0B0B"/>
                </a:solidFill>
                <a:latin typeface="Arial"/>
              </a:rPr>
              <a:t>Permutation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8855087" y="1346126"/>
            <a:ext cx="2169113" cy="15949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4" b="1" i="0">
                <a:solidFill>
                  <a:srgbClr val="0B0B0B"/>
                </a:solidFill>
                <a:latin typeface="Arial"/>
              </a:rPr>
              <a:t>Invariance Prior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757771" y="1697012"/>
            <a:ext cx="1594936" cy="15949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4" b="1" i="0">
                <a:solidFill>
                  <a:srgbClr val="0B0B0B"/>
                </a:solidFill>
                <a:latin typeface="Arial"/>
              </a:rPr>
              <a:t>Hilbert curves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0552100" y="1697012"/>
            <a:ext cx="1594936" cy="15949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4" b="1" i="0">
                <a:solidFill>
                  <a:srgbClr val="0B0B0B"/>
                </a:solidFill>
                <a:latin typeface="Arial"/>
              </a:rPr>
              <a:t>Z-order curves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7764151" y="1977721"/>
            <a:ext cx="216911" cy="216911"/>
          </a:xfrm>
          <a:prstGeom prst="rect">
            <a:avLst/>
          </a:prstGeom>
          <a:solidFill>
            <a:srgbClr val="FFF2BF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7764151" y="1921324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1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7987442" y="1977721"/>
            <a:ext cx="216911" cy="216911"/>
          </a:xfrm>
          <a:prstGeom prst="rect">
            <a:avLst/>
          </a:prstGeom>
          <a:solidFill>
            <a:srgbClr val="FFF7DF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7987442" y="1921324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2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8210733" y="1977721"/>
            <a:ext cx="216911" cy="216911"/>
          </a:xfrm>
          <a:prstGeom prst="rect">
            <a:avLst/>
          </a:prstGeom>
          <a:solidFill>
            <a:srgbClr val="CFF3CF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8210733" y="1921324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4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8434024" y="1977721"/>
            <a:ext cx="216911" cy="216911"/>
          </a:xfrm>
          <a:prstGeom prst="rect">
            <a:avLst/>
          </a:prstGeom>
          <a:solidFill>
            <a:srgbClr val="D8F4CE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8434024" y="1921324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3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8657315" y="1977721"/>
            <a:ext cx="216911" cy="216911"/>
          </a:xfrm>
          <a:prstGeom prst="rect">
            <a:avLst/>
          </a:prstGeom>
          <a:solidFill>
            <a:srgbClr val="F4D4DC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8657315" y="1921324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5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8880606" y="1977721"/>
            <a:ext cx="216911" cy="216911"/>
          </a:xfrm>
          <a:prstGeom prst="rect">
            <a:avLst/>
          </a:prstGeom>
          <a:solidFill>
            <a:srgbClr val="CCEFF4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880606" y="1921324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7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9103897" y="1977721"/>
            <a:ext cx="216911" cy="216911"/>
          </a:xfrm>
          <a:prstGeom prst="rect">
            <a:avLst/>
          </a:prstGeom>
          <a:solidFill>
            <a:srgbClr val="D2F2FB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9103897" y="1921324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6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9327189" y="1977721"/>
            <a:ext cx="216911" cy="216911"/>
          </a:xfrm>
          <a:prstGeom prst="rect">
            <a:avLst/>
          </a:prstGeom>
          <a:solidFill>
            <a:srgbClr val="E4EDF1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9327189" y="1921324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8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9550480" y="1977721"/>
            <a:ext cx="216911" cy="216911"/>
          </a:xfrm>
          <a:prstGeom prst="rect">
            <a:avLst/>
          </a:prstGeom>
          <a:solidFill>
            <a:srgbClr val="F0CFD2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9550480" y="1921324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9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10118277" y="1977721"/>
            <a:ext cx="216911" cy="216911"/>
          </a:xfrm>
          <a:prstGeom prst="rect">
            <a:avLst/>
          </a:prstGeom>
          <a:solidFill>
            <a:srgbClr val="FFF2BF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10118277" y="1921324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1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10341568" y="1977721"/>
            <a:ext cx="216911" cy="216911"/>
          </a:xfrm>
          <a:prstGeom prst="rect">
            <a:avLst/>
          </a:prstGeom>
          <a:solidFill>
            <a:srgbClr val="CFF3CF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10341568" y="1921324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4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10564859" y="1977721"/>
            <a:ext cx="216911" cy="216911"/>
          </a:xfrm>
          <a:prstGeom prst="rect">
            <a:avLst/>
          </a:prstGeom>
          <a:solidFill>
            <a:srgbClr val="CCEFF4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10564859" y="1921324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7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10788151" y="1977721"/>
            <a:ext cx="216911" cy="216911"/>
          </a:xfrm>
          <a:prstGeom prst="rect">
            <a:avLst/>
          </a:prstGeom>
          <a:solidFill>
            <a:srgbClr val="FFF7DF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10788151" y="1921324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2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11011442" y="1977721"/>
            <a:ext cx="216911" cy="216911"/>
          </a:xfrm>
          <a:prstGeom prst="rect">
            <a:avLst/>
          </a:prstGeom>
          <a:solidFill>
            <a:srgbClr val="F4D4DC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11011442" y="1921324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5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1234733" y="1977721"/>
            <a:ext cx="216911" cy="216911"/>
          </a:xfrm>
          <a:prstGeom prst="rect">
            <a:avLst/>
          </a:prstGeom>
          <a:solidFill>
            <a:srgbClr val="E4EDF1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1234733" y="1921324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8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11458024" y="1977721"/>
            <a:ext cx="216911" cy="216911"/>
          </a:xfrm>
          <a:prstGeom prst="rect">
            <a:avLst/>
          </a:prstGeom>
          <a:solidFill>
            <a:srgbClr val="D8F4CE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11458024" y="1921324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3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11681315" y="1977721"/>
            <a:ext cx="216911" cy="216911"/>
          </a:xfrm>
          <a:prstGeom prst="rect">
            <a:avLst/>
          </a:prstGeom>
          <a:solidFill>
            <a:srgbClr val="D2F2FB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11681315" y="1921324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6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11904606" y="1977721"/>
            <a:ext cx="216911" cy="216911"/>
          </a:xfrm>
          <a:prstGeom prst="rect">
            <a:avLst/>
          </a:prstGeom>
          <a:solidFill>
            <a:srgbClr val="F0CFD2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11904606" y="1921324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9</a:t>
            </a:r>
          </a:p>
        </p:txBody>
      </p:sp>
      <p:cxnSp>
        <p:nvCxnSpPr>
          <p:cNvPr id="230" name="Connector 229"/>
          <p:cNvCxnSpPr/>
          <p:nvPr/>
        </p:nvCxnSpPr>
        <p:spPr>
          <a:xfrm>
            <a:off x="9754632" y="2086177"/>
            <a:ext cx="357265" cy="0"/>
          </a:xfrm>
          <a:prstGeom prst="line">
            <a:avLst/>
          </a:prstGeom>
          <a:ln w="15949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Isosceles Triangle 230"/>
          <p:cNvSpPr/>
          <p:nvPr/>
        </p:nvSpPr>
        <p:spPr>
          <a:xfrm rot="5400000">
            <a:off x="10079999" y="2054278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Isosceles Triangle 231"/>
          <p:cNvSpPr/>
          <p:nvPr/>
        </p:nvSpPr>
        <p:spPr>
          <a:xfrm rot="16200000">
            <a:off x="9722733" y="2054278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ounded Rectangle 232"/>
          <p:cNvSpPr/>
          <p:nvPr/>
        </p:nvSpPr>
        <p:spPr>
          <a:xfrm>
            <a:off x="7961923" y="2622075"/>
            <a:ext cx="1237670" cy="1116455"/>
          </a:xfrm>
          <a:prstGeom prst="roundRect">
            <a:avLst/>
          </a:prstGeom>
          <a:solidFill>
            <a:srgbClr val="FFFEF1"/>
          </a:solidFill>
          <a:ln w="12759">
            <a:solidFill>
              <a:srgbClr val="0B0B0B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ounded Rectangle 233"/>
          <p:cNvSpPr/>
          <p:nvPr/>
        </p:nvSpPr>
        <p:spPr>
          <a:xfrm>
            <a:off x="10456404" y="2258430"/>
            <a:ext cx="1639594" cy="1601316"/>
          </a:xfrm>
          <a:prstGeom prst="roundRect">
            <a:avLst/>
          </a:prstGeom>
          <a:solidFill>
            <a:srgbClr val="FFFEF1"/>
          </a:solidFill>
          <a:ln w="12759">
            <a:solidFill>
              <a:srgbClr val="0B0B0B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7987442" y="2685873"/>
            <a:ext cx="1065417" cy="229670"/>
          </a:xfrm>
          <a:prstGeom prst="rect">
            <a:avLst/>
          </a:prstGeom>
          <a:solidFill>
            <a:srgbClr val="F8F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8063999" y="2698632"/>
            <a:ext cx="216911" cy="210531"/>
          </a:xfrm>
          <a:prstGeom prst="rect">
            <a:avLst/>
          </a:prstGeom>
          <a:solidFill>
            <a:srgbClr val="FFF2BF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8063999" y="2643894"/>
            <a:ext cx="216911" cy="2105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4" b="1" i="0">
                <a:solidFill>
                  <a:srgbClr val="0B0B0B"/>
                </a:solidFill>
                <a:latin typeface="Arial"/>
              </a:rPr>
              <a:t>1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8414885" y="2698632"/>
            <a:ext cx="216911" cy="210531"/>
          </a:xfrm>
          <a:prstGeom prst="rect">
            <a:avLst/>
          </a:prstGeom>
          <a:solidFill>
            <a:srgbClr val="FFF7DF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8414885" y="2643894"/>
            <a:ext cx="216911" cy="2105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4" b="1" i="0">
                <a:solidFill>
                  <a:srgbClr val="0B0B0B"/>
                </a:solidFill>
                <a:latin typeface="Arial"/>
              </a:rPr>
              <a:t>2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8765771" y="2698632"/>
            <a:ext cx="216911" cy="210531"/>
          </a:xfrm>
          <a:prstGeom prst="rect">
            <a:avLst/>
          </a:prstGeom>
          <a:solidFill>
            <a:srgbClr val="D8F4CE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8765771" y="2643894"/>
            <a:ext cx="216911" cy="2105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4" b="1" i="0">
                <a:solidFill>
                  <a:srgbClr val="0B0B0B"/>
                </a:solidFill>
                <a:latin typeface="Arial"/>
              </a:rPr>
              <a:t>3</a:t>
            </a:r>
          </a:p>
        </p:txBody>
      </p:sp>
      <p:cxnSp>
        <p:nvCxnSpPr>
          <p:cNvPr id="242" name="Connector 241"/>
          <p:cNvCxnSpPr/>
          <p:nvPr/>
        </p:nvCxnSpPr>
        <p:spPr>
          <a:xfrm>
            <a:off x="8280910" y="2800708"/>
            <a:ext cx="127595" cy="0"/>
          </a:xfrm>
          <a:prstGeom prst="line">
            <a:avLst/>
          </a:prstGeom>
          <a:ln w="11483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Isosceles Triangle 242"/>
          <p:cNvSpPr/>
          <p:nvPr/>
        </p:nvSpPr>
        <p:spPr>
          <a:xfrm rot="5400000">
            <a:off x="8376606" y="2768809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4" name="Connector 243"/>
          <p:cNvCxnSpPr/>
          <p:nvPr/>
        </p:nvCxnSpPr>
        <p:spPr>
          <a:xfrm>
            <a:off x="8631796" y="2800708"/>
            <a:ext cx="127595" cy="0"/>
          </a:xfrm>
          <a:prstGeom prst="line">
            <a:avLst/>
          </a:prstGeom>
          <a:ln w="11483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Isosceles Triangle 244"/>
          <p:cNvSpPr/>
          <p:nvPr/>
        </p:nvSpPr>
        <p:spPr>
          <a:xfrm rot="5400000">
            <a:off x="8727492" y="2768809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7987442" y="3036759"/>
            <a:ext cx="1065417" cy="229670"/>
          </a:xfrm>
          <a:prstGeom prst="rect">
            <a:avLst/>
          </a:prstGeom>
          <a:solidFill>
            <a:srgbClr val="ECF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8063999" y="3049518"/>
            <a:ext cx="216911" cy="210531"/>
          </a:xfrm>
          <a:prstGeom prst="rect">
            <a:avLst/>
          </a:prstGeom>
          <a:solidFill>
            <a:srgbClr val="CFF3CF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8063999" y="2994780"/>
            <a:ext cx="216911" cy="2105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4" b="1" i="0">
                <a:solidFill>
                  <a:srgbClr val="0B0B0B"/>
                </a:solidFill>
                <a:latin typeface="Arial"/>
              </a:rPr>
              <a:t>4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8414885" y="3049518"/>
            <a:ext cx="216911" cy="210531"/>
          </a:xfrm>
          <a:prstGeom prst="rect">
            <a:avLst/>
          </a:prstGeom>
          <a:solidFill>
            <a:srgbClr val="F4D4DC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8414885" y="2994780"/>
            <a:ext cx="216911" cy="2105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4" b="1" i="0">
                <a:solidFill>
                  <a:srgbClr val="0B0B0B"/>
                </a:solidFill>
                <a:latin typeface="Arial"/>
              </a:rPr>
              <a:t>5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8765771" y="3049518"/>
            <a:ext cx="216911" cy="210531"/>
          </a:xfrm>
          <a:prstGeom prst="rect">
            <a:avLst/>
          </a:prstGeom>
          <a:solidFill>
            <a:srgbClr val="D2F2FB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8765771" y="2994780"/>
            <a:ext cx="216911" cy="2105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4" b="1" i="0">
                <a:solidFill>
                  <a:srgbClr val="0B0B0B"/>
                </a:solidFill>
                <a:latin typeface="Arial"/>
              </a:rPr>
              <a:t>6</a:t>
            </a:r>
          </a:p>
        </p:txBody>
      </p:sp>
      <p:cxnSp>
        <p:nvCxnSpPr>
          <p:cNvPr id="253" name="Connector 252"/>
          <p:cNvCxnSpPr/>
          <p:nvPr/>
        </p:nvCxnSpPr>
        <p:spPr>
          <a:xfrm>
            <a:off x="8280910" y="3151594"/>
            <a:ext cx="127595" cy="0"/>
          </a:xfrm>
          <a:prstGeom prst="line">
            <a:avLst/>
          </a:prstGeom>
          <a:ln w="11483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Isosceles Triangle 253"/>
          <p:cNvSpPr/>
          <p:nvPr/>
        </p:nvSpPr>
        <p:spPr>
          <a:xfrm rot="5400000">
            <a:off x="8376606" y="3119695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5" name="Connector 254"/>
          <p:cNvCxnSpPr/>
          <p:nvPr/>
        </p:nvCxnSpPr>
        <p:spPr>
          <a:xfrm>
            <a:off x="8631796" y="3151594"/>
            <a:ext cx="127595" cy="0"/>
          </a:xfrm>
          <a:prstGeom prst="line">
            <a:avLst/>
          </a:prstGeom>
          <a:ln w="11483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Isosceles Triangle 255"/>
          <p:cNvSpPr/>
          <p:nvPr/>
        </p:nvSpPr>
        <p:spPr>
          <a:xfrm rot="5400000">
            <a:off x="8727492" y="3119695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7987442" y="3387645"/>
            <a:ext cx="1065417" cy="229670"/>
          </a:xfrm>
          <a:prstGeom prst="rect">
            <a:avLst/>
          </a:prstGeom>
          <a:solidFill>
            <a:srgbClr val="E4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8063999" y="3400404"/>
            <a:ext cx="216911" cy="210531"/>
          </a:xfrm>
          <a:prstGeom prst="rect">
            <a:avLst/>
          </a:prstGeom>
          <a:solidFill>
            <a:srgbClr val="CCEFF4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8063999" y="3345666"/>
            <a:ext cx="216911" cy="2105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4" b="1" i="0">
                <a:solidFill>
                  <a:srgbClr val="0B0B0B"/>
                </a:solidFill>
                <a:latin typeface="Arial"/>
              </a:rPr>
              <a:t>7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8414885" y="3400404"/>
            <a:ext cx="216911" cy="210531"/>
          </a:xfrm>
          <a:prstGeom prst="rect">
            <a:avLst/>
          </a:prstGeom>
          <a:solidFill>
            <a:srgbClr val="E4EDF1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8414885" y="3345666"/>
            <a:ext cx="216911" cy="2105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4" b="1" i="0">
                <a:solidFill>
                  <a:srgbClr val="0B0B0B"/>
                </a:solidFill>
                <a:latin typeface="Arial"/>
              </a:rPr>
              <a:t>8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8765771" y="3400404"/>
            <a:ext cx="216911" cy="210531"/>
          </a:xfrm>
          <a:prstGeom prst="rect">
            <a:avLst/>
          </a:prstGeom>
          <a:solidFill>
            <a:srgbClr val="F0CFD2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8765771" y="3345666"/>
            <a:ext cx="216911" cy="2105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4" b="1" i="0">
                <a:solidFill>
                  <a:srgbClr val="0B0B0B"/>
                </a:solidFill>
                <a:latin typeface="Arial"/>
              </a:rPr>
              <a:t>9</a:t>
            </a:r>
          </a:p>
        </p:txBody>
      </p:sp>
      <p:cxnSp>
        <p:nvCxnSpPr>
          <p:cNvPr id="264" name="Connector 263"/>
          <p:cNvCxnSpPr/>
          <p:nvPr/>
        </p:nvCxnSpPr>
        <p:spPr>
          <a:xfrm>
            <a:off x="8280910" y="3502480"/>
            <a:ext cx="127595" cy="0"/>
          </a:xfrm>
          <a:prstGeom prst="line">
            <a:avLst/>
          </a:prstGeom>
          <a:ln w="11483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5" name="Isosceles Triangle 264"/>
          <p:cNvSpPr/>
          <p:nvPr/>
        </p:nvSpPr>
        <p:spPr>
          <a:xfrm rot="5400000">
            <a:off x="8376606" y="3470581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6" name="Connector 265"/>
          <p:cNvCxnSpPr/>
          <p:nvPr/>
        </p:nvCxnSpPr>
        <p:spPr>
          <a:xfrm>
            <a:off x="8631796" y="3502480"/>
            <a:ext cx="127595" cy="0"/>
          </a:xfrm>
          <a:prstGeom prst="line">
            <a:avLst/>
          </a:prstGeom>
          <a:ln w="11483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Isosceles Triangle 266"/>
          <p:cNvSpPr/>
          <p:nvPr/>
        </p:nvSpPr>
        <p:spPr>
          <a:xfrm rot="5400000">
            <a:off x="8727492" y="3470581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8" name="Connector 267"/>
          <p:cNvCxnSpPr/>
          <p:nvPr/>
        </p:nvCxnSpPr>
        <p:spPr>
          <a:xfrm>
            <a:off x="10443644" y="3853366"/>
            <a:ext cx="1588557" cy="0"/>
          </a:xfrm>
          <a:prstGeom prst="line">
            <a:avLst/>
          </a:prstGeom>
          <a:ln w="12759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Isosceles Triangle 268"/>
          <p:cNvSpPr/>
          <p:nvPr/>
        </p:nvSpPr>
        <p:spPr>
          <a:xfrm rot="5400000">
            <a:off x="12000302" y="3821468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0" name="Connector 269"/>
          <p:cNvCxnSpPr/>
          <p:nvPr/>
        </p:nvCxnSpPr>
        <p:spPr>
          <a:xfrm flipV="1">
            <a:off x="10443644" y="2354126"/>
            <a:ext cx="0" cy="1499240"/>
          </a:xfrm>
          <a:prstGeom prst="line">
            <a:avLst/>
          </a:prstGeom>
          <a:ln w="12759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1" name="Isosceles Triangle 270"/>
          <p:cNvSpPr/>
          <p:nvPr/>
        </p:nvSpPr>
        <p:spPr>
          <a:xfrm>
            <a:off x="10411745" y="2322227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2" name="Connector 271"/>
          <p:cNvCxnSpPr/>
          <p:nvPr/>
        </p:nvCxnSpPr>
        <p:spPr>
          <a:xfrm flipH="1">
            <a:off x="10092758" y="3853366"/>
            <a:ext cx="350886" cy="216912"/>
          </a:xfrm>
          <a:prstGeom prst="line">
            <a:avLst/>
          </a:prstGeom>
          <a:ln w="12759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Isosceles Triangle 272"/>
          <p:cNvSpPr/>
          <p:nvPr/>
        </p:nvSpPr>
        <p:spPr>
          <a:xfrm rot="14296584">
            <a:off x="10060859" y="4038379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12051340" y="3693873"/>
            <a:ext cx="191392" cy="15949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4" b="1" i="0">
                <a:solidFill>
                  <a:srgbClr val="0B0B0B"/>
                </a:solidFill>
                <a:latin typeface="Arial"/>
              </a:rPr>
              <a:t>x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10245872" y="2245670"/>
            <a:ext cx="191392" cy="15949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4" b="1" i="0">
                <a:solidFill>
                  <a:srgbClr val="0B0B0B"/>
                </a:solidFill>
                <a:latin typeface="Arial"/>
              </a:rPr>
              <a:t>y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10322429" y="3904404"/>
            <a:ext cx="191392" cy="15949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4" b="1" i="0">
                <a:solidFill>
                  <a:srgbClr val="0B0B0B"/>
                </a:solidFill>
                <a:latin typeface="Arial"/>
              </a:rPr>
              <a:t>z</a:t>
            </a:r>
          </a:p>
        </p:txBody>
      </p:sp>
      <p:sp>
        <p:nvSpPr>
          <p:cNvPr id="277" name="Oval 276"/>
          <p:cNvSpPr/>
          <p:nvPr/>
        </p:nvSpPr>
        <p:spPr>
          <a:xfrm>
            <a:off x="10462783" y="2366885"/>
            <a:ext cx="1633215" cy="1199392"/>
          </a:xfrm>
          <a:prstGeom prst="ellipse">
            <a:avLst/>
          </a:prstGeom>
          <a:solidFill>
            <a:srgbClr val="F7F2E0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0686075" y="2532759"/>
            <a:ext cx="1186632" cy="867645"/>
          </a:xfrm>
          <a:prstGeom prst="ellipse">
            <a:avLst/>
          </a:prstGeom>
          <a:noFill/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0973163" y="2736911"/>
            <a:ext cx="612455" cy="459341"/>
          </a:xfrm>
          <a:prstGeom prst="ellipse">
            <a:avLst/>
          </a:prstGeom>
          <a:noFill/>
          <a:ln w="12759">
            <a:solidFill>
              <a:srgbClr val="0B0B0B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10717973" y="2622075"/>
            <a:ext cx="216911" cy="216911"/>
          </a:xfrm>
          <a:prstGeom prst="rect">
            <a:avLst/>
          </a:prstGeom>
          <a:solidFill>
            <a:srgbClr val="FFF2BF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10717973" y="2565678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1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11215594" y="2622075"/>
            <a:ext cx="216911" cy="216911"/>
          </a:xfrm>
          <a:prstGeom prst="rect">
            <a:avLst/>
          </a:prstGeom>
          <a:solidFill>
            <a:srgbClr val="FFF7DF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11215594" y="2565678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2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11719593" y="2622075"/>
            <a:ext cx="216911" cy="216911"/>
          </a:xfrm>
          <a:prstGeom prst="rect">
            <a:avLst/>
          </a:prstGeom>
          <a:solidFill>
            <a:srgbClr val="D8F4CE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11719593" y="2565678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3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10845568" y="2972961"/>
            <a:ext cx="216911" cy="216911"/>
          </a:xfrm>
          <a:prstGeom prst="rect">
            <a:avLst/>
          </a:prstGeom>
          <a:solidFill>
            <a:srgbClr val="CFF3CF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10845568" y="2916564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4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11215594" y="2972961"/>
            <a:ext cx="216911" cy="216911"/>
          </a:xfrm>
          <a:prstGeom prst="rect">
            <a:avLst/>
          </a:prstGeom>
          <a:solidFill>
            <a:srgbClr val="F4D4DC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11215594" y="2916564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5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11598378" y="2972961"/>
            <a:ext cx="216911" cy="216911"/>
          </a:xfrm>
          <a:prstGeom prst="rect">
            <a:avLst/>
          </a:prstGeom>
          <a:solidFill>
            <a:srgbClr val="D2F2FB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11598378" y="2916564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6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10717973" y="3323847"/>
            <a:ext cx="216911" cy="216911"/>
          </a:xfrm>
          <a:prstGeom prst="rect">
            <a:avLst/>
          </a:prstGeom>
          <a:solidFill>
            <a:srgbClr val="CCEFF4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10717973" y="3267450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7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11215594" y="3323847"/>
            <a:ext cx="216911" cy="216911"/>
          </a:xfrm>
          <a:prstGeom prst="rect">
            <a:avLst/>
          </a:prstGeom>
          <a:solidFill>
            <a:srgbClr val="E4EDF1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11215594" y="3267450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8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11725973" y="3323847"/>
            <a:ext cx="216911" cy="216911"/>
          </a:xfrm>
          <a:prstGeom prst="rect">
            <a:avLst/>
          </a:prstGeom>
          <a:solidFill>
            <a:srgbClr val="F0CFD2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11725973" y="3267450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9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0826429" y="2730531"/>
            <a:ext cx="497620" cy="0"/>
          </a:xfrm>
          <a:prstGeom prst="line">
            <a:avLst/>
          </a:prstGeom>
          <a:ln w="10845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Isosceles Triangle 298"/>
          <p:cNvSpPr/>
          <p:nvPr/>
        </p:nvSpPr>
        <p:spPr>
          <a:xfrm rot="5400000">
            <a:off x="11292150" y="2698632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" name="Connector 299"/>
          <p:cNvCxnSpPr/>
          <p:nvPr/>
        </p:nvCxnSpPr>
        <p:spPr>
          <a:xfrm>
            <a:off x="11324049" y="2730531"/>
            <a:ext cx="504000" cy="0"/>
          </a:xfrm>
          <a:prstGeom prst="line">
            <a:avLst/>
          </a:prstGeom>
          <a:ln w="10845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1" name="Isosceles Triangle 300"/>
          <p:cNvSpPr/>
          <p:nvPr/>
        </p:nvSpPr>
        <p:spPr>
          <a:xfrm rot="5400000">
            <a:off x="11796150" y="2698632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2" name="Connector 301"/>
          <p:cNvCxnSpPr/>
          <p:nvPr/>
        </p:nvCxnSpPr>
        <p:spPr>
          <a:xfrm flipH="1">
            <a:off x="11706834" y="2730531"/>
            <a:ext cx="121215" cy="350886"/>
          </a:xfrm>
          <a:prstGeom prst="line">
            <a:avLst/>
          </a:prstGeom>
          <a:ln w="10845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Isosceles Triangle 302"/>
          <p:cNvSpPr/>
          <p:nvPr/>
        </p:nvSpPr>
        <p:spPr>
          <a:xfrm rot="11943462">
            <a:off x="11674935" y="3049518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4" name="Connector 303"/>
          <p:cNvCxnSpPr/>
          <p:nvPr/>
        </p:nvCxnSpPr>
        <p:spPr>
          <a:xfrm>
            <a:off x="11706834" y="3081417"/>
            <a:ext cx="127595" cy="350886"/>
          </a:xfrm>
          <a:prstGeom prst="line">
            <a:avLst/>
          </a:prstGeom>
          <a:ln w="10845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5" name="Isosceles Triangle 304"/>
          <p:cNvSpPr/>
          <p:nvPr/>
        </p:nvSpPr>
        <p:spPr>
          <a:xfrm rot="9601014">
            <a:off x="11802530" y="3400404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6" name="Connector 305"/>
          <p:cNvCxnSpPr/>
          <p:nvPr/>
        </p:nvCxnSpPr>
        <p:spPr>
          <a:xfrm flipH="1">
            <a:off x="11324049" y="3432303"/>
            <a:ext cx="510380" cy="0"/>
          </a:xfrm>
          <a:prstGeom prst="line">
            <a:avLst/>
          </a:prstGeom>
          <a:ln w="10845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Isosceles Triangle 306"/>
          <p:cNvSpPr/>
          <p:nvPr/>
        </p:nvSpPr>
        <p:spPr>
          <a:xfrm rot="16200000">
            <a:off x="11292150" y="3400404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8" name="Connector 307"/>
          <p:cNvCxnSpPr/>
          <p:nvPr/>
        </p:nvCxnSpPr>
        <p:spPr>
          <a:xfrm flipH="1">
            <a:off x="10826429" y="3432303"/>
            <a:ext cx="497620" cy="0"/>
          </a:xfrm>
          <a:prstGeom prst="line">
            <a:avLst/>
          </a:prstGeom>
          <a:ln w="10845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" name="Isosceles Triangle 308"/>
          <p:cNvSpPr/>
          <p:nvPr/>
        </p:nvSpPr>
        <p:spPr>
          <a:xfrm rot="16200000">
            <a:off x="10794530" y="3400404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0" name="Connector 309"/>
          <p:cNvCxnSpPr/>
          <p:nvPr/>
        </p:nvCxnSpPr>
        <p:spPr>
          <a:xfrm flipV="1">
            <a:off x="10826429" y="3081417"/>
            <a:ext cx="127595" cy="350886"/>
          </a:xfrm>
          <a:prstGeom prst="line">
            <a:avLst/>
          </a:prstGeom>
          <a:ln w="10845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1" name="Isosceles Triangle 310"/>
          <p:cNvSpPr/>
          <p:nvPr/>
        </p:nvSpPr>
        <p:spPr>
          <a:xfrm rot="1198986">
            <a:off x="10922125" y="3049518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2" name="Connector 311"/>
          <p:cNvCxnSpPr/>
          <p:nvPr/>
        </p:nvCxnSpPr>
        <p:spPr>
          <a:xfrm flipH="1" flipV="1">
            <a:off x="10826429" y="2730531"/>
            <a:ext cx="127595" cy="350886"/>
          </a:xfrm>
          <a:prstGeom prst="line">
            <a:avLst/>
          </a:prstGeom>
          <a:ln w="10845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3" name="Isosceles Triangle 312"/>
          <p:cNvSpPr/>
          <p:nvPr/>
        </p:nvSpPr>
        <p:spPr>
          <a:xfrm rot="20401014">
            <a:off x="10794530" y="2698632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4" name="Connector 313"/>
          <p:cNvCxnSpPr/>
          <p:nvPr/>
        </p:nvCxnSpPr>
        <p:spPr>
          <a:xfrm>
            <a:off x="11324049" y="2730531"/>
            <a:ext cx="0" cy="350886"/>
          </a:xfrm>
          <a:prstGeom prst="line">
            <a:avLst/>
          </a:prstGeom>
          <a:ln w="10845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5" name="Isosceles Triangle 314"/>
          <p:cNvSpPr/>
          <p:nvPr/>
        </p:nvSpPr>
        <p:spPr>
          <a:xfrm rot="10800000">
            <a:off x="11292150" y="3049518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6" name="Connector 315"/>
          <p:cNvCxnSpPr/>
          <p:nvPr/>
        </p:nvCxnSpPr>
        <p:spPr>
          <a:xfrm>
            <a:off x="11324049" y="3081417"/>
            <a:ext cx="0" cy="350886"/>
          </a:xfrm>
          <a:prstGeom prst="line">
            <a:avLst/>
          </a:prstGeom>
          <a:ln w="10845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7" name="Isosceles Triangle 316"/>
          <p:cNvSpPr/>
          <p:nvPr/>
        </p:nvSpPr>
        <p:spPr>
          <a:xfrm rot="10800000">
            <a:off x="11292150" y="3400404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8" name="Connector 317"/>
          <p:cNvCxnSpPr/>
          <p:nvPr/>
        </p:nvCxnSpPr>
        <p:spPr>
          <a:xfrm>
            <a:off x="10954024" y="3081417"/>
            <a:ext cx="370025" cy="0"/>
          </a:xfrm>
          <a:prstGeom prst="line">
            <a:avLst/>
          </a:prstGeom>
          <a:ln w="10845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Isosceles Triangle 318"/>
          <p:cNvSpPr/>
          <p:nvPr/>
        </p:nvSpPr>
        <p:spPr>
          <a:xfrm rot="5400000">
            <a:off x="11292150" y="3049518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0" name="Connector 319"/>
          <p:cNvCxnSpPr/>
          <p:nvPr/>
        </p:nvCxnSpPr>
        <p:spPr>
          <a:xfrm>
            <a:off x="11324049" y="3081417"/>
            <a:ext cx="382785" cy="0"/>
          </a:xfrm>
          <a:prstGeom prst="line">
            <a:avLst/>
          </a:prstGeom>
          <a:ln w="10845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1" name="Isosceles Triangle 320"/>
          <p:cNvSpPr/>
          <p:nvPr/>
        </p:nvSpPr>
        <p:spPr>
          <a:xfrm rot="5400000">
            <a:off x="11674935" y="3049518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2" name="Connector 321"/>
          <p:cNvCxnSpPr/>
          <p:nvPr/>
        </p:nvCxnSpPr>
        <p:spPr>
          <a:xfrm>
            <a:off x="9314429" y="3100556"/>
            <a:ext cx="1014380" cy="0"/>
          </a:xfrm>
          <a:prstGeom prst="line">
            <a:avLst/>
          </a:prstGeom>
          <a:ln w="15949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Isosceles Triangle 322"/>
          <p:cNvSpPr/>
          <p:nvPr/>
        </p:nvSpPr>
        <p:spPr>
          <a:xfrm rot="5400000">
            <a:off x="10296910" y="3068657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Isosceles Triangle 323"/>
          <p:cNvSpPr/>
          <p:nvPr/>
        </p:nvSpPr>
        <p:spPr>
          <a:xfrm rot="16200000">
            <a:off x="9282530" y="3068657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9059239" y="2722365"/>
            <a:ext cx="1531139" cy="1786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5" b="0" i="1">
                <a:solidFill>
                  <a:srgbClr val="0B0B0B"/>
                </a:solidFill>
                <a:latin typeface="Georgia"/>
              </a:rPr>
              <a:t>L_local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9059239" y="3209012"/>
            <a:ext cx="1531139" cy="15949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4" b="1" i="0">
                <a:solidFill>
                  <a:srgbClr val="0B0B0B"/>
                </a:solidFill>
                <a:latin typeface="Arial"/>
              </a:rPr>
              <a:t>Local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8867847" y="3374885"/>
            <a:ext cx="1913923" cy="15949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4" b="1" i="0">
                <a:solidFill>
                  <a:srgbClr val="0B0B0B"/>
                </a:solidFill>
                <a:latin typeface="Arial"/>
              </a:rPr>
              <a:t>Consistency Prior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7623796" y="3783189"/>
            <a:ext cx="1913923" cy="15949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4" b="1" i="0">
                <a:solidFill>
                  <a:srgbClr val="0B0B0B"/>
                </a:solidFill>
                <a:latin typeface="Arial"/>
              </a:rPr>
              <a:t>Rectangular Partition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10322429" y="3815088"/>
            <a:ext cx="1913923" cy="15949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4" b="1" i="0">
                <a:solidFill>
                  <a:srgbClr val="0B0B0B"/>
                </a:solidFill>
                <a:latin typeface="Arial"/>
              </a:rPr>
              <a:t>Cylindrical Partition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7764151" y="4031999"/>
            <a:ext cx="216911" cy="216911"/>
          </a:xfrm>
          <a:prstGeom prst="rect">
            <a:avLst/>
          </a:prstGeom>
          <a:solidFill>
            <a:srgbClr val="FFF2BF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TextBox 330"/>
          <p:cNvSpPr txBox="1"/>
          <p:nvPr/>
        </p:nvSpPr>
        <p:spPr>
          <a:xfrm>
            <a:off x="7764151" y="3975602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1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7987442" y="4031999"/>
            <a:ext cx="216911" cy="216911"/>
          </a:xfrm>
          <a:prstGeom prst="rect">
            <a:avLst/>
          </a:prstGeom>
          <a:solidFill>
            <a:srgbClr val="FFF7DF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7987442" y="3975602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2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8210733" y="4031999"/>
            <a:ext cx="216911" cy="216911"/>
          </a:xfrm>
          <a:prstGeom prst="rect">
            <a:avLst/>
          </a:prstGeom>
          <a:solidFill>
            <a:srgbClr val="D8F4CE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8210733" y="3975602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3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8434024" y="4031999"/>
            <a:ext cx="216911" cy="216911"/>
          </a:xfrm>
          <a:prstGeom prst="rect">
            <a:avLst/>
          </a:prstGeom>
          <a:solidFill>
            <a:srgbClr val="CFF3CF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8434024" y="3975602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4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8657315" y="4031999"/>
            <a:ext cx="216911" cy="216911"/>
          </a:xfrm>
          <a:prstGeom prst="rect">
            <a:avLst/>
          </a:prstGeom>
          <a:solidFill>
            <a:srgbClr val="F4D4DC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8657315" y="3975602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5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8880606" y="4031999"/>
            <a:ext cx="216911" cy="216911"/>
          </a:xfrm>
          <a:prstGeom prst="rect">
            <a:avLst/>
          </a:prstGeom>
          <a:solidFill>
            <a:srgbClr val="D2F2FB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8880606" y="3975602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6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9103897" y="4031999"/>
            <a:ext cx="216911" cy="216911"/>
          </a:xfrm>
          <a:prstGeom prst="rect">
            <a:avLst/>
          </a:prstGeom>
          <a:solidFill>
            <a:srgbClr val="CCEFF4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TextBox 342"/>
          <p:cNvSpPr txBox="1"/>
          <p:nvPr/>
        </p:nvSpPr>
        <p:spPr>
          <a:xfrm>
            <a:off x="9103897" y="3975602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7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9327189" y="4031999"/>
            <a:ext cx="216911" cy="216911"/>
          </a:xfrm>
          <a:prstGeom prst="rect">
            <a:avLst/>
          </a:prstGeom>
          <a:solidFill>
            <a:srgbClr val="E4EDF1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9327189" y="3975602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8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9550480" y="4031999"/>
            <a:ext cx="216911" cy="216911"/>
          </a:xfrm>
          <a:prstGeom prst="rect">
            <a:avLst/>
          </a:prstGeom>
          <a:solidFill>
            <a:srgbClr val="F0CFD2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TextBox 346"/>
          <p:cNvSpPr txBox="1"/>
          <p:nvPr/>
        </p:nvSpPr>
        <p:spPr>
          <a:xfrm>
            <a:off x="9550480" y="3975602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9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10124657" y="4031999"/>
            <a:ext cx="216911" cy="216911"/>
          </a:xfrm>
          <a:prstGeom prst="rect">
            <a:avLst/>
          </a:prstGeom>
          <a:solidFill>
            <a:srgbClr val="F4D4DC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10124657" y="3975602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5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10347948" y="4031999"/>
            <a:ext cx="216911" cy="216911"/>
          </a:xfrm>
          <a:prstGeom prst="rect">
            <a:avLst/>
          </a:prstGeom>
          <a:solidFill>
            <a:srgbClr val="CFF3CF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TextBox 350"/>
          <p:cNvSpPr txBox="1"/>
          <p:nvPr/>
        </p:nvSpPr>
        <p:spPr>
          <a:xfrm>
            <a:off x="10347948" y="3975602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4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10571239" y="4031999"/>
            <a:ext cx="216911" cy="216911"/>
          </a:xfrm>
          <a:prstGeom prst="rect">
            <a:avLst/>
          </a:prstGeom>
          <a:solidFill>
            <a:srgbClr val="FFF7DF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TextBox 352"/>
          <p:cNvSpPr txBox="1"/>
          <p:nvPr/>
        </p:nvSpPr>
        <p:spPr>
          <a:xfrm>
            <a:off x="10571239" y="3975602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2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10794530" y="4031999"/>
            <a:ext cx="216911" cy="216911"/>
          </a:xfrm>
          <a:prstGeom prst="rect">
            <a:avLst/>
          </a:prstGeom>
          <a:solidFill>
            <a:srgbClr val="D2F2FB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TextBox 354"/>
          <p:cNvSpPr txBox="1"/>
          <p:nvPr/>
        </p:nvSpPr>
        <p:spPr>
          <a:xfrm>
            <a:off x="10794530" y="3975602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6</a:t>
            </a:r>
          </a:p>
        </p:txBody>
      </p:sp>
      <p:sp>
        <p:nvSpPr>
          <p:cNvPr id="356" name="Rectangle 355"/>
          <p:cNvSpPr/>
          <p:nvPr/>
        </p:nvSpPr>
        <p:spPr>
          <a:xfrm>
            <a:off x="11017821" y="4031999"/>
            <a:ext cx="216911" cy="216911"/>
          </a:xfrm>
          <a:prstGeom prst="rect">
            <a:avLst/>
          </a:prstGeom>
          <a:solidFill>
            <a:srgbClr val="E4EDF1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TextBox 356"/>
          <p:cNvSpPr txBox="1"/>
          <p:nvPr/>
        </p:nvSpPr>
        <p:spPr>
          <a:xfrm>
            <a:off x="11017821" y="3975602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8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11241112" y="4031999"/>
            <a:ext cx="216911" cy="216911"/>
          </a:xfrm>
          <a:prstGeom prst="rect">
            <a:avLst/>
          </a:prstGeom>
          <a:solidFill>
            <a:srgbClr val="FFF2BF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TextBox 358"/>
          <p:cNvSpPr txBox="1"/>
          <p:nvPr/>
        </p:nvSpPr>
        <p:spPr>
          <a:xfrm>
            <a:off x="11241112" y="3975602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1</a:t>
            </a:r>
          </a:p>
        </p:txBody>
      </p:sp>
      <p:sp>
        <p:nvSpPr>
          <p:cNvPr id="360" name="Rectangle 359"/>
          <p:cNvSpPr/>
          <p:nvPr/>
        </p:nvSpPr>
        <p:spPr>
          <a:xfrm>
            <a:off x="11464404" y="4031999"/>
            <a:ext cx="216911" cy="216911"/>
          </a:xfrm>
          <a:prstGeom prst="rect">
            <a:avLst/>
          </a:prstGeom>
          <a:solidFill>
            <a:srgbClr val="D8F4CE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TextBox 360"/>
          <p:cNvSpPr txBox="1"/>
          <p:nvPr/>
        </p:nvSpPr>
        <p:spPr>
          <a:xfrm>
            <a:off x="11464404" y="3975602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3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11687695" y="4031999"/>
            <a:ext cx="216911" cy="216911"/>
          </a:xfrm>
          <a:prstGeom prst="rect">
            <a:avLst/>
          </a:prstGeom>
          <a:solidFill>
            <a:srgbClr val="F0CFD2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11687695" y="3975602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9</a:t>
            </a:r>
          </a:p>
        </p:txBody>
      </p:sp>
      <p:sp>
        <p:nvSpPr>
          <p:cNvPr id="364" name="Rectangle 363"/>
          <p:cNvSpPr/>
          <p:nvPr/>
        </p:nvSpPr>
        <p:spPr>
          <a:xfrm>
            <a:off x="11910986" y="4031999"/>
            <a:ext cx="216911" cy="216911"/>
          </a:xfrm>
          <a:prstGeom prst="rect">
            <a:avLst/>
          </a:prstGeom>
          <a:solidFill>
            <a:srgbClr val="CCEFF4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TextBox 364"/>
          <p:cNvSpPr txBox="1"/>
          <p:nvPr/>
        </p:nvSpPr>
        <p:spPr>
          <a:xfrm>
            <a:off x="11910986" y="3975602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7</a:t>
            </a:r>
          </a:p>
        </p:txBody>
      </p:sp>
      <p:cxnSp>
        <p:nvCxnSpPr>
          <p:cNvPr id="366" name="Connector 365"/>
          <p:cNvCxnSpPr/>
          <p:nvPr/>
        </p:nvCxnSpPr>
        <p:spPr>
          <a:xfrm>
            <a:off x="9754632" y="4140455"/>
            <a:ext cx="363645" cy="0"/>
          </a:xfrm>
          <a:prstGeom prst="line">
            <a:avLst/>
          </a:prstGeom>
          <a:ln w="15949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7" name="Isosceles Triangle 366"/>
          <p:cNvSpPr/>
          <p:nvPr/>
        </p:nvSpPr>
        <p:spPr>
          <a:xfrm rot="5400000">
            <a:off x="10086378" y="4108556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Isosceles Triangle 367"/>
          <p:cNvSpPr/>
          <p:nvPr/>
        </p:nvSpPr>
        <p:spPr>
          <a:xfrm rot="16200000">
            <a:off x="9722733" y="4108556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ounded Rectangle 368"/>
          <p:cNvSpPr/>
          <p:nvPr/>
        </p:nvSpPr>
        <p:spPr>
          <a:xfrm>
            <a:off x="7930024" y="4376505"/>
            <a:ext cx="1263189" cy="1244050"/>
          </a:xfrm>
          <a:prstGeom prst="roundRect">
            <a:avLst/>
          </a:prstGeom>
          <a:solidFill>
            <a:srgbClr val="E9EEF4"/>
          </a:solidFill>
          <a:ln w="12759">
            <a:solidFill>
              <a:srgbClr val="0B0B0B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ounded Rectangle 369"/>
          <p:cNvSpPr/>
          <p:nvPr/>
        </p:nvSpPr>
        <p:spPr>
          <a:xfrm>
            <a:off x="10724353" y="4376505"/>
            <a:ext cx="1256810" cy="1244050"/>
          </a:xfrm>
          <a:prstGeom prst="roundRect">
            <a:avLst/>
          </a:prstGeom>
          <a:solidFill>
            <a:srgbClr val="E9EEF4"/>
          </a:solidFill>
          <a:ln w="12759">
            <a:solidFill>
              <a:srgbClr val="0B0B0B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8051239" y="4465822"/>
            <a:ext cx="216911" cy="216911"/>
          </a:xfrm>
          <a:prstGeom prst="rect">
            <a:avLst/>
          </a:prstGeom>
          <a:solidFill>
            <a:srgbClr val="FFF2BF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TextBox 371"/>
          <p:cNvSpPr txBox="1"/>
          <p:nvPr/>
        </p:nvSpPr>
        <p:spPr>
          <a:xfrm>
            <a:off x="8051239" y="4409425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1</a:t>
            </a:r>
          </a:p>
        </p:txBody>
      </p:sp>
      <p:sp>
        <p:nvSpPr>
          <p:cNvPr id="373" name="Rectangle 372"/>
          <p:cNvSpPr/>
          <p:nvPr/>
        </p:nvSpPr>
        <p:spPr>
          <a:xfrm>
            <a:off x="8440404" y="4465822"/>
            <a:ext cx="216911" cy="216911"/>
          </a:xfrm>
          <a:prstGeom prst="rect">
            <a:avLst/>
          </a:prstGeom>
          <a:solidFill>
            <a:srgbClr val="FFF7DF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TextBox 373"/>
          <p:cNvSpPr txBox="1"/>
          <p:nvPr/>
        </p:nvSpPr>
        <p:spPr>
          <a:xfrm>
            <a:off x="8440404" y="4409425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2</a:t>
            </a:r>
          </a:p>
        </p:txBody>
      </p:sp>
      <p:sp>
        <p:nvSpPr>
          <p:cNvPr id="375" name="Rectangle 374"/>
          <p:cNvSpPr/>
          <p:nvPr/>
        </p:nvSpPr>
        <p:spPr>
          <a:xfrm>
            <a:off x="8816809" y="4465822"/>
            <a:ext cx="216911" cy="216911"/>
          </a:xfrm>
          <a:prstGeom prst="rect">
            <a:avLst/>
          </a:prstGeom>
          <a:solidFill>
            <a:srgbClr val="D8F4CE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TextBox 375"/>
          <p:cNvSpPr txBox="1"/>
          <p:nvPr/>
        </p:nvSpPr>
        <p:spPr>
          <a:xfrm>
            <a:off x="8816809" y="4409425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3</a:t>
            </a:r>
          </a:p>
        </p:txBody>
      </p:sp>
      <p:sp>
        <p:nvSpPr>
          <p:cNvPr id="377" name="Rectangle 376"/>
          <p:cNvSpPr/>
          <p:nvPr/>
        </p:nvSpPr>
        <p:spPr>
          <a:xfrm>
            <a:off x="8051239" y="4823088"/>
            <a:ext cx="216911" cy="216911"/>
          </a:xfrm>
          <a:prstGeom prst="rect">
            <a:avLst/>
          </a:prstGeom>
          <a:solidFill>
            <a:srgbClr val="CFF3CF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8051239" y="4766691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4</a:t>
            </a:r>
          </a:p>
        </p:txBody>
      </p:sp>
      <p:sp>
        <p:nvSpPr>
          <p:cNvPr id="379" name="Rectangle 378"/>
          <p:cNvSpPr/>
          <p:nvPr/>
        </p:nvSpPr>
        <p:spPr>
          <a:xfrm>
            <a:off x="8440404" y="4823088"/>
            <a:ext cx="216911" cy="216911"/>
          </a:xfrm>
          <a:prstGeom prst="rect">
            <a:avLst/>
          </a:prstGeom>
          <a:solidFill>
            <a:srgbClr val="F4D4DC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TextBox 379"/>
          <p:cNvSpPr txBox="1"/>
          <p:nvPr/>
        </p:nvSpPr>
        <p:spPr>
          <a:xfrm>
            <a:off x="8440404" y="4766691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5</a:t>
            </a:r>
          </a:p>
        </p:txBody>
      </p:sp>
      <p:sp>
        <p:nvSpPr>
          <p:cNvPr id="381" name="Rectangle 380"/>
          <p:cNvSpPr/>
          <p:nvPr/>
        </p:nvSpPr>
        <p:spPr>
          <a:xfrm>
            <a:off x="8816809" y="4823088"/>
            <a:ext cx="216911" cy="216911"/>
          </a:xfrm>
          <a:prstGeom prst="rect">
            <a:avLst/>
          </a:prstGeom>
          <a:solidFill>
            <a:srgbClr val="D2F2FB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TextBox 381"/>
          <p:cNvSpPr txBox="1"/>
          <p:nvPr/>
        </p:nvSpPr>
        <p:spPr>
          <a:xfrm>
            <a:off x="8816809" y="4766691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6</a:t>
            </a:r>
          </a:p>
        </p:txBody>
      </p:sp>
      <p:sp>
        <p:nvSpPr>
          <p:cNvPr id="383" name="Rectangle 382"/>
          <p:cNvSpPr/>
          <p:nvPr/>
        </p:nvSpPr>
        <p:spPr>
          <a:xfrm>
            <a:off x="8051239" y="5180354"/>
            <a:ext cx="216911" cy="216911"/>
          </a:xfrm>
          <a:prstGeom prst="rect">
            <a:avLst/>
          </a:prstGeom>
          <a:solidFill>
            <a:srgbClr val="CCEFF4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TextBox 383"/>
          <p:cNvSpPr txBox="1"/>
          <p:nvPr/>
        </p:nvSpPr>
        <p:spPr>
          <a:xfrm>
            <a:off x="8051239" y="5123957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7</a:t>
            </a:r>
          </a:p>
        </p:txBody>
      </p:sp>
      <p:sp>
        <p:nvSpPr>
          <p:cNvPr id="385" name="Rectangle 384"/>
          <p:cNvSpPr/>
          <p:nvPr/>
        </p:nvSpPr>
        <p:spPr>
          <a:xfrm>
            <a:off x="8440404" y="5180354"/>
            <a:ext cx="216911" cy="216911"/>
          </a:xfrm>
          <a:prstGeom prst="rect">
            <a:avLst/>
          </a:prstGeom>
          <a:solidFill>
            <a:srgbClr val="E4EDF1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TextBox 385"/>
          <p:cNvSpPr txBox="1"/>
          <p:nvPr/>
        </p:nvSpPr>
        <p:spPr>
          <a:xfrm>
            <a:off x="8440404" y="5123957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8</a:t>
            </a:r>
          </a:p>
        </p:txBody>
      </p:sp>
      <p:sp>
        <p:nvSpPr>
          <p:cNvPr id="387" name="Rectangle 386"/>
          <p:cNvSpPr/>
          <p:nvPr/>
        </p:nvSpPr>
        <p:spPr>
          <a:xfrm>
            <a:off x="8816809" y="5180354"/>
            <a:ext cx="216911" cy="216911"/>
          </a:xfrm>
          <a:prstGeom prst="rect">
            <a:avLst/>
          </a:prstGeom>
          <a:solidFill>
            <a:srgbClr val="F0CFD2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TextBox 387"/>
          <p:cNvSpPr txBox="1"/>
          <p:nvPr/>
        </p:nvSpPr>
        <p:spPr>
          <a:xfrm>
            <a:off x="8816809" y="5123957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9</a:t>
            </a:r>
          </a:p>
        </p:txBody>
      </p:sp>
      <p:cxnSp>
        <p:nvCxnSpPr>
          <p:cNvPr id="389" name="Connector 388"/>
          <p:cNvCxnSpPr/>
          <p:nvPr/>
        </p:nvCxnSpPr>
        <p:spPr>
          <a:xfrm>
            <a:off x="8268151" y="4574278"/>
            <a:ext cx="172253" cy="0"/>
          </a:xfrm>
          <a:prstGeom prst="line">
            <a:avLst/>
          </a:prstGeom>
          <a:ln w="11483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0" name="Isosceles Triangle 389"/>
          <p:cNvSpPr/>
          <p:nvPr/>
        </p:nvSpPr>
        <p:spPr>
          <a:xfrm rot="5400000">
            <a:off x="8408505" y="4542379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1" name="Connector 390"/>
          <p:cNvCxnSpPr/>
          <p:nvPr/>
        </p:nvCxnSpPr>
        <p:spPr>
          <a:xfrm>
            <a:off x="8657315" y="4574278"/>
            <a:ext cx="159494" cy="0"/>
          </a:xfrm>
          <a:prstGeom prst="line">
            <a:avLst/>
          </a:prstGeom>
          <a:ln w="11483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2" name="Isosceles Triangle 391"/>
          <p:cNvSpPr/>
          <p:nvPr/>
        </p:nvSpPr>
        <p:spPr>
          <a:xfrm rot="5400000">
            <a:off x="8784910" y="4542379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3" name="Connector 392"/>
          <p:cNvCxnSpPr/>
          <p:nvPr/>
        </p:nvCxnSpPr>
        <p:spPr>
          <a:xfrm flipH="1">
            <a:off x="8051239" y="4574278"/>
            <a:ext cx="982481" cy="357265"/>
          </a:xfrm>
          <a:prstGeom prst="line">
            <a:avLst/>
          </a:prstGeom>
          <a:ln w="11483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4" name="Isosceles Triangle 393"/>
          <p:cNvSpPr/>
          <p:nvPr/>
        </p:nvSpPr>
        <p:spPr>
          <a:xfrm rot="15001014">
            <a:off x="8019341" y="4899645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5" name="Connector 394"/>
          <p:cNvCxnSpPr/>
          <p:nvPr/>
        </p:nvCxnSpPr>
        <p:spPr>
          <a:xfrm>
            <a:off x="8268151" y="4931543"/>
            <a:ext cx="172253" cy="0"/>
          </a:xfrm>
          <a:prstGeom prst="line">
            <a:avLst/>
          </a:prstGeom>
          <a:ln w="11483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6" name="Isosceles Triangle 395"/>
          <p:cNvSpPr/>
          <p:nvPr/>
        </p:nvSpPr>
        <p:spPr>
          <a:xfrm rot="5400000">
            <a:off x="8408505" y="4899645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7" name="Connector 396"/>
          <p:cNvCxnSpPr/>
          <p:nvPr/>
        </p:nvCxnSpPr>
        <p:spPr>
          <a:xfrm>
            <a:off x="8657315" y="4931543"/>
            <a:ext cx="159494" cy="0"/>
          </a:xfrm>
          <a:prstGeom prst="line">
            <a:avLst/>
          </a:prstGeom>
          <a:ln w="11483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8" name="Isosceles Triangle 397"/>
          <p:cNvSpPr/>
          <p:nvPr/>
        </p:nvSpPr>
        <p:spPr>
          <a:xfrm rot="5400000">
            <a:off x="8784910" y="4899645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9" name="Connector 398"/>
          <p:cNvCxnSpPr/>
          <p:nvPr/>
        </p:nvCxnSpPr>
        <p:spPr>
          <a:xfrm flipH="1">
            <a:off x="8051239" y="4931543"/>
            <a:ext cx="982481" cy="357266"/>
          </a:xfrm>
          <a:prstGeom prst="line">
            <a:avLst/>
          </a:prstGeom>
          <a:ln w="11483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0" name="Isosceles Triangle 399"/>
          <p:cNvSpPr/>
          <p:nvPr/>
        </p:nvSpPr>
        <p:spPr>
          <a:xfrm rot="15001014">
            <a:off x="8019341" y="5256910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1" name="Connector 400"/>
          <p:cNvCxnSpPr/>
          <p:nvPr/>
        </p:nvCxnSpPr>
        <p:spPr>
          <a:xfrm>
            <a:off x="8268151" y="5288809"/>
            <a:ext cx="172253" cy="0"/>
          </a:xfrm>
          <a:prstGeom prst="line">
            <a:avLst/>
          </a:prstGeom>
          <a:ln w="11483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2" name="Isosceles Triangle 401"/>
          <p:cNvSpPr/>
          <p:nvPr/>
        </p:nvSpPr>
        <p:spPr>
          <a:xfrm rot="5400000">
            <a:off x="8408505" y="5256910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3" name="Connector 402"/>
          <p:cNvCxnSpPr/>
          <p:nvPr/>
        </p:nvCxnSpPr>
        <p:spPr>
          <a:xfrm>
            <a:off x="8657315" y="5288809"/>
            <a:ext cx="159494" cy="0"/>
          </a:xfrm>
          <a:prstGeom prst="line">
            <a:avLst/>
          </a:prstGeom>
          <a:ln w="11483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4" name="Isosceles Triangle 403"/>
          <p:cNvSpPr/>
          <p:nvPr/>
        </p:nvSpPr>
        <p:spPr>
          <a:xfrm rot="5400000">
            <a:off x="8784910" y="5256910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10845568" y="4465822"/>
            <a:ext cx="216911" cy="216911"/>
          </a:xfrm>
          <a:prstGeom prst="rect">
            <a:avLst/>
          </a:prstGeom>
          <a:solidFill>
            <a:srgbClr val="FFF2BF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TextBox 405"/>
          <p:cNvSpPr txBox="1"/>
          <p:nvPr/>
        </p:nvSpPr>
        <p:spPr>
          <a:xfrm>
            <a:off x="10845568" y="4409425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1</a:t>
            </a:r>
          </a:p>
        </p:txBody>
      </p:sp>
      <p:sp>
        <p:nvSpPr>
          <p:cNvPr id="407" name="Rectangle 406"/>
          <p:cNvSpPr/>
          <p:nvPr/>
        </p:nvSpPr>
        <p:spPr>
          <a:xfrm>
            <a:off x="11228353" y="4465822"/>
            <a:ext cx="216911" cy="216911"/>
          </a:xfrm>
          <a:prstGeom prst="rect">
            <a:avLst/>
          </a:prstGeom>
          <a:solidFill>
            <a:srgbClr val="FFF7DF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TextBox 407"/>
          <p:cNvSpPr txBox="1"/>
          <p:nvPr/>
        </p:nvSpPr>
        <p:spPr>
          <a:xfrm>
            <a:off x="11228353" y="4409425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2</a:t>
            </a:r>
          </a:p>
        </p:txBody>
      </p:sp>
      <p:sp>
        <p:nvSpPr>
          <p:cNvPr id="409" name="Rectangle 408"/>
          <p:cNvSpPr/>
          <p:nvPr/>
        </p:nvSpPr>
        <p:spPr>
          <a:xfrm>
            <a:off x="11228353" y="4823088"/>
            <a:ext cx="216911" cy="216911"/>
          </a:xfrm>
          <a:prstGeom prst="rect">
            <a:avLst/>
          </a:prstGeom>
          <a:solidFill>
            <a:srgbClr val="F4D4DC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TextBox 409"/>
          <p:cNvSpPr txBox="1"/>
          <p:nvPr/>
        </p:nvSpPr>
        <p:spPr>
          <a:xfrm>
            <a:off x="11228353" y="4766691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5</a:t>
            </a:r>
          </a:p>
        </p:txBody>
      </p:sp>
      <p:sp>
        <p:nvSpPr>
          <p:cNvPr id="411" name="Rectangle 410"/>
          <p:cNvSpPr/>
          <p:nvPr/>
        </p:nvSpPr>
        <p:spPr>
          <a:xfrm>
            <a:off x="11611138" y="4823088"/>
            <a:ext cx="216911" cy="216911"/>
          </a:xfrm>
          <a:prstGeom prst="rect">
            <a:avLst/>
          </a:prstGeom>
          <a:solidFill>
            <a:srgbClr val="D2F2FB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11611138" y="4766691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6</a:t>
            </a:r>
          </a:p>
        </p:txBody>
      </p:sp>
      <p:sp>
        <p:nvSpPr>
          <p:cNvPr id="413" name="Rectangle 412"/>
          <p:cNvSpPr/>
          <p:nvPr/>
        </p:nvSpPr>
        <p:spPr>
          <a:xfrm>
            <a:off x="10845568" y="5180354"/>
            <a:ext cx="216911" cy="216911"/>
          </a:xfrm>
          <a:prstGeom prst="rect">
            <a:avLst/>
          </a:prstGeom>
          <a:solidFill>
            <a:srgbClr val="CCEFF4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TextBox 413"/>
          <p:cNvSpPr txBox="1"/>
          <p:nvPr/>
        </p:nvSpPr>
        <p:spPr>
          <a:xfrm>
            <a:off x="10845568" y="5123957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7</a:t>
            </a:r>
          </a:p>
        </p:txBody>
      </p:sp>
      <p:sp>
        <p:nvSpPr>
          <p:cNvPr id="415" name="Rectangle 414"/>
          <p:cNvSpPr/>
          <p:nvPr/>
        </p:nvSpPr>
        <p:spPr>
          <a:xfrm>
            <a:off x="11611138" y="5180354"/>
            <a:ext cx="216911" cy="216911"/>
          </a:xfrm>
          <a:prstGeom prst="rect">
            <a:avLst/>
          </a:prstGeom>
          <a:solidFill>
            <a:srgbClr val="F0CFD2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11611138" y="5123957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9</a:t>
            </a:r>
          </a:p>
        </p:txBody>
      </p:sp>
      <p:sp>
        <p:nvSpPr>
          <p:cNvPr id="417" name="Rectangle 416"/>
          <p:cNvSpPr/>
          <p:nvPr/>
        </p:nvSpPr>
        <p:spPr>
          <a:xfrm>
            <a:off x="11611138" y="4465822"/>
            <a:ext cx="216911" cy="216911"/>
          </a:xfrm>
          <a:prstGeom prst="rect">
            <a:avLst/>
          </a:prstGeom>
          <a:noFill/>
          <a:ln w="12759">
            <a:solidFill>
              <a:srgbClr val="0B0B0B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10845568" y="4823088"/>
            <a:ext cx="216911" cy="216911"/>
          </a:xfrm>
          <a:prstGeom prst="rect">
            <a:avLst/>
          </a:prstGeom>
          <a:noFill/>
          <a:ln w="12759">
            <a:solidFill>
              <a:srgbClr val="0B0B0B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11228353" y="5180354"/>
            <a:ext cx="216911" cy="216911"/>
          </a:xfrm>
          <a:prstGeom prst="rect">
            <a:avLst/>
          </a:prstGeom>
          <a:noFill/>
          <a:ln w="12759">
            <a:solidFill>
              <a:srgbClr val="0B0B0B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0" name="Connector 419"/>
          <p:cNvCxnSpPr/>
          <p:nvPr/>
        </p:nvCxnSpPr>
        <p:spPr>
          <a:xfrm flipV="1">
            <a:off x="10954024" y="4465822"/>
            <a:ext cx="382785" cy="216911"/>
          </a:xfrm>
          <a:prstGeom prst="line">
            <a:avLst/>
          </a:prstGeom>
          <a:ln w="11483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Isosceles Triangle 420"/>
          <p:cNvSpPr/>
          <p:nvPr/>
        </p:nvSpPr>
        <p:spPr>
          <a:xfrm rot="3627673">
            <a:off x="11304910" y="4433923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2" name="Connector 421"/>
          <p:cNvCxnSpPr/>
          <p:nvPr/>
        </p:nvCxnSpPr>
        <p:spPr>
          <a:xfrm>
            <a:off x="11336809" y="4682733"/>
            <a:ext cx="0" cy="140355"/>
          </a:xfrm>
          <a:prstGeom prst="line">
            <a:avLst/>
          </a:prstGeom>
          <a:ln w="11483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3" name="Isosceles Triangle 422"/>
          <p:cNvSpPr/>
          <p:nvPr/>
        </p:nvSpPr>
        <p:spPr>
          <a:xfrm rot="10800000">
            <a:off x="11304910" y="4791189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4" name="Connector 423"/>
          <p:cNvCxnSpPr/>
          <p:nvPr/>
        </p:nvCxnSpPr>
        <p:spPr>
          <a:xfrm flipV="1">
            <a:off x="11336809" y="4823088"/>
            <a:ext cx="382784" cy="216911"/>
          </a:xfrm>
          <a:prstGeom prst="line">
            <a:avLst/>
          </a:prstGeom>
          <a:ln w="11483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Isosceles Triangle 424"/>
          <p:cNvSpPr/>
          <p:nvPr/>
        </p:nvSpPr>
        <p:spPr>
          <a:xfrm rot="3627673">
            <a:off x="11687695" y="4791189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6" name="Connector 425"/>
          <p:cNvCxnSpPr/>
          <p:nvPr/>
        </p:nvCxnSpPr>
        <p:spPr>
          <a:xfrm>
            <a:off x="11719593" y="5039999"/>
            <a:ext cx="0" cy="140355"/>
          </a:xfrm>
          <a:prstGeom prst="line">
            <a:avLst/>
          </a:prstGeom>
          <a:ln w="11483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7" name="Isosceles Triangle 426"/>
          <p:cNvSpPr/>
          <p:nvPr/>
        </p:nvSpPr>
        <p:spPr>
          <a:xfrm rot="10800000">
            <a:off x="11687695" y="5148455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8" name="Connector 427"/>
          <p:cNvCxnSpPr/>
          <p:nvPr/>
        </p:nvCxnSpPr>
        <p:spPr>
          <a:xfrm flipH="1">
            <a:off x="10954024" y="5039999"/>
            <a:ext cx="382785" cy="140355"/>
          </a:xfrm>
          <a:prstGeom prst="line">
            <a:avLst/>
          </a:prstGeom>
          <a:ln w="11483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9" name="Isosceles Triangle 428"/>
          <p:cNvSpPr/>
          <p:nvPr/>
        </p:nvSpPr>
        <p:spPr>
          <a:xfrm rot="14991822">
            <a:off x="10922125" y="5148455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0" name="Connector 429"/>
          <p:cNvCxnSpPr/>
          <p:nvPr/>
        </p:nvCxnSpPr>
        <p:spPr>
          <a:xfrm flipV="1">
            <a:off x="10954024" y="5180354"/>
            <a:ext cx="765569" cy="216911"/>
          </a:xfrm>
          <a:prstGeom prst="line">
            <a:avLst/>
          </a:prstGeom>
          <a:ln w="11483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1" name="Isosceles Triangle 430"/>
          <p:cNvSpPr/>
          <p:nvPr/>
        </p:nvSpPr>
        <p:spPr>
          <a:xfrm rot="4450848">
            <a:off x="11687695" y="5148455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2" name="Connector 431"/>
          <p:cNvCxnSpPr/>
          <p:nvPr/>
        </p:nvCxnSpPr>
        <p:spPr>
          <a:xfrm>
            <a:off x="9186834" y="4982581"/>
            <a:ext cx="1531139" cy="0"/>
          </a:xfrm>
          <a:prstGeom prst="line">
            <a:avLst/>
          </a:prstGeom>
          <a:ln w="15949">
            <a:solidFill>
              <a:srgbClr val="0B0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3" name="Isosceles Triangle 432"/>
          <p:cNvSpPr/>
          <p:nvPr/>
        </p:nvSpPr>
        <p:spPr>
          <a:xfrm rot="5400000">
            <a:off x="10686075" y="4950683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Isosceles Triangle 433"/>
          <p:cNvSpPr/>
          <p:nvPr/>
        </p:nvSpPr>
        <p:spPr>
          <a:xfrm rot="16200000">
            <a:off x="9154935" y="4950683"/>
            <a:ext cx="63797" cy="63797"/>
          </a:xfrm>
          <a:prstGeom prst="triangle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TextBox 434"/>
          <p:cNvSpPr txBox="1"/>
          <p:nvPr/>
        </p:nvSpPr>
        <p:spPr>
          <a:xfrm>
            <a:off x="8995442" y="4661808"/>
            <a:ext cx="1913923" cy="1786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5" b="0" i="1">
                <a:solidFill>
                  <a:srgbClr val="0B0B0B"/>
                </a:solidFill>
                <a:latin typeface="Georgia"/>
              </a:rPr>
              <a:t>L_geometric</a:t>
            </a:r>
          </a:p>
        </p:txBody>
      </p:sp>
      <p:sp>
        <p:nvSpPr>
          <p:cNvPr id="436" name="TextBox 435"/>
          <p:cNvSpPr txBox="1"/>
          <p:nvPr/>
        </p:nvSpPr>
        <p:spPr>
          <a:xfrm>
            <a:off x="9186834" y="5148455"/>
            <a:ext cx="1531139" cy="15949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4" b="1" i="0">
                <a:solidFill>
                  <a:srgbClr val="0B0B0B"/>
                </a:solidFill>
                <a:latin typeface="Arial"/>
              </a:rPr>
              <a:t>Geometric</a:t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8835948" y="5314328"/>
            <a:ext cx="2232911" cy="15949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4" b="1" i="0">
                <a:solidFill>
                  <a:srgbClr val="0B0B0B"/>
                </a:solidFill>
                <a:latin typeface="Arial"/>
              </a:rPr>
              <a:t>Consistency Prior</a:t>
            </a:r>
          </a:p>
        </p:txBody>
      </p:sp>
      <p:sp>
        <p:nvSpPr>
          <p:cNvPr id="438" name="TextBox 437"/>
          <p:cNvSpPr txBox="1"/>
          <p:nvPr/>
        </p:nvSpPr>
        <p:spPr>
          <a:xfrm>
            <a:off x="7859847" y="5575898"/>
            <a:ext cx="1403544" cy="15949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4" b="1" i="0">
                <a:solidFill>
                  <a:srgbClr val="0B0B0B"/>
                </a:solidFill>
                <a:latin typeface="Arial"/>
              </a:rPr>
              <a:t>High Density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10654176" y="5575898"/>
            <a:ext cx="1403544" cy="15949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4" b="1" i="0">
                <a:solidFill>
                  <a:srgbClr val="0B0B0B"/>
                </a:solidFill>
                <a:latin typeface="Arial"/>
              </a:rPr>
              <a:t>Low Density</a:t>
            </a:r>
          </a:p>
        </p:txBody>
      </p:sp>
      <p:sp>
        <p:nvSpPr>
          <p:cNvPr id="440" name="Rectangle 439"/>
          <p:cNvSpPr/>
          <p:nvPr/>
        </p:nvSpPr>
        <p:spPr>
          <a:xfrm>
            <a:off x="7764151" y="5856607"/>
            <a:ext cx="216911" cy="216911"/>
          </a:xfrm>
          <a:prstGeom prst="rect">
            <a:avLst/>
          </a:prstGeom>
          <a:solidFill>
            <a:srgbClr val="FFF2BF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TextBox 440"/>
          <p:cNvSpPr txBox="1"/>
          <p:nvPr/>
        </p:nvSpPr>
        <p:spPr>
          <a:xfrm>
            <a:off x="7764151" y="5800210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1</a:t>
            </a:r>
          </a:p>
        </p:txBody>
      </p:sp>
      <p:sp>
        <p:nvSpPr>
          <p:cNvPr id="442" name="Rectangle 441"/>
          <p:cNvSpPr/>
          <p:nvPr/>
        </p:nvSpPr>
        <p:spPr>
          <a:xfrm>
            <a:off x="7987442" y="5856607"/>
            <a:ext cx="216911" cy="216911"/>
          </a:xfrm>
          <a:prstGeom prst="rect">
            <a:avLst/>
          </a:prstGeom>
          <a:solidFill>
            <a:srgbClr val="FFF7DF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TextBox 442"/>
          <p:cNvSpPr txBox="1"/>
          <p:nvPr/>
        </p:nvSpPr>
        <p:spPr>
          <a:xfrm>
            <a:off x="7987442" y="5800210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2</a:t>
            </a:r>
          </a:p>
        </p:txBody>
      </p:sp>
      <p:sp>
        <p:nvSpPr>
          <p:cNvPr id="444" name="Rectangle 443"/>
          <p:cNvSpPr/>
          <p:nvPr/>
        </p:nvSpPr>
        <p:spPr>
          <a:xfrm>
            <a:off x="8210733" y="5856607"/>
            <a:ext cx="216911" cy="216911"/>
          </a:xfrm>
          <a:prstGeom prst="rect">
            <a:avLst/>
          </a:prstGeom>
          <a:solidFill>
            <a:srgbClr val="D8F4CE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TextBox 444"/>
          <p:cNvSpPr txBox="1"/>
          <p:nvPr/>
        </p:nvSpPr>
        <p:spPr>
          <a:xfrm>
            <a:off x="8210733" y="5800210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3</a:t>
            </a:r>
          </a:p>
        </p:txBody>
      </p:sp>
      <p:sp>
        <p:nvSpPr>
          <p:cNvPr id="446" name="Rectangle 445"/>
          <p:cNvSpPr/>
          <p:nvPr/>
        </p:nvSpPr>
        <p:spPr>
          <a:xfrm>
            <a:off x="8434024" y="5856607"/>
            <a:ext cx="216911" cy="216911"/>
          </a:xfrm>
          <a:prstGeom prst="rect">
            <a:avLst/>
          </a:prstGeom>
          <a:solidFill>
            <a:srgbClr val="CFF3CF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TextBox 446"/>
          <p:cNvSpPr txBox="1"/>
          <p:nvPr/>
        </p:nvSpPr>
        <p:spPr>
          <a:xfrm>
            <a:off x="8434024" y="5800210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4</a:t>
            </a:r>
          </a:p>
        </p:txBody>
      </p:sp>
      <p:sp>
        <p:nvSpPr>
          <p:cNvPr id="448" name="Rectangle 447"/>
          <p:cNvSpPr/>
          <p:nvPr/>
        </p:nvSpPr>
        <p:spPr>
          <a:xfrm>
            <a:off x="8657315" y="5856607"/>
            <a:ext cx="216911" cy="216911"/>
          </a:xfrm>
          <a:prstGeom prst="rect">
            <a:avLst/>
          </a:prstGeom>
          <a:solidFill>
            <a:srgbClr val="F4D4DC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TextBox 448"/>
          <p:cNvSpPr txBox="1"/>
          <p:nvPr/>
        </p:nvSpPr>
        <p:spPr>
          <a:xfrm>
            <a:off x="8657315" y="5800210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5</a:t>
            </a:r>
          </a:p>
        </p:txBody>
      </p:sp>
      <p:sp>
        <p:nvSpPr>
          <p:cNvPr id="450" name="Rectangle 449"/>
          <p:cNvSpPr/>
          <p:nvPr/>
        </p:nvSpPr>
        <p:spPr>
          <a:xfrm>
            <a:off x="8880606" y="5856607"/>
            <a:ext cx="216911" cy="216911"/>
          </a:xfrm>
          <a:prstGeom prst="rect">
            <a:avLst/>
          </a:prstGeom>
          <a:solidFill>
            <a:srgbClr val="D2F2FB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TextBox 450"/>
          <p:cNvSpPr txBox="1"/>
          <p:nvPr/>
        </p:nvSpPr>
        <p:spPr>
          <a:xfrm>
            <a:off x="8880606" y="5800210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6</a:t>
            </a:r>
          </a:p>
        </p:txBody>
      </p:sp>
      <p:sp>
        <p:nvSpPr>
          <p:cNvPr id="452" name="Rectangle 451"/>
          <p:cNvSpPr/>
          <p:nvPr/>
        </p:nvSpPr>
        <p:spPr>
          <a:xfrm>
            <a:off x="9103897" y="5856607"/>
            <a:ext cx="216911" cy="216911"/>
          </a:xfrm>
          <a:prstGeom prst="rect">
            <a:avLst/>
          </a:prstGeom>
          <a:solidFill>
            <a:srgbClr val="CCEFF4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TextBox 452"/>
          <p:cNvSpPr txBox="1"/>
          <p:nvPr/>
        </p:nvSpPr>
        <p:spPr>
          <a:xfrm>
            <a:off x="9103897" y="5800210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7</a:t>
            </a:r>
          </a:p>
        </p:txBody>
      </p:sp>
      <p:sp>
        <p:nvSpPr>
          <p:cNvPr id="454" name="Rectangle 453"/>
          <p:cNvSpPr/>
          <p:nvPr/>
        </p:nvSpPr>
        <p:spPr>
          <a:xfrm>
            <a:off x="9327189" y="5856607"/>
            <a:ext cx="216911" cy="216911"/>
          </a:xfrm>
          <a:prstGeom prst="rect">
            <a:avLst/>
          </a:prstGeom>
          <a:solidFill>
            <a:srgbClr val="E4EDF1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TextBox 454"/>
          <p:cNvSpPr txBox="1"/>
          <p:nvPr/>
        </p:nvSpPr>
        <p:spPr>
          <a:xfrm>
            <a:off x="9327189" y="5800210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8</a:t>
            </a:r>
          </a:p>
        </p:txBody>
      </p:sp>
      <p:sp>
        <p:nvSpPr>
          <p:cNvPr id="456" name="Rectangle 455"/>
          <p:cNvSpPr/>
          <p:nvPr/>
        </p:nvSpPr>
        <p:spPr>
          <a:xfrm>
            <a:off x="9550480" y="5856607"/>
            <a:ext cx="216911" cy="216911"/>
          </a:xfrm>
          <a:prstGeom prst="rect">
            <a:avLst/>
          </a:prstGeom>
          <a:solidFill>
            <a:srgbClr val="F0CFD2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TextBox 456"/>
          <p:cNvSpPr txBox="1"/>
          <p:nvPr/>
        </p:nvSpPr>
        <p:spPr>
          <a:xfrm>
            <a:off x="9550480" y="5800210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9</a:t>
            </a:r>
          </a:p>
        </p:txBody>
      </p:sp>
      <p:sp>
        <p:nvSpPr>
          <p:cNvPr id="458" name="Rectangle 457"/>
          <p:cNvSpPr/>
          <p:nvPr/>
        </p:nvSpPr>
        <p:spPr>
          <a:xfrm>
            <a:off x="10124657" y="5856607"/>
            <a:ext cx="216911" cy="216911"/>
          </a:xfrm>
          <a:prstGeom prst="rect">
            <a:avLst/>
          </a:prstGeom>
          <a:solidFill>
            <a:srgbClr val="FFF2BF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10124657" y="5800210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1</a:t>
            </a:r>
          </a:p>
        </p:txBody>
      </p:sp>
      <p:sp>
        <p:nvSpPr>
          <p:cNvPr id="460" name="Rectangle 459"/>
          <p:cNvSpPr/>
          <p:nvPr/>
        </p:nvSpPr>
        <p:spPr>
          <a:xfrm>
            <a:off x="10347948" y="5856607"/>
            <a:ext cx="216911" cy="216911"/>
          </a:xfrm>
          <a:prstGeom prst="rect">
            <a:avLst/>
          </a:prstGeom>
          <a:solidFill>
            <a:srgbClr val="FFF7DF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TextBox 460"/>
          <p:cNvSpPr txBox="1"/>
          <p:nvPr/>
        </p:nvSpPr>
        <p:spPr>
          <a:xfrm>
            <a:off x="10347948" y="5800210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2</a:t>
            </a:r>
          </a:p>
        </p:txBody>
      </p:sp>
      <p:sp>
        <p:nvSpPr>
          <p:cNvPr id="462" name="Rectangle 461"/>
          <p:cNvSpPr/>
          <p:nvPr/>
        </p:nvSpPr>
        <p:spPr>
          <a:xfrm>
            <a:off x="10571239" y="5856607"/>
            <a:ext cx="216911" cy="216911"/>
          </a:xfrm>
          <a:prstGeom prst="rect">
            <a:avLst/>
          </a:prstGeom>
          <a:noFill/>
          <a:ln w="12759">
            <a:solidFill>
              <a:srgbClr val="0B0B0B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10794530" y="5856607"/>
            <a:ext cx="216911" cy="216911"/>
          </a:xfrm>
          <a:prstGeom prst="rect">
            <a:avLst/>
          </a:prstGeom>
          <a:noFill/>
          <a:ln w="12759">
            <a:solidFill>
              <a:srgbClr val="0B0B0B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11017821" y="5856607"/>
            <a:ext cx="216911" cy="216911"/>
          </a:xfrm>
          <a:prstGeom prst="rect">
            <a:avLst/>
          </a:prstGeom>
          <a:solidFill>
            <a:srgbClr val="F4D4DC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TextBox 464"/>
          <p:cNvSpPr txBox="1"/>
          <p:nvPr/>
        </p:nvSpPr>
        <p:spPr>
          <a:xfrm>
            <a:off x="11017821" y="5800210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5</a:t>
            </a:r>
          </a:p>
        </p:txBody>
      </p:sp>
      <p:sp>
        <p:nvSpPr>
          <p:cNvPr id="466" name="Rectangle 465"/>
          <p:cNvSpPr/>
          <p:nvPr/>
        </p:nvSpPr>
        <p:spPr>
          <a:xfrm>
            <a:off x="11241112" y="5856607"/>
            <a:ext cx="216911" cy="216911"/>
          </a:xfrm>
          <a:prstGeom prst="rect">
            <a:avLst/>
          </a:prstGeom>
          <a:solidFill>
            <a:srgbClr val="D2F2FB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TextBox 466"/>
          <p:cNvSpPr txBox="1"/>
          <p:nvPr/>
        </p:nvSpPr>
        <p:spPr>
          <a:xfrm>
            <a:off x="11241112" y="5800210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6</a:t>
            </a:r>
          </a:p>
        </p:txBody>
      </p:sp>
      <p:sp>
        <p:nvSpPr>
          <p:cNvPr id="468" name="Rectangle 467"/>
          <p:cNvSpPr/>
          <p:nvPr/>
        </p:nvSpPr>
        <p:spPr>
          <a:xfrm>
            <a:off x="11464404" y="5856607"/>
            <a:ext cx="216911" cy="216911"/>
          </a:xfrm>
          <a:prstGeom prst="rect">
            <a:avLst/>
          </a:prstGeom>
          <a:solidFill>
            <a:srgbClr val="CCEFF4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TextBox 468"/>
          <p:cNvSpPr txBox="1"/>
          <p:nvPr/>
        </p:nvSpPr>
        <p:spPr>
          <a:xfrm>
            <a:off x="11464404" y="5800210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7</a:t>
            </a:r>
          </a:p>
        </p:txBody>
      </p:sp>
      <p:sp>
        <p:nvSpPr>
          <p:cNvPr id="470" name="Rectangle 469"/>
          <p:cNvSpPr/>
          <p:nvPr/>
        </p:nvSpPr>
        <p:spPr>
          <a:xfrm>
            <a:off x="11687695" y="5856607"/>
            <a:ext cx="216911" cy="216911"/>
          </a:xfrm>
          <a:prstGeom prst="rect">
            <a:avLst/>
          </a:prstGeom>
          <a:noFill/>
          <a:ln w="12759">
            <a:solidFill>
              <a:srgbClr val="0B0B0B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11910986" y="5856607"/>
            <a:ext cx="216911" cy="216911"/>
          </a:xfrm>
          <a:prstGeom prst="rect">
            <a:avLst/>
          </a:prstGeom>
          <a:solidFill>
            <a:srgbClr val="F0CFD2"/>
          </a:solidFill>
          <a:ln w="12759"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TextBox 471"/>
          <p:cNvSpPr txBox="1"/>
          <p:nvPr/>
        </p:nvSpPr>
        <p:spPr>
          <a:xfrm>
            <a:off x="11910986" y="5800210"/>
            <a:ext cx="216911" cy="21691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5" b="1" i="0">
                <a:solidFill>
                  <a:srgbClr val="0B0B0B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BeyondMix Leveraging Structural Priors and Long-Range Dependencies for Domain-Invariant LiDAR Segmentation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693" cy="61947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