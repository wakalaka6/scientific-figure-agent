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4018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80" y="60960"/>
            <a:ext cx="14340840" cy="6347460"/>
          </a:xfrm>
          <a:prstGeom prst="roundRect">
            <a:avLst/>
          </a:prstGeom>
          <a:solidFill>
            <a:srgbClr val="FFFFFF"/>
          </a:solidFill>
          <a:ln w="22859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" y="137160"/>
            <a:ext cx="2613660" cy="563880"/>
          </a:xfrm>
          <a:prstGeom prst="roundRect">
            <a:avLst/>
          </a:prstGeom>
          <a:solidFill>
            <a:srgbClr val="DFEEE8"/>
          </a:solidFill>
          <a:ln>
            <a:solidFill>
              <a:srgbClr val="DF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" y="716280"/>
            <a:ext cx="2613660" cy="2659380"/>
          </a:xfrm>
          <a:prstGeom prst="rect">
            <a:avLst/>
          </a:prstGeom>
          <a:solidFill>
            <a:srgbClr val="F0F5FB"/>
          </a:solidFill>
          <a:ln>
            <a:solidFill>
              <a:srgbClr val="F0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" y="3375660"/>
            <a:ext cx="3543300" cy="2987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4260" y="137160"/>
            <a:ext cx="4290060" cy="6156960"/>
          </a:xfrm>
          <a:prstGeom prst="roundRect">
            <a:avLst/>
          </a:prstGeom>
          <a:solidFill>
            <a:srgbClr val="EDF6FA"/>
          </a:solidFill>
          <a:ln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94320" y="137160"/>
            <a:ext cx="4236720" cy="6156960"/>
          </a:xfrm>
          <a:prstGeom prst="roundRect">
            <a:avLst/>
          </a:prstGeom>
          <a:solidFill>
            <a:srgbClr val="FFF5E3"/>
          </a:solidFill>
          <a:ln>
            <a:solidFill>
              <a:srgbClr val="FF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31040" y="137160"/>
            <a:ext cx="2209800" cy="6156960"/>
          </a:xfrm>
          <a:prstGeom prst="round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37160"/>
            <a:ext cx="2362200" cy="563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60" b="1" i="1">
                <a:solidFill>
                  <a:srgbClr val="0A0A0A"/>
                </a:solidFill>
                <a:latin typeface="DejaVu Serif"/>
              </a:rP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5100" y="213360"/>
            <a:ext cx="5410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6A9AC4"/>
                </a:solidFill>
                <a:latin typeface="DejaVu Serif"/>
              </a:rPr>
              <a:t>Subject-Invariant 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6240" y="213360"/>
            <a:ext cx="44196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60" b="1" i="1">
                <a:solidFill>
                  <a:srgbClr val="EB7825"/>
                </a:solidFill>
                <a:latin typeface="DejaVu Serif"/>
              </a:rPr>
              <a:t>Semantic-Specific Feature Extraction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32891" y="1487271"/>
            <a:ext cx="225856" cy="225856"/>
          </a:xfrm>
          <a:prstGeom prst="ellipse">
            <a:avLst/>
          </a:prstGeom>
          <a:solidFill>
            <a:srgbClr val="E0A27D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715060" y="1647748"/>
            <a:ext cx="261518" cy="267462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0798" y="1378458"/>
            <a:ext cx="260604" cy="260604"/>
          </a:xfrm>
          <a:prstGeom prst="ellipse">
            <a:avLst/>
          </a:prstGeom>
          <a:solidFill>
            <a:srgbClr val="EFB4A1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>
            <a:off x="1030223" y="1563624"/>
            <a:ext cx="301752" cy="308610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8691" y="1487271"/>
            <a:ext cx="225856" cy="225856"/>
          </a:xfrm>
          <a:prstGeom prst="ellipse">
            <a:avLst/>
          </a:prstGeom>
          <a:solidFill>
            <a:srgbClr val="DDA681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1400860" y="1647748"/>
            <a:ext cx="261518" cy="267462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3427" y="1924507"/>
            <a:ext cx="220065" cy="220065"/>
          </a:xfrm>
          <a:prstGeom prst="ellipse">
            <a:avLst/>
          </a:prstGeom>
          <a:solidFill>
            <a:srgbClr val="EFB4A1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886053" y="2080869"/>
            <a:ext cx="254812" cy="260604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46327" y="1924507"/>
            <a:ext cx="220065" cy="220065"/>
          </a:xfrm>
          <a:prstGeom prst="ellipse">
            <a:avLst/>
          </a:prstGeom>
          <a:solidFill>
            <a:srgbClr val="E2AD83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1228953" y="2080869"/>
            <a:ext cx="254812" cy="260604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1578" y="2212238"/>
            <a:ext cx="208483" cy="208483"/>
          </a:xfrm>
          <a:prstGeom prst="ellipse">
            <a:avLst/>
          </a:prstGeom>
          <a:solidFill>
            <a:srgbClr val="D99A73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rc 22"/>
          <p:cNvSpPr/>
          <p:nvPr/>
        </p:nvSpPr>
        <p:spPr>
          <a:xfrm>
            <a:off x="725119" y="2360371"/>
            <a:ext cx="241401" cy="246887"/>
          </a:xfrm>
          <a:prstGeom prst="arc">
            <a:avLst/>
          </a:prstGeom>
          <a:solidFill>
            <a:srgbClr val="F2B3A7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6858" y="2212238"/>
            <a:ext cx="208483" cy="208483"/>
          </a:xfrm>
          <a:prstGeom prst="ellipse">
            <a:avLst/>
          </a:prstGeom>
          <a:solidFill>
            <a:srgbClr val="E2A98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1060399" y="2360371"/>
            <a:ext cx="241401" cy="246887"/>
          </a:xfrm>
          <a:prstGeom prst="arc">
            <a:avLst/>
          </a:prstGeom>
          <a:solidFill>
            <a:srgbClr val="F2B3A7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36520"/>
            <a:ext cx="1600200" cy="3810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0A0A0A"/>
                </a:solidFill>
                <a:latin typeface="DejaVu Serif"/>
              </a:rPr>
              <a:t>Subject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2560" y="815340"/>
            <a:ext cx="1257300" cy="350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40" b="0" i="1">
                <a:solidFill>
                  <a:srgbClr val="6A9AC4"/>
                </a:solidFill>
                <a:latin typeface="DejaVu Serif"/>
              </a:rPr>
              <a:t>ℒclsᴱ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2560" y="2705100"/>
            <a:ext cx="1257300" cy="350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40" b="0" i="1">
                <a:solidFill>
                  <a:srgbClr val="6A9AC4"/>
                </a:solidFill>
                <a:latin typeface="DejaVu Serif"/>
              </a:rPr>
              <a:t>ℒdisᴱ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59380" y="1005840"/>
            <a:ext cx="746760" cy="381000"/>
          </a:xfrm>
          <a:prstGeom prst="roundRect">
            <a:avLst/>
          </a:prstGeom>
          <a:solidFill>
            <a:srgbClr val="D2E5EA"/>
          </a:solidFill>
          <a:ln>
            <a:solidFill>
              <a:srgbClr val="D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21280" y="967740"/>
            <a:ext cx="746760" cy="381000"/>
          </a:xfrm>
          <a:prstGeom prst="roundRect">
            <a:avLst/>
          </a:prstGeom>
          <a:solidFill>
            <a:srgbClr val="DCECF0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1280" y="998219"/>
            <a:ext cx="74676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A0A0A"/>
                </a:solidFill>
                <a:latin typeface="DejaVu Serif"/>
              </a:rPr>
              <a:t>CLS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05100" y="2430780"/>
            <a:ext cx="746760" cy="381000"/>
          </a:xfrm>
          <a:prstGeom prst="roundRect">
            <a:avLst/>
          </a:prstGeom>
          <a:solidFill>
            <a:srgbClr val="D2E5EA"/>
          </a:solidFill>
          <a:ln>
            <a:solidFill>
              <a:srgbClr val="D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67000" y="2392680"/>
            <a:ext cx="746760" cy="381000"/>
          </a:xfrm>
          <a:prstGeom prst="roundRect">
            <a:avLst/>
          </a:prstGeom>
          <a:solidFill>
            <a:srgbClr val="DCECF0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7000" y="2423160"/>
            <a:ext cx="74676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A0A0A"/>
                </a:solidFill>
                <a:latin typeface="DejaVu Serif"/>
              </a:rPr>
              <a:t>DIS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37460" y="2369820"/>
            <a:ext cx="701040" cy="365760"/>
          </a:xfrm>
          <a:prstGeom prst="roundRect">
            <a:avLst/>
          </a:prstGeom>
          <a:solidFill>
            <a:srgbClr val="F6B8A0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37460" y="2400300"/>
            <a:ext cx="70104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0A0A0A"/>
                </a:solidFill>
                <a:latin typeface="DejaVu Serif"/>
              </a:rPr>
              <a:t>GRL</a:t>
            </a:r>
          </a:p>
        </p:txBody>
      </p:sp>
      <p:sp>
        <p:nvSpPr>
          <p:cNvPr id="37" name="Right Arrow 36"/>
          <p:cNvSpPr/>
          <p:nvPr/>
        </p:nvSpPr>
        <p:spPr>
          <a:xfrm rot="19260000">
            <a:off x="1874519" y="1295400"/>
            <a:ext cx="571500" cy="167640"/>
          </a:xfrm>
          <a:prstGeom prst="rightArrow">
            <a:avLst/>
          </a:prstGeom>
          <a:solidFill>
            <a:srgbClr val="D6E7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 rot="8460000">
            <a:off x="1874519" y="1592580"/>
            <a:ext cx="571500" cy="167640"/>
          </a:xfrm>
          <a:prstGeom prst="rightArrow">
            <a:avLst/>
          </a:prstGeom>
          <a:solidFill>
            <a:srgbClr val="D6E7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 rot="2340000">
            <a:off x="1874519" y="2278380"/>
            <a:ext cx="571500" cy="167640"/>
          </a:xfrm>
          <a:prstGeom prst="rightArrow">
            <a:avLst/>
          </a:prstGeom>
          <a:solidFill>
            <a:srgbClr val="D6E7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 rot="13140000">
            <a:off x="1874519" y="2575560"/>
            <a:ext cx="571500" cy="167640"/>
          </a:xfrm>
          <a:prstGeom prst="rightArrow">
            <a:avLst/>
          </a:prstGeom>
          <a:solidFill>
            <a:srgbClr val="D6E7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1341120"/>
            <a:ext cx="342900" cy="4191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79" b="1" i="0">
                <a:solidFill>
                  <a:srgbClr val="0A0A0A"/>
                </a:solidFill>
                <a:latin typeface="DejaVu Serif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60" y="1165860"/>
            <a:ext cx="342900" cy="4191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60" b="1" i="0">
                <a:solidFill>
                  <a:srgbClr val="E45B86"/>
                </a:solidFill>
                <a:latin typeface="DejaVu Serif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70660" y="1341120"/>
            <a:ext cx="342900" cy="4191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79" b="1" i="0">
                <a:solidFill>
                  <a:srgbClr val="0A0A0A"/>
                </a:solidFill>
                <a:latin typeface="DejaVu Serif"/>
              </a:rPr>
              <a:t>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720" y="3749039"/>
            <a:ext cx="883920" cy="685800"/>
          </a:xfrm>
          <a:prstGeom prst="roundRect">
            <a:avLst/>
          </a:prstGeom>
          <a:solidFill>
            <a:srgbClr val="EDF1ED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" y="3825240"/>
            <a:ext cx="762000" cy="510540"/>
          </a:xfrm>
          <a:prstGeom prst="rect">
            <a:avLst/>
          </a:prstGeom>
          <a:solidFill>
            <a:srgbClr val="FFF8EF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52500" y="3870960"/>
            <a:ext cx="0" cy="411480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14400" y="4244340"/>
            <a:ext cx="662940" cy="0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36320" y="3916680"/>
            <a:ext cx="441960" cy="335280"/>
          </a:xfrm>
          <a:prstGeom prst="ellipse">
            <a:avLst/>
          </a:prstGeom>
          <a:solidFill>
            <a:srgbClr val="F5B9A1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249680" y="3962399"/>
            <a:ext cx="0" cy="243841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evron 49"/>
          <p:cNvSpPr/>
          <p:nvPr/>
        </p:nvSpPr>
        <p:spPr>
          <a:xfrm>
            <a:off x="1706880" y="4038600"/>
            <a:ext cx="381000" cy="1905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21080" y="4450080"/>
            <a:ext cx="426720" cy="76200"/>
          </a:xfrm>
          <a:prstGeom prst="roundRect">
            <a:avLst/>
          </a:prstGeom>
          <a:solidFill>
            <a:srgbClr val="4D4D4D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44880" y="4533900"/>
            <a:ext cx="579120" cy="76200"/>
          </a:xfrm>
          <a:prstGeom prst="roundRect">
            <a:avLst/>
          </a:prstGeom>
          <a:solidFill>
            <a:srgbClr val="A9A9A9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6280" y="3489960"/>
            <a:ext cx="1066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666666"/>
                </a:solidFill>
                <a:latin typeface="DejaVu Sans"/>
              </a:rPr>
              <a:t>fMRI</a:t>
            </a:r>
          </a:p>
        </p:txBody>
      </p:sp>
      <p:sp>
        <p:nvSpPr>
          <p:cNvPr id="54" name="Oval 53"/>
          <p:cNvSpPr/>
          <p:nvPr/>
        </p:nvSpPr>
        <p:spPr>
          <a:xfrm>
            <a:off x="722019" y="4794452"/>
            <a:ext cx="167134" cy="167134"/>
          </a:xfrm>
          <a:prstGeom prst="ellipse">
            <a:avLst/>
          </a:prstGeom>
          <a:solidFill>
            <a:srgbClr val="E0A27D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rc 54"/>
          <p:cNvSpPr/>
          <p:nvPr/>
        </p:nvSpPr>
        <p:spPr>
          <a:xfrm>
            <a:off x="708824" y="4913205"/>
            <a:ext cx="193523" cy="197921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57270" y="4713930"/>
            <a:ext cx="192846" cy="192846"/>
          </a:xfrm>
          <a:prstGeom prst="ellipse">
            <a:avLst/>
          </a:prstGeom>
          <a:solidFill>
            <a:srgbClr val="EFB4A1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rc 56"/>
          <p:cNvSpPr/>
          <p:nvPr/>
        </p:nvSpPr>
        <p:spPr>
          <a:xfrm>
            <a:off x="942045" y="4850952"/>
            <a:ext cx="223296" cy="228371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29511" y="4794452"/>
            <a:ext cx="167134" cy="167134"/>
          </a:xfrm>
          <a:prstGeom prst="ellipse">
            <a:avLst/>
          </a:prstGeom>
          <a:solidFill>
            <a:srgbClr val="DDA681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rc 58"/>
          <p:cNvSpPr/>
          <p:nvPr/>
        </p:nvSpPr>
        <p:spPr>
          <a:xfrm>
            <a:off x="1216316" y="4913205"/>
            <a:ext cx="193523" cy="197921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8215" y="5118006"/>
            <a:ext cx="162848" cy="162848"/>
          </a:xfrm>
          <a:prstGeom prst="ellipse">
            <a:avLst/>
          </a:prstGeom>
          <a:solidFill>
            <a:srgbClr val="EFB4A1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rc 60"/>
          <p:cNvSpPr/>
          <p:nvPr/>
        </p:nvSpPr>
        <p:spPr>
          <a:xfrm>
            <a:off x="835359" y="5233714"/>
            <a:ext cx="188561" cy="192846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01961" y="5118006"/>
            <a:ext cx="162848" cy="162848"/>
          </a:xfrm>
          <a:prstGeom prst="ellipse">
            <a:avLst/>
          </a:prstGeom>
          <a:solidFill>
            <a:srgbClr val="E2AD83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rc 62"/>
          <p:cNvSpPr/>
          <p:nvPr/>
        </p:nvSpPr>
        <p:spPr>
          <a:xfrm>
            <a:off x="1089105" y="5233714"/>
            <a:ext cx="188561" cy="192846"/>
          </a:xfrm>
          <a:prstGeom prst="arc">
            <a:avLst/>
          </a:prstGeom>
          <a:solidFill>
            <a:srgbClr val="78A9D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28447" y="5330927"/>
            <a:ext cx="154277" cy="154277"/>
          </a:xfrm>
          <a:prstGeom prst="ellipse">
            <a:avLst/>
          </a:prstGeom>
          <a:solidFill>
            <a:srgbClr val="D99A73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rc 64"/>
          <p:cNvSpPr/>
          <p:nvPr/>
        </p:nvSpPr>
        <p:spPr>
          <a:xfrm>
            <a:off x="716267" y="5440545"/>
            <a:ext cx="178637" cy="182697"/>
          </a:xfrm>
          <a:prstGeom prst="arc">
            <a:avLst/>
          </a:prstGeom>
          <a:solidFill>
            <a:srgbClr val="F2B3A7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76554" y="5330927"/>
            <a:ext cx="154277" cy="154277"/>
          </a:xfrm>
          <a:prstGeom prst="ellipse">
            <a:avLst/>
          </a:prstGeom>
          <a:solidFill>
            <a:srgbClr val="E2A984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rc 66"/>
          <p:cNvSpPr/>
          <p:nvPr/>
        </p:nvSpPr>
        <p:spPr>
          <a:xfrm>
            <a:off x="964375" y="5440545"/>
            <a:ext cx="178637" cy="182697"/>
          </a:xfrm>
          <a:prstGeom prst="arc">
            <a:avLst/>
          </a:prstGeom>
          <a:solidFill>
            <a:srgbClr val="F2B3A7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9560" y="5791200"/>
            <a:ext cx="1905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A0A0A"/>
                </a:solidFill>
                <a:latin typeface="DejaVu Serif"/>
              </a:rPr>
              <a:t>Train Subjects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729740" y="4328160"/>
            <a:ext cx="617220" cy="297180"/>
          </a:xfrm>
          <a:prstGeom prst="rightArrow">
            <a:avLst/>
          </a:prstGeom>
          <a:solidFill>
            <a:srgbClr val="F6F8FA"/>
          </a:solidFill>
          <a:ln w="38100">
            <a:solidFill>
              <a:srgbClr val="2D6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rapezoid 69"/>
          <p:cNvSpPr/>
          <p:nvPr/>
        </p:nvSpPr>
        <p:spPr>
          <a:xfrm>
            <a:off x="2354580" y="3779520"/>
            <a:ext cx="1021080" cy="1386840"/>
          </a:xfrm>
          <a:prstGeom prst="trapezoid">
            <a:avLst/>
          </a:prstGeom>
          <a:solidFill>
            <a:srgbClr val="EAF4F8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54580" y="4130040"/>
            <a:ext cx="102108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0A0A0A"/>
                </a:solidFill>
                <a:latin typeface="DejaVu Serif"/>
              </a:rPr>
              <a:t>ViT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3268980" y="4328160"/>
            <a:ext cx="708660" cy="297180"/>
          </a:xfrm>
          <a:prstGeom prst="rightArrow">
            <a:avLst/>
          </a:prstGeom>
          <a:solidFill>
            <a:srgbClr val="F6F8FA"/>
          </a:solidFill>
          <a:ln w="38100">
            <a:solidFill>
              <a:srgbClr val="2D6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53840" y="4175760"/>
            <a:ext cx="137160" cy="655320"/>
          </a:xfrm>
          <a:prstGeom prst="rect">
            <a:avLst/>
          </a:prstGeom>
          <a:solidFill>
            <a:srgbClr val="D7E6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84320" y="4221480"/>
            <a:ext cx="68580" cy="563880"/>
          </a:xfrm>
          <a:prstGeom prst="rect">
            <a:avLst/>
          </a:prstGeom>
          <a:solidFill>
            <a:srgbClr val="3C6EA7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36720" y="4175760"/>
            <a:ext cx="137160" cy="655320"/>
          </a:xfrm>
          <a:prstGeom prst="rect">
            <a:avLst/>
          </a:prstGeom>
          <a:solidFill>
            <a:srgbClr val="D7E6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67200" y="42214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19600" y="4175760"/>
            <a:ext cx="137160" cy="655320"/>
          </a:xfrm>
          <a:prstGeom prst="rect">
            <a:avLst/>
          </a:prstGeom>
          <a:solidFill>
            <a:srgbClr val="D7E6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50080" y="42214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602480" y="4175760"/>
            <a:ext cx="137160" cy="655320"/>
          </a:xfrm>
          <a:prstGeom prst="rect">
            <a:avLst/>
          </a:prstGeom>
          <a:solidFill>
            <a:srgbClr val="D7E6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32960" y="42214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9540" y="489966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10000" y="3596640"/>
            <a:ext cx="91440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0" i="1">
                <a:solidFill>
                  <a:srgbClr val="0A0A0A"/>
                </a:solidFill>
                <a:latin typeface="DejaVu Serif"/>
              </a:rPr>
              <a:t>ℱᵢ(·)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404360" y="5181600"/>
            <a:ext cx="0" cy="365760"/>
          </a:xfrm>
          <a:prstGeom prst="line">
            <a:avLst/>
          </a:prstGeom>
          <a:ln w="3810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rapezoid 83"/>
          <p:cNvSpPr/>
          <p:nvPr/>
        </p:nvSpPr>
        <p:spPr>
          <a:xfrm>
            <a:off x="4892040" y="5181600"/>
            <a:ext cx="1120140" cy="960120"/>
          </a:xfrm>
          <a:prstGeom prst="trapezoid">
            <a:avLst/>
          </a:prstGeom>
          <a:solidFill>
            <a:srgbClr val="EAF4F8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92040" y="5539740"/>
            <a:ext cx="1120140" cy="3429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A0A0A"/>
                </a:solidFill>
                <a:latin typeface="DejaVu Serif"/>
              </a:rPr>
              <a:t>Decoder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019800" y="5669280"/>
            <a:ext cx="411480" cy="0"/>
          </a:xfrm>
          <a:prstGeom prst="line">
            <a:avLst/>
          </a:prstGeom>
          <a:ln w="3048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637020" y="5364480"/>
            <a:ext cx="601065" cy="466344"/>
          </a:xfrm>
          <a:prstGeom prst="roundRect">
            <a:avLst/>
          </a:prstGeom>
          <a:solidFill>
            <a:srgbClr val="EDF1ED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678472" y="5416296"/>
            <a:ext cx="518160" cy="347167"/>
          </a:xfrm>
          <a:prstGeom prst="rect">
            <a:avLst/>
          </a:prstGeom>
          <a:solidFill>
            <a:srgbClr val="FFF8EF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6735470" y="5447385"/>
            <a:ext cx="0" cy="279807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09562" y="5701284"/>
            <a:ext cx="450799" cy="0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6792467" y="5478475"/>
            <a:ext cx="300532" cy="227990"/>
          </a:xfrm>
          <a:prstGeom prst="ellipse">
            <a:avLst/>
          </a:prstGeom>
          <a:solidFill>
            <a:srgbClr val="F5B9A1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6937552" y="5509564"/>
            <a:ext cx="0" cy="165811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hevron 92"/>
          <p:cNvSpPr/>
          <p:nvPr/>
        </p:nvSpPr>
        <p:spPr>
          <a:xfrm>
            <a:off x="7248448" y="5561380"/>
            <a:ext cx="259080" cy="12954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782104" y="5841187"/>
            <a:ext cx="290169" cy="51816"/>
          </a:xfrm>
          <a:prstGeom prst="roundRect">
            <a:avLst/>
          </a:prstGeom>
          <a:solidFill>
            <a:srgbClr val="4D4D4D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730288" y="5898184"/>
            <a:ext cx="393801" cy="51816"/>
          </a:xfrm>
          <a:prstGeom prst="roundRect">
            <a:avLst/>
          </a:prstGeom>
          <a:solidFill>
            <a:srgbClr val="A9A9A9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74840" y="5188305"/>
            <a:ext cx="725424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666666"/>
                </a:solidFill>
                <a:latin typeface="DejaVu Sans"/>
              </a:rPr>
              <a:t>fMRI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65520" y="5890260"/>
            <a:ext cx="6096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6A9AC4"/>
                </a:solidFill>
                <a:latin typeface="DejaVu Serif"/>
              </a:rPr>
              <a:t>ℒrec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23360" y="82296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53840" y="868680"/>
            <a:ext cx="68580" cy="563880"/>
          </a:xfrm>
          <a:prstGeom prst="rect">
            <a:avLst/>
          </a:prstGeom>
          <a:solidFill>
            <a:srgbClr val="FFFDFB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206240" y="82296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236720" y="8686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389120" y="82296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419600" y="8686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72000" y="82296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602480" y="8686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09060" y="154686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Eₛ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5143500" y="1013460"/>
            <a:ext cx="1897380" cy="281940"/>
          </a:xfrm>
          <a:prstGeom prst="rightArrow">
            <a:avLst/>
          </a:prstGeom>
          <a:solidFill>
            <a:srgbClr val="C7E4EE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193280" y="822960"/>
            <a:ext cx="1447800" cy="701040"/>
          </a:xfrm>
          <a:prstGeom prst="roundRect">
            <a:avLst/>
          </a:prstGeom>
          <a:solidFill>
            <a:srgbClr val="D4C697"/>
          </a:solidFill>
          <a:ln>
            <a:solidFill>
              <a:srgbClr val="D4C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162800" y="784860"/>
            <a:ext cx="1447800" cy="701040"/>
          </a:xfrm>
          <a:prstGeom prst="roundRect">
            <a:avLst/>
          </a:prstGeom>
          <a:solidFill>
            <a:srgbClr val="FFF5D2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2800" y="86106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Vision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62800" y="111252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Projector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62800" y="1539240"/>
            <a:ext cx="1447800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0A0A0A"/>
                </a:solidFill>
                <a:latin typeface="DejaVu Serif"/>
              </a:rPr>
              <a:t>Pᵢ(·)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8823960" y="1013460"/>
            <a:ext cx="1882139" cy="281940"/>
          </a:xfrm>
          <a:prstGeom prst="rightArrow">
            <a:avLst/>
          </a:prstGeom>
          <a:solidFill>
            <a:srgbClr val="FFECC5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850880" y="82296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881360" y="868680"/>
            <a:ext cx="68580" cy="563880"/>
          </a:xfrm>
          <a:prstGeom prst="rect">
            <a:avLst/>
          </a:prstGeom>
          <a:solidFill>
            <a:srgbClr val="FFFDFB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033760" y="82296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064240" y="8686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216640" y="82296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247120" y="8686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399520" y="82296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430000" y="86868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736580" y="154686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Fᵢ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023360" y="244602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53840" y="2491740"/>
            <a:ext cx="68580" cy="563880"/>
          </a:xfrm>
          <a:prstGeom prst="rect">
            <a:avLst/>
          </a:prstGeom>
          <a:solidFill>
            <a:srgbClr val="FFFDFB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06240" y="244602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36720" y="249174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389120" y="244602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419600" y="249174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72000" y="2446020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602480" y="249174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909060" y="316992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Eᵢ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5143500" y="2636520"/>
            <a:ext cx="1897380" cy="281940"/>
          </a:xfrm>
          <a:prstGeom prst="rightArrow">
            <a:avLst/>
          </a:prstGeom>
          <a:solidFill>
            <a:srgbClr val="C7E4EE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193280" y="2446020"/>
            <a:ext cx="1447800" cy="701040"/>
          </a:xfrm>
          <a:prstGeom prst="roundRect">
            <a:avLst/>
          </a:prstGeom>
          <a:solidFill>
            <a:srgbClr val="D4C697"/>
          </a:solidFill>
          <a:ln>
            <a:solidFill>
              <a:srgbClr val="D4C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162800" y="2407920"/>
            <a:ext cx="1447800" cy="701040"/>
          </a:xfrm>
          <a:prstGeom prst="roundRect">
            <a:avLst/>
          </a:prstGeom>
          <a:solidFill>
            <a:srgbClr val="FFF5D2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162800" y="248412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Vision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162800" y="273558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Projector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62800" y="3162300"/>
            <a:ext cx="1447800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0A0A0A"/>
                </a:solidFill>
                <a:latin typeface="DejaVu Serif"/>
              </a:rPr>
              <a:t>Pₛ(·)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8823960" y="2636520"/>
            <a:ext cx="1882139" cy="281940"/>
          </a:xfrm>
          <a:prstGeom prst="rightArrow">
            <a:avLst/>
          </a:prstGeom>
          <a:solidFill>
            <a:srgbClr val="FFECC5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850880" y="244602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881360" y="2491740"/>
            <a:ext cx="68580" cy="563880"/>
          </a:xfrm>
          <a:prstGeom prst="rect">
            <a:avLst/>
          </a:prstGeom>
          <a:solidFill>
            <a:srgbClr val="FFFDFB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033760" y="244602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064240" y="249174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216640" y="244602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247120" y="249174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99520" y="2446020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430000" y="249174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736580" y="316992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Fₛ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023360" y="4190999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053840" y="4236720"/>
            <a:ext cx="68580" cy="563880"/>
          </a:xfrm>
          <a:prstGeom prst="rect">
            <a:avLst/>
          </a:prstGeom>
          <a:solidFill>
            <a:srgbClr val="FFFDFB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206240" y="4190999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236720" y="423672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389120" y="4190999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419600" y="423672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572000" y="4190999"/>
            <a:ext cx="137160" cy="655320"/>
          </a:xfrm>
          <a:prstGeom prst="rect">
            <a:avLst/>
          </a:prstGeom>
          <a:solidFill>
            <a:srgbClr val="E6EDF2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602480" y="423672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909060" y="491490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E</a:t>
            </a:r>
          </a:p>
        </p:txBody>
      </p:sp>
      <p:sp>
        <p:nvSpPr>
          <p:cNvPr id="157" name="Right Arrow 156"/>
          <p:cNvSpPr/>
          <p:nvPr/>
        </p:nvSpPr>
        <p:spPr>
          <a:xfrm>
            <a:off x="5143500" y="4381500"/>
            <a:ext cx="1897380" cy="281940"/>
          </a:xfrm>
          <a:prstGeom prst="rightArrow">
            <a:avLst/>
          </a:prstGeom>
          <a:solidFill>
            <a:srgbClr val="C7E4EE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7193280" y="4190999"/>
            <a:ext cx="1447800" cy="701040"/>
          </a:xfrm>
          <a:prstGeom prst="roundRect">
            <a:avLst/>
          </a:prstGeom>
          <a:solidFill>
            <a:srgbClr val="D4C697"/>
          </a:solidFill>
          <a:ln>
            <a:solidFill>
              <a:srgbClr val="D4C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7162800" y="4152900"/>
            <a:ext cx="1447800" cy="701040"/>
          </a:xfrm>
          <a:prstGeom prst="roundRect">
            <a:avLst/>
          </a:prstGeom>
          <a:solidFill>
            <a:srgbClr val="FFF5D2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2800" y="422910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Vision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62800" y="448056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Projector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162800" y="4907280"/>
            <a:ext cx="1447800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0A0A0A"/>
                </a:solidFill>
                <a:latin typeface="DejaVu Serif"/>
              </a:rPr>
              <a:t>P(·)</a:t>
            </a:r>
          </a:p>
        </p:txBody>
      </p:sp>
      <p:sp>
        <p:nvSpPr>
          <p:cNvPr id="163" name="Right Arrow 162"/>
          <p:cNvSpPr/>
          <p:nvPr/>
        </p:nvSpPr>
        <p:spPr>
          <a:xfrm>
            <a:off x="8823960" y="4381500"/>
            <a:ext cx="1882139" cy="281940"/>
          </a:xfrm>
          <a:prstGeom prst="rightArrow">
            <a:avLst/>
          </a:prstGeom>
          <a:solidFill>
            <a:srgbClr val="FFECC5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850880" y="4190999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881360" y="4236720"/>
            <a:ext cx="68580" cy="563880"/>
          </a:xfrm>
          <a:prstGeom prst="rect">
            <a:avLst/>
          </a:prstGeom>
          <a:solidFill>
            <a:srgbClr val="FFFDFB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033760" y="4190999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064240" y="423672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1216640" y="4190999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247120" y="423672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399520" y="4190999"/>
            <a:ext cx="137160" cy="655320"/>
          </a:xfrm>
          <a:prstGeom prst="rect">
            <a:avLst/>
          </a:prstGeom>
          <a:solidFill>
            <a:srgbClr val="F7E4A1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430000" y="4236720"/>
            <a:ext cx="68580" cy="563880"/>
          </a:xfrm>
          <a:prstGeom prst="rect">
            <a:avLst/>
          </a:prstGeom>
          <a:solidFill>
            <a:srgbClr val="F7F8F8"/>
          </a:solidFill>
          <a:ln w="762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736580" y="4914900"/>
            <a:ext cx="990599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0" i="1">
                <a:solidFill>
                  <a:srgbClr val="0A0A0A"/>
                </a:solidFill>
                <a:latin typeface="DejaVu Serif"/>
              </a:rPr>
              <a:t>F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4419600" y="1562100"/>
            <a:ext cx="0" cy="708660"/>
          </a:xfrm>
          <a:prstGeom prst="line">
            <a:avLst/>
          </a:prstGeom>
          <a:ln w="45719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Oval 173"/>
          <p:cNvSpPr/>
          <p:nvPr/>
        </p:nvSpPr>
        <p:spPr>
          <a:xfrm>
            <a:off x="4267200" y="1874519"/>
            <a:ext cx="304800" cy="304800"/>
          </a:xfrm>
          <a:prstGeom prst="ellipse">
            <a:avLst/>
          </a:prstGeom>
          <a:solidFill>
            <a:srgbClr val="F7F7F7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4305300" y="2026920"/>
            <a:ext cx="228600" cy="0"/>
          </a:xfrm>
          <a:prstGeom prst="line">
            <a:avLst/>
          </a:prstGeom>
          <a:ln w="3048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4572000" y="1920240"/>
            <a:ext cx="1143000" cy="243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1">
                <a:solidFill>
                  <a:srgbClr val="0A0A0A"/>
                </a:solidFill>
                <a:latin typeface="DejaVu Serif"/>
              </a:rPr>
              <a:t>Difference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1262360" y="1562100"/>
            <a:ext cx="0" cy="708660"/>
          </a:xfrm>
          <a:prstGeom prst="line">
            <a:avLst/>
          </a:prstGeom>
          <a:ln w="45719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11109960" y="1874519"/>
            <a:ext cx="304800" cy="304800"/>
          </a:xfrm>
          <a:prstGeom prst="ellipse">
            <a:avLst/>
          </a:prstGeom>
          <a:solidFill>
            <a:srgbClr val="F7F7F7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11148060" y="2026920"/>
            <a:ext cx="228600" cy="0"/>
          </a:xfrm>
          <a:prstGeom prst="line">
            <a:avLst/>
          </a:prstGeom>
          <a:ln w="3048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11414760" y="1920240"/>
            <a:ext cx="1143000" cy="243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1">
                <a:solidFill>
                  <a:srgbClr val="0A0A0A"/>
                </a:solidFill>
                <a:latin typeface="DejaVu Serif"/>
              </a:rPr>
              <a:t>Difference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395460" y="1211580"/>
            <a:ext cx="701040" cy="365760"/>
          </a:xfrm>
          <a:prstGeom prst="roundRect">
            <a:avLst/>
          </a:prstGeom>
          <a:solidFill>
            <a:srgbClr val="F6B8A0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395460" y="1242060"/>
            <a:ext cx="70104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0A0A0A"/>
                </a:solidFill>
                <a:latin typeface="DejaVu Serif"/>
              </a:rPr>
              <a:t>GRL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176760" y="815340"/>
            <a:ext cx="1638300" cy="3429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BB111"/>
                </a:solidFill>
                <a:latin typeface="DejaVu Serif"/>
              </a:rPr>
              <a:t>ℒinvᴳᶠ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176760" y="2667000"/>
            <a:ext cx="1638300" cy="3429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BB111"/>
                </a:solidFill>
                <a:latin typeface="DejaVu Serif"/>
              </a:rPr>
              <a:t>ℒspeᴳᶠ</a:t>
            </a:r>
          </a:p>
        </p:txBody>
      </p:sp>
      <p:sp>
        <p:nvSpPr>
          <p:cNvPr id="185" name="Oval 184"/>
          <p:cNvSpPr/>
          <p:nvPr/>
        </p:nvSpPr>
        <p:spPr>
          <a:xfrm>
            <a:off x="12854940" y="1981199"/>
            <a:ext cx="274320" cy="274320"/>
          </a:xfrm>
          <a:prstGeom prst="ellipse">
            <a:avLst/>
          </a:prstGeom>
          <a:solidFill>
            <a:srgbClr val="D79B72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251180" y="1981199"/>
            <a:ext cx="274320" cy="274320"/>
          </a:xfrm>
          <a:prstGeom prst="ellipse">
            <a:avLst/>
          </a:prstGeom>
          <a:solidFill>
            <a:srgbClr val="E4AE88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655040" y="1981199"/>
            <a:ext cx="274320" cy="274320"/>
          </a:xfrm>
          <a:prstGeom prst="ellipse">
            <a:avLst/>
          </a:prstGeom>
          <a:solidFill>
            <a:srgbClr val="A6B4BF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2664440" y="2293620"/>
            <a:ext cx="1600200" cy="335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Semantic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2626340" y="1684020"/>
            <a:ext cx="1447800" cy="3810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A9AC4"/>
                </a:solidFill>
                <a:latin typeface="DejaVu Sans"/>
              </a:rPr>
              <a:t>↔</a:t>
            </a:r>
          </a:p>
        </p:txBody>
      </p:sp>
      <p:sp>
        <p:nvSpPr>
          <p:cNvPr id="190" name="Right Arrow 189"/>
          <p:cNvSpPr/>
          <p:nvPr/>
        </p:nvSpPr>
        <p:spPr>
          <a:xfrm rot="2520000">
            <a:off x="12169140" y="1706880"/>
            <a:ext cx="556260" cy="259080"/>
          </a:xfrm>
          <a:prstGeom prst="rightArrow">
            <a:avLst/>
          </a:prstGeom>
          <a:solidFill>
            <a:srgbClr val="FFF9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ight Arrow 190"/>
          <p:cNvSpPr/>
          <p:nvPr/>
        </p:nvSpPr>
        <p:spPr>
          <a:xfrm rot="19080000">
            <a:off x="12169140" y="2628900"/>
            <a:ext cx="556260" cy="259080"/>
          </a:xfrm>
          <a:prstGeom prst="rightArrow">
            <a:avLst/>
          </a:prstGeom>
          <a:solidFill>
            <a:srgbClr val="FFF9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2900660" y="1348740"/>
            <a:ext cx="2667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A0A0A"/>
                </a:solidFill>
                <a:latin typeface="DejaVu Serif"/>
              </a:rPr>
              <a:t>?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281660" y="1066800"/>
            <a:ext cx="2667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40" b="1" i="0">
                <a:solidFill>
                  <a:srgbClr val="E45B86"/>
                </a:solidFill>
                <a:latin typeface="DejaVu Serif"/>
              </a:rPr>
              <a:t>?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3639800" y="1348740"/>
            <a:ext cx="2667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A0A0A"/>
                </a:solidFill>
                <a:latin typeface="DejaVu Serif"/>
              </a:rPr>
              <a:t>?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1506200" y="3200400"/>
            <a:ext cx="0" cy="365760"/>
          </a:xfrm>
          <a:prstGeom prst="line">
            <a:avLst/>
          </a:prstGeom>
          <a:ln w="68580">
            <a:solidFill>
              <a:srgbClr val="EB7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ounded Rectangle 195"/>
          <p:cNvSpPr/>
          <p:nvPr/>
        </p:nvSpPr>
        <p:spPr>
          <a:xfrm>
            <a:off x="12298680" y="3535680"/>
            <a:ext cx="1676400" cy="495299"/>
          </a:xfrm>
          <a:prstGeom prst="roundRect">
            <a:avLst/>
          </a:prstGeom>
          <a:solidFill>
            <a:srgbClr val="FFF8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2435840" y="3638550"/>
            <a:ext cx="289560" cy="289560"/>
          </a:xfrm>
          <a:prstGeom prst="ellipse">
            <a:avLst/>
          </a:prstGeom>
          <a:solidFill>
            <a:srgbClr val="F5D15D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ight Arrow 197"/>
          <p:cNvSpPr/>
          <p:nvPr/>
        </p:nvSpPr>
        <p:spPr>
          <a:xfrm>
            <a:off x="12748260" y="3729990"/>
            <a:ext cx="358140" cy="106680"/>
          </a:xfrm>
          <a:prstGeom prst="rightArrow">
            <a:avLst/>
          </a:prstGeom>
          <a:solidFill>
            <a:srgbClr val="EFB189"/>
          </a:solidFill>
          <a:ln w="15240">
            <a:solidFill>
              <a:srgbClr val="EFB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2969240" y="3638550"/>
            <a:ext cx="289560" cy="289560"/>
          </a:xfrm>
          <a:prstGeom prst="ellipse">
            <a:avLst/>
          </a:prstGeom>
          <a:solidFill>
            <a:srgbClr val="F3B596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ight Arrow 199"/>
          <p:cNvSpPr/>
          <p:nvPr/>
        </p:nvSpPr>
        <p:spPr>
          <a:xfrm>
            <a:off x="13281660" y="3729990"/>
            <a:ext cx="358140" cy="106680"/>
          </a:xfrm>
          <a:prstGeom prst="rightArrow">
            <a:avLst/>
          </a:prstGeom>
          <a:solidFill>
            <a:srgbClr val="EFB189"/>
          </a:solidFill>
          <a:ln w="15240">
            <a:solidFill>
              <a:srgbClr val="EFB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502640" y="3638550"/>
            <a:ext cx="289560" cy="289560"/>
          </a:xfrm>
          <a:prstGeom prst="ellipse">
            <a:avLst/>
          </a:prstGeom>
          <a:solidFill>
            <a:srgbClr val="EB7825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2496800" y="4137660"/>
            <a:ext cx="12573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0" i="1">
                <a:solidFill>
                  <a:srgbClr val="EB7825"/>
                </a:solidFill>
                <a:latin typeface="DejaVu Serif"/>
              </a:rPr>
              <a:t>ℒprior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3136880" y="4046220"/>
            <a:ext cx="0" cy="640080"/>
          </a:xfrm>
          <a:prstGeom prst="line">
            <a:avLst/>
          </a:prstGeom>
          <a:ln w="3048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12748260" y="4701540"/>
            <a:ext cx="876300" cy="609600"/>
          </a:xfrm>
          <a:prstGeom prst="rect">
            <a:avLst/>
          </a:prstGeom>
          <a:solidFill>
            <a:srgbClr val="F1F0EC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2931140" y="4815840"/>
            <a:ext cx="914400" cy="624840"/>
          </a:xfrm>
          <a:prstGeom prst="rect">
            <a:avLst/>
          </a:prstGeom>
          <a:solidFill>
            <a:srgbClr val="E4F0F5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3114020" y="4945380"/>
            <a:ext cx="975360" cy="655320"/>
          </a:xfrm>
          <a:prstGeom prst="rect">
            <a:avLst/>
          </a:prstGeom>
          <a:solidFill>
            <a:srgbClr val="FFF7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3205460" y="5044440"/>
            <a:ext cx="822960" cy="487680"/>
          </a:xfrm>
          <a:prstGeom prst="rect">
            <a:avLst/>
          </a:prstGeom>
          <a:solidFill>
            <a:srgbClr val="C3EEF3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312140" y="5113020"/>
            <a:ext cx="137160" cy="137160"/>
          </a:xfrm>
          <a:prstGeom prst="ellipse">
            <a:avLst/>
          </a:prstGeom>
          <a:solidFill>
            <a:srgbClr val="FFDE45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Isosceles Triangle 208"/>
          <p:cNvSpPr/>
          <p:nvPr/>
        </p:nvSpPr>
        <p:spPr>
          <a:xfrm>
            <a:off x="13235940" y="5288280"/>
            <a:ext cx="792480" cy="243840"/>
          </a:xfrm>
          <a:prstGeom prst="triangle">
            <a:avLst/>
          </a:prstGeom>
          <a:solidFill>
            <a:srgbClr val="6EA785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2313920" y="582168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6666"/>
                </a:solidFill>
                <a:latin typeface="DejaVu Serif"/>
              </a:rPr>
              <a:t>Visual Stimuli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717280" y="5067300"/>
            <a:ext cx="2057400" cy="259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DejaVu Sans"/>
              </a:rPr>
              <a:t>Visual stimuli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105900" y="5448300"/>
            <a:ext cx="1676400" cy="259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DejaVu Sans"/>
              </a:rPr>
              <a:t>Image labels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991600" y="5829300"/>
            <a:ext cx="1790700" cy="259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DejaVu Sans"/>
              </a:rPr>
              <a:t>Image captions</a:t>
            </a:r>
          </a:p>
        </p:txBody>
      </p:sp>
      <p:sp>
        <p:nvSpPr>
          <p:cNvPr id="214" name="Oval 213"/>
          <p:cNvSpPr/>
          <p:nvPr/>
        </p:nvSpPr>
        <p:spPr>
          <a:xfrm>
            <a:off x="10149840" y="5090160"/>
            <a:ext cx="228600" cy="228600"/>
          </a:xfrm>
          <a:prstGeom prst="ellipse">
            <a:avLst/>
          </a:prstGeom>
          <a:solidFill>
            <a:srgbClr val="A9D97B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706100" y="5090160"/>
            <a:ext cx="228600" cy="228600"/>
          </a:xfrm>
          <a:prstGeom prst="ellipse">
            <a:avLst/>
          </a:prstGeom>
          <a:solidFill>
            <a:srgbClr val="F5D15D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363200" y="5471160"/>
            <a:ext cx="228600" cy="228600"/>
          </a:xfrm>
          <a:prstGeom prst="ellipse">
            <a:avLst/>
          </a:prstGeom>
          <a:solidFill>
            <a:srgbClr val="A6DF79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629900" y="5852160"/>
            <a:ext cx="228600" cy="228600"/>
          </a:xfrm>
          <a:prstGeom prst="ellipse">
            <a:avLst/>
          </a:prstGeom>
          <a:solidFill>
            <a:srgbClr val="EB7825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30480" y="6598920"/>
            <a:ext cx="14340840" cy="2514600"/>
          </a:xfrm>
          <a:prstGeom prst="roundRect">
            <a:avLst/>
          </a:prstGeom>
          <a:solidFill>
            <a:srgbClr val="FFFFFF"/>
          </a:solidFill>
          <a:ln w="22859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60960" y="6675120"/>
            <a:ext cx="2613660" cy="563880"/>
          </a:xfrm>
          <a:prstGeom prst="roundRect">
            <a:avLst/>
          </a:prstGeom>
          <a:solidFill>
            <a:srgbClr val="DFE5E7"/>
          </a:solidFill>
          <a:ln>
            <a:solidFill>
              <a:srgbClr val="DF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82880" y="6675120"/>
            <a:ext cx="2362200" cy="563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60" b="1" i="1">
                <a:solidFill>
                  <a:srgbClr val="0A0A0A"/>
                </a:solidFill>
                <a:latin typeface="DejaVu Serif"/>
              </a:rPr>
              <a:t>Inference</a:t>
            </a:r>
          </a:p>
        </p:txBody>
      </p:sp>
      <p:sp>
        <p:nvSpPr>
          <p:cNvPr id="221" name="Oval 220"/>
          <p:cNvSpPr/>
          <p:nvPr/>
        </p:nvSpPr>
        <p:spPr>
          <a:xfrm>
            <a:off x="815340" y="7559040"/>
            <a:ext cx="396240" cy="396240"/>
          </a:xfrm>
          <a:prstGeom prst="ellipse">
            <a:avLst/>
          </a:prstGeom>
          <a:solidFill>
            <a:srgbClr val="D8A17F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6300" y="7475220"/>
            <a:ext cx="274320" cy="274320"/>
          </a:xfrm>
          <a:prstGeom prst="ellipse">
            <a:avLst/>
          </a:prstGeom>
          <a:solidFill>
            <a:srgbClr val="6D617C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Arc 222"/>
          <p:cNvSpPr/>
          <p:nvPr/>
        </p:nvSpPr>
        <p:spPr>
          <a:xfrm>
            <a:off x="723900" y="8008620"/>
            <a:ext cx="579120" cy="457200"/>
          </a:xfrm>
          <a:prstGeom prst="arc">
            <a:avLst/>
          </a:prstGeom>
          <a:solidFill>
            <a:srgbClr val="78A9D4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04800" y="8793480"/>
            <a:ext cx="274320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0A0A0A"/>
                </a:solidFill>
                <a:latin typeface="DejaVu Serif"/>
              </a:rPr>
              <a:t>Test Unseen Subject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729740" y="7452360"/>
            <a:ext cx="654100" cy="507491"/>
          </a:xfrm>
          <a:prstGeom prst="roundRect">
            <a:avLst/>
          </a:prstGeom>
          <a:solidFill>
            <a:srgbClr val="EDF1ED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774850" y="7508747"/>
            <a:ext cx="563880" cy="377799"/>
          </a:xfrm>
          <a:prstGeom prst="rect">
            <a:avLst/>
          </a:prstGeom>
          <a:solidFill>
            <a:srgbClr val="FFF8EF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1836877" y="7542580"/>
            <a:ext cx="0" cy="304496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08683" y="7818882"/>
            <a:ext cx="490575" cy="0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1898904" y="7576413"/>
            <a:ext cx="327050" cy="248107"/>
          </a:xfrm>
          <a:prstGeom prst="ellipse">
            <a:avLst/>
          </a:prstGeom>
          <a:solidFill>
            <a:srgbClr val="F5B9A1"/>
          </a:solidFill>
          <a:ln w="22859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2056790" y="7610246"/>
            <a:ext cx="0" cy="180442"/>
          </a:xfrm>
          <a:prstGeom prst="line">
            <a:avLst/>
          </a:prstGeom>
          <a:ln w="15240">
            <a:solidFill>
              <a:srgbClr val="0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Chevron 230"/>
          <p:cNvSpPr/>
          <p:nvPr/>
        </p:nvSpPr>
        <p:spPr>
          <a:xfrm>
            <a:off x="2395118" y="7666634"/>
            <a:ext cx="281940" cy="14097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1887626" y="7971129"/>
            <a:ext cx="315772" cy="56388"/>
          </a:xfrm>
          <a:prstGeom prst="roundRect">
            <a:avLst/>
          </a:prstGeom>
          <a:solidFill>
            <a:srgbClr val="4D4D4D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1831238" y="8033156"/>
            <a:ext cx="428548" cy="56388"/>
          </a:xfrm>
          <a:prstGeom prst="roundRect">
            <a:avLst/>
          </a:prstGeom>
          <a:solidFill>
            <a:srgbClr val="A9A9A9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662074" y="7260640"/>
            <a:ext cx="789432" cy="1691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666666"/>
                </a:solidFill>
                <a:latin typeface="DejaVu Sans"/>
              </a:rPr>
              <a:t>fMRI</a:t>
            </a:r>
          </a:p>
        </p:txBody>
      </p:sp>
      <p:sp>
        <p:nvSpPr>
          <p:cNvPr id="235" name="Right Arrow 234"/>
          <p:cNvSpPr/>
          <p:nvPr/>
        </p:nvSpPr>
        <p:spPr>
          <a:xfrm>
            <a:off x="2529840" y="7863840"/>
            <a:ext cx="739140" cy="297180"/>
          </a:xfrm>
          <a:prstGeom prst="rightArrow">
            <a:avLst/>
          </a:prstGeom>
          <a:solidFill>
            <a:srgbClr val="F8F8F8"/>
          </a:solidFill>
          <a:ln w="3810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rapezoid 235"/>
          <p:cNvSpPr/>
          <p:nvPr/>
        </p:nvSpPr>
        <p:spPr>
          <a:xfrm>
            <a:off x="3352800" y="7452360"/>
            <a:ext cx="1059180" cy="1348740"/>
          </a:xfrm>
          <a:prstGeom prst="trapezoid">
            <a:avLst/>
          </a:prstGeom>
          <a:solidFill>
            <a:srgbClr val="EAF4F8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352800" y="7840979"/>
            <a:ext cx="1059180" cy="4648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80" b="1" i="0">
                <a:solidFill>
                  <a:srgbClr val="0A0A0A"/>
                </a:solidFill>
                <a:latin typeface="DejaVu Serif"/>
              </a:rPr>
              <a:t>ViT</a:t>
            </a:r>
          </a:p>
        </p:txBody>
      </p:sp>
      <p:sp>
        <p:nvSpPr>
          <p:cNvPr id="238" name="Right Arrow 237"/>
          <p:cNvSpPr/>
          <p:nvPr/>
        </p:nvSpPr>
        <p:spPr>
          <a:xfrm>
            <a:off x="4442460" y="7863840"/>
            <a:ext cx="876300" cy="297180"/>
          </a:xfrm>
          <a:prstGeom prst="rightArrow">
            <a:avLst/>
          </a:prstGeom>
          <a:solidFill>
            <a:srgbClr val="F8F8F8"/>
          </a:solidFill>
          <a:ln w="3810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457700" y="7437120"/>
            <a:ext cx="72390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A0A0A"/>
                </a:solidFill>
                <a:latin typeface="DejaVu Serif"/>
              </a:rPr>
              <a:t>ℱᵢ(·)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501640" y="7673340"/>
            <a:ext cx="1447800" cy="701040"/>
          </a:xfrm>
          <a:prstGeom prst="roundRect">
            <a:avLst/>
          </a:prstGeom>
          <a:solidFill>
            <a:srgbClr val="D4C697"/>
          </a:solidFill>
          <a:ln>
            <a:solidFill>
              <a:srgbClr val="D4C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5471160" y="7635240"/>
            <a:ext cx="1447800" cy="701040"/>
          </a:xfrm>
          <a:prstGeom prst="roundRect">
            <a:avLst/>
          </a:prstGeom>
          <a:solidFill>
            <a:srgbClr val="FFF5D2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471160" y="771144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Vision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471160" y="7962900"/>
            <a:ext cx="1447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DejaVu Serif"/>
              </a:rPr>
              <a:t>Projector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471160" y="8389620"/>
            <a:ext cx="1447800" cy="2667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0A0A0A"/>
                </a:solidFill>
                <a:latin typeface="DejaVu Serif"/>
              </a:rPr>
              <a:t>℘ₛ(·)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010400" y="7376160"/>
            <a:ext cx="259080" cy="259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1D2DD"/>
                </a:solidFill>
                <a:latin typeface="DejaVu Sans"/>
              </a:rPr>
              <a:t>❄</a:t>
            </a:r>
          </a:p>
        </p:txBody>
      </p:sp>
      <p:sp>
        <p:nvSpPr>
          <p:cNvPr id="246" name="Right Arrow 245"/>
          <p:cNvSpPr/>
          <p:nvPr/>
        </p:nvSpPr>
        <p:spPr>
          <a:xfrm>
            <a:off x="7132320" y="7863840"/>
            <a:ext cx="937259" cy="297180"/>
          </a:xfrm>
          <a:prstGeom prst="rightArrow">
            <a:avLst/>
          </a:prstGeom>
          <a:solidFill>
            <a:srgbClr val="F8F8F8"/>
          </a:solidFill>
          <a:ln w="3810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8191500" y="7772400"/>
            <a:ext cx="1676400" cy="495299"/>
          </a:xfrm>
          <a:prstGeom prst="roundRect">
            <a:avLst/>
          </a:prstGeom>
          <a:solidFill>
            <a:srgbClr val="FFF8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328659" y="7875270"/>
            <a:ext cx="289560" cy="289560"/>
          </a:xfrm>
          <a:prstGeom prst="ellipse">
            <a:avLst/>
          </a:prstGeom>
          <a:solidFill>
            <a:srgbClr val="F5D15D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ight Arrow 248"/>
          <p:cNvSpPr/>
          <p:nvPr/>
        </p:nvSpPr>
        <p:spPr>
          <a:xfrm>
            <a:off x="8641080" y="7966710"/>
            <a:ext cx="358140" cy="106680"/>
          </a:xfrm>
          <a:prstGeom prst="rightArrow">
            <a:avLst/>
          </a:prstGeom>
          <a:solidFill>
            <a:srgbClr val="EFB189"/>
          </a:solidFill>
          <a:ln w="15240">
            <a:solidFill>
              <a:srgbClr val="EFB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862060" y="7875270"/>
            <a:ext cx="289560" cy="289560"/>
          </a:xfrm>
          <a:prstGeom prst="ellipse">
            <a:avLst/>
          </a:prstGeom>
          <a:solidFill>
            <a:srgbClr val="F3B596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ight Arrow 250"/>
          <p:cNvSpPr/>
          <p:nvPr/>
        </p:nvSpPr>
        <p:spPr>
          <a:xfrm>
            <a:off x="9174480" y="7966710"/>
            <a:ext cx="358140" cy="106680"/>
          </a:xfrm>
          <a:prstGeom prst="rightArrow">
            <a:avLst/>
          </a:prstGeom>
          <a:solidFill>
            <a:srgbClr val="EFB189"/>
          </a:solidFill>
          <a:ln w="15240">
            <a:solidFill>
              <a:srgbClr val="EFB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9395460" y="7875270"/>
            <a:ext cx="289560" cy="289560"/>
          </a:xfrm>
          <a:prstGeom prst="ellipse">
            <a:avLst/>
          </a:prstGeom>
          <a:solidFill>
            <a:srgbClr val="EB7825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016240" y="8381999"/>
            <a:ext cx="2057400" cy="304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9" b="1" i="0">
                <a:solidFill>
                  <a:srgbClr val="0A0A0A"/>
                </a:solidFill>
                <a:latin typeface="DejaVu Serif"/>
              </a:rPr>
              <a:t>Diffusion Prior</a:t>
            </a:r>
          </a:p>
        </p:txBody>
      </p:sp>
      <p:sp>
        <p:nvSpPr>
          <p:cNvPr id="254" name="Right Arrow 253"/>
          <p:cNvSpPr/>
          <p:nvPr/>
        </p:nvSpPr>
        <p:spPr>
          <a:xfrm>
            <a:off x="9867900" y="7863840"/>
            <a:ext cx="914400" cy="297180"/>
          </a:xfrm>
          <a:prstGeom prst="rightArrow">
            <a:avLst/>
          </a:prstGeom>
          <a:solidFill>
            <a:srgbClr val="F8F8F8"/>
          </a:solidFill>
          <a:ln w="3810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rapezoid 254"/>
          <p:cNvSpPr/>
          <p:nvPr/>
        </p:nvSpPr>
        <p:spPr>
          <a:xfrm>
            <a:off x="10858500" y="7452360"/>
            <a:ext cx="990599" cy="1104900"/>
          </a:xfrm>
          <a:prstGeom prst="trapezoid">
            <a:avLst/>
          </a:prstGeom>
          <a:solidFill>
            <a:srgbClr val="F9EAD6"/>
          </a:solidFill>
          <a:ln w="3810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0858500" y="7863840"/>
            <a:ext cx="990599" cy="3810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80" b="1" i="0">
                <a:solidFill>
                  <a:srgbClr val="0A0A0A"/>
                </a:solidFill>
                <a:latin typeface="DejaVu Serif"/>
              </a:rPr>
              <a:t>SDXL</a:t>
            </a:r>
          </a:p>
        </p:txBody>
      </p:sp>
      <p:sp>
        <p:nvSpPr>
          <p:cNvPr id="257" name="Right Arrow 256"/>
          <p:cNvSpPr/>
          <p:nvPr/>
        </p:nvSpPr>
        <p:spPr>
          <a:xfrm>
            <a:off x="11887200" y="7863840"/>
            <a:ext cx="807720" cy="297180"/>
          </a:xfrm>
          <a:prstGeom prst="rightArrow">
            <a:avLst/>
          </a:prstGeom>
          <a:solidFill>
            <a:srgbClr val="F8F8F8"/>
          </a:solidFill>
          <a:ln w="3810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2786360" y="7482840"/>
            <a:ext cx="876300" cy="609600"/>
          </a:xfrm>
          <a:prstGeom prst="rect">
            <a:avLst/>
          </a:prstGeom>
          <a:solidFill>
            <a:srgbClr val="F1F0EC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2969240" y="7597140"/>
            <a:ext cx="914400" cy="624840"/>
          </a:xfrm>
          <a:prstGeom prst="rect">
            <a:avLst/>
          </a:prstGeom>
          <a:solidFill>
            <a:srgbClr val="E4F0F5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3152120" y="7726679"/>
            <a:ext cx="975360" cy="655320"/>
          </a:xfrm>
          <a:prstGeom prst="rect">
            <a:avLst/>
          </a:prstGeom>
          <a:solidFill>
            <a:srgbClr val="FFF7EF"/>
          </a:solidFill>
          <a:ln w="3048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3243560" y="7825740"/>
            <a:ext cx="822960" cy="487680"/>
          </a:xfrm>
          <a:prstGeom prst="rect">
            <a:avLst/>
          </a:prstGeom>
          <a:solidFill>
            <a:srgbClr val="C3EEF3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3350240" y="7894320"/>
            <a:ext cx="137160" cy="137160"/>
          </a:xfrm>
          <a:prstGeom prst="ellipse">
            <a:avLst/>
          </a:prstGeom>
          <a:solidFill>
            <a:srgbClr val="FFDE45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Isosceles Triangle 262"/>
          <p:cNvSpPr/>
          <p:nvPr/>
        </p:nvSpPr>
        <p:spPr>
          <a:xfrm>
            <a:off x="13274040" y="8069579"/>
            <a:ext cx="792480" cy="243840"/>
          </a:xfrm>
          <a:prstGeom prst="triangle">
            <a:avLst/>
          </a:prstGeom>
          <a:solidFill>
            <a:srgbClr val="6EA785"/>
          </a:solidFill>
          <a:ln w="15240">
            <a:solidFill>
              <a:srgbClr val="0A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2306300" y="689610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0A0A0A"/>
                </a:solidFill>
                <a:latin typeface="DejaVu Serif"/>
              </a:rPr>
              <a:t>Reconstructed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0A0A0A"/>
                </a:solidFill>
                <a:latin typeface="DejaVu Serif"/>
              </a:rPr>
              <a:t>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ZEBRA Towards Zero-Shot Cross-Subject Generalization for Universal Brain Visual Deco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2" y="0"/>
            <a:ext cx="14282776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