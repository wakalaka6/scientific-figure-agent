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596359" cy="84947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96359" cy="8494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37160"/>
            <a:ext cx="5586984" cy="3840480"/>
          </a:xfrm>
          <a:prstGeom prst="roundRect">
            <a:avLst/>
          </a:prstGeom>
          <a:solidFill>
            <a:srgbClr val="E8F3DD"/>
          </a:solidFill>
          <a:ln w="9525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24728" y="137160"/>
            <a:ext cx="3218688" cy="3840480"/>
          </a:xfrm>
          <a:prstGeom prst="roundRect">
            <a:avLst/>
          </a:prstGeom>
          <a:solidFill>
            <a:srgbClr val="FFFAF0"/>
          </a:solidFill>
          <a:ln w="9525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72016" y="137160"/>
            <a:ext cx="7324344" cy="3840480"/>
          </a:xfrm>
          <a:prstGeom prst="roundRect">
            <a:avLst/>
          </a:prstGeom>
          <a:solidFill>
            <a:srgbClr val="F2F0F5"/>
          </a:solidFill>
          <a:ln w="9525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288536"/>
            <a:ext cx="14648688" cy="4133087"/>
          </a:xfrm>
          <a:prstGeom prst="roundRect">
            <a:avLst/>
          </a:prstGeom>
          <a:solidFill>
            <a:srgbClr val="FFFEFA"/>
          </a:solidFill>
          <a:ln w="9525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" y="393192"/>
            <a:ext cx="2103120" cy="1289304"/>
          </a:xfrm>
          <a:prstGeom prst="rect">
            <a:avLst/>
          </a:prstGeom>
          <a:solidFill>
            <a:srgbClr val="2A72CF"/>
          </a:solidFill>
          <a:ln w="9525">
            <a:solidFill>
              <a:srgbClr val="1F5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undab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420624"/>
            <a:ext cx="2048256" cy="1234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47472" y="594360"/>
            <a:ext cx="2112264" cy="1298448"/>
          </a:xfrm>
          <a:prstGeom prst="rect">
            <a:avLst/>
          </a:prstGeom>
          <a:solidFill>
            <a:srgbClr val="2A72CF"/>
          </a:solidFill>
          <a:ln w="9525">
            <a:solidFill>
              <a:srgbClr val="1F5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undab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21792"/>
            <a:ext cx="2057400" cy="12435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6072" y="859536"/>
            <a:ext cx="2121408" cy="1307592"/>
          </a:xfrm>
          <a:prstGeom prst="rect">
            <a:avLst/>
          </a:prstGeom>
          <a:solidFill>
            <a:srgbClr val="2A72CF"/>
          </a:solidFill>
          <a:ln w="9525">
            <a:solidFill>
              <a:srgbClr val="1F5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undab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886968"/>
            <a:ext cx="2066543" cy="1252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" y="2359152"/>
            <a:ext cx="2697480" cy="146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>
                <a:solidFill>
                  <a:srgbClr val="111111"/>
                </a:solidFill>
                <a:latin typeface="Times New Roman"/>
              </a:rPr>
              <a:t>The green bus that is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>
                <a:solidFill>
                  <a:srgbClr val="111111"/>
                </a:solidFill>
                <a:latin typeface="Times New Roman"/>
              </a:rPr>
              <a:t>heading to the upper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>
                <a:solidFill>
                  <a:srgbClr val="111111"/>
                </a:solidFill>
                <a:latin typeface="Times New Roman"/>
              </a:rPr>
              <a:t>right, from the lower left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>
                <a:solidFill>
                  <a:srgbClr val="111111"/>
                </a:solidFill>
                <a:latin typeface="Times New Roman"/>
              </a:rPr>
              <a:t>corner of the Bell Tower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>
                <a:solidFill>
                  <a:srgbClr val="111111"/>
                </a:solidFill>
                <a:latin typeface="Times New Roman"/>
              </a:rPr>
              <a:t>roundabout</a:t>
            </a:r>
          </a:p>
        </p:txBody>
      </p:sp>
      <p:sp>
        <p:nvSpPr>
          <p:cNvPr id="14" name="Trapezoid 13"/>
          <p:cNvSpPr/>
          <p:nvPr/>
        </p:nvSpPr>
        <p:spPr>
          <a:xfrm>
            <a:off x="2852928" y="429768"/>
            <a:ext cx="1152144" cy="1463040"/>
          </a:xfrm>
          <a:prstGeom prst="trapezoid">
            <a:avLst/>
          </a:prstGeom>
          <a:solidFill>
            <a:srgbClr val="ACC1E9"/>
          </a:solidFill>
          <a:ln w="9525">
            <a:solidFill>
              <a:srgbClr val="90A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832104"/>
            <a:ext cx="1115568" cy="7589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11111"/>
                </a:solidFill>
                <a:latin typeface="Times New Roman"/>
              </a:rPr>
              <a:t>Visual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11111"/>
                </a:solidFill>
                <a:latin typeface="Times New Roman"/>
              </a:rPr>
              <a:t>Encoder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14215" y="1152144"/>
            <a:ext cx="374905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352544" y="1115568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4206240" y="1152144"/>
            <a:ext cx="1234440" cy="310896"/>
          </a:xfrm>
          <a:prstGeom prst="parallelogram">
            <a:avLst/>
          </a:prstGeom>
          <a:solidFill>
            <a:srgbClr val="4B7ED3"/>
          </a:solidFill>
          <a:ln w="9525">
            <a:solidFill>
              <a:srgbClr val="2A5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4407408" y="978408"/>
            <a:ext cx="932688" cy="228600"/>
          </a:xfrm>
          <a:prstGeom prst="parallelogram">
            <a:avLst/>
          </a:prstGeom>
          <a:solidFill>
            <a:srgbClr val="9DB8EA"/>
          </a:solidFill>
          <a:ln w="9525">
            <a:solidFill>
              <a:srgbClr val="2A5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4599432" y="795528"/>
            <a:ext cx="594360" cy="164592"/>
          </a:xfrm>
          <a:prstGeom prst="parallelogram">
            <a:avLst/>
          </a:prstGeom>
          <a:solidFill>
            <a:srgbClr val="C2D1F0"/>
          </a:solidFill>
          <a:ln w="9525">
            <a:solidFill>
              <a:srgbClr val="2A5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207008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S₃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969264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S₄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777240"/>
            <a:ext cx="3657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Times New Roman"/>
              </a:rPr>
              <a:t>S₅</a:t>
            </a:r>
          </a:p>
        </p:txBody>
      </p:sp>
      <p:sp>
        <p:nvSpPr>
          <p:cNvPr id="24" name="Trapezoid 23"/>
          <p:cNvSpPr/>
          <p:nvPr/>
        </p:nvSpPr>
        <p:spPr>
          <a:xfrm>
            <a:off x="2852928" y="2295144"/>
            <a:ext cx="1152144" cy="1408176"/>
          </a:xfrm>
          <a:prstGeom prst="trapezoid">
            <a:avLst/>
          </a:prstGeom>
          <a:solidFill>
            <a:srgbClr val="9BCC78"/>
          </a:solidFill>
          <a:ln w="9525">
            <a:solidFill>
              <a:srgbClr val="84B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2660904"/>
            <a:ext cx="1097280" cy="804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25" b="1">
                <a:solidFill>
                  <a:srgbClr val="111111"/>
                </a:solidFill>
                <a:latin typeface="Times New Roman"/>
              </a:rPr>
              <a:t>Language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25" b="1">
                <a:solidFill>
                  <a:srgbClr val="111111"/>
                </a:solidFill>
                <a:latin typeface="Times New Roman"/>
              </a:rPr>
              <a:t>Encoder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2450592"/>
            <a:ext cx="384048" cy="1124712"/>
          </a:xfrm>
          <a:prstGeom prst="roundRect">
            <a:avLst/>
          </a:prstGeom>
          <a:solidFill>
            <a:srgbClr val="ABD68D"/>
          </a:solidFill>
          <a:ln w="9525">
            <a:solidFill>
              <a:srgbClr val="95C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4425696" y="2624328"/>
            <a:ext cx="384048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111111"/>
                </a:solidFill>
                <a:latin typeface="Times New Roman"/>
              </a:rPr>
              <a:t>Linear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23360" y="2990088"/>
            <a:ext cx="402336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4389120" y="295351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809744" y="2990088"/>
            <a:ext cx="338328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5111496" y="295351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39512" y="2505456"/>
            <a:ext cx="137160" cy="155448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39512" y="2743200"/>
            <a:ext cx="137160" cy="155448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239512" y="2980944"/>
            <a:ext cx="137160" cy="155448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39512" y="3218688"/>
            <a:ext cx="137160" cy="155448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39512" y="3456432"/>
            <a:ext cx="137160" cy="155448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21224" y="2816352"/>
            <a:ext cx="1828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98464" y="749808"/>
            <a:ext cx="2825496" cy="804672"/>
          </a:xfrm>
          <a:prstGeom prst="roundRect">
            <a:avLst/>
          </a:prstGeom>
          <a:solidFill>
            <a:srgbClr val="E6F2FB"/>
          </a:solidFill>
          <a:ln w="9525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53328" y="905256"/>
            <a:ext cx="2715768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75" b="1">
                <a:solidFill>
                  <a:srgbClr val="111111"/>
                </a:solidFill>
                <a:latin typeface="Times New Roman"/>
              </a:rPr>
              <a:t>Cross-scale Visual-only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75" b="1">
                <a:solidFill>
                  <a:srgbClr val="111111"/>
                </a:solidFill>
                <a:latin typeface="Times New Roman"/>
              </a:rPr>
              <a:t>Fusion Branch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3912" y="301752"/>
            <a:ext cx="2633472" cy="256032"/>
          </a:xfrm>
          <a:prstGeom prst="roundRect">
            <a:avLst/>
          </a:prstGeom>
          <a:solidFill>
            <a:srgbClr val="FFFEF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36208" y="347472"/>
            <a:ext cx="137160" cy="146304"/>
          </a:xfrm>
          <a:prstGeom prst="roundRect">
            <a:avLst/>
          </a:prstGeom>
          <a:solidFill>
            <a:srgbClr val="D6E5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56832" y="347472"/>
            <a:ext cx="137160" cy="146304"/>
          </a:xfrm>
          <a:prstGeom prst="roundRect">
            <a:avLst/>
          </a:prstGeom>
          <a:solidFill>
            <a:srgbClr val="C9DEF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123176" y="347472"/>
            <a:ext cx="137160" cy="146304"/>
          </a:xfrm>
          <a:prstGeom prst="roundRect">
            <a:avLst/>
          </a:prstGeom>
          <a:solidFill>
            <a:srgbClr val="ACC9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43800" y="347472"/>
            <a:ext cx="137160" cy="146304"/>
          </a:xfrm>
          <a:prstGeom prst="roundRect">
            <a:avLst/>
          </a:prstGeom>
          <a:solidFill>
            <a:srgbClr val="C0D4F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19288" y="347472"/>
            <a:ext cx="137160" cy="146304"/>
          </a:xfrm>
          <a:prstGeom prst="roundRect">
            <a:avLst/>
          </a:prstGeom>
          <a:solidFill>
            <a:srgbClr val="8EB8E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49056" y="347472"/>
            <a:ext cx="137160" cy="146304"/>
          </a:xfrm>
          <a:prstGeom prst="roundRect">
            <a:avLst/>
          </a:prstGeom>
          <a:solidFill>
            <a:srgbClr val="B3CCE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356616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356616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356616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81544" y="356616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356616"/>
            <a:ext cx="1828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6300216" y="566928"/>
            <a:ext cx="0" cy="146304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>
            <a:off x="6263640" y="53035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6720840" y="566928"/>
            <a:ext cx="0" cy="146304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>
            <a:off x="6684264" y="53035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7214616" y="566928"/>
            <a:ext cx="0" cy="146304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>
            <a:off x="7178040" y="53035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7635240" y="566928"/>
            <a:ext cx="0" cy="146304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>
            <a:off x="7598664" y="53035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8129016" y="566928"/>
            <a:ext cx="0" cy="146304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>
            <a:off x="8092440" y="53035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8558784" y="566928"/>
            <a:ext cx="0" cy="146304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>
            <a:off x="8522208" y="53035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998464" y="2496312"/>
            <a:ext cx="2825496" cy="987552"/>
          </a:xfrm>
          <a:prstGeom prst="roundRect">
            <a:avLst/>
          </a:prstGeom>
          <a:solidFill>
            <a:srgbClr val="E4E7FF"/>
          </a:solidFill>
          <a:ln w="9525">
            <a:solidFill>
              <a:srgbClr val="E3E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53328" y="2578608"/>
            <a:ext cx="2715768" cy="8138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875" b="1">
                <a:solidFill>
                  <a:srgbClr val="111111"/>
                </a:solidFill>
                <a:latin typeface="Times New Roman"/>
              </a:rPr>
              <a:t>Intra-scale</a:t>
            </a:r>
          </a:p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875" b="1">
                <a:solidFill>
                  <a:srgbClr val="111111"/>
                </a:solidFill>
                <a:latin typeface="Times New Roman"/>
              </a:rPr>
              <a:t>Multi-modality</a:t>
            </a:r>
          </a:p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875" b="1">
                <a:solidFill>
                  <a:srgbClr val="111111"/>
                </a:solidFill>
                <a:latin typeface="Times New Roman"/>
              </a:rPr>
              <a:t>Interaction Branch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99048" y="2048256"/>
            <a:ext cx="137160" cy="146304"/>
          </a:xfrm>
          <a:prstGeom prst="roundRect">
            <a:avLst/>
          </a:prstGeom>
          <a:solidFill>
            <a:srgbClr val="E5E8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537960" y="2048256"/>
            <a:ext cx="137160" cy="146304"/>
          </a:xfrm>
          <a:prstGeom prst="roundRect">
            <a:avLst/>
          </a:prstGeom>
          <a:solidFill>
            <a:srgbClr val="E5E8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949440" y="2048256"/>
            <a:ext cx="137160" cy="146304"/>
          </a:xfrm>
          <a:prstGeom prst="roundRect">
            <a:avLst/>
          </a:prstGeom>
          <a:solidFill>
            <a:srgbClr val="E5E8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379208" y="2048256"/>
            <a:ext cx="137160" cy="146304"/>
          </a:xfrm>
          <a:prstGeom prst="roundRect">
            <a:avLst/>
          </a:prstGeom>
          <a:solidFill>
            <a:srgbClr val="E5E8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808975" y="2048256"/>
            <a:ext cx="137160" cy="146304"/>
          </a:xfrm>
          <a:prstGeom prst="roundRect">
            <a:avLst/>
          </a:prstGeom>
          <a:solidFill>
            <a:srgbClr val="E5E8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229600" y="2048256"/>
            <a:ext cx="137160" cy="146304"/>
          </a:xfrm>
          <a:prstGeom prst="roundRect">
            <a:avLst/>
          </a:prstGeom>
          <a:solidFill>
            <a:srgbClr val="E5E8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967728" y="2048256"/>
            <a:ext cx="137160" cy="146304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388352" y="2048256"/>
            <a:ext cx="137160" cy="146304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808975" y="2048256"/>
            <a:ext cx="137160" cy="146304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81544" y="2048256"/>
            <a:ext cx="137160" cy="146304"/>
          </a:xfrm>
          <a:prstGeom prst="roundRect">
            <a:avLst/>
          </a:prstGeom>
          <a:solidFill>
            <a:srgbClr val="FFB2BC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973568" y="2048256"/>
            <a:ext cx="137160" cy="146304"/>
          </a:xfrm>
          <a:prstGeom prst="roundRect">
            <a:avLst/>
          </a:prstGeom>
          <a:solidFill>
            <a:srgbClr val="FFB2BC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394192" y="2048256"/>
            <a:ext cx="137160" cy="146304"/>
          </a:xfrm>
          <a:prstGeom prst="roundRect">
            <a:avLst/>
          </a:prstGeom>
          <a:solidFill>
            <a:srgbClr val="FFB2BC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6181344" y="2212848"/>
            <a:ext cx="0" cy="2286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>
            <a:off x="6144768" y="217627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V="1">
            <a:off x="6611112" y="2212848"/>
            <a:ext cx="0" cy="2286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Isosceles Triangle 80"/>
          <p:cNvSpPr/>
          <p:nvPr/>
        </p:nvSpPr>
        <p:spPr>
          <a:xfrm>
            <a:off x="6574536" y="217627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V="1">
            <a:off x="7040880" y="2212848"/>
            <a:ext cx="0" cy="2286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Isosceles Triangle 82"/>
          <p:cNvSpPr/>
          <p:nvPr/>
        </p:nvSpPr>
        <p:spPr>
          <a:xfrm>
            <a:off x="7004304" y="217627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7470648" y="2212848"/>
            <a:ext cx="0" cy="2286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>
            <a:off x="7434072" y="217627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7900416" y="2212848"/>
            <a:ext cx="0" cy="2286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Isosceles Triangle 86"/>
          <p:cNvSpPr/>
          <p:nvPr/>
        </p:nvSpPr>
        <p:spPr>
          <a:xfrm>
            <a:off x="7863840" y="217627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8321040" y="2212848"/>
            <a:ext cx="0" cy="2286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Isosceles Triangle 88"/>
          <p:cNvSpPr/>
          <p:nvPr/>
        </p:nvSpPr>
        <p:spPr>
          <a:xfrm>
            <a:off x="8284464" y="217627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099048" y="3739896"/>
            <a:ext cx="137160" cy="146304"/>
          </a:xfrm>
          <a:prstGeom prst="roundRect">
            <a:avLst/>
          </a:prstGeom>
          <a:solidFill>
            <a:srgbClr val="E5E8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492240" y="3739896"/>
            <a:ext cx="137160" cy="146304"/>
          </a:xfrm>
          <a:prstGeom prst="roundRect">
            <a:avLst/>
          </a:prstGeom>
          <a:solidFill>
            <a:srgbClr val="E5E8EE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940296" y="3739896"/>
            <a:ext cx="137160" cy="146304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7360920" y="3739896"/>
            <a:ext cx="137160" cy="146304"/>
          </a:xfrm>
          <a:prstGeom prst="roundRect">
            <a:avLst/>
          </a:prstGeom>
          <a:solidFill>
            <a:srgbClr val="B5D89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799831" y="3739896"/>
            <a:ext cx="137160" cy="146304"/>
          </a:xfrm>
          <a:prstGeom prst="roundRect">
            <a:avLst/>
          </a:prstGeom>
          <a:solidFill>
            <a:srgbClr val="FFB2BC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001000" y="3739896"/>
            <a:ext cx="137160" cy="146304"/>
          </a:xfrm>
          <a:prstGeom prst="roundRect">
            <a:avLst/>
          </a:prstGeom>
          <a:solidFill>
            <a:srgbClr val="FFB2BC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394192" y="3739896"/>
            <a:ext cx="137160" cy="146304"/>
          </a:xfrm>
          <a:prstGeom prst="roundRect">
            <a:avLst/>
          </a:prstGeom>
          <a:solidFill>
            <a:srgbClr val="FFB2BC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6163056" y="3502152"/>
            <a:ext cx="0" cy="210311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>
            <a:off x="6126480" y="346557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 flipV="1">
            <a:off x="6556248" y="3502152"/>
            <a:ext cx="0" cy="210311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>
            <a:off x="6519672" y="346557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7004304" y="3502152"/>
            <a:ext cx="0" cy="210311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>
            <a:off x="6967728" y="346557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 flipV="1">
            <a:off x="7424927" y="3502152"/>
            <a:ext cx="0" cy="210311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Isosceles Triangle 103"/>
          <p:cNvSpPr/>
          <p:nvPr/>
        </p:nvSpPr>
        <p:spPr>
          <a:xfrm>
            <a:off x="7388352" y="346557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7872983" y="3502152"/>
            <a:ext cx="0" cy="210311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/>
          <p:nvPr/>
        </p:nvSpPr>
        <p:spPr>
          <a:xfrm>
            <a:off x="7836408" y="346557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 flipV="1">
            <a:off x="8074152" y="3502152"/>
            <a:ext cx="0" cy="210311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>
            <a:off x="8037575" y="346557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8467344" y="3502152"/>
            <a:ext cx="0" cy="210311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>
            <a:off x="8430768" y="346557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82512" y="3712463"/>
            <a:ext cx="2194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70064" y="3712463"/>
            <a:ext cx="2194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6720" y="3712463"/>
            <a:ext cx="2194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5449824" y="1161288"/>
            <a:ext cx="548640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Isosceles Triangle 114"/>
          <p:cNvSpPr/>
          <p:nvPr/>
        </p:nvSpPr>
        <p:spPr>
          <a:xfrm rot="5400000">
            <a:off x="5961888" y="112471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5449824" y="2990088"/>
            <a:ext cx="548640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5961888" y="295351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arallelogram 117"/>
          <p:cNvSpPr/>
          <p:nvPr/>
        </p:nvSpPr>
        <p:spPr>
          <a:xfrm>
            <a:off x="6163056" y="1783080"/>
            <a:ext cx="274320" cy="219456"/>
          </a:xfrm>
          <a:prstGeom prst="parallelogram">
            <a:avLst/>
          </a:prstGeom>
          <a:solidFill>
            <a:srgbClr val="93A8D7"/>
          </a:solidFill>
          <a:ln w="9525">
            <a:solidFill>
              <a:srgbClr val="3C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6300216" y="2002536"/>
            <a:ext cx="0" cy="493776"/>
          </a:xfrm>
          <a:prstGeom prst="line">
            <a:avLst/>
          </a:prstGeom>
          <a:ln w="1333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10800000">
            <a:off x="6263640" y="245973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7141464" y="1691640"/>
            <a:ext cx="0" cy="804672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141464" y="1691640"/>
            <a:ext cx="2331720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823960" y="1152144"/>
            <a:ext cx="630936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5400000">
            <a:off x="9418320" y="1115568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8823960" y="2999232"/>
            <a:ext cx="630936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Isosceles Triangle 125"/>
          <p:cNvSpPr/>
          <p:nvPr/>
        </p:nvSpPr>
        <p:spPr>
          <a:xfrm rot="5400000">
            <a:off x="9418320" y="296265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9464040" y="521207"/>
            <a:ext cx="1499616" cy="1280160"/>
          </a:xfrm>
          <a:prstGeom prst="roundRect">
            <a:avLst/>
          </a:prstGeom>
          <a:solidFill>
            <a:srgbClr val="E8F5D8"/>
          </a:solidFill>
          <a:ln w="9525">
            <a:solidFill>
              <a:srgbClr val="78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518904" y="713232"/>
            <a:ext cx="1389888" cy="9509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75" b="1">
                <a:solidFill>
                  <a:srgbClr val="111111"/>
                </a:solidFill>
                <a:latin typeface="Times New Roman"/>
              </a:rPr>
              <a:t>Multi-level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75" b="1">
                <a:solidFill>
                  <a:srgbClr val="111111"/>
                </a:solidFill>
                <a:latin typeface="Times New Roman"/>
              </a:rPr>
              <a:t>Language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75" b="1">
                <a:solidFill>
                  <a:srgbClr val="111111"/>
                </a:solidFill>
                <a:latin typeface="Times New Roman"/>
              </a:rPr>
              <a:t>Modulation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464040" y="2432304"/>
            <a:ext cx="1499616" cy="1115568"/>
          </a:xfrm>
          <a:prstGeom prst="roundRect">
            <a:avLst/>
          </a:prstGeom>
          <a:solidFill>
            <a:srgbClr val="F5D0AD"/>
          </a:solidFill>
          <a:ln w="9525">
            <a:solidFill>
              <a:srgbClr val="C77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518904" y="2587752"/>
            <a:ext cx="1389888" cy="8412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Times New Roman"/>
              </a:rPr>
              <a:t>Query and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Times New Roman"/>
              </a:rPr>
              <a:t>Position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Times New Roman"/>
              </a:rPr>
              <a:t>Generator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2124944" y="594360"/>
            <a:ext cx="146304" cy="146304"/>
          </a:xfrm>
          <a:prstGeom prst="roundRect">
            <a:avLst/>
          </a:prstGeom>
          <a:solidFill>
            <a:srgbClr val="EDF6D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12545568" y="594360"/>
            <a:ext cx="146304" cy="146304"/>
          </a:xfrm>
          <a:prstGeom prst="roundRect">
            <a:avLst/>
          </a:prstGeom>
          <a:solidFill>
            <a:srgbClr val="CEDFA9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3075920" y="594360"/>
            <a:ext cx="146304" cy="146304"/>
          </a:xfrm>
          <a:prstGeom prst="roundRect">
            <a:avLst/>
          </a:prstGeom>
          <a:solidFill>
            <a:srgbClr val="EFF6D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3496544" y="594360"/>
            <a:ext cx="146304" cy="146304"/>
          </a:xfrm>
          <a:prstGeom prst="roundRect">
            <a:avLst/>
          </a:prstGeom>
          <a:solidFill>
            <a:srgbClr val="BED37C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4017752" y="594360"/>
            <a:ext cx="146304" cy="146304"/>
          </a:xfrm>
          <a:prstGeom prst="roundRect">
            <a:avLst/>
          </a:prstGeom>
          <a:solidFill>
            <a:srgbClr val="EEF5D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4410944" y="594360"/>
            <a:ext cx="146304" cy="146304"/>
          </a:xfrm>
          <a:prstGeom prst="roundRect">
            <a:avLst/>
          </a:prstGeom>
          <a:solidFill>
            <a:srgbClr val="8BB268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2124944" y="850392"/>
            <a:ext cx="146304" cy="146304"/>
          </a:xfrm>
          <a:prstGeom prst="roundRect">
            <a:avLst/>
          </a:prstGeom>
          <a:solidFill>
            <a:srgbClr val="D9E8F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2545568" y="850392"/>
            <a:ext cx="146304" cy="146304"/>
          </a:xfrm>
          <a:prstGeom prst="roundRect">
            <a:avLst/>
          </a:prstGeom>
          <a:solidFill>
            <a:srgbClr val="D1E1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3075920" y="850392"/>
            <a:ext cx="146304" cy="146304"/>
          </a:xfrm>
          <a:prstGeom prst="roundRect">
            <a:avLst/>
          </a:prstGeom>
          <a:solidFill>
            <a:srgbClr val="D9E8F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3496544" y="850392"/>
            <a:ext cx="146304" cy="146304"/>
          </a:xfrm>
          <a:prstGeom prst="roundRect">
            <a:avLst/>
          </a:prstGeom>
          <a:solidFill>
            <a:srgbClr val="A9C5ED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4017752" y="850392"/>
            <a:ext cx="146304" cy="146304"/>
          </a:xfrm>
          <a:prstGeom prst="roundRect">
            <a:avLst/>
          </a:prstGeom>
          <a:solidFill>
            <a:srgbClr val="C9DCF4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4410944" y="850392"/>
            <a:ext cx="146304" cy="146304"/>
          </a:xfrm>
          <a:prstGeom prst="roundRect">
            <a:avLst/>
          </a:prstGeom>
          <a:solidFill>
            <a:srgbClr val="8FB5E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307824" y="585216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307824" y="841248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258800" y="585216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3258800" y="841248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209776" y="585216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4209776" y="841248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951208" y="182880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high-level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2874752" y="182880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mid-level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807440" y="182880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Times New Roman"/>
              </a:rPr>
              <a:t>low-level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12417552" y="1033271"/>
            <a:ext cx="0" cy="201169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sosceles Triangle 152"/>
          <p:cNvSpPr/>
          <p:nvPr/>
        </p:nvSpPr>
        <p:spPr>
          <a:xfrm rot="10800000">
            <a:off x="12380976" y="119786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13368528" y="1033271"/>
            <a:ext cx="0" cy="201169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sosceles Triangle 154"/>
          <p:cNvSpPr/>
          <p:nvPr/>
        </p:nvSpPr>
        <p:spPr>
          <a:xfrm rot="10800000">
            <a:off x="13331952" y="119786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14301216" y="1033271"/>
            <a:ext cx="0" cy="201169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Isosceles Triangle 156"/>
          <p:cNvSpPr/>
          <p:nvPr/>
        </p:nvSpPr>
        <p:spPr>
          <a:xfrm rot="10800000">
            <a:off x="14264640" y="119786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11402568" y="1325880"/>
            <a:ext cx="182880" cy="201168"/>
          </a:xfrm>
          <a:prstGeom prst="roundRect">
            <a:avLst/>
          </a:prstGeom>
          <a:solidFill>
            <a:srgbClr val="F6C09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1402568" y="1783080"/>
            <a:ext cx="182880" cy="201168"/>
          </a:xfrm>
          <a:prstGeom prst="roundRect">
            <a:avLst/>
          </a:prstGeom>
          <a:solidFill>
            <a:srgbClr val="F6C09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11402568" y="2240280"/>
            <a:ext cx="182880" cy="201168"/>
          </a:xfrm>
          <a:prstGeom prst="roundRect">
            <a:avLst/>
          </a:prstGeom>
          <a:solidFill>
            <a:srgbClr val="F6C09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1402568" y="2697480"/>
            <a:ext cx="182880" cy="201168"/>
          </a:xfrm>
          <a:prstGeom prst="roundRect">
            <a:avLst/>
          </a:prstGeom>
          <a:solidFill>
            <a:srgbClr val="F6C09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320272" y="1883664"/>
            <a:ext cx="3657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0" i="0">
                <a:solidFill>
                  <a:srgbClr val="111111"/>
                </a:solidFill>
                <a:latin typeface="Times New Roman"/>
              </a:rPr>
              <a:t>⋮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63656" y="3145536"/>
            <a:ext cx="786384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Object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query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10963656" y="2990088"/>
            <a:ext cx="356616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Isosceles Triangle 164"/>
          <p:cNvSpPr/>
          <p:nvPr/>
        </p:nvSpPr>
        <p:spPr>
          <a:xfrm rot="5400000">
            <a:off x="11283696" y="295351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 flipV="1">
            <a:off x="11128248" y="2103120"/>
            <a:ext cx="0" cy="886968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1128248" y="2103120"/>
            <a:ext cx="210312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Isosceles Triangle 167"/>
          <p:cNvSpPr/>
          <p:nvPr/>
        </p:nvSpPr>
        <p:spPr>
          <a:xfrm rot="5400000">
            <a:off x="11301984" y="2066543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11932920" y="1188720"/>
            <a:ext cx="2770632" cy="1847088"/>
          </a:xfrm>
          <a:prstGeom prst="roundRect">
            <a:avLst/>
          </a:prstGeom>
          <a:solidFill>
            <a:srgbClr val="FBF7FF"/>
          </a:solidFill>
          <a:ln w="9525">
            <a:solidFill>
              <a:srgbClr val="8F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12115800" y="1344168"/>
            <a:ext cx="621792" cy="1545336"/>
          </a:xfrm>
          <a:prstGeom prst="roundRect">
            <a:avLst/>
          </a:prstGeom>
          <a:solidFill>
            <a:srgbClr val="F1E2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 rot="16200000">
            <a:off x="12188952" y="1645920"/>
            <a:ext cx="475488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High-level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2984480" y="1344168"/>
            <a:ext cx="621792" cy="1545336"/>
          </a:xfrm>
          <a:prstGeom prst="roundRect">
            <a:avLst/>
          </a:prstGeom>
          <a:solidFill>
            <a:srgbClr val="F1E2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 rot="16200000">
            <a:off x="13057632" y="1645920"/>
            <a:ext cx="475488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Mid-level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3880592" y="1344168"/>
            <a:ext cx="621792" cy="1545336"/>
          </a:xfrm>
          <a:prstGeom prst="roundRect">
            <a:avLst/>
          </a:prstGeom>
          <a:solidFill>
            <a:srgbClr val="F1E2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 rot="16200000">
            <a:off x="13953744" y="1645920"/>
            <a:ext cx="475488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Low-level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2746736" y="2103120"/>
            <a:ext cx="237744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5400000">
            <a:off x="12947904" y="2066543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13606272" y="2103120"/>
            <a:ext cx="274320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Isosceles Triangle 178"/>
          <p:cNvSpPr/>
          <p:nvPr/>
        </p:nvSpPr>
        <p:spPr>
          <a:xfrm rot="5400000">
            <a:off x="13844016" y="2066543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942064" y="3090672"/>
            <a:ext cx="274320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25" b="1">
                <a:solidFill>
                  <a:srgbClr val="111111"/>
                </a:solidFill>
                <a:latin typeface="Times New Roman"/>
              </a:rPr>
              <a:t>Multi-level Progressive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25" b="1">
                <a:solidFill>
                  <a:srgbClr val="111111"/>
                </a:solidFill>
                <a:latin typeface="Times New Roman"/>
              </a:rPr>
              <a:t>Spatial Decoder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4740128" y="182880"/>
            <a:ext cx="1837943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111111"/>
                </a:solidFill>
                <a:latin typeface="Times New Roman"/>
              </a:rPr>
              <a:t>Predicted Tube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4977872" y="493776"/>
            <a:ext cx="1536192" cy="832104"/>
          </a:xfrm>
          <a:prstGeom prst="rect">
            <a:avLst/>
          </a:prstGeom>
          <a:solidFill>
            <a:srgbClr val="2B2B2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tub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4448" y="530352"/>
            <a:ext cx="1463040" cy="758952"/>
          </a:xfrm>
          <a:prstGeom prst="rect">
            <a:avLst/>
          </a:prstGeom>
        </p:spPr>
      </p:pic>
      <p:sp>
        <p:nvSpPr>
          <p:cNvPr id="184" name="Rectangle 183"/>
          <p:cNvSpPr/>
          <p:nvPr/>
        </p:nvSpPr>
        <p:spPr>
          <a:xfrm>
            <a:off x="14977872" y="1399032"/>
            <a:ext cx="1536192" cy="832104"/>
          </a:xfrm>
          <a:prstGeom prst="rect">
            <a:avLst/>
          </a:prstGeom>
          <a:solidFill>
            <a:srgbClr val="2B2B2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Picture 184" descr="tub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4448" y="1435608"/>
            <a:ext cx="1463040" cy="758952"/>
          </a:xfrm>
          <a:prstGeom prst="rect">
            <a:avLst/>
          </a:prstGeom>
        </p:spPr>
      </p:pic>
      <p:sp>
        <p:nvSpPr>
          <p:cNvPr id="186" name="Rectangle 185"/>
          <p:cNvSpPr/>
          <p:nvPr/>
        </p:nvSpPr>
        <p:spPr>
          <a:xfrm>
            <a:off x="14977872" y="2295144"/>
            <a:ext cx="1536192" cy="832104"/>
          </a:xfrm>
          <a:prstGeom prst="rect">
            <a:avLst/>
          </a:prstGeom>
          <a:solidFill>
            <a:srgbClr val="2B2B2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tube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14448" y="2331720"/>
            <a:ext cx="1463040" cy="758952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15627096" y="1152144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5627096" y="2048256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468880" y="4041648"/>
            <a:ext cx="62179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75" b="1" i="0">
                <a:solidFill>
                  <a:srgbClr val="111111"/>
                </a:solidFill>
                <a:latin typeface="Times New Roman"/>
              </a:rPr>
              <a:t>(a)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114032" y="4041648"/>
            <a:ext cx="62179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75" b="1" i="0">
                <a:solidFill>
                  <a:srgbClr val="111111"/>
                </a:solidFill>
                <a:latin typeface="Times New Roman"/>
              </a:rPr>
              <a:t>(b)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2637008" y="4041648"/>
            <a:ext cx="62179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75" b="1" i="0">
                <a:solidFill>
                  <a:srgbClr val="111111"/>
                </a:solidFill>
                <a:latin typeface="Times New Roman"/>
              </a:rPr>
              <a:t>(c)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216152" y="5065776"/>
            <a:ext cx="4919472" cy="2542032"/>
          </a:xfrm>
          <a:prstGeom prst="roundRect">
            <a:avLst/>
          </a:prstGeom>
          <a:solidFill>
            <a:srgbClr val="E4E7FF"/>
          </a:solidFill>
          <a:ln w="9525">
            <a:solidFill>
              <a:srgbClr val="D9D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1655064" y="4617720"/>
            <a:ext cx="201168" cy="201168"/>
          </a:xfrm>
          <a:prstGeom prst="roundRect">
            <a:avLst/>
          </a:prstGeom>
          <a:solidFill>
            <a:srgbClr val="DBE7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1947672" y="4617720"/>
            <a:ext cx="201168" cy="201168"/>
          </a:xfrm>
          <a:prstGeom prst="roundRect">
            <a:avLst/>
          </a:prstGeom>
          <a:solidFill>
            <a:srgbClr val="C9DEF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2404872" y="4617720"/>
            <a:ext cx="201168" cy="201168"/>
          </a:xfrm>
          <a:prstGeom prst="roundRect">
            <a:avLst/>
          </a:prstGeom>
          <a:solidFill>
            <a:srgbClr val="DBE7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121408" y="4581144"/>
            <a:ext cx="228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944368" y="4617720"/>
            <a:ext cx="201168" cy="201168"/>
          </a:xfrm>
          <a:prstGeom prst="roundRect">
            <a:avLst/>
          </a:prstGeom>
          <a:solidFill>
            <a:srgbClr val="B6DB9C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3236976" y="4617720"/>
            <a:ext cx="201168" cy="201168"/>
          </a:xfrm>
          <a:prstGeom prst="roundRect">
            <a:avLst/>
          </a:prstGeom>
          <a:solidFill>
            <a:srgbClr val="ABD38D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3694176" y="4617720"/>
            <a:ext cx="201168" cy="201168"/>
          </a:xfrm>
          <a:prstGeom prst="roundRect">
            <a:avLst/>
          </a:prstGeom>
          <a:solidFill>
            <a:srgbClr val="B6DB9C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401568" y="4581144"/>
            <a:ext cx="228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251960" y="4617720"/>
            <a:ext cx="201168" cy="201168"/>
          </a:xfrm>
          <a:prstGeom prst="roundRect">
            <a:avLst/>
          </a:prstGeom>
          <a:solidFill>
            <a:srgbClr val="FFB7C0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4809744" y="4617720"/>
            <a:ext cx="201168" cy="201168"/>
          </a:xfrm>
          <a:prstGeom prst="roundRect">
            <a:avLst/>
          </a:prstGeom>
          <a:solidFill>
            <a:srgbClr val="D1B5E7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5193792" y="4617720"/>
            <a:ext cx="201168" cy="201168"/>
          </a:xfrm>
          <a:prstGeom prst="roundRect">
            <a:avLst/>
          </a:prstGeom>
          <a:solidFill>
            <a:srgbClr val="D1B5E7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873752" y="4581144"/>
            <a:ext cx="228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cxnSp>
        <p:nvCxnSpPr>
          <p:cNvPr id="206" name="Connector 205"/>
          <p:cNvCxnSpPr/>
          <p:nvPr/>
        </p:nvCxnSpPr>
        <p:spPr>
          <a:xfrm flipV="1">
            <a:off x="2066543" y="4828032"/>
            <a:ext cx="0" cy="173736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Isosceles Triangle 206"/>
          <p:cNvSpPr/>
          <p:nvPr/>
        </p:nvSpPr>
        <p:spPr>
          <a:xfrm>
            <a:off x="2029968" y="479145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 flipV="1">
            <a:off x="3401568" y="4828032"/>
            <a:ext cx="0" cy="173736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Isosceles Triangle 208"/>
          <p:cNvSpPr/>
          <p:nvPr/>
        </p:nvSpPr>
        <p:spPr>
          <a:xfrm>
            <a:off x="3364992" y="479145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 flipV="1">
            <a:off x="4352544" y="4828032"/>
            <a:ext cx="0" cy="173736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Isosceles Triangle 210"/>
          <p:cNvSpPr/>
          <p:nvPr/>
        </p:nvSpPr>
        <p:spPr>
          <a:xfrm>
            <a:off x="4315968" y="479145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2" name="Connector 211"/>
          <p:cNvCxnSpPr/>
          <p:nvPr/>
        </p:nvCxnSpPr>
        <p:spPr>
          <a:xfrm flipV="1">
            <a:off x="4919472" y="4828032"/>
            <a:ext cx="0" cy="173736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Isosceles Triangle 212"/>
          <p:cNvSpPr/>
          <p:nvPr/>
        </p:nvSpPr>
        <p:spPr>
          <a:xfrm>
            <a:off x="4882896" y="479145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2093976" y="5074920"/>
            <a:ext cx="3456432" cy="539496"/>
          </a:xfrm>
          <a:prstGeom prst="roundRect">
            <a:avLst/>
          </a:prstGeom>
          <a:solidFill>
            <a:srgbClr val="D9EBC4"/>
          </a:solidFill>
          <a:ln w="9525">
            <a:solidFill>
              <a:srgbClr val="A8B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112264" y="5212080"/>
            <a:ext cx="34198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25" b="1" i="0">
                <a:solidFill>
                  <a:srgbClr val="111111"/>
                </a:solidFill>
                <a:latin typeface="Times New Roman"/>
              </a:rPr>
              <a:t>temporal interaction layer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2368296" y="6364224"/>
            <a:ext cx="2898648" cy="530352"/>
          </a:xfrm>
          <a:prstGeom prst="roundRect">
            <a:avLst/>
          </a:prstGeom>
          <a:solidFill>
            <a:srgbClr val="FFF6DA"/>
          </a:solidFill>
          <a:ln w="9525">
            <a:solidFill>
              <a:srgbClr val="CF8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386584" y="6519672"/>
            <a:ext cx="286207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75" b="1" i="0">
                <a:solidFill>
                  <a:srgbClr val="111111"/>
                </a:solidFill>
                <a:latin typeface="Times New Roman"/>
              </a:rPr>
              <a:t>spatial interaction layer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453896" y="6839712"/>
            <a:ext cx="2880360" cy="539496"/>
          </a:xfrm>
          <a:prstGeom prst="roundRect">
            <a:avLst/>
          </a:prstGeom>
          <a:solidFill>
            <a:srgbClr val="FFF6DA"/>
          </a:solidFill>
          <a:ln w="9525">
            <a:solidFill>
              <a:srgbClr val="CF8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472184" y="6995160"/>
            <a:ext cx="284378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75" b="1" i="0">
                <a:solidFill>
                  <a:srgbClr val="111111"/>
                </a:solidFill>
                <a:latin typeface="Times New Roman"/>
              </a:rPr>
              <a:t>spatial interaction layer</a:t>
            </a:r>
          </a:p>
        </p:txBody>
      </p:sp>
      <p:cxnSp>
        <p:nvCxnSpPr>
          <p:cNvPr id="220" name="Connector 219"/>
          <p:cNvCxnSpPr/>
          <p:nvPr/>
        </p:nvCxnSpPr>
        <p:spPr>
          <a:xfrm flipV="1">
            <a:off x="2560320" y="5669280"/>
            <a:ext cx="0" cy="6858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Isosceles Triangle 220"/>
          <p:cNvSpPr/>
          <p:nvPr/>
        </p:nvSpPr>
        <p:spPr>
          <a:xfrm>
            <a:off x="2523744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 flipV="1">
            <a:off x="3904487" y="5669280"/>
            <a:ext cx="0" cy="6858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Isosceles Triangle 222"/>
          <p:cNvSpPr/>
          <p:nvPr/>
        </p:nvSpPr>
        <p:spPr>
          <a:xfrm>
            <a:off x="3867912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 flipV="1">
            <a:off x="4297680" y="5669280"/>
            <a:ext cx="0" cy="6858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Isosceles Triangle 224"/>
          <p:cNvSpPr/>
          <p:nvPr/>
        </p:nvSpPr>
        <p:spPr>
          <a:xfrm>
            <a:off x="4261104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 flipV="1">
            <a:off x="4645152" y="5669280"/>
            <a:ext cx="0" cy="6858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Isosceles Triangle 226"/>
          <p:cNvSpPr/>
          <p:nvPr/>
        </p:nvSpPr>
        <p:spPr>
          <a:xfrm>
            <a:off x="4608576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8" name="Connector 227"/>
          <p:cNvCxnSpPr/>
          <p:nvPr/>
        </p:nvCxnSpPr>
        <p:spPr>
          <a:xfrm flipV="1">
            <a:off x="4983480" y="5669280"/>
            <a:ext cx="0" cy="68580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Isosceles Triangle 228"/>
          <p:cNvSpPr/>
          <p:nvPr/>
        </p:nvSpPr>
        <p:spPr>
          <a:xfrm>
            <a:off x="4946904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 flipV="1">
            <a:off x="1947672" y="5669280"/>
            <a:ext cx="0" cy="1161288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Isosceles Triangle 230"/>
          <p:cNvSpPr/>
          <p:nvPr/>
        </p:nvSpPr>
        <p:spPr>
          <a:xfrm>
            <a:off x="1911095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 flipV="1">
            <a:off x="2377440" y="5669280"/>
            <a:ext cx="0" cy="1161288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Isosceles Triangle 232"/>
          <p:cNvSpPr/>
          <p:nvPr/>
        </p:nvSpPr>
        <p:spPr>
          <a:xfrm>
            <a:off x="2340864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2459736" y="5861304"/>
            <a:ext cx="192024" cy="192024"/>
          </a:xfrm>
          <a:prstGeom prst="roundRect">
            <a:avLst/>
          </a:prstGeom>
          <a:solidFill>
            <a:srgbClr val="FFABB8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3822191" y="5861304"/>
            <a:ext cx="192024" cy="192024"/>
          </a:xfrm>
          <a:prstGeom prst="roundRect">
            <a:avLst/>
          </a:prstGeom>
          <a:solidFill>
            <a:srgbClr val="FFABB8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4206240" y="5861304"/>
            <a:ext cx="192024" cy="192024"/>
          </a:xfrm>
          <a:prstGeom prst="roundRect">
            <a:avLst/>
          </a:prstGeom>
          <a:solidFill>
            <a:srgbClr val="FFABB8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4553712" y="5861304"/>
            <a:ext cx="192024" cy="192024"/>
          </a:xfrm>
          <a:prstGeom prst="roundRect">
            <a:avLst/>
          </a:prstGeom>
          <a:solidFill>
            <a:srgbClr val="FFABB8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4892040" y="5861304"/>
            <a:ext cx="192024" cy="192024"/>
          </a:xfrm>
          <a:prstGeom prst="roundRect">
            <a:avLst/>
          </a:prstGeom>
          <a:solidFill>
            <a:srgbClr val="FFABB8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371600" y="5669280"/>
            <a:ext cx="91440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learnable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video token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897880" y="5321808"/>
            <a:ext cx="41148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75" b="1" i="0">
                <a:solidFill>
                  <a:srgbClr val="111111"/>
                </a:solidFill>
                <a:latin typeface="Times New Roman"/>
              </a:rPr>
              <a:t>×N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334256" y="6665976"/>
            <a:ext cx="89611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Times New Roman"/>
              </a:rPr>
              <a:t>frame T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434840" y="6931152"/>
            <a:ext cx="8595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Times New Roman"/>
              </a:rPr>
              <a:t>frame 2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443984" y="7214616"/>
            <a:ext cx="8595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Times New Roman"/>
              </a:rPr>
              <a:t>frame 1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591056" y="7699248"/>
            <a:ext cx="201168" cy="192024"/>
          </a:xfrm>
          <a:prstGeom prst="roundRect">
            <a:avLst/>
          </a:prstGeom>
          <a:solidFill>
            <a:srgbClr val="DBE7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1874519" y="7699248"/>
            <a:ext cx="201168" cy="192024"/>
          </a:xfrm>
          <a:prstGeom prst="roundRect">
            <a:avLst/>
          </a:prstGeom>
          <a:solidFill>
            <a:srgbClr val="C9DEF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2313432" y="7699248"/>
            <a:ext cx="201168" cy="192024"/>
          </a:xfrm>
          <a:prstGeom prst="roundRect">
            <a:avLst/>
          </a:prstGeom>
          <a:solidFill>
            <a:srgbClr val="DBE7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039112" y="7662672"/>
            <a:ext cx="228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2551176" y="7699248"/>
            <a:ext cx="201168" cy="192024"/>
          </a:xfrm>
          <a:prstGeom prst="roundRect">
            <a:avLst/>
          </a:prstGeom>
          <a:solidFill>
            <a:srgbClr val="B6DB9C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2843784" y="7699248"/>
            <a:ext cx="201168" cy="192024"/>
          </a:xfrm>
          <a:prstGeom prst="roundRect">
            <a:avLst/>
          </a:prstGeom>
          <a:solidFill>
            <a:srgbClr val="ABD38D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3291840" y="7699248"/>
            <a:ext cx="201168" cy="192024"/>
          </a:xfrm>
          <a:prstGeom prst="roundRect">
            <a:avLst/>
          </a:prstGeom>
          <a:solidFill>
            <a:srgbClr val="B6DB9C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008376" y="7662672"/>
            <a:ext cx="228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3813048" y="7699248"/>
            <a:ext cx="201168" cy="192024"/>
          </a:xfrm>
          <a:prstGeom prst="roundRect">
            <a:avLst/>
          </a:prstGeom>
          <a:solidFill>
            <a:srgbClr val="FFABB8"/>
          </a:solidFill>
          <a:ln w="9525">
            <a:solidFill>
              <a:srgbClr val="F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417320" y="8028431"/>
            <a:ext cx="502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visual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token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633472" y="8028431"/>
            <a:ext cx="566928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language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token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803904" y="8028431"/>
            <a:ext cx="841248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learnable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Times New Roman"/>
              </a:rPr>
              <a:t>frame token</a:t>
            </a:r>
          </a:p>
        </p:txBody>
      </p:sp>
      <p:sp>
        <p:nvSpPr>
          <p:cNvPr id="256" name="TextBox 255"/>
          <p:cNvSpPr txBox="1"/>
          <p:nvPr/>
        </p:nvSpPr>
        <p:spPr>
          <a:xfrm rot="16200000">
            <a:off x="6565392" y="5852160"/>
            <a:ext cx="384048" cy="16642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Intra-scale Multi-modality</a:t>
            </a:r>
          </a:p>
        </p:txBody>
      </p:sp>
      <p:sp>
        <p:nvSpPr>
          <p:cNvPr id="257" name="TextBox 256"/>
          <p:cNvSpPr txBox="1"/>
          <p:nvPr/>
        </p:nvSpPr>
        <p:spPr>
          <a:xfrm rot="16200000">
            <a:off x="6876288" y="5934456"/>
            <a:ext cx="384048" cy="1444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Interaction Branch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181344" y="8101583"/>
            <a:ext cx="62179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75" b="1" i="0">
                <a:solidFill>
                  <a:srgbClr val="111111"/>
                </a:solidFill>
                <a:latin typeface="Times New Roman"/>
              </a:rPr>
              <a:t>(b.1)</a:t>
            </a:r>
          </a:p>
        </p:txBody>
      </p:sp>
      <p:cxnSp>
        <p:nvCxnSpPr>
          <p:cNvPr id="259" name="Connector 258"/>
          <p:cNvCxnSpPr/>
          <p:nvPr/>
        </p:nvCxnSpPr>
        <p:spPr>
          <a:xfrm>
            <a:off x="7470648" y="4590288"/>
            <a:ext cx="0" cy="3593591"/>
          </a:xfrm>
          <a:prstGeom prst="line">
            <a:avLst/>
          </a:prstGeom>
          <a:ln w="21907">
            <a:solidFill>
              <a:srgbClr val="E8E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Rounded Rectangle 259"/>
          <p:cNvSpPr/>
          <p:nvPr/>
        </p:nvSpPr>
        <p:spPr>
          <a:xfrm>
            <a:off x="9390888" y="4425696"/>
            <a:ext cx="2203704" cy="3767328"/>
          </a:xfrm>
          <a:prstGeom prst="roundRect">
            <a:avLst/>
          </a:prstGeom>
          <a:solidFill>
            <a:srgbClr val="EEF7FE"/>
          </a:solidFill>
          <a:ln w="9525">
            <a:solidFill>
              <a:srgbClr val="D7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ounded Rectangle 260"/>
          <p:cNvSpPr/>
          <p:nvPr/>
        </p:nvSpPr>
        <p:spPr>
          <a:xfrm>
            <a:off x="9518904" y="4572000"/>
            <a:ext cx="1316736" cy="393192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E7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9528048" y="4681728"/>
            <a:ext cx="129844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111111"/>
                </a:solidFill>
                <a:latin typeface="Times New Roman"/>
              </a:rPr>
              <a:t>Fusion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9564624" y="7735824"/>
            <a:ext cx="1225296" cy="393192"/>
          </a:xfrm>
          <a:prstGeom prst="roundRect">
            <a:avLst/>
          </a:prstGeom>
          <a:solidFill>
            <a:srgbClr val="D6EBAE"/>
          </a:solidFill>
          <a:ln w="9525">
            <a:solidFill>
              <a:srgbClr val="A5B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9573768" y="7845552"/>
            <a:ext cx="120700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75" b="1" i="0">
                <a:solidFill>
                  <a:srgbClr val="111111"/>
                </a:solidFill>
                <a:latin typeface="Times New Roman"/>
              </a:rPr>
              <a:t>MSFF-FE</a:t>
            </a:r>
          </a:p>
        </p:txBody>
      </p:sp>
      <p:sp>
        <p:nvSpPr>
          <p:cNvPr id="265" name="Parallelogram 264"/>
          <p:cNvSpPr/>
          <p:nvPr/>
        </p:nvSpPr>
        <p:spPr>
          <a:xfrm>
            <a:off x="8805672" y="5431536"/>
            <a:ext cx="557784" cy="137160"/>
          </a:xfrm>
          <a:prstGeom prst="parallelogram">
            <a:avLst/>
          </a:prstGeom>
          <a:solidFill>
            <a:srgbClr val="4B7ED3"/>
          </a:solidFill>
          <a:ln w="9525">
            <a:solidFill>
              <a:srgbClr val="2A5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8814816" y="5431536"/>
            <a:ext cx="5120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25" b="1" i="1">
                <a:solidFill>
                  <a:srgbClr val="111111"/>
                </a:solidFill>
                <a:latin typeface="Times New Roman"/>
              </a:rPr>
              <a:t>Fᵥ5</a:t>
            </a:r>
          </a:p>
        </p:txBody>
      </p:sp>
      <p:sp>
        <p:nvSpPr>
          <p:cNvPr id="267" name="Parallelogram 266"/>
          <p:cNvSpPr/>
          <p:nvPr/>
        </p:nvSpPr>
        <p:spPr>
          <a:xfrm>
            <a:off x="8805672" y="6236208"/>
            <a:ext cx="557784" cy="137160"/>
          </a:xfrm>
          <a:prstGeom prst="parallelogram">
            <a:avLst/>
          </a:prstGeom>
          <a:solidFill>
            <a:srgbClr val="4B7ED3"/>
          </a:solidFill>
          <a:ln w="9525">
            <a:solidFill>
              <a:srgbClr val="2A5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8814816" y="6236208"/>
            <a:ext cx="5120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25" b="1" i="1">
                <a:solidFill>
                  <a:srgbClr val="111111"/>
                </a:solidFill>
                <a:latin typeface="Times New Roman"/>
              </a:rPr>
              <a:t>Fᵥ4</a:t>
            </a:r>
          </a:p>
        </p:txBody>
      </p:sp>
      <p:sp>
        <p:nvSpPr>
          <p:cNvPr id="269" name="Parallelogram 268"/>
          <p:cNvSpPr/>
          <p:nvPr/>
        </p:nvSpPr>
        <p:spPr>
          <a:xfrm>
            <a:off x="8805672" y="7050024"/>
            <a:ext cx="557784" cy="137160"/>
          </a:xfrm>
          <a:prstGeom prst="parallelogram">
            <a:avLst/>
          </a:prstGeom>
          <a:solidFill>
            <a:srgbClr val="4B7ED3"/>
          </a:solidFill>
          <a:ln w="9525">
            <a:solidFill>
              <a:srgbClr val="2A5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8814816" y="7050024"/>
            <a:ext cx="51206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25" b="1" i="1">
                <a:solidFill>
                  <a:srgbClr val="111111"/>
                </a:solidFill>
                <a:latin typeface="Times New Roman"/>
              </a:rPr>
              <a:t>Fᵥ3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9601200" y="5266944"/>
            <a:ext cx="393192" cy="393192"/>
          </a:xfrm>
          <a:prstGeom prst="roundRect">
            <a:avLst/>
          </a:prstGeom>
          <a:solidFill>
            <a:srgbClr val="FFE696"/>
          </a:solidFill>
          <a:ln w="9525">
            <a:solidFill>
              <a:srgbClr val="F4C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9601200" y="6089904"/>
            <a:ext cx="393192" cy="393192"/>
          </a:xfrm>
          <a:prstGeom prst="roundRect">
            <a:avLst/>
          </a:prstGeom>
          <a:solidFill>
            <a:srgbClr val="FFE696"/>
          </a:solidFill>
          <a:ln w="9525">
            <a:solidFill>
              <a:srgbClr val="F4C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ounded Rectangle 272"/>
          <p:cNvSpPr/>
          <p:nvPr/>
        </p:nvSpPr>
        <p:spPr>
          <a:xfrm>
            <a:off x="9601200" y="6912864"/>
            <a:ext cx="393192" cy="393192"/>
          </a:xfrm>
          <a:prstGeom prst="roundRect">
            <a:avLst/>
          </a:prstGeom>
          <a:solidFill>
            <a:srgbClr val="FFE696"/>
          </a:solidFill>
          <a:ln w="9525">
            <a:solidFill>
              <a:srgbClr val="F4C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ounded Rectangle 273"/>
          <p:cNvSpPr/>
          <p:nvPr/>
        </p:nvSpPr>
        <p:spPr>
          <a:xfrm>
            <a:off x="10460736" y="5239512"/>
            <a:ext cx="384048" cy="402336"/>
          </a:xfrm>
          <a:prstGeom prst="roundRect">
            <a:avLst/>
          </a:prstGeom>
          <a:solidFill>
            <a:srgbClr val="CDDDEC"/>
          </a:solidFill>
          <a:ln w="9525">
            <a:solidFill>
              <a:srgbClr val="ADB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0460736" y="5312664"/>
            <a:ext cx="3840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75" b="1" i="0">
                <a:solidFill>
                  <a:srgbClr val="111111"/>
                </a:solidFill>
                <a:latin typeface="Times New Roman"/>
              </a:rPr>
              <a:t>FD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10460736" y="6858000"/>
            <a:ext cx="384048" cy="402336"/>
          </a:xfrm>
          <a:prstGeom prst="roundRect">
            <a:avLst/>
          </a:prstGeom>
          <a:solidFill>
            <a:srgbClr val="CDDDEC"/>
          </a:solidFill>
          <a:ln w="9525">
            <a:solidFill>
              <a:srgbClr val="ADB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0460736" y="6931152"/>
            <a:ext cx="3840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75" b="1" i="0">
                <a:solidFill>
                  <a:srgbClr val="111111"/>
                </a:solidFill>
                <a:latin typeface="Times New Roman"/>
              </a:rPr>
              <a:t>FD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11036808" y="6912864"/>
            <a:ext cx="393192" cy="393192"/>
          </a:xfrm>
          <a:prstGeom prst="roundRect">
            <a:avLst/>
          </a:prstGeom>
          <a:solidFill>
            <a:srgbClr val="E7D1F4"/>
          </a:solidFill>
          <a:ln w="9525">
            <a:solidFill>
              <a:srgbClr val="8B4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11036808" y="7031736"/>
            <a:ext cx="3931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75" b="1" i="0">
                <a:solidFill>
                  <a:srgbClr val="111111"/>
                </a:solidFill>
                <a:latin typeface="Times New Roman"/>
              </a:rPr>
              <a:t>SAC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9637776" y="5769864"/>
            <a:ext cx="1316736" cy="393192"/>
          </a:xfrm>
          <a:prstGeom prst="roundRect">
            <a:avLst/>
          </a:prstGeom>
          <a:solidFill>
            <a:srgbClr val="FFF0E1"/>
          </a:solidFill>
          <a:ln w="9525">
            <a:solidFill>
              <a:srgbClr val="E2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9646920" y="5879592"/>
            <a:ext cx="129844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75" b="1" i="0">
                <a:solidFill>
                  <a:srgbClr val="111111"/>
                </a:solidFill>
                <a:latin typeface="Times New Roman"/>
              </a:rPr>
              <a:t>Fusion</a:t>
            </a:r>
          </a:p>
        </p:txBody>
      </p:sp>
      <p:cxnSp>
        <p:nvCxnSpPr>
          <p:cNvPr id="282" name="Connector 281"/>
          <p:cNvCxnSpPr/>
          <p:nvPr/>
        </p:nvCxnSpPr>
        <p:spPr>
          <a:xfrm flipV="1">
            <a:off x="10177272" y="7296912"/>
            <a:ext cx="475488" cy="429767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Isosceles Triangle 282"/>
          <p:cNvSpPr/>
          <p:nvPr/>
        </p:nvSpPr>
        <p:spPr>
          <a:xfrm rot="2873476">
            <a:off x="10616184" y="726033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" name="Connector 283"/>
          <p:cNvCxnSpPr/>
          <p:nvPr/>
        </p:nvCxnSpPr>
        <p:spPr>
          <a:xfrm>
            <a:off x="10177272" y="6912864"/>
            <a:ext cx="475488" cy="347472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Isosceles Triangle 284"/>
          <p:cNvSpPr/>
          <p:nvPr/>
        </p:nvSpPr>
        <p:spPr>
          <a:xfrm rot="7569491">
            <a:off x="10616184" y="7223760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Connector 285"/>
          <p:cNvCxnSpPr/>
          <p:nvPr/>
        </p:nvCxnSpPr>
        <p:spPr>
          <a:xfrm flipV="1">
            <a:off x="10177272" y="5669280"/>
            <a:ext cx="475488" cy="420624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Isosceles Triangle 286"/>
          <p:cNvSpPr/>
          <p:nvPr/>
        </p:nvSpPr>
        <p:spPr>
          <a:xfrm rot="2910212">
            <a:off x="10616184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Connector 287"/>
          <p:cNvCxnSpPr/>
          <p:nvPr/>
        </p:nvCxnSpPr>
        <p:spPr>
          <a:xfrm flipV="1">
            <a:off x="10177272" y="4965192"/>
            <a:ext cx="0" cy="301752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Isosceles Triangle 288"/>
          <p:cNvSpPr/>
          <p:nvPr/>
        </p:nvSpPr>
        <p:spPr>
          <a:xfrm>
            <a:off x="10140696" y="492861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 flipV="1">
            <a:off x="10652760" y="4965192"/>
            <a:ext cx="0" cy="1892808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Isosceles Triangle 290"/>
          <p:cNvSpPr/>
          <p:nvPr/>
        </p:nvSpPr>
        <p:spPr>
          <a:xfrm>
            <a:off x="10616184" y="492861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 flipV="1">
            <a:off x="9793224" y="4965192"/>
            <a:ext cx="0" cy="694944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Isosceles Triangle 292"/>
          <p:cNvSpPr/>
          <p:nvPr/>
        </p:nvSpPr>
        <p:spPr>
          <a:xfrm>
            <a:off x="9756648" y="492861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4" name="Connector 293"/>
          <p:cNvCxnSpPr/>
          <p:nvPr/>
        </p:nvCxnSpPr>
        <p:spPr>
          <a:xfrm flipV="1">
            <a:off x="9793224" y="6163056"/>
            <a:ext cx="0" cy="320040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Isosceles Triangle 294"/>
          <p:cNvSpPr/>
          <p:nvPr/>
        </p:nvSpPr>
        <p:spPr>
          <a:xfrm>
            <a:off x="9756648" y="6126480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6" name="Connector 295"/>
          <p:cNvCxnSpPr/>
          <p:nvPr/>
        </p:nvCxnSpPr>
        <p:spPr>
          <a:xfrm flipV="1">
            <a:off x="9793224" y="6163056"/>
            <a:ext cx="0" cy="1143000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Isosceles Triangle 296"/>
          <p:cNvSpPr/>
          <p:nvPr/>
        </p:nvSpPr>
        <p:spPr>
          <a:xfrm>
            <a:off x="9756648" y="6126480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Connector 297"/>
          <p:cNvCxnSpPr/>
          <p:nvPr/>
        </p:nvCxnSpPr>
        <p:spPr>
          <a:xfrm>
            <a:off x="10881360" y="5961888"/>
            <a:ext cx="356616" cy="0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Isosceles Triangle 298"/>
          <p:cNvSpPr/>
          <p:nvPr/>
        </p:nvSpPr>
        <p:spPr>
          <a:xfrm rot="5400000">
            <a:off x="11201400" y="592531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Connector 299"/>
          <p:cNvCxnSpPr/>
          <p:nvPr/>
        </p:nvCxnSpPr>
        <p:spPr>
          <a:xfrm>
            <a:off x="11237976" y="5961888"/>
            <a:ext cx="0" cy="950976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Isosceles Triangle 300"/>
          <p:cNvSpPr/>
          <p:nvPr/>
        </p:nvSpPr>
        <p:spPr>
          <a:xfrm rot="10800000">
            <a:off x="11201400" y="6876288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 rot="16200000">
            <a:off x="11494008" y="5788152"/>
            <a:ext cx="384048" cy="1709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Cross-scale Visual-only</a:t>
            </a:r>
          </a:p>
        </p:txBody>
      </p:sp>
      <p:sp>
        <p:nvSpPr>
          <p:cNvPr id="303" name="TextBox 302"/>
          <p:cNvSpPr txBox="1"/>
          <p:nvPr/>
        </p:nvSpPr>
        <p:spPr>
          <a:xfrm rot="16200000">
            <a:off x="11786616" y="5870448"/>
            <a:ext cx="384048" cy="1435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Fusion Branch</a:t>
            </a:r>
          </a:p>
        </p:txBody>
      </p:sp>
      <p:sp>
        <p:nvSpPr>
          <p:cNvPr id="304" name="Rounded Rectangle 303"/>
          <p:cNvSpPr/>
          <p:nvPr/>
        </p:nvSpPr>
        <p:spPr>
          <a:xfrm>
            <a:off x="11896344" y="4617720"/>
            <a:ext cx="182880" cy="201168"/>
          </a:xfrm>
          <a:prstGeom prst="roundRect">
            <a:avLst/>
          </a:prstGeom>
          <a:solidFill>
            <a:srgbClr val="DBE7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ounded Rectangle 304"/>
          <p:cNvSpPr/>
          <p:nvPr/>
        </p:nvSpPr>
        <p:spPr>
          <a:xfrm>
            <a:off x="12124944" y="4617720"/>
            <a:ext cx="182880" cy="201168"/>
          </a:xfrm>
          <a:prstGeom prst="roundRect">
            <a:avLst/>
          </a:prstGeom>
          <a:solidFill>
            <a:srgbClr val="DBE7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2353544" y="4617720"/>
            <a:ext cx="182880" cy="201168"/>
          </a:xfrm>
          <a:prstGeom prst="roundRect">
            <a:avLst/>
          </a:prstGeom>
          <a:solidFill>
            <a:srgbClr val="DBE7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ounded Rectangle 306"/>
          <p:cNvSpPr/>
          <p:nvPr/>
        </p:nvSpPr>
        <p:spPr>
          <a:xfrm>
            <a:off x="12582144" y="4617720"/>
            <a:ext cx="182880" cy="201168"/>
          </a:xfrm>
          <a:prstGeom prst="roundRect">
            <a:avLst/>
          </a:prstGeom>
          <a:solidFill>
            <a:srgbClr val="DBE7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2426696" y="4608576"/>
            <a:ext cx="53035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111111"/>
                </a:solidFill>
                <a:latin typeface="Times New Roman"/>
              </a:rPr>
              <a:t>Fᶠᵥ5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2618720" y="4608576"/>
            <a:ext cx="228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11896344" y="5413248"/>
            <a:ext cx="182880" cy="201168"/>
          </a:xfrm>
          <a:prstGeom prst="roundRect">
            <a:avLst/>
          </a:prstGeom>
          <a:solidFill>
            <a:srgbClr val="C9DEF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ounded Rectangle 310"/>
          <p:cNvSpPr/>
          <p:nvPr/>
        </p:nvSpPr>
        <p:spPr>
          <a:xfrm>
            <a:off x="12124944" y="5413248"/>
            <a:ext cx="182880" cy="201168"/>
          </a:xfrm>
          <a:prstGeom prst="roundRect">
            <a:avLst/>
          </a:prstGeom>
          <a:solidFill>
            <a:srgbClr val="C9DEF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2353544" y="5413248"/>
            <a:ext cx="182880" cy="201168"/>
          </a:xfrm>
          <a:prstGeom prst="roundRect">
            <a:avLst/>
          </a:prstGeom>
          <a:solidFill>
            <a:srgbClr val="C9DEF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ounded Rectangle 312"/>
          <p:cNvSpPr/>
          <p:nvPr/>
        </p:nvSpPr>
        <p:spPr>
          <a:xfrm>
            <a:off x="12582144" y="5413248"/>
            <a:ext cx="182880" cy="201168"/>
          </a:xfrm>
          <a:prstGeom prst="roundRect">
            <a:avLst/>
          </a:prstGeom>
          <a:solidFill>
            <a:srgbClr val="C9DEF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2426696" y="5404104"/>
            <a:ext cx="53035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111111"/>
                </a:solidFill>
                <a:latin typeface="Times New Roman"/>
              </a:rPr>
              <a:t>Fᶠᵥ4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2618720" y="5404104"/>
            <a:ext cx="228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11896344" y="6227064"/>
            <a:ext cx="182880" cy="201168"/>
          </a:xfrm>
          <a:prstGeom prst="roundRect">
            <a:avLst/>
          </a:prstGeom>
          <a:solidFill>
            <a:srgbClr val="91B7E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ounded Rectangle 316"/>
          <p:cNvSpPr/>
          <p:nvPr/>
        </p:nvSpPr>
        <p:spPr>
          <a:xfrm>
            <a:off x="12124944" y="6227064"/>
            <a:ext cx="182880" cy="201168"/>
          </a:xfrm>
          <a:prstGeom prst="roundRect">
            <a:avLst/>
          </a:prstGeom>
          <a:solidFill>
            <a:srgbClr val="91B7E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ounded Rectangle 317"/>
          <p:cNvSpPr/>
          <p:nvPr/>
        </p:nvSpPr>
        <p:spPr>
          <a:xfrm>
            <a:off x="12353544" y="6227064"/>
            <a:ext cx="182880" cy="201168"/>
          </a:xfrm>
          <a:prstGeom prst="roundRect">
            <a:avLst/>
          </a:prstGeom>
          <a:solidFill>
            <a:srgbClr val="91B7E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ounded Rectangle 318"/>
          <p:cNvSpPr/>
          <p:nvPr/>
        </p:nvSpPr>
        <p:spPr>
          <a:xfrm>
            <a:off x="12582144" y="6227064"/>
            <a:ext cx="182880" cy="201168"/>
          </a:xfrm>
          <a:prstGeom prst="roundRect">
            <a:avLst/>
          </a:prstGeom>
          <a:solidFill>
            <a:srgbClr val="91B7E7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2426696" y="6217920"/>
            <a:ext cx="53035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111111"/>
                </a:solidFill>
                <a:latin typeface="Times New Roman"/>
              </a:rPr>
              <a:t>Fᶠᵥ3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2618720" y="6217920"/>
            <a:ext cx="228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Times New Roman"/>
              </a:rPr>
              <a:t>⋯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11430000" y="4873752"/>
            <a:ext cx="402336" cy="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Isosceles Triangle 322"/>
          <p:cNvSpPr/>
          <p:nvPr/>
        </p:nvSpPr>
        <p:spPr>
          <a:xfrm rot="5400000">
            <a:off x="11795760" y="4837176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11430000" y="5669280"/>
            <a:ext cx="402336" cy="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Isosceles Triangle 324"/>
          <p:cNvSpPr/>
          <p:nvPr/>
        </p:nvSpPr>
        <p:spPr>
          <a:xfrm rot="5400000">
            <a:off x="11795760" y="5632704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1430000" y="6483096"/>
            <a:ext cx="402336" cy="0"/>
          </a:xfrm>
          <a:prstGeom prst="line">
            <a:avLst/>
          </a:prstGeom>
          <a:ln w="12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Isosceles Triangle 326"/>
          <p:cNvSpPr/>
          <p:nvPr/>
        </p:nvSpPr>
        <p:spPr>
          <a:xfrm rot="5400000">
            <a:off x="11795760" y="6446520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ounded Rectangle 327"/>
          <p:cNvSpPr/>
          <p:nvPr/>
        </p:nvSpPr>
        <p:spPr>
          <a:xfrm>
            <a:off x="12893040" y="4453128"/>
            <a:ext cx="1956816" cy="3739896"/>
          </a:xfrm>
          <a:prstGeom prst="roundRect">
            <a:avLst/>
          </a:prstGeom>
          <a:solidFill>
            <a:srgbClr val="FFF4E8"/>
          </a:solidFill>
          <a:ln w="9525">
            <a:solidFill>
              <a:srgbClr val="EDD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ounded Rectangle 328"/>
          <p:cNvSpPr/>
          <p:nvPr/>
        </p:nvSpPr>
        <p:spPr>
          <a:xfrm>
            <a:off x="13606272" y="4507992"/>
            <a:ext cx="1179576" cy="1014984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EF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ounded Rectangle 329"/>
          <p:cNvSpPr/>
          <p:nvPr/>
        </p:nvSpPr>
        <p:spPr>
          <a:xfrm>
            <a:off x="13688568" y="4590288"/>
            <a:ext cx="1014984" cy="256032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13697712" y="4636008"/>
            <a:ext cx="996696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75" b="1" i="0">
                <a:solidFill>
                  <a:srgbClr val="111111"/>
                </a:solidFill>
                <a:latin typeface="Times New Roman"/>
              </a:rPr>
              <a:t>Conv1×1 S1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13688568" y="4892040"/>
            <a:ext cx="1014984" cy="256032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3697712" y="4937760"/>
            <a:ext cx="996696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Times New Roman"/>
              </a:rPr>
              <a:t>BN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13688568" y="5193792"/>
            <a:ext cx="1014984" cy="256032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13697712" y="5239512"/>
            <a:ext cx="996696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Times New Roman"/>
              </a:rPr>
              <a:t>SiLU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12966192" y="4855464"/>
            <a:ext cx="393192" cy="393192"/>
          </a:xfrm>
          <a:prstGeom prst="roundRect">
            <a:avLst/>
          </a:prstGeom>
          <a:solidFill>
            <a:srgbClr val="FFE595"/>
          </a:solidFill>
          <a:ln w="9525">
            <a:solidFill>
              <a:srgbClr val="F4D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13359384" y="5047488"/>
            <a:ext cx="246888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Isosceles Triangle 337"/>
          <p:cNvSpPr/>
          <p:nvPr/>
        </p:nvSpPr>
        <p:spPr>
          <a:xfrm rot="5400000">
            <a:off x="13569696" y="5010912"/>
            <a:ext cx="73152" cy="73152"/>
          </a:xfrm>
          <a:prstGeom prst="triangl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3889736" y="5715000"/>
            <a:ext cx="457200" cy="457200"/>
          </a:xfrm>
          <a:prstGeom prst="ellipse">
            <a:avLst/>
          </a:prstGeom>
          <a:solidFill>
            <a:srgbClr val="FFF4E8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3898880" y="5824728"/>
            <a:ext cx="43891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75" b="1" i="0">
                <a:solidFill>
                  <a:srgbClr val="111111"/>
                </a:solidFill>
                <a:latin typeface="Times New Roman"/>
              </a:rPr>
              <a:t>C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13441680" y="5522976"/>
            <a:ext cx="0" cy="246888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3441680" y="5769864"/>
            <a:ext cx="621792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4063472" y="5769864"/>
            <a:ext cx="0" cy="118872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4557248" y="5522976"/>
            <a:ext cx="0" cy="246888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>
            <a:off x="14255496" y="5769864"/>
            <a:ext cx="301752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4255496" y="5769864"/>
            <a:ext cx="0" cy="118872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Rounded Rectangle 346"/>
          <p:cNvSpPr/>
          <p:nvPr/>
        </p:nvSpPr>
        <p:spPr>
          <a:xfrm>
            <a:off x="13185648" y="6291072"/>
            <a:ext cx="694944" cy="402336"/>
          </a:xfrm>
          <a:prstGeom prst="roundRect">
            <a:avLst/>
          </a:prstGeom>
          <a:solidFill>
            <a:srgbClr val="BFE9F0"/>
          </a:solidFill>
          <a:ln w="9525">
            <a:solidFill>
              <a:srgbClr val="98C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13203936" y="6345936"/>
            <a:ext cx="65836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75" b="1">
                <a:solidFill>
                  <a:srgbClr val="111111"/>
                </a:solidFill>
                <a:latin typeface="Times New Roman"/>
              </a:rPr>
              <a:t>1×1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75" b="1">
                <a:solidFill>
                  <a:srgbClr val="111111"/>
                </a:solidFill>
                <a:latin typeface="Times New Roman"/>
              </a:rPr>
              <a:t>Conv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13944600" y="6291072"/>
            <a:ext cx="694944" cy="402336"/>
          </a:xfrm>
          <a:prstGeom prst="roundRect">
            <a:avLst/>
          </a:prstGeom>
          <a:solidFill>
            <a:srgbClr val="BFE9F0"/>
          </a:solidFill>
          <a:ln w="9525">
            <a:solidFill>
              <a:srgbClr val="98C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13962888" y="6345936"/>
            <a:ext cx="65836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75" b="1">
                <a:solidFill>
                  <a:srgbClr val="111111"/>
                </a:solidFill>
                <a:latin typeface="Times New Roman"/>
              </a:rPr>
              <a:t>1×1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75" b="1">
                <a:solidFill>
                  <a:srgbClr val="111111"/>
                </a:solidFill>
                <a:latin typeface="Times New Roman"/>
              </a:rPr>
              <a:t>Conv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14118336" y="6172200"/>
            <a:ext cx="0" cy="109728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3533120" y="6172200"/>
            <a:ext cx="0" cy="109728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3533120" y="6693408"/>
            <a:ext cx="0" cy="128016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4292072" y="6693408"/>
            <a:ext cx="0" cy="128016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3533120" y="6821424"/>
            <a:ext cx="365760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H="1">
            <a:off x="13898880" y="6821424"/>
            <a:ext cx="393192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Rounded Rectangle 356"/>
          <p:cNvSpPr/>
          <p:nvPr/>
        </p:nvSpPr>
        <p:spPr>
          <a:xfrm>
            <a:off x="13423392" y="6821424"/>
            <a:ext cx="960120" cy="402336"/>
          </a:xfrm>
          <a:prstGeom prst="roundRect">
            <a:avLst/>
          </a:prstGeom>
          <a:solidFill>
            <a:srgbClr val="FFEAA0"/>
          </a:solidFill>
          <a:ln w="9525">
            <a:solidFill>
              <a:srgbClr val="F0C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13432536" y="6931152"/>
            <a:ext cx="94183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Times New Roman"/>
              </a:rPr>
              <a:t>RepBlock ×3</a:t>
            </a:r>
          </a:p>
        </p:txBody>
      </p:sp>
      <p:cxnSp>
        <p:nvCxnSpPr>
          <p:cNvPr id="359" name="Connector 358"/>
          <p:cNvCxnSpPr/>
          <p:nvPr/>
        </p:nvCxnSpPr>
        <p:spPr>
          <a:xfrm>
            <a:off x="13898880" y="7223760"/>
            <a:ext cx="0" cy="128015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Oval 359"/>
          <p:cNvSpPr/>
          <p:nvPr/>
        </p:nvSpPr>
        <p:spPr>
          <a:xfrm>
            <a:off x="13697712" y="7296912"/>
            <a:ext cx="402336" cy="402336"/>
          </a:xfrm>
          <a:prstGeom prst="ellipse">
            <a:avLst/>
          </a:prstGeom>
          <a:solidFill>
            <a:srgbClr val="FFF4E8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13697712" y="7397496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0" i="0">
                <a:solidFill>
                  <a:srgbClr val="111111"/>
                </a:solidFill>
                <a:latin typeface="Times New Roman"/>
              </a:rPr>
              <a:t>⊕</a:t>
            </a:r>
          </a:p>
        </p:txBody>
      </p:sp>
      <p:cxnSp>
        <p:nvCxnSpPr>
          <p:cNvPr id="362" name="Connector 361"/>
          <p:cNvCxnSpPr/>
          <p:nvPr/>
        </p:nvCxnSpPr>
        <p:spPr>
          <a:xfrm>
            <a:off x="13898880" y="7699248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Oval 362"/>
          <p:cNvSpPr/>
          <p:nvPr/>
        </p:nvSpPr>
        <p:spPr>
          <a:xfrm>
            <a:off x="13697712" y="7790688"/>
            <a:ext cx="402336" cy="402336"/>
          </a:xfrm>
          <a:prstGeom prst="ellipse">
            <a:avLst/>
          </a:prstGeom>
          <a:solidFill>
            <a:srgbClr val="FFF4E8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13697712" y="7882127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25" b="1" i="0">
                <a:solidFill>
                  <a:srgbClr val="111111"/>
                </a:solidFill>
                <a:latin typeface="Times New Roman"/>
              </a:rPr>
              <a:t>F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3441680" y="8238744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75" b="1" i="0">
                <a:solidFill>
                  <a:srgbClr val="111111"/>
                </a:solidFill>
                <a:latin typeface="Times New Roman"/>
              </a:rPr>
              <a:t>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here Does It Exist from the Low-Altitude Spatial Aerial Video Ground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596359" cy="8494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Does It Exist? — Low-Altitude Spatial Aerial Video Grounding</dc:title>
  <dc:subject>Editable vector reconstruction of the supplied diagram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