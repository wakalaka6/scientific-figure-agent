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8464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846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5139" y="113587"/>
            <a:ext cx="4903181" cy="1729049"/>
          </a:xfrm>
          <a:prstGeom prst="roundRect">
            <a:avLst/>
          </a:prstGeom>
          <a:solidFill>
            <a:srgbClr val="FBFAFE"/>
          </a:solidFill>
          <a:ln w="38100">
            <a:solidFill>
              <a:srgbClr val="8E8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9209" y="195622"/>
            <a:ext cx="1350425" cy="1457702"/>
          </a:xfrm>
          <a:prstGeom prst="roundRect">
            <a:avLst/>
          </a:prstGeom>
          <a:solidFill>
            <a:srgbClr val="F2F8F0"/>
          </a:solidFill>
          <a:ln w="38100">
            <a:solidFill>
              <a:srgbClr val="B6D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972" y="347072"/>
            <a:ext cx="239795" cy="239795"/>
          </a:xfrm>
          <a:prstGeom prst="ellipse">
            <a:avLst/>
          </a:prstGeom>
          <a:solidFill>
            <a:srgbClr val="6BA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4451" y="694144"/>
            <a:ext cx="1293632" cy="2145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Georgia"/>
              </a:rPr>
              <a:t>Station Location(P)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728" y="959180"/>
            <a:ext cx="1022285" cy="366003"/>
          </a:xfrm>
          <a:prstGeom prst="roundRect">
            <a:avLst/>
          </a:prstGeom>
          <a:solidFill>
            <a:srgbClr val="AEBF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65" y="1457702"/>
            <a:ext cx="1262080" cy="189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Georgia"/>
              </a:rPr>
              <a:t>Historical Data(H)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4848" y="290278"/>
            <a:ext cx="1703808" cy="2145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Δh = dt · f (h,x)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2710" y="605798"/>
            <a:ext cx="1337805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647411" y="567936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1363" y="719385"/>
            <a:ext cx="1880499" cy="416486"/>
          </a:xfrm>
          <a:prstGeom prst="rect">
            <a:avLst/>
          </a:prstGeom>
          <a:solidFill>
            <a:srgbClr val="E5D8E8"/>
          </a:solidFill>
          <a:ln w="28575">
            <a:solidFill>
              <a:srgbClr val="B9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77088" y="814041"/>
            <a:ext cx="227174" cy="227174"/>
          </a:xfrm>
          <a:prstGeom prst="ellipse">
            <a:avLst/>
          </a:prstGeom>
          <a:solidFill>
            <a:srgbClr val="6EA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87264" y="814041"/>
            <a:ext cx="227174" cy="227174"/>
          </a:xfrm>
          <a:prstGeom prst="ellipse">
            <a:avLst/>
          </a:prstGeom>
          <a:solidFill>
            <a:srgbClr val="3C7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2170" y="814041"/>
            <a:ext cx="227174" cy="227174"/>
          </a:xfrm>
          <a:prstGeom prst="ellipse">
            <a:avLst/>
          </a:prstGeom>
          <a:solidFill>
            <a:srgbClr val="29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5728" y="271347"/>
            <a:ext cx="441728" cy="1287321"/>
          </a:xfrm>
          <a:prstGeom prst="roundRect">
            <a:avLst/>
          </a:prstGeom>
          <a:solidFill>
            <a:srgbClr val="DE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2522" y="334451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50765" y="334451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2522" y="542694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0765" y="542694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2522" y="750937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0765" y="750937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42522" y="959180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50765" y="959180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42522" y="1167424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50765" y="1167424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42522" y="1375667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50765" y="1375667"/>
            <a:ext cx="119897" cy="11989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08640" y="1293632"/>
            <a:ext cx="1735360" cy="25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Georgia"/>
              </a:rPr>
              <a:t>GeoLiquidNet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139" y="1987776"/>
            <a:ext cx="4909492" cy="1773222"/>
          </a:xfrm>
          <a:prstGeom prst="roundRect">
            <a:avLst/>
          </a:prstGeom>
          <a:solidFill>
            <a:srgbClr val="FBFAFE"/>
          </a:solidFill>
          <a:ln w="38100">
            <a:solidFill>
              <a:srgbClr val="8E8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968" y="2448435"/>
            <a:ext cx="832972" cy="927628"/>
          </a:xfrm>
          <a:prstGeom prst="rect">
            <a:avLst/>
          </a:prstGeom>
          <a:solidFill>
            <a:srgbClr val="63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072" y="2385331"/>
            <a:ext cx="832972" cy="927628"/>
          </a:xfrm>
          <a:prstGeom prst="rect">
            <a:avLst/>
          </a:prstGeom>
          <a:solidFill>
            <a:srgbClr val="63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0176" y="2322227"/>
            <a:ext cx="832972" cy="927628"/>
          </a:xfrm>
          <a:prstGeom prst="rect">
            <a:avLst/>
          </a:prstGeom>
          <a:solidFill>
            <a:srgbClr val="63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3280" y="2259123"/>
            <a:ext cx="832972" cy="927628"/>
          </a:xfrm>
          <a:prstGeom prst="rect">
            <a:avLst/>
          </a:prstGeom>
          <a:solidFill>
            <a:srgbClr val="63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384" y="2196019"/>
            <a:ext cx="832972" cy="927628"/>
          </a:xfrm>
          <a:prstGeom prst="rect">
            <a:avLst/>
          </a:prstGeom>
          <a:solidFill>
            <a:srgbClr val="63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3382" y="2555712"/>
            <a:ext cx="681523" cy="681523"/>
          </a:xfrm>
          <a:prstGeom prst="ellipse">
            <a:avLst/>
          </a:prstGeom>
          <a:solidFill>
            <a:srgbClr val="2B65C2"/>
          </a:solidFill>
          <a:ln w="9525">
            <a:solidFill>
              <a:srgbClr val="1D4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43" y="3426547"/>
            <a:ext cx="1388288" cy="176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Georgia"/>
              </a:rPr>
              <a:t>Gridded Forecast(X)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7600" y="2763955"/>
            <a:ext cx="189312" cy="302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283A9A"/>
                </a:solidFill>
                <a:latin typeface="Georgia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1949" y="2158157"/>
            <a:ext cx="1577600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Georgia"/>
              </a:rPr>
              <a:t>Temporal Attention MLP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07219" y="2435814"/>
            <a:ext cx="997043" cy="0"/>
          </a:xfrm>
          <a:prstGeom prst="line">
            <a:avLst/>
          </a:prstGeom>
          <a:ln w="47625">
            <a:solidFill>
              <a:srgbClr val="283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341158" y="2397952"/>
            <a:ext cx="82035" cy="75724"/>
          </a:xfrm>
          <a:prstGeom prst="triangle">
            <a:avLst/>
          </a:prstGeom>
          <a:solidFill>
            <a:srgbClr val="283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404262" y="2435814"/>
            <a:ext cx="0" cy="220864"/>
          </a:xfrm>
          <a:prstGeom prst="line">
            <a:avLst/>
          </a:prstGeom>
          <a:ln w="47625">
            <a:solidFill>
              <a:srgbClr val="283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10800000">
            <a:off x="2366400" y="2593574"/>
            <a:ext cx="75724" cy="82035"/>
          </a:xfrm>
          <a:prstGeom prst="triangle">
            <a:avLst/>
          </a:prstGeom>
          <a:solidFill>
            <a:srgbClr val="283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30982" y="2681920"/>
            <a:ext cx="952870" cy="246105"/>
          </a:xfrm>
          <a:prstGeom prst="rect">
            <a:avLst/>
          </a:prstGeom>
          <a:solidFill>
            <a:srgbClr val="F47F87"/>
          </a:solidFill>
          <a:ln w="9525">
            <a:solidFill>
              <a:srgbClr val="F47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61568" y="3092096"/>
            <a:ext cx="1104320" cy="3407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Georgia"/>
              </a:rPr>
              <a:t>Temporal Attention
Weights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96928" y="2397952"/>
            <a:ext cx="504832" cy="574246"/>
          </a:xfrm>
          <a:prstGeom prst="rect">
            <a:avLst/>
          </a:prstGeom>
          <a:solidFill>
            <a:srgbClr val="DED2E3"/>
          </a:solidFill>
          <a:ln w="9525">
            <a:solidFill>
              <a:srgbClr val="B39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180442" y="2814438"/>
            <a:ext cx="321830" cy="0"/>
          </a:xfrm>
          <a:prstGeom prst="line">
            <a:avLst/>
          </a:prstGeom>
          <a:ln w="47625">
            <a:solidFill>
              <a:srgbClr val="283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3439168" y="2776576"/>
            <a:ext cx="82035" cy="75724"/>
          </a:xfrm>
          <a:prstGeom prst="triangle">
            <a:avLst/>
          </a:prstGeom>
          <a:solidFill>
            <a:srgbClr val="283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95962" y="3129959"/>
            <a:ext cx="694144" cy="302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Georgia"/>
              </a:rPr>
              <a:t>Embedding
MLP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22624" y="2095053"/>
            <a:ext cx="429107" cy="1451392"/>
          </a:xfrm>
          <a:prstGeom prst="roundRect">
            <a:avLst/>
          </a:prstGeom>
          <a:solidFill>
            <a:srgbClr val="DE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79418" y="2158157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81351" y="2158157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79418" y="2360090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81351" y="2360090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79418" y="2562022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81351" y="2562022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79418" y="2763955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81351" y="2763955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79418" y="2965888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581351" y="2965888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79418" y="3167821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81351" y="3167821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379418" y="3369754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81351" y="3369754"/>
            <a:ext cx="113587" cy="113587"/>
          </a:xfrm>
          <a:prstGeom prst="roundRect">
            <a:avLst/>
          </a:prstGeom>
          <a:solidFill>
            <a:srgbClr val="9FA7D1"/>
          </a:solidFill>
          <a:ln w="28575">
            <a:solidFill>
              <a:srgbClr val="5D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5048320" y="946560"/>
            <a:ext cx="605799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654119" y="946560"/>
            <a:ext cx="0" cy="252416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10800000">
            <a:off x="5616257" y="1135872"/>
            <a:ext cx="75724" cy="82035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5048320" y="2864922"/>
            <a:ext cx="605799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654119" y="2568333"/>
            <a:ext cx="0" cy="296589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>
            <a:off x="5616257" y="2549402"/>
            <a:ext cx="75724" cy="82035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389082" y="1205286"/>
            <a:ext cx="530073" cy="1432461"/>
          </a:xfrm>
          <a:prstGeom prst="roundRect">
            <a:avLst/>
          </a:prstGeom>
          <a:solidFill>
            <a:srgbClr val="C5D8F2"/>
          </a:solidFill>
          <a:ln w="28575">
            <a:solidFill>
              <a:srgbClr val="285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 rot="5400000">
            <a:off x="5445876" y="1388288"/>
            <a:ext cx="416486" cy="1072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85AA5"/>
                </a:solidFill>
                <a:latin typeface="Georgia"/>
              </a:rPr>
              <a:t>Dynamic Edge
Modulator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19156" y="1918361"/>
            <a:ext cx="296589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215745" y="1066457"/>
            <a:ext cx="0" cy="851904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215745" y="1066457"/>
            <a:ext cx="340761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6493402" y="102859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556506" y="290278"/>
            <a:ext cx="1249459" cy="1527117"/>
          </a:xfrm>
          <a:prstGeom prst="roundRect">
            <a:avLst/>
          </a:prstGeom>
          <a:solidFill>
            <a:srgbClr val="D0DBE5"/>
          </a:solidFill>
          <a:ln w="28575">
            <a:solidFill>
              <a:srgbClr val="AEB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004545" y="952870"/>
            <a:ext cx="126208" cy="126208"/>
          </a:xfrm>
          <a:prstGeom prst="ellipse">
            <a:avLst/>
          </a:prstGeom>
          <a:solidFill>
            <a:srgbClr val="2B398C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15233" y="517452"/>
            <a:ext cx="113587" cy="1135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H="1" flipV="1">
            <a:off x="6872026" y="574246"/>
            <a:ext cx="195623" cy="441728"/>
          </a:xfrm>
          <a:prstGeom prst="line">
            <a:avLst/>
          </a:prstGeom>
          <a:ln w="28575">
            <a:solidFill>
              <a:srgbClr val="8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7534619" y="366003"/>
            <a:ext cx="113587" cy="1135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7067649" y="422796"/>
            <a:ext cx="523763" cy="593178"/>
          </a:xfrm>
          <a:prstGeom prst="line">
            <a:avLst/>
          </a:prstGeom>
          <a:ln w="28575">
            <a:solidFill>
              <a:srgbClr val="8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6657473" y="1066457"/>
            <a:ext cx="113587" cy="1135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H="1">
            <a:off x="6714266" y="1015974"/>
            <a:ext cx="353383" cy="107277"/>
          </a:xfrm>
          <a:prstGeom prst="line">
            <a:avLst/>
          </a:prstGeom>
          <a:ln w="28575">
            <a:solidFill>
              <a:srgbClr val="8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275892" y="1640704"/>
            <a:ext cx="113587" cy="11358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7067649" y="1015974"/>
            <a:ext cx="265037" cy="681523"/>
          </a:xfrm>
          <a:prstGeom prst="line">
            <a:avLst/>
          </a:prstGeom>
          <a:ln w="28575">
            <a:solidFill>
              <a:srgbClr val="8F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6808922" y="782489"/>
            <a:ext cx="151449" cy="151449"/>
          </a:xfrm>
          <a:prstGeom prst="rect">
            <a:avLst/>
          </a:prstGeom>
          <a:solidFill>
            <a:srgbClr val="3BA0D5"/>
          </a:solidFill>
          <a:ln w="19050">
            <a:solidFill>
              <a:srgbClr val="1B5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307444" y="782489"/>
            <a:ext cx="151449" cy="151449"/>
          </a:xfrm>
          <a:prstGeom prst="rect">
            <a:avLst/>
          </a:prstGeom>
          <a:solidFill>
            <a:srgbClr val="3BA0D5"/>
          </a:solidFill>
          <a:ln w="19050">
            <a:solidFill>
              <a:srgbClr val="1B5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15233" y="1224217"/>
            <a:ext cx="151449" cy="151449"/>
          </a:xfrm>
          <a:prstGeom prst="rect">
            <a:avLst/>
          </a:prstGeom>
          <a:solidFill>
            <a:srgbClr val="3BA0D5"/>
          </a:solidFill>
          <a:ln w="19050">
            <a:solidFill>
              <a:srgbClr val="1B5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288513" y="1230528"/>
            <a:ext cx="151449" cy="151449"/>
          </a:xfrm>
          <a:prstGeom prst="rect">
            <a:avLst/>
          </a:prstGeom>
          <a:solidFill>
            <a:srgbClr val="3BA0D5"/>
          </a:solidFill>
          <a:ln w="19050">
            <a:solidFill>
              <a:srgbClr val="1B5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805966" y="1060147"/>
            <a:ext cx="410176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8153038" y="102228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247694" y="145139"/>
            <a:ext cx="542694" cy="1848947"/>
          </a:xfrm>
          <a:prstGeom prst="roundRect">
            <a:avLst/>
          </a:prstGeom>
          <a:solidFill>
            <a:srgbClr val="FCE5D3"/>
          </a:solidFill>
          <a:ln w="28575">
            <a:solidFill>
              <a:srgbClr val="F4A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 rot="5400000">
            <a:off x="8329729" y="340761"/>
            <a:ext cx="378624" cy="1388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D35A1C"/>
                </a:solidFill>
                <a:latin typeface="Georgia"/>
              </a:rPr>
              <a:t>Probabilistic
Forecast Diffuser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43771" y="151449"/>
            <a:ext cx="2997440" cy="1842637"/>
          </a:xfrm>
          <a:prstGeom prst="roundRect">
            <a:avLst/>
          </a:prstGeom>
          <a:solidFill>
            <a:srgbClr val="CBE3DE"/>
          </a:solidFill>
          <a:ln w="38100">
            <a:solidFill>
              <a:srgbClr val="6C9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09774" y="271347"/>
            <a:ext cx="820352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Georgia"/>
              </a:rPr>
              <a:t>Attention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85499" y="807731"/>
            <a:ext cx="504832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Georgia"/>
              </a:rPr>
              <a:t>GCN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60257" y="1306253"/>
            <a:ext cx="504832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Georgia"/>
              </a:rPr>
              <a:t>MLP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7125" y="208243"/>
            <a:ext cx="1060147" cy="549004"/>
          </a:xfrm>
          <a:prstGeom prst="rect">
            <a:avLst/>
          </a:prstGeom>
          <a:solidFill>
            <a:srgbClr val="B4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147125" y="820352"/>
            <a:ext cx="1060147" cy="473280"/>
          </a:xfrm>
          <a:prstGeom prst="rect">
            <a:avLst/>
          </a:prstGeom>
          <a:solidFill>
            <a:srgbClr val="B9C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47125" y="1369357"/>
            <a:ext cx="1060147" cy="466969"/>
          </a:xfrm>
          <a:prstGeom prst="rect">
            <a:avLst/>
          </a:prstGeom>
          <a:solidFill>
            <a:srgbClr val="B2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465999" y="252416"/>
            <a:ext cx="372313" cy="1571289"/>
          </a:xfrm>
          <a:prstGeom prst="rect">
            <a:avLst/>
          </a:prstGeom>
          <a:solidFill>
            <a:srgbClr val="4E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 rot="5400000">
            <a:off x="11497551" y="391244"/>
            <a:ext cx="302899" cy="1293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50505"/>
                </a:solidFill>
                <a:latin typeface="Georgia"/>
              </a:rPr>
              <a:t>Multi-Criteria
Score
Aggregator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1207272" y="479590"/>
            <a:ext cx="25872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Isosceles Triangle 104"/>
          <p:cNvSpPr/>
          <p:nvPr/>
        </p:nvSpPr>
        <p:spPr>
          <a:xfrm rot="5400000">
            <a:off x="11402895" y="441728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11207272" y="1053837"/>
            <a:ext cx="25872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5400000">
            <a:off x="11402895" y="101597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11207272" y="1602841"/>
            <a:ext cx="25872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5400000">
            <a:off x="11402895" y="1564979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705397" y="2202330"/>
            <a:ext cx="1552358" cy="1451392"/>
          </a:xfrm>
          <a:prstGeom prst="roundRect">
            <a:avLst/>
          </a:prstGeom>
          <a:solidFill>
            <a:srgbClr val="F2F8F0"/>
          </a:solidFill>
          <a:ln w="28575">
            <a:solidFill>
              <a:srgbClr val="B6D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50536" y="3388685"/>
            <a:ext cx="1388288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Georgia"/>
              </a:rPr>
              <a:t>Station Features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248091" y="2397952"/>
            <a:ext cx="384934" cy="1281011"/>
          </a:xfrm>
          <a:prstGeom prst="roundRect">
            <a:avLst/>
          </a:prstGeom>
          <a:solidFill>
            <a:srgbClr val="DE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304885" y="2461056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481576" y="2461056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0304885" y="2637747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0481576" y="2637747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304885" y="2814438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481576" y="2814438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304885" y="2991130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0481576" y="2991130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0304885" y="3167821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0481576" y="3167821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304885" y="3344512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481576" y="3344512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304885" y="3521203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481576" y="3521203"/>
            <a:ext cx="94656" cy="94656"/>
          </a:xfrm>
          <a:prstGeom prst="roundRect">
            <a:avLst/>
          </a:prstGeom>
          <a:solidFill>
            <a:srgbClr val="F0D1DE"/>
          </a:solidFill>
          <a:ln w="28575">
            <a:solidFill>
              <a:srgbClr val="BB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481179" y="2246502"/>
            <a:ext cx="694144" cy="1571289"/>
          </a:xfrm>
          <a:prstGeom prst="roundRect">
            <a:avLst/>
          </a:prstGeom>
          <a:solidFill>
            <a:srgbClr val="D6EDF5"/>
          </a:solidFill>
          <a:ln w="28575">
            <a:solidFill>
              <a:srgbClr val="4A9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519041" y="2013017"/>
            <a:ext cx="605798" cy="214553"/>
          </a:xfrm>
          <a:prstGeom prst="rect">
            <a:avLst/>
          </a:prstGeom>
          <a:solidFill>
            <a:srgbClr val="A8D6E2"/>
          </a:solidFill>
          <a:ln w="19050">
            <a:solidFill>
              <a:srgbClr val="4A9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44283" y="2038259"/>
            <a:ext cx="555315" cy="20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Georgia"/>
              </a:rPr>
              <a:t>Station
Bias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22055" y="2202330"/>
            <a:ext cx="1546048" cy="1457702"/>
          </a:xfrm>
          <a:prstGeom prst="roundRect">
            <a:avLst/>
          </a:prstGeom>
          <a:solidFill>
            <a:srgbClr val="F2F8F0"/>
          </a:solidFill>
          <a:ln w="28575">
            <a:solidFill>
              <a:srgbClr val="B6D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777370" y="2625126"/>
            <a:ext cx="378624" cy="378624"/>
          </a:xfrm>
          <a:prstGeom prst="roundRect">
            <a:avLst/>
          </a:prstGeom>
          <a:solidFill>
            <a:srgbClr val="D994B6"/>
          </a:solidFill>
          <a:ln w="28575">
            <a:solidFill>
              <a:srgbClr val="A95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29332" y="3111027"/>
            <a:ext cx="1356736" cy="3660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Georgia"/>
              </a:rPr>
              <a:t>Station
Precipitation Value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1472309" y="1817395"/>
            <a:ext cx="0" cy="1116941"/>
          </a:xfrm>
          <a:prstGeom prst="line">
            <a:avLst/>
          </a:prstGeom>
          <a:ln w="57150">
            <a:solidFill>
              <a:srgbClr val="6C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1264066" y="2934336"/>
            <a:ext cx="208243" cy="0"/>
          </a:xfrm>
          <a:prstGeom prst="line">
            <a:avLst/>
          </a:prstGeom>
          <a:ln w="57150">
            <a:solidFill>
              <a:srgbClr val="6C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Isosceles Triangle 134"/>
          <p:cNvSpPr/>
          <p:nvPr/>
        </p:nvSpPr>
        <p:spPr>
          <a:xfrm rot="16200000">
            <a:off x="11245135" y="2896474"/>
            <a:ext cx="82035" cy="75724"/>
          </a:xfrm>
          <a:prstGeom prst="triangle">
            <a:avLst/>
          </a:prstGeom>
          <a:solidFill>
            <a:srgbClr val="6C9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H="1">
            <a:off x="9187944" y="2940646"/>
            <a:ext cx="517453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16200000">
            <a:off x="9169013" y="290278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H="1">
            <a:off x="7787035" y="2940646"/>
            <a:ext cx="694144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16200000">
            <a:off x="7768103" y="290278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50483" y="3925069"/>
            <a:ext cx="12090728" cy="0"/>
          </a:xfrm>
          <a:prstGeom prst="line">
            <a:avLst/>
          </a:prstGeom>
          <a:ln w="38100">
            <a:solidFill>
              <a:srgbClr val="050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070605" y="3950311"/>
            <a:ext cx="0" cy="2883853"/>
          </a:xfrm>
          <a:prstGeom prst="line">
            <a:avLst/>
          </a:prstGeom>
          <a:ln w="38100">
            <a:solidFill>
              <a:srgbClr val="050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372313" y="4082829"/>
            <a:ext cx="5458497" cy="2713472"/>
          </a:xfrm>
          <a:prstGeom prst="roundRect">
            <a:avLst/>
          </a:prstGeom>
          <a:solidFill>
            <a:srgbClr val="C1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691584" y="3994483"/>
            <a:ext cx="2000397" cy="504832"/>
          </a:xfrm>
          <a:prstGeom prst="rect">
            <a:avLst/>
          </a:prstGeom>
          <a:solidFill>
            <a:srgbClr val="BBD0E9"/>
          </a:solidFill>
          <a:ln w="28575">
            <a:solidFill>
              <a:srgbClr val="285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35757" y="4063898"/>
            <a:ext cx="1905741" cy="347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4C83C8"/>
                </a:solidFill>
                <a:latin typeface="Georgia"/>
              </a:rPr>
              <a:t>Dynamic Edge
Modulator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9004" y="4871629"/>
            <a:ext cx="801420" cy="814041"/>
          </a:xfrm>
          <a:prstGeom prst="roundRect">
            <a:avLst/>
          </a:prstGeom>
          <a:solidFill>
            <a:srgbClr val="B4C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62592" y="5073562"/>
            <a:ext cx="151449" cy="151449"/>
          </a:xfrm>
          <a:prstGeom prst="ellipse">
            <a:avLst/>
          </a:prstGeom>
          <a:solidFill>
            <a:srgbClr val="5D7DCA"/>
          </a:solidFill>
          <a:ln w="19050">
            <a:solidFill>
              <a:srgbClr val="1B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2768" y="5414324"/>
            <a:ext cx="151449" cy="151449"/>
          </a:xfrm>
          <a:prstGeom prst="ellipse">
            <a:avLst/>
          </a:prstGeom>
          <a:solidFill>
            <a:srgbClr val="EFEAE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782489" y="5193460"/>
            <a:ext cx="321831" cy="258726"/>
          </a:xfrm>
          <a:prstGeom prst="line">
            <a:avLst/>
          </a:prstGeom>
          <a:ln w="19050">
            <a:solidFill>
              <a:srgbClr val="5B75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1703808" y="4379418"/>
            <a:ext cx="460659" cy="1804774"/>
          </a:xfrm>
          <a:prstGeom prst="roundRect">
            <a:avLst/>
          </a:prstGeom>
          <a:solidFill>
            <a:srgbClr val="F6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 rot="5400000">
            <a:off x="1741670" y="4549799"/>
            <a:ext cx="378624" cy="14513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50505"/>
                </a:solidFill>
                <a:latin typeface="Georgia"/>
              </a:rPr>
              <a:t>Edge Gating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350425" y="5281805"/>
            <a:ext cx="340762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Isosceles Triangle 151"/>
          <p:cNvSpPr/>
          <p:nvPr/>
        </p:nvSpPr>
        <p:spPr>
          <a:xfrm rot="5400000">
            <a:off x="1628083" y="5243943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599885" y="4253210"/>
            <a:ext cx="668902" cy="719385"/>
          </a:xfrm>
          <a:prstGeom prst="roundRect">
            <a:avLst/>
          </a:prstGeom>
          <a:solidFill>
            <a:srgbClr val="B6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2599885" y="5420634"/>
            <a:ext cx="668902" cy="719385"/>
          </a:xfrm>
          <a:prstGeom prst="roundRect">
            <a:avLst/>
          </a:prstGeom>
          <a:solidFill>
            <a:srgbClr val="B6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688230" y="4404660"/>
            <a:ext cx="151449" cy="151449"/>
          </a:xfrm>
          <a:prstGeom prst="ellipse">
            <a:avLst/>
          </a:prstGeom>
          <a:solidFill>
            <a:srgbClr val="5D7DC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010061" y="4701248"/>
            <a:ext cx="151449" cy="151449"/>
          </a:xfrm>
          <a:prstGeom prst="ellipse">
            <a:avLst/>
          </a:prstGeom>
          <a:solidFill>
            <a:srgbClr val="EFEAE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688230" y="5572084"/>
            <a:ext cx="151449" cy="151449"/>
          </a:xfrm>
          <a:prstGeom prst="ellipse">
            <a:avLst/>
          </a:prstGeom>
          <a:solidFill>
            <a:srgbClr val="5D7DC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010061" y="5874983"/>
            <a:ext cx="151449" cy="151449"/>
          </a:xfrm>
          <a:prstGeom prst="ellipse">
            <a:avLst/>
          </a:prstGeom>
          <a:solidFill>
            <a:srgbClr val="EFEAE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2164467" y="4606592"/>
            <a:ext cx="41648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Isosceles Triangle 159"/>
          <p:cNvSpPr/>
          <p:nvPr/>
        </p:nvSpPr>
        <p:spPr>
          <a:xfrm rot="5400000">
            <a:off x="2517850" y="4568730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2164467" y="5792948"/>
            <a:ext cx="41648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Isosceles Triangle 161"/>
          <p:cNvSpPr/>
          <p:nvPr/>
        </p:nvSpPr>
        <p:spPr>
          <a:xfrm rot="5400000">
            <a:off x="2517850" y="575508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3268787" y="5792948"/>
            <a:ext cx="233485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Isosceles Triangle 163"/>
          <p:cNvSpPr/>
          <p:nvPr/>
        </p:nvSpPr>
        <p:spPr>
          <a:xfrm rot="5400000">
            <a:off x="3439168" y="575508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527514" y="4922112"/>
            <a:ext cx="410176" cy="1760601"/>
          </a:xfrm>
          <a:prstGeom prst="rect">
            <a:avLst/>
          </a:prstGeom>
          <a:solidFill>
            <a:srgbClr val="E98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 rot="5400000">
            <a:off x="3533824" y="5073562"/>
            <a:ext cx="391244" cy="14513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50505"/>
                </a:solidFill>
                <a:latin typeface="Georgia"/>
              </a:rPr>
              <a:t>Attention Net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3937690" y="5792948"/>
            <a:ext cx="290278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Isosceles Triangle 167"/>
          <p:cNvSpPr/>
          <p:nvPr/>
        </p:nvSpPr>
        <p:spPr>
          <a:xfrm rot="5400000">
            <a:off x="4164864" y="575508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253210" y="4922112"/>
            <a:ext cx="416486" cy="1760601"/>
          </a:xfrm>
          <a:prstGeom prst="rect">
            <a:avLst/>
          </a:prstGeom>
          <a:solidFill>
            <a:srgbClr val="9E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 rot="5400000">
            <a:off x="4259520" y="5073562"/>
            <a:ext cx="403865" cy="1482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50505"/>
                </a:solidFill>
                <a:latin typeface="Georgia"/>
              </a:rPr>
              <a:t>Geographic Decay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4669696" y="5792948"/>
            <a:ext cx="41648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sosceles Triangle 171"/>
          <p:cNvSpPr/>
          <p:nvPr/>
        </p:nvSpPr>
        <p:spPr>
          <a:xfrm rot="5400000">
            <a:off x="5023079" y="5755085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105114" y="5420634"/>
            <a:ext cx="668902" cy="719385"/>
          </a:xfrm>
          <a:prstGeom prst="roundRect">
            <a:avLst/>
          </a:prstGeom>
          <a:solidFill>
            <a:srgbClr val="B6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193460" y="5572084"/>
            <a:ext cx="151449" cy="151449"/>
          </a:xfrm>
          <a:prstGeom prst="ellipse">
            <a:avLst/>
          </a:prstGeom>
          <a:solidFill>
            <a:srgbClr val="5D7DC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515290" y="5874983"/>
            <a:ext cx="151449" cy="151449"/>
          </a:xfrm>
          <a:prstGeom prst="ellipse">
            <a:avLst/>
          </a:prstGeom>
          <a:solidFill>
            <a:srgbClr val="EFEAEA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5325978" y="5698292"/>
            <a:ext cx="208243" cy="201933"/>
          </a:xfrm>
          <a:prstGeom prst="line">
            <a:avLst/>
          </a:prstGeom>
          <a:ln w="19050">
            <a:solidFill>
              <a:srgbClr val="5D75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6247297" y="4177485"/>
            <a:ext cx="5704602" cy="2625126"/>
          </a:xfrm>
          <a:prstGeom prst="roundRect">
            <a:avLst/>
          </a:prstGeom>
          <a:solidFill>
            <a:srgbClr val="FBE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436609" y="3988173"/>
            <a:ext cx="2038259" cy="504832"/>
          </a:xfrm>
          <a:prstGeom prst="rect">
            <a:avLst/>
          </a:prstGeom>
          <a:solidFill>
            <a:srgbClr val="FCEBD8"/>
          </a:solidFill>
          <a:ln w="28575">
            <a:solidFill>
              <a:srgbClr val="F4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487092" y="4057587"/>
            <a:ext cx="1937293" cy="3407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DB641E"/>
                </a:solidFill>
                <a:latin typeface="Georgia"/>
              </a:rPr>
              <a:t>Probabilistic
Forecast Diffuser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348263" y="4821146"/>
            <a:ext cx="441728" cy="47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Georgia"/>
              </a:rPr>
              <a:t>Add
Noise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859406" y="5004148"/>
            <a:ext cx="719385" cy="889766"/>
          </a:xfrm>
          <a:prstGeom prst="rect">
            <a:avLst/>
          </a:prstGeom>
          <a:solidFill>
            <a:srgbClr val="777777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6329332" y="5458497"/>
            <a:ext cx="504832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/>
          <p:cNvSpPr/>
          <p:nvPr/>
        </p:nvSpPr>
        <p:spPr>
          <a:xfrm rot="5400000">
            <a:off x="6771060" y="542063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7578791" y="5458497"/>
            <a:ext cx="283968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Isosceles Triangle 184"/>
          <p:cNvSpPr/>
          <p:nvPr/>
        </p:nvSpPr>
        <p:spPr>
          <a:xfrm rot="5400000">
            <a:off x="7799655" y="542063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Parallelogram 185"/>
          <p:cNvSpPr/>
          <p:nvPr/>
        </p:nvSpPr>
        <p:spPr>
          <a:xfrm>
            <a:off x="7976347" y="4694938"/>
            <a:ext cx="511142" cy="1564979"/>
          </a:xfrm>
          <a:prstGeom prst="parallelogram">
            <a:avLst/>
          </a:prstGeom>
          <a:solidFill>
            <a:srgbClr val="A8BCE0"/>
          </a:solidFill>
          <a:ln w="9525"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Parallelogram 186"/>
          <p:cNvSpPr/>
          <p:nvPr/>
        </p:nvSpPr>
        <p:spPr>
          <a:xfrm>
            <a:off x="9150081" y="4694938"/>
            <a:ext cx="504832" cy="1564979"/>
          </a:xfrm>
          <a:prstGeom prst="parallelogram">
            <a:avLst/>
          </a:prstGeom>
          <a:solidFill>
            <a:srgbClr val="A8BCE0"/>
          </a:solidFill>
          <a:ln w="9525"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487489" y="4852698"/>
            <a:ext cx="662592" cy="1230528"/>
          </a:xfrm>
          <a:prstGeom prst="rect">
            <a:avLst/>
          </a:prstGeom>
          <a:solidFill>
            <a:srgbClr val="DCE4F2"/>
          </a:solidFill>
          <a:ln w="9525">
            <a:solidFill>
              <a:srgbClr val="B6C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8014209" y="4947354"/>
            <a:ext cx="170380" cy="864524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272936" y="5035700"/>
            <a:ext cx="176691" cy="795110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563214" y="5136666"/>
            <a:ext cx="170380" cy="643660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181633" y="5136666"/>
            <a:ext cx="170380" cy="643660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9415118" y="5035700"/>
            <a:ext cx="176691" cy="795110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9617051" y="4947354"/>
            <a:ext cx="170380" cy="864524"/>
          </a:xfrm>
          <a:prstGeom prst="roundRect">
            <a:avLst/>
          </a:prstGeom>
          <a:solidFill>
            <a:srgbClr val="5D8BCF"/>
          </a:solidFill>
          <a:ln w="9525">
            <a:solidFill>
              <a:srgbClr val="537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>
            <a:off x="7761793" y="5458497"/>
            <a:ext cx="56794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7818587" y="4587661"/>
            <a:ext cx="0" cy="870836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18587" y="4587661"/>
            <a:ext cx="2158157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976744" y="4587661"/>
            <a:ext cx="0" cy="580557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6606990" y="5458497"/>
            <a:ext cx="1154803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606990" y="5458497"/>
            <a:ext cx="0" cy="410176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6606990" y="5868673"/>
            <a:ext cx="3369754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976744" y="5635188"/>
            <a:ext cx="0" cy="233485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10027227" y="5357530"/>
            <a:ext cx="201932" cy="201932"/>
          </a:xfrm>
          <a:prstGeom prst="ellipse">
            <a:avLst/>
          </a:prstGeom>
          <a:solidFill>
            <a:srgbClr val="FFF9E8"/>
          </a:solidFill>
          <a:ln w="1905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033537" y="5357530"/>
            <a:ext cx="189312" cy="189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Georgia"/>
              </a:rPr>
              <a:t>−</a:t>
            </a:r>
          </a:p>
        </p:txBody>
      </p:sp>
      <p:sp>
        <p:nvSpPr>
          <p:cNvPr id="205" name="Oval 204"/>
          <p:cNvSpPr/>
          <p:nvPr/>
        </p:nvSpPr>
        <p:spPr>
          <a:xfrm>
            <a:off x="10027227" y="5767706"/>
            <a:ext cx="201932" cy="201932"/>
          </a:xfrm>
          <a:prstGeom prst="ellipse">
            <a:avLst/>
          </a:prstGeom>
          <a:solidFill>
            <a:srgbClr val="FFF9E8"/>
          </a:solidFill>
          <a:ln w="1905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033537" y="5767706"/>
            <a:ext cx="189312" cy="189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Georgia"/>
              </a:rPr>
              <a:t>+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9970433" y="5458497"/>
            <a:ext cx="504833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Isosceles Triangle 207"/>
          <p:cNvSpPr/>
          <p:nvPr/>
        </p:nvSpPr>
        <p:spPr>
          <a:xfrm rot="5400000">
            <a:off x="10412162" y="5420634"/>
            <a:ext cx="82035" cy="75724"/>
          </a:xfrm>
          <a:prstGeom prst="triangl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9" name="Connector 208"/>
          <p:cNvCxnSpPr/>
          <p:nvPr/>
        </p:nvCxnSpPr>
        <p:spPr>
          <a:xfrm flipV="1">
            <a:off x="10475266" y="5010458"/>
            <a:ext cx="378624" cy="448039"/>
          </a:xfrm>
          <a:prstGeom prst="line">
            <a:avLst/>
          </a:prstGeom>
          <a:ln w="28575">
            <a:solidFill>
              <a:srgbClr val="283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475266" y="5458497"/>
            <a:ext cx="378624" cy="460659"/>
          </a:xfrm>
          <a:prstGeom prst="line">
            <a:avLst/>
          </a:prstGeom>
          <a:ln w="28575">
            <a:solidFill>
              <a:srgbClr val="283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 rot="1680000">
            <a:off x="10374299" y="4783284"/>
            <a:ext cx="441728" cy="17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Georgia"/>
              </a:rPr>
              <a:t>60%</a:t>
            </a:r>
          </a:p>
        </p:txBody>
      </p:sp>
      <p:sp>
        <p:nvSpPr>
          <p:cNvPr id="212" name="TextBox 211"/>
          <p:cNvSpPr txBox="1"/>
          <p:nvPr/>
        </p:nvSpPr>
        <p:spPr>
          <a:xfrm rot="19920000">
            <a:off x="10374299" y="5780327"/>
            <a:ext cx="441728" cy="17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Georgia"/>
              </a:rPr>
              <a:t>10%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0866510" y="4638144"/>
            <a:ext cx="586867" cy="1754291"/>
          </a:xfrm>
          <a:prstGeom prst="roundRect">
            <a:avLst/>
          </a:prstGeom>
          <a:solidFill>
            <a:srgbClr val="F4F1D9"/>
          </a:solidFill>
          <a:ln w="28575">
            <a:solidFill>
              <a:srgbClr val="285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986408" y="4745421"/>
            <a:ext cx="347072" cy="429107"/>
          </a:xfrm>
          <a:prstGeom prst="rect">
            <a:avLst/>
          </a:prstGeom>
          <a:solidFill>
            <a:srgbClr val="E9F0FF"/>
          </a:solidFill>
          <a:ln w="19050">
            <a:solidFill>
              <a:srgbClr val="2859A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1068443" y="4871629"/>
            <a:ext cx="176691" cy="176691"/>
          </a:xfrm>
          <a:prstGeom prst="ellipse">
            <a:avLst/>
          </a:prstGeom>
          <a:solidFill>
            <a:srgbClr val="3EADC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11465999" y="4959975"/>
            <a:ext cx="265036" cy="0"/>
          </a:xfrm>
          <a:prstGeom prst="line">
            <a:avLst/>
          </a:prstGeom>
          <a:ln w="28575">
            <a:solidFill>
              <a:srgbClr val="285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Isosceles Triangle 216"/>
          <p:cNvSpPr/>
          <p:nvPr/>
        </p:nvSpPr>
        <p:spPr>
          <a:xfrm rot="5400000">
            <a:off x="11667931" y="4922112"/>
            <a:ext cx="82035" cy="75724"/>
          </a:xfrm>
          <a:prstGeom prst="triangle">
            <a:avLst/>
          </a:prstGeom>
          <a:solidFill>
            <a:srgbClr val="285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986408" y="5370151"/>
            <a:ext cx="347072" cy="429107"/>
          </a:xfrm>
          <a:prstGeom prst="rect">
            <a:avLst/>
          </a:prstGeom>
          <a:solidFill>
            <a:srgbClr val="E9F0FF"/>
          </a:solidFill>
          <a:ln w="19050">
            <a:solidFill>
              <a:srgbClr val="2859A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68443" y="5496359"/>
            <a:ext cx="176691" cy="176691"/>
          </a:xfrm>
          <a:prstGeom prst="ellipse">
            <a:avLst/>
          </a:prstGeom>
          <a:solidFill>
            <a:srgbClr val="3EADC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11465999" y="5584705"/>
            <a:ext cx="265036" cy="0"/>
          </a:xfrm>
          <a:prstGeom prst="line">
            <a:avLst/>
          </a:prstGeom>
          <a:ln w="28575">
            <a:solidFill>
              <a:srgbClr val="285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Isosceles Triangle 220"/>
          <p:cNvSpPr/>
          <p:nvPr/>
        </p:nvSpPr>
        <p:spPr>
          <a:xfrm rot="5400000">
            <a:off x="11667931" y="5546842"/>
            <a:ext cx="82035" cy="75724"/>
          </a:xfrm>
          <a:prstGeom prst="triangle">
            <a:avLst/>
          </a:prstGeom>
          <a:solidFill>
            <a:srgbClr val="285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986408" y="5994881"/>
            <a:ext cx="347072" cy="429107"/>
          </a:xfrm>
          <a:prstGeom prst="rect">
            <a:avLst/>
          </a:prstGeom>
          <a:solidFill>
            <a:srgbClr val="E9F0FF"/>
          </a:solidFill>
          <a:ln w="19050">
            <a:solidFill>
              <a:srgbClr val="2859A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68443" y="6121089"/>
            <a:ext cx="176691" cy="176691"/>
          </a:xfrm>
          <a:prstGeom prst="ellipse">
            <a:avLst/>
          </a:prstGeom>
          <a:solidFill>
            <a:srgbClr val="3EADC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11465999" y="6209434"/>
            <a:ext cx="265036" cy="0"/>
          </a:xfrm>
          <a:prstGeom prst="line">
            <a:avLst/>
          </a:prstGeom>
          <a:ln w="28575">
            <a:solidFill>
              <a:srgbClr val="285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Isosceles Triangle 224"/>
          <p:cNvSpPr/>
          <p:nvPr/>
        </p:nvSpPr>
        <p:spPr>
          <a:xfrm rot="5400000">
            <a:off x="11667931" y="6171572"/>
            <a:ext cx="82035" cy="75724"/>
          </a:xfrm>
          <a:prstGeom prst="triangle">
            <a:avLst/>
          </a:prstGeom>
          <a:solidFill>
            <a:srgbClr val="285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LiG Diffusion-enhanced Liquid Graph with Attention Propagation for Grid-to-Station Precipitation Correc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6884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