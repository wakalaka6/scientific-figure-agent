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709208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231" y="97866"/>
            <a:ext cx="12061232" cy="358845"/>
          </a:xfrm>
          <a:prstGeom prst="roundRect">
            <a:avLst/>
          </a:prstGeom>
          <a:solidFill>
            <a:srgbClr val="F0F8EC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231" y="117440"/>
            <a:ext cx="12061232" cy="31317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32" b="1" i="0">
                <a:solidFill>
                  <a:srgbClr val="111111"/>
                </a:solidFill>
                <a:latin typeface="Liberation Serif"/>
              </a:rPr>
              <a:t>FakeVV Dataset Construction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231" y="548054"/>
            <a:ext cx="2198288" cy="16311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5736" y="548054"/>
            <a:ext cx="2152626" cy="16311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01009" y="548054"/>
            <a:ext cx="3352879" cy="16311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3920" y="548054"/>
            <a:ext cx="3822543" cy="16311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28750" y="1056962"/>
            <a:ext cx="110892" cy="450187"/>
          </a:xfrm>
          <a:prstGeom prst="rightArrow">
            <a:avLst/>
          </a:prstGeom>
          <a:solidFill>
            <a:srgbClr val="A0A0A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670547" y="1056962"/>
            <a:ext cx="110892" cy="450187"/>
          </a:xfrm>
          <a:prstGeom prst="rightArrow">
            <a:avLst/>
          </a:prstGeom>
          <a:solidFill>
            <a:srgbClr val="A0A0A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199551" y="1056962"/>
            <a:ext cx="110892" cy="450187"/>
          </a:xfrm>
          <a:prstGeom prst="rightArrow">
            <a:avLst/>
          </a:prstGeom>
          <a:solidFill>
            <a:srgbClr val="A0A0A0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9170" y="639396"/>
            <a:ext cx="326155" cy="326222"/>
          </a:xfrm>
          <a:prstGeom prst="ellipse">
            <a:avLst/>
          </a:prstGeom>
          <a:solidFill>
            <a:srgbClr val="F9FBFF"/>
          </a:solidFill>
          <a:ln w="19050">
            <a:solidFill>
              <a:srgbClr val="7F8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909" y="841655"/>
            <a:ext cx="143508" cy="143538"/>
          </a:xfrm>
          <a:prstGeom prst="ellipse">
            <a:avLst/>
          </a:prstGeom>
          <a:solidFill>
            <a:srgbClr val="FDE9B5"/>
          </a:solidFill>
          <a:ln w="12700">
            <a:solidFill>
              <a:srgbClr val="D4B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15325" y="959095"/>
            <a:ext cx="78278" cy="78293"/>
          </a:xfrm>
          <a:prstGeom prst="line">
            <a:avLst/>
          </a:prstGeom>
          <a:ln w="19050">
            <a:solidFill>
              <a:srgbClr val="D4B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8403" y="619823"/>
            <a:ext cx="1630777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11111"/>
                </a:solidFill>
                <a:latin typeface="Liberation Serif"/>
              </a:rPr>
              <a:t>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03" y="822081"/>
            <a:ext cx="1761240" cy="247929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111111"/>
                </a:solidFill>
                <a:latin typeface="Liberation Serif"/>
              </a:rPr>
              <a:t>120,000 raw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647" y="1083060"/>
            <a:ext cx="1565546" cy="19573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111111"/>
                </a:solidFill>
                <a:latin typeface="Liberation Serif"/>
              </a:rPr>
              <a:t>Sources 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462" y="1448429"/>
            <a:ext cx="247878" cy="143538"/>
          </a:xfrm>
          <a:prstGeom prst="round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031" y="1428856"/>
            <a:ext cx="221785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Liberation Sans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32" y="1396234"/>
            <a:ext cx="515325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YouTube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66" y="1304891"/>
            <a:ext cx="450094" cy="463236"/>
          </a:xfrm>
          <a:prstGeom prst="rect">
            <a:avLst/>
          </a:prstGeom>
          <a:solidFill>
            <a:srgbClr val="CC0000"/>
          </a:solidFill>
          <a:ln w="63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7605" y="1337513"/>
            <a:ext cx="371817" cy="15006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68" b="1" i="0">
                <a:solidFill>
                  <a:srgbClr val="FFFFFF"/>
                </a:solidFill>
                <a:latin typeface="Liberation Sans"/>
              </a:rPr>
              <a:t>BBC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7605" y="1494100"/>
            <a:ext cx="371817" cy="13701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24" b="1" i="0">
                <a:solidFill>
                  <a:srgbClr val="FFFFFF"/>
                </a:solidFill>
                <a:latin typeface="Liberation Sans"/>
              </a:rPr>
              <a:t>NEWS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0315" y="1337513"/>
            <a:ext cx="730588" cy="34579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DF1212"/>
                </a:solidFill>
                <a:latin typeface="Liberation Sans"/>
              </a:rPr>
              <a:t>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08" y="1755079"/>
            <a:ext cx="958897" cy="33927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11111"/>
                </a:solidFill>
                <a:latin typeface="Liberation Serif"/>
              </a:rPr>
              <a:t>The Guardian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8498" y="1755079"/>
            <a:ext cx="287016" cy="33927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111111"/>
                </a:solidFill>
                <a:latin typeface="Liberation Serif"/>
              </a:rPr>
              <a:t>T</a:t>
            </a:r>
          </a:p>
        </p:txBody>
      </p:sp>
      <p:sp>
        <p:nvSpPr>
          <p:cNvPr id="26" name="Oval 25"/>
          <p:cNvSpPr/>
          <p:nvPr/>
        </p:nvSpPr>
        <p:spPr>
          <a:xfrm>
            <a:off x="2589675" y="632872"/>
            <a:ext cx="313109" cy="98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89675" y="678674"/>
            <a:ext cx="313109" cy="218438"/>
          </a:xfrm>
          <a:prstGeom prst="rect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89675" y="833695"/>
            <a:ext cx="313109" cy="98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5431" y="619823"/>
            <a:ext cx="1395945" cy="234880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11111"/>
                </a:solidFill>
                <a:latin typeface="Liberation Serif"/>
              </a:rPr>
              <a:t>Data Filtering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85431" y="822081"/>
            <a:ext cx="1402468" cy="293600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5" b="0" i="0">
                <a:solidFill>
                  <a:srgbClr val="111111"/>
                </a:solidFill>
                <a:latin typeface="Liberation Serif"/>
              </a:rPr>
              <a:t>Retain high-quality
news samples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7920" y="1200500"/>
            <a:ext cx="1696008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111111"/>
                </a:solidFill>
                <a:latin typeface="Liberation Serif"/>
              </a:rPr>
              <a:t>Filtering target: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7920" y="1435380"/>
            <a:ext cx="1924317" cy="606774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0" i="0">
                <a:solidFill>
                  <a:srgbClr val="111111"/>
                </a:solidFill>
                <a:latin typeface="Liberation Serif"/>
              </a:rPr>
              <a:t>•  Noise Information
•  Duplicate data
•  Video length within 5 minutes</a:t>
            </a:r>
          </a:p>
        </p:txBody>
      </p:sp>
      <p:sp>
        <p:nvSpPr>
          <p:cNvPr id="33" name="Oval 32"/>
          <p:cNvSpPr/>
          <p:nvPr/>
        </p:nvSpPr>
        <p:spPr>
          <a:xfrm>
            <a:off x="4964087" y="619823"/>
            <a:ext cx="281798" cy="887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64087" y="661045"/>
            <a:ext cx="281798" cy="196594"/>
          </a:xfrm>
          <a:prstGeom prst="rect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64087" y="800564"/>
            <a:ext cx="281798" cy="887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59717" y="802508"/>
            <a:ext cx="117416" cy="11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6272" y="724214"/>
            <a:ext cx="117416" cy="11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8520" y="626348"/>
            <a:ext cx="1761240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11111"/>
                </a:solidFill>
                <a:latin typeface="Liberation Serif"/>
              </a:rPr>
              <a:t>Data Processing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6241" y="1096109"/>
            <a:ext cx="1089359" cy="985193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51041" y="1135255"/>
            <a:ext cx="919758" cy="391467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6272" y="1161353"/>
            <a:ext cx="789296" cy="33927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News Title,
Visual Entity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72827" y="1605016"/>
            <a:ext cx="495756" cy="41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413" y="11452"/>
            <a:ext cx="2698" cy="2327"/>
          </a:xfrm>
          <a:prstGeom prst="triangle">
            <a:avLst/>
          </a:prstGeom>
          <a:solidFill>
            <a:srgbClr val="292638"/>
          </a:solidFill>
          <a:ln w="12700">
            <a:solidFill>
              <a:srgbClr val="29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24949" y="1944288"/>
            <a:ext cx="978466" cy="13701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Video Frames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007785" y="1468003"/>
            <a:ext cx="280493" cy="156587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14308" y="880801"/>
            <a:ext cx="221785" cy="221831"/>
          </a:xfrm>
          <a:prstGeom prst="ellipse">
            <a:avLst/>
          </a:prstGeom>
          <a:solidFill>
            <a:srgbClr val="FFFDFD"/>
          </a:solidFill>
          <a:ln w="12700"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3878" y="1115682"/>
            <a:ext cx="182647" cy="7829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27" b="1" i="0">
                <a:solidFill>
                  <a:srgbClr val="6A6A6A"/>
                </a:solidFill>
                <a:latin typeface="Liberation Sans"/>
              </a:rPr>
              <a:t>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094" y="828606"/>
            <a:ext cx="600126" cy="27402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Designed
Prompt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6444834" y="1135255"/>
            <a:ext cx="130462" cy="202258"/>
          </a:xfrm>
          <a:prstGeom prst="downArrow">
            <a:avLst/>
          </a:prstGeom>
          <a:solidFill>
            <a:srgbClr val="808080"/>
          </a:solidFill>
          <a:ln w="762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94802" y="1363611"/>
            <a:ext cx="430525" cy="430614"/>
          </a:xfrm>
          <a:prstGeom prst="roundRect">
            <a:avLst/>
          </a:prstGeom>
          <a:solidFill>
            <a:srgbClr val="65B8A9"/>
          </a:solidFill>
          <a:ln w="15240">
            <a:solidFill>
              <a:srgbClr val="65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55663" y="1800750"/>
            <a:ext cx="508802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ans"/>
              </a:rPr>
              <a:t>GPT-4o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6764466" y="1468003"/>
            <a:ext cx="247878" cy="150062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31914" y="1285318"/>
            <a:ext cx="1043697" cy="626348"/>
          </a:xfrm>
          <a:prstGeom prst="roundRect">
            <a:avLst/>
          </a:prstGeom>
          <a:solidFill>
            <a:srgbClr val="C6DFF6"/>
          </a:solidFill>
          <a:ln w="12700">
            <a:solidFill>
              <a:srgbClr val="A4B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7145" y="1311416"/>
            <a:ext cx="913235" cy="57415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111111"/>
                </a:solidFill>
                <a:latin typeface="Liberation Sans"/>
              </a:rPr>
              <a:t>News-domain
Video Caption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0601" y="619823"/>
            <a:ext cx="2961492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11111"/>
                </a:solidFill>
                <a:latin typeface="Liberation Serif"/>
              </a:rPr>
              <a:t>Misinformation Data Construction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6536" y="1024339"/>
            <a:ext cx="671880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Video news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4813" y="1193975"/>
            <a:ext cx="319632" cy="234880"/>
          </a:xfrm>
          <a:prstGeom prst="roundRect">
            <a:avLst/>
          </a:prstGeom>
          <a:solidFill>
            <a:srgbClr val="8A80D4"/>
          </a:solidFill>
          <a:ln w="12700">
            <a:solidFill>
              <a:srgbClr val="8A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80044" y="1226598"/>
            <a:ext cx="182647" cy="16963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72" b="1" i="0">
                <a:solidFill>
                  <a:srgbClr val="FFFFFF"/>
                </a:solidFill>
                <a:latin typeface="Liberation Sans"/>
              </a:rPr>
              <a:t>▶</a:t>
            </a:r>
          </a:p>
        </p:txBody>
      </p:sp>
      <p:sp>
        <p:nvSpPr>
          <p:cNvPr id="59" name="Oval 58"/>
          <p:cNvSpPr/>
          <p:nvPr/>
        </p:nvSpPr>
        <p:spPr>
          <a:xfrm>
            <a:off x="8421336" y="1644163"/>
            <a:ext cx="297453" cy="9371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21336" y="1687675"/>
            <a:ext cx="297453" cy="207516"/>
          </a:xfrm>
          <a:prstGeom prst="rect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421336" y="1834945"/>
            <a:ext cx="297453" cy="9371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5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0013" y="1989959"/>
            <a:ext cx="763204" cy="15658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ans"/>
              </a:rPr>
              <a:t>News Database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832292" y="1311416"/>
            <a:ext cx="378341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832292" y="1813799"/>
            <a:ext cx="378341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230202" y="1115682"/>
            <a:ext cx="789296" cy="30664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95433" y="1141780"/>
            <a:ext cx="658834" cy="25445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ans"/>
              </a:rPr>
              <a:t>News Title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84603" y="1441905"/>
            <a:ext cx="313109" cy="22183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88" b="1" i="0">
                <a:solidFill>
                  <a:srgbClr val="111111"/>
                </a:solidFill>
                <a:latin typeface="Liberation Sans"/>
              </a:rPr>
              <a:t>+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0202" y="1676785"/>
            <a:ext cx="848004" cy="365369"/>
          </a:xfrm>
          <a:prstGeom prst="roundRect">
            <a:avLst/>
          </a:prstGeom>
          <a:solidFill>
            <a:srgbClr val="E6F2E4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95433" y="1702883"/>
            <a:ext cx="717542" cy="31317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11111"/>
                </a:solidFill>
                <a:latin typeface="Liberation Sans"/>
              </a:rPr>
              <a:t>Top k Similar
News Titles</a:t>
            </a:r>
          </a:p>
        </p:txBody>
      </p:sp>
      <p:sp>
        <p:nvSpPr>
          <p:cNvPr id="70" name="Oval 69"/>
          <p:cNvSpPr/>
          <p:nvPr/>
        </p:nvSpPr>
        <p:spPr>
          <a:xfrm>
            <a:off x="10110822" y="880801"/>
            <a:ext cx="221785" cy="221831"/>
          </a:xfrm>
          <a:prstGeom prst="ellipse">
            <a:avLst/>
          </a:prstGeom>
          <a:solidFill>
            <a:srgbClr val="FFFDFD"/>
          </a:solidFill>
          <a:ln w="12700"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30391" y="1115682"/>
            <a:ext cx="182647" cy="7829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27" b="1" i="0">
                <a:solidFill>
                  <a:srgbClr val="6A6A6A"/>
                </a:solidFill>
                <a:latin typeface="Liberation Sans"/>
              </a:rPr>
              <a:t>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13039" y="822081"/>
            <a:ext cx="600126" cy="28055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Designed
Prompt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10208669" y="1135255"/>
            <a:ext cx="130462" cy="195733"/>
          </a:xfrm>
          <a:prstGeom prst="downArrow">
            <a:avLst/>
          </a:prstGeom>
          <a:solidFill>
            <a:srgbClr val="808080"/>
          </a:solidFill>
          <a:ln w="762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26085" y="1337513"/>
            <a:ext cx="430525" cy="430614"/>
          </a:xfrm>
          <a:prstGeom prst="roundRect">
            <a:avLst/>
          </a:prstGeom>
          <a:solidFill>
            <a:srgbClr val="65B8A9"/>
          </a:solidFill>
          <a:ln w="15240">
            <a:solidFill>
              <a:srgbClr val="65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86946" y="1774652"/>
            <a:ext cx="508802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ans"/>
              </a:rPr>
              <a:t>GPT-4o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0782703" y="1539772"/>
            <a:ext cx="23483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1050150" y="861228"/>
            <a:ext cx="1095882" cy="1233122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7C7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069720" y="867752"/>
            <a:ext cx="1056744" cy="189209"/>
          </a:xfrm>
          <a:prstGeom prst="roundRect">
            <a:avLst/>
          </a:prstGeom>
          <a:solidFill>
            <a:srgbClr val="C6DFF6"/>
          </a:solidFill>
          <a:ln w="12700">
            <a:solidFill>
              <a:srgbClr val="6C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34951" y="893850"/>
            <a:ext cx="926281" cy="13701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11111"/>
                </a:solidFill>
                <a:latin typeface="Liberation Sans"/>
              </a:rPr>
              <a:t>Forged News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34951" y="1102633"/>
            <a:ext cx="939328" cy="30012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111111"/>
                </a:solidFill>
                <a:latin typeface="Liberation Sans"/>
              </a:rPr>
              <a:t>Four types of
entity replacing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069720" y="1422331"/>
            <a:ext cx="1056744" cy="221831"/>
          </a:xfrm>
          <a:prstGeom prst="roundRect">
            <a:avLst/>
          </a:prstGeom>
          <a:solidFill>
            <a:srgbClr val="DFF3DF"/>
          </a:solidFill>
          <a:ln w="12700">
            <a:solidFill>
              <a:srgbClr val="5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134951" y="1448429"/>
            <a:ext cx="926281" cy="16963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68" b="1" i="0">
                <a:solidFill>
                  <a:srgbClr val="111111"/>
                </a:solidFill>
                <a:latin typeface="Liberation Sans"/>
              </a:rPr>
              <a:t>Interpretability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34951" y="1696359"/>
            <a:ext cx="926281" cy="345796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111111"/>
                </a:solidFill>
                <a:latin typeface="Liberation Sans"/>
              </a:rPr>
              <a:t>•  Fake entity
•  Forged type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5231" y="2270511"/>
            <a:ext cx="12061232" cy="358845"/>
          </a:xfrm>
          <a:prstGeom prst="roundRect">
            <a:avLst/>
          </a:prstGeom>
          <a:solidFill>
            <a:srgbClr val="EAF0FE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231" y="2283560"/>
            <a:ext cx="12061232" cy="32622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111111"/>
                </a:solidFill>
                <a:latin typeface="Liberation Serif"/>
              </a:rPr>
              <a:t>Fact-R1 Pipeline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231" y="2707650"/>
            <a:ext cx="3652942" cy="435181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1754" y="2714174"/>
            <a:ext cx="3639896" cy="247929"/>
          </a:xfrm>
          <a:prstGeom prst="roundRect">
            <a:avLst/>
          </a:prstGeom>
          <a:solidFill>
            <a:srgbClr val="FFFDED"/>
          </a:solidFill>
          <a:ln w="1270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0462" y="2720699"/>
            <a:ext cx="3522480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11111"/>
                </a:solidFill>
                <a:latin typeface="Liberation Serif"/>
              </a:rPr>
              <a:t>Long-CoT Instruction Tuning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0031" y="3033873"/>
            <a:ext cx="3392017" cy="21530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Liberation Serif"/>
              </a:rPr>
              <a:t>(a) Misinformation Long-cot Generation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63077" y="3451438"/>
            <a:ext cx="945851" cy="437138"/>
          </a:xfrm>
          <a:prstGeom prst="roundRect">
            <a:avLst/>
          </a:prstGeom>
          <a:solidFill>
            <a:srgbClr val="D7E9FB"/>
          </a:solidFill>
          <a:ln w="12700">
            <a:solidFill>
              <a:srgbClr val="A6B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308" y="3477536"/>
            <a:ext cx="815388" cy="38494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News-domain
Video Caption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63077" y="3966870"/>
            <a:ext cx="945851" cy="260978"/>
          </a:xfrm>
          <a:prstGeom prst="roundRect">
            <a:avLst/>
          </a:prstGeom>
          <a:solidFill>
            <a:srgbClr val="D7E9FB"/>
          </a:solidFill>
          <a:ln w="12700">
            <a:solidFill>
              <a:srgbClr val="A6B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8308" y="3992968"/>
            <a:ext cx="815388" cy="20878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ans"/>
              </a:rPr>
              <a:t>News Audio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63077" y="4273520"/>
            <a:ext cx="945851" cy="274027"/>
          </a:xfrm>
          <a:prstGeom prst="roundRect">
            <a:avLst/>
          </a:prstGeom>
          <a:solidFill>
            <a:srgbClr val="D7E9FB"/>
          </a:solidFill>
          <a:ln w="12700">
            <a:solidFill>
              <a:srgbClr val="A6B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8308" y="4299618"/>
            <a:ext cx="815388" cy="22183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ans"/>
              </a:rPr>
              <a:t>News Title</a:t>
            </a:r>
          </a:p>
        </p:txBody>
      </p:sp>
      <p:sp>
        <p:nvSpPr>
          <p:cNvPr id="96" name="Oval 95"/>
          <p:cNvSpPr/>
          <p:nvPr/>
        </p:nvSpPr>
        <p:spPr>
          <a:xfrm>
            <a:off x="1193729" y="3327473"/>
            <a:ext cx="221785" cy="221831"/>
          </a:xfrm>
          <a:prstGeom prst="ellipse">
            <a:avLst/>
          </a:prstGeom>
          <a:solidFill>
            <a:srgbClr val="FFFDFD"/>
          </a:solidFill>
          <a:ln w="12700"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13298" y="3562354"/>
            <a:ext cx="182647" cy="7829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27" b="1" i="0">
                <a:solidFill>
                  <a:srgbClr val="6A6A6A"/>
                </a:solidFill>
                <a:latin typeface="Liberation Sans"/>
              </a:rPr>
              <a:t>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35084" y="3255704"/>
            <a:ext cx="587080" cy="33927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Designed
Prompt</a:t>
            </a:r>
          </a:p>
        </p:txBody>
      </p:sp>
      <p:sp>
        <p:nvSpPr>
          <p:cNvPr id="99" name="Down Arrow 98"/>
          <p:cNvSpPr/>
          <p:nvPr/>
        </p:nvSpPr>
        <p:spPr>
          <a:xfrm>
            <a:off x="1539454" y="3601501"/>
            <a:ext cx="163077" cy="182684"/>
          </a:xfrm>
          <a:prstGeom prst="downArrow">
            <a:avLst/>
          </a:prstGeom>
          <a:solidFill>
            <a:srgbClr val="808080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02468" y="3999493"/>
            <a:ext cx="600126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8" b="1" i="0">
                <a:solidFill>
                  <a:srgbClr val="536CF5"/>
                </a:solidFill>
                <a:latin typeface="Liberation Sans"/>
              </a:rPr>
              <a:t>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17668" y="4143031"/>
            <a:ext cx="808865" cy="130489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111111"/>
                </a:solidFill>
                <a:latin typeface="Liberation Sans"/>
              </a:rPr>
              <a:t>DeepSeek-R1</a:t>
            </a:r>
          </a:p>
        </p:txBody>
      </p:sp>
      <p:sp>
        <p:nvSpPr>
          <p:cNvPr id="102" name="Right Arrow 101"/>
          <p:cNvSpPr/>
          <p:nvPr/>
        </p:nvSpPr>
        <p:spPr>
          <a:xfrm>
            <a:off x="1121975" y="3718941"/>
            <a:ext cx="260924" cy="130489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ight Arrow 102"/>
          <p:cNvSpPr/>
          <p:nvPr/>
        </p:nvSpPr>
        <p:spPr>
          <a:xfrm>
            <a:off x="2120011" y="3718941"/>
            <a:ext cx="215262" cy="130489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198288" y="3686319"/>
            <a:ext cx="1395945" cy="535005"/>
          </a:xfrm>
          <a:prstGeom prst="roundRect">
            <a:avLst/>
          </a:prstGeom>
          <a:solidFill>
            <a:srgbClr val="C6DFF6"/>
          </a:solidFill>
          <a:ln w="12700">
            <a:solidFill>
              <a:srgbClr val="A4B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63519" y="3712416"/>
            <a:ext cx="1265483" cy="482809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&lt;think&gt;… &lt;think&gt;
&lt;answer&gt;… &lt;answer&gt;</a:t>
            </a:r>
          </a:p>
        </p:txBody>
      </p:sp>
      <p:sp>
        <p:nvSpPr>
          <p:cNvPr id="106" name="Oval 105"/>
          <p:cNvSpPr/>
          <p:nvPr/>
        </p:nvSpPr>
        <p:spPr>
          <a:xfrm>
            <a:off x="2380935" y="4273520"/>
            <a:ext cx="130462" cy="130489"/>
          </a:xfrm>
          <a:prstGeom prst="ellipse">
            <a:avLst/>
          </a:prstGeom>
          <a:solidFill>
            <a:srgbClr val="22B66C"/>
          </a:solidFill>
          <a:ln w="6350">
            <a:solidFill>
              <a:srgbClr val="22B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87458" y="4266995"/>
            <a:ext cx="117416" cy="130489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24" b="1" i="0">
                <a:solidFill>
                  <a:srgbClr val="FFFFFF"/>
                </a:solidFill>
                <a:latin typeface="Liberation Sans"/>
              </a:rP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63582" y="4266995"/>
            <a:ext cx="1174160" cy="143538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2B66C"/>
                </a:solidFill>
                <a:latin typeface="Liberation Sans"/>
              </a:rPr>
              <a:t>Label</a:t>
            </a:r>
          </a:p>
        </p:txBody>
      </p:sp>
      <p:sp>
        <p:nvSpPr>
          <p:cNvPr id="109" name="Oval 108"/>
          <p:cNvSpPr/>
          <p:nvPr/>
        </p:nvSpPr>
        <p:spPr>
          <a:xfrm>
            <a:off x="2380935" y="4462729"/>
            <a:ext cx="130462" cy="130489"/>
          </a:xfrm>
          <a:prstGeom prst="ellipse">
            <a:avLst/>
          </a:prstGeom>
          <a:solidFill>
            <a:srgbClr val="22B66C"/>
          </a:solidFill>
          <a:ln w="6350">
            <a:solidFill>
              <a:srgbClr val="22B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87458" y="4456205"/>
            <a:ext cx="117416" cy="130489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24" b="1" i="0">
                <a:solidFill>
                  <a:srgbClr val="FFFFFF"/>
                </a:solidFill>
                <a:latin typeface="Liberation Sans"/>
              </a:rPr>
              <a:t>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63582" y="4456205"/>
            <a:ext cx="1174160" cy="143538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2B66C"/>
                </a:solidFill>
                <a:latin typeface="Liberation Sans"/>
              </a:rPr>
              <a:t>Explainability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48067" y="4338764"/>
            <a:ext cx="926281" cy="27402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2A133"/>
                </a:solidFill>
                <a:latin typeface="Liberation Sans"/>
              </a:rPr>
              <a:t>❓ Judge Fake
or Real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3508" y="4795477"/>
            <a:ext cx="2609244" cy="20878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Liberation Serif"/>
              </a:rPr>
              <a:t>(b) Thinking SFT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52500" y="4958588"/>
            <a:ext cx="1969979" cy="19573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111111"/>
                </a:solidFill>
                <a:latin typeface="Liberation Serif"/>
              </a:rPr>
              <a:t>Generation: &lt;think&gt;\nThe video…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08739" y="5297860"/>
            <a:ext cx="3392017" cy="358845"/>
          </a:xfrm>
          <a:prstGeom prst="roundRect">
            <a:avLst/>
          </a:prstGeom>
          <a:solidFill>
            <a:srgbClr val="DCEBFA"/>
          </a:solidFill>
          <a:ln w="635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215262" y="5317433"/>
            <a:ext cx="632741" cy="306649"/>
          </a:xfrm>
          <a:prstGeom prst="roundRect">
            <a:avLst/>
          </a:prstGeom>
          <a:solidFill>
            <a:srgbClr val="FFD8C4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54401" y="5323958"/>
            <a:ext cx="554464" cy="27402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✦ LoRA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71943" y="5304384"/>
            <a:ext cx="2576629" cy="32622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111111"/>
                </a:solidFill>
                <a:latin typeface="Liberation Serif"/>
              </a:rPr>
              <a:t>Large Language Model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67447" y="5872012"/>
            <a:ext cx="1435084" cy="274027"/>
          </a:xfrm>
          <a:prstGeom prst="roundRect">
            <a:avLst/>
          </a:prstGeom>
          <a:solidFill>
            <a:srgbClr val="E4E4E4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58771" y="5865488"/>
            <a:ext cx="1252437" cy="260978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11111"/>
                </a:solidFill>
                <a:latin typeface="Liberation Serif"/>
              </a:rPr>
              <a:t>✦  Projector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950410" y="5872012"/>
            <a:ext cx="1369853" cy="274027"/>
          </a:xfrm>
          <a:prstGeom prst="roundRect">
            <a:avLst/>
          </a:prstGeom>
          <a:solidFill>
            <a:srgbClr val="DCEBFA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022164" y="5865488"/>
            <a:ext cx="1213298" cy="260978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5" b="1" i="0">
                <a:solidFill>
                  <a:srgbClr val="111111"/>
                </a:solidFill>
                <a:latin typeface="Liberation Serif"/>
              </a:rPr>
              <a:t>Embedding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67447" y="6185186"/>
            <a:ext cx="1435084" cy="274027"/>
          </a:xfrm>
          <a:prstGeom prst="roundRect">
            <a:avLst/>
          </a:prstGeom>
          <a:solidFill>
            <a:srgbClr val="E4E4E4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6155" y="6185186"/>
            <a:ext cx="1304622" cy="260978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erif"/>
              </a:rPr>
              <a:t>✣ Visual Encoder</a:t>
            </a:r>
          </a:p>
        </p:txBody>
      </p:sp>
      <p:sp>
        <p:nvSpPr>
          <p:cNvPr id="125" name="Up Arrow 124"/>
          <p:cNvSpPr/>
          <p:nvPr/>
        </p:nvSpPr>
        <p:spPr>
          <a:xfrm>
            <a:off x="952374" y="5682803"/>
            <a:ext cx="123939" cy="182684"/>
          </a:xfrm>
          <a:prstGeom prst="upArrow">
            <a:avLst/>
          </a:prstGeom>
          <a:solidFill>
            <a:srgbClr val="55A2E8"/>
          </a:solidFill>
          <a:ln w="6350">
            <a:solidFill>
              <a:srgbClr val="55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Up Arrow 125"/>
          <p:cNvSpPr/>
          <p:nvPr/>
        </p:nvSpPr>
        <p:spPr>
          <a:xfrm>
            <a:off x="2641860" y="5676278"/>
            <a:ext cx="123939" cy="189209"/>
          </a:xfrm>
          <a:prstGeom prst="upArrow">
            <a:avLst/>
          </a:prstGeom>
          <a:solidFill>
            <a:srgbClr val="55A2E8"/>
          </a:solidFill>
          <a:ln w="6350">
            <a:solidFill>
              <a:srgbClr val="55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Up Arrow 126"/>
          <p:cNvSpPr/>
          <p:nvPr/>
        </p:nvSpPr>
        <p:spPr>
          <a:xfrm>
            <a:off x="952374" y="6146039"/>
            <a:ext cx="123939" cy="176160"/>
          </a:xfrm>
          <a:prstGeom prst="upArrow">
            <a:avLst/>
          </a:prstGeom>
          <a:solidFill>
            <a:srgbClr val="55A2E8"/>
          </a:solidFill>
          <a:ln w="6350">
            <a:solidFill>
              <a:srgbClr val="55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video_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94" y="6544031"/>
            <a:ext cx="965420" cy="489334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787332" y="6341773"/>
            <a:ext cx="156554" cy="19573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◀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43887" y="6335249"/>
            <a:ext cx="1617731" cy="456712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72" b="0" i="1">
                <a:solidFill>
                  <a:srgbClr val="111111"/>
                </a:solidFill>
                <a:latin typeface="Liberation Serif"/>
              </a:rPr>
              <a:t>News title:  The news title is ‘British man captur-
ed while fighting with Russia.’, the news audio is ‘British foreign…’, is this
multimodal content manipulated?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246545" y="2707650"/>
            <a:ext cx="3659465" cy="435181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253068" y="2714174"/>
            <a:ext cx="3646419" cy="247929"/>
          </a:xfrm>
          <a:prstGeom prst="roundRect">
            <a:avLst/>
          </a:prstGeom>
          <a:solidFill>
            <a:srgbClr val="FFFDED"/>
          </a:solidFill>
          <a:ln w="1270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311776" y="2720699"/>
            <a:ext cx="3529003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11111"/>
                </a:solidFill>
                <a:latin typeface="Liberation Serif"/>
              </a:rPr>
              <a:t>Preference Alignment via DPO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22669" y="3033873"/>
            <a:ext cx="3392017" cy="21530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Liberation Serif"/>
              </a:rPr>
              <a:t>(a) Human Preference Data Generation</a:t>
            </a:r>
          </a:p>
        </p:txBody>
      </p:sp>
      <p:pic>
        <p:nvPicPr>
          <p:cNvPr id="135" name="Picture 134" descr="video_m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16" y="3229606"/>
            <a:ext cx="671880" cy="417565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4337869" y="3731990"/>
            <a:ext cx="156554" cy="19573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◀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13993" y="3718941"/>
            <a:ext cx="808865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News Title</a:t>
            </a:r>
          </a:p>
        </p:txBody>
      </p:sp>
      <p:sp>
        <p:nvSpPr>
          <p:cNvPr id="138" name="Right Arrow 137"/>
          <p:cNvSpPr/>
          <p:nvPr/>
        </p:nvSpPr>
        <p:spPr>
          <a:xfrm>
            <a:off x="5296766" y="3471011"/>
            <a:ext cx="254401" cy="143538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714245" y="3255704"/>
            <a:ext cx="469664" cy="469761"/>
          </a:xfrm>
          <a:prstGeom prst="ellipse">
            <a:avLst/>
          </a:prstGeom>
          <a:solidFill>
            <a:srgbClr val="F5D873"/>
          </a:solidFill>
          <a:ln w="12700">
            <a:solidFill>
              <a:srgbClr val="B2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5838184" y="3405767"/>
            <a:ext cx="221785" cy="17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635968" y="3731990"/>
            <a:ext cx="652311" cy="15658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Fact-R1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6288279" y="3471011"/>
            <a:ext cx="247878" cy="143538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614434" y="3288327"/>
            <a:ext cx="802342" cy="515432"/>
          </a:xfrm>
          <a:prstGeom prst="roundRect">
            <a:avLst/>
          </a:prstGeom>
          <a:solidFill>
            <a:srgbClr val="C6DFF6"/>
          </a:solidFill>
          <a:ln w="12700">
            <a:solidFill>
              <a:srgbClr val="A4B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679666" y="3314424"/>
            <a:ext cx="671880" cy="46323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Long-cot
Prediction</a:t>
            </a:r>
          </a:p>
        </p:txBody>
      </p:sp>
      <p:sp>
        <p:nvSpPr>
          <p:cNvPr id="145" name="Down Arrow 144"/>
          <p:cNvSpPr/>
          <p:nvPr/>
        </p:nvSpPr>
        <p:spPr>
          <a:xfrm>
            <a:off x="6875359" y="3842906"/>
            <a:ext cx="130462" cy="241404"/>
          </a:xfrm>
          <a:prstGeom prst="downArrow">
            <a:avLst/>
          </a:prstGeom>
          <a:solidFill>
            <a:srgbClr val="808080"/>
          </a:solidFill>
          <a:ln w="825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986252" y="4234373"/>
            <a:ext cx="130462" cy="130489"/>
          </a:xfrm>
          <a:prstGeom prst="ellipse">
            <a:avLst/>
          </a:prstGeom>
          <a:solidFill>
            <a:srgbClr val="2E3033"/>
          </a:solidFill>
          <a:ln w="12700">
            <a:solidFill>
              <a:srgbClr val="2E3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Arc 146"/>
          <p:cNvSpPr/>
          <p:nvPr/>
        </p:nvSpPr>
        <p:spPr>
          <a:xfrm>
            <a:off x="49326" y="31097"/>
            <a:ext cx="2047" cy="1303"/>
          </a:xfrm>
          <a:prstGeom prst="arc">
            <a:avLst/>
          </a:prstGeom>
          <a:solidFill>
            <a:srgbClr val="2E3033"/>
          </a:solidFill>
          <a:ln w="12700">
            <a:solidFill>
              <a:srgbClr val="2E3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542680" y="4560596"/>
            <a:ext cx="1011082" cy="19573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Human Correct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257627" y="3947297"/>
            <a:ext cx="241355" cy="254453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296766" y="3960346"/>
            <a:ext cx="169600" cy="21530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11111"/>
                </a:solidFill>
                <a:latin typeface="Liberation Sans"/>
              </a:rPr>
              <a:t>☷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81503" y="3992968"/>
            <a:ext cx="130462" cy="15006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FFFF"/>
                </a:solidFill>
                <a:latin typeface="Liberation Sans"/>
              </a:rPr>
              <a:t>×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577260" y="3934248"/>
            <a:ext cx="900189" cy="30012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Raw
Prediction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257627" y="4469254"/>
            <a:ext cx="241355" cy="254453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296766" y="4482302"/>
            <a:ext cx="169600" cy="21530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11111"/>
                </a:solidFill>
                <a:latin typeface="Liberation Sans"/>
              </a:rPr>
              <a:t>☷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81503" y="4521449"/>
            <a:ext cx="130462" cy="150062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FFFFFF"/>
                </a:solidFill>
                <a:latin typeface="Liberation Sans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577260" y="4456205"/>
            <a:ext cx="900189" cy="30012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Correct
Prediction</a:t>
            </a:r>
          </a:p>
        </p:txBody>
      </p:sp>
      <p:sp>
        <p:nvSpPr>
          <p:cNvPr id="157" name="Left Arrow 156"/>
          <p:cNvSpPr/>
          <p:nvPr/>
        </p:nvSpPr>
        <p:spPr>
          <a:xfrm>
            <a:off x="6503542" y="4488827"/>
            <a:ext cx="221785" cy="130489"/>
          </a:xfrm>
          <a:prstGeom prst="lef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422669" y="4815050"/>
            <a:ext cx="1956933" cy="22183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Liberation Serif"/>
              </a:rPr>
              <a:t>(b) DPO Training</a:t>
            </a:r>
          </a:p>
        </p:txBody>
      </p:sp>
      <p:sp>
        <p:nvSpPr>
          <p:cNvPr id="159" name="Oval 158"/>
          <p:cNvSpPr/>
          <p:nvPr/>
        </p:nvSpPr>
        <p:spPr>
          <a:xfrm>
            <a:off x="4422669" y="5500118"/>
            <a:ext cx="352248" cy="352320"/>
          </a:xfrm>
          <a:prstGeom prst="ellipse">
            <a:avLst/>
          </a:prstGeom>
          <a:solidFill>
            <a:srgbClr val="F5D873"/>
          </a:solidFill>
          <a:ln w="12700">
            <a:solidFill>
              <a:srgbClr val="B2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4515623" y="5612665"/>
            <a:ext cx="166339" cy="1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350915" y="6015550"/>
            <a:ext cx="769727" cy="176160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Fact-R1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5172827" y="5323958"/>
            <a:ext cx="0" cy="717690"/>
          </a:xfrm>
          <a:prstGeom prst="line">
            <a:avLst/>
          </a:prstGeom>
          <a:ln w="317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5296766" y="5180420"/>
            <a:ext cx="2348320" cy="606774"/>
          </a:xfrm>
          <a:prstGeom prst="roundRect">
            <a:avLst/>
          </a:prstGeom>
          <a:solidFill>
            <a:srgbClr val="EFF3F2"/>
          </a:solidFill>
          <a:ln w="6350">
            <a:solidFill>
              <a:srgbClr val="EF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335905" y="5154322"/>
            <a:ext cx="267447" cy="267502"/>
          </a:xfrm>
          <a:prstGeom prst="ellipse">
            <a:avLst/>
          </a:prstGeom>
          <a:solidFill>
            <a:srgbClr val="7D8EA8"/>
          </a:solidFill>
          <a:ln w="6350">
            <a:solidFill>
              <a:srgbClr val="7D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335905" y="5167371"/>
            <a:ext cx="267447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Liberation Serif"/>
              </a:rPr>
              <a:t>Y₀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505506" y="5193468"/>
            <a:ext cx="2048256" cy="469761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222222"/>
                </a:solidFill>
                <a:latin typeface="Liberation Serif"/>
              </a:rPr>
              <a:t>&lt;think&gt; The video shows Trump supporters
storming… The entity in question is Trump
the event is directly linked to his supporters,
&lt;/think&gt;&lt;answer&gt; Yes. &lt;/answer&gt;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2040" y="5389202"/>
            <a:ext cx="241355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1E12"/>
                </a:solidFill>
                <a:latin typeface="Liberation Serif"/>
              </a:rPr>
              <a:t>0.3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296766" y="5937257"/>
            <a:ext cx="2348320" cy="606774"/>
          </a:xfrm>
          <a:prstGeom prst="roundRect">
            <a:avLst/>
          </a:prstGeom>
          <a:solidFill>
            <a:srgbClr val="EFF3F2"/>
          </a:solidFill>
          <a:ln w="6350">
            <a:solidFill>
              <a:srgbClr val="EF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335905" y="5911159"/>
            <a:ext cx="267447" cy="267502"/>
          </a:xfrm>
          <a:prstGeom prst="ellipse">
            <a:avLst/>
          </a:prstGeom>
          <a:solidFill>
            <a:srgbClr val="7D8EA8"/>
          </a:solidFill>
          <a:ln w="6350">
            <a:solidFill>
              <a:srgbClr val="7D8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335905" y="5924208"/>
            <a:ext cx="267447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Liberation Serif"/>
              </a:rPr>
              <a:t>Y₁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505506" y="5950306"/>
            <a:ext cx="2048256" cy="469761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222222"/>
                </a:solidFill>
                <a:latin typeface="Liberation Serif"/>
              </a:rPr>
              <a:t>&lt;think&gt; The video depicts the well-
documented event of Trump supporters
storming the Capitol in Washington,
D.C., …&lt;/think&gt;&lt;answer&gt; Yes &lt;/answer&gt;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632040" y="6146039"/>
            <a:ext cx="241355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A8B24"/>
                </a:solidFill>
                <a:latin typeface="Liberation Serif"/>
              </a:rPr>
              <a:t>0.8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92396" y="6870254"/>
            <a:ext cx="1891702" cy="176160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25B5AB"/>
                </a:solidFill>
                <a:latin typeface="Liberation Serif"/>
              </a:rPr>
              <a:t>Maximum likelihood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8434383" y="2707650"/>
            <a:ext cx="3692081" cy="435181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8440906" y="2714174"/>
            <a:ext cx="3679034" cy="247929"/>
          </a:xfrm>
          <a:prstGeom prst="roundRect">
            <a:avLst/>
          </a:prstGeom>
          <a:solidFill>
            <a:srgbClr val="FFFDED"/>
          </a:solidFill>
          <a:ln w="12700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499614" y="2720699"/>
            <a:ext cx="3561618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1" i="0">
                <a:solidFill>
                  <a:srgbClr val="111111"/>
                </a:solidFill>
                <a:latin typeface="Liberation Serif"/>
              </a:rPr>
              <a:t>GRPO with Verifiable Reward Function</a:t>
            </a:r>
          </a:p>
        </p:txBody>
      </p:sp>
      <p:pic>
        <p:nvPicPr>
          <p:cNvPr id="177" name="Picture 176" descr="vide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507" y="3131740"/>
            <a:ext cx="945851" cy="508907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8617030" y="3829857"/>
            <a:ext cx="156554" cy="195733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◀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799677" y="3810283"/>
            <a:ext cx="684926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ans"/>
              </a:rPr>
              <a:t>News Title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093217" y="3608025"/>
            <a:ext cx="195693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111111"/>
                </a:solidFill>
                <a:latin typeface="Liberation Sans"/>
              </a:rPr>
              <a:t>+</a:t>
            </a:r>
          </a:p>
        </p:txBody>
      </p:sp>
      <p:sp>
        <p:nvSpPr>
          <p:cNvPr id="181" name="Right Arrow 180"/>
          <p:cNvSpPr/>
          <p:nvPr/>
        </p:nvSpPr>
        <p:spPr>
          <a:xfrm>
            <a:off x="9588973" y="3366620"/>
            <a:ext cx="300063" cy="156587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986883" y="3229606"/>
            <a:ext cx="469664" cy="469761"/>
          </a:xfrm>
          <a:prstGeom prst="ellipse">
            <a:avLst/>
          </a:prstGeom>
          <a:solidFill>
            <a:srgbClr val="F5D873"/>
          </a:solidFill>
          <a:ln w="12700">
            <a:solidFill>
              <a:srgbClr val="B28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10110822" y="3379669"/>
            <a:ext cx="221785" cy="17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895559" y="3731990"/>
            <a:ext cx="665357" cy="163111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1111"/>
                </a:solidFill>
                <a:latin typeface="Liberation Sans"/>
              </a:rPr>
              <a:t>Fact-R1</a:t>
            </a:r>
          </a:p>
        </p:txBody>
      </p:sp>
      <p:sp>
        <p:nvSpPr>
          <p:cNvPr id="185" name="Right Arrow 184"/>
          <p:cNvSpPr/>
          <p:nvPr/>
        </p:nvSpPr>
        <p:spPr>
          <a:xfrm>
            <a:off x="10587009" y="3366620"/>
            <a:ext cx="273970" cy="156587"/>
          </a:xfrm>
          <a:prstGeom prst="rightArrow">
            <a:avLst/>
          </a:prstGeom>
          <a:solidFill>
            <a:srgbClr val="808080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11030581" y="3125215"/>
            <a:ext cx="958897" cy="274027"/>
          </a:xfrm>
          <a:prstGeom prst="roundRect">
            <a:avLst/>
          </a:prstGeom>
          <a:solidFill>
            <a:srgbClr val="8091AB"/>
          </a:solidFill>
          <a:ln w="12700">
            <a:solidFill>
              <a:srgbClr val="5F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1056673" y="3138264"/>
            <a:ext cx="906712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Liberation Serif"/>
              </a:rPr>
              <a:t>Response Y₁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1030581" y="3431865"/>
            <a:ext cx="958897" cy="274027"/>
          </a:xfrm>
          <a:prstGeom prst="roundRect">
            <a:avLst/>
          </a:prstGeom>
          <a:solidFill>
            <a:srgbClr val="8091AB"/>
          </a:solidFill>
          <a:ln w="12700">
            <a:solidFill>
              <a:srgbClr val="5F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1056673" y="3444914"/>
            <a:ext cx="906712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Liberation Serif"/>
              </a:rPr>
              <a:t>Response Y₂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1030581" y="3738514"/>
            <a:ext cx="958897" cy="274027"/>
          </a:xfrm>
          <a:prstGeom prst="roundRect">
            <a:avLst/>
          </a:prstGeom>
          <a:solidFill>
            <a:srgbClr val="8091AB"/>
          </a:solidFill>
          <a:ln w="12700">
            <a:solidFill>
              <a:srgbClr val="5F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1056673" y="3751563"/>
            <a:ext cx="906712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Liberation Serif"/>
              </a:rPr>
              <a:t>…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1030581" y="4045164"/>
            <a:ext cx="958897" cy="274027"/>
          </a:xfrm>
          <a:prstGeom prst="roundRect">
            <a:avLst/>
          </a:prstGeom>
          <a:solidFill>
            <a:srgbClr val="8091AB"/>
          </a:solidFill>
          <a:ln w="12700">
            <a:solidFill>
              <a:srgbClr val="5F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1056673" y="4058213"/>
            <a:ext cx="906712" cy="24140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Liberation Serif"/>
              </a:rPr>
              <a:t>Response Yₙ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78080" y="4188702"/>
            <a:ext cx="1206775" cy="35884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5" b="1" i="1">
                <a:solidFill>
                  <a:srgbClr val="111111"/>
                </a:solidFill>
                <a:latin typeface="Liberation Serif"/>
              </a:rPr>
              <a:t>Policy
Optimization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493091" y="4736756"/>
            <a:ext cx="3574665" cy="22509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A7A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532229" y="4782428"/>
            <a:ext cx="3496387" cy="234880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Liberation Serif"/>
              </a:rPr>
              <a:t>Normalized Verifiable Reward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564845" y="5017308"/>
            <a:ext cx="3398541" cy="574152"/>
          </a:xfrm>
          <a:prstGeom prst="roundRect">
            <a:avLst/>
          </a:prstGeom>
          <a:solidFill>
            <a:srgbClr val="DCEBFA"/>
          </a:solidFill>
          <a:ln w="635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610507" y="5049930"/>
            <a:ext cx="782773" cy="156587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111111"/>
                </a:solidFill>
                <a:latin typeface="Liberation Serif"/>
              </a:rPr>
              <a:t>Overall Reward: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845339" y="5219566"/>
            <a:ext cx="2968015" cy="306649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68" b="0" i="0">
                <a:solidFill>
                  <a:srgbClr val="111111"/>
                </a:solidFill>
                <a:latin typeface="Liberation Serif"/>
              </a:rPr>
              <a:t>R = { 0.8·R_acc + 0.1·R_format + 0.1·R_word,          if y_label = real
      0.7·R_acc + 0.1·R_format + 0.1·R_word + 0.1·R_entity,  if y_label = fake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597460" y="5650181"/>
            <a:ext cx="228308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2A133"/>
                </a:solidFill>
                <a:latin typeface="Liberation Sans"/>
              </a:rPr>
              <a:t>◆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10570" y="5637132"/>
            <a:ext cx="1402468" cy="293600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erif"/>
              </a:rPr>
              <a:t>Accuracy Reward R_acc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97460" y="6093844"/>
            <a:ext cx="228308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2A133"/>
                </a:solidFill>
                <a:latin typeface="Liberation Sans"/>
              </a:rPr>
              <a:t>◆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910570" y="6080795"/>
            <a:ext cx="1402468" cy="293600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erif"/>
              </a:rPr>
              <a:t>Format Reward R_format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97460" y="6524458"/>
            <a:ext cx="228308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2A133"/>
                </a:solidFill>
                <a:latin typeface="Liberation Sans"/>
              </a:rPr>
              <a:t>◆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910570" y="6511409"/>
            <a:ext cx="1402468" cy="293600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erif"/>
              </a:rPr>
              <a:t>Reasoning Keywords
Reward R_word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352177" y="5650181"/>
            <a:ext cx="228308" cy="182684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F2A133"/>
                </a:solidFill>
                <a:latin typeface="Liberation Sans"/>
              </a:rPr>
              <a:t>◆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665287" y="5637132"/>
            <a:ext cx="1402468" cy="293600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1" b="1" i="0">
                <a:solidFill>
                  <a:srgbClr val="111111"/>
                </a:solidFill>
                <a:latin typeface="Liberation Serif"/>
              </a:rPr>
              <a:t>Entity Grounding
Reward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0332608" y="5989452"/>
            <a:ext cx="756680" cy="267502"/>
          </a:xfrm>
          <a:prstGeom prst="roundRect">
            <a:avLst/>
          </a:prstGeom>
          <a:solidFill>
            <a:srgbClr val="8091AB"/>
          </a:solidFill>
          <a:ln w="12700">
            <a:solidFill>
              <a:srgbClr val="5F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358700" y="6009026"/>
            <a:ext cx="704496" cy="228356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FFFF"/>
                </a:solidFill>
                <a:latin typeface="Liberation Serif"/>
              </a:rPr>
              <a:t>Response Yₙ</a:t>
            </a:r>
          </a:p>
        </p:txBody>
      </p:sp>
      <p:sp>
        <p:nvSpPr>
          <p:cNvPr id="210" name="Right Arrow 209"/>
          <p:cNvSpPr/>
          <p:nvPr/>
        </p:nvSpPr>
        <p:spPr>
          <a:xfrm>
            <a:off x="11095812" y="6054697"/>
            <a:ext cx="326155" cy="130489"/>
          </a:xfrm>
          <a:prstGeom prst="rightArrow">
            <a:avLst/>
          </a:prstGeom>
          <a:solidFill>
            <a:srgbClr val="808080"/>
          </a:solidFill>
          <a:ln w="762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1363260" y="6263480"/>
            <a:ext cx="502279" cy="169635"/>
          </a:xfrm>
          <a:prstGeom prst="rect">
            <a:avLst/>
          </a:prstGeom>
          <a:noFill/>
        </p:spPr>
        <p:txBody>
          <a:bodyPr wrap="square" lIns="22860" rIns="22860" tIns="9144" bIns="9144" anchor="ctr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1">
                <a:solidFill>
                  <a:srgbClr val="111111"/>
                </a:solidFill>
                <a:latin typeface="Liberation Serif"/>
              </a:rPr>
              <a:t>Judge model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167566" y="6452689"/>
            <a:ext cx="821912" cy="313174"/>
          </a:xfrm>
          <a:prstGeom prst="rect">
            <a:avLst/>
          </a:prstGeom>
          <a:noFill/>
        </p:spPr>
        <p:txBody>
          <a:bodyPr wrap="square" lIns="22860" rIns="22860" tIns="9144" bIns="9144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111111"/>
                </a:solidFill>
                <a:latin typeface="Liberation Serif"/>
              </a:rPr>
              <a:t>R_entity = { 1, if Judge = True
                   0, otherwise</a:t>
            </a:r>
          </a:p>
        </p:txBody>
      </p:sp>
      <p:sp>
        <p:nvSpPr>
          <p:cNvPr id="213" name="Right Arrow 212"/>
          <p:cNvSpPr/>
          <p:nvPr/>
        </p:nvSpPr>
        <p:spPr>
          <a:xfrm>
            <a:off x="3783404" y="4828099"/>
            <a:ext cx="384863" cy="306649"/>
          </a:xfrm>
          <a:prstGeom prst="rightArrow">
            <a:avLst/>
          </a:prstGeom>
          <a:solidFill>
            <a:srgbClr val="8B8B8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ight Arrow 213"/>
          <p:cNvSpPr/>
          <p:nvPr/>
        </p:nvSpPr>
        <p:spPr>
          <a:xfrm>
            <a:off x="7958195" y="4828099"/>
            <a:ext cx="384863" cy="306649"/>
          </a:xfrm>
          <a:prstGeom prst="rightArrow">
            <a:avLst/>
          </a:prstGeom>
          <a:solidFill>
            <a:srgbClr val="8B8B8B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act-R1 Towards Explainable Video Misinformation Detection with Deep Reaso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"/>
            <a:ext cx="12191695" cy="70906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