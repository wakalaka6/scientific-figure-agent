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599815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981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Arrow 2"/>
          <p:cNvSpPr/>
          <p:nvPr/>
        </p:nvSpPr>
        <p:spPr>
          <a:xfrm>
            <a:off x="3165151" y="1836569"/>
            <a:ext cx="599164" cy="65126"/>
          </a:xfrm>
          <a:prstGeom prst="rightArrow">
            <a:avLst/>
          </a:prstGeom>
          <a:solidFill>
            <a:srgbClr val="857897"/>
          </a:solidFill>
          <a:ln w="6350">
            <a:solidFill>
              <a:srgbClr val="85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71664" y="1595601"/>
            <a:ext cx="586139" cy="2279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025" b="1" i="0">
                <a:solidFill>
                  <a:srgbClr val="121212"/>
                </a:solidFill>
                <a:latin typeface="Arial"/>
              </a:rPr>
              <a:t>Query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386582" y="1869132"/>
            <a:ext cx="0" cy="3393095"/>
          </a:xfrm>
          <a:prstGeom prst="line">
            <a:avLst/>
          </a:prstGeom>
          <a:ln w="76200">
            <a:solidFill>
              <a:srgbClr val="8578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3178176" y="5262227"/>
            <a:ext cx="208406" cy="0"/>
          </a:xfrm>
          <a:prstGeom prst="line">
            <a:avLst/>
          </a:prstGeom>
          <a:ln w="76200">
            <a:solidFill>
              <a:srgbClr val="8578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ight Arrow 6"/>
          <p:cNvSpPr/>
          <p:nvPr/>
        </p:nvSpPr>
        <p:spPr>
          <a:xfrm>
            <a:off x="3165151" y="2230585"/>
            <a:ext cx="599164" cy="58613"/>
          </a:xfrm>
          <a:prstGeom prst="rightArrow">
            <a:avLst/>
          </a:prstGeom>
          <a:solidFill>
            <a:srgbClr val="F18835"/>
          </a:solidFill>
          <a:ln w="6350">
            <a:solidFill>
              <a:srgbClr val="F18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3471246" y="2259892"/>
            <a:ext cx="0" cy="3393094"/>
          </a:xfrm>
          <a:prstGeom prst="line">
            <a:avLst/>
          </a:prstGeom>
          <a:ln w="63500">
            <a:solidFill>
              <a:srgbClr val="F188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3171664" y="5652986"/>
            <a:ext cx="299582" cy="0"/>
          </a:xfrm>
          <a:prstGeom prst="line">
            <a:avLst/>
          </a:prstGeom>
          <a:ln w="63500">
            <a:solidFill>
              <a:srgbClr val="F188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624601" y="3288892"/>
            <a:ext cx="1139715" cy="214917"/>
          </a:xfrm>
          <a:prstGeom prst="line">
            <a:avLst/>
          </a:prstGeom>
          <a:ln w="101600">
            <a:solidFill>
              <a:srgbClr val="5E89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11575" y="3262841"/>
            <a:ext cx="0" cy="247481"/>
          </a:xfrm>
          <a:prstGeom prst="line">
            <a:avLst/>
          </a:prstGeom>
          <a:ln w="63500">
            <a:solidFill>
              <a:srgbClr val="5E89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2101" y="3510322"/>
            <a:ext cx="3451708" cy="2084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100" b="1" i="0">
                <a:solidFill>
                  <a:srgbClr val="121212"/>
                </a:solidFill>
                <a:latin typeface="Arial"/>
              </a:rPr>
              <a:t>Anchor Prediction of Response KV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58638" y="5669268"/>
            <a:ext cx="605677" cy="58613"/>
          </a:xfrm>
          <a:prstGeom prst="rightArrow">
            <a:avLst/>
          </a:prstGeom>
          <a:solidFill>
            <a:srgbClr val="F18835"/>
          </a:solidFill>
          <a:ln w="6350">
            <a:solidFill>
              <a:srgbClr val="F18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4689" y="5757189"/>
            <a:ext cx="521012" cy="195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21212"/>
                </a:solidFill>
                <a:latin typeface="Arial"/>
              </a:rPr>
              <a:t>Reuse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7227" y="91177"/>
            <a:ext cx="3047923" cy="3197714"/>
          </a:xfrm>
          <a:prstGeom prst="roundRect">
            <a:avLst/>
          </a:prstGeom>
          <a:solidFill>
            <a:srgbClr val="DDEAF7"/>
          </a:solidFill>
          <a:ln w="19050">
            <a:solidFill>
              <a:srgbClr val="2F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23740" y="97689"/>
            <a:ext cx="3034898" cy="416810"/>
          </a:xfrm>
          <a:prstGeom prst="roundRect">
            <a:avLst/>
          </a:prstGeom>
          <a:solidFill>
            <a:srgbClr val="A9C9E5"/>
          </a:solidFill>
          <a:ln w="19050">
            <a:solidFill>
              <a:srgbClr val="2F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3740" y="312607"/>
            <a:ext cx="3034898" cy="201892"/>
          </a:xfrm>
          <a:prstGeom prst="rect">
            <a:avLst/>
          </a:prstGeom>
          <a:solidFill>
            <a:srgbClr val="A9C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0253" y="110715"/>
            <a:ext cx="3021873" cy="3581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50" b="1" i="0">
                <a:solidFill>
                  <a:srgbClr val="1F3963"/>
                </a:solidFill>
                <a:latin typeface="Arial"/>
              </a:rPr>
              <a:t>Agent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3531" y="534037"/>
            <a:ext cx="1172278" cy="2214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950" b="1" i="0">
                <a:solidFill>
                  <a:srgbClr val="1F3963"/>
                </a:solidFill>
                <a:latin typeface="Arial"/>
              </a:rPr>
              <a:t>Prefix KV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4455" y="775006"/>
            <a:ext cx="514499" cy="227943"/>
          </a:xfrm>
          <a:prstGeom prst="rect">
            <a:avLst/>
          </a:prstGeom>
          <a:solidFill>
            <a:srgbClr val="8FAED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0968" y="781518"/>
            <a:ext cx="501474" cy="21491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25" b="1" i="0">
                <a:solidFill>
                  <a:srgbClr val="1F3963"/>
                </a:solidFill>
                <a:latin typeface="Arial"/>
              </a:rPr>
              <a:t>p(1,0)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1056" y="775006"/>
            <a:ext cx="514499" cy="227943"/>
          </a:xfrm>
          <a:prstGeom prst="rect">
            <a:avLst/>
          </a:prstGeom>
          <a:solidFill>
            <a:srgbClr val="8FAED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7569" y="781518"/>
            <a:ext cx="501474" cy="21491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25" b="1" i="0">
                <a:solidFill>
                  <a:srgbClr val="1F3963"/>
                </a:solidFill>
                <a:latin typeface="Arial"/>
              </a:rPr>
              <a:t>p(1,1)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67658" y="775006"/>
            <a:ext cx="514499" cy="227943"/>
          </a:xfrm>
          <a:prstGeom prst="rect">
            <a:avLst/>
          </a:prstGeom>
          <a:solidFill>
            <a:srgbClr val="8FAED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4170" y="781518"/>
            <a:ext cx="501474" cy="21491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25" b="1" i="0">
                <a:solidFill>
                  <a:srgbClr val="1F3963"/>
                </a:solidFill>
                <a:latin typeface="Arial"/>
              </a:rPr>
              <a:t>p(1,2)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4259" y="775006"/>
            <a:ext cx="514499" cy="227943"/>
          </a:xfrm>
          <a:prstGeom prst="rect">
            <a:avLst/>
          </a:prstGeom>
          <a:solidFill>
            <a:srgbClr val="8FAED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40771" y="781518"/>
            <a:ext cx="501474" cy="21491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25" b="1" i="0">
                <a:solidFill>
                  <a:srgbClr val="1F3963"/>
                </a:solidFill>
                <a:latin typeface="Arial"/>
              </a:rPr>
              <a:t>p(1,3)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3531" y="996436"/>
            <a:ext cx="1563037" cy="2214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950" b="1" i="0">
                <a:solidFill>
                  <a:srgbClr val="1F3963"/>
                </a:solidFill>
                <a:latin typeface="Arial"/>
              </a:rPr>
              <a:t>Placeholder KV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4455" y="1237404"/>
            <a:ext cx="514499" cy="221430"/>
          </a:xfrm>
          <a:prstGeom prst="rect">
            <a:avLst/>
          </a:prstGeom>
          <a:solidFill>
            <a:srgbClr val="FFE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0968" y="1243917"/>
            <a:ext cx="501474" cy="2084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25" b="1" i="1">
                <a:solidFill>
                  <a:srgbClr val="121212"/>
                </a:solidFill>
                <a:latin typeface="Times New Roman"/>
              </a:rPr>
              <a:t>ϕ(1,1)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493" y="1237404"/>
            <a:ext cx="514499" cy="221430"/>
          </a:xfrm>
          <a:prstGeom prst="rect">
            <a:avLst/>
          </a:prstGeom>
          <a:solidFill>
            <a:srgbClr val="DCEFD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5006" y="1243917"/>
            <a:ext cx="501474" cy="2084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25" b="1" i="1">
                <a:solidFill>
                  <a:srgbClr val="121212"/>
                </a:solidFill>
                <a:latin typeface="Times New Roman"/>
              </a:rPr>
              <a:t>ϕ(1,2)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02531" y="1237404"/>
            <a:ext cx="514499" cy="221430"/>
          </a:xfrm>
          <a:prstGeom prst="rect">
            <a:avLst/>
          </a:prstGeom>
          <a:solidFill>
            <a:srgbClr val="FFE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09044" y="1243917"/>
            <a:ext cx="501474" cy="2084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25" b="1" i="1">
                <a:solidFill>
                  <a:srgbClr val="121212"/>
                </a:solidFill>
                <a:latin typeface="Times New Roman"/>
              </a:rPr>
              <a:t>ϕ(1,3)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3740" y="1452322"/>
            <a:ext cx="3034898" cy="299582"/>
          </a:xfrm>
          <a:prstGeom prst="rect">
            <a:avLst/>
          </a:prstGeom>
          <a:solidFill>
            <a:srgbClr val="D9D3E0"/>
          </a:solidFill>
          <a:ln w="12700">
            <a:solidFill>
              <a:srgbClr val="2F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0506" y="1465347"/>
            <a:ext cx="2279430" cy="2735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00" b="1" i="0">
                <a:solidFill>
                  <a:srgbClr val="121212"/>
                </a:solidFill>
                <a:latin typeface="Arial"/>
              </a:rPr>
              <a:t>All placeholders</a:t>
            </a:r>
          </a:p>
        </p:txBody>
      </p:sp>
      <p:sp>
        <p:nvSpPr>
          <p:cNvPr id="37" name="Oval 36"/>
          <p:cNvSpPr/>
          <p:nvPr/>
        </p:nvSpPr>
        <p:spPr>
          <a:xfrm>
            <a:off x="2214303" y="1484885"/>
            <a:ext cx="221430" cy="221430"/>
          </a:xfrm>
          <a:prstGeom prst="ellipse">
            <a:avLst/>
          </a:prstGeom>
          <a:solidFill>
            <a:srgbClr val="5E893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2267446" y="1595601"/>
            <a:ext cx="44286" cy="4650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311732" y="1545779"/>
            <a:ext cx="77501" cy="96322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409683" y="1465347"/>
            <a:ext cx="162816" cy="2735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75" b="1" i="0">
                <a:solidFill>
                  <a:srgbClr val="121212"/>
                </a:solidFill>
                <a:latin typeface="Arial"/>
              </a:rPr>
              <a:t>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3740" y="1751904"/>
            <a:ext cx="1139715" cy="1530474"/>
          </a:xfrm>
          <a:prstGeom prst="rect">
            <a:avLst/>
          </a:prstGeom>
          <a:solidFill>
            <a:srgbClr val="DDEAF7"/>
          </a:solidFill>
          <a:ln w="12700">
            <a:solidFill>
              <a:srgbClr val="2F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263455" y="1751904"/>
            <a:ext cx="1895183" cy="1530474"/>
          </a:xfrm>
          <a:prstGeom prst="rect">
            <a:avLst/>
          </a:prstGeom>
          <a:solidFill>
            <a:srgbClr val="F9E5D0"/>
          </a:solidFill>
          <a:ln w="12700">
            <a:solidFill>
              <a:srgbClr val="2F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130253" y="2735316"/>
            <a:ext cx="1126689" cy="0"/>
          </a:xfrm>
          <a:prstGeom prst="line">
            <a:avLst/>
          </a:prstGeom>
          <a:ln w="19050">
            <a:solidFill>
              <a:srgbClr val="2F6EA5"/>
            </a:solidFill>
            <a:prstDash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269968" y="2735316"/>
            <a:ext cx="1882158" cy="0"/>
          </a:xfrm>
          <a:prstGeom prst="line">
            <a:avLst/>
          </a:prstGeom>
          <a:ln w="19050">
            <a:solidFill>
              <a:srgbClr val="F18835"/>
            </a:solidFill>
            <a:prstDash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30253" y="1777955"/>
            <a:ext cx="1133202" cy="2084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75" b="1" i="0">
                <a:solidFill>
                  <a:srgbClr val="121212"/>
                </a:solidFill>
                <a:latin typeface="Arial"/>
              </a:rPr>
              <a:t>No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69968" y="1777955"/>
            <a:ext cx="1882158" cy="2084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75" b="1" i="0">
                <a:solidFill>
                  <a:srgbClr val="121212"/>
                </a:solidFill>
                <a:latin typeface="Arial"/>
              </a:rPr>
              <a:t>Yes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0253" y="2044974"/>
            <a:ext cx="1133202" cy="3777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3963"/>
                </a:solidFill>
                <a:latin typeface="Arial"/>
              </a:rPr>
              <a:t>Dense
Prefilling</a:t>
            </a:r>
          </a:p>
        </p:txBody>
      </p:sp>
      <p:sp>
        <p:nvSpPr>
          <p:cNvPr id="48" name="Oval 47"/>
          <p:cNvSpPr/>
          <p:nvPr/>
        </p:nvSpPr>
        <p:spPr>
          <a:xfrm>
            <a:off x="579626" y="2487835"/>
            <a:ext cx="221430" cy="221430"/>
          </a:xfrm>
          <a:prstGeom prst="ellipse">
            <a:avLst/>
          </a:prstGeom>
          <a:solidFill>
            <a:srgbClr val="F1883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9626" y="2481322"/>
            <a:ext cx="221430" cy="2344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0253" y="2813468"/>
            <a:ext cx="1133202" cy="2214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75" b="1" i="0">
                <a:solidFill>
                  <a:srgbClr val="1F3963"/>
                </a:solidFill>
                <a:latin typeface="Arial"/>
              </a:rPr>
              <a:t>Decoding</a:t>
            </a:r>
          </a:p>
        </p:txBody>
      </p:sp>
      <p:sp>
        <p:nvSpPr>
          <p:cNvPr id="51" name="Oval 50"/>
          <p:cNvSpPr/>
          <p:nvPr/>
        </p:nvSpPr>
        <p:spPr>
          <a:xfrm>
            <a:off x="579626" y="3015360"/>
            <a:ext cx="221430" cy="221430"/>
          </a:xfrm>
          <a:prstGeom prst="ellipse">
            <a:avLst/>
          </a:prstGeom>
          <a:solidFill>
            <a:srgbClr val="F1883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9626" y="3008847"/>
            <a:ext cx="221430" cy="2344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93708" y="2012411"/>
            <a:ext cx="1172278" cy="195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1F3963"/>
                </a:solidFill>
                <a:latin typeface="Arial"/>
              </a:rPr>
              <a:t>Cache Update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04423" y="2214303"/>
            <a:ext cx="162816" cy="1823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F3963"/>
                </a:solidFill>
                <a:latin typeface="Arial"/>
              </a:rPr>
              <a:t>PH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660727" y="2194765"/>
            <a:ext cx="410297" cy="195379"/>
          </a:xfrm>
          <a:prstGeom prst="rect">
            <a:avLst/>
          </a:prstGeom>
          <a:solidFill>
            <a:srgbClr val="FFE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667240" y="2201278"/>
            <a:ext cx="397272" cy="1823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25" b="1" i="1">
                <a:solidFill>
                  <a:srgbClr val="121212"/>
                </a:solidFill>
                <a:latin typeface="Times New Roman"/>
              </a:rPr>
              <a:t>ϕ(1,1)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23126" y="2194765"/>
            <a:ext cx="410297" cy="195379"/>
          </a:xfrm>
          <a:prstGeom prst="rect">
            <a:avLst/>
          </a:prstGeom>
          <a:solidFill>
            <a:srgbClr val="DCEFD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29639" y="2201278"/>
            <a:ext cx="397272" cy="1823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25" b="1" i="1">
                <a:solidFill>
                  <a:srgbClr val="121212"/>
                </a:solidFill>
                <a:latin typeface="Times New Roman"/>
              </a:rPr>
              <a:t>ϕ(1,2)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85525" y="2194765"/>
            <a:ext cx="410297" cy="195379"/>
          </a:xfrm>
          <a:prstGeom prst="rect">
            <a:avLst/>
          </a:prstGeom>
          <a:solidFill>
            <a:srgbClr val="FFE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92037" y="2201278"/>
            <a:ext cx="397272" cy="1823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25" b="1" i="1">
                <a:solidFill>
                  <a:srgbClr val="121212"/>
                </a:solidFill>
                <a:latin typeface="Times New Roman"/>
              </a:rPr>
              <a:t>ϕ(1,3)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04423" y="2461784"/>
            <a:ext cx="162816" cy="1823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F3963"/>
                </a:solidFill>
                <a:latin typeface="Arial"/>
              </a:rPr>
              <a:t>PF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60727" y="2448759"/>
            <a:ext cx="410297" cy="195379"/>
          </a:xfrm>
          <a:prstGeom prst="rect">
            <a:avLst/>
          </a:prstGeom>
          <a:solidFill>
            <a:srgbClr val="8FAED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67240" y="2455271"/>
            <a:ext cx="397272" cy="1823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25" b="1" i="0">
                <a:solidFill>
                  <a:srgbClr val="1F3963"/>
                </a:solidFill>
                <a:latin typeface="Arial"/>
              </a:rPr>
              <a:t>p(1,1)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23126" y="2448759"/>
            <a:ext cx="410297" cy="195379"/>
          </a:xfrm>
          <a:prstGeom prst="rect">
            <a:avLst/>
          </a:prstGeom>
          <a:solidFill>
            <a:srgbClr val="8FAED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129639" y="2455271"/>
            <a:ext cx="397272" cy="1823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25" b="1" i="0">
                <a:solidFill>
                  <a:srgbClr val="1F3963"/>
                </a:solidFill>
                <a:latin typeface="Arial"/>
              </a:rPr>
              <a:t>p(1,2)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85525" y="2448759"/>
            <a:ext cx="410297" cy="195379"/>
          </a:xfrm>
          <a:prstGeom prst="rect">
            <a:avLst/>
          </a:prstGeom>
          <a:solidFill>
            <a:srgbClr val="8FAED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92037" y="2455271"/>
            <a:ext cx="397272" cy="1823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25" b="1" i="0">
                <a:solidFill>
                  <a:srgbClr val="1F3963"/>
                </a:solidFill>
                <a:latin typeface="Arial"/>
              </a:rPr>
              <a:t>p(1,3)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93708" y="2813468"/>
            <a:ext cx="1367658" cy="195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75" b="1" i="0">
                <a:solidFill>
                  <a:srgbClr val="1F3963"/>
                </a:solidFill>
                <a:latin typeface="Arial"/>
              </a:rPr>
              <a:t>Response Cache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93708" y="3015360"/>
            <a:ext cx="651265" cy="1823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F3963"/>
                </a:solidFill>
                <a:latin typeface="Arial"/>
              </a:rPr>
              <a:t>[PH, PF]</a:t>
            </a:r>
          </a:p>
        </p:txBody>
      </p:sp>
      <p:sp>
        <p:nvSpPr>
          <p:cNvPr id="70" name="Right Arrow 69"/>
          <p:cNvSpPr/>
          <p:nvPr/>
        </p:nvSpPr>
        <p:spPr>
          <a:xfrm>
            <a:off x="1947284" y="3096768"/>
            <a:ext cx="280044" cy="32563"/>
          </a:xfrm>
          <a:prstGeom prst="rightArrow">
            <a:avLst/>
          </a:prstGeom>
          <a:solidFill>
            <a:srgbClr val="5E8939"/>
          </a:solidFill>
          <a:ln w="6350">
            <a:solidFill>
              <a:srgbClr val="5E8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2207790" y="3041411"/>
            <a:ext cx="807569" cy="169329"/>
          </a:xfrm>
          <a:prstGeom prst="roundRect">
            <a:avLst/>
          </a:prstGeom>
          <a:solidFill>
            <a:srgbClr val="A9D28C"/>
          </a:solidFill>
          <a:ln w="12700">
            <a:solidFill>
              <a:srgbClr val="5E8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214303" y="3060949"/>
            <a:ext cx="794544" cy="1432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0" i="0">
                <a:solidFill>
                  <a:srgbClr val="121212"/>
                </a:solidFill>
                <a:latin typeface="Arial"/>
              </a:rPr>
              <a:t>Response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17227" y="3764316"/>
            <a:ext cx="3047923" cy="2110101"/>
          </a:xfrm>
          <a:prstGeom prst="roundRect">
            <a:avLst/>
          </a:prstGeom>
          <a:solidFill>
            <a:srgbClr val="DDEAF7"/>
          </a:solidFill>
          <a:ln w="19050">
            <a:solidFill>
              <a:srgbClr val="2F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23740" y="3770828"/>
            <a:ext cx="3034898" cy="416810"/>
          </a:xfrm>
          <a:prstGeom prst="roundRect">
            <a:avLst/>
          </a:prstGeom>
          <a:solidFill>
            <a:srgbClr val="A9C9E5"/>
          </a:solidFill>
          <a:ln w="19050">
            <a:solidFill>
              <a:srgbClr val="2F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23740" y="3985746"/>
            <a:ext cx="3034898" cy="201892"/>
          </a:xfrm>
          <a:prstGeom prst="rect">
            <a:avLst/>
          </a:prstGeom>
          <a:solidFill>
            <a:srgbClr val="A9C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0253" y="3855493"/>
            <a:ext cx="3021873" cy="2930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50" b="1" i="0">
                <a:solidFill>
                  <a:srgbClr val="1F3963"/>
                </a:solidFill>
                <a:latin typeface="Arial"/>
              </a:rPr>
              <a:t>Agent 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3531" y="4220202"/>
            <a:ext cx="1172278" cy="2214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75" b="1" i="0">
                <a:solidFill>
                  <a:srgbClr val="1F3963"/>
                </a:solidFill>
                <a:latin typeface="Arial"/>
              </a:rPr>
              <a:t>Prefix KV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34455" y="4441632"/>
            <a:ext cx="475424" cy="221430"/>
          </a:xfrm>
          <a:prstGeom prst="rect">
            <a:avLst/>
          </a:prstGeom>
          <a:solidFill>
            <a:srgbClr val="8FAED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40968" y="4448145"/>
            <a:ext cx="462398" cy="2084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1F3963"/>
                </a:solidFill>
                <a:latin typeface="Arial"/>
              </a:rPr>
              <a:t>p(2,0)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8493" y="4441632"/>
            <a:ext cx="475424" cy="221430"/>
          </a:xfrm>
          <a:prstGeom prst="rect">
            <a:avLst/>
          </a:prstGeom>
          <a:solidFill>
            <a:srgbClr val="8FAED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75006" y="4448145"/>
            <a:ext cx="462398" cy="2084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1F3963"/>
                </a:solidFill>
                <a:latin typeface="Arial"/>
              </a:rPr>
              <a:t>p(2,1)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302531" y="4441632"/>
            <a:ext cx="475424" cy="221430"/>
          </a:xfrm>
          <a:prstGeom prst="rect">
            <a:avLst/>
          </a:prstGeom>
          <a:solidFill>
            <a:srgbClr val="8FAED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09044" y="4448145"/>
            <a:ext cx="462398" cy="2084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1F3963"/>
                </a:solidFill>
                <a:latin typeface="Arial"/>
              </a:rPr>
              <a:t>p(2,2)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36569" y="4441632"/>
            <a:ext cx="475424" cy="221430"/>
          </a:xfrm>
          <a:prstGeom prst="rect">
            <a:avLst/>
          </a:prstGeom>
          <a:solidFill>
            <a:srgbClr val="8FAED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843082" y="4448145"/>
            <a:ext cx="462398" cy="2084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1F3963"/>
                </a:solidFill>
                <a:latin typeface="Arial"/>
              </a:rPr>
              <a:t>p(2,3)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370607" y="4441632"/>
            <a:ext cx="475424" cy="221430"/>
          </a:xfrm>
          <a:prstGeom prst="rect">
            <a:avLst/>
          </a:prstGeom>
          <a:solidFill>
            <a:srgbClr val="8FAED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377120" y="4448145"/>
            <a:ext cx="462398" cy="2084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1F3963"/>
                </a:solidFill>
                <a:latin typeface="Arial"/>
              </a:rPr>
              <a:t>p(2,4)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3531" y="4643524"/>
            <a:ext cx="1497911" cy="2214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75" b="1" i="0">
                <a:solidFill>
                  <a:srgbClr val="1F3963"/>
                </a:solidFill>
                <a:latin typeface="Arial"/>
              </a:rPr>
              <a:t>Placeholder KV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34455" y="4864955"/>
            <a:ext cx="514499" cy="221430"/>
          </a:xfrm>
          <a:prstGeom prst="rect">
            <a:avLst/>
          </a:prstGeom>
          <a:solidFill>
            <a:srgbClr val="FFE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40968" y="4871467"/>
            <a:ext cx="501474" cy="2084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1" i="1">
                <a:solidFill>
                  <a:srgbClr val="121212"/>
                </a:solidFill>
                <a:latin typeface="Times New Roman"/>
              </a:rPr>
              <a:t>ϕ(2,1)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94544" y="4864955"/>
            <a:ext cx="514499" cy="221430"/>
          </a:xfrm>
          <a:prstGeom prst="rect">
            <a:avLst/>
          </a:prstGeom>
          <a:solidFill>
            <a:srgbClr val="DCEFD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01056" y="4871467"/>
            <a:ext cx="501474" cy="2084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1" i="1">
                <a:solidFill>
                  <a:srgbClr val="121212"/>
                </a:solidFill>
                <a:latin typeface="Times New Roman"/>
              </a:rPr>
              <a:t>ϕ(2,2)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354632" y="4864955"/>
            <a:ext cx="514499" cy="221430"/>
          </a:xfrm>
          <a:prstGeom prst="rect">
            <a:avLst/>
          </a:prstGeom>
          <a:solidFill>
            <a:srgbClr val="FFE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361145" y="4871467"/>
            <a:ext cx="501474" cy="2084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1" i="1">
                <a:solidFill>
                  <a:srgbClr val="121212"/>
                </a:solidFill>
                <a:latin typeface="Times New Roman"/>
              </a:rPr>
              <a:t>ϕ(2,3)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914721" y="4864955"/>
            <a:ext cx="514499" cy="221430"/>
          </a:xfrm>
          <a:prstGeom prst="rect">
            <a:avLst/>
          </a:prstGeom>
          <a:solidFill>
            <a:srgbClr val="DCEFD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921234" y="4871467"/>
            <a:ext cx="501474" cy="2084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1" i="1">
                <a:solidFill>
                  <a:srgbClr val="121212"/>
                </a:solidFill>
                <a:latin typeface="Times New Roman"/>
              </a:rPr>
              <a:t>ϕ(2,4)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23740" y="5171050"/>
            <a:ext cx="3034898" cy="293069"/>
          </a:xfrm>
          <a:prstGeom prst="rect">
            <a:avLst/>
          </a:prstGeom>
          <a:solidFill>
            <a:srgbClr val="D9D3E0"/>
          </a:solidFill>
          <a:ln w="12700">
            <a:solidFill>
              <a:srgbClr val="2F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14917" y="5190588"/>
            <a:ext cx="2624601" cy="247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25" b="1" i="0">
                <a:solidFill>
                  <a:srgbClr val="121212"/>
                </a:solidFill>
                <a:latin typeface="Arial"/>
              </a:rPr>
              <a:t>All placeholders</a:t>
            </a:r>
          </a:p>
        </p:txBody>
      </p:sp>
      <p:sp>
        <p:nvSpPr>
          <p:cNvPr id="99" name="Oval 98"/>
          <p:cNvSpPr/>
          <p:nvPr/>
        </p:nvSpPr>
        <p:spPr>
          <a:xfrm>
            <a:off x="2181740" y="5210126"/>
            <a:ext cx="221430" cy="221430"/>
          </a:xfrm>
          <a:prstGeom prst="ellipse">
            <a:avLst/>
          </a:prstGeom>
          <a:solidFill>
            <a:srgbClr val="5E893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>
            <a:off x="2234883" y="5320841"/>
            <a:ext cx="44286" cy="4650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2279169" y="5271019"/>
            <a:ext cx="77501" cy="96322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2370607" y="5190588"/>
            <a:ext cx="195379" cy="247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75" b="1" i="0">
                <a:solidFill>
                  <a:srgbClr val="121212"/>
                </a:solidFill>
                <a:latin typeface="Arial"/>
              </a:rPr>
              <a:t>?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23740" y="5464119"/>
            <a:ext cx="1146227" cy="410297"/>
          </a:xfrm>
          <a:prstGeom prst="rect">
            <a:avLst/>
          </a:prstGeom>
          <a:solidFill>
            <a:srgbClr val="DDEAF7"/>
          </a:solidFill>
          <a:ln w="12700">
            <a:solidFill>
              <a:srgbClr val="2F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269968" y="5464119"/>
            <a:ext cx="1888670" cy="410297"/>
          </a:xfrm>
          <a:prstGeom prst="rect">
            <a:avLst/>
          </a:prstGeom>
          <a:solidFill>
            <a:srgbClr val="F9E5D0"/>
          </a:solidFill>
          <a:ln w="12700">
            <a:solidFill>
              <a:srgbClr val="2F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82354" y="5587860"/>
            <a:ext cx="976898" cy="2279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25" b="1" i="0">
                <a:solidFill>
                  <a:srgbClr val="1F3963"/>
                </a:solidFill>
                <a:latin typeface="Arial"/>
              </a:rPr>
              <a:t>(N) Dense</a:t>
            </a:r>
          </a:p>
        </p:txBody>
      </p:sp>
      <p:sp>
        <p:nvSpPr>
          <p:cNvPr id="106" name="Oval 105"/>
          <p:cNvSpPr/>
          <p:nvPr/>
        </p:nvSpPr>
        <p:spPr>
          <a:xfrm>
            <a:off x="989923" y="5600885"/>
            <a:ext cx="221430" cy="221430"/>
          </a:xfrm>
          <a:prstGeom prst="ellipse">
            <a:avLst/>
          </a:prstGeom>
          <a:solidFill>
            <a:srgbClr val="F1883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89923" y="5594372"/>
            <a:ext cx="221430" cy="2344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+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361145" y="5587860"/>
            <a:ext cx="1771442" cy="2279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1" i="0">
                <a:solidFill>
                  <a:srgbClr val="1F3963"/>
                </a:solidFill>
                <a:latin typeface="Arial"/>
              </a:rPr>
              <a:t>(Y) Sharing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757803" y="3764316"/>
            <a:ext cx="3034898" cy="2110101"/>
          </a:xfrm>
          <a:prstGeom prst="roundRect">
            <a:avLst/>
          </a:prstGeom>
          <a:solidFill>
            <a:srgbClr val="DDEAF7"/>
          </a:solidFill>
          <a:ln w="19050">
            <a:solidFill>
              <a:srgbClr val="2F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3764316" y="3770828"/>
            <a:ext cx="3021873" cy="416810"/>
          </a:xfrm>
          <a:prstGeom prst="roundRect">
            <a:avLst/>
          </a:prstGeom>
          <a:solidFill>
            <a:srgbClr val="A9C9E5"/>
          </a:solidFill>
          <a:ln w="19050">
            <a:solidFill>
              <a:srgbClr val="2F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3764316" y="3985746"/>
            <a:ext cx="3021873" cy="201892"/>
          </a:xfrm>
          <a:prstGeom prst="rect">
            <a:avLst/>
          </a:prstGeom>
          <a:solidFill>
            <a:srgbClr val="A9C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770828" y="3855493"/>
            <a:ext cx="3008847" cy="2930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50" b="1" i="0">
                <a:solidFill>
                  <a:srgbClr val="1F3963"/>
                </a:solidFill>
                <a:latin typeface="Arial"/>
              </a:rPr>
              <a:t>Agent 3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914107" y="4220202"/>
            <a:ext cx="1172278" cy="2214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75" b="1" i="0">
                <a:solidFill>
                  <a:srgbClr val="1F3963"/>
                </a:solidFill>
                <a:latin typeface="Arial"/>
              </a:rPr>
              <a:t>Prefix KV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875031" y="4441632"/>
            <a:ext cx="475424" cy="221430"/>
          </a:xfrm>
          <a:prstGeom prst="rect">
            <a:avLst/>
          </a:prstGeom>
          <a:solidFill>
            <a:srgbClr val="8FAED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881543" y="4448145"/>
            <a:ext cx="462398" cy="2084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1F3963"/>
                </a:solidFill>
                <a:latin typeface="Arial"/>
              </a:rPr>
              <a:t>p(3,0)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409069" y="4441632"/>
            <a:ext cx="475424" cy="221430"/>
          </a:xfrm>
          <a:prstGeom prst="rect">
            <a:avLst/>
          </a:prstGeom>
          <a:solidFill>
            <a:srgbClr val="8FAED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415581" y="4448145"/>
            <a:ext cx="462398" cy="2084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1F3963"/>
                </a:solidFill>
                <a:latin typeface="Arial"/>
              </a:rPr>
              <a:t>p(3,1)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943107" y="4441632"/>
            <a:ext cx="475424" cy="221430"/>
          </a:xfrm>
          <a:prstGeom prst="rect">
            <a:avLst/>
          </a:prstGeom>
          <a:solidFill>
            <a:srgbClr val="8FAED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949619" y="4448145"/>
            <a:ext cx="462398" cy="2084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1F3963"/>
                </a:solidFill>
                <a:latin typeface="Arial"/>
              </a:rPr>
              <a:t>p(3,2)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477145" y="4441632"/>
            <a:ext cx="475424" cy="221430"/>
          </a:xfrm>
          <a:prstGeom prst="rect">
            <a:avLst/>
          </a:prstGeom>
          <a:solidFill>
            <a:srgbClr val="8FAED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483657" y="4448145"/>
            <a:ext cx="462398" cy="2084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1F3963"/>
                </a:solidFill>
                <a:latin typeface="Arial"/>
              </a:rPr>
              <a:t>p(3,3)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011183" y="4441632"/>
            <a:ext cx="475424" cy="221430"/>
          </a:xfrm>
          <a:prstGeom prst="rect">
            <a:avLst/>
          </a:prstGeom>
          <a:solidFill>
            <a:srgbClr val="8FAED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017695" y="4448145"/>
            <a:ext cx="462398" cy="2084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1F3963"/>
                </a:solidFill>
                <a:latin typeface="Arial"/>
              </a:rPr>
              <a:t>p(3,4)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914107" y="4643524"/>
            <a:ext cx="1497911" cy="2214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75" b="1" i="0">
                <a:solidFill>
                  <a:srgbClr val="1F3963"/>
                </a:solidFill>
                <a:latin typeface="Arial"/>
              </a:rPr>
              <a:t>Placeholder KV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875031" y="4864955"/>
            <a:ext cx="514499" cy="221430"/>
          </a:xfrm>
          <a:prstGeom prst="rect">
            <a:avLst/>
          </a:prstGeom>
          <a:solidFill>
            <a:srgbClr val="FFE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881543" y="4871467"/>
            <a:ext cx="501474" cy="2084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1" i="1">
                <a:solidFill>
                  <a:srgbClr val="121212"/>
                </a:solidFill>
                <a:latin typeface="Times New Roman"/>
              </a:rPr>
              <a:t>ϕ(3,1)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435119" y="4864955"/>
            <a:ext cx="514499" cy="221430"/>
          </a:xfrm>
          <a:prstGeom prst="rect">
            <a:avLst/>
          </a:prstGeom>
          <a:solidFill>
            <a:srgbClr val="DCEFD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441632" y="4871467"/>
            <a:ext cx="501474" cy="2084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1" i="1">
                <a:solidFill>
                  <a:srgbClr val="121212"/>
                </a:solidFill>
                <a:latin typeface="Times New Roman"/>
              </a:rPr>
              <a:t>ϕ(3,2)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995208" y="4864955"/>
            <a:ext cx="514499" cy="221430"/>
          </a:xfrm>
          <a:prstGeom prst="rect">
            <a:avLst/>
          </a:prstGeom>
          <a:solidFill>
            <a:srgbClr val="FFE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001721" y="4871467"/>
            <a:ext cx="501474" cy="2084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1" i="1">
                <a:solidFill>
                  <a:srgbClr val="121212"/>
                </a:solidFill>
                <a:latin typeface="Times New Roman"/>
              </a:rPr>
              <a:t>ϕ(3,3)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555297" y="4864955"/>
            <a:ext cx="514499" cy="221430"/>
          </a:xfrm>
          <a:prstGeom prst="rect">
            <a:avLst/>
          </a:prstGeom>
          <a:solidFill>
            <a:srgbClr val="DCEFD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561809" y="4871467"/>
            <a:ext cx="501474" cy="2084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1" i="1">
                <a:solidFill>
                  <a:srgbClr val="121212"/>
                </a:solidFill>
                <a:latin typeface="Times New Roman"/>
              </a:rPr>
              <a:t>ϕ(3,4)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764316" y="5171050"/>
            <a:ext cx="3021873" cy="293069"/>
          </a:xfrm>
          <a:prstGeom prst="rect">
            <a:avLst/>
          </a:prstGeom>
          <a:solidFill>
            <a:srgbClr val="D9D3E0"/>
          </a:solidFill>
          <a:ln w="12700">
            <a:solidFill>
              <a:srgbClr val="2F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855493" y="5190588"/>
            <a:ext cx="2611575" cy="247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25" b="1" i="0">
                <a:solidFill>
                  <a:srgbClr val="121212"/>
                </a:solidFill>
                <a:latin typeface="Arial"/>
              </a:rPr>
              <a:t>All placeholders</a:t>
            </a:r>
          </a:p>
        </p:txBody>
      </p:sp>
      <p:sp>
        <p:nvSpPr>
          <p:cNvPr id="135" name="Oval 134"/>
          <p:cNvSpPr/>
          <p:nvPr/>
        </p:nvSpPr>
        <p:spPr>
          <a:xfrm>
            <a:off x="5815803" y="5210126"/>
            <a:ext cx="221430" cy="221430"/>
          </a:xfrm>
          <a:prstGeom prst="ellipse">
            <a:avLst/>
          </a:prstGeom>
          <a:solidFill>
            <a:srgbClr val="5E893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6" name="Connector 135"/>
          <p:cNvCxnSpPr/>
          <p:nvPr/>
        </p:nvCxnSpPr>
        <p:spPr>
          <a:xfrm>
            <a:off x="5868946" y="5320841"/>
            <a:ext cx="44286" cy="4650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5913232" y="5271019"/>
            <a:ext cx="77501" cy="96322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6004670" y="5190588"/>
            <a:ext cx="195379" cy="247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75" b="1" i="0">
                <a:solidFill>
                  <a:srgbClr val="121212"/>
                </a:solidFill>
                <a:latin typeface="Arial"/>
              </a:rPr>
              <a:t>?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764316" y="5464119"/>
            <a:ext cx="1901696" cy="410297"/>
          </a:xfrm>
          <a:prstGeom prst="rect">
            <a:avLst/>
          </a:prstGeom>
          <a:solidFill>
            <a:srgbClr val="DDEAF7"/>
          </a:solidFill>
          <a:ln w="12700">
            <a:solidFill>
              <a:srgbClr val="2F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666012" y="5464119"/>
            <a:ext cx="1120177" cy="410297"/>
          </a:xfrm>
          <a:prstGeom prst="rect">
            <a:avLst/>
          </a:prstGeom>
          <a:solidFill>
            <a:srgbClr val="F9E5D0"/>
          </a:solidFill>
          <a:ln w="12700">
            <a:solidFill>
              <a:srgbClr val="2F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822930" y="5587860"/>
            <a:ext cx="1237404" cy="2279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1F3963"/>
                </a:solidFill>
                <a:latin typeface="Arial"/>
              </a:rPr>
              <a:t>(Y) Sharing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666012" y="5587860"/>
            <a:ext cx="859670" cy="2279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1" i="0">
                <a:solidFill>
                  <a:srgbClr val="1F3963"/>
                </a:solidFill>
                <a:latin typeface="Arial"/>
              </a:rPr>
              <a:t>(N) Dense</a:t>
            </a:r>
          </a:p>
        </p:txBody>
      </p:sp>
      <p:sp>
        <p:nvSpPr>
          <p:cNvPr id="143" name="Oval 142"/>
          <p:cNvSpPr/>
          <p:nvPr/>
        </p:nvSpPr>
        <p:spPr>
          <a:xfrm>
            <a:off x="6525683" y="5600885"/>
            <a:ext cx="221430" cy="221430"/>
          </a:xfrm>
          <a:prstGeom prst="ellipse">
            <a:avLst/>
          </a:prstGeom>
          <a:solidFill>
            <a:srgbClr val="F1883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525683" y="5594372"/>
            <a:ext cx="221430" cy="2344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+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3757803" y="91177"/>
            <a:ext cx="8433891" cy="3529860"/>
          </a:xfrm>
          <a:prstGeom prst="roundRect">
            <a:avLst/>
          </a:prstGeom>
          <a:solidFill>
            <a:srgbClr val="A9D28C"/>
          </a:solidFill>
          <a:ln w="19050">
            <a:solidFill>
              <a:srgbClr val="2F6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3764316" y="97689"/>
            <a:ext cx="8420866" cy="423322"/>
          </a:xfrm>
          <a:prstGeom prst="roundRect">
            <a:avLst/>
          </a:prstGeom>
          <a:solidFill>
            <a:srgbClr val="857897"/>
          </a:solidFill>
          <a:ln w="19050">
            <a:solidFill>
              <a:srgbClr val="2F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3764316" y="312607"/>
            <a:ext cx="8420866" cy="208405"/>
          </a:xfrm>
          <a:prstGeom prst="rect">
            <a:avLst/>
          </a:prstGeom>
          <a:solidFill>
            <a:srgbClr val="857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777341" y="97689"/>
            <a:ext cx="8394815" cy="4102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900" b="1" i="0">
                <a:solidFill>
                  <a:srgbClr val="FFFFFF"/>
                </a:solidFill>
                <a:latin typeface="Arial"/>
              </a:rPr>
              <a:t>KV-cache Communication Module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764316" y="527525"/>
            <a:ext cx="2969771" cy="2872082"/>
          </a:xfrm>
          <a:prstGeom prst="rect">
            <a:avLst/>
          </a:prstGeom>
          <a:solidFill>
            <a:srgbClr val="D9D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734088" y="527525"/>
            <a:ext cx="2833006" cy="2872082"/>
          </a:xfrm>
          <a:prstGeom prst="rect">
            <a:avLst/>
          </a:prstGeom>
          <a:solidFill>
            <a:srgbClr val="F7E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9567094" y="527525"/>
            <a:ext cx="2618088" cy="2872082"/>
          </a:xfrm>
          <a:prstGeom prst="rect">
            <a:avLst/>
          </a:prstGeom>
          <a:solidFill>
            <a:srgbClr val="A9D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777341" y="540550"/>
            <a:ext cx="2930695" cy="2735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50" b="1" i="0">
                <a:solidFill>
                  <a:srgbClr val="121212"/>
                </a:solidFill>
                <a:latin typeface="Arial"/>
              </a:rPr>
              <a:t>Anchor Matching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740600" y="540550"/>
            <a:ext cx="2819980" cy="2735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50" b="1" i="0">
                <a:solidFill>
                  <a:srgbClr val="121212"/>
                </a:solidFill>
                <a:latin typeface="Arial"/>
              </a:rPr>
              <a:t>Offset Approximation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573606" y="540550"/>
            <a:ext cx="2605063" cy="2735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50" b="1" i="0">
                <a:solidFill>
                  <a:srgbClr val="121212"/>
                </a:solidFill>
                <a:latin typeface="Arial"/>
              </a:rPr>
              <a:t>Anchor Prediction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959695" y="885721"/>
            <a:ext cx="1113664" cy="1068075"/>
          </a:xfrm>
          <a:prstGeom prst="rect">
            <a:avLst/>
          </a:prstGeom>
          <a:solidFill>
            <a:srgbClr val="FFFFFF"/>
          </a:solidFill>
          <a:ln w="25400">
            <a:solidFill>
              <a:srgbClr val="85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3966208" y="892234"/>
            <a:ext cx="1100639" cy="221430"/>
          </a:xfrm>
          <a:prstGeom prst="rect">
            <a:avLst/>
          </a:prstGeom>
          <a:solidFill>
            <a:srgbClr val="C8C0CF"/>
          </a:solidFill>
          <a:ln w="12700">
            <a:solidFill>
              <a:srgbClr val="85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3966208" y="911772"/>
            <a:ext cx="1100639" cy="1823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25" b="1" i="0">
                <a:solidFill>
                  <a:srgbClr val="121212"/>
                </a:solidFill>
                <a:latin typeface="Times New Roman"/>
              </a:rPr>
              <a:t>ϕ(1,1) Pool</a:t>
            </a:r>
          </a:p>
        </p:txBody>
      </p:sp>
      <p:sp>
        <p:nvSpPr>
          <p:cNvPr id="158" name="Oval 157"/>
          <p:cNvSpPr/>
          <p:nvPr/>
        </p:nvSpPr>
        <p:spPr>
          <a:xfrm>
            <a:off x="4057385" y="1211354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4363480" y="1413246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4728189" y="1335094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4115999" y="1621651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4812854" y="1706316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4597936" y="1126689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4532809" y="1478373"/>
            <a:ext cx="364708" cy="364708"/>
          </a:xfrm>
          <a:prstGeom prst="ellipse">
            <a:avLst/>
          </a:prstGeom>
          <a:solidFill>
            <a:srgbClr val="D6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5-Point Star 164"/>
          <p:cNvSpPr/>
          <p:nvPr/>
        </p:nvSpPr>
        <p:spPr>
          <a:xfrm>
            <a:off x="4630499" y="1576063"/>
            <a:ext cx="169329" cy="169329"/>
          </a:xfrm>
          <a:prstGeom prst="star5">
            <a:avLst/>
          </a:prstGeom>
          <a:solidFill>
            <a:srgbClr val="F18835"/>
          </a:solidFill>
          <a:ln w="12700">
            <a:solidFill>
              <a:srgbClr val="95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5177562" y="885721"/>
            <a:ext cx="1113664" cy="1068075"/>
          </a:xfrm>
          <a:prstGeom prst="rect">
            <a:avLst/>
          </a:prstGeom>
          <a:solidFill>
            <a:srgbClr val="FFFFFF"/>
          </a:solidFill>
          <a:ln w="25400">
            <a:solidFill>
              <a:srgbClr val="85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5184075" y="892234"/>
            <a:ext cx="1100639" cy="221430"/>
          </a:xfrm>
          <a:prstGeom prst="rect">
            <a:avLst/>
          </a:prstGeom>
          <a:solidFill>
            <a:srgbClr val="C8C0CF"/>
          </a:solidFill>
          <a:ln w="12700">
            <a:solidFill>
              <a:srgbClr val="85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184075" y="911772"/>
            <a:ext cx="1100639" cy="1823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25" b="1" i="0">
                <a:solidFill>
                  <a:srgbClr val="121212"/>
                </a:solidFill>
                <a:latin typeface="Times New Roman"/>
              </a:rPr>
              <a:t>ϕ(1,2) Pool</a:t>
            </a:r>
          </a:p>
        </p:txBody>
      </p:sp>
      <p:sp>
        <p:nvSpPr>
          <p:cNvPr id="169" name="Oval 168"/>
          <p:cNvSpPr/>
          <p:nvPr/>
        </p:nvSpPr>
        <p:spPr>
          <a:xfrm>
            <a:off x="5275252" y="1211354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5581347" y="1413246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5946056" y="1335094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5333866" y="1621651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6030721" y="1706316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5815803" y="1126689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5307816" y="1523961"/>
            <a:ext cx="364708" cy="364708"/>
          </a:xfrm>
          <a:prstGeom prst="ellipse">
            <a:avLst/>
          </a:prstGeom>
          <a:solidFill>
            <a:srgbClr val="D6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5-Point Star 175"/>
          <p:cNvSpPr/>
          <p:nvPr/>
        </p:nvSpPr>
        <p:spPr>
          <a:xfrm>
            <a:off x="5405505" y="1621651"/>
            <a:ext cx="169329" cy="169329"/>
          </a:xfrm>
          <a:prstGeom prst="star5">
            <a:avLst/>
          </a:prstGeom>
          <a:solidFill>
            <a:srgbClr val="5E8939"/>
          </a:solidFill>
          <a:ln w="12700">
            <a:solidFill>
              <a:srgbClr val="95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3959695" y="2018923"/>
            <a:ext cx="1113664" cy="1068075"/>
          </a:xfrm>
          <a:prstGeom prst="rect">
            <a:avLst/>
          </a:prstGeom>
          <a:solidFill>
            <a:srgbClr val="FFFFFF"/>
          </a:solidFill>
          <a:ln w="25400">
            <a:solidFill>
              <a:srgbClr val="85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3966208" y="2025436"/>
            <a:ext cx="1100639" cy="221430"/>
          </a:xfrm>
          <a:prstGeom prst="rect">
            <a:avLst/>
          </a:prstGeom>
          <a:solidFill>
            <a:srgbClr val="C8C0CF"/>
          </a:solidFill>
          <a:ln w="12700">
            <a:solidFill>
              <a:srgbClr val="85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3966208" y="2044974"/>
            <a:ext cx="1100639" cy="1823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25" b="1" i="0">
                <a:solidFill>
                  <a:srgbClr val="121212"/>
                </a:solidFill>
                <a:latin typeface="Times New Roman"/>
              </a:rPr>
              <a:t>ϕ(1,3) Pool</a:t>
            </a:r>
          </a:p>
        </p:txBody>
      </p:sp>
      <p:sp>
        <p:nvSpPr>
          <p:cNvPr id="180" name="Oval 179"/>
          <p:cNvSpPr/>
          <p:nvPr/>
        </p:nvSpPr>
        <p:spPr>
          <a:xfrm>
            <a:off x="4057385" y="2344556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4363480" y="2546449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4728189" y="2468297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4115999" y="2754854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4812854" y="2839518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4597936" y="2259892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4115999" y="2285942"/>
            <a:ext cx="364708" cy="364708"/>
          </a:xfrm>
          <a:prstGeom prst="ellipse">
            <a:avLst/>
          </a:prstGeom>
          <a:solidFill>
            <a:srgbClr val="D6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5-Point Star 186"/>
          <p:cNvSpPr/>
          <p:nvPr/>
        </p:nvSpPr>
        <p:spPr>
          <a:xfrm>
            <a:off x="4213689" y="2383632"/>
            <a:ext cx="169329" cy="169329"/>
          </a:xfrm>
          <a:prstGeom prst="star5">
            <a:avLst/>
          </a:prstGeom>
          <a:solidFill>
            <a:srgbClr val="F18835"/>
          </a:solidFill>
          <a:ln w="12700">
            <a:solidFill>
              <a:srgbClr val="95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177562" y="2018923"/>
            <a:ext cx="1113664" cy="1068075"/>
          </a:xfrm>
          <a:prstGeom prst="rect">
            <a:avLst/>
          </a:prstGeom>
          <a:solidFill>
            <a:srgbClr val="FFFFFF"/>
          </a:solidFill>
          <a:ln w="25400">
            <a:solidFill>
              <a:srgbClr val="85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5184075" y="2025436"/>
            <a:ext cx="1100639" cy="221430"/>
          </a:xfrm>
          <a:prstGeom prst="rect">
            <a:avLst/>
          </a:prstGeom>
          <a:solidFill>
            <a:srgbClr val="C8C0CF"/>
          </a:solidFill>
          <a:ln w="12700">
            <a:solidFill>
              <a:srgbClr val="85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5184075" y="2044974"/>
            <a:ext cx="1100639" cy="1823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25" b="1" i="0">
                <a:solidFill>
                  <a:srgbClr val="121212"/>
                </a:solidFill>
                <a:latin typeface="Times New Roman"/>
              </a:rPr>
              <a:t>ϕ(2,1) Pool</a:t>
            </a:r>
          </a:p>
        </p:txBody>
      </p:sp>
      <p:sp>
        <p:nvSpPr>
          <p:cNvPr id="191" name="Oval 190"/>
          <p:cNvSpPr/>
          <p:nvPr/>
        </p:nvSpPr>
        <p:spPr>
          <a:xfrm>
            <a:off x="5275252" y="2344556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5581347" y="2546449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5946056" y="2468297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333866" y="2754854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6030721" y="2839518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5815803" y="2259892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5372942" y="2364094"/>
            <a:ext cx="364708" cy="364708"/>
          </a:xfrm>
          <a:prstGeom prst="ellipse">
            <a:avLst/>
          </a:prstGeom>
          <a:solidFill>
            <a:srgbClr val="D6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5-Point Star 197"/>
          <p:cNvSpPr/>
          <p:nvPr/>
        </p:nvSpPr>
        <p:spPr>
          <a:xfrm>
            <a:off x="5470632" y="2461784"/>
            <a:ext cx="169329" cy="169329"/>
          </a:xfrm>
          <a:prstGeom prst="star5">
            <a:avLst/>
          </a:prstGeom>
          <a:solidFill>
            <a:srgbClr val="5E8939"/>
          </a:solidFill>
          <a:ln w="12700">
            <a:solidFill>
              <a:srgbClr val="95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6330303" y="1869132"/>
            <a:ext cx="325632" cy="2279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5" b="1" i="0">
                <a:solidFill>
                  <a:srgbClr val="857897"/>
                </a:solidFill>
                <a:latin typeface="Arial"/>
              </a:rPr>
              <a:t>•••</a:t>
            </a:r>
          </a:p>
        </p:txBody>
      </p:sp>
      <p:sp>
        <p:nvSpPr>
          <p:cNvPr id="200" name="Oval 199"/>
          <p:cNvSpPr/>
          <p:nvPr/>
        </p:nvSpPr>
        <p:spPr>
          <a:xfrm>
            <a:off x="6994594" y="1002949"/>
            <a:ext cx="833620" cy="833620"/>
          </a:xfrm>
          <a:prstGeom prst="ellipse">
            <a:avLst/>
          </a:prstGeom>
          <a:solidFill>
            <a:srgbClr val="D6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7170436" y="1504423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7515606" y="1445810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7248588" y="1204841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7496069" y="1204841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5-Point Star 204"/>
          <p:cNvSpPr/>
          <p:nvPr/>
        </p:nvSpPr>
        <p:spPr>
          <a:xfrm>
            <a:off x="7320227" y="1322069"/>
            <a:ext cx="182354" cy="182354"/>
          </a:xfrm>
          <a:prstGeom prst="star5">
            <a:avLst/>
          </a:prstGeom>
          <a:solidFill>
            <a:srgbClr val="F18835"/>
          </a:solidFill>
          <a:ln w="12700">
            <a:solidFill>
              <a:srgbClr val="95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7059720" y="1348120"/>
            <a:ext cx="221430" cy="1628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50" b="1" i="1">
                <a:solidFill>
                  <a:srgbClr val="121212"/>
                </a:solidFill>
                <a:latin typeface="Times New Roman"/>
              </a:rPr>
              <a:t>w₁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509094" y="1348120"/>
            <a:ext cx="221430" cy="1628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50" b="1" i="1">
                <a:solidFill>
                  <a:srgbClr val="121212"/>
                </a:solidFill>
                <a:latin typeface="Times New Roman"/>
              </a:rPr>
              <a:t>w₂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144385" y="1608626"/>
            <a:ext cx="195379" cy="1432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21212"/>
                </a:solidFill>
                <a:latin typeface="Times New Roman"/>
              </a:rPr>
              <a:t>(1)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7470018" y="1608626"/>
            <a:ext cx="195379" cy="1432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21212"/>
                </a:solidFill>
                <a:latin typeface="Times New Roman"/>
              </a:rPr>
              <a:t>(2)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7971493" y="918284"/>
            <a:ext cx="1523961" cy="1022487"/>
          </a:xfrm>
          <a:prstGeom prst="rect">
            <a:avLst/>
          </a:prstGeom>
          <a:solidFill>
            <a:srgbClr val="FFFFFF"/>
          </a:solidFill>
          <a:ln w="19050">
            <a:solidFill>
              <a:srgbClr val="85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7997543" y="944335"/>
            <a:ext cx="1471860" cy="2084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21212"/>
                </a:solidFill>
                <a:latin typeface="Arial"/>
              </a:rPr>
              <a:t>Each ϕ(1,1) Anchor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8121284" y="1230892"/>
            <a:ext cx="195379" cy="5470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25" b="0" i="0">
                <a:solidFill>
                  <a:srgbClr val="121212"/>
                </a:solidFill>
                <a:latin typeface="Times New Roman"/>
              </a:rPr>
              <a:t>{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8355739" y="1152740"/>
            <a:ext cx="534037" cy="201892"/>
          </a:xfrm>
          <a:prstGeom prst="roundRect">
            <a:avLst/>
          </a:prstGeom>
          <a:solidFill>
            <a:srgbClr val="C8C0CF"/>
          </a:solidFill>
          <a:ln w="12700">
            <a:solidFill>
              <a:srgbClr val="85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8362252" y="1165765"/>
            <a:ext cx="521012" cy="17584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25" b="1" i="0">
                <a:solidFill>
                  <a:srgbClr val="121212"/>
                </a:solidFill>
                <a:latin typeface="Times New Roman"/>
              </a:rPr>
              <a:t>hϕ(1,1)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8355739" y="1400221"/>
            <a:ext cx="1022487" cy="201892"/>
          </a:xfrm>
          <a:prstGeom prst="roundRect">
            <a:avLst/>
          </a:prstGeom>
          <a:solidFill>
            <a:srgbClr val="C8C0CF"/>
          </a:solidFill>
          <a:ln w="12700">
            <a:solidFill>
              <a:srgbClr val="85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8362252" y="1413246"/>
            <a:ext cx="1009461" cy="17584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0" i="0">
                <a:solidFill>
                  <a:srgbClr val="121212"/>
                </a:solidFill>
                <a:latin typeface="Times New Roman"/>
              </a:rPr>
              <a:t>(Δk, Δv)ϕ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8355739" y="1634677"/>
            <a:ext cx="1022487" cy="201892"/>
          </a:xfrm>
          <a:prstGeom prst="roundRect">
            <a:avLst/>
          </a:prstGeom>
          <a:solidFill>
            <a:srgbClr val="C8C0CF"/>
          </a:solidFill>
          <a:ln w="12700">
            <a:solidFill>
              <a:srgbClr val="85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8362252" y="1647702"/>
            <a:ext cx="1009461" cy="17584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0" i="0">
                <a:solidFill>
                  <a:srgbClr val="121212"/>
                </a:solidFill>
                <a:latin typeface="Times New Roman"/>
              </a:rPr>
              <a:t>(Δk, Δv)p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6825265" y="1940771"/>
            <a:ext cx="566601" cy="1243917"/>
          </a:xfrm>
          <a:prstGeom prst="rect">
            <a:avLst/>
          </a:prstGeom>
          <a:noFill/>
          <a:ln w="25400">
            <a:solidFill>
              <a:srgbClr val="95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6838290" y="1986360"/>
            <a:ext cx="540550" cy="1823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1" i="0">
                <a:solidFill>
                  <a:srgbClr val="95501A"/>
                </a:solidFill>
                <a:latin typeface="Times New Roman"/>
              </a:rPr>
              <a:t>ϕ(1,1)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6838290" y="2585525"/>
            <a:ext cx="540550" cy="1823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1" i="0">
                <a:solidFill>
                  <a:srgbClr val="163B70"/>
                </a:solidFill>
                <a:latin typeface="Times New Roman"/>
              </a:rPr>
              <a:t>p(1,1)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6838290" y="3015360"/>
            <a:ext cx="540550" cy="1823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5" b="1" i="0">
                <a:solidFill>
                  <a:srgbClr val="95501A"/>
                </a:solidFill>
                <a:latin typeface="Arial"/>
              </a:rPr>
              <a:t>•••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7424429" y="2057999"/>
            <a:ext cx="2084050" cy="2084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50" b="0" i="1">
                <a:solidFill>
                  <a:srgbClr val="121212"/>
                </a:solidFill>
                <a:latin typeface="Times New Roman"/>
              </a:rPr>
              <a:t>= ϕ(1,1) + w₁(Δk, Δv)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7424429" y="2292455"/>
            <a:ext cx="1693291" cy="2084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50" b="0" i="1">
                <a:solidFill>
                  <a:srgbClr val="121212"/>
                </a:solidFill>
                <a:latin typeface="Times New Roman"/>
              </a:rPr>
              <a:t>+ w₂(Δk, Δv)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424429" y="2624601"/>
            <a:ext cx="2084050" cy="2084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50" b="0" i="1">
                <a:solidFill>
                  <a:srgbClr val="121212"/>
                </a:solidFill>
                <a:latin typeface="Times New Roman"/>
              </a:rPr>
              <a:t>= p(1,1) + w₁(Δk, Δv)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7424429" y="2859056"/>
            <a:ext cx="1693291" cy="2084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50" b="0" i="1">
                <a:solidFill>
                  <a:srgbClr val="121212"/>
                </a:solidFill>
                <a:latin typeface="Times New Roman"/>
              </a:rPr>
              <a:t>+ w₂(Δk, Δv)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6512657" y="1693291"/>
            <a:ext cx="325632" cy="2279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950" b="1" i="0">
                <a:solidFill>
                  <a:srgbClr val="121212"/>
                </a:solidFill>
                <a:latin typeface="Arial"/>
              </a:rPr>
              <a:t>Hit</a:t>
            </a:r>
          </a:p>
        </p:txBody>
      </p:sp>
      <p:sp>
        <p:nvSpPr>
          <p:cNvPr id="228" name="Right Arrow 227"/>
          <p:cNvSpPr/>
          <p:nvPr/>
        </p:nvSpPr>
        <p:spPr>
          <a:xfrm>
            <a:off x="6525683" y="1813775"/>
            <a:ext cx="481936" cy="58613"/>
          </a:xfrm>
          <a:prstGeom prst="rightArrow">
            <a:avLst/>
          </a:prstGeom>
          <a:solidFill>
            <a:srgbClr val="857897"/>
          </a:solidFill>
          <a:ln w="6350">
            <a:solidFill>
              <a:srgbClr val="85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ounded Rectangle 228"/>
          <p:cNvSpPr/>
          <p:nvPr/>
        </p:nvSpPr>
        <p:spPr>
          <a:xfrm>
            <a:off x="9664784" y="846645"/>
            <a:ext cx="1217866" cy="263762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18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9716885" y="905259"/>
            <a:ext cx="1113664" cy="1009461"/>
          </a:xfrm>
          <a:prstGeom prst="rect">
            <a:avLst/>
          </a:prstGeom>
          <a:solidFill>
            <a:srgbClr val="FFFFFF"/>
          </a:solidFill>
          <a:ln w="25400">
            <a:solidFill>
              <a:srgbClr val="85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9723397" y="911772"/>
            <a:ext cx="1100639" cy="221430"/>
          </a:xfrm>
          <a:prstGeom prst="rect">
            <a:avLst/>
          </a:prstGeom>
          <a:solidFill>
            <a:srgbClr val="C8C0CF"/>
          </a:solidFill>
          <a:ln w="12700">
            <a:solidFill>
              <a:srgbClr val="85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9729910" y="931310"/>
            <a:ext cx="1087613" cy="1823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75" b="1" i="0">
                <a:solidFill>
                  <a:srgbClr val="121212"/>
                </a:solidFill>
                <a:latin typeface="Times New Roman"/>
              </a:rPr>
              <a:t>hϕ Unmatched</a:t>
            </a:r>
          </a:p>
        </p:txBody>
      </p:sp>
      <p:sp>
        <p:nvSpPr>
          <p:cNvPr id="233" name="Oval 232"/>
          <p:cNvSpPr/>
          <p:nvPr/>
        </p:nvSpPr>
        <p:spPr>
          <a:xfrm>
            <a:off x="10029492" y="1172278"/>
            <a:ext cx="494961" cy="494961"/>
          </a:xfrm>
          <a:prstGeom prst="ellipse">
            <a:avLst/>
          </a:prstGeom>
          <a:solidFill>
            <a:srgbClr val="D6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9996929" y="1243917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452815" y="1269968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5-Point Star 235"/>
          <p:cNvSpPr/>
          <p:nvPr/>
        </p:nvSpPr>
        <p:spPr>
          <a:xfrm>
            <a:off x="10198821" y="1439297"/>
            <a:ext cx="156303" cy="156303"/>
          </a:xfrm>
          <a:prstGeom prst="star5">
            <a:avLst/>
          </a:prstGeom>
          <a:solidFill>
            <a:srgbClr val="F18835"/>
          </a:solidFill>
          <a:ln w="12700">
            <a:solidFill>
              <a:srgbClr val="95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9729910" y="1960309"/>
            <a:ext cx="1087613" cy="2018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1" i="1">
                <a:solidFill>
                  <a:srgbClr val="121212"/>
                </a:solidFill>
                <a:latin typeface="Times New Roman"/>
              </a:rPr>
              <a:t>OR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9716885" y="2175227"/>
            <a:ext cx="1113664" cy="1009461"/>
          </a:xfrm>
          <a:prstGeom prst="rect">
            <a:avLst/>
          </a:prstGeom>
          <a:solidFill>
            <a:srgbClr val="FFFFFF"/>
          </a:solidFill>
          <a:ln w="25400">
            <a:solidFill>
              <a:srgbClr val="85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9723397" y="2181740"/>
            <a:ext cx="1100639" cy="234455"/>
          </a:xfrm>
          <a:prstGeom prst="rect">
            <a:avLst/>
          </a:prstGeom>
          <a:solidFill>
            <a:srgbClr val="C8C0CF"/>
          </a:solidFill>
          <a:ln w="12700">
            <a:solidFill>
              <a:srgbClr val="85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9729910" y="2194765"/>
            <a:ext cx="1087613" cy="2084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75" b="1" i="0">
                <a:solidFill>
                  <a:srgbClr val="121212"/>
                </a:solidFill>
                <a:latin typeface="Arial"/>
              </a:rPr>
              <a:t>Length Uncover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9821087" y="2455271"/>
            <a:ext cx="247480" cy="91177"/>
          </a:xfrm>
          <a:prstGeom prst="roundRect">
            <a:avLst/>
          </a:prstGeom>
          <a:solidFill>
            <a:srgbClr val="C4B293"/>
          </a:solidFill>
          <a:ln w="8890">
            <a:solidFill>
              <a:srgbClr val="95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ounded Rectangle 241"/>
          <p:cNvSpPr/>
          <p:nvPr/>
        </p:nvSpPr>
        <p:spPr>
          <a:xfrm>
            <a:off x="9821087" y="2631113"/>
            <a:ext cx="377734" cy="91177"/>
          </a:xfrm>
          <a:prstGeom prst="roundRect">
            <a:avLst/>
          </a:prstGeom>
          <a:solidFill>
            <a:srgbClr val="C4B293"/>
          </a:solidFill>
          <a:ln w="8890">
            <a:solidFill>
              <a:srgbClr val="95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ounded Rectangle 242"/>
          <p:cNvSpPr/>
          <p:nvPr/>
        </p:nvSpPr>
        <p:spPr>
          <a:xfrm>
            <a:off x="9821087" y="2806955"/>
            <a:ext cx="566601" cy="91177"/>
          </a:xfrm>
          <a:prstGeom prst="roundRect">
            <a:avLst/>
          </a:prstGeom>
          <a:solidFill>
            <a:srgbClr val="C4B293"/>
          </a:solidFill>
          <a:ln w="8890">
            <a:solidFill>
              <a:srgbClr val="95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ounded Rectangle 243"/>
          <p:cNvSpPr/>
          <p:nvPr/>
        </p:nvSpPr>
        <p:spPr>
          <a:xfrm>
            <a:off x="9821087" y="2982797"/>
            <a:ext cx="735930" cy="91177"/>
          </a:xfrm>
          <a:prstGeom prst="roundRect">
            <a:avLst/>
          </a:prstGeom>
          <a:solidFill>
            <a:srgbClr val="FFE0C0"/>
          </a:solidFill>
          <a:ln w="8890">
            <a:solidFill>
              <a:srgbClr val="F18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0163002" y="3217252"/>
            <a:ext cx="221430" cy="221430"/>
          </a:xfrm>
          <a:prstGeom prst="ellipse">
            <a:avLst/>
          </a:prstGeom>
          <a:solidFill>
            <a:srgbClr val="F1883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10163002" y="3210740"/>
            <a:ext cx="221430" cy="2344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+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10876138" y="846645"/>
            <a:ext cx="1217866" cy="263762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E8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0928239" y="905259"/>
            <a:ext cx="1113664" cy="1009461"/>
          </a:xfrm>
          <a:prstGeom prst="rect">
            <a:avLst/>
          </a:prstGeom>
          <a:solidFill>
            <a:srgbClr val="FFFFFF"/>
          </a:solidFill>
          <a:ln w="25400">
            <a:solidFill>
              <a:srgbClr val="85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10934752" y="911772"/>
            <a:ext cx="1100639" cy="221430"/>
          </a:xfrm>
          <a:prstGeom prst="rect">
            <a:avLst/>
          </a:prstGeom>
          <a:solidFill>
            <a:srgbClr val="C8C0CF"/>
          </a:solidFill>
          <a:ln w="12700">
            <a:solidFill>
              <a:srgbClr val="85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10941264" y="931310"/>
            <a:ext cx="1087613" cy="1823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75" b="1" i="0">
                <a:solidFill>
                  <a:srgbClr val="121212"/>
                </a:solidFill>
                <a:latin typeface="Times New Roman"/>
              </a:rPr>
              <a:t>hϕ Matched</a:t>
            </a:r>
          </a:p>
        </p:txBody>
      </p:sp>
      <p:sp>
        <p:nvSpPr>
          <p:cNvPr id="251" name="Oval 250"/>
          <p:cNvSpPr/>
          <p:nvPr/>
        </p:nvSpPr>
        <p:spPr>
          <a:xfrm>
            <a:off x="11240847" y="1172278"/>
            <a:ext cx="494961" cy="494961"/>
          </a:xfrm>
          <a:prstGeom prst="ellipse">
            <a:avLst/>
          </a:prstGeom>
          <a:solidFill>
            <a:srgbClr val="D6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169207" y="1217866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227821" y="1517449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592530" y="1276480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657657" y="1517449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436226" y="1374170"/>
            <a:ext cx="91177" cy="91177"/>
          </a:xfrm>
          <a:prstGeom prst="ellipse">
            <a:avLst/>
          </a:prstGeom>
          <a:solidFill>
            <a:srgbClr val="C4B293"/>
          </a:solidFill>
          <a:ln w="381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5-Point Star 256"/>
          <p:cNvSpPr/>
          <p:nvPr/>
        </p:nvSpPr>
        <p:spPr>
          <a:xfrm>
            <a:off x="11410176" y="1432784"/>
            <a:ext cx="156303" cy="156303"/>
          </a:xfrm>
          <a:prstGeom prst="star5">
            <a:avLst/>
          </a:prstGeom>
          <a:solidFill>
            <a:srgbClr val="F18835"/>
          </a:solidFill>
          <a:ln w="12700">
            <a:solidFill>
              <a:srgbClr val="95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10941264" y="1960309"/>
            <a:ext cx="1087613" cy="2018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1" i="1">
                <a:solidFill>
                  <a:srgbClr val="121212"/>
                </a:solidFill>
                <a:latin typeface="Times New Roman"/>
              </a:rPr>
              <a:t>AND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0928239" y="2175227"/>
            <a:ext cx="1113664" cy="1009461"/>
          </a:xfrm>
          <a:prstGeom prst="rect">
            <a:avLst/>
          </a:prstGeom>
          <a:solidFill>
            <a:srgbClr val="FFFFFF"/>
          </a:solidFill>
          <a:ln w="25400">
            <a:solidFill>
              <a:srgbClr val="85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10934752" y="2181740"/>
            <a:ext cx="1100639" cy="234455"/>
          </a:xfrm>
          <a:prstGeom prst="rect">
            <a:avLst/>
          </a:prstGeom>
          <a:solidFill>
            <a:srgbClr val="C8C0CF"/>
          </a:solidFill>
          <a:ln w="12700">
            <a:solidFill>
              <a:srgbClr val="857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10941264" y="2194765"/>
            <a:ext cx="1087613" cy="2084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75" b="1" i="0">
                <a:solidFill>
                  <a:srgbClr val="121212"/>
                </a:solidFill>
                <a:latin typeface="Arial"/>
              </a:rPr>
              <a:t>Length Covered</a:t>
            </a:r>
          </a:p>
        </p:txBody>
      </p:sp>
      <p:sp>
        <p:nvSpPr>
          <p:cNvPr id="262" name="Rounded Rectangle 261"/>
          <p:cNvSpPr/>
          <p:nvPr/>
        </p:nvSpPr>
        <p:spPr>
          <a:xfrm>
            <a:off x="11032442" y="2455271"/>
            <a:ext cx="468911" cy="91177"/>
          </a:xfrm>
          <a:prstGeom prst="roundRect">
            <a:avLst/>
          </a:prstGeom>
          <a:solidFill>
            <a:srgbClr val="C4B293"/>
          </a:solidFill>
          <a:ln w="8890">
            <a:solidFill>
              <a:srgbClr val="95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ounded Rectangle 262"/>
          <p:cNvSpPr/>
          <p:nvPr/>
        </p:nvSpPr>
        <p:spPr>
          <a:xfrm>
            <a:off x="11032442" y="2631113"/>
            <a:ext cx="364708" cy="91177"/>
          </a:xfrm>
          <a:prstGeom prst="roundRect">
            <a:avLst/>
          </a:prstGeom>
          <a:solidFill>
            <a:srgbClr val="C4B293"/>
          </a:solidFill>
          <a:ln w="8890">
            <a:solidFill>
              <a:srgbClr val="95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ounded Rectangle 263"/>
          <p:cNvSpPr/>
          <p:nvPr/>
        </p:nvSpPr>
        <p:spPr>
          <a:xfrm>
            <a:off x="11032442" y="2806955"/>
            <a:ext cx="507987" cy="91177"/>
          </a:xfrm>
          <a:prstGeom prst="roundRect">
            <a:avLst/>
          </a:prstGeom>
          <a:solidFill>
            <a:srgbClr val="C4B293"/>
          </a:solidFill>
          <a:ln w="8890">
            <a:solidFill>
              <a:srgbClr val="95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ounded Rectangle 264"/>
          <p:cNvSpPr/>
          <p:nvPr/>
        </p:nvSpPr>
        <p:spPr>
          <a:xfrm>
            <a:off x="11032442" y="2982797"/>
            <a:ext cx="377734" cy="91177"/>
          </a:xfrm>
          <a:prstGeom prst="roundRect">
            <a:avLst/>
          </a:prstGeom>
          <a:solidFill>
            <a:srgbClr val="FFE0C0"/>
          </a:solidFill>
          <a:ln w="8890">
            <a:solidFill>
              <a:srgbClr val="F18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374356" y="3217252"/>
            <a:ext cx="221430" cy="221430"/>
          </a:xfrm>
          <a:prstGeom prst="ellipse">
            <a:avLst/>
          </a:prstGeom>
          <a:solidFill>
            <a:srgbClr val="5E893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>
            <a:off x="11427499" y="3327968"/>
            <a:ext cx="44287" cy="4650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11471786" y="3278146"/>
            <a:ext cx="77500" cy="96322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Rectangle 268"/>
          <p:cNvSpPr/>
          <p:nvPr/>
        </p:nvSpPr>
        <p:spPr>
          <a:xfrm>
            <a:off x="3764316" y="3399607"/>
            <a:ext cx="8420866" cy="214917"/>
          </a:xfrm>
          <a:prstGeom prst="rect">
            <a:avLst/>
          </a:prstGeom>
          <a:solidFill>
            <a:srgbClr val="A9D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6994594" y="3757803"/>
            <a:ext cx="5197100" cy="2240354"/>
          </a:xfrm>
          <a:prstGeom prst="rect">
            <a:avLst/>
          </a:prstGeom>
          <a:solidFill>
            <a:srgbClr val="FFFFFF"/>
          </a:solidFill>
          <a:ln w="2540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10680758" y="3796879"/>
            <a:ext cx="1510936" cy="31260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925" b="1" i="0">
                <a:solidFill>
                  <a:srgbClr val="121212"/>
                </a:solidFill>
                <a:latin typeface="Arial"/>
              </a:rPr>
              <a:t>Legend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7137872" y="3816417"/>
            <a:ext cx="3282379" cy="1120177"/>
          </a:xfrm>
          <a:prstGeom prst="rect">
            <a:avLst/>
          </a:prstGeom>
          <a:solidFill>
            <a:srgbClr val="DD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7189974" y="3842468"/>
            <a:ext cx="3191202" cy="156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0" i="1">
                <a:solidFill>
                  <a:srgbClr val="1F3963"/>
                </a:solidFill>
                <a:latin typeface="Arial"/>
              </a:rPr>
              <a:t>You are a math expert. You will be given a math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7189974" y="3992259"/>
            <a:ext cx="3191202" cy="156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0" i="1">
                <a:solidFill>
                  <a:srgbClr val="1F3963"/>
                </a:solidFill>
                <a:latin typeface="Arial"/>
              </a:rPr>
              <a:t>problem ... Q: ϕ(1,1)      p(1,0)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7189974" y="4142050"/>
            <a:ext cx="3191202" cy="156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0" i="1">
                <a:solidFill>
                  <a:srgbClr val="1F3963"/>
                </a:solidFill>
                <a:latin typeface="Arial"/>
              </a:rPr>
              <a:t>Answers from other agents are: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7189974" y="4291841"/>
            <a:ext cx="3191202" cy="156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0" i="1">
                <a:solidFill>
                  <a:srgbClr val="1F3963"/>
                </a:solidFill>
                <a:latin typeface="Arial"/>
              </a:rPr>
              <a:t>Agent 2 as a mathematical analyst: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7189974" y="4441632"/>
            <a:ext cx="3191202" cy="156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0" i="1">
                <a:solidFill>
                  <a:srgbClr val="1F3963"/>
                </a:solidFill>
                <a:latin typeface="Arial"/>
              </a:rPr>
              <a:t>the execution result is   ϕ(1,3)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7541657" y="4741214"/>
            <a:ext cx="553575" cy="162816"/>
          </a:xfrm>
          <a:prstGeom prst="rect">
            <a:avLst/>
          </a:prstGeom>
          <a:solidFill>
            <a:srgbClr val="8FAED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7548170" y="4747727"/>
            <a:ext cx="540550" cy="1497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75" b="1" i="0">
                <a:solidFill>
                  <a:srgbClr val="1F3963"/>
                </a:solidFill>
                <a:latin typeface="Arial"/>
              </a:rPr>
              <a:t>p(1,2)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8648809" y="4741214"/>
            <a:ext cx="553575" cy="162816"/>
          </a:xfrm>
          <a:prstGeom prst="rect">
            <a:avLst/>
          </a:prstGeom>
          <a:solidFill>
            <a:srgbClr val="8FAED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8655322" y="4747727"/>
            <a:ext cx="540550" cy="1497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75" b="1" i="0">
                <a:solidFill>
                  <a:srgbClr val="1F3963"/>
                </a:solidFill>
                <a:latin typeface="Arial"/>
              </a:rPr>
              <a:t>p(1,3)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9313100" y="4695626"/>
            <a:ext cx="911772" cy="2279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00" b="1" i="0">
                <a:solidFill>
                  <a:srgbClr val="121212"/>
                </a:solidFill>
                <a:latin typeface="Arial"/>
              </a:rPr>
              <a:t>Example</a:t>
            </a:r>
          </a:p>
        </p:txBody>
      </p:sp>
      <p:cxnSp>
        <p:nvCxnSpPr>
          <p:cNvPr id="283" name="Connector 282"/>
          <p:cNvCxnSpPr/>
          <p:nvPr/>
        </p:nvCxnSpPr>
        <p:spPr>
          <a:xfrm>
            <a:off x="7756575" y="4571885"/>
            <a:ext cx="0" cy="162817"/>
          </a:xfrm>
          <a:prstGeom prst="line">
            <a:avLst/>
          </a:prstGeom>
          <a:ln w="25400">
            <a:solidFill>
              <a:srgbClr val="8578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8889777" y="4571885"/>
            <a:ext cx="0" cy="162817"/>
          </a:xfrm>
          <a:prstGeom prst="line">
            <a:avLst/>
          </a:prstGeom>
          <a:ln w="25400">
            <a:solidFill>
              <a:srgbClr val="8578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5-Point Star 284"/>
          <p:cNvSpPr/>
          <p:nvPr/>
        </p:nvSpPr>
        <p:spPr>
          <a:xfrm>
            <a:off x="10400714" y="4226714"/>
            <a:ext cx="156303" cy="156303"/>
          </a:xfrm>
          <a:prstGeom prst="star5">
            <a:avLst/>
          </a:prstGeom>
          <a:solidFill>
            <a:srgbClr val="F18835"/>
          </a:solidFill>
          <a:ln w="12700">
            <a:solidFill>
              <a:srgbClr val="95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10661220" y="4174613"/>
            <a:ext cx="1465347" cy="156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0" i="0">
                <a:solidFill>
                  <a:srgbClr val="121212"/>
                </a:solidFill>
                <a:latin typeface="Arial"/>
              </a:rPr>
              <a:t>Queried (external input)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10661220" y="4330917"/>
            <a:ext cx="976898" cy="156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0" i="0">
                <a:solidFill>
                  <a:srgbClr val="121212"/>
                </a:solidFill>
                <a:latin typeface="Arial"/>
              </a:rPr>
              <a:t>Placeholder</a:t>
            </a:r>
          </a:p>
        </p:txBody>
      </p:sp>
      <p:sp>
        <p:nvSpPr>
          <p:cNvPr id="288" name="5-Point Star 287"/>
          <p:cNvSpPr/>
          <p:nvPr/>
        </p:nvSpPr>
        <p:spPr>
          <a:xfrm>
            <a:off x="10400714" y="4578398"/>
            <a:ext cx="156303" cy="156303"/>
          </a:xfrm>
          <a:prstGeom prst="star5">
            <a:avLst/>
          </a:prstGeom>
          <a:solidFill>
            <a:srgbClr val="A9D28C"/>
          </a:solidFill>
          <a:ln w="12700">
            <a:solidFill>
              <a:srgbClr val="95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10661220" y="4526297"/>
            <a:ext cx="1465347" cy="156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0" i="0">
                <a:solidFill>
                  <a:srgbClr val="121212"/>
                </a:solidFill>
                <a:latin typeface="Arial"/>
              </a:rPr>
              <a:t>Queried (response)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10661220" y="4682600"/>
            <a:ext cx="976898" cy="156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0" i="0">
                <a:solidFill>
                  <a:srgbClr val="121212"/>
                </a:solidFill>
                <a:latin typeface="Arial"/>
              </a:rPr>
              <a:t>Placeholder</a:t>
            </a:r>
          </a:p>
        </p:txBody>
      </p:sp>
      <p:sp>
        <p:nvSpPr>
          <p:cNvPr id="291" name="Oval 290"/>
          <p:cNvSpPr/>
          <p:nvPr/>
        </p:nvSpPr>
        <p:spPr>
          <a:xfrm>
            <a:off x="10413739" y="4897518"/>
            <a:ext cx="130253" cy="130253"/>
          </a:xfrm>
          <a:prstGeom prst="ellipse">
            <a:avLst/>
          </a:prstGeom>
          <a:solidFill>
            <a:srgbClr val="C4B293"/>
          </a:solidFill>
          <a:ln w="6350">
            <a:solidFill>
              <a:srgbClr val="C4B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10661220" y="4884493"/>
            <a:ext cx="1432784" cy="156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0" i="0">
                <a:solidFill>
                  <a:srgbClr val="121212"/>
                </a:solidFill>
                <a:latin typeface="Arial"/>
              </a:rPr>
              <a:t>KV Anchor of the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10661220" y="5027771"/>
            <a:ext cx="976898" cy="156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0" i="0">
                <a:solidFill>
                  <a:srgbClr val="121212"/>
                </a:solidFill>
                <a:latin typeface="Arial"/>
              </a:rPr>
              <a:t>Placeholder</a:t>
            </a:r>
          </a:p>
        </p:txBody>
      </p:sp>
      <p:sp>
        <p:nvSpPr>
          <p:cNvPr id="294" name="Oval 293"/>
          <p:cNvSpPr/>
          <p:nvPr/>
        </p:nvSpPr>
        <p:spPr>
          <a:xfrm>
            <a:off x="10361638" y="5158024"/>
            <a:ext cx="234455" cy="234455"/>
          </a:xfrm>
          <a:prstGeom prst="ellipse">
            <a:avLst/>
          </a:prstGeom>
          <a:solidFill>
            <a:srgbClr val="D6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10661220" y="5197100"/>
            <a:ext cx="1302531" cy="156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0" i="0">
                <a:solidFill>
                  <a:srgbClr val="121212"/>
                </a:solidFill>
                <a:latin typeface="Arial"/>
              </a:rPr>
              <a:t>Anchor Hit Range</a:t>
            </a:r>
          </a:p>
        </p:txBody>
      </p:sp>
      <p:sp>
        <p:nvSpPr>
          <p:cNvPr id="296" name="Oval 295"/>
          <p:cNvSpPr/>
          <p:nvPr/>
        </p:nvSpPr>
        <p:spPr>
          <a:xfrm>
            <a:off x="10368151" y="5444581"/>
            <a:ext cx="221430" cy="221430"/>
          </a:xfrm>
          <a:prstGeom prst="ellipse">
            <a:avLst/>
          </a:prstGeom>
          <a:solidFill>
            <a:srgbClr val="F1883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10368151" y="5438069"/>
            <a:ext cx="221430" cy="2344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+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0661220" y="5477145"/>
            <a:ext cx="1432784" cy="156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0" i="0">
                <a:solidFill>
                  <a:srgbClr val="121212"/>
                </a:solidFill>
                <a:latin typeface="Arial"/>
              </a:rPr>
              <a:t>Add as a New Anchor</a:t>
            </a:r>
          </a:p>
        </p:txBody>
      </p:sp>
      <p:sp>
        <p:nvSpPr>
          <p:cNvPr id="299" name="Oval 298"/>
          <p:cNvSpPr/>
          <p:nvPr/>
        </p:nvSpPr>
        <p:spPr>
          <a:xfrm>
            <a:off x="10368151" y="5705088"/>
            <a:ext cx="221430" cy="221430"/>
          </a:xfrm>
          <a:prstGeom prst="ellipse">
            <a:avLst/>
          </a:prstGeom>
          <a:solidFill>
            <a:srgbClr val="5E893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" name="Connector 299"/>
          <p:cNvCxnSpPr/>
          <p:nvPr/>
        </p:nvCxnSpPr>
        <p:spPr>
          <a:xfrm>
            <a:off x="10421294" y="5815803"/>
            <a:ext cx="44286" cy="4650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10465580" y="5765981"/>
            <a:ext cx="77501" cy="96322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TextBox 301"/>
          <p:cNvSpPr txBox="1"/>
          <p:nvPr/>
        </p:nvSpPr>
        <p:spPr>
          <a:xfrm>
            <a:off x="10661220" y="5737651"/>
            <a:ext cx="1432784" cy="156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5" b="0" i="0">
                <a:solidFill>
                  <a:srgbClr val="121212"/>
                </a:solidFill>
                <a:latin typeface="Arial"/>
              </a:rPr>
              <a:t>Sharable placeholder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7229050" y="4988695"/>
            <a:ext cx="527525" cy="227943"/>
          </a:xfrm>
          <a:prstGeom prst="rect">
            <a:avLst/>
          </a:prstGeom>
          <a:solidFill>
            <a:srgbClr val="FFE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7235562" y="4995208"/>
            <a:ext cx="514499" cy="21491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 i="1">
                <a:solidFill>
                  <a:srgbClr val="121212"/>
                </a:solidFill>
                <a:latin typeface="Times New Roman"/>
              </a:rPr>
              <a:t>ϕ(m,i)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7821701" y="4995208"/>
            <a:ext cx="2474809" cy="156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21212"/>
                </a:solidFill>
                <a:latin typeface="Arial"/>
              </a:rPr>
              <a:t>Estimated KV of the i-th (external input)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7821701" y="5138486"/>
            <a:ext cx="1693291" cy="156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21212"/>
                </a:solidFill>
                <a:latin typeface="Arial"/>
              </a:rPr>
              <a:t>Placeholder of Agent m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7229050" y="5333866"/>
            <a:ext cx="527525" cy="227943"/>
          </a:xfrm>
          <a:prstGeom prst="rect">
            <a:avLst/>
          </a:prstGeom>
          <a:solidFill>
            <a:srgbClr val="DCEFD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7235562" y="5340379"/>
            <a:ext cx="514499" cy="21491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 i="1">
                <a:solidFill>
                  <a:srgbClr val="121212"/>
                </a:solidFill>
                <a:latin typeface="Times New Roman"/>
              </a:rPr>
              <a:t>ϕ(m,i)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7821701" y="5340379"/>
            <a:ext cx="2474809" cy="156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21212"/>
                </a:solidFill>
                <a:latin typeface="Arial"/>
              </a:rPr>
              <a:t>Estimated KV of the i-th (response)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7821701" y="5483657"/>
            <a:ext cx="1693291" cy="156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21212"/>
                </a:solidFill>
                <a:latin typeface="Arial"/>
              </a:rPr>
              <a:t>Placeholder of Agent m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7229050" y="5679037"/>
            <a:ext cx="527525" cy="227943"/>
          </a:xfrm>
          <a:prstGeom prst="rect">
            <a:avLst/>
          </a:prstGeom>
          <a:solidFill>
            <a:srgbClr val="163B7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7235562" y="5685550"/>
            <a:ext cx="514499" cy="21491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 i="1">
                <a:solidFill>
                  <a:srgbClr val="FFFFFF"/>
                </a:solidFill>
                <a:latin typeface="Times New Roman"/>
              </a:rPr>
              <a:t>p(m,i)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7821701" y="5685550"/>
            <a:ext cx="2149177" cy="156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21212"/>
                </a:solidFill>
                <a:latin typeface="Arial"/>
              </a:rPr>
              <a:t>Estimated KV of the i-th Prefix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7821701" y="5828828"/>
            <a:ext cx="1693291" cy="156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21212"/>
                </a:solidFill>
                <a:latin typeface="Arial"/>
              </a:rPr>
              <a:t>Segment of Agent 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KVCOMM Online Cross-context KV-cache Communication for Efficient LLM-based Multi-agent System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693" cy="59981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