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541496" cy="81381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584" y="228600"/>
            <a:ext cx="4425696" cy="73243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45368" y="182880"/>
            <a:ext cx="5586984" cy="5212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64824" y="338328"/>
            <a:ext cx="4133088" cy="2834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64824" y="3364992"/>
            <a:ext cx="4133088" cy="187451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356848" y="6025896"/>
            <a:ext cx="4736592" cy="14996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283464" y="512064"/>
            <a:ext cx="722376" cy="1078992"/>
          </a:xfrm>
          <a:prstGeom prst="parallelogram">
            <a:avLst/>
          </a:prstGeom>
          <a:solidFill>
            <a:srgbClr val="DDEDE3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329184" y="411480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29184" y="521208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9184" y="630936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29184" y="740664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29184" y="850392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29184" y="960120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9184" y="1069848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9184" y="1179576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344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7512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6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264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arallelogram 22"/>
          <p:cNvSpPr/>
          <p:nvPr/>
        </p:nvSpPr>
        <p:spPr>
          <a:xfrm>
            <a:off x="438912" y="512064"/>
            <a:ext cx="722376" cy="1078992"/>
          </a:xfrm>
          <a:prstGeom prst="parallelogram">
            <a:avLst/>
          </a:prstGeom>
          <a:solidFill>
            <a:srgbClr val="DDEDE3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484632" y="411480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84632" y="521208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4632" y="630936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84632" y="740664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84632" y="850392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84632" y="960120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84632" y="1069848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84632" y="1179576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1208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1792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2376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2960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23544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4128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24712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arallelogram 38"/>
          <p:cNvSpPr/>
          <p:nvPr/>
        </p:nvSpPr>
        <p:spPr>
          <a:xfrm>
            <a:off x="594360" y="512064"/>
            <a:ext cx="722376" cy="1078992"/>
          </a:xfrm>
          <a:prstGeom prst="parallelogram">
            <a:avLst/>
          </a:prstGeom>
          <a:solidFill>
            <a:srgbClr val="DDEDE3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640080" y="411480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40080" y="521208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40080" y="630936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40080" y="740664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40080" y="850392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40080" y="960120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40080" y="1069848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40080" y="1179576"/>
            <a:ext cx="640080" cy="22860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76656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77240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7824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8408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8992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79576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80160" y="722376"/>
            <a:ext cx="0" cy="676656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484632" y="896112"/>
            <a:ext cx="128016" cy="118872"/>
          </a:xfrm>
          <a:prstGeom prst="rect">
            <a:avLst/>
          </a:prstGeom>
          <a:solidFill>
            <a:srgbClr val="31A83C"/>
          </a:solidFill>
          <a:ln w="2540">
            <a:solidFill>
              <a:srgbClr val="31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804672"/>
            <a:ext cx="128016" cy="118872"/>
          </a:xfrm>
          <a:prstGeom prst="rect">
            <a:avLst/>
          </a:prstGeom>
          <a:solidFill>
            <a:srgbClr val="F3DD27"/>
          </a:solidFill>
          <a:ln w="2540">
            <a:solidFill>
              <a:srgbClr val="F3D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" y="713232"/>
            <a:ext cx="128016" cy="118872"/>
          </a:xfrm>
          <a:prstGeom prst="rect">
            <a:avLst/>
          </a:prstGeom>
          <a:solidFill>
            <a:srgbClr val="35A85A"/>
          </a:solidFill>
          <a:ln w="2540">
            <a:solidFill>
              <a:srgbClr val="35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0352" y="1106424"/>
            <a:ext cx="128016" cy="118872"/>
          </a:xfrm>
          <a:prstGeom prst="rect">
            <a:avLst/>
          </a:prstGeom>
          <a:solidFill>
            <a:srgbClr val="34B569"/>
          </a:solidFill>
          <a:ln w="2540">
            <a:solidFill>
              <a:srgbClr val="34B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5800" y="1024128"/>
            <a:ext cx="128016" cy="118872"/>
          </a:xfrm>
          <a:prstGeom prst="rect">
            <a:avLst/>
          </a:prstGeom>
          <a:solidFill>
            <a:srgbClr val="8DD34F"/>
          </a:solidFill>
          <a:ln w="2540">
            <a:solidFill>
              <a:srgbClr val="8DD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371600" y="969264"/>
            <a:ext cx="429768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1737360" y="905256"/>
            <a:ext cx="128016" cy="128016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19656" y="411480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828800" y="566928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956816" y="512064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21992" y="411480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2231136" y="566928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2359152" y="512064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615184" y="411480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624328" y="566928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2752344" y="512064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999232" y="411480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3008376" y="566928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3136392" y="512064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819656" y="795528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828800" y="950976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956816" y="896112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221992" y="795528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231136" y="950976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2359152" y="896112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615184" y="795528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2624328" y="950976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2752344" y="896112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999232" y="795528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3008376" y="950976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3136392" y="896112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19656" y="1179576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828800" y="1335024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1956816" y="1280160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221992" y="1179576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2231136" y="1335024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359152" y="1280160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615184" y="1179576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2624328" y="1335024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2752344" y="1280160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999232" y="1179576"/>
            <a:ext cx="384048" cy="310896"/>
          </a:xfrm>
          <a:prstGeom prst="ellipse">
            <a:avLst/>
          </a:prstGeom>
          <a:solidFill>
            <a:srgbClr val="FFCCD7"/>
          </a:solidFill>
          <a:ln w="6350">
            <a:solidFill>
              <a:srgbClr val="FF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3008376" y="1335024"/>
            <a:ext cx="365760" cy="0"/>
          </a:xfrm>
          <a:prstGeom prst="line">
            <a:avLst/>
          </a:prstGeom>
          <a:ln w="16510">
            <a:solidFill>
              <a:srgbClr val="0F8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136392" y="1280160"/>
            <a:ext cx="109728" cy="109728"/>
          </a:xfrm>
          <a:prstGeom prst="ellipse">
            <a:avLst/>
          </a:prstGeom>
          <a:solidFill>
            <a:srgbClr val="EBC9C9"/>
          </a:solidFill>
          <a:ln w="15240">
            <a:solidFill>
              <a:srgbClr val="5F7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3374136" y="1773936"/>
            <a:ext cx="429768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5400000">
            <a:off x="3739896" y="1709928"/>
            <a:ext cx="128016" cy="128016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ube 99"/>
          <p:cNvSpPr/>
          <p:nvPr/>
        </p:nvSpPr>
        <p:spPr>
          <a:xfrm>
            <a:off x="4087368" y="859536"/>
            <a:ext cx="256032" cy="256032"/>
          </a:xfrm>
          <a:prstGeom prst="cube">
            <a:avLst/>
          </a:prstGeom>
          <a:solidFill>
            <a:srgbClr val="4F94DB"/>
          </a:solidFill>
          <a:ln w="10160">
            <a:solidFill>
              <a:srgbClr val="3B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ube 100"/>
          <p:cNvSpPr/>
          <p:nvPr/>
        </p:nvSpPr>
        <p:spPr>
          <a:xfrm>
            <a:off x="4087368" y="1179576"/>
            <a:ext cx="256032" cy="256032"/>
          </a:xfrm>
          <a:prstGeom prst="cube">
            <a:avLst/>
          </a:prstGeom>
          <a:solidFill>
            <a:srgbClr val="4F94DB"/>
          </a:solidFill>
          <a:ln w="10160">
            <a:solidFill>
              <a:srgbClr val="3B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ube 101"/>
          <p:cNvSpPr/>
          <p:nvPr/>
        </p:nvSpPr>
        <p:spPr>
          <a:xfrm>
            <a:off x="4087368" y="1499616"/>
            <a:ext cx="256032" cy="256032"/>
          </a:xfrm>
          <a:prstGeom prst="cube">
            <a:avLst/>
          </a:prstGeom>
          <a:solidFill>
            <a:srgbClr val="4F94DB"/>
          </a:solidFill>
          <a:ln w="10160">
            <a:solidFill>
              <a:srgbClr val="3B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Cube 102"/>
          <p:cNvSpPr/>
          <p:nvPr/>
        </p:nvSpPr>
        <p:spPr>
          <a:xfrm>
            <a:off x="4087368" y="1819656"/>
            <a:ext cx="256032" cy="256032"/>
          </a:xfrm>
          <a:prstGeom prst="cube">
            <a:avLst/>
          </a:prstGeom>
          <a:solidFill>
            <a:srgbClr val="4F94DB"/>
          </a:solidFill>
          <a:ln w="10160">
            <a:solidFill>
              <a:srgbClr val="3B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ube 103"/>
          <p:cNvSpPr/>
          <p:nvPr/>
        </p:nvSpPr>
        <p:spPr>
          <a:xfrm>
            <a:off x="4087368" y="2139696"/>
            <a:ext cx="256032" cy="256032"/>
          </a:xfrm>
          <a:prstGeom prst="cube">
            <a:avLst/>
          </a:prstGeom>
          <a:solidFill>
            <a:srgbClr val="4F94DB"/>
          </a:solidFill>
          <a:ln w="10160">
            <a:solidFill>
              <a:srgbClr val="3B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23944" y="2441448"/>
            <a:ext cx="25603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6032" y="1901952"/>
            <a:ext cx="1005840" cy="850392"/>
          </a:xfrm>
          <a:prstGeom prst="rect">
            <a:avLst/>
          </a:prstGeom>
          <a:solidFill>
            <a:srgbClr val="FFFFFF"/>
          </a:solidFill>
          <a:ln w="381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57200" y="2002536"/>
            <a:ext cx="1005840" cy="850392"/>
          </a:xfrm>
          <a:prstGeom prst="rect">
            <a:avLst/>
          </a:prstGeom>
          <a:solidFill>
            <a:srgbClr val="FFFFFF"/>
          </a:solidFill>
          <a:ln w="381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85800" y="1865376"/>
            <a:ext cx="1005840" cy="850392"/>
          </a:xfrm>
          <a:prstGeom prst="rect">
            <a:avLst/>
          </a:prstGeom>
          <a:solidFill>
            <a:srgbClr val="FFFFFF"/>
          </a:solidFill>
          <a:ln w="381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484632" y="2066544"/>
            <a:ext cx="192024" cy="155448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76656" y="2002536"/>
            <a:ext cx="219456" cy="64008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96112" y="2002536"/>
            <a:ext cx="192024" cy="173736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88136" y="1993392"/>
            <a:ext cx="182880" cy="182880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1179576" y="1993392"/>
            <a:ext cx="91440" cy="438912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950976" y="2350008"/>
            <a:ext cx="228600" cy="82296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749808" y="2350008"/>
            <a:ext cx="201168" cy="182880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493776" y="2459736"/>
            <a:ext cx="256032" cy="73152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338328" y="2221992"/>
            <a:ext cx="155448" cy="237744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38328" y="2221992"/>
            <a:ext cx="146304" cy="0"/>
          </a:xfrm>
          <a:prstGeom prst="line">
            <a:avLst/>
          </a:prstGeom>
          <a:ln w="25400">
            <a:solidFill>
              <a:srgbClr val="7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429768" y="2167128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21792" y="2011680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33272" y="2121408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216152" y="1938528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24712" y="2377440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96112" y="2295144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94944" y="2478024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38912" y="2404872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83464" y="2167128"/>
            <a:ext cx="109728" cy="109728"/>
          </a:xfrm>
          <a:prstGeom prst="ellipse">
            <a:avLst/>
          </a:prstGeom>
          <a:solidFill>
            <a:srgbClr val="A9D58B"/>
          </a:solidFill>
          <a:ln w="8890">
            <a:solidFill>
              <a:srgbClr val="7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1389888" y="2322576"/>
            <a:ext cx="420624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Isosceles Triangle 129"/>
          <p:cNvSpPr/>
          <p:nvPr/>
        </p:nvSpPr>
        <p:spPr>
          <a:xfrm rot="5400000">
            <a:off x="1746504" y="2258568"/>
            <a:ext cx="128016" cy="128016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865376" y="2084832"/>
            <a:ext cx="566928" cy="621792"/>
          </a:xfrm>
          <a:prstGeom prst="ellipse">
            <a:avLst/>
          </a:prstGeom>
          <a:solidFill>
            <a:srgbClr val="CAE9F7"/>
          </a:solidFill>
          <a:ln w="6350">
            <a:solidFill>
              <a:srgbClr val="CA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240280" y="1828800"/>
            <a:ext cx="566928" cy="621792"/>
          </a:xfrm>
          <a:prstGeom prst="ellipse">
            <a:avLst/>
          </a:prstGeom>
          <a:solidFill>
            <a:srgbClr val="CAE9F7"/>
          </a:solidFill>
          <a:ln w="6350">
            <a:solidFill>
              <a:srgbClr val="CA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2624328" y="2185416"/>
            <a:ext cx="566928" cy="621792"/>
          </a:xfrm>
          <a:prstGeom prst="ellipse">
            <a:avLst/>
          </a:prstGeom>
          <a:solidFill>
            <a:srgbClr val="CAE9F7"/>
          </a:solidFill>
          <a:ln w="6350">
            <a:solidFill>
              <a:srgbClr val="CA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907792" y="1801368"/>
            <a:ext cx="566928" cy="621792"/>
          </a:xfrm>
          <a:prstGeom prst="ellipse">
            <a:avLst/>
          </a:prstGeom>
          <a:solidFill>
            <a:srgbClr val="CAE9F7"/>
          </a:solidFill>
          <a:ln w="6350">
            <a:solidFill>
              <a:srgbClr val="CA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 flipV="1">
            <a:off x="1956816" y="2057400"/>
            <a:ext cx="182880" cy="320040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139696" y="2057400"/>
            <a:ext cx="210312" cy="292608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350008" y="2139696"/>
            <a:ext cx="228600" cy="210312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2487168" y="2139696"/>
            <a:ext cx="91440" cy="457200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487168" y="2377440"/>
            <a:ext cx="420624" cy="219456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907792" y="2011680"/>
            <a:ext cx="100584" cy="365760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008376" y="2011680"/>
            <a:ext cx="228600" cy="128016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236976" y="2139696"/>
            <a:ext cx="0" cy="466344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3044952" y="2606040"/>
            <a:ext cx="192024" cy="9144"/>
          </a:xfrm>
          <a:prstGeom prst="line">
            <a:avLst/>
          </a:prstGeom>
          <a:ln w="25400">
            <a:solidFill>
              <a:srgbClr val="3C9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1901952" y="2322576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084832" y="2002536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2295144" y="2295144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523744" y="2084832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432304" y="2542032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852928" y="2322576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953512" y="1956816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182112" y="2084832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182112" y="2551176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2990088" y="2560320"/>
            <a:ext cx="109728" cy="109728"/>
          </a:xfrm>
          <a:prstGeom prst="ellipse">
            <a:avLst/>
          </a:prstGeom>
          <a:solidFill>
            <a:srgbClr val="60BBA0"/>
          </a:solidFill>
          <a:ln w="8890">
            <a:solidFill>
              <a:srgbClr val="2A8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47472" y="3236976"/>
            <a:ext cx="1207008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0">
                <a:solidFill>
                  <a:srgbClr val="000000"/>
                </a:solidFill>
                <a:latin typeface="Times New Roman"/>
              </a:rPr>
              <a:t>Different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0">
                <a:solidFill>
                  <a:srgbClr val="000000"/>
                </a:solidFill>
                <a:latin typeface="Times New Roman"/>
              </a:rPr>
              <a:t>data types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889504" y="3236976"/>
            <a:ext cx="1344168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0">
                <a:solidFill>
                  <a:srgbClr val="000000"/>
                </a:solidFill>
                <a:latin typeface="Times New Roman"/>
              </a:rPr>
              <a:t>Sequential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0">
                <a:solidFill>
                  <a:srgbClr val="000000"/>
                </a:solidFill>
                <a:latin typeface="Times New Roman"/>
              </a:rPr>
              <a:t>format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09728" y="4197096"/>
            <a:ext cx="4407408" cy="0"/>
          </a:xfrm>
          <a:prstGeom prst="line">
            <a:avLst/>
          </a:prstGeom>
          <a:ln w="2540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7" name="Picture 156" descr="samp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462272"/>
            <a:ext cx="1133856" cy="969264"/>
          </a:xfrm>
          <a:prstGeom prst="rect">
            <a:avLst/>
          </a:prstGeom>
        </p:spPr>
      </p:pic>
      <p:pic>
        <p:nvPicPr>
          <p:cNvPr id="158" name="Picture 157" descr="sampl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4462272"/>
            <a:ext cx="1115568" cy="969264"/>
          </a:xfrm>
          <a:prstGeom prst="rect">
            <a:avLst/>
          </a:prstGeom>
        </p:spPr>
      </p:pic>
      <p:pic>
        <p:nvPicPr>
          <p:cNvPr id="159" name="Picture 158" descr="sampl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4462272"/>
            <a:ext cx="1024128" cy="969264"/>
          </a:xfrm>
          <a:prstGeom prst="rect">
            <a:avLst/>
          </a:prstGeom>
        </p:spPr>
      </p:pic>
      <p:pic>
        <p:nvPicPr>
          <p:cNvPr id="160" name="Picture 159" descr="sampl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5650992"/>
            <a:ext cx="1133856" cy="969264"/>
          </a:xfrm>
          <a:prstGeom prst="rect">
            <a:avLst/>
          </a:prstGeom>
        </p:spPr>
      </p:pic>
      <p:pic>
        <p:nvPicPr>
          <p:cNvPr id="161" name="Picture 160" descr="sampl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936" y="5650992"/>
            <a:ext cx="1115568" cy="969264"/>
          </a:xfrm>
          <a:prstGeom prst="rect">
            <a:avLst/>
          </a:prstGeom>
        </p:spPr>
      </p:pic>
      <p:pic>
        <p:nvPicPr>
          <p:cNvPr id="162" name="Picture 161" descr="sample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1256" y="5650992"/>
            <a:ext cx="1042416" cy="969264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58952" y="6784848"/>
            <a:ext cx="279806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Multiple Domains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58952" y="7159752"/>
            <a:ext cx="279806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Multiple Cities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949440" y="64008"/>
            <a:ext cx="10972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0" i="0">
                <a:solidFill>
                  <a:srgbClr val="000000"/>
                </a:solidFill>
                <a:latin typeface="Times New Roman"/>
              </a:rPr>
              <a:t>Output</a:t>
            </a:r>
          </a:p>
        </p:txBody>
      </p:sp>
      <p:cxnSp>
        <p:nvCxnSpPr>
          <p:cNvPr id="166" name="Connector 165"/>
          <p:cNvCxnSpPr/>
          <p:nvPr/>
        </p:nvCxnSpPr>
        <p:spPr>
          <a:xfrm flipV="1">
            <a:off x="7488936" y="512064"/>
            <a:ext cx="0" cy="384048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Isosceles Triangle 166"/>
          <p:cNvSpPr/>
          <p:nvPr/>
        </p:nvSpPr>
        <p:spPr>
          <a:xfrm>
            <a:off x="7452360" y="475488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5120640" y="896112"/>
            <a:ext cx="4718304" cy="512064"/>
          </a:xfrm>
          <a:prstGeom prst="roundRect">
            <a:avLst>
              <a:gd name="adj" fmla="val 14000"/>
            </a:avLst>
          </a:prstGeom>
          <a:solidFill>
            <a:srgbClr val="E8E8E8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035040" y="987552"/>
            <a:ext cx="2889504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>
                <a:solidFill>
                  <a:srgbClr val="000000"/>
                </a:solidFill>
                <a:latin typeface="Times New Roman"/>
              </a:rPr>
              <a:t>Reshape</a:t>
            </a:r>
          </a:p>
        </p:txBody>
      </p:sp>
      <p:pic>
        <p:nvPicPr>
          <p:cNvPr id="170" name="Picture 169" descr="noise_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1682496"/>
            <a:ext cx="493776" cy="502920"/>
          </a:xfrm>
          <a:prstGeom prst="rect">
            <a:avLst/>
          </a:prstGeom>
        </p:spPr>
      </p:pic>
      <p:cxnSp>
        <p:nvCxnSpPr>
          <p:cNvPr id="171" name="Connector 170"/>
          <p:cNvCxnSpPr/>
          <p:nvPr/>
        </p:nvCxnSpPr>
        <p:spPr>
          <a:xfrm>
            <a:off x="5504688" y="2185416"/>
            <a:ext cx="0" cy="27432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2" name="Picture 171" descr="noise_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5312" y="1682496"/>
            <a:ext cx="493776" cy="502920"/>
          </a:xfrm>
          <a:prstGeom prst="rect">
            <a:avLst/>
          </a:prstGeom>
        </p:spPr>
      </p:pic>
      <p:cxnSp>
        <p:nvCxnSpPr>
          <p:cNvPr id="173" name="Connector 172"/>
          <p:cNvCxnSpPr/>
          <p:nvPr/>
        </p:nvCxnSpPr>
        <p:spPr>
          <a:xfrm>
            <a:off x="6172200" y="2185416"/>
            <a:ext cx="0" cy="27432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" name="Picture 173" descr="noise_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2824" y="1682496"/>
            <a:ext cx="493776" cy="502920"/>
          </a:xfrm>
          <a:prstGeom prst="rect">
            <a:avLst/>
          </a:prstGeom>
        </p:spPr>
      </p:pic>
      <p:cxnSp>
        <p:nvCxnSpPr>
          <p:cNvPr id="175" name="Connector 174"/>
          <p:cNvCxnSpPr/>
          <p:nvPr/>
        </p:nvCxnSpPr>
        <p:spPr>
          <a:xfrm>
            <a:off x="6839712" y="2185416"/>
            <a:ext cx="0" cy="27432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6" name="Picture 175" descr="noise_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0336" y="1682496"/>
            <a:ext cx="493776" cy="502920"/>
          </a:xfrm>
          <a:prstGeom prst="rect">
            <a:avLst/>
          </a:prstGeom>
        </p:spPr>
      </p:pic>
      <p:cxnSp>
        <p:nvCxnSpPr>
          <p:cNvPr id="177" name="Connector 176"/>
          <p:cNvCxnSpPr/>
          <p:nvPr/>
        </p:nvCxnSpPr>
        <p:spPr>
          <a:xfrm>
            <a:off x="7507224" y="2185416"/>
            <a:ext cx="0" cy="27432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8" name="Picture 177" descr="noise_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7848" y="1682496"/>
            <a:ext cx="493776" cy="502920"/>
          </a:xfrm>
          <a:prstGeom prst="rect">
            <a:avLst/>
          </a:prstGeom>
        </p:spPr>
      </p:pic>
      <p:cxnSp>
        <p:nvCxnSpPr>
          <p:cNvPr id="179" name="Connector 178"/>
          <p:cNvCxnSpPr/>
          <p:nvPr/>
        </p:nvCxnSpPr>
        <p:spPr>
          <a:xfrm>
            <a:off x="8174736" y="2185416"/>
            <a:ext cx="0" cy="27432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0" name="Picture 179" descr="noise_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5360" y="1682496"/>
            <a:ext cx="493776" cy="502920"/>
          </a:xfrm>
          <a:prstGeom prst="rect">
            <a:avLst/>
          </a:prstGeom>
        </p:spPr>
      </p:pic>
      <p:cxnSp>
        <p:nvCxnSpPr>
          <p:cNvPr id="181" name="Connector 180"/>
          <p:cNvCxnSpPr/>
          <p:nvPr/>
        </p:nvCxnSpPr>
        <p:spPr>
          <a:xfrm>
            <a:off x="8842248" y="2185416"/>
            <a:ext cx="0" cy="27432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2" name="Picture 181" descr="noise_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2872" y="1682496"/>
            <a:ext cx="493776" cy="502920"/>
          </a:xfrm>
          <a:prstGeom prst="rect">
            <a:avLst/>
          </a:prstGeom>
        </p:spPr>
      </p:pic>
      <p:cxnSp>
        <p:nvCxnSpPr>
          <p:cNvPr id="183" name="Connector 182"/>
          <p:cNvCxnSpPr/>
          <p:nvPr/>
        </p:nvCxnSpPr>
        <p:spPr>
          <a:xfrm>
            <a:off x="9509760" y="2185416"/>
            <a:ext cx="0" cy="27432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488936" y="1408176"/>
            <a:ext cx="0" cy="27432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4"/>
          <p:cNvSpPr/>
          <p:nvPr/>
        </p:nvSpPr>
        <p:spPr>
          <a:xfrm>
            <a:off x="5001768" y="2459736"/>
            <a:ext cx="5120640" cy="1325880"/>
          </a:xfrm>
          <a:prstGeom prst="roundRect">
            <a:avLst>
              <a:gd name="adj" fmla="val 14000"/>
            </a:avLst>
          </a:prstGeom>
          <a:solidFill>
            <a:srgbClr val="D7F3BD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5001768" y="3483864"/>
            <a:ext cx="5120640" cy="301752"/>
          </a:xfrm>
          <a:prstGeom prst="roundRect">
            <a:avLst>
              <a:gd name="adj" fmla="val 14000"/>
            </a:avLst>
          </a:prstGeom>
          <a:solidFill>
            <a:srgbClr val="F48688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257800" y="2880360"/>
            <a:ext cx="461772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>
                <a:solidFill>
                  <a:srgbClr val="000000"/>
                </a:solidFill>
                <a:latin typeface="Times New Roman"/>
              </a:rPr>
              <a:t>Urban Diffusion Transformer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4526280" y="3895344"/>
            <a:ext cx="466344" cy="1243584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Isosceles Triangle 188"/>
          <p:cNvSpPr/>
          <p:nvPr/>
        </p:nvSpPr>
        <p:spPr>
          <a:xfrm rot="9566637">
            <a:off x="4956048" y="5102352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4992624" y="4599432"/>
            <a:ext cx="2788920" cy="11247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120640" y="4818888"/>
            <a:ext cx="2542032" cy="804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Spatio-temporal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patching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7973568" y="4581144"/>
            <a:ext cx="2121408" cy="1133856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138160" y="4809744"/>
            <a:ext cx="1810512" cy="804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Embedding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layer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8074152" y="6345936"/>
            <a:ext cx="1947672" cy="1124712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229600" y="6547104"/>
            <a:ext cx="1627632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Timestep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4992624" y="6345936"/>
            <a:ext cx="2770632" cy="11247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257800" y="6547104"/>
            <a:ext cx="224028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Noisy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Times New Roman"/>
              </a:rPr>
              <a:t>ST data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6373368" y="3785615"/>
            <a:ext cx="0" cy="813817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025128" y="3785615"/>
            <a:ext cx="0" cy="795529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199"/>
          <p:cNvSpPr/>
          <p:nvPr/>
        </p:nvSpPr>
        <p:spPr>
          <a:xfrm>
            <a:off x="7040880" y="3986784"/>
            <a:ext cx="1353312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150608" y="4014215"/>
            <a:ext cx="112471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>
                <a:solidFill>
                  <a:srgbClr val="000000"/>
                </a:solidFill>
                <a:latin typeface="Times New Roman"/>
              </a:rPr>
              <a:t>Concat</a:t>
            </a:r>
          </a:p>
        </p:txBody>
      </p:sp>
      <p:cxnSp>
        <p:nvCxnSpPr>
          <p:cNvPr id="202" name="Connector 201"/>
          <p:cNvCxnSpPr/>
          <p:nvPr/>
        </p:nvCxnSpPr>
        <p:spPr>
          <a:xfrm flipH="1">
            <a:off x="6373368" y="4178808"/>
            <a:ext cx="667512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Isosceles Triangle 202"/>
          <p:cNvSpPr/>
          <p:nvPr/>
        </p:nvSpPr>
        <p:spPr>
          <a:xfrm rot="16200000">
            <a:off x="6336792" y="4142232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>
            <a:off x="8394192" y="4178808"/>
            <a:ext cx="493776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8887968" y="4069080"/>
            <a:ext cx="0" cy="109728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887968" y="4069080"/>
            <a:ext cx="237744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125712" y="4069080"/>
            <a:ext cx="0" cy="109728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373368" y="5724144"/>
            <a:ext cx="0" cy="621792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25128" y="5715000"/>
            <a:ext cx="0" cy="384048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8805672" y="6099048"/>
            <a:ext cx="219456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>
            <a:off x="6373368" y="6099048"/>
            <a:ext cx="2432304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Isosceles Triangle 211"/>
          <p:cNvSpPr/>
          <p:nvPr/>
        </p:nvSpPr>
        <p:spPr>
          <a:xfrm rot="16200000">
            <a:off x="6336792" y="6062472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Connector 212"/>
          <p:cNvCxnSpPr/>
          <p:nvPr/>
        </p:nvCxnSpPr>
        <p:spPr>
          <a:xfrm>
            <a:off x="7763256" y="6903720"/>
            <a:ext cx="3593592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Isosceles Triangle 213"/>
          <p:cNvSpPr/>
          <p:nvPr/>
        </p:nvSpPr>
        <p:spPr>
          <a:xfrm rot="5400000">
            <a:off x="11320272" y="6867144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5" name="Connector 214"/>
          <p:cNvCxnSpPr/>
          <p:nvPr/>
        </p:nvCxnSpPr>
        <p:spPr>
          <a:xfrm>
            <a:off x="4526280" y="6903720"/>
            <a:ext cx="466344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Isosceles Triangle 215"/>
          <p:cNvSpPr/>
          <p:nvPr/>
        </p:nvSpPr>
        <p:spPr>
          <a:xfrm rot="5400000">
            <a:off x="4956048" y="6867144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5590520" y="1234440"/>
            <a:ext cx="54864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Times New Roman"/>
              </a:rPr>
              <a:t>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Times New Roman"/>
              </a:rPr>
              <a:t>Data</a:t>
            </a:r>
          </a:p>
        </p:txBody>
      </p:sp>
      <p:cxnSp>
        <p:nvCxnSpPr>
          <p:cNvPr id="218" name="Connector 217"/>
          <p:cNvCxnSpPr/>
          <p:nvPr/>
        </p:nvCxnSpPr>
        <p:spPr>
          <a:xfrm flipH="1">
            <a:off x="15316200" y="1572768"/>
            <a:ext cx="374904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Isosceles Triangle 218"/>
          <p:cNvSpPr/>
          <p:nvPr/>
        </p:nvSpPr>
        <p:spPr>
          <a:xfrm rot="16200000">
            <a:off x="15279624" y="1536192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Cloud 219"/>
          <p:cNvSpPr/>
          <p:nvPr/>
        </p:nvSpPr>
        <p:spPr>
          <a:xfrm>
            <a:off x="11420856" y="457200"/>
            <a:ext cx="204094" cy="421355"/>
          </a:xfrm>
          <a:prstGeom prst="cloud">
            <a:avLst/>
          </a:prstGeom>
          <a:solidFill>
            <a:srgbClr val="FFFFFF"/>
          </a:solidFill>
          <a:ln w="34290">
            <a:solidFill>
              <a:srgbClr val="2F2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Cloud 220"/>
          <p:cNvSpPr/>
          <p:nvPr/>
        </p:nvSpPr>
        <p:spPr>
          <a:xfrm>
            <a:off x="11611782" y="457200"/>
            <a:ext cx="204094" cy="421355"/>
          </a:xfrm>
          <a:prstGeom prst="cloud">
            <a:avLst/>
          </a:prstGeom>
          <a:solidFill>
            <a:srgbClr val="FFFFFF"/>
          </a:solidFill>
          <a:ln w="34290">
            <a:solidFill>
              <a:srgbClr val="2F2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11618366" y="483534"/>
            <a:ext cx="0" cy="381854"/>
          </a:xfrm>
          <a:prstGeom prst="line">
            <a:avLst/>
          </a:prstGeom>
          <a:ln w="27940">
            <a:solidFill>
              <a:srgbClr val="2F2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1513027" y="621792"/>
            <a:ext cx="59253" cy="52669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11532778" y="674461"/>
            <a:ext cx="39502" cy="79004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>
            <a:off x="11664452" y="621792"/>
            <a:ext cx="59253" cy="52669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1664452" y="674461"/>
            <a:ext cx="39502" cy="79004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Rounded Rectangle 226"/>
          <p:cNvSpPr/>
          <p:nvPr/>
        </p:nvSpPr>
        <p:spPr>
          <a:xfrm>
            <a:off x="12481560" y="493776"/>
            <a:ext cx="2615184" cy="576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2573000" y="640080"/>
            <a:ext cx="2441448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Times New Roman"/>
              </a:rPr>
              <a:t>Frequency pattern</a:t>
            </a:r>
          </a:p>
        </p:txBody>
      </p:sp>
      <p:cxnSp>
        <p:nvCxnSpPr>
          <p:cNvPr id="229" name="Connector 228"/>
          <p:cNvCxnSpPr/>
          <p:nvPr/>
        </p:nvCxnSpPr>
        <p:spPr>
          <a:xfrm flipH="1">
            <a:off x="12207240" y="777240"/>
            <a:ext cx="274320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Isosceles Triangle 229"/>
          <p:cNvSpPr/>
          <p:nvPr/>
        </p:nvSpPr>
        <p:spPr>
          <a:xfrm rot="16200000">
            <a:off x="12170664" y="740664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Cloud 230"/>
          <p:cNvSpPr/>
          <p:nvPr/>
        </p:nvSpPr>
        <p:spPr>
          <a:xfrm>
            <a:off x="11420856" y="1197864"/>
            <a:ext cx="204094" cy="421355"/>
          </a:xfrm>
          <a:prstGeom prst="cloud">
            <a:avLst/>
          </a:prstGeom>
          <a:solidFill>
            <a:srgbClr val="FFFFFF"/>
          </a:solidFill>
          <a:ln w="34290">
            <a:solidFill>
              <a:srgbClr val="2F2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Cloud 231"/>
          <p:cNvSpPr/>
          <p:nvPr/>
        </p:nvSpPr>
        <p:spPr>
          <a:xfrm>
            <a:off x="11611782" y="1197864"/>
            <a:ext cx="204094" cy="421355"/>
          </a:xfrm>
          <a:prstGeom prst="cloud">
            <a:avLst/>
          </a:prstGeom>
          <a:solidFill>
            <a:srgbClr val="FFFFFF"/>
          </a:solidFill>
          <a:ln w="34290">
            <a:solidFill>
              <a:srgbClr val="2F2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Connector 232"/>
          <p:cNvCxnSpPr/>
          <p:nvPr/>
        </p:nvCxnSpPr>
        <p:spPr>
          <a:xfrm>
            <a:off x="11618366" y="1224198"/>
            <a:ext cx="0" cy="381854"/>
          </a:xfrm>
          <a:prstGeom prst="line">
            <a:avLst/>
          </a:prstGeom>
          <a:ln w="27940">
            <a:solidFill>
              <a:srgbClr val="2F2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1513027" y="1362456"/>
            <a:ext cx="59253" cy="52669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11532778" y="1415125"/>
            <a:ext cx="39502" cy="79004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11664452" y="1362456"/>
            <a:ext cx="59253" cy="52669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1664452" y="1415125"/>
            <a:ext cx="39502" cy="79004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ounded Rectangle 237"/>
          <p:cNvSpPr/>
          <p:nvPr/>
        </p:nvSpPr>
        <p:spPr>
          <a:xfrm>
            <a:off x="12481560" y="1234440"/>
            <a:ext cx="2615184" cy="576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2573000" y="1380744"/>
            <a:ext cx="2441448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Times New Roman"/>
              </a:rPr>
              <a:t>Temporal pattern</a:t>
            </a:r>
          </a:p>
        </p:txBody>
      </p:sp>
      <p:cxnSp>
        <p:nvCxnSpPr>
          <p:cNvPr id="240" name="Connector 239"/>
          <p:cNvCxnSpPr/>
          <p:nvPr/>
        </p:nvCxnSpPr>
        <p:spPr>
          <a:xfrm flipH="1">
            <a:off x="12207240" y="1517904"/>
            <a:ext cx="274320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Isosceles Triangle 240"/>
          <p:cNvSpPr/>
          <p:nvPr/>
        </p:nvSpPr>
        <p:spPr>
          <a:xfrm rot="16200000">
            <a:off x="12170664" y="1481328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Cloud 241"/>
          <p:cNvSpPr/>
          <p:nvPr/>
        </p:nvSpPr>
        <p:spPr>
          <a:xfrm>
            <a:off x="11420856" y="1938528"/>
            <a:ext cx="204094" cy="421355"/>
          </a:xfrm>
          <a:prstGeom prst="cloud">
            <a:avLst/>
          </a:prstGeom>
          <a:solidFill>
            <a:srgbClr val="FFFFFF"/>
          </a:solidFill>
          <a:ln w="34290">
            <a:solidFill>
              <a:srgbClr val="2F2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Cloud 242"/>
          <p:cNvSpPr/>
          <p:nvPr/>
        </p:nvSpPr>
        <p:spPr>
          <a:xfrm>
            <a:off x="11611782" y="1938528"/>
            <a:ext cx="204094" cy="421355"/>
          </a:xfrm>
          <a:prstGeom prst="cloud">
            <a:avLst/>
          </a:prstGeom>
          <a:solidFill>
            <a:srgbClr val="FFFFFF"/>
          </a:solidFill>
          <a:ln w="34290">
            <a:solidFill>
              <a:srgbClr val="2F2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11618366" y="1964862"/>
            <a:ext cx="0" cy="381854"/>
          </a:xfrm>
          <a:prstGeom prst="line">
            <a:avLst/>
          </a:prstGeom>
          <a:ln w="27940">
            <a:solidFill>
              <a:srgbClr val="2F2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1513027" y="2103120"/>
            <a:ext cx="59253" cy="52669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11532778" y="2155789"/>
            <a:ext cx="39502" cy="79004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>
            <a:off x="11664452" y="2103120"/>
            <a:ext cx="59253" cy="52669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1664452" y="2155789"/>
            <a:ext cx="39502" cy="79004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Rounded Rectangle 248"/>
          <p:cNvSpPr/>
          <p:nvPr/>
        </p:nvSpPr>
        <p:spPr>
          <a:xfrm>
            <a:off x="12481560" y="1975104"/>
            <a:ext cx="2615184" cy="576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2573000" y="2121408"/>
            <a:ext cx="2441448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Times New Roman"/>
              </a:rPr>
              <a:t>Spatial pattern</a:t>
            </a:r>
          </a:p>
        </p:txBody>
      </p:sp>
      <p:cxnSp>
        <p:nvCxnSpPr>
          <p:cNvPr id="251" name="Connector 250"/>
          <p:cNvCxnSpPr/>
          <p:nvPr/>
        </p:nvCxnSpPr>
        <p:spPr>
          <a:xfrm flipH="1">
            <a:off x="12207240" y="2258568"/>
            <a:ext cx="274320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Isosceles Triangle 251"/>
          <p:cNvSpPr/>
          <p:nvPr/>
        </p:nvSpPr>
        <p:spPr>
          <a:xfrm rot="16200000">
            <a:off x="12170664" y="2221992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1457432" y="2542032"/>
            <a:ext cx="731520" cy="557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000000"/>
                </a:solidFill>
                <a:latin typeface="Times New Roman"/>
              </a:rPr>
              <a:t>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000000"/>
                </a:solidFill>
                <a:latin typeface="Times New Roman"/>
              </a:rPr>
              <a:t>memory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2435840" y="2670048"/>
            <a:ext cx="2852928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1" i="1">
                <a:solidFill>
                  <a:srgbClr val="000000"/>
                </a:solidFill>
                <a:latin typeface="Times New Roman"/>
              </a:rPr>
              <a:t>Data-driven prompt</a:t>
            </a:r>
          </a:p>
        </p:txBody>
      </p:sp>
      <p:cxnSp>
        <p:nvCxnSpPr>
          <p:cNvPr id="255" name="Connector 254"/>
          <p:cNvCxnSpPr/>
          <p:nvPr/>
        </p:nvCxnSpPr>
        <p:spPr>
          <a:xfrm flipH="1">
            <a:off x="15316200" y="4288536"/>
            <a:ext cx="374904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Isosceles Triangle 255"/>
          <p:cNvSpPr/>
          <p:nvPr/>
        </p:nvSpPr>
        <p:spPr>
          <a:xfrm rot="16200000">
            <a:off x="15279624" y="4251960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5590520" y="4069080"/>
            <a:ext cx="54864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Times New Roman"/>
              </a:rPr>
              <a:t>Mask</a:t>
            </a:r>
          </a:p>
        </p:txBody>
      </p:sp>
      <p:sp>
        <p:nvSpPr>
          <p:cNvPr id="258" name="Cloud 257"/>
          <p:cNvSpPr/>
          <p:nvPr/>
        </p:nvSpPr>
        <p:spPr>
          <a:xfrm>
            <a:off x="11420856" y="3739896"/>
            <a:ext cx="204094" cy="421355"/>
          </a:xfrm>
          <a:prstGeom prst="cloud">
            <a:avLst/>
          </a:prstGeom>
          <a:solidFill>
            <a:srgbClr val="FFFFFF"/>
          </a:solidFill>
          <a:ln w="34290">
            <a:solidFill>
              <a:srgbClr val="2F2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Cloud 258"/>
          <p:cNvSpPr/>
          <p:nvPr/>
        </p:nvSpPr>
        <p:spPr>
          <a:xfrm>
            <a:off x="11611782" y="3739896"/>
            <a:ext cx="204094" cy="421355"/>
          </a:xfrm>
          <a:prstGeom prst="cloud">
            <a:avLst/>
          </a:prstGeom>
          <a:solidFill>
            <a:srgbClr val="FFFFFF"/>
          </a:solidFill>
          <a:ln w="34290">
            <a:solidFill>
              <a:srgbClr val="2F2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>
            <a:off x="11618366" y="3766230"/>
            <a:ext cx="0" cy="381854"/>
          </a:xfrm>
          <a:prstGeom prst="line">
            <a:avLst/>
          </a:prstGeom>
          <a:ln w="27940">
            <a:solidFill>
              <a:srgbClr val="2F2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1513027" y="3904488"/>
            <a:ext cx="59253" cy="52669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>
            <a:off x="11532778" y="3957157"/>
            <a:ext cx="39502" cy="79004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H="1">
            <a:off x="11664452" y="3904488"/>
            <a:ext cx="59253" cy="52669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1664452" y="3957157"/>
            <a:ext cx="39502" cy="79004"/>
          </a:xfrm>
          <a:prstGeom prst="line">
            <a:avLst/>
          </a:prstGeom>
          <a:ln w="25400">
            <a:solidFill>
              <a:srgbClr val="F0A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/>
          <p:cNvSpPr txBox="1"/>
          <p:nvPr/>
        </p:nvSpPr>
        <p:spPr>
          <a:xfrm>
            <a:off x="11457432" y="4443984"/>
            <a:ext cx="7315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000000"/>
                </a:solidFill>
                <a:latin typeface="Times New Roman"/>
              </a:rPr>
              <a:t>Task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000000"/>
                </a:solidFill>
                <a:latin typeface="Times New Roman"/>
              </a:rPr>
              <a:t>memory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12627864" y="3410712"/>
            <a:ext cx="411480" cy="9418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 rot="16200000">
            <a:off x="12490704" y="3712464"/>
            <a:ext cx="685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000000"/>
                </a:solidFill>
                <a:latin typeface="Times New Roman"/>
              </a:rPr>
              <a:t>Attention</a:t>
            </a:r>
          </a:p>
        </p:txBody>
      </p:sp>
      <p:pic>
        <p:nvPicPr>
          <p:cNvPr id="268" name="Picture 267" descr="masked_gri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04520" y="3657600"/>
            <a:ext cx="1746504" cy="850392"/>
          </a:xfrm>
          <a:prstGeom prst="rect">
            <a:avLst/>
          </a:prstGeom>
        </p:spPr>
      </p:pic>
      <p:cxnSp>
        <p:nvCxnSpPr>
          <p:cNvPr id="269" name="Connector 268"/>
          <p:cNvCxnSpPr/>
          <p:nvPr/>
        </p:nvCxnSpPr>
        <p:spPr>
          <a:xfrm flipH="1">
            <a:off x="12207240" y="4288536"/>
            <a:ext cx="411480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Isosceles Triangle 269"/>
          <p:cNvSpPr/>
          <p:nvPr/>
        </p:nvSpPr>
        <p:spPr>
          <a:xfrm rot="16200000">
            <a:off x="12170664" y="4251960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H="1">
            <a:off x="13030200" y="4087368"/>
            <a:ext cx="274320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Isosceles Triangle 271"/>
          <p:cNvSpPr/>
          <p:nvPr/>
        </p:nvSpPr>
        <p:spPr>
          <a:xfrm rot="16200000">
            <a:off x="12993624" y="4050791"/>
            <a:ext cx="73152" cy="73152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2399264" y="4846320"/>
            <a:ext cx="294436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1">
                <a:solidFill>
                  <a:srgbClr val="000000"/>
                </a:solidFill>
                <a:latin typeface="Times New Roman"/>
              </a:rPr>
              <a:t>Task-specific prompt</a:t>
            </a:r>
          </a:p>
        </p:txBody>
      </p:sp>
      <p:pic>
        <p:nvPicPr>
          <p:cNvPr id="274" name="Picture 273" descr="masking_stri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02568" y="6071616"/>
            <a:ext cx="4599432" cy="1362456"/>
          </a:xfrm>
          <a:prstGeom prst="rect">
            <a:avLst/>
          </a:prstGeom>
        </p:spPr>
      </p:pic>
      <p:sp>
        <p:nvSpPr>
          <p:cNvPr id="275" name="TextBox 274"/>
          <p:cNvSpPr txBox="1"/>
          <p:nvPr/>
        </p:nvSpPr>
        <p:spPr>
          <a:xfrm>
            <a:off x="777240" y="7772400"/>
            <a:ext cx="301752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Times New Roman"/>
              </a:rPr>
              <a:t>(a) Datasets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4754880" y="7772400"/>
            <a:ext cx="56692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Times New Roman"/>
              </a:rPr>
              <a:t>(b) Urban Diffusion Transformer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612880" y="7772400"/>
            <a:ext cx="41148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Times New Roman"/>
              </a:rPr>
              <a:t>(c) Masking Strategies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1567160" y="5532120"/>
            <a:ext cx="3337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Times New Roman"/>
              </a:rPr>
              <a:t>(d) Unified Prompt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iffusion Transformers as Open-World Spatiotemporal Foundat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541496" cy="8138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