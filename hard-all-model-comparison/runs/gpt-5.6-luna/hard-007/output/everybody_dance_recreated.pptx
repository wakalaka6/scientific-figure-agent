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796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65149" y="160857"/>
            <a:ext cx="2815014" cy="247989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26757"/>
                </a:lnTo>
                <a:lnTo>
                  <a:pt x="100000" y="72973"/>
                </a:lnTo>
                <a:lnTo>
                  <a:pt x="0" y="100000"/>
                </a:lnTo>
                <a:close/>
              </a:path>
            </a:pathLst>
          </a:custGeom>
          <a:solidFill>
            <a:srgbClr val="DDE8FC"/>
          </a:solidFill>
          <a:ln w="2540">
            <a:solidFill>
              <a:srgbClr val="DDE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80164" y="160857"/>
            <a:ext cx="2781502" cy="247989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26757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72973"/>
                </a:lnTo>
                <a:close/>
              </a:path>
            </a:pathLst>
          </a:custGeom>
          <a:solidFill>
            <a:srgbClr val="DDE8FC"/>
          </a:solidFill>
          <a:ln w="2540">
            <a:solidFill>
              <a:srgbClr val="DDE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65149" y="3230564"/>
            <a:ext cx="2815014" cy="247319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26558"/>
                </a:lnTo>
                <a:lnTo>
                  <a:pt x="100000" y="73442"/>
                </a:lnTo>
                <a:lnTo>
                  <a:pt x="0" y="100000"/>
                </a:lnTo>
                <a:close/>
              </a:path>
            </a:pathLst>
          </a:custGeom>
          <a:solidFill>
            <a:srgbClr val="FFF2EA"/>
          </a:solidFill>
          <a:ln w="2540">
            <a:solidFill>
              <a:srgbClr val="FF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80164" y="3230564"/>
            <a:ext cx="2781502" cy="247319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26558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73442"/>
                </a:lnTo>
                <a:close/>
              </a:path>
            </a:pathLst>
          </a:custGeom>
          <a:solidFill>
            <a:srgbClr val="FFF2EA"/>
          </a:solidFill>
          <a:ln w="2540">
            <a:solidFill>
              <a:srgbClr val="FF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91691" y="268096"/>
            <a:ext cx="3150135" cy="3217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303030"/>
                </a:solidFill>
                <a:latin typeface="Arial"/>
              </a:rPr>
              <a:t>ReferenceNet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1691" y="3398125"/>
            <a:ext cx="3150135" cy="3217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303030"/>
                </a:solidFill>
                <a:latin typeface="Arial"/>
              </a:rPr>
              <a:t>DenoisingNet</a:t>
            </a:r>
          </a:p>
        </p:txBody>
      </p:sp>
      <p:sp>
        <p:nvSpPr>
          <p:cNvPr id="8" name="Rectangle 7"/>
          <p:cNvSpPr/>
          <p:nvPr/>
        </p:nvSpPr>
        <p:spPr>
          <a:xfrm>
            <a:off x="67024" y="187667"/>
            <a:ext cx="1360590" cy="1353888"/>
          </a:xfrm>
          <a:prstGeom prst="rect">
            <a:avLst/>
          </a:prstGeom>
          <a:solidFill>
            <a:srgbClr val="000000"/>
          </a:solidFill>
          <a:ln w="127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H="1">
            <a:off x="489276" y="576407"/>
            <a:ext cx="26810" cy="113941"/>
          </a:xfrm>
          <a:prstGeom prst="line">
            <a:avLst/>
          </a:prstGeom>
          <a:ln w="13970">
            <a:solidFill>
              <a:srgbClr val="00F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28954" y="690348"/>
            <a:ext cx="60322" cy="241287"/>
          </a:xfrm>
          <a:prstGeom prst="line">
            <a:avLst/>
          </a:prstGeom>
          <a:ln w="13970">
            <a:solidFill>
              <a:srgbClr val="00F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9276" y="690348"/>
            <a:ext cx="93834" cy="13405"/>
          </a:xfrm>
          <a:prstGeom prst="line">
            <a:avLst/>
          </a:prstGeom>
          <a:ln w="13970">
            <a:solidFill>
              <a:srgbClr val="00F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3110" y="703753"/>
            <a:ext cx="53619" cy="241287"/>
          </a:xfrm>
          <a:prstGeom prst="line">
            <a:avLst/>
          </a:prstGeom>
          <a:ln w="13970">
            <a:solidFill>
              <a:srgbClr val="00F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42359" y="690348"/>
            <a:ext cx="46917" cy="449062"/>
          </a:xfrm>
          <a:prstGeom prst="line">
            <a:avLst/>
          </a:prstGeom>
          <a:ln w="13970">
            <a:solidFill>
              <a:srgbClr val="00F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28954" y="1139410"/>
            <a:ext cx="13405" cy="214478"/>
          </a:xfrm>
          <a:prstGeom prst="line">
            <a:avLst/>
          </a:prstGeom>
          <a:ln w="13970">
            <a:solidFill>
              <a:srgbClr val="00F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681" y="697051"/>
            <a:ext cx="26809" cy="462467"/>
          </a:xfrm>
          <a:prstGeom prst="line">
            <a:avLst/>
          </a:prstGeom>
          <a:ln w="13970">
            <a:solidFill>
              <a:srgbClr val="00F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16086" y="1159518"/>
            <a:ext cx="13404" cy="214477"/>
          </a:xfrm>
          <a:prstGeom prst="line">
            <a:avLst/>
          </a:prstGeom>
          <a:ln w="13970">
            <a:solidFill>
              <a:srgbClr val="00F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92627" y="526139"/>
            <a:ext cx="46916" cy="4691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F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H="1">
            <a:off x="971850" y="576407"/>
            <a:ext cx="26810" cy="113941"/>
          </a:xfrm>
          <a:prstGeom prst="line">
            <a:avLst/>
          </a:prstGeom>
          <a:ln w="13970">
            <a:solidFill>
              <a:srgbClr val="FF3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911528" y="690348"/>
            <a:ext cx="60322" cy="241287"/>
          </a:xfrm>
          <a:prstGeom prst="line">
            <a:avLst/>
          </a:prstGeom>
          <a:ln w="13970">
            <a:solidFill>
              <a:srgbClr val="FF3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71850" y="690348"/>
            <a:ext cx="93834" cy="13405"/>
          </a:xfrm>
          <a:prstGeom prst="line">
            <a:avLst/>
          </a:prstGeom>
          <a:ln w="13970">
            <a:solidFill>
              <a:srgbClr val="FF3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65684" y="703753"/>
            <a:ext cx="53619" cy="241287"/>
          </a:xfrm>
          <a:prstGeom prst="line">
            <a:avLst/>
          </a:prstGeom>
          <a:ln w="13970">
            <a:solidFill>
              <a:srgbClr val="FF3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924933" y="690348"/>
            <a:ext cx="46917" cy="449062"/>
          </a:xfrm>
          <a:prstGeom prst="line">
            <a:avLst/>
          </a:prstGeom>
          <a:ln w="13970">
            <a:solidFill>
              <a:srgbClr val="FF3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911528" y="1139410"/>
            <a:ext cx="13405" cy="214478"/>
          </a:xfrm>
          <a:prstGeom prst="line">
            <a:avLst/>
          </a:prstGeom>
          <a:ln w="13970">
            <a:solidFill>
              <a:srgbClr val="FF3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85255" y="697051"/>
            <a:ext cx="26809" cy="462467"/>
          </a:xfrm>
          <a:prstGeom prst="line">
            <a:avLst/>
          </a:prstGeom>
          <a:ln w="13970">
            <a:solidFill>
              <a:srgbClr val="FF3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998660" y="1159518"/>
            <a:ext cx="13404" cy="214477"/>
          </a:xfrm>
          <a:prstGeom prst="line">
            <a:avLst/>
          </a:prstGeom>
          <a:ln w="13970">
            <a:solidFill>
              <a:srgbClr val="FF3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75201" y="526139"/>
            <a:ext cx="46916" cy="4691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3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4" y="1588472"/>
            <a:ext cx="1360590" cy="2144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303030"/>
                </a:solidFill>
                <a:latin typeface="DejaVu Sans Mono"/>
              </a:rPr>
              <a:t>Ref Pose</a:t>
            </a:r>
          </a:p>
        </p:txBody>
      </p:sp>
      <p:pic>
        <p:nvPicPr>
          <p:cNvPr id="28" name="Picture 27" descr="ref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4" y="1843164"/>
            <a:ext cx="1360590" cy="135388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7024" y="3257374"/>
            <a:ext cx="1360590" cy="2144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303030"/>
                </a:solidFill>
                <a:latin typeface="DejaVu Sans Mono"/>
              </a:rPr>
              <a:t>Ref Img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024" y="3800270"/>
            <a:ext cx="1360590" cy="1293566"/>
          </a:xfrm>
          <a:prstGeom prst="rect">
            <a:avLst/>
          </a:prstGeom>
          <a:solidFill>
            <a:srgbClr val="050505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536" y="3766757"/>
            <a:ext cx="1360590" cy="1293566"/>
          </a:xfrm>
          <a:prstGeom prst="rect">
            <a:avLst/>
          </a:prstGeom>
          <a:solidFill>
            <a:srgbClr val="050505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34048" y="3733245"/>
            <a:ext cx="1360590" cy="1293566"/>
          </a:xfrm>
          <a:prstGeom prst="rect">
            <a:avLst/>
          </a:prstGeom>
          <a:solidFill>
            <a:srgbClr val="050505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>
            <a:off x="489276" y="4182307"/>
            <a:ext cx="26810" cy="113941"/>
          </a:xfrm>
          <a:prstGeom prst="line">
            <a:avLst/>
          </a:prstGeom>
          <a:ln w="13970">
            <a:solidFill>
              <a:srgbClr val="FF2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428954" y="4296248"/>
            <a:ext cx="60322" cy="241287"/>
          </a:xfrm>
          <a:prstGeom prst="line">
            <a:avLst/>
          </a:prstGeom>
          <a:ln w="13970">
            <a:solidFill>
              <a:srgbClr val="FF2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89276" y="4296248"/>
            <a:ext cx="93834" cy="13405"/>
          </a:xfrm>
          <a:prstGeom prst="line">
            <a:avLst/>
          </a:prstGeom>
          <a:ln w="13970">
            <a:solidFill>
              <a:srgbClr val="FF2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83110" y="4309653"/>
            <a:ext cx="53619" cy="241287"/>
          </a:xfrm>
          <a:prstGeom prst="line">
            <a:avLst/>
          </a:prstGeom>
          <a:ln w="13970">
            <a:solidFill>
              <a:srgbClr val="FF2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442359" y="4296248"/>
            <a:ext cx="46917" cy="449062"/>
          </a:xfrm>
          <a:prstGeom prst="line">
            <a:avLst/>
          </a:prstGeom>
          <a:ln w="13970">
            <a:solidFill>
              <a:srgbClr val="FF2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428954" y="4745310"/>
            <a:ext cx="13405" cy="214478"/>
          </a:xfrm>
          <a:prstGeom prst="line">
            <a:avLst/>
          </a:prstGeom>
          <a:ln w="13970">
            <a:solidFill>
              <a:srgbClr val="FF2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02681" y="4302951"/>
            <a:ext cx="26809" cy="462466"/>
          </a:xfrm>
          <a:prstGeom prst="line">
            <a:avLst/>
          </a:prstGeom>
          <a:ln w="13970">
            <a:solidFill>
              <a:srgbClr val="FF2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516086" y="4765417"/>
            <a:ext cx="13404" cy="214478"/>
          </a:xfrm>
          <a:prstGeom prst="line">
            <a:avLst/>
          </a:prstGeom>
          <a:ln w="13970">
            <a:solidFill>
              <a:srgbClr val="FF2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492627" y="4132039"/>
            <a:ext cx="46916" cy="4691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2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H="1">
            <a:off x="958445" y="4182307"/>
            <a:ext cx="26810" cy="113941"/>
          </a:xfrm>
          <a:prstGeom prst="line">
            <a:avLst/>
          </a:prstGeom>
          <a:ln w="13970">
            <a:solidFill>
              <a:srgbClr val="00FF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898123" y="4296248"/>
            <a:ext cx="60322" cy="241287"/>
          </a:xfrm>
          <a:prstGeom prst="line">
            <a:avLst/>
          </a:prstGeom>
          <a:ln w="13970">
            <a:solidFill>
              <a:srgbClr val="00FF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58445" y="4296248"/>
            <a:ext cx="93834" cy="13405"/>
          </a:xfrm>
          <a:prstGeom prst="line">
            <a:avLst/>
          </a:prstGeom>
          <a:ln w="13970">
            <a:solidFill>
              <a:srgbClr val="00FF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52279" y="4309653"/>
            <a:ext cx="53619" cy="241287"/>
          </a:xfrm>
          <a:prstGeom prst="line">
            <a:avLst/>
          </a:prstGeom>
          <a:ln w="13970">
            <a:solidFill>
              <a:srgbClr val="00FF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911528" y="4296248"/>
            <a:ext cx="46917" cy="449062"/>
          </a:xfrm>
          <a:prstGeom prst="line">
            <a:avLst/>
          </a:prstGeom>
          <a:ln w="13970">
            <a:solidFill>
              <a:srgbClr val="00FF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898123" y="4745310"/>
            <a:ext cx="13405" cy="214478"/>
          </a:xfrm>
          <a:prstGeom prst="line">
            <a:avLst/>
          </a:prstGeom>
          <a:ln w="13970">
            <a:solidFill>
              <a:srgbClr val="00FF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71850" y="4302951"/>
            <a:ext cx="26810" cy="462466"/>
          </a:xfrm>
          <a:prstGeom prst="line">
            <a:avLst/>
          </a:prstGeom>
          <a:ln w="13970">
            <a:solidFill>
              <a:srgbClr val="00FF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985255" y="4765417"/>
            <a:ext cx="13405" cy="214478"/>
          </a:xfrm>
          <a:prstGeom prst="line">
            <a:avLst/>
          </a:prstGeom>
          <a:ln w="13970">
            <a:solidFill>
              <a:srgbClr val="00FF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961796" y="4132039"/>
            <a:ext cx="46916" cy="4691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F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024" y="5174265"/>
            <a:ext cx="1360590" cy="2144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303030"/>
                </a:solidFill>
                <a:latin typeface="DejaVu Sans Mono"/>
              </a:rPr>
              <a:t>Tgt Pose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06434" y="5750673"/>
            <a:ext cx="985255" cy="938338"/>
          </a:xfrm>
          <a:prstGeom prst="rect">
            <a:avLst/>
          </a:prstGeom>
          <a:solidFill>
            <a:srgbClr val="D8D8D8"/>
          </a:solidFill>
          <a:ln w="12700">
            <a:solidFill>
              <a:srgbClr val="7B7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266756" y="5697053"/>
            <a:ext cx="985255" cy="938338"/>
          </a:xfrm>
          <a:prstGeom prst="rect">
            <a:avLst/>
          </a:prstGeom>
          <a:solidFill>
            <a:srgbClr val="D8D8D8"/>
          </a:solidFill>
          <a:ln w="12700">
            <a:solidFill>
              <a:srgbClr val="7B7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27078" y="5643434"/>
            <a:ext cx="985255" cy="938338"/>
          </a:xfrm>
          <a:prstGeom prst="rect">
            <a:avLst/>
          </a:prstGeom>
          <a:solidFill>
            <a:srgbClr val="D8D8D8"/>
          </a:solidFill>
          <a:ln w="12700">
            <a:solidFill>
              <a:srgbClr val="7B7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06434" y="5455766"/>
            <a:ext cx="985255" cy="207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303030"/>
                </a:solidFill>
                <a:latin typeface="DejaVu Sans Mono"/>
              </a:rPr>
              <a:t>Noise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03486" y="375335"/>
            <a:ext cx="616622" cy="9718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24138"/>
                </a:lnTo>
                <a:lnTo>
                  <a:pt x="100000" y="76552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30295" y="583110"/>
            <a:ext cx="603217" cy="180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03030"/>
                </a:solidFill>
                <a:latin typeface="Arial"/>
              </a:rPr>
              <a:t>Pose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30295" y="764075"/>
            <a:ext cx="603217" cy="180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03030"/>
                </a:solidFill>
                <a:latin typeface="Arial"/>
              </a:rPr>
              <a:t>Enc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03486" y="1454424"/>
            <a:ext cx="616622" cy="978552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24658"/>
                </a:lnTo>
                <a:lnTo>
                  <a:pt x="100000" y="75342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930295" y="1662199"/>
            <a:ext cx="603217" cy="180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03030"/>
                </a:solidFill>
                <a:latin typeface="Arial"/>
              </a:rPr>
              <a:t>VAE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30295" y="1843164"/>
            <a:ext cx="603217" cy="180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03030"/>
                </a:solidFill>
                <a:latin typeface="Arial"/>
              </a:rPr>
              <a:t>Enc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03486" y="2546918"/>
            <a:ext cx="616622" cy="978552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23288"/>
                </a:lnTo>
                <a:lnTo>
                  <a:pt x="100000" y="75342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930295" y="2754693"/>
            <a:ext cx="603217" cy="180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03030"/>
                </a:solidFill>
                <a:latin typeface="Arial"/>
              </a:rPr>
              <a:t>CLIP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03486" y="4001342"/>
            <a:ext cx="616622" cy="9718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24138"/>
                </a:lnTo>
                <a:lnTo>
                  <a:pt x="100000" y="75172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30295" y="4209117"/>
            <a:ext cx="603217" cy="180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03030"/>
                </a:solidFill>
                <a:latin typeface="Arial"/>
              </a:rPr>
              <a:t>Pose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30295" y="4390082"/>
            <a:ext cx="603217" cy="180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03030"/>
                </a:solidFill>
                <a:latin typeface="Arial"/>
              </a:rPr>
              <a:t>Enc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1427614" y="857909"/>
            <a:ext cx="475872" cy="0"/>
          </a:xfrm>
          <a:prstGeom prst="line">
            <a:avLst/>
          </a:prstGeom>
          <a:ln w="2286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520108" y="857909"/>
            <a:ext cx="442359" cy="0"/>
          </a:xfrm>
          <a:prstGeom prst="line">
            <a:avLst/>
          </a:prstGeom>
          <a:ln w="2286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962467" y="857909"/>
            <a:ext cx="0" cy="402145"/>
          </a:xfrm>
          <a:prstGeom prst="line">
            <a:avLst/>
          </a:prstGeom>
          <a:ln w="2286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520108" y="1943700"/>
            <a:ext cx="442359" cy="0"/>
          </a:xfrm>
          <a:prstGeom prst="line">
            <a:avLst/>
          </a:prstGeom>
          <a:ln w="2286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962467" y="1528150"/>
            <a:ext cx="0" cy="415550"/>
          </a:xfrm>
          <a:prstGeom prst="line">
            <a:avLst/>
          </a:prstGeom>
          <a:ln w="2286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427614" y="2493298"/>
            <a:ext cx="227882" cy="0"/>
          </a:xfrm>
          <a:prstGeom prst="line">
            <a:avLst/>
          </a:prstGeom>
          <a:ln w="2286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655496" y="1943700"/>
            <a:ext cx="0" cy="549598"/>
          </a:xfrm>
          <a:prstGeom prst="line">
            <a:avLst/>
          </a:prstGeom>
          <a:ln w="2286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655496" y="1943700"/>
            <a:ext cx="247990" cy="0"/>
          </a:xfrm>
          <a:prstGeom prst="line">
            <a:avLst/>
          </a:prstGeom>
          <a:ln w="2286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655496" y="2493298"/>
            <a:ext cx="0" cy="542896"/>
          </a:xfrm>
          <a:prstGeom prst="line">
            <a:avLst/>
          </a:prstGeom>
          <a:ln w="2286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655496" y="3036194"/>
            <a:ext cx="247990" cy="0"/>
          </a:xfrm>
          <a:prstGeom prst="line">
            <a:avLst/>
          </a:prstGeom>
          <a:ln w="2286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427614" y="4470511"/>
            <a:ext cx="475872" cy="0"/>
          </a:xfrm>
          <a:prstGeom prst="line">
            <a:avLst/>
          </a:prstGeom>
          <a:ln w="2286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520108" y="4470511"/>
            <a:ext cx="442359" cy="0"/>
          </a:xfrm>
          <a:prstGeom prst="line">
            <a:avLst/>
          </a:prstGeom>
          <a:ln w="2286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2962467" y="4343165"/>
            <a:ext cx="0" cy="127346"/>
          </a:xfrm>
          <a:prstGeom prst="line">
            <a:avLst/>
          </a:prstGeom>
          <a:ln w="2286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191690" y="6132710"/>
            <a:ext cx="770777" cy="0"/>
          </a:xfrm>
          <a:prstGeom prst="line">
            <a:avLst/>
          </a:prstGeom>
          <a:ln w="2286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2962467" y="4611262"/>
            <a:ext cx="0" cy="1521448"/>
          </a:xfrm>
          <a:prstGeom prst="line">
            <a:avLst/>
          </a:prstGeom>
          <a:ln w="2286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2835122" y="1260054"/>
            <a:ext cx="268096" cy="26809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2835122" y="1394102"/>
            <a:ext cx="268096" cy="0"/>
          </a:xfrm>
          <a:prstGeom prst="line">
            <a:avLst/>
          </a:prstGeom>
          <a:ln w="2286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969170" y="1260054"/>
            <a:ext cx="0" cy="268096"/>
          </a:xfrm>
          <a:prstGeom prst="line">
            <a:avLst/>
          </a:prstGeom>
          <a:ln w="2286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2835122" y="4343165"/>
            <a:ext cx="268096" cy="26809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2835122" y="4477214"/>
            <a:ext cx="268096" cy="0"/>
          </a:xfrm>
          <a:prstGeom prst="line">
            <a:avLst/>
          </a:prstGeom>
          <a:ln w="2286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969170" y="4343165"/>
            <a:ext cx="0" cy="268097"/>
          </a:xfrm>
          <a:prstGeom prst="line">
            <a:avLst/>
          </a:prstGeom>
          <a:ln w="2286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3103218" y="1394102"/>
            <a:ext cx="361931" cy="0"/>
          </a:xfrm>
          <a:prstGeom prst="line">
            <a:avLst/>
          </a:prstGeom>
          <a:ln w="2286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103218" y="4477214"/>
            <a:ext cx="361931" cy="0"/>
          </a:xfrm>
          <a:prstGeom prst="line">
            <a:avLst/>
          </a:prstGeom>
          <a:ln w="2286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0" name="Picture 89" descr="mask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924" y="5737268"/>
            <a:ext cx="971850" cy="978552"/>
          </a:xfrm>
          <a:prstGeom prst="rect">
            <a:avLst/>
          </a:prstGeom>
        </p:spPr>
      </p:pic>
      <p:pic>
        <p:nvPicPr>
          <p:cNvPr id="91" name="Picture 90" descr="mask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310" y="5737268"/>
            <a:ext cx="978552" cy="978552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4021449" y="5449064"/>
            <a:ext cx="971850" cy="2077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303030"/>
                </a:solidFill>
                <a:latin typeface="DejaVu Sans Mono"/>
              </a:rPr>
              <a:t>Mask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2520108" y="3036194"/>
            <a:ext cx="6032175" cy="0"/>
          </a:xfrm>
          <a:prstGeom prst="line">
            <a:avLst/>
          </a:prstGeom>
          <a:ln w="22860">
            <a:solidFill>
              <a:srgbClr val="2B8B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780162" y="1816354"/>
            <a:ext cx="0" cy="1923594"/>
          </a:xfrm>
          <a:prstGeom prst="line">
            <a:avLst/>
          </a:prstGeom>
          <a:ln w="22860">
            <a:solidFill>
              <a:srgbClr val="527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134050" y="1823057"/>
            <a:ext cx="0" cy="2225202"/>
          </a:xfrm>
          <a:prstGeom prst="line">
            <a:avLst/>
          </a:prstGeom>
          <a:ln w="22860">
            <a:solidFill>
              <a:srgbClr val="527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930298" y="1823057"/>
            <a:ext cx="0" cy="2225202"/>
          </a:xfrm>
          <a:prstGeom prst="line">
            <a:avLst/>
          </a:prstGeom>
          <a:ln w="22860">
            <a:solidFill>
              <a:srgbClr val="527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290888" y="1816354"/>
            <a:ext cx="0" cy="1923594"/>
          </a:xfrm>
          <a:prstGeom prst="line">
            <a:avLst/>
          </a:prstGeom>
          <a:ln w="22860">
            <a:solidFill>
              <a:srgbClr val="527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048259" y="1816354"/>
            <a:ext cx="0" cy="1923594"/>
          </a:xfrm>
          <a:prstGeom prst="line">
            <a:avLst/>
          </a:prstGeom>
          <a:ln w="22860">
            <a:solidFill>
              <a:srgbClr val="2B8B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5402147" y="1823057"/>
            <a:ext cx="0" cy="2225202"/>
          </a:xfrm>
          <a:prstGeom prst="line">
            <a:avLst/>
          </a:prstGeom>
          <a:ln w="22860">
            <a:solidFill>
              <a:srgbClr val="2B8B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7198395" y="1823057"/>
            <a:ext cx="0" cy="2225202"/>
          </a:xfrm>
          <a:prstGeom prst="line">
            <a:avLst/>
          </a:prstGeom>
          <a:ln w="22860">
            <a:solidFill>
              <a:srgbClr val="2B8B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558985" y="1816354"/>
            <a:ext cx="0" cy="1923594"/>
          </a:xfrm>
          <a:prstGeom prst="line">
            <a:avLst/>
          </a:prstGeom>
          <a:ln w="22860">
            <a:solidFill>
              <a:srgbClr val="2B8B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558985" y="1816354"/>
            <a:ext cx="0" cy="1219840"/>
          </a:xfrm>
          <a:prstGeom prst="line">
            <a:avLst/>
          </a:prstGeom>
          <a:ln w="22860">
            <a:solidFill>
              <a:srgbClr val="2B8B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3686328" y="690348"/>
            <a:ext cx="214477" cy="1434317"/>
          </a:xfrm>
          <a:prstGeom prst="roundRect">
            <a:avLst/>
          </a:prstGeom>
          <a:solidFill>
            <a:srgbClr val="92A7D3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5026812" y="991957"/>
            <a:ext cx="214477" cy="831099"/>
          </a:xfrm>
          <a:prstGeom prst="roundRect">
            <a:avLst/>
          </a:prstGeom>
          <a:solidFill>
            <a:srgbClr val="92A7D3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6823059" y="998660"/>
            <a:ext cx="214477" cy="824397"/>
          </a:xfrm>
          <a:prstGeom prst="roundRect">
            <a:avLst/>
          </a:prstGeom>
          <a:solidFill>
            <a:srgbClr val="92A7D3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8176947" y="690348"/>
            <a:ext cx="214477" cy="1434317"/>
          </a:xfrm>
          <a:prstGeom prst="roundRect">
            <a:avLst/>
          </a:prstGeom>
          <a:solidFill>
            <a:srgbClr val="92A7D3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3941020" y="690348"/>
            <a:ext cx="214477" cy="1434317"/>
          </a:xfrm>
          <a:prstGeom prst="roundRect">
            <a:avLst/>
          </a:prstGeom>
          <a:solidFill>
            <a:srgbClr val="D8F0DE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5294908" y="991957"/>
            <a:ext cx="214477" cy="831099"/>
          </a:xfrm>
          <a:prstGeom prst="roundRect">
            <a:avLst/>
          </a:prstGeom>
          <a:solidFill>
            <a:srgbClr val="D8F0DE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7091156" y="998660"/>
            <a:ext cx="214477" cy="824397"/>
          </a:xfrm>
          <a:prstGeom prst="roundRect">
            <a:avLst/>
          </a:prstGeom>
          <a:solidFill>
            <a:srgbClr val="D8F0DE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8438342" y="690348"/>
            <a:ext cx="214477" cy="1434317"/>
          </a:xfrm>
          <a:prstGeom prst="roundRect">
            <a:avLst/>
          </a:prstGeom>
          <a:solidFill>
            <a:srgbClr val="D8F0DE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3686328" y="3739948"/>
            <a:ext cx="214477" cy="1434317"/>
          </a:xfrm>
          <a:prstGeom prst="roundRect">
            <a:avLst/>
          </a:prstGeom>
          <a:solidFill>
            <a:srgbClr val="92A7D3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5026812" y="4048259"/>
            <a:ext cx="214477" cy="824397"/>
          </a:xfrm>
          <a:prstGeom prst="roundRect">
            <a:avLst/>
          </a:prstGeom>
          <a:solidFill>
            <a:srgbClr val="92A7D3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6823059" y="4048259"/>
            <a:ext cx="214477" cy="824397"/>
          </a:xfrm>
          <a:prstGeom prst="roundRect">
            <a:avLst/>
          </a:prstGeom>
          <a:solidFill>
            <a:srgbClr val="92A7D3"/>
          </a:solidFill>
          <a:ln w="12700">
            <a:solidFill>
              <a:srgbClr val="737373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8176947" y="3739948"/>
            <a:ext cx="214477" cy="1434317"/>
          </a:xfrm>
          <a:prstGeom prst="roundRect">
            <a:avLst/>
          </a:prstGeom>
          <a:solidFill>
            <a:srgbClr val="92A7D3"/>
          </a:solidFill>
          <a:ln w="12700">
            <a:solidFill>
              <a:srgbClr val="737373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3941020" y="3739948"/>
            <a:ext cx="214477" cy="1434317"/>
          </a:xfrm>
          <a:prstGeom prst="roundRect">
            <a:avLst/>
          </a:prstGeom>
          <a:solidFill>
            <a:srgbClr val="D8F0DE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5294908" y="4048259"/>
            <a:ext cx="214477" cy="824397"/>
          </a:xfrm>
          <a:prstGeom prst="roundRect">
            <a:avLst/>
          </a:prstGeom>
          <a:solidFill>
            <a:srgbClr val="D8F0DE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7091156" y="4048259"/>
            <a:ext cx="214477" cy="824397"/>
          </a:xfrm>
          <a:prstGeom prst="roundRect">
            <a:avLst/>
          </a:prstGeom>
          <a:solidFill>
            <a:srgbClr val="D8F0DE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8438342" y="3739948"/>
            <a:ext cx="214477" cy="1434317"/>
          </a:xfrm>
          <a:prstGeom prst="roundRect">
            <a:avLst/>
          </a:prstGeom>
          <a:solidFill>
            <a:srgbClr val="D8F0DE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4202415" y="3739948"/>
            <a:ext cx="214477" cy="1434317"/>
          </a:xfrm>
          <a:prstGeom prst="roundRect">
            <a:avLst/>
          </a:prstGeom>
          <a:solidFill>
            <a:srgbClr val="F8D5B7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5556303" y="4048259"/>
            <a:ext cx="214477" cy="824397"/>
          </a:xfrm>
          <a:prstGeom prst="roundRect">
            <a:avLst/>
          </a:prstGeom>
          <a:solidFill>
            <a:srgbClr val="F8D5B7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7352550" y="4048259"/>
            <a:ext cx="214477" cy="824397"/>
          </a:xfrm>
          <a:prstGeom prst="roundRect">
            <a:avLst/>
          </a:prstGeom>
          <a:solidFill>
            <a:srgbClr val="F8D5B7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8699736" y="3739948"/>
            <a:ext cx="214477" cy="1434317"/>
          </a:xfrm>
          <a:prstGeom prst="roundRect">
            <a:avLst/>
          </a:prstGeom>
          <a:solidFill>
            <a:srgbClr val="F8D5B7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302951" y="1327078"/>
            <a:ext cx="335120" cy="2144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66666"/>
                </a:solidFill>
                <a:latin typeface="Arial"/>
              </a:rPr>
              <a:t>···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965150" y="1327078"/>
            <a:ext cx="335120" cy="2144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66666"/>
                </a:solidFill>
                <a:latin typeface="Arial"/>
              </a:rPr>
              <a:t>···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453086" y="1327078"/>
            <a:ext cx="335120" cy="2144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66666"/>
                </a:solidFill>
                <a:latin typeface="Arial"/>
              </a:rPr>
              <a:t>···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436999" y="4383380"/>
            <a:ext cx="335120" cy="2144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66666"/>
                </a:solidFill>
                <a:latin typeface="Arial"/>
              </a:rPr>
              <a:t>···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965150" y="4383380"/>
            <a:ext cx="335120" cy="2144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66666"/>
                </a:solidFill>
                <a:latin typeface="Arial"/>
              </a:rPr>
              <a:t>···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607242" y="4383380"/>
            <a:ext cx="335120" cy="2144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66666"/>
                </a:solidFill>
                <a:latin typeface="Arial"/>
              </a:rPr>
              <a:t>···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504026" y="3994640"/>
            <a:ext cx="616622" cy="978552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22603"/>
                </a:lnTo>
                <a:lnTo>
                  <a:pt x="100000" y="78082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584455" y="4276141"/>
            <a:ext cx="502681" cy="180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03030"/>
                </a:solidFill>
                <a:latin typeface="Arial"/>
              </a:rPr>
              <a:t>VAE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584455" y="4490618"/>
            <a:ext cx="502681" cy="180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03030"/>
                </a:solidFill>
                <a:latin typeface="Arial"/>
              </a:rPr>
              <a:t>Dec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9061666" y="4470511"/>
            <a:ext cx="442360" cy="0"/>
          </a:xfrm>
          <a:prstGeom prst="line">
            <a:avLst/>
          </a:prstGeom>
          <a:ln w="2286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0120648" y="4470511"/>
            <a:ext cx="435657" cy="0"/>
          </a:xfrm>
          <a:prstGeom prst="line">
            <a:avLst/>
          </a:prstGeom>
          <a:ln w="2286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4" name="Picture 133" descr="gen_fram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3008" y="3753353"/>
            <a:ext cx="1353888" cy="1367292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10563008" y="5268099"/>
            <a:ext cx="1353888" cy="22788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303030"/>
                </a:solidFill>
                <a:latin typeface="DejaVu Sans Mono"/>
              </a:rPr>
              <a:t>Gen Frames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260056" y="5214479"/>
            <a:ext cx="2801610" cy="154155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33913"/>
                </a:lnTo>
                <a:lnTo>
                  <a:pt x="100000" y="100000"/>
                </a:lnTo>
                <a:lnTo>
                  <a:pt x="0" y="66087"/>
                </a:lnTo>
                <a:close/>
              </a:path>
            </a:pathLst>
          </a:custGeom>
          <a:solidFill>
            <a:srgbClr val="F8F8F8"/>
          </a:solidFill>
          <a:ln w="12700">
            <a:solidFill>
              <a:srgbClr val="77777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6340485" y="5502683"/>
            <a:ext cx="737265" cy="101206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13907"/>
                </a:lnTo>
                <a:lnTo>
                  <a:pt x="100000" y="100000"/>
                </a:lnTo>
                <a:lnTo>
                  <a:pt x="0" y="86093"/>
                </a:lnTo>
                <a:close/>
              </a:path>
            </a:pathLst>
          </a:custGeom>
          <a:solidFill>
            <a:srgbClr val="DDE8FC"/>
          </a:solidFill>
          <a:ln w="6350">
            <a:solidFill>
              <a:srgbClr val="DDE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7620647" y="5643434"/>
            <a:ext cx="750670" cy="1032172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13636"/>
                </a:lnTo>
                <a:lnTo>
                  <a:pt x="100000" y="100000"/>
                </a:lnTo>
                <a:lnTo>
                  <a:pt x="0" y="86364"/>
                </a:lnTo>
                <a:close/>
              </a:path>
            </a:pathLst>
          </a:custGeom>
          <a:solidFill>
            <a:srgbClr val="DDE8FC"/>
          </a:solidFill>
          <a:ln w="6350">
            <a:solidFill>
              <a:srgbClr val="DDE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>
            <a:off x="6474534" y="5683648"/>
            <a:ext cx="449062" cy="643432"/>
          </a:xfrm>
          <a:prstGeom prst="line">
            <a:avLst/>
          </a:prstGeom>
          <a:ln w="10160">
            <a:solidFill>
              <a:srgbClr val="9AA7B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>
            <a:off x="6481236" y="5717161"/>
            <a:ext cx="442360" cy="576407"/>
          </a:xfrm>
          <a:prstGeom prst="line">
            <a:avLst/>
          </a:prstGeom>
          <a:ln w="10160">
            <a:solidFill>
              <a:srgbClr val="9AA7B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761398" y="5851209"/>
            <a:ext cx="449061" cy="630027"/>
          </a:xfrm>
          <a:prstGeom prst="line">
            <a:avLst/>
          </a:prstGeom>
          <a:ln w="10160">
            <a:solidFill>
              <a:srgbClr val="9AA7B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H="1">
            <a:off x="7761398" y="5884721"/>
            <a:ext cx="449061" cy="563003"/>
          </a:xfrm>
          <a:prstGeom prst="line">
            <a:avLst/>
          </a:prstGeom>
          <a:ln w="10160">
            <a:solidFill>
              <a:srgbClr val="9AA7B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Oval 142"/>
          <p:cNvSpPr/>
          <p:nvPr/>
        </p:nvSpPr>
        <p:spPr>
          <a:xfrm>
            <a:off x="6353890" y="5563005"/>
            <a:ext cx="241286" cy="241286"/>
          </a:xfrm>
          <a:prstGeom prst="ellipse">
            <a:avLst/>
          </a:prstGeom>
          <a:solidFill>
            <a:srgbClr val="5275BD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802952" y="5596517"/>
            <a:ext cx="241286" cy="241286"/>
          </a:xfrm>
          <a:prstGeom prst="ellipse">
            <a:avLst/>
          </a:prstGeom>
          <a:solidFill>
            <a:srgbClr val="F2B784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7640754" y="5730565"/>
            <a:ext cx="241286" cy="241286"/>
          </a:xfrm>
          <a:prstGeom prst="ellipse">
            <a:avLst/>
          </a:prstGeom>
          <a:solidFill>
            <a:srgbClr val="5275BD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8089816" y="5764077"/>
            <a:ext cx="241286" cy="241286"/>
          </a:xfrm>
          <a:prstGeom prst="ellipse">
            <a:avLst/>
          </a:prstGeom>
          <a:solidFill>
            <a:srgbClr val="F2B784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353890" y="6172925"/>
            <a:ext cx="241286" cy="24128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 flipV="1">
            <a:off x="6306973" y="6213139"/>
            <a:ext cx="113941" cy="160858"/>
          </a:xfrm>
          <a:prstGeom prst="line">
            <a:avLst/>
          </a:prstGeom>
          <a:ln w="19050">
            <a:solidFill>
              <a:srgbClr val="527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6353890" y="6213139"/>
            <a:ext cx="113941" cy="160858"/>
          </a:xfrm>
          <a:prstGeom prst="line">
            <a:avLst/>
          </a:prstGeom>
          <a:ln w="19050">
            <a:solidFill>
              <a:srgbClr val="527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400807" y="6213139"/>
            <a:ext cx="113941" cy="160858"/>
          </a:xfrm>
          <a:prstGeom prst="line">
            <a:avLst/>
          </a:prstGeom>
          <a:ln w="19050">
            <a:solidFill>
              <a:srgbClr val="527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6447724" y="6213139"/>
            <a:ext cx="113941" cy="160858"/>
          </a:xfrm>
          <a:prstGeom prst="line">
            <a:avLst/>
          </a:prstGeom>
          <a:ln w="19050">
            <a:solidFill>
              <a:srgbClr val="527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Oval 151"/>
          <p:cNvSpPr/>
          <p:nvPr/>
        </p:nvSpPr>
        <p:spPr>
          <a:xfrm>
            <a:off x="6802952" y="6206437"/>
            <a:ext cx="241286" cy="24128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3" name="Connector 152"/>
          <p:cNvCxnSpPr/>
          <p:nvPr/>
        </p:nvCxnSpPr>
        <p:spPr>
          <a:xfrm flipV="1">
            <a:off x="6756035" y="6246651"/>
            <a:ext cx="113941" cy="160858"/>
          </a:xfrm>
          <a:prstGeom prst="line">
            <a:avLst/>
          </a:prstGeom>
          <a:ln w="19050">
            <a:solidFill>
              <a:srgbClr val="F2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6802952" y="6246651"/>
            <a:ext cx="113941" cy="160858"/>
          </a:xfrm>
          <a:prstGeom prst="line">
            <a:avLst/>
          </a:prstGeom>
          <a:ln w="19050">
            <a:solidFill>
              <a:srgbClr val="F2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6849869" y="6246651"/>
            <a:ext cx="113941" cy="160858"/>
          </a:xfrm>
          <a:prstGeom prst="line">
            <a:avLst/>
          </a:prstGeom>
          <a:ln w="19050">
            <a:solidFill>
              <a:srgbClr val="F2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6896786" y="6246651"/>
            <a:ext cx="113941" cy="160858"/>
          </a:xfrm>
          <a:prstGeom prst="line">
            <a:avLst/>
          </a:prstGeom>
          <a:ln w="19050">
            <a:solidFill>
              <a:srgbClr val="F2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Oval 156"/>
          <p:cNvSpPr/>
          <p:nvPr/>
        </p:nvSpPr>
        <p:spPr>
          <a:xfrm>
            <a:off x="7640754" y="6327080"/>
            <a:ext cx="241286" cy="24128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8" name="Connector 157"/>
          <p:cNvCxnSpPr/>
          <p:nvPr/>
        </p:nvCxnSpPr>
        <p:spPr>
          <a:xfrm flipV="1">
            <a:off x="7593837" y="6367295"/>
            <a:ext cx="113941" cy="160858"/>
          </a:xfrm>
          <a:prstGeom prst="line">
            <a:avLst/>
          </a:prstGeom>
          <a:ln w="19050">
            <a:solidFill>
              <a:srgbClr val="527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7640754" y="6367295"/>
            <a:ext cx="113941" cy="160858"/>
          </a:xfrm>
          <a:prstGeom prst="line">
            <a:avLst/>
          </a:prstGeom>
          <a:ln w="19050">
            <a:solidFill>
              <a:srgbClr val="527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7687671" y="6367295"/>
            <a:ext cx="113941" cy="160858"/>
          </a:xfrm>
          <a:prstGeom prst="line">
            <a:avLst/>
          </a:prstGeom>
          <a:ln w="19050">
            <a:solidFill>
              <a:srgbClr val="527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7734588" y="6367295"/>
            <a:ext cx="113941" cy="160858"/>
          </a:xfrm>
          <a:prstGeom prst="line">
            <a:avLst/>
          </a:prstGeom>
          <a:ln w="19050">
            <a:solidFill>
              <a:srgbClr val="527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Oval 161"/>
          <p:cNvSpPr/>
          <p:nvPr/>
        </p:nvSpPr>
        <p:spPr>
          <a:xfrm>
            <a:off x="8089816" y="6360593"/>
            <a:ext cx="241286" cy="24128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3" name="Connector 162"/>
          <p:cNvCxnSpPr/>
          <p:nvPr/>
        </p:nvCxnSpPr>
        <p:spPr>
          <a:xfrm flipV="1">
            <a:off x="8042899" y="6400807"/>
            <a:ext cx="113941" cy="160858"/>
          </a:xfrm>
          <a:prstGeom prst="line">
            <a:avLst/>
          </a:prstGeom>
          <a:ln w="19050">
            <a:solidFill>
              <a:srgbClr val="F2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8089816" y="6400807"/>
            <a:ext cx="113941" cy="160858"/>
          </a:xfrm>
          <a:prstGeom prst="line">
            <a:avLst/>
          </a:prstGeom>
          <a:ln w="19050">
            <a:solidFill>
              <a:srgbClr val="F2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8136733" y="6400807"/>
            <a:ext cx="113941" cy="160858"/>
          </a:xfrm>
          <a:prstGeom prst="line">
            <a:avLst/>
          </a:prstGeom>
          <a:ln w="19050">
            <a:solidFill>
              <a:srgbClr val="F2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8183650" y="6400807"/>
            <a:ext cx="113941" cy="160858"/>
          </a:xfrm>
          <a:prstGeom prst="line">
            <a:avLst/>
          </a:prstGeom>
          <a:ln w="19050">
            <a:solidFill>
              <a:srgbClr val="F2B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6474534" y="5810994"/>
            <a:ext cx="0" cy="361931"/>
          </a:xfrm>
          <a:prstGeom prst="line">
            <a:avLst/>
          </a:prstGeom>
          <a:ln w="22860">
            <a:solidFill>
              <a:srgbClr val="527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6923596" y="5844506"/>
            <a:ext cx="0" cy="361931"/>
          </a:xfrm>
          <a:prstGeom prst="line">
            <a:avLst/>
          </a:prstGeom>
          <a:ln w="22860">
            <a:solidFill>
              <a:srgbClr val="F2A1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7761398" y="5978555"/>
            <a:ext cx="0" cy="348525"/>
          </a:xfrm>
          <a:prstGeom prst="line">
            <a:avLst/>
          </a:prstGeom>
          <a:ln w="22860">
            <a:solidFill>
              <a:srgbClr val="527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8210459" y="6012067"/>
            <a:ext cx="0" cy="348526"/>
          </a:xfrm>
          <a:prstGeom prst="line">
            <a:avLst/>
          </a:prstGeom>
          <a:ln w="22860">
            <a:solidFill>
              <a:srgbClr val="F2A1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Box 170"/>
          <p:cNvSpPr txBox="1"/>
          <p:nvPr/>
        </p:nvSpPr>
        <p:spPr>
          <a:xfrm>
            <a:off x="6970512" y="5864614"/>
            <a:ext cx="335120" cy="2010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777777"/>
                </a:solidFill>
                <a:latin typeface="Arial"/>
              </a:rPr>
              <a:t>➜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310996" y="6065686"/>
            <a:ext cx="335120" cy="2010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777777"/>
                </a:solidFill>
                <a:latin typeface="Arial"/>
              </a:rPr>
              <a:t>➜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903488" y="6313676"/>
            <a:ext cx="482573" cy="2144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03030"/>
                </a:solidFill>
                <a:latin typeface="DejaVu Sans Mono"/>
              </a:rPr>
              <a:t>C⁽¹⁾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270781" y="6514748"/>
            <a:ext cx="482573" cy="2144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03030"/>
                </a:solidFill>
                <a:latin typeface="DejaVu Sans Mono"/>
              </a:rPr>
              <a:t>C⁽ᴺ⁾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004025" y="6554963"/>
            <a:ext cx="368632" cy="1876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03030"/>
                </a:solidFill>
                <a:latin typeface="DejaVu Sans Mono"/>
              </a:rPr>
              <a:t>xT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331103" y="6682309"/>
            <a:ext cx="368632" cy="1876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03030"/>
                </a:solidFill>
                <a:latin typeface="DejaVu Sans Mono"/>
              </a:rPr>
              <a:t>xT</a:t>
            </a:r>
          </a:p>
        </p:txBody>
      </p:sp>
      <p:cxnSp>
        <p:nvCxnSpPr>
          <p:cNvPr id="177" name="Connector 176"/>
          <p:cNvCxnSpPr/>
          <p:nvPr/>
        </p:nvCxnSpPr>
        <p:spPr>
          <a:xfrm flipH="1">
            <a:off x="6682309" y="4919573"/>
            <a:ext cx="247989" cy="549598"/>
          </a:xfrm>
          <a:prstGeom prst="line">
            <a:avLst/>
          </a:prstGeom>
          <a:ln w="22860">
            <a:solidFill>
              <a:srgbClr val="C815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H="1">
            <a:off x="8002685" y="4919573"/>
            <a:ext cx="201072" cy="643432"/>
          </a:xfrm>
          <a:prstGeom prst="line">
            <a:avLst/>
          </a:prstGeom>
          <a:ln w="22860">
            <a:solidFill>
              <a:srgbClr val="C815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7024132" y="4966490"/>
            <a:ext cx="348525" cy="650134"/>
          </a:xfrm>
          <a:prstGeom prst="line">
            <a:avLst/>
          </a:prstGeom>
          <a:ln w="22860">
            <a:solidFill>
              <a:srgbClr val="F2A12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8310996" y="4966490"/>
            <a:ext cx="254691" cy="797587"/>
          </a:xfrm>
          <a:prstGeom prst="line">
            <a:avLst/>
          </a:prstGeom>
          <a:ln w="22860">
            <a:solidFill>
              <a:srgbClr val="F2A12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Rounded Rectangle 180"/>
          <p:cNvSpPr/>
          <p:nvPr/>
        </p:nvSpPr>
        <p:spPr>
          <a:xfrm>
            <a:off x="9329763" y="563002"/>
            <a:ext cx="247989" cy="247989"/>
          </a:xfrm>
          <a:prstGeom prst="roundRect">
            <a:avLst/>
          </a:prstGeom>
          <a:solidFill>
            <a:srgbClr val="92A7D3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966492" y="609919"/>
            <a:ext cx="2010724" cy="234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303030"/>
                </a:solidFill>
                <a:latin typeface="DejaVu Sans Mono"/>
              </a:rPr>
              <a:t>Spatial-Attn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9329763" y="945040"/>
            <a:ext cx="247989" cy="247989"/>
          </a:xfrm>
          <a:prstGeom prst="roundRect">
            <a:avLst/>
          </a:prstGeom>
          <a:solidFill>
            <a:srgbClr val="D8F0DE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966492" y="991957"/>
            <a:ext cx="2010724" cy="234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303030"/>
                </a:solidFill>
                <a:latin typeface="DejaVu Sans Mono"/>
              </a:rPr>
              <a:t>Cross-Attn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9329763" y="1333780"/>
            <a:ext cx="247989" cy="247989"/>
          </a:xfrm>
          <a:prstGeom prst="roundRect">
            <a:avLst/>
          </a:prstGeom>
          <a:solidFill>
            <a:srgbClr val="F8D5B7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966492" y="1380697"/>
            <a:ext cx="2010724" cy="234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303030"/>
                </a:solidFill>
                <a:latin typeface="DejaVu Sans Mono"/>
              </a:rPr>
              <a:t>Temporal-Attn</a:t>
            </a:r>
          </a:p>
        </p:txBody>
      </p:sp>
      <p:cxnSp>
        <p:nvCxnSpPr>
          <p:cNvPr id="187" name="Connector 186"/>
          <p:cNvCxnSpPr/>
          <p:nvPr/>
        </p:nvCxnSpPr>
        <p:spPr>
          <a:xfrm>
            <a:off x="9242632" y="1843164"/>
            <a:ext cx="482574" cy="0"/>
          </a:xfrm>
          <a:prstGeom prst="line">
            <a:avLst/>
          </a:prstGeom>
          <a:ln w="22860">
            <a:solidFill>
              <a:srgbClr val="C815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TextBox 187"/>
          <p:cNvSpPr txBox="1"/>
          <p:nvPr/>
        </p:nvSpPr>
        <p:spPr>
          <a:xfrm>
            <a:off x="9966492" y="1722520"/>
            <a:ext cx="2010724" cy="234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303030"/>
                </a:solidFill>
                <a:latin typeface="DejaVu Sans Mono"/>
              </a:rPr>
              <a:t>Intermediate Feature</a:t>
            </a:r>
          </a:p>
        </p:txBody>
      </p:sp>
      <p:cxnSp>
        <p:nvCxnSpPr>
          <p:cNvPr id="189" name="Connector 188"/>
          <p:cNvCxnSpPr/>
          <p:nvPr/>
        </p:nvCxnSpPr>
        <p:spPr>
          <a:xfrm>
            <a:off x="9242632" y="2211797"/>
            <a:ext cx="482574" cy="0"/>
          </a:xfrm>
          <a:prstGeom prst="line">
            <a:avLst/>
          </a:prstGeom>
          <a:ln w="22860">
            <a:solidFill>
              <a:srgbClr val="F2A12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TextBox 189"/>
          <p:cNvSpPr txBox="1"/>
          <p:nvPr/>
        </p:nvSpPr>
        <p:spPr>
          <a:xfrm>
            <a:off x="9966492" y="2104558"/>
            <a:ext cx="2010724" cy="234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303030"/>
                </a:solidFill>
                <a:latin typeface="DejaVu Sans Mono"/>
              </a:rPr>
              <a:t>Gradient from 𝒞⁽ˡ⁾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9249334" y="2419572"/>
            <a:ext cx="462466" cy="382037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36842"/>
                </a:lnTo>
                <a:lnTo>
                  <a:pt x="100000" y="100000"/>
                </a:lnTo>
                <a:lnTo>
                  <a:pt x="0" y="63158"/>
                </a:lnTo>
                <a:close/>
              </a:path>
            </a:pathLst>
          </a:custGeom>
          <a:solidFill>
            <a:srgbClr val="F8F8F8"/>
          </a:solidFill>
          <a:ln w="12700">
            <a:solidFill>
              <a:srgbClr val="77777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9966492" y="2459786"/>
            <a:ext cx="2010724" cy="234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03030"/>
                </a:solidFill>
                <a:latin typeface="DejaVu Sans Mono"/>
              </a:rPr>
              <a:t>IMG Construction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966492" y="2647454"/>
            <a:ext cx="2010724" cy="234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03030"/>
                </a:solidFill>
                <a:latin typeface="DejaVu Sans Mono"/>
              </a:rPr>
              <a:t>(Training only)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9282846" y="3156838"/>
            <a:ext cx="341823" cy="247989"/>
          </a:xfrm>
          <a:prstGeom prst="roundRect">
            <a:avLst/>
          </a:prstGeom>
          <a:solidFill>
            <a:srgbClr val="92A7D3"/>
          </a:solidFill>
          <a:ln w="12700">
            <a:solidFill>
              <a:srgbClr val="737373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9966492" y="3197052"/>
            <a:ext cx="2010724" cy="234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303030"/>
                </a:solidFill>
                <a:latin typeface="DejaVu Sans Mono"/>
              </a:rPr>
              <a:t>Selected for MSM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EverybodyDance Bipartite Graphâ€“Based Identity Correspondence for Multi-Character Anima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62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