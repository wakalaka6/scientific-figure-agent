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721072" cy="10433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721072" cy="10433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" y="164592"/>
            <a:ext cx="17519904" cy="5861304"/>
          </a:xfrm>
          <a:prstGeom prst="roundRect">
            <a:avLst/>
          </a:prstGeom>
          <a:solidFill>
            <a:srgbClr val="FFFFFF"/>
          </a:solidFill>
          <a:ln w="2381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" y="6199632"/>
            <a:ext cx="13853160" cy="4197096"/>
          </a:xfrm>
          <a:prstGeom prst="roundRect">
            <a:avLst/>
          </a:prstGeom>
          <a:solidFill>
            <a:srgbClr val="FFFFFF"/>
          </a:solidFill>
          <a:ln w="2381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81760" y="6199632"/>
            <a:ext cx="3547872" cy="4197096"/>
          </a:xfrm>
          <a:prstGeom prst="roundRect">
            <a:avLst/>
          </a:prstGeom>
          <a:solidFill>
            <a:srgbClr val="FFFFFF"/>
          </a:solidFill>
          <a:ln w="2381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256032"/>
            <a:ext cx="2642616" cy="429768"/>
          </a:xfrm>
          <a:prstGeom prst="roundRect">
            <a:avLst/>
          </a:prstGeom>
          <a:solidFill>
            <a:srgbClr val="F0F0F0"/>
          </a:solidFill>
          <a:ln w="21907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301752"/>
            <a:ext cx="255117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51515"/>
                </a:solidFill>
                <a:latin typeface="Times New Roman"/>
              </a:rPr>
              <a:t>Sample t ∈ 𝒰(1,T)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7016" y="256032"/>
            <a:ext cx="1792224" cy="429768"/>
          </a:xfrm>
          <a:prstGeom prst="roundRect">
            <a:avLst/>
          </a:prstGeom>
          <a:solidFill>
            <a:srgbClr val="F0F0F0"/>
          </a:solidFill>
          <a:ln w="21907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301752"/>
            <a:ext cx="1700784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51515"/>
                </a:solidFill>
                <a:latin typeface="Times New Roman"/>
              </a:rPr>
              <a:t>Sinusoidal 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72968" y="475488"/>
            <a:ext cx="384048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502152" y="420624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713232"/>
            <a:ext cx="137160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650" b="1" i="0">
                <a:solidFill>
                  <a:srgbClr val="151515"/>
                </a:solidFill>
                <a:latin typeface="Times New Roman"/>
              </a:rPr>
              <a:t>Timestep 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014984"/>
            <a:ext cx="2624328" cy="429768"/>
          </a:xfrm>
          <a:prstGeom prst="roundRect">
            <a:avLst/>
          </a:prstGeom>
          <a:solidFill>
            <a:srgbClr val="F0F0F0"/>
          </a:solidFill>
          <a:ln w="21907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060704"/>
            <a:ext cx="2496312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75" b="1" i="1">
                <a:solidFill>
                  <a:srgbClr val="151515"/>
                </a:solidFill>
                <a:latin typeface="Times New Roman"/>
              </a:rPr>
              <a:t>&lt;spatula, scrape, plate&gt;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7016" y="1014984"/>
            <a:ext cx="1792224" cy="429768"/>
          </a:xfrm>
          <a:prstGeom prst="roundRect">
            <a:avLst/>
          </a:prstGeom>
          <a:solidFill>
            <a:srgbClr val="9BC3EF"/>
          </a:solidFill>
          <a:ln w="21907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1060704"/>
            <a:ext cx="1700784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725" b="1" i="0">
                <a:solidFill>
                  <a:srgbClr val="151515"/>
                </a:solidFill>
                <a:latin typeface="Times New Roman"/>
              </a:rPr>
              <a:t>T5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499616"/>
            <a:ext cx="137160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650" b="1" i="0">
                <a:solidFill>
                  <a:srgbClr val="151515"/>
                </a:solidFill>
                <a:latin typeface="Times New Roman"/>
              </a:rPr>
              <a:t>Prompts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914400"/>
            <a:ext cx="82296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75" b="1" i="1">
                <a:solidFill>
                  <a:srgbClr val="151515"/>
                </a:solidFill>
                <a:latin typeface="Times New Roman"/>
              </a:rPr>
              <a:t>eₜₑₓₜ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40096" y="1234440"/>
            <a:ext cx="676656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16752" y="1234440"/>
            <a:ext cx="0" cy="310896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16752" y="1234440"/>
            <a:ext cx="0" cy="310896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5961888" y="149047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349240" y="475488"/>
            <a:ext cx="3611880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61120" y="475488"/>
            <a:ext cx="0" cy="484632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20" y="475488"/>
            <a:ext cx="0" cy="484632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8906256" y="90525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612648"/>
            <a:ext cx="50292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75" b="1" i="1">
                <a:solidFill>
                  <a:srgbClr val="151515"/>
                </a:solidFill>
                <a:latin typeface="Times New Roman"/>
              </a:rPr>
              <a:t>eₜ</a:t>
            </a:r>
          </a:p>
        </p:txBody>
      </p:sp>
      <p:pic>
        <p:nvPicPr>
          <p:cNvPr id="28" name="Picture 27" descr="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76856"/>
            <a:ext cx="1874519" cy="10698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9808" y="3465576"/>
            <a:ext cx="14264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151515"/>
                </a:solidFill>
                <a:latin typeface="Times New Roman"/>
              </a:rPr>
              <a:t>Ref Img 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14016" y="2825496"/>
            <a:ext cx="201168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2560320" y="277063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apezoid 31"/>
          <p:cNvSpPr/>
          <p:nvPr/>
        </p:nvSpPr>
        <p:spPr>
          <a:xfrm>
            <a:off x="2615184" y="2267712"/>
            <a:ext cx="795528" cy="1124712"/>
          </a:xfrm>
          <a:prstGeom prst="trapezoid">
            <a:avLst/>
          </a:prstGeom>
          <a:solidFill>
            <a:srgbClr val="9BC3EF"/>
          </a:solidFill>
          <a:ln w="20955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 rot="5400000">
            <a:off x="2697480" y="2532888"/>
            <a:ext cx="630936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51515"/>
                </a:solidFill>
                <a:latin typeface="Times New Roman"/>
              </a:rPr>
              <a:t>3D VAE
Enc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10712" y="2825496"/>
            <a:ext cx="420624" cy="9144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6135886">
            <a:off x="3776472" y="286207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31336" y="2615184"/>
            <a:ext cx="685800" cy="603504"/>
          </a:xfrm>
          <a:prstGeom prst="rect">
            <a:avLst/>
          </a:prstGeom>
          <a:solidFill>
            <a:srgbClr val="FFB4A9"/>
          </a:solidFill>
          <a:ln w="21907">
            <a:solidFill>
              <a:srgbClr val="D879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77056" y="2743200"/>
            <a:ext cx="594360" cy="32918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950" b="1" i="1">
                <a:solidFill>
                  <a:srgbClr val="151515"/>
                </a:solidFill>
                <a:latin typeface="Times New Roman"/>
              </a:rPr>
              <a:t>zᴵ</a:t>
            </a:r>
          </a:p>
        </p:txBody>
      </p:sp>
      <p:sp>
        <p:nvSpPr>
          <p:cNvPr id="38" name="Cube 37"/>
          <p:cNvSpPr/>
          <p:nvPr/>
        </p:nvSpPr>
        <p:spPr>
          <a:xfrm>
            <a:off x="4626864" y="1673352"/>
            <a:ext cx="777240" cy="777240"/>
          </a:xfrm>
          <a:prstGeom prst="cube">
            <a:avLst/>
          </a:prstGeom>
          <a:solidFill>
            <a:srgbClr val="D991D6"/>
          </a:solidFill>
          <a:ln w="21907">
            <a:solidFill>
              <a:srgbClr val="C57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62856" y="2075688"/>
            <a:ext cx="68580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1" i="1">
                <a:solidFill>
                  <a:srgbClr val="151515"/>
                </a:solidFill>
                <a:latin typeface="Times New Roman"/>
              </a:rPr>
              <a:t>zᵛₜ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10912" y="2450592"/>
            <a:ext cx="0" cy="36576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0800000">
            <a:off x="4956048" y="2761488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46320" y="2752344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2761488"/>
            <a:ext cx="329184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025" b="0" i="0">
                <a:solidFill>
                  <a:srgbClr val="151515"/>
                </a:solidFill>
                <a:latin typeface="Arial"/>
              </a:rPr>
              <a:t>⊕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17136" y="2916936"/>
            <a:ext cx="329184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4791456" y="286207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5175504" y="2916936"/>
            <a:ext cx="694944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5815584" y="286207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68112" y="2980944"/>
            <a:ext cx="4114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75" b="1" i="1">
                <a:solidFill>
                  <a:srgbClr val="151515"/>
                </a:solidFill>
                <a:latin typeface="Times New Roman"/>
              </a:rPr>
              <a:t>eᵥ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490472" y="4398264"/>
            <a:ext cx="0" cy="3538728"/>
          </a:xfrm>
          <a:prstGeom prst="line">
            <a:avLst/>
          </a:prstGeom>
          <a:ln w="47625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490472" y="4398264"/>
            <a:ext cx="1124712" cy="0"/>
          </a:xfrm>
          <a:prstGeom prst="line">
            <a:avLst/>
          </a:prstGeom>
          <a:ln w="47625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490472" y="4398264"/>
            <a:ext cx="1124712" cy="0"/>
          </a:xfrm>
          <a:prstGeom prst="line">
            <a:avLst/>
          </a:prstGeom>
          <a:ln w="47625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5400000">
            <a:off x="2560320" y="4343400"/>
            <a:ext cx="109728" cy="109728"/>
          </a:xfrm>
          <a:prstGeom prst="triangle">
            <a:avLst/>
          </a:prstGeom>
          <a:solidFill>
            <a:srgbClr val="119C9D"/>
          </a:solidFill>
          <a:ln w="4762">
            <a:solidFill>
              <a:srgbClr val="119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00200" y="5175504"/>
            <a:ext cx="173736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19C9D"/>
                </a:solidFill>
                <a:latin typeface="Times New Roman"/>
              </a:rPr>
              <a:t>Interaction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5504688"/>
            <a:ext cx="1554480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19C9D"/>
                </a:solidFill>
                <a:latin typeface="Times New Roman"/>
              </a:rPr>
              <a:t>Guidance</a:t>
            </a:r>
          </a:p>
        </p:txBody>
      </p:sp>
      <p:sp>
        <p:nvSpPr>
          <p:cNvPr id="55" name="Trapezoid 54"/>
          <p:cNvSpPr/>
          <p:nvPr/>
        </p:nvSpPr>
        <p:spPr>
          <a:xfrm>
            <a:off x="2615184" y="3767328"/>
            <a:ext cx="795528" cy="1133856"/>
          </a:xfrm>
          <a:prstGeom prst="trapezoid">
            <a:avLst/>
          </a:prstGeom>
          <a:solidFill>
            <a:srgbClr val="9BC3EF"/>
          </a:solidFill>
          <a:ln w="20955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 rot="5400000">
            <a:off x="2697480" y="4032504"/>
            <a:ext cx="630936" cy="5760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51515"/>
                </a:solidFill>
                <a:latin typeface="Times New Roman"/>
              </a:rPr>
              <a:t>3D VAE
Enc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410712" y="4343400"/>
            <a:ext cx="34747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3703320" y="428853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ube 58"/>
          <p:cNvSpPr/>
          <p:nvPr/>
        </p:nvSpPr>
        <p:spPr>
          <a:xfrm>
            <a:off x="3758184" y="4032504"/>
            <a:ext cx="786384" cy="786384"/>
          </a:xfrm>
          <a:prstGeom prst="cube">
            <a:avLst/>
          </a:prstGeom>
          <a:solidFill>
            <a:srgbClr val="7FA9E5"/>
          </a:solidFill>
          <a:ln w="21907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76472" y="4347057"/>
            <a:ext cx="749808" cy="2103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51515"/>
                </a:solidFill>
                <a:latin typeface="Times New Roman"/>
              </a:rPr>
              <a:t>ẑᴹ₀</a:t>
            </a:r>
          </a:p>
        </p:txBody>
      </p:sp>
      <p:sp>
        <p:nvSpPr>
          <p:cNvPr id="61" name="Cube 60"/>
          <p:cNvSpPr/>
          <p:nvPr/>
        </p:nvSpPr>
        <p:spPr>
          <a:xfrm>
            <a:off x="4626864" y="4882896"/>
            <a:ext cx="777240" cy="777240"/>
          </a:xfrm>
          <a:prstGeom prst="cube">
            <a:avLst/>
          </a:prstGeom>
          <a:solidFill>
            <a:srgbClr val="99E0A0"/>
          </a:solidFill>
          <a:ln w="21907">
            <a:solidFill>
              <a:srgbClr val="79D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62856" y="5404104"/>
            <a:ext cx="68580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00" b="1" i="1">
                <a:solidFill>
                  <a:srgbClr val="151515"/>
                </a:solidFill>
                <a:latin typeface="Times New Roman"/>
              </a:rPr>
              <a:t>zᴹₜ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010912" y="4507992"/>
            <a:ext cx="0" cy="374904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>
            <a:off x="4956048" y="4453128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846320" y="417880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0" y="4187952"/>
            <a:ext cx="329184" cy="31089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025" b="0" i="0">
                <a:solidFill>
                  <a:srgbClr val="151515"/>
                </a:solidFill>
                <a:latin typeface="Arial"/>
              </a:rPr>
              <a:t>⊕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544568" y="4343400"/>
            <a:ext cx="30175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4791456" y="428853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5175504" y="4343400"/>
            <a:ext cx="694944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5815584" y="428853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68112" y="4407408"/>
            <a:ext cx="41148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75" b="1" i="1">
                <a:solidFill>
                  <a:srgbClr val="151515"/>
                </a:solidFill>
                <a:latin typeface="Times New Roman"/>
              </a:rPr>
              <a:t>eᴹ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61304" y="1527048"/>
            <a:ext cx="329184" cy="3657600"/>
          </a:xfrm>
          <a:prstGeom prst="rect">
            <a:avLst/>
          </a:prstGeom>
          <a:solidFill>
            <a:srgbClr val="FFFFFF"/>
          </a:solidFill>
          <a:ln w="2095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79592" y="1545336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79592" y="1771192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879592" y="1997049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879592" y="2222906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879592" y="2448763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879592" y="2674620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879592" y="2900476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79592" y="3126333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879592" y="3352190"/>
            <a:ext cx="292608" cy="208483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79592" y="3578047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879592" y="3803904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79592" y="4029760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879592" y="4255617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879592" y="4481474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879592" y="4707331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79592" y="4933188"/>
            <a:ext cx="292608" cy="208483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19088" y="768096"/>
            <a:ext cx="594360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875" b="1" i="0">
                <a:solidFill>
                  <a:srgbClr val="151515"/>
                </a:solidFill>
                <a:latin typeface="Times New Roman"/>
              </a:rPr>
              <a:t>× 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64224" y="960120"/>
            <a:ext cx="5193792" cy="4498848"/>
          </a:xfrm>
          <a:prstGeom prst="roundRect">
            <a:avLst/>
          </a:prstGeom>
          <a:solidFill>
            <a:srgbClr val="FFF4D7"/>
          </a:solidFill>
          <a:ln w="2381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775704" y="1207008"/>
            <a:ext cx="4471416" cy="457200"/>
          </a:xfrm>
          <a:prstGeom prst="roundRect">
            <a:avLst/>
          </a:prstGeom>
          <a:solidFill>
            <a:srgbClr val="F5A04B"/>
          </a:solidFill>
          <a:ln w="21907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67144" y="1271016"/>
            <a:ext cx="4288536" cy="32918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51515"/>
                </a:solidFill>
                <a:latin typeface="Times New Roman"/>
              </a:rPr>
              <a:t>Triple Modality Adaptive Modulation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78624" y="1764792"/>
            <a:ext cx="1371600" cy="23774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25" b="1" i="1">
                <a:solidFill>
                  <a:srgbClr val="151515"/>
                </a:solidFill>
                <a:latin typeface="Times New Roman"/>
              </a:rPr>
              <a:t>αₘ¹ | βₘ¹ | γₘ¹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09760" y="1764792"/>
            <a:ext cx="1371600" cy="23774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425" b="1" i="1">
                <a:solidFill>
                  <a:srgbClr val="151515"/>
                </a:solidFill>
                <a:latin typeface="Times New Roman"/>
              </a:rPr>
              <a:t>αₘ² | βₘ² | γₘ²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260336" y="1947672"/>
            <a:ext cx="0" cy="201168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10800000">
            <a:off x="7205472" y="209397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8165592" y="1947672"/>
            <a:ext cx="0" cy="201168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10800000">
            <a:off x="8110727" y="209397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9528048" y="1947672"/>
            <a:ext cx="0" cy="201168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10800000">
            <a:off x="9473184" y="209397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10387584" y="1947672"/>
            <a:ext cx="0" cy="201168"/>
          </a:xfrm>
          <a:prstGeom prst="line">
            <a:avLst/>
          </a:prstGeom>
          <a:ln w="19050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 rot="10800000">
            <a:off x="10332720" y="209397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876288" y="2066543"/>
            <a:ext cx="2066543" cy="868680"/>
          </a:xfrm>
          <a:prstGeom prst="rect">
            <a:avLst/>
          </a:prstGeom>
          <a:noFill/>
          <a:ln w="12382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35440" y="2066543"/>
            <a:ext cx="2066543" cy="868680"/>
          </a:xfrm>
          <a:prstGeom prst="rect">
            <a:avLst/>
          </a:prstGeom>
          <a:noFill/>
          <a:ln w="12382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876288" y="3163824"/>
            <a:ext cx="2066543" cy="868680"/>
          </a:xfrm>
          <a:prstGeom prst="rect">
            <a:avLst/>
          </a:prstGeom>
          <a:noFill/>
          <a:ln w="12382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35440" y="3163824"/>
            <a:ext cx="2066543" cy="868680"/>
          </a:xfrm>
          <a:prstGeom prst="rect">
            <a:avLst/>
          </a:prstGeom>
          <a:noFill/>
          <a:ln w="12382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876288" y="4261104"/>
            <a:ext cx="2066543" cy="868680"/>
          </a:xfrm>
          <a:prstGeom prst="rect">
            <a:avLst/>
          </a:prstGeom>
          <a:noFill/>
          <a:ln w="12382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35440" y="4261104"/>
            <a:ext cx="2066543" cy="868680"/>
          </a:xfrm>
          <a:prstGeom prst="rect">
            <a:avLst/>
          </a:prstGeom>
          <a:noFill/>
          <a:ln w="12382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6876288" y="2066543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876288" y="293522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235440" y="2066543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235440" y="293522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876288" y="316382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876288" y="403250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235440" y="316382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235440" y="403250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876288" y="426110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76288" y="512978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235440" y="426110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235440" y="5129784"/>
            <a:ext cx="2066544" cy="0"/>
          </a:xfrm>
          <a:prstGeom prst="line">
            <a:avLst/>
          </a:prstGeom>
          <a:ln w="11429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6464808" y="2596896"/>
            <a:ext cx="5001768" cy="0"/>
          </a:xfrm>
          <a:prstGeom prst="line">
            <a:avLst/>
          </a:prstGeom>
          <a:ln w="2095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11411712" y="254203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55664" y="2578608"/>
            <a:ext cx="566928" cy="21945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1">
                <a:solidFill>
                  <a:srgbClr val="151515"/>
                </a:solidFill>
                <a:latin typeface="Times New Roman"/>
              </a:rPr>
              <a:t>fₜₑₓₜ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6464808" y="3694176"/>
            <a:ext cx="5001768" cy="0"/>
          </a:xfrm>
          <a:prstGeom prst="line">
            <a:avLst/>
          </a:prstGeom>
          <a:ln w="2095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Isosceles Triangle 124"/>
          <p:cNvSpPr/>
          <p:nvPr/>
        </p:nvSpPr>
        <p:spPr>
          <a:xfrm rot="5400000">
            <a:off x="11411712" y="363931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55664" y="3675887"/>
            <a:ext cx="566928" cy="21945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1">
                <a:solidFill>
                  <a:srgbClr val="151515"/>
                </a:solidFill>
                <a:latin typeface="Times New Roman"/>
              </a:rPr>
              <a:t>fᵥ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464808" y="4791456"/>
            <a:ext cx="5001768" cy="0"/>
          </a:xfrm>
          <a:prstGeom prst="line">
            <a:avLst/>
          </a:prstGeom>
          <a:ln w="2095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Isosceles Triangle 127"/>
          <p:cNvSpPr/>
          <p:nvPr/>
        </p:nvSpPr>
        <p:spPr>
          <a:xfrm rot="5400000">
            <a:off x="11411712" y="473659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55664" y="4773168"/>
            <a:ext cx="566928" cy="21945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1">
                <a:solidFill>
                  <a:srgbClr val="151515"/>
                </a:solidFill>
                <a:latin typeface="Times New Roman"/>
              </a:rPr>
              <a:t>fᴹ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022592" y="2157984"/>
            <a:ext cx="420624" cy="603504"/>
          </a:xfrm>
          <a:prstGeom prst="roundRect">
            <a:avLst/>
          </a:prstGeom>
          <a:solidFill>
            <a:srgbClr val="F5A04B"/>
          </a:solidFill>
          <a:ln w="2000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 rot="5400000">
            <a:off x="7040880" y="224942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339327" y="2157984"/>
            <a:ext cx="411480" cy="603504"/>
          </a:xfrm>
          <a:prstGeom prst="roundRect">
            <a:avLst/>
          </a:prstGeom>
          <a:solidFill>
            <a:srgbClr val="F5A04B"/>
          </a:solidFill>
          <a:ln w="2000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 rot="5400000">
            <a:off x="8357616" y="224942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Gate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326880" y="2157984"/>
            <a:ext cx="420624" cy="603504"/>
          </a:xfrm>
          <a:prstGeom prst="roundRect">
            <a:avLst/>
          </a:prstGeom>
          <a:solidFill>
            <a:srgbClr val="F5A04B"/>
          </a:solidFill>
          <a:ln w="2000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 rot="5400000">
            <a:off x="9345168" y="224942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0680192" y="2157984"/>
            <a:ext cx="411480" cy="603504"/>
          </a:xfrm>
          <a:prstGeom prst="roundRect">
            <a:avLst/>
          </a:prstGeom>
          <a:solidFill>
            <a:srgbClr val="F5A04B"/>
          </a:solidFill>
          <a:ln w="2000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 rot="5400000">
            <a:off x="10698480" y="224942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Gate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022592" y="3255264"/>
            <a:ext cx="420624" cy="603504"/>
          </a:xfrm>
          <a:prstGeom prst="roundRect">
            <a:avLst/>
          </a:prstGeom>
          <a:solidFill>
            <a:srgbClr val="D97CCF"/>
          </a:solidFill>
          <a:ln w="20002">
            <a:solidFill>
              <a:srgbClr val="C57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 rot="5400000">
            <a:off x="7040880" y="334670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339327" y="3255264"/>
            <a:ext cx="411480" cy="603504"/>
          </a:xfrm>
          <a:prstGeom prst="roundRect">
            <a:avLst/>
          </a:prstGeom>
          <a:solidFill>
            <a:srgbClr val="D97CCF"/>
          </a:solidFill>
          <a:ln w="20002">
            <a:solidFill>
              <a:srgbClr val="C57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 rot="5400000">
            <a:off x="8357616" y="334670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Gate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326880" y="3255264"/>
            <a:ext cx="420624" cy="603504"/>
          </a:xfrm>
          <a:prstGeom prst="roundRect">
            <a:avLst/>
          </a:prstGeom>
          <a:solidFill>
            <a:srgbClr val="D97CCF"/>
          </a:solidFill>
          <a:ln w="20002">
            <a:solidFill>
              <a:srgbClr val="C57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 rot="5400000">
            <a:off x="9345168" y="334670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680192" y="3255264"/>
            <a:ext cx="411480" cy="603504"/>
          </a:xfrm>
          <a:prstGeom prst="roundRect">
            <a:avLst/>
          </a:prstGeom>
          <a:solidFill>
            <a:srgbClr val="D97CCF"/>
          </a:solidFill>
          <a:ln w="20002">
            <a:solidFill>
              <a:srgbClr val="C57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 rot="5400000">
            <a:off x="10698480" y="334670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Gate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022592" y="4352544"/>
            <a:ext cx="420624" cy="603504"/>
          </a:xfrm>
          <a:prstGeom prst="roundRect">
            <a:avLst/>
          </a:prstGeom>
          <a:solidFill>
            <a:srgbClr val="79D772"/>
          </a:solidFill>
          <a:ln w="20002">
            <a:solidFill>
              <a:srgbClr val="79D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 rot="5400000">
            <a:off x="7040880" y="444398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339327" y="4352544"/>
            <a:ext cx="411480" cy="603504"/>
          </a:xfrm>
          <a:prstGeom prst="roundRect">
            <a:avLst/>
          </a:prstGeom>
          <a:solidFill>
            <a:srgbClr val="79D772"/>
          </a:solidFill>
          <a:ln w="20002">
            <a:solidFill>
              <a:srgbClr val="79D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 rot="5400000">
            <a:off x="8357616" y="444398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Gate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326880" y="4352544"/>
            <a:ext cx="420624" cy="603504"/>
          </a:xfrm>
          <a:prstGeom prst="roundRect">
            <a:avLst/>
          </a:prstGeom>
          <a:solidFill>
            <a:srgbClr val="79D772"/>
          </a:solidFill>
          <a:ln w="20002">
            <a:solidFill>
              <a:srgbClr val="79D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 rot="5400000">
            <a:off x="9345168" y="444398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680192" y="4352544"/>
            <a:ext cx="411480" cy="603504"/>
          </a:xfrm>
          <a:prstGeom prst="roundRect">
            <a:avLst/>
          </a:prstGeom>
          <a:solidFill>
            <a:srgbClr val="79D772"/>
          </a:solidFill>
          <a:ln w="20002">
            <a:solidFill>
              <a:srgbClr val="79D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 rot="5400000">
            <a:off x="10698480" y="4443984"/>
            <a:ext cx="365760" cy="4389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51515"/>
                </a:solidFill>
                <a:latin typeface="Times New Roman"/>
              </a:rPr>
              <a:t>Gate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744968" y="2157984"/>
            <a:ext cx="420624" cy="3017520"/>
          </a:xfrm>
          <a:prstGeom prst="roundRect">
            <a:avLst/>
          </a:prstGeom>
          <a:solidFill>
            <a:srgbClr val="9BC3EF"/>
          </a:solidFill>
          <a:ln w="20955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 rot="5400000">
            <a:off x="7763256" y="2734056"/>
            <a:ext cx="384048" cy="18105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51515"/>
                </a:solidFill>
                <a:latin typeface="Times New Roman"/>
              </a:rPr>
              <a:t>3D Full Attention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021824" y="2157984"/>
            <a:ext cx="448056" cy="3017520"/>
          </a:xfrm>
          <a:prstGeom prst="roundRect">
            <a:avLst/>
          </a:prstGeom>
          <a:solidFill>
            <a:srgbClr val="9BC3EF"/>
          </a:solidFill>
          <a:ln w="20955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 rot="5400000">
            <a:off x="10049256" y="2642616"/>
            <a:ext cx="393192" cy="19933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51515"/>
                </a:solidFill>
                <a:latin typeface="Times New Roman"/>
              </a:rPr>
              <a:t>Point-wise Feedforward</a:t>
            </a:r>
          </a:p>
        </p:txBody>
      </p:sp>
      <p:sp>
        <p:nvSpPr>
          <p:cNvPr id="158" name="Teardrop 157"/>
          <p:cNvSpPr/>
          <p:nvPr/>
        </p:nvSpPr>
        <p:spPr>
          <a:xfrm rot="10800000">
            <a:off x="11466576" y="1161288"/>
            <a:ext cx="248716" cy="295351"/>
          </a:xfrm>
          <a:prstGeom prst="teardrop">
            <a:avLst/>
          </a:prstGeom>
          <a:solidFill>
            <a:srgbClr val="F17A33"/>
          </a:solidFill>
          <a:ln w="12382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ardrop 158"/>
          <p:cNvSpPr/>
          <p:nvPr/>
        </p:nvSpPr>
        <p:spPr>
          <a:xfrm rot="10800000">
            <a:off x="11544300" y="1262329"/>
            <a:ext cx="93268" cy="139903"/>
          </a:xfrm>
          <a:prstGeom prst="teardrop">
            <a:avLst/>
          </a:prstGeom>
          <a:solidFill>
            <a:srgbClr val="F5A04B"/>
          </a:solidFill>
          <a:ln w="4762">
            <a:solidFill>
              <a:srgbClr val="F5A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814048" y="1709928"/>
            <a:ext cx="320040" cy="3026664"/>
          </a:xfrm>
          <a:prstGeom prst="rect">
            <a:avLst/>
          </a:prstGeom>
          <a:solidFill>
            <a:srgbClr val="FFFFFF"/>
          </a:solidFill>
          <a:ln w="20955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832336" y="17282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832336" y="19568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1832336" y="21854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832336" y="24140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832336" y="26426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832336" y="28712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832336" y="3099816"/>
            <a:ext cx="283464" cy="210312"/>
          </a:xfrm>
          <a:prstGeom prst="rect">
            <a:avLst/>
          </a:prstGeom>
          <a:solidFill>
            <a:srgbClr val="D991D6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1832336" y="3328416"/>
            <a:ext cx="283464" cy="210312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832336" y="3557016"/>
            <a:ext cx="283464" cy="210312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832336" y="3785615"/>
            <a:ext cx="283464" cy="210312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832336" y="4014215"/>
            <a:ext cx="283464" cy="210312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1832336" y="4242816"/>
            <a:ext cx="283464" cy="210312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1832336" y="4471416"/>
            <a:ext cx="283464" cy="210312"/>
          </a:xfrm>
          <a:prstGeom prst="rect">
            <a:avLst/>
          </a:prstGeom>
          <a:solidFill>
            <a:srgbClr val="9AE7AA"/>
          </a:solidFill>
          <a:ln w="6667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1558016" y="2596896"/>
            <a:ext cx="25603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Isosceles Triangle 174"/>
          <p:cNvSpPr/>
          <p:nvPr/>
        </p:nvSpPr>
        <p:spPr>
          <a:xfrm rot="5400000">
            <a:off x="11759184" y="254203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11558016" y="3694176"/>
            <a:ext cx="25603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5400000">
            <a:off x="11759184" y="363931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11558016" y="4791456"/>
            <a:ext cx="25603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Isosceles Triangle 178"/>
          <p:cNvSpPr/>
          <p:nvPr/>
        </p:nvSpPr>
        <p:spPr>
          <a:xfrm rot="5400000">
            <a:off x="11759184" y="473659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Cube 179"/>
          <p:cNvSpPr/>
          <p:nvPr/>
        </p:nvSpPr>
        <p:spPr>
          <a:xfrm>
            <a:off x="12435840" y="2176272"/>
            <a:ext cx="768096" cy="768096"/>
          </a:xfrm>
          <a:prstGeom prst="cube">
            <a:avLst/>
          </a:prstGeom>
          <a:solidFill>
            <a:srgbClr val="D991D6"/>
          </a:solidFill>
          <a:ln w="21907">
            <a:solidFill>
              <a:srgbClr val="C57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2454128" y="2483510"/>
            <a:ext cx="731520" cy="2103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51515"/>
                </a:solidFill>
                <a:latin typeface="Times New Roman"/>
              </a:rPr>
              <a:t>ẑᵛ₀</a:t>
            </a:r>
          </a:p>
        </p:txBody>
      </p:sp>
      <p:sp>
        <p:nvSpPr>
          <p:cNvPr id="182" name="Cube 181"/>
          <p:cNvSpPr/>
          <p:nvPr/>
        </p:nvSpPr>
        <p:spPr>
          <a:xfrm>
            <a:off x="12435840" y="3639312"/>
            <a:ext cx="768096" cy="768096"/>
          </a:xfrm>
          <a:prstGeom prst="cube">
            <a:avLst/>
          </a:prstGeom>
          <a:solidFill>
            <a:srgbClr val="99E0A0"/>
          </a:solidFill>
          <a:ln w="21907">
            <a:solidFill>
              <a:srgbClr val="79D7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2454128" y="3946550"/>
            <a:ext cx="731520" cy="2103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1">
                <a:solidFill>
                  <a:srgbClr val="151515"/>
                </a:solidFill>
                <a:latin typeface="Times New Roman"/>
              </a:rPr>
              <a:t>ẑᴹ₀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12134088" y="2596896"/>
            <a:ext cx="30175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Isosceles Triangle 184"/>
          <p:cNvSpPr/>
          <p:nvPr/>
        </p:nvSpPr>
        <p:spPr>
          <a:xfrm rot="5400000">
            <a:off x="12380976" y="254203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12134088" y="3694176"/>
            <a:ext cx="301752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Isosceles Triangle 186"/>
          <p:cNvSpPr/>
          <p:nvPr/>
        </p:nvSpPr>
        <p:spPr>
          <a:xfrm rot="5400000">
            <a:off x="12380976" y="363931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rapezoid 187"/>
          <p:cNvSpPr/>
          <p:nvPr/>
        </p:nvSpPr>
        <p:spPr>
          <a:xfrm>
            <a:off x="13935456" y="1856231"/>
            <a:ext cx="896112" cy="1133856"/>
          </a:xfrm>
          <a:prstGeom prst="trapezoid">
            <a:avLst/>
          </a:prstGeom>
          <a:solidFill>
            <a:srgbClr val="9BC3EF"/>
          </a:solidFill>
          <a:ln w="20955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 rot="5400000">
            <a:off x="14036040" y="2103120"/>
            <a:ext cx="704088" cy="6583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51515"/>
                </a:solidFill>
                <a:latin typeface="Times New Roman"/>
              </a:rPr>
              <a:t>3D VAE
Dec</a:t>
            </a:r>
          </a:p>
        </p:txBody>
      </p:sp>
      <p:sp>
        <p:nvSpPr>
          <p:cNvPr id="190" name="Trapezoid 189"/>
          <p:cNvSpPr/>
          <p:nvPr/>
        </p:nvSpPr>
        <p:spPr>
          <a:xfrm>
            <a:off x="13935456" y="3392424"/>
            <a:ext cx="896112" cy="1133856"/>
          </a:xfrm>
          <a:prstGeom prst="trapezoid">
            <a:avLst/>
          </a:prstGeom>
          <a:solidFill>
            <a:srgbClr val="9BC3EF"/>
          </a:solidFill>
          <a:ln w="20955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 rot="5400000">
            <a:off x="14036040" y="3639312"/>
            <a:ext cx="704088" cy="6583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151515"/>
                </a:solidFill>
                <a:latin typeface="Times New Roman"/>
              </a:rPr>
              <a:t>3D VAE
Dec</a:t>
            </a:r>
          </a:p>
        </p:txBody>
      </p:sp>
      <p:cxnSp>
        <p:nvCxnSpPr>
          <p:cNvPr id="192" name="Connector 191"/>
          <p:cNvCxnSpPr/>
          <p:nvPr/>
        </p:nvCxnSpPr>
        <p:spPr>
          <a:xfrm flipV="1">
            <a:off x="13203936" y="2423160"/>
            <a:ext cx="731520" cy="13716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Isosceles Triangle 192"/>
          <p:cNvSpPr/>
          <p:nvPr/>
        </p:nvSpPr>
        <p:spPr>
          <a:xfrm rot="4762821">
            <a:off x="13880592" y="236829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 flipV="1">
            <a:off x="13203936" y="3977639"/>
            <a:ext cx="731520" cy="45721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Isosceles Triangle 194"/>
          <p:cNvSpPr/>
          <p:nvPr/>
        </p:nvSpPr>
        <p:spPr>
          <a:xfrm rot="5185420">
            <a:off x="13880592" y="392277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6" name="Picture 195" descr="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5032" y="1792224"/>
            <a:ext cx="1892807" cy="1051560"/>
          </a:xfrm>
          <a:prstGeom prst="rect">
            <a:avLst/>
          </a:prstGeom>
        </p:spPr>
      </p:pic>
      <p:pic>
        <p:nvPicPr>
          <p:cNvPr id="197" name="Picture 196" descr="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5032" y="3511296"/>
            <a:ext cx="1892807" cy="1051560"/>
          </a:xfrm>
          <a:prstGeom prst="rect">
            <a:avLst/>
          </a:prstGeom>
        </p:spPr>
      </p:pic>
      <p:cxnSp>
        <p:nvCxnSpPr>
          <p:cNvPr id="198" name="Connector 197"/>
          <p:cNvCxnSpPr/>
          <p:nvPr/>
        </p:nvCxnSpPr>
        <p:spPr>
          <a:xfrm>
            <a:off x="14831567" y="2423160"/>
            <a:ext cx="283465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Isosceles Triangle 198"/>
          <p:cNvSpPr/>
          <p:nvPr/>
        </p:nvSpPr>
        <p:spPr>
          <a:xfrm rot="5400000">
            <a:off x="15060167" y="236829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>
            <a:off x="14831567" y="3977639"/>
            <a:ext cx="283465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Isosceles Triangle 200"/>
          <p:cNvSpPr/>
          <p:nvPr/>
        </p:nvSpPr>
        <p:spPr>
          <a:xfrm rot="5400000">
            <a:off x="15060167" y="3922776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 rot="5400000">
            <a:off x="17080992" y="1901952"/>
            <a:ext cx="50292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Video V̂</a:t>
            </a:r>
          </a:p>
        </p:txBody>
      </p:sp>
      <p:sp>
        <p:nvSpPr>
          <p:cNvPr id="203" name="TextBox 202"/>
          <p:cNvSpPr txBox="1"/>
          <p:nvPr/>
        </p:nvSpPr>
        <p:spPr>
          <a:xfrm rot="5400000">
            <a:off x="17080992" y="3419856"/>
            <a:ext cx="502920" cy="1463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Times New Roman"/>
              </a:rPr>
              <a:t>Rendered
Motion Video M̂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13697712" y="2743200"/>
            <a:ext cx="0" cy="4791456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H="1">
            <a:off x="11558016" y="7534656"/>
            <a:ext cx="2139696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H="1">
            <a:off x="11558016" y="7534656"/>
            <a:ext cx="2139696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Isosceles Triangle 206"/>
          <p:cNvSpPr/>
          <p:nvPr/>
        </p:nvSpPr>
        <p:spPr>
          <a:xfrm rot="16200000">
            <a:off x="11503152" y="7479792"/>
            <a:ext cx="109728" cy="109728"/>
          </a:xfrm>
          <a:prstGeom prst="triangle">
            <a:avLst/>
          </a:prstGeom>
          <a:solidFill>
            <a:srgbClr val="F17A33"/>
          </a:solidFill>
          <a:ln w="476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13697712" y="4206240"/>
            <a:ext cx="0" cy="4105656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H="1">
            <a:off x="11558016" y="8311896"/>
            <a:ext cx="2139696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H="1">
            <a:off x="11558016" y="8311896"/>
            <a:ext cx="2139696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Isosceles Triangle 210"/>
          <p:cNvSpPr/>
          <p:nvPr/>
        </p:nvSpPr>
        <p:spPr>
          <a:xfrm rot="16200000">
            <a:off x="11503152" y="8257031"/>
            <a:ext cx="109728" cy="109728"/>
          </a:xfrm>
          <a:prstGeom prst="triangle">
            <a:avLst/>
          </a:prstGeom>
          <a:solidFill>
            <a:srgbClr val="F17A33"/>
          </a:solidFill>
          <a:ln w="476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4264640" y="5029200"/>
            <a:ext cx="11887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 i="0">
                <a:solidFill>
                  <a:srgbClr val="F17A33"/>
                </a:solidFill>
                <a:latin typeface="Times New Roman"/>
              </a:rPr>
              <a:t>Gradient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4264640" y="5340096"/>
            <a:ext cx="118872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2100" b="1" i="0">
                <a:solidFill>
                  <a:srgbClr val="F17A33"/>
                </a:solidFill>
                <a:latin typeface="Times New Roman"/>
              </a:rPr>
              <a:t>Constrain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297680" y="6309360"/>
            <a:ext cx="5486400" cy="3474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51515"/>
                </a:solidFill>
                <a:latin typeface="Times New Roman"/>
              </a:rPr>
              <a:t>Vision-aware 3D Interaction Diffusion (VID)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6355080" y="6793992"/>
            <a:ext cx="5202936" cy="3584448"/>
          </a:xfrm>
          <a:prstGeom prst="roundRect">
            <a:avLst/>
          </a:prstGeom>
          <a:solidFill>
            <a:srgbClr val="F8E9E9"/>
          </a:solidFill>
          <a:ln w="2381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929384" y="6958584"/>
            <a:ext cx="5806440" cy="740664"/>
          </a:xfrm>
          <a:prstGeom prst="roundRect">
            <a:avLst/>
          </a:prstGeom>
          <a:solidFill>
            <a:srgbClr val="EAF9EE"/>
          </a:solidFill>
          <a:ln w="21907">
            <a:solidFill>
              <a:srgbClr val="A6D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2011680" y="7132320"/>
            <a:ext cx="5641848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50" b="1" i="0">
                <a:solidFill>
                  <a:srgbClr val="151515"/>
                </a:solidFill>
                <a:latin typeface="Cambria Math"/>
              </a:rPr>
              <a:t>ℒVID = 𝔼 [∥h₀ − ĥ₀,φ∥₂² + Dchamfer(o₀, ô₀,φ)]</a:t>
            </a:r>
          </a:p>
        </p:txBody>
      </p:sp>
      <p:pic>
        <p:nvPicPr>
          <p:cNvPr id="218" name="Picture 217" descr="rende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7918704"/>
            <a:ext cx="1874519" cy="1069848"/>
          </a:xfrm>
          <a:prstGeom prst="rect">
            <a:avLst/>
          </a:prstGeom>
        </p:spPr>
      </p:pic>
      <p:sp>
        <p:nvSpPr>
          <p:cNvPr id="219" name="TextBox 218"/>
          <p:cNvSpPr txBox="1"/>
          <p:nvPr/>
        </p:nvSpPr>
        <p:spPr>
          <a:xfrm>
            <a:off x="612648" y="9500616"/>
            <a:ext cx="173736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75" b="1" i="0">
                <a:solidFill>
                  <a:srgbClr val="151515"/>
                </a:solidFill>
                <a:latin typeface="Times New Roman"/>
              </a:rPr>
              <a:t>Rendered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12648" y="9765792"/>
            <a:ext cx="173736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75" b="1" i="0">
                <a:solidFill>
                  <a:srgbClr val="151515"/>
                </a:solidFill>
                <a:latin typeface="Times New Roman"/>
              </a:rPr>
              <a:t>Motion Video M̂</a:t>
            </a:r>
          </a:p>
        </p:txBody>
      </p:sp>
      <p:sp>
        <p:nvSpPr>
          <p:cNvPr id="221" name="Oval 220"/>
          <p:cNvSpPr/>
          <p:nvPr/>
        </p:nvSpPr>
        <p:spPr>
          <a:xfrm>
            <a:off x="4729079" y="8450672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5040992" y="8279123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515702" y="847762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819385" y="8297850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5123068" y="849635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4597778" y="8316577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901461" y="8515082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5196915" y="8327075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679855" y="853380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983538" y="8354031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458248" y="855253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761931" y="8372758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065615" y="8571263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540325" y="8391485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835778" y="8581761"/>
            <a:ext cx="56692" cy="56692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5147691" y="8410212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4622401" y="8608717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4926084" y="842893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5229768" y="8249160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4704478" y="844766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008161" y="8267887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474642" y="8458163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4786554" y="8286614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090238" y="848511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564948" y="8305341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868631" y="850384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172314" y="8324068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647024" y="8522573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42478" y="8334565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5254391" y="8541300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729101" y="8361522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5032784" y="8560027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4507494" y="838024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4811177" y="8578754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5114860" y="839897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4581341" y="8589251"/>
            <a:ext cx="56692" cy="56692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893254" y="8417703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5196937" y="8616208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4671647" y="843642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4975330" y="8256651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5279014" y="845515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753724" y="8275378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049177" y="8465654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532117" y="8294105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835800" y="8492610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5139483" y="8312832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4614194" y="8511337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4917877" y="833155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221560" y="8530064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688041" y="8342056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4999953" y="8548791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4474663" y="8369013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778347" y="8567518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082030" y="838773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4224528" y="9299448"/>
            <a:ext cx="132588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51515"/>
                </a:solidFill>
                <a:latin typeface="Times New Roman"/>
              </a:rPr>
              <a:t>Generated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4224528" y="9555480"/>
            <a:ext cx="132588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51515"/>
                </a:solidFill>
                <a:latin typeface="Times New Roman"/>
              </a:rPr>
              <a:t>3D Interaction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4224528" y="9811512"/>
            <a:ext cx="132588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51515"/>
                </a:solidFill>
                <a:latin typeface="Times New Roman"/>
              </a:rPr>
              <a:t>(ĥ₀, ô₀)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2734056" y="8321040"/>
            <a:ext cx="1197864" cy="411480"/>
          </a:xfrm>
          <a:prstGeom prst="roundRect">
            <a:avLst/>
          </a:prstGeom>
          <a:solidFill>
            <a:srgbClr val="F0F0F0"/>
          </a:solidFill>
          <a:ln w="20955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2779776" y="8385048"/>
            <a:ext cx="1106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51515"/>
                </a:solidFill>
                <a:latin typeface="Times New Roman"/>
              </a:rPr>
              <a:t>Projection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2432304" y="8449056"/>
            <a:ext cx="301752" cy="0"/>
          </a:xfrm>
          <a:prstGeom prst="line">
            <a:avLst/>
          </a:prstGeom>
          <a:ln w="38100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2432304" y="8449056"/>
            <a:ext cx="301752" cy="0"/>
          </a:xfrm>
          <a:prstGeom prst="line">
            <a:avLst/>
          </a:prstGeom>
          <a:ln w="38100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Isosceles Triangle 281"/>
          <p:cNvSpPr/>
          <p:nvPr/>
        </p:nvSpPr>
        <p:spPr>
          <a:xfrm rot="5400000">
            <a:off x="2679192" y="8394192"/>
            <a:ext cx="109728" cy="109728"/>
          </a:xfrm>
          <a:prstGeom prst="triangle">
            <a:avLst/>
          </a:prstGeom>
          <a:solidFill>
            <a:srgbClr val="119C9D"/>
          </a:solidFill>
          <a:ln w="4762">
            <a:solidFill>
              <a:srgbClr val="119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3" name="Connector 282"/>
          <p:cNvCxnSpPr/>
          <p:nvPr/>
        </p:nvCxnSpPr>
        <p:spPr>
          <a:xfrm>
            <a:off x="3931920" y="8522208"/>
            <a:ext cx="329184" cy="0"/>
          </a:xfrm>
          <a:prstGeom prst="line">
            <a:avLst/>
          </a:prstGeom>
          <a:ln w="38100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3931920" y="8522208"/>
            <a:ext cx="329184" cy="0"/>
          </a:xfrm>
          <a:prstGeom prst="line">
            <a:avLst/>
          </a:prstGeom>
          <a:ln w="38100">
            <a:solidFill>
              <a:srgbClr val="119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Isosceles Triangle 284"/>
          <p:cNvSpPr/>
          <p:nvPr/>
        </p:nvSpPr>
        <p:spPr>
          <a:xfrm rot="5400000">
            <a:off x="4206240" y="8467344"/>
            <a:ext cx="109728" cy="109728"/>
          </a:xfrm>
          <a:prstGeom prst="triangle">
            <a:avLst/>
          </a:prstGeom>
          <a:solidFill>
            <a:srgbClr val="119C9D"/>
          </a:solidFill>
          <a:ln w="4762">
            <a:solidFill>
              <a:srgbClr val="119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6" name="Connector 285"/>
          <p:cNvCxnSpPr/>
          <p:nvPr/>
        </p:nvCxnSpPr>
        <p:spPr>
          <a:xfrm>
            <a:off x="5971032" y="8366760"/>
            <a:ext cx="374904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5971032" y="8366760"/>
            <a:ext cx="374904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Isosceles Triangle 287"/>
          <p:cNvSpPr/>
          <p:nvPr/>
        </p:nvSpPr>
        <p:spPr>
          <a:xfrm rot="5400000">
            <a:off x="6291072" y="8311896"/>
            <a:ext cx="109728" cy="109728"/>
          </a:xfrm>
          <a:prstGeom prst="triangle">
            <a:avLst/>
          </a:prstGeom>
          <a:solidFill>
            <a:srgbClr val="F17A33"/>
          </a:solidFill>
          <a:ln w="476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 flipH="1">
            <a:off x="5971032" y="8641080"/>
            <a:ext cx="374904" cy="0"/>
          </a:xfrm>
          <a:prstGeom prst="line">
            <a:avLst/>
          </a:prstGeom>
          <a:ln w="38100">
            <a:solidFill>
              <a:srgbClr val="1C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H="1">
            <a:off x="5971032" y="8641080"/>
            <a:ext cx="374904" cy="0"/>
          </a:xfrm>
          <a:prstGeom prst="line">
            <a:avLst/>
          </a:prstGeom>
          <a:ln w="38100">
            <a:solidFill>
              <a:srgbClr val="1C65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Isosceles Triangle 290"/>
          <p:cNvSpPr/>
          <p:nvPr/>
        </p:nvSpPr>
        <p:spPr>
          <a:xfrm rot="16200000">
            <a:off x="5916168" y="8586216"/>
            <a:ext cx="109728" cy="109728"/>
          </a:xfrm>
          <a:prstGeom prst="triangle">
            <a:avLst/>
          </a:prstGeom>
          <a:solidFill>
            <a:srgbClr val="1C65A8"/>
          </a:solidFill>
          <a:ln w="4762">
            <a:solidFill>
              <a:srgbClr val="1C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662117" y="9352044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2125159" y="9654930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2440346" y="9388071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2755532" y="9121213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2210345" y="9415869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12525531" y="9149010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1980344" y="9443667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12287301" y="9168579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2610717" y="9471464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12065529" y="9204606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12380716" y="9499262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2695902" y="9232404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12150715" y="9527060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2465901" y="9260201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2772858" y="9546628"/>
            <a:ext cx="56692" cy="56692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2235900" y="9287999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2551087" y="9582655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2005900" y="9315797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2321086" y="9610453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2636272" y="9343595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2091085" y="9638251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2398042" y="9363163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2721458" y="9666049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2176271" y="9399190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2491457" y="9132332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11946270" y="9426988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12261456" y="9160130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2576642" y="9454786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2023226" y="9179698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12346642" y="9482584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2661828" y="9215725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2116641" y="9510381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2431827" y="9243523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2747013" y="9538179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2201826" y="9271321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12508783" y="9557747"/>
            <a:ext cx="56692" cy="56692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1971825" y="9299118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2287012" y="9593775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2602198" y="9326916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057011" y="9621572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12372197" y="9354714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12687384" y="9649370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12133967" y="9374282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12457383" y="9115653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2772569" y="941030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2227382" y="9143451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2542568" y="9438107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997381" y="917124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2312567" y="9465905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2619524" y="9190817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2082567" y="9493703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2397753" y="9226844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2712939" y="9521500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2167752" y="9254642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2482938" y="9549298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2798125" y="9282440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12244708" y="9568866"/>
            <a:ext cx="56692" cy="56692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12568124" y="9310237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2022937" y="9604894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12338123" y="9338035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12653309" y="9632691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2108122" y="9365833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2423309" y="9660489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12730265" y="9385401"/>
            <a:ext cx="56692" cy="56692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2193308" y="9126772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2508494" y="9421428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1963307" y="9154570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2278493" y="9449226"/>
            <a:ext cx="40233" cy="40233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2593680" y="9182368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12048492" y="9477024"/>
            <a:ext cx="40233" cy="40233"/>
          </a:xfrm>
          <a:prstGeom prst="ellipse">
            <a:avLst/>
          </a:prstGeom>
          <a:solidFill>
            <a:srgbClr val="252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12355449" y="9201936"/>
            <a:ext cx="56692" cy="56692"/>
          </a:xfrm>
          <a:prstGeom prst="ellipse">
            <a:avLst/>
          </a:prstGeom>
          <a:solidFill>
            <a:srgbClr val="E51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2678865" y="9504822"/>
            <a:ext cx="40233" cy="40233"/>
          </a:xfrm>
          <a:prstGeom prst="ellipse">
            <a:avLst/>
          </a:prstGeom>
          <a:solidFill>
            <a:srgbClr val="2AD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1960352" y="9500616"/>
            <a:ext cx="1143000" cy="2651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650" b="1" i="1">
                <a:solidFill>
                  <a:srgbClr val="151515"/>
                </a:solidFill>
                <a:latin typeface="Times New Roman"/>
              </a:rPr>
              <a:t>(hₜ, oₜ)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10149840" y="9363456"/>
            <a:ext cx="1554480" cy="0"/>
          </a:xfrm>
          <a:prstGeom prst="line">
            <a:avLst/>
          </a:prstGeom>
          <a:ln w="2476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Isosceles Triangle 365"/>
          <p:cNvSpPr/>
          <p:nvPr/>
        </p:nvSpPr>
        <p:spPr>
          <a:xfrm rot="16200000">
            <a:off x="10094976" y="930859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7" name="Connector 366"/>
          <p:cNvCxnSpPr/>
          <p:nvPr/>
        </p:nvCxnSpPr>
        <p:spPr>
          <a:xfrm flipV="1">
            <a:off x="11795760" y="8714232"/>
            <a:ext cx="0" cy="338328"/>
          </a:xfrm>
          <a:prstGeom prst="line">
            <a:avLst/>
          </a:prstGeom>
          <a:ln w="24765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11430000" y="9674352"/>
            <a:ext cx="365760" cy="365760"/>
          </a:xfrm>
          <a:prstGeom prst="line">
            <a:avLst/>
          </a:prstGeom>
          <a:ln w="24765">
            <a:solidFill>
              <a:srgbClr val="A8A8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Rounded Rectangle 368"/>
          <p:cNvSpPr/>
          <p:nvPr/>
        </p:nvSpPr>
        <p:spPr>
          <a:xfrm>
            <a:off x="7818120" y="8403336"/>
            <a:ext cx="128016" cy="320040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ounded Rectangle 369"/>
          <p:cNvSpPr/>
          <p:nvPr/>
        </p:nvSpPr>
        <p:spPr>
          <a:xfrm>
            <a:off x="7982712" y="8284464"/>
            <a:ext cx="128016" cy="43891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ounded Rectangle 370"/>
          <p:cNvSpPr/>
          <p:nvPr/>
        </p:nvSpPr>
        <p:spPr>
          <a:xfrm>
            <a:off x="8147304" y="8165592"/>
            <a:ext cx="128016" cy="557784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>
            <a:off x="8311896" y="8046720"/>
            <a:ext cx="128016" cy="676656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ounded Rectangle 372"/>
          <p:cNvSpPr/>
          <p:nvPr/>
        </p:nvSpPr>
        <p:spPr>
          <a:xfrm>
            <a:off x="6757416" y="9973360"/>
            <a:ext cx="99852" cy="249631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ounded Rectangle 373"/>
          <p:cNvSpPr/>
          <p:nvPr/>
        </p:nvSpPr>
        <p:spPr>
          <a:xfrm>
            <a:off x="6885797" y="9880640"/>
            <a:ext cx="99852" cy="342351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ounded Rectangle 374"/>
          <p:cNvSpPr/>
          <p:nvPr/>
        </p:nvSpPr>
        <p:spPr>
          <a:xfrm>
            <a:off x="7014179" y="9787920"/>
            <a:ext cx="99852" cy="435071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ounded Rectangle 375"/>
          <p:cNvSpPr/>
          <p:nvPr/>
        </p:nvSpPr>
        <p:spPr>
          <a:xfrm>
            <a:off x="7142561" y="9695200"/>
            <a:ext cx="99852" cy="527791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7270943" y="9602480"/>
            <a:ext cx="99852" cy="620511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ounded Rectangle 377"/>
          <p:cNvSpPr/>
          <p:nvPr/>
        </p:nvSpPr>
        <p:spPr>
          <a:xfrm>
            <a:off x="7399324" y="9509760"/>
            <a:ext cx="99852" cy="71323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7527706" y="9417039"/>
            <a:ext cx="99852" cy="80595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ounded Rectangle 379"/>
          <p:cNvSpPr/>
          <p:nvPr/>
        </p:nvSpPr>
        <p:spPr>
          <a:xfrm>
            <a:off x="7656088" y="9324319"/>
            <a:ext cx="99852" cy="89867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ounded Rectangle 380"/>
          <p:cNvSpPr/>
          <p:nvPr/>
        </p:nvSpPr>
        <p:spPr>
          <a:xfrm>
            <a:off x="7784470" y="9231599"/>
            <a:ext cx="99852" cy="99139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ounded Rectangle 381"/>
          <p:cNvSpPr/>
          <p:nvPr/>
        </p:nvSpPr>
        <p:spPr>
          <a:xfrm>
            <a:off x="7912851" y="9138879"/>
            <a:ext cx="99852" cy="108411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8041233" y="9046159"/>
            <a:ext cx="99852" cy="117683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8169615" y="8953439"/>
            <a:ext cx="99852" cy="126955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ounded Rectangle 384"/>
          <p:cNvSpPr/>
          <p:nvPr/>
        </p:nvSpPr>
        <p:spPr>
          <a:xfrm>
            <a:off x="8297997" y="8860718"/>
            <a:ext cx="99852" cy="1362273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ounded Rectangle 385"/>
          <p:cNvSpPr/>
          <p:nvPr/>
        </p:nvSpPr>
        <p:spPr>
          <a:xfrm>
            <a:off x="8426378" y="8767998"/>
            <a:ext cx="99852" cy="1454993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ounded Rectangle 386"/>
          <p:cNvSpPr/>
          <p:nvPr/>
        </p:nvSpPr>
        <p:spPr>
          <a:xfrm>
            <a:off x="10351008" y="7882127"/>
            <a:ext cx="128016" cy="320040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ounded Rectangle 387"/>
          <p:cNvSpPr/>
          <p:nvPr/>
        </p:nvSpPr>
        <p:spPr>
          <a:xfrm>
            <a:off x="10515600" y="7763256"/>
            <a:ext cx="128016" cy="43891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ounded Rectangle 388"/>
          <p:cNvSpPr/>
          <p:nvPr/>
        </p:nvSpPr>
        <p:spPr>
          <a:xfrm>
            <a:off x="10680192" y="7644383"/>
            <a:ext cx="128016" cy="557784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ounded Rectangle 389"/>
          <p:cNvSpPr/>
          <p:nvPr/>
        </p:nvSpPr>
        <p:spPr>
          <a:xfrm>
            <a:off x="10844784" y="7525512"/>
            <a:ext cx="128016" cy="676656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10351008" y="8897112"/>
            <a:ext cx="128016" cy="320040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ounded Rectangle 391"/>
          <p:cNvSpPr/>
          <p:nvPr/>
        </p:nvSpPr>
        <p:spPr>
          <a:xfrm>
            <a:off x="10515600" y="8778240"/>
            <a:ext cx="128016" cy="438912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ounded Rectangle 392"/>
          <p:cNvSpPr/>
          <p:nvPr/>
        </p:nvSpPr>
        <p:spPr>
          <a:xfrm>
            <a:off x="10680192" y="8659368"/>
            <a:ext cx="128016" cy="557784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ounded Rectangle 393"/>
          <p:cNvSpPr/>
          <p:nvPr/>
        </p:nvSpPr>
        <p:spPr>
          <a:xfrm>
            <a:off x="10844784" y="8540496"/>
            <a:ext cx="128016" cy="676656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ounded Rectangle 394"/>
          <p:cNvSpPr/>
          <p:nvPr/>
        </p:nvSpPr>
        <p:spPr>
          <a:xfrm>
            <a:off x="9070848" y="7836408"/>
            <a:ext cx="914400" cy="402336"/>
          </a:xfrm>
          <a:prstGeom prst="roundRect">
            <a:avLst/>
          </a:prstGeom>
          <a:solidFill>
            <a:srgbClr val="F0F0F0"/>
          </a:solidFill>
          <a:ln w="20955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9116568" y="7891272"/>
            <a:ext cx="822960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51515"/>
                </a:solidFill>
                <a:latin typeface="Times New Roman"/>
              </a:rPr>
              <a:t>Fusion</a:t>
            </a:r>
          </a:p>
        </p:txBody>
      </p:sp>
      <p:cxnSp>
        <p:nvCxnSpPr>
          <p:cNvPr id="397" name="Connector 396"/>
          <p:cNvCxnSpPr/>
          <p:nvPr/>
        </p:nvCxnSpPr>
        <p:spPr>
          <a:xfrm>
            <a:off x="10058400" y="8037575"/>
            <a:ext cx="283464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Isosceles Triangle 397"/>
          <p:cNvSpPr/>
          <p:nvPr/>
        </p:nvSpPr>
        <p:spPr>
          <a:xfrm rot="5400000">
            <a:off x="10287000" y="798271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 flipH="1">
            <a:off x="8759952" y="8037575"/>
            <a:ext cx="310896" cy="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Isosceles Triangle 399"/>
          <p:cNvSpPr/>
          <p:nvPr/>
        </p:nvSpPr>
        <p:spPr>
          <a:xfrm rot="16200000">
            <a:off x="8705088" y="7982712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ounded Rectangle 400"/>
          <p:cNvSpPr/>
          <p:nvPr/>
        </p:nvSpPr>
        <p:spPr>
          <a:xfrm>
            <a:off x="7443216" y="8714232"/>
            <a:ext cx="1746504" cy="402336"/>
          </a:xfrm>
          <a:prstGeom prst="roundRect">
            <a:avLst/>
          </a:prstGeom>
          <a:solidFill>
            <a:srgbClr val="F0F0F0"/>
          </a:solidFill>
          <a:ln w="20955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7488936" y="8769096"/>
            <a:ext cx="1655064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425" b="1" i="0">
                <a:solidFill>
                  <a:srgbClr val="151515"/>
                </a:solidFill>
                <a:latin typeface="Times New Roman"/>
              </a:rPr>
              <a:t>Cross Attention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8293608" y="8321040"/>
            <a:ext cx="0" cy="393192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Isosceles Triangle 403"/>
          <p:cNvSpPr/>
          <p:nvPr/>
        </p:nvSpPr>
        <p:spPr>
          <a:xfrm rot="10800000">
            <a:off x="8238744" y="8659368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>
            <a:off x="8293608" y="9116568"/>
            <a:ext cx="0" cy="228600"/>
          </a:xfrm>
          <a:prstGeom prst="line">
            <a:avLst/>
          </a:prstGeom>
          <a:ln w="28575">
            <a:solidFill>
              <a:srgbClr val="151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Isosceles Triangle 405"/>
          <p:cNvSpPr/>
          <p:nvPr/>
        </p:nvSpPr>
        <p:spPr>
          <a:xfrm rot="10800000">
            <a:off x="8238744" y="9290304"/>
            <a:ext cx="109728" cy="109728"/>
          </a:xfrm>
          <a:prstGeom prst="triangle">
            <a:avLst/>
          </a:prstGeom>
          <a:solidFill>
            <a:srgbClr val="151515"/>
          </a:solidFill>
          <a:ln w="4762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7699248" y="10058400"/>
            <a:ext cx="2423160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75" b="1" i="0">
                <a:solidFill>
                  <a:srgbClr val="151515"/>
                </a:solidFill>
                <a:latin typeface="Times New Roman"/>
              </a:rPr>
              <a:t>Denoising UNet</a:t>
            </a:r>
          </a:p>
        </p:txBody>
      </p:sp>
      <p:sp>
        <p:nvSpPr>
          <p:cNvPr id="408" name="Oval 407"/>
          <p:cNvSpPr/>
          <p:nvPr/>
        </p:nvSpPr>
        <p:spPr>
          <a:xfrm>
            <a:off x="14493240" y="6382512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14493240" y="6400800"/>
            <a:ext cx="36576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025" b="0" i="0">
                <a:solidFill>
                  <a:srgbClr val="151515"/>
                </a:solidFill>
                <a:latin typeface="Arial"/>
              </a:rPr>
              <a:t>⊕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5334488" y="6437376"/>
            <a:ext cx="21031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Channel-wise Concat</a:t>
            </a:r>
          </a:p>
        </p:txBody>
      </p:sp>
      <p:cxnSp>
        <p:nvCxnSpPr>
          <p:cNvPr id="411" name="Connector 410"/>
          <p:cNvCxnSpPr/>
          <p:nvPr/>
        </p:nvCxnSpPr>
        <p:spPr>
          <a:xfrm>
            <a:off x="14337792" y="7205472"/>
            <a:ext cx="612648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4337792" y="7205472"/>
            <a:ext cx="612648" cy="0"/>
          </a:xfrm>
          <a:prstGeom prst="line">
            <a:avLst/>
          </a:prstGeom>
          <a:ln w="38100">
            <a:solidFill>
              <a:srgbClr val="F17A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Isosceles Triangle 412"/>
          <p:cNvSpPr/>
          <p:nvPr/>
        </p:nvSpPr>
        <p:spPr>
          <a:xfrm rot="5400000">
            <a:off x="14895576" y="7150608"/>
            <a:ext cx="109728" cy="109728"/>
          </a:xfrm>
          <a:prstGeom prst="triangle">
            <a:avLst/>
          </a:prstGeom>
          <a:solidFill>
            <a:srgbClr val="F17A33"/>
          </a:solidFill>
          <a:ln w="4762">
            <a:solidFill>
              <a:srgbClr val="F1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15334488" y="7095744"/>
            <a:ext cx="21031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Grad. Backpropagate</a:t>
            </a:r>
          </a:p>
        </p:txBody>
      </p:sp>
      <p:sp>
        <p:nvSpPr>
          <p:cNvPr id="415" name="Cube 414"/>
          <p:cNvSpPr/>
          <p:nvPr/>
        </p:nvSpPr>
        <p:spPr>
          <a:xfrm>
            <a:off x="14420088" y="7543800"/>
            <a:ext cx="475488" cy="475488"/>
          </a:xfrm>
          <a:prstGeom prst="cube">
            <a:avLst/>
          </a:prstGeom>
          <a:solidFill>
            <a:srgbClr val="A8A8A8"/>
          </a:solidFill>
          <a:ln w="21907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5334488" y="7699248"/>
            <a:ext cx="21031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Diffused Latent Code</a:t>
            </a:r>
          </a:p>
        </p:txBody>
      </p:sp>
      <p:sp>
        <p:nvSpPr>
          <p:cNvPr id="417" name="Rounded Rectangle 416"/>
          <p:cNvSpPr/>
          <p:nvPr/>
        </p:nvSpPr>
        <p:spPr>
          <a:xfrm>
            <a:off x="14337792" y="8929116"/>
            <a:ext cx="89611" cy="224028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ounded Rectangle 417"/>
          <p:cNvSpPr/>
          <p:nvPr/>
        </p:nvSpPr>
        <p:spPr>
          <a:xfrm>
            <a:off x="14453006" y="8845905"/>
            <a:ext cx="89611" cy="307238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ounded Rectangle 418"/>
          <p:cNvSpPr/>
          <p:nvPr/>
        </p:nvSpPr>
        <p:spPr>
          <a:xfrm>
            <a:off x="14568220" y="8762695"/>
            <a:ext cx="89611" cy="390448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ounded Rectangle 419"/>
          <p:cNvSpPr/>
          <p:nvPr/>
        </p:nvSpPr>
        <p:spPr>
          <a:xfrm>
            <a:off x="14683435" y="8679484"/>
            <a:ext cx="89611" cy="473659"/>
          </a:xfrm>
          <a:prstGeom prst="roundRect">
            <a:avLst/>
          </a:prstGeom>
          <a:solidFill>
            <a:srgbClr val="D87979"/>
          </a:solidFill>
          <a:ln w="17145">
            <a:solidFill>
              <a:srgbClr val="B8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15334488" y="8476488"/>
            <a:ext cx="21031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Multiscale 3D Conv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14191488" y="9189720"/>
            <a:ext cx="896112" cy="429768"/>
          </a:xfrm>
          <a:prstGeom prst="roundRect">
            <a:avLst/>
          </a:prstGeom>
          <a:solidFill>
            <a:srgbClr val="F0F0F0"/>
          </a:solidFill>
          <a:ln w="20955">
            <a:solidFill>
              <a:srgbClr val="A8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14237208" y="9253728"/>
            <a:ext cx="804672" cy="3017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51515"/>
                </a:solidFill>
                <a:latin typeface="Times New Roman"/>
              </a:rPr>
              <a:t>S&amp;S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5334488" y="9317736"/>
            <a:ext cx="21031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Scale &amp; Shift</a:t>
            </a:r>
          </a:p>
        </p:txBody>
      </p:sp>
      <p:sp>
        <p:nvSpPr>
          <p:cNvPr id="425" name="Rounded Rectangle 424"/>
          <p:cNvSpPr/>
          <p:nvPr/>
        </p:nvSpPr>
        <p:spPr>
          <a:xfrm>
            <a:off x="14191488" y="9820656"/>
            <a:ext cx="896112" cy="429768"/>
          </a:xfrm>
          <a:prstGeom prst="roundRect">
            <a:avLst/>
          </a:prstGeom>
          <a:solidFill>
            <a:srgbClr val="EAF9EE"/>
          </a:solidFill>
          <a:ln w="20955">
            <a:solidFill>
              <a:srgbClr val="A6D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14237208" y="9866376"/>
            <a:ext cx="804672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1875" b="1" i="0">
                <a:solidFill>
                  <a:srgbClr val="151515"/>
                </a:solidFill>
                <a:latin typeface="Cambria Math"/>
              </a:rPr>
              <a:t>ℒ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5334488" y="9957816"/>
            <a:ext cx="214884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/>
            <a:r>
              <a:rPr sz="1575" b="1" i="0">
                <a:solidFill>
                  <a:srgbClr val="151515"/>
                </a:solidFill>
                <a:latin typeface="Times New Roman"/>
              </a:rPr>
              <a:t>Training Loss Function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6400800" y="5623560"/>
            <a:ext cx="877824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/>
            <a:r>
              <a:rPr sz="2175" b="1" i="0">
                <a:solidFill>
                  <a:srgbClr val="151515"/>
                </a:solidFill>
                <a:latin typeface="Times New Roman"/>
              </a:rPr>
              <a:t>Synchronized Video-Motion Diffusion (SViMo)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ViMo Synchronized Diffusion for Video and Motion Generation in Hand-object Interaction Scenario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21072" cy="10433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SViMo Synchronized Diffusion diagram recreation</dc:title>
  <dc:subject>Editable vector recreation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