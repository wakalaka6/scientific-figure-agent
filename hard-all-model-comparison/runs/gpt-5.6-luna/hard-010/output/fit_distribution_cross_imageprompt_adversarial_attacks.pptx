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72950" cy="5137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2950" cy="513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250" y="114300"/>
            <a:ext cx="6521450" cy="1473200"/>
          </a:xfrm>
          <a:prstGeom prst="roundRect">
            <a:avLst/>
          </a:prstGeom>
          <a:noFill/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1800" y="127000"/>
            <a:ext cx="307975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11111"/>
                </a:solidFill>
                <a:latin typeface="Arial"/>
              </a:rPr>
              <a:t>Image and Prompt Set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361950"/>
            <a:ext cx="889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6550" y="361950"/>
            <a:ext cx="889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11111"/>
                </a:solidFill>
                <a:latin typeface="Arial"/>
              </a:rPr>
              <a:t>Prompt</a:t>
            </a:r>
          </a:p>
        </p:txBody>
      </p:sp>
      <p:pic>
        <p:nvPicPr>
          <p:cNvPr id="7" name="Picture 6" descr="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92100"/>
            <a:ext cx="393700" cy="393700"/>
          </a:xfrm>
          <a:prstGeom prst="rect">
            <a:avLst/>
          </a:prstGeom>
        </p:spPr>
      </p:pic>
      <p:pic>
        <p:nvPicPr>
          <p:cNvPr id="8" name="Picture 7" descr="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685800"/>
            <a:ext cx="412750" cy="400050"/>
          </a:xfrm>
          <a:prstGeom prst="rect">
            <a:avLst/>
          </a:prstGeom>
        </p:spPr>
      </p:pic>
      <p:pic>
        <p:nvPicPr>
          <p:cNvPr id="9" name="Picture 8" descr="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79500"/>
            <a:ext cx="393700" cy="3937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677617" y="863497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63780" y="88601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84878" y="65960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7563" y="85920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4627" y="919190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09457" y="1338377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82819" y="93683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20368" y="76826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63355" y="1027520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87467" y="77838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69064" y="71837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88101" y="1143291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47400" y="89070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54075" y="906034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39778" y="94010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01899" y="88802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63025" y="1196081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88746" y="112589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27431" y="96113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5403" y="779630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05543" y="103399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52510" y="961033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60851" y="94427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45260" y="77036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94374" y="865020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94792" y="87356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13755" y="890742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26934" y="865783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30784" y="119235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54617" y="88215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52944" y="1000413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57364" y="115978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62727" y="1011524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69105" y="96460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41479" y="696110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57268" y="75529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60060" y="1079461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93100" y="945946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04771" y="106175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41737" y="1022935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99566" y="85767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157604" y="760708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925456" y="1135441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158674" y="833231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39319" y="902974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639615" y="94990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702987" y="1036409"/>
            <a:ext cx="41910" cy="4191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800807" y="102587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233967" y="878238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80329" y="95243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33052" y="114530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02407" y="74902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177541" y="104186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339138" y="112612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019877" y="91784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41509" y="915430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86526" y="774631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058378" y="987378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972427" y="95299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93052" y="107804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253839" y="998068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690381" y="107959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62621" y="93488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52061" y="96364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887769" y="99874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83961" y="95523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204165" y="74397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983517" y="107309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21655" y="102464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059914" y="79654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149787" y="828713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05109" y="87956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173669" y="96368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25658" y="86349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34722" y="942760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86341" y="106674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067325" y="83397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89619" y="104088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360241" y="900808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148033" y="104747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094980" y="99784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075295" y="86411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841721" y="897586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155071" y="1213751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230472" y="113785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191472" y="107905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075535" y="1091162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385965" y="90899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904315" y="128814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087508" y="1124218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210322" y="77506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514758" y="125760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74284" y="108800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064517" y="81675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017872" y="1025286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257548" y="1080844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051362" y="1187831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891253" y="1094705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256842" y="914897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690217" y="813089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086011" y="1050776"/>
            <a:ext cx="41910" cy="41910"/>
          </a:xfrm>
          <a:prstGeom prst="ellipse">
            <a:avLst/>
          </a:prstGeom>
          <a:solidFill>
            <a:srgbClr val="95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057650" y="330200"/>
            <a:ext cx="2406650" cy="463550"/>
          </a:xfrm>
          <a:prstGeom prst="rect">
            <a:avLst/>
          </a:prstGeom>
          <a:solidFill>
            <a:srgbClr val="E3D8EA"/>
          </a:solidFill>
          <a:ln w="12700">
            <a:solidFill>
              <a:srgbClr val="95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02099" y="349250"/>
            <a:ext cx="231775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What colors are the patterns in the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picture?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57650" y="844550"/>
            <a:ext cx="2406650" cy="323850"/>
          </a:xfrm>
          <a:prstGeom prst="rect">
            <a:avLst/>
          </a:prstGeom>
          <a:solidFill>
            <a:srgbClr val="E3D8EA"/>
          </a:solidFill>
          <a:ln w="12700">
            <a:solidFill>
              <a:srgbClr val="95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02099" y="863600"/>
            <a:ext cx="2317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What is that person wearing?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057650" y="1200150"/>
            <a:ext cx="2406650" cy="304800"/>
          </a:xfrm>
          <a:prstGeom prst="rect">
            <a:avLst/>
          </a:prstGeom>
          <a:solidFill>
            <a:srgbClr val="E3D8EA"/>
          </a:solidFill>
          <a:ln w="12700">
            <a:solidFill>
              <a:srgbClr val="95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02099" y="12192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What's on the plate?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2950" y="1555750"/>
            <a:ext cx="1143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111111"/>
                </a:solidFill>
                <a:latin typeface="Times New Roman"/>
              </a:rPr>
              <a:t>v ~ N (μ, Σ/N)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52850" y="1555750"/>
            <a:ext cx="1143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111111"/>
                </a:solidFill>
                <a:latin typeface="Times New Roman"/>
              </a:rPr>
              <a:t>t ~ N (μ, Σ/N)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97650" y="603250"/>
            <a:ext cx="368300" cy="19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635750" y="889000"/>
            <a:ext cx="463550" cy="0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7124700" y="95250"/>
            <a:ext cx="2705100" cy="1384300"/>
          </a:xfrm>
          <a:prstGeom prst="roundRect">
            <a:avLst/>
          </a:prstGeom>
          <a:noFill/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283450" y="127000"/>
            <a:ext cx="2381250" cy="19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11111"/>
                </a:solidFill>
                <a:latin typeface="Arial"/>
              </a:rPr>
              <a:t>Image and Prompt Set Distribution</a:t>
            </a:r>
          </a:p>
        </p:txBody>
      </p:sp>
      <p:sp>
        <p:nvSpPr>
          <p:cNvPr id="123" name="Oval 122"/>
          <p:cNvSpPr/>
          <p:nvPr/>
        </p:nvSpPr>
        <p:spPr>
          <a:xfrm rot="20520000">
            <a:off x="7512050" y="476250"/>
            <a:ext cx="800100" cy="469899"/>
          </a:xfrm>
          <a:prstGeom prst="ellipse">
            <a:avLst/>
          </a:prstGeom>
          <a:solidFill>
            <a:srgbClr val="C7E7F8"/>
          </a:solidFill>
          <a:ln w="8890">
            <a:solidFill>
              <a:srgbClr val="9B7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 rot="20520000">
            <a:off x="7575549" y="514350"/>
            <a:ext cx="673100" cy="393700"/>
          </a:xfrm>
          <a:prstGeom prst="ellipse">
            <a:avLst/>
          </a:prstGeom>
          <a:solidFill>
            <a:srgbClr val="5ED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 rot="20520000">
            <a:off x="7639049" y="552450"/>
            <a:ext cx="546100" cy="317500"/>
          </a:xfrm>
          <a:prstGeom prst="ellipse">
            <a:avLst/>
          </a:prstGeom>
          <a:solidFill>
            <a:srgbClr val="1DA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 rot="20520000">
            <a:off x="7702550" y="590550"/>
            <a:ext cx="419100" cy="241300"/>
          </a:xfrm>
          <a:prstGeom prst="ellipse">
            <a:avLst/>
          </a:prstGeom>
          <a:solidFill>
            <a:srgbClr val="188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889874" y="688975"/>
            <a:ext cx="44450" cy="44450"/>
          </a:xfrm>
          <a:prstGeom prst="ellipse">
            <a:avLst/>
          </a:prstGeom>
          <a:solidFill>
            <a:srgbClr val="93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 rot="20520000">
            <a:off x="8597900" y="476250"/>
            <a:ext cx="800100" cy="469899"/>
          </a:xfrm>
          <a:prstGeom prst="ellipse">
            <a:avLst/>
          </a:prstGeom>
          <a:solidFill>
            <a:srgbClr val="EDE7F1"/>
          </a:solidFill>
          <a:ln w="8890">
            <a:solidFill>
              <a:srgbClr val="9B7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 rot="20520000">
            <a:off x="8661400" y="514350"/>
            <a:ext cx="673100" cy="393700"/>
          </a:xfrm>
          <a:prstGeom prst="ellipse">
            <a:avLst/>
          </a:prstGeom>
          <a:solidFill>
            <a:srgbClr val="D7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 rot="20520000">
            <a:off x="8724900" y="552450"/>
            <a:ext cx="546100" cy="317500"/>
          </a:xfrm>
          <a:prstGeom prst="ellipse">
            <a:avLst/>
          </a:prstGeom>
          <a:solidFill>
            <a:srgbClr val="A5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 rot="20520000">
            <a:off x="8788400" y="590550"/>
            <a:ext cx="419100" cy="241300"/>
          </a:xfrm>
          <a:prstGeom prst="ellipse">
            <a:avLst/>
          </a:prstGeom>
          <a:solidFill>
            <a:srgbClr val="838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975725" y="688975"/>
            <a:ext cx="44450" cy="44450"/>
          </a:xfrm>
          <a:prstGeom prst="ellipse">
            <a:avLst/>
          </a:prstGeom>
          <a:solidFill>
            <a:srgbClr val="93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10449" y="107315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u="none">
                <a:solidFill>
                  <a:srgbClr val="111111"/>
                </a:solidFill>
                <a:latin typeface="Times New Roman"/>
              </a:rPr>
              <a:t>v ~ N (v̂, Hᵥ⁻¹)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89950" y="107315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u="none">
                <a:solidFill>
                  <a:srgbClr val="111111"/>
                </a:solidFill>
                <a:latin typeface="Times New Roman"/>
              </a:rPr>
              <a:t>t ~ N (tᵥ, Hₜ⁻¹)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0" y="1600200"/>
            <a:ext cx="9848850" cy="0"/>
          </a:xfrm>
          <a:prstGeom prst="line">
            <a:avLst/>
          </a:prstGeom>
          <a:ln w="1524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0" y="1809750"/>
            <a:ext cx="9848850" cy="0"/>
          </a:xfrm>
          <a:prstGeom prst="line">
            <a:avLst/>
          </a:prstGeom>
          <a:ln w="1524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95250" y="1816100"/>
            <a:ext cx="2413000" cy="3092450"/>
          </a:xfrm>
          <a:prstGeom prst="rect">
            <a:avLst/>
          </a:prstGeom>
          <a:noFill/>
          <a:ln w="127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609850" y="1816100"/>
            <a:ext cx="3651250" cy="3092450"/>
          </a:xfrm>
          <a:prstGeom prst="rect">
            <a:avLst/>
          </a:prstGeom>
          <a:noFill/>
          <a:ln w="127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343650" y="1816100"/>
            <a:ext cx="3492500" cy="3092450"/>
          </a:xfrm>
          <a:prstGeom prst="rect">
            <a:avLst/>
          </a:prstGeom>
          <a:noFill/>
          <a:ln w="127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1300" y="1866899"/>
            <a:ext cx="2857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sng">
                <a:solidFill>
                  <a:srgbClr val="5D789F"/>
                </a:solidFill>
                <a:latin typeface="Times New Roman"/>
              </a:rPr>
              <a:t>1</a:t>
            </a:r>
          </a:p>
        </p:txBody>
      </p:sp>
      <p:sp>
        <p:nvSpPr>
          <p:cNvPr id="141" name="Oval 140"/>
          <p:cNvSpPr/>
          <p:nvPr/>
        </p:nvSpPr>
        <p:spPr>
          <a:xfrm>
            <a:off x="445832" y="2513951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13465" y="241681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92294" y="2491219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13989" y="2727873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82367" y="231010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56019" y="2410521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47993" y="259834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16998" y="2734641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00982" y="2573206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48709" y="257604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7378" y="260076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68684" y="246013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49392" y="2594995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90776" y="2478878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00109" y="245556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67979" y="257507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5609" y="2570743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91381" y="2425930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38122" y="244041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78908" y="2702748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32060" y="2565290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18762" y="2394254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26662" y="2504709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97702" y="2129484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63092" y="2452376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68878" y="2583825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74415" y="229251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2781" y="254762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41102" y="2605675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15778" y="233307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16365" y="2526793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96101" y="2552268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79798" y="262388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64875" y="2633540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98489" y="258570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50230" y="2671354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65907" y="2507373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39362" y="2643212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04247" y="2530765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83342" y="258941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94744" y="2533346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97093" y="2522711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14971" y="2751175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92243" y="2548719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50485" y="2181757"/>
            <a:ext cx="39370" cy="39370"/>
          </a:xfrm>
          <a:prstGeom prst="ellipse">
            <a:avLst/>
          </a:prstGeom>
          <a:solidFill>
            <a:srgbClr val="5D88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15950" y="2387600"/>
            <a:ext cx="177800" cy="177800"/>
          </a:xfrm>
          <a:prstGeom prst="ellipse">
            <a:avLst/>
          </a:prstGeom>
          <a:noFill/>
          <a:ln w="317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 rot="20520000">
            <a:off x="1377950" y="2197100"/>
            <a:ext cx="762000" cy="444500"/>
          </a:xfrm>
          <a:prstGeom prst="ellipse">
            <a:avLst/>
          </a:prstGeom>
          <a:solidFill>
            <a:srgbClr val="C7E7F8"/>
          </a:solidFill>
          <a:ln w="8890">
            <a:solidFill>
              <a:srgbClr val="9B7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 rot="20520000">
            <a:off x="1441450" y="2235200"/>
            <a:ext cx="635000" cy="368300"/>
          </a:xfrm>
          <a:prstGeom prst="ellipse">
            <a:avLst/>
          </a:prstGeom>
          <a:solidFill>
            <a:srgbClr val="5ED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 rot="20520000">
            <a:off x="1504950" y="2273300"/>
            <a:ext cx="508000" cy="292100"/>
          </a:xfrm>
          <a:prstGeom prst="ellipse">
            <a:avLst/>
          </a:prstGeom>
          <a:solidFill>
            <a:srgbClr val="1DA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 rot="20520000">
            <a:off x="1568450" y="2311400"/>
            <a:ext cx="381000" cy="215900"/>
          </a:xfrm>
          <a:prstGeom prst="ellipse">
            <a:avLst/>
          </a:prstGeom>
          <a:solidFill>
            <a:srgbClr val="188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736725" y="2397125"/>
            <a:ext cx="44450" cy="44450"/>
          </a:xfrm>
          <a:prstGeom prst="ellipse">
            <a:avLst/>
          </a:prstGeom>
          <a:solidFill>
            <a:srgbClr val="93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54000" y="2813050"/>
            <a:ext cx="10160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111111"/>
                </a:solidFill>
                <a:latin typeface="Times New Roman"/>
              </a:rPr>
              <a:t>v̂ = μ = mean(v)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01750" y="2895600"/>
            <a:ext cx="1047749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u="none">
                <a:solidFill>
                  <a:srgbClr val="111111"/>
                </a:solidFill>
                <a:latin typeface="Times New Roman"/>
              </a:rPr>
              <a:t>v ~ N (v̂, Hᵥ⁻¹)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711200" y="1593850"/>
            <a:ext cx="0" cy="628650"/>
          </a:xfrm>
          <a:prstGeom prst="line">
            <a:avLst/>
          </a:prstGeom>
          <a:ln w="22860">
            <a:solidFill>
              <a:srgbClr val="5D8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784350" y="1295400"/>
            <a:ext cx="0" cy="806450"/>
          </a:xfrm>
          <a:prstGeom prst="line">
            <a:avLst/>
          </a:prstGeom>
          <a:ln w="22860">
            <a:solidFill>
              <a:srgbClr val="5D8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2203450" y="1225550"/>
            <a:ext cx="0" cy="927100"/>
          </a:xfrm>
          <a:prstGeom prst="line">
            <a:avLst/>
          </a:prstGeom>
          <a:ln w="22860">
            <a:solidFill>
              <a:srgbClr val="5D8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11200" y="2736850"/>
            <a:ext cx="0" cy="1155700"/>
          </a:xfrm>
          <a:prstGeom prst="line">
            <a:avLst/>
          </a:prstGeom>
          <a:ln w="22860">
            <a:solidFill>
              <a:srgbClr val="5D8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778000" y="2247900"/>
            <a:ext cx="0" cy="882650"/>
          </a:xfrm>
          <a:prstGeom prst="line">
            <a:avLst/>
          </a:prstGeom>
          <a:ln w="22860">
            <a:solidFill>
              <a:srgbClr val="5D8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304800" y="3898900"/>
            <a:ext cx="1974850" cy="711200"/>
          </a:xfrm>
          <a:prstGeom prst="rect">
            <a:avLst/>
          </a:prstGeom>
          <a:noFill/>
          <a:ln w="127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42900" y="4146550"/>
            <a:ext cx="65405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 u="none">
                <a:solidFill>
                  <a:srgbClr val="111111"/>
                </a:solidFill>
                <a:latin typeface="Times New Roman"/>
              </a:rPr>
              <a:t>Hᵥ⁻¹ =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384300" y="4121150"/>
            <a:ext cx="717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111111"/>
                </a:solidFill>
                <a:latin typeface="Times New Roman"/>
              </a:rPr>
              <a:t>‖v−v̂‖²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1371600" y="4343400"/>
            <a:ext cx="711200" cy="0"/>
          </a:xfrm>
          <a:prstGeom prst="line">
            <a:avLst/>
          </a:prstGeom>
          <a:ln w="101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1384300" y="437515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111111"/>
                </a:solidFill>
                <a:latin typeface="Times New Roman"/>
              </a:rPr>
              <a:t>2·(L(v)−L(v̂))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5750" y="4724400"/>
            <a:ext cx="1968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sng">
                <a:solidFill>
                  <a:srgbClr val="111111"/>
                </a:solidFill>
                <a:latin typeface="Times New Roman"/>
              </a:rPr>
              <a:t>Laplace approximation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673350" y="1866899"/>
            <a:ext cx="2857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sng">
                <a:solidFill>
                  <a:srgbClr val="8E6BA5"/>
                </a:solidFill>
                <a:latin typeface="Times New Roman"/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57500" y="18923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11111"/>
                </a:solidFill>
                <a:latin typeface="Arial"/>
              </a:rPr>
              <a:t>Image-Prompt Input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816349" y="2171700"/>
            <a:ext cx="666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sampling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2825750" y="2520950"/>
            <a:ext cx="565150" cy="260350"/>
          </a:xfrm>
          <a:prstGeom prst="roundRect">
            <a:avLst/>
          </a:prstGeom>
          <a:noFill/>
          <a:ln w="17780">
            <a:solidFill>
              <a:srgbClr val="7C9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3384550" y="2520950"/>
            <a:ext cx="546100" cy="260350"/>
          </a:xfrm>
          <a:prstGeom prst="roundRect">
            <a:avLst/>
          </a:prstGeom>
          <a:noFill/>
          <a:ln w="17780">
            <a:solidFill>
              <a:srgbClr val="A48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825750" y="2806700"/>
            <a:ext cx="56515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384550" y="2806700"/>
            <a:ext cx="5461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Prompt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3136900" y="2139950"/>
            <a:ext cx="0" cy="26035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136900" y="2400300"/>
            <a:ext cx="1536700" cy="0"/>
          </a:xfrm>
          <a:prstGeom prst="line">
            <a:avLst/>
          </a:prstGeom>
          <a:ln w="22860">
            <a:solidFill>
              <a:srgbClr val="956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673600" y="2146300"/>
            <a:ext cx="0" cy="25400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289300" y="2781300"/>
            <a:ext cx="0" cy="36830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575050" y="2146300"/>
            <a:ext cx="0" cy="28575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 rot="20520000">
            <a:off x="4603750" y="1968500"/>
            <a:ext cx="762000" cy="457200"/>
          </a:xfrm>
          <a:prstGeom prst="ellipse">
            <a:avLst/>
          </a:prstGeom>
          <a:solidFill>
            <a:srgbClr val="EEE8F1"/>
          </a:solidFill>
          <a:ln w="8890">
            <a:solidFill>
              <a:srgbClr val="9B7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 rot="20520000">
            <a:off x="4667250" y="2006600"/>
            <a:ext cx="635000" cy="381000"/>
          </a:xfrm>
          <a:prstGeom prst="ellipse">
            <a:avLst/>
          </a:prstGeom>
          <a:solidFill>
            <a:srgbClr val="D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 rot="20520000">
            <a:off x="4730750" y="2044700"/>
            <a:ext cx="508000" cy="304800"/>
          </a:xfrm>
          <a:prstGeom prst="ellipse">
            <a:avLst/>
          </a:prstGeom>
          <a:solidFill>
            <a:srgbClr val="A8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 rot="20520000">
            <a:off x="4794250" y="2082800"/>
            <a:ext cx="381000" cy="228600"/>
          </a:xfrm>
          <a:prstGeom prst="ellipse">
            <a:avLst/>
          </a:prstGeom>
          <a:solidFill>
            <a:srgbClr val="82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62525" y="2174875"/>
            <a:ext cx="44450" cy="44450"/>
          </a:xfrm>
          <a:prstGeom prst="ellipse">
            <a:avLst/>
          </a:prstGeom>
          <a:solidFill>
            <a:srgbClr val="93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654550" y="2120900"/>
            <a:ext cx="50800" cy="50800"/>
          </a:xfrm>
          <a:prstGeom prst="ellipse">
            <a:avLst/>
          </a:prstGeom>
          <a:solidFill>
            <a:srgbClr val="E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524500" y="1905000"/>
            <a:ext cx="3175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111111"/>
                </a:solidFill>
                <a:latin typeface="Times New Roman"/>
              </a:rPr>
              <a:t>cₓ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930649" y="2387600"/>
            <a:ext cx="11112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u="none">
                <a:solidFill>
                  <a:srgbClr val="111111"/>
                </a:solidFill>
                <a:latin typeface="Times New Roman"/>
              </a:rPr>
              <a:t>t ~ N (tᵥ, Hₜ⁻¹)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4984750" y="2616200"/>
            <a:ext cx="0" cy="51435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4146550" y="3892550"/>
            <a:ext cx="2032000" cy="711200"/>
          </a:xfrm>
          <a:prstGeom prst="rect">
            <a:avLst/>
          </a:prstGeom>
          <a:noFill/>
          <a:ln w="127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203700" y="4146550"/>
            <a:ext cx="6223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 u="none">
                <a:solidFill>
                  <a:srgbClr val="111111"/>
                </a:solidFill>
                <a:latin typeface="Times New Roman"/>
              </a:rPr>
              <a:t>Hₜ⁻¹ =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80000" y="4121150"/>
            <a:ext cx="7302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111111"/>
                </a:solidFill>
                <a:latin typeface="Times New Roman"/>
              </a:rPr>
              <a:t>‖t₀−tᵥ‖²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5035550" y="4343400"/>
            <a:ext cx="971550" cy="0"/>
          </a:xfrm>
          <a:prstGeom prst="line">
            <a:avLst/>
          </a:prstGeom>
          <a:ln w="101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5086350" y="4375150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u="none">
                <a:solidFill>
                  <a:srgbClr val="111111"/>
                </a:solidFill>
                <a:latin typeface="Times New Roman"/>
              </a:rPr>
              <a:t>2·(L(v,t₀)−L(v,tᵥ))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397250" y="472440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sng">
                <a:solidFill>
                  <a:srgbClr val="111111"/>
                </a:solidFill>
                <a:latin typeface="Times New Roman"/>
              </a:rPr>
              <a:t>Laplace approximation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464300" y="1625600"/>
            <a:ext cx="2857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sng">
                <a:solidFill>
                  <a:srgbClr val="EF2F2F"/>
                </a:solidFill>
                <a:latin typeface="Times New Roman"/>
              </a:rPr>
              <a:t>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858000" y="1631950"/>
            <a:ext cx="793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Monte Carlo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Sampling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874000" y="1631950"/>
            <a:ext cx="8255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Compute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distribution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826500" y="1631950"/>
            <a:ext cx="793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Monte Carlo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Sampling</a:t>
            </a:r>
          </a:p>
        </p:txBody>
      </p:sp>
      <p:pic>
        <p:nvPicPr>
          <p:cNvPr id="236" name="Picture 235" descr="no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950" y="2044700"/>
            <a:ext cx="704850" cy="704850"/>
          </a:xfrm>
          <a:prstGeom prst="rect">
            <a:avLst/>
          </a:prstGeom>
        </p:spPr>
      </p:pic>
      <p:sp>
        <p:nvSpPr>
          <p:cNvPr id="237" name="Rectangle 236"/>
          <p:cNvSpPr/>
          <p:nvPr/>
        </p:nvSpPr>
        <p:spPr>
          <a:xfrm>
            <a:off x="6584950" y="2044700"/>
            <a:ext cx="704850" cy="704850"/>
          </a:xfrm>
          <a:prstGeom prst="rect">
            <a:avLst/>
          </a:prstGeom>
          <a:noFill/>
          <a:ln w="19050">
            <a:solidFill>
              <a:srgbClr val="E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7264400" y="233045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11111"/>
                </a:solidFill>
                <a:latin typeface="Arial"/>
              </a:rPr>
              <a:t>+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486650" y="2247900"/>
            <a:ext cx="2247900" cy="273050"/>
          </a:xfrm>
          <a:prstGeom prst="rect">
            <a:avLst/>
          </a:prstGeom>
          <a:solidFill>
            <a:srgbClr val="FFFFFF"/>
          </a:solidFill>
          <a:ln w="10160">
            <a:solidFill>
              <a:srgbClr val="6C8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486650" y="2247900"/>
            <a:ext cx="933449" cy="273050"/>
          </a:xfrm>
          <a:prstGeom prst="rect">
            <a:avLst/>
          </a:prstGeom>
          <a:solidFill>
            <a:srgbClr val="DCEAF7"/>
          </a:solidFill>
          <a:ln w="10160">
            <a:solidFill>
              <a:srgbClr val="6C8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420100" y="2247900"/>
            <a:ext cx="1314450" cy="273050"/>
          </a:xfrm>
          <a:prstGeom prst="rect">
            <a:avLst/>
          </a:prstGeom>
          <a:solidFill>
            <a:srgbClr val="E3D8EA"/>
          </a:solidFill>
          <a:ln w="10160">
            <a:solidFill>
              <a:srgbClr val="95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493000" y="2292350"/>
            <a:ext cx="920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426450" y="2292350"/>
            <a:ext cx="1301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11111"/>
                </a:solidFill>
                <a:latin typeface="Arial"/>
              </a:rPr>
              <a:t>Prompt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400800" y="2286000"/>
            <a:ext cx="1714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 u="none">
                <a:solidFill>
                  <a:srgbClr val="111111"/>
                </a:solidFill>
                <a:latin typeface="Times New Roman"/>
              </a:rPr>
              <a:t>δ</a:t>
            </a:r>
          </a:p>
        </p:txBody>
      </p:sp>
      <p:cxnSp>
        <p:nvCxnSpPr>
          <p:cNvPr id="245" name="Connector 244"/>
          <p:cNvCxnSpPr/>
          <p:nvPr/>
        </p:nvCxnSpPr>
        <p:spPr>
          <a:xfrm flipV="1">
            <a:off x="6877050" y="2819400"/>
            <a:ext cx="0" cy="247650"/>
          </a:xfrm>
          <a:prstGeom prst="line">
            <a:avLst/>
          </a:prstGeom>
          <a:ln w="22860">
            <a:solidFill>
              <a:srgbClr val="D97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572500" y="2527300"/>
            <a:ext cx="0" cy="622300"/>
          </a:xfrm>
          <a:prstGeom prst="line">
            <a:avLst/>
          </a:prstGeom>
          <a:ln w="22860">
            <a:solidFill>
              <a:srgbClr val="0F84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9525000" y="1263650"/>
            <a:ext cx="0" cy="914400"/>
          </a:xfrm>
          <a:prstGeom prst="line">
            <a:avLst/>
          </a:prstGeom>
          <a:ln w="22860">
            <a:solidFill>
              <a:srgbClr val="95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8318499" y="2698750"/>
            <a:ext cx="5080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EF2F2F"/>
                </a:solidFill>
                <a:latin typeface="Arial"/>
              </a:rPr>
              <a:t>Input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445250" y="2857500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D97800"/>
                </a:solidFill>
                <a:latin typeface="Arial"/>
              </a:rPr>
              <a:t>Update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413500" y="3892550"/>
            <a:ext cx="3352800" cy="1016000"/>
          </a:xfrm>
          <a:prstGeom prst="rect">
            <a:avLst/>
          </a:prstGeom>
          <a:noFill/>
          <a:ln w="12700">
            <a:solidFill>
              <a:srgbClr val="EF7B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731000" y="3759199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EF2F2F"/>
                </a:solidFill>
                <a:latin typeface="Arial"/>
              </a:rPr>
              <a:t>Perturbation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EF2F2F"/>
                </a:solidFill>
                <a:latin typeface="Arial"/>
              </a:rPr>
              <a:t>Training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470650" y="4121150"/>
            <a:ext cx="1612900" cy="539750"/>
          </a:xfrm>
          <a:prstGeom prst="roundRect">
            <a:avLst/>
          </a:prstGeom>
          <a:solidFill>
            <a:srgbClr val="FCE0AE"/>
          </a:solidFill>
          <a:ln w="12700">
            <a:solidFill>
              <a:srgbClr val="E79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508750" y="4298950"/>
            <a:ext cx="1536700" cy="260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 u="none">
                <a:solidFill>
                  <a:srgbClr val="111111"/>
                </a:solidFill>
                <a:latin typeface="Times New Roman"/>
              </a:rPr>
              <a:t>min 𝒟(MLLM(v + δ, t), yₜₐᵣ)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 u="none">
                <a:solidFill>
                  <a:srgbClr val="111111"/>
                </a:solidFill>
                <a:latin typeface="Times New Roman"/>
              </a:rPr>
              <a:t>‖δ‖≤η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8267699" y="3956050"/>
            <a:ext cx="1409700" cy="361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8267699" y="4368800"/>
            <a:ext cx="1409700" cy="361950"/>
          </a:xfrm>
          <a:prstGeom prst="roundRect">
            <a:avLst/>
          </a:prstGeom>
          <a:solidFill>
            <a:srgbClr val="F5D2D0"/>
          </a:solidFill>
          <a:ln w="12700">
            <a:solidFill>
              <a:srgbClr val="D5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280400" y="4051300"/>
            <a:ext cx="13843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111111"/>
                </a:solidFill>
                <a:latin typeface="Times New Roman"/>
              </a:rPr>
              <a:t>MLLM(v + δ, t)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286750" y="4476750"/>
            <a:ext cx="1371600" cy="19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u="none">
                <a:solidFill>
                  <a:srgbClr val="111111"/>
                </a:solidFill>
                <a:latin typeface="Times New Roman"/>
              </a:rPr>
              <a:t>yₜₐᵣ : I am sorry.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8083550" y="4394200"/>
            <a:ext cx="63499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8147049" y="4133849"/>
            <a:ext cx="0" cy="260351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8147049" y="4133849"/>
            <a:ext cx="12065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8147049" y="4394200"/>
            <a:ext cx="0" cy="15240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8147049" y="4546600"/>
            <a:ext cx="12065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ectangle 262"/>
          <p:cNvSpPr/>
          <p:nvPr/>
        </p:nvSpPr>
        <p:spPr>
          <a:xfrm>
            <a:off x="9931400" y="88900"/>
            <a:ext cx="2184400" cy="2330450"/>
          </a:xfrm>
          <a:prstGeom prst="rect">
            <a:avLst/>
          </a:prstGeom>
          <a:solidFill>
            <a:srgbClr val="F7CECE"/>
          </a:solidFill>
          <a:ln w="11430">
            <a:solidFill>
              <a:srgbClr val="DB6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001250" y="139700"/>
            <a:ext cx="2044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11111"/>
                </a:solidFill>
                <a:latin typeface="Arial"/>
              </a:rPr>
              <a:t>Any combination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11111"/>
                </a:solidFill>
                <a:latin typeface="Arial"/>
              </a:rPr>
              <a:t>of images and prompts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071100" y="64135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11111"/>
                </a:solidFill>
                <a:latin typeface="Arial"/>
              </a:rPr>
              <a:t>Prompt: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0058400" y="857250"/>
            <a:ext cx="1968500" cy="19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sng">
                <a:solidFill>
                  <a:srgbClr val="111111"/>
                </a:solidFill>
                <a:latin typeface="Times New Roman"/>
              </a:rPr>
              <a:t>What animal is in the toilet?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077450" y="11938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11111"/>
                </a:solidFill>
                <a:latin typeface="Arial"/>
              </a:rPr>
              <a:t>Image:</a:t>
            </a:r>
          </a:p>
        </p:txBody>
      </p:sp>
      <p:pic>
        <p:nvPicPr>
          <p:cNvPr id="268" name="Picture 267" descr="no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350" y="1517650"/>
            <a:ext cx="698500" cy="692150"/>
          </a:xfrm>
          <a:prstGeom prst="rect">
            <a:avLst/>
          </a:prstGeom>
        </p:spPr>
      </p:pic>
      <p:sp>
        <p:nvSpPr>
          <p:cNvPr id="269" name="Rectangle 268"/>
          <p:cNvSpPr/>
          <p:nvPr/>
        </p:nvSpPr>
        <p:spPr>
          <a:xfrm>
            <a:off x="10166350" y="1517650"/>
            <a:ext cx="698500" cy="692150"/>
          </a:xfrm>
          <a:prstGeom prst="rect">
            <a:avLst/>
          </a:prstGeom>
          <a:noFill/>
          <a:ln w="19050">
            <a:solidFill>
              <a:srgbClr val="E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0883900" y="1771650"/>
            <a:ext cx="2032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11111"/>
                </a:solidFill>
                <a:latin typeface="Arial"/>
              </a:rPr>
              <a:t>+</a:t>
            </a:r>
          </a:p>
        </p:txBody>
      </p:sp>
      <p:pic>
        <p:nvPicPr>
          <p:cNvPr id="271" name="Picture 270" descr="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5200" y="1517650"/>
            <a:ext cx="698500" cy="692150"/>
          </a:xfrm>
          <a:prstGeom prst="rect">
            <a:avLst/>
          </a:prstGeom>
        </p:spPr>
      </p:pic>
      <p:sp>
        <p:nvSpPr>
          <p:cNvPr id="272" name="Rectangle 271"/>
          <p:cNvSpPr/>
          <p:nvPr/>
        </p:nvSpPr>
        <p:spPr>
          <a:xfrm>
            <a:off x="11125200" y="1517650"/>
            <a:ext cx="698500" cy="692150"/>
          </a:xfrm>
          <a:prstGeom prst="rect">
            <a:avLst/>
          </a:prstGeom>
          <a:noFill/>
          <a:ln w="19050">
            <a:solidFill>
              <a:srgbClr val="29E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0147300" y="25146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EF2F2F"/>
                </a:solidFill>
                <a:latin typeface="Arial"/>
              </a:rPr>
              <a:t>Universal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EF2F2F"/>
                </a:solidFill>
                <a:latin typeface="Arial"/>
              </a:rPr>
              <a:t>Perturbation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953750" y="2451100"/>
            <a:ext cx="939799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sng">
                <a:solidFill>
                  <a:srgbClr val="EF2F2F"/>
                </a:solidFill>
                <a:latin typeface="Arial"/>
              </a:rPr>
              <a:t>Attack process</a:t>
            </a:r>
          </a:p>
        </p:txBody>
      </p:sp>
      <p:cxnSp>
        <p:nvCxnSpPr>
          <p:cNvPr id="275" name="Connector 274"/>
          <p:cNvCxnSpPr/>
          <p:nvPr/>
        </p:nvCxnSpPr>
        <p:spPr>
          <a:xfrm flipV="1">
            <a:off x="10477500" y="2222500"/>
            <a:ext cx="0" cy="825500"/>
          </a:xfrm>
          <a:prstGeom prst="line">
            <a:avLst/>
          </a:prstGeom>
          <a:ln w="1524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1455400" y="2222500"/>
            <a:ext cx="0" cy="850900"/>
          </a:xfrm>
          <a:prstGeom prst="line">
            <a:avLst/>
          </a:prstGeom>
          <a:ln w="22860">
            <a:solidFill>
              <a:srgbClr val="E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ounded Rectangle 276"/>
          <p:cNvSpPr/>
          <p:nvPr/>
        </p:nvSpPr>
        <p:spPr>
          <a:xfrm>
            <a:off x="95250" y="3175000"/>
            <a:ext cx="12014200" cy="463550"/>
          </a:xfrm>
          <a:prstGeom prst="roundRect">
            <a:avLst/>
          </a:prstGeom>
          <a:solidFill>
            <a:srgbClr val="FFF0C6"/>
          </a:solidFill>
          <a:ln w="10160">
            <a:solidFill>
              <a:srgbClr val="E6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2222500" y="3244850"/>
            <a:ext cx="77469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11111"/>
                </a:solidFill>
                <a:latin typeface="Arial"/>
              </a:rPr>
              <a:t>Multi-Modal Large Language Model  (MLLM)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6877050" y="3670300"/>
            <a:ext cx="0" cy="450850"/>
          </a:xfrm>
          <a:prstGeom prst="line">
            <a:avLst/>
          </a:prstGeom>
          <a:ln w="22860">
            <a:solidFill>
              <a:srgbClr val="D97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2500" y="3644900"/>
            <a:ext cx="0" cy="292100"/>
          </a:xfrm>
          <a:prstGeom prst="line">
            <a:avLst/>
          </a:prstGeom>
          <a:ln w="22860">
            <a:solidFill>
              <a:srgbClr val="0F84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1455400" y="3657600"/>
            <a:ext cx="0" cy="457200"/>
          </a:xfrm>
          <a:prstGeom prst="line">
            <a:avLst/>
          </a:prstGeom>
          <a:ln w="22860">
            <a:solidFill>
              <a:srgbClr val="E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/>
          <p:cNvSpPr txBox="1"/>
          <p:nvPr/>
        </p:nvSpPr>
        <p:spPr>
          <a:xfrm>
            <a:off x="10001250" y="3708400"/>
            <a:ext cx="1397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EF2F2F"/>
                </a:solidFill>
                <a:latin typeface="Arial"/>
              </a:rPr>
              <a:t>Successful attack</a:t>
            </a:r>
          </a:p>
        </p:txBody>
      </p:sp>
      <p:sp>
        <p:nvSpPr>
          <p:cNvPr id="283" name="Oval 282"/>
          <p:cNvSpPr/>
          <p:nvPr/>
        </p:nvSpPr>
        <p:spPr>
          <a:xfrm>
            <a:off x="11620500" y="3752850"/>
            <a:ext cx="241300" cy="222250"/>
          </a:xfrm>
          <a:prstGeom prst="ellipse">
            <a:avLst/>
          </a:prstGeom>
          <a:solidFill>
            <a:srgbClr val="D92F72"/>
          </a:solidFill>
          <a:ln w="10160">
            <a:solidFill>
              <a:srgbClr val="9E2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645900" y="3829050"/>
            <a:ext cx="50800" cy="76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51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785600" y="3829050"/>
            <a:ext cx="50800" cy="76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51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ounded Rectangle 285"/>
          <p:cNvSpPr/>
          <p:nvPr/>
        </p:nvSpPr>
        <p:spPr>
          <a:xfrm>
            <a:off x="11684000" y="3937000"/>
            <a:ext cx="127000" cy="444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51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982200" y="4114800"/>
            <a:ext cx="2139950" cy="393700"/>
          </a:xfrm>
          <a:prstGeom prst="rect">
            <a:avLst/>
          </a:prstGeom>
          <a:solidFill>
            <a:srgbClr val="F8D0D0"/>
          </a:solidFill>
          <a:ln w="11430">
            <a:solidFill>
              <a:srgbClr val="D4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0020300" y="4203700"/>
            <a:ext cx="2063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11111"/>
                </a:solidFill>
                <a:latin typeface="Arial"/>
              </a:rPr>
              <a:t>Answer: I am sorry.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9982200" y="4514850"/>
            <a:ext cx="2139950" cy="400050"/>
          </a:xfrm>
          <a:prstGeom prst="rect">
            <a:avLst/>
          </a:prstGeom>
          <a:solidFill>
            <a:srgbClr val="DFF0D7"/>
          </a:solidFill>
          <a:ln w="11430">
            <a:solidFill>
              <a:srgbClr val="70B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020300" y="4546600"/>
            <a:ext cx="2063750" cy="184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11111"/>
                </a:solidFill>
                <a:latin typeface="Arial"/>
              </a:rPr>
              <a:t>Original answer: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020300" y="4743450"/>
            <a:ext cx="20637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11111"/>
                </a:solidFill>
                <a:latin typeface="Arial"/>
              </a:rPr>
              <a:t>A cat.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5250" y="4991100"/>
            <a:ext cx="2667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sng">
                <a:solidFill>
                  <a:srgbClr val="7393C0"/>
                </a:solidFill>
                <a:latin typeface="Arial"/>
              </a:rPr>
              <a:t>Image Distribution Approximation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143250" y="4991100"/>
            <a:ext cx="28257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sng">
                <a:solidFill>
                  <a:srgbClr val="956BB0"/>
                </a:solidFill>
                <a:latin typeface="Arial"/>
              </a:rPr>
              <a:t>Prompt Distribution Approximation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584950" y="4991100"/>
            <a:ext cx="47625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sng">
                <a:solidFill>
                  <a:srgbClr val="111111"/>
                </a:solidFill>
                <a:latin typeface="Times New Roman"/>
              </a:rPr>
              <a:t>Distribution-Driven Perturbation Optimization via Monte Carlo Sampling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it the Distribution Cross-ImagePrompt Adversarial Attacks on Multimodal Large Language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950" cy="513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