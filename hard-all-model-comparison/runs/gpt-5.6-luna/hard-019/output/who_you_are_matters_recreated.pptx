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001500" cy="5537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500" y="127000"/>
            <a:ext cx="4032250" cy="4965700"/>
          </a:xfrm>
          <a:prstGeom prst="roundRect">
            <a:avLst/>
          </a:prstGeom>
          <a:noFill/>
          <a:ln w="28575">
            <a:solidFill>
              <a:srgbClr val="5F5F5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86250" y="127000"/>
            <a:ext cx="3670300" cy="4965700"/>
          </a:xfrm>
          <a:prstGeom prst="roundRect">
            <a:avLst/>
          </a:prstGeom>
          <a:noFill/>
          <a:ln w="28575">
            <a:solidFill>
              <a:srgbClr val="5F5F5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53399" y="127000"/>
            <a:ext cx="3784600" cy="4965700"/>
          </a:xfrm>
          <a:prstGeom prst="roundRect">
            <a:avLst/>
          </a:prstGeom>
          <a:noFill/>
          <a:ln w="28575">
            <a:solidFill>
              <a:srgbClr val="5F5F5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7000" y="5257800"/>
            <a:ext cx="3905249" cy="222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51515"/>
                </a:solidFill>
                <a:latin typeface="Georgia"/>
              </a:rPr>
              <a:t>(1) MLLM-based Tag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9750" y="5257800"/>
            <a:ext cx="3556000" cy="222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51515"/>
                </a:solidFill>
                <a:latin typeface="Georgia"/>
              </a:rPr>
              <a:t>(2) LLM-based Collaborative Logic Reasoning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0" y="5257800"/>
            <a:ext cx="3714750" cy="222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51515"/>
                </a:solidFill>
                <a:latin typeface="Georgia"/>
              </a:rPr>
              <a:t>(3) Tag Logic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234949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45" b="1" i="1">
                <a:solidFill>
                  <a:srgbClr val="151515"/>
                </a:solidFill>
                <a:latin typeface="Georgia"/>
              </a:rPr>
              <a:t>Itemᵢ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406400"/>
            <a:ext cx="0" cy="158750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10800000">
            <a:off x="654050" y="520700"/>
            <a:ext cx="63500" cy="88900"/>
          </a:xfrm>
          <a:prstGeom prst="triangle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6050" y="596900"/>
            <a:ext cx="1085850" cy="508000"/>
          </a:xfrm>
          <a:prstGeom prst="roundRect">
            <a:avLst/>
          </a:prstGeom>
          <a:solidFill>
            <a:srgbClr val="F2F2F2"/>
          </a:solidFill>
          <a:ln w="2857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800" y="654050"/>
            <a:ext cx="1016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45" b="0" i="0">
                <a:solidFill>
                  <a:srgbClr val="151515"/>
                </a:solidFill>
                <a:latin typeface="Georgia"/>
              </a:rPr>
              <a:t>Raw</a:t>
            </a:r>
          </a:p>
          <a:p>
            <a:pPr algn="ctr"/>
            <a:r>
              <a:rPr sz="1045" b="0" i="0">
                <a:solidFill>
                  <a:srgbClr val="151515"/>
                </a:solidFill>
                <a:latin typeface="Georgia"/>
              </a:rPr>
              <a:t>Information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31900" y="844550"/>
            <a:ext cx="260350" cy="0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1460500" y="800100"/>
            <a:ext cx="63500" cy="88900"/>
          </a:xfrm>
          <a:prstGeom prst="triangle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574800" y="692150"/>
            <a:ext cx="266700" cy="184150"/>
          </a:xfrm>
          <a:prstGeom prst="roundRect">
            <a:avLst/>
          </a:prstGeom>
          <a:solidFill>
            <a:srgbClr val="151515"/>
          </a:solidFill>
          <a:ln w="9525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549400" y="882650"/>
            <a:ext cx="317500" cy="139700"/>
          </a:xfrm>
          <a:prstGeom prst="roundRect">
            <a:avLst/>
          </a:prstGeom>
          <a:solidFill>
            <a:srgbClr val="151515"/>
          </a:solidFill>
          <a:ln w="9525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00200" y="1041400"/>
            <a:ext cx="76200" cy="50800"/>
          </a:xfrm>
          <a:prstGeom prst="rect">
            <a:avLst/>
          </a:prstGeom>
          <a:solidFill>
            <a:srgbClr val="151515"/>
          </a:solidFill>
          <a:ln w="9525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39900" y="1041400"/>
            <a:ext cx="76200" cy="50800"/>
          </a:xfrm>
          <a:prstGeom prst="rect">
            <a:avLst/>
          </a:prstGeom>
          <a:solidFill>
            <a:srgbClr val="151515"/>
          </a:solidFill>
          <a:ln w="9525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708150" y="641350"/>
            <a:ext cx="0" cy="50800"/>
          </a:xfrm>
          <a:prstGeom prst="line">
            <a:avLst/>
          </a:prstGeom>
          <a:ln w="28575">
            <a:solidFill>
              <a:srgbClr val="15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676400" y="603250"/>
            <a:ext cx="50800" cy="50800"/>
          </a:xfrm>
          <a:prstGeom prst="ellipse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625600" y="77470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739900" y="77470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1644650" y="920750"/>
            <a:ext cx="31750" cy="25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76400" y="920750"/>
            <a:ext cx="31750" cy="508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708150" y="920750"/>
            <a:ext cx="38100" cy="508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479550" y="1136650"/>
            <a:ext cx="444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35" b="1" i="0">
                <a:solidFill>
                  <a:srgbClr val="151515"/>
                </a:solidFill>
                <a:latin typeface="Georgia"/>
              </a:rPr>
              <a:t>MLLM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968500" y="844550"/>
            <a:ext cx="126999" cy="0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095499" y="247649"/>
            <a:ext cx="0" cy="596901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095499" y="247649"/>
            <a:ext cx="1485901" cy="0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3549650" y="203200"/>
            <a:ext cx="63500" cy="88900"/>
          </a:xfrm>
          <a:prstGeom prst="triangle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3581400" y="247649"/>
            <a:ext cx="0" cy="139701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10800000">
            <a:off x="3549650" y="342900"/>
            <a:ext cx="63500" cy="88900"/>
          </a:xfrm>
          <a:prstGeom prst="triangle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47900" y="330200"/>
            <a:ext cx="800100" cy="1206500"/>
          </a:xfrm>
          <a:prstGeom prst="rect">
            <a:avLst/>
          </a:prstGeom>
          <a:noFill/>
          <a:ln w="19050">
            <a:solidFill>
              <a:srgbClr val="5F5F5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343150" y="374650"/>
            <a:ext cx="584200" cy="311150"/>
          </a:xfrm>
          <a:prstGeom prst="roundRect">
            <a:avLst/>
          </a:prstGeom>
          <a:solidFill>
            <a:srgbClr val="D9E1F2"/>
          </a:solidFill>
          <a:ln w="28575">
            <a:solidFill>
              <a:srgbClr val="5F5F5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55850" y="419100"/>
            <a:ext cx="558800" cy="222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45" b="1" i="0">
                <a:solidFill>
                  <a:srgbClr val="151515"/>
                </a:solidFill>
                <a:latin typeface="Georgia"/>
              </a:rPr>
              <a:t>ASR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343150" y="742950"/>
            <a:ext cx="584200" cy="311150"/>
          </a:xfrm>
          <a:prstGeom prst="roundRect">
            <a:avLst/>
          </a:prstGeom>
          <a:solidFill>
            <a:srgbClr val="D9E1F2"/>
          </a:solidFill>
          <a:ln w="28575">
            <a:solidFill>
              <a:srgbClr val="5F5F5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55850" y="787400"/>
            <a:ext cx="558800" cy="222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45" b="1" i="0">
                <a:solidFill>
                  <a:srgbClr val="151515"/>
                </a:solidFill>
                <a:latin typeface="Georgia"/>
              </a:rPr>
              <a:t>OCR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43150" y="1111250"/>
            <a:ext cx="584200" cy="311150"/>
          </a:xfrm>
          <a:prstGeom prst="roundRect">
            <a:avLst/>
          </a:prstGeom>
          <a:solidFill>
            <a:srgbClr val="FFF0C9"/>
          </a:solidFill>
          <a:ln w="28575">
            <a:solidFill>
              <a:srgbClr val="5F5F5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55850" y="1155700"/>
            <a:ext cx="558800" cy="222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45" b="1" i="0">
                <a:solidFill>
                  <a:srgbClr val="151515"/>
                </a:solidFill>
                <a:latin typeface="Georgia"/>
              </a:rPr>
              <a:t>Text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76600" y="374650"/>
            <a:ext cx="749300" cy="1073150"/>
          </a:xfrm>
          <a:prstGeom prst="roundRect">
            <a:avLst/>
          </a:prstGeom>
          <a:solidFill>
            <a:srgbClr val="F7E6EF"/>
          </a:solidFill>
          <a:ln w="28575">
            <a:solidFill>
              <a:srgbClr val="5F5F5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95650" y="704850"/>
            <a:ext cx="711200" cy="44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45" b="1" i="0">
                <a:solidFill>
                  <a:srgbClr val="151515"/>
                </a:solidFill>
                <a:latin typeface="Georgia"/>
              </a:rPr>
              <a:t>MLLM</a:t>
            </a:r>
          </a:p>
          <a:p>
            <a:pPr algn="ctr"/>
            <a:r>
              <a:rPr sz="1045" b="1" i="0">
                <a:solidFill>
                  <a:srgbClr val="151515"/>
                </a:solidFill>
                <a:latin typeface="Georgia"/>
              </a:rPr>
              <a:t>Emb Eᵢ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175000" y="908050"/>
            <a:ext cx="0" cy="850900"/>
          </a:xfrm>
          <a:prstGeom prst="line">
            <a:avLst/>
          </a:prstGeom>
          <a:ln w="19050">
            <a:solidFill>
              <a:srgbClr val="5F5F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1016000" y="1758950"/>
            <a:ext cx="2159000" cy="0"/>
          </a:xfrm>
          <a:prstGeom prst="line">
            <a:avLst/>
          </a:prstGeom>
          <a:ln w="19050">
            <a:solidFill>
              <a:srgbClr val="5F5F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16000" y="1758950"/>
            <a:ext cx="0" cy="368300"/>
          </a:xfrm>
          <a:prstGeom prst="line">
            <a:avLst/>
          </a:prstGeom>
          <a:ln w="19050">
            <a:solidFill>
              <a:srgbClr val="5F5F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/>
          <p:cNvSpPr/>
          <p:nvPr/>
        </p:nvSpPr>
        <p:spPr>
          <a:xfrm rot="10800000">
            <a:off x="984250" y="2082800"/>
            <a:ext cx="63500" cy="88900"/>
          </a:xfrm>
          <a:prstGeom prst="triangle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3175000" y="908050"/>
            <a:ext cx="0" cy="1231900"/>
          </a:xfrm>
          <a:prstGeom prst="line">
            <a:avLst/>
          </a:prstGeom>
          <a:ln w="19050">
            <a:solidFill>
              <a:srgbClr val="5F5F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Isosceles Triangle 46"/>
          <p:cNvSpPr/>
          <p:nvPr/>
        </p:nvSpPr>
        <p:spPr>
          <a:xfrm rot="10800000">
            <a:off x="3143250" y="2095499"/>
            <a:ext cx="63500" cy="88900"/>
          </a:xfrm>
          <a:prstGeom prst="triangle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3651250" y="1454150"/>
            <a:ext cx="0" cy="463550"/>
          </a:xfrm>
          <a:prstGeom prst="line">
            <a:avLst/>
          </a:prstGeom>
          <a:ln w="28575">
            <a:solidFill>
              <a:srgbClr val="F7B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sosceles Triangle 48"/>
          <p:cNvSpPr/>
          <p:nvPr/>
        </p:nvSpPr>
        <p:spPr>
          <a:xfrm rot="10800000">
            <a:off x="3619500" y="1873250"/>
            <a:ext cx="63500" cy="88900"/>
          </a:xfrm>
          <a:prstGeom prst="triangle">
            <a:avLst/>
          </a:prstGeom>
          <a:solidFill>
            <a:srgbClr val="F7B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 flipH="1">
            <a:off x="2044700" y="1917700"/>
            <a:ext cx="1606550" cy="0"/>
          </a:xfrm>
          <a:prstGeom prst="line">
            <a:avLst/>
          </a:prstGeom>
          <a:ln w="28575">
            <a:solidFill>
              <a:srgbClr val="F7B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044700" y="1917700"/>
            <a:ext cx="0" cy="844550"/>
          </a:xfrm>
          <a:prstGeom prst="line">
            <a:avLst/>
          </a:prstGeom>
          <a:ln w="28575">
            <a:solidFill>
              <a:srgbClr val="F7B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Isosceles Triangle 51"/>
          <p:cNvSpPr/>
          <p:nvPr/>
        </p:nvSpPr>
        <p:spPr>
          <a:xfrm rot="10800000">
            <a:off x="2012950" y="2717800"/>
            <a:ext cx="63500" cy="88900"/>
          </a:xfrm>
          <a:prstGeom prst="triangle">
            <a:avLst/>
          </a:prstGeom>
          <a:solidFill>
            <a:srgbClr val="F7B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39700" y="2146300"/>
            <a:ext cx="1765300" cy="571500"/>
          </a:xfrm>
          <a:prstGeom prst="roundRect">
            <a:avLst/>
          </a:prstGeom>
          <a:solidFill>
            <a:srgbClr val="DCEFD1"/>
          </a:solidFill>
          <a:ln w="19050">
            <a:solidFill>
              <a:srgbClr val="62A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77800" y="2235200"/>
            <a:ext cx="1689100" cy="374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90" b="1" i="0">
                <a:solidFill>
                  <a:srgbClr val="151515"/>
                </a:solidFill>
                <a:latin typeface="Georgia"/>
              </a:rPr>
              <a:t>ItemTag Extraction</a:t>
            </a:r>
          </a:p>
          <a:p>
            <a:pPr algn="ctr"/>
            <a:r>
              <a:rPr sz="990" b="1" i="0">
                <a:solidFill>
                  <a:srgbClr val="151515"/>
                </a:solidFill>
                <a:latin typeface="Georgia"/>
              </a:rPr>
              <a:t>Prompt  Xᶜᵢ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266950" y="2146300"/>
            <a:ext cx="1733550" cy="571500"/>
          </a:xfrm>
          <a:prstGeom prst="roundRect">
            <a:avLst/>
          </a:prstGeom>
          <a:solidFill>
            <a:srgbClr val="FFF0DF"/>
          </a:solidFill>
          <a:ln w="19050">
            <a:solidFill>
              <a:srgbClr val="D79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305050" y="2235200"/>
            <a:ext cx="1657350" cy="374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90" b="1" i="0">
                <a:solidFill>
                  <a:srgbClr val="151515"/>
                </a:solidFill>
                <a:latin typeface="Georgia"/>
              </a:rPr>
              <a:t>UserTag Extraction</a:t>
            </a:r>
          </a:p>
          <a:p>
            <a:pPr algn="ctr"/>
            <a:r>
              <a:rPr sz="990" b="1" i="0">
                <a:solidFill>
                  <a:srgbClr val="151515"/>
                </a:solidFill>
                <a:latin typeface="Georgia"/>
              </a:rPr>
              <a:t>Prompt  Xᵀᵢ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84250" y="2717800"/>
            <a:ext cx="0" cy="292100"/>
          </a:xfrm>
          <a:prstGeom prst="line">
            <a:avLst/>
          </a:prstGeom>
          <a:ln w="19050">
            <a:solidFill>
              <a:srgbClr val="87BC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Isosceles Triangle 57"/>
          <p:cNvSpPr/>
          <p:nvPr/>
        </p:nvSpPr>
        <p:spPr>
          <a:xfrm rot="10800000">
            <a:off x="952500" y="2965450"/>
            <a:ext cx="63500" cy="88900"/>
          </a:xfrm>
          <a:prstGeom prst="triangle">
            <a:avLst/>
          </a:prstGeom>
          <a:solidFill>
            <a:srgbClr val="87B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984250" y="3009900"/>
            <a:ext cx="698500" cy="0"/>
          </a:xfrm>
          <a:prstGeom prst="line">
            <a:avLst/>
          </a:prstGeom>
          <a:ln w="19050">
            <a:solidFill>
              <a:srgbClr val="87BC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Isosceles Triangle 59"/>
          <p:cNvSpPr/>
          <p:nvPr/>
        </p:nvSpPr>
        <p:spPr>
          <a:xfrm rot="5400000">
            <a:off x="1651000" y="2965450"/>
            <a:ext cx="63500" cy="88900"/>
          </a:xfrm>
          <a:prstGeom prst="triangle">
            <a:avLst/>
          </a:prstGeom>
          <a:solidFill>
            <a:srgbClr val="87B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3111500" y="2717800"/>
            <a:ext cx="0" cy="292100"/>
          </a:xfrm>
          <a:prstGeom prst="line">
            <a:avLst/>
          </a:prstGeom>
          <a:ln w="19050">
            <a:solidFill>
              <a:srgbClr val="F3A4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Isosceles Triangle 61"/>
          <p:cNvSpPr/>
          <p:nvPr/>
        </p:nvSpPr>
        <p:spPr>
          <a:xfrm rot="10800000">
            <a:off x="3079750" y="2965450"/>
            <a:ext cx="63500" cy="88900"/>
          </a:xfrm>
          <a:prstGeom prst="triangle">
            <a:avLst/>
          </a:prstGeom>
          <a:solidFill>
            <a:srgbClr val="F3A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 flipH="1">
            <a:off x="2374900" y="3009900"/>
            <a:ext cx="736600" cy="0"/>
          </a:xfrm>
          <a:prstGeom prst="line">
            <a:avLst/>
          </a:prstGeom>
          <a:ln w="19050">
            <a:solidFill>
              <a:srgbClr val="F3A4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Isosceles Triangle 63"/>
          <p:cNvSpPr/>
          <p:nvPr/>
        </p:nvSpPr>
        <p:spPr>
          <a:xfrm rot="16200000">
            <a:off x="2343150" y="2965450"/>
            <a:ext cx="63500" cy="88900"/>
          </a:xfrm>
          <a:prstGeom prst="triangle">
            <a:avLst/>
          </a:prstGeom>
          <a:solidFill>
            <a:srgbClr val="F3A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917700" y="3021964"/>
            <a:ext cx="240030" cy="165735"/>
          </a:xfrm>
          <a:prstGeom prst="roundRect">
            <a:avLst/>
          </a:prstGeom>
          <a:solidFill>
            <a:srgbClr val="151515"/>
          </a:solidFill>
          <a:ln w="9525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894839" y="3193414"/>
            <a:ext cx="285750" cy="125730"/>
          </a:xfrm>
          <a:prstGeom prst="roundRect">
            <a:avLst/>
          </a:prstGeom>
          <a:solidFill>
            <a:srgbClr val="151515"/>
          </a:solidFill>
          <a:ln w="9525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940560" y="3336289"/>
            <a:ext cx="68580" cy="45720"/>
          </a:xfrm>
          <a:prstGeom prst="rect">
            <a:avLst/>
          </a:prstGeom>
          <a:solidFill>
            <a:srgbClr val="151515"/>
          </a:solidFill>
          <a:ln w="9525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066289" y="3336289"/>
            <a:ext cx="68580" cy="45720"/>
          </a:xfrm>
          <a:prstGeom prst="rect">
            <a:avLst/>
          </a:prstGeom>
          <a:solidFill>
            <a:srgbClr val="151515"/>
          </a:solidFill>
          <a:ln w="9525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2037714" y="2976245"/>
            <a:ext cx="0" cy="45719"/>
          </a:xfrm>
          <a:prstGeom prst="line">
            <a:avLst/>
          </a:prstGeom>
          <a:ln w="28575">
            <a:solidFill>
              <a:srgbClr val="15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2009139" y="2941955"/>
            <a:ext cx="45720" cy="45720"/>
          </a:xfrm>
          <a:prstGeom prst="ellipse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963420" y="3096260"/>
            <a:ext cx="34290" cy="3429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066290" y="3096260"/>
            <a:ext cx="34290" cy="3429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 flipV="1">
            <a:off x="1980564" y="3227705"/>
            <a:ext cx="28575" cy="22859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09139" y="3227705"/>
            <a:ext cx="28575" cy="4572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2037714" y="3227705"/>
            <a:ext cx="34291" cy="4572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1831975" y="3536950"/>
            <a:ext cx="4000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35" b="1" i="0">
                <a:solidFill>
                  <a:srgbClr val="151515"/>
                </a:solidFill>
                <a:latin typeface="Georgia"/>
              </a:rPr>
              <a:t>MLLM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984250" y="3130550"/>
            <a:ext cx="0" cy="228600"/>
          </a:xfrm>
          <a:prstGeom prst="line">
            <a:avLst/>
          </a:prstGeom>
          <a:ln w="19050">
            <a:solidFill>
              <a:srgbClr val="87BC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Isosceles Triangle 77"/>
          <p:cNvSpPr/>
          <p:nvPr/>
        </p:nvSpPr>
        <p:spPr>
          <a:xfrm rot="10800000">
            <a:off x="952500" y="3314700"/>
            <a:ext cx="63500" cy="88900"/>
          </a:xfrm>
          <a:prstGeom prst="triangle">
            <a:avLst/>
          </a:prstGeom>
          <a:solidFill>
            <a:srgbClr val="87B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3111500" y="3130550"/>
            <a:ext cx="0" cy="298450"/>
          </a:xfrm>
          <a:prstGeom prst="line">
            <a:avLst/>
          </a:prstGeom>
          <a:ln w="19050">
            <a:solidFill>
              <a:srgbClr val="F3A4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Isosceles Triangle 79"/>
          <p:cNvSpPr/>
          <p:nvPr/>
        </p:nvSpPr>
        <p:spPr>
          <a:xfrm rot="10800000">
            <a:off x="3079750" y="3384550"/>
            <a:ext cx="63500" cy="88900"/>
          </a:xfrm>
          <a:prstGeom prst="triangle">
            <a:avLst/>
          </a:prstGeom>
          <a:solidFill>
            <a:srgbClr val="F3A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81000" y="4279900"/>
            <a:ext cx="11557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45" b="1" i="0">
                <a:solidFill>
                  <a:srgbClr val="151515"/>
                </a:solidFill>
                <a:latin typeface="Georgia"/>
              </a:rPr>
              <a:t>ItemTag Set  C*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463800" y="4279900"/>
            <a:ext cx="12573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45" b="1" i="0">
                <a:solidFill>
                  <a:srgbClr val="151515"/>
                </a:solidFill>
                <a:latin typeface="Georgia"/>
              </a:rPr>
              <a:t>UserTag Set  T*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38150" y="3454400"/>
            <a:ext cx="1098550" cy="285750"/>
          </a:xfrm>
          <a:prstGeom prst="roundRect">
            <a:avLst/>
          </a:prstGeom>
          <a:solidFill>
            <a:srgbClr val="E2F1D9"/>
          </a:solidFill>
          <a:ln w="9525">
            <a:solidFill>
              <a:srgbClr val="87B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0850" y="3505200"/>
            <a:ext cx="10731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" b="0" i="0">
                <a:solidFill>
                  <a:srgbClr val="151515"/>
                </a:solidFill>
                <a:latin typeface="Georgia"/>
              </a:rPr>
              <a:t>Live Music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66700" y="3651250"/>
            <a:ext cx="1257300" cy="304800"/>
          </a:xfrm>
          <a:prstGeom prst="roundRect">
            <a:avLst/>
          </a:prstGeom>
          <a:solidFill>
            <a:srgbClr val="CDE9C1"/>
          </a:solidFill>
          <a:ln w="9525">
            <a:solidFill>
              <a:srgbClr val="87B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79400" y="3702049"/>
            <a:ext cx="12319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" b="0" i="0">
                <a:solidFill>
                  <a:srgbClr val="151515"/>
                </a:solidFill>
                <a:latin typeface="Georgia"/>
              </a:rPr>
              <a:t>Instrument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266700" y="3905249"/>
            <a:ext cx="1066800" cy="304800"/>
          </a:xfrm>
          <a:prstGeom prst="roundRect">
            <a:avLst/>
          </a:prstGeom>
          <a:solidFill>
            <a:srgbClr val="B6D99F"/>
          </a:solidFill>
          <a:ln w="9525">
            <a:solidFill>
              <a:srgbClr val="87B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79400" y="3956050"/>
            <a:ext cx="10414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" b="0" i="0">
                <a:solidFill>
                  <a:srgbClr val="151515"/>
                </a:solidFill>
                <a:latin typeface="Georgia"/>
              </a:rPr>
              <a:t>Shows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628900" y="3505200"/>
            <a:ext cx="1130300" cy="304800"/>
          </a:xfrm>
          <a:prstGeom prst="roundRect">
            <a:avLst/>
          </a:prstGeom>
          <a:solidFill>
            <a:srgbClr val="FFF7DE"/>
          </a:solidFill>
          <a:ln w="9525">
            <a:solidFill>
              <a:srgbClr val="DBA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641600" y="3556000"/>
            <a:ext cx="11049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" b="0" i="0">
                <a:solidFill>
                  <a:srgbClr val="151515"/>
                </a:solidFill>
                <a:latin typeface="Georgia"/>
              </a:rPr>
              <a:t>Folk Music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2533650" y="3702049"/>
            <a:ext cx="1066800" cy="304800"/>
          </a:xfrm>
          <a:prstGeom prst="roundRect">
            <a:avLst/>
          </a:prstGeom>
          <a:solidFill>
            <a:srgbClr val="FFE9C9"/>
          </a:solidFill>
          <a:ln w="9525">
            <a:solidFill>
              <a:srgbClr val="DBA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546350" y="3752850"/>
            <a:ext cx="10414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" b="0" i="0">
                <a:solidFill>
                  <a:srgbClr val="151515"/>
                </a:solidFill>
                <a:latin typeface="Georgia"/>
              </a:rPr>
              <a:t>Music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438400" y="3905249"/>
            <a:ext cx="1066800" cy="304800"/>
          </a:xfrm>
          <a:prstGeom prst="roundRect">
            <a:avLst/>
          </a:prstGeom>
          <a:solidFill>
            <a:srgbClr val="FFDCA9"/>
          </a:solidFill>
          <a:ln w="9525">
            <a:solidFill>
              <a:srgbClr val="DBA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451100" y="3956050"/>
            <a:ext cx="10414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" b="0" i="0">
                <a:solidFill>
                  <a:srgbClr val="151515"/>
                </a:solidFill>
                <a:latin typeface="Georgia"/>
              </a:rPr>
              <a:t>Enthusiast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723900" y="4210050"/>
            <a:ext cx="0" cy="660400"/>
          </a:xfrm>
          <a:prstGeom prst="line">
            <a:avLst/>
          </a:prstGeom>
          <a:ln w="19050">
            <a:solidFill>
              <a:srgbClr val="87BC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723900" y="4870450"/>
            <a:ext cx="2355850" cy="0"/>
          </a:xfrm>
          <a:prstGeom prst="line">
            <a:avLst/>
          </a:prstGeom>
          <a:ln w="19050">
            <a:solidFill>
              <a:srgbClr val="87BC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Isosceles Triangle 96"/>
          <p:cNvSpPr/>
          <p:nvPr/>
        </p:nvSpPr>
        <p:spPr>
          <a:xfrm rot="5400000">
            <a:off x="3048000" y="4826000"/>
            <a:ext cx="63500" cy="88900"/>
          </a:xfrm>
          <a:prstGeom prst="triangle">
            <a:avLst/>
          </a:prstGeom>
          <a:solidFill>
            <a:srgbClr val="87B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 flipV="1">
            <a:off x="3079750" y="4152900"/>
            <a:ext cx="0" cy="717550"/>
          </a:xfrm>
          <a:prstGeom prst="line">
            <a:avLst/>
          </a:prstGeom>
          <a:ln w="19050">
            <a:solidFill>
              <a:srgbClr val="87BC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Isosceles Triangle 98"/>
          <p:cNvSpPr/>
          <p:nvPr/>
        </p:nvSpPr>
        <p:spPr>
          <a:xfrm>
            <a:off x="3048000" y="4108450"/>
            <a:ext cx="63500" cy="88900"/>
          </a:xfrm>
          <a:prstGeom prst="triangle">
            <a:avLst/>
          </a:prstGeom>
          <a:solidFill>
            <a:srgbClr val="87B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" name="Connector 99"/>
          <p:cNvCxnSpPr/>
          <p:nvPr/>
        </p:nvCxnSpPr>
        <p:spPr>
          <a:xfrm>
            <a:off x="3079750" y="4210050"/>
            <a:ext cx="0" cy="660400"/>
          </a:xfrm>
          <a:prstGeom prst="line">
            <a:avLst/>
          </a:prstGeom>
          <a:ln w="19050">
            <a:solidFill>
              <a:srgbClr val="F3A4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Isosceles Triangle 100"/>
          <p:cNvSpPr/>
          <p:nvPr/>
        </p:nvSpPr>
        <p:spPr>
          <a:xfrm rot="10800000">
            <a:off x="3048000" y="4826000"/>
            <a:ext cx="63500" cy="88900"/>
          </a:xfrm>
          <a:prstGeom prst="triangle">
            <a:avLst/>
          </a:prstGeom>
          <a:solidFill>
            <a:srgbClr val="F3A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Connector 101"/>
          <p:cNvCxnSpPr/>
          <p:nvPr/>
        </p:nvCxnSpPr>
        <p:spPr>
          <a:xfrm>
            <a:off x="3079750" y="4870450"/>
            <a:ext cx="3822700" cy="0"/>
          </a:xfrm>
          <a:prstGeom prst="line">
            <a:avLst/>
          </a:prstGeom>
          <a:ln w="19050">
            <a:solidFill>
              <a:srgbClr val="F3A4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Isosceles Triangle 102"/>
          <p:cNvSpPr/>
          <p:nvPr/>
        </p:nvSpPr>
        <p:spPr>
          <a:xfrm rot="5400000">
            <a:off x="6870700" y="4826000"/>
            <a:ext cx="63500" cy="88900"/>
          </a:xfrm>
          <a:prstGeom prst="triangle">
            <a:avLst/>
          </a:prstGeom>
          <a:solidFill>
            <a:srgbClr val="F3A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Connector 103"/>
          <p:cNvCxnSpPr/>
          <p:nvPr/>
        </p:nvCxnSpPr>
        <p:spPr>
          <a:xfrm flipV="1">
            <a:off x="6902450" y="4629150"/>
            <a:ext cx="0" cy="241300"/>
          </a:xfrm>
          <a:prstGeom prst="line">
            <a:avLst/>
          </a:prstGeom>
          <a:ln w="19050">
            <a:solidFill>
              <a:srgbClr val="F3A4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Isosceles Triangle 104"/>
          <p:cNvSpPr/>
          <p:nvPr/>
        </p:nvSpPr>
        <p:spPr>
          <a:xfrm>
            <a:off x="6870700" y="4584700"/>
            <a:ext cx="63500" cy="88900"/>
          </a:xfrm>
          <a:prstGeom prst="triangle">
            <a:avLst/>
          </a:prstGeom>
          <a:solidFill>
            <a:srgbClr val="F3A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4679950" y="222250"/>
            <a:ext cx="3041650" cy="2400300"/>
          </a:xfrm>
          <a:prstGeom prst="roundRect">
            <a:avLst/>
          </a:prstGeom>
          <a:solidFill>
            <a:srgbClr val="EAF2F9"/>
          </a:solidFill>
          <a:ln w="19050">
            <a:solidFill>
              <a:srgbClr val="5F5F5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49800" y="323850"/>
            <a:ext cx="1206500" cy="222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1">
                <a:solidFill>
                  <a:srgbClr val="151515"/>
                </a:solidFill>
                <a:latin typeface="Georgia"/>
              </a:rPr>
              <a:t>Logic Graph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5314950" y="660400"/>
            <a:ext cx="0" cy="1447800"/>
          </a:xfrm>
          <a:prstGeom prst="line">
            <a:avLst/>
          </a:prstGeom>
          <a:ln w="19050">
            <a:solidFill>
              <a:srgbClr val="F3A4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Isosceles Triangle 108"/>
          <p:cNvSpPr/>
          <p:nvPr/>
        </p:nvSpPr>
        <p:spPr>
          <a:xfrm rot="10800000">
            <a:off x="5283200" y="2063750"/>
            <a:ext cx="63500" cy="88900"/>
          </a:xfrm>
          <a:prstGeom prst="triangle">
            <a:avLst/>
          </a:prstGeom>
          <a:solidFill>
            <a:srgbClr val="F3A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0" name="Connector 109"/>
          <p:cNvCxnSpPr/>
          <p:nvPr/>
        </p:nvCxnSpPr>
        <p:spPr>
          <a:xfrm>
            <a:off x="5473700" y="800100"/>
            <a:ext cx="0" cy="1416050"/>
          </a:xfrm>
          <a:prstGeom prst="line">
            <a:avLst/>
          </a:prstGeom>
          <a:ln w="19050">
            <a:solidFill>
              <a:srgbClr val="F3A4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Isosceles Triangle 110"/>
          <p:cNvSpPr/>
          <p:nvPr/>
        </p:nvSpPr>
        <p:spPr>
          <a:xfrm rot="10800000">
            <a:off x="5441950" y="2171700"/>
            <a:ext cx="63500" cy="88900"/>
          </a:xfrm>
          <a:prstGeom prst="triangle">
            <a:avLst/>
          </a:prstGeom>
          <a:solidFill>
            <a:srgbClr val="F3A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2" name="Connector 111"/>
          <p:cNvCxnSpPr/>
          <p:nvPr/>
        </p:nvCxnSpPr>
        <p:spPr>
          <a:xfrm>
            <a:off x="5429250" y="800100"/>
            <a:ext cx="0" cy="1416050"/>
          </a:xfrm>
          <a:prstGeom prst="line">
            <a:avLst/>
          </a:prstGeom>
          <a:ln w="19050">
            <a:solidFill>
              <a:srgbClr val="F3A4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Isosceles Triangle 112"/>
          <p:cNvSpPr/>
          <p:nvPr/>
        </p:nvSpPr>
        <p:spPr>
          <a:xfrm rot="10800000">
            <a:off x="5397500" y="2171700"/>
            <a:ext cx="63500" cy="88900"/>
          </a:xfrm>
          <a:prstGeom prst="triangle">
            <a:avLst/>
          </a:prstGeom>
          <a:solidFill>
            <a:srgbClr val="F3A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4" name="Connector 113"/>
          <p:cNvCxnSpPr/>
          <p:nvPr/>
        </p:nvCxnSpPr>
        <p:spPr>
          <a:xfrm>
            <a:off x="5607050" y="800100"/>
            <a:ext cx="0" cy="1416050"/>
          </a:xfrm>
          <a:prstGeom prst="line">
            <a:avLst/>
          </a:prstGeom>
          <a:ln w="19050">
            <a:solidFill>
              <a:srgbClr val="F3A4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Isosceles Triangle 114"/>
          <p:cNvSpPr/>
          <p:nvPr/>
        </p:nvSpPr>
        <p:spPr>
          <a:xfrm rot="10800000">
            <a:off x="5575300" y="2171700"/>
            <a:ext cx="63500" cy="88900"/>
          </a:xfrm>
          <a:prstGeom prst="triangle">
            <a:avLst/>
          </a:prstGeom>
          <a:solidFill>
            <a:srgbClr val="F3A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" name="Connector 115"/>
          <p:cNvCxnSpPr/>
          <p:nvPr/>
        </p:nvCxnSpPr>
        <p:spPr>
          <a:xfrm>
            <a:off x="5708650" y="800100"/>
            <a:ext cx="0" cy="1416050"/>
          </a:xfrm>
          <a:prstGeom prst="line">
            <a:avLst/>
          </a:prstGeom>
          <a:ln w="19050">
            <a:solidFill>
              <a:srgbClr val="F3A4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Isosceles Triangle 116"/>
          <p:cNvSpPr/>
          <p:nvPr/>
        </p:nvSpPr>
        <p:spPr>
          <a:xfrm rot="10800000">
            <a:off x="5676900" y="2171700"/>
            <a:ext cx="63500" cy="88900"/>
          </a:xfrm>
          <a:prstGeom prst="triangle">
            <a:avLst/>
          </a:prstGeom>
          <a:solidFill>
            <a:srgbClr val="F3A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6965950" y="622300"/>
            <a:ext cx="0" cy="1524000"/>
          </a:xfrm>
          <a:prstGeom prst="line">
            <a:avLst/>
          </a:prstGeom>
          <a:ln w="19050">
            <a:solidFill>
              <a:srgbClr val="87BC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Isosceles Triangle 118"/>
          <p:cNvSpPr/>
          <p:nvPr/>
        </p:nvSpPr>
        <p:spPr>
          <a:xfrm rot="10800000">
            <a:off x="6934200" y="2101850"/>
            <a:ext cx="63500" cy="88900"/>
          </a:xfrm>
          <a:prstGeom prst="triangle">
            <a:avLst/>
          </a:prstGeom>
          <a:solidFill>
            <a:srgbClr val="87B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0" name="Connector 119"/>
          <p:cNvCxnSpPr/>
          <p:nvPr/>
        </p:nvCxnSpPr>
        <p:spPr>
          <a:xfrm>
            <a:off x="7112000" y="781050"/>
            <a:ext cx="0" cy="1441450"/>
          </a:xfrm>
          <a:prstGeom prst="line">
            <a:avLst/>
          </a:prstGeom>
          <a:ln w="19050">
            <a:solidFill>
              <a:srgbClr val="87BC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Isosceles Triangle 120"/>
          <p:cNvSpPr/>
          <p:nvPr/>
        </p:nvSpPr>
        <p:spPr>
          <a:xfrm rot="10800000">
            <a:off x="7080250" y="2178050"/>
            <a:ext cx="63500" cy="88900"/>
          </a:xfrm>
          <a:prstGeom prst="triangle">
            <a:avLst/>
          </a:prstGeom>
          <a:solidFill>
            <a:srgbClr val="87B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7048500" y="781050"/>
            <a:ext cx="0" cy="1441450"/>
          </a:xfrm>
          <a:prstGeom prst="line">
            <a:avLst/>
          </a:prstGeom>
          <a:ln w="19050">
            <a:solidFill>
              <a:srgbClr val="87BC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Isosceles Triangle 122"/>
          <p:cNvSpPr/>
          <p:nvPr/>
        </p:nvSpPr>
        <p:spPr>
          <a:xfrm rot="10800000">
            <a:off x="7016750" y="2178050"/>
            <a:ext cx="63500" cy="88900"/>
          </a:xfrm>
          <a:prstGeom prst="triangle">
            <a:avLst/>
          </a:prstGeom>
          <a:solidFill>
            <a:srgbClr val="87B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4" name="Connector 123"/>
          <p:cNvCxnSpPr/>
          <p:nvPr/>
        </p:nvCxnSpPr>
        <p:spPr>
          <a:xfrm>
            <a:off x="6889750" y="781050"/>
            <a:ext cx="0" cy="1441450"/>
          </a:xfrm>
          <a:prstGeom prst="line">
            <a:avLst/>
          </a:prstGeom>
          <a:ln w="19050">
            <a:solidFill>
              <a:srgbClr val="87BC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Isosceles Triangle 124"/>
          <p:cNvSpPr/>
          <p:nvPr/>
        </p:nvSpPr>
        <p:spPr>
          <a:xfrm rot="10800000">
            <a:off x="6858000" y="2178050"/>
            <a:ext cx="63500" cy="88900"/>
          </a:xfrm>
          <a:prstGeom prst="triangle">
            <a:avLst/>
          </a:prstGeom>
          <a:solidFill>
            <a:srgbClr val="87B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6" name="Connector 125"/>
          <p:cNvCxnSpPr/>
          <p:nvPr/>
        </p:nvCxnSpPr>
        <p:spPr>
          <a:xfrm>
            <a:off x="6756400" y="781050"/>
            <a:ext cx="0" cy="1441450"/>
          </a:xfrm>
          <a:prstGeom prst="line">
            <a:avLst/>
          </a:prstGeom>
          <a:ln w="19050">
            <a:solidFill>
              <a:srgbClr val="87BC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Isosceles Triangle 126"/>
          <p:cNvSpPr/>
          <p:nvPr/>
        </p:nvSpPr>
        <p:spPr>
          <a:xfrm rot="10800000">
            <a:off x="6724650" y="2178050"/>
            <a:ext cx="63500" cy="88900"/>
          </a:xfrm>
          <a:prstGeom prst="triangle">
            <a:avLst/>
          </a:prstGeom>
          <a:solidFill>
            <a:srgbClr val="87B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5772150" y="482600"/>
            <a:ext cx="1117600" cy="241300"/>
          </a:xfrm>
          <a:prstGeom prst="roundRect">
            <a:avLst/>
          </a:prstGeom>
          <a:solidFill>
            <a:srgbClr val="FFF3D3"/>
          </a:solidFill>
          <a:ln w="9525">
            <a:solidFill>
              <a:srgbClr val="D79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784850" y="533400"/>
            <a:ext cx="10922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" b="0" i="0">
                <a:solidFill>
                  <a:srgbClr val="151515"/>
                </a:solidFill>
                <a:latin typeface="Georgia"/>
              </a:rPr>
              <a:t>Folk Music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5670550" y="647700"/>
            <a:ext cx="1073150" cy="254000"/>
          </a:xfrm>
          <a:prstGeom prst="roundRect">
            <a:avLst/>
          </a:prstGeom>
          <a:solidFill>
            <a:srgbClr val="FFEACA"/>
          </a:solidFill>
          <a:ln w="9525">
            <a:solidFill>
              <a:srgbClr val="D79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683250" y="698500"/>
            <a:ext cx="1047749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" b="0" i="0">
                <a:solidFill>
                  <a:srgbClr val="151515"/>
                </a:solidFill>
                <a:latin typeface="Georgia"/>
              </a:rPr>
              <a:t>Music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5549900" y="800100"/>
            <a:ext cx="1066800" cy="254000"/>
          </a:xfrm>
          <a:prstGeom prst="roundRect">
            <a:avLst/>
          </a:prstGeom>
          <a:solidFill>
            <a:srgbClr val="FFDCA9"/>
          </a:solidFill>
          <a:ln w="9525">
            <a:solidFill>
              <a:srgbClr val="D79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562600" y="850900"/>
            <a:ext cx="10414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" b="0" i="0">
                <a:solidFill>
                  <a:srgbClr val="151515"/>
                </a:solidFill>
                <a:latin typeface="Georgia"/>
              </a:rPr>
              <a:t>Enthusiast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5702300" y="1619250"/>
            <a:ext cx="1098550" cy="311150"/>
          </a:xfrm>
          <a:prstGeom prst="roundRect">
            <a:avLst/>
          </a:prstGeom>
          <a:solidFill>
            <a:srgbClr val="E2F1D9"/>
          </a:solidFill>
          <a:ln w="9525">
            <a:solidFill>
              <a:srgbClr val="87B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5715000" y="1670050"/>
            <a:ext cx="10731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" b="0" i="0">
                <a:solidFill>
                  <a:srgbClr val="151515"/>
                </a:solidFill>
                <a:latin typeface="Georgia"/>
              </a:rPr>
              <a:t>Live Music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5575300" y="1822450"/>
            <a:ext cx="1098550" cy="311150"/>
          </a:xfrm>
          <a:prstGeom prst="roundRect">
            <a:avLst/>
          </a:prstGeom>
          <a:solidFill>
            <a:srgbClr val="CDE9C1"/>
          </a:solidFill>
          <a:ln w="9525">
            <a:solidFill>
              <a:srgbClr val="87B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588000" y="1873250"/>
            <a:ext cx="10731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" b="0" i="0">
                <a:solidFill>
                  <a:srgbClr val="151515"/>
                </a:solidFill>
                <a:latin typeface="Georgia"/>
              </a:rPr>
              <a:t>Instrument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5486400" y="2025650"/>
            <a:ext cx="1054100" cy="311150"/>
          </a:xfrm>
          <a:prstGeom prst="roundRect">
            <a:avLst/>
          </a:prstGeom>
          <a:solidFill>
            <a:srgbClr val="B6D99F"/>
          </a:solidFill>
          <a:ln w="9525">
            <a:solidFill>
              <a:srgbClr val="87B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499100" y="2076450"/>
            <a:ext cx="10287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" b="0" i="0">
                <a:solidFill>
                  <a:srgbClr val="151515"/>
                </a:solidFill>
                <a:latin typeface="Georgia"/>
              </a:rPr>
              <a:t>Shows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499100" y="1181100"/>
            <a:ext cx="1231900" cy="241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45" b="1" i="0">
                <a:solidFill>
                  <a:srgbClr val="151515"/>
                </a:solidFill>
                <a:latin typeface="Georgia"/>
              </a:rPr>
              <a:t>UserTag Set C*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187950" y="2444750"/>
            <a:ext cx="111125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45" b="1" i="0">
                <a:solidFill>
                  <a:srgbClr val="151515"/>
                </a:solidFill>
                <a:latin typeface="Georgia"/>
              </a:rPr>
              <a:t>ItemTag Set T*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838700" y="1263650"/>
            <a:ext cx="508000" cy="15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35" b="0" i="1">
                <a:solidFill>
                  <a:srgbClr val="D79018"/>
                </a:solidFill>
                <a:latin typeface="Georgia"/>
              </a:rPr>
              <a:t>Gᵁ²ᴵ*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137400" y="1282700"/>
            <a:ext cx="508000" cy="15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35" b="0" i="1">
                <a:solidFill>
                  <a:srgbClr val="62A04C"/>
                </a:solidFill>
                <a:latin typeface="Georgia"/>
              </a:rPr>
              <a:t>Gᴵ²ᵁ*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6045200" y="3009582"/>
            <a:ext cx="253365" cy="174942"/>
          </a:xfrm>
          <a:prstGeom prst="roundRect">
            <a:avLst/>
          </a:prstGeom>
          <a:solidFill>
            <a:srgbClr val="151515"/>
          </a:solidFill>
          <a:ln w="9525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6021070" y="3190557"/>
            <a:ext cx="301625" cy="132714"/>
          </a:xfrm>
          <a:prstGeom prst="roundRect">
            <a:avLst/>
          </a:prstGeom>
          <a:solidFill>
            <a:srgbClr val="151515"/>
          </a:solidFill>
          <a:ln w="9525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6069329" y="3341370"/>
            <a:ext cx="72390" cy="48260"/>
          </a:xfrm>
          <a:prstGeom prst="rect">
            <a:avLst/>
          </a:prstGeom>
          <a:solidFill>
            <a:srgbClr val="151515"/>
          </a:solidFill>
          <a:ln w="9525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6202045" y="3341370"/>
            <a:ext cx="72390" cy="48260"/>
          </a:xfrm>
          <a:prstGeom prst="rect">
            <a:avLst/>
          </a:prstGeom>
          <a:solidFill>
            <a:srgbClr val="151515"/>
          </a:solidFill>
          <a:ln w="9525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8" name="Connector 147"/>
          <p:cNvCxnSpPr/>
          <p:nvPr/>
        </p:nvCxnSpPr>
        <p:spPr>
          <a:xfrm>
            <a:off x="6171882" y="2961322"/>
            <a:ext cx="0" cy="48260"/>
          </a:xfrm>
          <a:prstGeom prst="line">
            <a:avLst/>
          </a:prstGeom>
          <a:ln w="28575">
            <a:solidFill>
              <a:srgbClr val="15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Oval 148"/>
          <p:cNvSpPr/>
          <p:nvPr/>
        </p:nvSpPr>
        <p:spPr>
          <a:xfrm>
            <a:off x="6141720" y="2925127"/>
            <a:ext cx="48260" cy="48260"/>
          </a:xfrm>
          <a:prstGeom prst="ellipse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093460" y="3088005"/>
            <a:ext cx="36195" cy="361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202044" y="3088005"/>
            <a:ext cx="36195" cy="361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2" name="Connector 151"/>
          <p:cNvCxnSpPr/>
          <p:nvPr/>
        </p:nvCxnSpPr>
        <p:spPr>
          <a:xfrm flipV="1">
            <a:off x="6111557" y="3226752"/>
            <a:ext cx="30163" cy="2413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6141720" y="3226752"/>
            <a:ext cx="30162" cy="4826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6171882" y="3226752"/>
            <a:ext cx="36195" cy="4826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TextBox 154"/>
          <p:cNvSpPr txBox="1"/>
          <p:nvPr/>
        </p:nvSpPr>
        <p:spPr>
          <a:xfrm>
            <a:off x="5954712" y="3625850"/>
            <a:ext cx="422275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35" b="1" i="0">
                <a:solidFill>
                  <a:srgbClr val="151515"/>
                </a:solidFill>
                <a:latin typeface="Georgia"/>
              </a:rPr>
              <a:t>LLM</a:t>
            </a:r>
          </a:p>
        </p:txBody>
      </p:sp>
      <p:cxnSp>
        <p:nvCxnSpPr>
          <p:cNvPr id="156" name="Connector 155"/>
          <p:cNvCxnSpPr/>
          <p:nvPr/>
        </p:nvCxnSpPr>
        <p:spPr>
          <a:xfrm flipV="1">
            <a:off x="6153150" y="2641600"/>
            <a:ext cx="0" cy="215900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Isosceles Triangle 156"/>
          <p:cNvSpPr/>
          <p:nvPr/>
        </p:nvSpPr>
        <p:spPr>
          <a:xfrm>
            <a:off x="6121400" y="2597150"/>
            <a:ext cx="63500" cy="88900"/>
          </a:xfrm>
          <a:prstGeom prst="triangle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8" name="Connector 157"/>
          <p:cNvCxnSpPr/>
          <p:nvPr/>
        </p:nvCxnSpPr>
        <p:spPr>
          <a:xfrm flipV="1">
            <a:off x="5473700" y="3244850"/>
            <a:ext cx="0" cy="914399"/>
          </a:xfrm>
          <a:prstGeom prst="line">
            <a:avLst/>
          </a:prstGeom>
          <a:ln w="19050">
            <a:solidFill>
              <a:srgbClr val="87BC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Isosceles Triangle 158"/>
          <p:cNvSpPr/>
          <p:nvPr/>
        </p:nvSpPr>
        <p:spPr>
          <a:xfrm>
            <a:off x="5441950" y="3200400"/>
            <a:ext cx="63500" cy="88900"/>
          </a:xfrm>
          <a:prstGeom prst="triangle">
            <a:avLst/>
          </a:prstGeom>
          <a:solidFill>
            <a:srgbClr val="87B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0" name="Connector 159"/>
          <p:cNvCxnSpPr/>
          <p:nvPr/>
        </p:nvCxnSpPr>
        <p:spPr>
          <a:xfrm>
            <a:off x="5473700" y="3244850"/>
            <a:ext cx="311150" cy="0"/>
          </a:xfrm>
          <a:prstGeom prst="line">
            <a:avLst/>
          </a:prstGeom>
          <a:ln w="19050">
            <a:solidFill>
              <a:srgbClr val="87BC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Isosceles Triangle 160"/>
          <p:cNvSpPr/>
          <p:nvPr/>
        </p:nvSpPr>
        <p:spPr>
          <a:xfrm rot="5400000">
            <a:off x="5753100" y="3200400"/>
            <a:ext cx="63500" cy="88900"/>
          </a:xfrm>
          <a:prstGeom prst="triangle">
            <a:avLst/>
          </a:prstGeom>
          <a:solidFill>
            <a:srgbClr val="87B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2" name="Connector 161"/>
          <p:cNvCxnSpPr/>
          <p:nvPr/>
        </p:nvCxnSpPr>
        <p:spPr>
          <a:xfrm flipV="1">
            <a:off x="6908800" y="3244850"/>
            <a:ext cx="0" cy="914399"/>
          </a:xfrm>
          <a:prstGeom prst="line">
            <a:avLst/>
          </a:prstGeom>
          <a:ln w="19050">
            <a:solidFill>
              <a:srgbClr val="F3A4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Isosceles Triangle 162"/>
          <p:cNvSpPr/>
          <p:nvPr/>
        </p:nvSpPr>
        <p:spPr>
          <a:xfrm>
            <a:off x="6877050" y="3200400"/>
            <a:ext cx="63500" cy="88900"/>
          </a:xfrm>
          <a:prstGeom prst="triangle">
            <a:avLst/>
          </a:prstGeom>
          <a:solidFill>
            <a:srgbClr val="F3A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4" name="Connector 163"/>
          <p:cNvCxnSpPr/>
          <p:nvPr/>
        </p:nvCxnSpPr>
        <p:spPr>
          <a:xfrm flipH="1">
            <a:off x="6572250" y="3244850"/>
            <a:ext cx="336550" cy="0"/>
          </a:xfrm>
          <a:prstGeom prst="line">
            <a:avLst/>
          </a:prstGeom>
          <a:ln w="19050">
            <a:solidFill>
              <a:srgbClr val="F3A4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Isosceles Triangle 164"/>
          <p:cNvSpPr/>
          <p:nvPr/>
        </p:nvSpPr>
        <p:spPr>
          <a:xfrm rot="16200000">
            <a:off x="6540500" y="3200400"/>
            <a:ext cx="63500" cy="88900"/>
          </a:xfrm>
          <a:prstGeom prst="triangle">
            <a:avLst/>
          </a:prstGeom>
          <a:solidFill>
            <a:srgbClr val="F3A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ounded Rectangle 165"/>
          <p:cNvSpPr/>
          <p:nvPr/>
        </p:nvSpPr>
        <p:spPr>
          <a:xfrm>
            <a:off x="4762500" y="4152900"/>
            <a:ext cx="1447800" cy="476250"/>
          </a:xfrm>
          <a:prstGeom prst="roundRect">
            <a:avLst/>
          </a:prstGeom>
          <a:solidFill>
            <a:srgbClr val="DCEFD1"/>
          </a:solidFill>
          <a:ln w="19050">
            <a:solidFill>
              <a:srgbClr val="62A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800600" y="4216400"/>
            <a:ext cx="13716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90" b="1" i="0">
                <a:solidFill>
                  <a:srgbClr val="151515"/>
                </a:solidFill>
                <a:latin typeface="Georgia"/>
              </a:rPr>
              <a:t>I2U Logic</a:t>
            </a:r>
          </a:p>
          <a:p>
            <a:pPr algn="ctr"/>
            <a:r>
              <a:rPr sz="990" b="1" i="0">
                <a:solidFill>
                  <a:srgbClr val="151515"/>
                </a:solidFill>
                <a:latin typeface="Georgia"/>
              </a:rPr>
              <a:t>Prompt Xc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6254750" y="4152900"/>
            <a:ext cx="1390650" cy="476250"/>
          </a:xfrm>
          <a:prstGeom prst="roundRect">
            <a:avLst/>
          </a:prstGeom>
          <a:solidFill>
            <a:srgbClr val="FFF0DF"/>
          </a:solidFill>
          <a:ln w="19050">
            <a:solidFill>
              <a:srgbClr val="D79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292850" y="4216400"/>
            <a:ext cx="131445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90" b="1" i="0">
                <a:solidFill>
                  <a:srgbClr val="151515"/>
                </a:solidFill>
                <a:latin typeface="Georgia"/>
              </a:rPr>
              <a:t>U2I Logic</a:t>
            </a:r>
          </a:p>
          <a:p>
            <a:pPr algn="ctr"/>
            <a:r>
              <a:rPr sz="990" b="1" i="0">
                <a:solidFill>
                  <a:srgbClr val="151515"/>
                </a:solidFill>
                <a:latin typeface="Georgia"/>
              </a:rPr>
              <a:t>Prompt Xₜ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9141460" y="509270"/>
            <a:ext cx="243840" cy="172720"/>
          </a:xfrm>
          <a:prstGeom prst="roundRect">
            <a:avLst/>
          </a:prstGeom>
          <a:solidFill>
            <a:srgbClr val="151515"/>
          </a:solidFill>
          <a:ln w="9525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ounded Rectangle 170"/>
          <p:cNvSpPr/>
          <p:nvPr/>
        </p:nvSpPr>
        <p:spPr>
          <a:xfrm>
            <a:off x="9212580" y="478790"/>
            <a:ext cx="101600" cy="40640"/>
          </a:xfrm>
          <a:prstGeom prst="roundRect">
            <a:avLst/>
          </a:prstGeom>
          <a:solidFill>
            <a:srgbClr val="151515"/>
          </a:solidFill>
          <a:ln w="9525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9243060" y="570230"/>
            <a:ext cx="81280" cy="81280"/>
          </a:xfrm>
          <a:prstGeom prst="ellipse">
            <a:avLst/>
          </a:prstGeom>
          <a:noFill/>
          <a:ln w="28575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9156700" y="736600"/>
            <a:ext cx="254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" b="1" i="1">
                <a:solidFill>
                  <a:srgbClr val="151515"/>
                </a:solidFill>
                <a:latin typeface="Georgia"/>
              </a:rPr>
              <a:t>i₁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9130030" y="1089913"/>
            <a:ext cx="178562" cy="136271"/>
          </a:xfrm>
          <a:prstGeom prst="roundRect">
            <a:avLst/>
          </a:prstGeom>
          <a:solidFill>
            <a:srgbClr val="151515"/>
          </a:solidFill>
          <a:ln w="9525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ight Triangle 174"/>
          <p:cNvSpPr/>
          <p:nvPr/>
        </p:nvSpPr>
        <p:spPr>
          <a:xfrm>
            <a:off x="9308592" y="1094613"/>
            <a:ext cx="117474" cy="126873"/>
          </a:xfrm>
          <a:prstGeom prst="rtTriangle">
            <a:avLst/>
          </a:prstGeom>
          <a:solidFill>
            <a:srgbClr val="151515"/>
          </a:solidFill>
          <a:ln w="9525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9153525" y="1295400"/>
            <a:ext cx="234949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" b="1" i="1">
                <a:solidFill>
                  <a:srgbClr val="151515"/>
                </a:solidFill>
                <a:latin typeface="Georgia"/>
              </a:rPr>
              <a:t>i₂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9139428" y="1775460"/>
            <a:ext cx="263143" cy="126873"/>
          </a:xfrm>
          <a:prstGeom prst="roundRect">
            <a:avLst/>
          </a:prstGeom>
          <a:solidFill>
            <a:srgbClr val="151515"/>
          </a:solidFill>
          <a:ln w="66675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9153525" y="2006600"/>
            <a:ext cx="234949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" b="1" i="1">
                <a:solidFill>
                  <a:srgbClr val="151515"/>
                </a:solidFill>
                <a:latin typeface="Georgia"/>
              </a:rPr>
              <a:t>iₙ</a:t>
            </a:r>
          </a:p>
        </p:txBody>
      </p:sp>
      <p:sp>
        <p:nvSpPr>
          <p:cNvPr id="179" name="Oval 178"/>
          <p:cNvSpPr/>
          <p:nvPr/>
        </p:nvSpPr>
        <p:spPr>
          <a:xfrm>
            <a:off x="8521700" y="1003300"/>
            <a:ext cx="139700" cy="139700"/>
          </a:xfrm>
          <a:prstGeom prst="ellipse">
            <a:avLst/>
          </a:prstGeom>
          <a:solidFill>
            <a:srgbClr val="151515"/>
          </a:solidFill>
          <a:ln w="9525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ounded Rectangle 179"/>
          <p:cNvSpPr/>
          <p:nvPr/>
        </p:nvSpPr>
        <p:spPr>
          <a:xfrm>
            <a:off x="8451850" y="1162050"/>
            <a:ext cx="279400" cy="177800"/>
          </a:xfrm>
          <a:prstGeom prst="roundRect">
            <a:avLst/>
          </a:prstGeom>
          <a:solidFill>
            <a:srgbClr val="151515"/>
          </a:solidFill>
          <a:ln w="9525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8413750" y="1358900"/>
            <a:ext cx="381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90" b="0" i="0">
                <a:solidFill>
                  <a:srgbClr val="151515"/>
                </a:solidFill>
                <a:latin typeface="Georgia"/>
              </a:rPr>
              <a:t>user</a:t>
            </a:r>
          </a:p>
        </p:txBody>
      </p:sp>
      <p:sp>
        <p:nvSpPr>
          <p:cNvPr id="182" name="Arc 181"/>
          <p:cNvSpPr/>
          <p:nvPr/>
        </p:nvSpPr>
        <p:spPr>
          <a:xfrm>
            <a:off x="8890000" y="603250"/>
            <a:ext cx="152400" cy="1314450"/>
          </a:xfrm>
          <a:prstGeom prst="arc">
            <a:avLst/>
          </a:prstGeom>
          <a:noFill/>
          <a:ln w="1905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3" name="Connector 182"/>
          <p:cNvCxnSpPr/>
          <p:nvPr/>
        </p:nvCxnSpPr>
        <p:spPr>
          <a:xfrm>
            <a:off x="8890000" y="603250"/>
            <a:ext cx="76200" cy="0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8890000" y="1917700"/>
            <a:ext cx="76200" cy="0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Rounded Rectangle 184"/>
          <p:cNvSpPr/>
          <p:nvPr/>
        </p:nvSpPr>
        <p:spPr>
          <a:xfrm>
            <a:off x="9721850" y="355600"/>
            <a:ext cx="1854200" cy="247649"/>
          </a:xfrm>
          <a:prstGeom prst="roundRect">
            <a:avLst/>
          </a:prstGeom>
          <a:solidFill>
            <a:srgbClr val="FFF3D3"/>
          </a:solidFill>
          <a:ln w="9525">
            <a:solidFill>
              <a:srgbClr val="D79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ounded Rectangle 185"/>
          <p:cNvSpPr/>
          <p:nvPr/>
        </p:nvSpPr>
        <p:spPr>
          <a:xfrm>
            <a:off x="9677400" y="558800"/>
            <a:ext cx="1905000" cy="247649"/>
          </a:xfrm>
          <a:prstGeom prst="roundRect">
            <a:avLst/>
          </a:prstGeom>
          <a:solidFill>
            <a:srgbClr val="E2F1D9"/>
          </a:solidFill>
          <a:ln w="9525">
            <a:solidFill>
              <a:srgbClr val="87B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9753600" y="374650"/>
            <a:ext cx="17907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" b="0" i="1">
                <a:solidFill>
                  <a:srgbClr val="151515"/>
                </a:solidFill>
                <a:latin typeface="Georgia"/>
              </a:rPr>
              <a:t>T1 = {t1,1, ···, t1,k}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9753600" y="571500"/>
            <a:ext cx="17907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" b="0" i="1">
                <a:solidFill>
                  <a:srgbClr val="151515"/>
                </a:solidFill>
                <a:latin typeface="Georgia"/>
              </a:rPr>
              <a:t>C1 = {c1,1, ···, c1,l}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9721850" y="889000"/>
            <a:ext cx="1854200" cy="247649"/>
          </a:xfrm>
          <a:prstGeom prst="roundRect">
            <a:avLst/>
          </a:prstGeom>
          <a:solidFill>
            <a:srgbClr val="FFF3D3"/>
          </a:solidFill>
          <a:ln w="9525">
            <a:solidFill>
              <a:srgbClr val="D79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ounded Rectangle 189"/>
          <p:cNvSpPr/>
          <p:nvPr/>
        </p:nvSpPr>
        <p:spPr>
          <a:xfrm>
            <a:off x="9677400" y="1092200"/>
            <a:ext cx="1905000" cy="247649"/>
          </a:xfrm>
          <a:prstGeom prst="roundRect">
            <a:avLst/>
          </a:prstGeom>
          <a:solidFill>
            <a:srgbClr val="E2F1D9"/>
          </a:solidFill>
          <a:ln w="9525">
            <a:solidFill>
              <a:srgbClr val="87B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9753600" y="908050"/>
            <a:ext cx="17907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" b="0" i="1">
                <a:solidFill>
                  <a:srgbClr val="151515"/>
                </a:solidFill>
                <a:latin typeface="Georgia"/>
              </a:rPr>
              <a:t>T2 = {t2,1, ···, t2,k}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9753600" y="1104900"/>
            <a:ext cx="17907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" b="0" i="1">
                <a:solidFill>
                  <a:srgbClr val="151515"/>
                </a:solidFill>
                <a:latin typeface="Georgia"/>
              </a:rPr>
              <a:t>C2 = {c2,1, ···, c2,l}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9721850" y="1695450"/>
            <a:ext cx="1854200" cy="247649"/>
          </a:xfrm>
          <a:prstGeom prst="roundRect">
            <a:avLst/>
          </a:prstGeom>
          <a:solidFill>
            <a:srgbClr val="FFF3D3"/>
          </a:solidFill>
          <a:ln w="9525">
            <a:solidFill>
              <a:srgbClr val="D79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ounded Rectangle 193"/>
          <p:cNvSpPr/>
          <p:nvPr/>
        </p:nvSpPr>
        <p:spPr>
          <a:xfrm>
            <a:off x="9677400" y="1898650"/>
            <a:ext cx="1905000" cy="247649"/>
          </a:xfrm>
          <a:prstGeom prst="roundRect">
            <a:avLst/>
          </a:prstGeom>
          <a:solidFill>
            <a:srgbClr val="E2F1D9"/>
          </a:solidFill>
          <a:ln w="9525">
            <a:solidFill>
              <a:srgbClr val="87B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9753600" y="1714500"/>
            <a:ext cx="17907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" b="0" i="1">
                <a:solidFill>
                  <a:srgbClr val="151515"/>
                </a:solidFill>
                <a:latin typeface="Georgia"/>
              </a:rPr>
              <a:t>Tn = {tn,1, ···, tn,k}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9753600" y="1911350"/>
            <a:ext cx="17907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" b="0" i="1">
                <a:solidFill>
                  <a:srgbClr val="151515"/>
                </a:solidFill>
                <a:latin typeface="Georgia"/>
              </a:rPr>
              <a:t>Cn = {cn,1, ···, cn,l}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0414000" y="1384300"/>
            <a:ext cx="349250" cy="222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65" b="1" i="0">
                <a:solidFill>
                  <a:srgbClr val="151515"/>
                </a:solidFill>
                <a:latin typeface="Georgia"/>
              </a:rPr>
              <a:t>⋯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8890000" y="2324100"/>
            <a:ext cx="3048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" b="0" i="0">
                <a:solidFill>
                  <a:srgbClr val="151515"/>
                </a:solidFill>
                <a:latin typeface="Georgia"/>
              </a:rPr>
              <a:t>Input</a:t>
            </a:r>
          </a:p>
        </p:txBody>
      </p:sp>
      <p:cxnSp>
        <p:nvCxnSpPr>
          <p:cNvPr id="199" name="Connector 198"/>
          <p:cNvCxnSpPr/>
          <p:nvPr/>
        </p:nvCxnSpPr>
        <p:spPr>
          <a:xfrm>
            <a:off x="10585450" y="2286000"/>
            <a:ext cx="0" cy="419100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Isosceles Triangle 199"/>
          <p:cNvSpPr/>
          <p:nvPr/>
        </p:nvSpPr>
        <p:spPr>
          <a:xfrm rot="10800000">
            <a:off x="10553700" y="2660650"/>
            <a:ext cx="63500" cy="88900"/>
          </a:xfrm>
          <a:prstGeom prst="triangle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11353800" y="2489200"/>
            <a:ext cx="349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70" b="0" i="0">
                <a:solidFill>
                  <a:srgbClr val="151515"/>
                </a:solidFill>
                <a:latin typeface="Georgia"/>
              </a:rPr>
              <a:t>Candidate</a:t>
            </a:r>
          </a:p>
          <a:p>
            <a:pPr algn="ctr"/>
            <a:r>
              <a:rPr sz="770" b="0" i="0">
                <a:solidFill>
                  <a:srgbClr val="151515"/>
                </a:solidFill>
                <a:latin typeface="Georgia"/>
              </a:rPr>
              <a:t>item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11663680" y="3020060"/>
            <a:ext cx="45719" cy="32385"/>
          </a:xfrm>
          <a:prstGeom prst="roundRect">
            <a:avLst/>
          </a:prstGeom>
          <a:solidFill>
            <a:srgbClr val="151515"/>
          </a:solidFill>
          <a:ln w="9525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ounded Rectangle 202"/>
          <p:cNvSpPr/>
          <p:nvPr/>
        </p:nvSpPr>
        <p:spPr>
          <a:xfrm>
            <a:off x="11677015" y="3014344"/>
            <a:ext cx="19050" cy="7620"/>
          </a:xfrm>
          <a:prstGeom prst="roundRect">
            <a:avLst/>
          </a:prstGeom>
          <a:solidFill>
            <a:srgbClr val="151515"/>
          </a:solidFill>
          <a:ln w="9525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1682730" y="3031490"/>
            <a:ext cx="15240" cy="15240"/>
          </a:xfrm>
          <a:prstGeom prst="ellipse">
            <a:avLst/>
          </a:prstGeom>
          <a:noFill/>
          <a:ln w="28575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11666537" y="3067050"/>
            <a:ext cx="47625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" b="1" i="1">
                <a:solidFill>
                  <a:srgbClr val="151515"/>
                </a:solidFill>
                <a:latin typeface="Georgia"/>
              </a:rPr>
              <a:t>vᵢ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8381999" y="2736850"/>
            <a:ext cx="9525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 i="1">
                <a:solidFill>
                  <a:srgbClr val="151515"/>
                </a:solidFill>
                <a:latin typeface="Georgia"/>
              </a:rPr>
              <a:t>Logic Graph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8324849" y="2901950"/>
            <a:ext cx="882650" cy="10795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8" name="Connector 207"/>
          <p:cNvCxnSpPr/>
          <p:nvPr/>
        </p:nvCxnSpPr>
        <p:spPr>
          <a:xfrm>
            <a:off x="8489950" y="3105150"/>
            <a:ext cx="476250" cy="0"/>
          </a:xfrm>
          <a:prstGeom prst="line">
            <a:avLst/>
          </a:prstGeom>
          <a:ln w="19050">
            <a:solidFill>
              <a:srgbClr val="F3A4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Isosceles Triangle 208"/>
          <p:cNvSpPr/>
          <p:nvPr/>
        </p:nvSpPr>
        <p:spPr>
          <a:xfrm rot="5400000">
            <a:off x="8934450" y="3060700"/>
            <a:ext cx="63500" cy="88900"/>
          </a:xfrm>
          <a:prstGeom prst="triangle">
            <a:avLst/>
          </a:prstGeom>
          <a:solidFill>
            <a:srgbClr val="F3A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0" name="Connector 209"/>
          <p:cNvCxnSpPr/>
          <p:nvPr/>
        </p:nvCxnSpPr>
        <p:spPr>
          <a:xfrm>
            <a:off x="8489950" y="3105150"/>
            <a:ext cx="463550" cy="241300"/>
          </a:xfrm>
          <a:prstGeom prst="line">
            <a:avLst/>
          </a:prstGeom>
          <a:ln w="19050">
            <a:solidFill>
              <a:srgbClr val="87BC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Isosceles Triangle 210"/>
          <p:cNvSpPr/>
          <p:nvPr/>
        </p:nvSpPr>
        <p:spPr>
          <a:xfrm rot="7049948">
            <a:off x="8921750" y="3302000"/>
            <a:ext cx="63500" cy="88900"/>
          </a:xfrm>
          <a:prstGeom prst="triangle">
            <a:avLst/>
          </a:prstGeom>
          <a:solidFill>
            <a:srgbClr val="87B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2" name="Connector 211"/>
          <p:cNvCxnSpPr/>
          <p:nvPr/>
        </p:nvCxnSpPr>
        <p:spPr>
          <a:xfrm flipV="1">
            <a:off x="8489950" y="3105150"/>
            <a:ext cx="476250" cy="254000"/>
          </a:xfrm>
          <a:prstGeom prst="line">
            <a:avLst/>
          </a:prstGeom>
          <a:ln w="19050">
            <a:solidFill>
              <a:srgbClr val="F3A4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Isosceles Triangle 212"/>
          <p:cNvSpPr/>
          <p:nvPr/>
        </p:nvSpPr>
        <p:spPr>
          <a:xfrm rot="3715651">
            <a:off x="8934450" y="3060700"/>
            <a:ext cx="63500" cy="88900"/>
          </a:xfrm>
          <a:prstGeom prst="triangle">
            <a:avLst/>
          </a:prstGeom>
          <a:solidFill>
            <a:srgbClr val="F3A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4" name="Connector 213"/>
          <p:cNvCxnSpPr/>
          <p:nvPr/>
        </p:nvCxnSpPr>
        <p:spPr>
          <a:xfrm>
            <a:off x="8489950" y="3359150"/>
            <a:ext cx="463550" cy="247650"/>
          </a:xfrm>
          <a:prstGeom prst="line">
            <a:avLst/>
          </a:prstGeom>
          <a:ln w="19050">
            <a:solidFill>
              <a:srgbClr val="87BC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Isosceles Triangle 214"/>
          <p:cNvSpPr/>
          <p:nvPr/>
        </p:nvSpPr>
        <p:spPr>
          <a:xfrm rot="7086793">
            <a:off x="8921750" y="3562350"/>
            <a:ext cx="63500" cy="88900"/>
          </a:xfrm>
          <a:prstGeom prst="triangle">
            <a:avLst/>
          </a:prstGeom>
          <a:solidFill>
            <a:srgbClr val="87B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6" name="Connector 215"/>
          <p:cNvCxnSpPr/>
          <p:nvPr/>
        </p:nvCxnSpPr>
        <p:spPr>
          <a:xfrm flipV="1">
            <a:off x="8489950" y="3346450"/>
            <a:ext cx="476250" cy="273050"/>
          </a:xfrm>
          <a:prstGeom prst="line">
            <a:avLst/>
          </a:prstGeom>
          <a:ln w="19050">
            <a:solidFill>
              <a:srgbClr val="F3A4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Isosceles Triangle 216"/>
          <p:cNvSpPr/>
          <p:nvPr/>
        </p:nvSpPr>
        <p:spPr>
          <a:xfrm rot="3610375">
            <a:off x="8934450" y="3302000"/>
            <a:ext cx="63500" cy="88900"/>
          </a:xfrm>
          <a:prstGeom prst="triangle">
            <a:avLst/>
          </a:prstGeom>
          <a:solidFill>
            <a:srgbClr val="F3A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8" name="Connector 217"/>
          <p:cNvCxnSpPr/>
          <p:nvPr/>
        </p:nvCxnSpPr>
        <p:spPr>
          <a:xfrm flipV="1">
            <a:off x="8489950" y="3606800"/>
            <a:ext cx="463550" cy="12700"/>
          </a:xfrm>
          <a:prstGeom prst="line">
            <a:avLst/>
          </a:prstGeom>
          <a:ln w="19050">
            <a:solidFill>
              <a:srgbClr val="87BC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Isosceles Triangle 218"/>
          <p:cNvSpPr/>
          <p:nvPr/>
        </p:nvSpPr>
        <p:spPr>
          <a:xfrm rot="5305839">
            <a:off x="8921750" y="3562350"/>
            <a:ext cx="63500" cy="88900"/>
          </a:xfrm>
          <a:prstGeom prst="triangle">
            <a:avLst/>
          </a:prstGeom>
          <a:solidFill>
            <a:srgbClr val="87B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8413750" y="3016250"/>
            <a:ext cx="177800" cy="177800"/>
          </a:xfrm>
          <a:prstGeom prst="ellipse">
            <a:avLst/>
          </a:prstGeom>
          <a:solidFill>
            <a:srgbClr val="FFD9C9"/>
          </a:solidFill>
          <a:ln w="952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413750" y="3270250"/>
            <a:ext cx="177800" cy="177800"/>
          </a:xfrm>
          <a:prstGeom prst="ellipse">
            <a:avLst/>
          </a:prstGeom>
          <a:solidFill>
            <a:srgbClr val="FFD9C9"/>
          </a:solidFill>
          <a:ln w="952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413750" y="3530600"/>
            <a:ext cx="177800" cy="177800"/>
          </a:xfrm>
          <a:prstGeom prst="ellipse">
            <a:avLst/>
          </a:prstGeom>
          <a:solidFill>
            <a:srgbClr val="FFD9C9"/>
          </a:solidFill>
          <a:ln w="952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8909050" y="3016250"/>
            <a:ext cx="177800" cy="177800"/>
          </a:xfrm>
          <a:prstGeom prst="ellipse">
            <a:avLst/>
          </a:prstGeom>
          <a:solidFill>
            <a:srgbClr val="D4EBC9"/>
          </a:solidFill>
          <a:ln w="952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8909050" y="3270250"/>
            <a:ext cx="177800" cy="177800"/>
          </a:xfrm>
          <a:prstGeom prst="ellipse">
            <a:avLst/>
          </a:prstGeom>
          <a:solidFill>
            <a:srgbClr val="D4EBC9"/>
          </a:solidFill>
          <a:ln w="952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8909050" y="3530600"/>
            <a:ext cx="177800" cy="177800"/>
          </a:xfrm>
          <a:prstGeom prst="ellipse">
            <a:avLst/>
          </a:prstGeom>
          <a:solidFill>
            <a:srgbClr val="D4EBC9"/>
          </a:solidFill>
          <a:ln w="952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8381999" y="3752850"/>
            <a:ext cx="222250" cy="15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" b="1" i="1">
                <a:solidFill>
                  <a:srgbClr val="151515"/>
                </a:solidFill>
                <a:latin typeface="Georgia"/>
              </a:rPr>
              <a:t>C*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8909050" y="3752850"/>
            <a:ext cx="222250" cy="15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" b="1" i="1">
                <a:solidFill>
                  <a:srgbClr val="151515"/>
                </a:solidFill>
                <a:latin typeface="Georgia"/>
              </a:rPr>
              <a:t>T*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9290050" y="3086100"/>
            <a:ext cx="4445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0" i="1">
                <a:solidFill>
                  <a:srgbClr val="62A04C"/>
                </a:solidFill>
                <a:latin typeface="Georgia"/>
              </a:rPr>
              <a:t>Gᴵ²ᵁ*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9290050" y="3479800"/>
            <a:ext cx="4445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0" i="1">
                <a:solidFill>
                  <a:srgbClr val="D79018"/>
                </a:solidFill>
                <a:latin typeface="Georgia"/>
              </a:rPr>
              <a:t>Gᵁ²ᴵ*</a:t>
            </a:r>
          </a:p>
        </p:txBody>
      </p:sp>
      <p:cxnSp>
        <p:nvCxnSpPr>
          <p:cNvPr id="230" name="Connector 229"/>
          <p:cNvCxnSpPr/>
          <p:nvPr/>
        </p:nvCxnSpPr>
        <p:spPr>
          <a:xfrm>
            <a:off x="9213850" y="3194050"/>
            <a:ext cx="406400" cy="0"/>
          </a:xfrm>
          <a:prstGeom prst="line">
            <a:avLst/>
          </a:prstGeom>
          <a:ln w="19050">
            <a:solidFill>
              <a:srgbClr val="87BC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Isosceles Triangle 230"/>
          <p:cNvSpPr/>
          <p:nvPr/>
        </p:nvSpPr>
        <p:spPr>
          <a:xfrm rot="5400000">
            <a:off x="9588500" y="3149600"/>
            <a:ext cx="63500" cy="88900"/>
          </a:xfrm>
          <a:prstGeom prst="triangle">
            <a:avLst/>
          </a:prstGeom>
          <a:solidFill>
            <a:srgbClr val="87B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2" name="Connector 231"/>
          <p:cNvCxnSpPr/>
          <p:nvPr/>
        </p:nvCxnSpPr>
        <p:spPr>
          <a:xfrm>
            <a:off x="9213850" y="3587750"/>
            <a:ext cx="406400" cy="0"/>
          </a:xfrm>
          <a:prstGeom prst="line">
            <a:avLst/>
          </a:prstGeom>
          <a:ln w="19050">
            <a:solidFill>
              <a:srgbClr val="F3A4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Isosceles Triangle 232"/>
          <p:cNvSpPr/>
          <p:nvPr/>
        </p:nvSpPr>
        <p:spPr>
          <a:xfrm rot="5400000">
            <a:off x="9588500" y="3543300"/>
            <a:ext cx="63500" cy="88900"/>
          </a:xfrm>
          <a:prstGeom prst="triangle">
            <a:avLst/>
          </a:prstGeom>
          <a:solidFill>
            <a:srgbClr val="F3A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9626600" y="2755900"/>
            <a:ext cx="1905000" cy="1149350"/>
          </a:xfrm>
          <a:prstGeom prst="rect">
            <a:avLst/>
          </a:prstGeom>
          <a:solidFill>
            <a:srgbClr val="F7F7F7"/>
          </a:solidFill>
          <a:ln w="1905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9652000" y="2952750"/>
            <a:ext cx="6667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45" b="1" i="0">
                <a:solidFill>
                  <a:srgbClr val="151515"/>
                </a:solidFill>
                <a:latin typeface="Georgia"/>
              </a:rPr>
              <a:t>RecSys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10172700" y="2914650"/>
            <a:ext cx="1308100" cy="457200"/>
          </a:xfrm>
          <a:prstGeom prst="roundRect">
            <a:avLst/>
          </a:prstGeom>
          <a:solidFill>
            <a:srgbClr val="CCF2F0"/>
          </a:solidFill>
          <a:ln w="9525">
            <a:solidFill>
              <a:srgbClr val="A4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10210800" y="3003550"/>
            <a:ext cx="1231900" cy="273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" b="0" i="0">
                <a:solidFill>
                  <a:srgbClr val="151515"/>
                </a:solidFill>
                <a:latin typeface="Georgia"/>
              </a:rPr>
              <a:t>Tag-based</a:t>
            </a:r>
          </a:p>
          <a:p>
            <a:pPr algn="ctr"/>
            <a:r>
              <a:rPr sz="880" b="0" i="0">
                <a:solidFill>
                  <a:srgbClr val="151515"/>
                </a:solidFill>
                <a:latin typeface="Georgia"/>
              </a:rPr>
              <a:t>Item/User Encoder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10172700" y="3403600"/>
            <a:ext cx="1308100" cy="425450"/>
          </a:xfrm>
          <a:prstGeom prst="roundRect">
            <a:avLst/>
          </a:prstGeom>
          <a:solidFill>
            <a:srgbClr val="FFF1C9"/>
          </a:solidFill>
          <a:ln w="9525">
            <a:solidFill>
              <a:srgbClr val="E0B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10210800" y="3486150"/>
            <a:ext cx="1231900" cy="273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" b="0" i="0">
                <a:solidFill>
                  <a:srgbClr val="151515"/>
                </a:solidFill>
                <a:latin typeface="Georgia"/>
              </a:rPr>
              <a:t>Tag-logic</a:t>
            </a:r>
          </a:p>
          <a:p>
            <a:pPr algn="ctr"/>
            <a:r>
              <a:rPr sz="880" b="0" i="0">
                <a:solidFill>
                  <a:srgbClr val="151515"/>
                </a:solidFill>
                <a:latin typeface="Georgia"/>
              </a:rPr>
              <a:t>Inference Extension</a:t>
            </a:r>
          </a:p>
        </p:txBody>
      </p:sp>
      <p:cxnSp>
        <p:nvCxnSpPr>
          <p:cNvPr id="240" name="Connector 239"/>
          <p:cNvCxnSpPr/>
          <p:nvPr/>
        </p:nvCxnSpPr>
        <p:spPr>
          <a:xfrm>
            <a:off x="11525250" y="3028950"/>
            <a:ext cx="0" cy="495300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Isosceles Triangle 240"/>
          <p:cNvSpPr/>
          <p:nvPr/>
        </p:nvSpPr>
        <p:spPr>
          <a:xfrm rot="10800000">
            <a:off x="11493500" y="3479800"/>
            <a:ext cx="63500" cy="88900"/>
          </a:xfrm>
          <a:prstGeom prst="triangle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2" name="Connector 241"/>
          <p:cNvCxnSpPr/>
          <p:nvPr/>
        </p:nvCxnSpPr>
        <p:spPr>
          <a:xfrm flipH="1">
            <a:off x="11480800" y="3524250"/>
            <a:ext cx="44450" cy="0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Isosceles Triangle 242"/>
          <p:cNvSpPr/>
          <p:nvPr/>
        </p:nvSpPr>
        <p:spPr>
          <a:xfrm rot="16200000">
            <a:off x="11449050" y="3479800"/>
            <a:ext cx="63500" cy="88900"/>
          </a:xfrm>
          <a:prstGeom prst="triangle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4" name="Connector 243"/>
          <p:cNvCxnSpPr/>
          <p:nvPr/>
        </p:nvCxnSpPr>
        <p:spPr>
          <a:xfrm>
            <a:off x="10598150" y="3911600"/>
            <a:ext cx="0" cy="311150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Isosceles Triangle 244"/>
          <p:cNvSpPr/>
          <p:nvPr/>
        </p:nvSpPr>
        <p:spPr>
          <a:xfrm rot="10800000">
            <a:off x="10566400" y="4178300"/>
            <a:ext cx="63500" cy="88900"/>
          </a:xfrm>
          <a:prstGeom prst="triangle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6" name="Connector 245"/>
          <p:cNvCxnSpPr/>
          <p:nvPr/>
        </p:nvCxnSpPr>
        <p:spPr>
          <a:xfrm>
            <a:off x="11271250" y="3911600"/>
            <a:ext cx="0" cy="311150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Isosceles Triangle 246"/>
          <p:cNvSpPr/>
          <p:nvPr/>
        </p:nvSpPr>
        <p:spPr>
          <a:xfrm rot="10800000">
            <a:off x="11239500" y="4178300"/>
            <a:ext cx="63500" cy="88900"/>
          </a:xfrm>
          <a:prstGeom prst="triangle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ounded Rectangle 247"/>
          <p:cNvSpPr/>
          <p:nvPr/>
        </p:nvSpPr>
        <p:spPr>
          <a:xfrm>
            <a:off x="8331200" y="4279900"/>
            <a:ext cx="2095499" cy="635000"/>
          </a:xfrm>
          <a:prstGeom prst="roundRect">
            <a:avLst/>
          </a:prstGeom>
          <a:solidFill>
            <a:srgbClr val="C7E8F7"/>
          </a:solidFill>
          <a:ln w="19050">
            <a:solidFill>
              <a:srgbClr val="9D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8381999" y="4375150"/>
            <a:ext cx="1993899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25" b="0" i="1">
                <a:solidFill>
                  <a:srgbClr val="151515"/>
                </a:solidFill>
                <a:latin typeface="Georgia"/>
              </a:rPr>
              <a:t>L = λ(Lut + Lit) + (1 − λ)Lui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8381999" y="4629150"/>
            <a:ext cx="1993899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25" b="0" i="0">
                <a:solidFill>
                  <a:srgbClr val="151515"/>
                </a:solidFill>
                <a:latin typeface="Georgia"/>
              </a:rPr>
              <a:t>Tag-based Learning Augmentation</a:t>
            </a:r>
          </a:p>
        </p:txBody>
      </p:sp>
      <p:cxnSp>
        <p:nvCxnSpPr>
          <p:cNvPr id="251" name="Connector 250"/>
          <p:cNvCxnSpPr/>
          <p:nvPr/>
        </p:nvCxnSpPr>
        <p:spPr>
          <a:xfrm flipV="1">
            <a:off x="9359900" y="4032250"/>
            <a:ext cx="0" cy="247650"/>
          </a:xfrm>
          <a:prstGeom prst="line">
            <a:avLst/>
          </a:prstGeom>
          <a:ln w="19050">
            <a:solidFill>
              <a:srgbClr val="5F5F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2" name="Isosceles Triangle 251"/>
          <p:cNvSpPr/>
          <p:nvPr/>
        </p:nvSpPr>
        <p:spPr>
          <a:xfrm>
            <a:off x="9328150" y="3987799"/>
            <a:ext cx="63500" cy="88900"/>
          </a:xfrm>
          <a:prstGeom prst="triangle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3" name="Connector 252"/>
          <p:cNvCxnSpPr/>
          <p:nvPr/>
        </p:nvCxnSpPr>
        <p:spPr>
          <a:xfrm>
            <a:off x="9359900" y="4032250"/>
            <a:ext cx="482600" cy="0"/>
          </a:xfrm>
          <a:prstGeom prst="line">
            <a:avLst/>
          </a:prstGeom>
          <a:ln w="19050">
            <a:solidFill>
              <a:srgbClr val="5F5F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V="1">
            <a:off x="9842500" y="3911600"/>
            <a:ext cx="0" cy="120650"/>
          </a:xfrm>
          <a:prstGeom prst="line">
            <a:avLst/>
          </a:prstGeom>
          <a:ln w="19050">
            <a:solidFill>
              <a:srgbClr val="5F5F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5" name="Isosceles Triangle 254"/>
          <p:cNvSpPr/>
          <p:nvPr/>
        </p:nvSpPr>
        <p:spPr>
          <a:xfrm>
            <a:off x="9810750" y="3867150"/>
            <a:ext cx="63500" cy="88900"/>
          </a:xfrm>
          <a:prstGeom prst="triangle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10375900" y="4330700"/>
            <a:ext cx="444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90" b="0" i="1">
                <a:solidFill>
                  <a:srgbClr val="151515"/>
                </a:solidFill>
                <a:latin typeface="Georgia"/>
              </a:rPr>
              <a:t>ŷᵣₐw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11049000" y="4330700"/>
            <a:ext cx="444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90" b="0" i="1">
                <a:solidFill>
                  <a:srgbClr val="151515"/>
                </a:solidFill>
                <a:latin typeface="Georgia"/>
              </a:rPr>
              <a:t>ŷₜₐg</a:t>
            </a:r>
          </a:p>
        </p:txBody>
      </p:sp>
      <p:cxnSp>
        <p:nvCxnSpPr>
          <p:cNvPr id="258" name="Connector 257"/>
          <p:cNvCxnSpPr/>
          <p:nvPr/>
        </p:nvCxnSpPr>
        <p:spPr>
          <a:xfrm>
            <a:off x="10598150" y="4483100"/>
            <a:ext cx="368300" cy="355600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9" name="Isosceles Triangle 258"/>
          <p:cNvSpPr/>
          <p:nvPr/>
        </p:nvSpPr>
        <p:spPr>
          <a:xfrm rot="8039695">
            <a:off x="10934700" y="4794250"/>
            <a:ext cx="63500" cy="88900"/>
          </a:xfrm>
          <a:prstGeom prst="triangle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0" name="Connector 259"/>
          <p:cNvCxnSpPr/>
          <p:nvPr/>
        </p:nvCxnSpPr>
        <p:spPr>
          <a:xfrm flipH="1">
            <a:off x="10966450" y="4483100"/>
            <a:ext cx="304800" cy="355600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1" name="Isosceles Triangle 260"/>
          <p:cNvSpPr/>
          <p:nvPr/>
        </p:nvSpPr>
        <p:spPr>
          <a:xfrm rot="13236078">
            <a:off x="10934700" y="4794250"/>
            <a:ext cx="63500" cy="88900"/>
          </a:xfrm>
          <a:prstGeom prst="triangle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10858500" y="4921250"/>
            <a:ext cx="215900" cy="15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151515"/>
                </a:solidFill>
                <a:latin typeface="Georgia"/>
              </a:rPr>
              <a:t>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Who You Are Matters Bridging Interests and Social Roles via LLM-Enhanced Logic Recommendation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01500" cy="553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