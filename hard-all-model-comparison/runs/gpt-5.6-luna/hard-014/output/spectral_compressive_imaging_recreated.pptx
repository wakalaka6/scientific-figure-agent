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7320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E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918" y="110361"/>
            <a:ext cx="10464862" cy="2473395"/>
          </a:xfrm>
          <a:prstGeom prst="roundRect">
            <a:avLst/>
          </a:prstGeom>
          <a:solidFill>
            <a:srgbClr val="EFF8FC"/>
          </a:solidFill>
          <a:ln w="12983">
            <a:solidFill>
              <a:srgbClr val="A9D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594699" y="110361"/>
            <a:ext cx="1551552" cy="4317080"/>
          </a:xfrm>
          <a:prstGeom prst="roundRect">
            <a:avLst/>
          </a:prstGeom>
          <a:solidFill>
            <a:srgbClr val="FAFAFA"/>
          </a:solidFill>
          <a:ln w="12983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918" y="2629199"/>
            <a:ext cx="4323572" cy="4057406"/>
          </a:xfrm>
          <a:prstGeom prst="roundRect">
            <a:avLst/>
          </a:prstGeom>
          <a:solidFill>
            <a:srgbClr val="EFF8E7"/>
          </a:solidFill>
          <a:ln w="12983">
            <a:solidFill>
              <a:srgbClr val="B6D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66393" y="2629199"/>
            <a:ext cx="6050404" cy="1778767"/>
          </a:xfrm>
          <a:prstGeom prst="roundRect">
            <a:avLst/>
          </a:prstGeom>
          <a:solidFill>
            <a:srgbClr val="FFFEFD"/>
          </a:solidFill>
          <a:ln w="19475">
            <a:solidFill>
              <a:srgbClr val="11182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66393" y="4453409"/>
            <a:ext cx="7686350" cy="2278639"/>
          </a:xfrm>
          <a:prstGeom prst="roundRect">
            <a:avLst/>
          </a:prstGeom>
          <a:solidFill>
            <a:srgbClr val="FFF5EB"/>
          </a:solidFill>
          <a:ln w="12983">
            <a:solidFill>
              <a:srgbClr val="E0B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885" y="181771"/>
            <a:ext cx="357051" cy="2272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7" b="1" i="0">
                <a:solidFill>
                  <a:srgbClr val="111820"/>
                </a:solidFill>
                <a:latin typeface="Arial"/>
              </a:rPr>
              <a:t>(a)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18327" y="2726577"/>
            <a:ext cx="357051" cy="2272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7" b="1" i="0">
                <a:solidFill>
                  <a:srgbClr val="111820"/>
                </a:solidFill>
                <a:latin typeface="Arial"/>
              </a:rPr>
              <a:t>(b)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361" y="2726577"/>
            <a:ext cx="357051" cy="2272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7" b="1" i="0">
                <a:solidFill>
                  <a:srgbClr val="111820"/>
                </a:solidFill>
                <a:latin typeface="Arial"/>
              </a:rPr>
              <a:t>(c)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1836" y="4518327"/>
            <a:ext cx="357051" cy="2272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77" b="1" i="0">
                <a:solidFill>
                  <a:srgbClr val="111820"/>
                </a:solidFill>
                <a:latin typeface="Arial"/>
              </a:rPr>
              <a:t>(d)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8263" y="655676"/>
            <a:ext cx="1707356" cy="1324337"/>
          </a:xfrm>
          <a:prstGeom prst="roundRect">
            <a:avLst/>
          </a:prstGeom>
          <a:noFill/>
          <a:ln w="12983">
            <a:solidFill>
              <a:srgbClr val="7D8082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rallelogram 11"/>
          <p:cNvSpPr/>
          <p:nvPr/>
        </p:nvSpPr>
        <p:spPr>
          <a:xfrm>
            <a:off x="408986" y="792005"/>
            <a:ext cx="447937" cy="1097122"/>
          </a:xfrm>
          <a:prstGeom prst="parallelogram">
            <a:avLst/>
          </a:prstGeom>
          <a:solidFill>
            <a:srgbClr val="22272A"/>
          </a:solidFill>
          <a:ln w="6491">
            <a:solidFill>
              <a:srgbClr val="2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447937" y="934826"/>
            <a:ext cx="311609" cy="25967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47937" y="1090630"/>
            <a:ext cx="311609" cy="25968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447937" y="1246435"/>
            <a:ext cx="311609" cy="25967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447937" y="1402239"/>
            <a:ext cx="311609" cy="25968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47937" y="1558044"/>
            <a:ext cx="311609" cy="25967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47937" y="1713848"/>
            <a:ext cx="311609" cy="25967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50573" y="1110171"/>
            <a:ext cx="125422" cy="438849"/>
          </a:xfrm>
          <a:prstGeom prst="ellipse">
            <a:avLst/>
          </a:prstGeom>
          <a:solidFill>
            <a:srgbClr val="6D7275"/>
          </a:solidFill>
          <a:ln w="6491">
            <a:solidFill>
              <a:srgbClr val="303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arallelogram 19"/>
          <p:cNvSpPr/>
          <p:nvPr/>
        </p:nvSpPr>
        <p:spPr>
          <a:xfrm>
            <a:off x="934826" y="740070"/>
            <a:ext cx="467413" cy="1136073"/>
          </a:xfrm>
          <a:prstGeom prst="parallelogram">
            <a:avLst/>
          </a:prstGeom>
          <a:solidFill>
            <a:srgbClr val="777B7D"/>
          </a:solidFill>
          <a:ln w="6491">
            <a:solidFill>
              <a:srgbClr val="2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960793" y="804989"/>
            <a:ext cx="350560" cy="64918"/>
          </a:xfrm>
          <a:prstGeom prst="line">
            <a:avLst/>
          </a:prstGeom>
          <a:ln w="6491">
            <a:solidFill>
              <a:srgbClr val="AE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960793" y="928334"/>
            <a:ext cx="350560" cy="71410"/>
          </a:xfrm>
          <a:prstGeom prst="line">
            <a:avLst/>
          </a:prstGeom>
          <a:ln w="6491">
            <a:solidFill>
              <a:srgbClr val="AE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960793" y="1051679"/>
            <a:ext cx="350560" cy="77902"/>
          </a:xfrm>
          <a:prstGeom prst="line">
            <a:avLst/>
          </a:prstGeom>
          <a:ln w="6491">
            <a:solidFill>
              <a:srgbClr val="AE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60793" y="1175024"/>
            <a:ext cx="350560" cy="84394"/>
          </a:xfrm>
          <a:prstGeom prst="line">
            <a:avLst/>
          </a:prstGeom>
          <a:ln w="6491">
            <a:solidFill>
              <a:srgbClr val="AE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60793" y="1298370"/>
            <a:ext cx="350560" cy="90886"/>
          </a:xfrm>
          <a:prstGeom prst="line">
            <a:avLst/>
          </a:prstGeom>
          <a:ln w="6491">
            <a:solidFill>
              <a:srgbClr val="AE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960793" y="1421715"/>
            <a:ext cx="350560" cy="97378"/>
          </a:xfrm>
          <a:prstGeom prst="line">
            <a:avLst/>
          </a:prstGeom>
          <a:ln w="6491">
            <a:solidFill>
              <a:srgbClr val="AE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60793" y="1545060"/>
            <a:ext cx="350560" cy="103870"/>
          </a:xfrm>
          <a:prstGeom prst="line">
            <a:avLst/>
          </a:prstGeom>
          <a:ln w="6491">
            <a:solidFill>
              <a:srgbClr val="AE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Parallelogram 27"/>
          <p:cNvSpPr/>
          <p:nvPr/>
        </p:nvSpPr>
        <p:spPr>
          <a:xfrm>
            <a:off x="1408731" y="798497"/>
            <a:ext cx="415478" cy="1064663"/>
          </a:xfrm>
          <a:prstGeom prst="parallelogram">
            <a:avLst/>
          </a:prstGeom>
          <a:solidFill>
            <a:srgbClr val="22272A"/>
          </a:solidFill>
          <a:ln w="6491">
            <a:solidFill>
              <a:srgbClr val="2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1447682" y="941318"/>
            <a:ext cx="279150" cy="25967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447682" y="1097122"/>
            <a:ext cx="279150" cy="25968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1447682" y="1252927"/>
            <a:ext cx="279150" cy="25967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1447682" y="1408731"/>
            <a:ext cx="279150" cy="25967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1447682" y="1564535"/>
            <a:ext cx="279150" cy="25968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1447682" y="1720340"/>
            <a:ext cx="279150" cy="25967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1534413" y="1107250"/>
            <a:ext cx="116333" cy="425865"/>
          </a:xfrm>
          <a:prstGeom prst="ellipse">
            <a:avLst/>
          </a:prstGeom>
          <a:solidFill>
            <a:srgbClr val="6D7275"/>
          </a:solidFill>
          <a:ln w="6491">
            <a:solidFill>
              <a:srgbClr val="303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551807" y="194755"/>
            <a:ext cx="0" cy="590758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36201" y="2324082"/>
            <a:ext cx="129837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1" b="0" i="0">
                <a:solidFill>
                  <a:srgbClr val="111820"/>
                </a:solidFill>
                <a:latin typeface="Arial"/>
              </a:rPr>
              <a:t>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1807" y="1973522"/>
            <a:ext cx="0" cy="467413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077647" y="1876144"/>
            <a:ext cx="0" cy="220723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077647" y="2096867"/>
            <a:ext cx="408986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Isosceles Triangle 40"/>
          <p:cNvSpPr/>
          <p:nvPr/>
        </p:nvSpPr>
        <p:spPr>
          <a:xfrm rot="16200000">
            <a:off x="1459367" y="2069601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1506109" y="1869652"/>
            <a:ext cx="0" cy="20774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408731" y="2064408"/>
            <a:ext cx="194755" cy="194755"/>
          </a:xfrm>
          <a:prstGeom prst="ellipse">
            <a:avLst/>
          </a:prstGeom>
          <a:solidFill>
            <a:srgbClr val="FAFAFA"/>
          </a:solidFill>
          <a:ln w="12983"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41190" y="2051424"/>
            <a:ext cx="129837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75" b="0" i="0">
                <a:solidFill>
                  <a:srgbClr val="111820"/>
                </a:solidFill>
                <a:latin typeface="Arial"/>
              </a:rPr>
              <a:t>·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506109" y="2259163"/>
            <a:ext cx="0" cy="17528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551552" y="2317590"/>
            <a:ext cx="162296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20" b="0" i="0">
                <a:solidFill>
                  <a:srgbClr val="111820"/>
                </a:solidFill>
                <a:latin typeface="Arial"/>
              </a:rPr>
              <a:t>H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902112" y="1317845"/>
            <a:ext cx="376527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Isosceles Triangle 47"/>
          <p:cNvSpPr/>
          <p:nvPr/>
        </p:nvSpPr>
        <p:spPr>
          <a:xfrm rot="16200000">
            <a:off x="2251373" y="1290579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285131" y="649185"/>
            <a:ext cx="253182" cy="694628"/>
          </a:xfrm>
          <a:prstGeom prst="roundRect">
            <a:avLst/>
          </a:prstGeom>
          <a:solidFill>
            <a:srgbClr val="FFFFFF"/>
          </a:solidFill>
          <a:ln w="12983">
            <a:solidFill>
              <a:srgbClr val="1326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 rot="5400000">
            <a:off x="2330574" y="746562"/>
            <a:ext cx="162296" cy="5193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Arial"/>
              </a:rPr>
              <a:t>Initialization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453664" y="194755"/>
            <a:ext cx="0" cy="571283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sosceles Triangle 51"/>
          <p:cNvSpPr/>
          <p:nvPr/>
        </p:nvSpPr>
        <p:spPr>
          <a:xfrm>
            <a:off x="3426398" y="738772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5699844" y="194755"/>
            <a:ext cx="0" cy="571283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Isosceles Triangle 53"/>
          <p:cNvSpPr/>
          <p:nvPr/>
        </p:nvSpPr>
        <p:spPr>
          <a:xfrm>
            <a:off x="5672578" y="738772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8140780" y="194755"/>
            <a:ext cx="0" cy="571283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Isosceles Triangle 55"/>
          <p:cNvSpPr/>
          <p:nvPr/>
        </p:nvSpPr>
        <p:spPr>
          <a:xfrm>
            <a:off x="8113514" y="738772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99107" y="337576"/>
            <a:ext cx="129837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1" b="0" i="0">
                <a:solidFill>
                  <a:srgbClr val="111820"/>
                </a:solidFill>
                <a:latin typeface="Arial"/>
              </a:rPr>
              <a:t>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45287" y="337576"/>
            <a:ext cx="129837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1" b="0" i="0">
                <a:solidFill>
                  <a:srgbClr val="111820"/>
                </a:solidFill>
                <a:latin typeface="Arial"/>
              </a:rPr>
              <a:t>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09568" y="337576"/>
            <a:ext cx="129837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71" b="0" i="0">
                <a:solidFill>
                  <a:srgbClr val="111820"/>
                </a:solidFill>
                <a:latin typeface="Arial"/>
              </a:rPr>
              <a:t>y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720085" y="655676"/>
            <a:ext cx="2116343" cy="1304861"/>
          </a:xfrm>
          <a:prstGeom prst="roundRect">
            <a:avLst/>
          </a:prstGeom>
          <a:solidFill>
            <a:srgbClr val="FFFAFD"/>
          </a:solidFill>
          <a:ln w="9737">
            <a:solidFill>
              <a:srgbClr val="F4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3083628" y="772530"/>
            <a:ext cx="740070" cy="396002"/>
          </a:xfrm>
          <a:prstGeom prst="roundRect">
            <a:avLst/>
          </a:prstGeom>
          <a:solidFill>
            <a:srgbClr val="C8EDFC"/>
          </a:solidFill>
          <a:ln w="12983">
            <a:solidFill>
              <a:srgbClr val="142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129071" y="830956"/>
            <a:ext cx="649185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4" b="0" i="0">
                <a:solidFill>
                  <a:srgbClr val="111820"/>
                </a:solidFill>
                <a:latin typeface="Times New Roman"/>
              </a:rPr>
              <a:t>ε(·)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83628" y="1408731"/>
            <a:ext cx="740070" cy="396002"/>
          </a:xfrm>
          <a:prstGeom prst="roundRect">
            <a:avLst/>
          </a:prstGeom>
          <a:solidFill>
            <a:srgbClr val="FBF4D7"/>
          </a:solidFill>
          <a:ln w="12983">
            <a:solidFill>
              <a:srgbClr val="142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22580" y="1473650"/>
            <a:ext cx="662168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73" b="0" i="0">
                <a:solidFill>
                  <a:srgbClr val="111820"/>
                </a:solidFill>
                <a:latin typeface="Times New Roman"/>
              </a:rPr>
              <a:t>proj(·)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73012" y="1408731"/>
            <a:ext cx="766038" cy="396002"/>
          </a:xfrm>
          <a:prstGeom prst="roundRect">
            <a:avLst/>
          </a:prstGeom>
          <a:solidFill>
            <a:srgbClr val="DFEECD"/>
          </a:solidFill>
          <a:ln w="12983">
            <a:solidFill>
              <a:srgbClr val="142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05471" y="1473650"/>
            <a:ext cx="701119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73" b="0" i="0">
                <a:solidFill>
                  <a:srgbClr val="111820"/>
                </a:solidFill>
                <a:latin typeface="Times New Roman"/>
              </a:rPr>
              <a:t>proxᵣ(·)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453664" y="1168533"/>
            <a:ext cx="0" cy="240198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Isosceles Triangle 67"/>
          <p:cNvSpPr/>
          <p:nvPr/>
        </p:nvSpPr>
        <p:spPr>
          <a:xfrm>
            <a:off x="3426398" y="1381465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2817463" y="1558044"/>
            <a:ext cx="266165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Isosceles Triangle 69"/>
          <p:cNvSpPr/>
          <p:nvPr/>
        </p:nvSpPr>
        <p:spPr>
          <a:xfrm rot="16200000">
            <a:off x="3056363" y="1530778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3823699" y="967285"/>
            <a:ext cx="149313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973012" y="967285"/>
            <a:ext cx="0" cy="441446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Isosceles Triangle 72"/>
          <p:cNvSpPr/>
          <p:nvPr/>
        </p:nvSpPr>
        <p:spPr>
          <a:xfrm>
            <a:off x="3945746" y="1381465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823699" y="1603487"/>
            <a:ext cx="149313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Isosceles Triangle 74"/>
          <p:cNvSpPr/>
          <p:nvPr/>
        </p:nvSpPr>
        <p:spPr>
          <a:xfrm rot="16200000">
            <a:off x="3945746" y="1576221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57406" y="941318"/>
            <a:ext cx="454429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8" b="0" i="1">
                <a:solidFill>
                  <a:srgbClr val="111820"/>
                </a:solidFill>
                <a:latin typeface="Times New Roman"/>
              </a:rPr>
              <a:t>w(1)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85996" y="1850177"/>
            <a:ext cx="519348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8" b="0" i="0">
                <a:solidFill>
                  <a:srgbClr val="111820"/>
                </a:solidFill>
                <a:latin typeface="Times New Roman"/>
              </a:rPr>
              <a:t>z⁽¹⁾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362778" y="1252927"/>
            <a:ext cx="194755" cy="142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68" b="0" i="0">
                <a:solidFill>
                  <a:srgbClr val="111820"/>
                </a:solidFill>
                <a:latin typeface="Times New Roman"/>
              </a:rPr>
              <a:t>Σ(1)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940298" y="655676"/>
            <a:ext cx="2148802" cy="1304861"/>
          </a:xfrm>
          <a:prstGeom prst="roundRect">
            <a:avLst/>
          </a:prstGeom>
          <a:solidFill>
            <a:srgbClr val="FFFAFD"/>
          </a:solidFill>
          <a:ln w="9737">
            <a:solidFill>
              <a:srgbClr val="F4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5303841" y="772530"/>
            <a:ext cx="740070" cy="396002"/>
          </a:xfrm>
          <a:prstGeom prst="roundRect">
            <a:avLst/>
          </a:prstGeom>
          <a:solidFill>
            <a:srgbClr val="C8EDFC"/>
          </a:solidFill>
          <a:ln w="12983">
            <a:solidFill>
              <a:srgbClr val="142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349284" y="830956"/>
            <a:ext cx="649185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4" b="0" i="0">
                <a:solidFill>
                  <a:srgbClr val="111820"/>
                </a:solidFill>
                <a:latin typeface="Times New Roman"/>
              </a:rPr>
              <a:t>ε(·)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5303841" y="1408731"/>
            <a:ext cx="740070" cy="396002"/>
          </a:xfrm>
          <a:prstGeom prst="roundRect">
            <a:avLst/>
          </a:prstGeom>
          <a:solidFill>
            <a:srgbClr val="FBF4D7"/>
          </a:solidFill>
          <a:ln w="12983">
            <a:solidFill>
              <a:srgbClr val="142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42792" y="1473650"/>
            <a:ext cx="662168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73" b="0" i="0">
                <a:solidFill>
                  <a:srgbClr val="111820"/>
                </a:solidFill>
                <a:latin typeface="Times New Roman"/>
              </a:rPr>
              <a:t>proj(·)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93225" y="1408731"/>
            <a:ext cx="766038" cy="396002"/>
          </a:xfrm>
          <a:prstGeom prst="roundRect">
            <a:avLst/>
          </a:prstGeom>
          <a:solidFill>
            <a:srgbClr val="DFEECD"/>
          </a:solidFill>
          <a:ln w="12983">
            <a:solidFill>
              <a:srgbClr val="142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225684" y="1473650"/>
            <a:ext cx="701119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73" b="0" i="0">
                <a:solidFill>
                  <a:srgbClr val="111820"/>
                </a:solidFill>
                <a:latin typeface="Times New Roman"/>
              </a:rPr>
              <a:t>proxᵣ(·)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5673877" y="1168533"/>
            <a:ext cx="0" cy="240198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Isosceles Triangle 86"/>
          <p:cNvSpPr/>
          <p:nvPr/>
        </p:nvSpPr>
        <p:spPr>
          <a:xfrm>
            <a:off x="5646611" y="1381465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5037675" y="1558044"/>
            <a:ext cx="266166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Isosceles Triangle 88"/>
          <p:cNvSpPr/>
          <p:nvPr/>
        </p:nvSpPr>
        <p:spPr>
          <a:xfrm rot="16200000">
            <a:off x="5276576" y="1530778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>
            <a:off x="6043912" y="967285"/>
            <a:ext cx="149313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193225" y="967285"/>
            <a:ext cx="0" cy="441446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Isosceles Triangle 91"/>
          <p:cNvSpPr/>
          <p:nvPr/>
        </p:nvSpPr>
        <p:spPr>
          <a:xfrm>
            <a:off x="6165959" y="1381465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6043912" y="1603487"/>
            <a:ext cx="149313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Isosceles Triangle 93"/>
          <p:cNvSpPr/>
          <p:nvPr/>
        </p:nvSpPr>
        <p:spPr>
          <a:xfrm rot="16200000">
            <a:off x="6165959" y="1576221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77619" y="941318"/>
            <a:ext cx="454429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8" b="0" i="1">
                <a:solidFill>
                  <a:srgbClr val="111820"/>
                </a:solidFill>
                <a:latin typeface="Times New Roman"/>
              </a:rPr>
              <a:t>w(2)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06209" y="1850177"/>
            <a:ext cx="519348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8" b="0" i="0">
                <a:solidFill>
                  <a:srgbClr val="111820"/>
                </a:solidFill>
                <a:latin typeface="Times New Roman"/>
              </a:rPr>
              <a:t>z⁽²⁾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582991" y="1252927"/>
            <a:ext cx="194755" cy="142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68" b="0" i="0">
                <a:solidFill>
                  <a:srgbClr val="111820"/>
                </a:solidFill>
                <a:latin typeface="Times New Roman"/>
              </a:rPr>
              <a:t>Σ(2)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63005" y="655676"/>
            <a:ext cx="1947555" cy="1304861"/>
          </a:xfrm>
          <a:prstGeom prst="roundRect">
            <a:avLst/>
          </a:prstGeom>
          <a:solidFill>
            <a:srgbClr val="FFFAFD"/>
          </a:solidFill>
          <a:ln w="9737">
            <a:solidFill>
              <a:srgbClr val="F4EE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7926549" y="772530"/>
            <a:ext cx="740070" cy="396002"/>
          </a:xfrm>
          <a:prstGeom prst="roundRect">
            <a:avLst/>
          </a:prstGeom>
          <a:solidFill>
            <a:srgbClr val="C8EDFC"/>
          </a:solidFill>
          <a:ln w="12983">
            <a:solidFill>
              <a:srgbClr val="142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71992" y="830956"/>
            <a:ext cx="649185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4" b="0" i="0">
                <a:solidFill>
                  <a:srgbClr val="111820"/>
                </a:solidFill>
                <a:latin typeface="Times New Roman"/>
              </a:rPr>
              <a:t>ε(·)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7926549" y="1408731"/>
            <a:ext cx="740070" cy="396002"/>
          </a:xfrm>
          <a:prstGeom prst="roundRect">
            <a:avLst/>
          </a:prstGeom>
          <a:solidFill>
            <a:srgbClr val="FBF4D7"/>
          </a:solidFill>
          <a:ln w="12983">
            <a:solidFill>
              <a:srgbClr val="142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965500" y="1473650"/>
            <a:ext cx="662168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73" b="0" i="0">
                <a:solidFill>
                  <a:srgbClr val="111820"/>
                </a:solidFill>
                <a:latin typeface="Times New Roman"/>
              </a:rPr>
              <a:t>proj(·)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815932" y="1408731"/>
            <a:ext cx="766038" cy="396002"/>
          </a:xfrm>
          <a:prstGeom prst="roundRect">
            <a:avLst/>
          </a:prstGeom>
          <a:solidFill>
            <a:srgbClr val="DFEECD"/>
          </a:solidFill>
          <a:ln w="12983">
            <a:solidFill>
              <a:srgbClr val="142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848392" y="1473650"/>
            <a:ext cx="701119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73" b="0" i="0">
                <a:solidFill>
                  <a:srgbClr val="111820"/>
                </a:solidFill>
                <a:latin typeface="Times New Roman"/>
              </a:rPr>
              <a:t>proxᵣ(·)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8296584" y="1168533"/>
            <a:ext cx="0" cy="240198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Isosceles Triangle 105"/>
          <p:cNvSpPr/>
          <p:nvPr/>
        </p:nvSpPr>
        <p:spPr>
          <a:xfrm>
            <a:off x="8269319" y="1381465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Connector 106"/>
          <p:cNvCxnSpPr/>
          <p:nvPr/>
        </p:nvCxnSpPr>
        <p:spPr>
          <a:xfrm>
            <a:off x="7660383" y="1558044"/>
            <a:ext cx="266166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Isosceles Triangle 107"/>
          <p:cNvSpPr/>
          <p:nvPr/>
        </p:nvSpPr>
        <p:spPr>
          <a:xfrm rot="16200000">
            <a:off x="7899283" y="1530778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8666620" y="967285"/>
            <a:ext cx="149312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8815932" y="967285"/>
            <a:ext cx="0" cy="441446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Isosceles Triangle 110"/>
          <p:cNvSpPr/>
          <p:nvPr/>
        </p:nvSpPr>
        <p:spPr>
          <a:xfrm>
            <a:off x="8788667" y="1381465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2" name="Connector 111"/>
          <p:cNvCxnSpPr/>
          <p:nvPr/>
        </p:nvCxnSpPr>
        <p:spPr>
          <a:xfrm>
            <a:off x="8666620" y="1603487"/>
            <a:ext cx="149312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Isosceles Triangle 112"/>
          <p:cNvSpPr/>
          <p:nvPr/>
        </p:nvSpPr>
        <p:spPr>
          <a:xfrm rot="16200000">
            <a:off x="8788667" y="1576221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900327" y="941318"/>
            <a:ext cx="454429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8" b="0" i="1">
                <a:solidFill>
                  <a:srgbClr val="111820"/>
                </a:solidFill>
                <a:latin typeface="Times New Roman"/>
              </a:rPr>
              <a:t>w(K)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828916" y="1850177"/>
            <a:ext cx="519348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8" b="0" i="0">
                <a:solidFill>
                  <a:srgbClr val="111820"/>
                </a:solidFill>
                <a:latin typeface="Times New Roman"/>
              </a:rPr>
              <a:t>z⁽ᴷ⁾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05699" y="1252927"/>
            <a:ext cx="194755" cy="142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68" b="0" i="0">
                <a:solidFill>
                  <a:srgbClr val="111820"/>
                </a:solidFill>
                <a:latin typeface="Times New Roman"/>
              </a:rPr>
              <a:t>Σ(K)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4836428" y="1603487"/>
            <a:ext cx="259674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Isosceles Triangle 117"/>
          <p:cNvSpPr/>
          <p:nvPr/>
        </p:nvSpPr>
        <p:spPr>
          <a:xfrm rot="16200000">
            <a:off x="5068836" y="1576221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7089100" y="1603487"/>
            <a:ext cx="227215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Isosceles Triangle 119"/>
          <p:cNvSpPr/>
          <p:nvPr/>
        </p:nvSpPr>
        <p:spPr>
          <a:xfrm rot="16200000">
            <a:off x="7289049" y="1576221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225429" y="1551552"/>
            <a:ext cx="155804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26" b="0" i="0">
                <a:solidFill>
                  <a:srgbClr val="111820"/>
                </a:solidFill>
                <a:latin typeface="Arial"/>
              </a:rPr>
              <a:t>…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9517052" y="1603487"/>
            <a:ext cx="292134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Isosceles Triangle 122"/>
          <p:cNvSpPr/>
          <p:nvPr/>
        </p:nvSpPr>
        <p:spPr>
          <a:xfrm rot="16200000">
            <a:off x="9781920" y="1576221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>
            <a:off x="551807" y="2440935"/>
            <a:ext cx="2901857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3453664" y="1804734"/>
            <a:ext cx="0" cy="636201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Isosceles Triangle 125"/>
          <p:cNvSpPr/>
          <p:nvPr/>
        </p:nvSpPr>
        <p:spPr>
          <a:xfrm rot="10800000">
            <a:off x="3426398" y="1777468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3453664" y="2440935"/>
            <a:ext cx="2246180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5699844" y="1804734"/>
            <a:ext cx="0" cy="636201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Isosceles Triangle 128"/>
          <p:cNvSpPr/>
          <p:nvPr/>
        </p:nvSpPr>
        <p:spPr>
          <a:xfrm rot="10800000">
            <a:off x="5672578" y="1777468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>
            <a:off x="5699844" y="2440935"/>
            <a:ext cx="2440936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8140780" y="1804734"/>
            <a:ext cx="0" cy="636201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Isosceles Triangle 131"/>
          <p:cNvSpPr/>
          <p:nvPr/>
        </p:nvSpPr>
        <p:spPr>
          <a:xfrm rot="10800000">
            <a:off x="8113514" y="1777468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564025" y="2285131"/>
            <a:ext cx="454429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20" b="0" i="0">
                <a:solidFill>
                  <a:srgbClr val="111820"/>
                </a:solidFill>
                <a:latin typeface="Arial"/>
              </a:rPr>
              <a:t>(y, H)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810206" y="2285131"/>
            <a:ext cx="454429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20" b="0" i="0">
                <a:solidFill>
                  <a:srgbClr val="111820"/>
                </a:solidFill>
                <a:latin typeface="Arial"/>
              </a:rPr>
              <a:t>(y, H)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51141" y="2285131"/>
            <a:ext cx="454429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20" b="0" i="0">
                <a:solidFill>
                  <a:srgbClr val="111820"/>
                </a:solidFill>
                <a:latin typeface="Arial"/>
              </a:rPr>
              <a:t>(y, H)</a:t>
            </a:r>
          </a:p>
        </p:txBody>
      </p:sp>
      <p:sp>
        <p:nvSpPr>
          <p:cNvPr id="136" name="Parallelogram 135"/>
          <p:cNvSpPr/>
          <p:nvPr/>
        </p:nvSpPr>
        <p:spPr>
          <a:xfrm>
            <a:off x="9919547" y="792005"/>
            <a:ext cx="447937" cy="1110106"/>
          </a:xfrm>
          <a:prstGeom prst="parallelogram">
            <a:avLst/>
          </a:prstGeom>
          <a:solidFill>
            <a:srgbClr val="1B3AD6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Parallelogram 136"/>
          <p:cNvSpPr/>
          <p:nvPr/>
        </p:nvSpPr>
        <p:spPr>
          <a:xfrm>
            <a:off x="9971482" y="759546"/>
            <a:ext cx="447937" cy="1110106"/>
          </a:xfrm>
          <a:prstGeom prst="parallelogram">
            <a:avLst/>
          </a:prstGeom>
          <a:solidFill>
            <a:srgbClr val="11B7A0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Parallelogram 137"/>
          <p:cNvSpPr/>
          <p:nvPr/>
        </p:nvSpPr>
        <p:spPr>
          <a:xfrm>
            <a:off x="10023417" y="727087"/>
            <a:ext cx="447937" cy="1110106"/>
          </a:xfrm>
          <a:prstGeom prst="parallelogram">
            <a:avLst/>
          </a:prstGeom>
          <a:solidFill>
            <a:srgbClr val="33B93E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Parallelogram 138"/>
          <p:cNvSpPr/>
          <p:nvPr/>
        </p:nvSpPr>
        <p:spPr>
          <a:xfrm>
            <a:off x="10075351" y="694628"/>
            <a:ext cx="447937" cy="1110106"/>
          </a:xfrm>
          <a:prstGeom prst="parallelogram">
            <a:avLst/>
          </a:prstGeom>
          <a:solidFill>
            <a:srgbClr val="F0BE00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Parallelogram 139"/>
          <p:cNvSpPr/>
          <p:nvPr/>
        </p:nvSpPr>
        <p:spPr>
          <a:xfrm>
            <a:off x="10127286" y="662168"/>
            <a:ext cx="447937" cy="1110106"/>
          </a:xfrm>
          <a:prstGeom prst="parallelogram">
            <a:avLst/>
          </a:prstGeom>
          <a:solidFill>
            <a:srgbClr val="F12611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Parallelogram 140"/>
          <p:cNvSpPr/>
          <p:nvPr/>
        </p:nvSpPr>
        <p:spPr>
          <a:xfrm>
            <a:off x="10114303" y="811481"/>
            <a:ext cx="447937" cy="1110106"/>
          </a:xfrm>
          <a:prstGeom prst="parallelogram">
            <a:avLst/>
          </a:prstGeom>
          <a:solidFill>
            <a:srgbClr val="B31D19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2" name="Connector 141"/>
          <p:cNvCxnSpPr/>
          <p:nvPr/>
        </p:nvCxnSpPr>
        <p:spPr>
          <a:xfrm flipV="1">
            <a:off x="10166237" y="960793"/>
            <a:ext cx="344068" cy="51935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10166237" y="1110106"/>
            <a:ext cx="344068" cy="77902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10166237" y="1259418"/>
            <a:ext cx="344068" cy="103870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10166237" y="1408731"/>
            <a:ext cx="344068" cy="129837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/>
          <p:cNvSpPr/>
          <p:nvPr/>
        </p:nvSpPr>
        <p:spPr>
          <a:xfrm>
            <a:off x="10692077" y="389511"/>
            <a:ext cx="168788" cy="168788"/>
          </a:xfrm>
          <a:prstGeom prst="ellipse">
            <a:avLst/>
          </a:prstGeom>
          <a:solidFill>
            <a:srgbClr val="FAFAFA"/>
          </a:solidFill>
          <a:ln w="12983">
            <a:solidFill>
              <a:srgbClr val="0D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10692077" y="389511"/>
            <a:ext cx="168788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1" b="0" i="0">
                <a:solidFill>
                  <a:srgbClr val="111820"/>
                </a:solidFill>
                <a:latin typeface="Times New Roman"/>
              </a:rPr>
              <a:t>C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977719" y="383019"/>
            <a:ext cx="1071155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4" b="0" i="0">
                <a:solidFill>
                  <a:srgbClr val="111820"/>
                </a:solidFill>
                <a:latin typeface="Arial"/>
              </a:rPr>
              <a:t>Concatenate</a:t>
            </a:r>
          </a:p>
        </p:txBody>
      </p:sp>
      <p:sp>
        <p:nvSpPr>
          <p:cNvPr id="149" name="Oval 148"/>
          <p:cNvSpPr/>
          <p:nvPr/>
        </p:nvSpPr>
        <p:spPr>
          <a:xfrm>
            <a:off x="10692077" y="824465"/>
            <a:ext cx="168788" cy="168788"/>
          </a:xfrm>
          <a:prstGeom prst="ellipse">
            <a:avLst/>
          </a:prstGeom>
          <a:solidFill>
            <a:srgbClr val="FAFAFA"/>
          </a:solidFill>
          <a:ln w="12983">
            <a:solidFill>
              <a:srgbClr val="0D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10692077" y="824465"/>
            <a:ext cx="168788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75" b="0" i="0">
                <a:solidFill>
                  <a:srgbClr val="111820"/>
                </a:solidFill>
                <a:latin typeface="Times New Roman"/>
              </a:rPr>
              <a:t>·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0977719" y="817973"/>
            <a:ext cx="1071155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4" b="0" i="0">
                <a:solidFill>
                  <a:srgbClr val="111820"/>
                </a:solidFill>
                <a:latin typeface="Arial"/>
              </a:rPr>
              <a:t>Element-wise</a:t>
            </a:r>
          </a:p>
        </p:txBody>
      </p:sp>
      <p:sp>
        <p:nvSpPr>
          <p:cNvPr id="152" name="Oval 151"/>
          <p:cNvSpPr/>
          <p:nvPr/>
        </p:nvSpPr>
        <p:spPr>
          <a:xfrm>
            <a:off x="10692077" y="1272402"/>
            <a:ext cx="168788" cy="168788"/>
          </a:xfrm>
          <a:prstGeom prst="ellipse">
            <a:avLst/>
          </a:prstGeom>
          <a:solidFill>
            <a:srgbClr val="FAFAFA"/>
          </a:solidFill>
          <a:ln w="12983">
            <a:solidFill>
              <a:srgbClr val="0D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692077" y="1272402"/>
            <a:ext cx="168788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1" b="0" i="0">
                <a:solidFill>
                  <a:srgbClr val="111820"/>
                </a:solidFill>
                <a:latin typeface="Times New Roman"/>
              </a:rPr>
              <a:t>×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77719" y="1265910"/>
            <a:ext cx="1071155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4" b="0" i="0">
                <a:solidFill>
                  <a:srgbClr val="111820"/>
                </a:solidFill>
                <a:latin typeface="Arial"/>
              </a:rPr>
              <a:t>Matrix</a:t>
            </a:r>
          </a:p>
        </p:txBody>
      </p:sp>
      <p:sp>
        <p:nvSpPr>
          <p:cNvPr id="155" name="Oval 154"/>
          <p:cNvSpPr/>
          <p:nvPr/>
        </p:nvSpPr>
        <p:spPr>
          <a:xfrm>
            <a:off x="10692077" y="1726832"/>
            <a:ext cx="168788" cy="168788"/>
          </a:xfrm>
          <a:prstGeom prst="ellipse">
            <a:avLst/>
          </a:prstGeom>
          <a:solidFill>
            <a:srgbClr val="FAFAFA"/>
          </a:solidFill>
          <a:ln w="12983">
            <a:solidFill>
              <a:srgbClr val="0D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692077" y="1726832"/>
            <a:ext cx="168788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71" b="0" i="0">
                <a:solidFill>
                  <a:srgbClr val="111820"/>
                </a:solidFill>
                <a:latin typeface="Times New Roman"/>
              </a:rPr>
              <a:t>Σ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0977719" y="1720340"/>
            <a:ext cx="1071155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4" b="0" i="0">
                <a:solidFill>
                  <a:srgbClr val="111820"/>
                </a:solidFill>
                <a:latin typeface="Arial"/>
              </a:rPr>
              <a:t>Weighted-Sum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977719" y="1045187"/>
            <a:ext cx="1071155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4" b="0" i="0">
                <a:solidFill>
                  <a:srgbClr val="111820"/>
                </a:solidFill>
                <a:latin typeface="Arial"/>
              </a:rPr>
              <a:t>multiplication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977719" y="1480141"/>
            <a:ext cx="1071155" cy="1752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24" b="0" i="0">
                <a:solidFill>
                  <a:srgbClr val="111820"/>
                </a:solidFill>
                <a:latin typeface="Arial"/>
              </a:rPr>
              <a:t>multiplication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10679094" y="2369525"/>
            <a:ext cx="597250" cy="259674"/>
          </a:xfrm>
          <a:prstGeom prst="roundRect">
            <a:avLst/>
          </a:prstGeom>
          <a:solidFill>
            <a:srgbClr val="FAFAFA"/>
          </a:solidFill>
          <a:ln w="16229"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692077" y="2408476"/>
            <a:ext cx="571282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Arial"/>
              </a:rPr>
              <a:t>Down-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1360738" y="2408476"/>
            <a:ext cx="714103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3" b="0" i="0">
                <a:solidFill>
                  <a:srgbClr val="111820"/>
                </a:solidFill>
                <a:latin typeface="Arial"/>
              </a:rPr>
              <a:t>sample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10679094" y="2856414"/>
            <a:ext cx="597250" cy="259674"/>
          </a:xfrm>
          <a:prstGeom prst="roundRect">
            <a:avLst/>
          </a:prstGeom>
          <a:solidFill>
            <a:srgbClr val="FAFAFA"/>
          </a:solidFill>
          <a:ln w="16229"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10692077" y="2895365"/>
            <a:ext cx="571282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Arial"/>
              </a:rPr>
              <a:t>Up-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1360738" y="2895365"/>
            <a:ext cx="714103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3" b="0" i="0">
                <a:solidFill>
                  <a:srgbClr val="111820"/>
                </a:solidFill>
                <a:latin typeface="Arial"/>
              </a:rPr>
              <a:t>sample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10679094" y="3492615"/>
            <a:ext cx="597250" cy="259674"/>
          </a:xfrm>
          <a:prstGeom prst="roundRect">
            <a:avLst/>
          </a:prstGeom>
          <a:solidFill>
            <a:srgbClr val="FAFAFA"/>
          </a:solidFill>
          <a:ln w="16229"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10692077" y="3531566"/>
            <a:ext cx="571282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2" b="0" i="0">
                <a:solidFill>
                  <a:srgbClr val="111820"/>
                </a:solidFill>
                <a:latin typeface="Arial"/>
              </a:rPr>
              <a:t>LN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10679094" y="4083373"/>
            <a:ext cx="597250" cy="259674"/>
          </a:xfrm>
          <a:prstGeom prst="roundRect">
            <a:avLst/>
          </a:prstGeom>
          <a:solidFill>
            <a:srgbClr val="FAFAFA"/>
          </a:solidFill>
          <a:ln w="16229"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10692077" y="4122325"/>
            <a:ext cx="571282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68" b="0" i="0">
                <a:solidFill>
                  <a:srgbClr val="111820"/>
                </a:solidFill>
                <a:latin typeface="Arial"/>
              </a:rPr>
              <a:t>1×1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1360738" y="4122325"/>
            <a:ext cx="779022" cy="1817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73" b="0" i="0">
                <a:solidFill>
                  <a:srgbClr val="111820"/>
                </a:solidFill>
                <a:latin typeface="Arial"/>
              </a:rPr>
              <a:t>Convolution</a:t>
            </a:r>
          </a:p>
        </p:txBody>
      </p:sp>
      <p:sp>
        <p:nvSpPr>
          <p:cNvPr id="171" name="Parallelogram 170"/>
          <p:cNvSpPr/>
          <p:nvPr/>
        </p:nvSpPr>
        <p:spPr>
          <a:xfrm>
            <a:off x="4842920" y="3012218"/>
            <a:ext cx="363543" cy="993253"/>
          </a:xfrm>
          <a:prstGeom prst="parallelogram">
            <a:avLst/>
          </a:prstGeom>
          <a:solidFill>
            <a:srgbClr val="1B3AD6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Parallelogram 171"/>
          <p:cNvSpPr/>
          <p:nvPr/>
        </p:nvSpPr>
        <p:spPr>
          <a:xfrm>
            <a:off x="4894855" y="2979759"/>
            <a:ext cx="363543" cy="993253"/>
          </a:xfrm>
          <a:prstGeom prst="parallelogram">
            <a:avLst/>
          </a:prstGeom>
          <a:solidFill>
            <a:srgbClr val="11B7A0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Parallelogram 172"/>
          <p:cNvSpPr/>
          <p:nvPr/>
        </p:nvSpPr>
        <p:spPr>
          <a:xfrm>
            <a:off x="4946790" y="2947300"/>
            <a:ext cx="363543" cy="993253"/>
          </a:xfrm>
          <a:prstGeom prst="parallelogram">
            <a:avLst/>
          </a:prstGeom>
          <a:solidFill>
            <a:srgbClr val="33B93E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Parallelogram 173"/>
          <p:cNvSpPr/>
          <p:nvPr/>
        </p:nvSpPr>
        <p:spPr>
          <a:xfrm>
            <a:off x="4998724" y="2914840"/>
            <a:ext cx="363543" cy="993253"/>
          </a:xfrm>
          <a:prstGeom prst="parallelogram">
            <a:avLst/>
          </a:prstGeom>
          <a:solidFill>
            <a:srgbClr val="F0BE00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Parallelogram 174"/>
          <p:cNvSpPr/>
          <p:nvPr/>
        </p:nvSpPr>
        <p:spPr>
          <a:xfrm>
            <a:off x="5050659" y="2882381"/>
            <a:ext cx="363543" cy="993253"/>
          </a:xfrm>
          <a:prstGeom prst="parallelogram">
            <a:avLst/>
          </a:prstGeom>
          <a:solidFill>
            <a:srgbClr val="F12611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Parallelogram 175"/>
          <p:cNvSpPr/>
          <p:nvPr/>
        </p:nvSpPr>
        <p:spPr>
          <a:xfrm>
            <a:off x="5037675" y="3031694"/>
            <a:ext cx="363543" cy="993253"/>
          </a:xfrm>
          <a:prstGeom prst="parallelogram">
            <a:avLst/>
          </a:prstGeom>
          <a:solidFill>
            <a:srgbClr val="B31D19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 flipV="1">
            <a:off x="5089610" y="3181006"/>
            <a:ext cx="259674" cy="51935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5089610" y="3330319"/>
            <a:ext cx="259674" cy="77902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5089610" y="3479631"/>
            <a:ext cx="259674" cy="103870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5089610" y="3628944"/>
            <a:ext cx="259674" cy="129837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TextBox 180"/>
          <p:cNvSpPr txBox="1"/>
          <p:nvPr/>
        </p:nvSpPr>
        <p:spPr>
          <a:xfrm>
            <a:off x="4790985" y="2804479"/>
            <a:ext cx="142820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920" b="0" i="0">
                <a:solidFill>
                  <a:srgbClr val="111820"/>
                </a:solidFill>
                <a:latin typeface="Times New Roman"/>
              </a:rPr>
              <a:t>C</a:t>
            </a:r>
          </a:p>
        </p:txBody>
      </p:sp>
      <p:sp>
        <p:nvSpPr>
          <p:cNvPr id="182" name="TextBox 181"/>
          <p:cNvSpPr txBox="1"/>
          <p:nvPr/>
        </p:nvSpPr>
        <p:spPr>
          <a:xfrm rot="19920000">
            <a:off x="4570262" y="4050914"/>
            <a:ext cx="811481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Arial"/>
              </a:rPr>
              <a:t>Chromaticity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5271382" y="3518582"/>
            <a:ext cx="279150" cy="0"/>
          </a:xfrm>
          <a:prstGeom prst="line">
            <a:avLst/>
          </a:prstGeom>
          <a:ln w="12983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Isosceles Triangle 183"/>
          <p:cNvSpPr/>
          <p:nvPr/>
        </p:nvSpPr>
        <p:spPr>
          <a:xfrm rot="16200000">
            <a:off x="5523266" y="3491317"/>
            <a:ext cx="54531" cy="54531"/>
          </a:xfrm>
          <a:prstGeom prst="triangle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5686861" y="2797987"/>
            <a:ext cx="227214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22" b="0" i="0">
                <a:solidFill>
                  <a:srgbClr val="111820"/>
                </a:solidFill>
                <a:latin typeface="Times New Roman"/>
              </a:rPr>
              <a:t>M′</a:t>
            </a:r>
          </a:p>
        </p:txBody>
      </p:sp>
      <p:sp>
        <p:nvSpPr>
          <p:cNvPr id="186" name="Parallelogram 185"/>
          <p:cNvSpPr/>
          <p:nvPr/>
        </p:nvSpPr>
        <p:spPr>
          <a:xfrm>
            <a:off x="5647909" y="3064153"/>
            <a:ext cx="590758" cy="1025712"/>
          </a:xfrm>
          <a:prstGeom prst="parallelogram">
            <a:avLst/>
          </a:prstGeom>
          <a:solidFill>
            <a:srgbClr val="BFC2C2"/>
          </a:solidFill>
          <a:ln w="6491">
            <a:solidFill>
              <a:srgbClr val="2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>
            <a:off x="5647909" y="3161531"/>
            <a:ext cx="512857" cy="0"/>
          </a:xfrm>
          <a:prstGeom prst="line">
            <a:avLst/>
          </a:prstGeom>
          <a:ln w="6491">
            <a:solidFill>
              <a:srgbClr val="7B7F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5647909" y="3271892"/>
            <a:ext cx="512857" cy="0"/>
          </a:xfrm>
          <a:prstGeom prst="line">
            <a:avLst/>
          </a:prstGeom>
          <a:ln w="6491">
            <a:solidFill>
              <a:srgbClr val="7B7F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5647909" y="3382254"/>
            <a:ext cx="512857" cy="0"/>
          </a:xfrm>
          <a:prstGeom prst="line">
            <a:avLst/>
          </a:prstGeom>
          <a:ln w="6491">
            <a:solidFill>
              <a:srgbClr val="7B7F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5647909" y="3492615"/>
            <a:ext cx="512857" cy="0"/>
          </a:xfrm>
          <a:prstGeom prst="line">
            <a:avLst/>
          </a:prstGeom>
          <a:ln w="6491">
            <a:solidFill>
              <a:srgbClr val="7B7F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5647909" y="3602977"/>
            <a:ext cx="512857" cy="0"/>
          </a:xfrm>
          <a:prstGeom prst="line">
            <a:avLst/>
          </a:prstGeom>
          <a:ln w="6491">
            <a:solidFill>
              <a:srgbClr val="7B7F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5647909" y="3713338"/>
            <a:ext cx="512857" cy="0"/>
          </a:xfrm>
          <a:prstGeom prst="line">
            <a:avLst/>
          </a:prstGeom>
          <a:ln w="6491">
            <a:solidFill>
              <a:srgbClr val="7B7F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5647909" y="3823699"/>
            <a:ext cx="512857" cy="0"/>
          </a:xfrm>
          <a:prstGeom prst="line">
            <a:avLst/>
          </a:prstGeom>
          <a:ln w="6491">
            <a:solidFill>
              <a:srgbClr val="7B7F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290603" y="3518582"/>
            <a:ext cx="318100" cy="0"/>
          </a:xfrm>
          <a:prstGeom prst="line">
            <a:avLst/>
          </a:prstGeom>
          <a:ln w="12983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Isosceles Triangle 194"/>
          <p:cNvSpPr/>
          <p:nvPr/>
        </p:nvSpPr>
        <p:spPr>
          <a:xfrm rot="16200000">
            <a:off x="6581438" y="3491317"/>
            <a:ext cx="54531" cy="54531"/>
          </a:xfrm>
          <a:prstGeom prst="triangle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6706081" y="2797987"/>
            <a:ext cx="227214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22" b="0" i="0">
                <a:solidFill>
                  <a:srgbClr val="111820"/>
                </a:solidFill>
                <a:latin typeface="Times New Roman"/>
              </a:rPr>
              <a:t>X′</a:t>
            </a:r>
          </a:p>
        </p:txBody>
      </p:sp>
      <p:sp>
        <p:nvSpPr>
          <p:cNvPr id="197" name="Parallelogram 196"/>
          <p:cNvSpPr/>
          <p:nvPr/>
        </p:nvSpPr>
        <p:spPr>
          <a:xfrm>
            <a:off x="6732048" y="3103104"/>
            <a:ext cx="467413" cy="934826"/>
          </a:xfrm>
          <a:prstGeom prst="parallelogram">
            <a:avLst/>
          </a:prstGeom>
          <a:solidFill>
            <a:srgbClr val="1B3AD6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Parallelogram 197"/>
          <p:cNvSpPr/>
          <p:nvPr/>
        </p:nvSpPr>
        <p:spPr>
          <a:xfrm>
            <a:off x="6783983" y="3070645"/>
            <a:ext cx="467413" cy="934826"/>
          </a:xfrm>
          <a:prstGeom prst="parallelogram">
            <a:avLst/>
          </a:prstGeom>
          <a:solidFill>
            <a:srgbClr val="11B7A0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Parallelogram 198"/>
          <p:cNvSpPr/>
          <p:nvPr/>
        </p:nvSpPr>
        <p:spPr>
          <a:xfrm>
            <a:off x="6835918" y="3038186"/>
            <a:ext cx="467413" cy="934826"/>
          </a:xfrm>
          <a:prstGeom prst="parallelogram">
            <a:avLst/>
          </a:prstGeom>
          <a:solidFill>
            <a:srgbClr val="33B93E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Parallelogram 199"/>
          <p:cNvSpPr/>
          <p:nvPr/>
        </p:nvSpPr>
        <p:spPr>
          <a:xfrm>
            <a:off x="6887853" y="3005726"/>
            <a:ext cx="467413" cy="934826"/>
          </a:xfrm>
          <a:prstGeom prst="parallelogram">
            <a:avLst/>
          </a:prstGeom>
          <a:solidFill>
            <a:srgbClr val="F0BE00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Parallelogram 200"/>
          <p:cNvSpPr/>
          <p:nvPr/>
        </p:nvSpPr>
        <p:spPr>
          <a:xfrm>
            <a:off x="6939788" y="2973267"/>
            <a:ext cx="467413" cy="934826"/>
          </a:xfrm>
          <a:prstGeom prst="parallelogram">
            <a:avLst/>
          </a:prstGeom>
          <a:solidFill>
            <a:srgbClr val="F12611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Parallelogram 201"/>
          <p:cNvSpPr/>
          <p:nvPr/>
        </p:nvSpPr>
        <p:spPr>
          <a:xfrm>
            <a:off x="6926804" y="3122580"/>
            <a:ext cx="467413" cy="934826"/>
          </a:xfrm>
          <a:prstGeom prst="parallelogram">
            <a:avLst/>
          </a:prstGeom>
          <a:solidFill>
            <a:srgbClr val="B31D19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6978739" y="3271892"/>
            <a:ext cx="363543" cy="51935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6978739" y="3421205"/>
            <a:ext cx="363543" cy="77902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6978739" y="3570517"/>
            <a:ext cx="363543" cy="103870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6978739" y="3719830"/>
            <a:ext cx="363543" cy="129837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 rot="19920000">
            <a:off x="6504834" y="4050914"/>
            <a:ext cx="908859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Arial"/>
              </a:rPr>
              <a:t>Modulated HSI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7290348" y="3518582"/>
            <a:ext cx="383019" cy="0"/>
          </a:xfrm>
          <a:prstGeom prst="line">
            <a:avLst/>
          </a:prstGeom>
          <a:ln w="12983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Isosceles Triangle 208"/>
          <p:cNvSpPr/>
          <p:nvPr/>
        </p:nvSpPr>
        <p:spPr>
          <a:xfrm rot="16200000">
            <a:off x="7646101" y="3491317"/>
            <a:ext cx="54531" cy="54531"/>
          </a:xfrm>
          <a:prstGeom prst="triangle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7478611" y="3291368"/>
            <a:ext cx="584266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8" b="0" i="0">
                <a:solidFill>
                  <a:srgbClr val="111820"/>
                </a:solidFill>
                <a:latin typeface="Arial"/>
              </a:rPr>
              <a:t>Dispersion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8497832" y="2797987"/>
            <a:ext cx="292133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22" b="0" i="0">
                <a:solidFill>
                  <a:srgbClr val="111820"/>
                </a:solidFill>
                <a:latin typeface="Times New Roman"/>
              </a:rPr>
              <a:t>X″</a:t>
            </a:r>
          </a:p>
        </p:txBody>
      </p:sp>
      <p:sp>
        <p:nvSpPr>
          <p:cNvPr id="212" name="Parallelogram 211"/>
          <p:cNvSpPr/>
          <p:nvPr/>
        </p:nvSpPr>
        <p:spPr>
          <a:xfrm>
            <a:off x="8342027" y="3103104"/>
            <a:ext cx="740070" cy="934826"/>
          </a:xfrm>
          <a:prstGeom prst="parallelogram">
            <a:avLst/>
          </a:prstGeom>
          <a:solidFill>
            <a:srgbClr val="1B3AD6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Parallelogram 212"/>
          <p:cNvSpPr/>
          <p:nvPr/>
        </p:nvSpPr>
        <p:spPr>
          <a:xfrm>
            <a:off x="8393962" y="3070645"/>
            <a:ext cx="740070" cy="934826"/>
          </a:xfrm>
          <a:prstGeom prst="parallelogram">
            <a:avLst/>
          </a:prstGeom>
          <a:solidFill>
            <a:srgbClr val="11B7A0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Parallelogram 213"/>
          <p:cNvSpPr/>
          <p:nvPr/>
        </p:nvSpPr>
        <p:spPr>
          <a:xfrm>
            <a:off x="8445897" y="3038186"/>
            <a:ext cx="740070" cy="934826"/>
          </a:xfrm>
          <a:prstGeom prst="parallelogram">
            <a:avLst/>
          </a:prstGeom>
          <a:solidFill>
            <a:srgbClr val="33B93E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Parallelogram 214"/>
          <p:cNvSpPr/>
          <p:nvPr/>
        </p:nvSpPr>
        <p:spPr>
          <a:xfrm>
            <a:off x="8497832" y="3005726"/>
            <a:ext cx="740070" cy="934826"/>
          </a:xfrm>
          <a:prstGeom prst="parallelogram">
            <a:avLst/>
          </a:prstGeom>
          <a:solidFill>
            <a:srgbClr val="F0BE00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Parallelogram 215"/>
          <p:cNvSpPr/>
          <p:nvPr/>
        </p:nvSpPr>
        <p:spPr>
          <a:xfrm>
            <a:off x="8549767" y="2973267"/>
            <a:ext cx="740070" cy="934826"/>
          </a:xfrm>
          <a:prstGeom prst="parallelogram">
            <a:avLst/>
          </a:prstGeom>
          <a:solidFill>
            <a:srgbClr val="F12611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Parallelogram 216"/>
          <p:cNvSpPr/>
          <p:nvPr/>
        </p:nvSpPr>
        <p:spPr>
          <a:xfrm>
            <a:off x="8536783" y="3122580"/>
            <a:ext cx="740070" cy="934826"/>
          </a:xfrm>
          <a:prstGeom prst="parallelogram">
            <a:avLst/>
          </a:prstGeom>
          <a:solidFill>
            <a:srgbClr val="B31D19"/>
          </a:solidFill>
          <a:ln w="5193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Connector 217"/>
          <p:cNvCxnSpPr/>
          <p:nvPr/>
        </p:nvCxnSpPr>
        <p:spPr>
          <a:xfrm flipV="1">
            <a:off x="8588718" y="3271892"/>
            <a:ext cx="636201" cy="51935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V="1">
            <a:off x="8588718" y="3421205"/>
            <a:ext cx="636201" cy="77902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8588718" y="3570517"/>
            <a:ext cx="636201" cy="103870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8588718" y="3719830"/>
            <a:ext cx="636201" cy="129837"/>
          </a:xfrm>
          <a:prstGeom prst="line">
            <a:avLst/>
          </a:prstGeom>
          <a:ln w="6491">
            <a:solidFill>
              <a:srgbClr val="EA3D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TextBox 221"/>
          <p:cNvSpPr txBox="1"/>
          <p:nvPr/>
        </p:nvSpPr>
        <p:spPr>
          <a:xfrm rot="19920000">
            <a:off x="8290093" y="4050914"/>
            <a:ext cx="941318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Arial"/>
              </a:rPr>
              <a:t>Dispersed HSI</a:t>
            </a:r>
          </a:p>
        </p:txBody>
      </p:sp>
      <p:cxnSp>
        <p:nvCxnSpPr>
          <p:cNvPr id="223" name="Connector 222"/>
          <p:cNvCxnSpPr/>
          <p:nvPr/>
        </p:nvCxnSpPr>
        <p:spPr>
          <a:xfrm>
            <a:off x="9270362" y="3518582"/>
            <a:ext cx="441446" cy="0"/>
          </a:xfrm>
          <a:prstGeom prst="line">
            <a:avLst/>
          </a:prstGeom>
          <a:ln w="12983">
            <a:solidFill>
              <a:srgbClr val="8A8A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Isosceles Triangle 223"/>
          <p:cNvSpPr/>
          <p:nvPr/>
        </p:nvSpPr>
        <p:spPr>
          <a:xfrm rot="16200000">
            <a:off x="9684542" y="3491317"/>
            <a:ext cx="54531" cy="54531"/>
          </a:xfrm>
          <a:prstGeom prst="triangle">
            <a:avLst/>
          </a:prstGeom>
          <a:solidFill>
            <a:srgbClr val="8A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9367740" y="3291368"/>
            <a:ext cx="519348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68" b="0" i="0">
                <a:solidFill>
                  <a:srgbClr val="111820"/>
                </a:solidFill>
                <a:latin typeface="Arial"/>
              </a:rPr>
              <a:t>Imaging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10153254" y="2797987"/>
            <a:ext cx="162296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22" b="0" i="0">
                <a:solidFill>
                  <a:srgbClr val="111820"/>
                </a:solidFill>
                <a:latin typeface="Times New Roman"/>
              </a:rPr>
              <a:t>Y</a:t>
            </a:r>
          </a:p>
        </p:txBody>
      </p:sp>
      <p:sp>
        <p:nvSpPr>
          <p:cNvPr id="227" name="Parallelogram 226"/>
          <p:cNvSpPr/>
          <p:nvPr/>
        </p:nvSpPr>
        <p:spPr>
          <a:xfrm>
            <a:off x="10094827" y="3083628"/>
            <a:ext cx="454429" cy="980269"/>
          </a:xfrm>
          <a:prstGeom prst="parallelogram">
            <a:avLst/>
          </a:prstGeom>
          <a:solidFill>
            <a:srgbClr val="22272A"/>
          </a:solidFill>
          <a:ln w="6491">
            <a:solidFill>
              <a:srgbClr val="2226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8" name="Connector 227"/>
          <p:cNvCxnSpPr/>
          <p:nvPr/>
        </p:nvCxnSpPr>
        <p:spPr>
          <a:xfrm flipV="1">
            <a:off x="10133778" y="3226449"/>
            <a:ext cx="318101" cy="25968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 flipV="1">
            <a:off x="10133778" y="3382254"/>
            <a:ext cx="318101" cy="25967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 flipV="1">
            <a:off x="10133778" y="3538058"/>
            <a:ext cx="318101" cy="25967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 flipV="1">
            <a:off x="10133778" y="3693862"/>
            <a:ext cx="318101" cy="25968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V="1">
            <a:off x="10133778" y="3849667"/>
            <a:ext cx="318101" cy="25967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 flipV="1">
            <a:off x="10133778" y="4005471"/>
            <a:ext cx="318101" cy="25968"/>
          </a:xfrm>
          <a:prstGeom prst="line">
            <a:avLst/>
          </a:prstGeom>
          <a:ln w="6491">
            <a:solidFill>
              <a:srgbClr val="676D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Oval 233"/>
          <p:cNvSpPr/>
          <p:nvPr/>
        </p:nvSpPr>
        <p:spPr>
          <a:xfrm>
            <a:off x="10239595" y="3367907"/>
            <a:ext cx="127240" cy="392107"/>
          </a:xfrm>
          <a:prstGeom prst="ellipse">
            <a:avLst/>
          </a:prstGeom>
          <a:solidFill>
            <a:srgbClr val="6D7275"/>
          </a:solidFill>
          <a:ln w="6491">
            <a:solidFill>
              <a:srgbClr val="303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 rot="19920000">
            <a:off x="9854629" y="4050914"/>
            <a:ext cx="779022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Arial"/>
              </a:rPr>
              <a:t>Measurement</a:t>
            </a:r>
          </a:p>
        </p:txBody>
      </p:sp>
      <p:cxnSp>
        <p:nvCxnSpPr>
          <p:cNvPr id="236" name="Connector 235"/>
          <p:cNvCxnSpPr/>
          <p:nvPr/>
        </p:nvCxnSpPr>
        <p:spPr>
          <a:xfrm>
            <a:off x="753054" y="2999234"/>
            <a:ext cx="0" cy="194756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Isosceles Triangle 236"/>
          <p:cNvSpPr/>
          <p:nvPr/>
        </p:nvSpPr>
        <p:spPr>
          <a:xfrm>
            <a:off x="725788" y="3166724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8" name="Connector 237"/>
          <p:cNvCxnSpPr/>
          <p:nvPr/>
        </p:nvCxnSpPr>
        <p:spPr>
          <a:xfrm>
            <a:off x="753054" y="3577009"/>
            <a:ext cx="0" cy="214231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Isosceles Triangle 238"/>
          <p:cNvSpPr/>
          <p:nvPr/>
        </p:nvSpPr>
        <p:spPr>
          <a:xfrm>
            <a:off x="725788" y="3763974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Connector 239"/>
          <p:cNvCxnSpPr/>
          <p:nvPr/>
        </p:nvCxnSpPr>
        <p:spPr>
          <a:xfrm>
            <a:off x="753054" y="4174259"/>
            <a:ext cx="0" cy="214231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Isosceles Triangle 240"/>
          <p:cNvSpPr/>
          <p:nvPr/>
        </p:nvSpPr>
        <p:spPr>
          <a:xfrm>
            <a:off x="725788" y="4361225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Connector 241"/>
          <p:cNvCxnSpPr/>
          <p:nvPr/>
        </p:nvCxnSpPr>
        <p:spPr>
          <a:xfrm>
            <a:off x="753054" y="4758526"/>
            <a:ext cx="0" cy="227215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Isosceles Triangle 242"/>
          <p:cNvSpPr/>
          <p:nvPr/>
        </p:nvSpPr>
        <p:spPr>
          <a:xfrm>
            <a:off x="725788" y="4958475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753054" y="5368760"/>
            <a:ext cx="0" cy="220723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Isosceles Triangle 244"/>
          <p:cNvSpPr/>
          <p:nvPr/>
        </p:nvSpPr>
        <p:spPr>
          <a:xfrm>
            <a:off x="725788" y="5562217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753054" y="5966010"/>
            <a:ext cx="0" cy="344068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Isosceles Triangle 246"/>
          <p:cNvSpPr/>
          <p:nvPr/>
        </p:nvSpPr>
        <p:spPr>
          <a:xfrm>
            <a:off x="725788" y="6282812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Connector 247"/>
          <p:cNvCxnSpPr/>
          <p:nvPr/>
        </p:nvCxnSpPr>
        <p:spPr>
          <a:xfrm>
            <a:off x="3628944" y="2999234"/>
            <a:ext cx="0" cy="194756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Isosceles Triangle 248"/>
          <p:cNvSpPr/>
          <p:nvPr/>
        </p:nvSpPr>
        <p:spPr>
          <a:xfrm>
            <a:off x="3601678" y="3166724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Connector 249"/>
          <p:cNvCxnSpPr/>
          <p:nvPr/>
        </p:nvCxnSpPr>
        <p:spPr>
          <a:xfrm>
            <a:off x="3628944" y="3577009"/>
            <a:ext cx="0" cy="214231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Isosceles Triangle 250"/>
          <p:cNvSpPr/>
          <p:nvPr/>
        </p:nvSpPr>
        <p:spPr>
          <a:xfrm>
            <a:off x="3601678" y="3763974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2" name="Connector 251"/>
          <p:cNvCxnSpPr/>
          <p:nvPr/>
        </p:nvCxnSpPr>
        <p:spPr>
          <a:xfrm>
            <a:off x="3628944" y="4174259"/>
            <a:ext cx="0" cy="214231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Isosceles Triangle 252"/>
          <p:cNvSpPr/>
          <p:nvPr/>
        </p:nvSpPr>
        <p:spPr>
          <a:xfrm>
            <a:off x="3601678" y="4361225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Connector 253"/>
          <p:cNvCxnSpPr/>
          <p:nvPr/>
        </p:nvCxnSpPr>
        <p:spPr>
          <a:xfrm>
            <a:off x="3628944" y="4758526"/>
            <a:ext cx="0" cy="227215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Isosceles Triangle 254"/>
          <p:cNvSpPr/>
          <p:nvPr/>
        </p:nvSpPr>
        <p:spPr>
          <a:xfrm>
            <a:off x="3601678" y="4958475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6" name="Connector 255"/>
          <p:cNvCxnSpPr/>
          <p:nvPr/>
        </p:nvCxnSpPr>
        <p:spPr>
          <a:xfrm>
            <a:off x="3628944" y="5368760"/>
            <a:ext cx="0" cy="220723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Isosceles Triangle 256"/>
          <p:cNvSpPr/>
          <p:nvPr/>
        </p:nvSpPr>
        <p:spPr>
          <a:xfrm>
            <a:off x="3601678" y="5562217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8" name="Connector 257"/>
          <p:cNvCxnSpPr/>
          <p:nvPr/>
        </p:nvCxnSpPr>
        <p:spPr>
          <a:xfrm>
            <a:off x="753054" y="2752544"/>
            <a:ext cx="0" cy="220723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753054" y="2973267"/>
            <a:ext cx="2875890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Isosceles Triangle 259"/>
          <p:cNvSpPr/>
          <p:nvPr/>
        </p:nvSpPr>
        <p:spPr>
          <a:xfrm rot="16200000">
            <a:off x="3601678" y="2946001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1" name="Connector 260"/>
          <p:cNvCxnSpPr/>
          <p:nvPr/>
        </p:nvCxnSpPr>
        <p:spPr>
          <a:xfrm>
            <a:off x="3628944" y="2973267"/>
            <a:ext cx="0" cy="220723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376272" y="3979504"/>
            <a:ext cx="266166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Isosceles Triangle 262"/>
          <p:cNvSpPr/>
          <p:nvPr/>
        </p:nvSpPr>
        <p:spPr>
          <a:xfrm rot="16200000">
            <a:off x="1615172" y="3952238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4" name="Connector 263"/>
          <p:cNvCxnSpPr/>
          <p:nvPr/>
        </p:nvCxnSpPr>
        <p:spPr>
          <a:xfrm>
            <a:off x="1837193" y="3979504"/>
            <a:ext cx="324593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Isosceles Triangle 264"/>
          <p:cNvSpPr/>
          <p:nvPr/>
        </p:nvSpPr>
        <p:spPr>
          <a:xfrm rot="16200000">
            <a:off x="2134520" y="3952238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6" name="Connector 265"/>
          <p:cNvCxnSpPr/>
          <p:nvPr/>
        </p:nvCxnSpPr>
        <p:spPr>
          <a:xfrm>
            <a:off x="2882381" y="3979504"/>
            <a:ext cx="123345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Isosceles Triangle 266"/>
          <p:cNvSpPr/>
          <p:nvPr/>
        </p:nvSpPr>
        <p:spPr>
          <a:xfrm rot="16200000">
            <a:off x="2978460" y="3952238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Connector 267"/>
          <p:cNvCxnSpPr/>
          <p:nvPr/>
        </p:nvCxnSpPr>
        <p:spPr>
          <a:xfrm>
            <a:off x="4252162" y="4583246"/>
            <a:ext cx="0" cy="116853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H="1">
            <a:off x="1765783" y="4700099"/>
            <a:ext cx="2486379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 flipV="1">
            <a:off x="1765783" y="3979504"/>
            <a:ext cx="0" cy="720595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Isosceles Triangle 270"/>
          <p:cNvSpPr/>
          <p:nvPr/>
        </p:nvSpPr>
        <p:spPr>
          <a:xfrm rot="10800000">
            <a:off x="1738517" y="3952238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Connector 271"/>
          <p:cNvCxnSpPr/>
          <p:nvPr/>
        </p:nvCxnSpPr>
        <p:spPr>
          <a:xfrm>
            <a:off x="1376272" y="5180496"/>
            <a:ext cx="266166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Isosceles Triangle 272"/>
          <p:cNvSpPr/>
          <p:nvPr/>
        </p:nvSpPr>
        <p:spPr>
          <a:xfrm rot="16200000">
            <a:off x="1615172" y="5153230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4" name="Connector 273"/>
          <p:cNvCxnSpPr/>
          <p:nvPr/>
        </p:nvCxnSpPr>
        <p:spPr>
          <a:xfrm>
            <a:off x="1837193" y="5180496"/>
            <a:ext cx="324593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Isosceles Triangle 274"/>
          <p:cNvSpPr/>
          <p:nvPr/>
        </p:nvSpPr>
        <p:spPr>
          <a:xfrm rot="16200000">
            <a:off x="2134520" y="5153230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>
            <a:off x="2882381" y="5180496"/>
            <a:ext cx="123345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Isosceles Triangle 276"/>
          <p:cNvSpPr/>
          <p:nvPr/>
        </p:nvSpPr>
        <p:spPr>
          <a:xfrm rot="16200000">
            <a:off x="2978460" y="5153230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8" name="Connector 277"/>
          <p:cNvCxnSpPr/>
          <p:nvPr/>
        </p:nvCxnSpPr>
        <p:spPr>
          <a:xfrm>
            <a:off x="4252162" y="5784238"/>
            <a:ext cx="0" cy="10387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H="1">
            <a:off x="1765783" y="5888108"/>
            <a:ext cx="2486379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1765783" y="5180496"/>
            <a:ext cx="0" cy="707612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Isosceles Triangle 280"/>
          <p:cNvSpPr/>
          <p:nvPr/>
        </p:nvSpPr>
        <p:spPr>
          <a:xfrm rot="10800000">
            <a:off x="1738517" y="5153230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ounded Rectangle 281"/>
          <p:cNvSpPr/>
          <p:nvPr/>
        </p:nvSpPr>
        <p:spPr>
          <a:xfrm>
            <a:off x="129837" y="3193990"/>
            <a:ext cx="1246435" cy="383019"/>
          </a:xfrm>
          <a:prstGeom prst="roundRect">
            <a:avLst/>
          </a:prstGeom>
          <a:solidFill>
            <a:srgbClr val="FFFDF7"/>
          </a:solidFill>
          <a:ln w="12983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162296" y="3252417"/>
            <a:ext cx="1181516" cy="266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26" b="0" i="0">
                <a:solidFill>
                  <a:srgbClr val="111820"/>
                </a:solidFill>
                <a:latin typeface="Arial"/>
              </a:rPr>
              <a:t>Conv3x3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129837" y="3791240"/>
            <a:ext cx="1246435" cy="383019"/>
          </a:xfrm>
          <a:prstGeom prst="roundRect">
            <a:avLst/>
          </a:prstGeom>
          <a:solidFill>
            <a:srgbClr val="DCECFF"/>
          </a:solidFill>
          <a:ln w="12983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162296" y="3849667"/>
            <a:ext cx="1181516" cy="266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26" b="0" i="0">
                <a:solidFill>
                  <a:srgbClr val="111820"/>
                </a:solidFill>
                <a:latin typeface="Arial"/>
              </a:rPr>
              <a:t>Spa-LWSA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129837" y="4388490"/>
            <a:ext cx="1246435" cy="370035"/>
          </a:xfrm>
          <a:prstGeom prst="roundRect">
            <a:avLst/>
          </a:prstGeom>
          <a:solidFill>
            <a:srgbClr val="E2E2DC"/>
          </a:solidFill>
          <a:ln w="12983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162296" y="4446917"/>
            <a:ext cx="1181516" cy="2531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26" b="0" i="0">
                <a:solidFill>
                  <a:srgbClr val="111820"/>
                </a:solidFill>
                <a:latin typeface="Arial"/>
              </a:rPr>
              <a:t>Down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129837" y="4985741"/>
            <a:ext cx="1246435" cy="383019"/>
          </a:xfrm>
          <a:prstGeom prst="roundRect">
            <a:avLst/>
          </a:prstGeom>
          <a:solidFill>
            <a:srgbClr val="DCECFF"/>
          </a:solidFill>
          <a:ln w="12983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62296" y="5044167"/>
            <a:ext cx="1181516" cy="266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26" b="0" i="0">
                <a:solidFill>
                  <a:srgbClr val="111820"/>
                </a:solidFill>
                <a:latin typeface="Arial"/>
              </a:rPr>
              <a:t>Spa-LWSA</a:t>
            </a:r>
          </a:p>
        </p:txBody>
      </p:sp>
      <p:sp>
        <p:nvSpPr>
          <p:cNvPr id="290" name="Rounded Rectangle 289"/>
          <p:cNvSpPr/>
          <p:nvPr/>
        </p:nvSpPr>
        <p:spPr>
          <a:xfrm>
            <a:off x="129837" y="5589483"/>
            <a:ext cx="1246435" cy="370035"/>
          </a:xfrm>
          <a:prstGeom prst="roundRect">
            <a:avLst/>
          </a:prstGeom>
          <a:solidFill>
            <a:srgbClr val="E2E2DC"/>
          </a:solidFill>
          <a:ln w="12983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162296" y="5647909"/>
            <a:ext cx="1181516" cy="2531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26" b="0" i="0">
                <a:solidFill>
                  <a:srgbClr val="111820"/>
                </a:solidFill>
                <a:latin typeface="Arial"/>
              </a:rPr>
              <a:t>Down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1804734" y="6310078"/>
            <a:ext cx="960793" cy="376527"/>
          </a:xfrm>
          <a:prstGeom prst="roundRect">
            <a:avLst/>
          </a:prstGeom>
          <a:solidFill>
            <a:srgbClr val="DCECFF"/>
          </a:solidFill>
          <a:ln w="12983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1837193" y="6368505"/>
            <a:ext cx="895875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26" b="0" i="0">
                <a:solidFill>
                  <a:srgbClr val="111820"/>
                </a:solidFill>
                <a:latin typeface="Arial"/>
              </a:rPr>
              <a:t>Spa-LWSA</a:t>
            </a:r>
          </a:p>
        </p:txBody>
      </p:sp>
      <p:sp>
        <p:nvSpPr>
          <p:cNvPr id="294" name="Rounded Rectangle 293"/>
          <p:cNvSpPr/>
          <p:nvPr/>
        </p:nvSpPr>
        <p:spPr>
          <a:xfrm>
            <a:off x="3005726" y="3193990"/>
            <a:ext cx="1246435" cy="383019"/>
          </a:xfrm>
          <a:prstGeom prst="roundRect">
            <a:avLst/>
          </a:prstGeom>
          <a:solidFill>
            <a:srgbClr val="FFFDF7"/>
          </a:solidFill>
          <a:ln w="12983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3038186" y="3252417"/>
            <a:ext cx="1181516" cy="266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26" b="0" i="0">
                <a:solidFill>
                  <a:srgbClr val="111820"/>
                </a:solidFill>
                <a:latin typeface="Arial"/>
              </a:rPr>
              <a:t>Conv3x3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3005726" y="3791240"/>
            <a:ext cx="1246435" cy="383019"/>
          </a:xfrm>
          <a:prstGeom prst="roundRect">
            <a:avLst/>
          </a:prstGeom>
          <a:solidFill>
            <a:srgbClr val="FFE9DC"/>
          </a:solidFill>
          <a:ln w="12983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3038186" y="3849667"/>
            <a:ext cx="1181516" cy="266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4" b="0" i="0">
                <a:solidFill>
                  <a:srgbClr val="111820"/>
                </a:solidFill>
                <a:latin typeface="Arial"/>
              </a:rPr>
              <a:t>Spec-TKSA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3005726" y="4388490"/>
            <a:ext cx="1246435" cy="370035"/>
          </a:xfrm>
          <a:prstGeom prst="roundRect">
            <a:avLst/>
          </a:prstGeom>
          <a:solidFill>
            <a:srgbClr val="E2E2DC"/>
          </a:solidFill>
          <a:ln w="12983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TextBox 298"/>
          <p:cNvSpPr txBox="1"/>
          <p:nvPr/>
        </p:nvSpPr>
        <p:spPr>
          <a:xfrm>
            <a:off x="3038186" y="4446917"/>
            <a:ext cx="1181516" cy="2531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26" b="0" i="0">
                <a:solidFill>
                  <a:srgbClr val="111820"/>
                </a:solidFill>
                <a:latin typeface="Arial"/>
              </a:rPr>
              <a:t>Up</a:t>
            </a:r>
          </a:p>
        </p:txBody>
      </p:sp>
      <p:sp>
        <p:nvSpPr>
          <p:cNvPr id="300" name="Rounded Rectangle 299"/>
          <p:cNvSpPr/>
          <p:nvPr/>
        </p:nvSpPr>
        <p:spPr>
          <a:xfrm>
            <a:off x="3005726" y="4985741"/>
            <a:ext cx="1246435" cy="383019"/>
          </a:xfrm>
          <a:prstGeom prst="roundRect">
            <a:avLst/>
          </a:prstGeom>
          <a:solidFill>
            <a:srgbClr val="FFE9DC"/>
          </a:solidFill>
          <a:ln w="12983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3038186" y="5044167"/>
            <a:ext cx="1181516" cy="26616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4" b="0" i="0">
                <a:solidFill>
                  <a:srgbClr val="111820"/>
                </a:solidFill>
                <a:latin typeface="Arial"/>
              </a:rPr>
              <a:t>Spec-TKSA</a:t>
            </a:r>
          </a:p>
        </p:txBody>
      </p:sp>
      <p:sp>
        <p:nvSpPr>
          <p:cNvPr id="302" name="Rounded Rectangle 301"/>
          <p:cNvSpPr/>
          <p:nvPr/>
        </p:nvSpPr>
        <p:spPr>
          <a:xfrm>
            <a:off x="3005726" y="5589483"/>
            <a:ext cx="1246435" cy="370035"/>
          </a:xfrm>
          <a:prstGeom prst="roundRect">
            <a:avLst/>
          </a:prstGeom>
          <a:solidFill>
            <a:srgbClr val="E2E2DC"/>
          </a:solidFill>
          <a:ln w="12983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3038186" y="5647909"/>
            <a:ext cx="1181516" cy="2531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26" b="0" i="0">
                <a:solidFill>
                  <a:srgbClr val="111820"/>
                </a:solidFill>
                <a:latin typeface="Arial"/>
              </a:rPr>
              <a:t>Up</a:t>
            </a:r>
          </a:p>
        </p:txBody>
      </p:sp>
      <p:sp>
        <p:nvSpPr>
          <p:cNvPr id="304" name="Oval 303"/>
          <p:cNvSpPr/>
          <p:nvPr/>
        </p:nvSpPr>
        <p:spPr>
          <a:xfrm>
            <a:off x="1655421" y="3869142"/>
            <a:ext cx="220722" cy="220722"/>
          </a:xfrm>
          <a:prstGeom prst="ellipse">
            <a:avLst/>
          </a:prstGeom>
          <a:solidFill>
            <a:srgbClr val="FAFADF"/>
          </a:solidFill>
          <a:ln w="12983">
            <a:solidFill>
              <a:srgbClr val="17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1668405" y="3882126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Times New Roman"/>
              </a:rPr>
              <a:t>C</a:t>
            </a:r>
          </a:p>
        </p:txBody>
      </p:sp>
      <p:sp>
        <p:nvSpPr>
          <p:cNvPr id="306" name="Oval 305"/>
          <p:cNvSpPr/>
          <p:nvPr/>
        </p:nvSpPr>
        <p:spPr>
          <a:xfrm>
            <a:off x="1655421" y="5070135"/>
            <a:ext cx="220722" cy="220722"/>
          </a:xfrm>
          <a:prstGeom prst="ellipse">
            <a:avLst/>
          </a:prstGeom>
          <a:solidFill>
            <a:srgbClr val="FAFADF"/>
          </a:solidFill>
          <a:ln w="12983">
            <a:solidFill>
              <a:srgbClr val="173F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1668405" y="5083118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Times New Roman"/>
              </a:rPr>
              <a:t>C</a:t>
            </a:r>
          </a:p>
        </p:txBody>
      </p:sp>
      <p:sp>
        <p:nvSpPr>
          <p:cNvPr id="308" name="Rounded Rectangle 307"/>
          <p:cNvSpPr/>
          <p:nvPr/>
        </p:nvSpPr>
        <p:spPr>
          <a:xfrm>
            <a:off x="2161786" y="3791240"/>
            <a:ext cx="720595" cy="383019"/>
          </a:xfrm>
          <a:prstGeom prst="roundRect">
            <a:avLst/>
          </a:prstGeom>
          <a:solidFill>
            <a:srgbClr val="FFEBD8"/>
          </a:solidFill>
          <a:ln w="12983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2194245" y="3849667"/>
            <a:ext cx="655676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4" b="0" i="0">
                <a:solidFill>
                  <a:srgbClr val="111820"/>
                </a:solidFill>
                <a:latin typeface="Arial"/>
              </a:rPr>
              <a:t>Fusion</a:t>
            </a:r>
          </a:p>
        </p:txBody>
      </p:sp>
      <p:sp>
        <p:nvSpPr>
          <p:cNvPr id="310" name="Rounded Rectangle 309"/>
          <p:cNvSpPr/>
          <p:nvPr/>
        </p:nvSpPr>
        <p:spPr>
          <a:xfrm>
            <a:off x="2161786" y="4985741"/>
            <a:ext cx="720595" cy="383019"/>
          </a:xfrm>
          <a:prstGeom prst="roundRect">
            <a:avLst/>
          </a:prstGeom>
          <a:solidFill>
            <a:srgbClr val="FFEBD8"/>
          </a:solidFill>
          <a:ln w="12983">
            <a:solidFill>
              <a:srgbClr val="10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2194245" y="5044167"/>
            <a:ext cx="655676" cy="25967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24" b="0" i="0">
                <a:solidFill>
                  <a:srgbClr val="111820"/>
                </a:solidFill>
                <a:latin typeface="Arial"/>
              </a:rPr>
              <a:t>Fusion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350559" y="3038186"/>
            <a:ext cx="973777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4" b="0" i="1">
                <a:solidFill>
                  <a:srgbClr val="8A8B8B"/>
                </a:solidFill>
                <a:latin typeface="Times New Roman"/>
              </a:rPr>
              <a:t>C×H×W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350559" y="3615960"/>
            <a:ext cx="973777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4" b="0" i="1">
                <a:solidFill>
                  <a:srgbClr val="8A8B8B"/>
                </a:solidFill>
                <a:latin typeface="Times New Roman"/>
              </a:rPr>
              <a:t>C×H×W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350559" y="4226194"/>
            <a:ext cx="973777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4" b="0" i="1">
                <a:solidFill>
                  <a:srgbClr val="8A8B8B"/>
                </a:solidFill>
                <a:latin typeface="Times New Roman"/>
              </a:rPr>
              <a:t>C×H×W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350559" y="4823444"/>
            <a:ext cx="973777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4" b="0" i="1">
                <a:solidFill>
                  <a:srgbClr val="8A8B8B"/>
                </a:solidFill>
                <a:latin typeface="Times New Roman"/>
              </a:rPr>
              <a:t>2C×H/2×W/2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350559" y="5427187"/>
            <a:ext cx="973777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4" b="0" i="1">
                <a:solidFill>
                  <a:srgbClr val="8A8B8B"/>
                </a:solidFill>
                <a:latin typeface="Times New Roman"/>
              </a:rPr>
              <a:t>2C×H/2×W/2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992998" y="3589993"/>
            <a:ext cx="973777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4" b="0" i="1">
                <a:solidFill>
                  <a:srgbClr val="8A8B8B"/>
                </a:solidFill>
                <a:latin typeface="Times New Roman"/>
              </a:rPr>
              <a:t>C×H×W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1992998" y="4790985"/>
            <a:ext cx="973777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4" b="0" i="1">
                <a:solidFill>
                  <a:srgbClr val="8A8B8B"/>
                </a:solidFill>
                <a:latin typeface="Times New Roman"/>
              </a:rPr>
              <a:t>2C×H/2×W/2</a:t>
            </a:r>
          </a:p>
        </p:txBody>
      </p:sp>
      <p:sp>
        <p:nvSpPr>
          <p:cNvPr id="319" name="TextBox 318"/>
          <p:cNvSpPr txBox="1"/>
          <p:nvPr/>
        </p:nvSpPr>
        <p:spPr>
          <a:xfrm>
            <a:off x="1992998" y="4161276"/>
            <a:ext cx="973777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4" b="0" i="1">
                <a:solidFill>
                  <a:srgbClr val="8A8B8B"/>
                </a:solidFill>
                <a:latin typeface="Times New Roman"/>
              </a:rPr>
              <a:t>C×H×W</a:t>
            </a:r>
          </a:p>
        </p:txBody>
      </p:sp>
      <p:sp>
        <p:nvSpPr>
          <p:cNvPr id="320" name="TextBox 319"/>
          <p:cNvSpPr txBox="1"/>
          <p:nvPr/>
        </p:nvSpPr>
        <p:spPr>
          <a:xfrm>
            <a:off x="1992998" y="5388235"/>
            <a:ext cx="973777" cy="1558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64" b="0" i="1">
                <a:solidFill>
                  <a:srgbClr val="8A8B8B"/>
                </a:solidFill>
                <a:latin typeface="Times New Roman"/>
              </a:rPr>
              <a:t>2C×H/2×W/2</a:t>
            </a:r>
          </a:p>
        </p:txBody>
      </p:sp>
      <p:sp>
        <p:nvSpPr>
          <p:cNvPr id="321" name="Rectangle 320"/>
          <p:cNvSpPr/>
          <p:nvPr/>
        </p:nvSpPr>
        <p:spPr>
          <a:xfrm>
            <a:off x="4790985" y="4667640"/>
            <a:ext cx="6926804" cy="1889128"/>
          </a:xfrm>
          <a:prstGeom prst="rect">
            <a:avLst/>
          </a:prstGeom>
          <a:noFill/>
          <a:ln w="12983">
            <a:solidFill>
              <a:srgbClr val="1515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2" name="Connector 321"/>
          <p:cNvCxnSpPr/>
          <p:nvPr/>
        </p:nvCxnSpPr>
        <p:spPr>
          <a:xfrm>
            <a:off x="4661148" y="5706336"/>
            <a:ext cx="363544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Isosceles Triangle 322"/>
          <p:cNvSpPr/>
          <p:nvPr/>
        </p:nvSpPr>
        <p:spPr>
          <a:xfrm rot="16200000">
            <a:off x="4997426" y="5679070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ounded Rectangle 323"/>
          <p:cNvSpPr/>
          <p:nvPr/>
        </p:nvSpPr>
        <p:spPr>
          <a:xfrm>
            <a:off x="5024692" y="5440170"/>
            <a:ext cx="279149" cy="532331"/>
          </a:xfrm>
          <a:prstGeom prst="roundRect">
            <a:avLst/>
          </a:prstGeom>
          <a:solidFill>
            <a:srgbClr val="FBFFFF"/>
          </a:solidFill>
          <a:ln w="16229">
            <a:solidFill>
              <a:srgbClr val="12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 rot="5400000">
            <a:off x="5083118" y="5511581"/>
            <a:ext cx="162296" cy="35705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2" b="0" i="0">
                <a:solidFill>
                  <a:srgbClr val="111820"/>
                </a:solidFill>
                <a:latin typeface="Arial"/>
              </a:rPr>
              <a:t>LN</a:t>
            </a:r>
          </a:p>
        </p:txBody>
      </p:sp>
      <p:cxnSp>
        <p:nvCxnSpPr>
          <p:cNvPr id="326" name="Connector 325"/>
          <p:cNvCxnSpPr/>
          <p:nvPr/>
        </p:nvCxnSpPr>
        <p:spPr>
          <a:xfrm>
            <a:off x="5303841" y="5706336"/>
            <a:ext cx="188264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5492105" y="5096102"/>
            <a:ext cx="0" cy="610234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5492105" y="5706336"/>
            <a:ext cx="0" cy="681644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5492105" y="5096102"/>
            <a:ext cx="227215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Isosceles Triangle 329"/>
          <p:cNvSpPr/>
          <p:nvPr/>
        </p:nvSpPr>
        <p:spPr>
          <a:xfrm rot="16200000">
            <a:off x="5692054" y="5068836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>
            <a:off x="5492105" y="5706336"/>
            <a:ext cx="227215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Isosceles Triangle 331"/>
          <p:cNvSpPr/>
          <p:nvPr/>
        </p:nvSpPr>
        <p:spPr>
          <a:xfrm rot="16200000">
            <a:off x="5692054" y="5679070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3" name="Connector 332"/>
          <p:cNvCxnSpPr/>
          <p:nvPr/>
        </p:nvCxnSpPr>
        <p:spPr>
          <a:xfrm>
            <a:off x="5492105" y="6387980"/>
            <a:ext cx="227215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4" name="Isosceles Triangle 333"/>
          <p:cNvSpPr/>
          <p:nvPr/>
        </p:nvSpPr>
        <p:spPr>
          <a:xfrm rot="16200000">
            <a:off x="5692054" y="6360715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ounded Rectangle 334"/>
          <p:cNvSpPr/>
          <p:nvPr/>
        </p:nvSpPr>
        <p:spPr>
          <a:xfrm>
            <a:off x="5719320" y="4829936"/>
            <a:ext cx="285641" cy="532331"/>
          </a:xfrm>
          <a:prstGeom prst="roundRect">
            <a:avLst/>
          </a:prstGeom>
          <a:solidFill>
            <a:srgbClr val="FBFFFF"/>
          </a:solidFill>
          <a:ln w="16229">
            <a:solidFill>
              <a:srgbClr val="12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TextBox 335"/>
          <p:cNvSpPr txBox="1"/>
          <p:nvPr/>
        </p:nvSpPr>
        <p:spPr>
          <a:xfrm>
            <a:off x="5764763" y="4966265"/>
            <a:ext cx="201247" cy="2077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Arial"/>
              </a:rPr>
              <a:t>1×1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6134798" y="4972757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75" b="0" i="0">
                <a:solidFill>
                  <a:srgbClr val="111820"/>
                </a:solidFill>
                <a:latin typeface="Times New Roman"/>
              </a:rPr>
              <a:t>Q</a:t>
            </a:r>
          </a:p>
        </p:txBody>
      </p:sp>
      <p:sp>
        <p:nvSpPr>
          <p:cNvPr id="338" name="Rounded Rectangle 337"/>
          <p:cNvSpPr/>
          <p:nvPr/>
        </p:nvSpPr>
        <p:spPr>
          <a:xfrm>
            <a:off x="5719320" y="5492105"/>
            <a:ext cx="285641" cy="532331"/>
          </a:xfrm>
          <a:prstGeom prst="roundRect">
            <a:avLst/>
          </a:prstGeom>
          <a:solidFill>
            <a:srgbClr val="FBFFFF"/>
          </a:solidFill>
          <a:ln w="16229">
            <a:solidFill>
              <a:srgbClr val="12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5764763" y="5628434"/>
            <a:ext cx="201247" cy="2077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Arial"/>
              </a:rPr>
              <a:t>1×1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6134798" y="5634926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75" b="0" i="0">
                <a:solidFill>
                  <a:srgbClr val="111820"/>
                </a:solidFill>
                <a:latin typeface="Times New Roman"/>
              </a:rPr>
              <a:t>K</a:t>
            </a:r>
          </a:p>
        </p:txBody>
      </p:sp>
      <p:sp>
        <p:nvSpPr>
          <p:cNvPr id="341" name="Rounded Rectangle 340"/>
          <p:cNvSpPr/>
          <p:nvPr/>
        </p:nvSpPr>
        <p:spPr>
          <a:xfrm>
            <a:off x="5719320" y="6147782"/>
            <a:ext cx="285641" cy="532331"/>
          </a:xfrm>
          <a:prstGeom prst="roundRect">
            <a:avLst/>
          </a:prstGeom>
          <a:solidFill>
            <a:srgbClr val="FBFFFF"/>
          </a:solidFill>
          <a:ln w="16229">
            <a:solidFill>
              <a:srgbClr val="12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5764763" y="6284111"/>
            <a:ext cx="201247" cy="2077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Arial"/>
              </a:rPr>
              <a:t>1×1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6134798" y="6290603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75" b="0" i="0">
                <a:solidFill>
                  <a:srgbClr val="111820"/>
                </a:solidFill>
                <a:latin typeface="Times New Roman"/>
              </a:rPr>
              <a:t>V</a:t>
            </a:r>
          </a:p>
        </p:txBody>
      </p:sp>
      <p:cxnSp>
        <p:nvCxnSpPr>
          <p:cNvPr id="344" name="Connector 343"/>
          <p:cNvCxnSpPr/>
          <p:nvPr/>
        </p:nvCxnSpPr>
        <p:spPr>
          <a:xfrm>
            <a:off x="6004961" y="5096102"/>
            <a:ext cx="532332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>
            <a:off x="6004961" y="5758271"/>
            <a:ext cx="259674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 flipV="1">
            <a:off x="6264635" y="5096102"/>
            <a:ext cx="0" cy="662169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>
            <a:off x="6264635" y="5096102"/>
            <a:ext cx="272658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8" name="Isosceles Triangle 347"/>
          <p:cNvSpPr/>
          <p:nvPr/>
        </p:nvSpPr>
        <p:spPr>
          <a:xfrm rot="16200000">
            <a:off x="6510027" y="5068836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6459391" y="5284366"/>
            <a:ext cx="207739" cy="207739"/>
          </a:xfrm>
          <a:prstGeom prst="ellipse">
            <a:avLst/>
          </a:prstGeom>
          <a:solidFill>
            <a:srgbClr val="FAFAFA"/>
          </a:solidFill>
          <a:ln w="12983"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6465883" y="5290858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75" b="0" i="0">
                <a:solidFill>
                  <a:srgbClr val="111820"/>
                </a:solidFill>
                <a:latin typeface="Arial"/>
              </a:rPr>
              <a:t>×</a:t>
            </a:r>
          </a:p>
        </p:txBody>
      </p:sp>
      <p:cxnSp>
        <p:nvCxnSpPr>
          <p:cNvPr id="351" name="Connector 350"/>
          <p:cNvCxnSpPr/>
          <p:nvPr/>
        </p:nvCxnSpPr>
        <p:spPr>
          <a:xfrm>
            <a:off x="6667130" y="5388235"/>
            <a:ext cx="162296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Isosceles Triangle 351"/>
          <p:cNvSpPr/>
          <p:nvPr/>
        </p:nvSpPr>
        <p:spPr>
          <a:xfrm rot="16200000">
            <a:off x="6802160" y="5360970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6264635" y="4875379"/>
            <a:ext cx="454429" cy="142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66" b="0" i="1">
                <a:solidFill>
                  <a:srgbClr val="8C8C8C"/>
                </a:solidFill>
                <a:latin typeface="Times New Roman"/>
              </a:rPr>
              <a:t>C×C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6842410" y="5109086"/>
            <a:ext cx="798497" cy="798497"/>
          </a:xfrm>
          <a:prstGeom prst="rect">
            <a:avLst/>
          </a:prstGeom>
          <a:solidFill>
            <a:srgbClr val="DAD9D1"/>
          </a:solidFill>
          <a:ln w="6491">
            <a:solidFill>
              <a:srgbClr val="616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6842410" y="5109086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6931132" y="5109086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7019854" y="5109086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7108576" y="5109086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7197298" y="5109086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7286020" y="5109086"/>
            <a:ext cx="90669" cy="906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7374742" y="5109086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7463464" y="5109086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7552186" y="5109086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6842410" y="5197808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6931132" y="5197808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7019854" y="5197808"/>
            <a:ext cx="90669" cy="906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7108576" y="5197808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7197298" y="5197808"/>
            <a:ext cx="90669" cy="906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7286020" y="5197808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7374742" y="5197808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7463464" y="5197808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7552186" y="5197808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6842410" y="5286530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6931132" y="5286530"/>
            <a:ext cx="90669" cy="906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7019854" y="5286530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7108576" y="5286530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7197298" y="5286530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7286020" y="5286530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7374742" y="5286530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7463464" y="5286530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7552186" y="5286530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6842410" y="5375252"/>
            <a:ext cx="90669" cy="906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6931132" y="5375252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7019854" y="5375252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7108576" y="5375252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7197298" y="5375252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7286020" y="5375252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7374742" y="5375252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7463464" y="5375252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7552186" y="5375252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6842410" y="5463974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6931132" y="5463974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7019854" y="5463974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7108576" y="5463974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7197298" y="5463974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7286020" y="5463974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7374742" y="5463974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7463464" y="5463974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7552186" y="5463974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6842410" y="5552696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6931132" y="5552696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7019854" y="5552696"/>
            <a:ext cx="90669" cy="906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7108576" y="5552696"/>
            <a:ext cx="90669" cy="906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7197298" y="5552696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7286020" y="5552696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7374742" y="5552696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7463464" y="5552696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7552186" y="5552696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6842410" y="5641418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6931132" y="5641418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7019854" y="5641418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7108576" y="5641418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7197298" y="5641418"/>
            <a:ext cx="90669" cy="906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7286020" y="5641418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7374742" y="5641418"/>
            <a:ext cx="90669" cy="906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7463464" y="5641418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7552186" y="5641418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6842410" y="5730140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6931132" y="5730140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7019854" y="5730140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7108576" y="5730140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7197298" y="5730140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7286020" y="5730140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7374742" y="5730140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7463464" y="5730140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7552186" y="5730140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6842410" y="5818861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6931132" y="5818861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7019854" y="5818861"/>
            <a:ext cx="90669" cy="906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7108576" y="5818861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7197298" y="5818861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7286020" y="5818861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7374742" y="5818861"/>
            <a:ext cx="90669" cy="906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7463464" y="5818861"/>
            <a:ext cx="90669" cy="906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7552186" y="5818861"/>
            <a:ext cx="90669" cy="906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6" name="Connector 435"/>
          <p:cNvCxnSpPr/>
          <p:nvPr/>
        </p:nvCxnSpPr>
        <p:spPr>
          <a:xfrm>
            <a:off x="7640908" y="5511581"/>
            <a:ext cx="259674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Isosceles Triangle 436"/>
          <p:cNvSpPr/>
          <p:nvPr/>
        </p:nvSpPr>
        <p:spPr>
          <a:xfrm rot="16200000">
            <a:off x="7873316" y="5484315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ounded Rectangle 437"/>
          <p:cNvSpPr/>
          <p:nvPr/>
        </p:nvSpPr>
        <p:spPr>
          <a:xfrm>
            <a:off x="7907073" y="5135053"/>
            <a:ext cx="279149" cy="532331"/>
          </a:xfrm>
          <a:prstGeom prst="roundRect">
            <a:avLst/>
          </a:prstGeom>
          <a:solidFill>
            <a:srgbClr val="FBFFFF"/>
          </a:solidFill>
          <a:ln w="16229">
            <a:solidFill>
              <a:srgbClr val="12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 rot="5400000">
            <a:off x="7965500" y="5225939"/>
            <a:ext cx="162296" cy="35705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68" b="0" i="0">
                <a:solidFill>
                  <a:srgbClr val="111820"/>
                </a:solidFill>
                <a:latin typeface="Arial"/>
              </a:rPr>
              <a:t>Mask</a:t>
            </a:r>
          </a:p>
        </p:txBody>
      </p:sp>
      <p:sp>
        <p:nvSpPr>
          <p:cNvPr id="440" name="Rectangle 439"/>
          <p:cNvSpPr/>
          <p:nvPr/>
        </p:nvSpPr>
        <p:spPr>
          <a:xfrm>
            <a:off x="8244650" y="4933806"/>
            <a:ext cx="623217" cy="577774"/>
          </a:xfrm>
          <a:prstGeom prst="rect">
            <a:avLst/>
          </a:prstGeom>
          <a:solidFill>
            <a:srgbClr val="DAD9D1"/>
          </a:solidFill>
          <a:ln w="6491">
            <a:solidFill>
              <a:srgbClr val="616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8244650" y="4933806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8322552" y="4933806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8400454" y="4933806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8478356" y="4933806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8556258" y="4933806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8634161" y="4933806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8712063" y="4933806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8789965" y="4933806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8244650" y="5006028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8322552" y="5006028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8400454" y="5006028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8478356" y="5006028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8556258" y="5006028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8634161" y="5006028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8712063" y="5006028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8789965" y="5006028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8244650" y="5078250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8322552" y="5078250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8400454" y="5078250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8478356" y="5078250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8556258" y="5078250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8634161" y="5078250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8712063" y="5078250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8789965" y="5078250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8244650" y="5150471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8322552" y="5150471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8400454" y="515047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8478356" y="5150471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8556258" y="515047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8634161" y="515047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8712063" y="5150471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8789965" y="5150471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8244650" y="522269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8322552" y="522269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8400454" y="5222693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8478356" y="522269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8556258" y="522269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8634161" y="522269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8712063" y="5222693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8789965" y="5222693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8244650" y="5294915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8322552" y="5294915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8400454" y="5294915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8478356" y="5294915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8556258" y="5294915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8634161" y="5294915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8712063" y="5294915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8789965" y="5294915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8244650" y="5367137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8322552" y="5367137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8400454" y="5367137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8478356" y="5367137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8556258" y="5367137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8634161" y="5367137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8712063" y="5367137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8789965" y="5367137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8244650" y="5439359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8322552" y="5439359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8400454" y="5439359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8478356" y="5439359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8556258" y="5439359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8634161" y="5439359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8712063" y="5439359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8789965" y="5439359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8355011" y="4985741"/>
            <a:ext cx="623217" cy="577774"/>
          </a:xfrm>
          <a:prstGeom prst="rect">
            <a:avLst/>
          </a:prstGeom>
          <a:solidFill>
            <a:srgbClr val="DAD9D1"/>
          </a:solidFill>
          <a:ln w="6491">
            <a:solidFill>
              <a:srgbClr val="616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8355011" y="498574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8432913" y="498574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8510815" y="4985741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8588718" y="498574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8666620" y="4985741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8744522" y="4985741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8822424" y="498574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8900327" y="498574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8355011" y="5057963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8432913" y="505796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8510815" y="5057963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8588718" y="505796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8666620" y="505796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8744522" y="505796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8822424" y="5057963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8900327" y="505796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8355011" y="5130184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8432913" y="5130184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8510815" y="5130184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8588718" y="5130184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8666620" y="5130184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8744522" y="5130184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8822424" y="5130184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8900327" y="5130184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8355011" y="5202406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8432913" y="5202406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8510815" y="5202406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8588718" y="5202406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8666620" y="5202406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8744522" y="5202406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8822424" y="5202406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8900327" y="5202406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8355011" y="5274628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8432913" y="5274628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8510815" y="5274628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588718" y="5274628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8666620" y="5274628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8744522" y="5274628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8822424" y="5274628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8900327" y="5274628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8355011" y="5346850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8432913" y="5346850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8510815" y="5346850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8588718" y="5346850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8666620" y="5346850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8744522" y="5346850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8822424" y="5346850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8900327" y="5346850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8355011" y="5419072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8432913" y="5419072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8510815" y="5419072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8588718" y="5419072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8666620" y="5419072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8744522" y="5419072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8822424" y="5419072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8900327" y="5419072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8355011" y="5491294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8432913" y="5491294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8510815" y="5491294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8588718" y="5491294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8666620" y="5491294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8744522" y="5491294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8822424" y="5491294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8900327" y="5491294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8465373" y="5037675"/>
            <a:ext cx="623217" cy="577774"/>
          </a:xfrm>
          <a:prstGeom prst="rect">
            <a:avLst/>
          </a:prstGeom>
          <a:solidFill>
            <a:srgbClr val="DAD9D1"/>
          </a:solidFill>
          <a:ln w="6491">
            <a:solidFill>
              <a:srgbClr val="6165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8465373" y="5037675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8543275" y="5037675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8621177" y="5037675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8699079" y="5037675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8776981" y="5037675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8854884" y="5037675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8932786" y="5037675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9010688" y="5037675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8465373" y="5109897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8543275" y="5109897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8621177" y="5109897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8699079" y="5109897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8776981" y="5109897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8854884" y="5109897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8932786" y="5109897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9010688" y="5109897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8465373" y="5182119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8543275" y="5182119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8621177" y="5182119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8699079" y="5182119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8776981" y="5182119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8854884" y="5182119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8932786" y="5182119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9010688" y="5182119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8465373" y="525434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8543275" y="525434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8621177" y="525434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8699079" y="525434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8776981" y="525434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8854884" y="525434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8932786" y="525434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9010688" y="5254341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8465373" y="532656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8543275" y="532656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8621177" y="532656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8699079" y="5326563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8776981" y="532656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8854884" y="5326563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8932786" y="5326563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9010688" y="5326563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8465373" y="5398785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8543275" y="5398785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8621177" y="5398785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8699079" y="5398785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8776981" y="5398785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8854884" y="5398785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8932786" y="5398785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9010688" y="5398785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8465373" y="5471006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8543275" y="5471006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8621177" y="5471006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8699079" y="5471006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8776981" y="5471006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8854884" y="5471006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8932786" y="5471006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9010688" y="5471006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8465373" y="5543228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8543275" y="5543228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8621177" y="5543228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8699079" y="5543228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8776981" y="5543228"/>
            <a:ext cx="79849" cy="74169"/>
          </a:xfrm>
          <a:prstGeom prst="rect">
            <a:avLst/>
          </a:prstGeom>
          <a:solidFill>
            <a:srgbClr val="6D77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8854884" y="5543228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8932786" y="5543228"/>
            <a:ext cx="79849" cy="74169"/>
          </a:xfrm>
          <a:prstGeom prst="rect">
            <a:avLst/>
          </a:prstGeom>
          <a:solidFill>
            <a:srgbClr val="384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9010688" y="5543228"/>
            <a:ext cx="79849" cy="74169"/>
          </a:xfrm>
          <a:prstGeom prst="rect">
            <a:avLst/>
          </a:prstGeom>
          <a:solidFill>
            <a:srgbClr val="ECE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5" name="Connector 634"/>
          <p:cNvCxnSpPr/>
          <p:nvPr/>
        </p:nvCxnSpPr>
        <p:spPr>
          <a:xfrm>
            <a:off x="8880851" y="5453154"/>
            <a:ext cx="506364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6" name="Isosceles Triangle 635"/>
          <p:cNvSpPr/>
          <p:nvPr/>
        </p:nvSpPr>
        <p:spPr>
          <a:xfrm rot="16200000">
            <a:off x="9359950" y="5425888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ounded Rectangle 636"/>
          <p:cNvSpPr/>
          <p:nvPr/>
        </p:nvSpPr>
        <p:spPr>
          <a:xfrm>
            <a:off x="9393707" y="4914330"/>
            <a:ext cx="279149" cy="798497"/>
          </a:xfrm>
          <a:prstGeom prst="roundRect">
            <a:avLst/>
          </a:prstGeom>
          <a:solidFill>
            <a:srgbClr val="FBFFFF"/>
          </a:solidFill>
          <a:ln w="16229">
            <a:solidFill>
              <a:srgbClr val="12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TextBox 637"/>
          <p:cNvSpPr txBox="1"/>
          <p:nvPr/>
        </p:nvSpPr>
        <p:spPr>
          <a:xfrm rot="5400000">
            <a:off x="9445642" y="5096102"/>
            <a:ext cx="162296" cy="48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Arial"/>
              </a:rPr>
              <a:t>Softmax</a:t>
            </a:r>
          </a:p>
        </p:txBody>
      </p:sp>
      <p:cxnSp>
        <p:nvCxnSpPr>
          <p:cNvPr id="639" name="Connector 638"/>
          <p:cNvCxnSpPr/>
          <p:nvPr/>
        </p:nvCxnSpPr>
        <p:spPr>
          <a:xfrm>
            <a:off x="6004961" y="6420440"/>
            <a:ext cx="4109342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>
            <a:off x="9672857" y="5316825"/>
            <a:ext cx="441446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1" name="Connector 640"/>
          <p:cNvCxnSpPr/>
          <p:nvPr/>
        </p:nvCxnSpPr>
        <p:spPr>
          <a:xfrm>
            <a:off x="10114303" y="5316825"/>
            <a:ext cx="0" cy="1103615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Isosceles Triangle 641"/>
          <p:cNvSpPr/>
          <p:nvPr/>
        </p:nvSpPr>
        <p:spPr>
          <a:xfrm>
            <a:off x="10087037" y="6393174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10010433" y="6316570"/>
            <a:ext cx="207739" cy="207739"/>
          </a:xfrm>
          <a:prstGeom prst="ellipse">
            <a:avLst/>
          </a:prstGeom>
          <a:solidFill>
            <a:srgbClr val="FAFAFA"/>
          </a:solidFill>
          <a:ln w="12983"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TextBox 643"/>
          <p:cNvSpPr txBox="1"/>
          <p:nvPr/>
        </p:nvSpPr>
        <p:spPr>
          <a:xfrm>
            <a:off x="10016925" y="6323062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75" b="0" i="0">
                <a:solidFill>
                  <a:srgbClr val="111820"/>
                </a:solidFill>
                <a:latin typeface="Arial"/>
              </a:rPr>
              <a:t>×</a:t>
            </a:r>
          </a:p>
        </p:txBody>
      </p:sp>
      <p:cxnSp>
        <p:nvCxnSpPr>
          <p:cNvPr id="645" name="Connector 644"/>
          <p:cNvCxnSpPr/>
          <p:nvPr/>
        </p:nvCxnSpPr>
        <p:spPr>
          <a:xfrm>
            <a:off x="10218172" y="6420440"/>
            <a:ext cx="311609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6" name="Isosceles Triangle 645"/>
          <p:cNvSpPr/>
          <p:nvPr/>
        </p:nvSpPr>
        <p:spPr>
          <a:xfrm rot="16200000">
            <a:off x="10502515" y="6393174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10523289" y="6316570"/>
            <a:ext cx="207739" cy="207739"/>
          </a:xfrm>
          <a:prstGeom prst="ellipse">
            <a:avLst/>
          </a:prstGeom>
          <a:solidFill>
            <a:srgbClr val="FAFAFA"/>
          </a:solidFill>
          <a:ln w="12983">
            <a:solidFill>
              <a:srgbClr val="111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TextBox 647"/>
          <p:cNvSpPr txBox="1"/>
          <p:nvPr/>
        </p:nvSpPr>
        <p:spPr>
          <a:xfrm>
            <a:off x="10529781" y="6323062"/>
            <a:ext cx="194755" cy="1947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22" b="0" i="0">
                <a:solidFill>
                  <a:srgbClr val="111820"/>
                </a:solidFill>
                <a:latin typeface="Times New Roman"/>
              </a:rPr>
              <a:t>Σ</a:t>
            </a:r>
          </a:p>
        </p:txBody>
      </p:sp>
      <p:cxnSp>
        <p:nvCxnSpPr>
          <p:cNvPr id="649" name="Connector 648"/>
          <p:cNvCxnSpPr/>
          <p:nvPr/>
        </p:nvCxnSpPr>
        <p:spPr>
          <a:xfrm>
            <a:off x="10731028" y="6420440"/>
            <a:ext cx="428462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0" name="Isosceles Triangle 649"/>
          <p:cNvSpPr/>
          <p:nvPr/>
        </p:nvSpPr>
        <p:spPr>
          <a:xfrm rot="16200000">
            <a:off x="11132225" y="6393174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ounded Rectangle 650"/>
          <p:cNvSpPr/>
          <p:nvPr/>
        </p:nvSpPr>
        <p:spPr>
          <a:xfrm>
            <a:off x="11165982" y="6147782"/>
            <a:ext cx="279149" cy="532331"/>
          </a:xfrm>
          <a:prstGeom prst="roundRect">
            <a:avLst/>
          </a:prstGeom>
          <a:solidFill>
            <a:srgbClr val="FBFFFF"/>
          </a:solidFill>
          <a:ln w="16229">
            <a:solidFill>
              <a:srgbClr val="123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TextBox 651"/>
          <p:cNvSpPr txBox="1"/>
          <p:nvPr/>
        </p:nvSpPr>
        <p:spPr>
          <a:xfrm>
            <a:off x="11224409" y="6284111"/>
            <a:ext cx="162296" cy="35705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20" b="0" i="0">
                <a:solidFill>
                  <a:srgbClr val="111820"/>
                </a:solidFill>
                <a:latin typeface="Arial"/>
              </a:rPr>
              <a:t>1×1</a:t>
            </a:r>
          </a:p>
        </p:txBody>
      </p:sp>
      <p:cxnSp>
        <p:nvCxnSpPr>
          <p:cNvPr id="653" name="Connector 652"/>
          <p:cNvCxnSpPr/>
          <p:nvPr/>
        </p:nvCxnSpPr>
        <p:spPr>
          <a:xfrm>
            <a:off x="11445132" y="6420440"/>
            <a:ext cx="525840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Isosceles Triangle 653"/>
          <p:cNvSpPr/>
          <p:nvPr/>
        </p:nvSpPr>
        <p:spPr>
          <a:xfrm rot="16200000">
            <a:off x="11943706" y="6393174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TextBox 654"/>
          <p:cNvSpPr txBox="1"/>
          <p:nvPr/>
        </p:nvSpPr>
        <p:spPr>
          <a:xfrm>
            <a:off x="11977464" y="6336046"/>
            <a:ext cx="486888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66" b="0" i="1">
                <a:solidFill>
                  <a:srgbClr val="8C8C8C"/>
                </a:solidFill>
                <a:latin typeface="Times New Roman"/>
              </a:rPr>
              <a:t>C×H×W</a:t>
            </a:r>
          </a:p>
        </p:txBody>
      </p:sp>
      <p:cxnSp>
        <p:nvCxnSpPr>
          <p:cNvPr id="656" name="Connector 655"/>
          <p:cNvCxnSpPr/>
          <p:nvPr/>
        </p:nvCxnSpPr>
        <p:spPr>
          <a:xfrm flipV="1">
            <a:off x="4661148" y="4778001"/>
            <a:ext cx="0" cy="928335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4661148" y="4778001"/>
            <a:ext cx="7056642" cy="0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11717790" y="4778001"/>
            <a:ext cx="0" cy="1642439"/>
          </a:xfrm>
          <a:prstGeom prst="line">
            <a:avLst/>
          </a:prstGeom>
          <a:ln w="12983">
            <a:solidFill>
              <a:srgbClr val="1118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Isosceles Triangle 658"/>
          <p:cNvSpPr/>
          <p:nvPr/>
        </p:nvSpPr>
        <p:spPr>
          <a:xfrm>
            <a:off x="11690524" y="6393174"/>
            <a:ext cx="54531" cy="54531"/>
          </a:xfrm>
          <a:prstGeom prst="triangle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TextBox 659"/>
          <p:cNvSpPr txBox="1"/>
          <p:nvPr/>
        </p:nvSpPr>
        <p:spPr>
          <a:xfrm>
            <a:off x="4511836" y="5790730"/>
            <a:ext cx="584266" cy="1622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715" b="0" i="1">
                <a:solidFill>
                  <a:srgbClr val="8A8A8A"/>
                </a:solidFill>
                <a:latin typeface="Times New Roman"/>
              </a:rPr>
              <a:t>C×H×W</a:t>
            </a:r>
          </a:p>
        </p:txBody>
      </p:sp>
      <p:sp>
        <p:nvSpPr>
          <p:cNvPr id="661" name="TextBox 660"/>
          <p:cNvSpPr txBox="1"/>
          <p:nvPr/>
        </p:nvSpPr>
        <p:spPr>
          <a:xfrm>
            <a:off x="6017945" y="4700099"/>
            <a:ext cx="584266" cy="142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66" b="0" i="1">
                <a:solidFill>
                  <a:srgbClr val="8A8A8A"/>
                </a:solidFill>
                <a:latin typeface="Times New Roman"/>
              </a:rPr>
              <a:t>C×H×W</a:t>
            </a:r>
          </a:p>
        </p:txBody>
      </p:sp>
      <p:sp>
        <p:nvSpPr>
          <p:cNvPr id="662" name="TextBox 661"/>
          <p:cNvSpPr txBox="1"/>
          <p:nvPr/>
        </p:nvSpPr>
        <p:spPr>
          <a:xfrm>
            <a:off x="5972502" y="5816698"/>
            <a:ext cx="584266" cy="142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66" b="0" i="1">
                <a:solidFill>
                  <a:srgbClr val="8A8A8A"/>
                </a:solidFill>
                <a:latin typeface="Times New Roman"/>
              </a:rPr>
              <a:t>C×H×W</a:t>
            </a:r>
          </a:p>
        </p:txBody>
      </p:sp>
      <p:sp>
        <p:nvSpPr>
          <p:cNvPr id="663" name="TextBox 662"/>
          <p:cNvSpPr txBox="1"/>
          <p:nvPr/>
        </p:nvSpPr>
        <p:spPr>
          <a:xfrm>
            <a:off x="6017945" y="6478866"/>
            <a:ext cx="584266" cy="1428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66" b="0" i="1">
                <a:solidFill>
                  <a:srgbClr val="8A8A8A"/>
                </a:solidFill>
                <a:latin typeface="Times New Roman"/>
              </a:rPr>
              <a:t>C×H×W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Spectral Compressive Imaging via Chromaticity-Intensity Decomposi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1693" cy="6732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