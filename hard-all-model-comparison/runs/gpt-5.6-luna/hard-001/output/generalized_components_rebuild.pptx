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705262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052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997" y="108797"/>
            <a:ext cx="12044498" cy="3583910"/>
          </a:xfrm>
          <a:prstGeom prst="roundRect">
            <a:avLst/>
          </a:prstGeom>
          <a:noFill/>
          <a:ln w="19050">
            <a:solidFill>
              <a:srgbClr val="211D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397" y="4121496"/>
            <a:ext cx="12038099" cy="2822329"/>
          </a:xfrm>
          <a:prstGeom prst="roundRect">
            <a:avLst/>
          </a:prstGeom>
          <a:solidFill>
            <a:srgbClr val="FFF2F2"/>
          </a:solidFill>
          <a:ln w="19050">
            <a:solidFill>
              <a:srgbClr val="211D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2795" y="774380"/>
            <a:ext cx="5951851" cy="2911927"/>
          </a:xfrm>
          <a:prstGeom prst="rect">
            <a:avLst/>
          </a:prstGeom>
          <a:solidFill>
            <a:srgbClr val="F2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18247" y="774380"/>
            <a:ext cx="5971050" cy="2911927"/>
          </a:xfrm>
          <a:prstGeom prst="rect">
            <a:avLst/>
          </a:prstGeom>
          <a:solidFill>
            <a:srgbClr val="E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2397" y="3699107"/>
            <a:ext cx="11993300" cy="0"/>
          </a:xfrm>
          <a:prstGeom prst="line">
            <a:avLst/>
          </a:prstGeom>
          <a:ln w="19050">
            <a:solidFill>
              <a:srgbClr val="211D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397" y="4121496"/>
            <a:ext cx="11993300" cy="0"/>
          </a:xfrm>
          <a:prstGeom prst="line">
            <a:avLst/>
          </a:prstGeom>
          <a:ln w="19050">
            <a:solidFill>
              <a:srgbClr val="211D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1592" y="211194"/>
            <a:ext cx="3327916" cy="371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65" b="1" i="0">
                <a:solidFill>
                  <a:srgbClr val="0B0B0B"/>
                </a:solidFill>
                <a:latin typeface="Liberation Mono"/>
              </a:rPr>
              <a:t>Sample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5905" y="147196"/>
            <a:ext cx="8095797" cy="2943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13" b="1">
                <a:solidFill>
                  <a:srgbClr val="0B0B0B"/>
                </a:solidFill>
                <a:latin typeface="Liberation Mono"/>
              </a:rPr>
              <a:t>Explore the effect of </a:t>
            </a:r>
            <a:r>
              <a:rPr sz="1713" b="1">
                <a:solidFill>
                  <a:srgbClr val="C9232D"/>
                </a:solidFill>
                <a:latin typeface="Liberation Mono"/>
              </a:rPr>
              <a:t>triggers</a:t>
            </a:r>
            <a:r>
              <a:rPr sz="1713" b="1">
                <a:solidFill>
                  <a:srgbClr val="0B0B0B"/>
                </a:solidFill>
                <a:latin typeface="Liberation Mono"/>
              </a:rPr>
              <a:t> on </a:t>
            </a:r>
            <a:r>
              <a:rPr sz="1713" b="1">
                <a:solidFill>
                  <a:srgbClr val="C9232D"/>
                </a:solidFill>
                <a:latin typeface="Liberation Mono"/>
              </a:rPr>
              <a:t>sample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6315" y="415989"/>
            <a:ext cx="8575785" cy="287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>
                <a:solidFill>
                  <a:srgbClr val="0B0B0B"/>
                </a:solidFill>
                <a:latin typeface="Liberation Mono"/>
              </a:rPr>
              <a:t>via the enhancement of </a:t>
            </a:r>
            <a:r>
              <a:rPr sz="1612" b="1">
                <a:solidFill>
                  <a:srgbClr val="0B11E8"/>
                </a:solidFill>
                <a:latin typeface="Liberation Mono"/>
              </a:rPr>
              <a:t>attack success rate</a:t>
            </a:r>
            <a:r>
              <a:rPr sz="1612" b="1">
                <a:solidFill>
                  <a:srgbClr val="0B0B0B"/>
                </a:solidFill>
                <a:latin typeface="Liberation Mono"/>
              </a:rPr>
              <a:t> and </a:t>
            </a:r>
            <a:r>
              <a:rPr sz="1612" b="1">
                <a:solidFill>
                  <a:srgbClr val="087744"/>
                </a:solidFill>
                <a:latin typeface="Liberation Mono"/>
              </a:rPr>
              <a:t>stealthiness</a:t>
            </a:r>
            <a:r>
              <a:rPr sz="1612" b="1">
                <a:solidFill>
                  <a:srgbClr val="0B0B0B"/>
                </a:solidFill>
                <a:latin typeface="Liberation Mono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592" y="831979"/>
            <a:ext cx="1983950" cy="2431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0B11E8"/>
                </a:solidFill>
                <a:latin typeface="Liberation Mono"/>
              </a:rPr>
              <a:t>Component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991" y="1119972"/>
            <a:ext cx="959976" cy="2303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C9232D"/>
                </a:solidFill>
                <a:latin typeface="Liberation Serif"/>
              </a:rPr>
              <a:t>highlight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1194" y="1446363"/>
            <a:ext cx="1599960" cy="2367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30318D"/>
                </a:solidFill>
                <a:latin typeface="Liberation Serif"/>
              </a:rPr>
              <a:t>large trigger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996" y="2867128"/>
            <a:ext cx="1599960" cy="2431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30318D"/>
                </a:solidFill>
                <a:latin typeface="Liberation Serif"/>
              </a:rPr>
              <a:t>small trigger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592" y="3199920"/>
            <a:ext cx="959976" cy="2303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C9232D"/>
                </a:solidFill>
                <a:latin typeface="Liberation Serif"/>
              </a:rPr>
              <a:t>highlight</a:t>
            </a:r>
          </a:p>
        </p:txBody>
      </p:sp>
      <p:pic>
        <p:nvPicPr>
          <p:cNvPr id="17" name="Picture 16" descr="a_tri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94" y="1830354"/>
            <a:ext cx="454388" cy="46718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29581" y="1830354"/>
            <a:ext cx="467188" cy="447988"/>
          </a:xfrm>
          <a:prstGeom prst="rect">
            <a:avLst/>
          </a:prstGeom>
          <a:solidFill>
            <a:srgbClr val="F1D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_tri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94" y="2367940"/>
            <a:ext cx="454388" cy="46718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9581" y="2374340"/>
            <a:ext cx="467188" cy="441588"/>
          </a:xfrm>
          <a:prstGeom prst="rect">
            <a:avLst/>
          </a:prstGeom>
          <a:solidFill>
            <a:srgbClr val="F1D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73568" y="1772755"/>
            <a:ext cx="127996" cy="1126371"/>
          </a:xfrm>
          <a:prstGeom prst="roundRect">
            <a:avLst/>
          </a:prstGeom>
          <a:solidFill>
            <a:srgbClr val="3C9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286367" y="1158371"/>
            <a:ext cx="0" cy="198395"/>
          </a:xfrm>
          <a:prstGeom prst="line">
            <a:avLst/>
          </a:prstGeom>
          <a:ln w="28575">
            <a:solidFill>
              <a:srgbClr val="C923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86367" y="1356766"/>
            <a:ext cx="614385" cy="0"/>
          </a:xfrm>
          <a:prstGeom prst="line">
            <a:avLst/>
          </a:prstGeom>
          <a:ln w="28575">
            <a:solidFill>
              <a:srgbClr val="C923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900752" y="1151971"/>
            <a:ext cx="0" cy="204795"/>
          </a:xfrm>
          <a:prstGeom prst="line">
            <a:avLst/>
          </a:prstGeom>
          <a:ln w="28575">
            <a:solidFill>
              <a:srgbClr val="C923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86367" y="3123121"/>
            <a:ext cx="0" cy="249594"/>
          </a:xfrm>
          <a:prstGeom prst="line">
            <a:avLst/>
          </a:prstGeom>
          <a:ln w="28575">
            <a:solidFill>
              <a:srgbClr val="C923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86367" y="3372715"/>
            <a:ext cx="614385" cy="0"/>
          </a:xfrm>
          <a:prstGeom prst="line">
            <a:avLst/>
          </a:prstGeom>
          <a:ln w="28575">
            <a:solidFill>
              <a:srgbClr val="C923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900752" y="3180720"/>
            <a:ext cx="0" cy="191995"/>
          </a:xfrm>
          <a:prstGeom prst="line">
            <a:avLst/>
          </a:prstGeom>
          <a:ln w="28575">
            <a:solidFill>
              <a:srgbClr val="C923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47096" y="851178"/>
            <a:ext cx="1919952" cy="2175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11" b="1" i="0">
                <a:solidFill>
                  <a:srgbClr val="0B11E8"/>
                </a:solidFill>
                <a:latin typeface="Liberation Serif"/>
              </a:rPr>
              <a:t>attack success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4690" y="1036774"/>
            <a:ext cx="1407964" cy="2175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11" b="1" i="0">
                <a:solidFill>
                  <a:srgbClr val="0B11E8"/>
                </a:solidFill>
                <a:latin typeface="Liberation Serif"/>
              </a:rPr>
              <a:t>enhancement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17554" y="1369565"/>
            <a:ext cx="3910302" cy="511987"/>
          </a:xfrm>
          <a:prstGeom prst="roundRect">
            <a:avLst/>
          </a:prstGeom>
          <a:solidFill>
            <a:srgbClr val="C9232D"/>
          </a:solidFill>
          <a:ln w="9525">
            <a:solidFill>
              <a:srgbClr val="C9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19952" y="1471963"/>
            <a:ext cx="3711907" cy="307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62" b="1" i="0">
                <a:solidFill>
                  <a:srgbClr val="FFFFFF"/>
                </a:solidFill>
                <a:latin typeface="Liberation Serif"/>
              </a:rPr>
              <a:t>Category Diversity (ours)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68753" y="2003149"/>
            <a:ext cx="4038299" cy="543986"/>
          </a:xfrm>
          <a:prstGeom prst="rect">
            <a:avLst/>
          </a:prstGeom>
          <a:solidFill>
            <a:srgbClr val="FFFDF8"/>
          </a:solidFill>
          <a:ln w="19050">
            <a:solidFill>
              <a:srgbClr val="FFF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92747" y="2079948"/>
            <a:ext cx="3615909" cy="1983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0B0B0B"/>
                </a:solidFill>
                <a:latin typeface="Liberation Serif"/>
              </a:rPr>
              <a:t>Find the appropriate combination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77550" y="2265543"/>
            <a:ext cx="3807904" cy="2111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B0B0B"/>
                </a:solidFill>
                <a:latin typeface="Liberation Serif"/>
              </a:rPr>
              <a:t>based on </a:t>
            </a:r>
            <a:r>
              <a:rPr sz="1410" b="1">
                <a:solidFill>
                  <a:srgbClr val="C9232D"/>
                </a:solidFill>
                <a:latin typeface="Liberation Serif"/>
              </a:rPr>
              <a:t>the scale of trigger features</a:t>
            </a:r>
            <a:r>
              <a:rPr sz="1410" b="1">
                <a:solidFill>
                  <a:srgbClr val="0B0B0B"/>
                </a:solidFill>
                <a:latin typeface="Liberation Serif"/>
              </a:rPr>
              <a:t> 🦠</a:t>
            </a:r>
            <a:r>
              <a:rPr sz="1410" b="1">
                <a:solidFill>
                  <a:srgbClr val="0B0B0B"/>
                </a:solidFill>
                <a:latin typeface="Liberation Serif"/>
              </a:rPr>
              <a:t>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17554" y="2681532"/>
            <a:ext cx="3910302" cy="511987"/>
          </a:xfrm>
          <a:prstGeom prst="roundRect">
            <a:avLst/>
          </a:prstGeom>
          <a:solidFill>
            <a:srgbClr val="C9232D"/>
          </a:solidFill>
          <a:ln w="9525">
            <a:solidFill>
              <a:srgbClr val="C9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19952" y="2783930"/>
            <a:ext cx="3711907" cy="307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62" b="1" i="0">
                <a:solidFill>
                  <a:srgbClr val="FFFFFF"/>
                </a:solidFill>
                <a:latin typeface="Liberation Serif"/>
              </a:rPr>
              <a:t>Forgetting Events (traditional)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4240" y="831979"/>
            <a:ext cx="1919952" cy="2431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087744"/>
                </a:solidFill>
                <a:latin typeface="Liberation Mono"/>
              </a:rPr>
              <a:t>Component B</a:t>
            </a:r>
          </a:p>
        </p:txBody>
      </p:sp>
      <p:pic>
        <p:nvPicPr>
          <p:cNvPr id="38" name="Picture 37" descr="b_wa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840" y="1119972"/>
            <a:ext cx="947176" cy="1081572"/>
          </a:xfrm>
          <a:prstGeom prst="rect">
            <a:avLst/>
          </a:prstGeom>
        </p:spPr>
      </p:pic>
      <p:pic>
        <p:nvPicPr>
          <p:cNvPr id="39" name="Picture 38" descr="b_bott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612" y="1094372"/>
            <a:ext cx="979175" cy="1126371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7436614" y="1081572"/>
            <a:ext cx="1087972" cy="2566335"/>
          </a:xfrm>
          <a:prstGeom prst="rect">
            <a:avLst/>
          </a:prstGeom>
          <a:noFill/>
          <a:ln w="19050">
            <a:solidFill>
              <a:srgbClr val="C9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b_trig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9840" y="2540736"/>
            <a:ext cx="947176" cy="1081572"/>
          </a:xfrm>
          <a:prstGeom prst="rect">
            <a:avLst/>
          </a:prstGeom>
        </p:spPr>
      </p:pic>
      <p:pic>
        <p:nvPicPr>
          <p:cNvPr id="42" name="Picture 41" descr="b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612" y="2540736"/>
            <a:ext cx="979175" cy="11007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468613" y="2214344"/>
            <a:ext cx="1055973" cy="2047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C9232D"/>
                </a:solidFill>
                <a:latin typeface="Liberation Serif"/>
              </a:rPr>
              <a:t>our method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4582" y="1369565"/>
            <a:ext cx="1599960" cy="1919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30318D"/>
                </a:solidFill>
                <a:latin typeface="Liberation Serif"/>
              </a:rPr>
              <a:t>Trigger </a:t>
            </a:r>
            <a:r>
              <a:rPr sz="1410" b="1">
                <a:solidFill>
                  <a:srgbClr val="0B0B0B"/>
                </a:solidFill>
                <a:latin typeface="Liberation Serif"/>
              </a:rPr>
              <a:t>▮</a:t>
            </a:r>
            <a:r>
              <a:rPr sz="1410" b="1">
                <a:solidFill>
                  <a:srgbClr val="30318D"/>
                </a:solidFill>
                <a:latin typeface="Liberation Serif"/>
              </a:rPr>
              <a:t> can be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4582" y="1555161"/>
            <a:ext cx="1727956" cy="1919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30318D"/>
                </a:solidFill>
                <a:latin typeface="Liberation Serif"/>
              </a:rPr>
              <a:t>concealed in the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4582" y="1740756"/>
            <a:ext cx="1823954" cy="1919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C9232D"/>
                </a:solidFill>
                <a:latin typeface="Liberation Serif"/>
              </a:rPr>
              <a:t>black</a:t>
            </a:r>
            <a:r>
              <a:rPr sz="1410" b="1">
                <a:solidFill>
                  <a:srgbClr val="30318D"/>
                </a:solidFill>
                <a:latin typeface="Liberation Serif"/>
              </a:rPr>
              <a:t> background.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4582" y="2591935"/>
            <a:ext cx="1599960" cy="1919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30318D"/>
                </a:solidFill>
                <a:latin typeface="Liberation Serif"/>
              </a:rPr>
              <a:t>Trigger </a:t>
            </a:r>
            <a:r>
              <a:rPr sz="1410" b="1">
                <a:solidFill>
                  <a:srgbClr val="30318D"/>
                </a:solidFill>
                <a:latin typeface="Liberation Serif"/>
              </a:rPr>
              <a:t>😺</a:t>
            </a:r>
            <a:r>
              <a:rPr sz="1410" b="1">
                <a:solidFill>
                  <a:srgbClr val="30318D"/>
                </a:solidFill>
                <a:latin typeface="Liberation Serif"/>
              </a:rPr>
              <a:t> can be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4582" y="2777530"/>
            <a:ext cx="1727956" cy="1919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30318D"/>
                </a:solidFill>
                <a:latin typeface="Liberation Serif"/>
              </a:rPr>
              <a:t>concealed in the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4582" y="2963125"/>
            <a:ext cx="1823954" cy="1919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C9232D"/>
                </a:solidFill>
                <a:latin typeface="Liberation Serif"/>
              </a:rPr>
              <a:t>complexly</a:t>
            </a:r>
            <a:r>
              <a:rPr sz="1410" b="1">
                <a:solidFill>
                  <a:srgbClr val="30318D"/>
                </a:solidFill>
                <a:latin typeface="Liberation Serif"/>
              </a:rPr>
              <a:t> texture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4582" y="3148721"/>
            <a:ext cx="1823954" cy="1919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30318D"/>
                </a:solidFill>
                <a:latin typeface="Liberation Serif"/>
              </a:rPr>
              <a:t>background.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63758" y="851178"/>
            <a:ext cx="1983950" cy="2175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11" b="1" i="0">
                <a:solidFill>
                  <a:srgbClr val="087744"/>
                </a:solidFill>
                <a:latin typeface="Liberation Serif"/>
              </a:rPr>
              <a:t>stealthiness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63758" y="1036774"/>
            <a:ext cx="1983950" cy="2175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11" b="1" i="0">
                <a:solidFill>
                  <a:srgbClr val="087744"/>
                </a:solidFill>
                <a:latin typeface="Liberation Serif"/>
              </a:rPr>
              <a:t>enhancement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393340" y="1779155"/>
            <a:ext cx="1523161" cy="1215969"/>
          </a:xfrm>
          <a:prstGeom prst="rect">
            <a:avLst/>
          </a:prstGeom>
          <a:solidFill>
            <a:srgbClr val="FFFDF8"/>
          </a:solidFill>
          <a:ln w="19050">
            <a:solidFill>
              <a:srgbClr val="FFF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70138" y="1913552"/>
            <a:ext cx="1375965" cy="1791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0B0B0B"/>
                </a:solidFill>
                <a:latin typeface="Liberation Serif"/>
              </a:rPr>
              <a:t>Cancel </a:t>
            </a:r>
            <a:r>
              <a:rPr sz="1310" b="1">
                <a:solidFill>
                  <a:srgbClr val="C9232D"/>
                </a:solidFill>
                <a:latin typeface="Liberation Serif"/>
              </a:rPr>
              <a:t>trigger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70138" y="2099147"/>
            <a:ext cx="1375965" cy="1791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C9232D"/>
                </a:solidFill>
                <a:latin typeface="Liberation Serif"/>
              </a:rPr>
              <a:t>features</a:t>
            </a:r>
            <a:r>
              <a:rPr sz="1310" b="1">
                <a:solidFill>
                  <a:srgbClr val="0B0B0B"/>
                </a:solidFill>
                <a:latin typeface="Liberation Serif"/>
              </a:rPr>
              <a:t> 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70138" y="2284742"/>
            <a:ext cx="1375965" cy="1791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B0B0B"/>
                </a:solidFill>
                <a:latin typeface="Liberation Serif"/>
              </a:rPr>
              <a:t>images by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70138" y="2470338"/>
            <a:ext cx="1375965" cy="1791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C9232D"/>
                </a:solidFill>
                <a:latin typeface="Liberation Serif"/>
              </a:rPr>
              <a:t>similarity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70138" y="2655933"/>
            <a:ext cx="1375965" cy="1791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C9232D"/>
                </a:solidFill>
                <a:latin typeface="Liberation Serif"/>
              </a:rPr>
              <a:t>calculation.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3592" y="3699107"/>
            <a:ext cx="1599960" cy="1791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0B11E8"/>
                </a:solidFill>
                <a:latin typeface="Liberation Serif"/>
              </a:rPr>
              <a:t>attack success rate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4786" y="3891102"/>
            <a:ext cx="1407964" cy="1791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0B11E8"/>
                </a:solidFill>
                <a:latin typeface="Liberation Serif"/>
              </a:rPr>
              <a:t>enhancement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29521" y="3750306"/>
            <a:ext cx="1855953" cy="2175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C9232D"/>
                </a:solidFill>
                <a:latin typeface="Liberation Serif"/>
              </a:rPr>
              <a:t>the scale of triggers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82997" y="3750306"/>
            <a:ext cx="1535961" cy="2175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C9232D"/>
                </a:solidFill>
                <a:latin typeface="Liberation Serif"/>
              </a:rPr>
              <a:t>trigger features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34929" y="3692707"/>
            <a:ext cx="1279968" cy="1791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087744"/>
                </a:solidFill>
                <a:latin typeface="Liberation Serif"/>
              </a:rPr>
              <a:t>stealthiness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41328" y="3878303"/>
            <a:ext cx="1279968" cy="1791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087744"/>
                </a:solidFill>
                <a:latin typeface="Liberation Serif"/>
              </a:rPr>
              <a:t>ensurement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2175945" y="3526311"/>
            <a:ext cx="0" cy="979176"/>
          </a:xfrm>
          <a:prstGeom prst="line">
            <a:avLst/>
          </a:prstGeom>
          <a:ln w="47625">
            <a:solidFill>
              <a:srgbClr val="0B1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879928" y="3519912"/>
            <a:ext cx="0" cy="959976"/>
          </a:xfrm>
          <a:prstGeom prst="line">
            <a:avLst/>
          </a:prstGeom>
          <a:ln w="47625">
            <a:solidFill>
              <a:srgbClr val="C923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9791755" y="3519912"/>
            <a:ext cx="0" cy="959976"/>
          </a:xfrm>
          <a:prstGeom prst="line">
            <a:avLst/>
          </a:prstGeom>
          <a:ln w="47625">
            <a:solidFill>
              <a:srgbClr val="C923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521336" y="3519912"/>
            <a:ext cx="0" cy="985575"/>
          </a:xfrm>
          <a:prstGeom prst="line">
            <a:avLst/>
          </a:prstGeom>
          <a:ln w="47625">
            <a:solidFill>
              <a:srgbClr val="087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75193" y="4185495"/>
            <a:ext cx="1855953" cy="281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65" b="1" i="0">
                <a:solidFill>
                  <a:srgbClr val="0B0B0B"/>
                </a:solidFill>
                <a:latin typeface="Liberation Mono"/>
              </a:rPr>
              <a:t>Triggers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79115" y="4159896"/>
            <a:ext cx="8063798" cy="281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>
                <a:solidFill>
                  <a:srgbClr val="0B0B0B"/>
                </a:solidFill>
                <a:latin typeface="Liberation Mono"/>
              </a:rPr>
              <a:t>Explore the effect of </a:t>
            </a:r>
            <a:r>
              <a:rPr sz="1612" b="1">
                <a:solidFill>
                  <a:srgbClr val="C9232D"/>
                </a:solidFill>
                <a:latin typeface="Liberation Mono"/>
              </a:rPr>
              <a:t>sample selection</a:t>
            </a:r>
            <a:r>
              <a:rPr sz="1612" b="1">
                <a:solidFill>
                  <a:srgbClr val="0B0B0B"/>
                </a:solidFill>
                <a:latin typeface="Liberation Mono"/>
              </a:rPr>
              <a:t> on </a:t>
            </a:r>
            <a:r>
              <a:rPr sz="1612" b="1">
                <a:solidFill>
                  <a:srgbClr val="C9232D"/>
                </a:solidFill>
                <a:latin typeface="Liberation Mono"/>
              </a:rPr>
              <a:t>triggers</a:t>
            </a:r>
            <a:r>
              <a:rPr sz="1612" b="1">
                <a:solidFill>
                  <a:srgbClr val="0B0B0B"/>
                </a:solidFill>
                <a:latin typeface="Liberation Mono"/>
              </a:rPr>
              <a:t>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4392" y="4467088"/>
            <a:ext cx="1983950" cy="2303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C9232D"/>
                </a:solidFill>
                <a:latin typeface="Liberation Mono"/>
              </a:rPr>
              <a:t>Component 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75925" y="4569485"/>
            <a:ext cx="7423814" cy="2175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C9232D"/>
                </a:solidFill>
                <a:latin typeface="Liberation Serif"/>
              </a:rPr>
              <a:t>Stealthiness ensurement via avoid selecting single-color dominated samples.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4786" y="4838279"/>
            <a:ext cx="191995" cy="1791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087744"/>
                </a:solidFill>
                <a:latin typeface="Liberation Serif"/>
              </a:rPr>
              <a:t>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94392" y="4902277"/>
            <a:ext cx="198395" cy="1676758"/>
          </a:xfrm>
          <a:prstGeom prst="roundRect">
            <a:avLst/>
          </a:prstGeom>
          <a:solidFill>
            <a:srgbClr val="F48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6786" y="5439864"/>
            <a:ext cx="191995" cy="1791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C9232D"/>
                </a:solidFill>
                <a:latin typeface="Liberation Serif"/>
              </a:rPr>
              <a:t>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38379" y="5215869"/>
            <a:ext cx="2796730" cy="703982"/>
          </a:xfrm>
          <a:prstGeom prst="rect">
            <a:avLst/>
          </a:prstGeom>
          <a:solidFill>
            <a:srgbClr val="FFFDF8"/>
          </a:solidFill>
          <a:ln w="19050">
            <a:solidFill>
              <a:srgbClr val="FFF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5177" y="5337466"/>
            <a:ext cx="2559936" cy="2175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B0B0B"/>
                </a:solidFill>
                <a:latin typeface="Liberation Serif"/>
              </a:rPr>
              <a:t>Enhance the </a:t>
            </a:r>
            <a:r>
              <a:rPr sz="1410" b="1">
                <a:solidFill>
                  <a:srgbClr val="C9232D"/>
                </a:solidFill>
                <a:latin typeface="Liberation Serif"/>
              </a:rPr>
              <a:t>trigger feature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5177" y="5593460"/>
            <a:ext cx="2559936" cy="2175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B0B0B"/>
                </a:solidFill>
                <a:latin typeface="Liberation Serif"/>
              </a:rPr>
              <a:t>on the </a:t>
            </a:r>
            <a:r>
              <a:rPr sz="1410" b="1">
                <a:solidFill>
                  <a:srgbClr val="C9232D"/>
                </a:solidFill>
                <a:latin typeface="Liberation Serif"/>
              </a:rPr>
              <a:t>Blue</a:t>
            </a:r>
            <a:r>
              <a:rPr sz="1410" b="1">
                <a:solidFill>
                  <a:srgbClr val="0B0B0B"/>
                </a:solidFill>
                <a:latin typeface="Liberation Serif"/>
              </a:rPr>
              <a:t> color channel.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0792" y="6284642"/>
            <a:ext cx="1702357" cy="563185"/>
          </a:xfrm>
          <a:prstGeom prst="rect">
            <a:avLst/>
          </a:prstGeom>
          <a:noFill/>
          <a:ln w="19050">
            <a:solidFill>
              <a:srgbClr val="211D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3185" y="6323041"/>
            <a:ext cx="1375965" cy="1919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30318D"/>
                </a:solidFill>
                <a:latin typeface="Liberation Serif"/>
              </a:rPr>
              <a:t>low sensitivity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3185" y="6591835"/>
            <a:ext cx="191995" cy="1791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30318D"/>
                </a:solidFill>
                <a:latin typeface="Liberation Serif"/>
              </a:rPr>
              <a:t>B</a:t>
            </a:r>
          </a:p>
        </p:txBody>
      </p:sp>
      <p:pic>
        <p:nvPicPr>
          <p:cNvPr id="82" name="Picture 81" descr="ey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379" y="6559836"/>
            <a:ext cx="582385" cy="217594"/>
          </a:xfrm>
          <a:prstGeom prst="rect">
            <a:avLst/>
          </a:prstGeom>
        </p:spPr>
      </p:pic>
      <p:cxnSp>
        <p:nvCxnSpPr>
          <p:cNvPr id="83" name="Connector 82"/>
          <p:cNvCxnSpPr/>
          <p:nvPr/>
        </p:nvCxnSpPr>
        <p:spPr>
          <a:xfrm flipH="1">
            <a:off x="2239944" y="6553436"/>
            <a:ext cx="1196770" cy="0"/>
          </a:xfrm>
          <a:prstGeom prst="line">
            <a:avLst/>
          </a:prstGeom>
          <a:ln w="38100">
            <a:solidFill>
              <a:srgbClr val="C923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2329541" y="6188645"/>
            <a:ext cx="1279968" cy="1791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C9232D"/>
                </a:solidFill>
                <a:latin typeface="Liberation Serif"/>
              </a:rPr>
              <a:t>distinct-color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438339" y="6361440"/>
            <a:ext cx="1151971" cy="1791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C9232D"/>
                </a:solidFill>
                <a:latin typeface="Liberation Serif"/>
              </a:rPr>
              <a:t>poisoning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63898" y="4851078"/>
            <a:ext cx="4863878" cy="2175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30318D"/>
                </a:solidFill>
                <a:latin typeface="Liberation Serif"/>
              </a:rPr>
              <a:t>Distinct sensitivity of human visual system on RGB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47908" y="5209469"/>
            <a:ext cx="1663958" cy="2175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C9232D"/>
                </a:solidFill>
                <a:latin typeface="Liberation Serif"/>
              </a:rPr>
              <a:t>mild distortion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67860" y="5209469"/>
            <a:ext cx="1855953" cy="2175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C9232D"/>
                </a:solidFill>
                <a:latin typeface="Liberation Serif"/>
              </a:rPr>
              <a:t>severe distortion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519812" y="5209469"/>
            <a:ext cx="1663958" cy="2175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C9232D"/>
                </a:solidFill>
                <a:latin typeface="Liberation Serif"/>
              </a:rPr>
              <a:t>subtle distortion</a:t>
            </a:r>
          </a:p>
        </p:txBody>
      </p:sp>
      <p:pic>
        <p:nvPicPr>
          <p:cNvPr id="90" name="Picture 89" descr="portrait_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9107" y="5459063"/>
            <a:ext cx="1587160" cy="1459163"/>
          </a:xfrm>
          <a:prstGeom prst="rect">
            <a:avLst/>
          </a:prstGeom>
        </p:spPr>
      </p:pic>
      <p:pic>
        <p:nvPicPr>
          <p:cNvPr id="91" name="Picture 90" descr="portrait_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8665" y="5459063"/>
            <a:ext cx="1804754" cy="1459163"/>
          </a:xfrm>
          <a:prstGeom prst="rect">
            <a:avLst/>
          </a:prstGeom>
        </p:spPr>
      </p:pic>
      <p:pic>
        <p:nvPicPr>
          <p:cNvPr id="92" name="Picture 91" descr="portrait_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0612" y="5459063"/>
            <a:ext cx="1772755" cy="1459163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5471863" y="6745431"/>
            <a:ext cx="191995" cy="15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C9232D"/>
                </a:solidFill>
                <a:latin typeface="Liberation Serif"/>
              </a:rPr>
              <a:t>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08617" y="6745431"/>
            <a:ext cx="191995" cy="15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087744"/>
                </a:solidFill>
                <a:latin typeface="Liberation Serif"/>
              </a:rPr>
              <a:t>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215769" y="6745431"/>
            <a:ext cx="191995" cy="15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0B11E8"/>
                </a:solidFill>
                <a:latin typeface="Liberation Serif"/>
              </a:rPr>
              <a:t>B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702157" y="5139071"/>
            <a:ext cx="2246343" cy="1779155"/>
          </a:xfrm>
          <a:prstGeom prst="rect">
            <a:avLst/>
          </a:prstGeom>
          <a:solidFill>
            <a:srgbClr val="FFFFFF"/>
          </a:solidFill>
          <a:ln w="19050">
            <a:solidFill>
              <a:srgbClr val="087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759756" y="5215869"/>
            <a:ext cx="2131146" cy="2303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0B0B0B"/>
                </a:solidFill>
                <a:latin typeface="Liberation Serif"/>
              </a:rPr>
              <a:t>Special samples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714957" y="5497462"/>
            <a:ext cx="959976" cy="1791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0B0B0B"/>
                </a:solidFill>
                <a:latin typeface="Liberation Serif"/>
              </a:rPr>
              <a:t>Green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714957" y="5657458"/>
            <a:ext cx="959976" cy="1791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0B0B0B"/>
                </a:solidFill>
                <a:latin typeface="Liberation Serif"/>
              </a:rPr>
              <a:t>dominated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898927" y="5497462"/>
            <a:ext cx="959976" cy="1791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0B0B0B"/>
                </a:solidFill>
                <a:latin typeface="Liberation Serif"/>
              </a:rPr>
              <a:t>Blue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898927" y="5657458"/>
            <a:ext cx="959976" cy="1791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0B0B0B"/>
                </a:solidFill>
                <a:latin typeface="Liberation Serif"/>
              </a:rPr>
              <a:t>dominated</a:t>
            </a:r>
          </a:p>
        </p:txBody>
      </p:sp>
      <p:pic>
        <p:nvPicPr>
          <p:cNvPr id="102" name="Picture 101" descr="green_samp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2555" y="5919852"/>
            <a:ext cx="1023974" cy="927976"/>
          </a:xfrm>
          <a:prstGeom prst="rect">
            <a:avLst/>
          </a:prstGeom>
        </p:spPr>
      </p:pic>
      <p:pic>
        <p:nvPicPr>
          <p:cNvPr id="103" name="Picture 102" descr="blue_sam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43726" y="5919852"/>
            <a:ext cx="953576" cy="9279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A Set of Generalized Components to Achieve Effective Poison-only Clean-label Backdoor Attacks with Collaborative Sample Selection and Trigger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4" cy="70526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