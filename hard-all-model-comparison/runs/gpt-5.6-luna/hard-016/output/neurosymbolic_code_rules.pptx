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E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399" y="114300"/>
            <a:ext cx="12140896" cy="6616700"/>
          </a:xfrm>
          <a:prstGeom prst="roundRect">
            <a:avLst/>
          </a:prstGeom>
          <a:noFill/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9696" y="558800"/>
            <a:ext cx="3651158" cy="2546350"/>
          </a:xfrm>
          <a:prstGeom prst="roundRect">
            <a:avLst/>
          </a:prstGeom>
          <a:solidFill>
            <a:srgbClr val="F1F1F1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3898" y="558800"/>
            <a:ext cx="8038899" cy="2590799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9696" y="3251200"/>
            <a:ext cx="5264018" cy="33972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98962" y="3251200"/>
            <a:ext cx="6603834" cy="339725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9936" y="184150"/>
            <a:ext cx="7111822" cy="330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84" b="1" i="0">
                <a:solidFill>
                  <a:srgbClr val="111111"/>
                </a:solidFill>
                <a:latin typeface="Arial"/>
              </a:rPr>
              <a:t>NeuroSymbolic Learning of Code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44" y="654050"/>
            <a:ext cx="3505112" cy="2413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Stage 1. Exploration of Trajectory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4393" y="590550"/>
            <a:ext cx="7619809" cy="2413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Stage 2. Learning Symbolic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44" y="3301999"/>
            <a:ext cx="5079873" cy="2413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Stage 4. Code Rule Set Pruning via Maximum Set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4857" y="3301999"/>
            <a:ext cx="6159346" cy="2413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Stage 3. Translating Symbolic Knowledge to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092" y="1047750"/>
            <a:ext cx="3320966" cy="812800"/>
          </a:xfrm>
          <a:prstGeom prst="roundRect">
            <a:avLst/>
          </a:prstGeom>
          <a:noFill/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092" y="2159000"/>
            <a:ext cx="3320966" cy="812800"/>
          </a:xfrm>
          <a:prstGeom prst="roundRect">
            <a:avLst/>
          </a:prstGeom>
          <a:noFill/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476" y="1066800"/>
            <a:ext cx="1993850" cy="203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Real Trajectory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726" y="2705099"/>
            <a:ext cx="2063698" cy="203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Predicted Trajectory</a:t>
            </a:r>
          </a:p>
        </p:txBody>
      </p:sp>
      <p:sp>
        <p:nvSpPr>
          <p:cNvPr id="17" name="Oval 16"/>
          <p:cNvSpPr/>
          <p:nvPr/>
        </p:nvSpPr>
        <p:spPr>
          <a:xfrm>
            <a:off x="349241" y="1327150"/>
            <a:ext cx="457188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241" y="13970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a₀</a:t>
            </a:r>
          </a:p>
        </p:txBody>
      </p:sp>
      <p:sp>
        <p:nvSpPr>
          <p:cNvPr id="19" name="Oval 18"/>
          <p:cNvSpPr/>
          <p:nvPr/>
        </p:nvSpPr>
        <p:spPr>
          <a:xfrm>
            <a:off x="965175" y="1327150"/>
            <a:ext cx="457188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175" y="13970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o₁</a:t>
            </a:r>
          </a:p>
        </p:txBody>
      </p:sp>
      <p:sp>
        <p:nvSpPr>
          <p:cNvPr id="21" name="Oval 20"/>
          <p:cNvSpPr/>
          <p:nvPr/>
        </p:nvSpPr>
        <p:spPr>
          <a:xfrm>
            <a:off x="1581110" y="1327150"/>
            <a:ext cx="457188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81110" y="13970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a₁</a:t>
            </a:r>
          </a:p>
        </p:txBody>
      </p:sp>
      <p:sp>
        <p:nvSpPr>
          <p:cNvPr id="23" name="Oval 22"/>
          <p:cNvSpPr/>
          <p:nvPr/>
        </p:nvSpPr>
        <p:spPr>
          <a:xfrm>
            <a:off x="2197045" y="1327150"/>
            <a:ext cx="457188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7045" y="13970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o₂</a:t>
            </a:r>
          </a:p>
        </p:txBody>
      </p:sp>
      <p:sp>
        <p:nvSpPr>
          <p:cNvPr id="25" name="Oval 24"/>
          <p:cNvSpPr/>
          <p:nvPr/>
        </p:nvSpPr>
        <p:spPr>
          <a:xfrm>
            <a:off x="3117772" y="1327150"/>
            <a:ext cx="457188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7772" y="13970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oₜ</a:t>
            </a:r>
          </a:p>
        </p:txBody>
      </p:sp>
      <p:sp>
        <p:nvSpPr>
          <p:cNvPr id="27" name="Oval 26"/>
          <p:cNvSpPr/>
          <p:nvPr/>
        </p:nvSpPr>
        <p:spPr>
          <a:xfrm>
            <a:off x="349241" y="2241550"/>
            <a:ext cx="457188" cy="4572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241" y="23114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a₀</a:t>
            </a:r>
          </a:p>
        </p:txBody>
      </p:sp>
      <p:sp>
        <p:nvSpPr>
          <p:cNvPr id="29" name="Oval 28"/>
          <p:cNvSpPr/>
          <p:nvPr/>
        </p:nvSpPr>
        <p:spPr>
          <a:xfrm>
            <a:off x="965175" y="2241550"/>
            <a:ext cx="457188" cy="4572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175" y="23114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ô₁</a:t>
            </a:r>
          </a:p>
        </p:txBody>
      </p:sp>
      <p:sp>
        <p:nvSpPr>
          <p:cNvPr id="31" name="Oval 30"/>
          <p:cNvSpPr/>
          <p:nvPr/>
        </p:nvSpPr>
        <p:spPr>
          <a:xfrm>
            <a:off x="1581110" y="2241550"/>
            <a:ext cx="457188" cy="4572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1110" y="23114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a₁</a:t>
            </a:r>
          </a:p>
        </p:txBody>
      </p:sp>
      <p:sp>
        <p:nvSpPr>
          <p:cNvPr id="33" name="Oval 32"/>
          <p:cNvSpPr/>
          <p:nvPr/>
        </p:nvSpPr>
        <p:spPr>
          <a:xfrm>
            <a:off x="2197045" y="2241550"/>
            <a:ext cx="457188" cy="4572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7045" y="23114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ô₂</a:t>
            </a:r>
          </a:p>
        </p:txBody>
      </p:sp>
      <p:sp>
        <p:nvSpPr>
          <p:cNvPr id="35" name="Oval 34"/>
          <p:cNvSpPr/>
          <p:nvPr/>
        </p:nvSpPr>
        <p:spPr>
          <a:xfrm>
            <a:off x="3117772" y="2241550"/>
            <a:ext cx="457188" cy="4572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17772" y="2311400"/>
            <a:ext cx="457188" cy="285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16" b="0" i="0">
                <a:solidFill>
                  <a:srgbClr val="111111"/>
                </a:solidFill>
                <a:latin typeface="Georgia"/>
              </a:rPr>
              <a:t>ôₜ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081" y="1435100"/>
            <a:ext cx="361940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6" b="1" i="0">
                <a:solidFill>
                  <a:srgbClr val="111111"/>
                </a:solidFill>
                <a:latin typeface="Arial"/>
              </a:rPr>
              <a:t>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24081" y="2349500"/>
            <a:ext cx="361940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6" b="1" i="0">
                <a:solidFill>
                  <a:srgbClr val="111111"/>
                </a:solidFill>
                <a:latin typeface="Arial"/>
              </a:rPr>
              <a:t>…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93770" y="1790700"/>
            <a:ext cx="0" cy="425450"/>
          </a:xfrm>
          <a:prstGeom prst="line">
            <a:avLst/>
          </a:prstGeom>
          <a:ln w="30480">
            <a:solidFill>
              <a:srgbClr val="11C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38219" y="1866899"/>
            <a:ext cx="215894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50" b="1" i="0">
                <a:solidFill>
                  <a:srgbClr val="11C72D"/>
                </a:solidFill>
                <a:latin typeface="Arial"/>
              </a:rPr>
              <a:t>✓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25639" y="1790700"/>
            <a:ext cx="0" cy="425450"/>
          </a:xfrm>
          <a:prstGeom prst="line">
            <a:avLst/>
          </a:prstGeom>
          <a:ln w="30480">
            <a:solidFill>
              <a:srgbClr val="E30A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495487" y="1892299"/>
            <a:ext cx="203194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50" b="1" i="0">
                <a:solidFill>
                  <a:srgbClr val="E30A10"/>
                </a:solidFill>
                <a:latin typeface="Arial"/>
              </a:rPr>
              <a:t>×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46366" y="1790700"/>
            <a:ext cx="0" cy="425450"/>
          </a:xfrm>
          <a:prstGeom prst="line">
            <a:avLst/>
          </a:prstGeom>
          <a:ln w="30480">
            <a:solidFill>
              <a:srgbClr val="E30A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416214" y="1892299"/>
            <a:ext cx="203194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50" b="1" i="0">
                <a:solidFill>
                  <a:srgbClr val="E30A10"/>
                </a:solidFill>
                <a:latin typeface="Arial"/>
              </a:rPr>
              <a:t>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59146" y="927100"/>
            <a:ext cx="5200519" cy="2158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473963" y="927100"/>
            <a:ext cx="2514537" cy="2158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4888" y="920750"/>
            <a:ext cx="4635384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48" b="0" i="0">
                <a:solidFill>
                  <a:srgbClr val="111111"/>
                </a:solidFill>
                <a:latin typeface="Georgia"/>
              </a:rPr>
              <a:t>Real trajectory  tₖ:t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4761" y="920750"/>
            <a:ext cx="2412939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48" b="0" i="0">
                <a:solidFill>
                  <a:srgbClr val="111111"/>
                </a:solidFill>
                <a:latin typeface="Georgia"/>
              </a:rPr>
              <a:t>oₜ in the real trajectory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52796" y="1301750"/>
            <a:ext cx="5187820" cy="292100"/>
          </a:xfrm>
          <a:prstGeom prst="roundRect">
            <a:avLst/>
          </a:prstGeom>
          <a:solidFill>
            <a:srgbClr val="FFC9C9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67613" y="1301750"/>
            <a:ext cx="2520886" cy="292100"/>
          </a:xfrm>
          <a:prstGeom prst="roundRect">
            <a:avLst/>
          </a:prstGeom>
          <a:solidFill>
            <a:srgbClr val="E6D8EB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27396" y="1314450"/>
            <a:ext cx="5238619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0" i="0">
                <a:solidFill>
                  <a:srgbClr val="111111"/>
                </a:solidFill>
                <a:latin typeface="Arial"/>
              </a:rPr>
              <a:t>LLM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3012" y="1314450"/>
            <a:ext cx="2476438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0" i="0">
                <a:solidFill>
                  <a:srgbClr val="111111"/>
                </a:solidFill>
                <a:latin typeface="Arial"/>
              </a:rPr>
              <a:t>Program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56231" y="1143000"/>
            <a:ext cx="0" cy="152399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422764" y="1600200"/>
            <a:ext cx="0" cy="16510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076998" y="1600200"/>
            <a:ext cx="0" cy="16510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731231" y="1600200"/>
            <a:ext cx="0" cy="16510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152796" y="1778000"/>
            <a:ext cx="2539936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84545" y="1816100"/>
            <a:ext cx="2476438" cy="2158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48" b="1" i="0">
                <a:solidFill>
                  <a:srgbClr val="111111"/>
                </a:solidFill>
                <a:latin typeface="Arial"/>
              </a:rPr>
              <a:t>Action Rules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81630" y="1778000"/>
            <a:ext cx="2558986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3379" y="1816100"/>
            <a:ext cx="2495487" cy="2158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48" b="1" i="0">
                <a:solidFill>
                  <a:srgbClr val="111111"/>
                </a:solidFill>
                <a:latin typeface="Arial"/>
              </a:rPr>
              <a:t>Knowledge Graph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67613" y="1778000"/>
            <a:ext cx="2520886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99362" y="1816100"/>
            <a:ext cx="2457388" cy="2158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48" b="1" i="0">
                <a:solidFill>
                  <a:srgbClr val="111111"/>
                </a:solidFill>
                <a:latin typeface="Arial"/>
              </a:rPr>
              <a:t>Scene Graph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22644" y="2057400"/>
            <a:ext cx="2349441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6" b="1" i="0">
                <a:solidFill>
                  <a:srgbClr val="111111"/>
                </a:solidFill>
                <a:latin typeface="DejaVu Sans Mono"/>
              </a:rPr>
              <a:t>1. For action 'craft',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22644" y="2216150"/>
            <a:ext cx="2349441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6" b="1" i="0">
                <a:solidFill>
                  <a:srgbClr val="111111"/>
                </a:solidFill>
                <a:latin typeface="DejaVu Sans Mono"/>
              </a:rPr>
              <a:t>   if the player does not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2644" y="2374899"/>
            <a:ext cx="2349441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6" b="1" i="0">
                <a:solidFill>
                  <a:srgbClr val="111111"/>
                </a:solidFill>
                <a:latin typeface="DejaVu Sans Mono"/>
              </a:rPr>
              <a:t>   have enough materials...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22644" y="2533650"/>
            <a:ext cx="2349441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6" b="1" i="0">
                <a:solidFill>
                  <a:srgbClr val="111111"/>
                </a:solidFill>
                <a:latin typeface="DejaVu Sans Mono"/>
              </a:rPr>
              <a:t>   the action will fail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2644" y="2692400"/>
            <a:ext cx="2349441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6" b="1" i="0">
                <a:solidFill>
                  <a:srgbClr val="111111"/>
                </a:solidFill>
                <a:latin typeface="DejaVu Sans Mono"/>
              </a:rPr>
              <a:t>2. For action 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40456" y="2025650"/>
            <a:ext cx="215894" cy="234950"/>
          </a:xfrm>
          <a:prstGeom prst="rect">
            <a:avLst/>
          </a:prstGeom>
          <a:solidFill>
            <a:srgbClr val="A58B59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34186" y="2044700"/>
            <a:ext cx="190495" cy="196850"/>
          </a:xfrm>
          <a:prstGeom prst="rect">
            <a:avLst/>
          </a:prstGeom>
          <a:solidFill>
            <a:srgbClr val="B97148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53196" y="2368550"/>
            <a:ext cx="196845" cy="196850"/>
          </a:xfrm>
          <a:prstGeom prst="rect">
            <a:avLst/>
          </a:prstGeom>
          <a:solidFill>
            <a:srgbClr val="B9BEC3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8172245" y="2159000"/>
            <a:ext cx="33019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8127796" y="2286000"/>
            <a:ext cx="374641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50001" y="2476500"/>
            <a:ext cx="17779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543611" y="2114550"/>
            <a:ext cx="196845" cy="190500"/>
          </a:xfrm>
          <a:prstGeom prst="line">
            <a:avLst/>
          </a:prstGeom>
          <a:ln w="44450">
            <a:solidFill>
              <a:srgbClr val="795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857828" y="2698750"/>
            <a:ext cx="2476438" cy="158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80" b="1" i="0">
                <a:solidFill>
                  <a:srgbClr val="111111"/>
                </a:solidFill>
                <a:latin typeface="DejaVu Sans Mono"/>
              </a:rPr>
              <a:t>"nodes": [{"id":1,wood}...]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7828" y="2851150"/>
            <a:ext cx="2476438" cy="158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80" b="1" i="0">
                <a:solidFill>
                  <a:srgbClr val="111111"/>
                </a:solidFill>
                <a:latin typeface="DejaVu Sans Mono"/>
              </a:rPr>
              <a:t>"edges": [(1,2), (2,3), ...]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216894" y="2120900"/>
            <a:ext cx="768331" cy="25399"/>
          </a:xfrm>
          <a:prstGeom prst="line">
            <a:avLst/>
          </a:prstGeom>
          <a:ln w="25400">
            <a:solidFill>
              <a:srgbClr val="987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9988300" y="2209800"/>
            <a:ext cx="260343" cy="222250"/>
          </a:xfrm>
          <a:prstGeom prst="line">
            <a:avLst/>
          </a:prstGeom>
          <a:ln w="25400">
            <a:solidFill>
              <a:srgbClr val="9FB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413739" y="2209800"/>
            <a:ext cx="171446" cy="222250"/>
          </a:xfrm>
          <a:prstGeom prst="line">
            <a:avLst/>
          </a:prstGeom>
          <a:ln w="25400">
            <a:solidFill>
              <a:srgbClr val="9FB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245568" y="2209800"/>
            <a:ext cx="266694" cy="215900"/>
          </a:xfrm>
          <a:prstGeom prst="line">
            <a:avLst/>
          </a:prstGeom>
          <a:ln w="25400">
            <a:solidFill>
              <a:srgbClr val="9FB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975600" y="2006599"/>
            <a:ext cx="622284" cy="209550"/>
          </a:xfrm>
          <a:prstGeom prst="roundRect">
            <a:avLst/>
          </a:prstGeom>
          <a:solidFill>
            <a:srgbClr val="AB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75600" y="2012950"/>
            <a:ext cx="622284" cy="1904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Arial"/>
              </a:rPr>
              <a:t>plains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972525" y="2006599"/>
            <a:ext cx="628634" cy="209550"/>
          </a:xfrm>
          <a:prstGeom prst="roundRect">
            <a:avLst/>
          </a:prstGeom>
          <a:solidFill>
            <a:srgbClr val="AB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972525" y="2012950"/>
            <a:ext cx="628634" cy="1904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Arial"/>
              </a:rPr>
              <a:t>desert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39059" y="2343150"/>
            <a:ext cx="634984" cy="209550"/>
          </a:xfrm>
          <a:prstGeom prst="roundRect">
            <a:avLst/>
          </a:prstGeom>
          <a:solidFill>
            <a:srgbClr val="9FB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39059" y="2349500"/>
            <a:ext cx="634984" cy="1904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Arial"/>
              </a:rPr>
              <a:t>sheep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401039" y="2343150"/>
            <a:ext cx="660383" cy="209550"/>
          </a:xfrm>
          <a:prstGeom prst="roundRect">
            <a:avLst/>
          </a:prstGeom>
          <a:solidFill>
            <a:srgbClr val="9FB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01039" y="2349500"/>
            <a:ext cx="660383" cy="1904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Arial"/>
              </a:rPr>
              <a:t>zombie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328116" y="2343150"/>
            <a:ext cx="622284" cy="209550"/>
          </a:xfrm>
          <a:prstGeom prst="roundRect">
            <a:avLst/>
          </a:prstGeom>
          <a:solidFill>
            <a:srgbClr val="9FB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328116" y="2349500"/>
            <a:ext cx="622284" cy="190499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Arial"/>
              </a:rPr>
              <a:t>sand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31111" y="2698750"/>
            <a:ext cx="2412939" cy="158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2" b="1" i="0">
                <a:solidFill>
                  <a:srgbClr val="111111"/>
                </a:solidFill>
                <a:latin typeface="DejaVu Sans Mono"/>
              </a:rPr>
              <a:t>"nodes": [{"id":1,plains}]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31111" y="2851150"/>
            <a:ext cx="2412939" cy="1587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2" b="1" i="0">
                <a:solidFill>
                  <a:srgbClr val="111111"/>
                </a:solidFill>
                <a:latin typeface="DejaVu Sans Mono"/>
              </a:rPr>
              <a:t>"edges": [(1,2), (2,3), ...]</a:t>
            </a:r>
          </a:p>
        </p:txBody>
      </p:sp>
      <p:sp>
        <p:nvSpPr>
          <p:cNvPr id="93" name="Oval 92"/>
          <p:cNvSpPr/>
          <p:nvPr/>
        </p:nvSpPr>
        <p:spPr>
          <a:xfrm rot="21360000">
            <a:off x="317492" y="3714750"/>
            <a:ext cx="1809704" cy="1968500"/>
          </a:xfrm>
          <a:prstGeom prst="ellipse">
            <a:avLst/>
          </a:prstGeom>
          <a:solidFill>
            <a:srgbClr val="FFDC68"/>
          </a:solidFill>
          <a:ln w="25400">
            <a:solidFill>
              <a:srgbClr val="5D5D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 rot="720000">
            <a:off x="2552636" y="3683000"/>
            <a:ext cx="2705032" cy="2095500"/>
          </a:xfrm>
          <a:prstGeom prst="ellipse">
            <a:avLst/>
          </a:prstGeom>
          <a:solidFill>
            <a:srgbClr val="FFDC68"/>
          </a:solidFill>
          <a:ln w="25400">
            <a:solidFill>
              <a:srgbClr val="5D5D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 rot="20640000">
            <a:off x="3314617" y="4013199"/>
            <a:ext cx="1079473" cy="1123950"/>
          </a:xfrm>
          <a:prstGeom prst="ellipse">
            <a:avLst/>
          </a:prstGeom>
          <a:solidFill>
            <a:srgbClr val="E3E3E3"/>
          </a:solidFill>
          <a:ln w="25400">
            <a:solidFill>
              <a:srgbClr val="5D5D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 rot="720000">
            <a:off x="1854153" y="4921250"/>
            <a:ext cx="1104872" cy="1092200"/>
          </a:xfrm>
          <a:prstGeom prst="ellipse">
            <a:avLst/>
          </a:prstGeom>
          <a:solidFill>
            <a:srgbClr val="E3E3E3"/>
          </a:solidFill>
          <a:ln w="25400">
            <a:solidFill>
              <a:srgbClr val="5D5D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36581" y="40513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17572" y="393065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71565" y="41402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15974" y="43307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7683" y="44196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06429" y="46228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638259" y="44196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657308" y="46990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619209" y="497205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390615" y="530225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819329" y="3956049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187620" y="3892549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95607" y="3848099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68530" y="43434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149521" y="43307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133746" y="43434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16334" y="427355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895527" y="48514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346366" y="512445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05192" y="504190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889377" y="5099050"/>
            <a:ext cx="152396" cy="1524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07987" y="487045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82627" y="536575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231869" y="453390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771805" y="419100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555911" y="481965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828954" y="485140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044648" y="521335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336741" y="506095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584385" y="5264150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019249" y="5638799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412939" y="5638799"/>
            <a:ext cx="152396" cy="1524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3386" y="5060950"/>
            <a:ext cx="952476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48" b="1" i="0">
                <a:solidFill>
                  <a:srgbClr val="111111"/>
                </a:solidFill>
                <a:latin typeface="Arial"/>
              </a:rPr>
              <a:t>CodeRule_2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40016" y="4508500"/>
            <a:ext cx="952476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48" b="1" i="0">
                <a:solidFill>
                  <a:srgbClr val="111111"/>
                </a:solidFill>
                <a:latin typeface="Arial"/>
              </a:rPr>
              <a:t>CodeRule_0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60663" y="5365750"/>
            <a:ext cx="1079473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48" b="1" i="0">
                <a:solidFill>
                  <a:srgbClr val="111111"/>
                </a:solidFill>
                <a:latin typeface="Arial"/>
              </a:rPr>
              <a:t>CodeRule_1</a:t>
            </a:r>
          </a:p>
        </p:txBody>
      </p:sp>
      <p:sp>
        <p:nvSpPr>
          <p:cNvPr id="132" name="Oval 131"/>
          <p:cNvSpPr/>
          <p:nvPr/>
        </p:nvSpPr>
        <p:spPr>
          <a:xfrm>
            <a:off x="298442" y="6140450"/>
            <a:ext cx="165095" cy="165100"/>
          </a:xfrm>
          <a:prstGeom prst="ellipse">
            <a:avLst/>
          </a:prstGeom>
          <a:solidFill>
            <a:srgbClr val="FFDC68"/>
          </a:solidFill>
          <a:ln w="19050">
            <a:solidFill>
              <a:srgbClr val="5D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298442" y="6223000"/>
            <a:ext cx="165096" cy="0"/>
          </a:xfrm>
          <a:prstGeom prst="line">
            <a:avLst/>
          </a:prstGeom>
          <a:ln w="19050">
            <a:solidFill>
              <a:srgbClr val="5D5D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482587" y="6115050"/>
            <a:ext cx="253993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/</a:t>
            </a:r>
          </a:p>
        </p:txBody>
      </p:sp>
      <p:sp>
        <p:nvSpPr>
          <p:cNvPr id="135" name="Oval 134"/>
          <p:cNvSpPr/>
          <p:nvPr/>
        </p:nvSpPr>
        <p:spPr>
          <a:xfrm>
            <a:off x="622284" y="6140450"/>
            <a:ext cx="165095" cy="165100"/>
          </a:xfrm>
          <a:prstGeom prst="ellipse">
            <a:avLst/>
          </a:prstGeom>
          <a:solidFill>
            <a:srgbClr val="E3E3E3"/>
          </a:solidFill>
          <a:ln w="19050">
            <a:solidFill>
              <a:srgbClr val="5D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622284" y="6223000"/>
            <a:ext cx="165096" cy="0"/>
          </a:xfrm>
          <a:prstGeom prst="line">
            <a:avLst/>
          </a:prstGeom>
          <a:ln w="19050">
            <a:solidFill>
              <a:srgbClr val="5D5D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869928" y="6108700"/>
            <a:ext cx="4381390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48" b="1" i="0">
                <a:solidFill>
                  <a:srgbClr val="111111"/>
                </a:solidFill>
                <a:latin typeface="Arial"/>
              </a:rPr>
              <a:t>Regions covered by selected/dropped CodeRules</a:t>
            </a:r>
          </a:p>
        </p:txBody>
      </p:sp>
      <p:sp>
        <p:nvSpPr>
          <p:cNvPr id="138" name="Oval 137"/>
          <p:cNvSpPr/>
          <p:nvPr/>
        </p:nvSpPr>
        <p:spPr>
          <a:xfrm>
            <a:off x="298442" y="6362700"/>
            <a:ext cx="165095" cy="165100"/>
          </a:xfrm>
          <a:prstGeom prst="ellipse">
            <a:avLst/>
          </a:prstGeom>
          <a:solidFill>
            <a:srgbClr val="47E5F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82587" y="6337300"/>
            <a:ext cx="253993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1" i="0">
                <a:solidFill>
                  <a:srgbClr val="111111"/>
                </a:solidFill>
                <a:latin typeface="Arial"/>
              </a:rPr>
              <a:t>/</a:t>
            </a:r>
          </a:p>
        </p:txBody>
      </p:sp>
      <p:sp>
        <p:nvSpPr>
          <p:cNvPr id="140" name="Oval 139"/>
          <p:cNvSpPr/>
          <p:nvPr/>
        </p:nvSpPr>
        <p:spPr>
          <a:xfrm>
            <a:off x="622284" y="6362700"/>
            <a:ext cx="165095" cy="165100"/>
          </a:xfrm>
          <a:prstGeom prst="ellipse">
            <a:avLst/>
          </a:prstGeom>
          <a:solidFill>
            <a:srgbClr val="F05EA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69928" y="6330950"/>
            <a:ext cx="4381390" cy="22225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48" b="1" i="0">
                <a:solidFill>
                  <a:srgbClr val="111111"/>
                </a:solidFill>
                <a:latin typeface="Arial"/>
              </a:rPr>
              <a:t>Transitions can/cannot be predicted by world model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784705" y="3575049"/>
            <a:ext cx="6064098" cy="93344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051398" y="3632200"/>
            <a:ext cx="615934" cy="190499"/>
          </a:xfrm>
          <a:prstGeom prst="rect">
            <a:avLst/>
          </a:prstGeom>
          <a:solidFill>
            <a:srgbClr val="FF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943851" y="3632200"/>
            <a:ext cx="1473163" cy="190499"/>
          </a:xfrm>
          <a:prstGeom prst="rect">
            <a:avLst/>
          </a:prstGeom>
          <a:solidFill>
            <a:srgbClr val="FF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051398" y="4216400"/>
            <a:ext cx="438139" cy="190499"/>
          </a:xfrm>
          <a:prstGeom prst="rect">
            <a:avLst/>
          </a:prstGeom>
          <a:solidFill>
            <a:srgbClr val="FF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743531" y="4216400"/>
            <a:ext cx="1257268" cy="190499"/>
          </a:xfrm>
          <a:prstGeom prst="rect">
            <a:avLst/>
          </a:prstGeom>
          <a:solidFill>
            <a:srgbClr val="FF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064498" y="4216400"/>
            <a:ext cx="1085822" cy="190499"/>
          </a:xfrm>
          <a:prstGeom prst="rect">
            <a:avLst/>
          </a:prstGeom>
          <a:solidFill>
            <a:srgbClr val="FF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057748" y="3632200"/>
            <a:ext cx="761980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92" b="1" i="0">
                <a:solidFill>
                  <a:srgbClr val="111111"/>
                </a:solidFill>
                <a:latin typeface="DejaVu Sans Mono"/>
              </a:rPr>
              <a:t>Prompt: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845128" y="3632200"/>
            <a:ext cx="3047923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92" b="1" i="0">
                <a:solidFill>
                  <a:srgbClr val="111111"/>
                </a:solidFill>
                <a:latin typeface="DejaVu Sans Mono"/>
              </a:rPr>
              <a:t>Implement the learned rules in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981950" y="3632200"/>
            <a:ext cx="1650958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92" b="1" i="0">
                <a:solidFill>
                  <a:srgbClr val="111111"/>
                </a:solidFill>
                <a:latin typeface="DejaVu Sans Mono"/>
              </a:rPr>
              <a:t>Python function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057748" y="3829050"/>
            <a:ext cx="5651358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92" b="1" i="0">
                <a:solidFill>
                  <a:srgbClr val="111111"/>
                </a:solidFill>
                <a:latin typeface="DejaVu Sans Mono"/>
              </a:rPr>
              <a:t>to evaluate a observation and action, optionally using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057748" y="4025900"/>
            <a:ext cx="5587860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92" b="1" i="0">
                <a:solidFill>
                  <a:srgbClr val="111111"/>
                </a:solidFill>
                <a:latin typeface="DejaVu Sans Mono"/>
              </a:rPr>
              <a:t>the Knowledge Graph or Scene Graph as extra arguments.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057748" y="4216400"/>
            <a:ext cx="5587860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92" b="1" i="0">
                <a:solidFill>
                  <a:srgbClr val="111111"/>
                </a:solidFill>
                <a:latin typeface="DejaVu Sans Mono"/>
              </a:rPr>
              <a:t>Input:  [textual rules, knowledge_graph, scene_graph]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784705" y="4616450"/>
            <a:ext cx="6089497" cy="292100"/>
          </a:xfrm>
          <a:prstGeom prst="roundRect">
            <a:avLst/>
          </a:prstGeom>
          <a:solidFill>
            <a:srgbClr val="FFC9C9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791055" y="4629150"/>
            <a:ext cx="6070448" cy="254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4" b="0" i="0">
                <a:solidFill>
                  <a:srgbClr val="111111"/>
                </a:solidFill>
                <a:latin typeface="Arial"/>
              </a:rPr>
              <a:t>LLM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8826279" y="4914900"/>
            <a:ext cx="0" cy="14605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5784705" y="5067300"/>
            <a:ext cx="6089497" cy="14795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051398" y="5130800"/>
            <a:ext cx="2317692" cy="190499"/>
          </a:xfrm>
          <a:prstGeom prst="rect">
            <a:avLst/>
          </a:prstGeom>
          <a:solidFill>
            <a:srgbClr val="FF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051398" y="5346700"/>
            <a:ext cx="3663858" cy="190499"/>
          </a:xfrm>
          <a:prstGeom prst="rect">
            <a:avLst/>
          </a:prstGeom>
          <a:solidFill>
            <a:srgbClr val="D7F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051398" y="6000750"/>
            <a:ext cx="3663858" cy="190499"/>
          </a:xfrm>
          <a:prstGeom prst="rect">
            <a:avLst/>
          </a:prstGeom>
          <a:solidFill>
            <a:srgbClr val="D7F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057748" y="5130800"/>
            <a:ext cx="2476438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92" b="1" i="0">
                <a:solidFill>
                  <a:srgbClr val="111111"/>
                </a:solidFill>
                <a:latin typeface="DejaVu Sans Mono"/>
              </a:rPr>
              <a:t>Output: [code rules]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57748" y="5346700"/>
            <a:ext cx="5397365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14" b="1" i="0">
                <a:solidFill>
                  <a:srgbClr val="111111"/>
                </a:solidFill>
                <a:latin typeface="DejaVu Sans Mono"/>
              </a:rPr>
              <a:t>def CodeRule_0(observation, action, knowledge_graph):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413339" y="5562600"/>
            <a:ext cx="5079873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14" b="1" i="0">
                <a:solidFill>
                  <a:srgbClr val="111111"/>
                </a:solidFill>
                <a:latin typeface="DejaVu Sans Mono"/>
              </a:rPr>
              <a:t>if state["inventory"].get(material, 0) &lt; quantity: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62580" y="5772150"/>
            <a:ext cx="634984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14" b="1" i="0">
                <a:solidFill>
                  <a:srgbClr val="111111"/>
                </a:solidFill>
                <a:latin typeface="DejaVu Sans Mono"/>
              </a:rPr>
              <a:t>...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057748" y="6000750"/>
            <a:ext cx="5397365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14" b="1" i="0">
                <a:solidFill>
                  <a:srgbClr val="111111"/>
                </a:solidFill>
                <a:latin typeface="DejaVu Sans Mono"/>
              </a:rPr>
              <a:t>def CodeRule_i(observation, action, scene_graph):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413339" y="6216650"/>
            <a:ext cx="5079873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14" b="1" i="0">
                <a:solidFill>
                  <a:srgbClr val="111111"/>
                </a:solidFill>
                <a:latin typeface="DejaVu Sans Mono"/>
              </a:rPr>
              <a:t>if "Unexplored" not in location_items: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762580" y="6426200"/>
            <a:ext cx="634984" cy="177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14" b="1" i="0">
                <a:solidFill>
                  <a:srgbClr val="111111"/>
                </a:solidFill>
                <a:latin typeface="DejaVu Sans Mono"/>
              </a:rPr>
              <a:t>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ALL-E World Alignment by NeuroSymbolic Learning improves World Model-based LLM Agent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84"/>
            <a:ext cx="12191695" cy="67308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