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7474184" cy="887882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Reconstructed from the supplied BeyondMix reference. Text, mathematical labels, cells, planes, circles, borders and arrows are editable PowerPoint objects. The nine point-cloud viewports are embedded raster crops. Original wording, including “Sourse Domain”, is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White page"/>
          <p:cNvSpPr/>
          <p:nvPr/>
        </p:nvSpPr>
        <p:spPr>
          <a:xfrm>
            <a:off x="0" y="0"/>
            <a:ext cx="17474184" cy="8878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ource domain background"/>
          <p:cNvSpPr/>
          <p:nvPr/>
        </p:nvSpPr>
        <p:spPr>
          <a:xfrm>
            <a:off x="-27432" y="201168"/>
            <a:ext cx="11082528" cy="2697480"/>
          </a:xfrm>
          <a:prstGeom prst="roundRect">
            <a:avLst>
              <a:gd name="adj" fmla="val 6779"/>
            </a:avLst>
          </a:prstGeom>
          <a:solidFill>
            <a:srgbClr val="FBF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Mixed domain background"/>
          <p:cNvSpPr/>
          <p:nvPr/>
        </p:nvSpPr>
        <p:spPr>
          <a:xfrm>
            <a:off x="-27432" y="2898648"/>
            <a:ext cx="11082528" cy="3355848"/>
          </a:xfrm>
          <a:prstGeom prst="roundRect">
            <a:avLst>
              <a:gd name="adj" fmla="val 5449"/>
            </a:avLst>
          </a:prstGeom>
          <a:solidFill>
            <a:srgbClr val="F7F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arget domain background"/>
          <p:cNvSpPr/>
          <p:nvPr/>
        </p:nvSpPr>
        <p:spPr>
          <a:xfrm>
            <a:off x="-27432" y="6245352"/>
            <a:ext cx="11082528" cy="2651760"/>
          </a:xfrm>
          <a:prstGeom prst="roundRect">
            <a:avLst>
              <a:gd name="adj" fmla="val 6896"/>
            </a:avLst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Structural priors background"/>
          <p:cNvSpPr/>
          <p:nvPr/>
        </p:nvSpPr>
        <p:spPr>
          <a:xfrm>
            <a:off x="11055096" y="210312"/>
            <a:ext cx="6355080" cy="8677656"/>
          </a:xfrm>
          <a:prstGeom prst="roundRect">
            <a:avLst>
              <a:gd name="adj" fmla="val 4028"/>
            </a:avLst>
          </a:prstGeom>
          <a:solidFill>
            <a:srgbClr val="FFFE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omain panel dashed boundary"/>
          <p:cNvSpPr/>
          <p:nvPr/>
        </p:nvSpPr>
        <p:spPr>
          <a:xfrm>
            <a:off x="-45720" y="196596"/>
            <a:ext cx="11100816" cy="8695944"/>
          </a:xfrm>
          <a:prstGeom prst="roundRect">
            <a:avLst>
              <a:gd name="adj" fmla="val 2839"/>
            </a:avLst>
          </a:prstGeom>
          <a:noFill/>
          <a:ln w="30175">
            <a:solidFill>
              <a:srgbClr val="000000"/>
            </a:solidFill>
            <a:custDash>
              <a:ds d="424242" sp="303030"/>
            </a:custDash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riors panel dashed boundary"/>
          <p:cNvSpPr/>
          <p:nvPr/>
        </p:nvSpPr>
        <p:spPr>
          <a:xfrm>
            <a:off x="11055096" y="210312"/>
            <a:ext cx="6355080" cy="8677656"/>
          </a:xfrm>
          <a:prstGeom prst="roundRect">
            <a:avLst>
              <a:gd name="adj" fmla="val 4028"/>
            </a:avLst>
          </a:prstGeom>
          <a:noFill/>
          <a:ln w="31089">
            <a:solidFill>
              <a:srgbClr val="000000"/>
            </a:solidFill>
            <a:custDash>
              <a:ds d="823529" sp="294118"/>
            </a:custDash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" name="Source input to mixed input"/>
          <p:cNvCxnSpPr/>
          <p:nvPr/>
        </p:nvCxnSpPr>
        <p:spPr>
          <a:xfrm>
            <a:off x="1124712" y="1947672"/>
            <a:ext cx="0" cy="1920240"/>
          </a:xfrm>
          <a:prstGeom prst="line">
            <a:avLst/>
          </a:prstGeom>
          <a:ln w="25603">
            <a:solidFill>
              <a:srgbClr val="000000"/>
            </a:solidFill>
            <a:miter lim="800000"/>
          </a:ln>
          <a:effectLst/>
        </p:spPr>
      </p:cxnSp>
      <p:sp>
        <p:nvSpPr>
          <p:cNvPr id="10" name="Source input to mixed input end"/>
          <p:cNvSpPr/>
          <p:nvPr/>
        </p:nvSpPr>
        <p:spPr>
          <a:xfrm>
            <a:off x="1069848" y="3712464"/>
            <a:ext cx="109728" cy="155448"/>
          </a:xfrm>
          <a:custGeom>
            <a:avLst/>
            <a:gdLst/>
            <a:ahLst/>
            <a:cxnLst/>
            <a:rect l="0" t="0" r="r" b="b"/>
            <a:pathLst>
              <a:path w="12000" h="17000">
                <a:moveTo>
                  <a:pt x="6000" y="17000"/>
                </a:moveTo>
                <a:lnTo>
                  <a:pt x="0" y="0"/>
                </a:lnTo>
                <a:lnTo>
                  <a:pt x="6000" y="5950"/>
                </a:lnTo>
                <a:lnTo>
                  <a:pt x="120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Target input to mixed input"/>
          <p:cNvCxnSpPr/>
          <p:nvPr/>
        </p:nvCxnSpPr>
        <p:spPr>
          <a:xfrm flipV="1">
            <a:off x="1124712" y="5212080"/>
            <a:ext cx="0" cy="1591056"/>
          </a:xfrm>
          <a:prstGeom prst="line">
            <a:avLst/>
          </a:prstGeom>
          <a:ln w="25603">
            <a:solidFill>
              <a:srgbClr val="000000"/>
            </a:solidFill>
            <a:miter lim="800000"/>
          </a:ln>
          <a:effectLst/>
        </p:spPr>
      </p:cxnSp>
      <p:sp>
        <p:nvSpPr>
          <p:cNvPr id="12" name="Target input to mixed input end"/>
          <p:cNvSpPr/>
          <p:nvPr/>
        </p:nvSpPr>
        <p:spPr>
          <a:xfrm>
            <a:off x="1069848" y="5212080"/>
            <a:ext cx="109728" cy="155448"/>
          </a:xfrm>
          <a:custGeom>
            <a:avLst/>
            <a:gdLst/>
            <a:ahLst/>
            <a:cxnLst/>
            <a:rect l="0" t="0" r="r" b="b"/>
            <a:pathLst>
              <a:path w="12000" h="17000">
                <a:moveTo>
                  <a:pt x="6000" y="0"/>
                </a:moveTo>
                <a:lnTo>
                  <a:pt x="12000" y="17000"/>
                </a:lnTo>
                <a:lnTo>
                  <a:pt x="6000" y="11050"/>
                </a:lnTo>
                <a:lnTo>
                  <a:pt x="0" y="17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Source label to mixed label"/>
          <p:cNvCxnSpPr/>
          <p:nvPr/>
        </p:nvCxnSpPr>
        <p:spPr>
          <a:xfrm>
            <a:off x="9710928" y="1947672"/>
            <a:ext cx="0" cy="1920240"/>
          </a:xfrm>
          <a:prstGeom prst="line">
            <a:avLst/>
          </a:prstGeom>
          <a:ln w="25603">
            <a:solidFill>
              <a:srgbClr val="000000"/>
            </a:solidFill>
            <a:miter lim="800000"/>
          </a:ln>
          <a:effectLst/>
        </p:spPr>
      </p:cxnSp>
      <p:sp>
        <p:nvSpPr>
          <p:cNvPr id="14" name="Source label to mixed label end"/>
          <p:cNvSpPr/>
          <p:nvPr/>
        </p:nvSpPr>
        <p:spPr>
          <a:xfrm>
            <a:off x="9656064" y="3712464"/>
            <a:ext cx="109728" cy="155448"/>
          </a:xfrm>
          <a:custGeom>
            <a:avLst/>
            <a:gdLst/>
            <a:ahLst/>
            <a:cxnLst/>
            <a:rect l="0" t="0" r="r" b="b"/>
            <a:pathLst>
              <a:path w="12000" h="17000">
                <a:moveTo>
                  <a:pt x="6000" y="17000"/>
                </a:moveTo>
                <a:lnTo>
                  <a:pt x="0" y="0"/>
                </a:lnTo>
                <a:lnTo>
                  <a:pt x="6000" y="5950"/>
                </a:lnTo>
                <a:lnTo>
                  <a:pt x="120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" name="Pseudo label to mixed label"/>
          <p:cNvCxnSpPr/>
          <p:nvPr/>
        </p:nvCxnSpPr>
        <p:spPr>
          <a:xfrm flipV="1">
            <a:off x="9710928" y="5212080"/>
            <a:ext cx="0" cy="1591056"/>
          </a:xfrm>
          <a:prstGeom prst="line">
            <a:avLst/>
          </a:prstGeom>
          <a:ln w="25603">
            <a:solidFill>
              <a:srgbClr val="000000"/>
            </a:solidFill>
            <a:miter lim="800000"/>
          </a:ln>
          <a:effectLst/>
        </p:spPr>
      </p:cxnSp>
      <p:sp>
        <p:nvSpPr>
          <p:cNvPr id="16" name="Pseudo label to mixed label end"/>
          <p:cNvSpPr/>
          <p:nvPr/>
        </p:nvSpPr>
        <p:spPr>
          <a:xfrm>
            <a:off x="9656064" y="5212080"/>
            <a:ext cx="109728" cy="155448"/>
          </a:xfrm>
          <a:custGeom>
            <a:avLst/>
            <a:gdLst/>
            <a:ahLst/>
            <a:cxnLst/>
            <a:rect l="0" t="0" r="r" b="b"/>
            <a:pathLst>
              <a:path w="12000" h="17000">
                <a:moveTo>
                  <a:pt x="6000" y="0"/>
                </a:moveTo>
                <a:lnTo>
                  <a:pt x="12000" y="17000"/>
                </a:lnTo>
                <a:lnTo>
                  <a:pt x="6000" y="11050"/>
                </a:lnTo>
                <a:lnTo>
                  <a:pt x="0" y="17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Shared student encoder"/>
          <p:cNvCxnSpPr/>
          <p:nvPr/>
        </p:nvCxnSpPr>
        <p:spPr>
          <a:xfrm>
            <a:off x="3031236" y="1847088"/>
            <a:ext cx="32004" cy="2139696"/>
          </a:xfrm>
          <a:prstGeom prst="line">
            <a:avLst/>
          </a:prstGeom>
          <a:ln w="27432">
            <a:solidFill>
              <a:srgbClr val="000000"/>
            </a:solidFill>
            <a:custDash>
              <a:ds d="466667" sp="333333"/>
            </a:custDash>
            <a:miter lim="800000"/>
          </a:ln>
          <a:effectLst/>
        </p:spPr>
      </p:cxnSp>
      <p:sp>
        <p:nvSpPr>
          <p:cNvPr id="18" name="Shared student encoder end"/>
          <p:cNvSpPr/>
          <p:nvPr/>
        </p:nvSpPr>
        <p:spPr>
          <a:xfrm>
            <a:off x="2997325" y="3857825"/>
            <a:ext cx="128002" cy="128959"/>
          </a:xfrm>
          <a:custGeom>
            <a:avLst/>
            <a:gdLst/>
            <a:ahLst/>
            <a:cxnLst/>
            <a:rect l="0" t="0" r="r" b="b"/>
            <a:pathLst>
              <a:path w="13998" h="14103">
                <a:moveTo>
                  <a:pt x="7209" y="14103"/>
                </a:moveTo>
                <a:lnTo>
                  <a:pt x="0" y="209"/>
                </a:lnTo>
                <a:lnTo>
                  <a:pt x="7072" y="5004"/>
                </a:lnTo>
                <a:lnTo>
                  <a:pt x="1399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Shared student encoder start"/>
          <p:cNvSpPr/>
          <p:nvPr/>
        </p:nvSpPr>
        <p:spPr>
          <a:xfrm>
            <a:off x="2969150" y="1847088"/>
            <a:ext cx="128002" cy="128959"/>
          </a:xfrm>
          <a:custGeom>
            <a:avLst/>
            <a:gdLst/>
            <a:ahLst/>
            <a:cxnLst/>
            <a:rect l="0" t="0" r="r" b="b"/>
            <a:pathLst>
              <a:path w="13998" h="14103">
                <a:moveTo>
                  <a:pt x="6790" y="0"/>
                </a:moveTo>
                <a:lnTo>
                  <a:pt x="13998" y="13894"/>
                </a:lnTo>
                <a:lnTo>
                  <a:pt x="6926" y="9099"/>
                </a:lnTo>
                <a:lnTo>
                  <a:pt x="0" y="1410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" name="Shared student decoder"/>
          <p:cNvCxnSpPr/>
          <p:nvPr/>
        </p:nvCxnSpPr>
        <p:spPr>
          <a:xfrm>
            <a:off x="4645152" y="1847088"/>
            <a:ext cx="27432" cy="2130552"/>
          </a:xfrm>
          <a:prstGeom prst="line">
            <a:avLst/>
          </a:prstGeom>
          <a:ln w="27432">
            <a:solidFill>
              <a:srgbClr val="000000"/>
            </a:solidFill>
            <a:custDash>
              <a:ds d="466667" sp="333333"/>
            </a:custDash>
            <a:miter lim="800000"/>
          </a:ln>
          <a:effectLst/>
        </p:spPr>
      </p:cxnSp>
      <p:sp>
        <p:nvSpPr>
          <p:cNvPr id="21" name="Shared student decoder end"/>
          <p:cNvSpPr/>
          <p:nvPr/>
        </p:nvSpPr>
        <p:spPr>
          <a:xfrm>
            <a:off x="4606933" y="3848811"/>
            <a:ext cx="128005" cy="128829"/>
          </a:xfrm>
          <a:custGeom>
            <a:avLst/>
            <a:gdLst/>
            <a:ahLst/>
            <a:cxnLst/>
            <a:rect l="0" t="0" r="r" b="b"/>
            <a:pathLst>
              <a:path w="13999" h="14089">
                <a:moveTo>
                  <a:pt x="7180" y="14089"/>
                </a:moveTo>
                <a:lnTo>
                  <a:pt x="0" y="180"/>
                </a:lnTo>
                <a:lnTo>
                  <a:pt x="7063" y="4990"/>
                </a:lnTo>
                <a:lnTo>
                  <a:pt x="1399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Shared student decoder start"/>
          <p:cNvSpPr/>
          <p:nvPr/>
        </p:nvSpPr>
        <p:spPr>
          <a:xfrm>
            <a:off x="4582797" y="1847088"/>
            <a:ext cx="128005" cy="128829"/>
          </a:xfrm>
          <a:custGeom>
            <a:avLst/>
            <a:gdLst/>
            <a:ahLst/>
            <a:cxnLst/>
            <a:rect l="0" t="0" r="r" b="b"/>
            <a:pathLst>
              <a:path w="13999" h="14089">
                <a:moveTo>
                  <a:pt x="6819" y="0"/>
                </a:moveTo>
                <a:lnTo>
                  <a:pt x="13999" y="13909"/>
                </a:lnTo>
                <a:lnTo>
                  <a:pt x="6936" y="9099"/>
                </a:lnTo>
                <a:lnTo>
                  <a:pt x="0" y="140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Encoder EMA update"/>
          <p:cNvCxnSpPr/>
          <p:nvPr/>
        </p:nvCxnSpPr>
        <p:spPr>
          <a:xfrm>
            <a:off x="3063240" y="5038344"/>
            <a:ext cx="0" cy="1856232"/>
          </a:xfrm>
          <a:prstGeom prst="line">
            <a:avLst/>
          </a:prstGeom>
          <a:ln w="27432">
            <a:solidFill>
              <a:srgbClr val="000000"/>
            </a:solidFill>
            <a:custDash>
              <a:ds d="466667" sp="333333"/>
            </a:custDash>
            <a:miter lim="800000"/>
          </a:ln>
          <a:effectLst/>
        </p:spPr>
      </p:cxnSp>
      <p:sp>
        <p:nvSpPr>
          <p:cNvPr id="24" name="Encoder EMA update end"/>
          <p:cNvSpPr/>
          <p:nvPr/>
        </p:nvSpPr>
        <p:spPr>
          <a:xfrm>
            <a:off x="2999232" y="6711696"/>
            <a:ext cx="128016" cy="182880"/>
          </a:xfrm>
          <a:custGeom>
            <a:avLst/>
            <a:gdLst/>
            <a:ahLst/>
            <a:cxnLst/>
            <a:rect l="0" t="0" r="r" b="b"/>
            <a:pathLst>
              <a:path w="14000" h="20000">
                <a:moveTo>
                  <a:pt x="7000" y="20000"/>
                </a:moveTo>
                <a:lnTo>
                  <a:pt x="0" y="0"/>
                </a:lnTo>
                <a:lnTo>
                  <a:pt x="7000" y="7000"/>
                </a:lnTo>
                <a:lnTo>
                  <a:pt x="140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" name="Decoder EMA update"/>
          <p:cNvCxnSpPr/>
          <p:nvPr/>
        </p:nvCxnSpPr>
        <p:spPr>
          <a:xfrm>
            <a:off x="4681728" y="5038344"/>
            <a:ext cx="0" cy="1856232"/>
          </a:xfrm>
          <a:prstGeom prst="line">
            <a:avLst/>
          </a:prstGeom>
          <a:ln w="27432">
            <a:solidFill>
              <a:srgbClr val="000000"/>
            </a:solidFill>
            <a:custDash>
              <a:ds d="466667" sp="333333"/>
            </a:custDash>
            <a:miter lim="800000"/>
          </a:ln>
          <a:effectLst/>
        </p:spPr>
      </p:cxnSp>
      <p:sp>
        <p:nvSpPr>
          <p:cNvPr id="26" name="Decoder EMA update end"/>
          <p:cNvSpPr/>
          <p:nvPr/>
        </p:nvSpPr>
        <p:spPr>
          <a:xfrm>
            <a:off x="4617720" y="6711696"/>
            <a:ext cx="128016" cy="182880"/>
          </a:xfrm>
          <a:custGeom>
            <a:avLst/>
            <a:gdLst/>
            <a:ahLst/>
            <a:cxnLst/>
            <a:rect l="0" t="0" r="r" b="b"/>
            <a:pathLst>
              <a:path w="14000" h="20000">
                <a:moveTo>
                  <a:pt x="7000" y="20000"/>
                </a:moveTo>
                <a:lnTo>
                  <a:pt x="0" y="0"/>
                </a:lnTo>
                <a:lnTo>
                  <a:pt x="7000" y="7000"/>
                </a:lnTo>
                <a:lnTo>
                  <a:pt x="140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Feature F to structural priors"/>
          <p:cNvSpPr/>
          <p:nvPr/>
        </p:nvSpPr>
        <p:spPr>
          <a:xfrm>
            <a:off x="3849624" y="3049524"/>
            <a:ext cx="7196328" cy="1065276"/>
          </a:xfrm>
          <a:custGeom>
            <a:avLst/>
            <a:gdLst/>
            <a:ahLst/>
            <a:cxnLst/>
            <a:rect l="0" t="0" r="r" b="b"/>
            <a:pathLst>
              <a:path w="787000" h="116500">
                <a:moveTo>
                  <a:pt x="0" y="116500"/>
                </a:moveTo>
                <a:lnTo>
                  <a:pt x="0" y="0"/>
                </a:lnTo>
                <a:lnTo>
                  <a:pt x="787000" y="0"/>
                </a:lnTo>
              </a:path>
            </a:pathLst>
          </a:custGeom>
          <a:noFill/>
          <a:ln w="29260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Feature F to structural priors end"/>
          <p:cNvSpPr/>
          <p:nvPr/>
        </p:nvSpPr>
        <p:spPr>
          <a:xfrm>
            <a:off x="10917936" y="2985516"/>
            <a:ext cx="128016" cy="128016"/>
          </a:xfrm>
          <a:custGeom>
            <a:avLst/>
            <a:gdLst/>
            <a:ahLst/>
            <a:cxnLst/>
            <a:rect l="0" t="0" r="r" b="b"/>
            <a:pathLst>
              <a:path w="14000" h="14000">
                <a:moveTo>
                  <a:pt x="14000" y="7000"/>
                </a:moveTo>
                <a:lnTo>
                  <a:pt x="0" y="14000"/>
                </a:lnTo>
                <a:lnTo>
                  <a:pt x="4900" y="7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Student encoder"/>
          <p:cNvSpPr/>
          <p:nvPr/>
        </p:nvSpPr>
        <p:spPr>
          <a:xfrm>
            <a:off x="2642616" y="649224"/>
            <a:ext cx="768096" cy="1298448"/>
          </a:xfrm>
          <a:custGeom>
            <a:avLst/>
            <a:gdLst/>
            <a:ahLst/>
            <a:cxnLst/>
            <a:rect l="0" t="0" r="r" b="b"/>
            <a:pathLst>
              <a:path w="84000" h="142000">
                <a:moveTo>
                  <a:pt x="0" y="0"/>
                </a:moveTo>
                <a:lnTo>
                  <a:pt x="84000" y="21000"/>
                </a:lnTo>
                <a:lnTo>
                  <a:pt x="84000" y="120000"/>
                </a:lnTo>
                <a:lnTo>
                  <a:pt x="0" y="142000"/>
                </a:lnTo>
                <a:close/>
              </a:path>
            </a:pathLst>
          </a:custGeom>
          <a:solidFill>
            <a:srgbClr val="FFE7D0"/>
          </a:solidFill>
          <a:ln w="39319">
            <a:solidFill>
              <a:srgbClr val="D76500"/>
            </a:solidFill>
            <a:miter lim="800000"/>
          </a:ln>
          <a:effectLst>
            <a:outerShdw blurRad="45720" dist="71323" dir="3000000" algn="tl" rotWithShape="0">
              <a:srgbClr val="000000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0" name="Editable ℰ"/>
          <p:cNvSpPr txBox="1"/>
          <p:nvPr/>
        </p:nvSpPr>
        <p:spPr>
          <a:xfrm>
            <a:off x="2688336" y="1035101"/>
            <a:ext cx="333942" cy="530352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79" b="0" i="0" dirty="0" kern="1200">
                <a:solidFill>
                  <a:srgbClr val="000000"/>
                </a:solidFill>
                <a:latin typeface="Latin Modern Math"/>
                <a:ea typeface="Latin Modern Math"/>
                <a:cs typeface="Latin Modern Math"/>
              </a:rPr>
              <a:t>ℰ</a:t>
            </a:r>
          </a:p>
        </p:txBody>
      </p:sp>
      <p:sp>
        <p:nvSpPr>
          <p:cNvPr id="31" name="Network subscript"/>
          <p:cNvSpPr txBox="1"/>
          <p:nvPr/>
        </p:nvSpPr>
        <p:spPr>
          <a:xfrm>
            <a:off x="2935224" y="1205472"/>
            <a:ext cx="451199" cy="424282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</a:t>
            </a:r>
          </a:p>
        </p:txBody>
      </p:sp>
      <p:sp>
        <p:nvSpPr>
          <p:cNvPr id="32" name="Student decoder"/>
          <p:cNvSpPr/>
          <p:nvPr/>
        </p:nvSpPr>
        <p:spPr>
          <a:xfrm>
            <a:off x="4261104" y="649224"/>
            <a:ext cx="768096" cy="1298448"/>
          </a:xfrm>
          <a:custGeom>
            <a:avLst/>
            <a:gdLst/>
            <a:ahLst/>
            <a:cxnLst/>
            <a:rect l="0" t="0" r="r" b="b"/>
            <a:pathLst>
              <a:path w="84000" h="142000">
                <a:moveTo>
                  <a:pt x="0" y="21000"/>
                </a:moveTo>
                <a:lnTo>
                  <a:pt x="84000" y="0"/>
                </a:lnTo>
                <a:lnTo>
                  <a:pt x="84000" y="142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E7D0"/>
          </a:solidFill>
          <a:ln w="39319">
            <a:solidFill>
              <a:srgbClr val="D76500"/>
            </a:solidFill>
            <a:miter lim="800000"/>
          </a:ln>
          <a:effectLst>
            <a:outerShdw blurRad="45720" dist="71323" dir="3000000" algn="tl" rotWithShape="0">
              <a:srgbClr val="000000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3" name="Editable 𝒟"/>
          <p:cNvSpPr txBox="1"/>
          <p:nvPr/>
        </p:nvSpPr>
        <p:spPr>
          <a:xfrm>
            <a:off x="4306824" y="1035101"/>
            <a:ext cx="428311" cy="530352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79" b="0" i="0" dirty="0" kern="1200">
                <a:solidFill>
                  <a:srgbClr val="000000"/>
                </a:solidFill>
                <a:latin typeface="Latin Modern Math"/>
                <a:ea typeface="Latin Modern Math"/>
                <a:cs typeface="Latin Modern Math"/>
              </a:rPr>
              <a:t>𝒟</a:t>
            </a:r>
          </a:p>
        </p:txBody>
      </p:sp>
      <p:sp>
        <p:nvSpPr>
          <p:cNvPr id="34" name="Network subscript"/>
          <p:cNvSpPr txBox="1"/>
          <p:nvPr/>
        </p:nvSpPr>
        <p:spPr>
          <a:xfrm>
            <a:off x="4553712" y="1205472"/>
            <a:ext cx="451199" cy="424282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</a:t>
            </a:r>
          </a:p>
        </p:txBody>
      </p:sp>
      <p:sp>
        <p:nvSpPr>
          <p:cNvPr id="35" name="Student encoder"/>
          <p:cNvSpPr/>
          <p:nvPr/>
        </p:nvSpPr>
        <p:spPr>
          <a:xfrm>
            <a:off x="2679192" y="3886200"/>
            <a:ext cx="768096" cy="1298448"/>
          </a:xfrm>
          <a:custGeom>
            <a:avLst/>
            <a:gdLst/>
            <a:ahLst/>
            <a:cxnLst/>
            <a:rect l="0" t="0" r="r" b="b"/>
            <a:pathLst>
              <a:path w="84000" h="142000">
                <a:moveTo>
                  <a:pt x="0" y="0"/>
                </a:moveTo>
                <a:lnTo>
                  <a:pt x="84000" y="21000"/>
                </a:lnTo>
                <a:lnTo>
                  <a:pt x="84000" y="120000"/>
                </a:lnTo>
                <a:lnTo>
                  <a:pt x="0" y="142000"/>
                </a:lnTo>
                <a:close/>
              </a:path>
            </a:pathLst>
          </a:custGeom>
          <a:solidFill>
            <a:srgbClr val="FFE7D0"/>
          </a:solidFill>
          <a:ln w="39319">
            <a:solidFill>
              <a:srgbClr val="D76500"/>
            </a:solidFill>
            <a:miter lim="800000"/>
          </a:ln>
          <a:effectLst>
            <a:outerShdw blurRad="45720" dist="71323" dir="3000000" algn="tl" rotWithShape="0">
              <a:srgbClr val="000000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6" name="Editable ℰ"/>
          <p:cNvSpPr txBox="1"/>
          <p:nvPr/>
        </p:nvSpPr>
        <p:spPr>
          <a:xfrm>
            <a:off x="2724912" y="4272077"/>
            <a:ext cx="333942" cy="530352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79" b="0" i="0" dirty="0" kern="1200">
                <a:solidFill>
                  <a:srgbClr val="000000"/>
                </a:solidFill>
                <a:latin typeface="Latin Modern Math"/>
                <a:ea typeface="Latin Modern Math"/>
                <a:cs typeface="Latin Modern Math"/>
              </a:rPr>
              <a:t>ℰ</a:t>
            </a:r>
          </a:p>
        </p:txBody>
      </p:sp>
      <p:sp>
        <p:nvSpPr>
          <p:cNvPr id="37" name="Network subscript"/>
          <p:cNvSpPr txBox="1"/>
          <p:nvPr/>
        </p:nvSpPr>
        <p:spPr>
          <a:xfrm>
            <a:off x="2971800" y="4442448"/>
            <a:ext cx="451199" cy="424282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</a:t>
            </a:r>
          </a:p>
        </p:txBody>
      </p:sp>
      <p:sp>
        <p:nvSpPr>
          <p:cNvPr id="38" name="Student decoder"/>
          <p:cNvSpPr/>
          <p:nvPr/>
        </p:nvSpPr>
        <p:spPr>
          <a:xfrm>
            <a:off x="4297680" y="3886200"/>
            <a:ext cx="768096" cy="1298448"/>
          </a:xfrm>
          <a:custGeom>
            <a:avLst/>
            <a:gdLst/>
            <a:ahLst/>
            <a:cxnLst/>
            <a:rect l="0" t="0" r="r" b="b"/>
            <a:pathLst>
              <a:path w="84000" h="142000">
                <a:moveTo>
                  <a:pt x="0" y="21000"/>
                </a:moveTo>
                <a:lnTo>
                  <a:pt x="84000" y="0"/>
                </a:lnTo>
                <a:lnTo>
                  <a:pt x="84000" y="142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E7D0"/>
          </a:solidFill>
          <a:ln w="39319">
            <a:solidFill>
              <a:srgbClr val="D76500"/>
            </a:solidFill>
            <a:miter lim="800000"/>
          </a:ln>
          <a:effectLst>
            <a:outerShdw blurRad="45720" dist="71323" dir="3000000" algn="tl" rotWithShape="0">
              <a:srgbClr val="000000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9" name="Editable 𝒟"/>
          <p:cNvSpPr txBox="1"/>
          <p:nvPr/>
        </p:nvSpPr>
        <p:spPr>
          <a:xfrm>
            <a:off x="4343400" y="4272077"/>
            <a:ext cx="428311" cy="530352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79" b="0" i="0" dirty="0" kern="1200">
                <a:solidFill>
                  <a:srgbClr val="000000"/>
                </a:solidFill>
                <a:latin typeface="Latin Modern Math"/>
                <a:ea typeface="Latin Modern Math"/>
                <a:cs typeface="Latin Modern Math"/>
              </a:rPr>
              <a:t>𝒟</a:t>
            </a:r>
          </a:p>
        </p:txBody>
      </p:sp>
      <p:sp>
        <p:nvSpPr>
          <p:cNvPr id="40" name="Network subscript"/>
          <p:cNvSpPr txBox="1"/>
          <p:nvPr/>
        </p:nvSpPr>
        <p:spPr>
          <a:xfrm>
            <a:off x="4590288" y="4442448"/>
            <a:ext cx="451199" cy="424282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</a:t>
            </a:r>
          </a:p>
        </p:txBody>
      </p:sp>
      <p:sp>
        <p:nvSpPr>
          <p:cNvPr id="41" name="Teacher encoder"/>
          <p:cNvSpPr/>
          <p:nvPr/>
        </p:nvSpPr>
        <p:spPr>
          <a:xfrm>
            <a:off x="2679192" y="6803136"/>
            <a:ext cx="768096" cy="1298448"/>
          </a:xfrm>
          <a:custGeom>
            <a:avLst/>
            <a:gdLst/>
            <a:ahLst/>
            <a:cxnLst/>
            <a:rect l="0" t="0" r="r" b="b"/>
            <a:pathLst>
              <a:path w="84000" h="142000">
                <a:moveTo>
                  <a:pt x="0" y="0"/>
                </a:moveTo>
                <a:lnTo>
                  <a:pt x="84000" y="21000"/>
                </a:lnTo>
                <a:lnTo>
                  <a:pt x="84000" y="120000"/>
                </a:lnTo>
                <a:lnTo>
                  <a:pt x="0" y="142000"/>
                </a:lnTo>
                <a:close/>
              </a:path>
            </a:pathLst>
          </a:custGeom>
          <a:solidFill>
            <a:srgbClr val="CDD9EA"/>
          </a:solidFill>
          <a:ln w="39319">
            <a:solidFill>
              <a:srgbClr val="5F82BA"/>
            </a:solidFill>
            <a:miter lim="800000"/>
          </a:ln>
          <a:effectLst>
            <a:outerShdw blurRad="45720" dist="71323" dir="3000000" algn="tl" rotWithShape="0">
              <a:srgbClr val="000000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2" name="Editable ℰ"/>
          <p:cNvSpPr txBox="1"/>
          <p:nvPr/>
        </p:nvSpPr>
        <p:spPr>
          <a:xfrm>
            <a:off x="2724912" y="7189013"/>
            <a:ext cx="333942" cy="530352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79" b="0" i="0" dirty="0" kern="1200">
                <a:solidFill>
                  <a:srgbClr val="000000"/>
                </a:solidFill>
                <a:latin typeface="Latin Modern Math"/>
                <a:ea typeface="Latin Modern Math"/>
                <a:cs typeface="Latin Modern Math"/>
              </a:rPr>
              <a:t>ℰ</a:t>
            </a:r>
          </a:p>
        </p:txBody>
      </p:sp>
      <p:sp>
        <p:nvSpPr>
          <p:cNvPr id="43" name="Network subscript"/>
          <p:cNvSpPr txBox="1"/>
          <p:nvPr/>
        </p:nvSpPr>
        <p:spPr>
          <a:xfrm>
            <a:off x="2971800" y="7359384"/>
            <a:ext cx="467201" cy="424282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tea</a:t>
            </a:r>
          </a:p>
        </p:txBody>
      </p:sp>
      <p:sp>
        <p:nvSpPr>
          <p:cNvPr id="44" name="Teacher decoder"/>
          <p:cNvSpPr/>
          <p:nvPr/>
        </p:nvSpPr>
        <p:spPr>
          <a:xfrm>
            <a:off x="4297680" y="6803136"/>
            <a:ext cx="768096" cy="1298448"/>
          </a:xfrm>
          <a:custGeom>
            <a:avLst/>
            <a:gdLst/>
            <a:ahLst/>
            <a:cxnLst/>
            <a:rect l="0" t="0" r="r" b="b"/>
            <a:pathLst>
              <a:path w="84000" h="142000">
                <a:moveTo>
                  <a:pt x="0" y="21000"/>
                </a:moveTo>
                <a:lnTo>
                  <a:pt x="84000" y="0"/>
                </a:lnTo>
                <a:lnTo>
                  <a:pt x="84000" y="142000"/>
                </a:lnTo>
                <a:lnTo>
                  <a:pt x="0" y="120000"/>
                </a:lnTo>
                <a:close/>
              </a:path>
            </a:pathLst>
          </a:custGeom>
          <a:solidFill>
            <a:srgbClr val="CDD9EA"/>
          </a:solidFill>
          <a:ln w="39319">
            <a:solidFill>
              <a:srgbClr val="5F82BA"/>
            </a:solidFill>
            <a:miter lim="800000"/>
          </a:ln>
          <a:effectLst>
            <a:outerShdw blurRad="45720" dist="71323" dir="3000000" algn="tl" rotWithShape="0">
              <a:srgbClr val="000000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5" name="Editable 𝒟"/>
          <p:cNvSpPr txBox="1"/>
          <p:nvPr/>
        </p:nvSpPr>
        <p:spPr>
          <a:xfrm>
            <a:off x="4343400" y="7189013"/>
            <a:ext cx="428311" cy="530352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79" b="0" i="0" dirty="0" kern="1200">
                <a:solidFill>
                  <a:srgbClr val="000000"/>
                </a:solidFill>
                <a:latin typeface="Latin Modern Math"/>
                <a:ea typeface="Latin Modern Math"/>
                <a:cs typeface="Latin Modern Math"/>
              </a:rPr>
              <a:t>𝒟</a:t>
            </a:r>
          </a:p>
        </p:txBody>
      </p:sp>
      <p:sp>
        <p:nvSpPr>
          <p:cNvPr id="46" name="Network subscript"/>
          <p:cNvSpPr txBox="1"/>
          <p:nvPr/>
        </p:nvSpPr>
        <p:spPr>
          <a:xfrm>
            <a:off x="4590288" y="7359384"/>
            <a:ext cx="467201" cy="424282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tea</a:t>
            </a:r>
          </a:p>
        </p:txBody>
      </p:sp>
      <p:pic>
        <p:nvPicPr>
          <p:cNvPr id="47" name="source_input" descr="source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" y="662940"/>
            <a:ext cx="1911096" cy="1280160"/>
          </a:xfrm>
          <a:prstGeom prst="rect">
            <a:avLst/>
          </a:prstGeom>
        </p:spPr>
      </p:pic>
      <p:sp>
        <p:nvSpPr>
          <p:cNvPr id="48" name="source_input editable frame"/>
          <p:cNvSpPr/>
          <p:nvPr/>
        </p:nvSpPr>
        <p:spPr>
          <a:xfrm>
            <a:off x="228600" y="649224"/>
            <a:ext cx="1938528" cy="1307592"/>
          </a:xfrm>
          <a:prstGeom prst="rect">
            <a:avLst/>
          </a:prstGeom>
          <a:noFill/>
          <a:ln w="1965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9" name="source_prediction" descr="source_predi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2996" y="662940"/>
            <a:ext cx="1920240" cy="1280160"/>
          </a:xfrm>
          <a:prstGeom prst="rect">
            <a:avLst/>
          </a:prstGeom>
        </p:spPr>
      </p:pic>
      <p:sp>
        <p:nvSpPr>
          <p:cNvPr id="50" name="source_prediction editable frame"/>
          <p:cNvSpPr/>
          <p:nvPr/>
        </p:nvSpPr>
        <p:spPr>
          <a:xfrm>
            <a:off x="5669280" y="649224"/>
            <a:ext cx="1947672" cy="1307592"/>
          </a:xfrm>
          <a:prstGeom prst="rect">
            <a:avLst/>
          </a:prstGeom>
          <a:noFill/>
          <a:ln w="1965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1" name="source_label" descr="source_lab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6236" y="662940"/>
            <a:ext cx="1911096" cy="1280160"/>
          </a:xfrm>
          <a:prstGeom prst="rect">
            <a:avLst/>
          </a:prstGeom>
        </p:spPr>
      </p:pic>
      <p:sp>
        <p:nvSpPr>
          <p:cNvPr id="52" name="source_label editable frame"/>
          <p:cNvSpPr/>
          <p:nvPr/>
        </p:nvSpPr>
        <p:spPr>
          <a:xfrm>
            <a:off x="8732520" y="649224"/>
            <a:ext cx="1938528" cy="1307592"/>
          </a:xfrm>
          <a:prstGeom prst="rect">
            <a:avLst/>
          </a:prstGeom>
          <a:noFill/>
          <a:ln w="1965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3" name="mixed_input" descr="mixed_inp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04" y="3909060"/>
            <a:ext cx="1920240" cy="1280160"/>
          </a:xfrm>
          <a:prstGeom prst="rect">
            <a:avLst/>
          </a:prstGeom>
        </p:spPr>
      </p:pic>
      <p:sp>
        <p:nvSpPr>
          <p:cNvPr id="54" name="mixed_input editable frame"/>
          <p:cNvSpPr/>
          <p:nvPr/>
        </p:nvSpPr>
        <p:spPr>
          <a:xfrm>
            <a:off x="246888" y="3895344"/>
            <a:ext cx="1947672" cy="1307592"/>
          </a:xfrm>
          <a:prstGeom prst="rect">
            <a:avLst/>
          </a:prstGeom>
          <a:noFill/>
          <a:ln w="1965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5" name="mixed_prediction" descr="mixed_predic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0428" y="3909060"/>
            <a:ext cx="1911096" cy="1280160"/>
          </a:xfrm>
          <a:prstGeom prst="rect">
            <a:avLst/>
          </a:prstGeom>
        </p:spPr>
      </p:pic>
      <p:sp>
        <p:nvSpPr>
          <p:cNvPr id="56" name="mixed_prediction editable frame"/>
          <p:cNvSpPr/>
          <p:nvPr/>
        </p:nvSpPr>
        <p:spPr>
          <a:xfrm>
            <a:off x="5696712" y="3895344"/>
            <a:ext cx="1938528" cy="1307592"/>
          </a:xfrm>
          <a:prstGeom prst="rect">
            <a:avLst/>
          </a:prstGeom>
          <a:noFill/>
          <a:ln w="1965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7" name="mixed_label" descr="mixed_labe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4524" y="3909060"/>
            <a:ext cx="1920240" cy="1280160"/>
          </a:xfrm>
          <a:prstGeom prst="rect">
            <a:avLst/>
          </a:prstGeom>
        </p:spPr>
      </p:pic>
      <p:sp>
        <p:nvSpPr>
          <p:cNvPr id="58" name="mixed_label editable frame"/>
          <p:cNvSpPr/>
          <p:nvPr/>
        </p:nvSpPr>
        <p:spPr>
          <a:xfrm>
            <a:off x="8750808" y="3895344"/>
            <a:ext cx="1947672" cy="1307592"/>
          </a:xfrm>
          <a:prstGeom prst="rect">
            <a:avLst/>
          </a:prstGeom>
          <a:noFill/>
          <a:ln w="1965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9" name="target_input" descr="target_inpu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604" y="6825996"/>
            <a:ext cx="1920240" cy="1280160"/>
          </a:xfrm>
          <a:prstGeom prst="rect">
            <a:avLst/>
          </a:prstGeom>
        </p:spPr>
      </p:pic>
      <p:sp>
        <p:nvSpPr>
          <p:cNvPr id="60" name="target_input editable frame"/>
          <p:cNvSpPr/>
          <p:nvPr/>
        </p:nvSpPr>
        <p:spPr>
          <a:xfrm>
            <a:off x="246888" y="6812280"/>
            <a:ext cx="1947672" cy="1307592"/>
          </a:xfrm>
          <a:prstGeom prst="rect">
            <a:avLst/>
          </a:prstGeom>
          <a:noFill/>
          <a:ln w="1965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1" name="target_prediction" descr="target_predict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0428" y="6825996"/>
            <a:ext cx="1911096" cy="1280160"/>
          </a:xfrm>
          <a:prstGeom prst="rect">
            <a:avLst/>
          </a:prstGeom>
        </p:spPr>
      </p:pic>
      <p:sp>
        <p:nvSpPr>
          <p:cNvPr id="62" name="target_prediction editable frame"/>
          <p:cNvSpPr/>
          <p:nvPr/>
        </p:nvSpPr>
        <p:spPr>
          <a:xfrm>
            <a:off x="5696712" y="6812280"/>
            <a:ext cx="1938528" cy="1307592"/>
          </a:xfrm>
          <a:prstGeom prst="rect">
            <a:avLst/>
          </a:prstGeom>
          <a:noFill/>
          <a:ln w="1965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3" name="target_pseudo_label" descr="target_pseudo_labe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64524" y="6825996"/>
            <a:ext cx="1920240" cy="1280160"/>
          </a:xfrm>
          <a:prstGeom prst="rect">
            <a:avLst/>
          </a:prstGeom>
        </p:spPr>
      </p:pic>
      <p:sp>
        <p:nvSpPr>
          <p:cNvPr id="64" name="target_pseudo_label editable frame"/>
          <p:cNvSpPr/>
          <p:nvPr/>
        </p:nvSpPr>
        <p:spPr>
          <a:xfrm>
            <a:off x="8750808" y="6812280"/>
            <a:ext cx="1947672" cy="1307592"/>
          </a:xfrm>
          <a:prstGeom prst="rect">
            <a:avLst/>
          </a:prstGeom>
          <a:noFill/>
          <a:ln w="1965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5" name="Source forward pass"/>
          <p:cNvCxnSpPr/>
          <p:nvPr/>
        </p:nvCxnSpPr>
        <p:spPr>
          <a:xfrm>
            <a:off x="2176272" y="1298448"/>
            <a:ext cx="448056" cy="0"/>
          </a:xfrm>
          <a:prstGeom prst="line">
            <a:avLst/>
          </a:prstGeom>
          <a:ln w="27432">
            <a:solidFill>
              <a:srgbClr val="D61A34"/>
            </a:solidFill>
            <a:miter lim="800000"/>
          </a:ln>
          <a:effectLst/>
        </p:spPr>
      </p:cxnSp>
      <p:sp>
        <p:nvSpPr>
          <p:cNvPr id="66" name="Source forward pass end"/>
          <p:cNvSpPr/>
          <p:nvPr/>
        </p:nvSpPr>
        <p:spPr>
          <a:xfrm>
            <a:off x="2450592" y="1239012"/>
            <a:ext cx="173736" cy="118872"/>
          </a:xfrm>
          <a:custGeom>
            <a:avLst/>
            <a:gdLst/>
            <a:ahLst/>
            <a:cxnLst/>
            <a:rect l="0" t="0" r="r" b="b"/>
            <a:pathLst>
              <a:path w="19000" h="13000">
                <a:moveTo>
                  <a:pt x="19000" y="6500"/>
                </a:moveTo>
                <a:lnTo>
                  <a:pt x="0" y="13000"/>
                </a:lnTo>
                <a:lnTo>
                  <a:pt x="6650" y="6500"/>
                </a:lnTo>
                <a:lnTo>
                  <a:pt x="0" y="0"/>
                </a:lnTo>
                <a:close/>
              </a:path>
            </a:pathLst>
          </a:custGeom>
          <a:solidFill>
            <a:srgbClr val="D61A3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7" name="Source forward pass"/>
          <p:cNvCxnSpPr/>
          <p:nvPr/>
        </p:nvCxnSpPr>
        <p:spPr>
          <a:xfrm>
            <a:off x="3419856" y="1298448"/>
            <a:ext cx="283464" cy="0"/>
          </a:xfrm>
          <a:prstGeom prst="line">
            <a:avLst/>
          </a:prstGeom>
          <a:ln w="27432">
            <a:solidFill>
              <a:srgbClr val="D61A34"/>
            </a:solidFill>
            <a:miter lim="800000"/>
          </a:ln>
          <a:effectLst/>
        </p:spPr>
      </p:cxnSp>
      <p:sp>
        <p:nvSpPr>
          <p:cNvPr id="68" name="Source forward pass end"/>
          <p:cNvSpPr/>
          <p:nvPr/>
        </p:nvSpPr>
        <p:spPr>
          <a:xfrm>
            <a:off x="3529584" y="1239012"/>
            <a:ext cx="173736" cy="118872"/>
          </a:xfrm>
          <a:custGeom>
            <a:avLst/>
            <a:gdLst/>
            <a:ahLst/>
            <a:cxnLst/>
            <a:rect l="0" t="0" r="r" b="b"/>
            <a:pathLst>
              <a:path w="19000" h="13000">
                <a:moveTo>
                  <a:pt x="19000" y="6500"/>
                </a:moveTo>
                <a:lnTo>
                  <a:pt x="0" y="13000"/>
                </a:lnTo>
                <a:lnTo>
                  <a:pt x="6650" y="6500"/>
                </a:lnTo>
                <a:lnTo>
                  <a:pt x="0" y="0"/>
                </a:lnTo>
                <a:close/>
              </a:path>
            </a:pathLst>
          </a:custGeom>
          <a:solidFill>
            <a:srgbClr val="D61A3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9" name="Source forward pass"/>
          <p:cNvCxnSpPr/>
          <p:nvPr/>
        </p:nvCxnSpPr>
        <p:spPr>
          <a:xfrm>
            <a:off x="3950208" y="1298448"/>
            <a:ext cx="292608" cy="0"/>
          </a:xfrm>
          <a:prstGeom prst="line">
            <a:avLst/>
          </a:prstGeom>
          <a:ln w="27432">
            <a:solidFill>
              <a:srgbClr val="D61A34"/>
            </a:solidFill>
            <a:miter lim="800000"/>
          </a:ln>
          <a:effectLst/>
        </p:spPr>
      </p:cxnSp>
      <p:sp>
        <p:nvSpPr>
          <p:cNvPr id="70" name="Source forward pass end"/>
          <p:cNvSpPr/>
          <p:nvPr/>
        </p:nvSpPr>
        <p:spPr>
          <a:xfrm>
            <a:off x="4069080" y="1239012"/>
            <a:ext cx="173736" cy="118872"/>
          </a:xfrm>
          <a:custGeom>
            <a:avLst/>
            <a:gdLst/>
            <a:ahLst/>
            <a:cxnLst/>
            <a:rect l="0" t="0" r="r" b="b"/>
            <a:pathLst>
              <a:path w="19000" h="13000">
                <a:moveTo>
                  <a:pt x="19000" y="6500"/>
                </a:moveTo>
                <a:lnTo>
                  <a:pt x="0" y="13000"/>
                </a:lnTo>
                <a:lnTo>
                  <a:pt x="6650" y="6500"/>
                </a:lnTo>
                <a:lnTo>
                  <a:pt x="0" y="0"/>
                </a:lnTo>
                <a:close/>
              </a:path>
            </a:pathLst>
          </a:custGeom>
          <a:solidFill>
            <a:srgbClr val="D61A3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1" name="Source forward pass"/>
          <p:cNvCxnSpPr/>
          <p:nvPr/>
        </p:nvCxnSpPr>
        <p:spPr>
          <a:xfrm>
            <a:off x="5047488" y="1298448"/>
            <a:ext cx="557784" cy="0"/>
          </a:xfrm>
          <a:prstGeom prst="line">
            <a:avLst/>
          </a:prstGeom>
          <a:ln w="27432">
            <a:solidFill>
              <a:srgbClr val="D61A34"/>
            </a:solidFill>
            <a:miter lim="800000"/>
          </a:ln>
          <a:effectLst/>
        </p:spPr>
      </p:cxnSp>
      <p:sp>
        <p:nvSpPr>
          <p:cNvPr id="72" name="Source forward pass end"/>
          <p:cNvSpPr/>
          <p:nvPr/>
        </p:nvSpPr>
        <p:spPr>
          <a:xfrm>
            <a:off x="5431536" y="1239012"/>
            <a:ext cx="173736" cy="118872"/>
          </a:xfrm>
          <a:custGeom>
            <a:avLst/>
            <a:gdLst/>
            <a:ahLst/>
            <a:cxnLst/>
            <a:rect l="0" t="0" r="r" b="b"/>
            <a:pathLst>
              <a:path w="19000" h="13000">
                <a:moveTo>
                  <a:pt x="19000" y="6500"/>
                </a:moveTo>
                <a:lnTo>
                  <a:pt x="0" y="13000"/>
                </a:lnTo>
                <a:lnTo>
                  <a:pt x="6650" y="6500"/>
                </a:lnTo>
                <a:lnTo>
                  <a:pt x="0" y="0"/>
                </a:lnTo>
                <a:close/>
              </a:path>
            </a:pathLst>
          </a:custGeom>
          <a:solidFill>
            <a:srgbClr val="D61A3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3" name="Supervised source loss"/>
          <p:cNvCxnSpPr/>
          <p:nvPr/>
        </p:nvCxnSpPr>
        <p:spPr>
          <a:xfrm>
            <a:off x="7626096" y="1298448"/>
            <a:ext cx="1088136" cy="0"/>
          </a:xfrm>
          <a:prstGeom prst="line">
            <a:avLst/>
          </a:prstGeom>
          <a:ln w="27432">
            <a:solidFill>
              <a:srgbClr val="D61A34"/>
            </a:solidFill>
            <a:miter lim="800000"/>
          </a:ln>
          <a:effectLst/>
        </p:spPr>
      </p:cxnSp>
      <p:sp>
        <p:nvSpPr>
          <p:cNvPr id="74" name="Supervised source loss end"/>
          <p:cNvSpPr/>
          <p:nvPr/>
        </p:nvSpPr>
        <p:spPr>
          <a:xfrm>
            <a:off x="8549640" y="1239012"/>
            <a:ext cx="164592" cy="118872"/>
          </a:xfrm>
          <a:custGeom>
            <a:avLst/>
            <a:gdLst/>
            <a:ahLst/>
            <a:cxnLst/>
            <a:rect l="0" t="0" r="r" b="b"/>
            <a:pathLst>
              <a:path w="18000" h="13000">
                <a:moveTo>
                  <a:pt x="18000" y="6500"/>
                </a:moveTo>
                <a:lnTo>
                  <a:pt x="0" y="13000"/>
                </a:lnTo>
                <a:lnTo>
                  <a:pt x="6300" y="6500"/>
                </a:lnTo>
                <a:lnTo>
                  <a:pt x="0" y="0"/>
                </a:lnTo>
                <a:close/>
              </a:path>
            </a:pathLst>
          </a:custGeom>
          <a:solidFill>
            <a:srgbClr val="D61A3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Supervised source loss start"/>
          <p:cNvSpPr/>
          <p:nvPr/>
        </p:nvSpPr>
        <p:spPr>
          <a:xfrm>
            <a:off x="7626096" y="1239012"/>
            <a:ext cx="164592" cy="118872"/>
          </a:xfrm>
          <a:custGeom>
            <a:avLst/>
            <a:gdLst/>
            <a:ahLst/>
            <a:cxnLst/>
            <a:rect l="0" t="0" r="r" b="b"/>
            <a:pathLst>
              <a:path w="18000" h="13000">
                <a:moveTo>
                  <a:pt x="0" y="6500"/>
                </a:moveTo>
                <a:lnTo>
                  <a:pt x="18000" y="0"/>
                </a:lnTo>
                <a:lnTo>
                  <a:pt x="11700" y="6500"/>
                </a:lnTo>
                <a:lnTo>
                  <a:pt x="18000" y="13000"/>
                </a:lnTo>
                <a:close/>
              </a:path>
            </a:pathLst>
          </a:custGeom>
          <a:solidFill>
            <a:srgbClr val="D61A3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6" name="Mixed forward pass"/>
          <p:cNvCxnSpPr/>
          <p:nvPr/>
        </p:nvCxnSpPr>
        <p:spPr>
          <a:xfrm>
            <a:off x="2203704" y="4535424"/>
            <a:ext cx="457200" cy="0"/>
          </a:xfrm>
          <a:prstGeom prst="line">
            <a:avLst/>
          </a:prstGeom>
          <a:ln w="27432">
            <a:solidFill>
              <a:srgbClr val="558E31"/>
            </a:solidFill>
            <a:miter lim="800000"/>
          </a:ln>
          <a:effectLst/>
        </p:spPr>
      </p:cxnSp>
      <p:sp>
        <p:nvSpPr>
          <p:cNvPr id="77" name="Mixed forward pass end"/>
          <p:cNvSpPr/>
          <p:nvPr/>
        </p:nvSpPr>
        <p:spPr>
          <a:xfrm>
            <a:off x="2487168" y="4475988"/>
            <a:ext cx="173736" cy="118872"/>
          </a:xfrm>
          <a:custGeom>
            <a:avLst/>
            <a:gdLst/>
            <a:ahLst/>
            <a:cxnLst/>
            <a:rect l="0" t="0" r="r" b="b"/>
            <a:pathLst>
              <a:path w="19000" h="13000">
                <a:moveTo>
                  <a:pt x="19000" y="6500"/>
                </a:moveTo>
                <a:lnTo>
                  <a:pt x="0" y="13000"/>
                </a:lnTo>
                <a:lnTo>
                  <a:pt x="6650" y="6500"/>
                </a:lnTo>
                <a:lnTo>
                  <a:pt x="0" y="0"/>
                </a:lnTo>
                <a:close/>
              </a:path>
            </a:pathLst>
          </a:custGeom>
          <a:solidFill>
            <a:srgbClr val="558E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8" name="Mixed forward pass"/>
          <p:cNvCxnSpPr/>
          <p:nvPr/>
        </p:nvCxnSpPr>
        <p:spPr>
          <a:xfrm>
            <a:off x="3456432" y="4535424"/>
            <a:ext cx="292608" cy="0"/>
          </a:xfrm>
          <a:prstGeom prst="line">
            <a:avLst/>
          </a:prstGeom>
          <a:ln w="27432">
            <a:solidFill>
              <a:srgbClr val="558E31"/>
            </a:solidFill>
            <a:miter lim="800000"/>
          </a:ln>
          <a:effectLst/>
        </p:spPr>
      </p:cxnSp>
      <p:sp>
        <p:nvSpPr>
          <p:cNvPr id="79" name="Mixed forward pass end"/>
          <p:cNvSpPr/>
          <p:nvPr/>
        </p:nvSpPr>
        <p:spPr>
          <a:xfrm>
            <a:off x="3575304" y="4475988"/>
            <a:ext cx="173736" cy="118872"/>
          </a:xfrm>
          <a:custGeom>
            <a:avLst/>
            <a:gdLst/>
            <a:ahLst/>
            <a:cxnLst/>
            <a:rect l="0" t="0" r="r" b="b"/>
            <a:pathLst>
              <a:path w="19000" h="13000">
                <a:moveTo>
                  <a:pt x="19000" y="6500"/>
                </a:moveTo>
                <a:lnTo>
                  <a:pt x="0" y="13000"/>
                </a:lnTo>
                <a:lnTo>
                  <a:pt x="6650" y="6500"/>
                </a:lnTo>
                <a:lnTo>
                  <a:pt x="0" y="0"/>
                </a:lnTo>
                <a:close/>
              </a:path>
            </a:pathLst>
          </a:custGeom>
          <a:solidFill>
            <a:srgbClr val="558E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0" name="Mixed forward pass"/>
          <p:cNvCxnSpPr/>
          <p:nvPr/>
        </p:nvCxnSpPr>
        <p:spPr>
          <a:xfrm>
            <a:off x="3986784" y="4535424"/>
            <a:ext cx="292608" cy="0"/>
          </a:xfrm>
          <a:prstGeom prst="line">
            <a:avLst/>
          </a:prstGeom>
          <a:ln w="27432">
            <a:solidFill>
              <a:srgbClr val="558E31"/>
            </a:solidFill>
            <a:miter lim="800000"/>
          </a:ln>
          <a:effectLst/>
        </p:spPr>
      </p:cxnSp>
      <p:sp>
        <p:nvSpPr>
          <p:cNvPr id="81" name="Mixed forward pass end"/>
          <p:cNvSpPr/>
          <p:nvPr/>
        </p:nvSpPr>
        <p:spPr>
          <a:xfrm>
            <a:off x="4105656" y="4475988"/>
            <a:ext cx="173736" cy="118872"/>
          </a:xfrm>
          <a:custGeom>
            <a:avLst/>
            <a:gdLst/>
            <a:ahLst/>
            <a:cxnLst/>
            <a:rect l="0" t="0" r="r" b="b"/>
            <a:pathLst>
              <a:path w="19000" h="13000">
                <a:moveTo>
                  <a:pt x="19000" y="6500"/>
                </a:moveTo>
                <a:lnTo>
                  <a:pt x="0" y="13000"/>
                </a:lnTo>
                <a:lnTo>
                  <a:pt x="6650" y="6500"/>
                </a:lnTo>
                <a:lnTo>
                  <a:pt x="0" y="0"/>
                </a:lnTo>
                <a:close/>
              </a:path>
            </a:pathLst>
          </a:custGeom>
          <a:solidFill>
            <a:srgbClr val="558E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2" name="Mixed forward pass"/>
          <p:cNvCxnSpPr/>
          <p:nvPr/>
        </p:nvCxnSpPr>
        <p:spPr>
          <a:xfrm>
            <a:off x="5084064" y="4535424"/>
            <a:ext cx="548640" cy="0"/>
          </a:xfrm>
          <a:prstGeom prst="line">
            <a:avLst/>
          </a:prstGeom>
          <a:ln w="27432">
            <a:solidFill>
              <a:srgbClr val="558E31"/>
            </a:solidFill>
            <a:miter lim="800000"/>
          </a:ln>
          <a:effectLst/>
        </p:spPr>
      </p:cxnSp>
      <p:sp>
        <p:nvSpPr>
          <p:cNvPr id="83" name="Mixed forward pass end"/>
          <p:cNvSpPr/>
          <p:nvPr/>
        </p:nvSpPr>
        <p:spPr>
          <a:xfrm>
            <a:off x="5458968" y="4475988"/>
            <a:ext cx="173736" cy="118872"/>
          </a:xfrm>
          <a:custGeom>
            <a:avLst/>
            <a:gdLst/>
            <a:ahLst/>
            <a:cxnLst/>
            <a:rect l="0" t="0" r="r" b="b"/>
            <a:pathLst>
              <a:path w="19000" h="13000">
                <a:moveTo>
                  <a:pt x="19000" y="6500"/>
                </a:moveTo>
                <a:lnTo>
                  <a:pt x="0" y="13000"/>
                </a:lnTo>
                <a:lnTo>
                  <a:pt x="6650" y="6500"/>
                </a:lnTo>
                <a:lnTo>
                  <a:pt x="0" y="0"/>
                </a:lnTo>
                <a:close/>
              </a:path>
            </a:pathLst>
          </a:custGeom>
          <a:solidFill>
            <a:srgbClr val="558E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4" name="Mixed domain loss"/>
          <p:cNvCxnSpPr/>
          <p:nvPr/>
        </p:nvCxnSpPr>
        <p:spPr>
          <a:xfrm>
            <a:off x="7644384" y="4535424"/>
            <a:ext cx="1088136" cy="0"/>
          </a:xfrm>
          <a:prstGeom prst="line">
            <a:avLst/>
          </a:prstGeom>
          <a:ln w="27432">
            <a:solidFill>
              <a:srgbClr val="558E31"/>
            </a:solidFill>
            <a:miter lim="800000"/>
          </a:ln>
          <a:effectLst/>
        </p:spPr>
      </p:cxnSp>
      <p:sp>
        <p:nvSpPr>
          <p:cNvPr id="85" name="Mixed domain loss end"/>
          <p:cNvSpPr/>
          <p:nvPr/>
        </p:nvSpPr>
        <p:spPr>
          <a:xfrm>
            <a:off x="8567928" y="4475988"/>
            <a:ext cx="164592" cy="118872"/>
          </a:xfrm>
          <a:custGeom>
            <a:avLst/>
            <a:gdLst/>
            <a:ahLst/>
            <a:cxnLst/>
            <a:rect l="0" t="0" r="r" b="b"/>
            <a:pathLst>
              <a:path w="18000" h="13000">
                <a:moveTo>
                  <a:pt x="18000" y="6500"/>
                </a:moveTo>
                <a:lnTo>
                  <a:pt x="0" y="13000"/>
                </a:lnTo>
                <a:lnTo>
                  <a:pt x="6300" y="6500"/>
                </a:lnTo>
                <a:lnTo>
                  <a:pt x="0" y="0"/>
                </a:lnTo>
                <a:close/>
              </a:path>
            </a:pathLst>
          </a:custGeom>
          <a:solidFill>
            <a:srgbClr val="558E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Mixed domain loss start"/>
          <p:cNvSpPr/>
          <p:nvPr/>
        </p:nvSpPr>
        <p:spPr>
          <a:xfrm>
            <a:off x="7644384" y="4475988"/>
            <a:ext cx="164592" cy="118872"/>
          </a:xfrm>
          <a:custGeom>
            <a:avLst/>
            <a:gdLst/>
            <a:ahLst/>
            <a:cxnLst/>
            <a:rect l="0" t="0" r="r" b="b"/>
            <a:pathLst>
              <a:path w="18000" h="13000">
                <a:moveTo>
                  <a:pt x="0" y="6500"/>
                </a:moveTo>
                <a:lnTo>
                  <a:pt x="18000" y="0"/>
                </a:lnTo>
                <a:lnTo>
                  <a:pt x="11700" y="6500"/>
                </a:lnTo>
                <a:lnTo>
                  <a:pt x="18000" y="13000"/>
                </a:lnTo>
                <a:close/>
              </a:path>
            </a:pathLst>
          </a:custGeom>
          <a:solidFill>
            <a:srgbClr val="558E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7" name="Teacher forward pass"/>
          <p:cNvCxnSpPr/>
          <p:nvPr/>
        </p:nvCxnSpPr>
        <p:spPr>
          <a:xfrm>
            <a:off x="2203704" y="7498080"/>
            <a:ext cx="457200" cy="0"/>
          </a:xfrm>
          <a:prstGeom prst="line">
            <a:avLst/>
          </a:prstGeom>
          <a:ln w="27432">
            <a:solidFill>
              <a:srgbClr val="1D6560"/>
            </a:solidFill>
            <a:miter lim="800000"/>
          </a:ln>
          <a:effectLst/>
        </p:spPr>
      </p:cxnSp>
      <p:sp>
        <p:nvSpPr>
          <p:cNvPr id="88" name="Teacher forward pass end"/>
          <p:cNvSpPr/>
          <p:nvPr/>
        </p:nvSpPr>
        <p:spPr>
          <a:xfrm>
            <a:off x="2487168" y="7438644"/>
            <a:ext cx="173736" cy="118872"/>
          </a:xfrm>
          <a:custGeom>
            <a:avLst/>
            <a:gdLst/>
            <a:ahLst/>
            <a:cxnLst/>
            <a:rect l="0" t="0" r="r" b="b"/>
            <a:pathLst>
              <a:path w="19000" h="13000">
                <a:moveTo>
                  <a:pt x="19000" y="6500"/>
                </a:moveTo>
                <a:lnTo>
                  <a:pt x="0" y="13000"/>
                </a:lnTo>
                <a:lnTo>
                  <a:pt x="6650" y="6500"/>
                </a:lnTo>
                <a:lnTo>
                  <a:pt x="0" y="0"/>
                </a:lnTo>
                <a:close/>
              </a:path>
            </a:pathLst>
          </a:custGeom>
          <a:solidFill>
            <a:srgbClr val="1D65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9" name="Teacher forward pass"/>
          <p:cNvCxnSpPr/>
          <p:nvPr/>
        </p:nvCxnSpPr>
        <p:spPr>
          <a:xfrm>
            <a:off x="3456432" y="7452360"/>
            <a:ext cx="292608" cy="0"/>
          </a:xfrm>
          <a:prstGeom prst="line">
            <a:avLst/>
          </a:prstGeom>
          <a:ln w="27432">
            <a:solidFill>
              <a:srgbClr val="1D6560"/>
            </a:solidFill>
            <a:miter lim="800000"/>
          </a:ln>
          <a:effectLst/>
        </p:spPr>
      </p:cxnSp>
      <p:sp>
        <p:nvSpPr>
          <p:cNvPr id="90" name="Teacher forward pass end"/>
          <p:cNvSpPr/>
          <p:nvPr/>
        </p:nvSpPr>
        <p:spPr>
          <a:xfrm>
            <a:off x="3575304" y="7392924"/>
            <a:ext cx="173736" cy="118872"/>
          </a:xfrm>
          <a:custGeom>
            <a:avLst/>
            <a:gdLst/>
            <a:ahLst/>
            <a:cxnLst/>
            <a:rect l="0" t="0" r="r" b="b"/>
            <a:pathLst>
              <a:path w="19000" h="13000">
                <a:moveTo>
                  <a:pt x="19000" y="6500"/>
                </a:moveTo>
                <a:lnTo>
                  <a:pt x="0" y="13000"/>
                </a:lnTo>
                <a:lnTo>
                  <a:pt x="6650" y="6500"/>
                </a:lnTo>
                <a:lnTo>
                  <a:pt x="0" y="0"/>
                </a:lnTo>
                <a:close/>
              </a:path>
            </a:pathLst>
          </a:custGeom>
          <a:solidFill>
            <a:srgbClr val="1D65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1" name="Teacher forward pass"/>
          <p:cNvCxnSpPr/>
          <p:nvPr/>
        </p:nvCxnSpPr>
        <p:spPr>
          <a:xfrm>
            <a:off x="3986784" y="7452360"/>
            <a:ext cx="292608" cy="0"/>
          </a:xfrm>
          <a:prstGeom prst="line">
            <a:avLst/>
          </a:prstGeom>
          <a:ln w="27432">
            <a:solidFill>
              <a:srgbClr val="1D6560"/>
            </a:solidFill>
            <a:miter lim="800000"/>
          </a:ln>
          <a:effectLst/>
        </p:spPr>
      </p:cxnSp>
      <p:sp>
        <p:nvSpPr>
          <p:cNvPr id="92" name="Teacher forward pass end"/>
          <p:cNvSpPr/>
          <p:nvPr/>
        </p:nvSpPr>
        <p:spPr>
          <a:xfrm>
            <a:off x="4105656" y="7392924"/>
            <a:ext cx="173736" cy="118872"/>
          </a:xfrm>
          <a:custGeom>
            <a:avLst/>
            <a:gdLst/>
            <a:ahLst/>
            <a:cxnLst/>
            <a:rect l="0" t="0" r="r" b="b"/>
            <a:pathLst>
              <a:path w="19000" h="13000">
                <a:moveTo>
                  <a:pt x="19000" y="6500"/>
                </a:moveTo>
                <a:lnTo>
                  <a:pt x="0" y="13000"/>
                </a:lnTo>
                <a:lnTo>
                  <a:pt x="6650" y="6500"/>
                </a:lnTo>
                <a:lnTo>
                  <a:pt x="0" y="0"/>
                </a:lnTo>
                <a:close/>
              </a:path>
            </a:pathLst>
          </a:custGeom>
          <a:solidFill>
            <a:srgbClr val="1D65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3" name="Teacher forward pass"/>
          <p:cNvCxnSpPr/>
          <p:nvPr/>
        </p:nvCxnSpPr>
        <p:spPr>
          <a:xfrm>
            <a:off x="5084064" y="7452360"/>
            <a:ext cx="548640" cy="0"/>
          </a:xfrm>
          <a:prstGeom prst="line">
            <a:avLst/>
          </a:prstGeom>
          <a:ln w="27432">
            <a:solidFill>
              <a:srgbClr val="1D6560"/>
            </a:solidFill>
            <a:miter lim="800000"/>
          </a:ln>
          <a:effectLst/>
        </p:spPr>
      </p:cxnSp>
      <p:sp>
        <p:nvSpPr>
          <p:cNvPr id="94" name="Teacher forward pass end"/>
          <p:cNvSpPr/>
          <p:nvPr/>
        </p:nvSpPr>
        <p:spPr>
          <a:xfrm>
            <a:off x="5458968" y="7392924"/>
            <a:ext cx="173736" cy="118872"/>
          </a:xfrm>
          <a:custGeom>
            <a:avLst/>
            <a:gdLst/>
            <a:ahLst/>
            <a:cxnLst/>
            <a:rect l="0" t="0" r="r" b="b"/>
            <a:pathLst>
              <a:path w="19000" h="13000">
                <a:moveTo>
                  <a:pt x="19000" y="6500"/>
                </a:moveTo>
                <a:lnTo>
                  <a:pt x="0" y="13000"/>
                </a:lnTo>
                <a:lnTo>
                  <a:pt x="6650" y="6500"/>
                </a:lnTo>
                <a:lnTo>
                  <a:pt x="0" y="0"/>
                </a:lnTo>
                <a:close/>
              </a:path>
            </a:pathLst>
          </a:custGeom>
          <a:solidFill>
            <a:srgbClr val="1D65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5" name="Target pseudo-label threshold"/>
          <p:cNvCxnSpPr/>
          <p:nvPr/>
        </p:nvCxnSpPr>
        <p:spPr>
          <a:xfrm flipV="1">
            <a:off x="7644384" y="7443216"/>
            <a:ext cx="1088136" cy="9144"/>
          </a:xfrm>
          <a:prstGeom prst="line">
            <a:avLst/>
          </a:prstGeom>
          <a:ln w="27432">
            <a:solidFill>
              <a:srgbClr val="1D6560"/>
            </a:solidFill>
            <a:miter lim="800000"/>
          </a:ln>
          <a:effectLst/>
        </p:spPr>
      </p:cxnSp>
      <p:sp>
        <p:nvSpPr>
          <p:cNvPr id="96" name="Target pseudo-label threshold end"/>
          <p:cNvSpPr/>
          <p:nvPr/>
        </p:nvSpPr>
        <p:spPr>
          <a:xfrm>
            <a:off x="8549109" y="7380747"/>
            <a:ext cx="183411" cy="128011"/>
          </a:xfrm>
          <a:custGeom>
            <a:avLst/>
            <a:gdLst/>
            <a:ahLst/>
            <a:cxnLst/>
            <a:rect l="0" t="0" r="r" b="b"/>
            <a:pathLst>
              <a:path w="20058" h="14000">
                <a:moveTo>
                  <a:pt x="20058" y="6832"/>
                </a:moveTo>
                <a:lnTo>
                  <a:pt x="118" y="14000"/>
                </a:lnTo>
                <a:lnTo>
                  <a:pt x="7059" y="6941"/>
                </a:lnTo>
                <a:lnTo>
                  <a:pt x="0" y="0"/>
                </a:lnTo>
                <a:close/>
              </a:path>
            </a:pathLst>
          </a:custGeom>
          <a:solidFill>
            <a:srgbClr val="1D65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Source feature channel"/>
          <p:cNvSpPr/>
          <p:nvPr/>
        </p:nvSpPr>
        <p:spPr>
          <a:xfrm>
            <a:off x="3730752" y="868680"/>
            <a:ext cx="210312" cy="219456"/>
          </a:xfrm>
          <a:prstGeom prst="rect">
            <a:avLst/>
          </a:prstGeom>
          <a:solidFill>
            <a:srgbClr val="FFF2CD"/>
          </a:solidFill>
          <a:ln w="30175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Source feature channel"/>
          <p:cNvSpPr/>
          <p:nvPr/>
        </p:nvSpPr>
        <p:spPr>
          <a:xfrm>
            <a:off x="3730752" y="1197864"/>
            <a:ext cx="210312" cy="219456"/>
          </a:xfrm>
          <a:prstGeom prst="rect">
            <a:avLst/>
          </a:prstGeom>
          <a:solidFill>
            <a:srgbClr val="FFF2CD"/>
          </a:solidFill>
          <a:ln w="30175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Source feature channel"/>
          <p:cNvSpPr/>
          <p:nvPr/>
        </p:nvSpPr>
        <p:spPr>
          <a:xfrm>
            <a:off x="3730752" y="1527048"/>
            <a:ext cx="210312" cy="219456"/>
          </a:xfrm>
          <a:prstGeom prst="rect">
            <a:avLst/>
          </a:prstGeom>
          <a:solidFill>
            <a:srgbClr val="FFF2CD"/>
          </a:solidFill>
          <a:ln w="30175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Mixed feature channel"/>
          <p:cNvSpPr/>
          <p:nvPr/>
        </p:nvSpPr>
        <p:spPr>
          <a:xfrm>
            <a:off x="3767328" y="4105656"/>
            <a:ext cx="210312" cy="219456"/>
          </a:xfrm>
          <a:prstGeom prst="rect">
            <a:avLst/>
          </a:prstGeom>
          <a:solidFill>
            <a:srgbClr val="FFF5DA"/>
          </a:solidFill>
          <a:ln w="30175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Mixed feature channel"/>
          <p:cNvSpPr/>
          <p:nvPr/>
        </p:nvSpPr>
        <p:spPr>
          <a:xfrm>
            <a:off x="3767328" y="4434840"/>
            <a:ext cx="210312" cy="219456"/>
          </a:xfrm>
          <a:prstGeom prst="rect">
            <a:avLst/>
          </a:prstGeom>
          <a:solidFill>
            <a:srgbClr val="DFFFDF"/>
          </a:solidFill>
          <a:ln w="30175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Mixed feature channel"/>
          <p:cNvSpPr/>
          <p:nvPr/>
        </p:nvSpPr>
        <p:spPr>
          <a:xfrm>
            <a:off x="3767328" y="4764024"/>
            <a:ext cx="210312" cy="219456"/>
          </a:xfrm>
          <a:prstGeom prst="rect">
            <a:avLst/>
          </a:prstGeom>
          <a:solidFill>
            <a:srgbClr val="D9FDFA"/>
          </a:solidFill>
          <a:ln w="30175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acher feature channel"/>
          <p:cNvSpPr/>
          <p:nvPr/>
        </p:nvSpPr>
        <p:spPr>
          <a:xfrm>
            <a:off x="3767328" y="7022592"/>
            <a:ext cx="210312" cy="219456"/>
          </a:xfrm>
          <a:prstGeom prst="rect">
            <a:avLst/>
          </a:prstGeom>
          <a:solidFill>
            <a:srgbClr val="D9FDFA"/>
          </a:solidFill>
          <a:ln w="30175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acher feature channel"/>
          <p:cNvSpPr/>
          <p:nvPr/>
        </p:nvSpPr>
        <p:spPr>
          <a:xfrm>
            <a:off x="3767328" y="7351776"/>
            <a:ext cx="210312" cy="219456"/>
          </a:xfrm>
          <a:prstGeom prst="rect">
            <a:avLst/>
          </a:prstGeom>
          <a:solidFill>
            <a:srgbClr val="D9FDFA"/>
          </a:solidFill>
          <a:ln w="30175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acher feature channel"/>
          <p:cNvSpPr/>
          <p:nvPr/>
        </p:nvSpPr>
        <p:spPr>
          <a:xfrm>
            <a:off x="3767328" y="7680960"/>
            <a:ext cx="210312" cy="219456"/>
          </a:xfrm>
          <a:prstGeom prst="rect">
            <a:avLst/>
          </a:prstGeom>
          <a:solidFill>
            <a:srgbClr val="D9FDFA"/>
          </a:solidFill>
          <a:ln w="30175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Sourse Domain"/>
          <p:cNvSpPr txBox="1"/>
          <p:nvPr/>
        </p:nvSpPr>
        <p:spPr>
          <a:xfrm>
            <a:off x="301752" y="290000"/>
            <a:ext cx="2061486" cy="385831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95" b="1" i="0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Sourse Domain</a:t>
            </a:r>
          </a:p>
        </p:txBody>
      </p:sp>
      <p:sp>
        <p:nvSpPr>
          <p:cNvPr id="107" name="Mixed Domain"/>
          <p:cNvSpPr txBox="1"/>
          <p:nvPr/>
        </p:nvSpPr>
        <p:spPr>
          <a:xfrm>
            <a:off x="301752" y="2978336"/>
            <a:ext cx="1913496" cy="385831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95" b="1" i="0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Mixed Domain</a:t>
            </a:r>
          </a:p>
        </p:txBody>
      </p:sp>
      <p:sp>
        <p:nvSpPr>
          <p:cNvPr id="108" name="Target Domain"/>
          <p:cNvSpPr txBox="1"/>
          <p:nvPr/>
        </p:nvSpPr>
        <p:spPr>
          <a:xfrm>
            <a:off x="301752" y="6279320"/>
            <a:ext cx="1952873" cy="385831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95" b="1" i="0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Target Domain</a:t>
            </a:r>
          </a:p>
        </p:txBody>
      </p:sp>
      <p:sp>
        <p:nvSpPr>
          <p:cNvPr id="109" name="Shared"/>
          <p:cNvSpPr txBox="1"/>
          <p:nvPr/>
        </p:nvSpPr>
        <p:spPr>
          <a:xfrm>
            <a:off x="2295144" y="2521001"/>
            <a:ext cx="846849" cy="331470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Shared</a:t>
            </a:r>
          </a:p>
        </p:txBody>
      </p:sp>
      <p:sp>
        <p:nvSpPr>
          <p:cNvPr id="110" name="Shared"/>
          <p:cNvSpPr txBox="1"/>
          <p:nvPr/>
        </p:nvSpPr>
        <p:spPr>
          <a:xfrm>
            <a:off x="4745736" y="2521001"/>
            <a:ext cx="846849" cy="331470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Shared</a:t>
            </a:r>
          </a:p>
        </p:txBody>
      </p:sp>
      <p:sp>
        <p:nvSpPr>
          <p:cNvPr id="111" name="EMA"/>
          <p:cNvSpPr txBox="1"/>
          <p:nvPr/>
        </p:nvSpPr>
        <p:spPr>
          <a:xfrm>
            <a:off x="2350008" y="5648249"/>
            <a:ext cx="605104" cy="331470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EMA</a:t>
            </a:r>
          </a:p>
        </p:txBody>
      </p:sp>
      <p:sp>
        <p:nvSpPr>
          <p:cNvPr id="112" name="update"/>
          <p:cNvSpPr txBox="1"/>
          <p:nvPr/>
        </p:nvSpPr>
        <p:spPr>
          <a:xfrm>
            <a:off x="2240280" y="5940857"/>
            <a:ext cx="808887" cy="331470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113" name="EMA"/>
          <p:cNvSpPr txBox="1"/>
          <p:nvPr/>
        </p:nvSpPr>
        <p:spPr>
          <a:xfrm>
            <a:off x="4946904" y="5648249"/>
            <a:ext cx="605104" cy="331470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EMA</a:t>
            </a:r>
          </a:p>
        </p:txBody>
      </p:sp>
      <p:sp>
        <p:nvSpPr>
          <p:cNvPr id="114" name="update"/>
          <p:cNvSpPr txBox="1"/>
          <p:nvPr/>
        </p:nvSpPr>
        <p:spPr>
          <a:xfrm>
            <a:off x="4837176" y="5940857"/>
            <a:ext cx="808887" cy="331470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115" name="Domain variable x"/>
          <p:cNvSpPr txBox="1"/>
          <p:nvPr/>
        </p:nvSpPr>
        <p:spPr>
          <a:xfrm>
            <a:off x="1261872" y="2083296"/>
            <a:ext cx="263347" cy="424282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116" name="Domain variable s"/>
          <p:cNvSpPr txBox="1"/>
          <p:nvPr/>
        </p:nvSpPr>
        <p:spPr>
          <a:xfrm>
            <a:off x="1391745" y="2055624"/>
            <a:ext cx="187309" cy="288511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6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17" name="Domain variable x"/>
          <p:cNvSpPr txBox="1"/>
          <p:nvPr/>
        </p:nvSpPr>
        <p:spPr>
          <a:xfrm>
            <a:off x="1261872" y="5256264"/>
            <a:ext cx="263347" cy="424282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118" name="Domain variable mix"/>
          <p:cNvSpPr txBox="1"/>
          <p:nvPr/>
        </p:nvSpPr>
        <p:spPr>
          <a:xfrm>
            <a:off x="1391745" y="5228592"/>
            <a:ext cx="397550" cy="288511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6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mix</a:t>
            </a:r>
          </a:p>
        </p:txBody>
      </p:sp>
      <p:sp>
        <p:nvSpPr>
          <p:cNvPr id="119" name="Domain variable y"/>
          <p:cNvSpPr txBox="1"/>
          <p:nvPr/>
        </p:nvSpPr>
        <p:spPr>
          <a:xfrm>
            <a:off x="9866376" y="2083296"/>
            <a:ext cx="263347" cy="424282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120" name="Domain variable s"/>
          <p:cNvSpPr txBox="1"/>
          <p:nvPr/>
        </p:nvSpPr>
        <p:spPr>
          <a:xfrm>
            <a:off x="9996249" y="2055624"/>
            <a:ext cx="187309" cy="288511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6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21" name="Domain variable y"/>
          <p:cNvSpPr txBox="1"/>
          <p:nvPr/>
        </p:nvSpPr>
        <p:spPr>
          <a:xfrm>
            <a:off x="9866376" y="5256264"/>
            <a:ext cx="263347" cy="424282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122" name="Domain variable mix"/>
          <p:cNvSpPr txBox="1"/>
          <p:nvPr/>
        </p:nvSpPr>
        <p:spPr>
          <a:xfrm>
            <a:off x="9996249" y="5228592"/>
            <a:ext cx="397550" cy="288511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6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mix</a:t>
            </a:r>
          </a:p>
        </p:txBody>
      </p:sp>
      <p:sp>
        <p:nvSpPr>
          <p:cNvPr id="123" name="Prediction formula f"/>
          <p:cNvSpPr txBox="1"/>
          <p:nvPr/>
        </p:nvSpPr>
        <p:spPr>
          <a:xfrm>
            <a:off x="6387413" y="2082820"/>
            <a:ext cx="246888" cy="39776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124" name="Prediction formula stu"/>
          <p:cNvSpPr txBox="1"/>
          <p:nvPr/>
        </p:nvSpPr>
        <p:spPr>
          <a:xfrm>
            <a:off x="6463622" y="2209825"/>
            <a:ext cx="343414" cy="290368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6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</a:t>
            </a:r>
          </a:p>
        </p:txBody>
      </p:sp>
      <p:sp>
        <p:nvSpPr>
          <p:cNvPr id="125" name="Prediction formula (x"/>
          <p:cNvSpPr txBox="1"/>
          <p:nvPr/>
        </p:nvSpPr>
        <p:spPr>
          <a:xfrm>
            <a:off x="6697308" y="2082820"/>
            <a:ext cx="338242" cy="39776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(x</a:t>
            </a:r>
          </a:p>
        </p:txBody>
      </p:sp>
      <p:sp>
        <p:nvSpPr>
          <p:cNvPr id="126" name="Prediction formula s"/>
          <p:cNvSpPr txBox="1"/>
          <p:nvPr/>
        </p:nvSpPr>
        <p:spPr>
          <a:xfrm>
            <a:off x="6925823" y="2065065"/>
            <a:ext cx="183394" cy="274457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27" name="Prediction formula )"/>
          <p:cNvSpPr txBox="1"/>
          <p:nvPr/>
        </p:nvSpPr>
        <p:spPr>
          <a:xfrm>
            <a:off x="6999489" y="2082820"/>
            <a:ext cx="246888" cy="39776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28" name="Prediction formula f"/>
          <p:cNvSpPr txBox="1"/>
          <p:nvPr/>
        </p:nvSpPr>
        <p:spPr>
          <a:xfrm>
            <a:off x="6405029" y="5264932"/>
            <a:ext cx="246888" cy="39776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129" name="Prediction formula stu"/>
          <p:cNvSpPr txBox="1"/>
          <p:nvPr/>
        </p:nvSpPr>
        <p:spPr>
          <a:xfrm>
            <a:off x="6481239" y="5391937"/>
            <a:ext cx="343414" cy="290368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6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</a:t>
            </a:r>
          </a:p>
        </p:txBody>
      </p:sp>
      <p:sp>
        <p:nvSpPr>
          <p:cNvPr id="130" name="Prediction formula (x"/>
          <p:cNvSpPr txBox="1"/>
          <p:nvPr/>
        </p:nvSpPr>
        <p:spPr>
          <a:xfrm>
            <a:off x="6714925" y="5264932"/>
            <a:ext cx="338242" cy="39776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(x</a:t>
            </a:r>
          </a:p>
        </p:txBody>
      </p:sp>
      <p:sp>
        <p:nvSpPr>
          <p:cNvPr id="131" name="Prediction formula mix"/>
          <p:cNvSpPr txBox="1"/>
          <p:nvPr/>
        </p:nvSpPr>
        <p:spPr>
          <a:xfrm>
            <a:off x="6943439" y="5247177"/>
            <a:ext cx="404193" cy="274457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mix</a:t>
            </a:r>
          </a:p>
        </p:txBody>
      </p:sp>
      <p:sp>
        <p:nvSpPr>
          <p:cNvPr id="132" name="Prediction formula )"/>
          <p:cNvSpPr txBox="1"/>
          <p:nvPr/>
        </p:nvSpPr>
        <p:spPr>
          <a:xfrm>
            <a:off x="7237905" y="5264932"/>
            <a:ext cx="246888" cy="39776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33" name="Loss ℒ"/>
          <p:cNvSpPr txBox="1"/>
          <p:nvPr/>
        </p:nvSpPr>
        <p:spPr>
          <a:xfrm>
            <a:off x="8022617" y="872338"/>
            <a:ext cx="320954" cy="39776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 dirty="0" kern="1200">
                <a:solidFill>
                  <a:srgbClr val="000000"/>
                </a:solidFill>
                <a:latin typeface="Latin Modern Math"/>
                <a:ea typeface="Latin Modern Math"/>
                <a:cs typeface="Latin Modern Math"/>
              </a:rPr>
              <a:t>ℒ</a:t>
            </a:r>
          </a:p>
        </p:txBody>
      </p:sp>
      <p:sp>
        <p:nvSpPr>
          <p:cNvPr id="134" name="Loss s"/>
          <p:cNvSpPr txBox="1"/>
          <p:nvPr/>
        </p:nvSpPr>
        <p:spPr>
          <a:xfrm>
            <a:off x="8233843" y="873673"/>
            <a:ext cx="184452" cy="27843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35" name="Loss ℒ"/>
          <p:cNvSpPr txBox="1"/>
          <p:nvPr/>
        </p:nvSpPr>
        <p:spPr>
          <a:xfrm>
            <a:off x="7895630" y="4008364"/>
            <a:ext cx="335042" cy="424282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 dirty="0" kern="1200">
                <a:solidFill>
                  <a:srgbClr val="000000"/>
                </a:solidFill>
                <a:latin typeface="Latin Modern Math"/>
                <a:ea typeface="Latin Modern Math"/>
                <a:cs typeface="Latin Modern Math"/>
              </a:rPr>
              <a:t>ℒ</a:t>
            </a:r>
          </a:p>
        </p:txBody>
      </p:sp>
      <p:sp>
        <p:nvSpPr>
          <p:cNvPr id="136" name="Loss mix"/>
          <p:cNvSpPr txBox="1"/>
          <p:nvPr/>
        </p:nvSpPr>
        <p:spPr>
          <a:xfrm>
            <a:off x="8120944" y="4134282"/>
            <a:ext cx="460915" cy="35215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12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mix</a:t>
            </a:r>
          </a:p>
        </p:txBody>
      </p:sp>
      <p:sp>
        <p:nvSpPr>
          <p:cNvPr id="137" name="Loss ℒ"/>
          <p:cNvSpPr txBox="1"/>
          <p:nvPr/>
        </p:nvSpPr>
        <p:spPr>
          <a:xfrm>
            <a:off x="8033304" y="7017106"/>
            <a:ext cx="320954" cy="39776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 dirty="0" kern="1200">
                <a:solidFill>
                  <a:srgbClr val="000000"/>
                </a:solidFill>
                <a:latin typeface="Latin Modern Math"/>
                <a:ea typeface="Latin Modern Math"/>
                <a:cs typeface="Latin Modern Math"/>
              </a:rPr>
              <a:t>ℒ</a:t>
            </a:r>
          </a:p>
        </p:txBody>
      </p:sp>
      <p:sp>
        <p:nvSpPr>
          <p:cNvPr id="138" name="Loss t"/>
          <p:cNvSpPr txBox="1"/>
          <p:nvPr/>
        </p:nvSpPr>
        <p:spPr>
          <a:xfrm>
            <a:off x="8244530" y="7018441"/>
            <a:ext cx="172822" cy="27843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39" name="τ"/>
          <p:cNvSpPr txBox="1"/>
          <p:nvPr/>
        </p:nvSpPr>
        <p:spPr>
          <a:xfrm>
            <a:off x="8110728" y="7560076"/>
            <a:ext cx="246888" cy="39776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τ</a:t>
            </a:r>
          </a:p>
        </p:txBody>
      </p:sp>
      <p:sp>
        <p:nvSpPr>
          <p:cNvPr id="140" name="Feature"/>
          <p:cNvSpPr txBox="1"/>
          <p:nvPr/>
        </p:nvSpPr>
        <p:spPr>
          <a:xfrm>
            <a:off x="3282696" y="5292401"/>
            <a:ext cx="992081" cy="371246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141" name="F"/>
          <p:cNvSpPr txBox="1"/>
          <p:nvPr/>
        </p:nvSpPr>
        <p:spPr>
          <a:xfrm>
            <a:off x="4215384" y="5283458"/>
            <a:ext cx="282878" cy="411023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32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142" name="Input"/>
          <p:cNvSpPr txBox="1"/>
          <p:nvPr/>
        </p:nvSpPr>
        <p:spPr>
          <a:xfrm>
            <a:off x="621792" y="8237281"/>
            <a:ext cx="779983" cy="39776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43" name="Domain variable x"/>
          <p:cNvSpPr txBox="1"/>
          <p:nvPr/>
        </p:nvSpPr>
        <p:spPr>
          <a:xfrm>
            <a:off x="1463040" y="8228064"/>
            <a:ext cx="263347" cy="424282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144" name="Domain variable t"/>
          <p:cNvSpPr txBox="1"/>
          <p:nvPr/>
        </p:nvSpPr>
        <p:spPr>
          <a:xfrm>
            <a:off x="1592913" y="8200392"/>
            <a:ext cx="179076" cy="288511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6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45" name="Prediction"/>
          <p:cNvSpPr txBox="1"/>
          <p:nvPr/>
        </p:nvSpPr>
        <p:spPr>
          <a:xfrm>
            <a:off x="5733288" y="8237281"/>
            <a:ext cx="1451038" cy="39776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sp>
        <p:nvSpPr>
          <p:cNvPr id="146" name="Prediction formula f"/>
          <p:cNvSpPr txBox="1"/>
          <p:nvPr/>
        </p:nvSpPr>
        <p:spPr>
          <a:xfrm>
            <a:off x="7087414" y="8236732"/>
            <a:ext cx="246888" cy="39776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147" name="Prediction formula tea"/>
          <p:cNvSpPr txBox="1"/>
          <p:nvPr/>
        </p:nvSpPr>
        <p:spPr>
          <a:xfrm>
            <a:off x="7163624" y="8363737"/>
            <a:ext cx="354373" cy="290368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6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tea</a:t>
            </a:r>
          </a:p>
        </p:txBody>
      </p:sp>
      <p:sp>
        <p:nvSpPr>
          <p:cNvPr id="148" name="Prediction formula (x"/>
          <p:cNvSpPr txBox="1"/>
          <p:nvPr/>
        </p:nvSpPr>
        <p:spPr>
          <a:xfrm>
            <a:off x="7408269" y="8236732"/>
            <a:ext cx="338242" cy="39776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(x</a:t>
            </a:r>
          </a:p>
        </p:txBody>
      </p:sp>
      <p:sp>
        <p:nvSpPr>
          <p:cNvPr id="149" name="Prediction formula t"/>
          <p:cNvSpPr txBox="1"/>
          <p:nvPr/>
        </p:nvSpPr>
        <p:spPr>
          <a:xfrm>
            <a:off x="7636783" y="8218977"/>
            <a:ext cx="170353" cy="274457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50" name="Prediction formula )"/>
          <p:cNvSpPr txBox="1"/>
          <p:nvPr/>
        </p:nvSpPr>
        <p:spPr>
          <a:xfrm>
            <a:off x="7689375" y="8236732"/>
            <a:ext cx="246888" cy="39776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51" name="(Pseudo) Label"/>
          <p:cNvSpPr txBox="1"/>
          <p:nvPr/>
        </p:nvSpPr>
        <p:spPr>
          <a:xfrm>
            <a:off x="8531352" y="8244391"/>
            <a:ext cx="2023424" cy="387157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2" b="1" i="0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(Pseudo) Label</a:t>
            </a:r>
          </a:p>
        </p:txBody>
      </p:sp>
      <p:sp>
        <p:nvSpPr>
          <p:cNvPr id="152" name="Domain variable ŷ"/>
          <p:cNvSpPr txBox="1"/>
          <p:nvPr/>
        </p:nvSpPr>
        <p:spPr>
          <a:xfrm>
            <a:off x="10488168" y="8218920"/>
            <a:ext cx="263347" cy="424282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ŷ</a:t>
            </a:r>
          </a:p>
        </p:txBody>
      </p:sp>
      <p:sp>
        <p:nvSpPr>
          <p:cNvPr id="153" name="Domain variable t"/>
          <p:cNvSpPr txBox="1"/>
          <p:nvPr/>
        </p:nvSpPr>
        <p:spPr>
          <a:xfrm>
            <a:off x="10618041" y="8191248"/>
            <a:ext cx="179076" cy="288511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6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54" name="Additional Structural Priors"/>
          <p:cNvSpPr txBox="1"/>
          <p:nvPr/>
        </p:nvSpPr>
        <p:spPr>
          <a:xfrm>
            <a:off x="12436026" y="308288"/>
            <a:ext cx="3584077" cy="385831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95" b="1" i="0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Additional Structural Priors</a:t>
            </a:r>
          </a:p>
        </p:txBody>
      </p:sp>
      <p:sp>
        <p:nvSpPr>
          <p:cNvPr id="155" name="Hilbert curve dotted panel"/>
          <p:cNvSpPr/>
          <p:nvPr/>
        </p:nvSpPr>
        <p:spPr>
          <a:xfrm>
            <a:off x="11365992" y="768096"/>
            <a:ext cx="1783080" cy="1682496"/>
          </a:xfrm>
          <a:prstGeom prst="roundRect">
            <a:avLst>
              <a:gd name="adj" fmla="val 7065"/>
            </a:avLst>
          </a:prstGeom>
          <a:solidFill>
            <a:srgbClr val="FDF3DA"/>
          </a:solidFill>
          <a:ln w="21945" cap="rnd">
            <a:solidFill>
              <a:srgbClr val="000000"/>
            </a:solidFill>
            <a:custDash>
              <a:ds d="41667" sp="125000"/>
            </a:custDash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6" name="Number traversal 1 to 2"/>
          <p:cNvCxnSpPr/>
          <p:nvPr/>
        </p:nvCxnSpPr>
        <p:spPr>
          <a:xfrm>
            <a:off x="11841480" y="1046988"/>
            <a:ext cx="256032" cy="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157" name="Number traversal 1 to 2 end"/>
          <p:cNvSpPr/>
          <p:nvPr/>
        </p:nvSpPr>
        <p:spPr>
          <a:xfrm>
            <a:off x="12006072" y="1005840"/>
            <a:ext cx="91440" cy="82296"/>
          </a:xfrm>
          <a:custGeom>
            <a:avLst/>
            <a:gdLst/>
            <a:ahLst/>
            <a:cxnLst/>
            <a:rect l="0" t="0" r="r" b="b"/>
            <a:pathLst>
              <a:path w="10000" h="9000">
                <a:moveTo>
                  <a:pt x="10000" y="4500"/>
                </a:moveTo>
                <a:lnTo>
                  <a:pt x="0" y="9000"/>
                </a:lnTo>
                <a:lnTo>
                  <a:pt x="3500" y="4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8" name="Number traversal 2 to 4"/>
          <p:cNvCxnSpPr/>
          <p:nvPr/>
        </p:nvCxnSpPr>
        <p:spPr>
          <a:xfrm flipH="1">
            <a:off x="11841480" y="1190444"/>
            <a:ext cx="256032" cy="24344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159" name="Number traversal 2 to 4 end"/>
          <p:cNvSpPr/>
          <p:nvPr/>
        </p:nvSpPr>
        <p:spPr>
          <a:xfrm>
            <a:off x="11841480" y="1341056"/>
            <a:ext cx="94620" cy="92828"/>
          </a:xfrm>
          <a:custGeom>
            <a:avLst/>
            <a:gdLst/>
            <a:ahLst/>
            <a:cxnLst/>
            <a:rect l="0" t="0" r="r" b="b"/>
            <a:pathLst>
              <a:path w="10348" h="10152">
                <a:moveTo>
                  <a:pt x="0" y="10152"/>
                </a:moveTo>
                <a:lnTo>
                  <a:pt x="4146" y="0"/>
                </a:lnTo>
                <a:lnTo>
                  <a:pt x="4711" y="5673"/>
                </a:lnTo>
                <a:lnTo>
                  <a:pt x="10348" y="65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0" name="Number traversal 4 to 3"/>
          <p:cNvCxnSpPr/>
          <p:nvPr/>
        </p:nvCxnSpPr>
        <p:spPr>
          <a:xfrm flipV="1">
            <a:off x="11841480" y="1116994"/>
            <a:ext cx="841248" cy="39034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161" name="Number traversal 4 to 3 end"/>
          <p:cNvSpPr/>
          <p:nvPr/>
        </p:nvSpPr>
        <p:spPr>
          <a:xfrm>
            <a:off x="12582463" y="1116994"/>
            <a:ext cx="100265" cy="75813"/>
          </a:xfrm>
          <a:custGeom>
            <a:avLst/>
            <a:gdLst/>
            <a:ahLst/>
            <a:cxnLst/>
            <a:rect l="0" t="0" r="r" b="b"/>
            <a:pathLst>
              <a:path w="10965" h="8291">
                <a:moveTo>
                  <a:pt x="10965" y="0"/>
                </a:moveTo>
                <a:lnTo>
                  <a:pt x="3788" y="8291"/>
                </a:lnTo>
                <a:lnTo>
                  <a:pt x="5069" y="2736"/>
                </a:lnTo>
                <a:lnTo>
                  <a:pt x="0" y="1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2" name="Number traversal 3 to 5"/>
          <p:cNvCxnSpPr/>
          <p:nvPr/>
        </p:nvCxnSpPr>
        <p:spPr>
          <a:xfrm flipH="1">
            <a:off x="12399264" y="1183719"/>
            <a:ext cx="283464" cy="25689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163" name="Number traversal 3 to 5 end"/>
          <p:cNvSpPr/>
          <p:nvPr/>
        </p:nvSpPr>
        <p:spPr>
          <a:xfrm>
            <a:off x="12399264" y="1348715"/>
            <a:ext cx="95388" cy="91894"/>
          </a:xfrm>
          <a:custGeom>
            <a:avLst/>
            <a:gdLst/>
            <a:ahLst/>
            <a:cxnLst/>
            <a:rect l="0" t="0" r="r" b="b"/>
            <a:pathLst>
              <a:path w="10432" h="10050">
                <a:moveTo>
                  <a:pt x="0" y="10050"/>
                </a:moveTo>
                <a:lnTo>
                  <a:pt x="4388" y="0"/>
                </a:lnTo>
                <a:lnTo>
                  <a:pt x="4816" y="5685"/>
                </a:lnTo>
                <a:lnTo>
                  <a:pt x="10432" y="666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4" name="Number traversal 5 to 7"/>
          <p:cNvCxnSpPr/>
          <p:nvPr/>
        </p:nvCxnSpPr>
        <p:spPr>
          <a:xfrm flipH="1">
            <a:off x="11841480" y="1718322"/>
            <a:ext cx="256032" cy="239244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165" name="Number traversal 5 to 7 end"/>
          <p:cNvSpPr/>
          <p:nvPr/>
        </p:nvSpPr>
        <p:spPr>
          <a:xfrm>
            <a:off x="11841480" y="1865070"/>
            <a:ext cx="94905" cy="92495"/>
          </a:xfrm>
          <a:custGeom>
            <a:avLst/>
            <a:gdLst/>
            <a:ahLst/>
            <a:cxnLst/>
            <a:rect l="0" t="0" r="r" b="b"/>
            <a:pathLst>
              <a:path w="10379" h="10115">
                <a:moveTo>
                  <a:pt x="0" y="10115"/>
                </a:moveTo>
                <a:lnTo>
                  <a:pt x="4234" y="0"/>
                </a:lnTo>
                <a:lnTo>
                  <a:pt x="4749" y="5678"/>
                </a:lnTo>
                <a:lnTo>
                  <a:pt x="10379" y="657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6" name="Number traversal 7 to 6"/>
          <p:cNvCxnSpPr/>
          <p:nvPr/>
        </p:nvCxnSpPr>
        <p:spPr>
          <a:xfrm flipV="1">
            <a:off x="11841480" y="1646139"/>
            <a:ext cx="841248" cy="38361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167" name="Number traversal 7 to 6 end"/>
          <p:cNvSpPr/>
          <p:nvPr/>
        </p:nvSpPr>
        <p:spPr>
          <a:xfrm>
            <a:off x="12582457" y="1646139"/>
            <a:ext cx="100271" cy="75378"/>
          </a:xfrm>
          <a:custGeom>
            <a:avLst/>
            <a:gdLst/>
            <a:ahLst/>
            <a:cxnLst/>
            <a:rect l="0" t="0" r="r" b="b"/>
            <a:pathLst>
              <a:path w="10966" h="8243">
                <a:moveTo>
                  <a:pt x="10966" y="0"/>
                </a:moveTo>
                <a:lnTo>
                  <a:pt x="3734" y="8243"/>
                </a:lnTo>
                <a:lnTo>
                  <a:pt x="5052" y="2697"/>
                </a:lnTo>
                <a:lnTo>
                  <a:pt x="0" y="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8" name="Number traversal 6 to 8"/>
          <p:cNvCxnSpPr/>
          <p:nvPr/>
        </p:nvCxnSpPr>
        <p:spPr>
          <a:xfrm flipH="1">
            <a:off x="12399264" y="1711714"/>
            <a:ext cx="283464" cy="25246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169" name="Number traversal 6 to 8 end"/>
          <p:cNvSpPr/>
          <p:nvPr/>
        </p:nvSpPr>
        <p:spPr>
          <a:xfrm>
            <a:off x="12399264" y="1872631"/>
            <a:ext cx="95651" cy="91544"/>
          </a:xfrm>
          <a:custGeom>
            <a:avLst/>
            <a:gdLst/>
            <a:ahLst/>
            <a:cxnLst/>
            <a:rect l="0" t="0" r="r" b="b"/>
            <a:pathLst>
              <a:path w="10461" h="10011">
                <a:moveTo>
                  <a:pt x="0" y="10011"/>
                </a:moveTo>
                <a:lnTo>
                  <a:pt x="4475" y="0"/>
                </a:lnTo>
                <a:lnTo>
                  <a:pt x="4854" y="5688"/>
                </a:lnTo>
                <a:lnTo>
                  <a:pt x="10461" y="67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0" name="Number traversal 8 to 9"/>
          <p:cNvCxnSpPr/>
          <p:nvPr/>
        </p:nvCxnSpPr>
        <p:spPr>
          <a:xfrm>
            <a:off x="12399264" y="2098548"/>
            <a:ext cx="283464" cy="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171" name="Number traversal 8 to 9 end"/>
          <p:cNvSpPr/>
          <p:nvPr/>
        </p:nvSpPr>
        <p:spPr>
          <a:xfrm>
            <a:off x="12591288" y="2057400"/>
            <a:ext cx="91440" cy="82296"/>
          </a:xfrm>
          <a:custGeom>
            <a:avLst/>
            <a:gdLst/>
            <a:ahLst/>
            <a:cxnLst/>
            <a:rect l="0" t="0" r="r" b="b"/>
            <a:pathLst>
              <a:path w="10000" h="9000">
                <a:moveTo>
                  <a:pt x="10000" y="4500"/>
                </a:moveTo>
                <a:lnTo>
                  <a:pt x="0" y="9000"/>
                </a:lnTo>
                <a:lnTo>
                  <a:pt x="3500" y="4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Hilbert curve cell 1"/>
          <p:cNvSpPr/>
          <p:nvPr/>
        </p:nvSpPr>
        <p:spPr>
          <a:xfrm>
            <a:off x="11539728" y="896112"/>
            <a:ext cx="301752" cy="301752"/>
          </a:xfrm>
          <a:prstGeom prst="rect">
            <a:avLst/>
          </a:prstGeom>
          <a:solidFill>
            <a:srgbClr val="FFF7D9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Editable number 1"/>
          <p:cNvSpPr txBox="1"/>
          <p:nvPr/>
        </p:nvSpPr>
        <p:spPr>
          <a:xfrm>
            <a:off x="11562024" y="887306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174" name="Hilbert curve cell 2"/>
          <p:cNvSpPr/>
          <p:nvPr/>
        </p:nvSpPr>
        <p:spPr>
          <a:xfrm>
            <a:off x="12097512" y="896112"/>
            <a:ext cx="301752" cy="301752"/>
          </a:xfrm>
          <a:prstGeom prst="rect">
            <a:avLst/>
          </a:prstGeom>
          <a:solidFill>
            <a:srgbClr val="EEEEEE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Editable number 2"/>
          <p:cNvSpPr txBox="1"/>
          <p:nvPr/>
        </p:nvSpPr>
        <p:spPr>
          <a:xfrm>
            <a:off x="12119808" y="887306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176" name="Hilbert curve cell 3"/>
          <p:cNvSpPr/>
          <p:nvPr/>
        </p:nvSpPr>
        <p:spPr>
          <a:xfrm>
            <a:off x="12682728" y="896112"/>
            <a:ext cx="301752" cy="301752"/>
          </a:xfrm>
          <a:prstGeom prst="rect">
            <a:avLst/>
          </a:prstGeom>
          <a:solidFill>
            <a:srgbClr val="DFFFE3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Editable number 3"/>
          <p:cNvSpPr txBox="1"/>
          <p:nvPr/>
        </p:nvSpPr>
        <p:spPr>
          <a:xfrm>
            <a:off x="12705024" y="887306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178" name="Hilbert curve cell 4"/>
          <p:cNvSpPr/>
          <p:nvPr/>
        </p:nvSpPr>
        <p:spPr>
          <a:xfrm>
            <a:off x="11539728" y="1426464"/>
            <a:ext cx="301752" cy="301752"/>
          </a:xfrm>
          <a:prstGeom prst="rect">
            <a:avLst/>
          </a:prstGeom>
          <a:solidFill>
            <a:srgbClr val="DFFFE3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Editable number 4"/>
          <p:cNvSpPr txBox="1"/>
          <p:nvPr/>
        </p:nvSpPr>
        <p:spPr>
          <a:xfrm>
            <a:off x="11562024" y="1417658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</a:t>
            </a:r>
          </a:p>
        </p:txBody>
      </p:sp>
      <p:sp>
        <p:nvSpPr>
          <p:cNvPr id="180" name="Hilbert curve cell 5"/>
          <p:cNvSpPr/>
          <p:nvPr/>
        </p:nvSpPr>
        <p:spPr>
          <a:xfrm>
            <a:off x="12097512" y="1426464"/>
            <a:ext cx="301752" cy="301752"/>
          </a:xfrm>
          <a:prstGeom prst="rect">
            <a:avLst/>
          </a:prstGeom>
          <a:solidFill>
            <a:srgbClr val="FADDDD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Editable number 5"/>
          <p:cNvSpPr txBox="1"/>
          <p:nvPr/>
        </p:nvSpPr>
        <p:spPr>
          <a:xfrm>
            <a:off x="12119808" y="1417658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5</a:t>
            </a:r>
          </a:p>
        </p:txBody>
      </p:sp>
      <p:sp>
        <p:nvSpPr>
          <p:cNvPr id="182" name="Hilbert curve cell 6"/>
          <p:cNvSpPr/>
          <p:nvPr/>
        </p:nvSpPr>
        <p:spPr>
          <a:xfrm>
            <a:off x="12682728" y="1426464"/>
            <a:ext cx="301752" cy="301752"/>
          </a:xfrm>
          <a:prstGeom prst="rect">
            <a:avLst/>
          </a:prstGeom>
          <a:solidFill>
            <a:srgbClr val="DBFAF7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Editable number 6"/>
          <p:cNvSpPr txBox="1"/>
          <p:nvPr/>
        </p:nvSpPr>
        <p:spPr>
          <a:xfrm>
            <a:off x="12705024" y="1417658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6</a:t>
            </a:r>
          </a:p>
        </p:txBody>
      </p:sp>
      <p:sp>
        <p:nvSpPr>
          <p:cNvPr id="184" name="Hilbert curve cell 7"/>
          <p:cNvSpPr/>
          <p:nvPr/>
        </p:nvSpPr>
        <p:spPr>
          <a:xfrm>
            <a:off x="11539728" y="1947672"/>
            <a:ext cx="301752" cy="301752"/>
          </a:xfrm>
          <a:prstGeom prst="rect">
            <a:avLst/>
          </a:prstGeom>
          <a:solidFill>
            <a:srgbClr val="DBFAF7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Editable number 7"/>
          <p:cNvSpPr txBox="1"/>
          <p:nvPr/>
        </p:nvSpPr>
        <p:spPr>
          <a:xfrm>
            <a:off x="11562024" y="1938866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7</a:t>
            </a:r>
          </a:p>
        </p:txBody>
      </p:sp>
      <p:sp>
        <p:nvSpPr>
          <p:cNvPr id="186" name="Hilbert curve cell 8"/>
          <p:cNvSpPr/>
          <p:nvPr/>
        </p:nvSpPr>
        <p:spPr>
          <a:xfrm>
            <a:off x="12097512" y="1947672"/>
            <a:ext cx="301752" cy="301752"/>
          </a:xfrm>
          <a:prstGeom prst="rect">
            <a:avLst/>
          </a:prstGeom>
          <a:solidFill>
            <a:srgbClr val="DFE9F6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Editable number 8"/>
          <p:cNvSpPr txBox="1"/>
          <p:nvPr/>
        </p:nvSpPr>
        <p:spPr>
          <a:xfrm>
            <a:off x="12119808" y="1938866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8</a:t>
            </a:r>
          </a:p>
        </p:txBody>
      </p:sp>
      <p:sp>
        <p:nvSpPr>
          <p:cNvPr id="188" name="Hilbert curve cell 9"/>
          <p:cNvSpPr/>
          <p:nvPr/>
        </p:nvSpPr>
        <p:spPr>
          <a:xfrm>
            <a:off x="12682728" y="1947672"/>
            <a:ext cx="301752" cy="301752"/>
          </a:xfrm>
          <a:prstGeom prst="rect">
            <a:avLst/>
          </a:prstGeom>
          <a:solidFill>
            <a:srgbClr val="EAC5D2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Editable number 9"/>
          <p:cNvSpPr txBox="1"/>
          <p:nvPr/>
        </p:nvSpPr>
        <p:spPr>
          <a:xfrm>
            <a:off x="12705024" y="1938866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9</a:t>
            </a:r>
          </a:p>
        </p:txBody>
      </p:sp>
      <p:sp>
        <p:nvSpPr>
          <p:cNvPr id="190" name="Z-order curve dotted panel"/>
          <p:cNvSpPr/>
          <p:nvPr/>
        </p:nvSpPr>
        <p:spPr>
          <a:xfrm>
            <a:off x="15380208" y="749808"/>
            <a:ext cx="1783080" cy="1682496"/>
          </a:xfrm>
          <a:prstGeom prst="roundRect">
            <a:avLst>
              <a:gd name="adj" fmla="val 7065"/>
            </a:avLst>
          </a:prstGeom>
          <a:solidFill>
            <a:srgbClr val="FDF3DA"/>
          </a:solidFill>
          <a:ln w="21945" cap="rnd">
            <a:solidFill>
              <a:srgbClr val="000000"/>
            </a:solidFill>
            <a:custDash>
              <a:ds d="41667" sp="125000"/>
            </a:custDash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1" name="Number traversal 1 to 4"/>
          <p:cNvCxnSpPr/>
          <p:nvPr/>
        </p:nvCxnSpPr>
        <p:spPr>
          <a:xfrm>
            <a:off x="15704820" y="1188720"/>
            <a:ext cx="0" cy="22860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192" name="Number traversal 1 to 4 end"/>
          <p:cNvSpPr/>
          <p:nvPr/>
        </p:nvSpPr>
        <p:spPr>
          <a:xfrm>
            <a:off x="15663672" y="1325880"/>
            <a:ext cx="82296" cy="91440"/>
          </a:xfrm>
          <a:custGeom>
            <a:avLst/>
            <a:gdLst/>
            <a:ahLst/>
            <a:cxnLst/>
            <a:rect l="0" t="0" r="r" b="b"/>
            <a:pathLst>
              <a:path w="9000" h="10000">
                <a:moveTo>
                  <a:pt x="4500" y="10000"/>
                </a:moveTo>
                <a:lnTo>
                  <a:pt x="0" y="0"/>
                </a:lnTo>
                <a:lnTo>
                  <a:pt x="4500" y="3500"/>
                </a:lnTo>
                <a:lnTo>
                  <a:pt x="90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3" name="Number traversal 4 to 7"/>
          <p:cNvCxnSpPr/>
          <p:nvPr/>
        </p:nvCxnSpPr>
        <p:spPr>
          <a:xfrm>
            <a:off x="15704820" y="1719072"/>
            <a:ext cx="0" cy="219456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194" name="Number traversal 4 to 7 end"/>
          <p:cNvSpPr/>
          <p:nvPr/>
        </p:nvSpPr>
        <p:spPr>
          <a:xfrm>
            <a:off x="15663672" y="1847088"/>
            <a:ext cx="82296" cy="91440"/>
          </a:xfrm>
          <a:custGeom>
            <a:avLst/>
            <a:gdLst/>
            <a:ahLst/>
            <a:cxnLst/>
            <a:rect l="0" t="0" r="r" b="b"/>
            <a:pathLst>
              <a:path w="9000" h="10000">
                <a:moveTo>
                  <a:pt x="4500" y="10000"/>
                </a:moveTo>
                <a:lnTo>
                  <a:pt x="0" y="0"/>
                </a:lnTo>
                <a:lnTo>
                  <a:pt x="4500" y="3500"/>
                </a:lnTo>
                <a:lnTo>
                  <a:pt x="90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5" name="Number traversal 7 to 2"/>
          <p:cNvCxnSpPr/>
          <p:nvPr/>
        </p:nvCxnSpPr>
        <p:spPr>
          <a:xfrm flipV="1">
            <a:off x="15786162" y="1188720"/>
            <a:ext cx="404244" cy="749808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196" name="Number traversal 7 to 2 end"/>
          <p:cNvSpPr/>
          <p:nvPr/>
        </p:nvSpPr>
        <p:spPr>
          <a:xfrm>
            <a:off x="16110793" y="1188720"/>
            <a:ext cx="79613" cy="100015"/>
          </a:xfrm>
          <a:custGeom>
            <a:avLst/>
            <a:gdLst/>
            <a:ahLst/>
            <a:cxnLst/>
            <a:rect l="0" t="0" r="r" b="b"/>
            <a:pathLst>
              <a:path w="8707" h="10938">
                <a:moveTo>
                  <a:pt x="8707" y="0"/>
                </a:moveTo>
                <a:lnTo>
                  <a:pt x="7922" y="10938"/>
                </a:lnTo>
                <a:lnTo>
                  <a:pt x="5622" y="5721"/>
                </a:lnTo>
                <a:lnTo>
                  <a:pt x="0" y="666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7" name="Number traversal 2 to 5"/>
          <p:cNvCxnSpPr/>
          <p:nvPr/>
        </p:nvCxnSpPr>
        <p:spPr>
          <a:xfrm>
            <a:off x="16271748" y="1188720"/>
            <a:ext cx="0" cy="22860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198" name="Number traversal 2 to 5 end"/>
          <p:cNvSpPr/>
          <p:nvPr/>
        </p:nvSpPr>
        <p:spPr>
          <a:xfrm>
            <a:off x="16230600" y="1325880"/>
            <a:ext cx="82296" cy="91440"/>
          </a:xfrm>
          <a:custGeom>
            <a:avLst/>
            <a:gdLst/>
            <a:ahLst/>
            <a:cxnLst/>
            <a:rect l="0" t="0" r="r" b="b"/>
            <a:pathLst>
              <a:path w="9000" h="10000">
                <a:moveTo>
                  <a:pt x="4500" y="10000"/>
                </a:moveTo>
                <a:lnTo>
                  <a:pt x="0" y="0"/>
                </a:lnTo>
                <a:lnTo>
                  <a:pt x="4500" y="3500"/>
                </a:lnTo>
                <a:lnTo>
                  <a:pt x="90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9" name="Number traversal 5 to 8"/>
          <p:cNvCxnSpPr/>
          <p:nvPr/>
        </p:nvCxnSpPr>
        <p:spPr>
          <a:xfrm>
            <a:off x="16271748" y="1719072"/>
            <a:ext cx="0" cy="219456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200" name="Number traversal 5 to 8 end"/>
          <p:cNvSpPr/>
          <p:nvPr/>
        </p:nvSpPr>
        <p:spPr>
          <a:xfrm>
            <a:off x="16230600" y="1847088"/>
            <a:ext cx="82296" cy="91440"/>
          </a:xfrm>
          <a:custGeom>
            <a:avLst/>
            <a:gdLst/>
            <a:ahLst/>
            <a:cxnLst/>
            <a:rect l="0" t="0" r="r" b="b"/>
            <a:pathLst>
              <a:path w="9000" h="10000">
                <a:moveTo>
                  <a:pt x="4500" y="10000"/>
                </a:moveTo>
                <a:lnTo>
                  <a:pt x="0" y="0"/>
                </a:lnTo>
                <a:lnTo>
                  <a:pt x="4500" y="3500"/>
                </a:lnTo>
                <a:lnTo>
                  <a:pt x="90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1" name="Number traversal 8 to 3"/>
          <p:cNvCxnSpPr/>
          <p:nvPr/>
        </p:nvCxnSpPr>
        <p:spPr>
          <a:xfrm flipV="1">
            <a:off x="16354402" y="1188720"/>
            <a:ext cx="410764" cy="749808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202" name="Number traversal 8 to 3 end"/>
          <p:cNvSpPr/>
          <p:nvPr/>
        </p:nvSpPr>
        <p:spPr>
          <a:xfrm>
            <a:off x="16685146" y="1188720"/>
            <a:ext cx="80020" cy="99964"/>
          </a:xfrm>
          <a:custGeom>
            <a:avLst/>
            <a:gdLst/>
            <a:ahLst/>
            <a:cxnLst/>
            <a:rect l="0" t="0" r="r" b="b"/>
            <a:pathLst>
              <a:path w="8751" h="10932">
                <a:moveTo>
                  <a:pt x="8751" y="0"/>
                </a:moveTo>
                <a:lnTo>
                  <a:pt x="7893" y="10932"/>
                </a:lnTo>
                <a:lnTo>
                  <a:pt x="5628" y="5701"/>
                </a:lnTo>
                <a:lnTo>
                  <a:pt x="0" y="660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3" name="Number traversal 3 to 6"/>
          <p:cNvCxnSpPr/>
          <p:nvPr/>
        </p:nvCxnSpPr>
        <p:spPr>
          <a:xfrm>
            <a:off x="16847820" y="1188720"/>
            <a:ext cx="0" cy="22860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204" name="Number traversal 3 to 6 end"/>
          <p:cNvSpPr/>
          <p:nvPr/>
        </p:nvSpPr>
        <p:spPr>
          <a:xfrm>
            <a:off x="16806672" y="1325880"/>
            <a:ext cx="82296" cy="91440"/>
          </a:xfrm>
          <a:custGeom>
            <a:avLst/>
            <a:gdLst/>
            <a:ahLst/>
            <a:cxnLst/>
            <a:rect l="0" t="0" r="r" b="b"/>
            <a:pathLst>
              <a:path w="9000" h="10000">
                <a:moveTo>
                  <a:pt x="4500" y="10000"/>
                </a:moveTo>
                <a:lnTo>
                  <a:pt x="0" y="0"/>
                </a:lnTo>
                <a:lnTo>
                  <a:pt x="4500" y="3500"/>
                </a:lnTo>
                <a:lnTo>
                  <a:pt x="90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5" name="Number traversal 6 to 9"/>
          <p:cNvCxnSpPr/>
          <p:nvPr/>
        </p:nvCxnSpPr>
        <p:spPr>
          <a:xfrm>
            <a:off x="16847820" y="1719072"/>
            <a:ext cx="0" cy="219456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206" name="Number traversal 6 to 9 end"/>
          <p:cNvSpPr/>
          <p:nvPr/>
        </p:nvSpPr>
        <p:spPr>
          <a:xfrm>
            <a:off x="16806672" y="1847088"/>
            <a:ext cx="82296" cy="91440"/>
          </a:xfrm>
          <a:custGeom>
            <a:avLst/>
            <a:gdLst/>
            <a:ahLst/>
            <a:cxnLst/>
            <a:rect l="0" t="0" r="r" b="b"/>
            <a:pathLst>
              <a:path w="9000" h="10000">
                <a:moveTo>
                  <a:pt x="4500" y="10000"/>
                </a:moveTo>
                <a:lnTo>
                  <a:pt x="0" y="0"/>
                </a:lnTo>
                <a:lnTo>
                  <a:pt x="4500" y="3500"/>
                </a:lnTo>
                <a:lnTo>
                  <a:pt x="90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Z-order curve cell 1"/>
          <p:cNvSpPr/>
          <p:nvPr/>
        </p:nvSpPr>
        <p:spPr>
          <a:xfrm>
            <a:off x="15553944" y="886968"/>
            <a:ext cx="301752" cy="301752"/>
          </a:xfrm>
          <a:prstGeom prst="rect">
            <a:avLst/>
          </a:prstGeom>
          <a:solidFill>
            <a:srgbClr val="FFF7D9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Editable number 1"/>
          <p:cNvSpPr txBox="1"/>
          <p:nvPr/>
        </p:nvSpPr>
        <p:spPr>
          <a:xfrm>
            <a:off x="15576240" y="878162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209" name="Z-order curve cell 2"/>
          <p:cNvSpPr/>
          <p:nvPr/>
        </p:nvSpPr>
        <p:spPr>
          <a:xfrm>
            <a:off x="16120872" y="886968"/>
            <a:ext cx="301752" cy="301752"/>
          </a:xfrm>
          <a:prstGeom prst="rect">
            <a:avLst/>
          </a:prstGeom>
          <a:solidFill>
            <a:srgbClr val="EEEEEE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Editable number 2"/>
          <p:cNvSpPr txBox="1"/>
          <p:nvPr/>
        </p:nvSpPr>
        <p:spPr>
          <a:xfrm>
            <a:off x="16143168" y="878162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211" name="Z-order curve cell 3"/>
          <p:cNvSpPr/>
          <p:nvPr/>
        </p:nvSpPr>
        <p:spPr>
          <a:xfrm>
            <a:off x="16696944" y="886968"/>
            <a:ext cx="301752" cy="301752"/>
          </a:xfrm>
          <a:prstGeom prst="rect">
            <a:avLst/>
          </a:prstGeom>
          <a:solidFill>
            <a:srgbClr val="DFFFE3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Editable number 3"/>
          <p:cNvSpPr txBox="1"/>
          <p:nvPr/>
        </p:nvSpPr>
        <p:spPr>
          <a:xfrm>
            <a:off x="16719240" y="878162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213" name="Z-order curve cell 4"/>
          <p:cNvSpPr/>
          <p:nvPr/>
        </p:nvSpPr>
        <p:spPr>
          <a:xfrm>
            <a:off x="15553944" y="1417320"/>
            <a:ext cx="301752" cy="301752"/>
          </a:xfrm>
          <a:prstGeom prst="rect">
            <a:avLst/>
          </a:prstGeom>
          <a:solidFill>
            <a:srgbClr val="DFFFE3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Editable number 4"/>
          <p:cNvSpPr txBox="1"/>
          <p:nvPr/>
        </p:nvSpPr>
        <p:spPr>
          <a:xfrm>
            <a:off x="15576240" y="140851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</a:t>
            </a:r>
          </a:p>
        </p:txBody>
      </p:sp>
      <p:sp>
        <p:nvSpPr>
          <p:cNvPr id="215" name="Z-order curve cell 5"/>
          <p:cNvSpPr/>
          <p:nvPr/>
        </p:nvSpPr>
        <p:spPr>
          <a:xfrm>
            <a:off x="16120872" y="1417320"/>
            <a:ext cx="301752" cy="301752"/>
          </a:xfrm>
          <a:prstGeom prst="rect">
            <a:avLst/>
          </a:prstGeom>
          <a:solidFill>
            <a:srgbClr val="FADDDD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Editable number 5"/>
          <p:cNvSpPr txBox="1"/>
          <p:nvPr/>
        </p:nvSpPr>
        <p:spPr>
          <a:xfrm>
            <a:off x="16143168" y="140851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5</a:t>
            </a:r>
          </a:p>
        </p:txBody>
      </p:sp>
      <p:sp>
        <p:nvSpPr>
          <p:cNvPr id="217" name="Z-order curve cell 6"/>
          <p:cNvSpPr/>
          <p:nvPr/>
        </p:nvSpPr>
        <p:spPr>
          <a:xfrm>
            <a:off x="16696944" y="1417320"/>
            <a:ext cx="301752" cy="301752"/>
          </a:xfrm>
          <a:prstGeom prst="rect">
            <a:avLst/>
          </a:prstGeom>
          <a:solidFill>
            <a:srgbClr val="DBFAF7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Editable number 6"/>
          <p:cNvSpPr txBox="1"/>
          <p:nvPr/>
        </p:nvSpPr>
        <p:spPr>
          <a:xfrm>
            <a:off x="16719240" y="140851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6</a:t>
            </a:r>
          </a:p>
        </p:txBody>
      </p:sp>
      <p:sp>
        <p:nvSpPr>
          <p:cNvPr id="219" name="Z-order curve cell 7"/>
          <p:cNvSpPr/>
          <p:nvPr/>
        </p:nvSpPr>
        <p:spPr>
          <a:xfrm>
            <a:off x="15553944" y="1938528"/>
            <a:ext cx="301752" cy="301752"/>
          </a:xfrm>
          <a:prstGeom prst="rect">
            <a:avLst/>
          </a:prstGeom>
          <a:solidFill>
            <a:srgbClr val="DBFAF7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Editable number 7"/>
          <p:cNvSpPr txBox="1"/>
          <p:nvPr/>
        </p:nvSpPr>
        <p:spPr>
          <a:xfrm>
            <a:off x="15576240" y="1929722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7</a:t>
            </a:r>
          </a:p>
        </p:txBody>
      </p:sp>
      <p:sp>
        <p:nvSpPr>
          <p:cNvPr id="221" name="Z-order curve cell 8"/>
          <p:cNvSpPr/>
          <p:nvPr/>
        </p:nvSpPr>
        <p:spPr>
          <a:xfrm>
            <a:off x="16120872" y="1938528"/>
            <a:ext cx="301752" cy="301752"/>
          </a:xfrm>
          <a:prstGeom prst="rect">
            <a:avLst/>
          </a:prstGeom>
          <a:solidFill>
            <a:srgbClr val="DFE9F6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Editable number 8"/>
          <p:cNvSpPr txBox="1"/>
          <p:nvPr/>
        </p:nvSpPr>
        <p:spPr>
          <a:xfrm>
            <a:off x="16143168" y="1929722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8</a:t>
            </a:r>
          </a:p>
        </p:txBody>
      </p:sp>
      <p:sp>
        <p:nvSpPr>
          <p:cNvPr id="223" name="Z-order curve cell 9"/>
          <p:cNvSpPr/>
          <p:nvPr/>
        </p:nvSpPr>
        <p:spPr>
          <a:xfrm>
            <a:off x="16696944" y="1938528"/>
            <a:ext cx="301752" cy="301752"/>
          </a:xfrm>
          <a:prstGeom prst="rect">
            <a:avLst/>
          </a:prstGeom>
          <a:solidFill>
            <a:srgbClr val="EAC5D2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Editable number 9"/>
          <p:cNvSpPr txBox="1"/>
          <p:nvPr/>
        </p:nvSpPr>
        <p:spPr>
          <a:xfrm>
            <a:off x="16719240" y="1929722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9</a:t>
            </a:r>
          </a:p>
        </p:txBody>
      </p:sp>
      <p:cxnSp>
        <p:nvCxnSpPr>
          <p:cNvPr id="225" name="Permutation invariance comparison"/>
          <p:cNvCxnSpPr/>
          <p:nvPr/>
        </p:nvCxnSpPr>
        <p:spPr>
          <a:xfrm>
            <a:off x="13167360" y="1600200"/>
            <a:ext cx="2194560" cy="18288"/>
          </a:xfrm>
          <a:prstGeom prst="line">
            <a:avLst/>
          </a:prstGeom>
          <a:ln w="27432">
            <a:solidFill>
              <a:srgbClr val="000000"/>
            </a:solidFill>
            <a:miter lim="800000"/>
          </a:ln>
          <a:effectLst/>
        </p:spPr>
      </p:cxnSp>
      <p:sp>
        <p:nvSpPr>
          <p:cNvPr id="226" name="Permutation invariance comparison end"/>
          <p:cNvSpPr/>
          <p:nvPr/>
        </p:nvSpPr>
        <p:spPr>
          <a:xfrm>
            <a:off x="15178551" y="1557530"/>
            <a:ext cx="183369" cy="118868"/>
          </a:xfrm>
          <a:custGeom>
            <a:avLst/>
            <a:gdLst/>
            <a:ahLst/>
            <a:cxnLst/>
            <a:rect l="0" t="0" r="r" b="b"/>
            <a:pathLst>
              <a:path w="20053" h="13000">
                <a:moveTo>
                  <a:pt x="20053" y="6666"/>
                </a:moveTo>
                <a:lnTo>
                  <a:pt x="0" y="13000"/>
                </a:lnTo>
                <a:lnTo>
                  <a:pt x="7054" y="6558"/>
                </a:lnTo>
                <a:lnTo>
                  <a:pt x="10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Permutation invariance comparison start"/>
          <p:cNvSpPr/>
          <p:nvPr/>
        </p:nvSpPr>
        <p:spPr>
          <a:xfrm>
            <a:off x="13167360" y="1542290"/>
            <a:ext cx="183369" cy="118868"/>
          </a:xfrm>
          <a:custGeom>
            <a:avLst/>
            <a:gdLst/>
            <a:ahLst/>
            <a:cxnLst/>
            <a:rect l="0" t="0" r="r" b="b"/>
            <a:pathLst>
              <a:path w="20053" h="13000">
                <a:moveTo>
                  <a:pt x="0" y="6333"/>
                </a:moveTo>
                <a:lnTo>
                  <a:pt x="20053" y="0"/>
                </a:lnTo>
                <a:lnTo>
                  <a:pt x="13000" y="6441"/>
                </a:lnTo>
                <a:lnTo>
                  <a:pt x="19945" y="13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Loss ℒ"/>
          <p:cNvSpPr txBox="1"/>
          <p:nvPr/>
        </p:nvSpPr>
        <p:spPr>
          <a:xfrm>
            <a:off x="13600064" y="1091245"/>
            <a:ext cx="342071" cy="437540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0" i="0" dirty="0" kern="1200">
                <a:solidFill>
                  <a:srgbClr val="000000"/>
                </a:solidFill>
                <a:latin typeface="Latin Modern Math"/>
                <a:ea typeface="Latin Modern Math"/>
                <a:cs typeface="Latin Modern Math"/>
              </a:rPr>
              <a:t>ℒ</a:t>
            </a:r>
          </a:p>
        </p:txBody>
      </p:sp>
      <p:sp>
        <p:nvSpPr>
          <p:cNvPr id="229" name="Loss permutation"/>
          <p:cNvSpPr txBox="1"/>
          <p:nvPr/>
        </p:nvSpPr>
        <p:spPr>
          <a:xfrm>
            <a:off x="13832407" y="1219098"/>
            <a:ext cx="1334553" cy="363159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2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permutation</a:t>
            </a:r>
          </a:p>
        </p:txBody>
      </p:sp>
      <p:sp>
        <p:nvSpPr>
          <p:cNvPr id="230" name="Permutation"/>
          <p:cNvSpPr txBox="1"/>
          <p:nvPr/>
        </p:nvSpPr>
        <p:spPr>
          <a:xfrm>
            <a:off x="13604672" y="1761281"/>
            <a:ext cx="1283360" cy="29169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Permutation</a:t>
            </a:r>
          </a:p>
        </p:txBody>
      </p:sp>
      <p:sp>
        <p:nvSpPr>
          <p:cNvPr id="231" name="Invariance Prior"/>
          <p:cNvSpPr txBox="1"/>
          <p:nvPr/>
        </p:nvSpPr>
        <p:spPr>
          <a:xfrm>
            <a:off x="13431150" y="1971593"/>
            <a:ext cx="1630404" cy="29169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Invariance Prior</a:t>
            </a:r>
          </a:p>
        </p:txBody>
      </p:sp>
      <p:sp>
        <p:nvSpPr>
          <p:cNvPr id="232" name="Hilbert curves"/>
          <p:cNvSpPr txBox="1"/>
          <p:nvPr/>
        </p:nvSpPr>
        <p:spPr>
          <a:xfrm>
            <a:off x="11545529" y="2483657"/>
            <a:ext cx="1451439" cy="29169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Hilbert curves</a:t>
            </a:r>
          </a:p>
        </p:txBody>
      </p:sp>
      <p:sp>
        <p:nvSpPr>
          <p:cNvPr id="233" name="Z-order curves"/>
          <p:cNvSpPr txBox="1"/>
          <p:nvPr/>
        </p:nvSpPr>
        <p:spPr>
          <a:xfrm>
            <a:off x="15526248" y="2483657"/>
            <a:ext cx="1518433" cy="29169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Z-order curves</a:t>
            </a:r>
          </a:p>
        </p:txBody>
      </p:sp>
      <p:sp>
        <p:nvSpPr>
          <p:cNvPr id="234" name="Hilbert sequence slot 1"/>
          <p:cNvSpPr/>
          <p:nvPr/>
        </p:nvSpPr>
        <p:spPr>
          <a:xfrm>
            <a:off x="11128248" y="2834640"/>
            <a:ext cx="315468" cy="301752"/>
          </a:xfrm>
          <a:prstGeom prst="rect">
            <a:avLst/>
          </a:prstGeom>
          <a:solidFill>
            <a:srgbClr val="FFF7D9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Editable number 1"/>
          <p:cNvSpPr txBox="1"/>
          <p:nvPr/>
        </p:nvSpPr>
        <p:spPr>
          <a:xfrm>
            <a:off x="11157402" y="28258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236" name="Hilbert sequence slot 2"/>
          <p:cNvSpPr/>
          <p:nvPr/>
        </p:nvSpPr>
        <p:spPr>
          <a:xfrm>
            <a:off x="11443716" y="2834640"/>
            <a:ext cx="315468" cy="301752"/>
          </a:xfrm>
          <a:prstGeom prst="rect">
            <a:avLst/>
          </a:prstGeom>
          <a:solidFill>
            <a:srgbClr val="EEEEEE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Editable number 2"/>
          <p:cNvSpPr txBox="1"/>
          <p:nvPr/>
        </p:nvSpPr>
        <p:spPr>
          <a:xfrm>
            <a:off x="11472870" y="28258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238" name="Hilbert sequence slot 3"/>
          <p:cNvSpPr/>
          <p:nvPr/>
        </p:nvSpPr>
        <p:spPr>
          <a:xfrm>
            <a:off x="11759184" y="2834640"/>
            <a:ext cx="315468" cy="301752"/>
          </a:xfrm>
          <a:prstGeom prst="rect">
            <a:avLst/>
          </a:prstGeom>
          <a:solidFill>
            <a:srgbClr val="DFFFE3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Editable number 4"/>
          <p:cNvSpPr txBox="1"/>
          <p:nvPr/>
        </p:nvSpPr>
        <p:spPr>
          <a:xfrm>
            <a:off x="11788338" y="28258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</a:t>
            </a:r>
          </a:p>
        </p:txBody>
      </p:sp>
      <p:sp>
        <p:nvSpPr>
          <p:cNvPr id="240" name="Hilbert sequence slot 4"/>
          <p:cNvSpPr/>
          <p:nvPr/>
        </p:nvSpPr>
        <p:spPr>
          <a:xfrm>
            <a:off x="12074652" y="2834640"/>
            <a:ext cx="315468" cy="301752"/>
          </a:xfrm>
          <a:prstGeom prst="rect">
            <a:avLst/>
          </a:prstGeom>
          <a:solidFill>
            <a:srgbClr val="DFFFE3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Editable number 3"/>
          <p:cNvSpPr txBox="1"/>
          <p:nvPr/>
        </p:nvSpPr>
        <p:spPr>
          <a:xfrm>
            <a:off x="12103806" y="28258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242" name="Hilbert sequence slot 5"/>
          <p:cNvSpPr/>
          <p:nvPr/>
        </p:nvSpPr>
        <p:spPr>
          <a:xfrm>
            <a:off x="12390120" y="2834640"/>
            <a:ext cx="315468" cy="301752"/>
          </a:xfrm>
          <a:prstGeom prst="rect">
            <a:avLst/>
          </a:prstGeom>
          <a:solidFill>
            <a:srgbClr val="FADDDD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Editable number 5"/>
          <p:cNvSpPr txBox="1"/>
          <p:nvPr/>
        </p:nvSpPr>
        <p:spPr>
          <a:xfrm>
            <a:off x="12419274" y="28258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5</a:t>
            </a:r>
          </a:p>
        </p:txBody>
      </p:sp>
      <p:sp>
        <p:nvSpPr>
          <p:cNvPr id="244" name="Hilbert sequence slot 6"/>
          <p:cNvSpPr/>
          <p:nvPr/>
        </p:nvSpPr>
        <p:spPr>
          <a:xfrm>
            <a:off x="12705588" y="2834640"/>
            <a:ext cx="315468" cy="301752"/>
          </a:xfrm>
          <a:prstGeom prst="rect">
            <a:avLst/>
          </a:prstGeom>
          <a:solidFill>
            <a:srgbClr val="DBFAF7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Editable number 7"/>
          <p:cNvSpPr txBox="1"/>
          <p:nvPr/>
        </p:nvSpPr>
        <p:spPr>
          <a:xfrm>
            <a:off x="12734742" y="28258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7</a:t>
            </a:r>
          </a:p>
        </p:txBody>
      </p:sp>
      <p:sp>
        <p:nvSpPr>
          <p:cNvPr id="246" name="Hilbert sequence slot 7"/>
          <p:cNvSpPr/>
          <p:nvPr/>
        </p:nvSpPr>
        <p:spPr>
          <a:xfrm>
            <a:off x="13021056" y="2834640"/>
            <a:ext cx="315468" cy="301752"/>
          </a:xfrm>
          <a:prstGeom prst="rect">
            <a:avLst/>
          </a:prstGeom>
          <a:solidFill>
            <a:srgbClr val="DBFAF7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Editable number 6"/>
          <p:cNvSpPr txBox="1"/>
          <p:nvPr/>
        </p:nvSpPr>
        <p:spPr>
          <a:xfrm>
            <a:off x="13050210" y="28258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6</a:t>
            </a:r>
          </a:p>
        </p:txBody>
      </p:sp>
      <p:sp>
        <p:nvSpPr>
          <p:cNvPr id="248" name="Hilbert sequence slot 8"/>
          <p:cNvSpPr/>
          <p:nvPr/>
        </p:nvSpPr>
        <p:spPr>
          <a:xfrm>
            <a:off x="13336524" y="2834640"/>
            <a:ext cx="315468" cy="301752"/>
          </a:xfrm>
          <a:prstGeom prst="rect">
            <a:avLst/>
          </a:prstGeom>
          <a:solidFill>
            <a:srgbClr val="DFE9F6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Editable number 8"/>
          <p:cNvSpPr txBox="1"/>
          <p:nvPr/>
        </p:nvSpPr>
        <p:spPr>
          <a:xfrm>
            <a:off x="13365678" y="28258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8</a:t>
            </a:r>
          </a:p>
        </p:txBody>
      </p:sp>
      <p:sp>
        <p:nvSpPr>
          <p:cNvPr id="250" name="Hilbert sequence slot 9"/>
          <p:cNvSpPr/>
          <p:nvPr/>
        </p:nvSpPr>
        <p:spPr>
          <a:xfrm>
            <a:off x="13651992" y="2834640"/>
            <a:ext cx="315468" cy="301752"/>
          </a:xfrm>
          <a:prstGeom prst="rect">
            <a:avLst/>
          </a:prstGeom>
          <a:solidFill>
            <a:srgbClr val="EAC5D2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Editable number 9"/>
          <p:cNvSpPr txBox="1"/>
          <p:nvPr/>
        </p:nvSpPr>
        <p:spPr>
          <a:xfrm>
            <a:off x="13681146" y="28258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9</a:t>
            </a:r>
          </a:p>
        </p:txBody>
      </p:sp>
      <p:sp>
        <p:nvSpPr>
          <p:cNvPr id="252" name="Z-order sequence slot 1"/>
          <p:cNvSpPr/>
          <p:nvPr/>
        </p:nvSpPr>
        <p:spPr>
          <a:xfrm>
            <a:off x="14529816" y="2825496"/>
            <a:ext cx="315468" cy="301752"/>
          </a:xfrm>
          <a:prstGeom prst="rect">
            <a:avLst/>
          </a:prstGeom>
          <a:solidFill>
            <a:srgbClr val="FFF7D9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Editable number 1"/>
          <p:cNvSpPr txBox="1"/>
          <p:nvPr/>
        </p:nvSpPr>
        <p:spPr>
          <a:xfrm>
            <a:off x="14558970" y="2816690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254" name="Z-order sequence slot 2"/>
          <p:cNvSpPr/>
          <p:nvPr/>
        </p:nvSpPr>
        <p:spPr>
          <a:xfrm>
            <a:off x="14845284" y="2825496"/>
            <a:ext cx="315468" cy="301752"/>
          </a:xfrm>
          <a:prstGeom prst="rect">
            <a:avLst/>
          </a:prstGeom>
          <a:solidFill>
            <a:srgbClr val="DFFFE3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Editable number 4"/>
          <p:cNvSpPr txBox="1"/>
          <p:nvPr/>
        </p:nvSpPr>
        <p:spPr>
          <a:xfrm>
            <a:off x="14874438" y="2816690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</a:t>
            </a:r>
          </a:p>
        </p:txBody>
      </p:sp>
      <p:sp>
        <p:nvSpPr>
          <p:cNvPr id="256" name="Z-order sequence slot 3"/>
          <p:cNvSpPr/>
          <p:nvPr/>
        </p:nvSpPr>
        <p:spPr>
          <a:xfrm>
            <a:off x="15160752" y="2825496"/>
            <a:ext cx="315468" cy="301752"/>
          </a:xfrm>
          <a:prstGeom prst="rect">
            <a:avLst/>
          </a:prstGeom>
          <a:solidFill>
            <a:srgbClr val="DBFAF7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Editable number 7"/>
          <p:cNvSpPr txBox="1"/>
          <p:nvPr/>
        </p:nvSpPr>
        <p:spPr>
          <a:xfrm>
            <a:off x="15189906" y="2816690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7</a:t>
            </a:r>
          </a:p>
        </p:txBody>
      </p:sp>
      <p:sp>
        <p:nvSpPr>
          <p:cNvPr id="258" name="Z-order sequence slot 4"/>
          <p:cNvSpPr/>
          <p:nvPr/>
        </p:nvSpPr>
        <p:spPr>
          <a:xfrm>
            <a:off x="15476220" y="2825496"/>
            <a:ext cx="315468" cy="301752"/>
          </a:xfrm>
          <a:prstGeom prst="rect">
            <a:avLst/>
          </a:prstGeom>
          <a:solidFill>
            <a:srgbClr val="EEEEEE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Editable number 2"/>
          <p:cNvSpPr txBox="1"/>
          <p:nvPr/>
        </p:nvSpPr>
        <p:spPr>
          <a:xfrm>
            <a:off x="15505374" y="2816690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260" name="Z-order sequence slot 5"/>
          <p:cNvSpPr/>
          <p:nvPr/>
        </p:nvSpPr>
        <p:spPr>
          <a:xfrm>
            <a:off x="15791688" y="2825496"/>
            <a:ext cx="315468" cy="301752"/>
          </a:xfrm>
          <a:prstGeom prst="rect">
            <a:avLst/>
          </a:prstGeom>
          <a:solidFill>
            <a:srgbClr val="FADDDD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Editable number 5"/>
          <p:cNvSpPr txBox="1"/>
          <p:nvPr/>
        </p:nvSpPr>
        <p:spPr>
          <a:xfrm>
            <a:off x="15820842" y="2816690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5</a:t>
            </a:r>
          </a:p>
        </p:txBody>
      </p:sp>
      <p:sp>
        <p:nvSpPr>
          <p:cNvPr id="262" name="Z-order sequence slot 6"/>
          <p:cNvSpPr/>
          <p:nvPr/>
        </p:nvSpPr>
        <p:spPr>
          <a:xfrm>
            <a:off x="16107156" y="2825496"/>
            <a:ext cx="315468" cy="301752"/>
          </a:xfrm>
          <a:prstGeom prst="rect">
            <a:avLst/>
          </a:prstGeom>
          <a:solidFill>
            <a:srgbClr val="DFE9F6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Editable number 8"/>
          <p:cNvSpPr txBox="1"/>
          <p:nvPr/>
        </p:nvSpPr>
        <p:spPr>
          <a:xfrm>
            <a:off x="16136310" y="2816690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8</a:t>
            </a:r>
          </a:p>
        </p:txBody>
      </p:sp>
      <p:sp>
        <p:nvSpPr>
          <p:cNvPr id="264" name="Z-order sequence slot 7"/>
          <p:cNvSpPr/>
          <p:nvPr/>
        </p:nvSpPr>
        <p:spPr>
          <a:xfrm>
            <a:off x="16422624" y="2825496"/>
            <a:ext cx="315468" cy="301752"/>
          </a:xfrm>
          <a:prstGeom prst="rect">
            <a:avLst/>
          </a:prstGeom>
          <a:solidFill>
            <a:srgbClr val="DFFFE3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Editable number 3"/>
          <p:cNvSpPr txBox="1"/>
          <p:nvPr/>
        </p:nvSpPr>
        <p:spPr>
          <a:xfrm>
            <a:off x="16451778" y="2816690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266" name="Z-order sequence slot 8"/>
          <p:cNvSpPr/>
          <p:nvPr/>
        </p:nvSpPr>
        <p:spPr>
          <a:xfrm>
            <a:off x="16738092" y="2825496"/>
            <a:ext cx="315468" cy="301752"/>
          </a:xfrm>
          <a:prstGeom prst="rect">
            <a:avLst/>
          </a:prstGeom>
          <a:solidFill>
            <a:srgbClr val="DBFAF7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Editable number 6"/>
          <p:cNvSpPr txBox="1"/>
          <p:nvPr/>
        </p:nvSpPr>
        <p:spPr>
          <a:xfrm>
            <a:off x="16767246" y="2816690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6</a:t>
            </a:r>
          </a:p>
        </p:txBody>
      </p:sp>
      <p:sp>
        <p:nvSpPr>
          <p:cNvPr id="268" name="Z-order sequence slot 9"/>
          <p:cNvSpPr/>
          <p:nvPr/>
        </p:nvSpPr>
        <p:spPr>
          <a:xfrm>
            <a:off x="17053560" y="2825496"/>
            <a:ext cx="315468" cy="301752"/>
          </a:xfrm>
          <a:prstGeom prst="rect">
            <a:avLst/>
          </a:prstGeom>
          <a:solidFill>
            <a:srgbClr val="EAC5D2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Editable number 9"/>
          <p:cNvSpPr txBox="1"/>
          <p:nvPr/>
        </p:nvSpPr>
        <p:spPr>
          <a:xfrm>
            <a:off x="17082714" y="2816690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9</a:t>
            </a:r>
          </a:p>
        </p:txBody>
      </p:sp>
      <p:cxnSp>
        <p:nvCxnSpPr>
          <p:cNvPr id="270" name="Equivalent orderings"/>
          <p:cNvCxnSpPr/>
          <p:nvPr/>
        </p:nvCxnSpPr>
        <p:spPr>
          <a:xfrm>
            <a:off x="13981176" y="2980944"/>
            <a:ext cx="539496" cy="0"/>
          </a:xfrm>
          <a:prstGeom prst="line">
            <a:avLst/>
          </a:prstGeom>
          <a:ln w="25603">
            <a:solidFill>
              <a:srgbClr val="000000"/>
            </a:solidFill>
            <a:miter lim="800000"/>
          </a:ln>
          <a:effectLst/>
        </p:spPr>
      </p:cxnSp>
      <p:sp>
        <p:nvSpPr>
          <p:cNvPr id="271" name="Equivalent orderings end"/>
          <p:cNvSpPr/>
          <p:nvPr/>
        </p:nvSpPr>
        <p:spPr>
          <a:xfrm>
            <a:off x="14337792" y="2921508"/>
            <a:ext cx="182880" cy="118872"/>
          </a:xfrm>
          <a:custGeom>
            <a:avLst/>
            <a:gdLst/>
            <a:ahLst/>
            <a:cxnLst/>
            <a:rect l="0" t="0" r="r" b="b"/>
            <a:pathLst>
              <a:path w="20000" h="13000">
                <a:moveTo>
                  <a:pt x="20000" y="6500"/>
                </a:moveTo>
                <a:lnTo>
                  <a:pt x="0" y="13000"/>
                </a:lnTo>
                <a:lnTo>
                  <a:pt x="7000" y="6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Equivalent orderings start"/>
          <p:cNvSpPr/>
          <p:nvPr/>
        </p:nvSpPr>
        <p:spPr>
          <a:xfrm>
            <a:off x="13981176" y="2921508"/>
            <a:ext cx="182880" cy="118872"/>
          </a:xfrm>
          <a:custGeom>
            <a:avLst/>
            <a:gdLst/>
            <a:ahLst/>
            <a:cxnLst/>
            <a:rect l="0" t="0" r="r" b="b"/>
            <a:pathLst>
              <a:path w="20000" h="13000">
                <a:moveTo>
                  <a:pt x="0" y="6500"/>
                </a:moveTo>
                <a:lnTo>
                  <a:pt x="20000" y="0"/>
                </a:lnTo>
                <a:lnTo>
                  <a:pt x="13000" y="6500"/>
                </a:lnTo>
                <a:lnTo>
                  <a:pt x="20000" y="13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3" name="Rectangular z-axis"/>
          <p:cNvCxnSpPr/>
          <p:nvPr/>
        </p:nvCxnSpPr>
        <p:spPr>
          <a:xfrm flipV="1">
            <a:off x="11503152" y="3364992"/>
            <a:ext cx="0" cy="429768"/>
          </a:xfrm>
          <a:prstGeom prst="line">
            <a:avLst/>
          </a:prstGeom>
          <a:ln w="25603">
            <a:solidFill>
              <a:srgbClr val="000000"/>
            </a:solidFill>
            <a:miter lim="800000"/>
          </a:ln>
          <a:effectLst/>
        </p:spPr>
      </p:cxnSp>
      <p:sp>
        <p:nvSpPr>
          <p:cNvPr id="274" name="Rectangular z-axis end"/>
          <p:cNvSpPr/>
          <p:nvPr/>
        </p:nvSpPr>
        <p:spPr>
          <a:xfrm>
            <a:off x="11448288" y="3364992"/>
            <a:ext cx="109728" cy="164592"/>
          </a:xfrm>
          <a:custGeom>
            <a:avLst/>
            <a:gdLst/>
            <a:ahLst/>
            <a:cxnLst/>
            <a:rect l="0" t="0" r="r" b="b"/>
            <a:pathLst>
              <a:path w="12000" h="18000">
                <a:moveTo>
                  <a:pt x="6000" y="0"/>
                </a:moveTo>
                <a:lnTo>
                  <a:pt x="12000" y="18000"/>
                </a:lnTo>
                <a:lnTo>
                  <a:pt x="6000" y="11700"/>
                </a:lnTo>
                <a:lnTo>
                  <a:pt x="0" y="1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z"/>
          <p:cNvSpPr txBox="1"/>
          <p:nvPr/>
        </p:nvSpPr>
        <p:spPr>
          <a:xfrm>
            <a:off x="11612880" y="3306617"/>
            <a:ext cx="210312" cy="29169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cxnSp>
        <p:nvCxnSpPr>
          <p:cNvPr id="276" name="Rectangular x-axis"/>
          <p:cNvCxnSpPr/>
          <p:nvPr/>
        </p:nvCxnSpPr>
        <p:spPr>
          <a:xfrm>
            <a:off x="11503152" y="4764024"/>
            <a:ext cx="1911096" cy="0"/>
          </a:xfrm>
          <a:prstGeom prst="line">
            <a:avLst/>
          </a:prstGeom>
          <a:ln w="25603">
            <a:solidFill>
              <a:srgbClr val="000000"/>
            </a:solidFill>
            <a:miter lim="800000"/>
          </a:ln>
          <a:effectLst/>
        </p:spPr>
      </p:cxnSp>
      <p:sp>
        <p:nvSpPr>
          <p:cNvPr id="277" name="Rectangular x-axis end"/>
          <p:cNvSpPr/>
          <p:nvPr/>
        </p:nvSpPr>
        <p:spPr>
          <a:xfrm>
            <a:off x="13222224" y="4700016"/>
            <a:ext cx="192024" cy="128016"/>
          </a:xfrm>
          <a:custGeom>
            <a:avLst/>
            <a:gdLst/>
            <a:ahLst/>
            <a:cxnLst/>
            <a:rect l="0" t="0" r="r" b="b"/>
            <a:pathLst>
              <a:path w="21000" h="14000">
                <a:moveTo>
                  <a:pt x="21000" y="7000"/>
                </a:moveTo>
                <a:lnTo>
                  <a:pt x="0" y="14000"/>
                </a:lnTo>
                <a:lnTo>
                  <a:pt x="7350" y="7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8" name="Rectangular y-axis"/>
          <p:cNvCxnSpPr/>
          <p:nvPr/>
        </p:nvCxnSpPr>
        <p:spPr>
          <a:xfrm flipH="1">
            <a:off x="11283696" y="4764024"/>
            <a:ext cx="219456" cy="694944"/>
          </a:xfrm>
          <a:prstGeom prst="line">
            <a:avLst/>
          </a:prstGeom>
          <a:ln w="25603">
            <a:solidFill>
              <a:srgbClr val="000000"/>
            </a:solidFill>
            <a:miter lim="800000"/>
          </a:ln>
          <a:effectLst/>
        </p:spPr>
      </p:cxnSp>
      <p:sp>
        <p:nvSpPr>
          <p:cNvPr id="279" name="Rectangular y-axis end"/>
          <p:cNvSpPr/>
          <p:nvPr/>
        </p:nvSpPr>
        <p:spPr>
          <a:xfrm>
            <a:off x="11280484" y="5256582"/>
            <a:ext cx="122074" cy="202386"/>
          </a:xfrm>
          <a:custGeom>
            <a:avLst/>
            <a:gdLst/>
            <a:ahLst/>
            <a:cxnLst/>
            <a:rect l="0" t="0" r="r" b="b"/>
            <a:pathLst>
              <a:path w="13350" h="22133">
                <a:moveTo>
                  <a:pt x="351" y="22133"/>
                </a:moveTo>
                <a:lnTo>
                  <a:pt x="0" y="0"/>
                </a:lnTo>
                <a:lnTo>
                  <a:pt x="4462" y="9117"/>
                </a:lnTo>
                <a:lnTo>
                  <a:pt x="13350" y="42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x"/>
          <p:cNvSpPr txBox="1"/>
          <p:nvPr/>
        </p:nvSpPr>
        <p:spPr>
          <a:xfrm>
            <a:off x="13267944" y="4458761"/>
            <a:ext cx="221613" cy="29169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281" name="y"/>
          <p:cNvSpPr txBox="1"/>
          <p:nvPr/>
        </p:nvSpPr>
        <p:spPr>
          <a:xfrm>
            <a:off x="11183112" y="5089697"/>
            <a:ext cx="221613" cy="29169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cxnSp>
        <p:nvCxnSpPr>
          <p:cNvPr id="282" name="Partition vertical dotted edge"/>
          <p:cNvCxnSpPr/>
          <p:nvPr/>
        </p:nvCxnSpPr>
        <p:spPr>
          <a:xfrm>
            <a:off x="11365992" y="4187952"/>
            <a:ext cx="0" cy="1005840"/>
          </a:xfrm>
          <a:prstGeom prst="line">
            <a:avLst/>
          </a:prstGeom>
          <a:ln w="18288" cap="rnd">
            <a:solidFill>
              <a:srgbClr val="000000"/>
            </a:solidFill>
            <a:custDash>
              <a:ds d="50000" sp="150000"/>
            </a:custDash>
            <a:miter lim="800000"/>
          </a:ln>
          <a:effectLst/>
        </p:spPr>
      </p:cxnSp>
      <p:cxnSp>
        <p:nvCxnSpPr>
          <p:cNvPr id="283" name="Partition vertical dotted edge"/>
          <p:cNvCxnSpPr/>
          <p:nvPr/>
        </p:nvCxnSpPr>
        <p:spPr>
          <a:xfrm>
            <a:off x="11503152" y="3776472"/>
            <a:ext cx="0" cy="987552"/>
          </a:xfrm>
          <a:prstGeom prst="line">
            <a:avLst/>
          </a:prstGeom>
          <a:ln w="18288" cap="rnd">
            <a:solidFill>
              <a:srgbClr val="000000"/>
            </a:solidFill>
            <a:custDash>
              <a:ds d="50000" sp="150000"/>
            </a:custDash>
            <a:miter lim="800000"/>
          </a:ln>
          <a:effectLst/>
        </p:spPr>
      </p:cxnSp>
      <p:cxnSp>
        <p:nvCxnSpPr>
          <p:cNvPr id="284" name="Partition vertical dotted edge"/>
          <p:cNvCxnSpPr/>
          <p:nvPr/>
        </p:nvCxnSpPr>
        <p:spPr>
          <a:xfrm>
            <a:off x="13011912" y="4187952"/>
            <a:ext cx="0" cy="1005840"/>
          </a:xfrm>
          <a:prstGeom prst="line">
            <a:avLst/>
          </a:prstGeom>
          <a:ln w="18288" cap="rnd">
            <a:solidFill>
              <a:srgbClr val="000000"/>
            </a:solidFill>
            <a:custDash>
              <a:ds d="50000" sp="150000"/>
            </a:custDash>
            <a:miter lim="800000"/>
          </a:ln>
          <a:effectLst/>
        </p:spPr>
      </p:cxnSp>
      <p:cxnSp>
        <p:nvCxnSpPr>
          <p:cNvPr id="285" name="Partition vertical dotted edge"/>
          <p:cNvCxnSpPr/>
          <p:nvPr/>
        </p:nvCxnSpPr>
        <p:spPr>
          <a:xfrm>
            <a:off x="13149072" y="3776472"/>
            <a:ext cx="0" cy="987552"/>
          </a:xfrm>
          <a:prstGeom prst="line">
            <a:avLst/>
          </a:prstGeom>
          <a:ln w="18288" cap="rnd">
            <a:solidFill>
              <a:srgbClr val="000000"/>
            </a:solidFill>
            <a:custDash>
              <a:ds d="50000" sp="150000"/>
            </a:custDash>
            <a:miter lim="800000"/>
          </a:ln>
          <a:effectLst/>
        </p:spPr>
      </p:cxnSp>
      <p:sp>
        <p:nvSpPr>
          <p:cNvPr id="286" name="Rectangular partition plane"/>
          <p:cNvSpPr/>
          <p:nvPr/>
        </p:nvSpPr>
        <p:spPr>
          <a:xfrm>
            <a:off x="11365992" y="3776472"/>
            <a:ext cx="1783080" cy="420624"/>
          </a:xfrm>
          <a:custGeom>
            <a:avLst/>
            <a:gdLst/>
            <a:ahLst/>
            <a:cxnLst/>
            <a:rect l="0" t="0" r="r" b="b"/>
            <a:pathLst>
              <a:path w="195000" h="46000">
                <a:moveTo>
                  <a:pt x="15000" y="0"/>
                </a:moveTo>
                <a:lnTo>
                  <a:pt x="195000" y="0"/>
                </a:lnTo>
                <a:lnTo>
                  <a:pt x="180000" y="46000"/>
                </a:lnTo>
                <a:lnTo>
                  <a:pt x="0" y="46000"/>
                </a:lnTo>
                <a:close/>
              </a:path>
            </a:pathLst>
          </a:custGeom>
          <a:solidFill>
            <a:srgbClr val="F0F1F2"/>
          </a:solidFill>
          <a:ln w="21945" cap="rnd">
            <a:solidFill>
              <a:srgbClr val="000000"/>
            </a:solidFill>
            <a:custDash>
              <a:ds d="41667" sp="125000"/>
            </a:custDash>
            <a:miter lim="800000"/>
          </a:ln>
          <a:effectLst>
            <a:outerShdw blurRad="45720" dist="71323" dir="3000000" algn="tl" rotWithShape="0">
              <a:srgbClr val="000000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287" name="Within-plane traversal"/>
          <p:cNvCxnSpPr/>
          <p:nvPr/>
        </p:nvCxnSpPr>
        <p:spPr>
          <a:xfrm>
            <a:off x="11814048" y="3986784"/>
            <a:ext cx="320040" cy="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288" name="Within-plane traversal end"/>
          <p:cNvSpPr/>
          <p:nvPr/>
        </p:nvSpPr>
        <p:spPr>
          <a:xfrm>
            <a:off x="12042648" y="3945636"/>
            <a:ext cx="91440" cy="82296"/>
          </a:xfrm>
          <a:custGeom>
            <a:avLst/>
            <a:gdLst/>
            <a:ahLst/>
            <a:cxnLst/>
            <a:rect l="0" t="0" r="r" b="b"/>
            <a:pathLst>
              <a:path w="10000" h="9000">
                <a:moveTo>
                  <a:pt x="10000" y="4500"/>
                </a:moveTo>
                <a:lnTo>
                  <a:pt x="0" y="9000"/>
                </a:lnTo>
                <a:lnTo>
                  <a:pt x="3500" y="4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9" name="Within-plane traversal"/>
          <p:cNvCxnSpPr/>
          <p:nvPr/>
        </p:nvCxnSpPr>
        <p:spPr>
          <a:xfrm>
            <a:off x="12380976" y="3986784"/>
            <a:ext cx="320040" cy="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290" name="Within-plane traversal end"/>
          <p:cNvSpPr/>
          <p:nvPr/>
        </p:nvSpPr>
        <p:spPr>
          <a:xfrm>
            <a:off x="12609576" y="3945636"/>
            <a:ext cx="91440" cy="82296"/>
          </a:xfrm>
          <a:custGeom>
            <a:avLst/>
            <a:gdLst/>
            <a:ahLst/>
            <a:cxnLst/>
            <a:rect l="0" t="0" r="r" b="b"/>
            <a:pathLst>
              <a:path w="10000" h="9000">
                <a:moveTo>
                  <a:pt x="10000" y="4500"/>
                </a:moveTo>
                <a:lnTo>
                  <a:pt x="0" y="9000"/>
                </a:lnTo>
                <a:lnTo>
                  <a:pt x="3500" y="4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Skewed cell 1"/>
          <p:cNvSpPr/>
          <p:nvPr/>
        </p:nvSpPr>
        <p:spPr>
          <a:xfrm>
            <a:off x="11539728" y="3840480"/>
            <a:ext cx="301752" cy="292608"/>
          </a:xfrm>
          <a:custGeom>
            <a:avLst/>
            <a:gdLst/>
            <a:ahLst/>
            <a:cxnLst/>
            <a:rect l="0" t="0" r="r" b="b"/>
            <a:pathLst>
              <a:path w="33000" h="32000">
                <a:moveTo>
                  <a:pt x="8000" y="0"/>
                </a:moveTo>
                <a:lnTo>
                  <a:pt x="33000" y="0"/>
                </a:lnTo>
                <a:lnTo>
                  <a:pt x="25000" y="32000"/>
                </a:lnTo>
                <a:lnTo>
                  <a:pt x="0" y="32000"/>
                </a:lnTo>
                <a:close/>
              </a:path>
            </a:pathLst>
          </a:custGeom>
          <a:solidFill>
            <a:srgbClr val="FFF7D9"/>
          </a:solidFill>
          <a:ln w="3108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Editable number 1"/>
          <p:cNvSpPr txBox="1"/>
          <p:nvPr/>
        </p:nvSpPr>
        <p:spPr>
          <a:xfrm>
            <a:off x="11562024" y="3824131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1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293" name="Skewed cell 2"/>
          <p:cNvSpPr/>
          <p:nvPr/>
        </p:nvSpPr>
        <p:spPr>
          <a:xfrm>
            <a:off x="12115800" y="3840480"/>
            <a:ext cx="301752" cy="292608"/>
          </a:xfrm>
          <a:custGeom>
            <a:avLst/>
            <a:gdLst/>
            <a:ahLst/>
            <a:cxnLst/>
            <a:rect l="0" t="0" r="r" b="b"/>
            <a:pathLst>
              <a:path w="33000" h="32000">
                <a:moveTo>
                  <a:pt x="8000" y="0"/>
                </a:moveTo>
                <a:lnTo>
                  <a:pt x="33000" y="0"/>
                </a:lnTo>
                <a:lnTo>
                  <a:pt x="25000" y="32000"/>
                </a:lnTo>
                <a:lnTo>
                  <a:pt x="0" y="32000"/>
                </a:lnTo>
                <a:close/>
              </a:path>
            </a:pathLst>
          </a:custGeom>
          <a:solidFill>
            <a:srgbClr val="EEEEEE"/>
          </a:solidFill>
          <a:ln w="3108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Editable number 2"/>
          <p:cNvSpPr txBox="1"/>
          <p:nvPr/>
        </p:nvSpPr>
        <p:spPr>
          <a:xfrm>
            <a:off x="12138096" y="3824131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1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295" name="Skewed cell 3"/>
          <p:cNvSpPr/>
          <p:nvPr/>
        </p:nvSpPr>
        <p:spPr>
          <a:xfrm>
            <a:off x="12682728" y="3840480"/>
            <a:ext cx="301752" cy="292608"/>
          </a:xfrm>
          <a:custGeom>
            <a:avLst/>
            <a:gdLst/>
            <a:ahLst/>
            <a:cxnLst/>
            <a:rect l="0" t="0" r="r" b="b"/>
            <a:pathLst>
              <a:path w="33000" h="32000">
                <a:moveTo>
                  <a:pt x="8000" y="0"/>
                </a:moveTo>
                <a:lnTo>
                  <a:pt x="33000" y="0"/>
                </a:lnTo>
                <a:lnTo>
                  <a:pt x="25000" y="32000"/>
                </a:lnTo>
                <a:lnTo>
                  <a:pt x="0" y="32000"/>
                </a:lnTo>
                <a:close/>
              </a:path>
            </a:pathLst>
          </a:custGeom>
          <a:solidFill>
            <a:srgbClr val="DFFFE3"/>
          </a:solidFill>
          <a:ln w="3108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Editable number 3"/>
          <p:cNvSpPr txBox="1"/>
          <p:nvPr/>
        </p:nvSpPr>
        <p:spPr>
          <a:xfrm>
            <a:off x="12705024" y="3824131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1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297" name="Rectangular partition plane"/>
          <p:cNvSpPr/>
          <p:nvPr/>
        </p:nvSpPr>
        <p:spPr>
          <a:xfrm>
            <a:off x="11365992" y="4270248"/>
            <a:ext cx="1783080" cy="420624"/>
          </a:xfrm>
          <a:custGeom>
            <a:avLst/>
            <a:gdLst/>
            <a:ahLst/>
            <a:cxnLst/>
            <a:rect l="0" t="0" r="r" b="b"/>
            <a:pathLst>
              <a:path w="195000" h="46000">
                <a:moveTo>
                  <a:pt x="15000" y="0"/>
                </a:moveTo>
                <a:lnTo>
                  <a:pt x="195000" y="0"/>
                </a:lnTo>
                <a:lnTo>
                  <a:pt x="180000" y="46000"/>
                </a:lnTo>
                <a:lnTo>
                  <a:pt x="0" y="46000"/>
                </a:lnTo>
                <a:close/>
              </a:path>
            </a:pathLst>
          </a:custGeom>
          <a:solidFill>
            <a:srgbClr val="FFF2D0"/>
          </a:solidFill>
          <a:ln w="21945" cap="rnd">
            <a:solidFill>
              <a:srgbClr val="000000"/>
            </a:solidFill>
            <a:custDash>
              <a:ds d="41667" sp="125000"/>
            </a:custDash>
            <a:miter lim="800000"/>
          </a:ln>
          <a:effectLst>
            <a:outerShdw blurRad="45720" dist="71323" dir="3000000" algn="tl" rotWithShape="0">
              <a:srgbClr val="000000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298" name="Within-plane traversal"/>
          <p:cNvCxnSpPr/>
          <p:nvPr/>
        </p:nvCxnSpPr>
        <p:spPr>
          <a:xfrm>
            <a:off x="11814048" y="4480560"/>
            <a:ext cx="320040" cy="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299" name="Within-plane traversal end"/>
          <p:cNvSpPr/>
          <p:nvPr/>
        </p:nvSpPr>
        <p:spPr>
          <a:xfrm>
            <a:off x="12042648" y="4439412"/>
            <a:ext cx="91440" cy="82296"/>
          </a:xfrm>
          <a:custGeom>
            <a:avLst/>
            <a:gdLst/>
            <a:ahLst/>
            <a:cxnLst/>
            <a:rect l="0" t="0" r="r" b="b"/>
            <a:pathLst>
              <a:path w="10000" h="9000">
                <a:moveTo>
                  <a:pt x="10000" y="4500"/>
                </a:moveTo>
                <a:lnTo>
                  <a:pt x="0" y="9000"/>
                </a:lnTo>
                <a:lnTo>
                  <a:pt x="3500" y="4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0" name="Within-plane traversal"/>
          <p:cNvCxnSpPr/>
          <p:nvPr/>
        </p:nvCxnSpPr>
        <p:spPr>
          <a:xfrm>
            <a:off x="12380976" y="4480560"/>
            <a:ext cx="320040" cy="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301" name="Within-plane traversal end"/>
          <p:cNvSpPr/>
          <p:nvPr/>
        </p:nvSpPr>
        <p:spPr>
          <a:xfrm>
            <a:off x="12609576" y="4439412"/>
            <a:ext cx="91440" cy="82296"/>
          </a:xfrm>
          <a:custGeom>
            <a:avLst/>
            <a:gdLst/>
            <a:ahLst/>
            <a:cxnLst/>
            <a:rect l="0" t="0" r="r" b="b"/>
            <a:pathLst>
              <a:path w="10000" h="9000">
                <a:moveTo>
                  <a:pt x="10000" y="4500"/>
                </a:moveTo>
                <a:lnTo>
                  <a:pt x="0" y="9000"/>
                </a:lnTo>
                <a:lnTo>
                  <a:pt x="3500" y="4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Skewed cell 4"/>
          <p:cNvSpPr/>
          <p:nvPr/>
        </p:nvSpPr>
        <p:spPr>
          <a:xfrm>
            <a:off x="11539728" y="4334256"/>
            <a:ext cx="301752" cy="292608"/>
          </a:xfrm>
          <a:custGeom>
            <a:avLst/>
            <a:gdLst/>
            <a:ahLst/>
            <a:cxnLst/>
            <a:rect l="0" t="0" r="r" b="b"/>
            <a:pathLst>
              <a:path w="33000" h="32000">
                <a:moveTo>
                  <a:pt x="8000" y="0"/>
                </a:moveTo>
                <a:lnTo>
                  <a:pt x="33000" y="0"/>
                </a:lnTo>
                <a:lnTo>
                  <a:pt x="25000" y="32000"/>
                </a:lnTo>
                <a:lnTo>
                  <a:pt x="0" y="32000"/>
                </a:lnTo>
                <a:close/>
              </a:path>
            </a:pathLst>
          </a:custGeom>
          <a:solidFill>
            <a:srgbClr val="DFFFE3"/>
          </a:solidFill>
          <a:ln w="3108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Editable number 4"/>
          <p:cNvSpPr txBox="1"/>
          <p:nvPr/>
        </p:nvSpPr>
        <p:spPr>
          <a:xfrm>
            <a:off x="11562024" y="4317907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1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</a:t>
            </a:r>
          </a:p>
        </p:txBody>
      </p:sp>
      <p:sp>
        <p:nvSpPr>
          <p:cNvPr id="304" name="Skewed cell 5"/>
          <p:cNvSpPr/>
          <p:nvPr/>
        </p:nvSpPr>
        <p:spPr>
          <a:xfrm>
            <a:off x="12115800" y="4334256"/>
            <a:ext cx="301752" cy="292608"/>
          </a:xfrm>
          <a:custGeom>
            <a:avLst/>
            <a:gdLst/>
            <a:ahLst/>
            <a:cxnLst/>
            <a:rect l="0" t="0" r="r" b="b"/>
            <a:pathLst>
              <a:path w="33000" h="32000">
                <a:moveTo>
                  <a:pt x="8000" y="0"/>
                </a:moveTo>
                <a:lnTo>
                  <a:pt x="33000" y="0"/>
                </a:lnTo>
                <a:lnTo>
                  <a:pt x="25000" y="32000"/>
                </a:lnTo>
                <a:lnTo>
                  <a:pt x="0" y="32000"/>
                </a:lnTo>
                <a:close/>
              </a:path>
            </a:pathLst>
          </a:custGeom>
          <a:solidFill>
            <a:srgbClr val="FADDDD"/>
          </a:solidFill>
          <a:ln w="3108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Editable number 5"/>
          <p:cNvSpPr txBox="1"/>
          <p:nvPr/>
        </p:nvSpPr>
        <p:spPr>
          <a:xfrm>
            <a:off x="12138096" y="4317907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1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5</a:t>
            </a:r>
          </a:p>
        </p:txBody>
      </p:sp>
      <p:sp>
        <p:nvSpPr>
          <p:cNvPr id="306" name="Skewed cell 6"/>
          <p:cNvSpPr/>
          <p:nvPr/>
        </p:nvSpPr>
        <p:spPr>
          <a:xfrm>
            <a:off x="12682728" y="4334256"/>
            <a:ext cx="301752" cy="292608"/>
          </a:xfrm>
          <a:custGeom>
            <a:avLst/>
            <a:gdLst/>
            <a:ahLst/>
            <a:cxnLst/>
            <a:rect l="0" t="0" r="r" b="b"/>
            <a:pathLst>
              <a:path w="33000" h="32000">
                <a:moveTo>
                  <a:pt x="8000" y="0"/>
                </a:moveTo>
                <a:lnTo>
                  <a:pt x="33000" y="0"/>
                </a:lnTo>
                <a:lnTo>
                  <a:pt x="25000" y="32000"/>
                </a:lnTo>
                <a:lnTo>
                  <a:pt x="0" y="32000"/>
                </a:lnTo>
                <a:close/>
              </a:path>
            </a:pathLst>
          </a:custGeom>
          <a:solidFill>
            <a:srgbClr val="DBFAF7"/>
          </a:solidFill>
          <a:ln w="3108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Editable number 6"/>
          <p:cNvSpPr txBox="1"/>
          <p:nvPr/>
        </p:nvSpPr>
        <p:spPr>
          <a:xfrm>
            <a:off x="12705024" y="4317907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1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6</a:t>
            </a:r>
          </a:p>
        </p:txBody>
      </p:sp>
      <p:sp>
        <p:nvSpPr>
          <p:cNvPr id="308" name="Rectangular partition plane"/>
          <p:cNvSpPr/>
          <p:nvPr/>
        </p:nvSpPr>
        <p:spPr>
          <a:xfrm>
            <a:off x="11365992" y="4764024"/>
            <a:ext cx="1783080" cy="420624"/>
          </a:xfrm>
          <a:custGeom>
            <a:avLst/>
            <a:gdLst/>
            <a:ahLst/>
            <a:cxnLst/>
            <a:rect l="0" t="0" r="r" b="b"/>
            <a:pathLst>
              <a:path w="195000" h="46000">
                <a:moveTo>
                  <a:pt x="15000" y="0"/>
                </a:moveTo>
                <a:lnTo>
                  <a:pt x="195000" y="0"/>
                </a:lnTo>
                <a:lnTo>
                  <a:pt x="180000" y="46000"/>
                </a:lnTo>
                <a:lnTo>
                  <a:pt x="0" y="46000"/>
                </a:lnTo>
                <a:close/>
              </a:path>
            </a:pathLst>
          </a:custGeom>
          <a:solidFill>
            <a:srgbClr val="DFE7F7"/>
          </a:solidFill>
          <a:ln w="21945" cap="rnd">
            <a:solidFill>
              <a:srgbClr val="000000"/>
            </a:solidFill>
            <a:custDash>
              <a:ds d="41667" sp="125000"/>
            </a:custDash>
            <a:miter lim="800000"/>
          </a:ln>
          <a:effectLst>
            <a:outerShdw blurRad="45720" dist="71323" dir="3000000" algn="tl" rotWithShape="0">
              <a:srgbClr val="000000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309" name="Within-plane traversal"/>
          <p:cNvCxnSpPr/>
          <p:nvPr/>
        </p:nvCxnSpPr>
        <p:spPr>
          <a:xfrm>
            <a:off x="11814048" y="4974336"/>
            <a:ext cx="320040" cy="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310" name="Within-plane traversal end"/>
          <p:cNvSpPr/>
          <p:nvPr/>
        </p:nvSpPr>
        <p:spPr>
          <a:xfrm>
            <a:off x="12042648" y="4933188"/>
            <a:ext cx="91440" cy="82296"/>
          </a:xfrm>
          <a:custGeom>
            <a:avLst/>
            <a:gdLst/>
            <a:ahLst/>
            <a:cxnLst/>
            <a:rect l="0" t="0" r="r" b="b"/>
            <a:pathLst>
              <a:path w="10000" h="9000">
                <a:moveTo>
                  <a:pt x="10000" y="4500"/>
                </a:moveTo>
                <a:lnTo>
                  <a:pt x="0" y="9000"/>
                </a:lnTo>
                <a:lnTo>
                  <a:pt x="3500" y="4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1" name="Within-plane traversal"/>
          <p:cNvCxnSpPr/>
          <p:nvPr/>
        </p:nvCxnSpPr>
        <p:spPr>
          <a:xfrm>
            <a:off x="12380976" y="4974336"/>
            <a:ext cx="320040" cy="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312" name="Within-plane traversal end"/>
          <p:cNvSpPr/>
          <p:nvPr/>
        </p:nvSpPr>
        <p:spPr>
          <a:xfrm>
            <a:off x="12609576" y="4933188"/>
            <a:ext cx="91440" cy="82296"/>
          </a:xfrm>
          <a:custGeom>
            <a:avLst/>
            <a:gdLst/>
            <a:ahLst/>
            <a:cxnLst/>
            <a:rect l="0" t="0" r="r" b="b"/>
            <a:pathLst>
              <a:path w="10000" h="9000">
                <a:moveTo>
                  <a:pt x="10000" y="4500"/>
                </a:moveTo>
                <a:lnTo>
                  <a:pt x="0" y="9000"/>
                </a:lnTo>
                <a:lnTo>
                  <a:pt x="3500" y="4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Skewed cell 7"/>
          <p:cNvSpPr/>
          <p:nvPr/>
        </p:nvSpPr>
        <p:spPr>
          <a:xfrm>
            <a:off x="11539728" y="4828032"/>
            <a:ext cx="301752" cy="292608"/>
          </a:xfrm>
          <a:custGeom>
            <a:avLst/>
            <a:gdLst/>
            <a:ahLst/>
            <a:cxnLst/>
            <a:rect l="0" t="0" r="r" b="b"/>
            <a:pathLst>
              <a:path w="33000" h="32000">
                <a:moveTo>
                  <a:pt x="8000" y="0"/>
                </a:moveTo>
                <a:lnTo>
                  <a:pt x="33000" y="0"/>
                </a:lnTo>
                <a:lnTo>
                  <a:pt x="25000" y="32000"/>
                </a:lnTo>
                <a:lnTo>
                  <a:pt x="0" y="32000"/>
                </a:lnTo>
                <a:close/>
              </a:path>
            </a:pathLst>
          </a:custGeom>
          <a:solidFill>
            <a:srgbClr val="DBFAF7"/>
          </a:solidFill>
          <a:ln w="3108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Editable number 7"/>
          <p:cNvSpPr txBox="1"/>
          <p:nvPr/>
        </p:nvSpPr>
        <p:spPr>
          <a:xfrm>
            <a:off x="11562024" y="4811683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1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7</a:t>
            </a:r>
          </a:p>
        </p:txBody>
      </p:sp>
      <p:sp>
        <p:nvSpPr>
          <p:cNvPr id="315" name="Skewed cell 8"/>
          <p:cNvSpPr/>
          <p:nvPr/>
        </p:nvSpPr>
        <p:spPr>
          <a:xfrm>
            <a:off x="12115800" y="4828032"/>
            <a:ext cx="301752" cy="292608"/>
          </a:xfrm>
          <a:custGeom>
            <a:avLst/>
            <a:gdLst/>
            <a:ahLst/>
            <a:cxnLst/>
            <a:rect l="0" t="0" r="r" b="b"/>
            <a:pathLst>
              <a:path w="33000" h="32000">
                <a:moveTo>
                  <a:pt x="8000" y="0"/>
                </a:moveTo>
                <a:lnTo>
                  <a:pt x="33000" y="0"/>
                </a:lnTo>
                <a:lnTo>
                  <a:pt x="25000" y="32000"/>
                </a:lnTo>
                <a:lnTo>
                  <a:pt x="0" y="32000"/>
                </a:lnTo>
                <a:close/>
              </a:path>
            </a:pathLst>
          </a:custGeom>
          <a:solidFill>
            <a:srgbClr val="DFE9F6"/>
          </a:solidFill>
          <a:ln w="3108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Editable number 8"/>
          <p:cNvSpPr txBox="1"/>
          <p:nvPr/>
        </p:nvSpPr>
        <p:spPr>
          <a:xfrm>
            <a:off x="12138096" y="4811683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1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8</a:t>
            </a:r>
          </a:p>
        </p:txBody>
      </p:sp>
      <p:sp>
        <p:nvSpPr>
          <p:cNvPr id="317" name="Skewed cell 9"/>
          <p:cNvSpPr/>
          <p:nvPr/>
        </p:nvSpPr>
        <p:spPr>
          <a:xfrm>
            <a:off x="12682728" y="4828032"/>
            <a:ext cx="301752" cy="292608"/>
          </a:xfrm>
          <a:custGeom>
            <a:avLst/>
            <a:gdLst/>
            <a:ahLst/>
            <a:cxnLst/>
            <a:rect l="0" t="0" r="r" b="b"/>
            <a:pathLst>
              <a:path w="33000" h="32000">
                <a:moveTo>
                  <a:pt x="8000" y="0"/>
                </a:moveTo>
                <a:lnTo>
                  <a:pt x="33000" y="0"/>
                </a:lnTo>
                <a:lnTo>
                  <a:pt x="25000" y="32000"/>
                </a:lnTo>
                <a:lnTo>
                  <a:pt x="0" y="32000"/>
                </a:lnTo>
                <a:close/>
              </a:path>
            </a:pathLst>
          </a:custGeom>
          <a:solidFill>
            <a:srgbClr val="EAC5D2"/>
          </a:solidFill>
          <a:ln w="3108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Editable number 9"/>
          <p:cNvSpPr txBox="1"/>
          <p:nvPr/>
        </p:nvSpPr>
        <p:spPr>
          <a:xfrm>
            <a:off x="12705024" y="4811683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1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9</a:t>
            </a:r>
          </a:p>
        </p:txBody>
      </p:sp>
      <p:sp>
        <p:nvSpPr>
          <p:cNvPr id="319" name="Rectangular Partition"/>
          <p:cNvSpPr txBox="1"/>
          <p:nvPr/>
        </p:nvSpPr>
        <p:spPr>
          <a:xfrm>
            <a:off x="11249742" y="5514765"/>
            <a:ext cx="2097876" cy="28506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7" b="1" i="0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Rectangular Partition</a:t>
            </a:r>
          </a:p>
        </p:txBody>
      </p:sp>
      <p:cxnSp>
        <p:nvCxnSpPr>
          <p:cNvPr id="320" name="Cylindrical y-axis"/>
          <p:cNvCxnSpPr/>
          <p:nvPr/>
        </p:nvCxnSpPr>
        <p:spPr>
          <a:xfrm flipV="1">
            <a:off x="14968728" y="3429000"/>
            <a:ext cx="0" cy="2103120"/>
          </a:xfrm>
          <a:prstGeom prst="line">
            <a:avLst/>
          </a:prstGeom>
          <a:ln w="25603">
            <a:solidFill>
              <a:srgbClr val="000000"/>
            </a:solidFill>
            <a:miter lim="800000"/>
          </a:ln>
          <a:effectLst/>
        </p:spPr>
      </p:cxnSp>
      <p:sp>
        <p:nvSpPr>
          <p:cNvPr id="321" name="Cylindrical y-axis end"/>
          <p:cNvSpPr/>
          <p:nvPr/>
        </p:nvSpPr>
        <p:spPr>
          <a:xfrm>
            <a:off x="14909292" y="3429000"/>
            <a:ext cx="118872" cy="173736"/>
          </a:xfrm>
          <a:custGeom>
            <a:avLst/>
            <a:gdLst/>
            <a:ahLst/>
            <a:cxnLst/>
            <a:rect l="0" t="0" r="r" b="b"/>
            <a:pathLst>
              <a:path w="13000" h="19000">
                <a:moveTo>
                  <a:pt x="6500" y="0"/>
                </a:moveTo>
                <a:lnTo>
                  <a:pt x="13000" y="19000"/>
                </a:lnTo>
                <a:lnTo>
                  <a:pt x="6500" y="12350"/>
                </a:lnTo>
                <a:lnTo>
                  <a:pt x="0" y="19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2" name="Cylindrical x-axis"/>
          <p:cNvCxnSpPr/>
          <p:nvPr/>
        </p:nvCxnSpPr>
        <p:spPr>
          <a:xfrm flipV="1">
            <a:off x="14968728" y="5513832"/>
            <a:ext cx="2231136" cy="18288"/>
          </a:xfrm>
          <a:prstGeom prst="line">
            <a:avLst/>
          </a:prstGeom>
          <a:ln w="25603">
            <a:solidFill>
              <a:srgbClr val="000000"/>
            </a:solidFill>
            <a:miter lim="800000"/>
          </a:ln>
          <a:effectLst/>
        </p:spPr>
      </p:cxnSp>
      <p:sp>
        <p:nvSpPr>
          <p:cNvPr id="323" name="Cylindrical x-axis end"/>
          <p:cNvSpPr/>
          <p:nvPr/>
        </p:nvSpPr>
        <p:spPr>
          <a:xfrm>
            <a:off x="16998141" y="5446903"/>
            <a:ext cx="201723" cy="137155"/>
          </a:xfrm>
          <a:custGeom>
            <a:avLst/>
            <a:gdLst/>
            <a:ahLst/>
            <a:cxnLst/>
            <a:rect l="0" t="0" r="r" b="b"/>
            <a:pathLst>
              <a:path w="22061" h="14999">
                <a:moveTo>
                  <a:pt x="22061" y="7319"/>
                </a:moveTo>
                <a:lnTo>
                  <a:pt x="123" y="14999"/>
                </a:lnTo>
                <a:lnTo>
                  <a:pt x="7761" y="743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y"/>
          <p:cNvSpPr txBox="1"/>
          <p:nvPr/>
        </p:nvSpPr>
        <p:spPr>
          <a:xfrm>
            <a:off x="14703552" y="3443777"/>
            <a:ext cx="221613" cy="29169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325" name="z"/>
          <p:cNvSpPr txBox="1"/>
          <p:nvPr/>
        </p:nvSpPr>
        <p:spPr>
          <a:xfrm>
            <a:off x="14785848" y="5382305"/>
            <a:ext cx="210312" cy="29169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sp>
        <p:nvSpPr>
          <p:cNvPr id="326" name="x"/>
          <p:cNvSpPr txBox="1"/>
          <p:nvPr/>
        </p:nvSpPr>
        <p:spPr>
          <a:xfrm>
            <a:off x="17218152" y="5336585"/>
            <a:ext cx="221613" cy="29169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327" name="Outer cylindrical partition"/>
          <p:cNvSpPr/>
          <p:nvPr/>
        </p:nvSpPr>
        <p:spPr>
          <a:xfrm>
            <a:off x="15023592" y="3227832"/>
            <a:ext cx="2331720" cy="2231136"/>
          </a:xfrm>
          <a:prstGeom prst="ellipse">
            <a:avLst/>
          </a:prstGeom>
          <a:solidFill>
            <a:srgbClr val="F2F2F2"/>
          </a:solidFill>
          <a:ln w="21031" cap="rnd">
            <a:solidFill>
              <a:srgbClr val="000000"/>
            </a:solidFill>
            <a:custDash>
              <a:ds d="43478" sp="130435"/>
            </a:custDash>
            <a:miter lim="800000"/>
          </a:ln>
          <a:effectLst>
            <a:outerShdw blurRad="45720" dist="71323" dir="3000000" algn="tl" rotWithShape="0">
              <a:srgbClr val="000000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28" name="Middle cylindrical partition"/>
          <p:cNvSpPr/>
          <p:nvPr/>
        </p:nvSpPr>
        <p:spPr>
          <a:xfrm>
            <a:off x="15563088" y="3721608"/>
            <a:ext cx="1252728" cy="1298448"/>
          </a:xfrm>
          <a:prstGeom prst="ellipse">
            <a:avLst/>
          </a:prstGeom>
          <a:solidFill>
            <a:srgbClr val="FFF2CC"/>
          </a:solidFill>
          <a:ln w="21031" cap="rnd">
            <a:solidFill>
              <a:srgbClr val="000000"/>
            </a:solidFill>
            <a:custDash>
              <a:ds d="43478" sp="130435"/>
            </a:custDash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Inner cylindrical partition"/>
          <p:cNvSpPr/>
          <p:nvPr/>
        </p:nvSpPr>
        <p:spPr>
          <a:xfrm>
            <a:off x="15956280" y="4087368"/>
            <a:ext cx="457200" cy="484632"/>
          </a:xfrm>
          <a:prstGeom prst="ellipse">
            <a:avLst/>
          </a:prstGeom>
          <a:solidFill>
            <a:srgbClr val="DFE7F7"/>
          </a:solidFill>
          <a:ln w="21031" cap="rnd">
            <a:solidFill>
              <a:srgbClr val="000000"/>
            </a:solidFill>
            <a:custDash>
              <a:ds d="43478" sp="130435"/>
            </a:custDash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Outer ring 1 to 3"/>
          <p:cNvSpPr/>
          <p:nvPr/>
        </p:nvSpPr>
        <p:spPr>
          <a:xfrm>
            <a:off x="15352776" y="3246120"/>
            <a:ext cx="1618488" cy="530352"/>
          </a:xfrm>
          <a:custGeom>
            <a:avLst/>
            <a:gdLst/>
            <a:ahLst/>
            <a:cxnLst/>
            <a:rect l="0" t="0" r="r" b="b"/>
            <a:pathLst>
              <a:path w="177000" h="58000">
                <a:moveTo>
                  <a:pt x="0" y="58000"/>
                </a:moveTo>
                <a:cubicBezTo>
                  <a:pt x="9000" y="0"/>
                  <a:pt x="147000" y="0"/>
                  <a:pt x="177000" y="57000"/>
                </a:cubicBezTo>
              </a:path>
            </a:pathLst>
          </a:custGeom>
          <a:noFill/>
          <a:ln w="2285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Outer ring 1 to 3 arrowhead"/>
          <p:cNvSpPr/>
          <p:nvPr/>
        </p:nvSpPr>
        <p:spPr>
          <a:xfrm>
            <a:off x="16892264" y="3667247"/>
            <a:ext cx="79000" cy="100081"/>
          </a:xfrm>
          <a:custGeom>
            <a:avLst/>
            <a:gdLst/>
            <a:ahLst/>
            <a:cxnLst/>
            <a:rect l="0" t="0" r="r" b="b"/>
            <a:pathLst>
              <a:path w="8640" h="10945">
                <a:moveTo>
                  <a:pt x="8640" y="10945"/>
                </a:moveTo>
                <a:lnTo>
                  <a:pt x="0" y="4192"/>
                </a:lnTo>
                <a:lnTo>
                  <a:pt x="5612" y="5193"/>
                </a:lnTo>
                <a:lnTo>
                  <a:pt x="796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Outer ring 3 to 9"/>
          <p:cNvSpPr/>
          <p:nvPr/>
        </p:nvSpPr>
        <p:spPr>
          <a:xfrm>
            <a:off x="16980408" y="4059936"/>
            <a:ext cx="466344" cy="694944"/>
          </a:xfrm>
          <a:custGeom>
            <a:avLst/>
            <a:gdLst/>
            <a:ahLst/>
            <a:cxnLst/>
            <a:rect l="0" t="0" r="r" b="b"/>
            <a:pathLst>
              <a:path w="51000" h="76000">
                <a:moveTo>
                  <a:pt x="0" y="0"/>
                </a:moveTo>
                <a:cubicBezTo>
                  <a:pt x="51000" y="1000"/>
                  <a:pt x="48000" y="57000"/>
                  <a:pt x="17000" y="76000"/>
                </a:cubicBezTo>
              </a:path>
            </a:pathLst>
          </a:custGeom>
          <a:noFill/>
          <a:ln w="2285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Outer ring 3 to 9 arrowhead"/>
          <p:cNvSpPr/>
          <p:nvPr/>
        </p:nvSpPr>
        <p:spPr>
          <a:xfrm>
            <a:off x="17135856" y="4672014"/>
            <a:ext cx="99464" cy="82866"/>
          </a:xfrm>
          <a:custGeom>
            <a:avLst/>
            <a:gdLst/>
            <a:ahLst/>
            <a:cxnLst/>
            <a:rect l="0" t="0" r="r" b="b"/>
            <a:pathLst>
              <a:path w="10878" h="9062">
                <a:moveTo>
                  <a:pt x="0" y="9062"/>
                </a:moveTo>
                <a:lnTo>
                  <a:pt x="6174" y="0"/>
                </a:lnTo>
                <a:lnTo>
                  <a:pt x="5542" y="5666"/>
                </a:lnTo>
                <a:lnTo>
                  <a:pt x="10878" y="767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Outer ring 9 to 7"/>
          <p:cNvSpPr/>
          <p:nvPr/>
        </p:nvSpPr>
        <p:spPr>
          <a:xfrm>
            <a:off x="15352776" y="4901184"/>
            <a:ext cx="1636776" cy="512064"/>
          </a:xfrm>
          <a:custGeom>
            <a:avLst/>
            <a:gdLst/>
            <a:ahLst/>
            <a:cxnLst/>
            <a:rect l="0" t="0" r="r" b="b"/>
            <a:pathLst>
              <a:path w="179000" h="56000">
                <a:moveTo>
                  <a:pt x="179000" y="1000"/>
                </a:moveTo>
                <a:cubicBezTo>
                  <a:pt x="170000" y="55000"/>
                  <a:pt x="8000" y="56000"/>
                  <a:pt x="0" y="0"/>
                </a:cubicBezTo>
              </a:path>
            </a:pathLst>
          </a:custGeom>
          <a:noFill/>
          <a:ln w="2285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Outer ring 9 to 7 arrowhead"/>
          <p:cNvSpPr/>
          <p:nvPr/>
        </p:nvSpPr>
        <p:spPr>
          <a:xfrm>
            <a:off x="15324973" y="4901184"/>
            <a:ext cx="81469" cy="96340"/>
          </a:xfrm>
          <a:custGeom>
            <a:avLst/>
            <a:gdLst/>
            <a:ahLst/>
            <a:cxnLst/>
            <a:rect l="0" t="0" r="r" b="b"/>
            <a:pathLst>
              <a:path w="8910" h="10536">
                <a:moveTo>
                  <a:pt x="3041" y="0"/>
                </a:moveTo>
                <a:lnTo>
                  <a:pt x="8910" y="9263"/>
                </a:lnTo>
                <a:lnTo>
                  <a:pt x="3960" y="6435"/>
                </a:lnTo>
                <a:lnTo>
                  <a:pt x="0" y="1053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Middle ring 4 to 2"/>
          <p:cNvSpPr/>
          <p:nvPr/>
        </p:nvSpPr>
        <p:spPr>
          <a:xfrm>
            <a:off x="15755112" y="3895344"/>
            <a:ext cx="274320" cy="265176"/>
          </a:xfrm>
          <a:custGeom>
            <a:avLst/>
            <a:gdLst/>
            <a:ahLst/>
            <a:cxnLst/>
            <a:rect l="0" t="0" r="r" b="b"/>
            <a:pathLst>
              <a:path w="30000" h="29000">
                <a:moveTo>
                  <a:pt x="0" y="29000"/>
                </a:moveTo>
                <a:cubicBezTo>
                  <a:pt x="4000" y="11000"/>
                  <a:pt x="14000" y="0"/>
                  <a:pt x="30000" y="0"/>
                </a:cubicBezTo>
              </a:path>
            </a:pathLst>
          </a:custGeom>
          <a:noFill/>
          <a:ln w="2285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Middle ring 4 to 2 arrowhead"/>
          <p:cNvSpPr/>
          <p:nvPr/>
        </p:nvSpPr>
        <p:spPr>
          <a:xfrm>
            <a:off x="15937992" y="3854196"/>
            <a:ext cx="91440" cy="82296"/>
          </a:xfrm>
          <a:custGeom>
            <a:avLst/>
            <a:gdLst/>
            <a:ahLst/>
            <a:cxnLst/>
            <a:rect l="0" t="0" r="r" b="b"/>
            <a:pathLst>
              <a:path w="10000" h="9000">
                <a:moveTo>
                  <a:pt x="10000" y="4500"/>
                </a:moveTo>
                <a:lnTo>
                  <a:pt x="0" y="9000"/>
                </a:lnTo>
                <a:lnTo>
                  <a:pt x="3500" y="4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Middle ring 2 to 6"/>
          <p:cNvSpPr/>
          <p:nvPr/>
        </p:nvSpPr>
        <p:spPr>
          <a:xfrm>
            <a:off x="16331184" y="3895344"/>
            <a:ext cx="292608" cy="265176"/>
          </a:xfrm>
          <a:custGeom>
            <a:avLst/>
            <a:gdLst/>
            <a:ahLst/>
            <a:cxnLst/>
            <a:rect l="0" t="0" r="r" b="b"/>
            <a:pathLst>
              <a:path w="32000" h="29000">
                <a:moveTo>
                  <a:pt x="0" y="0"/>
                </a:moveTo>
                <a:cubicBezTo>
                  <a:pt x="18000" y="0"/>
                  <a:pt x="30000" y="13000"/>
                  <a:pt x="32000" y="29000"/>
                </a:cubicBezTo>
              </a:path>
            </a:pathLst>
          </a:custGeom>
          <a:noFill/>
          <a:ln w="2285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Middle ring 2 to 6 arrowhead"/>
          <p:cNvSpPr/>
          <p:nvPr/>
        </p:nvSpPr>
        <p:spPr>
          <a:xfrm>
            <a:off x="16571620" y="4064682"/>
            <a:ext cx="81661" cy="95838"/>
          </a:xfrm>
          <a:custGeom>
            <a:avLst/>
            <a:gdLst/>
            <a:ahLst/>
            <a:cxnLst/>
            <a:rect l="0" t="0" r="r" b="b"/>
            <a:pathLst>
              <a:path w="8931" h="10481">
                <a:moveTo>
                  <a:pt x="5706" y="10481"/>
                </a:moveTo>
                <a:lnTo>
                  <a:pt x="0" y="1116"/>
                </a:lnTo>
                <a:lnTo>
                  <a:pt x="4899" y="4031"/>
                </a:lnTo>
                <a:lnTo>
                  <a:pt x="893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Middle ring 6 to 8"/>
          <p:cNvSpPr/>
          <p:nvPr/>
        </p:nvSpPr>
        <p:spPr>
          <a:xfrm>
            <a:off x="16358616" y="4453128"/>
            <a:ext cx="265176" cy="329184"/>
          </a:xfrm>
          <a:custGeom>
            <a:avLst/>
            <a:gdLst/>
            <a:ahLst/>
            <a:cxnLst/>
            <a:rect l="0" t="0" r="r" b="b"/>
            <a:pathLst>
              <a:path w="29000" h="36000">
                <a:moveTo>
                  <a:pt x="29000" y="0"/>
                </a:moveTo>
                <a:cubicBezTo>
                  <a:pt x="29000" y="22000"/>
                  <a:pt x="15000" y="35000"/>
                  <a:pt x="0" y="36000"/>
                </a:cubicBezTo>
              </a:path>
            </a:pathLst>
          </a:custGeom>
          <a:noFill/>
          <a:ln w="2285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Middle ring 6 to 8 arrowhead"/>
          <p:cNvSpPr/>
          <p:nvPr/>
        </p:nvSpPr>
        <p:spPr>
          <a:xfrm>
            <a:off x="16358616" y="4735173"/>
            <a:ext cx="93975" cy="82114"/>
          </a:xfrm>
          <a:custGeom>
            <a:avLst/>
            <a:gdLst/>
            <a:ahLst/>
            <a:cxnLst/>
            <a:rect l="0" t="0" r="r" b="b"/>
            <a:pathLst>
              <a:path w="10277" h="8980">
                <a:moveTo>
                  <a:pt x="0" y="5155"/>
                </a:moveTo>
                <a:lnTo>
                  <a:pt x="9679" y="0"/>
                </a:lnTo>
                <a:lnTo>
                  <a:pt x="6486" y="4723"/>
                </a:lnTo>
                <a:lnTo>
                  <a:pt x="10277" y="898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Cell 1"/>
          <p:cNvSpPr/>
          <p:nvPr/>
        </p:nvSpPr>
        <p:spPr>
          <a:xfrm>
            <a:off x="15206472" y="3785616"/>
            <a:ext cx="301752" cy="301752"/>
          </a:xfrm>
          <a:prstGeom prst="rect">
            <a:avLst/>
          </a:prstGeom>
          <a:solidFill>
            <a:srgbClr val="FFF7D9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Editable number 1"/>
          <p:cNvSpPr txBox="1"/>
          <p:nvPr/>
        </p:nvSpPr>
        <p:spPr>
          <a:xfrm>
            <a:off x="15228768" y="3776810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344" name="Cell 2"/>
          <p:cNvSpPr/>
          <p:nvPr/>
        </p:nvSpPr>
        <p:spPr>
          <a:xfrm>
            <a:off x="16029432" y="3758184"/>
            <a:ext cx="301752" cy="301752"/>
          </a:xfrm>
          <a:prstGeom prst="rect">
            <a:avLst/>
          </a:prstGeom>
          <a:solidFill>
            <a:srgbClr val="EEEEEE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Editable number 2"/>
          <p:cNvSpPr txBox="1"/>
          <p:nvPr/>
        </p:nvSpPr>
        <p:spPr>
          <a:xfrm>
            <a:off x="16051728" y="3749378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346" name="Cell 3"/>
          <p:cNvSpPr/>
          <p:nvPr/>
        </p:nvSpPr>
        <p:spPr>
          <a:xfrm>
            <a:off x="16815816" y="3776472"/>
            <a:ext cx="301752" cy="301752"/>
          </a:xfrm>
          <a:prstGeom prst="rect">
            <a:avLst/>
          </a:prstGeom>
          <a:solidFill>
            <a:srgbClr val="DFFFE3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Editable number 3"/>
          <p:cNvSpPr txBox="1"/>
          <p:nvPr/>
        </p:nvSpPr>
        <p:spPr>
          <a:xfrm>
            <a:off x="16838112" y="3767666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348" name="Cell 4"/>
          <p:cNvSpPr/>
          <p:nvPr/>
        </p:nvSpPr>
        <p:spPr>
          <a:xfrm>
            <a:off x="15599664" y="4169664"/>
            <a:ext cx="301752" cy="301752"/>
          </a:xfrm>
          <a:prstGeom prst="rect">
            <a:avLst/>
          </a:prstGeom>
          <a:solidFill>
            <a:srgbClr val="DFFFE3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Editable number 4"/>
          <p:cNvSpPr txBox="1"/>
          <p:nvPr/>
        </p:nvSpPr>
        <p:spPr>
          <a:xfrm>
            <a:off x="15621960" y="4160858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</a:t>
            </a:r>
          </a:p>
        </p:txBody>
      </p:sp>
      <p:sp>
        <p:nvSpPr>
          <p:cNvPr id="350" name="Cell 5"/>
          <p:cNvSpPr/>
          <p:nvPr/>
        </p:nvSpPr>
        <p:spPr>
          <a:xfrm>
            <a:off x="16038576" y="4169664"/>
            <a:ext cx="301752" cy="301752"/>
          </a:xfrm>
          <a:prstGeom prst="rect">
            <a:avLst/>
          </a:prstGeom>
          <a:solidFill>
            <a:srgbClr val="FADDDD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Editable number 5"/>
          <p:cNvSpPr txBox="1"/>
          <p:nvPr/>
        </p:nvSpPr>
        <p:spPr>
          <a:xfrm>
            <a:off x="16060872" y="4160858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5</a:t>
            </a:r>
          </a:p>
        </p:txBody>
      </p:sp>
      <p:sp>
        <p:nvSpPr>
          <p:cNvPr id="352" name="Cell 6"/>
          <p:cNvSpPr/>
          <p:nvPr/>
        </p:nvSpPr>
        <p:spPr>
          <a:xfrm>
            <a:off x="16486632" y="4169664"/>
            <a:ext cx="301752" cy="301752"/>
          </a:xfrm>
          <a:prstGeom prst="rect">
            <a:avLst/>
          </a:prstGeom>
          <a:solidFill>
            <a:srgbClr val="DBFAF7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Editable number 6"/>
          <p:cNvSpPr txBox="1"/>
          <p:nvPr/>
        </p:nvSpPr>
        <p:spPr>
          <a:xfrm>
            <a:off x="16508928" y="4160858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6</a:t>
            </a:r>
          </a:p>
        </p:txBody>
      </p:sp>
      <p:sp>
        <p:nvSpPr>
          <p:cNvPr id="354" name="Cell 7"/>
          <p:cNvSpPr/>
          <p:nvPr/>
        </p:nvSpPr>
        <p:spPr>
          <a:xfrm>
            <a:off x="15215616" y="4608576"/>
            <a:ext cx="301752" cy="301752"/>
          </a:xfrm>
          <a:prstGeom prst="rect">
            <a:avLst/>
          </a:prstGeom>
          <a:solidFill>
            <a:srgbClr val="DBFAF7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Editable number 7"/>
          <p:cNvSpPr txBox="1"/>
          <p:nvPr/>
        </p:nvSpPr>
        <p:spPr>
          <a:xfrm>
            <a:off x="15237912" y="4599770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7</a:t>
            </a:r>
          </a:p>
        </p:txBody>
      </p:sp>
      <p:sp>
        <p:nvSpPr>
          <p:cNvPr id="356" name="Cell 8"/>
          <p:cNvSpPr/>
          <p:nvPr/>
        </p:nvSpPr>
        <p:spPr>
          <a:xfrm>
            <a:off x="16066008" y="4636008"/>
            <a:ext cx="301752" cy="301752"/>
          </a:xfrm>
          <a:prstGeom prst="rect">
            <a:avLst/>
          </a:prstGeom>
          <a:solidFill>
            <a:srgbClr val="DFE9F6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Editable number 8"/>
          <p:cNvSpPr txBox="1"/>
          <p:nvPr/>
        </p:nvSpPr>
        <p:spPr>
          <a:xfrm>
            <a:off x="16088304" y="4627202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8</a:t>
            </a:r>
          </a:p>
        </p:txBody>
      </p:sp>
      <p:sp>
        <p:nvSpPr>
          <p:cNvPr id="358" name="Cell 9"/>
          <p:cNvSpPr/>
          <p:nvPr/>
        </p:nvSpPr>
        <p:spPr>
          <a:xfrm>
            <a:off x="16843248" y="4617720"/>
            <a:ext cx="301752" cy="301752"/>
          </a:xfrm>
          <a:prstGeom prst="rect">
            <a:avLst/>
          </a:prstGeom>
          <a:solidFill>
            <a:srgbClr val="EAC5D2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Editable number 9"/>
          <p:cNvSpPr txBox="1"/>
          <p:nvPr/>
        </p:nvSpPr>
        <p:spPr>
          <a:xfrm>
            <a:off x="16865544" y="460891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9</a:t>
            </a:r>
          </a:p>
        </p:txBody>
      </p:sp>
      <p:sp>
        <p:nvSpPr>
          <p:cNvPr id="360" name="Cylindrical Partition"/>
          <p:cNvSpPr txBox="1"/>
          <p:nvPr/>
        </p:nvSpPr>
        <p:spPr>
          <a:xfrm>
            <a:off x="15219745" y="5560485"/>
            <a:ext cx="1966846" cy="28506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7" b="1" i="0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Cylindrical Partition</a:t>
            </a:r>
          </a:p>
        </p:txBody>
      </p:sp>
      <p:cxnSp>
        <p:nvCxnSpPr>
          <p:cNvPr id="361" name="Local consistency comparison"/>
          <p:cNvCxnSpPr/>
          <p:nvPr/>
        </p:nvCxnSpPr>
        <p:spPr>
          <a:xfrm>
            <a:off x="13286232" y="4425696"/>
            <a:ext cx="1517904" cy="0"/>
          </a:xfrm>
          <a:prstGeom prst="line">
            <a:avLst/>
          </a:prstGeom>
          <a:ln w="27432">
            <a:solidFill>
              <a:srgbClr val="000000"/>
            </a:solidFill>
            <a:miter lim="800000"/>
          </a:ln>
          <a:effectLst/>
        </p:spPr>
      </p:cxnSp>
      <p:sp>
        <p:nvSpPr>
          <p:cNvPr id="362" name="Local consistency comparison end"/>
          <p:cNvSpPr/>
          <p:nvPr/>
        </p:nvSpPr>
        <p:spPr>
          <a:xfrm>
            <a:off x="14612112" y="4361688"/>
            <a:ext cx="192024" cy="128016"/>
          </a:xfrm>
          <a:custGeom>
            <a:avLst/>
            <a:gdLst/>
            <a:ahLst/>
            <a:cxnLst/>
            <a:rect l="0" t="0" r="r" b="b"/>
            <a:pathLst>
              <a:path w="21000" h="14000">
                <a:moveTo>
                  <a:pt x="21000" y="7000"/>
                </a:moveTo>
                <a:lnTo>
                  <a:pt x="0" y="14000"/>
                </a:lnTo>
                <a:lnTo>
                  <a:pt x="7350" y="7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Local consistency comparison start"/>
          <p:cNvSpPr/>
          <p:nvPr/>
        </p:nvSpPr>
        <p:spPr>
          <a:xfrm>
            <a:off x="13286232" y="4361688"/>
            <a:ext cx="192024" cy="128016"/>
          </a:xfrm>
          <a:custGeom>
            <a:avLst/>
            <a:gdLst/>
            <a:ahLst/>
            <a:cxnLst/>
            <a:rect l="0" t="0" r="r" b="b"/>
            <a:pathLst>
              <a:path w="21000" h="14000">
                <a:moveTo>
                  <a:pt x="0" y="7000"/>
                </a:moveTo>
                <a:lnTo>
                  <a:pt x="21000" y="0"/>
                </a:lnTo>
                <a:lnTo>
                  <a:pt x="13650" y="7000"/>
                </a:lnTo>
                <a:lnTo>
                  <a:pt x="21000" y="14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Loss ℒ"/>
          <p:cNvSpPr txBox="1"/>
          <p:nvPr/>
        </p:nvSpPr>
        <p:spPr>
          <a:xfrm>
            <a:off x="13715107" y="3852733"/>
            <a:ext cx="342071" cy="437540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0" i="0" dirty="0" kern="1200">
                <a:solidFill>
                  <a:srgbClr val="000000"/>
                </a:solidFill>
                <a:latin typeface="Latin Modern Math"/>
                <a:ea typeface="Latin Modern Math"/>
                <a:cs typeface="Latin Modern Math"/>
              </a:rPr>
              <a:t>ℒ</a:t>
            </a:r>
          </a:p>
        </p:txBody>
      </p:sp>
      <p:sp>
        <p:nvSpPr>
          <p:cNvPr id="365" name="Loss local"/>
          <p:cNvSpPr txBox="1"/>
          <p:nvPr/>
        </p:nvSpPr>
        <p:spPr>
          <a:xfrm>
            <a:off x="13947450" y="3980586"/>
            <a:ext cx="610691" cy="363159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2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local</a:t>
            </a:r>
          </a:p>
        </p:txBody>
      </p:sp>
      <p:sp>
        <p:nvSpPr>
          <p:cNvPr id="366" name="Local"/>
          <p:cNvSpPr txBox="1"/>
          <p:nvPr/>
        </p:nvSpPr>
        <p:spPr>
          <a:xfrm>
            <a:off x="13800753" y="4669073"/>
            <a:ext cx="635165" cy="29169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Local</a:t>
            </a:r>
          </a:p>
        </p:txBody>
      </p:sp>
      <p:sp>
        <p:nvSpPr>
          <p:cNvPr id="367" name="Consistency Prior"/>
          <p:cNvSpPr txBox="1"/>
          <p:nvPr/>
        </p:nvSpPr>
        <p:spPr>
          <a:xfrm>
            <a:off x="13202643" y="4879385"/>
            <a:ext cx="1831386" cy="29169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Consistency Prior</a:t>
            </a:r>
          </a:p>
        </p:txBody>
      </p:sp>
      <p:sp>
        <p:nvSpPr>
          <p:cNvPr id="368" name="Rectangular partition sequence slot 1"/>
          <p:cNvSpPr/>
          <p:nvPr/>
        </p:nvSpPr>
        <p:spPr>
          <a:xfrm>
            <a:off x="11128248" y="5806440"/>
            <a:ext cx="315468" cy="301752"/>
          </a:xfrm>
          <a:prstGeom prst="rect">
            <a:avLst/>
          </a:prstGeom>
          <a:solidFill>
            <a:srgbClr val="FFF7D9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Editable number 1"/>
          <p:cNvSpPr txBox="1"/>
          <p:nvPr/>
        </p:nvSpPr>
        <p:spPr>
          <a:xfrm>
            <a:off x="11157402" y="57976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370" name="Rectangular partition sequence slot 2"/>
          <p:cNvSpPr/>
          <p:nvPr/>
        </p:nvSpPr>
        <p:spPr>
          <a:xfrm>
            <a:off x="11443716" y="5806440"/>
            <a:ext cx="315468" cy="301752"/>
          </a:xfrm>
          <a:prstGeom prst="rect">
            <a:avLst/>
          </a:prstGeom>
          <a:solidFill>
            <a:srgbClr val="EEEEEE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1" name="Editable number 2"/>
          <p:cNvSpPr txBox="1"/>
          <p:nvPr/>
        </p:nvSpPr>
        <p:spPr>
          <a:xfrm>
            <a:off x="11472870" y="57976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372" name="Rectangular partition sequence slot 3"/>
          <p:cNvSpPr/>
          <p:nvPr/>
        </p:nvSpPr>
        <p:spPr>
          <a:xfrm>
            <a:off x="11759184" y="5806440"/>
            <a:ext cx="315468" cy="301752"/>
          </a:xfrm>
          <a:prstGeom prst="rect">
            <a:avLst/>
          </a:prstGeom>
          <a:solidFill>
            <a:srgbClr val="DFFFE3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Editable number 3"/>
          <p:cNvSpPr txBox="1"/>
          <p:nvPr/>
        </p:nvSpPr>
        <p:spPr>
          <a:xfrm>
            <a:off x="11788338" y="57976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374" name="Rectangular partition sequence slot 4"/>
          <p:cNvSpPr/>
          <p:nvPr/>
        </p:nvSpPr>
        <p:spPr>
          <a:xfrm>
            <a:off x="12074652" y="5806440"/>
            <a:ext cx="315468" cy="301752"/>
          </a:xfrm>
          <a:prstGeom prst="rect">
            <a:avLst/>
          </a:prstGeom>
          <a:solidFill>
            <a:srgbClr val="DFFFE3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Editable number 4"/>
          <p:cNvSpPr txBox="1"/>
          <p:nvPr/>
        </p:nvSpPr>
        <p:spPr>
          <a:xfrm>
            <a:off x="12103806" y="57976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</a:t>
            </a:r>
          </a:p>
        </p:txBody>
      </p:sp>
      <p:sp>
        <p:nvSpPr>
          <p:cNvPr id="376" name="Rectangular partition sequence slot 5"/>
          <p:cNvSpPr/>
          <p:nvPr/>
        </p:nvSpPr>
        <p:spPr>
          <a:xfrm>
            <a:off x="12390120" y="5806440"/>
            <a:ext cx="315468" cy="301752"/>
          </a:xfrm>
          <a:prstGeom prst="rect">
            <a:avLst/>
          </a:prstGeom>
          <a:solidFill>
            <a:srgbClr val="FADDDD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Editable number 5"/>
          <p:cNvSpPr txBox="1"/>
          <p:nvPr/>
        </p:nvSpPr>
        <p:spPr>
          <a:xfrm>
            <a:off x="12419274" y="57976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5</a:t>
            </a:r>
          </a:p>
        </p:txBody>
      </p:sp>
      <p:sp>
        <p:nvSpPr>
          <p:cNvPr id="378" name="Rectangular partition sequence slot 6"/>
          <p:cNvSpPr/>
          <p:nvPr/>
        </p:nvSpPr>
        <p:spPr>
          <a:xfrm>
            <a:off x="12705588" y="5806440"/>
            <a:ext cx="315468" cy="301752"/>
          </a:xfrm>
          <a:prstGeom prst="rect">
            <a:avLst/>
          </a:prstGeom>
          <a:solidFill>
            <a:srgbClr val="DBFAF7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9" name="Editable number 6"/>
          <p:cNvSpPr txBox="1"/>
          <p:nvPr/>
        </p:nvSpPr>
        <p:spPr>
          <a:xfrm>
            <a:off x="12734742" y="57976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6</a:t>
            </a:r>
          </a:p>
        </p:txBody>
      </p:sp>
      <p:sp>
        <p:nvSpPr>
          <p:cNvPr id="380" name="Rectangular partition sequence slot 7"/>
          <p:cNvSpPr/>
          <p:nvPr/>
        </p:nvSpPr>
        <p:spPr>
          <a:xfrm>
            <a:off x="13021056" y="5806440"/>
            <a:ext cx="315468" cy="301752"/>
          </a:xfrm>
          <a:prstGeom prst="rect">
            <a:avLst/>
          </a:prstGeom>
          <a:solidFill>
            <a:srgbClr val="DBFAF7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Editable number 7"/>
          <p:cNvSpPr txBox="1"/>
          <p:nvPr/>
        </p:nvSpPr>
        <p:spPr>
          <a:xfrm>
            <a:off x="13050210" y="57976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7</a:t>
            </a:r>
          </a:p>
        </p:txBody>
      </p:sp>
      <p:sp>
        <p:nvSpPr>
          <p:cNvPr id="382" name="Rectangular partition sequence slot 8"/>
          <p:cNvSpPr/>
          <p:nvPr/>
        </p:nvSpPr>
        <p:spPr>
          <a:xfrm>
            <a:off x="13336524" y="5806440"/>
            <a:ext cx="315468" cy="301752"/>
          </a:xfrm>
          <a:prstGeom prst="rect">
            <a:avLst/>
          </a:prstGeom>
          <a:solidFill>
            <a:srgbClr val="DFE9F6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3" name="Editable number 8"/>
          <p:cNvSpPr txBox="1"/>
          <p:nvPr/>
        </p:nvSpPr>
        <p:spPr>
          <a:xfrm>
            <a:off x="13365678" y="57976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8</a:t>
            </a:r>
          </a:p>
        </p:txBody>
      </p:sp>
      <p:sp>
        <p:nvSpPr>
          <p:cNvPr id="384" name="Rectangular partition sequence slot 9"/>
          <p:cNvSpPr/>
          <p:nvPr/>
        </p:nvSpPr>
        <p:spPr>
          <a:xfrm>
            <a:off x="13651992" y="5806440"/>
            <a:ext cx="315468" cy="301752"/>
          </a:xfrm>
          <a:prstGeom prst="rect">
            <a:avLst/>
          </a:prstGeom>
          <a:solidFill>
            <a:srgbClr val="EAC5D2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Editable number 9"/>
          <p:cNvSpPr txBox="1"/>
          <p:nvPr/>
        </p:nvSpPr>
        <p:spPr>
          <a:xfrm>
            <a:off x="13681146" y="57976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9</a:t>
            </a:r>
          </a:p>
        </p:txBody>
      </p:sp>
      <p:sp>
        <p:nvSpPr>
          <p:cNvPr id="386" name="Cylindrical partition sequence slot 1"/>
          <p:cNvSpPr/>
          <p:nvPr/>
        </p:nvSpPr>
        <p:spPr>
          <a:xfrm>
            <a:off x="14511528" y="5806440"/>
            <a:ext cx="315468" cy="301752"/>
          </a:xfrm>
          <a:prstGeom prst="rect">
            <a:avLst/>
          </a:prstGeom>
          <a:solidFill>
            <a:srgbClr val="FADDDD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7" name="Editable number 5"/>
          <p:cNvSpPr txBox="1"/>
          <p:nvPr/>
        </p:nvSpPr>
        <p:spPr>
          <a:xfrm>
            <a:off x="14540682" y="57976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5</a:t>
            </a:r>
          </a:p>
        </p:txBody>
      </p:sp>
      <p:sp>
        <p:nvSpPr>
          <p:cNvPr id="388" name="Cylindrical partition sequence slot 2"/>
          <p:cNvSpPr/>
          <p:nvPr/>
        </p:nvSpPr>
        <p:spPr>
          <a:xfrm>
            <a:off x="14826996" y="5806440"/>
            <a:ext cx="315468" cy="301752"/>
          </a:xfrm>
          <a:prstGeom prst="rect">
            <a:avLst/>
          </a:prstGeom>
          <a:solidFill>
            <a:srgbClr val="DFFFE3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9" name="Editable number 4"/>
          <p:cNvSpPr txBox="1"/>
          <p:nvPr/>
        </p:nvSpPr>
        <p:spPr>
          <a:xfrm>
            <a:off x="14856150" y="57976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</a:t>
            </a:r>
          </a:p>
        </p:txBody>
      </p:sp>
      <p:sp>
        <p:nvSpPr>
          <p:cNvPr id="390" name="Cylindrical partition sequence slot 3"/>
          <p:cNvSpPr/>
          <p:nvPr/>
        </p:nvSpPr>
        <p:spPr>
          <a:xfrm>
            <a:off x="15142464" y="5806440"/>
            <a:ext cx="315468" cy="301752"/>
          </a:xfrm>
          <a:prstGeom prst="rect">
            <a:avLst/>
          </a:prstGeom>
          <a:solidFill>
            <a:srgbClr val="EEEEEE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1" name="Editable number 2"/>
          <p:cNvSpPr txBox="1"/>
          <p:nvPr/>
        </p:nvSpPr>
        <p:spPr>
          <a:xfrm>
            <a:off x="15171618" y="57976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392" name="Cylindrical partition sequence slot 4"/>
          <p:cNvSpPr/>
          <p:nvPr/>
        </p:nvSpPr>
        <p:spPr>
          <a:xfrm>
            <a:off x="15457932" y="5806440"/>
            <a:ext cx="315468" cy="301752"/>
          </a:xfrm>
          <a:prstGeom prst="rect">
            <a:avLst/>
          </a:prstGeom>
          <a:solidFill>
            <a:srgbClr val="DBFAF7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3" name="Editable number 6"/>
          <p:cNvSpPr txBox="1"/>
          <p:nvPr/>
        </p:nvSpPr>
        <p:spPr>
          <a:xfrm>
            <a:off x="15487086" y="57976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6</a:t>
            </a:r>
          </a:p>
        </p:txBody>
      </p:sp>
      <p:sp>
        <p:nvSpPr>
          <p:cNvPr id="394" name="Cylindrical partition sequence slot 5"/>
          <p:cNvSpPr/>
          <p:nvPr/>
        </p:nvSpPr>
        <p:spPr>
          <a:xfrm>
            <a:off x="15773400" y="5806440"/>
            <a:ext cx="315468" cy="301752"/>
          </a:xfrm>
          <a:prstGeom prst="rect">
            <a:avLst/>
          </a:prstGeom>
          <a:solidFill>
            <a:srgbClr val="DFE9F6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5" name="Editable number 8"/>
          <p:cNvSpPr txBox="1"/>
          <p:nvPr/>
        </p:nvSpPr>
        <p:spPr>
          <a:xfrm>
            <a:off x="15802554" y="57976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8</a:t>
            </a:r>
          </a:p>
        </p:txBody>
      </p:sp>
      <p:sp>
        <p:nvSpPr>
          <p:cNvPr id="396" name="Cylindrical partition sequence slot 6"/>
          <p:cNvSpPr/>
          <p:nvPr/>
        </p:nvSpPr>
        <p:spPr>
          <a:xfrm>
            <a:off x="16088868" y="5806440"/>
            <a:ext cx="315468" cy="301752"/>
          </a:xfrm>
          <a:prstGeom prst="rect">
            <a:avLst/>
          </a:prstGeom>
          <a:solidFill>
            <a:srgbClr val="FFF7D9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7" name="Editable number 1"/>
          <p:cNvSpPr txBox="1"/>
          <p:nvPr/>
        </p:nvSpPr>
        <p:spPr>
          <a:xfrm>
            <a:off x="16118022" y="57976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398" name="Cylindrical partition sequence slot 7"/>
          <p:cNvSpPr/>
          <p:nvPr/>
        </p:nvSpPr>
        <p:spPr>
          <a:xfrm>
            <a:off x="16404336" y="5806440"/>
            <a:ext cx="315468" cy="301752"/>
          </a:xfrm>
          <a:prstGeom prst="rect">
            <a:avLst/>
          </a:prstGeom>
          <a:solidFill>
            <a:srgbClr val="DFFFE3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9" name="Editable number 3"/>
          <p:cNvSpPr txBox="1"/>
          <p:nvPr/>
        </p:nvSpPr>
        <p:spPr>
          <a:xfrm>
            <a:off x="16433490" y="57976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400" name="Cylindrical partition sequence slot 8"/>
          <p:cNvSpPr/>
          <p:nvPr/>
        </p:nvSpPr>
        <p:spPr>
          <a:xfrm>
            <a:off x="16719804" y="5806440"/>
            <a:ext cx="315468" cy="301752"/>
          </a:xfrm>
          <a:prstGeom prst="rect">
            <a:avLst/>
          </a:prstGeom>
          <a:solidFill>
            <a:srgbClr val="EAC5D2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1" name="Editable number 9"/>
          <p:cNvSpPr txBox="1"/>
          <p:nvPr/>
        </p:nvSpPr>
        <p:spPr>
          <a:xfrm>
            <a:off x="16748958" y="57976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9</a:t>
            </a:r>
          </a:p>
        </p:txBody>
      </p:sp>
      <p:sp>
        <p:nvSpPr>
          <p:cNvPr id="402" name="Cylindrical partition sequence slot 9"/>
          <p:cNvSpPr/>
          <p:nvPr/>
        </p:nvSpPr>
        <p:spPr>
          <a:xfrm>
            <a:off x="17035272" y="5806440"/>
            <a:ext cx="315468" cy="301752"/>
          </a:xfrm>
          <a:prstGeom prst="rect">
            <a:avLst/>
          </a:prstGeom>
          <a:solidFill>
            <a:srgbClr val="DBFAF7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3" name="Editable number 7"/>
          <p:cNvSpPr txBox="1"/>
          <p:nvPr/>
        </p:nvSpPr>
        <p:spPr>
          <a:xfrm>
            <a:off x="17064426" y="57976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7</a:t>
            </a:r>
          </a:p>
        </p:txBody>
      </p:sp>
      <p:cxnSp>
        <p:nvCxnSpPr>
          <p:cNvPr id="404" name="Partition sequences comparison"/>
          <p:cNvCxnSpPr/>
          <p:nvPr/>
        </p:nvCxnSpPr>
        <p:spPr>
          <a:xfrm>
            <a:off x="13981176" y="5952744"/>
            <a:ext cx="521208" cy="0"/>
          </a:xfrm>
          <a:prstGeom prst="line">
            <a:avLst/>
          </a:prstGeom>
          <a:ln w="25603">
            <a:solidFill>
              <a:srgbClr val="000000"/>
            </a:solidFill>
            <a:miter lim="800000"/>
          </a:ln>
          <a:effectLst/>
        </p:spPr>
      </p:cxnSp>
      <p:sp>
        <p:nvSpPr>
          <p:cNvPr id="405" name="Partition sequences comparison end"/>
          <p:cNvSpPr/>
          <p:nvPr/>
        </p:nvSpPr>
        <p:spPr>
          <a:xfrm>
            <a:off x="14319504" y="5893308"/>
            <a:ext cx="182880" cy="118872"/>
          </a:xfrm>
          <a:custGeom>
            <a:avLst/>
            <a:gdLst/>
            <a:ahLst/>
            <a:cxnLst/>
            <a:rect l="0" t="0" r="r" b="b"/>
            <a:pathLst>
              <a:path w="20000" h="13000">
                <a:moveTo>
                  <a:pt x="20000" y="6500"/>
                </a:moveTo>
                <a:lnTo>
                  <a:pt x="0" y="13000"/>
                </a:lnTo>
                <a:lnTo>
                  <a:pt x="7000" y="6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6" name="Partition sequences comparison start"/>
          <p:cNvSpPr/>
          <p:nvPr/>
        </p:nvSpPr>
        <p:spPr>
          <a:xfrm>
            <a:off x="13981176" y="5893308"/>
            <a:ext cx="182880" cy="118872"/>
          </a:xfrm>
          <a:custGeom>
            <a:avLst/>
            <a:gdLst/>
            <a:ahLst/>
            <a:cxnLst/>
            <a:rect l="0" t="0" r="r" b="b"/>
            <a:pathLst>
              <a:path w="20000" h="13000">
                <a:moveTo>
                  <a:pt x="0" y="6500"/>
                </a:moveTo>
                <a:lnTo>
                  <a:pt x="20000" y="0"/>
                </a:lnTo>
                <a:lnTo>
                  <a:pt x="13000" y="6500"/>
                </a:lnTo>
                <a:lnTo>
                  <a:pt x="20000" y="13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7" name="High density dotted panel"/>
          <p:cNvSpPr/>
          <p:nvPr/>
        </p:nvSpPr>
        <p:spPr>
          <a:xfrm>
            <a:off x="11365992" y="6291072"/>
            <a:ext cx="1783080" cy="1682496"/>
          </a:xfrm>
          <a:prstGeom prst="roundRect">
            <a:avLst>
              <a:gd name="adj" fmla="val 7065"/>
            </a:avLst>
          </a:prstGeom>
          <a:solidFill>
            <a:srgbClr val="D5DCE4"/>
          </a:solidFill>
          <a:ln w="21945" cap="rnd">
            <a:solidFill>
              <a:srgbClr val="000000"/>
            </a:solidFill>
            <a:custDash>
              <a:ds d="41667" sp="125000"/>
            </a:custDash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8" name="Number traversal 1 to 2"/>
          <p:cNvCxnSpPr/>
          <p:nvPr/>
        </p:nvCxnSpPr>
        <p:spPr>
          <a:xfrm>
            <a:off x="11841480" y="6579108"/>
            <a:ext cx="256032" cy="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409" name="Number traversal 1 to 2 end"/>
          <p:cNvSpPr/>
          <p:nvPr/>
        </p:nvSpPr>
        <p:spPr>
          <a:xfrm>
            <a:off x="12006072" y="6537960"/>
            <a:ext cx="91440" cy="82296"/>
          </a:xfrm>
          <a:custGeom>
            <a:avLst/>
            <a:gdLst/>
            <a:ahLst/>
            <a:cxnLst/>
            <a:rect l="0" t="0" r="r" b="b"/>
            <a:pathLst>
              <a:path w="10000" h="9000">
                <a:moveTo>
                  <a:pt x="10000" y="4500"/>
                </a:moveTo>
                <a:lnTo>
                  <a:pt x="0" y="9000"/>
                </a:lnTo>
                <a:lnTo>
                  <a:pt x="3500" y="4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10" name="Number traversal 2 to 3"/>
          <p:cNvCxnSpPr/>
          <p:nvPr/>
        </p:nvCxnSpPr>
        <p:spPr>
          <a:xfrm>
            <a:off x="12399264" y="6579108"/>
            <a:ext cx="283464" cy="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411" name="Number traversal 2 to 3 end"/>
          <p:cNvSpPr/>
          <p:nvPr/>
        </p:nvSpPr>
        <p:spPr>
          <a:xfrm>
            <a:off x="12591288" y="6537960"/>
            <a:ext cx="91440" cy="82296"/>
          </a:xfrm>
          <a:custGeom>
            <a:avLst/>
            <a:gdLst/>
            <a:ahLst/>
            <a:cxnLst/>
            <a:rect l="0" t="0" r="r" b="b"/>
            <a:pathLst>
              <a:path w="10000" h="9000">
                <a:moveTo>
                  <a:pt x="10000" y="4500"/>
                </a:moveTo>
                <a:lnTo>
                  <a:pt x="0" y="9000"/>
                </a:lnTo>
                <a:lnTo>
                  <a:pt x="3500" y="4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12" name="Number traversal 3 to 4"/>
          <p:cNvCxnSpPr/>
          <p:nvPr/>
        </p:nvCxnSpPr>
        <p:spPr>
          <a:xfrm flipH="1">
            <a:off x="11841480" y="6647907"/>
            <a:ext cx="841248" cy="38361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413" name="Number traversal 3 to 4 end"/>
          <p:cNvSpPr/>
          <p:nvPr/>
        </p:nvSpPr>
        <p:spPr>
          <a:xfrm>
            <a:off x="11841480" y="6956139"/>
            <a:ext cx="100271" cy="75378"/>
          </a:xfrm>
          <a:custGeom>
            <a:avLst/>
            <a:gdLst/>
            <a:ahLst/>
            <a:cxnLst/>
            <a:rect l="0" t="0" r="r" b="b"/>
            <a:pathLst>
              <a:path w="10966" h="8243">
                <a:moveTo>
                  <a:pt x="0" y="8243"/>
                </a:moveTo>
                <a:lnTo>
                  <a:pt x="7232" y="0"/>
                </a:lnTo>
                <a:lnTo>
                  <a:pt x="5914" y="5547"/>
                </a:lnTo>
                <a:lnTo>
                  <a:pt x="10966" y="81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14" name="Number traversal 4 to 5"/>
          <p:cNvCxnSpPr/>
          <p:nvPr/>
        </p:nvCxnSpPr>
        <p:spPr>
          <a:xfrm>
            <a:off x="11841480" y="7100316"/>
            <a:ext cx="256032" cy="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415" name="Number traversal 4 to 5 end"/>
          <p:cNvSpPr/>
          <p:nvPr/>
        </p:nvSpPr>
        <p:spPr>
          <a:xfrm>
            <a:off x="12006072" y="7059168"/>
            <a:ext cx="91440" cy="82296"/>
          </a:xfrm>
          <a:custGeom>
            <a:avLst/>
            <a:gdLst/>
            <a:ahLst/>
            <a:cxnLst/>
            <a:rect l="0" t="0" r="r" b="b"/>
            <a:pathLst>
              <a:path w="10000" h="9000">
                <a:moveTo>
                  <a:pt x="10000" y="4500"/>
                </a:moveTo>
                <a:lnTo>
                  <a:pt x="0" y="9000"/>
                </a:lnTo>
                <a:lnTo>
                  <a:pt x="3500" y="4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16" name="Number traversal 5 to 6"/>
          <p:cNvCxnSpPr/>
          <p:nvPr/>
        </p:nvCxnSpPr>
        <p:spPr>
          <a:xfrm>
            <a:off x="12399264" y="7100316"/>
            <a:ext cx="283464" cy="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417" name="Number traversal 5 to 6 end"/>
          <p:cNvSpPr/>
          <p:nvPr/>
        </p:nvSpPr>
        <p:spPr>
          <a:xfrm>
            <a:off x="12591288" y="7059168"/>
            <a:ext cx="91440" cy="82296"/>
          </a:xfrm>
          <a:custGeom>
            <a:avLst/>
            <a:gdLst/>
            <a:ahLst/>
            <a:cxnLst/>
            <a:rect l="0" t="0" r="r" b="b"/>
            <a:pathLst>
              <a:path w="10000" h="9000">
                <a:moveTo>
                  <a:pt x="10000" y="4500"/>
                </a:moveTo>
                <a:lnTo>
                  <a:pt x="0" y="9000"/>
                </a:lnTo>
                <a:lnTo>
                  <a:pt x="3500" y="4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18" name="Number traversal 6 to 7"/>
          <p:cNvCxnSpPr/>
          <p:nvPr/>
        </p:nvCxnSpPr>
        <p:spPr>
          <a:xfrm flipH="1">
            <a:off x="11841480" y="7170322"/>
            <a:ext cx="841248" cy="39034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419" name="Number traversal 6 to 7 end"/>
          <p:cNvSpPr/>
          <p:nvPr/>
        </p:nvSpPr>
        <p:spPr>
          <a:xfrm>
            <a:off x="11841480" y="7484849"/>
            <a:ext cx="100265" cy="75813"/>
          </a:xfrm>
          <a:custGeom>
            <a:avLst/>
            <a:gdLst/>
            <a:ahLst/>
            <a:cxnLst/>
            <a:rect l="0" t="0" r="r" b="b"/>
            <a:pathLst>
              <a:path w="10965" h="8291">
                <a:moveTo>
                  <a:pt x="0" y="8291"/>
                </a:moveTo>
                <a:lnTo>
                  <a:pt x="7177" y="0"/>
                </a:lnTo>
                <a:lnTo>
                  <a:pt x="5896" y="5555"/>
                </a:lnTo>
                <a:lnTo>
                  <a:pt x="10965" y="816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0" name="Number traversal 7 to 8"/>
          <p:cNvCxnSpPr/>
          <p:nvPr/>
        </p:nvCxnSpPr>
        <p:spPr>
          <a:xfrm>
            <a:off x="11841480" y="7630668"/>
            <a:ext cx="256032" cy="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421" name="Number traversal 7 to 8 end"/>
          <p:cNvSpPr/>
          <p:nvPr/>
        </p:nvSpPr>
        <p:spPr>
          <a:xfrm>
            <a:off x="12006072" y="7589520"/>
            <a:ext cx="91440" cy="82296"/>
          </a:xfrm>
          <a:custGeom>
            <a:avLst/>
            <a:gdLst/>
            <a:ahLst/>
            <a:cxnLst/>
            <a:rect l="0" t="0" r="r" b="b"/>
            <a:pathLst>
              <a:path w="10000" h="9000">
                <a:moveTo>
                  <a:pt x="10000" y="4500"/>
                </a:moveTo>
                <a:lnTo>
                  <a:pt x="0" y="9000"/>
                </a:lnTo>
                <a:lnTo>
                  <a:pt x="3500" y="4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2" name="Number traversal 8 to 9"/>
          <p:cNvCxnSpPr/>
          <p:nvPr/>
        </p:nvCxnSpPr>
        <p:spPr>
          <a:xfrm>
            <a:off x="12399264" y="7630668"/>
            <a:ext cx="283464" cy="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423" name="Number traversal 8 to 9 end"/>
          <p:cNvSpPr/>
          <p:nvPr/>
        </p:nvSpPr>
        <p:spPr>
          <a:xfrm>
            <a:off x="12591288" y="7589520"/>
            <a:ext cx="91440" cy="82296"/>
          </a:xfrm>
          <a:custGeom>
            <a:avLst/>
            <a:gdLst/>
            <a:ahLst/>
            <a:cxnLst/>
            <a:rect l="0" t="0" r="r" b="b"/>
            <a:pathLst>
              <a:path w="10000" h="9000">
                <a:moveTo>
                  <a:pt x="10000" y="4500"/>
                </a:moveTo>
                <a:lnTo>
                  <a:pt x="0" y="9000"/>
                </a:lnTo>
                <a:lnTo>
                  <a:pt x="3500" y="4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4" name="High density cell 1"/>
          <p:cNvSpPr/>
          <p:nvPr/>
        </p:nvSpPr>
        <p:spPr>
          <a:xfrm>
            <a:off x="11539728" y="6428232"/>
            <a:ext cx="301752" cy="301752"/>
          </a:xfrm>
          <a:prstGeom prst="rect">
            <a:avLst/>
          </a:prstGeom>
          <a:solidFill>
            <a:srgbClr val="FFF7D9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5" name="Editable number 1"/>
          <p:cNvSpPr txBox="1"/>
          <p:nvPr/>
        </p:nvSpPr>
        <p:spPr>
          <a:xfrm>
            <a:off x="11562024" y="6419426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426" name="High density cell 2"/>
          <p:cNvSpPr/>
          <p:nvPr/>
        </p:nvSpPr>
        <p:spPr>
          <a:xfrm>
            <a:off x="12097512" y="6428232"/>
            <a:ext cx="301752" cy="301752"/>
          </a:xfrm>
          <a:prstGeom prst="rect">
            <a:avLst/>
          </a:prstGeom>
          <a:solidFill>
            <a:srgbClr val="EEEEEE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7" name="Editable number 2"/>
          <p:cNvSpPr txBox="1"/>
          <p:nvPr/>
        </p:nvSpPr>
        <p:spPr>
          <a:xfrm>
            <a:off x="12119808" y="6419426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428" name="High density cell 3"/>
          <p:cNvSpPr/>
          <p:nvPr/>
        </p:nvSpPr>
        <p:spPr>
          <a:xfrm>
            <a:off x="12682728" y="6428232"/>
            <a:ext cx="301752" cy="301752"/>
          </a:xfrm>
          <a:prstGeom prst="rect">
            <a:avLst/>
          </a:prstGeom>
          <a:solidFill>
            <a:srgbClr val="DFFFE3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9" name="Editable number 3"/>
          <p:cNvSpPr txBox="1"/>
          <p:nvPr/>
        </p:nvSpPr>
        <p:spPr>
          <a:xfrm>
            <a:off x="12705024" y="6419426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430" name="High density cell 4"/>
          <p:cNvSpPr/>
          <p:nvPr/>
        </p:nvSpPr>
        <p:spPr>
          <a:xfrm>
            <a:off x="11539728" y="6949440"/>
            <a:ext cx="301752" cy="301752"/>
          </a:xfrm>
          <a:prstGeom prst="rect">
            <a:avLst/>
          </a:prstGeom>
          <a:solidFill>
            <a:srgbClr val="DFFFE3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1" name="Editable number 4"/>
          <p:cNvSpPr txBox="1"/>
          <p:nvPr/>
        </p:nvSpPr>
        <p:spPr>
          <a:xfrm>
            <a:off x="11562024" y="69406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</a:t>
            </a:r>
          </a:p>
        </p:txBody>
      </p:sp>
      <p:sp>
        <p:nvSpPr>
          <p:cNvPr id="432" name="High density cell 5"/>
          <p:cNvSpPr/>
          <p:nvPr/>
        </p:nvSpPr>
        <p:spPr>
          <a:xfrm>
            <a:off x="12097512" y="6949440"/>
            <a:ext cx="301752" cy="301752"/>
          </a:xfrm>
          <a:prstGeom prst="rect">
            <a:avLst/>
          </a:prstGeom>
          <a:solidFill>
            <a:srgbClr val="FADDDD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3" name="Editable number 5"/>
          <p:cNvSpPr txBox="1"/>
          <p:nvPr/>
        </p:nvSpPr>
        <p:spPr>
          <a:xfrm>
            <a:off x="12119808" y="69406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5</a:t>
            </a:r>
          </a:p>
        </p:txBody>
      </p:sp>
      <p:sp>
        <p:nvSpPr>
          <p:cNvPr id="434" name="High density cell 6"/>
          <p:cNvSpPr/>
          <p:nvPr/>
        </p:nvSpPr>
        <p:spPr>
          <a:xfrm>
            <a:off x="12682728" y="6949440"/>
            <a:ext cx="301752" cy="301752"/>
          </a:xfrm>
          <a:prstGeom prst="rect">
            <a:avLst/>
          </a:prstGeom>
          <a:solidFill>
            <a:srgbClr val="DBFAF7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5" name="Editable number 6"/>
          <p:cNvSpPr txBox="1"/>
          <p:nvPr/>
        </p:nvSpPr>
        <p:spPr>
          <a:xfrm>
            <a:off x="12705024" y="6940634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6</a:t>
            </a:r>
          </a:p>
        </p:txBody>
      </p:sp>
      <p:sp>
        <p:nvSpPr>
          <p:cNvPr id="436" name="High density cell 7"/>
          <p:cNvSpPr/>
          <p:nvPr/>
        </p:nvSpPr>
        <p:spPr>
          <a:xfrm>
            <a:off x="11539728" y="7479792"/>
            <a:ext cx="301752" cy="301752"/>
          </a:xfrm>
          <a:prstGeom prst="rect">
            <a:avLst/>
          </a:prstGeom>
          <a:solidFill>
            <a:srgbClr val="DBFAF7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7" name="Editable number 7"/>
          <p:cNvSpPr txBox="1"/>
          <p:nvPr/>
        </p:nvSpPr>
        <p:spPr>
          <a:xfrm>
            <a:off x="11562024" y="7470986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7</a:t>
            </a:r>
          </a:p>
        </p:txBody>
      </p:sp>
      <p:sp>
        <p:nvSpPr>
          <p:cNvPr id="438" name="High density cell 8"/>
          <p:cNvSpPr/>
          <p:nvPr/>
        </p:nvSpPr>
        <p:spPr>
          <a:xfrm>
            <a:off x="12097512" y="7479792"/>
            <a:ext cx="301752" cy="301752"/>
          </a:xfrm>
          <a:prstGeom prst="rect">
            <a:avLst/>
          </a:prstGeom>
          <a:solidFill>
            <a:srgbClr val="DFE9F6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9" name="Editable number 8"/>
          <p:cNvSpPr txBox="1"/>
          <p:nvPr/>
        </p:nvSpPr>
        <p:spPr>
          <a:xfrm>
            <a:off x="12119808" y="7470986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8</a:t>
            </a:r>
          </a:p>
        </p:txBody>
      </p:sp>
      <p:sp>
        <p:nvSpPr>
          <p:cNvPr id="440" name="High density cell 9"/>
          <p:cNvSpPr/>
          <p:nvPr/>
        </p:nvSpPr>
        <p:spPr>
          <a:xfrm>
            <a:off x="12682728" y="7479792"/>
            <a:ext cx="301752" cy="301752"/>
          </a:xfrm>
          <a:prstGeom prst="rect">
            <a:avLst/>
          </a:prstGeom>
          <a:solidFill>
            <a:srgbClr val="EAC5D2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1" name="Editable number 9"/>
          <p:cNvSpPr txBox="1"/>
          <p:nvPr/>
        </p:nvSpPr>
        <p:spPr>
          <a:xfrm>
            <a:off x="12705024" y="7470986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9</a:t>
            </a:r>
          </a:p>
        </p:txBody>
      </p:sp>
      <p:sp>
        <p:nvSpPr>
          <p:cNvPr id="442" name="Low density dotted panel"/>
          <p:cNvSpPr/>
          <p:nvPr/>
        </p:nvSpPr>
        <p:spPr>
          <a:xfrm>
            <a:off x="15380208" y="6281928"/>
            <a:ext cx="1783080" cy="1682496"/>
          </a:xfrm>
          <a:prstGeom prst="roundRect">
            <a:avLst>
              <a:gd name="adj" fmla="val 7065"/>
            </a:avLst>
          </a:prstGeom>
          <a:solidFill>
            <a:srgbClr val="D5DCE4"/>
          </a:solidFill>
          <a:ln w="21945" cap="rnd">
            <a:solidFill>
              <a:srgbClr val="000000"/>
            </a:solidFill>
            <a:custDash>
              <a:ds d="41667" sp="125000"/>
            </a:custDash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43" name="Number traversal 1 to 2"/>
          <p:cNvCxnSpPr/>
          <p:nvPr/>
        </p:nvCxnSpPr>
        <p:spPr>
          <a:xfrm>
            <a:off x="15855696" y="6569964"/>
            <a:ext cx="265176" cy="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444" name="Number traversal 1 to 2 end"/>
          <p:cNvSpPr/>
          <p:nvPr/>
        </p:nvSpPr>
        <p:spPr>
          <a:xfrm>
            <a:off x="16029432" y="6528816"/>
            <a:ext cx="91440" cy="82296"/>
          </a:xfrm>
          <a:custGeom>
            <a:avLst/>
            <a:gdLst/>
            <a:ahLst/>
            <a:cxnLst/>
            <a:rect l="0" t="0" r="r" b="b"/>
            <a:pathLst>
              <a:path w="10000" h="9000">
                <a:moveTo>
                  <a:pt x="10000" y="4500"/>
                </a:moveTo>
                <a:lnTo>
                  <a:pt x="0" y="9000"/>
                </a:lnTo>
                <a:lnTo>
                  <a:pt x="3500" y="4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45" name="Number traversal 2 to 5"/>
          <p:cNvCxnSpPr/>
          <p:nvPr/>
        </p:nvCxnSpPr>
        <p:spPr>
          <a:xfrm>
            <a:off x="16271748" y="6720840"/>
            <a:ext cx="0" cy="219456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446" name="Number traversal 2 to 5 end"/>
          <p:cNvSpPr/>
          <p:nvPr/>
        </p:nvSpPr>
        <p:spPr>
          <a:xfrm>
            <a:off x="16230600" y="6848856"/>
            <a:ext cx="82296" cy="91440"/>
          </a:xfrm>
          <a:custGeom>
            <a:avLst/>
            <a:gdLst/>
            <a:ahLst/>
            <a:cxnLst/>
            <a:rect l="0" t="0" r="r" b="b"/>
            <a:pathLst>
              <a:path w="9000" h="10000">
                <a:moveTo>
                  <a:pt x="4500" y="10000"/>
                </a:moveTo>
                <a:lnTo>
                  <a:pt x="0" y="0"/>
                </a:lnTo>
                <a:lnTo>
                  <a:pt x="4500" y="3500"/>
                </a:lnTo>
                <a:lnTo>
                  <a:pt x="90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47" name="Number traversal 5 to 6"/>
          <p:cNvCxnSpPr/>
          <p:nvPr/>
        </p:nvCxnSpPr>
        <p:spPr>
          <a:xfrm>
            <a:off x="16422624" y="7091172"/>
            <a:ext cx="274320" cy="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448" name="Number traversal 5 to 6 end"/>
          <p:cNvSpPr/>
          <p:nvPr/>
        </p:nvSpPr>
        <p:spPr>
          <a:xfrm>
            <a:off x="16605504" y="7050024"/>
            <a:ext cx="91440" cy="82296"/>
          </a:xfrm>
          <a:custGeom>
            <a:avLst/>
            <a:gdLst/>
            <a:ahLst/>
            <a:cxnLst/>
            <a:rect l="0" t="0" r="r" b="b"/>
            <a:pathLst>
              <a:path w="10000" h="9000">
                <a:moveTo>
                  <a:pt x="10000" y="4500"/>
                </a:moveTo>
                <a:lnTo>
                  <a:pt x="0" y="9000"/>
                </a:lnTo>
                <a:lnTo>
                  <a:pt x="3500" y="4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49" name="Number traversal 6 to 7"/>
          <p:cNvCxnSpPr/>
          <p:nvPr/>
        </p:nvCxnSpPr>
        <p:spPr>
          <a:xfrm flipH="1">
            <a:off x="15855696" y="7161178"/>
            <a:ext cx="841248" cy="39034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450" name="Number traversal 6 to 7 end"/>
          <p:cNvSpPr/>
          <p:nvPr/>
        </p:nvSpPr>
        <p:spPr>
          <a:xfrm>
            <a:off x="15855696" y="7475705"/>
            <a:ext cx="100265" cy="75813"/>
          </a:xfrm>
          <a:custGeom>
            <a:avLst/>
            <a:gdLst/>
            <a:ahLst/>
            <a:cxnLst/>
            <a:rect l="0" t="0" r="r" b="b"/>
            <a:pathLst>
              <a:path w="10965" h="8291">
                <a:moveTo>
                  <a:pt x="0" y="8291"/>
                </a:moveTo>
                <a:lnTo>
                  <a:pt x="7177" y="0"/>
                </a:lnTo>
                <a:lnTo>
                  <a:pt x="5896" y="5555"/>
                </a:lnTo>
                <a:lnTo>
                  <a:pt x="10965" y="816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51" name="Number traversal 7 to 9"/>
          <p:cNvCxnSpPr/>
          <p:nvPr/>
        </p:nvCxnSpPr>
        <p:spPr>
          <a:xfrm>
            <a:off x="15855696" y="7621524"/>
            <a:ext cx="841248" cy="0"/>
          </a:xfrm>
          <a:prstGeom prst="line">
            <a:avLst/>
          </a:prstGeom>
          <a:ln w="21945">
            <a:solidFill>
              <a:srgbClr val="000000"/>
            </a:solidFill>
            <a:miter lim="800000"/>
          </a:ln>
          <a:effectLst/>
        </p:spPr>
      </p:cxnSp>
      <p:sp>
        <p:nvSpPr>
          <p:cNvPr id="452" name="Number traversal 7 to 9 end"/>
          <p:cNvSpPr/>
          <p:nvPr/>
        </p:nvSpPr>
        <p:spPr>
          <a:xfrm>
            <a:off x="16605504" y="7580376"/>
            <a:ext cx="91440" cy="82296"/>
          </a:xfrm>
          <a:custGeom>
            <a:avLst/>
            <a:gdLst/>
            <a:ahLst/>
            <a:cxnLst/>
            <a:rect l="0" t="0" r="r" b="b"/>
            <a:pathLst>
              <a:path w="10000" h="9000">
                <a:moveTo>
                  <a:pt x="10000" y="4500"/>
                </a:moveTo>
                <a:lnTo>
                  <a:pt x="0" y="9000"/>
                </a:lnTo>
                <a:lnTo>
                  <a:pt x="3500" y="4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3" name="Low density cell 1"/>
          <p:cNvSpPr/>
          <p:nvPr/>
        </p:nvSpPr>
        <p:spPr>
          <a:xfrm>
            <a:off x="15553944" y="6419088"/>
            <a:ext cx="301752" cy="301752"/>
          </a:xfrm>
          <a:prstGeom prst="rect">
            <a:avLst/>
          </a:prstGeom>
          <a:solidFill>
            <a:srgbClr val="FFF7D9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4" name="Editable number 1"/>
          <p:cNvSpPr txBox="1"/>
          <p:nvPr/>
        </p:nvSpPr>
        <p:spPr>
          <a:xfrm>
            <a:off x="15576240" y="6410282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455" name="Low density cell 2"/>
          <p:cNvSpPr/>
          <p:nvPr/>
        </p:nvSpPr>
        <p:spPr>
          <a:xfrm>
            <a:off x="16120872" y="6419088"/>
            <a:ext cx="301752" cy="301752"/>
          </a:xfrm>
          <a:prstGeom prst="rect">
            <a:avLst/>
          </a:prstGeom>
          <a:solidFill>
            <a:srgbClr val="EEEEEE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6" name="Editable number 2"/>
          <p:cNvSpPr txBox="1"/>
          <p:nvPr/>
        </p:nvSpPr>
        <p:spPr>
          <a:xfrm>
            <a:off x="16143168" y="6410282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457" name="Low density cell 3"/>
          <p:cNvSpPr/>
          <p:nvPr/>
        </p:nvSpPr>
        <p:spPr>
          <a:xfrm>
            <a:off x="16696944" y="6419088"/>
            <a:ext cx="301752" cy="301752"/>
          </a:xfrm>
          <a:prstGeom prst="rect">
            <a:avLst/>
          </a:prstGeom>
          <a:noFill/>
          <a:ln w="32004">
            <a:solidFill>
              <a:srgbClr val="000000"/>
            </a:solidFill>
            <a:custDash>
              <a:ds d="80000" sp="100000"/>
            </a:custDash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8" name="Low density cell 4"/>
          <p:cNvSpPr/>
          <p:nvPr/>
        </p:nvSpPr>
        <p:spPr>
          <a:xfrm>
            <a:off x="15553944" y="6940296"/>
            <a:ext cx="301752" cy="301752"/>
          </a:xfrm>
          <a:prstGeom prst="rect">
            <a:avLst/>
          </a:prstGeom>
          <a:noFill/>
          <a:ln w="32004">
            <a:solidFill>
              <a:srgbClr val="000000"/>
            </a:solidFill>
            <a:custDash>
              <a:ds d="80000" sp="100000"/>
            </a:custDash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9" name="Low density cell 5"/>
          <p:cNvSpPr/>
          <p:nvPr/>
        </p:nvSpPr>
        <p:spPr>
          <a:xfrm>
            <a:off x="16120872" y="6940296"/>
            <a:ext cx="301752" cy="301752"/>
          </a:xfrm>
          <a:prstGeom prst="rect">
            <a:avLst/>
          </a:prstGeom>
          <a:solidFill>
            <a:srgbClr val="FADDDD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0" name="Editable number 5"/>
          <p:cNvSpPr txBox="1"/>
          <p:nvPr/>
        </p:nvSpPr>
        <p:spPr>
          <a:xfrm>
            <a:off x="16143168" y="6931490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5</a:t>
            </a:r>
          </a:p>
        </p:txBody>
      </p:sp>
      <p:sp>
        <p:nvSpPr>
          <p:cNvPr id="461" name="Low density cell 6"/>
          <p:cNvSpPr/>
          <p:nvPr/>
        </p:nvSpPr>
        <p:spPr>
          <a:xfrm>
            <a:off x="16696944" y="6940296"/>
            <a:ext cx="301752" cy="301752"/>
          </a:xfrm>
          <a:prstGeom prst="rect">
            <a:avLst/>
          </a:prstGeom>
          <a:solidFill>
            <a:srgbClr val="DBFAF7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2" name="Editable number 6"/>
          <p:cNvSpPr txBox="1"/>
          <p:nvPr/>
        </p:nvSpPr>
        <p:spPr>
          <a:xfrm>
            <a:off x="16719240" y="6931490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6</a:t>
            </a:r>
          </a:p>
        </p:txBody>
      </p:sp>
      <p:sp>
        <p:nvSpPr>
          <p:cNvPr id="463" name="Low density cell 7"/>
          <p:cNvSpPr/>
          <p:nvPr/>
        </p:nvSpPr>
        <p:spPr>
          <a:xfrm>
            <a:off x="15553944" y="7470648"/>
            <a:ext cx="301752" cy="301752"/>
          </a:xfrm>
          <a:prstGeom prst="rect">
            <a:avLst/>
          </a:prstGeom>
          <a:solidFill>
            <a:srgbClr val="DBFAF7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4" name="Editable number 7"/>
          <p:cNvSpPr txBox="1"/>
          <p:nvPr/>
        </p:nvSpPr>
        <p:spPr>
          <a:xfrm>
            <a:off x="15576240" y="7461842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7</a:t>
            </a:r>
          </a:p>
        </p:txBody>
      </p:sp>
      <p:sp>
        <p:nvSpPr>
          <p:cNvPr id="465" name="Low density cell 8"/>
          <p:cNvSpPr/>
          <p:nvPr/>
        </p:nvSpPr>
        <p:spPr>
          <a:xfrm>
            <a:off x="16120872" y="7470648"/>
            <a:ext cx="301752" cy="301752"/>
          </a:xfrm>
          <a:prstGeom prst="rect">
            <a:avLst/>
          </a:prstGeom>
          <a:noFill/>
          <a:ln w="32004">
            <a:solidFill>
              <a:srgbClr val="000000"/>
            </a:solidFill>
            <a:custDash>
              <a:ds d="80000" sp="100000"/>
            </a:custDash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6" name="Low density cell 9"/>
          <p:cNvSpPr/>
          <p:nvPr/>
        </p:nvSpPr>
        <p:spPr>
          <a:xfrm>
            <a:off x="16696944" y="7470648"/>
            <a:ext cx="301752" cy="301752"/>
          </a:xfrm>
          <a:prstGeom prst="rect">
            <a:avLst/>
          </a:prstGeom>
          <a:solidFill>
            <a:srgbClr val="EAC5D2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7" name="Editable number 9"/>
          <p:cNvSpPr txBox="1"/>
          <p:nvPr/>
        </p:nvSpPr>
        <p:spPr>
          <a:xfrm>
            <a:off x="16719240" y="7461842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9</a:t>
            </a:r>
          </a:p>
        </p:txBody>
      </p:sp>
      <p:cxnSp>
        <p:nvCxnSpPr>
          <p:cNvPr id="468" name="Geometric consistency comparison"/>
          <p:cNvCxnSpPr/>
          <p:nvPr/>
        </p:nvCxnSpPr>
        <p:spPr>
          <a:xfrm>
            <a:off x="13167360" y="7150608"/>
            <a:ext cx="2203704" cy="18288"/>
          </a:xfrm>
          <a:prstGeom prst="line">
            <a:avLst/>
          </a:prstGeom>
          <a:ln w="27432">
            <a:solidFill>
              <a:srgbClr val="000000"/>
            </a:solidFill>
            <a:miter lim="800000"/>
          </a:ln>
          <a:effectLst/>
        </p:spPr>
      </p:cxnSp>
      <p:sp>
        <p:nvSpPr>
          <p:cNvPr id="469" name="Geometric consistency comparison end"/>
          <p:cNvSpPr/>
          <p:nvPr/>
        </p:nvSpPr>
        <p:spPr>
          <a:xfrm>
            <a:off x="15187697" y="7107944"/>
            <a:ext cx="183367" cy="118868"/>
          </a:xfrm>
          <a:custGeom>
            <a:avLst/>
            <a:gdLst/>
            <a:ahLst/>
            <a:cxnLst/>
            <a:rect l="0" t="0" r="r" b="b"/>
            <a:pathLst>
              <a:path w="20053" h="13000">
                <a:moveTo>
                  <a:pt x="20053" y="6666"/>
                </a:moveTo>
                <a:lnTo>
                  <a:pt x="0" y="13000"/>
                </a:lnTo>
                <a:lnTo>
                  <a:pt x="7054" y="6558"/>
                </a:lnTo>
                <a:lnTo>
                  <a:pt x="10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0" name="Geometric consistency comparison start"/>
          <p:cNvSpPr/>
          <p:nvPr/>
        </p:nvSpPr>
        <p:spPr>
          <a:xfrm>
            <a:off x="13167360" y="7092692"/>
            <a:ext cx="183367" cy="118868"/>
          </a:xfrm>
          <a:custGeom>
            <a:avLst/>
            <a:gdLst/>
            <a:ahLst/>
            <a:cxnLst/>
            <a:rect l="0" t="0" r="r" b="b"/>
            <a:pathLst>
              <a:path w="20053" h="13000">
                <a:moveTo>
                  <a:pt x="0" y="6334"/>
                </a:moveTo>
                <a:lnTo>
                  <a:pt x="20053" y="0"/>
                </a:lnTo>
                <a:lnTo>
                  <a:pt x="13000" y="6442"/>
                </a:lnTo>
                <a:lnTo>
                  <a:pt x="19945" y="13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1" name="Loss ℒ"/>
          <p:cNvSpPr txBox="1"/>
          <p:nvPr/>
        </p:nvSpPr>
        <p:spPr>
          <a:xfrm>
            <a:off x="13693290" y="6659941"/>
            <a:ext cx="342071" cy="437540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0" i="0" dirty="0" kern="1200">
                <a:solidFill>
                  <a:srgbClr val="000000"/>
                </a:solidFill>
                <a:latin typeface="Latin Modern Math"/>
                <a:ea typeface="Latin Modern Math"/>
                <a:cs typeface="Latin Modern Math"/>
              </a:rPr>
              <a:t>ℒ</a:t>
            </a:r>
          </a:p>
        </p:txBody>
      </p:sp>
      <p:sp>
        <p:nvSpPr>
          <p:cNvPr id="472" name="Loss geometric"/>
          <p:cNvSpPr txBox="1"/>
          <p:nvPr/>
        </p:nvSpPr>
        <p:spPr>
          <a:xfrm>
            <a:off x="13925633" y="6787794"/>
            <a:ext cx="1111525" cy="363159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2" b="0" i="1" dirty="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geometric</a:t>
            </a:r>
          </a:p>
        </p:txBody>
      </p:sp>
      <p:sp>
        <p:nvSpPr>
          <p:cNvPr id="473" name="Geometric"/>
          <p:cNvSpPr txBox="1"/>
          <p:nvPr/>
        </p:nvSpPr>
        <p:spPr>
          <a:xfrm>
            <a:off x="13693962" y="7311689"/>
            <a:ext cx="1104781" cy="29169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Geometric</a:t>
            </a:r>
          </a:p>
        </p:txBody>
      </p:sp>
      <p:sp>
        <p:nvSpPr>
          <p:cNvPr id="474" name="Consistency Prior"/>
          <p:cNvSpPr txBox="1"/>
          <p:nvPr/>
        </p:nvSpPr>
        <p:spPr>
          <a:xfrm>
            <a:off x="13330659" y="7522001"/>
            <a:ext cx="1831386" cy="29169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Consistency Prior</a:t>
            </a:r>
          </a:p>
        </p:txBody>
      </p:sp>
      <p:sp>
        <p:nvSpPr>
          <p:cNvPr id="475" name="High Density"/>
          <p:cNvSpPr txBox="1"/>
          <p:nvPr/>
        </p:nvSpPr>
        <p:spPr>
          <a:xfrm>
            <a:off x="11601614" y="8043209"/>
            <a:ext cx="1339267" cy="29169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 Density</a:t>
            </a:r>
          </a:p>
        </p:txBody>
      </p:sp>
      <p:sp>
        <p:nvSpPr>
          <p:cNvPr id="476" name="Low Density"/>
          <p:cNvSpPr txBox="1"/>
          <p:nvPr/>
        </p:nvSpPr>
        <p:spPr>
          <a:xfrm>
            <a:off x="15638176" y="8034065"/>
            <a:ext cx="1294576" cy="291694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 dirty="0" kern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 Density</a:t>
            </a:r>
          </a:p>
        </p:txBody>
      </p:sp>
      <p:sp>
        <p:nvSpPr>
          <p:cNvPr id="477" name="High density sequence slot 1"/>
          <p:cNvSpPr/>
          <p:nvPr/>
        </p:nvSpPr>
        <p:spPr>
          <a:xfrm>
            <a:off x="11137392" y="8394192"/>
            <a:ext cx="315468" cy="301752"/>
          </a:xfrm>
          <a:prstGeom prst="rect">
            <a:avLst/>
          </a:prstGeom>
          <a:solidFill>
            <a:srgbClr val="FFF7D9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8" name="Editable number 1"/>
          <p:cNvSpPr txBox="1"/>
          <p:nvPr/>
        </p:nvSpPr>
        <p:spPr>
          <a:xfrm>
            <a:off x="11166546" y="8385386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479" name="High density sequence slot 2"/>
          <p:cNvSpPr/>
          <p:nvPr/>
        </p:nvSpPr>
        <p:spPr>
          <a:xfrm>
            <a:off x="11452860" y="8394192"/>
            <a:ext cx="315468" cy="301752"/>
          </a:xfrm>
          <a:prstGeom prst="rect">
            <a:avLst/>
          </a:prstGeom>
          <a:solidFill>
            <a:srgbClr val="EEEEEE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0" name="Editable number 2"/>
          <p:cNvSpPr txBox="1"/>
          <p:nvPr/>
        </p:nvSpPr>
        <p:spPr>
          <a:xfrm>
            <a:off x="11482014" y="8385386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481" name="High density sequence slot 3"/>
          <p:cNvSpPr/>
          <p:nvPr/>
        </p:nvSpPr>
        <p:spPr>
          <a:xfrm>
            <a:off x="11768328" y="8394192"/>
            <a:ext cx="315468" cy="301752"/>
          </a:xfrm>
          <a:prstGeom prst="rect">
            <a:avLst/>
          </a:prstGeom>
          <a:solidFill>
            <a:srgbClr val="DFFFE3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2" name="Editable number 3"/>
          <p:cNvSpPr txBox="1"/>
          <p:nvPr/>
        </p:nvSpPr>
        <p:spPr>
          <a:xfrm>
            <a:off x="11797482" y="8385386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483" name="High density sequence slot 4"/>
          <p:cNvSpPr/>
          <p:nvPr/>
        </p:nvSpPr>
        <p:spPr>
          <a:xfrm>
            <a:off x="12083796" y="8394192"/>
            <a:ext cx="315468" cy="301752"/>
          </a:xfrm>
          <a:prstGeom prst="rect">
            <a:avLst/>
          </a:prstGeom>
          <a:solidFill>
            <a:srgbClr val="DFFFE3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4" name="Editable number 4"/>
          <p:cNvSpPr txBox="1"/>
          <p:nvPr/>
        </p:nvSpPr>
        <p:spPr>
          <a:xfrm>
            <a:off x="12112950" y="8385386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</a:t>
            </a:r>
          </a:p>
        </p:txBody>
      </p:sp>
      <p:sp>
        <p:nvSpPr>
          <p:cNvPr id="485" name="High density sequence slot 5"/>
          <p:cNvSpPr/>
          <p:nvPr/>
        </p:nvSpPr>
        <p:spPr>
          <a:xfrm>
            <a:off x="12399264" y="8394192"/>
            <a:ext cx="315468" cy="301752"/>
          </a:xfrm>
          <a:prstGeom prst="rect">
            <a:avLst/>
          </a:prstGeom>
          <a:solidFill>
            <a:srgbClr val="FADDDD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6" name="Editable number 5"/>
          <p:cNvSpPr txBox="1"/>
          <p:nvPr/>
        </p:nvSpPr>
        <p:spPr>
          <a:xfrm>
            <a:off x="12428418" y="8385386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5</a:t>
            </a:r>
          </a:p>
        </p:txBody>
      </p:sp>
      <p:sp>
        <p:nvSpPr>
          <p:cNvPr id="487" name="High density sequence slot 6"/>
          <p:cNvSpPr/>
          <p:nvPr/>
        </p:nvSpPr>
        <p:spPr>
          <a:xfrm>
            <a:off x="12714732" y="8394192"/>
            <a:ext cx="315468" cy="301752"/>
          </a:xfrm>
          <a:prstGeom prst="rect">
            <a:avLst/>
          </a:prstGeom>
          <a:solidFill>
            <a:srgbClr val="DBFAF7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8" name="Editable number 6"/>
          <p:cNvSpPr txBox="1"/>
          <p:nvPr/>
        </p:nvSpPr>
        <p:spPr>
          <a:xfrm>
            <a:off x="12743886" y="8385386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6</a:t>
            </a:r>
          </a:p>
        </p:txBody>
      </p:sp>
      <p:sp>
        <p:nvSpPr>
          <p:cNvPr id="489" name="High density sequence slot 7"/>
          <p:cNvSpPr/>
          <p:nvPr/>
        </p:nvSpPr>
        <p:spPr>
          <a:xfrm>
            <a:off x="13030200" y="8394192"/>
            <a:ext cx="315468" cy="301752"/>
          </a:xfrm>
          <a:prstGeom prst="rect">
            <a:avLst/>
          </a:prstGeom>
          <a:solidFill>
            <a:srgbClr val="DBFAF7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0" name="Editable number 7"/>
          <p:cNvSpPr txBox="1"/>
          <p:nvPr/>
        </p:nvSpPr>
        <p:spPr>
          <a:xfrm>
            <a:off x="13059354" y="8385386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7</a:t>
            </a:r>
          </a:p>
        </p:txBody>
      </p:sp>
      <p:sp>
        <p:nvSpPr>
          <p:cNvPr id="491" name="High density sequence slot 8"/>
          <p:cNvSpPr/>
          <p:nvPr/>
        </p:nvSpPr>
        <p:spPr>
          <a:xfrm>
            <a:off x="13345668" y="8394192"/>
            <a:ext cx="315468" cy="301752"/>
          </a:xfrm>
          <a:prstGeom prst="rect">
            <a:avLst/>
          </a:prstGeom>
          <a:solidFill>
            <a:srgbClr val="DFE9F6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2" name="Editable number 8"/>
          <p:cNvSpPr txBox="1"/>
          <p:nvPr/>
        </p:nvSpPr>
        <p:spPr>
          <a:xfrm>
            <a:off x="13374822" y="8385386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8</a:t>
            </a:r>
          </a:p>
        </p:txBody>
      </p:sp>
      <p:sp>
        <p:nvSpPr>
          <p:cNvPr id="493" name="High density sequence slot 9"/>
          <p:cNvSpPr/>
          <p:nvPr/>
        </p:nvSpPr>
        <p:spPr>
          <a:xfrm>
            <a:off x="13661136" y="8394192"/>
            <a:ext cx="315468" cy="301752"/>
          </a:xfrm>
          <a:prstGeom prst="rect">
            <a:avLst/>
          </a:prstGeom>
          <a:solidFill>
            <a:srgbClr val="EAC5D2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4" name="Editable number 9"/>
          <p:cNvSpPr txBox="1"/>
          <p:nvPr/>
        </p:nvSpPr>
        <p:spPr>
          <a:xfrm>
            <a:off x="13690290" y="8385386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9</a:t>
            </a:r>
          </a:p>
        </p:txBody>
      </p:sp>
      <p:sp>
        <p:nvSpPr>
          <p:cNvPr id="495" name="Low density sequence slot 1"/>
          <p:cNvSpPr/>
          <p:nvPr/>
        </p:nvSpPr>
        <p:spPr>
          <a:xfrm>
            <a:off x="14529816" y="8375904"/>
            <a:ext cx="315468" cy="301752"/>
          </a:xfrm>
          <a:prstGeom prst="rect">
            <a:avLst/>
          </a:prstGeom>
          <a:solidFill>
            <a:srgbClr val="FFF7D9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6" name="Editable number 1"/>
          <p:cNvSpPr txBox="1"/>
          <p:nvPr/>
        </p:nvSpPr>
        <p:spPr>
          <a:xfrm>
            <a:off x="14558970" y="8367098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497" name="Low density sequence slot 2"/>
          <p:cNvSpPr/>
          <p:nvPr/>
        </p:nvSpPr>
        <p:spPr>
          <a:xfrm>
            <a:off x="14845284" y="8375904"/>
            <a:ext cx="315468" cy="301752"/>
          </a:xfrm>
          <a:prstGeom prst="rect">
            <a:avLst/>
          </a:prstGeom>
          <a:solidFill>
            <a:srgbClr val="EEEEEE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8" name="Editable number 2"/>
          <p:cNvSpPr txBox="1"/>
          <p:nvPr/>
        </p:nvSpPr>
        <p:spPr>
          <a:xfrm>
            <a:off x="14874438" y="8367098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499" name="Low density sequence slot 3"/>
          <p:cNvSpPr/>
          <p:nvPr/>
        </p:nvSpPr>
        <p:spPr>
          <a:xfrm>
            <a:off x="15160752" y="8375904"/>
            <a:ext cx="315468" cy="301752"/>
          </a:xfrm>
          <a:prstGeom prst="rect">
            <a:avLst/>
          </a:prstGeom>
          <a:noFill/>
          <a:ln w="32004">
            <a:solidFill>
              <a:srgbClr val="000000"/>
            </a:solidFill>
            <a:custDash>
              <a:ds d="80000" sp="100000"/>
            </a:custDash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0" name="Low density sequence slot 4"/>
          <p:cNvSpPr/>
          <p:nvPr/>
        </p:nvSpPr>
        <p:spPr>
          <a:xfrm>
            <a:off x="15476220" y="8375904"/>
            <a:ext cx="315468" cy="301752"/>
          </a:xfrm>
          <a:prstGeom prst="rect">
            <a:avLst/>
          </a:prstGeom>
          <a:noFill/>
          <a:ln w="32004">
            <a:solidFill>
              <a:srgbClr val="000000"/>
            </a:solidFill>
            <a:custDash>
              <a:ds d="80000" sp="100000"/>
            </a:custDash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1" name="Low density sequence slot 5"/>
          <p:cNvSpPr/>
          <p:nvPr/>
        </p:nvSpPr>
        <p:spPr>
          <a:xfrm>
            <a:off x="15791688" y="8375904"/>
            <a:ext cx="315468" cy="301752"/>
          </a:xfrm>
          <a:prstGeom prst="rect">
            <a:avLst/>
          </a:prstGeom>
          <a:solidFill>
            <a:srgbClr val="FADDDD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2" name="Editable number 5"/>
          <p:cNvSpPr txBox="1"/>
          <p:nvPr/>
        </p:nvSpPr>
        <p:spPr>
          <a:xfrm>
            <a:off x="15820842" y="8367098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5</a:t>
            </a:r>
          </a:p>
        </p:txBody>
      </p:sp>
      <p:sp>
        <p:nvSpPr>
          <p:cNvPr id="503" name="Low density sequence slot 6"/>
          <p:cNvSpPr/>
          <p:nvPr/>
        </p:nvSpPr>
        <p:spPr>
          <a:xfrm>
            <a:off x="16107156" y="8375904"/>
            <a:ext cx="315468" cy="301752"/>
          </a:xfrm>
          <a:prstGeom prst="rect">
            <a:avLst/>
          </a:prstGeom>
          <a:solidFill>
            <a:srgbClr val="DBFAF7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4" name="Editable number 6"/>
          <p:cNvSpPr txBox="1"/>
          <p:nvPr/>
        </p:nvSpPr>
        <p:spPr>
          <a:xfrm>
            <a:off x="16136310" y="8367098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6</a:t>
            </a:r>
          </a:p>
        </p:txBody>
      </p:sp>
      <p:sp>
        <p:nvSpPr>
          <p:cNvPr id="505" name="Low density sequence slot 7"/>
          <p:cNvSpPr/>
          <p:nvPr/>
        </p:nvSpPr>
        <p:spPr>
          <a:xfrm>
            <a:off x="16422624" y="8375904"/>
            <a:ext cx="315468" cy="301752"/>
          </a:xfrm>
          <a:prstGeom prst="rect">
            <a:avLst/>
          </a:prstGeom>
          <a:solidFill>
            <a:srgbClr val="DBFAF7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6" name="Editable number 7"/>
          <p:cNvSpPr txBox="1"/>
          <p:nvPr/>
        </p:nvSpPr>
        <p:spPr>
          <a:xfrm>
            <a:off x="16451778" y="8367098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7</a:t>
            </a:r>
          </a:p>
        </p:txBody>
      </p:sp>
      <p:sp>
        <p:nvSpPr>
          <p:cNvPr id="507" name="Low density sequence slot 8"/>
          <p:cNvSpPr/>
          <p:nvPr/>
        </p:nvSpPr>
        <p:spPr>
          <a:xfrm>
            <a:off x="16738092" y="8375904"/>
            <a:ext cx="315468" cy="301752"/>
          </a:xfrm>
          <a:prstGeom prst="rect">
            <a:avLst/>
          </a:prstGeom>
          <a:noFill/>
          <a:ln w="32004">
            <a:solidFill>
              <a:srgbClr val="000000"/>
            </a:solidFill>
            <a:custDash>
              <a:ds d="80000" sp="100000"/>
            </a:custDash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8" name="Low density sequence slot 9"/>
          <p:cNvSpPr/>
          <p:nvPr/>
        </p:nvSpPr>
        <p:spPr>
          <a:xfrm>
            <a:off x="17053560" y="8375904"/>
            <a:ext cx="315468" cy="301752"/>
          </a:xfrm>
          <a:prstGeom prst="rect">
            <a:avLst/>
          </a:prstGeom>
          <a:solidFill>
            <a:srgbClr val="EAC5D2"/>
          </a:solidFill>
          <a:ln w="3200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9" name="Editable number 9"/>
          <p:cNvSpPr txBox="1"/>
          <p:nvPr/>
        </p:nvSpPr>
        <p:spPr>
          <a:xfrm>
            <a:off x="17082714" y="8367098"/>
            <a:ext cx="257161" cy="384505"/>
          </a:xfrm>
          <a:prstGeom prst="rect">
            <a:avLst/>
          </a:prstGeom>
          <a:noFill/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 dirty="0" kern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9</a:t>
            </a:r>
          </a:p>
        </p:txBody>
      </p:sp>
      <p:cxnSp>
        <p:nvCxnSpPr>
          <p:cNvPr id="510" name="Density sequences comparison"/>
          <p:cNvCxnSpPr/>
          <p:nvPr/>
        </p:nvCxnSpPr>
        <p:spPr>
          <a:xfrm>
            <a:off x="13990320" y="8540496"/>
            <a:ext cx="530352" cy="0"/>
          </a:xfrm>
          <a:prstGeom prst="line">
            <a:avLst/>
          </a:prstGeom>
          <a:ln w="25603">
            <a:solidFill>
              <a:srgbClr val="000000"/>
            </a:solidFill>
            <a:miter lim="800000"/>
          </a:ln>
          <a:effectLst/>
        </p:spPr>
      </p:cxnSp>
      <p:sp>
        <p:nvSpPr>
          <p:cNvPr id="511" name="Density sequences comparison end"/>
          <p:cNvSpPr/>
          <p:nvPr/>
        </p:nvSpPr>
        <p:spPr>
          <a:xfrm>
            <a:off x="14337792" y="8481060"/>
            <a:ext cx="182880" cy="118872"/>
          </a:xfrm>
          <a:custGeom>
            <a:avLst/>
            <a:gdLst/>
            <a:ahLst/>
            <a:cxnLst/>
            <a:rect l="0" t="0" r="r" b="b"/>
            <a:pathLst>
              <a:path w="20000" h="13000">
                <a:moveTo>
                  <a:pt x="20000" y="6500"/>
                </a:moveTo>
                <a:lnTo>
                  <a:pt x="0" y="13000"/>
                </a:lnTo>
                <a:lnTo>
                  <a:pt x="7000" y="6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2" name="Density sequences comparison start"/>
          <p:cNvSpPr/>
          <p:nvPr/>
        </p:nvSpPr>
        <p:spPr>
          <a:xfrm>
            <a:off x="13990320" y="8481060"/>
            <a:ext cx="182880" cy="118872"/>
          </a:xfrm>
          <a:custGeom>
            <a:avLst/>
            <a:gdLst/>
            <a:ahLst/>
            <a:cxnLst/>
            <a:rect l="0" t="0" r="r" b="b"/>
            <a:pathLst>
              <a:path w="20000" h="13000">
                <a:moveTo>
                  <a:pt x="0" y="6500"/>
                </a:moveTo>
                <a:lnTo>
                  <a:pt x="20000" y="0"/>
                </a:lnTo>
                <a:lnTo>
                  <a:pt x="13000" y="6500"/>
                </a:lnTo>
                <a:lnTo>
                  <a:pt x="20000" y="13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BeyondMix Leveraging Structural Priors and Long-Range Dependencies for Domain-Invariant LiDAR Segmenta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4184" cy="88788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BeyondMix — Editable Diagram Reconstruction</dc:title>
  <dc:subject>Domain-invariant LiDAR segmentation and additional structural priors</dc:subject>
  <dc:creator/>
  <cp:keywords>editable, BeyondMix, LiDAR, domain adaptation, structural priors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