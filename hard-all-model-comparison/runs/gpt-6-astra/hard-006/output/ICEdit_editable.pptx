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8173700" cy="102012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Reconstructed from the user-provided reference. All labels are editable text, and diagram elements are native PowerPoint vectors. Photographic examples and two noise textures are embedded raster crops. Canvas: 1908 × 1071. SVG and PPTX generated from one common coordinate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 / white background"/>
          <p:cNvSpPr/>
          <p:nvPr/>
        </p:nvSpPr>
        <p:spPr>
          <a:xfrm>
            <a:off x="0" y="0"/>
            <a:ext cx="18173700" cy="10201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anvas / panel divider"/>
          <p:cNvSpPr/>
          <p:nvPr/>
        </p:nvSpPr>
        <p:spPr>
          <a:xfrm>
            <a:off x="9591675" y="438150"/>
            <a:ext cx="476" cy="9324975"/>
          </a:xfrm>
          <a:custGeom>
            <a:avLst/>
            <a:gdLst/>
            <a:ahLst/>
            <a:cxnLst/>
            <a:rect l="0" t="0" r="r" b="b"/>
            <a:pathLst>
              <a:path w="50" h="979000">
                <a:moveTo>
                  <a:pt x="0" y="0"/>
                </a:moveTo>
                <a:lnTo>
                  <a:pt x="0" y="979000"/>
                </a:lnTo>
              </a:path>
            </a:pathLst>
          </a:custGeom>
          <a:noFill/>
          <a:ln w="20955" cap="flat">
            <a:solidFill>
              <a:srgbClr val="9BD6F4"/>
            </a:solidFill>
            <a:round/>
            <a:custDash>
              <a:ds d="1454545" sp="1454545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2I training-free framework / T2I frame"/>
          <p:cNvSpPr/>
          <p:nvPr/>
        </p:nvSpPr>
        <p:spPr>
          <a:xfrm>
            <a:off x="76200" y="190500"/>
            <a:ext cx="9048750" cy="5867400"/>
          </a:xfrm>
          <a:prstGeom prst="roundRect">
            <a:avLst>
              <a:gd name="adj" fmla="val 2435"/>
            </a:avLst>
          </a:prstGeom>
          <a:solidFill>
            <a:srgbClr val="FFFFFF"/>
          </a:solidFill>
          <a:ln w="21908" cap="flat">
            <a:solidFill>
              <a:srgbClr val="69B5E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2I training-free framework / T2I title background"/>
          <p:cNvSpPr/>
          <p:nvPr/>
        </p:nvSpPr>
        <p:spPr>
          <a:xfrm>
            <a:off x="2095500" y="200025"/>
            <a:ext cx="7019925" cy="457200"/>
          </a:xfrm>
          <a:prstGeom prst="roundRect">
            <a:avLst>
              <a:gd name="adj" fmla="val 27083"/>
            </a:avLst>
          </a:prstGeom>
          <a:solidFill>
            <a:srgbClr val="D3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2I training-free framework / T2I title"/>
          <p:cNvSpPr txBox="1"/>
          <p:nvPr/>
        </p:nvSpPr>
        <p:spPr>
          <a:xfrm>
            <a:off x="2190750" y="247650"/>
            <a:ext cx="68389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dirty="0" kern="1200">
                <a:solidFill>
                  <a:srgbClr val="328DD1"/>
                </a:solidFill>
                <a:latin typeface="Arial"/>
              </a:rPr>
              <a:t>In-context Editing Framework based on T2I DiT</a:t>
            </a:r>
          </a:p>
        </p:txBody>
      </p:sp>
      <p:pic>
        <p:nvPicPr>
          <p:cNvPr id="7" name="T2I training-free framework / source-man" descr="source-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704850"/>
            <a:ext cx="1295400" cy="1943100"/>
          </a:xfrm>
          <a:prstGeom prst="roundRect">
            <a:avLst>
              <a:gd name="adj" fmla="val 4412"/>
            </a:avLst>
          </a:prstGeom>
          <a:effectLst/>
        </p:spPr>
      </p:pic>
      <p:sp>
        <p:nvSpPr>
          <p:cNvPr id="8" name="T2I training-free framework / source-man frame"/>
          <p:cNvSpPr/>
          <p:nvPr/>
        </p:nvSpPr>
        <p:spPr>
          <a:xfrm>
            <a:off x="809625" y="704850"/>
            <a:ext cx="1295400" cy="1943100"/>
          </a:xfrm>
          <a:prstGeom prst="roundRect">
            <a:avLst>
              <a:gd name="adj" fmla="val 4411"/>
            </a:avLst>
          </a:prstGeom>
          <a:noFill/>
          <a:ln w="16192" cap="flat">
            <a:solidFill>
              <a:srgbClr val="62B7E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2I training-free framework / Source Image"/>
          <p:cNvSpPr txBox="1"/>
          <p:nvPr/>
        </p:nvSpPr>
        <p:spPr>
          <a:xfrm>
            <a:off x="485775" y="2667000"/>
            <a:ext cx="18288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dirty="0" kern="1200">
                <a:solidFill>
                  <a:srgbClr val="4D92D5"/>
                </a:solidFill>
                <a:latin typeface="Arial"/>
              </a:rPr>
              <a:t>Source Image</a:t>
            </a:r>
          </a:p>
        </p:txBody>
      </p:sp>
      <p:sp>
        <p:nvSpPr>
          <p:cNvPr id="10" name="T2I training-free framework / inversion T2I transformer"/>
          <p:cNvSpPr/>
          <p:nvPr/>
        </p:nvSpPr>
        <p:spPr>
          <a:xfrm>
            <a:off x="3228975" y="962025"/>
            <a:ext cx="3200400" cy="914400"/>
          </a:xfrm>
          <a:prstGeom prst="roundRect">
            <a:avLst>
              <a:gd name="adj" fmla="val 21875"/>
            </a:avLst>
          </a:prstGeom>
          <a:solidFill>
            <a:srgbClr val="CEEBF7"/>
          </a:solidFill>
          <a:ln w="17145" cap="flat">
            <a:solidFill>
              <a:srgbClr val="94BC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2I training-free framework / T2I Diffusion Transformer"/>
          <p:cNvSpPr txBox="1"/>
          <p:nvPr/>
        </p:nvSpPr>
        <p:spPr>
          <a:xfrm>
            <a:off x="3371850" y="1238250"/>
            <a:ext cx="29146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85" b="1" i="0" dirty="0" kern="1200">
                <a:solidFill>
                  <a:srgbClr val="4D92D5"/>
                </a:solidFill>
                <a:latin typeface="Arial"/>
              </a:rPr>
              <a:t>T2I Diffusion Transformer</a:t>
            </a:r>
          </a:p>
        </p:txBody>
      </p:sp>
      <p:sp>
        <p:nvSpPr>
          <p:cNvPr id="12" name="T2I training-free framework / connector"/>
          <p:cNvSpPr/>
          <p:nvPr/>
        </p:nvSpPr>
        <p:spPr>
          <a:xfrm>
            <a:off x="2314575" y="1419225"/>
            <a:ext cx="819150" cy="476"/>
          </a:xfrm>
          <a:custGeom>
            <a:avLst/>
            <a:gdLst/>
            <a:ahLst/>
            <a:cxnLst/>
            <a:rect l="0" t="0" r="r" b="b"/>
            <a:pathLst>
              <a:path w="86000" h="50">
                <a:moveTo>
                  <a:pt x="0" y="0"/>
                </a:moveTo>
                <a:lnTo>
                  <a:pt x="86000" y="0"/>
                </a:lnTo>
              </a:path>
            </a:pathLst>
          </a:custGeom>
          <a:noFill/>
          <a:ln w="15716" cap="flat">
            <a:solidFill>
              <a:srgbClr val="32A9E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2I training-free framework / connector arrowhead"/>
          <p:cNvSpPr/>
          <p:nvPr/>
        </p:nvSpPr>
        <p:spPr>
          <a:xfrm>
            <a:off x="3043380" y="1381220"/>
            <a:ext cx="90345" cy="76010"/>
          </a:xfrm>
          <a:custGeom>
            <a:avLst/>
            <a:gdLst/>
            <a:ahLst/>
            <a:cxnLst/>
            <a:rect l="0" t="0" r="r" b="b"/>
            <a:pathLst>
              <a:path w="9485" h="7980">
                <a:moveTo>
                  <a:pt x="9485" y="3990"/>
                </a:moveTo>
                <a:lnTo>
                  <a:pt x="0" y="7980"/>
                </a:lnTo>
                <a:lnTo>
                  <a:pt x="2656" y="3990"/>
                </a:lnTo>
                <a:lnTo>
                  <a:pt x="0" y="0"/>
                </a:lnTo>
                <a:close/>
              </a:path>
            </a:pathLst>
          </a:custGeom>
          <a:solidFill>
            <a:srgbClr val="32A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2I training-free framework / connector"/>
          <p:cNvSpPr/>
          <p:nvPr/>
        </p:nvSpPr>
        <p:spPr>
          <a:xfrm>
            <a:off x="6534150" y="1419225"/>
            <a:ext cx="685800" cy="476"/>
          </a:xfrm>
          <a:custGeom>
            <a:avLst/>
            <a:gdLst/>
            <a:ahLst/>
            <a:cxnLst/>
            <a:rect l="0" t="0" r="r" b="b"/>
            <a:pathLst>
              <a:path w="72000" h="50">
                <a:moveTo>
                  <a:pt x="0" y="0"/>
                </a:moveTo>
                <a:lnTo>
                  <a:pt x="72000" y="0"/>
                </a:lnTo>
              </a:path>
            </a:pathLst>
          </a:custGeom>
          <a:noFill/>
          <a:ln w="15716" cap="flat">
            <a:solidFill>
              <a:srgbClr val="32A9E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2I training-free framework / connector arrowhead"/>
          <p:cNvSpPr/>
          <p:nvPr/>
        </p:nvSpPr>
        <p:spPr>
          <a:xfrm>
            <a:off x="7129605" y="1381220"/>
            <a:ext cx="90345" cy="76010"/>
          </a:xfrm>
          <a:custGeom>
            <a:avLst/>
            <a:gdLst/>
            <a:ahLst/>
            <a:cxnLst/>
            <a:rect l="0" t="0" r="r" b="b"/>
            <a:pathLst>
              <a:path w="9485" h="7980">
                <a:moveTo>
                  <a:pt x="9485" y="3990"/>
                </a:moveTo>
                <a:lnTo>
                  <a:pt x="0" y="7980"/>
                </a:lnTo>
                <a:lnTo>
                  <a:pt x="2656" y="3990"/>
                </a:lnTo>
                <a:lnTo>
                  <a:pt x="0" y="0"/>
                </a:lnTo>
                <a:close/>
              </a:path>
            </a:pathLst>
          </a:custGeom>
          <a:solidFill>
            <a:srgbClr val="32A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2I training-free framework / inversion feedback"/>
          <p:cNvSpPr/>
          <p:nvPr/>
        </p:nvSpPr>
        <p:spPr>
          <a:xfrm>
            <a:off x="2914650" y="1543050"/>
            <a:ext cx="3810000" cy="895350"/>
          </a:xfrm>
          <a:custGeom>
            <a:avLst/>
            <a:gdLst/>
            <a:ahLst/>
            <a:cxnLst/>
            <a:rect l="0" t="0" r="r" b="b"/>
            <a:pathLst>
              <a:path w="400000" h="94000">
                <a:moveTo>
                  <a:pt x="400000" y="0"/>
                </a:moveTo>
                <a:lnTo>
                  <a:pt x="400000" y="94000"/>
                </a:lnTo>
                <a:lnTo>
                  <a:pt x="0" y="94000"/>
                </a:lnTo>
                <a:lnTo>
                  <a:pt x="0" y="1000"/>
                </a:lnTo>
              </a:path>
            </a:pathLst>
          </a:custGeom>
          <a:noFill/>
          <a:ln w="15716" cap="flat">
            <a:solidFill>
              <a:srgbClr val="32A9E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2I training-free framework / inversion feedback arrowhead"/>
          <p:cNvSpPr/>
          <p:nvPr/>
        </p:nvSpPr>
        <p:spPr>
          <a:xfrm>
            <a:off x="2876645" y="1552575"/>
            <a:ext cx="76010" cy="90345"/>
          </a:xfrm>
          <a:custGeom>
            <a:avLst/>
            <a:gdLst/>
            <a:ahLst/>
            <a:cxnLst/>
            <a:rect l="0" t="0" r="r" b="b"/>
            <a:pathLst>
              <a:path w="7980" h="9485">
                <a:moveTo>
                  <a:pt x="3990" y="0"/>
                </a:moveTo>
                <a:lnTo>
                  <a:pt x="7980" y="9485"/>
                </a:lnTo>
                <a:lnTo>
                  <a:pt x="3990" y="6829"/>
                </a:lnTo>
                <a:lnTo>
                  <a:pt x="0" y="9485"/>
                </a:lnTo>
                <a:close/>
              </a:path>
            </a:pathLst>
          </a:custGeom>
          <a:solidFill>
            <a:srgbClr val="32A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2I training-free framework / Inversion × N"/>
          <p:cNvSpPr txBox="1"/>
          <p:nvPr/>
        </p:nvSpPr>
        <p:spPr>
          <a:xfrm>
            <a:off x="3857625" y="2047875"/>
            <a:ext cx="196215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1" dirty="0" kern="1200">
                <a:solidFill>
                  <a:srgbClr val="4D92D5"/>
                </a:solidFill>
                <a:latin typeface="Times New Roman"/>
              </a:rPr>
              <a:t>Inversion × N</a:t>
            </a:r>
          </a:p>
        </p:txBody>
      </p:sp>
      <p:sp>
        <p:nvSpPr>
          <p:cNvPr id="19" name="T2I training-free framework / inverted noise output 1-1"/>
          <p:cNvSpPr/>
          <p:nvPr/>
        </p:nvSpPr>
        <p:spPr>
          <a:xfrm>
            <a:off x="7467600" y="1085850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2I training-free framework / connector"/>
          <p:cNvSpPr/>
          <p:nvPr/>
        </p:nvSpPr>
        <p:spPr>
          <a:xfrm>
            <a:off x="7486650" y="1104900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2I training-free framework / inverted noise output 1-2"/>
          <p:cNvSpPr/>
          <p:nvPr/>
        </p:nvSpPr>
        <p:spPr>
          <a:xfrm>
            <a:off x="7720012" y="1085850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2I training-free framework / connector"/>
          <p:cNvSpPr/>
          <p:nvPr/>
        </p:nvSpPr>
        <p:spPr>
          <a:xfrm>
            <a:off x="7739062" y="1104900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2I training-free framework / inverted noise output 1-3"/>
          <p:cNvSpPr/>
          <p:nvPr/>
        </p:nvSpPr>
        <p:spPr>
          <a:xfrm>
            <a:off x="7972425" y="1085850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2I training-free framework / connector"/>
          <p:cNvSpPr/>
          <p:nvPr/>
        </p:nvSpPr>
        <p:spPr>
          <a:xfrm>
            <a:off x="7991475" y="1104900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2I training-free framework / inverted noise output 2-1"/>
          <p:cNvSpPr/>
          <p:nvPr/>
        </p:nvSpPr>
        <p:spPr>
          <a:xfrm>
            <a:off x="7467600" y="1338262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2I training-free framework / connector"/>
          <p:cNvSpPr/>
          <p:nvPr/>
        </p:nvSpPr>
        <p:spPr>
          <a:xfrm>
            <a:off x="7486650" y="1357312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2I training-free framework / inverted noise output 2-2"/>
          <p:cNvSpPr/>
          <p:nvPr/>
        </p:nvSpPr>
        <p:spPr>
          <a:xfrm>
            <a:off x="7720012" y="1338262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2I training-free framework / connector"/>
          <p:cNvSpPr/>
          <p:nvPr/>
        </p:nvSpPr>
        <p:spPr>
          <a:xfrm>
            <a:off x="7739062" y="1357312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2I training-free framework / inverted noise output 2-3"/>
          <p:cNvSpPr/>
          <p:nvPr/>
        </p:nvSpPr>
        <p:spPr>
          <a:xfrm>
            <a:off x="7972425" y="1338262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2I training-free framework / connector"/>
          <p:cNvSpPr/>
          <p:nvPr/>
        </p:nvSpPr>
        <p:spPr>
          <a:xfrm>
            <a:off x="7991475" y="1357312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2I training-free framework / inverted noise output 3-1"/>
          <p:cNvSpPr/>
          <p:nvPr/>
        </p:nvSpPr>
        <p:spPr>
          <a:xfrm>
            <a:off x="7467600" y="1590675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2I training-free framework / connector"/>
          <p:cNvSpPr/>
          <p:nvPr/>
        </p:nvSpPr>
        <p:spPr>
          <a:xfrm>
            <a:off x="7486650" y="1609725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2I training-free framework / inverted noise output 3-2"/>
          <p:cNvSpPr/>
          <p:nvPr/>
        </p:nvSpPr>
        <p:spPr>
          <a:xfrm>
            <a:off x="7720012" y="1590675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2I training-free framework / connector"/>
          <p:cNvSpPr/>
          <p:nvPr/>
        </p:nvSpPr>
        <p:spPr>
          <a:xfrm>
            <a:off x="7739062" y="1609725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2I training-free framework / inverted noise output 3-3"/>
          <p:cNvSpPr/>
          <p:nvPr/>
        </p:nvSpPr>
        <p:spPr>
          <a:xfrm>
            <a:off x="7972425" y="1590675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2I training-free framework / connector"/>
          <p:cNvSpPr/>
          <p:nvPr/>
        </p:nvSpPr>
        <p:spPr>
          <a:xfrm>
            <a:off x="7991475" y="1609725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2I training-free framework / inverted noise output 4-1"/>
          <p:cNvSpPr/>
          <p:nvPr/>
        </p:nvSpPr>
        <p:spPr>
          <a:xfrm>
            <a:off x="7467600" y="1843088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2I training-free framework / connector"/>
          <p:cNvSpPr/>
          <p:nvPr/>
        </p:nvSpPr>
        <p:spPr>
          <a:xfrm>
            <a:off x="7486650" y="1862138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2I training-free framework / inverted noise output 4-2"/>
          <p:cNvSpPr/>
          <p:nvPr/>
        </p:nvSpPr>
        <p:spPr>
          <a:xfrm>
            <a:off x="7720012" y="1843088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2I training-free framework / connector"/>
          <p:cNvSpPr/>
          <p:nvPr/>
        </p:nvSpPr>
        <p:spPr>
          <a:xfrm>
            <a:off x="7739062" y="1862138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2I training-free framework / inverted noise output 4-3"/>
          <p:cNvSpPr/>
          <p:nvPr/>
        </p:nvSpPr>
        <p:spPr>
          <a:xfrm>
            <a:off x="7972425" y="1843088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2I training-free framework / connector"/>
          <p:cNvSpPr/>
          <p:nvPr/>
        </p:nvSpPr>
        <p:spPr>
          <a:xfrm>
            <a:off x="7991475" y="1862138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2I training-free framework / Inverted Noise"/>
          <p:cNvSpPr txBox="1"/>
          <p:nvPr/>
        </p:nvSpPr>
        <p:spPr>
          <a:xfrm>
            <a:off x="6953250" y="2114550"/>
            <a:ext cx="188595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dirty="0" kern="1200">
                <a:solidFill>
                  <a:srgbClr val="4D92D5"/>
                </a:solidFill>
                <a:latin typeface="Arial"/>
              </a:rPr>
              <a:t>Inverted Noise</a:t>
            </a:r>
          </a:p>
        </p:txBody>
      </p:sp>
      <p:sp>
        <p:nvSpPr>
          <p:cNvPr id="44" name="T2I training-free framework / Feature"/>
          <p:cNvSpPr txBox="1"/>
          <p:nvPr/>
        </p:nvSpPr>
        <p:spPr>
          <a:xfrm>
            <a:off x="3371850" y="2543175"/>
            <a:ext cx="1076325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dirty="0" kern="1200">
                <a:solidFill>
                  <a:srgbClr val="4D92D5"/>
                </a:solidFill>
                <a:latin typeface="Arial"/>
              </a:rPr>
              <a:t>Feature</a:t>
            </a:r>
          </a:p>
        </p:txBody>
      </p:sp>
      <p:sp>
        <p:nvSpPr>
          <p:cNvPr id="45" name="T2I training-free framework / Injection"/>
          <p:cNvSpPr txBox="1"/>
          <p:nvPr/>
        </p:nvSpPr>
        <p:spPr>
          <a:xfrm>
            <a:off x="3371850" y="2762250"/>
            <a:ext cx="1076325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dirty="0" kern="1200">
                <a:solidFill>
                  <a:srgbClr val="4D92D5"/>
                </a:solidFill>
                <a:latin typeface="Arial"/>
              </a:rPr>
              <a:t>Injection</a:t>
            </a:r>
          </a:p>
        </p:txBody>
      </p:sp>
      <p:sp>
        <p:nvSpPr>
          <p:cNvPr id="46" name="T2I training-free framework / feature injection arrow"/>
          <p:cNvSpPr/>
          <p:nvPr/>
        </p:nvSpPr>
        <p:spPr>
          <a:xfrm>
            <a:off x="4467225" y="2514600"/>
            <a:ext cx="257175" cy="533400"/>
          </a:xfrm>
          <a:custGeom>
            <a:avLst/>
            <a:gdLst/>
            <a:ahLst/>
            <a:cxnLst/>
            <a:rect l="0" t="0" r="r" b="b"/>
            <a:pathLst>
              <a:path w="27000" h="56000">
                <a:moveTo>
                  <a:pt x="7560" y="0"/>
                </a:moveTo>
                <a:lnTo>
                  <a:pt x="19440" y="0"/>
                </a:lnTo>
                <a:lnTo>
                  <a:pt x="19440" y="37520"/>
                </a:lnTo>
                <a:lnTo>
                  <a:pt x="27000" y="37520"/>
                </a:lnTo>
                <a:lnTo>
                  <a:pt x="13500" y="56000"/>
                </a:lnTo>
                <a:lnTo>
                  <a:pt x="0" y="37520"/>
                </a:lnTo>
                <a:lnTo>
                  <a:pt x="7560" y="3752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92BCE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2I training-free framework / injected features 1-1"/>
          <p:cNvSpPr/>
          <p:nvPr/>
        </p:nvSpPr>
        <p:spPr>
          <a:xfrm>
            <a:off x="4886325" y="25336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2I training-free framework / injected features 1-2"/>
          <p:cNvSpPr/>
          <p:nvPr/>
        </p:nvSpPr>
        <p:spPr>
          <a:xfrm>
            <a:off x="5010150" y="25336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2I training-free framework / injected features 1-3"/>
          <p:cNvSpPr/>
          <p:nvPr/>
        </p:nvSpPr>
        <p:spPr>
          <a:xfrm>
            <a:off x="5133975" y="25336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2I training-free framework / injected features 2-1"/>
          <p:cNvSpPr/>
          <p:nvPr/>
        </p:nvSpPr>
        <p:spPr>
          <a:xfrm>
            <a:off x="4886325" y="265747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2I training-free framework / injected features 2-2"/>
          <p:cNvSpPr/>
          <p:nvPr/>
        </p:nvSpPr>
        <p:spPr>
          <a:xfrm>
            <a:off x="5010150" y="265747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2I training-free framework / injected features 2-3"/>
          <p:cNvSpPr/>
          <p:nvPr/>
        </p:nvSpPr>
        <p:spPr>
          <a:xfrm>
            <a:off x="5133975" y="265747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2I training-free framework / injected features 3-1"/>
          <p:cNvSpPr/>
          <p:nvPr/>
        </p:nvSpPr>
        <p:spPr>
          <a:xfrm>
            <a:off x="4886325" y="278130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2I training-free framework / injected features 3-2"/>
          <p:cNvSpPr/>
          <p:nvPr/>
        </p:nvSpPr>
        <p:spPr>
          <a:xfrm>
            <a:off x="5010150" y="278130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2I training-free framework / injected features 3-3"/>
          <p:cNvSpPr/>
          <p:nvPr/>
        </p:nvSpPr>
        <p:spPr>
          <a:xfrm>
            <a:off x="5133975" y="278130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2I training-free framework / injected features 4-1"/>
          <p:cNvSpPr/>
          <p:nvPr/>
        </p:nvSpPr>
        <p:spPr>
          <a:xfrm>
            <a:off x="4886325" y="290512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2I training-free framework / injected features 4-2"/>
          <p:cNvSpPr/>
          <p:nvPr/>
        </p:nvSpPr>
        <p:spPr>
          <a:xfrm>
            <a:off x="5010150" y="290512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2I training-free framework / injected features 4-3"/>
          <p:cNvSpPr/>
          <p:nvPr/>
        </p:nvSpPr>
        <p:spPr>
          <a:xfrm>
            <a:off x="5133975" y="290512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2I training-free framework / connector"/>
          <p:cNvSpPr/>
          <p:nvPr/>
        </p:nvSpPr>
        <p:spPr>
          <a:xfrm>
            <a:off x="5305425" y="2781300"/>
            <a:ext cx="314325" cy="476"/>
          </a:xfrm>
          <a:custGeom>
            <a:avLst/>
            <a:gdLst/>
            <a:ahLst/>
            <a:cxnLst/>
            <a:rect l="0" t="0" r="r" b="b"/>
            <a:pathLst>
              <a:path w="33000" h="50">
                <a:moveTo>
                  <a:pt x="0" y="0"/>
                </a:moveTo>
                <a:lnTo>
                  <a:pt x="33000" y="0"/>
                </a:lnTo>
              </a:path>
            </a:pathLst>
          </a:custGeom>
          <a:noFill/>
          <a:ln w="13335" cap="flat">
            <a:solidFill>
              <a:srgbClr val="32A9E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2I training-free framework / connector arrowhead"/>
          <p:cNvSpPr/>
          <p:nvPr/>
        </p:nvSpPr>
        <p:spPr>
          <a:xfrm>
            <a:off x="5531548" y="2744724"/>
            <a:ext cx="88201" cy="73152"/>
          </a:xfrm>
          <a:custGeom>
            <a:avLst/>
            <a:gdLst/>
            <a:ahLst/>
            <a:cxnLst/>
            <a:rect l="0" t="0" r="r" b="b"/>
            <a:pathLst>
              <a:path w="9260" h="7680">
                <a:moveTo>
                  <a:pt x="9260" y="3840"/>
                </a:moveTo>
                <a:lnTo>
                  <a:pt x="0" y="7680"/>
                </a:lnTo>
                <a:lnTo>
                  <a:pt x="2593" y="3840"/>
                </a:lnTo>
                <a:lnTo>
                  <a:pt x="0" y="0"/>
                </a:lnTo>
                <a:close/>
              </a:path>
            </a:pathLst>
          </a:custGeom>
          <a:solidFill>
            <a:srgbClr val="32A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2I training-free framework / injected noise tokens 1-1"/>
          <p:cNvSpPr/>
          <p:nvPr/>
        </p:nvSpPr>
        <p:spPr>
          <a:xfrm>
            <a:off x="5695950" y="25336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2I training-free framework / injected noise tokens 1-2"/>
          <p:cNvSpPr/>
          <p:nvPr/>
        </p:nvSpPr>
        <p:spPr>
          <a:xfrm>
            <a:off x="5819775" y="25336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2I training-free framework / injected noise tokens 1-3"/>
          <p:cNvSpPr/>
          <p:nvPr/>
        </p:nvSpPr>
        <p:spPr>
          <a:xfrm>
            <a:off x="5943600" y="25336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2I training-free framework / injected noise tokens 2-1"/>
          <p:cNvSpPr/>
          <p:nvPr/>
        </p:nvSpPr>
        <p:spPr>
          <a:xfrm>
            <a:off x="5695950" y="265747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2I training-free framework / injected noise tokens 2-2"/>
          <p:cNvSpPr/>
          <p:nvPr/>
        </p:nvSpPr>
        <p:spPr>
          <a:xfrm>
            <a:off x="5819775" y="265747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2I training-free framework / injected noise tokens 2-3"/>
          <p:cNvSpPr/>
          <p:nvPr/>
        </p:nvSpPr>
        <p:spPr>
          <a:xfrm>
            <a:off x="5943600" y="265747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2I training-free framework / injected noise tokens 3-1"/>
          <p:cNvSpPr/>
          <p:nvPr/>
        </p:nvSpPr>
        <p:spPr>
          <a:xfrm>
            <a:off x="5695950" y="278130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2I training-free framework / injected noise tokens 3-2"/>
          <p:cNvSpPr/>
          <p:nvPr/>
        </p:nvSpPr>
        <p:spPr>
          <a:xfrm>
            <a:off x="5819775" y="278130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2I training-free framework / injected noise tokens 3-3"/>
          <p:cNvSpPr/>
          <p:nvPr/>
        </p:nvSpPr>
        <p:spPr>
          <a:xfrm>
            <a:off x="5943600" y="278130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2I training-free framework / injected noise tokens 4-1"/>
          <p:cNvSpPr/>
          <p:nvPr/>
        </p:nvSpPr>
        <p:spPr>
          <a:xfrm>
            <a:off x="5695950" y="290512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2I training-free framework / injected noise tokens 4-2"/>
          <p:cNvSpPr/>
          <p:nvPr/>
        </p:nvSpPr>
        <p:spPr>
          <a:xfrm>
            <a:off x="5819775" y="290512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2I training-free framework / injected noise tokens 4-3"/>
          <p:cNvSpPr/>
          <p:nvPr/>
        </p:nvSpPr>
        <p:spPr>
          <a:xfrm>
            <a:off x="5943600" y="290512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CDECFA"/>
          </a:solidFill>
          <a:ln w="10954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2I training-free framework / injected token outline"/>
          <p:cNvSpPr/>
          <p:nvPr/>
        </p:nvSpPr>
        <p:spPr>
          <a:xfrm>
            <a:off x="5657850" y="2505075"/>
            <a:ext cx="438150" cy="542925"/>
          </a:xfrm>
          <a:prstGeom prst="roundRect">
            <a:avLst>
              <a:gd name="adj" fmla="val 8695"/>
            </a:avLst>
          </a:prstGeom>
          <a:noFill/>
          <a:ln w="14288" cap="flat">
            <a:solidFill>
              <a:srgbClr val="FF6B6F"/>
            </a:solidFill>
            <a:round/>
            <a:custDash>
              <a:ds d="133333" sp="1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2I training-free framework / random feature tokens 1-1"/>
          <p:cNvSpPr/>
          <p:nvPr/>
        </p:nvSpPr>
        <p:spPr>
          <a:xfrm>
            <a:off x="6134100" y="25336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8E8CA"/>
          </a:solidFill>
          <a:ln w="10954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2I training-free framework / random feature tokens 1-2"/>
          <p:cNvSpPr/>
          <p:nvPr/>
        </p:nvSpPr>
        <p:spPr>
          <a:xfrm>
            <a:off x="6257925" y="25336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8E8CA"/>
          </a:solidFill>
          <a:ln w="10954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2I training-free framework / random feature tokens 1-3"/>
          <p:cNvSpPr/>
          <p:nvPr/>
        </p:nvSpPr>
        <p:spPr>
          <a:xfrm>
            <a:off x="6381750" y="253365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8E8CA"/>
          </a:solidFill>
          <a:ln w="10954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2I training-free framework / random feature tokens 2-1"/>
          <p:cNvSpPr/>
          <p:nvPr/>
        </p:nvSpPr>
        <p:spPr>
          <a:xfrm>
            <a:off x="6134100" y="265747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8E8CA"/>
          </a:solidFill>
          <a:ln w="10954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2I training-free framework / random feature tokens 2-2"/>
          <p:cNvSpPr/>
          <p:nvPr/>
        </p:nvSpPr>
        <p:spPr>
          <a:xfrm>
            <a:off x="6257925" y="265747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8E8CA"/>
          </a:solidFill>
          <a:ln w="10954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2I training-free framework / random feature tokens 2-3"/>
          <p:cNvSpPr/>
          <p:nvPr/>
        </p:nvSpPr>
        <p:spPr>
          <a:xfrm>
            <a:off x="6381750" y="265747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8E8CA"/>
          </a:solidFill>
          <a:ln w="10954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2I training-free framework / random feature tokens 3-1"/>
          <p:cNvSpPr/>
          <p:nvPr/>
        </p:nvSpPr>
        <p:spPr>
          <a:xfrm>
            <a:off x="6134100" y="278130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8E8CA"/>
          </a:solidFill>
          <a:ln w="10954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2I training-free framework / random feature tokens 3-2"/>
          <p:cNvSpPr/>
          <p:nvPr/>
        </p:nvSpPr>
        <p:spPr>
          <a:xfrm>
            <a:off x="6257925" y="278130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8E8CA"/>
          </a:solidFill>
          <a:ln w="10954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2I training-free framework / random feature tokens 3-3"/>
          <p:cNvSpPr/>
          <p:nvPr/>
        </p:nvSpPr>
        <p:spPr>
          <a:xfrm>
            <a:off x="6381750" y="2781300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8E8CA"/>
          </a:solidFill>
          <a:ln w="10954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2I training-free framework / random feature tokens 4-1"/>
          <p:cNvSpPr/>
          <p:nvPr/>
        </p:nvSpPr>
        <p:spPr>
          <a:xfrm>
            <a:off x="6134100" y="290512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8E8CA"/>
          </a:solidFill>
          <a:ln w="10954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2I training-free framework / random feature tokens 4-2"/>
          <p:cNvSpPr/>
          <p:nvPr/>
        </p:nvSpPr>
        <p:spPr>
          <a:xfrm>
            <a:off x="6257925" y="290512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8E8CA"/>
          </a:solidFill>
          <a:ln w="10954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2I training-free framework / random feature tokens 4-3"/>
          <p:cNvSpPr/>
          <p:nvPr/>
        </p:nvSpPr>
        <p:spPr>
          <a:xfrm>
            <a:off x="6381750" y="2905125"/>
            <a:ext cx="104775" cy="104775"/>
          </a:xfrm>
          <a:prstGeom prst="roundRect">
            <a:avLst>
              <a:gd name="adj" fmla="val 18181"/>
            </a:avLst>
          </a:prstGeom>
          <a:solidFill>
            <a:srgbClr val="F8E8CA"/>
          </a:solidFill>
          <a:ln w="10954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2I training-free framework / connector"/>
          <p:cNvSpPr/>
          <p:nvPr/>
        </p:nvSpPr>
        <p:spPr>
          <a:xfrm>
            <a:off x="6105525" y="2543175"/>
            <a:ext cx="476" cy="476250"/>
          </a:xfrm>
          <a:custGeom>
            <a:avLst/>
            <a:gdLst/>
            <a:ahLst/>
            <a:cxnLst/>
            <a:rect l="0" t="0" r="r" b="b"/>
            <a:pathLst>
              <a:path w="50" h="50000">
                <a:moveTo>
                  <a:pt x="0" y="0"/>
                </a:moveTo>
                <a:lnTo>
                  <a:pt x="0" y="50000"/>
                </a:lnTo>
              </a:path>
            </a:pathLst>
          </a:custGeom>
          <a:noFill/>
          <a:ln w="10478" cap="flat">
            <a:solidFill>
              <a:srgbClr val="FFC575"/>
            </a:solidFill>
            <a:round/>
            <a:custDash>
              <a:ds d="181818" sp="181818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2I training-free framework / denoising feedback"/>
          <p:cNvSpPr/>
          <p:nvPr/>
        </p:nvSpPr>
        <p:spPr>
          <a:xfrm>
            <a:off x="2943225" y="3124200"/>
            <a:ext cx="3810000" cy="781050"/>
          </a:xfrm>
          <a:custGeom>
            <a:avLst/>
            <a:gdLst/>
            <a:ahLst/>
            <a:cxnLst/>
            <a:rect l="0" t="0" r="r" b="b"/>
            <a:pathLst>
              <a:path w="400000" h="82000">
                <a:moveTo>
                  <a:pt x="400000" y="82000"/>
                </a:moveTo>
                <a:lnTo>
                  <a:pt x="400000" y="0"/>
                </a:lnTo>
                <a:lnTo>
                  <a:pt x="0" y="0"/>
                </a:lnTo>
                <a:lnTo>
                  <a:pt x="0" y="77000"/>
                </a:lnTo>
              </a:path>
            </a:pathLst>
          </a:custGeom>
          <a:noFill/>
          <a:ln w="15716" cap="flat">
            <a:solidFill>
              <a:srgbClr val="32A9E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2I training-free framework / denoising feedback arrowhead"/>
          <p:cNvSpPr/>
          <p:nvPr/>
        </p:nvSpPr>
        <p:spPr>
          <a:xfrm>
            <a:off x="2905220" y="3767280"/>
            <a:ext cx="76010" cy="90345"/>
          </a:xfrm>
          <a:custGeom>
            <a:avLst/>
            <a:gdLst/>
            <a:ahLst/>
            <a:cxnLst/>
            <a:rect l="0" t="0" r="r" b="b"/>
            <a:pathLst>
              <a:path w="7980" h="9485">
                <a:moveTo>
                  <a:pt x="3990" y="9485"/>
                </a:moveTo>
                <a:lnTo>
                  <a:pt x="0" y="0"/>
                </a:lnTo>
                <a:lnTo>
                  <a:pt x="3990" y="2656"/>
                </a:lnTo>
                <a:lnTo>
                  <a:pt x="7980" y="0"/>
                </a:lnTo>
                <a:close/>
              </a:path>
            </a:pathLst>
          </a:custGeom>
          <a:solidFill>
            <a:srgbClr val="32A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2I training-free framework / Denoising × N"/>
          <p:cNvSpPr txBox="1"/>
          <p:nvPr/>
        </p:nvSpPr>
        <p:spPr>
          <a:xfrm>
            <a:off x="3876675" y="3171825"/>
            <a:ext cx="2028825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1" dirty="0" kern="1200">
                <a:solidFill>
                  <a:srgbClr val="4D92D5"/>
                </a:solidFill>
                <a:latin typeface="Times New Roman"/>
              </a:rPr>
              <a:t>Denoising × N</a:t>
            </a:r>
          </a:p>
        </p:txBody>
      </p:sp>
      <p:sp>
        <p:nvSpPr>
          <p:cNvPr id="90" name="T2I training-free framework / inverted input noise 1-1"/>
          <p:cNvSpPr/>
          <p:nvPr/>
        </p:nvSpPr>
        <p:spPr>
          <a:xfrm>
            <a:off x="342900" y="3295650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2I training-free framework / connector"/>
          <p:cNvSpPr/>
          <p:nvPr/>
        </p:nvSpPr>
        <p:spPr>
          <a:xfrm>
            <a:off x="361950" y="3314700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2I training-free framework / inverted input noise 1-2"/>
          <p:cNvSpPr/>
          <p:nvPr/>
        </p:nvSpPr>
        <p:spPr>
          <a:xfrm>
            <a:off x="595312" y="3295650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2I training-free framework / connector"/>
          <p:cNvSpPr/>
          <p:nvPr/>
        </p:nvSpPr>
        <p:spPr>
          <a:xfrm>
            <a:off x="614362" y="3314700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2I training-free framework / inverted input noise 1-3"/>
          <p:cNvSpPr/>
          <p:nvPr/>
        </p:nvSpPr>
        <p:spPr>
          <a:xfrm>
            <a:off x="847725" y="3295650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2I training-free framework / connector"/>
          <p:cNvSpPr/>
          <p:nvPr/>
        </p:nvSpPr>
        <p:spPr>
          <a:xfrm>
            <a:off x="866775" y="3314700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2I training-free framework / inverted input noise 2-1"/>
          <p:cNvSpPr/>
          <p:nvPr/>
        </p:nvSpPr>
        <p:spPr>
          <a:xfrm>
            <a:off x="342900" y="3548062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2I training-free framework / connector"/>
          <p:cNvSpPr/>
          <p:nvPr/>
        </p:nvSpPr>
        <p:spPr>
          <a:xfrm>
            <a:off x="361950" y="3567112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2I training-free framework / inverted input noise 2-2"/>
          <p:cNvSpPr/>
          <p:nvPr/>
        </p:nvSpPr>
        <p:spPr>
          <a:xfrm>
            <a:off x="595312" y="3548062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2I training-free framework / connector"/>
          <p:cNvSpPr/>
          <p:nvPr/>
        </p:nvSpPr>
        <p:spPr>
          <a:xfrm>
            <a:off x="614362" y="3567112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2I training-free framework / inverted input noise 2-3"/>
          <p:cNvSpPr/>
          <p:nvPr/>
        </p:nvSpPr>
        <p:spPr>
          <a:xfrm>
            <a:off x="847725" y="3548062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2I training-free framework / connector"/>
          <p:cNvSpPr/>
          <p:nvPr/>
        </p:nvSpPr>
        <p:spPr>
          <a:xfrm>
            <a:off x="866775" y="3567112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2I training-free framework / inverted input noise 3-1"/>
          <p:cNvSpPr/>
          <p:nvPr/>
        </p:nvSpPr>
        <p:spPr>
          <a:xfrm>
            <a:off x="342900" y="3800475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2I training-free framework / connector"/>
          <p:cNvSpPr/>
          <p:nvPr/>
        </p:nvSpPr>
        <p:spPr>
          <a:xfrm>
            <a:off x="361950" y="3819525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2I training-free framework / inverted input noise 3-2"/>
          <p:cNvSpPr/>
          <p:nvPr/>
        </p:nvSpPr>
        <p:spPr>
          <a:xfrm>
            <a:off x="595312" y="3800475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2I training-free framework / connector"/>
          <p:cNvSpPr/>
          <p:nvPr/>
        </p:nvSpPr>
        <p:spPr>
          <a:xfrm>
            <a:off x="614362" y="3819525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2I training-free framework / inverted input noise 3-3"/>
          <p:cNvSpPr/>
          <p:nvPr/>
        </p:nvSpPr>
        <p:spPr>
          <a:xfrm>
            <a:off x="847725" y="3800475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2I training-free framework / connector"/>
          <p:cNvSpPr/>
          <p:nvPr/>
        </p:nvSpPr>
        <p:spPr>
          <a:xfrm>
            <a:off x="866775" y="3819525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2I training-free framework / inverted input noise 4-1"/>
          <p:cNvSpPr/>
          <p:nvPr/>
        </p:nvSpPr>
        <p:spPr>
          <a:xfrm>
            <a:off x="342900" y="4052888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2I training-free framework / connector"/>
          <p:cNvSpPr/>
          <p:nvPr/>
        </p:nvSpPr>
        <p:spPr>
          <a:xfrm>
            <a:off x="361950" y="4071938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2I training-free framework / inverted input noise 4-2"/>
          <p:cNvSpPr/>
          <p:nvPr/>
        </p:nvSpPr>
        <p:spPr>
          <a:xfrm>
            <a:off x="595312" y="4052888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2I training-free framework / connector"/>
          <p:cNvSpPr/>
          <p:nvPr/>
        </p:nvSpPr>
        <p:spPr>
          <a:xfrm>
            <a:off x="614362" y="4071938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2I training-free framework / inverted input noise 4-3"/>
          <p:cNvSpPr/>
          <p:nvPr/>
        </p:nvSpPr>
        <p:spPr>
          <a:xfrm>
            <a:off x="847725" y="4052888"/>
            <a:ext cx="219075" cy="219075"/>
          </a:xfrm>
          <a:prstGeom prst="roundRect">
            <a:avLst>
              <a:gd name="adj" fmla="val 8695"/>
            </a:avLst>
          </a:prstGeom>
          <a:solidFill>
            <a:srgbClr val="CDECFA"/>
          </a:solidFill>
          <a:ln w="14288" cap="flat">
            <a:solidFill>
              <a:srgbClr val="91B9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2I training-free framework / connector"/>
          <p:cNvSpPr/>
          <p:nvPr/>
        </p:nvSpPr>
        <p:spPr>
          <a:xfrm>
            <a:off x="866775" y="4071938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EF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2I training-free framework / random input noise 1-1"/>
          <p:cNvSpPr/>
          <p:nvPr/>
        </p:nvSpPr>
        <p:spPr>
          <a:xfrm>
            <a:off x="1676400" y="3295650"/>
            <a:ext cx="219075" cy="219075"/>
          </a:xfrm>
          <a:prstGeom prst="roundRect">
            <a:avLst>
              <a:gd name="adj" fmla="val 8695"/>
            </a:avLst>
          </a:prstGeom>
          <a:solidFill>
            <a:srgbClr val="F8E8CA"/>
          </a:solidFill>
          <a:ln w="14288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2I training-free framework / connector"/>
          <p:cNvSpPr/>
          <p:nvPr/>
        </p:nvSpPr>
        <p:spPr>
          <a:xfrm>
            <a:off x="1695450" y="3314700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FFF3E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2I training-free framework / random input noise 1-2"/>
          <p:cNvSpPr/>
          <p:nvPr/>
        </p:nvSpPr>
        <p:spPr>
          <a:xfrm>
            <a:off x="1928812" y="3295650"/>
            <a:ext cx="219075" cy="219075"/>
          </a:xfrm>
          <a:prstGeom prst="roundRect">
            <a:avLst>
              <a:gd name="adj" fmla="val 8695"/>
            </a:avLst>
          </a:prstGeom>
          <a:solidFill>
            <a:srgbClr val="F8E8CA"/>
          </a:solidFill>
          <a:ln w="14288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2I training-free framework / connector"/>
          <p:cNvSpPr/>
          <p:nvPr/>
        </p:nvSpPr>
        <p:spPr>
          <a:xfrm>
            <a:off x="1947862" y="3314700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FFF3E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2I training-free framework / random input noise 1-3"/>
          <p:cNvSpPr/>
          <p:nvPr/>
        </p:nvSpPr>
        <p:spPr>
          <a:xfrm>
            <a:off x="2181225" y="3295650"/>
            <a:ext cx="219075" cy="219075"/>
          </a:xfrm>
          <a:prstGeom prst="roundRect">
            <a:avLst>
              <a:gd name="adj" fmla="val 8695"/>
            </a:avLst>
          </a:prstGeom>
          <a:solidFill>
            <a:srgbClr val="F8E8CA"/>
          </a:solidFill>
          <a:ln w="14288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2I training-free framework / connector"/>
          <p:cNvSpPr/>
          <p:nvPr/>
        </p:nvSpPr>
        <p:spPr>
          <a:xfrm>
            <a:off x="2200275" y="3314700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FFF3E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2I training-free framework / random input noise 2-1"/>
          <p:cNvSpPr/>
          <p:nvPr/>
        </p:nvSpPr>
        <p:spPr>
          <a:xfrm>
            <a:off x="1676400" y="3548062"/>
            <a:ext cx="219075" cy="219075"/>
          </a:xfrm>
          <a:prstGeom prst="roundRect">
            <a:avLst>
              <a:gd name="adj" fmla="val 8695"/>
            </a:avLst>
          </a:prstGeom>
          <a:solidFill>
            <a:srgbClr val="F8E8CA"/>
          </a:solidFill>
          <a:ln w="14288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2I training-free framework / connector"/>
          <p:cNvSpPr/>
          <p:nvPr/>
        </p:nvSpPr>
        <p:spPr>
          <a:xfrm>
            <a:off x="1695450" y="3567112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FFF3E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2I training-free framework / random input noise 2-2"/>
          <p:cNvSpPr/>
          <p:nvPr/>
        </p:nvSpPr>
        <p:spPr>
          <a:xfrm>
            <a:off x="1928812" y="3548062"/>
            <a:ext cx="219075" cy="219075"/>
          </a:xfrm>
          <a:prstGeom prst="roundRect">
            <a:avLst>
              <a:gd name="adj" fmla="val 8695"/>
            </a:avLst>
          </a:prstGeom>
          <a:solidFill>
            <a:srgbClr val="F8E8CA"/>
          </a:solidFill>
          <a:ln w="14288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2I training-free framework / connector"/>
          <p:cNvSpPr/>
          <p:nvPr/>
        </p:nvSpPr>
        <p:spPr>
          <a:xfrm>
            <a:off x="1947862" y="3567112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FFF3E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2I training-free framework / random input noise 2-3"/>
          <p:cNvSpPr/>
          <p:nvPr/>
        </p:nvSpPr>
        <p:spPr>
          <a:xfrm>
            <a:off x="2181225" y="3548062"/>
            <a:ext cx="219075" cy="219075"/>
          </a:xfrm>
          <a:prstGeom prst="roundRect">
            <a:avLst>
              <a:gd name="adj" fmla="val 8695"/>
            </a:avLst>
          </a:prstGeom>
          <a:solidFill>
            <a:srgbClr val="F8E8CA"/>
          </a:solidFill>
          <a:ln w="14288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2I training-free framework / connector"/>
          <p:cNvSpPr/>
          <p:nvPr/>
        </p:nvSpPr>
        <p:spPr>
          <a:xfrm>
            <a:off x="2200275" y="3567112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FFF3E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2I training-free framework / random input noise 3-1"/>
          <p:cNvSpPr/>
          <p:nvPr/>
        </p:nvSpPr>
        <p:spPr>
          <a:xfrm>
            <a:off x="1676400" y="3800475"/>
            <a:ext cx="219075" cy="219075"/>
          </a:xfrm>
          <a:prstGeom prst="roundRect">
            <a:avLst>
              <a:gd name="adj" fmla="val 8695"/>
            </a:avLst>
          </a:prstGeom>
          <a:solidFill>
            <a:srgbClr val="F8E8CA"/>
          </a:solidFill>
          <a:ln w="14288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2I training-free framework / connector"/>
          <p:cNvSpPr/>
          <p:nvPr/>
        </p:nvSpPr>
        <p:spPr>
          <a:xfrm>
            <a:off x="1695450" y="3819525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FFF3E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2I training-free framework / random input noise 3-2"/>
          <p:cNvSpPr/>
          <p:nvPr/>
        </p:nvSpPr>
        <p:spPr>
          <a:xfrm>
            <a:off x="1928812" y="3800475"/>
            <a:ext cx="219075" cy="219075"/>
          </a:xfrm>
          <a:prstGeom prst="roundRect">
            <a:avLst>
              <a:gd name="adj" fmla="val 8695"/>
            </a:avLst>
          </a:prstGeom>
          <a:solidFill>
            <a:srgbClr val="F8E8CA"/>
          </a:solidFill>
          <a:ln w="14288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2I training-free framework / connector"/>
          <p:cNvSpPr/>
          <p:nvPr/>
        </p:nvSpPr>
        <p:spPr>
          <a:xfrm>
            <a:off x="1947862" y="3819525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FFF3E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2I training-free framework / random input noise 3-3"/>
          <p:cNvSpPr/>
          <p:nvPr/>
        </p:nvSpPr>
        <p:spPr>
          <a:xfrm>
            <a:off x="2181225" y="3800475"/>
            <a:ext cx="219075" cy="219075"/>
          </a:xfrm>
          <a:prstGeom prst="roundRect">
            <a:avLst>
              <a:gd name="adj" fmla="val 8695"/>
            </a:avLst>
          </a:prstGeom>
          <a:solidFill>
            <a:srgbClr val="F8E8CA"/>
          </a:solidFill>
          <a:ln w="14288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2I training-free framework / connector"/>
          <p:cNvSpPr/>
          <p:nvPr/>
        </p:nvSpPr>
        <p:spPr>
          <a:xfrm>
            <a:off x="2200275" y="3819525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FFF3E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2I training-free framework / random input noise 4-1"/>
          <p:cNvSpPr/>
          <p:nvPr/>
        </p:nvSpPr>
        <p:spPr>
          <a:xfrm>
            <a:off x="1676400" y="4052888"/>
            <a:ext cx="219075" cy="219075"/>
          </a:xfrm>
          <a:prstGeom prst="roundRect">
            <a:avLst>
              <a:gd name="adj" fmla="val 8695"/>
            </a:avLst>
          </a:prstGeom>
          <a:solidFill>
            <a:srgbClr val="F8E8CA"/>
          </a:solidFill>
          <a:ln w="14288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2I training-free framework / connector"/>
          <p:cNvSpPr/>
          <p:nvPr/>
        </p:nvSpPr>
        <p:spPr>
          <a:xfrm>
            <a:off x="1695450" y="4071938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FFF3E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2I training-free framework / random input noise 4-2"/>
          <p:cNvSpPr/>
          <p:nvPr/>
        </p:nvSpPr>
        <p:spPr>
          <a:xfrm>
            <a:off x="1928812" y="4052888"/>
            <a:ext cx="219075" cy="219075"/>
          </a:xfrm>
          <a:prstGeom prst="roundRect">
            <a:avLst>
              <a:gd name="adj" fmla="val 8695"/>
            </a:avLst>
          </a:prstGeom>
          <a:solidFill>
            <a:srgbClr val="F8E8CA"/>
          </a:solidFill>
          <a:ln w="14288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2I training-free framework / connector"/>
          <p:cNvSpPr/>
          <p:nvPr/>
        </p:nvSpPr>
        <p:spPr>
          <a:xfrm>
            <a:off x="1947862" y="4071938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FFF3E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2I training-free framework / random input noise 4-3"/>
          <p:cNvSpPr/>
          <p:nvPr/>
        </p:nvSpPr>
        <p:spPr>
          <a:xfrm>
            <a:off x="2181225" y="4052888"/>
            <a:ext cx="219075" cy="219075"/>
          </a:xfrm>
          <a:prstGeom prst="roundRect">
            <a:avLst>
              <a:gd name="adj" fmla="val 8695"/>
            </a:avLst>
          </a:prstGeom>
          <a:solidFill>
            <a:srgbClr val="F8E8CA"/>
          </a:solidFill>
          <a:ln w="14288" cap="flat">
            <a:solidFill>
              <a:srgbClr val="FFC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2I training-free framework / connector"/>
          <p:cNvSpPr/>
          <p:nvPr/>
        </p:nvSpPr>
        <p:spPr>
          <a:xfrm>
            <a:off x="2200275" y="4071938"/>
            <a:ext cx="180975" cy="180975"/>
          </a:xfrm>
          <a:custGeom>
            <a:avLst/>
            <a:gdLst/>
            <a:ahLst/>
            <a:cxnLst/>
            <a:rect l="0" t="0" r="r" b="b"/>
            <a:pathLst>
              <a:path w="19000" h="19000">
                <a:moveTo>
                  <a:pt x="0" y="19000"/>
                </a:moveTo>
                <a:lnTo>
                  <a:pt x="19000" y="19000"/>
                </a:lnTo>
                <a:lnTo>
                  <a:pt x="19000" y="0"/>
                </a:lnTo>
              </a:path>
            </a:pathLst>
          </a:custGeom>
          <a:noFill/>
          <a:ln w="5715" cap="flat">
            <a:solidFill>
              <a:srgbClr val="FFF3E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2I training-free framework / +"/>
          <p:cNvSpPr txBox="1"/>
          <p:nvPr/>
        </p:nvSpPr>
        <p:spPr>
          <a:xfrm>
            <a:off x="1219200" y="3638550"/>
            <a:ext cx="2571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75" b="1" i="0" dirty="0" kern="1200">
                <a:solidFill>
                  <a:srgbClr val="80C4E8"/>
                </a:solidFill>
                <a:latin typeface="Arial"/>
              </a:rPr>
              <a:t>+</a:t>
            </a:r>
          </a:p>
        </p:txBody>
      </p:sp>
      <p:sp>
        <p:nvSpPr>
          <p:cNvPr id="139" name="T2I training-free framework / concat"/>
          <p:cNvSpPr txBox="1"/>
          <p:nvPr/>
        </p:nvSpPr>
        <p:spPr>
          <a:xfrm>
            <a:off x="1066800" y="3857625"/>
            <a:ext cx="581025" cy="219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1" i="0" dirty="0" kern="1200">
                <a:solidFill>
                  <a:srgbClr val="4D92D5"/>
                </a:solidFill>
                <a:latin typeface="Arial"/>
              </a:rPr>
              <a:t>concat</a:t>
            </a:r>
          </a:p>
        </p:txBody>
      </p:sp>
      <p:sp>
        <p:nvSpPr>
          <p:cNvPr id="140" name="T2I training-free framework / Inverted"/>
          <p:cNvSpPr txBox="1"/>
          <p:nvPr/>
        </p:nvSpPr>
        <p:spPr>
          <a:xfrm>
            <a:off x="123825" y="4276725"/>
            <a:ext cx="112395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dirty="0" kern="1200">
                <a:solidFill>
                  <a:srgbClr val="4D92D5"/>
                </a:solidFill>
                <a:latin typeface="Arial"/>
              </a:rPr>
              <a:t>Inverted</a:t>
            </a:r>
          </a:p>
        </p:txBody>
      </p:sp>
      <p:sp>
        <p:nvSpPr>
          <p:cNvPr id="141" name="T2I training-free framework / Noise"/>
          <p:cNvSpPr txBox="1"/>
          <p:nvPr/>
        </p:nvSpPr>
        <p:spPr>
          <a:xfrm>
            <a:off x="209550" y="4495800"/>
            <a:ext cx="942975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dirty="0" kern="1200">
                <a:solidFill>
                  <a:srgbClr val="4D92D5"/>
                </a:solidFill>
                <a:latin typeface="Arial"/>
              </a:rPr>
              <a:t>Noise</a:t>
            </a:r>
          </a:p>
        </p:txBody>
      </p:sp>
      <p:sp>
        <p:nvSpPr>
          <p:cNvPr id="142" name="T2I training-free framework / Random"/>
          <p:cNvSpPr txBox="1"/>
          <p:nvPr/>
        </p:nvSpPr>
        <p:spPr>
          <a:xfrm>
            <a:off x="1524000" y="4276725"/>
            <a:ext cx="1114425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dirty="0" kern="1200">
                <a:solidFill>
                  <a:srgbClr val="FFA14E"/>
                </a:solidFill>
                <a:latin typeface="Arial"/>
              </a:rPr>
              <a:t>Random</a:t>
            </a:r>
          </a:p>
        </p:txBody>
      </p:sp>
      <p:sp>
        <p:nvSpPr>
          <p:cNvPr id="143" name="T2I training-free framework / Noise"/>
          <p:cNvSpPr txBox="1"/>
          <p:nvPr/>
        </p:nvSpPr>
        <p:spPr>
          <a:xfrm>
            <a:off x="1657350" y="4495800"/>
            <a:ext cx="85725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dirty="0" kern="1200">
                <a:solidFill>
                  <a:srgbClr val="FFA14E"/>
                </a:solidFill>
                <a:latin typeface="Arial"/>
              </a:rPr>
              <a:t>Noise</a:t>
            </a:r>
          </a:p>
        </p:txBody>
      </p:sp>
      <p:sp>
        <p:nvSpPr>
          <p:cNvPr id="144" name="T2I training-free framework / denoising T2I transformer"/>
          <p:cNvSpPr/>
          <p:nvPr/>
        </p:nvSpPr>
        <p:spPr>
          <a:xfrm>
            <a:off x="3248025" y="3619500"/>
            <a:ext cx="3200400" cy="914400"/>
          </a:xfrm>
          <a:prstGeom prst="roundRect">
            <a:avLst>
              <a:gd name="adj" fmla="val 21875"/>
            </a:avLst>
          </a:prstGeom>
          <a:solidFill>
            <a:srgbClr val="CEEBF7"/>
          </a:solidFill>
          <a:ln w="17145" cap="flat">
            <a:solidFill>
              <a:srgbClr val="94BCE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2I training-free framework / T2I Diffusion Transformer"/>
          <p:cNvSpPr txBox="1"/>
          <p:nvPr/>
        </p:nvSpPr>
        <p:spPr>
          <a:xfrm>
            <a:off x="3390900" y="3895725"/>
            <a:ext cx="29146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85" b="1" i="0" dirty="0" kern="1200">
                <a:solidFill>
                  <a:srgbClr val="4D92D5"/>
                </a:solidFill>
                <a:latin typeface="Arial"/>
              </a:rPr>
              <a:t>T2I Diffusion Transformer</a:t>
            </a:r>
          </a:p>
        </p:txBody>
      </p:sp>
      <p:sp>
        <p:nvSpPr>
          <p:cNvPr id="146" name="T2I training-free framework / connector"/>
          <p:cNvSpPr/>
          <p:nvPr/>
        </p:nvSpPr>
        <p:spPr>
          <a:xfrm>
            <a:off x="2466975" y="4038600"/>
            <a:ext cx="685800" cy="476"/>
          </a:xfrm>
          <a:custGeom>
            <a:avLst/>
            <a:gdLst/>
            <a:ahLst/>
            <a:cxnLst/>
            <a:rect l="0" t="0" r="r" b="b"/>
            <a:pathLst>
              <a:path w="72000" h="50">
                <a:moveTo>
                  <a:pt x="0" y="0"/>
                </a:moveTo>
                <a:lnTo>
                  <a:pt x="72000" y="0"/>
                </a:lnTo>
              </a:path>
            </a:pathLst>
          </a:custGeom>
          <a:noFill/>
          <a:ln w="15716" cap="flat">
            <a:solidFill>
              <a:srgbClr val="32A9E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2I training-free framework / connector arrowhead"/>
          <p:cNvSpPr/>
          <p:nvPr/>
        </p:nvSpPr>
        <p:spPr>
          <a:xfrm>
            <a:off x="3062430" y="4000595"/>
            <a:ext cx="90345" cy="76010"/>
          </a:xfrm>
          <a:custGeom>
            <a:avLst/>
            <a:gdLst/>
            <a:ahLst/>
            <a:cxnLst/>
            <a:rect l="0" t="0" r="r" b="b"/>
            <a:pathLst>
              <a:path w="9485" h="7980">
                <a:moveTo>
                  <a:pt x="9485" y="3990"/>
                </a:moveTo>
                <a:lnTo>
                  <a:pt x="0" y="7980"/>
                </a:lnTo>
                <a:lnTo>
                  <a:pt x="2656" y="3990"/>
                </a:lnTo>
                <a:lnTo>
                  <a:pt x="0" y="0"/>
                </a:lnTo>
                <a:close/>
              </a:path>
            </a:pathLst>
          </a:custGeom>
          <a:solidFill>
            <a:srgbClr val="32A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2I training-free framework / connector"/>
          <p:cNvSpPr/>
          <p:nvPr/>
        </p:nvSpPr>
        <p:spPr>
          <a:xfrm>
            <a:off x="2943225" y="4343400"/>
            <a:ext cx="476" cy="561975"/>
          </a:xfrm>
          <a:custGeom>
            <a:avLst/>
            <a:gdLst/>
            <a:ahLst/>
            <a:cxnLst/>
            <a:rect l="0" t="0" r="r" b="b"/>
            <a:pathLst>
              <a:path w="50" h="59000">
                <a:moveTo>
                  <a:pt x="0" y="59000"/>
                </a:moveTo>
                <a:lnTo>
                  <a:pt x="0" y="0"/>
                </a:lnTo>
              </a:path>
            </a:pathLst>
          </a:custGeom>
          <a:noFill/>
          <a:ln w="15716" cap="flat">
            <a:solidFill>
              <a:srgbClr val="32A9E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2I training-free framework / connector arrowhead"/>
          <p:cNvSpPr/>
          <p:nvPr/>
        </p:nvSpPr>
        <p:spPr>
          <a:xfrm>
            <a:off x="2905220" y="4343400"/>
            <a:ext cx="76010" cy="90345"/>
          </a:xfrm>
          <a:custGeom>
            <a:avLst/>
            <a:gdLst/>
            <a:ahLst/>
            <a:cxnLst/>
            <a:rect l="0" t="0" r="r" b="b"/>
            <a:pathLst>
              <a:path w="7980" h="9485">
                <a:moveTo>
                  <a:pt x="3990" y="0"/>
                </a:moveTo>
                <a:lnTo>
                  <a:pt x="7980" y="9485"/>
                </a:lnTo>
                <a:lnTo>
                  <a:pt x="3990" y="6829"/>
                </a:lnTo>
                <a:lnTo>
                  <a:pt x="0" y="9485"/>
                </a:lnTo>
                <a:close/>
              </a:path>
            </a:pathLst>
          </a:custGeom>
          <a:solidFill>
            <a:srgbClr val="32A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2I training-free framework / connector"/>
          <p:cNvSpPr/>
          <p:nvPr/>
        </p:nvSpPr>
        <p:spPr>
          <a:xfrm>
            <a:off x="6543675" y="4038600"/>
            <a:ext cx="704850" cy="476"/>
          </a:xfrm>
          <a:custGeom>
            <a:avLst/>
            <a:gdLst/>
            <a:ahLst/>
            <a:cxnLst/>
            <a:rect l="0" t="0" r="r" b="b"/>
            <a:pathLst>
              <a:path w="74000" h="50">
                <a:moveTo>
                  <a:pt x="0" y="0"/>
                </a:moveTo>
                <a:lnTo>
                  <a:pt x="74000" y="0"/>
                </a:lnTo>
              </a:path>
            </a:pathLst>
          </a:custGeom>
          <a:noFill/>
          <a:ln w="15716" cap="flat">
            <a:solidFill>
              <a:srgbClr val="32A9E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2I training-free framework / connector arrowhead"/>
          <p:cNvSpPr/>
          <p:nvPr/>
        </p:nvSpPr>
        <p:spPr>
          <a:xfrm>
            <a:off x="7158180" y="4000595"/>
            <a:ext cx="90345" cy="76010"/>
          </a:xfrm>
          <a:custGeom>
            <a:avLst/>
            <a:gdLst/>
            <a:ahLst/>
            <a:cxnLst/>
            <a:rect l="0" t="0" r="r" b="b"/>
            <a:pathLst>
              <a:path w="9485" h="7980">
                <a:moveTo>
                  <a:pt x="9485" y="3990"/>
                </a:moveTo>
                <a:lnTo>
                  <a:pt x="0" y="7980"/>
                </a:lnTo>
                <a:lnTo>
                  <a:pt x="2656" y="3990"/>
                </a:lnTo>
                <a:lnTo>
                  <a:pt x="0" y="0"/>
                </a:lnTo>
                <a:close/>
              </a:path>
            </a:pathLst>
          </a:custGeom>
          <a:solidFill>
            <a:srgbClr val="32A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T2I training-free framework / man-diptych" descr="man-dipty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50" y="4143375"/>
            <a:ext cx="685800" cy="514350"/>
          </a:xfrm>
          <a:prstGeom prst="roundRect">
            <a:avLst>
              <a:gd name="adj" fmla="val 1852"/>
            </a:avLst>
          </a:prstGeom>
          <a:effectLst/>
        </p:spPr>
      </p:pic>
      <p:sp>
        <p:nvSpPr>
          <p:cNvPr id="153" name="T2I training-free framework / man-diptych frame"/>
          <p:cNvSpPr/>
          <p:nvPr/>
        </p:nvSpPr>
        <p:spPr>
          <a:xfrm>
            <a:off x="6534150" y="4143375"/>
            <a:ext cx="685800" cy="514350"/>
          </a:xfrm>
          <a:prstGeom prst="roundRect">
            <a:avLst>
              <a:gd name="adj" fmla="val 1851"/>
            </a:avLst>
          </a:prstGeom>
          <a:noFill/>
          <a:ln w="8572" cap="flat">
            <a:solidFill>
              <a:srgbClr val="95D5E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2I training-free framework / crop"/>
          <p:cNvSpPr txBox="1"/>
          <p:nvPr/>
        </p:nvSpPr>
        <p:spPr>
          <a:xfrm>
            <a:off x="6600825" y="4648200"/>
            <a:ext cx="552450" cy="247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dirty="0" kern="1200">
                <a:solidFill>
                  <a:srgbClr val="4D92D5"/>
                </a:solidFill>
                <a:latin typeface="Arial"/>
              </a:rPr>
              <a:t>crop</a:t>
            </a:r>
          </a:p>
        </p:txBody>
      </p:sp>
      <p:pic>
        <p:nvPicPr>
          <p:cNvPr id="155" name="T2I training-free framework / target-man" descr="target-m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350" y="3067050"/>
            <a:ext cx="1562100" cy="2333625"/>
          </a:xfrm>
          <a:prstGeom prst="roundRect">
            <a:avLst>
              <a:gd name="adj" fmla="val 4268"/>
            </a:avLst>
          </a:prstGeom>
          <a:effectLst/>
        </p:spPr>
      </p:pic>
      <p:sp>
        <p:nvSpPr>
          <p:cNvPr id="156" name="T2I training-free framework / target-man frame"/>
          <p:cNvSpPr/>
          <p:nvPr/>
        </p:nvSpPr>
        <p:spPr>
          <a:xfrm>
            <a:off x="7372350" y="3067050"/>
            <a:ext cx="1562100" cy="2333625"/>
          </a:xfrm>
          <a:prstGeom prst="roundRect">
            <a:avLst>
              <a:gd name="adj" fmla="val 4268"/>
            </a:avLst>
          </a:prstGeom>
          <a:noFill/>
          <a:ln w="19050" cap="flat">
            <a:solidFill>
              <a:srgbClr val="75C2DA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2I training-free framework / Generated"/>
          <p:cNvSpPr txBox="1"/>
          <p:nvPr/>
        </p:nvSpPr>
        <p:spPr>
          <a:xfrm>
            <a:off x="7419975" y="5457825"/>
            <a:ext cx="1457325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dirty="0" kern="1200">
                <a:solidFill>
                  <a:srgbClr val="FFA14E"/>
                </a:solidFill>
                <a:latin typeface="Arial"/>
              </a:rPr>
              <a:t>Generated</a:t>
            </a:r>
          </a:p>
        </p:txBody>
      </p:sp>
      <p:sp>
        <p:nvSpPr>
          <p:cNvPr id="158" name="T2I training-free framework / Target Image"/>
          <p:cNvSpPr txBox="1"/>
          <p:nvPr/>
        </p:nvSpPr>
        <p:spPr>
          <a:xfrm>
            <a:off x="7362825" y="5667375"/>
            <a:ext cx="1571625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12" b="1" i="0" dirty="0" kern="1200">
                <a:solidFill>
                  <a:srgbClr val="FFA14E"/>
                </a:solidFill>
                <a:latin typeface="Arial"/>
              </a:rPr>
              <a:t>Target Image</a:t>
            </a:r>
          </a:p>
        </p:txBody>
      </p:sp>
      <p:sp>
        <p:nvSpPr>
          <p:cNvPr id="159" name="T2I training-free framework / basketball instruction box"/>
          <p:cNvSpPr/>
          <p:nvPr/>
        </p:nvSpPr>
        <p:spPr>
          <a:xfrm>
            <a:off x="228600" y="5000625"/>
            <a:ext cx="6315075" cy="876300"/>
          </a:xfrm>
          <a:prstGeom prst="roundRect">
            <a:avLst>
              <a:gd name="adj" fmla="val 16304"/>
            </a:avLst>
          </a:prstGeom>
          <a:noFill/>
          <a:ln w="16192" cap="flat">
            <a:solidFill>
              <a:srgbClr val="83C5EA"/>
            </a:solidFill>
            <a:round/>
            <a:custDash>
              <a:ds d="764706" sp="764706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2I training-free framework / “ A diptych with two side-by-side images of the same scene."/>
          <p:cNvSpPr txBox="1"/>
          <p:nvPr/>
        </p:nvSpPr>
        <p:spPr>
          <a:xfrm>
            <a:off x="333375" y="5048250"/>
            <a:ext cx="6105525" cy="247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1" b="1" i="0" dirty="0" kern="1200">
                <a:solidFill>
                  <a:srgbClr val="2D97D5"/>
                </a:solidFill>
                <a:latin typeface="Arial"/>
              </a:rPr>
              <a:t>“ A diptych with two side-by-side images of the same scene.</a:t>
            </a:r>
          </a:p>
        </p:txBody>
      </p:sp>
      <p:sp>
        <p:nvSpPr>
          <p:cNvPr id="161" name="T2I training-free framework / On the right, the scene is the same as on the left but"/>
          <p:cNvSpPr txBox="1"/>
          <p:nvPr/>
        </p:nvSpPr>
        <p:spPr>
          <a:xfrm>
            <a:off x="485775" y="5305425"/>
            <a:ext cx="5800725" cy="247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 dirty="0" kern="1200">
                <a:solidFill>
                  <a:srgbClr val="2D97D5"/>
                </a:solidFill>
                <a:latin typeface="Arial"/>
              </a:rPr>
              <a:t>On the right, the scene is the same as on the left but</a:t>
            </a:r>
          </a:p>
        </p:txBody>
      </p:sp>
      <p:sp>
        <p:nvSpPr>
          <p:cNvPr id="162" name="T2I training-free framework / {make the man grab a basketball}. ”"/>
          <p:cNvSpPr txBox="1"/>
          <p:nvPr/>
        </p:nvSpPr>
        <p:spPr>
          <a:xfrm>
            <a:off x="1352550" y="5562600"/>
            <a:ext cx="405765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 dirty="0" kern="1200">
                <a:solidFill>
                  <a:srgbClr val="FFA040"/>
                </a:solidFill>
                <a:latin typeface="Arial"/>
              </a:rPr>
              <a:t>{make the man grab a basketball}.</a:t>
            </a:r>
            <a:r>
              <a:rPr sz="1687" b="1" i="0" dirty="0" kern="1200">
                <a:solidFill>
                  <a:srgbClr val="2D97D5"/>
                </a:solidFill>
                <a:latin typeface="Arial"/>
              </a:rPr>
              <a:t> ”</a:t>
            </a:r>
          </a:p>
        </p:txBody>
      </p:sp>
      <p:sp>
        <p:nvSpPr>
          <p:cNvPr id="163" name="Inpainting training-free framework / inpainting frame"/>
          <p:cNvSpPr/>
          <p:nvPr/>
        </p:nvSpPr>
        <p:spPr>
          <a:xfrm>
            <a:off x="76200" y="6238875"/>
            <a:ext cx="9048750" cy="33909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21908" cap="flat">
            <a:solidFill>
              <a:srgbClr val="FF849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Inpainting training-free framework / inpainting title background"/>
          <p:cNvSpPr/>
          <p:nvPr/>
        </p:nvSpPr>
        <p:spPr>
          <a:xfrm>
            <a:off x="1695450" y="6248400"/>
            <a:ext cx="7419975" cy="447675"/>
          </a:xfrm>
          <a:prstGeom prst="roundRect">
            <a:avLst>
              <a:gd name="adj" fmla="val 23404"/>
            </a:avLst>
          </a:prstGeom>
          <a:solidFill>
            <a:srgbClr val="FFD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Inpainting training-free framework / In-context Editing Framework based on Inpainting DiT"/>
          <p:cNvSpPr txBox="1"/>
          <p:nvPr/>
        </p:nvSpPr>
        <p:spPr>
          <a:xfrm>
            <a:off x="1724025" y="6305550"/>
            <a:ext cx="73342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49" b="1" i="0" dirty="0" kern="1200">
                <a:solidFill>
                  <a:srgbClr val="FF494A"/>
                </a:solidFill>
                <a:latin typeface="Arial"/>
              </a:rPr>
              <a:t>In-context Editing Framework based on Inpainting DiT</a:t>
            </a:r>
          </a:p>
        </p:txBody>
      </p:sp>
      <p:pic>
        <p:nvPicPr>
          <p:cNvPr id="166" name="Inpainting training-free framework / source-woman" descr="source-wom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75" y="6724650"/>
            <a:ext cx="1438275" cy="2152650"/>
          </a:xfrm>
          <a:prstGeom prst="roundRect">
            <a:avLst>
              <a:gd name="adj" fmla="val 5298"/>
            </a:avLst>
          </a:prstGeom>
          <a:effectLst/>
        </p:spPr>
      </p:pic>
      <p:sp>
        <p:nvSpPr>
          <p:cNvPr id="167" name="Inpainting training-free framework / source-woman frame"/>
          <p:cNvSpPr/>
          <p:nvPr/>
        </p:nvSpPr>
        <p:spPr>
          <a:xfrm>
            <a:off x="180975" y="6724650"/>
            <a:ext cx="1438275" cy="2152650"/>
          </a:xfrm>
          <a:prstGeom prst="roundRect">
            <a:avLst>
              <a:gd name="adj" fmla="val 5298"/>
            </a:avLst>
          </a:prstGeom>
          <a:noFill/>
          <a:ln w="16192" cap="flat">
            <a:solidFill>
              <a:srgbClr val="FF657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Inpainting training-free framework / Source Image"/>
          <p:cNvSpPr txBox="1"/>
          <p:nvPr/>
        </p:nvSpPr>
        <p:spPr>
          <a:xfrm>
            <a:off x="95250" y="9010650"/>
            <a:ext cx="17716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dirty="0" kern="1200">
                <a:solidFill>
                  <a:srgbClr val="FF537D"/>
                </a:solidFill>
                <a:latin typeface="Arial"/>
              </a:rPr>
              <a:t>Source Image</a:t>
            </a:r>
          </a:p>
        </p:txBody>
      </p:sp>
      <p:pic>
        <p:nvPicPr>
          <p:cNvPr id="169" name="Inpainting training-free framework / inpainting-noise" descr="inpainting-noi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525" y="7115175"/>
            <a:ext cx="1838325" cy="1181100"/>
          </a:xfrm>
          <a:prstGeom prst="roundRect">
            <a:avLst>
              <a:gd name="adj" fmla="val 6452"/>
            </a:avLst>
          </a:prstGeom>
          <a:effectLst/>
        </p:spPr>
      </p:pic>
      <p:sp>
        <p:nvSpPr>
          <p:cNvPr id="170" name="Inpainting training-free framework / mask swatch"/>
          <p:cNvSpPr/>
          <p:nvPr/>
        </p:nvSpPr>
        <p:spPr>
          <a:xfrm>
            <a:off x="1905000" y="7210425"/>
            <a:ext cx="257175" cy="361950"/>
          </a:xfrm>
          <a:prstGeom prst="roundRect">
            <a:avLst>
              <a:gd name="adj" fmla="val 18518"/>
            </a:avLst>
          </a:prstGeom>
          <a:solidFill>
            <a:srgbClr val="FA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Inpainting training-free framework / mask"/>
          <p:cNvSpPr txBox="1"/>
          <p:nvPr/>
        </p:nvSpPr>
        <p:spPr>
          <a:xfrm>
            <a:off x="1724025" y="7553325"/>
            <a:ext cx="619125" cy="247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dirty="0" kern="1200">
                <a:solidFill>
                  <a:srgbClr val="FF537D"/>
                </a:solidFill>
                <a:latin typeface="Arial"/>
              </a:rPr>
              <a:t>mask</a:t>
            </a:r>
          </a:p>
        </p:txBody>
      </p:sp>
      <p:sp>
        <p:nvSpPr>
          <p:cNvPr id="172" name="Inpainting training-free framework / mask concatenate arrow"/>
          <p:cNvSpPr/>
          <p:nvPr/>
        </p:nvSpPr>
        <p:spPr>
          <a:xfrm>
            <a:off x="2057400" y="7791450"/>
            <a:ext cx="276225" cy="257175"/>
          </a:xfrm>
          <a:custGeom>
            <a:avLst/>
            <a:gdLst/>
            <a:ahLst/>
            <a:cxnLst/>
            <a:rect l="0" t="0" r="r" b="b"/>
            <a:pathLst>
              <a:path w="29000" h="27000">
                <a:moveTo>
                  <a:pt x="0" y="7290"/>
                </a:moveTo>
                <a:lnTo>
                  <a:pt x="21750" y="7290"/>
                </a:lnTo>
                <a:lnTo>
                  <a:pt x="21750" y="0"/>
                </a:lnTo>
                <a:lnTo>
                  <a:pt x="29000" y="13500"/>
                </a:lnTo>
                <a:lnTo>
                  <a:pt x="21750" y="27000"/>
                </a:lnTo>
                <a:lnTo>
                  <a:pt x="21750" y="19710"/>
                </a:lnTo>
                <a:lnTo>
                  <a:pt x="0" y="1971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FAEB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Inpainting training-free framework / concat"/>
          <p:cNvSpPr txBox="1"/>
          <p:nvPr/>
        </p:nvSpPr>
        <p:spPr>
          <a:xfrm>
            <a:off x="1628775" y="7981950"/>
            <a:ext cx="74295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dirty="0" kern="1200">
                <a:solidFill>
                  <a:srgbClr val="FF537D"/>
                </a:solidFill>
                <a:latin typeface="Arial"/>
              </a:rPr>
              <a:t>concat</a:t>
            </a:r>
          </a:p>
        </p:txBody>
      </p:sp>
      <p:sp>
        <p:nvSpPr>
          <p:cNvPr id="174" name="Inpainting training-free framework / image with mask area"/>
          <p:cNvSpPr/>
          <p:nvPr/>
        </p:nvSpPr>
        <p:spPr>
          <a:xfrm>
            <a:off x="2352675" y="7324725"/>
            <a:ext cx="1857375" cy="1371600"/>
          </a:xfrm>
          <a:prstGeom prst="roundRect">
            <a:avLst>
              <a:gd name="adj" fmla="val 4861"/>
            </a:avLst>
          </a:prstGeom>
          <a:solidFill>
            <a:srgbClr val="F6B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Inpainting training-free framework / mask lower tone"/>
          <p:cNvSpPr/>
          <p:nvPr/>
        </p:nvSpPr>
        <p:spPr>
          <a:xfrm>
            <a:off x="3267075" y="8286750"/>
            <a:ext cx="942975" cy="409575"/>
          </a:xfrm>
          <a:prstGeom prst="rect">
            <a:avLst/>
          </a:prstGeom>
          <a:solidFill>
            <a:srgbClr val="F7B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6" name="Inpainting training-free framework / masked-woman" descr="masked-wom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2200" y="7334250"/>
            <a:ext cx="904875" cy="1362075"/>
          </a:xfrm>
          <a:prstGeom prst="roundRect">
            <a:avLst>
              <a:gd name="adj" fmla="val 5263"/>
            </a:avLst>
          </a:prstGeom>
          <a:effectLst/>
        </p:spPr>
      </p:pic>
      <p:sp>
        <p:nvSpPr>
          <p:cNvPr id="177" name="Inpainting training-free framework / masked-woman frame"/>
          <p:cNvSpPr/>
          <p:nvPr/>
        </p:nvSpPr>
        <p:spPr>
          <a:xfrm>
            <a:off x="2362200" y="7334250"/>
            <a:ext cx="904875" cy="1362075"/>
          </a:xfrm>
          <a:prstGeom prst="roundRect">
            <a:avLst>
              <a:gd name="adj" fmla="val 5263"/>
            </a:avLst>
          </a:prstGeom>
          <a:noFill/>
          <a:ln w="9525" cap="flat">
            <a:solidFill>
              <a:srgbClr val="FEA7B9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Inpainting training-free framework / Image with Mask"/>
          <p:cNvSpPr txBox="1"/>
          <p:nvPr/>
        </p:nvSpPr>
        <p:spPr>
          <a:xfrm>
            <a:off x="2238375" y="8715375"/>
            <a:ext cx="21431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dirty="0" kern="1200">
                <a:solidFill>
                  <a:srgbClr val="FF537D"/>
                </a:solidFill>
                <a:latin typeface="Arial"/>
              </a:rPr>
              <a:t>Image with Mask</a:t>
            </a:r>
          </a:p>
        </p:txBody>
      </p:sp>
      <p:sp>
        <p:nvSpPr>
          <p:cNvPr id="179" name="Inpainting training-free framework / Noise"/>
          <p:cNvSpPr txBox="1"/>
          <p:nvPr/>
        </p:nvSpPr>
        <p:spPr>
          <a:xfrm>
            <a:off x="4267200" y="8324850"/>
            <a:ext cx="7524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dirty="0" kern="1200">
                <a:solidFill>
                  <a:srgbClr val="FF537D"/>
                </a:solidFill>
                <a:latin typeface="Arial"/>
              </a:rPr>
              <a:t>Noise</a:t>
            </a:r>
          </a:p>
        </p:txBody>
      </p:sp>
      <p:sp>
        <p:nvSpPr>
          <p:cNvPr id="180" name="Inpainting training-free framework / noisy input arrow"/>
          <p:cNvSpPr/>
          <p:nvPr/>
        </p:nvSpPr>
        <p:spPr>
          <a:xfrm>
            <a:off x="4543425" y="7667625"/>
            <a:ext cx="390525" cy="257175"/>
          </a:xfrm>
          <a:custGeom>
            <a:avLst/>
            <a:gdLst/>
            <a:ahLst/>
            <a:cxnLst/>
            <a:rect l="0" t="0" r="r" b="b"/>
            <a:pathLst>
              <a:path w="41000" h="27000">
                <a:moveTo>
                  <a:pt x="0" y="7290"/>
                </a:moveTo>
                <a:lnTo>
                  <a:pt x="30750" y="7290"/>
                </a:lnTo>
                <a:lnTo>
                  <a:pt x="30750" y="0"/>
                </a:lnTo>
                <a:lnTo>
                  <a:pt x="41000" y="13500"/>
                </a:lnTo>
                <a:lnTo>
                  <a:pt x="30750" y="27000"/>
                </a:lnTo>
                <a:lnTo>
                  <a:pt x="30750" y="19710"/>
                </a:lnTo>
                <a:lnTo>
                  <a:pt x="0" y="1971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FAEB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Inpainting training-free framework / Inpainting DiT"/>
          <p:cNvSpPr/>
          <p:nvPr/>
        </p:nvSpPr>
        <p:spPr>
          <a:xfrm>
            <a:off x="4953000" y="7381875"/>
            <a:ext cx="1847850" cy="809625"/>
          </a:xfrm>
          <a:prstGeom prst="roundRect">
            <a:avLst>
              <a:gd name="adj" fmla="val 23529"/>
            </a:avLst>
          </a:prstGeom>
          <a:solidFill>
            <a:srgbClr val="FCE3EA"/>
          </a:solidFill>
          <a:ln w="21908" cap="flat">
            <a:solidFill>
              <a:srgbClr val="FFACB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Inpainting training-free framework / Inpainting DiT"/>
          <p:cNvSpPr txBox="1"/>
          <p:nvPr/>
        </p:nvSpPr>
        <p:spPr>
          <a:xfrm>
            <a:off x="5095875" y="7629525"/>
            <a:ext cx="1571625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6" b="1" i="0" dirty="0" kern="1200">
                <a:solidFill>
                  <a:srgbClr val="FF537D"/>
                </a:solidFill>
                <a:latin typeface="Arial"/>
              </a:rPr>
              <a:t>Inpainting DiT</a:t>
            </a:r>
          </a:p>
        </p:txBody>
      </p:sp>
      <p:sp>
        <p:nvSpPr>
          <p:cNvPr id="183" name="Inpainting training-free framework / inpainting output arrow"/>
          <p:cNvSpPr/>
          <p:nvPr/>
        </p:nvSpPr>
        <p:spPr>
          <a:xfrm>
            <a:off x="6858000" y="7658100"/>
            <a:ext cx="685800" cy="276225"/>
          </a:xfrm>
          <a:custGeom>
            <a:avLst/>
            <a:gdLst/>
            <a:ahLst/>
            <a:cxnLst/>
            <a:rect l="0" t="0" r="r" b="b"/>
            <a:pathLst>
              <a:path w="72000" h="29000">
                <a:moveTo>
                  <a:pt x="0" y="7830"/>
                </a:moveTo>
                <a:lnTo>
                  <a:pt x="54000" y="7830"/>
                </a:lnTo>
                <a:lnTo>
                  <a:pt x="54000" y="0"/>
                </a:lnTo>
                <a:lnTo>
                  <a:pt x="72000" y="14500"/>
                </a:lnTo>
                <a:lnTo>
                  <a:pt x="54000" y="29000"/>
                </a:lnTo>
                <a:lnTo>
                  <a:pt x="54000" y="21170"/>
                </a:lnTo>
                <a:lnTo>
                  <a:pt x="0" y="2117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FACB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4" name="Inpainting training-free framework / woman-diptych" descr="woman-dipty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8475" y="7077075"/>
            <a:ext cx="695325" cy="523875"/>
          </a:xfrm>
          <a:prstGeom prst="roundRect">
            <a:avLst>
              <a:gd name="adj" fmla="val 1818"/>
            </a:avLst>
          </a:prstGeom>
          <a:effectLst/>
        </p:spPr>
      </p:pic>
      <p:sp>
        <p:nvSpPr>
          <p:cNvPr id="185" name="Inpainting training-free framework / woman-diptych frame"/>
          <p:cNvSpPr/>
          <p:nvPr/>
        </p:nvSpPr>
        <p:spPr>
          <a:xfrm>
            <a:off x="6848475" y="7077075"/>
            <a:ext cx="695325" cy="523875"/>
          </a:xfrm>
          <a:prstGeom prst="roundRect">
            <a:avLst>
              <a:gd name="adj" fmla="val 1818"/>
            </a:avLst>
          </a:prstGeom>
          <a:noFill/>
          <a:ln w="9525" cap="flat">
            <a:solidFill>
              <a:srgbClr val="FCA1B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Inpainting training-free framework / crop"/>
          <p:cNvSpPr txBox="1"/>
          <p:nvPr/>
        </p:nvSpPr>
        <p:spPr>
          <a:xfrm>
            <a:off x="6858000" y="7858125"/>
            <a:ext cx="57150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dirty="0" kern="1200">
                <a:solidFill>
                  <a:srgbClr val="FF5569"/>
                </a:solidFill>
                <a:latin typeface="Arial"/>
              </a:rPr>
              <a:t>crop</a:t>
            </a:r>
          </a:p>
        </p:txBody>
      </p:sp>
      <p:pic>
        <p:nvPicPr>
          <p:cNvPr id="187" name="Inpainting training-free framework / target-woman" descr="target-wom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0950" y="6762750"/>
            <a:ext cx="1371600" cy="2133600"/>
          </a:xfrm>
          <a:prstGeom prst="roundRect">
            <a:avLst>
              <a:gd name="adj" fmla="val 4167"/>
            </a:avLst>
          </a:prstGeom>
          <a:effectLst/>
        </p:spPr>
      </p:pic>
      <p:sp>
        <p:nvSpPr>
          <p:cNvPr id="188" name="Inpainting training-free framework / target-woman frame"/>
          <p:cNvSpPr/>
          <p:nvPr/>
        </p:nvSpPr>
        <p:spPr>
          <a:xfrm>
            <a:off x="7600950" y="6762750"/>
            <a:ext cx="1371600" cy="2133600"/>
          </a:xfrm>
          <a:prstGeom prst="roundRect">
            <a:avLst>
              <a:gd name="adj" fmla="val 4166"/>
            </a:avLst>
          </a:prstGeom>
          <a:noFill/>
          <a:ln w="15240" cap="flat">
            <a:solidFill>
              <a:srgbClr val="FF91A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Inpainting training-free framework / Target"/>
          <p:cNvSpPr txBox="1"/>
          <p:nvPr/>
        </p:nvSpPr>
        <p:spPr>
          <a:xfrm>
            <a:off x="7867650" y="8934450"/>
            <a:ext cx="9525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dirty="0" kern="1200">
                <a:solidFill>
                  <a:srgbClr val="FF537D"/>
                </a:solidFill>
                <a:latin typeface="Arial"/>
              </a:rPr>
              <a:t>Target</a:t>
            </a:r>
          </a:p>
        </p:txBody>
      </p:sp>
      <p:sp>
        <p:nvSpPr>
          <p:cNvPr id="190" name="Inpainting training-free framework / Image"/>
          <p:cNvSpPr txBox="1"/>
          <p:nvPr/>
        </p:nvSpPr>
        <p:spPr>
          <a:xfrm>
            <a:off x="7905750" y="9201150"/>
            <a:ext cx="8858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dirty="0" kern="1200">
                <a:solidFill>
                  <a:srgbClr val="FF537D"/>
                </a:solidFill>
                <a:latin typeface="Arial"/>
              </a:rPr>
              <a:t>Image</a:t>
            </a:r>
          </a:p>
        </p:txBody>
      </p:sp>
      <p:sp>
        <p:nvSpPr>
          <p:cNvPr id="191" name="Inpainting training-free framework / inpainting instruction arrow"/>
          <p:cNvSpPr/>
          <p:nvPr/>
        </p:nvSpPr>
        <p:spPr>
          <a:xfrm>
            <a:off x="5724525" y="8258175"/>
            <a:ext cx="266700" cy="542925"/>
          </a:xfrm>
          <a:custGeom>
            <a:avLst/>
            <a:gdLst/>
            <a:ahLst/>
            <a:cxnLst/>
            <a:rect l="0" t="0" r="r" b="b"/>
            <a:pathLst>
              <a:path w="28000" h="57000">
                <a:moveTo>
                  <a:pt x="7840" y="57000"/>
                </a:moveTo>
                <a:lnTo>
                  <a:pt x="20160" y="57000"/>
                </a:lnTo>
                <a:lnTo>
                  <a:pt x="20160" y="18810"/>
                </a:lnTo>
                <a:lnTo>
                  <a:pt x="28000" y="18810"/>
                </a:lnTo>
                <a:lnTo>
                  <a:pt x="14000" y="0"/>
                </a:lnTo>
                <a:lnTo>
                  <a:pt x="0" y="18810"/>
                </a:lnTo>
                <a:lnTo>
                  <a:pt x="7840" y="1881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FAEBD"/>
              </a:gs>
            </a:gsLst>
            <a:lin ang="16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Inpainting training-free framework / red can instruction box"/>
          <p:cNvSpPr/>
          <p:nvPr/>
        </p:nvSpPr>
        <p:spPr>
          <a:xfrm>
            <a:off x="4429125" y="8915400"/>
            <a:ext cx="3133725" cy="609600"/>
          </a:xfrm>
          <a:prstGeom prst="roundRect">
            <a:avLst>
              <a:gd name="adj" fmla="val 20312"/>
            </a:avLst>
          </a:prstGeom>
          <a:noFill/>
          <a:ln w="15240" cap="flat">
            <a:solidFill>
              <a:srgbClr val="FF91A6"/>
            </a:solidFill>
            <a:round/>
            <a:custDash>
              <a:ds d="812500" sp="75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Inpainting training-free framework / “ A diptych with ... ... but"/>
          <p:cNvSpPr txBox="1"/>
          <p:nvPr/>
        </p:nvSpPr>
        <p:spPr>
          <a:xfrm>
            <a:off x="4581525" y="8953500"/>
            <a:ext cx="283845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 kern="1200">
                <a:solidFill>
                  <a:srgbClr val="FFBBC7"/>
                </a:solidFill>
                <a:latin typeface="Arial"/>
              </a:rPr>
              <a:t>“ A diptych with ... ... but</a:t>
            </a:r>
          </a:p>
        </p:txBody>
      </p:sp>
      <p:sp>
        <p:nvSpPr>
          <p:cNvPr id="194" name="Inpainting training-free framework / {make her hold a red can}. ”"/>
          <p:cNvSpPr txBox="1"/>
          <p:nvPr/>
        </p:nvSpPr>
        <p:spPr>
          <a:xfrm>
            <a:off x="4505325" y="9229725"/>
            <a:ext cx="30861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dirty="0" kern="1200">
                <a:solidFill>
                  <a:srgbClr val="FF4C63"/>
                </a:solidFill>
                <a:latin typeface="Arial"/>
              </a:rPr>
              <a:t>{make her hold a red can}.</a:t>
            </a:r>
            <a:r>
              <a:rPr sz="1725" b="1" i="0" dirty="0" kern="1200">
                <a:solidFill>
                  <a:srgbClr val="FFB7C4"/>
                </a:solidFill>
                <a:latin typeface="Arial"/>
              </a:rPr>
              <a:t> ”</a:t>
            </a:r>
          </a:p>
        </p:txBody>
      </p:sp>
      <p:sp>
        <p:nvSpPr>
          <p:cNvPr id="195" name="Finetuning model / transformer layer back 3"/>
          <p:cNvSpPr/>
          <p:nvPr/>
        </p:nvSpPr>
        <p:spPr>
          <a:xfrm>
            <a:off x="10363200" y="2667000"/>
            <a:ext cx="3800475" cy="4019550"/>
          </a:xfrm>
          <a:prstGeom prst="roundRect">
            <a:avLst>
              <a:gd name="adj" fmla="val 4511"/>
            </a:avLst>
          </a:prstGeom>
          <a:solidFill>
            <a:srgbClr val="EAC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inetuning model / transformer layer back 2"/>
          <p:cNvSpPr/>
          <p:nvPr/>
        </p:nvSpPr>
        <p:spPr>
          <a:xfrm>
            <a:off x="10267950" y="2743200"/>
            <a:ext cx="3800475" cy="4010025"/>
          </a:xfrm>
          <a:prstGeom prst="roundRect">
            <a:avLst>
              <a:gd name="adj" fmla="val 4511"/>
            </a:avLst>
          </a:prstGeom>
          <a:solidFill>
            <a:srgbClr val="E8C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inetuning model / transformer layer back 1"/>
          <p:cNvSpPr/>
          <p:nvPr/>
        </p:nvSpPr>
        <p:spPr>
          <a:xfrm>
            <a:off x="10163175" y="2819400"/>
            <a:ext cx="3800475" cy="4000500"/>
          </a:xfrm>
          <a:prstGeom prst="roundRect">
            <a:avLst>
              <a:gd name="adj" fmla="val 4511"/>
            </a:avLst>
          </a:prstGeom>
          <a:solidFill>
            <a:srgbClr val="E9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inetuning model / transformer layer front"/>
          <p:cNvSpPr/>
          <p:nvPr/>
        </p:nvSpPr>
        <p:spPr>
          <a:xfrm>
            <a:off x="10067925" y="2895600"/>
            <a:ext cx="3781425" cy="4000500"/>
          </a:xfrm>
          <a:prstGeom prst="roundRect">
            <a:avLst>
              <a:gd name="adj" fmla="val 4282"/>
            </a:avLst>
          </a:prstGeom>
          <a:solidFill>
            <a:srgbClr val="EB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inetuning model / attention residual"/>
          <p:cNvSpPr/>
          <p:nvPr/>
        </p:nvSpPr>
        <p:spPr>
          <a:xfrm>
            <a:off x="10267950" y="3543300"/>
            <a:ext cx="1685925" cy="3000375"/>
          </a:xfrm>
          <a:custGeom>
            <a:avLst/>
            <a:gdLst/>
            <a:ahLst/>
            <a:cxnLst/>
            <a:rect l="0" t="0" r="r" b="b"/>
            <a:pathLst>
              <a:path w="177000" h="315000">
                <a:moveTo>
                  <a:pt x="18000" y="315000"/>
                </a:moveTo>
                <a:lnTo>
                  <a:pt x="0" y="315000"/>
                </a:lnTo>
                <a:lnTo>
                  <a:pt x="0" y="0"/>
                </a:lnTo>
                <a:lnTo>
                  <a:pt x="177000" y="0"/>
                </a:lnTo>
              </a:path>
            </a:pathLst>
          </a:custGeom>
          <a:noFill/>
          <a:ln w="22860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inetuning model / attention residual arrowhead"/>
          <p:cNvSpPr/>
          <p:nvPr/>
        </p:nvSpPr>
        <p:spPr>
          <a:xfrm>
            <a:off x="11857101" y="3501009"/>
            <a:ext cx="96774" cy="84582"/>
          </a:xfrm>
          <a:custGeom>
            <a:avLst/>
            <a:gdLst/>
            <a:ahLst/>
            <a:cxnLst/>
            <a:rect l="0" t="0" r="r" b="b"/>
            <a:pathLst>
              <a:path w="10160" h="8880">
                <a:moveTo>
                  <a:pt x="10160" y="4440"/>
                </a:moveTo>
                <a:lnTo>
                  <a:pt x="0" y="8880"/>
                </a:lnTo>
                <a:lnTo>
                  <a:pt x="2845" y="4440"/>
                </a:lnTo>
                <a:lnTo>
                  <a:pt x="0" y="0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inetuning model / modulation skip"/>
          <p:cNvSpPr/>
          <p:nvPr/>
        </p:nvSpPr>
        <p:spPr>
          <a:xfrm>
            <a:off x="10553700" y="3914775"/>
            <a:ext cx="1400175" cy="1800225"/>
          </a:xfrm>
          <a:custGeom>
            <a:avLst/>
            <a:gdLst/>
            <a:ahLst/>
            <a:cxnLst/>
            <a:rect l="0" t="0" r="r" b="b"/>
            <a:pathLst>
              <a:path w="147000" h="189000">
                <a:moveTo>
                  <a:pt x="62000" y="189000"/>
                </a:moveTo>
                <a:lnTo>
                  <a:pt x="0" y="189000"/>
                </a:lnTo>
                <a:lnTo>
                  <a:pt x="0" y="0"/>
                </a:lnTo>
                <a:lnTo>
                  <a:pt x="147000" y="0"/>
                </a:lnTo>
              </a:path>
            </a:pathLst>
          </a:custGeom>
          <a:noFill/>
          <a:ln w="22860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inetuning model / modulation skip arrowhead"/>
          <p:cNvSpPr/>
          <p:nvPr/>
        </p:nvSpPr>
        <p:spPr>
          <a:xfrm>
            <a:off x="11857101" y="3872484"/>
            <a:ext cx="96774" cy="84582"/>
          </a:xfrm>
          <a:custGeom>
            <a:avLst/>
            <a:gdLst/>
            <a:ahLst/>
            <a:cxnLst/>
            <a:rect l="0" t="0" r="r" b="b"/>
            <a:pathLst>
              <a:path w="10160" h="8880">
                <a:moveTo>
                  <a:pt x="10160" y="4440"/>
                </a:moveTo>
                <a:lnTo>
                  <a:pt x="0" y="8880"/>
                </a:lnTo>
                <a:lnTo>
                  <a:pt x="2845" y="4440"/>
                </a:lnTo>
                <a:lnTo>
                  <a:pt x="0" y="0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inetuning model / projection branches"/>
          <p:cNvSpPr/>
          <p:nvPr/>
        </p:nvSpPr>
        <p:spPr>
          <a:xfrm>
            <a:off x="10877550" y="4648200"/>
            <a:ext cx="2381250" cy="361950"/>
          </a:xfrm>
          <a:custGeom>
            <a:avLst/>
            <a:gdLst/>
            <a:ahLst/>
            <a:cxnLst/>
            <a:rect l="0" t="0" r="r" b="b"/>
            <a:pathLst>
              <a:path w="250000" h="38000">
                <a:moveTo>
                  <a:pt x="0" y="38000"/>
                </a:moveTo>
                <a:lnTo>
                  <a:pt x="0" y="0"/>
                </a:lnTo>
                <a:lnTo>
                  <a:pt x="250000" y="0"/>
                </a:lnTo>
                <a:lnTo>
                  <a:pt x="250000" y="38000"/>
                </a:lnTo>
              </a:path>
            </a:pathLst>
          </a:custGeom>
          <a:noFill/>
          <a:ln w="20955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inetuning model / connector"/>
          <p:cNvSpPr/>
          <p:nvPr/>
        </p:nvSpPr>
        <p:spPr>
          <a:xfrm>
            <a:off x="12106275" y="4514850"/>
            <a:ext cx="476" cy="133350"/>
          </a:xfrm>
          <a:custGeom>
            <a:avLst/>
            <a:gdLst/>
            <a:ahLst/>
            <a:cxnLst/>
            <a:rect l="0" t="0" r="r" b="b"/>
            <a:pathLst>
              <a:path w="50" h="14000">
                <a:moveTo>
                  <a:pt x="0" y="14000"/>
                </a:moveTo>
                <a:lnTo>
                  <a:pt x="0" y="0"/>
                </a:lnTo>
              </a:path>
            </a:pathLst>
          </a:custGeom>
          <a:noFill/>
          <a:ln w="20955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inetuning model / attention branches"/>
          <p:cNvSpPr/>
          <p:nvPr/>
        </p:nvSpPr>
        <p:spPr>
          <a:xfrm>
            <a:off x="10877550" y="5200650"/>
            <a:ext cx="2381250" cy="152400"/>
          </a:xfrm>
          <a:custGeom>
            <a:avLst/>
            <a:gdLst/>
            <a:ahLst/>
            <a:cxnLst/>
            <a:rect l="0" t="0" r="r" b="b"/>
            <a:pathLst>
              <a:path w="250000" h="16000">
                <a:moveTo>
                  <a:pt x="0" y="0"/>
                </a:moveTo>
                <a:lnTo>
                  <a:pt x="0" y="16000"/>
                </a:lnTo>
                <a:lnTo>
                  <a:pt x="250000" y="16000"/>
                </a:lnTo>
                <a:lnTo>
                  <a:pt x="250000" y="0"/>
                </a:lnTo>
              </a:path>
            </a:pathLst>
          </a:custGeom>
          <a:noFill/>
          <a:ln w="20955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inetuning model / connector"/>
          <p:cNvSpPr/>
          <p:nvPr/>
        </p:nvSpPr>
        <p:spPr>
          <a:xfrm>
            <a:off x="12106275" y="5353050"/>
            <a:ext cx="476" cy="161925"/>
          </a:xfrm>
          <a:custGeom>
            <a:avLst/>
            <a:gdLst/>
            <a:ahLst/>
            <a:cxnLst/>
            <a:rect l="0" t="0" r="r" b="b"/>
            <a:pathLst>
              <a:path w="50" h="17000">
                <a:moveTo>
                  <a:pt x="0" y="0"/>
                </a:moveTo>
                <a:lnTo>
                  <a:pt x="0" y="17000"/>
                </a:lnTo>
              </a:path>
            </a:pathLst>
          </a:custGeom>
          <a:noFill/>
          <a:ln w="20955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inetuning model / connector"/>
          <p:cNvSpPr/>
          <p:nvPr/>
        </p:nvSpPr>
        <p:spPr>
          <a:xfrm>
            <a:off x="12106275" y="5905500"/>
            <a:ext cx="476" cy="333375"/>
          </a:xfrm>
          <a:custGeom>
            <a:avLst/>
            <a:gdLst/>
            <a:ahLst/>
            <a:cxnLst/>
            <a:rect l="0" t="0" r="r" b="b"/>
            <a:pathLst>
              <a:path w="50" h="35000">
                <a:moveTo>
                  <a:pt x="0" y="35000"/>
                </a:moveTo>
                <a:lnTo>
                  <a:pt x="0" y="0"/>
                </a:lnTo>
              </a:path>
            </a:pathLst>
          </a:custGeom>
          <a:noFill/>
          <a:ln w="20955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inetuning model / connector arrowhead"/>
          <p:cNvSpPr/>
          <p:nvPr/>
        </p:nvSpPr>
        <p:spPr>
          <a:xfrm>
            <a:off x="12065127" y="5905500"/>
            <a:ext cx="82296" cy="95060"/>
          </a:xfrm>
          <a:custGeom>
            <a:avLst/>
            <a:gdLst/>
            <a:ahLst/>
            <a:cxnLst/>
            <a:rect l="0" t="0" r="r" b="b"/>
            <a:pathLst>
              <a:path w="8640" h="9980">
                <a:moveTo>
                  <a:pt x="4320" y="0"/>
                </a:moveTo>
                <a:lnTo>
                  <a:pt x="8640" y="9980"/>
                </a:lnTo>
                <a:lnTo>
                  <a:pt x="4320" y="7186"/>
                </a:lnTo>
                <a:lnTo>
                  <a:pt x="0" y="9980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inetuning model / connector"/>
          <p:cNvSpPr/>
          <p:nvPr/>
        </p:nvSpPr>
        <p:spPr>
          <a:xfrm>
            <a:off x="12106275" y="3228975"/>
            <a:ext cx="476" cy="885825"/>
          </a:xfrm>
          <a:custGeom>
            <a:avLst/>
            <a:gdLst/>
            <a:ahLst/>
            <a:cxnLst/>
            <a:rect l="0" t="0" r="r" b="b"/>
            <a:pathLst>
              <a:path w="50" h="93000">
                <a:moveTo>
                  <a:pt x="0" y="93000"/>
                </a:moveTo>
                <a:lnTo>
                  <a:pt x="0" y="0"/>
                </a:lnTo>
              </a:path>
            </a:pathLst>
          </a:custGeom>
          <a:noFill/>
          <a:ln w="20002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inetuning model / connector arrowhead"/>
          <p:cNvSpPr/>
          <p:nvPr/>
        </p:nvSpPr>
        <p:spPr>
          <a:xfrm>
            <a:off x="12065698" y="3228975"/>
            <a:ext cx="81153" cy="94202"/>
          </a:xfrm>
          <a:custGeom>
            <a:avLst/>
            <a:gdLst/>
            <a:ahLst/>
            <a:cxnLst/>
            <a:rect l="0" t="0" r="r" b="b"/>
            <a:pathLst>
              <a:path w="8520" h="9890">
                <a:moveTo>
                  <a:pt x="4260" y="0"/>
                </a:moveTo>
                <a:lnTo>
                  <a:pt x="8520" y="9890"/>
                </a:lnTo>
                <a:lnTo>
                  <a:pt x="4260" y="7121"/>
                </a:lnTo>
                <a:lnTo>
                  <a:pt x="0" y="9890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inetuning model / concatenated text and image tokens"/>
          <p:cNvSpPr/>
          <p:nvPr/>
        </p:nvSpPr>
        <p:spPr>
          <a:xfrm>
            <a:off x="10439400" y="6248400"/>
            <a:ext cx="3276600" cy="514350"/>
          </a:xfrm>
          <a:prstGeom prst="roundRect">
            <a:avLst>
              <a:gd name="adj" fmla="val 22222"/>
            </a:avLst>
          </a:prstGeom>
          <a:solidFill>
            <a:srgbClr val="ECE5EE"/>
          </a:solidFill>
          <a:ln w="19050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inetuning model / text embeddings 1"/>
          <p:cNvSpPr/>
          <p:nvPr/>
        </p:nvSpPr>
        <p:spPr>
          <a:xfrm>
            <a:off x="10725150" y="6362700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96CEEC"/>
          </a:solidFill>
          <a:ln w="23812" cap="flat">
            <a:solidFill>
              <a:srgbClr val="3889C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inetuning model / text embeddings 2"/>
          <p:cNvSpPr/>
          <p:nvPr/>
        </p:nvSpPr>
        <p:spPr>
          <a:xfrm>
            <a:off x="11006138" y="6362700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96CEEC"/>
          </a:solidFill>
          <a:ln w="23812" cap="flat">
            <a:solidFill>
              <a:srgbClr val="3889C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inetuning model / text embeddings 3"/>
          <p:cNvSpPr/>
          <p:nvPr/>
        </p:nvSpPr>
        <p:spPr>
          <a:xfrm>
            <a:off x="11287125" y="6362700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96CEEC"/>
          </a:solidFill>
          <a:ln w="23812" cap="flat">
            <a:solidFill>
              <a:srgbClr val="3889C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inetuning model / +"/>
          <p:cNvSpPr txBox="1"/>
          <p:nvPr/>
        </p:nvSpPr>
        <p:spPr>
          <a:xfrm>
            <a:off x="11706225" y="6305550"/>
            <a:ext cx="285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75" b="1" i="0" dirty="0" kern="1200">
                <a:solidFill>
                  <a:srgbClr val="272525"/>
                </a:solidFill>
                <a:latin typeface="Arial"/>
              </a:rPr>
              <a:t>+</a:t>
            </a:r>
          </a:p>
        </p:txBody>
      </p:sp>
      <p:sp>
        <p:nvSpPr>
          <p:cNvPr id="216" name="Finetuning model / concat"/>
          <p:cNvSpPr txBox="1"/>
          <p:nvPr/>
        </p:nvSpPr>
        <p:spPr>
          <a:xfrm>
            <a:off x="11610975" y="6534150"/>
            <a:ext cx="495300" cy="200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 kern="1200">
                <a:solidFill>
                  <a:srgbClr val="272525"/>
                </a:solidFill>
                <a:latin typeface="Times New Roman"/>
              </a:rPr>
              <a:t>concat</a:t>
            </a:r>
          </a:p>
        </p:txBody>
      </p:sp>
      <p:sp>
        <p:nvSpPr>
          <p:cNvPr id="217" name="Finetuning model / image embeddings 1"/>
          <p:cNvSpPr/>
          <p:nvPr/>
        </p:nvSpPr>
        <p:spPr>
          <a:xfrm>
            <a:off x="12153900" y="6362700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inetuning model / image embeddings 2"/>
          <p:cNvSpPr/>
          <p:nvPr/>
        </p:nvSpPr>
        <p:spPr>
          <a:xfrm>
            <a:off x="12430125" y="6362700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inetuning model / image embeddings 3"/>
          <p:cNvSpPr/>
          <p:nvPr/>
        </p:nvSpPr>
        <p:spPr>
          <a:xfrm>
            <a:off x="12706350" y="6362700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inetuning model / image embeddings 4"/>
          <p:cNvSpPr/>
          <p:nvPr/>
        </p:nvSpPr>
        <p:spPr>
          <a:xfrm>
            <a:off x="12982575" y="6362700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inetuning model / image embeddings 5"/>
          <p:cNvSpPr/>
          <p:nvPr/>
        </p:nvSpPr>
        <p:spPr>
          <a:xfrm>
            <a:off x="13258800" y="6362700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inetuning model / Norm and Mod standard LoRA"/>
          <p:cNvSpPr/>
          <p:nvPr/>
        </p:nvSpPr>
        <p:spPr>
          <a:xfrm>
            <a:off x="11144250" y="5495925"/>
            <a:ext cx="1914525" cy="390525"/>
          </a:xfrm>
          <a:prstGeom prst="roundRect">
            <a:avLst>
              <a:gd name="adj" fmla="val 19512"/>
            </a:avLst>
          </a:prstGeom>
          <a:solidFill>
            <a:srgbClr val="DFACCE"/>
          </a:solidFill>
          <a:ln w="19050" cap="flat">
            <a:solidFill>
              <a:srgbClr val="FF00A2"/>
            </a:solidFill>
            <a:round/>
            <a:custDash>
              <a:ds d="800000" sp="7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inetuning model / Norm &amp; Mod"/>
          <p:cNvSpPr txBox="1"/>
          <p:nvPr/>
        </p:nvSpPr>
        <p:spPr>
          <a:xfrm>
            <a:off x="11249025" y="5562600"/>
            <a:ext cx="17145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 dirty="0" kern="1200">
                <a:solidFill>
                  <a:srgbClr val="272525"/>
                </a:solidFill>
                <a:latin typeface="Arial"/>
              </a:rPr>
              <a:t>Norm &amp; Mod</a:t>
            </a:r>
          </a:p>
        </p:txBody>
      </p:sp>
      <p:sp>
        <p:nvSpPr>
          <p:cNvPr id="224" name="Finetuning model / MLP standard LoRA"/>
          <p:cNvSpPr/>
          <p:nvPr/>
        </p:nvSpPr>
        <p:spPr>
          <a:xfrm>
            <a:off x="10696575" y="4810125"/>
            <a:ext cx="695325" cy="400050"/>
          </a:xfrm>
          <a:prstGeom prst="roundRect">
            <a:avLst>
              <a:gd name="adj" fmla="val 19047"/>
            </a:avLst>
          </a:prstGeom>
          <a:solidFill>
            <a:srgbClr val="DFACCE"/>
          </a:solidFill>
          <a:ln w="19050" cap="flat">
            <a:solidFill>
              <a:srgbClr val="FF00A2"/>
            </a:solidFill>
            <a:round/>
            <a:custDash>
              <a:ds d="800000" sp="7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inetuning model / MLP"/>
          <p:cNvSpPr txBox="1"/>
          <p:nvPr/>
        </p:nvSpPr>
        <p:spPr>
          <a:xfrm>
            <a:off x="10772775" y="4867275"/>
            <a:ext cx="542925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 dirty="0" kern="1200">
                <a:solidFill>
                  <a:srgbClr val="272525"/>
                </a:solidFill>
                <a:latin typeface="Arial"/>
              </a:rPr>
              <a:t>MLP</a:t>
            </a:r>
          </a:p>
        </p:txBody>
      </p:sp>
      <p:sp>
        <p:nvSpPr>
          <p:cNvPr id="226" name="Finetuning model / MM Attention standard LoRA"/>
          <p:cNvSpPr/>
          <p:nvPr/>
        </p:nvSpPr>
        <p:spPr>
          <a:xfrm>
            <a:off x="12172950" y="4810125"/>
            <a:ext cx="1543050" cy="400050"/>
          </a:xfrm>
          <a:prstGeom prst="roundRect">
            <a:avLst>
              <a:gd name="adj" fmla="val 19047"/>
            </a:avLst>
          </a:prstGeom>
          <a:solidFill>
            <a:srgbClr val="DFACCE"/>
          </a:solidFill>
          <a:ln w="19050" cap="flat">
            <a:solidFill>
              <a:srgbClr val="FF00A2"/>
            </a:solidFill>
            <a:round/>
            <a:custDash>
              <a:ds d="800000" sp="7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inetuning model / MM Attention"/>
          <p:cNvSpPr txBox="1"/>
          <p:nvPr/>
        </p:nvSpPr>
        <p:spPr>
          <a:xfrm>
            <a:off x="12258675" y="4867275"/>
            <a:ext cx="139065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 dirty="0" kern="1200">
                <a:solidFill>
                  <a:srgbClr val="272525"/>
                </a:solidFill>
                <a:latin typeface="Arial"/>
              </a:rPr>
              <a:t>MM Attention</a:t>
            </a:r>
          </a:p>
        </p:txBody>
      </p:sp>
      <p:sp>
        <p:nvSpPr>
          <p:cNvPr id="228" name="Finetuning model / Out Projection LoRA MoE"/>
          <p:cNvSpPr/>
          <p:nvPr/>
        </p:nvSpPr>
        <p:spPr>
          <a:xfrm>
            <a:off x="11153775" y="4114800"/>
            <a:ext cx="1885950" cy="400050"/>
          </a:xfrm>
          <a:prstGeom prst="roundRect">
            <a:avLst>
              <a:gd name="adj" fmla="val 19047"/>
            </a:avLst>
          </a:prstGeom>
          <a:solidFill>
            <a:srgbClr val="DFA9C9"/>
          </a:solidFill>
          <a:ln w="47625" cap="flat">
            <a:solidFill>
              <a:srgbClr val="FF342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inetuning model / Out Projection"/>
          <p:cNvSpPr txBox="1"/>
          <p:nvPr/>
        </p:nvSpPr>
        <p:spPr>
          <a:xfrm>
            <a:off x="11287125" y="4171950"/>
            <a:ext cx="16383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 dirty="0" kern="1200">
                <a:solidFill>
                  <a:srgbClr val="272525"/>
                </a:solidFill>
                <a:latin typeface="Arial"/>
              </a:rPr>
              <a:t>Out Projection</a:t>
            </a:r>
          </a:p>
        </p:txBody>
      </p:sp>
      <p:sp>
        <p:nvSpPr>
          <p:cNvPr id="230" name="Finetuning model / residual add"/>
          <p:cNvSpPr/>
          <p:nvPr/>
        </p:nvSpPr>
        <p:spPr>
          <a:xfrm>
            <a:off x="12011025" y="3448050"/>
            <a:ext cx="190500" cy="190500"/>
          </a:xfrm>
          <a:prstGeom prst="ellipse">
            <a:avLst/>
          </a:prstGeom>
          <a:solidFill>
            <a:srgbClr val="EBE0ED"/>
          </a:solidFill>
          <a:ln w="23812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inetuning model / connector"/>
          <p:cNvSpPr/>
          <p:nvPr/>
        </p:nvSpPr>
        <p:spPr>
          <a:xfrm>
            <a:off x="12030075" y="3543300"/>
            <a:ext cx="152400" cy="476"/>
          </a:xfrm>
          <a:custGeom>
            <a:avLst/>
            <a:gdLst/>
            <a:ahLst/>
            <a:cxnLst/>
            <a:rect l="0" t="0" r="r" b="b"/>
            <a:pathLst>
              <a:path w="16000" h="50">
                <a:moveTo>
                  <a:pt x="0" y="0"/>
                </a:moveTo>
                <a:lnTo>
                  <a:pt x="16000" y="0"/>
                </a:lnTo>
              </a:path>
            </a:pathLst>
          </a:custGeom>
          <a:noFill/>
          <a:ln w="21908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inetuning model / connector"/>
          <p:cNvSpPr/>
          <p:nvPr/>
        </p:nvSpPr>
        <p:spPr>
          <a:xfrm>
            <a:off x="12106275" y="3467100"/>
            <a:ext cx="476" cy="152400"/>
          </a:xfrm>
          <a:custGeom>
            <a:avLst/>
            <a:gdLst/>
            <a:ahLst/>
            <a:cxnLst/>
            <a:rect l="0" t="0" r="r" b="b"/>
            <a:pathLst>
              <a:path w="50" h="16000">
                <a:moveTo>
                  <a:pt x="0" y="0"/>
                </a:moveTo>
                <a:lnTo>
                  <a:pt x="0" y="16000"/>
                </a:lnTo>
              </a:path>
            </a:pathLst>
          </a:custGeom>
          <a:noFill/>
          <a:ln w="21908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inetuning model / multiply"/>
          <p:cNvSpPr/>
          <p:nvPr/>
        </p:nvSpPr>
        <p:spPr>
          <a:xfrm>
            <a:off x="12011025" y="3819525"/>
            <a:ext cx="190500" cy="190500"/>
          </a:xfrm>
          <a:prstGeom prst="ellipse">
            <a:avLst/>
          </a:prstGeom>
          <a:solidFill>
            <a:srgbClr val="EBE0ED"/>
          </a:solidFill>
          <a:ln w="23812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inetuning model / connector"/>
          <p:cNvSpPr/>
          <p:nvPr/>
        </p:nvSpPr>
        <p:spPr>
          <a:xfrm>
            <a:off x="12046268" y="3854768"/>
            <a:ext cx="120015" cy="120015"/>
          </a:xfrm>
          <a:custGeom>
            <a:avLst/>
            <a:gdLst/>
            <a:ahLst/>
            <a:cxnLst/>
            <a:rect l="0" t="0" r="r" b="b"/>
            <a:pathLst>
              <a:path w="12600" h="12600">
                <a:moveTo>
                  <a:pt x="0" y="0"/>
                </a:moveTo>
                <a:lnTo>
                  <a:pt x="12600" y="12600"/>
                </a:lnTo>
              </a:path>
            </a:pathLst>
          </a:custGeom>
          <a:noFill/>
          <a:ln w="21908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inetuning model / connector"/>
          <p:cNvSpPr/>
          <p:nvPr/>
        </p:nvSpPr>
        <p:spPr>
          <a:xfrm>
            <a:off x="12046268" y="3854768"/>
            <a:ext cx="120015" cy="120015"/>
          </a:xfrm>
          <a:custGeom>
            <a:avLst/>
            <a:gdLst/>
            <a:ahLst/>
            <a:cxnLst/>
            <a:rect l="0" t="0" r="r" b="b"/>
            <a:pathLst>
              <a:path w="12600" h="12600">
                <a:moveTo>
                  <a:pt x="0" y="12600"/>
                </a:moveTo>
                <a:lnTo>
                  <a:pt x="12600" y="0"/>
                </a:lnTo>
              </a:path>
            </a:pathLst>
          </a:custGeom>
          <a:noFill/>
          <a:ln w="21908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inetuning model / transformer output tokens 1"/>
          <p:cNvSpPr/>
          <p:nvPr/>
        </p:nvSpPr>
        <p:spPr>
          <a:xfrm>
            <a:off x="11334750" y="2990850"/>
            <a:ext cx="204788" cy="204788"/>
          </a:xfrm>
          <a:prstGeom prst="roundRect">
            <a:avLst>
              <a:gd name="adj" fmla="val 13953"/>
            </a:avLst>
          </a:prstGeom>
          <a:solidFill>
            <a:srgbClr val="96CEEC"/>
          </a:solidFill>
          <a:ln w="23812" cap="flat">
            <a:solidFill>
              <a:srgbClr val="3889C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inetuning model / transformer output tokens 2"/>
          <p:cNvSpPr/>
          <p:nvPr/>
        </p:nvSpPr>
        <p:spPr>
          <a:xfrm>
            <a:off x="11541442" y="2990850"/>
            <a:ext cx="204788" cy="204788"/>
          </a:xfrm>
          <a:prstGeom prst="roundRect">
            <a:avLst>
              <a:gd name="adj" fmla="val 13953"/>
            </a:avLst>
          </a:prstGeom>
          <a:solidFill>
            <a:srgbClr val="96CEEC"/>
          </a:solidFill>
          <a:ln w="23812" cap="flat">
            <a:solidFill>
              <a:srgbClr val="3889C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inetuning model / transformer output tokens 3"/>
          <p:cNvSpPr/>
          <p:nvPr/>
        </p:nvSpPr>
        <p:spPr>
          <a:xfrm>
            <a:off x="11748135" y="2990850"/>
            <a:ext cx="204788" cy="204788"/>
          </a:xfrm>
          <a:prstGeom prst="roundRect">
            <a:avLst>
              <a:gd name="adj" fmla="val 13953"/>
            </a:avLst>
          </a:prstGeom>
          <a:solidFill>
            <a:srgbClr val="96CEEC"/>
          </a:solidFill>
          <a:ln w="23812" cap="flat">
            <a:solidFill>
              <a:srgbClr val="3889C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inetuning model / transformer output tokens 4"/>
          <p:cNvSpPr/>
          <p:nvPr/>
        </p:nvSpPr>
        <p:spPr>
          <a:xfrm>
            <a:off x="11954828" y="2990850"/>
            <a:ext cx="204788" cy="204788"/>
          </a:xfrm>
          <a:prstGeom prst="roundRect">
            <a:avLst>
              <a:gd name="adj" fmla="val 13953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inetuning model / transformer output tokens 5"/>
          <p:cNvSpPr/>
          <p:nvPr/>
        </p:nvSpPr>
        <p:spPr>
          <a:xfrm>
            <a:off x="12161520" y="2990850"/>
            <a:ext cx="204788" cy="204788"/>
          </a:xfrm>
          <a:prstGeom prst="roundRect">
            <a:avLst>
              <a:gd name="adj" fmla="val 13953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inetuning model / transformer output tokens 6"/>
          <p:cNvSpPr/>
          <p:nvPr/>
        </p:nvSpPr>
        <p:spPr>
          <a:xfrm>
            <a:off x="12368212" y="2990850"/>
            <a:ext cx="204788" cy="204788"/>
          </a:xfrm>
          <a:prstGeom prst="roundRect">
            <a:avLst>
              <a:gd name="adj" fmla="val 13953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inetuning model / transformer output tokens 7"/>
          <p:cNvSpPr/>
          <p:nvPr/>
        </p:nvSpPr>
        <p:spPr>
          <a:xfrm>
            <a:off x="12574905" y="2990850"/>
            <a:ext cx="204788" cy="204788"/>
          </a:xfrm>
          <a:prstGeom prst="roundRect">
            <a:avLst>
              <a:gd name="adj" fmla="val 13953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inetuning model / transformer output tokens 8"/>
          <p:cNvSpPr/>
          <p:nvPr/>
        </p:nvSpPr>
        <p:spPr>
          <a:xfrm>
            <a:off x="12781598" y="2990850"/>
            <a:ext cx="204788" cy="204788"/>
          </a:xfrm>
          <a:prstGeom prst="roundRect">
            <a:avLst>
              <a:gd name="adj" fmla="val 13953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inetuning model / N×"/>
          <p:cNvSpPr txBox="1"/>
          <p:nvPr/>
        </p:nvSpPr>
        <p:spPr>
          <a:xfrm>
            <a:off x="13411200" y="2943225"/>
            <a:ext cx="34290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dirty="0" kern="1200">
                <a:solidFill>
                  <a:srgbClr val="272525"/>
                </a:solidFill>
                <a:latin typeface="Arial"/>
              </a:rPr>
              <a:t>N×</a:t>
            </a:r>
          </a:p>
        </p:txBody>
      </p:sp>
      <p:sp>
        <p:nvSpPr>
          <p:cNvPr id="245" name="Finetuning model / connector"/>
          <p:cNvSpPr/>
          <p:nvPr/>
        </p:nvSpPr>
        <p:spPr>
          <a:xfrm>
            <a:off x="12106275" y="2590800"/>
            <a:ext cx="476" cy="352425"/>
          </a:xfrm>
          <a:custGeom>
            <a:avLst/>
            <a:gdLst/>
            <a:ahLst/>
            <a:cxnLst/>
            <a:rect l="0" t="0" r="r" b="b"/>
            <a:pathLst>
              <a:path w="50" h="37000">
                <a:moveTo>
                  <a:pt x="0" y="37000"/>
                </a:moveTo>
                <a:lnTo>
                  <a:pt x="0" y="0"/>
                </a:lnTo>
              </a:path>
            </a:pathLst>
          </a:custGeom>
          <a:noFill/>
          <a:ln w="20955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inetuning model / connector arrowhead"/>
          <p:cNvSpPr/>
          <p:nvPr/>
        </p:nvSpPr>
        <p:spPr>
          <a:xfrm>
            <a:off x="12065127" y="2590800"/>
            <a:ext cx="82296" cy="95060"/>
          </a:xfrm>
          <a:custGeom>
            <a:avLst/>
            <a:gdLst/>
            <a:ahLst/>
            <a:cxnLst/>
            <a:rect l="0" t="0" r="r" b="b"/>
            <a:pathLst>
              <a:path w="8640" h="9980">
                <a:moveTo>
                  <a:pt x="4320" y="0"/>
                </a:moveTo>
                <a:lnTo>
                  <a:pt x="8640" y="9980"/>
                </a:lnTo>
                <a:lnTo>
                  <a:pt x="4320" y="7186"/>
                </a:lnTo>
                <a:lnTo>
                  <a:pt x="0" y="9980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inetuning model / Decoder"/>
          <p:cNvSpPr/>
          <p:nvPr/>
        </p:nvSpPr>
        <p:spPr>
          <a:xfrm>
            <a:off x="11439525" y="2200275"/>
            <a:ext cx="1333500" cy="381000"/>
          </a:xfrm>
          <a:prstGeom prst="roundRect">
            <a:avLst>
              <a:gd name="adj" fmla="val 15000"/>
            </a:avLst>
          </a:prstGeom>
          <a:solidFill>
            <a:srgbClr val="BD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inetuning model / Decoder"/>
          <p:cNvSpPr txBox="1"/>
          <p:nvPr/>
        </p:nvSpPr>
        <p:spPr>
          <a:xfrm>
            <a:off x="11563350" y="2257425"/>
            <a:ext cx="108585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dirty="0" kern="1200">
                <a:solidFill>
                  <a:srgbClr val="272525"/>
                </a:solidFill>
                <a:latin typeface="Arial"/>
              </a:rPr>
              <a:t>Decoder</a:t>
            </a:r>
          </a:p>
        </p:txBody>
      </p:sp>
      <p:sp>
        <p:nvSpPr>
          <p:cNvPr id="249" name="Finetuning model / connector"/>
          <p:cNvSpPr/>
          <p:nvPr/>
        </p:nvSpPr>
        <p:spPr>
          <a:xfrm>
            <a:off x="12106275" y="1971675"/>
            <a:ext cx="476" cy="219075"/>
          </a:xfrm>
          <a:custGeom>
            <a:avLst/>
            <a:gdLst/>
            <a:ahLst/>
            <a:cxnLst/>
            <a:rect l="0" t="0" r="r" b="b"/>
            <a:pathLst>
              <a:path w="50" h="23000">
                <a:moveTo>
                  <a:pt x="0" y="23000"/>
                </a:moveTo>
                <a:lnTo>
                  <a:pt x="0" y="0"/>
                </a:lnTo>
              </a:path>
            </a:pathLst>
          </a:custGeom>
          <a:noFill/>
          <a:ln w="20002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inetuning model / connector arrowhead"/>
          <p:cNvSpPr/>
          <p:nvPr/>
        </p:nvSpPr>
        <p:spPr>
          <a:xfrm>
            <a:off x="12065698" y="1971675"/>
            <a:ext cx="81153" cy="94202"/>
          </a:xfrm>
          <a:custGeom>
            <a:avLst/>
            <a:gdLst/>
            <a:ahLst/>
            <a:cxnLst/>
            <a:rect l="0" t="0" r="r" b="b"/>
            <a:pathLst>
              <a:path w="8520" h="9890">
                <a:moveTo>
                  <a:pt x="4260" y="0"/>
                </a:moveTo>
                <a:lnTo>
                  <a:pt x="8520" y="9890"/>
                </a:lnTo>
                <a:lnTo>
                  <a:pt x="4260" y="7121"/>
                </a:lnTo>
                <a:lnTo>
                  <a:pt x="0" y="9890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1" name="Finetuning model / finetune-source" descr="finetune-sourc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4150" y="152400"/>
            <a:ext cx="1171575" cy="1771650"/>
          </a:xfrm>
          <a:prstGeom prst="roundRect">
            <a:avLst>
              <a:gd name="adj" fmla="val 2439"/>
            </a:avLst>
          </a:prstGeom>
          <a:effectLst/>
        </p:spPr>
      </p:pic>
      <p:sp>
        <p:nvSpPr>
          <p:cNvPr id="252" name="Finetuning model / finetune-source frame"/>
          <p:cNvSpPr/>
          <p:nvPr/>
        </p:nvSpPr>
        <p:spPr>
          <a:xfrm>
            <a:off x="10344150" y="152400"/>
            <a:ext cx="1171575" cy="1771650"/>
          </a:xfrm>
          <a:prstGeom prst="roundRect">
            <a:avLst>
              <a:gd name="adj" fmla="val 2439"/>
            </a:avLst>
          </a:prstGeom>
          <a:noFill/>
          <a:ln w="6668" cap="flat">
            <a:solidFill>
              <a:srgbClr val="55555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3" name="Finetuning model / watercolor-target" descr="watercolor-targe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44300" y="161925"/>
            <a:ext cx="1162050" cy="1762125"/>
          </a:xfrm>
          <a:prstGeom prst="roundRect">
            <a:avLst>
              <a:gd name="adj" fmla="val 1639"/>
            </a:avLst>
          </a:prstGeom>
          <a:effectLst/>
        </p:spPr>
      </p:pic>
      <p:sp>
        <p:nvSpPr>
          <p:cNvPr id="254" name="Finetuning model / watercolor edited output outline"/>
          <p:cNvSpPr/>
          <p:nvPr/>
        </p:nvSpPr>
        <p:spPr>
          <a:xfrm>
            <a:off x="11534775" y="152400"/>
            <a:ext cx="1181100" cy="1781175"/>
          </a:xfrm>
          <a:prstGeom prst="roundRect">
            <a:avLst>
              <a:gd name="adj" fmla="val 2419"/>
            </a:avLst>
          </a:prstGeom>
          <a:noFill/>
          <a:ln w="20955" cap="flat">
            <a:solidFill>
              <a:srgbClr val="FF5948"/>
            </a:solidFill>
            <a:round/>
            <a:custDash>
              <a:ds d="545455" sp="409091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inetuning model / Edit by"/>
          <p:cNvSpPr txBox="1"/>
          <p:nvPr/>
        </p:nvSpPr>
        <p:spPr>
          <a:xfrm>
            <a:off x="12858750" y="600075"/>
            <a:ext cx="99060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 kern="1200">
                <a:solidFill>
                  <a:srgbClr val="272525"/>
                </a:solidFill>
                <a:latin typeface="Arial"/>
              </a:rPr>
              <a:t>Edit by</a:t>
            </a:r>
          </a:p>
        </p:txBody>
      </p:sp>
      <p:sp>
        <p:nvSpPr>
          <p:cNvPr id="256" name="Finetuning model / In-context"/>
          <p:cNvSpPr txBox="1"/>
          <p:nvPr/>
        </p:nvSpPr>
        <p:spPr>
          <a:xfrm>
            <a:off x="12811125" y="838200"/>
            <a:ext cx="1095375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 kern="1200">
                <a:solidFill>
                  <a:srgbClr val="272525"/>
                </a:solidFill>
                <a:latin typeface="Arial"/>
              </a:rPr>
              <a:t>In-context</a:t>
            </a:r>
          </a:p>
        </p:txBody>
      </p:sp>
      <p:sp>
        <p:nvSpPr>
          <p:cNvPr id="257" name="Finetuning model / Generation"/>
          <p:cNvSpPr txBox="1"/>
          <p:nvPr/>
        </p:nvSpPr>
        <p:spPr>
          <a:xfrm>
            <a:off x="12782550" y="1076325"/>
            <a:ext cx="1171575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 kern="1200">
                <a:solidFill>
                  <a:srgbClr val="272525"/>
                </a:solidFill>
                <a:latin typeface="Arial"/>
              </a:rPr>
              <a:t>Generation</a:t>
            </a:r>
          </a:p>
        </p:txBody>
      </p:sp>
      <p:sp>
        <p:nvSpPr>
          <p:cNvPr id="258" name="Finetuning model / connector"/>
          <p:cNvSpPr/>
          <p:nvPr/>
        </p:nvSpPr>
        <p:spPr>
          <a:xfrm>
            <a:off x="10906125" y="6896100"/>
            <a:ext cx="476" cy="257175"/>
          </a:xfrm>
          <a:custGeom>
            <a:avLst/>
            <a:gdLst/>
            <a:ahLst/>
            <a:cxnLst/>
            <a:rect l="0" t="0" r="r" b="b"/>
            <a:pathLst>
              <a:path w="50" h="27000">
                <a:moveTo>
                  <a:pt x="0" y="27000"/>
                </a:moveTo>
                <a:lnTo>
                  <a:pt x="0" y="0"/>
                </a:lnTo>
              </a:path>
            </a:pathLst>
          </a:custGeom>
          <a:noFill/>
          <a:ln w="20955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inetuning model / connector"/>
          <p:cNvSpPr/>
          <p:nvPr/>
        </p:nvSpPr>
        <p:spPr>
          <a:xfrm>
            <a:off x="13134975" y="6896100"/>
            <a:ext cx="476" cy="257175"/>
          </a:xfrm>
          <a:custGeom>
            <a:avLst/>
            <a:gdLst/>
            <a:ahLst/>
            <a:cxnLst/>
            <a:rect l="0" t="0" r="r" b="b"/>
            <a:pathLst>
              <a:path w="50" h="27000">
                <a:moveTo>
                  <a:pt x="0" y="27000"/>
                </a:moveTo>
                <a:lnTo>
                  <a:pt x="0" y="0"/>
                </a:lnTo>
              </a:path>
            </a:pathLst>
          </a:custGeom>
          <a:noFill/>
          <a:ln w="20955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inetuning model / Text Encoder"/>
          <p:cNvSpPr/>
          <p:nvPr/>
        </p:nvSpPr>
        <p:spPr>
          <a:xfrm>
            <a:off x="10191750" y="7162800"/>
            <a:ext cx="1438275" cy="504825"/>
          </a:xfrm>
          <a:prstGeom prst="roundRect">
            <a:avLst>
              <a:gd name="adj" fmla="val 20754"/>
            </a:avLst>
          </a:prstGeom>
          <a:solidFill>
            <a:srgbClr val="BF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inetuning model / Text Encoder"/>
          <p:cNvSpPr txBox="1"/>
          <p:nvPr/>
        </p:nvSpPr>
        <p:spPr>
          <a:xfrm>
            <a:off x="10248900" y="7286625"/>
            <a:ext cx="132397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5" b="1" i="0" dirty="0" kern="1200">
                <a:solidFill>
                  <a:srgbClr val="272525"/>
                </a:solidFill>
                <a:latin typeface="Arial"/>
              </a:rPr>
              <a:t>Text Encoder</a:t>
            </a:r>
          </a:p>
        </p:txBody>
      </p:sp>
      <p:sp>
        <p:nvSpPr>
          <p:cNvPr id="262" name="Finetuning model / Image Encoder"/>
          <p:cNvSpPr/>
          <p:nvPr/>
        </p:nvSpPr>
        <p:spPr>
          <a:xfrm>
            <a:off x="12030075" y="7162800"/>
            <a:ext cx="2324100" cy="504825"/>
          </a:xfrm>
          <a:prstGeom prst="roundRect">
            <a:avLst>
              <a:gd name="adj" fmla="val 20754"/>
            </a:avLst>
          </a:prstGeom>
          <a:solidFill>
            <a:srgbClr val="BFE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inetuning model / Image Encoder"/>
          <p:cNvSpPr txBox="1"/>
          <p:nvPr/>
        </p:nvSpPr>
        <p:spPr>
          <a:xfrm>
            <a:off x="12325350" y="7286625"/>
            <a:ext cx="174307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dirty="0" kern="1200">
                <a:solidFill>
                  <a:srgbClr val="272525"/>
                </a:solidFill>
                <a:latin typeface="Arial"/>
              </a:rPr>
              <a:t>Image Encoder</a:t>
            </a:r>
          </a:p>
        </p:txBody>
      </p:sp>
      <p:sp>
        <p:nvSpPr>
          <p:cNvPr id="264" name="Finetuning model / connector"/>
          <p:cNvSpPr/>
          <p:nvPr/>
        </p:nvSpPr>
        <p:spPr>
          <a:xfrm>
            <a:off x="10906125" y="7715250"/>
            <a:ext cx="476" cy="447675"/>
          </a:xfrm>
          <a:custGeom>
            <a:avLst/>
            <a:gdLst/>
            <a:ahLst/>
            <a:cxnLst/>
            <a:rect l="0" t="0" r="r" b="b"/>
            <a:pathLst>
              <a:path w="50" h="47000">
                <a:moveTo>
                  <a:pt x="0" y="47000"/>
                </a:moveTo>
                <a:lnTo>
                  <a:pt x="0" y="0"/>
                </a:lnTo>
              </a:path>
            </a:pathLst>
          </a:custGeom>
          <a:noFill/>
          <a:ln w="20955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inetuning model / connector arrowhead"/>
          <p:cNvSpPr/>
          <p:nvPr/>
        </p:nvSpPr>
        <p:spPr>
          <a:xfrm>
            <a:off x="10864977" y="7715250"/>
            <a:ext cx="82296" cy="95060"/>
          </a:xfrm>
          <a:custGeom>
            <a:avLst/>
            <a:gdLst/>
            <a:ahLst/>
            <a:cxnLst/>
            <a:rect l="0" t="0" r="r" b="b"/>
            <a:pathLst>
              <a:path w="8640" h="9980">
                <a:moveTo>
                  <a:pt x="4320" y="0"/>
                </a:moveTo>
                <a:lnTo>
                  <a:pt x="8640" y="9980"/>
                </a:lnTo>
                <a:lnTo>
                  <a:pt x="4320" y="7186"/>
                </a:lnTo>
                <a:lnTo>
                  <a:pt x="0" y="9980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inetuning model / watercolor text instruction"/>
          <p:cNvSpPr/>
          <p:nvPr/>
        </p:nvSpPr>
        <p:spPr>
          <a:xfrm>
            <a:off x="10020300" y="8277225"/>
            <a:ext cx="1781175" cy="13335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3812" cap="flat">
            <a:solidFill>
              <a:srgbClr val="999B9D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inetuning model / “ A diptych with ..."/>
          <p:cNvSpPr txBox="1"/>
          <p:nvPr/>
        </p:nvSpPr>
        <p:spPr>
          <a:xfrm>
            <a:off x="10077450" y="8448675"/>
            <a:ext cx="1657350" cy="238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 kern="1200">
                <a:solidFill>
                  <a:srgbClr val="999A9C"/>
                </a:solidFill>
                <a:latin typeface="Arial"/>
              </a:rPr>
              <a:t>“ A diptych with ...</a:t>
            </a:r>
          </a:p>
        </p:txBody>
      </p:sp>
      <p:sp>
        <p:nvSpPr>
          <p:cNvPr id="268" name="Finetuning model / but {what if it"/>
          <p:cNvSpPr txBox="1"/>
          <p:nvPr/>
        </p:nvSpPr>
        <p:spPr>
          <a:xfrm>
            <a:off x="10191750" y="8667750"/>
            <a:ext cx="1438275" cy="238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 kern="1200">
                <a:solidFill>
                  <a:srgbClr val="999A9C"/>
                </a:solidFill>
                <a:latin typeface="Arial"/>
              </a:rPr>
              <a:t>but {</a:t>
            </a:r>
            <a:r>
              <a:rPr sz="1500" b="1" i="0" dirty="0" kern="1200">
                <a:solidFill>
                  <a:srgbClr val="272525"/>
                </a:solidFill>
                <a:latin typeface="Arial"/>
              </a:rPr>
              <a:t>what if it</a:t>
            </a:r>
          </a:p>
        </p:txBody>
      </p:sp>
      <p:sp>
        <p:nvSpPr>
          <p:cNvPr id="269" name="Finetuning model / looks like water"/>
          <p:cNvSpPr txBox="1"/>
          <p:nvPr/>
        </p:nvSpPr>
        <p:spPr>
          <a:xfrm>
            <a:off x="10172700" y="8886825"/>
            <a:ext cx="1504950" cy="238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 kern="1200">
                <a:solidFill>
                  <a:srgbClr val="272525"/>
                </a:solidFill>
                <a:latin typeface="Arial"/>
              </a:rPr>
              <a:t>looks like water</a:t>
            </a:r>
          </a:p>
        </p:txBody>
      </p:sp>
      <p:sp>
        <p:nvSpPr>
          <p:cNvPr id="270" name="Finetuning model / color painting?}”"/>
          <p:cNvSpPr txBox="1"/>
          <p:nvPr/>
        </p:nvSpPr>
        <p:spPr>
          <a:xfrm>
            <a:off x="10144125" y="9105900"/>
            <a:ext cx="1562100" cy="238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 kern="1200">
                <a:solidFill>
                  <a:srgbClr val="272525"/>
                </a:solidFill>
                <a:latin typeface="Arial"/>
              </a:rPr>
              <a:t>color painting?</a:t>
            </a:r>
            <a:r>
              <a:rPr sz="1500" b="1" i="0" dirty="0" kern="1200">
                <a:solidFill>
                  <a:srgbClr val="999A9C"/>
                </a:solidFill>
                <a:latin typeface="Arial"/>
              </a:rPr>
              <a:t>}”</a:t>
            </a:r>
          </a:p>
        </p:txBody>
      </p:sp>
      <p:pic>
        <p:nvPicPr>
          <p:cNvPr id="271" name="Finetuning model / finetune-noise" descr="finetune-nois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06375" y="8553450"/>
            <a:ext cx="1695450" cy="1104900"/>
          </a:xfrm>
          <a:prstGeom prst="roundRect">
            <a:avLst>
              <a:gd name="adj" fmla="val 6897"/>
            </a:avLst>
          </a:prstGeom>
          <a:effectLst/>
        </p:spPr>
      </p:pic>
      <p:sp>
        <p:nvSpPr>
          <p:cNvPr id="272" name="Finetuning model / inpainting mask boundary"/>
          <p:cNvSpPr/>
          <p:nvPr/>
        </p:nvSpPr>
        <p:spPr>
          <a:xfrm>
            <a:off x="12401550" y="8343900"/>
            <a:ext cx="1666875" cy="1276350"/>
          </a:xfrm>
          <a:prstGeom prst="roundRect">
            <a:avLst>
              <a:gd name="adj" fmla="val 2238"/>
            </a:avLst>
          </a:prstGeom>
          <a:solidFill>
            <a:srgbClr val="272525"/>
          </a:solidFill>
          <a:ln w="19050" cap="flat">
            <a:solidFill>
              <a:srgbClr val="30303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inetuning model / white mask region"/>
          <p:cNvSpPr/>
          <p:nvPr/>
        </p:nvSpPr>
        <p:spPr>
          <a:xfrm>
            <a:off x="13239750" y="8362950"/>
            <a:ext cx="809625" cy="1238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4" name="Finetuning model / encoder-image" descr="encoder-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91975" y="8229600"/>
            <a:ext cx="876300" cy="1323975"/>
          </a:xfrm>
          <a:prstGeom prst="roundRect">
            <a:avLst>
              <a:gd name="adj" fmla="val 2174"/>
            </a:avLst>
          </a:prstGeom>
          <a:effectLst/>
        </p:spPr>
      </p:pic>
      <p:sp>
        <p:nvSpPr>
          <p:cNvPr id="275" name="Finetuning model / encoder-image frame"/>
          <p:cNvSpPr/>
          <p:nvPr/>
        </p:nvSpPr>
        <p:spPr>
          <a:xfrm>
            <a:off x="11991975" y="8229600"/>
            <a:ext cx="876300" cy="1323975"/>
          </a:xfrm>
          <a:prstGeom prst="roundRect">
            <a:avLst>
              <a:gd name="adj" fmla="val 2173"/>
            </a:avLst>
          </a:prstGeom>
          <a:noFill/>
          <a:ln w="6191" cap="flat">
            <a:solidFill>
              <a:srgbClr val="6666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inetuning model / connector"/>
          <p:cNvSpPr/>
          <p:nvPr/>
        </p:nvSpPr>
        <p:spPr>
          <a:xfrm>
            <a:off x="12363450" y="7715250"/>
            <a:ext cx="476" cy="447675"/>
          </a:xfrm>
          <a:custGeom>
            <a:avLst/>
            <a:gdLst/>
            <a:ahLst/>
            <a:cxnLst/>
            <a:rect l="0" t="0" r="r" b="b"/>
            <a:pathLst>
              <a:path w="50" h="47000">
                <a:moveTo>
                  <a:pt x="0" y="47000"/>
                </a:moveTo>
                <a:lnTo>
                  <a:pt x="0" y="0"/>
                </a:lnTo>
              </a:path>
            </a:pathLst>
          </a:custGeom>
          <a:noFill/>
          <a:ln w="20955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inetuning model / connector arrowhead"/>
          <p:cNvSpPr/>
          <p:nvPr/>
        </p:nvSpPr>
        <p:spPr>
          <a:xfrm>
            <a:off x="12322302" y="7715250"/>
            <a:ext cx="82296" cy="95060"/>
          </a:xfrm>
          <a:custGeom>
            <a:avLst/>
            <a:gdLst/>
            <a:ahLst/>
            <a:cxnLst/>
            <a:rect l="0" t="0" r="r" b="b"/>
            <a:pathLst>
              <a:path w="8640" h="9980">
                <a:moveTo>
                  <a:pt x="4320" y="0"/>
                </a:moveTo>
                <a:lnTo>
                  <a:pt x="8640" y="9980"/>
                </a:lnTo>
                <a:lnTo>
                  <a:pt x="4320" y="7186"/>
                </a:lnTo>
                <a:lnTo>
                  <a:pt x="0" y="9980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inetuning model / connector"/>
          <p:cNvSpPr/>
          <p:nvPr/>
        </p:nvSpPr>
        <p:spPr>
          <a:xfrm>
            <a:off x="13287375" y="7715250"/>
            <a:ext cx="476" cy="447675"/>
          </a:xfrm>
          <a:custGeom>
            <a:avLst/>
            <a:gdLst/>
            <a:ahLst/>
            <a:cxnLst/>
            <a:rect l="0" t="0" r="r" b="b"/>
            <a:pathLst>
              <a:path w="50" h="47000">
                <a:moveTo>
                  <a:pt x="0" y="47000"/>
                </a:moveTo>
                <a:lnTo>
                  <a:pt x="0" y="0"/>
                </a:lnTo>
              </a:path>
            </a:pathLst>
          </a:custGeom>
          <a:noFill/>
          <a:ln w="20955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inetuning model / connector arrowhead"/>
          <p:cNvSpPr/>
          <p:nvPr/>
        </p:nvSpPr>
        <p:spPr>
          <a:xfrm>
            <a:off x="13246227" y="7715250"/>
            <a:ext cx="82296" cy="95060"/>
          </a:xfrm>
          <a:custGeom>
            <a:avLst/>
            <a:gdLst/>
            <a:ahLst/>
            <a:cxnLst/>
            <a:rect l="0" t="0" r="r" b="b"/>
            <a:pathLst>
              <a:path w="8640" h="9980">
                <a:moveTo>
                  <a:pt x="4320" y="0"/>
                </a:moveTo>
                <a:lnTo>
                  <a:pt x="8640" y="9980"/>
                </a:lnTo>
                <a:lnTo>
                  <a:pt x="4320" y="7186"/>
                </a:lnTo>
                <a:lnTo>
                  <a:pt x="0" y="9980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inetuning model / connector"/>
          <p:cNvSpPr/>
          <p:nvPr/>
        </p:nvSpPr>
        <p:spPr>
          <a:xfrm>
            <a:off x="14258925" y="7715250"/>
            <a:ext cx="476" cy="447675"/>
          </a:xfrm>
          <a:custGeom>
            <a:avLst/>
            <a:gdLst/>
            <a:ahLst/>
            <a:cxnLst/>
            <a:rect l="0" t="0" r="r" b="b"/>
            <a:pathLst>
              <a:path w="50" h="47000">
                <a:moveTo>
                  <a:pt x="0" y="47000"/>
                </a:moveTo>
                <a:lnTo>
                  <a:pt x="0" y="0"/>
                </a:lnTo>
              </a:path>
            </a:pathLst>
          </a:custGeom>
          <a:noFill/>
          <a:ln w="20955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inetuning model / connector arrowhead"/>
          <p:cNvSpPr/>
          <p:nvPr/>
        </p:nvSpPr>
        <p:spPr>
          <a:xfrm>
            <a:off x="14217777" y="7715250"/>
            <a:ext cx="82296" cy="95060"/>
          </a:xfrm>
          <a:custGeom>
            <a:avLst/>
            <a:gdLst/>
            <a:ahLst/>
            <a:cxnLst/>
            <a:rect l="0" t="0" r="r" b="b"/>
            <a:pathLst>
              <a:path w="8640" h="9980">
                <a:moveTo>
                  <a:pt x="4320" y="0"/>
                </a:moveTo>
                <a:lnTo>
                  <a:pt x="8640" y="9980"/>
                </a:lnTo>
                <a:lnTo>
                  <a:pt x="4320" y="7186"/>
                </a:lnTo>
                <a:lnTo>
                  <a:pt x="0" y="9980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inetuning model / Image"/>
          <p:cNvSpPr txBox="1"/>
          <p:nvPr/>
        </p:nvSpPr>
        <p:spPr>
          <a:xfrm>
            <a:off x="12382500" y="7896225"/>
            <a:ext cx="695325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 kern="1200">
                <a:solidFill>
                  <a:srgbClr val="272525"/>
                </a:solidFill>
                <a:latin typeface="Arial"/>
              </a:rPr>
              <a:t>Image</a:t>
            </a:r>
          </a:p>
        </p:txBody>
      </p:sp>
      <p:sp>
        <p:nvSpPr>
          <p:cNvPr id="283" name="Finetuning model / Mask"/>
          <p:cNvSpPr txBox="1"/>
          <p:nvPr/>
        </p:nvSpPr>
        <p:spPr>
          <a:xfrm>
            <a:off x="13296900" y="8048625"/>
            <a:ext cx="59055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 kern="1200">
                <a:solidFill>
                  <a:srgbClr val="272525"/>
                </a:solidFill>
                <a:latin typeface="Arial"/>
              </a:rPr>
              <a:t>Mask</a:t>
            </a:r>
          </a:p>
        </p:txBody>
      </p:sp>
      <p:sp>
        <p:nvSpPr>
          <p:cNvPr id="284" name="Finetuning model / Noise"/>
          <p:cNvSpPr txBox="1"/>
          <p:nvPr/>
        </p:nvSpPr>
        <p:spPr>
          <a:xfrm>
            <a:off x="14049375" y="8143875"/>
            <a:ext cx="64770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 kern="1200">
                <a:solidFill>
                  <a:srgbClr val="272525"/>
                </a:solidFill>
                <a:latin typeface="Arial"/>
              </a:rPr>
              <a:t>Noise</a:t>
            </a:r>
          </a:p>
        </p:txBody>
      </p:sp>
      <p:sp>
        <p:nvSpPr>
          <p:cNvPr id="285" name="LoRA MoE module / LoRA MoE panel"/>
          <p:cNvSpPr/>
          <p:nvPr/>
        </p:nvSpPr>
        <p:spPr>
          <a:xfrm>
            <a:off x="14287500" y="552450"/>
            <a:ext cx="3819525" cy="5876925"/>
          </a:xfrm>
          <a:prstGeom prst="roundRect">
            <a:avLst>
              <a:gd name="adj" fmla="val 5236"/>
            </a:avLst>
          </a:prstGeom>
          <a:solidFill>
            <a:srgbClr val="EA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LoRA MoE module / LoRA-MoE Module"/>
          <p:cNvSpPr txBox="1"/>
          <p:nvPr/>
        </p:nvSpPr>
        <p:spPr>
          <a:xfrm>
            <a:off x="15963900" y="561975"/>
            <a:ext cx="2124075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kern="1200">
                <a:solidFill>
                  <a:srgbClr val="272525"/>
                </a:solidFill>
                <a:latin typeface="Arial"/>
              </a:rPr>
              <a:t>LoRA-MoE Module</a:t>
            </a:r>
          </a:p>
        </p:txBody>
      </p:sp>
      <p:sp>
        <p:nvSpPr>
          <p:cNvPr id="287" name="LoRA MoE module / base layer incoming route"/>
          <p:cNvSpPr/>
          <p:nvPr/>
        </p:nvSpPr>
        <p:spPr>
          <a:xfrm>
            <a:off x="14201775" y="2428875"/>
            <a:ext cx="1514475" cy="3429000"/>
          </a:xfrm>
          <a:custGeom>
            <a:avLst/>
            <a:gdLst/>
            <a:ahLst/>
            <a:cxnLst/>
            <a:rect l="0" t="0" r="r" b="b"/>
            <a:pathLst>
              <a:path w="159000" h="360000">
                <a:moveTo>
                  <a:pt x="159000" y="357000"/>
                </a:moveTo>
                <a:cubicBezTo>
                  <a:pt x="9000" y="360000"/>
                  <a:pt x="0" y="136000"/>
                  <a:pt x="56000" y="0"/>
                </a:cubicBezTo>
              </a:path>
            </a:pathLst>
          </a:custGeom>
          <a:noFill/>
          <a:ln w="18098" cap="flat">
            <a:solidFill>
              <a:srgbClr val="272525"/>
            </a:solidFill>
            <a:round/>
            <a:custDash>
              <a:ds d="789474" sp="842105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LoRA MoE module / base layer incoming route arrowhead"/>
          <p:cNvSpPr/>
          <p:nvPr/>
        </p:nvSpPr>
        <p:spPr>
          <a:xfrm>
            <a:off x="14663497" y="2428875"/>
            <a:ext cx="72927" cy="100536"/>
          </a:xfrm>
          <a:custGeom>
            <a:avLst/>
            <a:gdLst/>
            <a:ahLst/>
            <a:cxnLst/>
            <a:rect l="0" t="0" r="r" b="b"/>
            <a:pathLst>
              <a:path w="7656" h="10555">
                <a:moveTo>
                  <a:pt x="7525" y="0"/>
                </a:moveTo>
                <a:lnTo>
                  <a:pt x="7656" y="10555"/>
                </a:lnTo>
                <a:lnTo>
                  <a:pt x="4863" y="6465"/>
                </a:lnTo>
                <a:lnTo>
                  <a:pt x="0" y="7402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LoRA MoE module / base layer residual route"/>
          <p:cNvSpPr/>
          <p:nvPr/>
        </p:nvSpPr>
        <p:spPr>
          <a:xfrm>
            <a:off x="14878050" y="1647825"/>
            <a:ext cx="1190625" cy="400050"/>
          </a:xfrm>
          <a:custGeom>
            <a:avLst/>
            <a:gdLst/>
            <a:ahLst/>
            <a:cxnLst/>
            <a:rect l="0" t="0" r="r" b="b"/>
            <a:pathLst>
              <a:path w="125000" h="42000">
                <a:moveTo>
                  <a:pt x="0" y="42000"/>
                </a:moveTo>
                <a:cubicBezTo>
                  <a:pt x="28000" y="8000"/>
                  <a:pt x="80000" y="0"/>
                  <a:pt x="125000" y="4000"/>
                </a:cubicBezTo>
              </a:path>
            </a:pathLst>
          </a:custGeom>
          <a:noFill/>
          <a:ln w="18098" cap="flat">
            <a:solidFill>
              <a:srgbClr val="272525"/>
            </a:solidFill>
            <a:round/>
            <a:custDash>
              <a:ds d="789474" sp="842105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LoRA MoE module / base layer residual route arrowhead"/>
          <p:cNvSpPr/>
          <p:nvPr/>
        </p:nvSpPr>
        <p:spPr>
          <a:xfrm>
            <a:off x="15973059" y="1638458"/>
            <a:ext cx="95616" cy="78557"/>
          </a:xfrm>
          <a:custGeom>
            <a:avLst/>
            <a:gdLst/>
            <a:ahLst/>
            <a:cxnLst/>
            <a:rect l="0" t="0" r="r" b="b"/>
            <a:pathLst>
              <a:path w="10038" h="8247">
                <a:moveTo>
                  <a:pt x="10038" y="4983"/>
                </a:moveTo>
                <a:lnTo>
                  <a:pt x="0" y="8247"/>
                </a:lnTo>
                <a:lnTo>
                  <a:pt x="3075" y="4364"/>
                </a:lnTo>
                <a:lnTo>
                  <a:pt x="733" y="0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LoRA MoE module / expert output route"/>
          <p:cNvSpPr/>
          <p:nvPr/>
        </p:nvSpPr>
        <p:spPr>
          <a:xfrm>
            <a:off x="16392525" y="1752600"/>
            <a:ext cx="352425" cy="1104900"/>
          </a:xfrm>
          <a:custGeom>
            <a:avLst/>
            <a:gdLst/>
            <a:ahLst/>
            <a:cxnLst/>
            <a:rect l="0" t="0" r="r" b="b"/>
            <a:pathLst>
              <a:path w="37000" h="116000">
                <a:moveTo>
                  <a:pt x="28000" y="116000"/>
                </a:moveTo>
                <a:cubicBezTo>
                  <a:pt x="37000" y="69000"/>
                  <a:pt x="24000" y="25000"/>
                  <a:pt x="0" y="0"/>
                </a:cubicBezTo>
              </a:path>
            </a:pathLst>
          </a:custGeom>
          <a:noFill/>
          <a:ln w="18098" cap="flat">
            <a:solidFill>
              <a:srgbClr val="272525"/>
            </a:solidFill>
            <a:round/>
            <a:custDash>
              <a:ds d="789474" sp="842105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LoRA MoE module / expert output route arrowhead"/>
          <p:cNvSpPr/>
          <p:nvPr/>
        </p:nvSpPr>
        <p:spPr>
          <a:xfrm>
            <a:off x="16392525" y="1752600"/>
            <a:ext cx="92498" cy="94028"/>
          </a:xfrm>
          <a:custGeom>
            <a:avLst/>
            <a:gdLst/>
            <a:ahLst/>
            <a:cxnLst/>
            <a:rect l="0" t="0" r="r" b="b"/>
            <a:pathLst>
              <a:path w="9711" h="9872">
                <a:moveTo>
                  <a:pt x="0" y="0"/>
                </a:moveTo>
                <a:lnTo>
                  <a:pt x="9711" y="4138"/>
                </a:lnTo>
                <a:lnTo>
                  <a:pt x="4842" y="5043"/>
                </a:lnTo>
                <a:lnTo>
                  <a:pt x="3738" y="9872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LoRA MoE module / expert selection route"/>
          <p:cNvSpPr/>
          <p:nvPr/>
        </p:nvSpPr>
        <p:spPr>
          <a:xfrm>
            <a:off x="16354425" y="3857625"/>
            <a:ext cx="1457325" cy="1981200"/>
          </a:xfrm>
          <a:custGeom>
            <a:avLst/>
            <a:gdLst/>
            <a:ahLst/>
            <a:cxnLst/>
            <a:rect l="0" t="0" r="r" b="b"/>
            <a:pathLst>
              <a:path w="153000" h="208000">
                <a:moveTo>
                  <a:pt x="0" y="208000"/>
                </a:moveTo>
                <a:cubicBezTo>
                  <a:pt x="153000" y="162000"/>
                  <a:pt x="133000" y="39000"/>
                  <a:pt x="62000" y="0"/>
                </a:cubicBezTo>
              </a:path>
            </a:pathLst>
          </a:custGeom>
          <a:noFill/>
          <a:ln w="18098" cap="flat">
            <a:solidFill>
              <a:srgbClr val="272525"/>
            </a:solidFill>
            <a:round/>
            <a:custDash>
              <a:ds d="789474" sp="842105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LoRA MoE module / expert selection route arrowhead"/>
          <p:cNvSpPr/>
          <p:nvPr/>
        </p:nvSpPr>
        <p:spPr>
          <a:xfrm>
            <a:off x="16944975" y="3857625"/>
            <a:ext cx="100048" cy="79090"/>
          </a:xfrm>
          <a:custGeom>
            <a:avLst/>
            <a:gdLst/>
            <a:ahLst/>
            <a:cxnLst/>
            <a:rect l="0" t="0" r="r" b="b"/>
            <a:pathLst>
              <a:path w="10504" h="8303">
                <a:moveTo>
                  <a:pt x="0" y="0"/>
                </a:moveTo>
                <a:lnTo>
                  <a:pt x="10504" y="1046"/>
                </a:lnTo>
                <a:lnTo>
                  <a:pt x="6128" y="3366"/>
                </a:lnTo>
                <a:lnTo>
                  <a:pt x="6517" y="8303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LoRA MoE module / frozen base layer"/>
          <p:cNvSpPr/>
          <p:nvPr/>
        </p:nvSpPr>
        <p:spPr>
          <a:xfrm>
            <a:off x="14373225" y="2076450"/>
            <a:ext cx="1571625" cy="314325"/>
          </a:xfrm>
          <a:prstGeom prst="roundRect">
            <a:avLst>
              <a:gd name="adj" fmla="val 24242"/>
            </a:avLst>
          </a:prstGeom>
          <a:solidFill>
            <a:srgbClr val="E4C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LoRA MoE module / Base Layer"/>
          <p:cNvSpPr txBox="1"/>
          <p:nvPr/>
        </p:nvSpPr>
        <p:spPr>
          <a:xfrm>
            <a:off x="14544675" y="2076450"/>
            <a:ext cx="1266825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kern="1200">
                <a:solidFill>
                  <a:srgbClr val="272525"/>
                </a:solidFill>
                <a:latin typeface="Arial"/>
              </a:rPr>
              <a:t>Base Layer</a:t>
            </a:r>
          </a:p>
        </p:txBody>
      </p:sp>
      <p:sp>
        <p:nvSpPr>
          <p:cNvPr id="297" name="LoRA MoE module / frozen ice outer"/>
          <p:cNvSpPr/>
          <p:nvPr/>
        </p:nvSpPr>
        <p:spPr>
          <a:xfrm>
            <a:off x="15743337" y="2274234"/>
            <a:ext cx="241102" cy="233082"/>
          </a:xfrm>
          <a:custGeom>
            <a:avLst/>
            <a:gdLst/>
            <a:ahLst/>
            <a:cxnLst/>
            <a:rect l="0" t="0" r="r" b="b"/>
            <a:pathLst>
              <a:path w="25312" h="24471">
                <a:moveTo>
                  <a:pt x="1688" y="3059"/>
                </a:moveTo>
                <a:lnTo>
                  <a:pt x="17719" y="0"/>
                </a:lnTo>
                <a:lnTo>
                  <a:pt x="25312" y="2294"/>
                </a:lnTo>
                <a:lnTo>
                  <a:pt x="23625" y="20647"/>
                </a:lnTo>
                <a:lnTo>
                  <a:pt x="17719" y="24471"/>
                </a:lnTo>
                <a:lnTo>
                  <a:pt x="0" y="22176"/>
                </a:lnTo>
                <a:close/>
              </a:path>
            </a:pathLst>
          </a:custGeom>
          <a:solidFill>
            <a:srgbClr val="75CFF0"/>
          </a:solidFill>
          <a:ln w="11906" cap="flat">
            <a:solidFill>
              <a:srgbClr val="396BA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LoRA MoE module / ice top"/>
          <p:cNvSpPr/>
          <p:nvPr/>
        </p:nvSpPr>
        <p:spPr>
          <a:xfrm>
            <a:off x="15759410" y="2274234"/>
            <a:ext cx="225028" cy="50987"/>
          </a:xfrm>
          <a:custGeom>
            <a:avLst/>
            <a:gdLst/>
            <a:ahLst/>
            <a:cxnLst/>
            <a:rect l="0" t="0" r="r" b="b"/>
            <a:pathLst>
              <a:path w="23625" h="5353">
                <a:moveTo>
                  <a:pt x="0" y="3059"/>
                </a:moveTo>
                <a:lnTo>
                  <a:pt x="17719" y="5353"/>
                </a:lnTo>
                <a:lnTo>
                  <a:pt x="23625" y="2294"/>
                </a:lnTo>
                <a:lnTo>
                  <a:pt x="16031" y="0"/>
                </a:lnTo>
                <a:close/>
              </a:path>
            </a:pathLst>
          </a:custGeom>
          <a:solidFill>
            <a:srgbClr val="A6EDFE"/>
          </a:solidFill>
          <a:ln w="7620" cap="flat">
            <a:solidFill>
              <a:srgbClr val="3C83B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LoRA MoE module / ice side"/>
          <p:cNvSpPr/>
          <p:nvPr/>
        </p:nvSpPr>
        <p:spPr>
          <a:xfrm>
            <a:off x="15912108" y="2296085"/>
            <a:ext cx="72330" cy="211231"/>
          </a:xfrm>
          <a:custGeom>
            <a:avLst/>
            <a:gdLst/>
            <a:ahLst/>
            <a:cxnLst/>
            <a:rect l="0" t="0" r="r" b="b"/>
            <a:pathLst>
              <a:path w="7594" h="22176">
                <a:moveTo>
                  <a:pt x="1688" y="3059"/>
                </a:moveTo>
                <a:lnTo>
                  <a:pt x="7594" y="0"/>
                </a:lnTo>
                <a:lnTo>
                  <a:pt x="5906" y="18353"/>
                </a:lnTo>
                <a:lnTo>
                  <a:pt x="0" y="22176"/>
                </a:lnTo>
                <a:close/>
              </a:path>
            </a:pathLst>
          </a:custGeom>
          <a:solidFill>
            <a:srgbClr val="39ADD7"/>
          </a:solidFill>
          <a:ln w="7620" cap="flat">
            <a:solidFill>
              <a:srgbClr val="397AA9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LoRA MoE module / ice front"/>
          <p:cNvSpPr/>
          <p:nvPr/>
        </p:nvSpPr>
        <p:spPr>
          <a:xfrm>
            <a:off x="15743337" y="2303369"/>
            <a:ext cx="184845" cy="203947"/>
          </a:xfrm>
          <a:custGeom>
            <a:avLst/>
            <a:gdLst/>
            <a:ahLst/>
            <a:cxnLst/>
            <a:rect l="0" t="0" r="r" b="b"/>
            <a:pathLst>
              <a:path w="19406" h="21412">
                <a:moveTo>
                  <a:pt x="1688" y="0"/>
                </a:moveTo>
                <a:lnTo>
                  <a:pt x="19406" y="2294"/>
                </a:lnTo>
                <a:lnTo>
                  <a:pt x="17719" y="21412"/>
                </a:lnTo>
                <a:lnTo>
                  <a:pt x="0" y="19118"/>
                </a:lnTo>
                <a:close/>
              </a:path>
            </a:pathLst>
          </a:custGeom>
          <a:solidFill>
            <a:srgbClr val="A2DEFA"/>
          </a:solidFill>
          <a:ln w="6668" cap="flat">
            <a:solidFill>
              <a:srgbClr val="397AA9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LoRA MoE module / curved connector"/>
          <p:cNvSpPr/>
          <p:nvPr/>
        </p:nvSpPr>
        <p:spPr>
          <a:xfrm>
            <a:off x="15784163" y="2316480"/>
            <a:ext cx="100298" cy="39624"/>
          </a:xfrm>
          <a:custGeom>
            <a:avLst/>
            <a:gdLst/>
            <a:ahLst/>
            <a:cxnLst/>
            <a:rect l="0" t="0" r="r" b="b"/>
            <a:pathLst>
              <a:path w="10530" h="4160">
                <a:moveTo>
                  <a:pt x="0" y="2600"/>
                </a:moveTo>
                <a:cubicBezTo>
                  <a:pt x="2700" y="0"/>
                  <a:pt x="6750" y="4160"/>
                  <a:pt x="10530" y="2080"/>
                </a:cubicBezTo>
              </a:path>
            </a:pathLst>
          </a:custGeom>
          <a:noFill/>
          <a:ln w="12382" cap="flat">
            <a:solidFill>
              <a:srgbClr val="E5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LoRA MoE module / curved connector"/>
          <p:cNvSpPr/>
          <p:nvPr/>
        </p:nvSpPr>
        <p:spPr>
          <a:xfrm>
            <a:off x="15755874" y="2435352"/>
            <a:ext cx="118300" cy="39624"/>
          </a:xfrm>
          <a:custGeom>
            <a:avLst/>
            <a:gdLst/>
            <a:ahLst/>
            <a:cxnLst/>
            <a:rect l="0" t="0" r="r" b="b"/>
            <a:pathLst>
              <a:path w="12420" h="4160">
                <a:moveTo>
                  <a:pt x="0" y="0"/>
                </a:moveTo>
                <a:cubicBezTo>
                  <a:pt x="4050" y="4160"/>
                  <a:pt x="8640" y="1300"/>
                  <a:pt x="12420" y="3380"/>
                </a:cubicBezTo>
              </a:path>
            </a:pathLst>
          </a:custGeom>
          <a:noFill/>
          <a:ln w="10478" cap="flat">
            <a:solidFill>
              <a:srgbClr val="EEFC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LoRA MoE module / ice eye"/>
          <p:cNvSpPr/>
          <p:nvPr/>
        </p:nvSpPr>
        <p:spPr>
          <a:xfrm>
            <a:off x="15794450" y="2398204"/>
            <a:ext cx="15430" cy="14859"/>
          </a:xfrm>
          <a:prstGeom prst="ellipse">
            <a:avLst/>
          </a:prstGeom>
          <a:solidFill>
            <a:srgbClr val="326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LoRA MoE module / ice eye"/>
          <p:cNvSpPr/>
          <p:nvPr/>
        </p:nvSpPr>
        <p:spPr>
          <a:xfrm>
            <a:off x="15866459" y="2403158"/>
            <a:ext cx="15430" cy="14859"/>
          </a:xfrm>
          <a:prstGeom prst="ellipse">
            <a:avLst/>
          </a:prstGeom>
          <a:solidFill>
            <a:srgbClr val="326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LoRA MoE module / curved connector"/>
          <p:cNvSpPr/>
          <p:nvPr/>
        </p:nvSpPr>
        <p:spPr>
          <a:xfrm>
            <a:off x="15812452" y="2432876"/>
            <a:ext cx="41148" cy="17335"/>
          </a:xfrm>
          <a:custGeom>
            <a:avLst/>
            <a:gdLst/>
            <a:ahLst/>
            <a:cxnLst/>
            <a:rect l="0" t="0" r="r" b="b"/>
            <a:pathLst>
              <a:path w="4320" h="1820">
                <a:moveTo>
                  <a:pt x="0" y="0"/>
                </a:moveTo>
                <a:cubicBezTo>
                  <a:pt x="1620" y="1560"/>
                  <a:pt x="3240" y="1820"/>
                  <a:pt x="4320" y="0"/>
                </a:cubicBezTo>
              </a:path>
            </a:pathLst>
          </a:custGeom>
          <a:noFill/>
          <a:ln w="7144" cap="flat">
            <a:solidFill>
              <a:srgbClr val="4784AA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LoRA MoE module / connector"/>
          <p:cNvSpPr/>
          <p:nvPr/>
        </p:nvSpPr>
        <p:spPr>
          <a:xfrm>
            <a:off x="15928181" y="2348674"/>
            <a:ext cx="12859" cy="84201"/>
          </a:xfrm>
          <a:custGeom>
            <a:avLst/>
            <a:gdLst/>
            <a:ahLst/>
            <a:cxnLst/>
            <a:rect l="0" t="0" r="r" b="b"/>
            <a:pathLst>
              <a:path w="1350" h="8840">
                <a:moveTo>
                  <a:pt x="1350" y="0"/>
                </a:moveTo>
                <a:lnTo>
                  <a:pt x="0" y="8840"/>
                </a:lnTo>
              </a:path>
            </a:pathLst>
          </a:custGeom>
          <a:noFill/>
          <a:ln w="13335" cap="flat">
            <a:solidFill>
              <a:srgbClr val="9BF0F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LoRA MoE module / connector"/>
          <p:cNvSpPr/>
          <p:nvPr/>
        </p:nvSpPr>
        <p:spPr>
          <a:xfrm>
            <a:off x="16230600" y="1381125"/>
            <a:ext cx="476" cy="200025"/>
          </a:xfrm>
          <a:custGeom>
            <a:avLst/>
            <a:gdLst/>
            <a:ahLst/>
            <a:cxnLst/>
            <a:rect l="0" t="0" r="r" b="b"/>
            <a:pathLst>
              <a:path w="50" h="21000">
                <a:moveTo>
                  <a:pt x="0" y="21000"/>
                </a:moveTo>
                <a:lnTo>
                  <a:pt x="0" y="0"/>
                </a:lnTo>
              </a:path>
            </a:pathLst>
          </a:custGeom>
          <a:noFill/>
          <a:ln w="17145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LoRA MoE module / connector arrowhead"/>
          <p:cNvSpPr/>
          <p:nvPr/>
        </p:nvSpPr>
        <p:spPr>
          <a:xfrm>
            <a:off x="16191738" y="1381125"/>
            <a:ext cx="77724" cy="91631"/>
          </a:xfrm>
          <a:custGeom>
            <a:avLst/>
            <a:gdLst/>
            <a:ahLst/>
            <a:cxnLst/>
            <a:rect l="0" t="0" r="r" b="b"/>
            <a:pathLst>
              <a:path w="8160" h="9620">
                <a:moveTo>
                  <a:pt x="4080" y="0"/>
                </a:moveTo>
                <a:lnTo>
                  <a:pt x="8160" y="9620"/>
                </a:lnTo>
                <a:lnTo>
                  <a:pt x="4080" y="6926"/>
                </a:lnTo>
                <a:lnTo>
                  <a:pt x="0" y="9620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LoRA MoE module / residual add"/>
          <p:cNvSpPr/>
          <p:nvPr/>
        </p:nvSpPr>
        <p:spPr>
          <a:xfrm>
            <a:off x="16135350" y="1600200"/>
            <a:ext cx="190500" cy="190500"/>
          </a:xfrm>
          <a:prstGeom prst="ellipse">
            <a:avLst/>
          </a:prstGeom>
          <a:solidFill>
            <a:srgbClr val="EAF4FD"/>
          </a:solidFill>
          <a:ln w="23812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LoRA MoE module / connector"/>
          <p:cNvSpPr/>
          <p:nvPr/>
        </p:nvSpPr>
        <p:spPr>
          <a:xfrm>
            <a:off x="16154400" y="1695450"/>
            <a:ext cx="152400" cy="476"/>
          </a:xfrm>
          <a:custGeom>
            <a:avLst/>
            <a:gdLst/>
            <a:ahLst/>
            <a:cxnLst/>
            <a:rect l="0" t="0" r="r" b="b"/>
            <a:pathLst>
              <a:path w="16000" h="50">
                <a:moveTo>
                  <a:pt x="0" y="0"/>
                </a:moveTo>
                <a:lnTo>
                  <a:pt x="16000" y="0"/>
                </a:lnTo>
              </a:path>
            </a:pathLst>
          </a:custGeom>
          <a:noFill/>
          <a:ln w="21908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LoRA MoE module / connector"/>
          <p:cNvSpPr/>
          <p:nvPr/>
        </p:nvSpPr>
        <p:spPr>
          <a:xfrm>
            <a:off x="16230600" y="1619250"/>
            <a:ext cx="476" cy="152400"/>
          </a:xfrm>
          <a:custGeom>
            <a:avLst/>
            <a:gdLst/>
            <a:ahLst/>
            <a:cxnLst/>
            <a:rect l="0" t="0" r="r" b="b"/>
            <a:pathLst>
              <a:path w="50" h="16000">
                <a:moveTo>
                  <a:pt x="0" y="0"/>
                </a:moveTo>
                <a:lnTo>
                  <a:pt x="0" y="16000"/>
                </a:lnTo>
              </a:path>
            </a:pathLst>
          </a:custGeom>
          <a:noFill/>
          <a:ln w="21908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LoRA MoE module / MoE output tokens 1"/>
          <p:cNvSpPr/>
          <p:nvPr/>
        </p:nvSpPr>
        <p:spPr>
          <a:xfrm>
            <a:off x="15373350" y="1123950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96CEEC"/>
          </a:solidFill>
          <a:ln w="23812" cap="flat">
            <a:solidFill>
              <a:srgbClr val="3889C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LoRA MoE module / MoE output tokens 2"/>
          <p:cNvSpPr/>
          <p:nvPr/>
        </p:nvSpPr>
        <p:spPr>
          <a:xfrm>
            <a:off x="15582900" y="1123950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96CEEC"/>
          </a:solidFill>
          <a:ln w="23812" cap="flat">
            <a:solidFill>
              <a:srgbClr val="3889C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LoRA MoE module / MoE output tokens 3"/>
          <p:cNvSpPr/>
          <p:nvPr/>
        </p:nvSpPr>
        <p:spPr>
          <a:xfrm>
            <a:off x="15792450" y="1123950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96CEEC"/>
          </a:solidFill>
          <a:ln w="23812" cap="flat">
            <a:solidFill>
              <a:srgbClr val="3889C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LoRA MoE module / MoE output tokens 4"/>
          <p:cNvSpPr/>
          <p:nvPr/>
        </p:nvSpPr>
        <p:spPr>
          <a:xfrm>
            <a:off x="16002000" y="1123950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LoRA MoE module / MoE output tokens 5"/>
          <p:cNvSpPr/>
          <p:nvPr/>
        </p:nvSpPr>
        <p:spPr>
          <a:xfrm>
            <a:off x="16211550" y="1123950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LoRA MoE module / MoE output tokens 6"/>
          <p:cNvSpPr/>
          <p:nvPr/>
        </p:nvSpPr>
        <p:spPr>
          <a:xfrm>
            <a:off x="16421100" y="1123950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LoRA MoE module / MoE output tokens 7"/>
          <p:cNvSpPr/>
          <p:nvPr/>
        </p:nvSpPr>
        <p:spPr>
          <a:xfrm>
            <a:off x="16630650" y="1123950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LoRA MoE module / MoE output tokens 8"/>
          <p:cNvSpPr/>
          <p:nvPr/>
        </p:nvSpPr>
        <p:spPr>
          <a:xfrm>
            <a:off x="16840200" y="1123950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LoRA MoE module / LoRA adapter upper"/>
          <p:cNvSpPr/>
          <p:nvPr/>
        </p:nvSpPr>
        <p:spPr>
          <a:xfrm>
            <a:off x="14773275" y="2914650"/>
            <a:ext cx="676275" cy="419100"/>
          </a:xfrm>
          <a:custGeom>
            <a:avLst/>
            <a:gdLst/>
            <a:ahLst/>
            <a:cxnLst/>
            <a:rect l="0" t="0" r="r" b="b"/>
            <a:pathLst>
              <a:path w="71000" h="44000">
                <a:moveTo>
                  <a:pt x="3000" y="0"/>
                </a:moveTo>
                <a:lnTo>
                  <a:pt x="68000" y="0"/>
                </a:lnTo>
                <a:cubicBezTo>
                  <a:pt x="71000" y="0"/>
                  <a:pt x="71000" y="1000"/>
                  <a:pt x="70000" y="4000"/>
                </a:cubicBezTo>
                <a:lnTo>
                  <a:pt x="53960" y="42000"/>
                </a:lnTo>
                <a:cubicBezTo>
                  <a:pt x="53250" y="44000"/>
                  <a:pt x="51830" y="44000"/>
                  <a:pt x="50410" y="44000"/>
                </a:cubicBezTo>
                <a:lnTo>
                  <a:pt x="19880" y="44000"/>
                </a:lnTo>
                <a:cubicBezTo>
                  <a:pt x="17750" y="44000"/>
                  <a:pt x="17040" y="44000"/>
                  <a:pt x="16330" y="42000"/>
                </a:cubicBezTo>
                <a:lnTo>
                  <a:pt x="1000" y="4000"/>
                </a:lnTo>
                <a:cubicBezTo>
                  <a:pt x="0" y="1000"/>
                  <a:pt x="0" y="0"/>
                  <a:pt x="3000" y="0"/>
                </a:cubicBezTo>
                <a:close/>
              </a:path>
            </a:pathLst>
          </a:custGeom>
          <a:solidFill>
            <a:srgbClr val="B5E9F8"/>
          </a:solidFill>
          <a:ln w="24765" cap="flat">
            <a:solidFill>
              <a:srgbClr val="799AD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LoRA MoE module / LoRA adapter lower"/>
          <p:cNvSpPr/>
          <p:nvPr/>
        </p:nvSpPr>
        <p:spPr>
          <a:xfrm>
            <a:off x="14773275" y="3371850"/>
            <a:ext cx="676275" cy="419100"/>
          </a:xfrm>
          <a:custGeom>
            <a:avLst/>
            <a:gdLst/>
            <a:ahLst/>
            <a:cxnLst/>
            <a:rect l="0" t="0" r="r" b="b"/>
            <a:pathLst>
              <a:path w="71000" h="44000">
                <a:moveTo>
                  <a:pt x="19170" y="0"/>
                </a:moveTo>
                <a:lnTo>
                  <a:pt x="51830" y="0"/>
                </a:lnTo>
                <a:cubicBezTo>
                  <a:pt x="53960" y="0"/>
                  <a:pt x="53960" y="0"/>
                  <a:pt x="55380" y="3000"/>
                </a:cubicBezTo>
                <a:lnTo>
                  <a:pt x="70000" y="41000"/>
                </a:lnTo>
                <a:cubicBezTo>
                  <a:pt x="71000" y="44000"/>
                  <a:pt x="70000" y="44000"/>
                  <a:pt x="68000" y="44000"/>
                </a:cubicBezTo>
                <a:lnTo>
                  <a:pt x="3000" y="44000"/>
                </a:lnTo>
                <a:cubicBezTo>
                  <a:pt x="0" y="44000"/>
                  <a:pt x="0" y="44000"/>
                  <a:pt x="1000" y="41000"/>
                </a:cubicBezTo>
                <a:lnTo>
                  <a:pt x="16330" y="3000"/>
                </a:lnTo>
                <a:cubicBezTo>
                  <a:pt x="17040" y="0"/>
                  <a:pt x="17040" y="0"/>
                  <a:pt x="19170" y="0"/>
                </a:cubicBezTo>
                <a:close/>
              </a:path>
            </a:pathLst>
          </a:custGeom>
          <a:solidFill>
            <a:srgbClr val="B5E9F8"/>
          </a:solidFill>
          <a:ln w="24765" cap="flat">
            <a:solidFill>
              <a:srgbClr val="799AD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LoRA MoE module / trainable flame"/>
          <p:cNvSpPr/>
          <p:nvPr/>
        </p:nvSpPr>
        <p:spPr>
          <a:xfrm>
            <a:off x="15182255" y="3543300"/>
            <a:ext cx="340519" cy="320040"/>
          </a:xfrm>
          <a:custGeom>
            <a:avLst/>
            <a:gdLst/>
            <a:ahLst/>
            <a:cxnLst/>
            <a:rect l="0" t="0" r="r" b="b"/>
            <a:pathLst>
              <a:path w="35750" h="33600">
                <a:moveTo>
                  <a:pt x="17062" y="0"/>
                </a:moveTo>
                <a:cubicBezTo>
                  <a:pt x="18688" y="5600"/>
                  <a:pt x="24375" y="5600"/>
                  <a:pt x="23562" y="13600"/>
                </a:cubicBezTo>
                <a:cubicBezTo>
                  <a:pt x="26000" y="11200"/>
                  <a:pt x="26000" y="8800"/>
                  <a:pt x="26000" y="7200"/>
                </a:cubicBezTo>
                <a:cubicBezTo>
                  <a:pt x="35750" y="17600"/>
                  <a:pt x="29250" y="31200"/>
                  <a:pt x="18688" y="32000"/>
                </a:cubicBezTo>
                <a:cubicBezTo>
                  <a:pt x="5688" y="33600"/>
                  <a:pt x="0" y="20800"/>
                  <a:pt x="8125" y="11200"/>
                </a:cubicBezTo>
                <a:cubicBezTo>
                  <a:pt x="8125" y="16000"/>
                  <a:pt x="10562" y="16000"/>
                  <a:pt x="10562" y="17600"/>
                </a:cubicBezTo>
                <a:cubicBezTo>
                  <a:pt x="8938" y="9600"/>
                  <a:pt x="14625" y="8000"/>
                  <a:pt x="17062" y="0"/>
                </a:cubicBezTo>
                <a:close/>
              </a:path>
            </a:pathLst>
          </a:custGeom>
          <a:solidFill>
            <a:srgbClr val="FF5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LoRA MoE module / flame inner"/>
          <p:cNvSpPr/>
          <p:nvPr/>
        </p:nvSpPr>
        <p:spPr>
          <a:xfrm>
            <a:off x="15267384" y="3680460"/>
            <a:ext cx="177998" cy="205740"/>
          </a:xfrm>
          <a:custGeom>
            <a:avLst/>
            <a:gdLst/>
            <a:ahLst/>
            <a:cxnLst/>
            <a:rect l="0" t="0" r="r" b="b"/>
            <a:pathLst>
              <a:path w="18688" h="21600">
                <a:moveTo>
                  <a:pt x="8125" y="0"/>
                </a:moveTo>
                <a:cubicBezTo>
                  <a:pt x="11375" y="4000"/>
                  <a:pt x="13000" y="5600"/>
                  <a:pt x="11375" y="8800"/>
                </a:cubicBezTo>
                <a:cubicBezTo>
                  <a:pt x="14625" y="8000"/>
                  <a:pt x="15438" y="6400"/>
                  <a:pt x="15438" y="5600"/>
                </a:cubicBezTo>
                <a:cubicBezTo>
                  <a:pt x="18688" y="16000"/>
                  <a:pt x="7312" y="21600"/>
                  <a:pt x="2438" y="13600"/>
                </a:cubicBezTo>
                <a:cubicBezTo>
                  <a:pt x="0" y="9600"/>
                  <a:pt x="4062" y="5600"/>
                  <a:pt x="4875" y="3200"/>
                </a:cubicBezTo>
                <a:cubicBezTo>
                  <a:pt x="5688" y="8000"/>
                  <a:pt x="7312" y="5600"/>
                  <a:pt x="8125" y="0"/>
                </a:cubicBezTo>
                <a:close/>
              </a:path>
            </a:pathLst>
          </a:custGeom>
          <a:solidFill>
            <a:srgbClr val="FFD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LoRA MoE module / Expert 1"/>
          <p:cNvSpPr txBox="1"/>
          <p:nvPr/>
        </p:nvSpPr>
        <p:spPr>
          <a:xfrm>
            <a:off x="14706600" y="3867150"/>
            <a:ext cx="809625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7" b="1" i="0" dirty="0" kern="1200">
                <a:solidFill>
                  <a:srgbClr val="272525"/>
                </a:solidFill>
                <a:latin typeface="Arial"/>
              </a:rPr>
              <a:t>Expert 1</a:t>
            </a:r>
          </a:p>
        </p:txBody>
      </p:sp>
      <p:sp>
        <p:nvSpPr>
          <p:cNvPr id="325" name="LoRA MoE module / LoRA adapter upper"/>
          <p:cNvSpPr/>
          <p:nvPr/>
        </p:nvSpPr>
        <p:spPr>
          <a:xfrm>
            <a:off x="15544800" y="2914650"/>
            <a:ext cx="676275" cy="419100"/>
          </a:xfrm>
          <a:custGeom>
            <a:avLst/>
            <a:gdLst/>
            <a:ahLst/>
            <a:cxnLst/>
            <a:rect l="0" t="0" r="r" b="b"/>
            <a:pathLst>
              <a:path w="71000" h="44000">
                <a:moveTo>
                  <a:pt x="3000" y="0"/>
                </a:moveTo>
                <a:lnTo>
                  <a:pt x="68000" y="0"/>
                </a:lnTo>
                <a:cubicBezTo>
                  <a:pt x="71000" y="0"/>
                  <a:pt x="71000" y="1000"/>
                  <a:pt x="70000" y="4000"/>
                </a:cubicBezTo>
                <a:lnTo>
                  <a:pt x="53960" y="42000"/>
                </a:lnTo>
                <a:cubicBezTo>
                  <a:pt x="53250" y="44000"/>
                  <a:pt x="51830" y="44000"/>
                  <a:pt x="50410" y="44000"/>
                </a:cubicBezTo>
                <a:lnTo>
                  <a:pt x="19880" y="44000"/>
                </a:lnTo>
                <a:cubicBezTo>
                  <a:pt x="17750" y="44000"/>
                  <a:pt x="17040" y="44000"/>
                  <a:pt x="16330" y="42000"/>
                </a:cubicBezTo>
                <a:lnTo>
                  <a:pt x="1000" y="4000"/>
                </a:lnTo>
                <a:cubicBezTo>
                  <a:pt x="0" y="1000"/>
                  <a:pt x="0" y="0"/>
                  <a:pt x="3000" y="0"/>
                </a:cubicBezTo>
                <a:close/>
              </a:path>
            </a:pathLst>
          </a:custGeom>
          <a:solidFill>
            <a:srgbClr val="B5E9F8"/>
          </a:solidFill>
          <a:ln w="24765" cap="flat">
            <a:solidFill>
              <a:srgbClr val="799AD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LoRA MoE module / LoRA adapter lower"/>
          <p:cNvSpPr/>
          <p:nvPr/>
        </p:nvSpPr>
        <p:spPr>
          <a:xfrm>
            <a:off x="15544800" y="3371850"/>
            <a:ext cx="676275" cy="419100"/>
          </a:xfrm>
          <a:custGeom>
            <a:avLst/>
            <a:gdLst/>
            <a:ahLst/>
            <a:cxnLst/>
            <a:rect l="0" t="0" r="r" b="b"/>
            <a:pathLst>
              <a:path w="71000" h="44000">
                <a:moveTo>
                  <a:pt x="19170" y="0"/>
                </a:moveTo>
                <a:lnTo>
                  <a:pt x="51830" y="0"/>
                </a:lnTo>
                <a:cubicBezTo>
                  <a:pt x="53960" y="0"/>
                  <a:pt x="53960" y="0"/>
                  <a:pt x="55380" y="3000"/>
                </a:cubicBezTo>
                <a:lnTo>
                  <a:pt x="70000" y="41000"/>
                </a:lnTo>
                <a:cubicBezTo>
                  <a:pt x="71000" y="44000"/>
                  <a:pt x="70000" y="44000"/>
                  <a:pt x="68000" y="44000"/>
                </a:cubicBezTo>
                <a:lnTo>
                  <a:pt x="3000" y="44000"/>
                </a:lnTo>
                <a:cubicBezTo>
                  <a:pt x="0" y="44000"/>
                  <a:pt x="0" y="44000"/>
                  <a:pt x="1000" y="41000"/>
                </a:cubicBezTo>
                <a:lnTo>
                  <a:pt x="16330" y="3000"/>
                </a:lnTo>
                <a:cubicBezTo>
                  <a:pt x="17040" y="0"/>
                  <a:pt x="17040" y="0"/>
                  <a:pt x="19170" y="0"/>
                </a:cubicBezTo>
                <a:close/>
              </a:path>
            </a:pathLst>
          </a:custGeom>
          <a:solidFill>
            <a:srgbClr val="B5E9F8"/>
          </a:solidFill>
          <a:ln w="24765" cap="flat">
            <a:solidFill>
              <a:srgbClr val="799AD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LoRA MoE module / trainable flame"/>
          <p:cNvSpPr/>
          <p:nvPr/>
        </p:nvSpPr>
        <p:spPr>
          <a:xfrm>
            <a:off x="15953780" y="3543300"/>
            <a:ext cx="340519" cy="320040"/>
          </a:xfrm>
          <a:custGeom>
            <a:avLst/>
            <a:gdLst/>
            <a:ahLst/>
            <a:cxnLst/>
            <a:rect l="0" t="0" r="r" b="b"/>
            <a:pathLst>
              <a:path w="35750" h="33600">
                <a:moveTo>
                  <a:pt x="17062" y="0"/>
                </a:moveTo>
                <a:cubicBezTo>
                  <a:pt x="18688" y="5600"/>
                  <a:pt x="24375" y="5600"/>
                  <a:pt x="23562" y="13600"/>
                </a:cubicBezTo>
                <a:cubicBezTo>
                  <a:pt x="26000" y="11200"/>
                  <a:pt x="26000" y="8800"/>
                  <a:pt x="26000" y="7200"/>
                </a:cubicBezTo>
                <a:cubicBezTo>
                  <a:pt x="35750" y="17600"/>
                  <a:pt x="29250" y="31200"/>
                  <a:pt x="18688" y="32000"/>
                </a:cubicBezTo>
                <a:cubicBezTo>
                  <a:pt x="5688" y="33600"/>
                  <a:pt x="0" y="20800"/>
                  <a:pt x="8125" y="11200"/>
                </a:cubicBezTo>
                <a:cubicBezTo>
                  <a:pt x="8125" y="16000"/>
                  <a:pt x="10562" y="16000"/>
                  <a:pt x="10562" y="17600"/>
                </a:cubicBezTo>
                <a:cubicBezTo>
                  <a:pt x="8938" y="9600"/>
                  <a:pt x="14625" y="8000"/>
                  <a:pt x="17062" y="0"/>
                </a:cubicBezTo>
                <a:close/>
              </a:path>
            </a:pathLst>
          </a:custGeom>
          <a:solidFill>
            <a:srgbClr val="FF5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LoRA MoE module / flame inner"/>
          <p:cNvSpPr/>
          <p:nvPr/>
        </p:nvSpPr>
        <p:spPr>
          <a:xfrm>
            <a:off x="16038909" y="3680460"/>
            <a:ext cx="177998" cy="205740"/>
          </a:xfrm>
          <a:custGeom>
            <a:avLst/>
            <a:gdLst/>
            <a:ahLst/>
            <a:cxnLst/>
            <a:rect l="0" t="0" r="r" b="b"/>
            <a:pathLst>
              <a:path w="18688" h="21600">
                <a:moveTo>
                  <a:pt x="8125" y="0"/>
                </a:moveTo>
                <a:cubicBezTo>
                  <a:pt x="11375" y="4000"/>
                  <a:pt x="13000" y="5600"/>
                  <a:pt x="11375" y="8800"/>
                </a:cubicBezTo>
                <a:cubicBezTo>
                  <a:pt x="14625" y="8000"/>
                  <a:pt x="15438" y="6400"/>
                  <a:pt x="15438" y="5600"/>
                </a:cubicBezTo>
                <a:cubicBezTo>
                  <a:pt x="18688" y="16000"/>
                  <a:pt x="7312" y="21600"/>
                  <a:pt x="2438" y="13600"/>
                </a:cubicBezTo>
                <a:cubicBezTo>
                  <a:pt x="0" y="9600"/>
                  <a:pt x="4062" y="5600"/>
                  <a:pt x="4875" y="3200"/>
                </a:cubicBezTo>
                <a:cubicBezTo>
                  <a:pt x="5688" y="8000"/>
                  <a:pt x="7312" y="5600"/>
                  <a:pt x="8125" y="0"/>
                </a:cubicBezTo>
                <a:close/>
              </a:path>
            </a:pathLst>
          </a:custGeom>
          <a:solidFill>
            <a:srgbClr val="FFD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LoRA MoE module / Expert 2"/>
          <p:cNvSpPr txBox="1"/>
          <p:nvPr/>
        </p:nvSpPr>
        <p:spPr>
          <a:xfrm>
            <a:off x="15478125" y="3867150"/>
            <a:ext cx="809625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7" b="1" i="0" dirty="0" kern="1200">
                <a:solidFill>
                  <a:srgbClr val="272525"/>
                </a:solidFill>
                <a:latin typeface="Arial"/>
              </a:rPr>
              <a:t>Expert 2</a:t>
            </a:r>
          </a:p>
        </p:txBody>
      </p:sp>
      <p:sp>
        <p:nvSpPr>
          <p:cNvPr id="330" name="LoRA MoE module / LoRA adapter upper"/>
          <p:cNvSpPr/>
          <p:nvPr/>
        </p:nvSpPr>
        <p:spPr>
          <a:xfrm>
            <a:off x="16325850" y="2914650"/>
            <a:ext cx="676275" cy="419100"/>
          </a:xfrm>
          <a:custGeom>
            <a:avLst/>
            <a:gdLst/>
            <a:ahLst/>
            <a:cxnLst/>
            <a:rect l="0" t="0" r="r" b="b"/>
            <a:pathLst>
              <a:path w="71000" h="44000">
                <a:moveTo>
                  <a:pt x="3000" y="0"/>
                </a:moveTo>
                <a:lnTo>
                  <a:pt x="68000" y="0"/>
                </a:lnTo>
                <a:cubicBezTo>
                  <a:pt x="71000" y="0"/>
                  <a:pt x="71000" y="1000"/>
                  <a:pt x="70000" y="4000"/>
                </a:cubicBezTo>
                <a:lnTo>
                  <a:pt x="53960" y="42000"/>
                </a:lnTo>
                <a:cubicBezTo>
                  <a:pt x="53250" y="44000"/>
                  <a:pt x="51830" y="44000"/>
                  <a:pt x="50410" y="44000"/>
                </a:cubicBezTo>
                <a:lnTo>
                  <a:pt x="19880" y="44000"/>
                </a:lnTo>
                <a:cubicBezTo>
                  <a:pt x="17750" y="44000"/>
                  <a:pt x="17040" y="44000"/>
                  <a:pt x="16330" y="42000"/>
                </a:cubicBezTo>
                <a:lnTo>
                  <a:pt x="1000" y="4000"/>
                </a:lnTo>
                <a:cubicBezTo>
                  <a:pt x="0" y="1000"/>
                  <a:pt x="0" y="0"/>
                  <a:pt x="3000" y="0"/>
                </a:cubicBezTo>
                <a:close/>
              </a:path>
            </a:pathLst>
          </a:custGeom>
          <a:solidFill>
            <a:srgbClr val="B5E9F8"/>
          </a:solidFill>
          <a:ln w="24765" cap="flat">
            <a:solidFill>
              <a:srgbClr val="799AD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LoRA MoE module / LoRA adapter lower"/>
          <p:cNvSpPr/>
          <p:nvPr/>
        </p:nvSpPr>
        <p:spPr>
          <a:xfrm>
            <a:off x="16325850" y="3371850"/>
            <a:ext cx="676275" cy="419100"/>
          </a:xfrm>
          <a:custGeom>
            <a:avLst/>
            <a:gdLst/>
            <a:ahLst/>
            <a:cxnLst/>
            <a:rect l="0" t="0" r="r" b="b"/>
            <a:pathLst>
              <a:path w="71000" h="44000">
                <a:moveTo>
                  <a:pt x="19170" y="0"/>
                </a:moveTo>
                <a:lnTo>
                  <a:pt x="51830" y="0"/>
                </a:lnTo>
                <a:cubicBezTo>
                  <a:pt x="53960" y="0"/>
                  <a:pt x="53960" y="0"/>
                  <a:pt x="55380" y="3000"/>
                </a:cubicBezTo>
                <a:lnTo>
                  <a:pt x="70000" y="41000"/>
                </a:lnTo>
                <a:cubicBezTo>
                  <a:pt x="71000" y="44000"/>
                  <a:pt x="70000" y="44000"/>
                  <a:pt x="68000" y="44000"/>
                </a:cubicBezTo>
                <a:lnTo>
                  <a:pt x="3000" y="44000"/>
                </a:lnTo>
                <a:cubicBezTo>
                  <a:pt x="0" y="44000"/>
                  <a:pt x="0" y="44000"/>
                  <a:pt x="1000" y="41000"/>
                </a:cubicBezTo>
                <a:lnTo>
                  <a:pt x="16330" y="3000"/>
                </a:lnTo>
                <a:cubicBezTo>
                  <a:pt x="17040" y="0"/>
                  <a:pt x="17040" y="0"/>
                  <a:pt x="19170" y="0"/>
                </a:cubicBezTo>
                <a:close/>
              </a:path>
            </a:pathLst>
          </a:custGeom>
          <a:solidFill>
            <a:srgbClr val="B5E9F8"/>
          </a:solidFill>
          <a:ln w="24765" cap="flat">
            <a:solidFill>
              <a:srgbClr val="799AD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LoRA MoE module / trainable flame"/>
          <p:cNvSpPr/>
          <p:nvPr/>
        </p:nvSpPr>
        <p:spPr>
          <a:xfrm>
            <a:off x="16734830" y="3543300"/>
            <a:ext cx="340519" cy="320040"/>
          </a:xfrm>
          <a:custGeom>
            <a:avLst/>
            <a:gdLst/>
            <a:ahLst/>
            <a:cxnLst/>
            <a:rect l="0" t="0" r="r" b="b"/>
            <a:pathLst>
              <a:path w="35750" h="33600">
                <a:moveTo>
                  <a:pt x="17062" y="0"/>
                </a:moveTo>
                <a:cubicBezTo>
                  <a:pt x="18688" y="5600"/>
                  <a:pt x="24375" y="5600"/>
                  <a:pt x="23562" y="13600"/>
                </a:cubicBezTo>
                <a:cubicBezTo>
                  <a:pt x="26000" y="11200"/>
                  <a:pt x="26000" y="8800"/>
                  <a:pt x="26000" y="7200"/>
                </a:cubicBezTo>
                <a:cubicBezTo>
                  <a:pt x="35750" y="17600"/>
                  <a:pt x="29250" y="31200"/>
                  <a:pt x="18688" y="32000"/>
                </a:cubicBezTo>
                <a:cubicBezTo>
                  <a:pt x="5688" y="33600"/>
                  <a:pt x="0" y="20800"/>
                  <a:pt x="8125" y="11200"/>
                </a:cubicBezTo>
                <a:cubicBezTo>
                  <a:pt x="8125" y="16000"/>
                  <a:pt x="10562" y="16000"/>
                  <a:pt x="10562" y="17600"/>
                </a:cubicBezTo>
                <a:cubicBezTo>
                  <a:pt x="8938" y="9600"/>
                  <a:pt x="14625" y="8000"/>
                  <a:pt x="17062" y="0"/>
                </a:cubicBezTo>
                <a:close/>
              </a:path>
            </a:pathLst>
          </a:custGeom>
          <a:solidFill>
            <a:srgbClr val="FF5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LoRA MoE module / flame inner"/>
          <p:cNvSpPr/>
          <p:nvPr/>
        </p:nvSpPr>
        <p:spPr>
          <a:xfrm>
            <a:off x="16819959" y="3680460"/>
            <a:ext cx="177998" cy="205740"/>
          </a:xfrm>
          <a:custGeom>
            <a:avLst/>
            <a:gdLst/>
            <a:ahLst/>
            <a:cxnLst/>
            <a:rect l="0" t="0" r="r" b="b"/>
            <a:pathLst>
              <a:path w="18688" h="21600">
                <a:moveTo>
                  <a:pt x="8125" y="0"/>
                </a:moveTo>
                <a:cubicBezTo>
                  <a:pt x="11375" y="4000"/>
                  <a:pt x="13000" y="5600"/>
                  <a:pt x="11375" y="8800"/>
                </a:cubicBezTo>
                <a:cubicBezTo>
                  <a:pt x="14625" y="8000"/>
                  <a:pt x="15438" y="6400"/>
                  <a:pt x="15438" y="5600"/>
                </a:cubicBezTo>
                <a:cubicBezTo>
                  <a:pt x="18688" y="16000"/>
                  <a:pt x="7312" y="21600"/>
                  <a:pt x="2438" y="13600"/>
                </a:cubicBezTo>
                <a:cubicBezTo>
                  <a:pt x="0" y="9600"/>
                  <a:pt x="4062" y="5600"/>
                  <a:pt x="4875" y="3200"/>
                </a:cubicBezTo>
                <a:cubicBezTo>
                  <a:pt x="5688" y="8000"/>
                  <a:pt x="7312" y="5600"/>
                  <a:pt x="8125" y="0"/>
                </a:cubicBezTo>
                <a:close/>
              </a:path>
            </a:pathLst>
          </a:custGeom>
          <a:solidFill>
            <a:srgbClr val="FFD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LoRA MoE module / Expert 3"/>
          <p:cNvSpPr txBox="1"/>
          <p:nvPr/>
        </p:nvSpPr>
        <p:spPr>
          <a:xfrm>
            <a:off x="16259175" y="3867150"/>
            <a:ext cx="809625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7" b="1" i="0" dirty="0" kern="1200">
                <a:solidFill>
                  <a:srgbClr val="272525"/>
                </a:solidFill>
                <a:latin typeface="Arial"/>
              </a:rPr>
              <a:t>Expert 3</a:t>
            </a:r>
          </a:p>
        </p:txBody>
      </p:sp>
      <p:sp>
        <p:nvSpPr>
          <p:cNvPr id="335" name="LoRA MoE module / LoRA adapter upper"/>
          <p:cNvSpPr/>
          <p:nvPr/>
        </p:nvSpPr>
        <p:spPr>
          <a:xfrm>
            <a:off x="17287875" y="2914650"/>
            <a:ext cx="676275" cy="419100"/>
          </a:xfrm>
          <a:custGeom>
            <a:avLst/>
            <a:gdLst/>
            <a:ahLst/>
            <a:cxnLst/>
            <a:rect l="0" t="0" r="r" b="b"/>
            <a:pathLst>
              <a:path w="71000" h="44000">
                <a:moveTo>
                  <a:pt x="3000" y="0"/>
                </a:moveTo>
                <a:lnTo>
                  <a:pt x="68000" y="0"/>
                </a:lnTo>
                <a:cubicBezTo>
                  <a:pt x="71000" y="0"/>
                  <a:pt x="71000" y="1000"/>
                  <a:pt x="70000" y="4000"/>
                </a:cubicBezTo>
                <a:lnTo>
                  <a:pt x="53960" y="42000"/>
                </a:lnTo>
                <a:cubicBezTo>
                  <a:pt x="53250" y="44000"/>
                  <a:pt x="51830" y="44000"/>
                  <a:pt x="50410" y="44000"/>
                </a:cubicBezTo>
                <a:lnTo>
                  <a:pt x="19880" y="44000"/>
                </a:lnTo>
                <a:cubicBezTo>
                  <a:pt x="17750" y="44000"/>
                  <a:pt x="17040" y="44000"/>
                  <a:pt x="16330" y="42000"/>
                </a:cubicBezTo>
                <a:lnTo>
                  <a:pt x="1000" y="4000"/>
                </a:lnTo>
                <a:cubicBezTo>
                  <a:pt x="0" y="1000"/>
                  <a:pt x="0" y="0"/>
                  <a:pt x="3000" y="0"/>
                </a:cubicBezTo>
                <a:close/>
              </a:path>
            </a:pathLst>
          </a:custGeom>
          <a:solidFill>
            <a:srgbClr val="B5E9F8"/>
          </a:solidFill>
          <a:ln w="24765" cap="flat">
            <a:solidFill>
              <a:srgbClr val="799AD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LoRA MoE module / LoRA adapter lower"/>
          <p:cNvSpPr/>
          <p:nvPr/>
        </p:nvSpPr>
        <p:spPr>
          <a:xfrm>
            <a:off x="17287875" y="3371850"/>
            <a:ext cx="676275" cy="419100"/>
          </a:xfrm>
          <a:custGeom>
            <a:avLst/>
            <a:gdLst/>
            <a:ahLst/>
            <a:cxnLst/>
            <a:rect l="0" t="0" r="r" b="b"/>
            <a:pathLst>
              <a:path w="71000" h="44000">
                <a:moveTo>
                  <a:pt x="19170" y="0"/>
                </a:moveTo>
                <a:lnTo>
                  <a:pt x="51830" y="0"/>
                </a:lnTo>
                <a:cubicBezTo>
                  <a:pt x="53960" y="0"/>
                  <a:pt x="53960" y="0"/>
                  <a:pt x="55380" y="3000"/>
                </a:cubicBezTo>
                <a:lnTo>
                  <a:pt x="70000" y="41000"/>
                </a:lnTo>
                <a:cubicBezTo>
                  <a:pt x="71000" y="44000"/>
                  <a:pt x="70000" y="44000"/>
                  <a:pt x="68000" y="44000"/>
                </a:cubicBezTo>
                <a:lnTo>
                  <a:pt x="3000" y="44000"/>
                </a:lnTo>
                <a:cubicBezTo>
                  <a:pt x="0" y="44000"/>
                  <a:pt x="0" y="44000"/>
                  <a:pt x="1000" y="41000"/>
                </a:cubicBezTo>
                <a:lnTo>
                  <a:pt x="16330" y="3000"/>
                </a:lnTo>
                <a:cubicBezTo>
                  <a:pt x="17040" y="0"/>
                  <a:pt x="17040" y="0"/>
                  <a:pt x="19170" y="0"/>
                </a:cubicBezTo>
                <a:close/>
              </a:path>
            </a:pathLst>
          </a:custGeom>
          <a:solidFill>
            <a:srgbClr val="B5E9F8"/>
          </a:solidFill>
          <a:ln w="24765" cap="flat">
            <a:solidFill>
              <a:srgbClr val="799AD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LoRA MoE module / trainable flame"/>
          <p:cNvSpPr/>
          <p:nvPr/>
        </p:nvSpPr>
        <p:spPr>
          <a:xfrm>
            <a:off x="17696855" y="3543300"/>
            <a:ext cx="340519" cy="320040"/>
          </a:xfrm>
          <a:custGeom>
            <a:avLst/>
            <a:gdLst/>
            <a:ahLst/>
            <a:cxnLst/>
            <a:rect l="0" t="0" r="r" b="b"/>
            <a:pathLst>
              <a:path w="35750" h="33600">
                <a:moveTo>
                  <a:pt x="17062" y="0"/>
                </a:moveTo>
                <a:cubicBezTo>
                  <a:pt x="18688" y="5600"/>
                  <a:pt x="24375" y="5600"/>
                  <a:pt x="23562" y="13600"/>
                </a:cubicBezTo>
                <a:cubicBezTo>
                  <a:pt x="26000" y="11200"/>
                  <a:pt x="26000" y="8800"/>
                  <a:pt x="26000" y="7200"/>
                </a:cubicBezTo>
                <a:cubicBezTo>
                  <a:pt x="35750" y="17600"/>
                  <a:pt x="29250" y="31200"/>
                  <a:pt x="18688" y="32000"/>
                </a:cubicBezTo>
                <a:cubicBezTo>
                  <a:pt x="5688" y="33600"/>
                  <a:pt x="0" y="20800"/>
                  <a:pt x="8125" y="11200"/>
                </a:cubicBezTo>
                <a:cubicBezTo>
                  <a:pt x="8125" y="16000"/>
                  <a:pt x="10562" y="16000"/>
                  <a:pt x="10562" y="17600"/>
                </a:cubicBezTo>
                <a:cubicBezTo>
                  <a:pt x="8938" y="9600"/>
                  <a:pt x="14625" y="8000"/>
                  <a:pt x="17062" y="0"/>
                </a:cubicBezTo>
                <a:close/>
              </a:path>
            </a:pathLst>
          </a:custGeom>
          <a:solidFill>
            <a:srgbClr val="FF5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LoRA MoE module / flame inner"/>
          <p:cNvSpPr/>
          <p:nvPr/>
        </p:nvSpPr>
        <p:spPr>
          <a:xfrm>
            <a:off x="17781984" y="3680460"/>
            <a:ext cx="177998" cy="205740"/>
          </a:xfrm>
          <a:custGeom>
            <a:avLst/>
            <a:gdLst/>
            <a:ahLst/>
            <a:cxnLst/>
            <a:rect l="0" t="0" r="r" b="b"/>
            <a:pathLst>
              <a:path w="18688" h="21600">
                <a:moveTo>
                  <a:pt x="8125" y="0"/>
                </a:moveTo>
                <a:cubicBezTo>
                  <a:pt x="11375" y="4000"/>
                  <a:pt x="13000" y="5600"/>
                  <a:pt x="11375" y="8800"/>
                </a:cubicBezTo>
                <a:cubicBezTo>
                  <a:pt x="14625" y="8000"/>
                  <a:pt x="15438" y="6400"/>
                  <a:pt x="15438" y="5600"/>
                </a:cubicBezTo>
                <a:cubicBezTo>
                  <a:pt x="18688" y="16000"/>
                  <a:pt x="7312" y="21600"/>
                  <a:pt x="2438" y="13600"/>
                </a:cubicBezTo>
                <a:cubicBezTo>
                  <a:pt x="0" y="9600"/>
                  <a:pt x="4062" y="5600"/>
                  <a:pt x="4875" y="3200"/>
                </a:cubicBezTo>
                <a:cubicBezTo>
                  <a:pt x="5688" y="8000"/>
                  <a:pt x="7312" y="5600"/>
                  <a:pt x="8125" y="0"/>
                </a:cubicBezTo>
                <a:close/>
              </a:path>
            </a:pathLst>
          </a:custGeom>
          <a:solidFill>
            <a:srgbClr val="FFD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LoRA MoE module / Expert N"/>
          <p:cNvSpPr txBox="1"/>
          <p:nvPr/>
        </p:nvSpPr>
        <p:spPr>
          <a:xfrm>
            <a:off x="17221200" y="3867150"/>
            <a:ext cx="809625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7" b="1" i="0" dirty="0" kern="1200">
                <a:solidFill>
                  <a:srgbClr val="272525"/>
                </a:solidFill>
                <a:latin typeface="Arial"/>
              </a:rPr>
              <a:t>Expert N</a:t>
            </a:r>
          </a:p>
        </p:txBody>
      </p:sp>
      <p:sp>
        <p:nvSpPr>
          <p:cNvPr id="340" name="LoRA MoE module / ..."/>
          <p:cNvSpPr txBox="1"/>
          <p:nvPr/>
        </p:nvSpPr>
        <p:spPr>
          <a:xfrm>
            <a:off x="17030700" y="3143250"/>
            <a:ext cx="276225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dirty="0" kern="1200">
                <a:solidFill>
                  <a:srgbClr val="272525"/>
                </a:solidFill>
                <a:latin typeface="Times New Roman"/>
              </a:rPr>
              <a:t>...</a:t>
            </a:r>
          </a:p>
        </p:txBody>
      </p:sp>
      <p:sp>
        <p:nvSpPr>
          <p:cNvPr id="341" name="LoRA MoE module / TopK=1"/>
          <p:cNvSpPr txBox="1"/>
          <p:nvPr/>
        </p:nvSpPr>
        <p:spPr>
          <a:xfrm>
            <a:off x="15220950" y="4533900"/>
            <a:ext cx="762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dirty="0" kern="1200">
                <a:solidFill>
                  <a:srgbClr val="272525"/>
                </a:solidFill>
                <a:latin typeface="Arial"/>
              </a:rPr>
              <a:t>TopK=1</a:t>
            </a:r>
          </a:p>
        </p:txBody>
      </p:sp>
      <p:sp>
        <p:nvSpPr>
          <p:cNvPr id="342" name="LoRA MoE module / router score"/>
          <p:cNvSpPr/>
          <p:nvPr/>
        </p:nvSpPr>
        <p:spPr>
          <a:xfrm>
            <a:off x="15944850" y="4762500"/>
            <a:ext cx="190500" cy="247650"/>
          </a:xfrm>
          <a:prstGeom prst="rect">
            <a:avLst/>
          </a:prstGeom>
          <a:solidFill>
            <a:srgbClr val="DBBDD9"/>
          </a:solidFill>
          <a:ln w="11906" cap="flat">
            <a:solidFill>
              <a:srgbClr val="9B6DB4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LoRA MoE module / router score"/>
          <p:cNvSpPr/>
          <p:nvPr/>
        </p:nvSpPr>
        <p:spPr>
          <a:xfrm>
            <a:off x="16144875" y="4600575"/>
            <a:ext cx="190500" cy="409575"/>
          </a:xfrm>
          <a:prstGeom prst="rect">
            <a:avLst/>
          </a:prstGeom>
          <a:solidFill>
            <a:srgbClr val="DBBDD9"/>
          </a:solidFill>
          <a:ln w="11906" cap="flat">
            <a:solidFill>
              <a:srgbClr val="9B6DB4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LoRA MoE module / router score"/>
          <p:cNvSpPr/>
          <p:nvPr/>
        </p:nvSpPr>
        <p:spPr>
          <a:xfrm>
            <a:off x="16335375" y="4438650"/>
            <a:ext cx="190500" cy="571500"/>
          </a:xfrm>
          <a:prstGeom prst="rect">
            <a:avLst/>
          </a:prstGeom>
          <a:solidFill>
            <a:srgbClr val="DBBDD9"/>
          </a:solidFill>
          <a:ln w="11906" cap="flat">
            <a:solidFill>
              <a:srgbClr val="9B6DB4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LoRA MoE module / router score"/>
          <p:cNvSpPr/>
          <p:nvPr/>
        </p:nvSpPr>
        <p:spPr>
          <a:xfrm>
            <a:off x="16535400" y="4705350"/>
            <a:ext cx="190500" cy="304800"/>
          </a:xfrm>
          <a:prstGeom prst="rect">
            <a:avLst/>
          </a:prstGeom>
          <a:solidFill>
            <a:srgbClr val="DBBDD9"/>
          </a:solidFill>
          <a:ln w="11906" cap="flat">
            <a:solidFill>
              <a:srgbClr val="9B6DB4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LoRA MoE module / connector"/>
          <p:cNvSpPr/>
          <p:nvPr/>
        </p:nvSpPr>
        <p:spPr>
          <a:xfrm>
            <a:off x="16002000" y="4810125"/>
            <a:ext cx="76200" cy="76200"/>
          </a:xfrm>
          <a:custGeom>
            <a:avLst/>
            <a:gdLst/>
            <a:ahLst/>
            <a:cxnLst/>
            <a:rect l="0" t="0" r="r" b="b"/>
            <a:pathLst>
              <a:path w="8000" h="8000">
                <a:moveTo>
                  <a:pt x="0" y="0"/>
                </a:moveTo>
                <a:lnTo>
                  <a:pt x="8000" y="8000"/>
                </a:lnTo>
              </a:path>
            </a:pathLst>
          </a:custGeom>
          <a:noFill/>
          <a:ln w="34290" cap="flat">
            <a:solidFill>
              <a:srgbClr val="CF413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LoRA MoE module / connector"/>
          <p:cNvSpPr/>
          <p:nvPr/>
        </p:nvSpPr>
        <p:spPr>
          <a:xfrm>
            <a:off x="16002000" y="4810125"/>
            <a:ext cx="76200" cy="76200"/>
          </a:xfrm>
          <a:custGeom>
            <a:avLst/>
            <a:gdLst/>
            <a:ahLst/>
            <a:cxnLst/>
            <a:rect l="0" t="0" r="r" b="b"/>
            <a:pathLst>
              <a:path w="8000" h="8000">
                <a:moveTo>
                  <a:pt x="0" y="8000"/>
                </a:moveTo>
                <a:lnTo>
                  <a:pt x="8000" y="0"/>
                </a:lnTo>
              </a:path>
            </a:pathLst>
          </a:custGeom>
          <a:noFill/>
          <a:ln w="34290" cap="flat">
            <a:solidFill>
              <a:srgbClr val="CF413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LoRA MoE module / connector"/>
          <p:cNvSpPr/>
          <p:nvPr/>
        </p:nvSpPr>
        <p:spPr>
          <a:xfrm>
            <a:off x="16202025" y="4638675"/>
            <a:ext cx="76200" cy="76200"/>
          </a:xfrm>
          <a:custGeom>
            <a:avLst/>
            <a:gdLst/>
            <a:ahLst/>
            <a:cxnLst/>
            <a:rect l="0" t="0" r="r" b="b"/>
            <a:pathLst>
              <a:path w="8000" h="8000">
                <a:moveTo>
                  <a:pt x="0" y="0"/>
                </a:moveTo>
                <a:lnTo>
                  <a:pt x="8000" y="8000"/>
                </a:lnTo>
              </a:path>
            </a:pathLst>
          </a:custGeom>
          <a:noFill/>
          <a:ln w="34290" cap="flat">
            <a:solidFill>
              <a:srgbClr val="CF413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LoRA MoE module / connector"/>
          <p:cNvSpPr/>
          <p:nvPr/>
        </p:nvSpPr>
        <p:spPr>
          <a:xfrm>
            <a:off x="16202025" y="4638675"/>
            <a:ext cx="76200" cy="76200"/>
          </a:xfrm>
          <a:custGeom>
            <a:avLst/>
            <a:gdLst/>
            <a:ahLst/>
            <a:cxnLst/>
            <a:rect l="0" t="0" r="r" b="b"/>
            <a:pathLst>
              <a:path w="8000" h="8000">
                <a:moveTo>
                  <a:pt x="0" y="8000"/>
                </a:moveTo>
                <a:lnTo>
                  <a:pt x="8000" y="0"/>
                </a:lnTo>
              </a:path>
            </a:pathLst>
          </a:custGeom>
          <a:noFill/>
          <a:ln w="34290" cap="flat">
            <a:solidFill>
              <a:srgbClr val="CF413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LoRA MoE module / connector"/>
          <p:cNvSpPr/>
          <p:nvPr/>
        </p:nvSpPr>
        <p:spPr>
          <a:xfrm>
            <a:off x="16592550" y="4752975"/>
            <a:ext cx="76200" cy="76200"/>
          </a:xfrm>
          <a:custGeom>
            <a:avLst/>
            <a:gdLst/>
            <a:ahLst/>
            <a:cxnLst/>
            <a:rect l="0" t="0" r="r" b="b"/>
            <a:pathLst>
              <a:path w="8000" h="8000">
                <a:moveTo>
                  <a:pt x="0" y="0"/>
                </a:moveTo>
                <a:lnTo>
                  <a:pt x="8000" y="8000"/>
                </a:lnTo>
              </a:path>
            </a:pathLst>
          </a:custGeom>
          <a:noFill/>
          <a:ln w="34290" cap="flat">
            <a:solidFill>
              <a:srgbClr val="CF413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LoRA MoE module / connector"/>
          <p:cNvSpPr/>
          <p:nvPr/>
        </p:nvSpPr>
        <p:spPr>
          <a:xfrm>
            <a:off x="16592550" y="4752975"/>
            <a:ext cx="76200" cy="76200"/>
          </a:xfrm>
          <a:custGeom>
            <a:avLst/>
            <a:gdLst/>
            <a:ahLst/>
            <a:cxnLst/>
            <a:rect l="0" t="0" r="r" b="b"/>
            <a:pathLst>
              <a:path w="8000" h="8000">
                <a:moveTo>
                  <a:pt x="0" y="8000"/>
                </a:moveTo>
                <a:lnTo>
                  <a:pt x="8000" y="0"/>
                </a:lnTo>
              </a:path>
            </a:pathLst>
          </a:custGeom>
          <a:noFill/>
          <a:ln w="34290" cap="flat">
            <a:solidFill>
              <a:srgbClr val="CF413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LoRA MoE module / selected expert check"/>
          <p:cNvSpPr/>
          <p:nvPr/>
        </p:nvSpPr>
        <p:spPr>
          <a:xfrm>
            <a:off x="16363950" y="4467225"/>
            <a:ext cx="133350" cy="95250"/>
          </a:xfrm>
          <a:custGeom>
            <a:avLst/>
            <a:gdLst/>
            <a:ahLst/>
            <a:cxnLst/>
            <a:rect l="0" t="0" r="r" b="b"/>
            <a:pathLst>
              <a:path w="14000" h="10000">
                <a:moveTo>
                  <a:pt x="0" y="6000"/>
                </a:moveTo>
                <a:lnTo>
                  <a:pt x="5000" y="10000"/>
                </a:lnTo>
                <a:lnTo>
                  <a:pt x="14000" y="0"/>
                </a:lnTo>
              </a:path>
            </a:pathLst>
          </a:custGeom>
          <a:noFill/>
          <a:ln w="28575" cap="flat">
            <a:solidFill>
              <a:srgbClr val="31A74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LoRA MoE module / Route"/>
          <p:cNvSpPr/>
          <p:nvPr/>
        </p:nvSpPr>
        <p:spPr>
          <a:xfrm>
            <a:off x="15716250" y="5067300"/>
            <a:ext cx="1238250" cy="381000"/>
          </a:xfrm>
          <a:prstGeom prst="roundRect">
            <a:avLst>
              <a:gd name="adj" fmla="val 17500"/>
            </a:avLst>
          </a:prstGeom>
          <a:solidFill>
            <a:srgbClr val="C6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LoRA MoE module / Route"/>
          <p:cNvSpPr txBox="1"/>
          <p:nvPr/>
        </p:nvSpPr>
        <p:spPr>
          <a:xfrm>
            <a:off x="16021050" y="5114925"/>
            <a:ext cx="638175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dirty="0" kern="1200">
                <a:solidFill>
                  <a:srgbClr val="272525"/>
                </a:solidFill>
                <a:latin typeface="Arial"/>
              </a:rPr>
              <a:t>Route</a:t>
            </a:r>
          </a:p>
        </p:txBody>
      </p:sp>
      <p:sp>
        <p:nvSpPr>
          <p:cNvPr id="355" name="LoRA MoE module / trainable flame"/>
          <p:cNvSpPr/>
          <p:nvPr/>
        </p:nvSpPr>
        <p:spPr>
          <a:xfrm>
            <a:off x="16741378" y="5191125"/>
            <a:ext cx="366712" cy="330041"/>
          </a:xfrm>
          <a:custGeom>
            <a:avLst/>
            <a:gdLst/>
            <a:ahLst/>
            <a:cxnLst/>
            <a:rect l="0" t="0" r="r" b="b"/>
            <a:pathLst>
              <a:path w="38500" h="34650">
                <a:moveTo>
                  <a:pt x="18375" y="0"/>
                </a:moveTo>
                <a:cubicBezTo>
                  <a:pt x="20125" y="5775"/>
                  <a:pt x="26250" y="5775"/>
                  <a:pt x="25375" y="14025"/>
                </a:cubicBezTo>
                <a:cubicBezTo>
                  <a:pt x="28000" y="11550"/>
                  <a:pt x="28000" y="9075"/>
                  <a:pt x="28000" y="7425"/>
                </a:cubicBezTo>
                <a:cubicBezTo>
                  <a:pt x="38500" y="18150"/>
                  <a:pt x="31500" y="32175"/>
                  <a:pt x="20125" y="33000"/>
                </a:cubicBezTo>
                <a:cubicBezTo>
                  <a:pt x="6125" y="34650"/>
                  <a:pt x="0" y="21450"/>
                  <a:pt x="8750" y="11550"/>
                </a:cubicBezTo>
                <a:cubicBezTo>
                  <a:pt x="8750" y="16500"/>
                  <a:pt x="11375" y="16500"/>
                  <a:pt x="11375" y="18150"/>
                </a:cubicBezTo>
                <a:cubicBezTo>
                  <a:pt x="9625" y="9900"/>
                  <a:pt x="15750" y="8250"/>
                  <a:pt x="18375" y="0"/>
                </a:cubicBezTo>
                <a:close/>
              </a:path>
            </a:pathLst>
          </a:custGeom>
          <a:solidFill>
            <a:srgbClr val="FF5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LoRA MoE module / flame inner"/>
          <p:cNvSpPr/>
          <p:nvPr/>
        </p:nvSpPr>
        <p:spPr>
          <a:xfrm>
            <a:off x="16833056" y="5332571"/>
            <a:ext cx="191691" cy="212169"/>
          </a:xfrm>
          <a:custGeom>
            <a:avLst/>
            <a:gdLst/>
            <a:ahLst/>
            <a:cxnLst/>
            <a:rect l="0" t="0" r="r" b="b"/>
            <a:pathLst>
              <a:path w="20125" h="22275">
                <a:moveTo>
                  <a:pt x="8750" y="0"/>
                </a:moveTo>
                <a:cubicBezTo>
                  <a:pt x="12250" y="4125"/>
                  <a:pt x="14000" y="5775"/>
                  <a:pt x="12250" y="9075"/>
                </a:cubicBezTo>
                <a:cubicBezTo>
                  <a:pt x="15750" y="8250"/>
                  <a:pt x="16625" y="6600"/>
                  <a:pt x="16625" y="5775"/>
                </a:cubicBezTo>
                <a:cubicBezTo>
                  <a:pt x="20125" y="16500"/>
                  <a:pt x="7875" y="22275"/>
                  <a:pt x="2625" y="14025"/>
                </a:cubicBezTo>
                <a:cubicBezTo>
                  <a:pt x="0" y="9900"/>
                  <a:pt x="4375" y="5775"/>
                  <a:pt x="5250" y="3300"/>
                </a:cubicBezTo>
                <a:cubicBezTo>
                  <a:pt x="6125" y="8250"/>
                  <a:pt x="7875" y="5775"/>
                  <a:pt x="8750" y="0"/>
                </a:cubicBezTo>
                <a:close/>
              </a:path>
            </a:pathLst>
          </a:custGeom>
          <a:solidFill>
            <a:srgbClr val="FFD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LoRA MoE module / connector"/>
          <p:cNvSpPr/>
          <p:nvPr/>
        </p:nvSpPr>
        <p:spPr>
          <a:xfrm>
            <a:off x="16354425" y="5524500"/>
            <a:ext cx="476" cy="381000"/>
          </a:xfrm>
          <a:custGeom>
            <a:avLst/>
            <a:gdLst/>
            <a:ahLst/>
            <a:cxnLst/>
            <a:rect l="0" t="0" r="r" b="b"/>
            <a:pathLst>
              <a:path w="50" h="40000">
                <a:moveTo>
                  <a:pt x="0" y="40000"/>
                </a:moveTo>
                <a:lnTo>
                  <a:pt x="0" y="0"/>
                </a:lnTo>
              </a:path>
            </a:pathLst>
          </a:custGeom>
          <a:noFill/>
          <a:ln w="18098" cap="flat">
            <a:solidFill>
              <a:srgbClr val="27252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LoRA MoE module / connector arrowhead"/>
          <p:cNvSpPr/>
          <p:nvPr/>
        </p:nvSpPr>
        <p:spPr>
          <a:xfrm>
            <a:off x="16314991" y="5524500"/>
            <a:ext cx="78867" cy="92488"/>
          </a:xfrm>
          <a:custGeom>
            <a:avLst/>
            <a:gdLst/>
            <a:ahLst/>
            <a:cxnLst/>
            <a:rect l="0" t="0" r="r" b="b"/>
            <a:pathLst>
              <a:path w="8280" h="9710">
                <a:moveTo>
                  <a:pt x="4140" y="0"/>
                </a:moveTo>
                <a:lnTo>
                  <a:pt x="8280" y="9710"/>
                </a:lnTo>
                <a:lnTo>
                  <a:pt x="4140" y="6991"/>
                </a:lnTo>
                <a:lnTo>
                  <a:pt x="0" y="9710"/>
                </a:lnTo>
                <a:close/>
              </a:path>
            </a:pathLst>
          </a:custGeom>
          <a:solidFill>
            <a:srgbClr val="27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LoRA MoE module / MoE input tokens 1"/>
          <p:cNvSpPr/>
          <p:nvPr/>
        </p:nvSpPr>
        <p:spPr>
          <a:xfrm>
            <a:off x="15497175" y="5962650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96CEEC"/>
          </a:solidFill>
          <a:ln w="23812" cap="flat">
            <a:solidFill>
              <a:srgbClr val="3889C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LoRA MoE module / MoE input tokens 2"/>
          <p:cNvSpPr/>
          <p:nvPr/>
        </p:nvSpPr>
        <p:spPr>
          <a:xfrm>
            <a:off x="15706725" y="5962650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96CEEC"/>
          </a:solidFill>
          <a:ln w="23812" cap="flat">
            <a:solidFill>
              <a:srgbClr val="3889C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LoRA MoE module / MoE input tokens 3"/>
          <p:cNvSpPr/>
          <p:nvPr/>
        </p:nvSpPr>
        <p:spPr>
          <a:xfrm>
            <a:off x="15916275" y="5962650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96CEEC"/>
          </a:solidFill>
          <a:ln w="23812" cap="flat">
            <a:solidFill>
              <a:srgbClr val="3889C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LoRA MoE module / MoE input tokens 4"/>
          <p:cNvSpPr/>
          <p:nvPr/>
        </p:nvSpPr>
        <p:spPr>
          <a:xfrm>
            <a:off x="16125825" y="5962650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LoRA MoE module / MoE input tokens 5"/>
          <p:cNvSpPr/>
          <p:nvPr/>
        </p:nvSpPr>
        <p:spPr>
          <a:xfrm>
            <a:off x="16335375" y="5962650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LoRA MoE module / MoE input tokens 6"/>
          <p:cNvSpPr/>
          <p:nvPr/>
        </p:nvSpPr>
        <p:spPr>
          <a:xfrm>
            <a:off x="16544925" y="5962650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LoRA MoE module / MoE input tokens 7"/>
          <p:cNvSpPr/>
          <p:nvPr/>
        </p:nvSpPr>
        <p:spPr>
          <a:xfrm>
            <a:off x="16754475" y="5962650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LoRA MoE module / MoE input tokens 8"/>
          <p:cNvSpPr/>
          <p:nvPr/>
        </p:nvSpPr>
        <p:spPr>
          <a:xfrm>
            <a:off x="16964025" y="5962650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CD94C8"/>
          </a:solidFill>
          <a:ln w="23812" cap="flat">
            <a:solidFill>
              <a:srgbClr val="913C9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LoRA MoE module / Out Projection detail arrow"/>
          <p:cNvSpPr/>
          <p:nvPr/>
        </p:nvSpPr>
        <p:spPr>
          <a:xfrm>
            <a:off x="13287375" y="4124325"/>
            <a:ext cx="1066800" cy="381000"/>
          </a:xfrm>
          <a:custGeom>
            <a:avLst/>
            <a:gdLst/>
            <a:ahLst/>
            <a:cxnLst/>
            <a:rect l="0" t="0" r="r" b="b"/>
            <a:pathLst>
              <a:path w="112000" h="40000">
                <a:moveTo>
                  <a:pt x="0" y="10800"/>
                </a:moveTo>
                <a:lnTo>
                  <a:pt x="84000" y="10800"/>
                </a:lnTo>
                <a:lnTo>
                  <a:pt x="84000" y="0"/>
                </a:lnTo>
                <a:lnTo>
                  <a:pt x="112000" y="20000"/>
                </a:lnTo>
                <a:lnTo>
                  <a:pt x="84000" y="40000"/>
                </a:lnTo>
                <a:lnTo>
                  <a:pt x="84000" y="29200"/>
                </a:lnTo>
                <a:lnTo>
                  <a:pt x="0" y="2920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D28BB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Legend / legend frame"/>
          <p:cNvSpPr/>
          <p:nvPr/>
        </p:nvSpPr>
        <p:spPr>
          <a:xfrm>
            <a:off x="14744700" y="6629400"/>
            <a:ext cx="3324225" cy="3019425"/>
          </a:xfrm>
          <a:prstGeom prst="roundRect">
            <a:avLst>
              <a:gd name="adj" fmla="val 6624"/>
            </a:avLst>
          </a:prstGeom>
          <a:solidFill>
            <a:srgbClr val="FFFFFF"/>
          </a:solidFill>
          <a:ln w="21908" cap="flat">
            <a:solidFill>
              <a:srgbClr val="93DAF9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Legend / trainable flame"/>
          <p:cNvSpPr/>
          <p:nvPr/>
        </p:nvSpPr>
        <p:spPr>
          <a:xfrm>
            <a:off x="15008423" y="6715125"/>
            <a:ext cx="445294" cy="400050"/>
          </a:xfrm>
          <a:custGeom>
            <a:avLst/>
            <a:gdLst/>
            <a:ahLst/>
            <a:cxnLst/>
            <a:rect l="0" t="0" r="r" b="b"/>
            <a:pathLst>
              <a:path w="46750" h="42000">
                <a:moveTo>
                  <a:pt x="22312" y="0"/>
                </a:moveTo>
                <a:cubicBezTo>
                  <a:pt x="24438" y="7000"/>
                  <a:pt x="31875" y="7000"/>
                  <a:pt x="30812" y="17000"/>
                </a:cubicBezTo>
                <a:cubicBezTo>
                  <a:pt x="34000" y="14000"/>
                  <a:pt x="34000" y="11000"/>
                  <a:pt x="34000" y="9000"/>
                </a:cubicBezTo>
                <a:cubicBezTo>
                  <a:pt x="46750" y="22000"/>
                  <a:pt x="38250" y="39000"/>
                  <a:pt x="24438" y="40000"/>
                </a:cubicBezTo>
                <a:cubicBezTo>
                  <a:pt x="7438" y="42000"/>
                  <a:pt x="0" y="26000"/>
                  <a:pt x="10625" y="14000"/>
                </a:cubicBezTo>
                <a:cubicBezTo>
                  <a:pt x="10625" y="20000"/>
                  <a:pt x="13812" y="20000"/>
                  <a:pt x="13812" y="22000"/>
                </a:cubicBezTo>
                <a:cubicBezTo>
                  <a:pt x="11688" y="12000"/>
                  <a:pt x="19125" y="10000"/>
                  <a:pt x="22312" y="0"/>
                </a:cubicBezTo>
                <a:close/>
              </a:path>
            </a:pathLst>
          </a:custGeom>
          <a:solidFill>
            <a:srgbClr val="FF5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Legend / flame inner"/>
          <p:cNvSpPr/>
          <p:nvPr/>
        </p:nvSpPr>
        <p:spPr>
          <a:xfrm>
            <a:off x="15119747" y="6886575"/>
            <a:ext cx="232767" cy="257175"/>
          </a:xfrm>
          <a:custGeom>
            <a:avLst/>
            <a:gdLst/>
            <a:ahLst/>
            <a:cxnLst/>
            <a:rect l="0" t="0" r="r" b="b"/>
            <a:pathLst>
              <a:path w="24438" h="27000">
                <a:moveTo>
                  <a:pt x="10625" y="0"/>
                </a:moveTo>
                <a:cubicBezTo>
                  <a:pt x="14875" y="5000"/>
                  <a:pt x="17000" y="7000"/>
                  <a:pt x="14875" y="11000"/>
                </a:cubicBezTo>
                <a:cubicBezTo>
                  <a:pt x="19125" y="10000"/>
                  <a:pt x="20188" y="8000"/>
                  <a:pt x="20188" y="7000"/>
                </a:cubicBezTo>
                <a:cubicBezTo>
                  <a:pt x="24438" y="20000"/>
                  <a:pt x="9562" y="27000"/>
                  <a:pt x="3188" y="17000"/>
                </a:cubicBezTo>
                <a:cubicBezTo>
                  <a:pt x="0" y="12000"/>
                  <a:pt x="5312" y="7000"/>
                  <a:pt x="6375" y="4000"/>
                </a:cubicBezTo>
                <a:cubicBezTo>
                  <a:pt x="7438" y="10000"/>
                  <a:pt x="9562" y="7000"/>
                  <a:pt x="10625" y="0"/>
                </a:cubicBezTo>
                <a:close/>
              </a:path>
            </a:pathLst>
          </a:custGeom>
          <a:solidFill>
            <a:srgbClr val="FFD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Legend / : Trainable Parameter"/>
          <p:cNvSpPr txBox="1"/>
          <p:nvPr/>
        </p:nvSpPr>
        <p:spPr>
          <a:xfrm>
            <a:off x="15582900" y="6819900"/>
            <a:ext cx="2400300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dirty="0" kern="1200">
                <a:solidFill>
                  <a:srgbClr val="272525"/>
                </a:solidFill>
                <a:latin typeface="Arial"/>
              </a:rPr>
              <a:t>: Trainable Parameter</a:t>
            </a:r>
          </a:p>
        </p:txBody>
      </p:sp>
      <p:sp>
        <p:nvSpPr>
          <p:cNvPr id="372" name="Legend / frozen ice outer"/>
          <p:cNvSpPr/>
          <p:nvPr/>
        </p:nvSpPr>
        <p:spPr>
          <a:xfrm>
            <a:off x="15069145" y="7305955"/>
            <a:ext cx="303609" cy="313765"/>
          </a:xfrm>
          <a:custGeom>
            <a:avLst/>
            <a:gdLst/>
            <a:ahLst/>
            <a:cxnLst/>
            <a:rect l="0" t="0" r="r" b="b"/>
            <a:pathLst>
              <a:path w="31875" h="32941">
                <a:moveTo>
                  <a:pt x="2125" y="4118"/>
                </a:moveTo>
                <a:lnTo>
                  <a:pt x="22312" y="0"/>
                </a:lnTo>
                <a:lnTo>
                  <a:pt x="31875" y="3088"/>
                </a:lnTo>
                <a:lnTo>
                  <a:pt x="29750" y="27794"/>
                </a:lnTo>
                <a:lnTo>
                  <a:pt x="22312" y="32941"/>
                </a:lnTo>
                <a:lnTo>
                  <a:pt x="0" y="29853"/>
                </a:lnTo>
                <a:close/>
              </a:path>
            </a:pathLst>
          </a:custGeom>
          <a:solidFill>
            <a:srgbClr val="75CFF0"/>
          </a:solidFill>
          <a:ln w="11906" cap="flat">
            <a:solidFill>
              <a:srgbClr val="396BA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Legend / ice top"/>
          <p:cNvSpPr/>
          <p:nvPr/>
        </p:nvSpPr>
        <p:spPr>
          <a:xfrm>
            <a:off x="15089386" y="7305955"/>
            <a:ext cx="283369" cy="68636"/>
          </a:xfrm>
          <a:custGeom>
            <a:avLst/>
            <a:gdLst/>
            <a:ahLst/>
            <a:cxnLst/>
            <a:rect l="0" t="0" r="r" b="b"/>
            <a:pathLst>
              <a:path w="29750" h="7206">
                <a:moveTo>
                  <a:pt x="0" y="4118"/>
                </a:moveTo>
                <a:lnTo>
                  <a:pt x="22312" y="7206"/>
                </a:lnTo>
                <a:lnTo>
                  <a:pt x="29750" y="3088"/>
                </a:lnTo>
                <a:lnTo>
                  <a:pt x="20188" y="0"/>
                </a:lnTo>
                <a:close/>
              </a:path>
            </a:pathLst>
          </a:custGeom>
          <a:solidFill>
            <a:srgbClr val="A6EDFE"/>
          </a:solidFill>
          <a:ln w="7620" cap="flat">
            <a:solidFill>
              <a:srgbClr val="3C83B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Legend / ice side"/>
          <p:cNvSpPr/>
          <p:nvPr/>
        </p:nvSpPr>
        <p:spPr>
          <a:xfrm>
            <a:off x="15281672" y="7335371"/>
            <a:ext cx="91083" cy="284349"/>
          </a:xfrm>
          <a:custGeom>
            <a:avLst/>
            <a:gdLst/>
            <a:ahLst/>
            <a:cxnLst/>
            <a:rect l="0" t="0" r="r" b="b"/>
            <a:pathLst>
              <a:path w="9562" h="29853">
                <a:moveTo>
                  <a:pt x="2125" y="4118"/>
                </a:moveTo>
                <a:lnTo>
                  <a:pt x="9562" y="0"/>
                </a:lnTo>
                <a:lnTo>
                  <a:pt x="7438" y="24706"/>
                </a:lnTo>
                <a:lnTo>
                  <a:pt x="0" y="29853"/>
                </a:lnTo>
                <a:close/>
              </a:path>
            </a:pathLst>
          </a:custGeom>
          <a:solidFill>
            <a:srgbClr val="39ADD7"/>
          </a:solidFill>
          <a:ln w="7620" cap="flat">
            <a:solidFill>
              <a:srgbClr val="397AA9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Legend / ice front"/>
          <p:cNvSpPr/>
          <p:nvPr/>
        </p:nvSpPr>
        <p:spPr>
          <a:xfrm>
            <a:off x="15069145" y="7345176"/>
            <a:ext cx="232767" cy="274544"/>
          </a:xfrm>
          <a:custGeom>
            <a:avLst/>
            <a:gdLst/>
            <a:ahLst/>
            <a:cxnLst/>
            <a:rect l="0" t="0" r="r" b="b"/>
            <a:pathLst>
              <a:path w="24438" h="28824">
                <a:moveTo>
                  <a:pt x="2125" y="0"/>
                </a:moveTo>
                <a:lnTo>
                  <a:pt x="24438" y="3088"/>
                </a:lnTo>
                <a:lnTo>
                  <a:pt x="22312" y="28824"/>
                </a:lnTo>
                <a:lnTo>
                  <a:pt x="0" y="25735"/>
                </a:lnTo>
                <a:close/>
              </a:path>
            </a:pathLst>
          </a:custGeom>
          <a:solidFill>
            <a:srgbClr val="A2DEFA"/>
          </a:solidFill>
          <a:ln w="6668" cap="flat">
            <a:solidFill>
              <a:srgbClr val="397AA9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Legend / curved connector"/>
          <p:cNvSpPr/>
          <p:nvPr/>
        </p:nvSpPr>
        <p:spPr>
          <a:xfrm>
            <a:off x="15120556" y="7362825"/>
            <a:ext cx="126301" cy="53340"/>
          </a:xfrm>
          <a:custGeom>
            <a:avLst/>
            <a:gdLst/>
            <a:ahLst/>
            <a:cxnLst/>
            <a:rect l="0" t="0" r="r" b="b"/>
            <a:pathLst>
              <a:path w="13260" h="5600">
                <a:moveTo>
                  <a:pt x="0" y="3500"/>
                </a:moveTo>
                <a:cubicBezTo>
                  <a:pt x="3400" y="0"/>
                  <a:pt x="8500" y="5600"/>
                  <a:pt x="13260" y="2800"/>
                </a:cubicBezTo>
              </a:path>
            </a:pathLst>
          </a:custGeom>
          <a:noFill/>
          <a:ln w="12382" cap="flat">
            <a:solidFill>
              <a:srgbClr val="E5FA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Legend / curved connector"/>
          <p:cNvSpPr/>
          <p:nvPr/>
        </p:nvSpPr>
        <p:spPr>
          <a:xfrm>
            <a:off x="15084933" y="7522845"/>
            <a:ext cx="148971" cy="53340"/>
          </a:xfrm>
          <a:custGeom>
            <a:avLst/>
            <a:gdLst/>
            <a:ahLst/>
            <a:cxnLst/>
            <a:rect l="0" t="0" r="r" b="b"/>
            <a:pathLst>
              <a:path w="15640" h="5600">
                <a:moveTo>
                  <a:pt x="0" y="0"/>
                </a:moveTo>
                <a:cubicBezTo>
                  <a:pt x="5100" y="5600"/>
                  <a:pt x="10880" y="1750"/>
                  <a:pt x="15640" y="4550"/>
                </a:cubicBezTo>
              </a:path>
            </a:pathLst>
          </a:custGeom>
          <a:noFill/>
          <a:ln w="10478" cap="flat">
            <a:solidFill>
              <a:srgbClr val="EEFC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Legend / ice eye"/>
          <p:cNvSpPr/>
          <p:nvPr/>
        </p:nvSpPr>
        <p:spPr>
          <a:xfrm>
            <a:off x="15133510" y="7472839"/>
            <a:ext cx="19431" cy="20002"/>
          </a:xfrm>
          <a:prstGeom prst="ellipse">
            <a:avLst/>
          </a:prstGeom>
          <a:solidFill>
            <a:srgbClr val="326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Legend / ice eye"/>
          <p:cNvSpPr/>
          <p:nvPr/>
        </p:nvSpPr>
        <p:spPr>
          <a:xfrm>
            <a:off x="15224188" y="7479506"/>
            <a:ext cx="19431" cy="20002"/>
          </a:xfrm>
          <a:prstGeom prst="ellipse">
            <a:avLst/>
          </a:prstGeom>
          <a:solidFill>
            <a:srgbClr val="326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Legend / curved connector"/>
          <p:cNvSpPr/>
          <p:nvPr/>
        </p:nvSpPr>
        <p:spPr>
          <a:xfrm>
            <a:off x="15156180" y="7519511"/>
            <a:ext cx="51816" cy="23336"/>
          </a:xfrm>
          <a:custGeom>
            <a:avLst/>
            <a:gdLst/>
            <a:ahLst/>
            <a:cxnLst/>
            <a:rect l="0" t="0" r="r" b="b"/>
            <a:pathLst>
              <a:path w="5440" h="2450">
                <a:moveTo>
                  <a:pt x="0" y="0"/>
                </a:moveTo>
                <a:cubicBezTo>
                  <a:pt x="2040" y="2100"/>
                  <a:pt x="4080" y="2450"/>
                  <a:pt x="5440" y="0"/>
                </a:cubicBezTo>
              </a:path>
            </a:pathLst>
          </a:custGeom>
          <a:noFill/>
          <a:ln w="7144" cap="flat">
            <a:solidFill>
              <a:srgbClr val="4784AA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Legend / connector"/>
          <p:cNvSpPr/>
          <p:nvPr/>
        </p:nvSpPr>
        <p:spPr>
          <a:xfrm>
            <a:off x="15301912" y="7406164"/>
            <a:ext cx="16193" cy="113348"/>
          </a:xfrm>
          <a:custGeom>
            <a:avLst/>
            <a:gdLst/>
            <a:ahLst/>
            <a:cxnLst/>
            <a:rect l="0" t="0" r="r" b="b"/>
            <a:pathLst>
              <a:path w="1700" h="11900">
                <a:moveTo>
                  <a:pt x="1700" y="0"/>
                </a:moveTo>
                <a:lnTo>
                  <a:pt x="0" y="11900"/>
                </a:lnTo>
              </a:path>
            </a:pathLst>
          </a:custGeom>
          <a:noFill/>
          <a:ln w="13335" cap="flat">
            <a:solidFill>
              <a:srgbClr val="9BF0F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Legend / : Frozen Parameter"/>
          <p:cNvSpPr txBox="1"/>
          <p:nvPr/>
        </p:nvSpPr>
        <p:spPr>
          <a:xfrm>
            <a:off x="15592425" y="7381875"/>
            <a:ext cx="2352675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dirty="0" kern="1200">
                <a:solidFill>
                  <a:srgbClr val="272525"/>
                </a:solidFill>
                <a:latin typeface="Arial"/>
              </a:rPr>
              <a:t>: Frozen Parameter</a:t>
            </a:r>
          </a:p>
        </p:txBody>
      </p:sp>
      <p:sp>
        <p:nvSpPr>
          <p:cNvPr id="383" name="Legend / standard LoRA legend swatch"/>
          <p:cNvSpPr/>
          <p:nvPr/>
        </p:nvSpPr>
        <p:spPr>
          <a:xfrm>
            <a:off x="14878050" y="7896225"/>
            <a:ext cx="685800" cy="295275"/>
          </a:xfrm>
          <a:prstGeom prst="roundRect">
            <a:avLst>
              <a:gd name="adj" fmla="val 22580"/>
            </a:avLst>
          </a:prstGeom>
          <a:solidFill>
            <a:srgbClr val="DFAACB"/>
          </a:solidFill>
          <a:ln w="19050" cap="flat">
            <a:solidFill>
              <a:srgbClr val="FF00A1"/>
            </a:solidFill>
            <a:round/>
            <a:custDash>
              <a:ds d="800000" sp="7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Legend / : Standard LoRA Tuning"/>
          <p:cNvSpPr txBox="1"/>
          <p:nvPr/>
        </p:nvSpPr>
        <p:spPr>
          <a:xfrm>
            <a:off x="15601950" y="7962900"/>
            <a:ext cx="2390775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3" b="1" i="0" dirty="0" kern="1200">
                <a:solidFill>
                  <a:srgbClr val="272525"/>
                </a:solidFill>
                <a:latin typeface="Arial"/>
              </a:rPr>
              <a:t>: Standard LoRA Tuning</a:t>
            </a:r>
          </a:p>
        </p:txBody>
      </p:sp>
      <p:sp>
        <p:nvSpPr>
          <p:cNvPr id="385" name="Legend / MoE LoRA legend swatch"/>
          <p:cNvSpPr/>
          <p:nvPr/>
        </p:nvSpPr>
        <p:spPr>
          <a:xfrm>
            <a:off x="14878050" y="8458200"/>
            <a:ext cx="704850" cy="304800"/>
          </a:xfrm>
          <a:prstGeom prst="roundRect">
            <a:avLst>
              <a:gd name="adj" fmla="val 25000"/>
            </a:avLst>
          </a:prstGeom>
          <a:solidFill>
            <a:srgbClr val="DFAACB"/>
          </a:solidFill>
          <a:ln w="24765" cap="flat">
            <a:solidFill>
              <a:srgbClr val="FF342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Legend / : LoRA-MoE Tuning"/>
          <p:cNvSpPr txBox="1"/>
          <p:nvPr/>
        </p:nvSpPr>
        <p:spPr>
          <a:xfrm>
            <a:off x="15621000" y="8524875"/>
            <a:ext cx="2362200" cy="295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dirty="0" kern="1200">
                <a:solidFill>
                  <a:srgbClr val="272525"/>
                </a:solidFill>
                <a:latin typeface="Arial"/>
              </a:rPr>
              <a:t>: LoRA-MoE Tuning</a:t>
            </a:r>
          </a:p>
        </p:txBody>
      </p:sp>
      <p:sp>
        <p:nvSpPr>
          <p:cNvPr id="387" name="Legend / LoRA adapter upper"/>
          <p:cNvSpPr/>
          <p:nvPr/>
        </p:nvSpPr>
        <p:spPr>
          <a:xfrm>
            <a:off x="15001875" y="8953500"/>
            <a:ext cx="428625" cy="257175"/>
          </a:xfrm>
          <a:custGeom>
            <a:avLst/>
            <a:gdLst/>
            <a:ahLst/>
            <a:cxnLst/>
            <a:rect l="0" t="0" r="r" b="b"/>
            <a:pathLst>
              <a:path w="45000" h="27000">
                <a:moveTo>
                  <a:pt x="3000" y="0"/>
                </a:moveTo>
                <a:lnTo>
                  <a:pt x="42000" y="0"/>
                </a:lnTo>
                <a:cubicBezTo>
                  <a:pt x="45000" y="0"/>
                  <a:pt x="45000" y="1000"/>
                  <a:pt x="44000" y="4000"/>
                </a:cubicBezTo>
                <a:lnTo>
                  <a:pt x="34200" y="25000"/>
                </a:lnTo>
                <a:cubicBezTo>
                  <a:pt x="33750" y="27000"/>
                  <a:pt x="32850" y="27000"/>
                  <a:pt x="31950" y="27000"/>
                </a:cubicBezTo>
                <a:lnTo>
                  <a:pt x="12600" y="27000"/>
                </a:lnTo>
                <a:cubicBezTo>
                  <a:pt x="11250" y="27000"/>
                  <a:pt x="10800" y="27000"/>
                  <a:pt x="10350" y="25000"/>
                </a:cubicBezTo>
                <a:lnTo>
                  <a:pt x="1000" y="4000"/>
                </a:lnTo>
                <a:cubicBezTo>
                  <a:pt x="0" y="1000"/>
                  <a:pt x="0" y="0"/>
                  <a:pt x="3000" y="0"/>
                </a:cubicBezTo>
                <a:close/>
              </a:path>
            </a:pathLst>
          </a:custGeom>
          <a:solidFill>
            <a:srgbClr val="B5E9F8"/>
          </a:solidFill>
          <a:ln w="24765" cap="flat">
            <a:solidFill>
              <a:srgbClr val="799AD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Legend / LoRA adapter lower"/>
          <p:cNvSpPr/>
          <p:nvPr/>
        </p:nvSpPr>
        <p:spPr>
          <a:xfrm>
            <a:off x="15001875" y="9248775"/>
            <a:ext cx="428625" cy="257175"/>
          </a:xfrm>
          <a:custGeom>
            <a:avLst/>
            <a:gdLst/>
            <a:ahLst/>
            <a:cxnLst/>
            <a:rect l="0" t="0" r="r" b="b"/>
            <a:pathLst>
              <a:path w="45000" h="27000">
                <a:moveTo>
                  <a:pt x="12150" y="0"/>
                </a:moveTo>
                <a:lnTo>
                  <a:pt x="32850" y="0"/>
                </a:lnTo>
                <a:cubicBezTo>
                  <a:pt x="34200" y="0"/>
                  <a:pt x="34200" y="0"/>
                  <a:pt x="35100" y="3000"/>
                </a:cubicBezTo>
                <a:lnTo>
                  <a:pt x="44000" y="24000"/>
                </a:lnTo>
                <a:cubicBezTo>
                  <a:pt x="45000" y="27000"/>
                  <a:pt x="44000" y="27000"/>
                  <a:pt x="42000" y="27000"/>
                </a:cubicBezTo>
                <a:lnTo>
                  <a:pt x="3000" y="27000"/>
                </a:lnTo>
                <a:cubicBezTo>
                  <a:pt x="0" y="27000"/>
                  <a:pt x="0" y="27000"/>
                  <a:pt x="1000" y="24000"/>
                </a:cubicBezTo>
                <a:lnTo>
                  <a:pt x="10350" y="3000"/>
                </a:lnTo>
                <a:cubicBezTo>
                  <a:pt x="10800" y="0"/>
                  <a:pt x="10800" y="0"/>
                  <a:pt x="12150" y="0"/>
                </a:cubicBezTo>
                <a:close/>
              </a:path>
            </a:pathLst>
          </a:custGeom>
          <a:solidFill>
            <a:srgbClr val="B5E9F8"/>
          </a:solidFill>
          <a:ln w="24765" cap="flat">
            <a:solidFill>
              <a:srgbClr val="799AD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Legend / : LoRA Adapter"/>
          <p:cNvSpPr txBox="1"/>
          <p:nvPr/>
        </p:nvSpPr>
        <p:spPr>
          <a:xfrm>
            <a:off x="15621000" y="9115425"/>
            <a:ext cx="2257425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dirty="0" kern="1200">
                <a:solidFill>
                  <a:srgbClr val="272525"/>
                </a:solidFill>
                <a:latin typeface="Arial"/>
              </a:rPr>
              <a:t>: LoRA Adapter</a:t>
            </a:r>
          </a:p>
        </p:txBody>
      </p:sp>
      <p:sp>
        <p:nvSpPr>
          <p:cNvPr id="390" name="Figure captions / (a)"/>
          <p:cNvSpPr txBox="1"/>
          <p:nvPr/>
        </p:nvSpPr>
        <p:spPr>
          <a:xfrm>
            <a:off x="962025" y="9753600"/>
            <a:ext cx="62865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50" b="0" i="0" dirty="0" kern="1200">
                <a:solidFill>
                  <a:srgbClr val="272525"/>
                </a:solidFill>
                <a:latin typeface="Times New Roman"/>
              </a:rPr>
              <a:t>(a)</a:t>
            </a:r>
          </a:p>
        </p:txBody>
      </p:sp>
      <p:sp>
        <p:nvSpPr>
          <p:cNvPr id="391" name="Figure captions / Training-free Structure of ICEdit"/>
          <p:cNvSpPr txBox="1"/>
          <p:nvPr/>
        </p:nvSpPr>
        <p:spPr>
          <a:xfrm>
            <a:off x="1638300" y="9753600"/>
            <a:ext cx="6600825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75" b="1" i="0" dirty="0" kern="1200">
                <a:solidFill>
                  <a:srgbClr val="272525"/>
                </a:solidFill>
                <a:latin typeface="Times New Roman"/>
              </a:rPr>
              <a:t>Training-free Structure of ICEdit</a:t>
            </a:r>
          </a:p>
        </p:txBody>
      </p:sp>
      <p:sp>
        <p:nvSpPr>
          <p:cNvPr id="392" name="Figure captions / (b)"/>
          <p:cNvSpPr txBox="1"/>
          <p:nvPr/>
        </p:nvSpPr>
        <p:spPr>
          <a:xfrm>
            <a:off x="10658475" y="9753600"/>
            <a:ext cx="62865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50" b="0" i="0" dirty="0" kern="1200">
                <a:solidFill>
                  <a:srgbClr val="272525"/>
                </a:solidFill>
                <a:latin typeface="Times New Roman"/>
              </a:rPr>
              <a:t>(b)</a:t>
            </a:r>
          </a:p>
        </p:txBody>
      </p:sp>
      <p:sp>
        <p:nvSpPr>
          <p:cNvPr id="393" name="Figure captions / Finetuning Strategy for ICEdit"/>
          <p:cNvSpPr txBox="1"/>
          <p:nvPr/>
        </p:nvSpPr>
        <p:spPr>
          <a:xfrm>
            <a:off x="11334750" y="9753600"/>
            <a:ext cx="6162675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75" b="1" i="0" dirty="0" kern="1200">
                <a:solidFill>
                  <a:srgbClr val="272525"/>
                </a:solidFill>
                <a:latin typeface="Times New Roman"/>
              </a:rPr>
              <a:t>Finetuning Strategy for ICEdit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Enabling Instructional Image Editing with In-Context Generation in Large Scale Diffusion Transformer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173700" cy="10201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ICEdit — editable figure reconstruction</dc:title>
  <dc:subject>Training-free structure and finetuning strategy</dc:subject>
  <dc:creator/>
  <cp:keywords>ICEdit, editable, vector, reconstruction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