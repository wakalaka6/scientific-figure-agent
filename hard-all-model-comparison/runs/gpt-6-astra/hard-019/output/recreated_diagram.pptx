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7282160" cy="79735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Reconstruction of the user-supplied reference. All diagram elements are editable PowerPoint text boxes and native freeform vector shapes. The original reference labels and notation are preserved, including C/T labels in the central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White background"/>
          <p:cNvSpPr/>
          <p:nvPr/>
        </p:nvSpPr>
        <p:spPr>
          <a:xfrm>
            <a:off x="0" y="0"/>
            <a:ext cx="17282160" cy="7973568"/>
          </a:xfrm>
          <a:custGeom>
            <a:avLst/>
            <a:gdLst/>
            <a:ahLst/>
            <a:cxnLst/>
            <a:rect l="0" t="0" r="r" b="b"/>
            <a:pathLst>
              <a:path w="17282160" h="7973568">
                <a:moveTo>
                  <a:pt x="0" y="0"/>
                </a:moveTo>
                <a:lnTo>
                  <a:pt x="17282160" y="0"/>
                </a:lnTo>
                <a:lnTo>
                  <a:pt x="17282160" y="7973568"/>
                </a:lnTo>
                <a:lnTo>
                  <a:pt x="0" y="7973568"/>
                </a:lnTo>
                <a:close/>
              </a:path>
            </a:pathLst>
          </a:custGeom>
          <a:solidFill>
            <a:srgbClr val="ffffff"/>
          </a:solidFill>
          <a:ln w="9144" cap="flat" cmpd="sng" algn="ctr">
            <a:noFill/>
            <a:miter lim="800000"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Three process panels"/>
          <p:cNvGrpSpPr/>
          <p:nvPr/>
        </p:nvGrpSpPr>
        <p:grpSpPr>
          <a:xfrm>
            <a:off x="91440" y="182880"/>
            <a:ext cx="17181576" cy="7150608"/>
            <a:chOff x="91440" y="182880"/>
            <a:chExt cx="17181576" cy="7150608"/>
          </a:xfrm>
        </p:grpSpPr>
        <p:sp>
          <p:nvSpPr>
            <p:cNvPr id="4" name="Dotted panel border"/>
            <p:cNvSpPr/>
            <p:nvPr/>
          </p:nvSpPr>
          <p:spPr>
            <a:xfrm>
              <a:off x="91440" y="182880"/>
              <a:ext cx="5797296" cy="7150608"/>
            </a:xfrm>
            <a:custGeom>
              <a:avLst/>
              <a:gdLst/>
              <a:ahLst/>
              <a:cxnLst/>
              <a:rect l="0" t="0" r="r" b="b"/>
              <a:pathLst>
                <a:path w="5797296" h="7150608">
                  <a:moveTo>
                    <a:pt x="256032" y="0"/>
                  </a:moveTo>
                  <a:lnTo>
                    <a:pt x="5541264" y="0"/>
                  </a:lnTo>
                  <a:cubicBezTo>
                    <a:pt x="5682667" y="0"/>
                    <a:pt x="5797296" y="114629"/>
                    <a:pt x="5797296" y="256032"/>
                  </a:cubicBezTo>
                  <a:lnTo>
                    <a:pt x="5797296" y="6894576"/>
                  </a:lnTo>
                  <a:cubicBezTo>
                    <a:pt x="5797296" y="7035979"/>
                    <a:pt x="5682667" y="7150608"/>
                    <a:pt x="5541264" y="7150608"/>
                  </a:cubicBezTo>
                  <a:lnTo>
                    <a:pt x="256032" y="7150608"/>
                  </a:lnTo>
                  <a:cubicBezTo>
                    <a:pt x="114629" y="7150608"/>
                    <a:pt x="0" y="7035979"/>
                    <a:pt x="0" y="6894576"/>
                  </a:cubicBezTo>
                  <a:lnTo>
                    <a:pt x="0" y="256032"/>
                  </a:lnTo>
                  <a:cubicBezTo>
                    <a:pt x="0" y="114629"/>
                    <a:pt x="114629" y="0"/>
                    <a:pt x="256032" y="0"/>
                  </a:cubicBezTo>
                  <a:close/>
                </a:path>
              </a:pathLst>
            </a:custGeom>
            <a:noFill/>
            <a:ln w="34747" cap="flat" cmpd="sng" algn="ctr">
              <a:solidFill>
                <a:srgbClr val="595959"/>
              </a:solidFill>
              <a:custDash>
                <a:ds d="94737" sp="110526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otted panel border"/>
            <p:cNvSpPr/>
            <p:nvPr/>
          </p:nvSpPr>
          <p:spPr>
            <a:xfrm>
              <a:off x="6172200" y="182880"/>
              <a:ext cx="5303520" cy="7150608"/>
            </a:xfrm>
            <a:custGeom>
              <a:avLst/>
              <a:gdLst/>
              <a:ahLst/>
              <a:cxnLst/>
              <a:rect l="0" t="0" r="r" b="b"/>
              <a:pathLst>
                <a:path w="5303520" h="7150608">
                  <a:moveTo>
                    <a:pt x="256032" y="0"/>
                  </a:moveTo>
                  <a:lnTo>
                    <a:pt x="5047488" y="0"/>
                  </a:lnTo>
                  <a:cubicBezTo>
                    <a:pt x="5188891" y="0"/>
                    <a:pt x="5303520" y="114629"/>
                    <a:pt x="5303520" y="256032"/>
                  </a:cubicBezTo>
                  <a:lnTo>
                    <a:pt x="5303520" y="6894576"/>
                  </a:lnTo>
                  <a:cubicBezTo>
                    <a:pt x="5303520" y="7035979"/>
                    <a:pt x="5188891" y="7150608"/>
                    <a:pt x="5047488" y="7150608"/>
                  </a:cubicBezTo>
                  <a:lnTo>
                    <a:pt x="256032" y="7150608"/>
                  </a:lnTo>
                  <a:cubicBezTo>
                    <a:pt x="114629" y="7150608"/>
                    <a:pt x="0" y="7035979"/>
                    <a:pt x="0" y="6894576"/>
                  </a:cubicBezTo>
                  <a:lnTo>
                    <a:pt x="0" y="256032"/>
                  </a:lnTo>
                  <a:cubicBezTo>
                    <a:pt x="0" y="114629"/>
                    <a:pt x="114629" y="0"/>
                    <a:pt x="256032" y="0"/>
                  </a:cubicBezTo>
                  <a:close/>
                </a:path>
              </a:pathLst>
            </a:custGeom>
            <a:noFill/>
            <a:ln w="34747" cap="flat" cmpd="sng" algn="ctr">
              <a:solidFill>
                <a:srgbClr val="595959"/>
              </a:solidFill>
              <a:custDash>
                <a:ds d="94737" sp="110526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otted panel border"/>
            <p:cNvSpPr/>
            <p:nvPr/>
          </p:nvSpPr>
          <p:spPr>
            <a:xfrm>
              <a:off x="11750040" y="182880"/>
              <a:ext cx="5522976" cy="7150608"/>
            </a:xfrm>
            <a:custGeom>
              <a:avLst/>
              <a:gdLst/>
              <a:ahLst/>
              <a:cxnLst/>
              <a:rect l="0" t="0" r="r" b="b"/>
              <a:pathLst>
                <a:path w="5522976" h="7150608">
                  <a:moveTo>
                    <a:pt x="256032" y="0"/>
                  </a:moveTo>
                  <a:lnTo>
                    <a:pt x="5266944" y="0"/>
                  </a:lnTo>
                  <a:cubicBezTo>
                    <a:pt x="5408347" y="0"/>
                    <a:pt x="5522976" y="114629"/>
                    <a:pt x="5522976" y="256032"/>
                  </a:cubicBezTo>
                  <a:lnTo>
                    <a:pt x="5522976" y="6894576"/>
                  </a:lnTo>
                  <a:cubicBezTo>
                    <a:pt x="5522976" y="7035979"/>
                    <a:pt x="5408347" y="7150608"/>
                    <a:pt x="5266944" y="7150608"/>
                  </a:cubicBezTo>
                  <a:lnTo>
                    <a:pt x="256032" y="7150608"/>
                  </a:lnTo>
                  <a:cubicBezTo>
                    <a:pt x="114629" y="7150608"/>
                    <a:pt x="0" y="7035979"/>
                    <a:pt x="0" y="6894576"/>
                  </a:cubicBezTo>
                  <a:lnTo>
                    <a:pt x="0" y="256032"/>
                  </a:lnTo>
                  <a:cubicBezTo>
                    <a:pt x="0" y="114629"/>
                    <a:pt x="114629" y="0"/>
                    <a:pt x="256032" y="0"/>
                  </a:cubicBezTo>
                  <a:close/>
                </a:path>
              </a:pathLst>
            </a:custGeom>
            <a:noFill/>
            <a:ln w="34747" cap="flat" cmpd="sng" algn="ctr">
              <a:solidFill>
                <a:srgbClr val="595959"/>
              </a:solidFill>
              <a:custDash>
                <a:ds d="94737" sp="110526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" name="1 MLLM based Tag Extraction"/>
          <p:cNvGrpSpPr/>
          <p:nvPr/>
        </p:nvGrpSpPr>
        <p:grpSpPr>
          <a:xfrm>
            <a:off x="210312" y="267828"/>
            <a:ext cx="5596128" cy="6274201"/>
            <a:chOff x="210312" y="267828"/>
            <a:chExt cx="5596128" cy="6274201"/>
          </a:xfrm>
        </p:grpSpPr>
        <p:grpSp>
          <p:nvGrpSpPr>
            <p:cNvPr id="8" name="Input item"/>
            <p:cNvGrpSpPr/>
            <p:nvPr/>
          </p:nvGrpSpPr>
          <p:grpSpPr>
            <a:xfrm>
              <a:off x="712482" y="267828"/>
              <a:ext cx="595860" cy="414125"/>
              <a:chOff x="712482" y="267828"/>
              <a:chExt cx="595860" cy="414125"/>
            </a:xfrm>
          </p:grpSpPr>
          <p:sp>
            <p:nvSpPr>
              <p:cNvPr id="9" name="Item"/>
              <p:cNvSpPr txBox="1"/>
              <p:nvPr/>
            </p:nvSpPr>
            <p:spPr>
              <a:xfrm>
                <a:off x="712482" y="267828"/>
                <a:ext cx="546568" cy="39776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1" i="1" lang="en-US">
                    <a:solidFill>
                      <a:srgbClr val="000000"/>
                    </a:solidFill>
                    <a:latin typeface="Liberation Serif"/>
                  </a:rPr>
                  <a:t>Item</a:t>
                </a:r>
              </a:p>
            </p:txBody>
          </p:sp>
          <p:sp>
            <p:nvSpPr>
              <p:cNvPr id="10" name="i"/>
              <p:cNvSpPr txBox="1"/>
              <p:nvPr/>
            </p:nvSpPr>
            <p:spPr>
              <a:xfrm>
                <a:off x="1213330" y="415451"/>
                <a:ext cx="95012" cy="26650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98" b="1" i="1" lang="en-US">
                    <a:solidFill>
                      <a:srgbClr val="000000"/>
                    </a:solidFill>
                    <a:latin typeface="Liberation Serif"/>
                  </a:rPr>
                  <a:t>i</a:t>
                </a:r>
              </a:p>
            </p:txBody>
          </p:sp>
        </p:grpSp>
        <p:sp>
          <p:nvSpPr>
            <p:cNvPr id="11" name="Connector"/>
            <p:cNvSpPr/>
            <p:nvPr/>
          </p:nvSpPr>
          <p:spPr>
            <a:xfrm>
              <a:off x="996696" y="585216"/>
              <a:ext cx="91" cy="219456"/>
            </a:xfrm>
            <a:custGeom>
              <a:avLst/>
              <a:gdLst/>
              <a:ahLst/>
              <a:cxnLst/>
              <a:rect l="0" t="0" r="r" b="b"/>
              <a:pathLst>
                <a:path w="91" h="219456">
                  <a:moveTo>
                    <a:pt x="0" y="0"/>
                  </a:moveTo>
                  <a:lnTo>
                    <a:pt x="0" y="219456"/>
                  </a:lnTo>
                </a:path>
              </a:pathLst>
            </a:custGeom>
            <a:noFill/>
            <a:ln w="29261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Open arrowhead"/>
            <p:cNvSpPr/>
            <p:nvPr/>
          </p:nvSpPr>
          <p:spPr>
            <a:xfrm>
              <a:off x="944392" y="704088"/>
              <a:ext cx="104607" cy="100584"/>
            </a:xfrm>
            <a:custGeom>
              <a:avLst/>
              <a:gdLst/>
              <a:ahLst/>
              <a:cxnLst/>
              <a:rect l="0" t="0" r="r" b="b"/>
              <a:pathLst>
                <a:path w="104607" h="100584">
                  <a:moveTo>
                    <a:pt x="0" y="0"/>
                  </a:moveTo>
                  <a:lnTo>
                    <a:pt x="52304" y="100584"/>
                  </a:lnTo>
                  <a:lnTo>
                    <a:pt x="104607" y="0"/>
                  </a:lnTo>
                </a:path>
              </a:pathLst>
            </a:custGeom>
            <a:noFill/>
            <a:ln w="29261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aw information"/>
            <p:cNvSpPr/>
            <p:nvPr/>
          </p:nvSpPr>
          <p:spPr>
            <a:xfrm>
              <a:off x="210312" y="859536"/>
              <a:ext cx="1554480" cy="731520"/>
            </a:xfrm>
            <a:custGeom>
              <a:avLst/>
              <a:gdLst/>
              <a:ahLst/>
              <a:cxnLst/>
              <a:rect l="0" t="0" r="r" b="b"/>
              <a:pathLst>
                <a:path w="1554480" h="731520">
                  <a:moveTo>
                    <a:pt x="128016" y="0"/>
                  </a:moveTo>
                  <a:lnTo>
                    <a:pt x="1426464" y="0"/>
                  </a:lnTo>
                  <a:cubicBezTo>
                    <a:pt x="1497165" y="0"/>
                    <a:pt x="1554480" y="57315"/>
                    <a:pt x="1554480" y="128016"/>
                  </a:cubicBezTo>
                  <a:lnTo>
                    <a:pt x="1554480" y="603504"/>
                  </a:lnTo>
                  <a:cubicBezTo>
                    <a:pt x="1554480" y="674205"/>
                    <a:pt x="1497165" y="731520"/>
                    <a:pt x="1426464" y="731520"/>
                  </a:cubicBezTo>
                  <a:lnTo>
                    <a:pt x="128016" y="731520"/>
                  </a:lnTo>
                  <a:cubicBezTo>
                    <a:pt x="57315" y="731520"/>
                    <a:pt x="0" y="674205"/>
                    <a:pt x="0" y="603504"/>
                  </a:cubicBezTo>
                  <a:lnTo>
                    <a:pt x="0" y="128016"/>
                  </a:lnTo>
                  <a:cubicBezTo>
                    <a:pt x="0" y="57315"/>
                    <a:pt x="57315" y="0"/>
                    <a:pt x="128016" y="0"/>
                  </a:cubicBezTo>
                  <a:close/>
                </a:path>
              </a:pathLst>
            </a:custGeom>
            <a:solidFill>
              <a:srgbClr val="eaeaea"/>
            </a:solidFill>
            <a:ln w="31090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aw"/>
            <p:cNvSpPr txBox="1"/>
            <p:nvPr/>
          </p:nvSpPr>
          <p:spPr>
            <a:xfrm>
              <a:off x="752894" y="916960"/>
              <a:ext cx="515036" cy="384048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16" b="0" i="0" lang="en-US">
                  <a:solidFill>
                    <a:srgbClr val="000000"/>
                  </a:solidFill>
                  <a:latin typeface="Liberation Serif"/>
                </a:rPr>
                <a:t>Raw</a:t>
              </a:r>
            </a:p>
          </p:txBody>
        </p:sp>
        <p:sp>
          <p:nvSpPr>
            <p:cNvPr id="15" name="Information"/>
            <p:cNvSpPr txBox="1"/>
            <p:nvPr/>
          </p:nvSpPr>
          <p:spPr>
            <a:xfrm>
              <a:off x="387013" y="1214095"/>
              <a:ext cx="1246799" cy="377190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80" b="0" i="0" lang="en-US">
                  <a:solidFill>
                    <a:srgbClr val="000000"/>
                  </a:solidFill>
                  <a:latin typeface="Liberation Serif"/>
                </a:rPr>
                <a:t>Information</a:t>
              </a:r>
            </a:p>
          </p:txBody>
        </p:sp>
        <p:sp>
          <p:nvSpPr>
            <p:cNvPr id="16" name="Connector"/>
            <p:cNvSpPr/>
            <p:nvPr/>
          </p:nvSpPr>
          <p:spPr>
            <a:xfrm>
              <a:off x="1773936" y="1225296"/>
              <a:ext cx="384048" cy="91"/>
            </a:xfrm>
            <a:custGeom>
              <a:avLst/>
              <a:gdLst/>
              <a:ahLst/>
              <a:cxnLst/>
              <a:rect l="0" t="0" r="r" b="b"/>
              <a:pathLst>
                <a:path w="384048" h="91">
                  <a:moveTo>
                    <a:pt x="0" y="0"/>
                  </a:moveTo>
                  <a:lnTo>
                    <a:pt x="384048" y="0"/>
                  </a:lnTo>
                </a:path>
              </a:pathLst>
            </a:custGeom>
            <a:noFill/>
            <a:ln w="31090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Open arrowhead"/>
            <p:cNvSpPr/>
            <p:nvPr/>
          </p:nvSpPr>
          <p:spPr>
            <a:xfrm>
              <a:off x="2048256" y="1168237"/>
              <a:ext cx="109728" cy="114117"/>
            </a:xfrm>
            <a:custGeom>
              <a:avLst/>
              <a:gdLst/>
              <a:ahLst/>
              <a:cxnLst/>
              <a:rect l="0" t="0" r="r" b="b"/>
              <a:pathLst>
                <a:path w="109728" h="114117">
                  <a:moveTo>
                    <a:pt x="0" y="114117"/>
                  </a:moveTo>
                  <a:lnTo>
                    <a:pt x="109728" y="57059"/>
                  </a:lnTo>
                  <a:lnTo>
                    <a:pt x="0" y="0"/>
                  </a:lnTo>
                </a:path>
              </a:pathLst>
            </a:custGeom>
            <a:noFill/>
            <a:ln w="31090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8" name="MLLM robot icon"/>
            <p:cNvGrpSpPr/>
            <p:nvPr/>
          </p:nvGrpSpPr>
          <p:grpSpPr>
            <a:xfrm>
              <a:off x="2112264" y="619963"/>
              <a:ext cx="704088" cy="870509"/>
              <a:chOff x="2112264" y="619963"/>
              <a:chExt cx="704088" cy="870509"/>
            </a:xfrm>
          </p:grpSpPr>
          <p:sp>
            <p:nvSpPr>
              <p:cNvPr id="19" name="Ellipse"/>
              <p:cNvSpPr/>
              <p:nvPr/>
            </p:nvSpPr>
            <p:spPr>
              <a:xfrm>
                <a:off x="2430475" y="619963"/>
                <a:ext cx="95098" cy="95098"/>
              </a:xfrm>
              <a:custGeom>
                <a:avLst/>
                <a:gdLst/>
                <a:ahLst/>
                <a:cxnLst/>
                <a:rect l="0" t="0" r="r" b="b"/>
                <a:pathLst>
                  <a:path w="95098" h="95098">
                    <a:moveTo>
                      <a:pt x="95098" y="47549"/>
                    </a:moveTo>
                    <a:cubicBezTo>
                      <a:pt x="95098" y="73809"/>
                      <a:pt x="73809" y="95098"/>
                      <a:pt x="47549" y="95098"/>
                    </a:cubicBezTo>
                    <a:cubicBezTo>
                      <a:pt x="21288" y="95098"/>
                      <a:pt x="0" y="73809"/>
                      <a:pt x="0" y="47549"/>
                    </a:cubicBezTo>
                    <a:cubicBezTo>
                      <a:pt x="0" y="21288"/>
                      <a:pt x="21288" y="0"/>
                      <a:pt x="47549" y="0"/>
                    </a:cubicBezTo>
                    <a:cubicBezTo>
                      <a:pt x="73809" y="0"/>
                      <a:pt x="95098" y="21288"/>
                      <a:pt x="95098" y="4754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Rectangle"/>
              <p:cNvSpPr/>
              <p:nvPr/>
            </p:nvSpPr>
            <p:spPr>
              <a:xfrm>
                <a:off x="2457907" y="681228"/>
                <a:ext cx="40234" cy="100584"/>
              </a:xfrm>
              <a:custGeom>
                <a:avLst/>
                <a:gdLst/>
                <a:ahLst/>
                <a:cxnLst/>
                <a:rect l="0" t="0" r="r" b="b"/>
                <a:pathLst>
                  <a:path w="40234" h="100584">
                    <a:moveTo>
                      <a:pt x="0" y="0"/>
                    </a:moveTo>
                    <a:lnTo>
                      <a:pt x="40234" y="0"/>
                    </a:lnTo>
                    <a:lnTo>
                      <a:pt x="40234" y="100584"/>
                    </a:lnTo>
                    <a:lnTo>
                      <a:pt x="0" y="100584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Rectangle"/>
              <p:cNvSpPr/>
              <p:nvPr/>
            </p:nvSpPr>
            <p:spPr>
              <a:xfrm>
                <a:off x="2340864" y="758952"/>
                <a:ext cx="274320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274320" h="210312">
                    <a:moveTo>
                      <a:pt x="41148" y="0"/>
                    </a:moveTo>
                    <a:lnTo>
                      <a:pt x="233172" y="0"/>
                    </a:lnTo>
                    <a:cubicBezTo>
                      <a:pt x="255897" y="0"/>
                      <a:pt x="274320" y="18423"/>
                      <a:pt x="274320" y="41148"/>
                    </a:cubicBezTo>
                    <a:lnTo>
                      <a:pt x="274320" y="169164"/>
                    </a:lnTo>
                    <a:cubicBezTo>
                      <a:pt x="274320" y="191889"/>
                      <a:pt x="255897" y="210312"/>
                      <a:pt x="233172" y="210312"/>
                    </a:cubicBezTo>
                    <a:lnTo>
                      <a:pt x="41148" y="210312"/>
                    </a:lnTo>
                    <a:cubicBezTo>
                      <a:pt x="18423" y="210312"/>
                      <a:pt x="0" y="191889"/>
                      <a:pt x="0" y="169164"/>
                    </a:cubicBezTo>
                    <a:lnTo>
                      <a:pt x="0" y="41148"/>
                    </a:lnTo>
                    <a:cubicBezTo>
                      <a:pt x="0" y="18423"/>
                      <a:pt x="18423" y="0"/>
                      <a:pt x="411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Ellipse"/>
              <p:cNvSpPr/>
              <p:nvPr/>
            </p:nvSpPr>
            <p:spPr>
              <a:xfrm>
                <a:off x="2399386" y="837590"/>
                <a:ext cx="62179" cy="62179"/>
              </a:xfrm>
              <a:custGeom>
                <a:avLst/>
                <a:gdLst/>
                <a:ahLst/>
                <a:cxnLst/>
                <a:rect l="0" t="0" r="r" b="b"/>
                <a:pathLst>
                  <a:path w="62179" h="62179">
                    <a:moveTo>
                      <a:pt x="62179" y="31090"/>
                    </a:moveTo>
                    <a:cubicBezTo>
                      <a:pt x="62179" y="48260"/>
                      <a:pt x="48260" y="62179"/>
                      <a:pt x="31090" y="62179"/>
                    </a:cubicBezTo>
                    <a:cubicBezTo>
                      <a:pt x="13919" y="62179"/>
                      <a:pt x="0" y="48260"/>
                      <a:pt x="0" y="31090"/>
                    </a:cubicBezTo>
                    <a:cubicBezTo>
                      <a:pt x="0" y="13919"/>
                      <a:pt x="13919" y="0"/>
                      <a:pt x="31090" y="0"/>
                    </a:cubicBezTo>
                    <a:cubicBezTo>
                      <a:pt x="48260" y="0"/>
                      <a:pt x="62179" y="13919"/>
                      <a:pt x="62179" y="310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Ellipse"/>
              <p:cNvSpPr/>
              <p:nvPr/>
            </p:nvSpPr>
            <p:spPr>
              <a:xfrm>
                <a:off x="2498141" y="837590"/>
                <a:ext cx="62179" cy="62179"/>
              </a:xfrm>
              <a:custGeom>
                <a:avLst/>
                <a:gdLst/>
                <a:ahLst/>
                <a:cxnLst/>
                <a:rect l="0" t="0" r="r" b="b"/>
                <a:pathLst>
                  <a:path w="62179" h="62179">
                    <a:moveTo>
                      <a:pt x="62179" y="31090"/>
                    </a:moveTo>
                    <a:cubicBezTo>
                      <a:pt x="62179" y="48260"/>
                      <a:pt x="48260" y="62179"/>
                      <a:pt x="31090" y="62179"/>
                    </a:cubicBezTo>
                    <a:cubicBezTo>
                      <a:pt x="13919" y="62179"/>
                      <a:pt x="0" y="48260"/>
                      <a:pt x="0" y="31090"/>
                    </a:cubicBezTo>
                    <a:cubicBezTo>
                      <a:pt x="0" y="13919"/>
                      <a:pt x="13919" y="0"/>
                      <a:pt x="31090" y="0"/>
                    </a:cubicBezTo>
                    <a:cubicBezTo>
                      <a:pt x="48260" y="0"/>
                      <a:pt x="62179" y="13919"/>
                      <a:pt x="62179" y="310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Ellipse"/>
              <p:cNvSpPr/>
              <p:nvPr/>
            </p:nvSpPr>
            <p:spPr>
              <a:xfrm>
                <a:off x="2414473" y="852678"/>
                <a:ext cx="32004" cy="32004"/>
              </a:xfrm>
              <a:custGeom>
                <a:avLst/>
                <a:gdLst/>
                <a:ahLst/>
                <a:cxnLst/>
                <a:rect l="0" t="0" r="r" b="b"/>
                <a:pathLst>
                  <a:path w="32004" h="32004">
                    <a:moveTo>
                      <a:pt x="32004" y="16002"/>
                    </a:moveTo>
                    <a:cubicBezTo>
                      <a:pt x="32004" y="24840"/>
                      <a:pt x="24840" y="32004"/>
                      <a:pt x="16002" y="32004"/>
                    </a:cubicBezTo>
                    <a:cubicBezTo>
                      <a:pt x="7164" y="32004"/>
                      <a:pt x="0" y="24840"/>
                      <a:pt x="0" y="16002"/>
                    </a:cubicBezTo>
                    <a:cubicBezTo>
                      <a:pt x="0" y="7164"/>
                      <a:pt x="7164" y="0"/>
                      <a:pt x="16002" y="0"/>
                    </a:cubicBezTo>
                    <a:cubicBezTo>
                      <a:pt x="24840" y="0"/>
                      <a:pt x="32004" y="7164"/>
                      <a:pt x="32004" y="160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Ellipse"/>
              <p:cNvSpPr/>
              <p:nvPr/>
            </p:nvSpPr>
            <p:spPr>
              <a:xfrm>
                <a:off x="2513228" y="852678"/>
                <a:ext cx="32004" cy="32004"/>
              </a:xfrm>
              <a:custGeom>
                <a:avLst/>
                <a:gdLst/>
                <a:ahLst/>
                <a:cxnLst/>
                <a:rect l="0" t="0" r="r" b="b"/>
                <a:pathLst>
                  <a:path w="32004" h="32004">
                    <a:moveTo>
                      <a:pt x="32004" y="16002"/>
                    </a:moveTo>
                    <a:cubicBezTo>
                      <a:pt x="32004" y="24840"/>
                      <a:pt x="24840" y="32004"/>
                      <a:pt x="16002" y="32004"/>
                    </a:cubicBezTo>
                    <a:cubicBezTo>
                      <a:pt x="7164" y="32004"/>
                      <a:pt x="0" y="24840"/>
                      <a:pt x="0" y="16002"/>
                    </a:cubicBezTo>
                    <a:cubicBezTo>
                      <a:pt x="0" y="7164"/>
                      <a:pt x="7164" y="0"/>
                      <a:pt x="16002" y="0"/>
                    </a:cubicBezTo>
                    <a:cubicBezTo>
                      <a:pt x="24840" y="0"/>
                      <a:pt x="32004" y="7164"/>
                      <a:pt x="32004" y="160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Rectangle"/>
              <p:cNvSpPr/>
              <p:nvPr/>
            </p:nvSpPr>
            <p:spPr>
              <a:xfrm>
                <a:off x="2313432" y="1005840"/>
                <a:ext cx="329184" cy="292608"/>
              </a:xfrm>
              <a:custGeom>
                <a:avLst/>
                <a:gdLst/>
                <a:ahLst/>
                <a:cxnLst/>
                <a:rect l="0" t="0" r="r" b="b"/>
                <a:pathLst>
                  <a:path w="329184" h="292608">
                    <a:moveTo>
                      <a:pt x="0" y="0"/>
                    </a:moveTo>
                    <a:lnTo>
                      <a:pt x="329184" y="0"/>
                    </a:lnTo>
                    <a:lnTo>
                      <a:pt x="329184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" name="Path"/>
              <p:cNvSpPr/>
              <p:nvPr/>
            </p:nvSpPr>
            <p:spPr>
              <a:xfrm>
                <a:off x="2203704" y="941832"/>
                <a:ext cx="10972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09728" h="146304">
                    <a:moveTo>
                      <a:pt x="109728" y="146304"/>
                    </a:moveTo>
                    <a:lnTo>
                      <a:pt x="36576" y="146304"/>
                    </a:lnTo>
                    <a:cubicBezTo>
                      <a:pt x="0" y="146304"/>
                      <a:pt x="0" y="118872"/>
                      <a:pt x="0" y="91440"/>
                    </a:cubicBezTo>
                    <a:lnTo>
                      <a:pt x="0" y="0"/>
                    </a:lnTo>
                  </a:path>
                </a:pathLst>
              </a:custGeom>
              <a:noFill/>
              <a:ln w="41148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Path"/>
              <p:cNvSpPr/>
              <p:nvPr/>
            </p:nvSpPr>
            <p:spPr>
              <a:xfrm>
                <a:off x="2112264" y="859536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55448" h="146304">
                    <a:moveTo>
                      <a:pt x="45720" y="0"/>
                    </a:moveTo>
                    <a:cubicBezTo>
                      <a:pt x="0" y="82296"/>
                      <a:pt x="91440" y="146304"/>
                      <a:pt x="146304" y="64008"/>
                    </a:cubicBezTo>
                    <a:cubicBezTo>
                      <a:pt x="155448" y="45720"/>
                      <a:pt x="146304" y="18288"/>
                      <a:pt x="137160" y="0"/>
                    </a:cubicBezTo>
                  </a:path>
                </a:pathLst>
              </a:custGeom>
              <a:noFill/>
              <a:ln w="4389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Path"/>
              <p:cNvSpPr/>
              <p:nvPr/>
            </p:nvSpPr>
            <p:spPr>
              <a:xfrm>
                <a:off x="2642616" y="1069848"/>
                <a:ext cx="109728" cy="155448"/>
              </a:xfrm>
              <a:custGeom>
                <a:avLst/>
                <a:gdLst/>
                <a:ahLst/>
                <a:cxnLst/>
                <a:rect l="0" t="0" r="r" b="b"/>
                <a:pathLst>
                  <a:path w="109728" h="155448">
                    <a:moveTo>
                      <a:pt x="0" y="0"/>
                    </a:moveTo>
                    <a:lnTo>
                      <a:pt x="64008" y="0"/>
                    </a:lnTo>
                    <a:cubicBezTo>
                      <a:pt x="109728" y="0"/>
                      <a:pt x="109728" y="27432"/>
                      <a:pt x="109728" y="64008"/>
                    </a:cubicBezTo>
                    <a:lnTo>
                      <a:pt x="109728" y="155448"/>
                    </a:lnTo>
                  </a:path>
                </a:pathLst>
              </a:custGeom>
              <a:noFill/>
              <a:ln w="41148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Path"/>
              <p:cNvSpPr/>
              <p:nvPr/>
            </p:nvSpPr>
            <p:spPr>
              <a:xfrm>
                <a:off x="2660904" y="1170432"/>
                <a:ext cx="15544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55448" h="137160">
                    <a:moveTo>
                      <a:pt x="45720" y="137160"/>
                    </a:moveTo>
                    <a:cubicBezTo>
                      <a:pt x="0" y="64008"/>
                      <a:pt x="91440" y="0"/>
                      <a:pt x="146304" y="82296"/>
                    </a:cubicBezTo>
                    <a:cubicBezTo>
                      <a:pt x="155448" y="100584"/>
                      <a:pt x="146304" y="128016"/>
                      <a:pt x="137160" y="137160"/>
                    </a:cubicBezTo>
                  </a:path>
                </a:pathLst>
              </a:custGeom>
              <a:noFill/>
              <a:ln w="4389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Path"/>
              <p:cNvSpPr/>
              <p:nvPr/>
            </p:nvSpPr>
            <p:spPr>
              <a:xfrm>
                <a:off x="2359152" y="1060704"/>
                <a:ext cx="256032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256032" h="137160">
                    <a:moveTo>
                      <a:pt x="0" y="73152"/>
                    </a:moveTo>
                    <a:lnTo>
                      <a:pt x="36576" y="73152"/>
                    </a:lnTo>
                    <a:lnTo>
                      <a:pt x="73152" y="0"/>
                    </a:lnTo>
                    <a:lnTo>
                      <a:pt x="109728" y="137160"/>
                    </a:lnTo>
                    <a:lnTo>
                      <a:pt x="155448" y="36576"/>
                    </a:lnTo>
                    <a:lnTo>
                      <a:pt x="192024" y="109728"/>
                    </a:lnTo>
                    <a:lnTo>
                      <a:pt x="228600" y="73152"/>
                    </a:lnTo>
                    <a:lnTo>
                      <a:pt x="256032" y="73152"/>
                    </a:lnTo>
                  </a:path>
                </a:pathLst>
              </a:custGeom>
              <a:noFill/>
              <a:ln w="18288" cap="flat" cmpd="sng" algn="ctr">
                <a:solidFill>
                  <a:srgbClr val="ffffff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Rectangle"/>
              <p:cNvSpPr/>
              <p:nvPr/>
            </p:nvSpPr>
            <p:spPr>
              <a:xfrm>
                <a:off x="2221992" y="1335024"/>
                <a:ext cx="512064" cy="155448"/>
              </a:xfrm>
              <a:custGeom>
                <a:avLst/>
                <a:gdLst/>
                <a:ahLst/>
                <a:cxnLst/>
                <a:rect l="0" t="0" r="r" b="b"/>
                <a:pathLst>
                  <a:path w="512064" h="155448">
                    <a:moveTo>
                      <a:pt x="77724" y="0"/>
                    </a:moveTo>
                    <a:lnTo>
                      <a:pt x="434340" y="0"/>
                    </a:lnTo>
                    <a:cubicBezTo>
                      <a:pt x="477266" y="0"/>
                      <a:pt x="512064" y="34798"/>
                      <a:pt x="512064" y="77724"/>
                    </a:cubicBezTo>
                    <a:lnTo>
                      <a:pt x="512064" y="77724"/>
                    </a:lnTo>
                    <a:cubicBezTo>
                      <a:pt x="512064" y="120650"/>
                      <a:pt x="477266" y="155448"/>
                      <a:pt x="434340" y="155448"/>
                    </a:cubicBezTo>
                    <a:lnTo>
                      <a:pt x="77724" y="155448"/>
                    </a:lnTo>
                    <a:cubicBezTo>
                      <a:pt x="34798" y="155448"/>
                      <a:pt x="0" y="120650"/>
                      <a:pt x="0" y="77724"/>
                    </a:cubicBezTo>
                    <a:lnTo>
                      <a:pt x="0" y="77724"/>
                    </a:lnTo>
                    <a:cubicBezTo>
                      <a:pt x="0" y="34798"/>
                      <a:pt x="34798" y="0"/>
                      <a:pt x="77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Ellipse"/>
              <p:cNvSpPr/>
              <p:nvPr/>
            </p:nvSpPr>
            <p:spPr>
              <a:xfrm>
                <a:off x="2289658" y="1379830"/>
                <a:ext cx="65837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65837" h="65837">
                    <a:moveTo>
                      <a:pt x="65837" y="32918"/>
                    </a:moveTo>
                    <a:cubicBezTo>
                      <a:pt x="65837" y="51099"/>
                      <a:pt x="51099" y="65837"/>
                      <a:pt x="32918" y="65837"/>
                    </a:cubicBezTo>
                    <a:cubicBezTo>
                      <a:pt x="14738" y="65837"/>
                      <a:pt x="0" y="51099"/>
                      <a:pt x="0" y="32918"/>
                    </a:cubicBezTo>
                    <a:cubicBezTo>
                      <a:pt x="0" y="14738"/>
                      <a:pt x="14738" y="0"/>
                      <a:pt x="32918" y="0"/>
                    </a:cubicBezTo>
                    <a:cubicBezTo>
                      <a:pt x="51099" y="0"/>
                      <a:pt x="65837" y="14738"/>
                      <a:pt x="65837" y="329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Ellipse"/>
              <p:cNvSpPr/>
              <p:nvPr/>
            </p:nvSpPr>
            <p:spPr>
              <a:xfrm>
                <a:off x="2445106" y="1379830"/>
                <a:ext cx="65837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65837" h="65837">
                    <a:moveTo>
                      <a:pt x="65837" y="32918"/>
                    </a:moveTo>
                    <a:cubicBezTo>
                      <a:pt x="65837" y="51099"/>
                      <a:pt x="51099" y="65837"/>
                      <a:pt x="32918" y="65837"/>
                    </a:cubicBezTo>
                    <a:cubicBezTo>
                      <a:pt x="14738" y="65837"/>
                      <a:pt x="0" y="51099"/>
                      <a:pt x="0" y="32918"/>
                    </a:cubicBezTo>
                    <a:cubicBezTo>
                      <a:pt x="0" y="14738"/>
                      <a:pt x="14738" y="0"/>
                      <a:pt x="32918" y="0"/>
                    </a:cubicBezTo>
                    <a:cubicBezTo>
                      <a:pt x="51099" y="0"/>
                      <a:pt x="65837" y="14738"/>
                      <a:pt x="65837" y="329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Ellipse"/>
              <p:cNvSpPr/>
              <p:nvPr/>
            </p:nvSpPr>
            <p:spPr>
              <a:xfrm>
                <a:off x="2600554" y="1379830"/>
                <a:ext cx="65837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65837" h="65837">
                    <a:moveTo>
                      <a:pt x="65837" y="32918"/>
                    </a:moveTo>
                    <a:cubicBezTo>
                      <a:pt x="65837" y="51099"/>
                      <a:pt x="51099" y="65837"/>
                      <a:pt x="32918" y="65837"/>
                    </a:cubicBezTo>
                    <a:cubicBezTo>
                      <a:pt x="14738" y="65837"/>
                      <a:pt x="0" y="51099"/>
                      <a:pt x="0" y="32918"/>
                    </a:cubicBezTo>
                    <a:cubicBezTo>
                      <a:pt x="0" y="14738"/>
                      <a:pt x="14738" y="0"/>
                      <a:pt x="32918" y="0"/>
                    </a:cubicBezTo>
                    <a:cubicBezTo>
                      <a:pt x="51099" y="0"/>
                      <a:pt x="65837" y="14738"/>
                      <a:pt x="65837" y="329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6" name="MLLM"/>
            <p:cNvSpPr txBox="1"/>
            <p:nvPr/>
          </p:nvSpPr>
          <p:spPr>
            <a:xfrm>
              <a:off x="2058229" y="1543370"/>
              <a:ext cx="885311" cy="390906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2" b="1" i="0" lang="en-US">
                  <a:solidFill>
                    <a:srgbClr val="000000"/>
                  </a:solidFill>
                  <a:latin typeface="Liberation Serif"/>
                </a:rPr>
                <a:t>MLLM</a:t>
              </a:r>
            </a:p>
          </p:txBody>
        </p:sp>
        <p:sp>
          <p:nvSpPr>
            <p:cNvPr id="37" name="Connector"/>
            <p:cNvSpPr/>
            <p:nvPr/>
          </p:nvSpPr>
          <p:spPr>
            <a:xfrm>
              <a:off x="2898648" y="1225296"/>
              <a:ext cx="329184" cy="91"/>
            </a:xfrm>
            <a:custGeom>
              <a:avLst/>
              <a:gdLst/>
              <a:ahLst/>
              <a:cxnLst/>
              <a:rect l="0" t="0" r="r" b="b"/>
              <a:pathLst>
                <a:path w="329184" h="91">
                  <a:moveTo>
                    <a:pt x="0" y="0"/>
                  </a:moveTo>
                  <a:lnTo>
                    <a:pt x="329184" y="0"/>
                  </a:lnTo>
                </a:path>
              </a:pathLst>
            </a:custGeom>
            <a:noFill/>
            <a:ln w="28346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Open arrowhead"/>
            <p:cNvSpPr/>
            <p:nvPr/>
          </p:nvSpPr>
          <p:spPr>
            <a:xfrm>
              <a:off x="3118104" y="1168237"/>
              <a:ext cx="109728" cy="114117"/>
            </a:xfrm>
            <a:custGeom>
              <a:avLst/>
              <a:gdLst/>
              <a:ahLst/>
              <a:cxnLst/>
              <a:rect l="0" t="0" r="r" b="b"/>
              <a:pathLst>
                <a:path w="109728" h="114117">
                  <a:moveTo>
                    <a:pt x="0" y="114117"/>
                  </a:moveTo>
                  <a:lnTo>
                    <a:pt x="109728" y="57059"/>
                  </a:lnTo>
                  <a:lnTo>
                    <a:pt x="0" y="0"/>
                  </a:lnTo>
                </a:path>
              </a:pathLst>
            </a:custGeom>
            <a:noFill/>
            <a:ln w="28346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onnector"/>
            <p:cNvSpPr/>
            <p:nvPr/>
          </p:nvSpPr>
          <p:spPr>
            <a:xfrm>
              <a:off x="3026664" y="365760"/>
              <a:ext cx="2148840" cy="822960"/>
            </a:xfrm>
            <a:custGeom>
              <a:avLst/>
              <a:gdLst/>
              <a:ahLst/>
              <a:cxnLst/>
              <a:rect l="0" t="0" r="r" b="b"/>
              <a:pathLst>
                <a:path w="2148840" h="822960">
                  <a:moveTo>
                    <a:pt x="0" y="822960"/>
                  </a:moveTo>
                  <a:lnTo>
                    <a:pt x="0" y="0"/>
                  </a:lnTo>
                  <a:lnTo>
                    <a:pt x="2148840" y="0"/>
                  </a:lnTo>
                  <a:lnTo>
                    <a:pt x="2148840" y="164592"/>
                  </a:lnTo>
                </a:path>
              </a:pathLst>
            </a:custGeom>
            <a:noFill/>
            <a:ln w="27432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Open arrowhead"/>
            <p:cNvSpPr/>
            <p:nvPr/>
          </p:nvSpPr>
          <p:spPr>
            <a:xfrm>
              <a:off x="5123200" y="429768"/>
              <a:ext cx="104607" cy="100584"/>
            </a:xfrm>
            <a:custGeom>
              <a:avLst/>
              <a:gdLst/>
              <a:ahLst/>
              <a:cxnLst/>
              <a:rect l="0" t="0" r="r" b="b"/>
              <a:pathLst>
                <a:path w="104607" h="100584">
                  <a:moveTo>
                    <a:pt x="0" y="0"/>
                  </a:moveTo>
                  <a:lnTo>
                    <a:pt x="52304" y="100584"/>
                  </a:lnTo>
                  <a:lnTo>
                    <a:pt x="104607" y="0"/>
                  </a:lnTo>
                </a:path>
              </a:pathLst>
            </a:custGeom>
            <a:noFill/>
            <a:ln w="27432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Modality dashed container"/>
            <p:cNvSpPr/>
            <p:nvPr/>
          </p:nvSpPr>
          <p:spPr>
            <a:xfrm>
              <a:off x="3246120" y="475488"/>
              <a:ext cx="1124712" cy="1728216"/>
            </a:xfrm>
            <a:custGeom>
              <a:avLst/>
              <a:gdLst/>
              <a:ahLst/>
              <a:cxnLst/>
              <a:rect l="0" t="0" r="r" b="b"/>
              <a:pathLst>
                <a:path w="1124712" h="1728216">
                  <a:moveTo>
                    <a:pt x="0" y="0"/>
                  </a:moveTo>
                  <a:lnTo>
                    <a:pt x="1124712" y="0"/>
                  </a:lnTo>
                  <a:lnTo>
                    <a:pt x="1124712" y="1728216"/>
                  </a:lnTo>
                  <a:lnTo>
                    <a:pt x="0" y="1728216"/>
                  </a:lnTo>
                  <a:close/>
                </a:path>
              </a:pathLst>
            </a:custGeom>
            <a:noFill/>
            <a:ln w="25603" cap="flat" cmpd="sng" algn="ctr">
              <a:solidFill>
                <a:srgbClr val="595959"/>
              </a:solidFill>
              <a:custDash>
                <a:ds d="89286" sp="11785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ASR input box"/>
            <p:cNvSpPr/>
            <p:nvPr/>
          </p:nvSpPr>
          <p:spPr>
            <a:xfrm>
              <a:off x="3383280" y="548640"/>
              <a:ext cx="841248" cy="457200"/>
            </a:xfrm>
            <a:custGeom>
              <a:avLst/>
              <a:gdLst/>
              <a:ahLst/>
              <a:cxnLst/>
              <a:rect l="0" t="0" r="r" b="b"/>
              <a:pathLst>
                <a:path w="841248" h="457200">
                  <a:moveTo>
                    <a:pt x="91440" y="0"/>
                  </a:moveTo>
                  <a:lnTo>
                    <a:pt x="749808" y="0"/>
                  </a:lnTo>
                  <a:cubicBezTo>
                    <a:pt x="800309" y="0"/>
                    <a:pt x="841248" y="40939"/>
                    <a:pt x="841248" y="91440"/>
                  </a:cubicBezTo>
                  <a:lnTo>
                    <a:pt x="841248" y="365760"/>
                  </a:lnTo>
                  <a:cubicBezTo>
                    <a:pt x="841248" y="416261"/>
                    <a:pt x="800309" y="457200"/>
                    <a:pt x="749808" y="457200"/>
                  </a:cubicBezTo>
                  <a:lnTo>
                    <a:pt x="91440" y="457200"/>
                  </a:lnTo>
                  <a:cubicBezTo>
                    <a:pt x="40939" y="457200"/>
                    <a:pt x="0" y="416261"/>
                    <a:pt x="0" y="3657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cdd9ef"/>
            </a:solidFill>
            <a:ln w="29261" cap="flat" cmpd="sng" algn="ctr">
              <a:solidFill>
                <a:srgbClr val="595959"/>
              </a:solidFill>
              <a:custDash>
                <a:ds d="406250" sp="2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ASR"/>
            <p:cNvSpPr txBox="1"/>
            <p:nvPr/>
          </p:nvSpPr>
          <p:spPr>
            <a:xfrm>
              <a:off x="3579819" y="628604"/>
              <a:ext cx="493890" cy="33604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4" b="1" i="0" lang="en-US">
                  <a:solidFill>
                    <a:srgbClr val="000000"/>
                  </a:solidFill>
                  <a:latin typeface="Liberation Serif"/>
                </a:rPr>
                <a:t>ASR</a:t>
              </a:r>
            </a:p>
          </p:txBody>
        </p:sp>
        <p:sp>
          <p:nvSpPr>
            <p:cNvPr id="44" name="OCR input box"/>
            <p:cNvSpPr/>
            <p:nvPr/>
          </p:nvSpPr>
          <p:spPr>
            <a:xfrm>
              <a:off x="3383280" y="1078992"/>
              <a:ext cx="841248" cy="457200"/>
            </a:xfrm>
            <a:custGeom>
              <a:avLst/>
              <a:gdLst/>
              <a:ahLst/>
              <a:cxnLst/>
              <a:rect l="0" t="0" r="r" b="b"/>
              <a:pathLst>
                <a:path w="841248" h="457200">
                  <a:moveTo>
                    <a:pt x="91440" y="0"/>
                  </a:moveTo>
                  <a:lnTo>
                    <a:pt x="749808" y="0"/>
                  </a:lnTo>
                  <a:cubicBezTo>
                    <a:pt x="800309" y="0"/>
                    <a:pt x="841248" y="40939"/>
                    <a:pt x="841248" y="91440"/>
                  </a:cubicBezTo>
                  <a:lnTo>
                    <a:pt x="841248" y="365760"/>
                  </a:lnTo>
                  <a:cubicBezTo>
                    <a:pt x="841248" y="416261"/>
                    <a:pt x="800309" y="457200"/>
                    <a:pt x="749808" y="457200"/>
                  </a:cubicBezTo>
                  <a:lnTo>
                    <a:pt x="91440" y="457200"/>
                  </a:lnTo>
                  <a:cubicBezTo>
                    <a:pt x="40939" y="457200"/>
                    <a:pt x="0" y="416261"/>
                    <a:pt x="0" y="3657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e3e5fe"/>
            </a:solidFill>
            <a:ln w="29261" cap="flat" cmpd="sng" algn="ctr">
              <a:solidFill>
                <a:srgbClr val="595959"/>
              </a:solidFill>
              <a:custDash>
                <a:ds d="406250" sp="2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OCR"/>
            <p:cNvSpPr txBox="1"/>
            <p:nvPr/>
          </p:nvSpPr>
          <p:spPr>
            <a:xfrm>
              <a:off x="3554987" y="1158956"/>
              <a:ext cx="543554" cy="33604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4" b="1" i="0" lang="en-US">
                  <a:solidFill>
                    <a:srgbClr val="000000"/>
                  </a:solidFill>
                  <a:latin typeface="Liberation Serif"/>
                </a:rPr>
                <a:t>OCR</a:t>
              </a:r>
            </a:p>
          </p:txBody>
        </p:sp>
        <p:sp>
          <p:nvSpPr>
            <p:cNvPr id="46" name="Text input box"/>
            <p:cNvSpPr/>
            <p:nvPr/>
          </p:nvSpPr>
          <p:spPr>
            <a:xfrm>
              <a:off x="3383280" y="1636776"/>
              <a:ext cx="841248" cy="457200"/>
            </a:xfrm>
            <a:custGeom>
              <a:avLst/>
              <a:gdLst/>
              <a:ahLst/>
              <a:cxnLst/>
              <a:rect l="0" t="0" r="r" b="b"/>
              <a:pathLst>
                <a:path w="841248" h="457200">
                  <a:moveTo>
                    <a:pt x="91440" y="0"/>
                  </a:moveTo>
                  <a:lnTo>
                    <a:pt x="749808" y="0"/>
                  </a:lnTo>
                  <a:cubicBezTo>
                    <a:pt x="800309" y="0"/>
                    <a:pt x="841248" y="40939"/>
                    <a:pt x="841248" y="91440"/>
                  </a:cubicBezTo>
                  <a:lnTo>
                    <a:pt x="841248" y="365760"/>
                  </a:lnTo>
                  <a:cubicBezTo>
                    <a:pt x="841248" y="416261"/>
                    <a:pt x="800309" y="457200"/>
                    <a:pt x="749808" y="457200"/>
                  </a:cubicBezTo>
                  <a:lnTo>
                    <a:pt x="91440" y="457200"/>
                  </a:lnTo>
                  <a:cubicBezTo>
                    <a:pt x="40939" y="457200"/>
                    <a:pt x="0" y="416261"/>
                    <a:pt x="0" y="3657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fff1cc"/>
            </a:solidFill>
            <a:ln w="29261" cap="flat" cmpd="sng" algn="ctr">
              <a:solidFill>
                <a:srgbClr val="595959"/>
              </a:solidFill>
              <a:custDash>
                <a:ds d="406250" sp="250000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"/>
            <p:cNvSpPr txBox="1"/>
            <p:nvPr/>
          </p:nvSpPr>
          <p:spPr>
            <a:xfrm>
              <a:off x="3596442" y="1716740"/>
              <a:ext cx="460643" cy="33604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64" b="1" i="0" lang="en-US">
                  <a:solidFill>
                    <a:srgbClr val="000000"/>
                  </a:solidFill>
                  <a:latin typeface="Liberation Serif"/>
                </a:rPr>
                <a:t>Text</a:t>
              </a:r>
            </a:p>
          </p:txBody>
        </p:sp>
        <p:sp>
          <p:nvSpPr>
            <p:cNvPr id="48" name="MLLM embedding"/>
            <p:cNvSpPr/>
            <p:nvPr/>
          </p:nvSpPr>
          <p:spPr>
            <a:xfrm>
              <a:off x="4718304" y="548640"/>
              <a:ext cx="1088136" cy="1554480"/>
            </a:xfrm>
            <a:custGeom>
              <a:avLst/>
              <a:gdLst/>
              <a:ahLst/>
              <a:cxnLst/>
              <a:rect l="0" t="0" r="r" b="b"/>
              <a:pathLst>
                <a:path w="1088136" h="1554480">
                  <a:moveTo>
                    <a:pt x="201168" y="0"/>
                  </a:moveTo>
                  <a:lnTo>
                    <a:pt x="886968" y="0"/>
                  </a:lnTo>
                  <a:cubicBezTo>
                    <a:pt x="998070" y="0"/>
                    <a:pt x="1088136" y="90066"/>
                    <a:pt x="1088136" y="201168"/>
                  </a:cubicBezTo>
                  <a:lnTo>
                    <a:pt x="1088136" y="1353312"/>
                  </a:lnTo>
                  <a:cubicBezTo>
                    <a:pt x="1088136" y="1464414"/>
                    <a:pt x="998070" y="1554480"/>
                    <a:pt x="886968" y="1554480"/>
                  </a:cubicBezTo>
                  <a:lnTo>
                    <a:pt x="201168" y="1554480"/>
                  </a:lnTo>
                  <a:cubicBezTo>
                    <a:pt x="90066" y="1554480"/>
                    <a:pt x="0" y="1464414"/>
                    <a:pt x="0" y="1353312"/>
                  </a:cubicBezTo>
                  <a:lnTo>
                    <a:pt x="0" y="201168"/>
                  </a:lnTo>
                  <a:cubicBezTo>
                    <a:pt x="0" y="90066"/>
                    <a:pt x="90066" y="0"/>
                    <a:pt x="201168" y="0"/>
                  </a:cubicBezTo>
                  <a:close/>
                </a:path>
              </a:pathLst>
            </a:custGeom>
            <a:solidFill>
              <a:srgbClr val="fcebf5"/>
            </a:solidFill>
            <a:ln w="30175" cap="flat" cmpd="sng" algn="ctr">
              <a:solidFill>
                <a:srgbClr val="595959"/>
              </a:solidFill>
              <a:custDash>
                <a:ds d="454545" sp="272727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MLLM"/>
            <p:cNvSpPr txBox="1"/>
            <p:nvPr/>
          </p:nvSpPr>
          <p:spPr>
            <a:xfrm>
              <a:off x="4891340" y="1040176"/>
              <a:ext cx="796928" cy="349758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36" b="1" i="0" lang="en-US">
                  <a:solidFill>
                    <a:srgbClr val="000000"/>
                  </a:solidFill>
                  <a:latin typeface="Liberation Serif"/>
                </a:rPr>
                <a:t>MLLM</a:t>
              </a:r>
            </a:p>
          </p:txBody>
        </p:sp>
        <p:grpSp>
          <p:nvGrpSpPr>
            <p:cNvPr id="50" name="Embedding label"/>
            <p:cNvGrpSpPr/>
            <p:nvPr/>
          </p:nvGrpSpPr>
          <p:grpSpPr>
            <a:xfrm>
              <a:off x="4898598" y="1314496"/>
              <a:ext cx="782412" cy="364145"/>
              <a:chOff x="4898598" y="1314496"/>
              <a:chExt cx="782412" cy="364145"/>
            </a:xfrm>
          </p:grpSpPr>
          <p:sp>
            <p:nvSpPr>
              <p:cNvPr id="51" name="Emb "/>
              <p:cNvSpPr txBox="1"/>
              <p:nvPr/>
            </p:nvSpPr>
            <p:spPr>
              <a:xfrm>
                <a:off x="4898598" y="1314496"/>
                <a:ext cx="583444" cy="34975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36" b="1" i="0" lang="en-US">
                    <a:solidFill>
                      <a:srgbClr val="000000"/>
                    </a:solidFill>
                    <a:latin typeface="Liberation Serif"/>
                  </a:rPr>
                  <a:t>Emb </a:t>
                </a:r>
              </a:p>
            </p:txBody>
          </p:sp>
          <p:sp>
            <p:nvSpPr>
              <p:cNvPr id="52" name="E"/>
              <p:cNvSpPr txBox="1"/>
              <p:nvPr/>
            </p:nvSpPr>
            <p:spPr>
              <a:xfrm>
                <a:off x="5436322" y="1314496"/>
                <a:ext cx="201239" cy="34975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36" b="1" i="1" lang="en-US">
                    <a:solidFill>
                      <a:srgbClr val="000000"/>
                    </a:solidFill>
                    <a:latin typeface="Liberation Serif"/>
                  </a:rPr>
                  <a:t>E</a:t>
                </a:r>
              </a:p>
            </p:txBody>
          </p:sp>
          <p:sp>
            <p:nvSpPr>
              <p:cNvPr id="53" name="i"/>
              <p:cNvSpPr txBox="1"/>
              <p:nvPr/>
            </p:nvSpPr>
            <p:spPr>
              <a:xfrm>
                <a:off x="5591842" y="1444303"/>
                <a:ext cx="89168" cy="23433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30" b="1" i="1" lang="en-US">
                    <a:solidFill>
                      <a:srgbClr val="000000"/>
                    </a:solidFill>
                    <a:latin typeface="Liberation Serif"/>
                  </a:rPr>
                  <a:t>i</a:t>
                </a:r>
              </a:p>
            </p:txBody>
          </p:sp>
        </p:grpSp>
        <p:sp>
          <p:nvSpPr>
            <p:cNvPr id="54" name="Connector"/>
            <p:cNvSpPr/>
            <p:nvPr/>
          </p:nvSpPr>
          <p:spPr>
            <a:xfrm>
              <a:off x="1463040" y="1316736"/>
              <a:ext cx="3108960" cy="1737360"/>
            </a:xfrm>
            <a:custGeom>
              <a:avLst/>
              <a:gdLst/>
              <a:ahLst/>
              <a:cxnLst/>
              <a:rect l="0" t="0" r="r" b="b"/>
              <a:pathLst>
                <a:path w="3108960" h="1737360">
                  <a:moveTo>
                    <a:pt x="2907792" y="0"/>
                  </a:moveTo>
                  <a:lnTo>
                    <a:pt x="3108960" y="0"/>
                  </a:lnTo>
                  <a:lnTo>
                    <a:pt x="3108960" y="1207008"/>
                  </a:lnTo>
                  <a:lnTo>
                    <a:pt x="0" y="1207008"/>
                  </a:lnTo>
                  <a:lnTo>
                    <a:pt x="0" y="1737360"/>
                  </a:lnTo>
                </a:path>
              </a:pathLst>
            </a:custGeom>
            <a:noFill/>
            <a:ln w="28346" cap="flat" cmpd="sng" algn="ctr">
              <a:solidFill>
                <a:srgbClr val="595959"/>
              </a:solidFill>
              <a:custDash>
                <a:ds d="90323" sp="116129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Open arrowhead"/>
            <p:cNvSpPr/>
            <p:nvPr/>
          </p:nvSpPr>
          <p:spPr>
            <a:xfrm>
              <a:off x="1405981" y="2944368"/>
              <a:ext cx="114117" cy="109728"/>
            </a:xfrm>
            <a:custGeom>
              <a:avLst/>
              <a:gdLst/>
              <a:ahLst/>
              <a:cxnLst/>
              <a:rect l="0" t="0" r="r" b="b"/>
              <a:pathLst>
                <a:path w="114117" h="109728">
                  <a:moveTo>
                    <a:pt x="0" y="0"/>
                  </a:moveTo>
                  <a:lnTo>
                    <a:pt x="57059" y="109728"/>
                  </a:lnTo>
                  <a:lnTo>
                    <a:pt x="114117" y="0"/>
                  </a:lnTo>
                </a:path>
              </a:pathLst>
            </a:custGeom>
            <a:noFill/>
            <a:ln w="28346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Connector"/>
            <p:cNvSpPr/>
            <p:nvPr/>
          </p:nvSpPr>
          <p:spPr>
            <a:xfrm>
              <a:off x="4572000" y="2523744"/>
              <a:ext cx="91" cy="530352"/>
            </a:xfrm>
            <a:custGeom>
              <a:avLst/>
              <a:gdLst/>
              <a:ahLst/>
              <a:cxnLst/>
              <a:rect l="0" t="0" r="r" b="b"/>
              <a:pathLst>
                <a:path w="91" h="530352">
                  <a:moveTo>
                    <a:pt x="0" y="0"/>
                  </a:moveTo>
                  <a:lnTo>
                    <a:pt x="0" y="530352"/>
                  </a:lnTo>
                </a:path>
              </a:pathLst>
            </a:custGeom>
            <a:noFill/>
            <a:ln w="28346" cap="flat" cmpd="sng" algn="ctr">
              <a:solidFill>
                <a:srgbClr val="595959"/>
              </a:solidFill>
              <a:custDash>
                <a:ds d="90323" sp="116129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Open arrowhead"/>
            <p:cNvSpPr/>
            <p:nvPr/>
          </p:nvSpPr>
          <p:spPr>
            <a:xfrm>
              <a:off x="4514941" y="2944368"/>
              <a:ext cx="114117" cy="109728"/>
            </a:xfrm>
            <a:custGeom>
              <a:avLst/>
              <a:gdLst/>
              <a:ahLst/>
              <a:cxnLst/>
              <a:rect l="0" t="0" r="r" b="b"/>
              <a:pathLst>
                <a:path w="114117" h="109728">
                  <a:moveTo>
                    <a:pt x="0" y="0"/>
                  </a:moveTo>
                  <a:lnTo>
                    <a:pt x="57059" y="109728"/>
                  </a:lnTo>
                  <a:lnTo>
                    <a:pt x="114117" y="0"/>
                  </a:lnTo>
                </a:path>
              </a:pathLst>
            </a:custGeom>
            <a:noFill/>
            <a:ln w="28346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Connector"/>
            <p:cNvSpPr/>
            <p:nvPr/>
          </p:nvSpPr>
          <p:spPr>
            <a:xfrm>
              <a:off x="2935224" y="2112264"/>
              <a:ext cx="2313432" cy="1856232"/>
            </a:xfrm>
            <a:custGeom>
              <a:avLst/>
              <a:gdLst/>
              <a:ahLst/>
              <a:cxnLst/>
              <a:rect l="0" t="0" r="r" b="b"/>
              <a:pathLst>
                <a:path w="2313432" h="1856232">
                  <a:moveTo>
                    <a:pt x="2313432" y="0"/>
                  </a:moveTo>
                  <a:lnTo>
                    <a:pt x="2313432" y="658368"/>
                  </a:lnTo>
                  <a:lnTo>
                    <a:pt x="0" y="658368"/>
                  </a:lnTo>
                  <a:lnTo>
                    <a:pt x="0" y="1856232"/>
                  </a:lnTo>
                </a:path>
              </a:pathLst>
            </a:custGeom>
            <a:noFill/>
            <a:ln w="31090" cap="flat" cmpd="sng" algn="ctr">
              <a:solidFill>
                <a:srgbClr val="ffb4b3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Open arrowhead"/>
            <p:cNvSpPr/>
            <p:nvPr/>
          </p:nvSpPr>
          <p:spPr>
            <a:xfrm>
              <a:off x="2873411" y="3849624"/>
              <a:ext cx="123627" cy="118872"/>
            </a:xfrm>
            <a:custGeom>
              <a:avLst/>
              <a:gdLst/>
              <a:ahLst/>
              <a:cxnLst/>
              <a:rect l="0" t="0" r="r" b="b"/>
              <a:pathLst>
                <a:path w="123627" h="118872">
                  <a:moveTo>
                    <a:pt x="0" y="0"/>
                  </a:moveTo>
                  <a:lnTo>
                    <a:pt x="61813" y="118872"/>
                  </a:lnTo>
                  <a:lnTo>
                    <a:pt x="123627" y="0"/>
                  </a:lnTo>
                </a:path>
              </a:pathLst>
            </a:custGeom>
            <a:noFill/>
            <a:ln w="31090" cap="flat" cmpd="sng" algn="ctr">
              <a:solidFill>
                <a:srgbClr val="ffb4b3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ItemTag extraction prompt"/>
            <p:cNvSpPr/>
            <p:nvPr/>
          </p:nvSpPr>
          <p:spPr>
            <a:xfrm>
              <a:off x="210312" y="3090672"/>
              <a:ext cx="2532888" cy="813816"/>
            </a:xfrm>
            <a:custGeom>
              <a:avLst/>
              <a:gdLst/>
              <a:ahLst/>
              <a:cxnLst/>
              <a:rect l="0" t="0" r="r" b="b"/>
              <a:pathLst>
                <a:path w="2532888" h="813816">
                  <a:moveTo>
                    <a:pt x="137160" y="0"/>
                  </a:moveTo>
                  <a:lnTo>
                    <a:pt x="2395728" y="0"/>
                  </a:lnTo>
                  <a:cubicBezTo>
                    <a:pt x="2471479" y="0"/>
                    <a:pt x="2532888" y="61409"/>
                    <a:pt x="2532888" y="137160"/>
                  </a:cubicBezTo>
                  <a:lnTo>
                    <a:pt x="2532888" y="676656"/>
                  </a:lnTo>
                  <a:cubicBezTo>
                    <a:pt x="2532888" y="752407"/>
                    <a:pt x="2471479" y="813816"/>
                    <a:pt x="2395728" y="813816"/>
                  </a:cubicBezTo>
                  <a:lnTo>
                    <a:pt x="137160" y="813816"/>
                  </a:lnTo>
                  <a:cubicBezTo>
                    <a:pt x="61409" y="813816"/>
                    <a:pt x="0" y="752407"/>
                    <a:pt x="0" y="676656"/>
                  </a:cubicBezTo>
                  <a:lnTo>
                    <a:pt x="0" y="137160"/>
                  </a:lnTo>
                  <a:cubicBezTo>
                    <a:pt x="0" y="61409"/>
                    <a:pt x="61409" y="0"/>
                    <a:pt x="137160" y="0"/>
                  </a:cubicBezTo>
                  <a:close/>
                </a:path>
              </a:pathLst>
            </a:custGeom>
            <a:solidFill>
              <a:srgbClr val="e1efd8"/>
            </a:solidFill>
            <a:ln w="29261" cap="flat" cmpd="sng" algn="ctr">
              <a:solidFill>
                <a:srgbClr val="548333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ItemTag Extraction"/>
            <p:cNvSpPr txBox="1"/>
            <p:nvPr/>
          </p:nvSpPr>
          <p:spPr>
            <a:xfrm>
              <a:off x="427846" y="3189199"/>
              <a:ext cx="2152683" cy="377190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80" b="1" i="0" lang="en-US">
                  <a:solidFill>
                    <a:srgbClr val="000000"/>
                  </a:solidFill>
                  <a:latin typeface="Liberation Serif"/>
                </a:rPr>
                <a:t>ItemTag Extraction</a:t>
              </a:r>
            </a:p>
          </p:txBody>
        </p:sp>
        <p:grpSp>
          <p:nvGrpSpPr>
            <p:cNvPr id="62" name="ItemTag prompt formula"/>
            <p:cNvGrpSpPr/>
            <p:nvPr/>
          </p:nvGrpSpPr>
          <p:grpSpPr>
            <a:xfrm>
              <a:off x="914814" y="3449025"/>
              <a:ext cx="1246370" cy="443484"/>
              <a:chOff x="914814" y="3449025"/>
              <a:chExt cx="1246370" cy="443484"/>
            </a:xfrm>
          </p:grpSpPr>
          <p:sp>
            <p:nvSpPr>
              <p:cNvPr id="63" name="Prompt "/>
              <p:cNvSpPr txBox="1"/>
              <p:nvPr/>
            </p:nvSpPr>
            <p:spPr>
              <a:xfrm>
                <a:off x="914814" y="3481898"/>
                <a:ext cx="960120" cy="39090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52" b="1" i="0" lang="en-US">
                    <a:solidFill>
                      <a:srgbClr val="000000"/>
                    </a:solidFill>
                    <a:latin typeface="Liberation Serif"/>
                  </a:rPr>
                  <a:t>Prompt </a:t>
                </a:r>
              </a:p>
            </p:txBody>
          </p:sp>
          <p:sp>
            <p:nvSpPr>
              <p:cNvPr id="64" name="X"/>
              <p:cNvSpPr txBox="1"/>
              <p:nvPr/>
            </p:nvSpPr>
            <p:spPr>
              <a:xfrm>
                <a:off x="1829214" y="3463793"/>
                <a:ext cx="216084" cy="41833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96" b="0" i="1" lang="en-US">
                    <a:solidFill>
                      <a:srgbClr val="000000"/>
                    </a:solidFill>
                    <a:latin typeface="Liberation Serif"/>
                  </a:rPr>
                  <a:t>X</a:t>
                </a:r>
              </a:p>
            </p:txBody>
          </p:sp>
          <p:sp>
            <p:nvSpPr>
              <p:cNvPr id="65" name="C"/>
              <p:cNvSpPr txBox="1"/>
              <p:nvPr/>
            </p:nvSpPr>
            <p:spPr>
              <a:xfrm>
                <a:off x="1999578" y="3449025"/>
                <a:ext cx="161606" cy="26060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68" b="0" i="1" lang="en-US">
                    <a:solidFill>
                      <a:srgbClr val="000000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66" name="i"/>
              <p:cNvSpPr txBox="1"/>
              <p:nvPr/>
            </p:nvSpPr>
            <p:spPr>
              <a:xfrm>
                <a:off x="1999578" y="3631905"/>
                <a:ext cx="93983" cy="26060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68" b="0" i="1" lang="en-US">
                    <a:solidFill>
                      <a:srgbClr val="000000"/>
                    </a:solidFill>
                    <a:latin typeface="Liberation Serif"/>
                  </a:rPr>
                  <a:t>i</a:t>
                </a:r>
              </a:p>
            </p:txBody>
          </p:sp>
        </p:grpSp>
        <p:sp>
          <p:nvSpPr>
            <p:cNvPr id="67" name="UserTag extraction prompt"/>
            <p:cNvSpPr/>
            <p:nvPr/>
          </p:nvSpPr>
          <p:spPr>
            <a:xfrm>
              <a:off x="3273552" y="3099816"/>
              <a:ext cx="2478024" cy="822960"/>
            </a:xfrm>
            <a:custGeom>
              <a:avLst/>
              <a:gdLst/>
              <a:ahLst/>
              <a:cxnLst/>
              <a:rect l="0" t="0" r="r" b="b"/>
              <a:pathLst>
                <a:path w="2478024" h="822960">
                  <a:moveTo>
                    <a:pt x="146304" y="0"/>
                  </a:moveTo>
                  <a:lnTo>
                    <a:pt x="2331720" y="0"/>
                  </a:lnTo>
                  <a:cubicBezTo>
                    <a:pt x="2412521" y="0"/>
                    <a:pt x="2478024" y="65503"/>
                    <a:pt x="2478024" y="146304"/>
                  </a:cubicBezTo>
                  <a:lnTo>
                    <a:pt x="2478024" y="676656"/>
                  </a:lnTo>
                  <a:cubicBezTo>
                    <a:pt x="2478024" y="757457"/>
                    <a:pt x="2412521" y="822960"/>
                    <a:pt x="2331720" y="822960"/>
                  </a:cubicBezTo>
                  <a:lnTo>
                    <a:pt x="146304" y="822960"/>
                  </a:lnTo>
                  <a:cubicBezTo>
                    <a:pt x="65503" y="822960"/>
                    <a:pt x="0" y="757457"/>
                    <a:pt x="0" y="676656"/>
                  </a:cubicBezTo>
                  <a:lnTo>
                    <a:pt x="0" y="146304"/>
                  </a:lnTo>
                  <a:cubicBezTo>
                    <a:pt x="0" y="65503"/>
                    <a:pt x="65503" y="0"/>
                    <a:pt x="146304" y="0"/>
                  </a:cubicBezTo>
                  <a:close/>
                </a:path>
              </a:pathLst>
            </a:custGeom>
            <a:solidFill>
              <a:srgbClr val="fae4d6"/>
            </a:solidFill>
            <a:ln w="29261" cap="flat" cmpd="sng" algn="ctr">
              <a:solidFill>
                <a:srgbClr val="c796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UserTag Extraction"/>
            <p:cNvSpPr txBox="1"/>
            <p:nvPr/>
          </p:nvSpPr>
          <p:spPr>
            <a:xfrm>
              <a:off x="3463654" y="3207487"/>
              <a:ext cx="2152683" cy="377190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80" b="1" i="0" lang="en-US">
                  <a:solidFill>
                    <a:srgbClr val="000000"/>
                  </a:solidFill>
                  <a:latin typeface="Liberation Serif"/>
                </a:rPr>
                <a:t>UserTag Extraction</a:t>
              </a:r>
            </a:p>
          </p:txBody>
        </p:sp>
        <p:grpSp>
          <p:nvGrpSpPr>
            <p:cNvPr id="69" name="UserTag prompt formula"/>
            <p:cNvGrpSpPr/>
            <p:nvPr/>
          </p:nvGrpSpPr>
          <p:grpSpPr>
            <a:xfrm>
              <a:off x="3950622" y="3472937"/>
              <a:ext cx="1265301" cy="428716"/>
              <a:chOff x="3950622" y="3472937"/>
              <a:chExt cx="1265301" cy="428716"/>
            </a:xfrm>
          </p:grpSpPr>
          <p:sp>
            <p:nvSpPr>
              <p:cNvPr id="70" name="Prompt "/>
              <p:cNvSpPr txBox="1"/>
              <p:nvPr/>
            </p:nvSpPr>
            <p:spPr>
              <a:xfrm>
                <a:off x="3950622" y="3491042"/>
                <a:ext cx="960120" cy="39090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52" b="1" i="0" lang="en-US">
                    <a:solidFill>
                      <a:srgbClr val="000000"/>
                    </a:solidFill>
                    <a:latin typeface="Liberation Serif"/>
                  </a:rPr>
                  <a:t>Prompt </a:t>
                </a:r>
              </a:p>
            </p:txBody>
          </p:sp>
          <p:sp>
            <p:nvSpPr>
              <p:cNvPr id="71" name="X"/>
              <p:cNvSpPr txBox="1"/>
              <p:nvPr/>
            </p:nvSpPr>
            <p:spPr>
              <a:xfrm>
                <a:off x="4865022" y="3472937"/>
                <a:ext cx="216084" cy="41833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196" b="0" i="1" lang="en-US">
                    <a:solidFill>
                      <a:srgbClr val="000000"/>
                    </a:solidFill>
                    <a:latin typeface="Liberation Serif"/>
                  </a:rPr>
                  <a:t>X</a:t>
                </a:r>
              </a:p>
            </p:txBody>
          </p:sp>
          <p:sp>
            <p:nvSpPr>
              <p:cNvPr id="72" name="𝒯"/>
              <p:cNvSpPr txBox="1"/>
              <p:nvPr/>
            </p:nvSpPr>
            <p:spPr>
              <a:xfrm>
                <a:off x="5035386" y="3472937"/>
                <a:ext cx="180537" cy="26060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68" b="0" i="0" lang="en-US">
                    <a:solidFill>
                      <a:srgbClr val="000000"/>
                    </a:solidFill>
                    <a:latin typeface="Latin Modern Math"/>
                  </a:rPr>
                  <a:t>𝒯</a:t>
                </a:r>
              </a:p>
            </p:txBody>
          </p:sp>
          <p:sp>
            <p:nvSpPr>
              <p:cNvPr id="73" name="i"/>
              <p:cNvSpPr txBox="1"/>
              <p:nvPr/>
            </p:nvSpPr>
            <p:spPr>
              <a:xfrm>
                <a:off x="5035386" y="3641049"/>
                <a:ext cx="93983" cy="26060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68" b="0" i="1" lang="en-US">
                    <a:solidFill>
                      <a:srgbClr val="000000"/>
                    </a:solidFill>
                    <a:latin typeface="Liberation Serif"/>
                  </a:rPr>
                  <a:t>i</a:t>
                </a:r>
              </a:p>
            </p:txBody>
          </p:sp>
        </p:grpSp>
        <p:sp>
          <p:nvSpPr>
            <p:cNvPr id="74" name="Connector"/>
            <p:cNvSpPr/>
            <p:nvPr/>
          </p:nvSpPr>
          <p:spPr>
            <a:xfrm>
              <a:off x="1408176" y="3922776"/>
              <a:ext cx="1024128" cy="420624"/>
            </a:xfrm>
            <a:custGeom>
              <a:avLst/>
              <a:gdLst/>
              <a:ahLst/>
              <a:cxnLst/>
              <a:rect l="0" t="0" r="r" b="b"/>
              <a:pathLst>
                <a:path w="1024128" h="420624">
                  <a:moveTo>
                    <a:pt x="0" y="0"/>
                  </a:moveTo>
                  <a:lnTo>
                    <a:pt x="0" y="420624"/>
                  </a:lnTo>
                  <a:lnTo>
                    <a:pt x="1024128" y="420624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Open arrowhead"/>
            <p:cNvSpPr/>
            <p:nvPr/>
          </p:nvSpPr>
          <p:spPr>
            <a:xfrm>
              <a:off x="2313432" y="4281587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0" y="123627"/>
                  </a:moveTo>
                  <a:lnTo>
                    <a:pt x="118872" y="61813"/>
                  </a:lnTo>
                  <a:lnTo>
                    <a:pt x="0" y="0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Connector"/>
            <p:cNvSpPr/>
            <p:nvPr/>
          </p:nvSpPr>
          <p:spPr>
            <a:xfrm>
              <a:off x="3429000" y="3941064"/>
              <a:ext cx="1042416" cy="374904"/>
            </a:xfrm>
            <a:custGeom>
              <a:avLst/>
              <a:gdLst/>
              <a:ahLst/>
              <a:cxnLst/>
              <a:rect l="0" t="0" r="r" b="b"/>
              <a:pathLst>
                <a:path w="1042416" h="374904">
                  <a:moveTo>
                    <a:pt x="1042416" y="0"/>
                  </a:moveTo>
                  <a:lnTo>
                    <a:pt x="1042416" y="374904"/>
                  </a:lnTo>
                  <a:lnTo>
                    <a:pt x="0" y="374904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Open arrowhead"/>
            <p:cNvSpPr/>
            <p:nvPr/>
          </p:nvSpPr>
          <p:spPr>
            <a:xfrm>
              <a:off x="3429000" y="4254155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118872" y="0"/>
                  </a:moveTo>
                  <a:lnTo>
                    <a:pt x="0" y="61813"/>
                  </a:lnTo>
                  <a:lnTo>
                    <a:pt x="118872" y="123627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Connector"/>
            <p:cNvSpPr/>
            <p:nvPr/>
          </p:nvSpPr>
          <p:spPr>
            <a:xfrm>
              <a:off x="1380744" y="4498848"/>
              <a:ext cx="996696" cy="438912"/>
            </a:xfrm>
            <a:custGeom>
              <a:avLst/>
              <a:gdLst/>
              <a:ahLst/>
              <a:cxnLst/>
              <a:rect l="0" t="0" r="r" b="b"/>
              <a:pathLst>
                <a:path w="996696" h="438912">
                  <a:moveTo>
                    <a:pt x="996696" y="0"/>
                  </a:moveTo>
                  <a:lnTo>
                    <a:pt x="0" y="0"/>
                  </a:lnTo>
                  <a:lnTo>
                    <a:pt x="0" y="438912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Open arrowhead"/>
            <p:cNvSpPr/>
            <p:nvPr/>
          </p:nvSpPr>
          <p:spPr>
            <a:xfrm>
              <a:off x="1318931" y="4818888"/>
              <a:ext cx="123627" cy="118872"/>
            </a:xfrm>
            <a:custGeom>
              <a:avLst/>
              <a:gdLst/>
              <a:ahLst/>
              <a:cxnLst/>
              <a:rect l="0" t="0" r="r" b="b"/>
              <a:pathLst>
                <a:path w="123627" h="118872">
                  <a:moveTo>
                    <a:pt x="0" y="0"/>
                  </a:moveTo>
                  <a:lnTo>
                    <a:pt x="61813" y="118872"/>
                  </a:lnTo>
                  <a:lnTo>
                    <a:pt x="123627" y="0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Connector"/>
            <p:cNvSpPr/>
            <p:nvPr/>
          </p:nvSpPr>
          <p:spPr>
            <a:xfrm>
              <a:off x="3401568" y="4507992"/>
              <a:ext cx="1088136" cy="493776"/>
            </a:xfrm>
            <a:custGeom>
              <a:avLst/>
              <a:gdLst/>
              <a:ahLst/>
              <a:cxnLst/>
              <a:rect l="0" t="0" r="r" b="b"/>
              <a:pathLst>
                <a:path w="1088136" h="493776">
                  <a:moveTo>
                    <a:pt x="0" y="0"/>
                  </a:moveTo>
                  <a:lnTo>
                    <a:pt x="1088136" y="0"/>
                  </a:lnTo>
                  <a:lnTo>
                    <a:pt x="1088136" y="493776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Open arrowhead"/>
            <p:cNvSpPr/>
            <p:nvPr/>
          </p:nvSpPr>
          <p:spPr>
            <a:xfrm>
              <a:off x="4427891" y="4882896"/>
              <a:ext cx="123627" cy="118872"/>
            </a:xfrm>
            <a:custGeom>
              <a:avLst/>
              <a:gdLst/>
              <a:ahLst/>
              <a:cxnLst/>
              <a:rect l="0" t="0" r="r" b="b"/>
              <a:pathLst>
                <a:path w="123627" h="118872">
                  <a:moveTo>
                    <a:pt x="0" y="0"/>
                  </a:moveTo>
                  <a:lnTo>
                    <a:pt x="61813" y="118872"/>
                  </a:lnTo>
                  <a:lnTo>
                    <a:pt x="123627" y="0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82" name="MLLM robot icon"/>
            <p:cNvGrpSpPr/>
            <p:nvPr/>
          </p:nvGrpSpPr>
          <p:grpSpPr>
            <a:xfrm>
              <a:off x="2578608" y="4067251"/>
              <a:ext cx="704088" cy="870509"/>
              <a:chOff x="2578608" y="4067251"/>
              <a:chExt cx="704088" cy="870509"/>
            </a:xfrm>
          </p:grpSpPr>
          <p:sp>
            <p:nvSpPr>
              <p:cNvPr id="83" name="Ellipse"/>
              <p:cNvSpPr/>
              <p:nvPr/>
            </p:nvSpPr>
            <p:spPr>
              <a:xfrm>
                <a:off x="2896819" y="4067251"/>
                <a:ext cx="95098" cy="95098"/>
              </a:xfrm>
              <a:custGeom>
                <a:avLst/>
                <a:gdLst/>
                <a:ahLst/>
                <a:cxnLst/>
                <a:rect l="0" t="0" r="r" b="b"/>
                <a:pathLst>
                  <a:path w="95098" h="95098">
                    <a:moveTo>
                      <a:pt x="95098" y="47549"/>
                    </a:moveTo>
                    <a:cubicBezTo>
                      <a:pt x="95098" y="73809"/>
                      <a:pt x="73809" y="95098"/>
                      <a:pt x="47549" y="95098"/>
                    </a:cubicBezTo>
                    <a:cubicBezTo>
                      <a:pt x="21288" y="95098"/>
                      <a:pt x="0" y="73809"/>
                      <a:pt x="0" y="47549"/>
                    </a:cubicBezTo>
                    <a:cubicBezTo>
                      <a:pt x="0" y="21288"/>
                      <a:pt x="21288" y="0"/>
                      <a:pt x="47549" y="0"/>
                    </a:cubicBezTo>
                    <a:cubicBezTo>
                      <a:pt x="73809" y="0"/>
                      <a:pt x="95098" y="21288"/>
                      <a:pt x="95098" y="4754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Rectangle"/>
              <p:cNvSpPr/>
              <p:nvPr/>
            </p:nvSpPr>
            <p:spPr>
              <a:xfrm>
                <a:off x="2924251" y="4128516"/>
                <a:ext cx="40234" cy="100584"/>
              </a:xfrm>
              <a:custGeom>
                <a:avLst/>
                <a:gdLst/>
                <a:ahLst/>
                <a:cxnLst/>
                <a:rect l="0" t="0" r="r" b="b"/>
                <a:pathLst>
                  <a:path w="40234" h="100584">
                    <a:moveTo>
                      <a:pt x="0" y="0"/>
                    </a:moveTo>
                    <a:lnTo>
                      <a:pt x="40234" y="0"/>
                    </a:lnTo>
                    <a:lnTo>
                      <a:pt x="40234" y="100584"/>
                    </a:lnTo>
                    <a:lnTo>
                      <a:pt x="0" y="100584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Rectangle"/>
              <p:cNvSpPr/>
              <p:nvPr/>
            </p:nvSpPr>
            <p:spPr>
              <a:xfrm>
                <a:off x="2807208" y="4206240"/>
                <a:ext cx="274320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274320" h="210312">
                    <a:moveTo>
                      <a:pt x="41148" y="0"/>
                    </a:moveTo>
                    <a:lnTo>
                      <a:pt x="233172" y="0"/>
                    </a:lnTo>
                    <a:cubicBezTo>
                      <a:pt x="255897" y="0"/>
                      <a:pt x="274320" y="18423"/>
                      <a:pt x="274320" y="41148"/>
                    </a:cubicBezTo>
                    <a:lnTo>
                      <a:pt x="274320" y="169164"/>
                    </a:lnTo>
                    <a:cubicBezTo>
                      <a:pt x="274320" y="191889"/>
                      <a:pt x="255897" y="210312"/>
                      <a:pt x="233172" y="210312"/>
                    </a:cubicBezTo>
                    <a:lnTo>
                      <a:pt x="41148" y="210312"/>
                    </a:lnTo>
                    <a:cubicBezTo>
                      <a:pt x="18423" y="210312"/>
                      <a:pt x="0" y="191889"/>
                      <a:pt x="0" y="169164"/>
                    </a:cubicBezTo>
                    <a:lnTo>
                      <a:pt x="0" y="41148"/>
                    </a:lnTo>
                    <a:cubicBezTo>
                      <a:pt x="0" y="18423"/>
                      <a:pt x="18423" y="0"/>
                      <a:pt x="411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Ellipse"/>
              <p:cNvSpPr/>
              <p:nvPr/>
            </p:nvSpPr>
            <p:spPr>
              <a:xfrm>
                <a:off x="2865730" y="4284878"/>
                <a:ext cx="62179" cy="62179"/>
              </a:xfrm>
              <a:custGeom>
                <a:avLst/>
                <a:gdLst/>
                <a:ahLst/>
                <a:cxnLst/>
                <a:rect l="0" t="0" r="r" b="b"/>
                <a:pathLst>
                  <a:path w="62179" h="62179">
                    <a:moveTo>
                      <a:pt x="62179" y="31090"/>
                    </a:moveTo>
                    <a:cubicBezTo>
                      <a:pt x="62179" y="48260"/>
                      <a:pt x="48260" y="62179"/>
                      <a:pt x="31090" y="62179"/>
                    </a:cubicBezTo>
                    <a:cubicBezTo>
                      <a:pt x="13919" y="62179"/>
                      <a:pt x="0" y="48260"/>
                      <a:pt x="0" y="31090"/>
                    </a:cubicBezTo>
                    <a:cubicBezTo>
                      <a:pt x="0" y="13919"/>
                      <a:pt x="13919" y="0"/>
                      <a:pt x="31090" y="0"/>
                    </a:cubicBezTo>
                    <a:cubicBezTo>
                      <a:pt x="48260" y="0"/>
                      <a:pt x="62179" y="13919"/>
                      <a:pt x="62179" y="310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7" name="Ellipse"/>
              <p:cNvSpPr/>
              <p:nvPr/>
            </p:nvSpPr>
            <p:spPr>
              <a:xfrm>
                <a:off x="2964485" y="4284878"/>
                <a:ext cx="62179" cy="62179"/>
              </a:xfrm>
              <a:custGeom>
                <a:avLst/>
                <a:gdLst/>
                <a:ahLst/>
                <a:cxnLst/>
                <a:rect l="0" t="0" r="r" b="b"/>
                <a:pathLst>
                  <a:path w="62179" h="62179">
                    <a:moveTo>
                      <a:pt x="62179" y="31090"/>
                    </a:moveTo>
                    <a:cubicBezTo>
                      <a:pt x="62179" y="48260"/>
                      <a:pt x="48260" y="62179"/>
                      <a:pt x="31090" y="62179"/>
                    </a:cubicBezTo>
                    <a:cubicBezTo>
                      <a:pt x="13919" y="62179"/>
                      <a:pt x="0" y="48260"/>
                      <a:pt x="0" y="31090"/>
                    </a:cubicBezTo>
                    <a:cubicBezTo>
                      <a:pt x="0" y="13919"/>
                      <a:pt x="13919" y="0"/>
                      <a:pt x="31090" y="0"/>
                    </a:cubicBezTo>
                    <a:cubicBezTo>
                      <a:pt x="48260" y="0"/>
                      <a:pt x="62179" y="13919"/>
                      <a:pt x="62179" y="310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Ellipse"/>
              <p:cNvSpPr/>
              <p:nvPr/>
            </p:nvSpPr>
            <p:spPr>
              <a:xfrm>
                <a:off x="2880817" y="4299966"/>
                <a:ext cx="32004" cy="32004"/>
              </a:xfrm>
              <a:custGeom>
                <a:avLst/>
                <a:gdLst/>
                <a:ahLst/>
                <a:cxnLst/>
                <a:rect l="0" t="0" r="r" b="b"/>
                <a:pathLst>
                  <a:path w="32004" h="32004">
                    <a:moveTo>
                      <a:pt x="32004" y="16002"/>
                    </a:moveTo>
                    <a:cubicBezTo>
                      <a:pt x="32004" y="24840"/>
                      <a:pt x="24840" y="32004"/>
                      <a:pt x="16002" y="32004"/>
                    </a:cubicBezTo>
                    <a:cubicBezTo>
                      <a:pt x="7164" y="32004"/>
                      <a:pt x="0" y="24840"/>
                      <a:pt x="0" y="16002"/>
                    </a:cubicBezTo>
                    <a:cubicBezTo>
                      <a:pt x="0" y="7164"/>
                      <a:pt x="7164" y="0"/>
                      <a:pt x="16002" y="0"/>
                    </a:cubicBezTo>
                    <a:cubicBezTo>
                      <a:pt x="24840" y="0"/>
                      <a:pt x="32004" y="7164"/>
                      <a:pt x="32004" y="160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9" name="Ellipse"/>
              <p:cNvSpPr/>
              <p:nvPr/>
            </p:nvSpPr>
            <p:spPr>
              <a:xfrm>
                <a:off x="2979572" y="4299966"/>
                <a:ext cx="32004" cy="32004"/>
              </a:xfrm>
              <a:custGeom>
                <a:avLst/>
                <a:gdLst/>
                <a:ahLst/>
                <a:cxnLst/>
                <a:rect l="0" t="0" r="r" b="b"/>
                <a:pathLst>
                  <a:path w="32004" h="32004">
                    <a:moveTo>
                      <a:pt x="32004" y="16002"/>
                    </a:moveTo>
                    <a:cubicBezTo>
                      <a:pt x="32004" y="24840"/>
                      <a:pt x="24840" y="32004"/>
                      <a:pt x="16002" y="32004"/>
                    </a:cubicBezTo>
                    <a:cubicBezTo>
                      <a:pt x="7164" y="32004"/>
                      <a:pt x="0" y="24840"/>
                      <a:pt x="0" y="16002"/>
                    </a:cubicBezTo>
                    <a:cubicBezTo>
                      <a:pt x="0" y="7164"/>
                      <a:pt x="7164" y="0"/>
                      <a:pt x="16002" y="0"/>
                    </a:cubicBezTo>
                    <a:cubicBezTo>
                      <a:pt x="24840" y="0"/>
                      <a:pt x="32004" y="7164"/>
                      <a:pt x="32004" y="160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Rectangle"/>
              <p:cNvSpPr/>
              <p:nvPr/>
            </p:nvSpPr>
            <p:spPr>
              <a:xfrm>
                <a:off x="2779776" y="4453128"/>
                <a:ext cx="329184" cy="292608"/>
              </a:xfrm>
              <a:custGeom>
                <a:avLst/>
                <a:gdLst/>
                <a:ahLst/>
                <a:cxnLst/>
                <a:rect l="0" t="0" r="r" b="b"/>
                <a:pathLst>
                  <a:path w="329184" h="292608">
                    <a:moveTo>
                      <a:pt x="0" y="0"/>
                    </a:moveTo>
                    <a:lnTo>
                      <a:pt x="329184" y="0"/>
                    </a:lnTo>
                    <a:lnTo>
                      <a:pt x="329184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1" name="Path"/>
              <p:cNvSpPr/>
              <p:nvPr/>
            </p:nvSpPr>
            <p:spPr>
              <a:xfrm>
                <a:off x="2670048" y="4389120"/>
                <a:ext cx="10972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09728" h="146304">
                    <a:moveTo>
                      <a:pt x="109728" y="146304"/>
                    </a:moveTo>
                    <a:lnTo>
                      <a:pt x="36576" y="146304"/>
                    </a:lnTo>
                    <a:cubicBezTo>
                      <a:pt x="0" y="146304"/>
                      <a:pt x="0" y="118872"/>
                      <a:pt x="0" y="91440"/>
                    </a:cubicBezTo>
                    <a:lnTo>
                      <a:pt x="0" y="0"/>
                    </a:lnTo>
                  </a:path>
                </a:pathLst>
              </a:custGeom>
              <a:noFill/>
              <a:ln w="41148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Path"/>
              <p:cNvSpPr/>
              <p:nvPr/>
            </p:nvSpPr>
            <p:spPr>
              <a:xfrm>
                <a:off x="2578608" y="4306824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55448" h="146304">
                    <a:moveTo>
                      <a:pt x="45720" y="0"/>
                    </a:moveTo>
                    <a:cubicBezTo>
                      <a:pt x="0" y="82296"/>
                      <a:pt x="91440" y="146304"/>
                      <a:pt x="146304" y="64008"/>
                    </a:cubicBezTo>
                    <a:cubicBezTo>
                      <a:pt x="155448" y="45720"/>
                      <a:pt x="146304" y="18288"/>
                      <a:pt x="137160" y="0"/>
                    </a:cubicBezTo>
                  </a:path>
                </a:pathLst>
              </a:custGeom>
              <a:noFill/>
              <a:ln w="4389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Path"/>
              <p:cNvSpPr/>
              <p:nvPr/>
            </p:nvSpPr>
            <p:spPr>
              <a:xfrm>
                <a:off x="3108960" y="4517136"/>
                <a:ext cx="109728" cy="155448"/>
              </a:xfrm>
              <a:custGeom>
                <a:avLst/>
                <a:gdLst/>
                <a:ahLst/>
                <a:cxnLst/>
                <a:rect l="0" t="0" r="r" b="b"/>
                <a:pathLst>
                  <a:path w="109728" h="155448">
                    <a:moveTo>
                      <a:pt x="0" y="0"/>
                    </a:moveTo>
                    <a:lnTo>
                      <a:pt x="64008" y="0"/>
                    </a:lnTo>
                    <a:cubicBezTo>
                      <a:pt x="109728" y="0"/>
                      <a:pt x="109728" y="27432"/>
                      <a:pt x="109728" y="64008"/>
                    </a:cubicBezTo>
                    <a:lnTo>
                      <a:pt x="109728" y="155448"/>
                    </a:lnTo>
                  </a:path>
                </a:pathLst>
              </a:custGeom>
              <a:noFill/>
              <a:ln w="41148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Path"/>
              <p:cNvSpPr/>
              <p:nvPr/>
            </p:nvSpPr>
            <p:spPr>
              <a:xfrm>
                <a:off x="3127248" y="4617720"/>
                <a:ext cx="15544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55448" h="137160">
                    <a:moveTo>
                      <a:pt x="45720" y="137160"/>
                    </a:moveTo>
                    <a:cubicBezTo>
                      <a:pt x="0" y="64008"/>
                      <a:pt x="91440" y="0"/>
                      <a:pt x="146304" y="82296"/>
                    </a:cubicBezTo>
                    <a:cubicBezTo>
                      <a:pt x="155448" y="100584"/>
                      <a:pt x="146304" y="128016"/>
                      <a:pt x="137160" y="137160"/>
                    </a:cubicBezTo>
                  </a:path>
                </a:pathLst>
              </a:custGeom>
              <a:noFill/>
              <a:ln w="4389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Path"/>
              <p:cNvSpPr/>
              <p:nvPr/>
            </p:nvSpPr>
            <p:spPr>
              <a:xfrm>
                <a:off x="2825496" y="4507992"/>
                <a:ext cx="256032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256032" h="137160">
                    <a:moveTo>
                      <a:pt x="0" y="73152"/>
                    </a:moveTo>
                    <a:lnTo>
                      <a:pt x="36576" y="73152"/>
                    </a:lnTo>
                    <a:lnTo>
                      <a:pt x="73152" y="0"/>
                    </a:lnTo>
                    <a:lnTo>
                      <a:pt x="109728" y="137160"/>
                    </a:lnTo>
                    <a:lnTo>
                      <a:pt x="155448" y="36576"/>
                    </a:lnTo>
                    <a:lnTo>
                      <a:pt x="192024" y="109728"/>
                    </a:lnTo>
                    <a:lnTo>
                      <a:pt x="228600" y="73152"/>
                    </a:lnTo>
                    <a:lnTo>
                      <a:pt x="256032" y="73152"/>
                    </a:lnTo>
                  </a:path>
                </a:pathLst>
              </a:custGeom>
              <a:noFill/>
              <a:ln w="18288" cap="flat" cmpd="sng" algn="ctr">
                <a:solidFill>
                  <a:srgbClr val="ffffff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Rectangle"/>
              <p:cNvSpPr/>
              <p:nvPr/>
            </p:nvSpPr>
            <p:spPr>
              <a:xfrm>
                <a:off x="2688336" y="4782312"/>
                <a:ext cx="512064" cy="155448"/>
              </a:xfrm>
              <a:custGeom>
                <a:avLst/>
                <a:gdLst/>
                <a:ahLst/>
                <a:cxnLst/>
                <a:rect l="0" t="0" r="r" b="b"/>
                <a:pathLst>
                  <a:path w="512064" h="155448">
                    <a:moveTo>
                      <a:pt x="77724" y="0"/>
                    </a:moveTo>
                    <a:lnTo>
                      <a:pt x="434340" y="0"/>
                    </a:lnTo>
                    <a:cubicBezTo>
                      <a:pt x="477266" y="0"/>
                      <a:pt x="512064" y="34798"/>
                      <a:pt x="512064" y="77724"/>
                    </a:cubicBezTo>
                    <a:lnTo>
                      <a:pt x="512064" y="77724"/>
                    </a:lnTo>
                    <a:cubicBezTo>
                      <a:pt x="512064" y="120650"/>
                      <a:pt x="477266" y="155448"/>
                      <a:pt x="434340" y="155448"/>
                    </a:cubicBezTo>
                    <a:lnTo>
                      <a:pt x="77724" y="155448"/>
                    </a:lnTo>
                    <a:cubicBezTo>
                      <a:pt x="34798" y="155448"/>
                      <a:pt x="0" y="120650"/>
                      <a:pt x="0" y="77724"/>
                    </a:cubicBezTo>
                    <a:lnTo>
                      <a:pt x="0" y="77724"/>
                    </a:lnTo>
                    <a:cubicBezTo>
                      <a:pt x="0" y="34798"/>
                      <a:pt x="34798" y="0"/>
                      <a:pt x="77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Ellipse"/>
              <p:cNvSpPr/>
              <p:nvPr/>
            </p:nvSpPr>
            <p:spPr>
              <a:xfrm>
                <a:off x="2756002" y="4827118"/>
                <a:ext cx="65837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65837" h="65837">
                    <a:moveTo>
                      <a:pt x="65837" y="32918"/>
                    </a:moveTo>
                    <a:cubicBezTo>
                      <a:pt x="65837" y="51099"/>
                      <a:pt x="51099" y="65837"/>
                      <a:pt x="32918" y="65837"/>
                    </a:cubicBezTo>
                    <a:cubicBezTo>
                      <a:pt x="14738" y="65837"/>
                      <a:pt x="0" y="51099"/>
                      <a:pt x="0" y="32918"/>
                    </a:cubicBezTo>
                    <a:cubicBezTo>
                      <a:pt x="0" y="14738"/>
                      <a:pt x="14738" y="0"/>
                      <a:pt x="32918" y="0"/>
                    </a:cubicBezTo>
                    <a:cubicBezTo>
                      <a:pt x="51099" y="0"/>
                      <a:pt x="65837" y="14738"/>
                      <a:pt x="65837" y="329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Ellipse"/>
              <p:cNvSpPr/>
              <p:nvPr/>
            </p:nvSpPr>
            <p:spPr>
              <a:xfrm>
                <a:off x="2911450" y="4827118"/>
                <a:ext cx="65837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65837" h="65837">
                    <a:moveTo>
                      <a:pt x="65837" y="32918"/>
                    </a:moveTo>
                    <a:cubicBezTo>
                      <a:pt x="65837" y="51099"/>
                      <a:pt x="51099" y="65837"/>
                      <a:pt x="32918" y="65837"/>
                    </a:cubicBezTo>
                    <a:cubicBezTo>
                      <a:pt x="14738" y="65837"/>
                      <a:pt x="0" y="51099"/>
                      <a:pt x="0" y="32918"/>
                    </a:cubicBezTo>
                    <a:cubicBezTo>
                      <a:pt x="0" y="14738"/>
                      <a:pt x="14738" y="0"/>
                      <a:pt x="32918" y="0"/>
                    </a:cubicBezTo>
                    <a:cubicBezTo>
                      <a:pt x="51099" y="0"/>
                      <a:pt x="65837" y="14738"/>
                      <a:pt x="65837" y="329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Ellipse"/>
              <p:cNvSpPr/>
              <p:nvPr/>
            </p:nvSpPr>
            <p:spPr>
              <a:xfrm>
                <a:off x="3066898" y="4827118"/>
                <a:ext cx="65837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65837" h="65837">
                    <a:moveTo>
                      <a:pt x="65837" y="32918"/>
                    </a:moveTo>
                    <a:cubicBezTo>
                      <a:pt x="65837" y="51099"/>
                      <a:pt x="51099" y="65837"/>
                      <a:pt x="32918" y="65837"/>
                    </a:cubicBezTo>
                    <a:cubicBezTo>
                      <a:pt x="14738" y="65837"/>
                      <a:pt x="0" y="51099"/>
                      <a:pt x="0" y="32918"/>
                    </a:cubicBezTo>
                    <a:cubicBezTo>
                      <a:pt x="0" y="14738"/>
                      <a:pt x="14738" y="0"/>
                      <a:pt x="32918" y="0"/>
                    </a:cubicBezTo>
                    <a:cubicBezTo>
                      <a:pt x="51099" y="0"/>
                      <a:pt x="65837" y="14738"/>
                      <a:pt x="65837" y="329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00" name="MLLM"/>
            <p:cNvSpPr txBox="1"/>
            <p:nvPr/>
          </p:nvSpPr>
          <p:spPr>
            <a:xfrm>
              <a:off x="2524573" y="4990658"/>
              <a:ext cx="885311" cy="390906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2" b="1" i="0" lang="en-US">
                  <a:solidFill>
                    <a:srgbClr val="000000"/>
                  </a:solidFill>
                  <a:latin typeface="Liberation Serif"/>
                </a:rPr>
                <a:t>MLLM</a:t>
              </a:r>
            </a:p>
          </p:txBody>
        </p:sp>
        <p:grpSp>
          <p:nvGrpSpPr>
            <p:cNvPr id="101" name="ItemTag stack"/>
            <p:cNvGrpSpPr/>
            <p:nvPr/>
          </p:nvGrpSpPr>
          <p:grpSpPr>
            <a:xfrm>
              <a:off x="384048" y="4974336"/>
              <a:ext cx="1847088" cy="1156670"/>
              <a:chOff x="384048" y="4974336"/>
              <a:chExt cx="1847088" cy="1156670"/>
            </a:xfrm>
          </p:grpSpPr>
          <p:sp>
            <p:nvSpPr>
              <p:cNvPr id="102" name="Rectangle"/>
              <p:cNvSpPr/>
              <p:nvPr/>
            </p:nvSpPr>
            <p:spPr>
              <a:xfrm>
                <a:off x="640080" y="4974336"/>
                <a:ext cx="1591056" cy="493776"/>
              </a:xfrm>
              <a:custGeom>
                <a:avLst/>
                <a:gdLst/>
                <a:ahLst/>
                <a:cxnLst/>
                <a:rect l="0" t="0" r="r" b="b"/>
                <a:pathLst>
                  <a:path w="1591056" h="493776">
                    <a:moveTo>
                      <a:pt x="91440" y="0"/>
                    </a:moveTo>
                    <a:lnTo>
                      <a:pt x="1499616" y="0"/>
                    </a:lnTo>
                    <a:cubicBezTo>
                      <a:pt x="1550117" y="0"/>
                      <a:pt x="1591056" y="40939"/>
                      <a:pt x="1591056" y="91440"/>
                    </a:cubicBezTo>
                    <a:lnTo>
                      <a:pt x="1591056" y="402336"/>
                    </a:lnTo>
                    <a:cubicBezTo>
                      <a:pt x="1591056" y="452837"/>
                      <a:pt x="1550117" y="493776"/>
                      <a:pt x="1499616" y="493776"/>
                    </a:cubicBezTo>
                    <a:lnTo>
                      <a:pt x="91440" y="493776"/>
                    </a:lnTo>
                    <a:cubicBezTo>
                      <a:pt x="40939" y="493776"/>
                      <a:pt x="0" y="452837"/>
                      <a:pt x="0" y="402336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e5f0df"/>
              </a:solidFill>
              <a:ln w="16459" cap="flat" cmpd="sng" algn="ctr">
                <a:solidFill>
                  <a:srgbClr val="c1e2ad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3" name="Live Music"/>
              <p:cNvSpPr txBox="1"/>
              <p:nvPr/>
            </p:nvSpPr>
            <p:spPr>
              <a:xfrm>
                <a:off x="922301" y="5072588"/>
                <a:ext cx="1072334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Live Music</a:t>
                </a:r>
              </a:p>
            </p:txBody>
          </p:sp>
          <p:sp>
            <p:nvSpPr>
              <p:cNvPr id="104" name="Rectangle"/>
              <p:cNvSpPr/>
              <p:nvPr/>
            </p:nvSpPr>
            <p:spPr>
              <a:xfrm>
                <a:off x="484632" y="5303520"/>
                <a:ext cx="1600200" cy="512064"/>
              </a:xfrm>
              <a:custGeom>
                <a:avLst/>
                <a:gdLst/>
                <a:ahLst/>
                <a:cxnLst/>
                <a:rect l="0" t="0" r="r" b="b"/>
                <a:pathLst>
                  <a:path w="1600200" h="512064">
                    <a:moveTo>
                      <a:pt x="91440" y="0"/>
                    </a:moveTo>
                    <a:lnTo>
                      <a:pt x="1508760" y="0"/>
                    </a:lnTo>
                    <a:cubicBezTo>
                      <a:pt x="1559261" y="0"/>
                      <a:pt x="1600200" y="40939"/>
                      <a:pt x="1600200" y="91440"/>
                    </a:cubicBezTo>
                    <a:lnTo>
                      <a:pt x="1600200" y="420624"/>
                    </a:lnTo>
                    <a:cubicBezTo>
                      <a:pt x="1600200" y="471125"/>
                      <a:pt x="1559261" y="512064"/>
                      <a:pt x="1508760" y="512064"/>
                    </a:cubicBezTo>
                    <a:lnTo>
                      <a:pt x="91440" y="512064"/>
                    </a:lnTo>
                    <a:cubicBezTo>
                      <a:pt x="40939" y="512064"/>
                      <a:pt x="0" y="471125"/>
                      <a:pt x="0" y="420624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cfe5bd">
                  <a:alpha val="86000"/>
                </a:srgbClr>
              </a:solidFill>
              <a:ln w="16459" cap="flat" cmpd="sng" algn="ctr">
                <a:solidFill>
                  <a:srgbClr val="a5d48b">
                    <a:alpha val="86000"/>
                  </a:srgbClr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5" name="Instrument"/>
              <p:cNvSpPr txBox="1"/>
              <p:nvPr/>
            </p:nvSpPr>
            <p:spPr>
              <a:xfrm>
                <a:off x="829139" y="5442783"/>
                <a:ext cx="956905" cy="31546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5" b="0" i="0" lang="en-US">
                    <a:solidFill>
                      <a:srgbClr val="C0D9AD"/>
                    </a:solidFill>
                    <a:latin typeface="Liberation Serif"/>
                  </a:rPr>
                  <a:t>Instrument</a:t>
                </a:r>
              </a:p>
            </p:txBody>
          </p:sp>
          <p:sp>
            <p:nvSpPr>
              <p:cNvPr id="106" name="Rectangle"/>
              <p:cNvSpPr/>
              <p:nvPr/>
            </p:nvSpPr>
            <p:spPr>
              <a:xfrm>
                <a:off x="384048" y="5541264"/>
                <a:ext cx="1517904" cy="512064"/>
              </a:xfrm>
              <a:custGeom>
                <a:avLst/>
                <a:gdLst/>
                <a:ahLst/>
                <a:cxnLst/>
                <a:rect l="0" t="0" r="r" b="b"/>
                <a:pathLst>
                  <a:path w="1517904" h="512064">
                    <a:moveTo>
                      <a:pt x="91440" y="0"/>
                    </a:moveTo>
                    <a:lnTo>
                      <a:pt x="1426464" y="0"/>
                    </a:lnTo>
                    <a:cubicBezTo>
                      <a:pt x="1476965" y="0"/>
                      <a:pt x="1517904" y="40939"/>
                      <a:pt x="1517904" y="91440"/>
                    </a:cubicBezTo>
                    <a:lnTo>
                      <a:pt x="1517904" y="420624"/>
                    </a:lnTo>
                    <a:cubicBezTo>
                      <a:pt x="1517904" y="471125"/>
                      <a:pt x="1476965" y="512064"/>
                      <a:pt x="1426464" y="512064"/>
                    </a:cubicBezTo>
                    <a:lnTo>
                      <a:pt x="91440" y="512064"/>
                    </a:lnTo>
                    <a:cubicBezTo>
                      <a:pt x="40939" y="512064"/>
                      <a:pt x="0" y="471125"/>
                      <a:pt x="0" y="420624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afd393">
                  <a:alpha val="83000"/>
                </a:srgbClr>
              </a:solidFill>
              <a:ln w="16459" cap="flat" cmpd="sng" algn="ctr">
                <a:solidFill>
                  <a:srgbClr val="7da964">
                    <a:alpha val="83000"/>
                  </a:srgbClr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7" name="Instrument"/>
              <p:cNvSpPr txBox="1"/>
              <p:nvPr/>
            </p:nvSpPr>
            <p:spPr>
              <a:xfrm>
                <a:off x="657696" y="5529788"/>
                <a:ext cx="1016327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Instrument</a:t>
                </a:r>
              </a:p>
            </p:txBody>
          </p:sp>
          <p:sp>
            <p:nvSpPr>
              <p:cNvPr id="108" name="Shows"/>
              <p:cNvSpPr txBox="1"/>
              <p:nvPr/>
            </p:nvSpPr>
            <p:spPr>
              <a:xfrm>
                <a:off x="844206" y="5794964"/>
                <a:ext cx="643309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Shows</a:t>
                </a:r>
              </a:p>
            </p:txBody>
          </p:sp>
        </p:grpSp>
        <p:grpSp>
          <p:nvGrpSpPr>
            <p:cNvPr id="109" name="UserTag stack"/>
            <p:cNvGrpSpPr/>
            <p:nvPr/>
          </p:nvGrpSpPr>
          <p:grpSpPr>
            <a:xfrm>
              <a:off x="3511296" y="5045156"/>
              <a:ext cx="1892808" cy="1085850"/>
              <a:chOff x="3511296" y="5045156"/>
              <a:chExt cx="1892808" cy="1085850"/>
            </a:xfrm>
          </p:grpSpPr>
          <p:sp>
            <p:nvSpPr>
              <p:cNvPr id="110" name="Rectangle"/>
              <p:cNvSpPr/>
              <p:nvPr/>
            </p:nvSpPr>
            <p:spPr>
              <a:xfrm>
                <a:off x="3785616" y="5056632"/>
                <a:ext cx="1618488" cy="530352"/>
              </a:xfrm>
              <a:custGeom>
                <a:avLst/>
                <a:gdLst/>
                <a:ahLst/>
                <a:cxnLst/>
                <a:rect l="0" t="0" r="r" b="b"/>
                <a:pathLst>
                  <a:path w="1618488" h="530352">
                    <a:moveTo>
                      <a:pt x="91440" y="0"/>
                    </a:moveTo>
                    <a:lnTo>
                      <a:pt x="1527048" y="0"/>
                    </a:lnTo>
                    <a:cubicBezTo>
                      <a:pt x="1577549" y="0"/>
                      <a:pt x="1618488" y="40939"/>
                      <a:pt x="1618488" y="91440"/>
                    </a:cubicBezTo>
                    <a:lnTo>
                      <a:pt x="1618488" y="438912"/>
                    </a:lnTo>
                    <a:cubicBezTo>
                      <a:pt x="1618488" y="489413"/>
                      <a:pt x="1577549" y="530352"/>
                      <a:pt x="1527048" y="530352"/>
                    </a:cubicBezTo>
                    <a:lnTo>
                      <a:pt x="91440" y="530352"/>
                    </a:lnTo>
                    <a:cubicBezTo>
                      <a:pt x="40939" y="530352"/>
                      <a:pt x="0" y="489413"/>
                      <a:pt x="0" y="438912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fcf3ec"/>
              </a:solidFill>
              <a:ln w="16459" cap="flat" cmpd="sng" algn="ctr">
                <a:solidFill>
                  <a:srgbClr val="c796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Folk Music"/>
              <p:cNvSpPr txBox="1"/>
              <p:nvPr/>
            </p:nvSpPr>
            <p:spPr>
              <a:xfrm>
                <a:off x="4081396" y="5045156"/>
                <a:ext cx="1072648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Folk Music</a:t>
                </a:r>
              </a:p>
            </p:txBody>
          </p:sp>
          <p:sp>
            <p:nvSpPr>
              <p:cNvPr id="112" name="Rectangle"/>
              <p:cNvSpPr/>
              <p:nvPr/>
            </p:nvSpPr>
            <p:spPr>
              <a:xfrm>
                <a:off x="3621024" y="5312664"/>
                <a:ext cx="1554480" cy="539496"/>
              </a:xfrm>
              <a:custGeom>
                <a:avLst/>
                <a:gdLst/>
                <a:ahLst/>
                <a:cxnLst/>
                <a:rect l="0" t="0" r="r" b="b"/>
                <a:pathLst>
                  <a:path w="1554480" h="539496">
                    <a:moveTo>
                      <a:pt x="91440" y="0"/>
                    </a:moveTo>
                    <a:lnTo>
                      <a:pt x="1463040" y="0"/>
                    </a:lnTo>
                    <a:cubicBezTo>
                      <a:pt x="1513541" y="0"/>
                      <a:pt x="1554480" y="40939"/>
                      <a:pt x="1554480" y="91440"/>
                    </a:cubicBezTo>
                    <a:lnTo>
                      <a:pt x="1554480" y="448056"/>
                    </a:lnTo>
                    <a:cubicBezTo>
                      <a:pt x="1554480" y="498557"/>
                      <a:pt x="1513541" y="539496"/>
                      <a:pt x="1463040" y="539496"/>
                    </a:cubicBezTo>
                    <a:lnTo>
                      <a:pt x="91440" y="539496"/>
                    </a:lnTo>
                    <a:cubicBezTo>
                      <a:pt x="40939" y="539496"/>
                      <a:pt x="0" y="498557"/>
                      <a:pt x="0" y="448056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fae4d6">
                  <a:alpha val="94000"/>
                </a:srgbClr>
              </a:solidFill>
              <a:ln w="16459" cap="flat" cmpd="sng" algn="ctr">
                <a:solidFill>
                  <a:srgbClr val="c79600">
                    <a:alpha val="94000"/>
                  </a:srgbClr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Lover"/>
              <p:cNvSpPr txBox="1"/>
              <p:nvPr/>
            </p:nvSpPr>
            <p:spPr>
              <a:xfrm>
                <a:off x="4300852" y="5324003"/>
                <a:ext cx="569728" cy="32918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0" lang="en-US">
                    <a:solidFill>
                      <a:srgbClr val="F4DFD0"/>
                    </a:solidFill>
                    <a:latin typeface="Liberation Serif"/>
                  </a:rPr>
                  <a:t>Lover</a:t>
                </a:r>
              </a:p>
            </p:txBody>
          </p:sp>
          <p:sp>
            <p:nvSpPr>
              <p:cNvPr id="114" name="Rectangle"/>
              <p:cNvSpPr/>
              <p:nvPr/>
            </p:nvSpPr>
            <p:spPr>
              <a:xfrm>
                <a:off x="3511296" y="5532120"/>
                <a:ext cx="1536192" cy="521208"/>
              </a:xfrm>
              <a:custGeom>
                <a:avLst/>
                <a:gdLst/>
                <a:ahLst/>
                <a:cxnLst/>
                <a:rect l="0" t="0" r="r" b="b"/>
                <a:pathLst>
                  <a:path w="1536192" h="521208">
                    <a:moveTo>
                      <a:pt x="91440" y="0"/>
                    </a:moveTo>
                    <a:lnTo>
                      <a:pt x="1444752" y="0"/>
                    </a:lnTo>
                    <a:cubicBezTo>
                      <a:pt x="1495253" y="0"/>
                      <a:pt x="1536192" y="40939"/>
                      <a:pt x="1536192" y="91440"/>
                    </a:cubicBezTo>
                    <a:lnTo>
                      <a:pt x="1536192" y="429768"/>
                    </a:lnTo>
                    <a:cubicBezTo>
                      <a:pt x="1536192" y="480269"/>
                      <a:pt x="1495253" y="521208"/>
                      <a:pt x="1444752" y="521208"/>
                    </a:cubicBezTo>
                    <a:lnTo>
                      <a:pt x="91440" y="521208"/>
                    </a:lnTo>
                    <a:cubicBezTo>
                      <a:pt x="40939" y="521208"/>
                      <a:pt x="0" y="480269"/>
                      <a:pt x="0" y="429768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f8ceb5">
                  <a:alpha val="87000"/>
                </a:srgbClr>
              </a:solidFill>
              <a:ln w="16459" cap="flat" cmpd="sng" algn="ctr">
                <a:solidFill>
                  <a:srgbClr val="c79600">
                    <a:alpha val="87000"/>
                  </a:srgbClr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Music"/>
              <p:cNvSpPr txBox="1"/>
              <p:nvPr/>
            </p:nvSpPr>
            <p:spPr>
              <a:xfrm>
                <a:off x="3999357" y="5529788"/>
                <a:ext cx="605790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Music</a:t>
                </a:r>
              </a:p>
            </p:txBody>
          </p:sp>
          <p:sp>
            <p:nvSpPr>
              <p:cNvPr id="116" name="Enthusiast"/>
              <p:cNvSpPr txBox="1"/>
              <p:nvPr/>
            </p:nvSpPr>
            <p:spPr>
              <a:xfrm>
                <a:off x="3812691" y="5794964"/>
                <a:ext cx="979122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Enthusiast</a:t>
                </a:r>
              </a:p>
            </p:txBody>
          </p:sp>
        </p:grpSp>
        <p:grpSp>
          <p:nvGrpSpPr>
            <p:cNvPr id="117" name="ItemTag Set"/>
            <p:cNvGrpSpPr/>
            <p:nvPr/>
          </p:nvGrpSpPr>
          <p:grpSpPr>
            <a:xfrm>
              <a:off x="389134" y="6092739"/>
              <a:ext cx="1754620" cy="425196"/>
              <a:chOff x="389134" y="6092739"/>
              <a:chExt cx="1754620" cy="425196"/>
            </a:xfrm>
          </p:grpSpPr>
          <p:sp>
            <p:nvSpPr>
              <p:cNvPr id="118" name="ItemTag Set "/>
              <p:cNvSpPr txBox="1"/>
              <p:nvPr/>
            </p:nvSpPr>
            <p:spPr>
              <a:xfrm>
                <a:off x="389134" y="6110844"/>
                <a:ext cx="1479599" cy="39776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1" i="0" lang="en-US">
                    <a:solidFill>
                      <a:srgbClr val="000000"/>
                    </a:solidFill>
                    <a:latin typeface="Liberation Serif"/>
                  </a:rPr>
                  <a:t>ItemTag Set </a:t>
                </a:r>
              </a:p>
            </p:txBody>
          </p:sp>
          <p:sp>
            <p:nvSpPr>
              <p:cNvPr id="119" name="C"/>
              <p:cNvSpPr txBox="1"/>
              <p:nvPr/>
            </p:nvSpPr>
            <p:spPr>
              <a:xfrm>
                <a:off x="1823014" y="6092739"/>
                <a:ext cx="234786" cy="42519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232" b="0" i="1" lang="en-US">
                    <a:solidFill>
                      <a:srgbClr val="000000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120" name="*"/>
              <p:cNvSpPr txBox="1"/>
              <p:nvPr/>
            </p:nvSpPr>
            <p:spPr>
              <a:xfrm>
                <a:off x="2012080" y="6096657"/>
                <a:ext cx="131674" cy="258547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7" b="0" i="0" lang="en-US">
                    <a:solidFill>
                      <a:srgbClr val="000000"/>
                    </a:solidFill>
                    <a:latin typeface="Liberation Serif"/>
                  </a:rPr>
                  <a:t>*</a:t>
                </a:r>
              </a:p>
            </p:txBody>
          </p:sp>
        </p:grpSp>
        <p:grpSp>
          <p:nvGrpSpPr>
            <p:cNvPr id="121" name="UserTag Set"/>
            <p:cNvGrpSpPr/>
            <p:nvPr/>
          </p:nvGrpSpPr>
          <p:grpSpPr>
            <a:xfrm>
              <a:off x="3564946" y="6096657"/>
              <a:ext cx="1785509" cy="445372"/>
              <a:chOff x="3564946" y="6096657"/>
              <a:chExt cx="1785509" cy="445372"/>
            </a:xfrm>
          </p:grpSpPr>
          <p:sp>
            <p:nvSpPr>
              <p:cNvPr id="122" name="UserTag Set "/>
              <p:cNvSpPr txBox="1"/>
              <p:nvPr/>
            </p:nvSpPr>
            <p:spPr>
              <a:xfrm>
                <a:off x="3564946" y="6110844"/>
                <a:ext cx="1479585" cy="39776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1" i="0" lang="en-US">
                    <a:solidFill>
                      <a:srgbClr val="000000"/>
                    </a:solidFill>
                    <a:latin typeface="Liberation Serif"/>
                  </a:rPr>
                  <a:t>UserTag Set </a:t>
                </a:r>
              </a:p>
            </p:txBody>
          </p:sp>
          <p:sp>
            <p:nvSpPr>
              <p:cNvPr id="123" name="𝒯"/>
              <p:cNvSpPr txBox="1"/>
              <p:nvPr/>
            </p:nvSpPr>
            <p:spPr>
              <a:xfrm>
                <a:off x="4998810" y="6116833"/>
                <a:ext cx="265690" cy="42519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232" b="0" i="0" lang="en-US">
                    <a:solidFill>
                      <a:srgbClr val="000000"/>
                    </a:solidFill>
                    <a:latin typeface="Latin Modern Math"/>
                  </a:rPr>
                  <a:t>𝒯</a:t>
                </a:r>
              </a:p>
            </p:txBody>
          </p:sp>
          <p:sp>
            <p:nvSpPr>
              <p:cNvPr id="124" name="*"/>
              <p:cNvSpPr txBox="1"/>
              <p:nvPr/>
            </p:nvSpPr>
            <p:spPr>
              <a:xfrm>
                <a:off x="5218781" y="6096657"/>
                <a:ext cx="131674" cy="258547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7" b="0" i="0" lang="en-US">
                    <a:solidFill>
                      <a:srgbClr val="000000"/>
                    </a:solidFill>
                    <a:latin typeface="Liberation Serif"/>
                  </a:rPr>
                  <a:t>*</a:t>
                </a:r>
              </a:p>
            </p:txBody>
          </p:sp>
        </p:grpSp>
      </p:grpSp>
      <p:grpSp>
        <p:nvGrpSpPr>
          <p:cNvPr id="125" name="Tag sets to logic prompts"/>
          <p:cNvGrpSpPr/>
          <p:nvPr/>
        </p:nvGrpSpPr>
        <p:grpSpPr>
          <a:xfrm>
            <a:off x="1042416" y="6483096"/>
            <a:ext cx="8958926" cy="685800"/>
            <a:chOff x="1042416" y="6483096"/>
            <a:chExt cx="8958926" cy="685800"/>
          </a:xfrm>
        </p:grpSpPr>
        <p:sp>
          <p:nvSpPr>
            <p:cNvPr id="126" name="Connector"/>
            <p:cNvSpPr/>
            <p:nvPr/>
          </p:nvSpPr>
          <p:spPr>
            <a:xfrm>
              <a:off x="1042416" y="6483096"/>
              <a:ext cx="6839712" cy="521208"/>
            </a:xfrm>
            <a:custGeom>
              <a:avLst/>
              <a:gdLst/>
              <a:ahLst/>
              <a:cxnLst/>
              <a:rect l="0" t="0" r="r" b="b"/>
              <a:pathLst>
                <a:path w="6839712" h="521208">
                  <a:moveTo>
                    <a:pt x="0" y="0"/>
                  </a:moveTo>
                  <a:lnTo>
                    <a:pt x="0" y="521208"/>
                  </a:lnTo>
                  <a:lnTo>
                    <a:pt x="6839712" y="521208"/>
                  </a:lnTo>
                  <a:lnTo>
                    <a:pt x="6839712" y="210312"/>
                  </a:lnTo>
                </a:path>
              </a:pathLst>
            </a:custGeom>
            <a:noFill/>
            <a:ln w="30175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Open arrowhead"/>
            <p:cNvSpPr/>
            <p:nvPr/>
          </p:nvSpPr>
          <p:spPr>
            <a:xfrm>
              <a:off x="7820315" y="6693408"/>
              <a:ext cx="123627" cy="118872"/>
            </a:xfrm>
            <a:custGeom>
              <a:avLst/>
              <a:gdLst/>
              <a:ahLst/>
              <a:cxnLst/>
              <a:rect l="0" t="0" r="r" b="b"/>
              <a:pathLst>
                <a:path w="123627" h="118872">
                  <a:moveTo>
                    <a:pt x="123627" y="118872"/>
                  </a:moveTo>
                  <a:lnTo>
                    <a:pt x="61813" y="0"/>
                  </a:lnTo>
                  <a:lnTo>
                    <a:pt x="0" y="118872"/>
                  </a:lnTo>
                </a:path>
              </a:pathLst>
            </a:custGeom>
            <a:noFill/>
            <a:ln w="30175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Connector"/>
            <p:cNvSpPr/>
            <p:nvPr/>
          </p:nvSpPr>
          <p:spPr>
            <a:xfrm>
              <a:off x="4443984" y="6483096"/>
              <a:ext cx="5495544" cy="685800"/>
            </a:xfrm>
            <a:custGeom>
              <a:avLst/>
              <a:gdLst/>
              <a:ahLst/>
              <a:cxnLst/>
              <a:rect l="0" t="0" r="r" b="b"/>
              <a:pathLst>
                <a:path w="5495544" h="685800">
                  <a:moveTo>
                    <a:pt x="0" y="0"/>
                  </a:moveTo>
                  <a:lnTo>
                    <a:pt x="0" y="685800"/>
                  </a:lnTo>
                  <a:lnTo>
                    <a:pt x="5495544" y="685800"/>
                  </a:lnTo>
                  <a:lnTo>
                    <a:pt x="5495544" y="210312"/>
                  </a:lnTo>
                </a:path>
              </a:pathLst>
            </a:custGeom>
            <a:noFill/>
            <a:ln w="30175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Open arrowhead"/>
            <p:cNvSpPr/>
            <p:nvPr/>
          </p:nvSpPr>
          <p:spPr>
            <a:xfrm>
              <a:off x="9877715" y="6693408"/>
              <a:ext cx="123627" cy="118872"/>
            </a:xfrm>
            <a:custGeom>
              <a:avLst/>
              <a:gdLst/>
              <a:ahLst/>
              <a:cxnLst/>
              <a:rect l="0" t="0" r="r" b="b"/>
              <a:pathLst>
                <a:path w="123627" h="118872">
                  <a:moveTo>
                    <a:pt x="123627" y="118872"/>
                  </a:moveTo>
                  <a:lnTo>
                    <a:pt x="61813" y="0"/>
                  </a:lnTo>
                  <a:lnTo>
                    <a:pt x="0" y="118872"/>
                  </a:lnTo>
                </a:path>
              </a:pathLst>
            </a:custGeom>
            <a:noFill/>
            <a:ln w="30175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" name="2 LLM based Collaborative Logic Reasoning"/>
          <p:cNvGrpSpPr/>
          <p:nvPr/>
        </p:nvGrpSpPr>
        <p:grpSpPr>
          <a:xfrm>
            <a:off x="6748272" y="329184"/>
            <a:ext cx="4379976" cy="6376051"/>
            <a:chOff x="6748272" y="329184"/>
            <a:chExt cx="4379976" cy="6376051"/>
          </a:xfrm>
        </p:grpSpPr>
        <p:sp>
          <p:nvSpPr>
            <p:cNvPr id="131" name="Logic graph background"/>
            <p:cNvSpPr/>
            <p:nvPr/>
          </p:nvSpPr>
          <p:spPr>
            <a:xfrm>
              <a:off x="6748272" y="329184"/>
              <a:ext cx="4379976" cy="3456432"/>
            </a:xfrm>
            <a:custGeom>
              <a:avLst/>
              <a:gdLst/>
              <a:ahLst/>
              <a:cxnLst/>
              <a:rect l="0" t="0" r="r" b="b"/>
              <a:pathLst>
                <a:path w="4379976" h="3456432">
                  <a:moveTo>
                    <a:pt x="301752" y="0"/>
                  </a:moveTo>
                  <a:lnTo>
                    <a:pt x="4078224" y="0"/>
                  </a:lnTo>
                  <a:cubicBezTo>
                    <a:pt x="4244877" y="0"/>
                    <a:pt x="4379976" y="135099"/>
                    <a:pt x="4379976" y="301752"/>
                  </a:cubicBezTo>
                  <a:lnTo>
                    <a:pt x="4379976" y="3154680"/>
                  </a:lnTo>
                  <a:cubicBezTo>
                    <a:pt x="4379976" y="3321333"/>
                    <a:pt x="4244877" y="3456432"/>
                    <a:pt x="4078224" y="3456432"/>
                  </a:cubicBezTo>
                  <a:lnTo>
                    <a:pt x="301752" y="3456432"/>
                  </a:lnTo>
                  <a:cubicBezTo>
                    <a:pt x="135099" y="3456432"/>
                    <a:pt x="0" y="3321333"/>
                    <a:pt x="0" y="3154680"/>
                  </a:cubicBezTo>
                  <a:lnTo>
                    <a:pt x="0" y="301752"/>
                  </a:lnTo>
                  <a:cubicBezTo>
                    <a:pt x="0" y="135099"/>
                    <a:pt x="135099" y="0"/>
                    <a:pt x="301752" y="0"/>
                  </a:cubicBezTo>
                  <a:close/>
                </a:path>
              </a:pathLst>
            </a:custGeom>
            <a:solidFill>
              <a:srgbClr val="edf4f9"/>
            </a:solidFill>
            <a:ln w="16459" cap="flat" cmpd="sng" algn="ctr">
              <a:solidFill>
                <a:srgbClr val="595959"/>
              </a:solidFill>
              <a:custDash>
                <a:ds d="388889" sp="277778"/>
                <a:ds d="111111" sp="277778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Logic Graph"/>
            <p:cNvSpPr txBox="1"/>
            <p:nvPr/>
          </p:nvSpPr>
          <p:spPr>
            <a:xfrm>
              <a:off x="6912864" y="404988"/>
              <a:ext cx="1437894" cy="397764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1" lang="en-US">
                  <a:solidFill>
                    <a:srgbClr val="000000"/>
                  </a:solidFill>
                  <a:latin typeface="Liberation Serif"/>
                </a:rPr>
                <a:t>Logic Graph</a:t>
              </a:r>
            </a:p>
          </p:txBody>
        </p:sp>
        <p:sp>
          <p:nvSpPr>
            <p:cNvPr id="133" name="Connector"/>
            <p:cNvSpPr/>
            <p:nvPr/>
          </p:nvSpPr>
          <p:spPr>
            <a:xfrm>
              <a:off x="7671816" y="950976"/>
              <a:ext cx="640080" cy="1965960"/>
            </a:xfrm>
            <a:custGeom>
              <a:avLst/>
              <a:gdLst/>
              <a:ahLst/>
              <a:cxnLst/>
              <a:rect l="0" t="0" r="r" b="b"/>
              <a:pathLst>
                <a:path w="640080" h="1965960">
                  <a:moveTo>
                    <a:pt x="640080" y="0"/>
                  </a:moveTo>
                  <a:lnTo>
                    <a:pt x="0" y="0"/>
                  </a:lnTo>
                  <a:lnTo>
                    <a:pt x="0" y="1965960"/>
                  </a:lnTo>
                  <a:lnTo>
                    <a:pt x="310896" y="1965960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Open arrowhead"/>
            <p:cNvSpPr/>
            <p:nvPr/>
          </p:nvSpPr>
          <p:spPr>
            <a:xfrm>
              <a:off x="7863840" y="2855123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0" y="123627"/>
                  </a:moveTo>
                  <a:lnTo>
                    <a:pt x="118872" y="61813"/>
                  </a:lnTo>
                  <a:lnTo>
                    <a:pt x="0" y="0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Connector"/>
            <p:cNvSpPr/>
            <p:nvPr/>
          </p:nvSpPr>
          <p:spPr>
            <a:xfrm>
              <a:off x="7836408" y="1188720"/>
              <a:ext cx="338328" cy="1389888"/>
            </a:xfrm>
            <a:custGeom>
              <a:avLst/>
              <a:gdLst/>
              <a:ahLst/>
              <a:cxnLst/>
              <a:rect l="0" t="0" r="r" b="b"/>
              <a:pathLst>
                <a:path w="338328" h="1389888">
                  <a:moveTo>
                    <a:pt x="329184" y="0"/>
                  </a:moveTo>
                  <a:lnTo>
                    <a:pt x="0" y="0"/>
                  </a:lnTo>
                  <a:lnTo>
                    <a:pt x="0" y="1389888"/>
                  </a:lnTo>
                  <a:lnTo>
                    <a:pt x="338328" y="1389888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Open arrowhead"/>
            <p:cNvSpPr/>
            <p:nvPr/>
          </p:nvSpPr>
          <p:spPr>
            <a:xfrm>
              <a:off x="8055864" y="2516795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0" y="123627"/>
                  </a:moveTo>
                  <a:lnTo>
                    <a:pt x="118872" y="61813"/>
                  </a:lnTo>
                  <a:lnTo>
                    <a:pt x="0" y="0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Connector"/>
            <p:cNvSpPr/>
            <p:nvPr/>
          </p:nvSpPr>
          <p:spPr>
            <a:xfrm>
              <a:off x="7562088" y="1408176"/>
              <a:ext cx="429768" cy="1755648"/>
            </a:xfrm>
            <a:custGeom>
              <a:avLst/>
              <a:gdLst/>
              <a:ahLst/>
              <a:cxnLst/>
              <a:rect l="0" t="0" r="r" b="b"/>
              <a:pathLst>
                <a:path w="429768" h="1755648">
                  <a:moveTo>
                    <a:pt x="429768" y="0"/>
                  </a:moveTo>
                  <a:lnTo>
                    <a:pt x="0" y="0"/>
                  </a:lnTo>
                  <a:lnTo>
                    <a:pt x="0" y="1755648"/>
                  </a:lnTo>
                  <a:lnTo>
                    <a:pt x="301752" y="1755648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Open arrowhead"/>
            <p:cNvSpPr/>
            <p:nvPr/>
          </p:nvSpPr>
          <p:spPr>
            <a:xfrm>
              <a:off x="7744968" y="3102011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0" y="123627"/>
                  </a:moveTo>
                  <a:lnTo>
                    <a:pt x="118872" y="61813"/>
                  </a:lnTo>
                  <a:lnTo>
                    <a:pt x="0" y="0"/>
                  </a:lnTo>
                </a:path>
              </a:pathLst>
            </a:custGeom>
            <a:noFill/>
            <a:ln w="29261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Connector"/>
            <p:cNvSpPr/>
            <p:nvPr/>
          </p:nvSpPr>
          <p:spPr>
            <a:xfrm>
              <a:off x="9601200" y="950976"/>
              <a:ext cx="649224" cy="1965960"/>
            </a:xfrm>
            <a:custGeom>
              <a:avLst/>
              <a:gdLst/>
              <a:ahLst/>
              <a:cxnLst/>
              <a:rect l="0" t="0" r="r" b="b"/>
              <a:pathLst>
                <a:path w="649224" h="1965960">
                  <a:moveTo>
                    <a:pt x="0" y="1965960"/>
                  </a:moveTo>
                  <a:lnTo>
                    <a:pt x="649224" y="1965960"/>
                  </a:lnTo>
                  <a:lnTo>
                    <a:pt x="649224" y="0"/>
                  </a:lnTo>
                  <a:lnTo>
                    <a:pt x="347472" y="0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0" name="Open arrowhead"/>
            <p:cNvSpPr/>
            <p:nvPr/>
          </p:nvSpPr>
          <p:spPr>
            <a:xfrm>
              <a:off x="9948672" y="889163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118872" y="0"/>
                  </a:moveTo>
                  <a:lnTo>
                    <a:pt x="0" y="61813"/>
                  </a:lnTo>
                  <a:lnTo>
                    <a:pt x="118872" y="123627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1" name="Connector"/>
            <p:cNvSpPr/>
            <p:nvPr/>
          </p:nvSpPr>
          <p:spPr>
            <a:xfrm>
              <a:off x="9418320" y="1207008"/>
              <a:ext cx="612648" cy="1956816"/>
            </a:xfrm>
            <a:custGeom>
              <a:avLst/>
              <a:gdLst/>
              <a:ahLst/>
              <a:cxnLst/>
              <a:rect l="0" t="0" r="r" b="b"/>
              <a:pathLst>
                <a:path w="612648" h="1956816">
                  <a:moveTo>
                    <a:pt x="0" y="1956816"/>
                  </a:moveTo>
                  <a:lnTo>
                    <a:pt x="612648" y="1956816"/>
                  </a:lnTo>
                  <a:lnTo>
                    <a:pt x="612648" y="0"/>
                  </a:lnTo>
                  <a:lnTo>
                    <a:pt x="320040" y="0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Open arrowhead"/>
            <p:cNvSpPr/>
            <p:nvPr/>
          </p:nvSpPr>
          <p:spPr>
            <a:xfrm>
              <a:off x="9738360" y="1145195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118872" y="0"/>
                  </a:moveTo>
                  <a:lnTo>
                    <a:pt x="0" y="61813"/>
                  </a:lnTo>
                  <a:lnTo>
                    <a:pt x="118872" y="123627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Connector"/>
            <p:cNvSpPr/>
            <p:nvPr/>
          </p:nvSpPr>
          <p:spPr>
            <a:xfrm>
              <a:off x="9555480" y="1417320"/>
              <a:ext cx="612648" cy="1161288"/>
            </a:xfrm>
            <a:custGeom>
              <a:avLst/>
              <a:gdLst/>
              <a:ahLst/>
              <a:cxnLst/>
              <a:rect l="0" t="0" r="r" b="b"/>
              <a:pathLst>
                <a:path w="612648" h="1161288">
                  <a:moveTo>
                    <a:pt x="228600" y="1161288"/>
                  </a:moveTo>
                  <a:lnTo>
                    <a:pt x="612648" y="1161288"/>
                  </a:lnTo>
                  <a:lnTo>
                    <a:pt x="612648" y="0"/>
                  </a:lnTo>
                  <a:lnTo>
                    <a:pt x="0" y="0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Open arrowhead"/>
            <p:cNvSpPr/>
            <p:nvPr/>
          </p:nvSpPr>
          <p:spPr>
            <a:xfrm>
              <a:off x="9555480" y="1355507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118872" y="0"/>
                  </a:moveTo>
                  <a:lnTo>
                    <a:pt x="0" y="61813"/>
                  </a:lnTo>
                  <a:lnTo>
                    <a:pt x="118872" y="123627"/>
                  </a:lnTo>
                </a:path>
              </a:pathLst>
            </a:custGeom>
            <a:noFill/>
            <a:ln w="29261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45" name="U2I graph"/>
            <p:cNvGrpSpPr/>
            <p:nvPr/>
          </p:nvGrpSpPr>
          <p:grpSpPr>
            <a:xfrm>
              <a:off x="6960827" y="1781882"/>
              <a:ext cx="535010" cy="369335"/>
              <a:chOff x="6960827" y="1781882"/>
              <a:chExt cx="535010" cy="369335"/>
            </a:xfrm>
          </p:grpSpPr>
          <p:sp>
            <p:nvSpPr>
              <p:cNvPr id="146" name="G"/>
              <p:cNvSpPr txBox="1"/>
              <p:nvPr/>
            </p:nvSpPr>
            <p:spPr>
              <a:xfrm>
                <a:off x="6960827" y="1794601"/>
                <a:ext cx="217413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1" lang="en-US">
                    <a:solidFill>
                      <a:srgbClr val="DF650B"/>
                    </a:solidFill>
                    <a:latin typeface="Liberation Serif"/>
                  </a:rPr>
                  <a:t>G</a:t>
                </a:r>
              </a:p>
            </p:txBody>
          </p:sp>
          <p:sp>
            <p:nvSpPr>
              <p:cNvPr id="147" name="U2I*"/>
              <p:cNvSpPr txBox="1"/>
              <p:nvPr/>
            </p:nvSpPr>
            <p:spPr>
              <a:xfrm>
                <a:off x="7132520" y="1781882"/>
                <a:ext cx="363317" cy="231800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16" b="0" i="1" lang="en-US">
                    <a:solidFill>
                      <a:srgbClr val="DF650B"/>
                    </a:solidFill>
                    <a:latin typeface="Liberation Serif"/>
                  </a:rPr>
                  <a:t>U2I*</a:t>
                </a:r>
              </a:p>
            </p:txBody>
          </p:sp>
        </p:grpSp>
        <p:grpSp>
          <p:nvGrpSpPr>
            <p:cNvPr id="148" name="I2U graph"/>
            <p:cNvGrpSpPr/>
            <p:nvPr/>
          </p:nvGrpSpPr>
          <p:grpSpPr>
            <a:xfrm>
              <a:off x="10435547" y="1873322"/>
              <a:ext cx="535010" cy="369335"/>
              <a:chOff x="10435547" y="1873322"/>
              <a:chExt cx="535010" cy="369335"/>
            </a:xfrm>
          </p:grpSpPr>
          <p:sp>
            <p:nvSpPr>
              <p:cNvPr id="149" name="G"/>
              <p:cNvSpPr txBox="1"/>
              <p:nvPr/>
            </p:nvSpPr>
            <p:spPr>
              <a:xfrm>
                <a:off x="10435547" y="1886041"/>
                <a:ext cx="217413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1" lang="en-US">
                    <a:solidFill>
                      <a:srgbClr val="385C23"/>
                    </a:solidFill>
                    <a:latin typeface="Liberation Serif"/>
                  </a:rPr>
                  <a:t>G</a:t>
                </a:r>
              </a:p>
            </p:txBody>
          </p:sp>
          <p:sp>
            <p:nvSpPr>
              <p:cNvPr id="150" name="I2U*"/>
              <p:cNvSpPr txBox="1"/>
              <p:nvPr/>
            </p:nvSpPr>
            <p:spPr>
              <a:xfrm>
                <a:off x="10607240" y="1873322"/>
                <a:ext cx="363317" cy="231800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16" b="0" i="1" lang="en-US">
                    <a:solidFill>
                      <a:srgbClr val="385C23"/>
                    </a:solidFill>
                    <a:latin typeface="Liberation Serif"/>
                  </a:rPr>
                  <a:t>I2U*</a:t>
                </a:r>
              </a:p>
            </p:txBody>
          </p:sp>
        </p:grpSp>
        <p:grpSp>
          <p:nvGrpSpPr>
            <p:cNvPr id="151" name="Logic graph user tag cards"/>
            <p:cNvGrpSpPr/>
            <p:nvPr/>
          </p:nvGrpSpPr>
          <p:grpSpPr>
            <a:xfrm>
              <a:off x="7991856" y="683468"/>
              <a:ext cx="1892808" cy="1085850"/>
              <a:chOff x="7991856" y="683468"/>
              <a:chExt cx="1892808" cy="1085850"/>
            </a:xfrm>
          </p:grpSpPr>
          <p:sp>
            <p:nvSpPr>
              <p:cNvPr id="152" name="Rectangle"/>
              <p:cNvSpPr/>
              <p:nvPr/>
            </p:nvSpPr>
            <p:spPr>
              <a:xfrm>
                <a:off x="8266176" y="694944"/>
                <a:ext cx="1618488" cy="530352"/>
              </a:xfrm>
              <a:custGeom>
                <a:avLst/>
                <a:gdLst/>
                <a:ahLst/>
                <a:cxnLst/>
                <a:rect l="0" t="0" r="r" b="b"/>
                <a:pathLst>
                  <a:path w="1618488" h="530352">
                    <a:moveTo>
                      <a:pt x="91440" y="0"/>
                    </a:moveTo>
                    <a:lnTo>
                      <a:pt x="1527048" y="0"/>
                    </a:lnTo>
                    <a:cubicBezTo>
                      <a:pt x="1577549" y="0"/>
                      <a:pt x="1618488" y="40939"/>
                      <a:pt x="1618488" y="91440"/>
                    </a:cubicBezTo>
                    <a:lnTo>
                      <a:pt x="1618488" y="438912"/>
                    </a:lnTo>
                    <a:cubicBezTo>
                      <a:pt x="1618488" y="489413"/>
                      <a:pt x="1577549" y="530352"/>
                      <a:pt x="1527048" y="530352"/>
                    </a:cubicBezTo>
                    <a:lnTo>
                      <a:pt x="91440" y="530352"/>
                    </a:lnTo>
                    <a:cubicBezTo>
                      <a:pt x="40939" y="530352"/>
                      <a:pt x="0" y="489413"/>
                      <a:pt x="0" y="438912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fcf3ec"/>
              </a:solidFill>
              <a:ln w="16459" cap="flat" cmpd="sng" algn="ctr">
                <a:solidFill>
                  <a:srgbClr val="c796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3" name="Folk Music"/>
              <p:cNvSpPr txBox="1"/>
              <p:nvPr/>
            </p:nvSpPr>
            <p:spPr>
              <a:xfrm>
                <a:off x="8561956" y="683468"/>
                <a:ext cx="1072648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Folk Music</a:t>
                </a:r>
              </a:p>
            </p:txBody>
          </p:sp>
          <p:sp>
            <p:nvSpPr>
              <p:cNvPr id="154" name="Rectangle"/>
              <p:cNvSpPr/>
              <p:nvPr/>
            </p:nvSpPr>
            <p:spPr>
              <a:xfrm>
                <a:off x="8101584" y="950976"/>
                <a:ext cx="1554480" cy="539496"/>
              </a:xfrm>
              <a:custGeom>
                <a:avLst/>
                <a:gdLst/>
                <a:ahLst/>
                <a:cxnLst/>
                <a:rect l="0" t="0" r="r" b="b"/>
                <a:pathLst>
                  <a:path w="1554480" h="539496">
                    <a:moveTo>
                      <a:pt x="91440" y="0"/>
                    </a:moveTo>
                    <a:lnTo>
                      <a:pt x="1463040" y="0"/>
                    </a:lnTo>
                    <a:cubicBezTo>
                      <a:pt x="1513541" y="0"/>
                      <a:pt x="1554480" y="40939"/>
                      <a:pt x="1554480" y="91440"/>
                    </a:cubicBezTo>
                    <a:lnTo>
                      <a:pt x="1554480" y="448056"/>
                    </a:lnTo>
                    <a:cubicBezTo>
                      <a:pt x="1554480" y="498557"/>
                      <a:pt x="1513541" y="539496"/>
                      <a:pt x="1463040" y="539496"/>
                    </a:cubicBezTo>
                    <a:lnTo>
                      <a:pt x="91440" y="539496"/>
                    </a:lnTo>
                    <a:cubicBezTo>
                      <a:pt x="40939" y="539496"/>
                      <a:pt x="0" y="498557"/>
                      <a:pt x="0" y="448056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fae4d6">
                  <a:alpha val="94000"/>
                </a:srgbClr>
              </a:solidFill>
              <a:ln w="16459" cap="flat" cmpd="sng" algn="ctr">
                <a:solidFill>
                  <a:srgbClr val="c79600">
                    <a:alpha val="94000"/>
                  </a:srgbClr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5" name="Lover"/>
              <p:cNvSpPr txBox="1"/>
              <p:nvPr/>
            </p:nvSpPr>
            <p:spPr>
              <a:xfrm>
                <a:off x="8781412" y="962315"/>
                <a:ext cx="569728" cy="32918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0" lang="en-US">
                    <a:solidFill>
                      <a:srgbClr val="F4DFD0"/>
                    </a:solidFill>
                    <a:latin typeface="Liberation Serif"/>
                  </a:rPr>
                  <a:t>Lover</a:t>
                </a:r>
              </a:p>
            </p:txBody>
          </p:sp>
          <p:sp>
            <p:nvSpPr>
              <p:cNvPr id="156" name="Rectangle"/>
              <p:cNvSpPr/>
              <p:nvPr/>
            </p:nvSpPr>
            <p:spPr>
              <a:xfrm>
                <a:off x="7991856" y="1170432"/>
                <a:ext cx="1536192" cy="521208"/>
              </a:xfrm>
              <a:custGeom>
                <a:avLst/>
                <a:gdLst/>
                <a:ahLst/>
                <a:cxnLst/>
                <a:rect l="0" t="0" r="r" b="b"/>
                <a:pathLst>
                  <a:path w="1536192" h="521208">
                    <a:moveTo>
                      <a:pt x="91440" y="0"/>
                    </a:moveTo>
                    <a:lnTo>
                      <a:pt x="1444752" y="0"/>
                    </a:lnTo>
                    <a:cubicBezTo>
                      <a:pt x="1495253" y="0"/>
                      <a:pt x="1536192" y="40939"/>
                      <a:pt x="1536192" y="91440"/>
                    </a:cubicBezTo>
                    <a:lnTo>
                      <a:pt x="1536192" y="429768"/>
                    </a:lnTo>
                    <a:cubicBezTo>
                      <a:pt x="1536192" y="480269"/>
                      <a:pt x="1495253" y="521208"/>
                      <a:pt x="1444752" y="521208"/>
                    </a:cubicBezTo>
                    <a:lnTo>
                      <a:pt x="91440" y="521208"/>
                    </a:lnTo>
                    <a:cubicBezTo>
                      <a:pt x="40939" y="521208"/>
                      <a:pt x="0" y="480269"/>
                      <a:pt x="0" y="429768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f8ceb5">
                  <a:alpha val="87000"/>
                </a:srgbClr>
              </a:solidFill>
              <a:ln w="16459" cap="flat" cmpd="sng" algn="ctr">
                <a:solidFill>
                  <a:srgbClr val="c79600">
                    <a:alpha val="87000"/>
                  </a:srgbClr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7" name="Music"/>
              <p:cNvSpPr txBox="1"/>
              <p:nvPr/>
            </p:nvSpPr>
            <p:spPr>
              <a:xfrm>
                <a:off x="8479917" y="1168100"/>
                <a:ext cx="605790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Music</a:t>
                </a:r>
              </a:p>
            </p:txBody>
          </p:sp>
          <p:sp>
            <p:nvSpPr>
              <p:cNvPr id="158" name="Enthusiast"/>
              <p:cNvSpPr txBox="1"/>
              <p:nvPr/>
            </p:nvSpPr>
            <p:spPr>
              <a:xfrm>
                <a:off x="8293251" y="1433276"/>
                <a:ext cx="979122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Enthusiast</a:t>
                </a:r>
              </a:p>
            </p:txBody>
          </p:sp>
        </p:grpSp>
        <p:grpSp>
          <p:nvGrpSpPr>
            <p:cNvPr id="159" name="UserTag Set"/>
            <p:cNvGrpSpPr/>
            <p:nvPr/>
          </p:nvGrpSpPr>
          <p:grpSpPr>
            <a:xfrm>
              <a:off x="8088389" y="1676187"/>
              <a:ext cx="1754606" cy="425196"/>
              <a:chOff x="8088389" y="1676187"/>
              <a:chExt cx="1754606" cy="425196"/>
            </a:xfrm>
          </p:grpSpPr>
          <p:sp>
            <p:nvSpPr>
              <p:cNvPr id="160" name="UserTag Set "/>
              <p:cNvSpPr txBox="1"/>
              <p:nvPr/>
            </p:nvSpPr>
            <p:spPr>
              <a:xfrm>
                <a:off x="8088389" y="1694292"/>
                <a:ext cx="1479585" cy="39776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1" i="0" lang="en-US">
                    <a:solidFill>
                      <a:srgbClr val="000000"/>
                    </a:solidFill>
                    <a:latin typeface="Liberation Serif"/>
                  </a:rPr>
                  <a:t>UserTag Set </a:t>
                </a:r>
              </a:p>
            </p:txBody>
          </p:sp>
          <p:sp>
            <p:nvSpPr>
              <p:cNvPr id="161" name="C"/>
              <p:cNvSpPr txBox="1"/>
              <p:nvPr/>
            </p:nvSpPr>
            <p:spPr>
              <a:xfrm>
                <a:off x="9522254" y="1676187"/>
                <a:ext cx="234786" cy="42519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232" b="0" i="1" lang="en-US">
                    <a:solidFill>
                      <a:srgbClr val="000000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162" name="*"/>
              <p:cNvSpPr txBox="1"/>
              <p:nvPr/>
            </p:nvSpPr>
            <p:spPr>
              <a:xfrm>
                <a:off x="9711321" y="1680105"/>
                <a:ext cx="131674" cy="258547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7" b="0" i="0" lang="en-US">
                    <a:solidFill>
                      <a:srgbClr val="000000"/>
                    </a:solidFill>
                    <a:latin typeface="Liberation Serif"/>
                  </a:rPr>
                  <a:t>*</a:t>
                </a:r>
              </a:p>
            </p:txBody>
          </p:sp>
        </p:grpSp>
        <p:grpSp>
          <p:nvGrpSpPr>
            <p:cNvPr id="163" name="Logic graph item tag cards"/>
            <p:cNvGrpSpPr/>
            <p:nvPr/>
          </p:nvGrpSpPr>
          <p:grpSpPr>
            <a:xfrm>
              <a:off x="7900416" y="2340864"/>
              <a:ext cx="1847088" cy="1156670"/>
              <a:chOff x="7900416" y="2340864"/>
              <a:chExt cx="1847088" cy="1156670"/>
            </a:xfrm>
          </p:grpSpPr>
          <p:sp>
            <p:nvSpPr>
              <p:cNvPr id="164" name="Rectangle"/>
              <p:cNvSpPr/>
              <p:nvPr/>
            </p:nvSpPr>
            <p:spPr>
              <a:xfrm>
                <a:off x="8156448" y="2340864"/>
                <a:ext cx="1591056" cy="493776"/>
              </a:xfrm>
              <a:custGeom>
                <a:avLst/>
                <a:gdLst/>
                <a:ahLst/>
                <a:cxnLst/>
                <a:rect l="0" t="0" r="r" b="b"/>
                <a:pathLst>
                  <a:path w="1591056" h="493776">
                    <a:moveTo>
                      <a:pt x="91440" y="0"/>
                    </a:moveTo>
                    <a:lnTo>
                      <a:pt x="1499616" y="0"/>
                    </a:lnTo>
                    <a:cubicBezTo>
                      <a:pt x="1550117" y="0"/>
                      <a:pt x="1591056" y="40939"/>
                      <a:pt x="1591056" y="91440"/>
                    </a:cubicBezTo>
                    <a:lnTo>
                      <a:pt x="1591056" y="402336"/>
                    </a:lnTo>
                    <a:cubicBezTo>
                      <a:pt x="1591056" y="452837"/>
                      <a:pt x="1550117" y="493776"/>
                      <a:pt x="1499616" y="493776"/>
                    </a:cubicBezTo>
                    <a:lnTo>
                      <a:pt x="91440" y="493776"/>
                    </a:lnTo>
                    <a:cubicBezTo>
                      <a:pt x="40939" y="493776"/>
                      <a:pt x="0" y="452837"/>
                      <a:pt x="0" y="402336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e5f0df"/>
              </a:solidFill>
              <a:ln w="16459" cap="flat" cmpd="sng" algn="ctr">
                <a:solidFill>
                  <a:srgbClr val="c1e2ad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5" name="Live Music"/>
              <p:cNvSpPr txBox="1"/>
              <p:nvPr/>
            </p:nvSpPr>
            <p:spPr>
              <a:xfrm>
                <a:off x="8438669" y="2439116"/>
                <a:ext cx="1072334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Live Music</a:t>
                </a:r>
              </a:p>
            </p:txBody>
          </p:sp>
          <p:sp>
            <p:nvSpPr>
              <p:cNvPr id="166" name="Rectangle"/>
              <p:cNvSpPr/>
              <p:nvPr/>
            </p:nvSpPr>
            <p:spPr>
              <a:xfrm>
                <a:off x="8001000" y="2670048"/>
                <a:ext cx="1600200" cy="512064"/>
              </a:xfrm>
              <a:custGeom>
                <a:avLst/>
                <a:gdLst/>
                <a:ahLst/>
                <a:cxnLst/>
                <a:rect l="0" t="0" r="r" b="b"/>
                <a:pathLst>
                  <a:path w="1600200" h="512064">
                    <a:moveTo>
                      <a:pt x="91440" y="0"/>
                    </a:moveTo>
                    <a:lnTo>
                      <a:pt x="1508760" y="0"/>
                    </a:lnTo>
                    <a:cubicBezTo>
                      <a:pt x="1559261" y="0"/>
                      <a:pt x="1600200" y="40939"/>
                      <a:pt x="1600200" y="91440"/>
                    </a:cubicBezTo>
                    <a:lnTo>
                      <a:pt x="1600200" y="420624"/>
                    </a:lnTo>
                    <a:cubicBezTo>
                      <a:pt x="1600200" y="471125"/>
                      <a:pt x="1559261" y="512064"/>
                      <a:pt x="1508760" y="512064"/>
                    </a:cubicBezTo>
                    <a:lnTo>
                      <a:pt x="91440" y="512064"/>
                    </a:lnTo>
                    <a:cubicBezTo>
                      <a:pt x="40939" y="512064"/>
                      <a:pt x="0" y="471125"/>
                      <a:pt x="0" y="420624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cfe5bd">
                  <a:alpha val="86000"/>
                </a:srgbClr>
              </a:solidFill>
              <a:ln w="16459" cap="flat" cmpd="sng" algn="ctr">
                <a:solidFill>
                  <a:srgbClr val="a5d48b">
                    <a:alpha val="86000"/>
                  </a:srgbClr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7" name="Instrument"/>
              <p:cNvSpPr txBox="1"/>
              <p:nvPr/>
            </p:nvSpPr>
            <p:spPr>
              <a:xfrm>
                <a:off x="8345507" y="2809311"/>
                <a:ext cx="956905" cy="31546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655" b="0" i="0" lang="en-US">
                    <a:solidFill>
                      <a:srgbClr val="C0D9AD"/>
                    </a:solidFill>
                    <a:latin typeface="Liberation Serif"/>
                  </a:rPr>
                  <a:t>Instrument</a:t>
                </a:r>
              </a:p>
            </p:txBody>
          </p:sp>
          <p:sp>
            <p:nvSpPr>
              <p:cNvPr id="168" name="Rectangle"/>
              <p:cNvSpPr/>
              <p:nvPr/>
            </p:nvSpPr>
            <p:spPr>
              <a:xfrm>
                <a:off x="7900416" y="2907792"/>
                <a:ext cx="1517904" cy="512064"/>
              </a:xfrm>
              <a:custGeom>
                <a:avLst/>
                <a:gdLst/>
                <a:ahLst/>
                <a:cxnLst/>
                <a:rect l="0" t="0" r="r" b="b"/>
                <a:pathLst>
                  <a:path w="1517904" h="512064">
                    <a:moveTo>
                      <a:pt x="91440" y="0"/>
                    </a:moveTo>
                    <a:lnTo>
                      <a:pt x="1426464" y="0"/>
                    </a:lnTo>
                    <a:cubicBezTo>
                      <a:pt x="1476965" y="0"/>
                      <a:pt x="1517904" y="40939"/>
                      <a:pt x="1517904" y="91440"/>
                    </a:cubicBezTo>
                    <a:lnTo>
                      <a:pt x="1517904" y="420624"/>
                    </a:lnTo>
                    <a:cubicBezTo>
                      <a:pt x="1517904" y="471125"/>
                      <a:pt x="1476965" y="512064"/>
                      <a:pt x="1426464" y="512064"/>
                    </a:cubicBezTo>
                    <a:lnTo>
                      <a:pt x="91440" y="512064"/>
                    </a:lnTo>
                    <a:cubicBezTo>
                      <a:pt x="40939" y="512064"/>
                      <a:pt x="0" y="471125"/>
                      <a:pt x="0" y="420624"/>
                    </a:cubicBezTo>
                    <a:lnTo>
                      <a:pt x="0" y="91440"/>
                    </a:lnTo>
                    <a:cubicBezTo>
                      <a:pt x="0" y="40939"/>
                      <a:pt x="40939" y="0"/>
                      <a:pt x="91440" y="0"/>
                    </a:cubicBezTo>
                    <a:close/>
                  </a:path>
                </a:pathLst>
              </a:custGeom>
              <a:solidFill>
                <a:srgbClr val="afd393">
                  <a:alpha val="83000"/>
                </a:srgbClr>
              </a:solidFill>
              <a:ln w="16459" cap="flat" cmpd="sng" algn="ctr">
                <a:solidFill>
                  <a:srgbClr val="7da964">
                    <a:alpha val="83000"/>
                  </a:srgbClr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9" name="Instrument"/>
              <p:cNvSpPr txBox="1"/>
              <p:nvPr/>
            </p:nvSpPr>
            <p:spPr>
              <a:xfrm>
                <a:off x="8174064" y="2896316"/>
                <a:ext cx="1016327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Instrument</a:t>
                </a:r>
              </a:p>
            </p:txBody>
          </p:sp>
          <p:sp>
            <p:nvSpPr>
              <p:cNvPr id="170" name="Shows"/>
              <p:cNvSpPr txBox="1"/>
              <p:nvPr/>
            </p:nvSpPr>
            <p:spPr>
              <a:xfrm>
                <a:off x="8360574" y="3161492"/>
                <a:ext cx="643309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Shows</a:t>
                </a:r>
              </a:p>
            </p:txBody>
          </p:sp>
        </p:grpSp>
        <p:grpSp>
          <p:nvGrpSpPr>
            <p:cNvPr id="171" name="ItemTag Set"/>
            <p:cNvGrpSpPr/>
            <p:nvPr/>
          </p:nvGrpSpPr>
          <p:grpSpPr>
            <a:xfrm>
              <a:off x="7963202" y="3435753"/>
              <a:ext cx="1785524" cy="445372"/>
              <a:chOff x="7963202" y="3435753"/>
              <a:chExt cx="1785524" cy="445372"/>
            </a:xfrm>
          </p:grpSpPr>
          <p:sp>
            <p:nvSpPr>
              <p:cNvPr id="172" name="ItemTag Set "/>
              <p:cNvSpPr txBox="1"/>
              <p:nvPr/>
            </p:nvSpPr>
            <p:spPr>
              <a:xfrm>
                <a:off x="7963202" y="3449940"/>
                <a:ext cx="1479599" cy="39776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88" b="1" i="0" lang="en-US">
                    <a:solidFill>
                      <a:srgbClr val="000000"/>
                    </a:solidFill>
                    <a:latin typeface="Liberation Serif"/>
                  </a:rPr>
                  <a:t>ItemTag Set </a:t>
                </a:r>
              </a:p>
            </p:txBody>
          </p:sp>
          <p:sp>
            <p:nvSpPr>
              <p:cNvPr id="173" name="𝒯"/>
              <p:cNvSpPr txBox="1"/>
              <p:nvPr/>
            </p:nvSpPr>
            <p:spPr>
              <a:xfrm>
                <a:off x="9397082" y="3455929"/>
                <a:ext cx="265690" cy="42519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232" b="0" i="0" lang="en-US">
                    <a:solidFill>
                      <a:srgbClr val="000000"/>
                    </a:solidFill>
                    <a:latin typeface="Latin Modern Math"/>
                  </a:rPr>
                  <a:t>𝒯</a:t>
                </a:r>
              </a:p>
            </p:txBody>
          </p:sp>
          <p:sp>
            <p:nvSpPr>
              <p:cNvPr id="174" name="*"/>
              <p:cNvSpPr txBox="1"/>
              <p:nvPr/>
            </p:nvSpPr>
            <p:spPr>
              <a:xfrm>
                <a:off x="9617052" y="3435753"/>
                <a:ext cx="131674" cy="258547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7" b="0" i="0" lang="en-US">
                    <a:solidFill>
                      <a:srgbClr val="000000"/>
                    </a:solidFill>
                    <a:latin typeface="Liberation Serif"/>
                  </a:rPr>
                  <a:t>*</a:t>
                </a:r>
              </a:p>
            </p:txBody>
          </p:sp>
        </p:grpSp>
        <p:sp>
          <p:nvSpPr>
            <p:cNvPr id="175" name="Connector"/>
            <p:cNvSpPr/>
            <p:nvPr/>
          </p:nvSpPr>
          <p:spPr>
            <a:xfrm>
              <a:off x="8906256" y="3840480"/>
              <a:ext cx="91" cy="274320"/>
            </a:xfrm>
            <a:custGeom>
              <a:avLst/>
              <a:gdLst/>
              <a:ahLst/>
              <a:cxnLst/>
              <a:rect l="0" t="0" r="r" b="b"/>
              <a:pathLst>
                <a:path w="91" h="274320">
                  <a:moveTo>
                    <a:pt x="0" y="274320"/>
                  </a:moveTo>
                  <a:lnTo>
                    <a:pt x="0" y="0"/>
                  </a:lnTo>
                </a:path>
              </a:pathLst>
            </a:custGeom>
            <a:noFill/>
            <a:ln w="29261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6" name="Open arrowhead"/>
            <p:cNvSpPr/>
            <p:nvPr/>
          </p:nvSpPr>
          <p:spPr>
            <a:xfrm>
              <a:off x="8844443" y="3840480"/>
              <a:ext cx="123627" cy="118872"/>
            </a:xfrm>
            <a:custGeom>
              <a:avLst/>
              <a:gdLst/>
              <a:ahLst/>
              <a:cxnLst/>
              <a:rect l="0" t="0" r="r" b="b"/>
              <a:pathLst>
                <a:path w="123627" h="118872">
                  <a:moveTo>
                    <a:pt x="123627" y="118872"/>
                  </a:moveTo>
                  <a:lnTo>
                    <a:pt x="61813" y="0"/>
                  </a:lnTo>
                  <a:lnTo>
                    <a:pt x="0" y="118872"/>
                  </a:lnTo>
                </a:path>
              </a:pathLst>
            </a:custGeom>
            <a:noFill/>
            <a:ln w="29261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177" name="LLM robot icon"/>
            <p:cNvGrpSpPr/>
            <p:nvPr/>
          </p:nvGrpSpPr>
          <p:grpSpPr>
            <a:xfrm>
              <a:off x="8549640" y="4240987"/>
              <a:ext cx="704088" cy="870509"/>
              <a:chOff x="8549640" y="4240987"/>
              <a:chExt cx="704088" cy="870509"/>
            </a:xfrm>
          </p:grpSpPr>
          <p:sp>
            <p:nvSpPr>
              <p:cNvPr id="178" name="Ellipse"/>
              <p:cNvSpPr/>
              <p:nvPr/>
            </p:nvSpPr>
            <p:spPr>
              <a:xfrm>
                <a:off x="8867851" y="4240987"/>
                <a:ext cx="95098" cy="95098"/>
              </a:xfrm>
              <a:custGeom>
                <a:avLst/>
                <a:gdLst/>
                <a:ahLst/>
                <a:cxnLst/>
                <a:rect l="0" t="0" r="r" b="b"/>
                <a:pathLst>
                  <a:path w="95098" h="95098">
                    <a:moveTo>
                      <a:pt x="95098" y="47549"/>
                    </a:moveTo>
                    <a:cubicBezTo>
                      <a:pt x="95098" y="73809"/>
                      <a:pt x="73809" y="95098"/>
                      <a:pt x="47549" y="95098"/>
                    </a:cubicBezTo>
                    <a:cubicBezTo>
                      <a:pt x="21288" y="95098"/>
                      <a:pt x="0" y="73809"/>
                      <a:pt x="0" y="47549"/>
                    </a:cubicBezTo>
                    <a:cubicBezTo>
                      <a:pt x="0" y="21288"/>
                      <a:pt x="21288" y="0"/>
                      <a:pt x="47549" y="0"/>
                    </a:cubicBezTo>
                    <a:cubicBezTo>
                      <a:pt x="73809" y="0"/>
                      <a:pt x="95098" y="21288"/>
                      <a:pt x="95098" y="47549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Rectangle"/>
              <p:cNvSpPr/>
              <p:nvPr/>
            </p:nvSpPr>
            <p:spPr>
              <a:xfrm>
                <a:off x="8895283" y="4302252"/>
                <a:ext cx="40234" cy="100584"/>
              </a:xfrm>
              <a:custGeom>
                <a:avLst/>
                <a:gdLst/>
                <a:ahLst/>
                <a:cxnLst/>
                <a:rect l="0" t="0" r="r" b="b"/>
                <a:pathLst>
                  <a:path w="40234" h="100584">
                    <a:moveTo>
                      <a:pt x="0" y="0"/>
                    </a:moveTo>
                    <a:lnTo>
                      <a:pt x="40234" y="0"/>
                    </a:lnTo>
                    <a:lnTo>
                      <a:pt x="40234" y="100584"/>
                    </a:lnTo>
                    <a:lnTo>
                      <a:pt x="0" y="100584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Rectangle"/>
              <p:cNvSpPr/>
              <p:nvPr/>
            </p:nvSpPr>
            <p:spPr>
              <a:xfrm>
                <a:off x="8778240" y="4379976"/>
                <a:ext cx="274320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274320" h="210312">
                    <a:moveTo>
                      <a:pt x="41148" y="0"/>
                    </a:moveTo>
                    <a:lnTo>
                      <a:pt x="233172" y="0"/>
                    </a:lnTo>
                    <a:cubicBezTo>
                      <a:pt x="255897" y="0"/>
                      <a:pt x="274320" y="18423"/>
                      <a:pt x="274320" y="41148"/>
                    </a:cubicBezTo>
                    <a:lnTo>
                      <a:pt x="274320" y="169164"/>
                    </a:lnTo>
                    <a:cubicBezTo>
                      <a:pt x="274320" y="191889"/>
                      <a:pt x="255897" y="210312"/>
                      <a:pt x="233172" y="210312"/>
                    </a:cubicBezTo>
                    <a:lnTo>
                      <a:pt x="41148" y="210312"/>
                    </a:lnTo>
                    <a:cubicBezTo>
                      <a:pt x="18423" y="210312"/>
                      <a:pt x="0" y="191889"/>
                      <a:pt x="0" y="169164"/>
                    </a:cubicBezTo>
                    <a:lnTo>
                      <a:pt x="0" y="41148"/>
                    </a:lnTo>
                    <a:cubicBezTo>
                      <a:pt x="0" y="18423"/>
                      <a:pt x="18423" y="0"/>
                      <a:pt x="41148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Ellipse"/>
              <p:cNvSpPr/>
              <p:nvPr/>
            </p:nvSpPr>
            <p:spPr>
              <a:xfrm>
                <a:off x="8836762" y="4458614"/>
                <a:ext cx="62179" cy="62179"/>
              </a:xfrm>
              <a:custGeom>
                <a:avLst/>
                <a:gdLst/>
                <a:ahLst/>
                <a:cxnLst/>
                <a:rect l="0" t="0" r="r" b="b"/>
                <a:pathLst>
                  <a:path w="62179" h="62179">
                    <a:moveTo>
                      <a:pt x="62179" y="31090"/>
                    </a:moveTo>
                    <a:cubicBezTo>
                      <a:pt x="62179" y="48260"/>
                      <a:pt x="48260" y="62179"/>
                      <a:pt x="31090" y="62179"/>
                    </a:cubicBezTo>
                    <a:cubicBezTo>
                      <a:pt x="13919" y="62179"/>
                      <a:pt x="0" y="48260"/>
                      <a:pt x="0" y="31090"/>
                    </a:cubicBezTo>
                    <a:cubicBezTo>
                      <a:pt x="0" y="13919"/>
                      <a:pt x="13919" y="0"/>
                      <a:pt x="31090" y="0"/>
                    </a:cubicBezTo>
                    <a:cubicBezTo>
                      <a:pt x="48260" y="0"/>
                      <a:pt x="62179" y="13919"/>
                      <a:pt x="62179" y="310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Ellipse"/>
              <p:cNvSpPr/>
              <p:nvPr/>
            </p:nvSpPr>
            <p:spPr>
              <a:xfrm>
                <a:off x="8935517" y="4458614"/>
                <a:ext cx="62179" cy="62179"/>
              </a:xfrm>
              <a:custGeom>
                <a:avLst/>
                <a:gdLst/>
                <a:ahLst/>
                <a:cxnLst/>
                <a:rect l="0" t="0" r="r" b="b"/>
                <a:pathLst>
                  <a:path w="62179" h="62179">
                    <a:moveTo>
                      <a:pt x="62179" y="31090"/>
                    </a:moveTo>
                    <a:cubicBezTo>
                      <a:pt x="62179" y="48260"/>
                      <a:pt x="48260" y="62179"/>
                      <a:pt x="31090" y="62179"/>
                    </a:cubicBezTo>
                    <a:cubicBezTo>
                      <a:pt x="13919" y="62179"/>
                      <a:pt x="0" y="48260"/>
                      <a:pt x="0" y="31090"/>
                    </a:cubicBezTo>
                    <a:cubicBezTo>
                      <a:pt x="0" y="13919"/>
                      <a:pt x="13919" y="0"/>
                      <a:pt x="31090" y="0"/>
                    </a:cubicBezTo>
                    <a:cubicBezTo>
                      <a:pt x="48260" y="0"/>
                      <a:pt x="62179" y="13919"/>
                      <a:pt x="62179" y="3109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Ellipse"/>
              <p:cNvSpPr/>
              <p:nvPr/>
            </p:nvSpPr>
            <p:spPr>
              <a:xfrm>
                <a:off x="8851849" y="4473702"/>
                <a:ext cx="32004" cy="32004"/>
              </a:xfrm>
              <a:custGeom>
                <a:avLst/>
                <a:gdLst/>
                <a:ahLst/>
                <a:cxnLst/>
                <a:rect l="0" t="0" r="r" b="b"/>
                <a:pathLst>
                  <a:path w="32004" h="32004">
                    <a:moveTo>
                      <a:pt x="32004" y="16002"/>
                    </a:moveTo>
                    <a:cubicBezTo>
                      <a:pt x="32004" y="24840"/>
                      <a:pt x="24840" y="32004"/>
                      <a:pt x="16002" y="32004"/>
                    </a:cubicBezTo>
                    <a:cubicBezTo>
                      <a:pt x="7164" y="32004"/>
                      <a:pt x="0" y="24840"/>
                      <a:pt x="0" y="16002"/>
                    </a:cubicBezTo>
                    <a:cubicBezTo>
                      <a:pt x="0" y="7164"/>
                      <a:pt x="7164" y="0"/>
                      <a:pt x="16002" y="0"/>
                    </a:cubicBezTo>
                    <a:cubicBezTo>
                      <a:pt x="24840" y="0"/>
                      <a:pt x="32004" y="7164"/>
                      <a:pt x="32004" y="160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Ellipse"/>
              <p:cNvSpPr/>
              <p:nvPr/>
            </p:nvSpPr>
            <p:spPr>
              <a:xfrm>
                <a:off x="8950604" y="4473702"/>
                <a:ext cx="32004" cy="32004"/>
              </a:xfrm>
              <a:custGeom>
                <a:avLst/>
                <a:gdLst/>
                <a:ahLst/>
                <a:cxnLst/>
                <a:rect l="0" t="0" r="r" b="b"/>
                <a:pathLst>
                  <a:path w="32004" h="32004">
                    <a:moveTo>
                      <a:pt x="32004" y="16002"/>
                    </a:moveTo>
                    <a:cubicBezTo>
                      <a:pt x="32004" y="24840"/>
                      <a:pt x="24840" y="32004"/>
                      <a:pt x="16002" y="32004"/>
                    </a:cubicBezTo>
                    <a:cubicBezTo>
                      <a:pt x="7164" y="32004"/>
                      <a:pt x="0" y="24840"/>
                      <a:pt x="0" y="16002"/>
                    </a:cubicBezTo>
                    <a:cubicBezTo>
                      <a:pt x="0" y="7164"/>
                      <a:pt x="7164" y="0"/>
                      <a:pt x="16002" y="0"/>
                    </a:cubicBezTo>
                    <a:cubicBezTo>
                      <a:pt x="24840" y="0"/>
                      <a:pt x="32004" y="7164"/>
                      <a:pt x="32004" y="1600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Rectangle"/>
              <p:cNvSpPr/>
              <p:nvPr/>
            </p:nvSpPr>
            <p:spPr>
              <a:xfrm>
                <a:off x="8750808" y="4626864"/>
                <a:ext cx="329184" cy="292608"/>
              </a:xfrm>
              <a:custGeom>
                <a:avLst/>
                <a:gdLst/>
                <a:ahLst/>
                <a:cxnLst/>
                <a:rect l="0" t="0" r="r" b="b"/>
                <a:pathLst>
                  <a:path w="329184" h="292608">
                    <a:moveTo>
                      <a:pt x="0" y="0"/>
                    </a:moveTo>
                    <a:lnTo>
                      <a:pt x="329184" y="0"/>
                    </a:lnTo>
                    <a:lnTo>
                      <a:pt x="329184" y="292608"/>
                    </a:lnTo>
                    <a:lnTo>
                      <a:pt x="0" y="292608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Path"/>
              <p:cNvSpPr/>
              <p:nvPr/>
            </p:nvSpPr>
            <p:spPr>
              <a:xfrm>
                <a:off x="8641080" y="4562856"/>
                <a:ext cx="10972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09728" h="146304">
                    <a:moveTo>
                      <a:pt x="109728" y="146304"/>
                    </a:moveTo>
                    <a:lnTo>
                      <a:pt x="36576" y="146304"/>
                    </a:lnTo>
                    <a:cubicBezTo>
                      <a:pt x="0" y="146304"/>
                      <a:pt x="0" y="118872"/>
                      <a:pt x="0" y="91440"/>
                    </a:cubicBezTo>
                    <a:lnTo>
                      <a:pt x="0" y="0"/>
                    </a:lnTo>
                  </a:path>
                </a:pathLst>
              </a:custGeom>
              <a:noFill/>
              <a:ln w="41148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Path"/>
              <p:cNvSpPr/>
              <p:nvPr/>
            </p:nvSpPr>
            <p:spPr>
              <a:xfrm>
                <a:off x="8549640" y="4480560"/>
                <a:ext cx="155448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55448" h="146304">
                    <a:moveTo>
                      <a:pt x="45720" y="0"/>
                    </a:moveTo>
                    <a:cubicBezTo>
                      <a:pt x="0" y="82296"/>
                      <a:pt x="91440" y="146304"/>
                      <a:pt x="146304" y="64008"/>
                    </a:cubicBezTo>
                    <a:cubicBezTo>
                      <a:pt x="155448" y="45720"/>
                      <a:pt x="146304" y="18288"/>
                      <a:pt x="137160" y="0"/>
                    </a:cubicBezTo>
                  </a:path>
                </a:pathLst>
              </a:custGeom>
              <a:noFill/>
              <a:ln w="4389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Path"/>
              <p:cNvSpPr/>
              <p:nvPr/>
            </p:nvSpPr>
            <p:spPr>
              <a:xfrm>
                <a:off x="9079992" y="4690872"/>
                <a:ext cx="109728" cy="155448"/>
              </a:xfrm>
              <a:custGeom>
                <a:avLst/>
                <a:gdLst/>
                <a:ahLst/>
                <a:cxnLst/>
                <a:rect l="0" t="0" r="r" b="b"/>
                <a:pathLst>
                  <a:path w="109728" h="155448">
                    <a:moveTo>
                      <a:pt x="0" y="0"/>
                    </a:moveTo>
                    <a:lnTo>
                      <a:pt x="64008" y="0"/>
                    </a:lnTo>
                    <a:cubicBezTo>
                      <a:pt x="109728" y="0"/>
                      <a:pt x="109728" y="27432"/>
                      <a:pt x="109728" y="64008"/>
                    </a:cubicBezTo>
                    <a:lnTo>
                      <a:pt x="109728" y="155448"/>
                    </a:lnTo>
                  </a:path>
                </a:pathLst>
              </a:custGeom>
              <a:noFill/>
              <a:ln w="41148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Path"/>
              <p:cNvSpPr/>
              <p:nvPr/>
            </p:nvSpPr>
            <p:spPr>
              <a:xfrm>
                <a:off x="9098280" y="4791456"/>
                <a:ext cx="155448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155448" h="137160">
                    <a:moveTo>
                      <a:pt x="45720" y="137160"/>
                    </a:moveTo>
                    <a:cubicBezTo>
                      <a:pt x="0" y="64008"/>
                      <a:pt x="91440" y="0"/>
                      <a:pt x="146304" y="82296"/>
                    </a:cubicBezTo>
                    <a:cubicBezTo>
                      <a:pt x="155448" y="100584"/>
                      <a:pt x="146304" y="128016"/>
                      <a:pt x="137160" y="137160"/>
                    </a:cubicBezTo>
                  </a:path>
                </a:pathLst>
              </a:custGeom>
              <a:noFill/>
              <a:ln w="4389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Path"/>
              <p:cNvSpPr/>
              <p:nvPr/>
            </p:nvSpPr>
            <p:spPr>
              <a:xfrm>
                <a:off x="8796528" y="4681728"/>
                <a:ext cx="256032" cy="137160"/>
              </a:xfrm>
              <a:custGeom>
                <a:avLst/>
                <a:gdLst/>
                <a:ahLst/>
                <a:cxnLst/>
                <a:rect l="0" t="0" r="r" b="b"/>
                <a:pathLst>
                  <a:path w="256032" h="137160">
                    <a:moveTo>
                      <a:pt x="0" y="73152"/>
                    </a:moveTo>
                    <a:lnTo>
                      <a:pt x="36576" y="73152"/>
                    </a:lnTo>
                    <a:lnTo>
                      <a:pt x="73152" y="0"/>
                    </a:lnTo>
                    <a:lnTo>
                      <a:pt x="109728" y="137160"/>
                    </a:lnTo>
                    <a:lnTo>
                      <a:pt x="155448" y="36576"/>
                    </a:lnTo>
                    <a:lnTo>
                      <a:pt x="192024" y="109728"/>
                    </a:lnTo>
                    <a:lnTo>
                      <a:pt x="228600" y="73152"/>
                    </a:lnTo>
                    <a:lnTo>
                      <a:pt x="256032" y="73152"/>
                    </a:lnTo>
                  </a:path>
                </a:pathLst>
              </a:custGeom>
              <a:noFill/>
              <a:ln w="18288" cap="flat" cmpd="sng" algn="ctr">
                <a:solidFill>
                  <a:srgbClr val="ffffff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Rectangle"/>
              <p:cNvSpPr/>
              <p:nvPr/>
            </p:nvSpPr>
            <p:spPr>
              <a:xfrm>
                <a:off x="8659368" y="4956048"/>
                <a:ext cx="512064" cy="155448"/>
              </a:xfrm>
              <a:custGeom>
                <a:avLst/>
                <a:gdLst/>
                <a:ahLst/>
                <a:cxnLst/>
                <a:rect l="0" t="0" r="r" b="b"/>
                <a:pathLst>
                  <a:path w="512064" h="155448">
                    <a:moveTo>
                      <a:pt x="77724" y="0"/>
                    </a:moveTo>
                    <a:lnTo>
                      <a:pt x="434340" y="0"/>
                    </a:lnTo>
                    <a:cubicBezTo>
                      <a:pt x="477266" y="0"/>
                      <a:pt x="512064" y="34798"/>
                      <a:pt x="512064" y="77724"/>
                    </a:cubicBezTo>
                    <a:lnTo>
                      <a:pt x="512064" y="77724"/>
                    </a:lnTo>
                    <a:cubicBezTo>
                      <a:pt x="512064" y="120650"/>
                      <a:pt x="477266" y="155448"/>
                      <a:pt x="434340" y="155448"/>
                    </a:cubicBezTo>
                    <a:lnTo>
                      <a:pt x="77724" y="155448"/>
                    </a:lnTo>
                    <a:cubicBezTo>
                      <a:pt x="34798" y="155448"/>
                      <a:pt x="0" y="120650"/>
                      <a:pt x="0" y="77724"/>
                    </a:cubicBezTo>
                    <a:lnTo>
                      <a:pt x="0" y="77724"/>
                    </a:lnTo>
                    <a:cubicBezTo>
                      <a:pt x="0" y="34798"/>
                      <a:pt x="34798" y="0"/>
                      <a:pt x="77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Ellipse"/>
              <p:cNvSpPr/>
              <p:nvPr/>
            </p:nvSpPr>
            <p:spPr>
              <a:xfrm>
                <a:off x="8727034" y="5000854"/>
                <a:ext cx="65837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65837" h="65837">
                    <a:moveTo>
                      <a:pt x="65837" y="32918"/>
                    </a:moveTo>
                    <a:cubicBezTo>
                      <a:pt x="65837" y="51099"/>
                      <a:pt x="51099" y="65837"/>
                      <a:pt x="32918" y="65837"/>
                    </a:cubicBezTo>
                    <a:cubicBezTo>
                      <a:pt x="14738" y="65837"/>
                      <a:pt x="0" y="51099"/>
                      <a:pt x="0" y="32918"/>
                    </a:cubicBezTo>
                    <a:cubicBezTo>
                      <a:pt x="0" y="14738"/>
                      <a:pt x="14738" y="0"/>
                      <a:pt x="32918" y="0"/>
                    </a:cubicBezTo>
                    <a:cubicBezTo>
                      <a:pt x="51099" y="0"/>
                      <a:pt x="65837" y="14738"/>
                      <a:pt x="65837" y="329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Ellipse"/>
              <p:cNvSpPr/>
              <p:nvPr/>
            </p:nvSpPr>
            <p:spPr>
              <a:xfrm>
                <a:off x="8882482" y="5000854"/>
                <a:ext cx="65837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65837" h="65837">
                    <a:moveTo>
                      <a:pt x="65837" y="32918"/>
                    </a:moveTo>
                    <a:cubicBezTo>
                      <a:pt x="65837" y="51099"/>
                      <a:pt x="51099" y="65837"/>
                      <a:pt x="32918" y="65837"/>
                    </a:cubicBezTo>
                    <a:cubicBezTo>
                      <a:pt x="14738" y="65837"/>
                      <a:pt x="0" y="51099"/>
                      <a:pt x="0" y="32918"/>
                    </a:cubicBezTo>
                    <a:cubicBezTo>
                      <a:pt x="0" y="14738"/>
                      <a:pt x="14738" y="0"/>
                      <a:pt x="32918" y="0"/>
                    </a:cubicBezTo>
                    <a:cubicBezTo>
                      <a:pt x="51099" y="0"/>
                      <a:pt x="65837" y="14738"/>
                      <a:pt x="65837" y="329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Ellipse"/>
              <p:cNvSpPr/>
              <p:nvPr/>
            </p:nvSpPr>
            <p:spPr>
              <a:xfrm>
                <a:off x="9037930" y="5000854"/>
                <a:ext cx="65837" cy="65837"/>
              </a:xfrm>
              <a:custGeom>
                <a:avLst/>
                <a:gdLst/>
                <a:ahLst/>
                <a:cxnLst/>
                <a:rect l="0" t="0" r="r" b="b"/>
                <a:pathLst>
                  <a:path w="65837" h="65837">
                    <a:moveTo>
                      <a:pt x="65837" y="32918"/>
                    </a:moveTo>
                    <a:cubicBezTo>
                      <a:pt x="65837" y="51099"/>
                      <a:pt x="51099" y="65837"/>
                      <a:pt x="32918" y="65837"/>
                    </a:cubicBezTo>
                    <a:cubicBezTo>
                      <a:pt x="14738" y="65837"/>
                      <a:pt x="0" y="51099"/>
                      <a:pt x="0" y="32918"/>
                    </a:cubicBezTo>
                    <a:cubicBezTo>
                      <a:pt x="0" y="14738"/>
                      <a:pt x="14738" y="0"/>
                      <a:pt x="32918" y="0"/>
                    </a:cubicBezTo>
                    <a:cubicBezTo>
                      <a:pt x="51099" y="0"/>
                      <a:pt x="65837" y="14738"/>
                      <a:pt x="65837" y="329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95" name="LLM"/>
            <p:cNvSpPr txBox="1"/>
            <p:nvPr/>
          </p:nvSpPr>
          <p:spPr>
            <a:xfrm>
              <a:off x="8618591" y="5164394"/>
              <a:ext cx="639337" cy="390906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2" b="1" i="0" lang="en-US">
                  <a:solidFill>
                    <a:srgbClr val="000000"/>
                  </a:solidFill>
                  <a:latin typeface="Liberation Serif"/>
                </a:rPr>
                <a:t>LLM</a:t>
              </a:r>
            </a:p>
          </p:txBody>
        </p:sp>
        <p:sp>
          <p:nvSpPr>
            <p:cNvPr id="196" name="Connector"/>
            <p:cNvSpPr/>
            <p:nvPr/>
          </p:nvSpPr>
          <p:spPr>
            <a:xfrm>
              <a:off x="7891272" y="4690872"/>
              <a:ext cx="466344" cy="1261872"/>
            </a:xfrm>
            <a:custGeom>
              <a:avLst/>
              <a:gdLst/>
              <a:ahLst/>
              <a:cxnLst/>
              <a:rect l="0" t="0" r="r" b="b"/>
              <a:pathLst>
                <a:path w="466344" h="1261872">
                  <a:moveTo>
                    <a:pt x="0" y="1261872"/>
                  </a:moveTo>
                  <a:lnTo>
                    <a:pt x="0" y="0"/>
                  </a:lnTo>
                  <a:lnTo>
                    <a:pt x="466344" y="0"/>
                  </a:lnTo>
                </a:path>
              </a:pathLst>
            </a:custGeom>
            <a:noFill/>
            <a:ln w="30175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Open arrowhead"/>
            <p:cNvSpPr/>
            <p:nvPr/>
          </p:nvSpPr>
          <p:spPr>
            <a:xfrm>
              <a:off x="8238744" y="4629059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0" y="123627"/>
                  </a:moveTo>
                  <a:lnTo>
                    <a:pt x="118872" y="61813"/>
                  </a:lnTo>
                  <a:lnTo>
                    <a:pt x="0" y="0"/>
                  </a:lnTo>
                </a:path>
              </a:pathLst>
            </a:custGeom>
            <a:noFill/>
            <a:ln w="30175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Connector"/>
            <p:cNvSpPr/>
            <p:nvPr/>
          </p:nvSpPr>
          <p:spPr>
            <a:xfrm>
              <a:off x="9464040" y="4690872"/>
              <a:ext cx="484632" cy="1252728"/>
            </a:xfrm>
            <a:custGeom>
              <a:avLst/>
              <a:gdLst/>
              <a:ahLst/>
              <a:cxnLst/>
              <a:rect l="0" t="0" r="r" b="b"/>
              <a:pathLst>
                <a:path w="484632" h="1252728">
                  <a:moveTo>
                    <a:pt x="484632" y="1252728"/>
                  </a:moveTo>
                  <a:lnTo>
                    <a:pt x="484632" y="0"/>
                  </a:lnTo>
                  <a:lnTo>
                    <a:pt x="0" y="0"/>
                  </a:lnTo>
                </a:path>
              </a:pathLst>
            </a:custGeom>
            <a:noFill/>
            <a:ln w="30175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Open arrowhead"/>
            <p:cNvSpPr/>
            <p:nvPr/>
          </p:nvSpPr>
          <p:spPr>
            <a:xfrm>
              <a:off x="9464040" y="4629059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118872" y="0"/>
                  </a:moveTo>
                  <a:lnTo>
                    <a:pt x="0" y="61813"/>
                  </a:lnTo>
                  <a:lnTo>
                    <a:pt x="118872" y="123627"/>
                  </a:lnTo>
                </a:path>
              </a:pathLst>
            </a:custGeom>
            <a:noFill/>
            <a:ln w="30175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0" name="I2U logic prompt"/>
            <p:cNvSpPr/>
            <p:nvPr/>
          </p:nvSpPr>
          <p:spPr>
            <a:xfrm>
              <a:off x="6858000" y="5980176"/>
              <a:ext cx="2084832" cy="685800"/>
            </a:xfrm>
            <a:custGeom>
              <a:avLst/>
              <a:gdLst/>
              <a:ahLst/>
              <a:cxnLst/>
              <a:rect l="0" t="0" r="r" b="b"/>
              <a:pathLst>
                <a:path w="2084832" h="685800">
                  <a:moveTo>
                    <a:pt x="128016" y="0"/>
                  </a:moveTo>
                  <a:lnTo>
                    <a:pt x="1956816" y="0"/>
                  </a:lnTo>
                  <a:cubicBezTo>
                    <a:pt x="2027517" y="0"/>
                    <a:pt x="2084832" y="57315"/>
                    <a:pt x="2084832" y="128016"/>
                  </a:cubicBezTo>
                  <a:lnTo>
                    <a:pt x="2084832" y="557784"/>
                  </a:lnTo>
                  <a:cubicBezTo>
                    <a:pt x="2084832" y="628485"/>
                    <a:pt x="2027517" y="685800"/>
                    <a:pt x="1956816" y="685800"/>
                  </a:cubicBezTo>
                  <a:lnTo>
                    <a:pt x="128016" y="685800"/>
                  </a:lnTo>
                  <a:cubicBezTo>
                    <a:pt x="57315" y="685800"/>
                    <a:pt x="0" y="628485"/>
                    <a:pt x="0" y="557784"/>
                  </a:cubicBezTo>
                  <a:lnTo>
                    <a:pt x="0" y="128016"/>
                  </a:lnTo>
                  <a:cubicBezTo>
                    <a:pt x="0" y="57315"/>
                    <a:pt x="57315" y="0"/>
                    <a:pt x="128016" y="0"/>
                  </a:cubicBezTo>
                  <a:close/>
                </a:path>
              </a:pathLst>
            </a:custGeom>
            <a:solidFill>
              <a:srgbClr val="e1efd8"/>
            </a:solidFill>
            <a:ln w="30175" cap="flat" cmpd="sng" algn="ctr">
              <a:solidFill>
                <a:srgbClr val="72b13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1" name="I2U Logic"/>
            <p:cNvSpPr txBox="1"/>
            <p:nvPr/>
          </p:nvSpPr>
          <p:spPr>
            <a:xfrm>
              <a:off x="7346632" y="6005642"/>
              <a:ext cx="1153287" cy="390906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2" b="1" i="0" lang="en-US">
                  <a:solidFill>
                    <a:srgbClr val="000000"/>
                  </a:solidFill>
                  <a:latin typeface="Liberation Serif"/>
                </a:rPr>
                <a:t>I2U Logic</a:t>
              </a:r>
            </a:p>
          </p:txBody>
        </p:sp>
        <p:grpSp>
          <p:nvGrpSpPr>
            <p:cNvPr id="202" name="I2U prompt formula"/>
            <p:cNvGrpSpPr/>
            <p:nvPr/>
          </p:nvGrpSpPr>
          <p:grpSpPr>
            <a:xfrm>
              <a:off x="7317543" y="6298250"/>
              <a:ext cx="1211466" cy="406985"/>
              <a:chOff x="7317543" y="6298250"/>
              <a:chExt cx="1211466" cy="406985"/>
            </a:xfrm>
          </p:grpSpPr>
          <p:sp>
            <p:nvSpPr>
              <p:cNvPr id="203" name="Prompt "/>
              <p:cNvSpPr txBox="1"/>
              <p:nvPr/>
            </p:nvSpPr>
            <p:spPr>
              <a:xfrm>
                <a:off x="7317543" y="6298250"/>
                <a:ext cx="960120" cy="39090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52" b="1" i="0" lang="en-US">
                    <a:solidFill>
                      <a:srgbClr val="000000"/>
                    </a:solidFill>
                    <a:latin typeface="Liberation Serif"/>
                  </a:rPr>
                  <a:t>Prompt </a:t>
                </a:r>
              </a:p>
            </p:txBody>
          </p:sp>
          <p:sp>
            <p:nvSpPr>
              <p:cNvPr id="204" name="X"/>
              <p:cNvSpPr txBox="1"/>
              <p:nvPr/>
            </p:nvSpPr>
            <p:spPr>
              <a:xfrm>
                <a:off x="8231943" y="6298250"/>
                <a:ext cx="219542" cy="39090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52" b="1" i="1" lang="en-US">
                    <a:solidFill>
                      <a:srgbClr val="000000"/>
                    </a:solidFill>
                    <a:latin typeface="Liberation Serif"/>
                  </a:rPr>
                  <a:t>X</a:t>
                </a:r>
              </a:p>
            </p:txBody>
          </p:sp>
          <p:sp>
            <p:nvSpPr>
              <p:cNvPr id="205" name="c"/>
              <p:cNvSpPr txBox="1"/>
              <p:nvPr/>
            </p:nvSpPr>
            <p:spPr>
              <a:xfrm>
                <a:off x="8405765" y="6443328"/>
                <a:ext cx="123244" cy="261907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74" b="1" i="1" lang="en-US">
                    <a:solidFill>
                      <a:srgbClr val="000000"/>
                    </a:solidFill>
                    <a:latin typeface="Liberation Serif"/>
                  </a:rPr>
                  <a:t>c</a:t>
                </a:r>
              </a:p>
            </p:txBody>
          </p:sp>
        </p:grpSp>
        <p:sp>
          <p:nvSpPr>
            <p:cNvPr id="206" name="U2I logic prompt"/>
            <p:cNvSpPr/>
            <p:nvPr/>
          </p:nvSpPr>
          <p:spPr>
            <a:xfrm>
              <a:off x="9006840" y="5971032"/>
              <a:ext cx="2002536" cy="685800"/>
            </a:xfrm>
            <a:custGeom>
              <a:avLst/>
              <a:gdLst/>
              <a:ahLst/>
              <a:cxnLst/>
              <a:rect l="0" t="0" r="r" b="b"/>
              <a:pathLst>
                <a:path w="2002536" h="685800">
                  <a:moveTo>
                    <a:pt x="118872" y="0"/>
                  </a:moveTo>
                  <a:lnTo>
                    <a:pt x="1883664" y="0"/>
                  </a:lnTo>
                  <a:cubicBezTo>
                    <a:pt x="1949315" y="0"/>
                    <a:pt x="2002536" y="53221"/>
                    <a:pt x="2002536" y="118872"/>
                  </a:cubicBezTo>
                  <a:lnTo>
                    <a:pt x="2002536" y="566928"/>
                  </a:lnTo>
                  <a:cubicBezTo>
                    <a:pt x="2002536" y="632579"/>
                    <a:pt x="1949315" y="685800"/>
                    <a:pt x="1883664" y="685800"/>
                  </a:cubicBezTo>
                  <a:lnTo>
                    <a:pt x="118872" y="685800"/>
                  </a:lnTo>
                  <a:cubicBezTo>
                    <a:pt x="53221" y="685800"/>
                    <a:pt x="0" y="632579"/>
                    <a:pt x="0" y="566928"/>
                  </a:cubicBezTo>
                  <a:lnTo>
                    <a:pt x="0" y="118872"/>
                  </a:lnTo>
                  <a:cubicBezTo>
                    <a:pt x="0" y="53221"/>
                    <a:pt x="53221" y="0"/>
                    <a:pt x="118872" y="0"/>
                  </a:cubicBezTo>
                  <a:close/>
                </a:path>
              </a:pathLst>
            </a:custGeom>
            <a:solidFill>
              <a:srgbClr val="fae4d6"/>
            </a:solidFill>
            <a:ln w="30175" cap="flat" cmpd="sng" algn="ctr">
              <a:solidFill>
                <a:srgbClr val="c796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U2I Logic"/>
            <p:cNvSpPr txBox="1"/>
            <p:nvPr/>
          </p:nvSpPr>
          <p:spPr>
            <a:xfrm>
              <a:off x="9458896" y="6005642"/>
              <a:ext cx="1153287" cy="390906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52" b="1" i="0" lang="en-US">
                  <a:solidFill>
                    <a:srgbClr val="000000"/>
                  </a:solidFill>
                  <a:latin typeface="Liberation Serif"/>
                </a:rPr>
                <a:t>U2I Logic</a:t>
              </a:r>
            </a:p>
          </p:txBody>
        </p:sp>
        <p:grpSp>
          <p:nvGrpSpPr>
            <p:cNvPr id="208" name="U2I prompt formula"/>
            <p:cNvGrpSpPr/>
            <p:nvPr/>
          </p:nvGrpSpPr>
          <p:grpSpPr>
            <a:xfrm>
              <a:off x="9444309" y="6298250"/>
              <a:ext cx="1182462" cy="406985"/>
              <a:chOff x="9444309" y="6298250"/>
              <a:chExt cx="1182462" cy="406985"/>
            </a:xfrm>
          </p:grpSpPr>
          <p:sp>
            <p:nvSpPr>
              <p:cNvPr id="209" name="Prompt "/>
              <p:cNvSpPr txBox="1"/>
              <p:nvPr/>
            </p:nvSpPr>
            <p:spPr>
              <a:xfrm>
                <a:off x="9444309" y="6298250"/>
                <a:ext cx="960120" cy="39090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52" b="1" i="0" lang="en-US">
                    <a:solidFill>
                      <a:srgbClr val="000000"/>
                    </a:solidFill>
                    <a:latin typeface="Liberation Serif"/>
                  </a:rPr>
                  <a:t>Prompt </a:t>
                </a:r>
              </a:p>
            </p:txBody>
          </p:sp>
          <p:sp>
            <p:nvSpPr>
              <p:cNvPr id="210" name="X"/>
              <p:cNvSpPr txBox="1"/>
              <p:nvPr/>
            </p:nvSpPr>
            <p:spPr>
              <a:xfrm>
                <a:off x="10358709" y="6298250"/>
                <a:ext cx="219542" cy="39090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2052" b="1" i="1" lang="en-US">
                    <a:solidFill>
                      <a:srgbClr val="000000"/>
                    </a:solidFill>
                    <a:latin typeface="Liberation Serif"/>
                  </a:rPr>
                  <a:t>X</a:t>
                </a:r>
              </a:p>
            </p:txBody>
          </p:sp>
          <p:sp>
            <p:nvSpPr>
              <p:cNvPr id="211" name="t"/>
              <p:cNvSpPr txBox="1"/>
              <p:nvPr/>
            </p:nvSpPr>
            <p:spPr>
              <a:xfrm>
                <a:off x="10532531" y="6443328"/>
                <a:ext cx="94240" cy="261907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74" b="1" i="1" lang="en-US">
                    <a:solidFill>
                      <a:srgbClr val="000000"/>
                    </a:solidFill>
                    <a:latin typeface="Liberation Serif"/>
                  </a:rPr>
                  <a:t>t</a:t>
                </a:r>
              </a:p>
            </p:txBody>
          </p:sp>
        </p:grpSp>
      </p:grpSp>
      <p:grpSp>
        <p:nvGrpSpPr>
          <p:cNvPr id="212" name="Cross panel logic graph input"/>
          <p:cNvGrpSpPr/>
          <p:nvPr/>
        </p:nvGrpSpPr>
        <p:grpSpPr>
          <a:xfrm>
            <a:off x="11128248" y="2039112"/>
            <a:ext cx="813816" cy="2978750"/>
            <a:chOff x="11128248" y="2039112"/>
            <a:chExt cx="813816" cy="2978750"/>
          </a:xfrm>
        </p:grpSpPr>
        <p:sp>
          <p:nvSpPr>
            <p:cNvPr id="213" name="Connector"/>
            <p:cNvSpPr/>
            <p:nvPr/>
          </p:nvSpPr>
          <p:spPr>
            <a:xfrm>
              <a:off x="11128248" y="2039112"/>
              <a:ext cx="813816" cy="2916936"/>
            </a:xfrm>
            <a:custGeom>
              <a:avLst/>
              <a:gdLst/>
              <a:ahLst/>
              <a:cxnLst/>
              <a:rect l="0" t="0" r="r" b="b"/>
              <a:pathLst>
                <a:path w="813816" h="2916936">
                  <a:moveTo>
                    <a:pt x="0" y="0"/>
                  </a:moveTo>
                  <a:lnTo>
                    <a:pt x="411480" y="0"/>
                  </a:lnTo>
                  <a:lnTo>
                    <a:pt x="411480" y="2916936"/>
                  </a:lnTo>
                  <a:lnTo>
                    <a:pt x="813816" y="2916936"/>
                  </a:lnTo>
                </a:path>
              </a:pathLst>
            </a:custGeom>
            <a:noFill/>
            <a:ln w="32004" cap="flat" cmpd="sng" algn="ctr">
              <a:solidFill>
                <a:srgbClr val="96c5e8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Open arrowhead"/>
            <p:cNvSpPr/>
            <p:nvPr/>
          </p:nvSpPr>
          <p:spPr>
            <a:xfrm>
              <a:off x="11823192" y="4894235"/>
              <a:ext cx="118872" cy="123627"/>
            </a:xfrm>
            <a:custGeom>
              <a:avLst/>
              <a:gdLst/>
              <a:ahLst/>
              <a:cxnLst/>
              <a:rect l="0" t="0" r="r" b="b"/>
              <a:pathLst>
                <a:path w="118872" h="123627">
                  <a:moveTo>
                    <a:pt x="0" y="123627"/>
                  </a:moveTo>
                  <a:lnTo>
                    <a:pt x="118872" y="61813"/>
                  </a:lnTo>
                  <a:lnTo>
                    <a:pt x="0" y="0"/>
                  </a:lnTo>
                </a:path>
              </a:pathLst>
            </a:custGeom>
            <a:noFill/>
            <a:ln w="32004" cap="flat" cmpd="sng" algn="ctr">
              <a:solidFill>
                <a:srgbClr val="96c5e8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3 Tag Logic Integration"/>
          <p:cNvGrpSpPr/>
          <p:nvPr/>
        </p:nvGrpSpPr>
        <p:grpSpPr>
          <a:xfrm>
            <a:off x="11969496" y="512064"/>
            <a:ext cx="5299326" cy="6572433"/>
            <a:chOff x="11969496" y="512064"/>
            <a:chExt cx="5299326" cy="6572433"/>
          </a:xfrm>
        </p:grpSpPr>
        <p:grpSp>
          <p:nvGrpSpPr>
            <p:cNvPr id="216" name="User icon"/>
            <p:cNvGrpSpPr/>
            <p:nvPr/>
          </p:nvGrpSpPr>
          <p:grpSpPr>
            <a:xfrm>
              <a:off x="12170664" y="1522476"/>
              <a:ext cx="402336" cy="425196"/>
              <a:chOff x="12170664" y="1522476"/>
              <a:chExt cx="402336" cy="425196"/>
            </a:xfrm>
          </p:grpSpPr>
          <p:sp>
            <p:nvSpPr>
              <p:cNvPr id="217" name="Ellipse"/>
              <p:cNvSpPr/>
              <p:nvPr/>
            </p:nvSpPr>
            <p:spPr>
              <a:xfrm>
                <a:off x="12266676" y="1522476"/>
                <a:ext cx="210312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210312" h="210312">
                    <a:moveTo>
                      <a:pt x="210312" y="105156"/>
                    </a:moveTo>
                    <a:cubicBezTo>
                      <a:pt x="210312" y="163232"/>
                      <a:pt x="163232" y="210312"/>
                      <a:pt x="105156" y="210312"/>
                    </a:cubicBezTo>
                    <a:cubicBezTo>
                      <a:pt x="47080" y="210312"/>
                      <a:pt x="0" y="163232"/>
                      <a:pt x="0" y="105156"/>
                    </a:cubicBezTo>
                    <a:cubicBezTo>
                      <a:pt x="0" y="47080"/>
                      <a:pt x="47080" y="0"/>
                      <a:pt x="105156" y="0"/>
                    </a:cubicBezTo>
                    <a:cubicBezTo>
                      <a:pt x="163232" y="0"/>
                      <a:pt x="210312" y="47080"/>
                      <a:pt x="210312" y="105156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Path"/>
              <p:cNvSpPr/>
              <p:nvPr/>
            </p:nvSpPr>
            <p:spPr>
              <a:xfrm>
                <a:off x="12262104" y="1563624"/>
                <a:ext cx="228600" cy="64008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64008">
                    <a:moveTo>
                      <a:pt x="0" y="54864"/>
                    </a:moveTo>
                    <a:cubicBezTo>
                      <a:pt x="64008" y="64008"/>
                      <a:pt x="100584" y="27432"/>
                      <a:pt x="146304" y="0"/>
                    </a:cubicBezTo>
                    <a:cubicBezTo>
                      <a:pt x="182880" y="18288"/>
                      <a:pt x="192024" y="54864"/>
                      <a:pt x="228600" y="64008"/>
                    </a:cubicBezTo>
                  </a:path>
                </a:pathLst>
              </a:custGeom>
              <a:noFill/>
              <a:ln w="13716" cap="flat" cmpd="sng" algn="ctr">
                <a:solidFill>
                  <a:srgbClr val="ffffff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Path"/>
              <p:cNvSpPr/>
              <p:nvPr/>
            </p:nvSpPr>
            <p:spPr>
              <a:xfrm>
                <a:off x="12170664" y="1728216"/>
                <a:ext cx="402336" cy="219456"/>
              </a:xfrm>
              <a:custGeom>
                <a:avLst/>
                <a:gdLst/>
                <a:ahLst/>
                <a:cxnLst/>
                <a:rect l="0" t="0" r="r" b="b"/>
                <a:pathLst>
                  <a:path w="402336" h="219456">
                    <a:moveTo>
                      <a:pt x="0" y="219456"/>
                    </a:moveTo>
                    <a:lnTo>
                      <a:pt x="0" y="109728"/>
                    </a:lnTo>
                    <a:cubicBezTo>
                      <a:pt x="9144" y="0"/>
                      <a:pt x="384048" y="0"/>
                      <a:pt x="402336" y="109728"/>
                    </a:cubicBezTo>
                    <a:lnTo>
                      <a:pt x="402336" y="219456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20" name="user"/>
            <p:cNvSpPr txBox="1"/>
            <p:nvPr/>
          </p:nvSpPr>
          <p:spPr>
            <a:xfrm>
              <a:off x="12175315" y="1968429"/>
              <a:ext cx="457043" cy="37033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0" i="0" lang="en-US">
                  <a:solidFill>
                    <a:srgbClr val="000000"/>
                  </a:solidFill>
                  <a:latin typeface="Liberation Serif"/>
                </a:rPr>
                <a:t>user</a:t>
              </a:r>
            </a:p>
          </p:txBody>
        </p:sp>
        <p:sp>
          <p:nvSpPr>
            <p:cNvPr id="221" name="Items bracket"/>
            <p:cNvSpPr/>
            <p:nvPr/>
          </p:nvSpPr>
          <p:spPr>
            <a:xfrm>
              <a:off x="12719304" y="877824"/>
              <a:ext cx="210312" cy="1883664"/>
            </a:xfrm>
            <a:custGeom>
              <a:avLst/>
              <a:gdLst/>
              <a:ahLst/>
              <a:cxnLst/>
              <a:rect l="0" t="0" r="r" b="b"/>
              <a:pathLst>
                <a:path w="210312" h="1883664">
                  <a:moveTo>
                    <a:pt x="210312" y="0"/>
                  </a:moveTo>
                  <a:cubicBezTo>
                    <a:pt x="137160" y="0"/>
                    <a:pt x="100584" y="0"/>
                    <a:pt x="100584" y="36576"/>
                  </a:cubicBezTo>
                  <a:lnTo>
                    <a:pt x="100584" y="877824"/>
                  </a:lnTo>
                  <a:cubicBezTo>
                    <a:pt x="100584" y="941832"/>
                    <a:pt x="82296" y="941832"/>
                    <a:pt x="0" y="941832"/>
                  </a:cubicBezTo>
                  <a:cubicBezTo>
                    <a:pt x="82296" y="941832"/>
                    <a:pt x="100584" y="941832"/>
                    <a:pt x="100584" y="996696"/>
                  </a:cubicBezTo>
                  <a:lnTo>
                    <a:pt x="100584" y="1847088"/>
                  </a:lnTo>
                  <a:cubicBezTo>
                    <a:pt x="100584" y="1883664"/>
                    <a:pt x="137160" y="1883664"/>
                    <a:pt x="210312" y="1883664"/>
                  </a:cubicBezTo>
                </a:path>
              </a:pathLst>
            </a:custGeom>
            <a:noFill/>
            <a:ln w="32004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22" name="Camera item icon"/>
            <p:cNvGrpSpPr/>
            <p:nvPr/>
          </p:nvGrpSpPr>
          <p:grpSpPr>
            <a:xfrm>
              <a:off x="13158216" y="668061"/>
              <a:ext cx="461498" cy="348478"/>
              <a:chOff x="13158216" y="668061"/>
              <a:chExt cx="461498" cy="348478"/>
            </a:xfrm>
          </p:grpSpPr>
          <p:sp>
            <p:nvSpPr>
              <p:cNvPr id="223" name="Path"/>
              <p:cNvSpPr/>
              <p:nvPr/>
            </p:nvSpPr>
            <p:spPr>
              <a:xfrm>
                <a:off x="13158216" y="668061"/>
                <a:ext cx="461498" cy="348478"/>
              </a:xfrm>
              <a:custGeom>
                <a:avLst/>
                <a:gdLst/>
                <a:ahLst/>
                <a:cxnLst/>
                <a:rect l="0" t="0" r="r" b="b"/>
                <a:pathLst>
                  <a:path w="461498" h="348478">
                    <a:moveTo>
                      <a:pt x="0" y="65928"/>
                    </a:moveTo>
                    <a:lnTo>
                      <a:pt x="122438" y="65928"/>
                    </a:lnTo>
                    <a:lnTo>
                      <a:pt x="178948" y="0"/>
                    </a:lnTo>
                    <a:lnTo>
                      <a:pt x="282550" y="0"/>
                    </a:lnTo>
                    <a:lnTo>
                      <a:pt x="339060" y="65928"/>
                    </a:lnTo>
                    <a:lnTo>
                      <a:pt x="461498" y="65928"/>
                    </a:lnTo>
                    <a:lnTo>
                      <a:pt x="461498" y="348478"/>
                    </a:lnTo>
                    <a:lnTo>
                      <a:pt x="0" y="348478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Rectangle"/>
              <p:cNvSpPr/>
              <p:nvPr/>
            </p:nvSpPr>
            <p:spPr>
              <a:xfrm>
                <a:off x="13195889" y="781080"/>
                <a:ext cx="84765" cy="37673"/>
              </a:xfrm>
              <a:custGeom>
                <a:avLst/>
                <a:gdLst/>
                <a:ahLst/>
                <a:cxnLst/>
                <a:rect l="0" t="0" r="r" b="b"/>
                <a:pathLst>
                  <a:path w="84765" h="37673">
                    <a:moveTo>
                      <a:pt x="0" y="0"/>
                    </a:moveTo>
                    <a:lnTo>
                      <a:pt x="84765" y="0"/>
                    </a:lnTo>
                    <a:lnTo>
                      <a:pt x="84765" y="37673"/>
                    </a:lnTo>
                    <a:lnTo>
                      <a:pt x="0" y="37673"/>
                    </a:ln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Ellipse"/>
              <p:cNvSpPr/>
              <p:nvPr/>
            </p:nvSpPr>
            <p:spPr>
              <a:xfrm>
                <a:off x="13290072" y="771662"/>
                <a:ext cx="207203" cy="207203"/>
              </a:xfrm>
              <a:custGeom>
                <a:avLst/>
                <a:gdLst/>
                <a:ahLst/>
                <a:cxnLst/>
                <a:rect l="0" t="0" r="r" b="b"/>
                <a:pathLst>
                  <a:path w="207203" h="207203">
                    <a:moveTo>
                      <a:pt x="207203" y="103602"/>
                    </a:moveTo>
                    <a:cubicBezTo>
                      <a:pt x="207203" y="160819"/>
                      <a:pt x="160819" y="207203"/>
                      <a:pt x="103602" y="207203"/>
                    </a:cubicBezTo>
                    <a:cubicBezTo>
                      <a:pt x="46384" y="207203"/>
                      <a:pt x="0" y="160819"/>
                      <a:pt x="0" y="103602"/>
                    </a:cubicBezTo>
                    <a:cubicBezTo>
                      <a:pt x="0" y="46384"/>
                      <a:pt x="46384" y="0"/>
                      <a:pt x="103602" y="0"/>
                    </a:cubicBezTo>
                    <a:cubicBezTo>
                      <a:pt x="160819" y="0"/>
                      <a:pt x="207203" y="46384"/>
                      <a:pt x="207203" y="1036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Ellipse"/>
              <p:cNvSpPr/>
              <p:nvPr/>
            </p:nvSpPr>
            <p:spPr>
              <a:xfrm>
                <a:off x="13318327" y="799917"/>
                <a:ext cx="150693" cy="150693"/>
              </a:xfrm>
              <a:custGeom>
                <a:avLst/>
                <a:gdLst/>
                <a:ahLst/>
                <a:cxnLst/>
                <a:rect l="0" t="0" r="r" b="b"/>
                <a:pathLst>
                  <a:path w="150693" h="150693">
                    <a:moveTo>
                      <a:pt x="150693" y="75347"/>
                    </a:moveTo>
                    <a:cubicBezTo>
                      <a:pt x="150693" y="116959"/>
                      <a:pt x="116959" y="150693"/>
                      <a:pt x="75347" y="150693"/>
                    </a:cubicBezTo>
                    <a:cubicBezTo>
                      <a:pt x="33734" y="150693"/>
                      <a:pt x="0" y="116959"/>
                      <a:pt x="0" y="75347"/>
                    </a:cubicBezTo>
                    <a:cubicBezTo>
                      <a:pt x="0" y="33734"/>
                      <a:pt x="33734" y="0"/>
                      <a:pt x="75347" y="0"/>
                    </a:cubicBezTo>
                    <a:cubicBezTo>
                      <a:pt x="116959" y="0"/>
                      <a:pt x="150693" y="33734"/>
                      <a:pt x="150693" y="7534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Ellipse"/>
              <p:cNvSpPr/>
              <p:nvPr/>
            </p:nvSpPr>
            <p:spPr>
              <a:xfrm>
                <a:off x="13337164" y="818754"/>
                <a:ext cx="113020" cy="113020"/>
              </a:xfrm>
              <a:custGeom>
                <a:avLst/>
                <a:gdLst/>
                <a:ahLst/>
                <a:cxnLst/>
                <a:rect l="0" t="0" r="r" b="b"/>
                <a:pathLst>
                  <a:path w="113020" h="113020">
                    <a:moveTo>
                      <a:pt x="113020" y="56510"/>
                    </a:moveTo>
                    <a:cubicBezTo>
                      <a:pt x="113020" y="87719"/>
                      <a:pt x="87719" y="113020"/>
                      <a:pt x="56510" y="113020"/>
                    </a:cubicBezTo>
                    <a:cubicBezTo>
                      <a:pt x="25300" y="113020"/>
                      <a:pt x="0" y="87719"/>
                      <a:pt x="0" y="56510"/>
                    </a:cubicBezTo>
                    <a:cubicBezTo>
                      <a:pt x="0" y="25300"/>
                      <a:pt x="25300" y="0"/>
                      <a:pt x="56510" y="0"/>
                    </a:cubicBezTo>
                    <a:cubicBezTo>
                      <a:pt x="87719" y="0"/>
                      <a:pt x="113020" y="25300"/>
                      <a:pt x="113020" y="5651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Ellipse"/>
              <p:cNvSpPr/>
              <p:nvPr/>
            </p:nvSpPr>
            <p:spPr>
              <a:xfrm>
                <a:off x="13351292" y="832881"/>
                <a:ext cx="84765" cy="84765"/>
              </a:xfrm>
              <a:custGeom>
                <a:avLst/>
                <a:gdLst/>
                <a:ahLst/>
                <a:cxnLst/>
                <a:rect l="0" t="0" r="r" b="b"/>
                <a:pathLst>
                  <a:path w="84765" h="84765">
                    <a:moveTo>
                      <a:pt x="84765" y="42382"/>
                    </a:moveTo>
                    <a:cubicBezTo>
                      <a:pt x="84765" y="65790"/>
                      <a:pt x="65790" y="84765"/>
                      <a:pt x="42382" y="84765"/>
                    </a:cubicBezTo>
                    <a:cubicBezTo>
                      <a:pt x="18975" y="84765"/>
                      <a:pt x="0" y="65790"/>
                      <a:pt x="0" y="42382"/>
                    </a:cubicBezTo>
                    <a:cubicBezTo>
                      <a:pt x="0" y="18975"/>
                      <a:pt x="18975" y="0"/>
                      <a:pt x="42382" y="0"/>
                    </a:cubicBezTo>
                    <a:cubicBezTo>
                      <a:pt x="65790" y="0"/>
                      <a:pt x="84765" y="18975"/>
                      <a:pt x="84765" y="4238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29" name="Item 1"/>
            <p:cNvGrpSpPr/>
            <p:nvPr/>
          </p:nvGrpSpPr>
          <p:grpSpPr>
            <a:xfrm>
              <a:off x="13378022" y="999073"/>
              <a:ext cx="191324" cy="371286"/>
              <a:chOff x="13378022" y="999073"/>
              <a:chExt cx="191324" cy="371286"/>
            </a:xfrm>
          </p:grpSpPr>
          <p:sp>
            <p:nvSpPr>
              <p:cNvPr id="230" name="i"/>
              <p:cNvSpPr txBox="1"/>
              <p:nvPr/>
            </p:nvSpPr>
            <p:spPr>
              <a:xfrm>
                <a:off x="13378022" y="999073"/>
                <a:ext cx="111771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1" lang="en-US">
                    <a:solidFill>
                      <a:srgbClr val="000000"/>
                    </a:solidFill>
                    <a:latin typeface="Liberation Serif"/>
                  </a:rPr>
                  <a:t>i</a:t>
                </a:r>
              </a:p>
            </p:txBody>
          </p:sp>
          <p:sp>
            <p:nvSpPr>
              <p:cNvPr id="231" name="1"/>
              <p:cNvSpPr txBox="1"/>
              <p:nvPr/>
            </p:nvSpPr>
            <p:spPr>
              <a:xfrm>
                <a:off x="13444073" y="1131426"/>
                <a:ext cx="125273" cy="238933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54" b="0" i="0" lang="en-US">
                    <a:solidFill>
                      <a:srgbClr val="000000"/>
                    </a:solidFill>
                    <a:latin typeface="Liberation Serif"/>
                  </a:rPr>
                  <a:t>1</a:t>
                </a:r>
              </a:p>
            </p:txBody>
          </p:sp>
        </p:grpSp>
        <p:grpSp>
          <p:nvGrpSpPr>
            <p:cNvPr id="232" name="Video item icon"/>
            <p:cNvGrpSpPr/>
            <p:nvPr/>
          </p:nvGrpSpPr>
          <p:grpSpPr>
            <a:xfrm>
              <a:off x="13176504" y="1335024"/>
              <a:ext cx="512978" cy="410382"/>
              <a:chOff x="13176504" y="1335024"/>
              <a:chExt cx="512978" cy="410382"/>
            </a:xfrm>
          </p:grpSpPr>
          <p:sp>
            <p:nvSpPr>
              <p:cNvPr id="233" name="Rectangle"/>
              <p:cNvSpPr/>
              <p:nvPr/>
            </p:nvSpPr>
            <p:spPr>
              <a:xfrm>
                <a:off x="13213812" y="1530888"/>
                <a:ext cx="317114" cy="214518"/>
              </a:xfrm>
              <a:custGeom>
                <a:avLst/>
                <a:gdLst/>
                <a:ahLst/>
                <a:cxnLst/>
                <a:rect l="0" t="0" r="r" b="b"/>
                <a:pathLst>
                  <a:path w="317114" h="214518">
                    <a:moveTo>
                      <a:pt x="18654" y="0"/>
                    </a:moveTo>
                    <a:lnTo>
                      <a:pt x="298460" y="0"/>
                    </a:lnTo>
                    <a:cubicBezTo>
                      <a:pt x="308762" y="0"/>
                      <a:pt x="317114" y="8352"/>
                      <a:pt x="317114" y="18654"/>
                    </a:cubicBezTo>
                    <a:lnTo>
                      <a:pt x="317114" y="195864"/>
                    </a:lnTo>
                    <a:cubicBezTo>
                      <a:pt x="317114" y="206167"/>
                      <a:pt x="308762" y="214518"/>
                      <a:pt x="298460" y="214518"/>
                    </a:cubicBezTo>
                    <a:lnTo>
                      <a:pt x="18654" y="214518"/>
                    </a:lnTo>
                    <a:cubicBezTo>
                      <a:pt x="8352" y="214518"/>
                      <a:pt x="0" y="206167"/>
                      <a:pt x="0" y="195864"/>
                    </a:cubicBezTo>
                    <a:lnTo>
                      <a:pt x="0" y="18654"/>
                    </a:lnTo>
                    <a:cubicBezTo>
                      <a:pt x="0" y="8352"/>
                      <a:pt x="8352" y="0"/>
                      <a:pt x="1865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Path"/>
              <p:cNvSpPr/>
              <p:nvPr/>
            </p:nvSpPr>
            <p:spPr>
              <a:xfrm>
                <a:off x="13549579" y="1521562"/>
                <a:ext cx="139903" cy="214518"/>
              </a:xfrm>
              <a:custGeom>
                <a:avLst/>
                <a:gdLst/>
                <a:ahLst/>
                <a:cxnLst/>
                <a:rect l="0" t="0" r="r" b="b"/>
                <a:pathLst>
                  <a:path w="139903" h="214518">
                    <a:moveTo>
                      <a:pt x="0" y="46634"/>
                    </a:moveTo>
                    <a:lnTo>
                      <a:pt x="83942" y="0"/>
                    </a:lnTo>
                    <a:lnTo>
                      <a:pt x="139903" y="0"/>
                    </a:lnTo>
                    <a:lnTo>
                      <a:pt x="139903" y="214518"/>
                    </a:lnTo>
                    <a:lnTo>
                      <a:pt x="83942" y="214518"/>
                    </a:lnTo>
                    <a:lnTo>
                      <a:pt x="0" y="167884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Rectangle"/>
              <p:cNvSpPr/>
              <p:nvPr/>
            </p:nvSpPr>
            <p:spPr>
              <a:xfrm>
                <a:off x="13176504" y="1568196"/>
                <a:ext cx="46634" cy="55961"/>
              </a:xfrm>
              <a:custGeom>
                <a:avLst/>
                <a:gdLst/>
                <a:ahLst/>
                <a:cxnLst/>
                <a:rect l="0" t="0" r="r" b="b"/>
                <a:pathLst>
                  <a:path w="46634" h="55961">
                    <a:moveTo>
                      <a:pt x="0" y="0"/>
                    </a:moveTo>
                    <a:lnTo>
                      <a:pt x="46634" y="0"/>
                    </a:lnTo>
                    <a:lnTo>
                      <a:pt x="46634" y="55961"/>
                    </a:lnTo>
                    <a:lnTo>
                      <a:pt x="0" y="55961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Ellipse"/>
              <p:cNvSpPr/>
              <p:nvPr/>
            </p:nvSpPr>
            <p:spPr>
              <a:xfrm>
                <a:off x="13185831" y="1363005"/>
                <a:ext cx="223845" cy="223845"/>
              </a:xfrm>
              <a:custGeom>
                <a:avLst/>
                <a:gdLst/>
                <a:ahLst/>
                <a:cxnLst/>
                <a:rect l="0" t="0" r="r" b="b"/>
                <a:pathLst>
                  <a:path w="223845" h="223845">
                    <a:moveTo>
                      <a:pt x="223845" y="111923"/>
                    </a:moveTo>
                    <a:cubicBezTo>
                      <a:pt x="223845" y="173736"/>
                      <a:pt x="173736" y="223845"/>
                      <a:pt x="111923" y="223845"/>
                    </a:cubicBezTo>
                    <a:cubicBezTo>
                      <a:pt x="50109" y="223845"/>
                      <a:pt x="0" y="173736"/>
                      <a:pt x="0" y="111923"/>
                    </a:cubicBezTo>
                    <a:cubicBezTo>
                      <a:pt x="0" y="50109"/>
                      <a:pt x="50109" y="0"/>
                      <a:pt x="111923" y="0"/>
                    </a:cubicBezTo>
                    <a:cubicBezTo>
                      <a:pt x="173736" y="0"/>
                      <a:pt x="223845" y="50109"/>
                      <a:pt x="223845" y="1119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Ellipse"/>
              <p:cNvSpPr/>
              <p:nvPr/>
            </p:nvSpPr>
            <p:spPr>
              <a:xfrm>
                <a:off x="13213812" y="1390985"/>
                <a:ext cx="167884" cy="167884"/>
              </a:xfrm>
              <a:custGeom>
                <a:avLst/>
                <a:gdLst/>
                <a:ahLst/>
                <a:cxnLst/>
                <a:rect l="0" t="0" r="r" b="b"/>
                <a:pathLst>
                  <a:path w="167884" h="167884">
                    <a:moveTo>
                      <a:pt x="167884" y="83942"/>
                    </a:moveTo>
                    <a:cubicBezTo>
                      <a:pt x="167884" y="130302"/>
                      <a:pt x="130302" y="167884"/>
                      <a:pt x="83942" y="167884"/>
                    </a:cubicBezTo>
                    <a:cubicBezTo>
                      <a:pt x="37582" y="167884"/>
                      <a:pt x="0" y="130302"/>
                      <a:pt x="0" y="83942"/>
                    </a:cubicBezTo>
                    <a:cubicBezTo>
                      <a:pt x="0" y="37582"/>
                      <a:pt x="37582" y="0"/>
                      <a:pt x="83942" y="0"/>
                    </a:cubicBezTo>
                    <a:cubicBezTo>
                      <a:pt x="130302" y="0"/>
                      <a:pt x="167884" y="37582"/>
                      <a:pt x="167884" y="839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Ellipse"/>
              <p:cNvSpPr/>
              <p:nvPr/>
            </p:nvSpPr>
            <p:spPr>
              <a:xfrm>
                <a:off x="13279100" y="1456273"/>
                <a:ext cx="37308" cy="37308"/>
              </a:xfrm>
              <a:custGeom>
                <a:avLst/>
                <a:gdLst/>
                <a:ahLst/>
                <a:cxnLst/>
                <a:rect l="0" t="0" r="r" b="b"/>
                <a:pathLst>
                  <a:path w="37308" h="37308">
                    <a:moveTo>
                      <a:pt x="37308" y="18654"/>
                    </a:moveTo>
                    <a:cubicBezTo>
                      <a:pt x="37308" y="28956"/>
                      <a:pt x="28956" y="37308"/>
                      <a:pt x="18654" y="37308"/>
                    </a:cubicBezTo>
                    <a:cubicBezTo>
                      <a:pt x="8352" y="37308"/>
                      <a:pt x="0" y="28956"/>
                      <a:pt x="0" y="18654"/>
                    </a:cubicBezTo>
                    <a:cubicBezTo>
                      <a:pt x="0" y="8352"/>
                      <a:pt x="8352" y="0"/>
                      <a:pt x="18654" y="0"/>
                    </a:cubicBezTo>
                    <a:cubicBezTo>
                      <a:pt x="28956" y="0"/>
                      <a:pt x="37308" y="8352"/>
                      <a:pt x="37308" y="186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Ellipse"/>
              <p:cNvSpPr/>
              <p:nvPr/>
            </p:nvSpPr>
            <p:spPr>
              <a:xfrm>
                <a:off x="13323869" y="1456273"/>
                <a:ext cx="37308" cy="37308"/>
              </a:xfrm>
              <a:custGeom>
                <a:avLst/>
                <a:gdLst/>
                <a:ahLst/>
                <a:cxnLst/>
                <a:rect l="0" t="0" r="r" b="b"/>
                <a:pathLst>
                  <a:path w="37308" h="37308">
                    <a:moveTo>
                      <a:pt x="37308" y="18654"/>
                    </a:moveTo>
                    <a:cubicBezTo>
                      <a:pt x="37308" y="28956"/>
                      <a:pt x="28956" y="37308"/>
                      <a:pt x="18654" y="37308"/>
                    </a:cubicBezTo>
                    <a:cubicBezTo>
                      <a:pt x="8352" y="37308"/>
                      <a:pt x="0" y="28956"/>
                      <a:pt x="0" y="18654"/>
                    </a:cubicBezTo>
                    <a:cubicBezTo>
                      <a:pt x="0" y="8352"/>
                      <a:pt x="8352" y="0"/>
                      <a:pt x="18654" y="0"/>
                    </a:cubicBezTo>
                    <a:cubicBezTo>
                      <a:pt x="28956" y="0"/>
                      <a:pt x="37308" y="8352"/>
                      <a:pt x="37308" y="186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Ellipse"/>
              <p:cNvSpPr/>
              <p:nvPr/>
            </p:nvSpPr>
            <p:spPr>
              <a:xfrm>
                <a:off x="13256730" y="1495053"/>
                <a:ext cx="37308" cy="37308"/>
              </a:xfrm>
              <a:custGeom>
                <a:avLst/>
                <a:gdLst/>
                <a:ahLst/>
                <a:cxnLst/>
                <a:rect l="0" t="0" r="r" b="b"/>
                <a:pathLst>
                  <a:path w="37308" h="37308">
                    <a:moveTo>
                      <a:pt x="37308" y="18654"/>
                    </a:moveTo>
                    <a:cubicBezTo>
                      <a:pt x="37308" y="28956"/>
                      <a:pt x="28956" y="37308"/>
                      <a:pt x="18654" y="37308"/>
                    </a:cubicBezTo>
                    <a:cubicBezTo>
                      <a:pt x="8352" y="37308"/>
                      <a:pt x="0" y="28956"/>
                      <a:pt x="0" y="18654"/>
                    </a:cubicBezTo>
                    <a:cubicBezTo>
                      <a:pt x="0" y="8352"/>
                      <a:pt x="8352" y="0"/>
                      <a:pt x="18654" y="0"/>
                    </a:cubicBezTo>
                    <a:cubicBezTo>
                      <a:pt x="28956" y="0"/>
                      <a:pt x="37308" y="8352"/>
                      <a:pt x="37308" y="186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Ellipse"/>
              <p:cNvSpPr/>
              <p:nvPr/>
            </p:nvSpPr>
            <p:spPr>
              <a:xfrm>
                <a:off x="13256723" y="1417498"/>
                <a:ext cx="37308" cy="37308"/>
              </a:xfrm>
              <a:custGeom>
                <a:avLst/>
                <a:gdLst/>
                <a:ahLst/>
                <a:cxnLst/>
                <a:rect l="0" t="0" r="r" b="b"/>
                <a:pathLst>
                  <a:path w="37308" h="37308">
                    <a:moveTo>
                      <a:pt x="37308" y="18654"/>
                    </a:moveTo>
                    <a:cubicBezTo>
                      <a:pt x="37308" y="28956"/>
                      <a:pt x="28956" y="37308"/>
                      <a:pt x="18654" y="37308"/>
                    </a:cubicBezTo>
                    <a:cubicBezTo>
                      <a:pt x="8352" y="37308"/>
                      <a:pt x="0" y="28956"/>
                      <a:pt x="0" y="18654"/>
                    </a:cubicBezTo>
                    <a:cubicBezTo>
                      <a:pt x="0" y="8352"/>
                      <a:pt x="8352" y="0"/>
                      <a:pt x="18654" y="0"/>
                    </a:cubicBezTo>
                    <a:cubicBezTo>
                      <a:pt x="28956" y="0"/>
                      <a:pt x="37308" y="8352"/>
                      <a:pt x="37308" y="186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Ellipse"/>
              <p:cNvSpPr/>
              <p:nvPr/>
            </p:nvSpPr>
            <p:spPr>
              <a:xfrm>
                <a:off x="13372368" y="1335024"/>
                <a:ext cx="223845" cy="223845"/>
              </a:xfrm>
              <a:custGeom>
                <a:avLst/>
                <a:gdLst/>
                <a:ahLst/>
                <a:cxnLst/>
                <a:rect l="0" t="0" r="r" b="b"/>
                <a:pathLst>
                  <a:path w="223845" h="223845">
                    <a:moveTo>
                      <a:pt x="223845" y="111923"/>
                    </a:moveTo>
                    <a:cubicBezTo>
                      <a:pt x="223845" y="173736"/>
                      <a:pt x="173736" y="223845"/>
                      <a:pt x="111923" y="223845"/>
                    </a:cubicBezTo>
                    <a:cubicBezTo>
                      <a:pt x="50109" y="223845"/>
                      <a:pt x="0" y="173736"/>
                      <a:pt x="0" y="111923"/>
                    </a:cubicBezTo>
                    <a:cubicBezTo>
                      <a:pt x="0" y="50109"/>
                      <a:pt x="50109" y="0"/>
                      <a:pt x="111923" y="0"/>
                    </a:cubicBezTo>
                    <a:cubicBezTo>
                      <a:pt x="173736" y="0"/>
                      <a:pt x="223845" y="50109"/>
                      <a:pt x="223845" y="11192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Ellipse"/>
              <p:cNvSpPr/>
              <p:nvPr/>
            </p:nvSpPr>
            <p:spPr>
              <a:xfrm>
                <a:off x="13400349" y="1363005"/>
                <a:ext cx="167884" cy="167884"/>
              </a:xfrm>
              <a:custGeom>
                <a:avLst/>
                <a:gdLst/>
                <a:ahLst/>
                <a:cxnLst/>
                <a:rect l="0" t="0" r="r" b="b"/>
                <a:pathLst>
                  <a:path w="167884" h="167884">
                    <a:moveTo>
                      <a:pt x="167884" y="83942"/>
                    </a:moveTo>
                    <a:cubicBezTo>
                      <a:pt x="167884" y="130302"/>
                      <a:pt x="130302" y="167884"/>
                      <a:pt x="83942" y="167884"/>
                    </a:cubicBezTo>
                    <a:cubicBezTo>
                      <a:pt x="37582" y="167884"/>
                      <a:pt x="0" y="130302"/>
                      <a:pt x="0" y="83942"/>
                    </a:cubicBezTo>
                    <a:cubicBezTo>
                      <a:pt x="0" y="37582"/>
                      <a:pt x="37582" y="0"/>
                      <a:pt x="83942" y="0"/>
                    </a:cubicBezTo>
                    <a:cubicBezTo>
                      <a:pt x="130302" y="0"/>
                      <a:pt x="167884" y="37582"/>
                      <a:pt x="167884" y="8394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Ellipse"/>
              <p:cNvSpPr/>
              <p:nvPr/>
            </p:nvSpPr>
            <p:spPr>
              <a:xfrm>
                <a:off x="13465637" y="1428293"/>
                <a:ext cx="37308" cy="37308"/>
              </a:xfrm>
              <a:custGeom>
                <a:avLst/>
                <a:gdLst/>
                <a:ahLst/>
                <a:cxnLst/>
                <a:rect l="0" t="0" r="r" b="b"/>
                <a:pathLst>
                  <a:path w="37308" h="37308">
                    <a:moveTo>
                      <a:pt x="37308" y="18654"/>
                    </a:moveTo>
                    <a:cubicBezTo>
                      <a:pt x="37308" y="28956"/>
                      <a:pt x="28956" y="37308"/>
                      <a:pt x="18654" y="37308"/>
                    </a:cubicBezTo>
                    <a:cubicBezTo>
                      <a:pt x="8352" y="37308"/>
                      <a:pt x="0" y="28956"/>
                      <a:pt x="0" y="18654"/>
                    </a:cubicBezTo>
                    <a:cubicBezTo>
                      <a:pt x="0" y="8352"/>
                      <a:pt x="8352" y="0"/>
                      <a:pt x="18654" y="0"/>
                    </a:cubicBezTo>
                    <a:cubicBezTo>
                      <a:pt x="28956" y="0"/>
                      <a:pt x="37308" y="8352"/>
                      <a:pt x="37308" y="186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Ellipse"/>
              <p:cNvSpPr/>
              <p:nvPr/>
            </p:nvSpPr>
            <p:spPr>
              <a:xfrm>
                <a:off x="13510406" y="1428293"/>
                <a:ext cx="37308" cy="37308"/>
              </a:xfrm>
              <a:custGeom>
                <a:avLst/>
                <a:gdLst/>
                <a:ahLst/>
                <a:cxnLst/>
                <a:rect l="0" t="0" r="r" b="b"/>
                <a:pathLst>
                  <a:path w="37308" h="37308">
                    <a:moveTo>
                      <a:pt x="37308" y="18654"/>
                    </a:moveTo>
                    <a:cubicBezTo>
                      <a:pt x="37308" y="28956"/>
                      <a:pt x="28956" y="37308"/>
                      <a:pt x="18654" y="37308"/>
                    </a:cubicBezTo>
                    <a:cubicBezTo>
                      <a:pt x="8352" y="37308"/>
                      <a:pt x="0" y="28956"/>
                      <a:pt x="0" y="18654"/>
                    </a:cubicBezTo>
                    <a:cubicBezTo>
                      <a:pt x="0" y="8352"/>
                      <a:pt x="8352" y="0"/>
                      <a:pt x="18654" y="0"/>
                    </a:cubicBezTo>
                    <a:cubicBezTo>
                      <a:pt x="28956" y="0"/>
                      <a:pt x="37308" y="8352"/>
                      <a:pt x="37308" y="186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Ellipse"/>
              <p:cNvSpPr/>
              <p:nvPr/>
            </p:nvSpPr>
            <p:spPr>
              <a:xfrm>
                <a:off x="13443268" y="1467073"/>
                <a:ext cx="37308" cy="37308"/>
              </a:xfrm>
              <a:custGeom>
                <a:avLst/>
                <a:gdLst/>
                <a:ahLst/>
                <a:cxnLst/>
                <a:rect l="0" t="0" r="r" b="b"/>
                <a:pathLst>
                  <a:path w="37308" h="37308">
                    <a:moveTo>
                      <a:pt x="37308" y="18654"/>
                    </a:moveTo>
                    <a:cubicBezTo>
                      <a:pt x="37308" y="28956"/>
                      <a:pt x="28956" y="37308"/>
                      <a:pt x="18654" y="37308"/>
                    </a:cubicBezTo>
                    <a:cubicBezTo>
                      <a:pt x="8352" y="37308"/>
                      <a:pt x="0" y="28956"/>
                      <a:pt x="0" y="18654"/>
                    </a:cubicBezTo>
                    <a:cubicBezTo>
                      <a:pt x="0" y="8352"/>
                      <a:pt x="8352" y="0"/>
                      <a:pt x="18654" y="0"/>
                    </a:cubicBezTo>
                    <a:cubicBezTo>
                      <a:pt x="28956" y="0"/>
                      <a:pt x="37308" y="8352"/>
                      <a:pt x="37308" y="186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Ellipse"/>
              <p:cNvSpPr/>
              <p:nvPr/>
            </p:nvSpPr>
            <p:spPr>
              <a:xfrm>
                <a:off x="13443261" y="1389517"/>
                <a:ext cx="37308" cy="37308"/>
              </a:xfrm>
              <a:custGeom>
                <a:avLst/>
                <a:gdLst/>
                <a:ahLst/>
                <a:cxnLst/>
                <a:rect l="0" t="0" r="r" b="b"/>
                <a:pathLst>
                  <a:path w="37308" h="37308">
                    <a:moveTo>
                      <a:pt x="37308" y="18654"/>
                    </a:moveTo>
                    <a:cubicBezTo>
                      <a:pt x="37308" y="28956"/>
                      <a:pt x="28956" y="37308"/>
                      <a:pt x="18654" y="37308"/>
                    </a:cubicBezTo>
                    <a:cubicBezTo>
                      <a:pt x="8352" y="37308"/>
                      <a:pt x="0" y="28956"/>
                      <a:pt x="0" y="18654"/>
                    </a:cubicBezTo>
                    <a:cubicBezTo>
                      <a:pt x="0" y="8352"/>
                      <a:pt x="8352" y="0"/>
                      <a:pt x="18654" y="0"/>
                    </a:cubicBezTo>
                    <a:cubicBezTo>
                      <a:pt x="28956" y="0"/>
                      <a:pt x="37308" y="8352"/>
                      <a:pt x="37308" y="1865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Ellipse"/>
              <p:cNvSpPr/>
              <p:nvPr/>
            </p:nvSpPr>
            <p:spPr>
              <a:xfrm>
                <a:off x="13473099" y="1687580"/>
                <a:ext cx="22385" cy="22385"/>
              </a:xfrm>
              <a:custGeom>
                <a:avLst/>
                <a:gdLst/>
                <a:ahLst/>
                <a:cxnLst/>
                <a:rect l="0" t="0" r="r" b="b"/>
                <a:pathLst>
                  <a:path w="22385" h="22385">
                    <a:moveTo>
                      <a:pt x="22385" y="11192"/>
                    </a:moveTo>
                    <a:cubicBezTo>
                      <a:pt x="22385" y="17374"/>
                      <a:pt x="17374" y="22385"/>
                      <a:pt x="11192" y="22385"/>
                    </a:cubicBezTo>
                    <a:cubicBezTo>
                      <a:pt x="5011" y="22385"/>
                      <a:pt x="0" y="17374"/>
                      <a:pt x="0" y="11192"/>
                    </a:cubicBezTo>
                    <a:cubicBezTo>
                      <a:pt x="0" y="5011"/>
                      <a:pt x="5011" y="0"/>
                      <a:pt x="11192" y="0"/>
                    </a:cubicBezTo>
                    <a:cubicBezTo>
                      <a:pt x="17374" y="0"/>
                      <a:pt x="22385" y="5011"/>
                      <a:pt x="22385" y="1119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49" name="Item 2"/>
            <p:cNvGrpSpPr/>
            <p:nvPr/>
          </p:nvGrpSpPr>
          <p:grpSpPr>
            <a:xfrm>
              <a:off x="13378022" y="1739737"/>
              <a:ext cx="191324" cy="371286"/>
              <a:chOff x="13378022" y="1739737"/>
              <a:chExt cx="191324" cy="371286"/>
            </a:xfrm>
          </p:grpSpPr>
          <p:sp>
            <p:nvSpPr>
              <p:cNvPr id="250" name="i"/>
              <p:cNvSpPr txBox="1"/>
              <p:nvPr/>
            </p:nvSpPr>
            <p:spPr>
              <a:xfrm>
                <a:off x="13378022" y="1739737"/>
                <a:ext cx="111771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1" lang="en-US">
                    <a:solidFill>
                      <a:srgbClr val="000000"/>
                    </a:solidFill>
                    <a:latin typeface="Liberation Serif"/>
                  </a:rPr>
                  <a:t>i</a:t>
                </a:r>
              </a:p>
            </p:txBody>
          </p:sp>
          <p:sp>
            <p:nvSpPr>
              <p:cNvPr id="251" name="2"/>
              <p:cNvSpPr txBox="1"/>
              <p:nvPr/>
            </p:nvSpPr>
            <p:spPr>
              <a:xfrm>
                <a:off x="13444073" y="1872090"/>
                <a:ext cx="125273" cy="238933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54" b="0" i="0" lang="en-US">
                    <a:solidFill>
                      <a:srgbClr val="000000"/>
                    </a:solidFill>
                    <a:latin typeface="Liberation Serif"/>
                  </a:rPr>
                  <a:t>2</a:t>
                </a:r>
              </a:p>
            </p:txBody>
          </p:sp>
        </p:grpSp>
        <p:sp>
          <p:nvSpPr>
            <p:cNvPr id="252" name="…"/>
            <p:cNvSpPr txBox="1"/>
            <p:nvPr/>
          </p:nvSpPr>
          <p:spPr>
            <a:xfrm>
              <a:off x="13318236" y="2014515"/>
              <a:ext cx="329184" cy="425196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32" b="1" i="0" lang="en-US">
                  <a:solidFill>
                    <a:srgbClr val="000000"/>
                  </a:solidFill>
                  <a:latin typeface="Liberation Serif"/>
                </a:rPr>
                <a:t>…</a:t>
              </a:r>
            </a:p>
          </p:txBody>
        </p:sp>
        <p:grpSp>
          <p:nvGrpSpPr>
            <p:cNvPr id="253" name="Game item icon"/>
            <p:cNvGrpSpPr/>
            <p:nvPr/>
          </p:nvGrpSpPr>
          <p:grpSpPr>
            <a:xfrm>
              <a:off x="13139928" y="2496312"/>
              <a:ext cx="548640" cy="384048"/>
              <a:chOff x="13139928" y="2496312"/>
              <a:chExt cx="548640" cy="384048"/>
            </a:xfrm>
          </p:grpSpPr>
          <p:sp>
            <p:nvSpPr>
              <p:cNvPr id="254" name="Path"/>
              <p:cNvSpPr/>
              <p:nvPr/>
            </p:nvSpPr>
            <p:spPr>
              <a:xfrm>
                <a:off x="13139928" y="2496312"/>
                <a:ext cx="548640" cy="384048"/>
              </a:xfrm>
              <a:custGeom>
                <a:avLst/>
                <a:gdLst/>
                <a:ahLst/>
                <a:cxnLst/>
                <a:rect l="0" t="0" r="r" b="b"/>
                <a:pathLst>
                  <a:path w="548640" h="384048">
                    <a:moveTo>
                      <a:pt x="9144" y="283464"/>
                    </a:moveTo>
                    <a:cubicBezTo>
                      <a:pt x="0" y="210312"/>
                      <a:pt x="64008" y="0"/>
                      <a:pt x="146304" y="9144"/>
                    </a:cubicBezTo>
                    <a:cubicBezTo>
                      <a:pt x="182880" y="9144"/>
                      <a:pt x="192024" y="45720"/>
                      <a:pt x="274320" y="45720"/>
                    </a:cubicBezTo>
                    <a:cubicBezTo>
                      <a:pt x="356616" y="45720"/>
                      <a:pt x="374904" y="0"/>
                      <a:pt x="420624" y="9144"/>
                    </a:cubicBezTo>
                    <a:cubicBezTo>
                      <a:pt x="484632" y="9144"/>
                      <a:pt x="548640" y="228600"/>
                      <a:pt x="539496" y="283464"/>
                    </a:cubicBezTo>
                    <a:cubicBezTo>
                      <a:pt x="530352" y="384048"/>
                      <a:pt x="457200" y="329184"/>
                      <a:pt x="393192" y="283464"/>
                    </a:cubicBezTo>
                    <a:cubicBezTo>
                      <a:pt x="347472" y="256032"/>
                      <a:pt x="210312" y="256032"/>
                      <a:pt x="164592" y="283464"/>
                    </a:cubicBezTo>
                    <a:cubicBezTo>
                      <a:pt x="91440" y="338328"/>
                      <a:pt x="18288" y="374904"/>
                      <a:pt x="9144" y="2834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Connector"/>
              <p:cNvSpPr/>
              <p:nvPr/>
            </p:nvSpPr>
            <p:spPr>
              <a:xfrm>
                <a:off x="13258800" y="2642616"/>
                <a:ext cx="82296" cy="91"/>
              </a:xfrm>
              <a:custGeom>
                <a:avLst/>
                <a:gdLst/>
                <a:ahLst/>
                <a:cxnLst/>
                <a:rect l="0" t="0" r="r" b="b"/>
                <a:pathLst>
                  <a:path w="82296" h="91">
                    <a:moveTo>
                      <a:pt x="0" y="0"/>
                    </a:moveTo>
                    <a:lnTo>
                      <a:pt x="82296" y="0"/>
                    </a:lnTo>
                  </a:path>
                </a:pathLst>
              </a:custGeom>
              <a:noFill/>
              <a:ln w="27432" cap="flat" cmpd="sng" algn="ctr">
                <a:solidFill>
                  <a:srgbClr val="ffffff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Connector"/>
              <p:cNvSpPr/>
              <p:nvPr/>
            </p:nvSpPr>
            <p:spPr>
              <a:xfrm>
                <a:off x="13299948" y="2601468"/>
                <a:ext cx="91" cy="82296"/>
              </a:xfrm>
              <a:custGeom>
                <a:avLst/>
                <a:gdLst/>
                <a:ahLst/>
                <a:cxnLst/>
                <a:rect l="0" t="0" r="r" b="b"/>
                <a:pathLst>
                  <a:path w="91" h="82296">
                    <a:moveTo>
                      <a:pt x="0" y="0"/>
                    </a:moveTo>
                    <a:lnTo>
                      <a:pt x="0" y="82296"/>
                    </a:lnTo>
                  </a:path>
                </a:pathLst>
              </a:custGeom>
              <a:noFill/>
              <a:ln w="27432" cap="flat" cmpd="sng" algn="ctr">
                <a:solidFill>
                  <a:srgbClr val="ffffff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Ellipse"/>
              <p:cNvSpPr/>
              <p:nvPr/>
            </p:nvSpPr>
            <p:spPr>
              <a:xfrm>
                <a:off x="13525805" y="2589581"/>
                <a:ext cx="32918" cy="32918"/>
              </a:xfrm>
              <a:custGeom>
                <a:avLst/>
                <a:gdLst/>
                <a:ahLst/>
                <a:cxnLst/>
                <a:rect l="0" t="0" r="r" b="b"/>
                <a:pathLst>
                  <a:path w="32918" h="32918">
                    <a:moveTo>
                      <a:pt x="32918" y="16459"/>
                    </a:moveTo>
                    <a:cubicBezTo>
                      <a:pt x="32918" y="25549"/>
                      <a:pt x="25549" y="32918"/>
                      <a:pt x="16459" y="32918"/>
                    </a:cubicBezTo>
                    <a:cubicBezTo>
                      <a:pt x="7369" y="32918"/>
                      <a:pt x="0" y="25549"/>
                      <a:pt x="0" y="16459"/>
                    </a:cubicBezTo>
                    <a:cubicBezTo>
                      <a:pt x="0" y="7369"/>
                      <a:pt x="7369" y="0"/>
                      <a:pt x="16459" y="0"/>
                    </a:cubicBezTo>
                    <a:cubicBezTo>
                      <a:pt x="25549" y="0"/>
                      <a:pt x="32918" y="7369"/>
                      <a:pt x="32918" y="164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Ellipse"/>
              <p:cNvSpPr/>
              <p:nvPr/>
            </p:nvSpPr>
            <p:spPr>
              <a:xfrm>
                <a:off x="13562381" y="2626157"/>
                <a:ext cx="32918" cy="32918"/>
              </a:xfrm>
              <a:custGeom>
                <a:avLst/>
                <a:gdLst/>
                <a:ahLst/>
                <a:cxnLst/>
                <a:rect l="0" t="0" r="r" b="b"/>
                <a:pathLst>
                  <a:path w="32918" h="32918">
                    <a:moveTo>
                      <a:pt x="32918" y="16459"/>
                    </a:moveTo>
                    <a:cubicBezTo>
                      <a:pt x="32918" y="25549"/>
                      <a:pt x="25549" y="32918"/>
                      <a:pt x="16459" y="32918"/>
                    </a:cubicBezTo>
                    <a:cubicBezTo>
                      <a:pt x="7369" y="32918"/>
                      <a:pt x="0" y="25549"/>
                      <a:pt x="0" y="16459"/>
                    </a:cubicBezTo>
                    <a:cubicBezTo>
                      <a:pt x="0" y="7369"/>
                      <a:pt x="7369" y="0"/>
                      <a:pt x="16459" y="0"/>
                    </a:cubicBezTo>
                    <a:cubicBezTo>
                      <a:pt x="25549" y="0"/>
                      <a:pt x="32918" y="7369"/>
                      <a:pt x="32918" y="164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Ellipse"/>
              <p:cNvSpPr/>
              <p:nvPr/>
            </p:nvSpPr>
            <p:spPr>
              <a:xfrm>
                <a:off x="13525805" y="2662733"/>
                <a:ext cx="32918" cy="32918"/>
              </a:xfrm>
              <a:custGeom>
                <a:avLst/>
                <a:gdLst/>
                <a:ahLst/>
                <a:cxnLst/>
                <a:rect l="0" t="0" r="r" b="b"/>
                <a:pathLst>
                  <a:path w="32918" h="32918">
                    <a:moveTo>
                      <a:pt x="32918" y="16459"/>
                    </a:moveTo>
                    <a:cubicBezTo>
                      <a:pt x="32918" y="25549"/>
                      <a:pt x="25549" y="32918"/>
                      <a:pt x="16459" y="32918"/>
                    </a:cubicBezTo>
                    <a:cubicBezTo>
                      <a:pt x="7369" y="32918"/>
                      <a:pt x="0" y="25549"/>
                      <a:pt x="0" y="16459"/>
                    </a:cubicBezTo>
                    <a:cubicBezTo>
                      <a:pt x="0" y="7369"/>
                      <a:pt x="7369" y="0"/>
                      <a:pt x="16459" y="0"/>
                    </a:cubicBezTo>
                    <a:cubicBezTo>
                      <a:pt x="25549" y="0"/>
                      <a:pt x="32918" y="7369"/>
                      <a:pt x="32918" y="164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Ellipse"/>
              <p:cNvSpPr/>
              <p:nvPr/>
            </p:nvSpPr>
            <p:spPr>
              <a:xfrm>
                <a:off x="13489229" y="2626157"/>
                <a:ext cx="32918" cy="32918"/>
              </a:xfrm>
              <a:custGeom>
                <a:avLst/>
                <a:gdLst/>
                <a:ahLst/>
                <a:cxnLst/>
                <a:rect l="0" t="0" r="r" b="b"/>
                <a:pathLst>
                  <a:path w="32918" h="32918">
                    <a:moveTo>
                      <a:pt x="32918" y="16459"/>
                    </a:moveTo>
                    <a:cubicBezTo>
                      <a:pt x="32918" y="25549"/>
                      <a:pt x="25549" y="32918"/>
                      <a:pt x="16459" y="32918"/>
                    </a:cubicBezTo>
                    <a:cubicBezTo>
                      <a:pt x="7369" y="32918"/>
                      <a:pt x="0" y="25549"/>
                      <a:pt x="0" y="16459"/>
                    </a:cubicBezTo>
                    <a:cubicBezTo>
                      <a:pt x="0" y="7369"/>
                      <a:pt x="7369" y="0"/>
                      <a:pt x="16459" y="0"/>
                    </a:cubicBezTo>
                    <a:cubicBezTo>
                      <a:pt x="25549" y="0"/>
                      <a:pt x="32918" y="7369"/>
                      <a:pt x="32918" y="164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1" name="Item n"/>
            <p:cNvGrpSpPr/>
            <p:nvPr/>
          </p:nvGrpSpPr>
          <p:grpSpPr>
            <a:xfrm>
              <a:off x="13378022" y="2809585"/>
              <a:ext cx="191324" cy="371286"/>
              <a:chOff x="13378022" y="2809585"/>
              <a:chExt cx="191324" cy="371286"/>
            </a:xfrm>
          </p:grpSpPr>
          <p:sp>
            <p:nvSpPr>
              <p:cNvPr id="262" name="i"/>
              <p:cNvSpPr txBox="1"/>
              <p:nvPr/>
            </p:nvSpPr>
            <p:spPr>
              <a:xfrm>
                <a:off x="13378022" y="2809585"/>
                <a:ext cx="111771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1" lang="en-US">
                    <a:solidFill>
                      <a:srgbClr val="000000"/>
                    </a:solidFill>
                    <a:latin typeface="Liberation Serif"/>
                  </a:rPr>
                  <a:t>i</a:t>
                </a:r>
              </a:p>
            </p:txBody>
          </p:sp>
          <p:sp>
            <p:nvSpPr>
              <p:cNvPr id="263" name="n"/>
              <p:cNvSpPr txBox="1"/>
              <p:nvPr/>
            </p:nvSpPr>
            <p:spPr>
              <a:xfrm>
                <a:off x="13444073" y="2941938"/>
                <a:ext cx="125273" cy="238933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54" b="0" i="1" lang="en-US">
                    <a:solidFill>
                      <a:srgbClr val="000000"/>
                    </a:solidFill>
                    <a:latin typeface="Liberation Serif"/>
                  </a:rPr>
                  <a:t>n</a:t>
                </a:r>
              </a:p>
            </p:txBody>
          </p:sp>
        </p:grpSp>
        <p:sp>
          <p:nvSpPr>
            <p:cNvPr id="264" name="Item 1 user tags"/>
            <p:cNvSpPr/>
            <p:nvPr/>
          </p:nvSpPr>
          <p:spPr>
            <a:xfrm>
              <a:off x="14017752" y="512064"/>
              <a:ext cx="2651760" cy="365760"/>
            </a:xfrm>
            <a:custGeom>
              <a:avLst/>
              <a:gdLst/>
              <a:ahLst/>
              <a:cxnLst/>
              <a:rect l="0" t="0" r="r" b="b"/>
              <a:pathLst>
                <a:path w="2651760" h="365760">
                  <a:moveTo>
                    <a:pt x="64008" y="0"/>
                  </a:moveTo>
                  <a:lnTo>
                    <a:pt x="2587752" y="0"/>
                  </a:lnTo>
                  <a:cubicBezTo>
                    <a:pt x="2623103" y="0"/>
                    <a:pt x="2651760" y="28657"/>
                    <a:pt x="2651760" y="64008"/>
                  </a:cubicBezTo>
                  <a:lnTo>
                    <a:pt x="2651760" y="301752"/>
                  </a:lnTo>
                  <a:cubicBezTo>
                    <a:pt x="2651760" y="337103"/>
                    <a:pt x="2623103" y="365760"/>
                    <a:pt x="2587752" y="365760"/>
                  </a:cubicBezTo>
                  <a:lnTo>
                    <a:pt x="64008" y="365760"/>
                  </a:lnTo>
                  <a:cubicBezTo>
                    <a:pt x="28657" y="365760"/>
                    <a:pt x="0" y="337103"/>
                    <a:pt x="0" y="301752"/>
                  </a:cubicBezTo>
                  <a:lnTo>
                    <a:pt x="0" y="64008"/>
                  </a:lnTo>
                  <a:cubicBezTo>
                    <a:pt x="0" y="28657"/>
                    <a:pt x="28657" y="0"/>
                    <a:pt x="64008" y="0"/>
                  </a:cubicBezTo>
                  <a:close/>
                </a:path>
              </a:pathLst>
            </a:custGeom>
            <a:solidFill>
              <a:srgbClr val="fbe9dc"/>
            </a:solidFill>
            <a:ln w="16459" cap="flat" cmpd="sng" algn="ctr">
              <a:solidFill>
                <a:srgbClr val="c796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65" name="UserTag set 1"/>
            <p:cNvGrpSpPr/>
            <p:nvPr/>
          </p:nvGrpSpPr>
          <p:grpSpPr>
            <a:xfrm>
              <a:off x="14536131" y="532729"/>
              <a:ext cx="1660721" cy="376825"/>
              <a:chOff x="14536131" y="532729"/>
              <a:chExt cx="1660721" cy="376825"/>
            </a:xfrm>
          </p:grpSpPr>
          <p:sp>
            <p:nvSpPr>
              <p:cNvPr id="266" name="𝒯"/>
              <p:cNvSpPr txBox="1"/>
              <p:nvPr/>
            </p:nvSpPr>
            <p:spPr>
              <a:xfrm>
                <a:off x="14536131" y="552938"/>
                <a:ext cx="23021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lang="en-US">
                    <a:solidFill>
                      <a:srgbClr val="DF660E"/>
                    </a:solidFill>
                    <a:latin typeface="Latin Modern Math"/>
                  </a:rPr>
                  <a:t>𝒯</a:t>
                </a:r>
              </a:p>
            </p:txBody>
          </p:sp>
          <p:sp>
            <p:nvSpPr>
              <p:cNvPr id="267" name="1"/>
              <p:cNvSpPr txBox="1"/>
              <p:nvPr/>
            </p:nvSpPr>
            <p:spPr>
              <a:xfrm>
                <a:off x="14720626" y="634846"/>
                <a:ext cx="13167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DF660E"/>
                    </a:solidFill>
                    <a:latin typeface="Liberation Serif"/>
                  </a:rPr>
                  <a:t>1</a:t>
                </a:r>
              </a:p>
            </p:txBody>
          </p:sp>
          <p:sp>
            <p:nvSpPr>
              <p:cNvPr id="268" name=" = {"/>
              <p:cNvSpPr txBox="1"/>
              <p:nvPr/>
            </p:nvSpPr>
            <p:spPr>
              <a:xfrm>
                <a:off x="14806579" y="532729"/>
                <a:ext cx="38283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 = {</a:t>
                </a:r>
              </a:p>
            </p:txBody>
          </p:sp>
          <p:sp>
            <p:nvSpPr>
              <p:cNvPr id="269" name="t"/>
              <p:cNvSpPr txBox="1"/>
              <p:nvPr/>
            </p:nvSpPr>
            <p:spPr>
              <a:xfrm>
                <a:off x="15143693" y="532729"/>
                <a:ext cx="111771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t</a:t>
                </a:r>
              </a:p>
            </p:txBody>
          </p:sp>
          <p:sp>
            <p:nvSpPr>
              <p:cNvPr id="270" name="1,1"/>
              <p:cNvSpPr txBox="1"/>
              <p:nvPr/>
            </p:nvSpPr>
            <p:spPr>
              <a:xfrm>
                <a:off x="15209744" y="634846"/>
                <a:ext cx="26060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DF660E"/>
                    </a:solidFill>
                    <a:latin typeface="Liberation Serif"/>
                  </a:rPr>
                  <a:t>1,1</a:t>
                </a:r>
              </a:p>
            </p:txBody>
          </p:sp>
          <p:sp>
            <p:nvSpPr>
              <p:cNvPr id="271" name=","/>
              <p:cNvSpPr txBox="1"/>
              <p:nvPr/>
            </p:nvSpPr>
            <p:spPr>
              <a:xfrm>
                <a:off x="15424628" y="532729"/>
                <a:ext cx="105156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,</a:t>
                </a:r>
              </a:p>
            </p:txBody>
          </p:sp>
          <p:sp>
            <p:nvSpPr>
              <p:cNvPr id="272" name="⋯"/>
              <p:cNvSpPr txBox="1"/>
              <p:nvPr/>
            </p:nvSpPr>
            <p:spPr>
              <a:xfrm>
                <a:off x="15484064" y="552938"/>
                <a:ext cx="23021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lang="en-US">
                    <a:solidFill>
                      <a:srgbClr val="DF660E"/>
                    </a:solidFill>
                    <a:latin typeface="Latin Modern Math"/>
                  </a:rPr>
                  <a:t>⋯</a:t>
                </a:r>
              </a:p>
            </p:txBody>
          </p:sp>
          <p:sp>
            <p:nvSpPr>
              <p:cNvPr id="273" name=", "/>
              <p:cNvSpPr txBox="1"/>
              <p:nvPr/>
            </p:nvSpPr>
            <p:spPr>
              <a:xfrm>
                <a:off x="15668558" y="532729"/>
                <a:ext cx="164592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, </a:t>
                </a:r>
              </a:p>
            </p:txBody>
          </p:sp>
          <p:sp>
            <p:nvSpPr>
              <p:cNvPr id="274" name="t"/>
              <p:cNvSpPr txBox="1"/>
              <p:nvPr/>
            </p:nvSpPr>
            <p:spPr>
              <a:xfrm>
                <a:off x="15787430" y="532729"/>
                <a:ext cx="111771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t</a:t>
                </a:r>
              </a:p>
            </p:txBody>
          </p:sp>
          <p:sp>
            <p:nvSpPr>
              <p:cNvPr id="275" name="1,k"/>
              <p:cNvSpPr txBox="1"/>
              <p:nvPr/>
            </p:nvSpPr>
            <p:spPr>
              <a:xfrm>
                <a:off x="15853481" y="634846"/>
                <a:ext cx="26060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DF660E"/>
                    </a:solidFill>
                    <a:latin typeface="Liberation Serif"/>
                  </a:rPr>
                  <a:t>1,k</a:t>
                </a:r>
              </a:p>
            </p:txBody>
          </p:sp>
          <p:sp>
            <p:nvSpPr>
              <p:cNvPr id="276" name="}"/>
              <p:cNvSpPr txBox="1"/>
              <p:nvPr/>
            </p:nvSpPr>
            <p:spPr>
              <a:xfrm>
                <a:off x="16068365" y="532729"/>
                <a:ext cx="12848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}</a:t>
                </a:r>
              </a:p>
            </p:txBody>
          </p:sp>
        </p:grpSp>
        <p:sp>
          <p:nvSpPr>
            <p:cNvPr id="277" name="Item 1 item tags"/>
            <p:cNvSpPr/>
            <p:nvPr/>
          </p:nvSpPr>
          <p:spPr>
            <a:xfrm>
              <a:off x="13935456" y="813816"/>
              <a:ext cx="2651760" cy="365760"/>
            </a:xfrm>
            <a:custGeom>
              <a:avLst/>
              <a:gdLst/>
              <a:ahLst/>
              <a:cxnLst/>
              <a:rect l="0" t="0" r="r" b="b"/>
              <a:pathLst>
                <a:path w="2651760" h="365760">
                  <a:moveTo>
                    <a:pt x="64008" y="0"/>
                  </a:moveTo>
                  <a:lnTo>
                    <a:pt x="2587752" y="0"/>
                  </a:lnTo>
                  <a:cubicBezTo>
                    <a:pt x="2623103" y="0"/>
                    <a:pt x="2651760" y="28657"/>
                    <a:pt x="2651760" y="64008"/>
                  </a:cubicBezTo>
                  <a:lnTo>
                    <a:pt x="2651760" y="301752"/>
                  </a:lnTo>
                  <a:cubicBezTo>
                    <a:pt x="2651760" y="337103"/>
                    <a:pt x="2623103" y="365760"/>
                    <a:pt x="2587752" y="365760"/>
                  </a:cubicBezTo>
                  <a:lnTo>
                    <a:pt x="64008" y="365760"/>
                  </a:lnTo>
                  <a:cubicBezTo>
                    <a:pt x="28657" y="365760"/>
                    <a:pt x="0" y="337103"/>
                    <a:pt x="0" y="301752"/>
                  </a:cubicBezTo>
                  <a:lnTo>
                    <a:pt x="0" y="64008"/>
                  </a:lnTo>
                  <a:cubicBezTo>
                    <a:pt x="0" y="28657"/>
                    <a:pt x="28657" y="0"/>
                    <a:pt x="64008" y="0"/>
                  </a:cubicBezTo>
                  <a:close/>
                </a:path>
              </a:pathLst>
            </a:custGeom>
            <a:solidFill>
              <a:srgbClr val="d9eacd">
                <a:alpha val="88000"/>
              </a:srgbClr>
            </a:solidFill>
            <a:ln w="16459" cap="flat" cmpd="sng" algn="ctr">
              <a:solidFill>
                <a:srgbClr val="548333">
                  <a:alpha val="88000"/>
                </a:srgbClr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78" name="ItemTag set 1"/>
            <p:cNvGrpSpPr/>
            <p:nvPr/>
          </p:nvGrpSpPr>
          <p:grpSpPr>
            <a:xfrm>
              <a:off x="14446413" y="825337"/>
              <a:ext cx="1675566" cy="381740"/>
              <a:chOff x="14446413" y="825337"/>
              <a:chExt cx="1675566" cy="381740"/>
            </a:xfrm>
          </p:grpSpPr>
          <p:sp>
            <p:nvSpPr>
              <p:cNvPr id="279" name="C"/>
              <p:cNvSpPr txBox="1"/>
              <p:nvPr/>
            </p:nvSpPr>
            <p:spPr>
              <a:xfrm>
                <a:off x="14446413" y="825337"/>
                <a:ext cx="20429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280" name="1"/>
              <p:cNvSpPr txBox="1"/>
              <p:nvPr/>
            </p:nvSpPr>
            <p:spPr>
              <a:xfrm>
                <a:off x="14604990" y="949765"/>
                <a:ext cx="13167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3D5F27"/>
                    </a:solidFill>
                    <a:latin typeface="Liberation Serif"/>
                  </a:rPr>
                  <a:t>1</a:t>
                </a:r>
              </a:p>
            </p:txBody>
          </p:sp>
          <p:sp>
            <p:nvSpPr>
              <p:cNvPr id="281" name=" = {"/>
              <p:cNvSpPr txBox="1"/>
              <p:nvPr/>
            </p:nvSpPr>
            <p:spPr>
              <a:xfrm>
                <a:off x="14690943" y="825337"/>
                <a:ext cx="38283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 = {</a:t>
                </a:r>
              </a:p>
            </p:txBody>
          </p:sp>
          <p:sp>
            <p:nvSpPr>
              <p:cNvPr id="282" name="c"/>
              <p:cNvSpPr txBox="1"/>
              <p:nvPr/>
            </p:nvSpPr>
            <p:spPr>
              <a:xfrm>
                <a:off x="15028057" y="825337"/>
                <a:ext cx="15124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283" name="1,1"/>
              <p:cNvSpPr txBox="1"/>
              <p:nvPr/>
            </p:nvSpPr>
            <p:spPr>
              <a:xfrm>
                <a:off x="15133584" y="949765"/>
                <a:ext cx="26060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3D5F27"/>
                    </a:solidFill>
                    <a:latin typeface="Liberation Serif"/>
                  </a:rPr>
                  <a:t>1,1</a:t>
                </a:r>
              </a:p>
            </p:txBody>
          </p:sp>
          <p:sp>
            <p:nvSpPr>
              <p:cNvPr id="284" name=","/>
              <p:cNvSpPr txBox="1"/>
              <p:nvPr/>
            </p:nvSpPr>
            <p:spPr>
              <a:xfrm>
                <a:off x="15348468" y="825337"/>
                <a:ext cx="105156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,</a:t>
                </a:r>
              </a:p>
            </p:txBody>
          </p:sp>
          <p:sp>
            <p:nvSpPr>
              <p:cNvPr id="285" name="⋯"/>
              <p:cNvSpPr txBox="1"/>
              <p:nvPr/>
            </p:nvSpPr>
            <p:spPr>
              <a:xfrm>
                <a:off x="15407904" y="845546"/>
                <a:ext cx="23021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lang="en-US">
                    <a:solidFill>
                      <a:srgbClr val="3D5F27"/>
                    </a:solidFill>
                    <a:latin typeface="Latin Modern Math"/>
                  </a:rPr>
                  <a:t>⋯</a:t>
                </a:r>
              </a:p>
            </p:txBody>
          </p:sp>
          <p:sp>
            <p:nvSpPr>
              <p:cNvPr id="286" name=", "/>
              <p:cNvSpPr txBox="1"/>
              <p:nvPr/>
            </p:nvSpPr>
            <p:spPr>
              <a:xfrm>
                <a:off x="15592399" y="825337"/>
                <a:ext cx="164592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, </a:t>
                </a:r>
              </a:p>
            </p:txBody>
          </p:sp>
          <p:sp>
            <p:nvSpPr>
              <p:cNvPr id="287" name="c"/>
              <p:cNvSpPr txBox="1"/>
              <p:nvPr/>
            </p:nvSpPr>
            <p:spPr>
              <a:xfrm>
                <a:off x="15711271" y="825337"/>
                <a:ext cx="15124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288" name="1,l"/>
              <p:cNvSpPr txBox="1"/>
              <p:nvPr/>
            </p:nvSpPr>
            <p:spPr>
              <a:xfrm>
                <a:off x="15816798" y="949765"/>
                <a:ext cx="22241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3D5F27"/>
                    </a:solidFill>
                    <a:latin typeface="Liberation Serif"/>
                  </a:rPr>
                  <a:t>1,l</a:t>
                </a:r>
              </a:p>
            </p:txBody>
          </p:sp>
          <p:sp>
            <p:nvSpPr>
              <p:cNvPr id="289" name="}"/>
              <p:cNvSpPr txBox="1"/>
              <p:nvPr/>
            </p:nvSpPr>
            <p:spPr>
              <a:xfrm>
                <a:off x="15993492" y="825337"/>
                <a:ext cx="12848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}</a:t>
                </a:r>
              </a:p>
            </p:txBody>
          </p:sp>
        </p:grpSp>
        <p:sp>
          <p:nvSpPr>
            <p:cNvPr id="290" name="Item 2 user tags"/>
            <p:cNvSpPr/>
            <p:nvPr/>
          </p:nvSpPr>
          <p:spPr>
            <a:xfrm>
              <a:off x="14045184" y="1280160"/>
              <a:ext cx="2651760" cy="365760"/>
            </a:xfrm>
            <a:custGeom>
              <a:avLst/>
              <a:gdLst/>
              <a:ahLst/>
              <a:cxnLst/>
              <a:rect l="0" t="0" r="r" b="b"/>
              <a:pathLst>
                <a:path w="2651760" h="365760">
                  <a:moveTo>
                    <a:pt x="64008" y="0"/>
                  </a:moveTo>
                  <a:lnTo>
                    <a:pt x="2587752" y="0"/>
                  </a:lnTo>
                  <a:cubicBezTo>
                    <a:pt x="2623103" y="0"/>
                    <a:pt x="2651760" y="28657"/>
                    <a:pt x="2651760" y="64008"/>
                  </a:cubicBezTo>
                  <a:lnTo>
                    <a:pt x="2651760" y="301752"/>
                  </a:lnTo>
                  <a:cubicBezTo>
                    <a:pt x="2651760" y="337103"/>
                    <a:pt x="2623103" y="365760"/>
                    <a:pt x="2587752" y="365760"/>
                  </a:cubicBezTo>
                  <a:lnTo>
                    <a:pt x="64008" y="365760"/>
                  </a:lnTo>
                  <a:cubicBezTo>
                    <a:pt x="28657" y="365760"/>
                    <a:pt x="0" y="337103"/>
                    <a:pt x="0" y="301752"/>
                  </a:cubicBezTo>
                  <a:lnTo>
                    <a:pt x="0" y="64008"/>
                  </a:lnTo>
                  <a:cubicBezTo>
                    <a:pt x="0" y="28657"/>
                    <a:pt x="28657" y="0"/>
                    <a:pt x="64008" y="0"/>
                  </a:cubicBezTo>
                  <a:close/>
                </a:path>
              </a:pathLst>
            </a:custGeom>
            <a:solidFill>
              <a:srgbClr val="fbe9dc"/>
            </a:solidFill>
            <a:ln w="16459" cap="flat" cmpd="sng" algn="ctr">
              <a:solidFill>
                <a:srgbClr val="c796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291" name="UserTag set 2"/>
            <p:cNvGrpSpPr/>
            <p:nvPr/>
          </p:nvGrpSpPr>
          <p:grpSpPr>
            <a:xfrm>
              <a:off x="14563563" y="1300825"/>
              <a:ext cx="1660721" cy="376825"/>
              <a:chOff x="14563563" y="1300825"/>
              <a:chExt cx="1660721" cy="376825"/>
            </a:xfrm>
          </p:grpSpPr>
          <p:sp>
            <p:nvSpPr>
              <p:cNvPr id="292" name="𝒯"/>
              <p:cNvSpPr txBox="1"/>
              <p:nvPr/>
            </p:nvSpPr>
            <p:spPr>
              <a:xfrm>
                <a:off x="14563563" y="1321034"/>
                <a:ext cx="23021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lang="en-US">
                    <a:solidFill>
                      <a:srgbClr val="DF660E"/>
                    </a:solidFill>
                    <a:latin typeface="Latin Modern Math"/>
                  </a:rPr>
                  <a:t>𝒯</a:t>
                </a:r>
              </a:p>
            </p:txBody>
          </p:sp>
          <p:sp>
            <p:nvSpPr>
              <p:cNvPr id="293" name="2"/>
              <p:cNvSpPr txBox="1"/>
              <p:nvPr/>
            </p:nvSpPr>
            <p:spPr>
              <a:xfrm>
                <a:off x="14748058" y="1402942"/>
                <a:ext cx="13167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DF660E"/>
                    </a:solidFill>
                    <a:latin typeface="Liberation Serif"/>
                  </a:rPr>
                  <a:t>2</a:t>
                </a:r>
              </a:p>
            </p:txBody>
          </p:sp>
          <p:sp>
            <p:nvSpPr>
              <p:cNvPr id="294" name=" = {"/>
              <p:cNvSpPr txBox="1"/>
              <p:nvPr/>
            </p:nvSpPr>
            <p:spPr>
              <a:xfrm>
                <a:off x="14834011" y="1300825"/>
                <a:ext cx="38283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 = {</a:t>
                </a:r>
              </a:p>
            </p:txBody>
          </p:sp>
          <p:sp>
            <p:nvSpPr>
              <p:cNvPr id="295" name="t"/>
              <p:cNvSpPr txBox="1"/>
              <p:nvPr/>
            </p:nvSpPr>
            <p:spPr>
              <a:xfrm>
                <a:off x="15171125" y="1300825"/>
                <a:ext cx="111771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t</a:t>
                </a:r>
              </a:p>
            </p:txBody>
          </p:sp>
          <p:sp>
            <p:nvSpPr>
              <p:cNvPr id="296" name="2,1"/>
              <p:cNvSpPr txBox="1"/>
              <p:nvPr/>
            </p:nvSpPr>
            <p:spPr>
              <a:xfrm>
                <a:off x="15237176" y="1402942"/>
                <a:ext cx="26060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DF660E"/>
                    </a:solidFill>
                    <a:latin typeface="Liberation Serif"/>
                  </a:rPr>
                  <a:t>2,1</a:t>
                </a:r>
              </a:p>
            </p:txBody>
          </p:sp>
          <p:sp>
            <p:nvSpPr>
              <p:cNvPr id="297" name=","/>
              <p:cNvSpPr txBox="1"/>
              <p:nvPr/>
            </p:nvSpPr>
            <p:spPr>
              <a:xfrm>
                <a:off x="15452060" y="1300825"/>
                <a:ext cx="105156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,</a:t>
                </a:r>
              </a:p>
            </p:txBody>
          </p:sp>
          <p:sp>
            <p:nvSpPr>
              <p:cNvPr id="298" name="⋯"/>
              <p:cNvSpPr txBox="1"/>
              <p:nvPr/>
            </p:nvSpPr>
            <p:spPr>
              <a:xfrm>
                <a:off x="15511496" y="1321034"/>
                <a:ext cx="23021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lang="en-US">
                    <a:solidFill>
                      <a:srgbClr val="DF660E"/>
                    </a:solidFill>
                    <a:latin typeface="Latin Modern Math"/>
                  </a:rPr>
                  <a:t>⋯</a:t>
                </a:r>
              </a:p>
            </p:txBody>
          </p:sp>
          <p:sp>
            <p:nvSpPr>
              <p:cNvPr id="299" name=", "/>
              <p:cNvSpPr txBox="1"/>
              <p:nvPr/>
            </p:nvSpPr>
            <p:spPr>
              <a:xfrm>
                <a:off x="15695990" y="1300825"/>
                <a:ext cx="164592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, </a:t>
                </a:r>
              </a:p>
            </p:txBody>
          </p:sp>
          <p:sp>
            <p:nvSpPr>
              <p:cNvPr id="300" name="t"/>
              <p:cNvSpPr txBox="1"/>
              <p:nvPr/>
            </p:nvSpPr>
            <p:spPr>
              <a:xfrm>
                <a:off x="15814862" y="1300825"/>
                <a:ext cx="111771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t</a:t>
                </a:r>
              </a:p>
            </p:txBody>
          </p:sp>
          <p:sp>
            <p:nvSpPr>
              <p:cNvPr id="301" name="2,k"/>
              <p:cNvSpPr txBox="1"/>
              <p:nvPr/>
            </p:nvSpPr>
            <p:spPr>
              <a:xfrm>
                <a:off x="15880913" y="1402942"/>
                <a:ext cx="26060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DF660E"/>
                    </a:solidFill>
                    <a:latin typeface="Liberation Serif"/>
                  </a:rPr>
                  <a:t>2,k</a:t>
                </a:r>
              </a:p>
            </p:txBody>
          </p:sp>
          <p:sp>
            <p:nvSpPr>
              <p:cNvPr id="302" name="}"/>
              <p:cNvSpPr txBox="1"/>
              <p:nvPr/>
            </p:nvSpPr>
            <p:spPr>
              <a:xfrm>
                <a:off x="16095797" y="1300825"/>
                <a:ext cx="12848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}</a:t>
                </a:r>
              </a:p>
            </p:txBody>
          </p:sp>
        </p:grpSp>
        <p:sp>
          <p:nvSpPr>
            <p:cNvPr id="303" name="Item 2 item tags"/>
            <p:cNvSpPr/>
            <p:nvPr/>
          </p:nvSpPr>
          <p:spPr>
            <a:xfrm>
              <a:off x="13962888" y="1591056"/>
              <a:ext cx="2651760" cy="365760"/>
            </a:xfrm>
            <a:custGeom>
              <a:avLst/>
              <a:gdLst/>
              <a:ahLst/>
              <a:cxnLst/>
              <a:rect l="0" t="0" r="r" b="b"/>
              <a:pathLst>
                <a:path w="2651760" h="365760">
                  <a:moveTo>
                    <a:pt x="64008" y="0"/>
                  </a:moveTo>
                  <a:lnTo>
                    <a:pt x="2587752" y="0"/>
                  </a:lnTo>
                  <a:cubicBezTo>
                    <a:pt x="2623103" y="0"/>
                    <a:pt x="2651760" y="28657"/>
                    <a:pt x="2651760" y="64008"/>
                  </a:cubicBezTo>
                  <a:lnTo>
                    <a:pt x="2651760" y="301752"/>
                  </a:lnTo>
                  <a:cubicBezTo>
                    <a:pt x="2651760" y="337103"/>
                    <a:pt x="2623103" y="365760"/>
                    <a:pt x="2587752" y="365760"/>
                  </a:cubicBezTo>
                  <a:lnTo>
                    <a:pt x="64008" y="365760"/>
                  </a:lnTo>
                  <a:cubicBezTo>
                    <a:pt x="28657" y="365760"/>
                    <a:pt x="0" y="337103"/>
                    <a:pt x="0" y="301752"/>
                  </a:cubicBezTo>
                  <a:lnTo>
                    <a:pt x="0" y="64008"/>
                  </a:lnTo>
                  <a:cubicBezTo>
                    <a:pt x="0" y="28657"/>
                    <a:pt x="28657" y="0"/>
                    <a:pt x="64008" y="0"/>
                  </a:cubicBezTo>
                  <a:close/>
                </a:path>
              </a:pathLst>
            </a:custGeom>
            <a:solidFill>
              <a:srgbClr val="d9eacd">
                <a:alpha val="88000"/>
              </a:srgbClr>
            </a:solidFill>
            <a:ln w="16459" cap="flat" cmpd="sng" algn="ctr">
              <a:solidFill>
                <a:srgbClr val="548333">
                  <a:alpha val="88000"/>
                </a:srgbClr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04" name="ItemTag set 2"/>
            <p:cNvGrpSpPr/>
            <p:nvPr/>
          </p:nvGrpSpPr>
          <p:grpSpPr>
            <a:xfrm>
              <a:off x="14473845" y="1593433"/>
              <a:ext cx="1675566" cy="381740"/>
              <a:chOff x="14473845" y="1593433"/>
              <a:chExt cx="1675566" cy="381740"/>
            </a:xfrm>
          </p:grpSpPr>
          <p:sp>
            <p:nvSpPr>
              <p:cNvPr id="305" name="C"/>
              <p:cNvSpPr txBox="1"/>
              <p:nvPr/>
            </p:nvSpPr>
            <p:spPr>
              <a:xfrm>
                <a:off x="14473845" y="1593433"/>
                <a:ext cx="20429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306" name="2"/>
              <p:cNvSpPr txBox="1"/>
              <p:nvPr/>
            </p:nvSpPr>
            <p:spPr>
              <a:xfrm>
                <a:off x="14632422" y="1717861"/>
                <a:ext cx="13167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3D5F27"/>
                    </a:solidFill>
                    <a:latin typeface="Liberation Serif"/>
                  </a:rPr>
                  <a:t>2</a:t>
                </a:r>
              </a:p>
            </p:txBody>
          </p:sp>
          <p:sp>
            <p:nvSpPr>
              <p:cNvPr id="307" name=" = {"/>
              <p:cNvSpPr txBox="1"/>
              <p:nvPr/>
            </p:nvSpPr>
            <p:spPr>
              <a:xfrm>
                <a:off x="14718375" y="1593433"/>
                <a:ext cx="38283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 = {</a:t>
                </a:r>
              </a:p>
            </p:txBody>
          </p:sp>
          <p:sp>
            <p:nvSpPr>
              <p:cNvPr id="308" name="c"/>
              <p:cNvSpPr txBox="1"/>
              <p:nvPr/>
            </p:nvSpPr>
            <p:spPr>
              <a:xfrm>
                <a:off x="15055489" y="1593433"/>
                <a:ext cx="15124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309" name="2,1"/>
              <p:cNvSpPr txBox="1"/>
              <p:nvPr/>
            </p:nvSpPr>
            <p:spPr>
              <a:xfrm>
                <a:off x="15161016" y="1717861"/>
                <a:ext cx="26060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3D5F27"/>
                    </a:solidFill>
                    <a:latin typeface="Liberation Serif"/>
                  </a:rPr>
                  <a:t>2,1</a:t>
                </a:r>
              </a:p>
            </p:txBody>
          </p:sp>
          <p:sp>
            <p:nvSpPr>
              <p:cNvPr id="310" name=","/>
              <p:cNvSpPr txBox="1"/>
              <p:nvPr/>
            </p:nvSpPr>
            <p:spPr>
              <a:xfrm>
                <a:off x="15375900" y="1593433"/>
                <a:ext cx="105156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,</a:t>
                </a:r>
              </a:p>
            </p:txBody>
          </p:sp>
          <p:sp>
            <p:nvSpPr>
              <p:cNvPr id="311" name="⋯"/>
              <p:cNvSpPr txBox="1"/>
              <p:nvPr/>
            </p:nvSpPr>
            <p:spPr>
              <a:xfrm>
                <a:off x="15435336" y="1613642"/>
                <a:ext cx="23021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lang="en-US">
                    <a:solidFill>
                      <a:srgbClr val="3D5F27"/>
                    </a:solidFill>
                    <a:latin typeface="Latin Modern Math"/>
                  </a:rPr>
                  <a:t>⋯</a:t>
                </a:r>
              </a:p>
            </p:txBody>
          </p:sp>
          <p:sp>
            <p:nvSpPr>
              <p:cNvPr id="312" name=", "/>
              <p:cNvSpPr txBox="1"/>
              <p:nvPr/>
            </p:nvSpPr>
            <p:spPr>
              <a:xfrm>
                <a:off x="15619831" y="1593433"/>
                <a:ext cx="164592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, </a:t>
                </a:r>
              </a:p>
            </p:txBody>
          </p:sp>
          <p:sp>
            <p:nvSpPr>
              <p:cNvPr id="313" name="c"/>
              <p:cNvSpPr txBox="1"/>
              <p:nvPr/>
            </p:nvSpPr>
            <p:spPr>
              <a:xfrm>
                <a:off x="15738703" y="1593433"/>
                <a:ext cx="15124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314" name="2,l"/>
              <p:cNvSpPr txBox="1"/>
              <p:nvPr/>
            </p:nvSpPr>
            <p:spPr>
              <a:xfrm>
                <a:off x="15844230" y="1717861"/>
                <a:ext cx="222414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3D5F27"/>
                    </a:solidFill>
                    <a:latin typeface="Liberation Serif"/>
                  </a:rPr>
                  <a:t>2,l</a:t>
                </a:r>
              </a:p>
            </p:txBody>
          </p:sp>
          <p:sp>
            <p:nvSpPr>
              <p:cNvPr id="315" name="}"/>
              <p:cNvSpPr txBox="1"/>
              <p:nvPr/>
            </p:nvSpPr>
            <p:spPr>
              <a:xfrm>
                <a:off x="16020924" y="1593433"/>
                <a:ext cx="12848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}</a:t>
                </a:r>
              </a:p>
            </p:txBody>
          </p:sp>
        </p:grpSp>
        <p:sp>
          <p:nvSpPr>
            <p:cNvPr id="316" name="Item n user tags"/>
            <p:cNvSpPr/>
            <p:nvPr/>
          </p:nvSpPr>
          <p:spPr>
            <a:xfrm>
              <a:off x="14045184" y="2432304"/>
              <a:ext cx="2651760" cy="365760"/>
            </a:xfrm>
            <a:custGeom>
              <a:avLst/>
              <a:gdLst/>
              <a:ahLst/>
              <a:cxnLst/>
              <a:rect l="0" t="0" r="r" b="b"/>
              <a:pathLst>
                <a:path w="2651760" h="365760">
                  <a:moveTo>
                    <a:pt x="64008" y="0"/>
                  </a:moveTo>
                  <a:lnTo>
                    <a:pt x="2587752" y="0"/>
                  </a:lnTo>
                  <a:cubicBezTo>
                    <a:pt x="2623103" y="0"/>
                    <a:pt x="2651760" y="28657"/>
                    <a:pt x="2651760" y="64008"/>
                  </a:cubicBezTo>
                  <a:lnTo>
                    <a:pt x="2651760" y="301752"/>
                  </a:lnTo>
                  <a:cubicBezTo>
                    <a:pt x="2651760" y="337103"/>
                    <a:pt x="2623103" y="365760"/>
                    <a:pt x="2587752" y="365760"/>
                  </a:cubicBezTo>
                  <a:lnTo>
                    <a:pt x="64008" y="365760"/>
                  </a:lnTo>
                  <a:cubicBezTo>
                    <a:pt x="28657" y="365760"/>
                    <a:pt x="0" y="337103"/>
                    <a:pt x="0" y="301752"/>
                  </a:cubicBezTo>
                  <a:lnTo>
                    <a:pt x="0" y="64008"/>
                  </a:lnTo>
                  <a:cubicBezTo>
                    <a:pt x="0" y="28657"/>
                    <a:pt x="28657" y="0"/>
                    <a:pt x="64008" y="0"/>
                  </a:cubicBezTo>
                  <a:close/>
                </a:path>
              </a:pathLst>
            </a:custGeom>
            <a:solidFill>
              <a:srgbClr val="fbe9dc"/>
            </a:solidFill>
            <a:ln w="16459" cap="flat" cmpd="sng" algn="ctr">
              <a:solidFill>
                <a:srgbClr val="c796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17" name="UserTag set n"/>
            <p:cNvGrpSpPr/>
            <p:nvPr/>
          </p:nvGrpSpPr>
          <p:grpSpPr>
            <a:xfrm>
              <a:off x="14549076" y="2452969"/>
              <a:ext cx="1689696" cy="376825"/>
              <a:chOff x="14549076" y="2452969"/>
              <a:chExt cx="1689696" cy="376825"/>
            </a:xfrm>
          </p:grpSpPr>
          <p:sp>
            <p:nvSpPr>
              <p:cNvPr id="318" name="𝒯"/>
              <p:cNvSpPr txBox="1"/>
              <p:nvPr/>
            </p:nvSpPr>
            <p:spPr>
              <a:xfrm>
                <a:off x="14549076" y="2473178"/>
                <a:ext cx="23021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lang="en-US">
                    <a:solidFill>
                      <a:srgbClr val="DF660E"/>
                    </a:solidFill>
                    <a:latin typeface="Latin Modern Math"/>
                  </a:rPr>
                  <a:t>𝒯</a:t>
                </a:r>
              </a:p>
            </p:txBody>
          </p:sp>
          <p:sp>
            <p:nvSpPr>
              <p:cNvPr id="319" name="n"/>
              <p:cNvSpPr txBox="1"/>
              <p:nvPr/>
            </p:nvSpPr>
            <p:spPr>
              <a:xfrm>
                <a:off x="14733570" y="2555086"/>
                <a:ext cx="141332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DF660E"/>
                    </a:solidFill>
                    <a:latin typeface="Liberation Serif"/>
                  </a:rPr>
                  <a:t>n</a:t>
                </a:r>
              </a:p>
            </p:txBody>
          </p:sp>
          <p:sp>
            <p:nvSpPr>
              <p:cNvPr id="320" name=" = {"/>
              <p:cNvSpPr txBox="1"/>
              <p:nvPr/>
            </p:nvSpPr>
            <p:spPr>
              <a:xfrm>
                <a:off x="14829182" y="2452969"/>
                <a:ext cx="38283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 = {</a:t>
                </a:r>
              </a:p>
            </p:txBody>
          </p:sp>
          <p:sp>
            <p:nvSpPr>
              <p:cNvPr id="321" name="t"/>
              <p:cNvSpPr txBox="1"/>
              <p:nvPr/>
            </p:nvSpPr>
            <p:spPr>
              <a:xfrm>
                <a:off x="15166296" y="2452969"/>
                <a:ext cx="111771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t</a:t>
                </a:r>
              </a:p>
            </p:txBody>
          </p:sp>
          <p:sp>
            <p:nvSpPr>
              <p:cNvPr id="322" name="n,1"/>
              <p:cNvSpPr txBox="1"/>
              <p:nvPr/>
            </p:nvSpPr>
            <p:spPr>
              <a:xfrm>
                <a:off x="15232347" y="2555086"/>
                <a:ext cx="270262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DF660E"/>
                    </a:solidFill>
                    <a:latin typeface="Liberation Serif"/>
                  </a:rPr>
                  <a:t>n,1</a:t>
                </a:r>
              </a:p>
            </p:txBody>
          </p:sp>
          <p:sp>
            <p:nvSpPr>
              <p:cNvPr id="323" name=","/>
              <p:cNvSpPr txBox="1"/>
              <p:nvPr/>
            </p:nvSpPr>
            <p:spPr>
              <a:xfrm>
                <a:off x="15456889" y="2452969"/>
                <a:ext cx="105156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,</a:t>
                </a:r>
              </a:p>
            </p:txBody>
          </p:sp>
          <p:sp>
            <p:nvSpPr>
              <p:cNvPr id="324" name="⋯"/>
              <p:cNvSpPr txBox="1"/>
              <p:nvPr/>
            </p:nvSpPr>
            <p:spPr>
              <a:xfrm>
                <a:off x="15516325" y="2473178"/>
                <a:ext cx="23021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lang="en-US">
                    <a:solidFill>
                      <a:srgbClr val="DF660E"/>
                    </a:solidFill>
                    <a:latin typeface="Latin Modern Math"/>
                  </a:rPr>
                  <a:t>⋯</a:t>
                </a:r>
              </a:p>
            </p:txBody>
          </p:sp>
          <p:sp>
            <p:nvSpPr>
              <p:cNvPr id="325" name=", "/>
              <p:cNvSpPr txBox="1"/>
              <p:nvPr/>
            </p:nvSpPr>
            <p:spPr>
              <a:xfrm>
                <a:off x="15700820" y="2452969"/>
                <a:ext cx="164592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, </a:t>
                </a:r>
              </a:p>
            </p:txBody>
          </p:sp>
          <p:sp>
            <p:nvSpPr>
              <p:cNvPr id="326" name="t"/>
              <p:cNvSpPr txBox="1"/>
              <p:nvPr/>
            </p:nvSpPr>
            <p:spPr>
              <a:xfrm>
                <a:off x="15819692" y="2452969"/>
                <a:ext cx="111771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t</a:t>
                </a:r>
              </a:p>
            </p:txBody>
          </p:sp>
          <p:sp>
            <p:nvSpPr>
              <p:cNvPr id="327" name="n,k"/>
              <p:cNvSpPr txBox="1"/>
              <p:nvPr/>
            </p:nvSpPr>
            <p:spPr>
              <a:xfrm>
                <a:off x="15885743" y="2555086"/>
                <a:ext cx="270262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DF660E"/>
                    </a:solidFill>
                    <a:latin typeface="Liberation Serif"/>
                  </a:rPr>
                  <a:t>n,k</a:t>
                </a:r>
              </a:p>
            </p:txBody>
          </p:sp>
          <p:sp>
            <p:nvSpPr>
              <p:cNvPr id="328" name="}"/>
              <p:cNvSpPr txBox="1"/>
              <p:nvPr/>
            </p:nvSpPr>
            <p:spPr>
              <a:xfrm>
                <a:off x="16110285" y="2452969"/>
                <a:ext cx="12848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DF660E"/>
                    </a:solidFill>
                    <a:latin typeface="Liberation Serif"/>
                  </a:rPr>
                  <a:t>}</a:t>
                </a:r>
              </a:p>
            </p:txBody>
          </p:sp>
        </p:grpSp>
        <p:sp>
          <p:nvSpPr>
            <p:cNvPr id="329" name="Item n item tags"/>
            <p:cNvSpPr/>
            <p:nvPr/>
          </p:nvSpPr>
          <p:spPr>
            <a:xfrm>
              <a:off x="13962888" y="2734056"/>
              <a:ext cx="2651760" cy="365760"/>
            </a:xfrm>
            <a:custGeom>
              <a:avLst/>
              <a:gdLst/>
              <a:ahLst/>
              <a:cxnLst/>
              <a:rect l="0" t="0" r="r" b="b"/>
              <a:pathLst>
                <a:path w="2651760" h="365760">
                  <a:moveTo>
                    <a:pt x="64008" y="0"/>
                  </a:moveTo>
                  <a:lnTo>
                    <a:pt x="2587752" y="0"/>
                  </a:lnTo>
                  <a:cubicBezTo>
                    <a:pt x="2623103" y="0"/>
                    <a:pt x="2651760" y="28657"/>
                    <a:pt x="2651760" y="64008"/>
                  </a:cubicBezTo>
                  <a:lnTo>
                    <a:pt x="2651760" y="301752"/>
                  </a:lnTo>
                  <a:cubicBezTo>
                    <a:pt x="2651760" y="337103"/>
                    <a:pt x="2623103" y="365760"/>
                    <a:pt x="2587752" y="365760"/>
                  </a:cubicBezTo>
                  <a:lnTo>
                    <a:pt x="64008" y="365760"/>
                  </a:lnTo>
                  <a:cubicBezTo>
                    <a:pt x="28657" y="365760"/>
                    <a:pt x="0" y="337103"/>
                    <a:pt x="0" y="301752"/>
                  </a:cubicBezTo>
                  <a:lnTo>
                    <a:pt x="0" y="64008"/>
                  </a:lnTo>
                  <a:cubicBezTo>
                    <a:pt x="0" y="28657"/>
                    <a:pt x="28657" y="0"/>
                    <a:pt x="64008" y="0"/>
                  </a:cubicBezTo>
                  <a:close/>
                </a:path>
              </a:pathLst>
            </a:custGeom>
            <a:solidFill>
              <a:srgbClr val="d9eacd">
                <a:alpha val="88000"/>
              </a:srgbClr>
            </a:solidFill>
            <a:ln w="16459" cap="flat" cmpd="sng" algn="ctr">
              <a:solidFill>
                <a:srgbClr val="548333">
                  <a:alpha val="88000"/>
                </a:srgbClr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30" name="ItemTag set n"/>
            <p:cNvGrpSpPr/>
            <p:nvPr/>
          </p:nvGrpSpPr>
          <p:grpSpPr>
            <a:xfrm>
              <a:off x="14459357" y="2745577"/>
              <a:ext cx="1704541" cy="381740"/>
              <a:chOff x="14459357" y="2745577"/>
              <a:chExt cx="1704541" cy="381740"/>
            </a:xfrm>
          </p:grpSpPr>
          <p:sp>
            <p:nvSpPr>
              <p:cNvPr id="331" name="C"/>
              <p:cNvSpPr txBox="1"/>
              <p:nvPr/>
            </p:nvSpPr>
            <p:spPr>
              <a:xfrm>
                <a:off x="14459357" y="2745577"/>
                <a:ext cx="20429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332" name="n"/>
              <p:cNvSpPr txBox="1"/>
              <p:nvPr/>
            </p:nvSpPr>
            <p:spPr>
              <a:xfrm>
                <a:off x="14617934" y="2870005"/>
                <a:ext cx="141332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3D5F27"/>
                    </a:solidFill>
                    <a:latin typeface="Liberation Serif"/>
                  </a:rPr>
                  <a:t>n</a:t>
                </a:r>
              </a:p>
            </p:txBody>
          </p:sp>
          <p:sp>
            <p:nvSpPr>
              <p:cNvPr id="333" name=" = {"/>
              <p:cNvSpPr txBox="1"/>
              <p:nvPr/>
            </p:nvSpPr>
            <p:spPr>
              <a:xfrm>
                <a:off x="14713546" y="2745577"/>
                <a:ext cx="38283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 = {</a:t>
                </a:r>
              </a:p>
            </p:txBody>
          </p:sp>
          <p:sp>
            <p:nvSpPr>
              <p:cNvPr id="334" name="c"/>
              <p:cNvSpPr txBox="1"/>
              <p:nvPr/>
            </p:nvSpPr>
            <p:spPr>
              <a:xfrm>
                <a:off x="15050660" y="2745577"/>
                <a:ext cx="15124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335" name="n,1"/>
              <p:cNvSpPr txBox="1"/>
              <p:nvPr/>
            </p:nvSpPr>
            <p:spPr>
              <a:xfrm>
                <a:off x="15156187" y="2870005"/>
                <a:ext cx="270262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3D5F27"/>
                    </a:solidFill>
                    <a:latin typeface="Liberation Serif"/>
                  </a:rPr>
                  <a:t>n,1</a:t>
                </a:r>
              </a:p>
            </p:txBody>
          </p:sp>
          <p:sp>
            <p:nvSpPr>
              <p:cNvPr id="336" name=","/>
              <p:cNvSpPr txBox="1"/>
              <p:nvPr/>
            </p:nvSpPr>
            <p:spPr>
              <a:xfrm>
                <a:off x="15380729" y="2745577"/>
                <a:ext cx="105156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,</a:t>
                </a:r>
              </a:p>
            </p:txBody>
          </p:sp>
          <p:sp>
            <p:nvSpPr>
              <p:cNvPr id="337" name="⋯"/>
              <p:cNvSpPr txBox="1"/>
              <p:nvPr/>
            </p:nvSpPr>
            <p:spPr>
              <a:xfrm>
                <a:off x="15440165" y="2765786"/>
                <a:ext cx="230214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0" i="0" lang="en-US">
                    <a:solidFill>
                      <a:srgbClr val="3D5F27"/>
                    </a:solidFill>
                    <a:latin typeface="Latin Modern Math"/>
                  </a:rPr>
                  <a:t>⋯</a:t>
                </a:r>
              </a:p>
            </p:txBody>
          </p:sp>
          <p:sp>
            <p:nvSpPr>
              <p:cNvPr id="338" name=", "/>
              <p:cNvSpPr txBox="1"/>
              <p:nvPr/>
            </p:nvSpPr>
            <p:spPr>
              <a:xfrm>
                <a:off x="15624660" y="2745577"/>
                <a:ext cx="164592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, </a:t>
                </a:r>
              </a:p>
            </p:txBody>
          </p:sp>
          <p:sp>
            <p:nvSpPr>
              <p:cNvPr id="339" name="c"/>
              <p:cNvSpPr txBox="1"/>
              <p:nvPr/>
            </p:nvSpPr>
            <p:spPr>
              <a:xfrm>
                <a:off x="15743532" y="2745577"/>
                <a:ext cx="15124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340" name="n,l"/>
              <p:cNvSpPr txBox="1"/>
              <p:nvPr/>
            </p:nvSpPr>
            <p:spPr>
              <a:xfrm>
                <a:off x="15849059" y="2870005"/>
                <a:ext cx="232072" cy="25731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50" b="1" i="1" lang="en-US">
                    <a:solidFill>
                      <a:srgbClr val="3D5F27"/>
                    </a:solidFill>
                    <a:latin typeface="Liberation Serif"/>
                  </a:rPr>
                  <a:t>n,l</a:t>
                </a:r>
              </a:p>
            </p:txBody>
          </p:sp>
          <p:sp>
            <p:nvSpPr>
              <p:cNvPr id="341" name="}"/>
              <p:cNvSpPr txBox="1"/>
              <p:nvPr/>
            </p:nvSpPr>
            <p:spPr>
              <a:xfrm>
                <a:off x="16035411" y="2745577"/>
                <a:ext cx="12848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3D5F27"/>
                    </a:solidFill>
                    <a:latin typeface="Liberation Serif"/>
                  </a:rPr>
                  <a:t>}</a:t>
                </a:r>
              </a:p>
            </p:txBody>
          </p:sp>
        </p:grpSp>
        <p:sp>
          <p:nvSpPr>
            <p:cNvPr id="342" name="…"/>
            <p:cNvSpPr txBox="1"/>
            <p:nvPr/>
          </p:nvSpPr>
          <p:spPr>
            <a:xfrm>
              <a:off x="15064740" y="2041764"/>
              <a:ext cx="310896" cy="397764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88" b="1" i="0" lang="en-US">
                  <a:solidFill>
                    <a:srgbClr val="000000"/>
                  </a:solidFill>
                  <a:latin typeface="Liberation Serif"/>
                </a:rPr>
                <a:t>…</a:t>
              </a:r>
            </a:p>
          </p:txBody>
        </p:sp>
        <p:sp>
          <p:nvSpPr>
            <p:cNvPr id="343" name="Connector"/>
            <p:cNvSpPr/>
            <p:nvPr/>
          </p:nvSpPr>
          <p:spPr>
            <a:xfrm>
              <a:off x="15270480" y="3310128"/>
              <a:ext cx="91" cy="630936"/>
            </a:xfrm>
            <a:custGeom>
              <a:avLst/>
              <a:gdLst/>
              <a:ahLst/>
              <a:cxnLst/>
              <a:rect l="0" t="0" r="r" b="b"/>
              <a:pathLst>
                <a:path w="91" h="630936">
                  <a:moveTo>
                    <a:pt x="0" y="0"/>
                  </a:moveTo>
                  <a:lnTo>
                    <a:pt x="0" y="630936"/>
                  </a:lnTo>
                </a:path>
              </a:pathLst>
            </a:custGeom>
            <a:noFill/>
            <a:ln w="25603" cap="flat" cmpd="sng" algn="ctr">
              <a:solidFill>
                <a:srgbClr val="0000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Arrowhead"/>
            <p:cNvSpPr/>
            <p:nvPr/>
          </p:nvSpPr>
          <p:spPr>
            <a:xfrm>
              <a:off x="15222200" y="3831336"/>
              <a:ext cx="96561" cy="109728"/>
            </a:xfrm>
            <a:custGeom>
              <a:avLst/>
              <a:gdLst/>
              <a:ahLst/>
              <a:cxnLst/>
              <a:rect l="0" t="0" r="r" b="b"/>
              <a:pathLst>
                <a:path w="96561" h="109728">
                  <a:moveTo>
                    <a:pt x="48280" y="109728"/>
                  </a:moveTo>
                  <a:lnTo>
                    <a:pt x="0" y="0"/>
                  </a:lnTo>
                  <a:lnTo>
                    <a:pt x="48280" y="27432"/>
                  </a:lnTo>
                  <a:lnTo>
                    <a:pt x="96561" y="0"/>
                  </a:lnTo>
                  <a:close/>
                </a:path>
              </a:pathLst>
            </a:custGeom>
            <a:solidFill>
              <a:srgbClr val="00000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5" name="Input"/>
            <p:cNvSpPr txBox="1"/>
            <p:nvPr/>
          </p:nvSpPr>
          <p:spPr>
            <a:xfrm>
              <a:off x="14756409" y="3394436"/>
              <a:ext cx="470359" cy="30175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 lang="en-US">
                  <a:solidFill>
                    <a:srgbClr val="000000"/>
                  </a:solidFill>
                  <a:latin typeface="Liberation Serif"/>
                </a:rPr>
                <a:t>Input</a:t>
              </a:r>
            </a:p>
          </p:txBody>
        </p:sp>
        <p:sp>
          <p:nvSpPr>
            <p:cNvPr id="346" name="Logic Graph"/>
            <p:cNvSpPr txBox="1"/>
            <p:nvPr/>
          </p:nvSpPr>
          <p:spPr>
            <a:xfrm>
              <a:off x="12036504" y="3915827"/>
              <a:ext cx="1173575" cy="329184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0" i="1" lang="en-US">
                  <a:solidFill>
                    <a:srgbClr val="000000"/>
                  </a:solidFill>
                  <a:latin typeface="Liberation Serif"/>
                </a:rPr>
                <a:t>Logic Graph</a:t>
              </a:r>
            </a:p>
          </p:txBody>
        </p:sp>
        <p:sp>
          <p:nvSpPr>
            <p:cNvPr id="347" name="Compact logic graph"/>
            <p:cNvSpPr/>
            <p:nvPr/>
          </p:nvSpPr>
          <p:spPr>
            <a:xfrm>
              <a:off x="11969496" y="4197096"/>
              <a:ext cx="1252728" cy="1536192"/>
            </a:xfrm>
            <a:custGeom>
              <a:avLst/>
              <a:gdLst/>
              <a:ahLst/>
              <a:cxnLst/>
              <a:rect l="0" t="0" r="r" b="b"/>
              <a:pathLst>
                <a:path w="1252728" h="1536192">
                  <a:moveTo>
                    <a:pt x="210312" y="0"/>
                  </a:moveTo>
                  <a:lnTo>
                    <a:pt x="1042416" y="0"/>
                  </a:lnTo>
                  <a:cubicBezTo>
                    <a:pt x="1158568" y="0"/>
                    <a:pt x="1252728" y="94160"/>
                    <a:pt x="1252728" y="210312"/>
                  </a:cubicBezTo>
                  <a:lnTo>
                    <a:pt x="1252728" y="1325880"/>
                  </a:lnTo>
                  <a:cubicBezTo>
                    <a:pt x="1252728" y="1442032"/>
                    <a:pt x="1158568" y="1536192"/>
                    <a:pt x="1042416" y="1536192"/>
                  </a:cubicBezTo>
                  <a:lnTo>
                    <a:pt x="210312" y="1536192"/>
                  </a:lnTo>
                  <a:cubicBezTo>
                    <a:pt x="94160" y="1536192"/>
                    <a:pt x="0" y="1442032"/>
                    <a:pt x="0" y="1325880"/>
                  </a:cubicBezTo>
                  <a:lnTo>
                    <a:pt x="0" y="210312"/>
                  </a:lnTo>
                  <a:cubicBezTo>
                    <a:pt x="0" y="94160"/>
                    <a:pt x="94160" y="0"/>
                    <a:pt x="210312" y="0"/>
                  </a:cubicBezTo>
                  <a:close/>
                </a:path>
              </a:pathLst>
            </a:custGeom>
            <a:solidFill>
              <a:srgbClr val="edf4f9"/>
            </a:solidFill>
            <a:ln w="28346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Connector"/>
            <p:cNvSpPr/>
            <p:nvPr/>
          </p:nvSpPr>
          <p:spPr>
            <a:xfrm>
              <a:off x="12262104" y="4471416"/>
              <a:ext cx="576072" cy="91"/>
            </a:xfrm>
            <a:custGeom>
              <a:avLst/>
              <a:gdLst/>
              <a:ahLst/>
              <a:cxnLst/>
              <a:rect l="0" t="0" r="r" b="b"/>
              <a:pathLst>
                <a:path w="576072" h="91">
                  <a:moveTo>
                    <a:pt x="0" y="0"/>
                  </a:moveTo>
                  <a:lnTo>
                    <a:pt x="576072" y="0"/>
                  </a:lnTo>
                </a:path>
              </a:pathLst>
            </a:custGeom>
            <a:noFill/>
            <a:ln w="28346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Arrowhead"/>
            <p:cNvSpPr/>
            <p:nvPr/>
          </p:nvSpPr>
          <p:spPr>
            <a:xfrm>
              <a:off x="12719304" y="4419112"/>
              <a:ext cx="118872" cy="104607"/>
            </a:xfrm>
            <a:custGeom>
              <a:avLst/>
              <a:gdLst/>
              <a:ahLst/>
              <a:cxnLst/>
              <a:rect l="0" t="0" r="r" b="b"/>
              <a:pathLst>
                <a:path w="118872" h="104607">
                  <a:moveTo>
                    <a:pt x="118872" y="52304"/>
                  </a:moveTo>
                  <a:lnTo>
                    <a:pt x="0" y="104607"/>
                  </a:lnTo>
                  <a:lnTo>
                    <a:pt x="29718" y="523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ad8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0" name="Connector"/>
            <p:cNvSpPr/>
            <p:nvPr/>
          </p:nvSpPr>
          <p:spPr>
            <a:xfrm>
              <a:off x="12271248" y="4535424"/>
              <a:ext cx="566928" cy="301752"/>
            </a:xfrm>
            <a:custGeom>
              <a:avLst/>
              <a:gdLst/>
              <a:ahLst/>
              <a:cxnLst/>
              <a:rect l="0" t="0" r="r" b="b"/>
              <a:pathLst>
                <a:path w="566928" h="301752">
                  <a:moveTo>
                    <a:pt x="0" y="301752"/>
                  </a:moveTo>
                  <a:lnTo>
                    <a:pt x="566928" y="0"/>
                  </a:lnTo>
                </a:path>
              </a:pathLst>
            </a:custGeom>
            <a:noFill/>
            <a:ln w="28346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1" name="Arrowhead"/>
            <p:cNvSpPr/>
            <p:nvPr/>
          </p:nvSpPr>
          <p:spPr>
            <a:xfrm>
              <a:off x="12708667" y="4535424"/>
              <a:ext cx="129509" cy="102023"/>
            </a:xfrm>
            <a:custGeom>
              <a:avLst/>
              <a:gdLst/>
              <a:ahLst/>
              <a:cxnLst/>
              <a:rect l="0" t="0" r="r" b="b"/>
              <a:pathLst>
                <a:path w="129509" h="102023">
                  <a:moveTo>
                    <a:pt x="129509" y="0"/>
                  </a:moveTo>
                  <a:lnTo>
                    <a:pt x="49150" y="102023"/>
                  </a:lnTo>
                  <a:lnTo>
                    <a:pt x="50808" y="41889"/>
                  </a:lnTo>
                  <a:lnTo>
                    <a:pt x="0" y="9681"/>
                  </a:lnTo>
                  <a:close/>
                </a:path>
              </a:pathLst>
            </a:custGeom>
            <a:solidFill>
              <a:srgbClr val="ffad8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Connector"/>
            <p:cNvSpPr/>
            <p:nvPr/>
          </p:nvSpPr>
          <p:spPr>
            <a:xfrm>
              <a:off x="12271248" y="4919472"/>
              <a:ext cx="566928" cy="310896"/>
            </a:xfrm>
            <a:custGeom>
              <a:avLst/>
              <a:gdLst/>
              <a:ahLst/>
              <a:cxnLst/>
              <a:rect l="0" t="0" r="r" b="b"/>
              <a:pathLst>
                <a:path w="566928" h="310896">
                  <a:moveTo>
                    <a:pt x="0" y="310896"/>
                  </a:moveTo>
                  <a:lnTo>
                    <a:pt x="566928" y="0"/>
                  </a:lnTo>
                </a:path>
              </a:pathLst>
            </a:custGeom>
            <a:noFill/>
            <a:ln w="28346" cap="flat" cmpd="sng" algn="ctr">
              <a:solidFill>
                <a:srgbClr val="ffad8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Arrowhead"/>
            <p:cNvSpPr/>
            <p:nvPr/>
          </p:nvSpPr>
          <p:spPr>
            <a:xfrm>
              <a:off x="12708798" y="4919472"/>
              <a:ext cx="129378" cy="103018"/>
            </a:xfrm>
            <a:custGeom>
              <a:avLst/>
              <a:gdLst/>
              <a:ahLst/>
              <a:cxnLst/>
              <a:rect l="0" t="0" r="r" b="b"/>
              <a:pathLst>
                <a:path w="129378" h="103018">
                  <a:moveTo>
                    <a:pt x="129378" y="0"/>
                  </a:moveTo>
                  <a:lnTo>
                    <a:pt x="50299" y="103018"/>
                  </a:lnTo>
                  <a:lnTo>
                    <a:pt x="51206" y="42868"/>
                  </a:lnTo>
                  <a:lnTo>
                    <a:pt x="0" y="11297"/>
                  </a:lnTo>
                  <a:close/>
                </a:path>
              </a:pathLst>
            </a:custGeom>
            <a:solidFill>
              <a:srgbClr val="ffad8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Connector"/>
            <p:cNvSpPr/>
            <p:nvPr/>
          </p:nvSpPr>
          <p:spPr>
            <a:xfrm>
              <a:off x="12316968" y="4901184"/>
              <a:ext cx="566928" cy="329184"/>
            </a:xfrm>
            <a:custGeom>
              <a:avLst/>
              <a:gdLst/>
              <a:ahLst/>
              <a:cxnLst/>
              <a:rect l="0" t="0" r="r" b="b"/>
              <a:pathLst>
                <a:path w="566928" h="329184">
                  <a:moveTo>
                    <a:pt x="566928" y="329184"/>
                  </a:moveTo>
                  <a:lnTo>
                    <a:pt x="0" y="0"/>
                  </a:lnTo>
                </a:path>
              </a:pathLst>
            </a:custGeom>
            <a:noFill/>
            <a:ln w="28346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5" name="Arrowhead"/>
            <p:cNvSpPr/>
            <p:nvPr/>
          </p:nvSpPr>
          <p:spPr>
            <a:xfrm>
              <a:off x="12316968" y="4901184"/>
              <a:ext cx="129063" cy="104921"/>
            </a:xfrm>
            <a:custGeom>
              <a:avLst/>
              <a:gdLst/>
              <a:ahLst/>
              <a:cxnLst/>
              <a:rect l="0" t="0" r="r" b="b"/>
              <a:pathLst>
                <a:path w="129063" h="104921">
                  <a:moveTo>
                    <a:pt x="0" y="0"/>
                  </a:moveTo>
                  <a:lnTo>
                    <a:pt x="129063" y="14458"/>
                  </a:lnTo>
                  <a:lnTo>
                    <a:pt x="77099" y="44767"/>
                  </a:lnTo>
                  <a:lnTo>
                    <a:pt x="76536" y="104921"/>
                  </a:lnTo>
                  <a:close/>
                </a:path>
              </a:pathLst>
            </a:custGeom>
            <a:solidFill>
              <a:srgbClr val="a7d38c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6" name="Connector"/>
            <p:cNvSpPr/>
            <p:nvPr/>
          </p:nvSpPr>
          <p:spPr>
            <a:xfrm>
              <a:off x="12316968" y="4544568"/>
              <a:ext cx="566928" cy="320040"/>
            </a:xfrm>
            <a:custGeom>
              <a:avLst/>
              <a:gdLst/>
              <a:ahLst/>
              <a:cxnLst/>
              <a:rect l="0" t="0" r="r" b="b"/>
              <a:pathLst>
                <a:path w="566928" h="320040">
                  <a:moveTo>
                    <a:pt x="566928" y="320040"/>
                  </a:moveTo>
                  <a:lnTo>
                    <a:pt x="0" y="0"/>
                  </a:lnTo>
                </a:path>
              </a:pathLst>
            </a:custGeom>
            <a:noFill/>
            <a:ln w="28346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Arrowhead"/>
            <p:cNvSpPr/>
            <p:nvPr/>
          </p:nvSpPr>
          <p:spPr>
            <a:xfrm>
              <a:off x="12316968" y="4544568"/>
              <a:ext cx="129229" cy="103984"/>
            </a:xfrm>
            <a:custGeom>
              <a:avLst/>
              <a:gdLst/>
              <a:ahLst/>
              <a:cxnLst/>
              <a:rect l="0" t="0" r="r" b="b"/>
              <a:pathLst>
                <a:path w="129229" h="103984">
                  <a:moveTo>
                    <a:pt x="0" y="0"/>
                  </a:moveTo>
                  <a:lnTo>
                    <a:pt x="129229" y="12889"/>
                  </a:lnTo>
                  <a:lnTo>
                    <a:pt x="77637" y="43828"/>
                  </a:lnTo>
                  <a:lnTo>
                    <a:pt x="77804" y="103984"/>
                  </a:lnTo>
                  <a:close/>
                </a:path>
              </a:pathLst>
            </a:custGeom>
            <a:solidFill>
              <a:srgbClr val="a7d38c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Connector"/>
            <p:cNvSpPr/>
            <p:nvPr/>
          </p:nvSpPr>
          <p:spPr>
            <a:xfrm>
              <a:off x="12316968" y="4544568"/>
              <a:ext cx="566928" cy="585216"/>
            </a:xfrm>
            <a:custGeom>
              <a:avLst/>
              <a:gdLst/>
              <a:ahLst/>
              <a:cxnLst/>
              <a:rect l="0" t="0" r="r" b="b"/>
              <a:pathLst>
                <a:path w="566928" h="585216">
                  <a:moveTo>
                    <a:pt x="566928" y="0"/>
                  </a:moveTo>
                  <a:lnTo>
                    <a:pt x="0" y="585216"/>
                  </a:lnTo>
                </a:path>
              </a:pathLst>
            </a:custGeom>
            <a:noFill/>
            <a:ln w="28346" cap="flat" cmpd="sng" algn="ctr">
              <a:solidFill>
                <a:srgbClr val="a7d38c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Arrowhead"/>
            <p:cNvSpPr/>
            <p:nvPr/>
          </p:nvSpPr>
          <p:spPr>
            <a:xfrm>
              <a:off x="12316968" y="5008013"/>
              <a:ext cx="120277" cy="121771"/>
            </a:xfrm>
            <a:custGeom>
              <a:avLst/>
              <a:gdLst/>
              <a:ahLst/>
              <a:cxnLst/>
              <a:rect l="0" t="0" r="r" b="b"/>
              <a:pathLst>
                <a:path w="120277" h="121771">
                  <a:moveTo>
                    <a:pt x="0" y="121771"/>
                  </a:moveTo>
                  <a:lnTo>
                    <a:pt x="45144" y="0"/>
                  </a:lnTo>
                  <a:lnTo>
                    <a:pt x="62033" y="57737"/>
                  </a:lnTo>
                  <a:lnTo>
                    <a:pt x="120277" y="72785"/>
                  </a:lnTo>
                  <a:close/>
                </a:path>
              </a:pathLst>
            </a:custGeom>
            <a:solidFill>
              <a:srgbClr val="a7d38c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0" name="Ellipse"/>
            <p:cNvSpPr/>
            <p:nvPr/>
          </p:nvSpPr>
          <p:spPr>
            <a:xfrm>
              <a:off x="12121286" y="4339742"/>
              <a:ext cx="263347" cy="263347"/>
            </a:xfrm>
            <a:custGeom>
              <a:avLst/>
              <a:gdLst/>
              <a:ahLst/>
              <a:cxnLst/>
              <a:rect l="0" t="0" r="r" b="b"/>
              <a:pathLst>
                <a:path w="263347" h="263347">
                  <a:moveTo>
                    <a:pt x="263347" y="131674"/>
                  </a:moveTo>
                  <a:cubicBezTo>
                    <a:pt x="263347" y="204395"/>
                    <a:pt x="204395" y="263347"/>
                    <a:pt x="131674" y="263347"/>
                  </a:cubicBezTo>
                  <a:cubicBezTo>
                    <a:pt x="58952" y="263347"/>
                    <a:pt x="0" y="204395"/>
                    <a:pt x="0" y="131674"/>
                  </a:cubicBezTo>
                  <a:cubicBezTo>
                    <a:pt x="0" y="58952"/>
                    <a:pt x="58952" y="0"/>
                    <a:pt x="131674" y="0"/>
                  </a:cubicBezTo>
                  <a:cubicBezTo>
                    <a:pt x="204395" y="0"/>
                    <a:pt x="263347" y="58952"/>
                    <a:pt x="263347" y="131674"/>
                  </a:cubicBezTo>
                  <a:close/>
                </a:path>
              </a:pathLst>
            </a:custGeom>
            <a:solidFill>
              <a:srgbClr val="f9d6bd"/>
            </a:solidFill>
            <a:ln w="17374" cap="flat" cmpd="sng" algn="ctr">
              <a:solidFill>
                <a:srgbClr val="193854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1" name="Ellipse"/>
            <p:cNvSpPr/>
            <p:nvPr/>
          </p:nvSpPr>
          <p:spPr>
            <a:xfrm>
              <a:off x="12825374" y="4339742"/>
              <a:ext cx="263347" cy="263347"/>
            </a:xfrm>
            <a:custGeom>
              <a:avLst/>
              <a:gdLst/>
              <a:ahLst/>
              <a:cxnLst/>
              <a:rect l="0" t="0" r="r" b="b"/>
              <a:pathLst>
                <a:path w="263347" h="263347">
                  <a:moveTo>
                    <a:pt x="263347" y="131674"/>
                  </a:moveTo>
                  <a:cubicBezTo>
                    <a:pt x="263347" y="204395"/>
                    <a:pt x="204395" y="263347"/>
                    <a:pt x="131674" y="263347"/>
                  </a:cubicBezTo>
                  <a:cubicBezTo>
                    <a:pt x="58952" y="263347"/>
                    <a:pt x="0" y="204395"/>
                    <a:pt x="0" y="131674"/>
                  </a:cubicBezTo>
                  <a:cubicBezTo>
                    <a:pt x="0" y="58952"/>
                    <a:pt x="58952" y="0"/>
                    <a:pt x="131674" y="0"/>
                  </a:cubicBezTo>
                  <a:cubicBezTo>
                    <a:pt x="204395" y="0"/>
                    <a:pt x="263347" y="58952"/>
                    <a:pt x="263347" y="131674"/>
                  </a:cubicBezTo>
                  <a:close/>
                </a:path>
              </a:pathLst>
            </a:custGeom>
            <a:solidFill>
              <a:srgbClr val="d2e5c5"/>
            </a:solidFill>
            <a:ln w="17374" cap="flat" cmpd="sng" algn="ctr">
              <a:solidFill>
                <a:srgbClr val="193854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Ellipse"/>
            <p:cNvSpPr/>
            <p:nvPr/>
          </p:nvSpPr>
          <p:spPr>
            <a:xfrm>
              <a:off x="12121286" y="4705502"/>
              <a:ext cx="263347" cy="263347"/>
            </a:xfrm>
            <a:custGeom>
              <a:avLst/>
              <a:gdLst/>
              <a:ahLst/>
              <a:cxnLst/>
              <a:rect l="0" t="0" r="r" b="b"/>
              <a:pathLst>
                <a:path w="263347" h="263347">
                  <a:moveTo>
                    <a:pt x="263347" y="131674"/>
                  </a:moveTo>
                  <a:cubicBezTo>
                    <a:pt x="263347" y="204395"/>
                    <a:pt x="204395" y="263347"/>
                    <a:pt x="131674" y="263347"/>
                  </a:cubicBezTo>
                  <a:cubicBezTo>
                    <a:pt x="58952" y="263347"/>
                    <a:pt x="0" y="204395"/>
                    <a:pt x="0" y="131674"/>
                  </a:cubicBezTo>
                  <a:cubicBezTo>
                    <a:pt x="0" y="58952"/>
                    <a:pt x="58952" y="0"/>
                    <a:pt x="131674" y="0"/>
                  </a:cubicBezTo>
                  <a:cubicBezTo>
                    <a:pt x="204395" y="0"/>
                    <a:pt x="263347" y="58952"/>
                    <a:pt x="263347" y="131674"/>
                  </a:cubicBezTo>
                  <a:close/>
                </a:path>
              </a:pathLst>
            </a:custGeom>
            <a:solidFill>
              <a:srgbClr val="f9d6bd"/>
            </a:solidFill>
            <a:ln w="17374" cap="flat" cmpd="sng" algn="ctr">
              <a:solidFill>
                <a:srgbClr val="193854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Ellipse"/>
            <p:cNvSpPr/>
            <p:nvPr/>
          </p:nvSpPr>
          <p:spPr>
            <a:xfrm>
              <a:off x="12825374" y="4705502"/>
              <a:ext cx="263347" cy="263347"/>
            </a:xfrm>
            <a:custGeom>
              <a:avLst/>
              <a:gdLst/>
              <a:ahLst/>
              <a:cxnLst/>
              <a:rect l="0" t="0" r="r" b="b"/>
              <a:pathLst>
                <a:path w="263347" h="263347">
                  <a:moveTo>
                    <a:pt x="263347" y="131674"/>
                  </a:moveTo>
                  <a:cubicBezTo>
                    <a:pt x="263347" y="204395"/>
                    <a:pt x="204395" y="263347"/>
                    <a:pt x="131674" y="263347"/>
                  </a:cubicBezTo>
                  <a:cubicBezTo>
                    <a:pt x="58952" y="263347"/>
                    <a:pt x="0" y="204395"/>
                    <a:pt x="0" y="131674"/>
                  </a:cubicBezTo>
                  <a:cubicBezTo>
                    <a:pt x="0" y="58952"/>
                    <a:pt x="58952" y="0"/>
                    <a:pt x="131674" y="0"/>
                  </a:cubicBezTo>
                  <a:cubicBezTo>
                    <a:pt x="204395" y="0"/>
                    <a:pt x="263347" y="58952"/>
                    <a:pt x="263347" y="131674"/>
                  </a:cubicBezTo>
                  <a:close/>
                </a:path>
              </a:pathLst>
            </a:custGeom>
            <a:solidFill>
              <a:srgbClr val="d2e5c5"/>
            </a:solidFill>
            <a:ln w="17374" cap="flat" cmpd="sng" algn="ctr">
              <a:solidFill>
                <a:srgbClr val="193854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Ellipse"/>
            <p:cNvSpPr/>
            <p:nvPr/>
          </p:nvSpPr>
          <p:spPr>
            <a:xfrm>
              <a:off x="12121286" y="5098694"/>
              <a:ext cx="263347" cy="263347"/>
            </a:xfrm>
            <a:custGeom>
              <a:avLst/>
              <a:gdLst/>
              <a:ahLst/>
              <a:cxnLst/>
              <a:rect l="0" t="0" r="r" b="b"/>
              <a:pathLst>
                <a:path w="263347" h="263347">
                  <a:moveTo>
                    <a:pt x="263347" y="131674"/>
                  </a:moveTo>
                  <a:cubicBezTo>
                    <a:pt x="263347" y="204395"/>
                    <a:pt x="204395" y="263347"/>
                    <a:pt x="131674" y="263347"/>
                  </a:cubicBezTo>
                  <a:cubicBezTo>
                    <a:pt x="58952" y="263347"/>
                    <a:pt x="0" y="204395"/>
                    <a:pt x="0" y="131674"/>
                  </a:cubicBezTo>
                  <a:cubicBezTo>
                    <a:pt x="0" y="58952"/>
                    <a:pt x="58952" y="0"/>
                    <a:pt x="131674" y="0"/>
                  </a:cubicBezTo>
                  <a:cubicBezTo>
                    <a:pt x="204395" y="0"/>
                    <a:pt x="263347" y="58952"/>
                    <a:pt x="263347" y="131674"/>
                  </a:cubicBezTo>
                  <a:close/>
                </a:path>
              </a:pathLst>
            </a:custGeom>
            <a:solidFill>
              <a:srgbClr val="f9d6bd"/>
            </a:solidFill>
            <a:ln w="17374" cap="flat" cmpd="sng" algn="ctr">
              <a:solidFill>
                <a:srgbClr val="193854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5" name="Ellipse"/>
            <p:cNvSpPr/>
            <p:nvPr/>
          </p:nvSpPr>
          <p:spPr>
            <a:xfrm>
              <a:off x="12825374" y="5098694"/>
              <a:ext cx="263347" cy="263347"/>
            </a:xfrm>
            <a:custGeom>
              <a:avLst/>
              <a:gdLst/>
              <a:ahLst/>
              <a:cxnLst/>
              <a:rect l="0" t="0" r="r" b="b"/>
              <a:pathLst>
                <a:path w="263347" h="263347">
                  <a:moveTo>
                    <a:pt x="263347" y="131674"/>
                  </a:moveTo>
                  <a:cubicBezTo>
                    <a:pt x="263347" y="204395"/>
                    <a:pt x="204395" y="263347"/>
                    <a:pt x="131674" y="263347"/>
                  </a:cubicBezTo>
                  <a:cubicBezTo>
                    <a:pt x="58952" y="263347"/>
                    <a:pt x="0" y="204395"/>
                    <a:pt x="0" y="131674"/>
                  </a:cubicBezTo>
                  <a:cubicBezTo>
                    <a:pt x="0" y="58952"/>
                    <a:pt x="58952" y="0"/>
                    <a:pt x="131674" y="0"/>
                  </a:cubicBezTo>
                  <a:cubicBezTo>
                    <a:pt x="204395" y="0"/>
                    <a:pt x="263347" y="58952"/>
                    <a:pt x="263347" y="131674"/>
                  </a:cubicBezTo>
                  <a:close/>
                </a:path>
              </a:pathLst>
            </a:custGeom>
            <a:solidFill>
              <a:srgbClr val="d2e5c5"/>
            </a:solidFill>
            <a:ln w="17374" cap="flat" cmpd="sng" algn="ctr">
              <a:solidFill>
                <a:srgbClr val="193854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66" name="Compact C nodes"/>
            <p:cNvGrpSpPr/>
            <p:nvPr/>
          </p:nvGrpSpPr>
          <p:grpSpPr>
            <a:xfrm>
              <a:off x="12208119" y="5394558"/>
              <a:ext cx="263418" cy="340925"/>
              <a:chOff x="12208119" y="5394558"/>
              <a:chExt cx="263418" cy="340925"/>
            </a:xfrm>
          </p:grpSpPr>
          <p:sp>
            <p:nvSpPr>
              <p:cNvPr id="367" name="C"/>
              <p:cNvSpPr txBox="1"/>
              <p:nvPr/>
            </p:nvSpPr>
            <p:spPr>
              <a:xfrm>
                <a:off x="12208119" y="5406299"/>
                <a:ext cx="192095" cy="32918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1" lang="en-US">
                    <a:solidFill>
                      <a:srgbClr val="000000"/>
                    </a:solidFill>
                    <a:latin typeface="Liberation Serif"/>
                  </a:rPr>
                  <a:t>C</a:t>
                </a:r>
              </a:p>
            </p:txBody>
          </p:sp>
          <p:sp>
            <p:nvSpPr>
              <p:cNvPr id="368" name="*"/>
              <p:cNvSpPr txBox="1"/>
              <p:nvPr/>
            </p:nvSpPr>
            <p:spPr>
              <a:xfrm>
                <a:off x="12354494" y="5394558"/>
                <a:ext cx="117043" cy="213970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3" b="0" i="0" lang="en-US">
                    <a:solidFill>
                      <a:srgbClr val="000000"/>
                    </a:solidFill>
                    <a:latin typeface="Liberation Serif"/>
                  </a:rPr>
                  <a:t>*</a:t>
                </a:r>
              </a:p>
            </p:txBody>
          </p:sp>
        </p:grpSp>
        <p:grpSp>
          <p:nvGrpSpPr>
            <p:cNvPr id="369" name="Compact T nodes"/>
            <p:cNvGrpSpPr/>
            <p:nvPr/>
          </p:nvGrpSpPr>
          <p:grpSpPr>
            <a:xfrm>
              <a:off x="12900248" y="5394558"/>
              <a:ext cx="287336" cy="359578"/>
              <a:chOff x="12900248" y="5394558"/>
              <a:chExt cx="287336" cy="359578"/>
            </a:xfrm>
          </p:grpSpPr>
          <p:sp>
            <p:nvSpPr>
              <p:cNvPr id="370" name="𝒯"/>
              <p:cNvSpPr txBox="1"/>
              <p:nvPr/>
            </p:nvSpPr>
            <p:spPr>
              <a:xfrm>
                <a:off x="12900248" y="5424952"/>
                <a:ext cx="216013" cy="32918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0" lang="en-US">
                    <a:solidFill>
                      <a:srgbClr val="000000"/>
                    </a:solidFill>
                    <a:latin typeface="Latin Modern Math"/>
                  </a:rPr>
                  <a:t>𝒯</a:t>
                </a:r>
              </a:p>
            </p:txBody>
          </p:sp>
          <p:sp>
            <p:nvSpPr>
              <p:cNvPr id="371" name="*"/>
              <p:cNvSpPr txBox="1"/>
              <p:nvPr/>
            </p:nvSpPr>
            <p:spPr>
              <a:xfrm>
                <a:off x="13070541" y="5394558"/>
                <a:ext cx="117043" cy="213970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3" b="0" i="0" lang="en-US">
                    <a:solidFill>
                      <a:srgbClr val="000000"/>
                    </a:solidFill>
                    <a:latin typeface="Liberation Serif"/>
                  </a:rPr>
                  <a:t>*</a:t>
                </a:r>
              </a:p>
            </p:txBody>
          </p:sp>
        </p:grpSp>
        <p:sp>
          <p:nvSpPr>
            <p:cNvPr id="372" name="Connector"/>
            <p:cNvSpPr/>
            <p:nvPr/>
          </p:nvSpPr>
          <p:spPr>
            <a:xfrm>
              <a:off x="13231368" y="4590288"/>
              <a:ext cx="621792" cy="91"/>
            </a:xfrm>
            <a:custGeom>
              <a:avLst/>
              <a:gdLst/>
              <a:ahLst/>
              <a:cxnLst/>
              <a:rect l="0" t="0" r="r" b="b"/>
              <a:pathLst>
                <a:path w="621792" h="91">
                  <a:moveTo>
                    <a:pt x="0" y="0"/>
                  </a:moveTo>
                  <a:lnTo>
                    <a:pt x="621792" y="0"/>
                  </a:lnTo>
                </a:path>
              </a:pathLst>
            </a:custGeom>
            <a:noFill/>
            <a:ln w="25603" cap="flat" cmpd="sng" algn="ctr">
              <a:solidFill>
                <a:srgbClr val="0000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Arrowhead"/>
            <p:cNvSpPr/>
            <p:nvPr/>
          </p:nvSpPr>
          <p:spPr>
            <a:xfrm>
              <a:off x="13743432" y="4542008"/>
              <a:ext cx="109728" cy="96561"/>
            </a:xfrm>
            <a:custGeom>
              <a:avLst/>
              <a:gdLst/>
              <a:ahLst/>
              <a:cxnLst/>
              <a:rect l="0" t="0" r="r" b="b"/>
              <a:pathLst>
                <a:path w="109728" h="96561">
                  <a:moveTo>
                    <a:pt x="109728" y="48280"/>
                  </a:moveTo>
                  <a:lnTo>
                    <a:pt x="0" y="96561"/>
                  </a:lnTo>
                  <a:lnTo>
                    <a:pt x="27432" y="48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Connector"/>
            <p:cNvSpPr/>
            <p:nvPr/>
          </p:nvSpPr>
          <p:spPr>
            <a:xfrm>
              <a:off x="13231368" y="5239512"/>
              <a:ext cx="621792" cy="91"/>
            </a:xfrm>
            <a:custGeom>
              <a:avLst/>
              <a:gdLst/>
              <a:ahLst/>
              <a:cxnLst/>
              <a:rect l="0" t="0" r="r" b="b"/>
              <a:pathLst>
                <a:path w="621792" h="91">
                  <a:moveTo>
                    <a:pt x="0" y="0"/>
                  </a:moveTo>
                  <a:lnTo>
                    <a:pt x="621792" y="0"/>
                  </a:lnTo>
                </a:path>
              </a:pathLst>
            </a:custGeom>
            <a:noFill/>
            <a:ln w="25603" cap="flat" cmpd="sng" algn="ctr">
              <a:solidFill>
                <a:srgbClr val="0000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5" name="Arrowhead"/>
            <p:cNvSpPr/>
            <p:nvPr/>
          </p:nvSpPr>
          <p:spPr>
            <a:xfrm>
              <a:off x="13743432" y="5191232"/>
              <a:ext cx="109728" cy="96561"/>
            </a:xfrm>
            <a:custGeom>
              <a:avLst/>
              <a:gdLst/>
              <a:ahLst/>
              <a:cxnLst/>
              <a:rect l="0" t="0" r="r" b="b"/>
              <a:pathLst>
                <a:path w="109728" h="96561">
                  <a:moveTo>
                    <a:pt x="109728" y="48280"/>
                  </a:moveTo>
                  <a:lnTo>
                    <a:pt x="0" y="96561"/>
                  </a:lnTo>
                  <a:lnTo>
                    <a:pt x="27432" y="482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76" name="Graph I2U input"/>
            <p:cNvGrpSpPr/>
            <p:nvPr/>
          </p:nvGrpSpPr>
          <p:grpSpPr>
            <a:xfrm>
              <a:off x="13353012" y="4260702"/>
              <a:ext cx="497376" cy="340925"/>
              <a:chOff x="13353012" y="4260702"/>
              <a:chExt cx="497376" cy="340925"/>
            </a:xfrm>
          </p:grpSpPr>
          <p:sp>
            <p:nvSpPr>
              <p:cNvPr id="377" name="G"/>
              <p:cNvSpPr txBox="1"/>
              <p:nvPr/>
            </p:nvSpPr>
            <p:spPr>
              <a:xfrm>
                <a:off x="13353012" y="4272443"/>
                <a:ext cx="204211" cy="32918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1" lang="en-US">
                    <a:solidFill>
                      <a:srgbClr val="385C23"/>
                    </a:solidFill>
                    <a:latin typeface="Liberation Serif"/>
                  </a:rPr>
                  <a:t>G</a:t>
                </a:r>
              </a:p>
            </p:txBody>
          </p:sp>
          <p:sp>
            <p:nvSpPr>
              <p:cNvPr id="378" name="I2U*"/>
              <p:cNvSpPr txBox="1"/>
              <p:nvPr/>
            </p:nvSpPr>
            <p:spPr>
              <a:xfrm>
                <a:off x="13511503" y="4260702"/>
                <a:ext cx="338885" cy="213970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3" b="0" i="1" lang="en-US">
                    <a:solidFill>
                      <a:srgbClr val="385C23"/>
                    </a:solidFill>
                    <a:latin typeface="Liberation Serif"/>
                  </a:rPr>
                  <a:t>I2U*</a:t>
                </a:r>
              </a:p>
            </p:txBody>
          </p:sp>
        </p:grpSp>
        <p:grpSp>
          <p:nvGrpSpPr>
            <p:cNvPr id="379" name="Graph U2I input"/>
            <p:cNvGrpSpPr/>
            <p:nvPr/>
          </p:nvGrpSpPr>
          <p:grpSpPr>
            <a:xfrm>
              <a:off x="13353012" y="4919070"/>
              <a:ext cx="497376" cy="340925"/>
              <a:chOff x="13353012" y="4919070"/>
              <a:chExt cx="497376" cy="340925"/>
            </a:xfrm>
          </p:grpSpPr>
          <p:sp>
            <p:nvSpPr>
              <p:cNvPr id="380" name="G"/>
              <p:cNvSpPr txBox="1"/>
              <p:nvPr/>
            </p:nvSpPr>
            <p:spPr>
              <a:xfrm>
                <a:off x="13353012" y="4930811"/>
                <a:ext cx="204211" cy="329184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28" b="0" i="1" lang="en-US">
                    <a:solidFill>
                      <a:srgbClr val="DF650B"/>
                    </a:solidFill>
                    <a:latin typeface="Liberation Serif"/>
                  </a:rPr>
                  <a:t>G</a:t>
                </a:r>
              </a:p>
            </p:txBody>
          </p:sp>
          <p:sp>
            <p:nvSpPr>
              <p:cNvPr id="381" name="U2I*"/>
              <p:cNvSpPr txBox="1"/>
              <p:nvPr/>
            </p:nvSpPr>
            <p:spPr>
              <a:xfrm>
                <a:off x="13511503" y="4919070"/>
                <a:ext cx="338885" cy="213970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23" b="0" i="1" lang="en-US">
                    <a:solidFill>
                      <a:srgbClr val="DF650B"/>
                    </a:solidFill>
                    <a:latin typeface="Liberation Serif"/>
                  </a:rPr>
                  <a:t>U2I*</a:t>
                </a:r>
              </a:p>
            </p:txBody>
          </p:sp>
        </p:grpSp>
        <p:sp>
          <p:nvSpPr>
            <p:cNvPr id="382" name="RecSys container"/>
            <p:cNvSpPr/>
            <p:nvPr/>
          </p:nvSpPr>
          <p:spPr>
            <a:xfrm>
              <a:off x="13871448" y="3968496"/>
              <a:ext cx="2734056" cy="1645920"/>
            </a:xfrm>
            <a:custGeom>
              <a:avLst/>
              <a:gdLst/>
              <a:ahLst/>
              <a:cxnLst/>
              <a:rect l="0" t="0" r="r" b="b"/>
              <a:pathLst>
                <a:path w="2734056" h="1645920">
                  <a:moveTo>
                    <a:pt x="0" y="0"/>
                  </a:moveTo>
                  <a:lnTo>
                    <a:pt x="2734056" y="0"/>
                  </a:lnTo>
                  <a:lnTo>
                    <a:pt x="2734056" y="1645920"/>
                  </a:lnTo>
                  <a:lnTo>
                    <a:pt x="0" y="1645920"/>
                  </a:lnTo>
                  <a:close/>
                </a:path>
              </a:pathLst>
            </a:custGeom>
            <a:solidFill>
              <a:srgbClr val="ffffff"/>
            </a:solidFill>
            <a:ln w="31090" cap="flat" cmpd="sng" algn="ctr">
              <a:solidFill>
                <a:srgbClr val="59595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Sys"/>
            <p:cNvSpPr txBox="1"/>
            <p:nvPr/>
          </p:nvSpPr>
          <p:spPr>
            <a:xfrm>
              <a:off x="13945021" y="4277152"/>
              <a:ext cx="758109" cy="349758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36" b="1" i="0" lang="en-US">
                  <a:solidFill>
                    <a:srgbClr val="000000"/>
                  </a:solidFill>
                  <a:latin typeface="Liberation Serif"/>
                </a:rPr>
                <a:t>RecSys</a:t>
              </a:r>
            </a:p>
          </p:txBody>
        </p:sp>
        <p:grpSp>
          <p:nvGrpSpPr>
            <p:cNvPr id="384" name="Recommendation network icon"/>
            <p:cNvGrpSpPr/>
            <p:nvPr/>
          </p:nvGrpSpPr>
          <p:grpSpPr>
            <a:xfrm>
              <a:off x="14035126" y="4735678"/>
              <a:ext cx="523037" cy="532181"/>
              <a:chOff x="14035126" y="4735678"/>
              <a:chExt cx="523037" cy="532181"/>
            </a:xfrm>
          </p:grpSpPr>
          <p:sp>
            <p:nvSpPr>
              <p:cNvPr id="385" name="Connector"/>
              <p:cNvSpPr/>
              <p:nvPr/>
            </p:nvSpPr>
            <p:spPr>
              <a:xfrm>
                <a:off x="14081760" y="4782312"/>
                <a:ext cx="237744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37744" h="228600">
                    <a:moveTo>
                      <a:pt x="0" y="0"/>
                    </a:moveTo>
                    <a:lnTo>
                      <a:pt x="237744" y="228600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6" name="Connector"/>
              <p:cNvSpPr/>
              <p:nvPr/>
            </p:nvSpPr>
            <p:spPr>
              <a:xfrm>
                <a:off x="14081760" y="4782312"/>
                <a:ext cx="237744" cy="374904"/>
              </a:xfrm>
              <a:custGeom>
                <a:avLst/>
                <a:gdLst/>
                <a:ahLst/>
                <a:cxnLst/>
                <a:rect l="0" t="0" r="r" b="b"/>
                <a:pathLst>
                  <a:path w="237744" h="374904">
                    <a:moveTo>
                      <a:pt x="0" y="0"/>
                    </a:moveTo>
                    <a:lnTo>
                      <a:pt x="237744" y="374904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7" name="Connector"/>
              <p:cNvSpPr/>
              <p:nvPr/>
            </p:nvSpPr>
            <p:spPr>
              <a:xfrm>
                <a:off x="14081760" y="4864608"/>
                <a:ext cx="237744" cy="64008"/>
              </a:xfrm>
              <a:custGeom>
                <a:avLst/>
                <a:gdLst/>
                <a:ahLst/>
                <a:cxnLst/>
                <a:rect l="0" t="0" r="r" b="b"/>
                <a:pathLst>
                  <a:path w="237744" h="64008">
                    <a:moveTo>
                      <a:pt x="0" y="64008"/>
                    </a:moveTo>
                    <a:lnTo>
                      <a:pt x="237744" y="0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8" name="Connector"/>
              <p:cNvSpPr/>
              <p:nvPr/>
            </p:nvSpPr>
            <p:spPr>
              <a:xfrm>
                <a:off x="14081760" y="4928616"/>
                <a:ext cx="237744" cy="228600"/>
              </a:xfrm>
              <a:custGeom>
                <a:avLst/>
                <a:gdLst/>
                <a:ahLst/>
                <a:cxnLst/>
                <a:rect l="0" t="0" r="r" b="b"/>
                <a:pathLst>
                  <a:path w="237744" h="228600">
                    <a:moveTo>
                      <a:pt x="0" y="0"/>
                    </a:moveTo>
                    <a:lnTo>
                      <a:pt x="237744" y="228600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9" name="Connector"/>
              <p:cNvSpPr/>
              <p:nvPr/>
            </p:nvSpPr>
            <p:spPr>
              <a:xfrm>
                <a:off x="14081760" y="4864608"/>
                <a:ext cx="237744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237744" h="210312">
                    <a:moveTo>
                      <a:pt x="0" y="210312"/>
                    </a:moveTo>
                    <a:lnTo>
                      <a:pt x="237744" y="0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0" name="Connector"/>
              <p:cNvSpPr/>
              <p:nvPr/>
            </p:nvSpPr>
            <p:spPr>
              <a:xfrm>
                <a:off x="14081760" y="5010912"/>
                <a:ext cx="237744" cy="64008"/>
              </a:xfrm>
              <a:custGeom>
                <a:avLst/>
                <a:gdLst/>
                <a:ahLst/>
                <a:cxnLst/>
                <a:rect l="0" t="0" r="r" b="b"/>
                <a:pathLst>
                  <a:path w="237744" h="64008">
                    <a:moveTo>
                      <a:pt x="0" y="64008"/>
                    </a:moveTo>
                    <a:lnTo>
                      <a:pt x="237744" y="0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1" name="Connector"/>
              <p:cNvSpPr/>
              <p:nvPr/>
            </p:nvSpPr>
            <p:spPr>
              <a:xfrm>
                <a:off x="14081760" y="4864608"/>
                <a:ext cx="237744" cy="356616"/>
              </a:xfrm>
              <a:custGeom>
                <a:avLst/>
                <a:gdLst/>
                <a:ahLst/>
                <a:cxnLst/>
                <a:rect l="0" t="0" r="r" b="b"/>
                <a:pathLst>
                  <a:path w="237744" h="356616">
                    <a:moveTo>
                      <a:pt x="0" y="356616"/>
                    </a:moveTo>
                    <a:lnTo>
                      <a:pt x="237744" y="0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2" name="Connector"/>
              <p:cNvSpPr/>
              <p:nvPr/>
            </p:nvSpPr>
            <p:spPr>
              <a:xfrm>
                <a:off x="14081760" y="5010912"/>
                <a:ext cx="237744" cy="210312"/>
              </a:xfrm>
              <a:custGeom>
                <a:avLst/>
                <a:gdLst/>
                <a:ahLst/>
                <a:cxnLst/>
                <a:rect l="0" t="0" r="r" b="b"/>
                <a:pathLst>
                  <a:path w="237744" h="210312">
                    <a:moveTo>
                      <a:pt x="0" y="210312"/>
                    </a:moveTo>
                    <a:lnTo>
                      <a:pt x="237744" y="0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3" name="Connector"/>
              <p:cNvSpPr/>
              <p:nvPr/>
            </p:nvSpPr>
            <p:spPr>
              <a:xfrm>
                <a:off x="14319504" y="4864608"/>
                <a:ext cx="19202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92024" h="146304">
                    <a:moveTo>
                      <a:pt x="0" y="0"/>
                    </a:moveTo>
                    <a:lnTo>
                      <a:pt x="192024" y="146304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4" name="Connector"/>
              <p:cNvSpPr/>
              <p:nvPr/>
            </p:nvSpPr>
            <p:spPr>
              <a:xfrm>
                <a:off x="14319504" y="5010912"/>
                <a:ext cx="192024" cy="91"/>
              </a:xfrm>
              <a:custGeom>
                <a:avLst/>
                <a:gdLst/>
                <a:ahLst/>
                <a:cxnLst/>
                <a:rect l="0" t="0" r="r" b="b"/>
                <a:pathLst>
                  <a:path w="192024" h="91">
                    <a:moveTo>
                      <a:pt x="0" y="0"/>
                    </a:moveTo>
                    <a:lnTo>
                      <a:pt x="192024" y="0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5" name="Connector"/>
              <p:cNvSpPr/>
              <p:nvPr/>
            </p:nvSpPr>
            <p:spPr>
              <a:xfrm>
                <a:off x="14319504" y="5010912"/>
                <a:ext cx="192024" cy="146304"/>
              </a:xfrm>
              <a:custGeom>
                <a:avLst/>
                <a:gdLst/>
                <a:ahLst/>
                <a:cxnLst/>
                <a:rect l="0" t="0" r="r" b="b"/>
                <a:pathLst>
                  <a:path w="192024" h="146304">
                    <a:moveTo>
                      <a:pt x="0" y="146304"/>
                    </a:moveTo>
                    <a:lnTo>
                      <a:pt x="192024" y="0"/>
                    </a:lnTo>
                  </a:path>
                </a:pathLst>
              </a:custGeom>
              <a:noFill/>
              <a:ln w="29261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6" name="Ellipse"/>
              <p:cNvSpPr/>
              <p:nvPr/>
            </p:nvSpPr>
            <p:spPr>
              <a:xfrm>
                <a:off x="14035126" y="4735678"/>
                <a:ext cx="93269" cy="93269"/>
              </a:xfrm>
              <a:custGeom>
                <a:avLst/>
                <a:gdLst/>
                <a:ahLst/>
                <a:cxnLst/>
                <a:rect l="0" t="0" r="r" b="b"/>
                <a:pathLst>
                  <a:path w="93269" h="93269">
                    <a:moveTo>
                      <a:pt x="93269" y="46634"/>
                    </a:moveTo>
                    <a:cubicBezTo>
                      <a:pt x="93269" y="72390"/>
                      <a:pt x="72390" y="93269"/>
                      <a:pt x="46634" y="93269"/>
                    </a:cubicBezTo>
                    <a:cubicBezTo>
                      <a:pt x="20879" y="93269"/>
                      <a:pt x="0" y="72390"/>
                      <a:pt x="0" y="46634"/>
                    </a:cubicBezTo>
                    <a:cubicBezTo>
                      <a:pt x="0" y="20879"/>
                      <a:pt x="20879" y="0"/>
                      <a:pt x="46634" y="0"/>
                    </a:cubicBezTo>
                    <a:cubicBezTo>
                      <a:pt x="72390" y="0"/>
                      <a:pt x="93269" y="20879"/>
                      <a:pt x="93269" y="46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175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7" name="Ellipse"/>
              <p:cNvSpPr/>
              <p:nvPr/>
            </p:nvSpPr>
            <p:spPr>
              <a:xfrm>
                <a:off x="14035126" y="4881982"/>
                <a:ext cx="93269" cy="93269"/>
              </a:xfrm>
              <a:custGeom>
                <a:avLst/>
                <a:gdLst/>
                <a:ahLst/>
                <a:cxnLst/>
                <a:rect l="0" t="0" r="r" b="b"/>
                <a:pathLst>
                  <a:path w="93269" h="93269">
                    <a:moveTo>
                      <a:pt x="93269" y="46634"/>
                    </a:moveTo>
                    <a:cubicBezTo>
                      <a:pt x="93269" y="72390"/>
                      <a:pt x="72390" y="93269"/>
                      <a:pt x="46634" y="93269"/>
                    </a:cubicBezTo>
                    <a:cubicBezTo>
                      <a:pt x="20879" y="93269"/>
                      <a:pt x="0" y="72390"/>
                      <a:pt x="0" y="46634"/>
                    </a:cubicBezTo>
                    <a:cubicBezTo>
                      <a:pt x="0" y="20879"/>
                      <a:pt x="20879" y="0"/>
                      <a:pt x="46634" y="0"/>
                    </a:cubicBezTo>
                    <a:cubicBezTo>
                      <a:pt x="72390" y="0"/>
                      <a:pt x="93269" y="20879"/>
                      <a:pt x="93269" y="46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175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8" name="Ellipse"/>
              <p:cNvSpPr/>
              <p:nvPr/>
            </p:nvSpPr>
            <p:spPr>
              <a:xfrm>
                <a:off x="14035126" y="5028286"/>
                <a:ext cx="93269" cy="93269"/>
              </a:xfrm>
              <a:custGeom>
                <a:avLst/>
                <a:gdLst/>
                <a:ahLst/>
                <a:cxnLst/>
                <a:rect l="0" t="0" r="r" b="b"/>
                <a:pathLst>
                  <a:path w="93269" h="93269">
                    <a:moveTo>
                      <a:pt x="93269" y="46634"/>
                    </a:moveTo>
                    <a:cubicBezTo>
                      <a:pt x="93269" y="72390"/>
                      <a:pt x="72390" y="93269"/>
                      <a:pt x="46634" y="93269"/>
                    </a:cubicBezTo>
                    <a:cubicBezTo>
                      <a:pt x="20879" y="93269"/>
                      <a:pt x="0" y="72390"/>
                      <a:pt x="0" y="46634"/>
                    </a:cubicBezTo>
                    <a:cubicBezTo>
                      <a:pt x="0" y="20879"/>
                      <a:pt x="20879" y="0"/>
                      <a:pt x="46634" y="0"/>
                    </a:cubicBezTo>
                    <a:cubicBezTo>
                      <a:pt x="72390" y="0"/>
                      <a:pt x="93269" y="20879"/>
                      <a:pt x="93269" y="46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175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99" name="Ellipse"/>
              <p:cNvSpPr/>
              <p:nvPr/>
            </p:nvSpPr>
            <p:spPr>
              <a:xfrm>
                <a:off x="14035126" y="5174590"/>
                <a:ext cx="93269" cy="93269"/>
              </a:xfrm>
              <a:custGeom>
                <a:avLst/>
                <a:gdLst/>
                <a:ahLst/>
                <a:cxnLst/>
                <a:rect l="0" t="0" r="r" b="b"/>
                <a:pathLst>
                  <a:path w="93269" h="93269">
                    <a:moveTo>
                      <a:pt x="93269" y="46634"/>
                    </a:moveTo>
                    <a:cubicBezTo>
                      <a:pt x="93269" y="72390"/>
                      <a:pt x="72390" y="93269"/>
                      <a:pt x="46634" y="93269"/>
                    </a:cubicBezTo>
                    <a:cubicBezTo>
                      <a:pt x="20879" y="93269"/>
                      <a:pt x="0" y="72390"/>
                      <a:pt x="0" y="46634"/>
                    </a:cubicBezTo>
                    <a:cubicBezTo>
                      <a:pt x="0" y="20879"/>
                      <a:pt x="20879" y="0"/>
                      <a:pt x="46634" y="0"/>
                    </a:cubicBezTo>
                    <a:cubicBezTo>
                      <a:pt x="72390" y="0"/>
                      <a:pt x="93269" y="20879"/>
                      <a:pt x="93269" y="46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175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0" name="Ellipse"/>
              <p:cNvSpPr/>
              <p:nvPr/>
            </p:nvSpPr>
            <p:spPr>
              <a:xfrm>
                <a:off x="14272870" y="4817974"/>
                <a:ext cx="93269" cy="93269"/>
              </a:xfrm>
              <a:custGeom>
                <a:avLst/>
                <a:gdLst/>
                <a:ahLst/>
                <a:cxnLst/>
                <a:rect l="0" t="0" r="r" b="b"/>
                <a:pathLst>
                  <a:path w="93269" h="93269">
                    <a:moveTo>
                      <a:pt x="93269" y="46634"/>
                    </a:moveTo>
                    <a:cubicBezTo>
                      <a:pt x="93269" y="72390"/>
                      <a:pt x="72390" y="93269"/>
                      <a:pt x="46634" y="93269"/>
                    </a:cubicBezTo>
                    <a:cubicBezTo>
                      <a:pt x="20879" y="93269"/>
                      <a:pt x="0" y="72390"/>
                      <a:pt x="0" y="46634"/>
                    </a:cubicBezTo>
                    <a:cubicBezTo>
                      <a:pt x="0" y="20879"/>
                      <a:pt x="20879" y="0"/>
                      <a:pt x="46634" y="0"/>
                    </a:cubicBezTo>
                    <a:cubicBezTo>
                      <a:pt x="72390" y="0"/>
                      <a:pt x="93269" y="20879"/>
                      <a:pt x="93269" y="46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175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1" name="Ellipse"/>
              <p:cNvSpPr/>
              <p:nvPr/>
            </p:nvSpPr>
            <p:spPr>
              <a:xfrm>
                <a:off x="14272870" y="4964278"/>
                <a:ext cx="93269" cy="93269"/>
              </a:xfrm>
              <a:custGeom>
                <a:avLst/>
                <a:gdLst/>
                <a:ahLst/>
                <a:cxnLst/>
                <a:rect l="0" t="0" r="r" b="b"/>
                <a:pathLst>
                  <a:path w="93269" h="93269">
                    <a:moveTo>
                      <a:pt x="93269" y="46634"/>
                    </a:moveTo>
                    <a:cubicBezTo>
                      <a:pt x="93269" y="72390"/>
                      <a:pt x="72390" y="93269"/>
                      <a:pt x="46634" y="93269"/>
                    </a:cubicBezTo>
                    <a:cubicBezTo>
                      <a:pt x="20879" y="93269"/>
                      <a:pt x="0" y="72390"/>
                      <a:pt x="0" y="46634"/>
                    </a:cubicBezTo>
                    <a:cubicBezTo>
                      <a:pt x="0" y="20879"/>
                      <a:pt x="20879" y="0"/>
                      <a:pt x="46634" y="0"/>
                    </a:cubicBezTo>
                    <a:cubicBezTo>
                      <a:pt x="72390" y="0"/>
                      <a:pt x="93269" y="20879"/>
                      <a:pt x="93269" y="46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175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2" name="Ellipse"/>
              <p:cNvSpPr/>
              <p:nvPr/>
            </p:nvSpPr>
            <p:spPr>
              <a:xfrm>
                <a:off x="14272870" y="5110582"/>
                <a:ext cx="93269" cy="93269"/>
              </a:xfrm>
              <a:custGeom>
                <a:avLst/>
                <a:gdLst/>
                <a:ahLst/>
                <a:cxnLst/>
                <a:rect l="0" t="0" r="r" b="b"/>
                <a:pathLst>
                  <a:path w="93269" h="93269">
                    <a:moveTo>
                      <a:pt x="93269" y="46634"/>
                    </a:moveTo>
                    <a:cubicBezTo>
                      <a:pt x="93269" y="72390"/>
                      <a:pt x="72390" y="93269"/>
                      <a:pt x="46634" y="93269"/>
                    </a:cubicBezTo>
                    <a:cubicBezTo>
                      <a:pt x="20879" y="93269"/>
                      <a:pt x="0" y="72390"/>
                      <a:pt x="0" y="46634"/>
                    </a:cubicBezTo>
                    <a:cubicBezTo>
                      <a:pt x="0" y="20879"/>
                      <a:pt x="20879" y="0"/>
                      <a:pt x="46634" y="0"/>
                    </a:cubicBezTo>
                    <a:cubicBezTo>
                      <a:pt x="72390" y="0"/>
                      <a:pt x="93269" y="20879"/>
                      <a:pt x="93269" y="46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175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3" name="Ellipse"/>
              <p:cNvSpPr/>
              <p:nvPr/>
            </p:nvSpPr>
            <p:spPr>
              <a:xfrm>
                <a:off x="14464894" y="4964278"/>
                <a:ext cx="93269" cy="93269"/>
              </a:xfrm>
              <a:custGeom>
                <a:avLst/>
                <a:gdLst/>
                <a:ahLst/>
                <a:cxnLst/>
                <a:rect l="0" t="0" r="r" b="b"/>
                <a:pathLst>
                  <a:path w="93269" h="93269">
                    <a:moveTo>
                      <a:pt x="93269" y="46634"/>
                    </a:moveTo>
                    <a:cubicBezTo>
                      <a:pt x="93269" y="72390"/>
                      <a:pt x="72390" y="93269"/>
                      <a:pt x="46634" y="93269"/>
                    </a:cubicBezTo>
                    <a:cubicBezTo>
                      <a:pt x="20879" y="93269"/>
                      <a:pt x="0" y="72390"/>
                      <a:pt x="0" y="46634"/>
                    </a:cubicBezTo>
                    <a:cubicBezTo>
                      <a:pt x="0" y="20879"/>
                      <a:pt x="20879" y="0"/>
                      <a:pt x="46634" y="0"/>
                    </a:cubicBezTo>
                    <a:cubicBezTo>
                      <a:pt x="72390" y="0"/>
                      <a:pt x="93269" y="20879"/>
                      <a:pt x="93269" y="46634"/>
                    </a:cubicBezTo>
                    <a:close/>
                  </a:path>
                </a:pathLst>
              </a:custGeom>
              <a:solidFill>
                <a:srgbClr val="ffffff"/>
              </a:solidFill>
              <a:ln w="30175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04" name="Tag based encoder"/>
            <p:cNvSpPr/>
            <p:nvPr/>
          </p:nvSpPr>
          <p:spPr>
            <a:xfrm>
              <a:off x="14639544" y="4197096"/>
              <a:ext cx="1892808" cy="630936"/>
            </a:xfrm>
            <a:custGeom>
              <a:avLst/>
              <a:gdLst/>
              <a:ahLst/>
              <a:cxnLst/>
              <a:rect l="0" t="0" r="r" b="b"/>
              <a:pathLst>
                <a:path w="1892808" h="630936">
                  <a:moveTo>
                    <a:pt x="109728" y="0"/>
                  </a:moveTo>
                  <a:lnTo>
                    <a:pt x="1783080" y="0"/>
                  </a:lnTo>
                  <a:cubicBezTo>
                    <a:pt x="1843681" y="0"/>
                    <a:pt x="1892808" y="49127"/>
                    <a:pt x="1892808" y="109728"/>
                  </a:cubicBezTo>
                  <a:lnTo>
                    <a:pt x="1892808" y="521208"/>
                  </a:lnTo>
                  <a:cubicBezTo>
                    <a:pt x="1892808" y="581809"/>
                    <a:pt x="1843681" y="630936"/>
                    <a:pt x="1783080" y="630936"/>
                  </a:cubicBezTo>
                  <a:lnTo>
                    <a:pt x="109728" y="630936"/>
                  </a:lnTo>
                  <a:cubicBezTo>
                    <a:pt x="49127" y="630936"/>
                    <a:pt x="0" y="581809"/>
                    <a:pt x="0" y="521208"/>
                  </a:cubicBezTo>
                  <a:lnTo>
                    <a:pt x="0" y="109728"/>
                  </a:lnTo>
                  <a:cubicBezTo>
                    <a:pt x="0" y="49127"/>
                    <a:pt x="49127" y="0"/>
                    <a:pt x="109728" y="0"/>
                  </a:cubicBezTo>
                  <a:close/>
                </a:path>
              </a:pathLst>
            </a:custGeom>
            <a:solidFill>
              <a:srgbClr val="d5fcf4"/>
            </a:solidFill>
            <a:ln w="18288" cap="flat" cmpd="sng" algn="ctr">
              <a:solidFill>
                <a:srgbClr val="d8d8d8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5" name="Tag-based"/>
            <p:cNvSpPr txBox="1"/>
            <p:nvPr/>
          </p:nvSpPr>
          <p:spPr>
            <a:xfrm>
              <a:off x="15169517" y="4272260"/>
              <a:ext cx="869437" cy="30175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 lang="en-US">
                  <a:solidFill>
                    <a:srgbClr val="000000"/>
                  </a:solidFill>
                  <a:latin typeface="Liberation Serif"/>
                </a:rPr>
                <a:t>Tag-based</a:t>
              </a:r>
            </a:p>
          </p:txBody>
        </p:sp>
        <p:sp>
          <p:nvSpPr>
            <p:cNvPr id="406" name="Item/User Encoder"/>
            <p:cNvSpPr txBox="1"/>
            <p:nvPr/>
          </p:nvSpPr>
          <p:spPr>
            <a:xfrm>
              <a:off x="14818945" y="4473428"/>
              <a:ext cx="1570582" cy="30175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 lang="en-US">
                  <a:solidFill>
                    <a:srgbClr val="000000"/>
                  </a:solidFill>
                  <a:latin typeface="Liberation Serif"/>
                </a:rPr>
                <a:t>Item/User Encoder</a:t>
              </a:r>
            </a:p>
          </p:txBody>
        </p:sp>
        <p:sp>
          <p:nvSpPr>
            <p:cNvPr id="407" name="Tag logic inference extension"/>
            <p:cNvSpPr/>
            <p:nvPr/>
          </p:nvSpPr>
          <p:spPr>
            <a:xfrm>
              <a:off x="14612112" y="4873752"/>
              <a:ext cx="1920240" cy="612648"/>
            </a:xfrm>
            <a:custGeom>
              <a:avLst/>
              <a:gdLst/>
              <a:ahLst/>
              <a:cxnLst/>
              <a:rect l="0" t="0" r="r" b="b"/>
              <a:pathLst>
                <a:path w="1920240" h="612648">
                  <a:moveTo>
                    <a:pt x="109728" y="0"/>
                  </a:moveTo>
                  <a:lnTo>
                    <a:pt x="1810512" y="0"/>
                  </a:lnTo>
                  <a:cubicBezTo>
                    <a:pt x="1871113" y="0"/>
                    <a:pt x="1920240" y="49127"/>
                    <a:pt x="1920240" y="109728"/>
                  </a:cubicBezTo>
                  <a:lnTo>
                    <a:pt x="1920240" y="502920"/>
                  </a:lnTo>
                  <a:cubicBezTo>
                    <a:pt x="1920240" y="563521"/>
                    <a:pt x="1871113" y="612648"/>
                    <a:pt x="1810512" y="612648"/>
                  </a:cubicBezTo>
                  <a:lnTo>
                    <a:pt x="109728" y="612648"/>
                  </a:lnTo>
                  <a:cubicBezTo>
                    <a:pt x="49127" y="612648"/>
                    <a:pt x="0" y="563521"/>
                    <a:pt x="0" y="502920"/>
                  </a:cubicBezTo>
                  <a:lnTo>
                    <a:pt x="0" y="109728"/>
                  </a:lnTo>
                  <a:cubicBezTo>
                    <a:pt x="0" y="49127"/>
                    <a:pt x="49127" y="0"/>
                    <a:pt x="109728" y="0"/>
                  </a:cubicBezTo>
                  <a:close/>
                </a:path>
              </a:pathLst>
            </a:custGeom>
            <a:solidFill>
              <a:srgbClr val="fff3d2"/>
            </a:solidFill>
            <a:ln w="18288" cap="flat" cmpd="sng" algn="ctr">
              <a:solidFill>
                <a:srgbClr val="d8d8d8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Tag-logic"/>
            <p:cNvSpPr txBox="1"/>
            <p:nvPr/>
          </p:nvSpPr>
          <p:spPr>
            <a:xfrm>
              <a:off x="15188263" y="4939772"/>
              <a:ext cx="813659" cy="30175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 lang="en-US">
                  <a:solidFill>
                    <a:srgbClr val="000000"/>
                  </a:solidFill>
                  <a:latin typeface="Liberation Serif"/>
                </a:rPr>
                <a:t>Tag-logic</a:t>
              </a:r>
            </a:p>
          </p:txBody>
        </p:sp>
        <p:sp>
          <p:nvSpPr>
            <p:cNvPr id="409" name="Inference Extension"/>
            <p:cNvSpPr txBox="1"/>
            <p:nvPr/>
          </p:nvSpPr>
          <p:spPr>
            <a:xfrm>
              <a:off x="14765160" y="5177516"/>
              <a:ext cx="1659865" cy="30175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 i="0" lang="en-US">
                  <a:solidFill>
                    <a:srgbClr val="000000"/>
                  </a:solidFill>
                  <a:latin typeface="Liberation Serif"/>
                </a:rPr>
                <a:t>Inference Extension</a:t>
              </a:r>
            </a:p>
          </p:txBody>
        </p:sp>
        <p:sp>
          <p:nvSpPr>
            <p:cNvPr id="410" name="Candidate"/>
            <p:cNvSpPr txBox="1"/>
            <p:nvPr/>
          </p:nvSpPr>
          <p:spPr>
            <a:xfrm>
              <a:off x="16481681" y="3567989"/>
              <a:ext cx="787141" cy="274320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0" lang="en-US">
                  <a:solidFill>
                    <a:srgbClr val="000000"/>
                  </a:solidFill>
                  <a:latin typeface="Liberation Serif"/>
                </a:rPr>
                <a:t>Candidate</a:t>
              </a:r>
            </a:p>
          </p:txBody>
        </p:sp>
        <p:sp>
          <p:nvSpPr>
            <p:cNvPr id="411" name="item"/>
            <p:cNvSpPr txBox="1"/>
            <p:nvPr/>
          </p:nvSpPr>
          <p:spPr>
            <a:xfrm>
              <a:off x="16689879" y="3787445"/>
              <a:ext cx="370746" cy="274320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0" i="0" lang="en-US">
                  <a:solidFill>
                    <a:srgbClr val="000000"/>
                  </a:solidFill>
                  <a:latin typeface="Liberation Serif"/>
                </a:rPr>
                <a:t>item</a:t>
              </a:r>
            </a:p>
          </p:txBody>
        </p:sp>
        <p:grpSp>
          <p:nvGrpSpPr>
            <p:cNvPr id="412" name="Candidate watch icon"/>
            <p:cNvGrpSpPr/>
            <p:nvPr/>
          </p:nvGrpSpPr>
          <p:grpSpPr>
            <a:xfrm>
              <a:off x="16717061" y="4069080"/>
              <a:ext cx="247802" cy="338328"/>
              <a:chOff x="16717061" y="4069080"/>
              <a:chExt cx="247802" cy="338328"/>
            </a:xfrm>
          </p:grpSpPr>
          <p:sp>
            <p:nvSpPr>
              <p:cNvPr id="413" name="Path"/>
              <p:cNvSpPr/>
              <p:nvPr/>
            </p:nvSpPr>
            <p:spPr>
              <a:xfrm>
                <a:off x="16733520" y="4069080"/>
                <a:ext cx="192024" cy="338328"/>
              </a:xfrm>
              <a:custGeom>
                <a:avLst/>
                <a:gdLst/>
                <a:ahLst/>
                <a:cxnLst/>
                <a:rect l="0" t="0" r="r" b="b"/>
                <a:pathLst>
                  <a:path w="192024" h="338328">
                    <a:moveTo>
                      <a:pt x="18288" y="0"/>
                    </a:moveTo>
                    <a:lnTo>
                      <a:pt x="173736" y="0"/>
                    </a:lnTo>
                    <a:lnTo>
                      <a:pt x="192024" y="73152"/>
                    </a:lnTo>
                    <a:lnTo>
                      <a:pt x="0" y="73152"/>
                    </a:lnTo>
                    <a:close/>
                    <a:moveTo>
                      <a:pt x="0" y="256032"/>
                    </a:moveTo>
                    <a:lnTo>
                      <a:pt x="192024" y="256032"/>
                    </a:lnTo>
                    <a:lnTo>
                      <a:pt x="173736" y="338328"/>
                    </a:lnTo>
                    <a:lnTo>
                      <a:pt x="27432" y="338328"/>
                    </a:ln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Ellipse"/>
              <p:cNvSpPr/>
              <p:nvPr/>
            </p:nvSpPr>
            <p:spPr>
              <a:xfrm>
                <a:off x="16717061" y="4125773"/>
                <a:ext cx="224942" cy="224942"/>
              </a:xfrm>
              <a:custGeom>
                <a:avLst/>
                <a:gdLst/>
                <a:ahLst/>
                <a:cxnLst/>
                <a:rect l="0" t="0" r="r" b="b"/>
                <a:pathLst>
                  <a:path w="224942" h="224942">
                    <a:moveTo>
                      <a:pt x="224942" y="112471"/>
                    </a:moveTo>
                    <a:cubicBezTo>
                      <a:pt x="224942" y="174587"/>
                      <a:pt x="174587" y="224942"/>
                      <a:pt x="112471" y="224942"/>
                    </a:cubicBezTo>
                    <a:cubicBezTo>
                      <a:pt x="50355" y="224942"/>
                      <a:pt x="0" y="174587"/>
                      <a:pt x="0" y="112471"/>
                    </a:cubicBezTo>
                    <a:cubicBezTo>
                      <a:pt x="0" y="50355"/>
                      <a:pt x="50355" y="0"/>
                      <a:pt x="112471" y="0"/>
                    </a:cubicBezTo>
                    <a:cubicBezTo>
                      <a:pt x="174587" y="0"/>
                      <a:pt x="224942" y="50355"/>
                      <a:pt x="224942" y="112471"/>
                    </a:cubicBezTo>
                    <a:close/>
                  </a:path>
                </a:pathLst>
              </a:custGeom>
              <a:solidFill>
                <a:srgbClr val="ffffff"/>
              </a:solidFill>
              <a:ln w="20117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5" name="Ellipse"/>
              <p:cNvSpPr/>
              <p:nvPr/>
            </p:nvSpPr>
            <p:spPr>
              <a:xfrm>
                <a:off x="16750894" y="4159606"/>
                <a:ext cx="157277" cy="157277"/>
              </a:xfrm>
              <a:custGeom>
                <a:avLst/>
                <a:gdLst/>
                <a:ahLst/>
                <a:cxnLst/>
                <a:rect l="0" t="0" r="r" b="b"/>
                <a:pathLst>
                  <a:path w="157277" h="157277">
                    <a:moveTo>
                      <a:pt x="157277" y="78638"/>
                    </a:moveTo>
                    <a:cubicBezTo>
                      <a:pt x="157277" y="122069"/>
                      <a:pt x="122069" y="157277"/>
                      <a:pt x="78638" y="157277"/>
                    </a:cubicBezTo>
                    <a:cubicBezTo>
                      <a:pt x="35208" y="157277"/>
                      <a:pt x="0" y="122069"/>
                      <a:pt x="0" y="78638"/>
                    </a:cubicBezTo>
                    <a:cubicBezTo>
                      <a:pt x="0" y="35208"/>
                      <a:pt x="35208" y="0"/>
                      <a:pt x="78638" y="0"/>
                    </a:cubicBezTo>
                    <a:cubicBezTo>
                      <a:pt x="122069" y="0"/>
                      <a:pt x="157277" y="35208"/>
                      <a:pt x="157277" y="78638"/>
                    </a:cubicBezTo>
                    <a:close/>
                  </a:path>
                </a:pathLst>
              </a:custGeom>
              <a:noFill/>
              <a:ln w="14630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Connector"/>
              <p:cNvSpPr/>
              <p:nvPr/>
            </p:nvSpPr>
            <p:spPr>
              <a:xfrm>
                <a:off x="16829532" y="4178808"/>
                <a:ext cx="45720" cy="96012"/>
              </a:xfrm>
              <a:custGeom>
                <a:avLst/>
                <a:gdLst/>
                <a:ahLst/>
                <a:cxnLst/>
                <a:rect l="0" t="0" r="r" b="b"/>
                <a:pathLst>
                  <a:path w="45720" h="96012">
                    <a:moveTo>
                      <a:pt x="0" y="0"/>
                    </a:moveTo>
                    <a:lnTo>
                      <a:pt x="0" y="59436"/>
                    </a:lnTo>
                    <a:lnTo>
                      <a:pt x="45720" y="96012"/>
                    </a:lnTo>
                  </a:path>
                </a:pathLst>
              </a:custGeom>
              <a:noFill/>
              <a:ln w="16459" cap="flat" cmpd="sng" algn="ctr">
                <a:solidFill>
                  <a:srgbClr val="000000"/>
                </a:solidFill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7" name="Rectangle"/>
              <p:cNvSpPr/>
              <p:nvPr/>
            </p:nvSpPr>
            <p:spPr>
              <a:xfrm>
                <a:off x="16943832" y="4206240"/>
                <a:ext cx="21031" cy="64008"/>
              </a:xfrm>
              <a:custGeom>
                <a:avLst/>
                <a:gdLst/>
                <a:ahLst/>
                <a:cxnLst/>
                <a:rect l="0" t="0" r="r" b="b"/>
                <a:pathLst>
                  <a:path w="21031" h="64008">
                    <a:moveTo>
                      <a:pt x="9144" y="0"/>
                    </a:moveTo>
                    <a:lnTo>
                      <a:pt x="11887" y="0"/>
                    </a:lnTo>
                    <a:cubicBezTo>
                      <a:pt x="16937" y="0"/>
                      <a:pt x="21031" y="4094"/>
                      <a:pt x="21031" y="9144"/>
                    </a:cubicBezTo>
                    <a:lnTo>
                      <a:pt x="21031" y="54864"/>
                    </a:lnTo>
                    <a:cubicBezTo>
                      <a:pt x="21031" y="59914"/>
                      <a:pt x="16937" y="64008"/>
                      <a:pt x="11887" y="64008"/>
                    </a:cubicBezTo>
                    <a:lnTo>
                      <a:pt x="9144" y="64008"/>
                    </a:lnTo>
                    <a:cubicBezTo>
                      <a:pt x="4094" y="64008"/>
                      <a:pt x="0" y="59914"/>
                      <a:pt x="0" y="54864"/>
                    </a:cubicBezTo>
                    <a:lnTo>
                      <a:pt x="0" y="9144"/>
                    </a:lnTo>
                    <a:cubicBezTo>
                      <a:pt x="0" y="4094"/>
                      <a:pt x="4094" y="0"/>
                      <a:pt x="914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144" cap="flat" cmpd="sng" algn="ctr">
                <a:noFill/>
                <a:miter lim="800000"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418" name="Candidate item vector"/>
            <p:cNvGrpSpPr/>
            <p:nvPr/>
          </p:nvGrpSpPr>
          <p:grpSpPr>
            <a:xfrm>
              <a:off x="17060990" y="4053169"/>
              <a:ext cx="195453" cy="371286"/>
              <a:chOff x="17060990" y="4053169"/>
              <a:chExt cx="195453" cy="371286"/>
            </a:xfrm>
          </p:grpSpPr>
          <p:sp>
            <p:nvSpPr>
              <p:cNvPr id="419" name="v"/>
              <p:cNvSpPr txBox="1"/>
              <p:nvPr/>
            </p:nvSpPr>
            <p:spPr>
              <a:xfrm>
                <a:off x="17060990" y="4053169"/>
                <a:ext cx="151247" cy="356616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872" b="1" i="1" lang="en-US">
                    <a:solidFill>
                      <a:srgbClr val="000000"/>
                    </a:solidFill>
                    <a:latin typeface="Liberation Serif"/>
                  </a:rPr>
                  <a:t>v</a:t>
                </a:r>
              </a:p>
            </p:txBody>
          </p:sp>
          <p:sp>
            <p:nvSpPr>
              <p:cNvPr id="420" name="i"/>
              <p:cNvSpPr txBox="1"/>
              <p:nvPr/>
            </p:nvSpPr>
            <p:spPr>
              <a:xfrm>
                <a:off x="17166517" y="4185522"/>
                <a:ext cx="89926" cy="238933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254" b="1" i="1" lang="en-US">
                    <a:solidFill>
                      <a:srgbClr val="000000"/>
                    </a:solidFill>
                    <a:latin typeface="Liberation Serif"/>
                  </a:rPr>
                  <a:t>i</a:t>
                </a:r>
              </a:p>
            </p:txBody>
          </p:sp>
        </p:grpSp>
        <p:sp>
          <p:nvSpPr>
            <p:cNvPr id="421" name="Connector"/>
            <p:cNvSpPr/>
            <p:nvPr/>
          </p:nvSpPr>
          <p:spPr>
            <a:xfrm>
              <a:off x="16623792" y="4425696"/>
              <a:ext cx="448056" cy="676656"/>
            </a:xfrm>
            <a:custGeom>
              <a:avLst/>
              <a:gdLst/>
              <a:ahLst/>
              <a:cxnLst/>
              <a:rect l="0" t="0" r="r" b="b"/>
              <a:pathLst>
                <a:path w="448056" h="676656">
                  <a:moveTo>
                    <a:pt x="448056" y="0"/>
                  </a:moveTo>
                  <a:lnTo>
                    <a:pt x="448056" y="676656"/>
                  </a:lnTo>
                  <a:lnTo>
                    <a:pt x="0" y="676656"/>
                  </a:lnTo>
                </a:path>
              </a:pathLst>
            </a:custGeom>
            <a:noFill/>
            <a:ln w="24689" cap="flat" cmpd="sng" algn="ctr">
              <a:solidFill>
                <a:srgbClr val="0000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Arrowhead"/>
            <p:cNvSpPr/>
            <p:nvPr/>
          </p:nvSpPr>
          <p:spPr>
            <a:xfrm>
              <a:off x="16623792" y="5054072"/>
              <a:ext cx="109728" cy="96561"/>
            </a:xfrm>
            <a:custGeom>
              <a:avLst/>
              <a:gdLst/>
              <a:ahLst/>
              <a:cxnLst/>
              <a:rect l="0" t="0" r="r" b="b"/>
              <a:pathLst>
                <a:path w="109728" h="96561">
                  <a:moveTo>
                    <a:pt x="0" y="48280"/>
                  </a:moveTo>
                  <a:lnTo>
                    <a:pt x="109728" y="0"/>
                  </a:lnTo>
                  <a:lnTo>
                    <a:pt x="82296" y="48280"/>
                  </a:lnTo>
                  <a:lnTo>
                    <a:pt x="109728" y="96561"/>
                  </a:lnTo>
                  <a:close/>
                </a:path>
              </a:pathLst>
            </a:custGeom>
            <a:solidFill>
              <a:srgbClr val="00000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Connector"/>
            <p:cNvSpPr/>
            <p:nvPr/>
          </p:nvSpPr>
          <p:spPr>
            <a:xfrm>
              <a:off x="14173200" y="5623560"/>
              <a:ext cx="91" cy="521208"/>
            </a:xfrm>
            <a:custGeom>
              <a:avLst/>
              <a:gdLst/>
              <a:ahLst/>
              <a:cxnLst/>
              <a:rect l="0" t="0" r="r" b="b"/>
              <a:pathLst>
                <a:path w="91" h="521208">
                  <a:moveTo>
                    <a:pt x="0" y="521208"/>
                  </a:moveTo>
                  <a:lnTo>
                    <a:pt x="0" y="0"/>
                  </a:lnTo>
                </a:path>
              </a:pathLst>
            </a:custGeom>
            <a:noFill/>
            <a:ln w="23774" cap="flat" cmpd="sng" algn="ctr">
              <a:solidFill>
                <a:srgbClr val="000000"/>
              </a:solidFill>
              <a:custDash>
                <a:ds d="269231" sp="192308"/>
              </a:custDash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Arrowhead"/>
            <p:cNvSpPr/>
            <p:nvPr/>
          </p:nvSpPr>
          <p:spPr>
            <a:xfrm>
              <a:off x="14124920" y="5623560"/>
              <a:ext cx="96561" cy="109728"/>
            </a:xfrm>
            <a:custGeom>
              <a:avLst/>
              <a:gdLst/>
              <a:ahLst/>
              <a:cxnLst/>
              <a:rect l="0" t="0" r="r" b="b"/>
              <a:pathLst>
                <a:path w="96561" h="109728">
                  <a:moveTo>
                    <a:pt x="48280" y="0"/>
                  </a:moveTo>
                  <a:lnTo>
                    <a:pt x="96561" y="109728"/>
                  </a:lnTo>
                  <a:lnTo>
                    <a:pt x="48280" y="82296"/>
                  </a:lnTo>
                  <a:lnTo>
                    <a:pt x="0" y="109728"/>
                  </a:lnTo>
                  <a:close/>
                </a:path>
              </a:pathLst>
            </a:custGeom>
            <a:solidFill>
              <a:srgbClr val="00000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5" name="Backpropagation"/>
            <p:cNvSpPr txBox="1"/>
            <p:nvPr/>
          </p:nvSpPr>
          <p:spPr>
            <a:xfrm>
              <a:off x="12989238" y="5826374"/>
              <a:ext cx="1170061" cy="246888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96" b="0" i="0" lang="en-US">
                  <a:solidFill>
                    <a:srgbClr val="000000"/>
                  </a:solidFill>
                  <a:latin typeface="Liberation Serif"/>
                </a:rPr>
                <a:t>Backpropagation</a:t>
              </a:r>
            </a:p>
          </p:txBody>
        </p:sp>
        <p:sp>
          <p:nvSpPr>
            <p:cNvPr id="426" name="Tag based learning augmentation"/>
            <p:cNvSpPr/>
            <p:nvPr/>
          </p:nvSpPr>
          <p:spPr>
            <a:xfrm>
              <a:off x="11987784" y="6153912"/>
              <a:ext cx="3017520" cy="822960"/>
            </a:xfrm>
            <a:custGeom>
              <a:avLst/>
              <a:gdLst/>
              <a:ahLst/>
              <a:cxnLst/>
              <a:rect l="0" t="0" r="r" b="b"/>
              <a:pathLst>
                <a:path w="3017520" h="822960">
                  <a:moveTo>
                    <a:pt x="146304" y="0"/>
                  </a:moveTo>
                  <a:lnTo>
                    <a:pt x="2871216" y="0"/>
                  </a:lnTo>
                  <a:cubicBezTo>
                    <a:pt x="2952017" y="0"/>
                    <a:pt x="3017520" y="65503"/>
                    <a:pt x="3017520" y="146304"/>
                  </a:cubicBezTo>
                  <a:lnTo>
                    <a:pt x="3017520" y="676656"/>
                  </a:lnTo>
                  <a:cubicBezTo>
                    <a:pt x="3017520" y="757457"/>
                    <a:pt x="2952017" y="822960"/>
                    <a:pt x="2871216" y="822960"/>
                  </a:cubicBezTo>
                  <a:lnTo>
                    <a:pt x="146304" y="822960"/>
                  </a:lnTo>
                  <a:cubicBezTo>
                    <a:pt x="65503" y="822960"/>
                    <a:pt x="0" y="757457"/>
                    <a:pt x="0" y="676656"/>
                  </a:cubicBezTo>
                  <a:lnTo>
                    <a:pt x="0" y="146304"/>
                  </a:lnTo>
                  <a:cubicBezTo>
                    <a:pt x="0" y="65503"/>
                    <a:pt x="65503" y="0"/>
                    <a:pt x="146304" y="0"/>
                  </a:cubicBezTo>
                  <a:close/>
                </a:path>
              </a:pathLst>
            </a:custGeom>
            <a:solidFill>
              <a:srgbClr val="d2efff"/>
            </a:solidFill>
            <a:ln w="18288" cap="flat" cmpd="sng" algn="ctr">
              <a:solidFill>
                <a:srgbClr val="d9d9d9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427" name="Learning objective"/>
            <p:cNvGrpSpPr/>
            <p:nvPr/>
          </p:nvGrpSpPr>
          <p:grpSpPr>
            <a:xfrm>
              <a:off x="12214255" y="6288740"/>
              <a:ext cx="2610298" cy="355085"/>
              <a:chOff x="12214255" y="6288740"/>
              <a:chExt cx="2610298" cy="355085"/>
            </a:xfrm>
          </p:grpSpPr>
          <p:sp>
            <p:nvSpPr>
              <p:cNvPr id="428" name="ℒ"/>
              <p:cNvSpPr txBox="1"/>
              <p:nvPr/>
            </p:nvSpPr>
            <p:spPr>
              <a:xfrm>
                <a:off x="12214255" y="6307783"/>
                <a:ext cx="218227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atin Modern Math"/>
                  </a:rPr>
                  <a:t>ℒ</a:t>
                </a:r>
              </a:p>
            </p:txBody>
          </p:sp>
          <p:sp>
            <p:nvSpPr>
              <p:cNvPr id="429" name=" = "/>
              <p:cNvSpPr txBox="1"/>
              <p:nvPr/>
            </p:nvSpPr>
            <p:spPr>
              <a:xfrm>
                <a:off x="12386762" y="6288740"/>
                <a:ext cx="284078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 = </a:t>
                </a:r>
              </a:p>
            </p:txBody>
          </p:sp>
          <p:sp>
            <p:nvSpPr>
              <p:cNvPr id="430" name="λ"/>
              <p:cNvSpPr txBox="1"/>
              <p:nvPr/>
            </p:nvSpPr>
            <p:spPr>
              <a:xfrm>
                <a:off x="12625121" y="6288740"/>
                <a:ext cx="142746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1" lang="en-US">
                    <a:solidFill>
                      <a:srgbClr val="000000"/>
                    </a:solidFill>
                    <a:latin typeface="Liberation Serif"/>
                  </a:rPr>
                  <a:t>λ</a:t>
                </a:r>
              </a:p>
            </p:txBody>
          </p:sp>
          <p:sp>
            <p:nvSpPr>
              <p:cNvPr id="431" name="("/>
              <p:cNvSpPr txBox="1"/>
              <p:nvPr/>
            </p:nvSpPr>
            <p:spPr>
              <a:xfrm>
                <a:off x="12722147" y="6288740"/>
                <a:ext cx="120329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(</a:t>
                </a:r>
              </a:p>
            </p:txBody>
          </p:sp>
          <p:sp>
            <p:nvSpPr>
              <p:cNvPr id="432" name="ℒ"/>
              <p:cNvSpPr txBox="1"/>
              <p:nvPr/>
            </p:nvSpPr>
            <p:spPr>
              <a:xfrm>
                <a:off x="12796757" y="6307783"/>
                <a:ext cx="218227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atin Modern Math"/>
                  </a:rPr>
                  <a:t>ℒ</a:t>
                </a:r>
              </a:p>
            </p:txBody>
          </p:sp>
          <p:sp>
            <p:nvSpPr>
              <p:cNvPr id="433" name="ut"/>
              <p:cNvSpPr txBox="1"/>
              <p:nvPr/>
            </p:nvSpPr>
            <p:spPr>
              <a:xfrm>
                <a:off x="12969264" y="6413457"/>
                <a:ext cx="162363" cy="22514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81" b="0" i="0" lang="en-US">
                    <a:solidFill>
                      <a:srgbClr val="000000"/>
                    </a:solidFill>
                    <a:latin typeface="Liberation Serif"/>
                  </a:rPr>
                  <a:t>ut</a:t>
                </a:r>
              </a:p>
            </p:txBody>
          </p:sp>
          <p:sp>
            <p:nvSpPr>
              <p:cNvPr id="434" name=" + "/>
              <p:cNvSpPr txBox="1"/>
              <p:nvPr/>
            </p:nvSpPr>
            <p:spPr>
              <a:xfrm>
                <a:off x="13085907" y="6288740"/>
                <a:ext cx="284078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 + </a:t>
                </a:r>
              </a:p>
            </p:txBody>
          </p:sp>
          <p:sp>
            <p:nvSpPr>
              <p:cNvPr id="435" name="ℒ"/>
              <p:cNvSpPr txBox="1"/>
              <p:nvPr/>
            </p:nvSpPr>
            <p:spPr>
              <a:xfrm>
                <a:off x="13324265" y="6307783"/>
                <a:ext cx="218227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atin Modern Math"/>
                  </a:rPr>
                  <a:t>ℒ</a:t>
                </a:r>
              </a:p>
            </p:txBody>
          </p:sp>
          <p:sp>
            <p:nvSpPr>
              <p:cNvPr id="436" name="it"/>
              <p:cNvSpPr txBox="1"/>
              <p:nvPr/>
            </p:nvSpPr>
            <p:spPr>
              <a:xfrm>
                <a:off x="13496773" y="6413457"/>
                <a:ext cx="129045" cy="22514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81" b="0" i="0" lang="en-US">
                    <a:solidFill>
                      <a:srgbClr val="000000"/>
                    </a:solidFill>
                    <a:latin typeface="Liberation Serif"/>
                  </a:rPr>
                  <a:t>it</a:t>
                </a:r>
              </a:p>
            </p:txBody>
          </p:sp>
          <p:sp>
            <p:nvSpPr>
              <p:cNvPr id="437" name=") + (1 − "/>
              <p:cNvSpPr txBox="1"/>
              <p:nvPr/>
            </p:nvSpPr>
            <p:spPr>
              <a:xfrm>
                <a:off x="13580097" y="6288740"/>
                <a:ext cx="783669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) + (1 − </a:t>
                </a:r>
              </a:p>
            </p:txBody>
          </p:sp>
          <p:sp>
            <p:nvSpPr>
              <p:cNvPr id="438" name="λ"/>
              <p:cNvSpPr txBox="1"/>
              <p:nvPr/>
            </p:nvSpPr>
            <p:spPr>
              <a:xfrm>
                <a:off x="14318047" y="6288740"/>
                <a:ext cx="142746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1" lang="en-US">
                    <a:solidFill>
                      <a:srgbClr val="000000"/>
                    </a:solidFill>
                    <a:latin typeface="Liberation Serif"/>
                  </a:rPr>
                  <a:t>λ</a:t>
                </a:r>
              </a:p>
            </p:txBody>
          </p:sp>
          <p:sp>
            <p:nvSpPr>
              <p:cNvPr id="439" name=")"/>
              <p:cNvSpPr txBox="1"/>
              <p:nvPr/>
            </p:nvSpPr>
            <p:spPr>
              <a:xfrm>
                <a:off x="14415073" y="6288740"/>
                <a:ext cx="120329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iberation Serif"/>
                  </a:rPr>
                  <a:t>)</a:t>
                </a:r>
              </a:p>
            </p:txBody>
          </p:sp>
          <p:sp>
            <p:nvSpPr>
              <p:cNvPr id="440" name="ℒ"/>
              <p:cNvSpPr txBox="1"/>
              <p:nvPr/>
            </p:nvSpPr>
            <p:spPr>
              <a:xfrm>
                <a:off x="14489682" y="6307783"/>
                <a:ext cx="218227" cy="33604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764" b="0" i="0" lang="en-US">
                    <a:solidFill>
                      <a:srgbClr val="000000"/>
                    </a:solidFill>
                    <a:latin typeface="Latin Modern Math"/>
                  </a:rPr>
                  <a:t>ℒ</a:t>
                </a:r>
              </a:p>
            </p:txBody>
          </p:sp>
          <p:sp>
            <p:nvSpPr>
              <p:cNvPr id="441" name="ui"/>
              <p:cNvSpPr txBox="1"/>
              <p:nvPr/>
            </p:nvSpPr>
            <p:spPr>
              <a:xfrm>
                <a:off x="14662190" y="6413457"/>
                <a:ext cx="162363" cy="225148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181" b="0" i="0" lang="en-US">
                    <a:solidFill>
                      <a:srgbClr val="000000"/>
                    </a:solidFill>
                    <a:latin typeface="Liberation Serif"/>
                  </a:rPr>
                  <a:t>ui</a:t>
                </a:r>
              </a:p>
            </p:txBody>
          </p:sp>
        </p:grpSp>
        <p:sp>
          <p:nvSpPr>
            <p:cNvPr id="442" name="Tag-based Learning Augmentation"/>
            <p:cNvSpPr txBox="1"/>
            <p:nvPr/>
          </p:nvSpPr>
          <p:spPr>
            <a:xfrm>
              <a:off x="12133159" y="6663370"/>
              <a:ext cx="2772489" cy="294894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47" b="0" i="0" lang="en-US">
                  <a:solidFill>
                    <a:srgbClr val="000000"/>
                  </a:solidFill>
                  <a:latin typeface="Liberation Serif"/>
                </a:rPr>
                <a:t>Tag-based Learning Augmentation</a:t>
              </a:r>
            </a:p>
          </p:txBody>
        </p:sp>
        <p:sp>
          <p:nvSpPr>
            <p:cNvPr id="443" name="Connector"/>
            <p:cNvSpPr/>
            <p:nvPr/>
          </p:nvSpPr>
          <p:spPr>
            <a:xfrm>
              <a:off x="15307056" y="5623560"/>
              <a:ext cx="91" cy="493776"/>
            </a:xfrm>
            <a:custGeom>
              <a:avLst/>
              <a:gdLst/>
              <a:ahLst/>
              <a:cxnLst/>
              <a:rect l="0" t="0" r="r" b="b"/>
              <a:pathLst>
                <a:path w="91" h="493776">
                  <a:moveTo>
                    <a:pt x="0" y="0"/>
                  </a:moveTo>
                  <a:lnTo>
                    <a:pt x="0" y="493776"/>
                  </a:lnTo>
                </a:path>
              </a:pathLst>
            </a:custGeom>
            <a:noFill/>
            <a:ln w="24689" cap="flat" cmpd="sng" algn="ctr">
              <a:solidFill>
                <a:srgbClr val="0000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Arrowhead"/>
            <p:cNvSpPr/>
            <p:nvPr/>
          </p:nvSpPr>
          <p:spPr>
            <a:xfrm>
              <a:off x="15258776" y="6007608"/>
              <a:ext cx="96561" cy="109728"/>
            </a:xfrm>
            <a:custGeom>
              <a:avLst/>
              <a:gdLst/>
              <a:ahLst/>
              <a:cxnLst/>
              <a:rect l="0" t="0" r="r" b="b"/>
              <a:pathLst>
                <a:path w="96561" h="109728">
                  <a:moveTo>
                    <a:pt x="48280" y="109728"/>
                  </a:moveTo>
                  <a:lnTo>
                    <a:pt x="0" y="0"/>
                  </a:lnTo>
                  <a:lnTo>
                    <a:pt x="48280" y="27432"/>
                  </a:lnTo>
                  <a:lnTo>
                    <a:pt x="96561" y="0"/>
                  </a:lnTo>
                  <a:close/>
                </a:path>
              </a:pathLst>
            </a:custGeom>
            <a:solidFill>
              <a:srgbClr val="00000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5" name="Connector"/>
            <p:cNvSpPr/>
            <p:nvPr/>
          </p:nvSpPr>
          <p:spPr>
            <a:xfrm>
              <a:off x="16258032" y="5623560"/>
              <a:ext cx="91" cy="502920"/>
            </a:xfrm>
            <a:custGeom>
              <a:avLst/>
              <a:gdLst/>
              <a:ahLst/>
              <a:cxnLst/>
              <a:rect l="0" t="0" r="r" b="b"/>
              <a:pathLst>
                <a:path w="91" h="502920">
                  <a:moveTo>
                    <a:pt x="0" y="0"/>
                  </a:moveTo>
                  <a:lnTo>
                    <a:pt x="0" y="502920"/>
                  </a:lnTo>
                </a:path>
              </a:pathLst>
            </a:custGeom>
            <a:noFill/>
            <a:ln w="24689" cap="flat" cmpd="sng" algn="ctr">
              <a:solidFill>
                <a:srgbClr val="0000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6" name="Arrowhead"/>
            <p:cNvSpPr/>
            <p:nvPr/>
          </p:nvSpPr>
          <p:spPr>
            <a:xfrm>
              <a:off x="16209752" y="6016752"/>
              <a:ext cx="96561" cy="109728"/>
            </a:xfrm>
            <a:custGeom>
              <a:avLst/>
              <a:gdLst/>
              <a:ahLst/>
              <a:cxnLst/>
              <a:rect l="0" t="0" r="r" b="b"/>
              <a:pathLst>
                <a:path w="96561" h="109728">
                  <a:moveTo>
                    <a:pt x="48280" y="109728"/>
                  </a:moveTo>
                  <a:lnTo>
                    <a:pt x="0" y="0"/>
                  </a:lnTo>
                  <a:lnTo>
                    <a:pt x="48280" y="27432"/>
                  </a:lnTo>
                  <a:lnTo>
                    <a:pt x="96561" y="0"/>
                  </a:lnTo>
                  <a:close/>
                </a:path>
              </a:pathLst>
            </a:custGeom>
            <a:solidFill>
              <a:srgbClr val="00000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447" name="Raw prediction"/>
            <p:cNvGrpSpPr/>
            <p:nvPr/>
          </p:nvGrpSpPr>
          <p:grpSpPr>
            <a:xfrm>
              <a:off x="15214930" y="6156381"/>
              <a:ext cx="412851" cy="385564"/>
              <a:chOff x="15214930" y="6156381"/>
              <a:chExt cx="412851" cy="385564"/>
            </a:xfrm>
          </p:grpSpPr>
          <p:sp>
            <p:nvSpPr>
              <p:cNvPr id="448" name="ŷ"/>
              <p:cNvSpPr txBox="1"/>
              <p:nvPr/>
            </p:nvSpPr>
            <p:spPr>
              <a:xfrm>
                <a:off x="15214930" y="6156381"/>
                <a:ext cx="155305" cy="37033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43" b="0" i="1" lang="en-US">
                    <a:solidFill>
                      <a:srgbClr val="000000"/>
                    </a:solidFill>
                    <a:latin typeface="Liberation Serif"/>
                  </a:rPr>
                  <a:t>ŷ</a:t>
                </a:r>
              </a:p>
            </p:txBody>
          </p:sp>
          <p:sp>
            <p:nvSpPr>
              <p:cNvPr id="449" name="raw"/>
              <p:cNvSpPr txBox="1"/>
              <p:nvPr/>
            </p:nvSpPr>
            <p:spPr>
              <a:xfrm>
                <a:off x="15324515" y="6293823"/>
                <a:ext cx="303266" cy="24812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02" b="0" i="1" lang="en-US">
                    <a:solidFill>
                      <a:srgbClr val="000000"/>
                    </a:solidFill>
                    <a:latin typeface="Liberation Serif"/>
                  </a:rPr>
                  <a:t>raw</a:t>
                </a:r>
              </a:p>
            </p:txBody>
          </p:sp>
        </p:grpSp>
        <p:grpSp>
          <p:nvGrpSpPr>
            <p:cNvPr id="450" name="Tag prediction"/>
            <p:cNvGrpSpPr/>
            <p:nvPr/>
          </p:nvGrpSpPr>
          <p:grpSpPr>
            <a:xfrm>
              <a:off x="16170650" y="6156381"/>
              <a:ext cx="366789" cy="385564"/>
              <a:chOff x="16170650" y="6156381"/>
              <a:chExt cx="366789" cy="385564"/>
            </a:xfrm>
          </p:grpSpPr>
          <p:sp>
            <p:nvSpPr>
              <p:cNvPr id="451" name="ŷ"/>
              <p:cNvSpPr txBox="1"/>
              <p:nvPr/>
            </p:nvSpPr>
            <p:spPr>
              <a:xfrm>
                <a:off x="16170650" y="6156381"/>
                <a:ext cx="155305" cy="37033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943" b="0" i="1" lang="en-US">
                    <a:solidFill>
                      <a:srgbClr val="000000"/>
                    </a:solidFill>
                    <a:latin typeface="Liberation Serif"/>
                  </a:rPr>
                  <a:t>ŷ</a:t>
                </a:r>
              </a:p>
            </p:txBody>
          </p:sp>
          <p:sp>
            <p:nvSpPr>
              <p:cNvPr id="452" name="tag"/>
              <p:cNvSpPr txBox="1"/>
              <p:nvPr/>
            </p:nvSpPr>
            <p:spPr>
              <a:xfrm>
                <a:off x="16280235" y="6293823"/>
                <a:ext cx="257204" cy="248122"/>
              </a:xfrm>
              <a:prstGeom prst="rect">
                <a:avLst/>
              </a:prstGeom>
              <a:noFill/>
            </p:spPr>
            <p:txBody>
              <a:bodyPr wrap="none" lIns="0" rIns="0" tIns="0" bIns="0" anchor="t" rtlCol="0"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1302" b="0" i="1" lang="en-US">
                    <a:solidFill>
                      <a:srgbClr val="000000"/>
                    </a:solidFill>
                    <a:latin typeface="Liberation Serif"/>
                  </a:rPr>
                  <a:t>tag</a:t>
                </a:r>
              </a:p>
            </p:txBody>
          </p:sp>
        </p:grpSp>
        <p:sp>
          <p:nvSpPr>
            <p:cNvPr id="453" name="Connector"/>
            <p:cNvSpPr/>
            <p:nvPr/>
          </p:nvSpPr>
          <p:spPr>
            <a:xfrm>
              <a:off x="15325344" y="6519672"/>
              <a:ext cx="365760" cy="219456"/>
            </a:xfrm>
            <a:custGeom>
              <a:avLst/>
              <a:gdLst/>
              <a:ahLst/>
              <a:cxnLst/>
              <a:rect l="0" t="0" r="r" b="b"/>
              <a:pathLst>
                <a:path w="365760" h="219456">
                  <a:moveTo>
                    <a:pt x="0" y="0"/>
                  </a:moveTo>
                  <a:lnTo>
                    <a:pt x="365760" y="219456"/>
                  </a:lnTo>
                </a:path>
              </a:pathLst>
            </a:custGeom>
            <a:noFill/>
            <a:ln w="24689" cap="flat" cmpd="sng" algn="ctr">
              <a:solidFill>
                <a:srgbClr val="0000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Arrowhead"/>
            <p:cNvSpPr/>
            <p:nvPr/>
          </p:nvSpPr>
          <p:spPr>
            <a:xfrm>
              <a:off x="15572173" y="6641273"/>
              <a:ext cx="118931" cy="97855"/>
            </a:xfrm>
            <a:custGeom>
              <a:avLst/>
              <a:gdLst/>
              <a:ahLst/>
              <a:cxnLst/>
              <a:rect l="0" t="0" r="r" b="b"/>
              <a:pathLst>
                <a:path w="118931" h="97855">
                  <a:moveTo>
                    <a:pt x="118931" y="97855"/>
                  </a:moveTo>
                  <a:lnTo>
                    <a:pt x="0" y="82800"/>
                  </a:lnTo>
                  <a:lnTo>
                    <a:pt x="48363" y="55514"/>
                  </a:lnTo>
                  <a:lnTo>
                    <a:pt x="49680" y="0"/>
                  </a:lnTo>
                  <a:close/>
                </a:path>
              </a:pathLst>
            </a:custGeom>
            <a:solidFill>
              <a:srgbClr val="00000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Connector"/>
            <p:cNvSpPr/>
            <p:nvPr/>
          </p:nvSpPr>
          <p:spPr>
            <a:xfrm>
              <a:off x="15928848" y="6528816"/>
              <a:ext cx="356616" cy="228600"/>
            </a:xfrm>
            <a:custGeom>
              <a:avLst/>
              <a:gdLst/>
              <a:ahLst/>
              <a:cxnLst/>
              <a:rect l="0" t="0" r="r" b="b"/>
              <a:pathLst>
                <a:path w="356616" h="228600">
                  <a:moveTo>
                    <a:pt x="356616" y="0"/>
                  </a:moveTo>
                  <a:lnTo>
                    <a:pt x="0" y="228600"/>
                  </a:lnTo>
                </a:path>
              </a:pathLst>
            </a:custGeom>
            <a:noFill/>
            <a:ln w="24689" cap="flat" cmpd="sng" algn="ctr">
              <a:solidFill>
                <a:srgbClr val="000000"/>
              </a:solidFill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Arrowhead"/>
            <p:cNvSpPr/>
            <p:nvPr/>
          </p:nvSpPr>
          <p:spPr>
            <a:xfrm>
              <a:off x="15928848" y="6657553"/>
              <a:ext cx="118433" cy="99863"/>
            </a:xfrm>
            <a:custGeom>
              <a:avLst/>
              <a:gdLst/>
              <a:ahLst/>
              <a:cxnLst/>
              <a:rect l="0" t="0" r="r" b="b"/>
              <a:pathLst>
                <a:path w="118433" h="99863">
                  <a:moveTo>
                    <a:pt x="0" y="99863"/>
                  </a:moveTo>
                  <a:lnTo>
                    <a:pt x="66322" y="0"/>
                  </a:lnTo>
                  <a:lnTo>
                    <a:pt x="69283" y="55450"/>
                  </a:lnTo>
                  <a:lnTo>
                    <a:pt x="118433" y="81292"/>
                  </a:lnTo>
                  <a:close/>
                </a:path>
              </a:pathLst>
            </a:custGeom>
            <a:solidFill>
              <a:srgbClr val="000000"/>
            </a:solidFill>
            <a:ln w="9144" cap="flat" cmpd="sng" algn="ctr">
              <a:noFill/>
              <a:miter lim="800000"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ŷ"/>
            <p:cNvSpPr txBox="1"/>
            <p:nvPr/>
          </p:nvSpPr>
          <p:spPr>
            <a:xfrm>
              <a:off x="15755183" y="6714165"/>
              <a:ext cx="155305" cy="370332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943" b="0" i="1" lang="en-US">
                  <a:solidFill>
                    <a:srgbClr val="000000"/>
                  </a:solidFill>
                  <a:latin typeface="Liberation Serif"/>
                </a:rPr>
                <a:t>ŷ</a:t>
              </a:r>
            </a:p>
          </p:txBody>
        </p:sp>
      </p:grpSp>
      <p:grpSp>
        <p:nvGrpSpPr>
          <p:cNvPr id="458" name="Process captions"/>
          <p:cNvGrpSpPr/>
          <p:nvPr/>
        </p:nvGrpSpPr>
        <p:grpSpPr>
          <a:xfrm>
            <a:off x="946075" y="7587828"/>
            <a:ext cx="14986202" cy="449410"/>
            <a:chOff x="946075" y="7587828"/>
            <a:chExt cx="14986202" cy="449410"/>
          </a:xfrm>
        </p:grpSpPr>
        <p:sp>
          <p:nvSpPr>
            <p:cNvPr id="459" name="(1) MLLM-based Tag Extraction"/>
            <p:cNvSpPr txBox="1"/>
            <p:nvPr/>
          </p:nvSpPr>
          <p:spPr>
            <a:xfrm>
              <a:off x="946075" y="7589639"/>
              <a:ext cx="4060593" cy="429311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3" b="1" i="0" lang="en-US">
                  <a:solidFill>
                    <a:srgbClr val="000000"/>
                  </a:solidFill>
                  <a:latin typeface="Liberation Serif"/>
                </a:rPr>
                <a:t>(1) MLLM-based Tag Extraction</a:t>
              </a:r>
            </a:p>
          </p:txBody>
        </p:sp>
        <p:sp>
          <p:nvSpPr>
            <p:cNvPr id="460" name="(2) LLM-based Collaborative Logic Reasoning"/>
            <p:cNvSpPr txBox="1"/>
            <p:nvPr/>
          </p:nvSpPr>
          <p:spPr>
            <a:xfrm>
              <a:off x="6069373" y="7587828"/>
              <a:ext cx="5774350" cy="432054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68" b="1" i="0" lang="en-US">
                  <a:solidFill>
                    <a:srgbClr val="000000"/>
                  </a:solidFill>
                  <a:latin typeface="Liberation Serif"/>
                </a:rPr>
                <a:t>(2) LLM-based Collaborative Logic Reasoning</a:t>
              </a:r>
            </a:p>
          </p:txBody>
        </p:sp>
        <p:sp>
          <p:nvSpPr>
            <p:cNvPr id="461" name="(3) Tag Logic Integration"/>
            <p:cNvSpPr txBox="1"/>
            <p:nvPr/>
          </p:nvSpPr>
          <p:spPr>
            <a:xfrm>
              <a:off x="12825603" y="7607927"/>
              <a:ext cx="3106674" cy="429311"/>
            </a:xfrm>
            <a:prstGeom prst="rect">
              <a:avLst/>
            </a:prstGeom>
            <a:noFill/>
          </p:spPr>
          <p:txBody>
            <a:bodyPr wrap="none" lIns="0" rIns="0" tIns="0" bIns="0" anchor="t" rtlCol="0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253" b="1" i="0" lang="en-US">
                  <a:solidFill>
                    <a:srgbClr val="000000"/>
                  </a:solidFill>
                  <a:latin typeface="Liberation Serif"/>
                </a:rPr>
                <a:t>(3) Tag Logic Integration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ho You Are Matters Bridging Interests and Social Roles via LLM-Enhanced Logic Recommend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282160" cy="79735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You Are Matters — Diagram Reconstruction</dc:title>
  <dc:subject>Fully editable reconstruction of the supplied three-stage recommendation framework</dc:subject>
  <dc:creator/>
  <cp:keywords>editable; vector; logic recommendation; diagram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