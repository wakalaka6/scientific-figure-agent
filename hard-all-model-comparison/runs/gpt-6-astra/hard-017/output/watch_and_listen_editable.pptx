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7419320" cy="969264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Reconstructed from the provided 1905 × 1060 reference. Diagram objects, labels, waveform bars, symbols, and film borders are native editable PowerPoint shapes. Photographic video frames remain cropped bitmap images. The right and bottom crop of the source is intentionally preserved. Font: URW Gothic (geometric sans serif).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White background"/>
          <p:cNvSpPr/>
          <p:nvPr/>
        </p:nvSpPr>
        <p:spPr>
          <a:xfrm>
            <a:off x="0" y="0"/>
            <a:ext cx="17419320" cy="96926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 name="Group 2"/>
          <p:cNvGrpSpPr/>
          <p:nvPr/>
        </p:nvGrpSpPr>
        <p:grpSpPr>
          <a:xfrm>
            <a:off x="164592" y="1476756"/>
            <a:ext cx="13514832" cy="3771900"/>
            <a:chOff x="164592" y="1476756"/>
            <a:chExt cx="13514832" cy="3771900"/>
          </a:xfrm>
        </p:grpSpPr>
        <p:sp>
          <p:nvSpPr>
            <p:cNvPr id="4" name="Query-based connector boundary"/>
            <p:cNvSpPr/>
            <p:nvPr/>
          </p:nvSpPr>
          <p:spPr>
            <a:xfrm>
              <a:off x="164592" y="1476756"/>
              <a:ext cx="13514832" cy="3771900"/>
            </a:xfrm>
            <a:prstGeom prst="rect">
              <a:avLst/>
            </a:prstGeom>
            <a:noFill/>
            <a:ln w="25603">
              <a:solidFill>
                <a:srgbClr val="2267A0"/>
              </a:solidFill>
              <a:custDash>
                <a:ds d="428571" sp="321429"/>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Connector trainable icon"/>
            <p:cNvSpPr/>
            <p:nvPr/>
          </p:nvSpPr>
          <p:spPr>
            <a:xfrm>
              <a:off x="10222992" y="1490690"/>
              <a:ext cx="228600" cy="355745"/>
            </a:xfrm>
            <a:custGeom>
              <a:avLst/>
              <a:gdLst/>
              <a:ahLst/>
              <a:cxnLst/>
              <a:rect l="0" t="0" r="r" b="b"/>
              <a:pathLst>
                <a:path w="25000" h="38905">
                  <a:moveTo>
                    <a:pt x="11000" y="0"/>
                  </a:moveTo>
                  <a:cubicBezTo>
                    <a:pt x="11250" y="-896"/>
                    <a:pt x="12750" y="-128"/>
                    <a:pt x="13000" y="0"/>
                  </a:cubicBezTo>
                  <a:cubicBezTo>
                    <a:pt x="13250" y="128"/>
                    <a:pt x="12750" y="768"/>
                    <a:pt x="13000" y="1024"/>
                  </a:cubicBezTo>
                  <a:cubicBezTo>
                    <a:pt x="13250" y="1280"/>
                    <a:pt x="14750" y="1664"/>
                    <a:pt x="15000" y="2048"/>
                  </a:cubicBezTo>
                  <a:cubicBezTo>
                    <a:pt x="15250" y="2432"/>
                    <a:pt x="14750" y="3711"/>
                    <a:pt x="15000" y="4095"/>
                  </a:cubicBezTo>
                  <a:cubicBezTo>
                    <a:pt x="15250" y="4479"/>
                    <a:pt x="16750" y="4479"/>
                    <a:pt x="17000" y="5119"/>
                  </a:cubicBezTo>
                  <a:cubicBezTo>
                    <a:pt x="17250" y="5759"/>
                    <a:pt x="16875" y="8702"/>
                    <a:pt x="17000" y="9214"/>
                  </a:cubicBezTo>
                  <a:cubicBezTo>
                    <a:pt x="17125" y="9726"/>
                    <a:pt x="17875" y="8702"/>
                    <a:pt x="18000" y="9214"/>
                  </a:cubicBezTo>
                  <a:cubicBezTo>
                    <a:pt x="18125" y="9726"/>
                    <a:pt x="18125" y="12798"/>
                    <a:pt x="18000" y="13310"/>
                  </a:cubicBezTo>
                  <a:cubicBezTo>
                    <a:pt x="17875" y="13821"/>
                    <a:pt x="17125" y="12926"/>
                    <a:pt x="17000" y="13310"/>
                  </a:cubicBezTo>
                  <a:cubicBezTo>
                    <a:pt x="16875" y="13693"/>
                    <a:pt x="17125" y="15997"/>
                    <a:pt x="17000" y="16381"/>
                  </a:cubicBezTo>
                  <a:cubicBezTo>
                    <a:pt x="16875" y="16765"/>
                    <a:pt x="16125" y="16125"/>
                    <a:pt x="16000" y="16381"/>
                  </a:cubicBezTo>
                  <a:cubicBezTo>
                    <a:pt x="15875" y="16637"/>
                    <a:pt x="16125" y="18173"/>
                    <a:pt x="16000" y="18429"/>
                  </a:cubicBezTo>
                  <a:cubicBezTo>
                    <a:pt x="15875" y="18685"/>
                    <a:pt x="15125" y="17661"/>
                    <a:pt x="15000" y="18429"/>
                  </a:cubicBezTo>
                  <a:cubicBezTo>
                    <a:pt x="14875" y="19196"/>
                    <a:pt x="14250" y="23676"/>
                    <a:pt x="15000" y="24571"/>
                  </a:cubicBezTo>
                  <a:cubicBezTo>
                    <a:pt x="15750" y="25467"/>
                    <a:pt x="20000" y="25851"/>
                    <a:pt x="21000" y="25595"/>
                  </a:cubicBezTo>
                  <a:cubicBezTo>
                    <a:pt x="22000" y="25339"/>
                    <a:pt x="22500" y="22780"/>
                    <a:pt x="23000" y="22524"/>
                  </a:cubicBezTo>
                  <a:cubicBezTo>
                    <a:pt x="23500" y="22268"/>
                    <a:pt x="24750" y="22780"/>
                    <a:pt x="25000" y="23548"/>
                  </a:cubicBezTo>
                  <a:cubicBezTo>
                    <a:pt x="25250" y="24315"/>
                    <a:pt x="25125" y="28027"/>
                    <a:pt x="25000" y="28667"/>
                  </a:cubicBezTo>
                  <a:cubicBezTo>
                    <a:pt x="24875" y="29307"/>
                    <a:pt x="24125" y="28283"/>
                    <a:pt x="24000" y="28667"/>
                  </a:cubicBezTo>
                  <a:cubicBezTo>
                    <a:pt x="23875" y="29051"/>
                    <a:pt x="24125" y="31354"/>
                    <a:pt x="24000" y="31738"/>
                  </a:cubicBezTo>
                  <a:cubicBezTo>
                    <a:pt x="23875" y="32122"/>
                    <a:pt x="23125" y="31610"/>
                    <a:pt x="23000" y="31738"/>
                  </a:cubicBezTo>
                  <a:cubicBezTo>
                    <a:pt x="22875" y="31866"/>
                    <a:pt x="23125" y="32634"/>
                    <a:pt x="23000" y="32762"/>
                  </a:cubicBezTo>
                  <a:cubicBezTo>
                    <a:pt x="22875" y="32890"/>
                    <a:pt x="22125" y="32506"/>
                    <a:pt x="22000" y="32762"/>
                  </a:cubicBezTo>
                  <a:cubicBezTo>
                    <a:pt x="21875" y="33018"/>
                    <a:pt x="22125" y="34554"/>
                    <a:pt x="22000" y="34810"/>
                  </a:cubicBezTo>
                  <a:cubicBezTo>
                    <a:pt x="21875" y="35065"/>
                    <a:pt x="21375" y="34426"/>
                    <a:pt x="21000" y="34810"/>
                  </a:cubicBezTo>
                  <a:cubicBezTo>
                    <a:pt x="20625" y="35193"/>
                    <a:pt x="19500" y="37497"/>
                    <a:pt x="19000" y="37881"/>
                  </a:cubicBezTo>
                  <a:cubicBezTo>
                    <a:pt x="18500" y="38265"/>
                    <a:pt x="17250" y="37753"/>
                    <a:pt x="17000" y="37881"/>
                  </a:cubicBezTo>
                  <a:cubicBezTo>
                    <a:pt x="16750" y="38009"/>
                    <a:pt x="17625" y="38777"/>
                    <a:pt x="17000" y="38905"/>
                  </a:cubicBezTo>
                  <a:cubicBezTo>
                    <a:pt x="16375" y="39033"/>
                    <a:pt x="12625" y="39289"/>
                    <a:pt x="12000" y="38905"/>
                  </a:cubicBezTo>
                  <a:cubicBezTo>
                    <a:pt x="11375" y="38521"/>
                    <a:pt x="12125" y="36217"/>
                    <a:pt x="12000" y="35833"/>
                  </a:cubicBezTo>
                  <a:cubicBezTo>
                    <a:pt x="11875" y="35449"/>
                    <a:pt x="11125" y="36089"/>
                    <a:pt x="11000" y="35833"/>
                  </a:cubicBezTo>
                  <a:cubicBezTo>
                    <a:pt x="10875" y="35577"/>
                    <a:pt x="11250" y="34170"/>
                    <a:pt x="11000" y="33786"/>
                  </a:cubicBezTo>
                  <a:cubicBezTo>
                    <a:pt x="10750" y="33402"/>
                    <a:pt x="9375" y="33530"/>
                    <a:pt x="9000" y="32762"/>
                  </a:cubicBezTo>
                  <a:cubicBezTo>
                    <a:pt x="8625" y="31994"/>
                    <a:pt x="8250" y="28283"/>
                    <a:pt x="8000" y="27643"/>
                  </a:cubicBezTo>
                  <a:cubicBezTo>
                    <a:pt x="7750" y="27003"/>
                    <a:pt x="7125" y="28283"/>
                    <a:pt x="7000" y="27643"/>
                  </a:cubicBezTo>
                  <a:cubicBezTo>
                    <a:pt x="6875" y="27003"/>
                    <a:pt x="7125" y="23164"/>
                    <a:pt x="7000" y="22524"/>
                  </a:cubicBezTo>
                  <a:cubicBezTo>
                    <a:pt x="6875" y="21884"/>
                    <a:pt x="6125" y="22268"/>
                    <a:pt x="6000" y="22524"/>
                  </a:cubicBezTo>
                  <a:cubicBezTo>
                    <a:pt x="5875" y="22780"/>
                    <a:pt x="6125" y="24315"/>
                    <a:pt x="6000" y="24571"/>
                  </a:cubicBezTo>
                  <a:cubicBezTo>
                    <a:pt x="5875" y="24827"/>
                    <a:pt x="5125" y="24315"/>
                    <a:pt x="5000" y="24571"/>
                  </a:cubicBezTo>
                  <a:cubicBezTo>
                    <a:pt x="4875" y="24827"/>
                    <a:pt x="5125" y="26363"/>
                    <a:pt x="5000" y="26619"/>
                  </a:cubicBezTo>
                  <a:cubicBezTo>
                    <a:pt x="4875" y="26875"/>
                    <a:pt x="4125" y="26107"/>
                    <a:pt x="4000" y="26619"/>
                  </a:cubicBezTo>
                  <a:cubicBezTo>
                    <a:pt x="3875" y="27131"/>
                    <a:pt x="4125" y="30202"/>
                    <a:pt x="4000" y="30714"/>
                  </a:cubicBezTo>
                  <a:cubicBezTo>
                    <a:pt x="3875" y="31226"/>
                    <a:pt x="3125" y="30586"/>
                    <a:pt x="3000" y="30714"/>
                  </a:cubicBezTo>
                  <a:cubicBezTo>
                    <a:pt x="2875" y="30842"/>
                    <a:pt x="2875" y="31610"/>
                    <a:pt x="3000" y="31738"/>
                  </a:cubicBezTo>
                  <a:cubicBezTo>
                    <a:pt x="3125" y="31866"/>
                    <a:pt x="3875" y="31354"/>
                    <a:pt x="4000" y="31738"/>
                  </a:cubicBezTo>
                  <a:cubicBezTo>
                    <a:pt x="4125" y="32122"/>
                    <a:pt x="4375" y="34682"/>
                    <a:pt x="4000" y="34810"/>
                  </a:cubicBezTo>
                  <a:cubicBezTo>
                    <a:pt x="3625" y="34938"/>
                    <a:pt x="1375" y="33402"/>
                    <a:pt x="1000" y="32762"/>
                  </a:cubicBezTo>
                  <a:cubicBezTo>
                    <a:pt x="625" y="32122"/>
                    <a:pt x="1125" y="30074"/>
                    <a:pt x="1000" y="29690"/>
                  </a:cubicBezTo>
                  <a:cubicBezTo>
                    <a:pt x="875" y="29307"/>
                    <a:pt x="125" y="30714"/>
                    <a:pt x="0" y="29690"/>
                  </a:cubicBezTo>
                  <a:cubicBezTo>
                    <a:pt x="-125" y="28667"/>
                    <a:pt x="-125" y="22524"/>
                    <a:pt x="0" y="21500"/>
                  </a:cubicBezTo>
                  <a:cubicBezTo>
                    <a:pt x="125" y="20476"/>
                    <a:pt x="750" y="22012"/>
                    <a:pt x="1000" y="21500"/>
                  </a:cubicBezTo>
                  <a:cubicBezTo>
                    <a:pt x="1250" y="20988"/>
                    <a:pt x="1750" y="17917"/>
                    <a:pt x="2000" y="17405"/>
                  </a:cubicBezTo>
                  <a:cubicBezTo>
                    <a:pt x="2250" y="16893"/>
                    <a:pt x="2875" y="17533"/>
                    <a:pt x="3000" y="17405"/>
                  </a:cubicBezTo>
                  <a:cubicBezTo>
                    <a:pt x="3125" y="17277"/>
                    <a:pt x="2875" y="16509"/>
                    <a:pt x="3000" y="16381"/>
                  </a:cubicBezTo>
                  <a:cubicBezTo>
                    <a:pt x="3125" y="16253"/>
                    <a:pt x="3875" y="16509"/>
                    <a:pt x="4000" y="16381"/>
                  </a:cubicBezTo>
                  <a:cubicBezTo>
                    <a:pt x="4125" y="16253"/>
                    <a:pt x="3875" y="15485"/>
                    <a:pt x="4000" y="15357"/>
                  </a:cubicBezTo>
                  <a:cubicBezTo>
                    <a:pt x="4125" y="15229"/>
                    <a:pt x="4875" y="15485"/>
                    <a:pt x="5000" y="15357"/>
                  </a:cubicBezTo>
                  <a:cubicBezTo>
                    <a:pt x="5125" y="15229"/>
                    <a:pt x="4500" y="14845"/>
                    <a:pt x="5000" y="14333"/>
                  </a:cubicBezTo>
                  <a:cubicBezTo>
                    <a:pt x="5500" y="13821"/>
                    <a:pt x="8500" y="11902"/>
                    <a:pt x="9000" y="11262"/>
                  </a:cubicBezTo>
                  <a:cubicBezTo>
                    <a:pt x="9500" y="10622"/>
                    <a:pt x="8875" y="9470"/>
                    <a:pt x="9000" y="9214"/>
                  </a:cubicBezTo>
                  <a:cubicBezTo>
                    <a:pt x="9125" y="8958"/>
                    <a:pt x="9875" y="9470"/>
                    <a:pt x="10000" y="9214"/>
                  </a:cubicBezTo>
                  <a:cubicBezTo>
                    <a:pt x="10125" y="8958"/>
                    <a:pt x="9875" y="7423"/>
                    <a:pt x="10000" y="7167"/>
                  </a:cubicBezTo>
                  <a:cubicBezTo>
                    <a:pt x="10125" y="6911"/>
                    <a:pt x="10875" y="8063"/>
                    <a:pt x="11000" y="7167"/>
                  </a:cubicBezTo>
                  <a:cubicBezTo>
                    <a:pt x="11125" y="6271"/>
                    <a:pt x="10750" y="896"/>
                    <a:pt x="11000"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ery-Based Connector"/>
            <p:cNvSpPr txBox="1"/>
            <p:nvPr/>
          </p:nvSpPr>
          <p:spPr>
            <a:xfrm>
              <a:off x="10491597" y="1499616"/>
              <a:ext cx="3024561" cy="357988"/>
            </a:xfrm>
            <a:prstGeom prst="rect">
              <a:avLst/>
            </a:prstGeom>
            <a:noFill/>
            <a:effectLst/>
          </p:spPr>
          <p:txBody>
            <a:bodyPr wrap="none" lIns="0" rIns="0" tIns="0" bIns="0" anchor="t">
              <a:spAutoFit/>
            </a:bodyPr>
            <a:lstStyle/>
            <a:p>
              <a:pPr algn="l">
                <a:spcBef>
                  <a:spcPts val="0"/>
                </a:spcBef>
                <a:spcAft>
                  <a:spcPts val="0"/>
                </a:spcAft>
                <a:lnSpc>
                  <a:spcPct val="100000"/>
                </a:lnSpc>
              </a:pPr>
              <a:r>
                <a:rPr sz="2088" b="1" i="0">
                  <a:solidFill>
                    <a:srgbClr val="2267A0"/>
                  </a:solidFill>
                  <a:latin typeface="Arial"/>
                </a:rPr>
                <a:t>Query-Based Connector</a:t>
              </a:r>
            </a:p>
          </p:txBody>
        </p:sp>
      </p:grpSp>
      <p:grpSp>
        <p:nvGrpSpPr>
          <p:cNvPr id="7" name="Group 6"/>
          <p:cNvGrpSpPr/>
          <p:nvPr/>
        </p:nvGrpSpPr>
        <p:grpSpPr>
          <a:xfrm>
            <a:off x="3395716" y="2417308"/>
            <a:ext cx="12542276" cy="6991868"/>
            <a:chOff x="3395716" y="2417308"/>
            <a:chExt cx="12542276" cy="6991868"/>
          </a:xfrm>
        </p:grpSpPr>
        <p:sp>
          <p:nvSpPr>
            <p:cNvPr id="8" name="Time encoding to multimodal tokens"/>
            <p:cNvSpPr/>
            <p:nvPr/>
          </p:nvSpPr>
          <p:spPr>
            <a:xfrm>
              <a:off x="9262872" y="2468880"/>
              <a:ext cx="3621024" cy="6940296"/>
            </a:xfrm>
            <a:custGeom>
              <a:avLst/>
              <a:gdLst/>
              <a:ahLst/>
              <a:cxnLst/>
              <a:rect l="0" t="0" r="r" b="b"/>
              <a:pathLst>
                <a:path w="396000" h="759000" fill="none">
                  <a:moveTo>
                    <a:pt x="396000" y="759000"/>
                  </a:moveTo>
                  <a:lnTo>
                    <a:pt x="396000" y="0"/>
                  </a:lnTo>
                  <a:lnTo>
                    <a:pt x="0" y="0"/>
                  </a:lnTo>
                </a:path>
              </a:pathLst>
            </a:custGeom>
            <a:noFill/>
            <a:ln w="25603" cap="rnd">
              <a:solidFill>
                <a:srgbClr val="E4BB7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me encoding to multimodal tokens arrow"/>
            <p:cNvSpPr/>
            <p:nvPr/>
          </p:nvSpPr>
          <p:spPr>
            <a:xfrm>
              <a:off x="9262872" y="2417308"/>
              <a:ext cx="109728" cy="103144"/>
            </a:xfrm>
            <a:custGeom>
              <a:avLst/>
              <a:gdLst/>
              <a:ahLst/>
              <a:cxnLst/>
              <a:rect l="0" t="0" r="r" b="b"/>
              <a:pathLst>
                <a:path w="12000" h="11280">
                  <a:moveTo>
                    <a:pt x="0" y="5640"/>
                  </a:moveTo>
                  <a:lnTo>
                    <a:pt x="12000" y="11280"/>
                  </a:lnTo>
                  <a:lnTo>
                    <a:pt x="12000" y="0"/>
                  </a:lnTo>
                  <a:close/>
                </a:path>
              </a:pathLst>
            </a:custGeom>
            <a:solidFill>
              <a:srgbClr val="E4BB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Query to vision attention"/>
            <p:cNvSpPr/>
            <p:nvPr/>
          </p:nvSpPr>
          <p:spPr>
            <a:xfrm>
              <a:off x="3447288" y="4480560"/>
              <a:ext cx="12490704" cy="1892808"/>
            </a:xfrm>
            <a:custGeom>
              <a:avLst/>
              <a:gdLst/>
              <a:ahLst/>
              <a:cxnLst/>
              <a:rect l="0" t="0" r="r" b="b"/>
              <a:pathLst>
                <a:path w="1366000" h="207000" fill="none">
                  <a:moveTo>
                    <a:pt x="1366000" y="207000"/>
                  </a:moveTo>
                  <a:lnTo>
                    <a:pt x="1366000" y="78000"/>
                  </a:lnTo>
                  <a:lnTo>
                    <a:pt x="0" y="72000"/>
                  </a:lnTo>
                  <a:lnTo>
                    <a:pt x="0" y="0"/>
                  </a:lnTo>
                </a:path>
              </a:pathLst>
            </a:custGeom>
            <a:noFill/>
            <a:ln w="27432" cap="rnd">
              <a:solidFill>
                <a:srgbClr val="8F69A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Query to vision attention arrow"/>
            <p:cNvSpPr/>
            <p:nvPr/>
          </p:nvSpPr>
          <p:spPr>
            <a:xfrm>
              <a:off x="3395716" y="4480560"/>
              <a:ext cx="103144" cy="109728"/>
            </a:xfrm>
            <a:custGeom>
              <a:avLst/>
              <a:gdLst/>
              <a:ahLst/>
              <a:cxnLst/>
              <a:rect l="0" t="0" r="r" b="b"/>
              <a:pathLst>
                <a:path w="11280" h="12000">
                  <a:moveTo>
                    <a:pt x="5640" y="0"/>
                  </a:moveTo>
                  <a:lnTo>
                    <a:pt x="0" y="12000"/>
                  </a:lnTo>
                  <a:lnTo>
                    <a:pt x="11280" y="12000"/>
                  </a:lnTo>
                  <a:close/>
                </a:path>
              </a:pathLst>
            </a:custGeom>
            <a:solidFill>
              <a:srgbClr val="8F69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Query to audio attention"/>
            <p:cNvCxnSpPr/>
            <p:nvPr/>
          </p:nvCxnSpPr>
          <p:spPr>
            <a:xfrm flipV="1">
              <a:off x="7178040" y="4443984"/>
              <a:ext cx="0" cy="713232"/>
            </a:xfrm>
            <a:prstGeom prst="line">
              <a:avLst/>
            </a:prstGeom>
            <a:ln w="27432">
              <a:solidFill>
                <a:srgbClr val="8F69A5"/>
              </a:solidFill>
            </a:ln>
            <a:effectLst/>
          </p:spPr>
          <p:style>
            <a:lnRef idx="2">
              <a:schemeClr val="accent1"/>
            </a:lnRef>
            <a:fillRef idx="0">
              <a:schemeClr val="accent1"/>
            </a:fillRef>
            <a:effectRef idx="0">
              <a:schemeClr val="accent1"/>
            </a:effectRef>
            <a:fontRef idx="minor">
              <a:schemeClr val="tx1"/>
            </a:fontRef>
          </p:style>
        </p:cxnSp>
        <p:sp>
          <p:nvSpPr>
            <p:cNvPr id="13" name="Query to audio attention arrow"/>
            <p:cNvSpPr/>
            <p:nvPr/>
          </p:nvSpPr>
          <p:spPr>
            <a:xfrm>
              <a:off x="7126468" y="4443984"/>
              <a:ext cx="103144" cy="109728"/>
            </a:xfrm>
            <a:custGeom>
              <a:avLst/>
              <a:gdLst/>
              <a:ahLst/>
              <a:cxnLst/>
              <a:rect l="0" t="0" r="r" b="b"/>
              <a:pathLst>
                <a:path w="11280" h="12000">
                  <a:moveTo>
                    <a:pt x="5640" y="0"/>
                  </a:moveTo>
                  <a:lnTo>
                    <a:pt x="0" y="12000"/>
                  </a:lnTo>
                  <a:lnTo>
                    <a:pt x="11280" y="12000"/>
                  </a:lnTo>
                  <a:close/>
                </a:path>
              </a:pathLst>
            </a:custGeom>
            <a:solidFill>
              <a:srgbClr val="8F69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Query to speech attention"/>
            <p:cNvCxnSpPr/>
            <p:nvPr/>
          </p:nvCxnSpPr>
          <p:spPr>
            <a:xfrm flipV="1">
              <a:off x="11292840" y="4416552"/>
              <a:ext cx="0" cy="758952"/>
            </a:xfrm>
            <a:prstGeom prst="line">
              <a:avLst/>
            </a:prstGeom>
            <a:ln w="27432">
              <a:solidFill>
                <a:srgbClr val="8F69A5"/>
              </a:solidFill>
            </a:ln>
            <a:effectLst/>
          </p:spPr>
          <p:style>
            <a:lnRef idx="2">
              <a:schemeClr val="accent1"/>
            </a:lnRef>
            <a:fillRef idx="0">
              <a:schemeClr val="accent1"/>
            </a:fillRef>
            <a:effectRef idx="0">
              <a:schemeClr val="accent1"/>
            </a:effectRef>
            <a:fontRef idx="minor">
              <a:schemeClr val="tx1"/>
            </a:fontRef>
          </p:style>
        </p:cxnSp>
        <p:sp>
          <p:nvSpPr>
            <p:cNvPr id="15" name="Query to speech attention arrow"/>
            <p:cNvSpPr/>
            <p:nvPr/>
          </p:nvSpPr>
          <p:spPr>
            <a:xfrm>
              <a:off x="11241268" y="4416552"/>
              <a:ext cx="103144" cy="109728"/>
            </a:xfrm>
            <a:custGeom>
              <a:avLst/>
              <a:gdLst/>
              <a:ahLst/>
              <a:cxnLst/>
              <a:rect l="0" t="0" r="r" b="b"/>
              <a:pathLst>
                <a:path w="11280" h="12000">
                  <a:moveTo>
                    <a:pt x="5640" y="0"/>
                  </a:moveTo>
                  <a:lnTo>
                    <a:pt x="0" y="12000"/>
                  </a:lnTo>
                  <a:lnTo>
                    <a:pt x="11280" y="12000"/>
                  </a:lnTo>
                  <a:close/>
                </a:path>
              </a:pathLst>
            </a:custGeom>
            <a:solidFill>
              <a:srgbClr val="8F69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f"/>
            <p:cNvSpPr txBox="1"/>
            <p:nvPr/>
          </p:nvSpPr>
          <p:spPr>
            <a:xfrm>
              <a:off x="15483078" y="4782312"/>
              <a:ext cx="159291" cy="370332"/>
            </a:xfrm>
            <a:prstGeom prst="rect">
              <a:avLst/>
            </a:prstGeom>
            <a:noFill/>
            <a:effectLst/>
          </p:spPr>
          <p:txBody>
            <a:bodyPr wrap="none" lIns="0" rIns="0" tIns="0" bIns="0" anchor="t">
              <a:spAutoFit/>
            </a:bodyPr>
            <a:lstStyle/>
            <a:p>
              <a:pPr algn="l">
                <a:spcBef>
                  <a:spcPts val="0"/>
                </a:spcBef>
                <a:spcAft>
                  <a:spcPts val="0"/>
                </a:spcAft>
                <a:lnSpc>
                  <a:spcPct val="100000"/>
                </a:lnSpc>
              </a:pPr>
              <a:r>
                <a:rPr sz="2160" b="0" i="1">
                  <a:solidFill>
                    <a:srgbClr val="8F69A5"/>
                  </a:solidFill>
                  <a:latin typeface="URW Gothic"/>
                </a:rPr>
                <a:t>f</a:t>
              </a:r>
            </a:p>
          </p:txBody>
        </p:sp>
        <p:sp>
          <p:nvSpPr>
            <p:cNvPr id="17" name="i"/>
            <p:cNvSpPr txBox="1"/>
            <p:nvPr/>
          </p:nvSpPr>
          <p:spPr>
            <a:xfrm>
              <a:off x="15585948" y="4965192"/>
              <a:ext cx="109728" cy="246888"/>
            </a:xfrm>
            <a:prstGeom prst="rect">
              <a:avLst/>
            </a:prstGeom>
            <a:noFill/>
            <a:effectLst/>
          </p:spPr>
          <p:txBody>
            <a:bodyPr wrap="none" lIns="0" rIns="0" tIns="0" bIns="0" anchor="t">
              <a:spAutoFit/>
            </a:bodyPr>
            <a:lstStyle/>
            <a:p>
              <a:pPr algn="l">
                <a:spcBef>
                  <a:spcPts val="0"/>
                </a:spcBef>
                <a:spcAft>
                  <a:spcPts val="0"/>
                </a:spcAft>
                <a:lnSpc>
                  <a:spcPct val="100000"/>
                </a:lnSpc>
              </a:pPr>
              <a:r>
                <a:rPr sz="1439" b="0" i="1">
                  <a:solidFill>
                    <a:srgbClr val="8F69A5"/>
                  </a:solidFill>
                  <a:latin typeface="URW Gothic"/>
                </a:rPr>
                <a:t>i</a:t>
              </a:r>
            </a:p>
          </p:txBody>
        </p:sp>
        <p:sp>
          <p:nvSpPr>
            <p:cNvPr id="18" name="q"/>
            <p:cNvSpPr txBox="1"/>
            <p:nvPr/>
          </p:nvSpPr>
          <p:spPr>
            <a:xfrm>
              <a:off x="15638526" y="4800600"/>
              <a:ext cx="210355" cy="271577"/>
            </a:xfrm>
            <a:prstGeom prst="rect">
              <a:avLst/>
            </a:prstGeom>
            <a:noFill/>
            <a:effectLst/>
          </p:spPr>
          <p:txBody>
            <a:bodyPr wrap="none" lIns="0" rIns="0" tIns="0" bIns="0" anchor="t">
              <a:spAutoFit/>
            </a:bodyPr>
            <a:lstStyle/>
            <a:p>
              <a:pPr algn="l">
                <a:spcBef>
                  <a:spcPts val="0"/>
                </a:spcBef>
                <a:spcAft>
                  <a:spcPts val="0"/>
                </a:spcAft>
                <a:lnSpc>
                  <a:spcPct val="100000"/>
                </a:lnSpc>
              </a:pPr>
              <a:r>
                <a:rPr sz="1584" b="0" i="1">
                  <a:solidFill>
                    <a:srgbClr val="8F69A5"/>
                  </a:solidFill>
                  <a:latin typeface="URW Gothic"/>
                </a:rPr>
                <a:t>q</a:t>
              </a:r>
            </a:p>
          </p:txBody>
        </p:sp>
      </p:grpSp>
      <p:grpSp>
        <p:nvGrpSpPr>
          <p:cNvPr id="19" name="Group 18"/>
          <p:cNvGrpSpPr/>
          <p:nvPr/>
        </p:nvGrpSpPr>
        <p:grpSpPr>
          <a:xfrm>
            <a:off x="237744" y="2862072"/>
            <a:ext cx="6080760" cy="4855464"/>
            <a:chOff x="237744" y="2862072"/>
            <a:chExt cx="6080760" cy="4855464"/>
          </a:xfrm>
        </p:grpSpPr>
        <p:cxnSp>
          <p:nvCxnSpPr>
            <p:cNvPr id="20" name="Video to vision encoder"/>
            <p:cNvCxnSpPr/>
            <p:nvPr/>
          </p:nvCxnSpPr>
          <p:spPr>
            <a:xfrm flipV="1">
              <a:off x="2295144" y="6684264"/>
              <a:ext cx="0" cy="237744"/>
            </a:xfrm>
            <a:prstGeom prst="line">
              <a:avLst/>
            </a:prstGeom>
            <a:ln w="27432">
              <a:solidFill>
                <a:srgbClr val="176B8D"/>
              </a:solidFill>
            </a:ln>
            <a:effectLst/>
          </p:spPr>
          <p:style>
            <a:lnRef idx="2">
              <a:schemeClr val="accent1"/>
            </a:lnRef>
            <a:fillRef idx="0">
              <a:schemeClr val="accent1"/>
            </a:fillRef>
            <a:effectRef idx="0">
              <a:schemeClr val="accent1"/>
            </a:effectRef>
            <a:fontRef idx="minor">
              <a:schemeClr val="tx1"/>
            </a:fontRef>
          </p:style>
        </p:cxnSp>
        <p:sp>
          <p:nvSpPr>
            <p:cNvPr id="21" name="Video to vision encoder arrow"/>
            <p:cNvSpPr/>
            <p:nvPr/>
          </p:nvSpPr>
          <p:spPr>
            <a:xfrm>
              <a:off x="2243572" y="6684264"/>
              <a:ext cx="103144" cy="109728"/>
            </a:xfrm>
            <a:custGeom>
              <a:avLst/>
              <a:gdLst/>
              <a:ahLst/>
              <a:cxnLst/>
              <a:rect l="0" t="0" r="r" b="b"/>
              <a:pathLst>
                <a:path w="11280" h="12000">
                  <a:moveTo>
                    <a:pt x="5640" y="0"/>
                  </a:moveTo>
                  <a:lnTo>
                    <a:pt x="0" y="12000"/>
                  </a:lnTo>
                  <a:lnTo>
                    <a:pt x="11280" y="12000"/>
                  </a:lnTo>
                  <a:close/>
                </a:path>
              </a:pathLst>
            </a:custGeom>
            <a:solidFill>
              <a:srgbClr val="176B8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Vision encoder to projector"/>
            <p:cNvCxnSpPr/>
            <p:nvPr/>
          </p:nvCxnSpPr>
          <p:spPr>
            <a:xfrm flipV="1">
              <a:off x="2304288" y="5916168"/>
              <a:ext cx="0" cy="192024"/>
            </a:xfrm>
            <a:prstGeom prst="line">
              <a:avLst/>
            </a:prstGeom>
            <a:ln w="27432">
              <a:solidFill>
                <a:srgbClr val="176B8D"/>
              </a:solidFill>
            </a:ln>
            <a:effectLst/>
          </p:spPr>
          <p:style>
            <a:lnRef idx="2">
              <a:schemeClr val="accent1"/>
            </a:lnRef>
            <a:fillRef idx="0">
              <a:schemeClr val="accent1"/>
            </a:fillRef>
            <a:effectRef idx="0">
              <a:schemeClr val="accent1"/>
            </a:effectRef>
            <a:fontRef idx="minor">
              <a:schemeClr val="tx1"/>
            </a:fontRef>
          </p:style>
        </p:cxnSp>
        <p:sp>
          <p:nvSpPr>
            <p:cNvPr id="23" name="Vision encoder to projector arrow"/>
            <p:cNvSpPr/>
            <p:nvPr/>
          </p:nvSpPr>
          <p:spPr>
            <a:xfrm>
              <a:off x="2252716" y="5916168"/>
              <a:ext cx="103144" cy="109728"/>
            </a:xfrm>
            <a:custGeom>
              <a:avLst/>
              <a:gdLst/>
              <a:ahLst/>
              <a:cxnLst/>
              <a:rect l="0" t="0" r="r" b="b"/>
              <a:pathLst>
                <a:path w="11280" h="12000">
                  <a:moveTo>
                    <a:pt x="5640" y="0"/>
                  </a:moveTo>
                  <a:lnTo>
                    <a:pt x="0" y="12000"/>
                  </a:lnTo>
                  <a:lnTo>
                    <a:pt x="11280" y="12000"/>
                  </a:lnTo>
                  <a:close/>
                </a:path>
              </a:pathLst>
            </a:custGeom>
            <a:solidFill>
              <a:srgbClr val="176B8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Vision projection to tokens"/>
            <p:cNvCxnSpPr/>
            <p:nvPr/>
          </p:nvCxnSpPr>
          <p:spPr>
            <a:xfrm flipV="1">
              <a:off x="2350008" y="5120640"/>
              <a:ext cx="0" cy="210312"/>
            </a:xfrm>
            <a:prstGeom prst="line">
              <a:avLst/>
            </a:prstGeom>
            <a:ln w="27432">
              <a:solidFill>
                <a:srgbClr val="176B8D"/>
              </a:solidFill>
            </a:ln>
            <a:effectLst/>
          </p:spPr>
          <p:style>
            <a:lnRef idx="2">
              <a:schemeClr val="accent1"/>
            </a:lnRef>
            <a:fillRef idx="0">
              <a:schemeClr val="accent1"/>
            </a:fillRef>
            <a:effectRef idx="0">
              <a:schemeClr val="accent1"/>
            </a:effectRef>
            <a:fontRef idx="minor">
              <a:schemeClr val="tx1"/>
            </a:fontRef>
          </p:style>
        </p:cxnSp>
        <p:sp>
          <p:nvSpPr>
            <p:cNvPr id="25" name="Vision projection to tokens arrow"/>
            <p:cNvSpPr/>
            <p:nvPr/>
          </p:nvSpPr>
          <p:spPr>
            <a:xfrm>
              <a:off x="2298436" y="5120640"/>
              <a:ext cx="103144" cy="109728"/>
            </a:xfrm>
            <a:custGeom>
              <a:avLst/>
              <a:gdLst/>
              <a:ahLst/>
              <a:cxnLst/>
              <a:rect l="0" t="0" r="r" b="b"/>
              <a:pathLst>
                <a:path w="11280" h="12000">
                  <a:moveTo>
                    <a:pt x="5640" y="0"/>
                  </a:moveTo>
                  <a:lnTo>
                    <a:pt x="0" y="12000"/>
                  </a:lnTo>
                  <a:lnTo>
                    <a:pt x="11280" y="12000"/>
                  </a:lnTo>
                  <a:close/>
                </a:path>
              </a:pathLst>
            </a:custGeom>
            <a:solidFill>
              <a:srgbClr val="176B8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Vision tokens to cross attention"/>
            <p:cNvCxnSpPr/>
            <p:nvPr/>
          </p:nvCxnSpPr>
          <p:spPr>
            <a:xfrm flipV="1">
              <a:off x="2377440" y="4489704"/>
              <a:ext cx="0" cy="192024"/>
            </a:xfrm>
            <a:prstGeom prst="line">
              <a:avLst/>
            </a:prstGeom>
            <a:ln w="27432">
              <a:solidFill>
                <a:srgbClr val="176B8D"/>
              </a:solidFill>
            </a:ln>
            <a:effectLst/>
          </p:spPr>
          <p:style>
            <a:lnRef idx="2">
              <a:schemeClr val="accent1"/>
            </a:lnRef>
            <a:fillRef idx="0">
              <a:schemeClr val="accent1"/>
            </a:fillRef>
            <a:effectRef idx="0">
              <a:schemeClr val="accent1"/>
            </a:effectRef>
            <a:fontRef idx="minor">
              <a:schemeClr val="tx1"/>
            </a:fontRef>
          </p:style>
        </p:cxnSp>
        <p:sp>
          <p:nvSpPr>
            <p:cNvPr id="27" name="Vision tokens to cross attention arrow"/>
            <p:cNvSpPr/>
            <p:nvPr/>
          </p:nvSpPr>
          <p:spPr>
            <a:xfrm>
              <a:off x="2325868" y="4489704"/>
              <a:ext cx="103144" cy="109728"/>
            </a:xfrm>
            <a:custGeom>
              <a:avLst/>
              <a:gdLst/>
              <a:ahLst/>
              <a:cxnLst/>
              <a:rect l="0" t="0" r="r" b="b"/>
              <a:pathLst>
                <a:path w="11280" h="12000">
                  <a:moveTo>
                    <a:pt x="5640" y="0"/>
                  </a:moveTo>
                  <a:lnTo>
                    <a:pt x="0" y="12000"/>
                  </a:lnTo>
                  <a:lnTo>
                    <a:pt x="11280" y="12000"/>
                  </a:lnTo>
                  <a:close/>
                </a:path>
              </a:pathLst>
            </a:custGeom>
            <a:solidFill>
              <a:srgbClr val="176B8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Attended vision to fusion"/>
            <p:cNvSpPr/>
            <p:nvPr/>
          </p:nvSpPr>
          <p:spPr>
            <a:xfrm>
              <a:off x="2368296" y="3017520"/>
              <a:ext cx="3950208" cy="877824"/>
            </a:xfrm>
            <a:custGeom>
              <a:avLst/>
              <a:gdLst/>
              <a:ahLst/>
              <a:cxnLst/>
              <a:rect l="0" t="0" r="r" b="b"/>
              <a:pathLst>
                <a:path w="432000" h="96000" fill="none">
                  <a:moveTo>
                    <a:pt x="0" y="96000"/>
                  </a:moveTo>
                  <a:lnTo>
                    <a:pt x="0" y="0"/>
                  </a:lnTo>
                  <a:lnTo>
                    <a:pt x="432000" y="0"/>
                  </a:lnTo>
                </a:path>
              </a:pathLst>
            </a:custGeom>
            <a:noFill/>
            <a:ln w="25603" cap="rnd">
              <a:solidFill>
                <a:srgbClr val="176B8D"/>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Attended vision to fusion arrow"/>
            <p:cNvSpPr/>
            <p:nvPr/>
          </p:nvSpPr>
          <p:spPr>
            <a:xfrm>
              <a:off x="6208776" y="2965948"/>
              <a:ext cx="109728" cy="103144"/>
            </a:xfrm>
            <a:custGeom>
              <a:avLst/>
              <a:gdLst/>
              <a:ahLst/>
              <a:cxnLst/>
              <a:rect l="0" t="0" r="r" b="b"/>
              <a:pathLst>
                <a:path w="12000" h="11280">
                  <a:moveTo>
                    <a:pt x="12000" y="5640"/>
                  </a:moveTo>
                  <a:lnTo>
                    <a:pt x="0" y="0"/>
                  </a:lnTo>
                  <a:lnTo>
                    <a:pt x="0" y="11280"/>
                  </a:lnTo>
                  <a:close/>
                </a:path>
              </a:pathLst>
            </a:custGeom>
            <a:solidFill>
              <a:srgbClr val="176B8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Vision Encoder box"/>
            <p:cNvSpPr/>
            <p:nvPr/>
          </p:nvSpPr>
          <p:spPr>
            <a:xfrm>
              <a:off x="1106424" y="6108192"/>
              <a:ext cx="2532888" cy="576072"/>
            </a:xfrm>
            <a:prstGeom prst="roundRect">
              <a:avLst>
                <a:gd name="adj" fmla="val 3968"/>
              </a:avLst>
            </a:prstGeom>
            <a:solidFill>
              <a:srgbClr val="DCEAF7"/>
            </a:solidFill>
            <a:ln w="25603">
              <a:solidFill>
                <a:srgbClr val="193F6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Vision Encoder"/>
            <p:cNvSpPr txBox="1"/>
            <p:nvPr/>
          </p:nvSpPr>
          <p:spPr>
            <a:xfrm>
              <a:off x="1197864" y="6237854"/>
              <a:ext cx="2350008"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193F66"/>
                  </a:solidFill>
                  <a:latin typeface="URW Gothic"/>
                </a:rPr>
                <a:t>Vision Encoder</a:t>
              </a:r>
            </a:p>
          </p:txBody>
        </p:sp>
        <p:sp>
          <p:nvSpPr>
            <p:cNvPr id="32" name="Vision Encoder frozen"/>
            <p:cNvSpPr/>
            <p:nvPr/>
          </p:nvSpPr>
          <p:spPr>
            <a:xfrm>
              <a:off x="3390654" y="6161488"/>
              <a:ext cx="230960" cy="267527"/>
            </a:xfrm>
            <a:custGeom>
              <a:avLst/>
              <a:gdLst/>
              <a:ahLst/>
              <a:cxnLst/>
              <a:rect l="0" t="0" r="r" b="b"/>
              <a:pathLst>
                <a:path w="25258" h="29257">
                  <a:moveTo>
                    <a:pt x="12161" y="0"/>
                  </a:moveTo>
                  <a:lnTo>
                    <a:pt x="13097" y="0"/>
                  </a:lnTo>
                  <a:lnTo>
                    <a:pt x="13097" y="1829"/>
                  </a:lnTo>
                  <a:lnTo>
                    <a:pt x="15903" y="1829"/>
                  </a:lnTo>
                  <a:lnTo>
                    <a:pt x="15903" y="3657"/>
                  </a:lnTo>
                  <a:lnTo>
                    <a:pt x="14032" y="3657"/>
                  </a:lnTo>
                  <a:lnTo>
                    <a:pt x="14032" y="5486"/>
                  </a:lnTo>
                  <a:lnTo>
                    <a:pt x="13097" y="5486"/>
                  </a:lnTo>
                  <a:lnTo>
                    <a:pt x="13097" y="6400"/>
                  </a:lnTo>
                  <a:lnTo>
                    <a:pt x="14968" y="6400"/>
                  </a:lnTo>
                  <a:lnTo>
                    <a:pt x="15903" y="4571"/>
                  </a:lnTo>
                  <a:lnTo>
                    <a:pt x="17774" y="4571"/>
                  </a:lnTo>
                  <a:lnTo>
                    <a:pt x="17774" y="5486"/>
                  </a:lnTo>
                  <a:lnTo>
                    <a:pt x="16839" y="5486"/>
                  </a:lnTo>
                  <a:lnTo>
                    <a:pt x="16839" y="6400"/>
                  </a:lnTo>
                  <a:lnTo>
                    <a:pt x="13097" y="9143"/>
                  </a:lnTo>
                  <a:lnTo>
                    <a:pt x="13097" y="10971"/>
                  </a:lnTo>
                  <a:lnTo>
                    <a:pt x="14032" y="10971"/>
                  </a:lnTo>
                  <a:lnTo>
                    <a:pt x="14032" y="11886"/>
                  </a:lnTo>
                  <a:lnTo>
                    <a:pt x="16839" y="11886"/>
                  </a:lnTo>
                  <a:lnTo>
                    <a:pt x="16839" y="10971"/>
                  </a:lnTo>
                  <a:lnTo>
                    <a:pt x="17774" y="10971"/>
                  </a:lnTo>
                  <a:lnTo>
                    <a:pt x="17774" y="7314"/>
                  </a:lnTo>
                  <a:lnTo>
                    <a:pt x="18710" y="7314"/>
                  </a:lnTo>
                  <a:lnTo>
                    <a:pt x="18710" y="5486"/>
                  </a:lnTo>
                  <a:lnTo>
                    <a:pt x="20581" y="5486"/>
                  </a:lnTo>
                  <a:lnTo>
                    <a:pt x="20581" y="6400"/>
                  </a:lnTo>
                  <a:lnTo>
                    <a:pt x="19645" y="6400"/>
                  </a:lnTo>
                  <a:lnTo>
                    <a:pt x="19645" y="9143"/>
                  </a:lnTo>
                  <a:lnTo>
                    <a:pt x="21516" y="8229"/>
                  </a:lnTo>
                  <a:lnTo>
                    <a:pt x="21516" y="5486"/>
                  </a:lnTo>
                  <a:lnTo>
                    <a:pt x="22452" y="5486"/>
                  </a:lnTo>
                  <a:lnTo>
                    <a:pt x="22452" y="7314"/>
                  </a:lnTo>
                  <a:lnTo>
                    <a:pt x="25258" y="7314"/>
                  </a:lnTo>
                  <a:lnTo>
                    <a:pt x="25258" y="8229"/>
                  </a:lnTo>
                  <a:lnTo>
                    <a:pt x="24323" y="8229"/>
                  </a:lnTo>
                  <a:lnTo>
                    <a:pt x="24323" y="10057"/>
                  </a:lnTo>
                  <a:lnTo>
                    <a:pt x="25258" y="10057"/>
                  </a:lnTo>
                  <a:lnTo>
                    <a:pt x="25258" y="10971"/>
                  </a:lnTo>
                  <a:lnTo>
                    <a:pt x="20581" y="10971"/>
                  </a:lnTo>
                  <a:lnTo>
                    <a:pt x="20581" y="11886"/>
                  </a:lnTo>
                  <a:lnTo>
                    <a:pt x="22452" y="11886"/>
                  </a:lnTo>
                  <a:lnTo>
                    <a:pt x="22452" y="12800"/>
                  </a:lnTo>
                  <a:lnTo>
                    <a:pt x="24323" y="12800"/>
                  </a:lnTo>
                  <a:lnTo>
                    <a:pt x="24323" y="13714"/>
                  </a:lnTo>
                  <a:lnTo>
                    <a:pt x="20581" y="13714"/>
                  </a:lnTo>
                  <a:lnTo>
                    <a:pt x="20581" y="12800"/>
                  </a:lnTo>
                  <a:lnTo>
                    <a:pt x="16839" y="12800"/>
                  </a:lnTo>
                  <a:lnTo>
                    <a:pt x="16839" y="13714"/>
                  </a:lnTo>
                  <a:lnTo>
                    <a:pt x="15903" y="13714"/>
                  </a:lnTo>
                  <a:lnTo>
                    <a:pt x="15903" y="15543"/>
                  </a:lnTo>
                  <a:lnTo>
                    <a:pt x="16839" y="15543"/>
                  </a:lnTo>
                  <a:lnTo>
                    <a:pt x="17774" y="17371"/>
                  </a:lnTo>
                  <a:lnTo>
                    <a:pt x="20581" y="17371"/>
                  </a:lnTo>
                  <a:lnTo>
                    <a:pt x="20581" y="18286"/>
                  </a:lnTo>
                  <a:lnTo>
                    <a:pt x="25258" y="18286"/>
                  </a:lnTo>
                  <a:lnTo>
                    <a:pt x="25258" y="19200"/>
                  </a:lnTo>
                  <a:lnTo>
                    <a:pt x="24323" y="19200"/>
                  </a:lnTo>
                  <a:lnTo>
                    <a:pt x="25258" y="22857"/>
                  </a:lnTo>
                  <a:lnTo>
                    <a:pt x="24323" y="22857"/>
                  </a:lnTo>
                  <a:lnTo>
                    <a:pt x="24323" y="21943"/>
                  </a:lnTo>
                  <a:lnTo>
                    <a:pt x="22452" y="21943"/>
                  </a:lnTo>
                  <a:lnTo>
                    <a:pt x="22452" y="23771"/>
                  </a:lnTo>
                  <a:lnTo>
                    <a:pt x="21516" y="23771"/>
                  </a:lnTo>
                  <a:lnTo>
                    <a:pt x="21516" y="21943"/>
                  </a:lnTo>
                  <a:lnTo>
                    <a:pt x="20581" y="21943"/>
                  </a:lnTo>
                  <a:lnTo>
                    <a:pt x="20581" y="20114"/>
                  </a:lnTo>
                  <a:lnTo>
                    <a:pt x="19645" y="20114"/>
                  </a:lnTo>
                  <a:lnTo>
                    <a:pt x="19645" y="24686"/>
                  </a:lnTo>
                  <a:lnTo>
                    <a:pt x="18710" y="24686"/>
                  </a:lnTo>
                  <a:lnTo>
                    <a:pt x="18710" y="21029"/>
                  </a:lnTo>
                  <a:lnTo>
                    <a:pt x="17774" y="21029"/>
                  </a:lnTo>
                  <a:lnTo>
                    <a:pt x="16839" y="17371"/>
                  </a:lnTo>
                  <a:lnTo>
                    <a:pt x="14032" y="17371"/>
                  </a:lnTo>
                  <a:lnTo>
                    <a:pt x="14032" y="18286"/>
                  </a:lnTo>
                  <a:lnTo>
                    <a:pt x="13097" y="18286"/>
                  </a:lnTo>
                  <a:lnTo>
                    <a:pt x="13097" y="20114"/>
                  </a:lnTo>
                  <a:lnTo>
                    <a:pt x="15903" y="21943"/>
                  </a:lnTo>
                  <a:lnTo>
                    <a:pt x="15903" y="23771"/>
                  </a:lnTo>
                  <a:lnTo>
                    <a:pt x="16839" y="23771"/>
                  </a:lnTo>
                  <a:lnTo>
                    <a:pt x="17774" y="25600"/>
                  </a:lnTo>
                  <a:lnTo>
                    <a:pt x="14032" y="22857"/>
                  </a:lnTo>
                  <a:lnTo>
                    <a:pt x="14032" y="25600"/>
                  </a:lnTo>
                  <a:lnTo>
                    <a:pt x="14968" y="25600"/>
                  </a:lnTo>
                  <a:lnTo>
                    <a:pt x="15903" y="27429"/>
                  </a:lnTo>
                  <a:lnTo>
                    <a:pt x="13097" y="27429"/>
                  </a:lnTo>
                  <a:lnTo>
                    <a:pt x="13097" y="29257"/>
                  </a:lnTo>
                  <a:lnTo>
                    <a:pt x="12161" y="29257"/>
                  </a:lnTo>
                  <a:lnTo>
                    <a:pt x="12161" y="27429"/>
                  </a:lnTo>
                  <a:lnTo>
                    <a:pt x="9355" y="27429"/>
                  </a:lnTo>
                  <a:lnTo>
                    <a:pt x="9355" y="26514"/>
                  </a:lnTo>
                  <a:lnTo>
                    <a:pt x="12161" y="24686"/>
                  </a:lnTo>
                  <a:lnTo>
                    <a:pt x="12161" y="22857"/>
                  </a:lnTo>
                  <a:lnTo>
                    <a:pt x="11226" y="22857"/>
                  </a:lnTo>
                  <a:lnTo>
                    <a:pt x="9355" y="25600"/>
                  </a:lnTo>
                  <a:lnTo>
                    <a:pt x="7484" y="25600"/>
                  </a:lnTo>
                  <a:lnTo>
                    <a:pt x="7484" y="24686"/>
                  </a:lnTo>
                  <a:lnTo>
                    <a:pt x="9355" y="23771"/>
                  </a:lnTo>
                  <a:lnTo>
                    <a:pt x="9355" y="21943"/>
                  </a:lnTo>
                  <a:lnTo>
                    <a:pt x="12161" y="20114"/>
                  </a:lnTo>
                  <a:lnTo>
                    <a:pt x="12161" y="18286"/>
                  </a:lnTo>
                  <a:lnTo>
                    <a:pt x="11226" y="18286"/>
                  </a:lnTo>
                  <a:lnTo>
                    <a:pt x="11226" y="17371"/>
                  </a:lnTo>
                  <a:lnTo>
                    <a:pt x="8419" y="17371"/>
                  </a:lnTo>
                  <a:lnTo>
                    <a:pt x="8419" y="19200"/>
                  </a:lnTo>
                  <a:lnTo>
                    <a:pt x="7484" y="19200"/>
                  </a:lnTo>
                  <a:lnTo>
                    <a:pt x="7484" y="22857"/>
                  </a:lnTo>
                  <a:lnTo>
                    <a:pt x="6548" y="22857"/>
                  </a:lnTo>
                  <a:lnTo>
                    <a:pt x="6548" y="23771"/>
                  </a:lnTo>
                  <a:lnTo>
                    <a:pt x="5613" y="23771"/>
                  </a:lnTo>
                  <a:lnTo>
                    <a:pt x="6548" y="19200"/>
                  </a:lnTo>
                  <a:lnTo>
                    <a:pt x="4677" y="20114"/>
                  </a:lnTo>
                  <a:lnTo>
                    <a:pt x="3742" y="23771"/>
                  </a:lnTo>
                  <a:lnTo>
                    <a:pt x="2806" y="23771"/>
                  </a:lnTo>
                  <a:lnTo>
                    <a:pt x="2806" y="21943"/>
                  </a:lnTo>
                  <a:lnTo>
                    <a:pt x="0" y="21943"/>
                  </a:lnTo>
                  <a:lnTo>
                    <a:pt x="0" y="21029"/>
                  </a:lnTo>
                  <a:lnTo>
                    <a:pt x="935" y="21029"/>
                  </a:lnTo>
                  <a:lnTo>
                    <a:pt x="935" y="19200"/>
                  </a:lnTo>
                  <a:lnTo>
                    <a:pt x="0" y="19200"/>
                  </a:lnTo>
                  <a:lnTo>
                    <a:pt x="0" y="18286"/>
                  </a:lnTo>
                  <a:lnTo>
                    <a:pt x="4677" y="18286"/>
                  </a:lnTo>
                  <a:lnTo>
                    <a:pt x="4677" y="17371"/>
                  </a:lnTo>
                  <a:lnTo>
                    <a:pt x="2806" y="17371"/>
                  </a:lnTo>
                  <a:lnTo>
                    <a:pt x="2806" y="16457"/>
                  </a:lnTo>
                  <a:lnTo>
                    <a:pt x="935" y="16457"/>
                  </a:lnTo>
                  <a:lnTo>
                    <a:pt x="935" y="15543"/>
                  </a:lnTo>
                  <a:lnTo>
                    <a:pt x="9355" y="16457"/>
                  </a:lnTo>
                  <a:lnTo>
                    <a:pt x="9355" y="13714"/>
                  </a:lnTo>
                  <a:lnTo>
                    <a:pt x="8419" y="13714"/>
                  </a:lnTo>
                  <a:lnTo>
                    <a:pt x="8419" y="12800"/>
                  </a:lnTo>
                  <a:lnTo>
                    <a:pt x="935" y="13714"/>
                  </a:lnTo>
                  <a:lnTo>
                    <a:pt x="935" y="12800"/>
                  </a:lnTo>
                  <a:lnTo>
                    <a:pt x="2806" y="12800"/>
                  </a:lnTo>
                  <a:lnTo>
                    <a:pt x="2806" y="11886"/>
                  </a:lnTo>
                  <a:lnTo>
                    <a:pt x="4677" y="11886"/>
                  </a:lnTo>
                  <a:lnTo>
                    <a:pt x="4677" y="10971"/>
                  </a:lnTo>
                  <a:lnTo>
                    <a:pt x="0" y="10971"/>
                  </a:lnTo>
                  <a:lnTo>
                    <a:pt x="0" y="10057"/>
                  </a:lnTo>
                  <a:lnTo>
                    <a:pt x="1871" y="10057"/>
                  </a:lnTo>
                  <a:lnTo>
                    <a:pt x="0" y="7314"/>
                  </a:lnTo>
                  <a:lnTo>
                    <a:pt x="2806" y="7314"/>
                  </a:lnTo>
                  <a:lnTo>
                    <a:pt x="2806" y="5486"/>
                  </a:lnTo>
                  <a:lnTo>
                    <a:pt x="3742" y="5486"/>
                  </a:lnTo>
                  <a:lnTo>
                    <a:pt x="3742" y="6400"/>
                  </a:lnTo>
                  <a:lnTo>
                    <a:pt x="4677" y="6400"/>
                  </a:lnTo>
                  <a:lnTo>
                    <a:pt x="4677" y="9143"/>
                  </a:lnTo>
                  <a:lnTo>
                    <a:pt x="6548" y="10057"/>
                  </a:lnTo>
                  <a:lnTo>
                    <a:pt x="6548" y="8229"/>
                  </a:lnTo>
                  <a:lnTo>
                    <a:pt x="5613" y="8229"/>
                  </a:lnTo>
                  <a:lnTo>
                    <a:pt x="5613" y="5486"/>
                  </a:lnTo>
                  <a:lnTo>
                    <a:pt x="6548" y="5486"/>
                  </a:lnTo>
                  <a:lnTo>
                    <a:pt x="6548" y="6400"/>
                  </a:lnTo>
                  <a:lnTo>
                    <a:pt x="7484" y="6400"/>
                  </a:lnTo>
                  <a:lnTo>
                    <a:pt x="7484" y="10057"/>
                  </a:lnTo>
                  <a:lnTo>
                    <a:pt x="8419" y="10057"/>
                  </a:lnTo>
                  <a:lnTo>
                    <a:pt x="8419" y="11886"/>
                  </a:lnTo>
                  <a:lnTo>
                    <a:pt x="12161" y="11886"/>
                  </a:lnTo>
                  <a:lnTo>
                    <a:pt x="12161" y="9143"/>
                  </a:lnTo>
                  <a:lnTo>
                    <a:pt x="11226" y="9143"/>
                  </a:lnTo>
                  <a:lnTo>
                    <a:pt x="11226" y="8229"/>
                  </a:lnTo>
                  <a:lnTo>
                    <a:pt x="10290" y="8229"/>
                  </a:lnTo>
                  <a:lnTo>
                    <a:pt x="10290" y="6400"/>
                  </a:lnTo>
                  <a:lnTo>
                    <a:pt x="8419" y="6400"/>
                  </a:lnTo>
                  <a:lnTo>
                    <a:pt x="8419" y="4571"/>
                  </a:lnTo>
                  <a:lnTo>
                    <a:pt x="7484" y="4571"/>
                  </a:lnTo>
                  <a:lnTo>
                    <a:pt x="7484" y="3657"/>
                  </a:lnTo>
                  <a:lnTo>
                    <a:pt x="9355" y="3657"/>
                  </a:lnTo>
                  <a:lnTo>
                    <a:pt x="9355" y="4571"/>
                  </a:lnTo>
                  <a:lnTo>
                    <a:pt x="12161" y="6400"/>
                  </a:lnTo>
                  <a:lnTo>
                    <a:pt x="12161" y="4571"/>
                  </a:lnTo>
                  <a:lnTo>
                    <a:pt x="9355" y="2743"/>
                  </a:lnTo>
                  <a:lnTo>
                    <a:pt x="9355" y="1829"/>
                  </a:lnTo>
                  <a:lnTo>
                    <a:pt x="11226" y="1829"/>
                  </a:lnTo>
                  <a:lnTo>
                    <a:pt x="11226" y="2743"/>
                  </a:lnTo>
                  <a:lnTo>
                    <a:pt x="12161" y="2743"/>
                  </a:lnTo>
                  <a:close/>
                  <a:moveTo>
                    <a:pt x="12161" y="12800"/>
                  </a:moveTo>
                  <a:lnTo>
                    <a:pt x="11226" y="12800"/>
                  </a:lnTo>
                  <a:lnTo>
                    <a:pt x="11226" y="16457"/>
                  </a:lnTo>
                  <a:lnTo>
                    <a:pt x="14032" y="16457"/>
                  </a:lnTo>
                  <a:lnTo>
                    <a:pt x="14032" y="15543"/>
                  </a:lnTo>
                  <a:lnTo>
                    <a:pt x="14968" y="15543"/>
                  </a:lnTo>
                  <a:lnTo>
                    <a:pt x="14968" y="13714"/>
                  </a:lnTo>
                  <a:lnTo>
                    <a:pt x="14032" y="13714"/>
                  </a:lnTo>
                  <a:lnTo>
                    <a:pt x="14032" y="12800"/>
                  </a:lnTo>
                  <a:close/>
                  <a:moveTo>
                    <a:pt x="21516" y="15543"/>
                  </a:moveTo>
                  <a:lnTo>
                    <a:pt x="24323" y="15543"/>
                  </a:lnTo>
                  <a:lnTo>
                    <a:pt x="24323" y="16457"/>
                  </a:lnTo>
                  <a:lnTo>
                    <a:pt x="23387" y="16457"/>
                  </a:lnTo>
                  <a:lnTo>
                    <a:pt x="23387" y="17371"/>
                  </a:lnTo>
                  <a:lnTo>
                    <a:pt x="20581" y="17371"/>
                  </a:lnTo>
                  <a:close/>
                </a:path>
              </a:pathLst>
            </a:custGeom>
            <a:solidFill>
              <a:srgbClr val="3C83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Vision Projector box"/>
            <p:cNvSpPr/>
            <p:nvPr/>
          </p:nvSpPr>
          <p:spPr>
            <a:xfrm>
              <a:off x="1106424" y="5330952"/>
              <a:ext cx="2532888" cy="576072"/>
            </a:xfrm>
            <a:prstGeom prst="roundRect">
              <a:avLst>
                <a:gd name="adj" fmla="val 3968"/>
              </a:avLst>
            </a:prstGeom>
            <a:solidFill>
              <a:srgbClr val="DCEAF7"/>
            </a:solidFill>
            <a:ln w="25603">
              <a:solidFill>
                <a:srgbClr val="193F6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Vision Projector"/>
            <p:cNvSpPr txBox="1"/>
            <p:nvPr/>
          </p:nvSpPr>
          <p:spPr>
            <a:xfrm>
              <a:off x="1197864" y="5460614"/>
              <a:ext cx="2350008"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193F66"/>
                  </a:solidFill>
                  <a:latin typeface="URW Gothic"/>
                </a:rPr>
                <a:t>Vision Projector</a:t>
              </a:r>
            </a:p>
          </p:txBody>
        </p:sp>
        <p:sp>
          <p:nvSpPr>
            <p:cNvPr id="35" name="Vision Projector trainable"/>
            <p:cNvSpPr/>
            <p:nvPr/>
          </p:nvSpPr>
          <p:spPr>
            <a:xfrm>
              <a:off x="3418550" y="5348369"/>
              <a:ext cx="195943" cy="314379"/>
            </a:xfrm>
            <a:custGeom>
              <a:avLst/>
              <a:gdLst/>
              <a:ahLst/>
              <a:cxnLst/>
              <a:rect l="0" t="0" r="r" b="b"/>
              <a:pathLst>
                <a:path w="21429" h="34381">
                  <a:moveTo>
                    <a:pt x="9429" y="0"/>
                  </a:moveTo>
                  <a:cubicBezTo>
                    <a:pt x="9643" y="-792"/>
                    <a:pt x="10929" y="-113"/>
                    <a:pt x="11143" y="0"/>
                  </a:cubicBezTo>
                  <a:cubicBezTo>
                    <a:pt x="11357" y="113"/>
                    <a:pt x="10929" y="679"/>
                    <a:pt x="11143" y="905"/>
                  </a:cubicBezTo>
                  <a:cubicBezTo>
                    <a:pt x="11357" y="1131"/>
                    <a:pt x="12643" y="1470"/>
                    <a:pt x="12857" y="1810"/>
                  </a:cubicBezTo>
                  <a:cubicBezTo>
                    <a:pt x="13071" y="2149"/>
                    <a:pt x="12643" y="3280"/>
                    <a:pt x="12857" y="3619"/>
                  </a:cubicBezTo>
                  <a:cubicBezTo>
                    <a:pt x="13071" y="3958"/>
                    <a:pt x="14357" y="3958"/>
                    <a:pt x="14571" y="4524"/>
                  </a:cubicBezTo>
                  <a:cubicBezTo>
                    <a:pt x="14786" y="5089"/>
                    <a:pt x="14464" y="7690"/>
                    <a:pt x="14571" y="8143"/>
                  </a:cubicBezTo>
                  <a:cubicBezTo>
                    <a:pt x="14679" y="8595"/>
                    <a:pt x="15321" y="7690"/>
                    <a:pt x="15429" y="8143"/>
                  </a:cubicBezTo>
                  <a:cubicBezTo>
                    <a:pt x="15536" y="8595"/>
                    <a:pt x="15536" y="11310"/>
                    <a:pt x="15429" y="11762"/>
                  </a:cubicBezTo>
                  <a:cubicBezTo>
                    <a:pt x="15321" y="12214"/>
                    <a:pt x="14679" y="11423"/>
                    <a:pt x="14571" y="11762"/>
                  </a:cubicBezTo>
                  <a:cubicBezTo>
                    <a:pt x="14464" y="12101"/>
                    <a:pt x="14679" y="14137"/>
                    <a:pt x="14571" y="14476"/>
                  </a:cubicBezTo>
                  <a:cubicBezTo>
                    <a:pt x="14464" y="14815"/>
                    <a:pt x="13821" y="14250"/>
                    <a:pt x="13714" y="14476"/>
                  </a:cubicBezTo>
                  <a:cubicBezTo>
                    <a:pt x="13607" y="14702"/>
                    <a:pt x="13821" y="16060"/>
                    <a:pt x="13714" y="16286"/>
                  </a:cubicBezTo>
                  <a:cubicBezTo>
                    <a:pt x="13607" y="16512"/>
                    <a:pt x="12964" y="15607"/>
                    <a:pt x="12857" y="16286"/>
                  </a:cubicBezTo>
                  <a:cubicBezTo>
                    <a:pt x="12750" y="16964"/>
                    <a:pt x="12214" y="20923"/>
                    <a:pt x="12857" y="21714"/>
                  </a:cubicBezTo>
                  <a:cubicBezTo>
                    <a:pt x="13500" y="22506"/>
                    <a:pt x="17143" y="22845"/>
                    <a:pt x="18000" y="22619"/>
                  </a:cubicBezTo>
                  <a:cubicBezTo>
                    <a:pt x="18857" y="22393"/>
                    <a:pt x="19286" y="20131"/>
                    <a:pt x="19714" y="19905"/>
                  </a:cubicBezTo>
                  <a:cubicBezTo>
                    <a:pt x="20143" y="19679"/>
                    <a:pt x="21214" y="20131"/>
                    <a:pt x="21429" y="20810"/>
                  </a:cubicBezTo>
                  <a:cubicBezTo>
                    <a:pt x="21643" y="21488"/>
                    <a:pt x="21536" y="24768"/>
                    <a:pt x="21429" y="25333"/>
                  </a:cubicBezTo>
                  <a:cubicBezTo>
                    <a:pt x="21321" y="25899"/>
                    <a:pt x="20679" y="24994"/>
                    <a:pt x="20571" y="25333"/>
                  </a:cubicBezTo>
                  <a:cubicBezTo>
                    <a:pt x="20464" y="25673"/>
                    <a:pt x="20679" y="27708"/>
                    <a:pt x="20571" y="28048"/>
                  </a:cubicBezTo>
                  <a:cubicBezTo>
                    <a:pt x="20464" y="28387"/>
                    <a:pt x="19821" y="27935"/>
                    <a:pt x="19714" y="28048"/>
                  </a:cubicBezTo>
                  <a:cubicBezTo>
                    <a:pt x="19607" y="28161"/>
                    <a:pt x="19821" y="28839"/>
                    <a:pt x="19714" y="28952"/>
                  </a:cubicBezTo>
                  <a:cubicBezTo>
                    <a:pt x="19607" y="29065"/>
                    <a:pt x="18964" y="28726"/>
                    <a:pt x="18857" y="28952"/>
                  </a:cubicBezTo>
                  <a:cubicBezTo>
                    <a:pt x="18750" y="29179"/>
                    <a:pt x="18964" y="30536"/>
                    <a:pt x="18857" y="30762"/>
                  </a:cubicBezTo>
                  <a:cubicBezTo>
                    <a:pt x="18750" y="30988"/>
                    <a:pt x="18321" y="30423"/>
                    <a:pt x="18000" y="30762"/>
                  </a:cubicBezTo>
                  <a:cubicBezTo>
                    <a:pt x="17679" y="31101"/>
                    <a:pt x="16714" y="33137"/>
                    <a:pt x="16286" y="33476"/>
                  </a:cubicBezTo>
                  <a:cubicBezTo>
                    <a:pt x="15857" y="33815"/>
                    <a:pt x="14786" y="33363"/>
                    <a:pt x="14571" y="33476"/>
                  </a:cubicBezTo>
                  <a:cubicBezTo>
                    <a:pt x="14357" y="33589"/>
                    <a:pt x="15107" y="34268"/>
                    <a:pt x="14571" y="34381"/>
                  </a:cubicBezTo>
                  <a:cubicBezTo>
                    <a:pt x="14036" y="34494"/>
                    <a:pt x="10821" y="34720"/>
                    <a:pt x="10286" y="34381"/>
                  </a:cubicBezTo>
                  <a:cubicBezTo>
                    <a:pt x="9750" y="34042"/>
                    <a:pt x="10393" y="32006"/>
                    <a:pt x="10286" y="31667"/>
                  </a:cubicBezTo>
                  <a:cubicBezTo>
                    <a:pt x="10179" y="31327"/>
                    <a:pt x="9536" y="31893"/>
                    <a:pt x="9429" y="31667"/>
                  </a:cubicBezTo>
                  <a:cubicBezTo>
                    <a:pt x="9321" y="31440"/>
                    <a:pt x="9643" y="30196"/>
                    <a:pt x="9429" y="29857"/>
                  </a:cubicBezTo>
                  <a:cubicBezTo>
                    <a:pt x="9214" y="29518"/>
                    <a:pt x="8036" y="29631"/>
                    <a:pt x="7714" y="28952"/>
                  </a:cubicBezTo>
                  <a:cubicBezTo>
                    <a:pt x="7393" y="28274"/>
                    <a:pt x="7071" y="24994"/>
                    <a:pt x="6857" y="24429"/>
                  </a:cubicBezTo>
                  <a:cubicBezTo>
                    <a:pt x="6643" y="23863"/>
                    <a:pt x="6107" y="24994"/>
                    <a:pt x="6000" y="24429"/>
                  </a:cubicBezTo>
                  <a:cubicBezTo>
                    <a:pt x="5893" y="23863"/>
                    <a:pt x="6107" y="20470"/>
                    <a:pt x="6000" y="19905"/>
                  </a:cubicBezTo>
                  <a:cubicBezTo>
                    <a:pt x="5893" y="19339"/>
                    <a:pt x="5250" y="19679"/>
                    <a:pt x="5143" y="19905"/>
                  </a:cubicBezTo>
                  <a:cubicBezTo>
                    <a:pt x="5036" y="20131"/>
                    <a:pt x="5250" y="21488"/>
                    <a:pt x="5143" y="21714"/>
                  </a:cubicBezTo>
                  <a:cubicBezTo>
                    <a:pt x="5036" y="21940"/>
                    <a:pt x="4393" y="21488"/>
                    <a:pt x="4286" y="21714"/>
                  </a:cubicBezTo>
                  <a:cubicBezTo>
                    <a:pt x="4179" y="21940"/>
                    <a:pt x="4393" y="23298"/>
                    <a:pt x="4286" y="23524"/>
                  </a:cubicBezTo>
                  <a:cubicBezTo>
                    <a:pt x="4179" y="23750"/>
                    <a:pt x="3536" y="23071"/>
                    <a:pt x="3429" y="23524"/>
                  </a:cubicBezTo>
                  <a:cubicBezTo>
                    <a:pt x="3321" y="23976"/>
                    <a:pt x="3536" y="26690"/>
                    <a:pt x="3429" y="27143"/>
                  </a:cubicBezTo>
                  <a:cubicBezTo>
                    <a:pt x="3321" y="27595"/>
                    <a:pt x="2679" y="27030"/>
                    <a:pt x="2571" y="27143"/>
                  </a:cubicBezTo>
                  <a:cubicBezTo>
                    <a:pt x="2464" y="27256"/>
                    <a:pt x="2464" y="27935"/>
                    <a:pt x="2571" y="28048"/>
                  </a:cubicBezTo>
                  <a:cubicBezTo>
                    <a:pt x="2679" y="28161"/>
                    <a:pt x="3321" y="27708"/>
                    <a:pt x="3429" y="28048"/>
                  </a:cubicBezTo>
                  <a:cubicBezTo>
                    <a:pt x="3536" y="28387"/>
                    <a:pt x="3750" y="30649"/>
                    <a:pt x="3429" y="30762"/>
                  </a:cubicBezTo>
                  <a:cubicBezTo>
                    <a:pt x="3107" y="30875"/>
                    <a:pt x="1179" y="29518"/>
                    <a:pt x="857" y="28952"/>
                  </a:cubicBezTo>
                  <a:cubicBezTo>
                    <a:pt x="536" y="28387"/>
                    <a:pt x="964" y="26577"/>
                    <a:pt x="857" y="26238"/>
                  </a:cubicBezTo>
                  <a:cubicBezTo>
                    <a:pt x="750" y="25899"/>
                    <a:pt x="107" y="27143"/>
                    <a:pt x="0" y="26238"/>
                  </a:cubicBezTo>
                  <a:cubicBezTo>
                    <a:pt x="-107" y="25333"/>
                    <a:pt x="-107" y="19905"/>
                    <a:pt x="0" y="19000"/>
                  </a:cubicBezTo>
                  <a:cubicBezTo>
                    <a:pt x="107" y="18095"/>
                    <a:pt x="643" y="19452"/>
                    <a:pt x="857" y="19000"/>
                  </a:cubicBezTo>
                  <a:cubicBezTo>
                    <a:pt x="1071" y="18548"/>
                    <a:pt x="1500" y="15833"/>
                    <a:pt x="1714" y="15381"/>
                  </a:cubicBezTo>
                  <a:cubicBezTo>
                    <a:pt x="1929" y="14929"/>
                    <a:pt x="2464" y="15494"/>
                    <a:pt x="2571" y="15381"/>
                  </a:cubicBezTo>
                  <a:cubicBezTo>
                    <a:pt x="2679" y="15268"/>
                    <a:pt x="2464" y="14589"/>
                    <a:pt x="2571" y="14476"/>
                  </a:cubicBezTo>
                  <a:cubicBezTo>
                    <a:pt x="2679" y="14363"/>
                    <a:pt x="3321" y="14589"/>
                    <a:pt x="3429" y="14476"/>
                  </a:cubicBezTo>
                  <a:cubicBezTo>
                    <a:pt x="3536" y="14363"/>
                    <a:pt x="3321" y="13685"/>
                    <a:pt x="3429" y="13571"/>
                  </a:cubicBezTo>
                  <a:cubicBezTo>
                    <a:pt x="3536" y="13458"/>
                    <a:pt x="4179" y="13685"/>
                    <a:pt x="4286" y="13571"/>
                  </a:cubicBezTo>
                  <a:cubicBezTo>
                    <a:pt x="4393" y="13458"/>
                    <a:pt x="3857" y="13119"/>
                    <a:pt x="4286" y="12667"/>
                  </a:cubicBezTo>
                  <a:cubicBezTo>
                    <a:pt x="4714" y="12214"/>
                    <a:pt x="7286" y="10518"/>
                    <a:pt x="7714" y="9952"/>
                  </a:cubicBezTo>
                  <a:cubicBezTo>
                    <a:pt x="8143" y="9387"/>
                    <a:pt x="7607" y="8369"/>
                    <a:pt x="7714" y="8143"/>
                  </a:cubicBezTo>
                  <a:cubicBezTo>
                    <a:pt x="7821" y="7917"/>
                    <a:pt x="8464" y="8369"/>
                    <a:pt x="8571" y="8143"/>
                  </a:cubicBezTo>
                  <a:cubicBezTo>
                    <a:pt x="8679" y="7917"/>
                    <a:pt x="8464" y="6560"/>
                    <a:pt x="8571" y="6333"/>
                  </a:cubicBezTo>
                  <a:cubicBezTo>
                    <a:pt x="8679" y="6107"/>
                    <a:pt x="9321" y="7125"/>
                    <a:pt x="9429" y="6333"/>
                  </a:cubicBezTo>
                  <a:cubicBezTo>
                    <a:pt x="9536" y="5542"/>
                    <a:pt x="9214" y="792"/>
                    <a:pt x="9429"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Cross Attention box"/>
            <p:cNvSpPr/>
            <p:nvPr/>
          </p:nvSpPr>
          <p:spPr>
            <a:xfrm>
              <a:off x="1106424" y="3895344"/>
              <a:ext cx="2532888" cy="576072"/>
            </a:xfrm>
            <a:prstGeom prst="roundRect">
              <a:avLst>
                <a:gd name="adj" fmla="val 3968"/>
              </a:avLst>
            </a:prstGeom>
            <a:solidFill>
              <a:srgbClr val="DCEAF7"/>
            </a:solidFill>
            <a:ln w="25603">
              <a:solidFill>
                <a:srgbClr val="193F6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Cross Attention"/>
            <p:cNvSpPr txBox="1"/>
            <p:nvPr/>
          </p:nvSpPr>
          <p:spPr>
            <a:xfrm>
              <a:off x="1197864" y="4025006"/>
              <a:ext cx="2350008"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193F66"/>
                  </a:solidFill>
                  <a:latin typeface="URW Gothic"/>
                </a:rPr>
                <a:t>Cross Attention</a:t>
              </a:r>
            </a:p>
          </p:txBody>
        </p:sp>
        <p:sp>
          <p:nvSpPr>
            <p:cNvPr id="38" name="Vision Tokens"/>
            <p:cNvSpPr txBox="1"/>
            <p:nvPr/>
          </p:nvSpPr>
          <p:spPr>
            <a:xfrm>
              <a:off x="237744" y="4608576"/>
              <a:ext cx="1433151"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176B8D"/>
                  </a:solidFill>
                  <a:latin typeface="URW Gothic"/>
                </a:rPr>
                <a:t>Vision Tokens</a:t>
              </a:r>
            </a:p>
          </p:txBody>
        </p:sp>
        <p:sp>
          <p:nvSpPr>
            <p:cNvPr id="39" name="Token background"/>
            <p:cNvSpPr/>
            <p:nvPr/>
          </p:nvSpPr>
          <p:spPr>
            <a:xfrm>
              <a:off x="1746504" y="4663440"/>
              <a:ext cx="1261872" cy="438912"/>
            </a:xfrm>
            <a:prstGeom prst="roundRect">
              <a:avLst>
                <a:gd name="adj" fmla="val 16666"/>
              </a:avLst>
            </a:prstGeom>
            <a:solidFill>
              <a:srgbClr val="E9ED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Editable token"/>
            <p:cNvSpPr/>
            <p:nvPr/>
          </p:nvSpPr>
          <p:spPr>
            <a:xfrm>
              <a:off x="1819656" y="4736592"/>
              <a:ext cx="292608" cy="292608"/>
            </a:xfrm>
            <a:prstGeom prst="roundRect">
              <a:avLst>
                <a:gd name="adj" fmla="val 15625"/>
              </a:avLst>
            </a:prstGeom>
            <a:solidFill>
              <a:srgbClr val="A3C9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Editable token"/>
            <p:cNvSpPr/>
            <p:nvPr/>
          </p:nvSpPr>
          <p:spPr>
            <a:xfrm>
              <a:off x="2231136" y="4736592"/>
              <a:ext cx="292608" cy="292608"/>
            </a:xfrm>
            <a:prstGeom prst="roundRect">
              <a:avLst>
                <a:gd name="adj" fmla="val 15625"/>
              </a:avLst>
            </a:prstGeom>
            <a:solidFill>
              <a:srgbClr val="A3C9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Editable token"/>
            <p:cNvSpPr/>
            <p:nvPr/>
          </p:nvSpPr>
          <p:spPr>
            <a:xfrm>
              <a:off x="2642616" y="4736592"/>
              <a:ext cx="292608" cy="292608"/>
            </a:xfrm>
            <a:prstGeom prst="roundRect">
              <a:avLst>
                <a:gd name="adj" fmla="val 15625"/>
              </a:avLst>
            </a:prstGeom>
            <a:solidFill>
              <a:srgbClr val="A3C9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Vision fusion weight"/>
            <p:cNvSpPr/>
            <p:nvPr/>
          </p:nvSpPr>
          <p:spPr>
            <a:xfrm>
              <a:off x="3090672" y="2862072"/>
              <a:ext cx="1005840" cy="320040"/>
            </a:xfrm>
            <a:prstGeom prst="ellipse">
              <a:avLst/>
            </a:prstGeom>
            <a:solidFill>
              <a:srgbClr val="DCEAF7"/>
            </a:solidFill>
            <a:ln w="27432">
              <a:solidFill>
                <a:srgbClr val="193F6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Wv"/>
            <p:cNvSpPr txBox="1"/>
            <p:nvPr/>
          </p:nvSpPr>
          <p:spPr>
            <a:xfrm>
              <a:off x="3372343" y="2862072"/>
              <a:ext cx="460786"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193F66"/>
                  </a:solidFill>
                  <a:latin typeface="URW Gothic"/>
                </a:rPr>
                <a:t>Wv</a:t>
              </a:r>
            </a:p>
          </p:txBody>
        </p:sp>
        <p:sp>
          <p:nvSpPr>
            <p:cNvPr id="45" name="f"/>
            <p:cNvSpPr txBox="1"/>
            <p:nvPr/>
          </p:nvSpPr>
          <p:spPr>
            <a:xfrm>
              <a:off x="4226814" y="2990088"/>
              <a:ext cx="159291" cy="370332"/>
            </a:xfrm>
            <a:prstGeom prst="rect">
              <a:avLst/>
            </a:prstGeom>
            <a:noFill/>
            <a:effectLst/>
          </p:spPr>
          <p:txBody>
            <a:bodyPr wrap="none" lIns="0" rIns="0" tIns="0" bIns="0" anchor="t">
              <a:spAutoFit/>
            </a:bodyPr>
            <a:lstStyle/>
            <a:p>
              <a:pPr algn="l">
                <a:spcBef>
                  <a:spcPts val="0"/>
                </a:spcBef>
                <a:spcAft>
                  <a:spcPts val="0"/>
                </a:spcAft>
                <a:lnSpc>
                  <a:spcPct val="100000"/>
                </a:lnSpc>
              </a:pPr>
              <a:r>
                <a:rPr sz="2160" b="0" i="1">
                  <a:solidFill>
                    <a:srgbClr val="193F66"/>
                  </a:solidFill>
                  <a:latin typeface="URW Gothic"/>
                </a:rPr>
                <a:t>f</a:t>
              </a:r>
            </a:p>
          </p:txBody>
        </p:sp>
        <p:sp>
          <p:nvSpPr>
            <p:cNvPr id="46" name="i"/>
            <p:cNvSpPr txBox="1"/>
            <p:nvPr/>
          </p:nvSpPr>
          <p:spPr>
            <a:xfrm>
              <a:off x="4329684" y="3172968"/>
              <a:ext cx="109728" cy="246888"/>
            </a:xfrm>
            <a:prstGeom prst="rect">
              <a:avLst/>
            </a:prstGeom>
            <a:noFill/>
            <a:effectLst/>
          </p:spPr>
          <p:txBody>
            <a:bodyPr wrap="none" lIns="0" rIns="0" tIns="0" bIns="0" anchor="t">
              <a:spAutoFit/>
            </a:bodyPr>
            <a:lstStyle/>
            <a:p>
              <a:pPr algn="l">
                <a:spcBef>
                  <a:spcPts val="0"/>
                </a:spcBef>
                <a:spcAft>
                  <a:spcPts val="0"/>
                </a:spcAft>
                <a:lnSpc>
                  <a:spcPct val="100000"/>
                </a:lnSpc>
              </a:pPr>
              <a:r>
                <a:rPr sz="1439" b="0" i="1">
                  <a:solidFill>
                    <a:srgbClr val="193F66"/>
                  </a:solidFill>
                  <a:latin typeface="URW Gothic"/>
                </a:rPr>
                <a:t>i</a:t>
              </a:r>
            </a:p>
          </p:txBody>
        </p:sp>
        <p:sp>
          <p:nvSpPr>
            <p:cNvPr id="47" name="v,q"/>
            <p:cNvSpPr txBox="1"/>
            <p:nvPr/>
          </p:nvSpPr>
          <p:spPr>
            <a:xfrm>
              <a:off x="4382262" y="3008376"/>
              <a:ext cx="359816" cy="271577"/>
            </a:xfrm>
            <a:prstGeom prst="rect">
              <a:avLst/>
            </a:prstGeom>
            <a:noFill/>
            <a:effectLst/>
          </p:spPr>
          <p:txBody>
            <a:bodyPr wrap="none" lIns="0" rIns="0" tIns="0" bIns="0" anchor="t">
              <a:spAutoFit/>
            </a:bodyPr>
            <a:lstStyle/>
            <a:p>
              <a:pPr algn="l">
                <a:spcBef>
                  <a:spcPts val="0"/>
                </a:spcBef>
                <a:spcAft>
                  <a:spcPts val="0"/>
                </a:spcAft>
                <a:lnSpc>
                  <a:spcPct val="100000"/>
                </a:lnSpc>
              </a:pPr>
              <a:r>
                <a:rPr sz="1584" b="0" i="1">
                  <a:solidFill>
                    <a:srgbClr val="193F66"/>
                  </a:solidFill>
                  <a:latin typeface="URW Gothic"/>
                </a:rPr>
                <a:t>v,q</a:t>
              </a:r>
            </a:p>
          </p:txBody>
        </p:sp>
        <p:sp>
          <p:nvSpPr>
            <p:cNvPr id="48" name="f"/>
            <p:cNvSpPr txBox="1"/>
            <p:nvPr/>
          </p:nvSpPr>
          <p:spPr>
            <a:xfrm>
              <a:off x="3687318" y="5394960"/>
              <a:ext cx="159291" cy="370332"/>
            </a:xfrm>
            <a:prstGeom prst="rect">
              <a:avLst/>
            </a:prstGeom>
            <a:noFill/>
            <a:effectLst/>
          </p:spPr>
          <p:txBody>
            <a:bodyPr wrap="none" lIns="0" rIns="0" tIns="0" bIns="0" anchor="t">
              <a:spAutoFit/>
            </a:bodyPr>
            <a:lstStyle/>
            <a:p>
              <a:pPr algn="l">
                <a:spcBef>
                  <a:spcPts val="0"/>
                </a:spcBef>
                <a:spcAft>
                  <a:spcPts val="0"/>
                </a:spcAft>
                <a:lnSpc>
                  <a:spcPct val="100000"/>
                </a:lnSpc>
              </a:pPr>
              <a:r>
                <a:rPr sz="2160" b="0" i="1">
                  <a:solidFill>
                    <a:srgbClr val="193F66"/>
                  </a:solidFill>
                  <a:latin typeface="URW Gothic"/>
                </a:rPr>
                <a:t>f</a:t>
              </a:r>
            </a:p>
          </p:txBody>
        </p:sp>
        <p:sp>
          <p:nvSpPr>
            <p:cNvPr id="49" name="i"/>
            <p:cNvSpPr txBox="1"/>
            <p:nvPr/>
          </p:nvSpPr>
          <p:spPr>
            <a:xfrm>
              <a:off x="3790188" y="5577840"/>
              <a:ext cx="109728" cy="246888"/>
            </a:xfrm>
            <a:prstGeom prst="rect">
              <a:avLst/>
            </a:prstGeom>
            <a:noFill/>
            <a:effectLst/>
          </p:spPr>
          <p:txBody>
            <a:bodyPr wrap="none" lIns="0" rIns="0" tIns="0" bIns="0" anchor="t">
              <a:spAutoFit/>
            </a:bodyPr>
            <a:lstStyle/>
            <a:p>
              <a:pPr algn="l">
                <a:spcBef>
                  <a:spcPts val="0"/>
                </a:spcBef>
                <a:spcAft>
                  <a:spcPts val="0"/>
                </a:spcAft>
                <a:lnSpc>
                  <a:spcPct val="100000"/>
                </a:lnSpc>
              </a:pPr>
              <a:r>
                <a:rPr sz="1439" b="0" i="1">
                  <a:solidFill>
                    <a:srgbClr val="193F66"/>
                  </a:solidFill>
                  <a:latin typeface="URW Gothic"/>
                </a:rPr>
                <a:t>i</a:t>
              </a:r>
            </a:p>
          </p:txBody>
        </p:sp>
        <p:sp>
          <p:nvSpPr>
            <p:cNvPr id="50" name="′v"/>
            <p:cNvSpPr txBox="1"/>
            <p:nvPr/>
          </p:nvSpPr>
          <p:spPr>
            <a:xfrm>
              <a:off x="3842766" y="5413248"/>
              <a:ext cx="243945" cy="271577"/>
            </a:xfrm>
            <a:prstGeom prst="rect">
              <a:avLst/>
            </a:prstGeom>
            <a:noFill/>
            <a:effectLst/>
          </p:spPr>
          <p:txBody>
            <a:bodyPr wrap="none" lIns="0" rIns="0" tIns="0" bIns="0" anchor="t">
              <a:spAutoFit/>
            </a:bodyPr>
            <a:lstStyle/>
            <a:p>
              <a:pPr algn="l">
                <a:spcBef>
                  <a:spcPts val="0"/>
                </a:spcBef>
                <a:spcAft>
                  <a:spcPts val="0"/>
                </a:spcAft>
                <a:lnSpc>
                  <a:spcPct val="100000"/>
                </a:lnSpc>
              </a:pPr>
              <a:r>
                <a:rPr sz="1584" b="0" i="1">
                  <a:solidFill>
                    <a:srgbClr val="193F66"/>
                  </a:solidFill>
                  <a:latin typeface="URW Gothic"/>
                </a:rPr>
                <a:t>′v</a:t>
              </a:r>
            </a:p>
          </p:txBody>
        </p:sp>
        <p:sp>
          <p:nvSpPr>
            <p:cNvPr id="51" name="f"/>
            <p:cNvSpPr txBox="1"/>
            <p:nvPr/>
          </p:nvSpPr>
          <p:spPr>
            <a:xfrm>
              <a:off x="3687318" y="6245352"/>
              <a:ext cx="159291" cy="370332"/>
            </a:xfrm>
            <a:prstGeom prst="rect">
              <a:avLst/>
            </a:prstGeom>
            <a:noFill/>
            <a:effectLst/>
          </p:spPr>
          <p:txBody>
            <a:bodyPr wrap="none" lIns="0" rIns="0" tIns="0" bIns="0" anchor="t">
              <a:spAutoFit/>
            </a:bodyPr>
            <a:lstStyle/>
            <a:p>
              <a:pPr algn="l">
                <a:spcBef>
                  <a:spcPts val="0"/>
                </a:spcBef>
                <a:spcAft>
                  <a:spcPts val="0"/>
                </a:spcAft>
                <a:lnSpc>
                  <a:spcPct val="100000"/>
                </a:lnSpc>
              </a:pPr>
              <a:r>
                <a:rPr sz="2160" b="0" i="1">
                  <a:solidFill>
                    <a:srgbClr val="193F66"/>
                  </a:solidFill>
                  <a:latin typeface="URW Gothic"/>
                </a:rPr>
                <a:t>f</a:t>
              </a:r>
            </a:p>
          </p:txBody>
        </p:sp>
        <p:sp>
          <p:nvSpPr>
            <p:cNvPr id="52" name="i"/>
            <p:cNvSpPr txBox="1"/>
            <p:nvPr/>
          </p:nvSpPr>
          <p:spPr>
            <a:xfrm>
              <a:off x="3790188" y="6428232"/>
              <a:ext cx="109728" cy="246888"/>
            </a:xfrm>
            <a:prstGeom prst="rect">
              <a:avLst/>
            </a:prstGeom>
            <a:noFill/>
            <a:effectLst/>
          </p:spPr>
          <p:txBody>
            <a:bodyPr wrap="none" lIns="0" rIns="0" tIns="0" bIns="0" anchor="t">
              <a:spAutoFit/>
            </a:bodyPr>
            <a:lstStyle/>
            <a:p>
              <a:pPr algn="l">
                <a:spcBef>
                  <a:spcPts val="0"/>
                </a:spcBef>
                <a:spcAft>
                  <a:spcPts val="0"/>
                </a:spcAft>
                <a:lnSpc>
                  <a:spcPct val="100000"/>
                </a:lnSpc>
              </a:pPr>
              <a:r>
                <a:rPr sz="1439" b="0" i="1">
                  <a:solidFill>
                    <a:srgbClr val="193F66"/>
                  </a:solidFill>
                  <a:latin typeface="URW Gothic"/>
                </a:rPr>
                <a:t>i</a:t>
              </a:r>
            </a:p>
          </p:txBody>
        </p:sp>
        <p:sp>
          <p:nvSpPr>
            <p:cNvPr id="53" name="v"/>
            <p:cNvSpPr txBox="1"/>
            <p:nvPr/>
          </p:nvSpPr>
          <p:spPr>
            <a:xfrm>
              <a:off x="3842766" y="6263640"/>
              <a:ext cx="184594" cy="271577"/>
            </a:xfrm>
            <a:prstGeom prst="rect">
              <a:avLst/>
            </a:prstGeom>
            <a:noFill/>
            <a:effectLst/>
          </p:spPr>
          <p:txBody>
            <a:bodyPr wrap="none" lIns="0" rIns="0" tIns="0" bIns="0" anchor="t">
              <a:spAutoFit/>
            </a:bodyPr>
            <a:lstStyle/>
            <a:p>
              <a:pPr algn="l">
                <a:spcBef>
                  <a:spcPts val="0"/>
                </a:spcBef>
                <a:spcAft>
                  <a:spcPts val="0"/>
                </a:spcAft>
                <a:lnSpc>
                  <a:spcPct val="100000"/>
                </a:lnSpc>
              </a:pPr>
              <a:r>
                <a:rPr sz="1584" b="0" i="1">
                  <a:solidFill>
                    <a:srgbClr val="193F66"/>
                  </a:solidFill>
                  <a:latin typeface="URW Gothic"/>
                </a:rPr>
                <a:t>v</a:t>
              </a:r>
            </a:p>
          </p:txBody>
        </p:sp>
        <p:sp>
          <p:nvSpPr>
            <p:cNvPr id="54" name="Vision sample frame boundary"/>
            <p:cNvSpPr/>
            <p:nvPr/>
          </p:nvSpPr>
          <p:spPr>
            <a:xfrm>
              <a:off x="256032" y="6922008"/>
              <a:ext cx="4105656" cy="795528"/>
            </a:xfrm>
            <a:prstGeom prst="rect">
              <a:avLst/>
            </a:prstGeom>
            <a:solidFill>
              <a:srgbClr val="F3F7EF"/>
            </a:solidFill>
            <a:ln w="25603">
              <a:solidFill>
                <a:srgbClr val="176B8D"/>
              </a:solidFill>
              <a:custDash>
                <a:ds d="857143" sp="321429"/>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5" name="vision-frame-1" descr="vision-frame-1.png"/>
            <p:cNvPicPr>
              <a:picLocks noChangeAspect="1"/>
            </p:cNvPicPr>
            <p:nvPr/>
          </p:nvPicPr>
          <p:blipFill>
            <a:blip r:embed="rId2"/>
            <a:stretch>
              <a:fillRect/>
            </a:stretch>
          </p:blipFill>
          <p:spPr>
            <a:xfrm>
              <a:off x="301752" y="7004304"/>
              <a:ext cx="1188720" cy="658368"/>
            </a:xfrm>
            <a:prstGeom prst="rect">
              <a:avLst/>
            </a:prstGeom>
            <a:effectLst/>
          </p:spPr>
        </p:pic>
        <p:pic>
          <p:nvPicPr>
            <p:cNvPr id="56" name="vision-frame-2" descr="vision-frame-2.png"/>
            <p:cNvPicPr>
              <a:picLocks noChangeAspect="1"/>
            </p:cNvPicPr>
            <p:nvPr/>
          </p:nvPicPr>
          <p:blipFill>
            <a:blip r:embed="rId3"/>
            <a:stretch>
              <a:fillRect/>
            </a:stretch>
          </p:blipFill>
          <p:spPr>
            <a:xfrm>
              <a:off x="1609344" y="7004304"/>
              <a:ext cx="1170432" cy="658368"/>
            </a:xfrm>
            <a:prstGeom prst="rect">
              <a:avLst/>
            </a:prstGeom>
            <a:effectLst/>
          </p:spPr>
        </p:pic>
        <p:pic>
          <p:nvPicPr>
            <p:cNvPr id="57" name="vision-frame-3" descr="vision-frame-3.png"/>
            <p:cNvPicPr>
              <a:picLocks noChangeAspect="1"/>
            </p:cNvPicPr>
            <p:nvPr/>
          </p:nvPicPr>
          <p:blipFill>
            <a:blip r:embed="rId4"/>
            <a:stretch>
              <a:fillRect/>
            </a:stretch>
          </p:blipFill>
          <p:spPr>
            <a:xfrm>
              <a:off x="3090672" y="7013448"/>
              <a:ext cx="1179576" cy="649224"/>
            </a:xfrm>
            <a:prstGeom prst="rect">
              <a:avLst/>
            </a:prstGeom>
            <a:effectLst/>
          </p:spPr>
        </p:pic>
        <p:sp>
          <p:nvSpPr>
            <p:cNvPr id="58" name="…"/>
            <p:cNvSpPr txBox="1"/>
            <p:nvPr/>
          </p:nvSpPr>
          <p:spPr>
            <a:xfrm>
              <a:off x="2823210" y="7260336"/>
              <a:ext cx="310896"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a:solidFill>
                    <a:srgbClr val="000000"/>
                  </a:solidFill>
                  <a:latin typeface="URW Gothic"/>
                </a:rPr>
                <a:t>…</a:t>
              </a:r>
            </a:p>
          </p:txBody>
        </p:sp>
      </p:grpSp>
      <p:grpSp>
        <p:nvGrpSpPr>
          <p:cNvPr id="59" name="Group 58"/>
          <p:cNvGrpSpPr/>
          <p:nvPr/>
        </p:nvGrpSpPr>
        <p:grpSpPr>
          <a:xfrm>
            <a:off x="4315968" y="3035808"/>
            <a:ext cx="3938935" cy="4681728"/>
            <a:chOff x="4315968" y="3035808"/>
            <a:chExt cx="3938935" cy="4681728"/>
          </a:xfrm>
        </p:grpSpPr>
        <p:cxnSp>
          <p:nvCxnSpPr>
            <p:cNvPr id="60" name="Waveform to audio encoder"/>
            <p:cNvCxnSpPr/>
            <p:nvPr/>
          </p:nvCxnSpPr>
          <p:spPr>
            <a:xfrm flipV="1">
              <a:off x="6519672" y="6684264"/>
              <a:ext cx="0" cy="237744"/>
            </a:xfrm>
            <a:prstGeom prst="line">
              <a:avLst/>
            </a:prstGeom>
            <a:ln w="27432">
              <a:solidFill>
                <a:srgbClr val="8ED34A"/>
              </a:solidFill>
            </a:ln>
            <a:effectLst/>
          </p:spPr>
          <p:style>
            <a:lnRef idx="2">
              <a:schemeClr val="accent1"/>
            </a:lnRef>
            <a:fillRef idx="0">
              <a:schemeClr val="accent1"/>
            </a:fillRef>
            <a:effectRef idx="0">
              <a:schemeClr val="accent1"/>
            </a:effectRef>
            <a:fontRef idx="minor">
              <a:schemeClr val="tx1"/>
            </a:fontRef>
          </p:style>
        </p:cxnSp>
        <p:sp>
          <p:nvSpPr>
            <p:cNvPr id="61" name="Waveform to audio encoder arrow"/>
            <p:cNvSpPr/>
            <p:nvPr/>
          </p:nvSpPr>
          <p:spPr>
            <a:xfrm>
              <a:off x="6468100" y="6684264"/>
              <a:ext cx="103144" cy="109728"/>
            </a:xfrm>
            <a:custGeom>
              <a:avLst/>
              <a:gdLst/>
              <a:ahLst/>
              <a:cxnLst/>
              <a:rect l="0" t="0" r="r" b="b"/>
              <a:pathLst>
                <a:path w="11280" h="12000">
                  <a:moveTo>
                    <a:pt x="5640" y="0"/>
                  </a:moveTo>
                  <a:lnTo>
                    <a:pt x="0" y="12000"/>
                  </a:lnTo>
                  <a:lnTo>
                    <a:pt x="11280" y="12000"/>
                  </a:lnTo>
                  <a:close/>
                </a:path>
              </a:pathLst>
            </a:custGeom>
            <a:solidFill>
              <a:srgbClr val="8ED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 name="Audio encoder to projector"/>
            <p:cNvCxnSpPr/>
            <p:nvPr/>
          </p:nvCxnSpPr>
          <p:spPr>
            <a:xfrm flipV="1">
              <a:off x="6519672" y="5934456"/>
              <a:ext cx="0" cy="173736"/>
            </a:xfrm>
            <a:prstGeom prst="line">
              <a:avLst/>
            </a:prstGeom>
            <a:ln w="27432">
              <a:solidFill>
                <a:srgbClr val="8ED34A"/>
              </a:solidFill>
            </a:ln>
            <a:effectLst/>
          </p:spPr>
          <p:style>
            <a:lnRef idx="2">
              <a:schemeClr val="accent1"/>
            </a:lnRef>
            <a:fillRef idx="0">
              <a:schemeClr val="accent1"/>
            </a:fillRef>
            <a:effectRef idx="0">
              <a:schemeClr val="accent1"/>
            </a:effectRef>
            <a:fontRef idx="minor">
              <a:schemeClr val="tx1"/>
            </a:fontRef>
          </p:style>
        </p:cxnSp>
        <p:sp>
          <p:nvSpPr>
            <p:cNvPr id="63" name="Audio encoder to projector arrow"/>
            <p:cNvSpPr/>
            <p:nvPr/>
          </p:nvSpPr>
          <p:spPr>
            <a:xfrm>
              <a:off x="6468100" y="5934456"/>
              <a:ext cx="103144" cy="109728"/>
            </a:xfrm>
            <a:custGeom>
              <a:avLst/>
              <a:gdLst/>
              <a:ahLst/>
              <a:cxnLst/>
              <a:rect l="0" t="0" r="r" b="b"/>
              <a:pathLst>
                <a:path w="11280" h="12000">
                  <a:moveTo>
                    <a:pt x="5640" y="0"/>
                  </a:moveTo>
                  <a:lnTo>
                    <a:pt x="0" y="12000"/>
                  </a:lnTo>
                  <a:lnTo>
                    <a:pt x="11280" y="12000"/>
                  </a:lnTo>
                  <a:close/>
                </a:path>
              </a:pathLst>
            </a:custGeom>
            <a:solidFill>
              <a:srgbClr val="8ED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4" name="Audio projection to tokens"/>
            <p:cNvCxnSpPr/>
            <p:nvPr/>
          </p:nvCxnSpPr>
          <p:spPr>
            <a:xfrm flipV="1">
              <a:off x="6519672" y="5120640"/>
              <a:ext cx="0" cy="237744"/>
            </a:xfrm>
            <a:prstGeom prst="line">
              <a:avLst/>
            </a:prstGeom>
            <a:ln w="27432">
              <a:solidFill>
                <a:srgbClr val="8ED34A"/>
              </a:solidFill>
            </a:ln>
            <a:effectLst/>
          </p:spPr>
          <p:style>
            <a:lnRef idx="2">
              <a:schemeClr val="accent1"/>
            </a:lnRef>
            <a:fillRef idx="0">
              <a:schemeClr val="accent1"/>
            </a:fillRef>
            <a:effectRef idx="0">
              <a:schemeClr val="accent1"/>
            </a:effectRef>
            <a:fontRef idx="minor">
              <a:schemeClr val="tx1"/>
            </a:fontRef>
          </p:style>
        </p:cxnSp>
        <p:sp>
          <p:nvSpPr>
            <p:cNvPr id="65" name="Audio projection to tokens arrow"/>
            <p:cNvSpPr/>
            <p:nvPr/>
          </p:nvSpPr>
          <p:spPr>
            <a:xfrm>
              <a:off x="6468100" y="5120640"/>
              <a:ext cx="103144" cy="109728"/>
            </a:xfrm>
            <a:custGeom>
              <a:avLst/>
              <a:gdLst/>
              <a:ahLst/>
              <a:cxnLst/>
              <a:rect l="0" t="0" r="r" b="b"/>
              <a:pathLst>
                <a:path w="11280" h="12000">
                  <a:moveTo>
                    <a:pt x="5640" y="0"/>
                  </a:moveTo>
                  <a:lnTo>
                    <a:pt x="0" y="12000"/>
                  </a:lnTo>
                  <a:lnTo>
                    <a:pt x="11280" y="12000"/>
                  </a:lnTo>
                  <a:close/>
                </a:path>
              </a:pathLst>
            </a:custGeom>
            <a:solidFill>
              <a:srgbClr val="8ED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6" name="Audio tokens to cross attention"/>
            <p:cNvCxnSpPr/>
            <p:nvPr/>
          </p:nvCxnSpPr>
          <p:spPr>
            <a:xfrm flipV="1">
              <a:off x="6519672" y="4425696"/>
              <a:ext cx="0" cy="246888"/>
            </a:xfrm>
            <a:prstGeom prst="line">
              <a:avLst/>
            </a:prstGeom>
            <a:ln w="27432">
              <a:solidFill>
                <a:srgbClr val="8ED34A"/>
              </a:solidFill>
            </a:ln>
            <a:effectLst/>
          </p:spPr>
          <p:style>
            <a:lnRef idx="2">
              <a:schemeClr val="accent1"/>
            </a:lnRef>
            <a:fillRef idx="0">
              <a:schemeClr val="accent1"/>
            </a:fillRef>
            <a:effectRef idx="0">
              <a:schemeClr val="accent1"/>
            </a:effectRef>
            <a:fontRef idx="minor">
              <a:schemeClr val="tx1"/>
            </a:fontRef>
          </p:style>
        </p:cxnSp>
        <p:sp>
          <p:nvSpPr>
            <p:cNvPr id="67" name="Audio tokens to cross attention arrow"/>
            <p:cNvSpPr/>
            <p:nvPr/>
          </p:nvSpPr>
          <p:spPr>
            <a:xfrm>
              <a:off x="6468100" y="4425696"/>
              <a:ext cx="103144" cy="109728"/>
            </a:xfrm>
            <a:custGeom>
              <a:avLst/>
              <a:gdLst/>
              <a:ahLst/>
              <a:cxnLst/>
              <a:rect l="0" t="0" r="r" b="b"/>
              <a:pathLst>
                <a:path w="11280" h="12000">
                  <a:moveTo>
                    <a:pt x="5640" y="0"/>
                  </a:moveTo>
                  <a:lnTo>
                    <a:pt x="0" y="12000"/>
                  </a:lnTo>
                  <a:lnTo>
                    <a:pt x="11280" y="12000"/>
                  </a:lnTo>
                  <a:close/>
                </a:path>
              </a:pathLst>
            </a:custGeom>
            <a:solidFill>
              <a:srgbClr val="8ED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8" name="Attended audio to fusion"/>
            <p:cNvCxnSpPr/>
            <p:nvPr/>
          </p:nvCxnSpPr>
          <p:spPr>
            <a:xfrm flipV="1">
              <a:off x="6528816" y="3218688"/>
              <a:ext cx="0" cy="640080"/>
            </a:xfrm>
            <a:prstGeom prst="line">
              <a:avLst/>
            </a:prstGeom>
            <a:ln w="25603">
              <a:solidFill>
                <a:srgbClr val="8ED34A"/>
              </a:solidFill>
            </a:ln>
            <a:effectLst/>
          </p:spPr>
          <p:style>
            <a:lnRef idx="2">
              <a:schemeClr val="accent1"/>
            </a:lnRef>
            <a:fillRef idx="0">
              <a:schemeClr val="accent1"/>
            </a:fillRef>
            <a:effectRef idx="0">
              <a:schemeClr val="accent1"/>
            </a:effectRef>
            <a:fontRef idx="minor">
              <a:schemeClr val="tx1"/>
            </a:fontRef>
          </p:style>
        </p:cxnSp>
        <p:sp>
          <p:nvSpPr>
            <p:cNvPr id="69" name="Attended audio to fusion arrow"/>
            <p:cNvSpPr/>
            <p:nvPr/>
          </p:nvSpPr>
          <p:spPr>
            <a:xfrm>
              <a:off x="6477244" y="3218688"/>
              <a:ext cx="103144" cy="109728"/>
            </a:xfrm>
            <a:custGeom>
              <a:avLst/>
              <a:gdLst/>
              <a:ahLst/>
              <a:cxnLst/>
              <a:rect l="0" t="0" r="r" b="b"/>
              <a:pathLst>
                <a:path w="11280" h="12000">
                  <a:moveTo>
                    <a:pt x="5640" y="0"/>
                  </a:moveTo>
                  <a:lnTo>
                    <a:pt x="0" y="12000"/>
                  </a:lnTo>
                  <a:lnTo>
                    <a:pt x="11280" y="12000"/>
                  </a:lnTo>
                  <a:close/>
                </a:path>
              </a:pathLst>
            </a:custGeom>
            <a:solidFill>
              <a:srgbClr val="8ED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Audio Encoder box"/>
            <p:cNvSpPr/>
            <p:nvPr/>
          </p:nvSpPr>
          <p:spPr>
            <a:xfrm>
              <a:off x="5266944" y="6108192"/>
              <a:ext cx="2532888" cy="576072"/>
            </a:xfrm>
            <a:prstGeom prst="roundRect">
              <a:avLst>
                <a:gd name="adj" fmla="val 3968"/>
              </a:avLst>
            </a:prstGeom>
            <a:solidFill>
              <a:srgbClr val="DAF1D0"/>
            </a:solidFill>
            <a:ln w="25603">
              <a:solidFill>
                <a:srgbClr val="28561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Audio Encoder"/>
            <p:cNvSpPr txBox="1"/>
            <p:nvPr/>
          </p:nvSpPr>
          <p:spPr>
            <a:xfrm>
              <a:off x="5358384" y="6237854"/>
              <a:ext cx="2350008"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285614"/>
                  </a:solidFill>
                  <a:latin typeface="URW Gothic"/>
                </a:rPr>
                <a:t>Audio Encoder</a:t>
              </a:r>
            </a:p>
          </p:txBody>
        </p:sp>
        <p:sp>
          <p:nvSpPr>
            <p:cNvPr id="72" name="Audio Encoder frozen"/>
            <p:cNvSpPr/>
            <p:nvPr/>
          </p:nvSpPr>
          <p:spPr>
            <a:xfrm>
              <a:off x="7551174" y="6161488"/>
              <a:ext cx="230960" cy="267527"/>
            </a:xfrm>
            <a:custGeom>
              <a:avLst/>
              <a:gdLst/>
              <a:ahLst/>
              <a:cxnLst/>
              <a:rect l="0" t="0" r="r" b="b"/>
              <a:pathLst>
                <a:path w="25258" h="29257">
                  <a:moveTo>
                    <a:pt x="12161" y="0"/>
                  </a:moveTo>
                  <a:lnTo>
                    <a:pt x="13097" y="0"/>
                  </a:lnTo>
                  <a:lnTo>
                    <a:pt x="13097" y="1829"/>
                  </a:lnTo>
                  <a:lnTo>
                    <a:pt x="15903" y="1829"/>
                  </a:lnTo>
                  <a:lnTo>
                    <a:pt x="15903" y="3657"/>
                  </a:lnTo>
                  <a:lnTo>
                    <a:pt x="14032" y="3657"/>
                  </a:lnTo>
                  <a:lnTo>
                    <a:pt x="14032" y="5486"/>
                  </a:lnTo>
                  <a:lnTo>
                    <a:pt x="13097" y="5486"/>
                  </a:lnTo>
                  <a:lnTo>
                    <a:pt x="13097" y="6400"/>
                  </a:lnTo>
                  <a:lnTo>
                    <a:pt x="14968" y="6400"/>
                  </a:lnTo>
                  <a:lnTo>
                    <a:pt x="15903" y="4571"/>
                  </a:lnTo>
                  <a:lnTo>
                    <a:pt x="17774" y="4571"/>
                  </a:lnTo>
                  <a:lnTo>
                    <a:pt x="17774" y="5486"/>
                  </a:lnTo>
                  <a:lnTo>
                    <a:pt x="16839" y="5486"/>
                  </a:lnTo>
                  <a:lnTo>
                    <a:pt x="16839" y="6400"/>
                  </a:lnTo>
                  <a:lnTo>
                    <a:pt x="13097" y="9143"/>
                  </a:lnTo>
                  <a:lnTo>
                    <a:pt x="13097" y="10971"/>
                  </a:lnTo>
                  <a:lnTo>
                    <a:pt x="14032" y="10971"/>
                  </a:lnTo>
                  <a:lnTo>
                    <a:pt x="14032" y="11886"/>
                  </a:lnTo>
                  <a:lnTo>
                    <a:pt x="16839" y="11886"/>
                  </a:lnTo>
                  <a:lnTo>
                    <a:pt x="16839" y="10971"/>
                  </a:lnTo>
                  <a:lnTo>
                    <a:pt x="17774" y="10971"/>
                  </a:lnTo>
                  <a:lnTo>
                    <a:pt x="17774" y="7314"/>
                  </a:lnTo>
                  <a:lnTo>
                    <a:pt x="18710" y="7314"/>
                  </a:lnTo>
                  <a:lnTo>
                    <a:pt x="18710" y="5486"/>
                  </a:lnTo>
                  <a:lnTo>
                    <a:pt x="20581" y="5486"/>
                  </a:lnTo>
                  <a:lnTo>
                    <a:pt x="20581" y="6400"/>
                  </a:lnTo>
                  <a:lnTo>
                    <a:pt x="19645" y="6400"/>
                  </a:lnTo>
                  <a:lnTo>
                    <a:pt x="19645" y="9143"/>
                  </a:lnTo>
                  <a:lnTo>
                    <a:pt x="21516" y="8229"/>
                  </a:lnTo>
                  <a:lnTo>
                    <a:pt x="21516" y="5486"/>
                  </a:lnTo>
                  <a:lnTo>
                    <a:pt x="22452" y="5486"/>
                  </a:lnTo>
                  <a:lnTo>
                    <a:pt x="22452" y="7314"/>
                  </a:lnTo>
                  <a:lnTo>
                    <a:pt x="25258" y="7314"/>
                  </a:lnTo>
                  <a:lnTo>
                    <a:pt x="25258" y="8229"/>
                  </a:lnTo>
                  <a:lnTo>
                    <a:pt x="24323" y="8229"/>
                  </a:lnTo>
                  <a:lnTo>
                    <a:pt x="24323" y="10057"/>
                  </a:lnTo>
                  <a:lnTo>
                    <a:pt x="25258" y="10057"/>
                  </a:lnTo>
                  <a:lnTo>
                    <a:pt x="25258" y="10971"/>
                  </a:lnTo>
                  <a:lnTo>
                    <a:pt x="20581" y="10971"/>
                  </a:lnTo>
                  <a:lnTo>
                    <a:pt x="20581" y="11886"/>
                  </a:lnTo>
                  <a:lnTo>
                    <a:pt x="22452" y="11886"/>
                  </a:lnTo>
                  <a:lnTo>
                    <a:pt x="22452" y="12800"/>
                  </a:lnTo>
                  <a:lnTo>
                    <a:pt x="24323" y="12800"/>
                  </a:lnTo>
                  <a:lnTo>
                    <a:pt x="24323" y="13714"/>
                  </a:lnTo>
                  <a:lnTo>
                    <a:pt x="20581" y="13714"/>
                  </a:lnTo>
                  <a:lnTo>
                    <a:pt x="20581" y="12800"/>
                  </a:lnTo>
                  <a:lnTo>
                    <a:pt x="16839" y="12800"/>
                  </a:lnTo>
                  <a:lnTo>
                    <a:pt x="16839" y="13714"/>
                  </a:lnTo>
                  <a:lnTo>
                    <a:pt x="15903" y="13714"/>
                  </a:lnTo>
                  <a:lnTo>
                    <a:pt x="15903" y="15543"/>
                  </a:lnTo>
                  <a:lnTo>
                    <a:pt x="16839" y="15543"/>
                  </a:lnTo>
                  <a:lnTo>
                    <a:pt x="17774" y="17371"/>
                  </a:lnTo>
                  <a:lnTo>
                    <a:pt x="20581" y="17371"/>
                  </a:lnTo>
                  <a:lnTo>
                    <a:pt x="20581" y="18286"/>
                  </a:lnTo>
                  <a:lnTo>
                    <a:pt x="25258" y="18286"/>
                  </a:lnTo>
                  <a:lnTo>
                    <a:pt x="25258" y="19200"/>
                  </a:lnTo>
                  <a:lnTo>
                    <a:pt x="24323" y="19200"/>
                  </a:lnTo>
                  <a:lnTo>
                    <a:pt x="25258" y="22857"/>
                  </a:lnTo>
                  <a:lnTo>
                    <a:pt x="24323" y="22857"/>
                  </a:lnTo>
                  <a:lnTo>
                    <a:pt x="24323" y="21943"/>
                  </a:lnTo>
                  <a:lnTo>
                    <a:pt x="22452" y="21943"/>
                  </a:lnTo>
                  <a:lnTo>
                    <a:pt x="22452" y="23771"/>
                  </a:lnTo>
                  <a:lnTo>
                    <a:pt x="21516" y="23771"/>
                  </a:lnTo>
                  <a:lnTo>
                    <a:pt x="21516" y="21943"/>
                  </a:lnTo>
                  <a:lnTo>
                    <a:pt x="20581" y="21943"/>
                  </a:lnTo>
                  <a:lnTo>
                    <a:pt x="20581" y="20114"/>
                  </a:lnTo>
                  <a:lnTo>
                    <a:pt x="19645" y="20114"/>
                  </a:lnTo>
                  <a:lnTo>
                    <a:pt x="19645" y="24686"/>
                  </a:lnTo>
                  <a:lnTo>
                    <a:pt x="18710" y="24686"/>
                  </a:lnTo>
                  <a:lnTo>
                    <a:pt x="18710" y="21029"/>
                  </a:lnTo>
                  <a:lnTo>
                    <a:pt x="17774" y="21029"/>
                  </a:lnTo>
                  <a:lnTo>
                    <a:pt x="16839" y="17371"/>
                  </a:lnTo>
                  <a:lnTo>
                    <a:pt x="14032" y="17371"/>
                  </a:lnTo>
                  <a:lnTo>
                    <a:pt x="14032" y="18286"/>
                  </a:lnTo>
                  <a:lnTo>
                    <a:pt x="13097" y="18286"/>
                  </a:lnTo>
                  <a:lnTo>
                    <a:pt x="13097" y="20114"/>
                  </a:lnTo>
                  <a:lnTo>
                    <a:pt x="15903" y="21943"/>
                  </a:lnTo>
                  <a:lnTo>
                    <a:pt x="15903" y="23771"/>
                  </a:lnTo>
                  <a:lnTo>
                    <a:pt x="16839" y="23771"/>
                  </a:lnTo>
                  <a:lnTo>
                    <a:pt x="17774" y="25600"/>
                  </a:lnTo>
                  <a:lnTo>
                    <a:pt x="14032" y="22857"/>
                  </a:lnTo>
                  <a:lnTo>
                    <a:pt x="14032" y="25600"/>
                  </a:lnTo>
                  <a:lnTo>
                    <a:pt x="14968" y="25600"/>
                  </a:lnTo>
                  <a:lnTo>
                    <a:pt x="15903" y="27429"/>
                  </a:lnTo>
                  <a:lnTo>
                    <a:pt x="13097" y="27429"/>
                  </a:lnTo>
                  <a:lnTo>
                    <a:pt x="13097" y="29257"/>
                  </a:lnTo>
                  <a:lnTo>
                    <a:pt x="12161" y="29257"/>
                  </a:lnTo>
                  <a:lnTo>
                    <a:pt x="12161" y="27429"/>
                  </a:lnTo>
                  <a:lnTo>
                    <a:pt x="9355" y="27429"/>
                  </a:lnTo>
                  <a:lnTo>
                    <a:pt x="9355" y="26514"/>
                  </a:lnTo>
                  <a:lnTo>
                    <a:pt x="12161" y="24686"/>
                  </a:lnTo>
                  <a:lnTo>
                    <a:pt x="12161" y="22857"/>
                  </a:lnTo>
                  <a:lnTo>
                    <a:pt x="11226" y="22857"/>
                  </a:lnTo>
                  <a:lnTo>
                    <a:pt x="9355" y="25600"/>
                  </a:lnTo>
                  <a:lnTo>
                    <a:pt x="7484" y="25600"/>
                  </a:lnTo>
                  <a:lnTo>
                    <a:pt x="7484" y="24686"/>
                  </a:lnTo>
                  <a:lnTo>
                    <a:pt x="9355" y="23771"/>
                  </a:lnTo>
                  <a:lnTo>
                    <a:pt x="9355" y="21943"/>
                  </a:lnTo>
                  <a:lnTo>
                    <a:pt x="12161" y="20114"/>
                  </a:lnTo>
                  <a:lnTo>
                    <a:pt x="12161" y="18286"/>
                  </a:lnTo>
                  <a:lnTo>
                    <a:pt x="11226" y="18286"/>
                  </a:lnTo>
                  <a:lnTo>
                    <a:pt x="11226" y="17371"/>
                  </a:lnTo>
                  <a:lnTo>
                    <a:pt x="8419" y="17371"/>
                  </a:lnTo>
                  <a:lnTo>
                    <a:pt x="8419" y="19200"/>
                  </a:lnTo>
                  <a:lnTo>
                    <a:pt x="7484" y="19200"/>
                  </a:lnTo>
                  <a:lnTo>
                    <a:pt x="7484" y="22857"/>
                  </a:lnTo>
                  <a:lnTo>
                    <a:pt x="6548" y="22857"/>
                  </a:lnTo>
                  <a:lnTo>
                    <a:pt x="6548" y="23771"/>
                  </a:lnTo>
                  <a:lnTo>
                    <a:pt x="5613" y="23771"/>
                  </a:lnTo>
                  <a:lnTo>
                    <a:pt x="6548" y="19200"/>
                  </a:lnTo>
                  <a:lnTo>
                    <a:pt x="4677" y="20114"/>
                  </a:lnTo>
                  <a:lnTo>
                    <a:pt x="3742" y="23771"/>
                  </a:lnTo>
                  <a:lnTo>
                    <a:pt x="2806" y="23771"/>
                  </a:lnTo>
                  <a:lnTo>
                    <a:pt x="2806" y="21943"/>
                  </a:lnTo>
                  <a:lnTo>
                    <a:pt x="0" y="21943"/>
                  </a:lnTo>
                  <a:lnTo>
                    <a:pt x="0" y="21029"/>
                  </a:lnTo>
                  <a:lnTo>
                    <a:pt x="935" y="21029"/>
                  </a:lnTo>
                  <a:lnTo>
                    <a:pt x="935" y="19200"/>
                  </a:lnTo>
                  <a:lnTo>
                    <a:pt x="0" y="19200"/>
                  </a:lnTo>
                  <a:lnTo>
                    <a:pt x="0" y="18286"/>
                  </a:lnTo>
                  <a:lnTo>
                    <a:pt x="4677" y="18286"/>
                  </a:lnTo>
                  <a:lnTo>
                    <a:pt x="4677" y="17371"/>
                  </a:lnTo>
                  <a:lnTo>
                    <a:pt x="2806" y="17371"/>
                  </a:lnTo>
                  <a:lnTo>
                    <a:pt x="2806" y="16457"/>
                  </a:lnTo>
                  <a:lnTo>
                    <a:pt x="935" y="16457"/>
                  </a:lnTo>
                  <a:lnTo>
                    <a:pt x="935" y="15543"/>
                  </a:lnTo>
                  <a:lnTo>
                    <a:pt x="9355" y="16457"/>
                  </a:lnTo>
                  <a:lnTo>
                    <a:pt x="9355" y="13714"/>
                  </a:lnTo>
                  <a:lnTo>
                    <a:pt x="8419" y="13714"/>
                  </a:lnTo>
                  <a:lnTo>
                    <a:pt x="8419" y="12800"/>
                  </a:lnTo>
                  <a:lnTo>
                    <a:pt x="935" y="13714"/>
                  </a:lnTo>
                  <a:lnTo>
                    <a:pt x="935" y="12800"/>
                  </a:lnTo>
                  <a:lnTo>
                    <a:pt x="2806" y="12800"/>
                  </a:lnTo>
                  <a:lnTo>
                    <a:pt x="2806" y="11886"/>
                  </a:lnTo>
                  <a:lnTo>
                    <a:pt x="4677" y="11886"/>
                  </a:lnTo>
                  <a:lnTo>
                    <a:pt x="4677" y="10971"/>
                  </a:lnTo>
                  <a:lnTo>
                    <a:pt x="0" y="10971"/>
                  </a:lnTo>
                  <a:lnTo>
                    <a:pt x="0" y="10057"/>
                  </a:lnTo>
                  <a:lnTo>
                    <a:pt x="1871" y="10057"/>
                  </a:lnTo>
                  <a:lnTo>
                    <a:pt x="0" y="7314"/>
                  </a:lnTo>
                  <a:lnTo>
                    <a:pt x="2806" y="7314"/>
                  </a:lnTo>
                  <a:lnTo>
                    <a:pt x="2806" y="5486"/>
                  </a:lnTo>
                  <a:lnTo>
                    <a:pt x="3742" y="5486"/>
                  </a:lnTo>
                  <a:lnTo>
                    <a:pt x="3742" y="6400"/>
                  </a:lnTo>
                  <a:lnTo>
                    <a:pt x="4677" y="6400"/>
                  </a:lnTo>
                  <a:lnTo>
                    <a:pt x="4677" y="9143"/>
                  </a:lnTo>
                  <a:lnTo>
                    <a:pt x="6548" y="10057"/>
                  </a:lnTo>
                  <a:lnTo>
                    <a:pt x="6548" y="8229"/>
                  </a:lnTo>
                  <a:lnTo>
                    <a:pt x="5613" y="8229"/>
                  </a:lnTo>
                  <a:lnTo>
                    <a:pt x="5613" y="5486"/>
                  </a:lnTo>
                  <a:lnTo>
                    <a:pt x="6548" y="5486"/>
                  </a:lnTo>
                  <a:lnTo>
                    <a:pt x="6548" y="6400"/>
                  </a:lnTo>
                  <a:lnTo>
                    <a:pt x="7484" y="6400"/>
                  </a:lnTo>
                  <a:lnTo>
                    <a:pt x="7484" y="10057"/>
                  </a:lnTo>
                  <a:lnTo>
                    <a:pt x="8419" y="10057"/>
                  </a:lnTo>
                  <a:lnTo>
                    <a:pt x="8419" y="11886"/>
                  </a:lnTo>
                  <a:lnTo>
                    <a:pt x="12161" y="11886"/>
                  </a:lnTo>
                  <a:lnTo>
                    <a:pt x="12161" y="9143"/>
                  </a:lnTo>
                  <a:lnTo>
                    <a:pt x="11226" y="9143"/>
                  </a:lnTo>
                  <a:lnTo>
                    <a:pt x="11226" y="8229"/>
                  </a:lnTo>
                  <a:lnTo>
                    <a:pt x="10290" y="8229"/>
                  </a:lnTo>
                  <a:lnTo>
                    <a:pt x="10290" y="6400"/>
                  </a:lnTo>
                  <a:lnTo>
                    <a:pt x="8419" y="6400"/>
                  </a:lnTo>
                  <a:lnTo>
                    <a:pt x="8419" y="4571"/>
                  </a:lnTo>
                  <a:lnTo>
                    <a:pt x="7484" y="4571"/>
                  </a:lnTo>
                  <a:lnTo>
                    <a:pt x="7484" y="3657"/>
                  </a:lnTo>
                  <a:lnTo>
                    <a:pt x="9355" y="3657"/>
                  </a:lnTo>
                  <a:lnTo>
                    <a:pt x="9355" y="4571"/>
                  </a:lnTo>
                  <a:lnTo>
                    <a:pt x="12161" y="6400"/>
                  </a:lnTo>
                  <a:lnTo>
                    <a:pt x="12161" y="4571"/>
                  </a:lnTo>
                  <a:lnTo>
                    <a:pt x="9355" y="2743"/>
                  </a:lnTo>
                  <a:lnTo>
                    <a:pt x="9355" y="1829"/>
                  </a:lnTo>
                  <a:lnTo>
                    <a:pt x="11226" y="1829"/>
                  </a:lnTo>
                  <a:lnTo>
                    <a:pt x="11226" y="2743"/>
                  </a:lnTo>
                  <a:lnTo>
                    <a:pt x="12161" y="2743"/>
                  </a:lnTo>
                  <a:close/>
                  <a:moveTo>
                    <a:pt x="12161" y="12800"/>
                  </a:moveTo>
                  <a:lnTo>
                    <a:pt x="11226" y="12800"/>
                  </a:lnTo>
                  <a:lnTo>
                    <a:pt x="11226" y="16457"/>
                  </a:lnTo>
                  <a:lnTo>
                    <a:pt x="14032" y="16457"/>
                  </a:lnTo>
                  <a:lnTo>
                    <a:pt x="14032" y="15543"/>
                  </a:lnTo>
                  <a:lnTo>
                    <a:pt x="14968" y="15543"/>
                  </a:lnTo>
                  <a:lnTo>
                    <a:pt x="14968" y="13714"/>
                  </a:lnTo>
                  <a:lnTo>
                    <a:pt x="14032" y="13714"/>
                  </a:lnTo>
                  <a:lnTo>
                    <a:pt x="14032" y="12800"/>
                  </a:lnTo>
                  <a:close/>
                  <a:moveTo>
                    <a:pt x="21516" y="15543"/>
                  </a:moveTo>
                  <a:lnTo>
                    <a:pt x="24323" y="15543"/>
                  </a:lnTo>
                  <a:lnTo>
                    <a:pt x="24323" y="16457"/>
                  </a:lnTo>
                  <a:lnTo>
                    <a:pt x="23387" y="16457"/>
                  </a:lnTo>
                  <a:lnTo>
                    <a:pt x="23387" y="17371"/>
                  </a:lnTo>
                  <a:lnTo>
                    <a:pt x="20581" y="17371"/>
                  </a:lnTo>
                  <a:close/>
                </a:path>
              </a:pathLst>
            </a:custGeom>
            <a:solidFill>
              <a:srgbClr val="3C83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Audio Projector box"/>
            <p:cNvSpPr/>
            <p:nvPr/>
          </p:nvSpPr>
          <p:spPr>
            <a:xfrm>
              <a:off x="5266944" y="5367528"/>
              <a:ext cx="2532888" cy="576072"/>
            </a:xfrm>
            <a:prstGeom prst="roundRect">
              <a:avLst>
                <a:gd name="adj" fmla="val 3968"/>
              </a:avLst>
            </a:prstGeom>
            <a:solidFill>
              <a:srgbClr val="DAF1D0"/>
            </a:solidFill>
            <a:ln w="25603">
              <a:solidFill>
                <a:srgbClr val="28561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Audio Projector"/>
            <p:cNvSpPr txBox="1"/>
            <p:nvPr/>
          </p:nvSpPr>
          <p:spPr>
            <a:xfrm>
              <a:off x="5358384" y="5497190"/>
              <a:ext cx="2350008"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285614"/>
                  </a:solidFill>
                  <a:latin typeface="URW Gothic"/>
                </a:rPr>
                <a:t>Audio Projector</a:t>
              </a:r>
            </a:p>
          </p:txBody>
        </p:sp>
        <p:sp>
          <p:nvSpPr>
            <p:cNvPr id="75" name="Audio Projector trainable"/>
            <p:cNvSpPr/>
            <p:nvPr/>
          </p:nvSpPr>
          <p:spPr>
            <a:xfrm>
              <a:off x="7579070" y="5384945"/>
              <a:ext cx="195943" cy="314379"/>
            </a:xfrm>
            <a:custGeom>
              <a:avLst/>
              <a:gdLst/>
              <a:ahLst/>
              <a:cxnLst/>
              <a:rect l="0" t="0" r="r" b="b"/>
              <a:pathLst>
                <a:path w="21429" h="34381">
                  <a:moveTo>
                    <a:pt x="9429" y="0"/>
                  </a:moveTo>
                  <a:cubicBezTo>
                    <a:pt x="9643" y="-792"/>
                    <a:pt x="10929" y="-113"/>
                    <a:pt x="11143" y="0"/>
                  </a:cubicBezTo>
                  <a:cubicBezTo>
                    <a:pt x="11357" y="113"/>
                    <a:pt x="10929" y="679"/>
                    <a:pt x="11143" y="905"/>
                  </a:cubicBezTo>
                  <a:cubicBezTo>
                    <a:pt x="11357" y="1131"/>
                    <a:pt x="12643" y="1470"/>
                    <a:pt x="12857" y="1810"/>
                  </a:cubicBezTo>
                  <a:cubicBezTo>
                    <a:pt x="13071" y="2149"/>
                    <a:pt x="12643" y="3280"/>
                    <a:pt x="12857" y="3619"/>
                  </a:cubicBezTo>
                  <a:cubicBezTo>
                    <a:pt x="13071" y="3958"/>
                    <a:pt x="14357" y="3958"/>
                    <a:pt x="14571" y="4524"/>
                  </a:cubicBezTo>
                  <a:cubicBezTo>
                    <a:pt x="14786" y="5089"/>
                    <a:pt x="14464" y="7690"/>
                    <a:pt x="14571" y="8143"/>
                  </a:cubicBezTo>
                  <a:cubicBezTo>
                    <a:pt x="14679" y="8595"/>
                    <a:pt x="15321" y="7690"/>
                    <a:pt x="15429" y="8143"/>
                  </a:cubicBezTo>
                  <a:cubicBezTo>
                    <a:pt x="15536" y="8595"/>
                    <a:pt x="15536" y="11310"/>
                    <a:pt x="15429" y="11762"/>
                  </a:cubicBezTo>
                  <a:cubicBezTo>
                    <a:pt x="15321" y="12214"/>
                    <a:pt x="14679" y="11423"/>
                    <a:pt x="14571" y="11762"/>
                  </a:cubicBezTo>
                  <a:cubicBezTo>
                    <a:pt x="14464" y="12101"/>
                    <a:pt x="14679" y="14137"/>
                    <a:pt x="14571" y="14476"/>
                  </a:cubicBezTo>
                  <a:cubicBezTo>
                    <a:pt x="14464" y="14815"/>
                    <a:pt x="13821" y="14250"/>
                    <a:pt x="13714" y="14476"/>
                  </a:cubicBezTo>
                  <a:cubicBezTo>
                    <a:pt x="13607" y="14702"/>
                    <a:pt x="13821" y="16060"/>
                    <a:pt x="13714" y="16286"/>
                  </a:cubicBezTo>
                  <a:cubicBezTo>
                    <a:pt x="13607" y="16512"/>
                    <a:pt x="12964" y="15607"/>
                    <a:pt x="12857" y="16286"/>
                  </a:cubicBezTo>
                  <a:cubicBezTo>
                    <a:pt x="12750" y="16964"/>
                    <a:pt x="12214" y="20923"/>
                    <a:pt x="12857" y="21714"/>
                  </a:cubicBezTo>
                  <a:cubicBezTo>
                    <a:pt x="13500" y="22506"/>
                    <a:pt x="17143" y="22845"/>
                    <a:pt x="18000" y="22619"/>
                  </a:cubicBezTo>
                  <a:cubicBezTo>
                    <a:pt x="18857" y="22393"/>
                    <a:pt x="19286" y="20131"/>
                    <a:pt x="19714" y="19905"/>
                  </a:cubicBezTo>
                  <a:cubicBezTo>
                    <a:pt x="20143" y="19679"/>
                    <a:pt x="21214" y="20131"/>
                    <a:pt x="21429" y="20810"/>
                  </a:cubicBezTo>
                  <a:cubicBezTo>
                    <a:pt x="21643" y="21488"/>
                    <a:pt x="21536" y="24768"/>
                    <a:pt x="21429" y="25333"/>
                  </a:cubicBezTo>
                  <a:cubicBezTo>
                    <a:pt x="21321" y="25899"/>
                    <a:pt x="20679" y="24994"/>
                    <a:pt x="20571" y="25333"/>
                  </a:cubicBezTo>
                  <a:cubicBezTo>
                    <a:pt x="20464" y="25673"/>
                    <a:pt x="20679" y="27708"/>
                    <a:pt x="20571" y="28048"/>
                  </a:cubicBezTo>
                  <a:cubicBezTo>
                    <a:pt x="20464" y="28387"/>
                    <a:pt x="19821" y="27935"/>
                    <a:pt x="19714" y="28048"/>
                  </a:cubicBezTo>
                  <a:cubicBezTo>
                    <a:pt x="19607" y="28161"/>
                    <a:pt x="19821" y="28839"/>
                    <a:pt x="19714" y="28952"/>
                  </a:cubicBezTo>
                  <a:cubicBezTo>
                    <a:pt x="19607" y="29065"/>
                    <a:pt x="18964" y="28726"/>
                    <a:pt x="18857" y="28952"/>
                  </a:cubicBezTo>
                  <a:cubicBezTo>
                    <a:pt x="18750" y="29179"/>
                    <a:pt x="18964" y="30536"/>
                    <a:pt x="18857" y="30762"/>
                  </a:cubicBezTo>
                  <a:cubicBezTo>
                    <a:pt x="18750" y="30988"/>
                    <a:pt x="18321" y="30423"/>
                    <a:pt x="18000" y="30762"/>
                  </a:cubicBezTo>
                  <a:cubicBezTo>
                    <a:pt x="17679" y="31101"/>
                    <a:pt x="16714" y="33137"/>
                    <a:pt x="16286" y="33476"/>
                  </a:cubicBezTo>
                  <a:cubicBezTo>
                    <a:pt x="15857" y="33815"/>
                    <a:pt x="14786" y="33363"/>
                    <a:pt x="14571" y="33476"/>
                  </a:cubicBezTo>
                  <a:cubicBezTo>
                    <a:pt x="14357" y="33589"/>
                    <a:pt x="15107" y="34268"/>
                    <a:pt x="14571" y="34381"/>
                  </a:cubicBezTo>
                  <a:cubicBezTo>
                    <a:pt x="14036" y="34494"/>
                    <a:pt x="10821" y="34720"/>
                    <a:pt x="10286" y="34381"/>
                  </a:cubicBezTo>
                  <a:cubicBezTo>
                    <a:pt x="9750" y="34042"/>
                    <a:pt x="10393" y="32006"/>
                    <a:pt x="10286" y="31667"/>
                  </a:cubicBezTo>
                  <a:cubicBezTo>
                    <a:pt x="10179" y="31327"/>
                    <a:pt x="9536" y="31893"/>
                    <a:pt x="9429" y="31667"/>
                  </a:cubicBezTo>
                  <a:cubicBezTo>
                    <a:pt x="9321" y="31440"/>
                    <a:pt x="9643" y="30196"/>
                    <a:pt x="9429" y="29857"/>
                  </a:cubicBezTo>
                  <a:cubicBezTo>
                    <a:pt x="9214" y="29518"/>
                    <a:pt x="8036" y="29631"/>
                    <a:pt x="7714" y="28952"/>
                  </a:cubicBezTo>
                  <a:cubicBezTo>
                    <a:pt x="7393" y="28274"/>
                    <a:pt x="7071" y="24994"/>
                    <a:pt x="6857" y="24429"/>
                  </a:cubicBezTo>
                  <a:cubicBezTo>
                    <a:pt x="6643" y="23863"/>
                    <a:pt x="6107" y="24994"/>
                    <a:pt x="6000" y="24429"/>
                  </a:cubicBezTo>
                  <a:cubicBezTo>
                    <a:pt x="5893" y="23863"/>
                    <a:pt x="6107" y="20470"/>
                    <a:pt x="6000" y="19905"/>
                  </a:cubicBezTo>
                  <a:cubicBezTo>
                    <a:pt x="5893" y="19339"/>
                    <a:pt x="5250" y="19679"/>
                    <a:pt x="5143" y="19905"/>
                  </a:cubicBezTo>
                  <a:cubicBezTo>
                    <a:pt x="5036" y="20131"/>
                    <a:pt x="5250" y="21488"/>
                    <a:pt x="5143" y="21714"/>
                  </a:cubicBezTo>
                  <a:cubicBezTo>
                    <a:pt x="5036" y="21940"/>
                    <a:pt x="4393" y="21488"/>
                    <a:pt x="4286" y="21714"/>
                  </a:cubicBezTo>
                  <a:cubicBezTo>
                    <a:pt x="4179" y="21940"/>
                    <a:pt x="4393" y="23298"/>
                    <a:pt x="4286" y="23524"/>
                  </a:cubicBezTo>
                  <a:cubicBezTo>
                    <a:pt x="4179" y="23750"/>
                    <a:pt x="3536" y="23071"/>
                    <a:pt x="3429" y="23524"/>
                  </a:cubicBezTo>
                  <a:cubicBezTo>
                    <a:pt x="3321" y="23976"/>
                    <a:pt x="3536" y="26690"/>
                    <a:pt x="3429" y="27143"/>
                  </a:cubicBezTo>
                  <a:cubicBezTo>
                    <a:pt x="3321" y="27595"/>
                    <a:pt x="2679" y="27030"/>
                    <a:pt x="2571" y="27143"/>
                  </a:cubicBezTo>
                  <a:cubicBezTo>
                    <a:pt x="2464" y="27256"/>
                    <a:pt x="2464" y="27935"/>
                    <a:pt x="2571" y="28048"/>
                  </a:cubicBezTo>
                  <a:cubicBezTo>
                    <a:pt x="2679" y="28161"/>
                    <a:pt x="3321" y="27708"/>
                    <a:pt x="3429" y="28048"/>
                  </a:cubicBezTo>
                  <a:cubicBezTo>
                    <a:pt x="3536" y="28387"/>
                    <a:pt x="3750" y="30649"/>
                    <a:pt x="3429" y="30762"/>
                  </a:cubicBezTo>
                  <a:cubicBezTo>
                    <a:pt x="3107" y="30875"/>
                    <a:pt x="1179" y="29518"/>
                    <a:pt x="857" y="28952"/>
                  </a:cubicBezTo>
                  <a:cubicBezTo>
                    <a:pt x="536" y="28387"/>
                    <a:pt x="964" y="26577"/>
                    <a:pt x="857" y="26238"/>
                  </a:cubicBezTo>
                  <a:cubicBezTo>
                    <a:pt x="750" y="25899"/>
                    <a:pt x="107" y="27143"/>
                    <a:pt x="0" y="26238"/>
                  </a:cubicBezTo>
                  <a:cubicBezTo>
                    <a:pt x="-107" y="25333"/>
                    <a:pt x="-107" y="19905"/>
                    <a:pt x="0" y="19000"/>
                  </a:cubicBezTo>
                  <a:cubicBezTo>
                    <a:pt x="107" y="18095"/>
                    <a:pt x="643" y="19452"/>
                    <a:pt x="857" y="19000"/>
                  </a:cubicBezTo>
                  <a:cubicBezTo>
                    <a:pt x="1071" y="18548"/>
                    <a:pt x="1500" y="15833"/>
                    <a:pt x="1714" y="15381"/>
                  </a:cubicBezTo>
                  <a:cubicBezTo>
                    <a:pt x="1929" y="14929"/>
                    <a:pt x="2464" y="15494"/>
                    <a:pt x="2571" y="15381"/>
                  </a:cubicBezTo>
                  <a:cubicBezTo>
                    <a:pt x="2679" y="15268"/>
                    <a:pt x="2464" y="14589"/>
                    <a:pt x="2571" y="14476"/>
                  </a:cubicBezTo>
                  <a:cubicBezTo>
                    <a:pt x="2679" y="14363"/>
                    <a:pt x="3321" y="14589"/>
                    <a:pt x="3429" y="14476"/>
                  </a:cubicBezTo>
                  <a:cubicBezTo>
                    <a:pt x="3536" y="14363"/>
                    <a:pt x="3321" y="13685"/>
                    <a:pt x="3429" y="13571"/>
                  </a:cubicBezTo>
                  <a:cubicBezTo>
                    <a:pt x="3536" y="13458"/>
                    <a:pt x="4179" y="13685"/>
                    <a:pt x="4286" y="13571"/>
                  </a:cubicBezTo>
                  <a:cubicBezTo>
                    <a:pt x="4393" y="13458"/>
                    <a:pt x="3857" y="13119"/>
                    <a:pt x="4286" y="12667"/>
                  </a:cubicBezTo>
                  <a:cubicBezTo>
                    <a:pt x="4714" y="12214"/>
                    <a:pt x="7286" y="10518"/>
                    <a:pt x="7714" y="9952"/>
                  </a:cubicBezTo>
                  <a:cubicBezTo>
                    <a:pt x="8143" y="9387"/>
                    <a:pt x="7607" y="8369"/>
                    <a:pt x="7714" y="8143"/>
                  </a:cubicBezTo>
                  <a:cubicBezTo>
                    <a:pt x="7821" y="7917"/>
                    <a:pt x="8464" y="8369"/>
                    <a:pt x="8571" y="8143"/>
                  </a:cubicBezTo>
                  <a:cubicBezTo>
                    <a:pt x="8679" y="7917"/>
                    <a:pt x="8464" y="6560"/>
                    <a:pt x="8571" y="6333"/>
                  </a:cubicBezTo>
                  <a:cubicBezTo>
                    <a:pt x="8679" y="6107"/>
                    <a:pt x="9321" y="7125"/>
                    <a:pt x="9429" y="6333"/>
                  </a:cubicBezTo>
                  <a:cubicBezTo>
                    <a:pt x="9536" y="5542"/>
                    <a:pt x="9214" y="792"/>
                    <a:pt x="9429"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Cross Attention box"/>
            <p:cNvSpPr/>
            <p:nvPr/>
          </p:nvSpPr>
          <p:spPr>
            <a:xfrm>
              <a:off x="5266944" y="3858768"/>
              <a:ext cx="2532888" cy="566928"/>
            </a:xfrm>
            <a:prstGeom prst="roundRect">
              <a:avLst>
                <a:gd name="adj" fmla="val 4032"/>
              </a:avLst>
            </a:prstGeom>
            <a:solidFill>
              <a:srgbClr val="DAF1D0"/>
            </a:solidFill>
            <a:ln w="25603">
              <a:solidFill>
                <a:srgbClr val="28561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Cross Attention"/>
            <p:cNvSpPr txBox="1"/>
            <p:nvPr/>
          </p:nvSpPr>
          <p:spPr>
            <a:xfrm>
              <a:off x="5358384" y="3983858"/>
              <a:ext cx="2350008"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285614"/>
                  </a:solidFill>
                  <a:latin typeface="URW Gothic"/>
                </a:rPr>
                <a:t>Cross Attention</a:t>
              </a:r>
            </a:p>
          </p:txBody>
        </p:sp>
        <p:sp>
          <p:nvSpPr>
            <p:cNvPr id="78" name="Audio Tokens"/>
            <p:cNvSpPr txBox="1"/>
            <p:nvPr/>
          </p:nvSpPr>
          <p:spPr>
            <a:xfrm>
              <a:off x="4315968" y="4608576"/>
              <a:ext cx="1458154"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285614"/>
                  </a:solidFill>
                  <a:latin typeface="URW Gothic"/>
                </a:rPr>
                <a:t>Audio Tokens</a:t>
              </a:r>
            </a:p>
          </p:txBody>
        </p:sp>
        <p:sp>
          <p:nvSpPr>
            <p:cNvPr id="79" name="Token background"/>
            <p:cNvSpPr/>
            <p:nvPr/>
          </p:nvSpPr>
          <p:spPr>
            <a:xfrm>
              <a:off x="5779008" y="4654296"/>
              <a:ext cx="1289304" cy="438912"/>
            </a:xfrm>
            <a:prstGeom prst="roundRect">
              <a:avLst>
                <a:gd name="adj" fmla="val 16666"/>
              </a:avLst>
            </a:prstGeom>
            <a:solidFill>
              <a:srgbClr val="E9ED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Editable token"/>
            <p:cNvSpPr/>
            <p:nvPr/>
          </p:nvSpPr>
          <p:spPr>
            <a:xfrm>
              <a:off x="5852160" y="4727448"/>
              <a:ext cx="301752" cy="292608"/>
            </a:xfrm>
            <a:prstGeom prst="roundRect">
              <a:avLst>
                <a:gd name="adj" fmla="val 15625"/>
              </a:avLst>
            </a:prstGeom>
            <a:solidFill>
              <a:srgbClr val="A9D1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Editable token"/>
            <p:cNvSpPr/>
            <p:nvPr/>
          </p:nvSpPr>
          <p:spPr>
            <a:xfrm>
              <a:off x="6272784" y="4727448"/>
              <a:ext cx="301752" cy="292608"/>
            </a:xfrm>
            <a:prstGeom prst="roundRect">
              <a:avLst>
                <a:gd name="adj" fmla="val 15625"/>
              </a:avLst>
            </a:prstGeom>
            <a:solidFill>
              <a:srgbClr val="A9D1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Editable token"/>
            <p:cNvSpPr/>
            <p:nvPr/>
          </p:nvSpPr>
          <p:spPr>
            <a:xfrm>
              <a:off x="6693408" y="4727448"/>
              <a:ext cx="301752" cy="292608"/>
            </a:xfrm>
            <a:prstGeom prst="roundRect">
              <a:avLst>
                <a:gd name="adj" fmla="val 15625"/>
              </a:avLst>
            </a:prstGeom>
            <a:solidFill>
              <a:srgbClr val="A9D1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Audio fusion weight"/>
            <p:cNvSpPr/>
            <p:nvPr/>
          </p:nvSpPr>
          <p:spPr>
            <a:xfrm>
              <a:off x="6025896" y="3392424"/>
              <a:ext cx="996696" cy="320040"/>
            </a:xfrm>
            <a:prstGeom prst="ellipse">
              <a:avLst/>
            </a:prstGeom>
            <a:solidFill>
              <a:srgbClr val="C4F0CC"/>
            </a:solidFill>
            <a:ln w="27432">
              <a:solidFill>
                <a:srgbClr val="173F1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Wa"/>
            <p:cNvSpPr txBox="1"/>
            <p:nvPr/>
          </p:nvSpPr>
          <p:spPr>
            <a:xfrm>
              <a:off x="6294644" y="3392424"/>
              <a:ext cx="486632"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173F1A"/>
                  </a:solidFill>
                  <a:latin typeface="URW Gothic"/>
                </a:rPr>
                <a:t>Wa</a:t>
              </a:r>
            </a:p>
          </p:txBody>
        </p:sp>
        <p:sp>
          <p:nvSpPr>
            <p:cNvPr id="85" name="f"/>
            <p:cNvSpPr txBox="1"/>
            <p:nvPr/>
          </p:nvSpPr>
          <p:spPr>
            <a:xfrm>
              <a:off x="6686550" y="3035808"/>
              <a:ext cx="159291" cy="370332"/>
            </a:xfrm>
            <a:prstGeom prst="rect">
              <a:avLst/>
            </a:prstGeom>
            <a:noFill/>
            <a:effectLst/>
          </p:spPr>
          <p:txBody>
            <a:bodyPr wrap="none" lIns="0" rIns="0" tIns="0" bIns="0" anchor="t">
              <a:spAutoFit/>
            </a:bodyPr>
            <a:lstStyle/>
            <a:p>
              <a:pPr algn="l">
                <a:spcBef>
                  <a:spcPts val="0"/>
                </a:spcBef>
                <a:spcAft>
                  <a:spcPts val="0"/>
                </a:spcAft>
                <a:lnSpc>
                  <a:spcPct val="100000"/>
                </a:lnSpc>
              </a:pPr>
              <a:r>
                <a:rPr sz="2160" b="0" i="1">
                  <a:solidFill>
                    <a:srgbClr val="4C8C1B"/>
                  </a:solidFill>
                  <a:latin typeface="URW Gothic"/>
                </a:rPr>
                <a:t>f</a:t>
              </a:r>
            </a:p>
          </p:txBody>
        </p:sp>
        <p:sp>
          <p:nvSpPr>
            <p:cNvPr id="86" name="i"/>
            <p:cNvSpPr txBox="1"/>
            <p:nvPr/>
          </p:nvSpPr>
          <p:spPr>
            <a:xfrm>
              <a:off x="6789420" y="3218688"/>
              <a:ext cx="109728" cy="246888"/>
            </a:xfrm>
            <a:prstGeom prst="rect">
              <a:avLst/>
            </a:prstGeom>
            <a:noFill/>
            <a:effectLst/>
          </p:spPr>
          <p:txBody>
            <a:bodyPr wrap="none" lIns="0" rIns="0" tIns="0" bIns="0" anchor="t">
              <a:spAutoFit/>
            </a:bodyPr>
            <a:lstStyle/>
            <a:p>
              <a:pPr algn="l">
                <a:spcBef>
                  <a:spcPts val="0"/>
                </a:spcBef>
                <a:spcAft>
                  <a:spcPts val="0"/>
                </a:spcAft>
                <a:lnSpc>
                  <a:spcPct val="100000"/>
                </a:lnSpc>
              </a:pPr>
              <a:r>
                <a:rPr sz="1439" b="0" i="1">
                  <a:solidFill>
                    <a:srgbClr val="4C8C1B"/>
                  </a:solidFill>
                  <a:latin typeface="URW Gothic"/>
                </a:rPr>
                <a:t>i</a:t>
              </a:r>
            </a:p>
          </p:txBody>
        </p:sp>
        <p:sp>
          <p:nvSpPr>
            <p:cNvPr id="87" name="a,q"/>
            <p:cNvSpPr txBox="1"/>
            <p:nvPr/>
          </p:nvSpPr>
          <p:spPr>
            <a:xfrm>
              <a:off x="6841998" y="3054096"/>
              <a:ext cx="399050" cy="271577"/>
            </a:xfrm>
            <a:prstGeom prst="rect">
              <a:avLst/>
            </a:prstGeom>
            <a:noFill/>
            <a:effectLst/>
          </p:spPr>
          <p:txBody>
            <a:bodyPr wrap="none" lIns="0" rIns="0" tIns="0" bIns="0" anchor="t">
              <a:spAutoFit/>
            </a:bodyPr>
            <a:lstStyle/>
            <a:p>
              <a:pPr algn="l">
                <a:spcBef>
                  <a:spcPts val="0"/>
                </a:spcBef>
                <a:spcAft>
                  <a:spcPts val="0"/>
                </a:spcAft>
                <a:lnSpc>
                  <a:spcPct val="100000"/>
                </a:lnSpc>
              </a:pPr>
              <a:r>
                <a:rPr sz="1584" b="0" i="1">
                  <a:solidFill>
                    <a:srgbClr val="4C8C1B"/>
                  </a:solidFill>
                  <a:latin typeface="URW Gothic"/>
                </a:rPr>
                <a:t>a,q</a:t>
              </a:r>
            </a:p>
          </p:txBody>
        </p:sp>
        <p:sp>
          <p:nvSpPr>
            <p:cNvPr id="88" name="f"/>
            <p:cNvSpPr txBox="1"/>
            <p:nvPr/>
          </p:nvSpPr>
          <p:spPr>
            <a:xfrm>
              <a:off x="7829550" y="5458968"/>
              <a:ext cx="159291" cy="370332"/>
            </a:xfrm>
            <a:prstGeom prst="rect">
              <a:avLst/>
            </a:prstGeom>
            <a:noFill/>
            <a:effectLst/>
          </p:spPr>
          <p:txBody>
            <a:bodyPr wrap="none" lIns="0" rIns="0" tIns="0" bIns="0" anchor="t">
              <a:spAutoFit/>
            </a:bodyPr>
            <a:lstStyle/>
            <a:p>
              <a:pPr algn="l">
                <a:spcBef>
                  <a:spcPts val="0"/>
                </a:spcBef>
                <a:spcAft>
                  <a:spcPts val="0"/>
                </a:spcAft>
                <a:lnSpc>
                  <a:spcPct val="100000"/>
                </a:lnSpc>
              </a:pPr>
              <a:r>
                <a:rPr sz="2160" b="0" i="1">
                  <a:solidFill>
                    <a:srgbClr val="285614"/>
                  </a:solidFill>
                  <a:latin typeface="URW Gothic"/>
                </a:rPr>
                <a:t>f</a:t>
              </a:r>
            </a:p>
          </p:txBody>
        </p:sp>
        <p:sp>
          <p:nvSpPr>
            <p:cNvPr id="89" name="i"/>
            <p:cNvSpPr txBox="1"/>
            <p:nvPr/>
          </p:nvSpPr>
          <p:spPr>
            <a:xfrm>
              <a:off x="7932420" y="5641848"/>
              <a:ext cx="109728" cy="246888"/>
            </a:xfrm>
            <a:prstGeom prst="rect">
              <a:avLst/>
            </a:prstGeom>
            <a:noFill/>
            <a:effectLst/>
          </p:spPr>
          <p:txBody>
            <a:bodyPr wrap="none" lIns="0" rIns="0" tIns="0" bIns="0" anchor="t">
              <a:spAutoFit/>
            </a:bodyPr>
            <a:lstStyle/>
            <a:p>
              <a:pPr algn="l">
                <a:spcBef>
                  <a:spcPts val="0"/>
                </a:spcBef>
                <a:spcAft>
                  <a:spcPts val="0"/>
                </a:spcAft>
                <a:lnSpc>
                  <a:spcPct val="100000"/>
                </a:lnSpc>
              </a:pPr>
              <a:r>
                <a:rPr sz="1439" b="0" i="1">
                  <a:solidFill>
                    <a:srgbClr val="285614"/>
                  </a:solidFill>
                  <a:latin typeface="URW Gothic"/>
                </a:rPr>
                <a:t>i</a:t>
              </a:r>
            </a:p>
          </p:txBody>
        </p:sp>
        <p:sp>
          <p:nvSpPr>
            <p:cNvPr id="90" name="′a"/>
            <p:cNvSpPr txBox="1"/>
            <p:nvPr/>
          </p:nvSpPr>
          <p:spPr>
            <a:xfrm>
              <a:off x="7984998" y="5477256"/>
              <a:ext cx="269905" cy="271577"/>
            </a:xfrm>
            <a:prstGeom prst="rect">
              <a:avLst/>
            </a:prstGeom>
            <a:noFill/>
            <a:effectLst/>
          </p:spPr>
          <p:txBody>
            <a:bodyPr wrap="none" lIns="0" rIns="0" tIns="0" bIns="0" anchor="t">
              <a:spAutoFit/>
            </a:bodyPr>
            <a:lstStyle/>
            <a:p>
              <a:pPr algn="l">
                <a:spcBef>
                  <a:spcPts val="0"/>
                </a:spcBef>
                <a:spcAft>
                  <a:spcPts val="0"/>
                </a:spcAft>
                <a:lnSpc>
                  <a:spcPct val="100000"/>
                </a:lnSpc>
              </a:pPr>
              <a:r>
                <a:rPr sz="1584" b="0" i="1">
                  <a:solidFill>
                    <a:srgbClr val="285614"/>
                  </a:solidFill>
                  <a:latin typeface="URW Gothic"/>
                </a:rPr>
                <a:t>′a</a:t>
              </a:r>
            </a:p>
          </p:txBody>
        </p:sp>
        <p:sp>
          <p:nvSpPr>
            <p:cNvPr id="91" name="f"/>
            <p:cNvSpPr txBox="1"/>
            <p:nvPr/>
          </p:nvSpPr>
          <p:spPr>
            <a:xfrm>
              <a:off x="7829550" y="6245352"/>
              <a:ext cx="159291" cy="370332"/>
            </a:xfrm>
            <a:prstGeom prst="rect">
              <a:avLst/>
            </a:prstGeom>
            <a:noFill/>
            <a:effectLst/>
          </p:spPr>
          <p:txBody>
            <a:bodyPr wrap="none" lIns="0" rIns="0" tIns="0" bIns="0" anchor="t">
              <a:spAutoFit/>
            </a:bodyPr>
            <a:lstStyle/>
            <a:p>
              <a:pPr algn="l">
                <a:spcBef>
                  <a:spcPts val="0"/>
                </a:spcBef>
                <a:spcAft>
                  <a:spcPts val="0"/>
                </a:spcAft>
                <a:lnSpc>
                  <a:spcPct val="100000"/>
                </a:lnSpc>
              </a:pPr>
              <a:r>
                <a:rPr sz="2160" b="0" i="1">
                  <a:solidFill>
                    <a:srgbClr val="285614"/>
                  </a:solidFill>
                  <a:latin typeface="URW Gothic"/>
                </a:rPr>
                <a:t>f</a:t>
              </a:r>
            </a:p>
          </p:txBody>
        </p:sp>
        <p:sp>
          <p:nvSpPr>
            <p:cNvPr id="92" name="i"/>
            <p:cNvSpPr txBox="1"/>
            <p:nvPr/>
          </p:nvSpPr>
          <p:spPr>
            <a:xfrm>
              <a:off x="7932420" y="6428232"/>
              <a:ext cx="109728" cy="246888"/>
            </a:xfrm>
            <a:prstGeom prst="rect">
              <a:avLst/>
            </a:prstGeom>
            <a:noFill/>
            <a:effectLst/>
          </p:spPr>
          <p:txBody>
            <a:bodyPr wrap="none" lIns="0" rIns="0" tIns="0" bIns="0" anchor="t">
              <a:spAutoFit/>
            </a:bodyPr>
            <a:lstStyle/>
            <a:p>
              <a:pPr algn="l">
                <a:spcBef>
                  <a:spcPts val="0"/>
                </a:spcBef>
                <a:spcAft>
                  <a:spcPts val="0"/>
                </a:spcAft>
                <a:lnSpc>
                  <a:spcPct val="100000"/>
                </a:lnSpc>
              </a:pPr>
              <a:r>
                <a:rPr sz="1439" b="0" i="1">
                  <a:solidFill>
                    <a:srgbClr val="285614"/>
                  </a:solidFill>
                  <a:latin typeface="URW Gothic"/>
                </a:rPr>
                <a:t>i</a:t>
              </a:r>
            </a:p>
          </p:txBody>
        </p:sp>
        <p:sp>
          <p:nvSpPr>
            <p:cNvPr id="93" name="a"/>
            <p:cNvSpPr txBox="1"/>
            <p:nvPr/>
          </p:nvSpPr>
          <p:spPr>
            <a:xfrm>
              <a:off x="7984998" y="6263640"/>
              <a:ext cx="210555" cy="271577"/>
            </a:xfrm>
            <a:prstGeom prst="rect">
              <a:avLst/>
            </a:prstGeom>
            <a:noFill/>
            <a:effectLst/>
          </p:spPr>
          <p:txBody>
            <a:bodyPr wrap="none" lIns="0" rIns="0" tIns="0" bIns="0" anchor="t">
              <a:spAutoFit/>
            </a:bodyPr>
            <a:lstStyle/>
            <a:p>
              <a:pPr algn="l">
                <a:spcBef>
                  <a:spcPts val="0"/>
                </a:spcBef>
                <a:spcAft>
                  <a:spcPts val="0"/>
                </a:spcAft>
                <a:lnSpc>
                  <a:spcPct val="100000"/>
                </a:lnSpc>
              </a:pPr>
              <a:r>
                <a:rPr sz="1584" b="0" i="1">
                  <a:solidFill>
                    <a:srgbClr val="285614"/>
                  </a:solidFill>
                  <a:latin typeface="URW Gothic"/>
                </a:rPr>
                <a:t>a</a:t>
              </a:r>
            </a:p>
          </p:txBody>
        </p:sp>
        <p:sp>
          <p:nvSpPr>
            <p:cNvPr id="94" name="Audio waveform boundary"/>
            <p:cNvSpPr/>
            <p:nvPr/>
          </p:nvSpPr>
          <p:spPr>
            <a:xfrm>
              <a:off x="5111496" y="6922008"/>
              <a:ext cx="2898648" cy="795528"/>
            </a:xfrm>
            <a:prstGeom prst="rect">
              <a:avLst/>
            </a:prstGeom>
            <a:solidFill>
              <a:srgbClr val="DCEED1"/>
            </a:solidFill>
            <a:ln w="25603">
              <a:solidFill>
                <a:srgbClr val="285614"/>
              </a:solidFill>
              <a:custDash>
                <a:ds d="857143" sp="321429"/>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Audio waveform bar 1"/>
            <p:cNvSpPr/>
            <p:nvPr/>
          </p:nvSpPr>
          <p:spPr>
            <a:xfrm>
              <a:off x="5239512" y="7232904"/>
              <a:ext cx="91" cy="155448"/>
            </a:xfrm>
            <a:custGeom>
              <a:avLst/>
              <a:gdLst/>
              <a:ahLst/>
              <a:cxnLst/>
              <a:rect l="0" t="0" r="r" b="b"/>
              <a:pathLst>
                <a:path w="10" h="17000" fill="none">
                  <a:moveTo>
                    <a:pt x="0" y="0"/>
                  </a:moveTo>
                  <a:lnTo>
                    <a:pt x="0" y="17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Audio waveform bar 2"/>
            <p:cNvSpPr/>
            <p:nvPr/>
          </p:nvSpPr>
          <p:spPr>
            <a:xfrm>
              <a:off x="5312664" y="7159752"/>
              <a:ext cx="91" cy="301752"/>
            </a:xfrm>
            <a:custGeom>
              <a:avLst/>
              <a:gdLst/>
              <a:ahLst/>
              <a:cxnLst/>
              <a:rect l="0" t="0" r="r" b="b"/>
              <a:pathLst>
                <a:path w="10" h="33000" fill="none">
                  <a:moveTo>
                    <a:pt x="0" y="0"/>
                  </a:moveTo>
                  <a:lnTo>
                    <a:pt x="0" y="33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Audio waveform bar 3"/>
            <p:cNvSpPr/>
            <p:nvPr/>
          </p:nvSpPr>
          <p:spPr>
            <a:xfrm>
              <a:off x="5385816" y="7196328"/>
              <a:ext cx="91" cy="228600"/>
            </a:xfrm>
            <a:custGeom>
              <a:avLst/>
              <a:gdLst/>
              <a:ahLst/>
              <a:cxnLst/>
              <a:rect l="0" t="0" r="r" b="b"/>
              <a:pathLst>
                <a:path w="10" h="25000" fill="none">
                  <a:moveTo>
                    <a:pt x="0" y="0"/>
                  </a:moveTo>
                  <a:lnTo>
                    <a:pt x="0" y="25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Audio waveform bar 4"/>
            <p:cNvSpPr/>
            <p:nvPr/>
          </p:nvSpPr>
          <p:spPr>
            <a:xfrm>
              <a:off x="5458968" y="7123176"/>
              <a:ext cx="91" cy="384048"/>
            </a:xfrm>
            <a:custGeom>
              <a:avLst/>
              <a:gdLst/>
              <a:ahLst/>
              <a:cxnLst/>
              <a:rect l="0" t="0" r="r" b="b"/>
              <a:pathLst>
                <a:path w="10" h="42000" fill="none">
                  <a:moveTo>
                    <a:pt x="0" y="0"/>
                  </a:moveTo>
                  <a:lnTo>
                    <a:pt x="0" y="42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Audio waveform bar 5"/>
            <p:cNvSpPr/>
            <p:nvPr/>
          </p:nvSpPr>
          <p:spPr>
            <a:xfrm>
              <a:off x="5527548" y="7050024"/>
              <a:ext cx="91" cy="530352"/>
            </a:xfrm>
            <a:custGeom>
              <a:avLst/>
              <a:gdLst/>
              <a:ahLst/>
              <a:cxnLst/>
              <a:rect l="0" t="0" r="r" b="b"/>
              <a:pathLst>
                <a:path w="10" h="58000" fill="none">
                  <a:moveTo>
                    <a:pt x="0" y="0"/>
                  </a:moveTo>
                  <a:lnTo>
                    <a:pt x="0" y="58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Audio waveform bar 6"/>
            <p:cNvSpPr/>
            <p:nvPr/>
          </p:nvSpPr>
          <p:spPr>
            <a:xfrm>
              <a:off x="5605272" y="7159752"/>
              <a:ext cx="91" cy="301752"/>
            </a:xfrm>
            <a:custGeom>
              <a:avLst/>
              <a:gdLst/>
              <a:ahLst/>
              <a:cxnLst/>
              <a:rect l="0" t="0" r="r" b="b"/>
              <a:pathLst>
                <a:path w="10" h="33000" fill="none">
                  <a:moveTo>
                    <a:pt x="0" y="0"/>
                  </a:moveTo>
                  <a:lnTo>
                    <a:pt x="0" y="33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Audio waveform bar 7"/>
            <p:cNvSpPr/>
            <p:nvPr/>
          </p:nvSpPr>
          <p:spPr>
            <a:xfrm>
              <a:off x="5669280" y="7232904"/>
              <a:ext cx="91" cy="155448"/>
            </a:xfrm>
            <a:custGeom>
              <a:avLst/>
              <a:gdLst/>
              <a:ahLst/>
              <a:cxnLst/>
              <a:rect l="0" t="0" r="r" b="b"/>
              <a:pathLst>
                <a:path w="10" h="17000" fill="none">
                  <a:moveTo>
                    <a:pt x="0" y="0"/>
                  </a:moveTo>
                  <a:lnTo>
                    <a:pt x="0" y="17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Audio waveform bar 8"/>
            <p:cNvSpPr/>
            <p:nvPr/>
          </p:nvSpPr>
          <p:spPr>
            <a:xfrm>
              <a:off x="5733288" y="7159752"/>
              <a:ext cx="91" cy="301752"/>
            </a:xfrm>
            <a:custGeom>
              <a:avLst/>
              <a:gdLst/>
              <a:ahLst/>
              <a:cxnLst/>
              <a:rect l="0" t="0" r="r" b="b"/>
              <a:pathLst>
                <a:path w="10" h="33000" fill="none">
                  <a:moveTo>
                    <a:pt x="0" y="0"/>
                  </a:moveTo>
                  <a:lnTo>
                    <a:pt x="0" y="33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Audio waveform bar 9"/>
            <p:cNvSpPr/>
            <p:nvPr/>
          </p:nvSpPr>
          <p:spPr>
            <a:xfrm>
              <a:off x="5806440" y="7196328"/>
              <a:ext cx="91" cy="228600"/>
            </a:xfrm>
            <a:custGeom>
              <a:avLst/>
              <a:gdLst/>
              <a:ahLst/>
              <a:cxnLst/>
              <a:rect l="0" t="0" r="r" b="b"/>
              <a:pathLst>
                <a:path w="10" h="25000" fill="none">
                  <a:moveTo>
                    <a:pt x="0" y="0"/>
                  </a:moveTo>
                  <a:lnTo>
                    <a:pt x="0" y="25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Audio waveform bar 10"/>
            <p:cNvSpPr/>
            <p:nvPr/>
          </p:nvSpPr>
          <p:spPr>
            <a:xfrm>
              <a:off x="5875020" y="7123176"/>
              <a:ext cx="91" cy="384048"/>
            </a:xfrm>
            <a:custGeom>
              <a:avLst/>
              <a:gdLst/>
              <a:ahLst/>
              <a:cxnLst/>
              <a:rect l="0" t="0" r="r" b="b"/>
              <a:pathLst>
                <a:path w="10" h="42000" fill="none">
                  <a:moveTo>
                    <a:pt x="0" y="0"/>
                  </a:moveTo>
                  <a:lnTo>
                    <a:pt x="0" y="42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Audio waveform bar 11"/>
            <p:cNvSpPr/>
            <p:nvPr/>
          </p:nvSpPr>
          <p:spPr>
            <a:xfrm>
              <a:off x="5943600" y="7050024"/>
              <a:ext cx="91" cy="530352"/>
            </a:xfrm>
            <a:custGeom>
              <a:avLst/>
              <a:gdLst/>
              <a:ahLst/>
              <a:cxnLst/>
              <a:rect l="0" t="0" r="r" b="b"/>
              <a:pathLst>
                <a:path w="10" h="58000" fill="none">
                  <a:moveTo>
                    <a:pt x="0" y="0"/>
                  </a:moveTo>
                  <a:lnTo>
                    <a:pt x="0" y="58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Audio waveform bar 12"/>
            <p:cNvSpPr/>
            <p:nvPr/>
          </p:nvSpPr>
          <p:spPr>
            <a:xfrm>
              <a:off x="6016752" y="7159752"/>
              <a:ext cx="91" cy="310896"/>
            </a:xfrm>
            <a:custGeom>
              <a:avLst/>
              <a:gdLst/>
              <a:ahLst/>
              <a:cxnLst/>
              <a:rect l="0" t="0" r="r" b="b"/>
              <a:pathLst>
                <a:path w="10" h="34000" fill="none">
                  <a:moveTo>
                    <a:pt x="0" y="0"/>
                  </a:moveTo>
                  <a:lnTo>
                    <a:pt x="0" y="34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Audio waveform bar 13"/>
            <p:cNvSpPr/>
            <p:nvPr/>
          </p:nvSpPr>
          <p:spPr>
            <a:xfrm>
              <a:off x="6085332" y="7242048"/>
              <a:ext cx="91" cy="155448"/>
            </a:xfrm>
            <a:custGeom>
              <a:avLst/>
              <a:gdLst/>
              <a:ahLst/>
              <a:cxnLst/>
              <a:rect l="0" t="0" r="r" b="b"/>
              <a:pathLst>
                <a:path w="10" h="17000" fill="none">
                  <a:moveTo>
                    <a:pt x="0" y="0"/>
                  </a:moveTo>
                  <a:lnTo>
                    <a:pt x="0" y="17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Audio waveform bar 14"/>
            <p:cNvSpPr/>
            <p:nvPr/>
          </p:nvSpPr>
          <p:spPr>
            <a:xfrm>
              <a:off x="6158484" y="7168896"/>
              <a:ext cx="91" cy="301752"/>
            </a:xfrm>
            <a:custGeom>
              <a:avLst/>
              <a:gdLst/>
              <a:ahLst/>
              <a:cxnLst/>
              <a:rect l="0" t="0" r="r" b="b"/>
              <a:pathLst>
                <a:path w="10" h="33000" fill="none">
                  <a:moveTo>
                    <a:pt x="0" y="0"/>
                  </a:moveTo>
                  <a:lnTo>
                    <a:pt x="0" y="33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Audio waveform bar 15"/>
            <p:cNvSpPr/>
            <p:nvPr/>
          </p:nvSpPr>
          <p:spPr>
            <a:xfrm>
              <a:off x="6231636" y="7205472"/>
              <a:ext cx="91" cy="228600"/>
            </a:xfrm>
            <a:custGeom>
              <a:avLst/>
              <a:gdLst/>
              <a:ahLst/>
              <a:cxnLst/>
              <a:rect l="0" t="0" r="r" b="b"/>
              <a:pathLst>
                <a:path w="10" h="25000" fill="none">
                  <a:moveTo>
                    <a:pt x="0" y="0"/>
                  </a:moveTo>
                  <a:lnTo>
                    <a:pt x="0" y="25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Audio waveform bar 16"/>
            <p:cNvSpPr/>
            <p:nvPr/>
          </p:nvSpPr>
          <p:spPr>
            <a:xfrm>
              <a:off x="6313932" y="7132320"/>
              <a:ext cx="91" cy="374904"/>
            </a:xfrm>
            <a:custGeom>
              <a:avLst/>
              <a:gdLst/>
              <a:ahLst/>
              <a:cxnLst/>
              <a:rect l="0" t="0" r="r" b="b"/>
              <a:pathLst>
                <a:path w="10" h="41000" fill="none">
                  <a:moveTo>
                    <a:pt x="0" y="0"/>
                  </a:moveTo>
                  <a:lnTo>
                    <a:pt x="0" y="41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Audio waveform bar 17"/>
            <p:cNvSpPr/>
            <p:nvPr/>
          </p:nvSpPr>
          <p:spPr>
            <a:xfrm>
              <a:off x="6387084" y="7059168"/>
              <a:ext cx="91" cy="521208"/>
            </a:xfrm>
            <a:custGeom>
              <a:avLst/>
              <a:gdLst/>
              <a:ahLst/>
              <a:cxnLst/>
              <a:rect l="0" t="0" r="r" b="b"/>
              <a:pathLst>
                <a:path w="10" h="57000" fill="none">
                  <a:moveTo>
                    <a:pt x="0" y="0"/>
                  </a:moveTo>
                  <a:lnTo>
                    <a:pt x="0" y="57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Audio waveform bar 18"/>
            <p:cNvSpPr/>
            <p:nvPr/>
          </p:nvSpPr>
          <p:spPr>
            <a:xfrm>
              <a:off x="6505956" y="7168896"/>
              <a:ext cx="91" cy="301752"/>
            </a:xfrm>
            <a:custGeom>
              <a:avLst/>
              <a:gdLst/>
              <a:ahLst/>
              <a:cxnLst/>
              <a:rect l="0" t="0" r="r" b="b"/>
              <a:pathLst>
                <a:path w="10" h="33000" fill="none">
                  <a:moveTo>
                    <a:pt x="0" y="0"/>
                  </a:moveTo>
                  <a:lnTo>
                    <a:pt x="0" y="33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Audio waveform bar 19"/>
            <p:cNvSpPr/>
            <p:nvPr/>
          </p:nvSpPr>
          <p:spPr>
            <a:xfrm>
              <a:off x="6606540" y="7168896"/>
              <a:ext cx="91" cy="310896"/>
            </a:xfrm>
            <a:custGeom>
              <a:avLst/>
              <a:gdLst/>
              <a:ahLst/>
              <a:cxnLst/>
              <a:rect l="0" t="0" r="r" b="b"/>
              <a:pathLst>
                <a:path w="10" h="34000" fill="none">
                  <a:moveTo>
                    <a:pt x="0" y="0"/>
                  </a:moveTo>
                  <a:lnTo>
                    <a:pt x="0" y="34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Audio waveform bar 20"/>
            <p:cNvSpPr/>
            <p:nvPr/>
          </p:nvSpPr>
          <p:spPr>
            <a:xfrm>
              <a:off x="6679692" y="7205472"/>
              <a:ext cx="91" cy="228600"/>
            </a:xfrm>
            <a:custGeom>
              <a:avLst/>
              <a:gdLst/>
              <a:ahLst/>
              <a:cxnLst/>
              <a:rect l="0" t="0" r="r" b="b"/>
              <a:pathLst>
                <a:path w="10" h="25000" fill="none">
                  <a:moveTo>
                    <a:pt x="0" y="0"/>
                  </a:moveTo>
                  <a:lnTo>
                    <a:pt x="0" y="25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Audio waveform bar 21"/>
            <p:cNvSpPr/>
            <p:nvPr/>
          </p:nvSpPr>
          <p:spPr>
            <a:xfrm>
              <a:off x="6761988" y="7132320"/>
              <a:ext cx="91" cy="384048"/>
            </a:xfrm>
            <a:custGeom>
              <a:avLst/>
              <a:gdLst/>
              <a:ahLst/>
              <a:cxnLst/>
              <a:rect l="0" t="0" r="r" b="b"/>
              <a:pathLst>
                <a:path w="10" h="42000" fill="none">
                  <a:moveTo>
                    <a:pt x="0" y="0"/>
                  </a:moveTo>
                  <a:lnTo>
                    <a:pt x="0" y="42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Audio waveform bar 22"/>
            <p:cNvSpPr/>
            <p:nvPr/>
          </p:nvSpPr>
          <p:spPr>
            <a:xfrm>
              <a:off x="6835140" y="7059168"/>
              <a:ext cx="91" cy="530352"/>
            </a:xfrm>
            <a:custGeom>
              <a:avLst/>
              <a:gdLst/>
              <a:ahLst/>
              <a:cxnLst/>
              <a:rect l="0" t="0" r="r" b="b"/>
              <a:pathLst>
                <a:path w="10" h="58000" fill="none">
                  <a:moveTo>
                    <a:pt x="0" y="0"/>
                  </a:moveTo>
                  <a:lnTo>
                    <a:pt x="0" y="58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Audio waveform bar 23"/>
            <p:cNvSpPr/>
            <p:nvPr/>
          </p:nvSpPr>
          <p:spPr>
            <a:xfrm>
              <a:off x="6917436" y="7168896"/>
              <a:ext cx="91" cy="310896"/>
            </a:xfrm>
            <a:custGeom>
              <a:avLst/>
              <a:gdLst/>
              <a:ahLst/>
              <a:cxnLst/>
              <a:rect l="0" t="0" r="r" b="b"/>
              <a:pathLst>
                <a:path w="10" h="34000" fill="none">
                  <a:moveTo>
                    <a:pt x="0" y="0"/>
                  </a:moveTo>
                  <a:lnTo>
                    <a:pt x="0" y="34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Audio waveform bar 24"/>
            <p:cNvSpPr/>
            <p:nvPr/>
          </p:nvSpPr>
          <p:spPr>
            <a:xfrm>
              <a:off x="6986016" y="7251192"/>
              <a:ext cx="91" cy="155448"/>
            </a:xfrm>
            <a:custGeom>
              <a:avLst/>
              <a:gdLst/>
              <a:ahLst/>
              <a:cxnLst/>
              <a:rect l="0" t="0" r="r" b="b"/>
              <a:pathLst>
                <a:path w="10" h="17000" fill="none">
                  <a:moveTo>
                    <a:pt x="0" y="0"/>
                  </a:moveTo>
                  <a:lnTo>
                    <a:pt x="0" y="17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Audio waveform bar 25"/>
            <p:cNvSpPr/>
            <p:nvPr/>
          </p:nvSpPr>
          <p:spPr>
            <a:xfrm>
              <a:off x="7063740" y="7178040"/>
              <a:ext cx="91" cy="301752"/>
            </a:xfrm>
            <a:custGeom>
              <a:avLst/>
              <a:gdLst/>
              <a:ahLst/>
              <a:cxnLst/>
              <a:rect l="0" t="0" r="r" b="b"/>
              <a:pathLst>
                <a:path w="10" h="33000" fill="none">
                  <a:moveTo>
                    <a:pt x="0" y="0"/>
                  </a:moveTo>
                  <a:lnTo>
                    <a:pt x="0" y="33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Audio waveform bar 26"/>
            <p:cNvSpPr/>
            <p:nvPr/>
          </p:nvSpPr>
          <p:spPr>
            <a:xfrm>
              <a:off x="7141464" y="7214616"/>
              <a:ext cx="91" cy="228600"/>
            </a:xfrm>
            <a:custGeom>
              <a:avLst/>
              <a:gdLst/>
              <a:ahLst/>
              <a:cxnLst/>
              <a:rect l="0" t="0" r="r" b="b"/>
              <a:pathLst>
                <a:path w="10" h="25000" fill="none">
                  <a:moveTo>
                    <a:pt x="0" y="0"/>
                  </a:moveTo>
                  <a:lnTo>
                    <a:pt x="0" y="25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Audio waveform bar 27"/>
            <p:cNvSpPr/>
            <p:nvPr/>
          </p:nvSpPr>
          <p:spPr>
            <a:xfrm>
              <a:off x="7219188" y="7141464"/>
              <a:ext cx="91" cy="384048"/>
            </a:xfrm>
            <a:custGeom>
              <a:avLst/>
              <a:gdLst/>
              <a:ahLst/>
              <a:cxnLst/>
              <a:rect l="0" t="0" r="r" b="b"/>
              <a:pathLst>
                <a:path w="10" h="42000" fill="none">
                  <a:moveTo>
                    <a:pt x="0" y="0"/>
                  </a:moveTo>
                  <a:lnTo>
                    <a:pt x="0" y="42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Audio waveform bar 28"/>
            <p:cNvSpPr/>
            <p:nvPr/>
          </p:nvSpPr>
          <p:spPr>
            <a:xfrm>
              <a:off x="7296912" y="7068312"/>
              <a:ext cx="91" cy="530352"/>
            </a:xfrm>
            <a:custGeom>
              <a:avLst/>
              <a:gdLst/>
              <a:ahLst/>
              <a:cxnLst/>
              <a:rect l="0" t="0" r="r" b="b"/>
              <a:pathLst>
                <a:path w="10" h="58000" fill="none">
                  <a:moveTo>
                    <a:pt x="0" y="0"/>
                  </a:moveTo>
                  <a:lnTo>
                    <a:pt x="0" y="58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Audio waveform bar 29"/>
            <p:cNvSpPr/>
            <p:nvPr/>
          </p:nvSpPr>
          <p:spPr>
            <a:xfrm>
              <a:off x="7374636" y="7178040"/>
              <a:ext cx="91" cy="301752"/>
            </a:xfrm>
            <a:custGeom>
              <a:avLst/>
              <a:gdLst/>
              <a:ahLst/>
              <a:cxnLst/>
              <a:rect l="0" t="0" r="r" b="b"/>
              <a:pathLst>
                <a:path w="10" h="33000" fill="none">
                  <a:moveTo>
                    <a:pt x="0" y="0"/>
                  </a:moveTo>
                  <a:lnTo>
                    <a:pt x="0" y="33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Audio waveform bar 30"/>
            <p:cNvSpPr/>
            <p:nvPr/>
          </p:nvSpPr>
          <p:spPr>
            <a:xfrm>
              <a:off x="7443216" y="7269480"/>
              <a:ext cx="91" cy="155448"/>
            </a:xfrm>
            <a:custGeom>
              <a:avLst/>
              <a:gdLst/>
              <a:ahLst/>
              <a:cxnLst/>
              <a:rect l="0" t="0" r="r" b="b"/>
              <a:pathLst>
                <a:path w="10" h="17000" fill="none">
                  <a:moveTo>
                    <a:pt x="0" y="0"/>
                  </a:moveTo>
                  <a:lnTo>
                    <a:pt x="0" y="17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Audio waveform bar 31"/>
            <p:cNvSpPr/>
            <p:nvPr/>
          </p:nvSpPr>
          <p:spPr>
            <a:xfrm>
              <a:off x="7511796" y="7196328"/>
              <a:ext cx="91" cy="292608"/>
            </a:xfrm>
            <a:custGeom>
              <a:avLst/>
              <a:gdLst/>
              <a:ahLst/>
              <a:cxnLst/>
              <a:rect l="0" t="0" r="r" b="b"/>
              <a:pathLst>
                <a:path w="10" h="32000" fill="none">
                  <a:moveTo>
                    <a:pt x="0" y="0"/>
                  </a:moveTo>
                  <a:lnTo>
                    <a:pt x="0" y="32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Audio waveform bar 32"/>
            <p:cNvSpPr/>
            <p:nvPr/>
          </p:nvSpPr>
          <p:spPr>
            <a:xfrm>
              <a:off x="7589520" y="7223760"/>
              <a:ext cx="91" cy="228600"/>
            </a:xfrm>
            <a:custGeom>
              <a:avLst/>
              <a:gdLst/>
              <a:ahLst/>
              <a:cxnLst/>
              <a:rect l="0" t="0" r="r" b="b"/>
              <a:pathLst>
                <a:path w="10" h="25000" fill="none">
                  <a:moveTo>
                    <a:pt x="0" y="0"/>
                  </a:moveTo>
                  <a:lnTo>
                    <a:pt x="0" y="25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Audio waveform bar 33"/>
            <p:cNvSpPr/>
            <p:nvPr/>
          </p:nvSpPr>
          <p:spPr>
            <a:xfrm>
              <a:off x="7667244" y="7159752"/>
              <a:ext cx="91" cy="374904"/>
            </a:xfrm>
            <a:custGeom>
              <a:avLst/>
              <a:gdLst/>
              <a:ahLst/>
              <a:cxnLst/>
              <a:rect l="0" t="0" r="r" b="b"/>
              <a:pathLst>
                <a:path w="10" h="41000" fill="none">
                  <a:moveTo>
                    <a:pt x="0" y="0"/>
                  </a:moveTo>
                  <a:lnTo>
                    <a:pt x="0" y="41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Audio waveform bar 34"/>
            <p:cNvSpPr/>
            <p:nvPr/>
          </p:nvSpPr>
          <p:spPr>
            <a:xfrm>
              <a:off x="7744968" y="7086600"/>
              <a:ext cx="91" cy="512064"/>
            </a:xfrm>
            <a:custGeom>
              <a:avLst/>
              <a:gdLst/>
              <a:ahLst/>
              <a:cxnLst/>
              <a:rect l="0" t="0" r="r" b="b"/>
              <a:pathLst>
                <a:path w="10" h="56000" fill="none">
                  <a:moveTo>
                    <a:pt x="0" y="0"/>
                  </a:moveTo>
                  <a:lnTo>
                    <a:pt x="0" y="56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Audio waveform bar 35"/>
            <p:cNvSpPr/>
            <p:nvPr/>
          </p:nvSpPr>
          <p:spPr>
            <a:xfrm>
              <a:off x="7822692" y="7196328"/>
              <a:ext cx="91" cy="292608"/>
            </a:xfrm>
            <a:custGeom>
              <a:avLst/>
              <a:gdLst/>
              <a:ahLst/>
              <a:cxnLst/>
              <a:rect l="0" t="0" r="r" b="b"/>
              <a:pathLst>
                <a:path w="10" h="32000" fill="none">
                  <a:moveTo>
                    <a:pt x="0" y="0"/>
                  </a:moveTo>
                  <a:lnTo>
                    <a:pt x="0" y="32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Audio waveform bar 36"/>
            <p:cNvSpPr/>
            <p:nvPr/>
          </p:nvSpPr>
          <p:spPr>
            <a:xfrm>
              <a:off x="7895844" y="7306056"/>
              <a:ext cx="91" cy="73152"/>
            </a:xfrm>
            <a:custGeom>
              <a:avLst/>
              <a:gdLst/>
              <a:ahLst/>
              <a:cxnLst/>
              <a:rect l="0" t="0" r="r" b="b"/>
              <a:pathLst>
                <a:path w="10" h="8000" fill="none">
                  <a:moveTo>
                    <a:pt x="0" y="0"/>
                  </a:moveTo>
                  <a:lnTo>
                    <a:pt x="0" y="8000"/>
                  </a:lnTo>
                </a:path>
              </a:pathLst>
            </a:custGeom>
            <a:noFill/>
            <a:ln w="44805" cap="rnd">
              <a:solidFill>
                <a:srgbClr val="376425"/>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31" name="Group 130"/>
          <p:cNvGrpSpPr/>
          <p:nvPr/>
        </p:nvGrpSpPr>
        <p:grpSpPr>
          <a:xfrm>
            <a:off x="6729984" y="2871216"/>
            <a:ext cx="5470641" cy="4846320"/>
            <a:chOff x="6729984" y="2871216"/>
            <a:chExt cx="5470641" cy="4846320"/>
          </a:xfrm>
        </p:grpSpPr>
        <p:cxnSp>
          <p:nvCxnSpPr>
            <p:cNvPr id="132" name="Waveform to speech encoder"/>
            <p:cNvCxnSpPr/>
            <p:nvPr/>
          </p:nvCxnSpPr>
          <p:spPr>
            <a:xfrm flipV="1">
              <a:off x="10597896" y="6684264"/>
              <a:ext cx="0" cy="237744"/>
            </a:xfrm>
            <a:prstGeom prst="line">
              <a:avLst/>
            </a:prstGeom>
            <a:ln w="27432">
              <a:solidFill>
                <a:srgbClr val="F4843B"/>
              </a:solidFill>
            </a:ln>
            <a:effectLst/>
          </p:spPr>
          <p:style>
            <a:lnRef idx="2">
              <a:schemeClr val="accent1"/>
            </a:lnRef>
            <a:fillRef idx="0">
              <a:schemeClr val="accent1"/>
            </a:fillRef>
            <a:effectRef idx="0">
              <a:schemeClr val="accent1"/>
            </a:effectRef>
            <a:fontRef idx="minor">
              <a:schemeClr val="tx1"/>
            </a:fontRef>
          </p:style>
        </p:cxnSp>
        <p:sp>
          <p:nvSpPr>
            <p:cNvPr id="133" name="Waveform to speech encoder arrow"/>
            <p:cNvSpPr/>
            <p:nvPr/>
          </p:nvSpPr>
          <p:spPr>
            <a:xfrm>
              <a:off x="10546324" y="6684264"/>
              <a:ext cx="103144" cy="109728"/>
            </a:xfrm>
            <a:custGeom>
              <a:avLst/>
              <a:gdLst/>
              <a:ahLst/>
              <a:cxnLst/>
              <a:rect l="0" t="0" r="r" b="b"/>
              <a:pathLst>
                <a:path w="11280" h="12000">
                  <a:moveTo>
                    <a:pt x="5640" y="0"/>
                  </a:moveTo>
                  <a:lnTo>
                    <a:pt x="0" y="12000"/>
                  </a:lnTo>
                  <a:lnTo>
                    <a:pt x="11280" y="12000"/>
                  </a:lnTo>
                  <a:close/>
                </a:path>
              </a:pathLst>
            </a:custGeom>
            <a:solidFill>
              <a:srgbClr val="F484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4" name="Speech encoder to projector"/>
            <p:cNvCxnSpPr/>
            <p:nvPr/>
          </p:nvCxnSpPr>
          <p:spPr>
            <a:xfrm flipV="1">
              <a:off x="10597896" y="5934456"/>
              <a:ext cx="0" cy="173736"/>
            </a:xfrm>
            <a:prstGeom prst="line">
              <a:avLst/>
            </a:prstGeom>
            <a:ln w="27432">
              <a:solidFill>
                <a:srgbClr val="F4843B"/>
              </a:solidFill>
            </a:ln>
            <a:effectLst/>
          </p:spPr>
          <p:style>
            <a:lnRef idx="2">
              <a:schemeClr val="accent1"/>
            </a:lnRef>
            <a:fillRef idx="0">
              <a:schemeClr val="accent1"/>
            </a:fillRef>
            <a:effectRef idx="0">
              <a:schemeClr val="accent1"/>
            </a:effectRef>
            <a:fontRef idx="minor">
              <a:schemeClr val="tx1"/>
            </a:fontRef>
          </p:style>
        </p:cxnSp>
        <p:sp>
          <p:nvSpPr>
            <p:cNvPr id="135" name="Speech encoder to projector arrow"/>
            <p:cNvSpPr/>
            <p:nvPr/>
          </p:nvSpPr>
          <p:spPr>
            <a:xfrm>
              <a:off x="10546324" y="5934456"/>
              <a:ext cx="103144" cy="109728"/>
            </a:xfrm>
            <a:custGeom>
              <a:avLst/>
              <a:gdLst/>
              <a:ahLst/>
              <a:cxnLst/>
              <a:rect l="0" t="0" r="r" b="b"/>
              <a:pathLst>
                <a:path w="11280" h="12000">
                  <a:moveTo>
                    <a:pt x="5640" y="0"/>
                  </a:moveTo>
                  <a:lnTo>
                    <a:pt x="0" y="12000"/>
                  </a:lnTo>
                  <a:lnTo>
                    <a:pt x="11280" y="12000"/>
                  </a:lnTo>
                  <a:close/>
                </a:path>
              </a:pathLst>
            </a:custGeom>
            <a:solidFill>
              <a:srgbClr val="F484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6" name="Speech projection to tokens"/>
            <p:cNvCxnSpPr/>
            <p:nvPr/>
          </p:nvCxnSpPr>
          <p:spPr>
            <a:xfrm flipV="1">
              <a:off x="10597896" y="5093208"/>
              <a:ext cx="0" cy="265176"/>
            </a:xfrm>
            <a:prstGeom prst="line">
              <a:avLst/>
            </a:prstGeom>
            <a:ln w="27432">
              <a:solidFill>
                <a:srgbClr val="F4843B"/>
              </a:solidFill>
            </a:ln>
            <a:effectLst/>
          </p:spPr>
          <p:style>
            <a:lnRef idx="2">
              <a:schemeClr val="accent1"/>
            </a:lnRef>
            <a:fillRef idx="0">
              <a:schemeClr val="accent1"/>
            </a:fillRef>
            <a:effectRef idx="0">
              <a:schemeClr val="accent1"/>
            </a:effectRef>
            <a:fontRef idx="minor">
              <a:schemeClr val="tx1"/>
            </a:fontRef>
          </p:style>
        </p:cxnSp>
        <p:sp>
          <p:nvSpPr>
            <p:cNvPr id="137" name="Speech projection to tokens arrow"/>
            <p:cNvSpPr/>
            <p:nvPr/>
          </p:nvSpPr>
          <p:spPr>
            <a:xfrm>
              <a:off x="10546324" y="5093208"/>
              <a:ext cx="103144" cy="109728"/>
            </a:xfrm>
            <a:custGeom>
              <a:avLst/>
              <a:gdLst/>
              <a:ahLst/>
              <a:cxnLst/>
              <a:rect l="0" t="0" r="r" b="b"/>
              <a:pathLst>
                <a:path w="11280" h="12000">
                  <a:moveTo>
                    <a:pt x="5640" y="0"/>
                  </a:moveTo>
                  <a:lnTo>
                    <a:pt x="0" y="12000"/>
                  </a:lnTo>
                  <a:lnTo>
                    <a:pt x="11280" y="12000"/>
                  </a:lnTo>
                  <a:close/>
                </a:path>
              </a:pathLst>
            </a:custGeom>
            <a:solidFill>
              <a:srgbClr val="F484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8" name="Speech tokens to cross attention"/>
            <p:cNvCxnSpPr/>
            <p:nvPr/>
          </p:nvCxnSpPr>
          <p:spPr>
            <a:xfrm flipV="1">
              <a:off x="10561320" y="4398264"/>
              <a:ext cx="0" cy="274320"/>
            </a:xfrm>
            <a:prstGeom prst="line">
              <a:avLst/>
            </a:prstGeom>
            <a:ln w="27432">
              <a:solidFill>
                <a:srgbClr val="F4843B"/>
              </a:solidFill>
            </a:ln>
            <a:effectLst/>
          </p:spPr>
          <p:style>
            <a:lnRef idx="2">
              <a:schemeClr val="accent1"/>
            </a:lnRef>
            <a:fillRef idx="0">
              <a:schemeClr val="accent1"/>
            </a:fillRef>
            <a:effectRef idx="0">
              <a:schemeClr val="accent1"/>
            </a:effectRef>
            <a:fontRef idx="minor">
              <a:schemeClr val="tx1"/>
            </a:fontRef>
          </p:style>
        </p:cxnSp>
        <p:sp>
          <p:nvSpPr>
            <p:cNvPr id="139" name="Speech tokens to cross attention arrow"/>
            <p:cNvSpPr/>
            <p:nvPr/>
          </p:nvSpPr>
          <p:spPr>
            <a:xfrm>
              <a:off x="10509748" y="4398264"/>
              <a:ext cx="103144" cy="109728"/>
            </a:xfrm>
            <a:custGeom>
              <a:avLst/>
              <a:gdLst/>
              <a:ahLst/>
              <a:cxnLst/>
              <a:rect l="0" t="0" r="r" b="b"/>
              <a:pathLst>
                <a:path w="11280" h="12000">
                  <a:moveTo>
                    <a:pt x="5640" y="0"/>
                  </a:moveTo>
                  <a:lnTo>
                    <a:pt x="0" y="12000"/>
                  </a:lnTo>
                  <a:lnTo>
                    <a:pt x="11280" y="12000"/>
                  </a:lnTo>
                  <a:close/>
                </a:path>
              </a:pathLst>
            </a:custGeom>
            <a:solidFill>
              <a:srgbClr val="F484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Attended speech to fusion"/>
            <p:cNvSpPr/>
            <p:nvPr/>
          </p:nvSpPr>
          <p:spPr>
            <a:xfrm>
              <a:off x="6729984" y="3017520"/>
              <a:ext cx="3831336" cy="804672"/>
            </a:xfrm>
            <a:custGeom>
              <a:avLst/>
              <a:gdLst/>
              <a:ahLst/>
              <a:cxnLst/>
              <a:rect l="0" t="0" r="r" b="b"/>
              <a:pathLst>
                <a:path w="419000" h="88000" fill="none">
                  <a:moveTo>
                    <a:pt x="419000" y="88000"/>
                  </a:moveTo>
                  <a:lnTo>
                    <a:pt x="419000" y="0"/>
                  </a:lnTo>
                  <a:lnTo>
                    <a:pt x="0" y="0"/>
                  </a:lnTo>
                </a:path>
              </a:pathLst>
            </a:custGeom>
            <a:noFill/>
            <a:ln w="27432" cap="rnd">
              <a:solidFill>
                <a:srgbClr val="F4843B"/>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Attended speech to fusion arrow"/>
            <p:cNvSpPr/>
            <p:nvPr/>
          </p:nvSpPr>
          <p:spPr>
            <a:xfrm>
              <a:off x="6729984" y="2965948"/>
              <a:ext cx="109728" cy="103144"/>
            </a:xfrm>
            <a:custGeom>
              <a:avLst/>
              <a:gdLst/>
              <a:ahLst/>
              <a:cxnLst/>
              <a:rect l="0" t="0" r="r" b="b"/>
              <a:pathLst>
                <a:path w="12000" h="11280">
                  <a:moveTo>
                    <a:pt x="0" y="5640"/>
                  </a:moveTo>
                  <a:lnTo>
                    <a:pt x="12000" y="11280"/>
                  </a:lnTo>
                  <a:lnTo>
                    <a:pt x="12000" y="0"/>
                  </a:lnTo>
                  <a:close/>
                </a:path>
              </a:pathLst>
            </a:custGeom>
            <a:solidFill>
              <a:srgbClr val="F484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Speech Encoder box"/>
            <p:cNvSpPr/>
            <p:nvPr/>
          </p:nvSpPr>
          <p:spPr>
            <a:xfrm>
              <a:off x="9299448" y="6108192"/>
              <a:ext cx="2532888" cy="576072"/>
            </a:xfrm>
            <a:prstGeom prst="roundRect">
              <a:avLst>
                <a:gd name="adj" fmla="val 3968"/>
              </a:avLst>
            </a:prstGeom>
            <a:solidFill>
              <a:srgbClr val="F7C6AC"/>
            </a:solidFill>
            <a:ln w="25603">
              <a:solidFill>
                <a:srgbClr val="8D370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Speech Encoder"/>
            <p:cNvSpPr txBox="1"/>
            <p:nvPr/>
          </p:nvSpPr>
          <p:spPr>
            <a:xfrm>
              <a:off x="9390888" y="6237854"/>
              <a:ext cx="2350008"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8D370E"/>
                  </a:solidFill>
                  <a:latin typeface="URW Gothic"/>
                </a:rPr>
                <a:t>Speech Encoder</a:t>
              </a:r>
            </a:p>
          </p:txBody>
        </p:sp>
        <p:sp>
          <p:nvSpPr>
            <p:cNvPr id="144" name="Speech Encoder frozen"/>
            <p:cNvSpPr/>
            <p:nvPr/>
          </p:nvSpPr>
          <p:spPr>
            <a:xfrm>
              <a:off x="11583678" y="6161488"/>
              <a:ext cx="230960" cy="267527"/>
            </a:xfrm>
            <a:custGeom>
              <a:avLst/>
              <a:gdLst/>
              <a:ahLst/>
              <a:cxnLst/>
              <a:rect l="0" t="0" r="r" b="b"/>
              <a:pathLst>
                <a:path w="25258" h="29257">
                  <a:moveTo>
                    <a:pt x="12161" y="0"/>
                  </a:moveTo>
                  <a:lnTo>
                    <a:pt x="13097" y="0"/>
                  </a:lnTo>
                  <a:lnTo>
                    <a:pt x="13097" y="1829"/>
                  </a:lnTo>
                  <a:lnTo>
                    <a:pt x="15903" y="1829"/>
                  </a:lnTo>
                  <a:lnTo>
                    <a:pt x="15903" y="3657"/>
                  </a:lnTo>
                  <a:lnTo>
                    <a:pt x="14032" y="3657"/>
                  </a:lnTo>
                  <a:lnTo>
                    <a:pt x="14032" y="5486"/>
                  </a:lnTo>
                  <a:lnTo>
                    <a:pt x="13097" y="5486"/>
                  </a:lnTo>
                  <a:lnTo>
                    <a:pt x="13097" y="6400"/>
                  </a:lnTo>
                  <a:lnTo>
                    <a:pt x="14968" y="6400"/>
                  </a:lnTo>
                  <a:lnTo>
                    <a:pt x="15903" y="4571"/>
                  </a:lnTo>
                  <a:lnTo>
                    <a:pt x="17774" y="4571"/>
                  </a:lnTo>
                  <a:lnTo>
                    <a:pt x="17774" y="5486"/>
                  </a:lnTo>
                  <a:lnTo>
                    <a:pt x="16839" y="5486"/>
                  </a:lnTo>
                  <a:lnTo>
                    <a:pt x="16839" y="6400"/>
                  </a:lnTo>
                  <a:lnTo>
                    <a:pt x="13097" y="9143"/>
                  </a:lnTo>
                  <a:lnTo>
                    <a:pt x="13097" y="10971"/>
                  </a:lnTo>
                  <a:lnTo>
                    <a:pt x="14032" y="10971"/>
                  </a:lnTo>
                  <a:lnTo>
                    <a:pt x="14032" y="11886"/>
                  </a:lnTo>
                  <a:lnTo>
                    <a:pt x="16839" y="11886"/>
                  </a:lnTo>
                  <a:lnTo>
                    <a:pt x="16839" y="10971"/>
                  </a:lnTo>
                  <a:lnTo>
                    <a:pt x="17774" y="10971"/>
                  </a:lnTo>
                  <a:lnTo>
                    <a:pt x="17774" y="7314"/>
                  </a:lnTo>
                  <a:lnTo>
                    <a:pt x="18710" y="7314"/>
                  </a:lnTo>
                  <a:lnTo>
                    <a:pt x="18710" y="5486"/>
                  </a:lnTo>
                  <a:lnTo>
                    <a:pt x="20581" y="5486"/>
                  </a:lnTo>
                  <a:lnTo>
                    <a:pt x="20581" y="6400"/>
                  </a:lnTo>
                  <a:lnTo>
                    <a:pt x="19645" y="6400"/>
                  </a:lnTo>
                  <a:lnTo>
                    <a:pt x="19645" y="9143"/>
                  </a:lnTo>
                  <a:lnTo>
                    <a:pt x="21516" y="8229"/>
                  </a:lnTo>
                  <a:lnTo>
                    <a:pt x="21516" y="5486"/>
                  </a:lnTo>
                  <a:lnTo>
                    <a:pt x="22452" y="5486"/>
                  </a:lnTo>
                  <a:lnTo>
                    <a:pt x="22452" y="7314"/>
                  </a:lnTo>
                  <a:lnTo>
                    <a:pt x="25258" y="7314"/>
                  </a:lnTo>
                  <a:lnTo>
                    <a:pt x="25258" y="8229"/>
                  </a:lnTo>
                  <a:lnTo>
                    <a:pt x="24323" y="8229"/>
                  </a:lnTo>
                  <a:lnTo>
                    <a:pt x="24323" y="10057"/>
                  </a:lnTo>
                  <a:lnTo>
                    <a:pt x="25258" y="10057"/>
                  </a:lnTo>
                  <a:lnTo>
                    <a:pt x="25258" y="10971"/>
                  </a:lnTo>
                  <a:lnTo>
                    <a:pt x="20581" y="10971"/>
                  </a:lnTo>
                  <a:lnTo>
                    <a:pt x="20581" y="11886"/>
                  </a:lnTo>
                  <a:lnTo>
                    <a:pt x="22452" y="11886"/>
                  </a:lnTo>
                  <a:lnTo>
                    <a:pt x="22452" y="12800"/>
                  </a:lnTo>
                  <a:lnTo>
                    <a:pt x="24323" y="12800"/>
                  </a:lnTo>
                  <a:lnTo>
                    <a:pt x="24323" y="13714"/>
                  </a:lnTo>
                  <a:lnTo>
                    <a:pt x="20581" y="13714"/>
                  </a:lnTo>
                  <a:lnTo>
                    <a:pt x="20581" y="12800"/>
                  </a:lnTo>
                  <a:lnTo>
                    <a:pt x="16839" y="12800"/>
                  </a:lnTo>
                  <a:lnTo>
                    <a:pt x="16839" y="13714"/>
                  </a:lnTo>
                  <a:lnTo>
                    <a:pt x="15903" y="13714"/>
                  </a:lnTo>
                  <a:lnTo>
                    <a:pt x="15903" y="15543"/>
                  </a:lnTo>
                  <a:lnTo>
                    <a:pt x="16839" y="15543"/>
                  </a:lnTo>
                  <a:lnTo>
                    <a:pt x="17774" y="17371"/>
                  </a:lnTo>
                  <a:lnTo>
                    <a:pt x="20581" y="17371"/>
                  </a:lnTo>
                  <a:lnTo>
                    <a:pt x="20581" y="18286"/>
                  </a:lnTo>
                  <a:lnTo>
                    <a:pt x="25258" y="18286"/>
                  </a:lnTo>
                  <a:lnTo>
                    <a:pt x="25258" y="19200"/>
                  </a:lnTo>
                  <a:lnTo>
                    <a:pt x="24323" y="19200"/>
                  </a:lnTo>
                  <a:lnTo>
                    <a:pt x="25258" y="22857"/>
                  </a:lnTo>
                  <a:lnTo>
                    <a:pt x="24323" y="22857"/>
                  </a:lnTo>
                  <a:lnTo>
                    <a:pt x="24323" y="21943"/>
                  </a:lnTo>
                  <a:lnTo>
                    <a:pt x="22452" y="21943"/>
                  </a:lnTo>
                  <a:lnTo>
                    <a:pt x="22452" y="23771"/>
                  </a:lnTo>
                  <a:lnTo>
                    <a:pt x="21516" y="23771"/>
                  </a:lnTo>
                  <a:lnTo>
                    <a:pt x="21516" y="21943"/>
                  </a:lnTo>
                  <a:lnTo>
                    <a:pt x="20581" y="21943"/>
                  </a:lnTo>
                  <a:lnTo>
                    <a:pt x="20581" y="20114"/>
                  </a:lnTo>
                  <a:lnTo>
                    <a:pt x="19645" y="20114"/>
                  </a:lnTo>
                  <a:lnTo>
                    <a:pt x="19645" y="24686"/>
                  </a:lnTo>
                  <a:lnTo>
                    <a:pt x="18710" y="24686"/>
                  </a:lnTo>
                  <a:lnTo>
                    <a:pt x="18710" y="21029"/>
                  </a:lnTo>
                  <a:lnTo>
                    <a:pt x="17774" y="21029"/>
                  </a:lnTo>
                  <a:lnTo>
                    <a:pt x="16839" y="17371"/>
                  </a:lnTo>
                  <a:lnTo>
                    <a:pt x="14032" y="17371"/>
                  </a:lnTo>
                  <a:lnTo>
                    <a:pt x="14032" y="18286"/>
                  </a:lnTo>
                  <a:lnTo>
                    <a:pt x="13097" y="18286"/>
                  </a:lnTo>
                  <a:lnTo>
                    <a:pt x="13097" y="20114"/>
                  </a:lnTo>
                  <a:lnTo>
                    <a:pt x="15903" y="21943"/>
                  </a:lnTo>
                  <a:lnTo>
                    <a:pt x="15903" y="23771"/>
                  </a:lnTo>
                  <a:lnTo>
                    <a:pt x="16839" y="23771"/>
                  </a:lnTo>
                  <a:lnTo>
                    <a:pt x="17774" y="25600"/>
                  </a:lnTo>
                  <a:lnTo>
                    <a:pt x="14032" y="22857"/>
                  </a:lnTo>
                  <a:lnTo>
                    <a:pt x="14032" y="25600"/>
                  </a:lnTo>
                  <a:lnTo>
                    <a:pt x="14968" y="25600"/>
                  </a:lnTo>
                  <a:lnTo>
                    <a:pt x="15903" y="27429"/>
                  </a:lnTo>
                  <a:lnTo>
                    <a:pt x="13097" y="27429"/>
                  </a:lnTo>
                  <a:lnTo>
                    <a:pt x="13097" y="29257"/>
                  </a:lnTo>
                  <a:lnTo>
                    <a:pt x="12161" y="29257"/>
                  </a:lnTo>
                  <a:lnTo>
                    <a:pt x="12161" y="27429"/>
                  </a:lnTo>
                  <a:lnTo>
                    <a:pt x="9355" y="27429"/>
                  </a:lnTo>
                  <a:lnTo>
                    <a:pt x="9355" y="26514"/>
                  </a:lnTo>
                  <a:lnTo>
                    <a:pt x="12161" y="24686"/>
                  </a:lnTo>
                  <a:lnTo>
                    <a:pt x="12161" y="22857"/>
                  </a:lnTo>
                  <a:lnTo>
                    <a:pt x="11226" y="22857"/>
                  </a:lnTo>
                  <a:lnTo>
                    <a:pt x="9355" y="25600"/>
                  </a:lnTo>
                  <a:lnTo>
                    <a:pt x="7484" y="25600"/>
                  </a:lnTo>
                  <a:lnTo>
                    <a:pt x="7484" y="24686"/>
                  </a:lnTo>
                  <a:lnTo>
                    <a:pt x="9355" y="23771"/>
                  </a:lnTo>
                  <a:lnTo>
                    <a:pt x="9355" y="21943"/>
                  </a:lnTo>
                  <a:lnTo>
                    <a:pt x="12161" y="20114"/>
                  </a:lnTo>
                  <a:lnTo>
                    <a:pt x="12161" y="18286"/>
                  </a:lnTo>
                  <a:lnTo>
                    <a:pt x="11226" y="18286"/>
                  </a:lnTo>
                  <a:lnTo>
                    <a:pt x="11226" y="17371"/>
                  </a:lnTo>
                  <a:lnTo>
                    <a:pt x="8419" y="17371"/>
                  </a:lnTo>
                  <a:lnTo>
                    <a:pt x="8419" y="19200"/>
                  </a:lnTo>
                  <a:lnTo>
                    <a:pt x="7484" y="19200"/>
                  </a:lnTo>
                  <a:lnTo>
                    <a:pt x="7484" y="22857"/>
                  </a:lnTo>
                  <a:lnTo>
                    <a:pt x="6548" y="22857"/>
                  </a:lnTo>
                  <a:lnTo>
                    <a:pt x="6548" y="23771"/>
                  </a:lnTo>
                  <a:lnTo>
                    <a:pt x="5613" y="23771"/>
                  </a:lnTo>
                  <a:lnTo>
                    <a:pt x="6548" y="19200"/>
                  </a:lnTo>
                  <a:lnTo>
                    <a:pt x="4677" y="20114"/>
                  </a:lnTo>
                  <a:lnTo>
                    <a:pt x="3742" y="23771"/>
                  </a:lnTo>
                  <a:lnTo>
                    <a:pt x="2806" y="23771"/>
                  </a:lnTo>
                  <a:lnTo>
                    <a:pt x="2806" y="21943"/>
                  </a:lnTo>
                  <a:lnTo>
                    <a:pt x="0" y="21943"/>
                  </a:lnTo>
                  <a:lnTo>
                    <a:pt x="0" y="21029"/>
                  </a:lnTo>
                  <a:lnTo>
                    <a:pt x="935" y="21029"/>
                  </a:lnTo>
                  <a:lnTo>
                    <a:pt x="935" y="19200"/>
                  </a:lnTo>
                  <a:lnTo>
                    <a:pt x="0" y="19200"/>
                  </a:lnTo>
                  <a:lnTo>
                    <a:pt x="0" y="18286"/>
                  </a:lnTo>
                  <a:lnTo>
                    <a:pt x="4677" y="18286"/>
                  </a:lnTo>
                  <a:lnTo>
                    <a:pt x="4677" y="17371"/>
                  </a:lnTo>
                  <a:lnTo>
                    <a:pt x="2806" y="17371"/>
                  </a:lnTo>
                  <a:lnTo>
                    <a:pt x="2806" y="16457"/>
                  </a:lnTo>
                  <a:lnTo>
                    <a:pt x="935" y="16457"/>
                  </a:lnTo>
                  <a:lnTo>
                    <a:pt x="935" y="15543"/>
                  </a:lnTo>
                  <a:lnTo>
                    <a:pt x="9355" y="16457"/>
                  </a:lnTo>
                  <a:lnTo>
                    <a:pt x="9355" y="13714"/>
                  </a:lnTo>
                  <a:lnTo>
                    <a:pt x="8419" y="13714"/>
                  </a:lnTo>
                  <a:lnTo>
                    <a:pt x="8419" y="12800"/>
                  </a:lnTo>
                  <a:lnTo>
                    <a:pt x="935" y="13714"/>
                  </a:lnTo>
                  <a:lnTo>
                    <a:pt x="935" y="12800"/>
                  </a:lnTo>
                  <a:lnTo>
                    <a:pt x="2806" y="12800"/>
                  </a:lnTo>
                  <a:lnTo>
                    <a:pt x="2806" y="11886"/>
                  </a:lnTo>
                  <a:lnTo>
                    <a:pt x="4677" y="11886"/>
                  </a:lnTo>
                  <a:lnTo>
                    <a:pt x="4677" y="10971"/>
                  </a:lnTo>
                  <a:lnTo>
                    <a:pt x="0" y="10971"/>
                  </a:lnTo>
                  <a:lnTo>
                    <a:pt x="0" y="10057"/>
                  </a:lnTo>
                  <a:lnTo>
                    <a:pt x="1871" y="10057"/>
                  </a:lnTo>
                  <a:lnTo>
                    <a:pt x="0" y="7314"/>
                  </a:lnTo>
                  <a:lnTo>
                    <a:pt x="2806" y="7314"/>
                  </a:lnTo>
                  <a:lnTo>
                    <a:pt x="2806" y="5486"/>
                  </a:lnTo>
                  <a:lnTo>
                    <a:pt x="3742" y="5486"/>
                  </a:lnTo>
                  <a:lnTo>
                    <a:pt x="3742" y="6400"/>
                  </a:lnTo>
                  <a:lnTo>
                    <a:pt x="4677" y="6400"/>
                  </a:lnTo>
                  <a:lnTo>
                    <a:pt x="4677" y="9143"/>
                  </a:lnTo>
                  <a:lnTo>
                    <a:pt x="6548" y="10057"/>
                  </a:lnTo>
                  <a:lnTo>
                    <a:pt x="6548" y="8229"/>
                  </a:lnTo>
                  <a:lnTo>
                    <a:pt x="5613" y="8229"/>
                  </a:lnTo>
                  <a:lnTo>
                    <a:pt x="5613" y="5486"/>
                  </a:lnTo>
                  <a:lnTo>
                    <a:pt x="6548" y="5486"/>
                  </a:lnTo>
                  <a:lnTo>
                    <a:pt x="6548" y="6400"/>
                  </a:lnTo>
                  <a:lnTo>
                    <a:pt x="7484" y="6400"/>
                  </a:lnTo>
                  <a:lnTo>
                    <a:pt x="7484" y="10057"/>
                  </a:lnTo>
                  <a:lnTo>
                    <a:pt x="8419" y="10057"/>
                  </a:lnTo>
                  <a:lnTo>
                    <a:pt x="8419" y="11886"/>
                  </a:lnTo>
                  <a:lnTo>
                    <a:pt x="12161" y="11886"/>
                  </a:lnTo>
                  <a:lnTo>
                    <a:pt x="12161" y="9143"/>
                  </a:lnTo>
                  <a:lnTo>
                    <a:pt x="11226" y="9143"/>
                  </a:lnTo>
                  <a:lnTo>
                    <a:pt x="11226" y="8229"/>
                  </a:lnTo>
                  <a:lnTo>
                    <a:pt x="10290" y="8229"/>
                  </a:lnTo>
                  <a:lnTo>
                    <a:pt x="10290" y="6400"/>
                  </a:lnTo>
                  <a:lnTo>
                    <a:pt x="8419" y="6400"/>
                  </a:lnTo>
                  <a:lnTo>
                    <a:pt x="8419" y="4571"/>
                  </a:lnTo>
                  <a:lnTo>
                    <a:pt x="7484" y="4571"/>
                  </a:lnTo>
                  <a:lnTo>
                    <a:pt x="7484" y="3657"/>
                  </a:lnTo>
                  <a:lnTo>
                    <a:pt x="9355" y="3657"/>
                  </a:lnTo>
                  <a:lnTo>
                    <a:pt x="9355" y="4571"/>
                  </a:lnTo>
                  <a:lnTo>
                    <a:pt x="12161" y="6400"/>
                  </a:lnTo>
                  <a:lnTo>
                    <a:pt x="12161" y="4571"/>
                  </a:lnTo>
                  <a:lnTo>
                    <a:pt x="9355" y="2743"/>
                  </a:lnTo>
                  <a:lnTo>
                    <a:pt x="9355" y="1829"/>
                  </a:lnTo>
                  <a:lnTo>
                    <a:pt x="11226" y="1829"/>
                  </a:lnTo>
                  <a:lnTo>
                    <a:pt x="11226" y="2743"/>
                  </a:lnTo>
                  <a:lnTo>
                    <a:pt x="12161" y="2743"/>
                  </a:lnTo>
                  <a:close/>
                  <a:moveTo>
                    <a:pt x="12161" y="12800"/>
                  </a:moveTo>
                  <a:lnTo>
                    <a:pt x="11226" y="12800"/>
                  </a:lnTo>
                  <a:lnTo>
                    <a:pt x="11226" y="16457"/>
                  </a:lnTo>
                  <a:lnTo>
                    <a:pt x="14032" y="16457"/>
                  </a:lnTo>
                  <a:lnTo>
                    <a:pt x="14032" y="15543"/>
                  </a:lnTo>
                  <a:lnTo>
                    <a:pt x="14968" y="15543"/>
                  </a:lnTo>
                  <a:lnTo>
                    <a:pt x="14968" y="13714"/>
                  </a:lnTo>
                  <a:lnTo>
                    <a:pt x="14032" y="13714"/>
                  </a:lnTo>
                  <a:lnTo>
                    <a:pt x="14032" y="12800"/>
                  </a:lnTo>
                  <a:close/>
                  <a:moveTo>
                    <a:pt x="21516" y="15543"/>
                  </a:moveTo>
                  <a:lnTo>
                    <a:pt x="24323" y="15543"/>
                  </a:lnTo>
                  <a:lnTo>
                    <a:pt x="24323" y="16457"/>
                  </a:lnTo>
                  <a:lnTo>
                    <a:pt x="23387" y="16457"/>
                  </a:lnTo>
                  <a:lnTo>
                    <a:pt x="23387" y="17371"/>
                  </a:lnTo>
                  <a:lnTo>
                    <a:pt x="20581" y="17371"/>
                  </a:lnTo>
                  <a:close/>
                </a:path>
              </a:pathLst>
            </a:custGeom>
            <a:solidFill>
              <a:srgbClr val="3C83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5" name="Speech Projector box"/>
            <p:cNvSpPr/>
            <p:nvPr/>
          </p:nvSpPr>
          <p:spPr>
            <a:xfrm>
              <a:off x="9290304" y="5358384"/>
              <a:ext cx="2542032" cy="576072"/>
            </a:xfrm>
            <a:prstGeom prst="roundRect">
              <a:avLst>
                <a:gd name="adj" fmla="val 3968"/>
              </a:avLst>
            </a:prstGeom>
            <a:solidFill>
              <a:srgbClr val="F7C6AC"/>
            </a:solidFill>
            <a:ln w="25603">
              <a:solidFill>
                <a:srgbClr val="8D370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Speech Projector"/>
            <p:cNvSpPr txBox="1"/>
            <p:nvPr/>
          </p:nvSpPr>
          <p:spPr>
            <a:xfrm>
              <a:off x="9381744" y="5488046"/>
              <a:ext cx="2359152"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8D370E"/>
                  </a:solidFill>
                  <a:latin typeface="URW Gothic"/>
                </a:rPr>
                <a:t>Speech Projector</a:t>
              </a:r>
            </a:p>
          </p:txBody>
        </p:sp>
        <p:sp>
          <p:nvSpPr>
            <p:cNvPr id="147" name="Speech Projector trainable"/>
            <p:cNvSpPr/>
            <p:nvPr/>
          </p:nvSpPr>
          <p:spPr>
            <a:xfrm>
              <a:off x="11611574" y="5375801"/>
              <a:ext cx="195943" cy="314379"/>
            </a:xfrm>
            <a:custGeom>
              <a:avLst/>
              <a:gdLst/>
              <a:ahLst/>
              <a:cxnLst/>
              <a:rect l="0" t="0" r="r" b="b"/>
              <a:pathLst>
                <a:path w="21429" h="34381">
                  <a:moveTo>
                    <a:pt x="9429" y="0"/>
                  </a:moveTo>
                  <a:cubicBezTo>
                    <a:pt x="9643" y="-792"/>
                    <a:pt x="10929" y="-113"/>
                    <a:pt x="11143" y="0"/>
                  </a:cubicBezTo>
                  <a:cubicBezTo>
                    <a:pt x="11357" y="113"/>
                    <a:pt x="10929" y="679"/>
                    <a:pt x="11143" y="905"/>
                  </a:cubicBezTo>
                  <a:cubicBezTo>
                    <a:pt x="11357" y="1131"/>
                    <a:pt x="12643" y="1470"/>
                    <a:pt x="12857" y="1810"/>
                  </a:cubicBezTo>
                  <a:cubicBezTo>
                    <a:pt x="13071" y="2149"/>
                    <a:pt x="12643" y="3280"/>
                    <a:pt x="12857" y="3619"/>
                  </a:cubicBezTo>
                  <a:cubicBezTo>
                    <a:pt x="13071" y="3958"/>
                    <a:pt x="14357" y="3958"/>
                    <a:pt x="14571" y="4524"/>
                  </a:cubicBezTo>
                  <a:cubicBezTo>
                    <a:pt x="14786" y="5089"/>
                    <a:pt x="14464" y="7690"/>
                    <a:pt x="14571" y="8143"/>
                  </a:cubicBezTo>
                  <a:cubicBezTo>
                    <a:pt x="14679" y="8595"/>
                    <a:pt x="15321" y="7690"/>
                    <a:pt x="15429" y="8143"/>
                  </a:cubicBezTo>
                  <a:cubicBezTo>
                    <a:pt x="15536" y="8595"/>
                    <a:pt x="15536" y="11310"/>
                    <a:pt x="15429" y="11762"/>
                  </a:cubicBezTo>
                  <a:cubicBezTo>
                    <a:pt x="15321" y="12214"/>
                    <a:pt x="14679" y="11423"/>
                    <a:pt x="14571" y="11762"/>
                  </a:cubicBezTo>
                  <a:cubicBezTo>
                    <a:pt x="14464" y="12101"/>
                    <a:pt x="14679" y="14137"/>
                    <a:pt x="14571" y="14476"/>
                  </a:cubicBezTo>
                  <a:cubicBezTo>
                    <a:pt x="14464" y="14815"/>
                    <a:pt x="13821" y="14250"/>
                    <a:pt x="13714" y="14476"/>
                  </a:cubicBezTo>
                  <a:cubicBezTo>
                    <a:pt x="13607" y="14702"/>
                    <a:pt x="13821" y="16060"/>
                    <a:pt x="13714" y="16286"/>
                  </a:cubicBezTo>
                  <a:cubicBezTo>
                    <a:pt x="13607" y="16512"/>
                    <a:pt x="12964" y="15607"/>
                    <a:pt x="12857" y="16286"/>
                  </a:cubicBezTo>
                  <a:cubicBezTo>
                    <a:pt x="12750" y="16964"/>
                    <a:pt x="12214" y="20923"/>
                    <a:pt x="12857" y="21714"/>
                  </a:cubicBezTo>
                  <a:cubicBezTo>
                    <a:pt x="13500" y="22506"/>
                    <a:pt x="17143" y="22845"/>
                    <a:pt x="18000" y="22619"/>
                  </a:cubicBezTo>
                  <a:cubicBezTo>
                    <a:pt x="18857" y="22393"/>
                    <a:pt x="19286" y="20131"/>
                    <a:pt x="19714" y="19905"/>
                  </a:cubicBezTo>
                  <a:cubicBezTo>
                    <a:pt x="20143" y="19679"/>
                    <a:pt x="21214" y="20131"/>
                    <a:pt x="21429" y="20810"/>
                  </a:cubicBezTo>
                  <a:cubicBezTo>
                    <a:pt x="21643" y="21488"/>
                    <a:pt x="21536" y="24768"/>
                    <a:pt x="21429" y="25333"/>
                  </a:cubicBezTo>
                  <a:cubicBezTo>
                    <a:pt x="21321" y="25899"/>
                    <a:pt x="20679" y="24994"/>
                    <a:pt x="20571" y="25333"/>
                  </a:cubicBezTo>
                  <a:cubicBezTo>
                    <a:pt x="20464" y="25673"/>
                    <a:pt x="20679" y="27708"/>
                    <a:pt x="20571" y="28048"/>
                  </a:cubicBezTo>
                  <a:cubicBezTo>
                    <a:pt x="20464" y="28387"/>
                    <a:pt x="19821" y="27935"/>
                    <a:pt x="19714" y="28048"/>
                  </a:cubicBezTo>
                  <a:cubicBezTo>
                    <a:pt x="19607" y="28161"/>
                    <a:pt x="19821" y="28839"/>
                    <a:pt x="19714" y="28952"/>
                  </a:cubicBezTo>
                  <a:cubicBezTo>
                    <a:pt x="19607" y="29065"/>
                    <a:pt x="18964" y="28726"/>
                    <a:pt x="18857" y="28952"/>
                  </a:cubicBezTo>
                  <a:cubicBezTo>
                    <a:pt x="18750" y="29179"/>
                    <a:pt x="18964" y="30536"/>
                    <a:pt x="18857" y="30762"/>
                  </a:cubicBezTo>
                  <a:cubicBezTo>
                    <a:pt x="18750" y="30988"/>
                    <a:pt x="18321" y="30423"/>
                    <a:pt x="18000" y="30762"/>
                  </a:cubicBezTo>
                  <a:cubicBezTo>
                    <a:pt x="17679" y="31101"/>
                    <a:pt x="16714" y="33137"/>
                    <a:pt x="16286" y="33476"/>
                  </a:cubicBezTo>
                  <a:cubicBezTo>
                    <a:pt x="15857" y="33815"/>
                    <a:pt x="14786" y="33363"/>
                    <a:pt x="14571" y="33476"/>
                  </a:cubicBezTo>
                  <a:cubicBezTo>
                    <a:pt x="14357" y="33589"/>
                    <a:pt x="15107" y="34268"/>
                    <a:pt x="14571" y="34381"/>
                  </a:cubicBezTo>
                  <a:cubicBezTo>
                    <a:pt x="14036" y="34494"/>
                    <a:pt x="10821" y="34720"/>
                    <a:pt x="10286" y="34381"/>
                  </a:cubicBezTo>
                  <a:cubicBezTo>
                    <a:pt x="9750" y="34042"/>
                    <a:pt x="10393" y="32006"/>
                    <a:pt x="10286" y="31667"/>
                  </a:cubicBezTo>
                  <a:cubicBezTo>
                    <a:pt x="10179" y="31327"/>
                    <a:pt x="9536" y="31893"/>
                    <a:pt x="9429" y="31667"/>
                  </a:cubicBezTo>
                  <a:cubicBezTo>
                    <a:pt x="9321" y="31440"/>
                    <a:pt x="9643" y="30196"/>
                    <a:pt x="9429" y="29857"/>
                  </a:cubicBezTo>
                  <a:cubicBezTo>
                    <a:pt x="9214" y="29518"/>
                    <a:pt x="8036" y="29631"/>
                    <a:pt x="7714" y="28952"/>
                  </a:cubicBezTo>
                  <a:cubicBezTo>
                    <a:pt x="7393" y="28274"/>
                    <a:pt x="7071" y="24994"/>
                    <a:pt x="6857" y="24429"/>
                  </a:cubicBezTo>
                  <a:cubicBezTo>
                    <a:pt x="6643" y="23863"/>
                    <a:pt x="6107" y="24994"/>
                    <a:pt x="6000" y="24429"/>
                  </a:cubicBezTo>
                  <a:cubicBezTo>
                    <a:pt x="5893" y="23863"/>
                    <a:pt x="6107" y="20470"/>
                    <a:pt x="6000" y="19905"/>
                  </a:cubicBezTo>
                  <a:cubicBezTo>
                    <a:pt x="5893" y="19339"/>
                    <a:pt x="5250" y="19679"/>
                    <a:pt x="5143" y="19905"/>
                  </a:cubicBezTo>
                  <a:cubicBezTo>
                    <a:pt x="5036" y="20131"/>
                    <a:pt x="5250" y="21488"/>
                    <a:pt x="5143" y="21714"/>
                  </a:cubicBezTo>
                  <a:cubicBezTo>
                    <a:pt x="5036" y="21940"/>
                    <a:pt x="4393" y="21488"/>
                    <a:pt x="4286" y="21714"/>
                  </a:cubicBezTo>
                  <a:cubicBezTo>
                    <a:pt x="4179" y="21940"/>
                    <a:pt x="4393" y="23298"/>
                    <a:pt x="4286" y="23524"/>
                  </a:cubicBezTo>
                  <a:cubicBezTo>
                    <a:pt x="4179" y="23750"/>
                    <a:pt x="3536" y="23071"/>
                    <a:pt x="3429" y="23524"/>
                  </a:cubicBezTo>
                  <a:cubicBezTo>
                    <a:pt x="3321" y="23976"/>
                    <a:pt x="3536" y="26690"/>
                    <a:pt x="3429" y="27143"/>
                  </a:cubicBezTo>
                  <a:cubicBezTo>
                    <a:pt x="3321" y="27595"/>
                    <a:pt x="2679" y="27030"/>
                    <a:pt x="2571" y="27143"/>
                  </a:cubicBezTo>
                  <a:cubicBezTo>
                    <a:pt x="2464" y="27256"/>
                    <a:pt x="2464" y="27935"/>
                    <a:pt x="2571" y="28048"/>
                  </a:cubicBezTo>
                  <a:cubicBezTo>
                    <a:pt x="2679" y="28161"/>
                    <a:pt x="3321" y="27708"/>
                    <a:pt x="3429" y="28048"/>
                  </a:cubicBezTo>
                  <a:cubicBezTo>
                    <a:pt x="3536" y="28387"/>
                    <a:pt x="3750" y="30649"/>
                    <a:pt x="3429" y="30762"/>
                  </a:cubicBezTo>
                  <a:cubicBezTo>
                    <a:pt x="3107" y="30875"/>
                    <a:pt x="1179" y="29518"/>
                    <a:pt x="857" y="28952"/>
                  </a:cubicBezTo>
                  <a:cubicBezTo>
                    <a:pt x="536" y="28387"/>
                    <a:pt x="964" y="26577"/>
                    <a:pt x="857" y="26238"/>
                  </a:cubicBezTo>
                  <a:cubicBezTo>
                    <a:pt x="750" y="25899"/>
                    <a:pt x="107" y="27143"/>
                    <a:pt x="0" y="26238"/>
                  </a:cubicBezTo>
                  <a:cubicBezTo>
                    <a:pt x="-107" y="25333"/>
                    <a:pt x="-107" y="19905"/>
                    <a:pt x="0" y="19000"/>
                  </a:cubicBezTo>
                  <a:cubicBezTo>
                    <a:pt x="107" y="18095"/>
                    <a:pt x="643" y="19452"/>
                    <a:pt x="857" y="19000"/>
                  </a:cubicBezTo>
                  <a:cubicBezTo>
                    <a:pt x="1071" y="18548"/>
                    <a:pt x="1500" y="15833"/>
                    <a:pt x="1714" y="15381"/>
                  </a:cubicBezTo>
                  <a:cubicBezTo>
                    <a:pt x="1929" y="14929"/>
                    <a:pt x="2464" y="15494"/>
                    <a:pt x="2571" y="15381"/>
                  </a:cubicBezTo>
                  <a:cubicBezTo>
                    <a:pt x="2679" y="15268"/>
                    <a:pt x="2464" y="14589"/>
                    <a:pt x="2571" y="14476"/>
                  </a:cubicBezTo>
                  <a:cubicBezTo>
                    <a:pt x="2679" y="14363"/>
                    <a:pt x="3321" y="14589"/>
                    <a:pt x="3429" y="14476"/>
                  </a:cubicBezTo>
                  <a:cubicBezTo>
                    <a:pt x="3536" y="14363"/>
                    <a:pt x="3321" y="13685"/>
                    <a:pt x="3429" y="13571"/>
                  </a:cubicBezTo>
                  <a:cubicBezTo>
                    <a:pt x="3536" y="13458"/>
                    <a:pt x="4179" y="13685"/>
                    <a:pt x="4286" y="13571"/>
                  </a:cubicBezTo>
                  <a:cubicBezTo>
                    <a:pt x="4393" y="13458"/>
                    <a:pt x="3857" y="13119"/>
                    <a:pt x="4286" y="12667"/>
                  </a:cubicBezTo>
                  <a:cubicBezTo>
                    <a:pt x="4714" y="12214"/>
                    <a:pt x="7286" y="10518"/>
                    <a:pt x="7714" y="9952"/>
                  </a:cubicBezTo>
                  <a:cubicBezTo>
                    <a:pt x="8143" y="9387"/>
                    <a:pt x="7607" y="8369"/>
                    <a:pt x="7714" y="8143"/>
                  </a:cubicBezTo>
                  <a:cubicBezTo>
                    <a:pt x="7821" y="7917"/>
                    <a:pt x="8464" y="8369"/>
                    <a:pt x="8571" y="8143"/>
                  </a:cubicBezTo>
                  <a:cubicBezTo>
                    <a:pt x="8679" y="7917"/>
                    <a:pt x="8464" y="6560"/>
                    <a:pt x="8571" y="6333"/>
                  </a:cubicBezTo>
                  <a:cubicBezTo>
                    <a:pt x="8679" y="6107"/>
                    <a:pt x="9321" y="7125"/>
                    <a:pt x="9429" y="6333"/>
                  </a:cubicBezTo>
                  <a:cubicBezTo>
                    <a:pt x="9536" y="5542"/>
                    <a:pt x="9214" y="792"/>
                    <a:pt x="9429"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Cross Attention box"/>
            <p:cNvSpPr/>
            <p:nvPr/>
          </p:nvSpPr>
          <p:spPr>
            <a:xfrm>
              <a:off x="9290304" y="3822192"/>
              <a:ext cx="2542032" cy="576072"/>
            </a:xfrm>
            <a:prstGeom prst="roundRect">
              <a:avLst>
                <a:gd name="adj" fmla="val 3968"/>
              </a:avLst>
            </a:prstGeom>
            <a:solidFill>
              <a:srgbClr val="F7C6AC"/>
            </a:solidFill>
            <a:ln w="25603">
              <a:solidFill>
                <a:srgbClr val="8D370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9" name="Cross Attention"/>
            <p:cNvSpPr txBox="1"/>
            <p:nvPr/>
          </p:nvSpPr>
          <p:spPr>
            <a:xfrm>
              <a:off x="9381744" y="3951854"/>
              <a:ext cx="2359152"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8D370E"/>
                  </a:solidFill>
                  <a:latin typeface="URW Gothic"/>
                </a:rPr>
                <a:t>Cross Attention</a:t>
              </a:r>
            </a:p>
          </p:txBody>
        </p:sp>
        <p:sp>
          <p:nvSpPr>
            <p:cNvPr id="150" name="Speech Tokens"/>
            <p:cNvSpPr txBox="1"/>
            <p:nvPr/>
          </p:nvSpPr>
          <p:spPr>
            <a:xfrm>
              <a:off x="8129016" y="4617720"/>
              <a:ext cx="1646677"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8D370E"/>
                  </a:solidFill>
                  <a:latin typeface="URW Gothic"/>
                </a:rPr>
                <a:t>Speech Tokens</a:t>
              </a:r>
            </a:p>
          </p:txBody>
        </p:sp>
        <p:sp>
          <p:nvSpPr>
            <p:cNvPr id="151" name="Token background"/>
            <p:cNvSpPr/>
            <p:nvPr/>
          </p:nvSpPr>
          <p:spPr>
            <a:xfrm>
              <a:off x="9811512" y="4654296"/>
              <a:ext cx="1271016" cy="438912"/>
            </a:xfrm>
            <a:prstGeom prst="roundRect">
              <a:avLst>
                <a:gd name="adj" fmla="val 16666"/>
              </a:avLst>
            </a:prstGeom>
            <a:solidFill>
              <a:srgbClr val="E9ED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Editable token"/>
            <p:cNvSpPr/>
            <p:nvPr/>
          </p:nvSpPr>
          <p:spPr>
            <a:xfrm>
              <a:off x="9884664" y="4727448"/>
              <a:ext cx="301752" cy="292608"/>
            </a:xfrm>
            <a:prstGeom prst="roundRect">
              <a:avLst>
                <a:gd name="adj" fmla="val 15625"/>
              </a:avLst>
            </a:prstGeom>
            <a:solidFill>
              <a:srgbClr val="F484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Editable token"/>
            <p:cNvSpPr/>
            <p:nvPr/>
          </p:nvSpPr>
          <p:spPr>
            <a:xfrm>
              <a:off x="10296144" y="4727448"/>
              <a:ext cx="301752" cy="292608"/>
            </a:xfrm>
            <a:prstGeom prst="roundRect">
              <a:avLst>
                <a:gd name="adj" fmla="val 15625"/>
              </a:avLst>
            </a:prstGeom>
            <a:solidFill>
              <a:srgbClr val="F484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Editable token"/>
            <p:cNvSpPr/>
            <p:nvPr/>
          </p:nvSpPr>
          <p:spPr>
            <a:xfrm>
              <a:off x="10707624" y="4727448"/>
              <a:ext cx="301752" cy="292608"/>
            </a:xfrm>
            <a:prstGeom prst="roundRect">
              <a:avLst>
                <a:gd name="adj" fmla="val 15625"/>
              </a:avLst>
            </a:prstGeom>
            <a:solidFill>
              <a:srgbClr val="F484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Speech fusion weight"/>
            <p:cNvSpPr/>
            <p:nvPr/>
          </p:nvSpPr>
          <p:spPr>
            <a:xfrm>
              <a:off x="9162288" y="2871216"/>
              <a:ext cx="896112" cy="329184"/>
            </a:xfrm>
            <a:prstGeom prst="ellipse">
              <a:avLst/>
            </a:prstGeom>
            <a:solidFill>
              <a:srgbClr val="FAE3D5"/>
            </a:solidFill>
            <a:ln w="27432">
              <a:solidFill>
                <a:srgbClr val="8D370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Ws"/>
            <p:cNvSpPr txBox="1"/>
            <p:nvPr/>
          </p:nvSpPr>
          <p:spPr>
            <a:xfrm>
              <a:off x="9410348" y="2880360"/>
              <a:ext cx="418281"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8D370E"/>
                  </a:solidFill>
                  <a:latin typeface="URW Gothic"/>
                </a:rPr>
                <a:t>Ws</a:t>
              </a:r>
            </a:p>
          </p:txBody>
        </p:sp>
        <p:sp>
          <p:nvSpPr>
            <p:cNvPr id="157" name="f"/>
            <p:cNvSpPr txBox="1"/>
            <p:nvPr/>
          </p:nvSpPr>
          <p:spPr>
            <a:xfrm>
              <a:off x="8725662" y="2990088"/>
              <a:ext cx="159291" cy="370332"/>
            </a:xfrm>
            <a:prstGeom prst="rect">
              <a:avLst/>
            </a:prstGeom>
            <a:noFill/>
            <a:effectLst/>
          </p:spPr>
          <p:txBody>
            <a:bodyPr wrap="none" lIns="0" rIns="0" tIns="0" bIns="0" anchor="t">
              <a:spAutoFit/>
            </a:bodyPr>
            <a:lstStyle/>
            <a:p>
              <a:pPr algn="l">
                <a:spcBef>
                  <a:spcPts val="0"/>
                </a:spcBef>
                <a:spcAft>
                  <a:spcPts val="0"/>
                </a:spcAft>
                <a:lnSpc>
                  <a:spcPct val="100000"/>
                </a:lnSpc>
              </a:pPr>
              <a:r>
                <a:rPr sz="2160" b="0" i="1">
                  <a:solidFill>
                    <a:srgbClr val="CB5B20"/>
                  </a:solidFill>
                  <a:latin typeface="URW Gothic"/>
                </a:rPr>
                <a:t>f</a:t>
              </a:r>
            </a:p>
          </p:txBody>
        </p:sp>
        <p:sp>
          <p:nvSpPr>
            <p:cNvPr id="158" name="i"/>
            <p:cNvSpPr txBox="1"/>
            <p:nvPr/>
          </p:nvSpPr>
          <p:spPr>
            <a:xfrm>
              <a:off x="8828532" y="3172968"/>
              <a:ext cx="109728" cy="246888"/>
            </a:xfrm>
            <a:prstGeom prst="rect">
              <a:avLst/>
            </a:prstGeom>
            <a:noFill/>
            <a:effectLst/>
          </p:spPr>
          <p:txBody>
            <a:bodyPr wrap="none" lIns="0" rIns="0" tIns="0" bIns="0" anchor="t">
              <a:spAutoFit/>
            </a:bodyPr>
            <a:lstStyle/>
            <a:p>
              <a:pPr algn="l">
                <a:spcBef>
                  <a:spcPts val="0"/>
                </a:spcBef>
                <a:spcAft>
                  <a:spcPts val="0"/>
                </a:spcAft>
                <a:lnSpc>
                  <a:spcPct val="100000"/>
                </a:lnSpc>
              </a:pPr>
              <a:r>
                <a:rPr sz="1439" b="0" i="1">
                  <a:solidFill>
                    <a:srgbClr val="CB5B20"/>
                  </a:solidFill>
                  <a:latin typeface="URW Gothic"/>
                </a:rPr>
                <a:t>i</a:t>
              </a:r>
            </a:p>
          </p:txBody>
        </p:sp>
        <p:sp>
          <p:nvSpPr>
            <p:cNvPr id="159" name="s,q"/>
            <p:cNvSpPr txBox="1"/>
            <p:nvPr/>
          </p:nvSpPr>
          <p:spPr>
            <a:xfrm>
              <a:off x="8881110" y="3008376"/>
              <a:ext cx="341314" cy="271577"/>
            </a:xfrm>
            <a:prstGeom prst="rect">
              <a:avLst/>
            </a:prstGeom>
            <a:noFill/>
            <a:effectLst/>
          </p:spPr>
          <p:txBody>
            <a:bodyPr wrap="none" lIns="0" rIns="0" tIns="0" bIns="0" anchor="t">
              <a:spAutoFit/>
            </a:bodyPr>
            <a:lstStyle/>
            <a:p>
              <a:pPr algn="l">
                <a:spcBef>
                  <a:spcPts val="0"/>
                </a:spcBef>
                <a:spcAft>
                  <a:spcPts val="0"/>
                </a:spcAft>
                <a:lnSpc>
                  <a:spcPct val="100000"/>
                </a:lnSpc>
              </a:pPr>
              <a:r>
                <a:rPr sz="1584" b="0" i="1">
                  <a:solidFill>
                    <a:srgbClr val="CB5B20"/>
                  </a:solidFill>
                  <a:latin typeface="URW Gothic"/>
                </a:rPr>
                <a:t>s,q</a:t>
              </a:r>
            </a:p>
          </p:txBody>
        </p:sp>
        <p:sp>
          <p:nvSpPr>
            <p:cNvPr id="160" name="f"/>
            <p:cNvSpPr txBox="1"/>
            <p:nvPr/>
          </p:nvSpPr>
          <p:spPr>
            <a:xfrm>
              <a:off x="11834622" y="5458968"/>
              <a:ext cx="159291" cy="370332"/>
            </a:xfrm>
            <a:prstGeom prst="rect">
              <a:avLst/>
            </a:prstGeom>
            <a:noFill/>
            <a:effectLst/>
          </p:spPr>
          <p:txBody>
            <a:bodyPr wrap="none" lIns="0" rIns="0" tIns="0" bIns="0" anchor="t">
              <a:spAutoFit/>
            </a:bodyPr>
            <a:lstStyle/>
            <a:p>
              <a:pPr algn="l">
                <a:spcBef>
                  <a:spcPts val="0"/>
                </a:spcBef>
                <a:spcAft>
                  <a:spcPts val="0"/>
                </a:spcAft>
                <a:lnSpc>
                  <a:spcPct val="100000"/>
                </a:lnSpc>
              </a:pPr>
              <a:r>
                <a:rPr sz="2160" b="0" i="1">
                  <a:solidFill>
                    <a:srgbClr val="D45D26"/>
                  </a:solidFill>
                  <a:latin typeface="URW Gothic"/>
                </a:rPr>
                <a:t>f</a:t>
              </a:r>
            </a:p>
          </p:txBody>
        </p:sp>
        <p:sp>
          <p:nvSpPr>
            <p:cNvPr id="161" name="i"/>
            <p:cNvSpPr txBox="1"/>
            <p:nvPr/>
          </p:nvSpPr>
          <p:spPr>
            <a:xfrm>
              <a:off x="11937492" y="5641848"/>
              <a:ext cx="109728" cy="246888"/>
            </a:xfrm>
            <a:prstGeom prst="rect">
              <a:avLst/>
            </a:prstGeom>
            <a:noFill/>
            <a:effectLst/>
          </p:spPr>
          <p:txBody>
            <a:bodyPr wrap="none" lIns="0" rIns="0" tIns="0" bIns="0" anchor="t">
              <a:spAutoFit/>
            </a:bodyPr>
            <a:lstStyle/>
            <a:p>
              <a:pPr algn="l">
                <a:spcBef>
                  <a:spcPts val="0"/>
                </a:spcBef>
                <a:spcAft>
                  <a:spcPts val="0"/>
                </a:spcAft>
                <a:lnSpc>
                  <a:spcPct val="100000"/>
                </a:lnSpc>
              </a:pPr>
              <a:r>
                <a:rPr sz="1439" b="0" i="1">
                  <a:solidFill>
                    <a:srgbClr val="D45D26"/>
                  </a:solidFill>
                  <a:latin typeface="URW Gothic"/>
                </a:rPr>
                <a:t>i</a:t>
              </a:r>
            </a:p>
          </p:txBody>
        </p:sp>
        <p:sp>
          <p:nvSpPr>
            <p:cNvPr id="162" name="′s"/>
            <p:cNvSpPr txBox="1"/>
            <p:nvPr/>
          </p:nvSpPr>
          <p:spPr>
            <a:xfrm>
              <a:off x="11990070" y="5477256"/>
              <a:ext cx="210555" cy="271577"/>
            </a:xfrm>
            <a:prstGeom prst="rect">
              <a:avLst/>
            </a:prstGeom>
            <a:noFill/>
            <a:effectLst/>
          </p:spPr>
          <p:txBody>
            <a:bodyPr wrap="none" lIns="0" rIns="0" tIns="0" bIns="0" anchor="t">
              <a:spAutoFit/>
            </a:bodyPr>
            <a:lstStyle/>
            <a:p>
              <a:pPr algn="l">
                <a:spcBef>
                  <a:spcPts val="0"/>
                </a:spcBef>
                <a:spcAft>
                  <a:spcPts val="0"/>
                </a:spcAft>
                <a:lnSpc>
                  <a:spcPct val="100000"/>
                </a:lnSpc>
              </a:pPr>
              <a:r>
                <a:rPr sz="1584" b="0" i="1">
                  <a:solidFill>
                    <a:srgbClr val="D45D26"/>
                  </a:solidFill>
                  <a:latin typeface="URW Gothic"/>
                </a:rPr>
                <a:t>′s</a:t>
              </a:r>
            </a:p>
          </p:txBody>
        </p:sp>
        <p:sp>
          <p:nvSpPr>
            <p:cNvPr id="163" name="f"/>
            <p:cNvSpPr txBox="1"/>
            <p:nvPr/>
          </p:nvSpPr>
          <p:spPr>
            <a:xfrm>
              <a:off x="11834622" y="6245352"/>
              <a:ext cx="159291" cy="370332"/>
            </a:xfrm>
            <a:prstGeom prst="rect">
              <a:avLst/>
            </a:prstGeom>
            <a:noFill/>
            <a:effectLst/>
          </p:spPr>
          <p:txBody>
            <a:bodyPr wrap="none" lIns="0" rIns="0" tIns="0" bIns="0" anchor="t">
              <a:spAutoFit/>
            </a:bodyPr>
            <a:lstStyle/>
            <a:p>
              <a:pPr algn="l">
                <a:spcBef>
                  <a:spcPts val="0"/>
                </a:spcBef>
                <a:spcAft>
                  <a:spcPts val="0"/>
                </a:spcAft>
                <a:lnSpc>
                  <a:spcPct val="100000"/>
                </a:lnSpc>
              </a:pPr>
              <a:r>
                <a:rPr sz="2160" b="0" i="1">
                  <a:solidFill>
                    <a:srgbClr val="D45D26"/>
                  </a:solidFill>
                  <a:latin typeface="URW Gothic"/>
                </a:rPr>
                <a:t>f</a:t>
              </a:r>
            </a:p>
          </p:txBody>
        </p:sp>
        <p:sp>
          <p:nvSpPr>
            <p:cNvPr id="164" name="i"/>
            <p:cNvSpPr txBox="1"/>
            <p:nvPr/>
          </p:nvSpPr>
          <p:spPr>
            <a:xfrm>
              <a:off x="11937492" y="6428232"/>
              <a:ext cx="109728" cy="246888"/>
            </a:xfrm>
            <a:prstGeom prst="rect">
              <a:avLst/>
            </a:prstGeom>
            <a:noFill/>
            <a:effectLst/>
          </p:spPr>
          <p:txBody>
            <a:bodyPr wrap="none" lIns="0" rIns="0" tIns="0" bIns="0" anchor="t">
              <a:spAutoFit/>
            </a:bodyPr>
            <a:lstStyle/>
            <a:p>
              <a:pPr algn="l">
                <a:spcBef>
                  <a:spcPts val="0"/>
                </a:spcBef>
                <a:spcAft>
                  <a:spcPts val="0"/>
                </a:spcAft>
                <a:lnSpc>
                  <a:spcPct val="100000"/>
                </a:lnSpc>
              </a:pPr>
              <a:r>
                <a:rPr sz="1439" b="0" i="1">
                  <a:solidFill>
                    <a:srgbClr val="D45D26"/>
                  </a:solidFill>
                  <a:latin typeface="URW Gothic"/>
                </a:rPr>
                <a:t>i</a:t>
              </a:r>
            </a:p>
          </p:txBody>
        </p:sp>
        <p:sp>
          <p:nvSpPr>
            <p:cNvPr id="165" name="s"/>
            <p:cNvSpPr txBox="1"/>
            <p:nvPr/>
          </p:nvSpPr>
          <p:spPr>
            <a:xfrm>
              <a:off x="11990070" y="6263640"/>
              <a:ext cx="151205" cy="271577"/>
            </a:xfrm>
            <a:prstGeom prst="rect">
              <a:avLst/>
            </a:prstGeom>
            <a:noFill/>
            <a:effectLst/>
          </p:spPr>
          <p:txBody>
            <a:bodyPr wrap="none" lIns="0" rIns="0" tIns="0" bIns="0" anchor="t">
              <a:spAutoFit/>
            </a:bodyPr>
            <a:lstStyle/>
            <a:p>
              <a:pPr algn="l">
                <a:spcBef>
                  <a:spcPts val="0"/>
                </a:spcBef>
                <a:spcAft>
                  <a:spcPts val="0"/>
                </a:spcAft>
                <a:lnSpc>
                  <a:spcPct val="100000"/>
                </a:lnSpc>
              </a:pPr>
              <a:r>
                <a:rPr sz="1584" b="0" i="1">
                  <a:solidFill>
                    <a:srgbClr val="D45D26"/>
                  </a:solidFill>
                  <a:latin typeface="URW Gothic"/>
                </a:rPr>
                <a:t>s</a:t>
              </a:r>
            </a:p>
          </p:txBody>
        </p:sp>
        <p:sp>
          <p:nvSpPr>
            <p:cNvPr id="166" name="Speech waveform boundary"/>
            <p:cNvSpPr/>
            <p:nvPr/>
          </p:nvSpPr>
          <p:spPr>
            <a:xfrm>
              <a:off x="9107424" y="6922008"/>
              <a:ext cx="2898648" cy="795528"/>
            </a:xfrm>
            <a:prstGeom prst="rect">
              <a:avLst/>
            </a:prstGeom>
            <a:solidFill>
              <a:srgbClr val="F7C6AC"/>
            </a:solidFill>
            <a:ln w="25603">
              <a:solidFill>
                <a:srgbClr val="8D370E"/>
              </a:solidFill>
              <a:custDash>
                <a:ds d="857143" sp="321429"/>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Speech waveform bar 1"/>
            <p:cNvSpPr/>
            <p:nvPr/>
          </p:nvSpPr>
          <p:spPr>
            <a:xfrm>
              <a:off x="9235440" y="7223760"/>
              <a:ext cx="91" cy="164592"/>
            </a:xfrm>
            <a:custGeom>
              <a:avLst/>
              <a:gdLst/>
              <a:ahLst/>
              <a:cxnLst/>
              <a:rect l="0" t="0" r="r" b="b"/>
              <a:pathLst>
                <a:path w="10" h="18000" fill="none">
                  <a:moveTo>
                    <a:pt x="0" y="0"/>
                  </a:moveTo>
                  <a:lnTo>
                    <a:pt x="0" y="18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Speech waveform bar 2"/>
            <p:cNvSpPr/>
            <p:nvPr/>
          </p:nvSpPr>
          <p:spPr>
            <a:xfrm>
              <a:off x="9308592" y="7150608"/>
              <a:ext cx="91" cy="310896"/>
            </a:xfrm>
            <a:custGeom>
              <a:avLst/>
              <a:gdLst/>
              <a:ahLst/>
              <a:cxnLst/>
              <a:rect l="0" t="0" r="r" b="b"/>
              <a:pathLst>
                <a:path w="10" h="34000" fill="none">
                  <a:moveTo>
                    <a:pt x="0" y="0"/>
                  </a:moveTo>
                  <a:lnTo>
                    <a:pt x="0" y="34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Speech waveform bar 3"/>
            <p:cNvSpPr/>
            <p:nvPr/>
          </p:nvSpPr>
          <p:spPr>
            <a:xfrm>
              <a:off x="9377172" y="7187184"/>
              <a:ext cx="91" cy="237744"/>
            </a:xfrm>
            <a:custGeom>
              <a:avLst/>
              <a:gdLst/>
              <a:ahLst/>
              <a:cxnLst/>
              <a:rect l="0" t="0" r="r" b="b"/>
              <a:pathLst>
                <a:path w="10" h="26000" fill="none">
                  <a:moveTo>
                    <a:pt x="0" y="0"/>
                  </a:moveTo>
                  <a:lnTo>
                    <a:pt x="0" y="26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0" name="Speech waveform bar 4"/>
            <p:cNvSpPr/>
            <p:nvPr/>
          </p:nvSpPr>
          <p:spPr>
            <a:xfrm>
              <a:off x="9450324" y="7114032"/>
              <a:ext cx="91" cy="384048"/>
            </a:xfrm>
            <a:custGeom>
              <a:avLst/>
              <a:gdLst/>
              <a:ahLst/>
              <a:cxnLst/>
              <a:rect l="0" t="0" r="r" b="b"/>
              <a:pathLst>
                <a:path w="10" h="42000" fill="none">
                  <a:moveTo>
                    <a:pt x="0" y="0"/>
                  </a:moveTo>
                  <a:lnTo>
                    <a:pt x="0" y="42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1" name="Speech waveform bar 5"/>
            <p:cNvSpPr/>
            <p:nvPr/>
          </p:nvSpPr>
          <p:spPr>
            <a:xfrm>
              <a:off x="9518904" y="7040880"/>
              <a:ext cx="91" cy="530352"/>
            </a:xfrm>
            <a:custGeom>
              <a:avLst/>
              <a:gdLst/>
              <a:ahLst/>
              <a:cxnLst/>
              <a:rect l="0" t="0" r="r" b="b"/>
              <a:pathLst>
                <a:path w="10" h="58000" fill="none">
                  <a:moveTo>
                    <a:pt x="0" y="0"/>
                  </a:moveTo>
                  <a:lnTo>
                    <a:pt x="0" y="58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Speech waveform bar 6"/>
            <p:cNvSpPr/>
            <p:nvPr/>
          </p:nvSpPr>
          <p:spPr>
            <a:xfrm>
              <a:off x="9592056" y="7150608"/>
              <a:ext cx="91" cy="310896"/>
            </a:xfrm>
            <a:custGeom>
              <a:avLst/>
              <a:gdLst/>
              <a:ahLst/>
              <a:cxnLst/>
              <a:rect l="0" t="0" r="r" b="b"/>
              <a:pathLst>
                <a:path w="10" h="34000" fill="none">
                  <a:moveTo>
                    <a:pt x="0" y="0"/>
                  </a:moveTo>
                  <a:lnTo>
                    <a:pt x="0" y="34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3" name="Speech waveform bar 7"/>
            <p:cNvSpPr/>
            <p:nvPr/>
          </p:nvSpPr>
          <p:spPr>
            <a:xfrm>
              <a:off x="9660636" y="7223760"/>
              <a:ext cx="91" cy="164592"/>
            </a:xfrm>
            <a:custGeom>
              <a:avLst/>
              <a:gdLst/>
              <a:ahLst/>
              <a:cxnLst/>
              <a:rect l="0" t="0" r="r" b="b"/>
              <a:pathLst>
                <a:path w="10" h="18000" fill="none">
                  <a:moveTo>
                    <a:pt x="0" y="0"/>
                  </a:moveTo>
                  <a:lnTo>
                    <a:pt x="0" y="18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Speech waveform bar 8"/>
            <p:cNvSpPr/>
            <p:nvPr/>
          </p:nvSpPr>
          <p:spPr>
            <a:xfrm>
              <a:off x="9724644" y="7150608"/>
              <a:ext cx="91" cy="310896"/>
            </a:xfrm>
            <a:custGeom>
              <a:avLst/>
              <a:gdLst/>
              <a:ahLst/>
              <a:cxnLst/>
              <a:rect l="0" t="0" r="r" b="b"/>
              <a:pathLst>
                <a:path w="10" h="34000" fill="none">
                  <a:moveTo>
                    <a:pt x="0" y="0"/>
                  </a:moveTo>
                  <a:lnTo>
                    <a:pt x="0" y="34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5" name="Speech waveform bar 9"/>
            <p:cNvSpPr/>
            <p:nvPr/>
          </p:nvSpPr>
          <p:spPr>
            <a:xfrm>
              <a:off x="9793224" y="7187184"/>
              <a:ext cx="91" cy="237744"/>
            </a:xfrm>
            <a:custGeom>
              <a:avLst/>
              <a:gdLst/>
              <a:ahLst/>
              <a:cxnLst/>
              <a:rect l="0" t="0" r="r" b="b"/>
              <a:pathLst>
                <a:path w="10" h="26000" fill="none">
                  <a:moveTo>
                    <a:pt x="0" y="0"/>
                  </a:moveTo>
                  <a:lnTo>
                    <a:pt x="0" y="26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Speech waveform bar 10"/>
            <p:cNvSpPr/>
            <p:nvPr/>
          </p:nvSpPr>
          <p:spPr>
            <a:xfrm>
              <a:off x="9866376" y="7114032"/>
              <a:ext cx="91" cy="384048"/>
            </a:xfrm>
            <a:custGeom>
              <a:avLst/>
              <a:gdLst/>
              <a:ahLst/>
              <a:cxnLst/>
              <a:rect l="0" t="0" r="r" b="b"/>
              <a:pathLst>
                <a:path w="10" h="42000" fill="none">
                  <a:moveTo>
                    <a:pt x="0" y="0"/>
                  </a:moveTo>
                  <a:lnTo>
                    <a:pt x="0" y="42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7" name="Speech waveform bar 11"/>
            <p:cNvSpPr/>
            <p:nvPr/>
          </p:nvSpPr>
          <p:spPr>
            <a:xfrm>
              <a:off x="9939528" y="7040880"/>
              <a:ext cx="91" cy="530352"/>
            </a:xfrm>
            <a:custGeom>
              <a:avLst/>
              <a:gdLst/>
              <a:ahLst/>
              <a:cxnLst/>
              <a:rect l="0" t="0" r="r" b="b"/>
              <a:pathLst>
                <a:path w="10" h="58000" fill="none">
                  <a:moveTo>
                    <a:pt x="0" y="0"/>
                  </a:moveTo>
                  <a:lnTo>
                    <a:pt x="0" y="58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Speech waveform bar 12"/>
            <p:cNvSpPr/>
            <p:nvPr/>
          </p:nvSpPr>
          <p:spPr>
            <a:xfrm>
              <a:off x="10012680" y="7150608"/>
              <a:ext cx="91" cy="310896"/>
            </a:xfrm>
            <a:custGeom>
              <a:avLst/>
              <a:gdLst/>
              <a:ahLst/>
              <a:cxnLst/>
              <a:rect l="0" t="0" r="r" b="b"/>
              <a:pathLst>
                <a:path w="10" h="34000" fill="none">
                  <a:moveTo>
                    <a:pt x="0" y="0"/>
                  </a:moveTo>
                  <a:lnTo>
                    <a:pt x="0" y="34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9" name="Speech waveform bar 13"/>
            <p:cNvSpPr/>
            <p:nvPr/>
          </p:nvSpPr>
          <p:spPr>
            <a:xfrm>
              <a:off x="10081260" y="7232904"/>
              <a:ext cx="91" cy="164592"/>
            </a:xfrm>
            <a:custGeom>
              <a:avLst/>
              <a:gdLst/>
              <a:ahLst/>
              <a:cxnLst/>
              <a:rect l="0" t="0" r="r" b="b"/>
              <a:pathLst>
                <a:path w="10" h="18000" fill="none">
                  <a:moveTo>
                    <a:pt x="0" y="0"/>
                  </a:moveTo>
                  <a:lnTo>
                    <a:pt x="0" y="18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Speech waveform bar 14"/>
            <p:cNvSpPr/>
            <p:nvPr/>
          </p:nvSpPr>
          <p:spPr>
            <a:xfrm>
              <a:off x="10154412" y="7159752"/>
              <a:ext cx="91" cy="310896"/>
            </a:xfrm>
            <a:custGeom>
              <a:avLst/>
              <a:gdLst/>
              <a:ahLst/>
              <a:cxnLst/>
              <a:rect l="0" t="0" r="r" b="b"/>
              <a:pathLst>
                <a:path w="10" h="34000" fill="none">
                  <a:moveTo>
                    <a:pt x="0" y="0"/>
                  </a:moveTo>
                  <a:lnTo>
                    <a:pt x="0" y="34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1" name="Speech waveform bar 15"/>
            <p:cNvSpPr/>
            <p:nvPr/>
          </p:nvSpPr>
          <p:spPr>
            <a:xfrm>
              <a:off x="10227564" y="7196328"/>
              <a:ext cx="91" cy="228600"/>
            </a:xfrm>
            <a:custGeom>
              <a:avLst/>
              <a:gdLst/>
              <a:ahLst/>
              <a:cxnLst/>
              <a:rect l="0" t="0" r="r" b="b"/>
              <a:pathLst>
                <a:path w="10" h="25000" fill="none">
                  <a:moveTo>
                    <a:pt x="0" y="0"/>
                  </a:moveTo>
                  <a:lnTo>
                    <a:pt x="0" y="25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2" name="Speech waveform bar 16"/>
            <p:cNvSpPr/>
            <p:nvPr/>
          </p:nvSpPr>
          <p:spPr>
            <a:xfrm>
              <a:off x="10305288" y="7123176"/>
              <a:ext cx="91" cy="384048"/>
            </a:xfrm>
            <a:custGeom>
              <a:avLst/>
              <a:gdLst/>
              <a:ahLst/>
              <a:cxnLst/>
              <a:rect l="0" t="0" r="r" b="b"/>
              <a:pathLst>
                <a:path w="10" h="42000" fill="none">
                  <a:moveTo>
                    <a:pt x="0" y="0"/>
                  </a:moveTo>
                  <a:lnTo>
                    <a:pt x="0" y="42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3" name="Speech waveform bar 17"/>
            <p:cNvSpPr/>
            <p:nvPr/>
          </p:nvSpPr>
          <p:spPr>
            <a:xfrm>
              <a:off x="10383012" y="7050024"/>
              <a:ext cx="91" cy="530352"/>
            </a:xfrm>
            <a:custGeom>
              <a:avLst/>
              <a:gdLst/>
              <a:ahLst/>
              <a:cxnLst/>
              <a:rect l="0" t="0" r="r" b="b"/>
              <a:pathLst>
                <a:path w="10" h="58000" fill="none">
                  <a:moveTo>
                    <a:pt x="0" y="0"/>
                  </a:moveTo>
                  <a:lnTo>
                    <a:pt x="0" y="58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Speech waveform bar 18"/>
            <p:cNvSpPr/>
            <p:nvPr/>
          </p:nvSpPr>
          <p:spPr>
            <a:xfrm>
              <a:off x="10456164" y="7159752"/>
              <a:ext cx="91" cy="310896"/>
            </a:xfrm>
            <a:custGeom>
              <a:avLst/>
              <a:gdLst/>
              <a:ahLst/>
              <a:cxnLst/>
              <a:rect l="0" t="0" r="r" b="b"/>
              <a:pathLst>
                <a:path w="10" h="34000" fill="none">
                  <a:moveTo>
                    <a:pt x="0" y="0"/>
                  </a:moveTo>
                  <a:lnTo>
                    <a:pt x="0" y="34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5" name="Speech waveform bar 19"/>
            <p:cNvSpPr/>
            <p:nvPr/>
          </p:nvSpPr>
          <p:spPr>
            <a:xfrm>
              <a:off x="10529316" y="7232904"/>
              <a:ext cx="91" cy="155448"/>
            </a:xfrm>
            <a:custGeom>
              <a:avLst/>
              <a:gdLst/>
              <a:ahLst/>
              <a:cxnLst/>
              <a:rect l="0" t="0" r="r" b="b"/>
              <a:pathLst>
                <a:path w="10" h="17000" fill="none">
                  <a:moveTo>
                    <a:pt x="0" y="0"/>
                  </a:moveTo>
                  <a:lnTo>
                    <a:pt x="0" y="17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6" name="Speech waveform bar 20"/>
            <p:cNvSpPr/>
            <p:nvPr/>
          </p:nvSpPr>
          <p:spPr>
            <a:xfrm>
              <a:off x="10602468" y="7159752"/>
              <a:ext cx="91" cy="301752"/>
            </a:xfrm>
            <a:custGeom>
              <a:avLst/>
              <a:gdLst/>
              <a:ahLst/>
              <a:cxnLst/>
              <a:rect l="0" t="0" r="r" b="b"/>
              <a:pathLst>
                <a:path w="10" h="33000" fill="none">
                  <a:moveTo>
                    <a:pt x="0" y="0"/>
                  </a:moveTo>
                  <a:lnTo>
                    <a:pt x="0" y="33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7" name="Speech waveform bar 21"/>
            <p:cNvSpPr/>
            <p:nvPr/>
          </p:nvSpPr>
          <p:spPr>
            <a:xfrm>
              <a:off x="10680192" y="7196328"/>
              <a:ext cx="91" cy="228600"/>
            </a:xfrm>
            <a:custGeom>
              <a:avLst/>
              <a:gdLst/>
              <a:ahLst/>
              <a:cxnLst/>
              <a:rect l="0" t="0" r="r" b="b"/>
              <a:pathLst>
                <a:path w="10" h="25000" fill="none">
                  <a:moveTo>
                    <a:pt x="0" y="0"/>
                  </a:moveTo>
                  <a:lnTo>
                    <a:pt x="0" y="25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8" name="Speech waveform bar 22"/>
            <p:cNvSpPr/>
            <p:nvPr/>
          </p:nvSpPr>
          <p:spPr>
            <a:xfrm>
              <a:off x="10757916" y="7123176"/>
              <a:ext cx="91" cy="374904"/>
            </a:xfrm>
            <a:custGeom>
              <a:avLst/>
              <a:gdLst/>
              <a:ahLst/>
              <a:cxnLst/>
              <a:rect l="0" t="0" r="r" b="b"/>
              <a:pathLst>
                <a:path w="10" h="41000" fill="none">
                  <a:moveTo>
                    <a:pt x="0" y="0"/>
                  </a:moveTo>
                  <a:lnTo>
                    <a:pt x="0" y="41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9" name="Speech waveform bar 23"/>
            <p:cNvSpPr/>
            <p:nvPr/>
          </p:nvSpPr>
          <p:spPr>
            <a:xfrm>
              <a:off x="10835640" y="7050024"/>
              <a:ext cx="91" cy="521208"/>
            </a:xfrm>
            <a:custGeom>
              <a:avLst/>
              <a:gdLst/>
              <a:ahLst/>
              <a:cxnLst/>
              <a:rect l="0" t="0" r="r" b="b"/>
              <a:pathLst>
                <a:path w="10" h="57000" fill="none">
                  <a:moveTo>
                    <a:pt x="0" y="0"/>
                  </a:moveTo>
                  <a:lnTo>
                    <a:pt x="0" y="57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0" name="Speech waveform bar 24"/>
            <p:cNvSpPr/>
            <p:nvPr/>
          </p:nvSpPr>
          <p:spPr>
            <a:xfrm>
              <a:off x="10913364" y="7159752"/>
              <a:ext cx="91" cy="301752"/>
            </a:xfrm>
            <a:custGeom>
              <a:avLst/>
              <a:gdLst/>
              <a:ahLst/>
              <a:cxnLst/>
              <a:rect l="0" t="0" r="r" b="b"/>
              <a:pathLst>
                <a:path w="10" h="33000" fill="none">
                  <a:moveTo>
                    <a:pt x="0" y="0"/>
                  </a:moveTo>
                  <a:lnTo>
                    <a:pt x="0" y="33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1" name="Speech waveform bar 25"/>
            <p:cNvSpPr/>
            <p:nvPr/>
          </p:nvSpPr>
          <p:spPr>
            <a:xfrm>
              <a:off x="10986516" y="7251192"/>
              <a:ext cx="91" cy="155448"/>
            </a:xfrm>
            <a:custGeom>
              <a:avLst/>
              <a:gdLst/>
              <a:ahLst/>
              <a:cxnLst/>
              <a:rect l="0" t="0" r="r" b="b"/>
              <a:pathLst>
                <a:path w="10" h="17000" fill="none">
                  <a:moveTo>
                    <a:pt x="0" y="0"/>
                  </a:moveTo>
                  <a:lnTo>
                    <a:pt x="0" y="17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2" name="Speech waveform bar 26"/>
            <p:cNvSpPr/>
            <p:nvPr/>
          </p:nvSpPr>
          <p:spPr>
            <a:xfrm>
              <a:off x="11059668" y="7168896"/>
              <a:ext cx="91" cy="310896"/>
            </a:xfrm>
            <a:custGeom>
              <a:avLst/>
              <a:gdLst/>
              <a:ahLst/>
              <a:cxnLst/>
              <a:rect l="0" t="0" r="r" b="b"/>
              <a:pathLst>
                <a:path w="10" h="34000" fill="none">
                  <a:moveTo>
                    <a:pt x="0" y="0"/>
                  </a:moveTo>
                  <a:lnTo>
                    <a:pt x="0" y="34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3" name="Speech waveform bar 27"/>
            <p:cNvSpPr/>
            <p:nvPr/>
          </p:nvSpPr>
          <p:spPr>
            <a:xfrm>
              <a:off x="11137392" y="7205472"/>
              <a:ext cx="91" cy="237744"/>
            </a:xfrm>
            <a:custGeom>
              <a:avLst/>
              <a:gdLst/>
              <a:ahLst/>
              <a:cxnLst/>
              <a:rect l="0" t="0" r="r" b="b"/>
              <a:pathLst>
                <a:path w="10" h="26000" fill="none">
                  <a:moveTo>
                    <a:pt x="0" y="0"/>
                  </a:moveTo>
                  <a:lnTo>
                    <a:pt x="0" y="26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Speech waveform bar 28"/>
            <p:cNvSpPr/>
            <p:nvPr/>
          </p:nvSpPr>
          <p:spPr>
            <a:xfrm>
              <a:off x="11210544" y="7132320"/>
              <a:ext cx="91" cy="384048"/>
            </a:xfrm>
            <a:custGeom>
              <a:avLst/>
              <a:gdLst/>
              <a:ahLst/>
              <a:cxnLst/>
              <a:rect l="0" t="0" r="r" b="b"/>
              <a:pathLst>
                <a:path w="10" h="42000" fill="none">
                  <a:moveTo>
                    <a:pt x="0" y="0"/>
                  </a:moveTo>
                  <a:lnTo>
                    <a:pt x="0" y="42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5" name="Speech waveform bar 29"/>
            <p:cNvSpPr/>
            <p:nvPr/>
          </p:nvSpPr>
          <p:spPr>
            <a:xfrm>
              <a:off x="11288268" y="7059168"/>
              <a:ext cx="91" cy="530352"/>
            </a:xfrm>
            <a:custGeom>
              <a:avLst/>
              <a:gdLst/>
              <a:ahLst/>
              <a:cxnLst/>
              <a:rect l="0" t="0" r="r" b="b"/>
              <a:pathLst>
                <a:path w="10" h="58000" fill="none">
                  <a:moveTo>
                    <a:pt x="0" y="0"/>
                  </a:moveTo>
                  <a:lnTo>
                    <a:pt x="0" y="58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6" name="Speech waveform bar 30"/>
            <p:cNvSpPr/>
            <p:nvPr/>
          </p:nvSpPr>
          <p:spPr>
            <a:xfrm>
              <a:off x="11365992" y="7168896"/>
              <a:ext cx="91" cy="310896"/>
            </a:xfrm>
            <a:custGeom>
              <a:avLst/>
              <a:gdLst/>
              <a:ahLst/>
              <a:cxnLst/>
              <a:rect l="0" t="0" r="r" b="b"/>
              <a:pathLst>
                <a:path w="10" h="34000" fill="none">
                  <a:moveTo>
                    <a:pt x="0" y="0"/>
                  </a:moveTo>
                  <a:lnTo>
                    <a:pt x="0" y="34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7" name="Speech waveform bar 31"/>
            <p:cNvSpPr/>
            <p:nvPr/>
          </p:nvSpPr>
          <p:spPr>
            <a:xfrm>
              <a:off x="11434572" y="7260336"/>
              <a:ext cx="91" cy="155448"/>
            </a:xfrm>
            <a:custGeom>
              <a:avLst/>
              <a:gdLst/>
              <a:ahLst/>
              <a:cxnLst/>
              <a:rect l="0" t="0" r="r" b="b"/>
              <a:pathLst>
                <a:path w="10" h="17000" fill="none">
                  <a:moveTo>
                    <a:pt x="0" y="0"/>
                  </a:moveTo>
                  <a:lnTo>
                    <a:pt x="0" y="17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Speech waveform bar 32"/>
            <p:cNvSpPr/>
            <p:nvPr/>
          </p:nvSpPr>
          <p:spPr>
            <a:xfrm>
              <a:off x="11512296" y="7187184"/>
              <a:ext cx="91" cy="301752"/>
            </a:xfrm>
            <a:custGeom>
              <a:avLst/>
              <a:gdLst/>
              <a:ahLst/>
              <a:cxnLst/>
              <a:rect l="0" t="0" r="r" b="b"/>
              <a:pathLst>
                <a:path w="10" h="33000" fill="none">
                  <a:moveTo>
                    <a:pt x="0" y="0"/>
                  </a:moveTo>
                  <a:lnTo>
                    <a:pt x="0" y="33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Speech waveform bar 33"/>
            <p:cNvSpPr/>
            <p:nvPr/>
          </p:nvSpPr>
          <p:spPr>
            <a:xfrm>
              <a:off x="11590020" y="7223760"/>
              <a:ext cx="91" cy="228600"/>
            </a:xfrm>
            <a:custGeom>
              <a:avLst/>
              <a:gdLst/>
              <a:ahLst/>
              <a:cxnLst/>
              <a:rect l="0" t="0" r="r" b="b"/>
              <a:pathLst>
                <a:path w="10" h="25000" fill="none">
                  <a:moveTo>
                    <a:pt x="0" y="0"/>
                  </a:moveTo>
                  <a:lnTo>
                    <a:pt x="0" y="25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0" name="Speech waveform bar 34"/>
            <p:cNvSpPr/>
            <p:nvPr/>
          </p:nvSpPr>
          <p:spPr>
            <a:xfrm>
              <a:off x="11663172" y="7150608"/>
              <a:ext cx="91" cy="374904"/>
            </a:xfrm>
            <a:custGeom>
              <a:avLst/>
              <a:gdLst/>
              <a:ahLst/>
              <a:cxnLst/>
              <a:rect l="0" t="0" r="r" b="b"/>
              <a:pathLst>
                <a:path w="10" h="41000" fill="none">
                  <a:moveTo>
                    <a:pt x="0" y="0"/>
                  </a:moveTo>
                  <a:lnTo>
                    <a:pt x="0" y="41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Speech waveform bar 35"/>
            <p:cNvSpPr/>
            <p:nvPr/>
          </p:nvSpPr>
          <p:spPr>
            <a:xfrm>
              <a:off x="11740896" y="7077456"/>
              <a:ext cx="91" cy="521208"/>
            </a:xfrm>
            <a:custGeom>
              <a:avLst/>
              <a:gdLst/>
              <a:ahLst/>
              <a:cxnLst/>
              <a:rect l="0" t="0" r="r" b="b"/>
              <a:pathLst>
                <a:path w="10" h="57000" fill="none">
                  <a:moveTo>
                    <a:pt x="0" y="0"/>
                  </a:moveTo>
                  <a:lnTo>
                    <a:pt x="0" y="57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Speech waveform bar 36"/>
            <p:cNvSpPr/>
            <p:nvPr/>
          </p:nvSpPr>
          <p:spPr>
            <a:xfrm>
              <a:off x="11818620" y="7187184"/>
              <a:ext cx="91" cy="301752"/>
            </a:xfrm>
            <a:custGeom>
              <a:avLst/>
              <a:gdLst/>
              <a:ahLst/>
              <a:cxnLst/>
              <a:rect l="0" t="0" r="r" b="b"/>
              <a:pathLst>
                <a:path w="10" h="33000" fill="none">
                  <a:moveTo>
                    <a:pt x="0" y="0"/>
                  </a:moveTo>
                  <a:lnTo>
                    <a:pt x="0" y="33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Speech waveform bar 37"/>
            <p:cNvSpPr/>
            <p:nvPr/>
          </p:nvSpPr>
          <p:spPr>
            <a:xfrm>
              <a:off x="11896344" y="7296912"/>
              <a:ext cx="91" cy="82296"/>
            </a:xfrm>
            <a:custGeom>
              <a:avLst/>
              <a:gdLst/>
              <a:ahLst/>
              <a:cxnLst/>
              <a:rect l="0" t="0" r="r" b="b"/>
              <a:pathLst>
                <a:path w="10" h="9000" fill="none">
                  <a:moveTo>
                    <a:pt x="0" y="0"/>
                  </a:moveTo>
                  <a:lnTo>
                    <a:pt x="0" y="9000"/>
                  </a:lnTo>
                </a:path>
              </a:pathLst>
            </a:custGeom>
            <a:noFill/>
            <a:ln w="44805" cap="rnd">
              <a:solidFill>
                <a:srgbClr val="96461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04" name="Group 203"/>
          <p:cNvGrpSpPr/>
          <p:nvPr/>
        </p:nvGrpSpPr>
        <p:grpSpPr>
          <a:xfrm>
            <a:off x="2185416" y="1344168"/>
            <a:ext cx="7187184" cy="1874520"/>
            <a:chOff x="2185416" y="1344168"/>
            <a:chExt cx="7187184" cy="1874520"/>
          </a:xfrm>
        </p:grpSpPr>
        <p:sp>
          <p:nvSpPr>
            <p:cNvPr id="205" name="Point-wise addition ring"/>
            <p:cNvSpPr/>
            <p:nvPr/>
          </p:nvSpPr>
          <p:spPr>
            <a:xfrm>
              <a:off x="6327648" y="2816352"/>
              <a:ext cx="402336" cy="402336"/>
            </a:xfrm>
            <a:prstGeom prst="ellipse">
              <a:avLst/>
            </a:prstGeom>
            <a:solidFill>
              <a:srgbClr val="FFFFFF"/>
            </a:solidFill>
            <a:ln w="2743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6" name="Addition horizontal"/>
            <p:cNvCxnSpPr/>
            <p:nvPr/>
          </p:nvCxnSpPr>
          <p:spPr>
            <a:xfrm>
              <a:off x="6327648" y="3017520"/>
              <a:ext cx="402336" cy="0"/>
            </a:xfrm>
            <a:prstGeom prst="line">
              <a:avLst/>
            </a:prstGeom>
            <a:ln w="27432">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7" name="Addition vertical"/>
            <p:cNvCxnSpPr/>
            <p:nvPr/>
          </p:nvCxnSpPr>
          <p:spPr>
            <a:xfrm>
              <a:off x="6528816" y="2816352"/>
              <a:ext cx="0" cy="402336"/>
            </a:xfrm>
            <a:prstGeom prst="line">
              <a:avLst/>
            </a:prstGeom>
            <a:ln w="27432">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8" name="Fusion to concatenation"/>
            <p:cNvCxnSpPr/>
            <p:nvPr/>
          </p:nvCxnSpPr>
          <p:spPr>
            <a:xfrm flipV="1">
              <a:off x="6528816" y="2633472"/>
              <a:ext cx="0" cy="173736"/>
            </a:xfrm>
            <a:prstGeom prst="line">
              <a:avLst/>
            </a:prstGeom>
            <a:ln w="24688">
              <a:solidFill>
                <a:srgbClr val="8ED34A"/>
              </a:solidFill>
            </a:ln>
            <a:effectLst/>
          </p:spPr>
          <p:style>
            <a:lnRef idx="2">
              <a:schemeClr val="accent1"/>
            </a:lnRef>
            <a:fillRef idx="0">
              <a:schemeClr val="accent1"/>
            </a:fillRef>
            <a:effectRef idx="0">
              <a:schemeClr val="accent1"/>
            </a:effectRef>
            <a:fontRef idx="minor">
              <a:schemeClr val="tx1"/>
            </a:fontRef>
          </p:style>
        </p:cxnSp>
        <p:sp>
          <p:nvSpPr>
            <p:cNvPr id="209" name="Fusion to concatenation arrow"/>
            <p:cNvSpPr/>
            <p:nvPr/>
          </p:nvSpPr>
          <p:spPr>
            <a:xfrm>
              <a:off x="6477244" y="2633472"/>
              <a:ext cx="103144" cy="109728"/>
            </a:xfrm>
            <a:custGeom>
              <a:avLst/>
              <a:gdLst/>
              <a:ahLst/>
              <a:cxnLst/>
              <a:rect l="0" t="0" r="r" b="b"/>
              <a:pathLst>
                <a:path w="11280" h="12000">
                  <a:moveTo>
                    <a:pt x="5640" y="0"/>
                  </a:moveTo>
                  <a:lnTo>
                    <a:pt x="0" y="12000"/>
                  </a:lnTo>
                  <a:lnTo>
                    <a:pt x="11280" y="12000"/>
                  </a:lnTo>
                  <a:close/>
                </a:path>
              </a:pathLst>
            </a:custGeom>
            <a:solidFill>
              <a:srgbClr val="8ED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0" name="Multimodal token background"/>
            <p:cNvSpPr/>
            <p:nvPr/>
          </p:nvSpPr>
          <p:spPr>
            <a:xfrm>
              <a:off x="4187952" y="2286000"/>
              <a:ext cx="5184648" cy="356616"/>
            </a:xfrm>
            <a:prstGeom prst="roundRect">
              <a:avLst>
                <a:gd name="adj" fmla="val 20512"/>
              </a:avLst>
            </a:prstGeom>
            <a:solidFill>
              <a:srgbClr val="E9ED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211" name="Group 210"/>
            <p:cNvGrpSpPr/>
            <p:nvPr/>
          </p:nvGrpSpPr>
          <p:grpSpPr>
            <a:xfrm>
              <a:off x="2185416" y="2322576"/>
              <a:ext cx="2006151" cy="296266"/>
              <a:chOff x="2185416" y="2322576"/>
              <a:chExt cx="2006151" cy="296266"/>
            </a:xfrm>
          </p:grpSpPr>
          <p:sp>
            <p:nvSpPr>
              <p:cNvPr id="212" name="Multimodal "/>
              <p:cNvSpPr txBox="1"/>
              <p:nvPr/>
            </p:nvSpPr>
            <p:spPr>
              <a:xfrm>
                <a:off x="2185416" y="2322576"/>
                <a:ext cx="1327366"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176B8D"/>
                    </a:solidFill>
                    <a:latin typeface="URW Gothic"/>
                  </a:rPr>
                  <a:t>Multimodal </a:t>
                </a:r>
              </a:p>
            </p:txBody>
          </p:sp>
          <p:sp>
            <p:nvSpPr>
              <p:cNvPr id="213" name="tokens"/>
              <p:cNvSpPr txBox="1"/>
              <p:nvPr/>
            </p:nvSpPr>
            <p:spPr>
              <a:xfrm>
                <a:off x="3439630" y="2322576"/>
                <a:ext cx="751937"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C4551B"/>
                    </a:solidFill>
                    <a:latin typeface="URW Gothic"/>
                  </a:rPr>
                  <a:t>tokens</a:t>
                </a:r>
              </a:p>
            </p:txBody>
          </p:sp>
        </p:grpSp>
        <p:sp>
          <p:nvSpPr>
            <p:cNvPr id="214" name="Concat("/>
            <p:cNvSpPr txBox="1"/>
            <p:nvPr/>
          </p:nvSpPr>
          <p:spPr>
            <a:xfrm>
              <a:off x="4267962" y="2322576"/>
              <a:ext cx="1049545"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a:solidFill>
                    <a:srgbClr val="00516B"/>
                  </a:solidFill>
                  <a:latin typeface="URW Gothic"/>
                </a:rPr>
                <a:t>Concat(</a:t>
              </a:r>
            </a:p>
          </p:txBody>
        </p:sp>
        <p:sp>
          <p:nvSpPr>
            <p:cNvPr id="215" name="Wv"/>
            <p:cNvSpPr txBox="1"/>
            <p:nvPr/>
          </p:nvSpPr>
          <p:spPr>
            <a:xfrm>
              <a:off x="5237226" y="2322576"/>
              <a:ext cx="433097"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a:solidFill>
                    <a:srgbClr val="193F66"/>
                  </a:solidFill>
                  <a:latin typeface="URW Gothic"/>
                </a:rPr>
                <a:t>Wv</a:t>
              </a:r>
            </a:p>
          </p:txBody>
        </p:sp>
        <p:sp>
          <p:nvSpPr>
            <p:cNvPr id="216" name="*"/>
            <p:cNvSpPr txBox="1"/>
            <p:nvPr/>
          </p:nvSpPr>
          <p:spPr>
            <a:xfrm>
              <a:off x="5601843" y="2322576"/>
              <a:ext cx="178079" cy="333299"/>
            </a:xfrm>
            <a:prstGeom prst="rect">
              <a:avLst/>
            </a:prstGeom>
            <a:noFill/>
            <a:effectLst/>
          </p:spPr>
          <p:txBody>
            <a:bodyPr wrap="none" lIns="0" rIns="0" tIns="0" bIns="0" anchor="t">
              <a:spAutoFit/>
            </a:bodyPr>
            <a:lstStyle/>
            <a:p>
              <a:pPr algn="l">
                <a:spcBef>
                  <a:spcPts val="0"/>
                </a:spcBef>
                <a:spcAft>
                  <a:spcPts val="0"/>
                </a:spcAft>
                <a:lnSpc>
                  <a:spcPct val="100000"/>
                </a:lnSpc>
              </a:pPr>
              <a:r>
                <a:rPr sz="1943" b="0" i="0">
                  <a:solidFill>
                    <a:srgbClr val="193F66"/>
                  </a:solidFill>
                  <a:latin typeface="URW Gothic"/>
                </a:rPr>
                <a:t>*</a:t>
              </a:r>
            </a:p>
          </p:txBody>
        </p:sp>
        <p:sp>
          <p:nvSpPr>
            <p:cNvPr id="217" name="Fused vision token 1"/>
            <p:cNvSpPr/>
            <p:nvPr/>
          </p:nvSpPr>
          <p:spPr>
            <a:xfrm>
              <a:off x="5788152" y="2350008"/>
              <a:ext cx="283464" cy="256032"/>
            </a:xfrm>
            <a:prstGeom prst="roundRect">
              <a:avLst>
                <a:gd name="adj" fmla="val 17857"/>
              </a:avLst>
            </a:prstGeom>
            <a:solidFill>
              <a:srgbClr val="A3C9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8" name="Fused vision token 2"/>
            <p:cNvSpPr/>
            <p:nvPr/>
          </p:nvSpPr>
          <p:spPr>
            <a:xfrm>
              <a:off x="6108192" y="2350008"/>
              <a:ext cx="283464" cy="256032"/>
            </a:xfrm>
            <a:prstGeom prst="roundRect">
              <a:avLst>
                <a:gd name="adj" fmla="val 17857"/>
              </a:avLst>
            </a:prstGeom>
            <a:solidFill>
              <a:srgbClr val="A3C9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9" name="Wa"/>
            <p:cNvSpPr txBox="1"/>
            <p:nvPr/>
          </p:nvSpPr>
          <p:spPr>
            <a:xfrm>
              <a:off x="6433947" y="2313432"/>
              <a:ext cx="471873" cy="333299"/>
            </a:xfrm>
            <a:prstGeom prst="rect">
              <a:avLst/>
            </a:prstGeom>
            <a:noFill/>
            <a:effectLst/>
          </p:spPr>
          <p:txBody>
            <a:bodyPr wrap="none" lIns="0" rIns="0" tIns="0" bIns="0" anchor="t">
              <a:spAutoFit/>
            </a:bodyPr>
            <a:lstStyle/>
            <a:p>
              <a:pPr algn="l">
                <a:spcBef>
                  <a:spcPts val="0"/>
                </a:spcBef>
                <a:spcAft>
                  <a:spcPts val="0"/>
                </a:spcAft>
                <a:lnSpc>
                  <a:spcPct val="100000"/>
                </a:lnSpc>
              </a:pPr>
              <a:r>
                <a:rPr sz="1943" b="0" i="0">
                  <a:solidFill>
                    <a:srgbClr val="285614"/>
                  </a:solidFill>
                  <a:latin typeface="URW Gothic"/>
                </a:rPr>
                <a:t>Wa</a:t>
              </a:r>
            </a:p>
          </p:txBody>
        </p:sp>
        <p:sp>
          <p:nvSpPr>
            <p:cNvPr id="220" name="*"/>
            <p:cNvSpPr txBox="1"/>
            <p:nvPr/>
          </p:nvSpPr>
          <p:spPr>
            <a:xfrm>
              <a:off x="6827139" y="2322576"/>
              <a:ext cx="178079" cy="333299"/>
            </a:xfrm>
            <a:prstGeom prst="rect">
              <a:avLst/>
            </a:prstGeom>
            <a:noFill/>
            <a:effectLst/>
          </p:spPr>
          <p:txBody>
            <a:bodyPr wrap="none" lIns="0" rIns="0" tIns="0" bIns="0" anchor="t">
              <a:spAutoFit/>
            </a:bodyPr>
            <a:lstStyle/>
            <a:p>
              <a:pPr algn="l">
                <a:spcBef>
                  <a:spcPts val="0"/>
                </a:spcBef>
                <a:spcAft>
                  <a:spcPts val="0"/>
                </a:spcAft>
                <a:lnSpc>
                  <a:spcPct val="100000"/>
                </a:lnSpc>
              </a:pPr>
              <a:r>
                <a:rPr sz="1943" b="0" i="0">
                  <a:solidFill>
                    <a:srgbClr val="285614"/>
                  </a:solidFill>
                  <a:latin typeface="URW Gothic"/>
                </a:rPr>
                <a:t>*</a:t>
              </a:r>
            </a:p>
          </p:txBody>
        </p:sp>
        <p:sp>
          <p:nvSpPr>
            <p:cNvPr id="221" name="Fused audio token 1"/>
            <p:cNvSpPr/>
            <p:nvPr/>
          </p:nvSpPr>
          <p:spPr>
            <a:xfrm>
              <a:off x="7031736" y="2350008"/>
              <a:ext cx="283464" cy="256032"/>
            </a:xfrm>
            <a:prstGeom prst="roundRect">
              <a:avLst>
                <a:gd name="adj" fmla="val 17857"/>
              </a:avLst>
            </a:prstGeom>
            <a:solidFill>
              <a:srgbClr val="92D04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2" name="Fused audio token 2"/>
            <p:cNvSpPr/>
            <p:nvPr/>
          </p:nvSpPr>
          <p:spPr>
            <a:xfrm>
              <a:off x="7351776" y="2350008"/>
              <a:ext cx="283464" cy="256032"/>
            </a:xfrm>
            <a:prstGeom prst="roundRect">
              <a:avLst>
                <a:gd name="adj" fmla="val 17857"/>
              </a:avLst>
            </a:prstGeom>
            <a:solidFill>
              <a:srgbClr val="92D04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3" name="Ws"/>
            <p:cNvSpPr txBox="1"/>
            <p:nvPr/>
          </p:nvSpPr>
          <p:spPr>
            <a:xfrm>
              <a:off x="7659243" y="2313432"/>
              <a:ext cx="405965" cy="333299"/>
            </a:xfrm>
            <a:prstGeom prst="rect">
              <a:avLst/>
            </a:prstGeom>
            <a:noFill/>
            <a:effectLst/>
          </p:spPr>
          <p:txBody>
            <a:bodyPr wrap="none" lIns="0" rIns="0" tIns="0" bIns="0" anchor="t">
              <a:spAutoFit/>
            </a:bodyPr>
            <a:lstStyle/>
            <a:p>
              <a:pPr algn="l">
                <a:spcBef>
                  <a:spcPts val="0"/>
                </a:spcBef>
                <a:spcAft>
                  <a:spcPts val="0"/>
                </a:spcAft>
                <a:lnSpc>
                  <a:spcPct val="100000"/>
                </a:lnSpc>
              </a:pPr>
              <a:r>
                <a:rPr sz="1943" b="0" i="0">
                  <a:solidFill>
                    <a:srgbClr val="8D370E"/>
                  </a:solidFill>
                  <a:latin typeface="URW Gothic"/>
                </a:rPr>
                <a:t>Ws</a:t>
              </a:r>
            </a:p>
          </p:txBody>
        </p:sp>
        <p:sp>
          <p:nvSpPr>
            <p:cNvPr id="224" name="*"/>
            <p:cNvSpPr txBox="1"/>
            <p:nvPr/>
          </p:nvSpPr>
          <p:spPr>
            <a:xfrm>
              <a:off x="7997571" y="2322576"/>
              <a:ext cx="178079" cy="333299"/>
            </a:xfrm>
            <a:prstGeom prst="rect">
              <a:avLst/>
            </a:prstGeom>
            <a:noFill/>
            <a:effectLst/>
          </p:spPr>
          <p:txBody>
            <a:bodyPr wrap="none" lIns="0" rIns="0" tIns="0" bIns="0" anchor="t">
              <a:spAutoFit/>
            </a:bodyPr>
            <a:lstStyle/>
            <a:p>
              <a:pPr algn="l">
                <a:spcBef>
                  <a:spcPts val="0"/>
                </a:spcBef>
                <a:spcAft>
                  <a:spcPts val="0"/>
                </a:spcAft>
                <a:lnSpc>
                  <a:spcPct val="100000"/>
                </a:lnSpc>
              </a:pPr>
              <a:r>
                <a:rPr sz="1943" b="0" i="0">
                  <a:solidFill>
                    <a:srgbClr val="8D370E"/>
                  </a:solidFill>
                  <a:latin typeface="URW Gothic"/>
                </a:rPr>
                <a:t>*</a:t>
              </a:r>
            </a:p>
          </p:txBody>
        </p:sp>
        <p:sp>
          <p:nvSpPr>
            <p:cNvPr id="225" name="Fused speech token 1"/>
            <p:cNvSpPr/>
            <p:nvPr/>
          </p:nvSpPr>
          <p:spPr>
            <a:xfrm>
              <a:off x="8202168" y="2350008"/>
              <a:ext cx="283464" cy="256032"/>
            </a:xfrm>
            <a:prstGeom prst="roundRect">
              <a:avLst>
                <a:gd name="adj" fmla="val 17857"/>
              </a:avLst>
            </a:prstGeom>
            <a:solidFill>
              <a:srgbClr val="F7C6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6" name="Fused speech token 2"/>
            <p:cNvSpPr/>
            <p:nvPr/>
          </p:nvSpPr>
          <p:spPr>
            <a:xfrm>
              <a:off x="8522208" y="2350008"/>
              <a:ext cx="283464" cy="256032"/>
            </a:xfrm>
            <a:prstGeom prst="roundRect">
              <a:avLst>
                <a:gd name="adj" fmla="val 17857"/>
              </a:avLst>
            </a:prstGeom>
            <a:solidFill>
              <a:srgbClr val="F7C6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7" name=")"/>
            <p:cNvSpPr txBox="1"/>
            <p:nvPr/>
          </p:nvSpPr>
          <p:spPr>
            <a:xfrm>
              <a:off x="8820531" y="2313432"/>
              <a:ext cx="164249" cy="333299"/>
            </a:xfrm>
            <a:prstGeom prst="rect">
              <a:avLst/>
            </a:prstGeom>
            <a:noFill/>
            <a:effectLst/>
          </p:spPr>
          <p:txBody>
            <a:bodyPr wrap="none" lIns="0" rIns="0" tIns="0" bIns="0" anchor="t">
              <a:spAutoFit/>
            </a:bodyPr>
            <a:lstStyle/>
            <a:p>
              <a:pPr algn="l">
                <a:spcBef>
                  <a:spcPts val="0"/>
                </a:spcBef>
                <a:spcAft>
                  <a:spcPts val="0"/>
                </a:spcAft>
                <a:lnSpc>
                  <a:spcPct val="100000"/>
                </a:lnSpc>
              </a:pPr>
              <a:r>
                <a:rPr sz="1943" b="0" i="0">
                  <a:solidFill>
                    <a:srgbClr val="00516B"/>
                  </a:solidFill>
                  <a:latin typeface="URW Gothic"/>
                </a:rPr>
                <a:t>)</a:t>
              </a:r>
            </a:p>
          </p:txBody>
        </p:sp>
        <p:sp>
          <p:nvSpPr>
            <p:cNvPr id="228" name="Time token"/>
            <p:cNvSpPr/>
            <p:nvPr/>
          </p:nvSpPr>
          <p:spPr>
            <a:xfrm>
              <a:off x="8979408" y="2322576"/>
              <a:ext cx="283464" cy="283464"/>
            </a:xfrm>
            <a:prstGeom prst="roundRect">
              <a:avLst>
                <a:gd name="adj" fmla="val 16129"/>
              </a:avLst>
            </a:prstGeom>
            <a:solidFill>
              <a:srgbClr val="E4BB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9" name="Concat to MLP"/>
            <p:cNvCxnSpPr/>
            <p:nvPr/>
          </p:nvCxnSpPr>
          <p:spPr>
            <a:xfrm flipV="1">
              <a:off x="6519672" y="2075688"/>
              <a:ext cx="0" cy="210312"/>
            </a:xfrm>
            <a:prstGeom prst="line">
              <a:avLst/>
            </a:prstGeom>
            <a:ln w="27432">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230" name="Concat to MLP arrow"/>
            <p:cNvSpPr/>
            <p:nvPr/>
          </p:nvSpPr>
          <p:spPr>
            <a:xfrm>
              <a:off x="6468100" y="2075688"/>
              <a:ext cx="103144" cy="109728"/>
            </a:xfrm>
            <a:custGeom>
              <a:avLst/>
              <a:gdLst/>
              <a:ahLst/>
              <a:cxnLst/>
              <a:rect l="0" t="0" r="r" b="b"/>
              <a:pathLst>
                <a:path w="11280" h="12000">
                  <a:moveTo>
                    <a:pt x="5640" y="0"/>
                  </a:moveTo>
                  <a:lnTo>
                    <a:pt x="0" y="12000"/>
                  </a:lnTo>
                  <a:lnTo>
                    <a:pt x="11280" y="120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1" name="Compress &amp; Two-layer MLP box"/>
            <p:cNvSpPr/>
            <p:nvPr/>
          </p:nvSpPr>
          <p:spPr>
            <a:xfrm>
              <a:off x="4690872" y="1600200"/>
              <a:ext cx="3822192" cy="475488"/>
            </a:xfrm>
            <a:prstGeom prst="roundRect">
              <a:avLst>
                <a:gd name="adj" fmla="val 4807"/>
              </a:avLst>
            </a:prstGeom>
            <a:solidFill>
              <a:srgbClr val="FAE3D5"/>
            </a:solidFill>
            <a:ln w="25603">
              <a:solidFill>
                <a:srgbClr val="8D370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2" name="Compress &amp; Two-layer MLP"/>
            <p:cNvSpPr txBox="1"/>
            <p:nvPr/>
          </p:nvSpPr>
          <p:spPr>
            <a:xfrm>
              <a:off x="4782312" y="1679570"/>
              <a:ext cx="3639312"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8D370E"/>
                  </a:solidFill>
                  <a:latin typeface="URW Gothic"/>
                </a:rPr>
                <a:t>Compress &amp; Two-layer MLP</a:t>
              </a:r>
            </a:p>
          </p:txBody>
        </p:sp>
        <p:cxnSp>
          <p:nvCxnSpPr>
            <p:cNvPr id="233" name="MLP to language model"/>
            <p:cNvCxnSpPr/>
            <p:nvPr/>
          </p:nvCxnSpPr>
          <p:spPr>
            <a:xfrm flipV="1">
              <a:off x="6519672" y="1344168"/>
              <a:ext cx="0" cy="246888"/>
            </a:xfrm>
            <a:prstGeom prst="line">
              <a:avLst/>
            </a:prstGeom>
            <a:ln w="27432">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234" name="MLP to language model arrow"/>
            <p:cNvSpPr/>
            <p:nvPr/>
          </p:nvSpPr>
          <p:spPr>
            <a:xfrm>
              <a:off x="6468100" y="1344168"/>
              <a:ext cx="103144" cy="109728"/>
            </a:xfrm>
            <a:custGeom>
              <a:avLst/>
              <a:gdLst/>
              <a:ahLst/>
              <a:cxnLst/>
              <a:rect l="0" t="0" r="r" b="b"/>
              <a:pathLst>
                <a:path w="11280" h="12000">
                  <a:moveTo>
                    <a:pt x="5640" y="0"/>
                  </a:moveTo>
                  <a:lnTo>
                    <a:pt x="0" y="12000"/>
                  </a:lnTo>
                  <a:lnTo>
                    <a:pt x="11280" y="120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35" name="Group 234"/>
          <p:cNvGrpSpPr/>
          <p:nvPr/>
        </p:nvGrpSpPr>
        <p:grpSpPr>
          <a:xfrm>
            <a:off x="1106424" y="45720"/>
            <a:ext cx="10863072" cy="1293876"/>
            <a:chOff x="1106424" y="45720"/>
            <a:chExt cx="10863072" cy="1293876"/>
          </a:xfrm>
        </p:grpSpPr>
        <p:sp>
          <p:nvSpPr>
            <p:cNvPr id="236" name="Large language model box"/>
            <p:cNvSpPr/>
            <p:nvPr/>
          </p:nvSpPr>
          <p:spPr>
            <a:xfrm>
              <a:off x="1106424" y="717804"/>
              <a:ext cx="10821924" cy="621792"/>
            </a:xfrm>
            <a:prstGeom prst="roundRect">
              <a:avLst>
                <a:gd name="adj" fmla="val 5882"/>
              </a:avLst>
            </a:prstGeom>
            <a:solidFill>
              <a:srgbClr val="FAE3D5"/>
            </a:solidFill>
            <a:ln w="27432">
              <a:solidFill>
                <a:srgbClr val="8D370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7" name="Large Language Model"/>
            <p:cNvSpPr txBox="1"/>
            <p:nvPr/>
          </p:nvSpPr>
          <p:spPr>
            <a:xfrm>
              <a:off x="4817516" y="859536"/>
              <a:ext cx="3422599" cy="395021"/>
            </a:xfrm>
            <a:prstGeom prst="rect">
              <a:avLst/>
            </a:prstGeom>
            <a:noFill/>
            <a:effectLst/>
          </p:spPr>
          <p:txBody>
            <a:bodyPr wrap="none" lIns="0" rIns="0" tIns="0" bIns="0" anchor="t">
              <a:spAutoFit/>
            </a:bodyPr>
            <a:lstStyle/>
            <a:p>
              <a:pPr algn="ctr">
                <a:spcBef>
                  <a:spcPts val="0"/>
                </a:spcBef>
                <a:spcAft>
                  <a:spcPts val="0"/>
                </a:spcAft>
                <a:lnSpc>
                  <a:spcPct val="100000"/>
                </a:lnSpc>
              </a:pPr>
              <a:r>
                <a:rPr sz="2304" b="0" i="0">
                  <a:solidFill>
                    <a:srgbClr val="8D370E"/>
                  </a:solidFill>
                  <a:latin typeface="URW Gothic"/>
                </a:rPr>
                <a:t>Large Language Model</a:t>
              </a:r>
            </a:p>
          </p:txBody>
        </p:sp>
        <p:sp>
          <p:nvSpPr>
            <p:cNvPr id="238" name="LLM stage 3 trainable"/>
            <p:cNvSpPr/>
            <p:nvPr/>
          </p:nvSpPr>
          <p:spPr>
            <a:xfrm>
              <a:off x="1161075" y="768096"/>
              <a:ext cx="357254" cy="530352"/>
            </a:xfrm>
            <a:custGeom>
              <a:avLst/>
              <a:gdLst/>
              <a:ahLst/>
              <a:cxnLst/>
              <a:rect l="0" t="0" r="r" b="b"/>
              <a:pathLst>
                <a:path w="39070" h="58000">
                  <a:moveTo>
                    <a:pt x="19535" y="0"/>
                  </a:moveTo>
                  <a:cubicBezTo>
                    <a:pt x="19779" y="-625"/>
                    <a:pt x="21244" y="-250"/>
                    <a:pt x="21488" y="0"/>
                  </a:cubicBezTo>
                  <a:cubicBezTo>
                    <a:pt x="21733" y="250"/>
                    <a:pt x="21244" y="1625"/>
                    <a:pt x="21488" y="2000"/>
                  </a:cubicBezTo>
                  <a:cubicBezTo>
                    <a:pt x="21733" y="2375"/>
                    <a:pt x="23198" y="2625"/>
                    <a:pt x="23442" y="3000"/>
                  </a:cubicBezTo>
                  <a:cubicBezTo>
                    <a:pt x="23686" y="3375"/>
                    <a:pt x="23320" y="4750"/>
                    <a:pt x="23442" y="5000"/>
                  </a:cubicBezTo>
                  <a:cubicBezTo>
                    <a:pt x="23564" y="5250"/>
                    <a:pt x="24297" y="4750"/>
                    <a:pt x="24419" y="5000"/>
                  </a:cubicBezTo>
                  <a:cubicBezTo>
                    <a:pt x="24541" y="5250"/>
                    <a:pt x="24297" y="6750"/>
                    <a:pt x="24419" y="7000"/>
                  </a:cubicBezTo>
                  <a:cubicBezTo>
                    <a:pt x="24541" y="7250"/>
                    <a:pt x="25273" y="6625"/>
                    <a:pt x="25395" y="7000"/>
                  </a:cubicBezTo>
                  <a:cubicBezTo>
                    <a:pt x="25517" y="7375"/>
                    <a:pt x="25273" y="9625"/>
                    <a:pt x="25395" y="10000"/>
                  </a:cubicBezTo>
                  <a:cubicBezTo>
                    <a:pt x="25517" y="10375"/>
                    <a:pt x="26250" y="9375"/>
                    <a:pt x="26372" y="10000"/>
                  </a:cubicBezTo>
                  <a:cubicBezTo>
                    <a:pt x="26494" y="10625"/>
                    <a:pt x="26250" y="14375"/>
                    <a:pt x="26372" y="15000"/>
                  </a:cubicBezTo>
                  <a:cubicBezTo>
                    <a:pt x="26494" y="15625"/>
                    <a:pt x="27227" y="14375"/>
                    <a:pt x="27349" y="15000"/>
                  </a:cubicBezTo>
                  <a:cubicBezTo>
                    <a:pt x="27471" y="15625"/>
                    <a:pt x="27227" y="19375"/>
                    <a:pt x="27349" y="20000"/>
                  </a:cubicBezTo>
                  <a:cubicBezTo>
                    <a:pt x="27471" y="20625"/>
                    <a:pt x="28203" y="19000"/>
                    <a:pt x="28326" y="20000"/>
                  </a:cubicBezTo>
                  <a:cubicBezTo>
                    <a:pt x="28448" y="21000"/>
                    <a:pt x="28081" y="27000"/>
                    <a:pt x="28326" y="28000"/>
                  </a:cubicBezTo>
                  <a:cubicBezTo>
                    <a:pt x="28570" y="29000"/>
                    <a:pt x="30035" y="28125"/>
                    <a:pt x="30279" y="28000"/>
                  </a:cubicBezTo>
                  <a:cubicBezTo>
                    <a:pt x="30523" y="27875"/>
                    <a:pt x="29913" y="27375"/>
                    <a:pt x="30279" y="27000"/>
                  </a:cubicBezTo>
                  <a:cubicBezTo>
                    <a:pt x="30645" y="26625"/>
                    <a:pt x="32721" y="26125"/>
                    <a:pt x="33209" y="25000"/>
                  </a:cubicBezTo>
                  <a:cubicBezTo>
                    <a:pt x="33698" y="23875"/>
                    <a:pt x="33942" y="18875"/>
                    <a:pt x="34186" y="18000"/>
                  </a:cubicBezTo>
                  <a:cubicBezTo>
                    <a:pt x="34430" y="17125"/>
                    <a:pt x="35041" y="17750"/>
                    <a:pt x="35163" y="18000"/>
                  </a:cubicBezTo>
                  <a:cubicBezTo>
                    <a:pt x="35285" y="18250"/>
                    <a:pt x="35041" y="19750"/>
                    <a:pt x="35163" y="20000"/>
                  </a:cubicBezTo>
                  <a:cubicBezTo>
                    <a:pt x="35285" y="20250"/>
                    <a:pt x="36017" y="19750"/>
                    <a:pt x="36140" y="20000"/>
                  </a:cubicBezTo>
                  <a:cubicBezTo>
                    <a:pt x="36262" y="20250"/>
                    <a:pt x="36017" y="21750"/>
                    <a:pt x="36140" y="22000"/>
                  </a:cubicBezTo>
                  <a:cubicBezTo>
                    <a:pt x="36262" y="22250"/>
                    <a:pt x="36994" y="21750"/>
                    <a:pt x="37116" y="22000"/>
                  </a:cubicBezTo>
                  <a:cubicBezTo>
                    <a:pt x="37238" y="22250"/>
                    <a:pt x="36994" y="23750"/>
                    <a:pt x="37116" y="24000"/>
                  </a:cubicBezTo>
                  <a:cubicBezTo>
                    <a:pt x="37238" y="24250"/>
                    <a:pt x="37971" y="23500"/>
                    <a:pt x="38093" y="24000"/>
                  </a:cubicBezTo>
                  <a:cubicBezTo>
                    <a:pt x="38215" y="24500"/>
                    <a:pt x="37971" y="27500"/>
                    <a:pt x="38093" y="28000"/>
                  </a:cubicBezTo>
                  <a:cubicBezTo>
                    <a:pt x="38215" y="28500"/>
                    <a:pt x="38948" y="26000"/>
                    <a:pt x="39070" y="28000"/>
                  </a:cubicBezTo>
                  <a:cubicBezTo>
                    <a:pt x="39192" y="30000"/>
                    <a:pt x="39192" y="42000"/>
                    <a:pt x="39070" y="44000"/>
                  </a:cubicBezTo>
                  <a:cubicBezTo>
                    <a:pt x="38948" y="46000"/>
                    <a:pt x="38215" y="43500"/>
                    <a:pt x="38093" y="44000"/>
                  </a:cubicBezTo>
                  <a:cubicBezTo>
                    <a:pt x="37971" y="44500"/>
                    <a:pt x="38215" y="47500"/>
                    <a:pt x="38093" y="48000"/>
                  </a:cubicBezTo>
                  <a:cubicBezTo>
                    <a:pt x="37971" y="48500"/>
                    <a:pt x="37238" y="47750"/>
                    <a:pt x="37116" y="48000"/>
                  </a:cubicBezTo>
                  <a:cubicBezTo>
                    <a:pt x="36994" y="48250"/>
                    <a:pt x="37238" y="49750"/>
                    <a:pt x="37116" y="50000"/>
                  </a:cubicBezTo>
                  <a:cubicBezTo>
                    <a:pt x="36994" y="50250"/>
                    <a:pt x="36384" y="49500"/>
                    <a:pt x="36140" y="50000"/>
                  </a:cubicBezTo>
                  <a:cubicBezTo>
                    <a:pt x="35895" y="50500"/>
                    <a:pt x="35407" y="53500"/>
                    <a:pt x="35163" y="54000"/>
                  </a:cubicBezTo>
                  <a:cubicBezTo>
                    <a:pt x="34919" y="54500"/>
                    <a:pt x="34674" y="53500"/>
                    <a:pt x="34186" y="54000"/>
                  </a:cubicBezTo>
                  <a:cubicBezTo>
                    <a:pt x="33698" y="54500"/>
                    <a:pt x="32233" y="57500"/>
                    <a:pt x="31256" y="58000"/>
                  </a:cubicBezTo>
                  <a:cubicBezTo>
                    <a:pt x="30279" y="58500"/>
                    <a:pt x="26983" y="58375"/>
                    <a:pt x="26372" y="58000"/>
                  </a:cubicBezTo>
                  <a:cubicBezTo>
                    <a:pt x="25762" y="57625"/>
                    <a:pt x="26250" y="55375"/>
                    <a:pt x="26372" y="55000"/>
                  </a:cubicBezTo>
                  <a:cubicBezTo>
                    <a:pt x="26494" y="54625"/>
                    <a:pt x="27227" y="55375"/>
                    <a:pt x="27349" y="55000"/>
                  </a:cubicBezTo>
                  <a:cubicBezTo>
                    <a:pt x="27471" y="54625"/>
                    <a:pt x="27227" y="52375"/>
                    <a:pt x="27349" y="52000"/>
                  </a:cubicBezTo>
                  <a:cubicBezTo>
                    <a:pt x="27471" y="51625"/>
                    <a:pt x="28203" y="53250"/>
                    <a:pt x="28326" y="52000"/>
                  </a:cubicBezTo>
                  <a:cubicBezTo>
                    <a:pt x="28448" y="50750"/>
                    <a:pt x="28448" y="43250"/>
                    <a:pt x="28326" y="42000"/>
                  </a:cubicBezTo>
                  <a:cubicBezTo>
                    <a:pt x="28203" y="40750"/>
                    <a:pt x="27471" y="42375"/>
                    <a:pt x="27349" y="42000"/>
                  </a:cubicBezTo>
                  <a:cubicBezTo>
                    <a:pt x="27227" y="41625"/>
                    <a:pt x="27471" y="39375"/>
                    <a:pt x="27349" y="39000"/>
                  </a:cubicBezTo>
                  <a:cubicBezTo>
                    <a:pt x="27227" y="38625"/>
                    <a:pt x="26494" y="39250"/>
                    <a:pt x="26372" y="39000"/>
                  </a:cubicBezTo>
                  <a:cubicBezTo>
                    <a:pt x="26250" y="38750"/>
                    <a:pt x="26494" y="37250"/>
                    <a:pt x="26372" y="37000"/>
                  </a:cubicBezTo>
                  <a:cubicBezTo>
                    <a:pt x="26250" y="36750"/>
                    <a:pt x="25517" y="37250"/>
                    <a:pt x="25395" y="37000"/>
                  </a:cubicBezTo>
                  <a:cubicBezTo>
                    <a:pt x="25273" y="36750"/>
                    <a:pt x="25517" y="35250"/>
                    <a:pt x="25395" y="35000"/>
                  </a:cubicBezTo>
                  <a:cubicBezTo>
                    <a:pt x="25273" y="34750"/>
                    <a:pt x="24541" y="35375"/>
                    <a:pt x="24419" y="35000"/>
                  </a:cubicBezTo>
                  <a:cubicBezTo>
                    <a:pt x="24297" y="34625"/>
                    <a:pt x="24541" y="32375"/>
                    <a:pt x="24419" y="32000"/>
                  </a:cubicBezTo>
                  <a:cubicBezTo>
                    <a:pt x="24297" y="31625"/>
                    <a:pt x="23564" y="32625"/>
                    <a:pt x="23442" y="32000"/>
                  </a:cubicBezTo>
                  <a:cubicBezTo>
                    <a:pt x="23320" y="31375"/>
                    <a:pt x="23564" y="27625"/>
                    <a:pt x="23442" y="27000"/>
                  </a:cubicBezTo>
                  <a:cubicBezTo>
                    <a:pt x="23320" y="26375"/>
                    <a:pt x="22587" y="27125"/>
                    <a:pt x="22465" y="27000"/>
                  </a:cubicBezTo>
                  <a:cubicBezTo>
                    <a:pt x="22343" y="26875"/>
                    <a:pt x="22709" y="26000"/>
                    <a:pt x="22465" y="26000"/>
                  </a:cubicBezTo>
                  <a:cubicBezTo>
                    <a:pt x="22221" y="26000"/>
                    <a:pt x="20756" y="26500"/>
                    <a:pt x="20512" y="27000"/>
                  </a:cubicBezTo>
                  <a:cubicBezTo>
                    <a:pt x="20267" y="27500"/>
                    <a:pt x="20634" y="29625"/>
                    <a:pt x="20512" y="30000"/>
                  </a:cubicBezTo>
                  <a:cubicBezTo>
                    <a:pt x="20390" y="30375"/>
                    <a:pt x="19657" y="29625"/>
                    <a:pt x="19535" y="30000"/>
                  </a:cubicBezTo>
                  <a:cubicBezTo>
                    <a:pt x="19413" y="30375"/>
                    <a:pt x="19657" y="32625"/>
                    <a:pt x="19535" y="33000"/>
                  </a:cubicBezTo>
                  <a:cubicBezTo>
                    <a:pt x="19413" y="33375"/>
                    <a:pt x="18680" y="32500"/>
                    <a:pt x="18558" y="33000"/>
                  </a:cubicBezTo>
                  <a:cubicBezTo>
                    <a:pt x="18436" y="33500"/>
                    <a:pt x="18680" y="36500"/>
                    <a:pt x="18558" y="37000"/>
                  </a:cubicBezTo>
                  <a:cubicBezTo>
                    <a:pt x="18436" y="37500"/>
                    <a:pt x="17703" y="36125"/>
                    <a:pt x="17581" y="37000"/>
                  </a:cubicBezTo>
                  <a:cubicBezTo>
                    <a:pt x="17459" y="37875"/>
                    <a:pt x="17703" y="43125"/>
                    <a:pt x="17581" y="44000"/>
                  </a:cubicBezTo>
                  <a:cubicBezTo>
                    <a:pt x="17459" y="44875"/>
                    <a:pt x="16727" y="43750"/>
                    <a:pt x="16605" y="44000"/>
                  </a:cubicBezTo>
                  <a:cubicBezTo>
                    <a:pt x="16483" y="44250"/>
                    <a:pt x="16727" y="45750"/>
                    <a:pt x="16605" y="46000"/>
                  </a:cubicBezTo>
                  <a:cubicBezTo>
                    <a:pt x="16483" y="46250"/>
                    <a:pt x="15750" y="46250"/>
                    <a:pt x="15628" y="46000"/>
                  </a:cubicBezTo>
                  <a:cubicBezTo>
                    <a:pt x="15506" y="45750"/>
                    <a:pt x="15750" y="44250"/>
                    <a:pt x="15628" y="44000"/>
                  </a:cubicBezTo>
                  <a:cubicBezTo>
                    <a:pt x="15506" y="43750"/>
                    <a:pt x="14773" y="44125"/>
                    <a:pt x="14651" y="44000"/>
                  </a:cubicBezTo>
                  <a:cubicBezTo>
                    <a:pt x="14529" y="43875"/>
                    <a:pt x="14773" y="43125"/>
                    <a:pt x="14651" y="43000"/>
                  </a:cubicBezTo>
                  <a:cubicBezTo>
                    <a:pt x="14529" y="42875"/>
                    <a:pt x="13797" y="43250"/>
                    <a:pt x="13674" y="43000"/>
                  </a:cubicBezTo>
                  <a:cubicBezTo>
                    <a:pt x="13552" y="42750"/>
                    <a:pt x="13797" y="41250"/>
                    <a:pt x="13674" y="41000"/>
                  </a:cubicBezTo>
                  <a:cubicBezTo>
                    <a:pt x="13552" y="40750"/>
                    <a:pt x="12820" y="41375"/>
                    <a:pt x="12698" y="41000"/>
                  </a:cubicBezTo>
                  <a:cubicBezTo>
                    <a:pt x="12576" y="40625"/>
                    <a:pt x="12820" y="38375"/>
                    <a:pt x="12698" y="38000"/>
                  </a:cubicBezTo>
                  <a:cubicBezTo>
                    <a:pt x="12576" y="37625"/>
                    <a:pt x="11843" y="38625"/>
                    <a:pt x="11721" y="38000"/>
                  </a:cubicBezTo>
                  <a:cubicBezTo>
                    <a:pt x="11599" y="37375"/>
                    <a:pt x="11843" y="33625"/>
                    <a:pt x="11721" y="33000"/>
                  </a:cubicBezTo>
                  <a:cubicBezTo>
                    <a:pt x="11599" y="32375"/>
                    <a:pt x="10866" y="32750"/>
                    <a:pt x="10744" y="33000"/>
                  </a:cubicBezTo>
                  <a:cubicBezTo>
                    <a:pt x="10622" y="33250"/>
                    <a:pt x="10866" y="34750"/>
                    <a:pt x="10744" y="35000"/>
                  </a:cubicBezTo>
                  <a:cubicBezTo>
                    <a:pt x="10622" y="35250"/>
                    <a:pt x="9890" y="34625"/>
                    <a:pt x="9767" y="35000"/>
                  </a:cubicBezTo>
                  <a:cubicBezTo>
                    <a:pt x="9645" y="35375"/>
                    <a:pt x="9890" y="37625"/>
                    <a:pt x="9767" y="38000"/>
                  </a:cubicBezTo>
                  <a:cubicBezTo>
                    <a:pt x="9645" y="38375"/>
                    <a:pt x="8913" y="36250"/>
                    <a:pt x="8791" y="38000"/>
                  </a:cubicBezTo>
                  <a:cubicBezTo>
                    <a:pt x="8669" y="39750"/>
                    <a:pt x="8669" y="50250"/>
                    <a:pt x="8791" y="52000"/>
                  </a:cubicBezTo>
                  <a:cubicBezTo>
                    <a:pt x="8913" y="53750"/>
                    <a:pt x="9523" y="51250"/>
                    <a:pt x="9767" y="52000"/>
                  </a:cubicBezTo>
                  <a:cubicBezTo>
                    <a:pt x="10012" y="52750"/>
                    <a:pt x="10988" y="57250"/>
                    <a:pt x="10744" y="58000"/>
                  </a:cubicBezTo>
                  <a:cubicBezTo>
                    <a:pt x="10500" y="58750"/>
                    <a:pt x="8180" y="58125"/>
                    <a:pt x="7814" y="58000"/>
                  </a:cubicBezTo>
                  <a:cubicBezTo>
                    <a:pt x="7448" y="57875"/>
                    <a:pt x="8302" y="57500"/>
                    <a:pt x="7814" y="57000"/>
                  </a:cubicBezTo>
                  <a:cubicBezTo>
                    <a:pt x="7326" y="56500"/>
                    <a:pt x="4395" y="54625"/>
                    <a:pt x="3907" y="54000"/>
                  </a:cubicBezTo>
                  <a:cubicBezTo>
                    <a:pt x="3419" y="53375"/>
                    <a:pt x="4029" y="52250"/>
                    <a:pt x="3907" y="52000"/>
                  </a:cubicBezTo>
                  <a:cubicBezTo>
                    <a:pt x="3785" y="51750"/>
                    <a:pt x="3052" y="52250"/>
                    <a:pt x="2930" y="52000"/>
                  </a:cubicBezTo>
                  <a:cubicBezTo>
                    <a:pt x="2808" y="51750"/>
                    <a:pt x="3052" y="50250"/>
                    <a:pt x="2930" y="50000"/>
                  </a:cubicBezTo>
                  <a:cubicBezTo>
                    <a:pt x="2808" y="49750"/>
                    <a:pt x="2076" y="50375"/>
                    <a:pt x="1953" y="50000"/>
                  </a:cubicBezTo>
                  <a:cubicBezTo>
                    <a:pt x="1831" y="49625"/>
                    <a:pt x="2076" y="47375"/>
                    <a:pt x="1953" y="47000"/>
                  </a:cubicBezTo>
                  <a:cubicBezTo>
                    <a:pt x="1831" y="46625"/>
                    <a:pt x="1099" y="47375"/>
                    <a:pt x="977" y="47000"/>
                  </a:cubicBezTo>
                  <a:cubicBezTo>
                    <a:pt x="855" y="46625"/>
                    <a:pt x="1099" y="44375"/>
                    <a:pt x="977" y="44000"/>
                  </a:cubicBezTo>
                  <a:cubicBezTo>
                    <a:pt x="855" y="43625"/>
                    <a:pt x="122" y="45250"/>
                    <a:pt x="0" y="44000"/>
                  </a:cubicBezTo>
                  <a:cubicBezTo>
                    <a:pt x="-122" y="42750"/>
                    <a:pt x="-122" y="35250"/>
                    <a:pt x="0" y="34000"/>
                  </a:cubicBezTo>
                  <a:cubicBezTo>
                    <a:pt x="122" y="32750"/>
                    <a:pt x="855" y="34750"/>
                    <a:pt x="977" y="34000"/>
                  </a:cubicBezTo>
                  <a:cubicBezTo>
                    <a:pt x="1099" y="33250"/>
                    <a:pt x="855" y="28750"/>
                    <a:pt x="977" y="28000"/>
                  </a:cubicBezTo>
                  <a:cubicBezTo>
                    <a:pt x="1099" y="27250"/>
                    <a:pt x="1831" y="28500"/>
                    <a:pt x="1953" y="28000"/>
                  </a:cubicBezTo>
                  <a:cubicBezTo>
                    <a:pt x="2076" y="27500"/>
                    <a:pt x="1831" y="24500"/>
                    <a:pt x="1953" y="24000"/>
                  </a:cubicBezTo>
                  <a:cubicBezTo>
                    <a:pt x="2076" y="23500"/>
                    <a:pt x="2686" y="24875"/>
                    <a:pt x="2930" y="24000"/>
                  </a:cubicBezTo>
                  <a:cubicBezTo>
                    <a:pt x="3174" y="23125"/>
                    <a:pt x="3663" y="17875"/>
                    <a:pt x="3907" y="17000"/>
                  </a:cubicBezTo>
                  <a:cubicBezTo>
                    <a:pt x="4151" y="16125"/>
                    <a:pt x="4640" y="18250"/>
                    <a:pt x="4884" y="17000"/>
                  </a:cubicBezTo>
                  <a:cubicBezTo>
                    <a:pt x="5128" y="15750"/>
                    <a:pt x="5494" y="8250"/>
                    <a:pt x="5860" y="7000"/>
                  </a:cubicBezTo>
                  <a:cubicBezTo>
                    <a:pt x="6227" y="5750"/>
                    <a:pt x="7570" y="6875"/>
                    <a:pt x="7814" y="7000"/>
                  </a:cubicBezTo>
                  <a:cubicBezTo>
                    <a:pt x="8058" y="7125"/>
                    <a:pt x="7692" y="7875"/>
                    <a:pt x="7814" y="8000"/>
                  </a:cubicBezTo>
                  <a:cubicBezTo>
                    <a:pt x="7936" y="8125"/>
                    <a:pt x="8669" y="7750"/>
                    <a:pt x="8791" y="8000"/>
                  </a:cubicBezTo>
                  <a:cubicBezTo>
                    <a:pt x="8913" y="8250"/>
                    <a:pt x="8669" y="9750"/>
                    <a:pt x="8791" y="10000"/>
                  </a:cubicBezTo>
                  <a:cubicBezTo>
                    <a:pt x="8913" y="10250"/>
                    <a:pt x="9645" y="9750"/>
                    <a:pt x="9767" y="10000"/>
                  </a:cubicBezTo>
                  <a:cubicBezTo>
                    <a:pt x="9890" y="10250"/>
                    <a:pt x="9645" y="11750"/>
                    <a:pt x="9767" y="12000"/>
                  </a:cubicBezTo>
                  <a:cubicBezTo>
                    <a:pt x="9890" y="12250"/>
                    <a:pt x="10622" y="11125"/>
                    <a:pt x="10744" y="12000"/>
                  </a:cubicBezTo>
                  <a:cubicBezTo>
                    <a:pt x="10866" y="12875"/>
                    <a:pt x="10500" y="18000"/>
                    <a:pt x="10744" y="19000"/>
                  </a:cubicBezTo>
                  <a:cubicBezTo>
                    <a:pt x="10988" y="20000"/>
                    <a:pt x="12453" y="20125"/>
                    <a:pt x="12698" y="20000"/>
                  </a:cubicBezTo>
                  <a:cubicBezTo>
                    <a:pt x="12942" y="19875"/>
                    <a:pt x="12576" y="18250"/>
                    <a:pt x="12698" y="18000"/>
                  </a:cubicBezTo>
                  <a:cubicBezTo>
                    <a:pt x="12820" y="17750"/>
                    <a:pt x="13430" y="18500"/>
                    <a:pt x="13674" y="18000"/>
                  </a:cubicBezTo>
                  <a:cubicBezTo>
                    <a:pt x="13919" y="17500"/>
                    <a:pt x="14407" y="14500"/>
                    <a:pt x="14651" y="14000"/>
                  </a:cubicBezTo>
                  <a:cubicBezTo>
                    <a:pt x="14895" y="13500"/>
                    <a:pt x="15506" y="14125"/>
                    <a:pt x="15628" y="14000"/>
                  </a:cubicBezTo>
                  <a:cubicBezTo>
                    <a:pt x="15750" y="13875"/>
                    <a:pt x="15506" y="13125"/>
                    <a:pt x="15628" y="13000"/>
                  </a:cubicBezTo>
                  <a:cubicBezTo>
                    <a:pt x="15750" y="12875"/>
                    <a:pt x="16483" y="13250"/>
                    <a:pt x="16605" y="13000"/>
                  </a:cubicBezTo>
                  <a:cubicBezTo>
                    <a:pt x="16727" y="12750"/>
                    <a:pt x="16483" y="11250"/>
                    <a:pt x="16605" y="11000"/>
                  </a:cubicBezTo>
                  <a:cubicBezTo>
                    <a:pt x="16727" y="10750"/>
                    <a:pt x="17459" y="11375"/>
                    <a:pt x="17581" y="11000"/>
                  </a:cubicBezTo>
                  <a:cubicBezTo>
                    <a:pt x="17703" y="10625"/>
                    <a:pt x="17459" y="8375"/>
                    <a:pt x="17581" y="8000"/>
                  </a:cubicBezTo>
                  <a:cubicBezTo>
                    <a:pt x="17703" y="7625"/>
                    <a:pt x="18436" y="8375"/>
                    <a:pt x="18558" y="8000"/>
                  </a:cubicBezTo>
                  <a:cubicBezTo>
                    <a:pt x="18680" y="7625"/>
                    <a:pt x="18436" y="5375"/>
                    <a:pt x="18558" y="5000"/>
                  </a:cubicBezTo>
                  <a:cubicBezTo>
                    <a:pt x="18680" y="4625"/>
                    <a:pt x="19413" y="5625"/>
                    <a:pt x="19535" y="5000"/>
                  </a:cubicBezTo>
                  <a:cubicBezTo>
                    <a:pt x="19657" y="4375"/>
                    <a:pt x="19291" y="625"/>
                    <a:pt x="19535"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39" name="LLM to time head"/>
            <p:cNvCxnSpPr/>
            <p:nvPr/>
          </p:nvCxnSpPr>
          <p:spPr>
            <a:xfrm flipV="1">
              <a:off x="8311896" y="539496"/>
              <a:ext cx="0" cy="173736"/>
            </a:xfrm>
            <a:prstGeom prst="line">
              <a:avLst/>
            </a:prstGeom>
            <a:ln w="27432">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240" name="LLM to time head arrow"/>
            <p:cNvSpPr/>
            <p:nvPr/>
          </p:nvSpPr>
          <p:spPr>
            <a:xfrm>
              <a:off x="8260324" y="539496"/>
              <a:ext cx="103144" cy="109728"/>
            </a:xfrm>
            <a:custGeom>
              <a:avLst/>
              <a:gdLst/>
              <a:ahLst/>
              <a:cxnLst/>
              <a:rect l="0" t="0" r="r" b="b"/>
              <a:pathLst>
                <a:path w="11280" h="12000">
                  <a:moveTo>
                    <a:pt x="5640" y="0"/>
                  </a:moveTo>
                  <a:lnTo>
                    <a:pt x="0" y="12000"/>
                  </a:lnTo>
                  <a:lnTo>
                    <a:pt x="11280" y="120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1" name="LLM to LM head"/>
            <p:cNvCxnSpPr/>
            <p:nvPr/>
          </p:nvCxnSpPr>
          <p:spPr>
            <a:xfrm flipV="1">
              <a:off x="11100816" y="539496"/>
              <a:ext cx="0" cy="173736"/>
            </a:xfrm>
            <a:prstGeom prst="line">
              <a:avLst/>
            </a:prstGeom>
            <a:ln w="27432">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242" name="LLM to LM head arrow"/>
            <p:cNvSpPr/>
            <p:nvPr/>
          </p:nvSpPr>
          <p:spPr>
            <a:xfrm>
              <a:off x="11049244" y="539496"/>
              <a:ext cx="103144" cy="109728"/>
            </a:xfrm>
            <a:custGeom>
              <a:avLst/>
              <a:gdLst/>
              <a:ahLst/>
              <a:cxnLst/>
              <a:rect l="0" t="0" r="r" b="b"/>
              <a:pathLst>
                <a:path w="11280" h="12000">
                  <a:moveTo>
                    <a:pt x="5640" y="0"/>
                  </a:moveTo>
                  <a:lnTo>
                    <a:pt x="0" y="12000"/>
                  </a:lnTo>
                  <a:lnTo>
                    <a:pt x="11280" y="120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3" name="Time head box"/>
            <p:cNvSpPr/>
            <p:nvPr/>
          </p:nvSpPr>
          <p:spPr>
            <a:xfrm>
              <a:off x="7388352" y="178308"/>
              <a:ext cx="1837944" cy="365760"/>
            </a:xfrm>
            <a:prstGeom prst="roundRect">
              <a:avLst>
                <a:gd name="adj" fmla="val 2500"/>
              </a:avLst>
            </a:prstGeom>
            <a:solidFill>
              <a:srgbClr val="F3D0ED"/>
            </a:solidFill>
            <a:ln w="27432">
              <a:solidFill>
                <a:srgbClr val="5919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4" name="LM head box"/>
            <p:cNvSpPr/>
            <p:nvPr/>
          </p:nvSpPr>
          <p:spPr>
            <a:xfrm>
              <a:off x="10232136" y="178308"/>
              <a:ext cx="1737360" cy="365760"/>
            </a:xfrm>
            <a:prstGeom prst="roundRect">
              <a:avLst>
                <a:gd name="adj" fmla="val 2500"/>
              </a:avLst>
            </a:prstGeom>
            <a:solidFill>
              <a:srgbClr val="F3D0ED"/>
            </a:solidFill>
            <a:ln w="27432">
              <a:solidFill>
                <a:srgbClr val="5919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5" name="Time head stage 2"/>
            <p:cNvSpPr/>
            <p:nvPr/>
          </p:nvSpPr>
          <p:spPr>
            <a:xfrm>
              <a:off x="7449421" y="217497"/>
              <a:ext cx="155121" cy="273014"/>
            </a:xfrm>
            <a:custGeom>
              <a:avLst/>
              <a:gdLst/>
              <a:ahLst/>
              <a:cxnLst/>
              <a:rect l="0" t="0" r="r" b="b"/>
              <a:pathLst>
                <a:path w="16964" h="29857">
                  <a:moveTo>
                    <a:pt x="7464" y="0"/>
                  </a:moveTo>
                  <a:cubicBezTo>
                    <a:pt x="7634" y="-688"/>
                    <a:pt x="8652" y="-98"/>
                    <a:pt x="8821" y="0"/>
                  </a:cubicBezTo>
                  <a:cubicBezTo>
                    <a:pt x="8991" y="98"/>
                    <a:pt x="8652" y="589"/>
                    <a:pt x="8821" y="786"/>
                  </a:cubicBezTo>
                  <a:cubicBezTo>
                    <a:pt x="8991" y="982"/>
                    <a:pt x="10009" y="1277"/>
                    <a:pt x="10179" y="1571"/>
                  </a:cubicBezTo>
                  <a:cubicBezTo>
                    <a:pt x="10348" y="1866"/>
                    <a:pt x="10009" y="2848"/>
                    <a:pt x="10179" y="3143"/>
                  </a:cubicBezTo>
                  <a:cubicBezTo>
                    <a:pt x="10348" y="3438"/>
                    <a:pt x="11366" y="3438"/>
                    <a:pt x="11536" y="3929"/>
                  </a:cubicBezTo>
                  <a:cubicBezTo>
                    <a:pt x="11705" y="4420"/>
                    <a:pt x="11451" y="6679"/>
                    <a:pt x="11536" y="7071"/>
                  </a:cubicBezTo>
                  <a:cubicBezTo>
                    <a:pt x="11621" y="7464"/>
                    <a:pt x="12129" y="6679"/>
                    <a:pt x="12214" y="7071"/>
                  </a:cubicBezTo>
                  <a:cubicBezTo>
                    <a:pt x="12299" y="7464"/>
                    <a:pt x="12299" y="9821"/>
                    <a:pt x="12214" y="10214"/>
                  </a:cubicBezTo>
                  <a:cubicBezTo>
                    <a:pt x="12129" y="10607"/>
                    <a:pt x="11621" y="9920"/>
                    <a:pt x="11536" y="10214"/>
                  </a:cubicBezTo>
                  <a:cubicBezTo>
                    <a:pt x="11451" y="10509"/>
                    <a:pt x="11621" y="12277"/>
                    <a:pt x="11536" y="12571"/>
                  </a:cubicBezTo>
                  <a:cubicBezTo>
                    <a:pt x="11451" y="12866"/>
                    <a:pt x="10942" y="12375"/>
                    <a:pt x="10857" y="12571"/>
                  </a:cubicBezTo>
                  <a:cubicBezTo>
                    <a:pt x="10772" y="12768"/>
                    <a:pt x="10942" y="13946"/>
                    <a:pt x="10857" y="14143"/>
                  </a:cubicBezTo>
                  <a:cubicBezTo>
                    <a:pt x="10772" y="14339"/>
                    <a:pt x="10263" y="13554"/>
                    <a:pt x="10179" y="14143"/>
                  </a:cubicBezTo>
                  <a:cubicBezTo>
                    <a:pt x="10094" y="14732"/>
                    <a:pt x="9670" y="18170"/>
                    <a:pt x="10179" y="18857"/>
                  </a:cubicBezTo>
                  <a:cubicBezTo>
                    <a:pt x="10688" y="19545"/>
                    <a:pt x="13571" y="19839"/>
                    <a:pt x="14250" y="19643"/>
                  </a:cubicBezTo>
                  <a:cubicBezTo>
                    <a:pt x="14929" y="19446"/>
                    <a:pt x="15268" y="17482"/>
                    <a:pt x="15607" y="17286"/>
                  </a:cubicBezTo>
                  <a:cubicBezTo>
                    <a:pt x="15946" y="17089"/>
                    <a:pt x="16795" y="17482"/>
                    <a:pt x="16964" y="18071"/>
                  </a:cubicBezTo>
                  <a:cubicBezTo>
                    <a:pt x="17134" y="18661"/>
                    <a:pt x="17049" y="21509"/>
                    <a:pt x="16964" y="22000"/>
                  </a:cubicBezTo>
                  <a:cubicBezTo>
                    <a:pt x="16879" y="22491"/>
                    <a:pt x="16371" y="21705"/>
                    <a:pt x="16286" y="22000"/>
                  </a:cubicBezTo>
                  <a:cubicBezTo>
                    <a:pt x="16201" y="22295"/>
                    <a:pt x="16371" y="24062"/>
                    <a:pt x="16286" y="24357"/>
                  </a:cubicBezTo>
                  <a:cubicBezTo>
                    <a:pt x="16201" y="24652"/>
                    <a:pt x="15692" y="24259"/>
                    <a:pt x="15607" y="24357"/>
                  </a:cubicBezTo>
                  <a:cubicBezTo>
                    <a:pt x="15522" y="24455"/>
                    <a:pt x="15692" y="25045"/>
                    <a:pt x="15607" y="25143"/>
                  </a:cubicBezTo>
                  <a:cubicBezTo>
                    <a:pt x="15522" y="25241"/>
                    <a:pt x="15013" y="24946"/>
                    <a:pt x="14929" y="25143"/>
                  </a:cubicBezTo>
                  <a:cubicBezTo>
                    <a:pt x="14844" y="25339"/>
                    <a:pt x="15013" y="26518"/>
                    <a:pt x="14929" y="26714"/>
                  </a:cubicBezTo>
                  <a:cubicBezTo>
                    <a:pt x="14844" y="26911"/>
                    <a:pt x="14504" y="26420"/>
                    <a:pt x="14250" y="26714"/>
                  </a:cubicBezTo>
                  <a:cubicBezTo>
                    <a:pt x="13996" y="27009"/>
                    <a:pt x="13232" y="28777"/>
                    <a:pt x="12893" y="29071"/>
                  </a:cubicBezTo>
                  <a:cubicBezTo>
                    <a:pt x="12554" y="29366"/>
                    <a:pt x="11705" y="28973"/>
                    <a:pt x="11536" y="29071"/>
                  </a:cubicBezTo>
                  <a:cubicBezTo>
                    <a:pt x="11366" y="29170"/>
                    <a:pt x="11960" y="29759"/>
                    <a:pt x="11536" y="29857"/>
                  </a:cubicBezTo>
                  <a:cubicBezTo>
                    <a:pt x="11112" y="29955"/>
                    <a:pt x="8567" y="30152"/>
                    <a:pt x="8143" y="29857"/>
                  </a:cubicBezTo>
                  <a:cubicBezTo>
                    <a:pt x="7719" y="29562"/>
                    <a:pt x="8228" y="27795"/>
                    <a:pt x="8143" y="27500"/>
                  </a:cubicBezTo>
                  <a:cubicBezTo>
                    <a:pt x="8058" y="27205"/>
                    <a:pt x="7549" y="27696"/>
                    <a:pt x="7464" y="27500"/>
                  </a:cubicBezTo>
                  <a:cubicBezTo>
                    <a:pt x="7379" y="27304"/>
                    <a:pt x="7634" y="26223"/>
                    <a:pt x="7464" y="25929"/>
                  </a:cubicBezTo>
                  <a:cubicBezTo>
                    <a:pt x="7295" y="25634"/>
                    <a:pt x="6362" y="25732"/>
                    <a:pt x="6107" y="25143"/>
                  </a:cubicBezTo>
                  <a:cubicBezTo>
                    <a:pt x="5853" y="24554"/>
                    <a:pt x="5598" y="21705"/>
                    <a:pt x="5429" y="21214"/>
                  </a:cubicBezTo>
                  <a:cubicBezTo>
                    <a:pt x="5259" y="20723"/>
                    <a:pt x="4835" y="21705"/>
                    <a:pt x="4750" y="21214"/>
                  </a:cubicBezTo>
                  <a:cubicBezTo>
                    <a:pt x="4665" y="20723"/>
                    <a:pt x="4835" y="17777"/>
                    <a:pt x="4750" y="17286"/>
                  </a:cubicBezTo>
                  <a:cubicBezTo>
                    <a:pt x="4665" y="16795"/>
                    <a:pt x="4156" y="17089"/>
                    <a:pt x="4071" y="17286"/>
                  </a:cubicBezTo>
                  <a:cubicBezTo>
                    <a:pt x="3987" y="17482"/>
                    <a:pt x="4156" y="18661"/>
                    <a:pt x="4071" y="18857"/>
                  </a:cubicBezTo>
                  <a:cubicBezTo>
                    <a:pt x="3987" y="19054"/>
                    <a:pt x="3478" y="18661"/>
                    <a:pt x="3393" y="18857"/>
                  </a:cubicBezTo>
                  <a:cubicBezTo>
                    <a:pt x="3308" y="19054"/>
                    <a:pt x="3478" y="20232"/>
                    <a:pt x="3393" y="20429"/>
                  </a:cubicBezTo>
                  <a:cubicBezTo>
                    <a:pt x="3308" y="20625"/>
                    <a:pt x="2799" y="20036"/>
                    <a:pt x="2714" y="20429"/>
                  </a:cubicBezTo>
                  <a:cubicBezTo>
                    <a:pt x="2629" y="20821"/>
                    <a:pt x="2799" y="23179"/>
                    <a:pt x="2714" y="23571"/>
                  </a:cubicBezTo>
                  <a:cubicBezTo>
                    <a:pt x="2629" y="23964"/>
                    <a:pt x="2121" y="23473"/>
                    <a:pt x="2036" y="23571"/>
                  </a:cubicBezTo>
                  <a:cubicBezTo>
                    <a:pt x="1951" y="23670"/>
                    <a:pt x="1951" y="24259"/>
                    <a:pt x="2036" y="24357"/>
                  </a:cubicBezTo>
                  <a:cubicBezTo>
                    <a:pt x="2121" y="24455"/>
                    <a:pt x="2629" y="24062"/>
                    <a:pt x="2714" y="24357"/>
                  </a:cubicBezTo>
                  <a:cubicBezTo>
                    <a:pt x="2799" y="24652"/>
                    <a:pt x="2969" y="26616"/>
                    <a:pt x="2714" y="26714"/>
                  </a:cubicBezTo>
                  <a:cubicBezTo>
                    <a:pt x="2460" y="26812"/>
                    <a:pt x="933" y="25634"/>
                    <a:pt x="679" y="25143"/>
                  </a:cubicBezTo>
                  <a:cubicBezTo>
                    <a:pt x="424" y="24652"/>
                    <a:pt x="763" y="23080"/>
                    <a:pt x="679" y="22786"/>
                  </a:cubicBezTo>
                  <a:cubicBezTo>
                    <a:pt x="594" y="22491"/>
                    <a:pt x="85" y="23571"/>
                    <a:pt x="0" y="22786"/>
                  </a:cubicBezTo>
                  <a:cubicBezTo>
                    <a:pt x="-85" y="22000"/>
                    <a:pt x="-85" y="17286"/>
                    <a:pt x="0" y="16500"/>
                  </a:cubicBezTo>
                  <a:cubicBezTo>
                    <a:pt x="85" y="15714"/>
                    <a:pt x="509" y="16893"/>
                    <a:pt x="679" y="16500"/>
                  </a:cubicBezTo>
                  <a:cubicBezTo>
                    <a:pt x="848" y="16107"/>
                    <a:pt x="1188" y="13750"/>
                    <a:pt x="1357" y="13357"/>
                  </a:cubicBezTo>
                  <a:cubicBezTo>
                    <a:pt x="1527" y="12964"/>
                    <a:pt x="1951" y="13455"/>
                    <a:pt x="2036" y="13357"/>
                  </a:cubicBezTo>
                  <a:cubicBezTo>
                    <a:pt x="2121" y="13259"/>
                    <a:pt x="1951" y="12670"/>
                    <a:pt x="2036" y="12571"/>
                  </a:cubicBezTo>
                  <a:cubicBezTo>
                    <a:pt x="2121" y="12473"/>
                    <a:pt x="2629" y="12670"/>
                    <a:pt x="2714" y="12571"/>
                  </a:cubicBezTo>
                  <a:cubicBezTo>
                    <a:pt x="2799" y="12473"/>
                    <a:pt x="2629" y="11884"/>
                    <a:pt x="2714" y="11786"/>
                  </a:cubicBezTo>
                  <a:cubicBezTo>
                    <a:pt x="2799" y="11688"/>
                    <a:pt x="3308" y="11884"/>
                    <a:pt x="3393" y="11786"/>
                  </a:cubicBezTo>
                  <a:cubicBezTo>
                    <a:pt x="3478" y="11688"/>
                    <a:pt x="3054" y="11393"/>
                    <a:pt x="3393" y="11000"/>
                  </a:cubicBezTo>
                  <a:cubicBezTo>
                    <a:pt x="3732" y="10607"/>
                    <a:pt x="5768" y="9134"/>
                    <a:pt x="6107" y="8643"/>
                  </a:cubicBezTo>
                  <a:cubicBezTo>
                    <a:pt x="6446" y="8152"/>
                    <a:pt x="6022" y="7268"/>
                    <a:pt x="6107" y="7071"/>
                  </a:cubicBezTo>
                  <a:cubicBezTo>
                    <a:pt x="6192" y="6875"/>
                    <a:pt x="6701" y="7268"/>
                    <a:pt x="6786" y="7071"/>
                  </a:cubicBezTo>
                  <a:cubicBezTo>
                    <a:pt x="6871" y="6875"/>
                    <a:pt x="6701" y="5696"/>
                    <a:pt x="6786" y="5500"/>
                  </a:cubicBezTo>
                  <a:cubicBezTo>
                    <a:pt x="6871" y="5304"/>
                    <a:pt x="7379" y="6188"/>
                    <a:pt x="7464" y="5500"/>
                  </a:cubicBezTo>
                  <a:cubicBezTo>
                    <a:pt x="7549" y="4812"/>
                    <a:pt x="7295" y="688"/>
                    <a:pt x="7464"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6" name="Time head stage 3"/>
            <p:cNvSpPr/>
            <p:nvPr/>
          </p:nvSpPr>
          <p:spPr>
            <a:xfrm>
              <a:off x="9011093" y="232315"/>
              <a:ext cx="170121" cy="248602"/>
            </a:xfrm>
            <a:custGeom>
              <a:avLst/>
              <a:gdLst/>
              <a:ahLst/>
              <a:cxnLst/>
              <a:rect l="0" t="0" r="r" b="b"/>
              <a:pathLst>
                <a:path w="18605" h="27188">
                  <a:moveTo>
                    <a:pt x="9302" y="0"/>
                  </a:moveTo>
                  <a:cubicBezTo>
                    <a:pt x="9419" y="-293"/>
                    <a:pt x="10116" y="-117"/>
                    <a:pt x="10233" y="0"/>
                  </a:cubicBezTo>
                  <a:cubicBezTo>
                    <a:pt x="10349" y="117"/>
                    <a:pt x="10116" y="762"/>
                    <a:pt x="10233" y="938"/>
                  </a:cubicBezTo>
                  <a:cubicBezTo>
                    <a:pt x="10349" y="1113"/>
                    <a:pt x="11047" y="1230"/>
                    <a:pt x="11163" y="1406"/>
                  </a:cubicBezTo>
                  <a:cubicBezTo>
                    <a:pt x="11279" y="1582"/>
                    <a:pt x="11105" y="2227"/>
                    <a:pt x="11163" y="2344"/>
                  </a:cubicBezTo>
                  <a:cubicBezTo>
                    <a:pt x="11221" y="2461"/>
                    <a:pt x="11570" y="2227"/>
                    <a:pt x="11628" y="2344"/>
                  </a:cubicBezTo>
                  <a:cubicBezTo>
                    <a:pt x="11686" y="2461"/>
                    <a:pt x="11570" y="3164"/>
                    <a:pt x="11628" y="3281"/>
                  </a:cubicBezTo>
                  <a:cubicBezTo>
                    <a:pt x="11686" y="3398"/>
                    <a:pt x="12035" y="3105"/>
                    <a:pt x="12093" y="3281"/>
                  </a:cubicBezTo>
                  <a:cubicBezTo>
                    <a:pt x="12151" y="3457"/>
                    <a:pt x="12035" y="4512"/>
                    <a:pt x="12093" y="4688"/>
                  </a:cubicBezTo>
                  <a:cubicBezTo>
                    <a:pt x="12151" y="4863"/>
                    <a:pt x="12500" y="4395"/>
                    <a:pt x="12558" y="4688"/>
                  </a:cubicBezTo>
                  <a:cubicBezTo>
                    <a:pt x="12616" y="4980"/>
                    <a:pt x="12500" y="6738"/>
                    <a:pt x="12558" y="7031"/>
                  </a:cubicBezTo>
                  <a:cubicBezTo>
                    <a:pt x="12616" y="7324"/>
                    <a:pt x="12965" y="6738"/>
                    <a:pt x="13023" y="7031"/>
                  </a:cubicBezTo>
                  <a:cubicBezTo>
                    <a:pt x="13081" y="7324"/>
                    <a:pt x="12965" y="9082"/>
                    <a:pt x="13023" y="9375"/>
                  </a:cubicBezTo>
                  <a:cubicBezTo>
                    <a:pt x="13081" y="9668"/>
                    <a:pt x="13430" y="8906"/>
                    <a:pt x="13488" y="9375"/>
                  </a:cubicBezTo>
                  <a:cubicBezTo>
                    <a:pt x="13547" y="9844"/>
                    <a:pt x="13372" y="12656"/>
                    <a:pt x="13488" y="13125"/>
                  </a:cubicBezTo>
                  <a:cubicBezTo>
                    <a:pt x="13605" y="13594"/>
                    <a:pt x="14302" y="13184"/>
                    <a:pt x="14419" y="13125"/>
                  </a:cubicBezTo>
                  <a:cubicBezTo>
                    <a:pt x="14535" y="13066"/>
                    <a:pt x="14244" y="12832"/>
                    <a:pt x="14419" y="12656"/>
                  </a:cubicBezTo>
                  <a:cubicBezTo>
                    <a:pt x="14593" y="12480"/>
                    <a:pt x="15581" y="12246"/>
                    <a:pt x="15814" y="11719"/>
                  </a:cubicBezTo>
                  <a:cubicBezTo>
                    <a:pt x="16047" y="11191"/>
                    <a:pt x="16163" y="8848"/>
                    <a:pt x="16279" y="8438"/>
                  </a:cubicBezTo>
                  <a:cubicBezTo>
                    <a:pt x="16395" y="8027"/>
                    <a:pt x="16686" y="8320"/>
                    <a:pt x="16744" y="8438"/>
                  </a:cubicBezTo>
                  <a:cubicBezTo>
                    <a:pt x="16802" y="8555"/>
                    <a:pt x="16686" y="9258"/>
                    <a:pt x="16744" y="9375"/>
                  </a:cubicBezTo>
                  <a:cubicBezTo>
                    <a:pt x="16802" y="9492"/>
                    <a:pt x="17151" y="9258"/>
                    <a:pt x="17209" y="9375"/>
                  </a:cubicBezTo>
                  <a:cubicBezTo>
                    <a:pt x="17267" y="9492"/>
                    <a:pt x="17151" y="10195"/>
                    <a:pt x="17209" y="10312"/>
                  </a:cubicBezTo>
                  <a:cubicBezTo>
                    <a:pt x="17267" y="10430"/>
                    <a:pt x="17616" y="10195"/>
                    <a:pt x="17674" y="10312"/>
                  </a:cubicBezTo>
                  <a:cubicBezTo>
                    <a:pt x="17733" y="10430"/>
                    <a:pt x="17616" y="11133"/>
                    <a:pt x="17674" y="11250"/>
                  </a:cubicBezTo>
                  <a:cubicBezTo>
                    <a:pt x="17733" y="11367"/>
                    <a:pt x="18081" y="11016"/>
                    <a:pt x="18140" y="11250"/>
                  </a:cubicBezTo>
                  <a:cubicBezTo>
                    <a:pt x="18198" y="11484"/>
                    <a:pt x="18081" y="12891"/>
                    <a:pt x="18140" y="13125"/>
                  </a:cubicBezTo>
                  <a:cubicBezTo>
                    <a:pt x="18198" y="13359"/>
                    <a:pt x="18547" y="12188"/>
                    <a:pt x="18605" y="13125"/>
                  </a:cubicBezTo>
                  <a:cubicBezTo>
                    <a:pt x="18663" y="14062"/>
                    <a:pt x="18663" y="19688"/>
                    <a:pt x="18605" y="20625"/>
                  </a:cubicBezTo>
                  <a:cubicBezTo>
                    <a:pt x="18547" y="21562"/>
                    <a:pt x="18198" y="20391"/>
                    <a:pt x="18140" y="20625"/>
                  </a:cubicBezTo>
                  <a:cubicBezTo>
                    <a:pt x="18081" y="20859"/>
                    <a:pt x="18198" y="22266"/>
                    <a:pt x="18140" y="22500"/>
                  </a:cubicBezTo>
                  <a:cubicBezTo>
                    <a:pt x="18081" y="22734"/>
                    <a:pt x="17733" y="22383"/>
                    <a:pt x="17674" y="22500"/>
                  </a:cubicBezTo>
                  <a:cubicBezTo>
                    <a:pt x="17616" y="22617"/>
                    <a:pt x="17733" y="23320"/>
                    <a:pt x="17674" y="23438"/>
                  </a:cubicBezTo>
                  <a:cubicBezTo>
                    <a:pt x="17616" y="23555"/>
                    <a:pt x="17326" y="23203"/>
                    <a:pt x="17209" y="23438"/>
                  </a:cubicBezTo>
                  <a:cubicBezTo>
                    <a:pt x="17093" y="23672"/>
                    <a:pt x="16860" y="25078"/>
                    <a:pt x="16744" y="25312"/>
                  </a:cubicBezTo>
                  <a:cubicBezTo>
                    <a:pt x="16628" y="25547"/>
                    <a:pt x="16512" y="25078"/>
                    <a:pt x="16279" y="25312"/>
                  </a:cubicBezTo>
                  <a:cubicBezTo>
                    <a:pt x="16047" y="25547"/>
                    <a:pt x="15349" y="26953"/>
                    <a:pt x="14884" y="27188"/>
                  </a:cubicBezTo>
                  <a:cubicBezTo>
                    <a:pt x="14419" y="27422"/>
                    <a:pt x="12849" y="27363"/>
                    <a:pt x="12558" y="27188"/>
                  </a:cubicBezTo>
                  <a:cubicBezTo>
                    <a:pt x="12267" y="27012"/>
                    <a:pt x="12500" y="25957"/>
                    <a:pt x="12558" y="25781"/>
                  </a:cubicBezTo>
                  <a:cubicBezTo>
                    <a:pt x="12616" y="25605"/>
                    <a:pt x="12965" y="25957"/>
                    <a:pt x="13023" y="25781"/>
                  </a:cubicBezTo>
                  <a:cubicBezTo>
                    <a:pt x="13081" y="25605"/>
                    <a:pt x="12965" y="24551"/>
                    <a:pt x="13023" y="24375"/>
                  </a:cubicBezTo>
                  <a:cubicBezTo>
                    <a:pt x="13081" y="24199"/>
                    <a:pt x="13430" y="24961"/>
                    <a:pt x="13488" y="24375"/>
                  </a:cubicBezTo>
                  <a:cubicBezTo>
                    <a:pt x="13547" y="23789"/>
                    <a:pt x="13547" y="20273"/>
                    <a:pt x="13488" y="19688"/>
                  </a:cubicBezTo>
                  <a:cubicBezTo>
                    <a:pt x="13430" y="19102"/>
                    <a:pt x="13081" y="19863"/>
                    <a:pt x="13023" y="19688"/>
                  </a:cubicBezTo>
                  <a:cubicBezTo>
                    <a:pt x="12965" y="19512"/>
                    <a:pt x="13081" y="18457"/>
                    <a:pt x="13023" y="18281"/>
                  </a:cubicBezTo>
                  <a:cubicBezTo>
                    <a:pt x="12965" y="18105"/>
                    <a:pt x="12616" y="18398"/>
                    <a:pt x="12558" y="18281"/>
                  </a:cubicBezTo>
                  <a:cubicBezTo>
                    <a:pt x="12500" y="18164"/>
                    <a:pt x="12616" y="17461"/>
                    <a:pt x="12558" y="17344"/>
                  </a:cubicBezTo>
                  <a:cubicBezTo>
                    <a:pt x="12500" y="17227"/>
                    <a:pt x="12151" y="17461"/>
                    <a:pt x="12093" y="17344"/>
                  </a:cubicBezTo>
                  <a:cubicBezTo>
                    <a:pt x="12035" y="17227"/>
                    <a:pt x="12151" y="16523"/>
                    <a:pt x="12093" y="16406"/>
                  </a:cubicBezTo>
                  <a:cubicBezTo>
                    <a:pt x="12035" y="16289"/>
                    <a:pt x="11686" y="16582"/>
                    <a:pt x="11628" y="16406"/>
                  </a:cubicBezTo>
                  <a:cubicBezTo>
                    <a:pt x="11570" y="16230"/>
                    <a:pt x="11686" y="15176"/>
                    <a:pt x="11628" y="15000"/>
                  </a:cubicBezTo>
                  <a:cubicBezTo>
                    <a:pt x="11570" y="14824"/>
                    <a:pt x="11221" y="15293"/>
                    <a:pt x="11163" y="15000"/>
                  </a:cubicBezTo>
                  <a:cubicBezTo>
                    <a:pt x="11105" y="14707"/>
                    <a:pt x="11221" y="12949"/>
                    <a:pt x="11163" y="12656"/>
                  </a:cubicBezTo>
                  <a:cubicBezTo>
                    <a:pt x="11105" y="12363"/>
                    <a:pt x="10756" y="12715"/>
                    <a:pt x="10698" y="12656"/>
                  </a:cubicBezTo>
                  <a:cubicBezTo>
                    <a:pt x="10640" y="12598"/>
                    <a:pt x="10814" y="12188"/>
                    <a:pt x="10698" y="12188"/>
                  </a:cubicBezTo>
                  <a:cubicBezTo>
                    <a:pt x="10581" y="12188"/>
                    <a:pt x="9884" y="12422"/>
                    <a:pt x="9767" y="12656"/>
                  </a:cubicBezTo>
                  <a:cubicBezTo>
                    <a:pt x="9651" y="12891"/>
                    <a:pt x="9826" y="13887"/>
                    <a:pt x="9767" y="14062"/>
                  </a:cubicBezTo>
                  <a:cubicBezTo>
                    <a:pt x="9709" y="14238"/>
                    <a:pt x="9360" y="13887"/>
                    <a:pt x="9302" y="14062"/>
                  </a:cubicBezTo>
                  <a:cubicBezTo>
                    <a:pt x="9244" y="14238"/>
                    <a:pt x="9360" y="15293"/>
                    <a:pt x="9302" y="15469"/>
                  </a:cubicBezTo>
                  <a:cubicBezTo>
                    <a:pt x="9244" y="15645"/>
                    <a:pt x="8895" y="15234"/>
                    <a:pt x="8837" y="15469"/>
                  </a:cubicBezTo>
                  <a:cubicBezTo>
                    <a:pt x="8779" y="15703"/>
                    <a:pt x="8895" y="17109"/>
                    <a:pt x="8837" y="17344"/>
                  </a:cubicBezTo>
                  <a:cubicBezTo>
                    <a:pt x="8779" y="17578"/>
                    <a:pt x="8430" y="16934"/>
                    <a:pt x="8372" y="17344"/>
                  </a:cubicBezTo>
                  <a:cubicBezTo>
                    <a:pt x="8314" y="17754"/>
                    <a:pt x="8430" y="20215"/>
                    <a:pt x="8372" y="20625"/>
                  </a:cubicBezTo>
                  <a:cubicBezTo>
                    <a:pt x="8314" y="21035"/>
                    <a:pt x="7965" y="20508"/>
                    <a:pt x="7907" y="20625"/>
                  </a:cubicBezTo>
                  <a:cubicBezTo>
                    <a:pt x="7849" y="20742"/>
                    <a:pt x="7965" y="21445"/>
                    <a:pt x="7907" y="21562"/>
                  </a:cubicBezTo>
                  <a:cubicBezTo>
                    <a:pt x="7849" y="21680"/>
                    <a:pt x="7500" y="21680"/>
                    <a:pt x="7442" y="21562"/>
                  </a:cubicBezTo>
                  <a:cubicBezTo>
                    <a:pt x="7384" y="21445"/>
                    <a:pt x="7500" y="20742"/>
                    <a:pt x="7442" y="20625"/>
                  </a:cubicBezTo>
                  <a:cubicBezTo>
                    <a:pt x="7384" y="20508"/>
                    <a:pt x="7035" y="20684"/>
                    <a:pt x="6977" y="20625"/>
                  </a:cubicBezTo>
                  <a:cubicBezTo>
                    <a:pt x="6919" y="20566"/>
                    <a:pt x="7035" y="20215"/>
                    <a:pt x="6977" y="20156"/>
                  </a:cubicBezTo>
                  <a:cubicBezTo>
                    <a:pt x="6919" y="20098"/>
                    <a:pt x="6570" y="20273"/>
                    <a:pt x="6512" y="20156"/>
                  </a:cubicBezTo>
                  <a:cubicBezTo>
                    <a:pt x="6453" y="20039"/>
                    <a:pt x="6570" y="19336"/>
                    <a:pt x="6512" y="19219"/>
                  </a:cubicBezTo>
                  <a:cubicBezTo>
                    <a:pt x="6453" y="19102"/>
                    <a:pt x="6105" y="19395"/>
                    <a:pt x="6047" y="19219"/>
                  </a:cubicBezTo>
                  <a:cubicBezTo>
                    <a:pt x="5988" y="19043"/>
                    <a:pt x="6105" y="17988"/>
                    <a:pt x="6047" y="17812"/>
                  </a:cubicBezTo>
                  <a:cubicBezTo>
                    <a:pt x="5988" y="17637"/>
                    <a:pt x="5640" y="18105"/>
                    <a:pt x="5581" y="17812"/>
                  </a:cubicBezTo>
                  <a:cubicBezTo>
                    <a:pt x="5523" y="17520"/>
                    <a:pt x="5640" y="15762"/>
                    <a:pt x="5581" y="15469"/>
                  </a:cubicBezTo>
                  <a:cubicBezTo>
                    <a:pt x="5523" y="15176"/>
                    <a:pt x="5174" y="15352"/>
                    <a:pt x="5116" y="15469"/>
                  </a:cubicBezTo>
                  <a:cubicBezTo>
                    <a:pt x="5058" y="15586"/>
                    <a:pt x="5174" y="16289"/>
                    <a:pt x="5116" y="16406"/>
                  </a:cubicBezTo>
                  <a:cubicBezTo>
                    <a:pt x="5058" y="16523"/>
                    <a:pt x="4709" y="16230"/>
                    <a:pt x="4651" y="16406"/>
                  </a:cubicBezTo>
                  <a:cubicBezTo>
                    <a:pt x="4593" y="16582"/>
                    <a:pt x="4709" y="17637"/>
                    <a:pt x="4651" y="17812"/>
                  </a:cubicBezTo>
                  <a:cubicBezTo>
                    <a:pt x="4593" y="17988"/>
                    <a:pt x="4244" y="16992"/>
                    <a:pt x="4186" y="17812"/>
                  </a:cubicBezTo>
                  <a:cubicBezTo>
                    <a:pt x="4128" y="18633"/>
                    <a:pt x="4128" y="23555"/>
                    <a:pt x="4186" y="24375"/>
                  </a:cubicBezTo>
                  <a:cubicBezTo>
                    <a:pt x="4244" y="25195"/>
                    <a:pt x="4535" y="24023"/>
                    <a:pt x="4651" y="24375"/>
                  </a:cubicBezTo>
                  <a:cubicBezTo>
                    <a:pt x="4767" y="24727"/>
                    <a:pt x="5233" y="26836"/>
                    <a:pt x="5116" y="27188"/>
                  </a:cubicBezTo>
                  <a:cubicBezTo>
                    <a:pt x="5000" y="27539"/>
                    <a:pt x="3895" y="27246"/>
                    <a:pt x="3721" y="27188"/>
                  </a:cubicBezTo>
                  <a:cubicBezTo>
                    <a:pt x="3547" y="27129"/>
                    <a:pt x="3953" y="26953"/>
                    <a:pt x="3721" y="26719"/>
                  </a:cubicBezTo>
                  <a:cubicBezTo>
                    <a:pt x="3488" y="26484"/>
                    <a:pt x="2093" y="25605"/>
                    <a:pt x="1860" y="25312"/>
                  </a:cubicBezTo>
                  <a:cubicBezTo>
                    <a:pt x="1628" y="25020"/>
                    <a:pt x="1919" y="24492"/>
                    <a:pt x="1860" y="24375"/>
                  </a:cubicBezTo>
                  <a:cubicBezTo>
                    <a:pt x="1802" y="24258"/>
                    <a:pt x="1453" y="24492"/>
                    <a:pt x="1395" y="24375"/>
                  </a:cubicBezTo>
                  <a:cubicBezTo>
                    <a:pt x="1337" y="24258"/>
                    <a:pt x="1453" y="23555"/>
                    <a:pt x="1395" y="23438"/>
                  </a:cubicBezTo>
                  <a:cubicBezTo>
                    <a:pt x="1337" y="23320"/>
                    <a:pt x="988" y="23613"/>
                    <a:pt x="930" y="23438"/>
                  </a:cubicBezTo>
                  <a:cubicBezTo>
                    <a:pt x="872" y="23262"/>
                    <a:pt x="988" y="22207"/>
                    <a:pt x="930" y="22031"/>
                  </a:cubicBezTo>
                  <a:cubicBezTo>
                    <a:pt x="872" y="21855"/>
                    <a:pt x="523" y="22207"/>
                    <a:pt x="465" y="22031"/>
                  </a:cubicBezTo>
                  <a:cubicBezTo>
                    <a:pt x="407" y="21855"/>
                    <a:pt x="523" y="20801"/>
                    <a:pt x="465" y="20625"/>
                  </a:cubicBezTo>
                  <a:cubicBezTo>
                    <a:pt x="407" y="20449"/>
                    <a:pt x="58" y="21211"/>
                    <a:pt x="0" y="20625"/>
                  </a:cubicBezTo>
                  <a:cubicBezTo>
                    <a:pt x="-58" y="20039"/>
                    <a:pt x="-58" y="16523"/>
                    <a:pt x="0" y="15938"/>
                  </a:cubicBezTo>
                  <a:cubicBezTo>
                    <a:pt x="58" y="15352"/>
                    <a:pt x="407" y="16289"/>
                    <a:pt x="465" y="15938"/>
                  </a:cubicBezTo>
                  <a:cubicBezTo>
                    <a:pt x="523" y="15586"/>
                    <a:pt x="407" y="13477"/>
                    <a:pt x="465" y="13125"/>
                  </a:cubicBezTo>
                  <a:cubicBezTo>
                    <a:pt x="523" y="12773"/>
                    <a:pt x="872" y="13359"/>
                    <a:pt x="930" y="13125"/>
                  </a:cubicBezTo>
                  <a:cubicBezTo>
                    <a:pt x="988" y="12891"/>
                    <a:pt x="872" y="11484"/>
                    <a:pt x="930" y="11250"/>
                  </a:cubicBezTo>
                  <a:cubicBezTo>
                    <a:pt x="988" y="11016"/>
                    <a:pt x="1279" y="11660"/>
                    <a:pt x="1395" y="11250"/>
                  </a:cubicBezTo>
                  <a:cubicBezTo>
                    <a:pt x="1512" y="10840"/>
                    <a:pt x="1744" y="8379"/>
                    <a:pt x="1860" y="7969"/>
                  </a:cubicBezTo>
                  <a:cubicBezTo>
                    <a:pt x="1977" y="7559"/>
                    <a:pt x="2209" y="8555"/>
                    <a:pt x="2326" y="7969"/>
                  </a:cubicBezTo>
                  <a:cubicBezTo>
                    <a:pt x="2442" y="7383"/>
                    <a:pt x="2616" y="3867"/>
                    <a:pt x="2791" y="3281"/>
                  </a:cubicBezTo>
                  <a:cubicBezTo>
                    <a:pt x="2965" y="2695"/>
                    <a:pt x="3605" y="3223"/>
                    <a:pt x="3721" y="3281"/>
                  </a:cubicBezTo>
                  <a:cubicBezTo>
                    <a:pt x="3837" y="3340"/>
                    <a:pt x="3663" y="3691"/>
                    <a:pt x="3721" y="3750"/>
                  </a:cubicBezTo>
                  <a:cubicBezTo>
                    <a:pt x="3779" y="3809"/>
                    <a:pt x="4128" y="3633"/>
                    <a:pt x="4186" y="3750"/>
                  </a:cubicBezTo>
                  <a:cubicBezTo>
                    <a:pt x="4244" y="3867"/>
                    <a:pt x="4128" y="4570"/>
                    <a:pt x="4186" y="4688"/>
                  </a:cubicBezTo>
                  <a:cubicBezTo>
                    <a:pt x="4244" y="4805"/>
                    <a:pt x="4593" y="4570"/>
                    <a:pt x="4651" y="4688"/>
                  </a:cubicBezTo>
                  <a:cubicBezTo>
                    <a:pt x="4709" y="4805"/>
                    <a:pt x="4593" y="5508"/>
                    <a:pt x="4651" y="5625"/>
                  </a:cubicBezTo>
                  <a:cubicBezTo>
                    <a:pt x="4709" y="5742"/>
                    <a:pt x="5058" y="5215"/>
                    <a:pt x="5116" y="5625"/>
                  </a:cubicBezTo>
                  <a:cubicBezTo>
                    <a:pt x="5174" y="6035"/>
                    <a:pt x="5000" y="8438"/>
                    <a:pt x="5116" y="8906"/>
                  </a:cubicBezTo>
                  <a:cubicBezTo>
                    <a:pt x="5233" y="9375"/>
                    <a:pt x="5930" y="9434"/>
                    <a:pt x="6047" y="9375"/>
                  </a:cubicBezTo>
                  <a:cubicBezTo>
                    <a:pt x="6163" y="9316"/>
                    <a:pt x="5988" y="8555"/>
                    <a:pt x="6047" y="8438"/>
                  </a:cubicBezTo>
                  <a:cubicBezTo>
                    <a:pt x="6105" y="8320"/>
                    <a:pt x="6395" y="8672"/>
                    <a:pt x="6512" y="8438"/>
                  </a:cubicBezTo>
                  <a:cubicBezTo>
                    <a:pt x="6628" y="8203"/>
                    <a:pt x="6860" y="6797"/>
                    <a:pt x="6977" y="6562"/>
                  </a:cubicBezTo>
                  <a:cubicBezTo>
                    <a:pt x="7093" y="6328"/>
                    <a:pt x="7384" y="6621"/>
                    <a:pt x="7442" y="6562"/>
                  </a:cubicBezTo>
                  <a:cubicBezTo>
                    <a:pt x="7500" y="6504"/>
                    <a:pt x="7384" y="6152"/>
                    <a:pt x="7442" y="6094"/>
                  </a:cubicBezTo>
                  <a:cubicBezTo>
                    <a:pt x="7500" y="6035"/>
                    <a:pt x="7849" y="6211"/>
                    <a:pt x="7907" y="6094"/>
                  </a:cubicBezTo>
                  <a:cubicBezTo>
                    <a:pt x="7965" y="5977"/>
                    <a:pt x="7849" y="5273"/>
                    <a:pt x="7907" y="5156"/>
                  </a:cubicBezTo>
                  <a:cubicBezTo>
                    <a:pt x="7965" y="5039"/>
                    <a:pt x="8314" y="5332"/>
                    <a:pt x="8372" y="5156"/>
                  </a:cubicBezTo>
                  <a:cubicBezTo>
                    <a:pt x="8430" y="4980"/>
                    <a:pt x="8314" y="3926"/>
                    <a:pt x="8372" y="3750"/>
                  </a:cubicBezTo>
                  <a:cubicBezTo>
                    <a:pt x="8430" y="3574"/>
                    <a:pt x="8779" y="3926"/>
                    <a:pt x="8837" y="3750"/>
                  </a:cubicBezTo>
                  <a:cubicBezTo>
                    <a:pt x="8895" y="3574"/>
                    <a:pt x="8779" y="2520"/>
                    <a:pt x="8837" y="2344"/>
                  </a:cubicBezTo>
                  <a:cubicBezTo>
                    <a:pt x="8895" y="2168"/>
                    <a:pt x="9244" y="2637"/>
                    <a:pt x="9302" y="2344"/>
                  </a:cubicBezTo>
                  <a:cubicBezTo>
                    <a:pt x="9360" y="2051"/>
                    <a:pt x="9186" y="293"/>
                    <a:pt x="9302"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7" name="LM head stage 2"/>
            <p:cNvSpPr/>
            <p:nvPr/>
          </p:nvSpPr>
          <p:spPr>
            <a:xfrm>
              <a:off x="10302675" y="217497"/>
              <a:ext cx="163286" cy="273014"/>
            </a:xfrm>
            <a:custGeom>
              <a:avLst/>
              <a:gdLst/>
              <a:ahLst/>
              <a:cxnLst/>
              <a:rect l="0" t="0" r="r" b="b"/>
              <a:pathLst>
                <a:path w="17857" h="29857">
                  <a:moveTo>
                    <a:pt x="7857" y="0"/>
                  </a:moveTo>
                  <a:cubicBezTo>
                    <a:pt x="8036" y="-688"/>
                    <a:pt x="9107" y="-98"/>
                    <a:pt x="9286" y="0"/>
                  </a:cubicBezTo>
                  <a:cubicBezTo>
                    <a:pt x="9464" y="98"/>
                    <a:pt x="9107" y="589"/>
                    <a:pt x="9286" y="786"/>
                  </a:cubicBezTo>
                  <a:cubicBezTo>
                    <a:pt x="9464" y="982"/>
                    <a:pt x="10536" y="1277"/>
                    <a:pt x="10714" y="1571"/>
                  </a:cubicBezTo>
                  <a:cubicBezTo>
                    <a:pt x="10893" y="1866"/>
                    <a:pt x="10536" y="2848"/>
                    <a:pt x="10714" y="3143"/>
                  </a:cubicBezTo>
                  <a:cubicBezTo>
                    <a:pt x="10893" y="3438"/>
                    <a:pt x="11964" y="3438"/>
                    <a:pt x="12143" y="3929"/>
                  </a:cubicBezTo>
                  <a:cubicBezTo>
                    <a:pt x="12321" y="4420"/>
                    <a:pt x="12054" y="6679"/>
                    <a:pt x="12143" y="7071"/>
                  </a:cubicBezTo>
                  <a:cubicBezTo>
                    <a:pt x="12232" y="7464"/>
                    <a:pt x="12768" y="6679"/>
                    <a:pt x="12857" y="7071"/>
                  </a:cubicBezTo>
                  <a:cubicBezTo>
                    <a:pt x="12946" y="7464"/>
                    <a:pt x="12946" y="9821"/>
                    <a:pt x="12857" y="10214"/>
                  </a:cubicBezTo>
                  <a:cubicBezTo>
                    <a:pt x="12768" y="10607"/>
                    <a:pt x="12232" y="9920"/>
                    <a:pt x="12143" y="10214"/>
                  </a:cubicBezTo>
                  <a:cubicBezTo>
                    <a:pt x="12054" y="10509"/>
                    <a:pt x="12232" y="12277"/>
                    <a:pt x="12143" y="12571"/>
                  </a:cubicBezTo>
                  <a:cubicBezTo>
                    <a:pt x="12054" y="12866"/>
                    <a:pt x="11518" y="12375"/>
                    <a:pt x="11429" y="12571"/>
                  </a:cubicBezTo>
                  <a:cubicBezTo>
                    <a:pt x="11339" y="12768"/>
                    <a:pt x="11518" y="13946"/>
                    <a:pt x="11429" y="14143"/>
                  </a:cubicBezTo>
                  <a:cubicBezTo>
                    <a:pt x="11339" y="14339"/>
                    <a:pt x="10804" y="13554"/>
                    <a:pt x="10714" y="14143"/>
                  </a:cubicBezTo>
                  <a:cubicBezTo>
                    <a:pt x="10625" y="14732"/>
                    <a:pt x="10179" y="18170"/>
                    <a:pt x="10714" y="18857"/>
                  </a:cubicBezTo>
                  <a:cubicBezTo>
                    <a:pt x="11250" y="19545"/>
                    <a:pt x="14286" y="19839"/>
                    <a:pt x="15000" y="19643"/>
                  </a:cubicBezTo>
                  <a:cubicBezTo>
                    <a:pt x="15714" y="19446"/>
                    <a:pt x="16071" y="17482"/>
                    <a:pt x="16429" y="17286"/>
                  </a:cubicBezTo>
                  <a:cubicBezTo>
                    <a:pt x="16786" y="17089"/>
                    <a:pt x="17679" y="17482"/>
                    <a:pt x="17857" y="18071"/>
                  </a:cubicBezTo>
                  <a:cubicBezTo>
                    <a:pt x="18036" y="18661"/>
                    <a:pt x="17946" y="21509"/>
                    <a:pt x="17857" y="22000"/>
                  </a:cubicBezTo>
                  <a:cubicBezTo>
                    <a:pt x="17768" y="22491"/>
                    <a:pt x="17232" y="21705"/>
                    <a:pt x="17143" y="22000"/>
                  </a:cubicBezTo>
                  <a:cubicBezTo>
                    <a:pt x="17054" y="22295"/>
                    <a:pt x="17232" y="24062"/>
                    <a:pt x="17143" y="24357"/>
                  </a:cubicBezTo>
                  <a:cubicBezTo>
                    <a:pt x="17054" y="24652"/>
                    <a:pt x="16518" y="24259"/>
                    <a:pt x="16429" y="24357"/>
                  </a:cubicBezTo>
                  <a:cubicBezTo>
                    <a:pt x="16339" y="24455"/>
                    <a:pt x="16518" y="25045"/>
                    <a:pt x="16429" y="25143"/>
                  </a:cubicBezTo>
                  <a:cubicBezTo>
                    <a:pt x="16339" y="25241"/>
                    <a:pt x="15804" y="24946"/>
                    <a:pt x="15714" y="25143"/>
                  </a:cubicBezTo>
                  <a:cubicBezTo>
                    <a:pt x="15625" y="25339"/>
                    <a:pt x="15804" y="26518"/>
                    <a:pt x="15714" y="26714"/>
                  </a:cubicBezTo>
                  <a:cubicBezTo>
                    <a:pt x="15625" y="26911"/>
                    <a:pt x="15268" y="26420"/>
                    <a:pt x="15000" y="26714"/>
                  </a:cubicBezTo>
                  <a:cubicBezTo>
                    <a:pt x="14732" y="27009"/>
                    <a:pt x="13929" y="28777"/>
                    <a:pt x="13571" y="29071"/>
                  </a:cubicBezTo>
                  <a:cubicBezTo>
                    <a:pt x="13214" y="29366"/>
                    <a:pt x="12321" y="28973"/>
                    <a:pt x="12143" y="29071"/>
                  </a:cubicBezTo>
                  <a:cubicBezTo>
                    <a:pt x="11964" y="29170"/>
                    <a:pt x="12589" y="29759"/>
                    <a:pt x="12143" y="29857"/>
                  </a:cubicBezTo>
                  <a:cubicBezTo>
                    <a:pt x="11696" y="29955"/>
                    <a:pt x="9018" y="30152"/>
                    <a:pt x="8571" y="29857"/>
                  </a:cubicBezTo>
                  <a:cubicBezTo>
                    <a:pt x="8125" y="29562"/>
                    <a:pt x="8661" y="27795"/>
                    <a:pt x="8571" y="27500"/>
                  </a:cubicBezTo>
                  <a:cubicBezTo>
                    <a:pt x="8482" y="27205"/>
                    <a:pt x="7946" y="27696"/>
                    <a:pt x="7857" y="27500"/>
                  </a:cubicBezTo>
                  <a:cubicBezTo>
                    <a:pt x="7768" y="27304"/>
                    <a:pt x="8036" y="26223"/>
                    <a:pt x="7857" y="25929"/>
                  </a:cubicBezTo>
                  <a:cubicBezTo>
                    <a:pt x="7679" y="25634"/>
                    <a:pt x="6696" y="25732"/>
                    <a:pt x="6429" y="25143"/>
                  </a:cubicBezTo>
                  <a:cubicBezTo>
                    <a:pt x="6161" y="24554"/>
                    <a:pt x="5893" y="21705"/>
                    <a:pt x="5714" y="21214"/>
                  </a:cubicBezTo>
                  <a:cubicBezTo>
                    <a:pt x="5536" y="20723"/>
                    <a:pt x="5089" y="21705"/>
                    <a:pt x="5000" y="21214"/>
                  </a:cubicBezTo>
                  <a:cubicBezTo>
                    <a:pt x="4911" y="20723"/>
                    <a:pt x="5089" y="17777"/>
                    <a:pt x="5000" y="17286"/>
                  </a:cubicBezTo>
                  <a:cubicBezTo>
                    <a:pt x="4911" y="16795"/>
                    <a:pt x="4375" y="17089"/>
                    <a:pt x="4286" y="17286"/>
                  </a:cubicBezTo>
                  <a:cubicBezTo>
                    <a:pt x="4196" y="17482"/>
                    <a:pt x="4375" y="18661"/>
                    <a:pt x="4286" y="18857"/>
                  </a:cubicBezTo>
                  <a:cubicBezTo>
                    <a:pt x="4196" y="19054"/>
                    <a:pt x="3661" y="18661"/>
                    <a:pt x="3571" y="18857"/>
                  </a:cubicBezTo>
                  <a:cubicBezTo>
                    <a:pt x="3482" y="19054"/>
                    <a:pt x="3661" y="20232"/>
                    <a:pt x="3571" y="20429"/>
                  </a:cubicBezTo>
                  <a:cubicBezTo>
                    <a:pt x="3482" y="20625"/>
                    <a:pt x="2946" y="20036"/>
                    <a:pt x="2857" y="20429"/>
                  </a:cubicBezTo>
                  <a:cubicBezTo>
                    <a:pt x="2768" y="20821"/>
                    <a:pt x="2946" y="23179"/>
                    <a:pt x="2857" y="23571"/>
                  </a:cubicBezTo>
                  <a:cubicBezTo>
                    <a:pt x="2768" y="23964"/>
                    <a:pt x="2232" y="23473"/>
                    <a:pt x="2143" y="23571"/>
                  </a:cubicBezTo>
                  <a:cubicBezTo>
                    <a:pt x="2054" y="23670"/>
                    <a:pt x="2054" y="24259"/>
                    <a:pt x="2143" y="24357"/>
                  </a:cubicBezTo>
                  <a:cubicBezTo>
                    <a:pt x="2232" y="24455"/>
                    <a:pt x="2768" y="24062"/>
                    <a:pt x="2857" y="24357"/>
                  </a:cubicBezTo>
                  <a:cubicBezTo>
                    <a:pt x="2946" y="24652"/>
                    <a:pt x="3125" y="26616"/>
                    <a:pt x="2857" y="26714"/>
                  </a:cubicBezTo>
                  <a:cubicBezTo>
                    <a:pt x="2589" y="26812"/>
                    <a:pt x="982" y="25634"/>
                    <a:pt x="714" y="25143"/>
                  </a:cubicBezTo>
                  <a:cubicBezTo>
                    <a:pt x="446" y="24652"/>
                    <a:pt x="804" y="23080"/>
                    <a:pt x="714" y="22786"/>
                  </a:cubicBezTo>
                  <a:cubicBezTo>
                    <a:pt x="625" y="22491"/>
                    <a:pt x="89" y="23571"/>
                    <a:pt x="0" y="22786"/>
                  </a:cubicBezTo>
                  <a:cubicBezTo>
                    <a:pt x="-89" y="22000"/>
                    <a:pt x="-89" y="17286"/>
                    <a:pt x="0" y="16500"/>
                  </a:cubicBezTo>
                  <a:cubicBezTo>
                    <a:pt x="89" y="15714"/>
                    <a:pt x="536" y="16893"/>
                    <a:pt x="714" y="16500"/>
                  </a:cubicBezTo>
                  <a:cubicBezTo>
                    <a:pt x="893" y="16107"/>
                    <a:pt x="1250" y="13750"/>
                    <a:pt x="1429" y="13357"/>
                  </a:cubicBezTo>
                  <a:cubicBezTo>
                    <a:pt x="1607" y="12964"/>
                    <a:pt x="2054" y="13455"/>
                    <a:pt x="2143" y="13357"/>
                  </a:cubicBezTo>
                  <a:cubicBezTo>
                    <a:pt x="2232" y="13259"/>
                    <a:pt x="2054" y="12670"/>
                    <a:pt x="2143" y="12571"/>
                  </a:cubicBezTo>
                  <a:cubicBezTo>
                    <a:pt x="2232" y="12473"/>
                    <a:pt x="2768" y="12670"/>
                    <a:pt x="2857" y="12571"/>
                  </a:cubicBezTo>
                  <a:cubicBezTo>
                    <a:pt x="2946" y="12473"/>
                    <a:pt x="2768" y="11884"/>
                    <a:pt x="2857" y="11786"/>
                  </a:cubicBezTo>
                  <a:cubicBezTo>
                    <a:pt x="2946" y="11688"/>
                    <a:pt x="3482" y="11884"/>
                    <a:pt x="3571" y="11786"/>
                  </a:cubicBezTo>
                  <a:cubicBezTo>
                    <a:pt x="3661" y="11688"/>
                    <a:pt x="3214" y="11393"/>
                    <a:pt x="3571" y="11000"/>
                  </a:cubicBezTo>
                  <a:cubicBezTo>
                    <a:pt x="3929" y="10607"/>
                    <a:pt x="6071" y="9134"/>
                    <a:pt x="6429" y="8643"/>
                  </a:cubicBezTo>
                  <a:cubicBezTo>
                    <a:pt x="6786" y="8152"/>
                    <a:pt x="6339" y="7268"/>
                    <a:pt x="6429" y="7071"/>
                  </a:cubicBezTo>
                  <a:cubicBezTo>
                    <a:pt x="6518" y="6875"/>
                    <a:pt x="7054" y="7268"/>
                    <a:pt x="7143" y="7071"/>
                  </a:cubicBezTo>
                  <a:cubicBezTo>
                    <a:pt x="7232" y="6875"/>
                    <a:pt x="7054" y="5696"/>
                    <a:pt x="7143" y="5500"/>
                  </a:cubicBezTo>
                  <a:cubicBezTo>
                    <a:pt x="7232" y="5304"/>
                    <a:pt x="7768" y="6188"/>
                    <a:pt x="7857" y="5500"/>
                  </a:cubicBezTo>
                  <a:cubicBezTo>
                    <a:pt x="7946" y="4812"/>
                    <a:pt x="7679" y="688"/>
                    <a:pt x="7857"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8" name="LM head stage 3"/>
            <p:cNvSpPr/>
            <p:nvPr/>
          </p:nvSpPr>
          <p:spPr>
            <a:xfrm>
              <a:off x="11772368" y="232315"/>
              <a:ext cx="161615" cy="248602"/>
            </a:xfrm>
            <a:custGeom>
              <a:avLst/>
              <a:gdLst/>
              <a:ahLst/>
              <a:cxnLst/>
              <a:rect l="0" t="0" r="r" b="b"/>
              <a:pathLst>
                <a:path w="17674" h="27188">
                  <a:moveTo>
                    <a:pt x="8837" y="0"/>
                  </a:moveTo>
                  <a:cubicBezTo>
                    <a:pt x="8948" y="-293"/>
                    <a:pt x="9610" y="-117"/>
                    <a:pt x="9721" y="0"/>
                  </a:cubicBezTo>
                  <a:cubicBezTo>
                    <a:pt x="9831" y="117"/>
                    <a:pt x="9610" y="762"/>
                    <a:pt x="9721" y="938"/>
                  </a:cubicBezTo>
                  <a:cubicBezTo>
                    <a:pt x="9831" y="1113"/>
                    <a:pt x="10494" y="1230"/>
                    <a:pt x="10605" y="1406"/>
                  </a:cubicBezTo>
                  <a:cubicBezTo>
                    <a:pt x="10715" y="1582"/>
                    <a:pt x="10549" y="2227"/>
                    <a:pt x="10605" y="2344"/>
                  </a:cubicBezTo>
                  <a:cubicBezTo>
                    <a:pt x="10660" y="2461"/>
                    <a:pt x="10991" y="2227"/>
                    <a:pt x="11047" y="2344"/>
                  </a:cubicBezTo>
                  <a:cubicBezTo>
                    <a:pt x="11102" y="2461"/>
                    <a:pt x="10991" y="3164"/>
                    <a:pt x="11047" y="3281"/>
                  </a:cubicBezTo>
                  <a:cubicBezTo>
                    <a:pt x="11102" y="3398"/>
                    <a:pt x="11433" y="3105"/>
                    <a:pt x="11488" y="3281"/>
                  </a:cubicBezTo>
                  <a:cubicBezTo>
                    <a:pt x="11544" y="3457"/>
                    <a:pt x="11433" y="4512"/>
                    <a:pt x="11488" y="4688"/>
                  </a:cubicBezTo>
                  <a:cubicBezTo>
                    <a:pt x="11544" y="4863"/>
                    <a:pt x="11875" y="4395"/>
                    <a:pt x="11930" y="4688"/>
                  </a:cubicBezTo>
                  <a:cubicBezTo>
                    <a:pt x="11985" y="4980"/>
                    <a:pt x="11875" y="6738"/>
                    <a:pt x="11930" y="7031"/>
                  </a:cubicBezTo>
                  <a:cubicBezTo>
                    <a:pt x="11985" y="7324"/>
                    <a:pt x="12317" y="6738"/>
                    <a:pt x="12372" y="7031"/>
                  </a:cubicBezTo>
                  <a:cubicBezTo>
                    <a:pt x="12427" y="7324"/>
                    <a:pt x="12317" y="9082"/>
                    <a:pt x="12372" y="9375"/>
                  </a:cubicBezTo>
                  <a:cubicBezTo>
                    <a:pt x="12427" y="9668"/>
                    <a:pt x="12759" y="8906"/>
                    <a:pt x="12814" y="9375"/>
                  </a:cubicBezTo>
                  <a:cubicBezTo>
                    <a:pt x="12869" y="9844"/>
                    <a:pt x="12703" y="12656"/>
                    <a:pt x="12814" y="13125"/>
                  </a:cubicBezTo>
                  <a:cubicBezTo>
                    <a:pt x="12924" y="13594"/>
                    <a:pt x="13587" y="13184"/>
                    <a:pt x="13698" y="13125"/>
                  </a:cubicBezTo>
                  <a:cubicBezTo>
                    <a:pt x="13808" y="13066"/>
                    <a:pt x="13532" y="12832"/>
                    <a:pt x="13698" y="12656"/>
                  </a:cubicBezTo>
                  <a:cubicBezTo>
                    <a:pt x="13863" y="12480"/>
                    <a:pt x="14802" y="12246"/>
                    <a:pt x="15023" y="11719"/>
                  </a:cubicBezTo>
                  <a:cubicBezTo>
                    <a:pt x="15244" y="11191"/>
                    <a:pt x="15355" y="8848"/>
                    <a:pt x="15465" y="8438"/>
                  </a:cubicBezTo>
                  <a:cubicBezTo>
                    <a:pt x="15576" y="8027"/>
                    <a:pt x="15852" y="8320"/>
                    <a:pt x="15907" y="8438"/>
                  </a:cubicBezTo>
                  <a:cubicBezTo>
                    <a:pt x="15962" y="8555"/>
                    <a:pt x="15852" y="9258"/>
                    <a:pt x="15907" y="9375"/>
                  </a:cubicBezTo>
                  <a:cubicBezTo>
                    <a:pt x="15962" y="9492"/>
                    <a:pt x="16294" y="9258"/>
                    <a:pt x="16349" y="9375"/>
                  </a:cubicBezTo>
                  <a:cubicBezTo>
                    <a:pt x="16404" y="9492"/>
                    <a:pt x="16294" y="10195"/>
                    <a:pt x="16349" y="10312"/>
                  </a:cubicBezTo>
                  <a:cubicBezTo>
                    <a:pt x="16404" y="10430"/>
                    <a:pt x="16735" y="10195"/>
                    <a:pt x="16791" y="10312"/>
                  </a:cubicBezTo>
                  <a:cubicBezTo>
                    <a:pt x="16846" y="10430"/>
                    <a:pt x="16735" y="11133"/>
                    <a:pt x="16791" y="11250"/>
                  </a:cubicBezTo>
                  <a:cubicBezTo>
                    <a:pt x="16846" y="11367"/>
                    <a:pt x="17177" y="11016"/>
                    <a:pt x="17233" y="11250"/>
                  </a:cubicBezTo>
                  <a:cubicBezTo>
                    <a:pt x="17288" y="11484"/>
                    <a:pt x="17177" y="12891"/>
                    <a:pt x="17233" y="13125"/>
                  </a:cubicBezTo>
                  <a:cubicBezTo>
                    <a:pt x="17288" y="13359"/>
                    <a:pt x="17619" y="12188"/>
                    <a:pt x="17674" y="13125"/>
                  </a:cubicBezTo>
                  <a:cubicBezTo>
                    <a:pt x="17730" y="14062"/>
                    <a:pt x="17730" y="19688"/>
                    <a:pt x="17674" y="20625"/>
                  </a:cubicBezTo>
                  <a:cubicBezTo>
                    <a:pt x="17619" y="21562"/>
                    <a:pt x="17288" y="20391"/>
                    <a:pt x="17233" y="20625"/>
                  </a:cubicBezTo>
                  <a:cubicBezTo>
                    <a:pt x="17177" y="20859"/>
                    <a:pt x="17288" y="22266"/>
                    <a:pt x="17233" y="22500"/>
                  </a:cubicBezTo>
                  <a:cubicBezTo>
                    <a:pt x="17177" y="22734"/>
                    <a:pt x="16846" y="22383"/>
                    <a:pt x="16791" y="22500"/>
                  </a:cubicBezTo>
                  <a:cubicBezTo>
                    <a:pt x="16735" y="22617"/>
                    <a:pt x="16846" y="23320"/>
                    <a:pt x="16791" y="23438"/>
                  </a:cubicBezTo>
                  <a:cubicBezTo>
                    <a:pt x="16735" y="23555"/>
                    <a:pt x="16459" y="23203"/>
                    <a:pt x="16349" y="23438"/>
                  </a:cubicBezTo>
                  <a:cubicBezTo>
                    <a:pt x="16238" y="23672"/>
                    <a:pt x="16017" y="25078"/>
                    <a:pt x="15907" y="25312"/>
                  </a:cubicBezTo>
                  <a:cubicBezTo>
                    <a:pt x="15797" y="25547"/>
                    <a:pt x="15686" y="25078"/>
                    <a:pt x="15465" y="25312"/>
                  </a:cubicBezTo>
                  <a:cubicBezTo>
                    <a:pt x="15244" y="25547"/>
                    <a:pt x="14581" y="26953"/>
                    <a:pt x="14140" y="27188"/>
                  </a:cubicBezTo>
                  <a:cubicBezTo>
                    <a:pt x="13698" y="27422"/>
                    <a:pt x="12206" y="27363"/>
                    <a:pt x="11930" y="27188"/>
                  </a:cubicBezTo>
                  <a:cubicBezTo>
                    <a:pt x="11654" y="27012"/>
                    <a:pt x="11875" y="25957"/>
                    <a:pt x="11930" y="25781"/>
                  </a:cubicBezTo>
                  <a:cubicBezTo>
                    <a:pt x="11985" y="25605"/>
                    <a:pt x="12317" y="25957"/>
                    <a:pt x="12372" y="25781"/>
                  </a:cubicBezTo>
                  <a:cubicBezTo>
                    <a:pt x="12427" y="25605"/>
                    <a:pt x="12317" y="24551"/>
                    <a:pt x="12372" y="24375"/>
                  </a:cubicBezTo>
                  <a:cubicBezTo>
                    <a:pt x="12427" y="24199"/>
                    <a:pt x="12759" y="24961"/>
                    <a:pt x="12814" y="24375"/>
                  </a:cubicBezTo>
                  <a:cubicBezTo>
                    <a:pt x="12869" y="23789"/>
                    <a:pt x="12869" y="20273"/>
                    <a:pt x="12814" y="19688"/>
                  </a:cubicBezTo>
                  <a:cubicBezTo>
                    <a:pt x="12759" y="19102"/>
                    <a:pt x="12427" y="19863"/>
                    <a:pt x="12372" y="19688"/>
                  </a:cubicBezTo>
                  <a:cubicBezTo>
                    <a:pt x="12317" y="19512"/>
                    <a:pt x="12427" y="18457"/>
                    <a:pt x="12372" y="18281"/>
                  </a:cubicBezTo>
                  <a:cubicBezTo>
                    <a:pt x="12317" y="18105"/>
                    <a:pt x="11985" y="18398"/>
                    <a:pt x="11930" y="18281"/>
                  </a:cubicBezTo>
                  <a:cubicBezTo>
                    <a:pt x="11875" y="18164"/>
                    <a:pt x="11985" y="17461"/>
                    <a:pt x="11930" y="17344"/>
                  </a:cubicBezTo>
                  <a:cubicBezTo>
                    <a:pt x="11875" y="17227"/>
                    <a:pt x="11544" y="17461"/>
                    <a:pt x="11488" y="17344"/>
                  </a:cubicBezTo>
                  <a:cubicBezTo>
                    <a:pt x="11433" y="17227"/>
                    <a:pt x="11544" y="16523"/>
                    <a:pt x="11488" y="16406"/>
                  </a:cubicBezTo>
                  <a:cubicBezTo>
                    <a:pt x="11433" y="16289"/>
                    <a:pt x="11102" y="16582"/>
                    <a:pt x="11047" y="16406"/>
                  </a:cubicBezTo>
                  <a:cubicBezTo>
                    <a:pt x="10991" y="16230"/>
                    <a:pt x="11102" y="15176"/>
                    <a:pt x="11047" y="15000"/>
                  </a:cubicBezTo>
                  <a:cubicBezTo>
                    <a:pt x="10991" y="14824"/>
                    <a:pt x="10660" y="15293"/>
                    <a:pt x="10605" y="15000"/>
                  </a:cubicBezTo>
                  <a:cubicBezTo>
                    <a:pt x="10549" y="14707"/>
                    <a:pt x="10660" y="12949"/>
                    <a:pt x="10605" y="12656"/>
                  </a:cubicBezTo>
                  <a:cubicBezTo>
                    <a:pt x="10549" y="12363"/>
                    <a:pt x="10218" y="12715"/>
                    <a:pt x="10163" y="12656"/>
                  </a:cubicBezTo>
                  <a:cubicBezTo>
                    <a:pt x="10108" y="12598"/>
                    <a:pt x="10273" y="12188"/>
                    <a:pt x="10163" y="12188"/>
                  </a:cubicBezTo>
                  <a:cubicBezTo>
                    <a:pt x="10052" y="12188"/>
                    <a:pt x="9390" y="12422"/>
                    <a:pt x="9279" y="12656"/>
                  </a:cubicBezTo>
                  <a:cubicBezTo>
                    <a:pt x="9169" y="12891"/>
                    <a:pt x="9334" y="13887"/>
                    <a:pt x="9279" y="14062"/>
                  </a:cubicBezTo>
                  <a:cubicBezTo>
                    <a:pt x="9224" y="14238"/>
                    <a:pt x="8892" y="13887"/>
                    <a:pt x="8837" y="14062"/>
                  </a:cubicBezTo>
                  <a:cubicBezTo>
                    <a:pt x="8782" y="14238"/>
                    <a:pt x="8892" y="15293"/>
                    <a:pt x="8837" y="15469"/>
                  </a:cubicBezTo>
                  <a:cubicBezTo>
                    <a:pt x="8782" y="15645"/>
                    <a:pt x="8451" y="15234"/>
                    <a:pt x="8395" y="15469"/>
                  </a:cubicBezTo>
                  <a:cubicBezTo>
                    <a:pt x="8340" y="15703"/>
                    <a:pt x="8451" y="17109"/>
                    <a:pt x="8395" y="17344"/>
                  </a:cubicBezTo>
                  <a:cubicBezTo>
                    <a:pt x="8340" y="17578"/>
                    <a:pt x="8009" y="16934"/>
                    <a:pt x="7953" y="17344"/>
                  </a:cubicBezTo>
                  <a:cubicBezTo>
                    <a:pt x="7898" y="17754"/>
                    <a:pt x="8009" y="20215"/>
                    <a:pt x="7953" y="20625"/>
                  </a:cubicBezTo>
                  <a:cubicBezTo>
                    <a:pt x="7898" y="21035"/>
                    <a:pt x="7567" y="20508"/>
                    <a:pt x="7512" y="20625"/>
                  </a:cubicBezTo>
                  <a:cubicBezTo>
                    <a:pt x="7456" y="20742"/>
                    <a:pt x="7567" y="21445"/>
                    <a:pt x="7512" y="21562"/>
                  </a:cubicBezTo>
                  <a:cubicBezTo>
                    <a:pt x="7456" y="21680"/>
                    <a:pt x="7125" y="21680"/>
                    <a:pt x="7070" y="21562"/>
                  </a:cubicBezTo>
                  <a:cubicBezTo>
                    <a:pt x="7015" y="21445"/>
                    <a:pt x="7125" y="20742"/>
                    <a:pt x="7070" y="20625"/>
                  </a:cubicBezTo>
                  <a:cubicBezTo>
                    <a:pt x="7015" y="20508"/>
                    <a:pt x="6683" y="20684"/>
                    <a:pt x="6628" y="20625"/>
                  </a:cubicBezTo>
                  <a:cubicBezTo>
                    <a:pt x="6573" y="20566"/>
                    <a:pt x="6683" y="20215"/>
                    <a:pt x="6628" y="20156"/>
                  </a:cubicBezTo>
                  <a:cubicBezTo>
                    <a:pt x="6573" y="20098"/>
                    <a:pt x="6241" y="20273"/>
                    <a:pt x="6186" y="20156"/>
                  </a:cubicBezTo>
                  <a:cubicBezTo>
                    <a:pt x="6131" y="20039"/>
                    <a:pt x="6241" y="19336"/>
                    <a:pt x="6186" y="19219"/>
                  </a:cubicBezTo>
                  <a:cubicBezTo>
                    <a:pt x="6131" y="19102"/>
                    <a:pt x="5799" y="19395"/>
                    <a:pt x="5744" y="19219"/>
                  </a:cubicBezTo>
                  <a:cubicBezTo>
                    <a:pt x="5689" y="19043"/>
                    <a:pt x="5799" y="17988"/>
                    <a:pt x="5744" y="17812"/>
                  </a:cubicBezTo>
                  <a:cubicBezTo>
                    <a:pt x="5689" y="17637"/>
                    <a:pt x="5358" y="18105"/>
                    <a:pt x="5302" y="17812"/>
                  </a:cubicBezTo>
                  <a:cubicBezTo>
                    <a:pt x="5247" y="17520"/>
                    <a:pt x="5358" y="15762"/>
                    <a:pt x="5302" y="15469"/>
                  </a:cubicBezTo>
                  <a:cubicBezTo>
                    <a:pt x="5247" y="15176"/>
                    <a:pt x="4916" y="15352"/>
                    <a:pt x="4860" y="15469"/>
                  </a:cubicBezTo>
                  <a:cubicBezTo>
                    <a:pt x="4805" y="15586"/>
                    <a:pt x="4916" y="16289"/>
                    <a:pt x="4860" y="16406"/>
                  </a:cubicBezTo>
                  <a:cubicBezTo>
                    <a:pt x="4805" y="16523"/>
                    <a:pt x="4474" y="16230"/>
                    <a:pt x="4419" y="16406"/>
                  </a:cubicBezTo>
                  <a:cubicBezTo>
                    <a:pt x="4363" y="16582"/>
                    <a:pt x="4474" y="17637"/>
                    <a:pt x="4419" y="17812"/>
                  </a:cubicBezTo>
                  <a:cubicBezTo>
                    <a:pt x="4363" y="17988"/>
                    <a:pt x="4032" y="16992"/>
                    <a:pt x="3977" y="17812"/>
                  </a:cubicBezTo>
                  <a:cubicBezTo>
                    <a:pt x="3922" y="18633"/>
                    <a:pt x="3922" y="23555"/>
                    <a:pt x="3977" y="24375"/>
                  </a:cubicBezTo>
                  <a:cubicBezTo>
                    <a:pt x="4032" y="25195"/>
                    <a:pt x="4308" y="24023"/>
                    <a:pt x="4419" y="24375"/>
                  </a:cubicBezTo>
                  <a:cubicBezTo>
                    <a:pt x="4529" y="24727"/>
                    <a:pt x="4971" y="26836"/>
                    <a:pt x="4860" y="27188"/>
                  </a:cubicBezTo>
                  <a:cubicBezTo>
                    <a:pt x="4750" y="27539"/>
                    <a:pt x="3701" y="27246"/>
                    <a:pt x="3535" y="27188"/>
                  </a:cubicBezTo>
                  <a:cubicBezTo>
                    <a:pt x="3369" y="27129"/>
                    <a:pt x="3756" y="26953"/>
                    <a:pt x="3535" y="26719"/>
                  </a:cubicBezTo>
                  <a:cubicBezTo>
                    <a:pt x="3314" y="26484"/>
                    <a:pt x="1988" y="25605"/>
                    <a:pt x="1767" y="25312"/>
                  </a:cubicBezTo>
                  <a:cubicBezTo>
                    <a:pt x="1547" y="25020"/>
                    <a:pt x="1823" y="24492"/>
                    <a:pt x="1767" y="24375"/>
                  </a:cubicBezTo>
                  <a:cubicBezTo>
                    <a:pt x="1712" y="24258"/>
                    <a:pt x="1381" y="24492"/>
                    <a:pt x="1326" y="24375"/>
                  </a:cubicBezTo>
                  <a:cubicBezTo>
                    <a:pt x="1270" y="24258"/>
                    <a:pt x="1381" y="23555"/>
                    <a:pt x="1326" y="23438"/>
                  </a:cubicBezTo>
                  <a:cubicBezTo>
                    <a:pt x="1270" y="23320"/>
                    <a:pt x="939" y="23613"/>
                    <a:pt x="884" y="23438"/>
                  </a:cubicBezTo>
                  <a:cubicBezTo>
                    <a:pt x="828" y="23262"/>
                    <a:pt x="939" y="22207"/>
                    <a:pt x="884" y="22031"/>
                  </a:cubicBezTo>
                  <a:cubicBezTo>
                    <a:pt x="828" y="21855"/>
                    <a:pt x="497" y="22207"/>
                    <a:pt x="442" y="22031"/>
                  </a:cubicBezTo>
                  <a:cubicBezTo>
                    <a:pt x="387" y="21855"/>
                    <a:pt x="497" y="20801"/>
                    <a:pt x="442" y="20625"/>
                  </a:cubicBezTo>
                  <a:cubicBezTo>
                    <a:pt x="387" y="20449"/>
                    <a:pt x="55" y="21211"/>
                    <a:pt x="0" y="20625"/>
                  </a:cubicBezTo>
                  <a:cubicBezTo>
                    <a:pt x="-55" y="20039"/>
                    <a:pt x="-55" y="16523"/>
                    <a:pt x="0" y="15938"/>
                  </a:cubicBezTo>
                  <a:cubicBezTo>
                    <a:pt x="55" y="15352"/>
                    <a:pt x="387" y="16289"/>
                    <a:pt x="442" y="15938"/>
                  </a:cubicBezTo>
                  <a:cubicBezTo>
                    <a:pt x="497" y="15586"/>
                    <a:pt x="387" y="13477"/>
                    <a:pt x="442" y="13125"/>
                  </a:cubicBezTo>
                  <a:cubicBezTo>
                    <a:pt x="497" y="12773"/>
                    <a:pt x="828" y="13359"/>
                    <a:pt x="884" y="13125"/>
                  </a:cubicBezTo>
                  <a:cubicBezTo>
                    <a:pt x="939" y="12891"/>
                    <a:pt x="828" y="11484"/>
                    <a:pt x="884" y="11250"/>
                  </a:cubicBezTo>
                  <a:cubicBezTo>
                    <a:pt x="939" y="11016"/>
                    <a:pt x="1215" y="11660"/>
                    <a:pt x="1326" y="11250"/>
                  </a:cubicBezTo>
                  <a:cubicBezTo>
                    <a:pt x="1436" y="10840"/>
                    <a:pt x="1657" y="8379"/>
                    <a:pt x="1767" y="7969"/>
                  </a:cubicBezTo>
                  <a:cubicBezTo>
                    <a:pt x="1878" y="7559"/>
                    <a:pt x="2099" y="8555"/>
                    <a:pt x="2209" y="7969"/>
                  </a:cubicBezTo>
                  <a:cubicBezTo>
                    <a:pt x="2320" y="7383"/>
                    <a:pt x="2485" y="3867"/>
                    <a:pt x="2651" y="3281"/>
                  </a:cubicBezTo>
                  <a:cubicBezTo>
                    <a:pt x="2817" y="2695"/>
                    <a:pt x="3424" y="3223"/>
                    <a:pt x="3535" y="3281"/>
                  </a:cubicBezTo>
                  <a:cubicBezTo>
                    <a:pt x="3645" y="3340"/>
                    <a:pt x="3480" y="3691"/>
                    <a:pt x="3535" y="3750"/>
                  </a:cubicBezTo>
                  <a:cubicBezTo>
                    <a:pt x="3590" y="3809"/>
                    <a:pt x="3922" y="3633"/>
                    <a:pt x="3977" y="3750"/>
                  </a:cubicBezTo>
                  <a:cubicBezTo>
                    <a:pt x="4032" y="3867"/>
                    <a:pt x="3922" y="4570"/>
                    <a:pt x="3977" y="4688"/>
                  </a:cubicBezTo>
                  <a:cubicBezTo>
                    <a:pt x="4032" y="4805"/>
                    <a:pt x="4363" y="4570"/>
                    <a:pt x="4419" y="4688"/>
                  </a:cubicBezTo>
                  <a:cubicBezTo>
                    <a:pt x="4474" y="4805"/>
                    <a:pt x="4363" y="5508"/>
                    <a:pt x="4419" y="5625"/>
                  </a:cubicBezTo>
                  <a:cubicBezTo>
                    <a:pt x="4474" y="5742"/>
                    <a:pt x="4805" y="5215"/>
                    <a:pt x="4860" y="5625"/>
                  </a:cubicBezTo>
                  <a:cubicBezTo>
                    <a:pt x="4916" y="6035"/>
                    <a:pt x="4750" y="8438"/>
                    <a:pt x="4860" y="8906"/>
                  </a:cubicBezTo>
                  <a:cubicBezTo>
                    <a:pt x="4971" y="9375"/>
                    <a:pt x="5634" y="9434"/>
                    <a:pt x="5744" y="9375"/>
                  </a:cubicBezTo>
                  <a:cubicBezTo>
                    <a:pt x="5855" y="9316"/>
                    <a:pt x="5689" y="8555"/>
                    <a:pt x="5744" y="8438"/>
                  </a:cubicBezTo>
                  <a:cubicBezTo>
                    <a:pt x="5799" y="8320"/>
                    <a:pt x="6076" y="8672"/>
                    <a:pt x="6186" y="8438"/>
                  </a:cubicBezTo>
                  <a:cubicBezTo>
                    <a:pt x="6297" y="8203"/>
                    <a:pt x="6517" y="6797"/>
                    <a:pt x="6628" y="6562"/>
                  </a:cubicBezTo>
                  <a:cubicBezTo>
                    <a:pt x="6738" y="6328"/>
                    <a:pt x="7015" y="6621"/>
                    <a:pt x="7070" y="6562"/>
                  </a:cubicBezTo>
                  <a:cubicBezTo>
                    <a:pt x="7125" y="6504"/>
                    <a:pt x="7015" y="6152"/>
                    <a:pt x="7070" y="6094"/>
                  </a:cubicBezTo>
                  <a:cubicBezTo>
                    <a:pt x="7125" y="6035"/>
                    <a:pt x="7456" y="6211"/>
                    <a:pt x="7512" y="6094"/>
                  </a:cubicBezTo>
                  <a:cubicBezTo>
                    <a:pt x="7567" y="5977"/>
                    <a:pt x="7456" y="5273"/>
                    <a:pt x="7512" y="5156"/>
                  </a:cubicBezTo>
                  <a:cubicBezTo>
                    <a:pt x="7567" y="5039"/>
                    <a:pt x="7898" y="5332"/>
                    <a:pt x="7953" y="5156"/>
                  </a:cubicBezTo>
                  <a:cubicBezTo>
                    <a:pt x="8009" y="4980"/>
                    <a:pt x="7898" y="3926"/>
                    <a:pt x="7953" y="3750"/>
                  </a:cubicBezTo>
                  <a:cubicBezTo>
                    <a:pt x="8009" y="3574"/>
                    <a:pt x="8340" y="3926"/>
                    <a:pt x="8395" y="3750"/>
                  </a:cubicBezTo>
                  <a:cubicBezTo>
                    <a:pt x="8451" y="3574"/>
                    <a:pt x="8340" y="2520"/>
                    <a:pt x="8395" y="2344"/>
                  </a:cubicBezTo>
                  <a:cubicBezTo>
                    <a:pt x="8451" y="2168"/>
                    <a:pt x="8782" y="2637"/>
                    <a:pt x="8837" y="2344"/>
                  </a:cubicBezTo>
                  <a:cubicBezTo>
                    <a:pt x="8892" y="2051"/>
                    <a:pt x="8727" y="293"/>
                    <a:pt x="8837"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ime Head"/>
            <p:cNvSpPr txBox="1"/>
            <p:nvPr/>
          </p:nvSpPr>
          <p:spPr>
            <a:xfrm>
              <a:off x="7602093" y="192024"/>
              <a:ext cx="1452067" cy="357988"/>
            </a:xfrm>
            <a:prstGeom prst="rect">
              <a:avLst/>
            </a:prstGeom>
            <a:noFill/>
            <a:effectLst/>
          </p:spPr>
          <p:txBody>
            <a:bodyPr wrap="none" lIns="0" rIns="0" tIns="0" bIns="0" anchor="t">
              <a:spAutoFit/>
            </a:bodyPr>
            <a:lstStyle/>
            <a:p>
              <a:pPr algn="l">
                <a:spcBef>
                  <a:spcPts val="0"/>
                </a:spcBef>
                <a:spcAft>
                  <a:spcPts val="0"/>
                </a:spcAft>
                <a:lnSpc>
                  <a:spcPct val="100000"/>
                </a:lnSpc>
              </a:pPr>
              <a:r>
                <a:rPr sz="2088" b="0" i="0">
                  <a:solidFill>
                    <a:srgbClr val="59194F"/>
                  </a:solidFill>
                  <a:latin typeface="URW Gothic"/>
                </a:rPr>
                <a:t>Time Head</a:t>
              </a:r>
            </a:p>
          </p:txBody>
        </p:sp>
        <p:sp>
          <p:nvSpPr>
            <p:cNvPr id="250" name="LM Head"/>
            <p:cNvSpPr txBox="1"/>
            <p:nvPr/>
          </p:nvSpPr>
          <p:spPr>
            <a:xfrm>
              <a:off x="10500741" y="192024"/>
              <a:ext cx="1229854" cy="357988"/>
            </a:xfrm>
            <a:prstGeom prst="rect">
              <a:avLst/>
            </a:prstGeom>
            <a:noFill/>
            <a:effectLst/>
          </p:spPr>
          <p:txBody>
            <a:bodyPr wrap="none" lIns="0" rIns="0" tIns="0" bIns="0" anchor="t">
              <a:spAutoFit/>
            </a:bodyPr>
            <a:lstStyle/>
            <a:p>
              <a:pPr algn="l">
                <a:spcBef>
                  <a:spcPts val="0"/>
                </a:spcBef>
                <a:spcAft>
                  <a:spcPts val="0"/>
                </a:spcAft>
                <a:lnSpc>
                  <a:spcPct val="100000"/>
                </a:lnSpc>
              </a:pPr>
              <a:r>
                <a:rPr sz="2088" b="0" i="0">
                  <a:solidFill>
                    <a:srgbClr val="59194F"/>
                  </a:solidFill>
                  <a:latin typeface="URW Gothic"/>
                </a:rPr>
                <a:t>LM Head</a:t>
              </a:r>
            </a:p>
          </p:txBody>
        </p:sp>
        <p:cxnSp>
          <p:nvCxnSpPr>
            <p:cNvPr id="251" name="Head synchronization"/>
            <p:cNvCxnSpPr/>
            <p:nvPr/>
          </p:nvCxnSpPr>
          <p:spPr>
            <a:xfrm>
              <a:off x="9235440" y="356616"/>
              <a:ext cx="978408" cy="0"/>
            </a:xfrm>
            <a:prstGeom prst="line">
              <a:avLst/>
            </a:prstGeom>
            <a:ln w="27432">
              <a:solidFill>
                <a:srgbClr val="59194F"/>
              </a:solidFill>
              <a:custDash>
                <a:ds d="266667" sp="133333"/>
              </a:custDash>
            </a:ln>
            <a:effectLst/>
          </p:spPr>
          <p:style>
            <a:lnRef idx="2">
              <a:schemeClr val="accent1"/>
            </a:lnRef>
            <a:fillRef idx="0">
              <a:schemeClr val="accent1"/>
            </a:fillRef>
            <a:effectRef idx="0">
              <a:schemeClr val="accent1"/>
            </a:effectRef>
            <a:fontRef idx="minor">
              <a:schemeClr val="tx1"/>
            </a:fontRef>
          </p:style>
        </p:cxnSp>
        <p:sp>
          <p:nvSpPr>
            <p:cNvPr id="252" name="Synchronization open arrow"/>
            <p:cNvSpPr/>
            <p:nvPr/>
          </p:nvSpPr>
          <p:spPr>
            <a:xfrm>
              <a:off x="10104120" y="292608"/>
              <a:ext cx="109728" cy="128016"/>
            </a:xfrm>
            <a:custGeom>
              <a:avLst/>
              <a:gdLst/>
              <a:ahLst/>
              <a:cxnLst/>
              <a:rect l="0" t="0" r="r" b="b"/>
              <a:pathLst>
                <a:path w="12000" h="14000" fill="none">
                  <a:moveTo>
                    <a:pt x="0" y="0"/>
                  </a:moveTo>
                  <a:lnTo>
                    <a:pt x="12000" y="7000"/>
                  </a:lnTo>
                  <a:lnTo>
                    <a:pt x="0" y="14000"/>
                  </a:lnTo>
                </a:path>
              </a:pathLst>
            </a:custGeom>
            <a:noFill/>
            <a:ln w="27432" cap="rnd">
              <a:solidFill>
                <a:srgbClr val="59194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3" name="&lt;sync&gt;"/>
            <p:cNvSpPr txBox="1"/>
            <p:nvPr/>
          </p:nvSpPr>
          <p:spPr>
            <a:xfrm>
              <a:off x="9298455" y="45720"/>
              <a:ext cx="879810" cy="320954"/>
            </a:xfrm>
            <a:prstGeom prst="rect">
              <a:avLst/>
            </a:prstGeom>
            <a:noFill/>
            <a:effectLst/>
          </p:spPr>
          <p:txBody>
            <a:bodyPr wrap="none" lIns="0" rIns="0" tIns="0" bIns="0" anchor="t">
              <a:spAutoFit/>
            </a:bodyPr>
            <a:lstStyle/>
            <a:p>
              <a:pPr algn="ctr">
                <a:spcBef>
                  <a:spcPts val="0"/>
                </a:spcBef>
                <a:spcAft>
                  <a:spcPts val="0"/>
                </a:spcAft>
                <a:lnSpc>
                  <a:spcPct val="100000"/>
                </a:lnSpc>
              </a:pPr>
              <a:r>
                <a:rPr sz="1872" b="0" i="0">
                  <a:solidFill>
                    <a:srgbClr val="59194F"/>
                  </a:solidFill>
                  <a:latin typeface="URW Gothic"/>
                </a:rPr>
                <a:t>&lt;sync&gt;</a:t>
              </a:r>
            </a:p>
          </p:txBody>
        </p:sp>
      </p:grpSp>
      <p:grpSp>
        <p:nvGrpSpPr>
          <p:cNvPr id="254" name="Group 253"/>
          <p:cNvGrpSpPr/>
          <p:nvPr/>
        </p:nvGrpSpPr>
        <p:grpSpPr>
          <a:xfrm>
            <a:off x="13848588" y="1476756"/>
            <a:ext cx="3406140" cy="1837944"/>
            <a:chOff x="13848588" y="1476756"/>
            <a:chExt cx="3406140" cy="1837944"/>
          </a:xfrm>
        </p:grpSpPr>
        <p:sp>
          <p:nvSpPr>
            <p:cNvPr id="255" name="Legend border"/>
            <p:cNvSpPr/>
            <p:nvPr/>
          </p:nvSpPr>
          <p:spPr>
            <a:xfrm>
              <a:off x="13848588" y="1476756"/>
              <a:ext cx="3406140" cy="1837944"/>
            </a:xfrm>
            <a:prstGeom prst="rect">
              <a:avLst/>
            </a:prstGeom>
            <a:noFill/>
            <a:ln w="25603">
              <a:solidFill>
                <a:srgbClr val="062D3C"/>
              </a:solidFill>
              <a:custDash>
                <a:ds d="428571" sp="321429"/>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6" name="Legend point addition ring"/>
            <p:cNvSpPr/>
            <p:nvPr/>
          </p:nvSpPr>
          <p:spPr>
            <a:xfrm>
              <a:off x="13944600" y="1545336"/>
              <a:ext cx="338328" cy="347472"/>
            </a:xfrm>
            <a:prstGeom prst="ellipse">
              <a:avLst/>
            </a:prstGeom>
            <a:noFill/>
            <a:ln w="2560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7" name="Connector"/>
            <p:cNvCxnSpPr/>
            <p:nvPr/>
          </p:nvCxnSpPr>
          <p:spPr>
            <a:xfrm>
              <a:off x="13944600" y="1719072"/>
              <a:ext cx="338328" cy="0"/>
            </a:xfrm>
            <a:prstGeom prst="line">
              <a:avLst/>
            </a:prstGeom>
            <a:ln w="23774">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8" name="Connector"/>
            <p:cNvCxnSpPr/>
            <p:nvPr/>
          </p:nvCxnSpPr>
          <p:spPr>
            <a:xfrm>
              <a:off x="14113764" y="1545336"/>
              <a:ext cx="0" cy="347472"/>
            </a:xfrm>
            <a:prstGeom prst="line">
              <a:avLst/>
            </a:prstGeom>
            <a:ln w="23774">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259" name="Point-wise Addition"/>
            <p:cNvSpPr txBox="1"/>
            <p:nvPr/>
          </p:nvSpPr>
          <p:spPr>
            <a:xfrm>
              <a:off x="14337792" y="1609344"/>
              <a:ext cx="2084718"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Point-wise Addition</a:t>
              </a:r>
            </a:p>
          </p:txBody>
        </p:sp>
        <p:sp>
          <p:nvSpPr>
            <p:cNvPr id="260" name="Legend stage 2 trainable"/>
            <p:cNvSpPr/>
            <p:nvPr/>
          </p:nvSpPr>
          <p:spPr>
            <a:xfrm>
              <a:off x="14008608" y="2002536"/>
              <a:ext cx="228600" cy="347472"/>
            </a:xfrm>
            <a:custGeom>
              <a:avLst/>
              <a:gdLst/>
              <a:ahLst/>
              <a:cxnLst/>
              <a:rect l="0" t="0" r="r" b="b"/>
              <a:pathLst>
                <a:path w="25000" h="38000">
                  <a:moveTo>
                    <a:pt x="11000" y="0"/>
                  </a:moveTo>
                  <a:cubicBezTo>
                    <a:pt x="11250" y="-875"/>
                    <a:pt x="12750" y="-125"/>
                    <a:pt x="13000" y="0"/>
                  </a:cubicBezTo>
                  <a:cubicBezTo>
                    <a:pt x="13250" y="125"/>
                    <a:pt x="12750" y="750"/>
                    <a:pt x="13000" y="1000"/>
                  </a:cubicBezTo>
                  <a:cubicBezTo>
                    <a:pt x="13250" y="1250"/>
                    <a:pt x="14750" y="1625"/>
                    <a:pt x="15000" y="2000"/>
                  </a:cubicBezTo>
                  <a:cubicBezTo>
                    <a:pt x="15250" y="2375"/>
                    <a:pt x="14750" y="3625"/>
                    <a:pt x="15000" y="4000"/>
                  </a:cubicBezTo>
                  <a:cubicBezTo>
                    <a:pt x="15250" y="4375"/>
                    <a:pt x="16750" y="4375"/>
                    <a:pt x="17000" y="5000"/>
                  </a:cubicBezTo>
                  <a:cubicBezTo>
                    <a:pt x="17250" y="5625"/>
                    <a:pt x="16875" y="8500"/>
                    <a:pt x="17000" y="9000"/>
                  </a:cubicBezTo>
                  <a:cubicBezTo>
                    <a:pt x="17125" y="9500"/>
                    <a:pt x="17875" y="8500"/>
                    <a:pt x="18000" y="9000"/>
                  </a:cubicBezTo>
                  <a:cubicBezTo>
                    <a:pt x="18125" y="9500"/>
                    <a:pt x="18125" y="12500"/>
                    <a:pt x="18000" y="13000"/>
                  </a:cubicBezTo>
                  <a:cubicBezTo>
                    <a:pt x="17875" y="13500"/>
                    <a:pt x="17125" y="12625"/>
                    <a:pt x="17000" y="13000"/>
                  </a:cubicBezTo>
                  <a:cubicBezTo>
                    <a:pt x="16875" y="13375"/>
                    <a:pt x="17125" y="15625"/>
                    <a:pt x="17000" y="16000"/>
                  </a:cubicBezTo>
                  <a:cubicBezTo>
                    <a:pt x="16875" y="16375"/>
                    <a:pt x="16125" y="15750"/>
                    <a:pt x="16000" y="16000"/>
                  </a:cubicBezTo>
                  <a:cubicBezTo>
                    <a:pt x="15875" y="16250"/>
                    <a:pt x="16125" y="17750"/>
                    <a:pt x="16000" y="18000"/>
                  </a:cubicBezTo>
                  <a:cubicBezTo>
                    <a:pt x="15875" y="18250"/>
                    <a:pt x="15125" y="17250"/>
                    <a:pt x="15000" y="18000"/>
                  </a:cubicBezTo>
                  <a:cubicBezTo>
                    <a:pt x="14875" y="18750"/>
                    <a:pt x="14250" y="23125"/>
                    <a:pt x="15000" y="24000"/>
                  </a:cubicBezTo>
                  <a:cubicBezTo>
                    <a:pt x="15750" y="24875"/>
                    <a:pt x="20000" y="25250"/>
                    <a:pt x="21000" y="25000"/>
                  </a:cubicBezTo>
                  <a:cubicBezTo>
                    <a:pt x="22000" y="24750"/>
                    <a:pt x="22500" y="22250"/>
                    <a:pt x="23000" y="22000"/>
                  </a:cubicBezTo>
                  <a:cubicBezTo>
                    <a:pt x="23500" y="21750"/>
                    <a:pt x="24750" y="22250"/>
                    <a:pt x="25000" y="23000"/>
                  </a:cubicBezTo>
                  <a:cubicBezTo>
                    <a:pt x="25250" y="23750"/>
                    <a:pt x="25125" y="27375"/>
                    <a:pt x="25000" y="28000"/>
                  </a:cubicBezTo>
                  <a:cubicBezTo>
                    <a:pt x="24875" y="28625"/>
                    <a:pt x="24125" y="27625"/>
                    <a:pt x="24000" y="28000"/>
                  </a:cubicBezTo>
                  <a:cubicBezTo>
                    <a:pt x="23875" y="28375"/>
                    <a:pt x="24125" y="30625"/>
                    <a:pt x="24000" y="31000"/>
                  </a:cubicBezTo>
                  <a:cubicBezTo>
                    <a:pt x="23875" y="31375"/>
                    <a:pt x="23125" y="30875"/>
                    <a:pt x="23000" y="31000"/>
                  </a:cubicBezTo>
                  <a:cubicBezTo>
                    <a:pt x="22875" y="31125"/>
                    <a:pt x="23125" y="31875"/>
                    <a:pt x="23000" y="32000"/>
                  </a:cubicBezTo>
                  <a:cubicBezTo>
                    <a:pt x="22875" y="32125"/>
                    <a:pt x="22125" y="31750"/>
                    <a:pt x="22000" y="32000"/>
                  </a:cubicBezTo>
                  <a:cubicBezTo>
                    <a:pt x="21875" y="32250"/>
                    <a:pt x="22125" y="33750"/>
                    <a:pt x="22000" y="34000"/>
                  </a:cubicBezTo>
                  <a:cubicBezTo>
                    <a:pt x="21875" y="34250"/>
                    <a:pt x="21375" y="33625"/>
                    <a:pt x="21000" y="34000"/>
                  </a:cubicBezTo>
                  <a:cubicBezTo>
                    <a:pt x="20625" y="34375"/>
                    <a:pt x="19500" y="36625"/>
                    <a:pt x="19000" y="37000"/>
                  </a:cubicBezTo>
                  <a:cubicBezTo>
                    <a:pt x="18500" y="37375"/>
                    <a:pt x="17250" y="36875"/>
                    <a:pt x="17000" y="37000"/>
                  </a:cubicBezTo>
                  <a:cubicBezTo>
                    <a:pt x="16750" y="37125"/>
                    <a:pt x="17625" y="37875"/>
                    <a:pt x="17000" y="38000"/>
                  </a:cubicBezTo>
                  <a:cubicBezTo>
                    <a:pt x="16375" y="38125"/>
                    <a:pt x="12625" y="38375"/>
                    <a:pt x="12000" y="38000"/>
                  </a:cubicBezTo>
                  <a:cubicBezTo>
                    <a:pt x="11375" y="37625"/>
                    <a:pt x="12125" y="35375"/>
                    <a:pt x="12000" y="35000"/>
                  </a:cubicBezTo>
                  <a:cubicBezTo>
                    <a:pt x="11875" y="34625"/>
                    <a:pt x="11125" y="35250"/>
                    <a:pt x="11000" y="35000"/>
                  </a:cubicBezTo>
                  <a:cubicBezTo>
                    <a:pt x="10875" y="34750"/>
                    <a:pt x="11250" y="33375"/>
                    <a:pt x="11000" y="33000"/>
                  </a:cubicBezTo>
                  <a:cubicBezTo>
                    <a:pt x="10750" y="32625"/>
                    <a:pt x="9375" y="32750"/>
                    <a:pt x="9000" y="32000"/>
                  </a:cubicBezTo>
                  <a:cubicBezTo>
                    <a:pt x="8625" y="31250"/>
                    <a:pt x="8250" y="27625"/>
                    <a:pt x="8000" y="27000"/>
                  </a:cubicBezTo>
                  <a:cubicBezTo>
                    <a:pt x="7750" y="26375"/>
                    <a:pt x="7125" y="27625"/>
                    <a:pt x="7000" y="27000"/>
                  </a:cubicBezTo>
                  <a:cubicBezTo>
                    <a:pt x="6875" y="26375"/>
                    <a:pt x="7125" y="22625"/>
                    <a:pt x="7000" y="22000"/>
                  </a:cubicBezTo>
                  <a:cubicBezTo>
                    <a:pt x="6875" y="21375"/>
                    <a:pt x="6125" y="21750"/>
                    <a:pt x="6000" y="22000"/>
                  </a:cubicBezTo>
                  <a:cubicBezTo>
                    <a:pt x="5875" y="22250"/>
                    <a:pt x="6125" y="23750"/>
                    <a:pt x="6000" y="24000"/>
                  </a:cubicBezTo>
                  <a:cubicBezTo>
                    <a:pt x="5875" y="24250"/>
                    <a:pt x="5125" y="23750"/>
                    <a:pt x="5000" y="24000"/>
                  </a:cubicBezTo>
                  <a:cubicBezTo>
                    <a:pt x="4875" y="24250"/>
                    <a:pt x="5125" y="25750"/>
                    <a:pt x="5000" y="26000"/>
                  </a:cubicBezTo>
                  <a:cubicBezTo>
                    <a:pt x="4875" y="26250"/>
                    <a:pt x="4125" y="25500"/>
                    <a:pt x="4000" y="26000"/>
                  </a:cubicBezTo>
                  <a:cubicBezTo>
                    <a:pt x="3875" y="26500"/>
                    <a:pt x="4125" y="29500"/>
                    <a:pt x="4000" y="30000"/>
                  </a:cubicBezTo>
                  <a:cubicBezTo>
                    <a:pt x="3875" y="30500"/>
                    <a:pt x="3125" y="29875"/>
                    <a:pt x="3000" y="30000"/>
                  </a:cubicBezTo>
                  <a:cubicBezTo>
                    <a:pt x="2875" y="30125"/>
                    <a:pt x="2875" y="30875"/>
                    <a:pt x="3000" y="31000"/>
                  </a:cubicBezTo>
                  <a:cubicBezTo>
                    <a:pt x="3125" y="31125"/>
                    <a:pt x="3875" y="30625"/>
                    <a:pt x="4000" y="31000"/>
                  </a:cubicBezTo>
                  <a:cubicBezTo>
                    <a:pt x="4125" y="31375"/>
                    <a:pt x="4375" y="33875"/>
                    <a:pt x="4000" y="34000"/>
                  </a:cubicBezTo>
                  <a:cubicBezTo>
                    <a:pt x="3625" y="34125"/>
                    <a:pt x="1375" y="32625"/>
                    <a:pt x="1000" y="32000"/>
                  </a:cubicBezTo>
                  <a:cubicBezTo>
                    <a:pt x="625" y="31375"/>
                    <a:pt x="1125" y="29375"/>
                    <a:pt x="1000" y="29000"/>
                  </a:cubicBezTo>
                  <a:cubicBezTo>
                    <a:pt x="875" y="28625"/>
                    <a:pt x="125" y="30000"/>
                    <a:pt x="0" y="29000"/>
                  </a:cubicBezTo>
                  <a:cubicBezTo>
                    <a:pt x="-125" y="28000"/>
                    <a:pt x="-125" y="22000"/>
                    <a:pt x="0" y="21000"/>
                  </a:cubicBezTo>
                  <a:cubicBezTo>
                    <a:pt x="125" y="20000"/>
                    <a:pt x="750" y="21500"/>
                    <a:pt x="1000" y="21000"/>
                  </a:cubicBezTo>
                  <a:cubicBezTo>
                    <a:pt x="1250" y="20500"/>
                    <a:pt x="1750" y="17500"/>
                    <a:pt x="2000" y="17000"/>
                  </a:cubicBezTo>
                  <a:cubicBezTo>
                    <a:pt x="2250" y="16500"/>
                    <a:pt x="2875" y="17125"/>
                    <a:pt x="3000" y="17000"/>
                  </a:cubicBezTo>
                  <a:cubicBezTo>
                    <a:pt x="3125" y="16875"/>
                    <a:pt x="2875" y="16125"/>
                    <a:pt x="3000" y="16000"/>
                  </a:cubicBezTo>
                  <a:cubicBezTo>
                    <a:pt x="3125" y="15875"/>
                    <a:pt x="3875" y="16125"/>
                    <a:pt x="4000" y="16000"/>
                  </a:cubicBezTo>
                  <a:cubicBezTo>
                    <a:pt x="4125" y="15875"/>
                    <a:pt x="3875" y="15125"/>
                    <a:pt x="4000" y="15000"/>
                  </a:cubicBezTo>
                  <a:cubicBezTo>
                    <a:pt x="4125" y="14875"/>
                    <a:pt x="4875" y="15125"/>
                    <a:pt x="5000" y="15000"/>
                  </a:cubicBezTo>
                  <a:cubicBezTo>
                    <a:pt x="5125" y="14875"/>
                    <a:pt x="4500" y="14500"/>
                    <a:pt x="5000" y="14000"/>
                  </a:cubicBezTo>
                  <a:cubicBezTo>
                    <a:pt x="5500" y="13500"/>
                    <a:pt x="8500" y="11625"/>
                    <a:pt x="9000" y="11000"/>
                  </a:cubicBezTo>
                  <a:cubicBezTo>
                    <a:pt x="9500" y="10375"/>
                    <a:pt x="8875" y="9250"/>
                    <a:pt x="9000" y="9000"/>
                  </a:cubicBezTo>
                  <a:cubicBezTo>
                    <a:pt x="9125" y="8750"/>
                    <a:pt x="9875" y="9250"/>
                    <a:pt x="10000" y="9000"/>
                  </a:cubicBezTo>
                  <a:cubicBezTo>
                    <a:pt x="10125" y="8750"/>
                    <a:pt x="9875" y="7250"/>
                    <a:pt x="10000" y="7000"/>
                  </a:cubicBezTo>
                  <a:cubicBezTo>
                    <a:pt x="10125" y="6750"/>
                    <a:pt x="10875" y="7875"/>
                    <a:pt x="11000" y="7000"/>
                  </a:cubicBezTo>
                  <a:cubicBezTo>
                    <a:pt x="11125" y="6125"/>
                    <a:pt x="10750" y="875"/>
                    <a:pt x="11000"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1" name="Stage2 Trainable Modules"/>
            <p:cNvSpPr txBox="1"/>
            <p:nvPr/>
          </p:nvSpPr>
          <p:spPr>
            <a:xfrm>
              <a:off x="14328648" y="2057400"/>
              <a:ext cx="2802336"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Stage2 Trainable Modules</a:t>
              </a:r>
            </a:p>
          </p:txBody>
        </p:sp>
        <p:sp>
          <p:nvSpPr>
            <p:cNvPr id="262" name="Legend stage 3 trainable"/>
            <p:cNvSpPr/>
            <p:nvPr/>
          </p:nvSpPr>
          <p:spPr>
            <a:xfrm>
              <a:off x="14005418" y="2486454"/>
              <a:ext cx="238169" cy="339757"/>
            </a:xfrm>
            <a:custGeom>
              <a:avLst/>
              <a:gdLst/>
              <a:ahLst/>
              <a:cxnLst/>
              <a:rect l="0" t="0" r="r" b="b"/>
              <a:pathLst>
                <a:path w="26047" h="37156">
                  <a:moveTo>
                    <a:pt x="13023" y="0"/>
                  </a:moveTo>
                  <a:cubicBezTo>
                    <a:pt x="13186" y="-400"/>
                    <a:pt x="14163" y="-160"/>
                    <a:pt x="14326" y="0"/>
                  </a:cubicBezTo>
                  <a:cubicBezTo>
                    <a:pt x="14488" y="160"/>
                    <a:pt x="14163" y="1041"/>
                    <a:pt x="14326" y="1281"/>
                  </a:cubicBezTo>
                  <a:cubicBezTo>
                    <a:pt x="14488" y="1521"/>
                    <a:pt x="15465" y="1682"/>
                    <a:pt x="15628" y="1922"/>
                  </a:cubicBezTo>
                  <a:cubicBezTo>
                    <a:pt x="15791" y="2162"/>
                    <a:pt x="15547" y="3043"/>
                    <a:pt x="15628" y="3203"/>
                  </a:cubicBezTo>
                  <a:cubicBezTo>
                    <a:pt x="15709" y="3363"/>
                    <a:pt x="16198" y="3043"/>
                    <a:pt x="16279" y="3203"/>
                  </a:cubicBezTo>
                  <a:cubicBezTo>
                    <a:pt x="16360" y="3363"/>
                    <a:pt x="16198" y="4324"/>
                    <a:pt x="16279" y="4484"/>
                  </a:cubicBezTo>
                  <a:cubicBezTo>
                    <a:pt x="16360" y="4645"/>
                    <a:pt x="16849" y="4244"/>
                    <a:pt x="16930" y="4484"/>
                  </a:cubicBezTo>
                  <a:cubicBezTo>
                    <a:pt x="17012" y="4725"/>
                    <a:pt x="16849" y="6166"/>
                    <a:pt x="16930" y="6406"/>
                  </a:cubicBezTo>
                  <a:cubicBezTo>
                    <a:pt x="17012" y="6646"/>
                    <a:pt x="17500" y="6006"/>
                    <a:pt x="17581" y="6406"/>
                  </a:cubicBezTo>
                  <a:cubicBezTo>
                    <a:pt x="17663" y="6807"/>
                    <a:pt x="17500" y="9209"/>
                    <a:pt x="17581" y="9609"/>
                  </a:cubicBezTo>
                  <a:cubicBezTo>
                    <a:pt x="17663" y="10010"/>
                    <a:pt x="18151" y="9209"/>
                    <a:pt x="18233" y="9609"/>
                  </a:cubicBezTo>
                  <a:cubicBezTo>
                    <a:pt x="18314" y="10010"/>
                    <a:pt x="18151" y="12412"/>
                    <a:pt x="18233" y="12812"/>
                  </a:cubicBezTo>
                  <a:cubicBezTo>
                    <a:pt x="18314" y="13213"/>
                    <a:pt x="18802" y="12172"/>
                    <a:pt x="18884" y="12812"/>
                  </a:cubicBezTo>
                  <a:cubicBezTo>
                    <a:pt x="18965" y="13453"/>
                    <a:pt x="18721" y="17297"/>
                    <a:pt x="18884" y="17938"/>
                  </a:cubicBezTo>
                  <a:cubicBezTo>
                    <a:pt x="19047" y="18578"/>
                    <a:pt x="20023" y="18018"/>
                    <a:pt x="20186" y="17938"/>
                  </a:cubicBezTo>
                  <a:cubicBezTo>
                    <a:pt x="20349" y="17857"/>
                    <a:pt x="19942" y="17537"/>
                    <a:pt x="20186" y="17297"/>
                  </a:cubicBezTo>
                  <a:cubicBezTo>
                    <a:pt x="20430" y="17057"/>
                    <a:pt x="21814" y="16736"/>
                    <a:pt x="22140" y="16016"/>
                  </a:cubicBezTo>
                  <a:cubicBezTo>
                    <a:pt x="22465" y="15295"/>
                    <a:pt x="22628" y="12092"/>
                    <a:pt x="22791" y="11531"/>
                  </a:cubicBezTo>
                  <a:cubicBezTo>
                    <a:pt x="22953" y="10971"/>
                    <a:pt x="23360" y="11371"/>
                    <a:pt x="23442" y="11531"/>
                  </a:cubicBezTo>
                  <a:cubicBezTo>
                    <a:pt x="23523" y="11691"/>
                    <a:pt x="23360" y="12652"/>
                    <a:pt x="23442" y="12812"/>
                  </a:cubicBezTo>
                  <a:cubicBezTo>
                    <a:pt x="23523" y="12973"/>
                    <a:pt x="24012" y="12652"/>
                    <a:pt x="24093" y="12812"/>
                  </a:cubicBezTo>
                  <a:cubicBezTo>
                    <a:pt x="24174" y="12973"/>
                    <a:pt x="24012" y="13934"/>
                    <a:pt x="24093" y="14094"/>
                  </a:cubicBezTo>
                  <a:cubicBezTo>
                    <a:pt x="24174" y="14254"/>
                    <a:pt x="24663" y="13934"/>
                    <a:pt x="24744" y="14094"/>
                  </a:cubicBezTo>
                  <a:cubicBezTo>
                    <a:pt x="24826" y="14254"/>
                    <a:pt x="24663" y="15215"/>
                    <a:pt x="24744" y="15375"/>
                  </a:cubicBezTo>
                  <a:cubicBezTo>
                    <a:pt x="24826" y="15535"/>
                    <a:pt x="25314" y="15055"/>
                    <a:pt x="25395" y="15375"/>
                  </a:cubicBezTo>
                  <a:cubicBezTo>
                    <a:pt x="25477" y="15695"/>
                    <a:pt x="25314" y="17617"/>
                    <a:pt x="25395" y="17938"/>
                  </a:cubicBezTo>
                  <a:cubicBezTo>
                    <a:pt x="25477" y="18258"/>
                    <a:pt x="25965" y="16656"/>
                    <a:pt x="26047" y="17938"/>
                  </a:cubicBezTo>
                  <a:cubicBezTo>
                    <a:pt x="26128" y="19219"/>
                    <a:pt x="26128" y="26906"/>
                    <a:pt x="26047" y="28188"/>
                  </a:cubicBezTo>
                  <a:cubicBezTo>
                    <a:pt x="25965" y="29469"/>
                    <a:pt x="25477" y="27867"/>
                    <a:pt x="25395" y="28188"/>
                  </a:cubicBezTo>
                  <a:cubicBezTo>
                    <a:pt x="25314" y="28508"/>
                    <a:pt x="25477" y="30430"/>
                    <a:pt x="25395" y="30750"/>
                  </a:cubicBezTo>
                  <a:cubicBezTo>
                    <a:pt x="25314" y="31070"/>
                    <a:pt x="24826" y="30590"/>
                    <a:pt x="24744" y="30750"/>
                  </a:cubicBezTo>
                  <a:cubicBezTo>
                    <a:pt x="24663" y="30910"/>
                    <a:pt x="24826" y="31871"/>
                    <a:pt x="24744" y="32031"/>
                  </a:cubicBezTo>
                  <a:cubicBezTo>
                    <a:pt x="24663" y="32191"/>
                    <a:pt x="24256" y="31711"/>
                    <a:pt x="24093" y="32031"/>
                  </a:cubicBezTo>
                  <a:cubicBezTo>
                    <a:pt x="23930" y="32352"/>
                    <a:pt x="23605" y="34273"/>
                    <a:pt x="23442" y="34594"/>
                  </a:cubicBezTo>
                  <a:cubicBezTo>
                    <a:pt x="23279" y="34914"/>
                    <a:pt x="23116" y="34273"/>
                    <a:pt x="22791" y="34594"/>
                  </a:cubicBezTo>
                  <a:cubicBezTo>
                    <a:pt x="22465" y="34914"/>
                    <a:pt x="21488" y="36836"/>
                    <a:pt x="20837" y="37156"/>
                  </a:cubicBezTo>
                  <a:cubicBezTo>
                    <a:pt x="20186" y="37477"/>
                    <a:pt x="17988" y="37396"/>
                    <a:pt x="17581" y="37156"/>
                  </a:cubicBezTo>
                  <a:cubicBezTo>
                    <a:pt x="17174" y="36916"/>
                    <a:pt x="17500" y="35475"/>
                    <a:pt x="17581" y="35234"/>
                  </a:cubicBezTo>
                  <a:cubicBezTo>
                    <a:pt x="17663" y="34994"/>
                    <a:pt x="18151" y="35475"/>
                    <a:pt x="18233" y="35234"/>
                  </a:cubicBezTo>
                  <a:cubicBezTo>
                    <a:pt x="18314" y="34994"/>
                    <a:pt x="18151" y="33553"/>
                    <a:pt x="18233" y="33312"/>
                  </a:cubicBezTo>
                  <a:cubicBezTo>
                    <a:pt x="18314" y="33072"/>
                    <a:pt x="18802" y="34113"/>
                    <a:pt x="18884" y="33312"/>
                  </a:cubicBezTo>
                  <a:cubicBezTo>
                    <a:pt x="18965" y="32512"/>
                    <a:pt x="18965" y="27707"/>
                    <a:pt x="18884" y="26906"/>
                  </a:cubicBezTo>
                  <a:cubicBezTo>
                    <a:pt x="18802" y="26105"/>
                    <a:pt x="18314" y="27146"/>
                    <a:pt x="18233" y="26906"/>
                  </a:cubicBezTo>
                  <a:cubicBezTo>
                    <a:pt x="18151" y="26666"/>
                    <a:pt x="18314" y="25225"/>
                    <a:pt x="18233" y="24984"/>
                  </a:cubicBezTo>
                  <a:cubicBezTo>
                    <a:pt x="18151" y="24744"/>
                    <a:pt x="17663" y="25145"/>
                    <a:pt x="17581" y="24984"/>
                  </a:cubicBezTo>
                  <a:cubicBezTo>
                    <a:pt x="17500" y="24824"/>
                    <a:pt x="17663" y="23863"/>
                    <a:pt x="17581" y="23703"/>
                  </a:cubicBezTo>
                  <a:cubicBezTo>
                    <a:pt x="17500" y="23543"/>
                    <a:pt x="17012" y="23863"/>
                    <a:pt x="16930" y="23703"/>
                  </a:cubicBezTo>
                  <a:cubicBezTo>
                    <a:pt x="16849" y="23543"/>
                    <a:pt x="17012" y="22582"/>
                    <a:pt x="16930" y="22422"/>
                  </a:cubicBezTo>
                  <a:cubicBezTo>
                    <a:pt x="16849" y="22262"/>
                    <a:pt x="16360" y="22662"/>
                    <a:pt x="16279" y="22422"/>
                  </a:cubicBezTo>
                  <a:cubicBezTo>
                    <a:pt x="16198" y="22182"/>
                    <a:pt x="16360" y="20740"/>
                    <a:pt x="16279" y="20500"/>
                  </a:cubicBezTo>
                  <a:cubicBezTo>
                    <a:pt x="16198" y="20260"/>
                    <a:pt x="15709" y="20900"/>
                    <a:pt x="15628" y="20500"/>
                  </a:cubicBezTo>
                  <a:cubicBezTo>
                    <a:pt x="15547" y="20100"/>
                    <a:pt x="15709" y="17697"/>
                    <a:pt x="15628" y="17297"/>
                  </a:cubicBezTo>
                  <a:cubicBezTo>
                    <a:pt x="15547" y="16896"/>
                    <a:pt x="15058" y="17377"/>
                    <a:pt x="14977" y="17297"/>
                  </a:cubicBezTo>
                  <a:cubicBezTo>
                    <a:pt x="14895" y="17217"/>
                    <a:pt x="15140" y="16656"/>
                    <a:pt x="14977" y="16656"/>
                  </a:cubicBezTo>
                  <a:cubicBezTo>
                    <a:pt x="14814" y="16656"/>
                    <a:pt x="13837" y="16977"/>
                    <a:pt x="13674" y="17297"/>
                  </a:cubicBezTo>
                  <a:cubicBezTo>
                    <a:pt x="13512" y="17617"/>
                    <a:pt x="13756" y="18979"/>
                    <a:pt x="13674" y="19219"/>
                  </a:cubicBezTo>
                  <a:cubicBezTo>
                    <a:pt x="13593" y="19459"/>
                    <a:pt x="13105" y="18979"/>
                    <a:pt x="13023" y="19219"/>
                  </a:cubicBezTo>
                  <a:cubicBezTo>
                    <a:pt x="12942" y="19459"/>
                    <a:pt x="13105" y="20900"/>
                    <a:pt x="13023" y="21141"/>
                  </a:cubicBezTo>
                  <a:cubicBezTo>
                    <a:pt x="12942" y="21381"/>
                    <a:pt x="12453" y="20820"/>
                    <a:pt x="12372" y="21141"/>
                  </a:cubicBezTo>
                  <a:cubicBezTo>
                    <a:pt x="12291" y="21461"/>
                    <a:pt x="12453" y="23383"/>
                    <a:pt x="12372" y="23703"/>
                  </a:cubicBezTo>
                  <a:cubicBezTo>
                    <a:pt x="12291" y="24023"/>
                    <a:pt x="11802" y="23143"/>
                    <a:pt x="11721" y="23703"/>
                  </a:cubicBezTo>
                  <a:cubicBezTo>
                    <a:pt x="11640" y="24264"/>
                    <a:pt x="11802" y="27627"/>
                    <a:pt x="11721" y="28188"/>
                  </a:cubicBezTo>
                  <a:cubicBezTo>
                    <a:pt x="11640" y="28748"/>
                    <a:pt x="11151" y="28027"/>
                    <a:pt x="11070" y="28188"/>
                  </a:cubicBezTo>
                  <a:cubicBezTo>
                    <a:pt x="10988" y="28348"/>
                    <a:pt x="11151" y="29309"/>
                    <a:pt x="11070" y="29469"/>
                  </a:cubicBezTo>
                  <a:cubicBezTo>
                    <a:pt x="10988" y="29629"/>
                    <a:pt x="10500" y="29629"/>
                    <a:pt x="10419" y="29469"/>
                  </a:cubicBezTo>
                  <a:cubicBezTo>
                    <a:pt x="10337" y="29309"/>
                    <a:pt x="10500" y="28348"/>
                    <a:pt x="10419" y="28188"/>
                  </a:cubicBezTo>
                  <a:cubicBezTo>
                    <a:pt x="10337" y="28027"/>
                    <a:pt x="9849" y="28268"/>
                    <a:pt x="9767" y="28188"/>
                  </a:cubicBezTo>
                  <a:cubicBezTo>
                    <a:pt x="9686" y="28107"/>
                    <a:pt x="9849" y="27627"/>
                    <a:pt x="9767" y="27547"/>
                  </a:cubicBezTo>
                  <a:cubicBezTo>
                    <a:pt x="9686" y="27467"/>
                    <a:pt x="9198" y="27707"/>
                    <a:pt x="9116" y="27547"/>
                  </a:cubicBezTo>
                  <a:cubicBezTo>
                    <a:pt x="9035" y="27387"/>
                    <a:pt x="9198" y="26426"/>
                    <a:pt x="9116" y="26266"/>
                  </a:cubicBezTo>
                  <a:cubicBezTo>
                    <a:pt x="9035" y="26105"/>
                    <a:pt x="8547" y="26506"/>
                    <a:pt x="8465" y="26266"/>
                  </a:cubicBezTo>
                  <a:cubicBezTo>
                    <a:pt x="8384" y="26025"/>
                    <a:pt x="8547" y="24584"/>
                    <a:pt x="8465" y="24344"/>
                  </a:cubicBezTo>
                  <a:cubicBezTo>
                    <a:pt x="8384" y="24104"/>
                    <a:pt x="7895" y="24744"/>
                    <a:pt x="7814" y="24344"/>
                  </a:cubicBezTo>
                  <a:cubicBezTo>
                    <a:pt x="7733" y="23943"/>
                    <a:pt x="7895" y="21541"/>
                    <a:pt x="7814" y="21141"/>
                  </a:cubicBezTo>
                  <a:cubicBezTo>
                    <a:pt x="7733" y="20740"/>
                    <a:pt x="7244" y="20980"/>
                    <a:pt x="7163" y="21141"/>
                  </a:cubicBezTo>
                  <a:cubicBezTo>
                    <a:pt x="7081" y="21301"/>
                    <a:pt x="7244" y="22262"/>
                    <a:pt x="7163" y="22422"/>
                  </a:cubicBezTo>
                  <a:cubicBezTo>
                    <a:pt x="7081" y="22582"/>
                    <a:pt x="6593" y="22182"/>
                    <a:pt x="6512" y="22422"/>
                  </a:cubicBezTo>
                  <a:cubicBezTo>
                    <a:pt x="6430" y="22662"/>
                    <a:pt x="6593" y="24104"/>
                    <a:pt x="6512" y="24344"/>
                  </a:cubicBezTo>
                  <a:cubicBezTo>
                    <a:pt x="6430" y="24584"/>
                    <a:pt x="5942" y="23223"/>
                    <a:pt x="5860" y="24344"/>
                  </a:cubicBezTo>
                  <a:cubicBezTo>
                    <a:pt x="5779" y="25465"/>
                    <a:pt x="5779" y="32191"/>
                    <a:pt x="5860" y="33312"/>
                  </a:cubicBezTo>
                  <a:cubicBezTo>
                    <a:pt x="5942" y="34434"/>
                    <a:pt x="6349" y="32832"/>
                    <a:pt x="6512" y="33312"/>
                  </a:cubicBezTo>
                  <a:cubicBezTo>
                    <a:pt x="6674" y="33793"/>
                    <a:pt x="7326" y="36676"/>
                    <a:pt x="7163" y="37156"/>
                  </a:cubicBezTo>
                  <a:cubicBezTo>
                    <a:pt x="7000" y="37637"/>
                    <a:pt x="5453" y="37236"/>
                    <a:pt x="5209" y="37156"/>
                  </a:cubicBezTo>
                  <a:cubicBezTo>
                    <a:pt x="4965" y="37076"/>
                    <a:pt x="5535" y="36836"/>
                    <a:pt x="5209" y="36516"/>
                  </a:cubicBezTo>
                  <a:cubicBezTo>
                    <a:pt x="4884" y="36195"/>
                    <a:pt x="2930" y="34994"/>
                    <a:pt x="2605" y="34594"/>
                  </a:cubicBezTo>
                  <a:cubicBezTo>
                    <a:pt x="2279" y="34193"/>
                    <a:pt x="2686" y="33473"/>
                    <a:pt x="2605" y="33312"/>
                  </a:cubicBezTo>
                  <a:cubicBezTo>
                    <a:pt x="2523" y="33152"/>
                    <a:pt x="2035" y="33473"/>
                    <a:pt x="1953" y="33312"/>
                  </a:cubicBezTo>
                  <a:cubicBezTo>
                    <a:pt x="1872" y="33152"/>
                    <a:pt x="2035" y="32191"/>
                    <a:pt x="1953" y="32031"/>
                  </a:cubicBezTo>
                  <a:cubicBezTo>
                    <a:pt x="1872" y="31871"/>
                    <a:pt x="1384" y="32271"/>
                    <a:pt x="1302" y="32031"/>
                  </a:cubicBezTo>
                  <a:cubicBezTo>
                    <a:pt x="1221" y="31791"/>
                    <a:pt x="1384" y="30350"/>
                    <a:pt x="1302" y="30109"/>
                  </a:cubicBezTo>
                  <a:cubicBezTo>
                    <a:pt x="1221" y="29869"/>
                    <a:pt x="733" y="30350"/>
                    <a:pt x="651" y="30109"/>
                  </a:cubicBezTo>
                  <a:cubicBezTo>
                    <a:pt x="570" y="29869"/>
                    <a:pt x="733" y="28428"/>
                    <a:pt x="651" y="28188"/>
                  </a:cubicBezTo>
                  <a:cubicBezTo>
                    <a:pt x="570" y="27947"/>
                    <a:pt x="81" y="28988"/>
                    <a:pt x="0" y="28188"/>
                  </a:cubicBezTo>
                  <a:cubicBezTo>
                    <a:pt x="-81" y="27387"/>
                    <a:pt x="-81" y="22582"/>
                    <a:pt x="0" y="21781"/>
                  </a:cubicBezTo>
                  <a:cubicBezTo>
                    <a:pt x="81" y="20980"/>
                    <a:pt x="570" y="22262"/>
                    <a:pt x="651" y="21781"/>
                  </a:cubicBezTo>
                  <a:cubicBezTo>
                    <a:pt x="733" y="21301"/>
                    <a:pt x="570" y="18418"/>
                    <a:pt x="651" y="17938"/>
                  </a:cubicBezTo>
                  <a:cubicBezTo>
                    <a:pt x="733" y="17457"/>
                    <a:pt x="1221" y="18258"/>
                    <a:pt x="1302" y="17938"/>
                  </a:cubicBezTo>
                  <a:cubicBezTo>
                    <a:pt x="1384" y="17617"/>
                    <a:pt x="1221" y="15695"/>
                    <a:pt x="1302" y="15375"/>
                  </a:cubicBezTo>
                  <a:cubicBezTo>
                    <a:pt x="1384" y="15055"/>
                    <a:pt x="1791" y="15936"/>
                    <a:pt x="1953" y="15375"/>
                  </a:cubicBezTo>
                  <a:cubicBezTo>
                    <a:pt x="2116" y="14814"/>
                    <a:pt x="2442" y="11451"/>
                    <a:pt x="2605" y="10891"/>
                  </a:cubicBezTo>
                  <a:cubicBezTo>
                    <a:pt x="2767" y="10330"/>
                    <a:pt x="3093" y="11691"/>
                    <a:pt x="3256" y="10891"/>
                  </a:cubicBezTo>
                  <a:cubicBezTo>
                    <a:pt x="3419" y="10090"/>
                    <a:pt x="3663" y="5285"/>
                    <a:pt x="3907" y="4484"/>
                  </a:cubicBezTo>
                  <a:cubicBezTo>
                    <a:pt x="4151" y="3684"/>
                    <a:pt x="5047" y="4404"/>
                    <a:pt x="5209" y="4484"/>
                  </a:cubicBezTo>
                  <a:cubicBezTo>
                    <a:pt x="5372" y="4564"/>
                    <a:pt x="5128" y="5045"/>
                    <a:pt x="5209" y="5125"/>
                  </a:cubicBezTo>
                  <a:cubicBezTo>
                    <a:pt x="5291" y="5205"/>
                    <a:pt x="5779" y="4965"/>
                    <a:pt x="5860" y="5125"/>
                  </a:cubicBezTo>
                  <a:cubicBezTo>
                    <a:pt x="5942" y="5285"/>
                    <a:pt x="5779" y="6246"/>
                    <a:pt x="5860" y="6406"/>
                  </a:cubicBezTo>
                  <a:cubicBezTo>
                    <a:pt x="5942" y="6566"/>
                    <a:pt x="6430" y="6246"/>
                    <a:pt x="6512" y="6406"/>
                  </a:cubicBezTo>
                  <a:cubicBezTo>
                    <a:pt x="6593" y="6566"/>
                    <a:pt x="6430" y="7527"/>
                    <a:pt x="6512" y="7688"/>
                  </a:cubicBezTo>
                  <a:cubicBezTo>
                    <a:pt x="6593" y="7848"/>
                    <a:pt x="7081" y="7127"/>
                    <a:pt x="7163" y="7688"/>
                  </a:cubicBezTo>
                  <a:cubicBezTo>
                    <a:pt x="7244" y="8248"/>
                    <a:pt x="7000" y="11531"/>
                    <a:pt x="7163" y="12172"/>
                  </a:cubicBezTo>
                  <a:cubicBezTo>
                    <a:pt x="7326" y="12812"/>
                    <a:pt x="8302" y="12893"/>
                    <a:pt x="8465" y="12812"/>
                  </a:cubicBezTo>
                  <a:cubicBezTo>
                    <a:pt x="8628" y="12732"/>
                    <a:pt x="8384" y="11691"/>
                    <a:pt x="8465" y="11531"/>
                  </a:cubicBezTo>
                  <a:cubicBezTo>
                    <a:pt x="8547" y="11371"/>
                    <a:pt x="8953" y="11852"/>
                    <a:pt x="9116" y="11531"/>
                  </a:cubicBezTo>
                  <a:cubicBezTo>
                    <a:pt x="9279" y="11211"/>
                    <a:pt x="9605" y="9289"/>
                    <a:pt x="9767" y="8969"/>
                  </a:cubicBezTo>
                  <a:cubicBezTo>
                    <a:pt x="9930" y="8648"/>
                    <a:pt x="10337" y="9049"/>
                    <a:pt x="10419" y="8969"/>
                  </a:cubicBezTo>
                  <a:cubicBezTo>
                    <a:pt x="10500" y="8889"/>
                    <a:pt x="10337" y="8408"/>
                    <a:pt x="10419" y="8328"/>
                  </a:cubicBezTo>
                  <a:cubicBezTo>
                    <a:pt x="10500" y="8248"/>
                    <a:pt x="10988" y="8488"/>
                    <a:pt x="11070" y="8328"/>
                  </a:cubicBezTo>
                  <a:cubicBezTo>
                    <a:pt x="11151" y="8168"/>
                    <a:pt x="10988" y="7207"/>
                    <a:pt x="11070" y="7047"/>
                  </a:cubicBezTo>
                  <a:cubicBezTo>
                    <a:pt x="11151" y="6887"/>
                    <a:pt x="11640" y="7287"/>
                    <a:pt x="11721" y="7047"/>
                  </a:cubicBezTo>
                  <a:cubicBezTo>
                    <a:pt x="11802" y="6807"/>
                    <a:pt x="11640" y="5365"/>
                    <a:pt x="11721" y="5125"/>
                  </a:cubicBezTo>
                  <a:cubicBezTo>
                    <a:pt x="11802" y="4885"/>
                    <a:pt x="12291" y="5365"/>
                    <a:pt x="12372" y="5125"/>
                  </a:cubicBezTo>
                  <a:cubicBezTo>
                    <a:pt x="12453" y="4885"/>
                    <a:pt x="12291" y="3443"/>
                    <a:pt x="12372" y="3203"/>
                  </a:cubicBezTo>
                  <a:cubicBezTo>
                    <a:pt x="12453" y="2963"/>
                    <a:pt x="12942" y="3604"/>
                    <a:pt x="13023" y="3203"/>
                  </a:cubicBezTo>
                  <a:cubicBezTo>
                    <a:pt x="13105" y="2803"/>
                    <a:pt x="12860" y="400"/>
                    <a:pt x="13023"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3" name="Stage3 Trainable Modules"/>
            <p:cNvSpPr txBox="1"/>
            <p:nvPr/>
          </p:nvSpPr>
          <p:spPr>
            <a:xfrm>
              <a:off x="14328648" y="2523744"/>
              <a:ext cx="2802336"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Stage3 Trainable Modules</a:t>
              </a:r>
            </a:p>
          </p:txBody>
        </p:sp>
        <p:sp>
          <p:nvSpPr>
            <p:cNvPr id="264" name="Legend frozen snowflake"/>
            <p:cNvSpPr/>
            <p:nvPr/>
          </p:nvSpPr>
          <p:spPr>
            <a:xfrm>
              <a:off x="14017752" y="2953512"/>
              <a:ext cx="246888" cy="292608"/>
            </a:xfrm>
            <a:custGeom>
              <a:avLst/>
              <a:gdLst/>
              <a:ahLst/>
              <a:cxnLst/>
              <a:rect l="0" t="0" r="r" b="b"/>
              <a:pathLst>
                <a:path w="27000" h="32000">
                  <a:moveTo>
                    <a:pt x="13000" y="0"/>
                  </a:moveTo>
                  <a:lnTo>
                    <a:pt x="14000" y="0"/>
                  </a:lnTo>
                  <a:lnTo>
                    <a:pt x="14000" y="2000"/>
                  </a:lnTo>
                  <a:lnTo>
                    <a:pt x="17000" y="2000"/>
                  </a:lnTo>
                  <a:lnTo>
                    <a:pt x="17000" y="4000"/>
                  </a:lnTo>
                  <a:lnTo>
                    <a:pt x="15000" y="4000"/>
                  </a:lnTo>
                  <a:lnTo>
                    <a:pt x="15000" y="6000"/>
                  </a:lnTo>
                  <a:lnTo>
                    <a:pt x="14000" y="6000"/>
                  </a:lnTo>
                  <a:lnTo>
                    <a:pt x="14000" y="7000"/>
                  </a:lnTo>
                  <a:lnTo>
                    <a:pt x="16000" y="7000"/>
                  </a:lnTo>
                  <a:lnTo>
                    <a:pt x="17000" y="5000"/>
                  </a:lnTo>
                  <a:lnTo>
                    <a:pt x="19000" y="5000"/>
                  </a:lnTo>
                  <a:lnTo>
                    <a:pt x="19000" y="6000"/>
                  </a:lnTo>
                  <a:lnTo>
                    <a:pt x="18000" y="6000"/>
                  </a:lnTo>
                  <a:lnTo>
                    <a:pt x="18000" y="7000"/>
                  </a:lnTo>
                  <a:lnTo>
                    <a:pt x="14000" y="10000"/>
                  </a:lnTo>
                  <a:lnTo>
                    <a:pt x="14000" y="12000"/>
                  </a:lnTo>
                  <a:lnTo>
                    <a:pt x="15000" y="12000"/>
                  </a:lnTo>
                  <a:lnTo>
                    <a:pt x="15000" y="13000"/>
                  </a:lnTo>
                  <a:lnTo>
                    <a:pt x="18000" y="13000"/>
                  </a:lnTo>
                  <a:lnTo>
                    <a:pt x="18000" y="12000"/>
                  </a:lnTo>
                  <a:lnTo>
                    <a:pt x="19000" y="12000"/>
                  </a:lnTo>
                  <a:lnTo>
                    <a:pt x="19000" y="8000"/>
                  </a:lnTo>
                  <a:lnTo>
                    <a:pt x="20000" y="8000"/>
                  </a:lnTo>
                  <a:lnTo>
                    <a:pt x="20000" y="6000"/>
                  </a:lnTo>
                  <a:lnTo>
                    <a:pt x="22000" y="6000"/>
                  </a:lnTo>
                  <a:lnTo>
                    <a:pt x="22000" y="7000"/>
                  </a:lnTo>
                  <a:lnTo>
                    <a:pt x="21000" y="7000"/>
                  </a:lnTo>
                  <a:lnTo>
                    <a:pt x="21000" y="10000"/>
                  </a:lnTo>
                  <a:lnTo>
                    <a:pt x="23000" y="9000"/>
                  </a:lnTo>
                  <a:lnTo>
                    <a:pt x="23000" y="6000"/>
                  </a:lnTo>
                  <a:lnTo>
                    <a:pt x="24000" y="6000"/>
                  </a:lnTo>
                  <a:lnTo>
                    <a:pt x="24000" y="8000"/>
                  </a:lnTo>
                  <a:lnTo>
                    <a:pt x="27000" y="8000"/>
                  </a:lnTo>
                  <a:lnTo>
                    <a:pt x="27000" y="9000"/>
                  </a:lnTo>
                  <a:lnTo>
                    <a:pt x="26000" y="9000"/>
                  </a:lnTo>
                  <a:lnTo>
                    <a:pt x="26000" y="11000"/>
                  </a:lnTo>
                  <a:lnTo>
                    <a:pt x="27000" y="11000"/>
                  </a:lnTo>
                  <a:lnTo>
                    <a:pt x="27000" y="12000"/>
                  </a:lnTo>
                  <a:lnTo>
                    <a:pt x="22000" y="12000"/>
                  </a:lnTo>
                  <a:lnTo>
                    <a:pt x="22000" y="13000"/>
                  </a:lnTo>
                  <a:lnTo>
                    <a:pt x="24000" y="13000"/>
                  </a:lnTo>
                  <a:lnTo>
                    <a:pt x="24000" y="14000"/>
                  </a:lnTo>
                  <a:lnTo>
                    <a:pt x="26000" y="14000"/>
                  </a:lnTo>
                  <a:lnTo>
                    <a:pt x="26000" y="15000"/>
                  </a:lnTo>
                  <a:lnTo>
                    <a:pt x="22000" y="15000"/>
                  </a:lnTo>
                  <a:lnTo>
                    <a:pt x="22000" y="14000"/>
                  </a:lnTo>
                  <a:lnTo>
                    <a:pt x="18000" y="14000"/>
                  </a:lnTo>
                  <a:lnTo>
                    <a:pt x="18000" y="15000"/>
                  </a:lnTo>
                  <a:lnTo>
                    <a:pt x="17000" y="15000"/>
                  </a:lnTo>
                  <a:lnTo>
                    <a:pt x="17000" y="17000"/>
                  </a:lnTo>
                  <a:lnTo>
                    <a:pt x="18000" y="17000"/>
                  </a:lnTo>
                  <a:lnTo>
                    <a:pt x="19000" y="19000"/>
                  </a:lnTo>
                  <a:lnTo>
                    <a:pt x="22000" y="19000"/>
                  </a:lnTo>
                  <a:lnTo>
                    <a:pt x="22000" y="20000"/>
                  </a:lnTo>
                  <a:lnTo>
                    <a:pt x="27000" y="20000"/>
                  </a:lnTo>
                  <a:lnTo>
                    <a:pt x="27000" y="21000"/>
                  </a:lnTo>
                  <a:lnTo>
                    <a:pt x="26000" y="21000"/>
                  </a:lnTo>
                  <a:lnTo>
                    <a:pt x="27000" y="25000"/>
                  </a:lnTo>
                  <a:lnTo>
                    <a:pt x="26000" y="25000"/>
                  </a:lnTo>
                  <a:lnTo>
                    <a:pt x="26000" y="24000"/>
                  </a:lnTo>
                  <a:lnTo>
                    <a:pt x="24000" y="24000"/>
                  </a:lnTo>
                  <a:lnTo>
                    <a:pt x="24000" y="26000"/>
                  </a:lnTo>
                  <a:lnTo>
                    <a:pt x="23000" y="26000"/>
                  </a:lnTo>
                  <a:lnTo>
                    <a:pt x="23000" y="24000"/>
                  </a:lnTo>
                  <a:lnTo>
                    <a:pt x="22000" y="24000"/>
                  </a:lnTo>
                  <a:lnTo>
                    <a:pt x="22000" y="22000"/>
                  </a:lnTo>
                  <a:lnTo>
                    <a:pt x="21000" y="22000"/>
                  </a:lnTo>
                  <a:lnTo>
                    <a:pt x="21000" y="27000"/>
                  </a:lnTo>
                  <a:lnTo>
                    <a:pt x="20000" y="27000"/>
                  </a:lnTo>
                  <a:lnTo>
                    <a:pt x="20000" y="23000"/>
                  </a:lnTo>
                  <a:lnTo>
                    <a:pt x="19000" y="23000"/>
                  </a:lnTo>
                  <a:lnTo>
                    <a:pt x="18000" y="19000"/>
                  </a:lnTo>
                  <a:lnTo>
                    <a:pt x="15000" y="19000"/>
                  </a:lnTo>
                  <a:lnTo>
                    <a:pt x="15000" y="20000"/>
                  </a:lnTo>
                  <a:lnTo>
                    <a:pt x="14000" y="20000"/>
                  </a:lnTo>
                  <a:lnTo>
                    <a:pt x="14000" y="22000"/>
                  </a:lnTo>
                  <a:lnTo>
                    <a:pt x="17000" y="24000"/>
                  </a:lnTo>
                  <a:lnTo>
                    <a:pt x="17000" y="26000"/>
                  </a:lnTo>
                  <a:lnTo>
                    <a:pt x="18000" y="26000"/>
                  </a:lnTo>
                  <a:lnTo>
                    <a:pt x="19000" y="28000"/>
                  </a:lnTo>
                  <a:lnTo>
                    <a:pt x="15000" y="25000"/>
                  </a:lnTo>
                  <a:lnTo>
                    <a:pt x="15000" y="28000"/>
                  </a:lnTo>
                  <a:lnTo>
                    <a:pt x="16000" y="28000"/>
                  </a:lnTo>
                  <a:lnTo>
                    <a:pt x="17000" y="30000"/>
                  </a:lnTo>
                  <a:lnTo>
                    <a:pt x="14000" y="30000"/>
                  </a:lnTo>
                  <a:lnTo>
                    <a:pt x="14000" y="32000"/>
                  </a:lnTo>
                  <a:lnTo>
                    <a:pt x="13000" y="32000"/>
                  </a:lnTo>
                  <a:lnTo>
                    <a:pt x="13000" y="30000"/>
                  </a:lnTo>
                  <a:lnTo>
                    <a:pt x="10000" y="30000"/>
                  </a:lnTo>
                  <a:lnTo>
                    <a:pt x="10000" y="29000"/>
                  </a:lnTo>
                  <a:lnTo>
                    <a:pt x="13000" y="27000"/>
                  </a:lnTo>
                  <a:lnTo>
                    <a:pt x="13000" y="25000"/>
                  </a:lnTo>
                  <a:lnTo>
                    <a:pt x="12000" y="25000"/>
                  </a:lnTo>
                  <a:lnTo>
                    <a:pt x="10000" y="28000"/>
                  </a:lnTo>
                  <a:lnTo>
                    <a:pt x="8000" y="28000"/>
                  </a:lnTo>
                  <a:lnTo>
                    <a:pt x="8000" y="27000"/>
                  </a:lnTo>
                  <a:lnTo>
                    <a:pt x="10000" y="26000"/>
                  </a:lnTo>
                  <a:lnTo>
                    <a:pt x="10000" y="24000"/>
                  </a:lnTo>
                  <a:lnTo>
                    <a:pt x="13000" y="22000"/>
                  </a:lnTo>
                  <a:lnTo>
                    <a:pt x="13000" y="20000"/>
                  </a:lnTo>
                  <a:lnTo>
                    <a:pt x="12000" y="20000"/>
                  </a:lnTo>
                  <a:lnTo>
                    <a:pt x="12000" y="19000"/>
                  </a:lnTo>
                  <a:lnTo>
                    <a:pt x="9000" y="19000"/>
                  </a:lnTo>
                  <a:lnTo>
                    <a:pt x="9000" y="21000"/>
                  </a:lnTo>
                  <a:lnTo>
                    <a:pt x="8000" y="21000"/>
                  </a:lnTo>
                  <a:lnTo>
                    <a:pt x="8000" y="25000"/>
                  </a:lnTo>
                  <a:lnTo>
                    <a:pt x="7000" y="25000"/>
                  </a:lnTo>
                  <a:lnTo>
                    <a:pt x="7000" y="26000"/>
                  </a:lnTo>
                  <a:lnTo>
                    <a:pt x="6000" y="26000"/>
                  </a:lnTo>
                  <a:lnTo>
                    <a:pt x="7000" y="21000"/>
                  </a:lnTo>
                  <a:lnTo>
                    <a:pt x="5000" y="22000"/>
                  </a:lnTo>
                  <a:lnTo>
                    <a:pt x="4000" y="26000"/>
                  </a:lnTo>
                  <a:lnTo>
                    <a:pt x="3000" y="26000"/>
                  </a:lnTo>
                  <a:lnTo>
                    <a:pt x="3000" y="24000"/>
                  </a:lnTo>
                  <a:lnTo>
                    <a:pt x="0" y="24000"/>
                  </a:lnTo>
                  <a:lnTo>
                    <a:pt x="0" y="23000"/>
                  </a:lnTo>
                  <a:lnTo>
                    <a:pt x="1000" y="23000"/>
                  </a:lnTo>
                  <a:lnTo>
                    <a:pt x="1000" y="21000"/>
                  </a:lnTo>
                  <a:lnTo>
                    <a:pt x="0" y="21000"/>
                  </a:lnTo>
                  <a:lnTo>
                    <a:pt x="0" y="20000"/>
                  </a:lnTo>
                  <a:lnTo>
                    <a:pt x="5000" y="20000"/>
                  </a:lnTo>
                  <a:lnTo>
                    <a:pt x="5000" y="19000"/>
                  </a:lnTo>
                  <a:lnTo>
                    <a:pt x="3000" y="19000"/>
                  </a:lnTo>
                  <a:lnTo>
                    <a:pt x="3000" y="18000"/>
                  </a:lnTo>
                  <a:lnTo>
                    <a:pt x="1000" y="18000"/>
                  </a:lnTo>
                  <a:lnTo>
                    <a:pt x="1000" y="17000"/>
                  </a:lnTo>
                  <a:lnTo>
                    <a:pt x="10000" y="18000"/>
                  </a:lnTo>
                  <a:lnTo>
                    <a:pt x="10000" y="15000"/>
                  </a:lnTo>
                  <a:lnTo>
                    <a:pt x="9000" y="15000"/>
                  </a:lnTo>
                  <a:lnTo>
                    <a:pt x="9000" y="14000"/>
                  </a:lnTo>
                  <a:lnTo>
                    <a:pt x="1000" y="15000"/>
                  </a:lnTo>
                  <a:lnTo>
                    <a:pt x="1000" y="14000"/>
                  </a:lnTo>
                  <a:lnTo>
                    <a:pt x="3000" y="14000"/>
                  </a:lnTo>
                  <a:lnTo>
                    <a:pt x="3000" y="13000"/>
                  </a:lnTo>
                  <a:lnTo>
                    <a:pt x="5000" y="13000"/>
                  </a:lnTo>
                  <a:lnTo>
                    <a:pt x="5000" y="12000"/>
                  </a:lnTo>
                  <a:lnTo>
                    <a:pt x="0" y="12000"/>
                  </a:lnTo>
                  <a:lnTo>
                    <a:pt x="0" y="11000"/>
                  </a:lnTo>
                  <a:lnTo>
                    <a:pt x="2000" y="11000"/>
                  </a:lnTo>
                  <a:lnTo>
                    <a:pt x="0" y="8000"/>
                  </a:lnTo>
                  <a:lnTo>
                    <a:pt x="3000" y="8000"/>
                  </a:lnTo>
                  <a:lnTo>
                    <a:pt x="3000" y="6000"/>
                  </a:lnTo>
                  <a:lnTo>
                    <a:pt x="4000" y="6000"/>
                  </a:lnTo>
                  <a:lnTo>
                    <a:pt x="4000" y="7000"/>
                  </a:lnTo>
                  <a:lnTo>
                    <a:pt x="5000" y="7000"/>
                  </a:lnTo>
                  <a:lnTo>
                    <a:pt x="5000" y="10000"/>
                  </a:lnTo>
                  <a:lnTo>
                    <a:pt x="7000" y="11000"/>
                  </a:lnTo>
                  <a:lnTo>
                    <a:pt x="7000" y="9000"/>
                  </a:lnTo>
                  <a:lnTo>
                    <a:pt x="6000" y="9000"/>
                  </a:lnTo>
                  <a:lnTo>
                    <a:pt x="6000" y="6000"/>
                  </a:lnTo>
                  <a:lnTo>
                    <a:pt x="7000" y="6000"/>
                  </a:lnTo>
                  <a:lnTo>
                    <a:pt x="7000" y="7000"/>
                  </a:lnTo>
                  <a:lnTo>
                    <a:pt x="8000" y="7000"/>
                  </a:lnTo>
                  <a:lnTo>
                    <a:pt x="8000" y="11000"/>
                  </a:lnTo>
                  <a:lnTo>
                    <a:pt x="9000" y="11000"/>
                  </a:lnTo>
                  <a:lnTo>
                    <a:pt x="9000" y="13000"/>
                  </a:lnTo>
                  <a:lnTo>
                    <a:pt x="13000" y="13000"/>
                  </a:lnTo>
                  <a:lnTo>
                    <a:pt x="13000" y="10000"/>
                  </a:lnTo>
                  <a:lnTo>
                    <a:pt x="12000" y="10000"/>
                  </a:lnTo>
                  <a:lnTo>
                    <a:pt x="12000" y="9000"/>
                  </a:lnTo>
                  <a:lnTo>
                    <a:pt x="11000" y="9000"/>
                  </a:lnTo>
                  <a:lnTo>
                    <a:pt x="11000" y="7000"/>
                  </a:lnTo>
                  <a:lnTo>
                    <a:pt x="9000" y="7000"/>
                  </a:lnTo>
                  <a:lnTo>
                    <a:pt x="9000" y="5000"/>
                  </a:lnTo>
                  <a:lnTo>
                    <a:pt x="8000" y="5000"/>
                  </a:lnTo>
                  <a:lnTo>
                    <a:pt x="8000" y="4000"/>
                  </a:lnTo>
                  <a:lnTo>
                    <a:pt x="10000" y="4000"/>
                  </a:lnTo>
                  <a:lnTo>
                    <a:pt x="10000" y="5000"/>
                  </a:lnTo>
                  <a:lnTo>
                    <a:pt x="13000" y="7000"/>
                  </a:lnTo>
                  <a:lnTo>
                    <a:pt x="13000" y="5000"/>
                  </a:lnTo>
                  <a:lnTo>
                    <a:pt x="10000" y="3000"/>
                  </a:lnTo>
                  <a:lnTo>
                    <a:pt x="10000" y="2000"/>
                  </a:lnTo>
                  <a:lnTo>
                    <a:pt x="12000" y="2000"/>
                  </a:lnTo>
                  <a:lnTo>
                    <a:pt x="12000" y="3000"/>
                  </a:lnTo>
                  <a:lnTo>
                    <a:pt x="13000" y="3000"/>
                  </a:lnTo>
                  <a:close/>
                  <a:moveTo>
                    <a:pt x="13000" y="14000"/>
                  </a:moveTo>
                  <a:lnTo>
                    <a:pt x="12000" y="14000"/>
                  </a:lnTo>
                  <a:lnTo>
                    <a:pt x="12000" y="18000"/>
                  </a:lnTo>
                  <a:lnTo>
                    <a:pt x="15000" y="18000"/>
                  </a:lnTo>
                  <a:lnTo>
                    <a:pt x="15000" y="17000"/>
                  </a:lnTo>
                  <a:lnTo>
                    <a:pt x="16000" y="17000"/>
                  </a:lnTo>
                  <a:lnTo>
                    <a:pt x="16000" y="15000"/>
                  </a:lnTo>
                  <a:lnTo>
                    <a:pt x="15000" y="15000"/>
                  </a:lnTo>
                  <a:lnTo>
                    <a:pt x="15000" y="14000"/>
                  </a:lnTo>
                  <a:close/>
                  <a:moveTo>
                    <a:pt x="23000" y="17000"/>
                  </a:moveTo>
                  <a:lnTo>
                    <a:pt x="26000" y="17000"/>
                  </a:lnTo>
                  <a:lnTo>
                    <a:pt x="26000" y="18000"/>
                  </a:lnTo>
                  <a:lnTo>
                    <a:pt x="25000" y="18000"/>
                  </a:lnTo>
                  <a:lnTo>
                    <a:pt x="25000" y="19000"/>
                  </a:lnTo>
                  <a:lnTo>
                    <a:pt x="22000" y="19000"/>
                  </a:lnTo>
                  <a:close/>
                </a:path>
              </a:pathLst>
            </a:custGeom>
            <a:solidFill>
              <a:srgbClr val="3C83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5" name="Frozen Components"/>
            <p:cNvSpPr txBox="1"/>
            <p:nvPr/>
          </p:nvSpPr>
          <p:spPr>
            <a:xfrm>
              <a:off x="14328648" y="2962656"/>
              <a:ext cx="2197546"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Frozen Components</a:t>
              </a:r>
            </a:p>
          </p:txBody>
        </p:sp>
      </p:grpSp>
      <p:grpSp>
        <p:nvGrpSpPr>
          <p:cNvPr id="266" name="Group 265"/>
          <p:cNvGrpSpPr/>
          <p:nvPr/>
        </p:nvGrpSpPr>
        <p:grpSpPr>
          <a:xfrm>
            <a:off x="12234672" y="5477256"/>
            <a:ext cx="1481328" cy="659740"/>
            <a:chOff x="12234672" y="5477256"/>
            <a:chExt cx="1481328" cy="659740"/>
          </a:xfrm>
        </p:grpSpPr>
        <p:sp>
          <p:nvSpPr>
            <p:cNvPr id="267" name="Time encoder box"/>
            <p:cNvSpPr/>
            <p:nvPr/>
          </p:nvSpPr>
          <p:spPr>
            <a:xfrm>
              <a:off x="12234672" y="5486400"/>
              <a:ext cx="1481328" cy="630936"/>
            </a:xfrm>
            <a:prstGeom prst="roundRect">
              <a:avLst>
                <a:gd name="adj" fmla="val 4347"/>
              </a:avLst>
            </a:prstGeom>
            <a:solidFill>
              <a:srgbClr val="E4BB7F"/>
            </a:solidFill>
            <a:ln w="27432">
              <a:solidFill>
                <a:srgbClr val="8D370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8" name="Time"/>
            <p:cNvSpPr txBox="1"/>
            <p:nvPr/>
          </p:nvSpPr>
          <p:spPr>
            <a:xfrm>
              <a:off x="12644280" y="5477256"/>
              <a:ext cx="662111" cy="357988"/>
            </a:xfrm>
            <a:prstGeom prst="rect">
              <a:avLst/>
            </a:prstGeom>
            <a:noFill/>
            <a:effectLst/>
          </p:spPr>
          <p:txBody>
            <a:bodyPr wrap="none" lIns="0" rIns="0" tIns="0" bIns="0" anchor="t">
              <a:spAutoFit/>
            </a:bodyPr>
            <a:lstStyle/>
            <a:p>
              <a:pPr algn="ctr">
                <a:spcBef>
                  <a:spcPts val="0"/>
                </a:spcBef>
                <a:spcAft>
                  <a:spcPts val="0"/>
                </a:spcAft>
                <a:lnSpc>
                  <a:spcPct val="100000"/>
                </a:lnSpc>
              </a:pPr>
              <a:r>
                <a:rPr sz="2088" b="0" i="0">
                  <a:solidFill>
                    <a:srgbClr val="8D370E"/>
                  </a:solidFill>
                  <a:latin typeface="URW Gothic"/>
                </a:rPr>
                <a:t>Time</a:t>
              </a:r>
            </a:p>
          </p:txBody>
        </p:sp>
        <p:sp>
          <p:nvSpPr>
            <p:cNvPr id="269" name="Encoder"/>
            <p:cNvSpPr txBox="1"/>
            <p:nvPr/>
          </p:nvSpPr>
          <p:spPr>
            <a:xfrm>
              <a:off x="12398321" y="5779008"/>
              <a:ext cx="1154030" cy="357988"/>
            </a:xfrm>
            <a:prstGeom prst="rect">
              <a:avLst/>
            </a:prstGeom>
            <a:noFill/>
            <a:effectLst/>
          </p:spPr>
          <p:txBody>
            <a:bodyPr wrap="none" lIns="0" rIns="0" tIns="0" bIns="0" anchor="t">
              <a:spAutoFit/>
            </a:bodyPr>
            <a:lstStyle/>
            <a:p>
              <a:pPr algn="ctr">
                <a:spcBef>
                  <a:spcPts val="0"/>
                </a:spcBef>
                <a:spcAft>
                  <a:spcPts val="0"/>
                </a:spcAft>
                <a:lnSpc>
                  <a:spcPct val="100000"/>
                </a:lnSpc>
              </a:pPr>
              <a:r>
                <a:rPr sz="2088" b="0" i="0">
                  <a:solidFill>
                    <a:srgbClr val="8D370E"/>
                  </a:solidFill>
                  <a:latin typeface="URW Gothic"/>
                </a:rPr>
                <a:t>Encoder</a:t>
              </a:r>
            </a:p>
          </p:txBody>
        </p:sp>
        <p:sp>
          <p:nvSpPr>
            <p:cNvPr id="270" name="Time encoder stage 2"/>
            <p:cNvSpPr/>
            <p:nvPr/>
          </p:nvSpPr>
          <p:spPr>
            <a:xfrm>
              <a:off x="13520384" y="5500769"/>
              <a:ext cx="138793" cy="198555"/>
            </a:xfrm>
            <a:custGeom>
              <a:avLst/>
              <a:gdLst/>
              <a:ahLst/>
              <a:cxnLst/>
              <a:rect l="0" t="0" r="r" b="b"/>
              <a:pathLst>
                <a:path w="15179" h="21714">
                  <a:moveTo>
                    <a:pt x="6679" y="0"/>
                  </a:moveTo>
                  <a:cubicBezTo>
                    <a:pt x="6830" y="-500"/>
                    <a:pt x="7741" y="-71"/>
                    <a:pt x="7893" y="0"/>
                  </a:cubicBezTo>
                  <a:cubicBezTo>
                    <a:pt x="8045" y="71"/>
                    <a:pt x="7741" y="429"/>
                    <a:pt x="7893" y="571"/>
                  </a:cubicBezTo>
                  <a:cubicBezTo>
                    <a:pt x="8045" y="714"/>
                    <a:pt x="8955" y="929"/>
                    <a:pt x="9107" y="1143"/>
                  </a:cubicBezTo>
                  <a:cubicBezTo>
                    <a:pt x="9259" y="1357"/>
                    <a:pt x="8955" y="2071"/>
                    <a:pt x="9107" y="2286"/>
                  </a:cubicBezTo>
                  <a:cubicBezTo>
                    <a:pt x="9259" y="2500"/>
                    <a:pt x="10170" y="2500"/>
                    <a:pt x="10321" y="2857"/>
                  </a:cubicBezTo>
                  <a:cubicBezTo>
                    <a:pt x="10473" y="3214"/>
                    <a:pt x="10246" y="4857"/>
                    <a:pt x="10321" y="5143"/>
                  </a:cubicBezTo>
                  <a:cubicBezTo>
                    <a:pt x="10397" y="5429"/>
                    <a:pt x="10853" y="4857"/>
                    <a:pt x="10929" y="5143"/>
                  </a:cubicBezTo>
                  <a:cubicBezTo>
                    <a:pt x="11004" y="5429"/>
                    <a:pt x="11004" y="7143"/>
                    <a:pt x="10929" y="7429"/>
                  </a:cubicBezTo>
                  <a:cubicBezTo>
                    <a:pt x="10853" y="7714"/>
                    <a:pt x="10397" y="7214"/>
                    <a:pt x="10321" y="7429"/>
                  </a:cubicBezTo>
                  <a:cubicBezTo>
                    <a:pt x="10246" y="7643"/>
                    <a:pt x="10397" y="8929"/>
                    <a:pt x="10321" y="9143"/>
                  </a:cubicBezTo>
                  <a:cubicBezTo>
                    <a:pt x="10246" y="9357"/>
                    <a:pt x="9790" y="9000"/>
                    <a:pt x="9714" y="9143"/>
                  </a:cubicBezTo>
                  <a:cubicBezTo>
                    <a:pt x="9638" y="9286"/>
                    <a:pt x="9790" y="10143"/>
                    <a:pt x="9714" y="10286"/>
                  </a:cubicBezTo>
                  <a:cubicBezTo>
                    <a:pt x="9638" y="10429"/>
                    <a:pt x="9183" y="9857"/>
                    <a:pt x="9107" y="10286"/>
                  </a:cubicBezTo>
                  <a:cubicBezTo>
                    <a:pt x="9031" y="10714"/>
                    <a:pt x="8652" y="13214"/>
                    <a:pt x="9107" y="13714"/>
                  </a:cubicBezTo>
                  <a:cubicBezTo>
                    <a:pt x="9562" y="14214"/>
                    <a:pt x="12143" y="14429"/>
                    <a:pt x="12750" y="14286"/>
                  </a:cubicBezTo>
                  <a:cubicBezTo>
                    <a:pt x="13357" y="14143"/>
                    <a:pt x="13661" y="12714"/>
                    <a:pt x="13964" y="12571"/>
                  </a:cubicBezTo>
                  <a:cubicBezTo>
                    <a:pt x="14268" y="12429"/>
                    <a:pt x="15027" y="12714"/>
                    <a:pt x="15179" y="13143"/>
                  </a:cubicBezTo>
                  <a:cubicBezTo>
                    <a:pt x="15330" y="13571"/>
                    <a:pt x="15254" y="15643"/>
                    <a:pt x="15179" y="16000"/>
                  </a:cubicBezTo>
                  <a:cubicBezTo>
                    <a:pt x="15103" y="16357"/>
                    <a:pt x="14647" y="15786"/>
                    <a:pt x="14571" y="16000"/>
                  </a:cubicBezTo>
                  <a:cubicBezTo>
                    <a:pt x="14496" y="16214"/>
                    <a:pt x="14647" y="17500"/>
                    <a:pt x="14571" y="17714"/>
                  </a:cubicBezTo>
                  <a:cubicBezTo>
                    <a:pt x="14496" y="17929"/>
                    <a:pt x="14040" y="17643"/>
                    <a:pt x="13964" y="17714"/>
                  </a:cubicBezTo>
                  <a:cubicBezTo>
                    <a:pt x="13888" y="17786"/>
                    <a:pt x="14040" y="18214"/>
                    <a:pt x="13964" y="18286"/>
                  </a:cubicBezTo>
                  <a:cubicBezTo>
                    <a:pt x="13888" y="18357"/>
                    <a:pt x="13433" y="18143"/>
                    <a:pt x="13357" y="18286"/>
                  </a:cubicBezTo>
                  <a:cubicBezTo>
                    <a:pt x="13281" y="18429"/>
                    <a:pt x="13433" y="19286"/>
                    <a:pt x="13357" y="19429"/>
                  </a:cubicBezTo>
                  <a:cubicBezTo>
                    <a:pt x="13281" y="19571"/>
                    <a:pt x="12978" y="19214"/>
                    <a:pt x="12750" y="19429"/>
                  </a:cubicBezTo>
                  <a:cubicBezTo>
                    <a:pt x="12522" y="19643"/>
                    <a:pt x="11839" y="20929"/>
                    <a:pt x="11536" y="21143"/>
                  </a:cubicBezTo>
                  <a:cubicBezTo>
                    <a:pt x="11232" y="21357"/>
                    <a:pt x="10473" y="21071"/>
                    <a:pt x="10321" y="21143"/>
                  </a:cubicBezTo>
                  <a:cubicBezTo>
                    <a:pt x="10170" y="21214"/>
                    <a:pt x="10701" y="21643"/>
                    <a:pt x="10321" y="21714"/>
                  </a:cubicBezTo>
                  <a:cubicBezTo>
                    <a:pt x="9942" y="21786"/>
                    <a:pt x="7665" y="21929"/>
                    <a:pt x="7286" y="21714"/>
                  </a:cubicBezTo>
                  <a:cubicBezTo>
                    <a:pt x="6906" y="21500"/>
                    <a:pt x="7362" y="20214"/>
                    <a:pt x="7286" y="20000"/>
                  </a:cubicBezTo>
                  <a:cubicBezTo>
                    <a:pt x="7210" y="19786"/>
                    <a:pt x="6754" y="20143"/>
                    <a:pt x="6679" y="20000"/>
                  </a:cubicBezTo>
                  <a:cubicBezTo>
                    <a:pt x="6603" y="19857"/>
                    <a:pt x="6830" y="19071"/>
                    <a:pt x="6679" y="18857"/>
                  </a:cubicBezTo>
                  <a:cubicBezTo>
                    <a:pt x="6527" y="18643"/>
                    <a:pt x="5692" y="18714"/>
                    <a:pt x="5464" y="18286"/>
                  </a:cubicBezTo>
                  <a:cubicBezTo>
                    <a:pt x="5237" y="17857"/>
                    <a:pt x="5009" y="15786"/>
                    <a:pt x="4857" y="15429"/>
                  </a:cubicBezTo>
                  <a:cubicBezTo>
                    <a:pt x="4705" y="15071"/>
                    <a:pt x="4326" y="15786"/>
                    <a:pt x="4250" y="15429"/>
                  </a:cubicBezTo>
                  <a:cubicBezTo>
                    <a:pt x="4174" y="15071"/>
                    <a:pt x="4326" y="12929"/>
                    <a:pt x="4250" y="12571"/>
                  </a:cubicBezTo>
                  <a:cubicBezTo>
                    <a:pt x="4174" y="12214"/>
                    <a:pt x="3719" y="12429"/>
                    <a:pt x="3643" y="12571"/>
                  </a:cubicBezTo>
                  <a:cubicBezTo>
                    <a:pt x="3567" y="12714"/>
                    <a:pt x="3719" y="13571"/>
                    <a:pt x="3643" y="13714"/>
                  </a:cubicBezTo>
                  <a:cubicBezTo>
                    <a:pt x="3567" y="13857"/>
                    <a:pt x="3112" y="13571"/>
                    <a:pt x="3036" y="13714"/>
                  </a:cubicBezTo>
                  <a:cubicBezTo>
                    <a:pt x="2960" y="13857"/>
                    <a:pt x="3112" y="14714"/>
                    <a:pt x="3036" y="14857"/>
                  </a:cubicBezTo>
                  <a:cubicBezTo>
                    <a:pt x="2960" y="15000"/>
                    <a:pt x="2504" y="14571"/>
                    <a:pt x="2429" y="14857"/>
                  </a:cubicBezTo>
                  <a:cubicBezTo>
                    <a:pt x="2353" y="15143"/>
                    <a:pt x="2504" y="16857"/>
                    <a:pt x="2429" y="17143"/>
                  </a:cubicBezTo>
                  <a:cubicBezTo>
                    <a:pt x="2353" y="17429"/>
                    <a:pt x="1897" y="17071"/>
                    <a:pt x="1821" y="17143"/>
                  </a:cubicBezTo>
                  <a:cubicBezTo>
                    <a:pt x="1746" y="17214"/>
                    <a:pt x="1746" y="17643"/>
                    <a:pt x="1821" y="17714"/>
                  </a:cubicBezTo>
                  <a:cubicBezTo>
                    <a:pt x="1897" y="17786"/>
                    <a:pt x="2353" y="17500"/>
                    <a:pt x="2429" y="17714"/>
                  </a:cubicBezTo>
                  <a:cubicBezTo>
                    <a:pt x="2504" y="17929"/>
                    <a:pt x="2656" y="19357"/>
                    <a:pt x="2429" y="19429"/>
                  </a:cubicBezTo>
                  <a:cubicBezTo>
                    <a:pt x="2201" y="19500"/>
                    <a:pt x="835" y="18643"/>
                    <a:pt x="607" y="18286"/>
                  </a:cubicBezTo>
                  <a:cubicBezTo>
                    <a:pt x="379" y="17929"/>
                    <a:pt x="683" y="16786"/>
                    <a:pt x="607" y="16571"/>
                  </a:cubicBezTo>
                  <a:cubicBezTo>
                    <a:pt x="531" y="16357"/>
                    <a:pt x="76" y="17143"/>
                    <a:pt x="0" y="16571"/>
                  </a:cubicBezTo>
                  <a:cubicBezTo>
                    <a:pt x="-76" y="16000"/>
                    <a:pt x="-76" y="12571"/>
                    <a:pt x="0" y="12000"/>
                  </a:cubicBezTo>
                  <a:cubicBezTo>
                    <a:pt x="76" y="11429"/>
                    <a:pt x="455" y="12286"/>
                    <a:pt x="607" y="12000"/>
                  </a:cubicBezTo>
                  <a:cubicBezTo>
                    <a:pt x="759" y="11714"/>
                    <a:pt x="1062" y="10000"/>
                    <a:pt x="1214" y="9714"/>
                  </a:cubicBezTo>
                  <a:cubicBezTo>
                    <a:pt x="1366" y="9429"/>
                    <a:pt x="1746" y="9786"/>
                    <a:pt x="1821" y="9714"/>
                  </a:cubicBezTo>
                  <a:cubicBezTo>
                    <a:pt x="1897" y="9643"/>
                    <a:pt x="1746" y="9214"/>
                    <a:pt x="1821" y="9143"/>
                  </a:cubicBezTo>
                  <a:cubicBezTo>
                    <a:pt x="1897" y="9071"/>
                    <a:pt x="2353" y="9214"/>
                    <a:pt x="2429" y="9143"/>
                  </a:cubicBezTo>
                  <a:cubicBezTo>
                    <a:pt x="2504" y="9071"/>
                    <a:pt x="2353" y="8643"/>
                    <a:pt x="2429" y="8571"/>
                  </a:cubicBezTo>
                  <a:cubicBezTo>
                    <a:pt x="2504" y="8500"/>
                    <a:pt x="2960" y="8643"/>
                    <a:pt x="3036" y="8571"/>
                  </a:cubicBezTo>
                  <a:cubicBezTo>
                    <a:pt x="3112" y="8500"/>
                    <a:pt x="2732" y="8286"/>
                    <a:pt x="3036" y="8000"/>
                  </a:cubicBezTo>
                  <a:cubicBezTo>
                    <a:pt x="3339" y="7714"/>
                    <a:pt x="5161" y="6643"/>
                    <a:pt x="5464" y="6286"/>
                  </a:cubicBezTo>
                  <a:cubicBezTo>
                    <a:pt x="5768" y="5929"/>
                    <a:pt x="5388" y="5286"/>
                    <a:pt x="5464" y="5143"/>
                  </a:cubicBezTo>
                  <a:cubicBezTo>
                    <a:pt x="5540" y="5000"/>
                    <a:pt x="5996" y="5286"/>
                    <a:pt x="6071" y="5143"/>
                  </a:cubicBezTo>
                  <a:cubicBezTo>
                    <a:pt x="6147" y="5000"/>
                    <a:pt x="5996" y="4143"/>
                    <a:pt x="6071" y="4000"/>
                  </a:cubicBezTo>
                  <a:cubicBezTo>
                    <a:pt x="6147" y="3857"/>
                    <a:pt x="6603" y="4500"/>
                    <a:pt x="6679" y="4000"/>
                  </a:cubicBezTo>
                  <a:cubicBezTo>
                    <a:pt x="6754" y="3500"/>
                    <a:pt x="6527" y="500"/>
                    <a:pt x="6679"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1" name="Time encoder stage 3"/>
            <p:cNvSpPr/>
            <p:nvPr/>
          </p:nvSpPr>
          <p:spPr>
            <a:xfrm>
              <a:off x="13518447" y="5715714"/>
              <a:ext cx="144603" cy="190595"/>
            </a:xfrm>
            <a:custGeom>
              <a:avLst/>
              <a:gdLst/>
              <a:ahLst/>
              <a:cxnLst/>
              <a:rect l="0" t="0" r="r" b="b"/>
              <a:pathLst>
                <a:path w="15814" h="20844">
                  <a:moveTo>
                    <a:pt x="7907" y="0"/>
                  </a:moveTo>
                  <a:cubicBezTo>
                    <a:pt x="8006" y="-225"/>
                    <a:pt x="8599" y="-90"/>
                    <a:pt x="8698" y="0"/>
                  </a:cubicBezTo>
                  <a:cubicBezTo>
                    <a:pt x="8797" y="90"/>
                    <a:pt x="8599" y="584"/>
                    <a:pt x="8698" y="719"/>
                  </a:cubicBezTo>
                  <a:cubicBezTo>
                    <a:pt x="8797" y="854"/>
                    <a:pt x="9390" y="943"/>
                    <a:pt x="9488" y="1078"/>
                  </a:cubicBezTo>
                  <a:cubicBezTo>
                    <a:pt x="9587" y="1213"/>
                    <a:pt x="9439" y="1707"/>
                    <a:pt x="9488" y="1797"/>
                  </a:cubicBezTo>
                  <a:cubicBezTo>
                    <a:pt x="9538" y="1887"/>
                    <a:pt x="9834" y="1707"/>
                    <a:pt x="9884" y="1797"/>
                  </a:cubicBezTo>
                  <a:cubicBezTo>
                    <a:pt x="9933" y="1887"/>
                    <a:pt x="9834" y="2426"/>
                    <a:pt x="9884" y="2516"/>
                  </a:cubicBezTo>
                  <a:cubicBezTo>
                    <a:pt x="9933" y="2605"/>
                    <a:pt x="10230" y="2381"/>
                    <a:pt x="10279" y="2516"/>
                  </a:cubicBezTo>
                  <a:cubicBezTo>
                    <a:pt x="10328" y="2650"/>
                    <a:pt x="10230" y="3459"/>
                    <a:pt x="10279" y="3594"/>
                  </a:cubicBezTo>
                  <a:cubicBezTo>
                    <a:pt x="10328" y="3729"/>
                    <a:pt x="10625" y="3369"/>
                    <a:pt x="10674" y="3594"/>
                  </a:cubicBezTo>
                  <a:cubicBezTo>
                    <a:pt x="10724" y="3818"/>
                    <a:pt x="10625" y="5166"/>
                    <a:pt x="10674" y="5391"/>
                  </a:cubicBezTo>
                  <a:cubicBezTo>
                    <a:pt x="10724" y="5615"/>
                    <a:pt x="11020" y="5166"/>
                    <a:pt x="11070" y="5391"/>
                  </a:cubicBezTo>
                  <a:cubicBezTo>
                    <a:pt x="11119" y="5615"/>
                    <a:pt x="11020" y="6963"/>
                    <a:pt x="11070" y="7188"/>
                  </a:cubicBezTo>
                  <a:cubicBezTo>
                    <a:pt x="11119" y="7412"/>
                    <a:pt x="11416" y="6828"/>
                    <a:pt x="11465" y="7188"/>
                  </a:cubicBezTo>
                  <a:cubicBezTo>
                    <a:pt x="11515" y="7547"/>
                    <a:pt x="11366" y="9703"/>
                    <a:pt x="11465" y="10062"/>
                  </a:cubicBezTo>
                  <a:cubicBezTo>
                    <a:pt x="11564" y="10422"/>
                    <a:pt x="12157" y="10107"/>
                    <a:pt x="12256" y="10062"/>
                  </a:cubicBezTo>
                  <a:cubicBezTo>
                    <a:pt x="12355" y="10018"/>
                    <a:pt x="12108" y="9838"/>
                    <a:pt x="12256" y="9703"/>
                  </a:cubicBezTo>
                  <a:cubicBezTo>
                    <a:pt x="12404" y="9568"/>
                    <a:pt x="13244" y="9389"/>
                    <a:pt x="13442" y="8984"/>
                  </a:cubicBezTo>
                  <a:cubicBezTo>
                    <a:pt x="13640" y="8580"/>
                    <a:pt x="13738" y="6783"/>
                    <a:pt x="13837" y="6469"/>
                  </a:cubicBezTo>
                  <a:cubicBezTo>
                    <a:pt x="13936" y="6154"/>
                    <a:pt x="14183" y="6379"/>
                    <a:pt x="14233" y="6469"/>
                  </a:cubicBezTo>
                  <a:cubicBezTo>
                    <a:pt x="14282" y="6559"/>
                    <a:pt x="14183" y="7098"/>
                    <a:pt x="14233" y="7188"/>
                  </a:cubicBezTo>
                  <a:cubicBezTo>
                    <a:pt x="14282" y="7277"/>
                    <a:pt x="14578" y="7098"/>
                    <a:pt x="14628" y="7188"/>
                  </a:cubicBezTo>
                  <a:cubicBezTo>
                    <a:pt x="14677" y="7277"/>
                    <a:pt x="14578" y="7816"/>
                    <a:pt x="14628" y="7906"/>
                  </a:cubicBezTo>
                  <a:cubicBezTo>
                    <a:pt x="14677" y="7996"/>
                    <a:pt x="14974" y="7816"/>
                    <a:pt x="15023" y="7906"/>
                  </a:cubicBezTo>
                  <a:cubicBezTo>
                    <a:pt x="15073" y="7996"/>
                    <a:pt x="14974" y="8535"/>
                    <a:pt x="15023" y="8625"/>
                  </a:cubicBezTo>
                  <a:cubicBezTo>
                    <a:pt x="15073" y="8715"/>
                    <a:pt x="15369" y="8445"/>
                    <a:pt x="15419" y="8625"/>
                  </a:cubicBezTo>
                  <a:cubicBezTo>
                    <a:pt x="15468" y="8805"/>
                    <a:pt x="15369" y="9883"/>
                    <a:pt x="15419" y="10062"/>
                  </a:cubicBezTo>
                  <a:cubicBezTo>
                    <a:pt x="15468" y="10242"/>
                    <a:pt x="15765" y="9344"/>
                    <a:pt x="15814" y="10062"/>
                  </a:cubicBezTo>
                  <a:cubicBezTo>
                    <a:pt x="15863" y="10781"/>
                    <a:pt x="15863" y="15094"/>
                    <a:pt x="15814" y="15812"/>
                  </a:cubicBezTo>
                  <a:cubicBezTo>
                    <a:pt x="15765" y="16531"/>
                    <a:pt x="15468" y="15633"/>
                    <a:pt x="15419" y="15812"/>
                  </a:cubicBezTo>
                  <a:cubicBezTo>
                    <a:pt x="15369" y="15992"/>
                    <a:pt x="15468" y="17070"/>
                    <a:pt x="15419" y="17250"/>
                  </a:cubicBezTo>
                  <a:cubicBezTo>
                    <a:pt x="15369" y="17430"/>
                    <a:pt x="15073" y="17160"/>
                    <a:pt x="15023" y="17250"/>
                  </a:cubicBezTo>
                  <a:cubicBezTo>
                    <a:pt x="14974" y="17340"/>
                    <a:pt x="15073" y="17879"/>
                    <a:pt x="15023" y="17969"/>
                  </a:cubicBezTo>
                  <a:cubicBezTo>
                    <a:pt x="14974" y="18059"/>
                    <a:pt x="14727" y="17789"/>
                    <a:pt x="14628" y="17969"/>
                  </a:cubicBezTo>
                  <a:cubicBezTo>
                    <a:pt x="14529" y="18148"/>
                    <a:pt x="14331" y="19227"/>
                    <a:pt x="14233" y="19406"/>
                  </a:cubicBezTo>
                  <a:cubicBezTo>
                    <a:pt x="14134" y="19586"/>
                    <a:pt x="14035" y="19227"/>
                    <a:pt x="13837" y="19406"/>
                  </a:cubicBezTo>
                  <a:cubicBezTo>
                    <a:pt x="13640" y="19586"/>
                    <a:pt x="13047" y="20664"/>
                    <a:pt x="12651" y="20844"/>
                  </a:cubicBezTo>
                  <a:cubicBezTo>
                    <a:pt x="12256" y="21023"/>
                    <a:pt x="10922" y="20979"/>
                    <a:pt x="10674" y="20844"/>
                  </a:cubicBezTo>
                  <a:cubicBezTo>
                    <a:pt x="10427" y="20709"/>
                    <a:pt x="10625" y="19900"/>
                    <a:pt x="10674" y="19766"/>
                  </a:cubicBezTo>
                  <a:cubicBezTo>
                    <a:pt x="10724" y="19631"/>
                    <a:pt x="11020" y="19900"/>
                    <a:pt x="11070" y="19766"/>
                  </a:cubicBezTo>
                  <a:cubicBezTo>
                    <a:pt x="11119" y="19631"/>
                    <a:pt x="11020" y="18822"/>
                    <a:pt x="11070" y="18688"/>
                  </a:cubicBezTo>
                  <a:cubicBezTo>
                    <a:pt x="11119" y="18553"/>
                    <a:pt x="11416" y="19137"/>
                    <a:pt x="11465" y="18688"/>
                  </a:cubicBezTo>
                  <a:cubicBezTo>
                    <a:pt x="11515" y="18238"/>
                    <a:pt x="11515" y="15543"/>
                    <a:pt x="11465" y="15094"/>
                  </a:cubicBezTo>
                  <a:cubicBezTo>
                    <a:pt x="11416" y="14645"/>
                    <a:pt x="11119" y="15229"/>
                    <a:pt x="11070" y="15094"/>
                  </a:cubicBezTo>
                  <a:cubicBezTo>
                    <a:pt x="11020" y="14959"/>
                    <a:pt x="11119" y="14150"/>
                    <a:pt x="11070" y="14016"/>
                  </a:cubicBezTo>
                  <a:cubicBezTo>
                    <a:pt x="11020" y="13881"/>
                    <a:pt x="10724" y="14105"/>
                    <a:pt x="10674" y="14016"/>
                  </a:cubicBezTo>
                  <a:cubicBezTo>
                    <a:pt x="10625" y="13926"/>
                    <a:pt x="10724" y="13387"/>
                    <a:pt x="10674" y="13297"/>
                  </a:cubicBezTo>
                  <a:cubicBezTo>
                    <a:pt x="10625" y="13207"/>
                    <a:pt x="10328" y="13387"/>
                    <a:pt x="10279" y="13297"/>
                  </a:cubicBezTo>
                  <a:cubicBezTo>
                    <a:pt x="10230" y="13207"/>
                    <a:pt x="10328" y="12668"/>
                    <a:pt x="10279" y="12578"/>
                  </a:cubicBezTo>
                  <a:cubicBezTo>
                    <a:pt x="10230" y="12488"/>
                    <a:pt x="9933" y="12713"/>
                    <a:pt x="9884" y="12578"/>
                  </a:cubicBezTo>
                  <a:cubicBezTo>
                    <a:pt x="9834" y="12443"/>
                    <a:pt x="9933" y="11635"/>
                    <a:pt x="9884" y="11500"/>
                  </a:cubicBezTo>
                  <a:cubicBezTo>
                    <a:pt x="9834" y="11365"/>
                    <a:pt x="9538" y="11725"/>
                    <a:pt x="9488" y="11500"/>
                  </a:cubicBezTo>
                  <a:cubicBezTo>
                    <a:pt x="9439" y="11275"/>
                    <a:pt x="9538" y="9928"/>
                    <a:pt x="9488" y="9703"/>
                  </a:cubicBezTo>
                  <a:cubicBezTo>
                    <a:pt x="9439" y="9479"/>
                    <a:pt x="9142" y="9748"/>
                    <a:pt x="9093" y="9703"/>
                  </a:cubicBezTo>
                  <a:cubicBezTo>
                    <a:pt x="9044" y="9658"/>
                    <a:pt x="9192" y="9344"/>
                    <a:pt x="9093" y="9344"/>
                  </a:cubicBezTo>
                  <a:cubicBezTo>
                    <a:pt x="8994" y="9344"/>
                    <a:pt x="8401" y="9523"/>
                    <a:pt x="8302" y="9703"/>
                  </a:cubicBezTo>
                  <a:cubicBezTo>
                    <a:pt x="8203" y="9883"/>
                    <a:pt x="8352" y="10646"/>
                    <a:pt x="8302" y="10781"/>
                  </a:cubicBezTo>
                  <a:cubicBezTo>
                    <a:pt x="8253" y="10916"/>
                    <a:pt x="7956" y="10646"/>
                    <a:pt x="7907" y="10781"/>
                  </a:cubicBezTo>
                  <a:cubicBezTo>
                    <a:pt x="7858" y="10916"/>
                    <a:pt x="7956" y="11725"/>
                    <a:pt x="7907" y="11859"/>
                  </a:cubicBezTo>
                  <a:cubicBezTo>
                    <a:pt x="7858" y="11994"/>
                    <a:pt x="7561" y="11680"/>
                    <a:pt x="7512" y="11859"/>
                  </a:cubicBezTo>
                  <a:cubicBezTo>
                    <a:pt x="7462" y="12039"/>
                    <a:pt x="7561" y="13117"/>
                    <a:pt x="7512" y="13297"/>
                  </a:cubicBezTo>
                  <a:cubicBezTo>
                    <a:pt x="7462" y="13477"/>
                    <a:pt x="7166" y="12982"/>
                    <a:pt x="7116" y="13297"/>
                  </a:cubicBezTo>
                  <a:cubicBezTo>
                    <a:pt x="7067" y="13611"/>
                    <a:pt x="7166" y="15498"/>
                    <a:pt x="7116" y="15812"/>
                  </a:cubicBezTo>
                  <a:cubicBezTo>
                    <a:pt x="7067" y="16127"/>
                    <a:pt x="6770" y="15723"/>
                    <a:pt x="6721" y="15812"/>
                  </a:cubicBezTo>
                  <a:cubicBezTo>
                    <a:pt x="6672" y="15902"/>
                    <a:pt x="6770" y="16441"/>
                    <a:pt x="6721" y="16531"/>
                  </a:cubicBezTo>
                  <a:cubicBezTo>
                    <a:pt x="6672" y="16621"/>
                    <a:pt x="6375" y="16621"/>
                    <a:pt x="6326" y="16531"/>
                  </a:cubicBezTo>
                  <a:cubicBezTo>
                    <a:pt x="6276" y="16441"/>
                    <a:pt x="6375" y="15902"/>
                    <a:pt x="6326" y="15812"/>
                  </a:cubicBezTo>
                  <a:cubicBezTo>
                    <a:pt x="6276" y="15723"/>
                    <a:pt x="5980" y="15857"/>
                    <a:pt x="5930" y="15812"/>
                  </a:cubicBezTo>
                  <a:cubicBezTo>
                    <a:pt x="5881" y="15768"/>
                    <a:pt x="5980" y="15498"/>
                    <a:pt x="5930" y="15453"/>
                  </a:cubicBezTo>
                  <a:cubicBezTo>
                    <a:pt x="5881" y="15408"/>
                    <a:pt x="5584" y="15543"/>
                    <a:pt x="5535" y="15453"/>
                  </a:cubicBezTo>
                  <a:cubicBezTo>
                    <a:pt x="5485" y="15363"/>
                    <a:pt x="5584" y="14824"/>
                    <a:pt x="5535" y="14734"/>
                  </a:cubicBezTo>
                  <a:cubicBezTo>
                    <a:pt x="5485" y="14645"/>
                    <a:pt x="5189" y="14869"/>
                    <a:pt x="5140" y="14734"/>
                  </a:cubicBezTo>
                  <a:cubicBezTo>
                    <a:pt x="5090" y="14600"/>
                    <a:pt x="5189" y="13791"/>
                    <a:pt x="5140" y="13656"/>
                  </a:cubicBezTo>
                  <a:cubicBezTo>
                    <a:pt x="5090" y="13521"/>
                    <a:pt x="4794" y="13881"/>
                    <a:pt x="4744" y="13656"/>
                  </a:cubicBezTo>
                  <a:cubicBezTo>
                    <a:pt x="4695" y="13432"/>
                    <a:pt x="4794" y="12084"/>
                    <a:pt x="4744" y="11859"/>
                  </a:cubicBezTo>
                  <a:cubicBezTo>
                    <a:pt x="4695" y="11635"/>
                    <a:pt x="4398" y="11770"/>
                    <a:pt x="4349" y="11859"/>
                  </a:cubicBezTo>
                  <a:cubicBezTo>
                    <a:pt x="4299" y="11949"/>
                    <a:pt x="4398" y="12488"/>
                    <a:pt x="4349" y="12578"/>
                  </a:cubicBezTo>
                  <a:cubicBezTo>
                    <a:pt x="4299" y="12668"/>
                    <a:pt x="4003" y="12443"/>
                    <a:pt x="3953" y="12578"/>
                  </a:cubicBezTo>
                  <a:cubicBezTo>
                    <a:pt x="3904" y="12713"/>
                    <a:pt x="4003" y="13521"/>
                    <a:pt x="3953" y="13656"/>
                  </a:cubicBezTo>
                  <a:cubicBezTo>
                    <a:pt x="3904" y="13791"/>
                    <a:pt x="3608" y="13027"/>
                    <a:pt x="3558" y="13656"/>
                  </a:cubicBezTo>
                  <a:cubicBezTo>
                    <a:pt x="3509" y="14285"/>
                    <a:pt x="3509" y="18059"/>
                    <a:pt x="3558" y="18688"/>
                  </a:cubicBezTo>
                  <a:cubicBezTo>
                    <a:pt x="3608" y="19316"/>
                    <a:pt x="3855" y="18418"/>
                    <a:pt x="3953" y="18688"/>
                  </a:cubicBezTo>
                  <a:cubicBezTo>
                    <a:pt x="4052" y="18957"/>
                    <a:pt x="4448" y="20574"/>
                    <a:pt x="4349" y="20844"/>
                  </a:cubicBezTo>
                  <a:cubicBezTo>
                    <a:pt x="4250" y="21113"/>
                    <a:pt x="3311" y="20889"/>
                    <a:pt x="3163" y="20844"/>
                  </a:cubicBezTo>
                  <a:cubicBezTo>
                    <a:pt x="3015" y="20799"/>
                    <a:pt x="3360" y="20664"/>
                    <a:pt x="3163" y="20484"/>
                  </a:cubicBezTo>
                  <a:cubicBezTo>
                    <a:pt x="2965" y="20305"/>
                    <a:pt x="1779" y="19631"/>
                    <a:pt x="1581" y="19406"/>
                  </a:cubicBezTo>
                  <a:cubicBezTo>
                    <a:pt x="1384" y="19182"/>
                    <a:pt x="1631" y="18777"/>
                    <a:pt x="1581" y="18688"/>
                  </a:cubicBezTo>
                  <a:cubicBezTo>
                    <a:pt x="1532" y="18598"/>
                    <a:pt x="1235" y="18777"/>
                    <a:pt x="1186" y="18688"/>
                  </a:cubicBezTo>
                  <a:cubicBezTo>
                    <a:pt x="1137" y="18598"/>
                    <a:pt x="1235" y="18059"/>
                    <a:pt x="1186" y="17969"/>
                  </a:cubicBezTo>
                  <a:cubicBezTo>
                    <a:pt x="1137" y="17879"/>
                    <a:pt x="840" y="18104"/>
                    <a:pt x="791" y="17969"/>
                  </a:cubicBezTo>
                  <a:cubicBezTo>
                    <a:pt x="741" y="17834"/>
                    <a:pt x="840" y="17025"/>
                    <a:pt x="791" y="16891"/>
                  </a:cubicBezTo>
                  <a:cubicBezTo>
                    <a:pt x="741" y="16756"/>
                    <a:pt x="445" y="17025"/>
                    <a:pt x="395" y="16891"/>
                  </a:cubicBezTo>
                  <a:cubicBezTo>
                    <a:pt x="346" y="16756"/>
                    <a:pt x="445" y="15947"/>
                    <a:pt x="395" y="15812"/>
                  </a:cubicBezTo>
                  <a:cubicBezTo>
                    <a:pt x="346" y="15678"/>
                    <a:pt x="49" y="16262"/>
                    <a:pt x="0" y="15812"/>
                  </a:cubicBezTo>
                  <a:cubicBezTo>
                    <a:pt x="-49" y="15363"/>
                    <a:pt x="-49" y="12668"/>
                    <a:pt x="0" y="12219"/>
                  </a:cubicBezTo>
                  <a:cubicBezTo>
                    <a:pt x="49" y="11770"/>
                    <a:pt x="346" y="12488"/>
                    <a:pt x="395" y="12219"/>
                  </a:cubicBezTo>
                  <a:cubicBezTo>
                    <a:pt x="445" y="11949"/>
                    <a:pt x="346" y="10332"/>
                    <a:pt x="395" y="10062"/>
                  </a:cubicBezTo>
                  <a:cubicBezTo>
                    <a:pt x="445" y="9793"/>
                    <a:pt x="741" y="10242"/>
                    <a:pt x="791" y="10062"/>
                  </a:cubicBezTo>
                  <a:cubicBezTo>
                    <a:pt x="840" y="9883"/>
                    <a:pt x="741" y="8805"/>
                    <a:pt x="791" y="8625"/>
                  </a:cubicBezTo>
                  <a:cubicBezTo>
                    <a:pt x="840" y="8445"/>
                    <a:pt x="1087" y="8939"/>
                    <a:pt x="1186" y="8625"/>
                  </a:cubicBezTo>
                  <a:cubicBezTo>
                    <a:pt x="1285" y="8311"/>
                    <a:pt x="1483" y="6424"/>
                    <a:pt x="1581" y="6109"/>
                  </a:cubicBezTo>
                  <a:cubicBezTo>
                    <a:pt x="1680" y="5795"/>
                    <a:pt x="1878" y="6559"/>
                    <a:pt x="1977" y="6109"/>
                  </a:cubicBezTo>
                  <a:cubicBezTo>
                    <a:pt x="2076" y="5660"/>
                    <a:pt x="2224" y="2965"/>
                    <a:pt x="2372" y="2516"/>
                  </a:cubicBezTo>
                  <a:cubicBezTo>
                    <a:pt x="2520" y="2066"/>
                    <a:pt x="3064" y="2471"/>
                    <a:pt x="3163" y="2516"/>
                  </a:cubicBezTo>
                  <a:cubicBezTo>
                    <a:pt x="3262" y="2561"/>
                    <a:pt x="3113" y="2830"/>
                    <a:pt x="3163" y="2875"/>
                  </a:cubicBezTo>
                  <a:cubicBezTo>
                    <a:pt x="3212" y="2920"/>
                    <a:pt x="3509" y="2785"/>
                    <a:pt x="3558" y="2875"/>
                  </a:cubicBezTo>
                  <a:cubicBezTo>
                    <a:pt x="3608" y="2965"/>
                    <a:pt x="3509" y="3504"/>
                    <a:pt x="3558" y="3594"/>
                  </a:cubicBezTo>
                  <a:cubicBezTo>
                    <a:pt x="3608" y="3684"/>
                    <a:pt x="3904" y="3504"/>
                    <a:pt x="3953" y="3594"/>
                  </a:cubicBezTo>
                  <a:cubicBezTo>
                    <a:pt x="4003" y="3684"/>
                    <a:pt x="3904" y="4223"/>
                    <a:pt x="3953" y="4312"/>
                  </a:cubicBezTo>
                  <a:cubicBezTo>
                    <a:pt x="4003" y="4402"/>
                    <a:pt x="4299" y="3998"/>
                    <a:pt x="4349" y="4312"/>
                  </a:cubicBezTo>
                  <a:cubicBezTo>
                    <a:pt x="4398" y="4627"/>
                    <a:pt x="4250" y="6469"/>
                    <a:pt x="4349" y="6828"/>
                  </a:cubicBezTo>
                  <a:cubicBezTo>
                    <a:pt x="4448" y="7188"/>
                    <a:pt x="5041" y="7232"/>
                    <a:pt x="5140" y="7188"/>
                  </a:cubicBezTo>
                  <a:cubicBezTo>
                    <a:pt x="5238" y="7143"/>
                    <a:pt x="5090" y="6559"/>
                    <a:pt x="5140" y="6469"/>
                  </a:cubicBezTo>
                  <a:cubicBezTo>
                    <a:pt x="5189" y="6379"/>
                    <a:pt x="5436" y="6648"/>
                    <a:pt x="5535" y="6469"/>
                  </a:cubicBezTo>
                  <a:cubicBezTo>
                    <a:pt x="5634" y="6289"/>
                    <a:pt x="5831" y="5211"/>
                    <a:pt x="5930" y="5031"/>
                  </a:cubicBezTo>
                  <a:cubicBezTo>
                    <a:pt x="6029" y="4852"/>
                    <a:pt x="6276" y="5076"/>
                    <a:pt x="6326" y="5031"/>
                  </a:cubicBezTo>
                  <a:cubicBezTo>
                    <a:pt x="6375" y="4986"/>
                    <a:pt x="6276" y="4717"/>
                    <a:pt x="6326" y="4672"/>
                  </a:cubicBezTo>
                  <a:cubicBezTo>
                    <a:pt x="6375" y="4627"/>
                    <a:pt x="6672" y="4762"/>
                    <a:pt x="6721" y="4672"/>
                  </a:cubicBezTo>
                  <a:cubicBezTo>
                    <a:pt x="6770" y="4582"/>
                    <a:pt x="6672" y="4043"/>
                    <a:pt x="6721" y="3953"/>
                  </a:cubicBezTo>
                  <a:cubicBezTo>
                    <a:pt x="6770" y="3863"/>
                    <a:pt x="7067" y="4088"/>
                    <a:pt x="7116" y="3953"/>
                  </a:cubicBezTo>
                  <a:cubicBezTo>
                    <a:pt x="7166" y="3818"/>
                    <a:pt x="7067" y="3010"/>
                    <a:pt x="7116" y="2875"/>
                  </a:cubicBezTo>
                  <a:cubicBezTo>
                    <a:pt x="7166" y="2740"/>
                    <a:pt x="7462" y="3010"/>
                    <a:pt x="7512" y="2875"/>
                  </a:cubicBezTo>
                  <a:cubicBezTo>
                    <a:pt x="7561" y="2740"/>
                    <a:pt x="7462" y="1932"/>
                    <a:pt x="7512" y="1797"/>
                  </a:cubicBezTo>
                  <a:cubicBezTo>
                    <a:pt x="7561" y="1662"/>
                    <a:pt x="7858" y="2021"/>
                    <a:pt x="7907" y="1797"/>
                  </a:cubicBezTo>
                  <a:cubicBezTo>
                    <a:pt x="7956" y="1572"/>
                    <a:pt x="7808" y="225"/>
                    <a:pt x="7907" y="0"/>
                  </a:cubicBezTo>
                  <a:close/>
                </a:path>
              </a:pathLst>
            </a:custGeom>
            <a:solidFill>
              <a:srgbClr val="CC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72" name="Group 271"/>
          <p:cNvGrpSpPr/>
          <p:nvPr/>
        </p:nvGrpSpPr>
        <p:grpSpPr>
          <a:xfrm>
            <a:off x="14017752" y="6336792"/>
            <a:ext cx="2971800" cy="1837944"/>
            <a:chOff x="14017752" y="6336792"/>
            <a:chExt cx="2971800" cy="1837944"/>
          </a:xfrm>
        </p:grpSpPr>
        <p:cxnSp>
          <p:nvCxnSpPr>
            <p:cNvPr id="273" name="Tokenizer to text tokens"/>
            <p:cNvCxnSpPr/>
            <p:nvPr/>
          </p:nvCxnSpPr>
          <p:spPr>
            <a:xfrm flipV="1">
              <a:off x="15937992" y="6784848"/>
              <a:ext cx="0" cy="402336"/>
            </a:xfrm>
            <a:prstGeom prst="line">
              <a:avLst/>
            </a:prstGeom>
            <a:ln w="27432">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274" name="Tokenizer to text tokens arrow"/>
            <p:cNvSpPr/>
            <p:nvPr/>
          </p:nvSpPr>
          <p:spPr>
            <a:xfrm>
              <a:off x="15886420" y="6784848"/>
              <a:ext cx="103144" cy="109728"/>
            </a:xfrm>
            <a:custGeom>
              <a:avLst/>
              <a:gdLst/>
              <a:ahLst/>
              <a:cxnLst/>
              <a:rect l="0" t="0" r="r" b="b"/>
              <a:pathLst>
                <a:path w="11280" h="12000">
                  <a:moveTo>
                    <a:pt x="5640" y="0"/>
                  </a:moveTo>
                  <a:lnTo>
                    <a:pt x="0" y="12000"/>
                  </a:lnTo>
                  <a:lnTo>
                    <a:pt x="11280" y="120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5" name="Query to tokenizer"/>
            <p:cNvCxnSpPr/>
            <p:nvPr/>
          </p:nvCxnSpPr>
          <p:spPr>
            <a:xfrm flipH="1" flipV="1">
              <a:off x="15937992" y="7772400"/>
              <a:ext cx="18288" cy="402336"/>
            </a:xfrm>
            <a:prstGeom prst="line">
              <a:avLst/>
            </a:prstGeom>
            <a:ln w="27432">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276" name="Query to tokenizer arrow"/>
            <p:cNvSpPr/>
            <p:nvPr/>
          </p:nvSpPr>
          <p:spPr>
            <a:xfrm>
              <a:off x="15891456" y="7772400"/>
              <a:ext cx="103038" cy="111957"/>
            </a:xfrm>
            <a:custGeom>
              <a:avLst/>
              <a:gdLst/>
              <a:ahLst/>
              <a:cxnLst/>
              <a:rect l="0" t="0" r="r" b="b"/>
              <a:pathLst>
                <a:path w="11268" h="12244">
                  <a:moveTo>
                    <a:pt x="5089" y="0"/>
                  </a:moveTo>
                  <a:lnTo>
                    <a:pt x="0" y="12244"/>
                  </a:lnTo>
                  <a:lnTo>
                    <a:pt x="11268" y="11732"/>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7" name="Token background"/>
            <p:cNvSpPr/>
            <p:nvPr/>
          </p:nvSpPr>
          <p:spPr>
            <a:xfrm>
              <a:off x="15316200" y="6364224"/>
              <a:ext cx="1280160" cy="429768"/>
            </a:xfrm>
            <a:prstGeom prst="roundRect">
              <a:avLst>
                <a:gd name="adj" fmla="val 17021"/>
              </a:avLst>
            </a:prstGeom>
            <a:solidFill>
              <a:srgbClr val="E9ED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8" name="Editable token"/>
            <p:cNvSpPr/>
            <p:nvPr/>
          </p:nvSpPr>
          <p:spPr>
            <a:xfrm>
              <a:off x="15389352" y="6437376"/>
              <a:ext cx="292608" cy="283464"/>
            </a:xfrm>
            <a:prstGeom prst="roundRect">
              <a:avLst>
                <a:gd name="adj" fmla="val 16129"/>
              </a:avLst>
            </a:prstGeom>
            <a:solidFill>
              <a:srgbClr val="8F69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9" name="Editable token"/>
            <p:cNvSpPr/>
            <p:nvPr/>
          </p:nvSpPr>
          <p:spPr>
            <a:xfrm>
              <a:off x="15809976" y="6437376"/>
              <a:ext cx="292608" cy="283464"/>
            </a:xfrm>
            <a:prstGeom prst="roundRect">
              <a:avLst>
                <a:gd name="adj" fmla="val 16129"/>
              </a:avLst>
            </a:prstGeom>
            <a:solidFill>
              <a:srgbClr val="8F69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0" name="Editable token"/>
            <p:cNvSpPr/>
            <p:nvPr/>
          </p:nvSpPr>
          <p:spPr>
            <a:xfrm>
              <a:off x="16230600" y="6437376"/>
              <a:ext cx="292608" cy="283464"/>
            </a:xfrm>
            <a:prstGeom prst="roundRect">
              <a:avLst>
                <a:gd name="adj" fmla="val 16129"/>
              </a:avLst>
            </a:prstGeom>
            <a:solidFill>
              <a:srgbClr val="8F69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1" name="Text Tokens"/>
            <p:cNvSpPr txBox="1"/>
            <p:nvPr/>
          </p:nvSpPr>
          <p:spPr>
            <a:xfrm>
              <a:off x="14017752" y="6336792"/>
              <a:ext cx="1229482"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882384"/>
                  </a:solidFill>
                  <a:latin typeface="URW Gothic"/>
                </a:rPr>
                <a:t>Text Tokens</a:t>
              </a:r>
            </a:p>
          </p:txBody>
        </p:sp>
        <p:sp>
          <p:nvSpPr>
            <p:cNvPr id="282" name="Text Tokenizer box"/>
            <p:cNvSpPr/>
            <p:nvPr/>
          </p:nvSpPr>
          <p:spPr>
            <a:xfrm>
              <a:off x="14895576" y="7187184"/>
              <a:ext cx="2093976" cy="576072"/>
            </a:xfrm>
            <a:prstGeom prst="roundRect">
              <a:avLst>
                <a:gd name="adj" fmla="val 3968"/>
              </a:avLst>
            </a:prstGeom>
            <a:solidFill>
              <a:srgbClr val="DED6E0"/>
            </a:solidFill>
            <a:ln w="25603">
              <a:solidFill>
                <a:srgbClr val="862C8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3" name="Text Tokenizer"/>
            <p:cNvSpPr txBox="1"/>
            <p:nvPr/>
          </p:nvSpPr>
          <p:spPr>
            <a:xfrm>
              <a:off x="14987016" y="7316846"/>
              <a:ext cx="1911096" cy="345643"/>
            </a:xfrm>
            <a:prstGeom prst="rect">
              <a:avLst/>
            </a:prstGeom>
            <a:noFill/>
            <a:effectLst/>
          </p:spPr>
          <p:txBody>
            <a:bodyPr wrap="none" lIns="0" rIns="0" tIns="0" bIns="0" anchor="t">
              <a:spAutoFit/>
            </a:bodyPr>
            <a:lstStyle/>
            <a:p>
              <a:pPr algn="ctr">
                <a:spcBef>
                  <a:spcPts val="0"/>
                </a:spcBef>
                <a:spcAft>
                  <a:spcPts val="0"/>
                </a:spcAft>
                <a:lnSpc>
                  <a:spcPct val="100000"/>
                </a:lnSpc>
              </a:pPr>
              <a:r>
                <a:rPr sz="2016" b="0" i="0">
                  <a:solidFill>
                    <a:srgbClr val="862C80"/>
                  </a:solidFill>
                  <a:latin typeface="URW Gothic"/>
                </a:rPr>
                <a:t>Text Tokenizer</a:t>
              </a:r>
            </a:p>
          </p:txBody>
        </p:sp>
      </p:grpSp>
      <p:grpSp>
        <p:nvGrpSpPr>
          <p:cNvPr id="284" name="Group 283"/>
          <p:cNvGrpSpPr/>
          <p:nvPr/>
        </p:nvGrpSpPr>
        <p:grpSpPr>
          <a:xfrm>
            <a:off x="27432" y="8110728"/>
            <a:ext cx="12856464" cy="1613002"/>
            <a:chOff x="27432" y="8110728"/>
            <a:chExt cx="12856464" cy="1613002"/>
          </a:xfrm>
        </p:grpSpPr>
        <p:grpSp>
          <p:nvGrpSpPr>
            <p:cNvPr id="285" name="Group 284"/>
            <p:cNvGrpSpPr/>
            <p:nvPr/>
          </p:nvGrpSpPr>
          <p:grpSpPr>
            <a:xfrm>
              <a:off x="192024" y="8110728"/>
              <a:ext cx="1207008" cy="932688"/>
              <a:chOff x="192024" y="8110728"/>
              <a:chExt cx="1207008" cy="932688"/>
            </a:xfrm>
          </p:grpSpPr>
          <p:sp>
            <p:nvSpPr>
              <p:cNvPr id="286" name="Film strip 1 black frame"/>
              <p:cNvSpPr/>
              <p:nvPr/>
            </p:nvSpPr>
            <p:spPr>
              <a:xfrm>
                <a:off x="192024" y="8110728"/>
                <a:ext cx="1207008" cy="932688"/>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7" name="film-photo-1" descr="film-photo-1.png"/>
              <p:cNvPicPr>
                <a:picLocks noChangeAspect="1"/>
              </p:cNvPicPr>
              <p:nvPr/>
            </p:nvPicPr>
            <p:blipFill>
              <a:blip r:embed="rId5"/>
              <a:stretch>
                <a:fillRect/>
              </a:stretch>
            </p:blipFill>
            <p:spPr>
              <a:xfrm>
                <a:off x="219456" y="8247888"/>
                <a:ext cx="1152144" cy="658368"/>
              </a:xfrm>
              <a:prstGeom prst="rect">
                <a:avLst/>
              </a:prstGeom>
              <a:effectLst/>
            </p:spPr>
          </p:pic>
          <p:sp>
            <p:nvSpPr>
              <p:cNvPr id="288" name="Film perforation"/>
              <p:cNvSpPr/>
              <p:nvPr/>
            </p:nvSpPr>
            <p:spPr>
              <a:xfrm>
                <a:off x="219456"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9" name="Film perforation"/>
              <p:cNvSpPr/>
              <p:nvPr/>
            </p:nvSpPr>
            <p:spPr>
              <a:xfrm>
                <a:off x="219456"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0" name="Film perforation"/>
              <p:cNvSpPr/>
              <p:nvPr/>
            </p:nvSpPr>
            <p:spPr>
              <a:xfrm>
                <a:off x="324196"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1" name="Film perforation"/>
              <p:cNvSpPr/>
              <p:nvPr/>
            </p:nvSpPr>
            <p:spPr>
              <a:xfrm>
                <a:off x="324196"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2" name="Film perforation"/>
              <p:cNvSpPr/>
              <p:nvPr/>
            </p:nvSpPr>
            <p:spPr>
              <a:xfrm>
                <a:off x="428937"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3" name="Film perforation"/>
              <p:cNvSpPr/>
              <p:nvPr/>
            </p:nvSpPr>
            <p:spPr>
              <a:xfrm>
                <a:off x="428937"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4" name="Film perforation"/>
              <p:cNvSpPr/>
              <p:nvPr/>
            </p:nvSpPr>
            <p:spPr>
              <a:xfrm>
                <a:off x="533677"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Film perforation"/>
              <p:cNvSpPr/>
              <p:nvPr/>
            </p:nvSpPr>
            <p:spPr>
              <a:xfrm>
                <a:off x="533677"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6" name="Film perforation"/>
              <p:cNvSpPr/>
              <p:nvPr/>
            </p:nvSpPr>
            <p:spPr>
              <a:xfrm>
                <a:off x="638417"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7" name="Film perforation"/>
              <p:cNvSpPr/>
              <p:nvPr/>
            </p:nvSpPr>
            <p:spPr>
              <a:xfrm>
                <a:off x="638417"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8" name="Film perforation"/>
              <p:cNvSpPr/>
              <p:nvPr/>
            </p:nvSpPr>
            <p:spPr>
              <a:xfrm>
                <a:off x="743158"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9" name="Film perforation"/>
              <p:cNvSpPr/>
              <p:nvPr/>
            </p:nvSpPr>
            <p:spPr>
              <a:xfrm>
                <a:off x="743158"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0" name="Film perforation"/>
              <p:cNvSpPr/>
              <p:nvPr/>
            </p:nvSpPr>
            <p:spPr>
              <a:xfrm>
                <a:off x="847898"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1" name="Film perforation"/>
              <p:cNvSpPr/>
              <p:nvPr/>
            </p:nvSpPr>
            <p:spPr>
              <a:xfrm>
                <a:off x="847898"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2" name="Film perforation"/>
              <p:cNvSpPr/>
              <p:nvPr/>
            </p:nvSpPr>
            <p:spPr>
              <a:xfrm>
                <a:off x="952639"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3" name="Film perforation"/>
              <p:cNvSpPr/>
              <p:nvPr/>
            </p:nvSpPr>
            <p:spPr>
              <a:xfrm>
                <a:off x="952639"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Film perforation"/>
              <p:cNvSpPr/>
              <p:nvPr/>
            </p:nvSpPr>
            <p:spPr>
              <a:xfrm>
                <a:off x="1057379"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Film perforation"/>
              <p:cNvSpPr/>
              <p:nvPr/>
            </p:nvSpPr>
            <p:spPr>
              <a:xfrm>
                <a:off x="1057379"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Film perforation"/>
              <p:cNvSpPr/>
              <p:nvPr/>
            </p:nvSpPr>
            <p:spPr>
              <a:xfrm>
                <a:off x="1162119"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Film perforation"/>
              <p:cNvSpPr/>
              <p:nvPr/>
            </p:nvSpPr>
            <p:spPr>
              <a:xfrm>
                <a:off x="1162119"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Film perforation"/>
              <p:cNvSpPr/>
              <p:nvPr/>
            </p:nvSpPr>
            <p:spPr>
              <a:xfrm>
                <a:off x="1266860" y="8147304"/>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Film perforation"/>
              <p:cNvSpPr/>
              <p:nvPr/>
            </p:nvSpPr>
            <p:spPr>
              <a:xfrm>
                <a:off x="1266860" y="8915400"/>
                <a:ext cx="77308"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10" name="Group 309"/>
            <p:cNvGrpSpPr/>
            <p:nvPr/>
          </p:nvGrpSpPr>
          <p:grpSpPr>
            <a:xfrm>
              <a:off x="1856232" y="8138160"/>
              <a:ext cx="2368296" cy="941832"/>
              <a:chOff x="1856232" y="8138160"/>
              <a:chExt cx="2368296" cy="941832"/>
            </a:xfrm>
          </p:grpSpPr>
          <p:sp>
            <p:nvSpPr>
              <p:cNvPr id="311" name="Film strip 2 black frame"/>
              <p:cNvSpPr/>
              <p:nvPr/>
            </p:nvSpPr>
            <p:spPr>
              <a:xfrm>
                <a:off x="1856232" y="8138160"/>
                <a:ext cx="2368296" cy="941832"/>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2" name="film-photo-2" descr="film-photo-2.png"/>
              <p:cNvPicPr>
                <a:picLocks noChangeAspect="1"/>
              </p:cNvPicPr>
              <p:nvPr/>
            </p:nvPicPr>
            <p:blipFill>
              <a:blip r:embed="rId6"/>
              <a:stretch>
                <a:fillRect/>
              </a:stretch>
            </p:blipFill>
            <p:spPr>
              <a:xfrm>
                <a:off x="1883664" y="8275320"/>
                <a:ext cx="2313432" cy="667512"/>
              </a:xfrm>
              <a:prstGeom prst="rect">
                <a:avLst/>
              </a:prstGeom>
              <a:effectLst/>
            </p:spPr>
          </p:pic>
          <p:sp>
            <p:nvSpPr>
              <p:cNvPr id="313" name="Film perforation"/>
              <p:cNvSpPr/>
              <p:nvPr/>
            </p:nvSpPr>
            <p:spPr>
              <a:xfrm>
                <a:off x="1883664"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Film perforation"/>
              <p:cNvSpPr/>
              <p:nvPr/>
            </p:nvSpPr>
            <p:spPr>
              <a:xfrm>
                <a:off x="1883664"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Film perforation"/>
              <p:cNvSpPr/>
              <p:nvPr/>
            </p:nvSpPr>
            <p:spPr>
              <a:xfrm>
                <a:off x="1993827"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Film perforation"/>
              <p:cNvSpPr/>
              <p:nvPr/>
            </p:nvSpPr>
            <p:spPr>
              <a:xfrm>
                <a:off x="1993827"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Film perforation"/>
              <p:cNvSpPr/>
              <p:nvPr/>
            </p:nvSpPr>
            <p:spPr>
              <a:xfrm>
                <a:off x="2103991"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Film perforation"/>
              <p:cNvSpPr/>
              <p:nvPr/>
            </p:nvSpPr>
            <p:spPr>
              <a:xfrm>
                <a:off x="2103991"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Film perforation"/>
              <p:cNvSpPr/>
              <p:nvPr/>
            </p:nvSpPr>
            <p:spPr>
              <a:xfrm>
                <a:off x="2214154"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Film perforation"/>
              <p:cNvSpPr/>
              <p:nvPr/>
            </p:nvSpPr>
            <p:spPr>
              <a:xfrm>
                <a:off x="2214154"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Film perforation"/>
              <p:cNvSpPr/>
              <p:nvPr/>
            </p:nvSpPr>
            <p:spPr>
              <a:xfrm>
                <a:off x="2324318"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Film perforation"/>
              <p:cNvSpPr/>
              <p:nvPr/>
            </p:nvSpPr>
            <p:spPr>
              <a:xfrm>
                <a:off x="2324318"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Film perforation"/>
              <p:cNvSpPr/>
              <p:nvPr/>
            </p:nvSpPr>
            <p:spPr>
              <a:xfrm>
                <a:off x="2434481"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Film perforation"/>
              <p:cNvSpPr/>
              <p:nvPr/>
            </p:nvSpPr>
            <p:spPr>
              <a:xfrm>
                <a:off x="2434481"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Film perforation"/>
              <p:cNvSpPr/>
              <p:nvPr/>
            </p:nvSpPr>
            <p:spPr>
              <a:xfrm>
                <a:off x="2544645"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Film perforation"/>
              <p:cNvSpPr/>
              <p:nvPr/>
            </p:nvSpPr>
            <p:spPr>
              <a:xfrm>
                <a:off x="2544645"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Film perforation"/>
              <p:cNvSpPr/>
              <p:nvPr/>
            </p:nvSpPr>
            <p:spPr>
              <a:xfrm>
                <a:off x="2654808"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Film perforation"/>
              <p:cNvSpPr/>
              <p:nvPr/>
            </p:nvSpPr>
            <p:spPr>
              <a:xfrm>
                <a:off x="2654808"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Film perforation"/>
              <p:cNvSpPr/>
              <p:nvPr/>
            </p:nvSpPr>
            <p:spPr>
              <a:xfrm>
                <a:off x="2764971"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Film perforation"/>
              <p:cNvSpPr/>
              <p:nvPr/>
            </p:nvSpPr>
            <p:spPr>
              <a:xfrm>
                <a:off x="2764971"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Film perforation"/>
              <p:cNvSpPr/>
              <p:nvPr/>
            </p:nvSpPr>
            <p:spPr>
              <a:xfrm>
                <a:off x="2875135"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Film perforation"/>
              <p:cNvSpPr/>
              <p:nvPr/>
            </p:nvSpPr>
            <p:spPr>
              <a:xfrm>
                <a:off x="2875135"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Film perforation"/>
              <p:cNvSpPr/>
              <p:nvPr/>
            </p:nvSpPr>
            <p:spPr>
              <a:xfrm>
                <a:off x="2985298"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Film perforation"/>
              <p:cNvSpPr/>
              <p:nvPr/>
            </p:nvSpPr>
            <p:spPr>
              <a:xfrm>
                <a:off x="2985298"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Film perforation"/>
              <p:cNvSpPr/>
              <p:nvPr/>
            </p:nvSpPr>
            <p:spPr>
              <a:xfrm>
                <a:off x="3095462"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Film perforation"/>
              <p:cNvSpPr/>
              <p:nvPr/>
            </p:nvSpPr>
            <p:spPr>
              <a:xfrm>
                <a:off x="3095462"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Film perforation"/>
              <p:cNvSpPr/>
              <p:nvPr/>
            </p:nvSpPr>
            <p:spPr>
              <a:xfrm>
                <a:off x="3205625"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Film perforation"/>
              <p:cNvSpPr/>
              <p:nvPr/>
            </p:nvSpPr>
            <p:spPr>
              <a:xfrm>
                <a:off x="3205625"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9" name="Film perforation"/>
              <p:cNvSpPr/>
              <p:nvPr/>
            </p:nvSpPr>
            <p:spPr>
              <a:xfrm>
                <a:off x="3315789"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0" name="Film perforation"/>
              <p:cNvSpPr/>
              <p:nvPr/>
            </p:nvSpPr>
            <p:spPr>
              <a:xfrm>
                <a:off x="3315789"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1" name="Film perforation"/>
              <p:cNvSpPr/>
              <p:nvPr/>
            </p:nvSpPr>
            <p:spPr>
              <a:xfrm>
                <a:off x="3425952"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Film perforation"/>
              <p:cNvSpPr/>
              <p:nvPr/>
            </p:nvSpPr>
            <p:spPr>
              <a:xfrm>
                <a:off x="3425952"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3" name="Film perforation"/>
              <p:cNvSpPr/>
              <p:nvPr/>
            </p:nvSpPr>
            <p:spPr>
              <a:xfrm>
                <a:off x="3536115"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4" name="Film perforation"/>
              <p:cNvSpPr/>
              <p:nvPr/>
            </p:nvSpPr>
            <p:spPr>
              <a:xfrm>
                <a:off x="3536115"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5" name="Film perforation"/>
              <p:cNvSpPr/>
              <p:nvPr/>
            </p:nvSpPr>
            <p:spPr>
              <a:xfrm>
                <a:off x="3646279"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6" name="Film perforation"/>
              <p:cNvSpPr/>
              <p:nvPr/>
            </p:nvSpPr>
            <p:spPr>
              <a:xfrm>
                <a:off x="3646279"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7" name="Film perforation"/>
              <p:cNvSpPr/>
              <p:nvPr/>
            </p:nvSpPr>
            <p:spPr>
              <a:xfrm>
                <a:off x="3756442"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8" name="Film perforation"/>
              <p:cNvSpPr/>
              <p:nvPr/>
            </p:nvSpPr>
            <p:spPr>
              <a:xfrm>
                <a:off x="3756442"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9" name="Film perforation"/>
              <p:cNvSpPr/>
              <p:nvPr/>
            </p:nvSpPr>
            <p:spPr>
              <a:xfrm>
                <a:off x="3866606"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0" name="Film perforation"/>
              <p:cNvSpPr/>
              <p:nvPr/>
            </p:nvSpPr>
            <p:spPr>
              <a:xfrm>
                <a:off x="3866606"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1" name="Film perforation"/>
              <p:cNvSpPr/>
              <p:nvPr/>
            </p:nvSpPr>
            <p:spPr>
              <a:xfrm>
                <a:off x="3976769"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2" name="Film perforation"/>
              <p:cNvSpPr/>
              <p:nvPr/>
            </p:nvSpPr>
            <p:spPr>
              <a:xfrm>
                <a:off x="3976769"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3" name="Film perforation"/>
              <p:cNvSpPr/>
              <p:nvPr/>
            </p:nvSpPr>
            <p:spPr>
              <a:xfrm>
                <a:off x="4086933" y="817473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4" name="Film perforation"/>
              <p:cNvSpPr/>
              <p:nvPr/>
            </p:nvSpPr>
            <p:spPr>
              <a:xfrm>
                <a:off x="4086933" y="8951976"/>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55" name="Film frame divider"/>
              <p:cNvCxnSpPr/>
              <p:nvPr/>
            </p:nvCxnSpPr>
            <p:spPr>
              <a:xfrm>
                <a:off x="3040380" y="8266176"/>
                <a:ext cx="0" cy="685800"/>
              </a:xfrm>
              <a:prstGeom prst="line">
                <a:avLst/>
              </a:prstGeom>
              <a:ln w="18288">
                <a:solidFill>
                  <a:srgbClr val="000000"/>
                </a:solidFill>
              </a:ln>
              <a:effectLst/>
            </p:spPr>
            <p:style>
              <a:lnRef idx="2">
                <a:schemeClr val="accent1"/>
              </a:lnRef>
              <a:fillRef idx="0">
                <a:schemeClr val="accent1"/>
              </a:fillRef>
              <a:effectRef idx="0">
                <a:schemeClr val="accent1"/>
              </a:effectRef>
              <a:fontRef idx="minor">
                <a:schemeClr val="tx1"/>
              </a:fontRef>
            </p:style>
          </p:cxnSp>
        </p:grpSp>
        <p:grpSp>
          <p:nvGrpSpPr>
            <p:cNvPr id="356" name="Group 355"/>
            <p:cNvGrpSpPr/>
            <p:nvPr/>
          </p:nvGrpSpPr>
          <p:grpSpPr>
            <a:xfrm>
              <a:off x="4681728" y="8147304"/>
              <a:ext cx="2377440" cy="950976"/>
              <a:chOff x="4681728" y="8147304"/>
              <a:chExt cx="2377440" cy="950976"/>
            </a:xfrm>
          </p:grpSpPr>
          <p:sp>
            <p:nvSpPr>
              <p:cNvPr id="357" name="Film strip 3 black frame"/>
              <p:cNvSpPr/>
              <p:nvPr/>
            </p:nvSpPr>
            <p:spPr>
              <a:xfrm>
                <a:off x="4681728" y="8147304"/>
                <a:ext cx="2377440" cy="950976"/>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8" name="film-photo-3" descr="film-photo-3.png"/>
              <p:cNvPicPr>
                <a:picLocks noChangeAspect="1"/>
              </p:cNvPicPr>
              <p:nvPr/>
            </p:nvPicPr>
            <p:blipFill>
              <a:blip r:embed="rId7"/>
              <a:stretch>
                <a:fillRect/>
              </a:stretch>
            </p:blipFill>
            <p:spPr>
              <a:xfrm>
                <a:off x="4709160" y="8284464"/>
                <a:ext cx="2322576" cy="676656"/>
              </a:xfrm>
              <a:prstGeom prst="rect">
                <a:avLst/>
              </a:prstGeom>
              <a:effectLst/>
            </p:spPr>
          </p:pic>
          <p:sp>
            <p:nvSpPr>
              <p:cNvPr id="359" name="Film perforation"/>
              <p:cNvSpPr/>
              <p:nvPr/>
            </p:nvSpPr>
            <p:spPr>
              <a:xfrm>
                <a:off x="4709160"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0" name="Film perforation"/>
              <p:cNvSpPr/>
              <p:nvPr/>
            </p:nvSpPr>
            <p:spPr>
              <a:xfrm>
                <a:off x="4709160"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1" name="Film perforation"/>
              <p:cNvSpPr/>
              <p:nvPr/>
            </p:nvSpPr>
            <p:spPr>
              <a:xfrm>
                <a:off x="4814732"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Film perforation"/>
              <p:cNvSpPr/>
              <p:nvPr/>
            </p:nvSpPr>
            <p:spPr>
              <a:xfrm>
                <a:off x="4814732"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Film perforation"/>
              <p:cNvSpPr/>
              <p:nvPr/>
            </p:nvSpPr>
            <p:spPr>
              <a:xfrm>
                <a:off x="4920303"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Film perforation"/>
              <p:cNvSpPr/>
              <p:nvPr/>
            </p:nvSpPr>
            <p:spPr>
              <a:xfrm>
                <a:off x="4920303"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Film perforation"/>
              <p:cNvSpPr/>
              <p:nvPr/>
            </p:nvSpPr>
            <p:spPr>
              <a:xfrm>
                <a:off x="5025875"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Film perforation"/>
              <p:cNvSpPr/>
              <p:nvPr/>
            </p:nvSpPr>
            <p:spPr>
              <a:xfrm>
                <a:off x="5025875"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Film perforation"/>
              <p:cNvSpPr/>
              <p:nvPr/>
            </p:nvSpPr>
            <p:spPr>
              <a:xfrm>
                <a:off x="5131447"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Film perforation"/>
              <p:cNvSpPr/>
              <p:nvPr/>
            </p:nvSpPr>
            <p:spPr>
              <a:xfrm>
                <a:off x="5131447"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Film perforation"/>
              <p:cNvSpPr/>
              <p:nvPr/>
            </p:nvSpPr>
            <p:spPr>
              <a:xfrm>
                <a:off x="5237018"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Film perforation"/>
              <p:cNvSpPr/>
              <p:nvPr/>
            </p:nvSpPr>
            <p:spPr>
              <a:xfrm>
                <a:off x="5237018"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Film perforation"/>
              <p:cNvSpPr/>
              <p:nvPr/>
            </p:nvSpPr>
            <p:spPr>
              <a:xfrm>
                <a:off x="5342590"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Film perforation"/>
              <p:cNvSpPr/>
              <p:nvPr/>
            </p:nvSpPr>
            <p:spPr>
              <a:xfrm>
                <a:off x="5342590"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Film perforation"/>
              <p:cNvSpPr/>
              <p:nvPr/>
            </p:nvSpPr>
            <p:spPr>
              <a:xfrm>
                <a:off x="5448161"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Film perforation"/>
              <p:cNvSpPr/>
              <p:nvPr/>
            </p:nvSpPr>
            <p:spPr>
              <a:xfrm>
                <a:off x="5448161"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Film perforation"/>
              <p:cNvSpPr/>
              <p:nvPr/>
            </p:nvSpPr>
            <p:spPr>
              <a:xfrm>
                <a:off x="5553733"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Film perforation"/>
              <p:cNvSpPr/>
              <p:nvPr/>
            </p:nvSpPr>
            <p:spPr>
              <a:xfrm>
                <a:off x="5553733"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Film perforation"/>
              <p:cNvSpPr/>
              <p:nvPr/>
            </p:nvSpPr>
            <p:spPr>
              <a:xfrm>
                <a:off x="5659305"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Film perforation"/>
              <p:cNvSpPr/>
              <p:nvPr/>
            </p:nvSpPr>
            <p:spPr>
              <a:xfrm>
                <a:off x="5659305"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Film perforation"/>
              <p:cNvSpPr/>
              <p:nvPr/>
            </p:nvSpPr>
            <p:spPr>
              <a:xfrm>
                <a:off x="5764876"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Film perforation"/>
              <p:cNvSpPr/>
              <p:nvPr/>
            </p:nvSpPr>
            <p:spPr>
              <a:xfrm>
                <a:off x="5764876"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Film perforation"/>
              <p:cNvSpPr/>
              <p:nvPr/>
            </p:nvSpPr>
            <p:spPr>
              <a:xfrm>
                <a:off x="5870448"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Film perforation"/>
              <p:cNvSpPr/>
              <p:nvPr/>
            </p:nvSpPr>
            <p:spPr>
              <a:xfrm>
                <a:off x="5870448"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3" name="Film perforation"/>
              <p:cNvSpPr/>
              <p:nvPr/>
            </p:nvSpPr>
            <p:spPr>
              <a:xfrm>
                <a:off x="5976020"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Film perforation"/>
              <p:cNvSpPr/>
              <p:nvPr/>
            </p:nvSpPr>
            <p:spPr>
              <a:xfrm>
                <a:off x="5976020"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5" name="Film perforation"/>
              <p:cNvSpPr/>
              <p:nvPr/>
            </p:nvSpPr>
            <p:spPr>
              <a:xfrm>
                <a:off x="6081591"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6" name="Film perforation"/>
              <p:cNvSpPr/>
              <p:nvPr/>
            </p:nvSpPr>
            <p:spPr>
              <a:xfrm>
                <a:off x="6081591"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7" name="Film perforation"/>
              <p:cNvSpPr/>
              <p:nvPr/>
            </p:nvSpPr>
            <p:spPr>
              <a:xfrm>
                <a:off x="6187163"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8" name="Film perforation"/>
              <p:cNvSpPr/>
              <p:nvPr/>
            </p:nvSpPr>
            <p:spPr>
              <a:xfrm>
                <a:off x="6187163"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9" name="Film perforation"/>
              <p:cNvSpPr/>
              <p:nvPr/>
            </p:nvSpPr>
            <p:spPr>
              <a:xfrm>
                <a:off x="6292735"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0" name="Film perforation"/>
              <p:cNvSpPr/>
              <p:nvPr/>
            </p:nvSpPr>
            <p:spPr>
              <a:xfrm>
                <a:off x="6292735"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1" name="Film perforation"/>
              <p:cNvSpPr/>
              <p:nvPr/>
            </p:nvSpPr>
            <p:spPr>
              <a:xfrm>
                <a:off x="6398306"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2" name="Film perforation"/>
              <p:cNvSpPr/>
              <p:nvPr/>
            </p:nvSpPr>
            <p:spPr>
              <a:xfrm>
                <a:off x="6398306"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3" name="Film perforation"/>
              <p:cNvSpPr/>
              <p:nvPr/>
            </p:nvSpPr>
            <p:spPr>
              <a:xfrm>
                <a:off x="6503878"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4" name="Film perforation"/>
              <p:cNvSpPr/>
              <p:nvPr/>
            </p:nvSpPr>
            <p:spPr>
              <a:xfrm>
                <a:off x="6503878"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5" name="Film perforation"/>
              <p:cNvSpPr/>
              <p:nvPr/>
            </p:nvSpPr>
            <p:spPr>
              <a:xfrm>
                <a:off x="6609449"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6" name="Film perforation"/>
              <p:cNvSpPr/>
              <p:nvPr/>
            </p:nvSpPr>
            <p:spPr>
              <a:xfrm>
                <a:off x="6609449"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7" name="Film perforation"/>
              <p:cNvSpPr/>
              <p:nvPr/>
            </p:nvSpPr>
            <p:spPr>
              <a:xfrm>
                <a:off x="6715021"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Film perforation"/>
              <p:cNvSpPr/>
              <p:nvPr/>
            </p:nvSpPr>
            <p:spPr>
              <a:xfrm>
                <a:off x="6715021"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Film perforation"/>
              <p:cNvSpPr/>
              <p:nvPr/>
            </p:nvSpPr>
            <p:spPr>
              <a:xfrm>
                <a:off x="6820593"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0" name="Film perforation"/>
              <p:cNvSpPr/>
              <p:nvPr/>
            </p:nvSpPr>
            <p:spPr>
              <a:xfrm>
                <a:off x="6820593"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1" name="Film perforation"/>
              <p:cNvSpPr/>
              <p:nvPr/>
            </p:nvSpPr>
            <p:spPr>
              <a:xfrm>
                <a:off x="6926164" y="8183880"/>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2" name="Film perforation"/>
              <p:cNvSpPr/>
              <p:nvPr/>
            </p:nvSpPr>
            <p:spPr>
              <a:xfrm>
                <a:off x="6926164" y="8970264"/>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03" name="Film frame divider"/>
              <p:cNvCxnSpPr/>
              <p:nvPr/>
            </p:nvCxnSpPr>
            <p:spPr>
              <a:xfrm>
                <a:off x="5870448" y="8275320"/>
                <a:ext cx="0" cy="694944"/>
              </a:xfrm>
              <a:prstGeom prst="line">
                <a:avLst/>
              </a:prstGeom>
              <a:ln w="18288">
                <a:solidFill>
                  <a:srgbClr val="000000"/>
                </a:solidFill>
              </a:ln>
              <a:effectLst/>
            </p:spPr>
            <p:style>
              <a:lnRef idx="2">
                <a:schemeClr val="accent1"/>
              </a:lnRef>
              <a:fillRef idx="0">
                <a:schemeClr val="accent1"/>
              </a:fillRef>
              <a:effectRef idx="0">
                <a:schemeClr val="accent1"/>
              </a:effectRef>
              <a:fontRef idx="minor">
                <a:schemeClr val="tx1"/>
              </a:fontRef>
            </p:style>
          </p:cxnSp>
        </p:grpSp>
        <p:grpSp>
          <p:nvGrpSpPr>
            <p:cNvPr id="404" name="Group 403"/>
            <p:cNvGrpSpPr/>
            <p:nvPr/>
          </p:nvGrpSpPr>
          <p:grpSpPr>
            <a:xfrm>
              <a:off x="7443216" y="8147304"/>
              <a:ext cx="2368296" cy="950976"/>
              <a:chOff x="7443216" y="8147304"/>
              <a:chExt cx="2368296" cy="950976"/>
            </a:xfrm>
          </p:grpSpPr>
          <p:sp>
            <p:nvSpPr>
              <p:cNvPr id="405" name="Film strip 4 black frame"/>
              <p:cNvSpPr/>
              <p:nvPr/>
            </p:nvSpPr>
            <p:spPr>
              <a:xfrm>
                <a:off x="7443216" y="8147304"/>
                <a:ext cx="2368296" cy="950976"/>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06" name="film-photo-4" descr="film-photo-4.png"/>
              <p:cNvPicPr>
                <a:picLocks noChangeAspect="1"/>
              </p:cNvPicPr>
              <p:nvPr/>
            </p:nvPicPr>
            <p:blipFill>
              <a:blip r:embed="rId8"/>
              <a:stretch>
                <a:fillRect/>
              </a:stretch>
            </p:blipFill>
            <p:spPr>
              <a:xfrm>
                <a:off x="7470648" y="8284464"/>
                <a:ext cx="2313432" cy="676656"/>
              </a:xfrm>
              <a:prstGeom prst="rect">
                <a:avLst/>
              </a:prstGeom>
              <a:effectLst/>
            </p:spPr>
          </p:pic>
          <p:sp>
            <p:nvSpPr>
              <p:cNvPr id="407" name="Film perforation"/>
              <p:cNvSpPr/>
              <p:nvPr/>
            </p:nvSpPr>
            <p:spPr>
              <a:xfrm>
                <a:off x="7470648"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8" name="Film perforation"/>
              <p:cNvSpPr/>
              <p:nvPr/>
            </p:nvSpPr>
            <p:spPr>
              <a:xfrm>
                <a:off x="7470648"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9" name="Film perforation"/>
              <p:cNvSpPr/>
              <p:nvPr/>
            </p:nvSpPr>
            <p:spPr>
              <a:xfrm>
                <a:off x="7580811"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0" name="Film perforation"/>
              <p:cNvSpPr/>
              <p:nvPr/>
            </p:nvSpPr>
            <p:spPr>
              <a:xfrm>
                <a:off x="7580811"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1" name="Film perforation"/>
              <p:cNvSpPr/>
              <p:nvPr/>
            </p:nvSpPr>
            <p:spPr>
              <a:xfrm>
                <a:off x="7690975"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2" name="Film perforation"/>
              <p:cNvSpPr/>
              <p:nvPr/>
            </p:nvSpPr>
            <p:spPr>
              <a:xfrm>
                <a:off x="7690975"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3" name="Film perforation"/>
              <p:cNvSpPr/>
              <p:nvPr/>
            </p:nvSpPr>
            <p:spPr>
              <a:xfrm>
                <a:off x="7801138"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4" name="Film perforation"/>
              <p:cNvSpPr/>
              <p:nvPr/>
            </p:nvSpPr>
            <p:spPr>
              <a:xfrm>
                <a:off x="7801138"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5" name="Film perforation"/>
              <p:cNvSpPr/>
              <p:nvPr/>
            </p:nvSpPr>
            <p:spPr>
              <a:xfrm>
                <a:off x="7911302"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6" name="Film perforation"/>
              <p:cNvSpPr/>
              <p:nvPr/>
            </p:nvSpPr>
            <p:spPr>
              <a:xfrm>
                <a:off x="7911302"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7" name="Film perforation"/>
              <p:cNvSpPr/>
              <p:nvPr/>
            </p:nvSpPr>
            <p:spPr>
              <a:xfrm>
                <a:off x="8021465"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8" name="Film perforation"/>
              <p:cNvSpPr/>
              <p:nvPr/>
            </p:nvSpPr>
            <p:spPr>
              <a:xfrm>
                <a:off x="8021465"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9" name="Film perforation"/>
              <p:cNvSpPr/>
              <p:nvPr/>
            </p:nvSpPr>
            <p:spPr>
              <a:xfrm>
                <a:off x="8131629"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0" name="Film perforation"/>
              <p:cNvSpPr/>
              <p:nvPr/>
            </p:nvSpPr>
            <p:spPr>
              <a:xfrm>
                <a:off x="8131629"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1" name="Film perforation"/>
              <p:cNvSpPr/>
              <p:nvPr/>
            </p:nvSpPr>
            <p:spPr>
              <a:xfrm>
                <a:off x="8241792"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2" name="Film perforation"/>
              <p:cNvSpPr/>
              <p:nvPr/>
            </p:nvSpPr>
            <p:spPr>
              <a:xfrm>
                <a:off x="8241792"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3" name="Film perforation"/>
              <p:cNvSpPr/>
              <p:nvPr/>
            </p:nvSpPr>
            <p:spPr>
              <a:xfrm>
                <a:off x="8351955"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4" name="Film perforation"/>
              <p:cNvSpPr/>
              <p:nvPr/>
            </p:nvSpPr>
            <p:spPr>
              <a:xfrm>
                <a:off x="8351955"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5" name="Film perforation"/>
              <p:cNvSpPr/>
              <p:nvPr/>
            </p:nvSpPr>
            <p:spPr>
              <a:xfrm>
                <a:off x="8462119"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6" name="Film perforation"/>
              <p:cNvSpPr/>
              <p:nvPr/>
            </p:nvSpPr>
            <p:spPr>
              <a:xfrm>
                <a:off x="8462119"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7" name="Film perforation"/>
              <p:cNvSpPr/>
              <p:nvPr/>
            </p:nvSpPr>
            <p:spPr>
              <a:xfrm>
                <a:off x="8572282"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8" name="Film perforation"/>
              <p:cNvSpPr/>
              <p:nvPr/>
            </p:nvSpPr>
            <p:spPr>
              <a:xfrm>
                <a:off x="8572282"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9" name="Film perforation"/>
              <p:cNvSpPr/>
              <p:nvPr/>
            </p:nvSpPr>
            <p:spPr>
              <a:xfrm>
                <a:off x="8682446"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0" name="Film perforation"/>
              <p:cNvSpPr/>
              <p:nvPr/>
            </p:nvSpPr>
            <p:spPr>
              <a:xfrm>
                <a:off x="8682446"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1" name="Film perforation"/>
              <p:cNvSpPr/>
              <p:nvPr/>
            </p:nvSpPr>
            <p:spPr>
              <a:xfrm>
                <a:off x="8792609"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2" name="Film perforation"/>
              <p:cNvSpPr/>
              <p:nvPr/>
            </p:nvSpPr>
            <p:spPr>
              <a:xfrm>
                <a:off x="8792609"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3" name="Film perforation"/>
              <p:cNvSpPr/>
              <p:nvPr/>
            </p:nvSpPr>
            <p:spPr>
              <a:xfrm>
                <a:off x="8902773"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4" name="Film perforation"/>
              <p:cNvSpPr/>
              <p:nvPr/>
            </p:nvSpPr>
            <p:spPr>
              <a:xfrm>
                <a:off x="8902773"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5" name="Film perforation"/>
              <p:cNvSpPr/>
              <p:nvPr/>
            </p:nvSpPr>
            <p:spPr>
              <a:xfrm>
                <a:off x="9012936"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6" name="Film perforation"/>
              <p:cNvSpPr/>
              <p:nvPr/>
            </p:nvSpPr>
            <p:spPr>
              <a:xfrm>
                <a:off x="9012936"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7" name="Film perforation"/>
              <p:cNvSpPr/>
              <p:nvPr/>
            </p:nvSpPr>
            <p:spPr>
              <a:xfrm>
                <a:off x="9123099"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8" name="Film perforation"/>
              <p:cNvSpPr/>
              <p:nvPr/>
            </p:nvSpPr>
            <p:spPr>
              <a:xfrm>
                <a:off x="9123099"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9" name="Film perforation"/>
              <p:cNvSpPr/>
              <p:nvPr/>
            </p:nvSpPr>
            <p:spPr>
              <a:xfrm>
                <a:off x="9233263"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0" name="Film perforation"/>
              <p:cNvSpPr/>
              <p:nvPr/>
            </p:nvSpPr>
            <p:spPr>
              <a:xfrm>
                <a:off x="9233263"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1" name="Film perforation"/>
              <p:cNvSpPr/>
              <p:nvPr/>
            </p:nvSpPr>
            <p:spPr>
              <a:xfrm>
                <a:off x="9343426"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2" name="Film perforation"/>
              <p:cNvSpPr/>
              <p:nvPr/>
            </p:nvSpPr>
            <p:spPr>
              <a:xfrm>
                <a:off x="9343426"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3" name="Film perforation"/>
              <p:cNvSpPr/>
              <p:nvPr/>
            </p:nvSpPr>
            <p:spPr>
              <a:xfrm>
                <a:off x="9453590"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4" name="Film perforation"/>
              <p:cNvSpPr/>
              <p:nvPr/>
            </p:nvSpPr>
            <p:spPr>
              <a:xfrm>
                <a:off x="9453590"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5" name="Film perforation"/>
              <p:cNvSpPr/>
              <p:nvPr/>
            </p:nvSpPr>
            <p:spPr>
              <a:xfrm>
                <a:off x="9563753"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6" name="Film perforation"/>
              <p:cNvSpPr/>
              <p:nvPr/>
            </p:nvSpPr>
            <p:spPr>
              <a:xfrm>
                <a:off x="9563753"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7" name="Film perforation"/>
              <p:cNvSpPr/>
              <p:nvPr/>
            </p:nvSpPr>
            <p:spPr>
              <a:xfrm>
                <a:off x="9673917" y="8183880"/>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8" name="Film perforation"/>
              <p:cNvSpPr/>
              <p:nvPr/>
            </p:nvSpPr>
            <p:spPr>
              <a:xfrm>
                <a:off x="9673917" y="8970264"/>
                <a:ext cx="82731"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49" name="Film frame divider"/>
              <p:cNvCxnSpPr/>
              <p:nvPr/>
            </p:nvCxnSpPr>
            <p:spPr>
              <a:xfrm>
                <a:off x="8627364" y="8275320"/>
                <a:ext cx="0" cy="694944"/>
              </a:xfrm>
              <a:prstGeom prst="line">
                <a:avLst/>
              </a:prstGeom>
              <a:ln w="18288">
                <a:solidFill>
                  <a:srgbClr val="000000"/>
                </a:solidFill>
              </a:ln>
              <a:effectLst/>
            </p:spPr>
            <p:style>
              <a:lnRef idx="2">
                <a:schemeClr val="accent1"/>
              </a:lnRef>
              <a:fillRef idx="0">
                <a:schemeClr val="accent1"/>
              </a:fillRef>
              <a:effectRef idx="0">
                <a:schemeClr val="accent1"/>
              </a:effectRef>
              <a:fontRef idx="minor">
                <a:schemeClr val="tx1"/>
              </a:fontRef>
            </p:style>
          </p:cxnSp>
        </p:grpSp>
        <p:grpSp>
          <p:nvGrpSpPr>
            <p:cNvPr id="450" name="Group 449"/>
            <p:cNvGrpSpPr/>
            <p:nvPr/>
          </p:nvGrpSpPr>
          <p:grpSpPr>
            <a:xfrm>
              <a:off x="10314432" y="8138160"/>
              <a:ext cx="2377440" cy="941832"/>
              <a:chOff x="10314432" y="8138160"/>
              <a:chExt cx="2377440" cy="941832"/>
            </a:xfrm>
          </p:grpSpPr>
          <p:sp>
            <p:nvSpPr>
              <p:cNvPr id="451" name="Film strip 5 black frame"/>
              <p:cNvSpPr/>
              <p:nvPr/>
            </p:nvSpPr>
            <p:spPr>
              <a:xfrm>
                <a:off x="10314432" y="8138160"/>
                <a:ext cx="2377440" cy="941832"/>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52" name="film-photo-5" descr="film-photo-5.png"/>
              <p:cNvPicPr>
                <a:picLocks noChangeAspect="1"/>
              </p:cNvPicPr>
              <p:nvPr/>
            </p:nvPicPr>
            <p:blipFill>
              <a:blip r:embed="rId9"/>
              <a:stretch>
                <a:fillRect/>
              </a:stretch>
            </p:blipFill>
            <p:spPr>
              <a:xfrm>
                <a:off x="10341864" y="8275320"/>
                <a:ext cx="2322576" cy="667512"/>
              </a:xfrm>
              <a:prstGeom prst="rect">
                <a:avLst/>
              </a:prstGeom>
              <a:effectLst/>
            </p:spPr>
          </p:pic>
          <p:sp>
            <p:nvSpPr>
              <p:cNvPr id="453" name="Film perforation"/>
              <p:cNvSpPr/>
              <p:nvPr/>
            </p:nvSpPr>
            <p:spPr>
              <a:xfrm>
                <a:off x="10341864"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Film perforation"/>
              <p:cNvSpPr/>
              <p:nvPr/>
            </p:nvSpPr>
            <p:spPr>
              <a:xfrm>
                <a:off x="10341864"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Film perforation"/>
              <p:cNvSpPr/>
              <p:nvPr/>
            </p:nvSpPr>
            <p:spPr>
              <a:xfrm>
                <a:off x="10447436"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Film perforation"/>
              <p:cNvSpPr/>
              <p:nvPr/>
            </p:nvSpPr>
            <p:spPr>
              <a:xfrm>
                <a:off x="10447436"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Film perforation"/>
              <p:cNvSpPr/>
              <p:nvPr/>
            </p:nvSpPr>
            <p:spPr>
              <a:xfrm>
                <a:off x="10553007"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Film perforation"/>
              <p:cNvSpPr/>
              <p:nvPr/>
            </p:nvSpPr>
            <p:spPr>
              <a:xfrm>
                <a:off x="10553007"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Film perforation"/>
              <p:cNvSpPr/>
              <p:nvPr/>
            </p:nvSpPr>
            <p:spPr>
              <a:xfrm>
                <a:off x="10658579"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Film perforation"/>
              <p:cNvSpPr/>
              <p:nvPr/>
            </p:nvSpPr>
            <p:spPr>
              <a:xfrm>
                <a:off x="10658579"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Film perforation"/>
              <p:cNvSpPr/>
              <p:nvPr/>
            </p:nvSpPr>
            <p:spPr>
              <a:xfrm>
                <a:off x="10764151"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Film perforation"/>
              <p:cNvSpPr/>
              <p:nvPr/>
            </p:nvSpPr>
            <p:spPr>
              <a:xfrm>
                <a:off x="10764151"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Film perforation"/>
              <p:cNvSpPr/>
              <p:nvPr/>
            </p:nvSpPr>
            <p:spPr>
              <a:xfrm>
                <a:off x="10869722"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Film perforation"/>
              <p:cNvSpPr/>
              <p:nvPr/>
            </p:nvSpPr>
            <p:spPr>
              <a:xfrm>
                <a:off x="10869722"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Film perforation"/>
              <p:cNvSpPr/>
              <p:nvPr/>
            </p:nvSpPr>
            <p:spPr>
              <a:xfrm>
                <a:off x="10975294"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Film perforation"/>
              <p:cNvSpPr/>
              <p:nvPr/>
            </p:nvSpPr>
            <p:spPr>
              <a:xfrm>
                <a:off x="10975294"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Film perforation"/>
              <p:cNvSpPr/>
              <p:nvPr/>
            </p:nvSpPr>
            <p:spPr>
              <a:xfrm>
                <a:off x="11080865"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Film perforation"/>
              <p:cNvSpPr/>
              <p:nvPr/>
            </p:nvSpPr>
            <p:spPr>
              <a:xfrm>
                <a:off x="11080865"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Film perforation"/>
              <p:cNvSpPr/>
              <p:nvPr/>
            </p:nvSpPr>
            <p:spPr>
              <a:xfrm>
                <a:off x="11186437"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0" name="Film perforation"/>
              <p:cNvSpPr/>
              <p:nvPr/>
            </p:nvSpPr>
            <p:spPr>
              <a:xfrm>
                <a:off x="11186437"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1" name="Film perforation"/>
              <p:cNvSpPr/>
              <p:nvPr/>
            </p:nvSpPr>
            <p:spPr>
              <a:xfrm>
                <a:off x="11292009"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2" name="Film perforation"/>
              <p:cNvSpPr/>
              <p:nvPr/>
            </p:nvSpPr>
            <p:spPr>
              <a:xfrm>
                <a:off x="11292009"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3" name="Film perforation"/>
              <p:cNvSpPr/>
              <p:nvPr/>
            </p:nvSpPr>
            <p:spPr>
              <a:xfrm>
                <a:off x="11397580"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4" name="Film perforation"/>
              <p:cNvSpPr/>
              <p:nvPr/>
            </p:nvSpPr>
            <p:spPr>
              <a:xfrm>
                <a:off x="11397580"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5" name="Film perforation"/>
              <p:cNvSpPr/>
              <p:nvPr/>
            </p:nvSpPr>
            <p:spPr>
              <a:xfrm>
                <a:off x="11503152"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6" name="Film perforation"/>
              <p:cNvSpPr/>
              <p:nvPr/>
            </p:nvSpPr>
            <p:spPr>
              <a:xfrm>
                <a:off x="11503152"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7" name="Film perforation"/>
              <p:cNvSpPr/>
              <p:nvPr/>
            </p:nvSpPr>
            <p:spPr>
              <a:xfrm>
                <a:off x="11608724"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8" name="Film perforation"/>
              <p:cNvSpPr/>
              <p:nvPr/>
            </p:nvSpPr>
            <p:spPr>
              <a:xfrm>
                <a:off x="11608724"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9" name="Film perforation"/>
              <p:cNvSpPr/>
              <p:nvPr/>
            </p:nvSpPr>
            <p:spPr>
              <a:xfrm>
                <a:off x="11714295"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0" name="Film perforation"/>
              <p:cNvSpPr/>
              <p:nvPr/>
            </p:nvSpPr>
            <p:spPr>
              <a:xfrm>
                <a:off x="11714295"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1" name="Film perforation"/>
              <p:cNvSpPr/>
              <p:nvPr/>
            </p:nvSpPr>
            <p:spPr>
              <a:xfrm>
                <a:off x="11819867"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2" name="Film perforation"/>
              <p:cNvSpPr/>
              <p:nvPr/>
            </p:nvSpPr>
            <p:spPr>
              <a:xfrm>
                <a:off x="11819867"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3" name="Film perforation"/>
              <p:cNvSpPr/>
              <p:nvPr/>
            </p:nvSpPr>
            <p:spPr>
              <a:xfrm>
                <a:off x="11925439"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4" name="Film perforation"/>
              <p:cNvSpPr/>
              <p:nvPr/>
            </p:nvSpPr>
            <p:spPr>
              <a:xfrm>
                <a:off x="11925439"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5" name="Film perforation"/>
              <p:cNvSpPr/>
              <p:nvPr/>
            </p:nvSpPr>
            <p:spPr>
              <a:xfrm>
                <a:off x="12031010"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6" name="Film perforation"/>
              <p:cNvSpPr/>
              <p:nvPr/>
            </p:nvSpPr>
            <p:spPr>
              <a:xfrm>
                <a:off x="12031010"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7" name="Film perforation"/>
              <p:cNvSpPr/>
              <p:nvPr/>
            </p:nvSpPr>
            <p:spPr>
              <a:xfrm>
                <a:off x="12136582"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8" name="Film perforation"/>
              <p:cNvSpPr/>
              <p:nvPr/>
            </p:nvSpPr>
            <p:spPr>
              <a:xfrm>
                <a:off x="12136582"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9" name="Film perforation"/>
              <p:cNvSpPr/>
              <p:nvPr/>
            </p:nvSpPr>
            <p:spPr>
              <a:xfrm>
                <a:off x="12242153"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0" name="Film perforation"/>
              <p:cNvSpPr/>
              <p:nvPr/>
            </p:nvSpPr>
            <p:spPr>
              <a:xfrm>
                <a:off x="12242153"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1" name="Film perforation"/>
              <p:cNvSpPr/>
              <p:nvPr/>
            </p:nvSpPr>
            <p:spPr>
              <a:xfrm>
                <a:off x="12347725"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2" name="Film perforation"/>
              <p:cNvSpPr/>
              <p:nvPr/>
            </p:nvSpPr>
            <p:spPr>
              <a:xfrm>
                <a:off x="12347725"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3" name="Film perforation"/>
              <p:cNvSpPr/>
              <p:nvPr/>
            </p:nvSpPr>
            <p:spPr>
              <a:xfrm>
                <a:off x="12453297"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4" name="Film perforation"/>
              <p:cNvSpPr/>
              <p:nvPr/>
            </p:nvSpPr>
            <p:spPr>
              <a:xfrm>
                <a:off x="12453297"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5" name="Film perforation"/>
              <p:cNvSpPr/>
              <p:nvPr/>
            </p:nvSpPr>
            <p:spPr>
              <a:xfrm>
                <a:off x="12558868" y="817473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6" name="Film perforation"/>
              <p:cNvSpPr/>
              <p:nvPr/>
            </p:nvSpPr>
            <p:spPr>
              <a:xfrm>
                <a:off x="12558868" y="8951976"/>
                <a:ext cx="78140" cy="914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7" name="Film frame divider"/>
              <p:cNvCxnSpPr/>
              <p:nvPr/>
            </p:nvCxnSpPr>
            <p:spPr>
              <a:xfrm>
                <a:off x="11503152" y="8266176"/>
                <a:ext cx="0" cy="685800"/>
              </a:xfrm>
              <a:prstGeom prst="line">
                <a:avLst/>
              </a:prstGeom>
              <a:ln w="18288">
                <a:solidFill>
                  <a:srgbClr val="000000"/>
                </a:solidFill>
              </a:ln>
              <a:effectLst/>
            </p:spPr>
            <p:style>
              <a:lnRef idx="2">
                <a:schemeClr val="accent1"/>
              </a:lnRef>
              <a:fillRef idx="0">
                <a:schemeClr val="accent1"/>
              </a:fillRef>
              <a:effectRef idx="0">
                <a:schemeClr val="accent1"/>
              </a:effectRef>
              <a:fontRef idx="minor">
                <a:schemeClr val="tx1"/>
              </a:fontRef>
            </p:style>
          </p:cxnSp>
        </p:grpSp>
        <p:sp>
          <p:nvSpPr>
            <p:cNvPr id="498" name="…"/>
            <p:cNvSpPr txBox="1"/>
            <p:nvPr/>
          </p:nvSpPr>
          <p:spPr>
            <a:xfrm>
              <a:off x="1548765" y="8467344"/>
              <a:ext cx="338328" cy="357988"/>
            </a:xfrm>
            <a:prstGeom prst="rect">
              <a:avLst/>
            </a:prstGeom>
            <a:noFill/>
            <a:effectLst/>
          </p:spPr>
          <p:txBody>
            <a:bodyPr wrap="none" lIns="0" rIns="0" tIns="0" bIns="0" anchor="t">
              <a:spAutoFit/>
            </a:bodyPr>
            <a:lstStyle/>
            <a:p>
              <a:pPr algn="l">
                <a:spcBef>
                  <a:spcPts val="0"/>
                </a:spcBef>
                <a:spcAft>
                  <a:spcPts val="0"/>
                </a:spcAft>
                <a:lnSpc>
                  <a:spcPct val="100000"/>
                </a:lnSpc>
              </a:pPr>
              <a:r>
                <a:rPr sz="2088" b="0" i="0">
                  <a:solidFill>
                    <a:srgbClr val="000000"/>
                  </a:solidFill>
                  <a:latin typeface="URW Gothic"/>
                </a:rPr>
                <a:t>…</a:t>
              </a:r>
            </a:p>
          </p:txBody>
        </p:sp>
        <p:sp>
          <p:nvSpPr>
            <p:cNvPr id="499" name="…"/>
            <p:cNvSpPr txBox="1"/>
            <p:nvPr/>
          </p:nvSpPr>
          <p:spPr>
            <a:xfrm>
              <a:off x="4401693" y="8467344"/>
              <a:ext cx="338328" cy="357988"/>
            </a:xfrm>
            <a:prstGeom prst="rect">
              <a:avLst/>
            </a:prstGeom>
            <a:noFill/>
            <a:effectLst/>
          </p:spPr>
          <p:txBody>
            <a:bodyPr wrap="none" lIns="0" rIns="0" tIns="0" bIns="0" anchor="t">
              <a:spAutoFit/>
            </a:bodyPr>
            <a:lstStyle/>
            <a:p>
              <a:pPr algn="l">
                <a:spcBef>
                  <a:spcPts val="0"/>
                </a:spcBef>
                <a:spcAft>
                  <a:spcPts val="0"/>
                </a:spcAft>
                <a:lnSpc>
                  <a:spcPct val="100000"/>
                </a:lnSpc>
              </a:pPr>
              <a:r>
                <a:rPr sz="2088" b="0" i="0">
                  <a:solidFill>
                    <a:srgbClr val="000000"/>
                  </a:solidFill>
                  <a:latin typeface="URW Gothic"/>
                </a:rPr>
                <a:t>…</a:t>
              </a:r>
            </a:p>
          </p:txBody>
        </p:sp>
        <p:sp>
          <p:nvSpPr>
            <p:cNvPr id="500" name="…"/>
            <p:cNvSpPr txBox="1"/>
            <p:nvPr/>
          </p:nvSpPr>
          <p:spPr>
            <a:xfrm>
              <a:off x="7172325" y="8467344"/>
              <a:ext cx="338328" cy="357988"/>
            </a:xfrm>
            <a:prstGeom prst="rect">
              <a:avLst/>
            </a:prstGeom>
            <a:noFill/>
            <a:effectLst/>
          </p:spPr>
          <p:txBody>
            <a:bodyPr wrap="none" lIns="0" rIns="0" tIns="0" bIns="0" anchor="t">
              <a:spAutoFit/>
            </a:bodyPr>
            <a:lstStyle/>
            <a:p>
              <a:pPr algn="l">
                <a:spcBef>
                  <a:spcPts val="0"/>
                </a:spcBef>
                <a:spcAft>
                  <a:spcPts val="0"/>
                </a:spcAft>
                <a:lnSpc>
                  <a:spcPct val="100000"/>
                </a:lnSpc>
              </a:pPr>
              <a:r>
                <a:rPr sz="2088" b="0" i="0">
                  <a:solidFill>
                    <a:srgbClr val="000000"/>
                  </a:solidFill>
                  <a:latin typeface="URW Gothic"/>
                </a:rPr>
                <a:t>…</a:t>
              </a:r>
            </a:p>
          </p:txBody>
        </p:sp>
        <p:sp>
          <p:nvSpPr>
            <p:cNvPr id="501" name="…"/>
            <p:cNvSpPr txBox="1"/>
            <p:nvPr/>
          </p:nvSpPr>
          <p:spPr>
            <a:xfrm>
              <a:off x="9906381" y="8467344"/>
              <a:ext cx="338328" cy="357988"/>
            </a:xfrm>
            <a:prstGeom prst="rect">
              <a:avLst/>
            </a:prstGeom>
            <a:noFill/>
            <a:effectLst/>
          </p:spPr>
          <p:txBody>
            <a:bodyPr wrap="none" lIns="0" rIns="0" tIns="0" bIns="0" anchor="t">
              <a:spAutoFit/>
            </a:bodyPr>
            <a:lstStyle/>
            <a:p>
              <a:pPr algn="l">
                <a:spcBef>
                  <a:spcPts val="0"/>
                </a:spcBef>
                <a:spcAft>
                  <a:spcPts val="0"/>
                </a:spcAft>
                <a:lnSpc>
                  <a:spcPct val="100000"/>
                </a:lnSpc>
              </a:pPr>
              <a:r>
                <a:rPr sz="2088" b="0" i="0">
                  <a:solidFill>
                    <a:srgbClr val="000000"/>
                  </a:solidFill>
                  <a:latin typeface="URW Gothic"/>
                </a:rPr>
                <a:t>…</a:t>
              </a:r>
            </a:p>
          </p:txBody>
        </p:sp>
        <p:cxnSp>
          <p:nvCxnSpPr>
            <p:cNvPr id="502" name="Video timeline axis"/>
            <p:cNvCxnSpPr/>
            <p:nvPr/>
          </p:nvCxnSpPr>
          <p:spPr>
            <a:xfrm>
              <a:off x="91440" y="9244584"/>
              <a:ext cx="12609576" cy="0"/>
            </a:xfrm>
            <a:prstGeom prst="line">
              <a:avLst/>
            </a:prstGeom>
            <a:ln w="36576">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503" name="Timestamp dot"/>
            <p:cNvSpPr/>
            <p:nvPr/>
          </p:nvSpPr>
          <p:spPr>
            <a:xfrm>
              <a:off x="27432" y="9171432"/>
              <a:ext cx="146304" cy="146304"/>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4" name="Timestamp dot"/>
            <p:cNvSpPr/>
            <p:nvPr/>
          </p:nvSpPr>
          <p:spPr>
            <a:xfrm>
              <a:off x="1316736" y="9171432"/>
              <a:ext cx="146304" cy="146304"/>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5" name="Timestamp dot"/>
            <p:cNvSpPr/>
            <p:nvPr/>
          </p:nvSpPr>
          <p:spPr>
            <a:xfrm>
              <a:off x="1691640" y="9171432"/>
              <a:ext cx="146304" cy="146304"/>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6" name="Timestamp dot"/>
            <p:cNvSpPr/>
            <p:nvPr/>
          </p:nvSpPr>
          <p:spPr>
            <a:xfrm>
              <a:off x="4169664" y="9171432"/>
              <a:ext cx="146304" cy="146304"/>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7" name="Timestamp dot"/>
            <p:cNvSpPr/>
            <p:nvPr/>
          </p:nvSpPr>
          <p:spPr>
            <a:xfrm>
              <a:off x="4581144" y="9171432"/>
              <a:ext cx="146304" cy="146304"/>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8" name="Timestamp dot"/>
            <p:cNvSpPr/>
            <p:nvPr/>
          </p:nvSpPr>
          <p:spPr>
            <a:xfrm>
              <a:off x="6976872" y="9171432"/>
              <a:ext cx="146304" cy="146304"/>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9" name="Timestamp dot"/>
            <p:cNvSpPr/>
            <p:nvPr/>
          </p:nvSpPr>
          <p:spPr>
            <a:xfrm>
              <a:off x="7370064" y="9171432"/>
              <a:ext cx="146304" cy="146304"/>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0" name="Timestamp dot"/>
            <p:cNvSpPr/>
            <p:nvPr/>
          </p:nvSpPr>
          <p:spPr>
            <a:xfrm>
              <a:off x="9756648" y="9171432"/>
              <a:ext cx="146304" cy="146304"/>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1" name="Timestamp dot"/>
            <p:cNvSpPr/>
            <p:nvPr/>
          </p:nvSpPr>
          <p:spPr>
            <a:xfrm>
              <a:off x="10222992" y="9171432"/>
              <a:ext cx="146304" cy="146304"/>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2" name="Timestamp dot"/>
            <p:cNvSpPr/>
            <p:nvPr/>
          </p:nvSpPr>
          <p:spPr>
            <a:xfrm>
              <a:off x="12627864" y="9171432"/>
              <a:ext cx="146304" cy="146304"/>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3" name="Timestamp boundary"/>
            <p:cNvSpPr/>
            <p:nvPr/>
          </p:nvSpPr>
          <p:spPr>
            <a:xfrm>
              <a:off x="36576" y="9413748"/>
              <a:ext cx="12847320" cy="283464"/>
            </a:xfrm>
            <a:prstGeom prst="rect">
              <a:avLst/>
            </a:prstGeom>
            <a:noFill/>
            <a:ln w="23774">
              <a:solidFill>
                <a:srgbClr val="E4BB7F"/>
              </a:solidFill>
              <a:custDash>
                <a:ds d="923077" sp="346154"/>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4" name="0s"/>
            <p:cNvSpPr txBox="1"/>
            <p:nvPr/>
          </p:nvSpPr>
          <p:spPr>
            <a:xfrm>
              <a:off x="27432" y="9427464"/>
              <a:ext cx="279878"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0s</a:t>
              </a:r>
            </a:p>
          </p:txBody>
        </p:sp>
        <p:sp>
          <p:nvSpPr>
            <p:cNvPr id="515" name="6s"/>
            <p:cNvSpPr txBox="1"/>
            <p:nvPr/>
          </p:nvSpPr>
          <p:spPr>
            <a:xfrm>
              <a:off x="1316736" y="9427464"/>
              <a:ext cx="279878"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6s</a:t>
              </a:r>
            </a:p>
          </p:txBody>
        </p:sp>
        <p:sp>
          <p:nvSpPr>
            <p:cNvPr id="516" name="50s"/>
            <p:cNvSpPr txBox="1"/>
            <p:nvPr/>
          </p:nvSpPr>
          <p:spPr>
            <a:xfrm>
              <a:off x="1901952" y="9427464"/>
              <a:ext cx="401450"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50s</a:t>
              </a:r>
            </a:p>
          </p:txBody>
        </p:sp>
        <p:sp>
          <p:nvSpPr>
            <p:cNvPr id="517" name="60s"/>
            <p:cNvSpPr txBox="1"/>
            <p:nvPr/>
          </p:nvSpPr>
          <p:spPr>
            <a:xfrm>
              <a:off x="4032504" y="9427464"/>
              <a:ext cx="401450"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60s</a:t>
              </a:r>
            </a:p>
          </p:txBody>
        </p:sp>
        <p:sp>
          <p:nvSpPr>
            <p:cNvPr id="518" name="97s"/>
            <p:cNvSpPr txBox="1"/>
            <p:nvPr/>
          </p:nvSpPr>
          <p:spPr>
            <a:xfrm>
              <a:off x="4526280" y="9427464"/>
              <a:ext cx="401450"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97s</a:t>
              </a:r>
            </a:p>
          </p:txBody>
        </p:sp>
        <p:sp>
          <p:nvSpPr>
            <p:cNvPr id="519" name="106s"/>
            <p:cNvSpPr txBox="1"/>
            <p:nvPr/>
          </p:nvSpPr>
          <p:spPr>
            <a:xfrm>
              <a:off x="6775704" y="9427464"/>
              <a:ext cx="523023"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106s</a:t>
              </a:r>
            </a:p>
          </p:txBody>
        </p:sp>
        <p:sp>
          <p:nvSpPr>
            <p:cNvPr id="520" name="256s"/>
            <p:cNvSpPr txBox="1"/>
            <p:nvPr/>
          </p:nvSpPr>
          <p:spPr>
            <a:xfrm>
              <a:off x="7324344" y="9427464"/>
              <a:ext cx="523023"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256s</a:t>
              </a:r>
            </a:p>
          </p:txBody>
        </p:sp>
        <p:sp>
          <p:nvSpPr>
            <p:cNvPr id="521" name="267s"/>
            <p:cNvSpPr txBox="1"/>
            <p:nvPr/>
          </p:nvSpPr>
          <p:spPr>
            <a:xfrm>
              <a:off x="9537192" y="9427464"/>
              <a:ext cx="523023"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267s</a:t>
              </a:r>
            </a:p>
          </p:txBody>
        </p:sp>
        <p:sp>
          <p:nvSpPr>
            <p:cNvPr id="522" name="1747s"/>
            <p:cNvSpPr txBox="1"/>
            <p:nvPr/>
          </p:nvSpPr>
          <p:spPr>
            <a:xfrm>
              <a:off x="10131552" y="9427464"/>
              <a:ext cx="644595"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1747s</a:t>
              </a:r>
            </a:p>
          </p:txBody>
        </p:sp>
        <p:sp>
          <p:nvSpPr>
            <p:cNvPr id="523" name="1759s"/>
            <p:cNvSpPr txBox="1"/>
            <p:nvPr/>
          </p:nvSpPr>
          <p:spPr>
            <a:xfrm>
              <a:off x="12207240" y="9427464"/>
              <a:ext cx="644595" cy="296266"/>
            </a:xfrm>
            <a:prstGeom prst="rect">
              <a:avLst/>
            </a:prstGeom>
            <a:noFill/>
            <a:effectLst/>
          </p:spPr>
          <p:txBody>
            <a:bodyPr wrap="none" lIns="0" rIns="0" tIns="0" bIns="0" anchor="t">
              <a:spAutoFit/>
            </a:bodyPr>
            <a:lstStyle/>
            <a:p>
              <a:pPr algn="l">
                <a:spcBef>
                  <a:spcPts val="0"/>
                </a:spcBef>
                <a:spcAft>
                  <a:spcPts val="0"/>
                </a:spcAft>
                <a:lnSpc>
                  <a:spcPct val="100000"/>
                </a:lnSpc>
              </a:pPr>
              <a:r>
                <a:rPr sz="1728" b="0" i="0">
                  <a:solidFill>
                    <a:srgbClr val="000000"/>
                  </a:solidFill>
                  <a:latin typeface="URW Gothic"/>
                </a:rPr>
                <a:t>1759s</a:t>
              </a:r>
            </a:p>
          </p:txBody>
        </p:sp>
      </p:grpSp>
      <p:grpSp>
        <p:nvGrpSpPr>
          <p:cNvPr id="524" name="Group 523"/>
          <p:cNvGrpSpPr/>
          <p:nvPr/>
        </p:nvGrpSpPr>
        <p:grpSpPr>
          <a:xfrm>
            <a:off x="13066776" y="8174736"/>
            <a:ext cx="5212080" cy="1536192"/>
            <a:chOff x="13066776" y="8174736"/>
            <a:chExt cx="5212080" cy="1536192"/>
          </a:xfrm>
        </p:grpSpPr>
        <p:sp>
          <p:nvSpPr>
            <p:cNvPr id="525" name="Query background clipped as reference"/>
            <p:cNvSpPr/>
            <p:nvPr/>
          </p:nvSpPr>
          <p:spPr>
            <a:xfrm>
              <a:off x="13066776" y="8174736"/>
              <a:ext cx="5212080" cy="1536192"/>
            </a:xfrm>
            <a:prstGeom prst="rect">
              <a:avLst/>
            </a:prstGeom>
            <a:solidFill>
              <a:srgbClr val="FFC000"/>
            </a:solidFill>
            <a:ln w="25603">
              <a:solidFill>
                <a:srgbClr val="8D370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6" name="Query:"/>
            <p:cNvSpPr txBox="1"/>
            <p:nvPr/>
          </p:nvSpPr>
          <p:spPr>
            <a:xfrm>
              <a:off x="13174218" y="8229600"/>
              <a:ext cx="829178"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1" i="0">
                  <a:solidFill>
                    <a:srgbClr val="000000"/>
                  </a:solidFill>
                  <a:latin typeface="Arial"/>
                </a:rPr>
                <a:t>Query:</a:t>
              </a:r>
            </a:p>
          </p:txBody>
        </p:sp>
        <p:sp>
          <p:nvSpPr>
            <p:cNvPr id="527" name="Locate the moment where “"/>
            <p:cNvSpPr txBox="1"/>
            <p:nvPr/>
          </p:nvSpPr>
          <p:spPr>
            <a:xfrm>
              <a:off x="13997178" y="8229600"/>
              <a:ext cx="3318972"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spc="-7">
                  <a:solidFill>
                    <a:srgbClr val="000000"/>
                  </a:solidFill>
                  <a:latin typeface="URW Gothic"/>
                </a:rPr>
                <a:t>Locate the moment where “</a:t>
              </a:r>
            </a:p>
          </p:txBody>
        </p:sp>
        <p:sp>
          <p:nvSpPr>
            <p:cNvPr id="528" name="A"/>
            <p:cNvSpPr txBox="1"/>
            <p:nvPr/>
          </p:nvSpPr>
          <p:spPr>
            <a:xfrm>
              <a:off x="17270730" y="8229600"/>
              <a:ext cx="249088"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a:solidFill>
                    <a:srgbClr val="307DB4"/>
                  </a:solidFill>
                  <a:latin typeface="URW Gothic"/>
                </a:rPr>
                <a:t>A</a:t>
              </a:r>
            </a:p>
          </p:txBody>
        </p:sp>
        <p:sp>
          <p:nvSpPr>
            <p:cNvPr id="529" name="man wearing a white mask"/>
            <p:cNvSpPr txBox="1"/>
            <p:nvPr/>
          </p:nvSpPr>
          <p:spPr>
            <a:xfrm>
              <a:off x="13174218" y="8494776"/>
              <a:ext cx="3221488"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spc="11">
                  <a:solidFill>
                    <a:srgbClr val="307DB4"/>
                  </a:solidFill>
                  <a:latin typeface="URW Gothic"/>
                </a:rPr>
                <a:t>man wearing a white mask</a:t>
              </a:r>
            </a:p>
          </p:txBody>
        </p:sp>
        <p:sp>
          <p:nvSpPr>
            <p:cNvPr id="530" name=" is talking"/>
            <p:cNvSpPr txBox="1"/>
            <p:nvPr/>
          </p:nvSpPr>
          <p:spPr>
            <a:xfrm>
              <a:off x="16328898" y="8494776"/>
              <a:ext cx="1102809"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a:solidFill>
                    <a:srgbClr val="000000"/>
                  </a:solidFill>
                  <a:latin typeface="URW Gothic"/>
                </a:rPr>
                <a:t> is talking</a:t>
              </a:r>
            </a:p>
          </p:txBody>
        </p:sp>
        <p:sp>
          <p:nvSpPr>
            <p:cNvPr id="531" name="about the "/>
            <p:cNvSpPr txBox="1"/>
            <p:nvPr/>
          </p:nvSpPr>
          <p:spPr>
            <a:xfrm>
              <a:off x="13174218" y="8750808"/>
              <a:ext cx="1307792"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spc="14">
                  <a:solidFill>
                    <a:srgbClr val="000000"/>
                  </a:solidFill>
                  <a:latin typeface="URW Gothic"/>
                </a:rPr>
                <a:t>about the </a:t>
              </a:r>
            </a:p>
          </p:txBody>
        </p:sp>
        <p:sp>
          <p:nvSpPr>
            <p:cNvPr id="532" name="sponsor"/>
            <p:cNvSpPr txBox="1"/>
            <p:nvPr/>
          </p:nvSpPr>
          <p:spPr>
            <a:xfrm>
              <a:off x="14417802" y="8750808"/>
              <a:ext cx="951362"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a:solidFill>
                    <a:srgbClr val="C4650B"/>
                  </a:solidFill>
                  <a:latin typeface="URW Gothic"/>
                </a:rPr>
                <a:t>sponsor</a:t>
              </a:r>
            </a:p>
          </p:txBody>
        </p:sp>
        <p:sp>
          <p:nvSpPr>
            <p:cNvPr id="533" name=" under "/>
            <p:cNvSpPr txBox="1"/>
            <p:nvPr/>
          </p:nvSpPr>
          <p:spPr>
            <a:xfrm>
              <a:off x="15304770" y="8750808"/>
              <a:ext cx="883368"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a:solidFill>
                    <a:srgbClr val="000000"/>
                  </a:solidFill>
                  <a:latin typeface="URW Gothic"/>
                </a:rPr>
                <a:t> under </a:t>
              </a:r>
            </a:p>
          </p:txBody>
        </p:sp>
        <p:sp>
          <p:nvSpPr>
            <p:cNvPr id="534" name="noisy street"/>
            <p:cNvSpPr txBox="1"/>
            <p:nvPr/>
          </p:nvSpPr>
          <p:spPr>
            <a:xfrm>
              <a:off x="16146018" y="8750808"/>
              <a:ext cx="1329138"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a:solidFill>
                    <a:srgbClr val="638D18"/>
                  </a:solidFill>
                  <a:latin typeface="URW Gothic"/>
                </a:rPr>
                <a:t>noisy street</a:t>
              </a:r>
            </a:p>
          </p:txBody>
        </p:sp>
        <p:sp>
          <p:nvSpPr>
            <p:cNvPr id="535" name="sound"/>
            <p:cNvSpPr txBox="1"/>
            <p:nvPr/>
          </p:nvSpPr>
          <p:spPr>
            <a:xfrm>
              <a:off x="13176161" y="9031529"/>
              <a:ext cx="727762" cy="299969"/>
            </a:xfrm>
            <a:prstGeom prst="rect">
              <a:avLst/>
            </a:prstGeom>
            <a:noFill/>
            <a:effectLst/>
          </p:spPr>
          <p:txBody>
            <a:bodyPr wrap="none" lIns="0" rIns="0" tIns="0" bIns="0" anchor="t">
              <a:spAutoFit/>
            </a:bodyPr>
            <a:lstStyle/>
            <a:p>
              <a:pPr algn="l">
                <a:spcBef>
                  <a:spcPts val="0"/>
                </a:spcBef>
                <a:spcAft>
                  <a:spcPts val="0"/>
                </a:spcAft>
                <a:lnSpc>
                  <a:spcPct val="100000"/>
                </a:lnSpc>
              </a:pPr>
              <a:r>
                <a:rPr sz="1749" b="0" i="0">
                  <a:solidFill>
                    <a:srgbClr val="638D18"/>
                  </a:solidFill>
                  <a:latin typeface="URW Gothic"/>
                </a:rPr>
                <a:t>sound</a:t>
              </a:r>
            </a:p>
          </p:txBody>
        </p:sp>
        <p:sp>
          <p:nvSpPr>
            <p:cNvPr id="536" name=", which they have been "/>
            <p:cNvSpPr txBox="1"/>
            <p:nvPr/>
          </p:nvSpPr>
          <p:spPr>
            <a:xfrm>
              <a:off x="13824585" y="9025128"/>
              <a:ext cx="2550856" cy="308610"/>
            </a:xfrm>
            <a:prstGeom prst="rect">
              <a:avLst/>
            </a:prstGeom>
            <a:noFill/>
            <a:effectLst/>
          </p:spPr>
          <p:txBody>
            <a:bodyPr wrap="none" lIns="0" rIns="0" tIns="0" bIns="0" anchor="t">
              <a:spAutoFit/>
            </a:bodyPr>
            <a:lstStyle/>
            <a:p>
              <a:pPr algn="l">
                <a:spcBef>
                  <a:spcPts val="0"/>
                </a:spcBef>
                <a:spcAft>
                  <a:spcPts val="0"/>
                </a:spcAft>
                <a:lnSpc>
                  <a:spcPct val="100000"/>
                </a:lnSpc>
              </a:pPr>
              <a:r>
                <a:rPr sz="1800" b="0" i="0" spc="-74">
                  <a:solidFill>
                    <a:srgbClr val="000000"/>
                  </a:solidFill>
                  <a:latin typeface="URW Gothic"/>
                </a:rPr>
                <a:t>, which they have been </a:t>
              </a:r>
            </a:p>
          </p:txBody>
        </p:sp>
        <p:sp>
          <p:nvSpPr>
            <p:cNvPr id="537" name="trying for"/>
            <p:cNvSpPr txBox="1"/>
            <p:nvPr/>
          </p:nvSpPr>
          <p:spPr>
            <a:xfrm>
              <a:off x="16299180" y="8997696"/>
              <a:ext cx="1169575" cy="345643"/>
            </a:xfrm>
            <a:prstGeom prst="rect">
              <a:avLst/>
            </a:prstGeom>
            <a:noFill/>
            <a:effectLst/>
          </p:spPr>
          <p:txBody>
            <a:bodyPr wrap="none" lIns="0" rIns="0" tIns="0" bIns="0" anchor="t">
              <a:spAutoFit/>
            </a:bodyPr>
            <a:lstStyle/>
            <a:p>
              <a:pPr algn="l">
                <a:spcBef>
                  <a:spcPts val="0"/>
                </a:spcBef>
                <a:spcAft>
                  <a:spcPts val="0"/>
                </a:spcAft>
                <a:lnSpc>
                  <a:spcPct val="100000"/>
                </a:lnSpc>
              </a:pPr>
              <a:r>
                <a:rPr sz="2016" b="0" i="0" spc="14">
                  <a:solidFill>
                    <a:srgbClr val="C4650B"/>
                  </a:solidFill>
                  <a:latin typeface="URW Gothic"/>
                </a:rPr>
                <a:t>trying for</a:t>
              </a:r>
            </a:p>
          </p:txBody>
        </p:sp>
        <p:sp>
          <p:nvSpPr>
            <p:cNvPr id="538" name="over a year"/>
            <p:cNvSpPr txBox="1"/>
            <p:nvPr/>
          </p:nvSpPr>
          <p:spPr>
            <a:xfrm>
              <a:off x="13174218" y="9281160"/>
              <a:ext cx="1297748"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spc="-65">
                  <a:solidFill>
                    <a:srgbClr val="C4650B"/>
                  </a:solidFill>
                  <a:latin typeface="URW Gothic"/>
                </a:rPr>
                <a:t>over a year</a:t>
              </a:r>
            </a:p>
          </p:txBody>
        </p:sp>
        <p:sp>
          <p:nvSpPr>
            <p:cNvPr id="539" name="”, return precise timestamps"/>
            <p:cNvSpPr txBox="1"/>
            <p:nvPr/>
          </p:nvSpPr>
          <p:spPr>
            <a:xfrm>
              <a:off x="14399514" y="9281160"/>
              <a:ext cx="3058997" cy="320954"/>
            </a:xfrm>
            <a:prstGeom prst="rect">
              <a:avLst/>
            </a:prstGeom>
            <a:noFill/>
            <a:effectLst/>
          </p:spPr>
          <p:txBody>
            <a:bodyPr wrap="none" lIns="0" rIns="0" tIns="0" bIns="0" anchor="t">
              <a:spAutoFit/>
            </a:bodyPr>
            <a:lstStyle/>
            <a:p>
              <a:pPr algn="l">
                <a:spcBef>
                  <a:spcPts val="0"/>
                </a:spcBef>
                <a:spcAft>
                  <a:spcPts val="0"/>
                </a:spcAft>
                <a:lnSpc>
                  <a:spcPct val="100000"/>
                </a:lnSpc>
              </a:pPr>
              <a:r>
                <a:rPr sz="1872" b="0" i="0" spc="-58">
                  <a:solidFill>
                    <a:srgbClr val="000000"/>
                  </a:solidFill>
                  <a:latin typeface="URW Gothic"/>
                </a:rPr>
                <a:t>”, return precise timestamps</a:t>
              </a: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__ORIGINAL_REFERENCE_IMAGE__" descr="Watch and Listen Understanding Audio-Visual-Speech Moments with Multimodal LLM_diagram.jpg"/>
          <p:cNvPicPr>
            <a:picLocks noChangeAspect="1"/>
          </p:cNvPicPr>
          <p:nvPr/>
        </p:nvPicPr>
        <p:blipFill>
          <a:blip r:embed="rId2"/>
          <a:stretch>
            <a:fillRect/>
          </a:stretch>
        </p:blipFill>
        <p:spPr>
          <a:xfrm>
            <a:off x="0" y="0"/>
            <a:ext cx="17419320" cy="9692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Watch and Listen — Multimodal LLM Diagram</dc:title>
  <dc:subject>Editable reconstruction of the supplied reference image</dc:subject>
  <dc:creator/>
  <cp:keywords>editable, multimodal, diagram, vision, audio, speech</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