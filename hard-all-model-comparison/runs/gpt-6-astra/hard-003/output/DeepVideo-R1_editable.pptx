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3"/>
  </p:sldIdLst>
  <p:sldSz cx="18402300" cy="8696325" type="screen4x3"/>
  <p:notesSz cx="6858000" cy="9144000"/>
  <p:embeddedFontLst>
    <p:embeddedFont>
      <p:font typeface="Times New Roman" pitchFamily="0" charset="1"/>
      <p:regular r:id="rIdEmbeddedFont1"/>
      <p:bold r:id="rIdEmbeddedFont2"/>
    </p:embeddedFont>
    <p:embeddedFont>
      <p:font typeface="Comic Sans MS" pitchFamily="0" charset="1"/>
      <p:regular r:id="rIdEmbeddedFont3"/>
    </p:embeddedFont>
    <p:embeddedFont>
      <p:font typeface="Latin Modern Math" pitchFamily="0" charset="1"/>
      <p:regular r:id="rIdEmbeddedFont4"/>
    </p:embeddedFont>
    <p:embeddedFont>
      <p:font typeface="Liberation Sans" pitchFamily="0" charset="1"/>
      <p:regular r:id="rIdEmbedded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EmbeddedFont1" Type="http://schemas.openxmlformats.org/officeDocument/2006/relationships/font" Target="fonts/font1.fntdata"/><Relationship Id="rIdEmbeddedFont2" Type="http://schemas.openxmlformats.org/officeDocument/2006/relationships/font" Target="fonts/font2.fntdata"/><Relationship Id="rIdEmbeddedFont3" Type="http://schemas.openxmlformats.org/officeDocument/2006/relationships/font" Target="fonts/font3.fntdata"/><Relationship Id="rIdEmbeddedFont4" Type="http://schemas.openxmlformats.org/officeDocument/2006/relationships/font" Target="fonts/font4.fntdata"/><Relationship Id="rIdEmbeddedFont5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3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Upper main panel (1)"/>
          <p:cNvSpPr/>
          <p:nvPr/>
        </p:nvSpPr>
        <p:spPr>
          <a:xfrm>
            <a:off x="80962" y="157162"/>
            <a:ext cx="18268950" cy="3771900"/>
          </a:xfrm>
          <a:custGeom>
            <a:avLst/>
            <a:gdLst/>
            <a:ahLst/>
            <a:cxnLst/>
            <a:rect l="0" t="0" r="r" b="b"/>
            <a:pathLst>
              <a:path w="18268950" h="3771900">
                <a:moveTo>
                  <a:pt x="219075" y="0"/>
                </a:moveTo>
                <a:lnTo>
                  <a:pt x="18049875" y="0"/>
                </a:lnTo>
                <a:cubicBezTo>
                  <a:pt x="18170867" y="0"/>
                  <a:pt x="18268950" y="98083"/>
                  <a:pt x="18268950" y="219075"/>
                </a:cubicBezTo>
                <a:lnTo>
                  <a:pt x="18268950" y="3552825"/>
                </a:lnTo>
                <a:cubicBezTo>
                  <a:pt x="18268950" y="3673817"/>
                  <a:pt x="18170867" y="3771900"/>
                  <a:pt x="18049875" y="3771900"/>
                </a:cubicBezTo>
                <a:lnTo>
                  <a:pt x="219075" y="3771900"/>
                </a:lnTo>
                <a:cubicBezTo>
                  <a:pt x="98083" y="3771900"/>
                  <a:pt x="0" y="3673817"/>
                  <a:pt x="0" y="355282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>
            <a:srgbClr val="FAFAFA"/>
          </a:solidFill>
          <a:ln w="23812" cap="rnd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wer panel fill (2)"/>
          <p:cNvSpPr/>
          <p:nvPr/>
        </p:nvSpPr>
        <p:spPr>
          <a:xfrm>
            <a:off x="80962" y="4762500"/>
            <a:ext cx="18268950" cy="3933825"/>
          </a:xfrm>
          <a:custGeom>
            <a:avLst/>
            <a:gdLst/>
            <a:ahLst/>
            <a:cxnLst/>
            <a:rect l="0" t="0" r="r" b="b"/>
            <a:pathLst>
              <a:path w="18268950" h="3933825">
                <a:moveTo>
                  <a:pt x="0" y="3933825"/>
                </a:moveTo>
                <a:lnTo>
                  <a:pt x="0" y="219075"/>
                </a:lnTo>
                <a:cubicBezTo>
                  <a:pt x="0" y="98108"/>
                  <a:pt x="98108" y="0"/>
                  <a:pt x="219075" y="0"/>
                </a:cubicBezTo>
                <a:lnTo>
                  <a:pt x="18049875" y="0"/>
                </a:lnTo>
                <a:cubicBezTo>
                  <a:pt x="18170842" y="0"/>
                  <a:pt x="18268950" y="98108"/>
                  <a:pt x="18268950" y="219075"/>
                </a:cubicBezTo>
                <a:lnTo>
                  <a:pt x="18268950" y="3933825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wer main panel outline (3)"/>
          <p:cNvSpPr/>
          <p:nvPr/>
        </p:nvSpPr>
        <p:spPr>
          <a:xfrm>
            <a:off x="80962" y="4762500"/>
            <a:ext cx="18268950" cy="3933825"/>
          </a:xfrm>
          <a:custGeom>
            <a:avLst/>
            <a:gdLst/>
            <a:ahLst/>
            <a:cxnLst/>
            <a:rect l="0" t="0" r="r" b="b"/>
            <a:pathLst>
              <a:path w="18268950" h="3933825" fill="none">
                <a:moveTo>
                  <a:pt x="0" y="3933825"/>
                </a:moveTo>
                <a:lnTo>
                  <a:pt x="0" y="219075"/>
                </a:lnTo>
                <a:cubicBezTo>
                  <a:pt x="0" y="98108"/>
                  <a:pt x="98108" y="0"/>
                  <a:pt x="219075" y="0"/>
                </a:cubicBezTo>
                <a:lnTo>
                  <a:pt x="18049875" y="0"/>
                </a:lnTo>
                <a:cubicBezTo>
                  <a:pt x="18170842" y="0"/>
                  <a:pt x="18268950" y="98108"/>
                  <a:pt x="18268950" y="219075"/>
                </a:cubicBezTo>
                <a:lnTo>
                  <a:pt x="18268950" y="3933825"/>
                </a:lnTo>
              </a:path>
            </a:pathLst>
          </a:custGeom>
          <a:noFill/>
          <a:ln w="23812" cap="rnd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Difficulty decrease routing arrow (8)"/>
          <p:cNvGrpSpPr/>
          <p:nvPr/>
        </p:nvGrpSpPr>
        <p:grpSpPr>
          <a:xfrm>
            <a:off x="4810125" y="2009775"/>
            <a:ext cx="6124575" cy="2743200"/>
            <a:chOff x="4810125" y="2009775"/>
            <a:chExt cx="6124575" cy="2743200"/>
          </a:xfrm>
        </p:grpSpPr>
        <p:sp>
          <p:nvSpPr>
            <p:cNvPr id="5" name="Red routing outer stroke (4)"/>
            <p:cNvSpPr/>
            <p:nvPr/>
          </p:nvSpPr>
          <p:spPr>
            <a:xfrm>
              <a:off x="5038725" y="2009775"/>
              <a:ext cx="5895975" cy="2533650"/>
            </a:xfrm>
            <a:custGeom>
              <a:avLst/>
              <a:gdLst/>
              <a:ahLst/>
              <a:cxnLst/>
              <a:rect l="0" t="0" r="r" b="b"/>
              <a:pathLst>
                <a:path w="5895975" h="2533650" fill="none">
                  <a:moveTo>
                    <a:pt x="5895975" y="0"/>
                  </a:moveTo>
                  <a:lnTo>
                    <a:pt x="5895975" y="1485900"/>
                  </a:lnTo>
                  <a:cubicBezTo>
                    <a:pt x="5895975" y="1857375"/>
                    <a:pt x="5581650" y="2162175"/>
                    <a:pt x="5143500" y="2162175"/>
                  </a:cubicBezTo>
                  <a:lnTo>
                    <a:pt x="390525" y="2162175"/>
                  </a:lnTo>
                  <a:cubicBezTo>
                    <a:pt x="133350" y="2162175"/>
                    <a:pt x="0" y="2314575"/>
                    <a:pt x="0" y="2533650"/>
                  </a:cubicBezTo>
                </a:path>
              </a:pathLst>
            </a:custGeom>
            <a:noFill/>
            <a:ln w="304800" cap="rnd">
              <a:solidFill>
                <a:srgbClr val="FF7B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d routing inner stroke (5)"/>
            <p:cNvSpPr/>
            <p:nvPr/>
          </p:nvSpPr>
          <p:spPr>
            <a:xfrm>
              <a:off x="5038725" y="2009775"/>
              <a:ext cx="5895975" cy="2533650"/>
            </a:xfrm>
            <a:custGeom>
              <a:avLst/>
              <a:gdLst/>
              <a:ahLst/>
              <a:cxnLst/>
              <a:rect l="0" t="0" r="r" b="b"/>
              <a:pathLst>
                <a:path w="5895975" h="2533650" fill="none">
                  <a:moveTo>
                    <a:pt x="5895975" y="0"/>
                  </a:moveTo>
                  <a:lnTo>
                    <a:pt x="5895975" y="1485900"/>
                  </a:lnTo>
                  <a:cubicBezTo>
                    <a:pt x="5895975" y="1857375"/>
                    <a:pt x="5581650" y="2162175"/>
                    <a:pt x="5143500" y="2162175"/>
                  </a:cubicBezTo>
                  <a:lnTo>
                    <a:pt x="390525" y="2162175"/>
                  </a:lnTo>
                  <a:cubicBezTo>
                    <a:pt x="133350" y="2162175"/>
                    <a:pt x="0" y="2314575"/>
                    <a:pt x="0" y="2533650"/>
                  </a:cubicBezTo>
                </a:path>
              </a:pathLst>
            </a:custGeom>
            <a:noFill/>
            <a:ln w="171450" cap="rnd">
              <a:solidFill>
                <a:srgbClr val="FFA6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Arrowhead (6)"/>
            <p:cNvSpPr/>
            <p:nvPr/>
          </p:nvSpPr>
          <p:spPr>
            <a:xfrm>
              <a:off x="4810125" y="4505325"/>
              <a:ext cx="457200" cy="247650"/>
            </a:xfrm>
            <a:custGeom>
              <a:avLst/>
              <a:gdLst/>
              <a:ahLst/>
              <a:cxnLst/>
              <a:rect l="0" t="0" r="r" b="b"/>
              <a:pathLst>
                <a:path w="457200" h="247650">
                  <a:moveTo>
                    <a:pt x="228600" y="247650"/>
                  </a:moveTo>
                  <a:lnTo>
                    <a:pt x="0" y="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7B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Arrowhead (7)"/>
            <p:cNvSpPr/>
            <p:nvPr/>
          </p:nvSpPr>
          <p:spPr>
            <a:xfrm>
              <a:off x="4910138" y="4495800"/>
              <a:ext cx="257175" cy="152400"/>
            </a:xfrm>
            <a:custGeom>
              <a:avLst/>
              <a:gdLst/>
              <a:ahLst/>
              <a:cxnLst/>
              <a:rect l="0" t="0" r="r" b="b"/>
              <a:pathLst>
                <a:path w="257175" h="152400">
                  <a:moveTo>
                    <a:pt x="128588" y="152400"/>
                  </a:moveTo>
                  <a:lnTo>
                    <a:pt x="0" y="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FFA6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Difficulty increase routing arrow (13)"/>
          <p:cNvGrpSpPr/>
          <p:nvPr/>
        </p:nvGrpSpPr>
        <p:grpSpPr>
          <a:xfrm>
            <a:off x="11915775" y="3590925"/>
            <a:ext cx="2295525" cy="1162050"/>
            <a:chOff x="11915775" y="3590925"/>
            <a:chExt cx="2295525" cy="1162050"/>
          </a:xfrm>
        </p:grpSpPr>
        <p:sp>
          <p:nvSpPr>
            <p:cNvPr id="10" name="Green routing outer stroke (9)"/>
            <p:cNvSpPr/>
            <p:nvPr/>
          </p:nvSpPr>
          <p:spPr>
            <a:xfrm>
              <a:off x="11915775" y="3590925"/>
              <a:ext cx="2066925" cy="914400"/>
            </a:xfrm>
            <a:custGeom>
              <a:avLst/>
              <a:gdLst/>
              <a:ahLst/>
              <a:cxnLst/>
              <a:rect l="0" t="0" r="r" b="b"/>
              <a:pathLst>
                <a:path w="2066925" h="914400" fill="none">
                  <a:moveTo>
                    <a:pt x="0" y="0"/>
                  </a:moveTo>
                  <a:cubicBezTo>
                    <a:pt x="95250" y="419100"/>
                    <a:pt x="409575" y="628650"/>
                    <a:pt x="771525" y="609600"/>
                  </a:cubicBezTo>
                  <a:lnTo>
                    <a:pt x="1676400" y="609600"/>
                  </a:lnTo>
                  <a:cubicBezTo>
                    <a:pt x="1943100" y="609600"/>
                    <a:pt x="2066925" y="790575"/>
                    <a:pt x="2066925" y="914400"/>
                  </a:cubicBezTo>
                </a:path>
              </a:pathLst>
            </a:custGeom>
            <a:noFill/>
            <a:ln w="304800" cap="rnd">
              <a:solidFill>
                <a:srgbClr val="00B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Green routing inner stroke (10)"/>
            <p:cNvSpPr/>
            <p:nvPr/>
          </p:nvSpPr>
          <p:spPr>
            <a:xfrm>
              <a:off x="11915775" y="3590925"/>
              <a:ext cx="2066925" cy="914400"/>
            </a:xfrm>
            <a:custGeom>
              <a:avLst/>
              <a:gdLst/>
              <a:ahLst/>
              <a:cxnLst/>
              <a:rect l="0" t="0" r="r" b="b"/>
              <a:pathLst>
                <a:path w="2066925" h="914400" fill="none">
                  <a:moveTo>
                    <a:pt x="0" y="0"/>
                  </a:moveTo>
                  <a:cubicBezTo>
                    <a:pt x="95250" y="419100"/>
                    <a:pt x="409575" y="628650"/>
                    <a:pt x="771525" y="609600"/>
                  </a:cubicBezTo>
                  <a:lnTo>
                    <a:pt x="1676400" y="609600"/>
                  </a:lnTo>
                  <a:cubicBezTo>
                    <a:pt x="1943100" y="609600"/>
                    <a:pt x="2066925" y="790575"/>
                    <a:pt x="2066925" y="914400"/>
                  </a:cubicBezTo>
                </a:path>
              </a:pathLst>
            </a:custGeom>
            <a:noFill/>
            <a:ln w="171450" cap="rnd">
              <a:solidFill>
                <a:srgbClr val="80D99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Arrowhead (11)"/>
            <p:cNvSpPr/>
            <p:nvPr/>
          </p:nvSpPr>
          <p:spPr>
            <a:xfrm>
              <a:off x="13754100" y="4514850"/>
              <a:ext cx="457200" cy="238125"/>
            </a:xfrm>
            <a:custGeom>
              <a:avLst/>
              <a:gdLst/>
              <a:ahLst/>
              <a:cxnLst/>
              <a:rect l="0" t="0" r="r" b="b"/>
              <a:pathLst>
                <a:path w="457200" h="238125">
                  <a:moveTo>
                    <a:pt x="228600" y="238125"/>
                  </a:moveTo>
                  <a:lnTo>
                    <a:pt x="0" y="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BF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Arrowhead (12)"/>
            <p:cNvSpPr/>
            <p:nvPr/>
          </p:nvSpPr>
          <p:spPr>
            <a:xfrm>
              <a:off x="13844588" y="4505325"/>
              <a:ext cx="276225" cy="152400"/>
            </a:xfrm>
            <a:custGeom>
              <a:avLst/>
              <a:gdLst/>
              <a:ahLst/>
              <a:cxnLst/>
              <a:rect l="0" t="0" r="r" b="b"/>
              <a:pathLst>
                <a:path w="276225" h="152400">
                  <a:moveTo>
                    <a:pt x="138112" y="152400"/>
                  </a:moveTo>
                  <a:lnTo>
                    <a:pt x="0" y="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80D9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Measure Difficulty based on Relative Reward Statistics (14)"/>
          <p:cNvSpPr txBox="1"/>
          <p:nvPr/>
        </p:nvSpPr>
        <p:spPr>
          <a:xfrm>
            <a:off x="227457" y="147086"/>
            <a:ext cx="8028012" cy="4747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7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Difficulty based on Relative Reward Statistics</a:t>
            </a:r>
          </a:p>
        </p:txBody>
      </p:sp>
      <p:grpSp>
        <p:nvGrpSpPr>
          <p:cNvPr id="27" name="Upper video and question (26)"/>
          <p:cNvGrpSpPr/>
          <p:nvPr/>
        </p:nvGrpSpPr>
        <p:grpSpPr>
          <a:xfrm>
            <a:off x="180975" y="1171575"/>
            <a:ext cx="2819400" cy="2019300"/>
            <a:chOff x="180975" y="1171575"/>
            <a:chExt cx="2819400" cy="2019300"/>
          </a:xfrm>
        </p:grpSpPr>
        <p:sp>
          <p:nvSpPr>
            <p:cNvPr id="16" name="Question card (15)"/>
            <p:cNvSpPr/>
            <p:nvPr/>
          </p:nvSpPr>
          <p:spPr>
            <a:xfrm>
              <a:off x="180975" y="1171575"/>
              <a:ext cx="2819400" cy="2019300"/>
            </a:xfrm>
            <a:custGeom>
              <a:avLst/>
              <a:gdLst/>
              <a:ahLst/>
              <a:cxnLst/>
              <a:rect l="0" t="0" r="r" b="b"/>
              <a:pathLst>
                <a:path w="2819400" h="2019300">
                  <a:moveTo>
                    <a:pt x="123825" y="0"/>
                  </a:moveTo>
                  <a:lnTo>
                    <a:pt x="2695575" y="0"/>
                  </a:lnTo>
                  <a:cubicBezTo>
                    <a:pt x="2763962" y="0"/>
                    <a:pt x="2819400" y="55438"/>
                    <a:pt x="2819400" y="123825"/>
                  </a:cubicBezTo>
                  <a:lnTo>
                    <a:pt x="2819400" y="1895475"/>
                  </a:lnTo>
                  <a:cubicBezTo>
                    <a:pt x="2819400" y="1963862"/>
                    <a:pt x="2763962" y="2019300"/>
                    <a:pt x="2695575" y="2019300"/>
                  </a:cubicBezTo>
                  <a:lnTo>
                    <a:pt x="123825" y="2019300"/>
                  </a:lnTo>
                  <a:cubicBezTo>
                    <a:pt x="55438" y="2019300"/>
                    <a:pt x="0" y="1963862"/>
                    <a:pt x="0" y="189547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AFAFA"/>
            </a:solidFill>
            <a:ln w="38100" cap="rnd">
              <a:solidFill>
                <a:srgbClr val="F1F1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7" name="Video frames — video_top_a (16)" descr="video_top_a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475" y="1276350"/>
              <a:ext cx="1009650" cy="952500"/>
            </a:xfrm>
            <a:prstGeom prst="rect">
              <a:avLst/>
            </a:prstGeom>
          </p:spPr>
        </p:pic>
        <p:pic>
          <p:nvPicPr>
            <p:cNvPr id="18" name="Video frames — video_top_b (17)" descr="video_top_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8325" y="1257300"/>
              <a:ext cx="990600" cy="1000125"/>
            </a:xfrm>
            <a:prstGeom prst="rect">
              <a:avLst/>
            </a:prstGeom>
          </p:spPr>
        </p:pic>
        <p:grpSp>
          <p:nvGrpSpPr>
            <p:cNvPr id="22" name="Ellipsis (21)"/>
            <p:cNvGrpSpPr/>
            <p:nvPr/>
          </p:nvGrpSpPr>
          <p:grpSpPr>
            <a:xfrm>
              <a:off x="1429702" y="1763078"/>
              <a:ext cx="340995" cy="55245"/>
              <a:chOff x="1429702" y="1763078"/>
              <a:chExt cx="340995" cy="55245"/>
            </a:xfrm>
          </p:grpSpPr>
          <p:sp>
            <p:nvSpPr>
              <p:cNvPr id="19" name="Ellipsis dot (18)"/>
              <p:cNvSpPr/>
              <p:nvPr/>
            </p:nvSpPr>
            <p:spPr>
              <a:xfrm>
                <a:off x="1429702" y="1763078"/>
                <a:ext cx="55245" cy="55245"/>
              </a:xfrm>
              <a:custGeom>
                <a:avLst/>
                <a:gdLst/>
                <a:ahLst/>
                <a:cxnLst/>
                <a:rect l="0" t="0" r="r" b="b"/>
                <a:pathLst>
                  <a:path w="55245" h="55245">
                    <a:moveTo>
                      <a:pt x="55245" y="27623"/>
                    </a:moveTo>
                    <a:cubicBezTo>
                      <a:pt x="55245" y="42878"/>
                      <a:pt x="42878" y="55245"/>
                      <a:pt x="27623" y="55245"/>
                    </a:cubicBezTo>
                    <a:cubicBezTo>
                      <a:pt x="12367" y="55245"/>
                      <a:pt x="0" y="42878"/>
                      <a:pt x="0" y="27623"/>
                    </a:cubicBezTo>
                    <a:cubicBezTo>
                      <a:pt x="0" y="12367"/>
                      <a:pt x="12367" y="0"/>
                      <a:pt x="27623" y="0"/>
                    </a:cubicBezTo>
                    <a:cubicBezTo>
                      <a:pt x="42878" y="0"/>
                      <a:pt x="55245" y="12367"/>
                      <a:pt x="55245" y="276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Ellipsis dot (19)"/>
              <p:cNvSpPr/>
              <p:nvPr/>
            </p:nvSpPr>
            <p:spPr>
              <a:xfrm>
                <a:off x="1572578" y="1763078"/>
                <a:ext cx="55245" cy="55245"/>
              </a:xfrm>
              <a:custGeom>
                <a:avLst/>
                <a:gdLst/>
                <a:ahLst/>
                <a:cxnLst/>
                <a:rect l="0" t="0" r="r" b="b"/>
                <a:pathLst>
                  <a:path w="55245" h="55245">
                    <a:moveTo>
                      <a:pt x="55245" y="27623"/>
                    </a:moveTo>
                    <a:cubicBezTo>
                      <a:pt x="55245" y="42878"/>
                      <a:pt x="42878" y="55245"/>
                      <a:pt x="27623" y="55245"/>
                    </a:cubicBezTo>
                    <a:cubicBezTo>
                      <a:pt x="12367" y="55245"/>
                      <a:pt x="0" y="42878"/>
                      <a:pt x="0" y="27623"/>
                    </a:cubicBezTo>
                    <a:cubicBezTo>
                      <a:pt x="0" y="12367"/>
                      <a:pt x="12367" y="0"/>
                      <a:pt x="27623" y="0"/>
                    </a:cubicBezTo>
                    <a:cubicBezTo>
                      <a:pt x="42878" y="0"/>
                      <a:pt x="55245" y="12367"/>
                      <a:pt x="55245" y="276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Ellipsis dot (20)"/>
              <p:cNvSpPr/>
              <p:nvPr/>
            </p:nvSpPr>
            <p:spPr>
              <a:xfrm>
                <a:off x="1715452" y="1763078"/>
                <a:ext cx="55245" cy="55245"/>
              </a:xfrm>
              <a:custGeom>
                <a:avLst/>
                <a:gdLst/>
                <a:ahLst/>
                <a:cxnLst/>
                <a:rect l="0" t="0" r="r" b="b"/>
                <a:pathLst>
                  <a:path w="55245" h="55245">
                    <a:moveTo>
                      <a:pt x="55245" y="27623"/>
                    </a:moveTo>
                    <a:cubicBezTo>
                      <a:pt x="55245" y="42878"/>
                      <a:pt x="42878" y="55245"/>
                      <a:pt x="27623" y="55245"/>
                    </a:cubicBezTo>
                    <a:cubicBezTo>
                      <a:pt x="12367" y="55245"/>
                      <a:pt x="0" y="42878"/>
                      <a:pt x="0" y="27623"/>
                    </a:cubicBezTo>
                    <a:cubicBezTo>
                      <a:pt x="0" y="12367"/>
                      <a:pt x="12367" y="0"/>
                      <a:pt x="27623" y="0"/>
                    </a:cubicBezTo>
                    <a:cubicBezTo>
                      <a:pt x="42878" y="0"/>
                      <a:pt x="55245" y="12367"/>
                      <a:pt x="55245" y="276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" name="Question: (22)"/>
            <p:cNvSpPr txBox="1"/>
            <p:nvPr/>
          </p:nvSpPr>
          <p:spPr>
            <a:xfrm>
              <a:off x="262953" y="2248535"/>
              <a:ext cx="1102444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Question:</a:t>
              </a:r>
            </a:p>
          </p:txBody>
        </p:sp>
        <p:sp>
          <p:nvSpPr>
            <p:cNvPr id="24" name="What action (23)"/>
            <p:cNvSpPr txBox="1"/>
            <p:nvPr/>
          </p:nvSpPr>
          <p:spPr>
            <a:xfrm>
              <a:off x="1321981" y="2248535"/>
              <a:ext cx="1375470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What action</a:t>
              </a:r>
            </a:p>
          </p:txBody>
        </p:sp>
        <p:sp>
          <p:nvSpPr>
            <p:cNvPr id="25" name="should I take next in (24)"/>
            <p:cNvSpPr txBox="1"/>
            <p:nvPr/>
          </p:nvSpPr>
          <p:spPr>
            <a:xfrm>
              <a:off x="265468" y="2524150"/>
              <a:ext cx="2288902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should I take next in</a:t>
              </a:r>
            </a:p>
          </p:txBody>
        </p:sp>
        <p:sp>
          <p:nvSpPr>
            <p:cNvPr id="26" name="order to eat the celery? (25)"/>
            <p:cNvSpPr txBox="1"/>
            <p:nvPr/>
          </p:nvSpPr>
          <p:spPr>
            <a:xfrm>
              <a:off x="264033" y="2800832"/>
              <a:ext cx="2661374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order to eat the celery?</a:t>
              </a:r>
            </a:p>
          </p:txBody>
        </p:sp>
      </p:grpSp>
      <p:sp>
        <p:nvSpPr>
          <p:cNvPr id="28" name="Connector arrow (27)"/>
          <p:cNvSpPr/>
          <p:nvPr/>
        </p:nvSpPr>
        <p:spPr>
          <a:xfrm>
            <a:off x="3009900" y="2200275"/>
            <a:ext cx="314325" cy="95"/>
          </a:xfrm>
          <a:custGeom>
            <a:avLst/>
            <a:gdLst/>
            <a:ahLst/>
            <a:cxnLst/>
            <a:rect l="0" t="0" r="r" b="b"/>
            <a:pathLst>
              <a:path w="314325" h="95" fill="none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nnector arrow head (28)"/>
          <p:cNvSpPr/>
          <p:nvPr/>
        </p:nvSpPr>
        <p:spPr>
          <a:xfrm>
            <a:off x="3181350" y="212883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Video LLM (32)"/>
          <p:cNvGrpSpPr/>
          <p:nvPr/>
        </p:nvGrpSpPr>
        <p:grpSpPr>
          <a:xfrm>
            <a:off x="3333750" y="1657350"/>
            <a:ext cx="1304925" cy="1066800"/>
            <a:chOff x="3333750" y="1657350"/>
            <a:chExt cx="1304925" cy="1066800"/>
          </a:xfrm>
        </p:grpSpPr>
        <p:sp>
          <p:nvSpPr>
            <p:cNvPr id="30" name="Video LLM box (29)"/>
            <p:cNvSpPr/>
            <p:nvPr/>
          </p:nvSpPr>
          <p:spPr>
            <a:xfrm>
              <a:off x="3333750" y="1657350"/>
              <a:ext cx="1304925" cy="1066800"/>
            </a:xfrm>
            <a:custGeom>
              <a:avLst/>
              <a:gdLst/>
              <a:ahLst/>
              <a:cxnLst/>
              <a:rect l="0" t="0" r="r" b="b"/>
              <a:pathLst>
                <a:path w="1304925" h="1066800">
                  <a:moveTo>
                    <a:pt x="123825" y="0"/>
                  </a:moveTo>
                  <a:lnTo>
                    <a:pt x="1181100" y="0"/>
                  </a:lnTo>
                  <a:cubicBezTo>
                    <a:pt x="1249487" y="0"/>
                    <a:pt x="1304925" y="55438"/>
                    <a:pt x="1304925" y="123825"/>
                  </a:cubicBezTo>
                  <a:lnTo>
                    <a:pt x="1304925" y="942975"/>
                  </a:lnTo>
                  <a:cubicBezTo>
                    <a:pt x="1304925" y="1011362"/>
                    <a:pt x="1249487" y="1066800"/>
                    <a:pt x="1181100" y="1066800"/>
                  </a:cubicBezTo>
                  <a:lnTo>
                    <a:pt x="123825" y="1066800"/>
                  </a:lnTo>
                  <a:cubicBezTo>
                    <a:pt x="55438" y="1066800"/>
                    <a:pt x="0" y="1011362"/>
                    <a:pt x="0" y="94297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FF6DF"/>
            </a:solidFill>
            <a:ln w="38100" cap="rnd">
              <a:solidFill>
                <a:srgbClr val="FFE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Video (30)"/>
            <p:cNvSpPr txBox="1"/>
            <p:nvPr/>
          </p:nvSpPr>
          <p:spPr>
            <a:xfrm>
              <a:off x="3587877" y="1833691"/>
              <a:ext cx="794802" cy="3933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12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Video</a:t>
              </a:r>
            </a:p>
          </p:txBody>
        </p:sp>
        <p:sp>
          <p:nvSpPr>
            <p:cNvPr id="32" name="LLM (31)"/>
            <p:cNvSpPr txBox="1"/>
            <p:nvPr/>
          </p:nvSpPr>
          <p:spPr>
            <a:xfrm>
              <a:off x="3652469" y="2186815"/>
              <a:ext cx="624274" cy="3933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12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LLM</a:t>
              </a:r>
            </a:p>
          </p:txBody>
        </p:sp>
      </p:grpSp>
      <p:grpSp>
        <p:nvGrpSpPr>
          <p:cNvPr id="40" name="Video LLM to generated responses (39)"/>
          <p:cNvGrpSpPr/>
          <p:nvPr/>
        </p:nvGrpSpPr>
        <p:grpSpPr>
          <a:xfrm>
            <a:off x="4638675" y="1376762"/>
            <a:ext cx="523875" cy="1627976"/>
            <a:chOff x="4638675" y="1376762"/>
            <a:chExt cx="523875" cy="1627976"/>
          </a:xfrm>
        </p:grpSpPr>
        <p:sp>
          <p:nvSpPr>
            <p:cNvPr id="34" name="Curved response connector (33)"/>
            <p:cNvSpPr/>
            <p:nvPr/>
          </p:nvSpPr>
          <p:spPr>
            <a:xfrm>
              <a:off x="4638675" y="1381125"/>
              <a:ext cx="485775" cy="809625"/>
            </a:xfrm>
            <a:custGeom>
              <a:avLst/>
              <a:gdLst/>
              <a:ahLst/>
              <a:cxnLst/>
              <a:rect l="0" t="0" r="r" b="b"/>
              <a:pathLst>
                <a:path w="485775" h="809625" fill="none">
                  <a:moveTo>
                    <a:pt x="0" y="809625"/>
                  </a:moveTo>
                  <a:cubicBezTo>
                    <a:pt x="466725" y="809625"/>
                    <a:pt x="38100" y="285750"/>
                    <a:pt x="485775" y="0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rrowhead (34)"/>
            <p:cNvSpPr/>
            <p:nvPr/>
          </p:nvSpPr>
          <p:spPr>
            <a:xfrm>
              <a:off x="5002870" y="1376762"/>
              <a:ext cx="159680" cy="129489"/>
            </a:xfrm>
            <a:custGeom>
              <a:avLst/>
              <a:gdLst/>
              <a:ahLst/>
              <a:cxnLst/>
              <a:rect l="0" t="0" r="r" b="b"/>
              <a:pathLst>
                <a:path w="159680" h="129489">
                  <a:moveTo>
                    <a:pt x="159680" y="4363"/>
                  </a:moveTo>
                  <a:lnTo>
                    <a:pt x="60382" y="129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urved response connector (35)"/>
            <p:cNvSpPr/>
            <p:nvPr/>
          </p:nvSpPr>
          <p:spPr>
            <a:xfrm>
              <a:off x="4638675" y="2028825"/>
              <a:ext cx="476250" cy="161925"/>
            </a:xfrm>
            <a:custGeom>
              <a:avLst/>
              <a:gdLst/>
              <a:ahLst/>
              <a:cxnLst/>
              <a:rect l="0" t="0" r="r" b="b"/>
              <a:pathLst>
                <a:path w="476250" h="161925" fill="none">
                  <a:moveTo>
                    <a:pt x="0" y="161925"/>
                  </a:moveTo>
                  <a:cubicBezTo>
                    <a:pt x="219075" y="161925"/>
                    <a:pt x="247650" y="0"/>
                    <a:pt x="476250" y="0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Arrowhead (36)"/>
            <p:cNvSpPr/>
            <p:nvPr/>
          </p:nvSpPr>
          <p:spPr>
            <a:xfrm>
              <a:off x="5019675" y="1957388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urved response connector (37)"/>
            <p:cNvSpPr/>
            <p:nvPr/>
          </p:nvSpPr>
          <p:spPr>
            <a:xfrm>
              <a:off x="4638675" y="2190750"/>
              <a:ext cx="485775" cy="809625"/>
            </a:xfrm>
            <a:custGeom>
              <a:avLst/>
              <a:gdLst/>
              <a:ahLst/>
              <a:cxnLst/>
              <a:rect l="0" t="0" r="r" b="b"/>
              <a:pathLst>
                <a:path w="485775" h="809625" fill="none">
                  <a:moveTo>
                    <a:pt x="0" y="0"/>
                  </a:moveTo>
                  <a:cubicBezTo>
                    <a:pt x="466725" y="0"/>
                    <a:pt x="38100" y="523875"/>
                    <a:pt x="485775" y="809625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Arrowhead (38)"/>
            <p:cNvSpPr/>
            <p:nvPr/>
          </p:nvSpPr>
          <p:spPr>
            <a:xfrm>
              <a:off x="5002870" y="2875249"/>
              <a:ext cx="159680" cy="129489"/>
            </a:xfrm>
            <a:custGeom>
              <a:avLst/>
              <a:gdLst/>
              <a:ahLst/>
              <a:cxnLst/>
              <a:rect l="0" t="0" r="r" b="b"/>
              <a:pathLst>
                <a:path w="159680" h="129489">
                  <a:moveTo>
                    <a:pt x="159680" y="125126"/>
                  </a:moveTo>
                  <a:lnTo>
                    <a:pt x="0" y="129489"/>
                  </a:lnTo>
                  <a:lnTo>
                    <a:pt x="60382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Response y1 (44)"/>
          <p:cNvGrpSpPr/>
          <p:nvPr/>
        </p:nvGrpSpPr>
        <p:grpSpPr>
          <a:xfrm>
            <a:off x="5172075" y="1114425"/>
            <a:ext cx="2047875" cy="571290"/>
            <a:chOff x="5172075" y="1114425"/>
            <a:chExt cx="2047875" cy="571290"/>
          </a:xfrm>
        </p:grpSpPr>
        <p:sp>
          <p:nvSpPr>
            <p:cNvPr id="41" name="Response box (40)"/>
            <p:cNvSpPr/>
            <p:nvPr/>
          </p:nvSpPr>
          <p:spPr>
            <a:xfrm>
              <a:off x="5172075" y="111442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sponse (41)"/>
            <p:cNvSpPr txBox="1"/>
            <p:nvPr/>
          </p:nvSpPr>
          <p:spPr>
            <a:xfrm>
              <a:off x="5332705" y="1200055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43" name="𝑦 (42)"/>
            <p:cNvSpPr txBox="1"/>
            <p:nvPr/>
          </p:nvSpPr>
          <p:spPr>
            <a:xfrm>
              <a:off x="6682765" y="1124299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44" name="1 (43)"/>
            <p:cNvSpPr txBox="1"/>
            <p:nvPr/>
          </p:nvSpPr>
          <p:spPr>
            <a:xfrm>
              <a:off x="6883375" y="1066698"/>
              <a:ext cx="19050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1</a:t>
              </a:r>
            </a:p>
          </p:txBody>
        </p:sp>
      </p:grpSp>
      <p:grpSp>
        <p:nvGrpSpPr>
          <p:cNvPr id="50" name="Response y2 (49)"/>
          <p:cNvGrpSpPr/>
          <p:nvPr/>
        </p:nvGrpSpPr>
        <p:grpSpPr>
          <a:xfrm>
            <a:off x="5172075" y="1762125"/>
            <a:ext cx="2047875" cy="571290"/>
            <a:chOff x="5172075" y="1762125"/>
            <a:chExt cx="2047875" cy="571290"/>
          </a:xfrm>
        </p:grpSpPr>
        <p:sp>
          <p:nvSpPr>
            <p:cNvPr id="46" name="Response box (45)"/>
            <p:cNvSpPr/>
            <p:nvPr/>
          </p:nvSpPr>
          <p:spPr>
            <a:xfrm>
              <a:off x="5172075" y="176212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sponse (46)"/>
            <p:cNvSpPr txBox="1"/>
            <p:nvPr/>
          </p:nvSpPr>
          <p:spPr>
            <a:xfrm>
              <a:off x="5332705" y="1847463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48" name="𝑦 (47)"/>
            <p:cNvSpPr txBox="1"/>
            <p:nvPr/>
          </p:nvSpPr>
          <p:spPr>
            <a:xfrm>
              <a:off x="6682765" y="1772049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49" name="2 (48)"/>
            <p:cNvSpPr txBox="1"/>
            <p:nvPr/>
          </p:nvSpPr>
          <p:spPr>
            <a:xfrm>
              <a:off x="6883375" y="1714449"/>
              <a:ext cx="19050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2</a:t>
              </a:r>
            </a:p>
          </p:txBody>
        </p:sp>
      </p:grpSp>
      <p:grpSp>
        <p:nvGrpSpPr>
          <p:cNvPr id="55" name="Response y𝐺 (54)"/>
          <p:cNvGrpSpPr/>
          <p:nvPr/>
        </p:nvGrpSpPr>
        <p:grpSpPr>
          <a:xfrm>
            <a:off x="5162550" y="2733675"/>
            <a:ext cx="2047875" cy="571290"/>
            <a:chOff x="5162550" y="2733675"/>
            <a:chExt cx="2047875" cy="571290"/>
          </a:xfrm>
        </p:grpSpPr>
        <p:sp>
          <p:nvSpPr>
            <p:cNvPr id="51" name="Response box (50)"/>
            <p:cNvSpPr/>
            <p:nvPr/>
          </p:nvSpPr>
          <p:spPr>
            <a:xfrm>
              <a:off x="5162550" y="273367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sponse (51)"/>
            <p:cNvSpPr txBox="1"/>
            <p:nvPr/>
          </p:nvSpPr>
          <p:spPr>
            <a:xfrm>
              <a:off x="5322659" y="2819279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53" name="𝑦 (52)"/>
            <p:cNvSpPr txBox="1"/>
            <p:nvPr/>
          </p:nvSpPr>
          <p:spPr>
            <a:xfrm>
              <a:off x="6672720" y="2743511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54" name="𝐺 (53)"/>
            <p:cNvSpPr txBox="1"/>
            <p:nvPr/>
          </p:nvSpPr>
          <p:spPr>
            <a:xfrm>
              <a:off x="6873329" y="2685910"/>
              <a:ext cx="261327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𝐺</a:t>
              </a:r>
            </a:p>
          </p:txBody>
        </p:sp>
      </p:grpSp>
      <p:grpSp>
        <p:nvGrpSpPr>
          <p:cNvPr id="59" name="Ellipsis (58)"/>
          <p:cNvGrpSpPr/>
          <p:nvPr/>
        </p:nvGrpSpPr>
        <p:grpSpPr>
          <a:xfrm>
            <a:off x="6050280" y="2487930"/>
            <a:ext cx="339090" cy="53340"/>
            <a:chOff x="6050280" y="2487930"/>
            <a:chExt cx="339090" cy="53340"/>
          </a:xfrm>
        </p:grpSpPr>
        <p:sp>
          <p:nvSpPr>
            <p:cNvPr id="56" name="Ellipsis dot (55)"/>
            <p:cNvSpPr/>
            <p:nvPr/>
          </p:nvSpPr>
          <p:spPr>
            <a:xfrm>
              <a:off x="6050280" y="24879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Ellipsis dot (56)"/>
            <p:cNvSpPr/>
            <p:nvPr/>
          </p:nvSpPr>
          <p:spPr>
            <a:xfrm>
              <a:off x="6193155" y="24879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Ellipsis dot (57)"/>
            <p:cNvSpPr/>
            <p:nvPr/>
          </p:nvSpPr>
          <p:spPr>
            <a:xfrm>
              <a:off x="6336030" y="24879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Connector arrow (59)"/>
          <p:cNvSpPr/>
          <p:nvPr/>
        </p:nvSpPr>
        <p:spPr>
          <a:xfrm>
            <a:off x="7219950" y="138112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onnector arrow head (60)"/>
          <p:cNvSpPr/>
          <p:nvPr/>
        </p:nvSpPr>
        <p:spPr>
          <a:xfrm>
            <a:off x="7620000" y="130968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onnector arrow (61)"/>
          <p:cNvSpPr/>
          <p:nvPr/>
        </p:nvSpPr>
        <p:spPr>
          <a:xfrm>
            <a:off x="7219950" y="202882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onnector arrow head (62)"/>
          <p:cNvSpPr/>
          <p:nvPr/>
        </p:nvSpPr>
        <p:spPr>
          <a:xfrm>
            <a:off x="7620000" y="195738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onnector arrow (63)"/>
          <p:cNvSpPr/>
          <p:nvPr/>
        </p:nvSpPr>
        <p:spPr>
          <a:xfrm>
            <a:off x="7219950" y="30003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onnector arrow head (64)"/>
          <p:cNvSpPr/>
          <p:nvPr/>
        </p:nvSpPr>
        <p:spPr>
          <a:xfrm>
            <a:off x="7620000" y="292893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5" name="Upper grouped rewards (84)"/>
          <p:cNvGrpSpPr/>
          <p:nvPr/>
        </p:nvGrpSpPr>
        <p:grpSpPr>
          <a:xfrm>
            <a:off x="7762875" y="605466"/>
            <a:ext cx="1583159" cy="2733732"/>
            <a:chOff x="7762875" y="605466"/>
            <a:chExt cx="1583159" cy="2733732"/>
          </a:xfrm>
        </p:grpSpPr>
        <p:sp>
          <p:nvSpPr>
            <p:cNvPr id="66" name="Reward group dashed green container (65)"/>
            <p:cNvSpPr/>
            <p:nvPr/>
          </p:nvSpPr>
          <p:spPr>
            <a:xfrm>
              <a:off x="7762875" y="1028700"/>
              <a:ext cx="1571625" cy="2295525"/>
            </a:xfrm>
            <a:custGeom>
              <a:avLst/>
              <a:gdLst/>
              <a:ahLst/>
              <a:cxnLst/>
              <a:rect l="0" t="0" r="r" b="b"/>
              <a:pathLst>
                <a:path w="1571625" h="22955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2143125"/>
                  </a:lnTo>
                  <a:cubicBezTo>
                    <a:pt x="1571625" y="2227293"/>
                    <a:pt x="1503393" y="2295525"/>
                    <a:pt x="1419225" y="2295525"/>
                  </a:cubicBezTo>
                  <a:lnTo>
                    <a:pt x="152400" y="2295525"/>
                  </a:lnTo>
                  <a:cubicBezTo>
                    <a:pt x="68232" y="2295525"/>
                    <a:pt x="0" y="2227293"/>
                    <a:pt x="0" y="21431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3F3DA"/>
            </a:solidFill>
            <a:ln w="35242" cap="rnd">
              <a:solidFill>
                <a:srgbClr val="89D970"/>
              </a:solidFill>
              <a:custDash>
                <a:ds d="378378" sp="243243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ℛ (66)"/>
            <p:cNvSpPr txBox="1"/>
            <p:nvPr/>
          </p:nvSpPr>
          <p:spPr>
            <a:xfrm>
              <a:off x="7988338" y="533660"/>
              <a:ext cx="370537" cy="5200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68" name="group (67)"/>
            <p:cNvSpPr txBox="1"/>
            <p:nvPr/>
          </p:nvSpPr>
          <p:spPr>
            <a:xfrm>
              <a:off x="8271104" y="701432"/>
              <a:ext cx="746403" cy="37964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3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group</a:t>
              </a:r>
            </a:p>
          </p:txBody>
        </p:sp>
        <p:grpSp>
          <p:nvGrpSpPr>
            <p:cNvPr id="72" name="Reward R(x, y1) (71)"/>
            <p:cNvGrpSpPr/>
            <p:nvPr/>
          </p:nvGrpSpPr>
          <p:grpSpPr>
            <a:xfrm>
              <a:off x="7934325" y="1133468"/>
              <a:ext cx="1342236" cy="576955"/>
              <a:chOff x="7934325" y="1133468"/>
              <a:chExt cx="1342236" cy="576955"/>
            </a:xfrm>
          </p:grpSpPr>
          <p:sp>
            <p:nvSpPr>
              <p:cNvPr id="69" name="ℛ(𝑥, 𝑦 (68)"/>
              <p:cNvSpPr txBox="1"/>
              <p:nvPr/>
            </p:nvSpPr>
            <p:spPr>
              <a:xfrm>
                <a:off x="7900772" y="1133119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70" name="1 (69)"/>
              <p:cNvSpPr txBox="1"/>
              <p:nvPr/>
            </p:nvSpPr>
            <p:spPr>
              <a:xfrm>
                <a:off x="8896082" y="1086833"/>
                <a:ext cx="188119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1</a:t>
                </a:r>
              </a:p>
            </p:txBody>
          </p:sp>
          <p:sp>
            <p:nvSpPr>
              <p:cNvPr id="71" name=") (70)"/>
              <p:cNvSpPr txBox="1"/>
              <p:nvPr/>
            </p:nvSpPr>
            <p:spPr>
              <a:xfrm>
                <a:off x="9035947" y="1133119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76" name="Reward R(x, y2) (75)"/>
            <p:cNvGrpSpPr/>
            <p:nvPr/>
          </p:nvGrpSpPr>
          <p:grpSpPr>
            <a:xfrm>
              <a:off x="7934325" y="1781168"/>
              <a:ext cx="1342236" cy="576955"/>
              <a:chOff x="7934325" y="1781168"/>
              <a:chExt cx="1342236" cy="576955"/>
            </a:xfrm>
          </p:grpSpPr>
          <p:sp>
            <p:nvSpPr>
              <p:cNvPr id="73" name="ℛ(𝑥, 𝑦 (72)"/>
              <p:cNvSpPr txBox="1"/>
              <p:nvPr/>
            </p:nvSpPr>
            <p:spPr>
              <a:xfrm>
                <a:off x="7900772" y="1782318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74" name="2 (73)"/>
              <p:cNvSpPr txBox="1"/>
              <p:nvPr/>
            </p:nvSpPr>
            <p:spPr>
              <a:xfrm>
                <a:off x="8896082" y="1734597"/>
                <a:ext cx="188119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2</a:t>
                </a:r>
              </a:p>
            </p:txBody>
          </p:sp>
          <p:sp>
            <p:nvSpPr>
              <p:cNvPr id="75" name=") (74)"/>
              <p:cNvSpPr txBox="1"/>
              <p:nvPr/>
            </p:nvSpPr>
            <p:spPr>
              <a:xfrm>
                <a:off x="9035947" y="1782318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80" name="Reward R(x, y𝐺) (79)"/>
            <p:cNvGrpSpPr/>
            <p:nvPr/>
          </p:nvGrpSpPr>
          <p:grpSpPr>
            <a:xfrm>
              <a:off x="7934325" y="2762243"/>
              <a:ext cx="1411709" cy="576955"/>
              <a:chOff x="7934325" y="2762243"/>
              <a:chExt cx="1411709" cy="576955"/>
            </a:xfrm>
          </p:grpSpPr>
          <p:sp>
            <p:nvSpPr>
              <p:cNvPr id="77" name="ℛ(𝑥, 𝑦 (76)"/>
              <p:cNvSpPr txBox="1"/>
              <p:nvPr/>
            </p:nvSpPr>
            <p:spPr>
              <a:xfrm>
                <a:off x="7900772" y="2762745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78" name="𝐺 (77)"/>
              <p:cNvSpPr txBox="1"/>
              <p:nvPr/>
            </p:nvSpPr>
            <p:spPr>
              <a:xfrm>
                <a:off x="8896082" y="2715024"/>
                <a:ext cx="257592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𝐺</a:t>
                </a:r>
              </a:p>
            </p:txBody>
          </p:sp>
          <p:sp>
            <p:nvSpPr>
              <p:cNvPr id="79" name=") (78)"/>
              <p:cNvSpPr txBox="1"/>
              <p:nvPr/>
            </p:nvSpPr>
            <p:spPr>
              <a:xfrm>
                <a:off x="9105056" y="2762745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84" name="Ellipsis (83)"/>
            <p:cNvGrpSpPr/>
            <p:nvPr/>
          </p:nvGrpSpPr>
          <p:grpSpPr>
            <a:xfrm>
              <a:off x="8393430" y="2487930"/>
              <a:ext cx="339090" cy="53340"/>
              <a:chOff x="8393430" y="2487930"/>
              <a:chExt cx="339090" cy="53340"/>
            </a:xfrm>
          </p:grpSpPr>
          <p:sp>
            <p:nvSpPr>
              <p:cNvPr id="81" name="Ellipsis dot (80)"/>
              <p:cNvSpPr/>
              <p:nvPr/>
            </p:nvSpPr>
            <p:spPr>
              <a:xfrm>
                <a:off x="8393430" y="24879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Ellipsis dot (81)"/>
              <p:cNvSpPr/>
              <p:nvPr/>
            </p:nvSpPr>
            <p:spPr>
              <a:xfrm>
                <a:off x="8536305" y="24879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Ellipsis dot (82)"/>
              <p:cNvSpPr/>
              <p:nvPr/>
            </p:nvSpPr>
            <p:spPr>
              <a:xfrm>
                <a:off x="8679180" y="24879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0" name="Advantage normalization formula (99)"/>
          <p:cNvGrpSpPr/>
          <p:nvPr/>
        </p:nvGrpSpPr>
        <p:grpSpPr>
          <a:xfrm>
            <a:off x="9582150" y="322421"/>
            <a:ext cx="3819525" cy="1066800"/>
            <a:chOff x="9582150" y="322421"/>
            <a:chExt cx="3819525" cy="1066800"/>
          </a:xfrm>
        </p:grpSpPr>
        <p:sp>
          <p:nvSpPr>
            <p:cNvPr id="86" name="Advantage formula backdrop (85)"/>
            <p:cNvSpPr/>
            <p:nvPr/>
          </p:nvSpPr>
          <p:spPr>
            <a:xfrm>
              <a:off x="9582150" y="333375"/>
              <a:ext cx="3819525" cy="981075"/>
            </a:xfrm>
            <a:custGeom>
              <a:avLst/>
              <a:gdLst/>
              <a:ahLst/>
              <a:cxnLst/>
              <a:rect l="0" t="0" r="r" b="b"/>
              <a:pathLst>
                <a:path w="3819525" h="981075">
                  <a:moveTo>
                    <a:pt x="514350" y="0"/>
                  </a:moveTo>
                  <a:lnTo>
                    <a:pt x="3305175" y="0"/>
                  </a:lnTo>
                  <a:cubicBezTo>
                    <a:pt x="3589243" y="0"/>
                    <a:pt x="3819525" y="230282"/>
                    <a:pt x="3819525" y="514350"/>
                  </a:cubicBezTo>
                  <a:lnTo>
                    <a:pt x="3819525" y="466725"/>
                  </a:lnTo>
                  <a:cubicBezTo>
                    <a:pt x="3819525" y="750793"/>
                    <a:pt x="3589243" y="981075"/>
                    <a:pt x="3305175" y="981075"/>
                  </a:cubicBezTo>
                  <a:lnTo>
                    <a:pt x="514350" y="981075"/>
                  </a:lnTo>
                  <a:cubicBezTo>
                    <a:pt x="230282" y="981075"/>
                    <a:pt x="0" y="750793"/>
                    <a:pt x="0" y="466725"/>
                  </a:cubicBezTo>
                  <a:lnTo>
                    <a:pt x="0" y="514350"/>
                  </a:lnTo>
                  <a:cubicBezTo>
                    <a:pt x="0" y="230282"/>
                    <a:pt x="230282" y="0"/>
                    <a:pt x="514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𝐴 (86)"/>
            <p:cNvSpPr txBox="1"/>
            <p:nvPr/>
          </p:nvSpPr>
          <p:spPr>
            <a:xfrm>
              <a:off x="9702660" y="533432"/>
              <a:ext cx="373856" cy="57340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2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𝐴</a:t>
              </a:r>
            </a:p>
          </p:txBody>
        </p:sp>
        <p:sp>
          <p:nvSpPr>
            <p:cNvPr id="88" name="ˆ (87)"/>
            <p:cNvSpPr txBox="1"/>
            <p:nvPr/>
          </p:nvSpPr>
          <p:spPr>
            <a:xfrm>
              <a:off x="9855175" y="533057"/>
              <a:ext cx="19050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ˆ</a:t>
              </a:r>
            </a:p>
          </p:txBody>
        </p:sp>
        <p:sp>
          <p:nvSpPr>
            <p:cNvPr id="89" name="(𝑖) (88)"/>
            <p:cNvSpPr txBox="1"/>
            <p:nvPr/>
          </p:nvSpPr>
          <p:spPr>
            <a:xfrm>
              <a:off x="9978276" y="524446"/>
              <a:ext cx="34479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(𝑖)</a:t>
              </a:r>
            </a:p>
          </p:txBody>
        </p:sp>
        <p:sp>
          <p:nvSpPr>
            <p:cNvPr id="90" name="= (89)"/>
            <p:cNvSpPr txBox="1"/>
            <p:nvPr/>
          </p:nvSpPr>
          <p:spPr>
            <a:xfrm>
              <a:off x="10388460" y="552539"/>
              <a:ext cx="363096" cy="5334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=</a:t>
              </a:r>
            </a:p>
          </p:txBody>
        </p:sp>
        <p:sp>
          <p:nvSpPr>
            <p:cNvPr id="91" name="ℛ(𝑥,𝑦 (90)"/>
            <p:cNvSpPr txBox="1"/>
            <p:nvPr/>
          </p:nvSpPr>
          <p:spPr>
            <a:xfrm>
              <a:off x="10815155" y="343242"/>
              <a:ext cx="988561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ℛ(𝑥,𝑦</a:t>
              </a:r>
            </a:p>
          </p:txBody>
        </p:sp>
        <p:sp>
          <p:nvSpPr>
            <p:cNvPr id="92" name="(𝑖) (91)"/>
            <p:cNvSpPr txBox="1"/>
            <p:nvPr/>
          </p:nvSpPr>
          <p:spPr>
            <a:xfrm>
              <a:off x="11750015" y="276612"/>
              <a:ext cx="334089" cy="333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(𝑖)</a:t>
              </a:r>
            </a:p>
          </p:txBody>
        </p:sp>
        <p:sp>
          <p:nvSpPr>
            <p:cNvPr id="93" name=") (92)"/>
            <p:cNvSpPr txBox="1"/>
            <p:nvPr/>
          </p:nvSpPr>
          <p:spPr>
            <a:xfrm>
              <a:off x="12044642" y="343242"/>
              <a:ext cx="207466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)</a:t>
              </a:r>
            </a:p>
          </p:txBody>
        </p:sp>
        <p:sp>
          <p:nvSpPr>
            <p:cNvPr id="94" name="− (93)"/>
            <p:cNvSpPr txBox="1"/>
            <p:nvPr/>
          </p:nvSpPr>
          <p:spPr>
            <a:xfrm>
              <a:off x="12378754" y="362560"/>
              <a:ext cx="333449" cy="4800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−</a:t>
              </a:r>
            </a:p>
          </p:txBody>
        </p:sp>
        <p:sp>
          <p:nvSpPr>
            <p:cNvPr id="95" name="𝜇 (94)"/>
            <p:cNvSpPr txBox="1"/>
            <p:nvPr/>
          </p:nvSpPr>
          <p:spPr>
            <a:xfrm>
              <a:off x="12730442" y="343242"/>
              <a:ext cx="284931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𝜇</a:t>
              </a:r>
            </a:p>
          </p:txBody>
        </p:sp>
        <p:sp>
          <p:nvSpPr>
            <p:cNvPr id="96" name="𝑟 (95)"/>
            <p:cNvSpPr txBox="1"/>
            <p:nvPr/>
          </p:nvSpPr>
          <p:spPr>
            <a:xfrm>
              <a:off x="12940017" y="543248"/>
              <a:ext cx="174069" cy="333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𝑟</a:t>
              </a:r>
            </a:p>
          </p:txBody>
        </p:sp>
        <p:sp>
          <p:nvSpPr>
            <p:cNvPr id="97" name="Fraction bar (96)"/>
            <p:cNvSpPr/>
            <p:nvPr/>
          </p:nvSpPr>
          <p:spPr>
            <a:xfrm>
              <a:off x="10829925" y="838200"/>
              <a:ext cx="2276475" cy="95"/>
            </a:xfrm>
            <a:custGeom>
              <a:avLst/>
              <a:gdLst/>
              <a:ahLst/>
              <a:cxnLst/>
              <a:rect l="0" t="0" r="r" b="b"/>
              <a:pathLst>
                <a:path w="2276475" h="95" fill="none">
                  <a:moveTo>
                    <a:pt x="0" y="0"/>
                  </a:moveTo>
                  <a:lnTo>
                    <a:pt x="2276475" y="0"/>
                  </a:lnTo>
                </a:path>
              </a:pathLst>
            </a:custGeom>
            <a:noFill/>
            <a:ln w="17145" cap="rnd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𝜎 (97)"/>
            <p:cNvSpPr txBox="1"/>
            <p:nvPr/>
          </p:nvSpPr>
          <p:spPr>
            <a:xfrm>
              <a:off x="11760060" y="810501"/>
              <a:ext cx="273353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𝜎</a:t>
              </a:r>
            </a:p>
          </p:txBody>
        </p:sp>
        <p:sp>
          <p:nvSpPr>
            <p:cNvPr id="99" name="𝑟 (98)"/>
            <p:cNvSpPr txBox="1"/>
            <p:nvPr/>
          </p:nvSpPr>
          <p:spPr>
            <a:xfrm>
              <a:off x="11978615" y="1009415"/>
              <a:ext cx="174069" cy="333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𝑟</a:t>
              </a:r>
            </a:p>
          </p:txBody>
        </p:sp>
      </p:grpSp>
      <p:grpSp>
        <p:nvGrpSpPr>
          <p:cNvPr id="106" name="Relative reward statistics {0.0, 0.0, …, 0.0, 0.0} (105)"/>
          <p:cNvGrpSpPr/>
          <p:nvPr/>
        </p:nvGrpSpPr>
        <p:grpSpPr>
          <a:xfrm>
            <a:off x="9534525" y="1476375"/>
            <a:ext cx="3953813" cy="539457"/>
            <a:chOff x="9534525" y="1476375"/>
            <a:chExt cx="3953813" cy="539457"/>
          </a:xfrm>
        </p:grpSpPr>
        <p:sp>
          <p:nvSpPr>
            <p:cNvPr id="101" name="Reward statistics box (100)"/>
            <p:cNvSpPr/>
            <p:nvPr/>
          </p:nvSpPr>
          <p:spPr>
            <a:xfrm>
              <a:off x="9534525" y="1476375"/>
              <a:ext cx="3876675" cy="533400"/>
            </a:xfrm>
            <a:custGeom>
              <a:avLst/>
              <a:gdLst/>
              <a:ahLst/>
              <a:cxnLst/>
              <a:rect l="0" t="0" r="r" b="b"/>
              <a:pathLst>
                <a:path w="3876675" h="533400">
                  <a:moveTo>
                    <a:pt x="95250" y="0"/>
                  </a:moveTo>
                  <a:lnTo>
                    <a:pt x="3781425" y="0"/>
                  </a:lnTo>
                  <a:cubicBezTo>
                    <a:pt x="3834030" y="0"/>
                    <a:pt x="3876675" y="42645"/>
                    <a:pt x="3876675" y="95250"/>
                  </a:cubicBezTo>
                  <a:lnTo>
                    <a:pt x="3876675" y="438150"/>
                  </a:lnTo>
                  <a:cubicBezTo>
                    <a:pt x="3876675" y="490755"/>
                    <a:pt x="3834030" y="533400"/>
                    <a:pt x="3781425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AFAFA"/>
            </a:solidFill>
            <a:ln w="34290" cap="rnd">
              <a:solidFill>
                <a:srgbClr val="FF7B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ℛ (101)"/>
            <p:cNvSpPr txBox="1"/>
            <p:nvPr/>
          </p:nvSpPr>
          <p:spPr>
            <a:xfrm>
              <a:off x="9559112" y="1524812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103" name="group (102)"/>
            <p:cNvSpPr txBox="1"/>
            <p:nvPr/>
          </p:nvSpPr>
          <p:spPr>
            <a:xfrm>
              <a:off x="9790201" y="1661273"/>
              <a:ext cx="624795" cy="3115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2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group</a:t>
              </a:r>
            </a:p>
          </p:txBody>
        </p:sp>
        <p:sp>
          <p:nvSpPr>
            <p:cNvPr id="104" name="= (103)"/>
            <p:cNvSpPr txBox="1"/>
            <p:nvPr/>
          </p:nvSpPr>
          <p:spPr>
            <a:xfrm>
              <a:off x="10492892" y="1543762"/>
              <a:ext cx="288994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=</a:t>
              </a:r>
            </a:p>
          </p:txBody>
        </p:sp>
        <p:sp>
          <p:nvSpPr>
            <p:cNvPr id="105" name="{0.0, 0.0, …, 0.0, 0.0} (104)"/>
            <p:cNvSpPr txBox="1"/>
            <p:nvPr/>
          </p:nvSpPr>
          <p:spPr>
            <a:xfrm>
              <a:off x="10773537" y="1550583"/>
              <a:ext cx="2686988" cy="3907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7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{0.0, 0.0, …, 0.0, 0.0}</a:t>
              </a:r>
            </a:p>
          </p:txBody>
        </p:sp>
      </p:grpSp>
      <p:grpSp>
        <p:nvGrpSpPr>
          <p:cNvPr id="112" name="Relative reward statistics {1.1, 0.3, …, 1.9, 0.8} (111)"/>
          <p:cNvGrpSpPr/>
          <p:nvPr/>
        </p:nvGrpSpPr>
        <p:grpSpPr>
          <a:xfrm>
            <a:off x="9534525" y="2276475"/>
            <a:ext cx="3953813" cy="539457"/>
            <a:chOff x="9534525" y="2276475"/>
            <a:chExt cx="3953813" cy="539457"/>
          </a:xfrm>
        </p:grpSpPr>
        <p:sp>
          <p:nvSpPr>
            <p:cNvPr id="107" name="Reward statistics box (106)"/>
            <p:cNvSpPr/>
            <p:nvPr/>
          </p:nvSpPr>
          <p:spPr>
            <a:xfrm>
              <a:off x="9534525" y="2276475"/>
              <a:ext cx="3876675" cy="533400"/>
            </a:xfrm>
            <a:custGeom>
              <a:avLst/>
              <a:gdLst/>
              <a:ahLst/>
              <a:cxnLst/>
              <a:rect l="0" t="0" r="r" b="b"/>
              <a:pathLst>
                <a:path w="3876675" h="533400">
                  <a:moveTo>
                    <a:pt x="95250" y="0"/>
                  </a:moveTo>
                  <a:lnTo>
                    <a:pt x="3781425" y="0"/>
                  </a:lnTo>
                  <a:cubicBezTo>
                    <a:pt x="3834030" y="0"/>
                    <a:pt x="3876675" y="42645"/>
                    <a:pt x="3876675" y="95250"/>
                  </a:cubicBezTo>
                  <a:lnTo>
                    <a:pt x="3876675" y="438150"/>
                  </a:lnTo>
                  <a:cubicBezTo>
                    <a:pt x="3876675" y="490755"/>
                    <a:pt x="3834030" y="533400"/>
                    <a:pt x="3781425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AFAFA"/>
            </a:solidFill>
            <a:ln w="34290" cap="rnd">
              <a:solidFill>
                <a:srgbClr val="595B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ℛ (107)"/>
            <p:cNvSpPr txBox="1"/>
            <p:nvPr/>
          </p:nvSpPr>
          <p:spPr>
            <a:xfrm>
              <a:off x="9559112" y="2324735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109" name="group (108)"/>
            <p:cNvSpPr txBox="1"/>
            <p:nvPr/>
          </p:nvSpPr>
          <p:spPr>
            <a:xfrm>
              <a:off x="9790201" y="2461551"/>
              <a:ext cx="624795" cy="3115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2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group</a:t>
              </a:r>
            </a:p>
          </p:txBody>
        </p:sp>
        <p:sp>
          <p:nvSpPr>
            <p:cNvPr id="110" name="= (109)"/>
            <p:cNvSpPr txBox="1"/>
            <p:nvPr/>
          </p:nvSpPr>
          <p:spPr>
            <a:xfrm>
              <a:off x="10492892" y="2342604"/>
              <a:ext cx="288994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=</a:t>
              </a:r>
            </a:p>
          </p:txBody>
        </p:sp>
        <p:sp>
          <p:nvSpPr>
            <p:cNvPr id="111" name="{1.1, 0.3, …, 1.9, 0.8} (110)"/>
            <p:cNvSpPr txBox="1"/>
            <p:nvPr/>
          </p:nvSpPr>
          <p:spPr>
            <a:xfrm>
              <a:off x="10773537" y="2350506"/>
              <a:ext cx="2686988" cy="3907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7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{1.1, 0.3, …, 1.9, 0.8}</a:t>
              </a:r>
            </a:p>
          </p:txBody>
        </p:sp>
      </p:grpSp>
      <p:grpSp>
        <p:nvGrpSpPr>
          <p:cNvPr id="118" name="Relative reward statistics {2.0, 2.0, …, 2.0, 2.0} (117)"/>
          <p:cNvGrpSpPr/>
          <p:nvPr/>
        </p:nvGrpSpPr>
        <p:grpSpPr>
          <a:xfrm>
            <a:off x="9534525" y="3076575"/>
            <a:ext cx="3953813" cy="539457"/>
            <a:chOff x="9534525" y="3076575"/>
            <a:chExt cx="3953813" cy="539457"/>
          </a:xfrm>
        </p:grpSpPr>
        <p:sp>
          <p:nvSpPr>
            <p:cNvPr id="113" name="Reward statistics box (112)"/>
            <p:cNvSpPr/>
            <p:nvPr/>
          </p:nvSpPr>
          <p:spPr>
            <a:xfrm>
              <a:off x="9534525" y="3076575"/>
              <a:ext cx="3876675" cy="533400"/>
            </a:xfrm>
            <a:custGeom>
              <a:avLst/>
              <a:gdLst/>
              <a:ahLst/>
              <a:cxnLst/>
              <a:rect l="0" t="0" r="r" b="b"/>
              <a:pathLst>
                <a:path w="3876675" h="533400">
                  <a:moveTo>
                    <a:pt x="95250" y="0"/>
                  </a:moveTo>
                  <a:lnTo>
                    <a:pt x="3781425" y="0"/>
                  </a:lnTo>
                  <a:cubicBezTo>
                    <a:pt x="3834030" y="0"/>
                    <a:pt x="3876675" y="42645"/>
                    <a:pt x="3876675" y="95250"/>
                  </a:cubicBezTo>
                  <a:lnTo>
                    <a:pt x="3876675" y="438150"/>
                  </a:lnTo>
                  <a:cubicBezTo>
                    <a:pt x="3876675" y="490755"/>
                    <a:pt x="3834030" y="533400"/>
                    <a:pt x="3781425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AFAFA"/>
            </a:solidFill>
            <a:ln w="34290" cap="rnd">
              <a:solidFill>
                <a:srgbClr val="00B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ℛ (113)"/>
            <p:cNvSpPr txBox="1"/>
            <p:nvPr/>
          </p:nvSpPr>
          <p:spPr>
            <a:xfrm>
              <a:off x="9559112" y="3125012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115" name="group (114)"/>
            <p:cNvSpPr txBox="1"/>
            <p:nvPr/>
          </p:nvSpPr>
          <p:spPr>
            <a:xfrm>
              <a:off x="9790201" y="3261473"/>
              <a:ext cx="624795" cy="3115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2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group</a:t>
              </a:r>
            </a:p>
          </p:txBody>
        </p:sp>
        <p:sp>
          <p:nvSpPr>
            <p:cNvPr id="116" name="= (115)"/>
            <p:cNvSpPr txBox="1"/>
            <p:nvPr/>
          </p:nvSpPr>
          <p:spPr>
            <a:xfrm>
              <a:off x="10492892" y="3143962"/>
              <a:ext cx="288994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=</a:t>
              </a:r>
            </a:p>
          </p:txBody>
        </p:sp>
        <p:sp>
          <p:nvSpPr>
            <p:cNvPr id="117" name="{2.0, 2.0, …, 2.0, 2.0} (116)"/>
            <p:cNvSpPr txBox="1"/>
            <p:nvPr/>
          </p:nvSpPr>
          <p:spPr>
            <a:xfrm>
              <a:off x="10773537" y="3150783"/>
              <a:ext cx="2686988" cy="3907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7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{2.0, 2.0, …, 2.0, 2.0}</a:t>
              </a:r>
            </a:p>
          </p:txBody>
        </p:sp>
      </p:grpSp>
      <p:grpSp>
        <p:nvGrpSpPr>
          <p:cNvPr id="156" name="Dynamic global reward (155)"/>
          <p:cNvGrpSpPr/>
          <p:nvPr/>
        </p:nvGrpSpPr>
        <p:grpSpPr>
          <a:xfrm>
            <a:off x="13620750" y="237058"/>
            <a:ext cx="4619625" cy="3620567"/>
            <a:chOff x="13620750" y="237058"/>
            <a:chExt cx="4619625" cy="3620567"/>
          </a:xfrm>
        </p:grpSpPr>
        <p:sp>
          <p:nvSpPr>
            <p:cNvPr id="119" name="Dynamic reward dashed panel (118)"/>
            <p:cNvSpPr/>
            <p:nvPr/>
          </p:nvSpPr>
          <p:spPr>
            <a:xfrm>
              <a:off x="13620750" y="238125"/>
              <a:ext cx="4619625" cy="3619500"/>
            </a:xfrm>
            <a:custGeom>
              <a:avLst/>
              <a:gdLst/>
              <a:ahLst/>
              <a:cxnLst/>
              <a:rect l="0" t="0" r="r" b="b"/>
              <a:pathLst>
                <a:path w="4619625" h="3619500" fill="none">
                  <a:moveTo>
                    <a:pt x="180975" y="0"/>
                  </a:moveTo>
                  <a:lnTo>
                    <a:pt x="4438650" y="0"/>
                  </a:lnTo>
                  <a:cubicBezTo>
                    <a:pt x="4538600" y="0"/>
                    <a:pt x="4619625" y="81025"/>
                    <a:pt x="4619625" y="180975"/>
                  </a:cubicBezTo>
                  <a:lnTo>
                    <a:pt x="4619625" y="3438525"/>
                  </a:lnTo>
                  <a:cubicBezTo>
                    <a:pt x="4619625" y="3538475"/>
                    <a:pt x="4538600" y="3619500"/>
                    <a:pt x="4438650" y="3619500"/>
                  </a:cubicBezTo>
                  <a:lnTo>
                    <a:pt x="180975" y="3619500"/>
                  </a:lnTo>
                  <a:cubicBezTo>
                    <a:pt x="81025" y="3619500"/>
                    <a:pt x="0" y="3538475"/>
                    <a:pt x="0" y="343852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noFill/>
            <a:ln w="33337" cap="rnd">
              <a:solidFill>
                <a:srgbClr val="A6A6A6"/>
              </a:solidFill>
              <a:custDash>
                <a:ds d="400000" sp="342857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ynamic Global Reward (119)"/>
            <p:cNvSpPr txBox="1"/>
            <p:nvPr/>
          </p:nvSpPr>
          <p:spPr>
            <a:xfrm>
              <a:off x="13751433" y="199669"/>
              <a:ext cx="3705136" cy="4800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00" b="1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Dynamic Global Reward</a:t>
              </a:r>
            </a:p>
          </p:txBody>
        </p:sp>
        <p:sp>
          <p:nvSpPr>
            <p:cNvPr id="121" name="Reward plot background (120)"/>
            <p:cNvSpPr/>
            <p:nvPr/>
          </p:nvSpPr>
          <p:spPr>
            <a:xfrm>
              <a:off x="14201775" y="1343025"/>
              <a:ext cx="2762250" cy="1866900"/>
            </a:xfrm>
            <a:custGeom>
              <a:avLst/>
              <a:gdLst/>
              <a:ahLst/>
              <a:cxnLst/>
              <a:rect l="0" t="0" r="r" b="b"/>
              <a:pathLst>
                <a:path w="2762250" h="1866900">
                  <a:moveTo>
                    <a:pt x="0" y="0"/>
                  </a:moveTo>
                  <a:lnTo>
                    <a:pt x="2762250" y="0"/>
                  </a:lnTo>
                  <a:lnTo>
                    <a:pt x="276225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ward chart grid (121)"/>
            <p:cNvSpPr/>
            <p:nvPr/>
          </p:nvSpPr>
          <p:spPr>
            <a:xfrm>
              <a:off x="14201775" y="1533525"/>
              <a:ext cx="2762250" cy="95"/>
            </a:xfrm>
            <a:custGeom>
              <a:avLst/>
              <a:gdLst/>
              <a:ahLst/>
              <a:cxnLst/>
              <a:rect l="0" t="0" r="r" b="b"/>
              <a:pathLst>
                <a:path w="2762250" h="95" fill="none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7" cap="rnd">
              <a:solidFill>
                <a:srgbClr val="E0E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ward chart grid (122)"/>
            <p:cNvSpPr/>
            <p:nvPr/>
          </p:nvSpPr>
          <p:spPr>
            <a:xfrm>
              <a:off x="14201775" y="1876425"/>
              <a:ext cx="2762250" cy="95"/>
            </a:xfrm>
            <a:custGeom>
              <a:avLst/>
              <a:gdLst/>
              <a:ahLst/>
              <a:cxnLst/>
              <a:rect l="0" t="0" r="r" b="b"/>
              <a:pathLst>
                <a:path w="2762250" h="95" fill="none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7" cap="rnd">
              <a:solidFill>
                <a:srgbClr val="E0E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ward chart grid (123)"/>
            <p:cNvSpPr/>
            <p:nvPr/>
          </p:nvSpPr>
          <p:spPr>
            <a:xfrm>
              <a:off x="14201775" y="2219325"/>
              <a:ext cx="2762250" cy="95"/>
            </a:xfrm>
            <a:custGeom>
              <a:avLst/>
              <a:gdLst/>
              <a:ahLst/>
              <a:cxnLst/>
              <a:rect l="0" t="0" r="r" b="b"/>
              <a:pathLst>
                <a:path w="2762250" h="95" fill="none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7" cap="rnd">
              <a:solidFill>
                <a:srgbClr val="E0E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eward chart grid (124)"/>
            <p:cNvSpPr/>
            <p:nvPr/>
          </p:nvSpPr>
          <p:spPr>
            <a:xfrm>
              <a:off x="14201775" y="2562225"/>
              <a:ext cx="2762250" cy="95"/>
            </a:xfrm>
            <a:custGeom>
              <a:avLst/>
              <a:gdLst/>
              <a:ahLst/>
              <a:cxnLst/>
              <a:rect l="0" t="0" r="r" b="b"/>
              <a:pathLst>
                <a:path w="2762250" h="95" fill="none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7" cap="rnd">
              <a:solidFill>
                <a:srgbClr val="E0E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ward chart grid (125)"/>
            <p:cNvSpPr/>
            <p:nvPr/>
          </p:nvSpPr>
          <p:spPr>
            <a:xfrm>
              <a:off x="14201775" y="2905125"/>
              <a:ext cx="2762250" cy="95"/>
            </a:xfrm>
            <a:custGeom>
              <a:avLst/>
              <a:gdLst/>
              <a:ahLst/>
              <a:cxnLst/>
              <a:rect l="0" t="0" r="r" b="b"/>
              <a:pathLst>
                <a:path w="2762250" h="95" fill="none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7" cap="rnd">
              <a:solidFill>
                <a:srgbClr val="E0E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Replay window highlight (126)"/>
            <p:cNvSpPr/>
            <p:nvPr/>
          </p:nvSpPr>
          <p:spPr>
            <a:xfrm>
              <a:off x="15659100" y="1552575"/>
              <a:ext cx="895350" cy="1647825"/>
            </a:xfrm>
            <a:custGeom>
              <a:avLst/>
              <a:gdLst/>
              <a:ahLst/>
              <a:cxnLst/>
              <a:rect l="0" t="0" r="r" b="b"/>
              <a:pathLst>
                <a:path w="895350" h="1647825">
                  <a:moveTo>
                    <a:pt x="0" y="0"/>
                  </a:moveTo>
                  <a:lnTo>
                    <a:pt x="895350" y="0"/>
                  </a:lnTo>
                  <a:lnTo>
                    <a:pt x="895350" y="1647825"/>
                  </a:lnTo>
                  <a:lnTo>
                    <a:pt x="0" y="1647825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Highlighted grid (127)"/>
            <p:cNvSpPr/>
            <p:nvPr/>
          </p:nvSpPr>
          <p:spPr>
            <a:xfrm>
              <a:off x="15659100" y="1876425"/>
              <a:ext cx="895350" cy="95"/>
            </a:xfrm>
            <a:custGeom>
              <a:avLst/>
              <a:gdLst/>
              <a:ahLst/>
              <a:cxnLst/>
              <a:rect l="0" t="0" r="r" b="b"/>
              <a:pathLst>
                <a:path w="895350" h="95" fill="none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2382" cap="rnd">
              <a:solidFill>
                <a:srgbClr val="E5E5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Highlighted grid (128)"/>
            <p:cNvSpPr/>
            <p:nvPr/>
          </p:nvSpPr>
          <p:spPr>
            <a:xfrm>
              <a:off x="15659100" y="2219325"/>
              <a:ext cx="895350" cy="95"/>
            </a:xfrm>
            <a:custGeom>
              <a:avLst/>
              <a:gdLst/>
              <a:ahLst/>
              <a:cxnLst/>
              <a:rect l="0" t="0" r="r" b="b"/>
              <a:pathLst>
                <a:path w="895350" h="95" fill="none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2382" cap="rnd">
              <a:solidFill>
                <a:srgbClr val="E5E5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Highlighted grid (129)"/>
            <p:cNvSpPr/>
            <p:nvPr/>
          </p:nvSpPr>
          <p:spPr>
            <a:xfrm>
              <a:off x="15659100" y="2562225"/>
              <a:ext cx="895350" cy="95"/>
            </a:xfrm>
            <a:custGeom>
              <a:avLst/>
              <a:gdLst/>
              <a:ahLst/>
              <a:cxnLst/>
              <a:rect l="0" t="0" r="r" b="b"/>
              <a:pathLst>
                <a:path w="895350" h="95" fill="none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2382" cap="rnd">
              <a:solidFill>
                <a:srgbClr val="E5E5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Highlighted grid (130)"/>
            <p:cNvSpPr/>
            <p:nvPr/>
          </p:nvSpPr>
          <p:spPr>
            <a:xfrm>
              <a:off x="15659100" y="2905125"/>
              <a:ext cx="895350" cy="95"/>
            </a:xfrm>
            <a:custGeom>
              <a:avLst/>
              <a:gdLst/>
              <a:ahLst/>
              <a:cxnLst/>
              <a:rect l="0" t="0" r="r" b="b"/>
              <a:pathLst>
                <a:path w="895350" h="95" fill="none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2382" cap="rnd">
              <a:solidFill>
                <a:srgbClr val="E5E5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ward trajectory (131)"/>
            <p:cNvSpPr/>
            <p:nvPr/>
          </p:nvSpPr>
          <p:spPr>
            <a:xfrm>
              <a:off x="14201775" y="1819275"/>
              <a:ext cx="2352675" cy="1257300"/>
            </a:xfrm>
            <a:custGeom>
              <a:avLst/>
              <a:gdLst/>
              <a:ahLst/>
              <a:cxnLst/>
              <a:rect l="0" t="0" r="r" b="b"/>
              <a:pathLst>
                <a:path w="2352675" h="1257300" fill="none">
                  <a:moveTo>
                    <a:pt x="0" y="1219200"/>
                  </a:moveTo>
                  <a:lnTo>
                    <a:pt x="295275" y="1257300"/>
                  </a:lnTo>
                  <a:lnTo>
                    <a:pt x="923925" y="571500"/>
                  </a:lnTo>
                  <a:lnTo>
                    <a:pt x="1543050" y="228600"/>
                  </a:lnTo>
                  <a:lnTo>
                    <a:pt x="1857375" y="295275"/>
                  </a:lnTo>
                  <a:lnTo>
                    <a:pt x="2162175" y="95250"/>
                  </a:lnTo>
                  <a:lnTo>
                    <a:pt x="2352675" y="0"/>
                  </a:lnTo>
                </a:path>
              </a:pathLst>
            </a:custGeom>
            <a:noFill/>
            <a:ln w="18097" cap="rnd">
              <a:solidFill>
                <a:srgbClr val="2478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ward vertical axis (132)"/>
            <p:cNvSpPr/>
            <p:nvPr/>
          </p:nvSpPr>
          <p:spPr>
            <a:xfrm>
              <a:off x="14197012" y="1190625"/>
              <a:ext cx="95" cy="2028825"/>
            </a:xfrm>
            <a:custGeom>
              <a:avLst/>
              <a:gdLst/>
              <a:ahLst/>
              <a:cxnLst/>
              <a:rect l="0" t="0" r="r" b="b"/>
              <a:pathLst>
                <a:path w="95" h="2028825" fill="none">
                  <a:moveTo>
                    <a:pt x="0" y="2028825"/>
                  </a:move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ward vertical axis head (133)"/>
            <p:cNvSpPr/>
            <p:nvPr/>
          </p:nvSpPr>
          <p:spPr>
            <a:xfrm>
              <a:off x="14125575" y="1190625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71438" y="0"/>
                  </a:moveTo>
                  <a:lnTo>
                    <a:pt x="14287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Iteration horizontal axis (134)"/>
            <p:cNvSpPr/>
            <p:nvPr/>
          </p:nvSpPr>
          <p:spPr>
            <a:xfrm>
              <a:off x="14197012" y="3219450"/>
              <a:ext cx="2909888" cy="95"/>
            </a:xfrm>
            <a:custGeom>
              <a:avLst/>
              <a:gdLst/>
              <a:ahLst/>
              <a:cxnLst/>
              <a:rect l="0" t="0" r="r" b="b"/>
              <a:pathLst>
                <a:path w="2909888" h="95" fill="none">
                  <a:moveTo>
                    <a:pt x="0" y="0"/>
                  </a:moveTo>
                  <a:lnTo>
                    <a:pt x="2909888" y="0"/>
                  </a:lnTo>
                </a:path>
              </a:pathLst>
            </a:custGeom>
            <a:noFill/>
            <a:ln w="24765" cap="rnd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Iteration horizontal axis head (135)"/>
            <p:cNvSpPr/>
            <p:nvPr/>
          </p:nvSpPr>
          <p:spPr>
            <a:xfrm>
              <a:off x="16964025" y="3148012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eward (136)"/>
            <p:cNvSpPr txBox="1"/>
            <p:nvPr/>
          </p:nvSpPr>
          <p:spPr>
            <a:xfrm>
              <a:off x="13806335" y="896023"/>
              <a:ext cx="788759" cy="29337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0" i="0" u="none">
                  <a:solidFill>
                    <a:srgbClr val="000000"/>
                  </a:solidFill>
                  <a:latin typeface="Liberation Sans"/>
                  <a:ea typeface="Liberation Sans"/>
                  <a:cs typeface="Liberation Sans"/>
                </a:rPr>
                <a:t>Reward</a:t>
              </a:r>
            </a:p>
          </p:txBody>
        </p:sp>
        <p:sp>
          <p:nvSpPr>
            <p:cNvPr id="138" name="Iteration (137)"/>
            <p:cNvSpPr txBox="1"/>
            <p:nvPr/>
          </p:nvSpPr>
          <p:spPr>
            <a:xfrm>
              <a:off x="17188320" y="3076174"/>
              <a:ext cx="789444" cy="2800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0" i="0" u="none">
                  <a:solidFill>
                    <a:srgbClr val="000000"/>
                  </a:solidFill>
                  <a:latin typeface="Liberation Sans"/>
                  <a:ea typeface="Liberation Sans"/>
                  <a:cs typeface="Liberation Sans"/>
                </a:rPr>
                <a:t>Iteration</a:t>
              </a:r>
            </a:p>
          </p:txBody>
        </p:sp>
        <p:sp>
          <p:nvSpPr>
            <p:cNvPr id="139" name="Replay window width (138)"/>
            <p:cNvSpPr/>
            <p:nvPr/>
          </p:nvSpPr>
          <p:spPr>
            <a:xfrm>
              <a:off x="15697200" y="3019425"/>
              <a:ext cx="838200" cy="95"/>
            </a:xfrm>
            <a:custGeom>
              <a:avLst/>
              <a:gdLst/>
              <a:ahLst/>
              <a:cxnLst/>
              <a:rect l="0" t="0" r="r" b="b"/>
              <a:pathLst>
                <a:path w="838200" h="95" fill="none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23812" cap="rnd">
              <a:solidFill>
                <a:srgbClr val="FF537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Window left arrow (139)"/>
            <p:cNvSpPr/>
            <p:nvPr/>
          </p:nvSpPr>
          <p:spPr>
            <a:xfrm>
              <a:off x="15687675" y="2933700"/>
              <a:ext cx="142875" cy="171450"/>
            </a:xfrm>
            <a:custGeom>
              <a:avLst/>
              <a:gdLst/>
              <a:ahLst/>
              <a:cxnLst/>
              <a:rect l="0" t="0" r="r" b="b"/>
              <a:pathLst>
                <a:path w="142875" h="171450" fill="none">
                  <a:moveTo>
                    <a:pt x="142875" y="0"/>
                  </a:moveTo>
                  <a:lnTo>
                    <a:pt x="0" y="85725"/>
                  </a:lnTo>
                  <a:lnTo>
                    <a:pt x="142875" y="171450"/>
                  </a:lnTo>
                </a:path>
              </a:pathLst>
            </a:custGeom>
            <a:noFill/>
            <a:ln w="23812" cap="rnd">
              <a:solidFill>
                <a:srgbClr val="FF537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Window right arrow (140)"/>
            <p:cNvSpPr/>
            <p:nvPr/>
          </p:nvSpPr>
          <p:spPr>
            <a:xfrm>
              <a:off x="16392525" y="2933700"/>
              <a:ext cx="142875" cy="171450"/>
            </a:xfrm>
            <a:custGeom>
              <a:avLst/>
              <a:gdLst/>
              <a:ahLst/>
              <a:cxnLst/>
              <a:rect l="0" t="0" r="r" b="b"/>
              <a:pathLst>
                <a:path w="142875" h="171450" fill="none">
                  <a:moveTo>
                    <a:pt x="0" y="0"/>
                  </a:moveTo>
                  <a:lnTo>
                    <a:pt x="142875" y="85725"/>
                  </a:ln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rgbClr val="FF537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𝔹 (141)"/>
            <p:cNvSpPr txBox="1"/>
            <p:nvPr/>
          </p:nvSpPr>
          <p:spPr>
            <a:xfrm>
              <a:off x="15863735" y="2515133"/>
              <a:ext cx="297954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𝔹</a:t>
              </a:r>
            </a:p>
          </p:txBody>
        </p:sp>
        <p:sp>
          <p:nvSpPr>
            <p:cNvPr id="143" name="𝑊 (142)"/>
            <p:cNvSpPr txBox="1"/>
            <p:nvPr/>
          </p:nvSpPr>
          <p:spPr>
            <a:xfrm>
              <a:off x="16131451" y="2429090"/>
              <a:ext cx="33642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𝑊</a:t>
              </a:r>
            </a:p>
          </p:txBody>
        </p:sp>
        <p:grpSp>
          <p:nvGrpSpPr>
            <p:cNvPr id="153" name="Replay buffer icon (152)"/>
            <p:cNvGrpSpPr/>
            <p:nvPr/>
          </p:nvGrpSpPr>
          <p:grpSpPr>
            <a:xfrm>
              <a:off x="17392650" y="1733550"/>
              <a:ext cx="361950" cy="476250"/>
              <a:chOff x="17392650" y="1733550"/>
              <a:chExt cx="361950" cy="476250"/>
            </a:xfrm>
          </p:grpSpPr>
          <p:sp>
            <p:nvSpPr>
              <p:cNvPr id="144" name="Database body (143)"/>
              <p:cNvSpPr/>
              <p:nvPr/>
            </p:nvSpPr>
            <p:spPr>
              <a:xfrm>
                <a:off x="17402175" y="1790700"/>
                <a:ext cx="342900" cy="352425"/>
              </a:xfrm>
              <a:custGeom>
                <a:avLst/>
                <a:gdLst/>
                <a:ahLst/>
                <a:cxnLst/>
                <a:rect l="0" t="0" r="r" b="b"/>
                <a:pathLst>
                  <a:path w="342900" h="352425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52425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Database base (144)"/>
              <p:cNvSpPr/>
              <p:nvPr/>
            </p:nvSpPr>
            <p:spPr>
              <a:xfrm>
                <a:off x="17402175" y="2085975"/>
                <a:ext cx="342900" cy="123825"/>
              </a:xfrm>
              <a:custGeom>
                <a:avLst/>
                <a:gdLst/>
                <a:ahLst/>
                <a:cxnLst/>
                <a:rect l="0" t="0" r="r" b="b"/>
                <a:pathLst>
                  <a:path w="342900" h="123825">
                    <a:moveTo>
                      <a:pt x="342900" y="61912"/>
                    </a:moveTo>
                    <a:cubicBezTo>
                      <a:pt x="342900" y="96106"/>
                      <a:pt x="266139" y="123825"/>
                      <a:pt x="171450" y="123825"/>
                    </a:cubicBezTo>
                    <a:cubicBezTo>
                      <a:pt x="76761" y="123825"/>
                      <a:pt x="0" y="96106"/>
                      <a:pt x="0" y="61912"/>
                    </a:cubicBezTo>
                    <a:cubicBezTo>
                      <a:pt x="0" y="27719"/>
                      <a:pt x="76761" y="0"/>
                      <a:pt x="171450" y="0"/>
                    </a:cubicBezTo>
                    <a:cubicBezTo>
                      <a:pt x="266139" y="0"/>
                      <a:pt x="342900" y="27719"/>
                      <a:pt x="342900" y="6191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Database separator (145)"/>
              <p:cNvSpPr/>
              <p:nvPr/>
            </p:nvSpPr>
            <p:spPr>
              <a:xfrm>
                <a:off x="17402175" y="1790700"/>
                <a:ext cx="342900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342900" h="85725" fill="none">
                    <a:moveTo>
                      <a:pt x="0" y="0"/>
                    </a:moveTo>
                    <a:cubicBezTo>
                      <a:pt x="0" y="85725"/>
                      <a:pt x="342900" y="85725"/>
                      <a:pt x="342900" y="0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Database separator (146)"/>
              <p:cNvSpPr/>
              <p:nvPr/>
            </p:nvSpPr>
            <p:spPr>
              <a:xfrm>
                <a:off x="17402175" y="1914525"/>
                <a:ext cx="342900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342900" h="85725" fill="none">
                    <a:moveTo>
                      <a:pt x="0" y="0"/>
                    </a:moveTo>
                    <a:cubicBezTo>
                      <a:pt x="0" y="85725"/>
                      <a:pt x="342900" y="85725"/>
                      <a:pt x="342900" y="0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Database separator (147)"/>
              <p:cNvSpPr/>
              <p:nvPr/>
            </p:nvSpPr>
            <p:spPr>
              <a:xfrm>
                <a:off x="17402175" y="2038350"/>
                <a:ext cx="342900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342900" h="85725" fill="none">
                    <a:moveTo>
                      <a:pt x="0" y="0"/>
                    </a:moveTo>
                    <a:cubicBezTo>
                      <a:pt x="0" y="85725"/>
                      <a:pt x="342900" y="85725"/>
                      <a:pt x="342900" y="0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Database top (148)"/>
              <p:cNvSpPr/>
              <p:nvPr/>
            </p:nvSpPr>
            <p:spPr>
              <a:xfrm>
                <a:off x="17392650" y="1733550"/>
                <a:ext cx="361950" cy="123825"/>
              </a:xfrm>
              <a:custGeom>
                <a:avLst/>
                <a:gdLst/>
                <a:ahLst/>
                <a:cxnLst/>
                <a:rect l="0" t="0" r="r" b="b"/>
                <a:pathLst>
                  <a:path w="361950" h="123825">
                    <a:moveTo>
                      <a:pt x="361950" y="61912"/>
                    </a:moveTo>
                    <a:cubicBezTo>
                      <a:pt x="361950" y="96106"/>
                      <a:pt x="280925" y="123825"/>
                      <a:pt x="180975" y="123825"/>
                    </a:cubicBezTo>
                    <a:cubicBezTo>
                      <a:pt x="81025" y="123825"/>
                      <a:pt x="0" y="96106"/>
                      <a:pt x="0" y="61912"/>
                    </a:cubicBezTo>
                    <a:cubicBezTo>
                      <a:pt x="0" y="27719"/>
                      <a:pt x="81025" y="0"/>
                      <a:pt x="180975" y="0"/>
                    </a:cubicBezTo>
                    <a:cubicBezTo>
                      <a:pt x="280925" y="0"/>
                      <a:pt x="361950" y="27719"/>
                      <a:pt x="361950" y="6191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192" cap="rnd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Buffer status light (149)"/>
              <p:cNvSpPr/>
              <p:nvPr/>
            </p:nvSpPr>
            <p:spPr>
              <a:xfrm>
                <a:off x="17678400" y="1895475"/>
                <a:ext cx="26670" cy="26670"/>
              </a:xfrm>
              <a:custGeom>
                <a:avLst/>
                <a:gdLst/>
                <a:ahLst/>
                <a:cxnLst/>
                <a:rect l="0" t="0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Buffer status light (150)"/>
              <p:cNvSpPr/>
              <p:nvPr/>
            </p:nvSpPr>
            <p:spPr>
              <a:xfrm>
                <a:off x="17678400" y="2019300"/>
                <a:ext cx="26670" cy="26670"/>
              </a:xfrm>
              <a:custGeom>
                <a:avLst/>
                <a:gdLst/>
                <a:ahLst/>
                <a:cxnLst/>
                <a:rect l="0" t="0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Buffer status light (151)"/>
              <p:cNvSpPr/>
              <p:nvPr/>
            </p:nvSpPr>
            <p:spPr>
              <a:xfrm>
                <a:off x="17678400" y="2133600"/>
                <a:ext cx="26670" cy="26670"/>
              </a:xfrm>
              <a:custGeom>
                <a:avLst/>
                <a:gdLst/>
                <a:ahLst/>
                <a:cxnLst/>
                <a:rect l="0" t="0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4" name="Replay (153)"/>
            <p:cNvSpPr txBox="1"/>
            <p:nvPr/>
          </p:nvSpPr>
          <p:spPr>
            <a:xfrm>
              <a:off x="17207344" y="2282972"/>
              <a:ext cx="793730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Replay</a:t>
              </a:r>
            </a:p>
          </p:txBody>
        </p:sp>
        <p:sp>
          <p:nvSpPr>
            <p:cNvPr id="155" name="Buffer (154)"/>
            <p:cNvSpPr txBox="1"/>
            <p:nvPr/>
          </p:nvSpPr>
          <p:spPr>
            <a:xfrm>
              <a:off x="17207344" y="2549608"/>
              <a:ext cx="836682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Buffer</a:t>
              </a:r>
            </a:p>
          </p:txBody>
        </p:sp>
      </p:grpSp>
      <p:sp>
        <p:nvSpPr>
          <p:cNvPr id="157" name="Difficulty Decreasement Augmentation (156)"/>
          <p:cNvSpPr txBox="1"/>
          <p:nvPr/>
        </p:nvSpPr>
        <p:spPr>
          <a:xfrm>
            <a:off x="214528" y="4728053"/>
            <a:ext cx="5691947" cy="4747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7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Difficulty Decreasement Augmentation</a:t>
            </a:r>
          </a:p>
        </p:txBody>
      </p:sp>
      <p:sp>
        <p:nvSpPr>
          <p:cNvPr id="158" name="Difficulty Increasement Augmentation (157)"/>
          <p:cNvSpPr txBox="1"/>
          <p:nvPr/>
        </p:nvSpPr>
        <p:spPr>
          <a:xfrm>
            <a:off x="9892170" y="4728053"/>
            <a:ext cx="5617101" cy="4747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7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Difficulty Increasement Augmentation</a:t>
            </a:r>
          </a:p>
        </p:txBody>
      </p:sp>
      <p:sp>
        <p:nvSpPr>
          <p:cNvPr id="159" name="Lower panel divider (158)"/>
          <p:cNvSpPr/>
          <p:nvPr/>
        </p:nvSpPr>
        <p:spPr>
          <a:xfrm>
            <a:off x="9810750" y="4791075"/>
            <a:ext cx="95" cy="3905250"/>
          </a:xfrm>
          <a:custGeom>
            <a:avLst/>
            <a:gdLst/>
            <a:ahLst/>
            <a:cxnLst/>
            <a:rect l="0" t="0" r="r" b="b"/>
            <a:pathLst>
              <a:path w="95" h="3905250" fill="none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0955" cap="rnd">
            <a:solidFill>
              <a:srgbClr val="959595"/>
            </a:solidFill>
            <a:custDash>
              <a:ds d="45454" sp="18181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3" name="Ground truth video and question (172)"/>
          <p:cNvGrpSpPr/>
          <p:nvPr/>
        </p:nvGrpSpPr>
        <p:grpSpPr>
          <a:xfrm>
            <a:off x="219075" y="5210175"/>
            <a:ext cx="2781300" cy="2362200"/>
            <a:chOff x="219075" y="5210175"/>
            <a:chExt cx="2781300" cy="2362200"/>
          </a:xfrm>
        </p:grpSpPr>
        <p:sp>
          <p:nvSpPr>
            <p:cNvPr id="160" name="Ground truth question card (159)"/>
            <p:cNvSpPr/>
            <p:nvPr/>
          </p:nvSpPr>
          <p:spPr>
            <a:xfrm>
              <a:off x="219075" y="5210175"/>
              <a:ext cx="2781300" cy="2362200"/>
            </a:xfrm>
            <a:custGeom>
              <a:avLst/>
              <a:gdLst/>
              <a:ahLst/>
              <a:cxnLst/>
              <a:rect l="0" t="0" r="r" b="b"/>
              <a:pathLst>
                <a:path w="2781300" h="2362200">
                  <a:moveTo>
                    <a:pt x="123825" y="0"/>
                  </a:moveTo>
                  <a:lnTo>
                    <a:pt x="2657475" y="0"/>
                  </a:lnTo>
                  <a:cubicBezTo>
                    <a:pt x="2725862" y="0"/>
                    <a:pt x="2781300" y="55438"/>
                    <a:pt x="2781300" y="123825"/>
                  </a:cubicBezTo>
                  <a:lnTo>
                    <a:pt x="2781300" y="2238375"/>
                  </a:lnTo>
                  <a:cubicBezTo>
                    <a:pt x="2781300" y="2306762"/>
                    <a:pt x="2725862" y="2362200"/>
                    <a:pt x="2657475" y="2362200"/>
                  </a:cubicBezTo>
                  <a:lnTo>
                    <a:pt x="123825" y="2362200"/>
                  </a:lnTo>
                  <a:cubicBezTo>
                    <a:pt x="55438" y="2362200"/>
                    <a:pt x="0" y="2306762"/>
                    <a:pt x="0" y="223837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AFAFA"/>
            </a:solidFill>
            <a:ln w="38100" cap="rnd">
              <a:solidFill>
                <a:srgbClr val="F1F1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61" name="Video frames — video_bottom_a (160)" descr="video_bottom_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5286375"/>
              <a:ext cx="1009650" cy="971550"/>
            </a:xfrm>
            <a:prstGeom prst="rect">
              <a:avLst/>
            </a:prstGeom>
          </p:spPr>
        </p:pic>
        <p:pic>
          <p:nvPicPr>
            <p:cNvPr id="162" name="Video frames — video_bottom_b (161)" descr="video_bottom_b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47850" y="5276850"/>
              <a:ext cx="990600" cy="1000125"/>
            </a:xfrm>
            <a:prstGeom prst="rect">
              <a:avLst/>
            </a:prstGeom>
          </p:spPr>
        </p:pic>
        <p:grpSp>
          <p:nvGrpSpPr>
            <p:cNvPr id="166" name="Ellipsis (165)"/>
            <p:cNvGrpSpPr/>
            <p:nvPr/>
          </p:nvGrpSpPr>
          <p:grpSpPr>
            <a:xfrm>
              <a:off x="1449705" y="5783580"/>
              <a:ext cx="339090" cy="53340"/>
              <a:chOff x="1449705" y="5783580"/>
              <a:chExt cx="339090" cy="53340"/>
            </a:xfrm>
          </p:grpSpPr>
          <p:sp>
            <p:nvSpPr>
              <p:cNvPr id="163" name="Ellipsis dot (162)"/>
              <p:cNvSpPr/>
              <p:nvPr/>
            </p:nvSpPr>
            <p:spPr>
              <a:xfrm>
                <a:off x="1449705" y="57835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Ellipsis dot (163)"/>
              <p:cNvSpPr/>
              <p:nvPr/>
            </p:nvSpPr>
            <p:spPr>
              <a:xfrm>
                <a:off x="1592580" y="57835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Ellipsis dot (164)"/>
              <p:cNvSpPr/>
              <p:nvPr/>
            </p:nvSpPr>
            <p:spPr>
              <a:xfrm>
                <a:off x="1735455" y="57835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67" name="Question: (166)"/>
            <p:cNvSpPr txBox="1"/>
            <p:nvPr/>
          </p:nvSpPr>
          <p:spPr>
            <a:xfrm>
              <a:off x="300990" y="6363335"/>
              <a:ext cx="1102444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Question:</a:t>
              </a:r>
            </a:p>
          </p:txBody>
        </p:sp>
        <p:sp>
          <p:nvSpPr>
            <p:cNvPr id="168" name="What action (167)"/>
            <p:cNvSpPr txBox="1"/>
            <p:nvPr/>
          </p:nvSpPr>
          <p:spPr>
            <a:xfrm>
              <a:off x="1360018" y="6363335"/>
              <a:ext cx="1375470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What action</a:t>
              </a:r>
            </a:p>
          </p:txBody>
        </p:sp>
        <p:sp>
          <p:nvSpPr>
            <p:cNvPr id="169" name="should I take next in (168)"/>
            <p:cNvSpPr txBox="1"/>
            <p:nvPr/>
          </p:nvSpPr>
          <p:spPr>
            <a:xfrm>
              <a:off x="303505" y="6629971"/>
              <a:ext cx="2288902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should I take next in</a:t>
              </a:r>
            </a:p>
          </p:txBody>
        </p:sp>
        <p:sp>
          <p:nvSpPr>
            <p:cNvPr id="170" name="order to eat the celery? (169)"/>
            <p:cNvSpPr txBox="1"/>
            <p:nvPr/>
          </p:nvSpPr>
          <p:spPr>
            <a:xfrm>
              <a:off x="302425" y="6915632"/>
              <a:ext cx="2661374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B77928"/>
                  </a:solidFill>
                  <a:latin typeface="Comic Sans MS"/>
                  <a:ea typeface="Comic Sans MS"/>
                  <a:cs typeface="Comic Sans MS"/>
                </a:rPr>
                <a:t>order to eat the celery?</a:t>
              </a:r>
            </a:p>
          </p:txBody>
        </p:sp>
        <p:sp>
          <p:nvSpPr>
            <p:cNvPr id="171" name="GT: (170)"/>
            <p:cNvSpPr txBox="1"/>
            <p:nvPr/>
          </p:nvSpPr>
          <p:spPr>
            <a:xfrm>
              <a:off x="300990" y="7210260"/>
              <a:ext cx="445740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GT:</a:t>
              </a:r>
            </a:p>
          </p:txBody>
        </p:sp>
        <p:sp>
          <p:nvSpPr>
            <p:cNvPr id="172" name="B. pick up celery (171)"/>
            <p:cNvSpPr txBox="1"/>
            <p:nvPr/>
          </p:nvSpPr>
          <p:spPr>
            <a:xfrm>
              <a:off x="748144" y="7210260"/>
              <a:ext cx="1800299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BF50"/>
                  </a:solidFill>
                  <a:latin typeface="Comic Sans MS"/>
                  <a:ea typeface="Comic Sans MS"/>
                  <a:cs typeface="Comic Sans MS"/>
                </a:rPr>
                <a:t>B. pick up celery</a:t>
              </a:r>
            </a:p>
          </p:txBody>
        </p:sp>
      </p:grpSp>
      <p:sp>
        <p:nvSpPr>
          <p:cNvPr id="174" name="Connector arrow (173)"/>
          <p:cNvSpPr/>
          <p:nvPr/>
        </p:nvSpPr>
        <p:spPr>
          <a:xfrm>
            <a:off x="3019425" y="6438900"/>
            <a:ext cx="304800" cy="95"/>
          </a:xfrm>
          <a:custGeom>
            <a:avLst/>
            <a:gdLst/>
            <a:ahLst/>
            <a:cxnLst/>
            <a:rect l="0" t="0" r="r" b="b"/>
            <a:pathLst>
              <a:path w="304800" h="95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onnector arrow head (174)"/>
          <p:cNvSpPr/>
          <p:nvPr/>
        </p:nvSpPr>
        <p:spPr>
          <a:xfrm>
            <a:off x="3181350" y="6367462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9" name="Video LLM (178)"/>
          <p:cNvGrpSpPr/>
          <p:nvPr/>
        </p:nvGrpSpPr>
        <p:grpSpPr>
          <a:xfrm>
            <a:off x="3333750" y="5905500"/>
            <a:ext cx="1304925" cy="1066800"/>
            <a:chOff x="3333750" y="5905500"/>
            <a:chExt cx="1304925" cy="1066800"/>
          </a:xfrm>
        </p:grpSpPr>
        <p:sp>
          <p:nvSpPr>
            <p:cNvPr id="176" name="Video LLM box (175)"/>
            <p:cNvSpPr/>
            <p:nvPr/>
          </p:nvSpPr>
          <p:spPr>
            <a:xfrm>
              <a:off x="3333750" y="5905500"/>
              <a:ext cx="1304925" cy="1066800"/>
            </a:xfrm>
            <a:custGeom>
              <a:avLst/>
              <a:gdLst/>
              <a:ahLst/>
              <a:cxnLst/>
              <a:rect l="0" t="0" r="r" b="b"/>
              <a:pathLst>
                <a:path w="1304925" h="1066800">
                  <a:moveTo>
                    <a:pt x="123825" y="0"/>
                  </a:moveTo>
                  <a:lnTo>
                    <a:pt x="1181100" y="0"/>
                  </a:lnTo>
                  <a:cubicBezTo>
                    <a:pt x="1249487" y="0"/>
                    <a:pt x="1304925" y="55438"/>
                    <a:pt x="1304925" y="123825"/>
                  </a:cubicBezTo>
                  <a:lnTo>
                    <a:pt x="1304925" y="942975"/>
                  </a:lnTo>
                  <a:cubicBezTo>
                    <a:pt x="1304925" y="1011362"/>
                    <a:pt x="1249487" y="1066800"/>
                    <a:pt x="1181100" y="1066800"/>
                  </a:cubicBezTo>
                  <a:lnTo>
                    <a:pt x="123825" y="1066800"/>
                  </a:lnTo>
                  <a:cubicBezTo>
                    <a:pt x="55438" y="1066800"/>
                    <a:pt x="0" y="1011362"/>
                    <a:pt x="0" y="94297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FF6DF"/>
            </a:solidFill>
            <a:ln w="38100" cap="rnd">
              <a:solidFill>
                <a:srgbClr val="FFE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Video (176)"/>
            <p:cNvSpPr txBox="1"/>
            <p:nvPr/>
          </p:nvSpPr>
          <p:spPr>
            <a:xfrm>
              <a:off x="3587877" y="6081994"/>
              <a:ext cx="794802" cy="3933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12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Video</a:t>
              </a:r>
            </a:p>
          </p:txBody>
        </p:sp>
        <p:sp>
          <p:nvSpPr>
            <p:cNvPr id="178" name="LLM (177)"/>
            <p:cNvSpPr txBox="1"/>
            <p:nvPr/>
          </p:nvSpPr>
          <p:spPr>
            <a:xfrm>
              <a:off x="3652469" y="6435117"/>
              <a:ext cx="624274" cy="3933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12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LLM</a:t>
              </a:r>
            </a:p>
          </p:txBody>
        </p:sp>
      </p:grpSp>
      <p:grpSp>
        <p:nvGrpSpPr>
          <p:cNvPr id="186" name="Video LLM to generated responses (185)"/>
          <p:cNvGrpSpPr/>
          <p:nvPr/>
        </p:nvGrpSpPr>
        <p:grpSpPr>
          <a:xfrm>
            <a:off x="4638675" y="5624912"/>
            <a:ext cx="523875" cy="1618451"/>
            <a:chOff x="4638675" y="5624912"/>
            <a:chExt cx="523875" cy="1618451"/>
          </a:xfrm>
        </p:grpSpPr>
        <p:sp>
          <p:nvSpPr>
            <p:cNvPr id="180" name="Curved response connector (179)"/>
            <p:cNvSpPr/>
            <p:nvPr/>
          </p:nvSpPr>
          <p:spPr>
            <a:xfrm>
              <a:off x="4638675" y="5629275"/>
              <a:ext cx="485775" cy="809625"/>
            </a:xfrm>
            <a:custGeom>
              <a:avLst/>
              <a:gdLst/>
              <a:ahLst/>
              <a:cxnLst/>
              <a:rect l="0" t="0" r="r" b="b"/>
              <a:pathLst>
                <a:path w="485775" h="809625" fill="none">
                  <a:moveTo>
                    <a:pt x="0" y="809625"/>
                  </a:moveTo>
                  <a:cubicBezTo>
                    <a:pt x="466725" y="809625"/>
                    <a:pt x="38100" y="285750"/>
                    <a:pt x="485775" y="0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Arrowhead (180)"/>
            <p:cNvSpPr/>
            <p:nvPr/>
          </p:nvSpPr>
          <p:spPr>
            <a:xfrm>
              <a:off x="5002870" y="5624912"/>
              <a:ext cx="159680" cy="129489"/>
            </a:xfrm>
            <a:custGeom>
              <a:avLst/>
              <a:gdLst/>
              <a:ahLst/>
              <a:cxnLst/>
              <a:rect l="0" t="0" r="r" b="b"/>
              <a:pathLst>
                <a:path w="159680" h="129489">
                  <a:moveTo>
                    <a:pt x="159680" y="4363"/>
                  </a:moveTo>
                  <a:lnTo>
                    <a:pt x="60382" y="129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urved response connector (181)"/>
            <p:cNvSpPr/>
            <p:nvPr/>
          </p:nvSpPr>
          <p:spPr>
            <a:xfrm>
              <a:off x="4638675" y="6276975"/>
              <a:ext cx="476250" cy="161925"/>
            </a:xfrm>
            <a:custGeom>
              <a:avLst/>
              <a:gdLst/>
              <a:ahLst/>
              <a:cxnLst/>
              <a:rect l="0" t="0" r="r" b="b"/>
              <a:pathLst>
                <a:path w="476250" h="161925" fill="none">
                  <a:moveTo>
                    <a:pt x="0" y="161925"/>
                  </a:moveTo>
                  <a:cubicBezTo>
                    <a:pt x="219075" y="161925"/>
                    <a:pt x="247650" y="0"/>
                    <a:pt x="476250" y="0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Arrowhead (182)"/>
            <p:cNvSpPr/>
            <p:nvPr/>
          </p:nvSpPr>
          <p:spPr>
            <a:xfrm>
              <a:off x="5019675" y="6205538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urved response connector (183)"/>
            <p:cNvSpPr/>
            <p:nvPr/>
          </p:nvSpPr>
          <p:spPr>
            <a:xfrm>
              <a:off x="4638675" y="6438900"/>
              <a:ext cx="485775" cy="800100"/>
            </a:xfrm>
            <a:custGeom>
              <a:avLst/>
              <a:gdLst/>
              <a:ahLst/>
              <a:cxnLst/>
              <a:rect l="0" t="0" r="r" b="b"/>
              <a:pathLst>
                <a:path w="485775" h="800100" fill="none">
                  <a:moveTo>
                    <a:pt x="0" y="0"/>
                  </a:moveTo>
                  <a:cubicBezTo>
                    <a:pt x="466725" y="0"/>
                    <a:pt x="38100" y="514350"/>
                    <a:pt x="485775" y="800100"/>
                  </a:cubicBezTo>
                </a:path>
              </a:pathLst>
            </a:custGeom>
            <a:noFill/>
            <a:ln w="28575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Arrowhead (184)"/>
            <p:cNvSpPr/>
            <p:nvPr/>
          </p:nvSpPr>
          <p:spPr>
            <a:xfrm>
              <a:off x="5002870" y="7113874"/>
              <a:ext cx="159680" cy="129489"/>
            </a:xfrm>
            <a:custGeom>
              <a:avLst/>
              <a:gdLst/>
              <a:ahLst/>
              <a:cxnLst/>
              <a:rect l="0" t="0" r="r" b="b"/>
              <a:pathLst>
                <a:path w="159680" h="129489">
                  <a:moveTo>
                    <a:pt x="159680" y="125126"/>
                  </a:moveTo>
                  <a:lnTo>
                    <a:pt x="0" y="129489"/>
                  </a:lnTo>
                  <a:lnTo>
                    <a:pt x="60382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2" name="Response y1 with ground truth (191)"/>
          <p:cNvGrpSpPr/>
          <p:nvPr/>
        </p:nvGrpSpPr>
        <p:grpSpPr>
          <a:xfrm>
            <a:off x="5172075" y="5381625"/>
            <a:ext cx="2047875" cy="571290"/>
            <a:chOff x="5172075" y="5381625"/>
            <a:chExt cx="2047875" cy="571290"/>
          </a:xfrm>
        </p:grpSpPr>
        <p:sp>
          <p:nvSpPr>
            <p:cNvPr id="187" name="Response box (186)"/>
            <p:cNvSpPr/>
            <p:nvPr/>
          </p:nvSpPr>
          <p:spPr>
            <a:xfrm>
              <a:off x="5172075" y="538162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sponse (187)"/>
            <p:cNvSpPr txBox="1"/>
            <p:nvPr/>
          </p:nvSpPr>
          <p:spPr>
            <a:xfrm>
              <a:off x="5332705" y="5467014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189" name="𝑦 (188)"/>
            <p:cNvSpPr txBox="1"/>
            <p:nvPr/>
          </p:nvSpPr>
          <p:spPr>
            <a:xfrm>
              <a:off x="6682765" y="5391613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190" name="1 (189)"/>
            <p:cNvSpPr txBox="1"/>
            <p:nvPr/>
          </p:nvSpPr>
          <p:spPr>
            <a:xfrm>
              <a:off x="6883375" y="5333657"/>
              <a:ext cx="19050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1</a:t>
              </a:r>
            </a:p>
          </p:txBody>
        </p:sp>
        <p:sp>
          <p:nvSpPr>
            <p:cNvPr id="191" name="gt (190)"/>
            <p:cNvSpPr txBox="1"/>
            <p:nvPr/>
          </p:nvSpPr>
          <p:spPr>
            <a:xfrm>
              <a:off x="6864363" y="5600732"/>
              <a:ext cx="261431" cy="30670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gt</a:t>
              </a:r>
            </a:p>
          </p:txBody>
        </p:sp>
      </p:grpSp>
      <p:grpSp>
        <p:nvGrpSpPr>
          <p:cNvPr id="198" name="Response y2 with ground truth (197)"/>
          <p:cNvGrpSpPr/>
          <p:nvPr/>
        </p:nvGrpSpPr>
        <p:grpSpPr>
          <a:xfrm>
            <a:off x="5172075" y="6029325"/>
            <a:ext cx="2047875" cy="571290"/>
            <a:chOff x="5172075" y="6029325"/>
            <a:chExt cx="2047875" cy="571290"/>
          </a:xfrm>
        </p:grpSpPr>
        <p:sp>
          <p:nvSpPr>
            <p:cNvPr id="193" name="Response box (192)"/>
            <p:cNvSpPr/>
            <p:nvPr/>
          </p:nvSpPr>
          <p:spPr>
            <a:xfrm>
              <a:off x="5172075" y="602932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sponse (193)"/>
            <p:cNvSpPr txBox="1"/>
            <p:nvPr/>
          </p:nvSpPr>
          <p:spPr>
            <a:xfrm>
              <a:off x="5332705" y="6116212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195" name="𝑦 (194)"/>
            <p:cNvSpPr txBox="1"/>
            <p:nvPr/>
          </p:nvSpPr>
          <p:spPr>
            <a:xfrm>
              <a:off x="6682765" y="6039376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196" name="2 (195)"/>
            <p:cNvSpPr txBox="1"/>
            <p:nvPr/>
          </p:nvSpPr>
          <p:spPr>
            <a:xfrm>
              <a:off x="6883375" y="5981408"/>
              <a:ext cx="190500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2</a:t>
              </a:r>
            </a:p>
          </p:txBody>
        </p:sp>
        <p:sp>
          <p:nvSpPr>
            <p:cNvPr id="197" name="gt (196)"/>
            <p:cNvSpPr txBox="1"/>
            <p:nvPr/>
          </p:nvSpPr>
          <p:spPr>
            <a:xfrm>
              <a:off x="6864363" y="6248496"/>
              <a:ext cx="261431" cy="30670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gt</a:t>
              </a:r>
            </a:p>
          </p:txBody>
        </p:sp>
      </p:grpSp>
      <p:grpSp>
        <p:nvGrpSpPr>
          <p:cNvPr id="204" name="Response y𝐺 with ground truth (203)"/>
          <p:cNvGrpSpPr/>
          <p:nvPr/>
        </p:nvGrpSpPr>
        <p:grpSpPr>
          <a:xfrm>
            <a:off x="5172075" y="6981825"/>
            <a:ext cx="2047875" cy="571290"/>
            <a:chOff x="5172075" y="6981825"/>
            <a:chExt cx="2047875" cy="571290"/>
          </a:xfrm>
        </p:grpSpPr>
        <p:sp>
          <p:nvSpPr>
            <p:cNvPr id="199" name="Response box (198)"/>
            <p:cNvSpPr/>
            <p:nvPr/>
          </p:nvSpPr>
          <p:spPr>
            <a:xfrm>
              <a:off x="5172075" y="6981825"/>
              <a:ext cx="2047875" cy="523875"/>
            </a:xfrm>
            <a:custGeom>
              <a:avLst/>
              <a:gdLst/>
              <a:ahLst/>
              <a:cxnLst/>
              <a:rect l="0" t="0" r="r" b="b"/>
              <a:pathLst>
                <a:path w="2047875" h="523875">
                  <a:moveTo>
                    <a:pt x="9525" y="0"/>
                  </a:moveTo>
                  <a:lnTo>
                    <a:pt x="2038350" y="0"/>
                  </a:lnTo>
                  <a:cubicBezTo>
                    <a:pt x="2043611" y="0"/>
                    <a:pt x="2047875" y="4264"/>
                    <a:pt x="2047875" y="9525"/>
                  </a:cubicBezTo>
                  <a:lnTo>
                    <a:pt x="2047875" y="514350"/>
                  </a:lnTo>
                  <a:cubicBezTo>
                    <a:pt x="2047875" y="519611"/>
                    <a:pt x="2043611" y="523875"/>
                    <a:pt x="2038350" y="523875"/>
                  </a:cubicBezTo>
                  <a:lnTo>
                    <a:pt x="9525" y="523875"/>
                  </a:lnTo>
                  <a:cubicBezTo>
                    <a:pt x="4264" y="523875"/>
                    <a:pt x="0" y="519611"/>
                    <a:pt x="0" y="514350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4777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sponse (199)"/>
            <p:cNvSpPr txBox="1"/>
            <p:nvPr/>
          </p:nvSpPr>
          <p:spPr>
            <a:xfrm>
              <a:off x="5332705" y="7067214"/>
              <a:ext cx="1290206" cy="4000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0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Response</a:t>
              </a:r>
            </a:p>
          </p:txBody>
        </p:sp>
        <p:sp>
          <p:nvSpPr>
            <p:cNvPr id="201" name="𝑦 (200)"/>
            <p:cNvSpPr txBox="1"/>
            <p:nvPr/>
          </p:nvSpPr>
          <p:spPr>
            <a:xfrm>
              <a:off x="6682765" y="6991813"/>
              <a:ext cx="239360" cy="4933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202" name="𝐺 (201)"/>
            <p:cNvSpPr txBox="1"/>
            <p:nvPr/>
          </p:nvSpPr>
          <p:spPr>
            <a:xfrm>
              <a:off x="6883375" y="6933857"/>
              <a:ext cx="261327" cy="34671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𝐺</a:t>
              </a:r>
            </a:p>
          </p:txBody>
        </p:sp>
        <p:sp>
          <p:nvSpPr>
            <p:cNvPr id="203" name="gt (202)"/>
            <p:cNvSpPr txBox="1"/>
            <p:nvPr/>
          </p:nvSpPr>
          <p:spPr>
            <a:xfrm>
              <a:off x="6864363" y="7200932"/>
              <a:ext cx="261431" cy="30670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gt</a:t>
              </a:r>
            </a:p>
          </p:txBody>
        </p:sp>
      </p:grpSp>
      <p:grpSp>
        <p:nvGrpSpPr>
          <p:cNvPr id="208" name="Ellipsis (207)"/>
          <p:cNvGrpSpPr/>
          <p:nvPr/>
        </p:nvGrpSpPr>
        <p:grpSpPr>
          <a:xfrm>
            <a:off x="6050280" y="6717030"/>
            <a:ext cx="339090" cy="53340"/>
            <a:chOff x="6050280" y="6717030"/>
            <a:chExt cx="339090" cy="53340"/>
          </a:xfrm>
        </p:grpSpPr>
        <p:sp>
          <p:nvSpPr>
            <p:cNvPr id="205" name="Ellipsis dot (204)"/>
            <p:cNvSpPr/>
            <p:nvPr/>
          </p:nvSpPr>
          <p:spPr>
            <a:xfrm>
              <a:off x="6050280" y="67170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Ellipsis dot (205)"/>
            <p:cNvSpPr/>
            <p:nvPr/>
          </p:nvSpPr>
          <p:spPr>
            <a:xfrm>
              <a:off x="6193155" y="67170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Ellipsis dot (206)"/>
            <p:cNvSpPr/>
            <p:nvPr/>
          </p:nvSpPr>
          <p:spPr>
            <a:xfrm>
              <a:off x="6336030" y="671703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53340" y="26670"/>
                  </a:moveTo>
                  <a:cubicBezTo>
                    <a:pt x="53340" y="41399"/>
                    <a:pt x="41399" y="53340"/>
                    <a:pt x="26670" y="53340"/>
                  </a:cubicBezTo>
                  <a:cubicBezTo>
                    <a:pt x="11941" y="53340"/>
                    <a:pt x="0" y="41399"/>
                    <a:pt x="0" y="26670"/>
                  </a:cubicBezTo>
                  <a:cubicBezTo>
                    <a:pt x="0" y="11941"/>
                    <a:pt x="11941" y="0"/>
                    <a:pt x="26670" y="0"/>
                  </a:cubicBezTo>
                  <a:cubicBezTo>
                    <a:pt x="41399" y="0"/>
                    <a:pt x="53340" y="11941"/>
                    <a:pt x="53340" y="266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9" name="Connector arrow (208)"/>
          <p:cNvSpPr/>
          <p:nvPr/>
        </p:nvSpPr>
        <p:spPr>
          <a:xfrm>
            <a:off x="7219950" y="56292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Connector arrow head (209)"/>
          <p:cNvSpPr/>
          <p:nvPr/>
        </p:nvSpPr>
        <p:spPr>
          <a:xfrm>
            <a:off x="7620000" y="555783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onnector arrow (210)"/>
          <p:cNvSpPr/>
          <p:nvPr/>
        </p:nvSpPr>
        <p:spPr>
          <a:xfrm>
            <a:off x="7219950" y="62769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onnector arrow head (211)"/>
          <p:cNvSpPr/>
          <p:nvPr/>
        </p:nvSpPr>
        <p:spPr>
          <a:xfrm>
            <a:off x="7620000" y="6205538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onnector arrow (212)"/>
          <p:cNvSpPr/>
          <p:nvPr/>
        </p:nvSpPr>
        <p:spPr>
          <a:xfrm>
            <a:off x="7219950" y="7239000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 fill="none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8575" cap="rnd">
            <a:solidFill>
              <a:srgbClr val="5B5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onnector arrow head (213)"/>
          <p:cNvSpPr/>
          <p:nvPr/>
        </p:nvSpPr>
        <p:spPr>
          <a:xfrm>
            <a:off x="7620000" y="7167562"/>
            <a:ext cx="142875" cy="142875"/>
          </a:xfrm>
          <a:custGeom>
            <a:avLst/>
            <a:gdLst/>
            <a:ahLst/>
            <a:cxnLst/>
            <a:rect l="0" t="0" r="r" b="b"/>
            <a:pathLst>
              <a:path w="142875" h="142875">
                <a:moveTo>
                  <a:pt x="142875" y="71438"/>
                </a:move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5B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8" name="Ground truth grouped rewards (237)"/>
          <p:cNvGrpSpPr/>
          <p:nvPr/>
        </p:nvGrpSpPr>
        <p:grpSpPr>
          <a:xfrm>
            <a:off x="7696200" y="4853616"/>
            <a:ext cx="1695450" cy="2726954"/>
            <a:chOff x="7696200" y="4853616"/>
            <a:chExt cx="1695450" cy="2726954"/>
          </a:xfrm>
        </p:grpSpPr>
        <p:sp>
          <p:nvSpPr>
            <p:cNvPr id="215" name="Ground truth reward group (214)"/>
            <p:cNvSpPr/>
            <p:nvPr/>
          </p:nvSpPr>
          <p:spPr>
            <a:xfrm>
              <a:off x="7762875" y="5267325"/>
              <a:ext cx="1571625" cy="2286000"/>
            </a:xfrm>
            <a:custGeom>
              <a:avLst/>
              <a:gdLst/>
              <a:ahLst/>
              <a:cxnLst/>
              <a:rect l="0" t="0" r="r" b="b"/>
              <a:pathLst>
                <a:path w="1571625" h="2286000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2133600"/>
                  </a:lnTo>
                  <a:cubicBezTo>
                    <a:pt x="1571625" y="2217768"/>
                    <a:pt x="1503393" y="2286000"/>
                    <a:pt x="1419225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3F3DA"/>
            </a:solidFill>
            <a:ln w="35242" cap="rnd">
              <a:solidFill>
                <a:srgbClr val="89D970"/>
              </a:solidFill>
              <a:custDash>
                <a:ds d="378378" sp="243243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ℛ (215)"/>
            <p:cNvSpPr txBox="1"/>
            <p:nvPr/>
          </p:nvSpPr>
          <p:spPr>
            <a:xfrm>
              <a:off x="7988338" y="4781962"/>
              <a:ext cx="370537" cy="5200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2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217" name="group (216)"/>
            <p:cNvSpPr txBox="1"/>
            <p:nvPr/>
          </p:nvSpPr>
          <p:spPr>
            <a:xfrm>
              <a:off x="8271104" y="4948287"/>
              <a:ext cx="746403" cy="37964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3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group</a:t>
              </a:r>
            </a:p>
          </p:txBody>
        </p:sp>
        <p:grpSp>
          <p:nvGrpSpPr>
            <p:cNvPr id="222" name="Reward R(x, y1 gt) (221)"/>
            <p:cNvGrpSpPr/>
            <p:nvPr/>
          </p:nvGrpSpPr>
          <p:grpSpPr>
            <a:xfrm>
              <a:off x="7877175" y="5362568"/>
              <a:ext cx="1412626" cy="598752"/>
              <a:chOff x="7877175" y="5362568"/>
              <a:chExt cx="1412626" cy="598752"/>
            </a:xfrm>
          </p:grpSpPr>
          <p:sp>
            <p:nvSpPr>
              <p:cNvPr id="218" name="ℛ(𝑥, 𝑦 (217)"/>
              <p:cNvSpPr txBox="1"/>
              <p:nvPr/>
            </p:nvSpPr>
            <p:spPr>
              <a:xfrm>
                <a:off x="7843355" y="5363476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219" name="1 (218)"/>
              <p:cNvSpPr txBox="1"/>
              <p:nvPr/>
            </p:nvSpPr>
            <p:spPr>
              <a:xfrm>
                <a:off x="8839021" y="5316111"/>
                <a:ext cx="188119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1</a:t>
                </a:r>
              </a:p>
            </p:txBody>
          </p:sp>
          <p:sp>
            <p:nvSpPr>
              <p:cNvPr id="220" name="gt (219)"/>
              <p:cNvSpPr txBox="1"/>
              <p:nvPr/>
            </p:nvSpPr>
            <p:spPr>
              <a:xfrm>
                <a:off x="8839021" y="5598151"/>
                <a:ext cx="269051" cy="31924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95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gt</a:t>
                </a:r>
              </a:p>
            </p:txBody>
          </p:sp>
          <p:sp>
            <p:nvSpPr>
              <p:cNvPr id="221" name=") (220)"/>
              <p:cNvSpPr txBox="1"/>
              <p:nvPr/>
            </p:nvSpPr>
            <p:spPr>
              <a:xfrm>
                <a:off x="9049829" y="5363476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227" name="Reward R(x, y2 gt) (226)"/>
            <p:cNvGrpSpPr/>
            <p:nvPr/>
          </p:nvGrpSpPr>
          <p:grpSpPr>
            <a:xfrm>
              <a:off x="7877175" y="6010268"/>
              <a:ext cx="1412626" cy="598752"/>
              <a:chOff x="7877175" y="6010268"/>
              <a:chExt cx="1412626" cy="598752"/>
            </a:xfrm>
          </p:grpSpPr>
          <p:sp>
            <p:nvSpPr>
              <p:cNvPr id="223" name="ℛ(𝑥, 𝑦 (222)"/>
              <p:cNvSpPr txBox="1"/>
              <p:nvPr/>
            </p:nvSpPr>
            <p:spPr>
              <a:xfrm>
                <a:off x="7843355" y="6011240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224" name="2 (223)"/>
              <p:cNvSpPr txBox="1"/>
              <p:nvPr/>
            </p:nvSpPr>
            <p:spPr>
              <a:xfrm>
                <a:off x="8839021" y="5963875"/>
                <a:ext cx="188119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2</a:t>
                </a:r>
              </a:p>
            </p:txBody>
          </p:sp>
          <p:sp>
            <p:nvSpPr>
              <p:cNvPr id="225" name="gt (224)"/>
              <p:cNvSpPr txBox="1"/>
              <p:nvPr/>
            </p:nvSpPr>
            <p:spPr>
              <a:xfrm>
                <a:off x="8839021" y="6245546"/>
                <a:ext cx="269051" cy="31924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95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gt</a:t>
                </a:r>
              </a:p>
            </p:txBody>
          </p:sp>
          <p:sp>
            <p:nvSpPr>
              <p:cNvPr id="226" name=") (225)"/>
              <p:cNvSpPr txBox="1"/>
              <p:nvPr/>
            </p:nvSpPr>
            <p:spPr>
              <a:xfrm>
                <a:off x="9049829" y="6011240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232" name="Reward R(x, y𝐺 gt) (231)"/>
            <p:cNvGrpSpPr/>
            <p:nvPr/>
          </p:nvGrpSpPr>
          <p:grpSpPr>
            <a:xfrm>
              <a:off x="7877175" y="6981818"/>
              <a:ext cx="1412626" cy="598752"/>
              <a:chOff x="7877175" y="6981818"/>
              <a:chExt cx="1412626" cy="598752"/>
            </a:xfrm>
          </p:grpSpPr>
          <p:sp>
            <p:nvSpPr>
              <p:cNvPr id="228" name="ℛ(𝑥, 𝑦 (227)"/>
              <p:cNvSpPr txBox="1"/>
              <p:nvPr/>
            </p:nvSpPr>
            <p:spPr>
              <a:xfrm>
                <a:off x="7843355" y="6982701"/>
                <a:ext cx="1060951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ℛ(𝑥, 𝑦</a:t>
                </a:r>
              </a:p>
            </p:txBody>
          </p:sp>
          <p:sp>
            <p:nvSpPr>
              <p:cNvPr id="229" name="𝐺 (228)"/>
              <p:cNvSpPr txBox="1"/>
              <p:nvPr/>
            </p:nvSpPr>
            <p:spPr>
              <a:xfrm>
                <a:off x="8839021" y="6935336"/>
                <a:ext cx="257592" cy="33950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09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𝐺</a:t>
                </a:r>
              </a:p>
            </p:txBody>
          </p:sp>
          <p:sp>
            <p:nvSpPr>
              <p:cNvPr id="230" name="gt (229)"/>
              <p:cNvSpPr txBox="1"/>
              <p:nvPr/>
            </p:nvSpPr>
            <p:spPr>
              <a:xfrm>
                <a:off x="8839021" y="7217375"/>
                <a:ext cx="269051" cy="31924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95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gt</a:t>
                </a:r>
              </a:p>
            </p:txBody>
          </p:sp>
          <p:sp>
            <p:nvSpPr>
              <p:cNvPr id="231" name=") (230)"/>
              <p:cNvSpPr txBox="1"/>
              <p:nvPr/>
            </p:nvSpPr>
            <p:spPr>
              <a:xfrm>
                <a:off x="9049829" y="6982701"/>
                <a:ext cx="207466" cy="50673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50" b="0" i="0" u="none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)</a:t>
                </a:r>
              </a:p>
            </p:txBody>
          </p:sp>
        </p:grpSp>
        <p:grpSp>
          <p:nvGrpSpPr>
            <p:cNvPr id="236" name="Ellipsis (235)"/>
            <p:cNvGrpSpPr/>
            <p:nvPr/>
          </p:nvGrpSpPr>
          <p:grpSpPr>
            <a:xfrm>
              <a:off x="8393430" y="6717030"/>
              <a:ext cx="339090" cy="53340"/>
              <a:chOff x="8393430" y="6717030"/>
              <a:chExt cx="339090" cy="53340"/>
            </a:xfrm>
          </p:grpSpPr>
          <p:sp>
            <p:nvSpPr>
              <p:cNvPr id="233" name="Ellipsis dot (232)"/>
              <p:cNvSpPr/>
              <p:nvPr/>
            </p:nvSpPr>
            <p:spPr>
              <a:xfrm>
                <a:off x="8393430" y="67170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Ellipsis dot (233)"/>
              <p:cNvSpPr/>
              <p:nvPr/>
            </p:nvSpPr>
            <p:spPr>
              <a:xfrm>
                <a:off x="8536305" y="67170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Ellipsis dot (234)"/>
              <p:cNvSpPr/>
              <p:nvPr/>
            </p:nvSpPr>
            <p:spPr>
              <a:xfrm>
                <a:off x="8679180" y="671703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7" name="Selected best reward highlight (236)"/>
            <p:cNvSpPr/>
            <p:nvPr/>
          </p:nvSpPr>
          <p:spPr>
            <a:xfrm>
              <a:off x="7696200" y="6019800"/>
              <a:ext cx="1695450" cy="504825"/>
            </a:xfrm>
            <a:custGeom>
              <a:avLst/>
              <a:gdLst/>
              <a:ahLst/>
              <a:cxnLst/>
              <a:rect l="0" t="0" r="r" b="b"/>
              <a:pathLst>
                <a:path w="1695450" h="504825" fill="none">
                  <a:moveTo>
                    <a:pt x="0" y="0"/>
                  </a:moveTo>
                  <a:lnTo>
                    <a:pt x="1695450" y="0"/>
                  </a:lnTo>
                  <a:lnTo>
                    <a:pt x="1695450" y="504825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1907" cap="rnd">
              <a:solidFill>
                <a:srgbClr val="0739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7" name="Best response trophy (246)"/>
          <p:cNvGrpSpPr/>
          <p:nvPr/>
        </p:nvGrpSpPr>
        <p:grpSpPr>
          <a:xfrm>
            <a:off x="9163050" y="5981700"/>
            <a:ext cx="609600" cy="523875"/>
            <a:chOff x="9163050" y="5981700"/>
            <a:chExt cx="609600" cy="523875"/>
          </a:xfrm>
        </p:grpSpPr>
        <p:sp>
          <p:nvSpPr>
            <p:cNvPr id="239" name="Trophy left handle outer (238)"/>
            <p:cNvSpPr/>
            <p:nvPr/>
          </p:nvSpPr>
          <p:spPr>
            <a:xfrm>
              <a:off x="9163050" y="5981700"/>
              <a:ext cx="228600" cy="247650"/>
            </a:xfrm>
            <a:custGeom>
              <a:avLst/>
              <a:gdLst/>
              <a:ahLst/>
              <a:cxnLst/>
              <a:rect l="0" t="0" r="r" b="b"/>
              <a:pathLst>
                <a:path w="228600" h="247650" fill="none">
                  <a:moveTo>
                    <a:pt x="180975" y="85725"/>
                  </a:moveTo>
                  <a:cubicBezTo>
                    <a:pt x="0" y="0"/>
                    <a:pt x="76200" y="219075"/>
                    <a:pt x="228600" y="247650"/>
                  </a:cubicBezTo>
                </a:path>
              </a:pathLst>
            </a:custGeom>
            <a:noFill/>
            <a:ln w="28575" cap="rnd">
              <a:solidFill>
                <a:srgbClr val="BE86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Trophy right handle outer (239)"/>
            <p:cNvSpPr/>
            <p:nvPr/>
          </p:nvSpPr>
          <p:spPr>
            <a:xfrm>
              <a:off x="9563100" y="5981700"/>
              <a:ext cx="209550" cy="247650"/>
            </a:xfrm>
            <a:custGeom>
              <a:avLst/>
              <a:gdLst/>
              <a:ahLst/>
              <a:cxnLst/>
              <a:rect l="0" t="0" r="r" b="b"/>
              <a:pathLst>
                <a:path w="209550" h="247650" fill="none">
                  <a:moveTo>
                    <a:pt x="28575" y="85725"/>
                  </a:moveTo>
                  <a:cubicBezTo>
                    <a:pt x="209550" y="0"/>
                    <a:pt x="123825" y="219075"/>
                    <a:pt x="0" y="247650"/>
                  </a:cubicBezTo>
                </a:path>
              </a:pathLst>
            </a:custGeom>
            <a:noFill/>
            <a:ln w="28575" cap="rnd">
              <a:solidFill>
                <a:srgbClr val="BE86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Trophy handle gleam (240)"/>
            <p:cNvSpPr/>
            <p:nvPr/>
          </p:nvSpPr>
          <p:spPr>
            <a:xfrm>
              <a:off x="9220200" y="6029325"/>
              <a:ext cx="171450" cy="171450"/>
            </a:xfrm>
            <a:custGeom>
              <a:avLst/>
              <a:gdLst/>
              <a:ahLst/>
              <a:cxnLst/>
              <a:rect l="0" t="0" r="r" b="b"/>
              <a:pathLst>
                <a:path w="171450" h="171450" fill="none">
                  <a:moveTo>
                    <a:pt x="123825" y="38100"/>
                  </a:moveTo>
                  <a:cubicBezTo>
                    <a:pt x="0" y="0"/>
                    <a:pt x="66675" y="142875"/>
                    <a:pt x="171450" y="171450"/>
                  </a:cubicBezTo>
                </a:path>
              </a:pathLst>
            </a:custGeom>
            <a:noFill/>
            <a:ln w="13334" cap="rnd">
              <a:solidFill>
                <a:srgbClr val="FFD4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Trophy handle gleam (241)"/>
            <p:cNvSpPr/>
            <p:nvPr/>
          </p:nvSpPr>
          <p:spPr>
            <a:xfrm>
              <a:off x="9563100" y="6019800"/>
              <a:ext cx="161925" cy="180975"/>
            </a:xfrm>
            <a:custGeom>
              <a:avLst/>
              <a:gdLst/>
              <a:ahLst/>
              <a:cxnLst/>
              <a:rect l="0" t="0" r="r" b="b"/>
              <a:pathLst>
                <a:path w="161925" h="180975" fill="none">
                  <a:moveTo>
                    <a:pt x="28575" y="47625"/>
                  </a:moveTo>
                  <a:cubicBezTo>
                    <a:pt x="161925" y="0"/>
                    <a:pt x="95250" y="152400"/>
                    <a:pt x="0" y="180975"/>
                  </a:cubicBezTo>
                </a:path>
              </a:pathLst>
            </a:custGeom>
            <a:noFill/>
            <a:ln w="13334" cap="rnd">
              <a:solidFill>
                <a:srgbClr val="FFD4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Gold trophy cup (242)"/>
            <p:cNvSpPr/>
            <p:nvPr/>
          </p:nvSpPr>
          <p:spPr>
            <a:xfrm>
              <a:off x="9334500" y="6029325"/>
              <a:ext cx="276225" cy="438150"/>
            </a:xfrm>
            <a:custGeom>
              <a:avLst/>
              <a:gdLst/>
              <a:ahLst/>
              <a:cxnLst/>
              <a:rect l="0" t="0" r="r" b="b"/>
              <a:pathLst>
                <a:path w="276225" h="438150">
                  <a:moveTo>
                    <a:pt x="0" y="0"/>
                  </a:moveTo>
                  <a:lnTo>
                    <a:pt x="276225" y="0"/>
                  </a:lnTo>
                  <a:cubicBezTo>
                    <a:pt x="266700" y="161925"/>
                    <a:pt x="238125" y="238125"/>
                    <a:pt x="161925" y="266700"/>
                  </a:cubicBezTo>
                  <a:lnTo>
                    <a:pt x="171450" y="352425"/>
                  </a:lnTo>
                  <a:lnTo>
                    <a:pt x="247650" y="400050"/>
                  </a:lnTo>
                  <a:lnTo>
                    <a:pt x="247650" y="438150"/>
                  </a:lnTo>
                  <a:lnTo>
                    <a:pt x="19050" y="438150"/>
                  </a:lnTo>
                  <a:lnTo>
                    <a:pt x="19050" y="400050"/>
                  </a:lnTo>
                  <a:lnTo>
                    <a:pt x="95250" y="352425"/>
                  </a:lnTo>
                  <a:lnTo>
                    <a:pt x="104775" y="266700"/>
                  </a:lnTo>
                  <a:cubicBezTo>
                    <a:pt x="28575" y="228600"/>
                    <a:pt x="9525" y="15240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F7F00"/>
                </a:gs>
                <a:gs pos="24000">
                  <a:srgbClr val="FFF080"/>
                </a:gs>
                <a:gs pos="47000">
                  <a:srgbClr val="F4B300"/>
                </a:gs>
                <a:gs pos="72000">
                  <a:srgbClr val="FFD951"/>
                </a:gs>
                <a:gs pos="100000">
                  <a:srgbClr val="A56600"/>
                </a:gs>
              </a:gsLst>
              <a:lin ang="0" scaled="1"/>
            </a:gradFill>
            <a:ln w="9525" cap="rnd">
              <a:solidFill>
                <a:srgbClr val="CC96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Trophy lip (243)"/>
            <p:cNvSpPr/>
            <p:nvPr/>
          </p:nvSpPr>
          <p:spPr>
            <a:xfrm>
              <a:off x="9334500" y="6010275"/>
              <a:ext cx="276225" cy="47625"/>
            </a:xfrm>
            <a:custGeom>
              <a:avLst/>
              <a:gdLst/>
              <a:ahLst/>
              <a:cxnLst/>
              <a:rect l="0" t="0" r="r" b="b"/>
              <a:pathLst>
                <a:path w="276225" h="47625">
                  <a:moveTo>
                    <a:pt x="276225" y="23812"/>
                  </a:moveTo>
                  <a:cubicBezTo>
                    <a:pt x="276225" y="36964"/>
                    <a:pt x="214390" y="47625"/>
                    <a:pt x="138112" y="47625"/>
                  </a:cubicBezTo>
                  <a:cubicBezTo>
                    <a:pt x="61835" y="47625"/>
                    <a:pt x="0" y="36964"/>
                    <a:pt x="0" y="23812"/>
                  </a:cubicBezTo>
                  <a:cubicBezTo>
                    <a:pt x="0" y="10661"/>
                    <a:pt x="61835" y="0"/>
                    <a:pt x="138112" y="0"/>
                  </a:cubicBezTo>
                  <a:cubicBezTo>
                    <a:pt x="214390" y="0"/>
                    <a:pt x="276225" y="10661"/>
                    <a:pt x="276225" y="23812"/>
                  </a:cubicBezTo>
                  <a:close/>
                </a:path>
              </a:pathLst>
            </a:custGeom>
            <a:solidFill>
              <a:srgbClr val="FFE776"/>
            </a:solidFill>
            <a:ln w="7620" cap="rnd">
              <a:solidFill>
                <a:srgbClr val="D6A3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Trophy shine (244)"/>
            <p:cNvSpPr/>
            <p:nvPr/>
          </p:nvSpPr>
          <p:spPr>
            <a:xfrm>
              <a:off x="9401175" y="6067425"/>
              <a:ext cx="19050" cy="142875"/>
            </a:xfrm>
            <a:custGeom>
              <a:avLst/>
              <a:gdLst/>
              <a:ahLst/>
              <a:cxnLst/>
              <a:rect l="0" t="0" r="r" b="b"/>
              <a:pathLst>
                <a:path w="19050" h="142875" fill="none">
                  <a:moveTo>
                    <a:pt x="0" y="0"/>
                  </a:moveTo>
                  <a:lnTo>
                    <a:pt x="19050" y="142875"/>
                  </a:lnTo>
                </a:path>
              </a:pathLst>
            </a:custGeom>
            <a:noFill/>
            <a:ln w="19050" cap="rnd">
              <a:solidFill>
                <a:srgbClr val="FFF6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Trophy plinth (245)"/>
            <p:cNvSpPr/>
            <p:nvPr/>
          </p:nvSpPr>
          <p:spPr>
            <a:xfrm>
              <a:off x="9334500" y="6467475"/>
              <a:ext cx="266700" cy="38100"/>
            </a:xfrm>
            <a:custGeom>
              <a:avLst/>
              <a:gdLst/>
              <a:ahLst/>
              <a:cxnLst/>
              <a:rect l="0" t="0" r="r" b="b"/>
              <a:pathLst>
                <a:path w="266700" h="38100">
                  <a:moveTo>
                    <a:pt x="0" y="0"/>
                  </a:moveTo>
                  <a:lnTo>
                    <a:pt x="266700" y="0"/>
                  </a:lnTo>
                  <a:lnTo>
                    <a:pt x="2667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C520B"/>
            </a:solidFill>
            <a:ln w="6667" cap="rnd">
              <a:solidFill>
                <a:srgbClr val="7C440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9" name="Guided response and guidance level (258)"/>
          <p:cNvGrpSpPr/>
          <p:nvPr/>
        </p:nvGrpSpPr>
        <p:grpSpPr>
          <a:xfrm>
            <a:off x="257175" y="7725671"/>
            <a:ext cx="9353550" cy="991838"/>
            <a:chOff x="257175" y="7725671"/>
            <a:chExt cx="9353550" cy="991838"/>
          </a:xfrm>
        </p:grpSpPr>
        <p:sp>
          <p:nvSpPr>
            <p:cNvPr id="248" name="𝑦 (247)"/>
            <p:cNvSpPr txBox="1"/>
            <p:nvPr/>
          </p:nvSpPr>
          <p:spPr>
            <a:xfrm>
              <a:off x="224904" y="7744942"/>
              <a:ext cx="244033" cy="50673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𝑦</a:t>
              </a:r>
            </a:p>
          </p:txBody>
        </p:sp>
        <p:sp>
          <p:nvSpPr>
            <p:cNvPr id="249" name="2 (248)"/>
            <p:cNvSpPr txBox="1"/>
            <p:nvPr/>
          </p:nvSpPr>
          <p:spPr>
            <a:xfrm>
              <a:off x="425526" y="7715046"/>
              <a:ext cx="180975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2</a:t>
              </a:r>
            </a:p>
          </p:txBody>
        </p:sp>
        <p:sp>
          <p:nvSpPr>
            <p:cNvPr id="250" name="gt (249)"/>
            <p:cNvSpPr txBox="1"/>
            <p:nvPr/>
          </p:nvSpPr>
          <p:spPr>
            <a:xfrm>
              <a:off x="405054" y="7973072"/>
              <a:ext cx="269900" cy="320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gt</a:t>
              </a:r>
            </a:p>
          </p:txBody>
        </p:sp>
        <p:sp>
          <p:nvSpPr>
            <p:cNvPr id="251" name="&lt;think&gt; The video shows a person preparing ... . (250)"/>
            <p:cNvSpPr txBox="1"/>
            <p:nvPr/>
          </p:nvSpPr>
          <p:spPr>
            <a:xfrm>
              <a:off x="858660" y="7750347"/>
              <a:ext cx="5265078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&lt;think&gt; The video shows a person preparing ... .</a:t>
              </a:r>
            </a:p>
          </p:txBody>
        </p:sp>
        <p:sp>
          <p:nvSpPr>
            <p:cNvPr id="252" name="To make a slice of celery you (251)"/>
            <p:cNvSpPr txBox="1"/>
            <p:nvPr/>
          </p:nvSpPr>
          <p:spPr>
            <a:xfrm>
              <a:off x="6261087" y="7750347"/>
              <a:ext cx="3313733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BF50"/>
                  </a:solidFill>
                  <a:latin typeface="Comic Sans MS"/>
                  <a:ea typeface="Comic Sans MS"/>
                  <a:cs typeface="Comic Sans MS"/>
                </a:rPr>
                <a:t>To make a slice of celery you</a:t>
              </a:r>
            </a:p>
          </p:txBody>
        </p:sp>
        <p:sp>
          <p:nvSpPr>
            <p:cNvPr id="253" name="Guidance underline line 1 (252)"/>
            <p:cNvSpPr/>
            <p:nvPr/>
          </p:nvSpPr>
          <p:spPr>
            <a:xfrm>
              <a:off x="6296025" y="8020050"/>
              <a:ext cx="3314700" cy="95"/>
            </a:xfrm>
            <a:custGeom>
              <a:avLst/>
              <a:gdLst/>
              <a:ahLst/>
              <a:cxnLst/>
              <a:rect l="0" t="0" r="r" b="b"/>
              <a:pathLst>
                <a:path w="3314700" h="95" fill="none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7620" cap="rnd">
              <a:solidFill>
                <a:srgbClr val="00B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should bring it from the bag. (253)"/>
            <p:cNvSpPr txBox="1"/>
            <p:nvPr/>
          </p:nvSpPr>
          <p:spPr>
            <a:xfrm>
              <a:off x="861174" y="8027397"/>
              <a:ext cx="3295501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BF50"/>
                  </a:solidFill>
                  <a:latin typeface="Comic Sans MS"/>
                  <a:ea typeface="Comic Sans MS"/>
                  <a:cs typeface="Comic Sans MS"/>
                </a:rPr>
                <a:t>should bring it from the bag.</a:t>
              </a:r>
            </a:p>
          </p:txBody>
        </p:sp>
        <p:sp>
          <p:nvSpPr>
            <p:cNvPr id="255" name="Guidance underline line 2 (254)"/>
            <p:cNvSpPr/>
            <p:nvPr/>
          </p:nvSpPr>
          <p:spPr>
            <a:xfrm>
              <a:off x="895350" y="8305800"/>
              <a:ext cx="3228975" cy="95"/>
            </a:xfrm>
            <a:custGeom>
              <a:avLst/>
              <a:gdLst/>
              <a:ahLst/>
              <a:cxnLst/>
              <a:rect l="0" t="0" r="r" b="b"/>
              <a:pathLst>
                <a:path w="3228975" h="95" fill="none">
                  <a:moveTo>
                    <a:pt x="0" y="0"/>
                  </a:moveTo>
                  <a:lnTo>
                    <a:pt x="3228975" y="0"/>
                  </a:lnTo>
                </a:path>
              </a:pathLst>
            </a:custGeom>
            <a:noFill/>
            <a:ln w="7620" cap="rnd">
              <a:solidFill>
                <a:srgbClr val="00B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&lt;/think&gt;&lt;answer&gt;B. pick up celery&lt;/answer&gt; (255)"/>
            <p:cNvSpPr txBox="1"/>
            <p:nvPr/>
          </p:nvSpPr>
          <p:spPr>
            <a:xfrm>
              <a:off x="4183228" y="8027397"/>
              <a:ext cx="4827687" cy="3373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97" b="0" i="0" u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&lt;/think&gt;&lt;answer&gt;B. pick up celery&lt;/answer&gt;</a:t>
              </a:r>
            </a:p>
          </p:txBody>
        </p:sp>
        <p:sp>
          <p:nvSpPr>
            <p:cNvPr id="257" name="Guidance level gradient arrow (256)"/>
            <p:cNvSpPr/>
            <p:nvPr/>
          </p:nvSpPr>
          <p:spPr>
            <a:xfrm>
              <a:off x="1409700" y="8391525"/>
              <a:ext cx="2714625" cy="228600"/>
            </a:xfrm>
            <a:custGeom>
              <a:avLst/>
              <a:gdLst/>
              <a:ahLst/>
              <a:cxnLst/>
              <a:rect l="0" t="0" r="r" b="b"/>
              <a:pathLst>
                <a:path w="2714625" h="228600">
                  <a:moveTo>
                    <a:pt x="2714625" y="57150"/>
                  </a:moveTo>
                  <a:lnTo>
                    <a:pt x="123825" y="57150"/>
                  </a:lnTo>
                  <a:lnTo>
                    <a:pt x="123825" y="0"/>
                  </a:lnTo>
                  <a:lnTo>
                    <a:pt x="0" y="114300"/>
                  </a:lnTo>
                  <a:lnTo>
                    <a:pt x="123825" y="228600"/>
                  </a:lnTo>
                  <a:lnTo>
                    <a:pt x="123825" y="171450"/>
                  </a:lnTo>
                  <a:lnTo>
                    <a:pt x="2714625" y="171450"/>
                  </a:lnTo>
                  <a:close/>
                </a:path>
              </a:pathLst>
            </a:custGeom>
            <a:gradFill rotWithShape="1">
              <a:gsLst>
                <a:gs pos="0">
                  <a:srgbClr val="00BD52"/>
                </a:gs>
                <a:gs pos="100000">
                  <a:srgbClr val="BCE79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Guidance Level (257)"/>
            <p:cNvSpPr txBox="1"/>
            <p:nvPr/>
          </p:nvSpPr>
          <p:spPr>
            <a:xfrm>
              <a:off x="4189705" y="8315668"/>
              <a:ext cx="1852077" cy="3733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Guidance Level</a:t>
              </a:r>
            </a:p>
          </p:txBody>
        </p:sp>
      </p:grpSp>
      <p:grpSp>
        <p:nvGrpSpPr>
          <p:cNvPr id="306" name="Increasing video perturbation (305)"/>
          <p:cNvGrpSpPr/>
          <p:nvPr/>
        </p:nvGrpSpPr>
        <p:grpSpPr>
          <a:xfrm>
            <a:off x="10267950" y="5334000"/>
            <a:ext cx="8829675" cy="3226403"/>
            <a:chOff x="10267950" y="5334000"/>
            <a:chExt cx="8829675" cy="3226403"/>
          </a:xfrm>
        </p:grpSpPr>
        <p:pic>
          <p:nvPicPr>
            <p:cNvPr id="260" name="Video frames — increase_a (259)" descr="increase_a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67950" y="5353050"/>
              <a:ext cx="1009650" cy="962025"/>
            </a:xfrm>
            <a:prstGeom prst="rect">
              <a:avLst/>
            </a:prstGeom>
          </p:spPr>
        </p:pic>
        <p:pic>
          <p:nvPicPr>
            <p:cNvPr id="261" name="Video frames — increase_b (260)" descr="increase_b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34800" y="5334000"/>
              <a:ext cx="990600" cy="1009650"/>
            </a:xfrm>
            <a:prstGeom prst="rect">
              <a:avLst/>
            </a:prstGeom>
          </p:spPr>
        </p:pic>
        <p:grpSp>
          <p:nvGrpSpPr>
            <p:cNvPr id="265" name="Ellipsis (264)"/>
            <p:cNvGrpSpPr/>
            <p:nvPr/>
          </p:nvGrpSpPr>
          <p:grpSpPr>
            <a:xfrm>
              <a:off x="11365230" y="5821680"/>
              <a:ext cx="339090" cy="53340"/>
              <a:chOff x="11365230" y="5821680"/>
              <a:chExt cx="339090" cy="53340"/>
            </a:xfrm>
          </p:grpSpPr>
          <p:sp>
            <p:nvSpPr>
              <p:cNvPr id="262" name="Ellipsis dot (261)"/>
              <p:cNvSpPr/>
              <p:nvPr/>
            </p:nvSpPr>
            <p:spPr>
              <a:xfrm>
                <a:off x="11365230" y="58216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Ellipsis dot (262)"/>
              <p:cNvSpPr/>
              <p:nvPr/>
            </p:nvSpPr>
            <p:spPr>
              <a:xfrm>
                <a:off x="11508105" y="58216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Ellipsis dot (263)"/>
              <p:cNvSpPr/>
              <p:nvPr/>
            </p:nvSpPr>
            <p:spPr>
              <a:xfrm>
                <a:off x="11650980" y="58216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6" name="Perturbation branch (265)"/>
            <p:cNvSpPr/>
            <p:nvPr/>
          </p:nvSpPr>
          <p:spPr>
            <a:xfrm>
              <a:off x="12792075" y="5695950"/>
              <a:ext cx="2076450" cy="209550"/>
            </a:xfrm>
            <a:custGeom>
              <a:avLst/>
              <a:gdLst/>
              <a:ahLst/>
              <a:cxnLst/>
              <a:rect l="0" t="0" r="r" b="b"/>
              <a:pathLst>
                <a:path w="2076450" h="209550" fill="none">
                  <a:moveTo>
                    <a:pt x="0" y="209550"/>
                  </a:moveTo>
                  <a:cubicBezTo>
                    <a:pt x="495300" y="209550"/>
                    <a:pt x="933450" y="190500"/>
                    <a:pt x="1066800" y="104775"/>
                  </a:cubicBezTo>
                  <a:cubicBezTo>
                    <a:pt x="1123950" y="28575"/>
                    <a:pt x="1790700" y="0"/>
                    <a:pt x="2076450" y="0"/>
                  </a:cubicBezTo>
                </a:path>
              </a:pathLst>
            </a:custGeom>
            <a:noFill/>
            <a:ln w="30480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Arrowhead (266)"/>
            <p:cNvSpPr/>
            <p:nvPr/>
          </p:nvSpPr>
          <p:spPr>
            <a:xfrm>
              <a:off x="14820900" y="5624512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Perturbation branch (267)"/>
            <p:cNvSpPr/>
            <p:nvPr/>
          </p:nvSpPr>
          <p:spPr>
            <a:xfrm>
              <a:off x="12792075" y="5905500"/>
              <a:ext cx="2076450" cy="781050"/>
            </a:xfrm>
            <a:custGeom>
              <a:avLst/>
              <a:gdLst/>
              <a:ahLst/>
              <a:cxnLst/>
              <a:rect l="0" t="0" r="r" b="b"/>
              <a:pathLst>
                <a:path w="2076450" h="781050" fill="none">
                  <a:moveTo>
                    <a:pt x="0" y="0"/>
                  </a:moveTo>
                  <a:cubicBezTo>
                    <a:pt x="485775" y="0"/>
                    <a:pt x="1076325" y="152400"/>
                    <a:pt x="1076325" y="381000"/>
                  </a:cubicBezTo>
                  <a:cubicBezTo>
                    <a:pt x="1076325" y="638175"/>
                    <a:pt x="1724025" y="781050"/>
                    <a:pt x="2076450" y="781050"/>
                  </a:cubicBezTo>
                </a:path>
              </a:pathLst>
            </a:custGeom>
            <a:noFill/>
            <a:ln w="30480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Arrowhead (268)"/>
            <p:cNvSpPr/>
            <p:nvPr/>
          </p:nvSpPr>
          <p:spPr>
            <a:xfrm>
              <a:off x="14820900" y="6615112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Perturbation branch (269)"/>
            <p:cNvSpPr/>
            <p:nvPr/>
          </p:nvSpPr>
          <p:spPr>
            <a:xfrm>
              <a:off x="12792075" y="5905500"/>
              <a:ext cx="2076450" cy="1743075"/>
            </a:xfrm>
            <a:custGeom>
              <a:avLst/>
              <a:gdLst/>
              <a:ahLst/>
              <a:cxnLst/>
              <a:rect l="0" t="0" r="r" b="b"/>
              <a:pathLst>
                <a:path w="2076450" h="1743075" fill="none">
                  <a:moveTo>
                    <a:pt x="0" y="0"/>
                  </a:moveTo>
                  <a:cubicBezTo>
                    <a:pt x="561975" y="28575"/>
                    <a:pt x="1076325" y="428625"/>
                    <a:pt x="1076325" y="990600"/>
                  </a:cubicBezTo>
                  <a:cubicBezTo>
                    <a:pt x="1076325" y="1390650"/>
                    <a:pt x="1495425" y="1685925"/>
                    <a:pt x="2076450" y="1743075"/>
                  </a:cubicBezTo>
                </a:path>
              </a:pathLst>
            </a:custGeom>
            <a:noFill/>
            <a:ln w="30480" cap="rnd">
              <a:solidFill>
                <a:srgbClr val="5B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Arrowhead (270)"/>
            <p:cNvSpPr/>
            <p:nvPr/>
          </p:nvSpPr>
          <p:spPr>
            <a:xfrm>
              <a:off x="14820900" y="7577138"/>
              <a:ext cx="142875" cy="142875"/>
            </a:xfrm>
            <a:custGeom>
              <a:avLst/>
              <a:gdLst/>
              <a:ahLst/>
              <a:cxnLst/>
              <a:rect l="0" t="0" r="r" b="b"/>
              <a:pathLst>
                <a:path w="142875" h="142875">
                  <a:moveTo>
                    <a:pt x="142875" y="71438"/>
                  </a:move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2" name="Video frames — noise1_a (271)" descr="noise1_a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63775" y="5353050"/>
              <a:ext cx="952500" cy="971550"/>
            </a:xfrm>
            <a:prstGeom prst="rect">
              <a:avLst/>
            </a:prstGeom>
          </p:spPr>
        </p:pic>
        <p:pic>
          <p:nvPicPr>
            <p:cNvPr id="273" name="Video frames — noise1_b (272)" descr="noise1_b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363950" y="5353050"/>
              <a:ext cx="1000125" cy="971550"/>
            </a:xfrm>
            <a:prstGeom prst="rect">
              <a:avLst/>
            </a:prstGeom>
          </p:spPr>
        </p:pic>
        <p:grpSp>
          <p:nvGrpSpPr>
            <p:cNvPr id="277" name="Ellipsis (276)"/>
            <p:cNvGrpSpPr/>
            <p:nvPr/>
          </p:nvGrpSpPr>
          <p:grpSpPr>
            <a:xfrm>
              <a:off x="15994380" y="5812155"/>
              <a:ext cx="339090" cy="53340"/>
              <a:chOff x="15994380" y="5812155"/>
              <a:chExt cx="339090" cy="53340"/>
            </a:xfrm>
          </p:grpSpPr>
          <p:sp>
            <p:nvSpPr>
              <p:cNvPr id="274" name="Ellipsis dot (273)"/>
              <p:cNvSpPr/>
              <p:nvPr/>
            </p:nvSpPr>
            <p:spPr>
              <a:xfrm>
                <a:off x="15994380" y="58121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Ellipsis dot (274)"/>
              <p:cNvSpPr/>
              <p:nvPr/>
            </p:nvSpPr>
            <p:spPr>
              <a:xfrm>
                <a:off x="16137255" y="58121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Ellipsis dot (275)"/>
              <p:cNvSpPr/>
              <p:nvPr/>
            </p:nvSpPr>
            <p:spPr>
              <a:xfrm>
                <a:off x="16280130" y="58121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pic>
          <p:nvPicPr>
            <p:cNvPr id="278" name="Video frames — noise2_a (277)" descr="noise2_a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963775" y="6343650"/>
              <a:ext cx="952500" cy="971550"/>
            </a:xfrm>
            <a:prstGeom prst="rect">
              <a:avLst/>
            </a:prstGeom>
          </p:spPr>
        </p:pic>
        <p:pic>
          <p:nvPicPr>
            <p:cNvPr id="279" name="Video frames — noise2_b (278)" descr="noise2_b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373475" y="6343650"/>
              <a:ext cx="990600" cy="962025"/>
            </a:xfrm>
            <a:prstGeom prst="rect">
              <a:avLst/>
            </a:prstGeom>
          </p:spPr>
        </p:pic>
        <p:grpSp>
          <p:nvGrpSpPr>
            <p:cNvPr id="283" name="Ellipsis (282)"/>
            <p:cNvGrpSpPr/>
            <p:nvPr/>
          </p:nvGrpSpPr>
          <p:grpSpPr>
            <a:xfrm>
              <a:off x="15994380" y="6812280"/>
              <a:ext cx="339090" cy="53340"/>
              <a:chOff x="15994380" y="6812280"/>
              <a:chExt cx="339090" cy="53340"/>
            </a:xfrm>
          </p:grpSpPr>
          <p:sp>
            <p:nvSpPr>
              <p:cNvPr id="280" name="Ellipsis dot (279)"/>
              <p:cNvSpPr/>
              <p:nvPr/>
            </p:nvSpPr>
            <p:spPr>
              <a:xfrm>
                <a:off x="15994380" y="68122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Ellipsis dot (280)"/>
              <p:cNvSpPr/>
              <p:nvPr/>
            </p:nvSpPr>
            <p:spPr>
              <a:xfrm>
                <a:off x="16137255" y="68122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Ellipsis dot (281)"/>
              <p:cNvSpPr/>
              <p:nvPr/>
            </p:nvSpPr>
            <p:spPr>
              <a:xfrm>
                <a:off x="16280130" y="6812280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pic>
          <p:nvPicPr>
            <p:cNvPr id="284" name="Video frames — noise3_a (283)" descr="noise3_a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82825" y="7343775"/>
              <a:ext cx="952500" cy="962025"/>
            </a:xfrm>
            <a:prstGeom prst="rect">
              <a:avLst/>
            </a:prstGeom>
          </p:spPr>
        </p:pic>
        <p:pic>
          <p:nvPicPr>
            <p:cNvPr id="285" name="Video frames — noise3_b (284)" descr="noise3_b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383000" y="7343775"/>
              <a:ext cx="990600" cy="962025"/>
            </a:xfrm>
            <a:prstGeom prst="rect">
              <a:avLst/>
            </a:prstGeom>
          </p:spPr>
        </p:pic>
        <p:grpSp>
          <p:nvGrpSpPr>
            <p:cNvPr id="289" name="Ellipsis (288)"/>
            <p:cNvGrpSpPr/>
            <p:nvPr/>
          </p:nvGrpSpPr>
          <p:grpSpPr>
            <a:xfrm>
              <a:off x="15994380" y="7793355"/>
              <a:ext cx="339090" cy="53340"/>
              <a:chOff x="15994380" y="7793355"/>
              <a:chExt cx="339090" cy="53340"/>
            </a:xfrm>
          </p:grpSpPr>
          <p:sp>
            <p:nvSpPr>
              <p:cNvPr id="286" name="Ellipsis dot (285)"/>
              <p:cNvSpPr/>
              <p:nvPr/>
            </p:nvSpPr>
            <p:spPr>
              <a:xfrm>
                <a:off x="15994380" y="77933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Ellipsis dot (286)"/>
              <p:cNvSpPr/>
              <p:nvPr/>
            </p:nvSpPr>
            <p:spPr>
              <a:xfrm>
                <a:off x="16137255" y="77933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Ellipsis dot (287)"/>
              <p:cNvSpPr/>
              <p:nvPr/>
            </p:nvSpPr>
            <p:spPr>
              <a:xfrm>
                <a:off x="16280130" y="7793355"/>
                <a:ext cx="53340" cy="53340"/>
              </a:xfrm>
              <a:custGeom>
                <a:avLst/>
                <a:gdLst/>
                <a:ahLst/>
                <a:cxnLst/>
                <a:rect l="0" t="0" r="r" b="b"/>
                <a:pathLst>
                  <a:path w="53340" h="53340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399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0" name="Perturbation level gradient arrow (289)"/>
            <p:cNvSpPr/>
            <p:nvPr/>
          </p:nvSpPr>
          <p:spPr>
            <a:xfrm>
              <a:off x="17497425" y="5381625"/>
              <a:ext cx="333375" cy="2924175"/>
            </a:xfrm>
            <a:custGeom>
              <a:avLst/>
              <a:gdLst/>
              <a:ahLst/>
              <a:cxnLst/>
              <a:rect l="0" t="0" r="r" b="b"/>
              <a:pathLst>
                <a:path w="333375" h="2924175">
                  <a:moveTo>
                    <a:pt x="85725" y="0"/>
                  </a:moveTo>
                  <a:lnTo>
                    <a:pt x="247650" y="0"/>
                  </a:lnTo>
                  <a:lnTo>
                    <a:pt x="247650" y="2762250"/>
                  </a:lnTo>
                  <a:lnTo>
                    <a:pt x="333375" y="2762250"/>
                  </a:lnTo>
                  <a:lnTo>
                    <a:pt x="166688" y="2924175"/>
                  </a:lnTo>
                  <a:lnTo>
                    <a:pt x="0" y="2762250"/>
                  </a:lnTo>
                  <a:lnTo>
                    <a:pt x="85725" y="2762250"/>
                  </a:lnTo>
                  <a:close/>
                </a:path>
              </a:pathLst>
            </a:custGeom>
            <a:gradFill rotWithShape="1">
              <a:gsLst>
                <a:gs pos="0">
                  <a:srgbClr val="FFD4DD"/>
                </a:gs>
                <a:gs pos="100000">
                  <a:srgbClr val="FF050A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erturbation Level vertical label (290)"/>
            <p:cNvSpPr txBox="1"/>
            <p:nvPr/>
          </p:nvSpPr>
          <p:spPr>
            <a:xfrm rot="5400000">
              <a:off x="16706850" y="6694783"/>
              <a:ext cx="2390775" cy="3907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7" b="1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Perturbation Level</a:t>
              </a:r>
            </a:p>
          </p:txBody>
        </p:sp>
        <p:sp>
          <p:nvSpPr>
            <p:cNvPr id="292" name="Δ (291)"/>
            <p:cNvSpPr txBox="1"/>
            <p:nvPr/>
          </p:nvSpPr>
          <p:spPr>
            <a:xfrm>
              <a:off x="10854627" y="6724719"/>
              <a:ext cx="423714" cy="6000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Δ</a:t>
              </a:r>
            </a:p>
          </p:txBody>
        </p:sp>
        <p:sp>
          <p:nvSpPr>
            <p:cNvPr id="293" name="ℛ (292)"/>
            <p:cNvSpPr txBox="1"/>
            <p:nvPr/>
          </p:nvSpPr>
          <p:spPr>
            <a:xfrm>
              <a:off x="11178692" y="6915747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294" name="&lt; (293)"/>
            <p:cNvSpPr txBox="1"/>
            <p:nvPr/>
          </p:nvSpPr>
          <p:spPr>
            <a:xfrm>
              <a:off x="11616512" y="6734911"/>
              <a:ext cx="392728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&lt;</a:t>
              </a:r>
            </a:p>
          </p:txBody>
        </p:sp>
        <p:sp>
          <p:nvSpPr>
            <p:cNvPr id="295" name="0 (294)"/>
            <p:cNvSpPr txBox="1"/>
            <p:nvPr/>
          </p:nvSpPr>
          <p:spPr>
            <a:xfrm>
              <a:off x="12035676" y="6734911"/>
              <a:ext cx="276225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0</a:t>
              </a:r>
            </a:p>
          </p:txBody>
        </p:sp>
        <p:sp>
          <p:nvSpPr>
            <p:cNvPr id="296" name="Δ (295)"/>
            <p:cNvSpPr txBox="1"/>
            <p:nvPr/>
          </p:nvSpPr>
          <p:spPr>
            <a:xfrm>
              <a:off x="10854627" y="7296042"/>
              <a:ext cx="423714" cy="6000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Δ</a:t>
              </a:r>
            </a:p>
          </p:txBody>
        </p:sp>
        <p:sp>
          <p:nvSpPr>
            <p:cNvPr id="297" name="ℛ (296)"/>
            <p:cNvSpPr txBox="1"/>
            <p:nvPr/>
          </p:nvSpPr>
          <p:spPr>
            <a:xfrm>
              <a:off x="11178692" y="7485989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298" name="≈ (297)"/>
            <p:cNvSpPr txBox="1"/>
            <p:nvPr/>
          </p:nvSpPr>
          <p:spPr>
            <a:xfrm>
              <a:off x="11616512" y="7306233"/>
              <a:ext cx="390644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≈</a:t>
              </a:r>
            </a:p>
          </p:txBody>
        </p:sp>
        <p:sp>
          <p:nvSpPr>
            <p:cNvPr id="299" name="0 (298)"/>
            <p:cNvSpPr txBox="1"/>
            <p:nvPr/>
          </p:nvSpPr>
          <p:spPr>
            <a:xfrm>
              <a:off x="12035676" y="7306233"/>
              <a:ext cx="276225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0</a:t>
              </a:r>
            </a:p>
          </p:txBody>
        </p:sp>
        <p:sp>
          <p:nvSpPr>
            <p:cNvPr id="300" name="Δ (299)"/>
            <p:cNvSpPr txBox="1"/>
            <p:nvPr/>
          </p:nvSpPr>
          <p:spPr>
            <a:xfrm>
              <a:off x="10854627" y="7876330"/>
              <a:ext cx="423714" cy="6000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75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Δ</a:t>
              </a:r>
            </a:p>
          </p:txBody>
        </p:sp>
        <p:sp>
          <p:nvSpPr>
            <p:cNvPr id="301" name="ℛ (300)"/>
            <p:cNvSpPr txBox="1"/>
            <p:nvPr/>
          </p:nvSpPr>
          <p:spPr>
            <a:xfrm>
              <a:off x="11178692" y="8067725"/>
              <a:ext cx="316007" cy="42672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ℛ</a:t>
              </a:r>
            </a:p>
          </p:txBody>
        </p:sp>
        <p:sp>
          <p:nvSpPr>
            <p:cNvPr id="302" name="&gt; (301)"/>
            <p:cNvSpPr txBox="1"/>
            <p:nvPr/>
          </p:nvSpPr>
          <p:spPr>
            <a:xfrm>
              <a:off x="11616512" y="7886890"/>
              <a:ext cx="392728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&gt;</a:t>
              </a:r>
            </a:p>
          </p:txBody>
        </p:sp>
        <p:sp>
          <p:nvSpPr>
            <p:cNvPr id="303" name="0 (302)"/>
            <p:cNvSpPr txBox="1"/>
            <p:nvPr/>
          </p:nvSpPr>
          <p:spPr>
            <a:xfrm>
              <a:off x="12035676" y="7886890"/>
              <a:ext cx="276225" cy="5867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00" b="0" i="0" u="none">
                  <a:solidFill>
                    <a:srgbClr val="000000"/>
                  </a:solidFill>
                  <a:latin typeface="Latin Modern Math"/>
                  <a:ea typeface="Latin Modern Math"/>
                  <a:cs typeface="Latin Modern Math"/>
                </a:rPr>
                <a:t>0</a:t>
              </a:r>
            </a:p>
          </p:txBody>
        </p:sp>
        <p:sp>
          <p:nvSpPr>
            <p:cNvPr id="304" name="Reward change downward arrow (303)"/>
            <p:cNvSpPr/>
            <p:nvPr/>
          </p:nvSpPr>
          <p:spPr>
            <a:xfrm>
              <a:off x="12896850" y="6791325"/>
              <a:ext cx="228600" cy="1733550"/>
            </a:xfrm>
            <a:custGeom>
              <a:avLst/>
              <a:gdLst/>
              <a:ahLst/>
              <a:cxnLst/>
              <a:rect l="0" t="0" r="r" b="b"/>
              <a:pathLst>
                <a:path w="228600" h="1733550">
                  <a:moveTo>
                    <a:pt x="57150" y="0"/>
                  </a:moveTo>
                  <a:lnTo>
                    <a:pt x="171450" y="0"/>
                  </a:lnTo>
                  <a:lnTo>
                    <a:pt x="171450" y="1619250"/>
                  </a:lnTo>
                  <a:lnTo>
                    <a:pt x="228600" y="1619250"/>
                  </a:lnTo>
                  <a:lnTo>
                    <a:pt x="114300" y="1733550"/>
                  </a:lnTo>
                  <a:lnTo>
                    <a:pt x="0" y="1619250"/>
                  </a:lnTo>
                  <a:lnTo>
                    <a:pt x="57150" y="1619250"/>
                  </a:lnTo>
                  <a:close/>
                </a:path>
              </a:pathLst>
            </a:custGeom>
            <a:gradFill rotWithShape="1">
              <a:gsLst>
                <a:gs pos="0">
                  <a:srgbClr val="FFD4DD"/>
                </a:gs>
                <a:gs pos="100000">
                  <a:srgbClr val="FF050A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ward change upward arrow (304)"/>
            <p:cNvSpPr/>
            <p:nvPr/>
          </p:nvSpPr>
          <p:spPr>
            <a:xfrm>
              <a:off x="13211175" y="6791325"/>
              <a:ext cx="228600" cy="1714500"/>
            </a:xfrm>
            <a:custGeom>
              <a:avLst/>
              <a:gdLst/>
              <a:ahLst/>
              <a:cxnLst/>
              <a:rect l="0" t="0" r="r" b="b"/>
              <a:pathLst>
                <a:path w="228600" h="1714500">
                  <a:moveTo>
                    <a:pt x="57150" y="1714500"/>
                  </a:moveTo>
                  <a:lnTo>
                    <a:pt x="171450" y="171450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lnTo>
                    <a:pt x="0" y="114300"/>
                  </a:lnTo>
                  <a:lnTo>
                    <a:pt x="57150" y="114300"/>
                  </a:lnTo>
                  <a:close/>
                </a:path>
              </a:pathLst>
            </a:custGeom>
            <a:gradFill rotWithShape="1">
              <a:gsLst>
                <a:gs pos="0">
                  <a:srgbClr val="00BF51"/>
                </a:gs>
                <a:gs pos="100000">
                  <a:srgbClr val="B7E69A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eepVideo-R1 Video Reinforcement Fine-Tuning via Difficulty-aware Regressive GRPO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02300" cy="8696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DeepVideo-R1 — Difficulty-aware Reward Augmentation</dc:title>
  <dc:subject>Editable reconstruction of the supplied reference diagram</dc:subject>
  <dc:creator/>
  <cp:keywords/>
  <dc:description>Editable reconstruction of the supplied DeepVideo-R1 figure. Video frames are embedded raster crops. Font notices: Times New Roman: Typeface © The Monotype Corporation plc. Data © The Monotype Corporation plc/Type Solutions Inc. 1990-1992. All Rights Reserved; Times New Roman: Typeface © The Monotype Corporation plc. Data © The Monotype Corporation plc/Type Solutions Inc. 1990-1992. All Rights Reserved; Comic Sans MS: Copyright (c) 1995 Microsoft Corporation. All rights reserved.; Latin Modern Math: Copyright 2012--2014 for Latin Modern Math OTF by B. Jackowski, P. Strzelczyk and P. Pianowski (on behalf of TeX users groups). This work is released under the GUST Font License -- see http://tug.org/fonts/licenses/GUST-FONT-LICENSE.txt for details.; Liberation Sans: Digitized data copyright (c) 2010 Google Corporation. 
Copyright (c) 2012 Red Hat, Inc.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