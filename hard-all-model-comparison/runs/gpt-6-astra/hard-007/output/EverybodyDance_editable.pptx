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632936" cy="927201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ferenceNet encoder background"/>
          <p:cNvSpPr/>
          <p:nvPr/>
        </p:nvSpPr>
        <p:spPr>
          <a:xfrm>
            <a:off x="4727448" y="219456"/>
            <a:ext cx="3803904" cy="3392424"/>
          </a:xfrm>
          <a:custGeom>
            <a:avLst/>
            <a:gdLst/>
            <a:ahLst/>
            <a:cxnLst/>
            <a:rect l="0" t="0" r="r" b="b"/>
            <a:pathLst>
              <a:path w="416000" h="371000">
                <a:moveTo>
                  <a:pt x="0" y="0"/>
                </a:moveTo>
                <a:lnTo>
                  <a:pt x="416000" y="100000"/>
                </a:lnTo>
                <a:lnTo>
                  <a:pt x="416000" y="272000"/>
                </a:lnTo>
                <a:lnTo>
                  <a:pt x="0" y="371000"/>
                </a:lnTo>
                <a:close/>
              </a:path>
            </a:pathLst>
          </a:custGeom>
          <a:solidFill>
            <a:srgbClr val="DAE3F4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ReferenceNet decoder background"/>
          <p:cNvSpPr/>
          <p:nvPr/>
        </p:nvSpPr>
        <p:spPr>
          <a:xfrm>
            <a:off x="8549640" y="219456"/>
            <a:ext cx="3813048" cy="3392424"/>
          </a:xfrm>
          <a:custGeom>
            <a:avLst/>
            <a:gdLst/>
            <a:ahLst/>
            <a:cxnLst/>
            <a:rect l="0" t="0" r="r" b="b"/>
            <a:pathLst>
              <a:path w="417000" h="371000">
                <a:moveTo>
                  <a:pt x="0" y="100000"/>
                </a:moveTo>
                <a:lnTo>
                  <a:pt x="417000" y="0"/>
                </a:lnTo>
                <a:lnTo>
                  <a:pt x="417000" y="371000"/>
                </a:lnTo>
                <a:lnTo>
                  <a:pt x="0" y="272000"/>
                </a:lnTo>
                <a:close/>
              </a:path>
            </a:pathLst>
          </a:custGeom>
          <a:solidFill>
            <a:srgbClr val="DAE3F4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DenoisingNet encoder background"/>
          <p:cNvSpPr/>
          <p:nvPr/>
        </p:nvSpPr>
        <p:spPr>
          <a:xfrm>
            <a:off x="4727448" y="4389120"/>
            <a:ext cx="3803904" cy="3392424"/>
          </a:xfrm>
          <a:custGeom>
            <a:avLst/>
            <a:gdLst/>
            <a:ahLst/>
            <a:cxnLst/>
            <a:rect l="0" t="0" r="r" b="b"/>
            <a:pathLst>
              <a:path w="416000" h="371000">
                <a:moveTo>
                  <a:pt x="0" y="0"/>
                </a:moveTo>
                <a:lnTo>
                  <a:pt x="416000" y="100000"/>
                </a:lnTo>
                <a:lnTo>
                  <a:pt x="416000" y="272000"/>
                </a:lnTo>
                <a:lnTo>
                  <a:pt x="0" y="371000"/>
                </a:lnTo>
                <a:close/>
              </a:path>
            </a:pathLst>
          </a:custGeom>
          <a:solidFill>
            <a:srgbClr val="FDF2EC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DenoisingNet decoder background"/>
          <p:cNvSpPr/>
          <p:nvPr/>
        </p:nvSpPr>
        <p:spPr>
          <a:xfrm>
            <a:off x="8549640" y="4389120"/>
            <a:ext cx="3813048" cy="3392424"/>
          </a:xfrm>
          <a:custGeom>
            <a:avLst/>
            <a:gdLst/>
            <a:ahLst/>
            <a:cxnLst/>
            <a:rect l="0" t="0" r="r" b="b"/>
            <a:pathLst>
              <a:path w="417000" h="371000">
                <a:moveTo>
                  <a:pt x="0" y="100000"/>
                </a:moveTo>
                <a:lnTo>
                  <a:pt x="417000" y="0"/>
                </a:lnTo>
                <a:lnTo>
                  <a:pt x="417000" y="371000"/>
                </a:lnTo>
                <a:lnTo>
                  <a:pt x="0" y="272000"/>
                </a:lnTo>
                <a:close/>
              </a:path>
            </a:pathLst>
          </a:custGeom>
          <a:solidFill>
            <a:srgbClr val="FDF2EC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IMG Construction training area"/>
          <p:cNvSpPr/>
          <p:nvPr/>
        </p:nvSpPr>
        <p:spPr>
          <a:xfrm>
            <a:off x="8540496" y="7114032"/>
            <a:ext cx="3831336" cy="2103120"/>
          </a:xfrm>
          <a:custGeom>
            <a:avLst/>
            <a:gdLst/>
            <a:ahLst/>
            <a:cxnLst/>
            <a:rect l="0" t="0" r="r" b="b"/>
            <a:pathLst>
              <a:path w="419000" h="230000">
                <a:moveTo>
                  <a:pt x="0" y="0"/>
                </a:moveTo>
                <a:lnTo>
                  <a:pt x="419000" y="83000"/>
                </a:lnTo>
                <a:lnTo>
                  <a:pt x="419000" y="230000"/>
                </a:lnTo>
                <a:lnTo>
                  <a:pt x="0" y="230000"/>
                </a:lnTo>
                <a:close/>
              </a:path>
            </a:pathLst>
          </a:custGeom>
          <a:solidFill>
            <a:srgbClr val="FAFAFA"/>
          </a:solidFill>
          <a:ln w="22859" cap="flat">
            <a:solidFill>
              <a:srgbClr val="80817E"/>
            </a:solidFill>
            <a:custDash>
              <a:ds d="400000" sp="280000"/>
            </a:custDash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ReferenceNet"/>
          <p:cNvSpPr txBox="1"/>
          <p:nvPr/>
        </p:nvSpPr>
        <p:spPr>
          <a:xfrm>
            <a:off x="7406640" y="384048"/>
            <a:ext cx="2176272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ReferenceNet</a:t>
            </a:r>
          </a:p>
        </p:txBody>
      </p:sp>
      <p:sp>
        <p:nvSpPr>
          <p:cNvPr id="8" name="DenoisingNet"/>
          <p:cNvSpPr txBox="1"/>
          <p:nvPr/>
        </p:nvSpPr>
        <p:spPr>
          <a:xfrm>
            <a:off x="7406640" y="4636008"/>
            <a:ext cx="2176272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DenoisingNet</a:t>
            </a:r>
          </a:p>
        </p:txBody>
      </p:sp>
      <p:sp>
        <p:nvSpPr>
          <p:cNvPr id="9" name="Omitted stage dot"/>
          <p:cNvSpPr/>
          <p:nvPr/>
        </p:nvSpPr>
        <p:spPr>
          <a:xfrm>
            <a:off x="6083503" y="1904695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mitted stage dot"/>
          <p:cNvSpPr/>
          <p:nvPr/>
        </p:nvSpPr>
        <p:spPr>
          <a:xfrm>
            <a:off x="6238951" y="1904695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mitted stage dot"/>
          <p:cNvSpPr/>
          <p:nvPr/>
        </p:nvSpPr>
        <p:spPr>
          <a:xfrm>
            <a:off x="6394399" y="1904695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mitted stage dot"/>
          <p:cNvSpPr/>
          <p:nvPr/>
        </p:nvSpPr>
        <p:spPr>
          <a:xfrm>
            <a:off x="8351215" y="1904695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mitted stage dot"/>
          <p:cNvSpPr/>
          <p:nvPr/>
        </p:nvSpPr>
        <p:spPr>
          <a:xfrm>
            <a:off x="8506663" y="1904695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mitted stage dot"/>
          <p:cNvSpPr/>
          <p:nvPr/>
        </p:nvSpPr>
        <p:spPr>
          <a:xfrm>
            <a:off x="8662111" y="1904695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mitted stage dot"/>
          <p:cNvSpPr/>
          <p:nvPr/>
        </p:nvSpPr>
        <p:spPr>
          <a:xfrm>
            <a:off x="10372039" y="1904695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mitted stage dot"/>
          <p:cNvSpPr/>
          <p:nvPr/>
        </p:nvSpPr>
        <p:spPr>
          <a:xfrm>
            <a:off x="10527487" y="1904695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mitted stage dot"/>
          <p:cNvSpPr/>
          <p:nvPr/>
        </p:nvSpPr>
        <p:spPr>
          <a:xfrm>
            <a:off x="10682935" y="1904695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mitted stage dot"/>
          <p:cNvSpPr/>
          <p:nvPr/>
        </p:nvSpPr>
        <p:spPr>
          <a:xfrm>
            <a:off x="6248095" y="6074359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mitted stage dot"/>
          <p:cNvSpPr/>
          <p:nvPr/>
        </p:nvSpPr>
        <p:spPr>
          <a:xfrm>
            <a:off x="6403543" y="6074359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mitted stage dot"/>
          <p:cNvSpPr/>
          <p:nvPr/>
        </p:nvSpPr>
        <p:spPr>
          <a:xfrm>
            <a:off x="6558991" y="6074359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mitted stage dot"/>
          <p:cNvSpPr/>
          <p:nvPr/>
        </p:nvSpPr>
        <p:spPr>
          <a:xfrm>
            <a:off x="8378647" y="6074359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mitted stage dot"/>
          <p:cNvSpPr/>
          <p:nvPr/>
        </p:nvSpPr>
        <p:spPr>
          <a:xfrm>
            <a:off x="8534095" y="6074359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mitted stage dot"/>
          <p:cNvSpPr/>
          <p:nvPr/>
        </p:nvSpPr>
        <p:spPr>
          <a:xfrm>
            <a:off x="8689543" y="6074359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mitted stage dot"/>
          <p:cNvSpPr/>
          <p:nvPr/>
        </p:nvSpPr>
        <p:spPr>
          <a:xfrm>
            <a:off x="10536631" y="6074359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mitted stage dot"/>
          <p:cNvSpPr/>
          <p:nvPr/>
        </p:nvSpPr>
        <p:spPr>
          <a:xfrm>
            <a:off x="10692079" y="6074359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mitted stage dot"/>
          <p:cNvSpPr/>
          <p:nvPr/>
        </p:nvSpPr>
        <p:spPr>
          <a:xfrm>
            <a:off x="10847527" y="6074359"/>
            <a:ext cx="49378" cy="49378"/>
          </a:xfrm>
          <a:prstGeom prst="ellipse">
            <a:avLst/>
          </a:prstGeom>
          <a:solidFill>
            <a:srgbClr val="5C5B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ference pose to encoder"/>
          <p:cNvSpPr/>
          <p:nvPr/>
        </p:nvSpPr>
        <p:spPr>
          <a:xfrm>
            <a:off x="1938528" y="1170432"/>
            <a:ext cx="658368" cy="457"/>
          </a:xfrm>
          <a:custGeom>
            <a:avLst/>
            <a:gdLst/>
            <a:ahLst/>
            <a:cxnLst/>
            <a:rect l="0" t="0" r="r" b="b"/>
            <a:pathLst>
              <a:path w="72000" h="50">
                <a:moveTo>
                  <a:pt x="0" y="0"/>
                </a:moveTo>
                <a:lnTo>
                  <a:pt x="72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ference pose to encoder tip"/>
          <p:cNvSpPr/>
          <p:nvPr/>
        </p:nvSpPr>
        <p:spPr>
          <a:xfrm>
            <a:off x="2459736" y="1106424"/>
            <a:ext cx="137160" cy="128016"/>
          </a:xfrm>
          <a:custGeom>
            <a:avLst/>
            <a:gdLst/>
            <a:ahLst/>
            <a:cxnLst/>
            <a:rect l="0" t="0" r="r" b="b"/>
            <a:pathLst>
              <a:path w="15000" h="14000">
                <a:moveTo>
                  <a:pt x="15000" y="7000"/>
                </a:moveTo>
                <a:lnTo>
                  <a:pt x="0" y="14000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Pose conditioning to addition"/>
          <p:cNvSpPr/>
          <p:nvPr/>
        </p:nvSpPr>
        <p:spPr>
          <a:xfrm>
            <a:off x="3438144" y="1143000"/>
            <a:ext cx="594360" cy="585216"/>
          </a:xfrm>
          <a:custGeom>
            <a:avLst/>
            <a:gdLst/>
            <a:ahLst/>
            <a:cxnLst/>
            <a:rect l="0" t="0" r="r" b="b"/>
            <a:pathLst>
              <a:path w="65000" h="64000">
                <a:moveTo>
                  <a:pt x="0" y="0"/>
                </a:moveTo>
                <a:lnTo>
                  <a:pt x="65000" y="0"/>
                </a:lnTo>
                <a:lnTo>
                  <a:pt x="65000" y="6400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Pose conditioning to addition tip"/>
          <p:cNvSpPr/>
          <p:nvPr/>
        </p:nvSpPr>
        <p:spPr>
          <a:xfrm>
            <a:off x="3968496" y="1591056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15000"/>
                </a:moveTo>
                <a:lnTo>
                  <a:pt x="0" y="0"/>
                </a:lnTo>
                <a:lnTo>
                  <a:pt x="1400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ference latent to addition"/>
          <p:cNvSpPr/>
          <p:nvPr/>
        </p:nvSpPr>
        <p:spPr>
          <a:xfrm>
            <a:off x="3438144" y="2084832"/>
            <a:ext cx="603504" cy="585216"/>
          </a:xfrm>
          <a:custGeom>
            <a:avLst/>
            <a:gdLst/>
            <a:ahLst/>
            <a:cxnLst/>
            <a:rect l="0" t="0" r="r" b="b"/>
            <a:pathLst>
              <a:path w="66000" h="64000">
                <a:moveTo>
                  <a:pt x="0" y="64000"/>
                </a:moveTo>
                <a:lnTo>
                  <a:pt x="66000" y="64000"/>
                </a:lnTo>
                <a:lnTo>
                  <a:pt x="66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ference latent to addition tip"/>
          <p:cNvSpPr/>
          <p:nvPr/>
        </p:nvSpPr>
        <p:spPr>
          <a:xfrm>
            <a:off x="3977640" y="2084832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0"/>
                </a:moveTo>
                <a:lnTo>
                  <a:pt x="14000" y="15000"/>
                </a:lnTo>
                <a:lnTo>
                  <a:pt x="0" y="1500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ferenceNet input"/>
          <p:cNvSpPr/>
          <p:nvPr/>
        </p:nvSpPr>
        <p:spPr>
          <a:xfrm>
            <a:off x="4224528" y="1901952"/>
            <a:ext cx="493776" cy="457"/>
          </a:xfrm>
          <a:custGeom>
            <a:avLst/>
            <a:gdLst/>
            <a:ahLst/>
            <a:cxnLst/>
            <a:rect l="0" t="0" r="r" b="b"/>
            <a:pathLst>
              <a:path w="54000" h="50">
                <a:moveTo>
                  <a:pt x="0" y="0"/>
                </a:moveTo>
                <a:lnTo>
                  <a:pt x="54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ferenceNet input tip"/>
          <p:cNvSpPr/>
          <p:nvPr/>
        </p:nvSpPr>
        <p:spPr>
          <a:xfrm>
            <a:off x="4581144" y="1837944"/>
            <a:ext cx="137160" cy="128016"/>
          </a:xfrm>
          <a:custGeom>
            <a:avLst/>
            <a:gdLst/>
            <a:ahLst/>
            <a:cxnLst/>
            <a:rect l="0" t="0" r="r" b="b"/>
            <a:pathLst>
              <a:path w="15000" h="14000">
                <a:moveTo>
                  <a:pt x="15000" y="7000"/>
                </a:moveTo>
                <a:lnTo>
                  <a:pt x="0" y="14000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ference image branch"/>
          <p:cNvSpPr/>
          <p:nvPr/>
        </p:nvSpPr>
        <p:spPr>
          <a:xfrm>
            <a:off x="1947672" y="2660904"/>
            <a:ext cx="320040" cy="740664"/>
          </a:xfrm>
          <a:custGeom>
            <a:avLst/>
            <a:gdLst/>
            <a:ahLst/>
            <a:cxnLst/>
            <a:rect l="0" t="0" r="r" b="b"/>
            <a:pathLst>
              <a:path w="35000" h="81000">
                <a:moveTo>
                  <a:pt x="0" y="81000"/>
                </a:moveTo>
                <a:lnTo>
                  <a:pt x="35000" y="81000"/>
                </a:lnTo>
                <a:lnTo>
                  <a:pt x="35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ference image to VAE"/>
          <p:cNvSpPr/>
          <p:nvPr/>
        </p:nvSpPr>
        <p:spPr>
          <a:xfrm>
            <a:off x="2267712" y="2660904"/>
            <a:ext cx="329184" cy="457"/>
          </a:xfrm>
          <a:custGeom>
            <a:avLst/>
            <a:gdLst/>
            <a:ahLst/>
            <a:cxnLst/>
            <a:rect l="0" t="0" r="r" b="b"/>
            <a:pathLst>
              <a:path w="36000" h="50">
                <a:moveTo>
                  <a:pt x="0" y="0"/>
                </a:moveTo>
                <a:lnTo>
                  <a:pt x="36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ference image to VAE tip"/>
          <p:cNvSpPr/>
          <p:nvPr/>
        </p:nvSpPr>
        <p:spPr>
          <a:xfrm>
            <a:off x="2459736" y="2596896"/>
            <a:ext cx="137160" cy="128016"/>
          </a:xfrm>
          <a:custGeom>
            <a:avLst/>
            <a:gdLst/>
            <a:ahLst/>
            <a:cxnLst/>
            <a:rect l="0" t="0" r="r" b="b"/>
            <a:pathLst>
              <a:path w="15000" h="14000">
                <a:moveTo>
                  <a:pt x="15000" y="7000"/>
                </a:moveTo>
                <a:lnTo>
                  <a:pt x="0" y="14000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ference image to CLIP"/>
          <p:cNvSpPr/>
          <p:nvPr/>
        </p:nvSpPr>
        <p:spPr>
          <a:xfrm>
            <a:off x="2267712" y="3401568"/>
            <a:ext cx="329184" cy="749808"/>
          </a:xfrm>
          <a:custGeom>
            <a:avLst/>
            <a:gdLst/>
            <a:ahLst/>
            <a:cxnLst/>
            <a:rect l="0" t="0" r="r" b="b"/>
            <a:pathLst>
              <a:path w="36000" h="82000">
                <a:moveTo>
                  <a:pt x="0" y="0"/>
                </a:moveTo>
                <a:lnTo>
                  <a:pt x="0" y="82000"/>
                </a:lnTo>
                <a:lnTo>
                  <a:pt x="36000" y="8200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ference image to CLIP tip"/>
          <p:cNvSpPr/>
          <p:nvPr/>
        </p:nvSpPr>
        <p:spPr>
          <a:xfrm>
            <a:off x="2459736" y="4087368"/>
            <a:ext cx="137160" cy="128016"/>
          </a:xfrm>
          <a:custGeom>
            <a:avLst/>
            <a:gdLst/>
            <a:ahLst/>
            <a:cxnLst/>
            <a:rect l="0" t="0" r="r" b="b"/>
            <a:pathLst>
              <a:path w="15000" h="14000">
                <a:moveTo>
                  <a:pt x="15000" y="7000"/>
                </a:moveTo>
                <a:lnTo>
                  <a:pt x="0" y="14000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arget pose to encoder"/>
          <p:cNvSpPr/>
          <p:nvPr/>
        </p:nvSpPr>
        <p:spPr>
          <a:xfrm>
            <a:off x="1947672" y="6108192"/>
            <a:ext cx="649224" cy="457"/>
          </a:xfrm>
          <a:custGeom>
            <a:avLst/>
            <a:gdLst/>
            <a:ahLst/>
            <a:cxnLst/>
            <a:rect l="0" t="0" r="r" b="b"/>
            <a:pathLst>
              <a:path w="71000" h="50">
                <a:moveTo>
                  <a:pt x="0" y="0"/>
                </a:moveTo>
                <a:lnTo>
                  <a:pt x="71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arget conditioning to addition"/>
          <p:cNvSpPr/>
          <p:nvPr/>
        </p:nvSpPr>
        <p:spPr>
          <a:xfrm>
            <a:off x="3438144" y="6108192"/>
            <a:ext cx="429768" cy="457"/>
          </a:xfrm>
          <a:custGeom>
            <a:avLst/>
            <a:gdLst/>
            <a:ahLst/>
            <a:cxnLst/>
            <a:rect l="0" t="0" r="r" b="b"/>
            <a:pathLst>
              <a:path w="47000" h="50">
                <a:moveTo>
                  <a:pt x="0" y="0"/>
                </a:moveTo>
                <a:lnTo>
                  <a:pt x="47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arget conditioning to addition tip"/>
          <p:cNvSpPr/>
          <p:nvPr/>
        </p:nvSpPr>
        <p:spPr>
          <a:xfrm>
            <a:off x="3730752" y="6044184"/>
            <a:ext cx="137160" cy="128016"/>
          </a:xfrm>
          <a:custGeom>
            <a:avLst/>
            <a:gdLst/>
            <a:ahLst/>
            <a:cxnLst/>
            <a:rect l="0" t="0" r="r" b="b"/>
            <a:pathLst>
              <a:path w="15000" h="14000">
                <a:moveTo>
                  <a:pt x="15000" y="7000"/>
                </a:moveTo>
                <a:lnTo>
                  <a:pt x="0" y="14000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Noise to addition"/>
          <p:cNvSpPr/>
          <p:nvPr/>
        </p:nvSpPr>
        <p:spPr>
          <a:xfrm>
            <a:off x="3008376" y="6300216"/>
            <a:ext cx="1033272" cy="2066544"/>
          </a:xfrm>
          <a:custGeom>
            <a:avLst/>
            <a:gdLst/>
            <a:ahLst/>
            <a:cxnLst/>
            <a:rect l="0" t="0" r="r" b="b"/>
            <a:pathLst>
              <a:path w="113000" h="226000">
                <a:moveTo>
                  <a:pt x="0" y="226000"/>
                </a:moveTo>
                <a:lnTo>
                  <a:pt x="113000" y="226000"/>
                </a:lnTo>
                <a:lnTo>
                  <a:pt x="113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Noise to addition tip"/>
          <p:cNvSpPr/>
          <p:nvPr/>
        </p:nvSpPr>
        <p:spPr>
          <a:xfrm>
            <a:off x="3977640" y="6300216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0"/>
                </a:moveTo>
                <a:lnTo>
                  <a:pt x="14000" y="15000"/>
                </a:lnTo>
                <a:lnTo>
                  <a:pt x="0" y="1500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DenoisingNet input"/>
          <p:cNvSpPr/>
          <p:nvPr/>
        </p:nvSpPr>
        <p:spPr>
          <a:xfrm>
            <a:off x="4224528" y="6117336"/>
            <a:ext cx="475488" cy="457"/>
          </a:xfrm>
          <a:custGeom>
            <a:avLst/>
            <a:gdLst/>
            <a:ahLst/>
            <a:cxnLst/>
            <a:rect l="0" t="0" r="r" b="b"/>
            <a:pathLst>
              <a:path w="52000" h="50">
                <a:moveTo>
                  <a:pt x="0" y="0"/>
                </a:moveTo>
                <a:lnTo>
                  <a:pt x="52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DenoisingNet input tip"/>
          <p:cNvSpPr/>
          <p:nvPr/>
        </p:nvSpPr>
        <p:spPr>
          <a:xfrm>
            <a:off x="4562856" y="6053328"/>
            <a:ext cx="137160" cy="128016"/>
          </a:xfrm>
          <a:custGeom>
            <a:avLst/>
            <a:gdLst/>
            <a:ahLst/>
            <a:cxnLst/>
            <a:rect l="0" t="0" r="r" b="b"/>
            <a:pathLst>
              <a:path w="15000" h="14000">
                <a:moveTo>
                  <a:pt x="15000" y="7000"/>
                </a:moveTo>
                <a:lnTo>
                  <a:pt x="0" y="14000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Denoised output to VAE decoder"/>
          <p:cNvSpPr/>
          <p:nvPr/>
        </p:nvSpPr>
        <p:spPr>
          <a:xfrm>
            <a:off x="12362688" y="6099048"/>
            <a:ext cx="603504" cy="9144"/>
          </a:xfrm>
          <a:custGeom>
            <a:avLst/>
            <a:gdLst/>
            <a:ahLst/>
            <a:cxnLst/>
            <a:rect l="0" t="0" r="r" b="b"/>
            <a:pathLst>
              <a:path w="66000" h="1000">
                <a:moveTo>
                  <a:pt x="0" y="0"/>
                </a:moveTo>
                <a:lnTo>
                  <a:pt x="66000" y="100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Decoded generated frames"/>
          <p:cNvSpPr/>
          <p:nvPr/>
        </p:nvSpPr>
        <p:spPr>
          <a:xfrm>
            <a:off x="13798296" y="6117336"/>
            <a:ext cx="612648" cy="9144"/>
          </a:xfrm>
          <a:custGeom>
            <a:avLst/>
            <a:gdLst/>
            <a:ahLst/>
            <a:cxnLst/>
            <a:rect l="0" t="0" r="r" b="b"/>
            <a:pathLst>
              <a:path w="67000" h="1000">
                <a:moveTo>
                  <a:pt x="0" y="0"/>
                </a:moveTo>
                <a:lnTo>
                  <a:pt x="67000" y="100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Decoded generated frames tip"/>
          <p:cNvSpPr/>
          <p:nvPr/>
        </p:nvSpPr>
        <p:spPr>
          <a:xfrm>
            <a:off x="14272844" y="6060432"/>
            <a:ext cx="138100" cy="128002"/>
          </a:xfrm>
          <a:custGeom>
            <a:avLst/>
            <a:gdLst/>
            <a:ahLst/>
            <a:cxnLst/>
            <a:rect l="0" t="0" r="r" b="b"/>
            <a:pathLst>
              <a:path w="15103" h="13998">
                <a:moveTo>
                  <a:pt x="15103" y="7223"/>
                </a:moveTo>
                <a:lnTo>
                  <a:pt x="0" y="13998"/>
                </a:lnTo>
                <a:lnTo>
                  <a:pt x="209" y="0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CLIP image conditioning bus"/>
          <p:cNvSpPr/>
          <p:nvPr/>
        </p:nvSpPr>
        <p:spPr>
          <a:xfrm>
            <a:off x="3438144" y="4142232"/>
            <a:ext cx="8238744" cy="457"/>
          </a:xfrm>
          <a:custGeom>
            <a:avLst/>
            <a:gdLst/>
            <a:ahLst/>
            <a:cxnLst/>
            <a:rect l="0" t="0" r="r" b="b"/>
            <a:pathLst>
              <a:path w="901000" h="50">
                <a:moveTo>
                  <a:pt x="0" y="0"/>
                </a:moveTo>
                <a:lnTo>
                  <a:pt x="901000" y="0"/>
                </a:lnTo>
              </a:path>
            </a:pathLst>
          </a:custGeom>
          <a:noFill/>
          <a:ln w="27432" cap="flat">
            <a:solidFill>
              <a:srgbClr val="2C84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CLIP to reference cross-attention"/>
          <p:cNvSpPr/>
          <p:nvPr/>
        </p:nvSpPr>
        <p:spPr>
          <a:xfrm>
            <a:off x="5522976" y="2898648"/>
            <a:ext cx="457" cy="1243584"/>
          </a:xfrm>
          <a:custGeom>
            <a:avLst/>
            <a:gdLst/>
            <a:ahLst/>
            <a:cxnLst/>
            <a:rect l="0" t="0" r="r" b="b"/>
            <a:pathLst>
              <a:path w="50" h="136000">
                <a:moveTo>
                  <a:pt x="0" y="136000"/>
                </a:moveTo>
                <a:lnTo>
                  <a:pt x="0" y="0"/>
                </a:lnTo>
              </a:path>
            </a:pathLst>
          </a:custGeom>
          <a:noFill/>
          <a:ln w="27432" cap="flat">
            <a:solidFill>
              <a:srgbClr val="2C84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CLIP to reference cross-attention tip"/>
          <p:cNvSpPr/>
          <p:nvPr/>
        </p:nvSpPr>
        <p:spPr>
          <a:xfrm>
            <a:off x="5458968" y="2898648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0"/>
                </a:moveTo>
                <a:lnTo>
                  <a:pt x="14000" y="15000"/>
                </a:lnTo>
                <a:lnTo>
                  <a:pt x="0" y="15000"/>
                </a:lnTo>
                <a:close/>
              </a:path>
            </a:pathLst>
          </a:custGeom>
          <a:solidFill>
            <a:srgbClr val="2C8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CLIP to denoising cross-attention"/>
          <p:cNvSpPr/>
          <p:nvPr/>
        </p:nvSpPr>
        <p:spPr>
          <a:xfrm>
            <a:off x="5522976" y="4142232"/>
            <a:ext cx="457" cy="960120"/>
          </a:xfrm>
          <a:custGeom>
            <a:avLst/>
            <a:gdLst/>
            <a:ahLst/>
            <a:cxnLst/>
            <a:rect l="0" t="0" r="r" b="b"/>
            <a:pathLst>
              <a:path w="50" h="105000">
                <a:moveTo>
                  <a:pt x="0" y="0"/>
                </a:moveTo>
                <a:lnTo>
                  <a:pt x="0" y="105000"/>
                </a:lnTo>
              </a:path>
            </a:pathLst>
          </a:custGeom>
          <a:noFill/>
          <a:ln w="27432" cap="flat">
            <a:solidFill>
              <a:srgbClr val="2C84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CLIP to denoising cross-attention tip"/>
          <p:cNvSpPr/>
          <p:nvPr/>
        </p:nvSpPr>
        <p:spPr>
          <a:xfrm>
            <a:off x="5458968" y="4965192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15000"/>
                </a:moveTo>
                <a:lnTo>
                  <a:pt x="0" y="0"/>
                </a:lnTo>
                <a:lnTo>
                  <a:pt x="14000" y="0"/>
                </a:lnTo>
                <a:close/>
              </a:path>
            </a:pathLst>
          </a:custGeom>
          <a:solidFill>
            <a:srgbClr val="2C8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CLIP to reference cross-attention"/>
          <p:cNvSpPr/>
          <p:nvPr/>
        </p:nvSpPr>
        <p:spPr>
          <a:xfrm>
            <a:off x="7360920" y="2487168"/>
            <a:ext cx="457" cy="1655064"/>
          </a:xfrm>
          <a:custGeom>
            <a:avLst/>
            <a:gdLst/>
            <a:ahLst/>
            <a:cxnLst/>
            <a:rect l="0" t="0" r="r" b="b"/>
            <a:pathLst>
              <a:path w="50" h="181000">
                <a:moveTo>
                  <a:pt x="0" y="181000"/>
                </a:moveTo>
                <a:lnTo>
                  <a:pt x="0" y="0"/>
                </a:lnTo>
              </a:path>
            </a:pathLst>
          </a:custGeom>
          <a:noFill/>
          <a:ln w="27432" cap="flat">
            <a:solidFill>
              <a:srgbClr val="2C84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CLIP to reference cross-attention tip"/>
          <p:cNvSpPr/>
          <p:nvPr/>
        </p:nvSpPr>
        <p:spPr>
          <a:xfrm>
            <a:off x="7296912" y="2487168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0"/>
                </a:moveTo>
                <a:lnTo>
                  <a:pt x="14000" y="15000"/>
                </a:lnTo>
                <a:lnTo>
                  <a:pt x="0" y="15000"/>
                </a:lnTo>
                <a:close/>
              </a:path>
            </a:pathLst>
          </a:custGeom>
          <a:solidFill>
            <a:srgbClr val="2C8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CLIP to denoising cross-attention"/>
          <p:cNvSpPr/>
          <p:nvPr/>
        </p:nvSpPr>
        <p:spPr>
          <a:xfrm>
            <a:off x="7360920" y="4142232"/>
            <a:ext cx="457" cy="1380744"/>
          </a:xfrm>
          <a:custGeom>
            <a:avLst/>
            <a:gdLst/>
            <a:ahLst/>
            <a:cxnLst/>
            <a:rect l="0" t="0" r="r" b="b"/>
            <a:pathLst>
              <a:path w="50" h="151000">
                <a:moveTo>
                  <a:pt x="0" y="0"/>
                </a:moveTo>
                <a:lnTo>
                  <a:pt x="0" y="151000"/>
                </a:lnTo>
              </a:path>
            </a:pathLst>
          </a:custGeom>
          <a:noFill/>
          <a:ln w="27432" cap="flat">
            <a:solidFill>
              <a:srgbClr val="2C84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CLIP to denoising cross-attention tip"/>
          <p:cNvSpPr/>
          <p:nvPr/>
        </p:nvSpPr>
        <p:spPr>
          <a:xfrm>
            <a:off x="7296912" y="5385816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15000"/>
                </a:moveTo>
                <a:lnTo>
                  <a:pt x="0" y="0"/>
                </a:lnTo>
                <a:lnTo>
                  <a:pt x="14000" y="0"/>
                </a:lnTo>
                <a:close/>
              </a:path>
            </a:pathLst>
          </a:custGeom>
          <a:solidFill>
            <a:srgbClr val="2C8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CLIP to reference cross-attention"/>
          <p:cNvSpPr/>
          <p:nvPr/>
        </p:nvSpPr>
        <p:spPr>
          <a:xfrm>
            <a:off x="9820656" y="2496312"/>
            <a:ext cx="457" cy="1645920"/>
          </a:xfrm>
          <a:custGeom>
            <a:avLst/>
            <a:gdLst/>
            <a:ahLst/>
            <a:cxnLst/>
            <a:rect l="0" t="0" r="r" b="b"/>
            <a:pathLst>
              <a:path w="50" h="180000">
                <a:moveTo>
                  <a:pt x="0" y="180000"/>
                </a:moveTo>
                <a:lnTo>
                  <a:pt x="0" y="0"/>
                </a:lnTo>
              </a:path>
            </a:pathLst>
          </a:custGeom>
          <a:noFill/>
          <a:ln w="27432" cap="flat">
            <a:solidFill>
              <a:srgbClr val="2C84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CLIP to reference cross-attention tip"/>
          <p:cNvSpPr/>
          <p:nvPr/>
        </p:nvSpPr>
        <p:spPr>
          <a:xfrm>
            <a:off x="9756648" y="2496312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0"/>
                </a:moveTo>
                <a:lnTo>
                  <a:pt x="14000" y="15000"/>
                </a:lnTo>
                <a:lnTo>
                  <a:pt x="0" y="15000"/>
                </a:lnTo>
                <a:close/>
              </a:path>
            </a:pathLst>
          </a:custGeom>
          <a:solidFill>
            <a:srgbClr val="2C8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CLIP to denoising cross-attention"/>
          <p:cNvSpPr/>
          <p:nvPr/>
        </p:nvSpPr>
        <p:spPr>
          <a:xfrm>
            <a:off x="9820656" y="4142232"/>
            <a:ext cx="457" cy="1380744"/>
          </a:xfrm>
          <a:custGeom>
            <a:avLst/>
            <a:gdLst/>
            <a:ahLst/>
            <a:cxnLst/>
            <a:rect l="0" t="0" r="r" b="b"/>
            <a:pathLst>
              <a:path w="50" h="151000">
                <a:moveTo>
                  <a:pt x="0" y="0"/>
                </a:moveTo>
                <a:lnTo>
                  <a:pt x="0" y="151000"/>
                </a:lnTo>
              </a:path>
            </a:pathLst>
          </a:custGeom>
          <a:noFill/>
          <a:ln w="27432" cap="flat">
            <a:solidFill>
              <a:srgbClr val="2C84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CLIP to denoising cross-attention tip"/>
          <p:cNvSpPr/>
          <p:nvPr/>
        </p:nvSpPr>
        <p:spPr>
          <a:xfrm>
            <a:off x="9756648" y="5385816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15000"/>
                </a:moveTo>
                <a:lnTo>
                  <a:pt x="0" y="0"/>
                </a:lnTo>
                <a:lnTo>
                  <a:pt x="14000" y="0"/>
                </a:lnTo>
                <a:close/>
              </a:path>
            </a:pathLst>
          </a:custGeom>
          <a:solidFill>
            <a:srgbClr val="2C8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CLIP to reference cross-attention"/>
          <p:cNvSpPr/>
          <p:nvPr/>
        </p:nvSpPr>
        <p:spPr>
          <a:xfrm>
            <a:off x="11667744" y="2907792"/>
            <a:ext cx="457" cy="1234440"/>
          </a:xfrm>
          <a:custGeom>
            <a:avLst/>
            <a:gdLst/>
            <a:ahLst/>
            <a:cxnLst/>
            <a:rect l="0" t="0" r="r" b="b"/>
            <a:pathLst>
              <a:path w="50" h="135000">
                <a:moveTo>
                  <a:pt x="0" y="135000"/>
                </a:moveTo>
                <a:lnTo>
                  <a:pt x="0" y="0"/>
                </a:lnTo>
              </a:path>
            </a:pathLst>
          </a:custGeom>
          <a:noFill/>
          <a:ln w="27432" cap="flat">
            <a:solidFill>
              <a:srgbClr val="2C84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CLIP to reference cross-attention tip"/>
          <p:cNvSpPr/>
          <p:nvPr/>
        </p:nvSpPr>
        <p:spPr>
          <a:xfrm>
            <a:off x="11603736" y="2907792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0"/>
                </a:moveTo>
                <a:lnTo>
                  <a:pt x="14000" y="15000"/>
                </a:lnTo>
                <a:lnTo>
                  <a:pt x="0" y="15000"/>
                </a:lnTo>
                <a:close/>
              </a:path>
            </a:pathLst>
          </a:custGeom>
          <a:solidFill>
            <a:srgbClr val="2C8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CLIP to denoising cross-attention"/>
          <p:cNvSpPr/>
          <p:nvPr/>
        </p:nvSpPr>
        <p:spPr>
          <a:xfrm>
            <a:off x="11667744" y="4142232"/>
            <a:ext cx="457" cy="960120"/>
          </a:xfrm>
          <a:custGeom>
            <a:avLst/>
            <a:gdLst/>
            <a:ahLst/>
            <a:cxnLst/>
            <a:rect l="0" t="0" r="r" b="b"/>
            <a:pathLst>
              <a:path w="50" h="105000">
                <a:moveTo>
                  <a:pt x="0" y="0"/>
                </a:moveTo>
                <a:lnTo>
                  <a:pt x="0" y="105000"/>
                </a:lnTo>
              </a:path>
            </a:pathLst>
          </a:custGeom>
          <a:noFill/>
          <a:ln w="27432" cap="flat">
            <a:solidFill>
              <a:srgbClr val="2C84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CLIP to denoising cross-attention tip"/>
          <p:cNvSpPr/>
          <p:nvPr/>
        </p:nvSpPr>
        <p:spPr>
          <a:xfrm>
            <a:off x="11603736" y="4965192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15000"/>
                </a:moveTo>
                <a:lnTo>
                  <a:pt x="0" y="0"/>
                </a:lnTo>
                <a:lnTo>
                  <a:pt x="14000" y="0"/>
                </a:lnTo>
                <a:close/>
              </a:path>
            </a:pathLst>
          </a:custGeom>
          <a:solidFill>
            <a:srgbClr val="2C8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Spatial feature transfer with crossover"/>
          <p:cNvSpPr/>
          <p:nvPr/>
        </p:nvSpPr>
        <p:spPr>
          <a:xfrm>
            <a:off x="5148072" y="2898648"/>
            <a:ext cx="128016" cy="2203704"/>
          </a:xfrm>
          <a:custGeom>
            <a:avLst/>
            <a:gdLst/>
            <a:ahLst/>
            <a:cxnLst/>
            <a:rect l="0" t="0" r="r" b="b"/>
            <a:pathLst>
              <a:path w="14000" h="241000">
                <a:moveTo>
                  <a:pt x="0" y="0"/>
                </a:moveTo>
                <a:lnTo>
                  <a:pt x="0" y="126000"/>
                </a:lnTo>
                <a:cubicBezTo>
                  <a:pt x="14000" y="126000"/>
                  <a:pt x="14000" y="148000"/>
                  <a:pt x="0" y="148000"/>
                </a:cubicBezTo>
                <a:lnTo>
                  <a:pt x="0" y="241000"/>
                </a:lnTo>
              </a:path>
            </a:pathLst>
          </a:custGeom>
          <a:noFill/>
          <a:ln w="27432" cap="flat">
            <a:solidFill>
              <a:srgbClr val="527BB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Spatial feature transfer tip"/>
          <p:cNvSpPr/>
          <p:nvPr/>
        </p:nvSpPr>
        <p:spPr>
          <a:xfrm>
            <a:off x="5084064" y="4965192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15000"/>
                </a:moveTo>
                <a:lnTo>
                  <a:pt x="0" y="0"/>
                </a:lnTo>
                <a:lnTo>
                  <a:pt x="14000" y="0"/>
                </a:lnTo>
                <a:close/>
              </a:path>
            </a:pathLst>
          </a:custGeom>
          <a:solidFill>
            <a:srgbClr val="527B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Spatial feature transfer with crossover"/>
          <p:cNvSpPr/>
          <p:nvPr/>
        </p:nvSpPr>
        <p:spPr>
          <a:xfrm>
            <a:off x="7013448" y="2478024"/>
            <a:ext cx="128016" cy="3044952"/>
          </a:xfrm>
          <a:custGeom>
            <a:avLst/>
            <a:gdLst/>
            <a:ahLst/>
            <a:cxnLst/>
            <a:rect l="0" t="0" r="r" b="b"/>
            <a:pathLst>
              <a:path w="14000" h="333000">
                <a:moveTo>
                  <a:pt x="0" y="0"/>
                </a:moveTo>
                <a:lnTo>
                  <a:pt x="0" y="172000"/>
                </a:lnTo>
                <a:cubicBezTo>
                  <a:pt x="14000" y="172000"/>
                  <a:pt x="14000" y="194000"/>
                  <a:pt x="0" y="194000"/>
                </a:cubicBezTo>
                <a:lnTo>
                  <a:pt x="0" y="333000"/>
                </a:lnTo>
              </a:path>
            </a:pathLst>
          </a:custGeom>
          <a:noFill/>
          <a:ln w="27432" cap="flat">
            <a:solidFill>
              <a:srgbClr val="527BB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Spatial feature transfer tip"/>
          <p:cNvSpPr/>
          <p:nvPr/>
        </p:nvSpPr>
        <p:spPr>
          <a:xfrm>
            <a:off x="6949440" y="5385816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15000"/>
                </a:moveTo>
                <a:lnTo>
                  <a:pt x="0" y="0"/>
                </a:lnTo>
                <a:lnTo>
                  <a:pt x="14000" y="0"/>
                </a:lnTo>
                <a:close/>
              </a:path>
            </a:pathLst>
          </a:custGeom>
          <a:solidFill>
            <a:srgbClr val="527B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Spatial feature transfer with crossover"/>
          <p:cNvSpPr/>
          <p:nvPr/>
        </p:nvSpPr>
        <p:spPr>
          <a:xfrm>
            <a:off x="9454896" y="2496312"/>
            <a:ext cx="128016" cy="3026664"/>
          </a:xfrm>
          <a:custGeom>
            <a:avLst/>
            <a:gdLst/>
            <a:ahLst/>
            <a:cxnLst/>
            <a:rect l="0" t="0" r="r" b="b"/>
            <a:pathLst>
              <a:path w="14000" h="331000">
                <a:moveTo>
                  <a:pt x="0" y="0"/>
                </a:moveTo>
                <a:lnTo>
                  <a:pt x="0" y="170000"/>
                </a:lnTo>
                <a:cubicBezTo>
                  <a:pt x="14000" y="170000"/>
                  <a:pt x="14000" y="192000"/>
                  <a:pt x="0" y="192000"/>
                </a:cubicBezTo>
                <a:lnTo>
                  <a:pt x="0" y="331000"/>
                </a:lnTo>
              </a:path>
            </a:pathLst>
          </a:custGeom>
          <a:noFill/>
          <a:ln w="27432" cap="flat">
            <a:solidFill>
              <a:srgbClr val="527BB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Spatial feature transfer tip"/>
          <p:cNvSpPr/>
          <p:nvPr/>
        </p:nvSpPr>
        <p:spPr>
          <a:xfrm>
            <a:off x="9390888" y="5385816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15000"/>
                </a:moveTo>
                <a:lnTo>
                  <a:pt x="0" y="0"/>
                </a:lnTo>
                <a:lnTo>
                  <a:pt x="14000" y="0"/>
                </a:lnTo>
                <a:close/>
              </a:path>
            </a:pathLst>
          </a:custGeom>
          <a:solidFill>
            <a:srgbClr val="527B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Spatial feature transfer with crossover"/>
          <p:cNvSpPr/>
          <p:nvPr/>
        </p:nvSpPr>
        <p:spPr>
          <a:xfrm>
            <a:off x="11301984" y="2907792"/>
            <a:ext cx="128016" cy="2194560"/>
          </a:xfrm>
          <a:custGeom>
            <a:avLst/>
            <a:gdLst/>
            <a:ahLst/>
            <a:cxnLst/>
            <a:rect l="0" t="0" r="r" b="b"/>
            <a:pathLst>
              <a:path w="14000" h="240000">
                <a:moveTo>
                  <a:pt x="0" y="0"/>
                </a:moveTo>
                <a:lnTo>
                  <a:pt x="0" y="125000"/>
                </a:lnTo>
                <a:cubicBezTo>
                  <a:pt x="14000" y="125000"/>
                  <a:pt x="14000" y="147000"/>
                  <a:pt x="0" y="147000"/>
                </a:cubicBezTo>
                <a:lnTo>
                  <a:pt x="0" y="240000"/>
                </a:lnTo>
              </a:path>
            </a:pathLst>
          </a:custGeom>
          <a:noFill/>
          <a:ln w="27432" cap="flat">
            <a:solidFill>
              <a:srgbClr val="527BB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Spatial feature transfer tip"/>
          <p:cNvSpPr/>
          <p:nvPr/>
        </p:nvSpPr>
        <p:spPr>
          <a:xfrm>
            <a:off x="11237976" y="4965192"/>
            <a:ext cx="128016" cy="137160"/>
          </a:xfrm>
          <a:custGeom>
            <a:avLst/>
            <a:gdLst/>
            <a:ahLst/>
            <a:cxnLst/>
            <a:rect l="0" t="0" r="r" b="b"/>
            <a:pathLst>
              <a:path w="14000" h="15000">
                <a:moveTo>
                  <a:pt x="7000" y="15000"/>
                </a:moveTo>
                <a:lnTo>
                  <a:pt x="0" y="0"/>
                </a:lnTo>
                <a:lnTo>
                  <a:pt x="14000" y="0"/>
                </a:lnTo>
                <a:close/>
              </a:path>
            </a:pathLst>
          </a:custGeom>
          <a:solidFill>
            <a:srgbClr val="527B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ference stage 1 Spatial-Attn"/>
          <p:cNvSpPr/>
          <p:nvPr/>
        </p:nvSpPr>
        <p:spPr>
          <a:xfrm>
            <a:off x="5020056" y="932688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91A7D0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6" name="Reference stage 1 Cross-Attn"/>
          <p:cNvSpPr/>
          <p:nvPr/>
        </p:nvSpPr>
        <p:spPr>
          <a:xfrm>
            <a:off x="5385816" y="932688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CBE3D3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7" name="Reference stage 2 Spatial-Attn"/>
          <p:cNvSpPr/>
          <p:nvPr/>
        </p:nvSpPr>
        <p:spPr>
          <a:xfrm>
            <a:off x="6858000" y="1353312"/>
            <a:ext cx="292608" cy="1124712"/>
          </a:xfrm>
          <a:prstGeom prst="roundRect">
            <a:avLst>
              <a:gd name="adj" fmla="val 18750"/>
            </a:avLst>
          </a:prstGeom>
          <a:solidFill>
            <a:srgbClr val="91A7D0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8" name="Reference stage 2 Cross-Attn"/>
          <p:cNvSpPr/>
          <p:nvPr/>
        </p:nvSpPr>
        <p:spPr>
          <a:xfrm>
            <a:off x="7223760" y="1353312"/>
            <a:ext cx="292608" cy="1124712"/>
          </a:xfrm>
          <a:prstGeom prst="roundRect">
            <a:avLst>
              <a:gd name="adj" fmla="val 18750"/>
            </a:avLst>
          </a:prstGeom>
          <a:solidFill>
            <a:srgbClr val="CBE3D3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9" name="Reference stage 3 Spatial-Attn"/>
          <p:cNvSpPr/>
          <p:nvPr/>
        </p:nvSpPr>
        <p:spPr>
          <a:xfrm>
            <a:off x="9317736" y="1362456"/>
            <a:ext cx="292608" cy="1133856"/>
          </a:xfrm>
          <a:prstGeom prst="roundRect">
            <a:avLst>
              <a:gd name="adj" fmla="val 18750"/>
            </a:avLst>
          </a:prstGeom>
          <a:solidFill>
            <a:srgbClr val="91A7D0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0" name="Reference stage 3 Cross-Attn"/>
          <p:cNvSpPr/>
          <p:nvPr/>
        </p:nvSpPr>
        <p:spPr>
          <a:xfrm>
            <a:off x="9683496" y="1362456"/>
            <a:ext cx="292608" cy="1133856"/>
          </a:xfrm>
          <a:prstGeom prst="roundRect">
            <a:avLst>
              <a:gd name="adj" fmla="val 18750"/>
            </a:avLst>
          </a:prstGeom>
          <a:solidFill>
            <a:srgbClr val="CBE3D3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1" name="Reference stage 4 Spatial-Attn"/>
          <p:cNvSpPr/>
          <p:nvPr/>
        </p:nvSpPr>
        <p:spPr>
          <a:xfrm>
            <a:off x="11155680" y="941832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91A7D0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2" name="Reference stage 4 Cross-Attn"/>
          <p:cNvSpPr/>
          <p:nvPr/>
        </p:nvSpPr>
        <p:spPr>
          <a:xfrm>
            <a:off x="11521440" y="941832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CBE3D3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3" name="Denoising stage 1 Spatial-Attn"/>
          <p:cNvSpPr/>
          <p:nvPr/>
        </p:nvSpPr>
        <p:spPr>
          <a:xfrm>
            <a:off x="5020056" y="5102352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91A7D0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4" name="Denoising stage 1 Cross-Attn"/>
          <p:cNvSpPr/>
          <p:nvPr/>
        </p:nvSpPr>
        <p:spPr>
          <a:xfrm>
            <a:off x="5385816" y="5102352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CBE3D3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5" name="Denoising stage 1 Temporal-Attn"/>
          <p:cNvSpPr/>
          <p:nvPr/>
        </p:nvSpPr>
        <p:spPr>
          <a:xfrm>
            <a:off x="5742432" y="5102352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FADCC4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6" name="Denoising stage 2 Spatial-Attn"/>
          <p:cNvSpPr/>
          <p:nvPr/>
        </p:nvSpPr>
        <p:spPr>
          <a:xfrm>
            <a:off x="6858000" y="5522976"/>
            <a:ext cx="292608" cy="1124712"/>
          </a:xfrm>
          <a:prstGeom prst="roundRect">
            <a:avLst>
              <a:gd name="adj" fmla="val 18750"/>
            </a:avLst>
          </a:prstGeom>
          <a:solidFill>
            <a:srgbClr val="91A7D0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7" name="Denoising stage 2 Cross-Attn"/>
          <p:cNvSpPr/>
          <p:nvPr/>
        </p:nvSpPr>
        <p:spPr>
          <a:xfrm>
            <a:off x="7223760" y="5522976"/>
            <a:ext cx="292608" cy="1124712"/>
          </a:xfrm>
          <a:prstGeom prst="roundRect">
            <a:avLst>
              <a:gd name="adj" fmla="val 18750"/>
            </a:avLst>
          </a:prstGeom>
          <a:solidFill>
            <a:srgbClr val="CBE3D3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8" name="Denoising stage 2 Temporal-Attn"/>
          <p:cNvSpPr/>
          <p:nvPr/>
        </p:nvSpPr>
        <p:spPr>
          <a:xfrm>
            <a:off x="7580376" y="5522976"/>
            <a:ext cx="292608" cy="1124712"/>
          </a:xfrm>
          <a:prstGeom prst="roundRect">
            <a:avLst>
              <a:gd name="adj" fmla="val 18750"/>
            </a:avLst>
          </a:prstGeom>
          <a:solidFill>
            <a:srgbClr val="FADCC4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9" name="Denoising stage 3 Spatial-Attn selected for MSM"/>
          <p:cNvSpPr/>
          <p:nvPr/>
        </p:nvSpPr>
        <p:spPr>
          <a:xfrm>
            <a:off x="9317736" y="5522976"/>
            <a:ext cx="292608" cy="1124712"/>
          </a:xfrm>
          <a:prstGeom prst="roundRect">
            <a:avLst>
              <a:gd name="adj" fmla="val 18750"/>
            </a:avLst>
          </a:prstGeom>
          <a:solidFill>
            <a:srgbClr val="91A7D0"/>
          </a:solidFill>
          <a:ln w="22859" cap="flat">
            <a:solidFill>
              <a:srgbClr val="787670"/>
            </a:solidFill>
            <a:custDash>
              <a:ds d="400000" sp="280000"/>
            </a:custDash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0" name="Denoising stage 3 Cross-Attn"/>
          <p:cNvSpPr/>
          <p:nvPr/>
        </p:nvSpPr>
        <p:spPr>
          <a:xfrm>
            <a:off x="9683496" y="5522976"/>
            <a:ext cx="292608" cy="1124712"/>
          </a:xfrm>
          <a:prstGeom prst="roundRect">
            <a:avLst>
              <a:gd name="adj" fmla="val 18750"/>
            </a:avLst>
          </a:prstGeom>
          <a:solidFill>
            <a:srgbClr val="CBE3D3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1" name="Denoising stage 3 Temporal-Attn"/>
          <p:cNvSpPr/>
          <p:nvPr/>
        </p:nvSpPr>
        <p:spPr>
          <a:xfrm>
            <a:off x="10040112" y="5522976"/>
            <a:ext cx="292608" cy="1124712"/>
          </a:xfrm>
          <a:prstGeom prst="roundRect">
            <a:avLst>
              <a:gd name="adj" fmla="val 18750"/>
            </a:avLst>
          </a:prstGeom>
          <a:solidFill>
            <a:srgbClr val="FADCC4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2" name="Denoising stage 4 Spatial-Attn selected for MSM"/>
          <p:cNvSpPr/>
          <p:nvPr/>
        </p:nvSpPr>
        <p:spPr>
          <a:xfrm>
            <a:off x="11155680" y="5102352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91A7D0"/>
          </a:solidFill>
          <a:ln w="22859" cap="flat">
            <a:solidFill>
              <a:srgbClr val="787670"/>
            </a:solidFill>
            <a:custDash>
              <a:ds d="400000" sp="280000"/>
            </a:custDash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3" name="Denoising stage 4 Cross-Attn"/>
          <p:cNvSpPr/>
          <p:nvPr/>
        </p:nvSpPr>
        <p:spPr>
          <a:xfrm>
            <a:off x="11521440" y="5102352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CBE3D3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4" name="Denoising stage 4 Temporal-Attn"/>
          <p:cNvSpPr/>
          <p:nvPr/>
        </p:nvSpPr>
        <p:spPr>
          <a:xfrm>
            <a:off x="11878056" y="5102352"/>
            <a:ext cx="292608" cy="1965960"/>
          </a:xfrm>
          <a:prstGeom prst="roundRect">
            <a:avLst>
              <a:gd name="adj" fmla="val 18750"/>
            </a:avLst>
          </a:prstGeom>
          <a:solidFill>
            <a:srgbClr val="FADCC4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5" name="Reference pose canvas"/>
          <p:cNvSpPr/>
          <p:nvPr/>
        </p:nvSpPr>
        <p:spPr>
          <a:xfrm>
            <a:off x="100584" y="256032"/>
            <a:ext cx="1847088" cy="1847088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6" name="Reference pose 00E600 bone 1"/>
          <p:cNvSpPr/>
          <p:nvPr/>
        </p:nvSpPr>
        <p:spPr>
          <a:xfrm>
            <a:off x="649224" y="722376"/>
            <a:ext cx="118872" cy="27432"/>
          </a:xfrm>
          <a:custGeom>
            <a:avLst/>
            <a:gdLst/>
            <a:ahLst/>
            <a:cxnLst/>
            <a:rect l="0" t="0" r="r" b="b"/>
            <a:pathLst>
              <a:path w="13000" h="3000">
                <a:moveTo>
                  <a:pt x="0" y="2000"/>
                </a:moveTo>
                <a:lnTo>
                  <a:pt x="3000" y="0"/>
                </a:lnTo>
                <a:lnTo>
                  <a:pt x="6000" y="3000"/>
                </a:lnTo>
                <a:lnTo>
                  <a:pt x="10000" y="0"/>
                </a:lnTo>
                <a:lnTo>
                  <a:pt x="13000" y="2000"/>
                </a:lnTo>
              </a:path>
            </a:pathLst>
          </a:custGeom>
          <a:noFill/>
          <a:ln w="12344" cap="flat">
            <a:solidFill>
              <a:srgbClr val="00E6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ference pose 00E600 bone 2"/>
          <p:cNvSpPr/>
          <p:nvPr/>
        </p:nvSpPr>
        <p:spPr>
          <a:xfrm>
            <a:off x="694944" y="749808"/>
            <a:ext cx="9144" cy="155448"/>
          </a:xfrm>
          <a:custGeom>
            <a:avLst/>
            <a:gdLst/>
            <a:ahLst/>
            <a:cxnLst/>
            <a:rect l="0" t="0" r="r" b="b"/>
            <a:pathLst>
              <a:path w="1000" h="17000">
                <a:moveTo>
                  <a:pt x="1000" y="0"/>
                </a:moveTo>
                <a:lnTo>
                  <a:pt x="0" y="17000"/>
                </a:lnTo>
              </a:path>
            </a:pathLst>
          </a:custGeom>
          <a:noFill/>
          <a:ln w="12344" cap="flat">
            <a:solidFill>
              <a:srgbClr val="00E6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ference pose 00E600 bone 3"/>
          <p:cNvSpPr/>
          <p:nvPr/>
        </p:nvSpPr>
        <p:spPr>
          <a:xfrm>
            <a:off x="566928" y="905256"/>
            <a:ext cx="228600" cy="18288"/>
          </a:xfrm>
          <a:custGeom>
            <a:avLst/>
            <a:gdLst/>
            <a:ahLst/>
            <a:cxnLst/>
            <a:rect l="0" t="0" r="r" b="b"/>
            <a:pathLst>
              <a:path w="25000" h="2000">
                <a:moveTo>
                  <a:pt x="0" y="0"/>
                </a:moveTo>
                <a:lnTo>
                  <a:pt x="14000" y="1000"/>
                </a:lnTo>
                <a:lnTo>
                  <a:pt x="25000" y="2000"/>
                </a:lnTo>
              </a:path>
            </a:pathLst>
          </a:custGeom>
          <a:noFill/>
          <a:ln w="12344" cap="flat">
            <a:solidFill>
              <a:srgbClr val="00E6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ference pose 00E600 bone 4"/>
          <p:cNvSpPr/>
          <p:nvPr/>
        </p:nvSpPr>
        <p:spPr>
          <a:xfrm>
            <a:off x="521208" y="905256"/>
            <a:ext cx="45720" cy="374904"/>
          </a:xfrm>
          <a:custGeom>
            <a:avLst/>
            <a:gdLst/>
            <a:ahLst/>
            <a:cxnLst/>
            <a:rect l="0" t="0" r="r" b="b"/>
            <a:pathLst>
              <a:path w="5000" h="41000">
                <a:moveTo>
                  <a:pt x="5000" y="0"/>
                </a:moveTo>
                <a:lnTo>
                  <a:pt x="2000" y="21000"/>
                </a:lnTo>
                <a:lnTo>
                  <a:pt x="0" y="41000"/>
                </a:lnTo>
              </a:path>
            </a:pathLst>
          </a:custGeom>
          <a:noFill/>
          <a:ln w="12344" cap="flat">
            <a:solidFill>
              <a:srgbClr val="00E6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ference pose 00E600 bone 5"/>
          <p:cNvSpPr/>
          <p:nvPr/>
        </p:nvSpPr>
        <p:spPr>
          <a:xfrm>
            <a:off x="795528" y="923544"/>
            <a:ext cx="73152" cy="365760"/>
          </a:xfrm>
          <a:custGeom>
            <a:avLst/>
            <a:gdLst/>
            <a:ahLst/>
            <a:cxnLst/>
            <a:rect l="0" t="0" r="r" b="b"/>
            <a:pathLst>
              <a:path w="8000" h="40000">
                <a:moveTo>
                  <a:pt x="0" y="0"/>
                </a:moveTo>
                <a:lnTo>
                  <a:pt x="4000" y="20000"/>
                </a:lnTo>
                <a:lnTo>
                  <a:pt x="8000" y="40000"/>
                </a:lnTo>
              </a:path>
            </a:pathLst>
          </a:custGeom>
          <a:noFill/>
          <a:ln w="12344" cap="flat">
            <a:solidFill>
              <a:srgbClr val="00E6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ference pose 00E600 bone 6"/>
          <p:cNvSpPr/>
          <p:nvPr/>
        </p:nvSpPr>
        <p:spPr>
          <a:xfrm>
            <a:off x="649224" y="914400"/>
            <a:ext cx="45720" cy="932688"/>
          </a:xfrm>
          <a:custGeom>
            <a:avLst/>
            <a:gdLst/>
            <a:ahLst/>
            <a:cxnLst/>
            <a:rect l="0" t="0" r="r" b="b"/>
            <a:pathLst>
              <a:path w="5000" h="102000">
                <a:moveTo>
                  <a:pt x="5000" y="0"/>
                </a:moveTo>
                <a:lnTo>
                  <a:pt x="0" y="38000"/>
                </a:lnTo>
                <a:lnTo>
                  <a:pt x="2000" y="65000"/>
                </a:lnTo>
                <a:lnTo>
                  <a:pt x="0" y="102000"/>
                </a:lnTo>
              </a:path>
            </a:pathLst>
          </a:custGeom>
          <a:noFill/>
          <a:ln w="12344" cap="flat">
            <a:solidFill>
              <a:srgbClr val="00E6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ference pose 00E600 bone 7"/>
          <p:cNvSpPr/>
          <p:nvPr/>
        </p:nvSpPr>
        <p:spPr>
          <a:xfrm>
            <a:off x="694944" y="914400"/>
            <a:ext cx="91440" cy="950976"/>
          </a:xfrm>
          <a:custGeom>
            <a:avLst/>
            <a:gdLst/>
            <a:ahLst/>
            <a:cxnLst/>
            <a:rect l="0" t="0" r="r" b="b"/>
            <a:pathLst>
              <a:path w="10000" h="104000">
                <a:moveTo>
                  <a:pt x="0" y="0"/>
                </a:moveTo>
                <a:lnTo>
                  <a:pt x="8000" y="39000"/>
                </a:lnTo>
                <a:lnTo>
                  <a:pt x="10000" y="66000"/>
                </a:lnTo>
                <a:lnTo>
                  <a:pt x="6000" y="104000"/>
                </a:lnTo>
              </a:path>
            </a:pathLst>
          </a:custGeom>
          <a:noFill/>
          <a:ln w="12344" cap="flat">
            <a:solidFill>
              <a:srgbClr val="00E6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ference pose E63000 bone 1"/>
          <p:cNvSpPr/>
          <p:nvPr/>
        </p:nvSpPr>
        <p:spPr>
          <a:xfrm>
            <a:off x="1316736" y="758952"/>
            <a:ext cx="118872" cy="27432"/>
          </a:xfrm>
          <a:custGeom>
            <a:avLst/>
            <a:gdLst/>
            <a:ahLst/>
            <a:cxnLst/>
            <a:rect l="0" t="0" r="r" b="b"/>
            <a:pathLst>
              <a:path w="13000" h="3000">
                <a:moveTo>
                  <a:pt x="0" y="2000"/>
                </a:moveTo>
                <a:lnTo>
                  <a:pt x="4000" y="0"/>
                </a:lnTo>
                <a:lnTo>
                  <a:pt x="7000" y="3000"/>
                </a:lnTo>
                <a:lnTo>
                  <a:pt x="10000" y="0"/>
                </a:lnTo>
                <a:lnTo>
                  <a:pt x="13000" y="2000"/>
                </a:lnTo>
              </a:path>
            </a:pathLst>
          </a:custGeom>
          <a:noFill/>
          <a:ln w="12344" cap="flat">
            <a:solidFill>
              <a:srgbClr val="E630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ference pose E63000 bone 2"/>
          <p:cNvSpPr/>
          <p:nvPr/>
        </p:nvSpPr>
        <p:spPr>
          <a:xfrm>
            <a:off x="1362456" y="786384"/>
            <a:ext cx="18288" cy="128016"/>
          </a:xfrm>
          <a:custGeom>
            <a:avLst/>
            <a:gdLst/>
            <a:ahLst/>
            <a:cxnLst/>
            <a:rect l="0" t="0" r="r" b="b"/>
            <a:pathLst>
              <a:path w="2000" h="14000">
                <a:moveTo>
                  <a:pt x="2000" y="0"/>
                </a:moveTo>
                <a:lnTo>
                  <a:pt x="0" y="14000"/>
                </a:lnTo>
              </a:path>
            </a:pathLst>
          </a:custGeom>
          <a:noFill/>
          <a:ln w="12344" cap="flat">
            <a:solidFill>
              <a:srgbClr val="E630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ference pose E63000 bone 3"/>
          <p:cNvSpPr/>
          <p:nvPr/>
        </p:nvSpPr>
        <p:spPr>
          <a:xfrm>
            <a:off x="1252728" y="905256"/>
            <a:ext cx="219456" cy="9144"/>
          </a:xfrm>
          <a:custGeom>
            <a:avLst/>
            <a:gdLst/>
            <a:ahLst/>
            <a:cxnLst/>
            <a:rect l="0" t="0" r="r" b="b"/>
            <a:pathLst>
              <a:path w="24000" h="1000">
                <a:moveTo>
                  <a:pt x="0" y="1000"/>
                </a:moveTo>
                <a:lnTo>
                  <a:pt x="12000" y="0"/>
                </a:lnTo>
                <a:lnTo>
                  <a:pt x="24000" y="0"/>
                </a:lnTo>
              </a:path>
            </a:pathLst>
          </a:custGeom>
          <a:noFill/>
          <a:ln w="12344" cap="flat">
            <a:solidFill>
              <a:srgbClr val="E630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ference pose E63000 bone 4"/>
          <p:cNvSpPr/>
          <p:nvPr/>
        </p:nvSpPr>
        <p:spPr>
          <a:xfrm>
            <a:off x="1207008" y="914400"/>
            <a:ext cx="45720" cy="365760"/>
          </a:xfrm>
          <a:custGeom>
            <a:avLst/>
            <a:gdLst/>
            <a:ahLst/>
            <a:cxnLst/>
            <a:rect l="0" t="0" r="r" b="b"/>
            <a:pathLst>
              <a:path w="5000" h="40000">
                <a:moveTo>
                  <a:pt x="5000" y="0"/>
                </a:moveTo>
                <a:lnTo>
                  <a:pt x="2000" y="22000"/>
                </a:lnTo>
                <a:lnTo>
                  <a:pt x="0" y="40000"/>
                </a:lnTo>
              </a:path>
            </a:pathLst>
          </a:custGeom>
          <a:noFill/>
          <a:ln w="12344" cap="flat">
            <a:solidFill>
              <a:srgbClr val="E630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ference pose E63000 bone 5"/>
          <p:cNvSpPr/>
          <p:nvPr/>
        </p:nvSpPr>
        <p:spPr>
          <a:xfrm>
            <a:off x="1472184" y="905256"/>
            <a:ext cx="45720" cy="301752"/>
          </a:xfrm>
          <a:custGeom>
            <a:avLst/>
            <a:gdLst/>
            <a:ahLst/>
            <a:cxnLst/>
            <a:rect l="0" t="0" r="r" b="b"/>
            <a:pathLst>
              <a:path w="5000" h="33000">
                <a:moveTo>
                  <a:pt x="0" y="0"/>
                </a:moveTo>
                <a:lnTo>
                  <a:pt x="4000" y="17000"/>
                </a:lnTo>
                <a:lnTo>
                  <a:pt x="5000" y="33000"/>
                </a:lnTo>
              </a:path>
            </a:pathLst>
          </a:custGeom>
          <a:noFill/>
          <a:ln w="12344" cap="flat">
            <a:solidFill>
              <a:srgbClr val="E630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ference pose E63000 bone 6"/>
          <p:cNvSpPr/>
          <p:nvPr/>
        </p:nvSpPr>
        <p:spPr>
          <a:xfrm>
            <a:off x="1325880" y="914400"/>
            <a:ext cx="64008" cy="868680"/>
          </a:xfrm>
          <a:custGeom>
            <a:avLst/>
            <a:gdLst/>
            <a:ahLst/>
            <a:cxnLst/>
            <a:rect l="0" t="0" r="r" b="b"/>
            <a:pathLst>
              <a:path w="7000" h="95000">
                <a:moveTo>
                  <a:pt x="4000" y="0"/>
                </a:moveTo>
                <a:lnTo>
                  <a:pt x="0" y="37000"/>
                </a:lnTo>
                <a:lnTo>
                  <a:pt x="7000" y="68000"/>
                </a:lnTo>
                <a:lnTo>
                  <a:pt x="3000" y="95000"/>
                </a:lnTo>
              </a:path>
            </a:pathLst>
          </a:custGeom>
          <a:noFill/>
          <a:ln w="12344" cap="flat">
            <a:solidFill>
              <a:srgbClr val="E630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ference pose E63000 bone 7"/>
          <p:cNvSpPr/>
          <p:nvPr/>
        </p:nvSpPr>
        <p:spPr>
          <a:xfrm>
            <a:off x="1362456" y="914400"/>
            <a:ext cx="100584" cy="886968"/>
          </a:xfrm>
          <a:custGeom>
            <a:avLst/>
            <a:gdLst/>
            <a:ahLst/>
            <a:cxnLst/>
            <a:rect l="0" t="0" r="r" b="b"/>
            <a:pathLst>
              <a:path w="11000" h="97000">
                <a:moveTo>
                  <a:pt x="0" y="0"/>
                </a:moveTo>
                <a:lnTo>
                  <a:pt x="10000" y="39000"/>
                </a:lnTo>
                <a:lnTo>
                  <a:pt x="11000" y="69000"/>
                </a:lnTo>
                <a:lnTo>
                  <a:pt x="9000" y="97000"/>
                </a:lnTo>
              </a:path>
            </a:pathLst>
          </a:custGeom>
          <a:noFill/>
          <a:ln w="12344" cap="flat">
            <a:solidFill>
              <a:srgbClr val="E630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0" name="Reference photograph" descr="Reference_photo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2514600"/>
            <a:ext cx="1847088" cy="1847088"/>
          </a:xfrm>
          <a:prstGeom prst="rect">
            <a:avLst/>
          </a:prstGeom>
        </p:spPr>
      </p:pic>
      <p:sp>
        <p:nvSpPr>
          <p:cNvPr id="111" name="Target pose frame canvas"/>
          <p:cNvSpPr/>
          <p:nvPr/>
        </p:nvSpPr>
        <p:spPr>
          <a:xfrm>
            <a:off x="228600" y="5093208"/>
            <a:ext cx="1719072" cy="1719072"/>
          </a:xfrm>
          <a:prstGeom prst="rect">
            <a:avLst/>
          </a:prstGeom>
          <a:solidFill>
            <a:srgbClr val="000000"/>
          </a:solidFill>
          <a:ln w="18288" cap="flat">
            <a:solidFill>
              <a:srgbClr val="696A68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2" name="Target pose frame canvas"/>
          <p:cNvSpPr/>
          <p:nvPr/>
        </p:nvSpPr>
        <p:spPr>
          <a:xfrm>
            <a:off x="164592" y="5157216"/>
            <a:ext cx="1719072" cy="1719072"/>
          </a:xfrm>
          <a:prstGeom prst="rect">
            <a:avLst/>
          </a:prstGeom>
          <a:solidFill>
            <a:srgbClr val="000000"/>
          </a:solidFill>
          <a:ln w="18288" cap="flat">
            <a:solidFill>
              <a:srgbClr val="696A68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3" name="Target pose frame canvas"/>
          <p:cNvSpPr/>
          <p:nvPr/>
        </p:nvSpPr>
        <p:spPr>
          <a:xfrm>
            <a:off x="91440" y="5230368"/>
            <a:ext cx="1719072" cy="1719072"/>
          </a:xfrm>
          <a:prstGeom prst="rect">
            <a:avLst/>
          </a:prstGeom>
          <a:solidFill>
            <a:srgbClr val="000000"/>
          </a:solidFill>
          <a:ln w="18288" cap="flat">
            <a:solidFill>
              <a:srgbClr val="696A68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4" name="Target pose EB3500 bone 1"/>
          <p:cNvSpPr/>
          <p:nvPr/>
        </p:nvSpPr>
        <p:spPr>
          <a:xfrm>
            <a:off x="649224" y="5669280"/>
            <a:ext cx="137160" cy="36576"/>
          </a:xfrm>
          <a:custGeom>
            <a:avLst/>
            <a:gdLst/>
            <a:ahLst/>
            <a:cxnLst/>
            <a:rect l="0" t="0" r="r" b="b"/>
            <a:pathLst>
              <a:path w="15000" h="4000">
                <a:moveTo>
                  <a:pt x="0" y="3000"/>
                </a:moveTo>
                <a:lnTo>
                  <a:pt x="4000" y="0"/>
                </a:lnTo>
                <a:lnTo>
                  <a:pt x="7000" y="4000"/>
                </a:lnTo>
                <a:lnTo>
                  <a:pt x="11000" y="0"/>
                </a:lnTo>
                <a:lnTo>
                  <a:pt x="15000" y="3000"/>
                </a:lnTo>
              </a:path>
            </a:pathLst>
          </a:custGeom>
          <a:noFill/>
          <a:ln w="13258" cap="flat">
            <a:solidFill>
              <a:srgbClr val="EB35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arget pose EB3500 bone 2"/>
          <p:cNvSpPr/>
          <p:nvPr/>
        </p:nvSpPr>
        <p:spPr>
          <a:xfrm>
            <a:off x="704088" y="5696712"/>
            <a:ext cx="9144" cy="118872"/>
          </a:xfrm>
          <a:custGeom>
            <a:avLst/>
            <a:gdLst/>
            <a:ahLst/>
            <a:cxnLst/>
            <a:rect l="0" t="0" r="r" b="b"/>
            <a:pathLst>
              <a:path w="1000" h="13000">
                <a:moveTo>
                  <a:pt x="1000" y="0"/>
                </a:moveTo>
                <a:lnTo>
                  <a:pt x="0" y="13000"/>
                </a:lnTo>
              </a:path>
            </a:pathLst>
          </a:custGeom>
          <a:noFill/>
          <a:ln w="13258" cap="flat">
            <a:solidFill>
              <a:srgbClr val="EB35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arget pose EB3500 bone 3"/>
          <p:cNvSpPr/>
          <p:nvPr/>
        </p:nvSpPr>
        <p:spPr>
          <a:xfrm>
            <a:off x="356616" y="5623560"/>
            <a:ext cx="640080" cy="493776"/>
          </a:xfrm>
          <a:custGeom>
            <a:avLst/>
            <a:gdLst/>
            <a:ahLst/>
            <a:cxnLst/>
            <a:rect l="0" t="0" r="r" b="b"/>
            <a:pathLst>
              <a:path w="70000" h="54000">
                <a:moveTo>
                  <a:pt x="0" y="0"/>
                </a:moveTo>
                <a:lnTo>
                  <a:pt x="4000" y="17000"/>
                </a:lnTo>
                <a:lnTo>
                  <a:pt x="38000" y="21000"/>
                </a:lnTo>
                <a:lnTo>
                  <a:pt x="49000" y="23000"/>
                </a:lnTo>
                <a:lnTo>
                  <a:pt x="56000" y="46000"/>
                </a:lnTo>
                <a:lnTo>
                  <a:pt x="70000" y="54000"/>
                </a:lnTo>
              </a:path>
            </a:pathLst>
          </a:custGeom>
          <a:noFill/>
          <a:ln w="13258" cap="flat">
            <a:solidFill>
              <a:srgbClr val="EB35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arget pose EB3500 bone 4"/>
          <p:cNvSpPr/>
          <p:nvPr/>
        </p:nvSpPr>
        <p:spPr>
          <a:xfrm>
            <a:off x="448056" y="5824728"/>
            <a:ext cx="256032" cy="905256"/>
          </a:xfrm>
          <a:custGeom>
            <a:avLst/>
            <a:gdLst/>
            <a:ahLst/>
            <a:cxnLst/>
            <a:rect l="0" t="0" r="r" b="b"/>
            <a:pathLst>
              <a:path w="28000" h="99000">
                <a:moveTo>
                  <a:pt x="28000" y="0"/>
                </a:moveTo>
                <a:lnTo>
                  <a:pt x="22000" y="41000"/>
                </a:lnTo>
                <a:lnTo>
                  <a:pt x="0" y="65000"/>
                </a:lnTo>
                <a:lnTo>
                  <a:pt x="7000" y="99000"/>
                </a:lnTo>
              </a:path>
            </a:pathLst>
          </a:custGeom>
          <a:noFill/>
          <a:ln w="13258" cap="flat">
            <a:solidFill>
              <a:srgbClr val="EB35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arget pose EB3500 bone 5"/>
          <p:cNvSpPr/>
          <p:nvPr/>
        </p:nvSpPr>
        <p:spPr>
          <a:xfrm>
            <a:off x="704088" y="5824728"/>
            <a:ext cx="228600" cy="886968"/>
          </a:xfrm>
          <a:custGeom>
            <a:avLst/>
            <a:gdLst/>
            <a:ahLst/>
            <a:cxnLst/>
            <a:rect l="0" t="0" r="r" b="b"/>
            <a:pathLst>
              <a:path w="25000" h="97000">
                <a:moveTo>
                  <a:pt x="0" y="0"/>
                </a:moveTo>
                <a:lnTo>
                  <a:pt x="11000" y="40000"/>
                </a:lnTo>
                <a:lnTo>
                  <a:pt x="13000" y="69000"/>
                </a:lnTo>
                <a:lnTo>
                  <a:pt x="25000" y="97000"/>
                </a:lnTo>
              </a:path>
            </a:pathLst>
          </a:custGeom>
          <a:noFill/>
          <a:ln w="13258" cap="flat">
            <a:solidFill>
              <a:srgbClr val="EB35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arget pose 00E700 bone 1"/>
          <p:cNvSpPr/>
          <p:nvPr/>
        </p:nvSpPr>
        <p:spPr>
          <a:xfrm>
            <a:off x="1289304" y="5733288"/>
            <a:ext cx="128016" cy="27432"/>
          </a:xfrm>
          <a:custGeom>
            <a:avLst/>
            <a:gdLst/>
            <a:ahLst/>
            <a:cxnLst/>
            <a:rect l="0" t="0" r="r" b="b"/>
            <a:pathLst>
              <a:path w="14000" h="3000">
                <a:moveTo>
                  <a:pt x="0" y="2000"/>
                </a:moveTo>
                <a:lnTo>
                  <a:pt x="5000" y="0"/>
                </a:lnTo>
                <a:lnTo>
                  <a:pt x="9000" y="3000"/>
                </a:lnTo>
                <a:lnTo>
                  <a:pt x="12000" y="0"/>
                </a:lnTo>
                <a:lnTo>
                  <a:pt x="14000" y="3000"/>
                </a:lnTo>
              </a:path>
            </a:pathLst>
          </a:custGeom>
          <a:noFill/>
          <a:ln w="13258" cap="flat">
            <a:solidFill>
              <a:srgbClr val="00E7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arget pose 00E700 bone 2"/>
          <p:cNvSpPr/>
          <p:nvPr/>
        </p:nvSpPr>
        <p:spPr>
          <a:xfrm>
            <a:off x="1325880" y="5751576"/>
            <a:ext cx="27432" cy="118872"/>
          </a:xfrm>
          <a:custGeom>
            <a:avLst/>
            <a:gdLst/>
            <a:ahLst/>
            <a:cxnLst/>
            <a:rect l="0" t="0" r="r" b="b"/>
            <a:pathLst>
              <a:path w="3000" h="13000">
                <a:moveTo>
                  <a:pt x="3000" y="0"/>
                </a:moveTo>
                <a:lnTo>
                  <a:pt x="0" y="13000"/>
                </a:lnTo>
              </a:path>
            </a:pathLst>
          </a:custGeom>
          <a:noFill/>
          <a:ln w="13258" cap="flat">
            <a:solidFill>
              <a:srgbClr val="00E7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arget pose 00E700 bone 3"/>
          <p:cNvSpPr/>
          <p:nvPr/>
        </p:nvSpPr>
        <p:spPr>
          <a:xfrm>
            <a:off x="1005840" y="5660136"/>
            <a:ext cx="640080" cy="448056"/>
          </a:xfrm>
          <a:custGeom>
            <a:avLst/>
            <a:gdLst/>
            <a:ahLst/>
            <a:cxnLst/>
            <a:rect l="0" t="0" r="r" b="b"/>
            <a:pathLst>
              <a:path w="70000" h="49000">
                <a:moveTo>
                  <a:pt x="0" y="0"/>
                </a:moveTo>
                <a:lnTo>
                  <a:pt x="7000" y="17000"/>
                </a:lnTo>
                <a:lnTo>
                  <a:pt x="24000" y="22000"/>
                </a:lnTo>
                <a:lnTo>
                  <a:pt x="35000" y="22000"/>
                </a:lnTo>
                <a:lnTo>
                  <a:pt x="46000" y="25000"/>
                </a:lnTo>
                <a:lnTo>
                  <a:pt x="54000" y="43000"/>
                </a:lnTo>
                <a:lnTo>
                  <a:pt x="70000" y="49000"/>
                </a:lnTo>
              </a:path>
            </a:pathLst>
          </a:custGeom>
          <a:noFill/>
          <a:ln w="13258" cap="flat">
            <a:solidFill>
              <a:srgbClr val="00E7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arget pose 00E700 bone 4"/>
          <p:cNvSpPr/>
          <p:nvPr/>
        </p:nvSpPr>
        <p:spPr>
          <a:xfrm>
            <a:off x="1170432" y="5870448"/>
            <a:ext cx="155448" cy="813816"/>
          </a:xfrm>
          <a:custGeom>
            <a:avLst/>
            <a:gdLst/>
            <a:ahLst/>
            <a:cxnLst/>
            <a:rect l="0" t="0" r="r" b="b"/>
            <a:pathLst>
              <a:path w="17000" h="89000">
                <a:moveTo>
                  <a:pt x="17000" y="0"/>
                </a:moveTo>
                <a:lnTo>
                  <a:pt x="11000" y="40000"/>
                </a:lnTo>
                <a:lnTo>
                  <a:pt x="0" y="58000"/>
                </a:lnTo>
                <a:lnTo>
                  <a:pt x="4000" y="89000"/>
                </a:lnTo>
              </a:path>
            </a:pathLst>
          </a:custGeom>
          <a:noFill/>
          <a:ln w="13258" cap="flat">
            <a:solidFill>
              <a:srgbClr val="00E7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arget pose 00E700 bone 5"/>
          <p:cNvSpPr/>
          <p:nvPr/>
        </p:nvSpPr>
        <p:spPr>
          <a:xfrm>
            <a:off x="1325880" y="5870448"/>
            <a:ext cx="274320" cy="813816"/>
          </a:xfrm>
          <a:custGeom>
            <a:avLst/>
            <a:gdLst/>
            <a:ahLst/>
            <a:cxnLst/>
            <a:rect l="0" t="0" r="r" b="b"/>
            <a:pathLst>
              <a:path w="30000" h="89000">
                <a:moveTo>
                  <a:pt x="0" y="0"/>
                </a:moveTo>
                <a:lnTo>
                  <a:pt x="10000" y="38000"/>
                </a:lnTo>
                <a:lnTo>
                  <a:pt x="21000" y="66000"/>
                </a:lnTo>
                <a:lnTo>
                  <a:pt x="30000" y="89000"/>
                </a:lnTo>
              </a:path>
            </a:pathLst>
          </a:custGeom>
          <a:noFill/>
          <a:ln w="13258" cap="flat">
            <a:solidFill>
              <a:srgbClr val="00E70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Noise frame edge"/>
          <p:cNvSpPr/>
          <p:nvPr/>
        </p:nvSpPr>
        <p:spPr>
          <a:xfrm>
            <a:off x="1828800" y="7790688"/>
            <a:ext cx="1161288" cy="1170432"/>
          </a:xfrm>
          <a:prstGeom prst="rect">
            <a:avLst/>
          </a:prstGeom>
          <a:solidFill>
            <a:srgbClr val="AAAAAA"/>
          </a:solidFill>
          <a:ln w="18288" cap="flat">
            <a:solidFill>
              <a:srgbClr val="656565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5" name="Noise texture 200" descr="Noise_texture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4" y="7799832"/>
            <a:ext cx="1143000" cy="1152144"/>
          </a:xfrm>
          <a:prstGeom prst="rect">
            <a:avLst/>
          </a:prstGeom>
        </p:spPr>
      </p:pic>
      <p:sp>
        <p:nvSpPr>
          <p:cNvPr id="126" name="Noise frame edge"/>
          <p:cNvSpPr/>
          <p:nvPr/>
        </p:nvSpPr>
        <p:spPr>
          <a:xfrm>
            <a:off x="1737360" y="7872984"/>
            <a:ext cx="1170432" cy="1179576"/>
          </a:xfrm>
          <a:prstGeom prst="rect">
            <a:avLst/>
          </a:prstGeom>
          <a:solidFill>
            <a:srgbClr val="AAAAAA"/>
          </a:solidFill>
          <a:ln w="18288" cap="flat">
            <a:solidFill>
              <a:srgbClr val="656565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7" name="Noise texture 190" descr="Noise_texture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504" y="7882128"/>
            <a:ext cx="1152144" cy="1161288"/>
          </a:xfrm>
          <a:prstGeom prst="rect">
            <a:avLst/>
          </a:prstGeom>
        </p:spPr>
      </p:pic>
      <p:sp>
        <p:nvSpPr>
          <p:cNvPr id="128" name="Noise frame edge"/>
          <p:cNvSpPr/>
          <p:nvPr/>
        </p:nvSpPr>
        <p:spPr>
          <a:xfrm>
            <a:off x="1645920" y="7964424"/>
            <a:ext cx="1170432" cy="1161288"/>
          </a:xfrm>
          <a:prstGeom prst="rect">
            <a:avLst/>
          </a:prstGeom>
          <a:solidFill>
            <a:srgbClr val="AAAAAA"/>
          </a:solidFill>
          <a:ln w="18288" cap="flat">
            <a:solidFill>
              <a:srgbClr val="656565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9" name="Noise texture 180" descr="Noise_texture_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064" y="7973568"/>
            <a:ext cx="1152144" cy="1143000"/>
          </a:xfrm>
          <a:prstGeom prst="rect">
            <a:avLst/>
          </a:prstGeom>
        </p:spPr>
      </p:pic>
      <p:sp>
        <p:nvSpPr>
          <p:cNvPr id="130" name="Reference pose encoder body"/>
          <p:cNvSpPr/>
          <p:nvPr/>
        </p:nvSpPr>
        <p:spPr>
          <a:xfrm>
            <a:off x="2606040" y="512064"/>
            <a:ext cx="832104" cy="1325880"/>
          </a:xfrm>
          <a:custGeom>
            <a:avLst/>
            <a:gdLst/>
            <a:ahLst/>
            <a:cxnLst/>
            <a:rect l="0" t="0" r="r" b="b"/>
            <a:pathLst>
              <a:path w="91000" h="145000">
                <a:moveTo>
                  <a:pt x="0" y="0"/>
                </a:moveTo>
                <a:lnTo>
                  <a:pt x="91000" y="36000"/>
                </a:lnTo>
                <a:lnTo>
                  <a:pt x="91000" y="109000"/>
                </a:lnTo>
                <a:lnTo>
                  <a:pt x="0" y="145000"/>
                </a:lnTo>
                <a:close/>
              </a:path>
            </a:pathLst>
          </a:custGeom>
          <a:solidFill>
            <a:srgbClr val="FAFAFA"/>
          </a:solidFill>
          <a:ln w="23774" cap="flat">
            <a:solidFill>
              <a:srgbClr val="60615E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1" name="Reference pose encoder line 1"/>
          <p:cNvSpPr txBox="1"/>
          <p:nvPr/>
        </p:nvSpPr>
        <p:spPr>
          <a:xfrm>
            <a:off x="2578608" y="786384"/>
            <a:ext cx="813816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62626"/>
                </a:solidFill>
                <a:latin typeface="DejaVu Sans Mono"/>
              </a:rPr>
              <a:t>Pose</a:t>
            </a:r>
          </a:p>
        </p:txBody>
      </p:sp>
      <p:sp>
        <p:nvSpPr>
          <p:cNvPr id="132" name="Reference pose encoder line 2"/>
          <p:cNvSpPr txBox="1"/>
          <p:nvPr/>
        </p:nvSpPr>
        <p:spPr>
          <a:xfrm>
            <a:off x="2578608" y="1161288"/>
            <a:ext cx="813816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62626"/>
                </a:solidFill>
                <a:latin typeface="DejaVu Sans Mono"/>
              </a:rPr>
              <a:t>Enc</a:t>
            </a:r>
          </a:p>
        </p:txBody>
      </p:sp>
      <p:sp>
        <p:nvSpPr>
          <p:cNvPr id="133" name="Reference VAE encoder body"/>
          <p:cNvSpPr/>
          <p:nvPr/>
        </p:nvSpPr>
        <p:spPr>
          <a:xfrm>
            <a:off x="2606040" y="2002536"/>
            <a:ext cx="832104" cy="1316736"/>
          </a:xfrm>
          <a:custGeom>
            <a:avLst/>
            <a:gdLst/>
            <a:ahLst/>
            <a:cxnLst/>
            <a:rect l="0" t="0" r="r" b="b"/>
            <a:pathLst>
              <a:path w="91000" h="144000">
                <a:moveTo>
                  <a:pt x="0" y="0"/>
                </a:moveTo>
                <a:lnTo>
                  <a:pt x="91000" y="36000"/>
                </a:lnTo>
                <a:lnTo>
                  <a:pt x="91000" y="108000"/>
                </a:lnTo>
                <a:lnTo>
                  <a:pt x="0" y="144000"/>
                </a:lnTo>
                <a:close/>
              </a:path>
            </a:pathLst>
          </a:custGeom>
          <a:solidFill>
            <a:srgbClr val="FAFAFA"/>
          </a:solidFill>
          <a:ln w="23774" cap="flat">
            <a:solidFill>
              <a:srgbClr val="60615E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4" name="Reference VAE encoder line 1"/>
          <p:cNvSpPr txBox="1"/>
          <p:nvPr/>
        </p:nvSpPr>
        <p:spPr>
          <a:xfrm>
            <a:off x="2615184" y="2295144"/>
            <a:ext cx="813816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62626"/>
                </a:solidFill>
                <a:latin typeface="DejaVu Sans Mono"/>
              </a:rPr>
              <a:t>VAE</a:t>
            </a:r>
          </a:p>
        </p:txBody>
      </p:sp>
      <p:sp>
        <p:nvSpPr>
          <p:cNvPr id="135" name="Reference VAE encoder line 2"/>
          <p:cNvSpPr txBox="1"/>
          <p:nvPr/>
        </p:nvSpPr>
        <p:spPr>
          <a:xfrm>
            <a:off x="2615184" y="2670048"/>
            <a:ext cx="813816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62626"/>
                </a:solidFill>
                <a:latin typeface="DejaVu Sans Mono"/>
              </a:rPr>
              <a:t>Enc</a:t>
            </a:r>
          </a:p>
        </p:txBody>
      </p:sp>
      <p:sp>
        <p:nvSpPr>
          <p:cNvPr id="136" name="CLIP image encoder body"/>
          <p:cNvSpPr/>
          <p:nvPr/>
        </p:nvSpPr>
        <p:spPr>
          <a:xfrm>
            <a:off x="2606040" y="3493008"/>
            <a:ext cx="832104" cy="1316736"/>
          </a:xfrm>
          <a:custGeom>
            <a:avLst/>
            <a:gdLst/>
            <a:ahLst/>
            <a:cxnLst/>
            <a:rect l="0" t="0" r="r" b="b"/>
            <a:pathLst>
              <a:path w="91000" h="144000">
                <a:moveTo>
                  <a:pt x="0" y="0"/>
                </a:moveTo>
                <a:lnTo>
                  <a:pt x="91000" y="36000"/>
                </a:lnTo>
                <a:lnTo>
                  <a:pt x="91000" y="108000"/>
                </a:lnTo>
                <a:lnTo>
                  <a:pt x="0" y="144000"/>
                </a:lnTo>
                <a:close/>
              </a:path>
            </a:pathLst>
          </a:custGeom>
          <a:solidFill>
            <a:srgbClr val="FAFAFA"/>
          </a:solidFill>
          <a:ln w="23774" cap="flat">
            <a:solidFill>
              <a:srgbClr val="60615E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7" name="CLIP image encoder label"/>
          <p:cNvSpPr txBox="1"/>
          <p:nvPr/>
        </p:nvSpPr>
        <p:spPr>
          <a:xfrm>
            <a:off x="2606040" y="3950208"/>
            <a:ext cx="813816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62626"/>
                </a:solidFill>
                <a:latin typeface="DejaVu Sans Mono"/>
              </a:rPr>
              <a:t>CLIP</a:t>
            </a:r>
          </a:p>
        </p:txBody>
      </p:sp>
      <p:sp>
        <p:nvSpPr>
          <p:cNvPr id="138" name="Target pose encoder body"/>
          <p:cNvSpPr/>
          <p:nvPr/>
        </p:nvSpPr>
        <p:spPr>
          <a:xfrm>
            <a:off x="2606040" y="5458968"/>
            <a:ext cx="832104" cy="1316736"/>
          </a:xfrm>
          <a:custGeom>
            <a:avLst/>
            <a:gdLst/>
            <a:ahLst/>
            <a:cxnLst/>
            <a:rect l="0" t="0" r="r" b="b"/>
            <a:pathLst>
              <a:path w="91000" h="144000">
                <a:moveTo>
                  <a:pt x="0" y="0"/>
                </a:moveTo>
                <a:lnTo>
                  <a:pt x="91000" y="36000"/>
                </a:lnTo>
                <a:lnTo>
                  <a:pt x="91000" y="108000"/>
                </a:lnTo>
                <a:lnTo>
                  <a:pt x="0" y="144000"/>
                </a:lnTo>
                <a:close/>
              </a:path>
            </a:pathLst>
          </a:custGeom>
          <a:solidFill>
            <a:srgbClr val="FAFAFA"/>
          </a:solidFill>
          <a:ln w="23774" cap="flat">
            <a:solidFill>
              <a:srgbClr val="60615E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9" name="Target pose encoder line 1"/>
          <p:cNvSpPr txBox="1"/>
          <p:nvPr/>
        </p:nvSpPr>
        <p:spPr>
          <a:xfrm>
            <a:off x="2578608" y="5733288"/>
            <a:ext cx="813816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62626"/>
                </a:solidFill>
                <a:latin typeface="DejaVu Sans Mono"/>
              </a:rPr>
              <a:t>Pose</a:t>
            </a:r>
          </a:p>
        </p:txBody>
      </p:sp>
      <p:sp>
        <p:nvSpPr>
          <p:cNvPr id="140" name="Target pose encoder line 2"/>
          <p:cNvSpPr txBox="1"/>
          <p:nvPr/>
        </p:nvSpPr>
        <p:spPr>
          <a:xfrm>
            <a:off x="2578608" y="6108192"/>
            <a:ext cx="813816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62626"/>
                </a:solidFill>
                <a:latin typeface="DejaVu Sans Mono"/>
              </a:rPr>
              <a:t>Enc</a:t>
            </a:r>
          </a:p>
        </p:txBody>
      </p:sp>
      <p:sp>
        <p:nvSpPr>
          <p:cNvPr id="141" name="VAE decoder body"/>
          <p:cNvSpPr/>
          <p:nvPr/>
        </p:nvSpPr>
        <p:spPr>
          <a:xfrm>
            <a:off x="12966192" y="5440680"/>
            <a:ext cx="832104" cy="1316736"/>
          </a:xfrm>
          <a:custGeom>
            <a:avLst/>
            <a:gdLst/>
            <a:ahLst/>
            <a:cxnLst/>
            <a:rect l="0" t="0" r="r" b="b"/>
            <a:pathLst>
              <a:path w="91000" h="144000">
                <a:moveTo>
                  <a:pt x="0" y="36000"/>
                </a:moveTo>
                <a:lnTo>
                  <a:pt x="91000" y="0"/>
                </a:lnTo>
                <a:lnTo>
                  <a:pt x="91000" y="144000"/>
                </a:lnTo>
                <a:lnTo>
                  <a:pt x="0" y="108000"/>
                </a:lnTo>
                <a:close/>
              </a:path>
            </a:pathLst>
          </a:custGeom>
          <a:solidFill>
            <a:srgbClr val="FAFAFA"/>
          </a:solidFill>
          <a:ln w="23774" cap="flat">
            <a:solidFill>
              <a:srgbClr val="60615E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2" name="VAE decoder line 1"/>
          <p:cNvSpPr txBox="1"/>
          <p:nvPr/>
        </p:nvSpPr>
        <p:spPr>
          <a:xfrm>
            <a:off x="12957048" y="5715000"/>
            <a:ext cx="813816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62626"/>
                </a:solidFill>
                <a:latin typeface="DejaVu Sans Mono"/>
              </a:rPr>
              <a:t>VAE</a:t>
            </a:r>
          </a:p>
        </p:txBody>
      </p:sp>
      <p:sp>
        <p:nvSpPr>
          <p:cNvPr id="143" name="VAE decoder line 2"/>
          <p:cNvSpPr txBox="1"/>
          <p:nvPr/>
        </p:nvSpPr>
        <p:spPr>
          <a:xfrm>
            <a:off x="12957048" y="6089904"/>
            <a:ext cx="813816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>
                <a:solidFill>
                  <a:srgbClr val="262626"/>
                </a:solidFill>
                <a:latin typeface="DejaVu Sans Mono"/>
              </a:rPr>
              <a:t>Dec</a:t>
            </a:r>
          </a:p>
        </p:txBody>
      </p:sp>
      <p:sp>
        <p:nvSpPr>
          <p:cNvPr id="144" name="Addition node"/>
          <p:cNvSpPr/>
          <p:nvPr/>
        </p:nvSpPr>
        <p:spPr>
          <a:xfrm>
            <a:off x="3858768" y="1719072"/>
            <a:ext cx="365760" cy="365760"/>
          </a:xfrm>
          <a:prstGeom prst="ellipse">
            <a:avLst/>
          </a:prstGeom>
          <a:solidFill>
            <a:srgbClr val="FFFFFF"/>
          </a:solidFill>
          <a:ln w="27432" cap="flat">
            <a:solidFill>
              <a:srgbClr val="29292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Addition horizontal"/>
          <p:cNvSpPr/>
          <p:nvPr/>
        </p:nvSpPr>
        <p:spPr>
          <a:xfrm>
            <a:off x="3877056" y="1901952"/>
            <a:ext cx="329184" cy="457"/>
          </a:xfrm>
          <a:custGeom>
            <a:avLst/>
            <a:gdLst/>
            <a:ahLst/>
            <a:cxnLst/>
            <a:rect l="0" t="0" r="r" b="b"/>
            <a:pathLst>
              <a:path w="36000" h="50">
                <a:moveTo>
                  <a:pt x="0" y="0"/>
                </a:moveTo>
                <a:lnTo>
                  <a:pt x="36000" y="0"/>
                </a:lnTo>
              </a:path>
            </a:pathLst>
          </a:custGeom>
          <a:noFill/>
          <a:ln w="27432" cap="flat">
            <a:solidFill>
              <a:srgbClr val="29292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Addition vertical"/>
          <p:cNvSpPr/>
          <p:nvPr/>
        </p:nvSpPr>
        <p:spPr>
          <a:xfrm>
            <a:off x="4041648" y="1728216"/>
            <a:ext cx="457" cy="347472"/>
          </a:xfrm>
          <a:custGeom>
            <a:avLst/>
            <a:gdLst/>
            <a:ahLst/>
            <a:cxnLst/>
            <a:rect l="0" t="0" r="r" b="b"/>
            <a:pathLst>
              <a:path w="50" h="38000">
                <a:moveTo>
                  <a:pt x="0" y="0"/>
                </a:moveTo>
                <a:lnTo>
                  <a:pt x="0" y="38000"/>
                </a:lnTo>
              </a:path>
            </a:pathLst>
          </a:custGeom>
          <a:noFill/>
          <a:ln w="27432" cap="flat">
            <a:solidFill>
              <a:srgbClr val="29292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Addition node"/>
          <p:cNvSpPr/>
          <p:nvPr/>
        </p:nvSpPr>
        <p:spPr>
          <a:xfrm>
            <a:off x="3858768" y="5934456"/>
            <a:ext cx="365760" cy="365760"/>
          </a:xfrm>
          <a:prstGeom prst="ellipse">
            <a:avLst/>
          </a:prstGeom>
          <a:solidFill>
            <a:srgbClr val="FFFFFF"/>
          </a:solidFill>
          <a:ln w="27432" cap="flat">
            <a:solidFill>
              <a:srgbClr val="29292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Addition horizontal"/>
          <p:cNvSpPr/>
          <p:nvPr/>
        </p:nvSpPr>
        <p:spPr>
          <a:xfrm>
            <a:off x="3877056" y="6117336"/>
            <a:ext cx="329184" cy="457"/>
          </a:xfrm>
          <a:custGeom>
            <a:avLst/>
            <a:gdLst/>
            <a:ahLst/>
            <a:cxnLst/>
            <a:rect l="0" t="0" r="r" b="b"/>
            <a:pathLst>
              <a:path w="36000" h="50">
                <a:moveTo>
                  <a:pt x="0" y="0"/>
                </a:moveTo>
                <a:lnTo>
                  <a:pt x="36000" y="0"/>
                </a:lnTo>
              </a:path>
            </a:pathLst>
          </a:custGeom>
          <a:noFill/>
          <a:ln w="27432" cap="flat">
            <a:solidFill>
              <a:srgbClr val="29292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Addition vertical"/>
          <p:cNvSpPr/>
          <p:nvPr/>
        </p:nvSpPr>
        <p:spPr>
          <a:xfrm>
            <a:off x="4041648" y="5943600"/>
            <a:ext cx="457" cy="347472"/>
          </a:xfrm>
          <a:custGeom>
            <a:avLst/>
            <a:gdLst/>
            <a:ahLst/>
            <a:cxnLst/>
            <a:rect l="0" t="0" r="r" b="b"/>
            <a:pathLst>
              <a:path w="50" h="38000">
                <a:moveTo>
                  <a:pt x="0" y="0"/>
                </a:moveTo>
                <a:lnTo>
                  <a:pt x="0" y="38000"/>
                </a:lnTo>
              </a:path>
            </a:pathLst>
          </a:custGeom>
          <a:noFill/>
          <a:ln w="27432" cap="flat">
            <a:solidFill>
              <a:srgbClr val="29292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Generated frame 3 shadow"/>
          <p:cNvSpPr/>
          <p:nvPr/>
        </p:nvSpPr>
        <p:spPr>
          <a:xfrm>
            <a:off x="14557248" y="5129784"/>
            <a:ext cx="16916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51" name="Generated frame 3" descr="Generated_fram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57248" y="5129784"/>
            <a:ext cx="1691640" cy="1691640"/>
          </a:xfrm>
          <a:prstGeom prst="rect">
            <a:avLst/>
          </a:prstGeom>
        </p:spPr>
      </p:pic>
      <p:sp>
        <p:nvSpPr>
          <p:cNvPr id="152" name="Generated frame 2 shadow"/>
          <p:cNvSpPr/>
          <p:nvPr/>
        </p:nvSpPr>
        <p:spPr>
          <a:xfrm>
            <a:off x="14484096" y="5202936"/>
            <a:ext cx="1691640" cy="17007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53" name="Generated frame 2" descr="Generated_frame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84096" y="5202936"/>
            <a:ext cx="1691640" cy="1700784"/>
          </a:xfrm>
          <a:prstGeom prst="rect">
            <a:avLst/>
          </a:prstGeom>
        </p:spPr>
      </p:pic>
      <p:sp>
        <p:nvSpPr>
          <p:cNvPr id="154" name="Generated frame 1 shadow"/>
          <p:cNvSpPr/>
          <p:nvPr/>
        </p:nvSpPr>
        <p:spPr>
          <a:xfrm>
            <a:off x="14410944" y="5285232"/>
            <a:ext cx="16916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55" name="Generated frame 1" descr="Generated_frame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10944" y="5285232"/>
            <a:ext cx="1691640" cy="1691640"/>
          </a:xfrm>
          <a:prstGeom prst="rect">
            <a:avLst/>
          </a:prstGeom>
        </p:spPr>
      </p:pic>
      <p:sp>
        <p:nvSpPr>
          <p:cNvPr id="156" name="Ref Pose"/>
          <p:cNvSpPr txBox="1"/>
          <p:nvPr/>
        </p:nvSpPr>
        <p:spPr>
          <a:xfrm>
            <a:off x="137160" y="2103120"/>
            <a:ext cx="1792224" cy="34747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Ref Pose</a:t>
            </a:r>
          </a:p>
        </p:txBody>
      </p:sp>
      <p:sp>
        <p:nvSpPr>
          <p:cNvPr id="157" name="Ref Img"/>
          <p:cNvSpPr txBox="1"/>
          <p:nvPr/>
        </p:nvSpPr>
        <p:spPr>
          <a:xfrm>
            <a:off x="155448" y="4361688"/>
            <a:ext cx="1773936" cy="356616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Ref Img</a:t>
            </a:r>
          </a:p>
        </p:txBody>
      </p:sp>
      <p:sp>
        <p:nvSpPr>
          <p:cNvPr id="158" name="Tgt Pose"/>
          <p:cNvSpPr txBox="1"/>
          <p:nvPr/>
        </p:nvSpPr>
        <p:spPr>
          <a:xfrm>
            <a:off x="146304" y="6986016"/>
            <a:ext cx="1773936" cy="356616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Tgt Pose</a:t>
            </a:r>
          </a:p>
        </p:txBody>
      </p:sp>
      <p:sp>
        <p:nvSpPr>
          <p:cNvPr id="159" name="Noise"/>
          <p:cNvSpPr txBox="1"/>
          <p:nvPr/>
        </p:nvSpPr>
        <p:spPr>
          <a:xfrm>
            <a:off x="1837944" y="7370064"/>
            <a:ext cx="1060704" cy="34747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Noise</a:t>
            </a:r>
          </a:p>
        </p:txBody>
      </p:sp>
      <p:sp>
        <p:nvSpPr>
          <p:cNvPr id="160" name="Gen Frames"/>
          <p:cNvSpPr txBox="1"/>
          <p:nvPr/>
        </p:nvSpPr>
        <p:spPr>
          <a:xfrm>
            <a:off x="14365224" y="7205472"/>
            <a:ext cx="1920240" cy="365760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Gen Frames</a:t>
            </a:r>
          </a:p>
        </p:txBody>
      </p:sp>
      <p:sp>
        <p:nvSpPr>
          <p:cNvPr id="161" name="Temporal axis target poses"/>
          <p:cNvSpPr/>
          <p:nvPr/>
        </p:nvSpPr>
        <p:spPr>
          <a:xfrm>
            <a:off x="1828800" y="6739128"/>
            <a:ext cx="347472" cy="356616"/>
          </a:xfrm>
          <a:custGeom>
            <a:avLst/>
            <a:gdLst/>
            <a:ahLst/>
            <a:cxnLst/>
            <a:rect l="0" t="0" r="r" b="b"/>
            <a:pathLst>
              <a:path w="38000" h="39000">
                <a:moveTo>
                  <a:pt x="0" y="39000"/>
                </a:moveTo>
                <a:lnTo>
                  <a:pt x="38000" y="0"/>
                </a:lnTo>
              </a:path>
            </a:pathLst>
          </a:custGeom>
          <a:noFill/>
          <a:ln w="27432" cap="flat">
            <a:solidFill>
              <a:srgbClr val="38383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Temporal axis target poses tip"/>
          <p:cNvSpPr/>
          <p:nvPr/>
        </p:nvSpPr>
        <p:spPr>
          <a:xfrm>
            <a:off x="2037983" y="6739128"/>
            <a:ext cx="138289" cy="139716"/>
          </a:xfrm>
          <a:custGeom>
            <a:avLst/>
            <a:gdLst/>
            <a:ahLst/>
            <a:cxnLst/>
            <a:rect l="0" t="0" r="r" b="b"/>
            <a:pathLst>
              <a:path w="15123" h="15280">
                <a:moveTo>
                  <a:pt x="15123" y="0"/>
                </a:moveTo>
                <a:lnTo>
                  <a:pt x="9311" y="15280"/>
                </a:lnTo>
                <a:lnTo>
                  <a:pt x="0" y="6207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Target pose time axis"/>
          <p:cNvSpPr txBox="1"/>
          <p:nvPr/>
        </p:nvSpPr>
        <p:spPr>
          <a:xfrm rot="18780000">
            <a:off x="1993392" y="6912864"/>
            <a:ext cx="219456" cy="310896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T</a:t>
            </a:r>
          </a:p>
        </p:txBody>
      </p:sp>
      <p:sp>
        <p:nvSpPr>
          <p:cNvPr id="164" name="Mask"/>
          <p:cNvSpPr txBox="1"/>
          <p:nvPr/>
        </p:nvSpPr>
        <p:spPr>
          <a:xfrm>
            <a:off x="6035040" y="7443216"/>
            <a:ext cx="822960" cy="34747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Mask</a:t>
            </a:r>
          </a:p>
        </p:txBody>
      </p:sp>
      <p:sp>
        <p:nvSpPr>
          <p:cNvPr id="165" name="Reference mask canvas"/>
          <p:cNvSpPr/>
          <p:nvPr/>
        </p:nvSpPr>
        <p:spPr>
          <a:xfrm>
            <a:off x="5001768" y="7827264"/>
            <a:ext cx="1325880" cy="132588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6" name="Target mask frame canvas"/>
          <p:cNvSpPr/>
          <p:nvPr/>
        </p:nvSpPr>
        <p:spPr>
          <a:xfrm>
            <a:off x="6556248" y="7827264"/>
            <a:ext cx="1234440" cy="1234440"/>
          </a:xfrm>
          <a:prstGeom prst="rect">
            <a:avLst/>
          </a:prstGeom>
          <a:solidFill>
            <a:srgbClr val="000000"/>
          </a:solidFill>
          <a:ln w="16459" cap="flat">
            <a:solidFill>
              <a:srgbClr val="666666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7" name="Target mask frame canvas"/>
          <p:cNvSpPr/>
          <p:nvPr/>
        </p:nvSpPr>
        <p:spPr>
          <a:xfrm>
            <a:off x="6501384" y="7872984"/>
            <a:ext cx="1234440" cy="1234440"/>
          </a:xfrm>
          <a:prstGeom prst="rect">
            <a:avLst/>
          </a:prstGeom>
          <a:solidFill>
            <a:srgbClr val="000000"/>
          </a:solidFill>
          <a:ln w="16459" cap="flat">
            <a:solidFill>
              <a:srgbClr val="666666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8" name="Target mask frame canvas"/>
          <p:cNvSpPr/>
          <p:nvPr/>
        </p:nvSpPr>
        <p:spPr>
          <a:xfrm>
            <a:off x="6464808" y="7918704"/>
            <a:ext cx="1234440" cy="1234440"/>
          </a:xfrm>
          <a:prstGeom prst="rect">
            <a:avLst/>
          </a:prstGeom>
          <a:solidFill>
            <a:srgbClr val="000000"/>
          </a:solidFill>
          <a:ln w="16459" cap="flat">
            <a:solidFill>
              <a:srgbClr val="666666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9" name="Reference identity mask orange"/>
          <p:cNvSpPr/>
          <p:nvPr/>
        </p:nvSpPr>
        <p:spPr>
          <a:xfrm>
            <a:off x="5285232" y="8110728"/>
            <a:ext cx="301752" cy="923544"/>
          </a:xfrm>
          <a:custGeom>
            <a:avLst/>
            <a:gdLst/>
            <a:ahLst/>
            <a:cxnLst/>
            <a:rect l="0" t="0" r="r" b="b"/>
            <a:pathLst>
              <a:path w="33000" h="101000">
                <a:moveTo>
                  <a:pt x="14000" y="0"/>
                </a:moveTo>
                <a:lnTo>
                  <a:pt x="19000" y="0"/>
                </a:lnTo>
                <a:lnTo>
                  <a:pt x="19000" y="1000"/>
                </a:lnTo>
                <a:lnTo>
                  <a:pt x="21000" y="1000"/>
                </a:lnTo>
                <a:lnTo>
                  <a:pt x="21000" y="2000"/>
                </a:lnTo>
                <a:lnTo>
                  <a:pt x="22000" y="2000"/>
                </a:lnTo>
                <a:lnTo>
                  <a:pt x="22000" y="5000"/>
                </a:lnTo>
                <a:lnTo>
                  <a:pt x="23000" y="5000"/>
                </a:lnTo>
                <a:lnTo>
                  <a:pt x="23000" y="9000"/>
                </a:lnTo>
                <a:lnTo>
                  <a:pt x="24000" y="9000"/>
                </a:lnTo>
                <a:lnTo>
                  <a:pt x="24000" y="12000"/>
                </a:lnTo>
                <a:lnTo>
                  <a:pt x="25000" y="12000"/>
                </a:lnTo>
                <a:lnTo>
                  <a:pt x="26000" y="18000"/>
                </a:lnTo>
                <a:lnTo>
                  <a:pt x="27000" y="18000"/>
                </a:lnTo>
                <a:lnTo>
                  <a:pt x="27000" y="21000"/>
                </a:lnTo>
                <a:lnTo>
                  <a:pt x="28000" y="21000"/>
                </a:lnTo>
                <a:lnTo>
                  <a:pt x="28000" y="23000"/>
                </a:lnTo>
                <a:lnTo>
                  <a:pt x="29000" y="23000"/>
                </a:lnTo>
                <a:lnTo>
                  <a:pt x="29000" y="25000"/>
                </a:lnTo>
                <a:lnTo>
                  <a:pt x="30000" y="25000"/>
                </a:lnTo>
                <a:lnTo>
                  <a:pt x="30000" y="32000"/>
                </a:lnTo>
                <a:lnTo>
                  <a:pt x="31000" y="32000"/>
                </a:lnTo>
                <a:lnTo>
                  <a:pt x="31000" y="33000"/>
                </a:lnTo>
                <a:lnTo>
                  <a:pt x="29000" y="34000"/>
                </a:lnTo>
                <a:lnTo>
                  <a:pt x="29000" y="52000"/>
                </a:lnTo>
                <a:lnTo>
                  <a:pt x="30000" y="52000"/>
                </a:lnTo>
                <a:lnTo>
                  <a:pt x="30000" y="54000"/>
                </a:lnTo>
                <a:lnTo>
                  <a:pt x="32000" y="55000"/>
                </a:lnTo>
                <a:lnTo>
                  <a:pt x="32000" y="57000"/>
                </a:lnTo>
                <a:lnTo>
                  <a:pt x="33000" y="57000"/>
                </a:lnTo>
                <a:lnTo>
                  <a:pt x="33000" y="58000"/>
                </a:lnTo>
                <a:lnTo>
                  <a:pt x="32000" y="58000"/>
                </a:lnTo>
                <a:lnTo>
                  <a:pt x="32000" y="59000"/>
                </a:lnTo>
                <a:lnTo>
                  <a:pt x="30000" y="59000"/>
                </a:lnTo>
                <a:lnTo>
                  <a:pt x="30000" y="58000"/>
                </a:lnTo>
                <a:lnTo>
                  <a:pt x="29000" y="58000"/>
                </a:lnTo>
                <a:lnTo>
                  <a:pt x="29000" y="61000"/>
                </a:lnTo>
                <a:lnTo>
                  <a:pt x="28000" y="61000"/>
                </a:lnTo>
                <a:lnTo>
                  <a:pt x="28000" y="67000"/>
                </a:lnTo>
                <a:lnTo>
                  <a:pt x="27000" y="67000"/>
                </a:lnTo>
                <a:lnTo>
                  <a:pt x="27000" y="74000"/>
                </a:lnTo>
                <a:lnTo>
                  <a:pt x="26000" y="74000"/>
                </a:lnTo>
                <a:lnTo>
                  <a:pt x="26000" y="81000"/>
                </a:lnTo>
                <a:lnTo>
                  <a:pt x="25000" y="81000"/>
                </a:lnTo>
                <a:lnTo>
                  <a:pt x="25000" y="88000"/>
                </a:lnTo>
                <a:lnTo>
                  <a:pt x="24000" y="88000"/>
                </a:lnTo>
                <a:lnTo>
                  <a:pt x="24000" y="93000"/>
                </a:lnTo>
                <a:lnTo>
                  <a:pt x="23000" y="93000"/>
                </a:lnTo>
                <a:lnTo>
                  <a:pt x="23000" y="101000"/>
                </a:lnTo>
                <a:lnTo>
                  <a:pt x="17000" y="101000"/>
                </a:lnTo>
                <a:lnTo>
                  <a:pt x="17000" y="95000"/>
                </a:lnTo>
                <a:lnTo>
                  <a:pt x="15000" y="95000"/>
                </a:lnTo>
                <a:lnTo>
                  <a:pt x="15000" y="94000"/>
                </a:lnTo>
                <a:lnTo>
                  <a:pt x="14000" y="94000"/>
                </a:lnTo>
                <a:lnTo>
                  <a:pt x="14000" y="99000"/>
                </a:lnTo>
                <a:lnTo>
                  <a:pt x="13000" y="99000"/>
                </a:lnTo>
                <a:lnTo>
                  <a:pt x="13000" y="100000"/>
                </a:lnTo>
                <a:lnTo>
                  <a:pt x="8000" y="100000"/>
                </a:lnTo>
                <a:lnTo>
                  <a:pt x="8000" y="94000"/>
                </a:lnTo>
                <a:lnTo>
                  <a:pt x="9000" y="94000"/>
                </a:lnTo>
                <a:lnTo>
                  <a:pt x="9000" y="93000"/>
                </a:lnTo>
                <a:lnTo>
                  <a:pt x="8000" y="93000"/>
                </a:lnTo>
                <a:lnTo>
                  <a:pt x="8000" y="76000"/>
                </a:lnTo>
                <a:lnTo>
                  <a:pt x="7000" y="76000"/>
                </a:lnTo>
                <a:lnTo>
                  <a:pt x="7000" y="72000"/>
                </a:lnTo>
                <a:lnTo>
                  <a:pt x="6000" y="72000"/>
                </a:lnTo>
                <a:lnTo>
                  <a:pt x="6000" y="66000"/>
                </a:lnTo>
                <a:lnTo>
                  <a:pt x="5000" y="66000"/>
                </a:lnTo>
                <a:lnTo>
                  <a:pt x="5000" y="46000"/>
                </a:lnTo>
                <a:lnTo>
                  <a:pt x="6000" y="46000"/>
                </a:lnTo>
                <a:lnTo>
                  <a:pt x="6000" y="43000"/>
                </a:lnTo>
                <a:lnTo>
                  <a:pt x="7000" y="43000"/>
                </a:lnTo>
                <a:lnTo>
                  <a:pt x="7000" y="36000"/>
                </a:lnTo>
                <a:lnTo>
                  <a:pt x="5000" y="36000"/>
                </a:lnTo>
                <a:lnTo>
                  <a:pt x="5000" y="41000"/>
                </a:lnTo>
                <a:lnTo>
                  <a:pt x="4000" y="41000"/>
                </a:lnTo>
                <a:lnTo>
                  <a:pt x="4000" y="51000"/>
                </a:lnTo>
                <a:lnTo>
                  <a:pt x="3000" y="51000"/>
                </a:lnTo>
                <a:lnTo>
                  <a:pt x="3000" y="53000"/>
                </a:lnTo>
                <a:lnTo>
                  <a:pt x="0" y="53000"/>
                </a:lnTo>
                <a:lnTo>
                  <a:pt x="0" y="49000"/>
                </a:lnTo>
                <a:lnTo>
                  <a:pt x="1000" y="49000"/>
                </a:lnTo>
                <a:lnTo>
                  <a:pt x="1000" y="39000"/>
                </a:lnTo>
                <a:lnTo>
                  <a:pt x="2000" y="39000"/>
                </a:lnTo>
                <a:lnTo>
                  <a:pt x="2000" y="38000"/>
                </a:lnTo>
                <a:lnTo>
                  <a:pt x="1000" y="38000"/>
                </a:lnTo>
                <a:lnTo>
                  <a:pt x="1000" y="37000"/>
                </a:lnTo>
                <a:lnTo>
                  <a:pt x="2000" y="37000"/>
                </a:lnTo>
                <a:lnTo>
                  <a:pt x="2000" y="21000"/>
                </a:lnTo>
                <a:lnTo>
                  <a:pt x="3000" y="21000"/>
                </a:lnTo>
                <a:lnTo>
                  <a:pt x="3000" y="19000"/>
                </a:lnTo>
                <a:lnTo>
                  <a:pt x="4000" y="19000"/>
                </a:lnTo>
                <a:lnTo>
                  <a:pt x="4000" y="17000"/>
                </a:lnTo>
                <a:lnTo>
                  <a:pt x="5000" y="17000"/>
                </a:lnTo>
                <a:lnTo>
                  <a:pt x="5000" y="16000"/>
                </a:lnTo>
                <a:lnTo>
                  <a:pt x="9000" y="16000"/>
                </a:lnTo>
                <a:lnTo>
                  <a:pt x="9000" y="15000"/>
                </a:lnTo>
                <a:lnTo>
                  <a:pt x="10000" y="15000"/>
                </a:lnTo>
                <a:lnTo>
                  <a:pt x="10000" y="11000"/>
                </a:lnTo>
                <a:lnTo>
                  <a:pt x="11000" y="11000"/>
                </a:lnTo>
                <a:lnTo>
                  <a:pt x="11000" y="4000"/>
                </a:lnTo>
                <a:lnTo>
                  <a:pt x="12000" y="4000"/>
                </a:lnTo>
                <a:lnTo>
                  <a:pt x="12000" y="2000"/>
                </a:lnTo>
                <a:lnTo>
                  <a:pt x="13000" y="2000"/>
                </a:lnTo>
                <a:close/>
                <a:moveTo>
                  <a:pt x="17000" y="73000"/>
                </a:moveTo>
                <a:lnTo>
                  <a:pt x="16000" y="73000"/>
                </a:lnTo>
                <a:lnTo>
                  <a:pt x="16000" y="83000"/>
                </a:lnTo>
                <a:lnTo>
                  <a:pt x="17000" y="83000"/>
                </a:lnTo>
                <a:lnTo>
                  <a:pt x="17000" y="79000"/>
                </a:lnTo>
                <a:lnTo>
                  <a:pt x="18000" y="79000"/>
                </a:lnTo>
                <a:lnTo>
                  <a:pt x="18000" y="75000"/>
                </a:lnTo>
                <a:lnTo>
                  <a:pt x="17000" y="75000"/>
                </a:lnTo>
                <a:close/>
              </a:path>
            </a:pathLst>
          </a:custGeom>
          <a:solidFill>
            <a:srgbClr val="FE7D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Reference identity mask blue"/>
          <p:cNvSpPr/>
          <p:nvPr/>
        </p:nvSpPr>
        <p:spPr>
          <a:xfrm>
            <a:off x="5769864" y="8119872"/>
            <a:ext cx="283464" cy="877824"/>
          </a:xfrm>
          <a:custGeom>
            <a:avLst/>
            <a:gdLst/>
            <a:ahLst/>
            <a:cxnLst/>
            <a:rect l="0" t="0" r="r" b="b"/>
            <a:pathLst>
              <a:path w="31000" h="96000">
                <a:moveTo>
                  <a:pt x="13000" y="0"/>
                </a:moveTo>
                <a:lnTo>
                  <a:pt x="19000" y="0"/>
                </a:lnTo>
                <a:lnTo>
                  <a:pt x="19000" y="1000"/>
                </a:lnTo>
                <a:lnTo>
                  <a:pt x="21000" y="2000"/>
                </a:lnTo>
                <a:lnTo>
                  <a:pt x="21000" y="5000"/>
                </a:lnTo>
                <a:lnTo>
                  <a:pt x="22000" y="5000"/>
                </a:lnTo>
                <a:lnTo>
                  <a:pt x="22000" y="9000"/>
                </a:lnTo>
                <a:lnTo>
                  <a:pt x="23000" y="9000"/>
                </a:lnTo>
                <a:lnTo>
                  <a:pt x="23000" y="12000"/>
                </a:lnTo>
                <a:lnTo>
                  <a:pt x="24000" y="12000"/>
                </a:lnTo>
                <a:lnTo>
                  <a:pt x="25000" y="16000"/>
                </a:lnTo>
                <a:lnTo>
                  <a:pt x="27000" y="17000"/>
                </a:lnTo>
                <a:lnTo>
                  <a:pt x="27000" y="19000"/>
                </a:lnTo>
                <a:lnTo>
                  <a:pt x="28000" y="19000"/>
                </a:lnTo>
                <a:lnTo>
                  <a:pt x="28000" y="21000"/>
                </a:lnTo>
                <a:lnTo>
                  <a:pt x="29000" y="21000"/>
                </a:lnTo>
                <a:lnTo>
                  <a:pt x="29000" y="24000"/>
                </a:lnTo>
                <a:lnTo>
                  <a:pt x="30000" y="24000"/>
                </a:lnTo>
                <a:lnTo>
                  <a:pt x="30000" y="28000"/>
                </a:lnTo>
                <a:lnTo>
                  <a:pt x="29000" y="28000"/>
                </a:lnTo>
                <a:lnTo>
                  <a:pt x="29000" y="34000"/>
                </a:lnTo>
                <a:lnTo>
                  <a:pt x="28000" y="34000"/>
                </a:lnTo>
                <a:lnTo>
                  <a:pt x="28000" y="35000"/>
                </a:lnTo>
                <a:lnTo>
                  <a:pt x="29000" y="35000"/>
                </a:lnTo>
                <a:lnTo>
                  <a:pt x="29000" y="50000"/>
                </a:lnTo>
                <a:lnTo>
                  <a:pt x="30000" y="50000"/>
                </a:lnTo>
                <a:lnTo>
                  <a:pt x="30000" y="52000"/>
                </a:lnTo>
                <a:lnTo>
                  <a:pt x="31000" y="52000"/>
                </a:lnTo>
                <a:lnTo>
                  <a:pt x="31000" y="55000"/>
                </a:lnTo>
                <a:lnTo>
                  <a:pt x="29000" y="55000"/>
                </a:lnTo>
                <a:lnTo>
                  <a:pt x="29000" y="56000"/>
                </a:lnTo>
                <a:lnTo>
                  <a:pt x="28000" y="56000"/>
                </a:lnTo>
                <a:lnTo>
                  <a:pt x="28000" y="60000"/>
                </a:lnTo>
                <a:lnTo>
                  <a:pt x="27000" y="60000"/>
                </a:lnTo>
                <a:lnTo>
                  <a:pt x="27000" y="66000"/>
                </a:lnTo>
                <a:lnTo>
                  <a:pt x="26000" y="66000"/>
                </a:lnTo>
                <a:lnTo>
                  <a:pt x="26000" y="80000"/>
                </a:lnTo>
                <a:lnTo>
                  <a:pt x="25000" y="80000"/>
                </a:lnTo>
                <a:lnTo>
                  <a:pt x="25000" y="83000"/>
                </a:lnTo>
                <a:lnTo>
                  <a:pt x="24000" y="83000"/>
                </a:lnTo>
                <a:lnTo>
                  <a:pt x="24000" y="92000"/>
                </a:lnTo>
                <a:lnTo>
                  <a:pt x="25000" y="92000"/>
                </a:lnTo>
                <a:lnTo>
                  <a:pt x="25000" y="96000"/>
                </a:lnTo>
                <a:lnTo>
                  <a:pt x="18000" y="96000"/>
                </a:lnTo>
                <a:lnTo>
                  <a:pt x="18000" y="95000"/>
                </a:lnTo>
                <a:lnTo>
                  <a:pt x="16000" y="96000"/>
                </a:lnTo>
                <a:lnTo>
                  <a:pt x="16000" y="95000"/>
                </a:lnTo>
                <a:lnTo>
                  <a:pt x="13000" y="95000"/>
                </a:lnTo>
                <a:lnTo>
                  <a:pt x="13000" y="88000"/>
                </a:lnTo>
                <a:lnTo>
                  <a:pt x="14000" y="88000"/>
                </a:lnTo>
                <a:lnTo>
                  <a:pt x="14000" y="82000"/>
                </a:lnTo>
                <a:lnTo>
                  <a:pt x="13000" y="82000"/>
                </a:lnTo>
                <a:lnTo>
                  <a:pt x="13000" y="71000"/>
                </a:lnTo>
                <a:lnTo>
                  <a:pt x="14000" y="71000"/>
                </a:lnTo>
                <a:lnTo>
                  <a:pt x="14000" y="68000"/>
                </a:lnTo>
                <a:lnTo>
                  <a:pt x="13000" y="68000"/>
                </a:lnTo>
                <a:lnTo>
                  <a:pt x="13000" y="65000"/>
                </a:lnTo>
                <a:lnTo>
                  <a:pt x="12000" y="65000"/>
                </a:lnTo>
                <a:lnTo>
                  <a:pt x="12000" y="63000"/>
                </a:lnTo>
                <a:lnTo>
                  <a:pt x="11000" y="63000"/>
                </a:lnTo>
                <a:lnTo>
                  <a:pt x="11000" y="60000"/>
                </a:lnTo>
                <a:lnTo>
                  <a:pt x="10000" y="60000"/>
                </a:lnTo>
                <a:lnTo>
                  <a:pt x="10000" y="58000"/>
                </a:lnTo>
                <a:lnTo>
                  <a:pt x="9000" y="58000"/>
                </a:lnTo>
                <a:lnTo>
                  <a:pt x="9000" y="55000"/>
                </a:lnTo>
                <a:lnTo>
                  <a:pt x="7000" y="54000"/>
                </a:lnTo>
                <a:lnTo>
                  <a:pt x="7000" y="43000"/>
                </a:lnTo>
                <a:lnTo>
                  <a:pt x="5000" y="43000"/>
                </a:lnTo>
                <a:lnTo>
                  <a:pt x="5000" y="44000"/>
                </a:lnTo>
                <a:lnTo>
                  <a:pt x="4000" y="44000"/>
                </a:lnTo>
                <a:lnTo>
                  <a:pt x="4000" y="53000"/>
                </a:lnTo>
                <a:lnTo>
                  <a:pt x="5000" y="53000"/>
                </a:lnTo>
                <a:lnTo>
                  <a:pt x="5000" y="55000"/>
                </a:lnTo>
                <a:lnTo>
                  <a:pt x="2000" y="55000"/>
                </a:lnTo>
                <a:lnTo>
                  <a:pt x="2000" y="54000"/>
                </a:lnTo>
                <a:lnTo>
                  <a:pt x="1000" y="54000"/>
                </a:lnTo>
                <a:lnTo>
                  <a:pt x="1000" y="43000"/>
                </a:lnTo>
                <a:lnTo>
                  <a:pt x="0" y="43000"/>
                </a:lnTo>
                <a:lnTo>
                  <a:pt x="0" y="38000"/>
                </a:lnTo>
                <a:lnTo>
                  <a:pt x="1000" y="38000"/>
                </a:lnTo>
                <a:lnTo>
                  <a:pt x="1000" y="28000"/>
                </a:lnTo>
                <a:lnTo>
                  <a:pt x="0" y="28000"/>
                </a:lnTo>
                <a:lnTo>
                  <a:pt x="0" y="26000"/>
                </a:lnTo>
                <a:lnTo>
                  <a:pt x="1000" y="26000"/>
                </a:lnTo>
                <a:lnTo>
                  <a:pt x="1000" y="20000"/>
                </a:lnTo>
                <a:lnTo>
                  <a:pt x="2000" y="20000"/>
                </a:lnTo>
                <a:lnTo>
                  <a:pt x="2000" y="19000"/>
                </a:lnTo>
                <a:lnTo>
                  <a:pt x="3000" y="19000"/>
                </a:lnTo>
                <a:lnTo>
                  <a:pt x="3000" y="17000"/>
                </a:lnTo>
                <a:lnTo>
                  <a:pt x="4000" y="17000"/>
                </a:lnTo>
                <a:lnTo>
                  <a:pt x="4000" y="16000"/>
                </a:lnTo>
                <a:lnTo>
                  <a:pt x="5000" y="16000"/>
                </a:lnTo>
                <a:lnTo>
                  <a:pt x="5000" y="15000"/>
                </a:lnTo>
                <a:lnTo>
                  <a:pt x="6000" y="15000"/>
                </a:lnTo>
                <a:lnTo>
                  <a:pt x="7000" y="13000"/>
                </a:lnTo>
                <a:lnTo>
                  <a:pt x="8000" y="13000"/>
                </a:lnTo>
                <a:lnTo>
                  <a:pt x="8000" y="10000"/>
                </a:lnTo>
                <a:lnTo>
                  <a:pt x="9000" y="10000"/>
                </a:lnTo>
                <a:lnTo>
                  <a:pt x="9000" y="6000"/>
                </a:lnTo>
                <a:lnTo>
                  <a:pt x="10000" y="6000"/>
                </a:lnTo>
                <a:lnTo>
                  <a:pt x="10000" y="3000"/>
                </a:lnTo>
                <a:lnTo>
                  <a:pt x="11000" y="3000"/>
                </a:lnTo>
                <a:lnTo>
                  <a:pt x="11000" y="2000"/>
                </a:lnTo>
                <a:lnTo>
                  <a:pt x="12000" y="2000"/>
                </a:lnTo>
                <a:close/>
                <a:moveTo>
                  <a:pt x="20000" y="80000"/>
                </a:moveTo>
                <a:lnTo>
                  <a:pt x="18000" y="81000"/>
                </a:lnTo>
                <a:lnTo>
                  <a:pt x="18000" y="87000"/>
                </a:lnTo>
                <a:lnTo>
                  <a:pt x="20000" y="87000"/>
                </a:lnTo>
                <a:close/>
              </a:path>
            </a:pathLst>
          </a:custGeom>
          <a:solidFill>
            <a:srgbClr val="276D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Target identity mask blue"/>
          <p:cNvSpPr/>
          <p:nvPr/>
        </p:nvSpPr>
        <p:spPr>
          <a:xfrm>
            <a:off x="6620256" y="8129016"/>
            <a:ext cx="585216" cy="932688"/>
          </a:xfrm>
          <a:custGeom>
            <a:avLst/>
            <a:gdLst/>
            <a:ahLst/>
            <a:cxnLst/>
            <a:rect l="0" t="0" r="r" b="b"/>
            <a:pathLst>
              <a:path w="64000" h="102000">
                <a:moveTo>
                  <a:pt x="0" y="0"/>
                </a:moveTo>
                <a:lnTo>
                  <a:pt x="4000" y="0"/>
                </a:lnTo>
                <a:lnTo>
                  <a:pt x="4000" y="1000"/>
                </a:lnTo>
                <a:lnTo>
                  <a:pt x="6000" y="1000"/>
                </a:lnTo>
                <a:lnTo>
                  <a:pt x="6000" y="3000"/>
                </a:lnTo>
                <a:lnTo>
                  <a:pt x="7000" y="3000"/>
                </a:lnTo>
                <a:lnTo>
                  <a:pt x="7000" y="6000"/>
                </a:lnTo>
                <a:lnTo>
                  <a:pt x="8000" y="6000"/>
                </a:lnTo>
                <a:lnTo>
                  <a:pt x="8000" y="11000"/>
                </a:lnTo>
                <a:lnTo>
                  <a:pt x="9000" y="11000"/>
                </a:lnTo>
                <a:lnTo>
                  <a:pt x="9000" y="16000"/>
                </a:lnTo>
                <a:lnTo>
                  <a:pt x="10000" y="16000"/>
                </a:lnTo>
                <a:lnTo>
                  <a:pt x="10000" y="17000"/>
                </a:lnTo>
                <a:lnTo>
                  <a:pt x="11000" y="17000"/>
                </a:lnTo>
                <a:lnTo>
                  <a:pt x="12000" y="19000"/>
                </a:lnTo>
                <a:lnTo>
                  <a:pt x="18000" y="19000"/>
                </a:lnTo>
                <a:lnTo>
                  <a:pt x="18000" y="18000"/>
                </a:lnTo>
                <a:lnTo>
                  <a:pt x="23000" y="18000"/>
                </a:lnTo>
                <a:lnTo>
                  <a:pt x="23000" y="17000"/>
                </a:lnTo>
                <a:lnTo>
                  <a:pt x="25000" y="17000"/>
                </a:lnTo>
                <a:lnTo>
                  <a:pt x="25000" y="15000"/>
                </a:lnTo>
                <a:lnTo>
                  <a:pt x="26000" y="15000"/>
                </a:lnTo>
                <a:lnTo>
                  <a:pt x="26000" y="7000"/>
                </a:lnTo>
                <a:lnTo>
                  <a:pt x="27000" y="7000"/>
                </a:lnTo>
                <a:lnTo>
                  <a:pt x="27000" y="5000"/>
                </a:lnTo>
                <a:lnTo>
                  <a:pt x="28000" y="5000"/>
                </a:lnTo>
                <a:lnTo>
                  <a:pt x="28000" y="4000"/>
                </a:lnTo>
                <a:lnTo>
                  <a:pt x="30000" y="4000"/>
                </a:lnTo>
                <a:lnTo>
                  <a:pt x="30000" y="3000"/>
                </a:lnTo>
                <a:lnTo>
                  <a:pt x="37000" y="3000"/>
                </a:lnTo>
                <a:lnTo>
                  <a:pt x="37000" y="5000"/>
                </a:lnTo>
                <a:lnTo>
                  <a:pt x="38000" y="5000"/>
                </a:lnTo>
                <a:lnTo>
                  <a:pt x="38000" y="7000"/>
                </a:lnTo>
                <a:lnTo>
                  <a:pt x="39000" y="7000"/>
                </a:lnTo>
                <a:lnTo>
                  <a:pt x="39000" y="10000"/>
                </a:lnTo>
                <a:lnTo>
                  <a:pt x="40000" y="10000"/>
                </a:lnTo>
                <a:lnTo>
                  <a:pt x="40000" y="14000"/>
                </a:lnTo>
                <a:lnTo>
                  <a:pt x="41000" y="14000"/>
                </a:lnTo>
                <a:lnTo>
                  <a:pt x="42000" y="20000"/>
                </a:lnTo>
                <a:lnTo>
                  <a:pt x="43000" y="20000"/>
                </a:lnTo>
                <a:lnTo>
                  <a:pt x="43000" y="22000"/>
                </a:lnTo>
                <a:lnTo>
                  <a:pt x="45000" y="23000"/>
                </a:lnTo>
                <a:lnTo>
                  <a:pt x="45000" y="29000"/>
                </a:lnTo>
                <a:lnTo>
                  <a:pt x="46000" y="29000"/>
                </a:lnTo>
                <a:lnTo>
                  <a:pt x="46000" y="32000"/>
                </a:lnTo>
                <a:lnTo>
                  <a:pt x="47000" y="32000"/>
                </a:lnTo>
                <a:lnTo>
                  <a:pt x="47000" y="39000"/>
                </a:lnTo>
                <a:lnTo>
                  <a:pt x="48000" y="39000"/>
                </a:lnTo>
                <a:lnTo>
                  <a:pt x="49000" y="41000"/>
                </a:lnTo>
                <a:lnTo>
                  <a:pt x="51000" y="41000"/>
                </a:lnTo>
                <a:lnTo>
                  <a:pt x="51000" y="42000"/>
                </a:lnTo>
                <a:lnTo>
                  <a:pt x="60000" y="42000"/>
                </a:lnTo>
                <a:lnTo>
                  <a:pt x="60000" y="43000"/>
                </a:lnTo>
                <a:lnTo>
                  <a:pt x="63000" y="43000"/>
                </a:lnTo>
                <a:lnTo>
                  <a:pt x="63000" y="44000"/>
                </a:lnTo>
                <a:lnTo>
                  <a:pt x="64000" y="44000"/>
                </a:lnTo>
                <a:lnTo>
                  <a:pt x="64000" y="46000"/>
                </a:lnTo>
                <a:lnTo>
                  <a:pt x="63000" y="46000"/>
                </a:lnTo>
                <a:lnTo>
                  <a:pt x="63000" y="47000"/>
                </a:lnTo>
                <a:lnTo>
                  <a:pt x="57000" y="47000"/>
                </a:lnTo>
                <a:lnTo>
                  <a:pt x="57000" y="46000"/>
                </a:lnTo>
                <a:lnTo>
                  <a:pt x="52000" y="46000"/>
                </a:lnTo>
                <a:lnTo>
                  <a:pt x="52000" y="45000"/>
                </a:lnTo>
                <a:lnTo>
                  <a:pt x="46000" y="46000"/>
                </a:lnTo>
                <a:lnTo>
                  <a:pt x="46000" y="50000"/>
                </a:lnTo>
                <a:lnTo>
                  <a:pt x="47000" y="50000"/>
                </a:lnTo>
                <a:lnTo>
                  <a:pt x="47000" y="54000"/>
                </a:lnTo>
                <a:lnTo>
                  <a:pt x="48000" y="54000"/>
                </a:lnTo>
                <a:lnTo>
                  <a:pt x="48000" y="59000"/>
                </a:lnTo>
                <a:lnTo>
                  <a:pt x="47000" y="59000"/>
                </a:lnTo>
                <a:lnTo>
                  <a:pt x="47000" y="71000"/>
                </a:lnTo>
                <a:lnTo>
                  <a:pt x="46000" y="71000"/>
                </a:lnTo>
                <a:lnTo>
                  <a:pt x="46000" y="76000"/>
                </a:lnTo>
                <a:lnTo>
                  <a:pt x="47000" y="76000"/>
                </a:lnTo>
                <a:lnTo>
                  <a:pt x="47000" y="78000"/>
                </a:lnTo>
                <a:lnTo>
                  <a:pt x="48000" y="78000"/>
                </a:lnTo>
                <a:lnTo>
                  <a:pt x="48000" y="79000"/>
                </a:lnTo>
                <a:lnTo>
                  <a:pt x="49000" y="79000"/>
                </a:lnTo>
                <a:lnTo>
                  <a:pt x="49000" y="81000"/>
                </a:lnTo>
                <a:lnTo>
                  <a:pt x="50000" y="81000"/>
                </a:lnTo>
                <a:lnTo>
                  <a:pt x="50000" y="90000"/>
                </a:lnTo>
                <a:lnTo>
                  <a:pt x="52000" y="91000"/>
                </a:lnTo>
                <a:lnTo>
                  <a:pt x="52000" y="101000"/>
                </a:lnTo>
                <a:lnTo>
                  <a:pt x="50000" y="101000"/>
                </a:lnTo>
                <a:lnTo>
                  <a:pt x="50000" y="102000"/>
                </a:lnTo>
                <a:lnTo>
                  <a:pt x="46000" y="102000"/>
                </a:lnTo>
                <a:lnTo>
                  <a:pt x="46000" y="101000"/>
                </a:lnTo>
                <a:lnTo>
                  <a:pt x="45000" y="101000"/>
                </a:lnTo>
                <a:lnTo>
                  <a:pt x="45000" y="98000"/>
                </a:lnTo>
                <a:lnTo>
                  <a:pt x="46000" y="98000"/>
                </a:lnTo>
                <a:lnTo>
                  <a:pt x="46000" y="95000"/>
                </a:lnTo>
                <a:lnTo>
                  <a:pt x="45000" y="95000"/>
                </a:lnTo>
                <a:lnTo>
                  <a:pt x="45000" y="94000"/>
                </a:lnTo>
                <a:lnTo>
                  <a:pt x="46000" y="94000"/>
                </a:lnTo>
                <a:lnTo>
                  <a:pt x="46000" y="89000"/>
                </a:lnTo>
                <a:lnTo>
                  <a:pt x="45000" y="89000"/>
                </a:lnTo>
                <a:lnTo>
                  <a:pt x="45000" y="87000"/>
                </a:lnTo>
                <a:lnTo>
                  <a:pt x="43000" y="86000"/>
                </a:lnTo>
                <a:lnTo>
                  <a:pt x="43000" y="84000"/>
                </a:lnTo>
                <a:lnTo>
                  <a:pt x="42000" y="84000"/>
                </a:lnTo>
                <a:lnTo>
                  <a:pt x="42000" y="81000"/>
                </a:lnTo>
                <a:lnTo>
                  <a:pt x="41000" y="81000"/>
                </a:lnTo>
                <a:lnTo>
                  <a:pt x="41000" y="79000"/>
                </a:lnTo>
                <a:lnTo>
                  <a:pt x="40000" y="79000"/>
                </a:lnTo>
                <a:lnTo>
                  <a:pt x="40000" y="78000"/>
                </a:lnTo>
                <a:lnTo>
                  <a:pt x="39000" y="78000"/>
                </a:lnTo>
                <a:lnTo>
                  <a:pt x="39000" y="76000"/>
                </a:lnTo>
                <a:lnTo>
                  <a:pt x="38000" y="76000"/>
                </a:lnTo>
                <a:lnTo>
                  <a:pt x="38000" y="70000"/>
                </a:lnTo>
                <a:lnTo>
                  <a:pt x="37000" y="70000"/>
                </a:lnTo>
                <a:lnTo>
                  <a:pt x="37000" y="63000"/>
                </a:lnTo>
                <a:lnTo>
                  <a:pt x="36000" y="63000"/>
                </a:lnTo>
                <a:lnTo>
                  <a:pt x="36000" y="62000"/>
                </a:lnTo>
                <a:lnTo>
                  <a:pt x="33000" y="62000"/>
                </a:lnTo>
                <a:lnTo>
                  <a:pt x="33000" y="63000"/>
                </a:lnTo>
                <a:lnTo>
                  <a:pt x="31000" y="63000"/>
                </a:lnTo>
                <a:lnTo>
                  <a:pt x="30000" y="65000"/>
                </a:lnTo>
                <a:lnTo>
                  <a:pt x="26000" y="66000"/>
                </a:lnTo>
                <a:lnTo>
                  <a:pt x="25000" y="68000"/>
                </a:lnTo>
                <a:lnTo>
                  <a:pt x="21000" y="69000"/>
                </a:lnTo>
                <a:lnTo>
                  <a:pt x="20000" y="71000"/>
                </a:lnTo>
                <a:lnTo>
                  <a:pt x="16000" y="72000"/>
                </a:lnTo>
                <a:lnTo>
                  <a:pt x="17000" y="78000"/>
                </a:lnTo>
                <a:lnTo>
                  <a:pt x="18000" y="78000"/>
                </a:lnTo>
                <a:lnTo>
                  <a:pt x="18000" y="90000"/>
                </a:lnTo>
                <a:lnTo>
                  <a:pt x="19000" y="90000"/>
                </a:lnTo>
                <a:lnTo>
                  <a:pt x="19000" y="93000"/>
                </a:lnTo>
                <a:lnTo>
                  <a:pt x="20000" y="93000"/>
                </a:lnTo>
                <a:lnTo>
                  <a:pt x="20000" y="97000"/>
                </a:lnTo>
                <a:lnTo>
                  <a:pt x="21000" y="97000"/>
                </a:lnTo>
                <a:lnTo>
                  <a:pt x="21000" y="100000"/>
                </a:lnTo>
                <a:lnTo>
                  <a:pt x="20000" y="100000"/>
                </a:lnTo>
                <a:lnTo>
                  <a:pt x="20000" y="102000"/>
                </a:lnTo>
                <a:lnTo>
                  <a:pt x="7000" y="102000"/>
                </a:lnTo>
                <a:lnTo>
                  <a:pt x="7000" y="101000"/>
                </a:lnTo>
                <a:lnTo>
                  <a:pt x="4000" y="101000"/>
                </a:lnTo>
                <a:lnTo>
                  <a:pt x="4000" y="98000"/>
                </a:lnTo>
                <a:lnTo>
                  <a:pt x="6000" y="98000"/>
                </a:lnTo>
                <a:lnTo>
                  <a:pt x="6000" y="97000"/>
                </a:lnTo>
                <a:lnTo>
                  <a:pt x="10000" y="96000"/>
                </a:lnTo>
                <a:lnTo>
                  <a:pt x="11000" y="94000"/>
                </a:lnTo>
                <a:lnTo>
                  <a:pt x="13000" y="94000"/>
                </a:lnTo>
                <a:lnTo>
                  <a:pt x="13000" y="88000"/>
                </a:lnTo>
                <a:lnTo>
                  <a:pt x="12000" y="88000"/>
                </a:lnTo>
                <a:lnTo>
                  <a:pt x="11000" y="82000"/>
                </a:lnTo>
                <a:lnTo>
                  <a:pt x="10000" y="82000"/>
                </a:lnTo>
                <a:lnTo>
                  <a:pt x="10000" y="79000"/>
                </a:lnTo>
                <a:lnTo>
                  <a:pt x="9000" y="79000"/>
                </a:lnTo>
                <a:lnTo>
                  <a:pt x="9000" y="75000"/>
                </a:lnTo>
                <a:lnTo>
                  <a:pt x="8000" y="75000"/>
                </a:lnTo>
                <a:lnTo>
                  <a:pt x="8000" y="71000"/>
                </a:lnTo>
                <a:lnTo>
                  <a:pt x="7000" y="71000"/>
                </a:lnTo>
                <a:lnTo>
                  <a:pt x="7000" y="70000"/>
                </a:lnTo>
                <a:lnTo>
                  <a:pt x="8000" y="70000"/>
                </a:lnTo>
                <a:lnTo>
                  <a:pt x="8000" y="67000"/>
                </a:lnTo>
                <a:lnTo>
                  <a:pt x="9000" y="67000"/>
                </a:lnTo>
                <a:lnTo>
                  <a:pt x="9000" y="66000"/>
                </a:lnTo>
                <a:lnTo>
                  <a:pt x="10000" y="66000"/>
                </a:lnTo>
                <a:lnTo>
                  <a:pt x="10000" y="65000"/>
                </a:lnTo>
                <a:lnTo>
                  <a:pt x="11000" y="65000"/>
                </a:lnTo>
                <a:lnTo>
                  <a:pt x="11000" y="64000"/>
                </a:lnTo>
                <a:lnTo>
                  <a:pt x="12000" y="64000"/>
                </a:lnTo>
                <a:lnTo>
                  <a:pt x="12000" y="63000"/>
                </a:lnTo>
                <a:lnTo>
                  <a:pt x="13000" y="63000"/>
                </a:lnTo>
                <a:lnTo>
                  <a:pt x="13000" y="62000"/>
                </a:lnTo>
                <a:lnTo>
                  <a:pt x="14000" y="62000"/>
                </a:lnTo>
                <a:lnTo>
                  <a:pt x="14000" y="61000"/>
                </a:lnTo>
                <a:lnTo>
                  <a:pt x="15000" y="61000"/>
                </a:lnTo>
                <a:lnTo>
                  <a:pt x="15000" y="60000"/>
                </a:lnTo>
                <a:lnTo>
                  <a:pt x="16000" y="60000"/>
                </a:lnTo>
                <a:lnTo>
                  <a:pt x="16000" y="59000"/>
                </a:lnTo>
                <a:lnTo>
                  <a:pt x="18000" y="58000"/>
                </a:lnTo>
                <a:lnTo>
                  <a:pt x="18000" y="57000"/>
                </a:lnTo>
                <a:lnTo>
                  <a:pt x="19000" y="57000"/>
                </a:lnTo>
                <a:lnTo>
                  <a:pt x="19000" y="56000"/>
                </a:lnTo>
                <a:lnTo>
                  <a:pt x="20000" y="56000"/>
                </a:lnTo>
                <a:lnTo>
                  <a:pt x="20000" y="55000"/>
                </a:lnTo>
                <a:lnTo>
                  <a:pt x="22000" y="55000"/>
                </a:lnTo>
                <a:lnTo>
                  <a:pt x="22000" y="54000"/>
                </a:lnTo>
                <a:lnTo>
                  <a:pt x="23000" y="54000"/>
                </a:lnTo>
                <a:lnTo>
                  <a:pt x="23000" y="53000"/>
                </a:lnTo>
                <a:lnTo>
                  <a:pt x="25000" y="52000"/>
                </a:lnTo>
                <a:lnTo>
                  <a:pt x="25000" y="42000"/>
                </a:lnTo>
                <a:lnTo>
                  <a:pt x="24000" y="42000"/>
                </a:lnTo>
                <a:lnTo>
                  <a:pt x="24000" y="38000"/>
                </a:lnTo>
                <a:lnTo>
                  <a:pt x="23000" y="38000"/>
                </a:lnTo>
                <a:lnTo>
                  <a:pt x="23000" y="36000"/>
                </a:lnTo>
                <a:lnTo>
                  <a:pt x="22000" y="36000"/>
                </a:lnTo>
                <a:lnTo>
                  <a:pt x="22000" y="35000"/>
                </a:lnTo>
                <a:lnTo>
                  <a:pt x="19000" y="35000"/>
                </a:lnTo>
                <a:lnTo>
                  <a:pt x="19000" y="34000"/>
                </a:lnTo>
                <a:lnTo>
                  <a:pt x="18000" y="34000"/>
                </a:lnTo>
                <a:lnTo>
                  <a:pt x="18000" y="33000"/>
                </a:lnTo>
                <a:lnTo>
                  <a:pt x="17000" y="33000"/>
                </a:lnTo>
                <a:lnTo>
                  <a:pt x="17000" y="32000"/>
                </a:lnTo>
                <a:lnTo>
                  <a:pt x="15000" y="31000"/>
                </a:lnTo>
                <a:lnTo>
                  <a:pt x="15000" y="30000"/>
                </a:lnTo>
                <a:lnTo>
                  <a:pt x="13000" y="30000"/>
                </a:lnTo>
                <a:lnTo>
                  <a:pt x="13000" y="29000"/>
                </a:lnTo>
                <a:lnTo>
                  <a:pt x="9000" y="28000"/>
                </a:lnTo>
                <a:lnTo>
                  <a:pt x="9000" y="27000"/>
                </a:lnTo>
                <a:lnTo>
                  <a:pt x="8000" y="27000"/>
                </a:lnTo>
                <a:lnTo>
                  <a:pt x="8000" y="26000"/>
                </a:lnTo>
                <a:lnTo>
                  <a:pt x="7000" y="26000"/>
                </a:lnTo>
                <a:lnTo>
                  <a:pt x="7000" y="25000"/>
                </a:lnTo>
                <a:lnTo>
                  <a:pt x="5000" y="24000"/>
                </a:lnTo>
                <a:lnTo>
                  <a:pt x="5000" y="22000"/>
                </a:lnTo>
                <a:lnTo>
                  <a:pt x="3000" y="21000"/>
                </a:lnTo>
                <a:lnTo>
                  <a:pt x="3000" y="17000"/>
                </a:lnTo>
                <a:lnTo>
                  <a:pt x="5000" y="16000"/>
                </a:lnTo>
                <a:lnTo>
                  <a:pt x="5000" y="8000"/>
                </a:lnTo>
                <a:lnTo>
                  <a:pt x="4000" y="8000"/>
                </a:lnTo>
                <a:lnTo>
                  <a:pt x="4000" y="7000"/>
                </a:lnTo>
                <a:lnTo>
                  <a:pt x="3000" y="7000"/>
                </a:lnTo>
                <a:lnTo>
                  <a:pt x="3000" y="6000"/>
                </a:lnTo>
                <a:lnTo>
                  <a:pt x="2000" y="6000"/>
                </a:lnTo>
                <a:lnTo>
                  <a:pt x="1000" y="4000"/>
                </a:lnTo>
                <a:lnTo>
                  <a:pt x="0" y="4000"/>
                </a:lnTo>
                <a:close/>
              </a:path>
            </a:pathLst>
          </a:custGeom>
          <a:solidFill>
            <a:srgbClr val="276D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Target identity mask orange"/>
          <p:cNvSpPr/>
          <p:nvPr/>
        </p:nvSpPr>
        <p:spPr>
          <a:xfrm>
            <a:off x="7086600" y="8174736"/>
            <a:ext cx="576072" cy="832104"/>
          </a:xfrm>
          <a:custGeom>
            <a:avLst/>
            <a:gdLst/>
            <a:ahLst/>
            <a:cxnLst/>
            <a:rect l="0" t="0" r="r" b="b"/>
            <a:pathLst>
              <a:path w="63000" h="91000">
                <a:moveTo>
                  <a:pt x="0" y="0"/>
                </a:moveTo>
                <a:lnTo>
                  <a:pt x="6000" y="1000"/>
                </a:lnTo>
                <a:lnTo>
                  <a:pt x="6000" y="7000"/>
                </a:lnTo>
                <a:lnTo>
                  <a:pt x="7000" y="7000"/>
                </a:lnTo>
                <a:lnTo>
                  <a:pt x="7000" y="10000"/>
                </a:lnTo>
                <a:lnTo>
                  <a:pt x="8000" y="10000"/>
                </a:lnTo>
                <a:lnTo>
                  <a:pt x="8000" y="13000"/>
                </a:lnTo>
                <a:lnTo>
                  <a:pt x="9000" y="13000"/>
                </a:lnTo>
                <a:lnTo>
                  <a:pt x="10000" y="17000"/>
                </a:lnTo>
                <a:lnTo>
                  <a:pt x="16000" y="18000"/>
                </a:lnTo>
                <a:lnTo>
                  <a:pt x="16000" y="19000"/>
                </a:lnTo>
                <a:lnTo>
                  <a:pt x="22000" y="19000"/>
                </a:lnTo>
                <a:lnTo>
                  <a:pt x="22000" y="18000"/>
                </a:lnTo>
                <a:lnTo>
                  <a:pt x="24000" y="18000"/>
                </a:lnTo>
                <a:lnTo>
                  <a:pt x="24000" y="14000"/>
                </a:lnTo>
                <a:lnTo>
                  <a:pt x="25000" y="14000"/>
                </a:lnTo>
                <a:lnTo>
                  <a:pt x="25000" y="8000"/>
                </a:lnTo>
                <a:lnTo>
                  <a:pt x="26000" y="8000"/>
                </a:lnTo>
                <a:lnTo>
                  <a:pt x="26000" y="6000"/>
                </a:lnTo>
                <a:lnTo>
                  <a:pt x="27000" y="6000"/>
                </a:lnTo>
                <a:lnTo>
                  <a:pt x="27000" y="5000"/>
                </a:lnTo>
                <a:lnTo>
                  <a:pt x="33000" y="5000"/>
                </a:lnTo>
                <a:lnTo>
                  <a:pt x="33000" y="6000"/>
                </a:lnTo>
                <a:lnTo>
                  <a:pt x="35000" y="7000"/>
                </a:lnTo>
                <a:lnTo>
                  <a:pt x="35000" y="9000"/>
                </a:lnTo>
                <a:lnTo>
                  <a:pt x="36000" y="9000"/>
                </a:lnTo>
                <a:lnTo>
                  <a:pt x="36000" y="16000"/>
                </a:lnTo>
                <a:lnTo>
                  <a:pt x="37000" y="16000"/>
                </a:lnTo>
                <a:lnTo>
                  <a:pt x="37000" y="21000"/>
                </a:lnTo>
                <a:lnTo>
                  <a:pt x="38000" y="21000"/>
                </a:lnTo>
                <a:lnTo>
                  <a:pt x="38000" y="22000"/>
                </a:lnTo>
                <a:lnTo>
                  <a:pt x="40000" y="23000"/>
                </a:lnTo>
                <a:lnTo>
                  <a:pt x="40000" y="25000"/>
                </a:lnTo>
                <a:lnTo>
                  <a:pt x="41000" y="25000"/>
                </a:lnTo>
                <a:lnTo>
                  <a:pt x="41000" y="27000"/>
                </a:lnTo>
                <a:lnTo>
                  <a:pt x="42000" y="27000"/>
                </a:lnTo>
                <a:lnTo>
                  <a:pt x="42000" y="30000"/>
                </a:lnTo>
                <a:lnTo>
                  <a:pt x="43000" y="30000"/>
                </a:lnTo>
                <a:lnTo>
                  <a:pt x="44000" y="36000"/>
                </a:lnTo>
                <a:lnTo>
                  <a:pt x="45000" y="36000"/>
                </a:lnTo>
                <a:lnTo>
                  <a:pt x="45000" y="37000"/>
                </a:lnTo>
                <a:lnTo>
                  <a:pt x="48000" y="37000"/>
                </a:lnTo>
                <a:lnTo>
                  <a:pt x="48000" y="38000"/>
                </a:lnTo>
                <a:lnTo>
                  <a:pt x="52000" y="38000"/>
                </a:lnTo>
                <a:lnTo>
                  <a:pt x="52000" y="39000"/>
                </a:lnTo>
                <a:lnTo>
                  <a:pt x="56000" y="39000"/>
                </a:lnTo>
                <a:lnTo>
                  <a:pt x="56000" y="38000"/>
                </a:lnTo>
                <a:lnTo>
                  <a:pt x="59000" y="38000"/>
                </a:lnTo>
                <a:lnTo>
                  <a:pt x="59000" y="37000"/>
                </a:lnTo>
                <a:lnTo>
                  <a:pt x="60000" y="37000"/>
                </a:lnTo>
                <a:lnTo>
                  <a:pt x="60000" y="40000"/>
                </a:lnTo>
                <a:lnTo>
                  <a:pt x="61000" y="40000"/>
                </a:lnTo>
                <a:lnTo>
                  <a:pt x="61000" y="41000"/>
                </a:lnTo>
                <a:lnTo>
                  <a:pt x="63000" y="41000"/>
                </a:lnTo>
                <a:lnTo>
                  <a:pt x="63000" y="44000"/>
                </a:lnTo>
                <a:lnTo>
                  <a:pt x="61000" y="44000"/>
                </a:lnTo>
                <a:lnTo>
                  <a:pt x="61000" y="45000"/>
                </a:lnTo>
                <a:lnTo>
                  <a:pt x="60000" y="45000"/>
                </a:lnTo>
                <a:lnTo>
                  <a:pt x="60000" y="44000"/>
                </a:lnTo>
                <a:lnTo>
                  <a:pt x="57000" y="44000"/>
                </a:lnTo>
                <a:lnTo>
                  <a:pt x="56000" y="42000"/>
                </a:lnTo>
                <a:lnTo>
                  <a:pt x="54000" y="42000"/>
                </a:lnTo>
                <a:lnTo>
                  <a:pt x="54000" y="41000"/>
                </a:lnTo>
                <a:lnTo>
                  <a:pt x="44000" y="41000"/>
                </a:lnTo>
                <a:lnTo>
                  <a:pt x="44000" y="40000"/>
                </a:lnTo>
                <a:lnTo>
                  <a:pt x="41000" y="40000"/>
                </a:lnTo>
                <a:lnTo>
                  <a:pt x="40000" y="36000"/>
                </a:lnTo>
                <a:lnTo>
                  <a:pt x="39000" y="36000"/>
                </a:lnTo>
                <a:lnTo>
                  <a:pt x="39000" y="35000"/>
                </a:lnTo>
                <a:lnTo>
                  <a:pt x="37000" y="35000"/>
                </a:lnTo>
                <a:lnTo>
                  <a:pt x="37000" y="38000"/>
                </a:lnTo>
                <a:lnTo>
                  <a:pt x="38000" y="38000"/>
                </a:lnTo>
                <a:lnTo>
                  <a:pt x="38000" y="39000"/>
                </a:lnTo>
                <a:lnTo>
                  <a:pt x="39000" y="39000"/>
                </a:lnTo>
                <a:lnTo>
                  <a:pt x="39000" y="40000"/>
                </a:lnTo>
                <a:lnTo>
                  <a:pt x="41000" y="41000"/>
                </a:lnTo>
                <a:lnTo>
                  <a:pt x="41000" y="43000"/>
                </a:lnTo>
                <a:lnTo>
                  <a:pt x="42000" y="43000"/>
                </a:lnTo>
                <a:lnTo>
                  <a:pt x="42000" y="45000"/>
                </a:lnTo>
                <a:lnTo>
                  <a:pt x="44000" y="46000"/>
                </a:lnTo>
                <a:lnTo>
                  <a:pt x="44000" y="48000"/>
                </a:lnTo>
                <a:lnTo>
                  <a:pt x="45000" y="48000"/>
                </a:lnTo>
                <a:lnTo>
                  <a:pt x="45000" y="50000"/>
                </a:lnTo>
                <a:lnTo>
                  <a:pt x="46000" y="50000"/>
                </a:lnTo>
                <a:lnTo>
                  <a:pt x="46000" y="53000"/>
                </a:lnTo>
                <a:lnTo>
                  <a:pt x="47000" y="53000"/>
                </a:lnTo>
                <a:lnTo>
                  <a:pt x="48000" y="63000"/>
                </a:lnTo>
                <a:lnTo>
                  <a:pt x="49000" y="63000"/>
                </a:lnTo>
                <a:lnTo>
                  <a:pt x="49000" y="69000"/>
                </a:lnTo>
                <a:lnTo>
                  <a:pt x="50000" y="69000"/>
                </a:lnTo>
                <a:lnTo>
                  <a:pt x="50000" y="72000"/>
                </a:lnTo>
                <a:lnTo>
                  <a:pt x="51000" y="72000"/>
                </a:lnTo>
                <a:lnTo>
                  <a:pt x="51000" y="78000"/>
                </a:lnTo>
                <a:lnTo>
                  <a:pt x="52000" y="78000"/>
                </a:lnTo>
                <a:lnTo>
                  <a:pt x="52000" y="82000"/>
                </a:lnTo>
                <a:lnTo>
                  <a:pt x="53000" y="82000"/>
                </a:lnTo>
                <a:lnTo>
                  <a:pt x="53000" y="91000"/>
                </a:lnTo>
                <a:lnTo>
                  <a:pt x="48000" y="91000"/>
                </a:lnTo>
                <a:lnTo>
                  <a:pt x="48000" y="87000"/>
                </a:lnTo>
                <a:lnTo>
                  <a:pt x="47000" y="87000"/>
                </a:lnTo>
                <a:lnTo>
                  <a:pt x="47000" y="85000"/>
                </a:lnTo>
                <a:lnTo>
                  <a:pt x="46000" y="85000"/>
                </a:lnTo>
                <a:lnTo>
                  <a:pt x="46000" y="82000"/>
                </a:lnTo>
                <a:lnTo>
                  <a:pt x="45000" y="82000"/>
                </a:lnTo>
                <a:lnTo>
                  <a:pt x="45000" y="80000"/>
                </a:lnTo>
                <a:lnTo>
                  <a:pt x="43000" y="79000"/>
                </a:lnTo>
                <a:lnTo>
                  <a:pt x="43000" y="77000"/>
                </a:lnTo>
                <a:lnTo>
                  <a:pt x="42000" y="77000"/>
                </a:lnTo>
                <a:lnTo>
                  <a:pt x="42000" y="75000"/>
                </a:lnTo>
                <a:lnTo>
                  <a:pt x="41000" y="75000"/>
                </a:lnTo>
                <a:lnTo>
                  <a:pt x="41000" y="73000"/>
                </a:lnTo>
                <a:lnTo>
                  <a:pt x="40000" y="73000"/>
                </a:lnTo>
                <a:lnTo>
                  <a:pt x="40000" y="71000"/>
                </a:lnTo>
                <a:lnTo>
                  <a:pt x="39000" y="71000"/>
                </a:lnTo>
                <a:lnTo>
                  <a:pt x="38000" y="67000"/>
                </a:lnTo>
                <a:lnTo>
                  <a:pt x="36000" y="66000"/>
                </a:lnTo>
                <a:lnTo>
                  <a:pt x="36000" y="64000"/>
                </a:lnTo>
                <a:lnTo>
                  <a:pt x="35000" y="64000"/>
                </a:lnTo>
                <a:lnTo>
                  <a:pt x="35000" y="61000"/>
                </a:lnTo>
                <a:lnTo>
                  <a:pt x="34000" y="61000"/>
                </a:lnTo>
                <a:lnTo>
                  <a:pt x="33000" y="59000"/>
                </a:lnTo>
                <a:lnTo>
                  <a:pt x="30000" y="59000"/>
                </a:lnTo>
                <a:lnTo>
                  <a:pt x="30000" y="61000"/>
                </a:lnTo>
                <a:lnTo>
                  <a:pt x="28000" y="62000"/>
                </a:lnTo>
                <a:lnTo>
                  <a:pt x="28000" y="64000"/>
                </a:lnTo>
                <a:lnTo>
                  <a:pt x="27000" y="64000"/>
                </a:lnTo>
                <a:lnTo>
                  <a:pt x="27000" y="66000"/>
                </a:lnTo>
                <a:lnTo>
                  <a:pt x="25000" y="67000"/>
                </a:lnTo>
                <a:lnTo>
                  <a:pt x="25000" y="69000"/>
                </a:lnTo>
                <a:lnTo>
                  <a:pt x="24000" y="69000"/>
                </a:lnTo>
                <a:lnTo>
                  <a:pt x="24000" y="72000"/>
                </a:lnTo>
                <a:lnTo>
                  <a:pt x="23000" y="72000"/>
                </a:lnTo>
                <a:lnTo>
                  <a:pt x="23000" y="82000"/>
                </a:lnTo>
                <a:lnTo>
                  <a:pt x="24000" y="82000"/>
                </a:lnTo>
                <a:lnTo>
                  <a:pt x="24000" y="87000"/>
                </a:lnTo>
                <a:lnTo>
                  <a:pt x="25000" y="87000"/>
                </a:lnTo>
                <a:lnTo>
                  <a:pt x="25000" y="90000"/>
                </a:lnTo>
                <a:lnTo>
                  <a:pt x="23000" y="90000"/>
                </a:lnTo>
                <a:lnTo>
                  <a:pt x="23000" y="91000"/>
                </a:lnTo>
                <a:lnTo>
                  <a:pt x="11000" y="91000"/>
                </a:lnTo>
                <a:lnTo>
                  <a:pt x="11000" y="88000"/>
                </a:lnTo>
                <a:lnTo>
                  <a:pt x="13000" y="88000"/>
                </a:lnTo>
                <a:lnTo>
                  <a:pt x="14000" y="86000"/>
                </a:lnTo>
                <a:lnTo>
                  <a:pt x="16000" y="86000"/>
                </a:lnTo>
                <a:lnTo>
                  <a:pt x="16000" y="74000"/>
                </a:lnTo>
                <a:lnTo>
                  <a:pt x="15000" y="74000"/>
                </a:lnTo>
                <a:lnTo>
                  <a:pt x="15000" y="63000"/>
                </a:lnTo>
                <a:lnTo>
                  <a:pt x="16000" y="63000"/>
                </a:lnTo>
                <a:lnTo>
                  <a:pt x="16000" y="61000"/>
                </a:lnTo>
                <a:lnTo>
                  <a:pt x="17000" y="61000"/>
                </a:lnTo>
                <a:lnTo>
                  <a:pt x="17000" y="59000"/>
                </a:lnTo>
                <a:lnTo>
                  <a:pt x="18000" y="59000"/>
                </a:lnTo>
                <a:lnTo>
                  <a:pt x="19000" y="55000"/>
                </a:lnTo>
                <a:lnTo>
                  <a:pt x="21000" y="54000"/>
                </a:lnTo>
                <a:lnTo>
                  <a:pt x="21000" y="49000"/>
                </a:lnTo>
                <a:lnTo>
                  <a:pt x="22000" y="49000"/>
                </a:lnTo>
                <a:lnTo>
                  <a:pt x="22000" y="47000"/>
                </a:lnTo>
                <a:lnTo>
                  <a:pt x="23000" y="47000"/>
                </a:lnTo>
                <a:lnTo>
                  <a:pt x="23000" y="44000"/>
                </a:lnTo>
                <a:lnTo>
                  <a:pt x="24000" y="44000"/>
                </a:lnTo>
                <a:lnTo>
                  <a:pt x="24000" y="39000"/>
                </a:lnTo>
                <a:lnTo>
                  <a:pt x="23000" y="39000"/>
                </a:lnTo>
                <a:lnTo>
                  <a:pt x="23000" y="37000"/>
                </a:lnTo>
                <a:lnTo>
                  <a:pt x="20000" y="37000"/>
                </a:lnTo>
                <a:lnTo>
                  <a:pt x="20000" y="38000"/>
                </a:lnTo>
                <a:lnTo>
                  <a:pt x="18000" y="39000"/>
                </a:lnTo>
                <a:lnTo>
                  <a:pt x="18000" y="35000"/>
                </a:lnTo>
                <a:lnTo>
                  <a:pt x="15000" y="35000"/>
                </a:lnTo>
                <a:lnTo>
                  <a:pt x="15000" y="34000"/>
                </a:lnTo>
                <a:lnTo>
                  <a:pt x="14000" y="34000"/>
                </a:lnTo>
                <a:lnTo>
                  <a:pt x="14000" y="32000"/>
                </a:lnTo>
                <a:lnTo>
                  <a:pt x="15000" y="32000"/>
                </a:lnTo>
                <a:lnTo>
                  <a:pt x="15000" y="31000"/>
                </a:lnTo>
                <a:lnTo>
                  <a:pt x="17000" y="30000"/>
                </a:lnTo>
                <a:lnTo>
                  <a:pt x="17000" y="25000"/>
                </a:lnTo>
                <a:lnTo>
                  <a:pt x="16000" y="25000"/>
                </a:lnTo>
                <a:lnTo>
                  <a:pt x="16000" y="24000"/>
                </a:lnTo>
                <a:lnTo>
                  <a:pt x="15000" y="24000"/>
                </a:lnTo>
                <a:lnTo>
                  <a:pt x="14000" y="22000"/>
                </a:lnTo>
                <a:lnTo>
                  <a:pt x="12000" y="22000"/>
                </a:lnTo>
                <a:lnTo>
                  <a:pt x="12000" y="21000"/>
                </a:lnTo>
                <a:lnTo>
                  <a:pt x="8000" y="20000"/>
                </a:lnTo>
                <a:lnTo>
                  <a:pt x="8000" y="18000"/>
                </a:lnTo>
                <a:lnTo>
                  <a:pt x="7000" y="18000"/>
                </a:lnTo>
                <a:lnTo>
                  <a:pt x="7000" y="16000"/>
                </a:lnTo>
                <a:lnTo>
                  <a:pt x="6000" y="16000"/>
                </a:lnTo>
                <a:lnTo>
                  <a:pt x="6000" y="14000"/>
                </a:lnTo>
                <a:lnTo>
                  <a:pt x="5000" y="14000"/>
                </a:lnTo>
                <a:lnTo>
                  <a:pt x="5000" y="10000"/>
                </a:lnTo>
                <a:lnTo>
                  <a:pt x="4000" y="10000"/>
                </a:lnTo>
                <a:lnTo>
                  <a:pt x="4000" y="8000"/>
                </a:lnTo>
                <a:lnTo>
                  <a:pt x="3000" y="8000"/>
                </a:lnTo>
                <a:lnTo>
                  <a:pt x="3000" y="7000"/>
                </a:lnTo>
                <a:lnTo>
                  <a:pt x="2000" y="7000"/>
                </a:lnTo>
                <a:lnTo>
                  <a:pt x="2000" y="6000"/>
                </a:lnTo>
                <a:lnTo>
                  <a:pt x="0" y="5000"/>
                </a:lnTo>
                <a:close/>
              </a:path>
            </a:pathLst>
          </a:custGeom>
          <a:solidFill>
            <a:srgbClr val="FE7D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IMG construction transition"/>
          <p:cNvSpPr/>
          <p:nvPr/>
        </p:nvSpPr>
        <p:spPr>
          <a:xfrm>
            <a:off x="8019288" y="8330184"/>
            <a:ext cx="246888" cy="228600"/>
          </a:xfrm>
          <a:custGeom>
            <a:avLst/>
            <a:gdLst/>
            <a:ahLst/>
            <a:cxnLst/>
            <a:rect l="0" t="0" r="r" b="b"/>
            <a:pathLst>
              <a:path w="27000" h="25000">
                <a:moveTo>
                  <a:pt x="0" y="6250"/>
                </a:moveTo>
                <a:lnTo>
                  <a:pt x="14310" y="6250"/>
                </a:lnTo>
                <a:lnTo>
                  <a:pt x="14310" y="0"/>
                </a:lnTo>
                <a:lnTo>
                  <a:pt x="27000" y="12500"/>
                </a:lnTo>
                <a:lnTo>
                  <a:pt x="14310" y="25000"/>
                </a:lnTo>
                <a:lnTo>
                  <a:pt x="14310" y="18750"/>
                </a:lnTo>
                <a:lnTo>
                  <a:pt x="0" y="18750"/>
                </a:lnTo>
                <a:close/>
              </a:path>
            </a:pathLst>
          </a:custGeom>
          <a:solidFill>
            <a:srgbClr val="FFFFFF"/>
          </a:solidFill>
          <a:ln w="24688" cap="flat">
            <a:solidFill>
              <a:srgbClr val="5F605D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" name="Correspondence graph 1 background"/>
          <p:cNvSpPr/>
          <p:nvPr/>
        </p:nvSpPr>
        <p:spPr>
          <a:xfrm>
            <a:off x="8631936" y="7525512"/>
            <a:ext cx="1005840" cy="1307592"/>
          </a:xfrm>
          <a:prstGeom prst="rect">
            <a:avLst/>
          </a:prstGeom>
          <a:solidFill>
            <a:srgbClr val="DAE3F4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5" name="Graph 1 cross-identity blue"/>
          <p:cNvSpPr/>
          <p:nvPr/>
        </p:nvSpPr>
        <p:spPr>
          <a:xfrm>
            <a:off x="8833104" y="7894015"/>
            <a:ext cx="530352" cy="506578"/>
          </a:xfrm>
          <a:custGeom>
            <a:avLst/>
            <a:gdLst/>
            <a:ahLst/>
            <a:cxnLst/>
            <a:rect l="0" t="0" r="r" b="b"/>
            <a:pathLst>
              <a:path w="58000" h="55400">
                <a:moveTo>
                  <a:pt x="0" y="55400"/>
                </a:moveTo>
                <a:lnTo>
                  <a:pt x="58000" y="0"/>
                </a:lnTo>
              </a:path>
            </a:pathLst>
          </a:custGeom>
          <a:noFill/>
          <a:ln w="11429" cap="flat">
            <a:solidFill>
              <a:srgbClr val="88A4CD"/>
            </a:solidFill>
            <a:custDash>
              <a:ds d="400000" sp="320000"/>
            </a:custDash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Graph 1 cross-identity blue tip"/>
          <p:cNvSpPr/>
          <p:nvPr/>
        </p:nvSpPr>
        <p:spPr>
          <a:xfrm>
            <a:off x="9259141" y="7894015"/>
            <a:ext cx="104315" cy="102536"/>
          </a:xfrm>
          <a:custGeom>
            <a:avLst/>
            <a:gdLst/>
            <a:ahLst/>
            <a:cxnLst/>
            <a:rect l="0" t="0" r="r" b="b"/>
            <a:pathLst>
              <a:path w="11408" h="11213">
                <a:moveTo>
                  <a:pt x="11408" y="0"/>
                </a:moveTo>
                <a:lnTo>
                  <a:pt x="6907" y="11213"/>
                </a:lnTo>
                <a:lnTo>
                  <a:pt x="0" y="3982"/>
                </a:lnTo>
                <a:close/>
              </a:path>
            </a:pathLst>
          </a:custGeom>
          <a:solidFill>
            <a:srgbClr val="88A4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Graph 1 cross-identity orange"/>
          <p:cNvSpPr/>
          <p:nvPr/>
        </p:nvSpPr>
        <p:spPr>
          <a:xfrm>
            <a:off x="8924544" y="7894015"/>
            <a:ext cx="521208" cy="506578"/>
          </a:xfrm>
          <a:custGeom>
            <a:avLst/>
            <a:gdLst/>
            <a:ahLst/>
            <a:cxnLst/>
            <a:rect l="0" t="0" r="r" b="b"/>
            <a:pathLst>
              <a:path w="57000" h="55400">
                <a:moveTo>
                  <a:pt x="57000" y="55400"/>
                </a:moveTo>
                <a:lnTo>
                  <a:pt x="0" y="0"/>
                </a:lnTo>
              </a:path>
            </a:pathLst>
          </a:custGeom>
          <a:noFill/>
          <a:ln w="11429" cap="flat">
            <a:solidFill>
              <a:srgbClr val="F2B887"/>
            </a:solidFill>
            <a:custDash>
              <a:ds d="400000" sp="320000"/>
            </a:custDash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Graph 1 cross-identity orange tip"/>
          <p:cNvSpPr/>
          <p:nvPr/>
        </p:nvSpPr>
        <p:spPr>
          <a:xfrm>
            <a:off x="8924544" y="7894015"/>
            <a:ext cx="103994" cy="102890"/>
          </a:xfrm>
          <a:custGeom>
            <a:avLst/>
            <a:gdLst/>
            <a:ahLst/>
            <a:cxnLst/>
            <a:rect l="0" t="0" r="r" b="b"/>
            <a:pathLst>
              <a:path w="11373" h="11252">
                <a:moveTo>
                  <a:pt x="0" y="0"/>
                </a:moveTo>
                <a:lnTo>
                  <a:pt x="11373" y="4081"/>
                </a:lnTo>
                <a:lnTo>
                  <a:pt x="4403" y="11252"/>
                </a:lnTo>
                <a:close/>
              </a:path>
            </a:pathLst>
          </a:custGeom>
          <a:solidFill>
            <a:srgbClr val="F2B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Graph 1 matched blue"/>
          <p:cNvSpPr/>
          <p:nvPr/>
        </p:nvSpPr>
        <p:spPr>
          <a:xfrm>
            <a:off x="8833104" y="7912303"/>
            <a:ext cx="457" cy="488290"/>
          </a:xfrm>
          <a:custGeom>
            <a:avLst/>
            <a:gdLst/>
            <a:ahLst/>
            <a:cxnLst/>
            <a:rect l="0" t="0" r="r" b="b"/>
            <a:pathLst>
              <a:path w="50" h="53400">
                <a:moveTo>
                  <a:pt x="0" y="53400"/>
                </a:moveTo>
                <a:lnTo>
                  <a:pt x="0" y="0"/>
                </a:lnTo>
              </a:path>
            </a:pathLst>
          </a:custGeom>
          <a:noFill/>
          <a:ln w="23774" cap="flat">
            <a:solidFill>
              <a:srgbClr val="527B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Graph 1 matched blue tip"/>
          <p:cNvSpPr/>
          <p:nvPr/>
        </p:nvSpPr>
        <p:spPr>
          <a:xfrm>
            <a:off x="8778240" y="7912303"/>
            <a:ext cx="109728" cy="118872"/>
          </a:xfrm>
          <a:custGeom>
            <a:avLst/>
            <a:gdLst/>
            <a:ahLst/>
            <a:cxnLst/>
            <a:rect l="0" t="0" r="r" b="b"/>
            <a:pathLst>
              <a:path w="12000" h="13000">
                <a:moveTo>
                  <a:pt x="6000" y="0"/>
                </a:moveTo>
                <a:lnTo>
                  <a:pt x="12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527B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Graph 1 matched orange"/>
          <p:cNvSpPr/>
          <p:nvPr/>
        </p:nvSpPr>
        <p:spPr>
          <a:xfrm>
            <a:off x="9445752" y="7912303"/>
            <a:ext cx="457" cy="488290"/>
          </a:xfrm>
          <a:custGeom>
            <a:avLst/>
            <a:gdLst/>
            <a:ahLst/>
            <a:cxnLst/>
            <a:rect l="0" t="0" r="r" b="b"/>
            <a:pathLst>
              <a:path w="50" h="53400">
                <a:moveTo>
                  <a:pt x="0" y="53400"/>
                </a:moveTo>
                <a:lnTo>
                  <a:pt x="0" y="0"/>
                </a:lnTo>
              </a:path>
            </a:pathLst>
          </a:custGeom>
          <a:noFill/>
          <a:ln w="23774" cap="flat">
            <a:solidFill>
              <a:srgbClr val="EA985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Graph 1 matched orange tip"/>
          <p:cNvSpPr/>
          <p:nvPr/>
        </p:nvSpPr>
        <p:spPr>
          <a:xfrm>
            <a:off x="9390888" y="7912303"/>
            <a:ext cx="109728" cy="118872"/>
          </a:xfrm>
          <a:custGeom>
            <a:avLst/>
            <a:gdLst/>
            <a:ahLst/>
            <a:cxnLst/>
            <a:rect l="0" t="0" r="r" b="b"/>
            <a:pathLst>
              <a:path w="12000" h="13000">
                <a:moveTo>
                  <a:pt x="6000" y="0"/>
                </a:moveTo>
                <a:lnTo>
                  <a:pt x="12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EA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Graph 1 blue identity"/>
          <p:cNvSpPr/>
          <p:nvPr/>
        </p:nvSpPr>
        <p:spPr>
          <a:xfrm>
            <a:off x="8665769" y="7586777"/>
            <a:ext cx="334670" cy="334670"/>
          </a:xfrm>
          <a:prstGeom prst="ellipse">
            <a:avLst/>
          </a:prstGeom>
          <a:solidFill>
            <a:srgbClr val="537AB9"/>
          </a:solidFill>
          <a:ln w="23774" cap="flat">
            <a:solidFill>
              <a:srgbClr val="6A584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Graph 1 orange identity"/>
          <p:cNvSpPr/>
          <p:nvPr/>
        </p:nvSpPr>
        <p:spPr>
          <a:xfrm>
            <a:off x="9278417" y="7586777"/>
            <a:ext cx="334670" cy="334670"/>
          </a:xfrm>
          <a:prstGeom prst="ellipse">
            <a:avLst/>
          </a:prstGeom>
          <a:solidFill>
            <a:srgbClr val="FAC7A2"/>
          </a:solidFill>
          <a:ln w="23774" cap="flat">
            <a:solidFill>
              <a:srgbClr val="6A584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Graph 1 blue correspondence white base"/>
          <p:cNvSpPr/>
          <p:nvPr/>
        </p:nvSpPr>
        <p:spPr>
          <a:xfrm>
            <a:off x="8665769" y="8400593"/>
            <a:ext cx="334670" cy="3346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Graph 1 blue correspondence diagonal stripes"/>
          <p:cNvSpPr/>
          <p:nvPr/>
        </p:nvSpPr>
        <p:spPr>
          <a:xfrm>
            <a:off x="8666506" y="8401330"/>
            <a:ext cx="333878" cy="333878"/>
          </a:xfrm>
          <a:custGeom>
            <a:avLst/>
            <a:gdLst/>
            <a:ahLst/>
            <a:cxnLst/>
            <a:rect l="0" t="0" r="r" b="b"/>
            <a:pathLst>
              <a:path w="36513" h="36513">
                <a:moveTo>
                  <a:pt x="386" y="14153"/>
                </a:moveTo>
                <a:lnTo>
                  <a:pt x="494" y="13668"/>
                </a:lnTo>
                <a:lnTo>
                  <a:pt x="815" y="12564"/>
                </a:lnTo>
                <a:lnTo>
                  <a:pt x="1205" y="11483"/>
                </a:lnTo>
                <a:lnTo>
                  <a:pt x="1661" y="10428"/>
                </a:lnTo>
                <a:lnTo>
                  <a:pt x="2183" y="9403"/>
                </a:lnTo>
                <a:lnTo>
                  <a:pt x="2768" y="8414"/>
                </a:lnTo>
                <a:lnTo>
                  <a:pt x="3414" y="7463"/>
                </a:lnTo>
                <a:lnTo>
                  <a:pt x="4119" y="6555"/>
                </a:lnTo>
                <a:lnTo>
                  <a:pt x="4879" y="5692"/>
                </a:lnTo>
                <a:lnTo>
                  <a:pt x="5692" y="4879"/>
                </a:lnTo>
                <a:lnTo>
                  <a:pt x="6555" y="4119"/>
                </a:lnTo>
                <a:lnTo>
                  <a:pt x="7463" y="3414"/>
                </a:lnTo>
                <a:lnTo>
                  <a:pt x="8414" y="2768"/>
                </a:lnTo>
                <a:lnTo>
                  <a:pt x="9403" y="2183"/>
                </a:lnTo>
                <a:lnTo>
                  <a:pt x="10428" y="1661"/>
                </a:lnTo>
                <a:lnTo>
                  <a:pt x="11483" y="1205"/>
                </a:lnTo>
                <a:lnTo>
                  <a:pt x="12564" y="815"/>
                </a:lnTo>
                <a:lnTo>
                  <a:pt x="13668" y="494"/>
                </a:lnTo>
                <a:lnTo>
                  <a:pt x="14153" y="386"/>
                </a:lnTo>
                <a:close/>
                <a:moveTo>
                  <a:pt x="781" y="23758"/>
                </a:moveTo>
                <a:lnTo>
                  <a:pt x="494" y="22770"/>
                </a:lnTo>
                <a:lnTo>
                  <a:pt x="244" y="21649"/>
                </a:lnTo>
                <a:lnTo>
                  <a:pt x="64" y="20513"/>
                </a:lnTo>
                <a:lnTo>
                  <a:pt x="0" y="19839"/>
                </a:lnTo>
                <a:lnTo>
                  <a:pt x="19839" y="0"/>
                </a:lnTo>
                <a:lnTo>
                  <a:pt x="20513" y="64"/>
                </a:lnTo>
                <a:lnTo>
                  <a:pt x="21649" y="244"/>
                </a:lnTo>
                <a:lnTo>
                  <a:pt x="22770" y="494"/>
                </a:lnTo>
                <a:lnTo>
                  <a:pt x="23758" y="781"/>
                </a:lnTo>
                <a:close/>
                <a:moveTo>
                  <a:pt x="4370" y="30169"/>
                </a:moveTo>
                <a:lnTo>
                  <a:pt x="4119" y="29884"/>
                </a:lnTo>
                <a:lnTo>
                  <a:pt x="3414" y="28976"/>
                </a:lnTo>
                <a:lnTo>
                  <a:pt x="2768" y="28025"/>
                </a:lnTo>
                <a:lnTo>
                  <a:pt x="2414" y="27425"/>
                </a:lnTo>
                <a:lnTo>
                  <a:pt x="27425" y="2414"/>
                </a:lnTo>
                <a:lnTo>
                  <a:pt x="28025" y="2768"/>
                </a:lnTo>
                <a:lnTo>
                  <a:pt x="28976" y="3414"/>
                </a:lnTo>
                <a:lnTo>
                  <a:pt x="29884" y="4119"/>
                </a:lnTo>
                <a:lnTo>
                  <a:pt x="30169" y="4370"/>
                </a:lnTo>
                <a:close/>
                <a:moveTo>
                  <a:pt x="9986" y="34553"/>
                </a:moveTo>
                <a:lnTo>
                  <a:pt x="9403" y="34256"/>
                </a:lnTo>
                <a:lnTo>
                  <a:pt x="8414" y="33671"/>
                </a:lnTo>
                <a:lnTo>
                  <a:pt x="7463" y="33024"/>
                </a:lnTo>
                <a:lnTo>
                  <a:pt x="7098" y="32741"/>
                </a:lnTo>
                <a:lnTo>
                  <a:pt x="32741" y="7098"/>
                </a:lnTo>
                <a:lnTo>
                  <a:pt x="33024" y="7463"/>
                </a:lnTo>
                <a:lnTo>
                  <a:pt x="33671" y="8414"/>
                </a:lnTo>
                <a:lnTo>
                  <a:pt x="34256" y="9403"/>
                </a:lnTo>
                <a:lnTo>
                  <a:pt x="34553" y="9986"/>
                </a:lnTo>
                <a:close/>
                <a:moveTo>
                  <a:pt x="18026" y="36513"/>
                </a:moveTo>
                <a:lnTo>
                  <a:pt x="17070" y="36483"/>
                </a:lnTo>
                <a:lnTo>
                  <a:pt x="15926" y="36375"/>
                </a:lnTo>
                <a:lnTo>
                  <a:pt x="14790" y="36195"/>
                </a:lnTo>
                <a:lnTo>
                  <a:pt x="13853" y="35986"/>
                </a:lnTo>
                <a:lnTo>
                  <a:pt x="35986" y="13853"/>
                </a:lnTo>
                <a:lnTo>
                  <a:pt x="36195" y="14790"/>
                </a:lnTo>
                <a:lnTo>
                  <a:pt x="36375" y="15926"/>
                </a:lnTo>
                <a:lnTo>
                  <a:pt x="36483" y="17070"/>
                </a:lnTo>
                <a:lnTo>
                  <a:pt x="36513" y="18026"/>
                </a:lnTo>
                <a:close/>
                <a:moveTo>
                  <a:pt x="35432" y="24407"/>
                </a:moveTo>
                <a:lnTo>
                  <a:pt x="35234" y="24956"/>
                </a:lnTo>
                <a:lnTo>
                  <a:pt x="34778" y="26011"/>
                </a:lnTo>
                <a:lnTo>
                  <a:pt x="34256" y="27036"/>
                </a:lnTo>
                <a:lnTo>
                  <a:pt x="33671" y="28025"/>
                </a:lnTo>
                <a:lnTo>
                  <a:pt x="33024" y="28976"/>
                </a:lnTo>
                <a:lnTo>
                  <a:pt x="32320" y="29884"/>
                </a:lnTo>
                <a:lnTo>
                  <a:pt x="31560" y="30747"/>
                </a:lnTo>
                <a:lnTo>
                  <a:pt x="30747" y="31560"/>
                </a:lnTo>
                <a:lnTo>
                  <a:pt x="29884" y="32320"/>
                </a:lnTo>
                <a:lnTo>
                  <a:pt x="28976" y="33024"/>
                </a:lnTo>
                <a:lnTo>
                  <a:pt x="28025" y="33671"/>
                </a:lnTo>
                <a:lnTo>
                  <a:pt x="27036" y="34256"/>
                </a:lnTo>
                <a:lnTo>
                  <a:pt x="26011" y="34778"/>
                </a:lnTo>
                <a:lnTo>
                  <a:pt x="24956" y="35234"/>
                </a:lnTo>
                <a:lnTo>
                  <a:pt x="24407" y="35432"/>
                </a:lnTo>
                <a:close/>
              </a:path>
            </a:pathLst>
          </a:custGeom>
          <a:solidFill>
            <a:srgbClr val="7B9D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Graph 1 blue correspondence outline"/>
          <p:cNvSpPr/>
          <p:nvPr/>
        </p:nvSpPr>
        <p:spPr>
          <a:xfrm>
            <a:off x="8665769" y="8400593"/>
            <a:ext cx="334670" cy="334670"/>
          </a:xfrm>
          <a:prstGeom prst="ellipse">
            <a:avLst/>
          </a:prstGeom>
          <a:noFill/>
          <a:ln w="23774" cap="flat">
            <a:solidFill>
              <a:srgbClr val="6A584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Graph 1 orange correspondence white base"/>
          <p:cNvSpPr/>
          <p:nvPr/>
        </p:nvSpPr>
        <p:spPr>
          <a:xfrm>
            <a:off x="9278417" y="8400593"/>
            <a:ext cx="334670" cy="3346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Graph 1 orange correspondence diagonal stripes"/>
          <p:cNvSpPr/>
          <p:nvPr/>
        </p:nvSpPr>
        <p:spPr>
          <a:xfrm>
            <a:off x="9279154" y="8401330"/>
            <a:ext cx="333878" cy="333878"/>
          </a:xfrm>
          <a:custGeom>
            <a:avLst/>
            <a:gdLst/>
            <a:ahLst/>
            <a:cxnLst/>
            <a:rect l="0" t="0" r="r" b="b"/>
            <a:pathLst>
              <a:path w="36513" h="36513">
                <a:moveTo>
                  <a:pt x="386" y="14153"/>
                </a:moveTo>
                <a:lnTo>
                  <a:pt x="494" y="13668"/>
                </a:lnTo>
                <a:lnTo>
                  <a:pt x="815" y="12564"/>
                </a:lnTo>
                <a:lnTo>
                  <a:pt x="1205" y="11483"/>
                </a:lnTo>
                <a:lnTo>
                  <a:pt x="1661" y="10428"/>
                </a:lnTo>
                <a:lnTo>
                  <a:pt x="2183" y="9403"/>
                </a:lnTo>
                <a:lnTo>
                  <a:pt x="2768" y="8414"/>
                </a:lnTo>
                <a:lnTo>
                  <a:pt x="3414" y="7463"/>
                </a:lnTo>
                <a:lnTo>
                  <a:pt x="4119" y="6555"/>
                </a:lnTo>
                <a:lnTo>
                  <a:pt x="4879" y="5692"/>
                </a:lnTo>
                <a:lnTo>
                  <a:pt x="5692" y="4879"/>
                </a:lnTo>
                <a:lnTo>
                  <a:pt x="6555" y="4119"/>
                </a:lnTo>
                <a:lnTo>
                  <a:pt x="7463" y="3414"/>
                </a:lnTo>
                <a:lnTo>
                  <a:pt x="8414" y="2768"/>
                </a:lnTo>
                <a:lnTo>
                  <a:pt x="9403" y="2183"/>
                </a:lnTo>
                <a:lnTo>
                  <a:pt x="10428" y="1661"/>
                </a:lnTo>
                <a:lnTo>
                  <a:pt x="11483" y="1205"/>
                </a:lnTo>
                <a:lnTo>
                  <a:pt x="12564" y="815"/>
                </a:lnTo>
                <a:lnTo>
                  <a:pt x="13668" y="494"/>
                </a:lnTo>
                <a:lnTo>
                  <a:pt x="14153" y="386"/>
                </a:lnTo>
                <a:close/>
                <a:moveTo>
                  <a:pt x="781" y="23758"/>
                </a:moveTo>
                <a:lnTo>
                  <a:pt x="494" y="22770"/>
                </a:lnTo>
                <a:lnTo>
                  <a:pt x="244" y="21649"/>
                </a:lnTo>
                <a:lnTo>
                  <a:pt x="64" y="20513"/>
                </a:lnTo>
                <a:lnTo>
                  <a:pt x="0" y="19839"/>
                </a:lnTo>
                <a:lnTo>
                  <a:pt x="19839" y="0"/>
                </a:lnTo>
                <a:lnTo>
                  <a:pt x="20513" y="64"/>
                </a:lnTo>
                <a:lnTo>
                  <a:pt x="21649" y="244"/>
                </a:lnTo>
                <a:lnTo>
                  <a:pt x="22770" y="494"/>
                </a:lnTo>
                <a:lnTo>
                  <a:pt x="23758" y="781"/>
                </a:lnTo>
                <a:close/>
                <a:moveTo>
                  <a:pt x="4370" y="30169"/>
                </a:moveTo>
                <a:lnTo>
                  <a:pt x="4119" y="29884"/>
                </a:lnTo>
                <a:lnTo>
                  <a:pt x="3414" y="28976"/>
                </a:lnTo>
                <a:lnTo>
                  <a:pt x="2768" y="28025"/>
                </a:lnTo>
                <a:lnTo>
                  <a:pt x="2414" y="27425"/>
                </a:lnTo>
                <a:lnTo>
                  <a:pt x="27425" y="2414"/>
                </a:lnTo>
                <a:lnTo>
                  <a:pt x="28025" y="2768"/>
                </a:lnTo>
                <a:lnTo>
                  <a:pt x="28976" y="3414"/>
                </a:lnTo>
                <a:lnTo>
                  <a:pt x="29884" y="4119"/>
                </a:lnTo>
                <a:lnTo>
                  <a:pt x="30169" y="4370"/>
                </a:lnTo>
                <a:close/>
                <a:moveTo>
                  <a:pt x="9986" y="34553"/>
                </a:moveTo>
                <a:lnTo>
                  <a:pt x="9403" y="34256"/>
                </a:lnTo>
                <a:lnTo>
                  <a:pt x="8414" y="33671"/>
                </a:lnTo>
                <a:lnTo>
                  <a:pt x="7463" y="33024"/>
                </a:lnTo>
                <a:lnTo>
                  <a:pt x="7098" y="32741"/>
                </a:lnTo>
                <a:lnTo>
                  <a:pt x="32741" y="7098"/>
                </a:lnTo>
                <a:lnTo>
                  <a:pt x="33024" y="7463"/>
                </a:lnTo>
                <a:lnTo>
                  <a:pt x="33671" y="8414"/>
                </a:lnTo>
                <a:lnTo>
                  <a:pt x="34256" y="9403"/>
                </a:lnTo>
                <a:lnTo>
                  <a:pt x="34553" y="9986"/>
                </a:lnTo>
                <a:close/>
                <a:moveTo>
                  <a:pt x="18026" y="36513"/>
                </a:moveTo>
                <a:lnTo>
                  <a:pt x="17070" y="36483"/>
                </a:lnTo>
                <a:lnTo>
                  <a:pt x="15926" y="36375"/>
                </a:lnTo>
                <a:lnTo>
                  <a:pt x="14790" y="36195"/>
                </a:lnTo>
                <a:lnTo>
                  <a:pt x="13853" y="35986"/>
                </a:lnTo>
                <a:lnTo>
                  <a:pt x="35986" y="13853"/>
                </a:lnTo>
                <a:lnTo>
                  <a:pt x="36195" y="14790"/>
                </a:lnTo>
                <a:lnTo>
                  <a:pt x="36375" y="15926"/>
                </a:lnTo>
                <a:lnTo>
                  <a:pt x="36483" y="17070"/>
                </a:lnTo>
                <a:lnTo>
                  <a:pt x="36513" y="18026"/>
                </a:lnTo>
                <a:close/>
                <a:moveTo>
                  <a:pt x="35432" y="24407"/>
                </a:moveTo>
                <a:lnTo>
                  <a:pt x="35234" y="24956"/>
                </a:lnTo>
                <a:lnTo>
                  <a:pt x="34778" y="26011"/>
                </a:lnTo>
                <a:lnTo>
                  <a:pt x="34256" y="27036"/>
                </a:lnTo>
                <a:lnTo>
                  <a:pt x="33671" y="28025"/>
                </a:lnTo>
                <a:lnTo>
                  <a:pt x="33024" y="28976"/>
                </a:lnTo>
                <a:lnTo>
                  <a:pt x="32320" y="29884"/>
                </a:lnTo>
                <a:lnTo>
                  <a:pt x="31560" y="30747"/>
                </a:lnTo>
                <a:lnTo>
                  <a:pt x="30747" y="31560"/>
                </a:lnTo>
                <a:lnTo>
                  <a:pt x="29884" y="32320"/>
                </a:lnTo>
                <a:lnTo>
                  <a:pt x="28976" y="33024"/>
                </a:lnTo>
                <a:lnTo>
                  <a:pt x="28025" y="33671"/>
                </a:lnTo>
                <a:lnTo>
                  <a:pt x="27036" y="34256"/>
                </a:lnTo>
                <a:lnTo>
                  <a:pt x="26011" y="34778"/>
                </a:lnTo>
                <a:lnTo>
                  <a:pt x="24956" y="35234"/>
                </a:lnTo>
                <a:lnTo>
                  <a:pt x="24407" y="35432"/>
                </a:lnTo>
                <a:close/>
              </a:path>
            </a:pathLst>
          </a:custGeom>
          <a:solidFill>
            <a:srgbClr val="FACD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Graph 1 orange correspondence outline"/>
          <p:cNvSpPr/>
          <p:nvPr/>
        </p:nvSpPr>
        <p:spPr>
          <a:xfrm>
            <a:off x="9278417" y="8400593"/>
            <a:ext cx="334670" cy="334670"/>
          </a:xfrm>
          <a:prstGeom prst="ellipse">
            <a:avLst/>
          </a:prstGeom>
          <a:noFill/>
          <a:ln w="23774" cap="flat">
            <a:solidFill>
              <a:srgbClr val="6A584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Correspondence graph N background"/>
          <p:cNvSpPr/>
          <p:nvPr/>
        </p:nvSpPr>
        <p:spPr>
          <a:xfrm>
            <a:off x="10424160" y="7772400"/>
            <a:ext cx="1106424" cy="1399032"/>
          </a:xfrm>
          <a:prstGeom prst="rect">
            <a:avLst/>
          </a:prstGeom>
          <a:solidFill>
            <a:srgbClr val="DAE3F4"/>
          </a:solidFill>
          <a:ln>
            <a:noFill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2" name="Graph N cross-identity blue"/>
          <p:cNvSpPr/>
          <p:nvPr/>
        </p:nvSpPr>
        <p:spPr>
          <a:xfrm>
            <a:off x="10689336" y="8195767"/>
            <a:ext cx="530352" cy="460858"/>
          </a:xfrm>
          <a:custGeom>
            <a:avLst/>
            <a:gdLst/>
            <a:ahLst/>
            <a:cxnLst/>
            <a:rect l="0" t="0" r="r" b="b"/>
            <a:pathLst>
              <a:path w="58000" h="50400">
                <a:moveTo>
                  <a:pt x="0" y="50400"/>
                </a:moveTo>
                <a:lnTo>
                  <a:pt x="58000" y="0"/>
                </a:lnTo>
              </a:path>
            </a:pathLst>
          </a:custGeom>
          <a:noFill/>
          <a:ln w="11429" cap="flat">
            <a:solidFill>
              <a:srgbClr val="88A4CD"/>
            </a:solidFill>
            <a:custDash>
              <a:ds d="400000" sp="320000"/>
            </a:custDash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Graph N cross-identity blue tip"/>
          <p:cNvSpPr/>
          <p:nvPr/>
        </p:nvSpPr>
        <p:spPr>
          <a:xfrm>
            <a:off x="11113776" y="8195767"/>
            <a:ext cx="105912" cy="100486"/>
          </a:xfrm>
          <a:custGeom>
            <a:avLst/>
            <a:gdLst/>
            <a:ahLst/>
            <a:cxnLst/>
            <a:rect l="0" t="0" r="r" b="b"/>
            <a:pathLst>
              <a:path w="11583" h="10989">
                <a:moveTo>
                  <a:pt x="11583" y="0"/>
                </a:moveTo>
                <a:lnTo>
                  <a:pt x="6559" y="10989"/>
                </a:lnTo>
                <a:lnTo>
                  <a:pt x="0" y="3441"/>
                </a:lnTo>
                <a:close/>
              </a:path>
            </a:pathLst>
          </a:custGeom>
          <a:solidFill>
            <a:srgbClr val="88A4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Graph N cross-identity orange"/>
          <p:cNvSpPr/>
          <p:nvPr/>
        </p:nvSpPr>
        <p:spPr>
          <a:xfrm>
            <a:off x="10780776" y="8195767"/>
            <a:ext cx="521208" cy="460858"/>
          </a:xfrm>
          <a:custGeom>
            <a:avLst/>
            <a:gdLst/>
            <a:ahLst/>
            <a:cxnLst/>
            <a:rect l="0" t="0" r="r" b="b"/>
            <a:pathLst>
              <a:path w="57000" h="50400">
                <a:moveTo>
                  <a:pt x="57000" y="50400"/>
                </a:moveTo>
                <a:lnTo>
                  <a:pt x="0" y="0"/>
                </a:lnTo>
              </a:path>
            </a:pathLst>
          </a:custGeom>
          <a:noFill/>
          <a:ln w="11429" cap="flat">
            <a:solidFill>
              <a:srgbClr val="F2B887"/>
            </a:solidFill>
            <a:custDash>
              <a:ds d="400000" sp="320000"/>
            </a:custDash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Graph N cross-identity orange tip"/>
          <p:cNvSpPr/>
          <p:nvPr/>
        </p:nvSpPr>
        <p:spPr>
          <a:xfrm>
            <a:off x="10780776" y="8195767"/>
            <a:ext cx="105637" cy="100878"/>
          </a:xfrm>
          <a:custGeom>
            <a:avLst/>
            <a:gdLst/>
            <a:ahLst/>
            <a:cxnLst/>
            <a:rect l="0" t="0" r="r" b="b"/>
            <a:pathLst>
              <a:path w="11553" h="11032">
                <a:moveTo>
                  <a:pt x="0" y="0"/>
                </a:moveTo>
                <a:lnTo>
                  <a:pt x="11553" y="3541"/>
                </a:lnTo>
                <a:lnTo>
                  <a:pt x="4929" y="11032"/>
                </a:lnTo>
                <a:close/>
              </a:path>
            </a:pathLst>
          </a:custGeom>
          <a:solidFill>
            <a:srgbClr val="F2B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Graph N matched blue"/>
          <p:cNvSpPr/>
          <p:nvPr/>
        </p:nvSpPr>
        <p:spPr>
          <a:xfrm>
            <a:off x="10689336" y="8214055"/>
            <a:ext cx="457" cy="442570"/>
          </a:xfrm>
          <a:custGeom>
            <a:avLst/>
            <a:gdLst/>
            <a:ahLst/>
            <a:cxnLst/>
            <a:rect l="0" t="0" r="r" b="b"/>
            <a:pathLst>
              <a:path w="50" h="48400">
                <a:moveTo>
                  <a:pt x="0" y="48400"/>
                </a:moveTo>
                <a:lnTo>
                  <a:pt x="0" y="0"/>
                </a:lnTo>
              </a:path>
            </a:pathLst>
          </a:custGeom>
          <a:noFill/>
          <a:ln w="23774" cap="flat">
            <a:solidFill>
              <a:srgbClr val="527B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Graph N matched blue tip"/>
          <p:cNvSpPr/>
          <p:nvPr/>
        </p:nvSpPr>
        <p:spPr>
          <a:xfrm>
            <a:off x="10634472" y="8214055"/>
            <a:ext cx="109728" cy="118872"/>
          </a:xfrm>
          <a:custGeom>
            <a:avLst/>
            <a:gdLst/>
            <a:ahLst/>
            <a:cxnLst/>
            <a:rect l="0" t="0" r="r" b="b"/>
            <a:pathLst>
              <a:path w="12000" h="13000">
                <a:moveTo>
                  <a:pt x="6000" y="0"/>
                </a:moveTo>
                <a:lnTo>
                  <a:pt x="12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527B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Graph N matched orange"/>
          <p:cNvSpPr/>
          <p:nvPr/>
        </p:nvSpPr>
        <p:spPr>
          <a:xfrm>
            <a:off x="11301984" y="8214055"/>
            <a:ext cx="457" cy="442570"/>
          </a:xfrm>
          <a:custGeom>
            <a:avLst/>
            <a:gdLst/>
            <a:ahLst/>
            <a:cxnLst/>
            <a:rect l="0" t="0" r="r" b="b"/>
            <a:pathLst>
              <a:path w="50" h="48400">
                <a:moveTo>
                  <a:pt x="0" y="48400"/>
                </a:moveTo>
                <a:lnTo>
                  <a:pt x="0" y="0"/>
                </a:lnTo>
              </a:path>
            </a:pathLst>
          </a:custGeom>
          <a:noFill/>
          <a:ln w="23774" cap="flat">
            <a:solidFill>
              <a:srgbClr val="EA985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Graph N matched orange tip"/>
          <p:cNvSpPr/>
          <p:nvPr/>
        </p:nvSpPr>
        <p:spPr>
          <a:xfrm>
            <a:off x="11247120" y="8214055"/>
            <a:ext cx="109728" cy="118872"/>
          </a:xfrm>
          <a:custGeom>
            <a:avLst/>
            <a:gdLst/>
            <a:ahLst/>
            <a:cxnLst/>
            <a:rect l="0" t="0" r="r" b="b"/>
            <a:pathLst>
              <a:path w="12000" h="13000">
                <a:moveTo>
                  <a:pt x="6000" y="0"/>
                </a:moveTo>
                <a:lnTo>
                  <a:pt x="12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EA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Graph N blue identity"/>
          <p:cNvSpPr/>
          <p:nvPr/>
        </p:nvSpPr>
        <p:spPr>
          <a:xfrm>
            <a:off x="10494569" y="7833665"/>
            <a:ext cx="389534" cy="389534"/>
          </a:xfrm>
          <a:prstGeom prst="ellipse">
            <a:avLst/>
          </a:prstGeom>
          <a:solidFill>
            <a:srgbClr val="537AB9"/>
          </a:solidFill>
          <a:ln w="23774" cap="flat">
            <a:solidFill>
              <a:srgbClr val="6A584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Graph N orange identity"/>
          <p:cNvSpPr/>
          <p:nvPr/>
        </p:nvSpPr>
        <p:spPr>
          <a:xfrm>
            <a:off x="11107217" y="7833665"/>
            <a:ext cx="389534" cy="389534"/>
          </a:xfrm>
          <a:prstGeom prst="ellipse">
            <a:avLst/>
          </a:prstGeom>
          <a:solidFill>
            <a:srgbClr val="FAC7A2"/>
          </a:solidFill>
          <a:ln w="23774" cap="flat">
            <a:solidFill>
              <a:srgbClr val="6A584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Graph N blue correspondence white base"/>
          <p:cNvSpPr/>
          <p:nvPr/>
        </p:nvSpPr>
        <p:spPr>
          <a:xfrm>
            <a:off x="10494569" y="8656625"/>
            <a:ext cx="389534" cy="3895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Graph N blue correspondence diagonal stripes"/>
          <p:cNvSpPr/>
          <p:nvPr/>
        </p:nvSpPr>
        <p:spPr>
          <a:xfrm>
            <a:off x="10494764" y="8656820"/>
            <a:ext cx="388187" cy="388187"/>
          </a:xfrm>
          <a:custGeom>
            <a:avLst/>
            <a:gdLst/>
            <a:ahLst/>
            <a:cxnLst/>
            <a:rect l="0" t="0" r="r" b="b"/>
            <a:pathLst>
              <a:path w="42453" h="42453">
                <a:moveTo>
                  <a:pt x="1055" y="14602"/>
                </a:moveTo>
                <a:lnTo>
                  <a:pt x="1474" y="13438"/>
                </a:lnTo>
                <a:lnTo>
                  <a:pt x="2006" y="12210"/>
                </a:lnTo>
                <a:lnTo>
                  <a:pt x="2613" y="11017"/>
                </a:lnTo>
                <a:lnTo>
                  <a:pt x="3294" y="9866"/>
                </a:lnTo>
                <a:lnTo>
                  <a:pt x="4047" y="8759"/>
                </a:lnTo>
                <a:lnTo>
                  <a:pt x="4867" y="7702"/>
                </a:lnTo>
                <a:lnTo>
                  <a:pt x="5752" y="6698"/>
                </a:lnTo>
                <a:lnTo>
                  <a:pt x="6698" y="5752"/>
                </a:lnTo>
                <a:lnTo>
                  <a:pt x="7702" y="4867"/>
                </a:lnTo>
                <a:lnTo>
                  <a:pt x="8759" y="4047"/>
                </a:lnTo>
                <a:lnTo>
                  <a:pt x="9866" y="3294"/>
                </a:lnTo>
                <a:lnTo>
                  <a:pt x="11017" y="2613"/>
                </a:lnTo>
                <a:lnTo>
                  <a:pt x="12210" y="2006"/>
                </a:lnTo>
                <a:lnTo>
                  <a:pt x="13438" y="1474"/>
                </a:lnTo>
                <a:lnTo>
                  <a:pt x="14602" y="1055"/>
                </a:lnTo>
                <a:close/>
                <a:moveTo>
                  <a:pt x="544" y="26113"/>
                </a:moveTo>
                <a:lnTo>
                  <a:pt x="356" y="25270"/>
                </a:lnTo>
                <a:lnTo>
                  <a:pt x="147" y="23948"/>
                </a:lnTo>
                <a:lnTo>
                  <a:pt x="21" y="22616"/>
                </a:lnTo>
                <a:lnTo>
                  <a:pt x="0" y="21957"/>
                </a:lnTo>
                <a:lnTo>
                  <a:pt x="21957" y="0"/>
                </a:lnTo>
                <a:lnTo>
                  <a:pt x="22616" y="21"/>
                </a:lnTo>
                <a:lnTo>
                  <a:pt x="23948" y="147"/>
                </a:lnTo>
                <a:lnTo>
                  <a:pt x="25270" y="356"/>
                </a:lnTo>
                <a:lnTo>
                  <a:pt x="26113" y="544"/>
                </a:lnTo>
                <a:close/>
                <a:moveTo>
                  <a:pt x="3971" y="33687"/>
                </a:moveTo>
                <a:lnTo>
                  <a:pt x="3294" y="32692"/>
                </a:lnTo>
                <a:lnTo>
                  <a:pt x="2613" y="31540"/>
                </a:lnTo>
                <a:lnTo>
                  <a:pt x="2210" y="30748"/>
                </a:lnTo>
                <a:lnTo>
                  <a:pt x="30748" y="2210"/>
                </a:lnTo>
                <a:lnTo>
                  <a:pt x="31540" y="2613"/>
                </a:lnTo>
                <a:lnTo>
                  <a:pt x="32692" y="3294"/>
                </a:lnTo>
                <a:lnTo>
                  <a:pt x="33687" y="3971"/>
                </a:lnTo>
                <a:close/>
                <a:moveTo>
                  <a:pt x="9585" y="39072"/>
                </a:moveTo>
                <a:lnTo>
                  <a:pt x="8759" y="38511"/>
                </a:lnTo>
                <a:lnTo>
                  <a:pt x="7702" y="37691"/>
                </a:lnTo>
                <a:lnTo>
                  <a:pt x="6939" y="37018"/>
                </a:lnTo>
                <a:lnTo>
                  <a:pt x="37018" y="6939"/>
                </a:lnTo>
                <a:lnTo>
                  <a:pt x="37691" y="7702"/>
                </a:lnTo>
                <a:lnTo>
                  <a:pt x="38511" y="8759"/>
                </a:lnTo>
                <a:lnTo>
                  <a:pt x="39072" y="9585"/>
                </a:lnTo>
                <a:close/>
                <a:moveTo>
                  <a:pt x="17433" y="42224"/>
                </a:moveTo>
                <a:lnTo>
                  <a:pt x="17287" y="42201"/>
                </a:lnTo>
                <a:lnTo>
                  <a:pt x="15982" y="41909"/>
                </a:lnTo>
                <a:lnTo>
                  <a:pt x="14697" y="41536"/>
                </a:lnTo>
                <a:lnTo>
                  <a:pt x="13759" y="41199"/>
                </a:lnTo>
                <a:lnTo>
                  <a:pt x="41199" y="13759"/>
                </a:lnTo>
                <a:lnTo>
                  <a:pt x="41536" y="14697"/>
                </a:lnTo>
                <a:lnTo>
                  <a:pt x="41909" y="15982"/>
                </a:lnTo>
                <a:lnTo>
                  <a:pt x="42201" y="17287"/>
                </a:lnTo>
                <a:lnTo>
                  <a:pt x="42224" y="17433"/>
                </a:lnTo>
                <a:close/>
                <a:moveTo>
                  <a:pt x="42453" y="23505"/>
                </a:moveTo>
                <a:lnTo>
                  <a:pt x="42411" y="23948"/>
                </a:lnTo>
                <a:lnTo>
                  <a:pt x="42201" y="25270"/>
                </a:lnTo>
                <a:lnTo>
                  <a:pt x="41909" y="26576"/>
                </a:lnTo>
                <a:lnTo>
                  <a:pt x="41536" y="27861"/>
                </a:lnTo>
                <a:lnTo>
                  <a:pt x="41083" y="29120"/>
                </a:lnTo>
                <a:lnTo>
                  <a:pt x="40736" y="29921"/>
                </a:lnTo>
                <a:lnTo>
                  <a:pt x="29921" y="40736"/>
                </a:lnTo>
                <a:lnTo>
                  <a:pt x="29120" y="41083"/>
                </a:lnTo>
                <a:lnTo>
                  <a:pt x="27861" y="41536"/>
                </a:lnTo>
                <a:lnTo>
                  <a:pt x="26576" y="41909"/>
                </a:lnTo>
                <a:lnTo>
                  <a:pt x="25270" y="42201"/>
                </a:lnTo>
                <a:lnTo>
                  <a:pt x="23948" y="42411"/>
                </a:lnTo>
                <a:lnTo>
                  <a:pt x="23505" y="42453"/>
                </a:lnTo>
                <a:close/>
              </a:path>
            </a:pathLst>
          </a:custGeom>
          <a:solidFill>
            <a:srgbClr val="7B9D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Graph N blue correspondence outline"/>
          <p:cNvSpPr/>
          <p:nvPr/>
        </p:nvSpPr>
        <p:spPr>
          <a:xfrm>
            <a:off x="10494569" y="8656625"/>
            <a:ext cx="389534" cy="389534"/>
          </a:xfrm>
          <a:prstGeom prst="ellipse">
            <a:avLst/>
          </a:prstGeom>
          <a:noFill/>
          <a:ln w="23774" cap="flat">
            <a:solidFill>
              <a:srgbClr val="6A584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Graph N orange correspondence white base"/>
          <p:cNvSpPr/>
          <p:nvPr/>
        </p:nvSpPr>
        <p:spPr>
          <a:xfrm>
            <a:off x="11107217" y="8656625"/>
            <a:ext cx="389534" cy="3895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Graph N orange correspondence diagonal stripes"/>
          <p:cNvSpPr/>
          <p:nvPr/>
        </p:nvSpPr>
        <p:spPr>
          <a:xfrm>
            <a:off x="11107412" y="8656820"/>
            <a:ext cx="388187" cy="388187"/>
          </a:xfrm>
          <a:custGeom>
            <a:avLst/>
            <a:gdLst/>
            <a:ahLst/>
            <a:cxnLst/>
            <a:rect l="0" t="0" r="r" b="b"/>
            <a:pathLst>
              <a:path w="42453" h="42453">
                <a:moveTo>
                  <a:pt x="1055" y="14602"/>
                </a:moveTo>
                <a:lnTo>
                  <a:pt x="1474" y="13438"/>
                </a:lnTo>
                <a:lnTo>
                  <a:pt x="2006" y="12210"/>
                </a:lnTo>
                <a:lnTo>
                  <a:pt x="2613" y="11017"/>
                </a:lnTo>
                <a:lnTo>
                  <a:pt x="3294" y="9866"/>
                </a:lnTo>
                <a:lnTo>
                  <a:pt x="4047" y="8759"/>
                </a:lnTo>
                <a:lnTo>
                  <a:pt x="4867" y="7702"/>
                </a:lnTo>
                <a:lnTo>
                  <a:pt x="5752" y="6698"/>
                </a:lnTo>
                <a:lnTo>
                  <a:pt x="6698" y="5752"/>
                </a:lnTo>
                <a:lnTo>
                  <a:pt x="7702" y="4867"/>
                </a:lnTo>
                <a:lnTo>
                  <a:pt x="8759" y="4047"/>
                </a:lnTo>
                <a:lnTo>
                  <a:pt x="9866" y="3294"/>
                </a:lnTo>
                <a:lnTo>
                  <a:pt x="11017" y="2613"/>
                </a:lnTo>
                <a:lnTo>
                  <a:pt x="12210" y="2006"/>
                </a:lnTo>
                <a:lnTo>
                  <a:pt x="13438" y="1474"/>
                </a:lnTo>
                <a:lnTo>
                  <a:pt x="14602" y="1055"/>
                </a:lnTo>
                <a:close/>
                <a:moveTo>
                  <a:pt x="544" y="26113"/>
                </a:moveTo>
                <a:lnTo>
                  <a:pt x="356" y="25270"/>
                </a:lnTo>
                <a:lnTo>
                  <a:pt x="147" y="23948"/>
                </a:lnTo>
                <a:lnTo>
                  <a:pt x="21" y="22616"/>
                </a:lnTo>
                <a:lnTo>
                  <a:pt x="0" y="21957"/>
                </a:lnTo>
                <a:lnTo>
                  <a:pt x="21957" y="0"/>
                </a:lnTo>
                <a:lnTo>
                  <a:pt x="22616" y="21"/>
                </a:lnTo>
                <a:lnTo>
                  <a:pt x="23948" y="147"/>
                </a:lnTo>
                <a:lnTo>
                  <a:pt x="25270" y="356"/>
                </a:lnTo>
                <a:lnTo>
                  <a:pt x="26113" y="544"/>
                </a:lnTo>
                <a:close/>
                <a:moveTo>
                  <a:pt x="3971" y="33687"/>
                </a:moveTo>
                <a:lnTo>
                  <a:pt x="3294" y="32692"/>
                </a:lnTo>
                <a:lnTo>
                  <a:pt x="2613" y="31540"/>
                </a:lnTo>
                <a:lnTo>
                  <a:pt x="2210" y="30748"/>
                </a:lnTo>
                <a:lnTo>
                  <a:pt x="30748" y="2210"/>
                </a:lnTo>
                <a:lnTo>
                  <a:pt x="31540" y="2613"/>
                </a:lnTo>
                <a:lnTo>
                  <a:pt x="32692" y="3294"/>
                </a:lnTo>
                <a:lnTo>
                  <a:pt x="33687" y="3971"/>
                </a:lnTo>
                <a:close/>
                <a:moveTo>
                  <a:pt x="9585" y="39072"/>
                </a:moveTo>
                <a:lnTo>
                  <a:pt x="8759" y="38511"/>
                </a:lnTo>
                <a:lnTo>
                  <a:pt x="7702" y="37691"/>
                </a:lnTo>
                <a:lnTo>
                  <a:pt x="6939" y="37018"/>
                </a:lnTo>
                <a:lnTo>
                  <a:pt x="37018" y="6939"/>
                </a:lnTo>
                <a:lnTo>
                  <a:pt x="37691" y="7702"/>
                </a:lnTo>
                <a:lnTo>
                  <a:pt x="38511" y="8759"/>
                </a:lnTo>
                <a:lnTo>
                  <a:pt x="39072" y="9585"/>
                </a:lnTo>
                <a:close/>
                <a:moveTo>
                  <a:pt x="17433" y="42224"/>
                </a:moveTo>
                <a:lnTo>
                  <a:pt x="17287" y="42201"/>
                </a:lnTo>
                <a:lnTo>
                  <a:pt x="15982" y="41909"/>
                </a:lnTo>
                <a:lnTo>
                  <a:pt x="14697" y="41536"/>
                </a:lnTo>
                <a:lnTo>
                  <a:pt x="13759" y="41199"/>
                </a:lnTo>
                <a:lnTo>
                  <a:pt x="41199" y="13759"/>
                </a:lnTo>
                <a:lnTo>
                  <a:pt x="41536" y="14697"/>
                </a:lnTo>
                <a:lnTo>
                  <a:pt x="41909" y="15982"/>
                </a:lnTo>
                <a:lnTo>
                  <a:pt x="42201" y="17287"/>
                </a:lnTo>
                <a:lnTo>
                  <a:pt x="42224" y="17433"/>
                </a:lnTo>
                <a:close/>
                <a:moveTo>
                  <a:pt x="42453" y="23505"/>
                </a:moveTo>
                <a:lnTo>
                  <a:pt x="42411" y="23948"/>
                </a:lnTo>
                <a:lnTo>
                  <a:pt x="42201" y="25270"/>
                </a:lnTo>
                <a:lnTo>
                  <a:pt x="41909" y="26576"/>
                </a:lnTo>
                <a:lnTo>
                  <a:pt x="41536" y="27861"/>
                </a:lnTo>
                <a:lnTo>
                  <a:pt x="41083" y="29120"/>
                </a:lnTo>
                <a:lnTo>
                  <a:pt x="40736" y="29921"/>
                </a:lnTo>
                <a:lnTo>
                  <a:pt x="29921" y="40736"/>
                </a:lnTo>
                <a:lnTo>
                  <a:pt x="29120" y="41083"/>
                </a:lnTo>
                <a:lnTo>
                  <a:pt x="27861" y="41536"/>
                </a:lnTo>
                <a:lnTo>
                  <a:pt x="26576" y="41909"/>
                </a:lnTo>
                <a:lnTo>
                  <a:pt x="25270" y="42201"/>
                </a:lnTo>
                <a:lnTo>
                  <a:pt x="23948" y="42411"/>
                </a:lnTo>
                <a:lnTo>
                  <a:pt x="23505" y="42453"/>
                </a:lnTo>
                <a:close/>
              </a:path>
            </a:pathLst>
          </a:custGeom>
          <a:solidFill>
            <a:srgbClr val="FACD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Graph N orange correspondence outline"/>
          <p:cNvSpPr/>
          <p:nvPr/>
        </p:nvSpPr>
        <p:spPr>
          <a:xfrm>
            <a:off x="11107217" y="8656625"/>
            <a:ext cx="389534" cy="389534"/>
          </a:xfrm>
          <a:prstGeom prst="ellipse">
            <a:avLst/>
          </a:prstGeom>
          <a:noFill/>
          <a:ln w="23774" cap="flat">
            <a:solidFill>
              <a:srgbClr val="6A584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IMG construction transition"/>
          <p:cNvSpPr/>
          <p:nvPr/>
        </p:nvSpPr>
        <p:spPr>
          <a:xfrm>
            <a:off x="9656064" y="8065008"/>
            <a:ext cx="246888" cy="228600"/>
          </a:xfrm>
          <a:custGeom>
            <a:avLst/>
            <a:gdLst/>
            <a:ahLst/>
            <a:cxnLst/>
            <a:rect l="0" t="0" r="r" b="b"/>
            <a:pathLst>
              <a:path w="27000" h="25000">
                <a:moveTo>
                  <a:pt x="0" y="6250"/>
                </a:moveTo>
                <a:lnTo>
                  <a:pt x="14310" y="6250"/>
                </a:lnTo>
                <a:lnTo>
                  <a:pt x="14310" y="0"/>
                </a:lnTo>
                <a:lnTo>
                  <a:pt x="27000" y="12500"/>
                </a:lnTo>
                <a:lnTo>
                  <a:pt x="14310" y="25000"/>
                </a:lnTo>
                <a:lnTo>
                  <a:pt x="14310" y="18750"/>
                </a:lnTo>
                <a:lnTo>
                  <a:pt x="0" y="18750"/>
                </a:lnTo>
                <a:close/>
              </a:path>
            </a:pathLst>
          </a:custGeom>
          <a:solidFill>
            <a:srgbClr val="FFFFFF"/>
          </a:solidFill>
          <a:ln w="24688" cap="flat">
            <a:solidFill>
              <a:srgbClr val="5F605D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9" name="IMG construction transition"/>
          <p:cNvSpPr/>
          <p:nvPr/>
        </p:nvSpPr>
        <p:spPr>
          <a:xfrm>
            <a:off x="11475720" y="8339328"/>
            <a:ext cx="246888" cy="228600"/>
          </a:xfrm>
          <a:custGeom>
            <a:avLst/>
            <a:gdLst/>
            <a:ahLst/>
            <a:cxnLst/>
            <a:rect l="0" t="0" r="r" b="b"/>
            <a:pathLst>
              <a:path w="27000" h="25000">
                <a:moveTo>
                  <a:pt x="0" y="6250"/>
                </a:moveTo>
                <a:lnTo>
                  <a:pt x="14310" y="6250"/>
                </a:lnTo>
                <a:lnTo>
                  <a:pt x="14310" y="0"/>
                </a:lnTo>
                <a:lnTo>
                  <a:pt x="27000" y="12500"/>
                </a:lnTo>
                <a:lnTo>
                  <a:pt x="14310" y="25000"/>
                </a:lnTo>
                <a:lnTo>
                  <a:pt x="14310" y="18750"/>
                </a:lnTo>
                <a:lnTo>
                  <a:pt x="0" y="18750"/>
                </a:lnTo>
                <a:close/>
              </a:path>
            </a:pathLst>
          </a:custGeom>
          <a:solidFill>
            <a:srgbClr val="FFFFFF"/>
          </a:solidFill>
          <a:ln w="24688" cap="flat">
            <a:solidFill>
              <a:srgbClr val="5F605D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0" name="xT"/>
          <p:cNvSpPr txBox="1"/>
          <p:nvPr/>
        </p:nvSpPr>
        <p:spPr>
          <a:xfrm>
            <a:off x="9747504" y="8503920"/>
            <a:ext cx="429768" cy="338328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262626"/>
                </a:solidFill>
                <a:latin typeface="DejaVu Sans Mono"/>
              </a:rPr>
              <a:t>xT</a:t>
            </a:r>
          </a:p>
        </p:txBody>
      </p:sp>
      <p:sp>
        <p:nvSpPr>
          <p:cNvPr id="211" name="xT"/>
          <p:cNvSpPr txBox="1"/>
          <p:nvPr/>
        </p:nvSpPr>
        <p:spPr>
          <a:xfrm>
            <a:off x="11576304" y="8860536"/>
            <a:ext cx="429768" cy="338328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262626"/>
                </a:solidFill>
                <a:latin typeface="DejaVu Sans Mono"/>
              </a:rPr>
              <a:t>xT</a:t>
            </a:r>
          </a:p>
        </p:txBody>
      </p:sp>
      <p:sp>
        <p:nvSpPr>
          <p:cNvPr id="212" name="Correspondence objective C"/>
          <p:cNvSpPr txBox="1"/>
          <p:nvPr/>
        </p:nvSpPr>
        <p:spPr>
          <a:xfrm>
            <a:off x="9957816" y="7955280"/>
            <a:ext cx="310896" cy="429768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262626"/>
                </a:solidFill>
                <a:latin typeface="Latin Modern Math"/>
              </a:rPr>
              <a:t>𝓒</a:t>
            </a:r>
          </a:p>
        </p:txBody>
      </p:sp>
      <p:sp>
        <p:nvSpPr>
          <p:cNvPr id="213" name="Objective superscript 1"/>
          <p:cNvSpPr txBox="1"/>
          <p:nvPr/>
        </p:nvSpPr>
        <p:spPr>
          <a:xfrm>
            <a:off x="10186416" y="7982712"/>
            <a:ext cx="502920" cy="25603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62626"/>
                </a:solidFill>
                <a:latin typeface="Liberation Serif"/>
              </a:rPr>
              <a:t>(1)</a:t>
            </a:r>
          </a:p>
        </p:txBody>
      </p:sp>
      <p:sp>
        <p:nvSpPr>
          <p:cNvPr id="214" name="Correspondence objective C"/>
          <p:cNvSpPr txBox="1"/>
          <p:nvPr/>
        </p:nvSpPr>
        <p:spPr>
          <a:xfrm>
            <a:off x="11740896" y="8229600"/>
            <a:ext cx="310896" cy="429768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262626"/>
                </a:solidFill>
                <a:latin typeface="Latin Modern Math"/>
              </a:rPr>
              <a:t>𝓒</a:t>
            </a:r>
          </a:p>
        </p:txBody>
      </p:sp>
      <p:sp>
        <p:nvSpPr>
          <p:cNvPr id="215" name="Objective superscript N"/>
          <p:cNvSpPr txBox="1"/>
          <p:nvPr/>
        </p:nvSpPr>
        <p:spPr>
          <a:xfrm>
            <a:off x="11969496" y="8257032"/>
            <a:ext cx="502920" cy="25603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62626"/>
                </a:solidFill>
                <a:latin typeface="Liberation Serif"/>
              </a:rPr>
              <a:t>(N)</a:t>
            </a:r>
          </a:p>
        </p:txBody>
      </p:sp>
      <p:sp>
        <p:nvSpPr>
          <p:cNvPr id="216" name="Stage 3 intermediate feature"/>
          <p:cNvSpPr/>
          <p:nvPr/>
        </p:nvSpPr>
        <p:spPr>
          <a:xfrm>
            <a:off x="9006840" y="6693408"/>
            <a:ext cx="411480" cy="768096"/>
          </a:xfrm>
          <a:custGeom>
            <a:avLst/>
            <a:gdLst/>
            <a:ahLst/>
            <a:cxnLst/>
            <a:rect l="0" t="0" r="r" b="b"/>
            <a:pathLst>
              <a:path w="45000" h="84000">
                <a:moveTo>
                  <a:pt x="45000" y="0"/>
                </a:moveTo>
                <a:cubicBezTo>
                  <a:pt x="15000" y="18000"/>
                  <a:pt x="0" y="53000"/>
                  <a:pt x="15000" y="84000"/>
                </a:cubicBezTo>
              </a:path>
            </a:pathLst>
          </a:custGeom>
          <a:noFill/>
          <a:ln w="27432" cap="flat">
            <a:solidFill>
              <a:srgbClr val="C714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Stage 3 intermediate feature tip"/>
          <p:cNvSpPr/>
          <p:nvPr/>
        </p:nvSpPr>
        <p:spPr>
          <a:xfrm>
            <a:off x="9026641" y="7310159"/>
            <a:ext cx="117359" cy="151345"/>
          </a:xfrm>
          <a:custGeom>
            <a:avLst/>
            <a:gdLst/>
            <a:ahLst/>
            <a:cxnLst/>
            <a:rect l="0" t="0" r="r" b="b"/>
            <a:pathLst>
              <a:path w="12835" h="16551">
                <a:moveTo>
                  <a:pt x="12835" y="16551"/>
                </a:moveTo>
                <a:lnTo>
                  <a:pt x="0" y="6098"/>
                </a:lnTo>
                <a:lnTo>
                  <a:pt x="12602" y="0"/>
                </a:lnTo>
                <a:close/>
              </a:path>
            </a:pathLst>
          </a:custGeom>
          <a:solidFill>
            <a:srgbClr val="C714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Gradient from first correspondence loss"/>
          <p:cNvSpPr/>
          <p:nvPr/>
        </p:nvSpPr>
        <p:spPr>
          <a:xfrm>
            <a:off x="9564624" y="6757416"/>
            <a:ext cx="713232" cy="1271016"/>
          </a:xfrm>
          <a:custGeom>
            <a:avLst/>
            <a:gdLst/>
            <a:ahLst/>
            <a:cxnLst/>
            <a:rect l="0" t="0" r="r" b="b"/>
            <a:pathLst>
              <a:path w="78000" h="139000">
                <a:moveTo>
                  <a:pt x="59000" y="139000"/>
                </a:moveTo>
                <a:cubicBezTo>
                  <a:pt x="78000" y="78000"/>
                  <a:pt x="50000" y="25000"/>
                  <a:pt x="0" y="0"/>
                </a:cubicBezTo>
              </a:path>
            </a:pathLst>
          </a:custGeom>
          <a:noFill/>
          <a:ln w="27432" cap="flat">
            <a:solidFill>
              <a:srgbClr val="FFB300"/>
            </a:solidFill>
            <a:custDash>
              <a:ds d="266667" sp="133333"/>
            </a:custDash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Gradient from first correspondence loss tip"/>
          <p:cNvSpPr/>
          <p:nvPr/>
        </p:nvSpPr>
        <p:spPr>
          <a:xfrm>
            <a:off x="9564624" y="6757416"/>
            <a:ext cx="153350" cy="122680"/>
          </a:xfrm>
          <a:custGeom>
            <a:avLst/>
            <a:gdLst/>
            <a:ahLst/>
            <a:cxnLst/>
            <a:rect l="0" t="0" r="r" b="b"/>
            <a:pathLst>
              <a:path w="16771" h="13416">
                <a:moveTo>
                  <a:pt x="0" y="0"/>
                </a:moveTo>
                <a:lnTo>
                  <a:pt x="16771" y="0"/>
                </a:lnTo>
                <a:lnTo>
                  <a:pt x="10062" y="13416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Stage 4 intermediate feature"/>
          <p:cNvSpPr/>
          <p:nvPr/>
        </p:nvSpPr>
        <p:spPr>
          <a:xfrm>
            <a:off x="10945368" y="7077456"/>
            <a:ext cx="393192" cy="649224"/>
          </a:xfrm>
          <a:custGeom>
            <a:avLst/>
            <a:gdLst/>
            <a:ahLst/>
            <a:cxnLst/>
            <a:rect l="0" t="0" r="r" b="b"/>
            <a:pathLst>
              <a:path w="43000" h="71000">
                <a:moveTo>
                  <a:pt x="43000" y="0"/>
                </a:moveTo>
                <a:cubicBezTo>
                  <a:pt x="13000" y="16000"/>
                  <a:pt x="0" y="41000"/>
                  <a:pt x="10000" y="71000"/>
                </a:cubicBezTo>
              </a:path>
            </a:pathLst>
          </a:custGeom>
          <a:noFill/>
          <a:ln w="27432" cap="flat">
            <a:solidFill>
              <a:srgbClr val="C714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Stage 4 intermediate feature tip"/>
          <p:cNvSpPr/>
          <p:nvPr/>
        </p:nvSpPr>
        <p:spPr>
          <a:xfrm>
            <a:off x="10932711" y="7576317"/>
            <a:ext cx="121447" cy="150363"/>
          </a:xfrm>
          <a:custGeom>
            <a:avLst/>
            <a:gdLst/>
            <a:ahLst/>
            <a:cxnLst/>
            <a:rect l="0" t="0" r="r" b="b"/>
            <a:pathLst>
              <a:path w="13282" h="16444">
                <a:moveTo>
                  <a:pt x="11384" y="16444"/>
                </a:moveTo>
                <a:lnTo>
                  <a:pt x="0" y="4427"/>
                </a:lnTo>
                <a:lnTo>
                  <a:pt x="13282" y="0"/>
                </a:lnTo>
                <a:close/>
              </a:path>
            </a:pathLst>
          </a:custGeom>
          <a:solidFill>
            <a:srgbClr val="C714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Gradient from final correspondence loss"/>
          <p:cNvSpPr/>
          <p:nvPr/>
        </p:nvSpPr>
        <p:spPr>
          <a:xfrm>
            <a:off x="11375136" y="7114032"/>
            <a:ext cx="777240" cy="1170432"/>
          </a:xfrm>
          <a:custGeom>
            <a:avLst/>
            <a:gdLst/>
            <a:ahLst/>
            <a:cxnLst/>
            <a:rect l="0" t="0" r="r" b="b"/>
            <a:pathLst>
              <a:path w="85000" h="128000">
                <a:moveTo>
                  <a:pt x="68000" y="128000"/>
                </a:moveTo>
                <a:cubicBezTo>
                  <a:pt x="85000" y="66000"/>
                  <a:pt x="42000" y="13000"/>
                  <a:pt x="0" y="0"/>
                </a:cubicBezTo>
              </a:path>
            </a:pathLst>
          </a:custGeom>
          <a:noFill/>
          <a:ln w="27432" cap="flat">
            <a:solidFill>
              <a:srgbClr val="FFB300"/>
            </a:solidFill>
            <a:custDash>
              <a:ds d="266667" sp="133333"/>
            </a:custDash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Gradient from final correspondence loss tip"/>
          <p:cNvSpPr/>
          <p:nvPr/>
        </p:nvSpPr>
        <p:spPr>
          <a:xfrm>
            <a:off x="11375136" y="7089074"/>
            <a:ext cx="151305" cy="131027"/>
          </a:xfrm>
          <a:custGeom>
            <a:avLst/>
            <a:gdLst/>
            <a:ahLst/>
            <a:cxnLst/>
            <a:rect l="0" t="0" r="r" b="b"/>
            <a:pathLst>
              <a:path w="16547" h="14329">
                <a:moveTo>
                  <a:pt x="0" y="2729"/>
                </a:moveTo>
                <a:lnTo>
                  <a:pt x="16547" y="0"/>
                </a:lnTo>
                <a:lnTo>
                  <a:pt x="12112" y="14329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Legend Spatial-Attn"/>
          <p:cNvSpPr/>
          <p:nvPr/>
        </p:nvSpPr>
        <p:spPr>
          <a:xfrm>
            <a:off x="12737592" y="768096"/>
            <a:ext cx="329184" cy="329184"/>
          </a:xfrm>
          <a:prstGeom prst="roundRect">
            <a:avLst>
              <a:gd name="adj" fmla="val 16666"/>
            </a:avLst>
          </a:prstGeom>
          <a:solidFill>
            <a:srgbClr val="6B89BB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5" name="Legend Cross-Attn"/>
          <p:cNvSpPr/>
          <p:nvPr/>
        </p:nvSpPr>
        <p:spPr>
          <a:xfrm>
            <a:off x="12737592" y="1307592"/>
            <a:ext cx="329184" cy="329184"/>
          </a:xfrm>
          <a:prstGeom prst="roundRect">
            <a:avLst>
              <a:gd name="adj" fmla="val 16666"/>
            </a:avLst>
          </a:prstGeom>
          <a:solidFill>
            <a:srgbClr val="D1E9D8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6" name="Legend Temporal-Attn"/>
          <p:cNvSpPr/>
          <p:nvPr/>
        </p:nvSpPr>
        <p:spPr>
          <a:xfrm>
            <a:off x="12737592" y="1837944"/>
            <a:ext cx="329184" cy="329184"/>
          </a:xfrm>
          <a:prstGeom prst="roundRect">
            <a:avLst>
              <a:gd name="adj" fmla="val 16666"/>
            </a:avLst>
          </a:prstGeom>
          <a:solidFill>
            <a:srgbClr val="FBC8A4"/>
          </a:solidFill>
          <a:ln w="22859" cap="flat">
            <a:solidFill>
              <a:srgbClr val="787670"/>
            </a:solidFill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7" name="Spatial-Attn"/>
          <p:cNvSpPr txBox="1"/>
          <p:nvPr/>
        </p:nvSpPr>
        <p:spPr>
          <a:xfrm>
            <a:off x="13587984" y="749808"/>
            <a:ext cx="2743200" cy="384048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Spatial-Attn</a:t>
            </a:r>
          </a:p>
        </p:txBody>
      </p:sp>
      <p:sp>
        <p:nvSpPr>
          <p:cNvPr id="228" name="Cross-Attn"/>
          <p:cNvSpPr txBox="1"/>
          <p:nvPr/>
        </p:nvSpPr>
        <p:spPr>
          <a:xfrm>
            <a:off x="13587984" y="1289304"/>
            <a:ext cx="2743200" cy="384048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Cross-Attn</a:t>
            </a:r>
          </a:p>
        </p:txBody>
      </p:sp>
      <p:sp>
        <p:nvSpPr>
          <p:cNvPr id="229" name="Temporal-Attn"/>
          <p:cNvSpPr txBox="1"/>
          <p:nvPr/>
        </p:nvSpPr>
        <p:spPr>
          <a:xfrm>
            <a:off x="13587984" y="1819656"/>
            <a:ext cx="2834640" cy="384048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Temporal-Attn</a:t>
            </a:r>
          </a:p>
        </p:txBody>
      </p:sp>
      <p:sp>
        <p:nvSpPr>
          <p:cNvPr id="230" name="Legend intermediate feature arrow"/>
          <p:cNvSpPr/>
          <p:nvPr/>
        </p:nvSpPr>
        <p:spPr>
          <a:xfrm>
            <a:off x="12609576" y="2395728"/>
            <a:ext cx="640080" cy="182880"/>
          </a:xfrm>
          <a:custGeom>
            <a:avLst/>
            <a:gdLst/>
            <a:ahLst/>
            <a:cxnLst/>
            <a:rect l="0" t="0" r="r" b="b"/>
            <a:pathLst>
              <a:path w="70000" h="20000">
                <a:moveTo>
                  <a:pt x="0" y="6000"/>
                </a:moveTo>
                <a:cubicBezTo>
                  <a:pt x="27000" y="20000"/>
                  <a:pt x="50000" y="13000"/>
                  <a:pt x="70000" y="0"/>
                </a:cubicBezTo>
              </a:path>
            </a:pathLst>
          </a:custGeom>
          <a:noFill/>
          <a:ln w="27432" cap="flat">
            <a:solidFill>
              <a:srgbClr val="C714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Legend intermediate feature arrow tip"/>
          <p:cNvSpPr/>
          <p:nvPr/>
        </p:nvSpPr>
        <p:spPr>
          <a:xfrm>
            <a:off x="13099771" y="2395728"/>
            <a:ext cx="149885" cy="128418"/>
          </a:xfrm>
          <a:custGeom>
            <a:avLst/>
            <a:gdLst/>
            <a:ahLst/>
            <a:cxnLst/>
            <a:rect l="0" t="0" r="r" b="b"/>
            <a:pathLst>
              <a:path w="16392" h="14044">
                <a:moveTo>
                  <a:pt x="16392" y="0"/>
                </a:moveTo>
                <a:lnTo>
                  <a:pt x="7630" y="14044"/>
                </a:lnTo>
                <a:lnTo>
                  <a:pt x="0" y="2306"/>
                </a:lnTo>
                <a:close/>
              </a:path>
            </a:pathLst>
          </a:custGeom>
          <a:solidFill>
            <a:srgbClr val="C714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Intermediate Feature"/>
          <p:cNvSpPr txBox="1"/>
          <p:nvPr/>
        </p:nvSpPr>
        <p:spPr>
          <a:xfrm>
            <a:off x="13587984" y="2286000"/>
            <a:ext cx="3044952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262626"/>
                </a:solidFill>
                <a:latin typeface="DejaVu Sans Mono"/>
              </a:rPr>
              <a:t>Intermediate Feature</a:t>
            </a:r>
          </a:p>
        </p:txBody>
      </p:sp>
      <p:sp>
        <p:nvSpPr>
          <p:cNvPr id="233" name="Legend gradient arrow"/>
          <p:cNvSpPr/>
          <p:nvPr/>
        </p:nvSpPr>
        <p:spPr>
          <a:xfrm>
            <a:off x="12609576" y="2907792"/>
            <a:ext cx="640080" cy="192024"/>
          </a:xfrm>
          <a:custGeom>
            <a:avLst/>
            <a:gdLst/>
            <a:ahLst/>
            <a:cxnLst/>
            <a:rect l="0" t="0" r="r" b="b"/>
            <a:pathLst>
              <a:path w="70000" h="21000">
                <a:moveTo>
                  <a:pt x="0" y="6000"/>
                </a:moveTo>
                <a:cubicBezTo>
                  <a:pt x="27000" y="21000"/>
                  <a:pt x="50000" y="13000"/>
                  <a:pt x="70000" y="0"/>
                </a:cubicBezTo>
              </a:path>
            </a:pathLst>
          </a:custGeom>
          <a:noFill/>
          <a:ln w="27432" cap="flat">
            <a:solidFill>
              <a:srgbClr val="FFB300"/>
            </a:solidFill>
            <a:custDash>
              <a:ds d="266667" sp="133333"/>
            </a:custDash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Legend gradient arrow tip"/>
          <p:cNvSpPr/>
          <p:nvPr/>
        </p:nvSpPr>
        <p:spPr>
          <a:xfrm>
            <a:off x="13099771" y="2907792"/>
            <a:ext cx="149885" cy="128418"/>
          </a:xfrm>
          <a:custGeom>
            <a:avLst/>
            <a:gdLst/>
            <a:ahLst/>
            <a:cxnLst/>
            <a:rect l="0" t="0" r="r" b="b"/>
            <a:pathLst>
              <a:path w="16392" h="14044">
                <a:moveTo>
                  <a:pt x="16392" y="0"/>
                </a:moveTo>
                <a:lnTo>
                  <a:pt x="7630" y="14044"/>
                </a:lnTo>
                <a:lnTo>
                  <a:pt x="0" y="2306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Gradient from"/>
          <p:cNvSpPr txBox="1"/>
          <p:nvPr/>
        </p:nvSpPr>
        <p:spPr>
          <a:xfrm>
            <a:off x="13587984" y="2852928"/>
            <a:ext cx="2148840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Gradient from</a:t>
            </a:r>
          </a:p>
        </p:txBody>
      </p:sp>
      <p:sp>
        <p:nvSpPr>
          <p:cNvPr id="236" name="Legend correspondence objective"/>
          <p:cNvSpPr txBox="1"/>
          <p:nvPr/>
        </p:nvSpPr>
        <p:spPr>
          <a:xfrm>
            <a:off x="15727680" y="2807208"/>
            <a:ext cx="329184" cy="402336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262626"/>
                </a:solidFill>
                <a:latin typeface="Latin Modern Math"/>
              </a:rPr>
              <a:t>𝓒</a:t>
            </a:r>
          </a:p>
        </p:txBody>
      </p:sp>
      <p:sp>
        <p:nvSpPr>
          <p:cNvPr id="237" name="Legend objective superscript"/>
          <p:cNvSpPr txBox="1"/>
          <p:nvPr/>
        </p:nvSpPr>
        <p:spPr>
          <a:xfrm>
            <a:off x="15974568" y="2807208"/>
            <a:ext cx="502920" cy="25603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62626"/>
                </a:solidFill>
                <a:latin typeface="Latin Modern Math"/>
              </a:rPr>
              <a:t>(ℓ)</a:t>
            </a:r>
          </a:p>
        </p:txBody>
      </p:sp>
      <p:sp>
        <p:nvSpPr>
          <p:cNvPr id="238" name="Legend IMG construction"/>
          <p:cNvSpPr/>
          <p:nvPr/>
        </p:nvSpPr>
        <p:spPr>
          <a:xfrm>
            <a:off x="12627864" y="3300984"/>
            <a:ext cx="585216" cy="512064"/>
          </a:xfrm>
          <a:custGeom>
            <a:avLst/>
            <a:gdLst/>
            <a:ahLst/>
            <a:cxnLst/>
            <a:rect l="0" t="0" r="r" b="b"/>
            <a:pathLst>
              <a:path w="64000" h="56000">
                <a:moveTo>
                  <a:pt x="0" y="0"/>
                </a:moveTo>
                <a:lnTo>
                  <a:pt x="64000" y="21000"/>
                </a:lnTo>
                <a:lnTo>
                  <a:pt x="64000" y="56000"/>
                </a:lnTo>
                <a:lnTo>
                  <a:pt x="0" y="56000"/>
                </a:lnTo>
                <a:close/>
              </a:path>
            </a:pathLst>
          </a:custGeom>
          <a:solidFill>
            <a:srgbClr val="FAFAFA"/>
          </a:solidFill>
          <a:ln w="22859" cap="flat">
            <a:solidFill>
              <a:srgbClr val="80817E"/>
            </a:solidFill>
            <a:custDash>
              <a:ds d="400000" sp="280000"/>
            </a:custDash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9" name="IMG Construction"/>
          <p:cNvSpPr txBox="1"/>
          <p:nvPr/>
        </p:nvSpPr>
        <p:spPr>
          <a:xfrm>
            <a:off x="13587984" y="3355848"/>
            <a:ext cx="3017520" cy="384048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IMG Construction</a:t>
            </a:r>
          </a:p>
        </p:txBody>
      </p:sp>
      <p:sp>
        <p:nvSpPr>
          <p:cNvPr id="240" name="(Training only)"/>
          <p:cNvSpPr txBox="1"/>
          <p:nvPr/>
        </p:nvSpPr>
        <p:spPr>
          <a:xfrm>
            <a:off x="13587984" y="3694176"/>
            <a:ext cx="2834640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(Training only)</a:t>
            </a:r>
          </a:p>
        </p:txBody>
      </p:sp>
      <p:sp>
        <p:nvSpPr>
          <p:cNvPr id="241" name="Legend selected for MSM"/>
          <p:cNvSpPr/>
          <p:nvPr/>
        </p:nvSpPr>
        <p:spPr>
          <a:xfrm>
            <a:off x="12673584" y="4315968"/>
            <a:ext cx="512064" cy="338328"/>
          </a:xfrm>
          <a:prstGeom prst="roundRect">
            <a:avLst>
              <a:gd name="adj" fmla="val 16216"/>
            </a:avLst>
          </a:prstGeom>
          <a:solidFill>
            <a:srgbClr val="91A7D0"/>
          </a:solidFill>
          <a:ln w="22859" cap="flat">
            <a:solidFill>
              <a:srgbClr val="787670"/>
            </a:solidFill>
            <a:custDash>
              <a:ds d="400000" sp="280000"/>
            </a:custDash>
            <a:round/>
          </a:ln>
          <a:effectLst>
            <a:outerShdw blurRad="45720" dist="18288" dir="3600000" algn="ctr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2" name="Selected for MSM"/>
          <p:cNvSpPr txBox="1"/>
          <p:nvPr/>
        </p:nvSpPr>
        <p:spPr>
          <a:xfrm>
            <a:off x="13615416" y="4315968"/>
            <a:ext cx="2980944" cy="393192"/>
          </a:xfrm>
          <a:prstGeom prst="rect">
            <a:avLst/>
          </a:prstGeom>
          <a:noFill/>
        </p:spPr>
        <p:txBody>
          <a:bodyPr wrap="none" lIns="0" rIns="0" t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>
                <a:solidFill>
                  <a:srgbClr val="262626"/>
                </a:solidFill>
                <a:latin typeface="DejaVu Sans Mono"/>
              </a:rPr>
              <a:t>Selected for MSM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verybodyDance Bipartite Graphâ€“Based Identity Correspondence for Multi-Character Anim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632936" cy="92720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EverybodyDance: Bipartite Graph-Based Identity Correspondence</dc:title>
  <dc:subject>Editable reconstruction of the supplied architecture diagram</dc:subject>
  <dc:creator/>
  <cp:keywords>EverybodyDance, editable, ReferenceNet, DenoisingNet, bipartite graph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