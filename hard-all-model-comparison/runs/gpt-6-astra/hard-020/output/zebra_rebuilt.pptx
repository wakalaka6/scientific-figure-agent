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282160" cy="11064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Background panels"/>
          <p:cNvGrpSpPr/>
          <p:nvPr/>
        </p:nvGrpSpPr>
        <p:grpSpPr>
          <a:xfrm>
            <a:off x="0" y="0"/>
            <a:ext cx="17282160" cy="11064240"/>
            <a:chOff x="0" y="0"/>
            <a:chExt cx="17282160" cy="11064240"/>
          </a:xfrm>
        </p:grpSpPr>
        <p:sp>
          <p:nvSpPr>
            <p:cNvPr id="3" name="path 1"/>
            <p:cNvSpPr/>
            <p:nvPr/>
          </p:nvSpPr>
          <p:spPr>
            <a:xfrm>
              <a:off x="0" y="0"/>
              <a:ext cx="17282160" cy="11064240"/>
            </a:xfrm>
            <a:custGeom>
              <a:avLst/>
              <a:gdLst/>
              <a:ahLst/>
              <a:cxnLst/>
              <a:rect l="0" t="0" r="r" b="b"/>
              <a:pathLst>
                <a:path w="17282160" h="11064240">
                  <a:moveTo>
                    <a:pt x="0" y="0"/>
                  </a:moveTo>
                  <a:lnTo>
                    <a:pt x="17282160" y="0"/>
                  </a:lnTo>
                  <a:lnTo>
                    <a:pt x="17282160" y="11064240"/>
                  </a:lnTo>
                  <a:lnTo>
                    <a:pt x="0" y="110642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path 2"/>
            <p:cNvSpPr/>
            <p:nvPr/>
          </p:nvSpPr>
          <p:spPr>
            <a:xfrm>
              <a:off x="45720" y="118872"/>
              <a:ext cx="17190720" cy="7580376"/>
            </a:xfrm>
            <a:custGeom>
              <a:avLst/>
              <a:gdLst/>
              <a:ahLst/>
              <a:cxnLst/>
              <a:rect l="0" t="0" r="r" b="b"/>
              <a:pathLst>
                <a:path w="17190720" h="7580376">
                  <a:moveTo>
                    <a:pt x="164592" y="0"/>
                  </a:moveTo>
                  <a:lnTo>
                    <a:pt x="17026128" y="0"/>
                  </a:lnTo>
                  <a:cubicBezTo>
                    <a:pt x="17117030" y="0"/>
                    <a:pt x="17190720" y="73690"/>
                    <a:pt x="17190720" y="164592"/>
                  </a:cubicBezTo>
                  <a:lnTo>
                    <a:pt x="17190720" y="7415784"/>
                  </a:lnTo>
                  <a:cubicBezTo>
                    <a:pt x="17190720" y="7506686"/>
                    <a:pt x="17117030" y="7580376"/>
                    <a:pt x="17026128" y="7580376"/>
                  </a:cubicBezTo>
                  <a:lnTo>
                    <a:pt x="164592" y="7580376"/>
                  </a:lnTo>
                  <a:cubicBezTo>
                    <a:pt x="73690" y="7580376"/>
                    <a:pt x="0" y="7506686"/>
                    <a:pt x="0" y="7415784"/>
                  </a:cubicBezTo>
                  <a:lnTo>
                    <a:pt x="0" y="164592"/>
                  </a:lnTo>
                  <a:cubicBezTo>
                    <a:pt x="0" y="73690"/>
                    <a:pt x="73690" y="0"/>
                    <a:pt x="164592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7432" cap="rnd" cmpd="sng">
              <a:solidFill>
                <a:srgbClr val="e4e5e2"/>
              </a:solidFill>
              <a:round/>
            </a:ln>
            <a:effectLst>
              <a:outerShdw blurRad="91440" dist="0" dir="0" algn="tl" rotWithShape="0">
                <a:srgbClr val="7d817b">
                  <a:alpha val="2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path 3"/>
            <p:cNvSpPr/>
            <p:nvPr/>
          </p:nvSpPr>
          <p:spPr>
            <a:xfrm>
              <a:off x="64008" y="182880"/>
              <a:ext cx="9418320" cy="3950208"/>
            </a:xfrm>
            <a:custGeom>
              <a:avLst/>
              <a:gdLst/>
              <a:ahLst/>
              <a:cxnLst/>
              <a:rect l="0" t="0" r="r" b="b"/>
              <a:pathLst>
                <a:path w="9418320" h="3950208">
                  <a:moveTo>
                    <a:pt x="164592" y="0"/>
                  </a:moveTo>
                  <a:lnTo>
                    <a:pt x="9253728" y="0"/>
                  </a:lnTo>
                  <a:cubicBezTo>
                    <a:pt x="9344630" y="0"/>
                    <a:pt x="9418320" y="73690"/>
                    <a:pt x="9418320" y="164592"/>
                  </a:cubicBezTo>
                  <a:lnTo>
                    <a:pt x="9418320" y="3785616"/>
                  </a:lnTo>
                  <a:cubicBezTo>
                    <a:pt x="9418320" y="3876518"/>
                    <a:pt x="9344630" y="3950208"/>
                    <a:pt x="9253728" y="3950208"/>
                  </a:cubicBezTo>
                  <a:lnTo>
                    <a:pt x="164592" y="3950208"/>
                  </a:lnTo>
                  <a:cubicBezTo>
                    <a:pt x="73690" y="3950208"/>
                    <a:pt x="0" y="3876518"/>
                    <a:pt x="0" y="3785616"/>
                  </a:cubicBezTo>
                  <a:lnTo>
                    <a:pt x="0" y="164592"/>
                  </a:lnTo>
                  <a:cubicBezTo>
                    <a:pt x="0" y="73690"/>
                    <a:pt x="73690" y="0"/>
                    <a:pt x="164592" y="0"/>
                  </a:cubicBezTo>
                  <a:close/>
                </a:path>
              </a:pathLst>
            </a:custGeom>
            <a:solidFill>
              <a:srgbClr val="f4f7f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ath 4"/>
            <p:cNvSpPr/>
            <p:nvPr/>
          </p:nvSpPr>
          <p:spPr>
            <a:xfrm>
              <a:off x="4334256" y="182880"/>
              <a:ext cx="5148072" cy="7406640"/>
            </a:xfrm>
            <a:custGeom>
              <a:avLst/>
              <a:gdLst/>
              <a:ahLst/>
              <a:cxnLst/>
              <a:rect l="0" t="0" r="r" b="b"/>
              <a:pathLst>
                <a:path w="5148072" h="7406640">
                  <a:moveTo>
                    <a:pt x="192024" y="0"/>
                  </a:moveTo>
                  <a:lnTo>
                    <a:pt x="4956048" y="0"/>
                  </a:lnTo>
                  <a:cubicBezTo>
                    <a:pt x="5062100" y="0"/>
                    <a:pt x="5148072" y="85972"/>
                    <a:pt x="5148072" y="192024"/>
                  </a:cubicBezTo>
                  <a:lnTo>
                    <a:pt x="5148072" y="7214616"/>
                  </a:lnTo>
                  <a:cubicBezTo>
                    <a:pt x="5148072" y="7320668"/>
                    <a:pt x="5062100" y="7406640"/>
                    <a:pt x="4956048" y="7406640"/>
                  </a:cubicBezTo>
                  <a:lnTo>
                    <a:pt x="192024" y="7406640"/>
                  </a:lnTo>
                  <a:cubicBezTo>
                    <a:pt x="85972" y="7406640"/>
                    <a:pt x="0" y="7320668"/>
                    <a:pt x="0" y="7214616"/>
                  </a:cubicBezTo>
                  <a:lnTo>
                    <a:pt x="0" y="192024"/>
                  </a:lnTo>
                  <a:cubicBezTo>
                    <a:pt x="0" y="85972"/>
                    <a:pt x="85972" y="0"/>
                    <a:pt x="192024" y="0"/>
                  </a:cubicBezTo>
                  <a:close/>
                </a:path>
              </a:pathLst>
            </a:custGeom>
            <a:solidFill>
              <a:srgbClr val="f4f7f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ath 5"/>
            <p:cNvSpPr/>
            <p:nvPr/>
          </p:nvSpPr>
          <p:spPr>
            <a:xfrm>
              <a:off x="9491472" y="182880"/>
              <a:ext cx="5056632" cy="7406640"/>
            </a:xfrm>
            <a:custGeom>
              <a:avLst/>
              <a:gdLst/>
              <a:ahLst/>
              <a:cxnLst/>
              <a:rect l="0" t="0" r="r" b="b"/>
              <a:pathLst>
                <a:path w="5056632" h="7406640">
                  <a:moveTo>
                    <a:pt x="182880" y="0"/>
                  </a:moveTo>
                  <a:lnTo>
                    <a:pt x="4873752" y="0"/>
                  </a:lnTo>
                  <a:cubicBezTo>
                    <a:pt x="4974754" y="0"/>
                    <a:pt x="5056632" y="81878"/>
                    <a:pt x="5056632" y="182880"/>
                  </a:cubicBezTo>
                  <a:lnTo>
                    <a:pt x="5056632" y="7223760"/>
                  </a:lnTo>
                  <a:cubicBezTo>
                    <a:pt x="5056632" y="7324762"/>
                    <a:pt x="4974754" y="7406640"/>
                    <a:pt x="4873752" y="7406640"/>
                  </a:cubicBezTo>
                  <a:lnTo>
                    <a:pt x="182880" y="7406640"/>
                  </a:lnTo>
                  <a:cubicBezTo>
                    <a:pt x="81878" y="7406640"/>
                    <a:pt x="0" y="7324762"/>
                    <a:pt x="0" y="7223760"/>
                  </a:cubicBezTo>
                  <a:lnTo>
                    <a:pt x="0" y="182880"/>
                  </a:lnTo>
                  <a:cubicBezTo>
                    <a:pt x="0" y="81878"/>
                    <a:pt x="81878" y="0"/>
                    <a:pt x="182880" y="0"/>
                  </a:cubicBezTo>
                  <a:close/>
                </a:path>
              </a:pathLst>
            </a:custGeom>
            <a:solidFill>
              <a:srgbClr val="fff8ea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path 6"/>
            <p:cNvSpPr/>
            <p:nvPr/>
          </p:nvSpPr>
          <p:spPr>
            <a:xfrm>
              <a:off x="14538960" y="182880"/>
              <a:ext cx="2688336" cy="3950208"/>
            </a:xfrm>
            <a:custGeom>
              <a:avLst/>
              <a:gdLst/>
              <a:ahLst/>
              <a:cxnLst/>
              <a:rect l="0" t="0" r="r" b="b"/>
              <a:pathLst>
                <a:path w="2688336" h="3950208">
                  <a:moveTo>
                    <a:pt x="137160" y="0"/>
                  </a:moveTo>
                  <a:lnTo>
                    <a:pt x="2551176" y="0"/>
                  </a:lnTo>
                  <a:cubicBezTo>
                    <a:pt x="2626927" y="0"/>
                    <a:pt x="2688336" y="61409"/>
                    <a:pt x="2688336" y="137160"/>
                  </a:cubicBezTo>
                  <a:lnTo>
                    <a:pt x="2688336" y="3813048"/>
                  </a:lnTo>
                  <a:cubicBezTo>
                    <a:pt x="2688336" y="3888799"/>
                    <a:pt x="2626927" y="3950208"/>
                    <a:pt x="2551176" y="3950208"/>
                  </a:cubicBezTo>
                  <a:lnTo>
                    <a:pt x="137160" y="3950208"/>
                  </a:lnTo>
                  <a:cubicBezTo>
                    <a:pt x="61409" y="3950208"/>
                    <a:pt x="0" y="3888799"/>
                    <a:pt x="0" y="3813048"/>
                  </a:cubicBezTo>
                  <a:lnTo>
                    <a:pt x="0" y="137160"/>
                  </a:lnTo>
                  <a:cubicBezTo>
                    <a:pt x="0" y="61409"/>
                    <a:pt x="61409" y="0"/>
                    <a:pt x="137160" y="0"/>
                  </a:cubicBezTo>
                  <a:close/>
                </a:path>
              </a:pathLst>
            </a:custGeom>
            <a:solidFill>
              <a:srgbClr val="fff8ec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ath 7"/>
            <p:cNvSpPr/>
            <p:nvPr/>
          </p:nvSpPr>
          <p:spPr>
            <a:xfrm>
              <a:off x="64008" y="182880"/>
              <a:ext cx="3145536" cy="676656"/>
            </a:xfrm>
            <a:custGeom>
              <a:avLst/>
              <a:gdLst/>
              <a:ahLst/>
              <a:cxnLst/>
              <a:rect l="0" t="0" r="r" b="b"/>
              <a:pathLst>
                <a:path w="3145536" h="676656">
                  <a:moveTo>
                    <a:pt x="91440" y="0"/>
                  </a:moveTo>
                  <a:lnTo>
                    <a:pt x="3054096" y="0"/>
                  </a:lnTo>
                  <a:cubicBezTo>
                    <a:pt x="3104597" y="0"/>
                    <a:pt x="3145536" y="40939"/>
                    <a:pt x="3145536" y="91440"/>
                  </a:cubicBezTo>
                  <a:lnTo>
                    <a:pt x="3145536" y="585216"/>
                  </a:lnTo>
                  <a:cubicBezTo>
                    <a:pt x="3145536" y="635717"/>
                    <a:pt x="3104597" y="676656"/>
                    <a:pt x="3054096" y="676656"/>
                  </a:cubicBezTo>
                  <a:lnTo>
                    <a:pt x="91440" y="676656"/>
                  </a:lnTo>
                  <a:cubicBezTo>
                    <a:pt x="40939" y="676656"/>
                    <a:pt x="0" y="635717"/>
                    <a:pt x="0" y="585216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dfefe7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ath 8"/>
            <p:cNvSpPr/>
            <p:nvPr/>
          </p:nvSpPr>
          <p:spPr>
            <a:xfrm>
              <a:off x="36576" y="7946136"/>
              <a:ext cx="17199864" cy="3081528"/>
            </a:xfrm>
            <a:custGeom>
              <a:avLst/>
              <a:gdLst/>
              <a:ahLst/>
              <a:cxnLst/>
              <a:rect l="0" t="0" r="r" b="b"/>
              <a:pathLst>
                <a:path w="17199864" h="3081528">
                  <a:moveTo>
                    <a:pt x="146304" y="0"/>
                  </a:moveTo>
                  <a:lnTo>
                    <a:pt x="17053560" y="0"/>
                  </a:lnTo>
                  <a:cubicBezTo>
                    <a:pt x="17134361" y="0"/>
                    <a:pt x="17199864" y="65503"/>
                    <a:pt x="17199864" y="146304"/>
                  </a:cubicBezTo>
                  <a:lnTo>
                    <a:pt x="17199864" y="2935224"/>
                  </a:lnTo>
                  <a:cubicBezTo>
                    <a:pt x="17199864" y="3016025"/>
                    <a:pt x="17134361" y="3081528"/>
                    <a:pt x="17053560" y="3081528"/>
                  </a:cubicBezTo>
                  <a:lnTo>
                    <a:pt x="146304" y="3081528"/>
                  </a:lnTo>
                  <a:cubicBezTo>
                    <a:pt x="65503" y="3081528"/>
                    <a:pt x="0" y="3016025"/>
                    <a:pt x="0" y="2935224"/>
                  </a:cubicBezTo>
                  <a:lnTo>
                    <a:pt x="0" y="146304"/>
                  </a:lnTo>
                  <a:cubicBezTo>
                    <a:pt x="0" y="65503"/>
                    <a:pt x="65503" y="0"/>
                    <a:pt x="146304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7432" cap="rnd" cmpd="sng">
              <a:solidFill>
                <a:srgbClr val="e4e5e2"/>
              </a:solidFill>
              <a:round/>
            </a:ln>
            <a:effectLst>
              <a:outerShdw blurRad="91440" dist="0" dir="0" algn="tl" rotWithShape="0">
                <a:srgbClr val="7d817b">
                  <a:alpha val="28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ath 9"/>
            <p:cNvSpPr/>
            <p:nvPr/>
          </p:nvSpPr>
          <p:spPr>
            <a:xfrm>
              <a:off x="54864" y="8010144"/>
              <a:ext cx="3154680" cy="676656"/>
            </a:xfrm>
            <a:custGeom>
              <a:avLst/>
              <a:gdLst/>
              <a:ahLst/>
              <a:cxnLst/>
              <a:rect l="0" t="0" r="r" b="b"/>
              <a:pathLst>
                <a:path w="3154680" h="676656">
                  <a:moveTo>
                    <a:pt x="91440" y="0"/>
                  </a:moveTo>
                  <a:lnTo>
                    <a:pt x="3063240" y="0"/>
                  </a:lnTo>
                  <a:cubicBezTo>
                    <a:pt x="3113741" y="0"/>
                    <a:pt x="3154680" y="40939"/>
                    <a:pt x="3154680" y="91440"/>
                  </a:cubicBezTo>
                  <a:lnTo>
                    <a:pt x="3154680" y="585216"/>
                  </a:lnTo>
                  <a:cubicBezTo>
                    <a:pt x="3154680" y="635717"/>
                    <a:pt x="3113741" y="676656"/>
                    <a:pt x="3063240" y="676656"/>
                  </a:cubicBezTo>
                  <a:lnTo>
                    <a:pt x="91440" y="676656"/>
                  </a:lnTo>
                  <a:cubicBezTo>
                    <a:pt x="40939" y="676656"/>
                    <a:pt x="0" y="635717"/>
                    <a:pt x="0" y="585216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e1e5e5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Section headings"/>
          <p:cNvGrpSpPr/>
          <p:nvPr/>
        </p:nvGrpSpPr>
        <p:grpSpPr>
          <a:xfrm>
            <a:off x="649474" y="187818"/>
            <a:ext cx="15025321" cy="8439546"/>
            <a:chOff x="649474" y="187818"/>
            <a:chExt cx="15025321" cy="8439546"/>
          </a:xfrm>
        </p:grpSpPr>
        <p:sp>
          <p:nvSpPr>
            <p:cNvPr id="13" name="Training"/>
            <p:cNvSpPr txBox="1"/>
            <p:nvPr/>
          </p:nvSpPr>
          <p:spPr>
            <a:xfrm>
              <a:off x="749494" y="187818"/>
              <a:ext cx="1902581" cy="61228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887" b="1" i="1" dirty="0">
                  <a:solidFill>
                    <a:srgbClr val="0B0B0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4" name="Subject-Invariant Feature Extraction"/>
            <p:cNvSpPr txBox="1"/>
            <p:nvPr/>
          </p:nvSpPr>
          <p:spPr>
            <a:xfrm>
              <a:off x="3566753" y="277978"/>
              <a:ext cx="5759534" cy="4535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79" b="1" i="1" dirty="0">
                  <a:solidFill>
                    <a:srgbClr val="719FC3"/>
                  </a:solidFill>
                  <a:latin typeface="Liberation Serif"/>
                </a:rPr>
                <a:t>Subject-Invariant Feature Extraction</a:t>
              </a:r>
            </a:p>
          </p:txBody>
        </p:sp>
        <p:sp>
          <p:nvSpPr>
            <p:cNvPr id="15" name="Semantic-Specific Feature Extraction"/>
            <p:cNvSpPr txBox="1"/>
            <p:nvPr/>
          </p:nvSpPr>
          <p:spPr>
            <a:xfrm>
              <a:off x="9855253" y="277978"/>
              <a:ext cx="5819542" cy="4535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79" b="1" i="1" dirty="0">
                  <a:solidFill>
                    <a:srgbClr val="F77F31"/>
                  </a:solidFill>
                  <a:latin typeface="Liberation Serif"/>
                </a:rPr>
                <a:t>Semantic-Specific Feature Extraction</a:t>
              </a:r>
            </a:p>
          </p:txBody>
        </p:sp>
        <p:sp>
          <p:nvSpPr>
            <p:cNvPr id="16" name="Inference"/>
            <p:cNvSpPr txBox="1"/>
            <p:nvPr/>
          </p:nvSpPr>
          <p:spPr>
            <a:xfrm>
              <a:off x="649474" y="8015082"/>
              <a:ext cx="2084332" cy="61228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887" b="1" i="1" dirty="0">
                  <a:solidFill>
                    <a:srgbClr val="0B0B0B"/>
                  </a:solidFill>
                  <a:latin typeface="Liberation Serif"/>
                </a:rPr>
                <a:t>Inference</a:t>
              </a:r>
            </a:p>
          </p:txBody>
        </p:sp>
      </p:grpSp>
      <p:grpSp>
        <p:nvGrpSpPr>
          <p:cNvPr id="17" name="Subject supervision / Subject identity icons / Unknown identity"/>
          <p:cNvGrpSpPr/>
          <p:nvPr/>
        </p:nvGrpSpPr>
        <p:grpSpPr>
          <a:xfrm>
            <a:off x="1039216" y="1515892"/>
            <a:ext cx="1001268" cy="574609"/>
            <a:chOff x="1039216" y="1515892"/>
            <a:chExt cx="1001268" cy="574609"/>
          </a:xfrm>
        </p:grpSpPr>
        <p:sp>
          <p:nvSpPr>
            <p:cNvPr id="18" name="path 14"/>
            <p:cNvSpPr/>
            <p:nvPr/>
          </p:nvSpPr>
          <p:spPr>
            <a:xfrm>
              <a:off x="1039216" y="1752905"/>
              <a:ext cx="178308" cy="243688"/>
            </a:xfrm>
            <a:custGeom>
              <a:avLst/>
              <a:gdLst/>
              <a:ahLst/>
              <a:cxnLst/>
              <a:rect l="0" t="0" r="r" b="b"/>
              <a:pathLst>
                <a:path w="178308" h="243688" fill="none">
                  <a:moveTo>
                    <a:pt x="0" y="83210"/>
                  </a:moveTo>
                  <a:cubicBezTo>
                    <a:pt x="5944" y="17831"/>
                    <a:pt x="89154" y="0"/>
                    <a:pt x="130759" y="47549"/>
                  </a:cubicBezTo>
                  <a:cubicBezTo>
                    <a:pt x="178308" y="106985"/>
                    <a:pt x="124816" y="154534"/>
                    <a:pt x="89154" y="178308"/>
                  </a:cubicBezTo>
                  <a:cubicBezTo>
                    <a:pt x="71323" y="196139"/>
                    <a:pt x="71323" y="219913"/>
                    <a:pt x="71323" y="243688"/>
                  </a:cubicBezTo>
                </a:path>
              </a:pathLst>
            </a:custGeom>
            <a:noFill/>
            <a:ln w="3269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ath 15"/>
            <p:cNvSpPr/>
            <p:nvPr/>
          </p:nvSpPr>
          <p:spPr>
            <a:xfrm>
              <a:off x="1093897" y="2057217"/>
              <a:ext cx="33284" cy="33284"/>
            </a:xfrm>
            <a:custGeom>
              <a:avLst/>
              <a:gdLst/>
              <a:ahLst/>
              <a:cxnLst/>
              <a:rect l="0" t="0" r="r" b="b"/>
              <a:pathLst>
                <a:path w="33284" h="33284">
                  <a:moveTo>
                    <a:pt x="33284" y="16642"/>
                  </a:moveTo>
                  <a:cubicBezTo>
                    <a:pt x="33284" y="25833"/>
                    <a:pt x="25833" y="33284"/>
                    <a:pt x="16642" y="33284"/>
                  </a:cubicBezTo>
                  <a:cubicBezTo>
                    <a:pt x="7451" y="33284"/>
                    <a:pt x="0" y="25833"/>
                    <a:pt x="0" y="16642"/>
                  </a:cubicBezTo>
                  <a:cubicBezTo>
                    <a:pt x="0" y="7451"/>
                    <a:pt x="7451" y="0"/>
                    <a:pt x="16642" y="0"/>
                  </a:cubicBezTo>
                  <a:cubicBezTo>
                    <a:pt x="25833" y="0"/>
                    <a:pt x="33284" y="7451"/>
                    <a:pt x="33284" y="16642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ath 16"/>
            <p:cNvSpPr/>
            <p:nvPr/>
          </p:nvSpPr>
          <p:spPr>
            <a:xfrm>
              <a:off x="1434419" y="1515892"/>
              <a:ext cx="302301" cy="421630"/>
            </a:xfrm>
            <a:custGeom>
              <a:avLst/>
              <a:gdLst/>
              <a:ahLst/>
              <a:cxnLst/>
              <a:rect l="0" t="0" r="r" b="b"/>
              <a:pathLst>
                <a:path w="302301" h="421630">
                  <a:moveTo>
                    <a:pt x="0" y="175016"/>
                  </a:moveTo>
                  <a:cubicBezTo>
                    <a:pt x="7955" y="63642"/>
                    <a:pt x="95463" y="0"/>
                    <a:pt x="206837" y="47732"/>
                  </a:cubicBezTo>
                  <a:cubicBezTo>
                    <a:pt x="302301" y="95463"/>
                    <a:pt x="270480" y="214793"/>
                    <a:pt x="206837" y="254569"/>
                  </a:cubicBezTo>
                  <a:cubicBezTo>
                    <a:pt x="159106" y="286390"/>
                    <a:pt x="151150" y="294345"/>
                    <a:pt x="151150" y="365943"/>
                  </a:cubicBezTo>
                  <a:cubicBezTo>
                    <a:pt x="151150" y="421630"/>
                    <a:pt x="55687" y="421630"/>
                    <a:pt x="55687" y="365943"/>
                  </a:cubicBezTo>
                  <a:lnTo>
                    <a:pt x="55687" y="294345"/>
                  </a:lnTo>
                  <a:cubicBezTo>
                    <a:pt x="55687" y="230703"/>
                    <a:pt x="95463" y="214793"/>
                    <a:pt x="135240" y="190927"/>
                  </a:cubicBezTo>
                  <a:cubicBezTo>
                    <a:pt x="182971" y="159106"/>
                    <a:pt x="175016" y="103419"/>
                    <a:pt x="127284" y="103419"/>
                  </a:cubicBezTo>
                  <a:cubicBezTo>
                    <a:pt x="87508" y="103419"/>
                    <a:pt x="79553" y="135240"/>
                    <a:pt x="71598" y="175016"/>
                  </a:cubicBezTo>
                  <a:cubicBezTo>
                    <a:pt x="63642" y="214793"/>
                    <a:pt x="0" y="214793"/>
                    <a:pt x="0" y="175016"/>
                  </a:cubicBezTo>
                  <a:close/>
                </a:path>
              </a:pathLst>
            </a:custGeom>
            <a:solidFill>
              <a:srgbClr val="fd7ca3">
                <a:alpha val="100000"/>
              </a:srgbClr>
            </a:solidFill>
            <a:ln w="31821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ath 17"/>
            <p:cNvSpPr/>
            <p:nvPr/>
          </p:nvSpPr>
          <p:spPr>
            <a:xfrm>
              <a:off x="1506017" y="1993209"/>
              <a:ext cx="79553" cy="79553"/>
            </a:xfrm>
            <a:custGeom>
              <a:avLst/>
              <a:gdLst/>
              <a:ahLst/>
              <a:cxnLst/>
              <a:rect l="0" t="0" r="r" b="b"/>
              <a:pathLst>
                <a:path w="79553" h="79553">
                  <a:moveTo>
                    <a:pt x="79553" y="39776"/>
                  </a:moveTo>
                  <a:cubicBezTo>
                    <a:pt x="79553" y="61744"/>
                    <a:pt x="61744" y="79553"/>
                    <a:pt x="39776" y="79553"/>
                  </a:cubicBezTo>
                  <a:cubicBezTo>
                    <a:pt x="17809" y="79553"/>
                    <a:pt x="0" y="61744"/>
                    <a:pt x="0" y="39776"/>
                  </a:cubicBezTo>
                  <a:cubicBezTo>
                    <a:pt x="0" y="17809"/>
                    <a:pt x="17809" y="0"/>
                    <a:pt x="39776" y="0"/>
                  </a:cubicBezTo>
                  <a:cubicBezTo>
                    <a:pt x="61744" y="0"/>
                    <a:pt x="79553" y="17809"/>
                    <a:pt x="79553" y="39776"/>
                  </a:cubicBezTo>
                  <a:close/>
                </a:path>
              </a:pathLst>
            </a:custGeom>
            <a:solidFill>
              <a:srgbClr val="fd7ca3">
                <a:alpha val="100000"/>
              </a:srgbClr>
            </a:solidFill>
            <a:ln w="31821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ath 18"/>
            <p:cNvSpPr/>
            <p:nvPr/>
          </p:nvSpPr>
          <p:spPr>
            <a:xfrm>
              <a:off x="1862176" y="1752905"/>
              <a:ext cx="178308" cy="243688"/>
            </a:xfrm>
            <a:custGeom>
              <a:avLst/>
              <a:gdLst/>
              <a:ahLst/>
              <a:cxnLst/>
              <a:rect l="0" t="0" r="r" b="b"/>
              <a:pathLst>
                <a:path w="178308" h="243688" fill="none">
                  <a:moveTo>
                    <a:pt x="0" y="83210"/>
                  </a:moveTo>
                  <a:cubicBezTo>
                    <a:pt x="5944" y="17831"/>
                    <a:pt x="89154" y="0"/>
                    <a:pt x="130759" y="47549"/>
                  </a:cubicBezTo>
                  <a:cubicBezTo>
                    <a:pt x="178308" y="106985"/>
                    <a:pt x="124816" y="154534"/>
                    <a:pt x="89154" y="178308"/>
                  </a:cubicBezTo>
                  <a:cubicBezTo>
                    <a:pt x="71323" y="196139"/>
                    <a:pt x="71323" y="219913"/>
                    <a:pt x="71323" y="243688"/>
                  </a:cubicBezTo>
                </a:path>
              </a:pathLst>
            </a:custGeom>
            <a:noFill/>
            <a:ln w="3269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path 19"/>
            <p:cNvSpPr/>
            <p:nvPr/>
          </p:nvSpPr>
          <p:spPr>
            <a:xfrm>
              <a:off x="1916857" y="2057217"/>
              <a:ext cx="33284" cy="33284"/>
            </a:xfrm>
            <a:custGeom>
              <a:avLst/>
              <a:gdLst/>
              <a:ahLst/>
              <a:cxnLst/>
              <a:rect l="0" t="0" r="r" b="b"/>
              <a:pathLst>
                <a:path w="33284" h="33284">
                  <a:moveTo>
                    <a:pt x="33284" y="16642"/>
                  </a:moveTo>
                  <a:cubicBezTo>
                    <a:pt x="33284" y="25833"/>
                    <a:pt x="25833" y="33284"/>
                    <a:pt x="16642" y="33284"/>
                  </a:cubicBezTo>
                  <a:cubicBezTo>
                    <a:pt x="7451" y="33284"/>
                    <a:pt x="0" y="25833"/>
                    <a:pt x="0" y="16642"/>
                  </a:cubicBezTo>
                  <a:cubicBezTo>
                    <a:pt x="0" y="7451"/>
                    <a:pt x="7451" y="0"/>
                    <a:pt x="16642" y="0"/>
                  </a:cubicBezTo>
                  <a:cubicBezTo>
                    <a:pt x="25833" y="0"/>
                    <a:pt x="33284" y="7451"/>
                    <a:pt x="33284" y="16642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Subject supervision / Subject identity icons"/>
          <p:cNvGrpSpPr/>
          <p:nvPr/>
        </p:nvGrpSpPr>
        <p:grpSpPr>
          <a:xfrm>
            <a:off x="978408" y="2121408"/>
            <a:ext cx="1170432" cy="566928"/>
            <a:chOff x="978408" y="2121408"/>
            <a:chExt cx="1170432" cy="566928"/>
          </a:xfrm>
        </p:grpSpPr>
        <p:sp>
          <p:nvSpPr>
            <p:cNvPr id="25" name="path 20"/>
            <p:cNvSpPr/>
            <p:nvPr/>
          </p:nvSpPr>
          <p:spPr>
            <a:xfrm>
              <a:off x="1005840" y="2377440"/>
              <a:ext cx="256032" cy="310896"/>
            </a:xfrm>
            <a:custGeom>
              <a:avLst/>
              <a:gdLst/>
              <a:ahLst/>
              <a:cxnLst/>
              <a:rect l="0" t="0" r="r" b="b"/>
              <a:pathLst>
                <a:path w="256032" h="310896">
                  <a:moveTo>
                    <a:pt x="0" y="0"/>
                  </a:moveTo>
                  <a:lnTo>
                    <a:pt x="0" y="118872"/>
                  </a:lnTo>
                  <a:cubicBezTo>
                    <a:pt x="0" y="310896"/>
                    <a:pt x="256032" y="310896"/>
                    <a:pt x="256032" y="118872"/>
                  </a:cubicBezTo>
                  <a:lnTo>
                    <a:pt x="256032" y="0"/>
                  </a:lnTo>
                  <a:close/>
                </a:path>
              </a:pathLst>
            </a:custGeom>
            <a:solidFill>
              <a:srgbClr val="f7bc9e">
                <a:alpha val="100000"/>
              </a:srgbClr>
            </a:solidFill>
            <a:ln w="411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path 21"/>
            <p:cNvSpPr/>
            <p:nvPr/>
          </p:nvSpPr>
          <p:spPr>
            <a:xfrm>
              <a:off x="978408" y="2212848"/>
              <a:ext cx="320040" cy="256032"/>
            </a:xfrm>
            <a:custGeom>
              <a:avLst/>
              <a:gdLst/>
              <a:ahLst/>
              <a:cxnLst/>
              <a:rect l="0" t="0" r="r" b="b"/>
              <a:pathLst>
                <a:path w="320040" h="256032">
                  <a:moveTo>
                    <a:pt x="18288" y="73152"/>
                  </a:moveTo>
                  <a:cubicBezTo>
                    <a:pt x="54864" y="0"/>
                    <a:pt x="164592" y="27432"/>
                    <a:pt x="210312" y="36576"/>
                  </a:cubicBezTo>
                  <a:lnTo>
                    <a:pt x="320040" y="27432"/>
                  </a:lnTo>
                  <a:lnTo>
                    <a:pt x="320040" y="128016"/>
                  </a:lnTo>
                  <a:cubicBezTo>
                    <a:pt x="310896" y="256032"/>
                    <a:pt x="64008" y="246888"/>
                    <a:pt x="27432" y="182880"/>
                  </a:cubicBezTo>
                  <a:cubicBezTo>
                    <a:pt x="0" y="146304"/>
                    <a:pt x="0" y="100584"/>
                    <a:pt x="18288" y="73152"/>
                  </a:cubicBezTo>
                  <a:close/>
                </a:path>
              </a:pathLst>
            </a:custGeom>
            <a:solidFill>
              <a:srgbClr val="b57851">
                <a:alpha val="100000"/>
              </a:srgbClr>
            </a:solidFill>
            <a:ln w="411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ath 22"/>
            <p:cNvSpPr/>
            <p:nvPr/>
          </p:nvSpPr>
          <p:spPr>
            <a:xfrm>
              <a:off x="1399032" y="2221992"/>
              <a:ext cx="292608" cy="420624"/>
            </a:xfrm>
            <a:custGeom>
              <a:avLst/>
              <a:gdLst/>
              <a:ahLst/>
              <a:cxnLst/>
              <a:rect l="0" t="0" r="r" b="b"/>
              <a:pathLst>
                <a:path w="292608" h="420624">
                  <a:moveTo>
                    <a:pt x="292608" y="210312"/>
                  </a:moveTo>
                  <a:cubicBezTo>
                    <a:pt x="292608" y="326464"/>
                    <a:pt x="227105" y="420624"/>
                    <a:pt x="146304" y="420624"/>
                  </a:cubicBezTo>
                  <a:cubicBezTo>
                    <a:pt x="65503" y="420624"/>
                    <a:pt x="0" y="326464"/>
                    <a:pt x="0" y="210312"/>
                  </a:cubicBezTo>
                  <a:cubicBezTo>
                    <a:pt x="0" y="94160"/>
                    <a:pt x="65503" y="0"/>
                    <a:pt x="146304" y="0"/>
                  </a:cubicBezTo>
                  <a:cubicBezTo>
                    <a:pt x="227105" y="0"/>
                    <a:pt x="292608" y="94160"/>
                    <a:pt x="292608" y="210312"/>
                  </a:cubicBezTo>
                  <a:close/>
                </a:path>
              </a:pathLst>
            </a:custGeom>
            <a:solidFill>
              <a:srgbClr val="fbc1b4">
                <a:alpha val="100000"/>
              </a:srgbClr>
            </a:solidFill>
            <a:ln w="411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path 23"/>
            <p:cNvSpPr/>
            <p:nvPr/>
          </p:nvSpPr>
          <p:spPr>
            <a:xfrm>
              <a:off x="1353312" y="2121408"/>
              <a:ext cx="347472" cy="301752"/>
            </a:xfrm>
            <a:custGeom>
              <a:avLst/>
              <a:gdLst/>
              <a:ahLst/>
              <a:cxnLst/>
              <a:rect l="0" t="0" r="r" b="b"/>
              <a:pathLst>
                <a:path w="347472" h="301752">
                  <a:moveTo>
                    <a:pt x="36576" y="292608"/>
                  </a:moveTo>
                  <a:cubicBezTo>
                    <a:pt x="0" y="82296"/>
                    <a:pt x="338328" y="0"/>
                    <a:pt x="347472" y="301752"/>
                  </a:cubicBezTo>
                  <a:lnTo>
                    <a:pt x="283464" y="201168"/>
                  </a:lnTo>
                  <a:cubicBezTo>
                    <a:pt x="219456" y="265176"/>
                    <a:pt x="118872" y="283464"/>
                    <a:pt x="36576" y="292608"/>
                  </a:cubicBezTo>
                  <a:close/>
                </a:path>
              </a:pathLst>
            </a:custGeom>
            <a:solidFill>
              <a:srgbClr val="ffd96b">
                <a:alpha val="100000"/>
              </a:srgbClr>
            </a:solidFill>
            <a:ln w="411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path 24"/>
            <p:cNvSpPr/>
            <p:nvPr/>
          </p:nvSpPr>
          <p:spPr>
            <a:xfrm>
              <a:off x="1792224" y="2258568"/>
              <a:ext cx="292608" cy="384048"/>
            </a:xfrm>
            <a:custGeom>
              <a:avLst/>
              <a:gdLst/>
              <a:ahLst/>
              <a:cxnLst/>
              <a:rect l="0" t="0" r="r" b="b"/>
              <a:pathLst>
                <a:path w="292608" h="384048">
                  <a:moveTo>
                    <a:pt x="292608" y="192024"/>
                  </a:moveTo>
                  <a:cubicBezTo>
                    <a:pt x="292608" y="298076"/>
                    <a:pt x="227105" y="384048"/>
                    <a:pt x="146304" y="384048"/>
                  </a:cubicBezTo>
                  <a:cubicBezTo>
                    <a:pt x="65503" y="384048"/>
                    <a:pt x="0" y="298076"/>
                    <a:pt x="0" y="192024"/>
                  </a:cubicBezTo>
                  <a:cubicBezTo>
                    <a:pt x="0" y="85972"/>
                    <a:pt x="65503" y="0"/>
                    <a:pt x="146304" y="0"/>
                  </a:cubicBezTo>
                  <a:cubicBezTo>
                    <a:pt x="227105" y="0"/>
                    <a:pt x="292608" y="85972"/>
                    <a:pt x="292608" y="192024"/>
                  </a:cubicBezTo>
                  <a:close/>
                </a:path>
              </a:pathLst>
            </a:custGeom>
            <a:solidFill>
              <a:srgbClr val="ffc6b5">
                <a:alpha val="100000"/>
              </a:srgbClr>
            </a:solidFill>
            <a:ln w="411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path 25"/>
            <p:cNvSpPr/>
            <p:nvPr/>
          </p:nvSpPr>
          <p:spPr>
            <a:xfrm>
              <a:off x="1709928" y="2157984"/>
              <a:ext cx="438912" cy="301752"/>
            </a:xfrm>
            <a:custGeom>
              <a:avLst/>
              <a:gdLst/>
              <a:ahLst/>
              <a:cxnLst/>
              <a:rect l="0" t="0" r="r" b="b"/>
              <a:pathLst>
                <a:path w="438912" h="301752">
                  <a:moveTo>
                    <a:pt x="82296" y="265176"/>
                  </a:moveTo>
                  <a:cubicBezTo>
                    <a:pt x="0" y="9144"/>
                    <a:pt x="438912" y="0"/>
                    <a:pt x="393192" y="301752"/>
                  </a:cubicBezTo>
                  <a:cubicBezTo>
                    <a:pt x="265176" y="292608"/>
                    <a:pt x="192024" y="219456"/>
                    <a:pt x="182880" y="201168"/>
                  </a:cubicBezTo>
                  <a:close/>
                </a:path>
              </a:pathLst>
            </a:custGeom>
            <a:solidFill>
              <a:srgbClr val="6f9bb1">
                <a:alpha val="100000"/>
              </a:srgbClr>
            </a:solidFill>
            <a:ln w="411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Subject supervision"/>
          <p:cNvGrpSpPr/>
          <p:nvPr/>
        </p:nvGrpSpPr>
        <p:grpSpPr>
          <a:xfrm>
            <a:off x="1024128" y="883771"/>
            <a:ext cx="3666744" cy="2888221"/>
            <a:chOff x="1024128" y="883771"/>
            <a:chExt cx="3666744" cy="2888221"/>
          </a:xfrm>
        </p:grpSpPr>
        <p:sp>
          <p:nvSpPr>
            <p:cNvPr id="32" name="Subject"/>
            <p:cNvSpPr txBox="1"/>
            <p:nvPr/>
          </p:nvSpPr>
          <p:spPr>
            <a:xfrm>
              <a:off x="1024128" y="2673340"/>
              <a:ext cx="1115597" cy="408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92" b="1" i="1" dirty="0">
                  <a:solidFill>
                    <a:srgbClr val="0B0B0B"/>
                  </a:solidFill>
                  <a:latin typeface="Liberation Serif"/>
                </a:rPr>
                <a:t>Subject</a:t>
              </a:r>
            </a:p>
          </p:txBody>
        </p:sp>
        <p:sp>
          <p:nvSpPr>
            <p:cNvPr id="33" name="path 27"/>
            <p:cNvSpPr/>
            <p:nvPr/>
          </p:nvSpPr>
          <p:spPr>
            <a:xfrm>
              <a:off x="2203704" y="1481328"/>
              <a:ext cx="704088" cy="630936"/>
            </a:xfrm>
            <a:custGeom>
              <a:avLst/>
              <a:gdLst/>
              <a:ahLst/>
              <a:cxnLst/>
              <a:rect l="0" t="0" r="r" b="b"/>
              <a:pathLst>
                <a:path w="704088" h="630936">
                  <a:moveTo>
                    <a:pt x="0" y="630936"/>
                  </a:moveTo>
                  <a:lnTo>
                    <a:pt x="57574" y="407449"/>
                  </a:lnTo>
                  <a:lnTo>
                    <a:pt x="112495" y="468738"/>
                  </a:lnTo>
                  <a:lnTo>
                    <a:pt x="530569" y="94100"/>
                  </a:lnTo>
                  <a:lnTo>
                    <a:pt x="475648" y="32811"/>
                  </a:lnTo>
                  <a:lnTo>
                    <a:pt x="704088" y="0"/>
                  </a:lnTo>
                  <a:lnTo>
                    <a:pt x="646514" y="223487"/>
                  </a:lnTo>
                  <a:lnTo>
                    <a:pt x="591593" y="162198"/>
                  </a:lnTo>
                  <a:lnTo>
                    <a:pt x="173519" y="536836"/>
                  </a:lnTo>
                  <a:lnTo>
                    <a:pt x="228440" y="598125"/>
                  </a:lnTo>
                  <a:close/>
                </a:path>
              </a:pathLst>
            </a:custGeom>
            <a:gradFill rotWithShape="1">
              <a:gsLst>
                <a:gs pos="0">
                  <a:srgbClr val="e0f3f5"/>
                </a:gs>
                <a:gs pos="100000">
                  <a:srgbClr val="9ed0e1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ath 28"/>
            <p:cNvSpPr/>
            <p:nvPr/>
          </p:nvSpPr>
          <p:spPr>
            <a:xfrm>
              <a:off x="2194560" y="2734056"/>
              <a:ext cx="694944" cy="621792"/>
            </a:xfrm>
            <a:custGeom>
              <a:avLst/>
              <a:gdLst/>
              <a:ahLst/>
              <a:cxnLst/>
              <a:rect l="0" t="0" r="r" b="b"/>
              <a:pathLst>
                <a:path w="694944" h="621792">
                  <a:moveTo>
                    <a:pt x="0" y="0"/>
                  </a:moveTo>
                  <a:lnTo>
                    <a:pt x="228465" y="32638"/>
                  </a:lnTo>
                  <a:lnTo>
                    <a:pt x="173590" y="93968"/>
                  </a:lnTo>
                  <a:lnTo>
                    <a:pt x="582326" y="459679"/>
                  </a:lnTo>
                  <a:lnTo>
                    <a:pt x="637200" y="398349"/>
                  </a:lnTo>
                  <a:lnTo>
                    <a:pt x="694944" y="621792"/>
                  </a:lnTo>
                  <a:lnTo>
                    <a:pt x="466479" y="589154"/>
                  </a:lnTo>
                  <a:lnTo>
                    <a:pt x="521354" y="527824"/>
                  </a:lnTo>
                  <a:lnTo>
                    <a:pt x="112618" y="162113"/>
                  </a:lnTo>
                  <a:lnTo>
                    <a:pt x="57744" y="223443"/>
                  </a:lnTo>
                  <a:close/>
                </a:path>
              </a:pathLst>
            </a:custGeom>
            <a:gradFill rotWithShape="1">
              <a:gsLst>
                <a:gs pos="0">
                  <a:srgbClr val="e0f3f5"/>
                </a:gs>
                <a:gs pos="100000">
                  <a:srgbClr val="9ed0e1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ath 29"/>
            <p:cNvSpPr/>
            <p:nvPr/>
          </p:nvSpPr>
          <p:spPr>
            <a:xfrm>
              <a:off x="2313432" y="2990088"/>
              <a:ext cx="411480" cy="173736"/>
            </a:xfrm>
            <a:custGeom>
              <a:avLst/>
              <a:gdLst/>
              <a:ahLst/>
              <a:cxnLst/>
              <a:rect l="0" t="0" r="r" b="b"/>
              <a:pathLst>
                <a:path w="411480" h="173736" fill="none">
                  <a:moveTo>
                    <a:pt x="0" y="173736"/>
                  </a:moveTo>
                  <a:lnTo>
                    <a:pt x="411480" y="0"/>
                  </a:lnTo>
                </a:path>
              </a:pathLst>
            </a:custGeom>
            <a:noFill/>
            <a:ln w="365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ℒ"/>
            <p:cNvSpPr txBox="1"/>
            <p:nvPr/>
          </p:nvSpPr>
          <p:spPr>
            <a:xfrm>
              <a:off x="2002536" y="909279"/>
              <a:ext cx="419524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74A5C7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37" name="cls"/>
            <p:cNvSpPr txBox="1"/>
            <p:nvPr/>
          </p:nvSpPr>
          <p:spPr>
            <a:xfrm>
              <a:off x="2284171" y="1105177"/>
              <a:ext cx="418538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0" i="1" dirty="0">
                  <a:solidFill>
                    <a:srgbClr val="74A5C7"/>
                  </a:solidFill>
                  <a:latin typeface="Liberation Serif"/>
                </a:rPr>
                <a:t>cls</a:t>
              </a:r>
            </a:p>
          </p:txBody>
        </p:sp>
        <p:sp>
          <p:nvSpPr>
            <p:cNvPr id="38" name="E"/>
            <p:cNvSpPr txBox="1"/>
            <p:nvPr/>
          </p:nvSpPr>
          <p:spPr>
            <a:xfrm>
              <a:off x="2293315" y="883771"/>
              <a:ext cx="286593" cy="32927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90" b="1" i="1" dirty="0">
                  <a:solidFill>
                    <a:srgbClr val="74A5C7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39" name="ℒ"/>
            <p:cNvSpPr txBox="1"/>
            <p:nvPr/>
          </p:nvSpPr>
          <p:spPr>
            <a:xfrm>
              <a:off x="2002536" y="3231855"/>
              <a:ext cx="419524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74A5C7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40" name="dis"/>
            <p:cNvSpPr txBox="1"/>
            <p:nvPr/>
          </p:nvSpPr>
          <p:spPr>
            <a:xfrm>
              <a:off x="2284171" y="3427753"/>
              <a:ext cx="434140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0" i="1" dirty="0">
                  <a:solidFill>
                    <a:srgbClr val="74A5C7"/>
                  </a:solidFill>
                  <a:latin typeface="Liberation Serif"/>
                </a:rPr>
                <a:t>dis</a:t>
              </a:r>
            </a:p>
          </p:txBody>
        </p:sp>
        <p:sp>
          <p:nvSpPr>
            <p:cNvPr id="41" name="E"/>
            <p:cNvSpPr txBox="1"/>
            <p:nvPr/>
          </p:nvSpPr>
          <p:spPr>
            <a:xfrm>
              <a:off x="2293315" y="3206347"/>
              <a:ext cx="286593" cy="32927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90" b="1" i="1" dirty="0">
                  <a:solidFill>
                    <a:srgbClr val="74A5C7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42" name="path 36"/>
            <p:cNvSpPr/>
            <p:nvPr/>
          </p:nvSpPr>
          <p:spPr>
            <a:xfrm>
              <a:off x="3163824" y="1179576"/>
              <a:ext cx="886968" cy="448056"/>
            </a:xfrm>
            <a:custGeom>
              <a:avLst/>
              <a:gdLst/>
              <a:ahLst/>
              <a:cxnLst/>
              <a:rect l="0" t="0" r="r" b="b"/>
              <a:pathLst>
                <a:path w="886968" h="448056">
                  <a:moveTo>
                    <a:pt x="82296" y="0"/>
                  </a:moveTo>
                  <a:lnTo>
                    <a:pt x="804672" y="0"/>
                  </a:lnTo>
                  <a:cubicBezTo>
                    <a:pt x="850123" y="0"/>
                    <a:pt x="886968" y="36845"/>
                    <a:pt x="886968" y="82296"/>
                  </a:cubicBezTo>
                  <a:lnTo>
                    <a:pt x="886968" y="365760"/>
                  </a:lnTo>
                  <a:cubicBezTo>
                    <a:pt x="886968" y="411211"/>
                    <a:pt x="850123" y="448056"/>
                    <a:pt x="804672" y="448056"/>
                  </a:cubicBezTo>
                  <a:lnTo>
                    <a:pt x="82296" y="448056"/>
                  </a:lnTo>
                  <a:cubicBezTo>
                    <a:pt x="36845" y="448056"/>
                    <a:pt x="0" y="411211"/>
                    <a:pt x="0" y="365760"/>
                  </a:cubicBezTo>
                  <a:lnTo>
                    <a:pt x="0" y="82296"/>
                  </a:lnTo>
                  <a:cubicBezTo>
                    <a:pt x="0" y="36845"/>
                    <a:pt x="36845" y="0"/>
                    <a:pt x="822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0e9eb"/>
                </a:gs>
                <a:gs pos="100000">
                  <a:srgbClr val="dce7e9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CLS"/>
            <p:cNvSpPr txBox="1"/>
            <p:nvPr/>
          </p:nvSpPr>
          <p:spPr>
            <a:xfrm>
              <a:off x="3300584" y="1191920"/>
              <a:ext cx="732320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CLS</a:t>
              </a:r>
            </a:p>
          </p:txBody>
        </p:sp>
        <p:sp>
          <p:nvSpPr>
            <p:cNvPr id="44" name="path 38"/>
            <p:cNvSpPr/>
            <p:nvPr/>
          </p:nvSpPr>
          <p:spPr>
            <a:xfrm>
              <a:off x="3017520" y="2871216"/>
              <a:ext cx="886968" cy="457200"/>
            </a:xfrm>
            <a:custGeom>
              <a:avLst/>
              <a:gdLst/>
              <a:ahLst/>
              <a:cxnLst/>
              <a:rect l="0" t="0" r="r" b="b"/>
              <a:pathLst>
                <a:path w="886968" h="457200">
                  <a:moveTo>
                    <a:pt x="82296" y="0"/>
                  </a:moveTo>
                  <a:lnTo>
                    <a:pt x="804672" y="0"/>
                  </a:lnTo>
                  <a:cubicBezTo>
                    <a:pt x="850123" y="0"/>
                    <a:pt x="886968" y="36845"/>
                    <a:pt x="886968" y="82296"/>
                  </a:cubicBezTo>
                  <a:lnTo>
                    <a:pt x="886968" y="374904"/>
                  </a:lnTo>
                  <a:cubicBezTo>
                    <a:pt x="886968" y="420355"/>
                    <a:pt x="850123" y="457200"/>
                    <a:pt x="804672" y="457200"/>
                  </a:cubicBezTo>
                  <a:lnTo>
                    <a:pt x="82296" y="457200"/>
                  </a:lnTo>
                  <a:cubicBezTo>
                    <a:pt x="36845" y="457200"/>
                    <a:pt x="0" y="420355"/>
                    <a:pt x="0" y="374904"/>
                  </a:cubicBezTo>
                  <a:lnTo>
                    <a:pt x="0" y="82296"/>
                  </a:lnTo>
                  <a:cubicBezTo>
                    <a:pt x="0" y="36845"/>
                    <a:pt x="36845" y="0"/>
                    <a:pt x="822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0d5"/>
                </a:gs>
                <a:gs pos="100000">
                  <a:srgbClr val="f3b7ad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73152" dist="77589" dir="2700000" algn="tl" rotWithShape="0">
                <a:srgbClr val="e9ab8a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GRL"/>
            <p:cNvSpPr txBox="1"/>
            <p:nvPr/>
          </p:nvSpPr>
          <p:spPr>
            <a:xfrm>
              <a:off x="3118811" y="2883560"/>
              <a:ext cx="803258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GRL</a:t>
              </a:r>
            </a:p>
          </p:txBody>
        </p:sp>
        <p:sp>
          <p:nvSpPr>
            <p:cNvPr id="46" name="path 40"/>
            <p:cNvSpPr/>
            <p:nvPr/>
          </p:nvSpPr>
          <p:spPr>
            <a:xfrm>
              <a:off x="3182112" y="3246120"/>
              <a:ext cx="886968" cy="448056"/>
            </a:xfrm>
            <a:custGeom>
              <a:avLst/>
              <a:gdLst/>
              <a:ahLst/>
              <a:cxnLst/>
              <a:rect l="0" t="0" r="r" b="b"/>
              <a:pathLst>
                <a:path w="886968" h="448056">
                  <a:moveTo>
                    <a:pt x="82296" y="0"/>
                  </a:moveTo>
                  <a:lnTo>
                    <a:pt x="804672" y="0"/>
                  </a:lnTo>
                  <a:cubicBezTo>
                    <a:pt x="850123" y="0"/>
                    <a:pt x="886968" y="36845"/>
                    <a:pt x="886968" y="82296"/>
                  </a:cubicBezTo>
                  <a:lnTo>
                    <a:pt x="886968" y="365760"/>
                  </a:lnTo>
                  <a:cubicBezTo>
                    <a:pt x="886968" y="411211"/>
                    <a:pt x="850123" y="448056"/>
                    <a:pt x="804672" y="448056"/>
                  </a:cubicBezTo>
                  <a:lnTo>
                    <a:pt x="82296" y="448056"/>
                  </a:lnTo>
                  <a:cubicBezTo>
                    <a:pt x="36845" y="448056"/>
                    <a:pt x="0" y="411211"/>
                    <a:pt x="0" y="365760"/>
                  </a:cubicBezTo>
                  <a:lnTo>
                    <a:pt x="0" y="82296"/>
                  </a:lnTo>
                  <a:cubicBezTo>
                    <a:pt x="0" y="36845"/>
                    <a:pt x="36845" y="0"/>
                    <a:pt x="8229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0e9eb"/>
                </a:gs>
                <a:gs pos="100000">
                  <a:srgbClr val="dce7e9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S"/>
            <p:cNvSpPr txBox="1"/>
            <p:nvPr/>
          </p:nvSpPr>
          <p:spPr>
            <a:xfrm>
              <a:off x="3363335" y="3258464"/>
              <a:ext cx="643395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DIS</a:t>
              </a:r>
            </a:p>
          </p:txBody>
        </p:sp>
        <p:sp>
          <p:nvSpPr>
            <p:cNvPr id="48" name="path 42"/>
            <p:cNvSpPr/>
            <p:nvPr/>
          </p:nvSpPr>
          <p:spPr>
            <a:xfrm>
              <a:off x="4395064" y="1380744"/>
              <a:ext cx="295808" cy="914"/>
            </a:xfrm>
            <a:custGeom>
              <a:avLst/>
              <a:gdLst/>
              <a:ahLst/>
              <a:cxnLst/>
              <a:rect l="0" t="0" r="r" b="b"/>
              <a:pathLst>
                <a:path w="295808" h="914" fill="none">
                  <a:moveTo>
                    <a:pt x="295808" y="0"/>
                  </a:moveTo>
                  <a:lnTo>
                    <a:pt x="0" y="0"/>
                  </a:lnTo>
                </a:path>
              </a:pathLst>
            </a:custGeom>
            <a:noFill/>
            <a:ln w="64008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ath 43"/>
            <p:cNvSpPr/>
            <p:nvPr/>
          </p:nvSpPr>
          <p:spPr>
            <a:xfrm>
              <a:off x="4270248" y="1280892"/>
              <a:ext cx="192024" cy="199705"/>
            </a:xfrm>
            <a:custGeom>
              <a:avLst/>
              <a:gdLst/>
              <a:ahLst/>
              <a:cxnLst/>
              <a:rect l="0" t="0" r="r" b="b"/>
              <a:pathLst>
                <a:path w="192024" h="199705">
                  <a:moveTo>
                    <a:pt x="0" y="99852"/>
                  </a:moveTo>
                  <a:lnTo>
                    <a:pt x="192024" y="0"/>
                  </a:lnTo>
                  <a:lnTo>
                    <a:pt x="192024" y="199705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path 44"/>
            <p:cNvSpPr/>
            <p:nvPr/>
          </p:nvSpPr>
          <p:spPr>
            <a:xfrm>
              <a:off x="4395064" y="3337560"/>
              <a:ext cx="295808" cy="914"/>
            </a:xfrm>
            <a:custGeom>
              <a:avLst/>
              <a:gdLst/>
              <a:ahLst/>
              <a:cxnLst/>
              <a:rect l="0" t="0" r="r" b="b"/>
              <a:pathLst>
                <a:path w="295808" h="914" fill="none">
                  <a:moveTo>
                    <a:pt x="295808" y="0"/>
                  </a:moveTo>
                  <a:lnTo>
                    <a:pt x="0" y="0"/>
                  </a:lnTo>
                </a:path>
              </a:pathLst>
            </a:custGeom>
            <a:noFill/>
            <a:ln w="64008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ath 45"/>
            <p:cNvSpPr/>
            <p:nvPr/>
          </p:nvSpPr>
          <p:spPr>
            <a:xfrm>
              <a:off x="4270248" y="3237708"/>
              <a:ext cx="192024" cy="199705"/>
            </a:xfrm>
            <a:custGeom>
              <a:avLst/>
              <a:gdLst/>
              <a:ahLst/>
              <a:cxnLst/>
              <a:rect l="0" t="0" r="r" b="b"/>
              <a:pathLst>
                <a:path w="192024" h="199705">
                  <a:moveTo>
                    <a:pt x="0" y="99852"/>
                  </a:moveTo>
                  <a:lnTo>
                    <a:pt x="192024" y="0"/>
                  </a:lnTo>
                  <a:lnTo>
                    <a:pt x="192024" y="199705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Training encoder / fMRI monitor"/>
          <p:cNvGrpSpPr/>
          <p:nvPr/>
        </p:nvGrpSpPr>
        <p:grpSpPr>
          <a:xfrm>
            <a:off x="978408" y="4517136"/>
            <a:ext cx="1078992" cy="1115568"/>
            <a:chOff x="978408" y="4517136"/>
            <a:chExt cx="1078992" cy="1115568"/>
          </a:xfrm>
        </p:grpSpPr>
        <p:sp>
          <p:nvSpPr>
            <p:cNvPr id="53" name="path 46"/>
            <p:cNvSpPr/>
            <p:nvPr/>
          </p:nvSpPr>
          <p:spPr>
            <a:xfrm>
              <a:off x="978408" y="4517136"/>
              <a:ext cx="1078992" cy="914400"/>
            </a:xfrm>
            <a:custGeom>
              <a:avLst/>
              <a:gdLst/>
              <a:ahLst/>
              <a:cxnLst/>
              <a:rect l="0" t="0" r="r" b="b"/>
              <a:pathLst>
                <a:path w="1078992" h="914400">
                  <a:moveTo>
                    <a:pt x="45720" y="0"/>
                  </a:moveTo>
                  <a:lnTo>
                    <a:pt x="1033272" y="0"/>
                  </a:lnTo>
                  <a:cubicBezTo>
                    <a:pt x="1058522" y="0"/>
                    <a:pt x="1078992" y="20470"/>
                    <a:pt x="1078992" y="45720"/>
                  </a:cubicBezTo>
                  <a:lnTo>
                    <a:pt x="1078992" y="868680"/>
                  </a:lnTo>
                  <a:cubicBezTo>
                    <a:pt x="1078992" y="893930"/>
                    <a:pt x="1058522" y="914400"/>
                    <a:pt x="1033272" y="914400"/>
                  </a:cubicBezTo>
                  <a:lnTo>
                    <a:pt x="45720" y="914400"/>
                  </a:lnTo>
                  <a:cubicBezTo>
                    <a:pt x="20470" y="914400"/>
                    <a:pt x="0" y="893930"/>
                    <a:pt x="0" y="8686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8d8592">
                <a:alpha val="100000"/>
              </a:srgbClr>
            </a:solidFill>
            <a:ln w="365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ath 47"/>
            <p:cNvSpPr/>
            <p:nvPr/>
          </p:nvSpPr>
          <p:spPr>
            <a:xfrm>
              <a:off x="1060704" y="4599432"/>
              <a:ext cx="914400" cy="740664"/>
            </a:xfrm>
            <a:custGeom>
              <a:avLst/>
              <a:gdLst/>
              <a:ahLst/>
              <a:cxnLst/>
              <a:rect l="0" t="0" r="r" b="b"/>
              <a:pathLst>
                <a:path w="914400" h="740664">
                  <a:moveTo>
                    <a:pt x="0" y="0"/>
                  </a:moveTo>
                  <a:lnTo>
                    <a:pt x="914400" y="0"/>
                  </a:lnTo>
                  <a:lnTo>
                    <a:pt x="914400" y="740664"/>
                  </a:lnTo>
                  <a:lnTo>
                    <a:pt x="0" y="740664"/>
                  </a:lnTo>
                  <a:close/>
                </a:path>
              </a:pathLst>
            </a:custGeom>
            <a:solidFill>
              <a:srgbClr val="d9edf4">
                <a:alpha val="100000"/>
              </a:srgbClr>
            </a:solidFill>
            <a:ln w="365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ath 48"/>
            <p:cNvSpPr/>
            <p:nvPr/>
          </p:nvSpPr>
          <p:spPr>
            <a:xfrm>
              <a:off x="1389888" y="5431536"/>
              <a:ext cx="265176" cy="91440"/>
            </a:xfrm>
            <a:custGeom>
              <a:avLst/>
              <a:gdLst/>
              <a:ahLst/>
              <a:cxnLst/>
              <a:rect l="0" t="0" r="r" b="b"/>
              <a:pathLst>
                <a:path w="265176" h="91440">
                  <a:moveTo>
                    <a:pt x="0" y="0"/>
                  </a:moveTo>
                  <a:lnTo>
                    <a:pt x="265176" y="0"/>
                  </a:lnTo>
                  <a:lnTo>
                    <a:pt x="265176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9b939d">
                <a:alpha val="100000"/>
              </a:srgbClr>
            </a:solidFill>
            <a:ln w="3200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ath 49"/>
            <p:cNvSpPr/>
            <p:nvPr/>
          </p:nvSpPr>
          <p:spPr>
            <a:xfrm>
              <a:off x="1207008" y="5522976"/>
              <a:ext cx="649224" cy="109728"/>
            </a:xfrm>
            <a:custGeom>
              <a:avLst/>
              <a:gdLst/>
              <a:ahLst/>
              <a:cxnLst/>
              <a:rect l="0" t="0" r="r" b="b"/>
              <a:pathLst>
                <a:path w="649224" h="109728">
                  <a:moveTo>
                    <a:pt x="18288" y="0"/>
                  </a:moveTo>
                  <a:lnTo>
                    <a:pt x="630936" y="0"/>
                  </a:lnTo>
                  <a:cubicBezTo>
                    <a:pt x="641036" y="0"/>
                    <a:pt x="649224" y="8188"/>
                    <a:pt x="649224" y="18288"/>
                  </a:cubicBezTo>
                  <a:lnTo>
                    <a:pt x="649224" y="91440"/>
                  </a:lnTo>
                  <a:cubicBezTo>
                    <a:pt x="649224" y="101540"/>
                    <a:pt x="641036" y="109728"/>
                    <a:pt x="630936" y="109728"/>
                  </a:cubicBezTo>
                  <a:lnTo>
                    <a:pt x="18288" y="109728"/>
                  </a:lnTo>
                  <a:cubicBezTo>
                    <a:pt x="8188" y="109728"/>
                    <a:pt x="0" y="101540"/>
                    <a:pt x="0" y="91440"/>
                  </a:cubicBezTo>
                  <a:lnTo>
                    <a:pt x="0" y="18288"/>
                  </a:lnTo>
                  <a:cubicBezTo>
                    <a:pt x="0" y="8188"/>
                    <a:pt x="8188" y="0"/>
                    <a:pt x="18288" y="0"/>
                  </a:cubicBezTo>
                  <a:close/>
                </a:path>
              </a:pathLst>
            </a:custGeom>
            <a:solidFill>
              <a:srgbClr val="827a86">
                <a:alpha val="100000"/>
              </a:srgbClr>
            </a:solidFill>
            <a:ln w="3200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ath 50"/>
            <p:cNvSpPr/>
            <p:nvPr/>
          </p:nvSpPr>
          <p:spPr>
            <a:xfrm>
              <a:off x="1298448" y="5550408"/>
              <a:ext cx="109728" cy="73152"/>
            </a:xfrm>
            <a:custGeom>
              <a:avLst/>
              <a:gdLst/>
              <a:ahLst/>
              <a:cxnLst/>
              <a:rect l="0" t="0" r="r" b="b"/>
              <a:pathLst>
                <a:path w="109728" h="73152">
                  <a:moveTo>
                    <a:pt x="0" y="0"/>
                  </a:moveTo>
                  <a:lnTo>
                    <a:pt x="109728" y="0"/>
                  </a:lnTo>
                  <a:lnTo>
                    <a:pt x="10972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828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ath 51"/>
            <p:cNvSpPr/>
            <p:nvPr/>
          </p:nvSpPr>
          <p:spPr>
            <a:xfrm>
              <a:off x="1490472" y="5550408"/>
              <a:ext cx="109728" cy="73152"/>
            </a:xfrm>
            <a:custGeom>
              <a:avLst/>
              <a:gdLst/>
              <a:ahLst/>
              <a:cxnLst/>
              <a:rect l="0" t="0" r="r" b="b"/>
              <a:pathLst>
                <a:path w="109728" h="73152">
                  <a:moveTo>
                    <a:pt x="0" y="0"/>
                  </a:moveTo>
                  <a:lnTo>
                    <a:pt x="109728" y="0"/>
                  </a:lnTo>
                  <a:lnTo>
                    <a:pt x="10972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828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path 52"/>
            <p:cNvSpPr/>
            <p:nvPr/>
          </p:nvSpPr>
          <p:spPr>
            <a:xfrm>
              <a:off x="1691640" y="5550408"/>
              <a:ext cx="109728" cy="73152"/>
            </a:xfrm>
            <a:custGeom>
              <a:avLst/>
              <a:gdLst/>
              <a:ahLst/>
              <a:cxnLst/>
              <a:rect l="0" t="0" r="r" b="b"/>
              <a:pathLst>
                <a:path w="109728" h="73152">
                  <a:moveTo>
                    <a:pt x="0" y="0"/>
                  </a:moveTo>
                  <a:lnTo>
                    <a:pt x="109728" y="0"/>
                  </a:lnTo>
                  <a:lnTo>
                    <a:pt x="109728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828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ath 53"/>
            <p:cNvSpPr/>
            <p:nvPr/>
          </p:nvSpPr>
          <p:spPr>
            <a:xfrm>
              <a:off x="1161288" y="4681728"/>
              <a:ext cx="914" cy="576072"/>
            </a:xfrm>
            <a:custGeom>
              <a:avLst/>
              <a:gdLst/>
              <a:ahLst/>
              <a:cxnLst/>
              <a:rect l="0" t="0" r="r" b="b"/>
              <a:pathLst>
                <a:path w="914" h="576072" fill="none">
                  <a:moveTo>
                    <a:pt x="0" y="0"/>
                  </a:moveTo>
                  <a:lnTo>
                    <a:pt x="0" y="576072"/>
                  </a:lnTo>
                </a:path>
              </a:pathLst>
            </a:custGeom>
            <a:noFill/>
            <a:ln w="2743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ath 54"/>
            <p:cNvSpPr/>
            <p:nvPr/>
          </p:nvSpPr>
          <p:spPr>
            <a:xfrm>
              <a:off x="1115568" y="4681728"/>
              <a:ext cx="91440" cy="914"/>
            </a:xfrm>
            <a:custGeom>
              <a:avLst/>
              <a:gdLst/>
              <a:ahLst/>
              <a:cxnLst/>
              <a:rect l="0" t="0" r="r" b="b"/>
              <a:pathLst>
                <a:path w="91440" h="914" fill="none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2743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path 55"/>
            <p:cNvSpPr/>
            <p:nvPr/>
          </p:nvSpPr>
          <p:spPr>
            <a:xfrm>
              <a:off x="1115568" y="4837176"/>
              <a:ext cx="91440" cy="914"/>
            </a:xfrm>
            <a:custGeom>
              <a:avLst/>
              <a:gdLst/>
              <a:ahLst/>
              <a:cxnLst/>
              <a:rect l="0" t="0" r="r" b="b"/>
              <a:pathLst>
                <a:path w="91440" h="914" fill="none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2743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ath 56"/>
            <p:cNvSpPr/>
            <p:nvPr/>
          </p:nvSpPr>
          <p:spPr>
            <a:xfrm>
              <a:off x="1115568" y="5010912"/>
              <a:ext cx="91440" cy="914"/>
            </a:xfrm>
            <a:custGeom>
              <a:avLst/>
              <a:gdLst/>
              <a:ahLst/>
              <a:cxnLst/>
              <a:rect l="0" t="0" r="r" b="b"/>
              <a:pathLst>
                <a:path w="91440" h="914" fill="none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2743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ath 57"/>
            <p:cNvSpPr/>
            <p:nvPr/>
          </p:nvSpPr>
          <p:spPr>
            <a:xfrm>
              <a:off x="1115568" y="5257800"/>
              <a:ext cx="91440" cy="914"/>
            </a:xfrm>
            <a:custGeom>
              <a:avLst/>
              <a:gdLst/>
              <a:ahLst/>
              <a:cxnLst/>
              <a:rect l="0" t="0" r="r" b="b"/>
              <a:pathLst>
                <a:path w="91440" h="914" fill="none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2743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path 58"/>
            <p:cNvSpPr/>
            <p:nvPr/>
          </p:nvSpPr>
          <p:spPr>
            <a:xfrm>
              <a:off x="1737360" y="5212080"/>
              <a:ext cx="173736" cy="914"/>
            </a:xfrm>
            <a:custGeom>
              <a:avLst/>
              <a:gdLst/>
              <a:ahLst/>
              <a:cxnLst/>
              <a:rect l="0" t="0" r="r" b="b"/>
              <a:pathLst>
                <a:path w="173736" h="914" fill="none">
                  <a:moveTo>
                    <a:pt x="0" y="0"/>
                  </a:moveTo>
                  <a:lnTo>
                    <a:pt x="173736" y="0"/>
                  </a:lnTo>
                </a:path>
              </a:pathLst>
            </a:custGeom>
            <a:noFill/>
            <a:ln w="2743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ath 59"/>
            <p:cNvSpPr/>
            <p:nvPr/>
          </p:nvSpPr>
          <p:spPr>
            <a:xfrm>
              <a:off x="1792224" y="5120640"/>
              <a:ext cx="118872" cy="914"/>
            </a:xfrm>
            <a:custGeom>
              <a:avLst/>
              <a:gdLst/>
              <a:ahLst/>
              <a:cxnLst/>
              <a:rect l="0" t="0" r="r" b="b"/>
              <a:pathLst>
                <a:path w="118872" h="914" fill="none">
                  <a:moveTo>
                    <a:pt x="0" y="0"/>
                  </a:moveTo>
                  <a:lnTo>
                    <a:pt x="118872" y="0"/>
                  </a:lnTo>
                </a:path>
              </a:pathLst>
            </a:custGeom>
            <a:noFill/>
            <a:ln w="2743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" name="Training encoder / fMRI monitor / Brain"/>
          <p:cNvGrpSpPr/>
          <p:nvPr/>
        </p:nvGrpSpPr>
        <p:grpSpPr>
          <a:xfrm>
            <a:off x="1222187" y="4617720"/>
            <a:ext cx="577718" cy="649041"/>
            <a:chOff x="1222187" y="4617720"/>
            <a:chExt cx="577718" cy="649041"/>
          </a:xfrm>
        </p:grpSpPr>
        <p:sp>
          <p:nvSpPr>
            <p:cNvPr id="68" name="path 60"/>
            <p:cNvSpPr/>
            <p:nvPr/>
          </p:nvSpPr>
          <p:spPr>
            <a:xfrm>
              <a:off x="1222187" y="4617720"/>
              <a:ext cx="577718" cy="649041"/>
            </a:xfrm>
            <a:custGeom>
              <a:avLst/>
              <a:gdLst/>
              <a:ahLst/>
              <a:cxnLst/>
              <a:rect l="0" t="0" r="r" b="b"/>
              <a:pathLst>
                <a:path w="577718" h="649041">
                  <a:moveTo>
                    <a:pt x="285293" y="42794"/>
                  </a:moveTo>
                  <a:cubicBezTo>
                    <a:pt x="235367" y="0"/>
                    <a:pt x="185440" y="28529"/>
                    <a:pt x="164043" y="71323"/>
                  </a:cubicBezTo>
                  <a:cubicBezTo>
                    <a:pt x="106985" y="57059"/>
                    <a:pt x="78456" y="99852"/>
                    <a:pt x="78456" y="149779"/>
                  </a:cubicBezTo>
                  <a:cubicBezTo>
                    <a:pt x="28529" y="164043"/>
                    <a:pt x="21397" y="221102"/>
                    <a:pt x="42794" y="256764"/>
                  </a:cubicBezTo>
                  <a:cubicBezTo>
                    <a:pt x="0" y="299557"/>
                    <a:pt x="7132" y="363748"/>
                    <a:pt x="42794" y="392278"/>
                  </a:cubicBezTo>
                  <a:cubicBezTo>
                    <a:pt x="14265" y="449336"/>
                    <a:pt x="42794" y="506395"/>
                    <a:pt x="92720" y="520659"/>
                  </a:cubicBezTo>
                  <a:cubicBezTo>
                    <a:pt x="99852" y="584850"/>
                    <a:pt x="156911" y="613380"/>
                    <a:pt x="192573" y="584850"/>
                  </a:cubicBezTo>
                  <a:cubicBezTo>
                    <a:pt x="221102" y="649041"/>
                    <a:pt x="285293" y="627644"/>
                    <a:pt x="299557" y="577718"/>
                  </a:cubicBezTo>
                  <a:cubicBezTo>
                    <a:pt x="320954" y="634776"/>
                    <a:pt x="392278" y="627644"/>
                    <a:pt x="420807" y="570586"/>
                  </a:cubicBezTo>
                  <a:cubicBezTo>
                    <a:pt x="484998" y="570586"/>
                    <a:pt x="520659" y="520659"/>
                    <a:pt x="513527" y="470733"/>
                  </a:cubicBezTo>
                  <a:cubicBezTo>
                    <a:pt x="563453" y="442204"/>
                    <a:pt x="570586" y="370881"/>
                    <a:pt x="534924" y="328087"/>
                  </a:cubicBezTo>
                  <a:cubicBezTo>
                    <a:pt x="577718" y="256764"/>
                    <a:pt x="534924" y="199705"/>
                    <a:pt x="492130" y="192573"/>
                  </a:cubicBezTo>
                  <a:cubicBezTo>
                    <a:pt x="499262" y="121249"/>
                    <a:pt x="449336" y="92720"/>
                    <a:pt x="413675" y="92720"/>
                  </a:cubicBezTo>
                  <a:cubicBezTo>
                    <a:pt x="399410" y="35662"/>
                    <a:pt x="349484" y="14265"/>
                    <a:pt x="306690" y="49926"/>
                  </a:cubicBezTo>
                  <a:cubicBezTo>
                    <a:pt x="299557" y="49926"/>
                    <a:pt x="292425" y="42794"/>
                    <a:pt x="285293" y="42794"/>
                  </a:cubicBezTo>
                  <a:close/>
                </a:path>
              </a:pathLst>
            </a:custGeom>
            <a:solidFill>
              <a:srgbClr val="f8b8a5">
                <a:alpha val="100000"/>
              </a:srgbClr>
            </a:solidFill>
            <a:ln w="2852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ath 61"/>
            <p:cNvSpPr/>
            <p:nvPr/>
          </p:nvSpPr>
          <p:spPr>
            <a:xfrm>
              <a:off x="1464686" y="4681911"/>
              <a:ext cx="57059" cy="549189"/>
            </a:xfrm>
            <a:custGeom>
              <a:avLst/>
              <a:gdLst/>
              <a:ahLst/>
              <a:cxnLst/>
              <a:rect l="0" t="0" r="r" b="b"/>
              <a:pathLst>
                <a:path w="57059" h="549189" fill="none">
                  <a:moveTo>
                    <a:pt x="57059" y="0"/>
                  </a:moveTo>
                  <a:lnTo>
                    <a:pt x="57059" y="470733"/>
                  </a:lnTo>
                  <a:cubicBezTo>
                    <a:pt x="57059" y="527792"/>
                    <a:pt x="28529" y="549189"/>
                    <a:pt x="0" y="549189"/>
                  </a:cubicBezTo>
                </a:path>
              </a:pathLst>
            </a:custGeom>
            <a:noFill/>
            <a:ln w="2710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ath 62"/>
            <p:cNvSpPr/>
            <p:nvPr/>
          </p:nvSpPr>
          <p:spPr>
            <a:xfrm>
              <a:off x="1386230" y="4696176"/>
              <a:ext cx="35662" cy="85588"/>
            </a:xfrm>
            <a:custGeom>
              <a:avLst/>
              <a:gdLst/>
              <a:ahLst/>
              <a:cxnLst/>
              <a:rect l="0" t="0" r="r" b="b"/>
              <a:pathLst>
                <a:path w="35662" h="85588" fill="none">
                  <a:moveTo>
                    <a:pt x="14265" y="0"/>
                  </a:moveTo>
                  <a:cubicBezTo>
                    <a:pt x="0" y="42794"/>
                    <a:pt x="35662" y="49926"/>
                    <a:pt x="35662" y="85588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path 63"/>
            <p:cNvSpPr/>
            <p:nvPr/>
          </p:nvSpPr>
          <p:spPr>
            <a:xfrm>
              <a:off x="1322040" y="4753234"/>
              <a:ext cx="78456" cy="71323"/>
            </a:xfrm>
            <a:custGeom>
              <a:avLst/>
              <a:gdLst/>
              <a:ahLst/>
              <a:cxnLst/>
              <a:rect l="0" t="0" r="r" b="b"/>
              <a:pathLst>
                <a:path w="78456" h="71323" fill="none">
                  <a:moveTo>
                    <a:pt x="0" y="28529"/>
                  </a:moveTo>
                  <a:cubicBezTo>
                    <a:pt x="64191" y="0"/>
                    <a:pt x="78456" y="42794"/>
                    <a:pt x="57059" y="71323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ath 64"/>
            <p:cNvSpPr/>
            <p:nvPr/>
          </p:nvSpPr>
          <p:spPr>
            <a:xfrm>
              <a:off x="1343436" y="4817425"/>
              <a:ext cx="85588" cy="64191"/>
            </a:xfrm>
            <a:custGeom>
              <a:avLst/>
              <a:gdLst/>
              <a:ahLst/>
              <a:cxnLst/>
              <a:rect l="0" t="0" r="r" b="b"/>
              <a:pathLst>
                <a:path w="85588" h="64191" fill="none">
                  <a:moveTo>
                    <a:pt x="0" y="35662"/>
                  </a:moveTo>
                  <a:cubicBezTo>
                    <a:pt x="42794" y="64191"/>
                    <a:pt x="85588" y="35662"/>
                    <a:pt x="78456" y="0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ath 65"/>
            <p:cNvSpPr/>
            <p:nvPr/>
          </p:nvSpPr>
          <p:spPr>
            <a:xfrm>
              <a:off x="1272113" y="4874484"/>
              <a:ext cx="85588" cy="78456"/>
            </a:xfrm>
            <a:custGeom>
              <a:avLst/>
              <a:gdLst/>
              <a:ahLst/>
              <a:cxnLst/>
              <a:rect l="0" t="0" r="r" b="b"/>
              <a:pathLst>
                <a:path w="85588" h="78456" fill="none">
                  <a:moveTo>
                    <a:pt x="0" y="28529"/>
                  </a:moveTo>
                  <a:cubicBezTo>
                    <a:pt x="57059" y="0"/>
                    <a:pt x="85588" y="42794"/>
                    <a:pt x="85588" y="78456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ath 66"/>
            <p:cNvSpPr/>
            <p:nvPr/>
          </p:nvSpPr>
          <p:spPr>
            <a:xfrm>
              <a:off x="1357701" y="4938674"/>
              <a:ext cx="92720" cy="71323"/>
            </a:xfrm>
            <a:custGeom>
              <a:avLst/>
              <a:gdLst/>
              <a:ahLst/>
              <a:cxnLst/>
              <a:rect l="0" t="0" r="r" b="b"/>
              <a:pathLst>
                <a:path w="92720" h="71323" fill="none">
                  <a:moveTo>
                    <a:pt x="0" y="28529"/>
                  </a:moveTo>
                  <a:cubicBezTo>
                    <a:pt x="28529" y="71323"/>
                    <a:pt x="85588" y="42794"/>
                    <a:pt x="92720" y="0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ath 67"/>
            <p:cNvSpPr/>
            <p:nvPr/>
          </p:nvSpPr>
          <p:spPr>
            <a:xfrm>
              <a:off x="1300643" y="5002865"/>
              <a:ext cx="85588" cy="78456"/>
            </a:xfrm>
            <a:custGeom>
              <a:avLst/>
              <a:gdLst/>
              <a:ahLst/>
              <a:cxnLst/>
              <a:rect l="0" t="0" r="r" b="b"/>
              <a:pathLst>
                <a:path w="85588" h="78456" fill="none">
                  <a:moveTo>
                    <a:pt x="0" y="42794"/>
                  </a:moveTo>
                  <a:cubicBezTo>
                    <a:pt x="42794" y="0"/>
                    <a:pt x="85588" y="35662"/>
                    <a:pt x="78456" y="78456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ath 68"/>
            <p:cNvSpPr/>
            <p:nvPr/>
          </p:nvSpPr>
          <p:spPr>
            <a:xfrm>
              <a:off x="1407627" y="5095585"/>
              <a:ext cx="57059" cy="71323"/>
            </a:xfrm>
            <a:custGeom>
              <a:avLst/>
              <a:gdLst/>
              <a:ahLst/>
              <a:cxnLst/>
              <a:rect l="0" t="0" r="r" b="b"/>
              <a:pathLst>
                <a:path w="57059" h="71323" fill="none">
                  <a:moveTo>
                    <a:pt x="0" y="14265"/>
                  </a:moveTo>
                  <a:cubicBezTo>
                    <a:pt x="57059" y="0"/>
                    <a:pt x="57059" y="42794"/>
                    <a:pt x="28529" y="71323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path 69"/>
            <p:cNvSpPr/>
            <p:nvPr/>
          </p:nvSpPr>
          <p:spPr>
            <a:xfrm>
              <a:off x="1450421" y="4860219"/>
              <a:ext cx="64191" cy="42794"/>
            </a:xfrm>
            <a:custGeom>
              <a:avLst/>
              <a:gdLst/>
              <a:ahLst/>
              <a:cxnLst/>
              <a:rect l="0" t="0" r="r" b="b"/>
              <a:pathLst>
                <a:path w="64191" h="42794" fill="none">
                  <a:moveTo>
                    <a:pt x="0" y="35662"/>
                  </a:moveTo>
                  <a:cubicBezTo>
                    <a:pt x="49926" y="42794"/>
                    <a:pt x="64191" y="21397"/>
                    <a:pt x="64191" y="0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ath 70"/>
            <p:cNvSpPr/>
            <p:nvPr/>
          </p:nvSpPr>
          <p:spPr>
            <a:xfrm>
              <a:off x="1571671" y="4710440"/>
              <a:ext cx="57059" cy="64191"/>
            </a:xfrm>
            <a:custGeom>
              <a:avLst/>
              <a:gdLst/>
              <a:ahLst/>
              <a:cxnLst/>
              <a:rect l="0" t="0" r="r" b="b"/>
              <a:pathLst>
                <a:path w="57059" h="64191" fill="none">
                  <a:moveTo>
                    <a:pt x="21397" y="0"/>
                  </a:moveTo>
                  <a:cubicBezTo>
                    <a:pt x="0" y="35662"/>
                    <a:pt x="21397" y="64191"/>
                    <a:pt x="57059" y="64191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ath 71"/>
            <p:cNvSpPr/>
            <p:nvPr/>
          </p:nvSpPr>
          <p:spPr>
            <a:xfrm>
              <a:off x="1578803" y="4788896"/>
              <a:ext cx="64191" cy="71323"/>
            </a:xfrm>
            <a:custGeom>
              <a:avLst/>
              <a:gdLst/>
              <a:ahLst/>
              <a:cxnLst/>
              <a:rect l="0" t="0" r="r" b="b"/>
              <a:pathLst>
                <a:path w="64191" h="71323" fill="none">
                  <a:moveTo>
                    <a:pt x="64191" y="28529"/>
                  </a:moveTo>
                  <a:cubicBezTo>
                    <a:pt x="21397" y="0"/>
                    <a:pt x="0" y="28529"/>
                    <a:pt x="7132" y="71323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path 72"/>
            <p:cNvSpPr/>
            <p:nvPr/>
          </p:nvSpPr>
          <p:spPr>
            <a:xfrm>
              <a:off x="1614465" y="4860219"/>
              <a:ext cx="78456" cy="71323"/>
            </a:xfrm>
            <a:custGeom>
              <a:avLst/>
              <a:gdLst/>
              <a:ahLst/>
              <a:cxnLst/>
              <a:rect l="0" t="0" r="r" b="b"/>
              <a:pathLst>
                <a:path w="78456" h="71323" fill="none">
                  <a:moveTo>
                    <a:pt x="78456" y="14265"/>
                  </a:moveTo>
                  <a:cubicBezTo>
                    <a:pt x="28529" y="0"/>
                    <a:pt x="0" y="42794"/>
                    <a:pt x="28529" y="71323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ath 73"/>
            <p:cNvSpPr/>
            <p:nvPr/>
          </p:nvSpPr>
          <p:spPr>
            <a:xfrm>
              <a:off x="1550274" y="4931542"/>
              <a:ext cx="78456" cy="49926"/>
            </a:xfrm>
            <a:custGeom>
              <a:avLst/>
              <a:gdLst/>
              <a:ahLst/>
              <a:cxnLst/>
              <a:rect l="0" t="0" r="r" b="b"/>
              <a:pathLst>
                <a:path w="78456" h="49926" fill="none">
                  <a:moveTo>
                    <a:pt x="0" y="0"/>
                  </a:moveTo>
                  <a:cubicBezTo>
                    <a:pt x="28529" y="42794"/>
                    <a:pt x="64191" y="21397"/>
                    <a:pt x="78456" y="49926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path 74"/>
            <p:cNvSpPr/>
            <p:nvPr/>
          </p:nvSpPr>
          <p:spPr>
            <a:xfrm>
              <a:off x="1664391" y="4974336"/>
              <a:ext cx="64191" cy="78456"/>
            </a:xfrm>
            <a:custGeom>
              <a:avLst/>
              <a:gdLst/>
              <a:ahLst/>
              <a:cxnLst/>
              <a:rect l="0" t="0" r="r" b="b"/>
              <a:pathLst>
                <a:path w="64191" h="78456" fill="none">
                  <a:moveTo>
                    <a:pt x="64191" y="21397"/>
                  </a:moveTo>
                  <a:cubicBezTo>
                    <a:pt x="21397" y="0"/>
                    <a:pt x="0" y="42794"/>
                    <a:pt x="28529" y="78456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path 75"/>
            <p:cNvSpPr/>
            <p:nvPr/>
          </p:nvSpPr>
          <p:spPr>
            <a:xfrm>
              <a:off x="1571671" y="5024262"/>
              <a:ext cx="42794" cy="64191"/>
            </a:xfrm>
            <a:custGeom>
              <a:avLst/>
              <a:gdLst/>
              <a:ahLst/>
              <a:cxnLst/>
              <a:rect l="0" t="0" r="r" b="b"/>
              <a:pathLst>
                <a:path w="42794" h="64191" fill="none">
                  <a:moveTo>
                    <a:pt x="0" y="14265"/>
                  </a:moveTo>
                  <a:cubicBezTo>
                    <a:pt x="28529" y="0"/>
                    <a:pt x="42794" y="21397"/>
                    <a:pt x="35662" y="64191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path 76"/>
            <p:cNvSpPr/>
            <p:nvPr/>
          </p:nvSpPr>
          <p:spPr>
            <a:xfrm>
              <a:off x="1564538" y="5102718"/>
              <a:ext cx="85588" cy="57059"/>
            </a:xfrm>
            <a:custGeom>
              <a:avLst/>
              <a:gdLst/>
              <a:ahLst/>
              <a:cxnLst/>
              <a:rect l="0" t="0" r="r" b="b"/>
              <a:pathLst>
                <a:path w="85588" h="57059" fill="none">
                  <a:moveTo>
                    <a:pt x="85588" y="28529"/>
                  </a:moveTo>
                  <a:cubicBezTo>
                    <a:pt x="35662" y="0"/>
                    <a:pt x="0" y="21397"/>
                    <a:pt x="7132" y="57059"/>
                  </a:cubicBezTo>
                </a:path>
              </a:pathLst>
            </a:custGeom>
            <a:noFill/>
            <a:ln w="2425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Training encoder / fMRI monitor"/>
          <p:cNvGrpSpPr/>
          <p:nvPr/>
        </p:nvGrpSpPr>
        <p:grpSpPr>
          <a:xfrm>
            <a:off x="1115682" y="4145524"/>
            <a:ext cx="1389774" cy="746516"/>
            <a:chOff x="1115682" y="4145524"/>
            <a:chExt cx="1389774" cy="746516"/>
          </a:xfrm>
        </p:grpSpPr>
        <p:sp>
          <p:nvSpPr>
            <p:cNvPr id="86" name="path 77"/>
            <p:cNvSpPr/>
            <p:nvPr/>
          </p:nvSpPr>
          <p:spPr>
            <a:xfrm>
              <a:off x="1892808" y="4370832"/>
              <a:ext cx="612648" cy="521208"/>
            </a:xfrm>
            <a:custGeom>
              <a:avLst/>
              <a:gdLst/>
              <a:ahLst/>
              <a:cxnLst/>
              <a:rect l="0" t="0" r="r" b="b"/>
              <a:pathLst>
                <a:path w="612648" h="521208" fill="none">
                  <a:moveTo>
                    <a:pt x="0" y="356616"/>
                  </a:moveTo>
                  <a:lnTo>
                    <a:pt x="210312" y="356616"/>
                  </a:lnTo>
                  <a:lnTo>
                    <a:pt x="283464" y="0"/>
                  </a:lnTo>
                  <a:lnTo>
                    <a:pt x="374904" y="521208"/>
                  </a:lnTo>
                  <a:lnTo>
                    <a:pt x="475488" y="265176"/>
                  </a:lnTo>
                  <a:lnTo>
                    <a:pt x="530352" y="356616"/>
                  </a:lnTo>
                  <a:lnTo>
                    <a:pt x="612648" y="356616"/>
                  </a:lnTo>
                </a:path>
              </a:pathLst>
            </a:custGeom>
            <a:noFill/>
            <a:ln w="28346" cap="rnd" cmpd="sng">
              <a:solidFill>
                <a:srgbClr val="4b4b4a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fMRI"/>
            <p:cNvSpPr txBox="1"/>
            <p:nvPr/>
          </p:nvSpPr>
          <p:spPr>
            <a:xfrm>
              <a:off x="1115682" y="4145524"/>
              <a:ext cx="895883" cy="408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92" b="1" i="0" dirty="0">
                  <a:solidFill>
                    <a:srgbClr val="777674"/>
                  </a:solidFill>
                  <a:latin typeface="Liberation Serif"/>
                </a:rPr>
                <a:t>fMRI</a:t>
              </a:r>
            </a:p>
          </p:txBody>
        </p:sp>
      </p:grpSp>
      <p:grpSp>
        <p:nvGrpSpPr>
          <p:cNvPr id="88" name="Training encoder / Train subjects illustration / Person"/>
          <p:cNvGrpSpPr/>
          <p:nvPr/>
        </p:nvGrpSpPr>
        <p:grpSpPr>
          <a:xfrm>
            <a:off x="833384" y="5646266"/>
            <a:ext cx="1429481" cy="1409040"/>
            <a:chOff x="833384" y="5646266"/>
            <a:chExt cx="1429481" cy="1409040"/>
          </a:xfrm>
        </p:grpSpPr>
        <p:sp>
          <p:nvSpPr>
            <p:cNvPr id="89" name="path 79"/>
            <p:cNvSpPr/>
            <p:nvPr/>
          </p:nvSpPr>
          <p:spPr>
            <a:xfrm>
              <a:off x="951890" y="5646266"/>
              <a:ext cx="488838" cy="420993"/>
            </a:xfrm>
            <a:custGeom>
              <a:avLst/>
              <a:gdLst/>
              <a:ahLst/>
              <a:cxnLst/>
              <a:rect l="0" t="0" r="r" b="b"/>
              <a:pathLst>
                <a:path w="488838" h="420993">
                  <a:moveTo>
                    <a:pt x="51846" y="249159"/>
                  </a:moveTo>
                  <a:cubicBezTo>
                    <a:pt x="0" y="197609"/>
                    <a:pt x="37033" y="85917"/>
                    <a:pt x="111100" y="103100"/>
                  </a:cubicBezTo>
                  <a:cubicBezTo>
                    <a:pt x="162946" y="0"/>
                    <a:pt x="244419" y="42959"/>
                    <a:pt x="259232" y="85917"/>
                  </a:cubicBezTo>
                  <a:cubicBezTo>
                    <a:pt x="340705" y="42959"/>
                    <a:pt x="429585" y="103100"/>
                    <a:pt x="407365" y="180426"/>
                  </a:cubicBezTo>
                  <a:cubicBezTo>
                    <a:pt x="488838" y="223384"/>
                    <a:pt x="466618" y="369443"/>
                    <a:pt x="422178" y="403810"/>
                  </a:cubicBezTo>
                  <a:lnTo>
                    <a:pt x="51846" y="420993"/>
                  </a:lnTo>
                  <a:close/>
                </a:path>
              </a:pathLst>
            </a:custGeom>
            <a:solidFill>
              <a:srgbClr val="515d67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ath 80"/>
            <p:cNvSpPr/>
            <p:nvPr/>
          </p:nvSpPr>
          <p:spPr>
            <a:xfrm>
              <a:off x="1129650" y="6135993"/>
              <a:ext cx="103693" cy="85917"/>
            </a:xfrm>
            <a:custGeom>
              <a:avLst/>
              <a:gdLst/>
              <a:ahLst/>
              <a:cxnLst/>
              <a:rect l="0" t="0" r="r" b="b"/>
              <a:pathLst>
                <a:path w="103693" h="85917">
                  <a:moveTo>
                    <a:pt x="0" y="0"/>
                  </a:moveTo>
                  <a:lnTo>
                    <a:pt x="0" y="85917"/>
                  </a:lnTo>
                  <a:lnTo>
                    <a:pt x="103693" y="85917"/>
                  </a:lnTo>
                  <a:lnTo>
                    <a:pt x="103693" y="0"/>
                  </a:lnTo>
                </a:path>
              </a:pathLst>
            </a:custGeom>
            <a:solidFill>
              <a:srgbClr val="f4c9a6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ath 81"/>
            <p:cNvSpPr/>
            <p:nvPr/>
          </p:nvSpPr>
          <p:spPr>
            <a:xfrm>
              <a:off x="914857" y="6213319"/>
              <a:ext cx="548091" cy="240568"/>
            </a:xfrm>
            <a:custGeom>
              <a:avLst/>
              <a:gdLst/>
              <a:ahLst/>
              <a:cxnLst/>
              <a:rect l="0" t="0" r="r" b="b"/>
              <a:pathLst>
                <a:path w="548091" h="240568">
                  <a:moveTo>
                    <a:pt x="0" y="240568"/>
                  </a:moveTo>
                  <a:cubicBezTo>
                    <a:pt x="14813" y="60142"/>
                    <a:pt x="103693" y="0"/>
                    <a:pt x="207386" y="0"/>
                  </a:cubicBezTo>
                  <a:cubicBezTo>
                    <a:pt x="259232" y="42959"/>
                    <a:pt x="281452" y="42959"/>
                    <a:pt x="325892" y="0"/>
                  </a:cubicBezTo>
                  <a:cubicBezTo>
                    <a:pt x="444398" y="0"/>
                    <a:pt x="533278" y="60142"/>
                    <a:pt x="548091" y="240568"/>
                  </a:cubicBezTo>
                  <a:close/>
                </a:path>
              </a:pathLst>
            </a:custGeom>
            <a:solidFill>
              <a:srgbClr val="c38b56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path 82"/>
            <p:cNvSpPr/>
            <p:nvPr/>
          </p:nvSpPr>
          <p:spPr>
            <a:xfrm>
              <a:off x="966704" y="5938384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ath 83"/>
            <p:cNvSpPr/>
            <p:nvPr/>
          </p:nvSpPr>
          <p:spPr>
            <a:xfrm>
              <a:off x="1314816" y="5938384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ath 84"/>
            <p:cNvSpPr/>
            <p:nvPr/>
          </p:nvSpPr>
          <p:spPr>
            <a:xfrm>
              <a:off x="1033363" y="5843876"/>
              <a:ext cx="303672" cy="378035"/>
            </a:xfrm>
            <a:custGeom>
              <a:avLst/>
              <a:gdLst/>
              <a:ahLst/>
              <a:cxnLst/>
              <a:rect l="0" t="0" r="r" b="b"/>
              <a:pathLst>
                <a:path w="303672" h="378035">
                  <a:moveTo>
                    <a:pt x="0" y="77325"/>
                  </a:moveTo>
                  <a:cubicBezTo>
                    <a:pt x="44440" y="68734"/>
                    <a:pt x="59253" y="8592"/>
                    <a:pt x="74066" y="0"/>
                  </a:cubicBezTo>
                  <a:cubicBezTo>
                    <a:pt x="111100" y="68734"/>
                    <a:pt x="222199" y="60142"/>
                    <a:pt x="303672" y="68734"/>
                  </a:cubicBezTo>
                  <a:lnTo>
                    <a:pt x="303672" y="206201"/>
                  </a:lnTo>
                  <a:cubicBezTo>
                    <a:pt x="296266" y="317893"/>
                    <a:pt x="222199" y="378035"/>
                    <a:pt x="155539" y="378035"/>
                  </a:cubicBezTo>
                  <a:cubicBezTo>
                    <a:pt x="66660" y="360852"/>
                    <a:pt x="7407" y="300710"/>
                    <a:pt x="0" y="206201"/>
                  </a:cubicBezTo>
                  <a:close/>
                </a:path>
              </a:pathLst>
            </a:custGeom>
            <a:solidFill>
              <a:srgbClr val="f8d1b2">
                <a:alpha val="100000"/>
              </a:srgbClr>
            </a:solidFill>
            <a:ln w="303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path 85"/>
            <p:cNvSpPr/>
            <p:nvPr/>
          </p:nvSpPr>
          <p:spPr>
            <a:xfrm>
              <a:off x="1116318" y="5983061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path 86"/>
            <p:cNvSpPr/>
            <p:nvPr/>
          </p:nvSpPr>
          <p:spPr>
            <a:xfrm>
              <a:off x="1249637" y="5983061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path 87"/>
            <p:cNvSpPr/>
            <p:nvPr/>
          </p:nvSpPr>
          <p:spPr>
            <a:xfrm>
              <a:off x="1129650" y="6101627"/>
              <a:ext cx="133320" cy="85917"/>
            </a:xfrm>
            <a:custGeom>
              <a:avLst/>
              <a:gdLst/>
              <a:ahLst/>
              <a:cxnLst/>
              <a:rect l="0" t="0" r="r" b="b"/>
              <a:pathLst>
                <a:path w="133320" h="85917" fill="none">
                  <a:moveTo>
                    <a:pt x="0" y="0"/>
                  </a:moveTo>
                  <a:quadBezTo>
                    <a:pt x="66660" y="85917"/>
                    <a:pt x="133320" y="0"/>
                  </a:quadBezTo>
                </a:path>
              </a:pathLst>
            </a:custGeom>
            <a:noFill/>
            <a:ln w="295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path 88"/>
            <p:cNvSpPr/>
            <p:nvPr/>
          </p:nvSpPr>
          <p:spPr>
            <a:xfrm>
              <a:off x="1070397" y="5757959"/>
              <a:ext cx="244419" cy="189017"/>
            </a:xfrm>
            <a:custGeom>
              <a:avLst/>
              <a:gdLst/>
              <a:ahLst/>
              <a:cxnLst/>
              <a:rect l="0" t="0" r="r" b="b"/>
              <a:pathLst>
                <a:path w="244419" h="189017">
                  <a:moveTo>
                    <a:pt x="66660" y="0"/>
                  </a:moveTo>
                  <a:cubicBezTo>
                    <a:pt x="0" y="128876"/>
                    <a:pt x="111100" y="189017"/>
                    <a:pt x="207386" y="163242"/>
                  </a:cubicBezTo>
                  <a:lnTo>
                    <a:pt x="244419" y="111692"/>
                  </a:lnTo>
                </a:path>
              </a:pathLst>
            </a:custGeom>
            <a:solidFill>
              <a:srgbClr val="515d67">
                <a:alpha val="100000"/>
              </a:srgbClr>
            </a:solidFill>
            <a:ln w="303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ath 89"/>
            <p:cNvSpPr/>
            <p:nvPr/>
          </p:nvSpPr>
          <p:spPr>
            <a:xfrm>
              <a:off x="1485168" y="5680633"/>
              <a:ext cx="511058" cy="558461"/>
            </a:xfrm>
            <a:custGeom>
              <a:avLst/>
              <a:gdLst/>
              <a:ahLst/>
              <a:cxnLst/>
              <a:rect l="0" t="0" r="r" b="b"/>
              <a:pathLst>
                <a:path w="511058" h="558461">
                  <a:moveTo>
                    <a:pt x="51846" y="463952"/>
                  </a:moveTo>
                  <a:cubicBezTo>
                    <a:pt x="0" y="335076"/>
                    <a:pt x="74066" y="180426"/>
                    <a:pt x="125913" y="120284"/>
                  </a:cubicBezTo>
                  <a:cubicBezTo>
                    <a:pt x="222199" y="0"/>
                    <a:pt x="399959" y="85917"/>
                    <a:pt x="436992" y="206201"/>
                  </a:cubicBezTo>
                  <a:cubicBezTo>
                    <a:pt x="466618" y="317893"/>
                    <a:pt x="511058" y="386627"/>
                    <a:pt x="436992" y="463952"/>
                  </a:cubicBezTo>
                  <a:lnTo>
                    <a:pt x="481432" y="549869"/>
                  </a:lnTo>
                  <a:lnTo>
                    <a:pt x="14813" y="558461"/>
                  </a:lnTo>
                  <a:close/>
                </a:path>
              </a:pathLst>
            </a:custGeom>
            <a:solidFill>
              <a:srgbClr val="ffe076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path 90"/>
            <p:cNvSpPr/>
            <p:nvPr/>
          </p:nvSpPr>
          <p:spPr>
            <a:xfrm>
              <a:off x="1670334" y="6170360"/>
              <a:ext cx="103693" cy="85917"/>
            </a:xfrm>
            <a:custGeom>
              <a:avLst/>
              <a:gdLst/>
              <a:ahLst/>
              <a:cxnLst/>
              <a:rect l="0" t="0" r="r" b="b"/>
              <a:pathLst>
                <a:path w="103693" h="85917">
                  <a:moveTo>
                    <a:pt x="0" y="0"/>
                  </a:moveTo>
                  <a:lnTo>
                    <a:pt x="0" y="85917"/>
                  </a:lnTo>
                  <a:lnTo>
                    <a:pt x="103693" y="85917"/>
                  </a:lnTo>
                  <a:lnTo>
                    <a:pt x="103693" y="0"/>
                  </a:lnTo>
                </a:path>
              </a:pathLst>
            </a:custGeom>
            <a:solidFill>
              <a:srgbClr val="f4c9a6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path 91"/>
            <p:cNvSpPr/>
            <p:nvPr/>
          </p:nvSpPr>
          <p:spPr>
            <a:xfrm>
              <a:off x="1455542" y="6247686"/>
              <a:ext cx="548091" cy="240568"/>
            </a:xfrm>
            <a:custGeom>
              <a:avLst/>
              <a:gdLst/>
              <a:ahLst/>
              <a:cxnLst/>
              <a:rect l="0" t="0" r="r" b="b"/>
              <a:pathLst>
                <a:path w="548091" h="240568">
                  <a:moveTo>
                    <a:pt x="0" y="240568"/>
                  </a:moveTo>
                  <a:cubicBezTo>
                    <a:pt x="14813" y="60142"/>
                    <a:pt x="103693" y="0"/>
                    <a:pt x="207386" y="0"/>
                  </a:cubicBezTo>
                  <a:cubicBezTo>
                    <a:pt x="259232" y="42959"/>
                    <a:pt x="281452" y="42959"/>
                    <a:pt x="325892" y="0"/>
                  </a:cubicBezTo>
                  <a:cubicBezTo>
                    <a:pt x="444398" y="0"/>
                    <a:pt x="533278" y="60142"/>
                    <a:pt x="548091" y="240568"/>
                  </a:cubicBezTo>
                  <a:close/>
                </a:path>
              </a:pathLst>
            </a:custGeom>
            <a:solidFill>
              <a:srgbClr val="bd874f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ath 92"/>
            <p:cNvSpPr/>
            <p:nvPr/>
          </p:nvSpPr>
          <p:spPr>
            <a:xfrm>
              <a:off x="1507388" y="5972751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path 93"/>
            <p:cNvSpPr/>
            <p:nvPr/>
          </p:nvSpPr>
          <p:spPr>
            <a:xfrm>
              <a:off x="1855500" y="5972751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path 94"/>
            <p:cNvSpPr/>
            <p:nvPr/>
          </p:nvSpPr>
          <p:spPr>
            <a:xfrm>
              <a:off x="1574048" y="5878242"/>
              <a:ext cx="303672" cy="378035"/>
            </a:xfrm>
            <a:custGeom>
              <a:avLst/>
              <a:gdLst/>
              <a:ahLst/>
              <a:cxnLst/>
              <a:rect l="0" t="0" r="r" b="b"/>
              <a:pathLst>
                <a:path w="303672" h="378035">
                  <a:moveTo>
                    <a:pt x="0" y="77325"/>
                  </a:moveTo>
                  <a:cubicBezTo>
                    <a:pt x="44440" y="68734"/>
                    <a:pt x="59253" y="8592"/>
                    <a:pt x="74066" y="0"/>
                  </a:cubicBezTo>
                  <a:cubicBezTo>
                    <a:pt x="111100" y="68734"/>
                    <a:pt x="222199" y="60142"/>
                    <a:pt x="303672" y="68734"/>
                  </a:cubicBezTo>
                  <a:lnTo>
                    <a:pt x="303672" y="206201"/>
                  </a:lnTo>
                  <a:cubicBezTo>
                    <a:pt x="296266" y="317893"/>
                    <a:pt x="222199" y="378035"/>
                    <a:pt x="155539" y="378035"/>
                  </a:cubicBezTo>
                  <a:cubicBezTo>
                    <a:pt x="66660" y="360852"/>
                    <a:pt x="7407" y="300710"/>
                    <a:pt x="0" y="206201"/>
                  </a:cubicBezTo>
                  <a:close/>
                </a:path>
              </a:pathLst>
            </a:custGeom>
            <a:solidFill>
              <a:srgbClr val="f8d1b2">
                <a:alpha val="100000"/>
              </a:srgbClr>
            </a:solidFill>
            <a:ln w="303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path 95"/>
            <p:cNvSpPr/>
            <p:nvPr/>
          </p:nvSpPr>
          <p:spPr>
            <a:xfrm>
              <a:off x="1657003" y="6017428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path 96"/>
            <p:cNvSpPr/>
            <p:nvPr/>
          </p:nvSpPr>
          <p:spPr>
            <a:xfrm>
              <a:off x="1790322" y="6017428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path 97"/>
            <p:cNvSpPr/>
            <p:nvPr/>
          </p:nvSpPr>
          <p:spPr>
            <a:xfrm>
              <a:off x="1670334" y="6135993"/>
              <a:ext cx="133320" cy="85917"/>
            </a:xfrm>
            <a:custGeom>
              <a:avLst/>
              <a:gdLst/>
              <a:ahLst/>
              <a:cxnLst/>
              <a:rect l="0" t="0" r="r" b="b"/>
              <a:pathLst>
                <a:path w="133320" h="85917" fill="none">
                  <a:moveTo>
                    <a:pt x="0" y="0"/>
                  </a:moveTo>
                  <a:quadBezTo>
                    <a:pt x="66660" y="85917"/>
                    <a:pt x="133320" y="0"/>
                  </a:quadBezTo>
                </a:path>
              </a:pathLst>
            </a:custGeom>
            <a:noFill/>
            <a:ln w="295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path 98"/>
            <p:cNvSpPr/>
            <p:nvPr/>
          </p:nvSpPr>
          <p:spPr>
            <a:xfrm>
              <a:off x="840791" y="6273461"/>
              <a:ext cx="481432" cy="386627"/>
            </a:xfrm>
            <a:custGeom>
              <a:avLst/>
              <a:gdLst/>
              <a:ahLst/>
              <a:cxnLst/>
              <a:rect l="0" t="0" r="r" b="b"/>
              <a:pathLst>
                <a:path w="481432" h="386627">
                  <a:moveTo>
                    <a:pt x="66660" y="309301"/>
                  </a:moveTo>
                  <a:cubicBezTo>
                    <a:pt x="0" y="189017"/>
                    <a:pt x="59253" y="94509"/>
                    <a:pt x="133320" y="68734"/>
                  </a:cubicBezTo>
                  <a:cubicBezTo>
                    <a:pt x="237012" y="0"/>
                    <a:pt x="399959" y="34367"/>
                    <a:pt x="466618" y="137467"/>
                  </a:cubicBezTo>
                  <a:lnTo>
                    <a:pt x="481432" y="386627"/>
                  </a:lnTo>
                  <a:lnTo>
                    <a:pt x="66660" y="386627"/>
                  </a:lnTo>
                  <a:close/>
                </a:path>
              </a:pathLst>
            </a:custGeom>
            <a:solidFill>
              <a:srgbClr val="b78043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path 99"/>
            <p:cNvSpPr/>
            <p:nvPr/>
          </p:nvSpPr>
          <p:spPr>
            <a:xfrm>
              <a:off x="1048177" y="6737413"/>
              <a:ext cx="103693" cy="85917"/>
            </a:xfrm>
            <a:custGeom>
              <a:avLst/>
              <a:gdLst/>
              <a:ahLst/>
              <a:cxnLst/>
              <a:rect l="0" t="0" r="r" b="b"/>
              <a:pathLst>
                <a:path w="103693" h="85917">
                  <a:moveTo>
                    <a:pt x="0" y="0"/>
                  </a:moveTo>
                  <a:lnTo>
                    <a:pt x="0" y="85917"/>
                  </a:lnTo>
                  <a:lnTo>
                    <a:pt x="103693" y="85917"/>
                  </a:lnTo>
                  <a:lnTo>
                    <a:pt x="103693" y="0"/>
                  </a:lnTo>
                </a:path>
              </a:pathLst>
            </a:custGeom>
            <a:solidFill>
              <a:srgbClr val="f4c9a6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path 100"/>
            <p:cNvSpPr/>
            <p:nvPr/>
          </p:nvSpPr>
          <p:spPr>
            <a:xfrm>
              <a:off x="833384" y="6814738"/>
              <a:ext cx="548091" cy="240568"/>
            </a:xfrm>
            <a:custGeom>
              <a:avLst/>
              <a:gdLst/>
              <a:ahLst/>
              <a:cxnLst/>
              <a:rect l="0" t="0" r="r" b="b"/>
              <a:pathLst>
                <a:path w="548091" h="240568">
                  <a:moveTo>
                    <a:pt x="0" y="240568"/>
                  </a:moveTo>
                  <a:cubicBezTo>
                    <a:pt x="14813" y="60142"/>
                    <a:pt x="103693" y="0"/>
                    <a:pt x="207386" y="0"/>
                  </a:cubicBezTo>
                  <a:cubicBezTo>
                    <a:pt x="259232" y="42959"/>
                    <a:pt x="281452" y="42959"/>
                    <a:pt x="325892" y="0"/>
                  </a:cubicBezTo>
                  <a:cubicBezTo>
                    <a:pt x="444398" y="0"/>
                    <a:pt x="533278" y="60142"/>
                    <a:pt x="548091" y="240568"/>
                  </a:cubicBezTo>
                  <a:close/>
                </a:path>
              </a:pathLst>
            </a:custGeom>
            <a:solidFill>
              <a:srgbClr val="ffdd69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path 101"/>
            <p:cNvSpPr/>
            <p:nvPr/>
          </p:nvSpPr>
          <p:spPr>
            <a:xfrm>
              <a:off x="885231" y="6539803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path 102"/>
            <p:cNvSpPr/>
            <p:nvPr/>
          </p:nvSpPr>
          <p:spPr>
            <a:xfrm>
              <a:off x="1233343" y="6539803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path 103"/>
            <p:cNvSpPr/>
            <p:nvPr/>
          </p:nvSpPr>
          <p:spPr>
            <a:xfrm>
              <a:off x="951890" y="6445295"/>
              <a:ext cx="303672" cy="378035"/>
            </a:xfrm>
            <a:custGeom>
              <a:avLst/>
              <a:gdLst/>
              <a:ahLst/>
              <a:cxnLst/>
              <a:rect l="0" t="0" r="r" b="b"/>
              <a:pathLst>
                <a:path w="303672" h="378035">
                  <a:moveTo>
                    <a:pt x="0" y="77325"/>
                  </a:moveTo>
                  <a:cubicBezTo>
                    <a:pt x="44440" y="68734"/>
                    <a:pt x="59253" y="8592"/>
                    <a:pt x="74066" y="0"/>
                  </a:cubicBezTo>
                  <a:cubicBezTo>
                    <a:pt x="111100" y="68734"/>
                    <a:pt x="222199" y="60142"/>
                    <a:pt x="303672" y="68734"/>
                  </a:cubicBezTo>
                  <a:lnTo>
                    <a:pt x="303672" y="206201"/>
                  </a:lnTo>
                  <a:cubicBezTo>
                    <a:pt x="296266" y="317893"/>
                    <a:pt x="222199" y="378035"/>
                    <a:pt x="155539" y="378035"/>
                  </a:cubicBezTo>
                  <a:cubicBezTo>
                    <a:pt x="66660" y="360852"/>
                    <a:pt x="7407" y="300710"/>
                    <a:pt x="0" y="206201"/>
                  </a:cubicBezTo>
                  <a:close/>
                </a:path>
              </a:pathLst>
            </a:custGeom>
            <a:solidFill>
              <a:srgbClr val="f8d1b2">
                <a:alpha val="100000"/>
              </a:srgbClr>
            </a:solidFill>
            <a:ln w="303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path 104"/>
            <p:cNvSpPr/>
            <p:nvPr/>
          </p:nvSpPr>
          <p:spPr>
            <a:xfrm>
              <a:off x="1034845" y="6584480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path 105"/>
            <p:cNvSpPr/>
            <p:nvPr/>
          </p:nvSpPr>
          <p:spPr>
            <a:xfrm>
              <a:off x="1168164" y="6584480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path 106"/>
            <p:cNvSpPr/>
            <p:nvPr/>
          </p:nvSpPr>
          <p:spPr>
            <a:xfrm>
              <a:off x="1048177" y="6703046"/>
              <a:ext cx="133320" cy="85917"/>
            </a:xfrm>
            <a:custGeom>
              <a:avLst/>
              <a:gdLst/>
              <a:ahLst/>
              <a:cxnLst/>
              <a:rect l="0" t="0" r="r" b="b"/>
              <a:pathLst>
                <a:path w="133320" h="85917" fill="none">
                  <a:moveTo>
                    <a:pt x="0" y="0"/>
                  </a:moveTo>
                  <a:quadBezTo>
                    <a:pt x="66660" y="85917"/>
                    <a:pt x="133320" y="0"/>
                  </a:quadBezTo>
                </a:path>
              </a:pathLst>
            </a:custGeom>
            <a:noFill/>
            <a:ln w="295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path 107"/>
            <p:cNvSpPr/>
            <p:nvPr/>
          </p:nvSpPr>
          <p:spPr>
            <a:xfrm>
              <a:off x="1337036" y="6247686"/>
              <a:ext cx="511058" cy="558461"/>
            </a:xfrm>
            <a:custGeom>
              <a:avLst/>
              <a:gdLst/>
              <a:ahLst/>
              <a:cxnLst/>
              <a:rect l="0" t="0" r="r" b="b"/>
              <a:pathLst>
                <a:path w="511058" h="558461">
                  <a:moveTo>
                    <a:pt x="51846" y="463952"/>
                  </a:moveTo>
                  <a:cubicBezTo>
                    <a:pt x="0" y="335076"/>
                    <a:pt x="74066" y="180426"/>
                    <a:pt x="125913" y="120284"/>
                  </a:cubicBezTo>
                  <a:cubicBezTo>
                    <a:pt x="222199" y="0"/>
                    <a:pt x="399959" y="85917"/>
                    <a:pt x="436992" y="206201"/>
                  </a:cubicBezTo>
                  <a:cubicBezTo>
                    <a:pt x="466618" y="317893"/>
                    <a:pt x="511058" y="386627"/>
                    <a:pt x="436992" y="463952"/>
                  </a:cubicBezTo>
                  <a:lnTo>
                    <a:pt x="481432" y="549869"/>
                  </a:lnTo>
                  <a:lnTo>
                    <a:pt x="14813" y="558461"/>
                  </a:lnTo>
                  <a:close/>
                </a:path>
              </a:pathLst>
            </a:custGeom>
            <a:solidFill>
              <a:srgbClr val="596474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path 108"/>
            <p:cNvSpPr/>
            <p:nvPr/>
          </p:nvSpPr>
          <p:spPr>
            <a:xfrm>
              <a:off x="1522202" y="6737413"/>
              <a:ext cx="103693" cy="85917"/>
            </a:xfrm>
            <a:custGeom>
              <a:avLst/>
              <a:gdLst/>
              <a:ahLst/>
              <a:cxnLst/>
              <a:rect l="0" t="0" r="r" b="b"/>
              <a:pathLst>
                <a:path w="103693" h="85917">
                  <a:moveTo>
                    <a:pt x="0" y="0"/>
                  </a:moveTo>
                  <a:lnTo>
                    <a:pt x="0" y="85917"/>
                  </a:lnTo>
                  <a:lnTo>
                    <a:pt x="103693" y="85917"/>
                  </a:lnTo>
                  <a:lnTo>
                    <a:pt x="103693" y="0"/>
                  </a:lnTo>
                </a:path>
              </a:pathLst>
            </a:custGeom>
            <a:solidFill>
              <a:srgbClr val="f4c9a6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path 109"/>
            <p:cNvSpPr/>
            <p:nvPr/>
          </p:nvSpPr>
          <p:spPr>
            <a:xfrm>
              <a:off x="1307409" y="6814738"/>
              <a:ext cx="548091" cy="240568"/>
            </a:xfrm>
            <a:custGeom>
              <a:avLst/>
              <a:gdLst/>
              <a:ahLst/>
              <a:cxnLst/>
              <a:rect l="0" t="0" r="r" b="b"/>
              <a:pathLst>
                <a:path w="548091" h="240568">
                  <a:moveTo>
                    <a:pt x="0" y="240568"/>
                  </a:moveTo>
                  <a:cubicBezTo>
                    <a:pt x="14813" y="60142"/>
                    <a:pt x="103693" y="0"/>
                    <a:pt x="207386" y="0"/>
                  </a:cubicBezTo>
                  <a:cubicBezTo>
                    <a:pt x="259232" y="42959"/>
                    <a:pt x="281452" y="42959"/>
                    <a:pt x="325892" y="0"/>
                  </a:cubicBezTo>
                  <a:cubicBezTo>
                    <a:pt x="444398" y="0"/>
                    <a:pt x="533278" y="60142"/>
                    <a:pt x="548091" y="240568"/>
                  </a:cubicBezTo>
                  <a:close/>
                </a:path>
              </a:pathLst>
            </a:custGeom>
            <a:solidFill>
              <a:srgbClr val="ff8a76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path 110"/>
            <p:cNvSpPr/>
            <p:nvPr/>
          </p:nvSpPr>
          <p:spPr>
            <a:xfrm>
              <a:off x="1359256" y="6539803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path 111"/>
            <p:cNvSpPr/>
            <p:nvPr/>
          </p:nvSpPr>
          <p:spPr>
            <a:xfrm>
              <a:off x="1707368" y="6539803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path 112"/>
            <p:cNvSpPr/>
            <p:nvPr/>
          </p:nvSpPr>
          <p:spPr>
            <a:xfrm>
              <a:off x="1425915" y="6445295"/>
              <a:ext cx="303672" cy="378035"/>
            </a:xfrm>
            <a:custGeom>
              <a:avLst/>
              <a:gdLst/>
              <a:ahLst/>
              <a:cxnLst/>
              <a:rect l="0" t="0" r="r" b="b"/>
              <a:pathLst>
                <a:path w="303672" h="378035">
                  <a:moveTo>
                    <a:pt x="0" y="77325"/>
                  </a:moveTo>
                  <a:cubicBezTo>
                    <a:pt x="44440" y="68734"/>
                    <a:pt x="59253" y="8592"/>
                    <a:pt x="74066" y="0"/>
                  </a:cubicBezTo>
                  <a:cubicBezTo>
                    <a:pt x="111100" y="68734"/>
                    <a:pt x="222199" y="60142"/>
                    <a:pt x="303672" y="68734"/>
                  </a:cubicBezTo>
                  <a:lnTo>
                    <a:pt x="303672" y="206201"/>
                  </a:lnTo>
                  <a:cubicBezTo>
                    <a:pt x="296266" y="317893"/>
                    <a:pt x="222199" y="378035"/>
                    <a:pt x="155539" y="378035"/>
                  </a:cubicBezTo>
                  <a:cubicBezTo>
                    <a:pt x="66660" y="360852"/>
                    <a:pt x="7407" y="300710"/>
                    <a:pt x="0" y="206201"/>
                  </a:cubicBezTo>
                  <a:close/>
                </a:path>
              </a:pathLst>
            </a:custGeom>
            <a:solidFill>
              <a:srgbClr val="f8d1b2">
                <a:alpha val="100000"/>
              </a:srgbClr>
            </a:solidFill>
            <a:ln w="303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path 113"/>
            <p:cNvSpPr/>
            <p:nvPr/>
          </p:nvSpPr>
          <p:spPr>
            <a:xfrm>
              <a:off x="1508870" y="6584480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path 114"/>
            <p:cNvSpPr/>
            <p:nvPr/>
          </p:nvSpPr>
          <p:spPr>
            <a:xfrm>
              <a:off x="1642189" y="6584480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path 115"/>
            <p:cNvSpPr/>
            <p:nvPr/>
          </p:nvSpPr>
          <p:spPr>
            <a:xfrm>
              <a:off x="1522202" y="6703046"/>
              <a:ext cx="133320" cy="85917"/>
            </a:xfrm>
            <a:custGeom>
              <a:avLst/>
              <a:gdLst/>
              <a:ahLst/>
              <a:cxnLst/>
              <a:rect l="0" t="0" r="r" b="b"/>
              <a:pathLst>
                <a:path w="133320" h="85917" fill="none">
                  <a:moveTo>
                    <a:pt x="0" y="0"/>
                  </a:moveTo>
                  <a:quadBezTo>
                    <a:pt x="66660" y="85917"/>
                    <a:pt x="133320" y="0"/>
                  </a:quadBezTo>
                </a:path>
              </a:pathLst>
            </a:custGeom>
            <a:noFill/>
            <a:ln w="295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path 116"/>
            <p:cNvSpPr/>
            <p:nvPr/>
          </p:nvSpPr>
          <p:spPr>
            <a:xfrm>
              <a:off x="1722181" y="6273461"/>
              <a:ext cx="481432" cy="386627"/>
            </a:xfrm>
            <a:custGeom>
              <a:avLst/>
              <a:gdLst/>
              <a:ahLst/>
              <a:cxnLst/>
              <a:rect l="0" t="0" r="r" b="b"/>
              <a:pathLst>
                <a:path w="481432" h="386627">
                  <a:moveTo>
                    <a:pt x="66660" y="309301"/>
                  </a:moveTo>
                  <a:cubicBezTo>
                    <a:pt x="0" y="189017"/>
                    <a:pt x="59253" y="94509"/>
                    <a:pt x="133320" y="68734"/>
                  </a:cubicBezTo>
                  <a:cubicBezTo>
                    <a:pt x="237012" y="0"/>
                    <a:pt x="399959" y="34367"/>
                    <a:pt x="466618" y="137467"/>
                  </a:cubicBezTo>
                  <a:lnTo>
                    <a:pt x="481432" y="386627"/>
                  </a:lnTo>
                  <a:lnTo>
                    <a:pt x="66660" y="386627"/>
                  </a:lnTo>
                  <a:close/>
                </a:path>
              </a:pathLst>
            </a:custGeom>
            <a:solidFill>
              <a:srgbClr val="aa774c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path 117"/>
            <p:cNvSpPr/>
            <p:nvPr/>
          </p:nvSpPr>
          <p:spPr>
            <a:xfrm>
              <a:off x="1929567" y="6737413"/>
              <a:ext cx="103693" cy="85917"/>
            </a:xfrm>
            <a:custGeom>
              <a:avLst/>
              <a:gdLst/>
              <a:ahLst/>
              <a:cxnLst/>
              <a:rect l="0" t="0" r="r" b="b"/>
              <a:pathLst>
                <a:path w="103693" h="85917">
                  <a:moveTo>
                    <a:pt x="0" y="0"/>
                  </a:moveTo>
                  <a:lnTo>
                    <a:pt x="0" y="85917"/>
                  </a:lnTo>
                  <a:lnTo>
                    <a:pt x="103693" y="85917"/>
                  </a:lnTo>
                  <a:lnTo>
                    <a:pt x="103693" y="0"/>
                  </a:lnTo>
                </a:path>
              </a:pathLst>
            </a:custGeom>
            <a:solidFill>
              <a:srgbClr val="f4c9a6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path 118"/>
            <p:cNvSpPr/>
            <p:nvPr/>
          </p:nvSpPr>
          <p:spPr>
            <a:xfrm>
              <a:off x="1714774" y="6814738"/>
              <a:ext cx="548091" cy="240568"/>
            </a:xfrm>
            <a:custGeom>
              <a:avLst/>
              <a:gdLst/>
              <a:ahLst/>
              <a:cxnLst/>
              <a:rect l="0" t="0" r="r" b="b"/>
              <a:pathLst>
                <a:path w="548091" h="240568">
                  <a:moveTo>
                    <a:pt x="0" y="240568"/>
                  </a:moveTo>
                  <a:cubicBezTo>
                    <a:pt x="14813" y="60142"/>
                    <a:pt x="103693" y="0"/>
                    <a:pt x="207386" y="0"/>
                  </a:cubicBezTo>
                  <a:cubicBezTo>
                    <a:pt x="259232" y="42959"/>
                    <a:pt x="281452" y="42959"/>
                    <a:pt x="325892" y="0"/>
                  </a:cubicBezTo>
                  <a:cubicBezTo>
                    <a:pt x="444398" y="0"/>
                    <a:pt x="533278" y="60142"/>
                    <a:pt x="548091" y="240568"/>
                  </a:cubicBezTo>
                  <a:close/>
                </a:path>
              </a:pathLst>
            </a:custGeom>
            <a:solidFill>
              <a:srgbClr val="7bbbf0">
                <a:alpha val="100000"/>
              </a:srgbClr>
            </a:solidFill>
            <a:ln w="31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path 119"/>
            <p:cNvSpPr/>
            <p:nvPr/>
          </p:nvSpPr>
          <p:spPr>
            <a:xfrm>
              <a:off x="1766621" y="6539803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path 120"/>
            <p:cNvSpPr/>
            <p:nvPr/>
          </p:nvSpPr>
          <p:spPr>
            <a:xfrm>
              <a:off x="2114733" y="6539803"/>
              <a:ext cx="74066" cy="137467"/>
            </a:xfrm>
            <a:custGeom>
              <a:avLst/>
              <a:gdLst/>
              <a:ahLst/>
              <a:cxnLst/>
              <a:rect l="0" t="0" r="r" b="b"/>
              <a:pathLst>
                <a:path w="74066" h="137467">
                  <a:moveTo>
                    <a:pt x="74066" y="68734"/>
                  </a:moveTo>
                  <a:cubicBezTo>
                    <a:pt x="74066" y="106694"/>
                    <a:pt x="57486" y="137467"/>
                    <a:pt x="37033" y="137467"/>
                  </a:cubicBezTo>
                  <a:cubicBezTo>
                    <a:pt x="16580" y="137467"/>
                    <a:pt x="0" y="106694"/>
                    <a:pt x="0" y="68734"/>
                  </a:cubicBezTo>
                  <a:cubicBezTo>
                    <a:pt x="0" y="30773"/>
                    <a:pt x="16580" y="0"/>
                    <a:pt x="37033" y="0"/>
                  </a:cubicBezTo>
                  <a:cubicBezTo>
                    <a:pt x="57486" y="0"/>
                    <a:pt x="74066" y="30773"/>
                    <a:pt x="74066" y="68734"/>
                  </a:cubicBezTo>
                  <a:close/>
                </a:path>
              </a:pathLst>
            </a:custGeom>
            <a:solidFill>
              <a:srgbClr val="f6caaa">
                <a:alpha val="100000"/>
              </a:srgbClr>
            </a:solidFill>
            <a:ln w="279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path 121"/>
            <p:cNvSpPr/>
            <p:nvPr/>
          </p:nvSpPr>
          <p:spPr>
            <a:xfrm>
              <a:off x="1833281" y="6445295"/>
              <a:ext cx="303672" cy="378035"/>
            </a:xfrm>
            <a:custGeom>
              <a:avLst/>
              <a:gdLst/>
              <a:ahLst/>
              <a:cxnLst/>
              <a:rect l="0" t="0" r="r" b="b"/>
              <a:pathLst>
                <a:path w="303672" h="378035">
                  <a:moveTo>
                    <a:pt x="0" y="77325"/>
                  </a:moveTo>
                  <a:cubicBezTo>
                    <a:pt x="44440" y="68734"/>
                    <a:pt x="59253" y="8592"/>
                    <a:pt x="74066" y="0"/>
                  </a:cubicBezTo>
                  <a:cubicBezTo>
                    <a:pt x="111100" y="68734"/>
                    <a:pt x="222199" y="60142"/>
                    <a:pt x="303672" y="68734"/>
                  </a:cubicBezTo>
                  <a:lnTo>
                    <a:pt x="303672" y="206201"/>
                  </a:lnTo>
                  <a:cubicBezTo>
                    <a:pt x="296266" y="317893"/>
                    <a:pt x="222199" y="378035"/>
                    <a:pt x="155539" y="378035"/>
                  </a:cubicBezTo>
                  <a:cubicBezTo>
                    <a:pt x="66660" y="360852"/>
                    <a:pt x="7407" y="300710"/>
                    <a:pt x="0" y="206201"/>
                  </a:cubicBezTo>
                  <a:close/>
                </a:path>
              </a:pathLst>
            </a:custGeom>
            <a:solidFill>
              <a:srgbClr val="f8d1b2">
                <a:alpha val="100000"/>
              </a:srgbClr>
            </a:solidFill>
            <a:ln w="303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path 122"/>
            <p:cNvSpPr/>
            <p:nvPr/>
          </p:nvSpPr>
          <p:spPr>
            <a:xfrm>
              <a:off x="1916235" y="6584480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path 123"/>
            <p:cNvSpPr/>
            <p:nvPr/>
          </p:nvSpPr>
          <p:spPr>
            <a:xfrm>
              <a:off x="2049554" y="6584480"/>
              <a:ext cx="26664" cy="30930"/>
            </a:xfrm>
            <a:custGeom>
              <a:avLst/>
              <a:gdLst/>
              <a:ahLst/>
              <a:cxnLst/>
              <a:rect l="0" t="0" r="r" b="b"/>
              <a:pathLst>
                <a:path w="26664" h="30930">
                  <a:moveTo>
                    <a:pt x="26664" y="15465"/>
                  </a:moveTo>
                  <a:cubicBezTo>
                    <a:pt x="26664" y="24006"/>
                    <a:pt x="20695" y="30930"/>
                    <a:pt x="13332" y="30930"/>
                  </a:cubicBezTo>
                  <a:cubicBezTo>
                    <a:pt x="5969" y="30930"/>
                    <a:pt x="0" y="24006"/>
                    <a:pt x="0" y="15465"/>
                  </a:cubicBezTo>
                  <a:cubicBezTo>
                    <a:pt x="0" y="6924"/>
                    <a:pt x="5969" y="0"/>
                    <a:pt x="13332" y="0"/>
                  </a:cubicBezTo>
                  <a:cubicBezTo>
                    <a:pt x="20695" y="0"/>
                    <a:pt x="26664" y="6924"/>
                    <a:pt x="26664" y="15465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path 124"/>
            <p:cNvSpPr/>
            <p:nvPr/>
          </p:nvSpPr>
          <p:spPr>
            <a:xfrm>
              <a:off x="1929567" y="6703046"/>
              <a:ext cx="133320" cy="85917"/>
            </a:xfrm>
            <a:custGeom>
              <a:avLst/>
              <a:gdLst/>
              <a:ahLst/>
              <a:cxnLst/>
              <a:rect l="0" t="0" r="r" b="b"/>
              <a:pathLst>
                <a:path w="133320" h="85917" fill="none">
                  <a:moveTo>
                    <a:pt x="0" y="0"/>
                  </a:moveTo>
                  <a:quadBezTo>
                    <a:pt x="66660" y="85917"/>
                    <a:pt x="133320" y="0"/>
                  </a:quadBezTo>
                </a:path>
              </a:pathLst>
            </a:custGeom>
            <a:noFill/>
            <a:ln w="295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Training encoder / Train subjects illustration"/>
          <p:cNvGrpSpPr/>
          <p:nvPr/>
        </p:nvGrpSpPr>
        <p:grpSpPr>
          <a:xfrm>
            <a:off x="1892534" y="6823330"/>
            <a:ext cx="162946" cy="171834"/>
            <a:chOff x="1892534" y="6823330"/>
            <a:chExt cx="162946" cy="171834"/>
          </a:xfrm>
        </p:grpSpPr>
        <p:sp>
          <p:nvSpPr>
            <p:cNvPr id="136" name="path 125"/>
            <p:cNvSpPr/>
            <p:nvPr/>
          </p:nvSpPr>
          <p:spPr>
            <a:xfrm>
              <a:off x="1892534" y="6823330"/>
              <a:ext cx="162946" cy="171834"/>
            </a:xfrm>
            <a:custGeom>
              <a:avLst/>
              <a:gdLst/>
              <a:ahLst/>
              <a:cxnLst/>
              <a:rect l="0" t="0" r="r" b="b"/>
              <a:pathLst>
                <a:path w="162946" h="171834">
                  <a:moveTo>
                    <a:pt x="0" y="0"/>
                  </a:moveTo>
                  <a:lnTo>
                    <a:pt x="81473" y="85917"/>
                  </a:lnTo>
                  <a:lnTo>
                    <a:pt x="162946" y="0"/>
                  </a:lnTo>
                  <a:lnTo>
                    <a:pt x="133320" y="171834"/>
                  </a:lnTo>
                  <a:lnTo>
                    <a:pt x="59253" y="94509"/>
                  </a:lnTo>
                  <a:lnTo>
                    <a:pt x="7407" y="137467"/>
                  </a:lnTo>
                  <a:close/>
                </a:path>
              </a:pathLst>
            </a:custGeom>
            <a:solidFill>
              <a:srgbClr val="8dccfb">
                <a:alpha val="100000"/>
              </a:srgbClr>
            </a:solidFill>
            <a:ln w="2719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7" name="Training encoder"/>
          <p:cNvGrpSpPr/>
          <p:nvPr/>
        </p:nvGrpSpPr>
        <p:grpSpPr>
          <a:xfrm>
            <a:off x="604947" y="4544568"/>
            <a:ext cx="3445845" cy="2898648"/>
            <a:chOff x="604947" y="4544568"/>
            <a:chExt cx="3445845" cy="2898648"/>
          </a:xfrm>
        </p:grpSpPr>
        <p:sp>
          <p:nvSpPr>
            <p:cNvPr id="138" name="Train Subjects"/>
            <p:cNvSpPr txBox="1"/>
            <p:nvPr/>
          </p:nvSpPr>
          <p:spPr>
            <a:xfrm>
              <a:off x="604947" y="7035028"/>
              <a:ext cx="2008794" cy="408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92" b="0" i="0" dirty="0">
                  <a:solidFill>
                    <a:srgbClr val="0B0B0B"/>
                  </a:solidFill>
                  <a:latin typeface="Liberation Serif"/>
                </a:rPr>
                <a:t>Train Subjects</a:t>
              </a:r>
            </a:p>
          </p:txBody>
        </p:sp>
        <p:sp>
          <p:nvSpPr>
            <p:cNvPr id="139" name="path 127"/>
            <p:cNvSpPr/>
            <p:nvPr/>
          </p:nvSpPr>
          <p:spPr>
            <a:xfrm>
              <a:off x="2843784" y="4544568"/>
              <a:ext cx="1207008" cy="1627632"/>
            </a:xfrm>
            <a:custGeom>
              <a:avLst/>
              <a:gdLst/>
              <a:ahLst/>
              <a:cxnLst/>
              <a:rect l="0" t="0" r="r" b="b"/>
              <a:pathLst>
                <a:path w="1207008" h="1627632">
                  <a:moveTo>
                    <a:pt x="0" y="0"/>
                  </a:moveTo>
                  <a:lnTo>
                    <a:pt x="1207008" y="338328"/>
                  </a:lnTo>
                  <a:lnTo>
                    <a:pt x="1207008" y="1298448"/>
                  </a:lnTo>
                  <a:lnTo>
                    <a:pt x="0" y="1627632"/>
                  </a:lnTo>
                  <a:close/>
                </a:path>
              </a:pathLst>
            </a:custGeom>
            <a:gradFill rotWithShape="1">
              <a:gsLst>
                <a:gs pos="0">
                  <a:srgbClr val="e0e9eb"/>
                </a:gs>
                <a:gs pos="100000">
                  <a:srgbClr val="dce7e9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ViT"/>
            <p:cNvSpPr txBox="1"/>
            <p:nvPr/>
          </p:nvSpPr>
          <p:spPr>
            <a:xfrm>
              <a:off x="3141764" y="5106101"/>
              <a:ext cx="720776" cy="464881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952" b="1" i="0" dirty="0">
                  <a:solidFill>
                    <a:srgbClr val="0B0B0B"/>
                  </a:solidFill>
                  <a:latin typeface="Liberation Serif"/>
                </a:rPr>
                <a:t>ViT</a:t>
              </a:r>
            </a:p>
          </p:txBody>
        </p:sp>
      </p:grpSp>
      <p:grpSp>
        <p:nvGrpSpPr>
          <p:cNvPr id="141" name="Training encoder / Outlined flow arrow"/>
          <p:cNvGrpSpPr/>
          <p:nvPr/>
        </p:nvGrpSpPr>
        <p:grpSpPr>
          <a:xfrm>
            <a:off x="2093976" y="5102352"/>
            <a:ext cx="2679192" cy="621792"/>
            <a:chOff x="2093976" y="5102352"/>
            <a:chExt cx="2679192" cy="621792"/>
          </a:xfrm>
        </p:grpSpPr>
        <p:sp>
          <p:nvSpPr>
            <p:cNvPr id="142" name="path 129"/>
            <p:cNvSpPr/>
            <p:nvPr/>
          </p:nvSpPr>
          <p:spPr>
            <a:xfrm>
              <a:off x="2093976" y="5102352"/>
              <a:ext cx="859536" cy="621792"/>
            </a:xfrm>
            <a:custGeom>
              <a:avLst/>
              <a:gdLst/>
              <a:ahLst/>
              <a:cxnLst/>
              <a:rect l="0" t="0" r="r" b="b"/>
              <a:pathLst>
                <a:path w="859536" h="621792">
                  <a:moveTo>
                    <a:pt x="100584" y="146304"/>
                  </a:moveTo>
                  <a:lnTo>
                    <a:pt x="448056" y="146304"/>
                  </a:lnTo>
                  <a:lnTo>
                    <a:pt x="448056" y="82296"/>
                  </a:lnTo>
                  <a:quadBezTo>
                    <a:pt x="448056" y="0"/>
                    <a:pt x="539496" y="73152"/>
                  </a:quadBezTo>
                  <a:lnTo>
                    <a:pt x="795528" y="256032"/>
                  </a:lnTo>
                  <a:quadBezTo>
                    <a:pt x="859536" y="310896"/>
                    <a:pt x="795528" y="365760"/>
                  </a:quadBezTo>
                  <a:lnTo>
                    <a:pt x="539496" y="548640"/>
                  </a:lnTo>
                  <a:quadBezTo>
                    <a:pt x="448056" y="621792"/>
                    <a:pt x="448056" y="539496"/>
                  </a:quadBezTo>
                  <a:lnTo>
                    <a:pt x="448056" y="475488"/>
                  </a:lnTo>
                  <a:lnTo>
                    <a:pt x="100584" y="475488"/>
                  </a:lnTo>
                  <a:quadBezTo>
                    <a:pt x="0" y="475488"/>
                    <a:pt x="0" y="374904"/>
                  </a:quadBezTo>
                  <a:lnTo>
                    <a:pt x="0" y="246888"/>
                  </a:lnTo>
                  <a:quadBezTo>
                    <a:pt x="0" y="146304"/>
                    <a:pt x="100584" y="146304"/>
                  </a:quadBez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27432" cap="rnd" cmpd="sng">
              <a:solidFill>
                <a:srgbClr val="315ca7"/>
              </a:solidFill>
              <a:round/>
            </a:ln>
            <a:effectLst>
              <a:outerShdw blurRad="73152" dist="71417" dir="3011666" algn="tl" rotWithShape="0">
                <a:srgbClr val="444444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path 130"/>
            <p:cNvSpPr/>
            <p:nvPr/>
          </p:nvSpPr>
          <p:spPr>
            <a:xfrm>
              <a:off x="2157984" y="5212080"/>
              <a:ext cx="694944" cy="402336"/>
            </a:xfrm>
            <a:custGeom>
              <a:avLst/>
              <a:gdLst/>
              <a:ahLst/>
              <a:cxnLst/>
              <a:rect l="0" t="0" r="r" b="b"/>
              <a:pathLst>
                <a:path w="694944" h="402336">
                  <a:moveTo>
                    <a:pt x="36576" y="100584"/>
                  </a:moveTo>
                  <a:lnTo>
                    <a:pt x="448056" y="100584"/>
                  </a:lnTo>
                  <a:lnTo>
                    <a:pt x="448056" y="0"/>
                  </a:lnTo>
                  <a:lnTo>
                    <a:pt x="694944" y="201168"/>
                  </a:lnTo>
                  <a:lnTo>
                    <a:pt x="448056" y="402336"/>
                  </a:lnTo>
                  <a:lnTo>
                    <a:pt x="448056" y="301752"/>
                  </a:lnTo>
                  <a:lnTo>
                    <a:pt x="36576" y="301752"/>
                  </a:lnTo>
                  <a:quadBezTo>
                    <a:pt x="0" y="301752"/>
                    <a:pt x="0" y="265176"/>
                  </a:quadBezTo>
                  <a:lnTo>
                    <a:pt x="0" y="137160"/>
                  </a:lnTo>
                  <a:quadBezTo>
                    <a:pt x="0" y="100584"/>
                    <a:pt x="36576" y="100584"/>
                  </a:quadBezTo>
                  <a:close/>
                </a:path>
              </a:pathLst>
            </a:custGeom>
            <a:solidFill>
              <a:srgbClr val="e9ebec">
                <a:alpha val="100000"/>
              </a:srgbClr>
            </a:solidFill>
            <a:ln w="22860" cap="rnd" cmpd="sng">
              <a:solidFill>
                <a:srgbClr val="315c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path 131"/>
            <p:cNvSpPr/>
            <p:nvPr/>
          </p:nvSpPr>
          <p:spPr>
            <a:xfrm>
              <a:off x="3904488" y="5102352"/>
              <a:ext cx="868680" cy="621792"/>
            </a:xfrm>
            <a:custGeom>
              <a:avLst/>
              <a:gdLst/>
              <a:ahLst/>
              <a:cxnLst/>
              <a:rect l="0" t="0" r="r" b="b"/>
              <a:pathLst>
                <a:path w="868680" h="621792">
                  <a:moveTo>
                    <a:pt x="100584" y="146304"/>
                  </a:moveTo>
                  <a:lnTo>
                    <a:pt x="457200" y="146304"/>
                  </a:lnTo>
                  <a:lnTo>
                    <a:pt x="457200" y="82296"/>
                  </a:lnTo>
                  <a:quadBezTo>
                    <a:pt x="457200" y="0"/>
                    <a:pt x="548640" y="73152"/>
                  </a:quadBezTo>
                  <a:lnTo>
                    <a:pt x="804672" y="256032"/>
                  </a:lnTo>
                  <a:quadBezTo>
                    <a:pt x="868680" y="310896"/>
                    <a:pt x="804672" y="365760"/>
                  </a:quadBezTo>
                  <a:lnTo>
                    <a:pt x="548640" y="548640"/>
                  </a:lnTo>
                  <a:quadBezTo>
                    <a:pt x="457200" y="621792"/>
                    <a:pt x="457200" y="539496"/>
                  </a:quadBezTo>
                  <a:lnTo>
                    <a:pt x="457200" y="475488"/>
                  </a:lnTo>
                  <a:lnTo>
                    <a:pt x="100584" y="475488"/>
                  </a:lnTo>
                  <a:quadBezTo>
                    <a:pt x="0" y="475488"/>
                    <a:pt x="0" y="374904"/>
                  </a:quadBezTo>
                  <a:lnTo>
                    <a:pt x="0" y="246888"/>
                  </a:lnTo>
                  <a:quadBezTo>
                    <a:pt x="0" y="146304"/>
                    <a:pt x="100584" y="146304"/>
                  </a:quadBez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27432" cap="rnd" cmpd="sng">
              <a:solidFill>
                <a:srgbClr val="315ca7"/>
              </a:solidFill>
              <a:round/>
            </a:ln>
            <a:effectLst>
              <a:outerShdw blurRad="73152" dist="71417" dir="3011666" algn="tl" rotWithShape="0">
                <a:srgbClr val="444444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path 132"/>
            <p:cNvSpPr/>
            <p:nvPr/>
          </p:nvSpPr>
          <p:spPr>
            <a:xfrm>
              <a:off x="3968496" y="5212080"/>
              <a:ext cx="704088" cy="402336"/>
            </a:xfrm>
            <a:custGeom>
              <a:avLst/>
              <a:gdLst/>
              <a:ahLst/>
              <a:cxnLst/>
              <a:rect l="0" t="0" r="r" b="b"/>
              <a:pathLst>
                <a:path w="704088" h="402336">
                  <a:moveTo>
                    <a:pt x="36576" y="100584"/>
                  </a:moveTo>
                  <a:lnTo>
                    <a:pt x="457200" y="100584"/>
                  </a:lnTo>
                  <a:lnTo>
                    <a:pt x="457200" y="0"/>
                  </a:lnTo>
                  <a:lnTo>
                    <a:pt x="704088" y="201168"/>
                  </a:lnTo>
                  <a:lnTo>
                    <a:pt x="457200" y="402336"/>
                  </a:lnTo>
                  <a:lnTo>
                    <a:pt x="457200" y="301752"/>
                  </a:lnTo>
                  <a:lnTo>
                    <a:pt x="36576" y="301752"/>
                  </a:lnTo>
                  <a:quadBezTo>
                    <a:pt x="0" y="301752"/>
                    <a:pt x="0" y="265176"/>
                  </a:quadBezTo>
                  <a:lnTo>
                    <a:pt x="0" y="137160"/>
                  </a:lnTo>
                  <a:quadBezTo>
                    <a:pt x="0" y="100584"/>
                    <a:pt x="36576" y="100584"/>
                  </a:quadBezTo>
                  <a:close/>
                </a:path>
              </a:pathLst>
            </a:custGeom>
            <a:solidFill>
              <a:srgbClr val="e9ebec">
                <a:alpha val="100000"/>
              </a:srgbClr>
            </a:solidFill>
            <a:ln w="22860" cap="rnd" cmpd="sng">
              <a:solidFill>
                <a:srgbClr val="315ca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6" name="Subject invariant representation"/>
          <p:cNvGrpSpPr/>
          <p:nvPr/>
        </p:nvGrpSpPr>
        <p:grpSpPr>
          <a:xfrm>
            <a:off x="5138928" y="1901952"/>
            <a:ext cx="2071416" cy="3520440"/>
            <a:chOff x="5138928" y="1901952"/>
            <a:chExt cx="2071416" cy="3520440"/>
          </a:xfrm>
        </p:grpSpPr>
        <p:sp>
          <p:nvSpPr>
            <p:cNvPr id="147" name="path 133"/>
            <p:cNvSpPr/>
            <p:nvPr/>
          </p:nvSpPr>
          <p:spPr>
            <a:xfrm>
              <a:off x="5522976" y="2468880"/>
              <a:ext cx="822960" cy="2953512"/>
            </a:xfrm>
            <a:custGeom>
              <a:avLst/>
              <a:gdLst/>
              <a:ahLst/>
              <a:cxnLst/>
              <a:rect l="0" t="0" r="r" b="b"/>
              <a:pathLst>
                <a:path w="822960" h="2953512" fill="none">
                  <a:moveTo>
                    <a:pt x="310896" y="2953512"/>
                  </a:moveTo>
                  <a:cubicBezTo>
                    <a:pt x="822960" y="2478024"/>
                    <a:pt x="731520" y="192024"/>
                    <a:pt x="0" y="0"/>
                  </a:cubicBez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path 134"/>
            <p:cNvSpPr/>
            <p:nvPr/>
          </p:nvSpPr>
          <p:spPr>
            <a:xfrm>
              <a:off x="5486400" y="2423160"/>
              <a:ext cx="210312" cy="173736"/>
            </a:xfrm>
            <a:custGeom>
              <a:avLst/>
              <a:gdLst/>
              <a:ahLst/>
              <a:cxnLst/>
              <a:rect l="0" t="0" r="r" b="b"/>
              <a:pathLst>
                <a:path w="210312" h="173736">
                  <a:moveTo>
                    <a:pt x="0" y="18288"/>
                  </a:moveTo>
                  <a:lnTo>
                    <a:pt x="210312" y="0"/>
                  </a:lnTo>
                  <a:lnTo>
                    <a:pt x="118872" y="173736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path 135"/>
            <p:cNvSpPr/>
            <p:nvPr/>
          </p:nvSpPr>
          <p:spPr>
            <a:xfrm>
              <a:off x="5330952" y="2032711"/>
              <a:ext cx="914" cy="811073"/>
            </a:xfrm>
            <a:custGeom>
              <a:avLst/>
              <a:gdLst/>
              <a:ahLst/>
              <a:cxnLst/>
              <a:rect l="0" t="0" r="r" b="b"/>
              <a:pathLst>
                <a:path w="914" h="811073" fill="none">
                  <a:moveTo>
                    <a:pt x="0" y="811073"/>
                  </a:moveTo>
                  <a:lnTo>
                    <a:pt x="0" y="0"/>
                  </a:lnTo>
                </a:path>
              </a:pathLst>
            </a:custGeom>
            <a:noFill/>
            <a:ln w="54864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path 136"/>
            <p:cNvSpPr/>
            <p:nvPr/>
          </p:nvSpPr>
          <p:spPr>
            <a:xfrm>
              <a:off x="5226345" y="1901952"/>
              <a:ext cx="209215" cy="201168"/>
            </a:xfrm>
            <a:custGeom>
              <a:avLst/>
              <a:gdLst/>
              <a:ahLst/>
              <a:cxnLst/>
              <a:rect l="0" t="0" r="r" b="b"/>
              <a:pathLst>
                <a:path w="209215" h="201168">
                  <a:moveTo>
                    <a:pt x="104607" y="0"/>
                  </a:moveTo>
                  <a:lnTo>
                    <a:pt x="209215" y="201168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path 137"/>
            <p:cNvSpPr/>
            <p:nvPr/>
          </p:nvSpPr>
          <p:spPr>
            <a:xfrm>
              <a:off x="5148072" y="2258568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347472" h="347472">
                  <a:moveTo>
                    <a:pt x="347472" y="173736"/>
                  </a:moveTo>
                  <a:cubicBezTo>
                    <a:pt x="347472" y="269688"/>
                    <a:pt x="269688" y="347472"/>
                    <a:pt x="173736" y="347472"/>
                  </a:cubicBezTo>
                  <a:cubicBezTo>
                    <a:pt x="77784" y="347472"/>
                    <a:pt x="0" y="269688"/>
                    <a:pt x="0" y="173736"/>
                  </a:cubicBezTo>
                  <a:cubicBezTo>
                    <a:pt x="0" y="77784"/>
                    <a:pt x="77784" y="0"/>
                    <a:pt x="173736" y="0"/>
                  </a:cubicBezTo>
                  <a:cubicBezTo>
                    <a:pt x="269688" y="0"/>
                    <a:pt x="347472" y="77784"/>
                    <a:pt x="347472" y="17373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path 138"/>
            <p:cNvSpPr/>
            <p:nvPr/>
          </p:nvSpPr>
          <p:spPr>
            <a:xfrm>
              <a:off x="5138928" y="2432304"/>
              <a:ext cx="365760" cy="914"/>
            </a:xfrm>
            <a:custGeom>
              <a:avLst/>
              <a:gdLst/>
              <a:ahLst/>
              <a:cxnLst/>
              <a:rect l="0" t="0" r="r" b="b"/>
              <a:pathLst>
                <a:path w="365760" h="914" fill="none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noFill/>
            <a:ln w="45720" cap="rnd" cmpd="sng">
              <a:solidFill>
                <a:srgbClr val="072e3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Difference"/>
            <p:cNvSpPr txBox="1"/>
            <p:nvPr/>
          </p:nvSpPr>
          <p:spPr>
            <a:xfrm>
              <a:off x="5742432" y="2279965"/>
              <a:ext cx="1467912" cy="385511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48" b="1" i="1" dirty="0">
                  <a:solidFill>
                    <a:srgbClr val="0B0B0B"/>
                  </a:solidFill>
                  <a:latin typeface="Liberation Serif"/>
                </a:rPr>
                <a:t>Difference</a:t>
              </a:r>
            </a:p>
          </p:txBody>
        </p:sp>
      </p:grpSp>
      <p:grpSp>
        <p:nvGrpSpPr>
          <p:cNvPr id="154" name="Subject invariant representation / Subject-specific feature E_s"/>
          <p:cNvGrpSpPr/>
          <p:nvPr/>
        </p:nvGrpSpPr>
        <p:grpSpPr>
          <a:xfrm>
            <a:off x="4828032" y="996696"/>
            <a:ext cx="923544" cy="777240"/>
            <a:chOff x="4828032" y="996696"/>
            <a:chExt cx="923544" cy="777240"/>
          </a:xfrm>
        </p:grpSpPr>
        <p:sp>
          <p:nvSpPr>
            <p:cNvPr id="155" name="path 140"/>
            <p:cNvSpPr/>
            <p:nvPr/>
          </p:nvSpPr>
          <p:spPr>
            <a:xfrm>
              <a:off x="4828032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path 141"/>
            <p:cNvSpPr/>
            <p:nvPr/>
          </p:nvSpPr>
          <p:spPr>
            <a:xfrm>
              <a:off x="4828032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path 142"/>
            <p:cNvSpPr/>
            <p:nvPr/>
          </p:nvSpPr>
          <p:spPr>
            <a:xfrm>
              <a:off x="4965192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path 143"/>
            <p:cNvSpPr/>
            <p:nvPr/>
          </p:nvSpPr>
          <p:spPr>
            <a:xfrm>
              <a:off x="5074920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path 144"/>
            <p:cNvSpPr/>
            <p:nvPr/>
          </p:nvSpPr>
          <p:spPr>
            <a:xfrm>
              <a:off x="5074920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ath 145"/>
            <p:cNvSpPr/>
            <p:nvPr/>
          </p:nvSpPr>
          <p:spPr>
            <a:xfrm>
              <a:off x="5212080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path 146"/>
            <p:cNvSpPr/>
            <p:nvPr/>
          </p:nvSpPr>
          <p:spPr>
            <a:xfrm>
              <a:off x="5321808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path 147"/>
            <p:cNvSpPr/>
            <p:nvPr/>
          </p:nvSpPr>
          <p:spPr>
            <a:xfrm>
              <a:off x="5321808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path 148"/>
            <p:cNvSpPr/>
            <p:nvPr/>
          </p:nvSpPr>
          <p:spPr>
            <a:xfrm>
              <a:off x="5458968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path 149"/>
            <p:cNvSpPr/>
            <p:nvPr/>
          </p:nvSpPr>
          <p:spPr>
            <a:xfrm>
              <a:off x="5568696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path 150"/>
            <p:cNvSpPr/>
            <p:nvPr/>
          </p:nvSpPr>
          <p:spPr>
            <a:xfrm>
              <a:off x="5568696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path 151"/>
            <p:cNvSpPr/>
            <p:nvPr/>
          </p:nvSpPr>
          <p:spPr>
            <a:xfrm>
              <a:off x="5705856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Subject invariant representation / Subject-invariant feature E_i"/>
          <p:cNvGrpSpPr/>
          <p:nvPr/>
        </p:nvGrpSpPr>
        <p:grpSpPr>
          <a:xfrm>
            <a:off x="4855464" y="2953512"/>
            <a:ext cx="923544" cy="777240"/>
            <a:chOff x="4855464" y="2953512"/>
            <a:chExt cx="923544" cy="777240"/>
          </a:xfrm>
        </p:grpSpPr>
        <p:sp>
          <p:nvSpPr>
            <p:cNvPr id="168" name="path 152"/>
            <p:cNvSpPr/>
            <p:nvPr/>
          </p:nvSpPr>
          <p:spPr>
            <a:xfrm>
              <a:off x="4855464" y="2953512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path 153"/>
            <p:cNvSpPr/>
            <p:nvPr/>
          </p:nvSpPr>
          <p:spPr>
            <a:xfrm>
              <a:off x="4855464" y="3008376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path 154"/>
            <p:cNvSpPr/>
            <p:nvPr/>
          </p:nvSpPr>
          <p:spPr>
            <a:xfrm>
              <a:off x="4992624" y="2953512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path 155"/>
            <p:cNvSpPr/>
            <p:nvPr/>
          </p:nvSpPr>
          <p:spPr>
            <a:xfrm>
              <a:off x="5102352" y="2953512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path 156"/>
            <p:cNvSpPr/>
            <p:nvPr/>
          </p:nvSpPr>
          <p:spPr>
            <a:xfrm>
              <a:off x="5102352" y="3008376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path 157"/>
            <p:cNvSpPr/>
            <p:nvPr/>
          </p:nvSpPr>
          <p:spPr>
            <a:xfrm>
              <a:off x="5239512" y="2953512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path 158"/>
            <p:cNvSpPr/>
            <p:nvPr/>
          </p:nvSpPr>
          <p:spPr>
            <a:xfrm>
              <a:off x="5349240" y="2953512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path 159"/>
            <p:cNvSpPr/>
            <p:nvPr/>
          </p:nvSpPr>
          <p:spPr>
            <a:xfrm>
              <a:off x="5349240" y="3008376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path 160"/>
            <p:cNvSpPr/>
            <p:nvPr/>
          </p:nvSpPr>
          <p:spPr>
            <a:xfrm>
              <a:off x="5486400" y="2953512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path 161"/>
            <p:cNvSpPr/>
            <p:nvPr/>
          </p:nvSpPr>
          <p:spPr>
            <a:xfrm>
              <a:off x="5596128" y="2953512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path 162"/>
            <p:cNvSpPr/>
            <p:nvPr/>
          </p:nvSpPr>
          <p:spPr>
            <a:xfrm>
              <a:off x="5596128" y="3008376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path 163"/>
            <p:cNvSpPr/>
            <p:nvPr/>
          </p:nvSpPr>
          <p:spPr>
            <a:xfrm>
              <a:off x="5733288" y="2953512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Subject invariant representation / Backbone feature E"/>
          <p:cNvGrpSpPr/>
          <p:nvPr/>
        </p:nvGrpSpPr>
        <p:grpSpPr>
          <a:xfrm>
            <a:off x="4901184" y="5038344"/>
            <a:ext cx="923544" cy="777240"/>
            <a:chOff x="4901184" y="5038344"/>
            <a:chExt cx="923544" cy="777240"/>
          </a:xfrm>
        </p:grpSpPr>
        <p:sp>
          <p:nvSpPr>
            <p:cNvPr id="181" name="path 164"/>
            <p:cNvSpPr/>
            <p:nvPr/>
          </p:nvSpPr>
          <p:spPr>
            <a:xfrm>
              <a:off x="4901184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path 165"/>
            <p:cNvSpPr/>
            <p:nvPr/>
          </p:nvSpPr>
          <p:spPr>
            <a:xfrm>
              <a:off x="4901184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path 166"/>
            <p:cNvSpPr/>
            <p:nvPr/>
          </p:nvSpPr>
          <p:spPr>
            <a:xfrm>
              <a:off x="5038344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path 167"/>
            <p:cNvSpPr/>
            <p:nvPr/>
          </p:nvSpPr>
          <p:spPr>
            <a:xfrm>
              <a:off x="5148072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path 168"/>
            <p:cNvSpPr/>
            <p:nvPr/>
          </p:nvSpPr>
          <p:spPr>
            <a:xfrm>
              <a:off x="5148072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path 169"/>
            <p:cNvSpPr/>
            <p:nvPr/>
          </p:nvSpPr>
          <p:spPr>
            <a:xfrm>
              <a:off x="5285232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path 170"/>
            <p:cNvSpPr/>
            <p:nvPr/>
          </p:nvSpPr>
          <p:spPr>
            <a:xfrm>
              <a:off x="5394960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path 171"/>
            <p:cNvSpPr/>
            <p:nvPr/>
          </p:nvSpPr>
          <p:spPr>
            <a:xfrm>
              <a:off x="5394960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path 172"/>
            <p:cNvSpPr/>
            <p:nvPr/>
          </p:nvSpPr>
          <p:spPr>
            <a:xfrm>
              <a:off x="5532120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path 173"/>
            <p:cNvSpPr/>
            <p:nvPr/>
          </p:nvSpPr>
          <p:spPr>
            <a:xfrm>
              <a:off x="5641848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path 174"/>
            <p:cNvSpPr/>
            <p:nvPr/>
          </p:nvSpPr>
          <p:spPr>
            <a:xfrm>
              <a:off x="5641848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d7e7ef"/>
                </a:gs>
                <a:gs pos="100000">
                  <a:srgbClr val="80abc5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path 175"/>
            <p:cNvSpPr/>
            <p:nvPr/>
          </p:nvSpPr>
          <p:spPr>
            <a:xfrm>
              <a:off x="5779008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3" name="Subject invariant representation"/>
          <p:cNvGrpSpPr/>
          <p:nvPr/>
        </p:nvGrpSpPr>
        <p:grpSpPr>
          <a:xfrm>
            <a:off x="4325112" y="1211580"/>
            <a:ext cx="4078224" cy="5058918"/>
            <a:chOff x="4325112" y="1211580"/>
            <a:chExt cx="4078224" cy="5058918"/>
          </a:xfrm>
        </p:grpSpPr>
        <p:sp>
          <p:nvSpPr>
            <p:cNvPr id="194" name="E"/>
            <p:cNvSpPr txBox="1"/>
            <p:nvPr/>
          </p:nvSpPr>
          <p:spPr>
            <a:xfrm>
              <a:off x="5888736" y="1585844"/>
              <a:ext cx="371989" cy="48755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095" b="1" i="1" dirty="0">
                  <a:solidFill>
                    <a:srgbClr val="0B0B0B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195" name="s"/>
            <p:cNvSpPr txBox="1"/>
            <p:nvPr/>
          </p:nvSpPr>
          <p:spPr>
            <a:xfrm>
              <a:off x="6116787" y="1777289"/>
              <a:ext cx="215413" cy="3364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36" b="1" i="1" dirty="0">
                  <a:solidFill>
                    <a:srgbClr val="0B0B0B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196" name="E"/>
            <p:cNvSpPr txBox="1"/>
            <p:nvPr/>
          </p:nvSpPr>
          <p:spPr>
            <a:xfrm>
              <a:off x="5897880" y="3634100"/>
              <a:ext cx="371989" cy="48755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095" b="1" i="1" dirty="0">
                  <a:solidFill>
                    <a:srgbClr val="0B0B0B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197" name="i"/>
            <p:cNvSpPr txBox="1"/>
            <p:nvPr/>
          </p:nvSpPr>
          <p:spPr>
            <a:xfrm>
              <a:off x="6125931" y="3825545"/>
              <a:ext cx="185180" cy="3364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36" b="1" i="1" dirty="0">
                  <a:solidFill>
                    <a:srgbClr val="0B0B0B"/>
                  </a:solidFill>
                  <a:latin typeface="Liberation Serif"/>
                </a:rPr>
                <a:t>i</a:t>
              </a:r>
            </a:p>
          </p:txBody>
        </p:sp>
        <p:sp>
          <p:nvSpPr>
            <p:cNvPr id="198" name="E"/>
            <p:cNvSpPr txBox="1"/>
            <p:nvPr/>
          </p:nvSpPr>
          <p:spPr>
            <a:xfrm>
              <a:off x="5239512" y="5782940"/>
              <a:ext cx="371989" cy="48755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095" b="1" i="1" dirty="0">
                  <a:solidFill>
                    <a:srgbClr val="0B0B0B"/>
                  </a:solidFill>
                  <a:latin typeface="Liberation Serif"/>
                </a:rPr>
                <a:t>E</a:t>
              </a:r>
            </a:p>
          </p:txBody>
        </p:sp>
        <p:sp>
          <p:nvSpPr>
            <p:cNvPr id="199" name="path 181"/>
            <p:cNvSpPr/>
            <p:nvPr/>
          </p:nvSpPr>
          <p:spPr>
            <a:xfrm>
              <a:off x="5202936" y="3831336"/>
              <a:ext cx="274320" cy="1042416"/>
            </a:xfrm>
            <a:custGeom>
              <a:avLst/>
              <a:gdLst/>
              <a:ahLst/>
              <a:cxnLst/>
              <a:rect l="0" t="0" r="r" b="b"/>
              <a:pathLst>
                <a:path w="274320" h="1042416">
                  <a:moveTo>
                    <a:pt x="68580" y="1042416"/>
                  </a:moveTo>
                  <a:lnTo>
                    <a:pt x="68580" y="210312"/>
                  </a:lnTo>
                  <a:lnTo>
                    <a:pt x="0" y="210312"/>
                  </a:lnTo>
                  <a:lnTo>
                    <a:pt x="137160" y="0"/>
                  </a:lnTo>
                  <a:lnTo>
                    <a:pt x="274320" y="210312"/>
                  </a:lnTo>
                  <a:lnTo>
                    <a:pt x="205740" y="210312"/>
                  </a:lnTo>
                  <a:lnTo>
                    <a:pt x="205740" y="1042416"/>
                  </a:lnTo>
                  <a:close/>
                </a:path>
              </a:pathLst>
            </a:custGeom>
            <a:gradFill rotWithShape="1">
              <a:gsLst>
                <a:gs pos="0">
                  <a:srgbClr val="e0f3f5"/>
                </a:gs>
                <a:gs pos="100000">
                  <a:srgbClr val="9ed0e1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ℱ"/>
            <p:cNvSpPr txBox="1"/>
            <p:nvPr/>
          </p:nvSpPr>
          <p:spPr>
            <a:xfrm>
              <a:off x="4325112" y="4237604"/>
              <a:ext cx="465172" cy="48755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095" b="0" i="0" dirty="0">
                  <a:solidFill>
                    <a:srgbClr val="0B0B0B"/>
                  </a:solidFill>
                  <a:latin typeface="Latin Modern Math"/>
                </a:rPr>
                <a:t>ℱ</a:t>
              </a:r>
            </a:p>
          </p:txBody>
        </p:sp>
        <p:sp>
          <p:nvSpPr>
            <p:cNvPr id="201" name="i"/>
            <p:cNvSpPr txBox="1"/>
            <p:nvPr/>
          </p:nvSpPr>
          <p:spPr>
            <a:xfrm>
              <a:off x="4600346" y="4429049"/>
              <a:ext cx="185180" cy="3364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36" b="0" i="1" dirty="0">
                  <a:solidFill>
                    <a:srgbClr val="0B0B0B"/>
                  </a:solidFill>
                  <a:latin typeface="Liberation Serif"/>
                </a:rPr>
                <a:t>i</a:t>
              </a:r>
            </a:p>
          </p:txBody>
        </p:sp>
        <p:sp>
          <p:nvSpPr>
            <p:cNvPr id="202" name="(·)"/>
            <p:cNvSpPr txBox="1"/>
            <p:nvPr/>
          </p:nvSpPr>
          <p:spPr>
            <a:xfrm>
              <a:off x="4706508" y="4237604"/>
              <a:ext cx="502520" cy="48755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095" b="0" i="0" dirty="0">
                  <a:solidFill>
                    <a:srgbClr val="0B0B0B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203" name="path 185"/>
            <p:cNvSpPr/>
            <p:nvPr/>
          </p:nvSpPr>
          <p:spPr>
            <a:xfrm>
              <a:off x="6172200" y="1211580"/>
              <a:ext cx="2231136" cy="356616"/>
            </a:xfrm>
            <a:custGeom>
              <a:avLst/>
              <a:gdLst/>
              <a:ahLst/>
              <a:cxnLst/>
              <a:rect l="0" t="0" r="r" b="b"/>
              <a:pathLst>
                <a:path w="2231136" h="356616">
                  <a:moveTo>
                    <a:pt x="0" y="91440"/>
                  </a:moveTo>
                  <a:lnTo>
                    <a:pt x="1938528" y="91440"/>
                  </a:lnTo>
                  <a:lnTo>
                    <a:pt x="1938528" y="0"/>
                  </a:lnTo>
                  <a:lnTo>
                    <a:pt x="2231136" y="178308"/>
                  </a:lnTo>
                  <a:lnTo>
                    <a:pt x="1938528" y="356616"/>
                  </a:lnTo>
                  <a:lnTo>
                    <a:pt x="1938528" y="265176"/>
                  </a:lnTo>
                  <a:lnTo>
                    <a:pt x="0" y="265176"/>
                  </a:lnTo>
                  <a:close/>
                </a:path>
              </a:pathLst>
            </a:custGeom>
            <a:gradFill rotWithShape="1">
              <a:gsLst>
                <a:gs pos="0">
                  <a:srgbClr val="e0f3f5"/>
                </a:gs>
                <a:gs pos="100000">
                  <a:srgbClr val="9ed0e1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path 186"/>
            <p:cNvSpPr/>
            <p:nvPr/>
          </p:nvSpPr>
          <p:spPr>
            <a:xfrm>
              <a:off x="6172200" y="3186684"/>
              <a:ext cx="2231136" cy="356616"/>
            </a:xfrm>
            <a:custGeom>
              <a:avLst/>
              <a:gdLst/>
              <a:ahLst/>
              <a:cxnLst/>
              <a:rect l="0" t="0" r="r" b="b"/>
              <a:pathLst>
                <a:path w="2231136" h="356616">
                  <a:moveTo>
                    <a:pt x="0" y="91440"/>
                  </a:moveTo>
                  <a:lnTo>
                    <a:pt x="1938528" y="91440"/>
                  </a:lnTo>
                  <a:lnTo>
                    <a:pt x="1938528" y="0"/>
                  </a:lnTo>
                  <a:lnTo>
                    <a:pt x="2231136" y="178308"/>
                  </a:lnTo>
                  <a:lnTo>
                    <a:pt x="1938528" y="356616"/>
                  </a:lnTo>
                  <a:lnTo>
                    <a:pt x="1938528" y="265176"/>
                  </a:lnTo>
                  <a:lnTo>
                    <a:pt x="0" y="265176"/>
                  </a:lnTo>
                  <a:close/>
                </a:path>
              </a:pathLst>
            </a:custGeom>
            <a:gradFill rotWithShape="1">
              <a:gsLst>
                <a:gs pos="0">
                  <a:srgbClr val="e0f3f5"/>
                </a:gs>
                <a:gs pos="100000">
                  <a:srgbClr val="9ed0e1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path 187"/>
            <p:cNvSpPr/>
            <p:nvPr/>
          </p:nvSpPr>
          <p:spPr>
            <a:xfrm>
              <a:off x="6172200" y="5234940"/>
              <a:ext cx="2231136" cy="356616"/>
            </a:xfrm>
            <a:custGeom>
              <a:avLst/>
              <a:gdLst/>
              <a:ahLst/>
              <a:cxnLst/>
              <a:rect l="0" t="0" r="r" b="b"/>
              <a:pathLst>
                <a:path w="2231136" h="356616">
                  <a:moveTo>
                    <a:pt x="0" y="91440"/>
                  </a:moveTo>
                  <a:lnTo>
                    <a:pt x="1938528" y="91440"/>
                  </a:lnTo>
                  <a:lnTo>
                    <a:pt x="1938528" y="0"/>
                  </a:lnTo>
                  <a:lnTo>
                    <a:pt x="2231136" y="178308"/>
                  </a:lnTo>
                  <a:lnTo>
                    <a:pt x="1938528" y="356616"/>
                  </a:lnTo>
                  <a:lnTo>
                    <a:pt x="1938528" y="265176"/>
                  </a:lnTo>
                  <a:lnTo>
                    <a:pt x="0" y="265176"/>
                  </a:lnTo>
                  <a:close/>
                </a:path>
              </a:pathLst>
            </a:custGeom>
            <a:gradFill rotWithShape="1">
              <a:gsLst>
                <a:gs pos="0">
                  <a:srgbClr val="e0f3f5"/>
                </a:gs>
                <a:gs pos="100000">
                  <a:srgbClr val="9ed0e1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6" name="Reconstruction regularization"/>
          <p:cNvGrpSpPr/>
          <p:nvPr/>
        </p:nvGrpSpPr>
        <p:grpSpPr>
          <a:xfrm>
            <a:off x="5266944" y="6245352"/>
            <a:ext cx="2690322" cy="1125626"/>
            <a:chOff x="5266944" y="6245352"/>
            <a:chExt cx="2690322" cy="1125626"/>
          </a:xfrm>
        </p:grpSpPr>
        <p:sp>
          <p:nvSpPr>
            <p:cNvPr id="207" name="path 188"/>
            <p:cNvSpPr/>
            <p:nvPr/>
          </p:nvSpPr>
          <p:spPr>
            <a:xfrm>
              <a:off x="5266944" y="6245352"/>
              <a:ext cx="658368" cy="713232"/>
            </a:xfrm>
            <a:custGeom>
              <a:avLst/>
              <a:gdLst/>
              <a:ahLst/>
              <a:cxnLst/>
              <a:rect l="0" t="0" r="r" b="b"/>
              <a:pathLst>
                <a:path w="658368" h="713232">
                  <a:moveTo>
                    <a:pt x="0" y="0"/>
                  </a:moveTo>
                  <a:lnTo>
                    <a:pt x="0" y="448056"/>
                  </a:lnTo>
                  <a:quadBezTo>
                    <a:pt x="0" y="612648"/>
                    <a:pt x="164592" y="612648"/>
                  </a:quadBezTo>
                  <a:lnTo>
                    <a:pt x="384048" y="612648"/>
                  </a:lnTo>
                  <a:lnTo>
                    <a:pt x="384048" y="713232"/>
                  </a:lnTo>
                  <a:lnTo>
                    <a:pt x="658368" y="539496"/>
                  </a:lnTo>
                  <a:lnTo>
                    <a:pt x="402336" y="365760"/>
                  </a:lnTo>
                  <a:lnTo>
                    <a:pt x="402336" y="466344"/>
                  </a:lnTo>
                  <a:lnTo>
                    <a:pt x="173736" y="466344"/>
                  </a:lnTo>
                  <a:quadBezTo>
                    <a:pt x="118872" y="466344"/>
                    <a:pt x="118872" y="393192"/>
                  </a:quadBezTo>
                  <a:lnTo>
                    <a:pt x="118872" y="0"/>
                  </a:lnTo>
                  <a:close/>
                </a:path>
              </a:pathLst>
            </a:custGeom>
            <a:solidFill>
              <a:srgbClr val="92adbf">
                <a:alpha val="100000"/>
              </a:srgbClr>
            </a:solidFill>
            <a:ln w="31090" cap="rnd" cmpd="sng">
              <a:solidFill>
                <a:srgbClr val="3b4349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path 189"/>
            <p:cNvSpPr/>
            <p:nvPr/>
          </p:nvSpPr>
          <p:spPr>
            <a:xfrm>
              <a:off x="5879592" y="6245352"/>
              <a:ext cx="1325880" cy="1115568"/>
            </a:xfrm>
            <a:custGeom>
              <a:avLst/>
              <a:gdLst/>
              <a:ahLst/>
              <a:cxnLst/>
              <a:rect l="0" t="0" r="r" b="b"/>
              <a:pathLst>
                <a:path w="1325880" h="1115568">
                  <a:moveTo>
                    <a:pt x="0" y="228600"/>
                  </a:moveTo>
                  <a:lnTo>
                    <a:pt x="1325880" y="0"/>
                  </a:lnTo>
                  <a:lnTo>
                    <a:pt x="1325880" y="1115568"/>
                  </a:lnTo>
                  <a:lnTo>
                    <a:pt x="0" y="886968"/>
                  </a:lnTo>
                  <a:close/>
                </a:path>
              </a:pathLst>
            </a:custGeom>
            <a:gradFill rotWithShape="1">
              <a:gsLst>
                <a:gs pos="0">
                  <a:srgbClr val="e0e9eb"/>
                </a:gs>
                <a:gs pos="100000">
                  <a:srgbClr val="dce7e9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Decoder"/>
            <p:cNvSpPr txBox="1"/>
            <p:nvPr/>
          </p:nvSpPr>
          <p:spPr>
            <a:xfrm>
              <a:off x="6027182" y="6595750"/>
              <a:ext cx="1149572" cy="36283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304" b="1" i="0" dirty="0">
                  <a:solidFill>
                    <a:srgbClr val="0B0B0B"/>
                  </a:solidFill>
                  <a:latin typeface="Liberation Serif"/>
                </a:rPr>
                <a:t>Decoder</a:t>
              </a:r>
            </a:p>
          </p:txBody>
        </p:sp>
        <p:sp>
          <p:nvSpPr>
            <p:cNvPr id="210" name="path 191"/>
            <p:cNvSpPr/>
            <p:nvPr/>
          </p:nvSpPr>
          <p:spPr>
            <a:xfrm>
              <a:off x="7251192" y="6679692"/>
              <a:ext cx="585216" cy="246888"/>
            </a:xfrm>
            <a:custGeom>
              <a:avLst/>
              <a:gdLst/>
              <a:ahLst/>
              <a:cxnLst/>
              <a:rect l="0" t="0" r="r" b="b"/>
              <a:pathLst>
                <a:path w="585216" h="246888">
                  <a:moveTo>
                    <a:pt x="0" y="123444"/>
                  </a:moveTo>
                  <a:lnTo>
                    <a:pt x="164592" y="0"/>
                  </a:lnTo>
                  <a:lnTo>
                    <a:pt x="164592" y="68580"/>
                  </a:lnTo>
                  <a:lnTo>
                    <a:pt x="420624" y="68580"/>
                  </a:lnTo>
                  <a:lnTo>
                    <a:pt x="420624" y="0"/>
                  </a:lnTo>
                  <a:lnTo>
                    <a:pt x="585216" y="123444"/>
                  </a:lnTo>
                  <a:lnTo>
                    <a:pt x="420624" y="246888"/>
                  </a:lnTo>
                  <a:lnTo>
                    <a:pt x="420624" y="178308"/>
                  </a:lnTo>
                  <a:lnTo>
                    <a:pt x="164592" y="178308"/>
                  </a:lnTo>
                  <a:lnTo>
                    <a:pt x="164592" y="246888"/>
                  </a:lnTo>
                  <a:close/>
                </a:path>
              </a:pathLst>
            </a:custGeom>
            <a:solidFill>
              <a:srgbClr val="75a6d0">
                <a:alpha val="100000"/>
              </a:srgbClr>
            </a:solidFill>
            <a:ln w="365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ℒ"/>
            <p:cNvSpPr txBox="1"/>
            <p:nvPr/>
          </p:nvSpPr>
          <p:spPr>
            <a:xfrm>
              <a:off x="7278624" y="6879946"/>
              <a:ext cx="391363" cy="45354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79" b="0" i="0" dirty="0">
                  <a:solidFill>
                    <a:srgbClr val="2F5FA5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212" name="rec"/>
            <p:cNvSpPr txBox="1"/>
            <p:nvPr/>
          </p:nvSpPr>
          <p:spPr>
            <a:xfrm>
              <a:off x="7534656" y="7058034"/>
              <a:ext cx="422610" cy="31294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987" b="0" i="1" dirty="0">
                  <a:solidFill>
                    <a:srgbClr val="2F5FA5"/>
                  </a:solidFill>
                  <a:latin typeface="Liberation Serif"/>
                </a:rPr>
                <a:t>rec</a:t>
              </a:r>
            </a:p>
          </p:txBody>
        </p:sp>
      </p:grpSp>
      <p:grpSp>
        <p:nvGrpSpPr>
          <p:cNvPr id="213" name="Reconstruction regularization / fMRI monitor"/>
          <p:cNvGrpSpPr/>
          <p:nvPr/>
        </p:nvGrpSpPr>
        <p:grpSpPr>
          <a:xfrm>
            <a:off x="7978323" y="6456030"/>
            <a:ext cx="820034" cy="847831"/>
            <a:chOff x="7978323" y="6456030"/>
            <a:chExt cx="820034" cy="847831"/>
          </a:xfrm>
        </p:grpSpPr>
        <p:sp>
          <p:nvSpPr>
            <p:cNvPr id="214" name="path 194"/>
            <p:cNvSpPr/>
            <p:nvPr/>
          </p:nvSpPr>
          <p:spPr>
            <a:xfrm>
              <a:off x="7978323" y="6456030"/>
              <a:ext cx="820034" cy="694944"/>
            </a:xfrm>
            <a:custGeom>
              <a:avLst/>
              <a:gdLst/>
              <a:ahLst/>
              <a:cxnLst/>
              <a:rect l="0" t="0" r="r" b="b"/>
              <a:pathLst>
                <a:path w="820034" h="694944">
                  <a:moveTo>
                    <a:pt x="34747" y="0"/>
                  </a:moveTo>
                  <a:lnTo>
                    <a:pt x="785287" y="0"/>
                  </a:lnTo>
                  <a:cubicBezTo>
                    <a:pt x="804477" y="0"/>
                    <a:pt x="820034" y="15557"/>
                    <a:pt x="820034" y="34747"/>
                  </a:cubicBezTo>
                  <a:lnTo>
                    <a:pt x="820034" y="660197"/>
                  </a:lnTo>
                  <a:cubicBezTo>
                    <a:pt x="820034" y="679387"/>
                    <a:pt x="804477" y="694944"/>
                    <a:pt x="785287" y="694944"/>
                  </a:cubicBezTo>
                  <a:lnTo>
                    <a:pt x="34747" y="694944"/>
                  </a:lnTo>
                  <a:cubicBezTo>
                    <a:pt x="15557" y="694944"/>
                    <a:pt x="0" y="679387"/>
                    <a:pt x="0" y="660197"/>
                  </a:cubicBezTo>
                  <a:lnTo>
                    <a:pt x="0" y="34747"/>
                  </a:lnTo>
                  <a:cubicBezTo>
                    <a:pt x="0" y="15557"/>
                    <a:pt x="15557" y="0"/>
                    <a:pt x="34747" y="0"/>
                  </a:cubicBezTo>
                  <a:close/>
                </a:path>
              </a:pathLst>
            </a:custGeom>
            <a:solidFill>
              <a:srgbClr val="8d8592">
                <a:alpha val="100000"/>
              </a:srgbClr>
            </a:solidFill>
            <a:ln w="2779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path 195"/>
            <p:cNvSpPr/>
            <p:nvPr/>
          </p:nvSpPr>
          <p:spPr>
            <a:xfrm>
              <a:off x="8040868" y="6518575"/>
              <a:ext cx="694944" cy="562905"/>
            </a:xfrm>
            <a:custGeom>
              <a:avLst/>
              <a:gdLst/>
              <a:ahLst/>
              <a:cxnLst/>
              <a:rect l="0" t="0" r="r" b="b"/>
              <a:pathLst>
                <a:path w="694944" h="562905">
                  <a:moveTo>
                    <a:pt x="0" y="0"/>
                  </a:moveTo>
                  <a:lnTo>
                    <a:pt x="694944" y="0"/>
                  </a:lnTo>
                  <a:lnTo>
                    <a:pt x="694944" y="562905"/>
                  </a:lnTo>
                  <a:lnTo>
                    <a:pt x="0" y="562905"/>
                  </a:lnTo>
                  <a:close/>
                </a:path>
              </a:pathLst>
            </a:custGeom>
            <a:solidFill>
              <a:srgbClr val="d9edf4">
                <a:alpha val="100000"/>
              </a:srgbClr>
            </a:solidFill>
            <a:ln w="2779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path 196"/>
            <p:cNvSpPr/>
            <p:nvPr/>
          </p:nvSpPr>
          <p:spPr>
            <a:xfrm>
              <a:off x="8291048" y="7150974"/>
              <a:ext cx="201534" cy="69494"/>
            </a:xfrm>
            <a:custGeom>
              <a:avLst/>
              <a:gdLst/>
              <a:ahLst/>
              <a:cxnLst/>
              <a:rect l="0" t="0" r="r" b="b"/>
              <a:pathLst>
                <a:path w="201534" h="69494">
                  <a:moveTo>
                    <a:pt x="0" y="0"/>
                  </a:moveTo>
                  <a:lnTo>
                    <a:pt x="201534" y="0"/>
                  </a:lnTo>
                  <a:lnTo>
                    <a:pt x="201534" y="69494"/>
                  </a:lnTo>
                  <a:lnTo>
                    <a:pt x="0" y="69494"/>
                  </a:lnTo>
                  <a:close/>
                </a:path>
              </a:pathLst>
            </a:custGeom>
            <a:solidFill>
              <a:srgbClr val="9b939d">
                <a:alpha val="100000"/>
              </a:srgbClr>
            </a:solidFill>
            <a:ln w="2432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path 197"/>
            <p:cNvSpPr/>
            <p:nvPr/>
          </p:nvSpPr>
          <p:spPr>
            <a:xfrm>
              <a:off x="8152059" y="7220468"/>
              <a:ext cx="493410" cy="83393"/>
            </a:xfrm>
            <a:custGeom>
              <a:avLst/>
              <a:gdLst/>
              <a:ahLst/>
              <a:cxnLst/>
              <a:rect l="0" t="0" r="r" b="b"/>
              <a:pathLst>
                <a:path w="493410" h="83393">
                  <a:moveTo>
                    <a:pt x="13899" y="0"/>
                  </a:moveTo>
                  <a:lnTo>
                    <a:pt x="479511" y="0"/>
                  </a:lnTo>
                  <a:cubicBezTo>
                    <a:pt x="487187" y="0"/>
                    <a:pt x="493410" y="6223"/>
                    <a:pt x="493410" y="13899"/>
                  </a:cubicBezTo>
                  <a:lnTo>
                    <a:pt x="493410" y="69494"/>
                  </a:lnTo>
                  <a:cubicBezTo>
                    <a:pt x="493410" y="77171"/>
                    <a:pt x="487187" y="83393"/>
                    <a:pt x="479511" y="83393"/>
                  </a:cubicBezTo>
                  <a:lnTo>
                    <a:pt x="13899" y="83393"/>
                  </a:lnTo>
                  <a:cubicBezTo>
                    <a:pt x="6223" y="83393"/>
                    <a:pt x="0" y="77171"/>
                    <a:pt x="0" y="69494"/>
                  </a:cubicBezTo>
                  <a:lnTo>
                    <a:pt x="0" y="13899"/>
                  </a:lnTo>
                  <a:cubicBezTo>
                    <a:pt x="0" y="6223"/>
                    <a:pt x="6223" y="0"/>
                    <a:pt x="13899" y="0"/>
                  </a:cubicBezTo>
                  <a:close/>
                </a:path>
              </a:pathLst>
            </a:custGeom>
            <a:solidFill>
              <a:srgbClr val="827a86">
                <a:alpha val="100000"/>
              </a:srgbClr>
            </a:solidFill>
            <a:ln w="2432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path 198"/>
            <p:cNvSpPr/>
            <p:nvPr/>
          </p:nvSpPr>
          <p:spPr>
            <a:xfrm>
              <a:off x="8221553" y="7241316"/>
              <a:ext cx="83393" cy="55596"/>
            </a:xfrm>
            <a:custGeom>
              <a:avLst/>
              <a:gdLst/>
              <a:ahLst/>
              <a:cxnLst/>
              <a:rect l="0" t="0" r="r" b="b"/>
              <a:pathLst>
                <a:path w="83393" h="55596">
                  <a:moveTo>
                    <a:pt x="0" y="0"/>
                  </a:moveTo>
                  <a:lnTo>
                    <a:pt x="83393" y="0"/>
                  </a:lnTo>
                  <a:lnTo>
                    <a:pt x="83393" y="55596"/>
                  </a:lnTo>
                  <a:lnTo>
                    <a:pt x="0" y="55596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389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path 199"/>
            <p:cNvSpPr/>
            <p:nvPr/>
          </p:nvSpPr>
          <p:spPr>
            <a:xfrm>
              <a:off x="8367492" y="7241316"/>
              <a:ext cx="83393" cy="55596"/>
            </a:xfrm>
            <a:custGeom>
              <a:avLst/>
              <a:gdLst/>
              <a:ahLst/>
              <a:cxnLst/>
              <a:rect l="0" t="0" r="r" b="b"/>
              <a:pathLst>
                <a:path w="83393" h="55596">
                  <a:moveTo>
                    <a:pt x="0" y="0"/>
                  </a:moveTo>
                  <a:lnTo>
                    <a:pt x="83393" y="0"/>
                  </a:lnTo>
                  <a:lnTo>
                    <a:pt x="83393" y="55596"/>
                  </a:lnTo>
                  <a:lnTo>
                    <a:pt x="0" y="55596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389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path 200"/>
            <p:cNvSpPr/>
            <p:nvPr/>
          </p:nvSpPr>
          <p:spPr>
            <a:xfrm>
              <a:off x="8520379" y="7241316"/>
              <a:ext cx="83393" cy="55596"/>
            </a:xfrm>
            <a:custGeom>
              <a:avLst/>
              <a:gdLst/>
              <a:ahLst/>
              <a:cxnLst/>
              <a:rect l="0" t="0" r="r" b="b"/>
              <a:pathLst>
                <a:path w="83393" h="55596">
                  <a:moveTo>
                    <a:pt x="0" y="0"/>
                  </a:moveTo>
                  <a:lnTo>
                    <a:pt x="83393" y="0"/>
                  </a:lnTo>
                  <a:lnTo>
                    <a:pt x="83393" y="55596"/>
                  </a:lnTo>
                  <a:lnTo>
                    <a:pt x="0" y="55596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389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1" name="path 201"/>
            <p:cNvSpPr/>
            <p:nvPr/>
          </p:nvSpPr>
          <p:spPr>
            <a:xfrm>
              <a:off x="8117312" y="6581120"/>
              <a:ext cx="914" cy="437815"/>
            </a:xfrm>
            <a:custGeom>
              <a:avLst/>
              <a:gdLst/>
              <a:ahLst/>
              <a:cxnLst/>
              <a:rect l="0" t="0" r="r" b="b"/>
              <a:pathLst>
                <a:path w="914" h="437815" fill="none">
                  <a:moveTo>
                    <a:pt x="0" y="0"/>
                  </a:moveTo>
                  <a:lnTo>
                    <a:pt x="0" y="437815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path 202"/>
            <p:cNvSpPr/>
            <p:nvPr/>
          </p:nvSpPr>
          <p:spPr>
            <a:xfrm>
              <a:off x="8082564" y="6581120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path 203"/>
            <p:cNvSpPr/>
            <p:nvPr/>
          </p:nvSpPr>
          <p:spPr>
            <a:xfrm>
              <a:off x="8082564" y="6699260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path 204"/>
            <p:cNvSpPr/>
            <p:nvPr/>
          </p:nvSpPr>
          <p:spPr>
            <a:xfrm>
              <a:off x="8082564" y="6831300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path 205"/>
            <p:cNvSpPr/>
            <p:nvPr/>
          </p:nvSpPr>
          <p:spPr>
            <a:xfrm>
              <a:off x="8082564" y="7018934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path 206"/>
            <p:cNvSpPr/>
            <p:nvPr/>
          </p:nvSpPr>
          <p:spPr>
            <a:xfrm>
              <a:off x="8555126" y="6984187"/>
              <a:ext cx="132039" cy="914"/>
            </a:xfrm>
            <a:custGeom>
              <a:avLst/>
              <a:gdLst/>
              <a:ahLst/>
              <a:cxnLst/>
              <a:rect l="0" t="0" r="r" b="b"/>
              <a:pathLst>
                <a:path w="132039" h="914" fill="none">
                  <a:moveTo>
                    <a:pt x="0" y="0"/>
                  </a:moveTo>
                  <a:lnTo>
                    <a:pt x="132039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path 207"/>
            <p:cNvSpPr/>
            <p:nvPr/>
          </p:nvSpPr>
          <p:spPr>
            <a:xfrm>
              <a:off x="8596823" y="6914693"/>
              <a:ext cx="90343" cy="914"/>
            </a:xfrm>
            <a:custGeom>
              <a:avLst/>
              <a:gdLst/>
              <a:ahLst/>
              <a:cxnLst/>
              <a:rect l="0" t="0" r="r" b="b"/>
              <a:pathLst>
                <a:path w="90343" h="914" fill="none">
                  <a:moveTo>
                    <a:pt x="0" y="0"/>
                  </a:moveTo>
                  <a:lnTo>
                    <a:pt x="90343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8" name="Reconstruction regularization / fMRI monitor / Brain"/>
          <p:cNvGrpSpPr/>
          <p:nvPr/>
        </p:nvGrpSpPr>
        <p:grpSpPr>
          <a:xfrm>
            <a:off x="8163595" y="6532474"/>
            <a:ext cx="439066" cy="493271"/>
            <a:chOff x="8163595" y="6532474"/>
            <a:chExt cx="439066" cy="493271"/>
          </a:xfrm>
        </p:grpSpPr>
        <p:sp>
          <p:nvSpPr>
            <p:cNvPr id="229" name="path 208"/>
            <p:cNvSpPr/>
            <p:nvPr/>
          </p:nvSpPr>
          <p:spPr>
            <a:xfrm>
              <a:off x="8163595" y="6532474"/>
              <a:ext cx="439066" cy="493271"/>
            </a:xfrm>
            <a:custGeom>
              <a:avLst/>
              <a:gdLst/>
              <a:ahLst/>
              <a:cxnLst/>
              <a:rect l="0" t="0" r="r" b="b"/>
              <a:pathLst>
                <a:path w="439066" h="493271">
                  <a:moveTo>
                    <a:pt x="216823" y="32523"/>
                  </a:moveTo>
                  <a:cubicBezTo>
                    <a:pt x="178879" y="0"/>
                    <a:pt x="140935" y="21682"/>
                    <a:pt x="124673" y="54206"/>
                  </a:cubicBezTo>
                  <a:cubicBezTo>
                    <a:pt x="81308" y="43365"/>
                    <a:pt x="59626" y="75888"/>
                    <a:pt x="59626" y="113832"/>
                  </a:cubicBezTo>
                  <a:cubicBezTo>
                    <a:pt x="21682" y="124673"/>
                    <a:pt x="16262" y="168037"/>
                    <a:pt x="32523" y="195140"/>
                  </a:cubicBezTo>
                  <a:cubicBezTo>
                    <a:pt x="0" y="227664"/>
                    <a:pt x="5421" y="276449"/>
                    <a:pt x="32523" y="298131"/>
                  </a:cubicBezTo>
                  <a:cubicBezTo>
                    <a:pt x="10841" y="341495"/>
                    <a:pt x="32523" y="384860"/>
                    <a:pt x="70467" y="395701"/>
                  </a:cubicBezTo>
                  <a:cubicBezTo>
                    <a:pt x="75888" y="444486"/>
                    <a:pt x="119252" y="466168"/>
                    <a:pt x="146355" y="444486"/>
                  </a:cubicBezTo>
                  <a:cubicBezTo>
                    <a:pt x="168037" y="493271"/>
                    <a:pt x="216823" y="477010"/>
                    <a:pt x="227664" y="439066"/>
                  </a:cubicBezTo>
                  <a:cubicBezTo>
                    <a:pt x="243925" y="482430"/>
                    <a:pt x="298131" y="477010"/>
                    <a:pt x="319813" y="433645"/>
                  </a:cubicBezTo>
                  <a:cubicBezTo>
                    <a:pt x="368598" y="433645"/>
                    <a:pt x="395701" y="395701"/>
                    <a:pt x="390281" y="357757"/>
                  </a:cubicBezTo>
                  <a:cubicBezTo>
                    <a:pt x="428224" y="336075"/>
                    <a:pt x="433645" y="281869"/>
                    <a:pt x="406542" y="249346"/>
                  </a:cubicBezTo>
                  <a:cubicBezTo>
                    <a:pt x="439066" y="195140"/>
                    <a:pt x="406542" y="151776"/>
                    <a:pt x="374019" y="146355"/>
                  </a:cubicBezTo>
                  <a:cubicBezTo>
                    <a:pt x="379439" y="92150"/>
                    <a:pt x="341495" y="70467"/>
                    <a:pt x="314393" y="70467"/>
                  </a:cubicBezTo>
                  <a:cubicBezTo>
                    <a:pt x="303552" y="27103"/>
                    <a:pt x="265608" y="10841"/>
                    <a:pt x="233084" y="37944"/>
                  </a:cubicBezTo>
                  <a:cubicBezTo>
                    <a:pt x="227664" y="37944"/>
                    <a:pt x="222243" y="32523"/>
                    <a:pt x="216823" y="32523"/>
                  </a:cubicBezTo>
                  <a:close/>
                </a:path>
              </a:pathLst>
            </a:custGeom>
            <a:solidFill>
              <a:srgbClr val="f8b8a5">
                <a:alpha val="100000"/>
              </a:srgbClr>
            </a:solidFill>
            <a:ln w="2168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path 209"/>
            <p:cNvSpPr/>
            <p:nvPr/>
          </p:nvSpPr>
          <p:spPr>
            <a:xfrm>
              <a:off x="8347894" y="6581259"/>
              <a:ext cx="43365" cy="417383"/>
            </a:xfrm>
            <a:custGeom>
              <a:avLst/>
              <a:gdLst/>
              <a:ahLst/>
              <a:cxnLst/>
              <a:rect l="0" t="0" r="r" b="b"/>
              <a:pathLst>
                <a:path w="43365" h="417383" fill="none">
                  <a:moveTo>
                    <a:pt x="43365" y="0"/>
                  </a:moveTo>
                  <a:lnTo>
                    <a:pt x="43365" y="357757"/>
                  </a:lnTo>
                  <a:cubicBezTo>
                    <a:pt x="43365" y="401122"/>
                    <a:pt x="21682" y="417383"/>
                    <a:pt x="0" y="417383"/>
                  </a:cubicBezTo>
                </a:path>
              </a:pathLst>
            </a:custGeom>
            <a:noFill/>
            <a:ln w="2059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path 210"/>
            <p:cNvSpPr/>
            <p:nvPr/>
          </p:nvSpPr>
          <p:spPr>
            <a:xfrm>
              <a:off x="8288268" y="6592100"/>
              <a:ext cx="27103" cy="65047"/>
            </a:xfrm>
            <a:custGeom>
              <a:avLst/>
              <a:gdLst/>
              <a:ahLst/>
              <a:cxnLst/>
              <a:rect l="0" t="0" r="r" b="b"/>
              <a:pathLst>
                <a:path w="27103" h="65047" fill="none">
                  <a:moveTo>
                    <a:pt x="10841" y="0"/>
                  </a:moveTo>
                  <a:cubicBezTo>
                    <a:pt x="0" y="32523"/>
                    <a:pt x="27103" y="37944"/>
                    <a:pt x="27103" y="65047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path 211"/>
            <p:cNvSpPr/>
            <p:nvPr/>
          </p:nvSpPr>
          <p:spPr>
            <a:xfrm>
              <a:off x="8239483" y="6635464"/>
              <a:ext cx="59626" cy="54206"/>
            </a:xfrm>
            <a:custGeom>
              <a:avLst/>
              <a:gdLst/>
              <a:ahLst/>
              <a:cxnLst/>
              <a:rect l="0" t="0" r="r" b="b"/>
              <a:pathLst>
                <a:path w="59626" h="54206" fill="none">
                  <a:moveTo>
                    <a:pt x="0" y="21682"/>
                  </a:moveTo>
                  <a:cubicBezTo>
                    <a:pt x="48785" y="0"/>
                    <a:pt x="59626" y="32523"/>
                    <a:pt x="43365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path 212"/>
            <p:cNvSpPr/>
            <p:nvPr/>
          </p:nvSpPr>
          <p:spPr>
            <a:xfrm>
              <a:off x="8255745" y="6684249"/>
              <a:ext cx="65047" cy="48785"/>
            </a:xfrm>
            <a:custGeom>
              <a:avLst/>
              <a:gdLst/>
              <a:ahLst/>
              <a:cxnLst/>
              <a:rect l="0" t="0" r="r" b="b"/>
              <a:pathLst>
                <a:path w="65047" h="48785" fill="none">
                  <a:moveTo>
                    <a:pt x="0" y="27103"/>
                  </a:moveTo>
                  <a:cubicBezTo>
                    <a:pt x="32523" y="48785"/>
                    <a:pt x="65047" y="27103"/>
                    <a:pt x="59626" y="0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path 213"/>
            <p:cNvSpPr/>
            <p:nvPr/>
          </p:nvSpPr>
          <p:spPr>
            <a:xfrm>
              <a:off x="8201539" y="6727614"/>
              <a:ext cx="65047" cy="59626"/>
            </a:xfrm>
            <a:custGeom>
              <a:avLst/>
              <a:gdLst/>
              <a:ahLst/>
              <a:cxnLst/>
              <a:rect l="0" t="0" r="r" b="b"/>
              <a:pathLst>
                <a:path w="65047" h="59626" fill="none">
                  <a:moveTo>
                    <a:pt x="0" y="21682"/>
                  </a:moveTo>
                  <a:cubicBezTo>
                    <a:pt x="43365" y="0"/>
                    <a:pt x="65047" y="32523"/>
                    <a:pt x="65047" y="5962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path 214"/>
            <p:cNvSpPr/>
            <p:nvPr/>
          </p:nvSpPr>
          <p:spPr>
            <a:xfrm>
              <a:off x="8266586" y="6776399"/>
              <a:ext cx="70467" cy="54206"/>
            </a:xfrm>
            <a:custGeom>
              <a:avLst/>
              <a:gdLst/>
              <a:ahLst/>
              <a:cxnLst/>
              <a:rect l="0" t="0" r="r" b="b"/>
              <a:pathLst>
                <a:path w="70467" h="54206" fill="none">
                  <a:moveTo>
                    <a:pt x="0" y="21682"/>
                  </a:moveTo>
                  <a:cubicBezTo>
                    <a:pt x="21682" y="54206"/>
                    <a:pt x="65047" y="32523"/>
                    <a:pt x="70467" y="0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path 215"/>
            <p:cNvSpPr/>
            <p:nvPr/>
          </p:nvSpPr>
          <p:spPr>
            <a:xfrm>
              <a:off x="8223221" y="6825184"/>
              <a:ext cx="65047" cy="59626"/>
            </a:xfrm>
            <a:custGeom>
              <a:avLst/>
              <a:gdLst/>
              <a:ahLst/>
              <a:cxnLst/>
              <a:rect l="0" t="0" r="r" b="b"/>
              <a:pathLst>
                <a:path w="65047" h="59626" fill="none">
                  <a:moveTo>
                    <a:pt x="0" y="32523"/>
                  </a:moveTo>
                  <a:cubicBezTo>
                    <a:pt x="32523" y="0"/>
                    <a:pt x="65047" y="27103"/>
                    <a:pt x="59626" y="5962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path 216"/>
            <p:cNvSpPr/>
            <p:nvPr/>
          </p:nvSpPr>
          <p:spPr>
            <a:xfrm>
              <a:off x="8304530" y="6895651"/>
              <a:ext cx="43365" cy="54206"/>
            </a:xfrm>
            <a:custGeom>
              <a:avLst/>
              <a:gdLst/>
              <a:ahLst/>
              <a:cxnLst/>
              <a:rect l="0" t="0" r="r" b="b"/>
              <a:pathLst>
                <a:path w="43365" h="54206" fill="none">
                  <a:moveTo>
                    <a:pt x="0" y="10841"/>
                  </a:moveTo>
                  <a:cubicBezTo>
                    <a:pt x="43365" y="0"/>
                    <a:pt x="43365" y="32523"/>
                    <a:pt x="21682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path 217"/>
            <p:cNvSpPr/>
            <p:nvPr/>
          </p:nvSpPr>
          <p:spPr>
            <a:xfrm>
              <a:off x="8337053" y="6716773"/>
              <a:ext cx="48785" cy="32523"/>
            </a:xfrm>
            <a:custGeom>
              <a:avLst/>
              <a:gdLst/>
              <a:ahLst/>
              <a:cxnLst/>
              <a:rect l="0" t="0" r="r" b="b"/>
              <a:pathLst>
                <a:path w="48785" h="32523" fill="none">
                  <a:moveTo>
                    <a:pt x="0" y="27103"/>
                  </a:moveTo>
                  <a:cubicBezTo>
                    <a:pt x="37944" y="32523"/>
                    <a:pt x="48785" y="16262"/>
                    <a:pt x="48785" y="0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path 218"/>
            <p:cNvSpPr/>
            <p:nvPr/>
          </p:nvSpPr>
          <p:spPr>
            <a:xfrm>
              <a:off x="8429203" y="6602941"/>
              <a:ext cx="43365" cy="48785"/>
            </a:xfrm>
            <a:custGeom>
              <a:avLst/>
              <a:gdLst/>
              <a:ahLst/>
              <a:cxnLst/>
              <a:rect l="0" t="0" r="r" b="b"/>
              <a:pathLst>
                <a:path w="43365" h="48785" fill="none">
                  <a:moveTo>
                    <a:pt x="16262" y="0"/>
                  </a:moveTo>
                  <a:cubicBezTo>
                    <a:pt x="0" y="27103"/>
                    <a:pt x="16262" y="48785"/>
                    <a:pt x="43365" y="48785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path 219"/>
            <p:cNvSpPr/>
            <p:nvPr/>
          </p:nvSpPr>
          <p:spPr>
            <a:xfrm>
              <a:off x="8434623" y="6662567"/>
              <a:ext cx="48785" cy="54206"/>
            </a:xfrm>
            <a:custGeom>
              <a:avLst/>
              <a:gdLst/>
              <a:ahLst/>
              <a:cxnLst/>
              <a:rect l="0" t="0" r="r" b="b"/>
              <a:pathLst>
                <a:path w="48785" h="54206" fill="none">
                  <a:moveTo>
                    <a:pt x="48785" y="21682"/>
                  </a:moveTo>
                  <a:cubicBezTo>
                    <a:pt x="16262" y="0"/>
                    <a:pt x="0" y="21682"/>
                    <a:pt x="5421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path 220"/>
            <p:cNvSpPr/>
            <p:nvPr/>
          </p:nvSpPr>
          <p:spPr>
            <a:xfrm>
              <a:off x="8461726" y="6716773"/>
              <a:ext cx="59626" cy="54206"/>
            </a:xfrm>
            <a:custGeom>
              <a:avLst/>
              <a:gdLst/>
              <a:ahLst/>
              <a:cxnLst/>
              <a:rect l="0" t="0" r="r" b="b"/>
              <a:pathLst>
                <a:path w="59626" h="54206" fill="none">
                  <a:moveTo>
                    <a:pt x="59626" y="10841"/>
                  </a:moveTo>
                  <a:cubicBezTo>
                    <a:pt x="21682" y="0"/>
                    <a:pt x="0" y="32523"/>
                    <a:pt x="21682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path 221"/>
            <p:cNvSpPr/>
            <p:nvPr/>
          </p:nvSpPr>
          <p:spPr>
            <a:xfrm>
              <a:off x="8412941" y="6770978"/>
              <a:ext cx="59626" cy="37944"/>
            </a:xfrm>
            <a:custGeom>
              <a:avLst/>
              <a:gdLst/>
              <a:ahLst/>
              <a:cxnLst/>
              <a:rect l="0" t="0" r="r" b="b"/>
              <a:pathLst>
                <a:path w="59626" h="37944" fill="none">
                  <a:moveTo>
                    <a:pt x="0" y="0"/>
                  </a:moveTo>
                  <a:cubicBezTo>
                    <a:pt x="21682" y="32523"/>
                    <a:pt x="48785" y="16262"/>
                    <a:pt x="59626" y="37944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path 222"/>
            <p:cNvSpPr/>
            <p:nvPr/>
          </p:nvSpPr>
          <p:spPr>
            <a:xfrm>
              <a:off x="8499670" y="6803502"/>
              <a:ext cx="48785" cy="59626"/>
            </a:xfrm>
            <a:custGeom>
              <a:avLst/>
              <a:gdLst/>
              <a:ahLst/>
              <a:cxnLst/>
              <a:rect l="0" t="0" r="r" b="b"/>
              <a:pathLst>
                <a:path w="48785" h="59626" fill="none">
                  <a:moveTo>
                    <a:pt x="48785" y="16262"/>
                  </a:moveTo>
                  <a:cubicBezTo>
                    <a:pt x="16262" y="0"/>
                    <a:pt x="0" y="32523"/>
                    <a:pt x="21682" y="5962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path 223"/>
            <p:cNvSpPr/>
            <p:nvPr/>
          </p:nvSpPr>
          <p:spPr>
            <a:xfrm>
              <a:off x="8429203" y="6841446"/>
              <a:ext cx="32523" cy="48785"/>
            </a:xfrm>
            <a:custGeom>
              <a:avLst/>
              <a:gdLst/>
              <a:ahLst/>
              <a:cxnLst/>
              <a:rect l="0" t="0" r="r" b="b"/>
              <a:pathLst>
                <a:path w="32523" h="48785" fill="none">
                  <a:moveTo>
                    <a:pt x="0" y="10841"/>
                  </a:moveTo>
                  <a:cubicBezTo>
                    <a:pt x="21682" y="0"/>
                    <a:pt x="32523" y="16262"/>
                    <a:pt x="27103" y="48785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path 224"/>
            <p:cNvSpPr/>
            <p:nvPr/>
          </p:nvSpPr>
          <p:spPr>
            <a:xfrm>
              <a:off x="8423782" y="6901072"/>
              <a:ext cx="65047" cy="43365"/>
            </a:xfrm>
            <a:custGeom>
              <a:avLst/>
              <a:gdLst/>
              <a:ahLst/>
              <a:cxnLst/>
              <a:rect l="0" t="0" r="r" b="b"/>
              <a:pathLst>
                <a:path w="65047" h="43365" fill="none">
                  <a:moveTo>
                    <a:pt x="65047" y="21682"/>
                  </a:moveTo>
                  <a:cubicBezTo>
                    <a:pt x="27103" y="0"/>
                    <a:pt x="0" y="16262"/>
                    <a:pt x="5421" y="43365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6" name="Reconstruction regularization / fMRI monitor"/>
          <p:cNvGrpSpPr/>
          <p:nvPr/>
        </p:nvGrpSpPr>
        <p:grpSpPr>
          <a:xfrm>
            <a:off x="8673267" y="6344839"/>
            <a:ext cx="465612" cy="396118"/>
            <a:chOff x="8673267" y="6344839"/>
            <a:chExt cx="465612" cy="396118"/>
          </a:xfrm>
        </p:grpSpPr>
        <p:sp>
          <p:nvSpPr>
            <p:cNvPr id="247" name="path 225"/>
            <p:cNvSpPr/>
            <p:nvPr/>
          </p:nvSpPr>
          <p:spPr>
            <a:xfrm>
              <a:off x="8673267" y="6344839"/>
              <a:ext cx="465612" cy="396118"/>
            </a:xfrm>
            <a:custGeom>
              <a:avLst/>
              <a:gdLst/>
              <a:ahLst/>
              <a:cxnLst/>
              <a:rect l="0" t="0" r="r" b="b"/>
              <a:pathLst>
                <a:path w="465612" h="396118" fill="none">
                  <a:moveTo>
                    <a:pt x="0" y="271028"/>
                  </a:moveTo>
                  <a:lnTo>
                    <a:pt x="159837" y="271028"/>
                  </a:lnTo>
                  <a:lnTo>
                    <a:pt x="215433" y="0"/>
                  </a:lnTo>
                  <a:lnTo>
                    <a:pt x="284927" y="396118"/>
                  </a:lnTo>
                  <a:lnTo>
                    <a:pt x="361371" y="201534"/>
                  </a:lnTo>
                  <a:lnTo>
                    <a:pt x="403068" y="271028"/>
                  </a:lnTo>
                  <a:lnTo>
                    <a:pt x="465612" y="271028"/>
                  </a:lnTo>
                </a:path>
              </a:pathLst>
            </a:custGeom>
            <a:noFill/>
            <a:ln w="21543" cap="rnd" cmpd="sng">
              <a:solidFill>
                <a:srgbClr val="4b4b4a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8" name="Reconstruction regularization"/>
          <p:cNvGrpSpPr/>
          <p:nvPr/>
        </p:nvGrpSpPr>
        <p:grpSpPr>
          <a:xfrm>
            <a:off x="8010258" y="7291060"/>
            <a:ext cx="895883" cy="408188"/>
            <a:chOff x="8010258" y="7291060"/>
            <a:chExt cx="895883" cy="408188"/>
          </a:xfrm>
        </p:grpSpPr>
        <p:sp>
          <p:nvSpPr>
            <p:cNvPr id="249" name="fMRI"/>
            <p:cNvSpPr txBox="1"/>
            <p:nvPr/>
          </p:nvSpPr>
          <p:spPr>
            <a:xfrm>
              <a:off x="8010258" y="7291060"/>
              <a:ext cx="895883" cy="408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92" b="1" i="0" dirty="0">
                  <a:solidFill>
                    <a:srgbClr val="777674"/>
                  </a:solidFill>
                  <a:latin typeface="Liberation Serif"/>
                </a:rPr>
                <a:t>fMRI</a:t>
              </a:r>
            </a:p>
          </p:txBody>
        </p:sp>
      </p:grpSp>
      <p:grpSp>
        <p:nvGrpSpPr>
          <p:cNvPr id="250" name="Vision projector branches"/>
          <p:cNvGrpSpPr/>
          <p:nvPr/>
        </p:nvGrpSpPr>
        <p:grpSpPr>
          <a:xfrm>
            <a:off x="8604504" y="950976"/>
            <a:ext cx="4224528" cy="5376672"/>
            <a:chOff x="8604504" y="950976"/>
            <a:chExt cx="4224528" cy="5376672"/>
          </a:xfrm>
        </p:grpSpPr>
        <p:sp>
          <p:nvSpPr>
            <p:cNvPr id="251" name="path 227"/>
            <p:cNvSpPr/>
            <p:nvPr/>
          </p:nvSpPr>
          <p:spPr>
            <a:xfrm>
              <a:off x="8604504" y="950976"/>
              <a:ext cx="1682496" cy="886968"/>
            </a:xfrm>
            <a:custGeom>
              <a:avLst/>
              <a:gdLst/>
              <a:ahLst/>
              <a:cxnLst/>
              <a:rect l="0" t="0" r="r" b="b"/>
              <a:pathLst>
                <a:path w="1682496" h="886968">
                  <a:moveTo>
                    <a:pt x="164592" y="0"/>
                  </a:moveTo>
                  <a:lnTo>
                    <a:pt x="1517904" y="0"/>
                  </a:lnTo>
                  <a:cubicBezTo>
                    <a:pt x="1608806" y="0"/>
                    <a:pt x="1682496" y="73690"/>
                    <a:pt x="1682496" y="164592"/>
                  </a:cubicBezTo>
                  <a:lnTo>
                    <a:pt x="1682496" y="722376"/>
                  </a:lnTo>
                  <a:cubicBezTo>
                    <a:pt x="1682496" y="813278"/>
                    <a:pt x="1608806" y="886968"/>
                    <a:pt x="1517904" y="886968"/>
                  </a:cubicBezTo>
                  <a:lnTo>
                    <a:pt x="164592" y="886968"/>
                  </a:lnTo>
                  <a:cubicBezTo>
                    <a:pt x="73690" y="886968"/>
                    <a:pt x="0" y="813278"/>
                    <a:pt x="0" y="722376"/>
                  </a:cubicBezTo>
                  <a:lnTo>
                    <a:pt x="0" y="164592"/>
                  </a:lnTo>
                  <a:cubicBezTo>
                    <a:pt x="0" y="73690"/>
                    <a:pt x="73690" y="0"/>
                    <a:pt x="1645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d6"/>
                </a:gs>
                <a:gs pos="100000">
                  <a:srgbClr val="f9e8ae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Vision"/>
            <p:cNvSpPr txBox="1"/>
            <p:nvPr/>
          </p:nvSpPr>
          <p:spPr>
            <a:xfrm>
              <a:off x="9015934" y="990752"/>
              <a:ext cx="96936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Vision</a:t>
              </a:r>
            </a:p>
          </p:txBody>
        </p:sp>
        <p:sp>
          <p:nvSpPr>
            <p:cNvPr id="253" name="Projector"/>
            <p:cNvSpPr txBox="1"/>
            <p:nvPr/>
          </p:nvSpPr>
          <p:spPr>
            <a:xfrm>
              <a:off x="8800214" y="1356512"/>
              <a:ext cx="140080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Projector</a:t>
              </a:r>
            </a:p>
          </p:txBody>
        </p:sp>
        <p:sp>
          <p:nvSpPr>
            <p:cNvPr id="254" name="𝒫"/>
            <p:cNvSpPr txBox="1"/>
            <p:nvPr/>
          </p:nvSpPr>
          <p:spPr>
            <a:xfrm>
              <a:off x="8997696" y="1805391"/>
              <a:ext cx="416709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0B0B0B"/>
                  </a:solidFill>
                  <a:latin typeface="Latin Modern Math"/>
                </a:rPr>
                <a:t>𝒫</a:t>
              </a:r>
            </a:p>
          </p:txBody>
        </p:sp>
        <p:sp>
          <p:nvSpPr>
            <p:cNvPr id="255" name="i"/>
            <p:cNvSpPr txBox="1"/>
            <p:nvPr/>
          </p:nvSpPr>
          <p:spPr>
            <a:xfrm>
              <a:off x="9279331" y="2001289"/>
              <a:ext cx="186966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0" i="1" dirty="0">
                  <a:solidFill>
                    <a:srgbClr val="0B0B0B"/>
                  </a:solidFill>
                  <a:latin typeface="Liberation Serif"/>
                </a:rPr>
                <a:t>i</a:t>
              </a:r>
            </a:p>
          </p:txBody>
        </p:sp>
        <p:sp>
          <p:nvSpPr>
            <p:cNvPr id="256" name="(·)"/>
            <p:cNvSpPr txBox="1"/>
            <p:nvPr/>
          </p:nvSpPr>
          <p:spPr>
            <a:xfrm>
              <a:off x="9387962" y="1805391"/>
              <a:ext cx="511693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0B0B0B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257" name="path 233"/>
            <p:cNvSpPr/>
            <p:nvPr/>
          </p:nvSpPr>
          <p:spPr>
            <a:xfrm>
              <a:off x="8604504" y="2926080"/>
              <a:ext cx="1682496" cy="886968"/>
            </a:xfrm>
            <a:custGeom>
              <a:avLst/>
              <a:gdLst/>
              <a:ahLst/>
              <a:cxnLst/>
              <a:rect l="0" t="0" r="r" b="b"/>
              <a:pathLst>
                <a:path w="1682496" h="886968">
                  <a:moveTo>
                    <a:pt x="164592" y="0"/>
                  </a:moveTo>
                  <a:lnTo>
                    <a:pt x="1517904" y="0"/>
                  </a:lnTo>
                  <a:cubicBezTo>
                    <a:pt x="1608806" y="0"/>
                    <a:pt x="1682496" y="73690"/>
                    <a:pt x="1682496" y="164592"/>
                  </a:cubicBezTo>
                  <a:lnTo>
                    <a:pt x="1682496" y="722376"/>
                  </a:lnTo>
                  <a:cubicBezTo>
                    <a:pt x="1682496" y="813278"/>
                    <a:pt x="1608806" y="886968"/>
                    <a:pt x="1517904" y="886968"/>
                  </a:cubicBezTo>
                  <a:lnTo>
                    <a:pt x="164592" y="886968"/>
                  </a:lnTo>
                  <a:cubicBezTo>
                    <a:pt x="73690" y="886968"/>
                    <a:pt x="0" y="813278"/>
                    <a:pt x="0" y="722376"/>
                  </a:cubicBezTo>
                  <a:lnTo>
                    <a:pt x="0" y="164592"/>
                  </a:lnTo>
                  <a:cubicBezTo>
                    <a:pt x="0" y="73690"/>
                    <a:pt x="73690" y="0"/>
                    <a:pt x="1645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d6"/>
                </a:gs>
                <a:gs pos="100000">
                  <a:srgbClr val="f9e8ae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Vision"/>
            <p:cNvSpPr txBox="1"/>
            <p:nvPr/>
          </p:nvSpPr>
          <p:spPr>
            <a:xfrm>
              <a:off x="9015934" y="2965856"/>
              <a:ext cx="96936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Vision</a:t>
              </a:r>
            </a:p>
          </p:txBody>
        </p:sp>
        <p:sp>
          <p:nvSpPr>
            <p:cNvPr id="259" name="Projector"/>
            <p:cNvSpPr txBox="1"/>
            <p:nvPr/>
          </p:nvSpPr>
          <p:spPr>
            <a:xfrm>
              <a:off x="8800214" y="3331616"/>
              <a:ext cx="140080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Projector</a:t>
              </a:r>
            </a:p>
          </p:txBody>
        </p:sp>
        <p:sp>
          <p:nvSpPr>
            <p:cNvPr id="260" name="𝒫"/>
            <p:cNvSpPr txBox="1"/>
            <p:nvPr/>
          </p:nvSpPr>
          <p:spPr>
            <a:xfrm>
              <a:off x="8997696" y="3780495"/>
              <a:ext cx="416709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0B0B0B"/>
                  </a:solidFill>
                  <a:latin typeface="Latin Modern Math"/>
                </a:rPr>
                <a:t>𝒫</a:t>
              </a:r>
            </a:p>
          </p:txBody>
        </p:sp>
        <p:sp>
          <p:nvSpPr>
            <p:cNvPr id="261" name="s"/>
            <p:cNvSpPr txBox="1"/>
            <p:nvPr/>
          </p:nvSpPr>
          <p:spPr>
            <a:xfrm>
              <a:off x="9279331" y="3976393"/>
              <a:ext cx="217913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0" i="1" dirty="0">
                  <a:solidFill>
                    <a:srgbClr val="0B0B0B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262" name="(·)"/>
            <p:cNvSpPr txBox="1"/>
            <p:nvPr/>
          </p:nvSpPr>
          <p:spPr>
            <a:xfrm>
              <a:off x="9387962" y="3780495"/>
              <a:ext cx="511693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0B0B0B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263" name="path 239"/>
            <p:cNvSpPr/>
            <p:nvPr/>
          </p:nvSpPr>
          <p:spPr>
            <a:xfrm>
              <a:off x="8604504" y="4974336"/>
              <a:ext cx="1682496" cy="886968"/>
            </a:xfrm>
            <a:custGeom>
              <a:avLst/>
              <a:gdLst/>
              <a:ahLst/>
              <a:cxnLst/>
              <a:rect l="0" t="0" r="r" b="b"/>
              <a:pathLst>
                <a:path w="1682496" h="886968">
                  <a:moveTo>
                    <a:pt x="164592" y="0"/>
                  </a:moveTo>
                  <a:lnTo>
                    <a:pt x="1517904" y="0"/>
                  </a:lnTo>
                  <a:cubicBezTo>
                    <a:pt x="1608806" y="0"/>
                    <a:pt x="1682496" y="73690"/>
                    <a:pt x="1682496" y="164592"/>
                  </a:cubicBezTo>
                  <a:lnTo>
                    <a:pt x="1682496" y="722376"/>
                  </a:lnTo>
                  <a:cubicBezTo>
                    <a:pt x="1682496" y="813278"/>
                    <a:pt x="1608806" y="886968"/>
                    <a:pt x="1517904" y="886968"/>
                  </a:cubicBezTo>
                  <a:lnTo>
                    <a:pt x="164592" y="886968"/>
                  </a:lnTo>
                  <a:cubicBezTo>
                    <a:pt x="73690" y="886968"/>
                    <a:pt x="0" y="813278"/>
                    <a:pt x="0" y="722376"/>
                  </a:cubicBezTo>
                  <a:lnTo>
                    <a:pt x="0" y="164592"/>
                  </a:lnTo>
                  <a:cubicBezTo>
                    <a:pt x="0" y="73690"/>
                    <a:pt x="73690" y="0"/>
                    <a:pt x="1645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d6"/>
                </a:gs>
                <a:gs pos="100000">
                  <a:srgbClr val="f9e8ae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Vision"/>
            <p:cNvSpPr txBox="1"/>
            <p:nvPr/>
          </p:nvSpPr>
          <p:spPr>
            <a:xfrm>
              <a:off x="9015934" y="5014112"/>
              <a:ext cx="96936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Vision</a:t>
              </a:r>
            </a:p>
          </p:txBody>
        </p:sp>
        <p:sp>
          <p:nvSpPr>
            <p:cNvPr id="265" name="Projector"/>
            <p:cNvSpPr txBox="1"/>
            <p:nvPr/>
          </p:nvSpPr>
          <p:spPr>
            <a:xfrm>
              <a:off x="8800214" y="5379872"/>
              <a:ext cx="140080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Projector</a:t>
              </a:r>
            </a:p>
          </p:txBody>
        </p:sp>
        <p:sp>
          <p:nvSpPr>
            <p:cNvPr id="266" name="𝒫"/>
            <p:cNvSpPr txBox="1"/>
            <p:nvPr/>
          </p:nvSpPr>
          <p:spPr>
            <a:xfrm>
              <a:off x="8997696" y="5828751"/>
              <a:ext cx="416709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0B0B0B"/>
                  </a:solidFill>
                  <a:latin typeface="Latin Modern Math"/>
                </a:rPr>
                <a:t>𝒫</a:t>
              </a:r>
            </a:p>
          </p:txBody>
        </p:sp>
        <p:sp>
          <p:nvSpPr>
            <p:cNvPr id="267" name="(·)"/>
            <p:cNvSpPr txBox="1"/>
            <p:nvPr/>
          </p:nvSpPr>
          <p:spPr>
            <a:xfrm>
              <a:off x="9279331" y="5828751"/>
              <a:ext cx="511693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0B0B0B"/>
                  </a:solidFill>
                  <a:latin typeface="Liberation Serif"/>
                </a:rPr>
                <a:t>(·)</a:t>
              </a:r>
            </a:p>
          </p:txBody>
        </p:sp>
        <p:sp>
          <p:nvSpPr>
            <p:cNvPr id="268" name="path 244"/>
            <p:cNvSpPr/>
            <p:nvPr/>
          </p:nvSpPr>
          <p:spPr>
            <a:xfrm>
              <a:off x="10588752" y="1211580"/>
              <a:ext cx="2240280" cy="356616"/>
            </a:xfrm>
            <a:custGeom>
              <a:avLst/>
              <a:gdLst/>
              <a:ahLst/>
              <a:cxnLst/>
              <a:rect l="0" t="0" r="r" b="b"/>
              <a:pathLst>
                <a:path w="2240280" h="356616">
                  <a:moveTo>
                    <a:pt x="0" y="91440"/>
                  </a:moveTo>
                  <a:lnTo>
                    <a:pt x="1947672" y="91440"/>
                  </a:lnTo>
                  <a:lnTo>
                    <a:pt x="1947672" y="0"/>
                  </a:lnTo>
                  <a:lnTo>
                    <a:pt x="2240280" y="178308"/>
                  </a:lnTo>
                  <a:lnTo>
                    <a:pt x="1947672" y="356616"/>
                  </a:lnTo>
                  <a:lnTo>
                    <a:pt x="1947672" y="265176"/>
                  </a:lnTo>
                  <a:lnTo>
                    <a:pt x="0" y="265176"/>
                  </a:lnTo>
                  <a:close/>
                </a:path>
              </a:pathLst>
            </a:custGeom>
            <a:gradFill rotWithShape="1">
              <a:gsLst>
                <a:gs pos="0">
                  <a:srgbClr val="fff5d4"/>
                </a:gs>
                <a:gs pos="100000">
                  <a:srgbClr val="ffdfa0"/>
                </a:gs>
              </a:gsLst>
              <a:lin ang="5400000" scaled="1"/>
            </a:gradFill>
            <a:ln w="29261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path 245"/>
            <p:cNvSpPr/>
            <p:nvPr/>
          </p:nvSpPr>
          <p:spPr>
            <a:xfrm>
              <a:off x="10588752" y="3186684"/>
              <a:ext cx="2240280" cy="356616"/>
            </a:xfrm>
            <a:custGeom>
              <a:avLst/>
              <a:gdLst/>
              <a:ahLst/>
              <a:cxnLst/>
              <a:rect l="0" t="0" r="r" b="b"/>
              <a:pathLst>
                <a:path w="2240280" h="356616">
                  <a:moveTo>
                    <a:pt x="0" y="91440"/>
                  </a:moveTo>
                  <a:lnTo>
                    <a:pt x="1947672" y="91440"/>
                  </a:lnTo>
                  <a:lnTo>
                    <a:pt x="1947672" y="0"/>
                  </a:lnTo>
                  <a:lnTo>
                    <a:pt x="2240280" y="178308"/>
                  </a:lnTo>
                  <a:lnTo>
                    <a:pt x="1947672" y="356616"/>
                  </a:lnTo>
                  <a:lnTo>
                    <a:pt x="1947672" y="265176"/>
                  </a:lnTo>
                  <a:lnTo>
                    <a:pt x="0" y="265176"/>
                  </a:lnTo>
                  <a:close/>
                </a:path>
              </a:pathLst>
            </a:custGeom>
            <a:gradFill rotWithShape="1">
              <a:gsLst>
                <a:gs pos="0">
                  <a:srgbClr val="fff5d4"/>
                </a:gs>
                <a:gs pos="100000">
                  <a:srgbClr val="ffdfa0"/>
                </a:gs>
              </a:gsLst>
              <a:lin ang="5400000" scaled="1"/>
            </a:gradFill>
            <a:ln w="29261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path 246"/>
            <p:cNvSpPr/>
            <p:nvPr/>
          </p:nvSpPr>
          <p:spPr>
            <a:xfrm>
              <a:off x="10588752" y="5234940"/>
              <a:ext cx="2240280" cy="356616"/>
            </a:xfrm>
            <a:custGeom>
              <a:avLst/>
              <a:gdLst/>
              <a:ahLst/>
              <a:cxnLst/>
              <a:rect l="0" t="0" r="r" b="b"/>
              <a:pathLst>
                <a:path w="2240280" h="356616">
                  <a:moveTo>
                    <a:pt x="0" y="91440"/>
                  </a:moveTo>
                  <a:lnTo>
                    <a:pt x="1947672" y="91440"/>
                  </a:lnTo>
                  <a:lnTo>
                    <a:pt x="1947672" y="0"/>
                  </a:lnTo>
                  <a:lnTo>
                    <a:pt x="2240280" y="178308"/>
                  </a:lnTo>
                  <a:lnTo>
                    <a:pt x="1947672" y="356616"/>
                  </a:lnTo>
                  <a:lnTo>
                    <a:pt x="1947672" y="265176"/>
                  </a:lnTo>
                  <a:lnTo>
                    <a:pt x="0" y="265176"/>
                  </a:lnTo>
                  <a:close/>
                </a:path>
              </a:pathLst>
            </a:custGeom>
            <a:gradFill rotWithShape="1">
              <a:gsLst>
                <a:gs pos="0">
                  <a:srgbClr val="fff5d4"/>
                </a:gs>
                <a:gs pos="100000">
                  <a:srgbClr val="ffdfa0"/>
                </a:gs>
              </a:gsLst>
              <a:lin ang="5400000" scaled="1"/>
            </a:gradFill>
            <a:ln w="29261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path 247"/>
            <p:cNvSpPr/>
            <p:nvPr/>
          </p:nvSpPr>
          <p:spPr>
            <a:xfrm>
              <a:off x="11283696" y="1490472"/>
              <a:ext cx="877824" cy="438912"/>
            </a:xfrm>
            <a:custGeom>
              <a:avLst/>
              <a:gdLst/>
              <a:ahLst/>
              <a:cxnLst/>
              <a:rect l="0" t="0" r="r" b="b"/>
              <a:pathLst>
                <a:path w="877824" h="438912">
                  <a:moveTo>
                    <a:pt x="73152" y="0"/>
                  </a:moveTo>
                  <a:lnTo>
                    <a:pt x="804672" y="0"/>
                  </a:lnTo>
                  <a:cubicBezTo>
                    <a:pt x="845073" y="0"/>
                    <a:pt x="877824" y="32751"/>
                    <a:pt x="877824" y="73152"/>
                  </a:cubicBezTo>
                  <a:lnTo>
                    <a:pt x="877824" y="365760"/>
                  </a:lnTo>
                  <a:cubicBezTo>
                    <a:pt x="877824" y="406161"/>
                    <a:pt x="845073" y="438912"/>
                    <a:pt x="804672" y="438912"/>
                  </a:cubicBezTo>
                  <a:lnTo>
                    <a:pt x="73152" y="438912"/>
                  </a:lnTo>
                  <a:cubicBezTo>
                    <a:pt x="32751" y="438912"/>
                    <a:pt x="0" y="406161"/>
                    <a:pt x="0" y="365760"/>
                  </a:cubicBezTo>
                  <a:lnTo>
                    <a:pt x="0" y="73152"/>
                  </a:lnTo>
                  <a:cubicBezTo>
                    <a:pt x="0" y="32751"/>
                    <a:pt x="32751" y="0"/>
                    <a:pt x="731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0d5"/>
                </a:gs>
                <a:gs pos="100000">
                  <a:srgbClr val="f3b7ad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73152" dist="77589" dir="2700000" algn="tl" rotWithShape="0">
                <a:srgbClr val="e9ab8a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GRL"/>
            <p:cNvSpPr txBox="1"/>
            <p:nvPr/>
          </p:nvSpPr>
          <p:spPr>
            <a:xfrm>
              <a:off x="11375843" y="1493672"/>
              <a:ext cx="803258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GRL</a:t>
              </a:r>
            </a:p>
          </p:txBody>
        </p:sp>
      </p:grpSp>
      <p:grpSp>
        <p:nvGrpSpPr>
          <p:cNvPr id="273" name="Semantic representations"/>
          <p:cNvGrpSpPr/>
          <p:nvPr/>
        </p:nvGrpSpPr>
        <p:grpSpPr>
          <a:xfrm>
            <a:off x="13341096" y="1901952"/>
            <a:ext cx="1170432" cy="3511296"/>
            <a:chOff x="13341096" y="1901952"/>
            <a:chExt cx="1170432" cy="3511296"/>
          </a:xfrm>
        </p:grpSpPr>
        <p:sp>
          <p:nvSpPr>
            <p:cNvPr id="274" name="path 249"/>
            <p:cNvSpPr/>
            <p:nvPr/>
          </p:nvSpPr>
          <p:spPr>
            <a:xfrm>
              <a:off x="13716000" y="2459736"/>
              <a:ext cx="795528" cy="2953512"/>
            </a:xfrm>
            <a:custGeom>
              <a:avLst/>
              <a:gdLst/>
              <a:ahLst/>
              <a:cxnLst/>
              <a:rect l="0" t="0" r="r" b="b"/>
              <a:pathLst>
                <a:path w="795528" h="2953512" fill="none">
                  <a:moveTo>
                    <a:pt x="292608" y="2953512"/>
                  </a:moveTo>
                  <a:cubicBezTo>
                    <a:pt x="795528" y="2807208"/>
                    <a:pt x="740664" y="237744"/>
                    <a:pt x="0" y="0"/>
                  </a:cubicBez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path 250"/>
            <p:cNvSpPr/>
            <p:nvPr/>
          </p:nvSpPr>
          <p:spPr>
            <a:xfrm>
              <a:off x="13697712" y="2423160"/>
              <a:ext cx="201168" cy="173736"/>
            </a:xfrm>
            <a:custGeom>
              <a:avLst/>
              <a:gdLst/>
              <a:ahLst/>
              <a:cxnLst/>
              <a:rect l="0" t="0" r="r" b="b"/>
              <a:pathLst>
                <a:path w="201168" h="173736">
                  <a:moveTo>
                    <a:pt x="0" y="9144"/>
                  </a:moveTo>
                  <a:lnTo>
                    <a:pt x="201168" y="0"/>
                  </a:lnTo>
                  <a:lnTo>
                    <a:pt x="109728" y="173736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path 251"/>
            <p:cNvSpPr/>
            <p:nvPr/>
          </p:nvSpPr>
          <p:spPr>
            <a:xfrm>
              <a:off x="13533120" y="2032711"/>
              <a:ext cx="914" cy="811073"/>
            </a:xfrm>
            <a:custGeom>
              <a:avLst/>
              <a:gdLst/>
              <a:ahLst/>
              <a:cxnLst/>
              <a:rect l="0" t="0" r="r" b="b"/>
              <a:pathLst>
                <a:path w="914" h="811073" fill="none">
                  <a:moveTo>
                    <a:pt x="0" y="811073"/>
                  </a:moveTo>
                  <a:lnTo>
                    <a:pt x="0" y="0"/>
                  </a:lnTo>
                </a:path>
              </a:pathLst>
            </a:custGeom>
            <a:noFill/>
            <a:ln w="54864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path 252"/>
            <p:cNvSpPr/>
            <p:nvPr/>
          </p:nvSpPr>
          <p:spPr>
            <a:xfrm>
              <a:off x="13428513" y="1901952"/>
              <a:ext cx="209215" cy="201168"/>
            </a:xfrm>
            <a:custGeom>
              <a:avLst/>
              <a:gdLst/>
              <a:ahLst/>
              <a:cxnLst/>
              <a:rect l="0" t="0" r="r" b="b"/>
              <a:pathLst>
                <a:path w="209215" h="201168">
                  <a:moveTo>
                    <a:pt x="104607" y="0"/>
                  </a:moveTo>
                  <a:lnTo>
                    <a:pt x="209215" y="201168"/>
                  </a:lnTo>
                  <a:lnTo>
                    <a:pt x="0" y="201168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path 253"/>
            <p:cNvSpPr/>
            <p:nvPr/>
          </p:nvSpPr>
          <p:spPr>
            <a:xfrm>
              <a:off x="13350240" y="2258568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347472" h="347472">
                  <a:moveTo>
                    <a:pt x="347472" y="173736"/>
                  </a:moveTo>
                  <a:cubicBezTo>
                    <a:pt x="347472" y="269688"/>
                    <a:pt x="269688" y="347472"/>
                    <a:pt x="173736" y="347472"/>
                  </a:cubicBezTo>
                  <a:cubicBezTo>
                    <a:pt x="77784" y="347472"/>
                    <a:pt x="0" y="269688"/>
                    <a:pt x="0" y="173736"/>
                  </a:cubicBezTo>
                  <a:cubicBezTo>
                    <a:pt x="0" y="77784"/>
                    <a:pt x="77784" y="0"/>
                    <a:pt x="173736" y="0"/>
                  </a:cubicBezTo>
                  <a:cubicBezTo>
                    <a:pt x="269688" y="0"/>
                    <a:pt x="347472" y="77784"/>
                    <a:pt x="347472" y="17373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path 254"/>
            <p:cNvSpPr/>
            <p:nvPr/>
          </p:nvSpPr>
          <p:spPr>
            <a:xfrm>
              <a:off x="13341096" y="2432304"/>
              <a:ext cx="365760" cy="914"/>
            </a:xfrm>
            <a:custGeom>
              <a:avLst/>
              <a:gdLst/>
              <a:ahLst/>
              <a:cxnLst/>
              <a:rect l="0" t="0" r="r" b="b"/>
              <a:pathLst>
                <a:path w="365760" h="914" fill="none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noFill/>
            <a:ln w="45720" cap="rnd" cmpd="sng">
              <a:solidFill>
                <a:srgbClr val="072e3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Semantic representations / Semantic invariant feature F_i"/>
          <p:cNvGrpSpPr/>
          <p:nvPr/>
        </p:nvGrpSpPr>
        <p:grpSpPr>
          <a:xfrm>
            <a:off x="13057632" y="996696"/>
            <a:ext cx="923544" cy="777240"/>
            <a:chOff x="13057632" y="996696"/>
            <a:chExt cx="923544" cy="777240"/>
          </a:xfrm>
        </p:grpSpPr>
        <p:sp>
          <p:nvSpPr>
            <p:cNvPr id="281" name="path 255"/>
            <p:cNvSpPr/>
            <p:nvPr/>
          </p:nvSpPr>
          <p:spPr>
            <a:xfrm>
              <a:off x="13057632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path 256"/>
            <p:cNvSpPr/>
            <p:nvPr/>
          </p:nvSpPr>
          <p:spPr>
            <a:xfrm>
              <a:off x="13057632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path 257"/>
            <p:cNvSpPr/>
            <p:nvPr/>
          </p:nvSpPr>
          <p:spPr>
            <a:xfrm>
              <a:off x="13194792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path 258"/>
            <p:cNvSpPr/>
            <p:nvPr/>
          </p:nvSpPr>
          <p:spPr>
            <a:xfrm>
              <a:off x="13304520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path 259"/>
            <p:cNvSpPr/>
            <p:nvPr/>
          </p:nvSpPr>
          <p:spPr>
            <a:xfrm>
              <a:off x="13304520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6" name="path 260"/>
            <p:cNvSpPr/>
            <p:nvPr/>
          </p:nvSpPr>
          <p:spPr>
            <a:xfrm>
              <a:off x="13441680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path 261"/>
            <p:cNvSpPr/>
            <p:nvPr/>
          </p:nvSpPr>
          <p:spPr>
            <a:xfrm>
              <a:off x="13551408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path 262"/>
            <p:cNvSpPr/>
            <p:nvPr/>
          </p:nvSpPr>
          <p:spPr>
            <a:xfrm>
              <a:off x="13551408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path 263"/>
            <p:cNvSpPr/>
            <p:nvPr/>
          </p:nvSpPr>
          <p:spPr>
            <a:xfrm>
              <a:off x="13688568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path 264"/>
            <p:cNvSpPr/>
            <p:nvPr/>
          </p:nvSpPr>
          <p:spPr>
            <a:xfrm>
              <a:off x="13798296" y="99669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path 265"/>
            <p:cNvSpPr/>
            <p:nvPr/>
          </p:nvSpPr>
          <p:spPr>
            <a:xfrm>
              <a:off x="13798296" y="105156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path 266"/>
            <p:cNvSpPr/>
            <p:nvPr/>
          </p:nvSpPr>
          <p:spPr>
            <a:xfrm>
              <a:off x="13935456" y="99669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3" name="Semantic representations / Semantic specific feature F_s"/>
          <p:cNvGrpSpPr/>
          <p:nvPr/>
        </p:nvGrpSpPr>
        <p:grpSpPr>
          <a:xfrm>
            <a:off x="13057632" y="2916936"/>
            <a:ext cx="923544" cy="777240"/>
            <a:chOff x="13057632" y="2916936"/>
            <a:chExt cx="923544" cy="777240"/>
          </a:xfrm>
        </p:grpSpPr>
        <p:sp>
          <p:nvSpPr>
            <p:cNvPr id="294" name="path 267"/>
            <p:cNvSpPr/>
            <p:nvPr/>
          </p:nvSpPr>
          <p:spPr>
            <a:xfrm>
              <a:off x="13057632" y="291693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path 268"/>
            <p:cNvSpPr/>
            <p:nvPr/>
          </p:nvSpPr>
          <p:spPr>
            <a:xfrm>
              <a:off x="13057632" y="297180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6" name="path 269"/>
            <p:cNvSpPr/>
            <p:nvPr/>
          </p:nvSpPr>
          <p:spPr>
            <a:xfrm>
              <a:off x="13194792" y="291693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path 270"/>
            <p:cNvSpPr/>
            <p:nvPr/>
          </p:nvSpPr>
          <p:spPr>
            <a:xfrm>
              <a:off x="13304520" y="291693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path 271"/>
            <p:cNvSpPr/>
            <p:nvPr/>
          </p:nvSpPr>
          <p:spPr>
            <a:xfrm>
              <a:off x="13304520" y="297180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path 272"/>
            <p:cNvSpPr/>
            <p:nvPr/>
          </p:nvSpPr>
          <p:spPr>
            <a:xfrm>
              <a:off x="13441680" y="291693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" name="path 273"/>
            <p:cNvSpPr/>
            <p:nvPr/>
          </p:nvSpPr>
          <p:spPr>
            <a:xfrm>
              <a:off x="13551408" y="291693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" name="path 274"/>
            <p:cNvSpPr/>
            <p:nvPr/>
          </p:nvSpPr>
          <p:spPr>
            <a:xfrm>
              <a:off x="13551408" y="297180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path 275"/>
            <p:cNvSpPr/>
            <p:nvPr/>
          </p:nvSpPr>
          <p:spPr>
            <a:xfrm>
              <a:off x="13688568" y="291693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path 276"/>
            <p:cNvSpPr/>
            <p:nvPr/>
          </p:nvSpPr>
          <p:spPr>
            <a:xfrm>
              <a:off x="13798296" y="2916936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path 277"/>
            <p:cNvSpPr/>
            <p:nvPr/>
          </p:nvSpPr>
          <p:spPr>
            <a:xfrm>
              <a:off x="13798296" y="2971800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path 278"/>
            <p:cNvSpPr/>
            <p:nvPr/>
          </p:nvSpPr>
          <p:spPr>
            <a:xfrm>
              <a:off x="13935456" y="2916936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6" name="Semantic representations / Visual feature F"/>
          <p:cNvGrpSpPr/>
          <p:nvPr/>
        </p:nvGrpSpPr>
        <p:grpSpPr>
          <a:xfrm>
            <a:off x="13057632" y="5038344"/>
            <a:ext cx="923544" cy="777240"/>
            <a:chOff x="13057632" y="5038344"/>
            <a:chExt cx="923544" cy="777240"/>
          </a:xfrm>
        </p:grpSpPr>
        <p:sp>
          <p:nvSpPr>
            <p:cNvPr id="307" name="path 279"/>
            <p:cNvSpPr/>
            <p:nvPr/>
          </p:nvSpPr>
          <p:spPr>
            <a:xfrm>
              <a:off x="13057632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path 280"/>
            <p:cNvSpPr/>
            <p:nvPr/>
          </p:nvSpPr>
          <p:spPr>
            <a:xfrm>
              <a:off x="13057632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path 281"/>
            <p:cNvSpPr/>
            <p:nvPr/>
          </p:nvSpPr>
          <p:spPr>
            <a:xfrm>
              <a:off x="13194792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" name="path 282"/>
            <p:cNvSpPr/>
            <p:nvPr/>
          </p:nvSpPr>
          <p:spPr>
            <a:xfrm>
              <a:off x="13304520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path 283"/>
            <p:cNvSpPr/>
            <p:nvPr/>
          </p:nvSpPr>
          <p:spPr>
            <a:xfrm>
              <a:off x="13304520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path 284"/>
            <p:cNvSpPr/>
            <p:nvPr/>
          </p:nvSpPr>
          <p:spPr>
            <a:xfrm>
              <a:off x="13441680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path 285"/>
            <p:cNvSpPr/>
            <p:nvPr/>
          </p:nvSpPr>
          <p:spPr>
            <a:xfrm>
              <a:off x="13551408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path 286"/>
            <p:cNvSpPr/>
            <p:nvPr/>
          </p:nvSpPr>
          <p:spPr>
            <a:xfrm>
              <a:off x="13551408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path 287"/>
            <p:cNvSpPr/>
            <p:nvPr/>
          </p:nvSpPr>
          <p:spPr>
            <a:xfrm>
              <a:off x="13688568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6" name="path 288"/>
            <p:cNvSpPr/>
            <p:nvPr/>
          </p:nvSpPr>
          <p:spPr>
            <a:xfrm>
              <a:off x="13798296" y="5038344"/>
              <a:ext cx="182880" cy="777240"/>
            </a:xfrm>
            <a:custGeom>
              <a:avLst/>
              <a:gdLst/>
              <a:ahLst/>
              <a:cxnLst/>
              <a:rect l="0" t="0" r="r" b="b"/>
              <a:pathLst>
                <a:path w="182880" h="777240">
                  <a:moveTo>
                    <a:pt x="0" y="54864"/>
                  </a:moveTo>
                  <a:lnTo>
                    <a:pt x="54864" y="0"/>
                  </a:lnTo>
                  <a:lnTo>
                    <a:pt x="182880" y="0"/>
                  </a:lnTo>
                  <a:lnTo>
                    <a:pt x="182880" y="722376"/>
                  </a:lnTo>
                  <a:lnTo>
                    <a:pt x="137160" y="777240"/>
                  </a:lnTo>
                  <a:lnTo>
                    <a:pt x="0" y="777240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36576" cap="rnd" cmpd="sng">
              <a:solidFill>
                <a:srgbClr val="182f5b"/>
              </a:solidFill>
              <a:round/>
            </a:ln>
            <a:effectLst>
              <a:outerShdw blurRad="73152" dist="84304" dir="2963922" algn="tl" rotWithShape="0">
                <a:srgbClr val="333333">
                  <a:alpha val="25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path 289"/>
            <p:cNvSpPr/>
            <p:nvPr/>
          </p:nvSpPr>
          <p:spPr>
            <a:xfrm>
              <a:off x="13798296" y="5093208"/>
              <a:ext cx="137160" cy="722376"/>
            </a:xfrm>
            <a:custGeom>
              <a:avLst/>
              <a:gdLst/>
              <a:ahLst/>
              <a:cxnLst/>
              <a:rect l="0" t="0" r="r" b="b"/>
              <a:pathLst>
                <a:path w="137160" h="722376">
                  <a:moveTo>
                    <a:pt x="0" y="0"/>
                  </a:moveTo>
                  <a:lnTo>
                    <a:pt x="137160" y="0"/>
                  </a:lnTo>
                  <a:lnTo>
                    <a:pt x="137160" y="722376"/>
                  </a:lnTo>
                  <a:lnTo>
                    <a:pt x="0" y="722376"/>
                  </a:lnTo>
                  <a:close/>
                </a:path>
              </a:pathLst>
            </a:custGeom>
            <a:gradFill rotWithShape="1">
              <a:gsLst>
                <a:gs pos="0">
                  <a:srgbClr val="fff6ca"/>
                </a:gs>
                <a:gs pos="100000">
                  <a:srgbClr val="ffe276"/>
                </a:gs>
              </a:gsLst>
              <a:lin ang="5400000" scaled="1"/>
            </a:gradFill>
            <a:ln w="27432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path 290"/>
            <p:cNvSpPr/>
            <p:nvPr/>
          </p:nvSpPr>
          <p:spPr>
            <a:xfrm>
              <a:off x="13935456" y="5038344"/>
              <a:ext cx="45720" cy="54864"/>
            </a:xfrm>
            <a:custGeom>
              <a:avLst/>
              <a:gdLst/>
              <a:ahLst/>
              <a:cxnLst/>
              <a:rect l="0" t="0" r="r" b="b"/>
              <a:pathLst>
                <a:path w="45720" h="54864" fill="none">
                  <a:moveTo>
                    <a:pt x="0" y="54864"/>
                  </a:moveTo>
                  <a:lnTo>
                    <a:pt x="45720" y="0"/>
                  </a:lnTo>
                </a:path>
              </a:pathLst>
            </a:custGeom>
            <a:noFill/>
            <a:ln w="24689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9" name="Semantic representations"/>
          <p:cNvGrpSpPr/>
          <p:nvPr/>
        </p:nvGrpSpPr>
        <p:grpSpPr>
          <a:xfrm>
            <a:off x="12710160" y="1558503"/>
            <a:ext cx="1109610" cy="4760001"/>
            <a:chOff x="12710160" y="1558503"/>
            <a:chExt cx="1109610" cy="4760001"/>
          </a:xfrm>
        </p:grpSpPr>
        <p:sp>
          <p:nvSpPr>
            <p:cNvPr id="320" name="F"/>
            <p:cNvSpPr txBox="1"/>
            <p:nvPr/>
          </p:nvSpPr>
          <p:spPr>
            <a:xfrm>
              <a:off x="12710160" y="1558503"/>
              <a:ext cx="378090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1" i="1" dirty="0">
                  <a:solidFill>
                    <a:srgbClr val="0B0B0B"/>
                  </a:solidFill>
                  <a:latin typeface="Liberation Serif"/>
                </a:rPr>
                <a:t>F</a:t>
              </a:r>
            </a:p>
          </p:txBody>
        </p:sp>
        <p:sp>
          <p:nvSpPr>
            <p:cNvPr id="321" name="i"/>
            <p:cNvSpPr txBox="1"/>
            <p:nvPr/>
          </p:nvSpPr>
          <p:spPr>
            <a:xfrm>
              <a:off x="12943515" y="1754401"/>
              <a:ext cx="186966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1" i="1" dirty="0">
                  <a:solidFill>
                    <a:srgbClr val="0B0B0B"/>
                  </a:solidFill>
                  <a:latin typeface="Liberation Serif"/>
                </a:rPr>
                <a:t>i</a:t>
              </a:r>
            </a:p>
          </p:txBody>
        </p:sp>
        <p:sp>
          <p:nvSpPr>
            <p:cNvPr id="322" name="F"/>
            <p:cNvSpPr txBox="1"/>
            <p:nvPr/>
          </p:nvSpPr>
          <p:spPr>
            <a:xfrm>
              <a:off x="12719304" y="3597615"/>
              <a:ext cx="378090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1" i="1" dirty="0">
                  <a:solidFill>
                    <a:srgbClr val="0B0B0B"/>
                  </a:solidFill>
                  <a:latin typeface="Liberation Serif"/>
                </a:rPr>
                <a:t>F</a:t>
              </a:r>
            </a:p>
          </p:txBody>
        </p:sp>
        <p:sp>
          <p:nvSpPr>
            <p:cNvPr id="323" name="s"/>
            <p:cNvSpPr txBox="1"/>
            <p:nvPr/>
          </p:nvSpPr>
          <p:spPr>
            <a:xfrm>
              <a:off x="12952659" y="3793513"/>
              <a:ext cx="217913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1" i="1" dirty="0">
                  <a:solidFill>
                    <a:srgbClr val="0B0B0B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324" name="F"/>
            <p:cNvSpPr txBox="1"/>
            <p:nvPr/>
          </p:nvSpPr>
          <p:spPr>
            <a:xfrm>
              <a:off x="13441680" y="5819607"/>
              <a:ext cx="378090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1" i="1" dirty="0">
                  <a:solidFill>
                    <a:srgbClr val="0B0B0B"/>
                  </a:solidFill>
                  <a:latin typeface="Liberation Serif"/>
                </a:rPr>
                <a:t>F</a:t>
              </a:r>
            </a:p>
          </p:txBody>
        </p:sp>
      </p:grpSp>
      <p:grpSp>
        <p:nvGrpSpPr>
          <p:cNvPr id="325" name="Semantic supervision / Semantic categories / Unknown identity"/>
          <p:cNvGrpSpPr/>
          <p:nvPr/>
        </p:nvGrpSpPr>
        <p:grpSpPr>
          <a:xfrm>
            <a:off x="15623896" y="1515892"/>
            <a:ext cx="1010412" cy="565465"/>
            <a:chOff x="15623896" y="1515892"/>
            <a:chExt cx="1010412" cy="565465"/>
          </a:xfrm>
        </p:grpSpPr>
        <p:sp>
          <p:nvSpPr>
            <p:cNvPr id="326" name="path 296"/>
            <p:cNvSpPr/>
            <p:nvPr/>
          </p:nvSpPr>
          <p:spPr>
            <a:xfrm>
              <a:off x="15623896" y="1743761"/>
              <a:ext cx="178308" cy="243688"/>
            </a:xfrm>
            <a:custGeom>
              <a:avLst/>
              <a:gdLst/>
              <a:ahLst/>
              <a:cxnLst/>
              <a:rect l="0" t="0" r="r" b="b"/>
              <a:pathLst>
                <a:path w="178308" h="243688" fill="none">
                  <a:moveTo>
                    <a:pt x="0" y="83210"/>
                  </a:moveTo>
                  <a:cubicBezTo>
                    <a:pt x="5944" y="17831"/>
                    <a:pt x="89154" y="0"/>
                    <a:pt x="130759" y="47549"/>
                  </a:cubicBezTo>
                  <a:cubicBezTo>
                    <a:pt x="178308" y="106985"/>
                    <a:pt x="124816" y="154534"/>
                    <a:pt x="89154" y="178308"/>
                  </a:cubicBezTo>
                  <a:cubicBezTo>
                    <a:pt x="71323" y="196139"/>
                    <a:pt x="71323" y="219913"/>
                    <a:pt x="71323" y="243688"/>
                  </a:cubicBezTo>
                </a:path>
              </a:pathLst>
            </a:custGeom>
            <a:noFill/>
            <a:ln w="3269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path 297"/>
            <p:cNvSpPr/>
            <p:nvPr/>
          </p:nvSpPr>
          <p:spPr>
            <a:xfrm>
              <a:off x="15678577" y="2048073"/>
              <a:ext cx="33284" cy="33284"/>
            </a:xfrm>
            <a:custGeom>
              <a:avLst/>
              <a:gdLst/>
              <a:ahLst/>
              <a:cxnLst/>
              <a:rect l="0" t="0" r="r" b="b"/>
              <a:pathLst>
                <a:path w="33284" h="33284">
                  <a:moveTo>
                    <a:pt x="33284" y="16642"/>
                  </a:moveTo>
                  <a:cubicBezTo>
                    <a:pt x="33284" y="25833"/>
                    <a:pt x="25833" y="33284"/>
                    <a:pt x="16642" y="33284"/>
                  </a:cubicBezTo>
                  <a:cubicBezTo>
                    <a:pt x="7451" y="33284"/>
                    <a:pt x="0" y="25833"/>
                    <a:pt x="0" y="16642"/>
                  </a:cubicBezTo>
                  <a:cubicBezTo>
                    <a:pt x="0" y="7451"/>
                    <a:pt x="7451" y="0"/>
                    <a:pt x="16642" y="0"/>
                  </a:cubicBezTo>
                  <a:cubicBezTo>
                    <a:pt x="25833" y="0"/>
                    <a:pt x="33284" y="7451"/>
                    <a:pt x="33284" y="16642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path 298"/>
            <p:cNvSpPr/>
            <p:nvPr/>
          </p:nvSpPr>
          <p:spPr>
            <a:xfrm>
              <a:off x="15945947" y="1515892"/>
              <a:ext cx="302301" cy="421630"/>
            </a:xfrm>
            <a:custGeom>
              <a:avLst/>
              <a:gdLst/>
              <a:ahLst/>
              <a:cxnLst/>
              <a:rect l="0" t="0" r="r" b="b"/>
              <a:pathLst>
                <a:path w="302301" h="421630">
                  <a:moveTo>
                    <a:pt x="0" y="175016"/>
                  </a:moveTo>
                  <a:cubicBezTo>
                    <a:pt x="7955" y="63642"/>
                    <a:pt x="95463" y="0"/>
                    <a:pt x="206837" y="47732"/>
                  </a:cubicBezTo>
                  <a:cubicBezTo>
                    <a:pt x="302301" y="95463"/>
                    <a:pt x="270480" y="214793"/>
                    <a:pt x="206837" y="254569"/>
                  </a:cubicBezTo>
                  <a:cubicBezTo>
                    <a:pt x="159106" y="286390"/>
                    <a:pt x="151150" y="294345"/>
                    <a:pt x="151150" y="365943"/>
                  </a:cubicBezTo>
                  <a:cubicBezTo>
                    <a:pt x="151150" y="421630"/>
                    <a:pt x="55687" y="421630"/>
                    <a:pt x="55687" y="365943"/>
                  </a:cubicBezTo>
                  <a:lnTo>
                    <a:pt x="55687" y="294345"/>
                  </a:lnTo>
                  <a:cubicBezTo>
                    <a:pt x="55687" y="230703"/>
                    <a:pt x="95463" y="214793"/>
                    <a:pt x="135240" y="190927"/>
                  </a:cubicBezTo>
                  <a:cubicBezTo>
                    <a:pt x="182971" y="159106"/>
                    <a:pt x="175016" y="103419"/>
                    <a:pt x="127284" y="103419"/>
                  </a:cubicBezTo>
                  <a:cubicBezTo>
                    <a:pt x="87508" y="103419"/>
                    <a:pt x="79553" y="135240"/>
                    <a:pt x="71598" y="175016"/>
                  </a:cubicBezTo>
                  <a:cubicBezTo>
                    <a:pt x="63642" y="214793"/>
                    <a:pt x="0" y="214793"/>
                    <a:pt x="0" y="175016"/>
                  </a:cubicBezTo>
                  <a:close/>
                </a:path>
              </a:pathLst>
            </a:custGeom>
            <a:solidFill>
              <a:srgbClr val="fd7ca3">
                <a:alpha val="100000"/>
              </a:srgbClr>
            </a:solidFill>
            <a:ln w="31821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path 299"/>
            <p:cNvSpPr/>
            <p:nvPr/>
          </p:nvSpPr>
          <p:spPr>
            <a:xfrm>
              <a:off x="16017545" y="1993209"/>
              <a:ext cx="79553" cy="79553"/>
            </a:xfrm>
            <a:custGeom>
              <a:avLst/>
              <a:gdLst/>
              <a:ahLst/>
              <a:cxnLst/>
              <a:rect l="0" t="0" r="r" b="b"/>
              <a:pathLst>
                <a:path w="79553" h="79553">
                  <a:moveTo>
                    <a:pt x="79553" y="39776"/>
                  </a:moveTo>
                  <a:cubicBezTo>
                    <a:pt x="79553" y="61744"/>
                    <a:pt x="61744" y="79553"/>
                    <a:pt x="39776" y="79553"/>
                  </a:cubicBezTo>
                  <a:cubicBezTo>
                    <a:pt x="17809" y="79553"/>
                    <a:pt x="0" y="61744"/>
                    <a:pt x="0" y="39776"/>
                  </a:cubicBezTo>
                  <a:cubicBezTo>
                    <a:pt x="0" y="17809"/>
                    <a:pt x="17809" y="0"/>
                    <a:pt x="39776" y="0"/>
                  </a:cubicBezTo>
                  <a:cubicBezTo>
                    <a:pt x="61744" y="0"/>
                    <a:pt x="79553" y="17809"/>
                    <a:pt x="79553" y="39776"/>
                  </a:cubicBezTo>
                  <a:close/>
                </a:path>
              </a:pathLst>
            </a:custGeom>
            <a:solidFill>
              <a:srgbClr val="fd7ca3">
                <a:alpha val="100000"/>
              </a:srgbClr>
            </a:solidFill>
            <a:ln w="31821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0" name="path 300"/>
            <p:cNvSpPr/>
            <p:nvPr/>
          </p:nvSpPr>
          <p:spPr>
            <a:xfrm>
              <a:off x="16456000" y="1743761"/>
              <a:ext cx="178308" cy="243688"/>
            </a:xfrm>
            <a:custGeom>
              <a:avLst/>
              <a:gdLst/>
              <a:ahLst/>
              <a:cxnLst/>
              <a:rect l="0" t="0" r="r" b="b"/>
              <a:pathLst>
                <a:path w="178308" h="243688" fill="none">
                  <a:moveTo>
                    <a:pt x="0" y="83210"/>
                  </a:moveTo>
                  <a:cubicBezTo>
                    <a:pt x="5944" y="17831"/>
                    <a:pt x="89154" y="0"/>
                    <a:pt x="130759" y="47549"/>
                  </a:cubicBezTo>
                  <a:cubicBezTo>
                    <a:pt x="178308" y="106985"/>
                    <a:pt x="124816" y="154534"/>
                    <a:pt x="89154" y="178308"/>
                  </a:cubicBezTo>
                  <a:cubicBezTo>
                    <a:pt x="71323" y="196139"/>
                    <a:pt x="71323" y="219913"/>
                    <a:pt x="71323" y="243688"/>
                  </a:cubicBezTo>
                </a:path>
              </a:pathLst>
            </a:custGeom>
            <a:noFill/>
            <a:ln w="3269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" name="path 301"/>
            <p:cNvSpPr/>
            <p:nvPr/>
          </p:nvSpPr>
          <p:spPr>
            <a:xfrm>
              <a:off x="16510681" y="2048073"/>
              <a:ext cx="33284" cy="33284"/>
            </a:xfrm>
            <a:custGeom>
              <a:avLst/>
              <a:gdLst/>
              <a:ahLst/>
              <a:cxnLst/>
              <a:rect l="0" t="0" r="r" b="b"/>
              <a:pathLst>
                <a:path w="33284" h="33284">
                  <a:moveTo>
                    <a:pt x="33284" y="16642"/>
                  </a:moveTo>
                  <a:cubicBezTo>
                    <a:pt x="33284" y="25833"/>
                    <a:pt x="25833" y="33284"/>
                    <a:pt x="16642" y="33284"/>
                  </a:cubicBezTo>
                  <a:cubicBezTo>
                    <a:pt x="7451" y="33284"/>
                    <a:pt x="0" y="25833"/>
                    <a:pt x="0" y="16642"/>
                  </a:cubicBezTo>
                  <a:cubicBezTo>
                    <a:pt x="0" y="7451"/>
                    <a:pt x="7451" y="0"/>
                    <a:pt x="16642" y="0"/>
                  </a:cubicBezTo>
                  <a:cubicBezTo>
                    <a:pt x="25833" y="0"/>
                    <a:pt x="33284" y="7451"/>
                    <a:pt x="33284" y="16642"/>
                  </a:cubicBezTo>
                  <a:close/>
                </a:path>
              </a:pathLst>
            </a:custGeom>
            <a:solidFill>
              <a:srgbClr val="0b0b0b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2" name="Semantic supervision / Semantic categories / Dog"/>
          <p:cNvGrpSpPr/>
          <p:nvPr/>
        </p:nvGrpSpPr>
        <p:grpSpPr>
          <a:xfrm>
            <a:off x="15509321" y="2227387"/>
            <a:ext cx="378196" cy="429768"/>
            <a:chOff x="15509321" y="2227387"/>
            <a:chExt cx="378196" cy="429768"/>
          </a:xfrm>
        </p:grpSpPr>
        <p:sp>
          <p:nvSpPr>
            <p:cNvPr id="333" name="path 302"/>
            <p:cNvSpPr/>
            <p:nvPr/>
          </p:nvSpPr>
          <p:spPr>
            <a:xfrm>
              <a:off x="15556596" y="2511034"/>
              <a:ext cx="279349" cy="146121"/>
            </a:xfrm>
            <a:custGeom>
              <a:avLst/>
              <a:gdLst/>
              <a:ahLst/>
              <a:cxnLst/>
              <a:rect l="0" t="0" r="r" b="b"/>
              <a:pathLst>
                <a:path w="279349" h="146121">
                  <a:moveTo>
                    <a:pt x="42977" y="0"/>
                  </a:moveTo>
                  <a:cubicBezTo>
                    <a:pt x="8595" y="38679"/>
                    <a:pt x="4298" y="120335"/>
                    <a:pt x="0" y="146121"/>
                  </a:cubicBezTo>
                  <a:lnTo>
                    <a:pt x="279349" y="146121"/>
                  </a:lnTo>
                  <a:cubicBezTo>
                    <a:pt x="275052" y="68763"/>
                    <a:pt x="262158" y="30084"/>
                    <a:pt x="232075" y="4298"/>
                  </a:cubicBezTo>
                  <a:close/>
                </a:path>
              </a:pathLst>
            </a:custGeom>
            <a:solidFill>
              <a:srgbClr val="edaa82">
                <a:alpha val="100000"/>
              </a:srgbClr>
            </a:solidFill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ath 303"/>
            <p:cNvSpPr/>
            <p:nvPr/>
          </p:nvSpPr>
          <p:spPr>
            <a:xfrm>
              <a:off x="15509321" y="2274661"/>
              <a:ext cx="116037" cy="193396"/>
            </a:xfrm>
            <a:custGeom>
              <a:avLst/>
              <a:gdLst/>
              <a:ahLst/>
              <a:cxnLst/>
              <a:rect l="0" t="0" r="r" b="b"/>
              <a:pathLst>
                <a:path w="116037" h="193396">
                  <a:moveTo>
                    <a:pt x="81656" y="21488"/>
                  </a:moveTo>
                  <a:cubicBezTo>
                    <a:pt x="21488" y="0"/>
                    <a:pt x="0" y="47274"/>
                    <a:pt x="21488" y="107442"/>
                  </a:cubicBezTo>
                  <a:cubicBezTo>
                    <a:pt x="30084" y="154716"/>
                    <a:pt x="47274" y="193396"/>
                    <a:pt x="90251" y="180503"/>
                  </a:cubicBezTo>
                  <a:lnTo>
                    <a:pt x="116037" y="30084"/>
                  </a:lnTo>
                  <a:close/>
                </a:path>
              </a:pathLst>
            </a:custGeom>
            <a:solidFill>
              <a:srgbClr val="c67537">
                <a:alpha val="100000"/>
              </a:srgbClr>
            </a:solidFill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ath 304"/>
            <p:cNvSpPr/>
            <p:nvPr/>
          </p:nvSpPr>
          <p:spPr>
            <a:xfrm>
              <a:off x="15771480" y="2274661"/>
              <a:ext cx="116037" cy="193396"/>
            </a:xfrm>
            <a:custGeom>
              <a:avLst/>
              <a:gdLst/>
              <a:ahLst/>
              <a:cxnLst/>
              <a:rect l="0" t="0" r="r" b="b"/>
              <a:pathLst>
                <a:path w="116037" h="193396">
                  <a:moveTo>
                    <a:pt x="21488" y="21488"/>
                  </a:moveTo>
                  <a:cubicBezTo>
                    <a:pt x="90251" y="0"/>
                    <a:pt x="116037" y="51572"/>
                    <a:pt x="85954" y="124633"/>
                  </a:cubicBezTo>
                  <a:cubicBezTo>
                    <a:pt x="68763" y="171907"/>
                    <a:pt x="51572" y="193396"/>
                    <a:pt x="17191" y="180503"/>
                  </a:cubicBezTo>
                  <a:lnTo>
                    <a:pt x="0" y="30084"/>
                  </a:lnTo>
                  <a:close/>
                </a:path>
              </a:pathLst>
            </a:custGeom>
            <a:solidFill>
              <a:srgbClr val="c67537">
                <a:alpha val="100000"/>
              </a:srgbClr>
            </a:solidFill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path 305"/>
            <p:cNvSpPr/>
            <p:nvPr/>
          </p:nvSpPr>
          <p:spPr>
            <a:xfrm>
              <a:off x="15560893" y="2227387"/>
              <a:ext cx="270754" cy="348112"/>
            </a:xfrm>
            <a:custGeom>
              <a:avLst/>
              <a:gdLst/>
              <a:ahLst/>
              <a:cxnLst/>
              <a:rect l="0" t="0" r="r" b="b"/>
              <a:pathLst>
                <a:path w="270754" h="348112">
                  <a:moveTo>
                    <a:pt x="42977" y="73061"/>
                  </a:moveTo>
                  <a:cubicBezTo>
                    <a:pt x="51572" y="17191"/>
                    <a:pt x="193396" y="0"/>
                    <a:pt x="232075" y="73061"/>
                  </a:cubicBezTo>
                  <a:cubicBezTo>
                    <a:pt x="236372" y="154716"/>
                    <a:pt x="270754" y="214884"/>
                    <a:pt x="240670" y="279349"/>
                  </a:cubicBezTo>
                  <a:cubicBezTo>
                    <a:pt x="223479" y="326624"/>
                    <a:pt x="167610" y="335219"/>
                    <a:pt x="133228" y="305135"/>
                  </a:cubicBezTo>
                  <a:cubicBezTo>
                    <a:pt x="107442" y="348112"/>
                    <a:pt x="38679" y="326624"/>
                    <a:pt x="21488" y="279349"/>
                  </a:cubicBezTo>
                  <a:cubicBezTo>
                    <a:pt x="0" y="223479"/>
                    <a:pt x="42977" y="120335"/>
                    <a:pt x="42977" y="73061"/>
                  </a:cubicBezTo>
                  <a:close/>
                </a:path>
              </a:pathLst>
            </a:custGeom>
            <a:solidFill>
              <a:srgbClr val="edaa82">
                <a:alpha val="100000"/>
              </a:srgbClr>
            </a:solidFill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ath 306"/>
            <p:cNvSpPr/>
            <p:nvPr/>
          </p:nvSpPr>
          <p:spPr>
            <a:xfrm>
              <a:off x="15646847" y="2369210"/>
              <a:ext cx="914" cy="25786"/>
            </a:xfrm>
            <a:custGeom>
              <a:avLst/>
              <a:gdLst/>
              <a:ahLst/>
              <a:cxnLst/>
              <a:rect l="0" t="0" r="r" b="b"/>
              <a:pathLst>
                <a:path w="914" h="25786" fill="none">
                  <a:moveTo>
                    <a:pt x="0" y="0"/>
                  </a:moveTo>
                  <a:lnTo>
                    <a:pt x="0" y="25786"/>
                  </a:lnTo>
                </a:path>
              </a:pathLst>
            </a:custGeom>
            <a:noFill/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ath 307"/>
            <p:cNvSpPr/>
            <p:nvPr/>
          </p:nvSpPr>
          <p:spPr>
            <a:xfrm>
              <a:off x="15737098" y="2369210"/>
              <a:ext cx="914" cy="25786"/>
            </a:xfrm>
            <a:custGeom>
              <a:avLst/>
              <a:gdLst/>
              <a:ahLst/>
              <a:cxnLst/>
              <a:rect l="0" t="0" r="r" b="b"/>
              <a:pathLst>
                <a:path w="914" h="25786" fill="none">
                  <a:moveTo>
                    <a:pt x="0" y="0"/>
                  </a:moveTo>
                  <a:lnTo>
                    <a:pt x="0" y="25786"/>
                  </a:lnTo>
                </a:path>
              </a:pathLst>
            </a:custGeom>
            <a:noFill/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path 308"/>
            <p:cNvSpPr/>
            <p:nvPr/>
          </p:nvSpPr>
          <p:spPr>
            <a:xfrm>
              <a:off x="15659740" y="2407890"/>
              <a:ext cx="77358" cy="81656"/>
            </a:xfrm>
            <a:custGeom>
              <a:avLst/>
              <a:gdLst/>
              <a:ahLst/>
              <a:cxnLst/>
              <a:rect l="0" t="0" r="r" b="b"/>
              <a:pathLst>
                <a:path w="77358" h="81656">
                  <a:moveTo>
                    <a:pt x="0" y="38679"/>
                  </a:moveTo>
                  <a:cubicBezTo>
                    <a:pt x="0" y="0"/>
                    <a:pt x="77358" y="0"/>
                    <a:pt x="77358" y="38679"/>
                  </a:cubicBezTo>
                  <a:cubicBezTo>
                    <a:pt x="73061" y="60168"/>
                    <a:pt x="47274" y="68763"/>
                    <a:pt x="38679" y="81656"/>
                  </a:cubicBezTo>
                  <a:cubicBezTo>
                    <a:pt x="21488" y="64465"/>
                    <a:pt x="4298" y="64465"/>
                    <a:pt x="0" y="38679"/>
                  </a:cubicBezTo>
                  <a:close/>
                </a:path>
              </a:pathLst>
            </a:custGeom>
            <a:solidFill>
              <a:srgbClr val="4a626c">
                <a:alpha val="100000"/>
              </a:srgbClr>
            </a:solidFill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ath 309"/>
            <p:cNvSpPr/>
            <p:nvPr/>
          </p:nvSpPr>
          <p:spPr>
            <a:xfrm>
              <a:off x="15698419" y="2480950"/>
              <a:ext cx="914" cy="42977"/>
            </a:xfrm>
            <a:custGeom>
              <a:avLst/>
              <a:gdLst/>
              <a:ahLst/>
              <a:cxnLst/>
              <a:rect l="0" t="0" r="r" b="b"/>
              <a:pathLst>
                <a:path w="914" h="42977" fill="none">
                  <a:moveTo>
                    <a:pt x="0" y="0"/>
                  </a:moveTo>
                  <a:lnTo>
                    <a:pt x="0" y="42977"/>
                  </a:lnTo>
                </a:path>
              </a:pathLst>
            </a:custGeom>
            <a:noFill/>
            <a:ln w="1289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ath 310"/>
            <p:cNvSpPr/>
            <p:nvPr/>
          </p:nvSpPr>
          <p:spPr>
            <a:xfrm>
              <a:off x="15659740" y="2554011"/>
              <a:ext cx="51572" cy="77358"/>
            </a:xfrm>
            <a:custGeom>
              <a:avLst/>
              <a:gdLst/>
              <a:ahLst/>
              <a:cxnLst/>
              <a:rect l="0" t="0" r="r" b="b"/>
              <a:pathLst>
                <a:path w="51572" h="77358">
                  <a:moveTo>
                    <a:pt x="0" y="0"/>
                  </a:moveTo>
                  <a:lnTo>
                    <a:pt x="0" y="38679"/>
                  </a:lnTo>
                  <a:cubicBezTo>
                    <a:pt x="4298" y="77358"/>
                    <a:pt x="51572" y="77358"/>
                    <a:pt x="51572" y="38679"/>
                  </a:cubicBezTo>
                  <a:lnTo>
                    <a:pt x="51572" y="4298"/>
                  </a:lnTo>
                </a:path>
              </a:pathLst>
            </a:custGeom>
            <a:solidFill>
              <a:srgbClr val="fa4e5e">
                <a:alpha val="100000"/>
              </a:srgbClr>
            </a:solidFill>
            <a:ln w="8595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path 311"/>
            <p:cNvSpPr/>
            <p:nvPr/>
          </p:nvSpPr>
          <p:spPr>
            <a:xfrm>
              <a:off x="15586680" y="2528225"/>
              <a:ext cx="223479" cy="103144"/>
            </a:xfrm>
            <a:custGeom>
              <a:avLst/>
              <a:gdLst/>
              <a:ahLst/>
              <a:cxnLst/>
              <a:rect l="0" t="0" r="r" b="b"/>
              <a:pathLst>
                <a:path w="223479" h="103144">
                  <a:moveTo>
                    <a:pt x="4298" y="4298"/>
                  </a:moveTo>
                  <a:quadBezTo>
                    <a:pt x="107442" y="81656"/>
                    <a:pt x="223479" y="0"/>
                  </a:quadBezTo>
                  <a:lnTo>
                    <a:pt x="219182" y="38679"/>
                  </a:lnTo>
                  <a:quadBezTo>
                    <a:pt x="120335" y="103144"/>
                    <a:pt x="0" y="38679"/>
                  </a:quadBezTo>
                  <a:close/>
                </a:path>
              </a:pathLst>
            </a:custGeom>
            <a:solidFill>
              <a:srgbClr val="ffce58">
                <a:alpha val="100000"/>
              </a:srgbClr>
            </a:solidFill>
            <a:ln w="8595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3" name="Semantic supervision / Semantic categories / Semantic woman"/>
          <p:cNvGrpSpPr/>
          <p:nvPr/>
        </p:nvGrpSpPr>
        <p:grpSpPr>
          <a:xfrm>
            <a:off x="15933237" y="2104034"/>
            <a:ext cx="344729" cy="530353"/>
            <a:chOff x="15933237" y="2104034"/>
            <a:chExt cx="344729" cy="530353"/>
          </a:xfrm>
        </p:grpSpPr>
        <p:sp>
          <p:nvSpPr>
            <p:cNvPr id="344" name="path 312"/>
            <p:cNvSpPr/>
            <p:nvPr/>
          </p:nvSpPr>
          <p:spPr>
            <a:xfrm>
              <a:off x="15933237" y="2104034"/>
              <a:ext cx="344729" cy="344729"/>
            </a:xfrm>
            <a:custGeom>
              <a:avLst/>
              <a:gdLst/>
              <a:ahLst/>
              <a:cxnLst/>
              <a:rect l="0" t="0" r="r" b="b"/>
              <a:pathLst>
                <a:path w="344729" h="344729">
                  <a:moveTo>
                    <a:pt x="42428" y="323515"/>
                  </a:moveTo>
                  <a:cubicBezTo>
                    <a:pt x="0" y="265176"/>
                    <a:pt x="26518" y="233355"/>
                    <a:pt x="42428" y="190927"/>
                  </a:cubicBezTo>
                  <a:cubicBezTo>
                    <a:pt x="21214" y="137892"/>
                    <a:pt x="74249" y="127284"/>
                    <a:pt x="84856" y="100767"/>
                  </a:cubicBezTo>
                  <a:cubicBezTo>
                    <a:pt x="106070" y="0"/>
                    <a:pt x="228051" y="5304"/>
                    <a:pt x="270480" y="95463"/>
                  </a:cubicBezTo>
                  <a:cubicBezTo>
                    <a:pt x="296997" y="148499"/>
                    <a:pt x="259872" y="180320"/>
                    <a:pt x="302301" y="206837"/>
                  </a:cubicBezTo>
                  <a:cubicBezTo>
                    <a:pt x="344729" y="265176"/>
                    <a:pt x="328818" y="302301"/>
                    <a:pt x="312908" y="344729"/>
                  </a:cubicBezTo>
                  <a:close/>
                </a:path>
              </a:pathLst>
            </a:custGeom>
            <a:solidFill>
              <a:srgbClr val="a86c70">
                <a:alpha val="100000"/>
              </a:srgbClr>
            </a:solidFill>
            <a:ln w="1325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ath 313"/>
            <p:cNvSpPr/>
            <p:nvPr/>
          </p:nvSpPr>
          <p:spPr>
            <a:xfrm>
              <a:off x="15954451" y="2401032"/>
              <a:ext cx="312908" cy="233355"/>
            </a:xfrm>
            <a:custGeom>
              <a:avLst/>
              <a:gdLst/>
              <a:ahLst/>
              <a:cxnLst/>
              <a:rect l="0" t="0" r="r" b="b"/>
              <a:pathLst>
                <a:path w="312908" h="233355">
                  <a:moveTo>
                    <a:pt x="0" y="233355"/>
                  </a:moveTo>
                  <a:lnTo>
                    <a:pt x="0" y="68946"/>
                  </a:lnTo>
                  <a:cubicBezTo>
                    <a:pt x="5304" y="21214"/>
                    <a:pt x="58339" y="5304"/>
                    <a:pt x="100767" y="0"/>
                  </a:cubicBezTo>
                  <a:lnTo>
                    <a:pt x="206837" y="0"/>
                  </a:lnTo>
                  <a:cubicBezTo>
                    <a:pt x="265176" y="10607"/>
                    <a:pt x="307604" y="21214"/>
                    <a:pt x="312908" y="68946"/>
                  </a:cubicBezTo>
                  <a:lnTo>
                    <a:pt x="312908" y="233355"/>
                  </a:lnTo>
                  <a:close/>
                </a:path>
              </a:pathLst>
            </a:custGeom>
            <a:solidFill>
              <a:srgbClr val="df8948">
                <a:alpha val="100000"/>
              </a:srgbClr>
            </a:solidFill>
            <a:ln w="1325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ath 314"/>
            <p:cNvSpPr/>
            <p:nvPr/>
          </p:nvSpPr>
          <p:spPr>
            <a:xfrm>
              <a:off x="16049915" y="2385121"/>
              <a:ext cx="121981" cy="90160"/>
            </a:xfrm>
            <a:custGeom>
              <a:avLst/>
              <a:gdLst/>
              <a:ahLst/>
              <a:cxnLst/>
              <a:rect l="0" t="0" r="r" b="b"/>
              <a:pathLst>
                <a:path w="121981" h="90160">
                  <a:moveTo>
                    <a:pt x="0" y="10607"/>
                  </a:moveTo>
                  <a:lnTo>
                    <a:pt x="5304" y="58339"/>
                  </a:lnTo>
                  <a:lnTo>
                    <a:pt x="63642" y="90160"/>
                  </a:lnTo>
                  <a:lnTo>
                    <a:pt x="121981" y="42428"/>
                  </a:lnTo>
                  <a:lnTo>
                    <a:pt x="111374" y="0"/>
                  </a:lnTo>
                </a:path>
              </a:pathLst>
            </a:custGeom>
            <a:solidFill>
              <a:srgbClr val="ffe1b7">
                <a:alpha val="100000"/>
              </a:srgbClr>
            </a:solidFill>
            <a:ln w="1060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ath 315"/>
            <p:cNvSpPr/>
            <p:nvPr/>
          </p:nvSpPr>
          <p:spPr>
            <a:xfrm>
              <a:off x="16044611" y="2427549"/>
              <a:ext cx="132588" cy="206837"/>
            </a:xfrm>
            <a:custGeom>
              <a:avLst/>
              <a:gdLst/>
              <a:ahLst/>
              <a:cxnLst/>
              <a:rect l="0" t="0" r="r" b="b"/>
              <a:pathLst>
                <a:path w="132588" h="206837">
                  <a:moveTo>
                    <a:pt x="0" y="0"/>
                  </a:moveTo>
                  <a:lnTo>
                    <a:pt x="68946" y="53035"/>
                  </a:lnTo>
                  <a:lnTo>
                    <a:pt x="132588" y="0"/>
                  </a:lnTo>
                  <a:lnTo>
                    <a:pt x="95463" y="206837"/>
                  </a:lnTo>
                  <a:lnTo>
                    <a:pt x="42428" y="206837"/>
                  </a:lnTo>
                  <a:close/>
                </a:path>
              </a:pathLst>
            </a:custGeom>
            <a:solidFill>
              <a:srgbClr val="f6f3f1">
                <a:alpha val="100000"/>
              </a:srgbClr>
            </a:solidFill>
            <a:ln w="1060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path 316"/>
            <p:cNvSpPr/>
            <p:nvPr/>
          </p:nvSpPr>
          <p:spPr>
            <a:xfrm>
              <a:off x="16012790" y="2480584"/>
              <a:ext cx="914" cy="148499"/>
            </a:xfrm>
            <a:custGeom>
              <a:avLst/>
              <a:gdLst/>
              <a:ahLst/>
              <a:cxnLst/>
              <a:rect l="0" t="0" r="r" b="b"/>
              <a:pathLst>
                <a:path w="914" h="148499" fill="none">
                  <a:moveTo>
                    <a:pt x="0" y="0"/>
                  </a:moveTo>
                  <a:lnTo>
                    <a:pt x="0" y="148499"/>
                  </a:lnTo>
                </a:path>
              </a:pathLst>
            </a:custGeom>
            <a:noFill/>
            <a:ln w="1060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ath 317"/>
            <p:cNvSpPr/>
            <p:nvPr/>
          </p:nvSpPr>
          <p:spPr>
            <a:xfrm>
              <a:off x="16219627" y="2480584"/>
              <a:ext cx="914" cy="148499"/>
            </a:xfrm>
            <a:custGeom>
              <a:avLst/>
              <a:gdLst/>
              <a:ahLst/>
              <a:cxnLst/>
              <a:rect l="0" t="0" r="r" b="b"/>
              <a:pathLst>
                <a:path w="914" h="148499" fill="none">
                  <a:moveTo>
                    <a:pt x="0" y="0"/>
                  </a:moveTo>
                  <a:lnTo>
                    <a:pt x="0" y="148499"/>
                  </a:lnTo>
                </a:path>
              </a:pathLst>
            </a:custGeom>
            <a:noFill/>
            <a:ln w="1060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ath 318"/>
            <p:cNvSpPr/>
            <p:nvPr/>
          </p:nvSpPr>
          <p:spPr>
            <a:xfrm>
              <a:off x="16034004" y="2178284"/>
              <a:ext cx="148499" cy="222748"/>
            </a:xfrm>
            <a:custGeom>
              <a:avLst/>
              <a:gdLst/>
              <a:ahLst/>
              <a:cxnLst/>
              <a:rect l="0" t="0" r="r" b="b"/>
              <a:pathLst>
                <a:path w="148499" h="222748">
                  <a:moveTo>
                    <a:pt x="0" y="79553"/>
                  </a:moveTo>
                  <a:cubicBezTo>
                    <a:pt x="42428" y="68946"/>
                    <a:pt x="84856" y="26518"/>
                    <a:pt x="84856" y="0"/>
                  </a:cubicBezTo>
                  <a:cubicBezTo>
                    <a:pt x="111374" y="47732"/>
                    <a:pt x="148499" y="68946"/>
                    <a:pt x="148499" y="90160"/>
                  </a:cubicBezTo>
                  <a:lnTo>
                    <a:pt x="143195" y="137892"/>
                  </a:lnTo>
                  <a:cubicBezTo>
                    <a:pt x="143195" y="212141"/>
                    <a:pt x="10607" y="222748"/>
                    <a:pt x="0" y="137892"/>
                  </a:cubicBezTo>
                  <a:close/>
                </a:path>
              </a:pathLst>
            </a:custGeom>
            <a:solidFill>
              <a:srgbClr val="ffe2b5">
                <a:alpha val="100000"/>
              </a:srgbClr>
            </a:solidFill>
            <a:ln w="1060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1" name="Semantic supervision / Semantic categories / Semantic cat"/>
          <p:cNvGrpSpPr/>
          <p:nvPr/>
        </p:nvGrpSpPr>
        <p:grpSpPr>
          <a:xfrm>
            <a:off x="16427013" y="2250887"/>
            <a:ext cx="323332" cy="418430"/>
            <a:chOff x="16427013" y="2250887"/>
            <a:chExt cx="323332" cy="418430"/>
          </a:xfrm>
        </p:grpSpPr>
        <p:sp>
          <p:nvSpPr>
            <p:cNvPr id="352" name="path 319"/>
            <p:cNvSpPr/>
            <p:nvPr/>
          </p:nvSpPr>
          <p:spPr>
            <a:xfrm>
              <a:off x="16469807" y="2250887"/>
              <a:ext cx="218724" cy="147401"/>
            </a:xfrm>
            <a:custGeom>
              <a:avLst/>
              <a:gdLst/>
              <a:ahLst/>
              <a:cxnLst/>
              <a:rect l="0" t="0" r="r" b="b"/>
              <a:pathLst>
                <a:path w="218724" h="147401">
                  <a:moveTo>
                    <a:pt x="0" y="147401"/>
                  </a:moveTo>
                  <a:lnTo>
                    <a:pt x="0" y="0"/>
                  </a:lnTo>
                  <a:lnTo>
                    <a:pt x="90343" y="95098"/>
                  </a:lnTo>
                  <a:lnTo>
                    <a:pt x="194950" y="0"/>
                  </a:lnTo>
                  <a:lnTo>
                    <a:pt x="218724" y="147401"/>
                  </a:lnTo>
                  <a:close/>
                </a:path>
              </a:pathLst>
            </a:custGeom>
            <a:solidFill>
              <a:srgbClr val="b6c5d3">
                <a:alpha val="100000"/>
              </a:srgbClr>
            </a:solidFill>
            <a:ln w="1188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ath 320"/>
            <p:cNvSpPr/>
            <p:nvPr/>
          </p:nvSpPr>
          <p:spPr>
            <a:xfrm>
              <a:off x="16465052" y="2502896"/>
              <a:ext cx="223479" cy="166421"/>
            </a:xfrm>
            <a:custGeom>
              <a:avLst/>
              <a:gdLst/>
              <a:ahLst/>
              <a:cxnLst/>
              <a:rect l="0" t="0" r="r" b="b"/>
              <a:pathLst>
                <a:path w="223479" h="166421">
                  <a:moveTo>
                    <a:pt x="38039" y="14265"/>
                  </a:moveTo>
                  <a:lnTo>
                    <a:pt x="0" y="166421"/>
                  </a:lnTo>
                  <a:lnTo>
                    <a:pt x="223479" y="166421"/>
                  </a:lnTo>
                  <a:lnTo>
                    <a:pt x="185440" y="0"/>
                  </a:lnTo>
                  <a:close/>
                </a:path>
              </a:pathLst>
            </a:custGeom>
            <a:solidFill>
              <a:srgbClr val="c6d5dd">
                <a:alpha val="100000"/>
              </a:srgbClr>
            </a:solidFill>
            <a:ln w="1188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path 321"/>
            <p:cNvSpPr/>
            <p:nvPr/>
          </p:nvSpPr>
          <p:spPr>
            <a:xfrm>
              <a:off x="16427013" y="2288926"/>
              <a:ext cx="323332" cy="280538"/>
            </a:xfrm>
            <a:custGeom>
              <a:avLst/>
              <a:gdLst/>
              <a:ahLst/>
              <a:cxnLst/>
              <a:rect l="0" t="0" r="r" b="b"/>
              <a:pathLst>
                <a:path w="323332" h="280538">
                  <a:moveTo>
                    <a:pt x="28529" y="128382"/>
                  </a:moveTo>
                  <a:cubicBezTo>
                    <a:pt x="28529" y="0"/>
                    <a:pt x="252009" y="9510"/>
                    <a:pt x="275783" y="128382"/>
                  </a:cubicBezTo>
                  <a:cubicBezTo>
                    <a:pt x="323332" y="252009"/>
                    <a:pt x="0" y="280538"/>
                    <a:pt x="28529" y="128382"/>
                  </a:cubicBezTo>
                  <a:close/>
                </a:path>
              </a:pathLst>
            </a:custGeom>
            <a:solidFill>
              <a:srgbClr val="c9d8e2">
                <a:alpha val="100000"/>
              </a:srgbClr>
            </a:solidFill>
            <a:ln w="11887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ath 322"/>
            <p:cNvSpPr/>
            <p:nvPr/>
          </p:nvSpPr>
          <p:spPr>
            <a:xfrm>
              <a:off x="16536375" y="2407798"/>
              <a:ext cx="914" cy="19020"/>
            </a:xfrm>
            <a:custGeom>
              <a:avLst/>
              <a:gdLst/>
              <a:ahLst/>
              <a:cxnLst/>
              <a:rect l="0" t="0" r="r" b="b"/>
              <a:pathLst>
                <a:path w="914" h="19020" fill="none">
                  <a:moveTo>
                    <a:pt x="0" y="0"/>
                  </a:moveTo>
                  <a:lnTo>
                    <a:pt x="0" y="19020"/>
                  </a:lnTo>
                </a:path>
              </a:pathLst>
            </a:custGeom>
            <a:noFill/>
            <a:ln w="10461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path 323"/>
            <p:cNvSpPr/>
            <p:nvPr/>
          </p:nvSpPr>
          <p:spPr>
            <a:xfrm>
              <a:off x="16640983" y="2407798"/>
              <a:ext cx="914" cy="19020"/>
            </a:xfrm>
            <a:custGeom>
              <a:avLst/>
              <a:gdLst/>
              <a:ahLst/>
              <a:cxnLst/>
              <a:rect l="0" t="0" r="r" b="b"/>
              <a:pathLst>
                <a:path w="914" h="19020" fill="none">
                  <a:moveTo>
                    <a:pt x="0" y="0"/>
                  </a:moveTo>
                  <a:lnTo>
                    <a:pt x="0" y="19020"/>
                  </a:lnTo>
                </a:path>
              </a:pathLst>
            </a:custGeom>
            <a:noFill/>
            <a:ln w="10461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path 324"/>
            <p:cNvSpPr/>
            <p:nvPr/>
          </p:nvSpPr>
          <p:spPr>
            <a:xfrm>
              <a:off x="16564905" y="2417308"/>
              <a:ext cx="42794" cy="47549"/>
            </a:xfrm>
            <a:custGeom>
              <a:avLst/>
              <a:gdLst/>
              <a:ahLst/>
              <a:cxnLst/>
              <a:rect l="0" t="0" r="r" b="b"/>
              <a:pathLst>
                <a:path w="42794" h="47549">
                  <a:moveTo>
                    <a:pt x="0" y="23774"/>
                  </a:moveTo>
                  <a:quadBezTo>
                    <a:pt x="23774" y="0"/>
                    <a:pt x="42794" y="23774"/>
                  </a:quadBezTo>
                  <a:lnTo>
                    <a:pt x="23774" y="47549"/>
                  </a:lnTo>
                  <a:close/>
                </a:path>
              </a:pathLst>
            </a:custGeom>
            <a:solidFill>
              <a:srgbClr val="7c8b96">
                <a:alpha val="100000"/>
              </a:srgbClr>
            </a:solidFill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path 325"/>
            <p:cNvSpPr/>
            <p:nvPr/>
          </p:nvSpPr>
          <p:spPr>
            <a:xfrm>
              <a:off x="16588679" y="2464857"/>
              <a:ext cx="914" cy="23774"/>
            </a:xfrm>
            <a:custGeom>
              <a:avLst/>
              <a:gdLst/>
              <a:ahLst/>
              <a:cxnLst/>
              <a:rect l="0" t="0" r="r" b="b"/>
              <a:pathLst>
                <a:path w="914" h="23774" fill="none">
                  <a:moveTo>
                    <a:pt x="0" y="0"/>
                  </a:moveTo>
                  <a:lnTo>
                    <a:pt x="0" y="23774"/>
                  </a:lnTo>
                </a:path>
              </a:pathLst>
            </a:custGeom>
            <a:noFill/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ath 326"/>
            <p:cNvSpPr/>
            <p:nvPr/>
          </p:nvSpPr>
          <p:spPr>
            <a:xfrm>
              <a:off x="16431768" y="2445837"/>
              <a:ext cx="38039" cy="914"/>
            </a:xfrm>
            <a:custGeom>
              <a:avLst/>
              <a:gdLst/>
              <a:ahLst/>
              <a:cxnLst/>
              <a:rect l="0" t="0" r="r" b="b"/>
              <a:pathLst>
                <a:path w="38039" h="914" fill="none">
                  <a:moveTo>
                    <a:pt x="0" y="0"/>
                  </a:moveTo>
                  <a:lnTo>
                    <a:pt x="38039" y="0"/>
                  </a:lnTo>
                </a:path>
              </a:pathLst>
            </a:custGeom>
            <a:noFill/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path 327"/>
            <p:cNvSpPr/>
            <p:nvPr/>
          </p:nvSpPr>
          <p:spPr>
            <a:xfrm>
              <a:off x="16688532" y="2445837"/>
              <a:ext cx="42794" cy="914"/>
            </a:xfrm>
            <a:custGeom>
              <a:avLst/>
              <a:gdLst/>
              <a:ahLst/>
              <a:cxnLst/>
              <a:rect l="0" t="0" r="r" b="b"/>
              <a:pathLst>
                <a:path w="42794" h="914" fill="none">
                  <a:moveTo>
                    <a:pt x="0" y="0"/>
                  </a:moveTo>
                  <a:lnTo>
                    <a:pt x="42794" y="0"/>
                  </a:lnTo>
                </a:path>
              </a:pathLst>
            </a:custGeom>
            <a:noFill/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1" name="path 328"/>
            <p:cNvSpPr/>
            <p:nvPr/>
          </p:nvSpPr>
          <p:spPr>
            <a:xfrm>
              <a:off x="16431768" y="2474366"/>
              <a:ext cx="38039" cy="914"/>
            </a:xfrm>
            <a:custGeom>
              <a:avLst/>
              <a:gdLst/>
              <a:ahLst/>
              <a:cxnLst/>
              <a:rect l="0" t="0" r="r" b="b"/>
              <a:pathLst>
                <a:path w="38039" h="914" fill="none">
                  <a:moveTo>
                    <a:pt x="0" y="0"/>
                  </a:moveTo>
                  <a:lnTo>
                    <a:pt x="38039" y="0"/>
                  </a:lnTo>
                </a:path>
              </a:pathLst>
            </a:custGeom>
            <a:noFill/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path 329"/>
            <p:cNvSpPr/>
            <p:nvPr/>
          </p:nvSpPr>
          <p:spPr>
            <a:xfrm>
              <a:off x="16688532" y="2474366"/>
              <a:ext cx="42794" cy="914"/>
            </a:xfrm>
            <a:custGeom>
              <a:avLst/>
              <a:gdLst/>
              <a:ahLst/>
              <a:cxnLst/>
              <a:rect l="0" t="0" r="r" b="b"/>
              <a:pathLst>
                <a:path w="42794" h="914" fill="none">
                  <a:moveTo>
                    <a:pt x="0" y="0"/>
                  </a:moveTo>
                  <a:lnTo>
                    <a:pt x="42794" y="0"/>
                  </a:lnTo>
                </a:path>
              </a:pathLst>
            </a:custGeom>
            <a:noFill/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path 330"/>
            <p:cNvSpPr/>
            <p:nvPr/>
          </p:nvSpPr>
          <p:spPr>
            <a:xfrm>
              <a:off x="16488827" y="2536180"/>
              <a:ext cx="185440" cy="33284"/>
            </a:xfrm>
            <a:custGeom>
              <a:avLst/>
              <a:gdLst/>
              <a:ahLst/>
              <a:cxnLst/>
              <a:rect l="0" t="0" r="r" b="b"/>
              <a:pathLst>
                <a:path w="185440" h="33284">
                  <a:moveTo>
                    <a:pt x="4755" y="0"/>
                  </a:moveTo>
                  <a:lnTo>
                    <a:pt x="185440" y="0"/>
                  </a:lnTo>
                  <a:lnTo>
                    <a:pt x="185440" y="33284"/>
                  </a:lnTo>
                  <a:lnTo>
                    <a:pt x="0" y="33284"/>
                  </a:lnTo>
                  <a:close/>
                </a:path>
              </a:pathLst>
            </a:custGeom>
            <a:solidFill>
              <a:srgbClr val="e35766">
                <a:alpha val="100000"/>
              </a:srgbClr>
            </a:solidFill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path 331"/>
            <p:cNvSpPr/>
            <p:nvPr/>
          </p:nvSpPr>
          <p:spPr>
            <a:xfrm>
              <a:off x="16560150" y="2564709"/>
              <a:ext cx="47549" cy="47549"/>
            </a:xfrm>
            <a:custGeom>
              <a:avLst/>
              <a:gdLst/>
              <a:ahLst/>
              <a:cxnLst/>
              <a:rect l="0" t="0" r="r" b="b"/>
              <a:pathLst>
                <a:path w="47549" h="47549">
                  <a:moveTo>
                    <a:pt x="47549" y="23774"/>
                  </a:moveTo>
                  <a:cubicBezTo>
                    <a:pt x="47549" y="36905"/>
                    <a:pt x="36905" y="47549"/>
                    <a:pt x="23774" y="47549"/>
                  </a:cubicBezTo>
                  <a:cubicBezTo>
                    <a:pt x="10644" y="47549"/>
                    <a:pt x="0" y="36905"/>
                    <a:pt x="0" y="23774"/>
                  </a:cubicBezTo>
                  <a:cubicBezTo>
                    <a:pt x="0" y="10644"/>
                    <a:pt x="10644" y="0"/>
                    <a:pt x="23774" y="0"/>
                  </a:cubicBezTo>
                  <a:cubicBezTo>
                    <a:pt x="36905" y="0"/>
                    <a:pt x="47549" y="10644"/>
                    <a:pt x="47549" y="23774"/>
                  </a:cubicBezTo>
                  <a:close/>
                </a:path>
              </a:pathLst>
            </a:custGeom>
            <a:solidFill>
              <a:srgbClr val="f9d570">
                <a:alpha val="100000"/>
              </a:srgbClr>
            </a:solidFill>
            <a:ln w="951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Semantic supervision"/>
          <p:cNvGrpSpPr/>
          <p:nvPr/>
        </p:nvGrpSpPr>
        <p:grpSpPr>
          <a:xfrm>
            <a:off x="14566392" y="883771"/>
            <a:ext cx="2039155" cy="2787637"/>
            <a:chOff x="14566392" y="883771"/>
            <a:chExt cx="2039155" cy="2787637"/>
          </a:xfrm>
        </p:grpSpPr>
        <p:sp>
          <p:nvSpPr>
            <p:cNvPr id="366" name="Semantic"/>
            <p:cNvSpPr txBox="1"/>
            <p:nvPr/>
          </p:nvSpPr>
          <p:spPr>
            <a:xfrm>
              <a:off x="15233904" y="2673340"/>
              <a:ext cx="1371643" cy="408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92" b="1" i="1" dirty="0">
                  <a:solidFill>
                    <a:srgbClr val="0B0B0B"/>
                  </a:solidFill>
                  <a:latin typeface="Liberation Serif"/>
                </a:rPr>
                <a:t>Semantic</a:t>
              </a:r>
            </a:p>
          </p:txBody>
        </p:sp>
        <p:sp>
          <p:nvSpPr>
            <p:cNvPr id="367" name="path 333"/>
            <p:cNvSpPr/>
            <p:nvPr/>
          </p:nvSpPr>
          <p:spPr>
            <a:xfrm>
              <a:off x="14584680" y="1490472"/>
              <a:ext cx="694944" cy="630936"/>
            </a:xfrm>
            <a:custGeom>
              <a:avLst/>
              <a:gdLst/>
              <a:ahLst/>
              <a:cxnLst/>
              <a:rect l="0" t="0" r="r" b="b"/>
              <a:pathLst>
                <a:path w="694944" h="630936">
                  <a:moveTo>
                    <a:pt x="0" y="0"/>
                  </a:moveTo>
                  <a:lnTo>
                    <a:pt x="218378" y="31534"/>
                  </a:lnTo>
                  <a:lnTo>
                    <a:pt x="169206" y="85694"/>
                  </a:lnTo>
                  <a:lnTo>
                    <a:pt x="593349" y="470771"/>
                  </a:lnTo>
                  <a:lnTo>
                    <a:pt x="642521" y="416611"/>
                  </a:lnTo>
                  <a:lnTo>
                    <a:pt x="694944" y="630936"/>
                  </a:lnTo>
                  <a:lnTo>
                    <a:pt x="476566" y="599402"/>
                  </a:lnTo>
                  <a:lnTo>
                    <a:pt x="525738" y="545242"/>
                  </a:lnTo>
                  <a:lnTo>
                    <a:pt x="101595" y="160165"/>
                  </a:lnTo>
                  <a:lnTo>
                    <a:pt x="52423" y="214325"/>
                  </a:lnTo>
                  <a:close/>
                </a:path>
              </a:pathLst>
            </a:custGeom>
            <a:gradFill rotWithShape="1">
              <a:gsLst>
                <a:gs pos="0">
                  <a:srgbClr val="fff5d4"/>
                </a:gs>
                <a:gs pos="100000">
                  <a:srgbClr val="ffdfa0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path 334"/>
            <p:cNvSpPr/>
            <p:nvPr/>
          </p:nvSpPr>
          <p:spPr>
            <a:xfrm>
              <a:off x="14566392" y="2734056"/>
              <a:ext cx="713232" cy="621792"/>
            </a:xfrm>
            <a:custGeom>
              <a:avLst/>
              <a:gdLst/>
              <a:ahLst/>
              <a:cxnLst/>
              <a:rect l="0" t="0" r="r" b="b"/>
              <a:pathLst>
                <a:path w="713232" h="621792">
                  <a:moveTo>
                    <a:pt x="0" y="621792"/>
                  </a:moveTo>
                  <a:lnTo>
                    <a:pt x="56731" y="408566"/>
                  </a:lnTo>
                  <a:lnTo>
                    <a:pt x="104801" y="463706"/>
                  </a:lnTo>
                  <a:lnTo>
                    <a:pt x="542333" y="82268"/>
                  </a:lnTo>
                  <a:lnTo>
                    <a:pt x="494263" y="27128"/>
                  </a:lnTo>
                  <a:lnTo>
                    <a:pt x="713232" y="0"/>
                  </a:lnTo>
                  <a:lnTo>
                    <a:pt x="656501" y="213226"/>
                  </a:lnTo>
                  <a:lnTo>
                    <a:pt x="608431" y="158086"/>
                  </a:lnTo>
                  <a:lnTo>
                    <a:pt x="170899" y="539524"/>
                  </a:lnTo>
                  <a:lnTo>
                    <a:pt x="218969" y="594664"/>
                  </a:lnTo>
                  <a:close/>
                </a:path>
              </a:pathLst>
            </a:custGeom>
            <a:gradFill rotWithShape="1">
              <a:gsLst>
                <a:gs pos="0">
                  <a:srgbClr val="fff5d4"/>
                </a:gs>
                <a:gs pos="100000">
                  <a:srgbClr val="ffdfa0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path 335"/>
            <p:cNvSpPr/>
            <p:nvPr/>
          </p:nvSpPr>
          <p:spPr>
            <a:xfrm>
              <a:off x="14730984" y="1719072"/>
              <a:ext cx="420624" cy="173736"/>
            </a:xfrm>
            <a:custGeom>
              <a:avLst/>
              <a:gdLst/>
              <a:ahLst/>
              <a:cxnLst/>
              <a:rect l="0" t="0" r="r" b="b"/>
              <a:pathLst>
                <a:path w="420624" h="173736" fill="none">
                  <a:moveTo>
                    <a:pt x="0" y="173736"/>
                  </a:moveTo>
                  <a:lnTo>
                    <a:pt x="420624" y="0"/>
                  </a:lnTo>
                </a:path>
              </a:pathLst>
            </a:custGeom>
            <a:noFill/>
            <a:ln w="365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0" name="ℒ"/>
            <p:cNvSpPr txBox="1"/>
            <p:nvPr/>
          </p:nvSpPr>
          <p:spPr>
            <a:xfrm>
              <a:off x="14840712" y="909279"/>
              <a:ext cx="419524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EFB600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371" name="inv"/>
            <p:cNvSpPr txBox="1"/>
            <p:nvPr/>
          </p:nvSpPr>
          <p:spPr>
            <a:xfrm>
              <a:off x="15122347" y="1105177"/>
              <a:ext cx="449342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0" i="1" dirty="0">
                  <a:solidFill>
                    <a:srgbClr val="EFB600"/>
                  </a:solidFill>
                  <a:latin typeface="Liberation Serif"/>
                </a:rPr>
                <a:t>inv</a:t>
              </a:r>
            </a:p>
          </p:txBody>
        </p:sp>
        <p:sp>
          <p:nvSpPr>
            <p:cNvPr id="372" name="F"/>
            <p:cNvSpPr txBox="1"/>
            <p:nvPr/>
          </p:nvSpPr>
          <p:spPr>
            <a:xfrm>
              <a:off x="15131491" y="883771"/>
              <a:ext cx="286593" cy="32927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90" b="1" i="1" dirty="0">
                  <a:solidFill>
                    <a:srgbClr val="EFB600"/>
                  </a:solidFill>
                  <a:latin typeface="Liberation Serif"/>
                </a:rPr>
                <a:t>F</a:t>
              </a:r>
            </a:p>
          </p:txBody>
        </p:sp>
        <p:sp>
          <p:nvSpPr>
            <p:cNvPr id="373" name="ℒ"/>
            <p:cNvSpPr txBox="1"/>
            <p:nvPr/>
          </p:nvSpPr>
          <p:spPr>
            <a:xfrm>
              <a:off x="14840712" y="3131271"/>
              <a:ext cx="419524" cy="49889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168" b="0" i="0" dirty="0">
                  <a:solidFill>
                    <a:srgbClr val="EFB600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374" name="spe"/>
            <p:cNvSpPr txBox="1"/>
            <p:nvPr/>
          </p:nvSpPr>
          <p:spPr>
            <a:xfrm>
              <a:off x="15122347" y="3327169"/>
              <a:ext cx="480289" cy="344239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85" b="0" i="1" dirty="0">
                  <a:solidFill>
                    <a:srgbClr val="EFB600"/>
                  </a:solidFill>
                  <a:latin typeface="Liberation Serif"/>
                </a:rPr>
                <a:t>spe</a:t>
              </a:r>
            </a:p>
          </p:txBody>
        </p:sp>
        <p:sp>
          <p:nvSpPr>
            <p:cNvPr id="375" name="F"/>
            <p:cNvSpPr txBox="1"/>
            <p:nvPr/>
          </p:nvSpPr>
          <p:spPr>
            <a:xfrm>
              <a:off x="15131491" y="3105763"/>
              <a:ext cx="286593" cy="32927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90" b="1" i="1" dirty="0">
                  <a:solidFill>
                    <a:srgbClr val="EFB600"/>
                  </a:solidFill>
                  <a:latin typeface="Liberation Serif"/>
                </a:rPr>
                <a:t>F</a:t>
              </a:r>
            </a:p>
          </p:txBody>
        </p:sp>
      </p:grpSp>
      <p:grpSp>
        <p:nvGrpSpPr>
          <p:cNvPr id="376" name="Multimodal supervision"/>
          <p:cNvGrpSpPr/>
          <p:nvPr/>
        </p:nvGrpSpPr>
        <p:grpSpPr>
          <a:xfrm>
            <a:off x="10488625" y="6056163"/>
            <a:ext cx="2687879" cy="1311615"/>
            <a:chOff x="10488625" y="6056163"/>
            <a:chExt cx="2687879" cy="1311615"/>
          </a:xfrm>
        </p:grpSpPr>
        <p:sp>
          <p:nvSpPr>
            <p:cNvPr id="377" name="Visual stimuli"/>
            <p:cNvSpPr txBox="1"/>
            <p:nvPr/>
          </p:nvSpPr>
          <p:spPr>
            <a:xfrm>
              <a:off x="10488625" y="6056163"/>
              <a:ext cx="1691183" cy="3514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 dirty="0">
                  <a:solidFill>
                    <a:srgbClr val="0B0B0B"/>
                  </a:solidFill>
                  <a:latin typeface="Liberation Serif"/>
                </a:rPr>
                <a:t>Visual stimuli</a:t>
              </a:r>
            </a:p>
          </p:txBody>
        </p:sp>
        <p:sp>
          <p:nvSpPr>
            <p:cNvPr id="378" name="Image labels"/>
            <p:cNvSpPr txBox="1"/>
            <p:nvPr/>
          </p:nvSpPr>
          <p:spPr>
            <a:xfrm>
              <a:off x="10876674" y="6568227"/>
              <a:ext cx="1550022" cy="3514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 dirty="0">
                  <a:solidFill>
                    <a:srgbClr val="0B0B0B"/>
                  </a:solidFill>
                  <a:latin typeface="Liberation Serif"/>
                </a:rPr>
                <a:t>Image labels</a:t>
              </a:r>
            </a:p>
          </p:txBody>
        </p:sp>
        <p:sp>
          <p:nvSpPr>
            <p:cNvPr id="379" name="Image captions"/>
            <p:cNvSpPr txBox="1"/>
            <p:nvPr/>
          </p:nvSpPr>
          <p:spPr>
            <a:xfrm>
              <a:off x="11086986" y="7016283"/>
              <a:ext cx="1833486" cy="35149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 dirty="0">
                  <a:solidFill>
                    <a:srgbClr val="0B0B0B"/>
                  </a:solidFill>
                  <a:latin typeface="Liberation Serif"/>
                </a:rPr>
                <a:t>Image captions</a:t>
              </a:r>
            </a:p>
          </p:txBody>
        </p:sp>
        <p:sp>
          <p:nvSpPr>
            <p:cNvPr id="380" name="path 345"/>
            <p:cNvSpPr/>
            <p:nvPr/>
          </p:nvSpPr>
          <p:spPr>
            <a:xfrm>
              <a:off x="12463272" y="6230490"/>
              <a:ext cx="386400" cy="14862"/>
            </a:xfrm>
            <a:custGeom>
              <a:avLst/>
              <a:gdLst/>
              <a:ahLst/>
              <a:cxnLst/>
              <a:rect l="0" t="0" r="r" b="b"/>
              <a:pathLst>
                <a:path w="386400" h="14862" fill="none">
                  <a:moveTo>
                    <a:pt x="0" y="14862"/>
                  </a:moveTo>
                  <a:lnTo>
                    <a:pt x="386400" y="0"/>
                  </a:ln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path 346"/>
            <p:cNvSpPr/>
            <p:nvPr/>
          </p:nvSpPr>
          <p:spPr>
            <a:xfrm>
              <a:off x="12798960" y="6161065"/>
              <a:ext cx="139800" cy="142541"/>
            </a:xfrm>
            <a:custGeom>
              <a:avLst/>
              <a:gdLst/>
              <a:ahLst/>
              <a:cxnLst/>
              <a:rect l="0" t="0" r="r" b="b"/>
              <a:pathLst>
                <a:path w="139800" h="142541">
                  <a:moveTo>
                    <a:pt x="139800" y="65999"/>
                  </a:moveTo>
                  <a:lnTo>
                    <a:pt x="5482" y="1425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path 347"/>
            <p:cNvSpPr/>
            <p:nvPr/>
          </p:nvSpPr>
          <p:spPr>
            <a:xfrm>
              <a:off x="12561570" y="6309360"/>
              <a:ext cx="349758" cy="914"/>
            </a:xfrm>
            <a:custGeom>
              <a:avLst/>
              <a:gdLst/>
              <a:ahLst/>
              <a:cxnLst/>
              <a:rect l="0" t="0" r="r" b="b"/>
              <a:pathLst>
                <a:path w="349758" h="914" fill="none">
                  <a:moveTo>
                    <a:pt x="349758" y="0"/>
                  </a:moveTo>
                  <a:lnTo>
                    <a:pt x="0" y="0"/>
                  </a:ln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path 348"/>
            <p:cNvSpPr/>
            <p:nvPr/>
          </p:nvSpPr>
          <p:spPr>
            <a:xfrm>
              <a:off x="12472416" y="6238037"/>
              <a:ext cx="137160" cy="142646"/>
            </a:xfrm>
            <a:custGeom>
              <a:avLst/>
              <a:gdLst/>
              <a:ahLst/>
              <a:cxnLst/>
              <a:rect l="0" t="0" r="r" b="b"/>
              <a:pathLst>
                <a:path w="137160" h="142646">
                  <a:moveTo>
                    <a:pt x="0" y="71323"/>
                  </a:moveTo>
                  <a:lnTo>
                    <a:pt x="137160" y="0"/>
                  </a:lnTo>
                  <a:lnTo>
                    <a:pt x="137160" y="142646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path 349"/>
            <p:cNvSpPr/>
            <p:nvPr/>
          </p:nvSpPr>
          <p:spPr>
            <a:xfrm>
              <a:off x="12710160" y="6408977"/>
              <a:ext cx="211279" cy="211279"/>
            </a:xfrm>
            <a:custGeom>
              <a:avLst/>
              <a:gdLst/>
              <a:ahLst/>
              <a:cxnLst/>
              <a:rect l="0" t="0" r="r" b="b"/>
              <a:pathLst>
                <a:path w="211279" h="211279" fill="none">
                  <a:moveTo>
                    <a:pt x="0" y="211279"/>
                  </a:moveTo>
                  <a:lnTo>
                    <a:pt x="211279" y="0"/>
                  </a:ln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path 350"/>
            <p:cNvSpPr/>
            <p:nvPr/>
          </p:nvSpPr>
          <p:spPr>
            <a:xfrm>
              <a:off x="12837060" y="6345936"/>
              <a:ext cx="147420" cy="147420"/>
            </a:xfrm>
            <a:custGeom>
              <a:avLst/>
              <a:gdLst/>
              <a:ahLst/>
              <a:cxnLst/>
              <a:rect l="0" t="0" r="r" b="b"/>
              <a:pathLst>
                <a:path w="147420" h="147420">
                  <a:moveTo>
                    <a:pt x="147420" y="0"/>
                  </a:moveTo>
                  <a:lnTo>
                    <a:pt x="100866" y="147420"/>
                  </a:lnTo>
                  <a:lnTo>
                    <a:pt x="0" y="46554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path 351"/>
            <p:cNvSpPr/>
            <p:nvPr/>
          </p:nvSpPr>
          <p:spPr>
            <a:xfrm>
              <a:off x="12698530" y="6428232"/>
              <a:ext cx="285950" cy="219962"/>
            </a:xfrm>
            <a:custGeom>
              <a:avLst/>
              <a:gdLst/>
              <a:ahLst/>
              <a:cxnLst/>
              <a:rect l="0" t="0" r="r" b="b"/>
              <a:pathLst>
                <a:path w="285950" h="219962" fill="none">
                  <a:moveTo>
                    <a:pt x="285950" y="0"/>
                  </a:moveTo>
                  <a:lnTo>
                    <a:pt x="0" y="219962"/>
                  </a:ln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path 352"/>
            <p:cNvSpPr/>
            <p:nvPr/>
          </p:nvSpPr>
          <p:spPr>
            <a:xfrm>
              <a:off x="12627864" y="6562392"/>
              <a:ext cx="152203" cy="140160"/>
            </a:xfrm>
            <a:custGeom>
              <a:avLst/>
              <a:gdLst/>
              <a:ahLst/>
              <a:cxnLst/>
              <a:rect l="0" t="0" r="r" b="b"/>
              <a:pathLst>
                <a:path w="152203" h="140160">
                  <a:moveTo>
                    <a:pt x="0" y="140160"/>
                  </a:moveTo>
                  <a:lnTo>
                    <a:pt x="65230" y="0"/>
                  </a:lnTo>
                  <a:lnTo>
                    <a:pt x="152203" y="113065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path 353"/>
            <p:cNvSpPr/>
            <p:nvPr/>
          </p:nvSpPr>
          <p:spPr>
            <a:xfrm>
              <a:off x="13032057" y="6400800"/>
              <a:ext cx="7287" cy="349777"/>
            </a:xfrm>
            <a:custGeom>
              <a:avLst/>
              <a:gdLst/>
              <a:ahLst/>
              <a:cxnLst/>
              <a:rect l="0" t="0" r="r" b="b"/>
              <a:pathLst>
                <a:path w="7287" h="349777" fill="none">
                  <a:moveTo>
                    <a:pt x="7287" y="0"/>
                  </a:moveTo>
                  <a:lnTo>
                    <a:pt x="0" y="349777"/>
                  </a:ln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path 354"/>
            <p:cNvSpPr/>
            <p:nvPr/>
          </p:nvSpPr>
          <p:spPr>
            <a:xfrm>
              <a:off x="12961749" y="6701096"/>
              <a:ext cx="142615" cy="138616"/>
            </a:xfrm>
            <a:custGeom>
              <a:avLst/>
              <a:gdLst/>
              <a:ahLst/>
              <a:cxnLst/>
              <a:rect l="0" t="0" r="r" b="b"/>
              <a:pathLst>
                <a:path w="142615" h="138616">
                  <a:moveTo>
                    <a:pt x="68451" y="138616"/>
                  </a:moveTo>
                  <a:lnTo>
                    <a:pt x="0" y="0"/>
                  </a:lnTo>
                  <a:lnTo>
                    <a:pt x="142615" y="2971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path 355"/>
            <p:cNvSpPr/>
            <p:nvPr/>
          </p:nvSpPr>
          <p:spPr>
            <a:xfrm>
              <a:off x="13039344" y="6462522"/>
              <a:ext cx="914" cy="313182"/>
            </a:xfrm>
            <a:custGeom>
              <a:avLst/>
              <a:gdLst/>
              <a:ahLst/>
              <a:cxnLst/>
              <a:rect l="0" t="0" r="r" b="b"/>
              <a:pathLst>
                <a:path w="914" h="313182" fill="none">
                  <a:moveTo>
                    <a:pt x="0" y="313182"/>
                  </a:moveTo>
                  <a:lnTo>
                    <a:pt x="0" y="0"/>
                  </a:lnTo>
                </a:path>
              </a:pathLst>
            </a:custGeom>
            <a:noFill/>
            <a:ln w="45720" cap="rnd" cmpd="sng">
              <a:solidFill>
                <a:srgbClr val="c3c1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path 356"/>
            <p:cNvSpPr/>
            <p:nvPr/>
          </p:nvSpPr>
          <p:spPr>
            <a:xfrm>
              <a:off x="12968021" y="6373368"/>
              <a:ext cx="142646" cy="137160"/>
            </a:xfrm>
            <a:custGeom>
              <a:avLst/>
              <a:gdLst/>
              <a:ahLst/>
              <a:cxnLst/>
              <a:rect l="0" t="0" r="r" b="b"/>
              <a:pathLst>
                <a:path w="142646" h="137160">
                  <a:moveTo>
                    <a:pt x="71323" y="0"/>
                  </a:moveTo>
                  <a:lnTo>
                    <a:pt x="142646" y="137160"/>
                  </a:lnTo>
                  <a:lnTo>
                    <a:pt x="0" y="137160"/>
                  </a:lnTo>
                  <a:close/>
                </a:path>
              </a:pathLst>
            </a:custGeom>
            <a:solidFill>
              <a:srgbClr val="c3c1c0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path 357"/>
            <p:cNvSpPr/>
            <p:nvPr/>
          </p:nvSpPr>
          <p:spPr>
            <a:xfrm>
              <a:off x="12188952" y="6135624"/>
              <a:ext cx="256032" cy="256032"/>
            </a:xfrm>
            <a:custGeom>
              <a:avLst/>
              <a:gdLst/>
              <a:ahLst/>
              <a:cxnLst/>
              <a:rect l="0" t="0" r="r" b="b"/>
              <a:pathLst>
                <a:path w="256032" h="256032">
                  <a:moveTo>
                    <a:pt x="256032" y="128016"/>
                  </a:moveTo>
                  <a:cubicBezTo>
                    <a:pt x="256032" y="198717"/>
                    <a:pt x="198717" y="256032"/>
                    <a:pt x="128016" y="256032"/>
                  </a:cubicBezTo>
                  <a:cubicBezTo>
                    <a:pt x="57315" y="256032"/>
                    <a:pt x="0" y="198717"/>
                    <a:pt x="0" y="128016"/>
                  </a:cubicBezTo>
                  <a:cubicBezTo>
                    <a:pt x="0" y="57315"/>
                    <a:pt x="57315" y="0"/>
                    <a:pt x="128016" y="0"/>
                  </a:cubicBezTo>
                  <a:cubicBezTo>
                    <a:pt x="198717" y="0"/>
                    <a:pt x="256032" y="57315"/>
                    <a:pt x="256032" y="128016"/>
                  </a:cubicBezTo>
                  <a:close/>
                </a:path>
              </a:pathLst>
            </a:custGeom>
            <a:solidFill>
              <a:srgbClr val="adce7f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path 358"/>
            <p:cNvSpPr/>
            <p:nvPr/>
          </p:nvSpPr>
          <p:spPr>
            <a:xfrm>
              <a:off x="12426696" y="6629400"/>
              <a:ext cx="256032" cy="256032"/>
            </a:xfrm>
            <a:custGeom>
              <a:avLst/>
              <a:gdLst/>
              <a:ahLst/>
              <a:cxnLst/>
              <a:rect l="0" t="0" r="r" b="b"/>
              <a:pathLst>
                <a:path w="256032" h="256032">
                  <a:moveTo>
                    <a:pt x="256032" y="128016"/>
                  </a:moveTo>
                  <a:cubicBezTo>
                    <a:pt x="256032" y="198717"/>
                    <a:pt x="198717" y="256032"/>
                    <a:pt x="128016" y="256032"/>
                  </a:cubicBezTo>
                  <a:cubicBezTo>
                    <a:pt x="57315" y="256032"/>
                    <a:pt x="0" y="198717"/>
                    <a:pt x="0" y="128016"/>
                  </a:cubicBezTo>
                  <a:cubicBezTo>
                    <a:pt x="0" y="57315"/>
                    <a:pt x="57315" y="0"/>
                    <a:pt x="128016" y="0"/>
                  </a:cubicBezTo>
                  <a:cubicBezTo>
                    <a:pt x="198717" y="0"/>
                    <a:pt x="256032" y="57315"/>
                    <a:pt x="256032" y="128016"/>
                  </a:cubicBezTo>
                  <a:close/>
                </a:path>
              </a:pathLst>
            </a:custGeom>
            <a:solidFill>
              <a:srgbClr val="a9cf83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path 359"/>
            <p:cNvSpPr/>
            <p:nvPr/>
          </p:nvSpPr>
          <p:spPr>
            <a:xfrm>
              <a:off x="12920472" y="6099048"/>
              <a:ext cx="256032" cy="256032"/>
            </a:xfrm>
            <a:custGeom>
              <a:avLst/>
              <a:gdLst/>
              <a:ahLst/>
              <a:cxnLst/>
              <a:rect l="0" t="0" r="r" b="b"/>
              <a:pathLst>
                <a:path w="256032" h="256032">
                  <a:moveTo>
                    <a:pt x="256032" y="128016"/>
                  </a:moveTo>
                  <a:cubicBezTo>
                    <a:pt x="256032" y="198717"/>
                    <a:pt x="198717" y="256032"/>
                    <a:pt x="128016" y="256032"/>
                  </a:cubicBezTo>
                  <a:cubicBezTo>
                    <a:pt x="57315" y="256032"/>
                    <a:pt x="0" y="198717"/>
                    <a:pt x="0" y="128016"/>
                  </a:cubicBezTo>
                  <a:cubicBezTo>
                    <a:pt x="0" y="57315"/>
                    <a:pt x="57315" y="0"/>
                    <a:pt x="128016" y="0"/>
                  </a:cubicBezTo>
                  <a:cubicBezTo>
                    <a:pt x="198717" y="0"/>
                    <a:pt x="256032" y="57315"/>
                    <a:pt x="256032" y="128016"/>
                  </a:cubicBezTo>
                  <a:close/>
                </a:path>
              </a:pathLst>
            </a:custGeom>
            <a:solidFill>
              <a:srgbClr val="ffdc60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5" name="path 360"/>
            <p:cNvSpPr/>
            <p:nvPr/>
          </p:nvSpPr>
          <p:spPr>
            <a:xfrm>
              <a:off x="12856464" y="6885432"/>
              <a:ext cx="256032" cy="256032"/>
            </a:xfrm>
            <a:custGeom>
              <a:avLst/>
              <a:gdLst/>
              <a:ahLst/>
              <a:cxnLst/>
              <a:rect l="0" t="0" r="r" b="b"/>
              <a:pathLst>
                <a:path w="256032" h="256032">
                  <a:moveTo>
                    <a:pt x="256032" y="128016"/>
                  </a:moveTo>
                  <a:cubicBezTo>
                    <a:pt x="256032" y="198717"/>
                    <a:pt x="198717" y="256032"/>
                    <a:pt x="128016" y="256032"/>
                  </a:cubicBezTo>
                  <a:cubicBezTo>
                    <a:pt x="57315" y="256032"/>
                    <a:pt x="0" y="198717"/>
                    <a:pt x="0" y="128016"/>
                  </a:cubicBezTo>
                  <a:cubicBezTo>
                    <a:pt x="0" y="57315"/>
                    <a:pt x="57315" y="0"/>
                    <a:pt x="128016" y="0"/>
                  </a:cubicBezTo>
                  <a:cubicBezTo>
                    <a:pt x="198717" y="0"/>
                    <a:pt x="256032" y="57315"/>
                    <a:pt x="256032" y="128016"/>
                  </a:cubicBezTo>
                  <a:close/>
                </a:path>
              </a:pathLst>
            </a:custGeom>
            <a:solidFill>
              <a:srgbClr val="fb802c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6" name="Training diffusion prior"/>
          <p:cNvGrpSpPr/>
          <p:nvPr/>
        </p:nvGrpSpPr>
        <p:grpSpPr>
          <a:xfrm>
            <a:off x="13734288" y="3840480"/>
            <a:ext cx="868680" cy="950976"/>
            <a:chOff x="13734288" y="3840480"/>
            <a:chExt cx="868680" cy="950976"/>
          </a:xfrm>
        </p:grpSpPr>
        <p:sp>
          <p:nvSpPr>
            <p:cNvPr id="397" name="path 361"/>
            <p:cNvSpPr/>
            <p:nvPr/>
          </p:nvSpPr>
          <p:spPr>
            <a:xfrm>
              <a:off x="13734288" y="3840480"/>
              <a:ext cx="868680" cy="950976"/>
            </a:xfrm>
            <a:custGeom>
              <a:avLst/>
              <a:gdLst/>
              <a:ahLst/>
              <a:cxnLst/>
              <a:rect l="0" t="0" r="r" b="b"/>
              <a:pathLst>
                <a:path w="868680" h="950976">
                  <a:moveTo>
                    <a:pt x="0" y="0"/>
                  </a:moveTo>
                  <a:lnTo>
                    <a:pt x="0" y="621792"/>
                  </a:lnTo>
                  <a:quadBezTo>
                    <a:pt x="0" y="804672"/>
                    <a:pt x="182880" y="804672"/>
                  </a:quadBezTo>
                  <a:lnTo>
                    <a:pt x="548640" y="804672"/>
                  </a:lnTo>
                  <a:lnTo>
                    <a:pt x="466344" y="950976"/>
                  </a:lnTo>
                  <a:lnTo>
                    <a:pt x="658368" y="950976"/>
                  </a:lnTo>
                  <a:lnTo>
                    <a:pt x="868680" y="731520"/>
                  </a:lnTo>
                  <a:lnTo>
                    <a:pt x="667512" y="484632"/>
                  </a:lnTo>
                  <a:lnTo>
                    <a:pt x="475488" y="484632"/>
                  </a:lnTo>
                  <a:lnTo>
                    <a:pt x="557784" y="630936"/>
                  </a:lnTo>
                  <a:lnTo>
                    <a:pt x="201168" y="630936"/>
                  </a:lnTo>
                  <a:quadBezTo>
                    <a:pt x="155448" y="630936"/>
                    <a:pt x="155448" y="539496"/>
                  </a:quadBezTo>
                  <a:lnTo>
                    <a:pt x="155448" y="0"/>
                  </a:lnTo>
                  <a:close/>
                </a:path>
              </a:pathLst>
            </a:custGeom>
            <a:solidFill>
              <a:srgbClr val="f7b692">
                <a:alpha val="100000"/>
              </a:srgbClr>
            </a:solidFill>
            <a:ln w="33833" cap="rnd" cmpd="sng">
              <a:solidFill>
                <a:srgbClr val="42413d"/>
              </a:solidFill>
              <a:round/>
            </a:ln>
            <a:effectLst>
              <a:outerShdw blurRad="73152" dist="77589" dir="2700000" algn="tl" rotWithShape="0">
                <a:srgbClr val="e9ab8a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8" name="Training diffusion prior / Diffusion prior"/>
          <p:cNvGrpSpPr/>
          <p:nvPr/>
        </p:nvGrpSpPr>
        <p:grpSpPr>
          <a:xfrm>
            <a:off x="14758416" y="4251960"/>
            <a:ext cx="1956816" cy="621792"/>
            <a:chOff x="14758416" y="4251960"/>
            <a:chExt cx="1956816" cy="621792"/>
          </a:xfrm>
        </p:grpSpPr>
        <p:sp>
          <p:nvSpPr>
            <p:cNvPr id="399" name="path 362"/>
            <p:cNvSpPr/>
            <p:nvPr/>
          </p:nvSpPr>
          <p:spPr>
            <a:xfrm>
              <a:off x="14758416" y="4251960"/>
              <a:ext cx="1956816" cy="621792"/>
            </a:xfrm>
            <a:custGeom>
              <a:avLst/>
              <a:gdLst/>
              <a:ahLst/>
              <a:cxnLst/>
              <a:rect l="0" t="0" r="r" b="b"/>
              <a:pathLst>
                <a:path w="1956816" h="621792">
                  <a:moveTo>
                    <a:pt x="109728" y="0"/>
                  </a:moveTo>
                  <a:lnTo>
                    <a:pt x="1847088" y="0"/>
                  </a:lnTo>
                  <a:cubicBezTo>
                    <a:pt x="1907689" y="0"/>
                    <a:pt x="1956816" y="49127"/>
                    <a:pt x="1956816" y="109728"/>
                  </a:cubicBezTo>
                  <a:lnTo>
                    <a:pt x="1956816" y="512064"/>
                  </a:lnTo>
                  <a:cubicBezTo>
                    <a:pt x="1956816" y="572665"/>
                    <a:pt x="1907689" y="621792"/>
                    <a:pt x="1847088" y="621792"/>
                  </a:cubicBezTo>
                  <a:lnTo>
                    <a:pt x="109728" y="621792"/>
                  </a:lnTo>
                  <a:cubicBezTo>
                    <a:pt x="49127" y="621792"/>
                    <a:pt x="0" y="572665"/>
                    <a:pt x="0" y="512064"/>
                  </a:cubicBezTo>
                  <a:lnTo>
                    <a:pt x="0" y="109728"/>
                  </a:lnTo>
                  <a:cubicBezTo>
                    <a:pt x="0" y="49127"/>
                    <a:pt x="49127" y="0"/>
                    <a:pt x="10972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de3"/>
                </a:gs>
                <a:gs pos="100000">
                  <a:srgbClr val="fce8dd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73152" dist="77589" dir="2700000" algn="tl" rotWithShape="0">
                <a:srgbClr val="e9ab8a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0" name="path 363"/>
            <p:cNvSpPr/>
            <p:nvPr/>
          </p:nvSpPr>
          <p:spPr>
            <a:xfrm>
              <a:off x="15252192" y="4471416"/>
              <a:ext cx="320040" cy="182880"/>
            </a:xfrm>
            <a:custGeom>
              <a:avLst/>
              <a:gdLst/>
              <a:ahLst/>
              <a:cxnLst/>
              <a:rect l="0" t="0" r="r" b="b"/>
              <a:pathLst>
                <a:path w="320040" h="182880">
                  <a:moveTo>
                    <a:pt x="0" y="50292"/>
                  </a:moveTo>
                  <a:lnTo>
                    <a:pt x="173736" y="50292"/>
                  </a:lnTo>
                  <a:lnTo>
                    <a:pt x="173736" y="0"/>
                  </a:lnTo>
                  <a:lnTo>
                    <a:pt x="320040" y="91440"/>
                  </a:lnTo>
                  <a:lnTo>
                    <a:pt x="173736" y="182880"/>
                  </a:lnTo>
                  <a:lnTo>
                    <a:pt x="173736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7ae77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1" name="path 364"/>
            <p:cNvSpPr/>
            <p:nvPr/>
          </p:nvSpPr>
          <p:spPr>
            <a:xfrm>
              <a:off x="14913864" y="439826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329184" h="329184">
                  <a:moveTo>
                    <a:pt x="329184" y="164592"/>
                  </a:moveTo>
                  <a:cubicBezTo>
                    <a:pt x="329184" y="255494"/>
                    <a:pt x="255494" y="329184"/>
                    <a:pt x="164592" y="329184"/>
                  </a:cubicBezTo>
                  <a:cubicBezTo>
                    <a:pt x="73690" y="329184"/>
                    <a:pt x="0" y="255494"/>
                    <a:pt x="0" y="164592"/>
                  </a:cubicBezTo>
                  <a:cubicBezTo>
                    <a:pt x="0" y="73690"/>
                    <a:pt x="73690" y="0"/>
                    <a:pt x="164592" y="0"/>
                  </a:cubicBezTo>
                  <a:cubicBezTo>
                    <a:pt x="255494" y="0"/>
                    <a:pt x="329184" y="73690"/>
                    <a:pt x="329184" y="164592"/>
                  </a:cubicBezTo>
                  <a:close/>
                </a:path>
              </a:pathLst>
            </a:custGeom>
            <a:solidFill>
              <a:srgbClr val="ffdf55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path 365"/>
            <p:cNvSpPr/>
            <p:nvPr/>
          </p:nvSpPr>
          <p:spPr>
            <a:xfrm>
              <a:off x="15910560" y="4471416"/>
              <a:ext cx="320040" cy="182880"/>
            </a:xfrm>
            <a:custGeom>
              <a:avLst/>
              <a:gdLst/>
              <a:ahLst/>
              <a:cxnLst/>
              <a:rect l="0" t="0" r="r" b="b"/>
              <a:pathLst>
                <a:path w="320040" h="182880">
                  <a:moveTo>
                    <a:pt x="0" y="50292"/>
                  </a:moveTo>
                  <a:lnTo>
                    <a:pt x="173736" y="50292"/>
                  </a:lnTo>
                  <a:lnTo>
                    <a:pt x="173736" y="0"/>
                  </a:lnTo>
                  <a:lnTo>
                    <a:pt x="320040" y="91440"/>
                  </a:lnTo>
                  <a:lnTo>
                    <a:pt x="173736" y="182880"/>
                  </a:lnTo>
                  <a:lnTo>
                    <a:pt x="173736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b802c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path 366"/>
            <p:cNvSpPr/>
            <p:nvPr/>
          </p:nvSpPr>
          <p:spPr>
            <a:xfrm>
              <a:off x="15572232" y="439826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329184" h="329184">
                  <a:moveTo>
                    <a:pt x="329184" y="164592"/>
                  </a:moveTo>
                  <a:cubicBezTo>
                    <a:pt x="329184" y="255494"/>
                    <a:pt x="255494" y="329184"/>
                    <a:pt x="164592" y="329184"/>
                  </a:cubicBezTo>
                  <a:cubicBezTo>
                    <a:pt x="73690" y="329184"/>
                    <a:pt x="0" y="255494"/>
                    <a:pt x="0" y="164592"/>
                  </a:cubicBezTo>
                  <a:cubicBezTo>
                    <a:pt x="0" y="73690"/>
                    <a:pt x="73690" y="0"/>
                    <a:pt x="164592" y="0"/>
                  </a:cubicBezTo>
                  <a:cubicBezTo>
                    <a:pt x="255494" y="0"/>
                    <a:pt x="329184" y="73690"/>
                    <a:pt x="329184" y="164592"/>
                  </a:cubicBezTo>
                  <a:close/>
                </a:path>
              </a:pathLst>
            </a:custGeom>
            <a:solidFill>
              <a:srgbClr val="f7ad77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path 367"/>
            <p:cNvSpPr/>
            <p:nvPr/>
          </p:nvSpPr>
          <p:spPr>
            <a:xfrm>
              <a:off x="16230600" y="4398264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329184" h="329184">
                  <a:moveTo>
                    <a:pt x="329184" y="164592"/>
                  </a:moveTo>
                  <a:cubicBezTo>
                    <a:pt x="329184" y="255494"/>
                    <a:pt x="255494" y="329184"/>
                    <a:pt x="164592" y="329184"/>
                  </a:cubicBezTo>
                  <a:cubicBezTo>
                    <a:pt x="73690" y="329184"/>
                    <a:pt x="0" y="255494"/>
                    <a:pt x="0" y="164592"/>
                  </a:cubicBezTo>
                  <a:cubicBezTo>
                    <a:pt x="0" y="73690"/>
                    <a:pt x="73690" y="0"/>
                    <a:pt x="164592" y="0"/>
                  </a:cubicBezTo>
                  <a:cubicBezTo>
                    <a:pt x="255494" y="0"/>
                    <a:pt x="329184" y="73690"/>
                    <a:pt x="329184" y="164592"/>
                  </a:cubicBezTo>
                  <a:close/>
                </a:path>
              </a:pathLst>
            </a:custGeom>
            <a:solidFill>
              <a:srgbClr val="fb802c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Training diffusion prior"/>
          <p:cNvGrpSpPr/>
          <p:nvPr/>
        </p:nvGrpSpPr>
        <p:grpSpPr>
          <a:xfrm>
            <a:off x="15096744" y="4736592"/>
            <a:ext cx="1431036" cy="859536"/>
            <a:chOff x="15096744" y="4736592"/>
            <a:chExt cx="1431036" cy="859536"/>
          </a:xfrm>
        </p:grpSpPr>
        <p:sp>
          <p:nvSpPr>
            <p:cNvPr id="406" name="ℒ"/>
            <p:cNvSpPr txBox="1"/>
            <p:nvPr/>
          </p:nvSpPr>
          <p:spPr>
            <a:xfrm>
              <a:off x="15096744" y="4859396"/>
              <a:ext cx="412480" cy="48755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095" b="0" i="0" dirty="0">
                  <a:solidFill>
                    <a:srgbClr val="FB802C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407" name="prior"/>
            <p:cNvSpPr txBox="1"/>
            <p:nvPr/>
          </p:nvSpPr>
          <p:spPr>
            <a:xfrm>
              <a:off x="15371978" y="5050841"/>
              <a:ext cx="668126" cy="33641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36" b="0" i="1" dirty="0">
                  <a:solidFill>
                    <a:srgbClr val="FB802C"/>
                  </a:solidFill>
                  <a:latin typeface="Liberation Serif"/>
                </a:rPr>
                <a:t>prior</a:t>
              </a:r>
            </a:p>
          </p:txBody>
        </p:sp>
        <p:sp>
          <p:nvSpPr>
            <p:cNvPr id="408" name="path 370"/>
            <p:cNvSpPr/>
            <p:nvPr/>
          </p:nvSpPr>
          <p:spPr>
            <a:xfrm>
              <a:off x="16262604" y="4736592"/>
              <a:ext cx="265176" cy="859536"/>
            </a:xfrm>
            <a:custGeom>
              <a:avLst/>
              <a:gdLst/>
              <a:ahLst/>
              <a:cxnLst/>
              <a:rect l="0" t="0" r="r" b="b"/>
              <a:pathLst>
                <a:path w="265176" h="859536">
                  <a:moveTo>
                    <a:pt x="132588" y="0"/>
                  </a:moveTo>
                  <a:lnTo>
                    <a:pt x="265176" y="192024"/>
                  </a:lnTo>
                  <a:lnTo>
                    <a:pt x="192024" y="192024"/>
                  </a:lnTo>
                  <a:lnTo>
                    <a:pt x="192024" y="667512"/>
                  </a:lnTo>
                  <a:lnTo>
                    <a:pt x="265176" y="667512"/>
                  </a:lnTo>
                  <a:lnTo>
                    <a:pt x="132588" y="859536"/>
                  </a:lnTo>
                  <a:lnTo>
                    <a:pt x="0" y="667512"/>
                  </a:lnTo>
                  <a:lnTo>
                    <a:pt x="73152" y="667512"/>
                  </a:lnTo>
                  <a:lnTo>
                    <a:pt x="73152" y="192024"/>
                  </a:lnTo>
                  <a:lnTo>
                    <a:pt x="0" y="192024"/>
                  </a:lnTo>
                  <a:close/>
                </a:path>
              </a:pathLst>
            </a:custGeom>
            <a:gradFill rotWithShape="1">
              <a:gsLst>
                <a:gs pos="0">
                  <a:srgbClr val="fff5d4"/>
                </a:gs>
                <a:gs pos="100000">
                  <a:srgbClr val="ffdfa0"/>
                </a:gs>
              </a:gsLst>
              <a:lin ang="5400000" scaled="1"/>
            </a:gradFill>
            <a:ln w="32004" cap="rnd" cmpd="sng">
              <a:solidFill>
                <a:srgbClr val="072e3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9" name="Training diffusion prior / Visual stimuli pictures"/>
          <p:cNvGrpSpPr/>
          <p:nvPr/>
        </p:nvGrpSpPr>
        <p:grpSpPr>
          <a:xfrm>
            <a:off x="15307056" y="5641848"/>
            <a:ext cx="1505468" cy="1236635"/>
            <a:chOff x="15307056" y="5641848"/>
            <a:chExt cx="1505468" cy="1236635"/>
          </a:xfrm>
        </p:grpSpPr>
        <p:sp>
          <p:nvSpPr>
            <p:cNvPr id="410" name="path 371"/>
            <p:cNvSpPr/>
            <p:nvPr/>
          </p:nvSpPr>
          <p:spPr>
            <a:xfrm>
              <a:off x="15602773" y="5641848"/>
              <a:ext cx="967801" cy="797540"/>
            </a:xfrm>
            <a:custGeom>
              <a:avLst/>
              <a:gdLst/>
              <a:ahLst/>
              <a:cxnLst/>
              <a:rect l="0" t="0" r="r" b="b"/>
              <a:pathLst>
                <a:path w="967801" h="797540">
                  <a:moveTo>
                    <a:pt x="44806" y="0"/>
                  </a:moveTo>
                  <a:lnTo>
                    <a:pt x="922995" y="0"/>
                  </a:lnTo>
                  <a:cubicBezTo>
                    <a:pt x="947741" y="0"/>
                    <a:pt x="967801" y="20060"/>
                    <a:pt x="967801" y="44806"/>
                  </a:cubicBezTo>
                  <a:lnTo>
                    <a:pt x="967801" y="752734"/>
                  </a:lnTo>
                  <a:cubicBezTo>
                    <a:pt x="967801" y="777480"/>
                    <a:pt x="947741" y="797540"/>
                    <a:pt x="922995" y="797540"/>
                  </a:cubicBezTo>
                  <a:lnTo>
                    <a:pt x="44806" y="797540"/>
                  </a:lnTo>
                  <a:cubicBezTo>
                    <a:pt x="20060" y="797540"/>
                    <a:pt x="0" y="777480"/>
                    <a:pt x="0" y="752734"/>
                  </a:cubicBezTo>
                  <a:lnTo>
                    <a:pt x="0" y="44806"/>
                  </a:lnTo>
                  <a:cubicBezTo>
                    <a:pt x="0" y="20060"/>
                    <a:pt x="20060" y="0"/>
                    <a:pt x="44806" y="0"/>
                  </a:cubicBezTo>
                  <a:close/>
                </a:path>
              </a:pathLst>
            </a:custGeom>
            <a:solidFill>
              <a:srgbClr val="f3d7a2">
                <a:alpha val="100000"/>
              </a:srgbClr>
            </a:solidFill>
            <a:ln w="3584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1" name="path 372"/>
            <p:cNvSpPr/>
            <p:nvPr/>
          </p:nvSpPr>
          <p:spPr>
            <a:xfrm>
              <a:off x="15674462" y="5713537"/>
              <a:ext cx="824423" cy="654162"/>
            </a:xfrm>
            <a:custGeom>
              <a:avLst/>
              <a:gdLst/>
              <a:ahLst/>
              <a:cxnLst/>
              <a:rect l="0" t="0" r="r" b="b"/>
              <a:pathLst>
                <a:path w="824423" h="654162">
                  <a:moveTo>
                    <a:pt x="8961" y="0"/>
                  </a:moveTo>
                  <a:lnTo>
                    <a:pt x="815462" y="0"/>
                  </a:lnTo>
                  <a:cubicBezTo>
                    <a:pt x="820411" y="0"/>
                    <a:pt x="824423" y="4012"/>
                    <a:pt x="824423" y="8961"/>
                  </a:cubicBezTo>
                  <a:lnTo>
                    <a:pt x="824423" y="645201"/>
                  </a:lnTo>
                  <a:cubicBezTo>
                    <a:pt x="824423" y="650150"/>
                    <a:pt x="820411" y="654162"/>
                    <a:pt x="815462" y="654162"/>
                  </a:cubicBezTo>
                  <a:lnTo>
                    <a:pt x="8961" y="654162"/>
                  </a:lnTo>
                  <a:cubicBezTo>
                    <a:pt x="4012" y="654162"/>
                    <a:pt x="0" y="650150"/>
                    <a:pt x="0" y="645201"/>
                  </a:cubicBezTo>
                  <a:lnTo>
                    <a:pt x="0" y="8961"/>
                  </a:lnTo>
                  <a:cubicBezTo>
                    <a:pt x="0" y="4012"/>
                    <a:pt x="4012" y="0"/>
                    <a:pt x="8961" y="0"/>
                  </a:cubicBezTo>
                  <a:close/>
                </a:path>
              </a:pathLst>
            </a:custGeom>
            <a:solidFill>
              <a:srgbClr val="ffac59">
                <a:alpha val="100000"/>
              </a:srgbClr>
            </a:solidFill>
            <a:ln w="3584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path 373"/>
            <p:cNvSpPr/>
            <p:nvPr/>
          </p:nvSpPr>
          <p:spPr>
            <a:xfrm>
              <a:off x="15307056" y="5883798"/>
              <a:ext cx="1003645" cy="734812"/>
            </a:xfrm>
            <a:custGeom>
              <a:avLst/>
              <a:gdLst/>
              <a:ahLst/>
              <a:cxnLst/>
              <a:rect l="0" t="0" r="r" b="b"/>
              <a:pathLst>
                <a:path w="1003645" h="734812">
                  <a:moveTo>
                    <a:pt x="44806" y="0"/>
                  </a:moveTo>
                  <a:lnTo>
                    <a:pt x="958840" y="0"/>
                  </a:lnTo>
                  <a:cubicBezTo>
                    <a:pt x="983585" y="0"/>
                    <a:pt x="1003645" y="20060"/>
                    <a:pt x="1003645" y="44806"/>
                  </a:cubicBezTo>
                  <a:lnTo>
                    <a:pt x="1003645" y="690006"/>
                  </a:lnTo>
                  <a:cubicBezTo>
                    <a:pt x="1003645" y="714752"/>
                    <a:pt x="983585" y="734812"/>
                    <a:pt x="958840" y="734812"/>
                  </a:cubicBezTo>
                  <a:lnTo>
                    <a:pt x="44806" y="734812"/>
                  </a:lnTo>
                  <a:cubicBezTo>
                    <a:pt x="20060" y="734812"/>
                    <a:pt x="0" y="714752"/>
                    <a:pt x="0" y="690006"/>
                  </a:cubicBezTo>
                  <a:lnTo>
                    <a:pt x="0" y="44806"/>
                  </a:lnTo>
                  <a:cubicBezTo>
                    <a:pt x="0" y="20060"/>
                    <a:pt x="20060" y="0"/>
                    <a:pt x="44806" y="0"/>
                  </a:cubicBezTo>
                  <a:close/>
                </a:path>
              </a:pathLst>
            </a:custGeom>
            <a:solidFill>
              <a:srgbClr val="d7d8d1">
                <a:alpha val="100000"/>
              </a:srgbClr>
            </a:solidFill>
            <a:ln w="3584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path 374"/>
            <p:cNvSpPr/>
            <p:nvPr/>
          </p:nvSpPr>
          <p:spPr>
            <a:xfrm>
              <a:off x="15378745" y="5955487"/>
              <a:ext cx="860268" cy="591434"/>
            </a:xfrm>
            <a:custGeom>
              <a:avLst/>
              <a:gdLst/>
              <a:ahLst/>
              <a:cxnLst/>
              <a:rect l="0" t="0" r="r" b="b"/>
              <a:pathLst>
                <a:path w="860268" h="591434">
                  <a:moveTo>
                    <a:pt x="8961" y="0"/>
                  </a:moveTo>
                  <a:lnTo>
                    <a:pt x="851306" y="0"/>
                  </a:lnTo>
                  <a:cubicBezTo>
                    <a:pt x="856255" y="0"/>
                    <a:pt x="860268" y="4012"/>
                    <a:pt x="860268" y="8961"/>
                  </a:cubicBezTo>
                  <a:lnTo>
                    <a:pt x="860268" y="582473"/>
                  </a:lnTo>
                  <a:cubicBezTo>
                    <a:pt x="860268" y="587422"/>
                    <a:pt x="856255" y="591434"/>
                    <a:pt x="851306" y="591434"/>
                  </a:cubicBezTo>
                  <a:lnTo>
                    <a:pt x="8961" y="591434"/>
                  </a:lnTo>
                  <a:cubicBezTo>
                    <a:pt x="4012" y="591434"/>
                    <a:pt x="0" y="587422"/>
                    <a:pt x="0" y="582473"/>
                  </a:cubicBezTo>
                  <a:lnTo>
                    <a:pt x="0" y="8961"/>
                  </a:lnTo>
                  <a:cubicBezTo>
                    <a:pt x="0" y="4012"/>
                    <a:pt x="4012" y="0"/>
                    <a:pt x="8961" y="0"/>
                  </a:cubicBezTo>
                  <a:close/>
                </a:path>
              </a:pathLst>
            </a:custGeom>
            <a:solidFill>
              <a:srgbClr val="0079a6">
                <a:alpha val="100000"/>
              </a:srgbClr>
            </a:solidFill>
            <a:ln w="3584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path 375"/>
            <p:cNvSpPr/>
            <p:nvPr/>
          </p:nvSpPr>
          <p:spPr>
            <a:xfrm>
              <a:off x="15396667" y="6118938"/>
              <a:ext cx="824423" cy="410061"/>
            </a:xfrm>
            <a:custGeom>
              <a:avLst/>
              <a:gdLst/>
              <a:ahLst/>
              <a:cxnLst/>
              <a:rect l="0" t="0" r="r" b="b"/>
              <a:pathLst>
                <a:path w="824423" h="410061">
                  <a:moveTo>
                    <a:pt x="0" y="410061"/>
                  </a:moveTo>
                  <a:lnTo>
                    <a:pt x="0" y="257184"/>
                  </a:lnTo>
                  <a:quadBezTo>
                    <a:pt x="171337" y="117570"/>
                    <a:pt x="221519" y="220444"/>
                  </a:quadBezTo>
                  <a:quadBezTo>
                    <a:pt x="251628" y="0"/>
                    <a:pt x="482467" y="66133"/>
                  </a:quadBezTo>
                  <a:quadBezTo>
                    <a:pt x="582831" y="0"/>
                    <a:pt x="824423" y="58785"/>
                  </a:quadBezTo>
                  <a:lnTo>
                    <a:pt x="824423" y="410061"/>
                  </a:lnTo>
                  <a:close/>
                </a:path>
              </a:pathLst>
            </a:custGeom>
            <a:solidFill>
              <a:srgbClr val="f1f1f1">
                <a:alpha val="100000"/>
              </a:srgbClr>
            </a:solidFill>
            <a:ln w="286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5" name="path 376"/>
            <p:cNvSpPr/>
            <p:nvPr/>
          </p:nvSpPr>
          <p:spPr>
            <a:xfrm>
              <a:off x="15790956" y="6161593"/>
              <a:ext cx="1021568" cy="716890"/>
            </a:xfrm>
            <a:custGeom>
              <a:avLst/>
              <a:gdLst/>
              <a:ahLst/>
              <a:cxnLst/>
              <a:rect l="0" t="0" r="r" b="b"/>
              <a:pathLst>
                <a:path w="1021568" h="716890">
                  <a:moveTo>
                    <a:pt x="44806" y="0"/>
                  </a:moveTo>
                  <a:lnTo>
                    <a:pt x="976762" y="0"/>
                  </a:lnTo>
                  <a:cubicBezTo>
                    <a:pt x="1001508" y="0"/>
                    <a:pt x="1021568" y="20060"/>
                    <a:pt x="1021568" y="44806"/>
                  </a:cubicBezTo>
                  <a:lnTo>
                    <a:pt x="1021568" y="672084"/>
                  </a:lnTo>
                  <a:cubicBezTo>
                    <a:pt x="1021568" y="696829"/>
                    <a:pt x="1001508" y="716890"/>
                    <a:pt x="976762" y="716890"/>
                  </a:cubicBezTo>
                  <a:lnTo>
                    <a:pt x="44806" y="716890"/>
                  </a:lnTo>
                  <a:cubicBezTo>
                    <a:pt x="20060" y="716890"/>
                    <a:pt x="0" y="696829"/>
                    <a:pt x="0" y="672084"/>
                  </a:cubicBezTo>
                  <a:lnTo>
                    <a:pt x="0" y="44806"/>
                  </a:lnTo>
                  <a:cubicBezTo>
                    <a:pt x="0" y="20060"/>
                    <a:pt x="20060" y="0"/>
                    <a:pt x="44806" y="0"/>
                  </a:cubicBezTo>
                  <a:close/>
                </a:path>
              </a:pathLst>
            </a:custGeom>
            <a:solidFill>
              <a:srgbClr val="d5dab0">
                <a:alpha val="100000"/>
              </a:srgbClr>
            </a:solidFill>
            <a:ln w="3584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6" name="path 377"/>
            <p:cNvSpPr/>
            <p:nvPr/>
          </p:nvSpPr>
          <p:spPr>
            <a:xfrm>
              <a:off x="15862645" y="6233282"/>
              <a:ext cx="878190" cy="573512"/>
            </a:xfrm>
            <a:custGeom>
              <a:avLst/>
              <a:gdLst/>
              <a:ahLst/>
              <a:cxnLst/>
              <a:rect l="0" t="0" r="r" b="b"/>
              <a:pathLst>
                <a:path w="878190" h="573512">
                  <a:moveTo>
                    <a:pt x="8961" y="0"/>
                  </a:moveTo>
                  <a:lnTo>
                    <a:pt x="869229" y="0"/>
                  </a:lnTo>
                  <a:cubicBezTo>
                    <a:pt x="874178" y="0"/>
                    <a:pt x="878190" y="4012"/>
                    <a:pt x="878190" y="8961"/>
                  </a:cubicBezTo>
                  <a:lnTo>
                    <a:pt x="878190" y="564551"/>
                  </a:lnTo>
                  <a:cubicBezTo>
                    <a:pt x="878190" y="569500"/>
                    <a:pt x="874178" y="573512"/>
                    <a:pt x="869229" y="573512"/>
                  </a:cubicBezTo>
                  <a:lnTo>
                    <a:pt x="8961" y="573512"/>
                  </a:lnTo>
                  <a:cubicBezTo>
                    <a:pt x="4012" y="573512"/>
                    <a:pt x="0" y="569500"/>
                    <a:pt x="0" y="564551"/>
                  </a:cubicBezTo>
                  <a:lnTo>
                    <a:pt x="0" y="8961"/>
                  </a:lnTo>
                  <a:cubicBezTo>
                    <a:pt x="0" y="4012"/>
                    <a:pt x="4012" y="0"/>
                    <a:pt x="8961" y="0"/>
                  </a:cubicBezTo>
                  <a:close/>
                </a:path>
              </a:pathLst>
            </a:custGeom>
            <a:solidFill>
              <a:srgbClr val="94d7ec">
                <a:alpha val="100000"/>
              </a:srgbClr>
            </a:solidFill>
            <a:ln w="3584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path 378"/>
            <p:cNvSpPr/>
            <p:nvPr/>
          </p:nvSpPr>
          <p:spPr>
            <a:xfrm>
              <a:off x="16072909" y="6329739"/>
              <a:ext cx="151192" cy="151192"/>
            </a:xfrm>
            <a:custGeom>
              <a:avLst/>
              <a:gdLst/>
              <a:ahLst/>
              <a:cxnLst/>
              <a:rect l="0" t="0" r="r" b="b"/>
              <a:pathLst>
                <a:path w="151192" h="151192">
                  <a:moveTo>
                    <a:pt x="151192" y="75596"/>
                  </a:moveTo>
                  <a:cubicBezTo>
                    <a:pt x="151192" y="117347"/>
                    <a:pt x="117347" y="151192"/>
                    <a:pt x="75596" y="151192"/>
                  </a:cubicBezTo>
                  <a:cubicBezTo>
                    <a:pt x="33845" y="151192"/>
                    <a:pt x="0" y="117347"/>
                    <a:pt x="0" y="75596"/>
                  </a:cubicBezTo>
                  <a:cubicBezTo>
                    <a:pt x="0" y="33845"/>
                    <a:pt x="33845" y="0"/>
                    <a:pt x="75596" y="0"/>
                  </a:cubicBezTo>
                  <a:cubicBezTo>
                    <a:pt x="117347" y="0"/>
                    <a:pt x="151192" y="33845"/>
                    <a:pt x="151192" y="75596"/>
                  </a:cubicBezTo>
                  <a:close/>
                </a:path>
              </a:pathLst>
            </a:custGeom>
            <a:solidFill>
              <a:srgbClr val="f8d34f">
                <a:alpha val="100000"/>
              </a:srgbClr>
            </a:solidFill>
            <a:ln w="286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path 379"/>
            <p:cNvSpPr/>
            <p:nvPr/>
          </p:nvSpPr>
          <p:spPr>
            <a:xfrm>
              <a:off x="15880568" y="6512869"/>
              <a:ext cx="842345" cy="276002"/>
            </a:xfrm>
            <a:custGeom>
              <a:avLst/>
              <a:gdLst/>
              <a:ahLst/>
              <a:cxnLst/>
              <a:rect l="0" t="0" r="r" b="b"/>
              <a:pathLst>
                <a:path w="842345" h="276002">
                  <a:moveTo>
                    <a:pt x="0" y="276002"/>
                  </a:moveTo>
                  <a:lnTo>
                    <a:pt x="0" y="100365"/>
                  </a:lnTo>
                  <a:lnTo>
                    <a:pt x="175996" y="0"/>
                  </a:lnTo>
                  <a:lnTo>
                    <a:pt x="349663" y="186391"/>
                  </a:lnTo>
                  <a:lnTo>
                    <a:pt x="523329" y="78858"/>
                  </a:lnTo>
                  <a:lnTo>
                    <a:pt x="842345" y="200729"/>
                  </a:lnTo>
                  <a:lnTo>
                    <a:pt x="842345" y="276002"/>
                  </a:lnTo>
                  <a:close/>
                </a:path>
              </a:pathLst>
            </a:custGeom>
            <a:solidFill>
              <a:srgbClr val="7cad46">
                <a:alpha val="100000"/>
              </a:srgbClr>
            </a:solidFill>
            <a:ln w="2867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9" name="Training diffusion prior"/>
          <p:cNvGrpSpPr/>
          <p:nvPr/>
        </p:nvGrpSpPr>
        <p:grpSpPr>
          <a:xfrm>
            <a:off x="14942560" y="6907012"/>
            <a:ext cx="2100591" cy="408188"/>
            <a:chOff x="14942560" y="6907012"/>
            <a:chExt cx="2100591" cy="408188"/>
          </a:xfrm>
        </p:grpSpPr>
        <p:sp>
          <p:nvSpPr>
            <p:cNvPr id="420" name="Visual Stimuli"/>
            <p:cNvSpPr txBox="1"/>
            <p:nvPr/>
          </p:nvSpPr>
          <p:spPr>
            <a:xfrm>
              <a:off x="14942560" y="6907012"/>
              <a:ext cx="2100591" cy="408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92" b="1" i="0" dirty="0">
                  <a:solidFill>
                    <a:srgbClr val="797875"/>
                  </a:solidFill>
                  <a:latin typeface="Liberation Serif"/>
                </a:rPr>
                <a:t>Visual Stimuli</a:t>
              </a:r>
            </a:p>
          </p:txBody>
        </p:sp>
      </p:grpSp>
      <p:grpSp>
        <p:nvGrpSpPr>
          <p:cNvPr id="421" name="Inference unseen subject / Unseen subject illustration"/>
          <p:cNvGrpSpPr/>
          <p:nvPr/>
        </p:nvGrpSpPr>
        <p:grpSpPr>
          <a:xfrm>
            <a:off x="686897" y="8892836"/>
            <a:ext cx="1462126" cy="1627168"/>
            <a:chOff x="686897" y="8892836"/>
            <a:chExt cx="1462126" cy="1627168"/>
          </a:xfrm>
        </p:grpSpPr>
        <p:sp>
          <p:nvSpPr>
            <p:cNvPr id="422" name="path 381"/>
            <p:cNvSpPr/>
            <p:nvPr/>
          </p:nvSpPr>
          <p:spPr>
            <a:xfrm>
              <a:off x="686897" y="10006619"/>
              <a:ext cx="1462126" cy="495982"/>
            </a:xfrm>
            <a:custGeom>
              <a:avLst/>
              <a:gdLst/>
              <a:ahLst/>
              <a:cxnLst/>
              <a:rect l="0" t="0" r="r" b="b"/>
              <a:pathLst>
                <a:path w="1462126" h="495982">
                  <a:moveTo>
                    <a:pt x="0" y="495982"/>
                  </a:moveTo>
                  <a:cubicBezTo>
                    <a:pt x="78456" y="278446"/>
                    <a:pt x="178308" y="174029"/>
                    <a:pt x="299557" y="165327"/>
                  </a:cubicBezTo>
                  <a:cubicBezTo>
                    <a:pt x="399410" y="26104"/>
                    <a:pt x="527792" y="8701"/>
                    <a:pt x="563453" y="0"/>
                  </a:cubicBezTo>
                  <a:lnTo>
                    <a:pt x="820217" y="0"/>
                  </a:lnTo>
                  <a:cubicBezTo>
                    <a:pt x="941466" y="26104"/>
                    <a:pt x="1048451" y="78313"/>
                    <a:pt x="1112642" y="165327"/>
                  </a:cubicBezTo>
                  <a:cubicBezTo>
                    <a:pt x="1269553" y="182730"/>
                    <a:pt x="1376538" y="321953"/>
                    <a:pt x="1462126" y="495982"/>
                  </a:cubicBezTo>
                </a:path>
              </a:pathLst>
            </a:custGeom>
            <a:solidFill>
              <a:srgbClr val="77bde9">
                <a:alpha val="100000"/>
              </a:srgbClr>
            </a:solidFill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path 382"/>
            <p:cNvSpPr/>
            <p:nvPr/>
          </p:nvSpPr>
          <p:spPr>
            <a:xfrm>
              <a:off x="686897" y="10258961"/>
              <a:ext cx="1462126" cy="243640"/>
            </a:xfrm>
            <a:custGeom>
              <a:avLst/>
              <a:gdLst/>
              <a:ahLst/>
              <a:cxnLst/>
              <a:rect l="0" t="0" r="r" b="b"/>
              <a:pathLst>
                <a:path w="1462126" h="243640">
                  <a:moveTo>
                    <a:pt x="0" y="243640"/>
                  </a:moveTo>
                  <a:cubicBezTo>
                    <a:pt x="85588" y="69611"/>
                    <a:pt x="114117" y="26104"/>
                    <a:pt x="185440" y="0"/>
                  </a:cubicBezTo>
                  <a:cubicBezTo>
                    <a:pt x="271028" y="34806"/>
                    <a:pt x="313822" y="121820"/>
                    <a:pt x="320954" y="243640"/>
                  </a:cubicBezTo>
                  <a:moveTo>
                    <a:pt x="1126907" y="243640"/>
                  </a:moveTo>
                  <a:cubicBezTo>
                    <a:pt x="1141171" y="113119"/>
                    <a:pt x="1191097" y="43507"/>
                    <a:pt x="1283818" y="8701"/>
                  </a:cubicBezTo>
                  <a:cubicBezTo>
                    <a:pt x="1362273" y="87014"/>
                    <a:pt x="1419332" y="191431"/>
                    <a:pt x="1462126" y="243640"/>
                  </a:cubicBezTo>
                </a:path>
              </a:pathLst>
            </a:custGeom>
            <a:solidFill>
              <a:srgbClr val="8a8392">
                <a:alpha val="100000"/>
              </a:srgbClr>
            </a:solidFill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path 383"/>
            <p:cNvSpPr/>
            <p:nvPr/>
          </p:nvSpPr>
          <p:spPr>
            <a:xfrm>
              <a:off x="1150498" y="10111037"/>
              <a:ext cx="556321" cy="408967"/>
            </a:xfrm>
            <a:custGeom>
              <a:avLst/>
              <a:gdLst/>
              <a:ahLst/>
              <a:cxnLst/>
              <a:rect l="0" t="0" r="r" b="b"/>
              <a:pathLst>
                <a:path w="556321" h="408967">
                  <a:moveTo>
                    <a:pt x="0" y="69611"/>
                  </a:moveTo>
                  <a:lnTo>
                    <a:pt x="49926" y="408967"/>
                  </a:lnTo>
                  <a:lnTo>
                    <a:pt x="499262" y="408967"/>
                  </a:lnTo>
                  <a:lnTo>
                    <a:pt x="556321" y="52209"/>
                  </a:lnTo>
                  <a:lnTo>
                    <a:pt x="370881" y="0"/>
                  </a:lnTo>
                  <a:lnTo>
                    <a:pt x="128382" y="8701"/>
                  </a:lnTo>
                  <a:close/>
                </a:path>
              </a:pathLst>
            </a:custGeom>
            <a:solidFill>
              <a:srgbClr val="abe086">
                <a:alpha val="100000"/>
              </a:srgbClr>
            </a:solidFill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5" name="path 384"/>
            <p:cNvSpPr/>
            <p:nvPr/>
          </p:nvSpPr>
          <p:spPr>
            <a:xfrm>
              <a:off x="1221821" y="9876098"/>
              <a:ext cx="349484" cy="408967"/>
            </a:xfrm>
            <a:custGeom>
              <a:avLst/>
              <a:gdLst/>
              <a:ahLst/>
              <a:cxnLst/>
              <a:rect l="0" t="0" r="r" b="b"/>
              <a:pathLst>
                <a:path w="349484" h="408967">
                  <a:moveTo>
                    <a:pt x="0" y="26104"/>
                  </a:moveTo>
                  <a:lnTo>
                    <a:pt x="0" y="217536"/>
                  </a:lnTo>
                  <a:cubicBezTo>
                    <a:pt x="21397" y="339356"/>
                    <a:pt x="271028" y="408967"/>
                    <a:pt x="349484" y="234939"/>
                  </a:cubicBezTo>
                  <a:lnTo>
                    <a:pt x="335219" y="0"/>
                  </a:lnTo>
                  <a:close/>
                </a:path>
              </a:pathLst>
            </a:custGeom>
            <a:solidFill>
              <a:srgbClr val="f0c8b9">
                <a:alpha val="100000"/>
              </a:srgbClr>
            </a:solidFill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path 385"/>
            <p:cNvSpPr/>
            <p:nvPr/>
          </p:nvSpPr>
          <p:spPr>
            <a:xfrm>
              <a:off x="1121969" y="10206752"/>
              <a:ext cx="577718" cy="269744"/>
            </a:xfrm>
            <a:custGeom>
              <a:avLst/>
              <a:gdLst/>
              <a:ahLst/>
              <a:cxnLst/>
              <a:rect l="0" t="0" r="r" b="b"/>
              <a:pathLst>
                <a:path w="577718" h="269744" fill="none">
                  <a:moveTo>
                    <a:pt x="0" y="0"/>
                  </a:moveTo>
                  <a:quadBezTo>
                    <a:pt x="271028" y="269744"/>
                    <a:pt x="577718" y="0"/>
                  </a:quadBezTo>
                </a:path>
              </a:pathLst>
            </a:custGeom>
            <a:noFill/>
            <a:ln w="55418" cap="rnd" cmpd="sng">
              <a:solidFill>
                <a:srgbClr val="81798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path 386"/>
            <p:cNvSpPr/>
            <p:nvPr/>
          </p:nvSpPr>
          <p:spPr>
            <a:xfrm>
              <a:off x="858073" y="9493235"/>
              <a:ext cx="1048451" cy="321953"/>
            </a:xfrm>
            <a:custGeom>
              <a:avLst/>
              <a:gdLst/>
              <a:ahLst/>
              <a:cxnLst/>
              <a:rect l="0" t="0" r="r" b="b"/>
              <a:pathLst>
                <a:path w="1048451" h="321953">
                  <a:moveTo>
                    <a:pt x="78456" y="0"/>
                  </a:moveTo>
                  <a:cubicBezTo>
                    <a:pt x="0" y="78313"/>
                    <a:pt x="14265" y="234939"/>
                    <a:pt x="142646" y="295849"/>
                  </a:cubicBezTo>
                  <a:lnTo>
                    <a:pt x="199705" y="321953"/>
                  </a:lnTo>
                  <a:lnTo>
                    <a:pt x="863011" y="321953"/>
                  </a:lnTo>
                  <a:cubicBezTo>
                    <a:pt x="1019922" y="261043"/>
                    <a:pt x="1048451" y="113119"/>
                    <a:pt x="948599" y="26104"/>
                  </a:cubicBezTo>
                  <a:close/>
                </a:path>
              </a:pathLst>
            </a:custGeom>
            <a:solidFill>
              <a:srgbClr val="f0c3b3">
                <a:alpha val="100000"/>
              </a:srgbClr>
            </a:solidFill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path 387"/>
            <p:cNvSpPr/>
            <p:nvPr/>
          </p:nvSpPr>
          <p:spPr>
            <a:xfrm>
              <a:off x="1007852" y="9484534"/>
              <a:ext cx="720364" cy="687413"/>
            </a:xfrm>
            <a:custGeom>
              <a:avLst/>
              <a:gdLst/>
              <a:ahLst/>
              <a:cxnLst/>
              <a:rect l="0" t="0" r="r" b="b"/>
              <a:pathLst>
                <a:path w="720364" h="687413">
                  <a:moveTo>
                    <a:pt x="0" y="17403"/>
                  </a:moveTo>
                  <a:lnTo>
                    <a:pt x="0" y="339356"/>
                  </a:lnTo>
                  <a:cubicBezTo>
                    <a:pt x="0" y="487280"/>
                    <a:pt x="171176" y="678712"/>
                    <a:pt x="363748" y="687413"/>
                  </a:cubicBezTo>
                  <a:cubicBezTo>
                    <a:pt x="549189" y="687413"/>
                    <a:pt x="720364" y="478579"/>
                    <a:pt x="720364" y="313251"/>
                  </a:cubicBezTo>
                  <a:lnTo>
                    <a:pt x="720364" y="0"/>
                  </a:lnTo>
                  <a:close/>
                </a:path>
              </a:pathLst>
            </a:custGeom>
            <a:solidFill>
              <a:srgbClr val="f2caba">
                <a:alpha val="100000"/>
              </a:srgbClr>
            </a:solidFill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path 388"/>
            <p:cNvSpPr/>
            <p:nvPr/>
          </p:nvSpPr>
          <p:spPr>
            <a:xfrm>
              <a:off x="1007852" y="9754278"/>
              <a:ext cx="914" cy="147924"/>
            </a:xfrm>
            <a:custGeom>
              <a:avLst/>
              <a:gdLst/>
              <a:ahLst/>
              <a:cxnLst/>
              <a:rect l="0" t="0" r="r" b="b"/>
              <a:pathLst>
                <a:path w="914" h="147924" fill="none">
                  <a:moveTo>
                    <a:pt x="0" y="0"/>
                  </a:moveTo>
                  <a:lnTo>
                    <a:pt x="0" y="147924"/>
                  </a:lnTo>
                </a:path>
              </a:pathLst>
            </a:custGeom>
            <a:noFill/>
            <a:ln w="3562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path 389"/>
            <p:cNvSpPr/>
            <p:nvPr/>
          </p:nvSpPr>
          <p:spPr>
            <a:xfrm>
              <a:off x="822411" y="8892836"/>
              <a:ext cx="1098377" cy="722219"/>
            </a:xfrm>
            <a:custGeom>
              <a:avLst/>
              <a:gdLst/>
              <a:ahLst/>
              <a:cxnLst/>
              <a:rect l="0" t="0" r="r" b="b"/>
              <a:pathLst>
                <a:path w="1098377" h="722219">
                  <a:moveTo>
                    <a:pt x="99852" y="678712"/>
                  </a:moveTo>
                  <a:cubicBezTo>
                    <a:pt x="14265" y="626503"/>
                    <a:pt x="35662" y="522086"/>
                    <a:pt x="78456" y="487280"/>
                  </a:cubicBezTo>
                  <a:cubicBezTo>
                    <a:pt x="0" y="374162"/>
                    <a:pt x="71323" y="269744"/>
                    <a:pt x="149779" y="261043"/>
                  </a:cubicBezTo>
                  <a:cubicBezTo>
                    <a:pt x="135514" y="147924"/>
                    <a:pt x="242499" y="78313"/>
                    <a:pt x="328087" y="113119"/>
                  </a:cubicBezTo>
                  <a:cubicBezTo>
                    <a:pt x="399410" y="34806"/>
                    <a:pt x="470733" y="69611"/>
                    <a:pt x="513527" y="104417"/>
                  </a:cubicBezTo>
                  <a:cubicBezTo>
                    <a:pt x="584850" y="0"/>
                    <a:pt x="684703" y="52209"/>
                    <a:pt x="713232" y="121820"/>
                  </a:cubicBezTo>
                  <a:cubicBezTo>
                    <a:pt x="813084" y="78313"/>
                    <a:pt x="905805" y="130521"/>
                    <a:pt x="912937" y="226237"/>
                  </a:cubicBezTo>
                  <a:cubicBezTo>
                    <a:pt x="1005657" y="243640"/>
                    <a:pt x="1034186" y="348057"/>
                    <a:pt x="998525" y="417669"/>
                  </a:cubicBezTo>
                  <a:cubicBezTo>
                    <a:pt x="1098377" y="530787"/>
                    <a:pt x="1048451" y="661309"/>
                    <a:pt x="962863" y="670010"/>
                  </a:cubicBezTo>
                  <a:lnTo>
                    <a:pt x="863011" y="652607"/>
                  </a:lnTo>
                  <a:cubicBezTo>
                    <a:pt x="784555" y="652607"/>
                    <a:pt x="798820" y="495982"/>
                    <a:pt x="741761" y="478579"/>
                  </a:cubicBezTo>
                  <a:cubicBezTo>
                    <a:pt x="649041" y="626503"/>
                    <a:pt x="477865" y="617802"/>
                    <a:pt x="406542" y="548190"/>
                  </a:cubicBezTo>
                  <a:cubicBezTo>
                    <a:pt x="363748" y="704816"/>
                    <a:pt x="285293" y="722219"/>
                    <a:pt x="192573" y="704816"/>
                  </a:cubicBezTo>
                  <a:close/>
                </a:path>
              </a:pathLst>
            </a:custGeom>
            <a:solidFill>
              <a:srgbClr val="8c8293">
                <a:alpha val="100000"/>
              </a:srgbClr>
            </a:solidFill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path 390"/>
            <p:cNvSpPr/>
            <p:nvPr/>
          </p:nvSpPr>
          <p:spPr>
            <a:xfrm>
              <a:off x="986455" y="9110372"/>
              <a:ext cx="727497" cy="348057"/>
            </a:xfrm>
            <a:custGeom>
              <a:avLst/>
              <a:gdLst/>
              <a:ahLst/>
              <a:cxnLst/>
              <a:rect l="0" t="0" r="r" b="b"/>
              <a:pathLst>
                <a:path w="727497" h="348057" fill="none">
                  <a:moveTo>
                    <a:pt x="221102" y="234939"/>
                  </a:moveTo>
                  <a:quadBezTo>
                    <a:pt x="242499" y="321953"/>
                    <a:pt x="299557" y="348057"/>
                  </a:quadBezTo>
                  <a:moveTo>
                    <a:pt x="570586" y="226237"/>
                  </a:moveTo>
                  <a:quadBezTo>
                    <a:pt x="556321" y="304550"/>
                    <a:pt x="506395" y="330654"/>
                  </a:quadBezTo>
                  <a:moveTo>
                    <a:pt x="0" y="34806"/>
                  </a:moveTo>
                  <a:quadBezTo>
                    <a:pt x="35662" y="8701"/>
                    <a:pt x="78456" y="60910"/>
                  </a:quadBezTo>
                  <a:moveTo>
                    <a:pt x="727497" y="26104"/>
                  </a:moveTo>
                  <a:quadBezTo>
                    <a:pt x="684703" y="0"/>
                    <a:pt x="649041" y="52209"/>
                  </a:quadBezTo>
                </a:path>
              </a:pathLst>
            </a:custGeom>
            <a:noFill/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path 391"/>
            <p:cNvSpPr/>
            <p:nvPr/>
          </p:nvSpPr>
          <p:spPr>
            <a:xfrm>
              <a:off x="1150498" y="9623756"/>
              <a:ext cx="399410" cy="43507"/>
            </a:xfrm>
            <a:custGeom>
              <a:avLst/>
              <a:gdLst/>
              <a:ahLst/>
              <a:cxnLst/>
              <a:rect l="0" t="0" r="r" b="b"/>
              <a:pathLst>
                <a:path w="399410" h="43507" fill="none">
                  <a:moveTo>
                    <a:pt x="0" y="43507"/>
                  </a:moveTo>
                  <a:quadBezTo>
                    <a:pt x="49926" y="0"/>
                    <a:pt x="99852" y="43507"/>
                  </a:quadBezTo>
                  <a:moveTo>
                    <a:pt x="299557" y="43507"/>
                  </a:moveTo>
                  <a:quadBezTo>
                    <a:pt x="349484" y="0"/>
                    <a:pt x="399410" y="43507"/>
                  </a:quadBezTo>
                </a:path>
              </a:pathLst>
            </a:custGeom>
            <a:noFill/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path 392"/>
            <p:cNvSpPr/>
            <p:nvPr/>
          </p:nvSpPr>
          <p:spPr>
            <a:xfrm>
              <a:off x="1207557" y="9736875"/>
              <a:ext cx="914" cy="87014"/>
            </a:xfrm>
            <a:custGeom>
              <a:avLst/>
              <a:gdLst/>
              <a:ahLst/>
              <a:cxnLst/>
              <a:rect l="0" t="0" r="r" b="b"/>
              <a:pathLst>
                <a:path w="914" h="87014" fill="none">
                  <a:moveTo>
                    <a:pt x="0" y="0"/>
                  </a:moveTo>
                  <a:lnTo>
                    <a:pt x="0" y="87014"/>
                  </a:lnTo>
                </a:path>
              </a:pathLst>
            </a:custGeom>
            <a:noFill/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path 393"/>
            <p:cNvSpPr/>
            <p:nvPr/>
          </p:nvSpPr>
          <p:spPr>
            <a:xfrm>
              <a:off x="1492849" y="9736875"/>
              <a:ext cx="914" cy="87014"/>
            </a:xfrm>
            <a:custGeom>
              <a:avLst/>
              <a:gdLst/>
              <a:ahLst/>
              <a:cxnLst/>
              <a:rect l="0" t="0" r="r" b="b"/>
              <a:pathLst>
                <a:path w="914" h="87014" fill="none">
                  <a:moveTo>
                    <a:pt x="0" y="0"/>
                  </a:moveTo>
                  <a:lnTo>
                    <a:pt x="0" y="87014"/>
                  </a:lnTo>
                </a:path>
              </a:pathLst>
            </a:custGeom>
            <a:noFill/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path 394"/>
            <p:cNvSpPr/>
            <p:nvPr/>
          </p:nvSpPr>
          <p:spPr>
            <a:xfrm>
              <a:off x="1278880" y="9919605"/>
              <a:ext cx="164043" cy="200133"/>
            </a:xfrm>
            <a:custGeom>
              <a:avLst/>
              <a:gdLst/>
              <a:ahLst/>
              <a:cxnLst/>
              <a:rect l="0" t="0" r="r" b="b"/>
              <a:pathLst>
                <a:path w="164043" h="200133" fill="none">
                  <a:moveTo>
                    <a:pt x="28529" y="0"/>
                  </a:moveTo>
                  <a:quadBezTo>
                    <a:pt x="78456" y="43507"/>
                    <a:pt x="121249" y="0"/>
                  </a:quadBezTo>
                  <a:moveTo>
                    <a:pt x="0" y="121820"/>
                  </a:moveTo>
                  <a:quadBezTo>
                    <a:pt x="85588" y="200133"/>
                    <a:pt x="164043" y="113119"/>
                  </a:quadBezTo>
                </a:path>
              </a:pathLst>
            </a:custGeom>
            <a:noFill/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6" name="path 395"/>
            <p:cNvSpPr/>
            <p:nvPr/>
          </p:nvSpPr>
          <p:spPr>
            <a:xfrm>
              <a:off x="986455" y="10163245"/>
              <a:ext cx="798820" cy="208834"/>
            </a:xfrm>
            <a:custGeom>
              <a:avLst/>
              <a:gdLst/>
              <a:ahLst/>
              <a:cxnLst/>
              <a:rect l="0" t="0" r="r" b="b"/>
              <a:pathLst>
                <a:path w="798820" h="208834" fill="none">
                  <a:moveTo>
                    <a:pt x="0" y="0"/>
                  </a:moveTo>
                  <a:quadBezTo>
                    <a:pt x="85588" y="147924"/>
                    <a:pt x="199705" y="208834"/>
                  </a:quadBezTo>
                  <a:moveTo>
                    <a:pt x="798820" y="8701"/>
                  </a:moveTo>
                  <a:quadBezTo>
                    <a:pt x="741761" y="139223"/>
                    <a:pt x="670438" y="182730"/>
                  </a:quadBezTo>
                </a:path>
              </a:pathLst>
            </a:custGeom>
            <a:noFill/>
            <a:ln w="39584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7" name="Inference unseen subject"/>
          <p:cNvGrpSpPr/>
          <p:nvPr/>
        </p:nvGrpSpPr>
        <p:grpSpPr>
          <a:xfrm>
            <a:off x="484632" y="10519166"/>
            <a:ext cx="3154509" cy="442204"/>
            <a:chOff x="484632" y="10519166"/>
            <a:chExt cx="3154509" cy="442204"/>
          </a:xfrm>
        </p:grpSpPr>
        <p:sp>
          <p:nvSpPr>
            <p:cNvPr id="438" name="Test "/>
            <p:cNvSpPr txBox="1"/>
            <p:nvPr/>
          </p:nvSpPr>
          <p:spPr>
            <a:xfrm>
              <a:off x="484632" y="10519166"/>
              <a:ext cx="787956" cy="4422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08" b="0" i="0" dirty="0">
                  <a:solidFill>
                    <a:srgbClr val="0B0B0B"/>
                  </a:solidFill>
                  <a:latin typeface="Liberation Serif"/>
                </a:rPr>
                <a:t>Test </a:t>
              </a:r>
            </a:p>
          </p:txBody>
        </p:sp>
        <p:sp>
          <p:nvSpPr>
            <p:cNvPr id="439" name="Unseen"/>
            <p:cNvSpPr txBox="1"/>
            <p:nvPr/>
          </p:nvSpPr>
          <p:spPr>
            <a:xfrm>
              <a:off x="1179576" y="10519166"/>
              <a:ext cx="1219267" cy="4422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08" b="1" i="0" dirty="0">
                  <a:solidFill>
                    <a:srgbClr val="0B0B0B"/>
                  </a:solidFill>
                  <a:latin typeface="Liberation Serif"/>
                </a:rPr>
                <a:t>Unseen</a:t>
              </a:r>
            </a:p>
          </p:txBody>
        </p:sp>
        <p:sp>
          <p:nvSpPr>
            <p:cNvPr id="440" name="Subject"/>
            <p:cNvSpPr txBox="1"/>
            <p:nvPr/>
          </p:nvSpPr>
          <p:spPr>
            <a:xfrm>
              <a:off x="2459736" y="10519166"/>
              <a:ext cx="1179405" cy="442204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808" b="0" i="0" dirty="0">
                  <a:solidFill>
                    <a:srgbClr val="0B0B0B"/>
                  </a:solidFill>
                  <a:latin typeface="Liberation Serif"/>
                </a:rPr>
                <a:t>Subject</a:t>
              </a:r>
            </a:p>
          </p:txBody>
        </p:sp>
      </p:grpSp>
      <p:grpSp>
        <p:nvGrpSpPr>
          <p:cNvPr id="441" name="Inference unseen subject / fMRI monitor"/>
          <p:cNvGrpSpPr/>
          <p:nvPr/>
        </p:nvGrpSpPr>
        <p:grpSpPr>
          <a:xfrm>
            <a:off x="2089587" y="8915766"/>
            <a:ext cx="820034" cy="847831"/>
            <a:chOff x="2089587" y="8915766"/>
            <a:chExt cx="820034" cy="847831"/>
          </a:xfrm>
        </p:grpSpPr>
        <p:sp>
          <p:nvSpPr>
            <p:cNvPr id="442" name="path 399"/>
            <p:cNvSpPr/>
            <p:nvPr/>
          </p:nvSpPr>
          <p:spPr>
            <a:xfrm>
              <a:off x="2089587" y="8915766"/>
              <a:ext cx="820034" cy="694944"/>
            </a:xfrm>
            <a:custGeom>
              <a:avLst/>
              <a:gdLst/>
              <a:ahLst/>
              <a:cxnLst/>
              <a:rect l="0" t="0" r="r" b="b"/>
              <a:pathLst>
                <a:path w="820034" h="694944">
                  <a:moveTo>
                    <a:pt x="34747" y="0"/>
                  </a:moveTo>
                  <a:lnTo>
                    <a:pt x="785287" y="0"/>
                  </a:lnTo>
                  <a:cubicBezTo>
                    <a:pt x="804477" y="0"/>
                    <a:pt x="820034" y="15557"/>
                    <a:pt x="820034" y="34747"/>
                  </a:cubicBezTo>
                  <a:lnTo>
                    <a:pt x="820034" y="660197"/>
                  </a:lnTo>
                  <a:cubicBezTo>
                    <a:pt x="820034" y="679387"/>
                    <a:pt x="804477" y="694944"/>
                    <a:pt x="785287" y="694944"/>
                  </a:cubicBezTo>
                  <a:lnTo>
                    <a:pt x="34747" y="694944"/>
                  </a:lnTo>
                  <a:cubicBezTo>
                    <a:pt x="15557" y="694944"/>
                    <a:pt x="0" y="679387"/>
                    <a:pt x="0" y="660197"/>
                  </a:cubicBezTo>
                  <a:lnTo>
                    <a:pt x="0" y="34747"/>
                  </a:lnTo>
                  <a:cubicBezTo>
                    <a:pt x="0" y="15557"/>
                    <a:pt x="15557" y="0"/>
                    <a:pt x="34747" y="0"/>
                  </a:cubicBezTo>
                  <a:close/>
                </a:path>
              </a:pathLst>
            </a:custGeom>
            <a:solidFill>
              <a:srgbClr val="8d8592">
                <a:alpha val="100000"/>
              </a:srgbClr>
            </a:solidFill>
            <a:ln w="2779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path 400"/>
            <p:cNvSpPr/>
            <p:nvPr/>
          </p:nvSpPr>
          <p:spPr>
            <a:xfrm>
              <a:off x="2152132" y="8978311"/>
              <a:ext cx="694944" cy="562905"/>
            </a:xfrm>
            <a:custGeom>
              <a:avLst/>
              <a:gdLst/>
              <a:ahLst/>
              <a:cxnLst/>
              <a:rect l="0" t="0" r="r" b="b"/>
              <a:pathLst>
                <a:path w="694944" h="562905">
                  <a:moveTo>
                    <a:pt x="0" y="0"/>
                  </a:moveTo>
                  <a:lnTo>
                    <a:pt x="694944" y="0"/>
                  </a:lnTo>
                  <a:lnTo>
                    <a:pt x="694944" y="562905"/>
                  </a:lnTo>
                  <a:lnTo>
                    <a:pt x="0" y="562905"/>
                  </a:lnTo>
                  <a:close/>
                </a:path>
              </a:pathLst>
            </a:custGeom>
            <a:solidFill>
              <a:srgbClr val="d9edf4">
                <a:alpha val="100000"/>
              </a:srgbClr>
            </a:solidFill>
            <a:ln w="2779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path 401"/>
            <p:cNvSpPr/>
            <p:nvPr/>
          </p:nvSpPr>
          <p:spPr>
            <a:xfrm>
              <a:off x="2402312" y="9610710"/>
              <a:ext cx="201534" cy="69494"/>
            </a:xfrm>
            <a:custGeom>
              <a:avLst/>
              <a:gdLst/>
              <a:ahLst/>
              <a:cxnLst/>
              <a:rect l="0" t="0" r="r" b="b"/>
              <a:pathLst>
                <a:path w="201534" h="69494">
                  <a:moveTo>
                    <a:pt x="0" y="0"/>
                  </a:moveTo>
                  <a:lnTo>
                    <a:pt x="201534" y="0"/>
                  </a:lnTo>
                  <a:lnTo>
                    <a:pt x="201534" y="69494"/>
                  </a:lnTo>
                  <a:lnTo>
                    <a:pt x="0" y="69494"/>
                  </a:lnTo>
                  <a:close/>
                </a:path>
              </a:pathLst>
            </a:custGeom>
            <a:solidFill>
              <a:srgbClr val="9b939d">
                <a:alpha val="100000"/>
              </a:srgbClr>
            </a:solidFill>
            <a:ln w="2432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path 402"/>
            <p:cNvSpPr/>
            <p:nvPr/>
          </p:nvSpPr>
          <p:spPr>
            <a:xfrm>
              <a:off x="2263323" y="9680204"/>
              <a:ext cx="493410" cy="83393"/>
            </a:xfrm>
            <a:custGeom>
              <a:avLst/>
              <a:gdLst/>
              <a:ahLst/>
              <a:cxnLst/>
              <a:rect l="0" t="0" r="r" b="b"/>
              <a:pathLst>
                <a:path w="493410" h="83393">
                  <a:moveTo>
                    <a:pt x="13899" y="0"/>
                  </a:moveTo>
                  <a:lnTo>
                    <a:pt x="479511" y="0"/>
                  </a:lnTo>
                  <a:cubicBezTo>
                    <a:pt x="487187" y="0"/>
                    <a:pt x="493410" y="6223"/>
                    <a:pt x="493410" y="13899"/>
                  </a:cubicBezTo>
                  <a:lnTo>
                    <a:pt x="493410" y="69494"/>
                  </a:lnTo>
                  <a:cubicBezTo>
                    <a:pt x="493410" y="77171"/>
                    <a:pt x="487187" y="83393"/>
                    <a:pt x="479511" y="83393"/>
                  </a:cubicBezTo>
                  <a:lnTo>
                    <a:pt x="13899" y="83393"/>
                  </a:lnTo>
                  <a:cubicBezTo>
                    <a:pt x="6223" y="83393"/>
                    <a:pt x="0" y="77171"/>
                    <a:pt x="0" y="69494"/>
                  </a:cubicBezTo>
                  <a:lnTo>
                    <a:pt x="0" y="13899"/>
                  </a:lnTo>
                  <a:cubicBezTo>
                    <a:pt x="0" y="6223"/>
                    <a:pt x="6223" y="0"/>
                    <a:pt x="13899" y="0"/>
                  </a:cubicBezTo>
                  <a:close/>
                </a:path>
              </a:pathLst>
            </a:custGeom>
            <a:solidFill>
              <a:srgbClr val="827a86">
                <a:alpha val="100000"/>
              </a:srgbClr>
            </a:solidFill>
            <a:ln w="24323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path 403"/>
            <p:cNvSpPr/>
            <p:nvPr/>
          </p:nvSpPr>
          <p:spPr>
            <a:xfrm>
              <a:off x="2332817" y="9701052"/>
              <a:ext cx="83393" cy="55596"/>
            </a:xfrm>
            <a:custGeom>
              <a:avLst/>
              <a:gdLst/>
              <a:ahLst/>
              <a:cxnLst/>
              <a:rect l="0" t="0" r="r" b="b"/>
              <a:pathLst>
                <a:path w="83393" h="55596">
                  <a:moveTo>
                    <a:pt x="0" y="0"/>
                  </a:moveTo>
                  <a:lnTo>
                    <a:pt x="83393" y="0"/>
                  </a:lnTo>
                  <a:lnTo>
                    <a:pt x="83393" y="55596"/>
                  </a:lnTo>
                  <a:lnTo>
                    <a:pt x="0" y="55596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389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path 404"/>
            <p:cNvSpPr/>
            <p:nvPr/>
          </p:nvSpPr>
          <p:spPr>
            <a:xfrm>
              <a:off x="2478756" y="9701052"/>
              <a:ext cx="83393" cy="55596"/>
            </a:xfrm>
            <a:custGeom>
              <a:avLst/>
              <a:gdLst/>
              <a:ahLst/>
              <a:cxnLst/>
              <a:rect l="0" t="0" r="r" b="b"/>
              <a:pathLst>
                <a:path w="83393" h="55596">
                  <a:moveTo>
                    <a:pt x="0" y="0"/>
                  </a:moveTo>
                  <a:lnTo>
                    <a:pt x="83393" y="0"/>
                  </a:lnTo>
                  <a:lnTo>
                    <a:pt x="83393" y="55596"/>
                  </a:lnTo>
                  <a:lnTo>
                    <a:pt x="0" y="55596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389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path 405"/>
            <p:cNvSpPr/>
            <p:nvPr/>
          </p:nvSpPr>
          <p:spPr>
            <a:xfrm>
              <a:off x="2631643" y="9701052"/>
              <a:ext cx="83393" cy="55596"/>
            </a:xfrm>
            <a:custGeom>
              <a:avLst/>
              <a:gdLst/>
              <a:ahLst/>
              <a:cxnLst/>
              <a:rect l="0" t="0" r="r" b="b"/>
              <a:pathLst>
                <a:path w="83393" h="55596">
                  <a:moveTo>
                    <a:pt x="0" y="0"/>
                  </a:moveTo>
                  <a:lnTo>
                    <a:pt x="83393" y="0"/>
                  </a:lnTo>
                  <a:lnTo>
                    <a:pt x="83393" y="55596"/>
                  </a:lnTo>
                  <a:lnTo>
                    <a:pt x="0" y="55596"/>
                  </a:lnTo>
                  <a:close/>
                </a:path>
              </a:pathLst>
            </a:custGeom>
            <a:solidFill>
              <a:srgbClr val="b6afb9">
                <a:alpha val="100000"/>
              </a:srgbClr>
            </a:solidFill>
            <a:ln w="13899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path 406"/>
            <p:cNvSpPr/>
            <p:nvPr/>
          </p:nvSpPr>
          <p:spPr>
            <a:xfrm>
              <a:off x="2228576" y="9040856"/>
              <a:ext cx="914" cy="437815"/>
            </a:xfrm>
            <a:custGeom>
              <a:avLst/>
              <a:gdLst/>
              <a:ahLst/>
              <a:cxnLst/>
              <a:rect l="0" t="0" r="r" b="b"/>
              <a:pathLst>
                <a:path w="914" h="437815" fill="none">
                  <a:moveTo>
                    <a:pt x="0" y="0"/>
                  </a:moveTo>
                  <a:lnTo>
                    <a:pt x="0" y="437815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0" name="path 407"/>
            <p:cNvSpPr/>
            <p:nvPr/>
          </p:nvSpPr>
          <p:spPr>
            <a:xfrm>
              <a:off x="2193828" y="9040856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1" name="path 408"/>
            <p:cNvSpPr/>
            <p:nvPr/>
          </p:nvSpPr>
          <p:spPr>
            <a:xfrm>
              <a:off x="2193828" y="9158996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path 409"/>
            <p:cNvSpPr/>
            <p:nvPr/>
          </p:nvSpPr>
          <p:spPr>
            <a:xfrm>
              <a:off x="2193828" y="9291036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path 410"/>
            <p:cNvSpPr/>
            <p:nvPr/>
          </p:nvSpPr>
          <p:spPr>
            <a:xfrm>
              <a:off x="2193828" y="9478670"/>
              <a:ext cx="69494" cy="914"/>
            </a:xfrm>
            <a:custGeom>
              <a:avLst/>
              <a:gdLst/>
              <a:ahLst/>
              <a:cxnLst/>
              <a:rect l="0" t="0" r="r" b="b"/>
              <a:pathLst>
                <a:path w="69494" h="914" fill="none">
                  <a:moveTo>
                    <a:pt x="0" y="0"/>
                  </a:moveTo>
                  <a:lnTo>
                    <a:pt x="69494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path 411"/>
            <p:cNvSpPr/>
            <p:nvPr/>
          </p:nvSpPr>
          <p:spPr>
            <a:xfrm>
              <a:off x="2666390" y="9443923"/>
              <a:ext cx="132039" cy="914"/>
            </a:xfrm>
            <a:custGeom>
              <a:avLst/>
              <a:gdLst/>
              <a:ahLst/>
              <a:cxnLst/>
              <a:rect l="0" t="0" r="r" b="b"/>
              <a:pathLst>
                <a:path w="132039" h="914" fill="none">
                  <a:moveTo>
                    <a:pt x="0" y="0"/>
                  </a:moveTo>
                  <a:lnTo>
                    <a:pt x="132039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path 412"/>
            <p:cNvSpPr/>
            <p:nvPr/>
          </p:nvSpPr>
          <p:spPr>
            <a:xfrm>
              <a:off x="2708087" y="9374429"/>
              <a:ext cx="90343" cy="914"/>
            </a:xfrm>
            <a:custGeom>
              <a:avLst/>
              <a:gdLst/>
              <a:ahLst/>
              <a:cxnLst/>
              <a:rect l="0" t="0" r="r" b="b"/>
              <a:pathLst>
                <a:path w="90343" h="914" fill="none">
                  <a:moveTo>
                    <a:pt x="0" y="0"/>
                  </a:moveTo>
                  <a:lnTo>
                    <a:pt x="90343" y="0"/>
                  </a:lnTo>
                </a:path>
              </a:pathLst>
            </a:custGeom>
            <a:noFill/>
            <a:ln w="2084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6" name="Inference unseen subject / fMRI monitor / Brain"/>
          <p:cNvGrpSpPr/>
          <p:nvPr/>
        </p:nvGrpSpPr>
        <p:grpSpPr>
          <a:xfrm>
            <a:off x="2274859" y="8992210"/>
            <a:ext cx="439066" cy="493271"/>
            <a:chOff x="2274859" y="8992210"/>
            <a:chExt cx="439066" cy="493271"/>
          </a:xfrm>
        </p:grpSpPr>
        <p:sp>
          <p:nvSpPr>
            <p:cNvPr id="457" name="path 413"/>
            <p:cNvSpPr/>
            <p:nvPr/>
          </p:nvSpPr>
          <p:spPr>
            <a:xfrm>
              <a:off x="2274859" y="8992210"/>
              <a:ext cx="439066" cy="493271"/>
            </a:xfrm>
            <a:custGeom>
              <a:avLst/>
              <a:gdLst/>
              <a:ahLst/>
              <a:cxnLst/>
              <a:rect l="0" t="0" r="r" b="b"/>
              <a:pathLst>
                <a:path w="439066" h="493271">
                  <a:moveTo>
                    <a:pt x="216823" y="32523"/>
                  </a:moveTo>
                  <a:cubicBezTo>
                    <a:pt x="178879" y="0"/>
                    <a:pt x="140935" y="21682"/>
                    <a:pt x="124673" y="54206"/>
                  </a:cubicBezTo>
                  <a:cubicBezTo>
                    <a:pt x="81308" y="43365"/>
                    <a:pt x="59626" y="75888"/>
                    <a:pt x="59626" y="113832"/>
                  </a:cubicBezTo>
                  <a:cubicBezTo>
                    <a:pt x="21682" y="124673"/>
                    <a:pt x="16262" y="168037"/>
                    <a:pt x="32523" y="195140"/>
                  </a:cubicBezTo>
                  <a:cubicBezTo>
                    <a:pt x="0" y="227664"/>
                    <a:pt x="5421" y="276449"/>
                    <a:pt x="32523" y="298131"/>
                  </a:cubicBezTo>
                  <a:cubicBezTo>
                    <a:pt x="10841" y="341495"/>
                    <a:pt x="32523" y="384860"/>
                    <a:pt x="70467" y="395701"/>
                  </a:cubicBezTo>
                  <a:cubicBezTo>
                    <a:pt x="75888" y="444486"/>
                    <a:pt x="119252" y="466168"/>
                    <a:pt x="146355" y="444486"/>
                  </a:cubicBezTo>
                  <a:cubicBezTo>
                    <a:pt x="168037" y="493271"/>
                    <a:pt x="216823" y="477010"/>
                    <a:pt x="227664" y="439066"/>
                  </a:cubicBezTo>
                  <a:cubicBezTo>
                    <a:pt x="243925" y="482430"/>
                    <a:pt x="298131" y="477010"/>
                    <a:pt x="319813" y="433645"/>
                  </a:cubicBezTo>
                  <a:cubicBezTo>
                    <a:pt x="368598" y="433645"/>
                    <a:pt x="395701" y="395701"/>
                    <a:pt x="390281" y="357757"/>
                  </a:cubicBezTo>
                  <a:cubicBezTo>
                    <a:pt x="428224" y="336075"/>
                    <a:pt x="433645" y="281869"/>
                    <a:pt x="406542" y="249346"/>
                  </a:cubicBezTo>
                  <a:cubicBezTo>
                    <a:pt x="439066" y="195140"/>
                    <a:pt x="406542" y="151776"/>
                    <a:pt x="374019" y="146355"/>
                  </a:cubicBezTo>
                  <a:cubicBezTo>
                    <a:pt x="379439" y="92150"/>
                    <a:pt x="341495" y="70467"/>
                    <a:pt x="314393" y="70467"/>
                  </a:cubicBezTo>
                  <a:cubicBezTo>
                    <a:pt x="303552" y="27103"/>
                    <a:pt x="265608" y="10841"/>
                    <a:pt x="233084" y="37944"/>
                  </a:cubicBezTo>
                  <a:cubicBezTo>
                    <a:pt x="227664" y="37944"/>
                    <a:pt x="222243" y="32523"/>
                    <a:pt x="216823" y="32523"/>
                  </a:cubicBezTo>
                  <a:close/>
                </a:path>
              </a:pathLst>
            </a:custGeom>
            <a:solidFill>
              <a:srgbClr val="f8b8a5">
                <a:alpha val="100000"/>
              </a:srgbClr>
            </a:solidFill>
            <a:ln w="2168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ath 414"/>
            <p:cNvSpPr/>
            <p:nvPr/>
          </p:nvSpPr>
          <p:spPr>
            <a:xfrm>
              <a:off x="2459158" y="9040995"/>
              <a:ext cx="43365" cy="417383"/>
            </a:xfrm>
            <a:custGeom>
              <a:avLst/>
              <a:gdLst/>
              <a:ahLst/>
              <a:cxnLst/>
              <a:rect l="0" t="0" r="r" b="b"/>
              <a:pathLst>
                <a:path w="43365" h="417383" fill="none">
                  <a:moveTo>
                    <a:pt x="43365" y="0"/>
                  </a:moveTo>
                  <a:lnTo>
                    <a:pt x="43365" y="357757"/>
                  </a:lnTo>
                  <a:cubicBezTo>
                    <a:pt x="43365" y="401122"/>
                    <a:pt x="21682" y="417383"/>
                    <a:pt x="0" y="417383"/>
                  </a:cubicBezTo>
                </a:path>
              </a:pathLst>
            </a:custGeom>
            <a:noFill/>
            <a:ln w="2059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path 415"/>
            <p:cNvSpPr/>
            <p:nvPr/>
          </p:nvSpPr>
          <p:spPr>
            <a:xfrm>
              <a:off x="2399532" y="9051836"/>
              <a:ext cx="27103" cy="65047"/>
            </a:xfrm>
            <a:custGeom>
              <a:avLst/>
              <a:gdLst/>
              <a:ahLst/>
              <a:cxnLst/>
              <a:rect l="0" t="0" r="r" b="b"/>
              <a:pathLst>
                <a:path w="27103" h="65047" fill="none">
                  <a:moveTo>
                    <a:pt x="10841" y="0"/>
                  </a:moveTo>
                  <a:cubicBezTo>
                    <a:pt x="0" y="32523"/>
                    <a:pt x="27103" y="37944"/>
                    <a:pt x="27103" y="65047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path 416"/>
            <p:cNvSpPr/>
            <p:nvPr/>
          </p:nvSpPr>
          <p:spPr>
            <a:xfrm>
              <a:off x="2350747" y="9095200"/>
              <a:ext cx="59626" cy="54206"/>
            </a:xfrm>
            <a:custGeom>
              <a:avLst/>
              <a:gdLst/>
              <a:ahLst/>
              <a:cxnLst/>
              <a:rect l="0" t="0" r="r" b="b"/>
              <a:pathLst>
                <a:path w="59626" h="54206" fill="none">
                  <a:moveTo>
                    <a:pt x="0" y="21682"/>
                  </a:moveTo>
                  <a:cubicBezTo>
                    <a:pt x="48785" y="0"/>
                    <a:pt x="59626" y="32523"/>
                    <a:pt x="43365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ath 417"/>
            <p:cNvSpPr/>
            <p:nvPr/>
          </p:nvSpPr>
          <p:spPr>
            <a:xfrm>
              <a:off x="2367009" y="9143985"/>
              <a:ext cx="65047" cy="48785"/>
            </a:xfrm>
            <a:custGeom>
              <a:avLst/>
              <a:gdLst/>
              <a:ahLst/>
              <a:cxnLst/>
              <a:rect l="0" t="0" r="r" b="b"/>
              <a:pathLst>
                <a:path w="65047" h="48785" fill="none">
                  <a:moveTo>
                    <a:pt x="0" y="27103"/>
                  </a:moveTo>
                  <a:cubicBezTo>
                    <a:pt x="32523" y="48785"/>
                    <a:pt x="65047" y="27103"/>
                    <a:pt x="59626" y="0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path 418"/>
            <p:cNvSpPr/>
            <p:nvPr/>
          </p:nvSpPr>
          <p:spPr>
            <a:xfrm>
              <a:off x="2312803" y="9187350"/>
              <a:ext cx="65047" cy="59626"/>
            </a:xfrm>
            <a:custGeom>
              <a:avLst/>
              <a:gdLst/>
              <a:ahLst/>
              <a:cxnLst/>
              <a:rect l="0" t="0" r="r" b="b"/>
              <a:pathLst>
                <a:path w="65047" h="59626" fill="none">
                  <a:moveTo>
                    <a:pt x="0" y="21682"/>
                  </a:moveTo>
                  <a:cubicBezTo>
                    <a:pt x="43365" y="0"/>
                    <a:pt x="65047" y="32523"/>
                    <a:pt x="65047" y="5962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path 419"/>
            <p:cNvSpPr/>
            <p:nvPr/>
          </p:nvSpPr>
          <p:spPr>
            <a:xfrm>
              <a:off x="2377850" y="9236135"/>
              <a:ext cx="70467" cy="54206"/>
            </a:xfrm>
            <a:custGeom>
              <a:avLst/>
              <a:gdLst/>
              <a:ahLst/>
              <a:cxnLst/>
              <a:rect l="0" t="0" r="r" b="b"/>
              <a:pathLst>
                <a:path w="70467" h="54206" fill="none">
                  <a:moveTo>
                    <a:pt x="0" y="21682"/>
                  </a:moveTo>
                  <a:cubicBezTo>
                    <a:pt x="21682" y="54206"/>
                    <a:pt x="65047" y="32523"/>
                    <a:pt x="70467" y="0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path 420"/>
            <p:cNvSpPr/>
            <p:nvPr/>
          </p:nvSpPr>
          <p:spPr>
            <a:xfrm>
              <a:off x="2334485" y="9284920"/>
              <a:ext cx="65047" cy="59626"/>
            </a:xfrm>
            <a:custGeom>
              <a:avLst/>
              <a:gdLst/>
              <a:ahLst/>
              <a:cxnLst/>
              <a:rect l="0" t="0" r="r" b="b"/>
              <a:pathLst>
                <a:path w="65047" h="59626" fill="none">
                  <a:moveTo>
                    <a:pt x="0" y="32523"/>
                  </a:moveTo>
                  <a:cubicBezTo>
                    <a:pt x="32523" y="0"/>
                    <a:pt x="65047" y="27103"/>
                    <a:pt x="59626" y="5962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path 421"/>
            <p:cNvSpPr/>
            <p:nvPr/>
          </p:nvSpPr>
          <p:spPr>
            <a:xfrm>
              <a:off x="2415794" y="9355387"/>
              <a:ext cx="43365" cy="54206"/>
            </a:xfrm>
            <a:custGeom>
              <a:avLst/>
              <a:gdLst/>
              <a:ahLst/>
              <a:cxnLst/>
              <a:rect l="0" t="0" r="r" b="b"/>
              <a:pathLst>
                <a:path w="43365" h="54206" fill="none">
                  <a:moveTo>
                    <a:pt x="0" y="10841"/>
                  </a:moveTo>
                  <a:cubicBezTo>
                    <a:pt x="43365" y="0"/>
                    <a:pt x="43365" y="32523"/>
                    <a:pt x="21682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path 422"/>
            <p:cNvSpPr/>
            <p:nvPr/>
          </p:nvSpPr>
          <p:spPr>
            <a:xfrm>
              <a:off x="2448317" y="9176509"/>
              <a:ext cx="48785" cy="32523"/>
            </a:xfrm>
            <a:custGeom>
              <a:avLst/>
              <a:gdLst/>
              <a:ahLst/>
              <a:cxnLst/>
              <a:rect l="0" t="0" r="r" b="b"/>
              <a:pathLst>
                <a:path w="48785" h="32523" fill="none">
                  <a:moveTo>
                    <a:pt x="0" y="27103"/>
                  </a:moveTo>
                  <a:cubicBezTo>
                    <a:pt x="37944" y="32523"/>
                    <a:pt x="48785" y="16262"/>
                    <a:pt x="48785" y="0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path 423"/>
            <p:cNvSpPr/>
            <p:nvPr/>
          </p:nvSpPr>
          <p:spPr>
            <a:xfrm>
              <a:off x="2540467" y="9062677"/>
              <a:ext cx="43365" cy="48785"/>
            </a:xfrm>
            <a:custGeom>
              <a:avLst/>
              <a:gdLst/>
              <a:ahLst/>
              <a:cxnLst/>
              <a:rect l="0" t="0" r="r" b="b"/>
              <a:pathLst>
                <a:path w="43365" h="48785" fill="none">
                  <a:moveTo>
                    <a:pt x="16262" y="0"/>
                  </a:moveTo>
                  <a:cubicBezTo>
                    <a:pt x="0" y="27103"/>
                    <a:pt x="16262" y="48785"/>
                    <a:pt x="43365" y="48785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path 424"/>
            <p:cNvSpPr/>
            <p:nvPr/>
          </p:nvSpPr>
          <p:spPr>
            <a:xfrm>
              <a:off x="2545887" y="9122303"/>
              <a:ext cx="48785" cy="54206"/>
            </a:xfrm>
            <a:custGeom>
              <a:avLst/>
              <a:gdLst/>
              <a:ahLst/>
              <a:cxnLst/>
              <a:rect l="0" t="0" r="r" b="b"/>
              <a:pathLst>
                <a:path w="48785" h="54206" fill="none">
                  <a:moveTo>
                    <a:pt x="48785" y="21682"/>
                  </a:moveTo>
                  <a:cubicBezTo>
                    <a:pt x="16262" y="0"/>
                    <a:pt x="0" y="21682"/>
                    <a:pt x="5421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path 425"/>
            <p:cNvSpPr/>
            <p:nvPr/>
          </p:nvSpPr>
          <p:spPr>
            <a:xfrm>
              <a:off x="2572990" y="9176509"/>
              <a:ext cx="59626" cy="54206"/>
            </a:xfrm>
            <a:custGeom>
              <a:avLst/>
              <a:gdLst/>
              <a:ahLst/>
              <a:cxnLst/>
              <a:rect l="0" t="0" r="r" b="b"/>
              <a:pathLst>
                <a:path w="59626" h="54206" fill="none">
                  <a:moveTo>
                    <a:pt x="59626" y="10841"/>
                  </a:moveTo>
                  <a:cubicBezTo>
                    <a:pt x="21682" y="0"/>
                    <a:pt x="0" y="32523"/>
                    <a:pt x="21682" y="5420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ath 426"/>
            <p:cNvSpPr/>
            <p:nvPr/>
          </p:nvSpPr>
          <p:spPr>
            <a:xfrm>
              <a:off x="2524205" y="9230714"/>
              <a:ext cx="59626" cy="37944"/>
            </a:xfrm>
            <a:custGeom>
              <a:avLst/>
              <a:gdLst/>
              <a:ahLst/>
              <a:cxnLst/>
              <a:rect l="0" t="0" r="r" b="b"/>
              <a:pathLst>
                <a:path w="59626" h="37944" fill="none">
                  <a:moveTo>
                    <a:pt x="0" y="0"/>
                  </a:moveTo>
                  <a:cubicBezTo>
                    <a:pt x="21682" y="32523"/>
                    <a:pt x="48785" y="16262"/>
                    <a:pt x="59626" y="37944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ath 427"/>
            <p:cNvSpPr/>
            <p:nvPr/>
          </p:nvSpPr>
          <p:spPr>
            <a:xfrm>
              <a:off x="2610934" y="9263238"/>
              <a:ext cx="48785" cy="59626"/>
            </a:xfrm>
            <a:custGeom>
              <a:avLst/>
              <a:gdLst/>
              <a:ahLst/>
              <a:cxnLst/>
              <a:rect l="0" t="0" r="r" b="b"/>
              <a:pathLst>
                <a:path w="48785" h="59626" fill="none">
                  <a:moveTo>
                    <a:pt x="48785" y="16262"/>
                  </a:moveTo>
                  <a:cubicBezTo>
                    <a:pt x="16262" y="0"/>
                    <a:pt x="0" y="32523"/>
                    <a:pt x="21682" y="59626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ath 428"/>
            <p:cNvSpPr/>
            <p:nvPr/>
          </p:nvSpPr>
          <p:spPr>
            <a:xfrm>
              <a:off x="2540467" y="9301182"/>
              <a:ext cx="32523" cy="48785"/>
            </a:xfrm>
            <a:custGeom>
              <a:avLst/>
              <a:gdLst/>
              <a:ahLst/>
              <a:cxnLst/>
              <a:rect l="0" t="0" r="r" b="b"/>
              <a:pathLst>
                <a:path w="32523" h="48785" fill="none">
                  <a:moveTo>
                    <a:pt x="0" y="10841"/>
                  </a:moveTo>
                  <a:cubicBezTo>
                    <a:pt x="21682" y="0"/>
                    <a:pt x="32523" y="16262"/>
                    <a:pt x="27103" y="48785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ath 429"/>
            <p:cNvSpPr/>
            <p:nvPr/>
          </p:nvSpPr>
          <p:spPr>
            <a:xfrm>
              <a:off x="2535046" y="9360808"/>
              <a:ext cx="65047" cy="43365"/>
            </a:xfrm>
            <a:custGeom>
              <a:avLst/>
              <a:gdLst/>
              <a:ahLst/>
              <a:cxnLst/>
              <a:rect l="0" t="0" r="r" b="b"/>
              <a:pathLst>
                <a:path w="65047" h="43365" fill="none">
                  <a:moveTo>
                    <a:pt x="65047" y="21682"/>
                  </a:moveTo>
                  <a:cubicBezTo>
                    <a:pt x="27103" y="0"/>
                    <a:pt x="0" y="16262"/>
                    <a:pt x="5421" y="43365"/>
                  </a:cubicBezTo>
                </a:path>
              </a:pathLst>
            </a:custGeom>
            <a:noFill/>
            <a:ln w="18430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4" name="Inference unseen subject / fMRI monitor"/>
          <p:cNvGrpSpPr/>
          <p:nvPr/>
        </p:nvGrpSpPr>
        <p:grpSpPr>
          <a:xfrm>
            <a:off x="2784531" y="8804575"/>
            <a:ext cx="465612" cy="396118"/>
            <a:chOff x="2784531" y="8804575"/>
            <a:chExt cx="465612" cy="396118"/>
          </a:xfrm>
        </p:grpSpPr>
        <p:sp>
          <p:nvSpPr>
            <p:cNvPr id="475" name="path 430"/>
            <p:cNvSpPr/>
            <p:nvPr/>
          </p:nvSpPr>
          <p:spPr>
            <a:xfrm>
              <a:off x="2784531" y="8804575"/>
              <a:ext cx="465612" cy="396118"/>
            </a:xfrm>
            <a:custGeom>
              <a:avLst/>
              <a:gdLst/>
              <a:ahLst/>
              <a:cxnLst/>
              <a:rect l="0" t="0" r="r" b="b"/>
              <a:pathLst>
                <a:path w="465612" h="396118" fill="none">
                  <a:moveTo>
                    <a:pt x="0" y="271028"/>
                  </a:moveTo>
                  <a:lnTo>
                    <a:pt x="159837" y="271028"/>
                  </a:lnTo>
                  <a:lnTo>
                    <a:pt x="215433" y="0"/>
                  </a:lnTo>
                  <a:lnTo>
                    <a:pt x="284927" y="396118"/>
                  </a:lnTo>
                  <a:lnTo>
                    <a:pt x="361371" y="201534"/>
                  </a:lnTo>
                  <a:lnTo>
                    <a:pt x="403068" y="271028"/>
                  </a:lnTo>
                  <a:lnTo>
                    <a:pt x="465612" y="271028"/>
                  </a:lnTo>
                </a:path>
              </a:pathLst>
            </a:custGeom>
            <a:noFill/>
            <a:ln w="21543" cap="rnd" cmpd="sng">
              <a:solidFill>
                <a:srgbClr val="4b4b4a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6" name="Inference unseen subject"/>
          <p:cNvGrpSpPr/>
          <p:nvPr/>
        </p:nvGrpSpPr>
        <p:grpSpPr>
          <a:xfrm>
            <a:off x="2130666" y="9723364"/>
            <a:ext cx="895883" cy="408188"/>
            <a:chOff x="2130666" y="9723364"/>
            <a:chExt cx="895883" cy="408188"/>
          </a:xfrm>
        </p:grpSpPr>
        <p:sp>
          <p:nvSpPr>
            <p:cNvPr id="477" name="fMRI"/>
            <p:cNvSpPr txBox="1"/>
            <p:nvPr/>
          </p:nvSpPr>
          <p:spPr>
            <a:xfrm>
              <a:off x="2130666" y="9723364"/>
              <a:ext cx="895883" cy="408188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92" b="1" i="0" dirty="0">
                  <a:solidFill>
                    <a:srgbClr val="777674"/>
                  </a:solidFill>
                  <a:latin typeface="Liberation Serif"/>
                </a:rPr>
                <a:t>fMRI</a:t>
              </a:r>
            </a:p>
          </p:txBody>
        </p:sp>
      </p:grpSp>
      <p:grpSp>
        <p:nvGrpSpPr>
          <p:cNvPr id="478" name="Inference encoder / Outlined flow arrow"/>
          <p:cNvGrpSpPr/>
          <p:nvPr/>
        </p:nvGrpSpPr>
        <p:grpSpPr>
          <a:xfrm>
            <a:off x="3035808" y="9345168"/>
            <a:ext cx="868680" cy="621792"/>
            <a:chOff x="3035808" y="9345168"/>
            <a:chExt cx="868680" cy="621792"/>
          </a:xfrm>
        </p:grpSpPr>
        <p:sp>
          <p:nvSpPr>
            <p:cNvPr id="479" name="path 432"/>
            <p:cNvSpPr/>
            <p:nvPr/>
          </p:nvSpPr>
          <p:spPr>
            <a:xfrm>
              <a:off x="3035808" y="9345168"/>
              <a:ext cx="868680" cy="621792"/>
            </a:xfrm>
            <a:custGeom>
              <a:avLst/>
              <a:gdLst/>
              <a:ahLst/>
              <a:cxnLst/>
              <a:rect l="0" t="0" r="r" b="b"/>
              <a:pathLst>
                <a:path w="868680" h="621792">
                  <a:moveTo>
                    <a:pt x="100584" y="146304"/>
                  </a:moveTo>
                  <a:lnTo>
                    <a:pt x="457200" y="146304"/>
                  </a:lnTo>
                  <a:lnTo>
                    <a:pt x="457200" y="82296"/>
                  </a:lnTo>
                  <a:quadBezTo>
                    <a:pt x="457200" y="0"/>
                    <a:pt x="548640" y="73152"/>
                  </a:quadBezTo>
                  <a:lnTo>
                    <a:pt x="804672" y="256032"/>
                  </a:lnTo>
                  <a:quadBezTo>
                    <a:pt x="868680" y="310896"/>
                    <a:pt x="804672" y="365760"/>
                  </a:quadBezTo>
                  <a:lnTo>
                    <a:pt x="548640" y="548640"/>
                  </a:lnTo>
                  <a:quadBezTo>
                    <a:pt x="457200" y="621792"/>
                    <a:pt x="457200" y="539496"/>
                  </a:quadBezTo>
                  <a:lnTo>
                    <a:pt x="457200" y="475488"/>
                  </a:lnTo>
                  <a:lnTo>
                    <a:pt x="100584" y="475488"/>
                  </a:lnTo>
                  <a:quadBezTo>
                    <a:pt x="0" y="475488"/>
                    <a:pt x="0" y="374904"/>
                  </a:quadBezTo>
                  <a:lnTo>
                    <a:pt x="0" y="246888"/>
                  </a:lnTo>
                  <a:quadBezTo>
                    <a:pt x="0" y="146304"/>
                    <a:pt x="100584" y="146304"/>
                  </a:quadBez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27432" cap="rnd" cmpd="sng">
              <a:solidFill>
                <a:srgbClr val="161a1b"/>
              </a:solidFill>
              <a:round/>
            </a:ln>
            <a:effectLst>
              <a:outerShdw blurRad="73152" dist="71417" dir="3011666" algn="tl" rotWithShape="0">
                <a:srgbClr val="444444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path 433"/>
            <p:cNvSpPr/>
            <p:nvPr/>
          </p:nvSpPr>
          <p:spPr>
            <a:xfrm>
              <a:off x="3099816" y="9454896"/>
              <a:ext cx="704088" cy="402336"/>
            </a:xfrm>
            <a:custGeom>
              <a:avLst/>
              <a:gdLst/>
              <a:ahLst/>
              <a:cxnLst/>
              <a:rect l="0" t="0" r="r" b="b"/>
              <a:pathLst>
                <a:path w="704088" h="402336">
                  <a:moveTo>
                    <a:pt x="36576" y="100584"/>
                  </a:moveTo>
                  <a:lnTo>
                    <a:pt x="457200" y="100584"/>
                  </a:lnTo>
                  <a:lnTo>
                    <a:pt x="457200" y="0"/>
                  </a:lnTo>
                  <a:lnTo>
                    <a:pt x="704088" y="201168"/>
                  </a:lnTo>
                  <a:lnTo>
                    <a:pt x="457200" y="402336"/>
                  </a:lnTo>
                  <a:lnTo>
                    <a:pt x="457200" y="301752"/>
                  </a:lnTo>
                  <a:lnTo>
                    <a:pt x="36576" y="301752"/>
                  </a:lnTo>
                  <a:quadBezTo>
                    <a:pt x="0" y="301752"/>
                    <a:pt x="0" y="265176"/>
                  </a:quadBezTo>
                  <a:lnTo>
                    <a:pt x="0" y="137160"/>
                  </a:lnTo>
                  <a:quadBezTo>
                    <a:pt x="0" y="100584"/>
                    <a:pt x="36576" y="100584"/>
                  </a:quadBezTo>
                  <a:close/>
                </a:path>
              </a:pathLst>
            </a:custGeom>
            <a:solidFill>
              <a:srgbClr val="e9ebec">
                <a:alpha val="100000"/>
              </a:srgbClr>
            </a:solidFill>
            <a:ln w="22860" cap="rnd" cmpd="sng">
              <a:solidFill>
                <a:srgbClr val="161a1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1" name="Inference encoder"/>
          <p:cNvGrpSpPr/>
          <p:nvPr/>
        </p:nvGrpSpPr>
        <p:grpSpPr>
          <a:xfrm>
            <a:off x="4032504" y="8823960"/>
            <a:ext cx="1252728" cy="1636776"/>
            <a:chOff x="4032504" y="8823960"/>
            <a:chExt cx="1252728" cy="1636776"/>
          </a:xfrm>
        </p:grpSpPr>
        <p:sp>
          <p:nvSpPr>
            <p:cNvPr id="482" name="path 434"/>
            <p:cNvSpPr/>
            <p:nvPr/>
          </p:nvSpPr>
          <p:spPr>
            <a:xfrm>
              <a:off x="4032504" y="8823960"/>
              <a:ext cx="1252728" cy="1636776"/>
            </a:xfrm>
            <a:custGeom>
              <a:avLst/>
              <a:gdLst/>
              <a:ahLst/>
              <a:cxnLst/>
              <a:rect l="0" t="0" r="r" b="b"/>
              <a:pathLst>
                <a:path w="1252728" h="1636776">
                  <a:moveTo>
                    <a:pt x="0" y="0"/>
                  </a:moveTo>
                  <a:lnTo>
                    <a:pt x="1252728" y="347472"/>
                  </a:lnTo>
                  <a:lnTo>
                    <a:pt x="1252728" y="1298448"/>
                  </a:lnTo>
                  <a:lnTo>
                    <a:pt x="0" y="1636776"/>
                  </a:lnTo>
                  <a:close/>
                </a:path>
              </a:pathLst>
            </a:custGeom>
            <a:gradFill rotWithShape="1">
              <a:gsLst>
                <a:gs pos="0">
                  <a:srgbClr val="e0e9eb"/>
                </a:gs>
                <a:gs pos="100000">
                  <a:srgbClr val="dce7e9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4c9eae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ViT"/>
            <p:cNvSpPr txBox="1"/>
            <p:nvPr/>
          </p:nvSpPr>
          <p:spPr>
            <a:xfrm>
              <a:off x="4339628" y="9385493"/>
              <a:ext cx="720776" cy="464881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952" b="1" i="0" dirty="0">
                  <a:solidFill>
                    <a:srgbClr val="0B0B0B"/>
                  </a:solidFill>
                  <a:latin typeface="Liberation Serif"/>
                </a:rPr>
                <a:t>ViT</a:t>
              </a:r>
            </a:p>
          </p:txBody>
        </p:sp>
      </p:grpSp>
      <p:grpSp>
        <p:nvGrpSpPr>
          <p:cNvPr id="484" name="Inference encoder / Frozen parameters"/>
          <p:cNvGrpSpPr/>
          <p:nvPr/>
        </p:nvGrpSpPr>
        <p:grpSpPr>
          <a:xfrm>
            <a:off x="4117403" y="8897844"/>
            <a:ext cx="378842" cy="437448"/>
            <a:chOff x="4117403" y="8897844"/>
            <a:chExt cx="378842" cy="437448"/>
          </a:xfrm>
        </p:grpSpPr>
        <p:sp>
          <p:nvSpPr>
            <p:cNvPr id="485" name="path 436"/>
            <p:cNvSpPr/>
            <p:nvPr/>
          </p:nvSpPr>
          <p:spPr>
            <a:xfrm>
              <a:off x="4306824" y="8897844"/>
              <a:ext cx="914" cy="218724"/>
            </a:xfrm>
            <a:custGeom>
              <a:avLst/>
              <a:gdLst/>
              <a:ahLst/>
              <a:cxnLst/>
              <a:rect l="0" t="0" r="r" b="b"/>
              <a:pathLst>
                <a:path w="914" h="218724" fill="none">
                  <a:moveTo>
                    <a:pt x="0" y="218724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6" name="path 437"/>
            <p:cNvSpPr/>
            <p:nvPr/>
          </p:nvSpPr>
          <p:spPr>
            <a:xfrm>
              <a:off x="4256349" y="9015618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50475" y="0"/>
                  </a:moveTo>
                  <a:lnTo>
                    <a:pt x="0" y="42062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path 438"/>
            <p:cNvSpPr/>
            <p:nvPr/>
          </p:nvSpPr>
          <p:spPr>
            <a:xfrm>
              <a:off x="4306824" y="9015618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0" y="0"/>
                  </a:moveTo>
                  <a:lnTo>
                    <a:pt x="50475" y="42062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path 439"/>
            <p:cNvSpPr/>
            <p:nvPr/>
          </p:nvSpPr>
          <p:spPr>
            <a:xfrm>
              <a:off x="4264762" y="8948318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42062" y="0"/>
                  </a:moveTo>
                  <a:lnTo>
                    <a:pt x="0" y="42062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path 440"/>
            <p:cNvSpPr/>
            <p:nvPr/>
          </p:nvSpPr>
          <p:spPr>
            <a:xfrm>
              <a:off x="4306824" y="8948318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0" y="0"/>
                  </a:moveTo>
                  <a:lnTo>
                    <a:pt x="42062" y="42062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0" name="path 441"/>
            <p:cNvSpPr/>
            <p:nvPr/>
          </p:nvSpPr>
          <p:spPr>
            <a:xfrm>
              <a:off x="4306824" y="9007206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0" y="109362"/>
                  </a:moveTo>
                  <a:lnTo>
                    <a:pt x="189421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1" name="path 442"/>
            <p:cNvSpPr/>
            <p:nvPr/>
          </p:nvSpPr>
          <p:spPr>
            <a:xfrm>
              <a:off x="4332585" y="9043412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61665" y="22681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path 443"/>
            <p:cNvSpPr/>
            <p:nvPr/>
          </p:nvSpPr>
          <p:spPr>
            <a:xfrm>
              <a:off x="4383059" y="9066093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11190" y="0"/>
                  </a:moveTo>
                  <a:lnTo>
                    <a:pt x="0" y="64744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path 444"/>
            <p:cNvSpPr/>
            <p:nvPr/>
          </p:nvSpPr>
          <p:spPr>
            <a:xfrm>
              <a:off x="4395074" y="9017047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57458" y="15396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path 445"/>
            <p:cNvSpPr/>
            <p:nvPr/>
          </p:nvSpPr>
          <p:spPr>
            <a:xfrm>
              <a:off x="4437137" y="9032443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15396" y="0"/>
                  </a:moveTo>
                  <a:lnTo>
                    <a:pt x="0" y="57458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5" name="path 446"/>
            <p:cNvSpPr/>
            <p:nvPr/>
          </p:nvSpPr>
          <p:spPr>
            <a:xfrm>
              <a:off x="4306824" y="9116568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0" y="0"/>
                  </a:moveTo>
                  <a:lnTo>
                    <a:pt x="189421" y="109362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6" name="path 447"/>
            <p:cNvSpPr/>
            <p:nvPr/>
          </p:nvSpPr>
          <p:spPr>
            <a:xfrm>
              <a:off x="4383059" y="9102299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11190" y="64744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path 448"/>
            <p:cNvSpPr/>
            <p:nvPr/>
          </p:nvSpPr>
          <p:spPr>
            <a:xfrm>
              <a:off x="4332585" y="9167043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61665" y="0"/>
                  </a:moveTo>
                  <a:lnTo>
                    <a:pt x="0" y="22681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path 449"/>
            <p:cNvSpPr/>
            <p:nvPr/>
          </p:nvSpPr>
          <p:spPr>
            <a:xfrm>
              <a:off x="4437137" y="9143234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15396" y="57458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path 450"/>
            <p:cNvSpPr/>
            <p:nvPr/>
          </p:nvSpPr>
          <p:spPr>
            <a:xfrm>
              <a:off x="4395074" y="9200693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57458" y="0"/>
                  </a:moveTo>
                  <a:lnTo>
                    <a:pt x="0" y="15396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0" name="path 451"/>
            <p:cNvSpPr/>
            <p:nvPr/>
          </p:nvSpPr>
          <p:spPr>
            <a:xfrm>
              <a:off x="4306824" y="9116568"/>
              <a:ext cx="914" cy="218724"/>
            </a:xfrm>
            <a:custGeom>
              <a:avLst/>
              <a:gdLst/>
              <a:ahLst/>
              <a:cxnLst/>
              <a:rect l="0" t="0" r="r" b="b"/>
              <a:pathLst>
                <a:path w="914" h="218724" fill="none">
                  <a:moveTo>
                    <a:pt x="0" y="0"/>
                  </a:moveTo>
                  <a:lnTo>
                    <a:pt x="0" y="218724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path 452"/>
            <p:cNvSpPr/>
            <p:nvPr/>
          </p:nvSpPr>
          <p:spPr>
            <a:xfrm>
              <a:off x="4306824" y="9175455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0" y="42062"/>
                  </a:moveTo>
                  <a:lnTo>
                    <a:pt x="50475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path 453"/>
            <p:cNvSpPr/>
            <p:nvPr/>
          </p:nvSpPr>
          <p:spPr>
            <a:xfrm>
              <a:off x="4256349" y="9175455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50475" y="42062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path 454"/>
            <p:cNvSpPr/>
            <p:nvPr/>
          </p:nvSpPr>
          <p:spPr>
            <a:xfrm>
              <a:off x="4306824" y="9242755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0" y="42062"/>
                  </a:moveTo>
                  <a:lnTo>
                    <a:pt x="42062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path 455"/>
            <p:cNvSpPr/>
            <p:nvPr/>
          </p:nvSpPr>
          <p:spPr>
            <a:xfrm>
              <a:off x="4264762" y="9242755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42062" y="42062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path 456"/>
            <p:cNvSpPr/>
            <p:nvPr/>
          </p:nvSpPr>
          <p:spPr>
            <a:xfrm>
              <a:off x="4117403" y="9116568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189421" y="0"/>
                  </a:moveTo>
                  <a:lnTo>
                    <a:pt x="0" y="109362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path 457"/>
            <p:cNvSpPr/>
            <p:nvPr/>
          </p:nvSpPr>
          <p:spPr>
            <a:xfrm>
              <a:off x="4219399" y="9167043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0" y="0"/>
                  </a:moveTo>
                  <a:lnTo>
                    <a:pt x="61665" y="22681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path 458"/>
            <p:cNvSpPr/>
            <p:nvPr/>
          </p:nvSpPr>
          <p:spPr>
            <a:xfrm>
              <a:off x="4219399" y="9102299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0" y="64744"/>
                  </a:moveTo>
                  <a:lnTo>
                    <a:pt x="1119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path 459"/>
            <p:cNvSpPr/>
            <p:nvPr/>
          </p:nvSpPr>
          <p:spPr>
            <a:xfrm>
              <a:off x="4161116" y="9200693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0" y="0"/>
                  </a:moveTo>
                  <a:lnTo>
                    <a:pt x="57458" y="15396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path 460"/>
            <p:cNvSpPr/>
            <p:nvPr/>
          </p:nvSpPr>
          <p:spPr>
            <a:xfrm>
              <a:off x="4161116" y="9143234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0" y="57458"/>
                  </a:moveTo>
                  <a:lnTo>
                    <a:pt x="15396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path 461"/>
            <p:cNvSpPr/>
            <p:nvPr/>
          </p:nvSpPr>
          <p:spPr>
            <a:xfrm>
              <a:off x="4117403" y="9007206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189421" y="109362"/>
                  </a:moveTo>
                  <a:lnTo>
                    <a:pt x="0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path 462"/>
            <p:cNvSpPr/>
            <p:nvPr/>
          </p:nvSpPr>
          <p:spPr>
            <a:xfrm>
              <a:off x="4219399" y="9066093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0" y="0"/>
                  </a:moveTo>
                  <a:lnTo>
                    <a:pt x="11190" y="64744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path 463"/>
            <p:cNvSpPr/>
            <p:nvPr/>
          </p:nvSpPr>
          <p:spPr>
            <a:xfrm>
              <a:off x="4219399" y="9043412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0" y="22681"/>
                  </a:moveTo>
                  <a:lnTo>
                    <a:pt x="61665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path 464"/>
            <p:cNvSpPr/>
            <p:nvPr/>
          </p:nvSpPr>
          <p:spPr>
            <a:xfrm>
              <a:off x="4161116" y="9032443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0" y="0"/>
                  </a:moveTo>
                  <a:lnTo>
                    <a:pt x="15396" y="57458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path 465"/>
            <p:cNvSpPr/>
            <p:nvPr/>
          </p:nvSpPr>
          <p:spPr>
            <a:xfrm>
              <a:off x="4161116" y="9017047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0" y="15396"/>
                  </a:moveTo>
                  <a:lnTo>
                    <a:pt x="57458" y="0"/>
                  </a:lnTo>
                </a:path>
              </a:pathLst>
            </a:custGeom>
            <a:noFill/>
            <a:ln w="50475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path 466"/>
            <p:cNvSpPr/>
            <p:nvPr/>
          </p:nvSpPr>
          <p:spPr>
            <a:xfrm>
              <a:off x="4306824" y="8897844"/>
              <a:ext cx="914" cy="218724"/>
            </a:xfrm>
            <a:custGeom>
              <a:avLst/>
              <a:gdLst/>
              <a:ahLst/>
              <a:cxnLst/>
              <a:rect l="0" t="0" r="r" b="b"/>
              <a:pathLst>
                <a:path w="914" h="218724" fill="none">
                  <a:moveTo>
                    <a:pt x="0" y="218724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path 467"/>
            <p:cNvSpPr/>
            <p:nvPr/>
          </p:nvSpPr>
          <p:spPr>
            <a:xfrm>
              <a:off x="4256349" y="9015618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50475" y="0"/>
                  </a:moveTo>
                  <a:lnTo>
                    <a:pt x="0" y="42062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path 468"/>
            <p:cNvSpPr/>
            <p:nvPr/>
          </p:nvSpPr>
          <p:spPr>
            <a:xfrm>
              <a:off x="4306824" y="9015618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0" y="0"/>
                  </a:moveTo>
                  <a:lnTo>
                    <a:pt x="50475" y="42062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path 469"/>
            <p:cNvSpPr/>
            <p:nvPr/>
          </p:nvSpPr>
          <p:spPr>
            <a:xfrm>
              <a:off x="4264762" y="8948318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42062" y="0"/>
                  </a:moveTo>
                  <a:lnTo>
                    <a:pt x="0" y="42062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path 470"/>
            <p:cNvSpPr/>
            <p:nvPr/>
          </p:nvSpPr>
          <p:spPr>
            <a:xfrm>
              <a:off x="4306824" y="8948318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0" y="0"/>
                  </a:moveTo>
                  <a:lnTo>
                    <a:pt x="42062" y="42062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path 471"/>
            <p:cNvSpPr/>
            <p:nvPr/>
          </p:nvSpPr>
          <p:spPr>
            <a:xfrm>
              <a:off x="4306824" y="9007206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0" y="109362"/>
                  </a:moveTo>
                  <a:lnTo>
                    <a:pt x="189421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path 472"/>
            <p:cNvSpPr/>
            <p:nvPr/>
          </p:nvSpPr>
          <p:spPr>
            <a:xfrm>
              <a:off x="4332585" y="9043412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61665" y="22681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path 473"/>
            <p:cNvSpPr/>
            <p:nvPr/>
          </p:nvSpPr>
          <p:spPr>
            <a:xfrm>
              <a:off x="4383059" y="9066093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11190" y="0"/>
                  </a:moveTo>
                  <a:lnTo>
                    <a:pt x="0" y="64744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path 474"/>
            <p:cNvSpPr/>
            <p:nvPr/>
          </p:nvSpPr>
          <p:spPr>
            <a:xfrm>
              <a:off x="4395074" y="9017047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57458" y="15396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path 475"/>
            <p:cNvSpPr/>
            <p:nvPr/>
          </p:nvSpPr>
          <p:spPr>
            <a:xfrm>
              <a:off x="4437137" y="9032443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15396" y="0"/>
                  </a:moveTo>
                  <a:lnTo>
                    <a:pt x="0" y="57458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5" name="path 476"/>
            <p:cNvSpPr/>
            <p:nvPr/>
          </p:nvSpPr>
          <p:spPr>
            <a:xfrm>
              <a:off x="4306824" y="9116568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0" y="0"/>
                  </a:moveTo>
                  <a:lnTo>
                    <a:pt x="189421" y="109362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6" name="path 477"/>
            <p:cNvSpPr/>
            <p:nvPr/>
          </p:nvSpPr>
          <p:spPr>
            <a:xfrm>
              <a:off x="4383059" y="9102299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11190" y="64744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path 478"/>
            <p:cNvSpPr/>
            <p:nvPr/>
          </p:nvSpPr>
          <p:spPr>
            <a:xfrm>
              <a:off x="4332585" y="9167043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61665" y="0"/>
                  </a:moveTo>
                  <a:lnTo>
                    <a:pt x="0" y="22681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path 479"/>
            <p:cNvSpPr/>
            <p:nvPr/>
          </p:nvSpPr>
          <p:spPr>
            <a:xfrm>
              <a:off x="4437137" y="9143234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15396" y="57458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path 480"/>
            <p:cNvSpPr/>
            <p:nvPr/>
          </p:nvSpPr>
          <p:spPr>
            <a:xfrm>
              <a:off x="4395074" y="9200693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57458" y="0"/>
                  </a:moveTo>
                  <a:lnTo>
                    <a:pt x="0" y="15396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0" name="path 481"/>
            <p:cNvSpPr/>
            <p:nvPr/>
          </p:nvSpPr>
          <p:spPr>
            <a:xfrm>
              <a:off x="4306824" y="9116568"/>
              <a:ext cx="914" cy="218724"/>
            </a:xfrm>
            <a:custGeom>
              <a:avLst/>
              <a:gdLst/>
              <a:ahLst/>
              <a:cxnLst/>
              <a:rect l="0" t="0" r="r" b="b"/>
              <a:pathLst>
                <a:path w="914" h="218724" fill="none">
                  <a:moveTo>
                    <a:pt x="0" y="0"/>
                  </a:moveTo>
                  <a:lnTo>
                    <a:pt x="0" y="218724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path 482"/>
            <p:cNvSpPr/>
            <p:nvPr/>
          </p:nvSpPr>
          <p:spPr>
            <a:xfrm>
              <a:off x="4306824" y="9175455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0" y="42062"/>
                  </a:moveTo>
                  <a:lnTo>
                    <a:pt x="50475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path 483"/>
            <p:cNvSpPr/>
            <p:nvPr/>
          </p:nvSpPr>
          <p:spPr>
            <a:xfrm>
              <a:off x="4256349" y="9175455"/>
              <a:ext cx="50475" cy="42062"/>
            </a:xfrm>
            <a:custGeom>
              <a:avLst/>
              <a:gdLst/>
              <a:ahLst/>
              <a:cxnLst/>
              <a:rect l="0" t="0" r="r" b="b"/>
              <a:pathLst>
                <a:path w="50475" h="42062" fill="none">
                  <a:moveTo>
                    <a:pt x="50475" y="42062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path 484"/>
            <p:cNvSpPr/>
            <p:nvPr/>
          </p:nvSpPr>
          <p:spPr>
            <a:xfrm>
              <a:off x="4306824" y="9242755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0" y="42062"/>
                  </a:moveTo>
                  <a:lnTo>
                    <a:pt x="42062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path 485"/>
            <p:cNvSpPr/>
            <p:nvPr/>
          </p:nvSpPr>
          <p:spPr>
            <a:xfrm>
              <a:off x="4264762" y="9242755"/>
              <a:ext cx="42062" cy="42062"/>
            </a:xfrm>
            <a:custGeom>
              <a:avLst/>
              <a:gdLst/>
              <a:ahLst/>
              <a:cxnLst/>
              <a:rect l="0" t="0" r="r" b="b"/>
              <a:pathLst>
                <a:path w="42062" h="42062" fill="none">
                  <a:moveTo>
                    <a:pt x="42062" y="42062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path 486"/>
            <p:cNvSpPr/>
            <p:nvPr/>
          </p:nvSpPr>
          <p:spPr>
            <a:xfrm>
              <a:off x="4117403" y="9116568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189421" y="0"/>
                  </a:moveTo>
                  <a:lnTo>
                    <a:pt x="0" y="109362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path 487"/>
            <p:cNvSpPr/>
            <p:nvPr/>
          </p:nvSpPr>
          <p:spPr>
            <a:xfrm>
              <a:off x="4219399" y="9167043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0" y="0"/>
                  </a:moveTo>
                  <a:lnTo>
                    <a:pt x="61665" y="22681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path 488"/>
            <p:cNvSpPr/>
            <p:nvPr/>
          </p:nvSpPr>
          <p:spPr>
            <a:xfrm>
              <a:off x="4219399" y="9102299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0" y="64744"/>
                  </a:moveTo>
                  <a:lnTo>
                    <a:pt x="1119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path 489"/>
            <p:cNvSpPr/>
            <p:nvPr/>
          </p:nvSpPr>
          <p:spPr>
            <a:xfrm>
              <a:off x="4161116" y="9200693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0" y="0"/>
                  </a:moveTo>
                  <a:lnTo>
                    <a:pt x="57458" y="15396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path 490"/>
            <p:cNvSpPr/>
            <p:nvPr/>
          </p:nvSpPr>
          <p:spPr>
            <a:xfrm>
              <a:off x="4161116" y="9143234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0" y="57458"/>
                  </a:moveTo>
                  <a:lnTo>
                    <a:pt x="15396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0" name="path 491"/>
            <p:cNvSpPr/>
            <p:nvPr/>
          </p:nvSpPr>
          <p:spPr>
            <a:xfrm>
              <a:off x="4117403" y="9007206"/>
              <a:ext cx="189421" cy="109362"/>
            </a:xfrm>
            <a:custGeom>
              <a:avLst/>
              <a:gdLst/>
              <a:ahLst/>
              <a:cxnLst/>
              <a:rect l="0" t="0" r="r" b="b"/>
              <a:pathLst>
                <a:path w="189421" h="109362" fill="none">
                  <a:moveTo>
                    <a:pt x="189421" y="109362"/>
                  </a:moveTo>
                  <a:lnTo>
                    <a:pt x="0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1" name="path 492"/>
            <p:cNvSpPr/>
            <p:nvPr/>
          </p:nvSpPr>
          <p:spPr>
            <a:xfrm>
              <a:off x="4219399" y="9066093"/>
              <a:ext cx="11190" cy="64744"/>
            </a:xfrm>
            <a:custGeom>
              <a:avLst/>
              <a:gdLst/>
              <a:ahLst/>
              <a:cxnLst/>
              <a:rect l="0" t="0" r="r" b="b"/>
              <a:pathLst>
                <a:path w="11190" h="64744" fill="none">
                  <a:moveTo>
                    <a:pt x="0" y="0"/>
                  </a:moveTo>
                  <a:lnTo>
                    <a:pt x="11190" y="64744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path 493"/>
            <p:cNvSpPr/>
            <p:nvPr/>
          </p:nvSpPr>
          <p:spPr>
            <a:xfrm>
              <a:off x="4219399" y="9043412"/>
              <a:ext cx="61665" cy="22681"/>
            </a:xfrm>
            <a:custGeom>
              <a:avLst/>
              <a:gdLst/>
              <a:ahLst/>
              <a:cxnLst/>
              <a:rect l="0" t="0" r="r" b="b"/>
              <a:pathLst>
                <a:path w="61665" h="22681" fill="none">
                  <a:moveTo>
                    <a:pt x="0" y="22681"/>
                  </a:moveTo>
                  <a:lnTo>
                    <a:pt x="61665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path 494"/>
            <p:cNvSpPr/>
            <p:nvPr/>
          </p:nvSpPr>
          <p:spPr>
            <a:xfrm>
              <a:off x="4161116" y="9032443"/>
              <a:ext cx="15396" cy="57458"/>
            </a:xfrm>
            <a:custGeom>
              <a:avLst/>
              <a:gdLst/>
              <a:ahLst/>
              <a:cxnLst/>
              <a:rect l="0" t="0" r="r" b="b"/>
              <a:pathLst>
                <a:path w="15396" h="57458" fill="none">
                  <a:moveTo>
                    <a:pt x="0" y="0"/>
                  </a:moveTo>
                  <a:lnTo>
                    <a:pt x="15396" y="57458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path 495"/>
            <p:cNvSpPr/>
            <p:nvPr/>
          </p:nvSpPr>
          <p:spPr>
            <a:xfrm>
              <a:off x="4161116" y="9017047"/>
              <a:ext cx="57458" cy="15396"/>
            </a:xfrm>
            <a:custGeom>
              <a:avLst/>
              <a:gdLst/>
              <a:ahLst/>
              <a:cxnLst/>
              <a:rect l="0" t="0" r="r" b="b"/>
              <a:pathLst>
                <a:path w="57458" h="15396" fill="none">
                  <a:moveTo>
                    <a:pt x="0" y="15396"/>
                  </a:moveTo>
                  <a:lnTo>
                    <a:pt x="57458" y="0"/>
                  </a:lnTo>
                </a:path>
              </a:pathLst>
            </a:custGeom>
            <a:noFill/>
            <a:ln w="22714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Inference encoder"/>
          <p:cNvGrpSpPr/>
          <p:nvPr/>
        </p:nvGrpSpPr>
        <p:grpSpPr>
          <a:xfrm>
            <a:off x="5504688" y="8754923"/>
            <a:ext cx="919958" cy="552411"/>
            <a:chOff x="5504688" y="8754923"/>
            <a:chExt cx="919958" cy="552411"/>
          </a:xfrm>
        </p:grpSpPr>
        <p:sp>
          <p:nvSpPr>
            <p:cNvPr id="546" name="ℱ"/>
            <p:cNvSpPr txBox="1"/>
            <p:nvPr/>
          </p:nvSpPr>
          <p:spPr>
            <a:xfrm>
              <a:off x="5504688" y="8754923"/>
              <a:ext cx="481703" cy="5102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240" b="0" i="0" dirty="0">
                  <a:solidFill>
                    <a:srgbClr val="0B0B0B"/>
                  </a:solidFill>
                  <a:latin typeface="Latin Modern Math"/>
                </a:rPr>
                <a:t>ℱ</a:t>
              </a:r>
            </a:p>
          </p:txBody>
        </p:sp>
        <p:sp>
          <p:nvSpPr>
            <p:cNvPr id="547" name="i"/>
            <p:cNvSpPr txBox="1"/>
            <p:nvPr/>
          </p:nvSpPr>
          <p:spPr>
            <a:xfrm>
              <a:off x="5792724" y="8955272"/>
              <a:ext cx="188481" cy="3520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5" b="0" i="1" dirty="0">
                  <a:solidFill>
                    <a:srgbClr val="0B0B0B"/>
                  </a:solidFill>
                  <a:latin typeface="Liberation Serif"/>
                </a:rPr>
                <a:t>i</a:t>
              </a:r>
            </a:p>
          </p:txBody>
        </p:sp>
        <p:sp>
          <p:nvSpPr>
            <p:cNvPr id="548" name="(·)"/>
            <p:cNvSpPr txBox="1"/>
            <p:nvPr/>
          </p:nvSpPr>
          <p:spPr>
            <a:xfrm>
              <a:off x="5903824" y="8754923"/>
              <a:ext cx="520822" cy="5102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240" b="0" i="0" dirty="0">
                  <a:solidFill>
                    <a:srgbClr val="0B0B0B"/>
                  </a:solidFill>
                  <a:latin typeface="Liberation Serif"/>
                </a:rPr>
                <a:t>(·)</a:t>
              </a:r>
            </a:p>
          </p:txBody>
        </p:sp>
      </p:grpSp>
      <p:grpSp>
        <p:nvGrpSpPr>
          <p:cNvPr id="549" name="Inference encoder / Outlined flow arrow"/>
          <p:cNvGrpSpPr/>
          <p:nvPr/>
        </p:nvGrpSpPr>
        <p:grpSpPr>
          <a:xfrm>
            <a:off x="5513832" y="9345168"/>
            <a:ext cx="877824" cy="621792"/>
            <a:chOff x="5513832" y="9345168"/>
            <a:chExt cx="877824" cy="621792"/>
          </a:xfrm>
        </p:grpSpPr>
        <p:sp>
          <p:nvSpPr>
            <p:cNvPr id="550" name="path 499"/>
            <p:cNvSpPr/>
            <p:nvPr/>
          </p:nvSpPr>
          <p:spPr>
            <a:xfrm>
              <a:off x="5513832" y="9345168"/>
              <a:ext cx="877824" cy="621792"/>
            </a:xfrm>
            <a:custGeom>
              <a:avLst/>
              <a:gdLst/>
              <a:ahLst/>
              <a:cxnLst/>
              <a:rect l="0" t="0" r="r" b="b"/>
              <a:pathLst>
                <a:path w="877824" h="621792">
                  <a:moveTo>
                    <a:pt x="100584" y="146304"/>
                  </a:moveTo>
                  <a:lnTo>
                    <a:pt x="466344" y="146304"/>
                  </a:lnTo>
                  <a:lnTo>
                    <a:pt x="466344" y="82296"/>
                  </a:lnTo>
                  <a:quadBezTo>
                    <a:pt x="466344" y="0"/>
                    <a:pt x="557784" y="73152"/>
                  </a:quadBezTo>
                  <a:lnTo>
                    <a:pt x="813816" y="256032"/>
                  </a:lnTo>
                  <a:quadBezTo>
                    <a:pt x="877824" y="310896"/>
                    <a:pt x="813816" y="365760"/>
                  </a:quadBezTo>
                  <a:lnTo>
                    <a:pt x="557784" y="548640"/>
                  </a:lnTo>
                  <a:quadBezTo>
                    <a:pt x="466344" y="621792"/>
                    <a:pt x="466344" y="539496"/>
                  </a:quadBezTo>
                  <a:lnTo>
                    <a:pt x="466344" y="475488"/>
                  </a:lnTo>
                  <a:lnTo>
                    <a:pt x="100584" y="475488"/>
                  </a:lnTo>
                  <a:quadBezTo>
                    <a:pt x="0" y="475488"/>
                    <a:pt x="0" y="374904"/>
                  </a:quadBezTo>
                  <a:lnTo>
                    <a:pt x="0" y="246888"/>
                  </a:lnTo>
                  <a:quadBezTo>
                    <a:pt x="0" y="146304"/>
                    <a:pt x="100584" y="146304"/>
                  </a:quadBez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27432" cap="rnd" cmpd="sng">
              <a:solidFill>
                <a:srgbClr val="161a1b"/>
              </a:solidFill>
              <a:round/>
            </a:ln>
            <a:effectLst>
              <a:outerShdw blurRad="73152" dist="71417" dir="3011666" algn="tl" rotWithShape="0">
                <a:srgbClr val="444444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path 500"/>
            <p:cNvSpPr/>
            <p:nvPr/>
          </p:nvSpPr>
          <p:spPr>
            <a:xfrm>
              <a:off x="5577840" y="9454896"/>
              <a:ext cx="713232" cy="402336"/>
            </a:xfrm>
            <a:custGeom>
              <a:avLst/>
              <a:gdLst/>
              <a:ahLst/>
              <a:cxnLst/>
              <a:rect l="0" t="0" r="r" b="b"/>
              <a:pathLst>
                <a:path w="713232" h="402336">
                  <a:moveTo>
                    <a:pt x="36576" y="100584"/>
                  </a:moveTo>
                  <a:lnTo>
                    <a:pt x="466344" y="100584"/>
                  </a:lnTo>
                  <a:lnTo>
                    <a:pt x="466344" y="0"/>
                  </a:lnTo>
                  <a:lnTo>
                    <a:pt x="713232" y="201168"/>
                  </a:lnTo>
                  <a:lnTo>
                    <a:pt x="466344" y="402336"/>
                  </a:lnTo>
                  <a:lnTo>
                    <a:pt x="466344" y="301752"/>
                  </a:lnTo>
                  <a:lnTo>
                    <a:pt x="36576" y="301752"/>
                  </a:lnTo>
                  <a:quadBezTo>
                    <a:pt x="0" y="301752"/>
                    <a:pt x="0" y="265176"/>
                  </a:quadBezTo>
                  <a:lnTo>
                    <a:pt x="0" y="137160"/>
                  </a:lnTo>
                  <a:quadBezTo>
                    <a:pt x="0" y="100584"/>
                    <a:pt x="36576" y="100584"/>
                  </a:quadBezTo>
                  <a:close/>
                </a:path>
              </a:pathLst>
            </a:custGeom>
            <a:solidFill>
              <a:srgbClr val="e9ebec">
                <a:alpha val="100000"/>
              </a:srgbClr>
            </a:solidFill>
            <a:ln w="22860" cap="rnd" cmpd="sng">
              <a:solidFill>
                <a:srgbClr val="161a1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2" name="Inference vision projector"/>
          <p:cNvGrpSpPr/>
          <p:nvPr/>
        </p:nvGrpSpPr>
        <p:grpSpPr>
          <a:xfrm>
            <a:off x="6574536" y="8535467"/>
            <a:ext cx="1993392" cy="1577797"/>
            <a:chOff x="6574536" y="8535467"/>
            <a:chExt cx="1993392" cy="1577797"/>
          </a:xfrm>
        </p:grpSpPr>
        <p:sp>
          <p:nvSpPr>
            <p:cNvPr id="553" name="path 501"/>
            <p:cNvSpPr/>
            <p:nvPr/>
          </p:nvSpPr>
          <p:spPr>
            <a:xfrm>
              <a:off x="6574536" y="9189720"/>
              <a:ext cx="1993392" cy="923544"/>
            </a:xfrm>
            <a:custGeom>
              <a:avLst/>
              <a:gdLst/>
              <a:ahLst/>
              <a:cxnLst/>
              <a:rect l="0" t="0" r="r" b="b"/>
              <a:pathLst>
                <a:path w="1993392" h="923544">
                  <a:moveTo>
                    <a:pt x="164592" y="0"/>
                  </a:moveTo>
                  <a:lnTo>
                    <a:pt x="1828800" y="0"/>
                  </a:lnTo>
                  <a:cubicBezTo>
                    <a:pt x="1919702" y="0"/>
                    <a:pt x="1993392" y="73690"/>
                    <a:pt x="1993392" y="164592"/>
                  </a:cubicBezTo>
                  <a:lnTo>
                    <a:pt x="1993392" y="758952"/>
                  </a:lnTo>
                  <a:cubicBezTo>
                    <a:pt x="1993392" y="849854"/>
                    <a:pt x="1919702" y="923544"/>
                    <a:pt x="1828800" y="923544"/>
                  </a:cubicBezTo>
                  <a:lnTo>
                    <a:pt x="164592" y="923544"/>
                  </a:lnTo>
                  <a:cubicBezTo>
                    <a:pt x="73690" y="923544"/>
                    <a:pt x="0" y="849854"/>
                    <a:pt x="0" y="758952"/>
                  </a:cubicBezTo>
                  <a:lnTo>
                    <a:pt x="0" y="164592"/>
                  </a:lnTo>
                  <a:cubicBezTo>
                    <a:pt x="0" y="73690"/>
                    <a:pt x="73690" y="0"/>
                    <a:pt x="1645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7d6"/>
                </a:gs>
                <a:gs pos="100000">
                  <a:srgbClr val="f9e8ae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91440" dist="90521" dir="2700000" algn="tl" rotWithShape="0">
                <a:srgbClr val="d8b447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Vision"/>
            <p:cNvSpPr txBox="1"/>
            <p:nvPr/>
          </p:nvSpPr>
          <p:spPr>
            <a:xfrm>
              <a:off x="7141414" y="9229496"/>
              <a:ext cx="96936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Vision</a:t>
              </a:r>
            </a:p>
          </p:txBody>
        </p:sp>
        <p:sp>
          <p:nvSpPr>
            <p:cNvPr id="555" name="Projector"/>
            <p:cNvSpPr txBox="1"/>
            <p:nvPr/>
          </p:nvSpPr>
          <p:spPr>
            <a:xfrm>
              <a:off x="6925694" y="9595256"/>
              <a:ext cx="1400804" cy="3968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520" b="1" i="0" dirty="0">
                  <a:solidFill>
                    <a:srgbClr val="0B0B0B"/>
                  </a:solidFill>
                  <a:latin typeface="Liberation Serif"/>
                </a:rPr>
                <a:t>Projector</a:t>
              </a:r>
            </a:p>
          </p:txBody>
        </p:sp>
        <p:sp>
          <p:nvSpPr>
            <p:cNvPr id="556" name="𝒫"/>
            <p:cNvSpPr txBox="1"/>
            <p:nvPr/>
          </p:nvSpPr>
          <p:spPr>
            <a:xfrm>
              <a:off x="7114032" y="8535467"/>
              <a:ext cx="423682" cy="5102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240" b="0" i="0" dirty="0">
                  <a:solidFill>
                    <a:srgbClr val="0B0B0B"/>
                  </a:solidFill>
                  <a:latin typeface="Latin Modern Math"/>
                </a:rPr>
                <a:t>𝒫</a:t>
              </a:r>
            </a:p>
          </p:txBody>
        </p:sp>
        <p:sp>
          <p:nvSpPr>
            <p:cNvPr id="557" name="s"/>
            <p:cNvSpPr txBox="1"/>
            <p:nvPr/>
          </p:nvSpPr>
          <p:spPr>
            <a:xfrm>
              <a:off x="7402068" y="8735816"/>
              <a:ext cx="220042" cy="352062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5" b="0" i="1" dirty="0">
                  <a:solidFill>
                    <a:srgbClr val="0B0B0B"/>
                  </a:solidFill>
                  <a:latin typeface="Liberation Serif"/>
                </a:rPr>
                <a:t>s</a:t>
              </a:r>
            </a:p>
          </p:txBody>
        </p:sp>
        <p:sp>
          <p:nvSpPr>
            <p:cNvPr id="558" name="(·)"/>
            <p:cNvSpPr txBox="1"/>
            <p:nvPr/>
          </p:nvSpPr>
          <p:spPr>
            <a:xfrm>
              <a:off x="7513168" y="8535467"/>
              <a:ext cx="520822" cy="51023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3240" b="0" i="0" dirty="0">
                  <a:solidFill>
                    <a:srgbClr val="0B0B0B"/>
                  </a:solidFill>
                  <a:latin typeface="Liberation Serif"/>
                </a:rPr>
                <a:t>(·)</a:t>
              </a:r>
            </a:p>
          </p:txBody>
        </p:sp>
      </p:grpSp>
      <p:grpSp>
        <p:nvGrpSpPr>
          <p:cNvPr id="559" name="Inference vision projector / Frozen parameters"/>
          <p:cNvGrpSpPr/>
          <p:nvPr/>
        </p:nvGrpSpPr>
        <p:grpSpPr>
          <a:xfrm>
            <a:off x="8273805" y="9021105"/>
            <a:ext cx="387078" cy="446958"/>
            <a:chOff x="8273805" y="9021105"/>
            <a:chExt cx="387078" cy="446958"/>
          </a:xfrm>
        </p:grpSpPr>
        <p:sp>
          <p:nvSpPr>
            <p:cNvPr id="560" name="path 507"/>
            <p:cNvSpPr/>
            <p:nvPr/>
          </p:nvSpPr>
          <p:spPr>
            <a:xfrm>
              <a:off x="8467344" y="9021105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223479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path 508"/>
            <p:cNvSpPr/>
            <p:nvPr/>
          </p:nvSpPr>
          <p:spPr>
            <a:xfrm>
              <a:off x="8415772" y="914144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0"/>
                  </a:moveTo>
                  <a:lnTo>
                    <a:pt x="0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path 509"/>
            <p:cNvSpPr/>
            <p:nvPr/>
          </p:nvSpPr>
          <p:spPr>
            <a:xfrm>
              <a:off x="8467344" y="914144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0"/>
                  </a:moveTo>
                  <a:lnTo>
                    <a:pt x="51572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path 510"/>
            <p:cNvSpPr/>
            <p:nvPr/>
          </p:nvSpPr>
          <p:spPr>
            <a:xfrm>
              <a:off x="8424367" y="9072677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0"/>
                  </a:moveTo>
                  <a:lnTo>
                    <a:pt x="0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path 511"/>
            <p:cNvSpPr/>
            <p:nvPr/>
          </p:nvSpPr>
          <p:spPr>
            <a:xfrm>
              <a:off x="8467344" y="9072677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0"/>
                  </a:moveTo>
                  <a:lnTo>
                    <a:pt x="42977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5" name="path 512"/>
            <p:cNvSpPr/>
            <p:nvPr/>
          </p:nvSpPr>
          <p:spPr>
            <a:xfrm>
              <a:off x="8467344" y="913284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111740"/>
                  </a:moveTo>
                  <a:lnTo>
                    <a:pt x="193539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6" name="path 513"/>
            <p:cNvSpPr/>
            <p:nvPr/>
          </p:nvSpPr>
          <p:spPr>
            <a:xfrm>
              <a:off x="8493665" y="9169837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23174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path 514"/>
            <p:cNvSpPr/>
            <p:nvPr/>
          </p:nvSpPr>
          <p:spPr>
            <a:xfrm>
              <a:off x="8545237" y="9193012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0"/>
                  </a:moveTo>
                  <a:lnTo>
                    <a:pt x="0" y="6615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path 515"/>
            <p:cNvSpPr/>
            <p:nvPr/>
          </p:nvSpPr>
          <p:spPr>
            <a:xfrm>
              <a:off x="8557513" y="9142900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15731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path 516"/>
            <p:cNvSpPr/>
            <p:nvPr/>
          </p:nvSpPr>
          <p:spPr>
            <a:xfrm>
              <a:off x="8600489" y="91586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0"/>
                  </a:moveTo>
                  <a:lnTo>
                    <a:pt x="0" y="5870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0" name="path 517"/>
            <p:cNvSpPr/>
            <p:nvPr/>
          </p:nvSpPr>
          <p:spPr>
            <a:xfrm>
              <a:off x="8467344" y="924458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0"/>
                  </a:moveTo>
                  <a:lnTo>
                    <a:pt x="193539" y="11174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path 518"/>
            <p:cNvSpPr/>
            <p:nvPr/>
          </p:nvSpPr>
          <p:spPr>
            <a:xfrm>
              <a:off x="8545237" y="9230005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66151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path 519"/>
            <p:cNvSpPr/>
            <p:nvPr/>
          </p:nvSpPr>
          <p:spPr>
            <a:xfrm>
              <a:off x="8493665" y="9296156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0"/>
                  </a:moveTo>
                  <a:lnTo>
                    <a:pt x="0" y="23174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path 520"/>
            <p:cNvSpPr/>
            <p:nvPr/>
          </p:nvSpPr>
          <p:spPr>
            <a:xfrm>
              <a:off x="8600489" y="92718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5870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path 521"/>
            <p:cNvSpPr/>
            <p:nvPr/>
          </p:nvSpPr>
          <p:spPr>
            <a:xfrm>
              <a:off x="8557513" y="933053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0"/>
                  </a:moveTo>
                  <a:lnTo>
                    <a:pt x="0" y="1573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path 522"/>
            <p:cNvSpPr/>
            <p:nvPr/>
          </p:nvSpPr>
          <p:spPr>
            <a:xfrm>
              <a:off x="8467344" y="9244584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0"/>
                  </a:moveTo>
                  <a:lnTo>
                    <a:pt x="0" y="223479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6" name="path 523"/>
            <p:cNvSpPr/>
            <p:nvPr/>
          </p:nvSpPr>
          <p:spPr>
            <a:xfrm>
              <a:off x="8467344" y="9304752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42977"/>
                  </a:moveTo>
                  <a:lnTo>
                    <a:pt x="51572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path 524"/>
            <p:cNvSpPr/>
            <p:nvPr/>
          </p:nvSpPr>
          <p:spPr>
            <a:xfrm>
              <a:off x="8415772" y="9304752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4297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path 525"/>
            <p:cNvSpPr/>
            <p:nvPr/>
          </p:nvSpPr>
          <p:spPr>
            <a:xfrm>
              <a:off x="8467344" y="9373514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42977"/>
                  </a:moveTo>
                  <a:lnTo>
                    <a:pt x="42977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path 526"/>
            <p:cNvSpPr/>
            <p:nvPr/>
          </p:nvSpPr>
          <p:spPr>
            <a:xfrm>
              <a:off x="8424367" y="9373514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4297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0" name="path 527"/>
            <p:cNvSpPr/>
            <p:nvPr/>
          </p:nvSpPr>
          <p:spPr>
            <a:xfrm>
              <a:off x="8273805" y="924458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0"/>
                  </a:moveTo>
                  <a:lnTo>
                    <a:pt x="0" y="11174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1" name="path 528"/>
            <p:cNvSpPr/>
            <p:nvPr/>
          </p:nvSpPr>
          <p:spPr>
            <a:xfrm>
              <a:off x="8378018" y="9296156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0"/>
                  </a:moveTo>
                  <a:lnTo>
                    <a:pt x="63005" y="23174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path 529"/>
            <p:cNvSpPr/>
            <p:nvPr/>
          </p:nvSpPr>
          <p:spPr>
            <a:xfrm>
              <a:off x="8378018" y="9230005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66151"/>
                  </a:moveTo>
                  <a:lnTo>
                    <a:pt x="11433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path 530"/>
            <p:cNvSpPr/>
            <p:nvPr/>
          </p:nvSpPr>
          <p:spPr>
            <a:xfrm>
              <a:off x="8318468" y="933053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0"/>
                  </a:moveTo>
                  <a:lnTo>
                    <a:pt x="58707" y="1573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path 531"/>
            <p:cNvSpPr/>
            <p:nvPr/>
          </p:nvSpPr>
          <p:spPr>
            <a:xfrm>
              <a:off x="8318468" y="92718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58707"/>
                  </a:moveTo>
                  <a:lnTo>
                    <a:pt x="15731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5" name="path 532"/>
            <p:cNvSpPr/>
            <p:nvPr/>
          </p:nvSpPr>
          <p:spPr>
            <a:xfrm>
              <a:off x="8273805" y="913284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111740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6" name="path 533"/>
            <p:cNvSpPr/>
            <p:nvPr/>
          </p:nvSpPr>
          <p:spPr>
            <a:xfrm>
              <a:off x="8378018" y="9193012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0"/>
                  </a:moveTo>
                  <a:lnTo>
                    <a:pt x="11433" y="6615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path 534"/>
            <p:cNvSpPr/>
            <p:nvPr/>
          </p:nvSpPr>
          <p:spPr>
            <a:xfrm>
              <a:off x="8378018" y="9169837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23174"/>
                  </a:moveTo>
                  <a:lnTo>
                    <a:pt x="63005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path 535"/>
            <p:cNvSpPr/>
            <p:nvPr/>
          </p:nvSpPr>
          <p:spPr>
            <a:xfrm>
              <a:off x="8318468" y="91586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0"/>
                  </a:moveTo>
                  <a:lnTo>
                    <a:pt x="15731" y="5870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path 536"/>
            <p:cNvSpPr/>
            <p:nvPr/>
          </p:nvSpPr>
          <p:spPr>
            <a:xfrm>
              <a:off x="8318468" y="9142900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15731"/>
                  </a:moveTo>
                  <a:lnTo>
                    <a:pt x="58707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0" name="path 537"/>
            <p:cNvSpPr/>
            <p:nvPr/>
          </p:nvSpPr>
          <p:spPr>
            <a:xfrm>
              <a:off x="8467344" y="9021105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223479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1" name="path 538"/>
            <p:cNvSpPr/>
            <p:nvPr/>
          </p:nvSpPr>
          <p:spPr>
            <a:xfrm>
              <a:off x="8415772" y="914144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0"/>
                  </a:moveTo>
                  <a:lnTo>
                    <a:pt x="0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path 539"/>
            <p:cNvSpPr/>
            <p:nvPr/>
          </p:nvSpPr>
          <p:spPr>
            <a:xfrm>
              <a:off x="8467344" y="914144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0"/>
                  </a:moveTo>
                  <a:lnTo>
                    <a:pt x="51572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path 540"/>
            <p:cNvSpPr/>
            <p:nvPr/>
          </p:nvSpPr>
          <p:spPr>
            <a:xfrm>
              <a:off x="8424367" y="9072677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0"/>
                  </a:moveTo>
                  <a:lnTo>
                    <a:pt x="0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path 541"/>
            <p:cNvSpPr/>
            <p:nvPr/>
          </p:nvSpPr>
          <p:spPr>
            <a:xfrm>
              <a:off x="8467344" y="9072677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0"/>
                  </a:moveTo>
                  <a:lnTo>
                    <a:pt x="42977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5" name="path 542"/>
            <p:cNvSpPr/>
            <p:nvPr/>
          </p:nvSpPr>
          <p:spPr>
            <a:xfrm>
              <a:off x="8467344" y="913284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111740"/>
                  </a:moveTo>
                  <a:lnTo>
                    <a:pt x="193539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6" name="path 543"/>
            <p:cNvSpPr/>
            <p:nvPr/>
          </p:nvSpPr>
          <p:spPr>
            <a:xfrm>
              <a:off x="8493665" y="9169837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23174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path 544"/>
            <p:cNvSpPr/>
            <p:nvPr/>
          </p:nvSpPr>
          <p:spPr>
            <a:xfrm>
              <a:off x="8545237" y="9193012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0"/>
                  </a:moveTo>
                  <a:lnTo>
                    <a:pt x="0" y="6615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path 545"/>
            <p:cNvSpPr/>
            <p:nvPr/>
          </p:nvSpPr>
          <p:spPr>
            <a:xfrm>
              <a:off x="8557513" y="9142900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15731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path 546"/>
            <p:cNvSpPr/>
            <p:nvPr/>
          </p:nvSpPr>
          <p:spPr>
            <a:xfrm>
              <a:off x="8600489" y="91586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0"/>
                  </a:moveTo>
                  <a:lnTo>
                    <a:pt x="0" y="5870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0" name="path 547"/>
            <p:cNvSpPr/>
            <p:nvPr/>
          </p:nvSpPr>
          <p:spPr>
            <a:xfrm>
              <a:off x="8467344" y="924458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0"/>
                  </a:moveTo>
                  <a:lnTo>
                    <a:pt x="193539" y="11174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1" name="path 548"/>
            <p:cNvSpPr/>
            <p:nvPr/>
          </p:nvSpPr>
          <p:spPr>
            <a:xfrm>
              <a:off x="8545237" y="9230005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66151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path 549"/>
            <p:cNvSpPr/>
            <p:nvPr/>
          </p:nvSpPr>
          <p:spPr>
            <a:xfrm>
              <a:off x="8493665" y="9296156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0"/>
                  </a:moveTo>
                  <a:lnTo>
                    <a:pt x="0" y="23174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path 550"/>
            <p:cNvSpPr/>
            <p:nvPr/>
          </p:nvSpPr>
          <p:spPr>
            <a:xfrm>
              <a:off x="8600489" y="92718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5870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path 551"/>
            <p:cNvSpPr/>
            <p:nvPr/>
          </p:nvSpPr>
          <p:spPr>
            <a:xfrm>
              <a:off x="8557513" y="933053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0"/>
                  </a:moveTo>
                  <a:lnTo>
                    <a:pt x="0" y="1573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5" name="path 552"/>
            <p:cNvSpPr/>
            <p:nvPr/>
          </p:nvSpPr>
          <p:spPr>
            <a:xfrm>
              <a:off x="8467344" y="9244584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0"/>
                  </a:moveTo>
                  <a:lnTo>
                    <a:pt x="0" y="223479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6" name="path 553"/>
            <p:cNvSpPr/>
            <p:nvPr/>
          </p:nvSpPr>
          <p:spPr>
            <a:xfrm>
              <a:off x="8467344" y="9304752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42977"/>
                  </a:moveTo>
                  <a:lnTo>
                    <a:pt x="51572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path 554"/>
            <p:cNvSpPr/>
            <p:nvPr/>
          </p:nvSpPr>
          <p:spPr>
            <a:xfrm>
              <a:off x="8415772" y="9304752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4297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path 555"/>
            <p:cNvSpPr/>
            <p:nvPr/>
          </p:nvSpPr>
          <p:spPr>
            <a:xfrm>
              <a:off x="8467344" y="9373514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42977"/>
                  </a:moveTo>
                  <a:lnTo>
                    <a:pt x="42977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path 556"/>
            <p:cNvSpPr/>
            <p:nvPr/>
          </p:nvSpPr>
          <p:spPr>
            <a:xfrm>
              <a:off x="8424367" y="9373514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4297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0" name="path 557"/>
            <p:cNvSpPr/>
            <p:nvPr/>
          </p:nvSpPr>
          <p:spPr>
            <a:xfrm>
              <a:off x="8273805" y="924458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0"/>
                  </a:moveTo>
                  <a:lnTo>
                    <a:pt x="0" y="11174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1" name="path 558"/>
            <p:cNvSpPr/>
            <p:nvPr/>
          </p:nvSpPr>
          <p:spPr>
            <a:xfrm>
              <a:off x="8378018" y="9296156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0"/>
                  </a:moveTo>
                  <a:lnTo>
                    <a:pt x="63005" y="23174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path 559"/>
            <p:cNvSpPr/>
            <p:nvPr/>
          </p:nvSpPr>
          <p:spPr>
            <a:xfrm>
              <a:off x="8378018" y="9230005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66151"/>
                  </a:moveTo>
                  <a:lnTo>
                    <a:pt x="11433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path 560"/>
            <p:cNvSpPr/>
            <p:nvPr/>
          </p:nvSpPr>
          <p:spPr>
            <a:xfrm>
              <a:off x="8318468" y="933053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0"/>
                  </a:moveTo>
                  <a:lnTo>
                    <a:pt x="58707" y="1573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path 561"/>
            <p:cNvSpPr/>
            <p:nvPr/>
          </p:nvSpPr>
          <p:spPr>
            <a:xfrm>
              <a:off x="8318468" y="92718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58707"/>
                  </a:moveTo>
                  <a:lnTo>
                    <a:pt x="15731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5" name="path 562"/>
            <p:cNvSpPr/>
            <p:nvPr/>
          </p:nvSpPr>
          <p:spPr>
            <a:xfrm>
              <a:off x="8273805" y="9132844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111740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6" name="path 563"/>
            <p:cNvSpPr/>
            <p:nvPr/>
          </p:nvSpPr>
          <p:spPr>
            <a:xfrm>
              <a:off x="8378018" y="9193012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0"/>
                  </a:moveTo>
                  <a:lnTo>
                    <a:pt x="11433" y="6615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path 564"/>
            <p:cNvSpPr/>
            <p:nvPr/>
          </p:nvSpPr>
          <p:spPr>
            <a:xfrm>
              <a:off x="8378018" y="9169837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23174"/>
                  </a:moveTo>
                  <a:lnTo>
                    <a:pt x="63005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path 565"/>
            <p:cNvSpPr/>
            <p:nvPr/>
          </p:nvSpPr>
          <p:spPr>
            <a:xfrm>
              <a:off x="8318468" y="9158630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0"/>
                  </a:moveTo>
                  <a:lnTo>
                    <a:pt x="15731" y="5870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path 566"/>
            <p:cNvSpPr/>
            <p:nvPr/>
          </p:nvSpPr>
          <p:spPr>
            <a:xfrm>
              <a:off x="8318468" y="9142900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15731"/>
                  </a:moveTo>
                  <a:lnTo>
                    <a:pt x="58707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Inference vision projector / Outlined flow arrow"/>
          <p:cNvGrpSpPr/>
          <p:nvPr/>
        </p:nvGrpSpPr>
        <p:grpSpPr>
          <a:xfrm>
            <a:off x="8769096" y="9345168"/>
            <a:ext cx="868680" cy="621792"/>
            <a:chOff x="8769096" y="9345168"/>
            <a:chExt cx="868680" cy="621792"/>
          </a:xfrm>
        </p:grpSpPr>
        <p:sp>
          <p:nvSpPr>
            <p:cNvPr id="621" name="path 567"/>
            <p:cNvSpPr/>
            <p:nvPr/>
          </p:nvSpPr>
          <p:spPr>
            <a:xfrm>
              <a:off x="8769096" y="9345168"/>
              <a:ext cx="868680" cy="621792"/>
            </a:xfrm>
            <a:custGeom>
              <a:avLst/>
              <a:gdLst/>
              <a:ahLst/>
              <a:cxnLst/>
              <a:rect l="0" t="0" r="r" b="b"/>
              <a:pathLst>
                <a:path w="868680" h="621792">
                  <a:moveTo>
                    <a:pt x="100584" y="146304"/>
                  </a:moveTo>
                  <a:lnTo>
                    <a:pt x="457200" y="146304"/>
                  </a:lnTo>
                  <a:lnTo>
                    <a:pt x="457200" y="82296"/>
                  </a:lnTo>
                  <a:quadBezTo>
                    <a:pt x="457200" y="0"/>
                    <a:pt x="548640" y="73152"/>
                  </a:quadBezTo>
                  <a:lnTo>
                    <a:pt x="804672" y="256032"/>
                  </a:lnTo>
                  <a:quadBezTo>
                    <a:pt x="868680" y="310896"/>
                    <a:pt x="804672" y="365760"/>
                  </a:quadBezTo>
                  <a:lnTo>
                    <a:pt x="548640" y="548640"/>
                  </a:lnTo>
                  <a:quadBezTo>
                    <a:pt x="457200" y="621792"/>
                    <a:pt x="457200" y="539496"/>
                  </a:quadBezTo>
                  <a:lnTo>
                    <a:pt x="457200" y="475488"/>
                  </a:lnTo>
                  <a:lnTo>
                    <a:pt x="100584" y="475488"/>
                  </a:lnTo>
                  <a:quadBezTo>
                    <a:pt x="0" y="475488"/>
                    <a:pt x="0" y="374904"/>
                  </a:quadBezTo>
                  <a:lnTo>
                    <a:pt x="0" y="246888"/>
                  </a:lnTo>
                  <a:quadBezTo>
                    <a:pt x="0" y="146304"/>
                    <a:pt x="100584" y="146304"/>
                  </a:quadBez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27432" cap="rnd" cmpd="sng">
              <a:solidFill>
                <a:srgbClr val="161a1b"/>
              </a:solidFill>
              <a:round/>
            </a:ln>
            <a:effectLst>
              <a:outerShdw blurRad="73152" dist="71417" dir="3011666" algn="tl" rotWithShape="0">
                <a:srgbClr val="444444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path 568"/>
            <p:cNvSpPr/>
            <p:nvPr/>
          </p:nvSpPr>
          <p:spPr>
            <a:xfrm>
              <a:off x="8833104" y="9454896"/>
              <a:ext cx="704088" cy="402336"/>
            </a:xfrm>
            <a:custGeom>
              <a:avLst/>
              <a:gdLst/>
              <a:ahLst/>
              <a:cxnLst/>
              <a:rect l="0" t="0" r="r" b="b"/>
              <a:pathLst>
                <a:path w="704088" h="402336">
                  <a:moveTo>
                    <a:pt x="36576" y="100584"/>
                  </a:moveTo>
                  <a:lnTo>
                    <a:pt x="457200" y="100584"/>
                  </a:lnTo>
                  <a:lnTo>
                    <a:pt x="457200" y="0"/>
                  </a:lnTo>
                  <a:lnTo>
                    <a:pt x="704088" y="201168"/>
                  </a:lnTo>
                  <a:lnTo>
                    <a:pt x="457200" y="402336"/>
                  </a:lnTo>
                  <a:lnTo>
                    <a:pt x="457200" y="301752"/>
                  </a:lnTo>
                  <a:lnTo>
                    <a:pt x="36576" y="301752"/>
                  </a:lnTo>
                  <a:quadBezTo>
                    <a:pt x="0" y="301752"/>
                    <a:pt x="0" y="265176"/>
                  </a:quadBezTo>
                  <a:lnTo>
                    <a:pt x="0" y="137160"/>
                  </a:lnTo>
                  <a:quadBezTo>
                    <a:pt x="0" y="100584"/>
                    <a:pt x="36576" y="100584"/>
                  </a:quadBezTo>
                  <a:close/>
                </a:path>
              </a:pathLst>
            </a:custGeom>
            <a:solidFill>
              <a:srgbClr val="e9ebec">
                <a:alpha val="100000"/>
              </a:srgbClr>
            </a:solidFill>
            <a:ln w="22860" cap="rnd" cmpd="sng">
              <a:solidFill>
                <a:srgbClr val="161a1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3" name="Inference diffusion prior / Diffusion prior"/>
          <p:cNvGrpSpPr/>
          <p:nvPr/>
        </p:nvGrpSpPr>
        <p:grpSpPr>
          <a:xfrm>
            <a:off x="9829800" y="9345168"/>
            <a:ext cx="1956816" cy="621792"/>
            <a:chOff x="9829800" y="9345168"/>
            <a:chExt cx="1956816" cy="621792"/>
          </a:xfrm>
        </p:grpSpPr>
        <p:sp>
          <p:nvSpPr>
            <p:cNvPr id="624" name="path 569"/>
            <p:cNvSpPr/>
            <p:nvPr/>
          </p:nvSpPr>
          <p:spPr>
            <a:xfrm>
              <a:off x="9829800" y="9345168"/>
              <a:ext cx="1956816" cy="621792"/>
            </a:xfrm>
            <a:custGeom>
              <a:avLst/>
              <a:gdLst/>
              <a:ahLst/>
              <a:cxnLst/>
              <a:rect l="0" t="0" r="r" b="b"/>
              <a:pathLst>
                <a:path w="1956816" h="621792">
                  <a:moveTo>
                    <a:pt x="109728" y="0"/>
                  </a:moveTo>
                  <a:lnTo>
                    <a:pt x="1847088" y="0"/>
                  </a:lnTo>
                  <a:cubicBezTo>
                    <a:pt x="1907689" y="0"/>
                    <a:pt x="1956816" y="49127"/>
                    <a:pt x="1956816" y="109728"/>
                  </a:cubicBezTo>
                  <a:lnTo>
                    <a:pt x="1956816" y="512064"/>
                  </a:lnTo>
                  <a:cubicBezTo>
                    <a:pt x="1956816" y="572665"/>
                    <a:pt x="1907689" y="621792"/>
                    <a:pt x="1847088" y="621792"/>
                  </a:cubicBezTo>
                  <a:lnTo>
                    <a:pt x="109728" y="621792"/>
                  </a:lnTo>
                  <a:cubicBezTo>
                    <a:pt x="49127" y="621792"/>
                    <a:pt x="0" y="572665"/>
                    <a:pt x="0" y="512064"/>
                  </a:cubicBezTo>
                  <a:lnTo>
                    <a:pt x="0" y="109728"/>
                  </a:lnTo>
                  <a:cubicBezTo>
                    <a:pt x="0" y="49127"/>
                    <a:pt x="49127" y="0"/>
                    <a:pt x="10972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ede3"/>
                </a:gs>
                <a:gs pos="100000">
                  <a:srgbClr val="fce8dd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73152" dist="77589" dir="2700000" algn="tl" rotWithShape="0">
                <a:srgbClr val="e9ab8a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5" name="path 570"/>
            <p:cNvSpPr/>
            <p:nvPr/>
          </p:nvSpPr>
          <p:spPr>
            <a:xfrm>
              <a:off x="10323576" y="9564624"/>
              <a:ext cx="320040" cy="182880"/>
            </a:xfrm>
            <a:custGeom>
              <a:avLst/>
              <a:gdLst/>
              <a:ahLst/>
              <a:cxnLst/>
              <a:rect l="0" t="0" r="r" b="b"/>
              <a:pathLst>
                <a:path w="320040" h="182880">
                  <a:moveTo>
                    <a:pt x="0" y="50292"/>
                  </a:moveTo>
                  <a:lnTo>
                    <a:pt x="173736" y="50292"/>
                  </a:lnTo>
                  <a:lnTo>
                    <a:pt x="173736" y="0"/>
                  </a:lnTo>
                  <a:lnTo>
                    <a:pt x="320040" y="91440"/>
                  </a:lnTo>
                  <a:lnTo>
                    <a:pt x="173736" y="182880"/>
                  </a:lnTo>
                  <a:lnTo>
                    <a:pt x="173736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7ae77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6" name="path 571"/>
            <p:cNvSpPr/>
            <p:nvPr/>
          </p:nvSpPr>
          <p:spPr>
            <a:xfrm>
              <a:off x="9985248" y="94914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329184" h="329184">
                  <a:moveTo>
                    <a:pt x="329184" y="164592"/>
                  </a:moveTo>
                  <a:cubicBezTo>
                    <a:pt x="329184" y="255494"/>
                    <a:pt x="255494" y="329184"/>
                    <a:pt x="164592" y="329184"/>
                  </a:cubicBezTo>
                  <a:cubicBezTo>
                    <a:pt x="73690" y="329184"/>
                    <a:pt x="0" y="255494"/>
                    <a:pt x="0" y="164592"/>
                  </a:cubicBezTo>
                  <a:cubicBezTo>
                    <a:pt x="0" y="73690"/>
                    <a:pt x="73690" y="0"/>
                    <a:pt x="164592" y="0"/>
                  </a:cubicBezTo>
                  <a:cubicBezTo>
                    <a:pt x="255494" y="0"/>
                    <a:pt x="329184" y="73690"/>
                    <a:pt x="329184" y="164592"/>
                  </a:cubicBezTo>
                  <a:close/>
                </a:path>
              </a:pathLst>
            </a:custGeom>
            <a:solidFill>
              <a:srgbClr val="ffdf55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path 572"/>
            <p:cNvSpPr/>
            <p:nvPr/>
          </p:nvSpPr>
          <p:spPr>
            <a:xfrm>
              <a:off x="10981944" y="9564624"/>
              <a:ext cx="320040" cy="182880"/>
            </a:xfrm>
            <a:custGeom>
              <a:avLst/>
              <a:gdLst/>
              <a:ahLst/>
              <a:cxnLst/>
              <a:rect l="0" t="0" r="r" b="b"/>
              <a:pathLst>
                <a:path w="320040" h="182880">
                  <a:moveTo>
                    <a:pt x="0" y="50292"/>
                  </a:moveTo>
                  <a:lnTo>
                    <a:pt x="173736" y="50292"/>
                  </a:lnTo>
                  <a:lnTo>
                    <a:pt x="173736" y="0"/>
                  </a:lnTo>
                  <a:lnTo>
                    <a:pt x="320040" y="91440"/>
                  </a:lnTo>
                  <a:lnTo>
                    <a:pt x="173736" y="182880"/>
                  </a:lnTo>
                  <a:lnTo>
                    <a:pt x="173736" y="132588"/>
                  </a:lnTo>
                  <a:lnTo>
                    <a:pt x="0" y="132588"/>
                  </a:lnTo>
                  <a:close/>
                </a:path>
              </a:pathLst>
            </a:custGeom>
            <a:solidFill>
              <a:srgbClr val="fb802c">
                <a:alpha val="100000"/>
              </a:srgbClr>
            </a:solidFill>
            <a:ln w="0" cap="rnd" cmpd="sng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path 573"/>
            <p:cNvSpPr/>
            <p:nvPr/>
          </p:nvSpPr>
          <p:spPr>
            <a:xfrm>
              <a:off x="10643616" y="94914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329184" h="329184">
                  <a:moveTo>
                    <a:pt x="329184" y="164592"/>
                  </a:moveTo>
                  <a:cubicBezTo>
                    <a:pt x="329184" y="255494"/>
                    <a:pt x="255494" y="329184"/>
                    <a:pt x="164592" y="329184"/>
                  </a:cubicBezTo>
                  <a:cubicBezTo>
                    <a:pt x="73690" y="329184"/>
                    <a:pt x="0" y="255494"/>
                    <a:pt x="0" y="164592"/>
                  </a:cubicBezTo>
                  <a:cubicBezTo>
                    <a:pt x="0" y="73690"/>
                    <a:pt x="73690" y="0"/>
                    <a:pt x="164592" y="0"/>
                  </a:cubicBezTo>
                  <a:cubicBezTo>
                    <a:pt x="255494" y="0"/>
                    <a:pt x="329184" y="73690"/>
                    <a:pt x="329184" y="164592"/>
                  </a:cubicBezTo>
                  <a:close/>
                </a:path>
              </a:pathLst>
            </a:custGeom>
            <a:solidFill>
              <a:srgbClr val="f7ad77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path 574"/>
            <p:cNvSpPr/>
            <p:nvPr/>
          </p:nvSpPr>
          <p:spPr>
            <a:xfrm>
              <a:off x="11301984" y="94914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329184" h="329184">
                  <a:moveTo>
                    <a:pt x="329184" y="164592"/>
                  </a:moveTo>
                  <a:cubicBezTo>
                    <a:pt x="329184" y="255494"/>
                    <a:pt x="255494" y="329184"/>
                    <a:pt x="164592" y="329184"/>
                  </a:cubicBezTo>
                  <a:cubicBezTo>
                    <a:pt x="73690" y="329184"/>
                    <a:pt x="0" y="255494"/>
                    <a:pt x="0" y="164592"/>
                  </a:cubicBezTo>
                  <a:cubicBezTo>
                    <a:pt x="0" y="73690"/>
                    <a:pt x="73690" y="0"/>
                    <a:pt x="164592" y="0"/>
                  </a:cubicBezTo>
                  <a:cubicBezTo>
                    <a:pt x="255494" y="0"/>
                    <a:pt x="329184" y="73690"/>
                    <a:pt x="329184" y="164592"/>
                  </a:cubicBezTo>
                  <a:close/>
                </a:path>
              </a:pathLst>
            </a:custGeom>
            <a:solidFill>
              <a:srgbClr val="fb802c">
                <a:alpha val="100000"/>
              </a:srgbClr>
            </a:solidFill>
            <a:ln w="45720" cap="rnd" cmpd="sng">
              <a:solidFill>
                <a:srgbClr val="182f5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Inference diffusion prior / Frozen parameters"/>
          <p:cNvGrpSpPr/>
          <p:nvPr/>
        </p:nvGrpSpPr>
        <p:grpSpPr>
          <a:xfrm>
            <a:off x="11529069" y="9085113"/>
            <a:ext cx="387078" cy="446958"/>
            <a:chOff x="11529069" y="9085113"/>
            <a:chExt cx="387078" cy="446958"/>
          </a:xfrm>
        </p:grpSpPr>
        <p:sp>
          <p:nvSpPr>
            <p:cNvPr id="631" name="path 575"/>
            <p:cNvSpPr/>
            <p:nvPr/>
          </p:nvSpPr>
          <p:spPr>
            <a:xfrm>
              <a:off x="11722608" y="9085113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223479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path 576"/>
            <p:cNvSpPr/>
            <p:nvPr/>
          </p:nvSpPr>
          <p:spPr>
            <a:xfrm>
              <a:off x="11671036" y="920544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0"/>
                  </a:moveTo>
                  <a:lnTo>
                    <a:pt x="0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path 577"/>
            <p:cNvSpPr/>
            <p:nvPr/>
          </p:nvSpPr>
          <p:spPr>
            <a:xfrm>
              <a:off x="11722608" y="920544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0"/>
                  </a:moveTo>
                  <a:lnTo>
                    <a:pt x="51572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path 578"/>
            <p:cNvSpPr/>
            <p:nvPr/>
          </p:nvSpPr>
          <p:spPr>
            <a:xfrm>
              <a:off x="11679631" y="913668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0"/>
                  </a:moveTo>
                  <a:lnTo>
                    <a:pt x="0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5" name="path 579"/>
            <p:cNvSpPr/>
            <p:nvPr/>
          </p:nvSpPr>
          <p:spPr>
            <a:xfrm>
              <a:off x="11722608" y="913668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0"/>
                  </a:moveTo>
                  <a:lnTo>
                    <a:pt x="42977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6" name="path 580"/>
            <p:cNvSpPr/>
            <p:nvPr/>
          </p:nvSpPr>
          <p:spPr>
            <a:xfrm>
              <a:off x="11722608" y="919685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111740"/>
                  </a:moveTo>
                  <a:lnTo>
                    <a:pt x="193539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path 581"/>
            <p:cNvSpPr/>
            <p:nvPr/>
          </p:nvSpPr>
          <p:spPr>
            <a:xfrm>
              <a:off x="11748929" y="923384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23174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path 582"/>
            <p:cNvSpPr/>
            <p:nvPr/>
          </p:nvSpPr>
          <p:spPr>
            <a:xfrm>
              <a:off x="11800501" y="925702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0"/>
                  </a:moveTo>
                  <a:lnTo>
                    <a:pt x="0" y="6615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path 583"/>
            <p:cNvSpPr/>
            <p:nvPr/>
          </p:nvSpPr>
          <p:spPr>
            <a:xfrm>
              <a:off x="11812777" y="920690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15731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0" name="path 584"/>
            <p:cNvSpPr/>
            <p:nvPr/>
          </p:nvSpPr>
          <p:spPr>
            <a:xfrm>
              <a:off x="11855753" y="92226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0"/>
                  </a:moveTo>
                  <a:lnTo>
                    <a:pt x="0" y="5870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1" name="path 585"/>
            <p:cNvSpPr/>
            <p:nvPr/>
          </p:nvSpPr>
          <p:spPr>
            <a:xfrm>
              <a:off x="11722608" y="930859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0"/>
                  </a:moveTo>
                  <a:lnTo>
                    <a:pt x="193539" y="11174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path 586"/>
            <p:cNvSpPr/>
            <p:nvPr/>
          </p:nvSpPr>
          <p:spPr>
            <a:xfrm>
              <a:off x="11800501" y="929401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66151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path 587"/>
            <p:cNvSpPr/>
            <p:nvPr/>
          </p:nvSpPr>
          <p:spPr>
            <a:xfrm>
              <a:off x="11748929" y="936016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0"/>
                  </a:moveTo>
                  <a:lnTo>
                    <a:pt x="0" y="23174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path 588"/>
            <p:cNvSpPr/>
            <p:nvPr/>
          </p:nvSpPr>
          <p:spPr>
            <a:xfrm>
              <a:off x="11855753" y="93358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5870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5" name="path 589"/>
            <p:cNvSpPr/>
            <p:nvPr/>
          </p:nvSpPr>
          <p:spPr>
            <a:xfrm>
              <a:off x="11812777" y="939454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0"/>
                  </a:moveTo>
                  <a:lnTo>
                    <a:pt x="0" y="1573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6" name="path 590"/>
            <p:cNvSpPr/>
            <p:nvPr/>
          </p:nvSpPr>
          <p:spPr>
            <a:xfrm>
              <a:off x="11722608" y="9308592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0"/>
                  </a:moveTo>
                  <a:lnTo>
                    <a:pt x="0" y="223479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path 591"/>
            <p:cNvSpPr/>
            <p:nvPr/>
          </p:nvSpPr>
          <p:spPr>
            <a:xfrm>
              <a:off x="11722608" y="936876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42977"/>
                  </a:moveTo>
                  <a:lnTo>
                    <a:pt x="51572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path 592"/>
            <p:cNvSpPr/>
            <p:nvPr/>
          </p:nvSpPr>
          <p:spPr>
            <a:xfrm>
              <a:off x="11671036" y="936876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4297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path 593"/>
            <p:cNvSpPr/>
            <p:nvPr/>
          </p:nvSpPr>
          <p:spPr>
            <a:xfrm>
              <a:off x="11722608" y="943752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42977"/>
                  </a:moveTo>
                  <a:lnTo>
                    <a:pt x="42977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0" name="path 594"/>
            <p:cNvSpPr/>
            <p:nvPr/>
          </p:nvSpPr>
          <p:spPr>
            <a:xfrm>
              <a:off x="11679631" y="943752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4297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1" name="path 595"/>
            <p:cNvSpPr/>
            <p:nvPr/>
          </p:nvSpPr>
          <p:spPr>
            <a:xfrm>
              <a:off x="11529069" y="930859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0"/>
                  </a:moveTo>
                  <a:lnTo>
                    <a:pt x="0" y="11174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path 596"/>
            <p:cNvSpPr/>
            <p:nvPr/>
          </p:nvSpPr>
          <p:spPr>
            <a:xfrm>
              <a:off x="11633282" y="936016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0"/>
                  </a:moveTo>
                  <a:lnTo>
                    <a:pt x="63005" y="23174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path 597"/>
            <p:cNvSpPr/>
            <p:nvPr/>
          </p:nvSpPr>
          <p:spPr>
            <a:xfrm>
              <a:off x="11633282" y="929401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66151"/>
                  </a:moveTo>
                  <a:lnTo>
                    <a:pt x="11433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path 598"/>
            <p:cNvSpPr/>
            <p:nvPr/>
          </p:nvSpPr>
          <p:spPr>
            <a:xfrm>
              <a:off x="11573732" y="939454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0"/>
                  </a:moveTo>
                  <a:lnTo>
                    <a:pt x="58707" y="1573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5" name="path 599"/>
            <p:cNvSpPr/>
            <p:nvPr/>
          </p:nvSpPr>
          <p:spPr>
            <a:xfrm>
              <a:off x="11573732" y="93358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58707"/>
                  </a:moveTo>
                  <a:lnTo>
                    <a:pt x="15731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6" name="path 600"/>
            <p:cNvSpPr/>
            <p:nvPr/>
          </p:nvSpPr>
          <p:spPr>
            <a:xfrm>
              <a:off x="11529069" y="919685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111740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path 601"/>
            <p:cNvSpPr/>
            <p:nvPr/>
          </p:nvSpPr>
          <p:spPr>
            <a:xfrm>
              <a:off x="11633282" y="925702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0"/>
                  </a:moveTo>
                  <a:lnTo>
                    <a:pt x="11433" y="6615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path 602"/>
            <p:cNvSpPr/>
            <p:nvPr/>
          </p:nvSpPr>
          <p:spPr>
            <a:xfrm>
              <a:off x="11633282" y="923384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23174"/>
                  </a:moveTo>
                  <a:lnTo>
                    <a:pt x="63005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path 603"/>
            <p:cNvSpPr/>
            <p:nvPr/>
          </p:nvSpPr>
          <p:spPr>
            <a:xfrm>
              <a:off x="11573732" y="92226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0"/>
                  </a:moveTo>
                  <a:lnTo>
                    <a:pt x="15731" y="5870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0" name="path 604"/>
            <p:cNvSpPr/>
            <p:nvPr/>
          </p:nvSpPr>
          <p:spPr>
            <a:xfrm>
              <a:off x="11573732" y="920690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15731"/>
                  </a:moveTo>
                  <a:lnTo>
                    <a:pt x="58707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1" name="path 605"/>
            <p:cNvSpPr/>
            <p:nvPr/>
          </p:nvSpPr>
          <p:spPr>
            <a:xfrm>
              <a:off x="11722608" y="9085113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223479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path 606"/>
            <p:cNvSpPr/>
            <p:nvPr/>
          </p:nvSpPr>
          <p:spPr>
            <a:xfrm>
              <a:off x="11671036" y="920544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0"/>
                  </a:moveTo>
                  <a:lnTo>
                    <a:pt x="0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path 607"/>
            <p:cNvSpPr/>
            <p:nvPr/>
          </p:nvSpPr>
          <p:spPr>
            <a:xfrm>
              <a:off x="11722608" y="920544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0"/>
                  </a:moveTo>
                  <a:lnTo>
                    <a:pt x="51572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path 608"/>
            <p:cNvSpPr/>
            <p:nvPr/>
          </p:nvSpPr>
          <p:spPr>
            <a:xfrm>
              <a:off x="11679631" y="913668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0"/>
                  </a:moveTo>
                  <a:lnTo>
                    <a:pt x="0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5" name="path 609"/>
            <p:cNvSpPr/>
            <p:nvPr/>
          </p:nvSpPr>
          <p:spPr>
            <a:xfrm>
              <a:off x="11722608" y="913668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0"/>
                  </a:moveTo>
                  <a:lnTo>
                    <a:pt x="42977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6" name="path 610"/>
            <p:cNvSpPr/>
            <p:nvPr/>
          </p:nvSpPr>
          <p:spPr>
            <a:xfrm>
              <a:off x="11722608" y="919685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111740"/>
                  </a:moveTo>
                  <a:lnTo>
                    <a:pt x="193539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path 611"/>
            <p:cNvSpPr/>
            <p:nvPr/>
          </p:nvSpPr>
          <p:spPr>
            <a:xfrm>
              <a:off x="11748929" y="923384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23174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path 612"/>
            <p:cNvSpPr/>
            <p:nvPr/>
          </p:nvSpPr>
          <p:spPr>
            <a:xfrm>
              <a:off x="11800501" y="925702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0"/>
                  </a:moveTo>
                  <a:lnTo>
                    <a:pt x="0" y="6615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path 613"/>
            <p:cNvSpPr/>
            <p:nvPr/>
          </p:nvSpPr>
          <p:spPr>
            <a:xfrm>
              <a:off x="11812777" y="920690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15731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0" name="path 614"/>
            <p:cNvSpPr/>
            <p:nvPr/>
          </p:nvSpPr>
          <p:spPr>
            <a:xfrm>
              <a:off x="11855753" y="92226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0"/>
                  </a:moveTo>
                  <a:lnTo>
                    <a:pt x="0" y="5870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1" name="path 615"/>
            <p:cNvSpPr/>
            <p:nvPr/>
          </p:nvSpPr>
          <p:spPr>
            <a:xfrm>
              <a:off x="11722608" y="930859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0"/>
                  </a:moveTo>
                  <a:lnTo>
                    <a:pt x="193539" y="11174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path 616"/>
            <p:cNvSpPr/>
            <p:nvPr/>
          </p:nvSpPr>
          <p:spPr>
            <a:xfrm>
              <a:off x="11800501" y="929401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66151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path 617"/>
            <p:cNvSpPr/>
            <p:nvPr/>
          </p:nvSpPr>
          <p:spPr>
            <a:xfrm>
              <a:off x="11748929" y="936016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0"/>
                  </a:moveTo>
                  <a:lnTo>
                    <a:pt x="0" y="23174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path 618"/>
            <p:cNvSpPr/>
            <p:nvPr/>
          </p:nvSpPr>
          <p:spPr>
            <a:xfrm>
              <a:off x="11855753" y="93358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5870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5" name="path 619"/>
            <p:cNvSpPr/>
            <p:nvPr/>
          </p:nvSpPr>
          <p:spPr>
            <a:xfrm>
              <a:off x="11812777" y="939454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0"/>
                  </a:moveTo>
                  <a:lnTo>
                    <a:pt x="0" y="1573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6" name="path 620"/>
            <p:cNvSpPr/>
            <p:nvPr/>
          </p:nvSpPr>
          <p:spPr>
            <a:xfrm>
              <a:off x="11722608" y="9308592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0"/>
                  </a:moveTo>
                  <a:lnTo>
                    <a:pt x="0" y="223479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path 621"/>
            <p:cNvSpPr/>
            <p:nvPr/>
          </p:nvSpPr>
          <p:spPr>
            <a:xfrm>
              <a:off x="11722608" y="936876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42977"/>
                  </a:moveTo>
                  <a:lnTo>
                    <a:pt x="51572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path 622"/>
            <p:cNvSpPr/>
            <p:nvPr/>
          </p:nvSpPr>
          <p:spPr>
            <a:xfrm>
              <a:off x="11671036" y="936876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4297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path 623"/>
            <p:cNvSpPr/>
            <p:nvPr/>
          </p:nvSpPr>
          <p:spPr>
            <a:xfrm>
              <a:off x="11722608" y="943752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42977"/>
                  </a:moveTo>
                  <a:lnTo>
                    <a:pt x="42977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0" name="path 624"/>
            <p:cNvSpPr/>
            <p:nvPr/>
          </p:nvSpPr>
          <p:spPr>
            <a:xfrm>
              <a:off x="11679631" y="943752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4297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1" name="path 625"/>
            <p:cNvSpPr/>
            <p:nvPr/>
          </p:nvSpPr>
          <p:spPr>
            <a:xfrm>
              <a:off x="11529069" y="930859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0"/>
                  </a:moveTo>
                  <a:lnTo>
                    <a:pt x="0" y="11174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path 626"/>
            <p:cNvSpPr/>
            <p:nvPr/>
          </p:nvSpPr>
          <p:spPr>
            <a:xfrm>
              <a:off x="11633282" y="936016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0"/>
                  </a:moveTo>
                  <a:lnTo>
                    <a:pt x="63005" y="23174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path 627"/>
            <p:cNvSpPr/>
            <p:nvPr/>
          </p:nvSpPr>
          <p:spPr>
            <a:xfrm>
              <a:off x="11633282" y="929401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66151"/>
                  </a:moveTo>
                  <a:lnTo>
                    <a:pt x="11433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path 628"/>
            <p:cNvSpPr/>
            <p:nvPr/>
          </p:nvSpPr>
          <p:spPr>
            <a:xfrm>
              <a:off x="11573732" y="939454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0"/>
                  </a:moveTo>
                  <a:lnTo>
                    <a:pt x="58707" y="1573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5" name="path 629"/>
            <p:cNvSpPr/>
            <p:nvPr/>
          </p:nvSpPr>
          <p:spPr>
            <a:xfrm>
              <a:off x="11573732" y="93358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58707"/>
                  </a:moveTo>
                  <a:lnTo>
                    <a:pt x="15731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6" name="path 630"/>
            <p:cNvSpPr/>
            <p:nvPr/>
          </p:nvSpPr>
          <p:spPr>
            <a:xfrm>
              <a:off x="11529069" y="919685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111740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path 631"/>
            <p:cNvSpPr/>
            <p:nvPr/>
          </p:nvSpPr>
          <p:spPr>
            <a:xfrm>
              <a:off x="11633282" y="925702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0"/>
                  </a:moveTo>
                  <a:lnTo>
                    <a:pt x="11433" y="6615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path 632"/>
            <p:cNvSpPr/>
            <p:nvPr/>
          </p:nvSpPr>
          <p:spPr>
            <a:xfrm>
              <a:off x="11633282" y="923384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23174"/>
                  </a:moveTo>
                  <a:lnTo>
                    <a:pt x="63005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path 633"/>
            <p:cNvSpPr/>
            <p:nvPr/>
          </p:nvSpPr>
          <p:spPr>
            <a:xfrm>
              <a:off x="11573732" y="922263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0"/>
                  </a:moveTo>
                  <a:lnTo>
                    <a:pt x="15731" y="5870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0" name="path 634"/>
            <p:cNvSpPr/>
            <p:nvPr/>
          </p:nvSpPr>
          <p:spPr>
            <a:xfrm>
              <a:off x="11573732" y="920690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15731"/>
                  </a:moveTo>
                  <a:lnTo>
                    <a:pt x="58707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1" name="Inference diffusion prior"/>
          <p:cNvGrpSpPr/>
          <p:nvPr/>
        </p:nvGrpSpPr>
        <p:grpSpPr>
          <a:xfrm>
            <a:off x="9683839" y="10025299"/>
            <a:ext cx="2358466" cy="430865"/>
            <a:chOff x="9683839" y="10025299"/>
            <a:chExt cx="2358466" cy="430865"/>
          </a:xfrm>
        </p:grpSpPr>
        <p:sp>
          <p:nvSpPr>
            <p:cNvPr id="692" name="Diffusion Prior"/>
            <p:cNvSpPr txBox="1"/>
            <p:nvPr/>
          </p:nvSpPr>
          <p:spPr>
            <a:xfrm>
              <a:off x="9683839" y="10025299"/>
              <a:ext cx="2358466" cy="4308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736" b="1" i="0" dirty="0">
                  <a:solidFill>
                    <a:srgbClr val="0B0B0B"/>
                  </a:solidFill>
                  <a:latin typeface="Liberation Serif"/>
                </a:rPr>
                <a:t>Diffusion Prior</a:t>
              </a:r>
            </a:p>
          </p:txBody>
        </p:sp>
      </p:grpSp>
      <p:grpSp>
        <p:nvGrpSpPr>
          <p:cNvPr id="693" name="Inference diffusion prior / Outlined flow arrow"/>
          <p:cNvGrpSpPr/>
          <p:nvPr/>
        </p:nvGrpSpPr>
        <p:grpSpPr>
          <a:xfrm>
            <a:off x="12033504" y="9345168"/>
            <a:ext cx="868680" cy="621792"/>
            <a:chOff x="12033504" y="9345168"/>
            <a:chExt cx="868680" cy="621792"/>
          </a:xfrm>
        </p:grpSpPr>
        <p:sp>
          <p:nvSpPr>
            <p:cNvPr id="694" name="path 636"/>
            <p:cNvSpPr/>
            <p:nvPr/>
          </p:nvSpPr>
          <p:spPr>
            <a:xfrm>
              <a:off x="12033504" y="9345168"/>
              <a:ext cx="868680" cy="621792"/>
            </a:xfrm>
            <a:custGeom>
              <a:avLst/>
              <a:gdLst/>
              <a:ahLst/>
              <a:cxnLst/>
              <a:rect l="0" t="0" r="r" b="b"/>
              <a:pathLst>
                <a:path w="868680" h="621792">
                  <a:moveTo>
                    <a:pt x="100584" y="146304"/>
                  </a:moveTo>
                  <a:lnTo>
                    <a:pt x="457200" y="146304"/>
                  </a:lnTo>
                  <a:lnTo>
                    <a:pt x="457200" y="82296"/>
                  </a:lnTo>
                  <a:quadBezTo>
                    <a:pt x="457200" y="0"/>
                    <a:pt x="548640" y="73152"/>
                  </a:quadBezTo>
                  <a:lnTo>
                    <a:pt x="804672" y="256032"/>
                  </a:lnTo>
                  <a:quadBezTo>
                    <a:pt x="868680" y="310896"/>
                    <a:pt x="804672" y="365760"/>
                  </a:quadBezTo>
                  <a:lnTo>
                    <a:pt x="548640" y="548640"/>
                  </a:lnTo>
                  <a:quadBezTo>
                    <a:pt x="457200" y="621792"/>
                    <a:pt x="457200" y="539496"/>
                  </a:quadBezTo>
                  <a:lnTo>
                    <a:pt x="457200" y="475488"/>
                  </a:lnTo>
                  <a:lnTo>
                    <a:pt x="100584" y="475488"/>
                  </a:lnTo>
                  <a:quadBezTo>
                    <a:pt x="0" y="475488"/>
                    <a:pt x="0" y="374904"/>
                  </a:quadBezTo>
                  <a:lnTo>
                    <a:pt x="0" y="246888"/>
                  </a:lnTo>
                  <a:quadBezTo>
                    <a:pt x="0" y="146304"/>
                    <a:pt x="100584" y="146304"/>
                  </a:quadBez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27432" cap="rnd" cmpd="sng">
              <a:solidFill>
                <a:srgbClr val="161a1b"/>
              </a:solidFill>
              <a:round/>
            </a:ln>
            <a:effectLst>
              <a:outerShdw blurRad="73152" dist="71417" dir="3011666" algn="tl" rotWithShape="0">
                <a:srgbClr val="444444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path 637"/>
            <p:cNvSpPr/>
            <p:nvPr/>
          </p:nvSpPr>
          <p:spPr>
            <a:xfrm>
              <a:off x="12097512" y="9454896"/>
              <a:ext cx="704088" cy="402336"/>
            </a:xfrm>
            <a:custGeom>
              <a:avLst/>
              <a:gdLst/>
              <a:ahLst/>
              <a:cxnLst/>
              <a:rect l="0" t="0" r="r" b="b"/>
              <a:pathLst>
                <a:path w="704088" h="402336">
                  <a:moveTo>
                    <a:pt x="36576" y="100584"/>
                  </a:moveTo>
                  <a:lnTo>
                    <a:pt x="457200" y="100584"/>
                  </a:lnTo>
                  <a:lnTo>
                    <a:pt x="457200" y="0"/>
                  </a:lnTo>
                  <a:lnTo>
                    <a:pt x="704088" y="201168"/>
                  </a:lnTo>
                  <a:lnTo>
                    <a:pt x="457200" y="402336"/>
                  </a:lnTo>
                  <a:lnTo>
                    <a:pt x="457200" y="301752"/>
                  </a:lnTo>
                  <a:lnTo>
                    <a:pt x="36576" y="301752"/>
                  </a:lnTo>
                  <a:quadBezTo>
                    <a:pt x="0" y="301752"/>
                    <a:pt x="0" y="265176"/>
                  </a:quadBezTo>
                  <a:lnTo>
                    <a:pt x="0" y="137160"/>
                  </a:lnTo>
                  <a:quadBezTo>
                    <a:pt x="0" y="100584"/>
                    <a:pt x="36576" y="100584"/>
                  </a:quadBezTo>
                  <a:close/>
                </a:path>
              </a:pathLst>
            </a:custGeom>
            <a:solidFill>
              <a:srgbClr val="e9ebec">
                <a:alpha val="100000"/>
              </a:srgbClr>
            </a:solidFill>
            <a:ln w="22860" cap="rnd" cmpd="sng">
              <a:solidFill>
                <a:srgbClr val="161a1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6" name="Inference image reconstruction"/>
          <p:cNvGrpSpPr/>
          <p:nvPr/>
        </p:nvGrpSpPr>
        <p:grpSpPr>
          <a:xfrm>
            <a:off x="13011912" y="8823960"/>
            <a:ext cx="1152144" cy="1627632"/>
            <a:chOff x="13011912" y="8823960"/>
            <a:chExt cx="1152144" cy="1627632"/>
          </a:xfrm>
        </p:grpSpPr>
        <p:sp>
          <p:nvSpPr>
            <p:cNvPr id="697" name="path 638"/>
            <p:cNvSpPr/>
            <p:nvPr/>
          </p:nvSpPr>
          <p:spPr>
            <a:xfrm>
              <a:off x="13011912" y="8823960"/>
              <a:ext cx="1152144" cy="1627632"/>
            </a:xfrm>
            <a:custGeom>
              <a:avLst/>
              <a:gdLst/>
              <a:ahLst/>
              <a:cxnLst/>
              <a:rect l="0" t="0" r="r" b="b"/>
              <a:pathLst>
                <a:path w="1152144" h="1627632">
                  <a:moveTo>
                    <a:pt x="0" y="329184"/>
                  </a:moveTo>
                  <a:lnTo>
                    <a:pt x="1152144" y="0"/>
                  </a:lnTo>
                  <a:lnTo>
                    <a:pt x="1152144" y="1627632"/>
                  </a:lnTo>
                  <a:lnTo>
                    <a:pt x="0" y="1298448"/>
                  </a:lnTo>
                  <a:close/>
                </a:path>
              </a:pathLst>
            </a:custGeom>
            <a:gradFill rotWithShape="1">
              <a:gsLst>
                <a:gs pos="0">
                  <a:srgbClr val="fff1e6"/>
                </a:gs>
                <a:gs pos="100000">
                  <a:srgbClr val="f7e1d4"/>
                </a:gs>
              </a:gsLst>
              <a:lin ang="5400000" scaled="1"/>
            </a:gradFill>
            <a:ln w="45720" cap="rnd" cmpd="sng">
              <a:solidFill>
                <a:srgbClr val="072e3e"/>
              </a:solidFill>
              <a:round/>
            </a:ln>
            <a:effectLst>
              <a:outerShdw blurRad="73152" dist="77589" dir="2700000" algn="tl" rotWithShape="0">
                <a:srgbClr val="e9ab8a">
                  <a:alpha val="22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SDXL"/>
            <p:cNvSpPr txBox="1"/>
            <p:nvPr/>
          </p:nvSpPr>
          <p:spPr>
            <a:xfrm>
              <a:off x="13115404" y="9394363"/>
              <a:ext cx="1036601" cy="430865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736" b="1" i="0" dirty="0">
                  <a:solidFill>
                    <a:srgbClr val="0B0B0B"/>
                  </a:solidFill>
                  <a:latin typeface="Liberation Serif"/>
                </a:rPr>
                <a:t>SDXL</a:t>
              </a:r>
            </a:p>
          </p:txBody>
        </p:sp>
      </p:grpSp>
      <p:grpSp>
        <p:nvGrpSpPr>
          <p:cNvPr id="699" name="Inference image reconstruction / Frozen parameters"/>
          <p:cNvGrpSpPr/>
          <p:nvPr/>
        </p:nvGrpSpPr>
        <p:grpSpPr>
          <a:xfrm>
            <a:off x="13687053" y="8902233"/>
            <a:ext cx="387078" cy="446958"/>
            <a:chOff x="13687053" y="8902233"/>
            <a:chExt cx="387078" cy="446958"/>
          </a:xfrm>
        </p:grpSpPr>
        <p:sp>
          <p:nvSpPr>
            <p:cNvPr id="700" name="path 640"/>
            <p:cNvSpPr/>
            <p:nvPr/>
          </p:nvSpPr>
          <p:spPr>
            <a:xfrm>
              <a:off x="13880592" y="8902233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223479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path 641"/>
            <p:cNvSpPr/>
            <p:nvPr/>
          </p:nvSpPr>
          <p:spPr>
            <a:xfrm>
              <a:off x="13829020" y="902256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0"/>
                  </a:moveTo>
                  <a:lnTo>
                    <a:pt x="0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path 642"/>
            <p:cNvSpPr/>
            <p:nvPr/>
          </p:nvSpPr>
          <p:spPr>
            <a:xfrm>
              <a:off x="13880592" y="902256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0"/>
                  </a:moveTo>
                  <a:lnTo>
                    <a:pt x="51572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path 643"/>
            <p:cNvSpPr/>
            <p:nvPr/>
          </p:nvSpPr>
          <p:spPr>
            <a:xfrm>
              <a:off x="13837615" y="895380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0"/>
                  </a:moveTo>
                  <a:lnTo>
                    <a:pt x="0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path 644"/>
            <p:cNvSpPr/>
            <p:nvPr/>
          </p:nvSpPr>
          <p:spPr>
            <a:xfrm>
              <a:off x="13880592" y="895380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0"/>
                  </a:moveTo>
                  <a:lnTo>
                    <a:pt x="42977" y="4297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5" name="path 645"/>
            <p:cNvSpPr/>
            <p:nvPr/>
          </p:nvSpPr>
          <p:spPr>
            <a:xfrm>
              <a:off x="13880592" y="901397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111740"/>
                  </a:moveTo>
                  <a:lnTo>
                    <a:pt x="193539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6" name="path 646"/>
            <p:cNvSpPr/>
            <p:nvPr/>
          </p:nvSpPr>
          <p:spPr>
            <a:xfrm>
              <a:off x="13906913" y="905096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23174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path 647"/>
            <p:cNvSpPr/>
            <p:nvPr/>
          </p:nvSpPr>
          <p:spPr>
            <a:xfrm>
              <a:off x="13958485" y="907414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0"/>
                  </a:moveTo>
                  <a:lnTo>
                    <a:pt x="0" y="6615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path 648"/>
            <p:cNvSpPr/>
            <p:nvPr/>
          </p:nvSpPr>
          <p:spPr>
            <a:xfrm>
              <a:off x="13970761" y="902402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15731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path 649"/>
            <p:cNvSpPr/>
            <p:nvPr/>
          </p:nvSpPr>
          <p:spPr>
            <a:xfrm>
              <a:off x="14013737" y="90397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0"/>
                  </a:moveTo>
                  <a:lnTo>
                    <a:pt x="0" y="5870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0" name="path 650"/>
            <p:cNvSpPr/>
            <p:nvPr/>
          </p:nvSpPr>
          <p:spPr>
            <a:xfrm>
              <a:off x="13880592" y="912571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0"/>
                  </a:moveTo>
                  <a:lnTo>
                    <a:pt x="193539" y="11174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1" name="path 651"/>
            <p:cNvSpPr/>
            <p:nvPr/>
          </p:nvSpPr>
          <p:spPr>
            <a:xfrm>
              <a:off x="13958485" y="911113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66151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path 652"/>
            <p:cNvSpPr/>
            <p:nvPr/>
          </p:nvSpPr>
          <p:spPr>
            <a:xfrm>
              <a:off x="13906913" y="917728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0"/>
                  </a:moveTo>
                  <a:lnTo>
                    <a:pt x="0" y="23174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path 653"/>
            <p:cNvSpPr/>
            <p:nvPr/>
          </p:nvSpPr>
          <p:spPr>
            <a:xfrm>
              <a:off x="14013737" y="91529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5870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path 654"/>
            <p:cNvSpPr/>
            <p:nvPr/>
          </p:nvSpPr>
          <p:spPr>
            <a:xfrm>
              <a:off x="13970761" y="921166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0"/>
                  </a:moveTo>
                  <a:lnTo>
                    <a:pt x="0" y="1573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5" name="path 655"/>
            <p:cNvSpPr/>
            <p:nvPr/>
          </p:nvSpPr>
          <p:spPr>
            <a:xfrm>
              <a:off x="13880592" y="9125712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0"/>
                  </a:moveTo>
                  <a:lnTo>
                    <a:pt x="0" y="223479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6" name="path 656"/>
            <p:cNvSpPr/>
            <p:nvPr/>
          </p:nvSpPr>
          <p:spPr>
            <a:xfrm>
              <a:off x="13880592" y="918588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42977"/>
                  </a:moveTo>
                  <a:lnTo>
                    <a:pt x="51572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path 657"/>
            <p:cNvSpPr/>
            <p:nvPr/>
          </p:nvSpPr>
          <p:spPr>
            <a:xfrm>
              <a:off x="13829020" y="918588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4297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path 658"/>
            <p:cNvSpPr/>
            <p:nvPr/>
          </p:nvSpPr>
          <p:spPr>
            <a:xfrm>
              <a:off x="13880592" y="925464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42977"/>
                  </a:moveTo>
                  <a:lnTo>
                    <a:pt x="42977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path 659"/>
            <p:cNvSpPr/>
            <p:nvPr/>
          </p:nvSpPr>
          <p:spPr>
            <a:xfrm>
              <a:off x="13837615" y="925464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42977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0" name="path 660"/>
            <p:cNvSpPr/>
            <p:nvPr/>
          </p:nvSpPr>
          <p:spPr>
            <a:xfrm>
              <a:off x="13687053" y="912571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0"/>
                  </a:moveTo>
                  <a:lnTo>
                    <a:pt x="0" y="11174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1" name="path 661"/>
            <p:cNvSpPr/>
            <p:nvPr/>
          </p:nvSpPr>
          <p:spPr>
            <a:xfrm>
              <a:off x="13791266" y="917728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0"/>
                  </a:moveTo>
                  <a:lnTo>
                    <a:pt x="63005" y="23174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path 662"/>
            <p:cNvSpPr/>
            <p:nvPr/>
          </p:nvSpPr>
          <p:spPr>
            <a:xfrm>
              <a:off x="13791266" y="911113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66151"/>
                  </a:moveTo>
                  <a:lnTo>
                    <a:pt x="11433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path 663"/>
            <p:cNvSpPr/>
            <p:nvPr/>
          </p:nvSpPr>
          <p:spPr>
            <a:xfrm>
              <a:off x="13731716" y="921166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0"/>
                  </a:moveTo>
                  <a:lnTo>
                    <a:pt x="58707" y="1573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path 664"/>
            <p:cNvSpPr/>
            <p:nvPr/>
          </p:nvSpPr>
          <p:spPr>
            <a:xfrm>
              <a:off x="13731716" y="91529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58707"/>
                  </a:moveTo>
                  <a:lnTo>
                    <a:pt x="15731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5" name="path 665"/>
            <p:cNvSpPr/>
            <p:nvPr/>
          </p:nvSpPr>
          <p:spPr>
            <a:xfrm>
              <a:off x="13687053" y="901397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111740"/>
                  </a:moveTo>
                  <a:lnTo>
                    <a:pt x="0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6" name="path 666"/>
            <p:cNvSpPr/>
            <p:nvPr/>
          </p:nvSpPr>
          <p:spPr>
            <a:xfrm>
              <a:off x="13791266" y="907414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0"/>
                  </a:moveTo>
                  <a:lnTo>
                    <a:pt x="11433" y="66151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path 667"/>
            <p:cNvSpPr/>
            <p:nvPr/>
          </p:nvSpPr>
          <p:spPr>
            <a:xfrm>
              <a:off x="13791266" y="905096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23174"/>
                  </a:moveTo>
                  <a:lnTo>
                    <a:pt x="63005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path 668"/>
            <p:cNvSpPr/>
            <p:nvPr/>
          </p:nvSpPr>
          <p:spPr>
            <a:xfrm>
              <a:off x="13731716" y="90397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0"/>
                  </a:moveTo>
                  <a:lnTo>
                    <a:pt x="15731" y="58707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path 669"/>
            <p:cNvSpPr/>
            <p:nvPr/>
          </p:nvSpPr>
          <p:spPr>
            <a:xfrm>
              <a:off x="13731716" y="902402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15731"/>
                  </a:moveTo>
                  <a:lnTo>
                    <a:pt x="58707" y="0"/>
                  </a:lnTo>
                </a:path>
              </a:pathLst>
            </a:custGeom>
            <a:noFill/>
            <a:ln w="51572" cap="rnd" cmpd="sng">
              <a:solidFill>
                <a:srgbClr val="4d5d6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0" name="path 670"/>
            <p:cNvSpPr/>
            <p:nvPr/>
          </p:nvSpPr>
          <p:spPr>
            <a:xfrm>
              <a:off x="13880592" y="8902233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223479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1" name="path 671"/>
            <p:cNvSpPr/>
            <p:nvPr/>
          </p:nvSpPr>
          <p:spPr>
            <a:xfrm>
              <a:off x="13829020" y="902256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0"/>
                  </a:moveTo>
                  <a:lnTo>
                    <a:pt x="0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path 672"/>
            <p:cNvSpPr/>
            <p:nvPr/>
          </p:nvSpPr>
          <p:spPr>
            <a:xfrm>
              <a:off x="13880592" y="9022568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0"/>
                  </a:moveTo>
                  <a:lnTo>
                    <a:pt x="51572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path 673"/>
            <p:cNvSpPr/>
            <p:nvPr/>
          </p:nvSpPr>
          <p:spPr>
            <a:xfrm>
              <a:off x="13837615" y="895380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0"/>
                  </a:moveTo>
                  <a:lnTo>
                    <a:pt x="0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path 674"/>
            <p:cNvSpPr/>
            <p:nvPr/>
          </p:nvSpPr>
          <p:spPr>
            <a:xfrm>
              <a:off x="13880592" y="8953805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0"/>
                  </a:moveTo>
                  <a:lnTo>
                    <a:pt x="42977" y="4297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5" name="path 675"/>
            <p:cNvSpPr/>
            <p:nvPr/>
          </p:nvSpPr>
          <p:spPr>
            <a:xfrm>
              <a:off x="13880592" y="901397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111740"/>
                  </a:moveTo>
                  <a:lnTo>
                    <a:pt x="193539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6" name="path 676"/>
            <p:cNvSpPr/>
            <p:nvPr/>
          </p:nvSpPr>
          <p:spPr>
            <a:xfrm>
              <a:off x="13906913" y="905096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23174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path 677"/>
            <p:cNvSpPr/>
            <p:nvPr/>
          </p:nvSpPr>
          <p:spPr>
            <a:xfrm>
              <a:off x="13958485" y="907414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0"/>
                  </a:moveTo>
                  <a:lnTo>
                    <a:pt x="0" y="6615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path 678"/>
            <p:cNvSpPr/>
            <p:nvPr/>
          </p:nvSpPr>
          <p:spPr>
            <a:xfrm>
              <a:off x="13970761" y="902402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15731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path 679"/>
            <p:cNvSpPr/>
            <p:nvPr/>
          </p:nvSpPr>
          <p:spPr>
            <a:xfrm>
              <a:off x="14013737" y="90397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0"/>
                  </a:moveTo>
                  <a:lnTo>
                    <a:pt x="0" y="5870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0" name="path 680"/>
            <p:cNvSpPr/>
            <p:nvPr/>
          </p:nvSpPr>
          <p:spPr>
            <a:xfrm>
              <a:off x="13880592" y="912571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0" y="0"/>
                  </a:moveTo>
                  <a:lnTo>
                    <a:pt x="193539" y="11174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1" name="path 681"/>
            <p:cNvSpPr/>
            <p:nvPr/>
          </p:nvSpPr>
          <p:spPr>
            <a:xfrm>
              <a:off x="13958485" y="911113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11433" y="66151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path 682"/>
            <p:cNvSpPr/>
            <p:nvPr/>
          </p:nvSpPr>
          <p:spPr>
            <a:xfrm>
              <a:off x="13906913" y="917728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63005" y="0"/>
                  </a:moveTo>
                  <a:lnTo>
                    <a:pt x="0" y="23174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path 683"/>
            <p:cNvSpPr/>
            <p:nvPr/>
          </p:nvSpPr>
          <p:spPr>
            <a:xfrm>
              <a:off x="14013737" y="91529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15731" y="5870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path 684"/>
            <p:cNvSpPr/>
            <p:nvPr/>
          </p:nvSpPr>
          <p:spPr>
            <a:xfrm>
              <a:off x="13970761" y="921166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58707" y="0"/>
                  </a:moveTo>
                  <a:lnTo>
                    <a:pt x="0" y="1573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5" name="path 685"/>
            <p:cNvSpPr/>
            <p:nvPr/>
          </p:nvSpPr>
          <p:spPr>
            <a:xfrm>
              <a:off x="13880592" y="9125712"/>
              <a:ext cx="914" cy="223479"/>
            </a:xfrm>
            <a:custGeom>
              <a:avLst/>
              <a:gdLst/>
              <a:ahLst/>
              <a:cxnLst/>
              <a:rect l="0" t="0" r="r" b="b"/>
              <a:pathLst>
                <a:path w="914" h="223479" fill="none">
                  <a:moveTo>
                    <a:pt x="0" y="0"/>
                  </a:moveTo>
                  <a:lnTo>
                    <a:pt x="0" y="223479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6" name="path 686"/>
            <p:cNvSpPr/>
            <p:nvPr/>
          </p:nvSpPr>
          <p:spPr>
            <a:xfrm>
              <a:off x="13880592" y="918588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0" y="42977"/>
                  </a:moveTo>
                  <a:lnTo>
                    <a:pt x="51572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path 687"/>
            <p:cNvSpPr/>
            <p:nvPr/>
          </p:nvSpPr>
          <p:spPr>
            <a:xfrm>
              <a:off x="13829020" y="9185880"/>
              <a:ext cx="51572" cy="42977"/>
            </a:xfrm>
            <a:custGeom>
              <a:avLst/>
              <a:gdLst/>
              <a:ahLst/>
              <a:cxnLst/>
              <a:rect l="0" t="0" r="r" b="b"/>
              <a:pathLst>
                <a:path w="51572" h="42977" fill="none">
                  <a:moveTo>
                    <a:pt x="51572" y="4297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path 688"/>
            <p:cNvSpPr/>
            <p:nvPr/>
          </p:nvSpPr>
          <p:spPr>
            <a:xfrm>
              <a:off x="13880592" y="925464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0" y="42977"/>
                  </a:moveTo>
                  <a:lnTo>
                    <a:pt x="42977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path 689"/>
            <p:cNvSpPr/>
            <p:nvPr/>
          </p:nvSpPr>
          <p:spPr>
            <a:xfrm>
              <a:off x="13837615" y="9254642"/>
              <a:ext cx="42977" cy="42977"/>
            </a:xfrm>
            <a:custGeom>
              <a:avLst/>
              <a:gdLst/>
              <a:ahLst/>
              <a:cxnLst/>
              <a:rect l="0" t="0" r="r" b="b"/>
              <a:pathLst>
                <a:path w="42977" h="42977" fill="none">
                  <a:moveTo>
                    <a:pt x="42977" y="42977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0" name="path 690"/>
            <p:cNvSpPr/>
            <p:nvPr/>
          </p:nvSpPr>
          <p:spPr>
            <a:xfrm>
              <a:off x="13687053" y="912571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0"/>
                  </a:moveTo>
                  <a:lnTo>
                    <a:pt x="0" y="11174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1" name="path 691"/>
            <p:cNvSpPr/>
            <p:nvPr/>
          </p:nvSpPr>
          <p:spPr>
            <a:xfrm>
              <a:off x="13791266" y="9177284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0"/>
                  </a:moveTo>
                  <a:lnTo>
                    <a:pt x="63005" y="23174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path 692"/>
            <p:cNvSpPr/>
            <p:nvPr/>
          </p:nvSpPr>
          <p:spPr>
            <a:xfrm>
              <a:off x="13791266" y="9111133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66151"/>
                  </a:moveTo>
                  <a:lnTo>
                    <a:pt x="11433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path 693"/>
            <p:cNvSpPr/>
            <p:nvPr/>
          </p:nvSpPr>
          <p:spPr>
            <a:xfrm>
              <a:off x="13731716" y="9211666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0"/>
                  </a:moveTo>
                  <a:lnTo>
                    <a:pt x="58707" y="1573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path 694"/>
            <p:cNvSpPr/>
            <p:nvPr/>
          </p:nvSpPr>
          <p:spPr>
            <a:xfrm>
              <a:off x="13731716" y="91529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58707"/>
                  </a:moveTo>
                  <a:lnTo>
                    <a:pt x="15731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5" name="path 695"/>
            <p:cNvSpPr/>
            <p:nvPr/>
          </p:nvSpPr>
          <p:spPr>
            <a:xfrm>
              <a:off x="13687053" y="9013972"/>
              <a:ext cx="193539" cy="111740"/>
            </a:xfrm>
            <a:custGeom>
              <a:avLst/>
              <a:gdLst/>
              <a:ahLst/>
              <a:cxnLst/>
              <a:rect l="0" t="0" r="r" b="b"/>
              <a:pathLst>
                <a:path w="193539" h="111740" fill="none">
                  <a:moveTo>
                    <a:pt x="193539" y="111740"/>
                  </a:moveTo>
                  <a:lnTo>
                    <a:pt x="0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6" name="path 696"/>
            <p:cNvSpPr/>
            <p:nvPr/>
          </p:nvSpPr>
          <p:spPr>
            <a:xfrm>
              <a:off x="13791266" y="9074140"/>
              <a:ext cx="11433" cy="66151"/>
            </a:xfrm>
            <a:custGeom>
              <a:avLst/>
              <a:gdLst/>
              <a:ahLst/>
              <a:cxnLst/>
              <a:rect l="0" t="0" r="r" b="b"/>
              <a:pathLst>
                <a:path w="11433" h="66151" fill="none">
                  <a:moveTo>
                    <a:pt x="0" y="0"/>
                  </a:moveTo>
                  <a:lnTo>
                    <a:pt x="11433" y="66151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path 697"/>
            <p:cNvSpPr/>
            <p:nvPr/>
          </p:nvSpPr>
          <p:spPr>
            <a:xfrm>
              <a:off x="13791266" y="9050965"/>
              <a:ext cx="63005" cy="23174"/>
            </a:xfrm>
            <a:custGeom>
              <a:avLst/>
              <a:gdLst/>
              <a:ahLst/>
              <a:cxnLst/>
              <a:rect l="0" t="0" r="r" b="b"/>
              <a:pathLst>
                <a:path w="63005" h="23174" fill="none">
                  <a:moveTo>
                    <a:pt x="0" y="23174"/>
                  </a:moveTo>
                  <a:lnTo>
                    <a:pt x="63005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path 698"/>
            <p:cNvSpPr/>
            <p:nvPr/>
          </p:nvSpPr>
          <p:spPr>
            <a:xfrm>
              <a:off x="13731716" y="9039758"/>
              <a:ext cx="15731" cy="58707"/>
            </a:xfrm>
            <a:custGeom>
              <a:avLst/>
              <a:gdLst/>
              <a:ahLst/>
              <a:cxnLst/>
              <a:rect l="0" t="0" r="r" b="b"/>
              <a:pathLst>
                <a:path w="15731" h="58707" fill="none">
                  <a:moveTo>
                    <a:pt x="0" y="0"/>
                  </a:moveTo>
                  <a:lnTo>
                    <a:pt x="15731" y="58707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path 699"/>
            <p:cNvSpPr/>
            <p:nvPr/>
          </p:nvSpPr>
          <p:spPr>
            <a:xfrm>
              <a:off x="13731716" y="9024028"/>
              <a:ext cx="58707" cy="15731"/>
            </a:xfrm>
            <a:custGeom>
              <a:avLst/>
              <a:gdLst/>
              <a:ahLst/>
              <a:cxnLst/>
              <a:rect l="0" t="0" r="r" b="b"/>
              <a:pathLst>
                <a:path w="58707" h="15731" fill="none">
                  <a:moveTo>
                    <a:pt x="0" y="15731"/>
                  </a:moveTo>
                  <a:lnTo>
                    <a:pt x="58707" y="0"/>
                  </a:lnTo>
                </a:path>
              </a:pathLst>
            </a:custGeom>
            <a:noFill/>
            <a:ln w="23207" cap="rnd" cmpd="sng">
              <a:solidFill>
                <a:srgbClr val="b1ecf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Inference image reconstruction / Outlined flow arrow"/>
          <p:cNvGrpSpPr/>
          <p:nvPr/>
        </p:nvGrpSpPr>
        <p:grpSpPr>
          <a:xfrm>
            <a:off x="14365224" y="9345168"/>
            <a:ext cx="868680" cy="621792"/>
            <a:chOff x="14365224" y="9345168"/>
            <a:chExt cx="868680" cy="621792"/>
          </a:xfrm>
        </p:grpSpPr>
        <p:sp>
          <p:nvSpPr>
            <p:cNvPr id="761" name="path 700"/>
            <p:cNvSpPr/>
            <p:nvPr/>
          </p:nvSpPr>
          <p:spPr>
            <a:xfrm>
              <a:off x="14365224" y="9345168"/>
              <a:ext cx="868680" cy="621792"/>
            </a:xfrm>
            <a:custGeom>
              <a:avLst/>
              <a:gdLst/>
              <a:ahLst/>
              <a:cxnLst/>
              <a:rect l="0" t="0" r="r" b="b"/>
              <a:pathLst>
                <a:path w="868680" h="621792">
                  <a:moveTo>
                    <a:pt x="100584" y="146304"/>
                  </a:moveTo>
                  <a:lnTo>
                    <a:pt x="457200" y="146304"/>
                  </a:lnTo>
                  <a:lnTo>
                    <a:pt x="457200" y="82296"/>
                  </a:lnTo>
                  <a:quadBezTo>
                    <a:pt x="457200" y="0"/>
                    <a:pt x="548640" y="73152"/>
                  </a:quadBezTo>
                  <a:lnTo>
                    <a:pt x="804672" y="256032"/>
                  </a:lnTo>
                  <a:quadBezTo>
                    <a:pt x="868680" y="310896"/>
                    <a:pt x="804672" y="365760"/>
                  </a:quadBezTo>
                  <a:lnTo>
                    <a:pt x="548640" y="548640"/>
                  </a:lnTo>
                  <a:quadBezTo>
                    <a:pt x="457200" y="621792"/>
                    <a:pt x="457200" y="539496"/>
                  </a:quadBezTo>
                  <a:lnTo>
                    <a:pt x="457200" y="475488"/>
                  </a:lnTo>
                  <a:lnTo>
                    <a:pt x="100584" y="475488"/>
                  </a:lnTo>
                  <a:quadBezTo>
                    <a:pt x="0" y="475488"/>
                    <a:pt x="0" y="374904"/>
                  </a:quadBezTo>
                  <a:lnTo>
                    <a:pt x="0" y="246888"/>
                  </a:lnTo>
                  <a:quadBezTo>
                    <a:pt x="0" y="146304"/>
                    <a:pt x="100584" y="146304"/>
                  </a:quadBezTo>
                  <a:close/>
                </a:path>
              </a:pathLst>
            </a:custGeom>
            <a:solidFill>
              <a:srgbClr val="fafafa">
                <a:alpha val="100000"/>
              </a:srgbClr>
            </a:solidFill>
            <a:ln w="27432" cap="rnd" cmpd="sng">
              <a:solidFill>
                <a:srgbClr val="161a1b"/>
              </a:solidFill>
              <a:round/>
            </a:ln>
            <a:effectLst>
              <a:outerShdw blurRad="73152" dist="71417" dir="3011666" algn="tl" rotWithShape="0">
                <a:srgbClr val="444444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path 701"/>
            <p:cNvSpPr/>
            <p:nvPr/>
          </p:nvSpPr>
          <p:spPr>
            <a:xfrm>
              <a:off x="14429232" y="9454896"/>
              <a:ext cx="704088" cy="402336"/>
            </a:xfrm>
            <a:custGeom>
              <a:avLst/>
              <a:gdLst/>
              <a:ahLst/>
              <a:cxnLst/>
              <a:rect l="0" t="0" r="r" b="b"/>
              <a:pathLst>
                <a:path w="704088" h="402336">
                  <a:moveTo>
                    <a:pt x="36576" y="100584"/>
                  </a:moveTo>
                  <a:lnTo>
                    <a:pt x="457200" y="100584"/>
                  </a:lnTo>
                  <a:lnTo>
                    <a:pt x="457200" y="0"/>
                  </a:lnTo>
                  <a:lnTo>
                    <a:pt x="704088" y="201168"/>
                  </a:lnTo>
                  <a:lnTo>
                    <a:pt x="457200" y="402336"/>
                  </a:lnTo>
                  <a:lnTo>
                    <a:pt x="457200" y="301752"/>
                  </a:lnTo>
                  <a:lnTo>
                    <a:pt x="36576" y="301752"/>
                  </a:lnTo>
                  <a:quadBezTo>
                    <a:pt x="0" y="301752"/>
                    <a:pt x="0" y="265176"/>
                  </a:quadBezTo>
                  <a:lnTo>
                    <a:pt x="0" y="137160"/>
                  </a:lnTo>
                  <a:quadBezTo>
                    <a:pt x="0" y="100584"/>
                    <a:pt x="36576" y="100584"/>
                  </a:quadBezTo>
                  <a:close/>
                </a:path>
              </a:pathLst>
            </a:custGeom>
            <a:solidFill>
              <a:srgbClr val="e9ebec">
                <a:alpha val="100000"/>
              </a:srgbClr>
            </a:solidFill>
            <a:ln w="22860" cap="rnd" cmpd="sng">
              <a:solidFill>
                <a:srgbClr val="161a1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3" name="Inference image reconstruction / Reconstructed image stack"/>
          <p:cNvGrpSpPr/>
          <p:nvPr/>
        </p:nvGrpSpPr>
        <p:grpSpPr>
          <a:xfrm>
            <a:off x="15343632" y="8951976"/>
            <a:ext cx="1641531" cy="1305763"/>
            <a:chOff x="15343632" y="8951976"/>
            <a:chExt cx="1641531" cy="1305763"/>
          </a:xfrm>
        </p:grpSpPr>
        <p:sp>
          <p:nvSpPr>
            <p:cNvPr id="764" name="path 702"/>
            <p:cNvSpPr/>
            <p:nvPr/>
          </p:nvSpPr>
          <p:spPr>
            <a:xfrm>
              <a:off x="15632765" y="8951976"/>
              <a:ext cx="1352398" cy="997976"/>
            </a:xfrm>
            <a:custGeom>
              <a:avLst/>
              <a:gdLst/>
              <a:ahLst/>
              <a:cxnLst/>
              <a:rect l="0" t="0" r="r" b="b"/>
              <a:pathLst>
                <a:path w="1352398" h="997976">
                  <a:moveTo>
                    <a:pt x="46634" y="0"/>
                  </a:moveTo>
                  <a:lnTo>
                    <a:pt x="1305763" y="0"/>
                  </a:lnTo>
                  <a:cubicBezTo>
                    <a:pt x="1331519" y="0"/>
                    <a:pt x="1352398" y="20879"/>
                    <a:pt x="1352398" y="46634"/>
                  </a:cubicBezTo>
                  <a:lnTo>
                    <a:pt x="1352398" y="951342"/>
                  </a:lnTo>
                  <a:cubicBezTo>
                    <a:pt x="1352398" y="977097"/>
                    <a:pt x="1331519" y="997976"/>
                    <a:pt x="1305763" y="997976"/>
                  </a:cubicBezTo>
                  <a:lnTo>
                    <a:pt x="46634" y="997976"/>
                  </a:lnTo>
                  <a:cubicBezTo>
                    <a:pt x="20879" y="997976"/>
                    <a:pt x="0" y="977097"/>
                    <a:pt x="0" y="951342"/>
                  </a:cubicBezTo>
                  <a:lnTo>
                    <a:pt x="0" y="46634"/>
                  </a:lnTo>
                  <a:cubicBezTo>
                    <a:pt x="0" y="20879"/>
                    <a:pt x="20879" y="0"/>
                    <a:pt x="46634" y="0"/>
                  </a:cubicBezTo>
                  <a:close/>
                </a:path>
              </a:pathLst>
            </a:custGeom>
            <a:solidFill>
              <a:srgbClr val="d6edf0">
                <a:alpha val="100000"/>
              </a:srgbClr>
            </a:solidFill>
            <a:ln w="3730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5" name="path 703"/>
            <p:cNvSpPr/>
            <p:nvPr/>
          </p:nvSpPr>
          <p:spPr>
            <a:xfrm>
              <a:off x="15707380" y="9026591"/>
              <a:ext cx="1203168" cy="848746"/>
            </a:xfrm>
            <a:custGeom>
              <a:avLst/>
              <a:gdLst/>
              <a:ahLst/>
              <a:cxnLst/>
              <a:rect l="0" t="0" r="r" b="b"/>
              <a:pathLst>
                <a:path w="1203168" h="848746">
                  <a:moveTo>
                    <a:pt x="9327" y="0"/>
                  </a:moveTo>
                  <a:lnTo>
                    <a:pt x="1193841" y="0"/>
                  </a:lnTo>
                  <a:cubicBezTo>
                    <a:pt x="1198992" y="0"/>
                    <a:pt x="1203168" y="4176"/>
                    <a:pt x="1203168" y="9327"/>
                  </a:cubicBezTo>
                  <a:lnTo>
                    <a:pt x="1203168" y="839419"/>
                  </a:lnTo>
                  <a:cubicBezTo>
                    <a:pt x="1203168" y="844570"/>
                    <a:pt x="1198992" y="848746"/>
                    <a:pt x="1193841" y="848746"/>
                  </a:cubicBezTo>
                  <a:lnTo>
                    <a:pt x="9327" y="848746"/>
                  </a:lnTo>
                  <a:cubicBezTo>
                    <a:pt x="4176" y="848746"/>
                    <a:pt x="0" y="844570"/>
                    <a:pt x="0" y="839419"/>
                  </a:cubicBezTo>
                  <a:lnTo>
                    <a:pt x="0" y="9327"/>
                  </a:lnTo>
                  <a:cubicBezTo>
                    <a:pt x="0" y="4176"/>
                    <a:pt x="4176" y="0"/>
                    <a:pt x="9327" y="0"/>
                  </a:cubicBezTo>
                  <a:close/>
                </a:path>
              </a:pathLst>
            </a:custGeom>
            <a:solidFill>
              <a:srgbClr val="9fe0e9">
                <a:alpha val="100000"/>
              </a:srgbClr>
            </a:solidFill>
            <a:ln w="3730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6" name="path 704"/>
            <p:cNvSpPr/>
            <p:nvPr/>
          </p:nvSpPr>
          <p:spPr>
            <a:xfrm>
              <a:off x="15726034" y="9201470"/>
              <a:ext cx="1165860" cy="655213"/>
            </a:xfrm>
            <a:custGeom>
              <a:avLst/>
              <a:gdLst/>
              <a:ahLst/>
              <a:cxnLst/>
              <a:rect l="0" t="0" r="r" b="b"/>
              <a:pathLst>
                <a:path w="1165860" h="655213">
                  <a:moveTo>
                    <a:pt x="0" y="449089"/>
                  </a:moveTo>
                  <a:quadBezTo>
                    <a:pt x="231307" y="179636"/>
                    <a:pt x="447690" y="389211"/>
                  </a:quadBezTo>
                  <a:quadBezTo>
                    <a:pt x="785790" y="0"/>
                    <a:pt x="1165860" y="399190"/>
                  </a:quadBezTo>
                  <a:lnTo>
                    <a:pt x="1165860" y="655213"/>
                  </a:lnTo>
                  <a:lnTo>
                    <a:pt x="0" y="655213"/>
                  </a:lnTo>
                  <a:close/>
                </a:path>
              </a:pathLst>
            </a:custGeom>
            <a:solidFill>
              <a:srgbClr val="11b6d1">
                <a:alpha val="100000"/>
              </a:srgbClr>
            </a:solidFill>
            <a:ln w="29846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path 705"/>
            <p:cNvSpPr/>
            <p:nvPr/>
          </p:nvSpPr>
          <p:spPr>
            <a:xfrm>
              <a:off x="15343632" y="9231782"/>
              <a:ext cx="1361724" cy="1025957"/>
            </a:xfrm>
            <a:custGeom>
              <a:avLst/>
              <a:gdLst/>
              <a:ahLst/>
              <a:cxnLst/>
              <a:rect l="0" t="0" r="r" b="b"/>
              <a:pathLst>
                <a:path w="1361724" h="1025957">
                  <a:moveTo>
                    <a:pt x="46634" y="0"/>
                  </a:moveTo>
                  <a:lnTo>
                    <a:pt x="1315090" y="0"/>
                  </a:lnTo>
                  <a:cubicBezTo>
                    <a:pt x="1340846" y="0"/>
                    <a:pt x="1361724" y="20879"/>
                    <a:pt x="1361724" y="46634"/>
                  </a:cubicBezTo>
                  <a:lnTo>
                    <a:pt x="1361724" y="979322"/>
                  </a:lnTo>
                  <a:cubicBezTo>
                    <a:pt x="1361724" y="1005078"/>
                    <a:pt x="1340846" y="1025957"/>
                    <a:pt x="1315090" y="1025957"/>
                  </a:cubicBezTo>
                  <a:lnTo>
                    <a:pt x="46634" y="1025957"/>
                  </a:lnTo>
                  <a:cubicBezTo>
                    <a:pt x="20879" y="1025957"/>
                    <a:pt x="0" y="1005078"/>
                    <a:pt x="0" y="979322"/>
                  </a:cubicBezTo>
                  <a:lnTo>
                    <a:pt x="0" y="46634"/>
                  </a:lnTo>
                  <a:cubicBezTo>
                    <a:pt x="0" y="20879"/>
                    <a:pt x="20879" y="0"/>
                    <a:pt x="46634" y="0"/>
                  </a:cubicBezTo>
                  <a:close/>
                </a:path>
              </a:pathLst>
            </a:custGeom>
            <a:solidFill>
              <a:srgbClr val="c09271">
                <a:alpha val="100000"/>
              </a:srgbClr>
            </a:solidFill>
            <a:ln w="3730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path 706"/>
            <p:cNvSpPr/>
            <p:nvPr/>
          </p:nvSpPr>
          <p:spPr>
            <a:xfrm>
              <a:off x="15418247" y="9306397"/>
              <a:ext cx="1212494" cy="876727"/>
            </a:xfrm>
            <a:custGeom>
              <a:avLst/>
              <a:gdLst/>
              <a:ahLst/>
              <a:cxnLst/>
              <a:rect l="0" t="0" r="r" b="b"/>
              <a:pathLst>
                <a:path w="1212494" h="876727">
                  <a:moveTo>
                    <a:pt x="9327" y="0"/>
                  </a:moveTo>
                  <a:lnTo>
                    <a:pt x="1203168" y="0"/>
                  </a:lnTo>
                  <a:cubicBezTo>
                    <a:pt x="1208319" y="0"/>
                    <a:pt x="1212494" y="4176"/>
                    <a:pt x="1212494" y="9327"/>
                  </a:cubicBezTo>
                  <a:lnTo>
                    <a:pt x="1212494" y="867400"/>
                  </a:lnTo>
                  <a:cubicBezTo>
                    <a:pt x="1212494" y="872551"/>
                    <a:pt x="1208319" y="876727"/>
                    <a:pt x="1203168" y="876727"/>
                  </a:cubicBezTo>
                  <a:lnTo>
                    <a:pt x="9327" y="876727"/>
                  </a:lnTo>
                  <a:cubicBezTo>
                    <a:pt x="4176" y="876727"/>
                    <a:pt x="0" y="872551"/>
                    <a:pt x="0" y="867400"/>
                  </a:cubicBezTo>
                  <a:lnTo>
                    <a:pt x="0" y="9327"/>
                  </a:lnTo>
                  <a:cubicBezTo>
                    <a:pt x="0" y="4176"/>
                    <a:pt x="4176" y="0"/>
                    <a:pt x="9327" y="0"/>
                  </a:cubicBezTo>
                  <a:close/>
                </a:path>
              </a:pathLst>
            </a:custGeom>
            <a:solidFill>
              <a:srgbClr val="e3f3f5">
                <a:alpha val="100000"/>
              </a:srgbClr>
            </a:solidFill>
            <a:ln w="37308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9" name="Inference image reconstruction / Reconstructed image stack / Dog"/>
          <p:cNvGrpSpPr/>
          <p:nvPr/>
        </p:nvGrpSpPr>
        <p:grpSpPr>
          <a:xfrm>
            <a:off x="15654777" y="9392858"/>
            <a:ext cx="746896" cy="848746"/>
            <a:chOff x="15654777" y="9392858"/>
            <a:chExt cx="746896" cy="848746"/>
          </a:xfrm>
        </p:grpSpPr>
        <p:sp>
          <p:nvSpPr>
            <p:cNvPr id="770" name="path 707"/>
            <p:cNvSpPr/>
            <p:nvPr/>
          </p:nvSpPr>
          <p:spPr>
            <a:xfrm>
              <a:off x="15748139" y="9953030"/>
              <a:ext cx="551685" cy="288574"/>
            </a:xfrm>
            <a:custGeom>
              <a:avLst/>
              <a:gdLst/>
              <a:ahLst/>
              <a:cxnLst/>
              <a:rect l="0" t="0" r="r" b="b"/>
              <a:pathLst>
                <a:path w="551685" h="288574">
                  <a:moveTo>
                    <a:pt x="84875" y="0"/>
                  </a:moveTo>
                  <a:cubicBezTo>
                    <a:pt x="16975" y="76387"/>
                    <a:pt x="8487" y="237649"/>
                    <a:pt x="0" y="288574"/>
                  </a:cubicBezTo>
                  <a:lnTo>
                    <a:pt x="551685" y="288574"/>
                  </a:lnTo>
                  <a:cubicBezTo>
                    <a:pt x="543197" y="135799"/>
                    <a:pt x="517735" y="59412"/>
                    <a:pt x="458323" y="8487"/>
                  </a:cubicBezTo>
                  <a:close/>
                </a:path>
              </a:pathLst>
            </a:custGeom>
            <a:solidFill>
              <a:srgbClr val="ffda65">
                <a:alpha val="100000"/>
              </a:srgbClr>
            </a:solidFill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1" name="path 708"/>
            <p:cNvSpPr/>
            <p:nvPr/>
          </p:nvSpPr>
          <p:spPr>
            <a:xfrm>
              <a:off x="15654777" y="9486220"/>
              <a:ext cx="229161" cy="381936"/>
            </a:xfrm>
            <a:custGeom>
              <a:avLst/>
              <a:gdLst/>
              <a:ahLst/>
              <a:cxnLst/>
              <a:rect l="0" t="0" r="r" b="b"/>
              <a:pathLst>
                <a:path w="229161" h="381936">
                  <a:moveTo>
                    <a:pt x="161262" y="42437"/>
                  </a:moveTo>
                  <a:cubicBezTo>
                    <a:pt x="42437" y="0"/>
                    <a:pt x="0" y="93362"/>
                    <a:pt x="42437" y="212187"/>
                  </a:cubicBezTo>
                  <a:cubicBezTo>
                    <a:pt x="59412" y="305549"/>
                    <a:pt x="93362" y="381936"/>
                    <a:pt x="178237" y="356473"/>
                  </a:cubicBezTo>
                  <a:lnTo>
                    <a:pt x="229161" y="59412"/>
                  </a:lnTo>
                  <a:close/>
                </a:path>
              </a:pathLst>
            </a:custGeom>
            <a:solidFill>
              <a:srgbClr val="ffbc4b">
                <a:alpha val="100000"/>
              </a:srgbClr>
            </a:solidFill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path 709"/>
            <p:cNvSpPr/>
            <p:nvPr/>
          </p:nvSpPr>
          <p:spPr>
            <a:xfrm>
              <a:off x="16172512" y="9486220"/>
              <a:ext cx="229161" cy="381936"/>
            </a:xfrm>
            <a:custGeom>
              <a:avLst/>
              <a:gdLst/>
              <a:ahLst/>
              <a:cxnLst/>
              <a:rect l="0" t="0" r="r" b="b"/>
              <a:pathLst>
                <a:path w="229161" h="381936">
                  <a:moveTo>
                    <a:pt x="42437" y="42437"/>
                  </a:moveTo>
                  <a:cubicBezTo>
                    <a:pt x="178237" y="0"/>
                    <a:pt x="229161" y="101850"/>
                    <a:pt x="169749" y="246136"/>
                  </a:cubicBezTo>
                  <a:cubicBezTo>
                    <a:pt x="135799" y="339498"/>
                    <a:pt x="101850" y="381936"/>
                    <a:pt x="33950" y="356473"/>
                  </a:cubicBezTo>
                  <a:lnTo>
                    <a:pt x="0" y="59412"/>
                  </a:lnTo>
                  <a:close/>
                </a:path>
              </a:pathLst>
            </a:custGeom>
            <a:solidFill>
              <a:srgbClr val="ffbc4b">
                <a:alpha val="100000"/>
              </a:srgbClr>
            </a:solidFill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path 710"/>
            <p:cNvSpPr/>
            <p:nvPr/>
          </p:nvSpPr>
          <p:spPr>
            <a:xfrm>
              <a:off x="15756626" y="9392858"/>
              <a:ext cx="534710" cy="687484"/>
            </a:xfrm>
            <a:custGeom>
              <a:avLst/>
              <a:gdLst/>
              <a:ahLst/>
              <a:cxnLst/>
              <a:rect l="0" t="0" r="r" b="b"/>
              <a:pathLst>
                <a:path w="534710" h="687484">
                  <a:moveTo>
                    <a:pt x="84875" y="144287"/>
                  </a:moveTo>
                  <a:cubicBezTo>
                    <a:pt x="101850" y="33950"/>
                    <a:pt x="381936" y="0"/>
                    <a:pt x="458323" y="144287"/>
                  </a:cubicBezTo>
                  <a:cubicBezTo>
                    <a:pt x="466810" y="305549"/>
                    <a:pt x="534710" y="424373"/>
                    <a:pt x="475298" y="551685"/>
                  </a:cubicBezTo>
                  <a:cubicBezTo>
                    <a:pt x="441348" y="645047"/>
                    <a:pt x="331011" y="662022"/>
                    <a:pt x="263111" y="602610"/>
                  </a:cubicBezTo>
                  <a:cubicBezTo>
                    <a:pt x="212187" y="687484"/>
                    <a:pt x="76387" y="645047"/>
                    <a:pt x="42437" y="551685"/>
                  </a:cubicBezTo>
                  <a:cubicBezTo>
                    <a:pt x="0" y="441348"/>
                    <a:pt x="84875" y="237649"/>
                    <a:pt x="84875" y="144287"/>
                  </a:cubicBezTo>
                  <a:close/>
                </a:path>
              </a:pathLst>
            </a:custGeom>
            <a:solidFill>
              <a:srgbClr val="ffda65">
                <a:alpha val="100000"/>
              </a:srgbClr>
            </a:solidFill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path 711"/>
            <p:cNvSpPr/>
            <p:nvPr/>
          </p:nvSpPr>
          <p:spPr>
            <a:xfrm>
              <a:off x="15926375" y="9672944"/>
              <a:ext cx="914" cy="50925"/>
            </a:xfrm>
            <a:custGeom>
              <a:avLst/>
              <a:gdLst/>
              <a:ahLst/>
              <a:cxnLst/>
              <a:rect l="0" t="0" r="r" b="b"/>
              <a:pathLst>
                <a:path w="914" h="50925" fill="none">
                  <a:moveTo>
                    <a:pt x="0" y="0"/>
                  </a:moveTo>
                  <a:lnTo>
                    <a:pt x="0" y="50925"/>
                  </a:lnTo>
                </a:path>
              </a:pathLst>
            </a:custGeom>
            <a:noFill/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5" name="path 712"/>
            <p:cNvSpPr/>
            <p:nvPr/>
          </p:nvSpPr>
          <p:spPr>
            <a:xfrm>
              <a:off x="16104612" y="9672944"/>
              <a:ext cx="914" cy="50925"/>
            </a:xfrm>
            <a:custGeom>
              <a:avLst/>
              <a:gdLst/>
              <a:ahLst/>
              <a:cxnLst/>
              <a:rect l="0" t="0" r="r" b="b"/>
              <a:pathLst>
                <a:path w="914" h="50925" fill="none">
                  <a:moveTo>
                    <a:pt x="0" y="0"/>
                  </a:moveTo>
                  <a:lnTo>
                    <a:pt x="0" y="50925"/>
                  </a:lnTo>
                </a:path>
              </a:pathLst>
            </a:custGeom>
            <a:noFill/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6" name="path 713"/>
            <p:cNvSpPr/>
            <p:nvPr/>
          </p:nvSpPr>
          <p:spPr>
            <a:xfrm>
              <a:off x="15951838" y="9749331"/>
              <a:ext cx="152774" cy="161262"/>
            </a:xfrm>
            <a:custGeom>
              <a:avLst/>
              <a:gdLst/>
              <a:ahLst/>
              <a:cxnLst/>
              <a:rect l="0" t="0" r="r" b="b"/>
              <a:pathLst>
                <a:path w="152774" h="161262">
                  <a:moveTo>
                    <a:pt x="0" y="76387"/>
                  </a:moveTo>
                  <a:cubicBezTo>
                    <a:pt x="0" y="0"/>
                    <a:pt x="152774" y="0"/>
                    <a:pt x="152774" y="76387"/>
                  </a:cubicBezTo>
                  <a:cubicBezTo>
                    <a:pt x="144287" y="118824"/>
                    <a:pt x="93362" y="135799"/>
                    <a:pt x="76387" y="161262"/>
                  </a:cubicBezTo>
                  <a:cubicBezTo>
                    <a:pt x="42437" y="127312"/>
                    <a:pt x="8487" y="127312"/>
                    <a:pt x="0" y="76387"/>
                  </a:cubicBezTo>
                  <a:close/>
                </a:path>
              </a:pathLst>
            </a:custGeom>
            <a:solidFill>
              <a:srgbClr val="4a626c">
                <a:alpha val="100000"/>
              </a:srgbClr>
            </a:solidFill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path 714"/>
            <p:cNvSpPr/>
            <p:nvPr/>
          </p:nvSpPr>
          <p:spPr>
            <a:xfrm>
              <a:off x="16028225" y="9893618"/>
              <a:ext cx="914" cy="84875"/>
            </a:xfrm>
            <a:custGeom>
              <a:avLst/>
              <a:gdLst/>
              <a:ahLst/>
              <a:cxnLst/>
              <a:rect l="0" t="0" r="r" b="b"/>
              <a:pathLst>
                <a:path w="914" h="84875" fill="none">
                  <a:moveTo>
                    <a:pt x="0" y="0"/>
                  </a:moveTo>
                  <a:lnTo>
                    <a:pt x="0" y="84875"/>
                  </a:lnTo>
                </a:path>
              </a:pathLst>
            </a:custGeom>
            <a:noFill/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path 715"/>
            <p:cNvSpPr/>
            <p:nvPr/>
          </p:nvSpPr>
          <p:spPr>
            <a:xfrm>
              <a:off x="15917888" y="10029417"/>
              <a:ext cx="195212" cy="118824"/>
            </a:xfrm>
            <a:custGeom>
              <a:avLst/>
              <a:gdLst/>
              <a:ahLst/>
              <a:cxnLst/>
              <a:rect l="0" t="0" r="r" b="b"/>
              <a:pathLst>
                <a:path w="195212" h="118824" fill="none">
                  <a:moveTo>
                    <a:pt x="0" y="8487"/>
                  </a:moveTo>
                  <a:quadBezTo>
                    <a:pt x="93362" y="118824"/>
                    <a:pt x="195212" y="0"/>
                  </a:quadBezTo>
                </a:path>
              </a:pathLst>
            </a:custGeom>
            <a:noFill/>
            <a:ln w="25462" cap="rnd" cmpd="sng">
              <a:solidFill>
                <a:srgbClr val="0b0b0b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9" name="Inference image reconstruction"/>
          <p:cNvGrpSpPr/>
          <p:nvPr/>
        </p:nvGrpSpPr>
        <p:grpSpPr>
          <a:xfrm>
            <a:off x="14621256" y="8187263"/>
            <a:ext cx="2045013" cy="803575"/>
            <a:chOff x="14621256" y="8187263"/>
            <a:chExt cx="2045013" cy="803575"/>
          </a:xfrm>
        </p:grpSpPr>
        <p:sp>
          <p:nvSpPr>
            <p:cNvPr id="780" name="Reconstructed"/>
            <p:cNvSpPr txBox="1"/>
            <p:nvPr/>
          </p:nvSpPr>
          <p:spPr>
            <a:xfrm>
              <a:off x="14621256" y="8187263"/>
              <a:ext cx="2045013" cy="41952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664" b="0" i="0" dirty="0">
                  <a:solidFill>
                    <a:srgbClr val="0B0B0B"/>
                  </a:solidFill>
                  <a:latin typeface="Liberation Serif"/>
                </a:rPr>
                <a:t>Reconstructed</a:t>
              </a:r>
            </a:p>
          </p:txBody>
        </p:sp>
        <p:sp>
          <p:nvSpPr>
            <p:cNvPr id="781" name="Images"/>
            <p:cNvSpPr txBox="1"/>
            <p:nvPr/>
          </p:nvSpPr>
          <p:spPr>
            <a:xfrm>
              <a:off x="14621256" y="8571311"/>
              <a:ext cx="1086707" cy="419527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664" b="0" i="0" dirty="0">
                  <a:solidFill>
                    <a:srgbClr val="0B0B0B"/>
                  </a:solidFill>
                  <a:latin typeface="Liberation Serif"/>
                </a:rPr>
                <a:t>Images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ZEBRA Towards Zero-Shot Cross-Subject Generalization for Universal Brain Visual Decod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282160" cy="11064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ZEBRA: Training and Inference Architecture</dc:title>
  <dc:subject>Editable reconstruction of the supplied ZEBRA diagram</dc:subject>
  <dc:creator/>
  <cp:keywords>ZEBRA, fMRI, brain visual decoding, editable vector diagram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