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5873984" cy="9308592"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Recreated from the supplied reference diagram. All text, blocks, arrows, query matrices and brackets are editable PowerPoint objects. Only the street photograph and two point cloud visualizations are embedded image crops.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hite canvas"/>
          <p:cNvSpPr/>
          <p:nvPr/>
        </p:nvSpPr>
        <p:spPr>
          <a:xfrm>
            <a:off x="0" y="0"/>
            <a:ext cx="15873984" cy="93085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Panel a background"/>
          <p:cNvSpPr/>
          <p:nvPr/>
        </p:nvSpPr>
        <p:spPr>
          <a:xfrm>
            <a:off x="73152" y="475488"/>
            <a:ext cx="9564624" cy="2688336"/>
          </a:xfrm>
          <a:prstGeom prst="rect">
            <a:avLst/>
          </a:prstGeom>
          <a:solidFill>
            <a:srgbClr val="EBDCE1"/>
          </a:solidFill>
          <a:ln>
            <a:noFill/>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Panel b and principal component background"/>
          <p:cNvSpPr/>
          <p:nvPr/>
        </p:nvSpPr>
        <p:spPr>
          <a:xfrm>
            <a:off x="2935224" y="466344"/>
            <a:ext cx="12929616" cy="4288536"/>
          </a:xfrm>
          <a:custGeom>
            <a:avLst/>
            <a:gdLst/>
            <a:ahLst/>
            <a:cxnLst/>
            <a:rect l="0" t="0" r="r" b="b"/>
            <a:pathLst>
              <a:path w="12929616" h="4288536">
                <a:moveTo>
                  <a:pt x="0" y="2715768"/>
                </a:moveTo>
                <a:lnTo>
                  <a:pt x="6821424" y="2715768"/>
                </a:lnTo>
                <a:lnTo>
                  <a:pt x="6821424" y="0"/>
                </a:lnTo>
                <a:lnTo>
                  <a:pt x="12929616" y="0"/>
                </a:lnTo>
                <a:lnTo>
                  <a:pt x="12929616" y="4288536"/>
                </a:lnTo>
                <a:lnTo>
                  <a:pt x="0" y="4288536"/>
                </a:lnTo>
                <a:close/>
              </a:path>
            </a:pathLst>
          </a:custGeom>
          <a:solidFill>
            <a:srgbClr val="E3EF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Panel c background"/>
          <p:cNvSpPr/>
          <p:nvPr/>
        </p:nvSpPr>
        <p:spPr>
          <a:xfrm>
            <a:off x="73152" y="4846320"/>
            <a:ext cx="15791688" cy="4105656"/>
          </a:xfrm>
          <a:prstGeom prst="rect">
            <a:avLst/>
          </a:prstGeom>
          <a:gradFill rotWithShape="1">
            <a:gsLst>
              <a:gs pos="0">
                <a:srgbClr val="FDE6C5"/>
              </a:gs>
              <a:gs pos="100000">
                <a:srgbClr val="FFFFD3"/>
              </a:gs>
            </a:gsLst>
            <a:lin ang="0" scaled="1"/>
          </a:gradFill>
          <a:ln>
            <a:noFill/>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Connector"/>
          <p:cNvSpPr/>
          <p:nvPr/>
        </p:nvSpPr>
        <p:spPr>
          <a:xfrm>
            <a:off x="576072" y="2130552"/>
            <a:ext cx="91" cy="4626864"/>
          </a:xfrm>
          <a:custGeom>
            <a:avLst/>
            <a:gdLst/>
            <a:ahLst/>
            <a:cxnLst/>
            <a:rect l="0" t="0" r="r" b="b"/>
            <a:pathLst>
              <a:path w="91" h="4626864">
                <a:moveTo>
                  <a:pt x="0" y="0"/>
                </a:moveTo>
                <a:lnTo>
                  <a:pt x="0" y="4626864"/>
                </a:lnTo>
              </a:path>
            </a:pathLst>
          </a:custGeom>
          <a:noFill/>
          <a:ln w="23774" cap="flat">
            <a:solidFill>
              <a:srgbClr val="101010"/>
            </a:solidFill>
            <a:custDash>
              <a:ds d="384615" sp="384615"/>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pen arrowhead"/>
          <p:cNvSpPr/>
          <p:nvPr/>
        </p:nvSpPr>
        <p:spPr>
          <a:xfrm>
            <a:off x="521208" y="2130552"/>
            <a:ext cx="109728" cy="100584"/>
          </a:xfrm>
          <a:custGeom>
            <a:avLst/>
            <a:gdLst/>
            <a:ahLst/>
            <a:cxnLst/>
            <a:rect l="0" t="0" r="r" b="b"/>
            <a:pathLst>
              <a:path w="109728" h="100584">
                <a:moveTo>
                  <a:pt x="0" y="100584"/>
                </a:moveTo>
                <a:lnTo>
                  <a:pt x="54864" y="0"/>
                </a:lnTo>
                <a:lnTo>
                  <a:pt x="109728" y="100584"/>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pen arrowhead"/>
          <p:cNvSpPr/>
          <p:nvPr/>
        </p:nvSpPr>
        <p:spPr>
          <a:xfrm>
            <a:off x="521208" y="6656832"/>
            <a:ext cx="109728" cy="100584"/>
          </a:xfrm>
          <a:custGeom>
            <a:avLst/>
            <a:gdLst/>
            <a:ahLst/>
            <a:cxnLst/>
            <a:rect l="0" t="0" r="r" b="b"/>
            <a:pathLst>
              <a:path w="109728" h="100584">
                <a:moveTo>
                  <a:pt x="0" y="0"/>
                </a:moveTo>
                <a:lnTo>
                  <a:pt x="54864" y="100584"/>
                </a:lnTo>
                <a:lnTo>
                  <a:pt x="109728"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aired"/>
          <p:cNvSpPr txBox="1"/>
          <p:nvPr/>
        </p:nvSpPr>
        <p:spPr>
          <a:xfrm rot="5400000">
            <a:off x="-118872" y="5394960"/>
            <a:ext cx="1005840" cy="292608"/>
          </a:xfrm>
          <a:prstGeom prst="rect">
            <a:avLst/>
          </a:prstGeom>
          <a:noFill/>
        </p:spPr>
        <p:txBody>
          <a:bodyPr wrap="none" lIns="0" rIns="0" tIns="0" bIns="0" anchor="ctr"/>
          <a:lstStyle/>
          <a:p>
            <a:pPr algn="ctr">
              <a:lnSpc>
                <a:spcPct val="100000"/>
              </a:lnSpc>
              <a:spcBef>
                <a:spcPts val="0"/>
              </a:spcBef>
              <a:spcAft>
                <a:spcPts val="0"/>
              </a:spcAft>
            </a:pPr>
            <a:r>
              <a:rPr sz="1943" b="0" i="0" dirty="0">
                <a:solidFill>
                  <a:srgbClr val="828282"/>
                </a:solidFill>
                <a:latin typeface="Arial"/>
              </a:rPr>
              <a:t>Paired</a:t>
            </a:r>
          </a:p>
        </p:txBody>
      </p:sp>
      <p:sp>
        <p:nvSpPr>
          <p:cNvPr id="10" name="(a) Construction of Object Agent Queries"/>
          <p:cNvSpPr txBox="1"/>
          <p:nvPr/>
        </p:nvSpPr>
        <p:spPr>
          <a:xfrm>
            <a:off x="118872" y="73152"/>
            <a:ext cx="9372600" cy="374904"/>
          </a:xfrm>
          <a:prstGeom prst="rect">
            <a:avLst/>
          </a:prstGeom>
          <a:noFill/>
        </p:spPr>
        <p:txBody>
          <a:bodyPr wrap="none" lIns="0" rIns="0" tIns="0" bIns="0" anchor="ctr"/>
          <a:lstStyle/>
          <a:p>
            <a:pPr algn="l">
              <a:lnSpc>
                <a:spcPct val="100000"/>
              </a:lnSpc>
              <a:spcBef>
                <a:spcPts val="0"/>
              </a:spcBef>
              <a:spcAft>
                <a:spcPts val="0"/>
              </a:spcAft>
            </a:pPr>
            <a:r>
              <a:rPr sz="2160" b="1" i="0" dirty="0">
                <a:solidFill>
                  <a:srgbClr val="101010"/>
                </a:solidFill>
                <a:latin typeface="Arial"/>
              </a:rPr>
              <a:t>(a) Construction of Object Agent Queries</a:t>
            </a:r>
          </a:p>
        </p:txBody>
      </p:sp>
      <p:sp>
        <p:nvSpPr>
          <p:cNvPr id="11" name="(b) Dual-queries Consistency Scheme"/>
          <p:cNvSpPr txBox="1"/>
          <p:nvPr/>
        </p:nvSpPr>
        <p:spPr>
          <a:xfrm>
            <a:off x="9793224" y="73152"/>
            <a:ext cx="6080760" cy="374904"/>
          </a:xfrm>
          <a:prstGeom prst="rect">
            <a:avLst/>
          </a:prstGeom>
          <a:noFill/>
        </p:spPr>
        <p:txBody>
          <a:bodyPr wrap="none" lIns="0" rIns="0" tIns="0" bIns="0" anchor="ctr"/>
          <a:lstStyle/>
          <a:p>
            <a:pPr algn="l">
              <a:lnSpc>
                <a:spcPct val="100000"/>
              </a:lnSpc>
              <a:spcBef>
                <a:spcPts val="0"/>
              </a:spcBef>
              <a:spcAft>
                <a:spcPts val="0"/>
              </a:spcAft>
            </a:pPr>
            <a:r>
              <a:rPr sz="2160" b="1" i="0" dirty="0">
                <a:solidFill>
                  <a:srgbClr val="101010"/>
                </a:solidFill>
                <a:latin typeface="Arial"/>
              </a:rPr>
              <a:t>(b) Dual-queries Consistency Scheme</a:t>
            </a:r>
          </a:p>
        </p:txBody>
      </p:sp>
      <p:sp>
        <p:nvSpPr>
          <p:cNvPr id="12" name="(c) Cross-modal Semantic Enhancement"/>
          <p:cNvSpPr txBox="1"/>
          <p:nvPr/>
        </p:nvSpPr>
        <p:spPr>
          <a:xfrm>
            <a:off x="109728" y="8979408"/>
            <a:ext cx="11430000" cy="329184"/>
          </a:xfrm>
          <a:prstGeom prst="rect">
            <a:avLst/>
          </a:prstGeom>
          <a:noFill/>
        </p:spPr>
        <p:txBody>
          <a:bodyPr wrap="none" lIns="0" rIns="0" tIns="0" bIns="0" anchor="ctr"/>
          <a:lstStyle/>
          <a:p>
            <a:pPr algn="l">
              <a:lnSpc>
                <a:spcPct val="100000"/>
              </a:lnSpc>
              <a:spcBef>
                <a:spcPts val="0"/>
              </a:spcBef>
              <a:spcAft>
                <a:spcPts val="0"/>
              </a:spcAft>
            </a:pPr>
            <a:r>
              <a:rPr sz="2160" b="1" i="0" dirty="0">
                <a:solidFill>
                  <a:srgbClr val="101010"/>
                </a:solidFill>
                <a:latin typeface="Arial"/>
              </a:rPr>
              <a:t>(c) Cross-modal Semantic Enhancement</a:t>
            </a:r>
          </a:p>
        </p:txBody>
      </p:sp>
      <p:grpSp>
        <p:nvGrpSpPr>
          <p:cNvPr id="13" name="a — Construction of Object Agent Queries"/>
          <p:cNvGrpSpPr/>
          <p:nvPr/>
        </p:nvGrpSpPr>
        <p:grpSpPr>
          <a:xfrm>
            <a:off x="237744" y="576072"/>
            <a:ext cx="9272016" cy="4105656"/>
            <a:chOff x="237744" y="576072"/>
            <a:chExt cx="9272016" cy="4105656"/>
          </a:xfrm>
        </p:grpSpPr>
        <p:pic>
          <p:nvPicPr>
            <p:cNvPr id="14" name="Source street image" descr="street.png"/>
            <p:cNvPicPr>
              <a:picLocks noChangeAspect="1"/>
            </p:cNvPicPr>
            <p:nvPr/>
          </p:nvPicPr>
          <p:blipFill>
            <a:blip r:embed="rId3"/>
            <a:stretch>
              <a:fillRect/>
            </a:stretch>
          </p:blipFill>
          <p:spPr>
            <a:xfrm>
              <a:off x="237744" y="786384"/>
              <a:ext cx="2130552" cy="1325880"/>
            </a:xfrm>
            <a:prstGeom prst="rect">
              <a:avLst/>
            </a:prstGeom>
          </p:spPr>
        </p:pic>
        <p:sp>
          <p:nvSpPr>
            <p:cNvPr id="15" name="Source Image"/>
            <p:cNvSpPr txBox="1"/>
            <p:nvPr/>
          </p:nvSpPr>
          <p:spPr>
            <a:xfrm>
              <a:off x="740664" y="2185416"/>
              <a:ext cx="1627632" cy="347472"/>
            </a:xfrm>
            <a:prstGeom prst="rect">
              <a:avLst/>
            </a:prstGeom>
            <a:noFill/>
          </p:spPr>
          <p:txBody>
            <a:bodyPr wrap="none" lIns="0" rIns="0" tIns="0" bIns="0" anchor="ctr"/>
            <a:lstStyle/>
            <a:p>
              <a:pPr algn="l">
                <a:lnSpc>
                  <a:spcPct val="100000"/>
                </a:lnSpc>
                <a:spcBef>
                  <a:spcPts val="0"/>
                </a:spcBef>
                <a:spcAft>
                  <a:spcPts val="0"/>
                </a:spcAft>
              </a:pPr>
              <a:r>
                <a:rPr sz="1943" b="0" i="0" dirty="0">
                  <a:solidFill>
                    <a:srgbClr val="101010"/>
                  </a:solidFill>
                  <a:latin typeface="Arial"/>
                </a:rPr>
                <a:t>Source Image</a:t>
              </a:r>
            </a:p>
          </p:txBody>
        </p:sp>
        <p:sp>
          <p:nvSpPr>
            <p:cNvPr id="16" name="Connector"/>
            <p:cNvSpPr/>
            <p:nvPr/>
          </p:nvSpPr>
          <p:spPr>
            <a:xfrm>
              <a:off x="2368296" y="1453896"/>
              <a:ext cx="265176" cy="91"/>
            </a:xfrm>
            <a:custGeom>
              <a:avLst/>
              <a:gdLst/>
              <a:ahLst/>
              <a:cxnLst/>
              <a:rect l="0" t="0" r="r" b="b"/>
              <a:pathLst>
                <a:path w="265176" h="91">
                  <a:moveTo>
                    <a:pt x="0" y="0"/>
                  </a:moveTo>
                  <a:lnTo>
                    <a:pt x="265176"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Arrowhead"/>
            <p:cNvSpPr/>
            <p:nvPr/>
          </p:nvSpPr>
          <p:spPr>
            <a:xfrm>
              <a:off x="2542032" y="1410005"/>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onnector"/>
            <p:cNvSpPr/>
            <p:nvPr/>
          </p:nvSpPr>
          <p:spPr>
            <a:xfrm>
              <a:off x="3383280" y="1453896"/>
              <a:ext cx="438912" cy="91"/>
            </a:xfrm>
            <a:custGeom>
              <a:avLst/>
              <a:gdLst/>
              <a:ahLst/>
              <a:cxnLst/>
              <a:rect l="0" t="0" r="r" b="b"/>
              <a:pathLst>
                <a:path w="438912" h="91">
                  <a:moveTo>
                    <a:pt x="0" y="0"/>
                  </a:moveTo>
                  <a:lnTo>
                    <a:pt x="438912"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Arrowhead"/>
            <p:cNvSpPr/>
            <p:nvPr/>
          </p:nvSpPr>
          <p:spPr>
            <a:xfrm>
              <a:off x="3730752" y="1410005"/>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Connector"/>
            <p:cNvSpPr/>
            <p:nvPr/>
          </p:nvSpPr>
          <p:spPr>
            <a:xfrm>
              <a:off x="4279392" y="1453896"/>
              <a:ext cx="457200" cy="91"/>
            </a:xfrm>
            <a:custGeom>
              <a:avLst/>
              <a:gdLst/>
              <a:ahLst/>
              <a:cxnLst/>
              <a:rect l="0" t="0" r="r" b="b"/>
              <a:pathLst>
                <a:path w="457200" h="91">
                  <a:moveTo>
                    <a:pt x="0" y="0"/>
                  </a:moveTo>
                  <a:lnTo>
                    <a:pt x="457200"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Arrowhead"/>
            <p:cNvSpPr/>
            <p:nvPr/>
          </p:nvSpPr>
          <p:spPr>
            <a:xfrm>
              <a:off x="4645152" y="1410005"/>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Pre-trained encoder"/>
            <p:cNvSpPr/>
            <p:nvPr/>
          </p:nvSpPr>
          <p:spPr>
            <a:xfrm>
              <a:off x="2633472" y="576072"/>
              <a:ext cx="749808" cy="1737360"/>
            </a:xfrm>
            <a:prstGeom prst="roundRect">
              <a:avLst>
                <a:gd name="adj" fmla="val 18292"/>
              </a:avLst>
            </a:prstGeom>
            <a:solidFill>
              <a:srgbClr val="EBDCE1"/>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Pre-trained / Encoder"/>
            <p:cNvSpPr txBox="1"/>
            <p:nvPr/>
          </p:nvSpPr>
          <p:spPr>
            <a:xfrm rot="5400000">
              <a:off x="2286000" y="1124712"/>
              <a:ext cx="1435608" cy="603504"/>
            </a:xfrm>
            <a:prstGeom prst="rect">
              <a:avLst/>
            </a:prstGeom>
            <a:noFill/>
          </p:spPr>
          <p:txBody>
            <a:bodyPr wrap="none" lIns="0" rIns="0" tIns="0" bIns="0" anchor="ctr"/>
            <a:lstStyle/>
            <a:p>
              <a:pPr algn="ctr">
                <a:lnSpc>
                  <a:spcPct val="100000"/>
                </a:lnSpc>
                <a:spcBef>
                  <a:spcPts val="0"/>
                </a:spcBef>
                <a:spcAft>
                  <a:spcPts val="0"/>
                </a:spcAft>
              </a:pPr>
              <a:r>
                <a:rPr sz="2088" b="0" i="0" dirty="0">
                  <a:solidFill>
                    <a:srgbClr val="101010"/>
                  </a:solidFill>
                  <a:latin typeface="Arial"/>
                </a:rPr>
                <a:t>Pre-trained</a:t>
              </a:r>
            </a:p>
            <a:p>
              <a:pPr algn="ctr">
                <a:lnSpc>
                  <a:spcPct val="100000"/>
                </a:lnSpc>
                <a:spcBef>
                  <a:spcPts val="0"/>
                </a:spcBef>
                <a:spcAft>
                  <a:spcPts val="0"/>
                </a:spcAft>
              </a:pPr>
              <a:r>
                <a:rPr sz="2088" b="0" i="0" dirty="0">
                  <a:solidFill>
                    <a:srgbClr val="101010"/>
                  </a:solidFill>
                  <a:latin typeface="Arial"/>
                </a:rPr>
                <a:t>Encoder</a:t>
              </a:r>
            </a:p>
          </p:txBody>
        </p:sp>
        <p:grpSp>
          <p:nvGrpSpPr>
            <p:cNvPr id="24" name="Frozen parameters snowflake"/>
            <p:cNvGrpSpPr/>
            <p:nvPr/>
          </p:nvGrpSpPr>
          <p:grpSpPr>
            <a:xfrm>
              <a:off x="3154680" y="2078795"/>
              <a:ext cx="182880" cy="158379"/>
              <a:chOff x="3154680" y="2078795"/>
              <a:chExt cx="182880" cy="158379"/>
            </a:xfrm>
          </p:grpSpPr>
          <p:sp>
            <p:nvSpPr>
              <p:cNvPr id="25" name="Connector"/>
              <p:cNvSpPr/>
              <p:nvPr/>
            </p:nvSpPr>
            <p:spPr>
              <a:xfrm>
                <a:off x="3154680" y="2157984"/>
                <a:ext cx="182880" cy="91"/>
              </a:xfrm>
              <a:custGeom>
                <a:avLst/>
                <a:gdLst/>
                <a:ahLst/>
                <a:cxnLst/>
                <a:rect l="0" t="0" r="r" b="b"/>
                <a:pathLst>
                  <a:path w="182880" h="91">
                    <a:moveTo>
                      <a:pt x="0" y="0"/>
                    </a:moveTo>
                    <a:lnTo>
                      <a:pt x="182880" y="0"/>
                    </a:lnTo>
                  </a:path>
                </a:pathLst>
              </a:custGeom>
              <a:noFill/>
              <a:ln w="11887"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Connector"/>
              <p:cNvSpPr/>
              <p:nvPr/>
            </p:nvSpPr>
            <p:spPr>
              <a:xfrm>
                <a:off x="3189427" y="2135124"/>
                <a:ext cx="25603" cy="22860"/>
              </a:xfrm>
              <a:custGeom>
                <a:avLst/>
                <a:gdLst/>
                <a:ahLst/>
                <a:cxnLst/>
                <a:rect l="0" t="0" r="r" b="b"/>
                <a:pathLst>
                  <a:path w="25603" h="22860">
                    <a:moveTo>
                      <a:pt x="0" y="22860"/>
                    </a:moveTo>
                    <a:lnTo>
                      <a:pt x="25603" y="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Connector"/>
              <p:cNvSpPr/>
              <p:nvPr/>
            </p:nvSpPr>
            <p:spPr>
              <a:xfrm>
                <a:off x="3189427" y="2157984"/>
                <a:ext cx="25603" cy="22860"/>
              </a:xfrm>
              <a:custGeom>
                <a:avLst/>
                <a:gdLst/>
                <a:ahLst/>
                <a:cxnLst/>
                <a:rect l="0" t="0" r="r" b="b"/>
                <a:pathLst>
                  <a:path w="25603" h="22860">
                    <a:moveTo>
                      <a:pt x="0" y="0"/>
                    </a:moveTo>
                    <a:lnTo>
                      <a:pt x="25603" y="2286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Connector"/>
              <p:cNvSpPr/>
              <p:nvPr/>
            </p:nvSpPr>
            <p:spPr>
              <a:xfrm>
                <a:off x="3277210" y="2135124"/>
                <a:ext cx="25603" cy="22860"/>
              </a:xfrm>
              <a:custGeom>
                <a:avLst/>
                <a:gdLst/>
                <a:ahLst/>
                <a:cxnLst/>
                <a:rect l="0" t="0" r="r" b="b"/>
                <a:pathLst>
                  <a:path w="25603" h="22860">
                    <a:moveTo>
                      <a:pt x="25603" y="22860"/>
                    </a:moveTo>
                    <a:lnTo>
                      <a:pt x="0" y="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onnector"/>
              <p:cNvSpPr/>
              <p:nvPr/>
            </p:nvSpPr>
            <p:spPr>
              <a:xfrm>
                <a:off x="3277210" y="2157984"/>
                <a:ext cx="25603" cy="22860"/>
              </a:xfrm>
              <a:custGeom>
                <a:avLst/>
                <a:gdLst/>
                <a:ahLst/>
                <a:cxnLst/>
                <a:rect l="0" t="0" r="r" b="b"/>
                <a:pathLst>
                  <a:path w="25603" h="22860">
                    <a:moveTo>
                      <a:pt x="25603" y="0"/>
                    </a:moveTo>
                    <a:lnTo>
                      <a:pt x="0" y="2286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Connector"/>
              <p:cNvSpPr/>
              <p:nvPr/>
            </p:nvSpPr>
            <p:spPr>
              <a:xfrm>
                <a:off x="3200400" y="2078795"/>
                <a:ext cx="91440" cy="158379"/>
              </a:xfrm>
              <a:custGeom>
                <a:avLst/>
                <a:gdLst/>
                <a:ahLst/>
                <a:cxnLst/>
                <a:rect l="0" t="0" r="r" b="b"/>
                <a:pathLst>
                  <a:path w="91440" h="158379">
                    <a:moveTo>
                      <a:pt x="0" y="0"/>
                    </a:moveTo>
                    <a:lnTo>
                      <a:pt x="91440" y="158379"/>
                    </a:lnTo>
                  </a:path>
                </a:pathLst>
              </a:custGeom>
              <a:noFill/>
              <a:ln w="11887"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onnector"/>
              <p:cNvSpPr/>
              <p:nvPr/>
            </p:nvSpPr>
            <p:spPr>
              <a:xfrm>
                <a:off x="3217774" y="2108887"/>
                <a:ext cx="32599" cy="10743"/>
              </a:xfrm>
              <a:custGeom>
                <a:avLst/>
                <a:gdLst/>
                <a:ahLst/>
                <a:cxnLst/>
                <a:rect l="0" t="0" r="r" b="b"/>
                <a:pathLst>
                  <a:path w="32599" h="10743">
                    <a:moveTo>
                      <a:pt x="0" y="0"/>
                    </a:moveTo>
                    <a:lnTo>
                      <a:pt x="32599" y="10743"/>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Connector"/>
              <p:cNvSpPr/>
              <p:nvPr/>
            </p:nvSpPr>
            <p:spPr>
              <a:xfrm>
                <a:off x="3210778" y="2108887"/>
                <a:ext cx="6996" cy="33603"/>
              </a:xfrm>
              <a:custGeom>
                <a:avLst/>
                <a:gdLst/>
                <a:ahLst/>
                <a:cxnLst/>
                <a:rect l="0" t="0" r="r" b="b"/>
                <a:pathLst>
                  <a:path w="6996" h="33603">
                    <a:moveTo>
                      <a:pt x="6996" y="0"/>
                    </a:moveTo>
                    <a:lnTo>
                      <a:pt x="0" y="33603"/>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Connector"/>
              <p:cNvSpPr/>
              <p:nvPr/>
            </p:nvSpPr>
            <p:spPr>
              <a:xfrm>
                <a:off x="3274466" y="2173478"/>
                <a:ext cx="6996" cy="33603"/>
              </a:xfrm>
              <a:custGeom>
                <a:avLst/>
                <a:gdLst/>
                <a:ahLst/>
                <a:cxnLst/>
                <a:rect l="0" t="0" r="r" b="b"/>
                <a:pathLst>
                  <a:path w="6996" h="33603">
                    <a:moveTo>
                      <a:pt x="0" y="33603"/>
                    </a:moveTo>
                    <a:lnTo>
                      <a:pt x="6996" y="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onnector"/>
              <p:cNvSpPr/>
              <p:nvPr/>
            </p:nvSpPr>
            <p:spPr>
              <a:xfrm>
                <a:off x="3241867" y="2196338"/>
                <a:ext cx="32599" cy="10743"/>
              </a:xfrm>
              <a:custGeom>
                <a:avLst/>
                <a:gdLst/>
                <a:ahLst/>
                <a:cxnLst/>
                <a:rect l="0" t="0" r="r" b="b"/>
                <a:pathLst>
                  <a:path w="32599" h="10743">
                    <a:moveTo>
                      <a:pt x="32599" y="10743"/>
                    </a:moveTo>
                    <a:lnTo>
                      <a:pt x="0" y="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Connector"/>
              <p:cNvSpPr/>
              <p:nvPr/>
            </p:nvSpPr>
            <p:spPr>
              <a:xfrm>
                <a:off x="3200400" y="2078795"/>
                <a:ext cx="91440" cy="158379"/>
              </a:xfrm>
              <a:custGeom>
                <a:avLst/>
                <a:gdLst/>
                <a:ahLst/>
                <a:cxnLst/>
                <a:rect l="0" t="0" r="r" b="b"/>
                <a:pathLst>
                  <a:path w="91440" h="158379">
                    <a:moveTo>
                      <a:pt x="91440" y="0"/>
                    </a:moveTo>
                    <a:lnTo>
                      <a:pt x="0" y="158379"/>
                    </a:lnTo>
                  </a:path>
                </a:pathLst>
              </a:custGeom>
              <a:noFill/>
              <a:ln w="11887"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Connector"/>
              <p:cNvSpPr/>
              <p:nvPr/>
            </p:nvSpPr>
            <p:spPr>
              <a:xfrm>
                <a:off x="3274466" y="2108887"/>
                <a:ext cx="6996" cy="33603"/>
              </a:xfrm>
              <a:custGeom>
                <a:avLst/>
                <a:gdLst/>
                <a:ahLst/>
                <a:cxnLst/>
                <a:rect l="0" t="0" r="r" b="b"/>
                <a:pathLst>
                  <a:path w="6996" h="33603">
                    <a:moveTo>
                      <a:pt x="0" y="0"/>
                    </a:moveTo>
                    <a:lnTo>
                      <a:pt x="6996" y="33603"/>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Connector"/>
              <p:cNvSpPr/>
              <p:nvPr/>
            </p:nvSpPr>
            <p:spPr>
              <a:xfrm>
                <a:off x="3241867" y="2108887"/>
                <a:ext cx="32599" cy="10743"/>
              </a:xfrm>
              <a:custGeom>
                <a:avLst/>
                <a:gdLst/>
                <a:ahLst/>
                <a:cxnLst/>
                <a:rect l="0" t="0" r="r" b="b"/>
                <a:pathLst>
                  <a:path w="32599" h="10743">
                    <a:moveTo>
                      <a:pt x="32599" y="0"/>
                    </a:moveTo>
                    <a:lnTo>
                      <a:pt x="0" y="10743"/>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Connector"/>
              <p:cNvSpPr/>
              <p:nvPr/>
            </p:nvSpPr>
            <p:spPr>
              <a:xfrm>
                <a:off x="3217774" y="2196338"/>
                <a:ext cx="32599" cy="10743"/>
              </a:xfrm>
              <a:custGeom>
                <a:avLst/>
                <a:gdLst/>
                <a:ahLst/>
                <a:cxnLst/>
                <a:rect l="0" t="0" r="r" b="b"/>
                <a:pathLst>
                  <a:path w="32599" h="10743">
                    <a:moveTo>
                      <a:pt x="0" y="10743"/>
                    </a:moveTo>
                    <a:lnTo>
                      <a:pt x="32599" y="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Connector"/>
              <p:cNvSpPr/>
              <p:nvPr/>
            </p:nvSpPr>
            <p:spPr>
              <a:xfrm>
                <a:off x="3210778" y="2173478"/>
                <a:ext cx="6996" cy="33603"/>
              </a:xfrm>
              <a:custGeom>
                <a:avLst/>
                <a:gdLst/>
                <a:ahLst/>
                <a:cxnLst/>
                <a:rect l="0" t="0" r="r" b="b"/>
                <a:pathLst>
                  <a:path w="6996" h="33603">
                    <a:moveTo>
                      <a:pt x="6996" y="33603"/>
                    </a:moveTo>
                    <a:lnTo>
                      <a:pt x="0" y="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40" name="Latent z0 tensor"/>
            <p:cNvGrpSpPr/>
            <p:nvPr/>
          </p:nvGrpSpPr>
          <p:grpSpPr>
            <a:xfrm>
              <a:off x="3822192" y="758952"/>
              <a:ext cx="448056" cy="1207008"/>
              <a:chOff x="3822192" y="758952"/>
              <a:chExt cx="448056" cy="1207008"/>
            </a:xfrm>
          </p:grpSpPr>
          <p:sp>
            <p:nvSpPr>
              <p:cNvPr id="41" name="Polygon"/>
              <p:cNvSpPr/>
              <p:nvPr/>
            </p:nvSpPr>
            <p:spPr>
              <a:xfrm>
                <a:off x="3822192" y="758952"/>
                <a:ext cx="448056" cy="1207008"/>
              </a:xfrm>
              <a:custGeom>
                <a:avLst/>
                <a:gdLst/>
                <a:ahLst/>
                <a:cxnLst/>
                <a:rect l="0" t="0" r="r" b="b"/>
                <a:pathLst>
                  <a:path w="448056" h="1207008">
                    <a:moveTo>
                      <a:pt x="0" y="384048"/>
                    </a:moveTo>
                    <a:lnTo>
                      <a:pt x="374904" y="0"/>
                    </a:lnTo>
                    <a:lnTo>
                      <a:pt x="448056" y="0"/>
                    </a:lnTo>
                    <a:lnTo>
                      <a:pt x="448056" y="832104"/>
                    </a:lnTo>
                    <a:lnTo>
                      <a:pt x="73152" y="1207008"/>
                    </a:lnTo>
                    <a:lnTo>
                      <a:pt x="0" y="1207008"/>
                    </a:lnTo>
                    <a:close/>
                  </a:path>
                </a:pathLst>
              </a:custGeom>
              <a:solidFill>
                <a:srgbClr val="F7F7F7"/>
              </a:solidFill>
              <a:ln w="18288" cap="flat">
                <a:solidFill>
                  <a:srgbClr val="858B8C"/>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Polygon"/>
              <p:cNvSpPr/>
              <p:nvPr/>
            </p:nvSpPr>
            <p:spPr>
              <a:xfrm>
                <a:off x="3895344" y="758952"/>
                <a:ext cx="374904" cy="1207008"/>
              </a:xfrm>
              <a:custGeom>
                <a:avLst/>
                <a:gdLst/>
                <a:ahLst/>
                <a:cxnLst/>
                <a:rect l="0" t="0" r="r" b="b"/>
                <a:pathLst>
                  <a:path w="374904" h="1207008">
                    <a:moveTo>
                      <a:pt x="0" y="384048"/>
                    </a:moveTo>
                    <a:lnTo>
                      <a:pt x="374904" y="0"/>
                    </a:lnTo>
                    <a:lnTo>
                      <a:pt x="374904" y="832104"/>
                    </a:lnTo>
                    <a:lnTo>
                      <a:pt x="0" y="1207008"/>
                    </a:lnTo>
                    <a:close/>
                  </a:path>
                </a:pathLst>
              </a:custGeom>
              <a:solidFill>
                <a:srgbClr val="CDCFCE"/>
              </a:solidFill>
              <a:ln w="18288" cap="flat">
                <a:solidFill>
                  <a:srgbClr val="858B8C"/>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Connector"/>
              <p:cNvSpPr/>
              <p:nvPr/>
            </p:nvSpPr>
            <p:spPr>
              <a:xfrm>
                <a:off x="3822192" y="1143000"/>
                <a:ext cx="73152" cy="91"/>
              </a:xfrm>
              <a:custGeom>
                <a:avLst/>
                <a:gdLst/>
                <a:ahLst/>
                <a:cxnLst/>
                <a:rect l="0" t="0" r="r" b="b"/>
                <a:pathLst>
                  <a:path w="73152" h="91">
                    <a:moveTo>
                      <a:pt x="0" y="0"/>
                    </a:moveTo>
                    <a:lnTo>
                      <a:pt x="73152" y="0"/>
                    </a:lnTo>
                  </a:path>
                </a:pathLst>
              </a:custGeom>
              <a:noFill/>
              <a:ln w="13716" cap="flat">
                <a:solidFill>
                  <a:srgbClr val="858B8C"/>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44" name="Latent"/>
            <p:cNvSpPr txBox="1"/>
            <p:nvPr/>
          </p:nvSpPr>
          <p:spPr>
            <a:xfrm>
              <a:off x="3611880" y="2011680"/>
              <a:ext cx="649224" cy="283464"/>
            </a:xfrm>
            <a:prstGeom prst="rect">
              <a:avLst/>
            </a:prstGeom>
            <a:noFill/>
          </p:spPr>
          <p:txBody>
            <a:bodyPr wrap="none" lIns="0" rIns="0" tIns="0" bIns="0" anchor="ctr"/>
            <a:lstStyle/>
            <a:p>
              <a:pPr algn="l">
                <a:lnSpc>
                  <a:spcPct val="100000"/>
                </a:lnSpc>
                <a:spcBef>
                  <a:spcPts val="0"/>
                </a:spcBef>
                <a:spcAft>
                  <a:spcPts val="0"/>
                </a:spcAft>
              </a:pPr>
              <a:r>
                <a:rPr sz="1655" b="0" i="0" dirty="0">
                  <a:solidFill>
                    <a:srgbClr val="454545"/>
                  </a:solidFill>
                  <a:latin typeface="Arial"/>
                </a:rPr>
                <a:t>Latent</a:t>
              </a:r>
            </a:p>
          </p:txBody>
        </p:sp>
        <p:grpSp>
          <p:nvGrpSpPr>
            <p:cNvPr id="45" name="Formula"/>
            <p:cNvGrpSpPr/>
            <p:nvPr/>
          </p:nvGrpSpPr>
          <p:grpSpPr>
            <a:xfrm>
              <a:off x="4242816" y="2006011"/>
              <a:ext cx="198596" cy="329940"/>
              <a:chOff x="4242816" y="2006011"/>
              <a:chExt cx="198596" cy="329940"/>
            </a:xfrm>
          </p:grpSpPr>
          <p:sp>
            <p:nvSpPr>
              <p:cNvPr id="46" name="Equation z"/>
              <p:cNvSpPr txBox="1"/>
              <p:nvPr/>
            </p:nvSpPr>
            <p:spPr>
              <a:xfrm>
                <a:off x="4242816" y="2006011"/>
                <a:ext cx="119958" cy="309067"/>
              </a:xfrm>
              <a:prstGeom prst="rect">
                <a:avLst/>
              </a:prstGeom>
              <a:noFill/>
            </p:spPr>
            <p:txBody>
              <a:bodyPr wrap="none" lIns="0" rIns="0" tIns="0" bIns="0" anchor="ctr"/>
              <a:lstStyle/>
              <a:p>
                <a:pPr algn="l">
                  <a:lnSpc>
                    <a:spcPct val="100000"/>
                  </a:lnSpc>
                  <a:spcBef>
                    <a:spcPts val="0"/>
                  </a:spcBef>
                  <a:spcAft>
                    <a:spcPts val="0"/>
                  </a:spcAft>
                </a:pPr>
                <a:r>
                  <a:rPr sz="1872" b="0" i="1" dirty="0">
                    <a:solidFill>
                      <a:srgbClr val="101010"/>
                    </a:solidFill>
                    <a:latin typeface="Times New Roman"/>
                  </a:rPr>
                  <a:t>z</a:t>
                </a:r>
              </a:p>
            </p:txBody>
          </p:sp>
          <p:sp>
            <p:nvSpPr>
              <p:cNvPr id="47" name="Equation 0"/>
              <p:cNvSpPr txBox="1"/>
              <p:nvPr/>
            </p:nvSpPr>
            <p:spPr>
              <a:xfrm>
                <a:off x="4335342" y="2131967"/>
                <a:ext cx="106070" cy="203984"/>
              </a:xfrm>
              <a:prstGeom prst="rect">
                <a:avLst/>
              </a:prstGeom>
              <a:noFill/>
            </p:spPr>
            <p:txBody>
              <a:bodyPr wrap="none" lIns="0" rIns="0" tIns="0" bIns="0" anchor="ctr"/>
              <a:lstStyle/>
              <a:p>
                <a:pPr algn="l">
                  <a:lnSpc>
                    <a:spcPct val="100000"/>
                  </a:lnSpc>
                  <a:spcBef>
                    <a:spcPts val="0"/>
                  </a:spcBef>
                  <a:spcAft>
                    <a:spcPts val="0"/>
                  </a:spcAft>
                </a:pPr>
                <a:r>
                  <a:rPr sz="1235" b="0" i="0" dirty="0">
                    <a:solidFill>
                      <a:srgbClr val="101010"/>
                    </a:solidFill>
                    <a:latin typeface="Times New Roman"/>
                  </a:rPr>
                  <a:t>0</a:t>
                </a:r>
              </a:p>
            </p:txBody>
          </p:sp>
        </p:grpSp>
        <p:sp>
          <p:nvSpPr>
            <p:cNvPr id="48" name="Add Noise"/>
            <p:cNvSpPr/>
            <p:nvPr/>
          </p:nvSpPr>
          <p:spPr>
            <a:xfrm>
              <a:off x="4736592" y="594360"/>
              <a:ext cx="448056" cy="1700784"/>
            </a:xfrm>
            <a:prstGeom prst="roundRect">
              <a:avLst>
                <a:gd name="adj" fmla="val 18367"/>
              </a:avLst>
            </a:prstGeom>
            <a:solidFill>
              <a:srgbClr val="EBDCE1"/>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Add Noise"/>
            <p:cNvSpPr txBox="1"/>
            <p:nvPr/>
          </p:nvSpPr>
          <p:spPr>
            <a:xfrm rot="5400000">
              <a:off x="4123944" y="1234440"/>
              <a:ext cx="1664208" cy="411480"/>
            </a:xfrm>
            <a:prstGeom prst="rect">
              <a:avLst/>
            </a:prstGeom>
            <a:noFill/>
          </p:spPr>
          <p:txBody>
            <a:bodyPr wrap="none" lIns="0" rIns="0" tIns="0" bIns="0" anchor="ctr"/>
            <a:lstStyle/>
            <a:p>
              <a:pPr algn="ctr">
                <a:lnSpc>
                  <a:spcPct val="100000"/>
                </a:lnSpc>
                <a:spcBef>
                  <a:spcPts val="0"/>
                </a:spcBef>
                <a:spcAft>
                  <a:spcPts val="0"/>
                </a:spcAft>
              </a:pPr>
              <a:r>
                <a:rPr sz="2160" b="0" i="0" dirty="0">
                  <a:solidFill>
                    <a:srgbClr val="101010"/>
                  </a:solidFill>
                  <a:latin typeface="Arial"/>
                </a:rPr>
                <a:t>Add Noise</a:t>
              </a:r>
            </a:p>
          </p:txBody>
        </p:sp>
        <p:sp>
          <p:nvSpPr>
            <p:cNvPr id="50" name="Connector"/>
            <p:cNvSpPr/>
            <p:nvPr/>
          </p:nvSpPr>
          <p:spPr>
            <a:xfrm>
              <a:off x="5184648" y="1444752"/>
              <a:ext cx="941832" cy="91"/>
            </a:xfrm>
            <a:custGeom>
              <a:avLst/>
              <a:gdLst/>
              <a:ahLst/>
              <a:cxnLst/>
              <a:rect l="0" t="0" r="r" b="b"/>
              <a:pathLst>
                <a:path w="941832" h="91">
                  <a:moveTo>
                    <a:pt x="0" y="0"/>
                  </a:moveTo>
                  <a:lnTo>
                    <a:pt x="941832" y="0"/>
                  </a:lnTo>
                </a:path>
              </a:pathLst>
            </a:custGeom>
            <a:noFill/>
            <a:ln w="36576" cap="flat">
              <a:solidFill>
                <a:srgbClr val="7FB9C9"/>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Arrowhead"/>
            <p:cNvSpPr/>
            <p:nvPr/>
          </p:nvSpPr>
          <p:spPr>
            <a:xfrm>
              <a:off x="6016752" y="1392083"/>
              <a:ext cx="109728" cy="105339"/>
            </a:xfrm>
            <a:custGeom>
              <a:avLst/>
              <a:gdLst/>
              <a:ahLst/>
              <a:cxnLst/>
              <a:rect l="0" t="0" r="r" b="b"/>
              <a:pathLst>
                <a:path w="109728" h="105339">
                  <a:moveTo>
                    <a:pt x="109728" y="52669"/>
                  </a:moveTo>
                  <a:lnTo>
                    <a:pt x="0" y="105339"/>
                  </a:lnTo>
                  <a:lnTo>
                    <a:pt x="0" y="0"/>
                  </a:lnTo>
                  <a:close/>
                </a:path>
              </a:pathLst>
            </a:custGeom>
            <a:solidFill>
              <a:srgbClr val="7FB9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Connector"/>
            <p:cNvSpPr/>
            <p:nvPr/>
          </p:nvSpPr>
          <p:spPr>
            <a:xfrm>
              <a:off x="5440680" y="1444752"/>
              <a:ext cx="1033272" cy="868680"/>
            </a:xfrm>
            <a:custGeom>
              <a:avLst/>
              <a:gdLst/>
              <a:ahLst/>
              <a:cxnLst/>
              <a:rect l="0" t="0" r="r" b="b"/>
              <a:pathLst>
                <a:path w="1033272" h="868680">
                  <a:moveTo>
                    <a:pt x="0" y="0"/>
                  </a:moveTo>
                  <a:lnTo>
                    <a:pt x="0" y="868680"/>
                  </a:lnTo>
                  <a:lnTo>
                    <a:pt x="1033272" y="868680"/>
                  </a:lnTo>
                  <a:lnTo>
                    <a:pt x="1033272" y="667512"/>
                  </a:lnTo>
                </a:path>
              </a:pathLst>
            </a:custGeom>
            <a:noFill/>
            <a:ln w="36576" cap="flat">
              <a:solidFill>
                <a:srgbClr val="2E667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Arrowhead"/>
            <p:cNvSpPr/>
            <p:nvPr/>
          </p:nvSpPr>
          <p:spPr>
            <a:xfrm>
              <a:off x="6421283" y="2112264"/>
              <a:ext cx="105339" cy="109728"/>
            </a:xfrm>
            <a:custGeom>
              <a:avLst/>
              <a:gdLst/>
              <a:ahLst/>
              <a:cxnLst/>
              <a:rect l="0" t="0" r="r" b="b"/>
              <a:pathLst>
                <a:path w="105339" h="109728">
                  <a:moveTo>
                    <a:pt x="52669" y="0"/>
                  </a:moveTo>
                  <a:lnTo>
                    <a:pt x="105339" y="109728"/>
                  </a:lnTo>
                  <a:lnTo>
                    <a:pt x="0" y="109728"/>
                  </a:lnTo>
                  <a:close/>
                </a:path>
              </a:pathLst>
            </a:custGeom>
            <a:solidFill>
              <a:srgbClr val="2E66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
            <p:cNvSpPr txBox="1"/>
            <p:nvPr/>
          </p:nvSpPr>
          <p:spPr>
            <a:xfrm>
              <a:off x="5678424" y="1170432"/>
              <a:ext cx="219456" cy="283464"/>
            </a:xfrm>
            <a:prstGeom prst="rect">
              <a:avLst/>
            </a:prstGeom>
            <a:noFill/>
          </p:spPr>
          <p:txBody>
            <a:bodyPr wrap="none" lIns="0" rIns="0" tIns="0" bIns="0" anchor="ctr"/>
            <a:lstStyle/>
            <a:p>
              <a:pPr algn="ctr">
                <a:lnSpc>
                  <a:spcPct val="100000"/>
                </a:lnSpc>
                <a:spcBef>
                  <a:spcPts val="0"/>
                </a:spcBef>
                <a:spcAft>
                  <a:spcPts val="0"/>
                </a:spcAft>
              </a:pPr>
              <a:r>
                <a:rPr sz="2160" b="0" i="1" dirty="0">
                  <a:solidFill>
                    <a:srgbClr val="101010"/>
                  </a:solidFill>
                  <a:latin typeface="Times New Roman"/>
                </a:rPr>
                <a:t>t</a:t>
              </a:r>
            </a:p>
          </p:txBody>
        </p:sp>
        <p:sp>
          <p:nvSpPr>
            <p:cNvPr id="55" name="t′"/>
            <p:cNvSpPr txBox="1"/>
            <p:nvPr/>
          </p:nvSpPr>
          <p:spPr>
            <a:xfrm>
              <a:off x="5669280" y="2048256"/>
              <a:ext cx="283464" cy="283464"/>
            </a:xfrm>
            <a:prstGeom prst="rect">
              <a:avLst/>
            </a:prstGeom>
            <a:noFill/>
          </p:spPr>
          <p:txBody>
            <a:bodyPr wrap="none" lIns="0" rIns="0" tIns="0" bIns="0" anchor="ctr"/>
            <a:lstStyle/>
            <a:p>
              <a:pPr algn="ctr">
                <a:lnSpc>
                  <a:spcPct val="100000"/>
                </a:lnSpc>
                <a:spcBef>
                  <a:spcPts val="0"/>
                </a:spcBef>
                <a:spcAft>
                  <a:spcPts val="0"/>
                </a:spcAft>
              </a:pPr>
              <a:r>
                <a:rPr sz="2088" b="0" i="1" dirty="0">
                  <a:solidFill>
                    <a:srgbClr val="101010"/>
                  </a:solidFill>
                  <a:latin typeface="Times New Roman"/>
                </a:rPr>
                <a:t>t′</a:t>
              </a:r>
            </a:p>
          </p:txBody>
        </p:sp>
        <p:grpSp>
          <p:nvGrpSpPr>
            <p:cNvPr id="56" name="Noisy image latents"/>
            <p:cNvGrpSpPr/>
            <p:nvPr/>
          </p:nvGrpSpPr>
          <p:grpSpPr>
            <a:xfrm>
              <a:off x="6135624" y="905256"/>
              <a:ext cx="749808" cy="1207008"/>
              <a:chOff x="6135624" y="905256"/>
              <a:chExt cx="749808" cy="1207008"/>
            </a:xfrm>
          </p:grpSpPr>
          <p:sp>
            <p:nvSpPr>
              <p:cNvPr id="57" name="Polygon"/>
              <p:cNvSpPr/>
              <p:nvPr/>
            </p:nvSpPr>
            <p:spPr>
              <a:xfrm>
                <a:off x="6135624" y="905256"/>
                <a:ext cx="448056" cy="1207008"/>
              </a:xfrm>
              <a:custGeom>
                <a:avLst/>
                <a:gdLst/>
                <a:ahLst/>
                <a:cxnLst/>
                <a:rect l="0" t="0" r="r" b="b"/>
                <a:pathLst>
                  <a:path w="448056" h="1207008">
                    <a:moveTo>
                      <a:pt x="0" y="374904"/>
                    </a:moveTo>
                    <a:lnTo>
                      <a:pt x="374904" y="0"/>
                    </a:lnTo>
                    <a:lnTo>
                      <a:pt x="448056" y="0"/>
                    </a:lnTo>
                    <a:lnTo>
                      <a:pt x="448056" y="832104"/>
                    </a:lnTo>
                    <a:lnTo>
                      <a:pt x="73152" y="1207008"/>
                    </a:lnTo>
                    <a:lnTo>
                      <a:pt x="0" y="1207008"/>
                    </a:lnTo>
                    <a:close/>
                  </a:path>
                </a:pathLst>
              </a:custGeom>
              <a:solidFill>
                <a:srgbClr val="D4DEE3"/>
              </a:solidFill>
              <a:ln w="18288" cap="flat">
                <a:solidFill>
                  <a:srgbClr val="86969E"/>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Polygon"/>
              <p:cNvSpPr/>
              <p:nvPr/>
            </p:nvSpPr>
            <p:spPr>
              <a:xfrm>
                <a:off x="6208776" y="905256"/>
                <a:ext cx="374904" cy="1207008"/>
              </a:xfrm>
              <a:custGeom>
                <a:avLst/>
                <a:gdLst/>
                <a:ahLst/>
                <a:cxnLst/>
                <a:rect l="0" t="0" r="r" b="b"/>
                <a:pathLst>
                  <a:path w="374904" h="1207008">
                    <a:moveTo>
                      <a:pt x="0" y="374904"/>
                    </a:moveTo>
                    <a:lnTo>
                      <a:pt x="374904" y="0"/>
                    </a:lnTo>
                    <a:lnTo>
                      <a:pt x="374904" y="832104"/>
                    </a:lnTo>
                    <a:lnTo>
                      <a:pt x="0" y="1207008"/>
                    </a:lnTo>
                    <a:close/>
                  </a:path>
                </a:pathLst>
              </a:custGeom>
              <a:solidFill>
                <a:srgbClr val="B6CAD5"/>
              </a:solidFill>
              <a:ln w="18288" cap="flat">
                <a:solidFill>
                  <a:srgbClr val="86969E"/>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Connector"/>
              <p:cNvSpPr/>
              <p:nvPr/>
            </p:nvSpPr>
            <p:spPr>
              <a:xfrm>
                <a:off x="6135624" y="1280160"/>
                <a:ext cx="73152" cy="91"/>
              </a:xfrm>
              <a:custGeom>
                <a:avLst/>
                <a:gdLst/>
                <a:ahLst/>
                <a:cxnLst/>
                <a:rect l="0" t="0" r="r" b="b"/>
                <a:pathLst>
                  <a:path w="73152" h="91">
                    <a:moveTo>
                      <a:pt x="0" y="0"/>
                    </a:moveTo>
                    <a:lnTo>
                      <a:pt x="73152" y="0"/>
                    </a:lnTo>
                  </a:path>
                </a:pathLst>
              </a:custGeom>
              <a:noFill/>
              <a:ln w="16459" cap="flat">
                <a:solidFill>
                  <a:srgbClr val="86969E"/>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Polygon"/>
              <p:cNvSpPr/>
              <p:nvPr/>
            </p:nvSpPr>
            <p:spPr>
              <a:xfrm>
                <a:off x="6446520" y="905256"/>
                <a:ext cx="438912" cy="1207008"/>
              </a:xfrm>
              <a:custGeom>
                <a:avLst/>
                <a:gdLst/>
                <a:ahLst/>
                <a:cxnLst/>
                <a:rect l="0" t="0" r="r" b="b"/>
                <a:pathLst>
                  <a:path w="438912" h="1207008">
                    <a:moveTo>
                      <a:pt x="0" y="374904"/>
                    </a:moveTo>
                    <a:lnTo>
                      <a:pt x="365760" y="0"/>
                    </a:lnTo>
                    <a:lnTo>
                      <a:pt x="438912" y="0"/>
                    </a:lnTo>
                    <a:lnTo>
                      <a:pt x="438912" y="832104"/>
                    </a:lnTo>
                    <a:lnTo>
                      <a:pt x="73152" y="1207008"/>
                    </a:lnTo>
                    <a:lnTo>
                      <a:pt x="0" y="1207008"/>
                    </a:lnTo>
                    <a:close/>
                  </a:path>
                </a:pathLst>
              </a:custGeom>
              <a:solidFill>
                <a:srgbClr val="45AAC5"/>
              </a:solidFill>
              <a:ln w="18288" cap="flat">
                <a:solidFill>
                  <a:srgbClr val="8B9594"/>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Polygon"/>
              <p:cNvSpPr/>
              <p:nvPr/>
            </p:nvSpPr>
            <p:spPr>
              <a:xfrm>
                <a:off x="6519672" y="905256"/>
                <a:ext cx="365760" cy="1207008"/>
              </a:xfrm>
              <a:custGeom>
                <a:avLst/>
                <a:gdLst/>
                <a:ahLst/>
                <a:cxnLst/>
                <a:rect l="0" t="0" r="r" b="b"/>
                <a:pathLst>
                  <a:path w="365760" h="1207008">
                    <a:moveTo>
                      <a:pt x="0" y="374904"/>
                    </a:moveTo>
                    <a:lnTo>
                      <a:pt x="365760" y="0"/>
                    </a:lnTo>
                    <a:lnTo>
                      <a:pt x="365760" y="832104"/>
                    </a:lnTo>
                    <a:lnTo>
                      <a:pt x="0" y="1207008"/>
                    </a:lnTo>
                    <a:close/>
                  </a:path>
                </a:pathLst>
              </a:custGeom>
              <a:solidFill>
                <a:srgbClr val="408DA1"/>
              </a:solidFill>
              <a:ln w="18288" cap="flat">
                <a:solidFill>
                  <a:srgbClr val="8B9594"/>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Connector"/>
              <p:cNvSpPr/>
              <p:nvPr/>
            </p:nvSpPr>
            <p:spPr>
              <a:xfrm>
                <a:off x="6446520" y="1280160"/>
                <a:ext cx="73152" cy="91"/>
              </a:xfrm>
              <a:custGeom>
                <a:avLst/>
                <a:gdLst/>
                <a:ahLst/>
                <a:cxnLst/>
                <a:rect l="0" t="0" r="r" b="b"/>
                <a:pathLst>
                  <a:path w="73152" h="91">
                    <a:moveTo>
                      <a:pt x="0" y="0"/>
                    </a:moveTo>
                    <a:lnTo>
                      <a:pt x="73152" y="0"/>
                    </a:lnTo>
                  </a:path>
                </a:pathLst>
              </a:custGeom>
              <a:noFill/>
              <a:ln w="13716" cap="flat">
                <a:solidFill>
                  <a:srgbClr val="8B9594"/>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63" name="Connector"/>
            <p:cNvSpPr/>
            <p:nvPr/>
          </p:nvSpPr>
          <p:spPr>
            <a:xfrm>
              <a:off x="6547104" y="685800"/>
              <a:ext cx="1545336" cy="438912"/>
            </a:xfrm>
            <a:custGeom>
              <a:avLst/>
              <a:gdLst/>
              <a:ahLst/>
              <a:cxnLst/>
              <a:rect l="0" t="0" r="r" b="b"/>
              <a:pathLst>
                <a:path w="1545336" h="438912">
                  <a:moveTo>
                    <a:pt x="0" y="210312"/>
                  </a:moveTo>
                  <a:lnTo>
                    <a:pt x="0" y="0"/>
                  </a:lnTo>
                  <a:lnTo>
                    <a:pt x="1545336" y="0"/>
                  </a:lnTo>
                  <a:lnTo>
                    <a:pt x="1545336" y="438912"/>
                  </a:lnTo>
                </a:path>
              </a:pathLst>
            </a:custGeom>
            <a:noFill/>
            <a:ln w="36576" cap="flat">
              <a:solidFill>
                <a:srgbClr val="7FB9C9"/>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Arrowhead"/>
            <p:cNvSpPr/>
            <p:nvPr/>
          </p:nvSpPr>
          <p:spPr>
            <a:xfrm>
              <a:off x="8039771" y="1014984"/>
              <a:ext cx="105339" cy="109728"/>
            </a:xfrm>
            <a:custGeom>
              <a:avLst/>
              <a:gdLst/>
              <a:ahLst/>
              <a:cxnLst/>
              <a:rect l="0" t="0" r="r" b="b"/>
              <a:pathLst>
                <a:path w="105339" h="109728">
                  <a:moveTo>
                    <a:pt x="52669" y="109728"/>
                  </a:moveTo>
                  <a:lnTo>
                    <a:pt x="0" y="0"/>
                  </a:lnTo>
                  <a:lnTo>
                    <a:pt x="105339" y="0"/>
                  </a:lnTo>
                  <a:close/>
                </a:path>
              </a:pathLst>
            </a:custGeom>
            <a:solidFill>
              <a:srgbClr val="7FB9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Connector"/>
            <p:cNvSpPr/>
            <p:nvPr/>
          </p:nvSpPr>
          <p:spPr>
            <a:xfrm>
              <a:off x="6894576" y="1463040"/>
              <a:ext cx="411480" cy="91"/>
            </a:xfrm>
            <a:custGeom>
              <a:avLst/>
              <a:gdLst/>
              <a:ahLst/>
              <a:cxnLst/>
              <a:rect l="0" t="0" r="r" b="b"/>
              <a:pathLst>
                <a:path w="411480" h="91">
                  <a:moveTo>
                    <a:pt x="0" y="0"/>
                  </a:moveTo>
                  <a:lnTo>
                    <a:pt x="411480" y="0"/>
                  </a:lnTo>
                </a:path>
              </a:pathLst>
            </a:custGeom>
            <a:noFill/>
            <a:ln w="36576" cap="flat">
              <a:solidFill>
                <a:srgbClr val="2E667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Arrowhead"/>
            <p:cNvSpPr/>
            <p:nvPr/>
          </p:nvSpPr>
          <p:spPr>
            <a:xfrm>
              <a:off x="7196328" y="1410371"/>
              <a:ext cx="109728" cy="105339"/>
            </a:xfrm>
            <a:custGeom>
              <a:avLst/>
              <a:gdLst/>
              <a:ahLst/>
              <a:cxnLst/>
              <a:rect l="0" t="0" r="r" b="b"/>
              <a:pathLst>
                <a:path w="109728" h="105339">
                  <a:moveTo>
                    <a:pt x="109728" y="52669"/>
                  </a:moveTo>
                  <a:lnTo>
                    <a:pt x="0" y="105339"/>
                  </a:lnTo>
                  <a:lnTo>
                    <a:pt x="0" y="0"/>
                  </a:lnTo>
                  <a:close/>
                </a:path>
              </a:pathLst>
            </a:custGeom>
            <a:solidFill>
              <a:srgbClr val="2E66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Frozen diffusion model"/>
            <p:cNvSpPr/>
            <p:nvPr/>
          </p:nvSpPr>
          <p:spPr>
            <a:xfrm>
              <a:off x="7306056" y="1133856"/>
              <a:ext cx="1563624" cy="786384"/>
            </a:xfrm>
            <a:prstGeom prst="roundRect">
              <a:avLst>
                <a:gd name="adj" fmla="val 17441"/>
              </a:avLst>
            </a:prstGeom>
            <a:solidFill>
              <a:srgbClr val="EBDCE1"/>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Diffusion / Model"/>
            <p:cNvSpPr txBox="1"/>
            <p:nvPr/>
          </p:nvSpPr>
          <p:spPr>
            <a:xfrm>
              <a:off x="7424928" y="1197864"/>
              <a:ext cx="1325880" cy="621792"/>
            </a:xfrm>
            <a:prstGeom prst="rect">
              <a:avLst/>
            </a:prstGeom>
            <a:noFill/>
          </p:spPr>
          <p:txBody>
            <a:bodyPr wrap="none" lIns="0" rIns="0" tIns="0" bIns="0" anchor="ctr"/>
            <a:lstStyle/>
            <a:p>
              <a:pPr algn="ctr">
                <a:lnSpc>
                  <a:spcPct val="100000"/>
                </a:lnSpc>
                <a:spcBef>
                  <a:spcPts val="0"/>
                </a:spcBef>
                <a:spcAft>
                  <a:spcPts val="0"/>
                </a:spcAft>
              </a:pPr>
              <a:r>
                <a:rPr sz="2160" b="0" i="0" dirty="0">
                  <a:solidFill>
                    <a:srgbClr val="101010"/>
                  </a:solidFill>
                  <a:latin typeface="Arial"/>
                </a:rPr>
                <a:t>Diffusion</a:t>
              </a:r>
            </a:p>
            <a:p>
              <a:pPr algn="ctr">
                <a:lnSpc>
                  <a:spcPct val="100000"/>
                </a:lnSpc>
                <a:spcBef>
                  <a:spcPts val="0"/>
                </a:spcBef>
                <a:spcAft>
                  <a:spcPts val="0"/>
                </a:spcAft>
              </a:pPr>
              <a:r>
                <a:rPr sz="2160" b="0" i="0" dirty="0">
                  <a:solidFill>
                    <a:srgbClr val="101010"/>
                  </a:solidFill>
                  <a:latin typeface="Arial"/>
                </a:rPr>
                <a:t>Model</a:t>
              </a:r>
            </a:p>
          </p:txBody>
        </p:sp>
        <p:grpSp>
          <p:nvGrpSpPr>
            <p:cNvPr id="69" name="Frozen parameters snowflake"/>
            <p:cNvGrpSpPr/>
            <p:nvPr/>
          </p:nvGrpSpPr>
          <p:grpSpPr>
            <a:xfrm>
              <a:off x="8631936" y="1191827"/>
              <a:ext cx="182880" cy="158379"/>
              <a:chOff x="8631936" y="1191827"/>
              <a:chExt cx="182880" cy="158379"/>
            </a:xfrm>
          </p:grpSpPr>
          <p:sp>
            <p:nvSpPr>
              <p:cNvPr id="70" name="Connector"/>
              <p:cNvSpPr/>
              <p:nvPr/>
            </p:nvSpPr>
            <p:spPr>
              <a:xfrm>
                <a:off x="8631936" y="1271016"/>
                <a:ext cx="182880" cy="91"/>
              </a:xfrm>
              <a:custGeom>
                <a:avLst/>
                <a:gdLst/>
                <a:ahLst/>
                <a:cxnLst/>
                <a:rect l="0" t="0" r="r" b="b"/>
                <a:pathLst>
                  <a:path w="182880" h="91">
                    <a:moveTo>
                      <a:pt x="0" y="0"/>
                    </a:moveTo>
                    <a:lnTo>
                      <a:pt x="182880" y="0"/>
                    </a:lnTo>
                  </a:path>
                </a:pathLst>
              </a:custGeom>
              <a:noFill/>
              <a:ln w="11887"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Connector"/>
              <p:cNvSpPr/>
              <p:nvPr/>
            </p:nvSpPr>
            <p:spPr>
              <a:xfrm>
                <a:off x="8666683" y="1248156"/>
                <a:ext cx="25603" cy="22860"/>
              </a:xfrm>
              <a:custGeom>
                <a:avLst/>
                <a:gdLst/>
                <a:ahLst/>
                <a:cxnLst/>
                <a:rect l="0" t="0" r="r" b="b"/>
                <a:pathLst>
                  <a:path w="25603" h="22860">
                    <a:moveTo>
                      <a:pt x="0" y="22860"/>
                    </a:moveTo>
                    <a:lnTo>
                      <a:pt x="25603" y="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Connector"/>
              <p:cNvSpPr/>
              <p:nvPr/>
            </p:nvSpPr>
            <p:spPr>
              <a:xfrm>
                <a:off x="8666683" y="1271016"/>
                <a:ext cx="25603" cy="22860"/>
              </a:xfrm>
              <a:custGeom>
                <a:avLst/>
                <a:gdLst/>
                <a:ahLst/>
                <a:cxnLst/>
                <a:rect l="0" t="0" r="r" b="b"/>
                <a:pathLst>
                  <a:path w="25603" h="22860">
                    <a:moveTo>
                      <a:pt x="0" y="0"/>
                    </a:moveTo>
                    <a:lnTo>
                      <a:pt x="25603" y="2286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Connector"/>
              <p:cNvSpPr/>
              <p:nvPr/>
            </p:nvSpPr>
            <p:spPr>
              <a:xfrm>
                <a:off x="8754466" y="1248156"/>
                <a:ext cx="25603" cy="22860"/>
              </a:xfrm>
              <a:custGeom>
                <a:avLst/>
                <a:gdLst/>
                <a:ahLst/>
                <a:cxnLst/>
                <a:rect l="0" t="0" r="r" b="b"/>
                <a:pathLst>
                  <a:path w="25603" h="22860">
                    <a:moveTo>
                      <a:pt x="25603" y="22860"/>
                    </a:moveTo>
                    <a:lnTo>
                      <a:pt x="0" y="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Connector"/>
              <p:cNvSpPr/>
              <p:nvPr/>
            </p:nvSpPr>
            <p:spPr>
              <a:xfrm>
                <a:off x="8754466" y="1271016"/>
                <a:ext cx="25603" cy="22860"/>
              </a:xfrm>
              <a:custGeom>
                <a:avLst/>
                <a:gdLst/>
                <a:ahLst/>
                <a:cxnLst/>
                <a:rect l="0" t="0" r="r" b="b"/>
                <a:pathLst>
                  <a:path w="25603" h="22860">
                    <a:moveTo>
                      <a:pt x="25603" y="0"/>
                    </a:moveTo>
                    <a:lnTo>
                      <a:pt x="0" y="2286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Connector"/>
              <p:cNvSpPr/>
              <p:nvPr/>
            </p:nvSpPr>
            <p:spPr>
              <a:xfrm>
                <a:off x="8677656" y="1191827"/>
                <a:ext cx="91440" cy="158379"/>
              </a:xfrm>
              <a:custGeom>
                <a:avLst/>
                <a:gdLst/>
                <a:ahLst/>
                <a:cxnLst/>
                <a:rect l="0" t="0" r="r" b="b"/>
                <a:pathLst>
                  <a:path w="91440" h="158379">
                    <a:moveTo>
                      <a:pt x="0" y="0"/>
                    </a:moveTo>
                    <a:lnTo>
                      <a:pt x="91440" y="158379"/>
                    </a:lnTo>
                  </a:path>
                </a:pathLst>
              </a:custGeom>
              <a:noFill/>
              <a:ln w="11887"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Connector"/>
              <p:cNvSpPr/>
              <p:nvPr/>
            </p:nvSpPr>
            <p:spPr>
              <a:xfrm>
                <a:off x="8695030" y="1221919"/>
                <a:ext cx="32599" cy="10743"/>
              </a:xfrm>
              <a:custGeom>
                <a:avLst/>
                <a:gdLst/>
                <a:ahLst/>
                <a:cxnLst/>
                <a:rect l="0" t="0" r="r" b="b"/>
                <a:pathLst>
                  <a:path w="32599" h="10743">
                    <a:moveTo>
                      <a:pt x="0" y="0"/>
                    </a:moveTo>
                    <a:lnTo>
                      <a:pt x="32599" y="10743"/>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Connector"/>
              <p:cNvSpPr/>
              <p:nvPr/>
            </p:nvSpPr>
            <p:spPr>
              <a:xfrm>
                <a:off x="8688034" y="1221919"/>
                <a:ext cx="6996" cy="33603"/>
              </a:xfrm>
              <a:custGeom>
                <a:avLst/>
                <a:gdLst/>
                <a:ahLst/>
                <a:cxnLst/>
                <a:rect l="0" t="0" r="r" b="b"/>
                <a:pathLst>
                  <a:path w="6996" h="33603">
                    <a:moveTo>
                      <a:pt x="6996" y="0"/>
                    </a:moveTo>
                    <a:lnTo>
                      <a:pt x="0" y="33603"/>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Connector"/>
              <p:cNvSpPr/>
              <p:nvPr/>
            </p:nvSpPr>
            <p:spPr>
              <a:xfrm>
                <a:off x="8751722" y="1286510"/>
                <a:ext cx="6996" cy="33603"/>
              </a:xfrm>
              <a:custGeom>
                <a:avLst/>
                <a:gdLst/>
                <a:ahLst/>
                <a:cxnLst/>
                <a:rect l="0" t="0" r="r" b="b"/>
                <a:pathLst>
                  <a:path w="6996" h="33603">
                    <a:moveTo>
                      <a:pt x="0" y="33603"/>
                    </a:moveTo>
                    <a:lnTo>
                      <a:pt x="6996" y="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Connector"/>
              <p:cNvSpPr/>
              <p:nvPr/>
            </p:nvSpPr>
            <p:spPr>
              <a:xfrm>
                <a:off x="8719123" y="1309370"/>
                <a:ext cx="32599" cy="10743"/>
              </a:xfrm>
              <a:custGeom>
                <a:avLst/>
                <a:gdLst/>
                <a:ahLst/>
                <a:cxnLst/>
                <a:rect l="0" t="0" r="r" b="b"/>
                <a:pathLst>
                  <a:path w="32599" h="10743">
                    <a:moveTo>
                      <a:pt x="32599" y="10743"/>
                    </a:moveTo>
                    <a:lnTo>
                      <a:pt x="0" y="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Connector"/>
              <p:cNvSpPr/>
              <p:nvPr/>
            </p:nvSpPr>
            <p:spPr>
              <a:xfrm>
                <a:off x="8677656" y="1191827"/>
                <a:ext cx="91440" cy="158379"/>
              </a:xfrm>
              <a:custGeom>
                <a:avLst/>
                <a:gdLst/>
                <a:ahLst/>
                <a:cxnLst/>
                <a:rect l="0" t="0" r="r" b="b"/>
                <a:pathLst>
                  <a:path w="91440" h="158379">
                    <a:moveTo>
                      <a:pt x="91440" y="0"/>
                    </a:moveTo>
                    <a:lnTo>
                      <a:pt x="0" y="158379"/>
                    </a:lnTo>
                  </a:path>
                </a:pathLst>
              </a:custGeom>
              <a:noFill/>
              <a:ln w="11887"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Connector"/>
              <p:cNvSpPr/>
              <p:nvPr/>
            </p:nvSpPr>
            <p:spPr>
              <a:xfrm>
                <a:off x="8751722" y="1221919"/>
                <a:ext cx="6996" cy="33603"/>
              </a:xfrm>
              <a:custGeom>
                <a:avLst/>
                <a:gdLst/>
                <a:ahLst/>
                <a:cxnLst/>
                <a:rect l="0" t="0" r="r" b="b"/>
                <a:pathLst>
                  <a:path w="6996" h="33603">
                    <a:moveTo>
                      <a:pt x="0" y="0"/>
                    </a:moveTo>
                    <a:lnTo>
                      <a:pt x="6996" y="33603"/>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Connector"/>
              <p:cNvSpPr/>
              <p:nvPr/>
            </p:nvSpPr>
            <p:spPr>
              <a:xfrm>
                <a:off x="8719123" y="1221919"/>
                <a:ext cx="32599" cy="10743"/>
              </a:xfrm>
              <a:custGeom>
                <a:avLst/>
                <a:gdLst/>
                <a:ahLst/>
                <a:cxnLst/>
                <a:rect l="0" t="0" r="r" b="b"/>
                <a:pathLst>
                  <a:path w="32599" h="10743">
                    <a:moveTo>
                      <a:pt x="32599" y="0"/>
                    </a:moveTo>
                    <a:lnTo>
                      <a:pt x="0" y="10743"/>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Connector"/>
              <p:cNvSpPr/>
              <p:nvPr/>
            </p:nvSpPr>
            <p:spPr>
              <a:xfrm>
                <a:off x="8695030" y="1309370"/>
                <a:ext cx="32599" cy="10743"/>
              </a:xfrm>
              <a:custGeom>
                <a:avLst/>
                <a:gdLst/>
                <a:ahLst/>
                <a:cxnLst/>
                <a:rect l="0" t="0" r="r" b="b"/>
                <a:pathLst>
                  <a:path w="32599" h="10743">
                    <a:moveTo>
                      <a:pt x="0" y="10743"/>
                    </a:moveTo>
                    <a:lnTo>
                      <a:pt x="32599" y="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Connector"/>
              <p:cNvSpPr/>
              <p:nvPr/>
            </p:nvSpPr>
            <p:spPr>
              <a:xfrm>
                <a:off x="8688034" y="1286510"/>
                <a:ext cx="6996" cy="33603"/>
              </a:xfrm>
              <a:custGeom>
                <a:avLst/>
                <a:gdLst/>
                <a:ahLst/>
                <a:cxnLst/>
                <a:rect l="0" t="0" r="r" b="b"/>
                <a:pathLst>
                  <a:path w="6996" h="33603">
                    <a:moveTo>
                      <a:pt x="6996" y="33603"/>
                    </a:moveTo>
                    <a:lnTo>
                      <a:pt x="0" y="0"/>
                    </a:lnTo>
                  </a:path>
                </a:pathLst>
              </a:custGeom>
              <a:noFill/>
              <a:ln w="1005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85" name="Connector"/>
            <p:cNvSpPr/>
            <p:nvPr/>
          </p:nvSpPr>
          <p:spPr>
            <a:xfrm>
              <a:off x="7699248" y="1920240"/>
              <a:ext cx="91" cy="630936"/>
            </a:xfrm>
            <a:custGeom>
              <a:avLst/>
              <a:gdLst/>
              <a:ahLst/>
              <a:cxnLst/>
              <a:rect l="0" t="0" r="r" b="b"/>
              <a:pathLst>
                <a:path w="91" h="630936">
                  <a:moveTo>
                    <a:pt x="0" y="0"/>
                  </a:moveTo>
                  <a:lnTo>
                    <a:pt x="0" y="630936"/>
                  </a:lnTo>
                </a:path>
              </a:pathLst>
            </a:custGeom>
            <a:noFill/>
            <a:ln w="36576" cap="flat">
              <a:solidFill>
                <a:srgbClr val="7FB9C9"/>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Arrowhead"/>
            <p:cNvSpPr/>
            <p:nvPr/>
          </p:nvSpPr>
          <p:spPr>
            <a:xfrm>
              <a:off x="7646579" y="2441448"/>
              <a:ext cx="105339" cy="109728"/>
            </a:xfrm>
            <a:custGeom>
              <a:avLst/>
              <a:gdLst/>
              <a:ahLst/>
              <a:cxnLst/>
              <a:rect l="0" t="0" r="r" b="b"/>
              <a:pathLst>
                <a:path w="105339" h="109728">
                  <a:moveTo>
                    <a:pt x="52669" y="109728"/>
                  </a:moveTo>
                  <a:lnTo>
                    <a:pt x="0" y="0"/>
                  </a:lnTo>
                  <a:lnTo>
                    <a:pt x="105339" y="0"/>
                  </a:lnTo>
                  <a:close/>
                </a:path>
              </a:pathLst>
            </a:custGeom>
            <a:solidFill>
              <a:srgbClr val="7FB9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Connector"/>
            <p:cNvSpPr/>
            <p:nvPr/>
          </p:nvSpPr>
          <p:spPr>
            <a:xfrm>
              <a:off x="8577072" y="1920240"/>
              <a:ext cx="91" cy="630936"/>
            </a:xfrm>
            <a:custGeom>
              <a:avLst/>
              <a:gdLst/>
              <a:ahLst/>
              <a:cxnLst/>
              <a:rect l="0" t="0" r="r" b="b"/>
              <a:pathLst>
                <a:path w="91" h="630936">
                  <a:moveTo>
                    <a:pt x="0" y="0"/>
                  </a:moveTo>
                  <a:lnTo>
                    <a:pt x="0" y="630936"/>
                  </a:lnTo>
                </a:path>
              </a:pathLst>
            </a:custGeom>
            <a:noFill/>
            <a:ln w="36576" cap="flat">
              <a:solidFill>
                <a:srgbClr val="2E667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Arrowhead"/>
            <p:cNvSpPr/>
            <p:nvPr/>
          </p:nvSpPr>
          <p:spPr>
            <a:xfrm>
              <a:off x="8524403" y="2441448"/>
              <a:ext cx="105339" cy="109728"/>
            </a:xfrm>
            <a:custGeom>
              <a:avLst/>
              <a:gdLst/>
              <a:ahLst/>
              <a:cxnLst/>
              <a:rect l="0" t="0" r="r" b="b"/>
              <a:pathLst>
                <a:path w="105339" h="109728">
                  <a:moveTo>
                    <a:pt x="52669" y="109728"/>
                  </a:moveTo>
                  <a:lnTo>
                    <a:pt x="0" y="0"/>
                  </a:lnTo>
                  <a:lnTo>
                    <a:pt x="105339" y="0"/>
                  </a:lnTo>
                  <a:close/>
                </a:path>
              </a:pathLst>
            </a:custGeom>
            <a:solidFill>
              <a:srgbClr val="2E66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89" name="Diffusion feature maps"/>
            <p:cNvGrpSpPr/>
            <p:nvPr/>
          </p:nvGrpSpPr>
          <p:grpSpPr>
            <a:xfrm>
              <a:off x="7278624" y="1984248"/>
              <a:ext cx="347472" cy="484632"/>
              <a:chOff x="7278624" y="1984248"/>
              <a:chExt cx="347472" cy="484632"/>
            </a:xfrm>
          </p:grpSpPr>
          <p:sp>
            <p:nvSpPr>
              <p:cNvPr id="90" name="Polygon"/>
              <p:cNvSpPr/>
              <p:nvPr/>
            </p:nvSpPr>
            <p:spPr>
              <a:xfrm>
                <a:off x="7278624" y="1984248"/>
                <a:ext cx="173736" cy="393192"/>
              </a:xfrm>
              <a:custGeom>
                <a:avLst/>
                <a:gdLst/>
                <a:ahLst/>
                <a:cxnLst/>
                <a:rect l="0" t="0" r="r" b="b"/>
                <a:pathLst>
                  <a:path w="173736" h="393192">
                    <a:moveTo>
                      <a:pt x="0" y="128016"/>
                    </a:moveTo>
                    <a:lnTo>
                      <a:pt x="137160" y="0"/>
                    </a:lnTo>
                    <a:lnTo>
                      <a:pt x="173736" y="0"/>
                    </a:lnTo>
                    <a:lnTo>
                      <a:pt x="173736" y="274320"/>
                    </a:lnTo>
                    <a:lnTo>
                      <a:pt x="36576" y="393192"/>
                    </a:lnTo>
                    <a:lnTo>
                      <a:pt x="0" y="393192"/>
                    </a:lnTo>
                    <a:close/>
                  </a:path>
                </a:pathLst>
              </a:custGeom>
              <a:solidFill>
                <a:srgbClr val="C4D2DC"/>
              </a:solidFill>
              <a:ln w="15545"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Connector"/>
              <p:cNvSpPr/>
              <p:nvPr/>
            </p:nvSpPr>
            <p:spPr>
              <a:xfrm>
                <a:off x="7315200" y="1984248"/>
                <a:ext cx="137160" cy="128016"/>
              </a:xfrm>
              <a:custGeom>
                <a:avLst/>
                <a:gdLst/>
                <a:ahLst/>
                <a:cxnLst/>
                <a:rect l="0" t="0" r="r" b="b"/>
                <a:pathLst>
                  <a:path w="137160" h="128016">
                    <a:moveTo>
                      <a:pt x="0" y="128016"/>
                    </a:moveTo>
                    <a:lnTo>
                      <a:pt x="137160" y="0"/>
                    </a:lnTo>
                  </a:path>
                </a:pathLst>
              </a:custGeom>
              <a:noFill/>
              <a:ln w="11887"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Connector"/>
              <p:cNvSpPr/>
              <p:nvPr/>
            </p:nvSpPr>
            <p:spPr>
              <a:xfrm>
                <a:off x="7315200" y="2112264"/>
                <a:ext cx="91" cy="265176"/>
              </a:xfrm>
              <a:custGeom>
                <a:avLst/>
                <a:gdLst/>
                <a:ahLst/>
                <a:cxnLst/>
                <a:rect l="0" t="0" r="r" b="b"/>
                <a:pathLst>
                  <a:path w="91" h="265176">
                    <a:moveTo>
                      <a:pt x="0" y="0"/>
                    </a:moveTo>
                    <a:lnTo>
                      <a:pt x="0" y="265176"/>
                    </a:lnTo>
                  </a:path>
                </a:pathLst>
              </a:custGeom>
              <a:noFill/>
              <a:ln w="11887"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Polygon"/>
              <p:cNvSpPr/>
              <p:nvPr/>
            </p:nvSpPr>
            <p:spPr>
              <a:xfrm>
                <a:off x="7351776" y="2029968"/>
                <a:ext cx="173736" cy="393192"/>
              </a:xfrm>
              <a:custGeom>
                <a:avLst/>
                <a:gdLst/>
                <a:ahLst/>
                <a:cxnLst/>
                <a:rect l="0" t="0" r="r" b="b"/>
                <a:pathLst>
                  <a:path w="173736" h="393192">
                    <a:moveTo>
                      <a:pt x="0" y="128016"/>
                    </a:moveTo>
                    <a:lnTo>
                      <a:pt x="137160" y="0"/>
                    </a:lnTo>
                    <a:lnTo>
                      <a:pt x="173736" y="0"/>
                    </a:lnTo>
                    <a:lnTo>
                      <a:pt x="173736" y="274320"/>
                    </a:lnTo>
                    <a:lnTo>
                      <a:pt x="36576" y="393192"/>
                    </a:lnTo>
                    <a:lnTo>
                      <a:pt x="0" y="393192"/>
                    </a:lnTo>
                    <a:close/>
                  </a:path>
                </a:pathLst>
              </a:custGeom>
              <a:solidFill>
                <a:srgbClr val="C4D2DC"/>
              </a:solidFill>
              <a:ln w="15545"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Connector"/>
              <p:cNvSpPr/>
              <p:nvPr/>
            </p:nvSpPr>
            <p:spPr>
              <a:xfrm>
                <a:off x="7388352" y="2029968"/>
                <a:ext cx="137160" cy="128016"/>
              </a:xfrm>
              <a:custGeom>
                <a:avLst/>
                <a:gdLst/>
                <a:ahLst/>
                <a:cxnLst/>
                <a:rect l="0" t="0" r="r" b="b"/>
                <a:pathLst>
                  <a:path w="137160" h="128016">
                    <a:moveTo>
                      <a:pt x="0" y="128016"/>
                    </a:moveTo>
                    <a:lnTo>
                      <a:pt x="137160" y="0"/>
                    </a:lnTo>
                  </a:path>
                </a:pathLst>
              </a:custGeom>
              <a:noFill/>
              <a:ln w="11887"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Connector"/>
              <p:cNvSpPr/>
              <p:nvPr/>
            </p:nvSpPr>
            <p:spPr>
              <a:xfrm>
                <a:off x="7388352" y="2157984"/>
                <a:ext cx="91" cy="265176"/>
              </a:xfrm>
              <a:custGeom>
                <a:avLst/>
                <a:gdLst/>
                <a:ahLst/>
                <a:cxnLst/>
                <a:rect l="0" t="0" r="r" b="b"/>
                <a:pathLst>
                  <a:path w="91" h="265176">
                    <a:moveTo>
                      <a:pt x="0" y="0"/>
                    </a:moveTo>
                    <a:lnTo>
                      <a:pt x="0" y="265176"/>
                    </a:lnTo>
                  </a:path>
                </a:pathLst>
              </a:custGeom>
              <a:noFill/>
              <a:ln w="11887"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Polygon"/>
              <p:cNvSpPr/>
              <p:nvPr/>
            </p:nvSpPr>
            <p:spPr>
              <a:xfrm>
                <a:off x="7424928" y="2075688"/>
                <a:ext cx="173736" cy="393192"/>
              </a:xfrm>
              <a:custGeom>
                <a:avLst/>
                <a:gdLst/>
                <a:ahLst/>
                <a:cxnLst/>
                <a:rect l="0" t="0" r="r" b="b"/>
                <a:pathLst>
                  <a:path w="173736" h="393192">
                    <a:moveTo>
                      <a:pt x="0" y="128016"/>
                    </a:moveTo>
                    <a:lnTo>
                      <a:pt x="137160" y="0"/>
                    </a:lnTo>
                    <a:lnTo>
                      <a:pt x="173736" y="0"/>
                    </a:lnTo>
                    <a:lnTo>
                      <a:pt x="173736" y="274320"/>
                    </a:lnTo>
                    <a:lnTo>
                      <a:pt x="36576" y="393192"/>
                    </a:lnTo>
                    <a:lnTo>
                      <a:pt x="0" y="393192"/>
                    </a:lnTo>
                    <a:close/>
                  </a:path>
                </a:pathLst>
              </a:custGeom>
              <a:solidFill>
                <a:srgbClr val="C4D2DC"/>
              </a:solidFill>
              <a:ln w="15545"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Connector"/>
              <p:cNvSpPr/>
              <p:nvPr/>
            </p:nvSpPr>
            <p:spPr>
              <a:xfrm>
                <a:off x="7461504" y="2075688"/>
                <a:ext cx="137160" cy="128016"/>
              </a:xfrm>
              <a:custGeom>
                <a:avLst/>
                <a:gdLst/>
                <a:ahLst/>
                <a:cxnLst/>
                <a:rect l="0" t="0" r="r" b="b"/>
                <a:pathLst>
                  <a:path w="137160" h="128016">
                    <a:moveTo>
                      <a:pt x="0" y="128016"/>
                    </a:moveTo>
                    <a:lnTo>
                      <a:pt x="137160" y="0"/>
                    </a:lnTo>
                  </a:path>
                </a:pathLst>
              </a:custGeom>
              <a:noFill/>
              <a:ln w="11887"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8" name="Connector"/>
              <p:cNvSpPr/>
              <p:nvPr/>
            </p:nvSpPr>
            <p:spPr>
              <a:xfrm>
                <a:off x="7461504" y="2203704"/>
                <a:ext cx="91" cy="265176"/>
              </a:xfrm>
              <a:custGeom>
                <a:avLst/>
                <a:gdLst/>
                <a:ahLst/>
                <a:cxnLst/>
                <a:rect l="0" t="0" r="r" b="b"/>
                <a:pathLst>
                  <a:path w="91" h="265176">
                    <a:moveTo>
                      <a:pt x="0" y="0"/>
                    </a:moveTo>
                    <a:lnTo>
                      <a:pt x="0" y="265176"/>
                    </a:lnTo>
                  </a:path>
                </a:pathLst>
              </a:custGeom>
              <a:noFill/>
              <a:ln w="11887"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Polygon"/>
              <p:cNvSpPr/>
              <p:nvPr/>
            </p:nvSpPr>
            <p:spPr>
              <a:xfrm>
                <a:off x="7452360" y="2121408"/>
                <a:ext cx="173736" cy="64008"/>
              </a:xfrm>
              <a:custGeom>
                <a:avLst/>
                <a:gdLst/>
                <a:ahLst/>
                <a:cxnLst/>
                <a:rect l="0" t="0" r="r" b="b"/>
                <a:pathLst>
                  <a:path w="173736" h="64008">
                    <a:moveTo>
                      <a:pt x="0" y="64008"/>
                    </a:moveTo>
                    <a:lnTo>
                      <a:pt x="100584" y="64008"/>
                    </a:lnTo>
                    <a:lnTo>
                      <a:pt x="173736" y="0"/>
                    </a:lnTo>
                    <a:lnTo>
                      <a:pt x="64008" y="0"/>
                    </a:lnTo>
                    <a:close/>
                  </a:path>
                </a:pathLst>
              </a:custGeom>
              <a:solidFill>
                <a:srgbClr val="C4D2DC"/>
              </a:solidFill>
              <a:ln w="14630"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Polygon"/>
              <p:cNvSpPr/>
              <p:nvPr/>
            </p:nvSpPr>
            <p:spPr>
              <a:xfrm>
                <a:off x="7452360" y="2185416"/>
                <a:ext cx="100584" cy="82296"/>
              </a:xfrm>
              <a:custGeom>
                <a:avLst/>
                <a:gdLst/>
                <a:ahLst/>
                <a:cxnLst/>
                <a:rect l="0" t="0" r="r" b="b"/>
                <a:pathLst>
                  <a:path w="100584" h="82296">
                    <a:moveTo>
                      <a:pt x="0" y="0"/>
                    </a:moveTo>
                    <a:lnTo>
                      <a:pt x="100584" y="0"/>
                    </a:lnTo>
                    <a:lnTo>
                      <a:pt x="100584" y="82296"/>
                    </a:lnTo>
                    <a:lnTo>
                      <a:pt x="0" y="82296"/>
                    </a:lnTo>
                    <a:close/>
                  </a:path>
                </a:pathLst>
              </a:custGeom>
              <a:solidFill>
                <a:srgbClr val="C4D2DC"/>
              </a:solidFill>
              <a:ln w="14630"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Polygon"/>
              <p:cNvSpPr/>
              <p:nvPr/>
            </p:nvSpPr>
            <p:spPr>
              <a:xfrm>
                <a:off x="7552944" y="2121408"/>
                <a:ext cx="73152" cy="146304"/>
              </a:xfrm>
              <a:custGeom>
                <a:avLst/>
                <a:gdLst/>
                <a:ahLst/>
                <a:cxnLst/>
                <a:rect l="0" t="0" r="r" b="b"/>
                <a:pathLst>
                  <a:path w="73152" h="146304">
                    <a:moveTo>
                      <a:pt x="0" y="64008"/>
                    </a:moveTo>
                    <a:lnTo>
                      <a:pt x="73152" y="0"/>
                    </a:lnTo>
                    <a:lnTo>
                      <a:pt x="73152" y="82296"/>
                    </a:lnTo>
                    <a:lnTo>
                      <a:pt x="0" y="146304"/>
                    </a:lnTo>
                    <a:close/>
                  </a:path>
                </a:pathLst>
              </a:custGeom>
              <a:solidFill>
                <a:srgbClr val="C4D2DC"/>
              </a:solidFill>
              <a:ln w="14630"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02" name="Diffusion feature maps"/>
            <p:cNvGrpSpPr/>
            <p:nvPr/>
          </p:nvGrpSpPr>
          <p:grpSpPr>
            <a:xfrm>
              <a:off x="8174736" y="1984248"/>
              <a:ext cx="347472" cy="484632"/>
              <a:chOff x="8174736" y="1984248"/>
              <a:chExt cx="347472" cy="484632"/>
            </a:xfrm>
          </p:grpSpPr>
          <p:sp>
            <p:nvSpPr>
              <p:cNvPr id="103" name="Polygon"/>
              <p:cNvSpPr/>
              <p:nvPr/>
            </p:nvSpPr>
            <p:spPr>
              <a:xfrm>
                <a:off x="8174736" y="1984248"/>
                <a:ext cx="173736" cy="393192"/>
              </a:xfrm>
              <a:custGeom>
                <a:avLst/>
                <a:gdLst/>
                <a:ahLst/>
                <a:cxnLst/>
                <a:rect l="0" t="0" r="r" b="b"/>
                <a:pathLst>
                  <a:path w="173736" h="393192">
                    <a:moveTo>
                      <a:pt x="0" y="128016"/>
                    </a:moveTo>
                    <a:lnTo>
                      <a:pt x="137160" y="0"/>
                    </a:lnTo>
                    <a:lnTo>
                      <a:pt x="173736" y="0"/>
                    </a:lnTo>
                    <a:lnTo>
                      <a:pt x="173736" y="274320"/>
                    </a:lnTo>
                    <a:lnTo>
                      <a:pt x="36576" y="393192"/>
                    </a:lnTo>
                    <a:lnTo>
                      <a:pt x="0" y="393192"/>
                    </a:lnTo>
                    <a:close/>
                  </a:path>
                </a:pathLst>
              </a:custGeom>
              <a:solidFill>
                <a:srgbClr val="44A2BF"/>
              </a:solidFill>
              <a:ln w="15545"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Connector"/>
              <p:cNvSpPr/>
              <p:nvPr/>
            </p:nvSpPr>
            <p:spPr>
              <a:xfrm>
                <a:off x="8211312" y="1984248"/>
                <a:ext cx="137160" cy="128016"/>
              </a:xfrm>
              <a:custGeom>
                <a:avLst/>
                <a:gdLst/>
                <a:ahLst/>
                <a:cxnLst/>
                <a:rect l="0" t="0" r="r" b="b"/>
                <a:pathLst>
                  <a:path w="137160" h="128016">
                    <a:moveTo>
                      <a:pt x="0" y="128016"/>
                    </a:moveTo>
                    <a:lnTo>
                      <a:pt x="137160" y="0"/>
                    </a:lnTo>
                  </a:path>
                </a:pathLst>
              </a:custGeom>
              <a:noFill/>
              <a:ln w="11887"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Connector"/>
              <p:cNvSpPr/>
              <p:nvPr/>
            </p:nvSpPr>
            <p:spPr>
              <a:xfrm>
                <a:off x="8211312" y="2112264"/>
                <a:ext cx="91" cy="265176"/>
              </a:xfrm>
              <a:custGeom>
                <a:avLst/>
                <a:gdLst/>
                <a:ahLst/>
                <a:cxnLst/>
                <a:rect l="0" t="0" r="r" b="b"/>
                <a:pathLst>
                  <a:path w="91" h="265176">
                    <a:moveTo>
                      <a:pt x="0" y="0"/>
                    </a:moveTo>
                    <a:lnTo>
                      <a:pt x="0" y="265176"/>
                    </a:lnTo>
                  </a:path>
                </a:pathLst>
              </a:custGeom>
              <a:noFill/>
              <a:ln w="11887"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Polygon"/>
              <p:cNvSpPr/>
              <p:nvPr/>
            </p:nvSpPr>
            <p:spPr>
              <a:xfrm>
                <a:off x="8247888" y="2029968"/>
                <a:ext cx="173736" cy="393192"/>
              </a:xfrm>
              <a:custGeom>
                <a:avLst/>
                <a:gdLst/>
                <a:ahLst/>
                <a:cxnLst/>
                <a:rect l="0" t="0" r="r" b="b"/>
                <a:pathLst>
                  <a:path w="173736" h="393192">
                    <a:moveTo>
                      <a:pt x="0" y="128016"/>
                    </a:moveTo>
                    <a:lnTo>
                      <a:pt x="137160" y="0"/>
                    </a:lnTo>
                    <a:lnTo>
                      <a:pt x="173736" y="0"/>
                    </a:lnTo>
                    <a:lnTo>
                      <a:pt x="173736" y="274320"/>
                    </a:lnTo>
                    <a:lnTo>
                      <a:pt x="36576" y="393192"/>
                    </a:lnTo>
                    <a:lnTo>
                      <a:pt x="0" y="393192"/>
                    </a:lnTo>
                    <a:close/>
                  </a:path>
                </a:pathLst>
              </a:custGeom>
              <a:solidFill>
                <a:srgbClr val="44A2BF"/>
              </a:solidFill>
              <a:ln w="15545"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Connector"/>
              <p:cNvSpPr/>
              <p:nvPr/>
            </p:nvSpPr>
            <p:spPr>
              <a:xfrm>
                <a:off x="8284464" y="2029968"/>
                <a:ext cx="137160" cy="128016"/>
              </a:xfrm>
              <a:custGeom>
                <a:avLst/>
                <a:gdLst/>
                <a:ahLst/>
                <a:cxnLst/>
                <a:rect l="0" t="0" r="r" b="b"/>
                <a:pathLst>
                  <a:path w="137160" h="128016">
                    <a:moveTo>
                      <a:pt x="0" y="128016"/>
                    </a:moveTo>
                    <a:lnTo>
                      <a:pt x="137160" y="0"/>
                    </a:lnTo>
                  </a:path>
                </a:pathLst>
              </a:custGeom>
              <a:noFill/>
              <a:ln w="11887"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Connector"/>
              <p:cNvSpPr/>
              <p:nvPr/>
            </p:nvSpPr>
            <p:spPr>
              <a:xfrm>
                <a:off x="8284464" y="2157984"/>
                <a:ext cx="91" cy="265176"/>
              </a:xfrm>
              <a:custGeom>
                <a:avLst/>
                <a:gdLst/>
                <a:ahLst/>
                <a:cxnLst/>
                <a:rect l="0" t="0" r="r" b="b"/>
                <a:pathLst>
                  <a:path w="91" h="265176">
                    <a:moveTo>
                      <a:pt x="0" y="0"/>
                    </a:moveTo>
                    <a:lnTo>
                      <a:pt x="0" y="265176"/>
                    </a:lnTo>
                  </a:path>
                </a:pathLst>
              </a:custGeom>
              <a:noFill/>
              <a:ln w="11887"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Polygon"/>
              <p:cNvSpPr/>
              <p:nvPr/>
            </p:nvSpPr>
            <p:spPr>
              <a:xfrm>
                <a:off x="8321040" y="2075688"/>
                <a:ext cx="173736" cy="393192"/>
              </a:xfrm>
              <a:custGeom>
                <a:avLst/>
                <a:gdLst/>
                <a:ahLst/>
                <a:cxnLst/>
                <a:rect l="0" t="0" r="r" b="b"/>
                <a:pathLst>
                  <a:path w="173736" h="393192">
                    <a:moveTo>
                      <a:pt x="0" y="128016"/>
                    </a:moveTo>
                    <a:lnTo>
                      <a:pt x="137160" y="0"/>
                    </a:lnTo>
                    <a:lnTo>
                      <a:pt x="173736" y="0"/>
                    </a:lnTo>
                    <a:lnTo>
                      <a:pt x="173736" y="274320"/>
                    </a:lnTo>
                    <a:lnTo>
                      <a:pt x="36576" y="393192"/>
                    </a:lnTo>
                    <a:lnTo>
                      <a:pt x="0" y="393192"/>
                    </a:lnTo>
                    <a:close/>
                  </a:path>
                </a:pathLst>
              </a:custGeom>
              <a:solidFill>
                <a:srgbClr val="44A2BF"/>
              </a:solidFill>
              <a:ln w="15545"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Connector"/>
              <p:cNvSpPr/>
              <p:nvPr/>
            </p:nvSpPr>
            <p:spPr>
              <a:xfrm>
                <a:off x="8357616" y="2075688"/>
                <a:ext cx="137160" cy="128016"/>
              </a:xfrm>
              <a:custGeom>
                <a:avLst/>
                <a:gdLst/>
                <a:ahLst/>
                <a:cxnLst/>
                <a:rect l="0" t="0" r="r" b="b"/>
                <a:pathLst>
                  <a:path w="137160" h="128016">
                    <a:moveTo>
                      <a:pt x="0" y="128016"/>
                    </a:moveTo>
                    <a:lnTo>
                      <a:pt x="137160" y="0"/>
                    </a:lnTo>
                  </a:path>
                </a:pathLst>
              </a:custGeom>
              <a:noFill/>
              <a:ln w="11887"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1" name="Connector"/>
              <p:cNvSpPr/>
              <p:nvPr/>
            </p:nvSpPr>
            <p:spPr>
              <a:xfrm>
                <a:off x="8357616" y="2203704"/>
                <a:ext cx="91" cy="265176"/>
              </a:xfrm>
              <a:custGeom>
                <a:avLst/>
                <a:gdLst/>
                <a:ahLst/>
                <a:cxnLst/>
                <a:rect l="0" t="0" r="r" b="b"/>
                <a:pathLst>
                  <a:path w="91" h="265176">
                    <a:moveTo>
                      <a:pt x="0" y="0"/>
                    </a:moveTo>
                    <a:lnTo>
                      <a:pt x="0" y="265176"/>
                    </a:lnTo>
                  </a:path>
                </a:pathLst>
              </a:custGeom>
              <a:noFill/>
              <a:ln w="11887"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2" name="Polygon"/>
              <p:cNvSpPr/>
              <p:nvPr/>
            </p:nvSpPr>
            <p:spPr>
              <a:xfrm>
                <a:off x="8348472" y="2121408"/>
                <a:ext cx="173736" cy="64008"/>
              </a:xfrm>
              <a:custGeom>
                <a:avLst/>
                <a:gdLst/>
                <a:ahLst/>
                <a:cxnLst/>
                <a:rect l="0" t="0" r="r" b="b"/>
                <a:pathLst>
                  <a:path w="173736" h="64008">
                    <a:moveTo>
                      <a:pt x="0" y="64008"/>
                    </a:moveTo>
                    <a:lnTo>
                      <a:pt x="100584" y="64008"/>
                    </a:lnTo>
                    <a:lnTo>
                      <a:pt x="173736" y="0"/>
                    </a:lnTo>
                    <a:lnTo>
                      <a:pt x="64008" y="0"/>
                    </a:lnTo>
                    <a:close/>
                  </a:path>
                </a:pathLst>
              </a:custGeom>
              <a:solidFill>
                <a:srgbClr val="44A2BF"/>
              </a:solidFill>
              <a:ln w="14630"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3" name="Polygon"/>
              <p:cNvSpPr/>
              <p:nvPr/>
            </p:nvSpPr>
            <p:spPr>
              <a:xfrm>
                <a:off x="8348472" y="2185416"/>
                <a:ext cx="100584" cy="82296"/>
              </a:xfrm>
              <a:custGeom>
                <a:avLst/>
                <a:gdLst/>
                <a:ahLst/>
                <a:cxnLst/>
                <a:rect l="0" t="0" r="r" b="b"/>
                <a:pathLst>
                  <a:path w="100584" h="82296">
                    <a:moveTo>
                      <a:pt x="0" y="0"/>
                    </a:moveTo>
                    <a:lnTo>
                      <a:pt x="100584" y="0"/>
                    </a:lnTo>
                    <a:lnTo>
                      <a:pt x="100584" y="82296"/>
                    </a:lnTo>
                    <a:lnTo>
                      <a:pt x="0" y="82296"/>
                    </a:lnTo>
                    <a:close/>
                  </a:path>
                </a:pathLst>
              </a:custGeom>
              <a:solidFill>
                <a:srgbClr val="44A2BF"/>
              </a:solidFill>
              <a:ln w="14630"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Polygon"/>
              <p:cNvSpPr/>
              <p:nvPr/>
            </p:nvSpPr>
            <p:spPr>
              <a:xfrm>
                <a:off x="8449056" y="2121408"/>
                <a:ext cx="73152" cy="146304"/>
              </a:xfrm>
              <a:custGeom>
                <a:avLst/>
                <a:gdLst/>
                <a:ahLst/>
                <a:cxnLst/>
                <a:rect l="0" t="0" r="r" b="b"/>
                <a:pathLst>
                  <a:path w="73152" h="146304">
                    <a:moveTo>
                      <a:pt x="0" y="64008"/>
                    </a:moveTo>
                    <a:lnTo>
                      <a:pt x="73152" y="0"/>
                    </a:lnTo>
                    <a:lnTo>
                      <a:pt x="73152" y="82296"/>
                    </a:lnTo>
                    <a:lnTo>
                      <a:pt x="0" y="146304"/>
                    </a:lnTo>
                    <a:close/>
                  </a:path>
                </a:pathLst>
              </a:custGeom>
              <a:solidFill>
                <a:srgbClr val="44A2BF"/>
              </a:solidFill>
              <a:ln w="14630" cap="flat">
                <a:solidFill>
                  <a:srgbClr val="929C9D"/>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115" name="Dual queries design frame"/>
            <p:cNvSpPr/>
            <p:nvPr/>
          </p:nvSpPr>
          <p:spPr>
            <a:xfrm>
              <a:off x="3017520" y="2423160"/>
              <a:ext cx="1947672" cy="2157984"/>
            </a:xfrm>
            <a:prstGeom prst="rect">
              <a:avLst/>
            </a:prstGeom>
            <a:noFill/>
            <a:ln w="36576" cap="flat">
              <a:solidFill>
                <a:srgbClr val="233F65"/>
              </a:solidFill>
              <a:custDash>
                <a:ds d="50000" sp="75000"/>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116" name="Learnable query set"/>
            <p:cNvGrpSpPr/>
            <p:nvPr/>
          </p:nvGrpSpPr>
          <p:grpSpPr>
            <a:xfrm>
              <a:off x="3145536" y="2551176"/>
              <a:ext cx="1700784" cy="576072"/>
              <a:chOff x="3145536" y="2551176"/>
              <a:chExt cx="1700784" cy="576072"/>
            </a:xfrm>
          </p:grpSpPr>
          <p:sp>
            <p:nvSpPr>
              <p:cNvPr id="117" name="Learnable queries dotted frame"/>
              <p:cNvSpPr/>
              <p:nvPr/>
            </p:nvSpPr>
            <p:spPr>
              <a:xfrm>
                <a:off x="3145536" y="2551176"/>
                <a:ext cx="1700784" cy="576072"/>
              </a:xfrm>
              <a:prstGeom prst="rect">
                <a:avLst/>
              </a:prstGeom>
              <a:noFill/>
              <a:ln w="16459" cap="flat">
                <a:solidFill>
                  <a:srgbClr val="233F65"/>
                </a:solidFill>
                <a:custDash>
                  <a:ds d="111111" sp="166667"/>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8" name="Query token"/>
              <p:cNvSpPr/>
              <p:nvPr/>
            </p:nvSpPr>
            <p:spPr>
              <a:xfrm>
                <a:off x="3401568" y="2651760"/>
                <a:ext cx="256032" cy="256032"/>
              </a:xfrm>
              <a:prstGeom prst="rect">
                <a:avLst/>
              </a:prstGeom>
              <a:solidFill>
                <a:srgbClr val="D0D4D5"/>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9" name="Query token"/>
              <p:cNvSpPr/>
              <p:nvPr/>
            </p:nvSpPr>
            <p:spPr>
              <a:xfrm>
                <a:off x="4014216" y="2651760"/>
                <a:ext cx="256032" cy="256032"/>
              </a:xfrm>
              <a:prstGeom prst="rect">
                <a:avLst/>
              </a:prstGeom>
              <a:solidFill>
                <a:srgbClr val="D0D4D5"/>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Query token"/>
              <p:cNvSpPr/>
              <p:nvPr/>
            </p:nvSpPr>
            <p:spPr>
              <a:xfrm>
                <a:off x="4261104" y="2651760"/>
                <a:ext cx="256032" cy="256032"/>
              </a:xfrm>
              <a:prstGeom prst="rect">
                <a:avLst/>
              </a:prstGeom>
              <a:solidFill>
                <a:srgbClr val="D0D4D5"/>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1" name="Query token"/>
              <p:cNvSpPr/>
              <p:nvPr/>
            </p:nvSpPr>
            <p:spPr>
              <a:xfrm>
                <a:off x="4507992" y="2651760"/>
                <a:ext cx="256032" cy="256032"/>
              </a:xfrm>
              <a:prstGeom prst="rect">
                <a:avLst/>
              </a:prstGeom>
              <a:solidFill>
                <a:srgbClr val="D0D4D5"/>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2" name="Query token"/>
              <p:cNvSpPr/>
              <p:nvPr/>
            </p:nvSpPr>
            <p:spPr>
              <a:xfrm>
                <a:off x="3200400" y="2770632"/>
                <a:ext cx="256032" cy="256032"/>
              </a:xfrm>
              <a:prstGeom prst="rect">
                <a:avLst/>
              </a:prstGeom>
              <a:solidFill>
                <a:srgbClr val="D3D7D9"/>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3" name="Query token"/>
              <p:cNvSpPr/>
              <p:nvPr/>
            </p:nvSpPr>
            <p:spPr>
              <a:xfrm>
                <a:off x="3813048" y="2770632"/>
                <a:ext cx="256032" cy="256032"/>
              </a:xfrm>
              <a:prstGeom prst="rect">
                <a:avLst/>
              </a:prstGeom>
              <a:solidFill>
                <a:srgbClr val="D3D7D9"/>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Query token"/>
              <p:cNvSpPr/>
              <p:nvPr/>
            </p:nvSpPr>
            <p:spPr>
              <a:xfrm>
                <a:off x="4059936" y="2770632"/>
                <a:ext cx="256032" cy="256032"/>
              </a:xfrm>
              <a:prstGeom prst="rect">
                <a:avLst/>
              </a:prstGeom>
              <a:solidFill>
                <a:srgbClr val="D3D7D9"/>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5" name="Query token"/>
              <p:cNvSpPr/>
              <p:nvPr/>
            </p:nvSpPr>
            <p:spPr>
              <a:xfrm>
                <a:off x="4306824" y="2770632"/>
                <a:ext cx="256032" cy="256032"/>
              </a:xfrm>
              <a:prstGeom prst="rect">
                <a:avLst/>
              </a:prstGeom>
              <a:solidFill>
                <a:srgbClr val="D3D7D9"/>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
              <p:cNvSpPr txBox="1"/>
              <p:nvPr/>
            </p:nvSpPr>
            <p:spPr>
              <a:xfrm>
                <a:off x="3474720" y="2807208"/>
                <a:ext cx="329184" cy="228600"/>
              </a:xfrm>
              <a:prstGeom prst="rect">
                <a:avLst/>
              </a:prstGeom>
              <a:noFill/>
            </p:spPr>
            <p:txBody>
              <a:bodyPr wrap="none" lIns="0" rIns="0" tIns="0" bIns="0" anchor="ctr"/>
              <a:lstStyle/>
              <a:p>
                <a:pPr algn="ctr">
                  <a:lnSpc>
                    <a:spcPct val="100000"/>
                  </a:lnSpc>
                  <a:spcBef>
                    <a:spcPts val="0"/>
                  </a:spcBef>
                  <a:spcAft>
                    <a:spcPts val="0"/>
                  </a:spcAft>
                </a:pPr>
                <a:r>
                  <a:rPr sz="1800" b="1" i="0" dirty="0">
                    <a:solidFill>
                      <a:srgbClr val="101010"/>
                    </a:solidFill>
                    <a:latin typeface="Arial"/>
                  </a:rPr>
                  <a:t>···</a:t>
                </a:r>
              </a:p>
            </p:txBody>
          </p:sp>
        </p:grpSp>
        <p:grpSp>
          <p:nvGrpSpPr>
            <p:cNvPr id="127" name="Learnable query set"/>
            <p:cNvGrpSpPr/>
            <p:nvPr/>
          </p:nvGrpSpPr>
          <p:grpSpPr>
            <a:xfrm>
              <a:off x="3145536" y="3346704"/>
              <a:ext cx="1700784" cy="576072"/>
              <a:chOff x="3145536" y="3346704"/>
              <a:chExt cx="1700784" cy="576072"/>
            </a:xfrm>
          </p:grpSpPr>
          <p:sp>
            <p:nvSpPr>
              <p:cNvPr id="128" name="Learnable queries dotted frame"/>
              <p:cNvSpPr/>
              <p:nvPr/>
            </p:nvSpPr>
            <p:spPr>
              <a:xfrm>
                <a:off x="3145536" y="3346704"/>
                <a:ext cx="1700784" cy="576072"/>
              </a:xfrm>
              <a:prstGeom prst="rect">
                <a:avLst/>
              </a:prstGeom>
              <a:noFill/>
              <a:ln w="16459" cap="flat">
                <a:solidFill>
                  <a:srgbClr val="233F65"/>
                </a:solidFill>
                <a:custDash>
                  <a:ds d="111111" sp="166667"/>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Query token"/>
              <p:cNvSpPr/>
              <p:nvPr/>
            </p:nvSpPr>
            <p:spPr>
              <a:xfrm>
                <a:off x="3401568" y="3447288"/>
                <a:ext cx="256032" cy="256032"/>
              </a:xfrm>
              <a:prstGeom prst="rect">
                <a:avLst/>
              </a:prstGeom>
              <a:solidFill>
                <a:srgbClr val="D0D4D5"/>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Query token"/>
              <p:cNvSpPr/>
              <p:nvPr/>
            </p:nvSpPr>
            <p:spPr>
              <a:xfrm>
                <a:off x="4014216" y="3447288"/>
                <a:ext cx="256032" cy="256032"/>
              </a:xfrm>
              <a:prstGeom prst="rect">
                <a:avLst/>
              </a:prstGeom>
              <a:solidFill>
                <a:srgbClr val="D0D4D5"/>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Query token"/>
              <p:cNvSpPr/>
              <p:nvPr/>
            </p:nvSpPr>
            <p:spPr>
              <a:xfrm>
                <a:off x="4261104" y="3447288"/>
                <a:ext cx="256032" cy="256032"/>
              </a:xfrm>
              <a:prstGeom prst="rect">
                <a:avLst/>
              </a:prstGeom>
              <a:solidFill>
                <a:srgbClr val="D0D4D5"/>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Query token"/>
              <p:cNvSpPr/>
              <p:nvPr/>
            </p:nvSpPr>
            <p:spPr>
              <a:xfrm>
                <a:off x="4507992" y="3447288"/>
                <a:ext cx="256032" cy="256032"/>
              </a:xfrm>
              <a:prstGeom prst="rect">
                <a:avLst/>
              </a:prstGeom>
              <a:solidFill>
                <a:srgbClr val="D0D4D5"/>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Query token"/>
              <p:cNvSpPr/>
              <p:nvPr/>
            </p:nvSpPr>
            <p:spPr>
              <a:xfrm>
                <a:off x="3200400" y="3566160"/>
                <a:ext cx="256032" cy="256032"/>
              </a:xfrm>
              <a:prstGeom prst="rect">
                <a:avLst/>
              </a:prstGeom>
              <a:solidFill>
                <a:srgbClr val="D3D7D9"/>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Query token"/>
              <p:cNvSpPr/>
              <p:nvPr/>
            </p:nvSpPr>
            <p:spPr>
              <a:xfrm>
                <a:off x="3813048" y="3566160"/>
                <a:ext cx="256032" cy="256032"/>
              </a:xfrm>
              <a:prstGeom prst="rect">
                <a:avLst/>
              </a:prstGeom>
              <a:solidFill>
                <a:srgbClr val="D3D7D9"/>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Query token"/>
              <p:cNvSpPr/>
              <p:nvPr/>
            </p:nvSpPr>
            <p:spPr>
              <a:xfrm>
                <a:off x="4059936" y="3566160"/>
                <a:ext cx="256032" cy="256032"/>
              </a:xfrm>
              <a:prstGeom prst="rect">
                <a:avLst/>
              </a:prstGeom>
              <a:solidFill>
                <a:srgbClr val="D3D7D9"/>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Query token"/>
              <p:cNvSpPr/>
              <p:nvPr/>
            </p:nvSpPr>
            <p:spPr>
              <a:xfrm>
                <a:off x="4306824" y="3566160"/>
                <a:ext cx="256032" cy="256032"/>
              </a:xfrm>
              <a:prstGeom prst="rect">
                <a:avLst/>
              </a:prstGeom>
              <a:solidFill>
                <a:srgbClr val="D3D7D9"/>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
              <p:cNvSpPr txBox="1"/>
              <p:nvPr/>
            </p:nvSpPr>
            <p:spPr>
              <a:xfrm>
                <a:off x="3474720" y="3602736"/>
                <a:ext cx="329184" cy="228600"/>
              </a:xfrm>
              <a:prstGeom prst="rect">
                <a:avLst/>
              </a:prstGeom>
              <a:noFill/>
            </p:spPr>
            <p:txBody>
              <a:bodyPr wrap="none" lIns="0" rIns="0" tIns="0" bIns="0" anchor="ctr"/>
              <a:lstStyle/>
              <a:p>
                <a:pPr algn="ctr">
                  <a:lnSpc>
                    <a:spcPct val="100000"/>
                  </a:lnSpc>
                  <a:spcBef>
                    <a:spcPts val="0"/>
                  </a:spcBef>
                  <a:spcAft>
                    <a:spcPts val="0"/>
                  </a:spcAft>
                </a:pPr>
                <a:r>
                  <a:rPr sz="1800" b="1" i="0" dirty="0">
                    <a:solidFill>
                      <a:srgbClr val="101010"/>
                    </a:solidFill>
                    <a:latin typeface="Arial"/>
                  </a:rPr>
                  <a:t>···</a:t>
                </a:r>
              </a:p>
            </p:txBody>
          </p:sp>
        </p:grpSp>
        <p:sp>
          <p:nvSpPr>
            <p:cNvPr id="138" name="Dual-queries / Design"/>
            <p:cNvSpPr txBox="1"/>
            <p:nvPr/>
          </p:nvSpPr>
          <p:spPr>
            <a:xfrm>
              <a:off x="3172968" y="3977640"/>
              <a:ext cx="1682496" cy="539496"/>
            </a:xfrm>
            <a:prstGeom prst="rect">
              <a:avLst/>
            </a:prstGeom>
            <a:noFill/>
          </p:spPr>
          <p:txBody>
            <a:bodyPr wrap="none" lIns="0" rIns="0" tIns="0" bIns="0" anchor="ctr"/>
            <a:lstStyle/>
            <a:p>
              <a:pPr algn="ctr">
                <a:lnSpc>
                  <a:spcPct val="100000"/>
                </a:lnSpc>
                <a:spcBef>
                  <a:spcPts val="0"/>
                </a:spcBef>
                <a:spcAft>
                  <a:spcPts val="0"/>
                </a:spcAft>
              </a:pPr>
              <a:r>
                <a:rPr sz="2016" b="0" i="1" dirty="0">
                  <a:solidFill>
                    <a:srgbClr val="101010"/>
                  </a:solidFill>
                  <a:latin typeface="Arial"/>
                </a:rPr>
                <a:t>Dual-queries</a:t>
              </a:r>
            </a:p>
            <a:p>
              <a:pPr algn="ctr">
                <a:lnSpc>
                  <a:spcPct val="100000"/>
                </a:lnSpc>
                <a:spcBef>
                  <a:spcPts val="0"/>
                </a:spcBef>
                <a:spcAft>
                  <a:spcPts val="0"/>
                </a:spcAft>
              </a:pPr>
              <a:r>
                <a:rPr sz="2016" b="0" i="1" dirty="0">
                  <a:solidFill>
                    <a:srgbClr val="101010"/>
                  </a:solidFill>
                  <a:latin typeface="Arial"/>
                </a:rPr>
                <a:t>Design</a:t>
              </a:r>
            </a:p>
          </p:txBody>
        </p:sp>
        <p:sp>
          <p:nvSpPr>
            <p:cNvPr id="139" name="Connector"/>
            <p:cNvSpPr/>
            <p:nvPr/>
          </p:nvSpPr>
          <p:spPr>
            <a:xfrm>
              <a:off x="4846320" y="2697480"/>
              <a:ext cx="685800" cy="91"/>
            </a:xfrm>
            <a:custGeom>
              <a:avLst/>
              <a:gdLst/>
              <a:ahLst/>
              <a:cxnLst/>
              <a:rect l="0" t="0" r="r" b="b"/>
              <a:pathLst>
                <a:path w="685800" h="91">
                  <a:moveTo>
                    <a:pt x="0" y="0"/>
                  </a:moveTo>
                  <a:lnTo>
                    <a:pt x="685800" y="0"/>
                  </a:lnTo>
                </a:path>
              </a:pathLst>
            </a:custGeom>
            <a:noFill/>
            <a:ln w="36576" cap="flat">
              <a:solidFill>
                <a:srgbClr val="7FB9C9"/>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Arrowhead"/>
            <p:cNvSpPr/>
            <p:nvPr/>
          </p:nvSpPr>
          <p:spPr>
            <a:xfrm>
              <a:off x="5422392" y="2644811"/>
              <a:ext cx="109728" cy="105339"/>
            </a:xfrm>
            <a:custGeom>
              <a:avLst/>
              <a:gdLst/>
              <a:ahLst/>
              <a:cxnLst/>
              <a:rect l="0" t="0" r="r" b="b"/>
              <a:pathLst>
                <a:path w="109728" h="105339">
                  <a:moveTo>
                    <a:pt x="109728" y="52669"/>
                  </a:moveTo>
                  <a:lnTo>
                    <a:pt x="0" y="105339"/>
                  </a:lnTo>
                  <a:lnTo>
                    <a:pt x="0" y="0"/>
                  </a:lnTo>
                  <a:close/>
                </a:path>
              </a:pathLst>
            </a:custGeom>
            <a:solidFill>
              <a:srgbClr val="7FB9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Connector"/>
            <p:cNvSpPr/>
            <p:nvPr/>
          </p:nvSpPr>
          <p:spPr>
            <a:xfrm>
              <a:off x="4846320" y="2843784"/>
              <a:ext cx="685800" cy="612648"/>
            </a:xfrm>
            <a:custGeom>
              <a:avLst/>
              <a:gdLst/>
              <a:ahLst/>
              <a:cxnLst/>
              <a:rect l="0" t="0" r="r" b="b"/>
              <a:pathLst>
                <a:path w="685800" h="612648">
                  <a:moveTo>
                    <a:pt x="0" y="612648"/>
                  </a:moveTo>
                  <a:lnTo>
                    <a:pt x="347472" y="612648"/>
                  </a:lnTo>
                  <a:lnTo>
                    <a:pt x="347472" y="0"/>
                  </a:lnTo>
                  <a:lnTo>
                    <a:pt x="685800" y="0"/>
                  </a:lnTo>
                </a:path>
              </a:pathLst>
            </a:custGeom>
            <a:noFill/>
            <a:ln w="36576" cap="flat">
              <a:solidFill>
                <a:srgbClr val="2E667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2" name="Arrowhead"/>
            <p:cNvSpPr/>
            <p:nvPr/>
          </p:nvSpPr>
          <p:spPr>
            <a:xfrm>
              <a:off x="5422392" y="2791115"/>
              <a:ext cx="109728" cy="105339"/>
            </a:xfrm>
            <a:custGeom>
              <a:avLst/>
              <a:gdLst/>
              <a:ahLst/>
              <a:cxnLst/>
              <a:rect l="0" t="0" r="r" b="b"/>
              <a:pathLst>
                <a:path w="109728" h="105339">
                  <a:moveTo>
                    <a:pt x="109728" y="52669"/>
                  </a:moveTo>
                  <a:lnTo>
                    <a:pt x="0" y="105339"/>
                  </a:lnTo>
                  <a:lnTo>
                    <a:pt x="0" y="0"/>
                  </a:lnTo>
                  <a:close/>
                </a:path>
              </a:pathLst>
            </a:custGeom>
            <a:solidFill>
              <a:srgbClr val="2E66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Aggregate image instance semantics"/>
            <p:cNvSpPr/>
            <p:nvPr/>
          </p:nvSpPr>
          <p:spPr>
            <a:xfrm>
              <a:off x="5532120" y="2551176"/>
              <a:ext cx="3977640" cy="438912"/>
            </a:xfrm>
            <a:prstGeom prst="roundRect">
              <a:avLst>
                <a:gd name="adj" fmla="val 22916"/>
              </a:avLst>
            </a:prstGeom>
            <a:solidFill>
              <a:srgbClr val="E8C7DC"/>
            </a:solidFill>
            <a:ln w="25603" cap="flat">
              <a:solidFill>
                <a:srgbClr val="101010"/>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Aggregating Instance Semantic"/>
            <p:cNvSpPr txBox="1"/>
            <p:nvPr/>
          </p:nvSpPr>
          <p:spPr>
            <a:xfrm>
              <a:off x="5623560" y="2569464"/>
              <a:ext cx="3794760" cy="402336"/>
            </a:xfrm>
            <a:prstGeom prst="rect">
              <a:avLst/>
            </a:prstGeom>
            <a:noFill/>
          </p:spPr>
          <p:txBody>
            <a:bodyPr wrap="none" lIns="0" rIns="0" tIns="0" bIns="0" anchor="ctr"/>
            <a:lstStyle/>
            <a:p>
              <a:pPr algn="ctr">
                <a:lnSpc>
                  <a:spcPct val="100000"/>
                </a:lnSpc>
                <a:spcBef>
                  <a:spcPts val="0"/>
                </a:spcBef>
                <a:spcAft>
                  <a:spcPts val="0"/>
                </a:spcAft>
              </a:pPr>
              <a:r>
                <a:rPr sz="2016" b="0" i="0" dirty="0">
                  <a:solidFill>
                    <a:srgbClr val="101010"/>
                  </a:solidFill>
                  <a:latin typeface="Arial"/>
                </a:rPr>
                <a:t>Aggregating Instance Semantic</a:t>
              </a:r>
            </a:p>
          </p:txBody>
        </p:sp>
        <p:sp>
          <p:nvSpPr>
            <p:cNvPr id="145" name="Connector"/>
            <p:cNvSpPr/>
            <p:nvPr/>
          </p:nvSpPr>
          <p:spPr>
            <a:xfrm>
              <a:off x="6309360" y="2990088"/>
              <a:ext cx="91" cy="356616"/>
            </a:xfrm>
            <a:custGeom>
              <a:avLst/>
              <a:gdLst/>
              <a:ahLst/>
              <a:cxnLst/>
              <a:rect l="0" t="0" r="r" b="b"/>
              <a:pathLst>
                <a:path w="91" h="356616">
                  <a:moveTo>
                    <a:pt x="0" y="0"/>
                  </a:moveTo>
                  <a:lnTo>
                    <a:pt x="0" y="356616"/>
                  </a:lnTo>
                </a:path>
              </a:pathLst>
            </a:custGeom>
            <a:noFill/>
            <a:ln w="36576" cap="flat">
              <a:solidFill>
                <a:srgbClr val="7FB9C9"/>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6" name="Arrowhead"/>
            <p:cNvSpPr/>
            <p:nvPr/>
          </p:nvSpPr>
          <p:spPr>
            <a:xfrm>
              <a:off x="6256691" y="3236976"/>
              <a:ext cx="105339" cy="109728"/>
            </a:xfrm>
            <a:custGeom>
              <a:avLst/>
              <a:gdLst/>
              <a:ahLst/>
              <a:cxnLst/>
              <a:rect l="0" t="0" r="r" b="b"/>
              <a:pathLst>
                <a:path w="105339" h="109728">
                  <a:moveTo>
                    <a:pt x="52669" y="109728"/>
                  </a:moveTo>
                  <a:lnTo>
                    <a:pt x="0" y="0"/>
                  </a:lnTo>
                  <a:lnTo>
                    <a:pt x="105339" y="0"/>
                  </a:lnTo>
                  <a:close/>
                </a:path>
              </a:pathLst>
            </a:custGeom>
            <a:solidFill>
              <a:srgbClr val="7FB9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Connector"/>
            <p:cNvSpPr/>
            <p:nvPr/>
          </p:nvSpPr>
          <p:spPr>
            <a:xfrm>
              <a:off x="8403336" y="2990088"/>
              <a:ext cx="91" cy="347472"/>
            </a:xfrm>
            <a:custGeom>
              <a:avLst/>
              <a:gdLst/>
              <a:ahLst/>
              <a:cxnLst/>
              <a:rect l="0" t="0" r="r" b="b"/>
              <a:pathLst>
                <a:path w="91" h="347472">
                  <a:moveTo>
                    <a:pt x="0" y="0"/>
                  </a:moveTo>
                  <a:lnTo>
                    <a:pt x="0" y="347472"/>
                  </a:lnTo>
                </a:path>
              </a:pathLst>
            </a:custGeom>
            <a:noFill/>
            <a:ln w="36576" cap="flat">
              <a:solidFill>
                <a:srgbClr val="2E667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8" name="Arrowhead"/>
            <p:cNvSpPr/>
            <p:nvPr/>
          </p:nvSpPr>
          <p:spPr>
            <a:xfrm>
              <a:off x="8350667" y="3227832"/>
              <a:ext cx="105339" cy="109728"/>
            </a:xfrm>
            <a:custGeom>
              <a:avLst/>
              <a:gdLst/>
              <a:ahLst/>
              <a:cxnLst/>
              <a:rect l="0" t="0" r="r" b="b"/>
              <a:pathLst>
                <a:path w="105339" h="109728">
                  <a:moveTo>
                    <a:pt x="52669" y="109728"/>
                  </a:moveTo>
                  <a:lnTo>
                    <a:pt x="0" y="0"/>
                  </a:lnTo>
                  <a:lnTo>
                    <a:pt x="105339" y="0"/>
                  </a:lnTo>
                  <a:close/>
                </a:path>
              </a:pathLst>
            </a:custGeom>
            <a:solidFill>
              <a:srgbClr val="2E66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149" name="Object agent query set"/>
            <p:cNvGrpSpPr/>
            <p:nvPr/>
          </p:nvGrpSpPr>
          <p:grpSpPr>
            <a:xfrm>
              <a:off x="5422392" y="3346704"/>
              <a:ext cx="1508760" cy="548640"/>
              <a:chOff x="5422392" y="3346704"/>
              <a:chExt cx="1508760" cy="548640"/>
            </a:xfrm>
          </p:grpSpPr>
          <p:sp>
            <p:nvSpPr>
              <p:cNvPr id="150" name="Queries dotted frame"/>
              <p:cNvSpPr/>
              <p:nvPr/>
            </p:nvSpPr>
            <p:spPr>
              <a:xfrm>
                <a:off x="5422392" y="3346704"/>
                <a:ext cx="1508760" cy="548640"/>
              </a:xfrm>
              <a:prstGeom prst="rect">
                <a:avLst/>
              </a:prstGeom>
              <a:noFill/>
              <a:ln w="16459" cap="flat">
                <a:solidFill>
                  <a:srgbClr val="233F65"/>
                </a:solidFill>
                <a:custDash>
                  <a:ds d="111111" sp="166667"/>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1" name="Query association arc"/>
              <p:cNvSpPr/>
              <p:nvPr/>
            </p:nvSpPr>
            <p:spPr>
              <a:xfrm>
                <a:off x="5614416" y="3410712"/>
                <a:ext cx="1106424" cy="192024"/>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2" name="Query association arc"/>
              <p:cNvSpPr/>
              <p:nvPr/>
            </p:nvSpPr>
            <p:spPr>
              <a:xfrm>
                <a:off x="5605272" y="3419856"/>
                <a:ext cx="987552" cy="347472"/>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Query association arc"/>
              <p:cNvSpPr/>
              <p:nvPr/>
            </p:nvSpPr>
            <p:spPr>
              <a:xfrm>
                <a:off x="5650992" y="3474720"/>
                <a:ext cx="1106424" cy="356616"/>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Query token"/>
              <p:cNvSpPr/>
              <p:nvPr/>
            </p:nvSpPr>
            <p:spPr>
              <a:xfrm>
                <a:off x="5486400" y="3520440"/>
                <a:ext cx="256032" cy="256032"/>
              </a:xfrm>
              <a:prstGeom prst="rect">
                <a:avLst/>
              </a:prstGeom>
              <a:solidFill>
                <a:srgbClr val="C1D9EB"/>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5" name="···"/>
              <p:cNvSpPr txBox="1"/>
              <p:nvPr/>
            </p:nvSpPr>
            <p:spPr>
              <a:xfrm>
                <a:off x="5788152" y="3502152"/>
                <a:ext cx="274320" cy="228600"/>
              </a:xfrm>
              <a:prstGeom prst="rect">
                <a:avLst/>
              </a:prstGeom>
              <a:noFill/>
            </p:spPr>
            <p:txBody>
              <a:bodyPr wrap="none" lIns="0" rIns="0" tIns="0" bIns="0" anchor="ctr"/>
              <a:lstStyle/>
              <a:p>
                <a:pPr algn="ctr">
                  <a:lnSpc>
                    <a:spcPct val="100000"/>
                  </a:lnSpc>
                  <a:spcBef>
                    <a:spcPts val="0"/>
                  </a:spcBef>
                  <a:spcAft>
                    <a:spcPts val="0"/>
                  </a:spcAft>
                </a:pPr>
                <a:r>
                  <a:rPr sz="1800" b="1" i="0" dirty="0">
                    <a:solidFill>
                      <a:srgbClr val="101010"/>
                    </a:solidFill>
                    <a:latin typeface="Arial"/>
                  </a:rPr>
                  <a:t>···</a:t>
                </a:r>
              </a:p>
            </p:txBody>
          </p:sp>
          <p:sp>
            <p:nvSpPr>
              <p:cNvPr id="156" name="Query token"/>
              <p:cNvSpPr/>
              <p:nvPr/>
            </p:nvSpPr>
            <p:spPr>
              <a:xfrm>
                <a:off x="6108192" y="3520440"/>
                <a:ext cx="256032" cy="256032"/>
              </a:xfrm>
              <a:prstGeom prst="rect">
                <a:avLst/>
              </a:prstGeom>
              <a:solidFill>
                <a:srgbClr val="C1D9EB"/>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7" name="Query token"/>
              <p:cNvSpPr/>
              <p:nvPr/>
            </p:nvSpPr>
            <p:spPr>
              <a:xfrm>
                <a:off x="6364224" y="3520440"/>
                <a:ext cx="256032" cy="256032"/>
              </a:xfrm>
              <a:prstGeom prst="rect">
                <a:avLst/>
              </a:prstGeom>
              <a:solidFill>
                <a:srgbClr val="C1D9EB"/>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8" name="Query token"/>
              <p:cNvSpPr/>
              <p:nvPr/>
            </p:nvSpPr>
            <p:spPr>
              <a:xfrm>
                <a:off x="6620256" y="3520440"/>
                <a:ext cx="256032" cy="256032"/>
              </a:xfrm>
              <a:prstGeom prst="rect">
                <a:avLst/>
              </a:prstGeom>
              <a:solidFill>
                <a:srgbClr val="C1D9EB"/>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59" name="Object agent query set"/>
            <p:cNvGrpSpPr/>
            <p:nvPr/>
          </p:nvGrpSpPr>
          <p:grpSpPr>
            <a:xfrm>
              <a:off x="7580376" y="3337560"/>
              <a:ext cx="1563624" cy="548640"/>
              <a:chOff x="7580376" y="3337560"/>
              <a:chExt cx="1563624" cy="548640"/>
            </a:xfrm>
          </p:grpSpPr>
          <p:sp>
            <p:nvSpPr>
              <p:cNvPr id="160" name="Queries dotted frame"/>
              <p:cNvSpPr/>
              <p:nvPr/>
            </p:nvSpPr>
            <p:spPr>
              <a:xfrm>
                <a:off x="7580376" y="3337560"/>
                <a:ext cx="1563624" cy="548640"/>
              </a:xfrm>
              <a:prstGeom prst="rect">
                <a:avLst/>
              </a:prstGeom>
              <a:noFill/>
              <a:ln w="16459" cap="flat">
                <a:solidFill>
                  <a:srgbClr val="233F65"/>
                </a:solidFill>
                <a:custDash>
                  <a:ds d="111111" sp="166667"/>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1" name="Query association arc"/>
              <p:cNvSpPr/>
              <p:nvPr/>
            </p:nvSpPr>
            <p:spPr>
              <a:xfrm>
                <a:off x="7772400" y="3401568"/>
                <a:ext cx="1161288" cy="192024"/>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2" name="Query association arc"/>
              <p:cNvSpPr/>
              <p:nvPr/>
            </p:nvSpPr>
            <p:spPr>
              <a:xfrm>
                <a:off x="7763256" y="3410712"/>
                <a:ext cx="1042416" cy="347472"/>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Query association arc"/>
              <p:cNvSpPr/>
              <p:nvPr/>
            </p:nvSpPr>
            <p:spPr>
              <a:xfrm>
                <a:off x="7808976" y="3465576"/>
                <a:ext cx="1161288" cy="356616"/>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Query token"/>
              <p:cNvSpPr/>
              <p:nvPr/>
            </p:nvSpPr>
            <p:spPr>
              <a:xfrm>
                <a:off x="7644384" y="3511296"/>
                <a:ext cx="256032" cy="256032"/>
              </a:xfrm>
              <a:prstGeom prst="rect">
                <a:avLst/>
              </a:prstGeom>
              <a:solidFill>
                <a:srgbClr val="4FA6C4"/>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5" name="···"/>
              <p:cNvSpPr txBox="1"/>
              <p:nvPr/>
            </p:nvSpPr>
            <p:spPr>
              <a:xfrm>
                <a:off x="7946136" y="3493008"/>
                <a:ext cx="274320" cy="228600"/>
              </a:xfrm>
              <a:prstGeom prst="rect">
                <a:avLst/>
              </a:prstGeom>
              <a:noFill/>
            </p:spPr>
            <p:txBody>
              <a:bodyPr wrap="none" lIns="0" rIns="0" tIns="0" bIns="0" anchor="ctr"/>
              <a:lstStyle/>
              <a:p>
                <a:pPr algn="ctr">
                  <a:lnSpc>
                    <a:spcPct val="100000"/>
                  </a:lnSpc>
                  <a:spcBef>
                    <a:spcPts val="0"/>
                  </a:spcBef>
                  <a:spcAft>
                    <a:spcPts val="0"/>
                  </a:spcAft>
                </a:pPr>
                <a:r>
                  <a:rPr sz="1800" b="1" i="0" dirty="0">
                    <a:solidFill>
                      <a:srgbClr val="101010"/>
                    </a:solidFill>
                    <a:latin typeface="Arial"/>
                  </a:rPr>
                  <a:t>···</a:t>
                </a:r>
              </a:p>
            </p:txBody>
          </p:sp>
          <p:sp>
            <p:nvSpPr>
              <p:cNvPr id="166" name="Query token"/>
              <p:cNvSpPr/>
              <p:nvPr/>
            </p:nvSpPr>
            <p:spPr>
              <a:xfrm>
                <a:off x="8266176" y="3511296"/>
                <a:ext cx="256032" cy="256032"/>
              </a:xfrm>
              <a:prstGeom prst="rect">
                <a:avLst/>
              </a:prstGeom>
              <a:solidFill>
                <a:srgbClr val="4FA6C4"/>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Query token"/>
              <p:cNvSpPr/>
              <p:nvPr/>
            </p:nvSpPr>
            <p:spPr>
              <a:xfrm>
                <a:off x="8522208" y="3511296"/>
                <a:ext cx="256032" cy="256032"/>
              </a:xfrm>
              <a:prstGeom prst="rect">
                <a:avLst/>
              </a:prstGeom>
              <a:solidFill>
                <a:srgbClr val="4FA6C4"/>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Query token"/>
              <p:cNvSpPr/>
              <p:nvPr/>
            </p:nvSpPr>
            <p:spPr>
              <a:xfrm>
                <a:off x="8778240" y="3511296"/>
                <a:ext cx="256032" cy="256032"/>
              </a:xfrm>
              <a:prstGeom prst="rect">
                <a:avLst/>
              </a:prstGeom>
              <a:solidFill>
                <a:srgbClr val="4FA6C4"/>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169" name="Query ins"/>
            <p:cNvGrpSpPr/>
            <p:nvPr/>
          </p:nvGrpSpPr>
          <p:grpSpPr>
            <a:xfrm>
              <a:off x="5486400" y="3804087"/>
              <a:ext cx="352101" cy="369814"/>
              <a:chOff x="5486400" y="3804087"/>
              <a:chExt cx="352101" cy="369814"/>
            </a:xfrm>
          </p:grpSpPr>
          <p:sp>
            <p:nvSpPr>
              <p:cNvPr id="170" name="Equation q"/>
              <p:cNvSpPr txBox="1"/>
              <p:nvPr/>
            </p:nvSpPr>
            <p:spPr>
              <a:xfrm>
                <a:off x="5486400" y="3804087"/>
                <a:ext cx="160020" cy="344729"/>
              </a:xfrm>
              <a:prstGeom prst="rect">
                <a:avLst/>
              </a:prstGeom>
              <a:noFill/>
            </p:spPr>
            <p:txBody>
              <a:bodyPr wrap="none" lIns="0" rIns="0" tIns="0" bIns="0" anchor="ctr"/>
              <a:lstStyle/>
              <a:p>
                <a:pPr algn="l">
                  <a:lnSpc>
                    <a:spcPct val="100000"/>
                  </a:lnSpc>
                  <a:spcBef>
                    <a:spcPts val="0"/>
                  </a:spcBef>
                  <a:spcAft>
                    <a:spcPts val="0"/>
                  </a:spcAft>
                </a:pPr>
                <a:r>
                  <a:rPr sz="2088" b="0" i="1" dirty="0">
                    <a:solidFill>
                      <a:srgbClr val="101010"/>
                    </a:solidFill>
                    <a:latin typeface="Times New Roman"/>
                  </a:rPr>
                  <a:t>q</a:t>
                </a:r>
              </a:p>
            </p:txBody>
          </p:sp>
          <p:sp>
            <p:nvSpPr>
              <p:cNvPr id="171" name="Equation ins"/>
              <p:cNvSpPr txBox="1"/>
              <p:nvPr/>
            </p:nvSpPr>
            <p:spPr>
              <a:xfrm>
                <a:off x="5618988" y="3960169"/>
                <a:ext cx="219513" cy="213732"/>
              </a:xfrm>
              <a:prstGeom prst="rect">
                <a:avLst/>
              </a:prstGeom>
              <a:noFill/>
            </p:spPr>
            <p:txBody>
              <a:bodyPr wrap="none" lIns="0" rIns="0" tIns="0" bIns="0" anchor="ctr"/>
              <a:lstStyle/>
              <a:p>
                <a:pPr algn="l">
                  <a:lnSpc>
                    <a:spcPct val="100000"/>
                  </a:lnSpc>
                  <a:spcBef>
                    <a:spcPts val="0"/>
                  </a:spcBef>
                  <a:spcAft>
                    <a:spcPts val="0"/>
                  </a:spcAft>
                </a:pPr>
                <a:r>
                  <a:rPr sz="1294" b="0" i="1" dirty="0">
                    <a:solidFill>
                      <a:srgbClr val="101010"/>
                    </a:solidFill>
                    <a:latin typeface="Times New Roman"/>
                  </a:rPr>
                  <a:t>ins</a:t>
                </a:r>
              </a:p>
            </p:txBody>
          </p:sp>
        </p:grpSp>
        <p:grpSp>
          <p:nvGrpSpPr>
            <p:cNvPr id="172" name="Query ins"/>
            <p:cNvGrpSpPr/>
            <p:nvPr/>
          </p:nvGrpSpPr>
          <p:grpSpPr>
            <a:xfrm>
              <a:off x="7662672" y="3813231"/>
              <a:ext cx="410108" cy="369814"/>
              <a:chOff x="7662672" y="3813231"/>
              <a:chExt cx="410108" cy="369814"/>
            </a:xfrm>
          </p:grpSpPr>
          <p:sp>
            <p:nvSpPr>
              <p:cNvPr id="173" name="Equation q′"/>
              <p:cNvSpPr txBox="1"/>
              <p:nvPr/>
            </p:nvSpPr>
            <p:spPr>
              <a:xfrm>
                <a:off x="7662672" y="3813231"/>
                <a:ext cx="218027" cy="344729"/>
              </a:xfrm>
              <a:prstGeom prst="rect">
                <a:avLst/>
              </a:prstGeom>
              <a:noFill/>
            </p:spPr>
            <p:txBody>
              <a:bodyPr wrap="none" lIns="0" rIns="0" tIns="0" bIns="0" anchor="ctr"/>
              <a:lstStyle/>
              <a:p>
                <a:pPr algn="l">
                  <a:lnSpc>
                    <a:spcPct val="100000"/>
                  </a:lnSpc>
                  <a:spcBef>
                    <a:spcPts val="0"/>
                  </a:spcBef>
                  <a:spcAft>
                    <a:spcPts val="0"/>
                  </a:spcAft>
                </a:pPr>
                <a:r>
                  <a:rPr sz="2088" b="0" i="1" dirty="0">
                    <a:solidFill>
                      <a:srgbClr val="101010"/>
                    </a:solidFill>
                    <a:latin typeface="Times New Roman"/>
                  </a:rPr>
                  <a:t>q′</a:t>
                </a:r>
              </a:p>
            </p:txBody>
          </p:sp>
          <p:sp>
            <p:nvSpPr>
              <p:cNvPr id="174" name="Equation ins"/>
              <p:cNvSpPr txBox="1"/>
              <p:nvPr/>
            </p:nvSpPr>
            <p:spPr>
              <a:xfrm>
                <a:off x="7853267" y="3969313"/>
                <a:ext cx="219513" cy="213732"/>
              </a:xfrm>
              <a:prstGeom prst="rect">
                <a:avLst/>
              </a:prstGeom>
              <a:noFill/>
            </p:spPr>
            <p:txBody>
              <a:bodyPr wrap="none" lIns="0" rIns="0" tIns="0" bIns="0" anchor="ctr"/>
              <a:lstStyle/>
              <a:p>
                <a:pPr algn="l">
                  <a:lnSpc>
                    <a:spcPct val="100000"/>
                  </a:lnSpc>
                  <a:spcBef>
                    <a:spcPts val="0"/>
                  </a:spcBef>
                  <a:spcAft>
                    <a:spcPts val="0"/>
                  </a:spcAft>
                </a:pPr>
                <a:r>
                  <a:rPr sz="1294" b="0" i="1" dirty="0">
                    <a:solidFill>
                      <a:srgbClr val="101010"/>
                    </a:solidFill>
                    <a:latin typeface="Times New Roman"/>
                  </a:rPr>
                  <a:t>ins</a:t>
                </a:r>
              </a:p>
            </p:txBody>
          </p:sp>
        </p:grpSp>
        <p:sp>
          <p:nvSpPr>
            <p:cNvPr id="175" name="Connector"/>
            <p:cNvSpPr/>
            <p:nvPr/>
          </p:nvSpPr>
          <p:spPr>
            <a:xfrm>
              <a:off x="6291072" y="3895344"/>
              <a:ext cx="91" cy="338328"/>
            </a:xfrm>
            <a:custGeom>
              <a:avLst/>
              <a:gdLst/>
              <a:ahLst/>
              <a:cxnLst/>
              <a:rect l="0" t="0" r="r" b="b"/>
              <a:pathLst>
                <a:path w="91" h="338328">
                  <a:moveTo>
                    <a:pt x="0" y="0"/>
                  </a:moveTo>
                  <a:lnTo>
                    <a:pt x="0" y="338328"/>
                  </a:lnTo>
                </a:path>
              </a:pathLst>
            </a:custGeom>
            <a:noFill/>
            <a:ln w="36576" cap="flat">
              <a:solidFill>
                <a:srgbClr val="7FB9C9"/>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6" name="Arrowhead"/>
            <p:cNvSpPr/>
            <p:nvPr/>
          </p:nvSpPr>
          <p:spPr>
            <a:xfrm>
              <a:off x="6238403" y="4123944"/>
              <a:ext cx="105339" cy="109728"/>
            </a:xfrm>
            <a:custGeom>
              <a:avLst/>
              <a:gdLst/>
              <a:ahLst/>
              <a:cxnLst/>
              <a:rect l="0" t="0" r="r" b="b"/>
              <a:pathLst>
                <a:path w="105339" h="109728">
                  <a:moveTo>
                    <a:pt x="52669" y="109728"/>
                  </a:moveTo>
                  <a:lnTo>
                    <a:pt x="0" y="0"/>
                  </a:lnTo>
                  <a:lnTo>
                    <a:pt x="105339" y="0"/>
                  </a:lnTo>
                  <a:close/>
                </a:path>
              </a:pathLst>
            </a:custGeom>
            <a:solidFill>
              <a:srgbClr val="7FB9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7" name="Connector"/>
            <p:cNvSpPr/>
            <p:nvPr/>
          </p:nvSpPr>
          <p:spPr>
            <a:xfrm>
              <a:off x="8394192" y="3886200"/>
              <a:ext cx="91" cy="347472"/>
            </a:xfrm>
            <a:custGeom>
              <a:avLst/>
              <a:gdLst/>
              <a:ahLst/>
              <a:cxnLst/>
              <a:rect l="0" t="0" r="r" b="b"/>
              <a:pathLst>
                <a:path w="91" h="347472">
                  <a:moveTo>
                    <a:pt x="0" y="0"/>
                  </a:moveTo>
                  <a:lnTo>
                    <a:pt x="0" y="347472"/>
                  </a:lnTo>
                </a:path>
              </a:pathLst>
            </a:custGeom>
            <a:noFill/>
            <a:ln w="36576" cap="flat">
              <a:solidFill>
                <a:srgbClr val="2E667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Arrowhead"/>
            <p:cNvSpPr/>
            <p:nvPr/>
          </p:nvSpPr>
          <p:spPr>
            <a:xfrm>
              <a:off x="8341523" y="4123944"/>
              <a:ext cx="105339" cy="109728"/>
            </a:xfrm>
            <a:custGeom>
              <a:avLst/>
              <a:gdLst/>
              <a:ahLst/>
              <a:cxnLst/>
              <a:rect l="0" t="0" r="r" b="b"/>
              <a:pathLst>
                <a:path w="105339" h="109728">
                  <a:moveTo>
                    <a:pt x="52669" y="109728"/>
                  </a:moveTo>
                  <a:lnTo>
                    <a:pt x="0" y="0"/>
                  </a:lnTo>
                  <a:lnTo>
                    <a:pt x="105339" y="0"/>
                  </a:lnTo>
                  <a:close/>
                </a:path>
              </a:pathLst>
            </a:custGeom>
            <a:solidFill>
              <a:srgbClr val="2E66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9" name="Principal component extraction"/>
            <p:cNvSpPr/>
            <p:nvPr/>
          </p:nvSpPr>
          <p:spPr>
            <a:xfrm>
              <a:off x="5340096" y="4233672"/>
              <a:ext cx="3959352" cy="448056"/>
            </a:xfrm>
            <a:prstGeom prst="roundRect">
              <a:avLst>
                <a:gd name="adj" fmla="val 20408"/>
              </a:avLst>
            </a:prstGeom>
            <a:solidFill>
              <a:srgbClr val="C6E8DE"/>
            </a:solid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Principal Component Extraction"/>
            <p:cNvSpPr txBox="1"/>
            <p:nvPr/>
          </p:nvSpPr>
          <p:spPr>
            <a:xfrm>
              <a:off x="5422392" y="4279392"/>
              <a:ext cx="3794760" cy="356616"/>
            </a:xfrm>
            <a:prstGeom prst="rect">
              <a:avLst/>
            </a:prstGeom>
            <a:noFill/>
          </p:spPr>
          <p:txBody>
            <a:bodyPr wrap="none" lIns="0" rIns="0" tIns="0" bIns="0" anchor="ctr"/>
            <a:lstStyle/>
            <a:p>
              <a:pPr algn="ctr">
                <a:lnSpc>
                  <a:spcPct val="100000"/>
                </a:lnSpc>
                <a:spcBef>
                  <a:spcPts val="0"/>
                </a:spcBef>
                <a:spcAft>
                  <a:spcPts val="0"/>
                </a:spcAft>
              </a:pPr>
              <a:r>
                <a:rPr sz="2016" b="0" i="0" dirty="0">
                  <a:solidFill>
                    <a:srgbClr val="101010"/>
                  </a:solidFill>
                  <a:latin typeface="Arial"/>
                </a:rPr>
                <a:t>Principal Component Extraction</a:t>
              </a:r>
            </a:p>
          </p:txBody>
        </p:sp>
      </p:grpSp>
      <p:grpSp>
        <p:nvGrpSpPr>
          <p:cNvPr id="181" name="Query type legend"/>
          <p:cNvGrpSpPr/>
          <p:nvPr/>
        </p:nvGrpSpPr>
        <p:grpSpPr>
          <a:xfrm>
            <a:off x="82296" y="3236976"/>
            <a:ext cx="2770632" cy="1463040"/>
            <a:chOff x="82296" y="3236976"/>
            <a:chExt cx="2770632" cy="1463040"/>
          </a:xfrm>
        </p:grpSpPr>
        <p:sp>
          <p:nvSpPr>
            <p:cNvPr id="182" name="Legend background"/>
            <p:cNvSpPr/>
            <p:nvPr/>
          </p:nvSpPr>
          <p:spPr>
            <a:xfrm>
              <a:off x="82296" y="3236976"/>
              <a:ext cx="2770632" cy="1463040"/>
            </a:xfrm>
            <a:prstGeom prst="rect">
              <a:avLst/>
            </a:prstGeom>
            <a:solidFill>
              <a:srgbClr val="EFEFEF"/>
            </a:solidFill>
            <a:ln w="22860" cap="flat">
              <a:solidFill>
                <a:srgbClr val="AAAAAA"/>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3" name="Learnable Queries swatch"/>
            <p:cNvSpPr/>
            <p:nvPr/>
          </p:nvSpPr>
          <p:spPr>
            <a:xfrm>
              <a:off x="164592" y="3364992"/>
              <a:ext cx="173736" cy="173736"/>
            </a:xfrm>
            <a:prstGeom prst="rect">
              <a:avLst/>
            </a:prstGeom>
            <a:solidFill>
              <a:srgbClr val="D3D7D9"/>
            </a:solid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4" name="Learnable Queries"/>
            <p:cNvSpPr txBox="1"/>
            <p:nvPr/>
          </p:nvSpPr>
          <p:spPr>
            <a:xfrm>
              <a:off x="374904" y="3355848"/>
              <a:ext cx="2432304" cy="228600"/>
            </a:xfrm>
            <a:prstGeom prst="rect">
              <a:avLst/>
            </a:prstGeom>
            <a:noFill/>
          </p:spPr>
          <p:txBody>
            <a:bodyPr wrap="none" lIns="0" rIns="0" tIns="0" bIns="0" anchor="ctr"/>
            <a:lstStyle/>
            <a:p>
              <a:pPr algn="l">
                <a:lnSpc>
                  <a:spcPct val="100000"/>
                </a:lnSpc>
                <a:spcBef>
                  <a:spcPts val="0"/>
                </a:spcBef>
                <a:spcAft>
                  <a:spcPts val="0"/>
                </a:spcAft>
              </a:pPr>
              <a:r>
                <a:rPr sz="1260" b="0" i="0" dirty="0">
                  <a:solidFill>
                    <a:srgbClr val="454545"/>
                  </a:solidFill>
                  <a:latin typeface="Arial"/>
                </a:rPr>
                <a:t>Learnable Queries</a:t>
              </a:r>
            </a:p>
          </p:txBody>
        </p:sp>
        <p:sp>
          <p:nvSpPr>
            <p:cNvPr id="185" name="2D Object Agent Queries swatch"/>
            <p:cNvSpPr/>
            <p:nvPr/>
          </p:nvSpPr>
          <p:spPr>
            <a:xfrm>
              <a:off x="164592" y="3700577"/>
              <a:ext cx="173736" cy="173736"/>
            </a:xfrm>
            <a:prstGeom prst="rect">
              <a:avLst/>
            </a:prstGeom>
            <a:solidFill>
              <a:srgbClr val="C1D9EB"/>
            </a:solid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6" name="2D Object Agent Queries"/>
            <p:cNvSpPr txBox="1"/>
            <p:nvPr/>
          </p:nvSpPr>
          <p:spPr>
            <a:xfrm>
              <a:off x="374904" y="3691433"/>
              <a:ext cx="2432304" cy="228600"/>
            </a:xfrm>
            <a:prstGeom prst="rect">
              <a:avLst/>
            </a:prstGeom>
            <a:noFill/>
          </p:spPr>
          <p:txBody>
            <a:bodyPr wrap="none" lIns="0" rIns="0" tIns="0" bIns="0" anchor="ctr"/>
            <a:lstStyle/>
            <a:p>
              <a:pPr algn="l">
                <a:lnSpc>
                  <a:spcPct val="100000"/>
                </a:lnSpc>
                <a:spcBef>
                  <a:spcPts val="0"/>
                </a:spcBef>
                <a:spcAft>
                  <a:spcPts val="0"/>
                </a:spcAft>
              </a:pPr>
              <a:r>
                <a:rPr sz="1260" b="0" i="0" dirty="0">
                  <a:solidFill>
                    <a:srgbClr val="454545"/>
                  </a:solidFill>
                  <a:latin typeface="Arial"/>
                </a:rPr>
                <a:t>2D Object Agent Queries</a:t>
              </a:r>
            </a:p>
          </p:txBody>
        </p:sp>
        <p:sp>
          <p:nvSpPr>
            <p:cNvPr id="187" name="2D Auxiliary Object Agent Queries swatch"/>
            <p:cNvSpPr/>
            <p:nvPr/>
          </p:nvSpPr>
          <p:spPr>
            <a:xfrm>
              <a:off x="164592" y="4036162"/>
              <a:ext cx="173736" cy="173736"/>
            </a:xfrm>
            <a:prstGeom prst="rect">
              <a:avLst/>
            </a:prstGeom>
            <a:solidFill>
              <a:srgbClr val="4FA6C4"/>
            </a:solid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8" name="2D Auxiliary Object Agent Queries"/>
            <p:cNvSpPr txBox="1"/>
            <p:nvPr/>
          </p:nvSpPr>
          <p:spPr>
            <a:xfrm>
              <a:off x="374904" y="4027018"/>
              <a:ext cx="2432304" cy="228600"/>
            </a:xfrm>
            <a:prstGeom prst="rect">
              <a:avLst/>
            </a:prstGeom>
            <a:noFill/>
          </p:spPr>
          <p:txBody>
            <a:bodyPr wrap="none" lIns="0" rIns="0" tIns="0" bIns="0" anchor="ctr"/>
            <a:lstStyle/>
            <a:p>
              <a:pPr algn="l">
                <a:lnSpc>
                  <a:spcPct val="100000"/>
                </a:lnSpc>
                <a:spcBef>
                  <a:spcPts val="0"/>
                </a:spcBef>
                <a:spcAft>
                  <a:spcPts val="0"/>
                </a:spcAft>
              </a:pPr>
              <a:r>
                <a:rPr sz="1260" b="0" i="0" dirty="0">
                  <a:solidFill>
                    <a:srgbClr val="454545"/>
                  </a:solidFill>
                  <a:latin typeface="Arial"/>
                </a:rPr>
                <a:t>2D Auxiliary Object Agent Queries</a:t>
              </a:r>
            </a:p>
          </p:txBody>
        </p:sp>
        <p:sp>
          <p:nvSpPr>
            <p:cNvPr id="189" name="3D Object Agent Queries swatch"/>
            <p:cNvSpPr/>
            <p:nvPr/>
          </p:nvSpPr>
          <p:spPr>
            <a:xfrm>
              <a:off x="164592" y="4371746"/>
              <a:ext cx="173736" cy="173736"/>
            </a:xfrm>
            <a:prstGeom prst="rect">
              <a:avLst/>
            </a:prstGeom>
            <a:solidFill>
              <a:srgbClr val="F8C5A8"/>
            </a:solid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0" name="3D Object Agent Queries"/>
            <p:cNvSpPr txBox="1"/>
            <p:nvPr/>
          </p:nvSpPr>
          <p:spPr>
            <a:xfrm>
              <a:off x="374904" y="4362602"/>
              <a:ext cx="2432304" cy="228600"/>
            </a:xfrm>
            <a:prstGeom prst="rect">
              <a:avLst/>
            </a:prstGeom>
            <a:noFill/>
          </p:spPr>
          <p:txBody>
            <a:bodyPr wrap="none" lIns="0" rIns="0" tIns="0" bIns="0" anchor="ctr"/>
            <a:lstStyle/>
            <a:p>
              <a:pPr algn="l">
                <a:lnSpc>
                  <a:spcPct val="100000"/>
                </a:lnSpc>
                <a:spcBef>
                  <a:spcPts val="0"/>
                </a:spcBef>
                <a:spcAft>
                  <a:spcPts val="0"/>
                </a:spcAft>
              </a:pPr>
              <a:r>
                <a:rPr sz="1260" b="0" i="0" dirty="0">
                  <a:solidFill>
                    <a:srgbClr val="454545"/>
                  </a:solidFill>
                  <a:latin typeface="Arial"/>
                </a:rPr>
                <a:t>3D Object Agent Queries</a:t>
              </a:r>
            </a:p>
          </p:txBody>
        </p:sp>
      </p:grpSp>
      <p:grpSp>
        <p:nvGrpSpPr>
          <p:cNvPr id="191" name="b — Dual queries consistency scheme"/>
          <p:cNvGrpSpPr/>
          <p:nvPr/>
        </p:nvGrpSpPr>
        <p:grpSpPr>
          <a:xfrm>
            <a:off x="9299448" y="557784"/>
            <a:ext cx="6492240" cy="4155613"/>
            <a:chOff x="9299448" y="557784"/>
            <a:chExt cx="6492240" cy="4155613"/>
          </a:xfrm>
        </p:grpSpPr>
        <p:sp>
          <p:nvSpPr>
            <p:cNvPr id="192" name="SVD quantization panel"/>
            <p:cNvSpPr/>
            <p:nvPr/>
          </p:nvSpPr>
          <p:spPr>
            <a:xfrm>
              <a:off x="9875520" y="557784"/>
              <a:ext cx="5916168" cy="2852928"/>
            </a:xfrm>
            <a:prstGeom prst="roundRect">
              <a:avLst>
                <a:gd name="adj" fmla="val 4807"/>
              </a:avLst>
            </a:prstGeom>
            <a:solidFill>
              <a:srgbClr val="C6E9E2"/>
            </a:solid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193" name="Object agent queries before SVD"/>
            <p:cNvGrpSpPr/>
            <p:nvPr/>
          </p:nvGrpSpPr>
          <p:grpSpPr>
            <a:xfrm>
              <a:off x="10908792" y="694944"/>
              <a:ext cx="4709160" cy="329184"/>
              <a:chOff x="10908792" y="694944"/>
              <a:chExt cx="4709160" cy="329184"/>
            </a:xfrm>
          </p:grpSpPr>
          <p:sp>
            <p:nvSpPr>
              <p:cNvPr id="194" name="Query token"/>
              <p:cNvSpPr/>
              <p:nvPr/>
            </p:nvSpPr>
            <p:spPr>
              <a:xfrm>
                <a:off x="10908792" y="722376"/>
                <a:ext cx="256032" cy="256032"/>
              </a:xfrm>
              <a:prstGeom prst="rect">
                <a:avLst/>
              </a:prstGeom>
              <a:solidFill>
                <a:srgbClr val="FFF2CF"/>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5" name="Query token"/>
              <p:cNvSpPr/>
              <p:nvPr/>
            </p:nvSpPr>
            <p:spPr>
              <a:xfrm>
                <a:off x="11521440" y="722376"/>
                <a:ext cx="256032" cy="256032"/>
              </a:xfrm>
              <a:prstGeom prst="rect">
                <a:avLst/>
              </a:prstGeom>
              <a:solidFill>
                <a:srgbClr val="FFF2CF"/>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6" name="Query token"/>
              <p:cNvSpPr/>
              <p:nvPr/>
            </p:nvSpPr>
            <p:spPr>
              <a:xfrm>
                <a:off x="11777472" y="722376"/>
                <a:ext cx="256032" cy="256032"/>
              </a:xfrm>
              <a:prstGeom prst="rect">
                <a:avLst/>
              </a:prstGeom>
              <a:solidFill>
                <a:srgbClr val="FFF2CF"/>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7" name="Query token"/>
              <p:cNvSpPr/>
              <p:nvPr/>
            </p:nvSpPr>
            <p:spPr>
              <a:xfrm>
                <a:off x="12024360" y="722376"/>
                <a:ext cx="256032" cy="256032"/>
              </a:xfrm>
              <a:prstGeom prst="rect">
                <a:avLst/>
              </a:prstGeom>
              <a:solidFill>
                <a:srgbClr val="FFF2CF"/>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8" name="···"/>
              <p:cNvSpPr txBox="1"/>
              <p:nvPr/>
            </p:nvSpPr>
            <p:spPr>
              <a:xfrm>
                <a:off x="11228832" y="694944"/>
                <a:ext cx="246888" cy="228600"/>
              </a:xfrm>
              <a:prstGeom prst="rect">
                <a:avLst/>
              </a:prstGeom>
              <a:noFill/>
            </p:spPr>
            <p:txBody>
              <a:bodyPr wrap="none" lIns="0" rIns="0" tIns="0" bIns="0" anchor="ctr"/>
              <a:lstStyle/>
              <a:p>
                <a:pPr algn="ctr">
                  <a:lnSpc>
                    <a:spcPct val="100000"/>
                  </a:lnSpc>
                  <a:spcBef>
                    <a:spcPts val="0"/>
                  </a:spcBef>
                  <a:spcAft>
                    <a:spcPts val="0"/>
                  </a:spcAft>
                </a:pPr>
                <a:r>
                  <a:rPr sz="1800" b="1" i="0" dirty="0">
                    <a:solidFill>
                      <a:srgbClr val="101010"/>
                    </a:solidFill>
                    <a:latin typeface="Arial"/>
                  </a:rPr>
                  <a:t>···</a:t>
                </a:r>
              </a:p>
            </p:txBody>
          </p:sp>
          <p:sp>
            <p:nvSpPr>
              <p:cNvPr id="199" name="Object Agent Queries"/>
              <p:cNvSpPr txBox="1"/>
              <p:nvPr/>
            </p:nvSpPr>
            <p:spPr>
              <a:xfrm>
                <a:off x="12454128" y="713232"/>
                <a:ext cx="3163824" cy="310896"/>
              </a:xfrm>
              <a:prstGeom prst="rect">
                <a:avLst/>
              </a:prstGeom>
              <a:noFill/>
            </p:spPr>
            <p:txBody>
              <a:bodyPr wrap="none" lIns="0" rIns="0" tIns="0" bIns="0" anchor="ctr"/>
              <a:lstStyle/>
              <a:p>
                <a:pPr algn="l">
                  <a:lnSpc>
                    <a:spcPct val="100000"/>
                  </a:lnSpc>
                  <a:spcBef>
                    <a:spcPts val="0"/>
                  </a:spcBef>
                  <a:spcAft>
                    <a:spcPts val="0"/>
                  </a:spcAft>
                </a:pPr>
                <a:r>
                  <a:rPr sz="1943" b="0" i="0" dirty="0">
                    <a:solidFill>
                      <a:srgbClr val="101010"/>
                    </a:solidFill>
                    <a:latin typeface="Arial"/>
                  </a:rPr>
                  <a:t>Object Agent Queries</a:t>
                </a:r>
              </a:p>
            </p:txBody>
          </p:sp>
        </p:grpSp>
        <p:sp>
          <p:nvSpPr>
            <p:cNvPr id="200" name="Outlined transition arrow"/>
            <p:cNvSpPr/>
            <p:nvPr/>
          </p:nvSpPr>
          <p:spPr>
            <a:xfrm>
              <a:off x="11420856" y="1069848"/>
              <a:ext cx="164592" cy="228600"/>
            </a:xfrm>
            <a:custGeom>
              <a:avLst/>
              <a:gdLst/>
              <a:ahLst/>
              <a:cxnLst/>
              <a:rect l="0" t="0" r="r" b="b"/>
              <a:pathLst>
                <a:path w="164592" h="228600">
                  <a:moveTo>
                    <a:pt x="0" y="0"/>
                  </a:moveTo>
                  <a:lnTo>
                    <a:pt x="164592" y="0"/>
                  </a:lnTo>
                  <a:lnTo>
                    <a:pt x="118872" y="73152"/>
                  </a:lnTo>
                  <a:lnTo>
                    <a:pt x="118872" y="155448"/>
                  </a:lnTo>
                  <a:lnTo>
                    <a:pt x="164592" y="155448"/>
                  </a:lnTo>
                  <a:lnTo>
                    <a:pt x="82296" y="228600"/>
                  </a:lnTo>
                  <a:lnTo>
                    <a:pt x="0" y="155448"/>
                  </a:lnTo>
                  <a:lnTo>
                    <a:pt x="45720" y="155448"/>
                  </a:lnTo>
                  <a:lnTo>
                    <a:pt x="45720" y="73152"/>
                  </a:lnTo>
                  <a:close/>
                </a:path>
              </a:pathLst>
            </a:custGeom>
            <a:solidFill>
              <a:srgbClr val="C6E9E2"/>
            </a:solidFill>
            <a:ln w="22860"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SVD original matrices frame"/>
            <p:cNvSpPr/>
            <p:nvPr/>
          </p:nvSpPr>
          <p:spPr>
            <a:xfrm>
              <a:off x="9948672" y="1307592"/>
              <a:ext cx="3044952" cy="1435608"/>
            </a:xfrm>
            <a:prstGeom prst="roundRect">
              <a:avLst>
                <a:gd name="adj" fmla="val 5095"/>
              </a:avLst>
            </a:prstGeom>
            <a:noFill/>
            <a:ln w="16459" cap="flat">
              <a:solidFill>
                <a:srgbClr val="233F65"/>
              </a:solidFill>
              <a:custDash>
                <a:ds d="111111" sp="166667"/>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2" name="SVD truncated matrices frame"/>
            <p:cNvSpPr/>
            <p:nvPr/>
          </p:nvSpPr>
          <p:spPr>
            <a:xfrm>
              <a:off x="13240512" y="1399032"/>
              <a:ext cx="2468880" cy="1280160"/>
            </a:xfrm>
            <a:prstGeom prst="roundRect">
              <a:avLst>
                <a:gd name="adj" fmla="val 5714"/>
              </a:avLst>
            </a:prstGeom>
            <a:noFill/>
            <a:ln w="16459" cap="flat">
              <a:solidFill>
                <a:srgbClr val="233F65"/>
              </a:solidFill>
              <a:custDash>
                <a:ds d="111111" sp="166667"/>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3" name="SVD"/>
            <p:cNvSpPr txBox="1"/>
            <p:nvPr/>
          </p:nvSpPr>
          <p:spPr>
            <a:xfrm>
              <a:off x="12344400" y="1380744"/>
              <a:ext cx="640080" cy="292608"/>
            </a:xfrm>
            <a:prstGeom prst="rect">
              <a:avLst/>
            </a:prstGeom>
            <a:noFill/>
          </p:spPr>
          <p:txBody>
            <a:bodyPr wrap="none" lIns="0" rIns="0" tIns="0" bIns="0" anchor="ctr"/>
            <a:lstStyle/>
            <a:p>
              <a:pPr algn="ctr">
                <a:lnSpc>
                  <a:spcPct val="100000"/>
                </a:lnSpc>
                <a:spcBef>
                  <a:spcPts val="0"/>
                </a:spcBef>
                <a:spcAft>
                  <a:spcPts val="0"/>
                </a:spcAft>
              </a:pPr>
              <a:r>
                <a:rPr sz="2016" b="0" i="1" dirty="0">
                  <a:solidFill>
                    <a:srgbClr val="101010"/>
                  </a:solidFill>
                  <a:latin typeface="Arial"/>
                </a:rPr>
                <a:t>SVD</a:t>
              </a:r>
            </a:p>
          </p:txBody>
        </p:sp>
        <p:grpSp>
          <p:nvGrpSpPr>
            <p:cNvPr id="204" name="Original singular value decomposition"/>
            <p:cNvGrpSpPr/>
            <p:nvPr/>
          </p:nvGrpSpPr>
          <p:grpSpPr>
            <a:xfrm>
              <a:off x="10040112" y="1371600"/>
              <a:ext cx="2880360" cy="1408176"/>
              <a:chOff x="10040112" y="1371600"/>
              <a:chExt cx="2880360" cy="1408176"/>
            </a:xfrm>
          </p:grpSpPr>
          <p:sp>
            <p:nvSpPr>
              <p:cNvPr id="205" name="Original U matrix"/>
              <p:cNvSpPr/>
              <p:nvPr/>
            </p:nvSpPr>
            <p:spPr>
              <a:xfrm>
                <a:off x="10040112" y="1773936"/>
                <a:ext cx="640080" cy="640080"/>
              </a:xfrm>
              <a:prstGeom prst="rect">
                <a:avLst/>
              </a:prstGeom>
              <a:gradFill rotWithShape="1">
                <a:gsLst>
                  <a:gs pos="0">
                    <a:srgbClr val="96C3CB"/>
                  </a:gs>
                  <a:gs pos="100000">
                    <a:srgbClr val="F7FAF5"/>
                  </a:gs>
                </a:gsLst>
                <a:lin ang="0" scaled="1"/>
              </a:gradFill>
              <a:ln w="13716" cap="flat">
                <a:solidFill>
                  <a:srgbClr val="8C9294"/>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6" name="top matrix brace"/>
              <p:cNvSpPr/>
              <p:nvPr/>
            </p:nvSpPr>
            <p:spPr>
              <a:xfrm>
                <a:off x="10040112" y="1618488"/>
                <a:ext cx="448056" cy="155448"/>
              </a:xfrm>
              <a:custGeom>
                <a:avLst/>
                <a:gdLst/>
                <a:ahLst/>
                <a:cxnLst/>
                <a:rect l="0" t="0" r="r" b="b"/>
                <a:pathLst>
                  <a:path w="448056" h="155448">
                    <a:moveTo>
                      <a:pt x="0" y="155448"/>
                    </a:moveTo>
                    <a:cubicBezTo>
                      <a:pt x="0" y="86868"/>
                      <a:pt x="26883" y="64008"/>
                      <a:pt x="62728" y="64008"/>
                    </a:cubicBezTo>
                    <a:lnTo>
                      <a:pt x="156820" y="64008"/>
                    </a:lnTo>
                    <a:cubicBezTo>
                      <a:pt x="201625" y="64008"/>
                      <a:pt x="215067" y="22860"/>
                      <a:pt x="224028" y="0"/>
                    </a:cubicBezTo>
                    <a:cubicBezTo>
                      <a:pt x="232989" y="22860"/>
                      <a:pt x="246431" y="64008"/>
                      <a:pt x="291236" y="64008"/>
                    </a:cubicBezTo>
                    <a:lnTo>
                      <a:pt x="385328" y="64008"/>
                    </a:lnTo>
                    <a:cubicBezTo>
                      <a:pt x="421173" y="64008"/>
                      <a:pt x="448056" y="86868"/>
                      <a:pt x="448056" y="155448"/>
                    </a:cubicBezTo>
                  </a:path>
                </a:pathLst>
              </a:custGeom>
              <a:noFill/>
              <a:ln w="24689" cap="flat">
                <a:solidFill>
                  <a:srgbClr val="AB81C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7" name="k"/>
              <p:cNvSpPr txBox="1"/>
              <p:nvPr/>
            </p:nvSpPr>
            <p:spPr>
              <a:xfrm>
                <a:off x="10094976" y="1371600"/>
                <a:ext cx="365760" cy="265176"/>
              </a:xfrm>
              <a:prstGeom prst="rect">
                <a:avLst/>
              </a:prstGeom>
              <a:noFill/>
            </p:spPr>
            <p:txBody>
              <a:bodyPr wrap="none" lIns="0" rIns="0" tIns="0" bIns="0" anchor="ctr"/>
              <a:lstStyle/>
              <a:p>
                <a:pPr algn="ctr">
                  <a:lnSpc>
                    <a:spcPct val="100000"/>
                  </a:lnSpc>
                  <a:spcBef>
                    <a:spcPts val="0"/>
                  </a:spcBef>
                  <a:spcAft>
                    <a:spcPts val="0"/>
                  </a:spcAft>
                </a:pPr>
                <a:r>
                  <a:rPr sz="1943" b="0" i="0" dirty="0">
                    <a:solidFill>
                      <a:srgbClr val="AB81C0"/>
                    </a:solidFill>
                    <a:latin typeface="Arial"/>
                  </a:rPr>
                  <a:t>k</a:t>
                </a:r>
              </a:p>
            </p:txBody>
          </p:sp>
          <p:sp>
            <p:nvSpPr>
              <p:cNvPr id="208" name="right matrix brace"/>
              <p:cNvSpPr/>
              <p:nvPr/>
            </p:nvSpPr>
            <p:spPr>
              <a:xfrm>
                <a:off x="10689336" y="1783080"/>
                <a:ext cx="139903" cy="621792"/>
              </a:xfrm>
              <a:custGeom>
                <a:avLst/>
                <a:gdLst/>
                <a:ahLst/>
                <a:cxnLst/>
                <a:rect l="0" t="0" r="r" b="b"/>
                <a:pathLst>
                  <a:path w="139903" h="621792">
                    <a:moveTo>
                      <a:pt x="0" y="0"/>
                    </a:moveTo>
                    <a:cubicBezTo>
                      <a:pt x="61722" y="0"/>
                      <a:pt x="82296" y="37308"/>
                      <a:pt x="82296" y="87051"/>
                    </a:cubicBezTo>
                    <a:lnTo>
                      <a:pt x="82296" y="217627"/>
                    </a:lnTo>
                    <a:cubicBezTo>
                      <a:pt x="82296" y="279806"/>
                      <a:pt x="119329" y="298460"/>
                      <a:pt x="139903" y="310896"/>
                    </a:cubicBezTo>
                    <a:cubicBezTo>
                      <a:pt x="119329" y="323332"/>
                      <a:pt x="82296" y="341986"/>
                      <a:pt x="82296" y="404165"/>
                    </a:cubicBezTo>
                    <a:lnTo>
                      <a:pt x="82296" y="534741"/>
                    </a:lnTo>
                    <a:cubicBezTo>
                      <a:pt x="82296" y="584484"/>
                      <a:pt x="61722" y="621792"/>
                      <a:pt x="0" y="621792"/>
                    </a:cubicBez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r"/>
              <p:cNvSpPr txBox="1"/>
              <p:nvPr/>
            </p:nvSpPr>
            <p:spPr>
              <a:xfrm>
                <a:off x="10835640" y="2011680"/>
                <a:ext cx="192024" cy="283464"/>
              </a:xfrm>
              <a:prstGeom prst="rect">
                <a:avLst/>
              </a:prstGeom>
              <a:noFill/>
            </p:spPr>
            <p:txBody>
              <a:bodyPr wrap="none" lIns="0" rIns="0" tIns="0" bIns="0" anchor="ctr"/>
              <a:lstStyle/>
              <a:p>
                <a:pPr algn="ctr">
                  <a:lnSpc>
                    <a:spcPct val="100000"/>
                  </a:lnSpc>
                  <a:spcBef>
                    <a:spcPts val="0"/>
                  </a:spcBef>
                  <a:spcAft>
                    <a:spcPts val="0"/>
                  </a:spcAft>
                </a:pPr>
                <a:r>
                  <a:rPr sz="1943" b="0" i="0" dirty="0">
                    <a:solidFill>
                      <a:srgbClr val="101010"/>
                    </a:solidFill>
                    <a:latin typeface="Arial"/>
                  </a:rPr>
                  <a:t>r</a:t>
                </a:r>
              </a:p>
            </p:txBody>
          </p:sp>
          <p:sp>
            <p:nvSpPr>
              <p:cNvPr id="210" name="Original singular values matrix"/>
              <p:cNvSpPr/>
              <p:nvPr/>
            </p:nvSpPr>
            <p:spPr>
              <a:xfrm>
                <a:off x="11292840" y="1773936"/>
                <a:ext cx="502920" cy="640080"/>
              </a:xfrm>
              <a:prstGeom prst="rect">
                <a:avLst/>
              </a:prstGeom>
              <a:solidFill>
                <a:srgbClr val="C6E9E2"/>
              </a:solidFill>
              <a:ln w="15545" cap="flat">
                <a:solidFill>
                  <a:srgbClr val="898B8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1" name="Diagonal singular values"/>
              <p:cNvSpPr/>
              <p:nvPr/>
            </p:nvSpPr>
            <p:spPr>
              <a:xfrm>
                <a:off x="11292840" y="1773936"/>
                <a:ext cx="502920" cy="640080"/>
              </a:xfrm>
              <a:custGeom>
                <a:avLst/>
                <a:gdLst/>
                <a:ahLst/>
                <a:cxnLst/>
                <a:rect l="0" t="0" r="r" b="b"/>
                <a:pathLst>
                  <a:path w="502920" h="640080">
                    <a:moveTo>
                      <a:pt x="0" y="0"/>
                    </a:moveTo>
                    <a:lnTo>
                      <a:pt x="137160" y="0"/>
                    </a:lnTo>
                    <a:lnTo>
                      <a:pt x="502920" y="466344"/>
                    </a:lnTo>
                    <a:lnTo>
                      <a:pt x="502920" y="640080"/>
                    </a:lnTo>
                    <a:lnTo>
                      <a:pt x="402336" y="640080"/>
                    </a:lnTo>
                    <a:lnTo>
                      <a:pt x="0" y="173736"/>
                    </a:lnTo>
                    <a:close/>
                  </a:path>
                </a:pathLst>
              </a:custGeom>
              <a:solidFill>
                <a:srgbClr val="FFE4BD"/>
              </a:solidFill>
              <a:ln w="13716" cap="flat">
                <a:solidFill>
                  <a:srgbClr val="979588"/>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2" name="top matrix brace"/>
              <p:cNvSpPr/>
              <p:nvPr/>
            </p:nvSpPr>
            <p:spPr>
              <a:xfrm>
                <a:off x="11292840" y="1618488"/>
                <a:ext cx="429768" cy="155448"/>
              </a:xfrm>
              <a:custGeom>
                <a:avLst/>
                <a:gdLst/>
                <a:ahLst/>
                <a:cxnLst/>
                <a:rect l="0" t="0" r="r" b="b"/>
                <a:pathLst>
                  <a:path w="429768" h="155448">
                    <a:moveTo>
                      <a:pt x="0" y="155448"/>
                    </a:moveTo>
                    <a:cubicBezTo>
                      <a:pt x="0" y="86868"/>
                      <a:pt x="25786" y="64008"/>
                      <a:pt x="60168" y="64008"/>
                    </a:cubicBezTo>
                    <a:lnTo>
                      <a:pt x="150419" y="64008"/>
                    </a:lnTo>
                    <a:cubicBezTo>
                      <a:pt x="193396" y="64008"/>
                      <a:pt x="206289" y="22860"/>
                      <a:pt x="214884" y="0"/>
                    </a:cubicBezTo>
                    <a:cubicBezTo>
                      <a:pt x="223479" y="22860"/>
                      <a:pt x="236372" y="64008"/>
                      <a:pt x="279349" y="64008"/>
                    </a:cubicBezTo>
                    <a:lnTo>
                      <a:pt x="369600" y="64008"/>
                    </a:lnTo>
                    <a:cubicBezTo>
                      <a:pt x="403982" y="64008"/>
                      <a:pt x="429768" y="86868"/>
                      <a:pt x="429768" y="155448"/>
                    </a:cubicBezTo>
                  </a:path>
                </a:pathLst>
              </a:custGeom>
              <a:noFill/>
              <a:ln w="24689" cap="flat">
                <a:solidFill>
                  <a:srgbClr val="AB81C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3" name="k"/>
              <p:cNvSpPr txBox="1"/>
              <p:nvPr/>
            </p:nvSpPr>
            <p:spPr>
              <a:xfrm>
                <a:off x="11365992" y="1371600"/>
                <a:ext cx="283464" cy="265176"/>
              </a:xfrm>
              <a:prstGeom prst="rect">
                <a:avLst/>
              </a:prstGeom>
              <a:noFill/>
            </p:spPr>
            <p:txBody>
              <a:bodyPr wrap="none" lIns="0" rIns="0" tIns="0" bIns="0" anchor="ctr"/>
              <a:lstStyle/>
              <a:p>
                <a:pPr algn="ctr">
                  <a:lnSpc>
                    <a:spcPct val="100000"/>
                  </a:lnSpc>
                  <a:spcBef>
                    <a:spcPts val="0"/>
                  </a:spcBef>
                  <a:spcAft>
                    <a:spcPts val="0"/>
                  </a:spcAft>
                </a:pPr>
                <a:r>
                  <a:rPr sz="1943" b="0" i="0" dirty="0">
                    <a:solidFill>
                      <a:srgbClr val="AB81C0"/>
                    </a:solidFill>
                    <a:latin typeface="Arial"/>
                  </a:rPr>
                  <a:t>k</a:t>
                </a:r>
              </a:p>
            </p:txBody>
          </p:sp>
          <p:sp>
            <p:nvSpPr>
              <p:cNvPr id="214" name="left matrix brace"/>
              <p:cNvSpPr/>
              <p:nvPr/>
            </p:nvSpPr>
            <p:spPr>
              <a:xfrm>
                <a:off x="11137392" y="1773936"/>
                <a:ext cx="155448" cy="621792"/>
              </a:xfrm>
              <a:custGeom>
                <a:avLst/>
                <a:gdLst/>
                <a:ahLst/>
                <a:cxnLst/>
                <a:rect l="0" t="0" r="r" b="b"/>
                <a:pathLst>
                  <a:path w="155448" h="621792">
                    <a:moveTo>
                      <a:pt x="155448" y="0"/>
                    </a:moveTo>
                    <a:cubicBezTo>
                      <a:pt x="86868" y="0"/>
                      <a:pt x="64008" y="37308"/>
                      <a:pt x="64008" y="87051"/>
                    </a:cubicBezTo>
                    <a:lnTo>
                      <a:pt x="64008" y="217627"/>
                    </a:lnTo>
                    <a:cubicBezTo>
                      <a:pt x="64008" y="279806"/>
                      <a:pt x="22860" y="298460"/>
                      <a:pt x="0" y="310896"/>
                    </a:cubicBezTo>
                    <a:cubicBezTo>
                      <a:pt x="22860" y="323332"/>
                      <a:pt x="64008" y="341986"/>
                      <a:pt x="64008" y="404165"/>
                    </a:cubicBezTo>
                    <a:lnTo>
                      <a:pt x="64008" y="534741"/>
                    </a:lnTo>
                    <a:cubicBezTo>
                      <a:pt x="64008" y="584484"/>
                      <a:pt x="86868" y="621792"/>
                      <a:pt x="155448" y="621792"/>
                    </a:cubicBezTo>
                  </a:path>
                </a:pathLst>
              </a:custGeom>
              <a:noFill/>
              <a:ln w="24689" cap="flat">
                <a:solidFill>
                  <a:srgbClr val="AB81C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5" name="k"/>
              <p:cNvSpPr txBox="1"/>
              <p:nvPr/>
            </p:nvSpPr>
            <p:spPr>
              <a:xfrm>
                <a:off x="11009376" y="1901952"/>
                <a:ext cx="201168" cy="274320"/>
              </a:xfrm>
              <a:prstGeom prst="rect">
                <a:avLst/>
              </a:prstGeom>
              <a:noFill/>
            </p:spPr>
            <p:txBody>
              <a:bodyPr wrap="none" lIns="0" rIns="0" tIns="0" bIns="0" anchor="ctr"/>
              <a:lstStyle/>
              <a:p>
                <a:pPr algn="ctr">
                  <a:lnSpc>
                    <a:spcPct val="100000"/>
                  </a:lnSpc>
                  <a:spcBef>
                    <a:spcPts val="0"/>
                  </a:spcBef>
                  <a:spcAft>
                    <a:spcPts val="0"/>
                  </a:spcAft>
                </a:pPr>
                <a:r>
                  <a:rPr sz="1943" b="0" i="0" dirty="0">
                    <a:solidFill>
                      <a:srgbClr val="AB81C0"/>
                    </a:solidFill>
                    <a:latin typeface="Arial"/>
                  </a:rPr>
                  <a:t>k</a:t>
                </a:r>
              </a:p>
            </p:txBody>
          </p:sp>
          <p:sp>
            <p:nvSpPr>
              <p:cNvPr id="216" name="right matrix brace"/>
              <p:cNvSpPr/>
              <p:nvPr/>
            </p:nvSpPr>
            <p:spPr>
              <a:xfrm>
                <a:off x="11804904" y="1783080"/>
                <a:ext cx="139903" cy="621792"/>
              </a:xfrm>
              <a:custGeom>
                <a:avLst/>
                <a:gdLst/>
                <a:ahLst/>
                <a:cxnLst/>
                <a:rect l="0" t="0" r="r" b="b"/>
                <a:pathLst>
                  <a:path w="139903" h="621792">
                    <a:moveTo>
                      <a:pt x="0" y="0"/>
                    </a:moveTo>
                    <a:cubicBezTo>
                      <a:pt x="61722" y="0"/>
                      <a:pt x="82296" y="37308"/>
                      <a:pt x="82296" y="87051"/>
                    </a:cubicBezTo>
                    <a:lnTo>
                      <a:pt x="82296" y="217627"/>
                    </a:lnTo>
                    <a:cubicBezTo>
                      <a:pt x="82296" y="279806"/>
                      <a:pt x="119329" y="298460"/>
                      <a:pt x="139903" y="310896"/>
                    </a:cubicBezTo>
                    <a:cubicBezTo>
                      <a:pt x="119329" y="323332"/>
                      <a:pt x="82296" y="341986"/>
                      <a:pt x="82296" y="404165"/>
                    </a:cubicBezTo>
                    <a:lnTo>
                      <a:pt x="82296" y="534741"/>
                    </a:lnTo>
                    <a:cubicBezTo>
                      <a:pt x="82296" y="584484"/>
                      <a:pt x="61722" y="621792"/>
                      <a:pt x="0" y="621792"/>
                    </a:cubicBez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7" name="r"/>
              <p:cNvSpPr txBox="1"/>
              <p:nvPr/>
            </p:nvSpPr>
            <p:spPr>
              <a:xfrm>
                <a:off x="11960352" y="2011680"/>
                <a:ext cx="182880" cy="274320"/>
              </a:xfrm>
              <a:prstGeom prst="rect">
                <a:avLst/>
              </a:prstGeom>
              <a:noFill/>
            </p:spPr>
            <p:txBody>
              <a:bodyPr wrap="none" lIns="0" rIns="0" tIns="0" bIns="0" anchor="ctr"/>
              <a:lstStyle/>
              <a:p>
                <a:pPr algn="ctr">
                  <a:lnSpc>
                    <a:spcPct val="100000"/>
                  </a:lnSpc>
                  <a:spcBef>
                    <a:spcPts val="0"/>
                  </a:spcBef>
                  <a:spcAft>
                    <a:spcPts val="0"/>
                  </a:spcAft>
                </a:pPr>
                <a:r>
                  <a:rPr sz="1943" b="0" i="0" dirty="0">
                    <a:solidFill>
                      <a:srgbClr val="101010"/>
                    </a:solidFill>
                    <a:latin typeface="Arial"/>
                  </a:rPr>
                  <a:t>r</a:t>
                </a:r>
              </a:p>
            </p:txBody>
          </p:sp>
          <p:sp>
            <p:nvSpPr>
              <p:cNvPr id="218" name="bottom matrix brace"/>
              <p:cNvSpPr/>
              <p:nvPr/>
            </p:nvSpPr>
            <p:spPr>
              <a:xfrm>
                <a:off x="11292840" y="2432304"/>
                <a:ext cx="502920" cy="124358"/>
              </a:xfrm>
              <a:custGeom>
                <a:avLst/>
                <a:gdLst/>
                <a:ahLst/>
                <a:cxnLst/>
                <a:rect l="0" t="0" r="r" b="b"/>
                <a:pathLst>
                  <a:path w="502920" h="124358">
                    <a:moveTo>
                      <a:pt x="0" y="0"/>
                    </a:moveTo>
                    <a:cubicBezTo>
                      <a:pt x="0" y="54864"/>
                      <a:pt x="30175" y="73152"/>
                      <a:pt x="70409" y="73152"/>
                    </a:cubicBezTo>
                    <a:lnTo>
                      <a:pt x="176022" y="73152"/>
                    </a:lnTo>
                    <a:cubicBezTo>
                      <a:pt x="226314" y="73152"/>
                      <a:pt x="241402" y="106070"/>
                      <a:pt x="251460" y="124358"/>
                    </a:cubicBezTo>
                    <a:cubicBezTo>
                      <a:pt x="261518" y="106070"/>
                      <a:pt x="276606" y="73152"/>
                      <a:pt x="326898" y="73152"/>
                    </a:cubicBezTo>
                    <a:lnTo>
                      <a:pt x="432511" y="73152"/>
                    </a:lnTo>
                    <a:cubicBezTo>
                      <a:pt x="472745" y="73152"/>
                      <a:pt x="502920" y="54864"/>
                      <a:pt x="502920" y="0"/>
                    </a:cubicBez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9" name="c"/>
              <p:cNvSpPr txBox="1"/>
              <p:nvPr/>
            </p:nvSpPr>
            <p:spPr>
              <a:xfrm>
                <a:off x="11439144" y="2514600"/>
                <a:ext cx="219456" cy="265176"/>
              </a:xfrm>
              <a:prstGeom prst="rect">
                <a:avLst/>
              </a:prstGeom>
              <a:noFill/>
            </p:spPr>
            <p:txBody>
              <a:bodyPr wrap="none" lIns="0" rIns="0" tIns="0" bIns="0" anchor="ctr"/>
              <a:lstStyle/>
              <a:p>
                <a:pPr algn="ctr">
                  <a:lnSpc>
                    <a:spcPct val="100000"/>
                  </a:lnSpc>
                  <a:spcBef>
                    <a:spcPts val="0"/>
                  </a:spcBef>
                  <a:spcAft>
                    <a:spcPts val="0"/>
                  </a:spcAft>
                </a:pPr>
                <a:r>
                  <a:rPr sz="1872" b="0" i="0" dirty="0">
                    <a:solidFill>
                      <a:srgbClr val="101010"/>
                    </a:solidFill>
                    <a:latin typeface="Arial"/>
                  </a:rPr>
                  <a:t>c</a:t>
                </a:r>
              </a:p>
            </p:txBody>
          </p:sp>
          <p:sp>
            <p:nvSpPr>
              <p:cNvPr id="220" name="Original V matrix"/>
              <p:cNvSpPr/>
              <p:nvPr/>
            </p:nvSpPr>
            <p:spPr>
              <a:xfrm>
                <a:off x="12408408" y="1837944"/>
                <a:ext cx="512064" cy="512064"/>
              </a:xfrm>
              <a:prstGeom prst="rect">
                <a:avLst/>
              </a:prstGeom>
              <a:gradFill rotWithShape="1">
                <a:gsLst>
                  <a:gs pos="0">
                    <a:srgbClr val="D7AFC2"/>
                  </a:gs>
                  <a:gs pos="100000">
                    <a:srgbClr val="F6F7EF"/>
                  </a:gs>
                </a:gsLst>
                <a:lin ang="5400000" scaled="1"/>
              </a:gradFill>
              <a:ln w="13716" cap="flat">
                <a:solidFill>
                  <a:srgbClr val="8F9096"/>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1" name="left matrix brace"/>
              <p:cNvSpPr/>
              <p:nvPr/>
            </p:nvSpPr>
            <p:spPr>
              <a:xfrm>
                <a:off x="12252960" y="1847088"/>
                <a:ext cx="155448" cy="493776"/>
              </a:xfrm>
              <a:custGeom>
                <a:avLst/>
                <a:gdLst/>
                <a:ahLst/>
                <a:cxnLst/>
                <a:rect l="0" t="0" r="r" b="b"/>
                <a:pathLst>
                  <a:path w="155448" h="493776">
                    <a:moveTo>
                      <a:pt x="155448" y="0"/>
                    </a:moveTo>
                    <a:cubicBezTo>
                      <a:pt x="86868" y="0"/>
                      <a:pt x="64008" y="29627"/>
                      <a:pt x="64008" y="69129"/>
                    </a:cubicBezTo>
                    <a:lnTo>
                      <a:pt x="64008" y="172822"/>
                    </a:lnTo>
                    <a:cubicBezTo>
                      <a:pt x="64008" y="222199"/>
                      <a:pt x="22860" y="237012"/>
                      <a:pt x="0" y="246888"/>
                    </a:cubicBezTo>
                    <a:cubicBezTo>
                      <a:pt x="22860" y="256764"/>
                      <a:pt x="64008" y="271577"/>
                      <a:pt x="64008" y="320954"/>
                    </a:cubicBezTo>
                    <a:lnTo>
                      <a:pt x="64008" y="424647"/>
                    </a:lnTo>
                    <a:cubicBezTo>
                      <a:pt x="64008" y="464149"/>
                      <a:pt x="86868" y="493776"/>
                      <a:pt x="155448" y="493776"/>
                    </a:cubicBezTo>
                  </a:path>
                </a:pathLst>
              </a:custGeom>
              <a:noFill/>
              <a:ln w="24689" cap="flat">
                <a:solidFill>
                  <a:srgbClr val="AB81C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2" name="k"/>
              <p:cNvSpPr txBox="1"/>
              <p:nvPr/>
            </p:nvSpPr>
            <p:spPr>
              <a:xfrm>
                <a:off x="12134088" y="1947672"/>
                <a:ext cx="219456" cy="274320"/>
              </a:xfrm>
              <a:prstGeom prst="rect">
                <a:avLst/>
              </a:prstGeom>
              <a:noFill/>
            </p:spPr>
            <p:txBody>
              <a:bodyPr wrap="none" lIns="0" rIns="0" tIns="0" bIns="0" anchor="ctr"/>
              <a:lstStyle/>
              <a:p>
                <a:pPr algn="ctr">
                  <a:lnSpc>
                    <a:spcPct val="100000"/>
                  </a:lnSpc>
                  <a:spcBef>
                    <a:spcPts val="0"/>
                  </a:spcBef>
                  <a:spcAft>
                    <a:spcPts val="0"/>
                  </a:spcAft>
                </a:pPr>
                <a:r>
                  <a:rPr sz="1943" b="0" i="0" dirty="0">
                    <a:solidFill>
                      <a:srgbClr val="101010"/>
                    </a:solidFill>
                    <a:latin typeface="Arial"/>
                  </a:rPr>
                  <a:t>k</a:t>
                </a:r>
              </a:p>
            </p:txBody>
          </p:sp>
          <p:sp>
            <p:nvSpPr>
              <p:cNvPr id="223" name="bottom matrix brace"/>
              <p:cNvSpPr/>
              <p:nvPr/>
            </p:nvSpPr>
            <p:spPr>
              <a:xfrm>
                <a:off x="12408408" y="2368296"/>
                <a:ext cx="512064" cy="124358"/>
              </a:xfrm>
              <a:custGeom>
                <a:avLst/>
                <a:gdLst/>
                <a:ahLst/>
                <a:cxnLst/>
                <a:rect l="0" t="0" r="r" b="b"/>
                <a:pathLst>
                  <a:path w="512064" h="124358">
                    <a:moveTo>
                      <a:pt x="0" y="0"/>
                    </a:moveTo>
                    <a:cubicBezTo>
                      <a:pt x="0" y="54864"/>
                      <a:pt x="30724" y="73152"/>
                      <a:pt x="71689" y="73152"/>
                    </a:cubicBezTo>
                    <a:lnTo>
                      <a:pt x="179222" y="73152"/>
                    </a:lnTo>
                    <a:cubicBezTo>
                      <a:pt x="230429" y="73152"/>
                      <a:pt x="245791" y="106070"/>
                      <a:pt x="256032" y="124358"/>
                    </a:cubicBezTo>
                    <a:cubicBezTo>
                      <a:pt x="266273" y="106070"/>
                      <a:pt x="281635" y="73152"/>
                      <a:pt x="332842" y="73152"/>
                    </a:cubicBezTo>
                    <a:lnTo>
                      <a:pt x="440375" y="73152"/>
                    </a:lnTo>
                    <a:cubicBezTo>
                      <a:pt x="481340" y="73152"/>
                      <a:pt x="512064" y="54864"/>
                      <a:pt x="512064" y="0"/>
                    </a:cubicBez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4" name="c"/>
              <p:cNvSpPr txBox="1"/>
              <p:nvPr/>
            </p:nvSpPr>
            <p:spPr>
              <a:xfrm>
                <a:off x="12563856" y="2459736"/>
                <a:ext cx="210312" cy="274320"/>
              </a:xfrm>
              <a:prstGeom prst="rect">
                <a:avLst/>
              </a:prstGeom>
              <a:noFill/>
            </p:spPr>
            <p:txBody>
              <a:bodyPr wrap="none" lIns="0" rIns="0" tIns="0" bIns="0" anchor="ctr"/>
              <a:lstStyle/>
              <a:p>
                <a:pPr algn="ctr">
                  <a:lnSpc>
                    <a:spcPct val="100000"/>
                  </a:lnSpc>
                  <a:spcBef>
                    <a:spcPts val="0"/>
                  </a:spcBef>
                  <a:spcAft>
                    <a:spcPts val="0"/>
                  </a:spcAft>
                </a:pPr>
                <a:r>
                  <a:rPr sz="1872" b="0" i="0" dirty="0">
                    <a:solidFill>
                      <a:srgbClr val="101010"/>
                    </a:solidFill>
                    <a:latin typeface="Arial"/>
                  </a:rPr>
                  <a:t>c</a:t>
                </a:r>
              </a:p>
            </p:txBody>
          </p:sp>
        </p:grpSp>
        <p:sp>
          <p:nvSpPr>
            <p:cNvPr id="225" name="Outlined transition arrow"/>
            <p:cNvSpPr/>
            <p:nvPr/>
          </p:nvSpPr>
          <p:spPr>
            <a:xfrm>
              <a:off x="13006060" y="2032437"/>
              <a:ext cx="221742" cy="159654"/>
            </a:xfrm>
            <a:custGeom>
              <a:avLst/>
              <a:gdLst/>
              <a:ahLst/>
              <a:cxnLst/>
              <a:rect l="0" t="0" r="r" b="b"/>
              <a:pathLst>
                <a:path w="221742" h="159654">
                  <a:moveTo>
                    <a:pt x="0" y="159654"/>
                  </a:moveTo>
                  <a:lnTo>
                    <a:pt x="0" y="0"/>
                  </a:lnTo>
                  <a:lnTo>
                    <a:pt x="70957" y="44348"/>
                  </a:lnTo>
                  <a:lnTo>
                    <a:pt x="150785" y="44348"/>
                  </a:lnTo>
                  <a:lnTo>
                    <a:pt x="150785" y="0"/>
                  </a:lnTo>
                  <a:lnTo>
                    <a:pt x="221742" y="79827"/>
                  </a:lnTo>
                  <a:lnTo>
                    <a:pt x="150785" y="159654"/>
                  </a:lnTo>
                  <a:lnTo>
                    <a:pt x="150785" y="115306"/>
                  </a:lnTo>
                  <a:lnTo>
                    <a:pt x="70957" y="115306"/>
                  </a:lnTo>
                  <a:close/>
                </a:path>
              </a:pathLst>
            </a:custGeom>
            <a:solidFill>
              <a:srgbClr val="C6E9E2"/>
            </a:solidFill>
            <a:ln w="22860"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226" name="Truncated singular value decomposition"/>
            <p:cNvGrpSpPr/>
            <p:nvPr/>
          </p:nvGrpSpPr>
          <p:grpSpPr>
            <a:xfrm>
              <a:off x="13350240" y="1426464"/>
              <a:ext cx="2295144" cy="1271016"/>
              <a:chOff x="13350240" y="1426464"/>
              <a:chExt cx="2295144" cy="1271016"/>
            </a:xfrm>
          </p:grpSpPr>
          <p:sp>
            <p:nvSpPr>
              <p:cNvPr id="227" name="Reduced U matrix"/>
              <p:cNvSpPr/>
              <p:nvPr/>
            </p:nvSpPr>
            <p:spPr>
              <a:xfrm>
                <a:off x="13350240" y="1801368"/>
                <a:ext cx="411480" cy="630936"/>
              </a:xfrm>
              <a:prstGeom prst="rect">
                <a:avLst/>
              </a:prstGeom>
              <a:gradFill rotWithShape="1">
                <a:gsLst>
                  <a:gs pos="0">
                    <a:srgbClr val="96C3CB"/>
                  </a:gs>
                  <a:gs pos="100000">
                    <a:srgbClr val="F7FAF5"/>
                  </a:gs>
                </a:gsLst>
                <a:lin ang="0" scaled="1"/>
              </a:gradFill>
              <a:ln w="13716" cap="flat">
                <a:solidFill>
                  <a:srgbClr val="8C9294"/>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8" name="top matrix brace"/>
              <p:cNvSpPr/>
              <p:nvPr/>
            </p:nvSpPr>
            <p:spPr>
              <a:xfrm>
                <a:off x="13350240" y="1655064"/>
                <a:ext cx="402336" cy="155448"/>
              </a:xfrm>
              <a:custGeom>
                <a:avLst/>
                <a:gdLst/>
                <a:ahLst/>
                <a:cxnLst/>
                <a:rect l="0" t="0" r="r" b="b"/>
                <a:pathLst>
                  <a:path w="402336" h="155448">
                    <a:moveTo>
                      <a:pt x="0" y="155448"/>
                    </a:moveTo>
                    <a:cubicBezTo>
                      <a:pt x="0" y="86868"/>
                      <a:pt x="24140" y="64008"/>
                      <a:pt x="56327" y="64008"/>
                    </a:cubicBezTo>
                    <a:lnTo>
                      <a:pt x="140818" y="64008"/>
                    </a:lnTo>
                    <a:cubicBezTo>
                      <a:pt x="181051" y="64008"/>
                      <a:pt x="193121" y="22860"/>
                      <a:pt x="201168" y="0"/>
                    </a:cubicBezTo>
                    <a:cubicBezTo>
                      <a:pt x="209215" y="22860"/>
                      <a:pt x="221285" y="64008"/>
                      <a:pt x="261518" y="64008"/>
                    </a:cubicBezTo>
                    <a:lnTo>
                      <a:pt x="346009" y="64008"/>
                    </a:lnTo>
                    <a:cubicBezTo>
                      <a:pt x="378196" y="64008"/>
                      <a:pt x="402336" y="86868"/>
                      <a:pt x="402336" y="155448"/>
                    </a:cubicBezTo>
                  </a:path>
                </a:pathLst>
              </a:custGeom>
              <a:noFill/>
              <a:ln w="24689" cap="flat">
                <a:solidFill>
                  <a:srgbClr val="AB81C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9" name="k"/>
              <p:cNvSpPr txBox="1"/>
              <p:nvPr/>
            </p:nvSpPr>
            <p:spPr>
              <a:xfrm>
                <a:off x="13414248" y="1426464"/>
                <a:ext cx="274320" cy="274320"/>
              </a:xfrm>
              <a:prstGeom prst="rect">
                <a:avLst/>
              </a:prstGeom>
              <a:noFill/>
            </p:spPr>
            <p:txBody>
              <a:bodyPr wrap="none" lIns="0" rIns="0" tIns="0" bIns="0" anchor="ctr"/>
              <a:lstStyle/>
              <a:p>
                <a:pPr algn="ctr">
                  <a:lnSpc>
                    <a:spcPct val="100000"/>
                  </a:lnSpc>
                  <a:spcBef>
                    <a:spcPts val="0"/>
                  </a:spcBef>
                  <a:spcAft>
                    <a:spcPts val="0"/>
                  </a:spcAft>
                </a:pPr>
                <a:r>
                  <a:rPr sz="1943" b="0" i="0" dirty="0">
                    <a:solidFill>
                      <a:srgbClr val="AB81C0"/>
                    </a:solidFill>
                    <a:latin typeface="Arial"/>
                  </a:rPr>
                  <a:t>k</a:t>
                </a:r>
              </a:p>
            </p:txBody>
          </p:sp>
          <p:sp>
            <p:nvSpPr>
              <p:cNvPr id="230" name="right matrix brace"/>
              <p:cNvSpPr/>
              <p:nvPr/>
            </p:nvSpPr>
            <p:spPr>
              <a:xfrm>
                <a:off x="13770864" y="1810512"/>
                <a:ext cx="139903" cy="621792"/>
              </a:xfrm>
              <a:custGeom>
                <a:avLst/>
                <a:gdLst/>
                <a:ahLst/>
                <a:cxnLst/>
                <a:rect l="0" t="0" r="r" b="b"/>
                <a:pathLst>
                  <a:path w="139903" h="621792">
                    <a:moveTo>
                      <a:pt x="0" y="0"/>
                    </a:moveTo>
                    <a:cubicBezTo>
                      <a:pt x="61722" y="0"/>
                      <a:pt x="82296" y="37308"/>
                      <a:pt x="82296" y="87051"/>
                    </a:cubicBezTo>
                    <a:lnTo>
                      <a:pt x="82296" y="217627"/>
                    </a:lnTo>
                    <a:cubicBezTo>
                      <a:pt x="82296" y="279806"/>
                      <a:pt x="119329" y="298460"/>
                      <a:pt x="139903" y="310896"/>
                    </a:cubicBezTo>
                    <a:cubicBezTo>
                      <a:pt x="119329" y="323332"/>
                      <a:pt x="82296" y="341986"/>
                      <a:pt x="82296" y="404165"/>
                    </a:cubicBezTo>
                    <a:lnTo>
                      <a:pt x="82296" y="534741"/>
                    </a:lnTo>
                    <a:cubicBezTo>
                      <a:pt x="82296" y="584484"/>
                      <a:pt x="61722" y="621792"/>
                      <a:pt x="0" y="621792"/>
                    </a:cubicBez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1" name="r"/>
              <p:cNvSpPr txBox="1"/>
              <p:nvPr/>
            </p:nvSpPr>
            <p:spPr>
              <a:xfrm>
                <a:off x="13926312" y="2039112"/>
                <a:ext cx="182880" cy="274320"/>
              </a:xfrm>
              <a:prstGeom prst="rect">
                <a:avLst/>
              </a:prstGeom>
              <a:noFill/>
            </p:spPr>
            <p:txBody>
              <a:bodyPr wrap="none" lIns="0" rIns="0" tIns="0" bIns="0" anchor="ctr"/>
              <a:lstStyle/>
              <a:p>
                <a:pPr algn="ctr">
                  <a:lnSpc>
                    <a:spcPct val="100000"/>
                  </a:lnSpc>
                  <a:spcBef>
                    <a:spcPts val="0"/>
                  </a:spcBef>
                  <a:spcAft>
                    <a:spcPts val="0"/>
                  </a:spcAft>
                </a:pPr>
                <a:r>
                  <a:rPr sz="1943" b="0" i="0" dirty="0">
                    <a:solidFill>
                      <a:srgbClr val="101010"/>
                    </a:solidFill>
                    <a:latin typeface="Arial"/>
                  </a:rPr>
                  <a:t>r</a:t>
                </a:r>
              </a:p>
            </p:txBody>
          </p:sp>
          <p:sp>
            <p:nvSpPr>
              <p:cNvPr id="232" name="Reduced singular values matrix"/>
              <p:cNvSpPr/>
              <p:nvPr/>
            </p:nvSpPr>
            <p:spPr>
              <a:xfrm>
                <a:off x="14346936" y="1920240"/>
                <a:ext cx="420624" cy="402336"/>
              </a:xfrm>
              <a:prstGeom prst="rect">
                <a:avLst/>
              </a:prstGeom>
              <a:solidFill>
                <a:srgbClr val="C6E9E2"/>
              </a:solidFill>
              <a:ln w="13716" cap="flat">
                <a:solidFill>
                  <a:srgbClr val="8D928E"/>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3" name="Reduced diagonal singular values"/>
              <p:cNvSpPr/>
              <p:nvPr/>
            </p:nvSpPr>
            <p:spPr>
              <a:xfrm>
                <a:off x="14346936" y="1920240"/>
                <a:ext cx="420624" cy="402336"/>
              </a:xfrm>
              <a:custGeom>
                <a:avLst/>
                <a:gdLst/>
                <a:ahLst/>
                <a:cxnLst/>
                <a:rect l="0" t="0" r="r" b="b"/>
                <a:pathLst>
                  <a:path w="420624" h="402336">
                    <a:moveTo>
                      <a:pt x="0" y="0"/>
                    </a:moveTo>
                    <a:lnTo>
                      <a:pt x="128016" y="0"/>
                    </a:lnTo>
                    <a:lnTo>
                      <a:pt x="420624" y="292608"/>
                    </a:lnTo>
                    <a:lnTo>
                      <a:pt x="420624" y="402336"/>
                    </a:lnTo>
                    <a:lnTo>
                      <a:pt x="301752" y="402336"/>
                    </a:lnTo>
                    <a:lnTo>
                      <a:pt x="0" y="109728"/>
                    </a:lnTo>
                    <a:close/>
                  </a:path>
                </a:pathLst>
              </a:custGeom>
              <a:solidFill>
                <a:srgbClr val="FFE4BD"/>
              </a:solidFill>
              <a:ln w="13716" cap="flat">
                <a:solidFill>
                  <a:srgbClr val="979588"/>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4" name="top matrix brace"/>
              <p:cNvSpPr/>
              <p:nvPr/>
            </p:nvSpPr>
            <p:spPr>
              <a:xfrm>
                <a:off x="14346936" y="1764792"/>
                <a:ext cx="420624" cy="155448"/>
              </a:xfrm>
              <a:custGeom>
                <a:avLst/>
                <a:gdLst/>
                <a:ahLst/>
                <a:cxnLst/>
                <a:rect l="0" t="0" r="r" b="b"/>
                <a:pathLst>
                  <a:path w="420624" h="155448">
                    <a:moveTo>
                      <a:pt x="0" y="155448"/>
                    </a:moveTo>
                    <a:cubicBezTo>
                      <a:pt x="0" y="86868"/>
                      <a:pt x="25237" y="64008"/>
                      <a:pt x="58887" y="64008"/>
                    </a:cubicBezTo>
                    <a:lnTo>
                      <a:pt x="147218" y="64008"/>
                    </a:lnTo>
                    <a:cubicBezTo>
                      <a:pt x="189281" y="64008"/>
                      <a:pt x="201900" y="22860"/>
                      <a:pt x="210312" y="0"/>
                    </a:cubicBezTo>
                    <a:cubicBezTo>
                      <a:pt x="218724" y="22860"/>
                      <a:pt x="231343" y="64008"/>
                      <a:pt x="273406" y="64008"/>
                    </a:cubicBezTo>
                    <a:lnTo>
                      <a:pt x="361737" y="64008"/>
                    </a:lnTo>
                    <a:cubicBezTo>
                      <a:pt x="395387" y="64008"/>
                      <a:pt x="420624" y="86868"/>
                      <a:pt x="420624" y="155448"/>
                    </a:cubicBezTo>
                  </a:path>
                </a:pathLst>
              </a:custGeom>
              <a:noFill/>
              <a:ln w="24689" cap="flat">
                <a:solidFill>
                  <a:srgbClr val="AB81C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5" name="k"/>
              <p:cNvSpPr txBox="1"/>
              <p:nvPr/>
            </p:nvSpPr>
            <p:spPr>
              <a:xfrm>
                <a:off x="14447520" y="1527048"/>
                <a:ext cx="246888" cy="274320"/>
              </a:xfrm>
              <a:prstGeom prst="rect">
                <a:avLst/>
              </a:prstGeom>
              <a:noFill/>
            </p:spPr>
            <p:txBody>
              <a:bodyPr wrap="none" lIns="0" rIns="0" tIns="0" bIns="0" anchor="ctr"/>
              <a:lstStyle/>
              <a:p>
                <a:pPr algn="ctr">
                  <a:lnSpc>
                    <a:spcPct val="100000"/>
                  </a:lnSpc>
                  <a:spcBef>
                    <a:spcPts val="0"/>
                  </a:spcBef>
                  <a:spcAft>
                    <a:spcPts val="0"/>
                  </a:spcAft>
                </a:pPr>
                <a:r>
                  <a:rPr sz="1943" b="0" i="0" dirty="0">
                    <a:solidFill>
                      <a:srgbClr val="AB81C0"/>
                    </a:solidFill>
                    <a:latin typeface="Arial"/>
                  </a:rPr>
                  <a:t>k</a:t>
                </a:r>
              </a:p>
            </p:txBody>
          </p:sp>
          <p:sp>
            <p:nvSpPr>
              <p:cNvPr id="236" name="left matrix brace"/>
              <p:cNvSpPr/>
              <p:nvPr/>
            </p:nvSpPr>
            <p:spPr>
              <a:xfrm>
                <a:off x="14173200" y="1920240"/>
                <a:ext cx="155448" cy="393192"/>
              </a:xfrm>
              <a:custGeom>
                <a:avLst/>
                <a:gdLst/>
                <a:ahLst/>
                <a:cxnLst/>
                <a:rect l="0" t="0" r="r" b="b"/>
                <a:pathLst>
                  <a:path w="155448" h="393192">
                    <a:moveTo>
                      <a:pt x="155448" y="0"/>
                    </a:moveTo>
                    <a:cubicBezTo>
                      <a:pt x="86868" y="0"/>
                      <a:pt x="64008" y="23592"/>
                      <a:pt x="64008" y="55047"/>
                    </a:cubicBezTo>
                    <a:lnTo>
                      <a:pt x="64008" y="137617"/>
                    </a:lnTo>
                    <a:cubicBezTo>
                      <a:pt x="64008" y="176936"/>
                      <a:pt x="22860" y="188732"/>
                      <a:pt x="0" y="196596"/>
                    </a:cubicBezTo>
                    <a:cubicBezTo>
                      <a:pt x="22860" y="204460"/>
                      <a:pt x="64008" y="216256"/>
                      <a:pt x="64008" y="255575"/>
                    </a:cubicBezTo>
                    <a:lnTo>
                      <a:pt x="64008" y="338145"/>
                    </a:lnTo>
                    <a:cubicBezTo>
                      <a:pt x="64008" y="369600"/>
                      <a:pt x="86868" y="393192"/>
                      <a:pt x="155448" y="393192"/>
                    </a:cubicBezTo>
                  </a:path>
                </a:pathLst>
              </a:custGeom>
              <a:noFill/>
              <a:ln w="24689" cap="flat">
                <a:solidFill>
                  <a:srgbClr val="AB81C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7" name="k"/>
              <p:cNvSpPr txBox="1"/>
              <p:nvPr/>
            </p:nvSpPr>
            <p:spPr>
              <a:xfrm>
                <a:off x="14045184" y="1965960"/>
                <a:ext cx="228600" cy="265176"/>
              </a:xfrm>
              <a:prstGeom prst="rect">
                <a:avLst/>
              </a:prstGeom>
              <a:noFill/>
            </p:spPr>
            <p:txBody>
              <a:bodyPr wrap="none" lIns="0" rIns="0" tIns="0" bIns="0" anchor="ctr"/>
              <a:lstStyle/>
              <a:p>
                <a:pPr algn="ctr">
                  <a:lnSpc>
                    <a:spcPct val="100000"/>
                  </a:lnSpc>
                  <a:spcBef>
                    <a:spcPts val="0"/>
                  </a:spcBef>
                  <a:spcAft>
                    <a:spcPts val="0"/>
                  </a:spcAft>
                </a:pPr>
                <a:r>
                  <a:rPr sz="1943" b="0" i="0" dirty="0">
                    <a:solidFill>
                      <a:srgbClr val="AB81C0"/>
                    </a:solidFill>
                    <a:latin typeface="Arial"/>
                  </a:rPr>
                  <a:t>k</a:t>
                </a:r>
              </a:p>
            </p:txBody>
          </p:sp>
          <p:sp>
            <p:nvSpPr>
              <p:cNvPr id="238" name="Reduced V matrix"/>
              <p:cNvSpPr/>
              <p:nvPr/>
            </p:nvSpPr>
            <p:spPr>
              <a:xfrm>
                <a:off x="15133320" y="1901952"/>
                <a:ext cx="512064" cy="420624"/>
              </a:xfrm>
              <a:prstGeom prst="rect">
                <a:avLst/>
              </a:prstGeom>
              <a:gradFill rotWithShape="1">
                <a:gsLst>
                  <a:gs pos="0">
                    <a:srgbClr val="D7AFC2"/>
                  </a:gs>
                  <a:gs pos="100000">
                    <a:srgbClr val="F6F7EF"/>
                  </a:gs>
                </a:gsLst>
                <a:lin ang="5400000" scaled="1"/>
              </a:gradFill>
              <a:ln w="13716" cap="flat">
                <a:solidFill>
                  <a:srgbClr val="8F9096"/>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9" name="left matrix brace"/>
              <p:cNvSpPr/>
              <p:nvPr/>
            </p:nvSpPr>
            <p:spPr>
              <a:xfrm>
                <a:off x="14977872" y="1911096"/>
                <a:ext cx="155448" cy="402336"/>
              </a:xfrm>
              <a:custGeom>
                <a:avLst/>
                <a:gdLst/>
                <a:ahLst/>
                <a:cxnLst/>
                <a:rect l="0" t="0" r="r" b="b"/>
                <a:pathLst>
                  <a:path w="155448" h="402336">
                    <a:moveTo>
                      <a:pt x="155448" y="0"/>
                    </a:moveTo>
                    <a:cubicBezTo>
                      <a:pt x="86868" y="0"/>
                      <a:pt x="64008" y="24140"/>
                      <a:pt x="64008" y="56327"/>
                    </a:cubicBezTo>
                    <a:lnTo>
                      <a:pt x="64008" y="140818"/>
                    </a:lnTo>
                    <a:cubicBezTo>
                      <a:pt x="64008" y="181051"/>
                      <a:pt x="22860" y="193121"/>
                      <a:pt x="0" y="201168"/>
                    </a:cubicBezTo>
                    <a:cubicBezTo>
                      <a:pt x="22860" y="209215"/>
                      <a:pt x="64008" y="221285"/>
                      <a:pt x="64008" y="261518"/>
                    </a:cubicBezTo>
                    <a:lnTo>
                      <a:pt x="64008" y="346009"/>
                    </a:lnTo>
                    <a:cubicBezTo>
                      <a:pt x="64008" y="378196"/>
                      <a:pt x="86868" y="402336"/>
                      <a:pt x="155448" y="402336"/>
                    </a:cubicBezTo>
                  </a:path>
                </a:pathLst>
              </a:custGeom>
              <a:noFill/>
              <a:ln w="24689" cap="flat">
                <a:solidFill>
                  <a:srgbClr val="AB81C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0" name="k"/>
              <p:cNvSpPr txBox="1"/>
              <p:nvPr/>
            </p:nvSpPr>
            <p:spPr>
              <a:xfrm>
                <a:off x="14822424" y="1965960"/>
                <a:ext cx="237744" cy="274320"/>
              </a:xfrm>
              <a:prstGeom prst="rect">
                <a:avLst/>
              </a:prstGeom>
              <a:noFill/>
            </p:spPr>
            <p:txBody>
              <a:bodyPr wrap="none" lIns="0" rIns="0" tIns="0" bIns="0" anchor="ctr"/>
              <a:lstStyle/>
              <a:p>
                <a:pPr algn="ctr">
                  <a:lnSpc>
                    <a:spcPct val="100000"/>
                  </a:lnSpc>
                  <a:spcBef>
                    <a:spcPts val="0"/>
                  </a:spcBef>
                  <a:spcAft>
                    <a:spcPts val="0"/>
                  </a:spcAft>
                </a:pPr>
                <a:r>
                  <a:rPr sz="1943" b="0" i="0" dirty="0">
                    <a:solidFill>
                      <a:srgbClr val="AB81C0"/>
                    </a:solidFill>
                    <a:latin typeface="Arial"/>
                  </a:rPr>
                  <a:t>k</a:t>
                </a:r>
              </a:p>
            </p:txBody>
          </p:sp>
          <p:sp>
            <p:nvSpPr>
              <p:cNvPr id="241" name="bottom matrix brace"/>
              <p:cNvSpPr/>
              <p:nvPr/>
            </p:nvSpPr>
            <p:spPr>
              <a:xfrm>
                <a:off x="15133320" y="2340864"/>
                <a:ext cx="512064" cy="124358"/>
              </a:xfrm>
              <a:custGeom>
                <a:avLst/>
                <a:gdLst/>
                <a:ahLst/>
                <a:cxnLst/>
                <a:rect l="0" t="0" r="r" b="b"/>
                <a:pathLst>
                  <a:path w="512064" h="124358">
                    <a:moveTo>
                      <a:pt x="0" y="0"/>
                    </a:moveTo>
                    <a:cubicBezTo>
                      <a:pt x="0" y="54864"/>
                      <a:pt x="30724" y="73152"/>
                      <a:pt x="71689" y="73152"/>
                    </a:cubicBezTo>
                    <a:lnTo>
                      <a:pt x="179222" y="73152"/>
                    </a:lnTo>
                    <a:cubicBezTo>
                      <a:pt x="230429" y="73152"/>
                      <a:pt x="245791" y="106070"/>
                      <a:pt x="256032" y="124358"/>
                    </a:cubicBezTo>
                    <a:cubicBezTo>
                      <a:pt x="266273" y="106070"/>
                      <a:pt x="281635" y="73152"/>
                      <a:pt x="332842" y="73152"/>
                    </a:cubicBezTo>
                    <a:lnTo>
                      <a:pt x="440375" y="73152"/>
                    </a:lnTo>
                    <a:cubicBezTo>
                      <a:pt x="481340" y="73152"/>
                      <a:pt x="512064" y="54864"/>
                      <a:pt x="512064" y="0"/>
                    </a:cubicBez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2" name="c"/>
              <p:cNvSpPr txBox="1"/>
              <p:nvPr/>
            </p:nvSpPr>
            <p:spPr>
              <a:xfrm>
                <a:off x="15307056" y="2423160"/>
                <a:ext cx="219456" cy="274320"/>
              </a:xfrm>
              <a:prstGeom prst="rect">
                <a:avLst/>
              </a:prstGeom>
              <a:noFill/>
            </p:spPr>
            <p:txBody>
              <a:bodyPr wrap="none" lIns="0" rIns="0" tIns="0" bIns="0" anchor="ctr"/>
              <a:lstStyle/>
              <a:p>
                <a:pPr algn="ctr">
                  <a:lnSpc>
                    <a:spcPct val="100000"/>
                  </a:lnSpc>
                  <a:spcBef>
                    <a:spcPts val="0"/>
                  </a:spcBef>
                  <a:spcAft>
                    <a:spcPts val="0"/>
                  </a:spcAft>
                </a:pPr>
                <a:r>
                  <a:rPr sz="1872" b="0" i="0" dirty="0">
                    <a:solidFill>
                      <a:srgbClr val="101010"/>
                    </a:solidFill>
                    <a:latin typeface="Arial"/>
                  </a:rPr>
                  <a:t>c</a:t>
                </a:r>
              </a:p>
            </p:txBody>
          </p:sp>
        </p:grpSp>
        <p:sp>
          <p:nvSpPr>
            <p:cNvPr id="243" name="Outlined transition arrow"/>
            <p:cNvSpPr/>
            <p:nvPr/>
          </p:nvSpPr>
          <p:spPr>
            <a:xfrm>
              <a:off x="14410944" y="2715768"/>
              <a:ext cx="164592" cy="228600"/>
            </a:xfrm>
            <a:custGeom>
              <a:avLst/>
              <a:gdLst/>
              <a:ahLst/>
              <a:cxnLst/>
              <a:rect l="0" t="0" r="r" b="b"/>
              <a:pathLst>
                <a:path w="164592" h="228600">
                  <a:moveTo>
                    <a:pt x="0" y="0"/>
                  </a:moveTo>
                  <a:lnTo>
                    <a:pt x="164592" y="0"/>
                  </a:lnTo>
                  <a:lnTo>
                    <a:pt x="118872" y="73152"/>
                  </a:lnTo>
                  <a:lnTo>
                    <a:pt x="118872" y="155448"/>
                  </a:lnTo>
                  <a:lnTo>
                    <a:pt x="164592" y="155448"/>
                  </a:lnTo>
                  <a:lnTo>
                    <a:pt x="82296" y="228600"/>
                  </a:lnTo>
                  <a:lnTo>
                    <a:pt x="0" y="155448"/>
                  </a:lnTo>
                  <a:lnTo>
                    <a:pt x="45720" y="155448"/>
                  </a:lnTo>
                  <a:lnTo>
                    <a:pt x="45720" y="73152"/>
                  </a:lnTo>
                  <a:close/>
                </a:path>
              </a:pathLst>
            </a:custGeom>
            <a:solidFill>
              <a:srgbClr val="C6E9E2"/>
            </a:solidFill>
            <a:ln w="22860"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4" name="Quantized Object Agent Queries"/>
            <p:cNvSpPr txBox="1"/>
            <p:nvPr/>
          </p:nvSpPr>
          <p:spPr>
            <a:xfrm>
              <a:off x="10149840" y="2999232"/>
              <a:ext cx="3749040" cy="320040"/>
            </a:xfrm>
            <a:prstGeom prst="rect">
              <a:avLst/>
            </a:prstGeom>
            <a:noFill/>
          </p:spPr>
          <p:txBody>
            <a:bodyPr wrap="none" lIns="0" rIns="0" tIns="0" bIns="0" anchor="ctr"/>
            <a:lstStyle/>
            <a:p>
              <a:pPr algn="l">
                <a:lnSpc>
                  <a:spcPct val="100000"/>
                </a:lnSpc>
                <a:spcBef>
                  <a:spcPts val="0"/>
                </a:spcBef>
                <a:spcAft>
                  <a:spcPts val="0"/>
                </a:spcAft>
              </a:pPr>
              <a:r>
                <a:rPr sz="1943" b="0" i="0" dirty="0">
                  <a:solidFill>
                    <a:srgbClr val="101010"/>
                  </a:solidFill>
                  <a:latin typeface="Arial"/>
                </a:rPr>
                <a:t>Quantized Object Agent Queries</a:t>
              </a:r>
            </a:p>
          </p:txBody>
        </p:sp>
        <p:grpSp>
          <p:nvGrpSpPr>
            <p:cNvPr id="245" name="Quantized object agent queries"/>
            <p:cNvGrpSpPr/>
            <p:nvPr/>
          </p:nvGrpSpPr>
          <p:grpSpPr>
            <a:xfrm>
              <a:off x="13816584" y="2980944"/>
              <a:ext cx="1362456" cy="274320"/>
              <a:chOff x="13816584" y="2980944"/>
              <a:chExt cx="1362456" cy="274320"/>
            </a:xfrm>
          </p:grpSpPr>
          <p:sp>
            <p:nvSpPr>
              <p:cNvPr id="246" name="Query token"/>
              <p:cNvSpPr/>
              <p:nvPr/>
            </p:nvSpPr>
            <p:spPr>
              <a:xfrm>
                <a:off x="13816584" y="3008376"/>
                <a:ext cx="246888" cy="246888"/>
              </a:xfrm>
              <a:prstGeom prst="rect">
                <a:avLst/>
              </a:prstGeom>
              <a:solidFill>
                <a:srgbClr val="FFF2CF"/>
              </a:solid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7" name="Connector"/>
              <p:cNvSpPr/>
              <p:nvPr/>
            </p:nvSpPr>
            <p:spPr>
              <a:xfrm>
                <a:off x="13816584" y="3008376"/>
                <a:ext cx="82296" cy="82296"/>
              </a:xfrm>
              <a:custGeom>
                <a:avLst/>
                <a:gdLst/>
                <a:ahLst/>
                <a:cxnLst/>
                <a:rect l="0" t="0" r="r" b="b"/>
                <a:pathLst>
                  <a:path w="82296" h="82296">
                    <a:moveTo>
                      <a:pt x="0" y="82296"/>
                    </a:moveTo>
                    <a:lnTo>
                      <a:pt x="82296"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8" name="Connector"/>
              <p:cNvSpPr/>
              <p:nvPr/>
            </p:nvSpPr>
            <p:spPr>
              <a:xfrm>
                <a:off x="13816584" y="3008376"/>
                <a:ext cx="192024" cy="192024"/>
              </a:xfrm>
              <a:custGeom>
                <a:avLst/>
                <a:gdLst/>
                <a:ahLst/>
                <a:cxnLst/>
                <a:rect l="0" t="0" r="r" b="b"/>
                <a:pathLst>
                  <a:path w="192024" h="192024">
                    <a:moveTo>
                      <a:pt x="0" y="192024"/>
                    </a:moveTo>
                    <a:lnTo>
                      <a:pt x="192024"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Connector"/>
              <p:cNvSpPr/>
              <p:nvPr/>
            </p:nvSpPr>
            <p:spPr>
              <a:xfrm>
                <a:off x="13871448" y="3063240"/>
                <a:ext cx="192024" cy="192024"/>
              </a:xfrm>
              <a:custGeom>
                <a:avLst/>
                <a:gdLst/>
                <a:ahLst/>
                <a:cxnLst/>
                <a:rect l="0" t="0" r="r" b="b"/>
                <a:pathLst>
                  <a:path w="192024" h="192024">
                    <a:moveTo>
                      <a:pt x="192024" y="0"/>
                    </a:moveTo>
                    <a:lnTo>
                      <a:pt x="0" y="192024"/>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0" name="Connector"/>
              <p:cNvSpPr/>
              <p:nvPr/>
            </p:nvSpPr>
            <p:spPr>
              <a:xfrm>
                <a:off x="13981176" y="3172968"/>
                <a:ext cx="82296" cy="82296"/>
              </a:xfrm>
              <a:custGeom>
                <a:avLst/>
                <a:gdLst/>
                <a:ahLst/>
                <a:cxnLst/>
                <a:rect l="0" t="0" r="r" b="b"/>
                <a:pathLst>
                  <a:path w="82296" h="82296">
                    <a:moveTo>
                      <a:pt x="82296" y="0"/>
                    </a:moveTo>
                    <a:lnTo>
                      <a:pt x="0" y="8229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1" name="Query token outline"/>
              <p:cNvSpPr/>
              <p:nvPr/>
            </p:nvSpPr>
            <p:spPr>
              <a:xfrm>
                <a:off x="13816584" y="3008376"/>
                <a:ext cx="246888" cy="246888"/>
              </a:xfrm>
              <a:prstGeom prst="rect">
                <a:avLst/>
              </a:prstGeom>
              <a:no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2" name="Query token"/>
              <p:cNvSpPr/>
              <p:nvPr/>
            </p:nvSpPr>
            <p:spPr>
              <a:xfrm>
                <a:off x="14438376" y="3008376"/>
                <a:ext cx="246888" cy="246888"/>
              </a:xfrm>
              <a:prstGeom prst="rect">
                <a:avLst/>
              </a:prstGeom>
              <a:solidFill>
                <a:srgbClr val="FFF2CF"/>
              </a:solid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3" name="Connector"/>
              <p:cNvSpPr/>
              <p:nvPr/>
            </p:nvSpPr>
            <p:spPr>
              <a:xfrm>
                <a:off x="14438376" y="3008376"/>
                <a:ext cx="82296" cy="82296"/>
              </a:xfrm>
              <a:custGeom>
                <a:avLst/>
                <a:gdLst/>
                <a:ahLst/>
                <a:cxnLst/>
                <a:rect l="0" t="0" r="r" b="b"/>
                <a:pathLst>
                  <a:path w="82296" h="82296">
                    <a:moveTo>
                      <a:pt x="0" y="82296"/>
                    </a:moveTo>
                    <a:lnTo>
                      <a:pt x="82296"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4" name="Connector"/>
              <p:cNvSpPr/>
              <p:nvPr/>
            </p:nvSpPr>
            <p:spPr>
              <a:xfrm>
                <a:off x="14438376" y="3008376"/>
                <a:ext cx="192024" cy="192024"/>
              </a:xfrm>
              <a:custGeom>
                <a:avLst/>
                <a:gdLst/>
                <a:ahLst/>
                <a:cxnLst/>
                <a:rect l="0" t="0" r="r" b="b"/>
                <a:pathLst>
                  <a:path w="192024" h="192024">
                    <a:moveTo>
                      <a:pt x="0" y="192024"/>
                    </a:moveTo>
                    <a:lnTo>
                      <a:pt x="192024"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5" name="Connector"/>
              <p:cNvSpPr/>
              <p:nvPr/>
            </p:nvSpPr>
            <p:spPr>
              <a:xfrm>
                <a:off x="14493240" y="3063240"/>
                <a:ext cx="192024" cy="192024"/>
              </a:xfrm>
              <a:custGeom>
                <a:avLst/>
                <a:gdLst/>
                <a:ahLst/>
                <a:cxnLst/>
                <a:rect l="0" t="0" r="r" b="b"/>
                <a:pathLst>
                  <a:path w="192024" h="192024">
                    <a:moveTo>
                      <a:pt x="192024" y="0"/>
                    </a:moveTo>
                    <a:lnTo>
                      <a:pt x="0" y="192024"/>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6" name="Connector"/>
              <p:cNvSpPr/>
              <p:nvPr/>
            </p:nvSpPr>
            <p:spPr>
              <a:xfrm>
                <a:off x="14602968" y="3172968"/>
                <a:ext cx="82296" cy="82296"/>
              </a:xfrm>
              <a:custGeom>
                <a:avLst/>
                <a:gdLst/>
                <a:ahLst/>
                <a:cxnLst/>
                <a:rect l="0" t="0" r="r" b="b"/>
                <a:pathLst>
                  <a:path w="82296" h="82296">
                    <a:moveTo>
                      <a:pt x="82296" y="0"/>
                    </a:moveTo>
                    <a:lnTo>
                      <a:pt x="0" y="8229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7" name="Query token outline"/>
              <p:cNvSpPr/>
              <p:nvPr/>
            </p:nvSpPr>
            <p:spPr>
              <a:xfrm>
                <a:off x="14438376" y="3008376"/>
                <a:ext cx="246888" cy="246888"/>
              </a:xfrm>
              <a:prstGeom prst="rect">
                <a:avLst/>
              </a:prstGeom>
              <a:no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8" name="Query token"/>
              <p:cNvSpPr/>
              <p:nvPr/>
            </p:nvSpPr>
            <p:spPr>
              <a:xfrm>
                <a:off x="14694408" y="3008376"/>
                <a:ext cx="246888" cy="246888"/>
              </a:xfrm>
              <a:prstGeom prst="rect">
                <a:avLst/>
              </a:prstGeom>
              <a:solidFill>
                <a:srgbClr val="FFF2CF"/>
              </a:solid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9" name="Connector"/>
              <p:cNvSpPr/>
              <p:nvPr/>
            </p:nvSpPr>
            <p:spPr>
              <a:xfrm>
                <a:off x="14694408" y="3008376"/>
                <a:ext cx="82296" cy="82296"/>
              </a:xfrm>
              <a:custGeom>
                <a:avLst/>
                <a:gdLst/>
                <a:ahLst/>
                <a:cxnLst/>
                <a:rect l="0" t="0" r="r" b="b"/>
                <a:pathLst>
                  <a:path w="82296" h="82296">
                    <a:moveTo>
                      <a:pt x="0" y="82296"/>
                    </a:moveTo>
                    <a:lnTo>
                      <a:pt x="82296"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0" name="Connector"/>
              <p:cNvSpPr/>
              <p:nvPr/>
            </p:nvSpPr>
            <p:spPr>
              <a:xfrm>
                <a:off x="14694408" y="3008376"/>
                <a:ext cx="192024" cy="192024"/>
              </a:xfrm>
              <a:custGeom>
                <a:avLst/>
                <a:gdLst/>
                <a:ahLst/>
                <a:cxnLst/>
                <a:rect l="0" t="0" r="r" b="b"/>
                <a:pathLst>
                  <a:path w="192024" h="192024">
                    <a:moveTo>
                      <a:pt x="0" y="192024"/>
                    </a:moveTo>
                    <a:lnTo>
                      <a:pt x="192024"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1" name="Connector"/>
              <p:cNvSpPr/>
              <p:nvPr/>
            </p:nvSpPr>
            <p:spPr>
              <a:xfrm>
                <a:off x="14749272" y="3063240"/>
                <a:ext cx="192024" cy="192024"/>
              </a:xfrm>
              <a:custGeom>
                <a:avLst/>
                <a:gdLst/>
                <a:ahLst/>
                <a:cxnLst/>
                <a:rect l="0" t="0" r="r" b="b"/>
                <a:pathLst>
                  <a:path w="192024" h="192024">
                    <a:moveTo>
                      <a:pt x="192024" y="0"/>
                    </a:moveTo>
                    <a:lnTo>
                      <a:pt x="0" y="192024"/>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2" name="Connector"/>
              <p:cNvSpPr/>
              <p:nvPr/>
            </p:nvSpPr>
            <p:spPr>
              <a:xfrm>
                <a:off x="14859000" y="3172968"/>
                <a:ext cx="82296" cy="82296"/>
              </a:xfrm>
              <a:custGeom>
                <a:avLst/>
                <a:gdLst/>
                <a:ahLst/>
                <a:cxnLst/>
                <a:rect l="0" t="0" r="r" b="b"/>
                <a:pathLst>
                  <a:path w="82296" h="82296">
                    <a:moveTo>
                      <a:pt x="82296" y="0"/>
                    </a:moveTo>
                    <a:lnTo>
                      <a:pt x="0" y="8229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3" name="Query token outline"/>
              <p:cNvSpPr/>
              <p:nvPr/>
            </p:nvSpPr>
            <p:spPr>
              <a:xfrm>
                <a:off x="14694408" y="3008376"/>
                <a:ext cx="246888" cy="246888"/>
              </a:xfrm>
              <a:prstGeom prst="rect">
                <a:avLst/>
              </a:prstGeom>
              <a:no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4" name="Query token"/>
              <p:cNvSpPr/>
              <p:nvPr/>
            </p:nvSpPr>
            <p:spPr>
              <a:xfrm>
                <a:off x="14932152" y="3008376"/>
                <a:ext cx="246888" cy="246888"/>
              </a:xfrm>
              <a:prstGeom prst="rect">
                <a:avLst/>
              </a:prstGeom>
              <a:solidFill>
                <a:srgbClr val="FFF2CF"/>
              </a:solid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5" name="Connector"/>
              <p:cNvSpPr/>
              <p:nvPr/>
            </p:nvSpPr>
            <p:spPr>
              <a:xfrm>
                <a:off x="14932152" y="3008376"/>
                <a:ext cx="82296" cy="82296"/>
              </a:xfrm>
              <a:custGeom>
                <a:avLst/>
                <a:gdLst/>
                <a:ahLst/>
                <a:cxnLst/>
                <a:rect l="0" t="0" r="r" b="b"/>
                <a:pathLst>
                  <a:path w="82296" h="82296">
                    <a:moveTo>
                      <a:pt x="0" y="82296"/>
                    </a:moveTo>
                    <a:lnTo>
                      <a:pt x="82296"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6" name="Connector"/>
              <p:cNvSpPr/>
              <p:nvPr/>
            </p:nvSpPr>
            <p:spPr>
              <a:xfrm>
                <a:off x="14932152" y="3008376"/>
                <a:ext cx="192024" cy="192024"/>
              </a:xfrm>
              <a:custGeom>
                <a:avLst/>
                <a:gdLst/>
                <a:ahLst/>
                <a:cxnLst/>
                <a:rect l="0" t="0" r="r" b="b"/>
                <a:pathLst>
                  <a:path w="192024" h="192024">
                    <a:moveTo>
                      <a:pt x="0" y="192024"/>
                    </a:moveTo>
                    <a:lnTo>
                      <a:pt x="192024"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7" name="Connector"/>
              <p:cNvSpPr/>
              <p:nvPr/>
            </p:nvSpPr>
            <p:spPr>
              <a:xfrm>
                <a:off x="14987016" y="3063240"/>
                <a:ext cx="192024" cy="192024"/>
              </a:xfrm>
              <a:custGeom>
                <a:avLst/>
                <a:gdLst/>
                <a:ahLst/>
                <a:cxnLst/>
                <a:rect l="0" t="0" r="r" b="b"/>
                <a:pathLst>
                  <a:path w="192024" h="192024">
                    <a:moveTo>
                      <a:pt x="192024" y="0"/>
                    </a:moveTo>
                    <a:lnTo>
                      <a:pt x="0" y="192024"/>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8" name="Connector"/>
              <p:cNvSpPr/>
              <p:nvPr/>
            </p:nvSpPr>
            <p:spPr>
              <a:xfrm>
                <a:off x="15096744" y="3172968"/>
                <a:ext cx="82296" cy="82296"/>
              </a:xfrm>
              <a:custGeom>
                <a:avLst/>
                <a:gdLst/>
                <a:ahLst/>
                <a:cxnLst/>
                <a:rect l="0" t="0" r="r" b="b"/>
                <a:pathLst>
                  <a:path w="82296" h="82296">
                    <a:moveTo>
                      <a:pt x="82296" y="0"/>
                    </a:moveTo>
                    <a:lnTo>
                      <a:pt x="0" y="8229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9" name="Query token outline"/>
              <p:cNvSpPr/>
              <p:nvPr/>
            </p:nvSpPr>
            <p:spPr>
              <a:xfrm>
                <a:off x="14932152" y="3008376"/>
                <a:ext cx="246888" cy="246888"/>
              </a:xfrm>
              <a:prstGeom prst="rect">
                <a:avLst/>
              </a:prstGeom>
              <a:no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0" name="···"/>
              <p:cNvSpPr txBox="1"/>
              <p:nvPr/>
            </p:nvSpPr>
            <p:spPr>
              <a:xfrm>
                <a:off x="14118336" y="2980944"/>
                <a:ext cx="283464" cy="228600"/>
              </a:xfrm>
              <a:prstGeom prst="rect">
                <a:avLst/>
              </a:prstGeom>
              <a:noFill/>
            </p:spPr>
            <p:txBody>
              <a:bodyPr wrap="none" lIns="0" rIns="0" tIns="0" bIns="0" anchor="ctr"/>
              <a:lstStyle/>
              <a:p>
                <a:pPr algn="ctr">
                  <a:lnSpc>
                    <a:spcPct val="100000"/>
                  </a:lnSpc>
                  <a:spcBef>
                    <a:spcPts val="0"/>
                  </a:spcBef>
                  <a:spcAft>
                    <a:spcPts val="0"/>
                  </a:spcAft>
                </a:pPr>
                <a:r>
                  <a:rPr sz="1800" b="1" i="0" dirty="0">
                    <a:solidFill>
                      <a:srgbClr val="101010"/>
                    </a:solidFill>
                    <a:latin typeface="Arial"/>
                  </a:rPr>
                  <a:t>···</a:t>
                </a:r>
              </a:p>
            </p:txBody>
          </p:sp>
        </p:grpSp>
        <p:sp>
          <p:nvSpPr>
            <p:cNvPr id="271" name="Connector"/>
            <p:cNvSpPr/>
            <p:nvPr/>
          </p:nvSpPr>
          <p:spPr>
            <a:xfrm>
              <a:off x="9299448" y="3630168"/>
              <a:ext cx="5742432" cy="768096"/>
            </a:xfrm>
            <a:custGeom>
              <a:avLst/>
              <a:gdLst/>
              <a:ahLst/>
              <a:cxnLst/>
              <a:rect l="0" t="0" r="r" b="b"/>
              <a:pathLst>
                <a:path w="5742432" h="768096">
                  <a:moveTo>
                    <a:pt x="0" y="768096"/>
                  </a:moveTo>
                  <a:lnTo>
                    <a:pt x="237744" y="768096"/>
                  </a:lnTo>
                  <a:lnTo>
                    <a:pt x="237744" y="0"/>
                  </a:lnTo>
                  <a:lnTo>
                    <a:pt x="5742432" y="0"/>
                  </a:lnTo>
                  <a:lnTo>
                    <a:pt x="5742432" y="173736"/>
                  </a:lnTo>
                </a:path>
              </a:pathLst>
            </a:custGeom>
            <a:noFill/>
            <a:ln w="36576" cap="flat">
              <a:solidFill>
                <a:srgbClr val="2E667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2" name="Arrowhead"/>
            <p:cNvSpPr/>
            <p:nvPr/>
          </p:nvSpPr>
          <p:spPr>
            <a:xfrm>
              <a:off x="14989211" y="3694176"/>
              <a:ext cx="105339" cy="109728"/>
            </a:xfrm>
            <a:custGeom>
              <a:avLst/>
              <a:gdLst/>
              <a:ahLst/>
              <a:cxnLst/>
              <a:rect l="0" t="0" r="r" b="b"/>
              <a:pathLst>
                <a:path w="105339" h="109728">
                  <a:moveTo>
                    <a:pt x="52669" y="109728"/>
                  </a:moveTo>
                  <a:lnTo>
                    <a:pt x="0" y="0"/>
                  </a:lnTo>
                  <a:lnTo>
                    <a:pt x="105339" y="0"/>
                  </a:lnTo>
                  <a:close/>
                </a:path>
              </a:pathLst>
            </a:custGeom>
            <a:solidFill>
              <a:srgbClr val="2E66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3" name="Connector"/>
            <p:cNvSpPr/>
            <p:nvPr/>
          </p:nvSpPr>
          <p:spPr>
            <a:xfrm>
              <a:off x="9299448" y="4233672"/>
              <a:ext cx="740664" cy="384048"/>
            </a:xfrm>
            <a:custGeom>
              <a:avLst/>
              <a:gdLst/>
              <a:ahLst/>
              <a:cxnLst/>
              <a:rect l="0" t="0" r="r" b="b"/>
              <a:pathLst>
                <a:path w="740664" h="384048">
                  <a:moveTo>
                    <a:pt x="0" y="384048"/>
                  </a:moveTo>
                  <a:lnTo>
                    <a:pt x="438912" y="384048"/>
                  </a:lnTo>
                  <a:lnTo>
                    <a:pt x="438912" y="0"/>
                  </a:lnTo>
                  <a:lnTo>
                    <a:pt x="740664" y="0"/>
                  </a:lnTo>
                </a:path>
              </a:pathLst>
            </a:custGeom>
            <a:noFill/>
            <a:ln w="36576" cap="flat">
              <a:solidFill>
                <a:srgbClr val="7FB9C9"/>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4" name="Arrowhead"/>
            <p:cNvSpPr/>
            <p:nvPr/>
          </p:nvSpPr>
          <p:spPr>
            <a:xfrm>
              <a:off x="9930384" y="4181003"/>
              <a:ext cx="109728" cy="105339"/>
            </a:xfrm>
            <a:custGeom>
              <a:avLst/>
              <a:gdLst/>
              <a:ahLst/>
              <a:cxnLst/>
              <a:rect l="0" t="0" r="r" b="b"/>
              <a:pathLst>
                <a:path w="109728" h="105339">
                  <a:moveTo>
                    <a:pt x="109728" y="52669"/>
                  </a:moveTo>
                  <a:lnTo>
                    <a:pt x="0" y="105339"/>
                  </a:lnTo>
                  <a:lnTo>
                    <a:pt x="0" y="0"/>
                  </a:lnTo>
                  <a:close/>
                </a:path>
              </a:pathLst>
            </a:custGeom>
            <a:solidFill>
              <a:srgbClr val="7FB9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275" name="Quantized Object agent query set"/>
            <p:cNvGrpSpPr/>
            <p:nvPr/>
          </p:nvGrpSpPr>
          <p:grpSpPr>
            <a:xfrm>
              <a:off x="10003536" y="3813048"/>
              <a:ext cx="1508760" cy="548640"/>
              <a:chOff x="10003536" y="3813048"/>
              <a:chExt cx="1508760" cy="548640"/>
            </a:xfrm>
          </p:grpSpPr>
          <p:sp>
            <p:nvSpPr>
              <p:cNvPr id="276" name="Queries dotted frame"/>
              <p:cNvSpPr/>
              <p:nvPr/>
            </p:nvSpPr>
            <p:spPr>
              <a:xfrm>
                <a:off x="10003536" y="3813048"/>
                <a:ext cx="1508760" cy="548640"/>
              </a:xfrm>
              <a:prstGeom prst="rect">
                <a:avLst/>
              </a:prstGeom>
              <a:noFill/>
              <a:ln w="16459" cap="flat">
                <a:solidFill>
                  <a:srgbClr val="233F65"/>
                </a:solidFill>
                <a:custDash>
                  <a:ds d="111111" sp="166667"/>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7" name="Query association arc"/>
              <p:cNvSpPr/>
              <p:nvPr/>
            </p:nvSpPr>
            <p:spPr>
              <a:xfrm>
                <a:off x="10195560" y="3877056"/>
                <a:ext cx="1106424" cy="192024"/>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8" name="Query association arc"/>
              <p:cNvSpPr/>
              <p:nvPr/>
            </p:nvSpPr>
            <p:spPr>
              <a:xfrm>
                <a:off x="10186416" y="3886200"/>
                <a:ext cx="987552" cy="347472"/>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9" name="Query association arc"/>
              <p:cNvSpPr/>
              <p:nvPr/>
            </p:nvSpPr>
            <p:spPr>
              <a:xfrm>
                <a:off x="10232136" y="3941064"/>
                <a:ext cx="1106424" cy="356616"/>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0" name="Query token"/>
              <p:cNvSpPr/>
              <p:nvPr/>
            </p:nvSpPr>
            <p:spPr>
              <a:xfrm>
                <a:off x="10067544" y="3959352"/>
                <a:ext cx="256032" cy="256032"/>
              </a:xfrm>
              <a:prstGeom prst="rect">
                <a:avLst/>
              </a:prstGeom>
              <a:solidFill>
                <a:srgbClr val="C1D9EB"/>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1" name="Connector"/>
              <p:cNvSpPr/>
              <p:nvPr/>
            </p:nvSpPr>
            <p:spPr>
              <a:xfrm>
                <a:off x="10067544" y="3959352"/>
                <a:ext cx="73152" cy="73152"/>
              </a:xfrm>
              <a:custGeom>
                <a:avLst/>
                <a:gdLst/>
                <a:ahLst/>
                <a:cxnLst/>
                <a:rect l="0" t="0" r="r" b="b"/>
                <a:pathLst>
                  <a:path w="73152" h="73152">
                    <a:moveTo>
                      <a:pt x="0" y="73152"/>
                    </a:moveTo>
                    <a:lnTo>
                      <a:pt x="73152"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2" name="Connector"/>
              <p:cNvSpPr/>
              <p:nvPr/>
            </p:nvSpPr>
            <p:spPr>
              <a:xfrm>
                <a:off x="10067544" y="3959352"/>
                <a:ext cx="182880" cy="182880"/>
              </a:xfrm>
              <a:custGeom>
                <a:avLst/>
                <a:gdLst/>
                <a:ahLst/>
                <a:cxnLst/>
                <a:rect l="0" t="0" r="r" b="b"/>
                <a:pathLst>
                  <a:path w="182880" h="182880">
                    <a:moveTo>
                      <a:pt x="0" y="182880"/>
                    </a:moveTo>
                    <a:lnTo>
                      <a:pt x="182880"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3" name="Connector"/>
              <p:cNvSpPr/>
              <p:nvPr/>
            </p:nvSpPr>
            <p:spPr>
              <a:xfrm>
                <a:off x="10104120" y="3995928"/>
                <a:ext cx="219456" cy="219456"/>
              </a:xfrm>
              <a:custGeom>
                <a:avLst/>
                <a:gdLst/>
                <a:ahLst/>
                <a:cxnLst/>
                <a:rect l="0" t="0" r="r" b="b"/>
                <a:pathLst>
                  <a:path w="219456" h="219456">
                    <a:moveTo>
                      <a:pt x="219456" y="0"/>
                    </a:moveTo>
                    <a:lnTo>
                      <a:pt x="0" y="21945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4" name="Connector"/>
              <p:cNvSpPr/>
              <p:nvPr/>
            </p:nvSpPr>
            <p:spPr>
              <a:xfrm>
                <a:off x="10213848" y="4105656"/>
                <a:ext cx="109728" cy="109728"/>
              </a:xfrm>
              <a:custGeom>
                <a:avLst/>
                <a:gdLst/>
                <a:ahLst/>
                <a:cxnLst/>
                <a:rect l="0" t="0" r="r" b="b"/>
                <a:pathLst>
                  <a:path w="109728" h="109728">
                    <a:moveTo>
                      <a:pt x="109728" y="0"/>
                    </a:moveTo>
                    <a:lnTo>
                      <a:pt x="0" y="109728"/>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5" name="Query token outline"/>
              <p:cNvSpPr/>
              <p:nvPr/>
            </p:nvSpPr>
            <p:spPr>
              <a:xfrm>
                <a:off x="10067544" y="3959352"/>
                <a:ext cx="256032" cy="256032"/>
              </a:xfrm>
              <a:prstGeom prst="rect">
                <a:avLst/>
              </a:prstGeom>
              <a:no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6" name="···"/>
              <p:cNvSpPr txBox="1"/>
              <p:nvPr/>
            </p:nvSpPr>
            <p:spPr>
              <a:xfrm>
                <a:off x="10369296" y="3941064"/>
                <a:ext cx="274320" cy="228600"/>
              </a:xfrm>
              <a:prstGeom prst="rect">
                <a:avLst/>
              </a:prstGeom>
              <a:noFill/>
            </p:spPr>
            <p:txBody>
              <a:bodyPr wrap="none" lIns="0" rIns="0" tIns="0" bIns="0" anchor="ctr"/>
              <a:lstStyle/>
              <a:p>
                <a:pPr algn="ctr">
                  <a:lnSpc>
                    <a:spcPct val="100000"/>
                  </a:lnSpc>
                  <a:spcBef>
                    <a:spcPts val="0"/>
                  </a:spcBef>
                  <a:spcAft>
                    <a:spcPts val="0"/>
                  </a:spcAft>
                </a:pPr>
                <a:r>
                  <a:rPr sz="1800" b="1" i="0" dirty="0">
                    <a:solidFill>
                      <a:srgbClr val="101010"/>
                    </a:solidFill>
                    <a:latin typeface="Arial"/>
                  </a:rPr>
                  <a:t>···</a:t>
                </a:r>
              </a:p>
            </p:txBody>
          </p:sp>
          <p:sp>
            <p:nvSpPr>
              <p:cNvPr id="287" name="Query token"/>
              <p:cNvSpPr/>
              <p:nvPr/>
            </p:nvSpPr>
            <p:spPr>
              <a:xfrm>
                <a:off x="10689336" y="3959352"/>
                <a:ext cx="256032" cy="256032"/>
              </a:xfrm>
              <a:prstGeom prst="rect">
                <a:avLst/>
              </a:prstGeom>
              <a:solidFill>
                <a:srgbClr val="C1D9EB"/>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8" name="Connector"/>
              <p:cNvSpPr/>
              <p:nvPr/>
            </p:nvSpPr>
            <p:spPr>
              <a:xfrm>
                <a:off x="10689336" y="3959352"/>
                <a:ext cx="73152" cy="73152"/>
              </a:xfrm>
              <a:custGeom>
                <a:avLst/>
                <a:gdLst/>
                <a:ahLst/>
                <a:cxnLst/>
                <a:rect l="0" t="0" r="r" b="b"/>
                <a:pathLst>
                  <a:path w="73152" h="73152">
                    <a:moveTo>
                      <a:pt x="0" y="73152"/>
                    </a:moveTo>
                    <a:lnTo>
                      <a:pt x="73152"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9" name="Connector"/>
              <p:cNvSpPr/>
              <p:nvPr/>
            </p:nvSpPr>
            <p:spPr>
              <a:xfrm>
                <a:off x="10689336" y="3959352"/>
                <a:ext cx="182880" cy="182880"/>
              </a:xfrm>
              <a:custGeom>
                <a:avLst/>
                <a:gdLst/>
                <a:ahLst/>
                <a:cxnLst/>
                <a:rect l="0" t="0" r="r" b="b"/>
                <a:pathLst>
                  <a:path w="182880" h="182880">
                    <a:moveTo>
                      <a:pt x="0" y="182880"/>
                    </a:moveTo>
                    <a:lnTo>
                      <a:pt x="182880"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0" name="Connector"/>
              <p:cNvSpPr/>
              <p:nvPr/>
            </p:nvSpPr>
            <p:spPr>
              <a:xfrm>
                <a:off x="10725912" y="3995928"/>
                <a:ext cx="219456" cy="219456"/>
              </a:xfrm>
              <a:custGeom>
                <a:avLst/>
                <a:gdLst/>
                <a:ahLst/>
                <a:cxnLst/>
                <a:rect l="0" t="0" r="r" b="b"/>
                <a:pathLst>
                  <a:path w="219456" h="219456">
                    <a:moveTo>
                      <a:pt x="219456" y="0"/>
                    </a:moveTo>
                    <a:lnTo>
                      <a:pt x="0" y="21945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1" name="Connector"/>
              <p:cNvSpPr/>
              <p:nvPr/>
            </p:nvSpPr>
            <p:spPr>
              <a:xfrm>
                <a:off x="10835640" y="4105656"/>
                <a:ext cx="109728" cy="109728"/>
              </a:xfrm>
              <a:custGeom>
                <a:avLst/>
                <a:gdLst/>
                <a:ahLst/>
                <a:cxnLst/>
                <a:rect l="0" t="0" r="r" b="b"/>
                <a:pathLst>
                  <a:path w="109728" h="109728">
                    <a:moveTo>
                      <a:pt x="109728" y="0"/>
                    </a:moveTo>
                    <a:lnTo>
                      <a:pt x="0" y="109728"/>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2" name="Query token outline"/>
              <p:cNvSpPr/>
              <p:nvPr/>
            </p:nvSpPr>
            <p:spPr>
              <a:xfrm>
                <a:off x="10689336" y="3959352"/>
                <a:ext cx="256032" cy="256032"/>
              </a:xfrm>
              <a:prstGeom prst="rect">
                <a:avLst/>
              </a:prstGeom>
              <a:no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3" name="Query token"/>
              <p:cNvSpPr/>
              <p:nvPr/>
            </p:nvSpPr>
            <p:spPr>
              <a:xfrm>
                <a:off x="10945368" y="3959352"/>
                <a:ext cx="256032" cy="256032"/>
              </a:xfrm>
              <a:prstGeom prst="rect">
                <a:avLst/>
              </a:prstGeom>
              <a:solidFill>
                <a:srgbClr val="C1D9EB"/>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4" name="Connector"/>
              <p:cNvSpPr/>
              <p:nvPr/>
            </p:nvSpPr>
            <p:spPr>
              <a:xfrm>
                <a:off x="10945368" y="3959352"/>
                <a:ext cx="73152" cy="73152"/>
              </a:xfrm>
              <a:custGeom>
                <a:avLst/>
                <a:gdLst/>
                <a:ahLst/>
                <a:cxnLst/>
                <a:rect l="0" t="0" r="r" b="b"/>
                <a:pathLst>
                  <a:path w="73152" h="73152">
                    <a:moveTo>
                      <a:pt x="0" y="73152"/>
                    </a:moveTo>
                    <a:lnTo>
                      <a:pt x="73152"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5" name="Connector"/>
              <p:cNvSpPr/>
              <p:nvPr/>
            </p:nvSpPr>
            <p:spPr>
              <a:xfrm>
                <a:off x="10945368" y="3959352"/>
                <a:ext cx="182880" cy="182880"/>
              </a:xfrm>
              <a:custGeom>
                <a:avLst/>
                <a:gdLst/>
                <a:ahLst/>
                <a:cxnLst/>
                <a:rect l="0" t="0" r="r" b="b"/>
                <a:pathLst>
                  <a:path w="182880" h="182880">
                    <a:moveTo>
                      <a:pt x="0" y="182880"/>
                    </a:moveTo>
                    <a:lnTo>
                      <a:pt x="182880"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6" name="Connector"/>
              <p:cNvSpPr/>
              <p:nvPr/>
            </p:nvSpPr>
            <p:spPr>
              <a:xfrm>
                <a:off x="10981944" y="3995928"/>
                <a:ext cx="219456" cy="219456"/>
              </a:xfrm>
              <a:custGeom>
                <a:avLst/>
                <a:gdLst/>
                <a:ahLst/>
                <a:cxnLst/>
                <a:rect l="0" t="0" r="r" b="b"/>
                <a:pathLst>
                  <a:path w="219456" h="219456">
                    <a:moveTo>
                      <a:pt x="219456" y="0"/>
                    </a:moveTo>
                    <a:lnTo>
                      <a:pt x="0" y="21945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7" name="Connector"/>
              <p:cNvSpPr/>
              <p:nvPr/>
            </p:nvSpPr>
            <p:spPr>
              <a:xfrm>
                <a:off x="11091672" y="4105656"/>
                <a:ext cx="109728" cy="109728"/>
              </a:xfrm>
              <a:custGeom>
                <a:avLst/>
                <a:gdLst/>
                <a:ahLst/>
                <a:cxnLst/>
                <a:rect l="0" t="0" r="r" b="b"/>
                <a:pathLst>
                  <a:path w="109728" h="109728">
                    <a:moveTo>
                      <a:pt x="109728" y="0"/>
                    </a:moveTo>
                    <a:lnTo>
                      <a:pt x="0" y="109728"/>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8" name="Query token outline"/>
              <p:cNvSpPr/>
              <p:nvPr/>
            </p:nvSpPr>
            <p:spPr>
              <a:xfrm>
                <a:off x="10945368" y="3959352"/>
                <a:ext cx="256032" cy="256032"/>
              </a:xfrm>
              <a:prstGeom prst="rect">
                <a:avLst/>
              </a:prstGeom>
              <a:no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9" name="Query token"/>
              <p:cNvSpPr/>
              <p:nvPr/>
            </p:nvSpPr>
            <p:spPr>
              <a:xfrm>
                <a:off x="11201400" y="3959352"/>
                <a:ext cx="256032" cy="256032"/>
              </a:xfrm>
              <a:prstGeom prst="rect">
                <a:avLst/>
              </a:prstGeom>
              <a:solidFill>
                <a:srgbClr val="C1D9EB"/>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0" name="Connector"/>
              <p:cNvSpPr/>
              <p:nvPr/>
            </p:nvSpPr>
            <p:spPr>
              <a:xfrm>
                <a:off x="11201400" y="3959352"/>
                <a:ext cx="73152" cy="73152"/>
              </a:xfrm>
              <a:custGeom>
                <a:avLst/>
                <a:gdLst/>
                <a:ahLst/>
                <a:cxnLst/>
                <a:rect l="0" t="0" r="r" b="b"/>
                <a:pathLst>
                  <a:path w="73152" h="73152">
                    <a:moveTo>
                      <a:pt x="0" y="73152"/>
                    </a:moveTo>
                    <a:lnTo>
                      <a:pt x="73152"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1" name="Connector"/>
              <p:cNvSpPr/>
              <p:nvPr/>
            </p:nvSpPr>
            <p:spPr>
              <a:xfrm>
                <a:off x="11201400" y="3959352"/>
                <a:ext cx="182880" cy="182880"/>
              </a:xfrm>
              <a:custGeom>
                <a:avLst/>
                <a:gdLst/>
                <a:ahLst/>
                <a:cxnLst/>
                <a:rect l="0" t="0" r="r" b="b"/>
                <a:pathLst>
                  <a:path w="182880" h="182880">
                    <a:moveTo>
                      <a:pt x="0" y="182880"/>
                    </a:moveTo>
                    <a:lnTo>
                      <a:pt x="182880"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2" name="Connector"/>
              <p:cNvSpPr/>
              <p:nvPr/>
            </p:nvSpPr>
            <p:spPr>
              <a:xfrm>
                <a:off x="11237976" y="3995928"/>
                <a:ext cx="219456" cy="219456"/>
              </a:xfrm>
              <a:custGeom>
                <a:avLst/>
                <a:gdLst/>
                <a:ahLst/>
                <a:cxnLst/>
                <a:rect l="0" t="0" r="r" b="b"/>
                <a:pathLst>
                  <a:path w="219456" h="219456">
                    <a:moveTo>
                      <a:pt x="219456" y="0"/>
                    </a:moveTo>
                    <a:lnTo>
                      <a:pt x="0" y="21945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3" name="Connector"/>
              <p:cNvSpPr/>
              <p:nvPr/>
            </p:nvSpPr>
            <p:spPr>
              <a:xfrm>
                <a:off x="11347704" y="4105656"/>
                <a:ext cx="109728" cy="109728"/>
              </a:xfrm>
              <a:custGeom>
                <a:avLst/>
                <a:gdLst/>
                <a:ahLst/>
                <a:cxnLst/>
                <a:rect l="0" t="0" r="r" b="b"/>
                <a:pathLst>
                  <a:path w="109728" h="109728">
                    <a:moveTo>
                      <a:pt x="109728" y="0"/>
                    </a:moveTo>
                    <a:lnTo>
                      <a:pt x="0" y="109728"/>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Query token outline"/>
              <p:cNvSpPr/>
              <p:nvPr/>
            </p:nvSpPr>
            <p:spPr>
              <a:xfrm>
                <a:off x="11201400" y="3959352"/>
                <a:ext cx="256032" cy="256032"/>
              </a:xfrm>
              <a:prstGeom prst="rect">
                <a:avLst/>
              </a:prstGeom>
              <a:no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05" name="Quantized Object agent query set"/>
            <p:cNvGrpSpPr/>
            <p:nvPr/>
          </p:nvGrpSpPr>
          <p:grpSpPr>
            <a:xfrm>
              <a:off x="14282928" y="3813048"/>
              <a:ext cx="1508760" cy="548640"/>
              <a:chOff x="14282928" y="3813048"/>
              <a:chExt cx="1508760" cy="548640"/>
            </a:xfrm>
          </p:grpSpPr>
          <p:sp>
            <p:nvSpPr>
              <p:cNvPr id="306" name="Queries dotted frame"/>
              <p:cNvSpPr/>
              <p:nvPr/>
            </p:nvSpPr>
            <p:spPr>
              <a:xfrm>
                <a:off x="14282928" y="3813048"/>
                <a:ext cx="1508760" cy="548640"/>
              </a:xfrm>
              <a:prstGeom prst="rect">
                <a:avLst/>
              </a:prstGeom>
              <a:noFill/>
              <a:ln w="16459" cap="flat">
                <a:solidFill>
                  <a:srgbClr val="233F65"/>
                </a:solidFill>
                <a:custDash>
                  <a:ds d="111111" sp="166667"/>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Query association arc"/>
              <p:cNvSpPr/>
              <p:nvPr/>
            </p:nvSpPr>
            <p:spPr>
              <a:xfrm>
                <a:off x="14474952" y="3877056"/>
                <a:ext cx="1106424" cy="192024"/>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Query association arc"/>
              <p:cNvSpPr/>
              <p:nvPr/>
            </p:nvSpPr>
            <p:spPr>
              <a:xfrm>
                <a:off x="14465808" y="3886200"/>
                <a:ext cx="987552" cy="347472"/>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Query association arc"/>
              <p:cNvSpPr/>
              <p:nvPr/>
            </p:nvSpPr>
            <p:spPr>
              <a:xfrm>
                <a:off x="14511528" y="3941064"/>
                <a:ext cx="1106424" cy="356616"/>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Query token"/>
              <p:cNvSpPr/>
              <p:nvPr/>
            </p:nvSpPr>
            <p:spPr>
              <a:xfrm>
                <a:off x="14346936" y="3959352"/>
                <a:ext cx="256032" cy="256032"/>
              </a:xfrm>
              <a:prstGeom prst="rect">
                <a:avLst/>
              </a:prstGeom>
              <a:solidFill>
                <a:srgbClr val="4FA6C4"/>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Connector"/>
              <p:cNvSpPr/>
              <p:nvPr/>
            </p:nvSpPr>
            <p:spPr>
              <a:xfrm>
                <a:off x="14346936" y="3959352"/>
                <a:ext cx="73152" cy="73152"/>
              </a:xfrm>
              <a:custGeom>
                <a:avLst/>
                <a:gdLst/>
                <a:ahLst/>
                <a:cxnLst/>
                <a:rect l="0" t="0" r="r" b="b"/>
                <a:pathLst>
                  <a:path w="73152" h="73152">
                    <a:moveTo>
                      <a:pt x="0" y="73152"/>
                    </a:moveTo>
                    <a:lnTo>
                      <a:pt x="73152"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Connector"/>
              <p:cNvSpPr/>
              <p:nvPr/>
            </p:nvSpPr>
            <p:spPr>
              <a:xfrm>
                <a:off x="14346936" y="3959352"/>
                <a:ext cx="182880" cy="182880"/>
              </a:xfrm>
              <a:custGeom>
                <a:avLst/>
                <a:gdLst/>
                <a:ahLst/>
                <a:cxnLst/>
                <a:rect l="0" t="0" r="r" b="b"/>
                <a:pathLst>
                  <a:path w="182880" h="182880">
                    <a:moveTo>
                      <a:pt x="0" y="182880"/>
                    </a:moveTo>
                    <a:lnTo>
                      <a:pt x="182880"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Connector"/>
              <p:cNvSpPr/>
              <p:nvPr/>
            </p:nvSpPr>
            <p:spPr>
              <a:xfrm>
                <a:off x="14383512" y="3995928"/>
                <a:ext cx="219456" cy="219456"/>
              </a:xfrm>
              <a:custGeom>
                <a:avLst/>
                <a:gdLst/>
                <a:ahLst/>
                <a:cxnLst/>
                <a:rect l="0" t="0" r="r" b="b"/>
                <a:pathLst>
                  <a:path w="219456" h="219456">
                    <a:moveTo>
                      <a:pt x="219456" y="0"/>
                    </a:moveTo>
                    <a:lnTo>
                      <a:pt x="0" y="21945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Connector"/>
              <p:cNvSpPr/>
              <p:nvPr/>
            </p:nvSpPr>
            <p:spPr>
              <a:xfrm>
                <a:off x="14493240" y="4105656"/>
                <a:ext cx="109728" cy="109728"/>
              </a:xfrm>
              <a:custGeom>
                <a:avLst/>
                <a:gdLst/>
                <a:ahLst/>
                <a:cxnLst/>
                <a:rect l="0" t="0" r="r" b="b"/>
                <a:pathLst>
                  <a:path w="109728" h="109728">
                    <a:moveTo>
                      <a:pt x="109728" y="0"/>
                    </a:moveTo>
                    <a:lnTo>
                      <a:pt x="0" y="109728"/>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Query token outline"/>
              <p:cNvSpPr/>
              <p:nvPr/>
            </p:nvSpPr>
            <p:spPr>
              <a:xfrm>
                <a:off x="14346936" y="3959352"/>
                <a:ext cx="256032" cy="256032"/>
              </a:xfrm>
              <a:prstGeom prst="rect">
                <a:avLst/>
              </a:prstGeom>
              <a:no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
              <p:cNvSpPr txBox="1"/>
              <p:nvPr/>
            </p:nvSpPr>
            <p:spPr>
              <a:xfrm>
                <a:off x="14648688" y="3941064"/>
                <a:ext cx="274320" cy="228600"/>
              </a:xfrm>
              <a:prstGeom prst="rect">
                <a:avLst/>
              </a:prstGeom>
              <a:noFill/>
            </p:spPr>
            <p:txBody>
              <a:bodyPr wrap="none" lIns="0" rIns="0" tIns="0" bIns="0" anchor="ctr"/>
              <a:lstStyle/>
              <a:p>
                <a:pPr algn="ctr">
                  <a:lnSpc>
                    <a:spcPct val="100000"/>
                  </a:lnSpc>
                  <a:spcBef>
                    <a:spcPts val="0"/>
                  </a:spcBef>
                  <a:spcAft>
                    <a:spcPts val="0"/>
                  </a:spcAft>
                </a:pPr>
                <a:r>
                  <a:rPr sz="1800" b="1" i="0" dirty="0">
                    <a:solidFill>
                      <a:srgbClr val="101010"/>
                    </a:solidFill>
                    <a:latin typeface="Arial"/>
                  </a:rPr>
                  <a:t>···</a:t>
                </a:r>
              </a:p>
            </p:txBody>
          </p:sp>
          <p:sp>
            <p:nvSpPr>
              <p:cNvPr id="317" name="Query token"/>
              <p:cNvSpPr/>
              <p:nvPr/>
            </p:nvSpPr>
            <p:spPr>
              <a:xfrm>
                <a:off x="14968728" y="3959352"/>
                <a:ext cx="256032" cy="256032"/>
              </a:xfrm>
              <a:prstGeom prst="rect">
                <a:avLst/>
              </a:prstGeom>
              <a:solidFill>
                <a:srgbClr val="4FA6C4"/>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Connector"/>
              <p:cNvSpPr/>
              <p:nvPr/>
            </p:nvSpPr>
            <p:spPr>
              <a:xfrm>
                <a:off x="14968728" y="3959352"/>
                <a:ext cx="73152" cy="73152"/>
              </a:xfrm>
              <a:custGeom>
                <a:avLst/>
                <a:gdLst/>
                <a:ahLst/>
                <a:cxnLst/>
                <a:rect l="0" t="0" r="r" b="b"/>
                <a:pathLst>
                  <a:path w="73152" h="73152">
                    <a:moveTo>
                      <a:pt x="0" y="73152"/>
                    </a:moveTo>
                    <a:lnTo>
                      <a:pt x="73152"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Connector"/>
              <p:cNvSpPr/>
              <p:nvPr/>
            </p:nvSpPr>
            <p:spPr>
              <a:xfrm>
                <a:off x="14968728" y="3959352"/>
                <a:ext cx="182880" cy="182880"/>
              </a:xfrm>
              <a:custGeom>
                <a:avLst/>
                <a:gdLst/>
                <a:ahLst/>
                <a:cxnLst/>
                <a:rect l="0" t="0" r="r" b="b"/>
                <a:pathLst>
                  <a:path w="182880" h="182880">
                    <a:moveTo>
                      <a:pt x="0" y="182880"/>
                    </a:moveTo>
                    <a:lnTo>
                      <a:pt x="182880"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Connector"/>
              <p:cNvSpPr/>
              <p:nvPr/>
            </p:nvSpPr>
            <p:spPr>
              <a:xfrm>
                <a:off x="15005304" y="3995928"/>
                <a:ext cx="219456" cy="219456"/>
              </a:xfrm>
              <a:custGeom>
                <a:avLst/>
                <a:gdLst/>
                <a:ahLst/>
                <a:cxnLst/>
                <a:rect l="0" t="0" r="r" b="b"/>
                <a:pathLst>
                  <a:path w="219456" h="219456">
                    <a:moveTo>
                      <a:pt x="219456" y="0"/>
                    </a:moveTo>
                    <a:lnTo>
                      <a:pt x="0" y="21945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Connector"/>
              <p:cNvSpPr/>
              <p:nvPr/>
            </p:nvSpPr>
            <p:spPr>
              <a:xfrm>
                <a:off x="15115032" y="4105656"/>
                <a:ext cx="109728" cy="109728"/>
              </a:xfrm>
              <a:custGeom>
                <a:avLst/>
                <a:gdLst/>
                <a:ahLst/>
                <a:cxnLst/>
                <a:rect l="0" t="0" r="r" b="b"/>
                <a:pathLst>
                  <a:path w="109728" h="109728">
                    <a:moveTo>
                      <a:pt x="109728" y="0"/>
                    </a:moveTo>
                    <a:lnTo>
                      <a:pt x="0" y="109728"/>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Query token outline"/>
              <p:cNvSpPr/>
              <p:nvPr/>
            </p:nvSpPr>
            <p:spPr>
              <a:xfrm>
                <a:off x="14968728" y="3959352"/>
                <a:ext cx="256032" cy="256032"/>
              </a:xfrm>
              <a:prstGeom prst="rect">
                <a:avLst/>
              </a:prstGeom>
              <a:no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Query token"/>
              <p:cNvSpPr/>
              <p:nvPr/>
            </p:nvSpPr>
            <p:spPr>
              <a:xfrm>
                <a:off x="15224760" y="3959352"/>
                <a:ext cx="256032" cy="256032"/>
              </a:xfrm>
              <a:prstGeom prst="rect">
                <a:avLst/>
              </a:prstGeom>
              <a:solidFill>
                <a:srgbClr val="4FA6C4"/>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Connector"/>
              <p:cNvSpPr/>
              <p:nvPr/>
            </p:nvSpPr>
            <p:spPr>
              <a:xfrm>
                <a:off x="15224760" y="3959352"/>
                <a:ext cx="73152" cy="73152"/>
              </a:xfrm>
              <a:custGeom>
                <a:avLst/>
                <a:gdLst/>
                <a:ahLst/>
                <a:cxnLst/>
                <a:rect l="0" t="0" r="r" b="b"/>
                <a:pathLst>
                  <a:path w="73152" h="73152">
                    <a:moveTo>
                      <a:pt x="0" y="73152"/>
                    </a:moveTo>
                    <a:lnTo>
                      <a:pt x="73152"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Connector"/>
              <p:cNvSpPr/>
              <p:nvPr/>
            </p:nvSpPr>
            <p:spPr>
              <a:xfrm>
                <a:off x="15224760" y="3959352"/>
                <a:ext cx="182880" cy="182880"/>
              </a:xfrm>
              <a:custGeom>
                <a:avLst/>
                <a:gdLst/>
                <a:ahLst/>
                <a:cxnLst/>
                <a:rect l="0" t="0" r="r" b="b"/>
                <a:pathLst>
                  <a:path w="182880" h="182880">
                    <a:moveTo>
                      <a:pt x="0" y="182880"/>
                    </a:moveTo>
                    <a:lnTo>
                      <a:pt x="182880"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Connector"/>
              <p:cNvSpPr/>
              <p:nvPr/>
            </p:nvSpPr>
            <p:spPr>
              <a:xfrm>
                <a:off x="15261336" y="3995928"/>
                <a:ext cx="219456" cy="219456"/>
              </a:xfrm>
              <a:custGeom>
                <a:avLst/>
                <a:gdLst/>
                <a:ahLst/>
                <a:cxnLst/>
                <a:rect l="0" t="0" r="r" b="b"/>
                <a:pathLst>
                  <a:path w="219456" h="219456">
                    <a:moveTo>
                      <a:pt x="219456" y="0"/>
                    </a:moveTo>
                    <a:lnTo>
                      <a:pt x="0" y="21945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Connector"/>
              <p:cNvSpPr/>
              <p:nvPr/>
            </p:nvSpPr>
            <p:spPr>
              <a:xfrm>
                <a:off x="15371064" y="4105656"/>
                <a:ext cx="109728" cy="109728"/>
              </a:xfrm>
              <a:custGeom>
                <a:avLst/>
                <a:gdLst/>
                <a:ahLst/>
                <a:cxnLst/>
                <a:rect l="0" t="0" r="r" b="b"/>
                <a:pathLst>
                  <a:path w="109728" h="109728">
                    <a:moveTo>
                      <a:pt x="109728" y="0"/>
                    </a:moveTo>
                    <a:lnTo>
                      <a:pt x="0" y="109728"/>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Query token outline"/>
              <p:cNvSpPr/>
              <p:nvPr/>
            </p:nvSpPr>
            <p:spPr>
              <a:xfrm>
                <a:off x="15224760" y="3959352"/>
                <a:ext cx="256032" cy="256032"/>
              </a:xfrm>
              <a:prstGeom prst="rect">
                <a:avLst/>
              </a:prstGeom>
              <a:no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Query token"/>
              <p:cNvSpPr/>
              <p:nvPr/>
            </p:nvSpPr>
            <p:spPr>
              <a:xfrm>
                <a:off x="15480792" y="3959352"/>
                <a:ext cx="256032" cy="256032"/>
              </a:xfrm>
              <a:prstGeom prst="rect">
                <a:avLst/>
              </a:prstGeom>
              <a:solidFill>
                <a:srgbClr val="4FA6C4"/>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Connector"/>
              <p:cNvSpPr/>
              <p:nvPr/>
            </p:nvSpPr>
            <p:spPr>
              <a:xfrm>
                <a:off x="15480792" y="3959352"/>
                <a:ext cx="73152" cy="73152"/>
              </a:xfrm>
              <a:custGeom>
                <a:avLst/>
                <a:gdLst/>
                <a:ahLst/>
                <a:cxnLst/>
                <a:rect l="0" t="0" r="r" b="b"/>
                <a:pathLst>
                  <a:path w="73152" h="73152">
                    <a:moveTo>
                      <a:pt x="0" y="73152"/>
                    </a:moveTo>
                    <a:lnTo>
                      <a:pt x="73152"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Connector"/>
              <p:cNvSpPr/>
              <p:nvPr/>
            </p:nvSpPr>
            <p:spPr>
              <a:xfrm>
                <a:off x="15480792" y="3959352"/>
                <a:ext cx="182880" cy="182880"/>
              </a:xfrm>
              <a:custGeom>
                <a:avLst/>
                <a:gdLst/>
                <a:ahLst/>
                <a:cxnLst/>
                <a:rect l="0" t="0" r="r" b="b"/>
                <a:pathLst>
                  <a:path w="182880" h="182880">
                    <a:moveTo>
                      <a:pt x="0" y="182880"/>
                    </a:moveTo>
                    <a:lnTo>
                      <a:pt x="182880"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Connector"/>
              <p:cNvSpPr/>
              <p:nvPr/>
            </p:nvSpPr>
            <p:spPr>
              <a:xfrm>
                <a:off x="15517368" y="3995928"/>
                <a:ext cx="219456" cy="219456"/>
              </a:xfrm>
              <a:custGeom>
                <a:avLst/>
                <a:gdLst/>
                <a:ahLst/>
                <a:cxnLst/>
                <a:rect l="0" t="0" r="r" b="b"/>
                <a:pathLst>
                  <a:path w="219456" h="219456">
                    <a:moveTo>
                      <a:pt x="219456" y="0"/>
                    </a:moveTo>
                    <a:lnTo>
                      <a:pt x="0" y="21945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Connector"/>
              <p:cNvSpPr/>
              <p:nvPr/>
            </p:nvSpPr>
            <p:spPr>
              <a:xfrm>
                <a:off x="15627096" y="4105656"/>
                <a:ext cx="109728" cy="109728"/>
              </a:xfrm>
              <a:custGeom>
                <a:avLst/>
                <a:gdLst/>
                <a:ahLst/>
                <a:cxnLst/>
                <a:rect l="0" t="0" r="r" b="b"/>
                <a:pathLst>
                  <a:path w="109728" h="109728">
                    <a:moveTo>
                      <a:pt x="109728" y="0"/>
                    </a:moveTo>
                    <a:lnTo>
                      <a:pt x="0" y="109728"/>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Query token outline"/>
              <p:cNvSpPr/>
              <p:nvPr/>
            </p:nvSpPr>
            <p:spPr>
              <a:xfrm>
                <a:off x="15480792" y="3959352"/>
                <a:ext cx="256032" cy="256032"/>
              </a:xfrm>
              <a:prstGeom prst="rect">
                <a:avLst/>
              </a:prstGeom>
              <a:noFill/>
              <a:ln w="16459"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35" name="Query ins_pc"/>
            <p:cNvGrpSpPr/>
            <p:nvPr/>
          </p:nvGrpSpPr>
          <p:grpSpPr>
            <a:xfrm>
              <a:off x="10012680" y="4343583"/>
              <a:ext cx="589745" cy="369814"/>
              <a:chOff x="10012680" y="4343583"/>
              <a:chExt cx="589745" cy="369814"/>
            </a:xfrm>
          </p:grpSpPr>
          <p:sp>
            <p:nvSpPr>
              <p:cNvPr id="336" name="Equation q"/>
              <p:cNvSpPr txBox="1"/>
              <p:nvPr/>
            </p:nvSpPr>
            <p:spPr>
              <a:xfrm>
                <a:off x="10012680" y="4343583"/>
                <a:ext cx="160020" cy="344729"/>
              </a:xfrm>
              <a:prstGeom prst="rect">
                <a:avLst/>
              </a:prstGeom>
              <a:noFill/>
            </p:spPr>
            <p:txBody>
              <a:bodyPr wrap="none" lIns="0" rIns="0" tIns="0" bIns="0" anchor="ctr"/>
              <a:lstStyle/>
              <a:p>
                <a:pPr algn="l">
                  <a:lnSpc>
                    <a:spcPct val="100000"/>
                  </a:lnSpc>
                  <a:spcBef>
                    <a:spcPts val="0"/>
                  </a:spcBef>
                  <a:spcAft>
                    <a:spcPts val="0"/>
                  </a:spcAft>
                </a:pPr>
                <a:r>
                  <a:rPr sz="2088" b="0" i="1" dirty="0">
                    <a:solidFill>
                      <a:srgbClr val="101010"/>
                    </a:solidFill>
                    <a:latin typeface="Times New Roman"/>
                  </a:rPr>
                  <a:t>q</a:t>
                </a:r>
              </a:p>
            </p:txBody>
          </p:sp>
          <p:sp>
            <p:nvSpPr>
              <p:cNvPr id="337" name="Equation ins_pc"/>
              <p:cNvSpPr txBox="1"/>
              <p:nvPr/>
            </p:nvSpPr>
            <p:spPr>
              <a:xfrm>
                <a:off x="10145268" y="4499665"/>
                <a:ext cx="457157" cy="213732"/>
              </a:xfrm>
              <a:prstGeom prst="rect">
                <a:avLst/>
              </a:prstGeom>
              <a:noFill/>
            </p:spPr>
            <p:txBody>
              <a:bodyPr wrap="none" lIns="0" rIns="0" tIns="0" bIns="0" anchor="ctr"/>
              <a:lstStyle/>
              <a:p>
                <a:pPr algn="l">
                  <a:lnSpc>
                    <a:spcPct val="100000"/>
                  </a:lnSpc>
                  <a:spcBef>
                    <a:spcPts val="0"/>
                  </a:spcBef>
                  <a:spcAft>
                    <a:spcPts val="0"/>
                  </a:spcAft>
                </a:pPr>
                <a:r>
                  <a:rPr sz="1294" b="0" i="1" dirty="0">
                    <a:solidFill>
                      <a:srgbClr val="101010"/>
                    </a:solidFill>
                    <a:latin typeface="Times New Roman"/>
                  </a:rPr>
                  <a:t>ins_pc</a:t>
                </a:r>
              </a:p>
            </p:txBody>
          </p:sp>
        </p:grpSp>
        <p:grpSp>
          <p:nvGrpSpPr>
            <p:cNvPr id="338" name="Query ins_pc"/>
            <p:cNvGrpSpPr/>
            <p:nvPr/>
          </p:nvGrpSpPr>
          <p:grpSpPr>
            <a:xfrm>
              <a:off x="14356080" y="4343583"/>
              <a:ext cx="647752" cy="369814"/>
              <a:chOff x="14356080" y="4343583"/>
              <a:chExt cx="647752" cy="369814"/>
            </a:xfrm>
          </p:grpSpPr>
          <p:sp>
            <p:nvSpPr>
              <p:cNvPr id="339" name="Equation q′"/>
              <p:cNvSpPr txBox="1"/>
              <p:nvPr/>
            </p:nvSpPr>
            <p:spPr>
              <a:xfrm>
                <a:off x="14356080" y="4343583"/>
                <a:ext cx="218027" cy="344729"/>
              </a:xfrm>
              <a:prstGeom prst="rect">
                <a:avLst/>
              </a:prstGeom>
              <a:noFill/>
            </p:spPr>
            <p:txBody>
              <a:bodyPr wrap="none" lIns="0" rIns="0" tIns="0" bIns="0" anchor="ctr"/>
              <a:lstStyle/>
              <a:p>
                <a:pPr algn="l">
                  <a:lnSpc>
                    <a:spcPct val="100000"/>
                  </a:lnSpc>
                  <a:spcBef>
                    <a:spcPts val="0"/>
                  </a:spcBef>
                  <a:spcAft>
                    <a:spcPts val="0"/>
                  </a:spcAft>
                </a:pPr>
                <a:r>
                  <a:rPr sz="2088" b="0" i="1" dirty="0">
                    <a:solidFill>
                      <a:srgbClr val="101010"/>
                    </a:solidFill>
                    <a:latin typeface="Times New Roman"/>
                  </a:rPr>
                  <a:t>q′</a:t>
                </a:r>
              </a:p>
            </p:txBody>
          </p:sp>
          <p:sp>
            <p:nvSpPr>
              <p:cNvPr id="340" name="Equation ins_pc"/>
              <p:cNvSpPr txBox="1"/>
              <p:nvPr/>
            </p:nvSpPr>
            <p:spPr>
              <a:xfrm>
                <a:off x="14546675" y="4499665"/>
                <a:ext cx="457157" cy="213732"/>
              </a:xfrm>
              <a:prstGeom prst="rect">
                <a:avLst/>
              </a:prstGeom>
              <a:noFill/>
            </p:spPr>
            <p:txBody>
              <a:bodyPr wrap="none" lIns="0" rIns="0" tIns="0" bIns="0" anchor="ctr"/>
              <a:lstStyle/>
              <a:p>
                <a:pPr algn="l">
                  <a:lnSpc>
                    <a:spcPct val="100000"/>
                  </a:lnSpc>
                  <a:spcBef>
                    <a:spcPts val="0"/>
                  </a:spcBef>
                  <a:spcAft>
                    <a:spcPts val="0"/>
                  </a:spcAft>
                </a:pPr>
                <a:r>
                  <a:rPr sz="1294" b="0" i="1" dirty="0">
                    <a:solidFill>
                      <a:srgbClr val="101010"/>
                    </a:solidFill>
                    <a:latin typeface="Times New Roman"/>
                  </a:rPr>
                  <a:t>ins_pc</a:t>
                </a:r>
              </a:p>
            </p:txBody>
          </p:sp>
        </p:grpSp>
        <p:sp>
          <p:nvSpPr>
            <p:cNvPr id="341" name="Connector"/>
            <p:cNvSpPr/>
            <p:nvPr/>
          </p:nvSpPr>
          <p:spPr>
            <a:xfrm>
              <a:off x="11512296" y="4096512"/>
              <a:ext cx="292608" cy="91"/>
            </a:xfrm>
            <a:custGeom>
              <a:avLst/>
              <a:gdLst/>
              <a:ahLst/>
              <a:cxnLst/>
              <a:rect l="0" t="0" r="r" b="b"/>
              <a:pathLst>
                <a:path w="292608" h="91">
                  <a:moveTo>
                    <a:pt x="0" y="0"/>
                  </a:moveTo>
                  <a:lnTo>
                    <a:pt x="292608" y="0"/>
                  </a:lnTo>
                </a:path>
              </a:pathLst>
            </a:custGeom>
            <a:noFill/>
            <a:ln w="36576" cap="flat">
              <a:solidFill>
                <a:srgbClr val="7FB9C9"/>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2" name="Arrowhead"/>
            <p:cNvSpPr/>
            <p:nvPr/>
          </p:nvSpPr>
          <p:spPr>
            <a:xfrm>
              <a:off x="11695176" y="4043843"/>
              <a:ext cx="109728" cy="105339"/>
            </a:xfrm>
            <a:custGeom>
              <a:avLst/>
              <a:gdLst/>
              <a:ahLst/>
              <a:cxnLst/>
              <a:rect l="0" t="0" r="r" b="b"/>
              <a:pathLst>
                <a:path w="109728" h="105339">
                  <a:moveTo>
                    <a:pt x="109728" y="52669"/>
                  </a:moveTo>
                  <a:lnTo>
                    <a:pt x="0" y="105339"/>
                  </a:lnTo>
                  <a:lnTo>
                    <a:pt x="0" y="0"/>
                  </a:lnTo>
                  <a:close/>
                </a:path>
              </a:pathLst>
            </a:custGeom>
            <a:solidFill>
              <a:srgbClr val="7FB9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3" name="Query projection MLP"/>
            <p:cNvSpPr/>
            <p:nvPr/>
          </p:nvSpPr>
          <p:spPr>
            <a:xfrm>
              <a:off x="11804904" y="3913632"/>
              <a:ext cx="804672" cy="347472"/>
            </a:xfrm>
            <a:prstGeom prst="roundRect">
              <a:avLst>
                <a:gd name="adj" fmla="val 18421"/>
              </a:avLst>
            </a:prstGeom>
            <a:solidFill>
              <a:srgbClr val="E3EFD9"/>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4" name="MLP"/>
            <p:cNvSpPr txBox="1"/>
            <p:nvPr/>
          </p:nvSpPr>
          <p:spPr>
            <a:xfrm>
              <a:off x="11841480" y="3931920"/>
              <a:ext cx="731520" cy="310896"/>
            </a:xfrm>
            <a:prstGeom prst="rect">
              <a:avLst/>
            </a:prstGeom>
            <a:noFill/>
          </p:spPr>
          <p:txBody>
            <a:bodyPr wrap="none" lIns="0" rIns="0" tIns="0" bIns="0" anchor="ctr"/>
            <a:lstStyle/>
            <a:p>
              <a:pPr algn="ctr">
                <a:lnSpc>
                  <a:spcPct val="100000"/>
                </a:lnSpc>
                <a:spcBef>
                  <a:spcPts val="0"/>
                </a:spcBef>
                <a:spcAft>
                  <a:spcPts val="0"/>
                </a:spcAft>
              </a:pPr>
              <a:r>
                <a:rPr sz="2088" b="0" i="0" dirty="0">
                  <a:solidFill>
                    <a:srgbClr val="101010"/>
                  </a:solidFill>
                  <a:latin typeface="Arial"/>
                </a:rPr>
                <a:t>MLP</a:t>
              </a:r>
            </a:p>
          </p:txBody>
        </p:sp>
        <p:sp>
          <p:nvSpPr>
            <p:cNvPr id="345" name="Connector"/>
            <p:cNvSpPr/>
            <p:nvPr/>
          </p:nvSpPr>
          <p:spPr>
            <a:xfrm>
              <a:off x="12609576" y="4096512"/>
              <a:ext cx="292608" cy="91"/>
            </a:xfrm>
            <a:custGeom>
              <a:avLst/>
              <a:gdLst/>
              <a:ahLst/>
              <a:cxnLst/>
              <a:rect l="0" t="0" r="r" b="b"/>
              <a:pathLst>
                <a:path w="292608" h="91">
                  <a:moveTo>
                    <a:pt x="0" y="0"/>
                  </a:moveTo>
                  <a:lnTo>
                    <a:pt x="292608" y="0"/>
                  </a:lnTo>
                </a:path>
              </a:pathLst>
            </a:custGeom>
            <a:noFill/>
            <a:ln w="36576" cap="flat">
              <a:solidFill>
                <a:srgbClr val="7FB9C9"/>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6" name="Arrowhead"/>
            <p:cNvSpPr/>
            <p:nvPr/>
          </p:nvSpPr>
          <p:spPr>
            <a:xfrm>
              <a:off x="12792456" y="4043843"/>
              <a:ext cx="109728" cy="105339"/>
            </a:xfrm>
            <a:custGeom>
              <a:avLst/>
              <a:gdLst/>
              <a:ahLst/>
              <a:cxnLst/>
              <a:rect l="0" t="0" r="r" b="b"/>
              <a:pathLst>
                <a:path w="109728" h="105339">
                  <a:moveTo>
                    <a:pt x="109728" y="52669"/>
                  </a:moveTo>
                  <a:lnTo>
                    <a:pt x="0" y="105339"/>
                  </a:lnTo>
                  <a:lnTo>
                    <a:pt x="0" y="0"/>
                  </a:lnTo>
                  <a:close/>
                </a:path>
              </a:pathLst>
            </a:custGeom>
            <a:solidFill>
              <a:srgbClr val="7FB9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7" name="Consistency loss block"/>
            <p:cNvSpPr/>
            <p:nvPr/>
          </p:nvSpPr>
          <p:spPr>
            <a:xfrm>
              <a:off x="12902184" y="3858768"/>
              <a:ext cx="1042416" cy="466344"/>
            </a:xfrm>
            <a:prstGeom prst="roundRect">
              <a:avLst>
                <a:gd name="adj" fmla="val 17647"/>
              </a:avLst>
            </a:prstGeom>
            <a:solidFill>
              <a:srgbClr val="E3EFD9"/>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348" name="Consistency loss"/>
            <p:cNvGrpSpPr/>
            <p:nvPr/>
          </p:nvGrpSpPr>
          <p:grpSpPr>
            <a:xfrm>
              <a:off x="13094208" y="3911620"/>
              <a:ext cx="654653" cy="374627"/>
              <a:chOff x="13094208" y="3911620"/>
              <a:chExt cx="654653" cy="374627"/>
            </a:xfrm>
          </p:grpSpPr>
          <p:sp>
            <p:nvSpPr>
              <p:cNvPr id="349" name="Equation ℒ"/>
              <p:cNvSpPr txBox="1"/>
              <p:nvPr/>
            </p:nvSpPr>
            <p:spPr>
              <a:xfrm>
                <a:off x="13094208" y="3911620"/>
                <a:ext cx="245702" cy="368503"/>
              </a:xfrm>
              <a:prstGeom prst="rect">
                <a:avLst/>
              </a:prstGeom>
              <a:noFill/>
            </p:spPr>
            <p:txBody>
              <a:bodyPr wrap="none" lIns="0" rIns="0" tIns="0" bIns="0" anchor="ctr"/>
              <a:lstStyle/>
              <a:p>
                <a:pPr algn="l">
                  <a:lnSpc>
                    <a:spcPct val="100000"/>
                  </a:lnSpc>
                  <a:spcBef>
                    <a:spcPts val="0"/>
                  </a:spcBef>
                  <a:spcAft>
                    <a:spcPts val="0"/>
                  </a:spcAft>
                </a:pPr>
                <a:r>
                  <a:rPr sz="2232" b="0" i="0" dirty="0">
                    <a:solidFill>
                      <a:srgbClr val="101010"/>
                    </a:solidFill>
                    <a:latin typeface="Latin Modern Math"/>
                  </a:rPr>
                  <a:t>ℒ</a:t>
                </a:r>
              </a:p>
            </p:txBody>
          </p:sp>
          <p:sp>
            <p:nvSpPr>
              <p:cNvPr id="350" name="Equation consist"/>
              <p:cNvSpPr txBox="1"/>
              <p:nvPr/>
            </p:nvSpPr>
            <p:spPr>
              <a:xfrm>
                <a:off x="13312478" y="4094625"/>
                <a:ext cx="436383" cy="191622"/>
              </a:xfrm>
              <a:prstGeom prst="rect">
                <a:avLst/>
              </a:prstGeom>
              <a:noFill/>
            </p:spPr>
            <p:txBody>
              <a:bodyPr wrap="none" lIns="0" rIns="0" tIns="0" bIns="0" anchor="ctr"/>
              <a:lstStyle/>
              <a:p>
                <a:pPr algn="l">
                  <a:lnSpc>
                    <a:spcPct val="100000"/>
                  </a:lnSpc>
                  <a:spcBef>
                    <a:spcPts val="0"/>
                  </a:spcBef>
                  <a:spcAft>
                    <a:spcPts val="0"/>
                  </a:spcAft>
                </a:pPr>
                <a:r>
                  <a:rPr sz="1160" b="0" i="0" dirty="0">
                    <a:solidFill>
                      <a:srgbClr val="101010"/>
                    </a:solidFill>
                    <a:latin typeface="Times New Roman"/>
                  </a:rPr>
                  <a:t>consist</a:t>
                </a:r>
              </a:p>
            </p:txBody>
          </p:sp>
        </p:grpSp>
        <p:sp>
          <p:nvSpPr>
            <p:cNvPr id="351" name="Connector"/>
            <p:cNvSpPr/>
            <p:nvPr/>
          </p:nvSpPr>
          <p:spPr>
            <a:xfrm>
              <a:off x="13944600" y="4096512"/>
              <a:ext cx="338328" cy="91"/>
            </a:xfrm>
            <a:custGeom>
              <a:avLst/>
              <a:gdLst/>
              <a:ahLst/>
              <a:cxnLst/>
              <a:rect l="0" t="0" r="r" b="b"/>
              <a:pathLst>
                <a:path w="338328" h="91">
                  <a:moveTo>
                    <a:pt x="338328" y="0"/>
                  </a:moveTo>
                  <a:lnTo>
                    <a:pt x="0" y="0"/>
                  </a:lnTo>
                </a:path>
              </a:pathLst>
            </a:custGeom>
            <a:noFill/>
            <a:ln w="36576" cap="flat">
              <a:solidFill>
                <a:srgbClr val="2E667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2" name="Arrowhead"/>
            <p:cNvSpPr/>
            <p:nvPr/>
          </p:nvSpPr>
          <p:spPr>
            <a:xfrm>
              <a:off x="13944600" y="4043843"/>
              <a:ext cx="109728" cy="105339"/>
            </a:xfrm>
            <a:custGeom>
              <a:avLst/>
              <a:gdLst/>
              <a:ahLst/>
              <a:cxnLst/>
              <a:rect l="0" t="0" r="r" b="b"/>
              <a:pathLst>
                <a:path w="109728" h="105339">
                  <a:moveTo>
                    <a:pt x="0" y="52669"/>
                  </a:moveTo>
                  <a:lnTo>
                    <a:pt x="109728" y="0"/>
                  </a:lnTo>
                  <a:lnTo>
                    <a:pt x="109728" y="105339"/>
                  </a:lnTo>
                  <a:close/>
                </a:path>
              </a:pathLst>
            </a:custGeom>
            <a:solidFill>
              <a:srgbClr val="2E667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353" name="c — Cross-modal semantic enhancement"/>
          <p:cNvGrpSpPr/>
          <p:nvPr/>
        </p:nvGrpSpPr>
        <p:grpSpPr>
          <a:xfrm>
            <a:off x="210312" y="4370832"/>
            <a:ext cx="15508224" cy="4507992"/>
            <a:chOff x="210312" y="4370832"/>
            <a:chExt cx="15508224" cy="4507992"/>
          </a:xfrm>
        </p:grpSpPr>
        <p:sp>
          <p:nvSpPr>
            <p:cNvPr id="354" name="Decoder background"/>
            <p:cNvSpPr/>
            <p:nvPr/>
          </p:nvSpPr>
          <p:spPr>
            <a:xfrm>
              <a:off x="5861304" y="6300216"/>
              <a:ext cx="7022592" cy="2505456"/>
            </a:xfrm>
            <a:prstGeom prst="roundRect">
              <a:avLst>
                <a:gd name="adj" fmla="val 6204"/>
              </a:avLst>
            </a:prstGeom>
            <a:solidFill>
              <a:srgbClr val="F9D5A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5" name="Source point cloud image" descr="cloud.png"/>
            <p:cNvPicPr>
              <a:picLocks noChangeAspect="1"/>
            </p:cNvPicPr>
            <p:nvPr/>
          </p:nvPicPr>
          <p:blipFill>
            <a:blip r:embed="rId4"/>
            <a:stretch>
              <a:fillRect/>
            </a:stretch>
          </p:blipFill>
          <p:spPr>
            <a:xfrm>
              <a:off x="256032" y="6775704"/>
              <a:ext cx="1947672" cy="1344168"/>
            </a:xfrm>
            <a:prstGeom prst="rect">
              <a:avLst/>
            </a:prstGeom>
          </p:spPr>
        </p:pic>
        <p:sp>
          <p:nvSpPr>
            <p:cNvPr id="356" name="Source point cloud image frame"/>
            <p:cNvSpPr/>
            <p:nvPr/>
          </p:nvSpPr>
          <p:spPr>
            <a:xfrm>
              <a:off x="237744" y="6757416"/>
              <a:ext cx="1984248" cy="1380744"/>
            </a:xfrm>
            <a:prstGeom prst="rect">
              <a:avLst/>
            </a:prstGeom>
            <a:noFill/>
            <a:ln w="24689" cap="flat">
              <a:solidFill>
                <a:srgbClr val="AEB0A9"/>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7" name="Source Point Cloud"/>
            <p:cNvSpPr txBox="1"/>
            <p:nvPr/>
          </p:nvSpPr>
          <p:spPr>
            <a:xfrm>
              <a:off x="210312" y="8174736"/>
              <a:ext cx="2240280" cy="365760"/>
            </a:xfrm>
            <a:prstGeom prst="rect">
              <a:avLst/>
            </a:prstGeom>
            <a:noFill/>
          </p:spPr>
          <p:txBody>
            <a:bodyPr wrap="none" lIns="0" rIns="0" tIns="0" bIns="0" anchor="ctr"/>
            <a:lstStyle/>
            <a:p>
              <a:pPr algn="l">
                <a:lnSpc>
                  <a:spcPct val="100000"/>
                </a:lnSpc>
                <a:spcBef>
                  <a:spcPts val="0"/>
                </a:spcBef>
                <a:spcAft>
                  <a:spcPts val="0"/>
                </a:spcAft>
              </a:pPr>
              <a:r>
                <a:rPr sz="1943" b="0" i="0" dirty="0">
                  <a:solidFill>
                    <a:srgbClr val="101010"/>
                  </a:solidFill>
                  <a:latin typeface="Arial"/>
                </a:rPr>
                <a:t>Source Point Cloud</a:t>
              </a:r>
            </a:p>
          </p:txBody>
        </p:sp>
        <p:grpSp>
          <p:nvGrpSpPr>
            <p:cNvPr id="358" name="Learnable query set"/>
            <p:cNvGrpSpPr/>
            <p:nvPr/>
          </p:nvGrpSpPr>
          <p:grpSpPr>
            <a:xfrm>
              <a:off x="2852928" y="4928616"/>
              <a:ext cx="1700784" cy="576072"/>
              <a:chOff x="2852928" y="4928616"/>
              <a:chExt cx="1700784" cy="576072"/>
            </a:xfrm>
          </p:grpSpPr>
          <p:sp>
            <p:nvSpPr>
              <p:cNvPr id="359" name="Learnable queries dotted frame"/>
              <p:cNvSpPr/>
              <p:nvPr/>
            </p:nvSpPr>
            <p:spPr>
              <a:xfrm>
                <a:off x="2852928" y="4928616"/>
                <a:ext cx="1700784" cy="576072"/>
              </a:xfrm>
              <a:prstGeom prst="rect">
                <a:avLst/>
              </a:prstGeom>
              <a:noFill/>
              <a:ln w="16459" cap="flat">
                <a:solidFill>
                  <a:srgbClr val="233F65"/>
                </a:solidFill>
                <a:custDash>
                  <a:ds d="111111" sp="166667"/>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0" name="Query token"/>
              <p:cNvSpPr/>
              <p:nvPr/>
            </p:nvSpPr>
            <p:spPr>
              <a:xfrm>
                <a:off x="3108960" y="5029200"/>
                <a:ext cx="256032" cy="256032"/>
              </a:xfrm>
              <a:prstGeom prst="rect">
                <a:avLst/>
              </a:prstGeom>
              <a:solidFill>
                <a:srgbClr val="D0D4D5"/>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1" name="Query token"/>
              <p:cNvSpPr/>
              <p:nvPr/>
            </p:nvSpPr>
            <p:spPr>
              <a:xfrm>
                <a:off x="3721608" y="5029200"/>
                <a:ext cx="256032" cy="256032"/>
              </a:xfrm>
              <a:prstGeom prst="rect">
                <a:avLst/>
              </a:prstGeom>
              <a:solidFill>
                <a:srgbClr val="D0D4D5"/>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2" name="Query token"/>
              <p:cNvSpPr/>
              <p:nvPr/>
            </p:nvSpPr>
            <p:spPr>
              <a:xfrm>
                <a:off x="3968496" y="5029200"/>
                <a:ext cx="256032" cy="256032"/>
              </a:xfrm>
              <a:prstGeom prst="rect">
                <a:avLst/>
              </a:prstGeom>
              <a:solidFill>
                <a:srgbClr val="D0D4D5"/>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Query token"/>
              <p:cNvSpPr/>
              <p:nvPr/>
            </p:nvSpPr>
            <p:spPr>
              <a:xfrm>
                <a:off x="4215384" y="5029200"/>
                <a:ext cx="256032" cy="256032"/>
              </a:xfrm>
              <a:prstGeom prst="rect">
                <a:avLst/>
              </a:prstGeom>
              <a:solidFill>
                <a:srgbClr val="D0D4D5"/>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Query token"/>
              <p:cNvSpPr/>
              <p:nvPr/>
            </p:nvSpPr>
            <p:spPr>
              <a:xfrm>
                <a:off x="2907792" y="5148072"/>
                <a:ext cx="256032" cy="256032"/>
              </a:xfrm>
              <a:prstGeom prst="rect">
                <a:avLst/>
              </a:prstGeom>
              <a:solidFill>
                <a:srgbClr val="D3D7D9"/>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Query token"/>
              <p:cNvSpPr/>
              <p:nvPr/>
            </p:nvSpPr>
            <p:spPr>
              <a:xfrm>
                <a:off x="3520440" y="5148072"/>
                <a:ext cx="256032" cy="256032"/>
              </a:xfrm>
              <a:prstGeom prst="rect">
                <a:avLst/>
              </a:prstGeom>
              <a:solidFill>
                <a:srgbClr val="D3D7D9"/>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Query token"/>
              <p:cNvSpPr/>
              <p:nvPr/>
            </p:nvSpPr>
            <p:spPr>
              <a:xfrm>
                <a:off x="3767328" y="5148072"/>
                <a:ext cx="256032" cy="256032"/>
              </a:xfrm>
              <a:prstGeom prst="rect">
                <a:avLst/>
              </a:prstGeom>
              <a:solidFill>
                <a:srgbClr val="D3D7D9"/>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Query token"/>
              <p:cNvSpPr/>
              <p:nvPr/>
            </p:nvSpPr>
            <p:spPr>
              <a:xfrm>
                <a:off x="4014216" y="5148072"/>
                <a:ext cx="256032" cy="256032"/>
              </a:xfrm>
              <a:prstGeom prst="rect">
                <a:avLst/>
              </a:prstGeom>
              <a:solidFill>
                <a:srgbClr val="D3D7D9"/>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
              <p:cNvSpPr txBox="1"/>
              <p:nvPr/>
            </p:nvSpPr>
            <p:spPr>
              <a:xfrm>
                <a:off x="3182112" y="5184648"/>
                <a:ext cx="329184" cy="228600"/>
              </a:xfrm>
              <a:prstGeom prst="rect">
                <a:avLst/>
              </a:prstGeom>
              <a:noFill/>
            </p:spPr>
            <p:txBody>
              <a:bodyPr wrap="none" lIns="0" rIns="0" tIns="0" bIns="0" anchor="ctr"/>
              <a:lstStyle/>
              <a:p>
                <a:pPr algn="ctr">
                  <a:lnSpc>
                    <a:spcPct val="100000"/>
                  </a:lnSpc>
                  <a:spcBef>
                    <a:spcPts val="0"/>
                  </a:spcBef>
                  <a:spcAft>
                    <a:spcPts val="0"/>
                  </a:spcAft>
                </a:pPr>
                <a:r>
                  <a:rPr sz="1800" b="1" i="0" dirty="0">
                    <a:solidFill>
                      <a:srgbClr val="101010"/>
                    </a:solidFill>
                    <a:latin typeface="Arial"/>
                  </a:rPr>
                  <a:t>···</a:t>
                </a:r>
              </a:p>
            </p:txBody>
          </p:sp>
        </p:grpSp>
        <p:sp>
          <p:nvSpPr>
            <p:cNvPr id="369" name="Connector"/>
            <p:cNvSpPr/>
            <p:nvPr/>
          </p:nvSpPr>
          <p:spPr>
            <a:xfrm>
              <a:off x="3685032" y="5504688"/>
              <a:ext cx="91" cy="237744"/>
            </a:xfrm>
            <a:custGeom>
              <a:avLst/>
              <a:gdLst/>
              <a:ahLst/>
              <a:cxnLst/>
              <a:rect l="0" t="0" r="r" b="b"/>
              <a:pathLst>
                <a:path w="91" h="237744">
                  <a:moveTo>
                    <a:pt x="0" y="0"/>
                  </a:moveTo>
                  <a:lnTo>
                    <a:pt x="0" y="237744"/>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Arrowhead"/>
            <p:cNvSpPr/>
            <p:nvPr/>
          </p:nvSpPr>
          <p:spPr>
            <a:xfrm>
              <a:off x="3641141" y="5650992"/>
              <a:ext cx="87782" cy="91440"/>
            </a:xfrm>
            <a:custGeom>
              <a:avLst/>
              <a:gdLst/>
              <a:ahLst/>
              <a:cxnLst/>
              <a:rect l="0" t="0" r="r" b="b"/>
              <a:pathLst>
                <a:path w="87782" h="91440">
                  <a:moveTo>
                    <a:pt x="43891" y="91440"/>
                  </a:moveTo>
                  <a:lnTo>
                    <a:pt x="0" y="0"/>
                  </a:lnTo>
                  <a:lnTo>
                    <a:pt x="87782"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Aggregate point cloud instance semantics"/>
            <p:cNvSpPr/>
            <p:nvPr/>
          </p:nvSpPr>
          <p:spPr>
            <a:xfrm>
              <a:off x="1764792" y="5742432"/>
              <a:ext cx="3968496" cy="438912"/>
            </a:xfrm>
            <a:prstGeom prst="roundRect">
              <a:avLst>
                <a:gd name="adj" fmla="val 20833"/>
              </a:avLst>
            </a:prstGeom>
            <a:solidFill>
              <a:srgbClr val="FFEFAC"/>
            </a:solidFill>
            <a:ln w="25603" cap="flat">
              <a:solidFill>
                <a:srgbClr val="101010"/>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Aggregating Instance Semantic"/>
            <p:cNvSpPr txBox="1"/>
            <p:nvPr/>
          </p:nvSpPr>
          <p:spPr>
            <a:xfrm>
              <a:off x="1856232" y="5760720"/>
              <a:ext cx="3785616" cy="393192"/>
            </a:xfrm>
            <a:prstGeom prst="rect">
              <a:avLst/>
            </a:prstGeom>
            <a:noFill/>
          </p:spPr>
          <p:txBody>
            <a:bodyPr wrap="none" lIns="0" rIns="0" tIns="0" bIns="0" anchor="ctr"/>
            <a:lstStyle/>
            <a:p>
              <a:pPr algn="ctr">
                <a:lnSpc>
                  <a:spcPct val="100000"/>
                </a:lnSpc>
                <a:spcBef>
                  <a:spcPts val="0"/>
                </a:spcBef>
                <a:spcAft>
                  <a:spcPts val="0"/>
                </a:spcAft>
              </a:pPr>
              <a:r>
                <a:rPr sz="2016" b="0" i="0" dirty="0">
                  <a:solidFill>
                    <a:srgbClr val="101010"/>
                  </a:solidFill>
                  <a:latin typeface="Arial"/>
                </a:rPr>
                <a:t>Aggregating Instance Semantic</a:t>
              </a:r>
            </a:p>
          </p:txBody>
        </p:sp>
        <p:sp>
          <p:nvSpPr>
            <p:cNvPr id="373" name="Connector"/>
            <p:cNvSpPr/>
            <p:nvPr/>
          </p:nvSpPr>
          <p:spPr>
            <a:xfrm>
              <a:off x="5733288" y="5961888"/>
              <a:ext cx="667512" cy="91"/>
            </a:xfrm>
            <a:custGeom>
              <a:avLst/>
              <a:gdLst/>
              <a:ahLst/>
              <a:cxnLst/>
              <a:rect l="0" t="0" r="r" b="b"/>
              <a:pathLst>
                <a:path w="667512" h="91">
                  <a:moveTo>
                    <a:pt x="0" y="0"/>
                  </a:moveTo>
                  <a:lnTo>
                    <a:pt x="667512"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Arrowhead"/>
            <p:cNvSpPr/>
            <p:nvPr/>
          </p:nvSpPr>
          <p:spPr>
            <a:xfrm>
              <a:off x="6309360" y="5917997"/>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375" name="Query 3D"/>
            <p:cNvGrpSpPr/>
            <p:nvPr/>
          </p:nvGrpSpPr>
          <p:grpSpPr>
            <a:xfrm>
              <a:off x="5925312" y="5568879"/>
              <a:ext cx="361174" cy="369814"/>
              <a:chOff x="5925312" y="5568879"/>
              <a:chExt cx="361174" cy="369814"/>
            </a:xfrm>
          </p:grpSpPr>
          <p:sp>
            <p:nvSpPr>
              <p:cNvPr id="376" name="Equation q"/>
              <p:cNvSpPr txBox="1"/>
              <p:nvPr/>
            </p:nvSpPr>
            <p:spPr>
              <a:xfrm>
                <a:off x="5925312" y="5568879"/>
                <a:ext cx="160020" cy="344729"/>
              </a:xfrm>
              <a:prstGeom prst="rect">
                <a:avLst/>
              </a:prstGeom>
              <a:noFill/>
            </p:spPr>
            <p:txBody>
              <a:bodyPr wrap="none" lIns="0" rIns="0" tIns="0" bIns="0" anchor="ctr"/>
              <a:lstStyle/>
              <a:p>
                <a:pPr algn="l">
                  <a:lnSpc>
                    <a:spcPct val="100000"/>
                  </a:lnSpc>
                  <a:spcBef>
                    <a:spcPts val="0"/>
                  </a:spcBef>
                  <a:spcAft>
                    <a:spcPts val="0"/>
                  </a:spcAft>
                </a:pPr>
                <a:r>
                  <a:rPr sz="2088" b="0" i="1" dirty="0">
                    <a:solidFill>
                      <a:srgbClr val="101010"/>
                    </a:solidFill>
                    <a:latin typeface="Times New Roman"/>
                  </a:rPr>
                  <a:t>q</a:t>
                </a:r>
              </a:p>
            </p:txBody>
          </p:sp>
          <p:sp>
            <p:nvSpPr>
              <p:cNvPr id="377" name="Equation 3D"/>
              <p:cNvSpPr txBox="1"/>
              <p:nvPr/>
            </p:nvSpPr>
            <p:spPr>
              <a:xfrm>
                <a:off x="6057900" y="5724961"/>
                <a:ext cx="228586" cy="213732"/>
              </a:xfrm>
              <a:prstGeom prst="rect">
                <a:avLst/>
              </a:prstGeom>
              <a:noFill/>
            </p:spPr>
            <p:txBody>
              <a:bodyPr wrap="none" lIns="0" rIns="0" tIns="0" bIns="0" anchor="ctr"/>
              <a:lstStyle/>
              <a:p>
                <a:pPr algn="l">
                  <a:lnSpc>
                    <a:spcPct val="100000"/>
                  </a:lnSpc>
                  <a:spcBef>
                    <a:spcPts val="0"/>
                  </a:spcBef>
                  <a:spcAft>
                    <a:spcPts val="0"/>
                  </a:spcAft>
                </a:pPr>
                <a:r>
                  <a:rPr sz="1294" b="0" i="1" dirty="0">
                    <a:solidFill>
                      <a:srgbClr val="101010"/>
                    </a:solidFill>
                    <a:latin typeface="Times New Roman"/>
                  </a:rPr>
                  <a:t>3D</a:t>
                </a:r>
              </a:p>
            </p:txBody>
          </p:sp>
        </p:grpSp>
        <p:grpSp>
          <p:nvGrpSpPr>
            <p:cNvPr id="378" name="3D object agent queries"/>
            <p:cNvGrpSpPr/>
            <p:nvPr/>
          </p:nvGrpSpPr>
          <p:grpSpPr>
            <a:xfrm>
              <a:off x="6400800" y="5596128"/>
              <a:ext cx="1517904" cy="548640"/>
              <a:chOff x="6400800" y="5596128"/>
              <a:chExt cx="1517904" cy="548640"/>
            </a:xfrm>
          </p:grpSpPr>
          <p:sp>
            <p:nvSpPr>
              <p:cNvPr id="379" name="Rectangle"/>
              <p:cNvSpPr/>
              <p:nvPr/>
            </p:nvSpPr>
            <p:spPr>
              <a:xfrm>
                <a:off x="6400800" y="5596128"/>
                <a:ext cx="1517904" cy="548640"/>
              </a:xfrm>
              <a:prstGeom prst="rect">
                <a:avLst/>
              </a:prstGeom>
              <a:noFill/>
              <a:ln w="16459" cap="flat">
                <a:solidFill>
                  <a:srgbClr val="233F65"/>
                </a:solidFill>
                <a:custDash>
                  <a:ds d="111111" sp="166667"/>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Query token"/>
              <p:cNvSpPr/>
              <p:nvPr/>
            </p:nvSpPr>
            <p:spPr>
              <a:xfrm>
                <a:off x="6464808" y="5742432"/>
                <a:ext cx="256032" cy="256032"/>
              </a:xfrm>
              <a:prstGeom prst="rect">
                <a:avLst/>
              </a:prstGeom>
              <a:solidFill>
                <a:srgbClr val="F8C5A8"/>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Query token"/>
              <p:cNvSpPr/>
              <p:nvPr/>
            </p:nvSpPr>
            <p:spPr>
              <a:xfrm>
                <a:off x="7086600" y="5742432"/>
                <a:ext cx="256032" cy="256032"/>
              </a:xfrm>
              <a:prstGeom prst="rect">
                <a:avLst/>
              </a:prstGeom>
              <a:solidFill>
                <a:srgbClr val="F8C5A8"/>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Query token"/>
              <p:cNvSpPr/>
              <p:nvPr/>
            </p:nvSpPr>
            <p:spPr>
              <a:xfrm>
                <a:off x="7342632" y="5742432"/>
                <a:ext cx="256032" cy="256032"/>
              </a:xfrm>
              <a:prstGeom prst="rect">
                <a:avLst/>
              </a:prstGeom>
              <a:solidFill>
                <a:srgbClr val="F8C5A8"/>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3" name="Query token"/>
              <p:cNvSpPr/>
              <p:nvPr/>
            </p:nvSpPr>
            <p:spPr>
              <a:xfrm>
                <a:off x="7589520" y="5742432"/>
                <a:ext cx="256032" cy="256032"/>
              </a:xfrm>
              <a:prstGeom prst="rect">
                <a:avLst/>
              </a:prstGeom>
              <a:solidFill>
                <a:srgbClr val="F8C5A8"/>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4" name="···"/>
              <p:cNvSpPr txBox="1"/>
              <p:nvPr/>
            </p:nvSpPr>
            <p:spPr>
              <a:xfrm>
                <a:off x="6766560" y="5715000"/>
                <a:ext cx="283464" cy="228600"/>
              </a:xfrm>
              <a:prstGeom prst="rect">
                <a:avLst/>
              </a:prstGeom>
              <a:noFill/>
            </p:spPr>
            <p:txBody>
              <a:bodyPr wrap="none" lIns="0" rIns="0" tIns="0" bIns="0" anchor="ctr"/>
              <a:lstStyle/>
              <a:p>
                <a:pPr algn="ctr">
                  <a:lnSpc>
                    <a:spcPct val="100000"/>
                  </a:lnSpc>
                  <a:spcBef>
                    <a:spcPts val="0"/>
                  </a:spcBef>
                  <a:spcAft>
                    <a:spcPts val="0"/>
                  </a:spcAft>
                </a:pPr>
                <a:r>
                  <a:rPr sz="1800" b="1" i="0" dirty="0">
                    <a:solidFill>
                      <a:srgbClr val="101010"/>
                    </a:solidFill>
                    <a:latin typeface="Arial"/>
                  </a:rPr>
                  <a:t>···</a:t>
                </a:r>
              </a:p>
            </p:txBody>
          </p:sp>
        </p:grpSp>
        <p:sp>
          <p:nvSpPr>
            <p:cNvPr id="385" name="Point cloud backbone"/>
            <p:cNvSpPr/>
            <p:nvPr/>
          </p:nvSpPr>
          <p:spPr>
            <a:xfrm>
              <a:off x="2569464" y="6574536"/>
              <a:ext cx="2176272" cy="1883664"/>
            </a:xfrm>
            <a:prstGeom prst="roundRect">
              <a:avLst>
                <a:gd name="adj" fmla="val 7766"/>
              </a:avLst>
            </a:prstGeom>
            <a:solidFill>
              <a:srgbClr val="FFF0C0"/>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6" name="Backbone layer 1"/>
            <p:cNvSpPr/>
            <p:nvPr/>
          </p:nvSpPr>
          <p:spPr>
            <a:xfrm>
              <a:off x="2752344" y="6720840"/>
              <a:ext cx="374904" cy="1389888"/>
            </a:xfrm>
            <a:prstGeom prst="rect">
              <a:avLst/>
            </a:prstGeom>
            <a:solidFill>
              <a:srgbClr val="FFF0C0"/>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7" name="Backbone layer L"/>
            <p:cNvSpPr/>
            <p:nvPr/>
          </p:nvSpPr>
          <p:spPr>
            <a:xfrm>
              <a:off x="4105656" y="6720840"/>
              <a:ext cx="393192" cy="1389888"/>
            </a:xfrm>
            <a:prstGeom prst="rect">
              <a:avLst/>
            </a:prstGeom>
            <a:solidFill>
              <a:srgbClr val="FFF0C0"/>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8" name="Layer 1"/>
            <p:cNvSpPr txBox="1"/>
            <p:nvPr/>
          </p:nvSpPr>
          <p:spPr>
            <a:xfrm rot="5400000">
              <a:off x="2304288" y="7251192"/>
              <a:ext cx="1280160" cy="338328"/>
            </a:xfrm>
            <a:prstGeom prst="rect">
              <a:avLst/>
            </a:prstGeom>
            <a:noFill/>
          </p:spPr>
          <p:txBody>
            <a:bodyPr wrap="none" lIns="0" rIns="0" tIns="0" bIns="0" anchor="ctr"/>
            <a:lstStyle/>
            <a:p>
              <a:pPr algn="ctr">
                <a:lnSpc>
                  <a:spcPct val="100000"/>
                </a:lnSpc>
                <a:spcBef>
                  <a:spcPts val="0"/>
                </a:spcBef>
                <a:spcAft>
                  <a:spcPts val="0"/>
                </a:spcAft>
              </a:pPr>
              <a:r>
                <a:rPr sz="2088" b="0" i="0" dirty="0">
                  <a:solidFill>
                    <a:srgbClr val="101010"/>
                  </a:solidFill>
                  <a:latin typeface="Arial"/>
                </a:rPr>
                <a:t>Layer 1</a:t>
              </a:r>
            </a:p>
          </p:txBody>
        </p:sp>
        <p:sp>
          <p:nvSpPr>
            <p:cNvPr id="389" name="Layer L"/>
            <p:cNvSpPr txBox="1"/>
            <p:nvPr/>
          </p:nvSpPr>
          <p:spPr>
            <a:xfrm rot="5400000">
              <a:off x="3657600" y="7251192"/>
              <a:ext cx="1289304" cy="338328"/>
            </a:xfrm>
            <a:prstGeom prst="rect">
              <a:avLst/>
            </a:prstGeom>
            <a:noFill/>
          </p:spPr>
          <p:txBody>
            <a:bodyPr wrap="none" lIns="0" rIns="0" tIns="0" bIns="0" anchor="ctr"/>
            <a:lstStyle/>
            <a:p>
              <a:pPr algn="ctr">
                <a:lnSpc>
                  <a:spcPct val="100000"/>
                </a:lnSpc>
                <a:spcBef>
                  <a:spcPts val="0"/>
                </a:spcBef>
                <a:spcAft>
                  <a:spcPts val="0"/>
                </a:spcAft>
              </a:pPr>
              <a:r>
                <a:rPr sz="2088" b="0" i="0" dirty="0">
                  <a:solidFill>
                    <a:srgbClr val="101010"/>
                  </a:solidFill>
                  <a:latin typeface="Arial"/>
                </a:rPr>
                <a:t>Layer L</a:t>
              </a:r>
            </a:p>
          </p:txBody>
        </p:sp>
        <p:sp>
          <p:nvSpPr>
            <p:cNvPr id="390" name="Backbone"/>
            <p:cNvSpPr txBox="1"/>
            <p:nvPr/>
          </p:nvSpPr>
          <p:spPr>
            <a:xfrm>
              <a:off x="2724912" y="8156448"/>
              <a:ext cx="1792224" cy="283464"/>
            </a:xfrm>
            <a:prstGeom prst="rect">
              <a:avLst/>
            </a:prstGeom>
            <a:noFill/>
          </p:spPr>
          <p:txBody>
            <a:bodyPr wrap="none" lIns="0" rIns="0" tIns="0" bIns="0" anchor="ctr"/>
            <a:lstStyle/>
            <a:p>
              <a:pPr algn="l">
                <a:lnSpc>
                  <a:spcPct val="100000"/>
                </a:lnSpc>
                <a:spcBef>
                  <a:spcPts val="0"/>
                </a:spcBef>
                <a:spcAft>
                  <a:spcPts val="0"/>
                </a:spcAft>
              </a:pPr>
              <a:r>
                <a:rPr sz="2088" b="0" i="0" dirty="0">
                  <a:solidFill>
                    <a:srgbClr val="101010"/>
                  </a:solidFill>
                  <a:latin typeface="Arial"/>
                </a:rPr>
                <a:t>Backbone</a:t>
              </a:r>
            </a:p>
          </p:txBody>
        </p:sp>
        <p:sp>
          <p:nvSpPr>
            <p:cNvPr id="391" name="Connector"/>
            <p:cNvSpPr/>
            <p:nvPr/>
          </p:nvSpPr>
          <p:spPr>
            <a:xfrm>
              <a:off x="2221992" y="7415784"/>
              <a:ext cx="530352" cy="91"/>
            </a:xfrm>
            <a:custGeom>
              <a:avLst/>
              <a:gdLst/>
              <a:ahLst/>
              <a:cxnLst/>
              <a:rect l="0" t="0" r="r" b="b"/>
              <a:pathLst>
                <a:path w="530352" h="91">
                  <a:moveTo>
                    <a:pt x="0" y="0"/>
                  </a:moveTo>
                  <a:lnTo>
                    <a:pt x="530352"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2" name="Arrowhead"/>
            <p:cNvSpPr/>
            <p:nvPr/>
          </p:nvSpPr>
          <p:spPr>
            <a:xfrm>
              <a:off x="2660904" y="7371893"/>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3" name="Connector"/>
            <p:cNvSpPr/>
            <p:nvPr/>
          </p:nvSpPr>
          <p:spPr>
            <a:xfrm>
              <a:off x="3127248" y="7424928"/>
              <a:ext cx="301752" cy="91"/>
            </a:xfrm>
            <a:custGeom>
              <a:avLst/>
              <a:gdLst/>
              <a:ahLst/>
              <a:cxnLst/>
              <a:rect l="0" t="0" r="r" b="b"/>
              <a:pathLst>
                <a:path w="301752" h="91">
                  <a:moveTo>
                    <a:pt x="0" y="0"/>
                  </a:moveTo>
                  <a:lnTo>
                    <a:pt x="301752"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4" name="Arrowhead"/>
            <p:cNvSpPr/>
            <p:nvPr/>
          </p:nvSpPr>
          <p:spPr>
            <a:xfrm>
              <a:off x="3337560" y="7381037"/>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5" name="···"/>
            <p:cNvSpPr txBox="1"/>
            <p:nvPr/>
          </p:nvSpPr>
          <p:spPr>
            <a:xfrm>
              <a:off x="3483864" y="7296912"/>
              <a:ext cx="246888" cy="228600"/>
            </a:xfrm>
            <a:prstGeom prst="rect">
              <a:avLst/>
            </a:prstGeom>
            <a:noFill/>
          </p:spPr>
          <p:txBody>
            <a:bodyPr wrap="none" lIns="0" rIns="0" tIns="0" bIns="0" anchor="ctr"/>
            <a:lstStyle/>
            <a:p>
              <a:pPr algn="ctr">
                <a:lnSpc>
                  <a:spcPct val="100000"/>
                </a:lnSpc>
                <a:spcBef>
                  <a:spcPts val="0"/>
                </a:spcBef>
                <a:spcAft>
                  <a:spcPts val="0"/>
                </a:spcAft>
              </a:pPr>
              <a:r>
                <a:rPr sz="1943" b="1" i="0" dirty="0">
                  <a:solidFill>
                    <a:srgbClr val="101010"/>
                  </a:solidFill>
                  <a:latin typeface="Arial"/>
                </a:rPr>
                <a:t>···</a:t>
              </a:r>
            </a:p>
          </p:txBody>
        </p:sp>
        <p:sp>
          <p:nvSpPr>
            <p:cNvPr id="396" name="Connector"/>
            <p:cNvSpPr/>
            <p:nvPr/>
          </p:nvSpPr>
          <p:spPr>
            <a:xfrm>
              <a:off x="3776472" y="7424928"/>
              <a:ext cx="329184" cy="91"/>
            </a:xfrm>
            <a:custGeom>
              <a:avLst/>
              <a:gdLst/>
              <a:ahLst/>
              <a:cxnLst/>
              <a:rect l="0" t="0" r="r" b="b"/>
              <a:pathLst>
                <a:path w="329184" h="91">
                  <a:moveTo>
                    <a:pt x="0" y="0"/>
                  </a:moveTo>
                  <a:lnTo>
                    <a:pt x="329184"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7" name="Arrowhead"/>
            <p:cNvSpPr/>
            <p:nvPr/>
          </p:nvSpPr>
          <p:spPr>
            <a:xfrm>
              <a:off x="4014216" y="7381037"/>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8" name="Connector"/>
            <p:cNvSpPr/>
            <p:nvPr/>
          </p:nvSpPr>
          <p:spPr>
            <a:xfrm>
              <a:off x="2944368" y="6190488"/>
              <a:ext cx="91" cy="530352"/>
            </a:xfrm>
            <a:custGeom>
              <a:avLst/>
              <a:gdLst/>
              <a:ahLst/>
              <a:cxnLst/>
              <a:rect l="0" t="0" r="r" b="b"/>
              <a:pathLst>
                <a:path w="91" h="530352">
                  <a:moveTo>
                    <a:pt x="0" y="530352"/>
                  </a:moveTo>
                  <a:lnTo>
                    <a:pt x="0"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9" name="Arrowhead"/>
            <p:cNvSpPr/>
            <p:nvPr/>
          </p:nvSpPr>
          <p:spPr>
            <a:xfrm>
              <a:off x="2900477" y="6190488"/>
              <a:ext cx="87782" cy="91440"/>
            </a:xfrm>
            <a:custGeom>
              <a:avLst/>
              <a:gdLst/>
              <a:ahLst/>
              <a:cxnLst/>
              <a:rect l="0" t="0" r="r" b="b"/>
              <a:pathLst>
                <a:path w="87782" h="91440">
                  <a:moveTo>
                    <a:pt x="43891" y="0"/>
                  </a:moveTo>
                  <a:lnTo>
                    <a:pt x="87782" y="91440"/>
                  </a:lnTo>
                  <a:lnTo>
                    <a:pt x="0" y="9144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0" name="Connector"/>
            <p:cNvSpPr/>
            <p:nvPr/>
          </p:nvSpPr>
          <p:spPr>
            <a:xfrm>
              <a:off x="4297680" y="6190488"/>
              <a:ext cx="91" cy="530352"/>
            </a:xfrm>
            <a:custGeom>
              <a:avLst/>
              <a:gdLst/>
              <a:ahLst/>
              <a:cxnLst/>
              <a:rect l="0" t="0" r="r" b="b"/>
              <a:pathLst>
                <a:path w="91" h="530352">
                  <a:moveTo>
                    <a:pt x="0" y="530352"/>
                  </a:moveTo>
                  <a:lnTo>
                    <a:pt x="0"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1" name="Arrowhead"/>
            <p:cNvSpPr/>
            <p:nvPr/>
          </p:nvSpPr>
          <p:spPr>
            <a:xfrm>
              <a:off x="4253789" y="6190488"/>
              <a:ext cx="87782" cy="91440"/>
            </a:xfrm>
            <a:custGeom>
              <a:avLst/>
              <a:gdLst/>
              <a:ahLst/>
              <a:cxnLst/>
              <a:rect l="0" t="0" r="r" b="b"/>
              <a:pathLst>
                <a:path w="87782" h="91440">
                  <a:moveTo>
                    <a:pt x="43891" y="0"/>
                  </a:moveTo>
                  <a:lnTo>
                    <a:pt x="87782" y="91440"/>
                  </a:lnTo>
                  <a:lnTo>
                    <a:pt x="0" y="9144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2" name="Connector"/>
            <p:cNvSpPr/>
            <p:nvPr/>
          </p:nvSpPr>
          <p:spPr>
            <a:xfrm>
              <a:off x="4498848" y="7424928"/>
              <a:ext cx="603504" cy="91"/>
            </a:xfrm>
            <a:custGeom>
              <a:avLst/>
              <a:gdLst/>
              <a:ahLst/>
              <a:cxnLst/>
              <a:rect l="0" t="0" r="r" b="b"/>
              <a:pathLst>
                <a:path w="603504" h="91">
                  <a:moveTo>
                    <a:pt x="0" y="0"/>
                  </a:moveTo>
                  <a:lnTo>
                    <a:pt x="603504"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3" name="Arrowhead"/>
            <p:cNvSpPr/>
            <p:nvPr/>
          </p:nvSpPr>
          <p:spPr>
            <a:xfrm>
              <a:off x="5010912" y="7381037"/>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404" name="Feature tensor"/>
            <p:cNvGrpSpPr/>
            <p:nvPr/>
          </p:nvGrpSpPr>
          <p:grpSpPr>
            <a:xfrm>
              <a:off x="5111496" y="6876288"/>
              <a:ext cx="347472" cy="1115568"/>
              <a:chOff x="5111496" y="6876288"/>
              <a:chExt cx="347472" cy="1115568"/>
            </a:xfrm>
          </p:grpSpPr>
          <p:sp>
            <p:nvSpPr>
              <p:cNvPr id="405" name="Polygon"/>
              <p:cNvSpPr/>
              <p:nvPr/>
            </p:nvSpPr>
            <p:spPr>
              <a:xfrm>
                <a:off x="5111496" y="6876288"/>
                <a:ext cx="347472" cy="91440"/>
              </a:xfrm>
              <a:custGeom>
                <a:avLst/>
                <a:gdLst/>
                <a:ahLst/>
                <a:cxnLst/>
                <a:rect l="0" t="0" r="r" b="b"/>
                <a:pathLst>
                  <a:path w="347472" h="91440">
                    <a:moveTo>
                      <a:pt x="0" y="91440"/>
                    </a:moveTo>
                    <a:lnTo>
                      <a:pt x="91440" y="0"/>
                    </a:lnTo>
                    <a:lnTo>
                      <a:pt x="347472" y="0"/>
                    </a:lnTo>
                    <a:lnTo>
                      <a:pt x="256032" y="91440"/>
                    </a:lnTo>
                    <a:close/>
                  </a:path>
                </a:pathLst>
              </a:custGeom>
              <a:solidFill>
                <a:srgbClr val="FAD0B7"/>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6" name="Polygon"/>
              <p:cNvSpPr/>
              <p:nvPr/>
            </p:nvSpPr>
            <p:spPr>
              <a:xfrm>
                <a:off x="5367528" y="6876288"/>
                <a:ext cx="91440" cy="1115568"/>
              </a:xfrm>
              <a:custGeom>
                <a:avLst/>
                <a:gdLst/>
                <a:ahLst/>
                <a:cxnLst/>
                <a:rect l="0" t="0" r="r" b="b"/>
                <a:pathLst>
                  <a:path w="91440" h="1115568">
                    <a:moveTo>
                      <a:pt x="0" y="91440"/>
                    </a:moveTo>
                    <a:lnTo>
                      <a:pt x="91440" y="0"/>
                    </a:lnTo>
                    <a:lnTo>
                      <a:pt x="91440" y="1024128"/>
                    </a:lnTo>
                    <a:lnTo>
                      <a:pt x="0" y="1115568"/>
                    </a:lnTo>
                    <a:close/>
                  </a:path>
                </a:pathLst>
              </a:custGeom>
              <a:solidFill>
                <a:srgbClr val="DAB3A7"/>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7" name="Feature channel"/>
              <p:cNvSpPr/>
              <p:nvPr/>
            </p:nvSpPr>
            <p:spPr>
              <a:xfrm>
                <a:off x="5111496" y="6967728"/>
                <a:ext cx="256032" cy="256032"/>
              </a:xfrm>
              <a:prstGeom prst="rect">
                <a:avLst/>
              </a:prstGeom>
              <a:solidFill>
                <a:srgbClr val="F6B9A6"/>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8" name="Feature channel"/>
              <p:cNvSpPr/>
              <p:nvPr/>
            </p:nvSpPr>
            <p:spPr>
              <a:xfrm>
                <a:off x="5111496" y="7223760"/>
                <a:ext cx="256032" cy="256032"/>
              </a:xfrm>
              <a:prstGeom prst="rect">
                <a:avLst/>
              </a:prstGeom>
              <a:solidFill>
                <a:srgbClr val="F6B9A6"/>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9" name="Connector"/>
              <p:cNvSpPr/>
              <p:nvPr/>
            </p:nvSpPr>
            <p:spPr>
              <a:xfrm>
                <a:off x="5367528" y="7132320"/>
                <a:ext cx="91440" cy="91440"/>
              </a:xfrm>
              <a:custGeom>
                <a:avLst/>
                <a:gdLst/>
                <a:ahLst/>
                <a:cxnLst/>
                <a:rect l="0" t="0" r="r" b="b"/>
                <a:pathLst>
                  <a:path w="91440" h="91440">
                    <a:moveTo>
                      <a:pt x="0" y="91440"/>
                    </a:moveTo>
                    <a:lnTo>
                      <a:pt x="91440" y="0"/>
                    </a:lnTo>
                  </a:path>
                </a:pathLst>
              </a:custGeom>
              <a:noFill/>
              <a:ln w="12802"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0" name="Feature channel"/>
              <p:cNvSpPr/>
              <p:nvPr/>
            </p:nvSpPr>
            <p:spPr>
              <a:xfrm>
                <a:off x="5111496" y="7479792"/>
                <a:ext cx="256032" cy="256032"/>
              </a:xfrm>
              <a:prstGeom prst="rect">
                <a:avLst/>
              </a:prstGeom>
              <a:solidFill>
                <a:srgbClr val="F6B9A6"/>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1" name="Connector"/>
              <p:cNvSpPr/>
              <p:nvPr/>
            </p:nvSpPr>
            <p:spPr>
              <a:xfrm>
                <a:off x="5367528" y="7388352"/>
                <a:ext cx="91440" cy="91440"/>
              </a:xfrm>
              <a:custGeom>
                <a:avLst/>
                <a:gdLst/>
                <a:ahLst/>
                <a:cxnLst/>
                <a:rect l="0" t="0" r="r" b="b"/>
                <a:pathLst>
                  <a:path w="91440" h="91440">
                    <a:moveTo>
                      <a:pt x="0" y="91440"/>
                    </a:moveTo>
                    <a:lnTo>
                      <a:pt x="91440" y="0"/>
                    </a:lnTo>
                  </a:path>
                </a:pathLst>
              </a:custGeom>
              <a:noFill/>
              <a:ln w="12802"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2" name="Feature channel"/>
              <p:cNvSpPr/>
              <p:nvPr/>
            </p:nvSpPr>
            <p:spPr>
              <a:xfrm>
                <a:off x="5111496" y="7735824"/>
                <a:ext cx="256032" cy="256032"/>
              </a:xfrm>
              <a:prstGeom prst="rect">
                <a:avLst/>
              </a:prstGeom>
              <a:solidFill>
                <a:srgbClr val="F6B9A6"/>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3" name="Connector"/>
              <p:cNvSpPr/>
              <p:nvPr/>
            </p:nvSpPr>
            <p:spPr>
              <a:xfrm>
                <a:off x="5367528" y="7644384"/>
                <a:ext cx="91440" cy="91440"/>
              </a:xfrm>
              <a:custGeom>
                <a:avLst/>
                <a:gdLst/>
                <a:ahLst/>
                <a:cxnLst/>
                <a:rect l="0" t="0" r="r" b="b"/>
                <a:pathLst>
                  <a:path w="91440" h="91440">
                    <a:moveTo>
                      <a:pt x="0" y="91440"/>
                    </a:moveTo>
                    <a:lnTo>
                      <a:pt x="91440" y="0"/>
                    </a:lnTo>
                  </a:path>
                </a:pathLst>
              </a:custGeom>
              <a:noFill/>
              <a:ln w="12802"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414" name="Connector"/>
            <p:cNvSpPr/>
            <p:nvPr/>
          </p:nvSpPr>
          <p:spPr>
            <a:xfrm>
              <a:off x="5458968" y="6739128"/>
              <a:ext cx="612648" cy="512064"/>
            </a:xfrm>
            <a:custGeom>
              <a:avLst/>
              <a:gdLst/>
              <a:ahLst/>
              <a:cxnLst/>
              <a:rect l="0" t="0" r="r" b="b"/>
              <a:pathLst>
                <a:path w="612648" h="512064">
                  <a:moveTo>
                    <a:pt x="0" y="512064"/>
                  </a:moveTo>
                  <a:lnTo>
                    <a:pt x="301752" y="512064"/>
                  </a:lnTo>
                  <a:lnTo>
                    <a:pt x="301752" y="0"/>
                  </a:lnTo>
                  <a:lnTo>
                    <a:pt x="612648"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5" name="Arrowhead"/>
            <p:cNvSpPr/>
            <p:nvPr/>
          </p:nvSpPr>
          <p:spPr>
            <a:xfrm>
              <a:off x="5980176" y="6695237"/>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6" name="Connector"/>
            <p:cNvSpPr/>
            <p:nvPr/>
          </p:nvSpPr>
          <p:spPr>
            <a:xfrm>
              <a:off x="5458968" y="7763256"/>
              <a:ext cx="612648" cy="576072"/>
            </a:xfrm>
            <a:custGeom>
              <a:avLst/>
              <a:gdLst/>
              <a:ahLst/>
              <a:cxnLst/>
              <a:rect l="0" t="0" r="r" b="b"/>
              <a:pathLst>
                <a:path w="612648" h="576072">
                  <a:moveTo>
                    <a:pt x="0" y="0"/>
                  </a:moveTo>
                  <a:lnTo>
                    <a:pt x="301752" y="0"/>
                  </a:lnTo>
                  <a:lnTo>
                    <a:pt x="301752" y="576072"/>
                  </a:lnTo>
                  <a:lnTo>
                    <a:pt x="612648" y="576072"/>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7" name="Arrowhead"/>
            <p:cNvSpPr/>
            <p:nvPr/>
          </p:nvSpPr>
          <p:spPr>
            <a:xfrm>
              <a:off x="5980176" y="8295437"/>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8" name="Cross modal semantic alignment frame"/>
            <p:cNvSpPr/>
            <p:nvPr/>
          </p:nvSpPr>
          <p:spPr>
            <a:xfrm>
              <a:off x="8238744" y="4965192"/>
              <a:ext cx="7315200" cy="1197864"/>
            </a:xfrm>
            <a:prstGeom prst="rect">
              <a:avLst/>
            </a:prstGeom>
            <a:noFill/>
            <a:ln w="33833" cap="flat">
              <a:solidFill>
                <a:srgbClr val="233F65"/>
              </a:solidFill>
              <a:custDash>
                <a:ds d="54054" sp="81081"/>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9" name="Cross-modal Semantic Alignment"/>
            <p:cNvSpPr txBox="1"/>
            <p:nvPr/>
          </p:nvSpPr>
          <p:spPr>
            <a:xfrm>
              <a:off x="11695176" y="4956048"/>
              <a:ext cx="3749040" cy="347472"/>
            </a:xfrm>
            <a:prstGeom prst="rect">
              <a:avLst/>
            </a:prstGeom>
            <a:noFill/>
          </p:spPr>
          <p:txBody>
            <a:bodyPr wrap="none" lIns="0" rIns="0" tIns="0" bIns="0" anchor="ctr"/>
            <a:lstStyle/>
            <a:p>
              <a:pPr algn="ctr">
                <a:lnSpc>
                  <a:spcPct val="100000"/>
                </a:lnSpc>
                <a:spcBef>
                  <a:spcPts val="0"/>
                </a:spcBef>
                <a:spcAft>
                  <a:spcPts val="0"/>
                </a:spcAft>
              </a:pPr>
              <a:r>
                <a:rPr sz="2016" b="0" i="1" dirty="0">
                  <a:solidFill>
                    <a:srgbClr val="101010"/>
                  </a:solidFill>
                  <a:latin typeface="Arial"/>
                </a:rPr>
                <a:t>Cross-modal Semantic Alignment</a:t>
              </a:r>
            </a:p>
          </p:txBody>
        </p:sp>
        <p:sp>
          <p:nvSpPr>
            <p:cNvPr id="420" name="Connector"/>
            <p:cNvSpPr/>
            <p:nvPr/>
          </p:nvSpPr>
          <p:spPr>
            <a:xfrm>
              <a:off x="7918704" y="5742432"/>
              <a:ext cx="585216" cy="91"/>
            </a:xfrm>
            <a:custGeom>
              <a:avLst/>
              <a:gdLst/>
              <a:ahLst/>
              <a:cxnLst/>
              <a:rect l="0" t="0" r="r" b="b"/>
              <a:pathLst>
                <a:path w="585216" h="91">
                  <a:moveTo>
                    <a:pt x="0" y="0"/>
                  </a:moveTo>
                  <a:lnTo>
                    <a:pt x="585216"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1" name="Arrowhead"/>
            <p:cNvSpPr/>
            <p:nvPr/>
          </p:nvSpPr>
          <p:spPr>
            <a:xfrm>
              <a:off x="8412480" y="5698541"/>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2" name="Connector"/>
            <p:cNvSpPr/>
            <p:nvPr/>
          </p:nvSpPr>
          <p:spPr>
            <a:xfrm>
              <a:off x="11146536" y="4370832"/>
              <a:ext cx="91" cy="1216152"/>
            </a:xfrm>
            <a:custGeom>
              <a:avLst/>
              <a:gdLst/>
              <a:ahLst/>
              <a:cxnLst/>
              <a:rect l="0" t="0" r="r" b="b"/>
              <a:pathLst>
                <a:path w="91" h="1216152">
                  <a:moveTo>
                    <a:pt x="0" y="0"/>
                  </a:moveTo>
                  <a:lnTo>
                    <a:pt x="0" y="1216152"/>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3" name="Arrowhead"/>
            <p:cNvSpPr/>
            <p:nvPr/>
          </p:nvSpPr>
          <p:spPr>
            <a:xfrm>
              <a:off x="11102645" y="5495544"/>
              <a:ext cx="87782" cy="91440"/>
            </a:xfrm>
            <a:custGeom>
              <a:avLst/>
              <a:gdLst/>
              <a:ahLst/>
              <a:cxnLst/>
              <a:rect l="0" t="0" r="r" b="b"/>
              <a:pathLst>
                <a:path w="87782" h="91440">
                  <a:moveTo>
                    <a:pt x="43891" y="91440"/>
                  </a:moveTo>
                  <a:lnTo>
                    <a:pt x="0" y="0"/>
                  </a:lnTo>
                  <a:lnTo>
                    <a:pt x="87782"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4" name="Connector"/>
            <p:cNvSpPr/>
            <p:nvPr/>
          </p:nvSpPr>
          <p:spPr>
            <a:xfrm>
              <a:off x="8659368" y="5266944"/>
              <a:ext cx="2487168" cy="320040"/>
            </a:xfrm>
            <a:custGeom>
              <a:avLst/>
              <a:gdLst/>
              <a:ahLst/>
              <a:cxnLst/>
              <a:rect l="0" t="0" r="r" b="b"/>
              <a:pathLst>
                <a:path w="2487168" h="320040">
                  <a:moveTo>
                    <a:pt x="2487168" y="0"/>
                  </a:moveTo>
                  <a:lnTo>
                    <a:pt x="0" y="0"/>
                  </a:lnTo>
                  <a:lnTo>
                    <a:pt x="0" y="32004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5" name="Arrowhead"/>
            <p:cNvSpPr/>
            <p:nvPr/>
          </p:nvSpPr>
          <p:spPr>
            <a:xfrm>
              <a:off x="8615477" y="5495544"/>
              <a:ext cx="87782" cy="91440"/>
            </a:xfrm>
            <a:custGeom>
              <a:avLst/>
              <a:gdLst/>
              <a:ahLst/>
              <a:cxnLst/>
              <a:rect l="0" t="0" r="r" b="b"/>
              <a:pathLst>
                <a:path w="87782" h="91440">
                  <a:moveTo>
                    <a:pt x="43891" y="91440"/>
                  </a:moveTo>
                  <a:lnTo>
                    <a:pt x="0" y="0"/>
                  </a:lnTo>
                  <a:lnTo>
                    <a:pt x="87782"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6" name="Linear"/>
            <p:cNvSpPr txBox="1"/>
            <p:nvPr/>
          </p:nvSpPr>
          <p:spPr>
            <a:xfrm>
              <a:off x="8759952" y="5248656"/>
              <a:ext cx="758952" cy="265176"/>
            </a:xfrm>
            <a:prstGeom prst="rect">
              <a:avLst/>
            </a:prstGeom>
            <a:noFill/>
          </p:spPr>
          <p:txBody>
            <a:bodyPr wrap="none" lIns="0" rIns="0" tIns="0" bIns="0" anchor="ctr"/>
            <a:lstStyle/>
            <a:p>
              <a:pPr algn="l">
                <a:lnSpc>
                  <a:spcPct val="100000"/>
                </a:lnSpc>
                <a:spcBef>
                  <a:spcPts val="0"/>
                </a:spcBef>
                <a:spcAft>
                  <a:spcPts val="0"/>
                </a:spcAft>
              </a:pPr>
              <a:r>
                <a:rPr sz="1655" b="0" i="0" dirty="0">
                  <a:solidFill>
                    <a:srgbClr val="83837B"/>
                  </a:solidFill>
                  <a:latin typeface="Arial"/>
                </a:rPr>
                <a:t>Linear</a:t>
              </a:r>
            </a:p>
          </p:txBody>
        </p:sp>
        <p:sp>
          <p:nvSpPr>
            <p:cNvPr id="427" name="Linear"/>
            <p:cNvSpPr txBox="1"/>
            <p:nvPr/>
          </p:nvSpPr>
          <p:spPr>
            <a:xfrm>
              <a:off x="11210544" y="5266944"/>
              <a:ext cx="713232" cy="265176"/>
            </a:xfrm>
            <a:prstGeom prst="rect">
              <a:avLst/>
            </a:prstGeom>
            <a:noFill/>
          </p:spPr>
          <p:txBody>
            <a:bodyPr wrap="none" lIns="0" rIns="0" tIns="0" bIns="0" anchor="ctr"/>
            <a:lstStyle/>
            <a:p>
              <a:pPr algn="l">
                <a:lnSpc>
                  <a:spcPct val="100000"/>
                </a:lnSpc>
                <a:spcBef>
                  <a:spcPts val="0"/>
                </a:spcBef>
                <a:spcAft>
                  <a:spcPts val="0"/>
                </a:spcAft>
              </a:pPr>
              <a:r>
                <a:rPr sz="1655" b="0" i="0" dirty="0">
                  <a:solidFill>
                    <a:srgbClr val="83837B"/>
                  </a:solidFill>
                  <a:latin typeface="Arial"/>
                </a:rPr>
                <a:t>Linear</a:t>
              </a:r>
            </a:p>
          </p:txBody>
        </p:sp>
        <p:sp>
          <p:nvSpPr>
            <p:cNvPr id="428" name="Multiplication operator"/>
            <p:cNvSpPr/>
            <p:nvPr/>
          </p:nvSpPr>
          <p:spPr>
            <a:xfrm>
              <a:off x="8513064" y="5586984"/>
              <a:ext cx="292608" cy="292608"/>
            </a:xfrm>
            <a:prstGeom prst="ellipse">
              <a:avLst/>
            </a:prstGeom>
            <a:solidFill>
              <a:srgbClr val="FFFBD0"/>
            </a:solidFill>
            <a:ln w="22860"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9" name="Connector"/>
            <p:cNvSpPr/>
            <p:nvPr/>
          </p:nvSpPr>
          <p:spPr>
            <a:xfrm>
              <a:off x="8558784" y="5632704"/>
              <a:ext cx="201168" cy="201168"/>
            </a:xfrm>
            <a:custGeom>
              <a:avLst/>
              <a:gdLst/>
              <a:ahLst/>
              <a:cxnLst/>
              <a:rect l="0" t="0" r="r" b="b"/>
              <a:pathLst>
                <a:path w="201168" h="201168">
                  <a:moveTo>
                    <a:pt x="0" y="0"/>
                  </a:moveTo>
                  <a:lnTo>
                    <a:pt x="201168" y="201168"/>
                  </a:lnTo>
                </a:path>
              </a:pathLst>
            </a:custGeom>
            <a:noFill/>
            <a:ln w="1828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0" name="Connector"/>
            <p:cNvSpPr/>
            <p:nvPr/>
          </p:nvSpPr>
          <p:spPr>
            <a:xfrm>
              <a:off x="8558784" y="5632704"/>
              <a:ext cx="201168" cy="201168"/>
            </a:xfrm>
            <a:custGeom>
              <a:avLst/>
              <a:gdLst/>
              <a:ahLst/>
              <a:cxnLst/>
              <a:rect l="0" t="0" r="r" b="b"/>
              <a:pathLst>
                <a:path w="201168" h="201168">
                  <a:moveTo>
                    <a:pt x="0" y="201168"/>
                  </a:moveTo>
                  <a:lnTo>
                    <a:pt x="201168" y="0"/>
                  </a:lnTo>
                </a:path>
              </a:pathLst>
            </a:custGeom>
            <a:noFill/>
            <a:ln w="1828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1" name="Multiplication operator"/>
            <p:cNvSpPr/>
            <p:nvPr/>
          </p:nvSpPr>
          <p:spPr>
            <a:xfrm>
              <a:off x="11000232" y="5586984"/>
              <a:ext cx="292608" cy="292608"/>
            </a:xfrm>
            <a:prstGeom prst="ellipse">
              <a:avLst/>
            </a:prstGeom>
            <a:solidFill>
              <a:srgbClr val="FFFBD0"/>
            </a:solidFill>
            <a:ln w="22860"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2" name="Connector"/>
            <p:cNvSpPr/>
            <p:nvPr/>
          </p:nvSpPr>
          <p:spPr>
            <a:xfrm>
              <a:off x="11045952" y="5632704"/>
              <a:ext cx="201168" cy="201168"/>
            </a:xfrm>
            <a:custGeom>
              <a:avLst/>
              <a:gdLst/>
              <a:ahLst/>
              <a:cxnLst/>
              <a:rect l="0" t="0" r="r" b="b"/>
              <a:pathLst>
                <a:path w="201168" h="201168">
                  <a:moveTo>
                    <a:pt x="0" y="0"/>
                  </a:moveTo>
                  <a:lnTo>
                    <a:pt x="201168" y="201168"/>
                  </a:lnTo>
                </a:path>
              </a:pathLst>
            </a:custGeom>
            <a:noFill/>
            <a:ln w="1828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3" name="Connector"/>
            <p:cNvSpPr/>
            <p:nvPr/>
          </p:nvSpPr>
          <p:spPr>
            <a:xfrm>
              <a:off x="11045952" y="5632704"/>
              <a:ext cx="201168" cy="201168"/>
            </a:xfrm>
            <a:custGeom>
              <a:avLst/>
              <a:gdLst/>
              <a:ahLst/>
              <a:cxnLst/>
              <a:rect l="0" t="0" r="r" b="b"/>
              <a:pathLst>
                <a:path w="201168" h="201168">
                  <a:moveTo>
                    <a:pt x="0" y="201168"/>
                  </a:moveTo>
                  <a:lnTo>
                    <a:pt x="201168" y="0"/>
                  </a:lnTo>
                </a:path>
              </a:pathLst>
            </a:custGeom>
            <a:noFill/>
            <a:ln w="18288"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4" name="Connector"/>
            <p:cNvSpPr/>
            <p:nvPr/>
          </p:nvSpPr>
          <p:spPr>
            <a:xfrm>
              <a:off x="8805672" y="5733288"/>
              <a:ext cx="338328" cy="91"/>
            </a:xfrm>
            <a:custGeom>
              <a:avLst/>
              <a:gdLst/>
              <a:ahLst/>
              <a:cxnLst/>
              <a:rect l="0" t="0" r="r" b="b"/>
              <a:pathLst>
                <a:path w="338328" h="91">
                  <a:moveTo>
                    <a:pt x="0" y="0"/>
                  </a:moveTo>
                  <a:lnTo>
                    <a:pt x="338328"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5" name="Arrowhead"/>
            <p:cNvSpPr/>
            <p:nvPr/>
          </p:nvSpPr>
          <p:spPr>
            <a:xfrm>
              <a:off x="9052560" y="5689397"/>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6" name="Softmax operator"/>
            <p:cNvSpPr/>
            <p:nvPr/>
          </p:nvSpPr>
          <p:spPr>
            <a:xfrm>
              <a:off x="9153144" y="5577840"/>
              <a:ext cx="310896" cy="310896"/>
            </a:xfrm>
            <a:prstGeom prst="ellipse">
              <a:avLst/>
            </a:prstGeom>
            <a:solidFill>
              <a:srgbClr val="FFFBD0"/>
            </a:solidFill>
            <a:ln w="21031"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7" name="S"/>
            <p:cNvSpPr txBox="1"/>
            <p:nvPr/>
          </p:nvSpPr>
          <p:spPr>
            <a:xfrm>
              <a:off x="9171432" y="5541264"/>
              <a:ext cx="274320" cy="365760"/>
            </a:xfrm>
            <a:prstGeom prst="rect">
              <a:avLst/>
            </a:prstGeom>
            <a:noFill/>
          </p:spPr>
          <p:txBody>
            <a:bodyPr wrap="none" lIns="0" rIns="0" tIns="0" bIns="0" anchor="ctr"/>
            <a:lstStyle/>
            <a:p>
              <a:pPr algn="ctr">
                <a:lnSpc>
                  <a:spcPct val="100000"/>
                </a:lnSpc>
                <a:spcBef>
                  <a:spcPts val="0"/>
                </a:spcBef>
                <a:spcAft>
                  <a:spcPts val="0"/>
                </a:spcAft>
              </a:pPr>
              <a:r>
                <a:rPr sz="2232" b="0" i="0" dirty="0">
                  <a:solidFill>
                    <a:srgbClr val="101010"/>
                  </a:solidFill>
                  <a:latin typeface="Times New Roman"/>
                </a:rPr>
                <a:t>S</a:t>
              </a:r>
            </a:p>
          </p:txBody>
        </p:sp>
        <p:sp>
          <p:nvSpPr>
            <p:cNvPr id="438" name="Connector"/>
            <p:cNvSpPr/>
            <p:nvPr/>
          </p:nvSpPr>
          <p:spPr>
            <a:xfrm>
              <a:off x="9464040" y="5733288"/>
              <a:ext cx="356616" cy="91"/>
            </a:xfrm>
            <a:custGeom>
              <a:avLst/>
              <a:gdLst/>
              <a:ahLst/>
              <a:cxnLst/>
              <a:rect l="0" t="0" r="r" b="b"/>
              <a:pathLst>
                <a:path w="356616" h="91">
                  <a:moveTo>
                    <a:pt x="0" y="0"/>
                  </a:moveTo>
                  <a:lnTo>
                    <a:pt x="356616"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9" name="Arrowhead"/>
            <p:cNvSpPr/>
            <p:nvPr/>
          </p:nvSpPr>
          <p:spPr>
            <a:xfrm>
              <a:off x="9729216" y="5689397"/>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440" name="Cross modal attention matrix"/>
            <p:cNvGrpSpPr/>
            <p:nvPr/>
          </p:nvGrpSpPr>
          <p:grpSpPr>
            <a:xfrm>
              <a:off x="9829800" y="5349240"/>
              <a:ext cx="742493" cy="742493"/>
              <a:chOff x="9829800" y="5349240"/>
              <a:chExt cx="742493" cy="742493"/>
            </a:xfrm>
          </p:grpSpPr>
          <p:sp>
            <p:nvSpPr>
              <p:cNvPr id="441" name="Attention cell"/>
              <p:cNvSpPr/>
              <p:nvPr/>
            </p:nvSpPr>
            <p:spPr>
              <a:xfrm>
                <a:off x="9829800" y="5349240"/>
                <a:ext cx="185623" cy="185623"/>
              </a:xfrm>
              <a:prstGeom prst="rect">
                <a:avLst/>
              </a:prstGeom>
              <a:solidFill>
                <a:srgbClr val="FBCBA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2" name="Attention cell"/>
              <p:cNvSpPr/>
              <p:nvPr/>
            </p:nvSpPr>
            <p:spPr>
              <a:xfrm>
                <a:off x="10015423" y="5349240"/>
                <a:ext cx="185623" cy="185623"/>
              </a:xfrm>
              <a:prstGeom prst="rect">
                <a:avLst/>
              </a:prstGeom>
              <a:solidFill>
                <a:srgbClr val="FFD8B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3" name="Attention cell"/>
              <p:cNvSpPr/>
              <p:nvPr/>
            </p:nvSpPr>
            <p:spPr>
              <a:xfrm>
                <a:off x="10201046" y="5349240"/>
                <a:ext cx="185623" cy="185623"/>
              </a:xfrm>
              <a:prstGeom prst="rect">
                <a:avLst/>
              </a:prstGeom>
              <a:solidFill>
                <a:srgbClr val="F4E5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4" name="Attention cell"/>
              <p:cNvSpPr/>
              <p:nvPr/>
            </p:nvSpPr>
            <p:spPr>
              <a:xfrm>
                <a:off x="10386670" y="5349240"/>
                <a:ext cx="185623" cy="185623"/>
              </a:xfrm>
              <a:prstGeom prst="rect">
                <a:avLst/>
              </a:prstGeom>
              <a:solidFill>
                <a:srgbClr val="F9B38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5" name="Attention cell"/>
              <p:cNvSpPr/>
              <p:nvPr/>
            </p:nvSpPr>
            <p:spPr>
              <a:xfrm>
                <a:off x="9829800" y="5534863"/>
                <a:ext cx="185623" cy="185623"/>
              </a:xfrm>
              <a:prstGeom prst="rect">
                <a:avLst/>
              </a:prstGeom>
              <a:solidFill>
                <a:srgbClr val="F7E8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6" name="Attention cell"/>
              <p:cNvSpPr/>
              <p:nvPr/>
            </p:nvSpPr>
            <p:spPr>
              <a:xfrm>
                <a:off x="10015423" y="5534863"/>
                <a:ext cx="185623" cy="185623"/>
              </a:xfrm>
              <a:prstGeom prst="rect">
                <a:avLst/>
              </a:prstGeom>
              <a:solidFill>
                <a:srgbClr val="F3B18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7" name="Attention cell"/>
              <p:cNvSpPr/>
              <p:nvPr/>
            </p:nvSpPr>
            <p:spPr>
              <a:xfrm>
                <a:off x="10201046" y="5534863"/>
                <a:ext cx="185623" cy="185623"/>
              </a:xfrm>
              <a:prstGeom prst="rect">
                <a:avLst/>
              </a:prstGeom>
              <a:solidFill>
                <a:srgbClr val="F7EC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8" name="Attention cell"/>
              <p:cNvSpPr/>
              <p:nvPr/>
            </p:nvSpPr>
            <p:spPr>
              <a:xfrm>
                <a:off x="10386670" y="5534863"/>
                <a:ext cx="185623" cy="185623"/>
              </a:xfrm>
              <a:prstGeom prst="rect">
                <a:avLst/>
              </a:prstGeom>
              <a:solidFill>
                <a:srgbClr val="FFF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9" name="Attention cell"/>
              <p:cNvSpPr/>
              <p:nvPr/>
            </p:nvSpPr>
            <p:spPr>
              <a:xfrm>
                <a:off x="9829800" y="5720486"/>
                <a:ext cx="185623" cy="185623"/>
              </a:xfrm>
              <a:prstGeom prst="rect">
                <a:avLst/>
              </a:prstGeom>
              <a:solidFill>
                <a:srgbClr val="F4B99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0" name="Attention cell"/>
              <p:cNvSpPr/>
              <p:nvPr/>
            </p:nvSpPr>
            <p:spPr>
              <a:xfrm>
                <a:off x="10015423" y="5720486"/>
                <a:ext cx="185623" cy="185623"/>
              </a:xfrm>
              <a:prstGeom prst="rect">
                <a:avLst/>
              </a:prstGeom>
              <a:solidFill>
                <a:srgbClr val="F3E9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Attention cell"/>
              <p:cNvSpPr/>
              <p:nvPr/>
            </p:nvSpPr>
            <p:spPr>
              <a:xfrm>
                <a:off x="10201046" y="5720486"/>
                <a:ext cx="185623" cy="185623"/>
              </a:xfrm>
              <a:prstGeom prst="rect">
                <a:avLst/>
              </a:prstGeom>
              <a:solidFill>
                <a:srgbClr val="F8CEB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Attention cell"/>
              <p:cNvSpPr/>
              <p:nvPr/>
            </p:nvSpPr>
            <p:spPr>
              <a:xfrm>
                <a:off x="10386670" y="5720486"/>
                <a:ext cx="185623" cy="185623"/>
              </a:xfrm>
              <a:prstGeom prst="rect">
                <a:avLst/>
              </a:prstGeom>
              <a:solidFill>
                <a:srgbClr val="F5B0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3" name="Attention cell"/>
              <p:cNvSpPr/>
              <p:nvPr/>
            </p:nvSpPr>
            <p:spPr>
              <a:xfrm>
                <a:off x="9829800" y="5906110"/>
                <a:ext cx="185623" cy="185623"/>
              </a:xfrm>
              <a:prstGeom prst="rect">
                <a:avLst/>
              </a:prstGeom>
              <a:solidFill>
                <a:srgbClr val="F7F4E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Attention cell"/>
              <p:cNvSpPr/>
              <p:nvPr/>
            </p:nvSpPr>
            <p:spPr>
              <a:xfrm>
                <a:off x="10015423" y="5906110"/>
                <a:ext cx="185623" cy="185623"/>
              </a:xfrm>
              <a:prstGeom prst="rect">
                <a:avLst/>
              </a:prstGeom>
              <a:solidFill>
                <a:srgbClr val="F8D1B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Attention cell"/>
              <p:cNvSpPr/>
              <p:nvPr/>
            </p:nvSpPr>
            <p:spPr>
              <a:xfrm>
                <a:off x="10201046" y="5906110"/>
                <a:ext cx="185623" cy="185623"/>
              </a:xfrm>
              <a:prstGeom prst="rect">
                <a:avLst/>
              </a:prstGeom>
              <a:solidFill>
                <a:srgbClr val="EEF2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Attention cell"/>
              <p:cNvSpPr/>
              <p:nvPr/>
            </p:nvSpPr>
            <p:spPr>
              <a:xfrm>
                <a:off x="10386670" y="5906110"/>
                <a:ext cx="185623" cy="185623"/>
              </a:xfrm>
              <a:prstGeom prst="rect">
                <a:avLst/>
              </a:prstGeom>
              <a:solidFill>
                <a:srgbClr val="F6B88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Attention matrix outline"/>
              <p:cNvSpPr/>
              <p:nvPr/>
            </p:nvSpPr>
            <p:spPr>
              <a:xfrm>
                <a:off x="9829800" y="5349240"/>
                <a:ext cx="742493" cy="742493"/>
              </a:xfrm>
              <a:prstGeom prst="rect">
                <a:avLst/>
              </a:prstGeom>
              <a:noFill/>
              <a:ln w="16459" cap="flat">
                <a:solidFill>
                  <a:srgbClr val="EF9C64"/>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458" name="Connector"/>
            <p:cNvSpPr/>
            <p:nvPr/>
          </p:nvSpPr>
          <p:spPr>
            <a:xfrm>
              <a:off x="10570464" y="5733288"/>
              <a:ext cx="420624" cy="91"/>
            </a:xfrm>
            <a:custGeom>
              <a:avLst/>
              <a:gdLst/>
              <a:ahLst/>
              <a:cxnLst/>
              <a:rect l="0" t="0" r="r" b="b"/>
              <a:pathLst>
                <a:path w="420624" h="91">
                  <a:moveTo>
                    <a:pt x="0" y="0"/>
                  </a:moveTo>
                  <a:lnTo>
                    <a:pt x="420624"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Arrowhead"/>
            <p:cNvSpPr/>
            <p:nvPr/>
          </p:nvSpPr>
          <p:spPr>
            <a:xfrm>
              <a:off x="10899648" y="5689397"/>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Connector"/>
            <p:cNvSpPr/>
            <p:nvPr/>
          </p:nvSpPr>
          <p:spPr>
            <a:xfrm>
              <a:off x="11292840" y="5733288"/>
              <a:ext cx="530352" cy="91"/>
            </a:xfrm>
            <a:custGeom>
              <a:avLst/>
              <a:gdLst/>
              <a:ahLst/>
              <a:cxnLst/>
              <a:rect l="0" t="0" r="r" b="b"/>
              <a:pathLst>
                <a:path w="530352" h="91">
                  <a:moveTo>
                    <a:pt x="0" y="0"/>
                  </a:moveTo>
                  <a:lnTo>
                    <a:pt x="530352"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Arrowhead"/>
            <p:cNvSpPr/>
            <p:nvPr/>
          </p:nvSpPr>
          <p:spPr>
            <a:xfrm>
              <a:off x="11731752" y="5689397"/>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Cross modal projection MLP"/>
            <p:cNvSpPr/>
            <p:nvPr/>
          </p:nvSpPr>
          <p:spPr>
            <a:xfrm>
              <a:off x="11823192" y="5568696"/>
              <a:ext cx="813816" cy="338328"/>
            </a:xfrm>
            <a:prstGeom prst="roundRect">
              <a:avLst>
                <a:gd name="adj" fmla="val 18918"/>
              </a:avLst>
            </a:prstGeom>
            <a:solidFill>
              <a:srgbClr val="FFFBD0"/>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MLP"/>
            <p:cNvSpPr txBox="1"/>
            <p:nvPr/>
          </p:nvSpPr>
          <p:spPr>
            <a:xfrm>
              <a:off x="11859768" y="5577840"/>
              <a:ext cx="740664" cy="320040"/>
            </a:xfrm>
            <a:prstGeom prst="rect">
              <a:avLst/>
            </a:prstGeom>
            <a:noFill/>
          </p:spPr>
          <p:txBody>
            <a:bodyPr wrap="none" lIns="0" rIns="0" tIns="0" bIns="0" anchor="ctr"/>
            <a:lstStyle/>
            <a:p>
              <a:pPr algn="ctr">
                <a:lnSpc>
                  <a:spcPct val="100000"/>
                </a:lnSpc>
                <a:spcBef>
                  <a:spcPts val="0"/>
                </a:spcBef>
                <a:spcAft>
                  <a:spcPts val="0"/>
                </a:spcAft>
              </a:pPr>
              <a:r>
                <a:rPr sz="2088" b="0" i="0" dirty="0">
                  <a:solidFill>
                    <a:srgbClr val="101010"/>
                  </a:solidFill>
                  <a:latin typeface="Arial"/>
                </a:rPr>
                <a:t>MLP</a:t>
              </a:r>
            </a:p>
          </p:txBody>
        </p:sp>
        <p:sp>
          <p:nvSpPr>
            <p:cNvPr id="464" name="Connector"/>
            <p:cNvSpPr/>
            <p:nvPr/>
          </p:nvSpPr>
          <p:spPr>
            <a:xfrm>
              <a:off x="12637008" y="5733288"/>
              <a:ext cx="493776" cy="91"/>
            </a:xfrm>
            <a:custGeom>
              <a:avLst/>
              <a:gdLst/>
              <a:ahLst/>
              <a:cxnLst/>
              <a:rect l="0" t="0" r="r" b="b"/>
              <a:pathLst>
                <a:path w="493776" h="91">
                  <a:moveTo>
                    <a:pt x="0" y="0"/>
                  </a:moveTo>
                  <a:lnTo>
                    <a:pt x="493776"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Arrowhead"/>
            <p:cNvSpPr/>
            <p:nvPr/>
          </p:nvSpPr>
          <p:spPr>
            <a:xfrm>
              <a:off x="13039344" y="5689397"/>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466" name="Object agent query set"/>
            <p:cNvGrpSpPr/>
            <p:nvPr/>
          </p:nvGrpSpPr>
          <p:grpSpPr>
            <a:xfrm>
              <a:off x="13149072" y="5394960"/>
              <a:ext cx="1618488" cy="621792"/>
              <a:chOff x="13149072" y="5394960"/>
              <a:chExt cx="1618488" cy="621792"/>
            </a:xfrm>
          </p:grpSpPr>
          <p:sp>
            <p:nvSpPr>
              <p:cNvPr id="467" name="Queries dotted frame"/>
              <p:cNvSpPr/>
              <p:nvPr/>
            </p:nvSpPr>
            <p:spPr>
              <a:xfrm>
                <a:off x="13149072" y="5394960"/>
                <a:ext cx="1618488" cy="621792"/>
              </a:xfrm>
              <a:prstGeom prst="rect">
                <a:avLst/>
              </a:prstGeom>
              <a:noFill/>
              <a:ln w="16459" cap="flat">
                <a:solidFill>
                  <a:srgbClr val="233F65"/>
                </a:solidFill>
                <a:custDash>
                  <a:ds d="111111" sp="166667"/>
                </a:custDash>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Query association arc"/>
              <p:cNvSpPr/>
              <p:nvPr/>
            </p:nvSpPr>
            <p:spPr>
              <a:xfrm>
                <a:off x="13341096" y="5458968"/>
                <a:ext cx="1216152" cy="192024"/>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Query association arc"/>
              <p:cNvSpPr/>
              <p:nvPr/>
            </p:nvSpPr>
            <p:spPr>
              <a:xfrm>
                <a:off x="13331952" y="5468112"/>
                <a:ext cx="1097280" cy="347472"/>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0" name="Query association arc"/>
              <p:cNvSpPr/>
              <p:nvPr/>
            </p:nvSpPr>
            <p:spPr>
              <a:xfrm>
                <a:off x="13377672" y="5522976"/>
                <a:ext cx="1216152" cy="356616"/>
              </a:xfrm>
              <a:prstGeom prst="ellipse">
                <a:avLst/>
              </a:prstGeom>
              <a:noFill/>
              <a:ln w="18288" cap="flat">
                <a:solidFill>
                  <a:srgbClr val="A8AAA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1" name="Query token"/>
              <p:cNvSpPr/>
              <p:nvPr/>
            </p:nvSpPr>
            <p:spPr>
              <a:xfrm>
                <a:off x="13277088" y="5596128"/>
                <a:ext cx="256032" cy="256032"/>
              </a:xfrm>
              <a:prstGeom prst="rect">
                <a:avLst/>
              </a:prstGeom>
              <a:solidFill>
                <a:srgbClr val="F8C5A8"/>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2" name="···"/>
              <p:cNvSpPr txBox="1"/>
              <p:nvPr/>
            </p:nvSpPr>
            <p:spPr>
              <a:xfrm>
                <a:off x="13578840" y="5577840"/>
                <a:ext cx="274320" cy="228600"/>
              </a:xfrm>
              <a:prstGeom prst="rect">
                <a:avLst/>
              </a:prstGeom>
              <a:noFill/>
            </p:spPr>
            <p:txBody>
              <a:bodyPr wrap="none" lIns="0" rIns="0" tIns="0" bIns="0" anchor="ctr"/>
              <a:lstStyle/>
              <a:p>
                <a:pPr algn="ctr">
                  <a:lnSpc>
                    <a:spcPct val="100000"/>
                  </a:lnSpc>
                  <a:spcBef>
                    <a:spcPts val="0"/>
                  </a:spcBef>
                  <a:spcAft>
                    <a:spcPts val="0"/>
                  </a:spcAft>
                </a:pPr>
                <a:r>
                  <a:rPr sz="1800" b="1" i="0" dirty="0">
                    <a:solidFill>
                      <a:srgbClr val="101010"/>
                    </a:solidFill>
                    <a:latin typeface="Arial"/>
                  </a:rPr>
                  <a:t>···</a:t>
                </a:r>
              </a:p>
            </p:txBody>
          </p:sp>
          <p:sp>
            <p:nvSpPr>
              <p:cNvPr id="473" name="Query token"/>
              <p:cNvSpPr/>
              <p:nvPr/>
            </p:nvSpPr>
            <p:spPr>
              <a:xfrm>
                <a:off x="13898880" y="5596128"/>
                <a:ext cx="256032" cy="256032"/>
              </a:xfrm>
              <a:prstGeom prst="rect">
                <a:avLst/>
              </a:prstGeom>
              <a:solidFill>
                <a:srgbClr val="F8C5A8"/>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4" name="Query token"/>
              <p:cNvSpPr/>
              <p:nvPr/>
            </p:nvSpPr>
            <p:spPr>
              <a:xfrm>
                <a:off x="14154912" y="5596128"/>
                <a:ext cx="256032" cy="256032"/>
              </a:xfrm>
              <a:prstGeom prst="rect">
                <a:avLst/>
              </a:prstGeom>
              <a:solidFill>
                <a:srgbClr val="F8C5A8"/>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5" name="Query token"/>
              <p:cNvSpPr/>
              <p:nvPr/>
            </p:nvSpPr>
            <p:spPr>
              <a:xfrm>
                <a:off x="14410944" y="5596128"/>
                <a:ext cx="256032" cy="256032"/>
              </a:xfrm>
              <a:prstGeom prst="rect">
                <a:avLst/>
              </a:prstGeom>
              <a:solidFill>
                <a:srgbClr val="F8C5A8"/>
              </a:solidFill>
              <a:ln w="16459" cap="flat">
                <a:solidFill>
                  <a:srgbClr val="233F65"/>
                </a:solidFill>
                <a:miter lim="800000"/>
              </a:ln>
              <a:effectLst>
                <a:outerShdw blurRad="34747" dist="45720" dir="3187806" algn="ctr" rotWithShape="0">
                  <a:srgbClr val="000000">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grpSp>
          <p:nvGrpSpPr>
            <p:cNvPr id="476" name="Query 3D"/>
            <p:cNvGrpSpPr/>
            <p:nvPr/>
          </p:nvGrpSpPr>
          <p:grpSpPr>
            <a:xfrm>
              <a:off x="14840712" y="5376855"/>
              <a:ext cx="361174" cy="369814"/>
              <a:chOff x="14840712" y="5376855"/>
              <a:chExt cx="361174" cy="369814"/>
            </a:xfrm>
          </p:grpSpPr>
          <p:sp>
            <p:nvSpPr>
              <p:cNvPr id="477" name="Equation q̂"/>
              <p:cNvSpPr txBox="1"/>
              <p:nvPr/>
            </p:nvSpPr>
            <p:spPr>
              <a:xfrm>
                <a:off x="14840712" y="5376855"/>
                <a:ext cx="160020" cy="344729"/>
              </a:xfrm>
              <a:prstGeom prst="rect">
                <a:avLst/>
              </a:prstGeom>
              <a:noFill/>
            </p:spPr>
            <p:txBody>
              <a:bodyPr wrap="none" lIns="0" rIns="0" tIns="0" bIns="0" anchor="ctr"/>
              <a:lstStyle/>
              <a:p>
                <a:pPr algn="l">
                  <a:lnSpc>
                    <a:spcPct val="100000"/>
                  </a:lnSpc>
                  <a:spcBef>
                    <a:spcPts val="0"/>
                  </a:spcBef>
                  <a:spcAft>
                    <a:spcPts val="0"/>
                  </a:spcAft>
                </a:pPr>
                <a:r>
                  <a:rPr sz="2088" b="0" i="1" dirty="0">
                    <a:solidFill>
                      <a:srgbClr val="101010"/>
                    </a:solidFill>
                    <a:latin typeface="Times New Roman"/>
                  </a:rPr>
                  <a:t>q̂</a:t>
                </a:r>
              </a:p>
            </p:txBody>
          </p:sp>
          <p:sp>
            <p:nvSpPr>
              <p:cNvPr id="478" name="Equation 3D"/>
              <p:cNvSpPr txBox="1"/>
              <p:nvPr/>
            </p:nvSpPr>
            <p:spPr>
              <a:xfrm>
                <a:off x="14973300" y="5532937"/>
                <a:ext cx="228586" cy="213732"/>
              </a:xfrm>
              <a:prstGeom prst="rect">
                <a:avLst/>
              </a:prstGeom>
              <a:noFill/>
            </p:spPr>
            <p:txBody>
              <a:bodyPr wrap="none" lIns="0" rIns="0" tIns="0" bIns="0" anchor="ctr"/>
              <a:lstStyle/>
              <a:p>
                <a:pPr algn="l">
                  <a:lnSpc>
                    <a:spcPct val="100000"/>
                  </a:lnSpc>
                  <a:spcBef>
                    <a:spcPts val="0"/>
                  </a:spcBef>
                  <a:spcAft>
                    <a:spcPts val="0"/>
                  </a:spcAft>
                </a:pPr>
                <a:r>
                  <a:rPr sz="1294" b="0" i="1" dirty="0">
                    <a:solidFill>
                      <a:srgbClr val="101010"/>
                    </a:solidFill>
                    <a:latin typeface="Times New Roman"/>
                  </a:rPr>
                  <a:t>3D</a:t>
                </a:r>
              </a:p>
            </p:txBody>
          </p:sp>
        </p:grpSp>
        <p:sp>
          <p:nvSpPr>
            <p:cNvPr id="479" name="Connector"/>
            <p:cNvSpPr/>
            <p:nvPr/>
          </p:nvSpPr>
          <p:spPr>
            <a:xfrm>
              <a:off x="7927848" y="5943600"/>
              <a:ext cx="5431536" cy="2642616"/>
            </a:xfrm>
            <a:custGeom>
              <a:avLst/>
              <a:gdLst/>
              <a:ahLst/>
              <a:cxnLst/>
              <a:rect l="0" t="0" r="r" b="b"/>
              <a:pathLst>
                <a:path w="5431536" h="2642616">
                  <a:moveTo>
                    <a:pt x="5431536" y="0"/>
                  </a:moveTo>
                  <a:lnTo>
                    <a:pt x="5431536" y="2642616"/>
                  </a:lnTo>
                  <a:lnTo>
                    <a:pt x="0" y="2642616"/>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0" name="Arrowhead"/>
            <p:cNvSpPr/>
            <p:nvPr/>
          </p:nvSpPr>
          <p:spPr>
            <a:xfrm>
              <a:off x="7927848" y="8542325"/>
              <a:ext cx="91440" cy="87782"/>
            </a:xfrm>
            <a:custGeom>
              <a:avLst/>
              <a:gdLst/>
              <a:ahLst/>
              <a:cxnLst/>
              <a:rect l="0" t="0" r="r" b="b"/>
              <a:pathLst>
                <a:path w="91440" h="87782">
                  <a:moveTo>
                    <a:pt x="0" y="43891"/>
                  </a:moveTo>
                  <a:lnTo>
                    <a:pt x="91440" y="0"/>
                  </a:lnTo>
                  <a:lnTo>
                    <a:pt x="91440" y="87782"/>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1" name="Connector"/>
            <p:cNvSpPr/>
            <p:nvPr/>
          </p:nvSpPr>
          <p:spPr>
            <a:xfrm>
              <a:off x="11512296" y="8074152"/>
              <a:ext cx="1847088" cy="91"/>
            </a:xfrm>
            <a:custGeom>
              <a:avLst/>
              <a:gdLst/>
              <a:ahLst/>
              <a:cxnLst/>
              <a:rect l="0" t="0" r="r" b="b"/>
              <a:pathLst>
                <a:path w="1847088" h="91">
                  <a:moveTo>
                    <a:pt x="1847088" y="0"/>
                  </a:moveTo>
                  <a:lnTo>
                    <a:pt x="0" y="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2" name="Arrowhead"/>
            <p:cNvSpPr/>
            <p:nvPr/>
          </p:nvSpPr>
          <p:spPr>
            <a:xfrm>
              <a:off x="11512296" y="8030261"/>
              <a:ext cx="91440" cy="87782"/>
            </a:xfrm>
            <a:custGeom>
              <a:avLst/>
              <a:gdLst/>
              <a:ahLst/>
              <a:cxnLst/>
              <a:rect l="0" t="0" r="r" b="b"/>
              <a:pathLst>
                <a:path w="91440" h="87782">
                  <a:moveTo>
                    <a:pt x="0" y="43891"/>
                  </a:moveTo>
                  <a:lnTo>
                    <a:pt x="91440" y="0"/>
                  </a:lnTo>
                  <a:lnTo>
                    <a:pt x="91440" y="87782"/>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3" name="Connector"/>
            <p:cNvSpPr/>
            <p:nvPr/>
          </p:nvSpPr>
          <p:spPr>
            <a:xfrm>
              <a:off x="6995160" y="6144768"/>
              <a:ext cx="91" cy="292608"/>
            </a:xfrm>
            <a:custGeom>
              <a:avLst/>
              <a:gdLst/>
              <a:ahLst/>
              <a:cxnLst/>
              <a:rect l="0" t="0" r="r" b="b"/>
              <a:pathLst>
                <a:path w="91" h="292608">
                  <a:moveTo>
                    <a:pt x="0" y="0"/>
                  </a:moveTo>
                  <a:lnTo>
                    <a:pt x="0" y="292608"/>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4" name="Arrowhead"/>
            <p:cNvSpPr/>
            <p:nvPr/>
          </p:nvSpPr>
          <p:spPr>
            <a:xfrm>
              <a:off x="6951269" y="6345936"/>
              <a:ext cx="87782" cy="91440"/>
            </a:xfrm>
            <a:custGeom>
              <a:avLst/>
              <a:gdLst/>
              <a:ahLst/>
              <a:cxnLst/>
              <a:rect l="0" t="0" r="r" b="b"/>
              <a:pathLst>
                <a:path w="87782" h="91440">
                  <a:moveTo>
                    <a:pt x="43891" y="91440"/>
                  </a:moveTo>
                  <a:lnTo>
                    <a:pt x="0" y="0"/>
                  </a:lnTo>
                  <a:lnTo>
                    <a:pt x="87782"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5" name="Feature refinement stage 1 upper"/>
            <p:cNvSpPr/>
            <p:nvPr/>
          </p:nvSpPr>
          <p:spPr>
            <a:xfrm>
              <a:off x="6071616" y="6437376"/>
              <a:ext cx="1856232" cy="594360"/>
            </a:xfrm>
            <a:prstGeom prst="roundRect">
              <a:avLst>
                <a:gd name="adj" fmla="val 21538"/>
              </a:avLst>
            </a:prstGeom>
            <a:solidFill>
              <a:srgbClr val="FFE17C"/>
            </a:solid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6" name="Feature / Refinement"/>
            <p:cNvSpPr txBox="1"/>
            <p:nvPr/>
          </p:nvSpPr>
          <p:spPr>
            <a:xfrm>
              <a:off x="6163056" y="6437376"/>
              <a:ext cx="1673352" cy="594360"/>
            </a:xfrm>
            <a:prstGeom prst="rect">
              <a:avLst/>
            </a:prstGeom>
            <a:noFill/>
          </p:spPr>
          <p:txBody>
            <a:bodyPr wrap="none" lIns="0" rIns="0" tIns="0" bIns="0" anchor="ctr"/>
            <a:lstStyle/>
            <a:p>
              <a:pPr algn="ctr">
                <a:lnSpc>
                  <a:spcPct val="100000"/>
                </a:lnSpc>
                <a:spcBef>
                  <a:spcPts val="0"/>
                </a:spcBef>
                <a:spcAft>
                  <a:spcPts val="0"/>
                </a:spcAft>
              </a:pPr>
              <a:r>
                <a:rPr sz="2016" b="0" i="0" dirty="0">
                  <a:solidFill>
                    <a:srgbClr val="101010"/>
                  </a:solidFill>
                  <a:latin typeface="Arial"/>
                </a:rPr>
                <a:t>Feature</a:t>
              </a:r>
            </a:p>
            <a:p>
              <a:pPr algn="ctr">
                <a:lnSpc>
                  <a:spcPct val="100000"/>
                </a:lnSpc>
                <a:spcBef>
                  <a:spcPts val="0"/>
                </a:spcBef>
                <a:spcAft>
                  <a:spcPts val="0"/>
                </a:spcAft>
              </a:pPr>
              <a:r>
                <a:rPr sz="2016" b="0" i="0" dirty="0">
                  <a:solidFill>
                    <a:srgbClr val="101010"/>
                  </a:solidFill>
                  <a:latin typeface="Arial"/>
                </a:rPr>
                <a:t>Refinement</a:t>
              </a:r>
            </a:p>
          </p:txBody>
        </p:sp>
        <p:sp>
          <p:nvSpPr>
            <p:cNvPr id="487" name="Feature refinement stage 1 lower"/>
            <p:cNvSpPr/>
            <p:nvPr/>
          </p:nvSpPr>
          <p:spPr>
            <a:xfrm>
              <a:off x="6062472" y="8028432"/>
              <a:ext cx="1856232" cy="603504"/>
            </a:xfrm>
            <a:prstGeom prst="roundRect">
              <a:avLst>
                <a:gd name="adj" fmla="val 21212"/>
              </a:avLst>
            </a:prstGeom>
            <a:solidFill>
              <a:srgbClr val="FFE17C"/>
            </a:solid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8" name="Feature / Refinement"/>
            <p:cNvSpPr txBox="1"/>
            <p:nvPr/>
          </p:nvSpPr>
          <p:spPr>
            <a:xfrm>
              <a:off x="6153912" y="8028432"/>
              <a:ext cx="1673352" cy="603504"/>
            </a:xfrm>
            <a:prstGeom prst="rect">
              <a:avLst/>
            </a:prstGeom>
            <a:noFill/>
          </p:spPr>
          <p:txBody>
            <a:bodyPr wrap="none" lIns="0" rIns="0" tIns="0" bIns="0" anchor="ctr"/>
            <a:lstStyle/>
            <a:p>
              <a:pPr algn="ctr">
                <a:lnSpc>
                  <a:spcPct val="100000"/>
                </a:lnSpc>
                <a:spcBef>
                  <a:spcPts val="0"/>
                </a:spcBef>
                <a:spcAft>
                  <a:spcPts val="0"/>
                </a:spcAft>
              </a:pPr>
              <a:r>
                <a:rPr sz="2016" b="0" i="0" dirty="0">
                  <a:solidFill>
                    <a:srgbClr val="101010"/>
                  </a:solidFill>
                  <a:latin typeface="Arial"/>
                </a:rPr>
                <a:t>Feature</a:t>
              </a:r>
            </a:p>
            <a:p>
              <a:pPr algn="ctr">
                <a:lnSpc>
                  <a:spcPct val="100000"/>
                </a:lnSpc>
                <a:spcBef>
                  <a:spcPts val="0"/>
                </a:spcBef>
                <a:spcAft>
                  <a:spcPts val="0"/>
                </a:spcAft>
              </a:pPr>
              <a:r>
                <a:rPr sz="2016" b="0" i="0" dirty="0">
                  <a:solidFill>
                    <a:srgbClr val="101010"/>
                  </a:solidFill>
                  <a:latin typeface="Arial"/>
                </a:rPr>
                <a:t>Refinement</a:t>
              </a:r>
            </a:p>
          </p:txBody>
        </p:sp>
        <p:sp>
          <p:nvSpPr>
            <p:cNvPr id="489" name="Connector"/>
            <p:cNvSpPr/>
            <p:nvPr/>
          </p:nvSpPr>
          <p:spPr>
            <a:xfrm>
              <a:off x="7927848" y="6729984"/>
              <a:ext cx="384048" cy="91"/>
            </a:xfrm>
            <a:custGeom>
              <a:avLst/>
              <a:gdLst/>
              <a:ahLst/>
              <a:cxnLst/>
              <a:rect l="0" t="0" r="r" b="b"/>
              <a:pathLst>
                <a:path w="384048" h="91">
                  <a:moveTo>
                    <a:pt x="0" y="0"/>
                  </a:moveTo>
                  <a:lnTo>
                    <a:pt x="384048"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0" name="Arrowhead"/>
            <p:cNvSpPr/>
            <p:nvPr/>
          </p:nvSpPr>
          <p:spPr>
            <a:xfrm>
              <a:off x="8220456" y="6686093"/>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491" name="Feature tensor"/>
            <p:cNvGrpSpPr/>
            <p:nvPr/>
          </p:nvGrpSpPr>
          <p:grpSpPr>
            <a:xfrm>
              <a:off x="8321040" y="6409944"/>
              <a:ext cx="338328" cy="1106424"/>
              <a:chOff x="8321040" y="6409944"/>
              <a:chExt cx="338328" cy="1106424"/>
            </a:xfrm>
          </p:grpSpPr>
          <p:sp>
            <p:nvSpPr>
              <p:cNvPr id="492" name="Polygon"/>
              <p:cNvSpPr/>
              <p:nvPr/>
            </p:nvSpPr>
            <p:spPr>
              <a:xfrm>
                <a:off x="8321040" y="6409944"/>
                <a:ext cx="338328" cy="91440"/>
              </a:xfrm>
              <a:custGeom>
                <a:avLst/>
                <a:gdLst/>
                <a:ahLst/>
                <a:cxnLst/>
                <a:rect l="0" t="0" r="r" b="b"/>
                <a:pathLst>
                  <a:path w="338328" h="91440">
                    <a:moveTo>
                      <a:pt x="0" y="91440"/>
                    </a:moveTo>
                    <a:lnTo>
                      <a:pt x="82296" y="0"/>
                    </a:lnTo>
                    <a:lnTo>
                      <a:pt x="338328" y="0"/>
                    </a:lnTo>
                    <a:lnTo>
                      <a:pt x="256032" y="91440"/>
                    </a:lnTo>
                    <a:close/>
                  </a:path>
                </a:pathLst>
              </a:custGeom>
              <a:solidFill>
                <a:srgbClr val="FAD0B7"/>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3" name="Polygon"/>
              <p:cNvSpPr/>
              <p:nvPr/>
            </p:nvSpPr>
            <p:spPr>
              <a:xfrm>
                <a:off x="8577072" y="6409944"/>
                <a:ext cx="82296" cy="1106424"/>
              </a:xfrm>
              <a:custGeom>
                <a:avLst/>
                <a:gdLst/>
                <a:ahLst/>
                <a:cxnLst/>
                <a:rect l="0" t="0" r="r" b="b"/>
                <a:pathLst>
                  <a:path w="82296" h="1106424">
                    <a:moveTo>
                      <a:pt x="0" y="91440"/>
                    </a:moveTo>
                    <a:lnTo>
                      <a:pt x="82296" y="0"/>
                    </a:lnTo>
                    <a:lnTo>
                      <a:pt x="82296" y="1014984"/>
                    </a:lnTo>
                    <a:lnTo>
                      <a:pt x="0" y="1106424"/>
                    </a:lnTo>
                    <a:close/>
                  </a:path>
                </a:pathLst>
              </a:custGeom>
              <a:solidFill>
                <a:srgbClr val="DAB3A7"/>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4" name="Feature channel"/>
              <p:cNvSpPr/>
              <p:nvPr/>
            </p:nvSpPr>
            <p:spPr>
              <a:xfrm>
                <a:off x="8321040" y="6501384"/>
                <a:ext cx="256032" cy="253746"/>
              </a:xfrm>
              <a:prstGeom prst="rect">
                <a:avLst/>
              </a:prstGeom>
              <a:solidFill>
                <a:srgbClr val="F6B9A6"/>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5" name="Feature channel"/>
              <p:cNvSpPr/>
              <p:nvPr/>
            </p:nvSpPr>
            <p:spPr>
              <a:xfrm>
                <a:off x="8321040" y="6755130"/>
                <a:ext cx="256032" cy="253746"/>
              </a:xfrm>
              <a:prstGeom prst="rect">
                <a:avLst/>
              </a:prstGeom>
              <a:solidFill>
                <a:srgbClr val="F6B9A6"/>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6" name="Connector"/>
              <p:cNvSpPr/>
              <p:nvPr/>
            </p:nvSpPr>
            <p:spPr>
              <a:xfrm>
                <a:off x="8577072" y="6663690"/>
                <a:ext cx="82296" cy="91440"/>
              </a:xfrm>
              <a:custGeom>
                <a:avLst/>
                <a:gdLst/>
                <a:ahLst/>
                <a:cxnLst/>
                <a:rect l="0" t="0" r="r" b="b"/>
                <a:pathLst>
                  <a:path w="82296" h="91440">
                    <a:moveTo>
                      <a:pt x="0" y="91440"/>
                    </a:moveTo>
                    <a:lnTo>
                      <a:pt x="82296" y="0"/>
                    </a:lnTo>
                  </a:path>
                </a:pathLst>
              </a:custGeom>
              <a:noFill/>
              <a:ln w="12802"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7" name="Feature channel"/>
              <p:cNvSpPr/>
              <p:nvPr/>
            </p:nvSpPr>
            <p:spPr>
              <a:xfrm>
                <a:off x="8321040" y="7008876"/>
                <a:ext cx="256032" cy="253746"/>
              </a:xfrm>
              <a:prstGeom prst="rect">
                <a:avLst/>
              </a:prstGeom>
              <a:solidFill>
                <a:srgbClr val="F6B9A6"/>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8" name="Connector"/>
              <p:cNvSpPr/>
              <p:nvPr/>
            </p:nvSpPr>
            <p:spPr>
              <a:xfrm>
                <a:off x="8577072" y="6917436"/>
                <a:ext cx="82296" cy="91440"/>
              </a:xfrm>
              <a:custGeom>
                <a:avLst/>
                <a:gdLst/>
                <a:ahLst/>
                <a:cxnLst/>
                <a:rect l="0" t="0" r="r" b="b"/>
                <a:pathLst>
                  <a:path w="82296" h="91440">
                    <a:moveTo>
                      <a:pt x="0" y="91440"/>
                    </a:moveTo>
                    <a:lnTo>
                      <a:pt x="82296" y="0"/>
                    </a:lnTo>
                  </a:path>
                </a:pathLst>
              </a:custGeom>
              <a:noFill/>
              <a:ln w="12802"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9" name="Feature channel"/>
              <p:cNvSpPr/>
              <p:nvPr/>
            </p:nvSpPr>
            <p:spPr>
              <a:xfrm>
                <a:off x="8321040" y="7262622"/>
                <a:ext cx="256032" cy="253746"/>
              </a:xfrm>
              <a:prstGeom prst="rect">
                <a:avLst/>
              </a:prstGeom>
              <a:solidFill>
                <a:srgbClr val="F6B9A6"/>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0" name="Connector"/>
              <p:cNvSpPr/>
              <p:nvPr/>
            </p:nvSpPr>
            <p:spPr>
              <a:xfrm>
                <a:off x="8577072" y="7171182"/>
                <a:ext cx="82296" cy="91440"/>
              </a:xfrm>
              <a:custGeom>
                <a:avLst/>
                <a:gdLst/>
                <a:ahLst/>
                <a:cxnLst/>
                <a:rect l="0" t="0" r="r" b="b"/>
                <a:pathLst>
                  <a:path w="82296" h="91440">
                    <a:moveTo>
                      <a:pt x="0" y="91440"/>
                    </a:moveTo>
                    <a:lnTo>
                      <a:pt x="82296" y="0"/>
                    </a:lnTo>
                  </a:path>
                </a:pathLst>
              </a:custGeom>
              <a:noFill/>
              <a:ln w="12802"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501" name="Connector"/>
            <p:cNvSpPr/>
            <p:nvPr/>
          </p:nvSpPr>
          <p:spPr>
            <a:xfrm>
              <a:off x="8668512" y="6720840"/>
              <a:ext cx="347472" cy="91"/>
            </a:xfrm>
            <a:custGeom>
              <a:avLst/>
              <a:gdLst/>
              <a:ahLst/>
              <a:cxnLst/>
              <a:rect l="0" t="0" r="r" b="b"/>
              <a:pathLst>
                <a:path w="347472" h="91">
                  <a:moveTo>
                    <a:pt x="0" y="0"/>
                  </a:moveTo>
                  <a:lnTo>
                    <a:pt x="347472"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2" name="Arrowhead"/>
            <p:cNvSpPr/>
            <p:nvPr/>
          </p:nvSpPr>
          <p:spPr>
            <a:xfrm>
              <a:off x="8924544" y="6676949"/>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3" name="···"/>
            <p:cNvSpPr txBox="1"/>
            <p:nvPr/>
          </p:nvSpPr>
          <p:spPr>
            <a:xfrm>
              <a:off x="9061704" y="6601968"/>
              <a:ext cx="265176" cy="228600"/>
            </a:xfrm>
            <a:prstGeom prst="rect">
              <a:avLst/>
            </a:prstGeom>
            <a:noFill/>
          </p:spPr>
          <p:txBody>
            <a:bodyPr wrap="none" lIns="0" rIns="0" tIns="0" bIns="0" anchor="ctr"/>
            <a:lstStyle/>
            <a:p>
              <a:pPr algn="ctr">
                <a:lnSpc>
                  <a:spcPct val="100000"/>
                </a:lnSpc>
                <a:spcBef>
                  <a:spcPts val="0"/>
                </a:spcBef>
                <a:spcAft>
                  <a:spcPts val="0"/>
                </a:spcAft>
              </a:pPr>
              <a:r>
                <a:rPr sz="1872" b="1" i="0" dirty="0">
                  <a:solidFill>
                    <a:srgbClr val="101010"/>
                  </a:solidFill>
                  <a:latin typeface="Arial"/>
                </a:rPr>
                <a:t>···</a:t>
              </a:r>
            </a:p>
          </p:txBody>
        </p:sp>
        <p:sp>
          <p:nvSpPr>
            <p:cNvPr id="504" name="Connector"/>
            <p:cNvSpPr/>
            <p:nvPr/>
          </p:nvSpPr>
          <p:spPr>
            <a:xfrm>
              <a:off x="9308592" y="6720840"/>
              <a:ext cx="338328" cy="91"/>
            </a:xfrm>
            <a:custGeom>
              <a:avLst/>
              <a:gdLst/>
              <a:ahLst/>
              <a:cxnLst/>
              <a:rect l="0" t="0" r="r" b="b"/>
              <a:pathLst>
                <a:path w="338328" h="91">
                  <a:moveTo>
                    <a:pt x="0" y="0"/>
                  </a:moveTo>
                  <a:lnTo>
                    <a:pt x="338328"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5" name="Arrowhead"/>
            <p:cNvSpPr/>
            <p:nvPr/>
          </p:nvSpPr>
          <p:spPr>
            <a:xfrm>
              <a:off x="9555480" y="6676949"/>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6" name="Feature refinement stage S upper"/>
            <p:cNvSpPr/>
            <p:nvPr/>
          </p:nvSpPr>
          <p:spPr>
            <a:xfrm>
              <a:off x="9646920" y="6428232"/>
              <a:ext cx="1856232" cy="594360"/>
            </a:xfrm>
            <a:prstGeom prst="roundRect">
              <a:avLst>
                <a:gd name="adj" fmla="val 21538"/>
              </a:avLst>
            </a:prstGeom>
            <a:solidFill>
              <a:srgbClr val="FFE17C"/>
            </a:solid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7" name="Feature / Refinement"/>
            <p:cNvSpPr txBox="1"/>
            <p:nvPr/>
          </p:nvSpPr>
          <p:spPr>
            <a:xfrm>
              <a:off x="9738360" y="6428232"/>
              <a:ext cx="1673352" cy="594360"/>
            </a:xfrm>
            <a:prstGeom prst="rect">
              <a:avLst/>
            </a:prstGeom>
            <a:noFill/>
          </p:spPr>
          <p:txBody>
            <a:bodyPr wrap="none" lIns="0" rIns="0" tIns="0" bIns="0" anchor="ctr"/>
            <a:lstStyle/>
            <a:p>
              <a:pPr algn="ctr">
                <a:lnSpc>
                  <a:spcPct val="100000"/>
                </a:lnSpc>
                <a:spcBef>
                  <a:spcPts val="0"/>
                </a:spcBef>
                <a:spcAft>
                  <a:spcPts val="0"/>
                </a:spcAft>
              </a:pPr>
              <a:r>
                <a:rPr sz="2016" b="0" i="0" dirty="0">
                  <a:solidFill>
                    <a:srgbClr val="101010"/>
                  </a:solidFill>
                  <a:latin typeface="Arial"/>
                </a:rPr>
                <a:t>Feature</a:t>
              </a:r>
            </a:p>
            <a:p>
              <a:pPr algn="ctr">
                <a:lnSpc>
                  <a:spcPct val="100000"/>
                </a:lnSpc>
                <a:spcBef>
                  <a:spcPts val="0"/>
                </a:spcBef>
                <a:spcAft>
                  <a:spcPts val="0"/>
                </a:spcAft>
              </a:pPr>
              <a:r>
                <a:rPr sz="2016" b="0" i="0" dirty="0">
                  <a:solidFill>
                    <a:srgbClr val="101010"/>
                  </a:solidFill>
                  <a:latin typeface="Arial"/>
                </a:rPr>
                <a:t>Refinement</a:t>
              </a:r>
            </a:p>
          </p:txBody>
        </p:sp>
        <p:sp>
          <p:nvSpPr>
            <p:cNvPr id="508" name="Feature refinement stage S lower"/>
            <p:cNvSpPr/>
            <p:nvPr/>
          </p:nvSpPr>
          <p:spPr>
            <a:xfrm>
              <a:off x="9656064" y="7863840"/>
              <a:ext cx="1856232" cy="594360"/>
            </a:xfrm>
            <a:prstGeom prst="roundRect">
              <a:avLst>
                <a:gd name="adj" fmla="val 21538"/>
              </a:avLst>
            </a:prstGeom>
            <a:solidFill>
              <a:srgbClr val="FFE17C"/>
            </a:solid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9" name="Feature / Refinement"/>
            <p:cNvSpPr txBox="1"/>
            <p:nvPr/>
          </p:nvSpPr>
          <p:spPr>
            <a:xfrm>
              <a:off x="9747504" y="7863840"/>
              <a:ext cx="1673352" cy="594360"/>
            </a:xfrm>
            <a:prstGeom prst="rect">
              <a:avLst/>
            </a:prstGeom>
            <a:noFill/>
          </p:spPr>
          <p:txBody>
            <a:bodyPr wrap="none" lIns="0" rIns="0" tIns="0" bIns="0" anchor="ctr"/>
            <a:lstStyle/>
            <a:p>
              <a:pPr algn="ctr">
                <a:lnSpc>
                  <a:spcPct val="100000"/>
                </a:lnSpc>
                <a:spcBef>
                  <a:spcPts val="0"/>
                </a:spcBef>
                <a:spcAft>
                  <a:spcPts val="0"/>
                </a:spcAft>
              </a:pPr>
              <a:r>
                <a:rPr sz="2016" b="0" i="0" dirty="0">
                  <a:solidFill>
                    <a:srgbClr val="101010"/>
                  </a:solidFill>
                  <a:latin typeface="Arial"/>
                </a:rPr>
                <a:t>Feature</a:t>
              </a:r>
            </a:p>
            <a:p>
              <a:pPr algn="ctr">
                <a:lnSpc>
                  <a:spcPct val="100000"/>
                </a:lnSpc>
                <a:spcBef>
                  <a:spcPts val="0"/>
                </a:spcBef>
                <a:spcAft>
                  <a:spcPts val="0"/>
                </a:spcAft>
              </a:pPr>
              <a:r>
                <a:rPr sz="2016" b="0" i="0" dirty="0">
                  <a:solidFill>
                    <a:srgbClr val="101010"/>
                  </a:solidFill>
                  <a:latin typeface="Arial"/>
                </a:rPr>
                <a:t>Refinement</a:t>
              </a:r>
            </a:p>
          </p:txBody>
        </p:sp>
        <p:sp>
          <p:nvSpPr>
            <p:cNvPr id="510" name="Connector"/>
            <p:cNvSpPr/>
            <p:nvPr/>
          </p:nvSpPr>
          <p:spPr>
            <a:xfrm>
              <a:off x="11503152" y="6711696"/>
              <a:ext cx="301752" cy="91"/>
            </a:xfrm>
            <a:custGeom>
              <a:avLst/>
              <a:gdLst/>
              <a:ahLst/>
              <a:cxnLst/>
              <a:rect l="0" t="0" r="r" b="b"/>
              <a:pathLst>
                <a:path w="301752" h="91">
                  <a:moveTo>
                    <a:pt x="0" y="0"/>
                  </a:moveTo>
                  <a:lnTo>
                    <a:pt x="301752"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1" name="Arrowhead"/>
            <p:cNvSpPr/>
            <p:nvPr/>
          </p:nvSpPr>
          <p:spPr>
            <a:xfrm>
              <a:off x="11713464" y="6667805"/>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512" name="Feature tensor"/>
            <p:cNvGrpSpPr/>
            <p:nvPr/>
          </p:nvGrpSpPr>
          <p:grpSpPr>
            <a:xfrm>
              <a:off x="11814048" y="6409944"/>
              <a:ext cx="338328" cy="1106424"/>
              <a:chOff x="11814048" y="6409944"/>
              <a:chExt cx="338328" cy="1106424"/>
            </a:xfrm>
          </p:grpSpPr>
          <p:sp>
            <p:nvSpPr>
              <p:cNvPr id="513" name="Polygon"/>
              <p:cNvSpPr/>
              <p:nvPr/>
            </p:nvSpPr>
            <p:spPr>
              <a:xfrm>
                <a:off x="11814048" y="6409944"/>
                <a:ext cx="338328" cy="91440"/>
              </a:xfrm>
              <a:custGeom>
                <a:avLst/>
                <a:gdLst/>
                <a:ahLst/>
                <a:cxnLst/>
                <a:rect l="0" t="0" r="r" b="b"/>
                <a:pathLst>
                  <a:path w="338328" h="91440">
                    <a:moveTo>
                      <a:pt x="0" y="91440"/>
                    </a:moveTo>
                    <a:lnTo>
                      <a:pt x="82296" y="0"/>
                    </a:lnTo>
                    <a:lnTo>
                      <a:pt x="338328" y="0"/>
                    </a:lnTo>
                    <a:lnTo>
                      <a:pt x="256032" y="91440"/>
                    </a:lnTo>
                    <a:close/>
                  </a:path>
                </a:pathLst>
              </a:custGeom>
              <a:solidFill>
                <a:srgbClr val="FAD0B7"/>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4" name="Polygon"/>
              <p:cNvSpPr/>
              <p:nvPr/>
            </p:nvSpPr>
            <p:spPr>
              <a:xfrm>
                <a:off x="12070080" y="6409944"/>
                <a:ext cx="82296" cy="1106424"/>
              </a:xfrm>
              <a:custGeom>
                <a:avLst/>
                <a:gdLst/>
                <a:ahLst/>
                <a:cxnLst/>
                <a:rect l="0" t="0" r="r" b="b"/>
                <a:pathLst>
                  <a:path w="82296" h="1106424">
                    <a:moveTo>
                      <a:pt x="0" y="91440"/>
                    </a:moveTo>
                    <a:lnTo>
                      <a:pt x="82296" y="0"/>
                    </a:lnTo>
                    <a:lnTo>
                      <a:pt x="82296" y="1014984"/>
                    </a:lnTo>
                    <a:lnTo>
                      <a:pt x="0" y="1106424"/>
                    </a:lnTo>
                    <a:close/>
                  </a:path>
                </a:pathLst>
              </a:custGeom>
              <a:solidFill>
                <a:srgbClr val="DAB3A7"/>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5" name="Feature channel"/>
              <p:cNvSpPr/>
              <p:nvPr/>
            </p:nvSpPr>
            <p:spPr>
              <a:xfrm>
                <a:off x="11814048" y="6501384"/>
                <a:ext cx="256032" cy="253746"/>
              </a:xfrm>
              <a:prstGeom prst="rect">
                <a:avLst/>
              </a:prstGeom>
              <a:solidFill>
                <a:srgbClr val="F6B9A6"/>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6" name="Feature channel"/>
              <p:cNvSpPr/>
              <p:nvPr/>
            </p:nvSpPr>
            <p:spPr>
              <a:xfrm>
                <a:off x="11814048" y="6755130"/>
                <a:ext cx="256032" cy="253746"/>
              </a:xfrm>
              <a:prstGeom prst="rect">
                <a:avLst/>
              </a:prstGeom>
              <a:solidFill>
                <a:srgbClr val="F6B9A6"/>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7" name="Connector"/>
              <p:cNvSpPr/>
              <p:nvPr/>
            </p:nvSpPr>
            <p:spPr>
              <a:xfrm>
                <a:off x="12070080" y="6663690"/>
                <a:ext cx="82296" cy="91440"/>
              </a:xfrm>
              <a:custGeom>
                <a:avLst/>
                <a:gdLst/>
                <a:ahLst/>
                <a:cxnLst/>
                <a:rect l="0" t="0" r="r" b="b"/>
                <a:pathLst>
                  <a:path w="82296" h="91440">
                    <a:moveTo>
                      <a:pt x="0" y="91440"/>
                    </a:moveTo>
                    <a:lnTo>
                      <a:pt x="82296" y="0"/>
                    </a:lnTo>
                  </a:path>
                </a:pathLst>
              </a:custGeom>
              <a:noFill/>
              <a:ln w="12802"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8" name="Feature channel"/>
              <p:cNvSpPr/>
              <p:nvPr/>
            </p:nvSpPr>
            <p:spPr>
              <a:xfrm>
                <a:off x="11814048" y="7008876"/>
                <a:ext cx="256032" cy="253746"/>
              </a:xfrm>
              <a:prstGeom prst="rect">
                <a:avLst/>
              </a:prstGeom>
              <a:solidFill>
                <a:srgbClr val="F6B9A6"/>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9" name="Connector"/>
              <p:cNvSpPr/>
              <p:nvPr/>
            </p:nvSpPr>
            <p:spPr>
              <a:xfrm>
                <a:off x="12070080" y="6917436"/>
                <a:ext cx="82296" cy="91440"/>
              </a:xfrm>
              <a:custGeom>
                <a:avLst/>
                <a:gdLst/>
                <a:ahLst/>
                <a:cxnLst/>
                <a:rect l="0" t="0" r="r" b="b"/>
                <a:pathLst>
                  <a:path w="82296" h="91440">
                    <a:moveTo>
                      <a:pt x="0" y="91440"/>
                    </a:moveTo>
                    <a:lnTo>
                      <a:pt x="82296" y="0"/>
                    </a:lnTo>
                  </a:path>
                </a:pathLst>
              </a:custGeom>
              <a:noFill/>
              <a:ln w="12802"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0" name="Feature channel"/>
              <p:cNvSpPr/>
              <p:nvPr/>
            </p:nvSpPr>
            <p:spPr>
              <a:xfrm>
                <a:off x="11814048" y="7262622"/>
                <a:ext cx="256032" cy="253746"/>
              </a:xfrm>
              <a:prstGeom prst="rect">
                <a:avLst/>
              </a:prstGeom>
              <a:solidFill>
                <a:srgbClr val="F6B9A6"/>
              </a:solidFill>
              <a:ln w="14630"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1" name="Connector"/>
              <p:cNvSpPr/>
              <p:nvPr/>
            </p:nvSpPr>
            <p:spPr>
              <a:xfrm>
                <a:off x="12070080" y="7171182"/>
                <a:ext cx="82296" cy="91440"/>
              </a:xfrm>
              <a:custGeom>
                <a:avLst/>
                <a:gdLst/>
                <a:ahLst/>
                <a:cxnLst/>
                <a:rect l="0" t="0" r="r" b="b"/>
                <a:pathLst>
                  <a:path w="82296" h="91440">
                    <a:moveTo>
                      <a:pt x="0" y="91440"/>
                    </a:moveTo>
                    <a:lnTo>
                      <a:pt x="82296" y="0"/>
                    </a:lnTo>
                  </a:path>
                </a:pathLst>
              </a:custGeom>
              <a:noFill/>
              <a:ln w="12802"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522" name="Connector"/>
            <p:cNvSpPr/>
            <p:nvPr/>
          </p:nvSpPr>
          <p:spPr>
            <a:xfrm>
              <a:off x="7525512" y="7031736"/>
              <a:ext cx="91" cy="265176"/>
            </a:xfrm>
            <a:custGeom>
              <a:avLst/>
              <a:gdLst/>
              <a:ahLst/>
              <a:cxnLst/>
              <a:rect l="0" t="0" r="r" b="b"/>
              <a:pathLst>
                <a:path w="91" h="265176">
                  <a:moveTo>
                    <a:pt x="0" y="0"/>
                  </a:moveTo>
                  <a:lnTo>
                    <a:pt x="0" y="265176"/>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3" name="Arrowhead"/>
            <p:cNvSpPr/>
            <p:nvPr/>
          </p:nvSpPr>
          <p:spPr>
            <a:xfrm>
              <a:off x="7481621" y="7205472"/>
              <a:ext cx="87782" cy="91440"/>
            </a:xfrm>
            <a:custGeom>
              <a:avLst/>
              <a:gdLst/>
              <a:ahLst/>
              <a:cxnLst/>
              <a:rect l="0" t="0" r="r" b="b"/>
              <a:pathLst>
                <a:path w="87782" h="91440">
                  <a:moveTo>
                    <a:pt x="43891" y="91440"/>
                  </a:moveTo>
                  <a:lnTo>
                    <a:pt x="0" y="0"/>
                  </a:lnTo>
                  <a:lnTo>
                    <a:pt x="87782"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4" name="Connector"/>
            <p:cNvSpPr/>
            <p:nvPr/>
          </p:nvSpPr>
          <p:spPr>
            <a:xfrm>
              <a:off x="7525512" y="7754112"/>
              <a:ext cx="91" cy="274320"/>
            </a:xfrm>
            <a:custGeom>
              <a:avLst/>
              <a:gdLst/>
              <a:ahLst/>
              <a:cxnLst/>
              <a:rect l="0" t="0" r="r" b="b"/>
              <a:pathLst>
                <a:path w="91" h="274320">
                  <a:moveTo>
                    <a:pt x="0" y="274320"/>
                  </a:moveTo>
                  <a:lnTo>
                    <a:pt x="0"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5" name="Arrowhead"/>
            <p:cNvSpPr/>
            <p:nvPr/>
          </p:nvSpPr>
          <p:spPr>
            <a:xfrm>
              <a:off x="7481621" y="7754112"/>
              <a:ext cx="87782" cy="91440"/>
            </a:xfrm>
            <a:custGeom>
              <a:avLst/>
              <a:gdLst/>
              <a:ahLst/>
              <a:cxnLst/>
              <a:rect l="0" t="0" r="r" b="b"/>
              <a:pathLst>
                <a:path w="87782" h="91440">
                  <a:moveTo>
                    <a:pt x="43891" y="0"/>
                  </a:moveTo>
                  <a:lnTo>
                    <a:pt x="87782" y="91440"/>
                  </a:lnTo>
                  <a:lnTo>
                    <a:pt x="0" y="9144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6" name="Stage 1 supervision loss"/>
            <p:cNvSpPr/>
            <p:nvPr/>
          </p:nvSpPr>
          <p:spPr>
            <a:xfrm>
              <a:off x="7022592" y="7296912"/>
              <a:ext cx="896112" cy="457200"/>
            </a:xfrm>
            <a:prstGeom prst="roundRect">
              <a:avLst>
                <a:gd name="adj" fmla="val 20000"/>
              </a:avLst>
            </a:prstGeom>
            <a:solidFill>
              <a:srgbClr val="F9D5A3"/>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527" name="Loss sup1"/>
            <p:cNvGrpSpPr/>
            <p:nvPr/>
          </p:nvGrpSpPr>
          <p:grpSpPr>
            <a:xfrm>
              <a:off x="7242048" y="7306056"/>
              <a:ext cx="612648" cy="420624"/>
              <a:chOff x="7242048" y="7306056"/>
              <a:chExt cx="612648" cy="420624"/>
            </a:xfrm>
          </p:grpSpPr>
          <p:sp>
            <p:nvSpPr>
              <p:cNvPr id="528" name="ℒ"/>
              <p:cNvSpPr txBox="1"/>
              <p:nvPr/>
            </p:nvSpPr>
            <p:spPr>
              <a:xfrm>
                <a:off x="7242048" y="7333488"/>
                <a:ext cx="310896" cy="384048"/>
              </a:xfrm>
              <a:prstGeom prst="rect">
                <a:avLst/>
              </a:prstGeom>
              <a:noFill/>
            </p:spPr>
            <p:txBody>
              <a:bodyPr wrap="none" lIns="0" rIns="0" tIns="0" bIns="0" anchor="ctr"/>
              <a:lstStyle/>
              <a:p>
                <a:pPr algn="ctr">
                  <a:lnSpc>
                    <a:spcPct val="100000"/>
                  </a:lnSpc>
                  <a:spcBef>
                    <a:spcPts val="0"/>
                  </a:spcBef>
                  <a:spcAft>
                    <a:spcPts val="0"/>
                  </a:spcAft>
                </a:pPr>
                <a:r>
                  <a:rPr sz="2232" b="0" i="0" dirty="0">
                    <a:solidFill>
                      <a:srgbClr val="101010"/>
                    </a:solidFill>
                    <a:latin typeface="Latin Modern Math"/>
                  </a:rPr>
                  <a:t>ℒ</a:t>
                </a:r>
              </a:p>
            </p:txBody>
          </p:sp>
          <p:sp>
            <p:nvSpPr>
              <p:cNvPr id="529" name="sup"/>
              <p:cNvSpPr txBox="1"/>
              <p:nvPr/>
            </p:nvSpPr>
            <p:spPr>
              <a:xfrm>
                <a:off x="7488936" y="7525512"/>
                <a:ext cx="365760" cy="201168"/>
              </a:xfrm>
              <a:prstGeom prst="rect">
                <a:avLst/>
              </a:prstGeom>
              <a:noFill/>
            </p:spPr>
            <p:txBody>
              <a:bodyPr wrap="none" lIns="0" rIns="0" tIns="0" bIns="0" anchor="ctr"/>
              <a:lstStyle/>
              <a:p>
                <a:pPr algn="l">
                  <a:lnSpc>
                    <a:spcPct val="100000"/>
                  </a:lnSpc>
                  <a:spcBef>
                    <a:spcPts val="0"/>
                  </a:spcBef>
                  <a:spcAft>
                    <a:spcPts val="0"/>
                  </a:spcAft>
                </a:pPr>
                <a:r>
                  <a:rPr sz="1224" b="0" i="0" dirty="0">
                    <a:solidFill>
                      <a:srgbClr val="101010"/>
                    </a:solidFill>
                    <a:latin typeface="Times New Roman"/>
                  </a:rPr>
                  <a:t>sup</a:t>
                </a:r>
              </a:p>
            </p:txBody>
          </p:sp>
          <p:sp>
            <p:nvSpPr>
              <p:cNvPr id="530" name="1"/>
              <p:cNvSpPr txBox="1"/>
              <p:nvPr/>
            </p:nvSpPr>
            <p:spPr>
              <a:xfrm>
                <a:off x="7498080" y="7306056"/>
                <a:ext cx="228600" cy="201168"/>
              </a:xfrm>
              <a:prstGeom prst="rect">
                <a:avLst/>
              </a:prstGeom>
              <a:noFill/>
            </p:spPr>
            <p:txBody>
              <a:bodyPr wrap="none" lIns="0" rIns="0" tIns="0" bIns="0" anchor="ctr"/>
              <a:lstStyle/>
              <a:p>
                <a:pPr algn="l">
                  <a:lnSpc>
                    <a:spcPct val="100000"/>
                  </a:lnSpc>
                  <a:spcBef>
                    <a:spcPts val="0"/>
                  </a:spcBef>
                  <a:spcAft>
                    <a:spcPts val="0"/>
                  </a:spcAft>
                </a:pPr>
                <a:r>
                  <a:rPr sz="1368" b="0" i="1" dirty="0">
                    <a:solidFill>
                      <a:srgbClr val="101010"/>
                    </a:solidFill>
                    <a:latin typeface="Times New Roman"/>
                  </a:rPr>
                  <a:t>1</a:t>
                </a:r>
              </a:p>
            </p:txBody>
          </p:sp>
        </p:grpSp>
        <p:sp>
          <p:nvSpPr>
            <p:cNvPr id="531" name="Connector"/>
            <p:cNvSpPr/>
            <p:nvPr/>
          </p:nvSpPr>
          <p:spPr>
            <a:xfrm>
              <a:off x="11027664" y="7022592"/>
              <a:ext cx="91" cy="192024"/>
            </a:xfrm>
            <a:custGeom>
              <a:avLst/>
              <a:gdLst/>
              <a:ahLst/>
              <a:cxnLst/>
              <a:rect l="0" t="0" r="r" b="b"/>
              <a:pathLst>
                <a:path w="91" h="192024">
                  <a:moveTo>
                    <a:pt x="0" y="0"/>
                  </a:moveTo>
                  <a:lnTo>
                    <a:pt x="0" y="192024"/>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2" name="Arrowhead"/>
            <p:cNvSpPr/>
            <p:nvPr/>
          </p:nvSpPr>
          <p:spPr>
            <a:xfrm>
              <a:off x="10983773" y="7123176"/>
              <a:ext cx="87782" cy="91440"/>
            </a:xfrm>
            <a:custGeom>
              <a:avLst/>
              <a:gdLst/>
              <a:ahLst/>
              <a:cxnLst/>
              <a:rect l="0" t="0" r="r" b="b"/>
              <a:pathLst>
                <a:path w="87782" h="91440">
                  <a:moveTo>
                    <a:pt x="43891" y="91440"/>
                  </a:moveTo>
                  <a:lnTo>
                    <a:pt x="0" y="0"/>
                  </a:lnTo>
                  <a:lnTo>
                    <a:pt x="87782"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3" name="Connector"/>
            <p:cNvSpPr/>
            <p:nvPr/>
          </p:nvSpPr>
          <p:spPr>
            <a:xfrm>
              <a:off x="11027664" y="7671816"/>
              <a:ext cx="91" cy="192024"/>
            </a:xfrm>
            <a:custGeom>
              <a:avLst/>
              <a:gdLst/>
              <a:ahLst/>
              <a:cxnLst/>
              <a:rect l="0" t="0" r="r" b="b"/>
              <a:pathLst>
                <a:path w="91" h="192024">
                  <a:moveTo>
                    <a:pt x="0" y="192024"/>
                  </a:moveTo>
                  <a:lnTo>
                    <a:pt x="0"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4" name="Arrowhead"/>
            <p:cNvSpPr/>
            <p:nvPr/>
          </p:nvSpPr>
          <p:spPr>
            <a:xfrm>
              <a:off x="10983773" y="7671816"/>
              <a:ext cx="87782" cy="91440"/>
            </a:xfrm>
            <a:custGeom>
              <a:avLst/>
              <a:gdLst/>
              <a:ahLst/>
              <a:cxnLst/>
              <a:rect l="0" t="0" r="r" b="b"/>
              <a:pathLst>
                <a:path w="87782" h="91440">
                  <a:moveTo>
                    <a:pt x="43891" y="0"/>
                  </a:moveTo>
                  <a:lnTo>
                    <a:pt x="87782" y="91440"/>
                  </a:lnTo>
                  <a:lnTo>
                    <a:pt x="0" y="9144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5" name="Stage S supervision loss"/>
            <p:cNvSpPr/>
            <p:nvPr/>
          </p:nvSpPr>
          <p:spPr>
            <a:xfrm>
              <a:off x="10570464" y="7214616"/>
              <a:ext cx="914400" cy="466344"/>
            </a:xfrm>
            <a:prstGeom prst="roundRect">
              <a:avLst>
                <a:gd name="adj" fmla="val 19607"/>
              </a:avLst>
            </a:prstGeom>
            <a:solidFill>
              <a:srgbClr val="F9D5A3"/>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536" name="Loss supS"/>
            <p:cNvGrpSpPr/>
            <p:nvPr/>
          </p:nvGrpSpPr>
          <p:grpSpPr>
            <a:xfrm>
              <a:off x="10799064" y="7223760"/>
              <a:ext cx="612648" cy="425196"/>
              <a:chOff x="10799064" y="7223760"/>
              <a:chExt cx="612648" cy="425196"/>
            </a:xfrm>
          </p:grpSpPr>
          <p:sp>
            <p:nvSpPr>
              <p:cNvPr id="537" name="ℒ"/>
              <p:cNvSpPr txBox="1"/>
              <p:nvPr/>
            </p:nvSpPr>
            <p:spPr>
              <a:xfrm>
                <a:off x="10799064" y="7251192"/>
                <a:ext cx="310896" cy="393192"/>
              </a:xfrm>
              <a:prstGeom prst="rect">
                <a:avLst/>
              </a:prstGeom>
              <a:noFill/>
            </p:spPr>
            <p:txBody>
              <a:bodyPr wrap="none" lIns="0" rIns="0" tIns="0" bIns="0" anchor="ctr"/>
              <a:lstStyle/>
              <a:p>
                <a:pPr algn="ctr">
                  <a:lnSpc>
                    <a:spcPct val="100000"/>
                  </a:lnSpc>
                  <a:spcBef>
                    <a:spcPts val="0"/>
                  </a:spcBef>
                  <a:spcAft>
                    <a:spcPts val="0"/>
                  </a:spcAft>
                </a:pPr>
                <a:r>
                  <a:rPr sz="2232" b="0" i="0" dirty="0">
                    <a:solidFill>
                      <a:srgbClr val="101010"/>
                    </a:solidFill>
                    <a:latin typeface="Latin Modern Math"/>
                  </a:rPr>
                  <a:t>ℒ</a:t>
                </a:r>
              </a:p>
            </p:txBody>
          </p:sp>
          <p:sp>
            <p:nvSpPr>
              <p:cNvPr id="538" name="sup"/>
              <p:cNvSpPr txBox="1"/>
              <p:nvPr/>
            </p:nvSpPr>
            <p:spPr>
              <a:xfrm>
                <a:off x="11045952" y="7447788"/>
                <a:ext cx="365760" cy="201168"/>
              </a:xfrm>
              <a:prstGeom prst="rect">
                <a:avLst/>
              </a:prstGeom>
              <a:noFill/>
            </p:spPr>
            <p:txBody>
              <a:bodyPr wrap="none" lIns="0" rIns="0" tIns="0" bIns="0" anchor="ctr"/>
              <a:lstStyle/>
              <a:p>
                <a:pPr algn="l">
                  <a:lnSpc>
                    <a:spcPct val="100000"/>
                  </a:lnSpc>
                  <a:spcBef>
                    <a:spcPts val="0"/>
                  </a:spcBef>
                  <a:spcAft>
                    <a:spcPts val="0"/>
                  </a:spcAft>
                </a:pPr>
                <a:r>
                  <a:rPr sz="1224" b="0" i="0" dirty="0">
                    <a:solidFill>
                      <a:srgbClr val="101010"/>
                    </a:solidFill>
                    <a:latin typeface="Times New Roman"/>
                  </a:rPr>
                  <a:t>sup</a:t>
                </a:r>
              </a:p>
            </p:txBody>
          </p:sp>
          <p:sp>
            <p:nvSpPr>
              <p:cNvPr id="539" name="S"/>
              <p:cNvSpPr txBox="1"/>
              <p:nvPr/>
            </p:nvSpPr>
            <p:spPr>
              <a:xfrm>
                <a:off x="11055096" y="7223760"/>
                <a:ext cx="228600" cy="201168"/>
              </a:xfrm>
              <a:prstGeom prst="rect">
                <a:avLst/>
              </a:prstGeom>
              <a:noFill/>
            </p:spPr>
            <p:txBody>
              <a:bodyPr wrap="none" lIns="0" rIns="0" tIns="0" bIns="0" anchor="ctr"/>
              <a:lstStyle/>
              <a:p>
                <a:pPr algn="l">
                  <a:lnSpc>
                    <a:spcPct val="100000"/>
                  </a:lnSpc>
                  <a:spcBef>
                    <a:spcPts val="0"/>
                  </a:spcBef>
                  <a:spcAft>
                    <a:spcPts val="0"/>
                  </a:spcAft>
                </a:pPr>
                <a:r>
                  <a:rPr sz="1368" b="0" i="1" dirty="0">
                    <a:solidFill>
                      <a:srgbClr val="101010"/>
                    </a:solidFill>
                    <a:latin typeface="Times New Roman"/>
                  </a:rPr>
                  <a:t>S</a:t>
                </a:r>
              </a:p>
            </p:txBody>
          </p:sp>
        </p:grpSp>
        <p:sp>
          <p:nvSpPr>
            <p:cNvPr id="540" name="Connector"/>
            <p:cNvSpPr/>
            <p:nvPr/>
          </p:nvSpPr>
          <p:spPr>
            <a:xfrm>
              <a:off x="6236208" y="7059168"/>
              <a:ext cx="91" cy="950976"/>
            </a:xfrm>
            <a:custGeom>
              <a:avLst/>
              <a:gdLst/>
              <a:ahLst/>
              <a:cxnLst/>
              <a:rect l="0" t="0" r="r" b="b"/>
              <a:pathLst>
                <a:path w="91" h="950976">
                  <a:moveTo>
                    <a:pt x="0" y="0"/>
                  </a:moveTo>
                  <a:lnTo>
                    <a:pt x="0" y="950976"/>
                  </a:lnTo>
                </a:path>
              </a:pathLst>
            </a:custGeom>
            <a:noFill/>
            <a:ln w="25603" cap="flat">
              <a:solidFill>
                <a:srgbClr val="B4B4AC"/>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1" name="Open arrowhead"/>
            <p:cNvSpPr/>
            <p:nvPr/>
          </p:nvSpPr>
          <p:spPr>
            <a:xfrm>
              <a:off x="6181344" y="7059168"/>
              <a:ext cx="109728" cy="100584"/>
            </a:xfrm>
            <a:custGeom>
              <a:avLst/>
              <a:gdLst/>
              <a:ahLst/>
              <a:cxnLst/>
              <a:rect l="0" t="0" r="r" b="b"/>
              <a:pathLst>
                <a:path w="109728" h="100584">
                  <a:moveTo>
                    <a:pt x="0" y="100584"/>
                  </a:moveTo>
                  <a:lnTo>
                    <a:pt x="54864" y="0"/>
                  </a:lnTo>
                  <a:lnTo>
                    <a:pt x="109728" y="100584"/>
                  </a:lnTo>
                </a:path>
              </a:pathLst>
            </a:custGeom>
            <a:noFill/>
            <a:ln w="24689" cap="flat">
              <a:solidFill>
                <a:srgbClr val="B4B4AC"/>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2" name="Open arrowhead"/>
            <p:cNvSpPr/>
            <p:nvPr/>
          </p:nvSpPr>
          <p:spPr>
            <a:xfrm>
              <a:off x="6181344" y="7909560"/>
              <a:ext cx="109728" cy="100584"/>
            </a:xfrm>
            <a:custGeom>
              <a:avLst/>
              <a:gdLst/>
              <a:ahLst/>
              <a:cxnLst/>
              <a:rect l="0" t="0" r="r" b="b"/>
              <a:pathLst>
                <a:path w="109728" h="100584">
                  <a:moveTo>
                    <a:pt x="0" y="0"/>
                  </a:moveTo>
                  <a:lnTo>
                    <a:pt x="54864" y="100584"/>
                  </a:lnTo>
                  <a:lnTo>
                    <a:pt x="109728" y="0"/>
                  </a:lnTo>
                </a:path>
              </a:pathLst>
            </a:custGeom>
            <a:noFill/>
            <a:ln w="24689" cap="flat">
              <a:solidFill>
                <a:srgbClr val="B4B4AC"/>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3" name="Share / Weight"/>
            <p:cNvSpPr txBox="1"/>
            <p:nvPr/>
          </p:nvSpPr>
          <p:spPr>
            <a:xfrm rot="5400000">
              <a:off x="6053328" y="7333488"/>
              <a:ext cx="795528" cy="384048"/>
            </a:xfrm>
            <a:prstGeom prst="rect">
              <a:avLst/>
            </a:prstGeom>
            <a:noFill/>
          </p:spPr>
          <p:txBody>
            <a:bodyPr wrap="none" lIns="0" rIns="0" tIns="0" bIns="0" anchor="ctr"/>
            <a:lstStyle/>
            <a:p>
              <a:pPr algn="ctr">
                <a:lnSpc>
                  <a:spcPct val="100000"/>
                </a:lnSpc>
                <a:spcBef>
                  <a:spcPts val="0"/>
                </a:spcBef>
                <a:spcAft>
                  <a:spcPts val="0"/>
                </a:spcAft>
              </a:pPr>
              <a:r>
                <a:rPr sz="1368" b="0" i="0" dirty="0">
                  <a:solidFill>
                    <a:srgbClr val="85857E"/>
                  </a:solidFill>
                  <a:latin typeface="Arial"/>
                </a:rPr>
                <a:t>Share</a:t>
              </a:r>
            </a:p>
            <a:p>
              <a:pPr algn="ctr">
                <a:lnSpc>
                  <a:spcPct val="100000"/>
                </a:lnSpc>
                <a:spcBef>
                  <a:spcPts val="0"/>
                </a:spcBef>
                <a:spcAft>
                  <a:spcPts val="0"/>
                </a:spcAft>
              </a:pPr>
              <a:r>
                <a:rPr sz="1368" b="0" i="0" dirty="0">
                  <a:solidFill>
                    <a:srgbClr val="85857E"/>
                  </a:solidFill>
                  <a:latin typeface="Arial"/>
                </a:rPr>
                <a:t>Weight</a:t>
              </a:r>
            </a:p>
          </p:txBody>
        </p:sp>
        <p:sp>
          <p:nvSpPr>
            <p:cNvPr id="544" name="Connector"/>
            <p:cNvSpPr/>
            <p:nvPr/>
          </p:nvSpPr>
          <p:spPr>
            <a:xfrm>
              <a:off x="9820656" y="7050024"/>
              <a:ext cx="91" cy="804672"/>
            </a:xfrm>
            <a:custGeom>
              <a:avLst/>
              <a:gdLst/>
              <a:ahLst/>
              <a:cxnLst/>
              <a:rect l="0" t="0" r="r" b="b"/>
              <a:pathLst>
                <a:path w="91" h="804672">
                  <a:moveTo>
                    <a:pt x="0" y="0"/>
                  </a:moveTo>
                  <a:lnTo>
                    <a:pt x="0" y="804672"/>
                  </a:lnTo>
                </a:path>
              </a:pathLst>
            </a:custGeom>
            <a:noFill/>
            <a:ln w="25603" cap="flat">
              <a:solidFill>
                <a:srgbClr val="B4B4AC"/>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5" name="Open arrowhead"/>
            <p:cNvSpPr/>
            <p:nvPr/>
          </p:nvSpPr>
          <p:spPr>
            <a:xfrm>
              <a:off x="9765792" y="7050024"/>
              <a:ext cx="109728" cy="100584"/>
            </a:xfrm>
            <a:custGeom>
              <a:avLst/>
              <a:gdLst/>
              <a:ahLst/>
              <a:cxnLst/>
              <a:rect l="0" t="0" r="r" b="b"/>
              <a:pathLst>
                <a:path w="109728" h="100584">
                  <a:moveTo>
                    <a:pt x="0" y="100584"/>
                  </a:moveTo>
                  <a:lnTo>
                    <a:pt x="54864" y="0"/>
                  </a:lnTo>
                  <a:lnTo>
                    <a:pt x="109728" y="100584"/>
                  </a:lnTo>
                </a:path>
              </a:pathLst>
            </a:custGeom>
            <a:noFill/>
            <a:ln w="24689" cap="flat">
              <a:solidFill>
                <a:srgbClr val="B4B4AC"/>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6" name="Open arrowhead"/>
            <p:cNvSpPr/>
            <p:nvPr/>
          </p:nvSpPr>
          <p:spPr>
            <a:xfrm>
              <a:off x="9765792" y="7754112"/>
              <a:ext cx="109728" cy="100584"/>
            </a:xfrm>
            <a:custGeom>
              <a:avLst/>
              <a:gdLst/>
              <a:ahLst/>
              <a:cxnLst/>
              <a:rect l="0" t="0" r="r" b="b"/>
              <a:pathLst>
                <a:path w="109728" h="100584">
                  <a:moveTo>
                    <a:pt x="0" y="0"/>
                  </a:moveTo>
                  <a:lnTo>
                    <a:pt x="54864" y="100584"/>
                  </a:lnTo>
                  <a:lnTo>
                    <a:pt x="109728" y="0"/>
                  </a:lnTo>
                </a:path>
              </a:pathLst>
            </a:custGeom>
            <a:noFill/>
            <a:ln w="24689" cap="flat">
              <a:solidFill>
                <a:srgbClr val="B4B4AC"/>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7" name="Share / Weight"/>
            <p:cNvSpPr txBox="1"/>
            <p:nvPr/>
          </p:nvSpPr>
          <p:spPr>
            <a:xfrm rot="5400000">
              <a:off x="9637776" y="7251192"/>
              <a:ext cx="795528" cy="384048"/>
            </a:xfrm>
            <a:prstGeom prst="rect">
              <a:avLst/>
            </a:prstGeom>
            <a:noFill/>
          </p:spPr>
          <p:txBody>
            <a:bodyPr wrap="none" lIns="0" rIns="0" tIns="0" bIns="0" anchor="ctr"/>
            <a:lstStyle/>
            <a:p>
              <a:pPr algn="ctr">
                <a:lnSpc>
                  <a:spcPct val="100000"/>
                </a:lnSpc>
                <a:spcBef>
                  <a:spcPts val="0"/>
                </a:spcBef>
                <a:spcAft>
                  <a:spcPts val="0"/>
                </a:spcAft>
              </a:pPr>
              <a:r>
                <a:rPr sz="1368" b="0" i="0" dirty="0">
                  <a:solidFill>
                    <a:srgbClr val="85857E"/>
                  </a:solidFill>
                  <a:latin typeface="Arial"/>
                </a:rPr>
                <a:t>Share</a:t>
              </a:r>
            </a:p>
            <a:p>
              <a:pPr algn="ctr">
                <a:lnSpc>
                  <a:spcPct val="100000"/>
                </a:lnSpc>
                <a:spcBef>
                  <a:spcPts val="0"/>
                </a:spcBef>
                <a:spcAft>
                  <a:spcPts val="0"/>
                </a:spcAft>
              </a:pPr>
              <a:r>
                <a:rPr sz="1368" b="0" i="0" dirty="0">
                  <a:solidFill>
                    <a:srgbClr val="85857E"/>
                  </a:solidFill>
                  <a:latin typeface="Arial"/>
                </a:rPr>
                <a:t>Weight</a:t>
              </a:r>
            </a:p>
          </p:txBody>
        </p:sp>
        <p:sp>
          <p:nvSpPr>
            <p:cNvPr id="548" name="Decoder"/>
            <p:cNvSpPr txBox="1"/>
            <p:nvPr/>
          </p:nvSpPr>
          <p:spPr>
            <a:xfrm rot="5400000">
              <a:off x="11932920" y="7370064"/>
              <a:ext cx="1243584" cy="338328"/>
            </a:xfrm>
            <a:prstGeom prst="rect">
              <a:avLst/>
            </a:prstGeom>
            <a:noFill/>
          </p:spPr>
          <p:txBody>
            <a:bodyPr wrap="none" lIns="0" rIns="0" tIns="0" bIns="0" anchor="ctr"/>
            <a:lstStyle/>
            <a:p>
              <a:pPr algn="ctr">
                <a:lnSpc>
                  <a:spcPct val="100000"/>
                </a:lnSpc>
                <a:spcBef>
                  <a:spcPts val="0"/>
                </a:spcBef>
                <a:spcAft>
                  <a:spcPts val="0"/>
                </a:spcAft>
              </a:pPr>
              <a:r>
                <a:rPr sz="2088" b="0" i="0" dirty="0">
                  <a:solidFill>
                    <a:srgbClr val="101010"/>
                  </a:solidFill>
                  <a:latin typeface="Arial"/>
                </a:rPr>
                <a:t>Decoder</a:t>
              </a:r>
            </a:p>
          </p:txBody>
        </p:sp>
        <p:sp>
          <p:nvSpPr>
            <p:cNvPr id="549" name="Decoder output connector with crossing bridge"/>
            <p:cNvSpPr/>
            <p:nvPr/>
          </p:nvSpPr>
          <p:spPr>
            <a:xfrm>
              <a:off x="12170664" y="6574536"/>
              <a:ext cx="1545336" cy="137160"/>
            </a:xfrm>
            <a:custGeom>
              <a:avLst/>
              <a:gdLst/>
              <a:ahLst/>
              <a:cxnLst/>
              <a:rect l="0" t="0" r="r" b="b"/>
              <a:pathLst>
                <a:path w="1545336" h="137160">
                  <a:moveTo>
                    <a:pt x="0" y="137160"/>
                  </a:moveTo>
                  <a:lnTo>
                    <a:pt x="996696" y="137160"/>
                  </a:lnTo>
                  <a:cubicBezTo>
                    <a:pt x="1124712" y="0"/>
                    <a:pt x="1271016" y="0"/>
                    <a:pt x="1389888" y="137160"/>
                  </a:cubicBezTo>
                  <a:lnTo>
                    <a:pt x="1545336" y="137160"/>
                  </a:lnTo>
                </a:path>
              </a:pathLst>
            </a:custGeom>
            <a:noFill/>
            <a:ln w="24689"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0" name="Arrowhead"/>
            <p:cNvSpPr/>
            <p:nvPr/>
          </p:nvSpPr>
          <p:spPr>
            <a:xfrm>
              <a:off x="13624560" y="6665976"/>
              <a:ext cx="91440" cy="91440"/>
            </a:xfrm>
            <a:custGeom>
              <a:avLst/>
              <a:gdLst/>
              <a:ahLst/>
              <a:cxnLst/>
              <a:rect l="0" t="0" r="r" b="b"/>
              <a:pathLst>
                <a:path w="91440" h="91440">
                  <a:moveTo>
                    <a:pt x="91440" y="45720"/>
                  </a:moveTo>
                  <a:lnTo>
                    <a:pt x="0" y="0"/>
                  </a:lnTo>
                  <a:lnTo>
                    <a:pt x="0" y="9144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1" name="Segmentation convolution"/>
            <p:cNvSpPr/>
            <p:nvPr/>
          </p:nvSpPr>
          <p:spPr>
            <a:xfrm>
              <a:off x="13725144" y="6519672"/>
              <a:ext cx="868680" cy="347472"/>
            </a:xfrm>
            <a:prstGeom prst="roundRect">
              <a:avLst>
                <a:gd name="adj" fmla="val 18421"/>
              </a:avLst>
            </a:prstGeom>
            <a:solidFill>
              <a:srgbClr val="FFFED2"/>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2" name="Conv"/>
            <p:cNvSpPr txBox="1"/>
            <p:nvPr/>
          </p:nvSpPr>
          <p:spPr>
            <a:xfrm>
              <a:off x="13761720" y="6528816"/>
              <a:ext cx="795528" cy="329184"/>
            </a:xfrm>
            <a:prstGeom prst="rect">
              <a:avLst/>
            </a:prstGeom>
            <a:noFill/>
          </p:spPr>
          <p:txBody>
            <a:bodyPr wrap="none" lIns="0" rIns="0" tIns="0" bIns="0" anchor="ctr"/>
            <a:lstStyle/>
            <a:p>
              <a:pPr algn="ctr">
                <a:lnSpc>
                  <a:spcPct val="100000"/>
                </a:lnSpc>
                <a:spcBef>
                  <a:spcPts val="0"/>
                </a:spcBef>
                <a:spcAft>
                  <a:spcPts val="0"/>
                </a:spcAft>
              </a:pPr>
              <a:r>
                <a:rPr sz="2088" b="0" i="0" dirty="0">
                  <a:solidFill>
                    <a:srgbClr val="101010"/>
                  </a:solidFill>
                  <a:latin typeface="Arial"/>
                </a:rPr>
                <a:t>Conv</a:t>
              </a:r>
            </a:p>
          </p:txBody>
        </p:sp>
        <p:sp>
          <p:nvSpPr>
            <p:cNvPr id="553" name="Connector"/>
            <p:cNvSpPr/>
            <p:nvPr/>
          </p:nvSpPr>
          <p:spPr>
            <a:xfrm>
              <a:off x="14593824" y="6702552"/>
              <a:ext cx="265176" cy="91"/>
            </a:xfrm>
            <a:custGeom>
              <a:avLst/>
              <a:gdLst/>
              <a:ahLst/>
              <a:cxnLst/>
              <a:rect l="0" t="0" r="r" b="b"/>
              <a:pathLst>
                <a:path w="265176" h="91">
                  <a:moveTo>
                    <a:pt x="0" y="0"/>
                  </a:moveTo>
                  <a:lnTo>
                    <a:pt x="265176"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4" name="Arrowhead"/>
            <p:cNvSpPr/>
            <p:nvPr/>
          </p:nvSpPr>
          <p:spPr>
            <a:xfrm>
              <a:off x="14767560" y="6658661"/>
              <a:ext cx="91440" cy="87782"/>
            </a:xfrm>
            <a:custGeom>
              <a:avLst/>
              <a:gdLst/>
              <a:ahLst/>
              <a:cxnLst/>
              <a:rect l="0" t="0" r="r" b="b"/>
              <a:pathLst>
                <a:path w="91440" h="87782">
                  <a:moveTo>
                    <a:pt x="91440" y="43891"/>
                  </a:moveTo>
                  <a:lnTo>
                    <a:pt x="0" y="87782"/>
                  </a:lnTo>
                  <a:lnTo>
                    <a:pt x="0" y="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5" name="Segmentation loss"/>
            <p:cNvSpPr/>
            <p:nvPr/>
          </p:nvSpPr>
          <p:spPr>
            <a:xfrm>
              <a:off x="14859000" y="6455664"/>
              <a:ext cx="813816" cy="466344"/>
            </a:xfrm>
            <a:prstGeom prst="roundRect">
              <a:avLst>
                <a:gd name="adj" fmla="val 17647"/>
              </a:avLst>
            </a:prstGeom>
            <a:solidFill>
              <a:srgbClr val="FFFED2"/>
            </a:solidFill>
            <a:ln w="25603" cap="flat">
              <a:solidFill>
                <a:srgbClr val="233F65"/>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556" name="Loss seg"/>
            <p:cNvGrpSpPr/>
            <p:nvPr/>
          </p:nvGrpSpPr>
          <p:grpSpPr>
            <a:xfrm>
              <a:off x="15037308" y="6492240"/>
              <a:ext cx="612648" cy="397764"/>
              <a:chOff x="15037308" y="6492240"/>
              <a:chExt cx="612648" cy="397764"/>
            </a:xfrm>
          </p:grpSpPr>
          <p:sp>
            <p:nvSpPr>
              <p:cNvPr id="557" name="ℒ"/>
              <p:cNvSpPr txBox="1"/>
              <p:nvPr/>
            </p:nvSpPr>
            <p:spPr>
              <a:xfrm>
                <a:off x="15037308" y="6492240"/>
                <a:ext cx="310896" cy="393192"/>
              </a:xfrm>
              <a:prstGeom prst="rect">
                <a:avLst/>
              </a:prstGeom>
              <a:noFill/>
            </p:spPr>
            <p:txBody>
              <a:bodyPr wrap="none" lIns="0" rIns="0" tIns="0" bIns="0" anchor="ctr"/>
              <a:lstStyle/>
              <a:p>
                <a:pPr algn="ctr">
                  <a:lnSpc>
                    <a:spcPct val="100000"/>
                  </a:lnSpc>
                  <a:spcBef>
                    <a:spcPts val="0"/>
                  </a:spcBef>
                  <a:spcAft>
                    <a:spcPts val="0"/>
                  </a:spcAft>
                </a:pPr>
                <a:r>
                  <a:rPr sz="2232" b="0" i="0" dirty="0">
                    <a:solidFill>
                      <a:srgbClr val="101010"/>
                    </a:solidFill>
                    <a:latin typeface="Latin Modern Math"/>
                  </a:rPr>
                  <a:t>ℒ</a:t>
                </a:r>
              </a:p>
            </p:txBody>
          </p:sp>
          <p:sp>
            <p:nvSpPr>
              <p:cNvPr id="558" name="seg"/>
              <p:cNvSpPr txBox="1"/>
              <p:nvPr/>
            </p:nvSpPr>
            <p:spPr>
              <a:xfrm>
                <a:off x="15284196" y="6688836"/>
                <a:ext cx="365760" cy="201168"/>
              </a:xfrm>
              <a:prstGeom prst="rect">
                <a:avLst/>
              </a:prstGeom>
              <a:noFill/>
            </p:spPr>
            <p:txBody>
              <a:bodyPr wrap="none" lIns="0" rIns="0" tIns="0" bIns="0" anchor="ctr"/>
              <a:lstStyle/>
              <a:p>
                <a:pPr algn="l">
                  <a:lnSpc>
                    <a:spcPct val="100000"/>
                  </a:lnSpc>
                  <a:spcBef>
                    <a:spcPts val="0"/>
                  </a:spcBef>
                  <a:spcAft>
                    <a:spcPts val="0"/>
                  </a:spcAft>
                </a:pPr>
                <a:r>
                  <a:rPr sz="1224" b="0" i="0" dirty="0">
                    <a:solidFill>
                      <a:srgbClr val="101010"/>
                    </a:solidFill>
                    <a:latin typeface="Times New Roman"/>
                  </a:rPr>
                  <a:t>seg</a:t>
                </a:r>
              </a:p>
            </p:txBody>
          </p:sp>
        </p:grpSp>
        <p:pic>
          <p:nvPicPr>
            <p:cNvPr id="559" name="Point cloud semantic label image" descr="label.png"/>
            <p:cNvPicPr>
              <a:picLocks noChangeAspect="1"/>
            </p:cNvPicPr>
            <p:nvPr/>
          </p:nvPicPr>
          <p:blipFill>
            <a:blip r:embed="rId5"/>
            <a:stretch>
              <a:fillRect/>
            </a:stretch>
          </p:blipFill>
          <p:spPr>
            <a:xfrm>
              <a:off x="13770864" y="7690104"/>
              <a:ext cx="1929384" cy="1170432"/>
            </a:xfrm>
            <a:prstGeom prst="rect">
              <a:avLst/>
            </a:prstGeom>
          </p:spPr>
        </p:pic>
        <p:sp>
          <p:nvSpPr>
            <p:cNvPr id="560" name="Semantic label image frame"/>
            <p:cNvSpPr/>
            <p:nvPr/>
          </p:nvSpPr>
          <p:spPr>
            <a:xfrm>
              <a:off x="13743432" y="7671816"/>
              <a:ext cx="1975104" cy="1207008"/>
            </a:xfrm>
            <a:prstGeom prst="rect">
              <a:avLst/>
            </a:prstGeom>
            <a:noFill/>
            <a:ln w="24689" cap="flat">
              <a:solidFill>
                <a:srgbClr val="ADAEA6"/>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1" name="Label"/>
            <p:cNvSpPr txBox="1"/>
            <p:nvPr/>
          </p:nvSpPr>
          <p:spPr>
            <a:xfrm>
              <a:off x="13825728" y="7333488"/>
              <a:ext cx="1463040" cy="310896"/>
            </a:xfrm>
            <a:prstGeom prst="rect">
              <a:avLst/>
            </a:prstGeom>
            <a:noFill/>
          </p:spPr>
          <p:txBody>
            <a:bodyPr wrap="none" lIns="0" rIns="0" tIns="0" bIns="0" anchor="ctr"/>
            <a:lstStyle/>
            <a:p>
              <a:pPr algn="l">
                <a:lnSpc>
                  <a:spcPct val="100000"/>
                </a:lnSpc>
                <a:spcBef>
                  <a:spcPts val="0"/>
                </a:spcBef>
                <a:spcAft>
                  <a:spcPts val="0"/>
                </a:spcAft>
              </a:pPr>
              <a:r>
                <a:rPr sz="2016" b="0" i="0" dirty="0">
                  <a:solidFill>
                    <a:srgbClr val="101010"/>
                  </a:solidFill>
                  <a:latin typeface="Arial"/>
                </a:rPr>
                <a:t>Label</a:t>
              </a:r>
            </a:p>
          </p:txBody>
        </p:sp>
        <p:sp>
          <p:nvSpPr>
            <p:cNvPr id="562" name="Connector"/>
            <p:cNvSpPr/>
            <p:nvPr/>
          </p:nvSpPr>
          <p:spPr>
            <a:xfrm>
              <a:off x="15206472" y="6931152"/>
              <a:ext cx="91" cy="740664"/>
            </a:xfrm>
            <a:custGeom>
              <a:avLst/>
              <a:gdLst/>
              <a:ahLst/>
              <a:cxnLst/>
              <a:rect l="0" t="0" r="r" b="b"/>
              <a:pathLst>
                <a:path w="91" h="740664">
                  <a:moveTo>
                    <a:pt x="0" y="740664"/>
                  </a:moveTo>
                  <a:lnTo>
                    <a:pt x="0" y="0"/>
                  </a:lnTo>
                </a:path>
              </a:pathLst>
            </a:custGeom>
            <a:noFill/>
            <a:ln w="25603" cap="flat">
              <a:solidFill>
                <a:srgbClr val="101010"/>
              </a:solidFill>
              <a:miter lim="800000"/>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3" name="Arrowhead"/>
            <p:cNvSpPr/>
            <p:nvPr/>
          </p:nvSpPr>
          <p:spPr>
            <a:xfrm>
              <a:off x="15162581" y="6931152"/>
              <a:ext cx="87782" cy="91440"/>
            </a:xfrm>
            <a:custGeom>
              <a:avLst/>
              <a:gdLst/>
              <a:ahLst/>
              <a:cxnLst/>
              <a:rect l="0" t="0" r="r" b="b"/>
              <a:pathLst>
                <a:path w="87782" h="91440">
                  <a:moveTo>
                    <a:pt x="43891" y="0"/>
                  </a:moveTo>
                  <a:lnTo>
                    <a:pt x="87782" y="91440"/>
                  </a:lnTo>
                  <a:lnTo>
                    <a:pt x="0" y="91440"/>
                  </a:lnTo>
                  <a:close/>
                </a:path>
              </a:pathLst>
            </a:custGeom>
            <a:solidFill>
              <a:srgbClr val="10101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__ORIGINAL_REFERENCE_IMAGE__" descr="No Object Is an Island Enhancing 3D Semantic Segmentation Generalization with Diffusion Models_diagram.jpg"/>
          <p:cNvPicPr>
            <a:picLocks noChangeAspect="1"/>
          </p:cNvPicPr>
          <p:nvPr/>
        </p:nvPicPr>
        <p:blipFill>
          <a:blip r:embed="rId2"/>
          <a:stretch>
            <a:fillRect/>
          </a:stretch>
        </p:blipFill>
        <p:spPr>
          <a:xfrm>
            <a:off x="0" y="0"/>
            <a:ext cx="15873984" cy="93085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Object Is an Island — editable diagram reconstruction</dc:title>
  <dc:subject>Native editable vector diagram recreated from supplied reference</dc:subject>
  <dc:creator>OpenAI</dc:creator>
  <cp:keywords>editable, diagram, segmentation, diffusion, reconstruction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