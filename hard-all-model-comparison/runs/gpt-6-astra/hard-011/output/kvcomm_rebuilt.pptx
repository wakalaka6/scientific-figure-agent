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7117568" cy="842162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Reconstructed from the supplied reference. All visible content consists of editable PowerPoint shapes and text boxes. Canvas: 1872 × 921 reference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mmunication-connectors-0001"/>
          <p:cNvSpPr/>
          <p:nvPr/>
        </p:nvSpPr>
        <p:spPr>
          <a:xfrm>
            <a:off x="3657600" y="4462272"/>
            <a:ext cx="1408176" cy="457200"/>
          </a:xfrm>
          <a:custGeom>
            <a:avLst/>
            <a:gdLst/>
            <a:ahLst/>
            <a:cxnLst/>
            <a:rect l="0" t="0" r="r" b="b"/>
            <a:pathLst>
              <a:path w="1408176" h="457200">
                <a:moveTo>
                  <a:pt x="0" y="0"/>
                </a:moveTo>
                <a:lnTo>
                  <a:pt x="0" y="457200"/>
                </a:lnTo>
                <a:lnTo>
                  <a:pt x="1408176" y="457200"/>
                </a:lnTo>
              </a:path>
            </a:pathLst>
          </a:custGeom>
          <a:noFill/>
          <a:ln w="82296" cap="rnd">
            <a:solidFill>
              <a:srgbClr val="548636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communication-connectors-0002"/>
          <p:cNvSpPr/>
          <p:nvPr/>
        </p:nvSpPr>
        <p:spPr>
          <a:xfrm>
            <a:off x="5065776" y="4818522"/>
            <a:ext cx="210312" cy="201900"/>
          </a:xfrm>
          <a:custGeom>
            <a:avLst/>
            <a:gdLst/>
            <a:ahLst/>
            <a:cxnLst/>
            <a:rect l="0" t="0" r="r" b="b"/>
            <a:pathLst>
              <a:path w="210312" h="201900">
                <a:moveTo>
                  <a:pt x="210312" y="100950"/>
                </a:moveTo>
                <a:lnTo>
                  <a:pt x="0" y="201900"/>
                </a:lnTo>
                <a:lnTo>
                  <a:pt x="0" y="0"/>
                </a:lnTo>
                <a:close/>
              </a:path>
            </a:pathLst>
          </a:custGeom>
          <a:solidFill>
            <a:srgbClr val="548636"/>
          </a:solidFill>
          <a:ln>
            <a:noFill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communication-connectors-0003"/>
          <p:cNvSpPr/>
          <p:nvPr/>
        </p:nvSpPr>
        <p:spPr>
          <a:xfrm>
            <a:off x="0" y="4928616"/>
            <a:ext cx="3630168" cy="3493008"/>
          </a:xfrm>
          <a:custGeom>
            <a:avLst/>
            <a:gdLst/>
            <a:ahLst/>
            <a:cxnLst/>
            <a:rect l="0" t="0" r="r" b="b"/>
            <a:pathLst>
              <a:path w="3630168" h="3493008">
                <a:moveTo>
                  <a:pt x="0" y="3493008"/>
                </a:moveTo>
                <a:lnTo>
                  <a:pt x="0" y="0"/>
                </a:lnTo>
                <a:lnTo>
                  <a:pt x="3630168" y="0"/>
                </a:lnTo>
              </a:path>
            </a:pathLst>
          </a:custGeom>
          <a:noFill/>
          <a:ln w="73152" cap="rnd">
            <a:solidFill>
              <a:srgbClr val="548636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communication-connectors-0004"/>
          <p:cNvSpPr/>
          <p:nvPr/>
        </p:nvSpPr>
        <p:spPr>
          <a:xfrm>
            <a:off x="3063240" y="8220456"/>
            <a:ext cx="91" cy="201168"/>
          </a:xfrm>
          <a:custGeom>
            <a:avLst/>
            <a:gdLst/>
            <a:ahLst/>
            <a:cxnLst/>
            <a:rect l="0" t="0" r="r" b="b"/>
            <a:pathLst>
              <a:path w="91" h="201168">
                <a:moveTo>
                  <a:pt x="0" y="0"/>
                </a:moveTo>
                <a:lnTo>
                  <a:pt x="0" y="201168"/>
                </a:lnTo>
              </a:path>
            </a:pathLst>
          </a:custGeom>
          <a:noFill/>
          <a:ln w="82296" cap="rnd">
            <a:solidFill>
              <a:srgbClr val="54863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ommunication-connectors-0005"/>
          <p:cNvSpPr/>
          <p:nvPr/>
        </p:nvSpPr>
        <p:spPr>
          <a:xfrm>
            <a:off x="6601968" y="8220456"/>
            <a:ext cx="91" cy="201168"/>
          </a:xfrm>
          <a:custGeom>
            <a:avLst/>
            <a:gdLst/>
            <a:ahLst/>
            <a:cxnLst/>
            <a:rect l="0" t="0" r="r" b="b"/>
            <a:pathLst>
              <a:path w="91" h="201168">
                <a:moveTo>
                  <a:pt x="0" y="0"/>
                </a:moveTo>
                <a:lnTo>
                  <a:pt x="0" y="201168"/>
                </a:lnTo>
              </a:path>
            </a:pathLst>
          </a:custGeom>
          <a:noFill/>
          <a:ln w="82296" cap="rnd">
            <a:solidFill>
              <a:srgbClr val="54863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ommunication-connectors-0006"/>
          <p:cNvSpPr/>
          <p:nvPr/>
        </p:nvSpPr>
        <p:spPr>
          <a:xfrm>
            <a:off x="4407408" y="2624328"/>
            <a:ext cx="658368" cy="4846320"/>
          </a:xfrm>
          <a:custGeom>
            <a:avLst/>
            <a:gdLst/>
            <a:ahLst/>
            <a:cxnLst/>
            <a:rect l="0" t="0" r="r" b="b"/>
            <a:pathLst>
              <a:path w="658368" h="4846320">
                <a:moveTo>
                  <a:pt x="0" y="4846320"/>
                </a:moveTo>
                <a:lnTo>
                  <a:pt x="274320" y="4846320"/>
                </a:lnTo>
                <a:lnTo>
                  <a:pt x="274320" y="0"/>
                </a:lnTo>
                <a:lnTo>
                  <a:pt x="658368" y="0"/>
                </a:lnTo>
              </a:path>
            </a:pathLst>
          </a:custGeom>
          <a:noFill/>
          <a:ln w="82296" cap="rnd">
            <a:solidFill>
              <a:srgbClr val="80748F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communication-connectors-0007"/>
          <p:cNvSpPr/>
          <p:nvPr/>
        </p:nvSpPr>
        <p:spPr>
          <a:xfrm>
            <a:off x="5065776" y="2523378"/>
            <a:ext cx="210312" cy="201900"/>
          </a:xfrm>
          <a:custGeom>
            <a:avLst/>
            <a:gdLst/>
            <a:ahLst/>
            <a:cxnLst/>
            <a:rect l="0" t="0" r="r" b="b"/>
            <a:pathLst>
              <a:path w="210312" h="201900">
                <a:moveTo>
                  <a:pt x="210312" y="100950"/>
                </a:moveTo>
                <a:lnTo>
                  <a:pt x="0" y="201900"/>
                </a:lnTo>
                <a:lnTo>
                  <a:pt x="0" y="0"/>
                </a:lnTo>
                <a:close/>
              </a:path>
            </a:pathLst>
          </a:custGeom>
          <a:solidFill>
            <a:srgbClr val="80748F"/>
          </a:solidFill>
          <a:ln>
            <a:noFill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communication-connectors-0008"/>
          <p:cNvSpPr/>
          <p:nvPr/>
        </p:nvSpPr>
        <p:spPr>
          <a:xfrm>
            <a:off x="4882896" y="4636008"/>
            <a:ext cx="402336" cy="3127248"/>
          </a:xfrm>
          <a:custGeom>
            <a:avLst/>
            <a:gdLst/>
            <a:ahLst/>
            <a:cxnLst/>
            <a:rect l="0" t="0" r="r" b="b"/>
            <a:pathLst>
              <a:path w="402336" h="3127248">
                <a:moveTo>
                  <a:pt x="402336" y="0"/>
                </a:moveTo>
                <a:lnTo>
                  <a:pt x="0" y="0"/>
                </a:lnTo>
                <a:lnTo>
                  <a:pt x="0" y="3127248"/>
                </a:lnTo>
              </a:path>
            </a:pathLst>
          </a:custGeom>
          <a:noFill/>
          <a:ln w="73152" cap="rnd">
            <a:solidFill>
              <a:srgbClr val="F6B181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communication-connectors-0009"/>
          <p:cNvSpPr/>
          <p:nvPr/>
        </p:nvSpPr>
        <p:spPr>
          <a:xfrm>
            <a:off x="4790724" y="7763256"/>
            <a:ext cx="184343" cy="192024"/>
          </a:xfrm>
          <a:custGeom>
            <a:avLst/>
            <a:gdLst/>
            <a:ahLst/>
            <a:cxnLst/>
            <a:rect l="0" t="0" r="r" b="b"/>
            <a:pathLst>
              <a:path w="184343" h="192024">
                <a:moveTo>
                  <a:pt x="92172" y="192024"/>
                </a:moveTo>
                <a:lnTo>
                  <a:pt x="0" y="0"/>
                </a:lnTo>
                <a:lnTo>
                  <a:pt x="184343" y="0"/>
                </a:lnTo>
                <a:close/>
              </a:path>
            </a:pathLst>
          </a:custGeom>
          <a:solidFill>
            <a:srgbClr val="F6B181"/>
          </a:solidFill>
          <a:ln>
            <a:noFill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communication-connectors-0010"/>
          <p:cNvSpPr/>
          <p:nvPr/>
        </p:nvSpPr>
        <p:spPr>
          <a:xfrm>
            <a:off x="4434840" y="3218688"/>
            <a:ext cx="448056" cy="4736592"/>
          </a:xfrm>
          <a:custGeom>
            <a:avLst/>
            <a:gdLst/>
            <a:ahLst/>
            <a:cxnLst/>
            <a:rect l="0" t="0" r="r" b="b"/>
            <a:pathLst>
              <a:path w="448056" h="4736592">
                <a:moveTo>
                  <a:pt x="448056" y="4736592"/>
                </a:moveTo>
                <a:lnTo>
                  <a:pt x="448056" y="0"/>
                </a:lnTo>
                <a:lnTo>
                  <a:pt x="0" y="0"/>
                </a:lnTo>
              </a:path>
            </a:pathLst>
          </a:custGeom>
          <a:noFill/>
          <a:ln w="73152" cap="rnd">
            <a:solidFill>
              <a:srgbClr val="F6B181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communication-connectors-0011"/>
          <p:cNvSpPr/>
          <p:nvPr/>
        </p:nvSpPr>
        <p:spPr>
          <a:xfrm>
            <a:off x="4242816" y="3126516"/>
            <a:ext cx="192024" cy="184343"/>
          </a:xfrm>
          <a:custGeom>
            <a:avLst/>
            <a:gdLst/>
            <a:ahLst/>
            <a:cxnLst/>
            <a:rect l="0" t="0" r="r" b="b"/>
            <a:pathLst>
              <a:path w="192024" h="184343">
                <a:moveTo>
                  <a:pt x="0" y="92172"/>
                </a:moveTo>
                <a:lnTo>
                  <a:pt x="192024" y="0"/>
                </a:lnTo>
                <a:lnTo>
                  <a:pt x="192024" y="184343"/>
                </a:lnTo>
                <a:close/>
              </a:path>
            </a:pathLst>
          </a:custGeom>
          <a:solidFill>
            <a:srgbClr val="F6B181"/>
          </a:solidFill>
          <a:ln>
            <a:noFill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communication-connectors-0012"/>
          <p:cNvSpPr/>
          <p:nvPr/>
        </p:nvSpPr>
        <p:spPr>
          <a:xfrm>
            <a:off x="4645152" y="7955280"/>
            <a:ext cx="429768" cy="91"/>
          </a:xfrm>
          <a:custGeom>
            <a:avLst/>
            <a:gdLst/>
            <a:ahLst/>
            <a:cxnLst/>
            <a:rect l="0" t="0" r="r" b="b"/>
            <a:pathLst>
              <a:path w="429768" h="91">
                <a:moveTo>
                  <a:pt x="0" y="0"/>
                </a:moveTo>
                <a:lnTo>
                  <a:pt x="429768" y="0"/>
                </a:lnTo>
              </a:path>
            </a:pathLst>
          </a:custGeom>
          <a:noFill/>
          <a:ln w="73152" cap="rnd">
            <a:solidFill>
              <a:srgbClr val="F6B181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communication-connectors-0013"/>
          <p:cNvSpPr/>
          <p:nvPr/>
        </p:nvSpPr>
        <p:spPr>
          <a:xfrm>
            <a:off x="5074920" y="7858719"/>
            <a:ext cx="201168" cy="193121"/>
          </a:xfrm>
          <a:custGeom>
            <a:avLst/>
            <a:gdLst/>
            <a:ahLst/>
            <a:cxnLst/>
            <a:rect l="0" t="0" r="r" b="b"/>
            <a:pathLst>
              <a:path w="201168" h="193121">
                <a:moveTo>
                  <a:pt x="201168" y="96561"/>
                </a:moveTo>
                <a:lnTo>
                  <a:pt x="0" y="193121"/>
                </a:lnTo>
                <a:lnTo>
                  <a:pt x="0" y="0"/>
                </a:lnTo>
                <a:close/>
              </a:path>
            </a:pathLst>
          </a:custGeom>
          <a:solidFill>
            <a:srgbClr val="F6B181"/>
          </a:solidFill>
          <a:ln>
            <a:noFill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communication-connectors-0014"/>
          <p:cNvSpPr/>
          <p:nvPr/>
        </p:nvSpPr>
        <p:spPr>
          <a:xfrm>
            <a:off x="4443984" y="7858719"/>
            <a:ext cx="201168" cy="193121"/>
          </a:xfrm>
          <a:custGeom>
            <a:avLst/>
            <a:gdLst/>
            <a:ahLst/>
            <a:cxnLst/>
            <a:rect l="0" t="0" r="r" b="b"/>
            <a:pathLst>
              <a:path w="201168" h="193121">
                <a:moveTo>
                  <a:pt x="0" y="96561"/>
                </a:moveTo>
                <a:lnTo>
                  <a:pt x="201168" y="0"/>
                </a:lnTo>
                <a:lnTo>
                  <a:pt x="201168" y="193121"/>
                </a:lnTo>
                <a:close/>
              </a:path>
            </a:pathLst>
          </a:custGeom>
          <a:solidFill>
            <a:srgbClr val="F6B181"/>
          </a:solidFill>
          <a:ln>
            <a:noFill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agent-1-0015"/>
          <p:cNvSpPr/>
          <p:nvPr/>
        </p:nvSpPr>
        <p:spPr>
          <a:xfrm>
            <a:off x="173736" y="402336"/>
            <a:ext cx="4261104" cy="4197096"/>
          </a:xfrm>
          <a:prstGeom prst="rect">
            <a:avLst/>
          </a:prstGeom>
          <a:solidFill>
            <a:srgbClr val="DFEBF6"/>
          </a:solidFill>
          <a:ln w="18288" cap="rnd">
            <a:solidFill>
              <a:srgbClr val="457BA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agent-1-0016"/>
          <p:cNvSpPr/>
          <p:nvPr/>
        </p:nvSpPr>
        <p:spPr>
          <a:xfrm>
            <a:off x="173736" y="128016"/>
            <a:ext cx="4261104" cy="594360"/>
          </a:xfrm>
          <a:custGeom>
            <a:avLst/>
            <a:gdLst/>
            <a:ahLst/>
            <a:cxnLst/>
            <a:rect l="0" t="0" r="r" b="b"/>
            <a:pathLst>
              <a:path w="4261104" h="594360">
                <a:moveTo>
                  <a:pt x="0" y="594360"/>
                </a:moveTo>
                <a:lnTo>
                  <a:pt x="0" y="256032"/>
                </a:lnTo>
                <a:cubicBezTo>
                  <a:pt x="0" y="114629"/>
                  <a:pt x="114629" y="0"/>
                  <a:pt x="256032" y="0"/>
                </a:cubicBezTo>
                <a:lnTo>
                  <a:pt x="4005072" y="0"/>
                </a:lnTo>
                <a:cubicBezTo>
                  <a:pt x="4146475" y="0"/>
                  <a:pt x="4261104" y="114629"/>
                  <a:pt x="4261104" y="256032"/>
                </a:cubicBezTo>
                <a:lnTo>
                  <a:pt x="4261104" y="594360"/>
                </a:lnTo>
                <a:close/>
              </a:path>
            </a:pathLst>
          </a:custGeom>
          <a:solidFill>
            <a:srgbClr val="9DC3E2"/>
          </a:solidFill>
          <a:ln w="18288" cap="rnd">
            <a:solidFill>
              <a:srgbClr val="457BA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agent-1-0017 — Agent 1"/>
          <p:cNvSpPr txBox="1"/>
          <p:nvPr/>
        </p:nvSpPr>
        <p:spPr>
          <a:xfrm>
            <a:off x="1700720" y="195316"/>
            <a:ext cx="1316865" cy="4345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0" lang="en-US">
                <a:solidFill>
                  <a:srgbClr val="203D67"/>
                </a:solidFill>
                <a:latin typeface="Arial"/>
              </a:rPr>
              <a:t>Agent 1</a:t>
            </a:r>
          </a:p>
        </p:txBody>
      </p:sp>
      <p:sp>
        <p:nvSpPr>
          <p:cNvPr id="19" name="agent-1-0018 — Prefix KV"/>
          <p:cNvSpPr txBox="1"/>
          <p:nvPr/>
        </p:nvSpPr>
        <p:spPr>
          <a:xfrm>
            <a:off x="384048" y="770473"/>
            <a:ext cx="1166803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 lang="en-US">
                <a:solidFill>
                  <a:srgbClr val="203D67"/>
                </a:solidFill>
                <a:latin typeface="Arial"/>
              </a:rPr>
              <a:t>Prefix KV</a:t>
            </a:r>
          </a:p>
        </p:txBody>
      </p:sp>
      <p:sp>
        <p:nvSpPr>
          <p:cNvPr id="20" name="agent-1-0019"/>
          <p:cNvSpPr/>
          <p:nvPr/>
        </p:nvSpPr>
        <p:spPr>
          <a:xfrm>
            <a:off x="320040" y="1097280"/>
            <a:ext cx="685800" cy="31089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agent-1-0020 — p"/>
          <p:cNvSpPr txBox="1"/>
          <p:nvPr/>
        </p:nvSpPr>
        <p:spPr>
          <a:xfrm>
            <a:off x="421581" y="1027339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22" name="agent-1-0021 — (1, 0)"/>
          <p:cNvSpPr txBox="1"/>
          <p:nvPr/>
        </p:nvSpPr>
        <p:spPr>
          <a:xfrm>
            <a:off x="559685" y="1160652"/>
            <a:ext cx="454342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000000"/>
                </a:solidFill>
                <a:latin typeface="Times New Roman"/>
              </a:rPr>
              <a:t>(1, 0)</a:t>
            </a:r>
          </a:p>
        </p:txBody>
      </p:sp>
      <p:sp>
        <p:nvSpPr>
          <p:cNvPr id="23" name="agent-1-0022"/>
          <p:cNvSpPr/>
          <p:nvPr/>
        </p:nvSpPr>
        <p:spPr>
          <a:xfrm>
            <a:off x="1092708" y="1097280"/>
            <a:ext cx="685800" cy="31089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agent-1-0023 — p"/>
          <p:cNvSpPr txBox="1"/>
          <p:nvPr/>
        </p:nvSpPr>
        <p:spPr>
          <a:xfrm>
            <a:off x="1194249" y="1027339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25" name="agent-1-0024 — (1, 1)"/>
          <p:cNvSpPr txBox="1"/>
          <p:nvPr/>
        </p:nvSpPr>
        <p:spPr>
          <a:xfrm>
            <a:off x="1332353" y="1160652"/>
            <a:ext cx="454342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26" name="agent-1-0025"/>
          <p:cNvSpPr/>
          <p:nvPr/>
        </p:nvSpPr>
        <p:spPr>
          <a:xfrm>
            <a:off x="1865376" y="1097280"/>
            <a:ext cx="685800" cy="31089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agent-1-0026 — p"/>
          <p:cNvSpPr txBox="1"/>
          <p:nvPr/>
        </p:nvSpPr>
        <p:spPr>
          <a:xfrm>
            <a:off x="1966917" y="1027339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28" name="agent-1-0027 — (1, 2)"/>
          <p:cNvSpPr txBox="1"/>
          <p:nvPr/>
        </p:nvSpPr>
        <p:spPr>
          <a:xfrm>
            <a:off x="2105021" y="1160652"/>
            <a:ext cx="454342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000000"/>
                </a:solidFill>
                <a:latin typeface="Times New Roman"/>
              </a:rPr>
              <a:t>(1, 2)</a:t>
            </a:r>
          </a:p>
        </p:txBody>
      </p:sp>
      <p:sp>
        <p:nvSpPr>
          <p:cNvPr id="29" name="agent-1-0028"/>
          <p:cNvSpPr/>
          <p:nvPr/>
        </p:nvSpPr>
        <p:spPr>
          <a:xfrm>
            <a:off x="2638044" y="1097280"/>
            <a:ext cx="685800" cy="31089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agent-1-0029 — p"/>
          <p:cNvSpPr txBox="1"/>
          <p:nvPr/>
        </p:nvSpPr>
        <p:spPr>
          <a:xfrm>
            <a:off x="2739585" y="1027339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31" name="agent-1-0030 — (1, 3)"/>
          <p:cNvSpPr txBox="1"/>
          <p:nvPr/>
        </p:nvSpPr>
        <p:spPr>
          <a:xfrm>
            <a:off x="2877689" y="1160652"/>
            <a:ext cx="454342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000000"/>
                </a:solidFill>
                <a:latin typeface="Times New Roman"/>
              </a:rPr>
              <a:t>(1, 3)</a:t>
            </a:r>
          </a:p>
        </p:txBody>
      </p:sp>
      <p:sp>
        <p:nvSpPr>
          <p:cNvPr id="32" name="agent-1-0031 — Placeholder KV"/>
          <p:cNvSpPr txBox="1"/>
          <p:nvPr/>
        </p:nvSpPr>
        <p:spPr>
          <a:xfrm>
            <a:off x="384048" y="1437985"/>
            <a:ext cx="1853775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 lang="en-US">
                <a:solidFill>
                  <a:srgbClr val="203D67"/>
                </a:solidFill>
                <a:latin typeface="Arial"/>
              </a:rPr>
              <a:t>Placeholder KV</a:t>
            </a:r>
          </a:p>
        </p:txBody>
      </p:sp>
      <p:sp>
        <p:nvSpPr>
          <p:cNvPr id="33" name="agent-1-0032"/>
          <p:cNvSpPr/>
          <p:nvPr/>
        </p:nvSpPr>
        <p:spPr>
          <a:xfrm>
            <a:off x="347472" y="1737360"/>
            <a:ext cx="603504" cy="256032"/>
          </a:xfrm>
          <a:prstGeom prst="rect">
            <a:avLst/>
          </a:prstGeom>
          <a:solidFill>
            <a:srgbClr val="FFFFFF"/>
          </a:solidFill>
          <a:ln w="7315" cap="rnd">
            <a:solidFill>
              <a:srgbClr val="EEF0F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agent-1-0033"/>
          <p:cNvSpPr/>
          <p:nvPr/>
        </p:nvSpPr>
        <p:spPr>
          <a:xfrm>
            <a:off x="365760" y="1746504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gent-1-0034"/>
          <p:cNvSpPr/>
          <p:nvPr/>
        </p:nvSpPr>
        <p:spPr>
          <a:xfrm>
            <a:off x="365760" y="1746504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agent-1-0035"/>
          <p:cNvSpPr/>
          <p:nvPr/>
        </p:nvSpPr>
        <p:spPr>
          <a:xfrm>
            <a:off x="365760" y="1746504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agent-1-0036"/>
          <p:cNvSpPr/>
          <p:nvPr/>
        </p:nvSpPr>
        <p:spPr>
          <a:xfrm>
            <a:off x="365760" y="1746504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agent-1-0037"/>
          <p:cNvSpPr/>
          <p:nvPr/>
        </p:nvSpPr>
        <p:spPr>
          <a:xfrm>
            <a:off x="365760" y="1746504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agent-1-0038"/>
          <p:cNvSpPr/>
          <p:nvPr/>
        </p:nvSpPr>
        <p:spPr>
          <a:xfrm>
            <a:off x="365760" y="1746504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agent-1-0039"/>
          <p:cNvSpPr/>
          <p:nvPr/>
        </p:nvSpPr>
        <p:spPr>
          <a:xfrm>
            <a:off x="384048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agent-1-0040"/>
          <p:cNvSpPr/>
          <p:nvPr/>
        </p:nvSpPr>
        <p:spPr>
          <a:xfrm>
            <a:off x="420624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agent-1-0041"/>
          <p:cNvSpPr/>
          <p:nvPr/>
        </p:nvSpPr>
        <p:spPr>
          <a:xfrm>
            <a:off x="457200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agent-1-0042"/>
          <p:cNvSpPr/>
          <p:nvPr/>
        </p:nvSpPr>
        <p:spPr>
          <a:xfrm>
            <a:off x="493776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agent-1-0043"/>
          <p:cNvSpPr/>
          <p:nvPr/>
        </p:nvSpPr>
        <p:spPr>
          <a:xfrm>
            <a:off x="530352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agent-1-0044"/>
          <p:cNvSpPr/>
          <p:nvPr/>
        </p:nvSpPr>
        <p:spPr>
          <a:xfrm>
            <a:off x="566928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agent-1-0045"/>
          <p:cNvSpPr/>
          <p:nvPr/>
        </p:nvSpPr>
        <p:spPr>
          <a:xfrm>
            <a:off x="603504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agent-1-0046"/>
          <p:cNvSpPr/>
          <p:nvPr/>
        </p:nvSpPr>
        <p:spPr>
          <a:xfrm>
            <a:off x="640080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agent-1-0047"/>
          <p:cNvSpPr/>
          <p:nvPr/>
        </p:nvSpPr>
        <p:spPr>
          <a:xfrm>
            <a:off x="676656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agent-1-0048"/>
          <p:cNvSpPr/>
          <p:nvPr/>
        </p:nvSpPr>
        <p:spPr>
          <a:xfrm>
            <a:off x="713232" y="1764792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agent-1-0049"/>
          <p:cNvSpPr/>
          <p:nvPr/>
        </p:nvSpPr>
        <p:spPr>
          <a:xfrm>
            <a:off x="749808" y="1801368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agent-1-0050"/>
          <p:cNvSpPr/>
          <p:nvPr/>
        </p:nvSpPr>
        <p:spPr>
          <a:xfrm>
            <a:off x="786384" y="1837944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gent-1-0051"/>
          <p:cNvSpPr/>
          <p:nvPr/>
        </p:nvSpPr>
        <p:spPr>
          <a:xfrm>
            <a:off x="822960" y="1874520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agent-1-0052"/>
          <p:cNvSpPr/>
          <p:nvPr/>
        </p:nvSpPr>
        <p:spPr>
          <a:xfrm>
            <a:off x="859536" y="1911096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agent-1-0053"/>
          <p:cNvSpPr/>
          <p:nvPr/>
        </p:nvSpPr>
        <p:spPr>
          <a:xfrm>
            <a:off x="896112" y="1947672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agent-1-0054 — ϕ"/>
          <p:cNvSpPr txBox="1"/>
          <p:nvPr/>
        </p:nvSpPr>
        <p:spPr>
          <a:xfrm>
            <a:off x="417192" y="1664940"/>
            <a:ext cx="237515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56" name="agent-1-0055 — (1, 1)"/>
          <p:cNvSpPr txBox="1"/>
          <p:nvPr/>
        </p:nvSpPr>
        <p:spPr>
          <a:xfrm>
            <a:off x="560387" y="1809616"/>
            <a:ext cx="430597" cy="1955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57" name="agent-1-0056"/>
          <p:cNvSpPr/>
          <p:nvPr/>
        </p:nvSpPr>
        <p:spPr>
          <a:xfrm>
            <a:off x="1001268" y="1737360"/>
            <a:ext cx="603504" cy="256032"/>
          </a:xfrm>
          <a:prstGeom prst="rect">
            <a:avLst/>
          </a:prstGeom>
          <a:solidFill>
            <a:srgbClr val="FFFFFF"/>
          </a:solidFill>
          <a:ln w="7315" cap="rnd">
            <a:solidFill>
              <a:srgbClr val="EEF0F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8" name="agent-1-0057"/>
          <p:cNvSpPr/>
          <p:nvPr/>
        </p:nvSpPr>
        <p:spPr>
          <a:xfrm>
            <a:off x="1019556" y="1746504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agent-1-0058"/>
          <p:cNvSpPr/>
          <p:nvPr/>
        </p:nvSpPr>
        <p:spPr>
          <a:xfrm>
            <a:off x="1019556" y="1746504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agent-1-0059"/>
          <p:cNvSpPr/>
          <p:nvPr/>
        </p:nvSpPr>
        <p:spPr>
          <a:xfrm>
            <a:off x="1019556" y="1746504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agent-1-0060"/>
          <p:cNvSpPr/>
          <p:nvPr/>
        </p:nvSpPr>
        <p:spPr>
          <a:xfrm>
            <a:off x="1019556" y="1746504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agent-1-0061"/>
          <p:cNvSpPr/>
          <p:nvPr/>
        </p:nvSpPr>
        <p:spPr>
          <a:xfrm>
            <a:off x="1019556" y="1746504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agent-1-0062"/>
          <p:cNvSpPr/>
          <p:nvPr/>
        </p:nvSpPr>
        <p:spPr>
          <a:xfrm>
            <a:off x="1019556" y="1746504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agent-1-0063"/>
          <p:cNvSpPr/>
          <p:nvPr/>
        </p:nvSpPr>
        <p:spPr>
          <a:xfrm>
            <a:off x="1037844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agent-1-0064"/>
          <p:cNvSpPr/>
          <p:nvPr/>
        </p:nvSpPr>
        <p:spPr>
          <a:xfrm>
            <a:off x="1074420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agent-1-0065"/>
          <p:cNvSpPr/>
          <p:nvPr/>
        </p:nvSpPr>
        <p:spPr>
          <a:xfrm>
            <a:off x="1110996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agent-1-0066"/>
          <p:cNvSpPr/>
          <p:nvPr/>
        </p:nvSpPr>
        <p:spPr>
          <a:xfrm>
            <a:off x="1147572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agent-1-0067"/>
          <p:cNvSpPr/>
          <p:nvPr/>
        </p:nvSpPr>
        <p:spPr>
          <a:xfrm>
            <a:off x="1184148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agent-1-0068"/>
          <p:cNvSpPr/>
          <p:nvPr/>
        </p:nvSpPr>
        <p:spPr>
          <a:xfrm>
            <a:off x="1220724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agent-1-0069"/>
          <p:cNvSpPr/>
          <p:nvPr/>
        </p:nvSpPr>
        <p:spPr>
          <a:xfrm>
            <a:off x="1257300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agent-1-0070"/>
          <p:cNvSpPr/>
          <p:nvPr/>
        </p:nvSpPr>
        <p:spPr>
          <a:xfrm>
            <a:off x="1293876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gent-1-0071"/>
          <p:cNvSpPr/>
          <p:nvPr/>
        </p:nvSpPr>
        <p:spPr>
          <a:xfrm>
            <a:off x="1330452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agent-1-0072"/>
          <p:cNvSpPr/>
          <p:nvPr/>
        </p:nvSpPr>
        <p:spPr>
          <a:xfrm>
            <a:off x="1367028" y="1764792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agent-1-0073"/>
          <p:cNvSpPr/>
          <p:nvPr/>
        </p:nvSpPr>
        <p:spPr>
          <a:xfrm>
            <a:off x="1403604" y="1801368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agent-1-0074"/>
          <p:cNvSpPr/>
          <p:nvPr/>
        </p:nvSpPr>
        <p:spPr>
          <a:xfrm>
            <a:off x="1440180" y="1837944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agent-1-0075"/>
          <p:cNvSpPr/>
          <p:nvPr/>
        </p:nvSpPr>
        <p:spPr>
          <a:xfrm>
            <a:off x="1476756" y="1874520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agent-1-0076"/>
          <p:cNvSpPr/>
          <p:nvPr/>
        </p:nvSpPr>
        <p:spPr>
          <a:xfrm>
            <a:off x="1513332" y="1911096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agent-1-0077"/>
          <p:cNvSpPr/>
          <p:nvPr/>
        </p:nvSpPr>
        <p:spPr>
          <a:xfrm>
            <a:off x="1549908" y="1947672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agent-1-0078 — ϕ"/>
          <p:cNvSpPr txBox="1"/>
          <p:nvPr/>
        </p:nvSpPr>
        <p:spPr>
          <a:xfrm>
            <a:off x="1070988" y="1664940"/>
            <a:ext cx="237515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80" name="agent-1-0079 — (1, 2)"/>
          <p:cNvSpPr txBox="1"/>
          <p:nvPr/>
        </p:nvSpPr>
        <p:spPr>
          <a:xfrm>
            <a:off x="1214183" y="1809616"/>
            <a:ext cx="430597" cy="1955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 lang="en-US">
                <a:solidFill>
                  <a:srgbClr val="000000"/>
                </a:solidFill>
                <a:latin typeface="Times New Roman"/>
              </a:rPr>
              <a:t>(1, 2)</a:t>
            </a:r>
          </a:p>
        </p:txBody>
      </p:sp>
      <p:sp>
        <p:nvSpPr>
          <p:cNvPr id="81" name="agent-1-0080"/>
          <p:cNvSpPr/>
          <p:nvPr/>
        </p:nvSpPr>
        <p:spPr>
          <a:xfrm>
            <a:off x="1655064" y="1737360"/>
            <a:ext cx="603504" cy="256032"/>
          </a:xfrm>
          <a:prstGeom prst="rect">
            <a:avLst/>
          </a:prstGeom>
          <a:solidFill>
            <a:srgbClr val="FFFFFF"/>
          </a:solidFill>
          <a:ln w="7315" cap="rnd">
            <a:solidFill>
              <a:srgbClr val="EEF0F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2" name="agent-1-0081"/>
          <p:cNvSpPr/>
          <p:nvPr/>
        </p:nvSpPr>
        <p:spPr>
          <a:xfrm>
            <a:off x="1673352" y="1746504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agent-1-0082"/>
          <p:cNvSpPr/>
          <p:nvPr/>
        </p:nvSpPr>
        <p:spPr>
          <a:xfrm>
            <a:off x="1673352" y="1746504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agent-1-0083"/>
          <p:cNvSpPr/>
          <p:nvPr/>
        </p:nvSpPr>
        <p:spPr>
          <a:xfrm>
            <a:off x="1673352" y="1746504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agent-1-0084"/>
          <p:cNvSpPr/>
          <p:nvPr/>
        </p:nvSpPr>
        <p:spPr>
          <a:xfrm>
            <a:off x="1673352" y="1746504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agent-1-0085"/>
          <p:cNvSpPr/>
          <p:nvPr/>
        </p:nvSpPr>
        <p:spPr>
          <a:xfrm>
            <a:off x="1673352" y="1746504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agent-1-0086"/>
          <p:cNvSpPr/>
          <p:nvPr/>
        </p:nvSpPr>
        <p:spPr>
          <a:xfrm>
            <a:off x="1673352" y="1746504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agent-1-0087"/>
          <p:cNvSpPr/>
          <p:nvPr/>
        </p:nvSpPr>
        <p:spPr>
          <a:xfrm>
            <a:off x="1691640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agent-1-0088"/>
          <p:cNvSpPr/>
          <p:nvPr/>
        </p:nvSpPr>
        <p:spPr>
          <a:xfrm>
            <a:off x="1728216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agent-1-0089"/>
          <p:cNvSpPr/>
          <p:nvPr/>
        </p:nvSpPr>
        <p:spPr>
          <a:xfrm>
            <a:off x="1764792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agent-1-0090"/>
          <p:cNvSpPr/>
          <p:nvPr/>
        </p:nvSpPr>
        <p:spPr>
          <a:xfrm>
            <a:off x="1801368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agent-1-0091"/>
          <p:cNvSpPr/>
          <p:nvPr/>
        </p:nvSpPr>
        <p:spPr>
          <a:xfrm>
            <a:off x="1837944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agent-1-0092"/>
          <p:cNvSpPr/>
          <p:nvPr/>
        </p:nvSpPr>
        <p:spPr>
          <a:xfrm>
            <a:off x="1874520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agent-1-0093"/>
          <p:cNvSpPr/>
          <p:nvPr/>
        </p:nvSpPr>
        <p:spPr>
          <a:xfrm>
            <a:off x="1911096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agent-1-0094"/>
          <p:cNvSpPr/>
          <p:nvPr/>
        </p:nvSpPr>
        <p:spPr>
          <a:xfrm>
            <a:off x="1947672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agent-1-0095"/>
          <p:cNvSpPr/>
          <p:nvPr/>
        </p:nvSpPr>
        <p:spPr>
          <a:xfrm>
            <a:off x="1984248" y="174650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agent-1-0096"/>
          <p:cNvSpPr/>
          <p:nvPr/>
        </p:nvSpPr>
        <p:spPr>
          <a:xfrm>
            <a:off x="2020824" y="1764792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agent-1-0097"/>
          <p:cNvSpPr/>
          <p:nvPr/>
        </p:nvSpPr>
        <p:spPr>
          <a:xfrm>
            <a:off x="2057400" y="1801368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agent-1-0098"/>
          <p:cNvSpPr/>
          <p:nvPr/>
        </p:nvSpPr>
        <p:spPr>
          <a:xfrm>
            <a:off x="2093976" y="1837944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agent-1-0099"/>
          <p:cNvSpPr/>
          <p:nvPr/>
        </p:nvSpPr>
        <p:spPr>
          <a:xfrm>
            <a:off x="2130552" y="1874520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agent-1-0100"/>
          <p:cNvSpPr/>
          <p:nvPr/>
        </p:nvSpPr>
        <p:spPr>
          <a:xfrm>
            <a:off x="2167128" y="1911096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agent-1-0101"/>
          <p:cNvSpPr/>
          <p:nvPr/>
        </p:nvSpPr>
        <p:spPr>
          <a:xfrm>
            <a:off x="2203704" y="1947672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agent-1-0102 — ϕ"/>
          <p:cNvSpPr txBox="1"/>
          <p:nvPr/>
        </p:nvSpPr>
        <p:spPr>
          <a:xfrm>
            <a:off x="1724784" y="1664940"/>
            <a:ext cx="237515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104" name="agent-1-0103 — (1, 3)"/>
          <p:cNvSpPr txBox="1"/>
          <p:nvPr/>
        </p:nvSpPr>
        <p:spPr>
          <a:xfrm>
            <a:off x="1867979" y="1809616"/>
            <a:ext cx="430597" cy="1955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 lang="en-US">
                <a:solidFill>
                  <a:srgbClr val="000000"/>
                </a:solidFill>
                <a:latin typeface="Times New Roman"/>
              </a:rPr>
              <a:t>(1, 3)</a:t>
            </a:r>
          </a:p>
        </p:txBody>
      </p:sp>
      <p:sp>
        <p:nvSpPr>
          <p:cNvPr id="105" name="agent-1-0104"/>
          <p:cNvSpPr/>
          <p:nvPr/>
        </p:nvSpPr>
        <p:spPr>
          <a:xfrm>
            <a:off x="173736" y="2039112"/>
            <a:ext cx="4261104" cy="420624"/>
          </a:xfrm>
          <a:prstGeom prst="rect">
            <a:avLst/>
          </a:prstGeom>
          <a:solidFill>
            <a:srgbClr val="D7D0DE"/>
          </a:solidFill>
          <a:ln w="18288" cap="rnd">
            <a:solidFill>
              <a:srgbClr val="80748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gent-1-0105 — All placeholders"/>
          <p:cNvSpPr txBox="1"/>
          <p:nvPr/>
        </p:nvSpPr>
        <p:spPr>
          <a:xfrm>
            <a:off x="996696" y="2069196"/>
            <a:ext cx="2158113" cy="35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lang="en-US">
                <a:solidFill>
                  <a:srgbClr val="000000"/>
                </a:solidFill>
                <a:latin typeface="Arial"/>
              </a:rPr>
              <a:t>All placeholders</a:t>
            </a:r>
          </a:p>
        </p:txBody>
      </p:sp>
      <p:sp>
        <p:nvSpPr>
          <p:cNvPr id="107" name="agent-1-0106"/>
          <p:cNvSpPr/>
          <p:nvPr/>
        </p:nvSpPr>
        <p:spPr>
          <a:xfrm>
            <a:off x="3127248" y="2103120"/>
            <a:ext cx="292608" cy="292608"/>
          </a:xfrm>
          <a:prstGeom prst="ellipse">
            <a:avLst/>
          </a:prstGeom>
          <a:solidFill>
            <a:srgbClr val="548636"/>
          </a:solidFill>
          <a:ln w="457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agent-1-0107"/>
          <p:cNvSpPr/>
          <p:nvPr/>
        </p:nvSpPr>
        <p:spPr>
          <a:xfrm>
            <a:off x="3194548" y="2186513"/>
            <a:ext cx="169713" cy="121432"/>
          </a:xfrm>
          <a:custGeom>
            <a:avLst/>
            <a:gdLst/>
            <a:ahLst/>
            <a:cxnLst/>
            <a:rect l="0" t="0" r="r" b="b"/>
            <a:pathLst>
              <a:path w="169713" h="121432">
                <a:moveTo>
                  <a:pt x="0" y="62911"/>
                </a:moveTo>
                <a:lnTo>
                  <a:pt x="62911" y="121432"/>
                </a:lnTo>
                <a:lnTo>
                  <a:pt x="169713" y="0"/>
                </a:lnTo>
              </a:path>
            </a:pathLst>
          </a:custGeom>
          <a:noFill/>
          <a:ln w="2194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agent-1-0108 — ?"/>
          <p:cNvSpPr txBox="1"/>
          <p:nvPr/>
        </p:nvSpPr>
        <p:spPr>
          <a:xfrm>
            <a:off x="3456432" y="2069196"/>
            <a:ext cx="271705" cy="35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lang="en-US">
                <a:solidFill>
                  <a:srgbClr val="000000"/>
                </a:solidFill>
                <a:latin typeface="Arial"/>
              </a:rPr>
              <a:t>?</a:t>
            </a:r>
          </a:p>
        </p:txBody>
      </p:sp>
      <p:sp>
        <p:nvSpPr>
          <p:cNvPr id="110" name="agent-1-0109"/>
          <p:cNvSpPr/>
          <p:nvPr/>
        </p:nvSpPr>
        <p:spPr>
          <a:xfrm>
            <a:off x="173736" y="2459736"/>
            <a:ext cx="1600200" cy="320040"/>
          </a:xfrm>
          <a:prstGeom prst="rect">
            <a:avLst/>
          </a:prstGeom>
          <a:solidFill>
            <a:srgbClr val="DFEBF6"/>
          </a:solidFill>
          <a:ln w="18288" cap="rnd">
            <a:solidFill>
              <a:srgbClr val="457BA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agent-1-0110"/>
          <p:cNvSpPr/>
          <p:nvPr/>
        </p:nvSpPr>
        <p:spPr>
          <a:xfrm>
            <a:off x="1773936" y="2459736"/>
            <a:ext cx="2660904" cy="320040"/>
          </a:xfrm>
          <a:prstGeom prst="rect">
            <a:avLst/>
          </a:prstGeom>
          <a:solidFill>
            <a:srgbClr val="D7D0DE"/>
          </a:solidFill>
          <a:ln w="18288" cap="rnd">
            <a:solidFill>
              <a:srgbClr val="80748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agent-1-0111 — No"/>
          <p:cNvSpPr txBox="1"/>
          <p:nvPr/>
        </p:nvSpPr>
        <p:spPr>
          <a:xfrm>
            <a:off x="797100" y="2434956"/>
            <a:ext cx="463201" cy="35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lang="en-US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113" name="agent-1-0112 — Yes"/>
          <p:cNvSpPr txBox="1"/>
          <p:nvPr/>
        </p:nvSpPr>
        <p:spPr>
          <a:xfrm>
            <a:off x="2875795" y="2434956"/>
            <a:ext cx="566914" cy="35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lang="en-US">
                <a:solidFill>
                  <a:srgbClr val="000000"/>
                </a:solidFill>
                <a:latin typeface="Arial"/>
              </a:rPr>
              <a:t>Yes</a:t>
            </a:r>
          </a:p>
        </p:txBody>
      </p:sp>
      <p:sp>
        <p:nvSpPr>
          <p:cNvPr id="114" name="agent-1-0113"/>
          <p:cNvSpPr/>
          <p:nvPr/>
        </p:nvSpPr>
        <p:spPr>
          <a:xfrm>
            <a:off x="1773936" y="2779776"/>
            <a:ext cx="2660904" cy="1828800"/>
          </a:xfrm>
          <a:prstGeom prst="rect">
            <a:avLst/>
          </a:prstGeom>
          <a:solidFill>
            <a:srgbClr val="FBE5D4"/>
          </a:solidFill>
          <a:ln w="18288" cap="rnd">
            <a:solidFill>
              <a:srgbClr val="C75A0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agent-1-0114 — Dense"/>
          <p:cNvSpPr txBox="1"/>
          <p:nvPr/>
        </p:nvSpPr>
        <p:spPr>
          <a:xfrm>
            <a:off x="585037" y="2919496"/>
            <a:ext cx="878181" cy="3379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 lang="en-US">
                <a:solidFill>
                  <a:srgbClr val="203D67"/>
                </a:solidFill>
                <a:latin typeface="Arial"/>
              </a:rPr>
              <a:t>Dense</a:t>
            </a:r>
          </a:p>
        </p:txBody>
      </p:sp>
      <p:sp>
        <p:nvSpPr>
          <p:cNvPr id="116" name="agent-1-0115 — Prefilling"/>
          <p:cNvSpPr txBox="1"/>
          <p:nvPr/>
        </p:nvSpPr>
        <p:spPr>
          <a:xfrm>
            <a:off x="421560" y="3202960"/>
            <a:ext cx="1205136" cy="3379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 lang="en-US">
                <a:solidFill>
                  <a:srgbClr val="203D67"/>
                </a:solidFill>
                <a:latin typeface="Arial"/>
              </a:rPr>
              <a:t>Prefilling</a:t>
            </a:r>
          </a:p>
        </p:txBody>
      </p:sp>
      <p:sp>
        <p:nvSpPr>
          <p:cNvPr id="117" name="agent-1-0116"/>
          <p:cNvSpPr/>
          <p:nvPr/>
        </p:nvSpPr>
        <p:spPr>
          <a:xfrm>
            <a:off x="822960" y="3502152"/>
            <a:ext cx="292608" cy="292608"/>
          </a:xfrm>
          <a:prstGeom prst="ellipse">
            <a:avLst/>
          </a:prstGeom>
          <a:solidFill>
            <a:srgbClr val="C75A08"/>
          </a:solidFill>
          <a:ln w="4114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agent-1-0117"/>
          <p:cNvSpPr/>
          <p:nvPr/>
        </p:nvSpPr>
        <p:spPr>
          <a:xfrm>
            <a:off x="897575" y="3648456"/>
            <a:ext cx="143378" cy="91"/>
          </a:xfrm>
          <a:custGeom>
            <a:avLst/>
            <a:gdLst/>
            <a:ahLst/>
            <a:cxnLst/>
            <a:rect l="0" t="0" r="r" b="b"/>
            <a:pathLst>
              <a:path w="143378" h="91">
                <a:moveTo>
                  <a:pt x="0" y="0"/>
                </a:moveTo>
                <a:lnTo>
                  <a:pt x="143378" y="0"/>
                </a:lnTo>
              </a:path>
            </a:pathLst>
          </a:custGeom>
          <a:noFill/>
          <a:ln w="1920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agent-1-0118"/>
          <p:cNvSpPr/>
          <p:nvPr/>
        </p:nvSpPr>
        <p:spPr>
          <a:xfrm>
            <a:off x="969264" y="3576767"/>
            <a:ext cx="91" cy="143378"/>
          </a:xfrm>
          <a:custGeom>
            <a:avLst/>
            <a:gdLst/>
            <a:ahLst/>
            <a:cxnLst/>
            <a:rect l="0" t="0" r="r" b="b"/>
            <a:pathLst>
              <a:path w="91" h="143378">
                <a:moveTo>
                  <a:pt x="0" y="0"/>
                </a:moveTo>
                <a:lnTo>
                  <a:pt x="0" y="143378"/>
                </a:lnTo>
              </a:path>
            </a:pathLst>
          </a:custGeom>
          <a:noFill/>
          <a:ln w="1920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agent-1-0119 — Cache Update"/>
          <p:cNvSpPr txBox="1"/>
          <p:nvPr/>
        </p:nvSpPr>
        <p:spPr>
          <a:xfrm>
            <a:off x="1847088" y="2764048"/>
            <a:ext cx="1817041" cy="3379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 lang="en-US">
                <a:solidFill>
                  <a:srgbClr val="203D67"/>
                </a:solidFill>
                <a:latin typeface="Arial"/>
              </a:rPr>
              <a:t>Cache Update</a:t>
            </a:r>
          </a:p>
        </p:txBody>
      </p:sp>
      <p:sp>
        <p:nvSpPr>
          <p:cNvPr id="121" name="agent-1-0120 — PH"/>
          <p:cNvSpPr txBox="1"/>
          <p:nvPr/>
        </p:nvSpPr>
        <p:spPr>
          <a:xfrm>
            <a:off x="1947672" y="3083723"/>
            <a:ext cx="414595" cy="289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 lang="en-US">
                <a:solidFill>
                  <a:srgbClr val="203D67"/>
                </a:solidFill>
                <a:latin typeface="Arial"/>
              </a:rPr>
              <a:t>PH</a:t>
            </a:r>
          </a:p>
        </p:txBody>
      </p:sp>
      <p:sp>
        <p:nvSpPr>
          <p:cNvPr id="122" name="agent-1-0121 — PF"/>
          <p:cNvSpPr txBox="1"/>
          <p:nvPr/>
        </p:nvSpPr>
        <p:spPr>
          <a:xfrm>
            <a:off x="1947672" y="3385475"/>
            <a:ext cx="390163" cy="289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 lang="en-US">
                <a:solidFill>
                  <a:srgbClr val="203D67"/>
                </a:solidFill>
                <a:latin typeface="Arial"/>
              </a:rPr>
              <a:t>PF</a:t>
            </a:r>
          </a:p>
        </p:txBody>
      </p:sp>
      <p:sp>
        <p:nvSpPr>
          <p:cNvPr id="123" name="agent-1-0122"/>
          <p:cNvSpPr/>
          <p:nvPr/>
        </p:nvSpPr>
        <p:spPr>
          <a:xfrm>
            <a:off x="2331720" y="3081528"/>
            <a:ext cx="594360" cy="265176"/>
          </a:xfrm>
          <a:prstGeom prst="roundRect">
            <a:avLst>
              <a:gd name="adj" fmla="val 13793"/>
            </a:avLst>
          </a:prstGeom>
          <a:solidFill>
            <a:srgbClr val="F6B181"/>
          </a:solidFill>
          <a:ln w="7315" cap="rnd">
            <a:solidFill>
              <a:srgbClr val="9D632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4" name="agent-1-0123 — ϕ"/>
          <p:cNvSpPr txBox="1"/>
          <p:nvPr/>
        </p:nvSpPr>
        <p:spPr>
          <a:xfrm>
            <a:off x="2396868" y="3015691"/>
            <a:ext cx="237515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125" name="agent-1-0124 — (1, 1)"/>
          <p:cNvSpPr txBox="1"/>
          <p:nvPr/>
        </p:nvSpPr>
        <p:spPr>
          <a:xfrm>
            <a:off x="2540063" y="3160368"/>
            <a:ext cx="430597" cy="1955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126" name="agent-1-0125"/>
          <p:cNvSpPr/>
          <p:nvPr/>
        </p:nvSpPr>
        <p:spPr>
          <a:xfrm>
            <a:off x="2331720" y="3429000"/>
            <a:ext cx="594360" cy="265176"/>
          </a:xfrm>
          <a:prstGeom prst="rect">
            <a:avLst/>
          </a:prstGeom>
          <a:solidFill>
            <a:srgbClr val="203D67"/>
          </a:solidFill>
          <a:ln w="8229" cap="rnd">
            <a:solidFill>
              <a:srgbClr val="A4BDD9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7" name="agent-1-0126 — p"/>
          <p:cNvSpPr txBox="1"/>
          <p:nvPr/>
        </p:nvSpPr>
        <p:spPr>
          <a:xfrm>
            <a:off x="2411054" y="3356448"/>
            <a:ext cx="233815" cy="294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3" b="1" i="0" lang="en-US">
                <a:solidFill>
                  <a:srgbClr val="FFFFFF"/>
                </a:solidFill>
                <a:latin typeface="Times New Roman"/>
              </a:rPr>
              <a:t>p</a:t>
            </a:r>
          </a:p>
        </p:txBody>
      </p:sp>
      <p:sp>
        <p:nvSpPr>
          <p:cNvPr id="128" name="agent-1-0127 — (1, 1)"/>
          <p:cNvSpPr txBox="1"/>
          <p:nvPr/>
        </p:nvSpPr>
        <p:spPr>
          <a:xfrm>
            <a:off x="2535793" y="3476860"/>
            <a:ext cx="420681" cy="1892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8" b="0" i="0" lang="en-US">
                <a:solidFill>
                  <a:srgbClr val="FFFFFF"/>
                </a:solidFill>
                <a:latin typeface="Times New Roman"/>
              </a:rPr>
              <a:t>(1, 1)</a:t>
            </a:r>
          </a:p>
        </p:txBody>
      </p:sp>
      <p:sp>
        <p:nvSpPr>
          <p:cNvPr id="129" name="agent-1-0128"/>
          <p:cNvSpPr/>
          <p:nvPr/>
        </p:nvSpPr>
        <p:spPr>
          <a:xfrm>
            <a:off x="2990088" y="3081528"/>
            <a:ext cx="594360" cy="265176"/>
          </a:xfrm>
          <a:prstGeom prst="roundRect">
            <a:avLst>
              <a:gd name="adj" fmla="val 13793"/>
            </a:avLst>
          </a:prstGeom>
          <a:solidFill>
            <a:srgbClr val="A9D18E"/>
          </a:solidFill>
          <a:ln w="7315" cap="rnd">
            <a:solidFill>
              <a:srgbClr val="597A3E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0" name="agent-1-0129 — ϕ"/>
          <p:cNvSpPr txBox="1"/>
          <p:nvPr/>
        </p:nvSpPr>
        <p:spPr>
          <a:xfrm>
            <a:off x="3055236" y="3015691"/>
            <a:ext cx="237515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131" name="agent-1-0130 — (1, 2)"/>
          <p:cNvSpPr txBox="1"/>
          <p:nvPr/>
        </p:nvSpPr>
        <p:spPr>
          <a:xfrm>
            <a:off x="3198431" y="3160368"/>
            <a:ext cx="430597" cy="1955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 lang="en-US">
                <a:solidFill>
                  <a:srgbClr val="000000"/>
                </a:solidFill>
                <a:latin typeface="Times New Roman"/>
              </a:rPr>
              <a:t>(1, 2)</a:t>
            </a:r>
          </a:p>
        </p:txBody>
      </p:sp>
      <p:sp>
        <p:nvSpPr>
          <p:cNvPr id="132" name="agent-1-0131"/>
          <p:cNvSpPr/>
          <p:nvPr/>
        </p:nvSpPr>
        <p:spPr>
          <a:xfrm>
            <a:off x="2990088" y="3429000"/>
            <a:ext cx="594360" cy="265176"/>
          </a:xfrm>
          <a:prstGeom prst="rect">
            <a:avLst/>
          </a:prstGeom>
          <a:solidFill>
            <a:srgbClr val="203D67"/>
          </a:solidFill>
          <a:ln w="8229" cap="rnd">
            <a:solidFill>
              <a:srgbClr val="A4BDD9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agent-1-0132 — p"/>
          <p:cNvSpPr txBox="1"/>
          <p:nvPr/>
        </p:nvSpPr>
        <p:spPr>
          <a:xfrm>
            <a:off x="3069422" y="3356448"/>
            <a:ext cx="233815" cy="294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3" b="1" i="0" lang="en-US">
                <a:solidFill>
                  <a:srgbClr val="FFFFFF"/>
                </a:solidFill>
                <a:latin typeface="Times New Roman"/>
              </a:rPr>
              <a:t>p</a:t>
            </a:r>
          </a:p>
        </p:txBody>
      </p:sp>
      <p:sp>
        <p:nvSpPr>
          <p:cNvPr id="134" name="agent-1-0133 — (1, 2)"/>
          <p:cNvSpPr txBox="1"/>
          <p:nvPr/>
        </p:nvSpPr>
        <p:spPr>
          <a:xfrm>
            <a:off x="3194161" y="3476860"/>
            <a:ext cx="420681" cy="1892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8" b="0" i="0" lang="en-US">
                <a:solidFill>
                  <a:srgbClr val="FFFFFF"/>
                </a:solidFill>
                <a:latin typeface="Times New Roman"/>
              </a:rPr>
              <a:t>(1, 2)</a:t>
            </a:r>
          </a:p>
        </p:txBody>
      </p:sp>
      <p:sp>
        <p:nvSpPr>
          <p:cNvPr id="135" name="agent-1-0134"/>
          <p:cNvSpPr/>
          <p:nvPr/>
        </p:nvSpPr>
        <p:spPr>
          <a:xfrm>
            <a:off x="3648456" y="3081528"/>
            <a:ext cx="594360" cy="265176"/>
          </a:xfrm>
          <a:prstGeom prst="roundRect">
            <a:avLst>
              <a:gd name="adj" fmla="val 13793"/>
            </a:avLst>
          </a:prstGeom>
          <a:solidFill>
            <a:srgbClr val="F6B181"/>
          </a:solidFill>
          <a:ln w="7315" cap="rnd">
            <a:solidFill>
              <a:srgbClr val="9D632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agent-1-0135 — ϕ"/>
          <p:cNvSpPr txBox="1"/>
          <p:nvPr/>
        </p:nvSpPr>
        <p:spPr>
          <a:xfrm>
            <a:off x="3713604" y="3015691"/>
            <a:ext cx="237515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137" name="agent-1-0136 — (1, 3)"/>
          <p:cNvSpPr txBox="1"/>
          <p:nvPr/>
        </p:nvSpPr>
        <p:spPr>
          <a:xfrm>
            <a:off x="3856799" y="3160368"/>
            <a:ext cx="430597" cy="1955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 lang="en-US">
                <a:solidFill>
                  <a:srgbClr val="000000"/>
                </a:solidFill>
                <a:latin typeface="Times New Roman"/>
              </a:rPr>
              <a:t>(1, 3)</a:t>
            </a:r>
          </a:p>
        </p:txBody>
      </p:sp>
      <p:sp>
        <p:nvSpPr>
          <p:cNvPr id="138" name="agent-1-0137"/>
          <p:cNvSpPr/>
          <p:nvPr/>
        </p:nvSpPr>
        <p:spPr>
          <a:xfrm>
            <a:off x="3648456" y="3429000"/>
            <a:ext cx="594360" cy="265176"/>
          </a:xfrm>
          <a:prstGeom prst="rect">
            <a:avLst/>
          </a:prstGeom>
          <a:solidFill>
            <a:srgbClr val="203D67"/>
          </a:solidFill>
          <a:ln w="8229" cap="rnd">
            <a:solidFill>
              <a:srgbClr val="A4BDD9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9" name="agent-1-0138 — p"/>
          <p:cNvSpPr txBox="1"/>
          <p:nvPr/>
        </p:nvSpPr>
        <p:spPr>
          <a:xfrm>
            <a:off x="3727790" y="3356448"/>
            <a:ext cx="233815" cy="2940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3" b="1" i="0" lang="en-US">
                <a:solidFill>
                  <a:srgbClr val="FFFFFF"/>
                </a:solidFill>
                <a:latin typeface="Times New Roman"/>
              </a:rPr>
              <a:t>p</a:t>
            </a:r>
          </a:p>
        </p:txBody>
      </p:sp>
      <p:sp>
        <p:nvSpPr>
          <p:cNvPr id="140" name="agent-1-0139 — (1, 3)"/>
          <p:cNvSpPr txBox="1"/>
          <p:nvPr/>
        </p:nvSpPr>
        <p:spPr>
          <a:xfrm>
            <a:off x="3852529" y="3476860"/>
            <a:ext cx="420681" cy="1892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8" b="0" i="0" lang="en-US">
                <a:solidFill>
                  <a:srgbClr val="FFFFFF"/>
                </a:solidFill>
                <a:latin typeface="Times New Roman"/>
              </a:rPr>
              <a:t>(1, 3)</a:t>
            </a:r>
          </a:p>
        </p:txBody>
      </p:sp>
      <p:sp>
        <p:nvSpPr>
          <p:cNvPr id="141" name="agent-1-0140"/>
          <p:cNvSpPr/>
          <p:nvPr/>
        </p:nvSpPr>
        <p:spPr>
          <a:xfrm>
            <a:off x="182880" y="3831336"/>
            <a:ext cx="1591056" cy="91"/>
          </a:xfrm>
          <a:custGeom>
            <a:avLst/>
            <a:gdLst/>
            <a:ahLst/>
            <a:cxnLst/>
            <a:rect l="0" t="0" r="r" b="b"/>
            <a:pathLst>
              <a:path w="1591056" h="91">
                <a:moveTo>
                  <a:pt x="0" y="0"/>
                </a:moveTo>
                <a:lnTo>
                  <a:pt x="1591056" y="0"/>
                </a:lnTo>
              </a:path>
            </a:pathLst>
          </a:custGeom>
          <a:noFill/>
          <a:ln w="18288" cap="rnd">
            <a:solidFill>
              <a:srgbClr val="457BA5"/>
            </a:solidFill>
            <a:round/>
            <a:custDash>
              <a:ds d="850000" sp="4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agent-1-0141"/>
          <p:cNvSpPr/>
          <p:nvPr/>
        </p:nvSpPr>
        <p:spPr>
          <a:xfrm>
            <a:off x="1773936" y="3831336"/>
            <a:ext cx="2660904" cy="91"/>
          </a:xfrm>
          <a:custGeom>
            <a:avLst/>
            <a:gdLst/>
            <a:ahLst/>
            <a:cxnLst/>
            <a:rect l="0" t="0" r="r" b="b"/>
            <a:pathLst>
              <a:path w="2660904" h="91">
                <a:moveTo>
                  <a:pt x="0" y="0"/>
                </a:moveTo>
                <a:lnTo>
                  <a:pt x="2660904" y="0"/>
                </a:lnTo>
              </a:path>
            </a:pathLst>
          </a:custGeom>
          <a:noFill/>
          <a:ln w="18288" cap="rnd">
            <a:solidFill>
              <a:srgbClr val="C75A08"/>
            </a:solidFill>
            <a:round/>
            <a:custDash>
              <a:ds d="850000" sp="4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agent-1-0142 — Decoding"/>
          <p:cNvSpPr txBox="1"/>
          <p:nvPr/>
        </p:nvSpPr>
        <p:spPr>
          <a:xfrm>
            <a:off x="386077" y="3925336"/>
            <a:ext cx="1276102" cy="3379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 lang="en-US">
                <a:solidFill>
                  <a:srgbClr val="203D67"/>
                </a:solidFill>
                <a:latin typeface="Arial"/>
              </a:rPr>
              <a:t>Decoding</a:t>
            </a:r>
          </a:p>
        </p:txBody>
      </p:sp>
      <p:sp>
        <p:nvSpPr>
          <p:cNvPr id="144" name="agent-1-0143"/>
          <p:cNvSpPr/>
          <p:nvPr/>
        </p:nvSpPr>
        <p:spPr>
          <a:xfrm>
            <a:off x="822960" y="4233672"/>
            <a:ext cx="292608" cy="292608"/>
          </a:xfrm>
          <a:prstGeom prst="ellipse">
            <a:avLst/>
          </a:prstGeom>
          <a:solidFill>
            <a:srgbClr val="C75A08"/>
          </a:solidFill>
          <a:ln w="4114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agent-1-0144"/>
          <p:cNvSpPr/>
          <p:nvPr/>
        </p:nvSpPr>
        <p:spPr>
          <a:xfrm>
            <a:off x="897575" y="4379976"/>
            <a:ext cx="143378" cy="91"/>
          </a:xfrm>
          <a:custGeom>
            <a:avLst/>
            <a:gdLst/>
            <a:ahLst/>
            <a:cxnLst/>
            <a:rect l="0" t="0" r="r" b="b"/>
            <a:pathLst>
              <a:path w="143378" h="91">
                <a:moveTo>
                  <a:pt x="0" y="0"/>
                </a:moveTo>
                <a:lnTo>
                  <a:pt x="143378" y="0"/>
                </a:lnTo>
              </a:path>
            </a:pathLst>
          </a:custGeom>
          <a:noFill/>
          <a:ln w="1920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agent-1-0145"/>
          <p:cNvSpPr/>
          <p:nvPr/>
        </p:nvSpPr>
        <p:spPr>
          <a:xfrm>
            <a:off x="969264" y="4308287"/>
            <a:ext cx="91" cy="143378"/>
          </a:xfrm>
          <a:custGeom>
            <a:avLst/>
            <a:gdLst/>
            <a:ahLst/>
            <a:cxnLst/>
            <a:rect l="0" t="0" r="r" b="b"/>
            <a:pathLst>
              <a:path w="91" h="143378">
                <a:moveTo>
                  <a:pt x="0" y="0"/>
                </a:moveTo>
                <a:lnTo>
                  <a:pt x="0" y="143378"/>
                </a:lnTo>
              </a:path>
            </a:pathLst>
          </a:custGeom>
          <a:noFill/>
          <a:ln w="1920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agent-1-0146 — Response Cache"/>
          <p:cNvSpPr txBox="1"/>
          <p:nvPr/>
        </p:nvSpPr>
        <p:spPr>
          <a:xfrm>
            <a:off x="1883664" y="3870472"/>
            <a:ext cx="2172943" cy="3379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 lang="en-US">
                <a:solidFill>
                  <a:srgbClr val="203D67"/>
                </a:solidFill>
                <a:latin typeface="Arial"/>
              </a:rPr>
              <a:t>Response Cache</a:t>
            </a:r>
          </a:p>
        </p:txBody>
      </p:sp>
      <p:sp>
        <p:nvSpPr>
          <p:cNvPr id="148" name="agent-1-0147 — [PH, PF]"/>
          <p:cNvSpPr txBox="1"/>
          <p:nvPr/>
        </p:nvSpPr>
        <p:spPr>
          <a:xfrm>
            <a:off x="1874520" y="4208435"/>
            <a:ext cx="963149" cy="289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 lang="en-US">
                <a:solidFill>
                  <a:srgbClr val="203D67"/>
                </a:solidFill>
                <a:latin typeface="Arial"/>
              </a:rPr>
              <a:t>[PH, PF]</a:t>
            </a:r>
          </a:p>
        </p:txBody>
      </p:sp>
      <p:sp>
        <p:nvSpPr>
          <p:cNvPr id="149" name="agent-1-0148"/>
          <p:cNvSpPr/>
          <p:nvPr/>
        </p:nvSpPr>
        <p:spPr>
          <a:xfrm>
            <a:off x="2724912" y="4379976"/>
            <a:ext cx="228600" cy="91"/>
          </a:xfrm>
          <a:custGeom>
            <a:avLst/>
            <a:gdLst/>
            <a:ahLst/>
            <a:cxnLst/>
            <a:rect l="0" t="0" r="r" b="b"/>
            <a:pathLst>
              <a:path w="228600" h="91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32004" cap="rnd">
            <a:solidFill>
              <a:srgbClr val="54863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agent-1-0149"/>
          <p:cNvSpPr/>
          <p:nvPr/>
        </p:nvSpPr>
        <p:spPr>
          <a:xfrm>
            <a:off x="2953512" y="4322917"/>
            <a:ext cx="118872" cy="114117"/>
          </a:xfrm>
          <a:custGeom>
            <a:avLst/>
            <a:gdLst/>
            <a:ahLst/>
            <a:cxnLst/>
            <a:rect l="0" t="0" r="r" b="b"/>
            <a:pathLst>
              <a:path w="118872" h="114117">
                <a:moveTo>
                  <a:pt x="118872" y="57059"/>
                </a:moveTo>
                <a:lnTo>
                  <a:pt x="0" y="114117"/>
                </a:lnTo>
                <a:lnTo>
                  <a:pt x="0" y="0"/>
                </a:lnTo>
                <a:close/>
              </a:path>
            </a:pathLst>
          </a:custGeom>
          <a:solidFill>
            <a:srgbClr val="5486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agent-1-0150"/>
          <p:cNvSpPr/>
          <p:nvPr/>
        </p:nvSpPr>
        <p:spPr>
          <a:xfrm>
            <a:off x="3090672" y="4270248"/>
            <a:ext cx="1143000" cy="228600"/>
          </a:xfrm>
          <a:prstGeom prst="roundRect">
            <a:avLst>
              <a:gd name="adj" fmla="val 32000"/>
            </a:avLst>
          </a:prstGeom>
          <a:solidFill>
            <a:srgbClr val="A9D18E"/>
          </a:solidFill>
          <a:ln w="9144" cap="rnd">
            <a:solidFill>
              <a:srgbClr val="45643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2" name="agent-1-0151 — Response"/>
          <p:cNvSpPr txBox="1"/>
          <p:nvPr/>
        </p:nvSpPr>
        <p:spPr>
          <a:xfrm>
            <a:off x="3229825" y="4253880"/>
            <a:ext cx="974422" cy="2534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 lang="en-US">
                <a:solidFill>
                  <a:srgbClr val="000000"/>
                </a:solidFill>
                <a:latin typeface="Arial"/>
              </a:rPr>
              <a:t>Response</a:t>
            </a:r>
          </a:p>
        </p:txBody>
      </p:sp>
      <p:sp>
        <p:nvSpPr>
          <p:cNvPr id="153" name="connector-labels-0152"/>
          <p:cNvSpPr/>
          <p:nvPr/>
        </p:nvSpPr>
        <p:spPr>
          <a:xfrm>
            <a:off x="4434840" y="3218688"/>
            <a:ext cx="438912" cy="91"/>
          </a:xfrm>
          <a:custGeom>
            <a:avLst/>
            <a:gdLst/>
            <a:ahLst/>
            <a:cxnLst/>
            <a:rect l="0" t="0" r="r" b="b"/>
            <a:pathLst>
              <a:path w="438912" h="91">
                <a:moveTo>
                  <a:pt x="438912" y="0"/>
                </a:moveTo>
                <a:lnTo>
                  <a:pt x="0" y="0"/>
                </a:lnTo>
              </a:path>
            </a:pathLst>
          </a:custGeom>
          <a:noFill/>
          <a:ln w="73152" cap="rnd">
            <a:solidFill>
              <a:srgbClr val="F6B181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4" name="connector-labels-0153"/>
          <p:cNvSpPr/>
          <p:nvPr/>
        </p:nvSpPr>
        <p:spPr>
          <a:xfrm>
            <a:off x="4242816" y="3126516"/>
            <a:ext cx="192024" cy="184343"/>
          </a:xfrm>
          <a:custGeom>
            <a:avLst/>
            <a:gdLst/>
            <a:ahLst/>
            <a:cxnLst/>
            <a:rect l="0" t="0" r="r" b="b"/>
            <a:pathLst>
              <a:path w="192024" h="184343">
                <a:moveTo>
                  <a:pt x="0" y="92172"/>
                </a:moveTo>
                <a:lnTo>
                  <a:pt x="192024" y="0"/>
                </a:lnTo>
                <a:lnTo>
                  <a:pt x="192024" y="184343"/>
                </a:lnTo>
                <a:close/>
              </a:path>
            </a:pathLst>
          </a:custGeom>
          <a:solidFill>
            <a:srgbClr val="F6B181"/>
          </a:solidFill>
          <a:ln>
            <a:noFill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5" name="connector-labels-0154"/>
          <p:cNvSpPr/>
          <p:nvPr/>
        </p:nvSpPr>
        <p:spPr>
          <a:xfrm>
            <a:off x="4434840" y="2624328"/>
            <a:ext cx="621792" cy="91"/>
          </a:xfrm>
          <a:custGeom>
            <a:avLst/>
            <a:gdLst/>
            <a:ahLst/>
            <a:cxnLst/>
            <a:rect l="0" t="0" r="r" b="b"/>
            <a:pathLst>
              <a:path w="621792" h="91">
                <a:moveTo>
                  <a:pt x="0" y="0"/>
                </a:moveTo>
                <a:lnTo>
                  <a:pt x="621792" y="0"/>
                </a:lnTo>
              </a:path>
            </a:pathLst>
          </a:custGeom>
          <a:noFill/>
          <a:ln w="82296" cap="rnd">
            <a:solidFill>
              <a:srgbClr val="80748F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6" name="connector-labels-0155"/>
          <p:cNvSpPr/>
          <p:nvPr/>
        </p:nvSpPr>
        <p:spPr>
          <a:xfrm>
            <a:off x="5056632" y="2518989"/>
            <a:ext cx="219456" cy="210678"/>
          </a:xfrm>
          <a:custGeom>
            <a:avLst/>
            <a:gdLst/>
            <a:ahLst/>
            <a:cxnLst/>
            <a:rect l="0" t="0" r="r" b="b"/>
            <a:pathLst>
              <a:path w="219456" h="210678">
                <a:moveTo>
                  <a:pt x="219456" y="105339"/>
                </a:moveTo>
                <a:lnTo>
                  <a:pt x="0" y="210678"/>
                </a:lnTo>
                <a:lnTo>
                  <a:pt x="0" y="0"/>
                </a:lnTo>
                <a:close/>
              </a:path>
            </a:pathLst>
          </a:custGeom>
          <a:solidFill>
            <a:srgbClr val="80748F"/>
          </a:solidFill>
          <a:ln>
            <a:noFill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7" name="connector-labels-0156 — Query"/>
          <p:cNvSpPr txBox="1"/>
          <p:nvPr/>
        </p:nvSpPr>
        <p:spPr>
          <a:xfrm>
            <a:off x="4453128" y="2224552"/>
            <a:ext cx="849692" cy="3379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 lang="en-US">
                <a:solidFill>
                  <a:srgbClr val="000000"/>
                </a:solidFill>
                <a:latin typeface="Arial"/>
              </a:rPr>
              <a:t>Query</a:t>
            </a:r>
          </a:p>
        </p:txBody>
      </p:sp>
      <p:sp>
        <p:nvSpPr>
          <p:cNvPr id="158" name="connector-labels-0157 — Anchor Prediction of Response KV"/>
          <p:cNvSpPr txBox="1"/>
          <p:nvPr/>
        </p:nvSpPr>
        <p:spPr>
          <a:xfrm>
            <a:off x="73152" y="4922124"/>
            <a:ext cx="4515150" cy="35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lang="en-US">
                <a:solidFill>
                  <a:srgbClr val="000000"/>
                </a:solidFill>
                <a:latin typeface="Arial"/>
              </a:rPr>
              <a:t>Anchor Prediction of Response KV</a:t>
            </a:r>
          </a:p>
        </p:txBody>
      </p:sp>
      <p:sp>
        <p:nvSpPr>
          <p:cNvPr id="159" name="connector-labels-0158 — Reuse"/>
          <p:cNvSpPr txBox="1"/>
          <p:nvPr/>
        </p:nvSpPr>
        <p:spPr>
          <a:xfrm>
            <a:off x="4507813" y="7985272"/>
            <a:ext cx="878181" cy="3379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 lang="en-US">
                <a:solidFill>
                  <a:srgbClr val="000000"/>
                </a:solidFill>
                <a:latin typeface="Arial"/>
              </a:rPr>
              <a:t>Reuse</a:t>
            </a:r>
          </a:p>
        </p:txBody>
      </p:sp>
      <p:sp>
        <p:nvSpPr>
          <p:cNvPr id="160" name="agent-2-0159"/>
          <p:cNvSpPr/>
          <p:nvPr/>
        </p:nvSpPr>
        <p:spPr>
          <a:xfrm>
            <a:off x="173736" y="5568696"/>
            <a:ext cx="4261104" cy="2679192"/>
          </a:xfrm>
          <a:prstGeom prst="rect">
            <a:avLst/>
          </a:prstGeom>
          <a:solidFill>
            <a:srgbClr val="DFEBF6"/>
          </a:solidFill>
          <a:ln w="18288" cap="rnd">
            <a:solidFill>
              <a:srgbClr val="457BA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agent-2-0160"/>
          <p:cNvSpPr/>
          <p:nvPr/>
        </p:nvSpPr>
        <p:spPr>
          <a:xfrm>
            <a:off x="173736" y="5285232"/>
            <a:ext cx="4261104" cy="594360"/>
          </a:xfrm>
          <a:custGeom>
            <a:avLst/>
            <a:gdLst/>
            <a:ahLst/>
            <a:cxnLst/>
            <a:rect l="0" t="0" r="r" b="b"/>
            <a:pathLst>
              <a:path w="4261104" h="594360">
                <a:moveTo>
                  <a:pt x="0" y="594360"/>
                </a:moveTo>
                <a:lnTo>
                  <a:pt x="0" y="256032"/>
                </a:lnTo>
                <a:cubicBezTo>
                  <a:pt x="0" y="114629"/>
                  <a:pt x="114629" y="0"/>
                  <a:pt x="256032" y="0"/>
                </a:cubicBezTo>
                <a:lnTo>
                  <a:pt x="4005072" y="0"/>
                </a:lnTo>
                <a:cubicBezTo>
                  <a:pt x="4146475" y="0"/>
                  <a:pt x="4261104" y="114629"/>
                  <a:pt x="4261104" y="256032"/>
                </a:cubicBezTo>
                <a:lnTo>
                  <a:pt x="4261104" y="594360"/>
                </a:lnTo>
                <a:close/>
              </a:path>
            </a:pathLst>
          </a:custGeom>
          <a:solidFill>
            <a:srgbClr val="9DC3E2"/>
          </a:solidFill>
          <a:ln w="18288" cap="rnd">
            <a:solidFill>
              <a:srgbClr val="457BA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agent-2-0161 — Agent 2"/>
          <p:cNvSpPr txBox="1"/>
          <p:nvPr/>
        </p:nvSpPr>
        <p:spPr>
          <a:xfrm>
            <a:off x="1700720" y="5352532"/>
            <a:ext cx="1316865" cy="4345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0" lang="en-US">
                <a:solidFill>
                  <a:srgbClr val="203D67"/>
                </a:solidFill>
                <a:latin typeface="Arial"/>
              </a:rPr>
              <a:t>Agent 2</a:t>
            </a:r>
          </a:p>
        </p:txBody>
      </p:sp>
      <p:sp>
        <p:nvSpPr>
          <p:cNvPr id="163" name="agent-2-0162 — Prefix KV"/>
          <p:cNvSpPr txBox="1"/>
          <p:nvPr/>
        </p:nvSpPr>
        <p:spPr>
          <a:xfrm>
            <a:off x="384048" y="5927689"/>
            <a:ext cx="1166803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 lang="en-US">
                <a:solidFill>
                  <a:srgbClr val="203D67"/>
                </a:solidFill>
                <a:latin typeface="Arial"/>
              </a:rPr>
              <a:t>Prefix KV</a:t>
            </a:r>
          </a:p>
        </p:txBody>
      </p:sp>
      <p:sp>
        <p:nvSpPr>
          <p:cNvPr id="164" name="agent-2-0163"/>
          <p:cNvSpPr/>
          <p:nvPr/>
        </p:nvSpPr>
        <p:spPr>
          <a:xfrm>
            <a:off x="320040" y="6254496"/>
            <a:ext cx="685800" cy="31089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5" name="agent-2-0164 — p"/>
          <p:cNvSpPr txBox="1"/>
          <p:nvPr/>
        </p:nvSpPr>
        <p:spPr>
          <a:xfrm>
            <a:off x="421581" y="6184555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166" name="agent-2-0165 — (2, 0)"/>
          <p:cNvSpPr txBox="1"/>
          <p:nvPr/>
        </p:nvSpPr>
        <p:spPr>
          <a:xfrm>
            <a:off x="559685" y="6317868"/>
            <a:ext cx="454342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000000"/>
                </a:solidFill>
                <a:latin typeface="Times New Roman"/>
              </a:rPr>
              <a:t>(2, 0)</a:t>
            </a:r>
          </a:p>
        </p:txBody>
      </p:sp>
      <p:sp>
        <p:nvSpPr>
          <p:cNvPr id="167" name="agent-2-0166"/>
          <p:cNvSpPr/>
          <p:nvPr/>
        </p:nvSpPr>
        <p:spPr>
          <a:xfrm>
            <a:off x="1092708" y="6254496"/>
            <a:ext cx="685800" cy="31089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8" name="agent-2-0167 — p"/>
          <p:cNvSpPr txBox="1"/>
          <p:nvPr/>
        </p:nvSpPr>
        <p:spPr>
          <a:xfrm>
            <a:off x="1194249" y="6184555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169" name="agent-2-0168 — (2, 1)"/>
          <p:cNvSpPr txBox="1"/>
          <p:nvPr/>
        </p:nvSpPr>
        <p:spPr>
          <a:xfrm>
            <a:off x="1332353" y="6317868"/>
            <a:ext cx="454342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000000"/>
                </a:solidFill>
                <a:latin typeface="Times New Roman"/>
              </a:rPr>
              <a:t>(2, 1)</a:t>
            </a:r>
          </a:p>
        </p:txBody>
      </p:sp>
      <p:sp>
        <p:nvSpPr>
          <p:cNvPr id="170" name="agent-2-0169"/>
          <p:cNvSpPr/>
          <p:nvPr/>
        </p:nvSpPr>
        <p:spPr>
          <a:xfrm>
            <a:off x="1865376" y="6254496"/>
            <a:ext cx="685800" cy="31089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1" name="agent-2-0170 — p"/>
          <p:cNvSpPr txBox="1"/>
          <p:nvPr/>
        </p:nvSpPr>
        <p:spPr>
          <a:xfrm>
            <a:off x="1966917" y="6184555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172" name="agent-2-0171 — (2, 2)"/>
          <p:cNvSpPr txBox="1"/>
          <p:nvPr/>
        </p:nvSpPr>
        <p:spPr>
          <a:xfrm>
            <a:off x="2105021" y="6317868"/>
            <a:ext cx="454342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000000"/>
                </a:solidFill>
                <a:latin typeface="Times New Roman"/>
              </a:rPr>
              <a:t>(2, 2)</a:t>
            </a:r>
          </a:p>
        </p:txBody>
      </p:sp>
      <p:sp>
        <p:nvSpPr>
          <p:cNvPr id="173" name="agent-2-0172"/>
          <p:cNvSpPr/>
          <p:nvPr/>
        </p:nvSpPr>
        <p:spPr>
          <a:xfrm>
            <a:off x="2638044" y="6254496"/>
            <a:ext cx="685800" cy="31089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" name="agent-2-0173 — p"/>
          <p:cNvSpPr txBox="1"/>
          <p:nvPr/>
        </p:nvSpPr>
        <p:spPr>
          <a:xfrm>
            <a:off x="2739585" y="6184555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175" name="agent-2-0174 — (2, 3)"/>
          <p:cNvSpPr txBox="1"/>
          <p:nvPr/>
        </p:nvSpPr>
        <p:spPr>
          <a:xfrm>
            <a:off x="2877689" y="6317868"/>
            <a:ext cx="454342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000000"/>
                </a:solidFill>
                <a:latin typeface="Times New Roman"/>
              </a:rPr>
              <a:t>(2, 3)</a:t>
            </a:r>
          </a:p>
        </p:txBody>
      </p:sp>
      <p:sp>
        <p:nvSpPr>
          <p:cNvPr id="176" name="agent-2-0175"/>
          <p:cNvSpPr/>
          <p:nvPr/>
        </p:nvSpPr>
        <p:spPr>
          <a:xfrm>
            <a:off x="3410712" y="6254496"/>
            <a:ext cx="685800" cy="31089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7" name="agent-2-0176 — p"/>
          <p:cNvSpPr txBox="1"/>
          <p:nvPr/>
        </p:nvSpPr>
        <p:spPr>
          <a:xfrm>
            <a:off x="3512253" y="6184555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178" name="agent-2-0177 — (2, 4)"/>
          <p:cNvSpPr txBox="1"/>
          <p:nvPr/>
        </p:nvSpPr>
        <p:spPr>
          <a:xfrm>
            <a:off x="3650357" y="6317868"/>
            <a:ext cx="454342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000000"/>
                </a:solidFill>
                <a:latin typeface="Times New Roman"/>
              </a:rPr>
              <a:t>(2, 4)</a:t>
            </a:r>
          </a:p>
        </p:txBody>
      </p:sp>
      <p:sp>
        <p:nvSpPr>
          <p:cNvPr id="179" name="agent-2-0178 — Placeholder KV"/>
          <p:cNvSpPr txBox="1"/>
          <p:nvPr/>
        </p:nvSpPr>
        <p:spPr>
          <a:xfrm>
            <a:off x="384048" y="6586057"/>
            <a:ext cx="1853775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 lang="en-US">
                <a:solidFill>
                  <a:srgbClr val="203D67"/>
                </a:solidFill>
                <a:latin typeface="Arial"/>
              </a:rPr>
              <a:t>Placeholder KV</a:t>
            </a:r>
          </a:p>
        </p:txBody>
      </p:sp>
      <p:sp>
        <p:nvSpPr>
          <p:cNvPr id="180" name="agent-2-0179"/>
          <p:cNvSpPr/>
          <p:nvPr/>
        </p:nvSpPr>
        <p:spPr>
          <a:xfrm>
            <a:off x="329184" y="6885432"/>
            <a:ext cx="603504" cy="256032"/>
          </a:xfrm>
          <a:prstGeom prst="rect">
            <a:avLst/>
          </a:prstGeom>
          <a:solidFill>
            <a:srgbClr val="FFFFFF"/>
          </a:solidFill>
          <a:ln w="7315" cap="rnd">
            <a:solidFill>
              <a:srgbClr val="EEF0F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1" name="agent-2-0180"/>
          <p:cNvSpPr/>
          <p:nvPr/>
        </p:nvSpPr>
        <p:spPr>
          <a:xfrm>
            <a:off x="347472" y="6894576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agent-2-0181"/>
          <p:cNvSpPr/>
          <p:nvPr/>
        </p:nvSpPr>
        <p:spPr>
          <a:xfrm>
            <a:off x="347472" y="6894576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agent-2-0182"/>
          <p:cNvSpPr/>
          <p:nvPr/>
        </p:nvSpPr>
        <p:spPr>
          <a:xfrm>
            <a:off x="347472" y="6894576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agent-2-0183"/>
          <p:cNvSpPr/>
          <p:nvPr/>
        </p:nvSpPr>
        <p:spPr>
          <a:xfrm>
            <a:off x="347472" y="689457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agent-2-0184"/>
          <p:cNvSpPr/>
          <p:nvPr/>
        </p:nvSpPr>
        <p:spPr>
          <a:xfrm>
            <a:off x="347472" y="6894576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agent-2-0185"/>
          <p:cNvSpPr/>
          <p:nvPr/>
        </p:nvSpPr>
        <p:spPr>
          <a:xfrm>
            <a:off x="347472" y="6894576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agent-2-0186"/>
          <p:cNvSpPr/>
          <p:nvPr/>
        </p:nvSpPr>
        <p:spPr>
          <a:xfrm>
            <a:off x="365760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agent-2-0187"/>
          <p:cNvSpPr/>
          <p:nvPr/>
        </p:nvSpPr>
        <p:spPr>
          <a:xfrm>
            <a:off x="402336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agent-2-0188"/>
          <p:cNvSpPr/>
          <p:nvPr/>
        </p:nvSpPr>
        <p:spPr>
          <a:xfrm>
            <a:off x="438912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agent-2-0189"/>
          <p:cNvSpPr/>
          <p:nvPr/>
        </p:nvSpPr>
        <p:spPr>
          <a:xfrm>
            <a:off x="475488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agent-2-0190"/>
          <p:cNvSpPr/>
          <p:nvPr/>
        </p:nvSpPr>
        <p:spPr>
          <a:xfrm>
            <a:off x="512064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agent-2-0191"/>
          <p:cNvSpPr/>
          <p:nvPr/>
        </p:nvSpPr>
        <p:spPr>
          <a:xfrm>
            <a:off x="548640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agent-2-0192"/>
          <p:cNvSpPr/>
          <p:nvPr/>
        </p:nvSpPr>
        <p:spPr>
          <a:xfrm>
            <a:off x="585216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agent-2-0193"/>
          <p:cNvSpPr/>
          <p:nvPr/>
        </p:nvSpPr>
        <p:spPr>
          <a:xfrm>
            <a:off x="621792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agent-2-0194"/>
          <p:cNvSpPr/>
          <p:nvPr/>
        </p:nvSpPr>
        <p:spPr>
          <a:xfrm>
            <a:off x="658368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agent-2-0195"/>
          <p:cNvSpPr/>
          <p:nvPr/>
        </p:nvSpPr>
        <p:spPr>
          <a:xfrm>
            <a:off x="694944" y="6912864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agent-2-0196"/>
          <p:cNvSpPr/>
          <p:nvPr/>
        </p:nvSpPr>
        <p:spPr>
          <a:xfrm>
            <a:off x="731520" y="6949440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agent-2-0197"/>
          <p:cNvSpPr/>
          <p:nvPr/>
        </p:nvSpPr>
        <p:spPr>
          <a:xfrm>
            <a:off x="768096" y="698601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agent-2-0198"/>
          <p:cNvSpPr/>
          <p:nvPr/>
        </p:nvSpPr>
        <p:spPr>
          <a:xfrm>
            <a:off x="804672" y="7022592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agent-2-0199"/>
          <p:cNvSpPr/>
          <p:nvPr/>
        </p:nvSpPr>
        <p:spPr>
          <a:xfrm>
            <a:off x="841248" y="7059168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agent-2-0200"/>
          <p:cNvSpPr/>
          <p:nvPr/>
        </p:nvSpPr>
        <p:spPr>
          <a:xfrm>
            <a:off x="877824" y="7095744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agent-2-0201 — ϕ"/>
          <p:cNvSpPr txBox="1"/>
          <p:nvPr/>
        </p:nvSpPr>
        <p:spPr>
          <a:xfrm>
            <a:off x="398904" y="6813012"/>
            <a:ext cx="237515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203" name="agent-2-0202 — (2, 1)"/>
          <p:cNvSpPr txBox="1"/>
          <p:nvPr/>
        </p:nvSpPr>
        <p:spPr>
          <a:xfrm>
            <a:off x="542099" y="6957688"/>
            <a:ext cx="430597" cy="1955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 lang="en-US">
                <a:solidFill>
                  <a:srgbClr val="000000"/>
                </a:solidFill>
                <a:latin typeface="Times New Roman"/>
              </a:rPr>
              <a:t>(2, 1)</a:t>
            </a:r>
          </a:p>
        </p:txBody>
      </p:sp>
      <p:sp>
        <p:nvSpPr>
          <p:cNvPr id="204" name="agent-2-0203"/>
          <p:cNvSpPr/>
          <p:nvPr/>
        </p:nvSpPr>
        <p:spPr>
          <a:xfrm>
            <a:off x="982980" y="6885432"/>
            <a:ext cx="603504" cy="256032"/>
          </a:xfrm>
          <a:prstGeom prst="rect">
            <a:avLst/>
          </a:prstGeom>
          <a:solidFill>
            <a:srgbClr val="FFFFFF"/>
          </a:solidFill>
          <a:ln w="7315" cap="rnd">
            <a:solidFill>
              <a:srgbClr val="EEF0F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5" name="agent-2-0204"/>
          <p:cNvSpPr/>
          <p:nvPr/>
        </p:nvSpPr>
        <p:spPr>
          <a:xfrm>
            <a:off x="1001268" y="6894576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agent-2-0205"/>
          <p:cNvSpPr/>
          <p:nvPr/>
        </p:nvSpPr>
        <p:spPr>
          <a:xfrm>
            <a:off x="1001268" y="6894576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agent-2-0206"/>
          <p:cNvSpPr/>
          <p:nvPr/>
        </p:nvSpPr>
        <p:spPr>
          <a:xfrm>
            <a:off x="1001268" y="6894576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agent-2-0207"/>
          <p:cNvSpPr/>
          <p:nvPr/>
        </p:nvSpPr>
        <p:spPr>
          <a:xfrm>
            <a:off x="1001268" y="689457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agent-2-0208"/>
          <p:cNvSpPr/>
          <p:nvPr/>
        </p:nvSpPr>
        <p:spPr>
          <a:xfrm>
            <a:off x="1001268" y="6894576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agent-2-0209"/>
          <p:cNvSpPr/>
          <p:nvPr/>
        </p:nvSpPr>
        <p:spPr>
          <a:xfrm>
            <a:off x="1001268" y="6894576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agent-2-0210"/>
          <p:cNvSpPr/>
          <p:nvPr/>
        </p:nvSpPr>
        <p:spPr>
          <a:xfrm>
            <a:off x="1019556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agent-2-0211"/>
          <p:cNvSpPr/>
          <p:nvPr/>
        </p:nvSpPr>
        <p:spPr>
          <a:xfrm>
            <a:off x="1056132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agent-2-0212"/>
          <p:cNvSpPr/>
          <p:nvPr/>
        </p:nvSpPr>
        <p:spPr>
          <a:xfrm>
            <a:off x="1092708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agent-2-0213"/>
          <p:cNvSpPr/>
          <p:nvPr/>
        </p:nvSpPr>
        <p:spPr>
          <a:xfrm>
            <a:off x="1129284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agent-2-0214"/>
          <p:cNvSpPr/>
          <p:nvPr/>
        </p:nvSpPr>
        <p:spPr>
          <a:xfrm>
            <a:off x="1165860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agent-2-0215"/>
          <p:cNvSpPr/>
          <p:nvPr/>
        </p:nvSpPr>
        <p:spPr>
          <a:xfrm>
            <a:off x="1202436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agent-2-0216"/>
          <p:cNvSpPr/>
          <p:nvPr/>
        </p:nvSpPr>
        <p:spPr>
          <a:xfrm>
            <a:off x="1239012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agent-2-0217"/>
          <p:cNvSpPr/>
          <p:nvPr/>
        </p:nvSpPr>
        <p:spPr>
          <a:xfrm>
            <a:off x="1275588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agent-2-0218"/>
          <p:cNvSpPr/>
          <p:nvPr/>
        </p:nvSpPr>
        <p:spPr>
          <a:xfrm>
            <a:off x="1312164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agent-2-0219"/>
          <p:cNvSpPr/>
          <p:nvPr/>
        </p:nvSpPr>
        <p:spPr>
          <a:xfrm>
            <a:off x="1348740" y="6912864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agent-2-0220"/>
          <p:cNvSpPr/>
          <p:nvPr/>
        </p:nvSpPr>
        <p:spPr>
          <a:xfrm>
            <a:off x="1385316" y="6949440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agent-2-0221"/>
          <p:cNvSpPr/>
          <p:nvPr/>
        </p:nvSpPr>
        <p:spPr>
          <a:xfrm>
            <a:off x="1421892" y="698601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agent-2-0222"/>
          <p:cNvSpPr/>
          <p:nvPr/>
        </p:nvSpPr>
        <p:spPr>
          <a:xfrm>
            <a:off x="1458468" y="7022592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gent-2-0223"/>
          <p:cNvSpPr/>
          <p:nvPr/>
        </p:nvSpPr>
        <p:spPr>
          <a:xfrm>
            <a:off x="1495044" y="7059168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agent-2-0224"/>
          <p:cNvSpPr/>
          <p:nvPr/>
        </p:nvSpPr>
        <p:spPr>
          <a:xfrm>
            <a:off x="1531620" y="7095744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agent-2-0225 — ϕ"/>
          <p:cNvSpPr txBox="1"/>
          <p:nvPr/>
        </p:nvSpPr>
        <p:spPr>
          <a:xfrm>
            <a:off x="1052700" y="6813012"/>
            <a:ext cx="237515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227" name="agent-2-0226 — (2, 2)"/>
          <p:cNvSpPr txBox="1"/>
          <p:nvPr/>
        </p:nvSpPr>
        <p:spPr>
          <a:xfrm>
            <a:off x="1195895" y="6957688"/>
            <a:ext cx="430597" cy="1955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 lang="en-US">
                <a:solidFill>
                  <a:srgbClr val="000000"/>
                </a:solidFill>
                <a:latin typeface="Times New Roman"/>
              </a:rPr>
              <a:t>(2, 2)</a:t>
            </a:r>
          </a:p>
        </p:txBody>
      </p:sp>
      <p:sp>
        <p:nvSpPr>
          <p:cNvPr id="228" name="agent-2-0227"/>
          <p:cNvSpPr/>
          <p:nvPr/>
        </p:nvSpPr>
        <p:spPr>
          <a:xfrm>
            <a:off x="1636776" y="6885432"/>
            <a:ext cx="603504" cy="256032"/>
          </a:xfrm>
          <a:prstGeom prst="rect">
            <a:avLst/>
          </a:prstGeom>
          <a:solidFill>
            <a:srgbClr val="FFFFFF"/>
          </a:solidFill>
          <a:ln w="7315" cap="rnd">
            <a:solidFill>
              <a:srgbClr val="EEF0F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9" name="agent-2-0228"/>
          <p:cNvSpPr/>
          <p:nvPr/>
        </p:nvSpPr>
        <p:spPr>
          <a:xfrm>
            <a:off x="1655064" y="6894576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agent-2-0229"/>
          <p:cNvSpPr/>
          <p:nvPr/>
        </p:nvSpPr>
        <p:spPr>
          <a:xfrm>
            <a:off x="1655064" y="6894576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agent-2-0230"/>
          <p:cNvSpPr/>
          <p:nvPr/>
        </p:nvSpPr>
        <p:spPr>
          <a:xfrm>
            <a:off x="1655064" y="6894576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agent-2-0231"/>
          <p:cNvSpPr/>
          <p:nvPr/>
        </p:nvSpPr>
        <p:spPr>
          <a:xfrm>
            <a:off x="1655064" y="689457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agent-2-0232"/>
          <p:cNvSpPr/>
          <p:nvPr/>
        </p:nvSpPr>
        <p:spPr>
          <a:xfrm>
            <a:off x="1655064" y="6894576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agent-2-0233"/>
          <p:cNvSpPr/>
          <p:nvPr/>
        </p:nvSpPr>
        <p:spPr>
          <a:xfrm>
            <a:off x="1655064" y="6894576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agent-2-0234"/>
          <p:cNvSpPr/>
          <p:nvPr/>
        </p:nvSpPr>
        <p:spPr>
          <a:xfrm>
            <a:off x="1673352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agent-2-0235"/>
          <p:cNvSpPr/>
          <p:nvPr/>
        </p:nvSpPr>
        <p:spPr>
          <a:xfrm>
            <a:off x="1709928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agent-2-0236"/>
          <p:cNvSpPr/>
          <p:nvPr/>
        </p:nvSpPr>
        <p:spPr>
          <a:xfrm>
            <a:off x="1746504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agent-2-0237"/>
          <p:cNvSpPr/>
          <p:nvPr/>
        </p:nvSpPr>
        <p:spPr>
          <a:xfrm>
            <a:off x="1783080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agent-2-0238"/>
          <p:cNvSpPr/>
          <p:nvPr/>
        </p:nvSpPr>
        <p:spPr>
          <a:xfrm>
            <a:off x="1819656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agent-2-0239"/>
          <p:cNvSpPr/>
          <p:nvPr/>
        </p:nvSpPr>
        <p:spPr>
          <a:xfrm>
            <a:off x="1856232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agent-2-0240"/>
          <p:cNvSpPr/>
          <p:nvPr/>
        </p:nvSpPr>
        <p:spPr>
          <a:xfrm>
            <a:off x="1892808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agent-2-0241"/>
          <p:cNvSpPr/>
          <p:nvPr/>
        </p:nvSpPr>
        <p:spPr>
          <a:xfrm>
            <a:off x="1929384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agent-2-0242"/>
          <p:cNvSpPr/>
          <p:nvPr/>
        </p:nvSpPr>
        <p:spPr>
          <a:xfrm>
            <a:off x="1965960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agent-2-0243"/>
          <p:cNvSpPr/>
          <p:nvPr/>
        </p:nvSpPr>
        <p:spPr>
          <a:xfrm>
            <a:off x="2002536" y="6912864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agent-2-0244"/>
          <p:cNvSpPr/>
          <p:nvPr/>
        </p:nvSpPr>
        <p:spPr>
          <a:xfrm>
            <a:off x="2039112" y="6949440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agent-2-0245"/>
          <p:cNvSpPr/>
          <p:nvPr/>
        </p:nvSpPr>
        <p:spPr>
          <a:xfrm>
            <a:off x="2075688" y="698601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agent-2-0246"/>
          <p:cNvSpPr/>
          <p:nvPr/>
        </p:nvSpPr>
        <p:spPr>
          <a:xfrm>
            <a:off x="2112264" y="7022592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agent-2-0247"/>
          <p:cNvSpPr/>
          <p:nvPr/>
        </p:nvSpPr>
        <p:spPr>
          <a:xfrm>
            <a:off x="2148840" y="7059168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agent-2-0248"/>
          <p:cNvSpPr/>
          <p:nvPr/>
        </p:nvSpPr>
        <p:spPr>
          <a:xfrm>
            <a:off x="2185416" y="7095744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agent-2-0249 — ϕ"/>
          <p:cNvSpPr txBox="1"/>
          <p:nvPr/>
        </p:nvSpPr>
        <p:spPr>
          <a:xfrm>
            <a:off x="1706496" y="6813012"/>
            <a:ext cx="237515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251" name="agent-2-0250 — (2, 3)"/>
          <p:cNvSpPr txBox="1"/>
          <p:nvPr/>
        </p:nvSpPr>
        <p:spPr>
          <a:xfrm>
            <a:off x="1849691" y="6957688"/>
            <a:ext cx="430597" cy="1955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 lang="en-US">
                <a:solidFill>
                  <a:srgbClr val="000000"/>
                </a:solidFill>
                <a:latin typeface="Times New Roman"/>
              </a:rPr>
              <a:t>(2, 3)</a:t>
            </a:r>
          </a:p>
        </p:txBody>
      </p:sp>
      <p:sp>
        <p:nvSpPr>
          <p:cNvPr id="252" name="agent-2-0251"/>
          <p:cNvSpPr/>
          <p:nvPr/>
        </p:nvSpPr>
        <p:spPr>
          <a:xfrm>
            <a:off x="2290572" y="6885432"/>
            <a:ext cx="603504" cy="256032"/>
          </a:xfrm>
          <a:prstGeom prst="rect">
            <a:avLst/>
          </a:prstGeom>
          <a:solidFill>
            <a:srgbClr val="FFFFFF"/>
          </a:solidFill>
          <a:ln w="7315" cap="rnd">
            <a:solidFill>
              <a:srgbClr val="EEF0F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3" name="agent-2-0252"/>
          <p:cNvSpPr/>
          <p:nvPr/>
        </p:nvSpPr>
        <p:spPr>
          <a:xfrm>
            <a:off x="2308860" y="6894576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agent-2-0253"/>
          <p:cNvSpPr/>
          <p:nvPr/>
        </p:nvSpPr>
        <p:spPr>
          <a:xfrm>
            <a:off x="2308860" y="6894576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agent-2-0254"/>
          <p:cNvSpPr/>
          <p:nvPr/>
        </p:nvSpPr>
        <p:spPr>
          <a:xfrm>
            <a:off x="2308860" y="6894576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agent-2-0255"/>
          <p:cNvSpPr/>
          <p:nvPr/>
        </p:nvSpPr>
        <p:spPr>
          <a:xfrm>
            <a:off x="2308860" y="689457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agent-2-0256"/>
          <p:cNvSpPr/>
          <p:nvPr/>
        </p:nvSpPr>
        <p:spPr>
          <a:xfrm>
            <a:off x="2308860" y="6894576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agent-2-0257"/>
          <p:cNvSpPr/>
          <p:nvPr/>
        </p:nvSpPr>
        <p:spPr>
          <a:xfrm>
            <a:off x="2308860" y="6894576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agent-2-0258"/>
          <p:cNvSpPr/>
          <p:nvPr/>
        </p:nvSpPr>
        <p:spPr>
          <a:xfrm>
            <a:off x="2327148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agent-2-0259"/>
          <p:cNvSpPr/>
          <p:nvPr/>
        </p:nvSpPr>
        <p:spPr>
          <a:xfrm>
            <a:off x="2363724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agent-2-0260"/>
          <p:cNvSpPr/>
          <p:nvPr/>
        </p:nvSpPr>
        <p:spPr>
          <a:xfrm>
            <a:off x="2400300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agent-2-0261"/>
          <p:cNvSpPr/>
          <p:nvPr/>
        </p:nvSpPr>
        <p:spPr>
          <a:xfrm>
            <a:off x="2436876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agent-2-0262"/>
          <p:cNvSpPr/>
          <p:nvPr/>
        </p:nvSpPr>
        <p:spPr>
          <a:xfrm>
            <a:off x="2473452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agent-2-0263"/>
          <p:cNvSpPr/>
          <p:nvPr/>
        </p:nvSpPr>
        <p:spPr>
          <a:xfrm>
            <a:off x="2510028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agent-2-0264"/>
          <p:cNvSpPr/>
          <p:nvPr/>
        </p:nvSpPr>
        <p:spPr>
          <a:xfrm>
            <a:off x="2546604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agent-2-0265"/>
          <p:cNvSpPr/>
          <p:nvPr/>
        </p:nvSpPr>
        <p:spPr>
          <a:xfrm>
            <a:off x="2583180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agent-2-0266"/>
          <p:cNvSpPr/>
          <p:nvPr/>
        </p:nvSpPr>
        <p:spPr>
          <a:xfrm>
            <a:off x="2619756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agent-2-0267"/>
          <p:cNvSpPr/>
          <p:nvPr/>
        </p:nvSpPr>
        <p:spPr>
          <a:xfrm>
            <a:off x="2656332" y="6912864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agent-2-0268"/>
          <p:cNvSpPr/>
          <p:nvPr/>
        </p:nvSpPr>
        <p:spPr>
          <a:xfrm>
            <a:off x="2692908" y="6949440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agent-2-0269"/>
          <p:cNvSpPr/>
          <p:nvPr/>
        </p:nvSpPr>
        <p:spPr>
          <a:xfrm>
            <a:off x="2729484" y="698601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agent-2-0270"/>
          <p:cNvSpPr/>
          <p:nvPr/>
        </p:nvSpPr>
        <p:spPr>
          <a:xfrm>
            <a:off x="2766060" y="7022592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agent-2-0271"/>
          <p:cNvSpPr/>
          <p:nvPr/>
        </p:nvSpPr>
        <p:spPr>
          <a:xfrm>
            <a:off x="2802636" y="7059168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agent-2-0272"/>
          <p:cNvSpPr/>
          <p:nvPr/>
        </p:nvSpPr>
        <p:spPr>
          <a:xfrm>
            <a:off x="2839212" y="7095744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agent-2-0273 — ϕ"/>
          <p:cNvSpPr txBox="1"/>
          <p:nvPr/>
        </p:nvSpPr>
        <p:spPr>
          <a:xfrm>
            <a:off x="2360292" y="6813012"/>
            <a:ext cx="237515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275" name="agent-2-0274 — (2, 4)"/>
          <p:cNvSpPr txBox="1"/>
          <p:nvPr/>
        </p:nvSpPr>
        <p:spPr>
          <a:xfrm>
            <a:off x="2503487" y="6957688"/>
            <a:ext cx="430597" cy="1955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 lang="en-US">
                <a:solidFill>
                  <a:srgbClr val="000000"/>
                </a:solidFill>
                <a:latin typeface="Times New Roman"/>
              </a:rPr>
              <a:t>(2, 4)</a:t>
            </a:r>
          </a:p>
        </p:txBody>
      </p:sp>
      <p:sp>
        <p:nvSpPr>
          <p:cNvPr id="276" name="agent-2-0275"/>
          <p:cNvSpPr/>
          <p:nvPr/>
        </p:nvSpPr>
        <p:spPr>
          <a:xfrm>
            <a:off x="173736" y="7260336"/>
            <a:ext cx="4261104" cy="420624"/>
          </a:xfrm>
          <a:prstGeom prst="rect">
            <a:avLst/>
          </a:prstGeom>
          <a:solidFill>
            <a:srgbClr val="D7D0DE"/>
          </a:solidFill>
          <a:ln w="18288" cap="rnd">
            <a:solidFill>
              <a:srgbClr val="80748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agent-2-0276 — All placeholders"/>
          <p:cNvSpPr txBox="1"/>
          <p:nvPr/>
        </p:nvSpPr>
        <p:spPr>
          <a:xfrm>
            <a:off x="996696" y="7299564"/>
            <a:ext cx="2158113" cy="35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lang="en-US">
                <a:solidFill>
                  <a:srgbClr val="000000"/>
                </a:solidFill>
                <a:latin typeface="Arial"/>
              </a:rPr>
              <a:t>All placeholders</a:t>
            </a:r>
          </a:p>
        </p:txBody>
      </p:sp>
      <p:sp>
        <p:nvSpPr>
          <p:cNvPr id="278" name="agent-2-0277"/>
          <p:cNvSpPr/>
          <p:nvPr/>
        </p:nvSpPr>
        <p:spPr>
          <a:xfrm>
            <a:off x="3127248" y="7324344"/>
            <a:ext cx="292608" cy="292608"/>
          </a:xfrm>
          <a:prstGeom prst="ellipse">
            <a:avLst/>
          </a:prstGeom>
          <a:solidFill>
            <a:srgbClr val="548636"/>
          </a:solidFill>
          <a:ln w="457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agent-2-0278"/>
          <p:cNvSpPr/>
          <p:nvPr/>
        </p:nvSpPr>
        <p:spPr>
          <a:xfrm>
            <a:off x="3194548" y="7407737"/>
            <a:ext cx="169713" cy="121432"/>
          </a:xfrm>
          <a:custGeom>
            <a:avLst/>
            <a:gdLst/>
            <a:ahLst/>
            <a:cxnLst/>
            <a:rect l="0" t="0" r="r" b="b"/>
            <a:pathLst>
              <a:path w="169713" h="121432">
                <a:moveTo>
                  <a:pt x="0" y="62911"/>
                </a:moveTo>
                <a:lnTo>
                  <a:pt x="62911" y="121432"/>
                </a:lnTo>
                <a:lnTo>
                  <a:pt x="169713" y="0"/>
                </a:lnTo>
              </a:path>
            </a:pathLst>
          </a:custGeom>
          <a:noFill/>
          <a:ln w="2194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agent-2-0279 — ?"/>
          <p:cNvSpPr txBox="1"/>
          <p:nvPr/>
        </p:nvSpPr>
        <p:spPr>
          <a:xfrm>
            <a:off x="3456432" y="7299564"/>
            <a:ext cx="271705" cy="35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lang="en-US">
                <a:solidFill>
                  <a:srgbClr val="000000"/>
                </a:solidFill>
                <a:latin typeface="Arial"/>
              </a:rPr>
              <a:t>?</a:t>
            </a:r>
          </a:p>
        </p:txBody>
      </p:sp>
      <p:sp>
        <p:nvSpPr>
          <p:cNvPr id="281" name="agent-2-0280"/>
          <p:cNvSpPr/>
          <p:nvPr/>
        </p:nvSpPr>
        <p:spPr>
          <a:xfrm>
            <a:off x="173736" y="7680960"/>
            <a:ext cx="1600200" cy="557784"/>
          </a:xfrm>
          <a:prstGeom prst="rect">
            <a:avLst/>
          </a:prstGeom>
          <a:solidFill>
            <a:srgbClr val="DFEBF6"/>
          </a:solidFill>
          <a:ln w="18288" cap="rnd">
            <a:solidFill>
              <a:srgbClr val="457BA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agent-2-0281"/>
          <p:cNvSpPr/>
          <p:nvPr/>
        </p:nvSpPr>
        <p:spPr>
          <a:xfrm>
            <a:off x="1773936" y="7680960"/>
            <a:ext cx="2660904" cy="557784"/>
          </a:xfrm>
          <a:prstGeom prst="rect">
            <a:avLst/>
          </a:prstGeom>
          <a:solidFill>
            <a:srgbClr val="FBE5D4"/>
          </a:solidFill>
          <a:ln w="18288" cap="rnd">
            <a:solidFill>
              <a:srgbClr val="C75A0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agent-2-0282 — (N) Dense"/>
          <p:cNvSpPr txBox="1"/>
          <p:nvPr/>
        </p:nvSpPr>
        <p:spPr>
          <a:xfrm>
            <a:off x="219456" y="7793065"/>
            <a:ext cx="1219367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 lang="en-US">
                <a:solidFill>
                  <a:srgbClr val="203D67"/>
                </a:solidFill>
                <a:latin typeface="Arial"/>
              </a:rPr>
              <a:t>(N) Dense</a:t>
            </a:r>
          </a:p>
        </p:txBody>
      </p:sp>
      <p:sp>
        <p:nvSpPr>
          <p:cNvPr id="284" name="agent-2-0283"/>
          <p:cNvSpPr/>
          <p:nvPr/>
        </p:nvSpPr>
        <p:spPr>
          <a:xfrm>
            <a:off x="1399032" y="7845552"/>
            <a:ext cx="292608" cy="292608"/>
          </a:xfrm>
          <a:prstGeom prst="ellipse">
            <a:avLst/>
          </a:prstGeom>
          <a:solidFill>
            <a:srgbClr val="C75A08"/>
          </a:solidFill>
          <a:ln w="4114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agent-2-0284"/>
          <p:cNvSpPr/>
          <p:nvPr/>
        </p:nvSpPr>
        <p:spPr>
          <a:xfrm>
            <a:off x="1473647" y="7991856"/>
            <a:ext cx="143378" cy="91"/>
          </a:xfrm>
          <a:custGeom>
            <a:avLst/>
            <a:gdLst/>
            <a:ahLst/>
            <a:cxnLst/>
            <a:rect l="0" t="0" r="r" b="b"/>
            <a:pathLst>
              <a:path w="143378" h="91">
                <a:moveTo>
                  <a:pt x="0" y="0"/>
                </a:moveTo>
                <a:lnTo>
                  <a:pt x="143378" y="0"/>
                </a:lnTo>
              </a:path>
            </a:pathLst>
          </a:custGeom>
          <a:noFill/>
          <a:ln w="1920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agent-2-0285"/>
          <p:cNvSpPr/>
          <p:nvPr/>
        </p:nvSpPr>
        <p:spPr>
          <a:xfrm>
            <a:off x="1545336" y="7920167"/>
            <a:ext cx="91" cy="143378"/>
          </a:xfrm>
          <a:custGeom>
            <a:avLst/>
            <a:gdLst/>
            <a:ahLst/>
            <a:cxnLst/>
            <a:rect l="0" t="0" r="r" b="b"/>
            <a:pathLst>
              <a:path w="91" h="143378">
                <a:moveTo>
                  <a:pt x="0" y="0"/>
                </a:moveTo>
                <a:lnTo>
                  <a:pt x="0" y="143378"/>
                </a:lnTo>
              </a:path>
            </a:pathLst>
          </a:custGeom>
          <a:noFill/>
          <a:ln w="1920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agent-2-0286 — (Y) Sharing"/>
          <p:cNvSpPr txBox="1"/>
          <p:nvPr/>
        </p:nvSpPr>
        <p:spPr>
          <a:xfrm>
            <a:off x="2414016" y="7793065"/>
            <a:ext cx="1377715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 lang="en-US">
                <a:solidFill>
                  <a:srgbClr val="203D67"/>
                </a:solidFill>
                <a:latin typeface="Arial"/>
              </a:rPr>
              <a:t>(Y) Sharing</a:t>
            </a:r>
          </a:p>
        </p:txBody>
      </p:sp>
      <p:sp>
        <p:nvSpPr>
          <p:cNvPr id="288" name="agent-3-0287"/>
          <p:cNvSpPr/>
          <p:nvPr/>
        </p:nvSpPr>
        <p:spPr>
          <a:xfrm>
            <a:off x="5276088" y="5568696"/>
            <a:ext cx="4261104" cy="2679192"/>
          </a:xfrm>
          <a:prstGeom prst="rect">
            <a:avLst/>
          </a:prstGeom>
          <a:solidFill>
            <a:srgbClr val="DFEBF6"/>
          </a:solidFill>
          <a:ln w="18288" cap="rnd">
            <a:solidFill>
              <a:srgbClr val="457BA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agent-3-0288"/>
          <p:cNvSpPr/>
          <p:nvPr/>
        </p:nvSpPr>
        <p:spPr>
          <a:xfrm>
            <a:off x="5276088" y="5285232"/>
            <a:ext cx="4261104" cy="594360"/>
          </a:xfrm>
          <a:custGeom>
            <a:avLst/>
            <a:gdLst/>
            <a:ahLst/>
            <a:cxnLst/>
            <a:rect l="0" t="0" r="r" b="b"/>
            <a:pathLst>
              <a:path w="4261104" h="594360">
                <a:moveTo>
                  <a:pt x="0" y="594360"/>
                </a:moveTo>
                <a:lnTo>
                  <a:pt x="0" y="256032"/>
                </a:lnTo>
                <a:cubicBezTo>
                  <a:pt x="0" y="114629"/>
                  <a:pt x="114629" y="0"/>
                  <a:pt x="256032" y="0"/>
                </a:cubicBezTo>
                <a:lnTo>
                  <a:pt x="4005072" y="0"/>
                </a:lnTo>
                <a:cubicBezTo>
                  <a:pt x="4146475" y="0"/>
                  <a:pt x="4261104" y="114629"/>
                  <a:pt x="4261104" y="256032"/>
                </a:cubicBezTo>
                <a:lnTo>
                  <a:pt x="4261104" y="594360"/>
                </a:lnTo>
                <a:close/>
              </a:path>
            </a:pathLst>
          </a:custGeom>
          <a:solidFill>
            <a:srgbClr val="9DC3E2"/>
          </a:solidFill>
          <a:ln w="18288" cap="rnd">
            <a:solidFill>
              <a:srgbClr val="457BA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agent-3-0289 — Agent 3"/>
          <p:cNvSpPr txBox="1"/>
          <p:nvPr/>
        </p:nvSpPr>
        <p:spPr>
          <a:xfrm>
            <a:off x="6803072" y="5352532"/>
            <a:ext cx="1316865" cy="4345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0" lang="en-US">
                <a:solidFill>
                  <a:srgbClr val="203D67"/>
                </a:solidFill>
                <a:latin typeface="Arial"/>
              </a:rPr>
              <a:t>Agent 3</a:t>
            </a:r>
          </a:p>
        </p:txBody>
      </p:sp>
      <p:sp>
        <p:nvSpPr>
          <p:cNvPr id="291" name="agent-3-0290 — Prefix KV"/>
          <p:cNvSpPr txBox="1"/>
          <p:nvPr/>
        </p:nvSpPr>
        <p:spPr>
          <a:xfrm>
            <a:off x="5486400" y="5927689"/>
            <a:ext cx="1166803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 lang="en-US">
                <a:solidFill>
                  <a:srgbClr val="203D67"/>
                </a:solidFill>
                <a:latin typeface="Arial"/>
              </a:rPr>
              <a:t>Prefix KV</a:t>
            </a:r>
          </a:p>
        </p:txBody>
      </p:sp>
      <p:sp>
        <p:nvSpPr>
          <p:cNvPr id="292" name="agent-3-0291"/>
          <p:cNvSpPr/>
          <p:nvPr/>
        </p:nvSpPr>
        <p:spPr>
          <a:xfrm>
            <a:off x="5422392" y="6254496"/>
            <a:ext cx="685800" cy="31089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3" name="agent-3-0292 — p"/>
          <p:cNvSpPr txBox="1"/>
          <p:nvPr/>
        </p:nvSpPr>
        <p:spPr>
          <a:xfrm>
            <a:off x="5523933" y="6184555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294" name="agent-3-0293 — (3, 0)"/>
          <p:cNvSpPr txBox="1"/>
          <p:nvPr/>
        </p:nvSpPr>
        <p:spPr>
          <a:xfrm>
            <a:off x="5662037" y="6317868"/>
            <a:ext cx="454342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000000"/>
                </a:solidFill>
                <a:latin typeface="Times New Roman"/>
              </a:rPr>
              <a:t>(3, 0)</a:t>
            </a:r>
          </a:p>
        </p:txBody>
      </p:sp>
      <p:sp>
        <p:nvSpPr>
          <p:cNvPr id="295" name="agent-3-0294"/>
          <p:cNvSpPr/>
          <p:nvPr/>
        </p:nvSpPr>
        <p:spPr>
          <a:xfrm>
            <a:off x="6195060" y="6254496"/>
            <a:ext cx="685800" cy="31089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6" name="agent-3-0295 — p"/>
          <p:cNvSpPr txBox="1"/>
          <p:nvPr/>
        </p:nvSpPr>
        <p:spPr>
          <a:xfrm>
            <a:off x="6296601" y="6184555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297" name="agent-3-0296 — (3, 1)"/>
          <p:cNvSpPr txBox="1"/>
          <p:nvPr/>
        </p:nvSpPr>
        <p:spPr>
          <a:xfrm>
            <a:off x="6434705" y="6317868"/>
            <a:ext cx="454342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000000"/>
                </a:solidFill>
                <a:latin typeface="Times New Roman"/>
              </a:rPr>
              <a:t>(3, 1)</a:t>
            </a:r>
          </a:p>
        </p:txBody>
      </p:sp>
      <p:sp>
        <p:nvSpPr>
          <p:cNvPr id="298" name="agent-3-0297"/>
          <p:cNvSpPr/>
          <p:nvPr/>
        </p:nvSpPr>
        <p:spPr>
          <a:xfrm>
            <a:off x="6967728" y="6254496"/>
            <a:ext cx="685800" cy="31089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9" name="agent-3-0298 — p"/>
          <p:cNvSpPr txBox="1"/>
          <p:nvPr/>
        </p:nvSpPr>
        <p:spPr>
          <a:xfrm>
            <a:off x="7069269" y="6184555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300" name="agent-3-0299 — (3, 2)"/>
          <p:cNvSpPr txBox="1"/>
          <p:nvPr/>
        </p:nvSpPr>
        <p:spPr>
          <a:xfrm>
            <a:off x="7207373" y="6317868"/>
            <a:ext cx="454342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000000"/>
                </a:solidFill>
                <a:latin typeface="Times New Roman"/>
              </a:rPr>
              <a:t>(3, 2)</a:t>
            </a:r>
          </a:p>
        </p:txBody>
      </p:sp>
      <p:sp>
        <p:nvSpPr>
          <p:cNvPr id="301" name="agent-3-0300"/>
          <p:cNvSpPr/>
          <p:nvPr/>
        </p:nvSpPr>
        <p:spPr>
          <a:xfrm>
            <a:off x="7740396" y="6254496"/>
            <a:ext cx="685800" cy="31089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2" name="agent-3-0301 — p"/>
          <p:cNvSpPr txBox="1"/>
          <p:nvPr/>
        </p:nvSpPr>
        <p:spPr>
          <a:xfrm>
            <a:off x="7841937" y="6184555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303" name="agent-3-0302 — (3, 3)"/>
          <p:cNvSpPr txBox="1"/>
          <p:nvPr/>
        </p:nvSpPr>
        <p:spPr>
          <a:xfrm>
            <a:off x="7980041" y="6317868"/>
            <a:ext cx="454342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000000"/>
                </a:solidFill>
                <a:latin typeface="Times New Roman"/>
              </a:rPr>
              <a:t>(3, 3)</a:t>
            </a:r>
          </a:p>
        </p:txBody>
      </p:sp>
      <p:sp>
        <p:nvSpPr>
          <p:cNvPr id="304" name="agent-3-0303"/>
          <p:cNvSpPr/>
          <p:nvPr/>
        </p:nvSpPr>
        <p:spPr>
          <a:xfrm>
            <a:off x="8513064" y="6254496"/>
            <a:ext cx="685800" cy="31089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5" name="agent-3-0304 — p"/>
          <p:cNvSpPr txBox="1"/>
          <p:nvPr/>
        </p:nvSpPr>
        <p:spPr>
          <a:xfrm>
            <a:off x="8614605" y="6184555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306" name="agent-3-0305 — (3, 4)"/>
          <p:cNvSpPr txBox="1"/>
          <p:nvPr/>
        </p:nvSpPr>
        <p:spPr>
          <a:xfrm>
            <a:off x="8752709" y="6317868"/>
            <a:ext cx="454342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000000"/>
                </a:solidFill>
                <a:latin typeface="Times New Roman"/>
              </a:rPr>
              <a:t>(3, 4)</a:t>
            </a:r>
          </a:p>
        </p:txBody>
      </p:sp>
      <p:sp>
        <p:nvSpPr>
          <p:cNvPr id="307" name="agent-3-0306 — Placeholder KV"/>
          <p:cNvSpPr txBox="1"/>
          <p:nvPr/>
        </p:nvSpPr>
        <p:spPr>
          <a:xfrm>
            <a:off x="5486400" y="6586057"/>
            <a:ext cx="1853775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 lang="en-US">
                <a:solidFill>
                  <a:srgbClr val="203D67"/>
                </a:solidFill>
                <a:latin typeface="Arial"/>
              </a:rPr>
              <a:t>Placeholder KV</a:t>
            </a:r>
          </a:p>
        </p:txBody>
      </p:sp>
      <p:sp>
        <p:nvSpPr>
          <p:cNvPr id="308" name="agent-3-0307"/>
          <p:cNvSpPr/>
          <p:nvPr/>
        </p:nvSpPr>
        <p:spPr>
          <a:xfrm>
            <a:off x="5431536" y="6885432"/>
            <a:ext cx="603504" cy="256032"/>
          </a:xfrm>
          <a:prstGeom prst="rect">
            <a:avLst/>
          </a:prstGeom>
          <a:solidFill>
            <a:srgbClr val="FFFFFF"/>
          </a:solidFill>
          <a:ln w="7315" cap="rnd">
            <a:solidFill>
              <a:srgbClr val="EEF0F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9" name="agent-3-0308"/>
          <p:cNvSpPr/>
          <p:nvPr/>
        </p:nvSpPr>
        <p:spPr>
          <a:xfrm>
            <a:off x="5449824" y="6894576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agent-3-0309"/>
          <p:cNvSpPr/>
          <p:nvPr/>
        </p:nvSpPr>
        <p:spPr>
          <a:xfrm>
            <a:off x="5449824" y="6894576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agent-3-0310"/>
          <p:cNvSpPr/>
          <p:nvPr/>
        </p:nvSpPr>
        <p:spPr>
          <a:xfrm>
            <a:off x="5449824" y="6894576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agent-3-0311"/>
          <p:cNvSpPr/>
          <p:nvPr/>
        </p:nvSpPr>
        <p:spPr>
          <a:xfrm>
            <a:off x="5449824" y="689457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agent-3-0312"/>
          <p:cNvSpPr/>
          <p:nvPr/>
        </p:nvSpPr>
        <p:spPr>
          <a:xfrm>
            <a:off x="5449824" y="6894576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agent-3-0313"/>
          <p:cNvSpPr/>
          <p:nvPr/>
        </p:nvSpPr>
        <p:spPr>
          <a:xfrm>
            <a:off x="5449824" y="6894576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agent-3-0314"/>
          <p:cNvSpPr/>
          <p:nvPr/>
        </p:nvSpPr>
        <p:spPr>
          <a:xfrm>
            <a:off x="5468112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agent-3-0315"/>
          <p:cNvSpPr/>
          <p:nvPr/>
        </p:nvSpPr>
        <p:spPr>
          <a:xfrm>
            <a:off x="5504688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agent-3-0316"/>
          <p:cNvSpPr/>
          <p:nvPr/>
        </p:nvSpPr>
        <p:spPr>
          <a:xfrm>
            <a:off x="5541264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agent-3-0317"/>
          <p:cNvSpPr/>
          <p:nvPr/>
        </p:nvSpPr>
        <p:spPr>
          <a:xfrm>
            <a:off x="5577840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agent-3-0318"/>
          <p:cNvSpPr/>
          <p:nvPr/>
        </p:nvSpPr>
        <p:spPr>
          <a:xfrm>
            <a:off x="5614416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agent-3-0319"/>
          <p:cNvSpPr/>
          <p:nvPr/>
        </p:nvSpPr>
        <p:spPr>
          <a:xfrm>
            <a:off x="5650992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agent-3-0320"/>
          <p:cNvSpPr/>
          <p:nvPr/>
        </p:nvSpPr>
        <p:spPr>
          <a:xfrm>
            <a:off x="5687568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agent-3-0321"/>
          <p:cNvSpPr/>
          <p:nvPr/>
        </p:nvSpPr>
        <p:spPr>
          <a:xfrm>
            <a:off x="5724144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agent-3-0322"/>
          <p:cNvSpPr/>
          <p:nvPr/>
        </p:nvSpPr>
        <p:spPr>
          <a:xfrm>
            <a:off x="5760720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agent-3-0323"/>
          <p:cNvSpPr/>
          <p:nvPr/>
        </p:nvSpPr>
        <p:spPr>
          <a:xfrm>
            <a:off x="5797296" y="6912864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agent-3-0324"/>
          <p:cNvSpPr/>
          <p:nvPr/>
        </p:nvSpPr>
        <p:spPr>
          <a:xfrm>
            <a:off x="5833872" y="6949440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agent-3-0325"/>
          <p:cNvSpPr/>
          <p:nvPr/>
        </p:nvSpPr>
        <p:spPr>
          <a:xfrm>
            <a:off x="5870448" y="698601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agent-3-0326"/>
          <p:cNvSpPr/>
          <p:nvPr/>
        </p:nvSpPr>
        <p:spPr>
          <a:xfrm>
            <a:off x="5907024" y="7022592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agent-3-0327"/>
          <p:cNvSpPr/>
          <p:nvPr/>
        </p:nvSpPr>
        <p:spPr>
          <a:xfrm>
            <a:off x="5943600" y="7059168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agent-3-0328"/>
          <p:cNvSpPr/>
          <p:nvPr/>
        </p:nvSpPr>
        <p:spPr>
          <a:xfrm>
            <a:off x="5980176" y="7095744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agent-3-0329 — ϕ"/>
          <p:cNvSpPr txBox="1"/>
          <p:nvPr/>
        </p:nvSpPr>
        <p:spPr>
          <a:xfrm>
            <a:off x="5501256" y="6813012"/>
            <a:ext cx="237515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331" name="agent-3-0330 — (3, 1)"/>
          <p:cNvSpPr txBox="1"/>
          <p:nvPr/>
        </p:nvSpPr>
        <p:spPr>
          <a:xfrm>
            <a:off x="5644451" y="6957688"/>
            <a:ext cx="430597" cy="1955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 lang="en-US">
                <a:solidFill>
                  <a:srgbClr val="000000"/>
                </a:solidFill>
                <a:latin typeface="Times New Roman"/>
              </a:rPr>
              <a:t>(3, 1)</a:t>
            </a:r>
          </a:p>
        </p:txBody>
      </p:sp>
      <p:sp>
        <p:nvSpPr>
          <p:cNvPr id="332" name="agent-3-0331"/>
          <p:cNvSpPr/>
          <p:nvPr/>
        </p:nvSpPr>
        <p:spPr>
          <a:xfrm>
            <a:off x="6085332" y="6885432"/>
            <a:ext cx="603504" cy="256032"/>
          </a:xfrm>
          <a:prstGeom prst="rect">
            <a:avLst/>
          </a:prstGeom>
          <a:solidFill>
            <a:srgbClr val="FFFFFF"/>
          </a:solidFill>
          <a:ln w="7315" cap="rnd">
            <a:solidFill>
              <a:srgbClr val="EEF0F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33" name="agent-3-0332"/>
          <p:cNvSpPr/>
          <p:nvPr/>
        </p:nvSpPr>
        <p:spPr>
          <a:xfrm>
            <a:off x="6103620" y="6894576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agent-3-0333"/>
          <p:cNvSpPr/>
          <p:nvPr/>
        </p:nvSpPr>
        <p:spPr>
          <a:xfrm>
            <a:off x="6103620" y="6894576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agent-3-0334"/>
          <p:cNvSpPr/>
          <p:nvPr/>
        </p:nvSpPr>
        <p:spPr>
          <a:xfrm>
            <a:off x="6103620" y="6894576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agent-3-0335"/>
          <p:cNvSpPr/>
          <p:nvPr/>
        </p:nvSpPr>
        <p:spPr>
          <a:xfrm>
            <a:off x="6103620" y="689457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agent-3-0336"/>
          <p:cNvSpPr/>
          <p:nvPr/>
        </p:nvSpPr>
        <p:spPr>
          <a:xfrm>
            <a:off x="6103620" y="6894576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agent-3-0337"/>
          <p:cNvSpPr/>
          <p:nvPr/>
        </p:nvSpPr>
        <p:spPr>
          <a:xfrm>
            <a:off x="6103620" y="6894576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agent-3-0338"/>
          <p:cNvSpPr/>
          <p:nvPr/>
        </p:nvSpPr>
        <p:spPr>
          <a:xfrm>
            <a:off x="6121908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agent-3-0339"/>
          <p:cNvSpPr/>
          <p:nvPr/>
        </p:nvSpPr>
        <p:spPr>
          <a:xfrm>
            <a:off x="6158484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agent-3-0340"/>
          <p:cNvSpPr/>
          <p:nvPr/>
        </p:nvSpPr>
        <p:spPr>
          <a:xfrm>
            <a:off x="6195060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agent-3-0341"/>
          <p:cNvSpPr/>
          <p:nvPr/>
        </p:nvSpPr>
        <p:spPr>
          <a:xfrm>
            <a:off x="6231636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agent-3-0342"/>
          <p:cNvSpPr/>
          <p:nvPr/>
        </p:nvSpPr>
        <p:spPr>
          <a:xfrm>
            <a:off x="6268212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agent-3-0343"/>
          <p:cNvSpPr/>
          <p:nvPr/>
        </p:nvSpPr>
        <p:spPr>
          <a:xfrm>
            <a:off x="6304788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agent-3-0344"/>
          <p:cNvSpPr/>
          <p:nvPr/>
        </p:nvSpPr>
        <p:spPr>
          <a:xfrm>
            <a:off x="6341364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agent-3-0345"/>
          <p:cNvSpPr/>
          <p:nvPr/>
        </p:nvSpPr>
        <p:spPr>
          <a:xfrm>
            <a:off x="6377940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agent-3-0346"/>
          <p:cNvSpPr/>
          <p:nvPr/>
        </p:nvSpPr>
        <p:spPr>
          <a:xfrm>
            <a:off x="6414516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agent-3-0347"/>
          <p:cNvSpPr/>
          <p:nvPr/>
        </p:nvSpPr>
        <p:spPr>
          <a:xfrm>
            <a:off x="6451092" y="6912864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agent-3-0348"/>
          <p:cNvSpPr/>
          <p:nvPr/>
        </p:nvSpPr>
        <p:spPr>
          <a:xfrm>
            <a:off x="6487668" y="6949440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agent-3-0349"/>
          <p:cNvSpPr/>
          <p:nvPr/>
        </p:nvSpPr>
        <p:spPr>
          <a:xfrm>
            <a:off x="6524244" y="698601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agent-3-0350"/>
          <p:cNvSpPr/>
          <p:nvPr/>
        </p:nvSpPr>
        <p:spPr>
          <a:xfrm>
            <a:off x="6560820" y="7022592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agent-3-0351"/>
          <p:cNvSpPr/>
          <p:nvPr/>
        </p:nvSpPr>
        <p:spPr>
          <a:xfrm>
            <a:off x="6597396" y="7059168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agent-3-0352"/>
          <p:cNvSpPr/>
          <p:nvPr/>
        </p:nvSpPr>
        <p:spPr>
          <a:xfrm>
            <a:off x="6633972" y="7095744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agent-3-0353 — ϕ"/>
          <p:cNvSpPr txBox="1"/>
          <p:nvPr/>
        </p:nvSpPr>
        <p:spPr>
          <a:xfrm>
            <a:off x="6155052" y="6813012"/>
            <a:ext cx="237515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355" name="agent-3-0354 — (3, 2)"/>
          <p:cNvSpPr txBox="1"/>
          <p:nvPr/>
        </p:nvSpPr>
        <p:spPr>
          <a:xfrm>
            <a:off x="6298247" y="6957688"/>
            <a:ext cx="430597" cy="1955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 lang="en-US">
                <a:solidFill>
                  <a:srgbClr val="000000"/>
                </a:solidFill>
                <a:latin typeface="Times New Roman"/>
              </a:rPr>
              <a:t>(3, 2)</a:t>
            </a:r>
          </a:p>
        </p:txBody>
      </p:sp>
      <p:sp>
        <p:nvSpPr>
          <p:cNvPr id="356" name="agent-3-0355"/>
          <p:cNvSpPr/>
          <p:nvPr/>
        </p:nvSpPr>
        <p:spPr>
          <a:xfrm>
            <a:off x="6739128" y="6885432"/>
            <a:ext cx="603504" cy="256032"/>
          </a:xfrm>
          <a:prstGeom prst="rect">
            <a:avLst/>
          </a:prstGeom>
          <a:solidFill>
            <a:srgbClr val="FFFFFF"/>
          </a:solidFill>
          <a:ln w="7315" cap="rnd">
            <a:solidFill>
              <a:srgbClr val="EEF0F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7" name="agent-3-0356"/>
          <p:cNvSpPr/>
          <p:nvPr/>
        </p:nvSpPr>
        <p:spPr>
          <a:xfrm>
            <a:off x="6757416" y="6894576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agent-3-0357"/>
          <p:cNvSpPr/>
          <p:nvPr/>
        </p:nvSpPr>
        <p:spPr>
          <a:xfrm>
            <a:off x="6757416" y="6894576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agent-3-0358"/>
          <p:cNvSpPr/>
          <p:nvPr/>
        </p:nvSpPr>
        <p:spPr>
          <a:xfrm>
            <a:off x="6757416" y="6894576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agent-3-0359"/>
          <p:cNvSpPr/>
          <p:nvPr/>
        </p:nvSpPr>
        <p:spPr>
          <a:xfrm>
            <a:off x="6757416" y="689457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agent-3-0360"/>
          <p:cNvSpPr/>
          <p:nvPr/>
        </p:nvSpPr>
        <p:spPr>
          <a:xfrm>
            <a:off x="6757416" y="6894576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agent-3-0361"/>
          <p:cNvSpPr/>
          <p:nvPr/>
        </p:nvSpPr>
        <p:spPr>
          <a:xfrm>
            <a:off x="6757416" y="6894576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agent-3-0362"/>
          <p:cNvSpPr/>
          <p:nvPr/>
        </p:nvSpPr>
        <p:spPr>
          <a:xfrm>
            <a:off x="6775704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agent-3-0363"/>
          <p:cNvSpPr/>
          <p:nvPr/>
        </p:nvSpPr>
        <p:spPr>
          <a:xfrm>
            <a:off x="6812280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agent-3-0364"/>
          <p:cNvSpPr/>
          <p:nvPr/>
        </p:nvSpPr>
        <p:spPr>
          <a:xfrm>
            <a:off x="6848856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agent-3-0365"/>
          <p:cNvSpPr/>
          <p:nvPr/>
        </p:nvSpPr>
        <p:spPr>
          <a:xfrm>
            <a:off x="6885432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agent-3-0366"/>
          <p:cNvSpPr/>
          <p:nvPr/>
        </p:nvSpPr>
        <p:spPr>
          <a:xfrm>
            <a:off x="6922008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agent-3-0367"/>
          <p:cNvSpPr/>
          <p:nvPr/>
        </p:nvSpPr>
        <p:spPr>
          <a:xfrm>
            <a:off x="6958584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agent-3-0368"/>
          <p:cNvSpPr/>
          <p:nvPr/>
        </p:nvSpPr>
        <p:spPr>
          <a:xfrm>
            <a:off x="6995160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agent-3-0369"/>
          <p:cNvSpPr/>
          <p:nvPr/>
        </p:nvSpPr>
        <p:spPr>
          <a:xfrm>
            <a:off x="7031736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agent-3-0370"/>
          <p:cNvSpPr/>
          <p:nvPr/>
        </p:nvSpPr>
        <p:spPr>
          <a:xfrm>
            <a:off x="7068312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agent-3-0371"/>
          <p:cNvSpPr/>
          <p:nvPr/>
        </p:nvSpPr>
        <p:spPr>
          <a:xfrm>
            <a:off x="7104888" y="6912864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agent-3-0372"/>
          <p:cNvSpPr/>
          <p:nvPr/>
        </p:nvSpPr>
        <p:spPr>
          <a:xfrm>
            <a:off x="7141464" y="6949440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agent-3-0373"/>
          <p:cNvSpPr/>
          <p:nvPr/>
        </p:nvSpPr>
        <p:spPr>
          <a:xfrm>
            <a:off x="7178040" y="698601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agent-3-0374"/>
          <p:cNvSpPr/>
          <p:nvPr/>
        </p:nvSpPr>
        <p:spPr>
          <a:xfrm>
            <a:off x="7214616" y="7022592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agent-3-0375"/>
          <p:cNvSpPr/>
          <p:nvPr/>
        </p:nvSpPr>
        <p:spPr>
          <a:xfrm>
            <a:off x="7251192" y="7059168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agent-3-0376"/>
          <p:cNvSpPr/>
          <p:nvPr/>
        </p:nvSpPr>
        <p:spPr>
          <a:xfrm>
            <a:off x="7287768" y="7095744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agent-3-0377 — ϕ"/>
          <p:cNvSpPr txBox="1"/>
          <p:nvPr/>
        </p:nvSpPr>
        <p:spPr>
          <a:xfrm>
            <a:off x="6808848" y="6813012"/>
            <a:ext cx="237515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379" name="agent-3-0378 — (3, 3)"/>
          <p:cNvSpPr txBox="1"/>
          <p:nvPr/>
        </p:nvSpPr>
        <p:spPr>
          <a:xfrm>
            <a:off x="6952043" y="6957688"/>
            <a:ext cx="430597" cy="1955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 lang="en-US">
                <a:solidFill>
                  <a:srgbClr val="000000"/>
                </a:solidFill>
                <a:latin typeface="Times New Roman"/>
              </a:rPr>
              <a:t>(3, 3)</a:t>
            </a:r>
          </a:p>
        </p:txBody>
      </p:sp>
      <p:sp>
        <p:nvSpPr>
          <p:cNvPr id="380" name="agent-3-0379"/>
          <p:cNvSpPr/>
          <p:nvPr/>
        </p:nvSpPr>
        <p:spPr>
          <a:xfrm>
            <a:off x="7392924" y="6885432"/>
            <a:ext cx="603504" cy="256032"/>
          </a:xfrm>
          <a:prstGeom prst="rect">
            <a:avLst/>
          </a:prstGeom>
          <a:solidFill>
            <a:srgbClr val="FFFFFF"/>
          </a:solidFill>
          <a:ln w="7315" cap="rnd">
            <a:solidFill>
              <a:srgbClr val="EEF0F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81" name="agent-3-0380"/>
          <p:cNvSpPr/>
          <p:nvPr/>
        </p:nvSpPr>
        <p:spPr>
          <a:xfrm>
            <a:off x="7411212" y="6894576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agent-3-0381"/>
          <p:cNvSpPr/>
          <p:nvPr/>
        </p:nvSpPr>
        <p:spPr>
          <a:xfrm>
            <a:off x="7411212" y="6894576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agent-3-0382"/>
          <p:cNvSpPr/>
          <p:nvPr/>
        </p:nvSpPr>
        <p:spPr>
          <a:xfrm>
            <a:off x="7411212" y="6894576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agent-3-0383"/>
          <p:cNvSpPr/>
          <p:nvPr/>
        </p:nvSpPr>
        <p:spPr>
          <a:xfrm>
            <a:off x="7411212" y="689457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agent-3-0384"/>
          <p:cNvSpPr/>
          <p:nvPr/>
        </p:nvSpPr>
        <p:spPr>
          <a:xfrm>
            <a:off x="7411212" y="6894576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agent-3-0385"/>
          <p:cNvSpPr/>
          <p:nvPr/>
        </p:nvSpPr>
        <p:spPr>
          <a:xfrm>
            <a:off x="7411212" y="6894576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agent-3-0386"/>
          <p:cNvSpPr/>
          <p:nvPr/>
        </p:nvSpPr>
        <p:spPr>
          <a:xfrm>
            <a:off x="7429500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agent-3-0387"/>
          <p:cNvSpPr/>
          <p:nvPr/>
        </p:nvSpPr>
        <p:spPr>
          <a:xfrm>
            <a:off x="7466076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agent-3-0388"/>
          <p:cNvSpPr/>
          <p:nvPr/>
        </p:nvSpPr>
        <p:spPr>
          <a:xfrm>
            <a:off x="7502652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agent-3-0389"/>
          <p:cNvSpPr/>
          <p:nvPr/>
        </p:nvSpPr>
        <p:spPr>
          <a:xfrm>
            <a:off x="7539228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agent-3-0390"/>
          <p:cNvSpPr/>
          <p:nvPr/>
        </p:nvSpPr>
        <p:spPr>
          <a:xfrm>
            <a:off x="7575804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agent-3-0391"/>
          <p:cNvSpPr/>
          <p:nvPr/>
        </p:nvSpPr>
        <p:spPr>
          <a:xfrm>
            <a:off x="7612380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agent-3-0392"/>
          <p:cNvSpPr/>
          <p:nvPr/>
        </p:nvSpPr>
        <p:spPr>
          <a:xfrm>
            <a:off x="7648956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agent-3-0393"/>
          <p:cNvSpPr/>
          <p:nvPr/>
        </p:nvSpPr>
        <p:spPr>
          <a:xfrm>
            <a:off x="7685532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agent-3-0394"/>
          <p:cNvSpPr/>
          <p:nvPr/>
        </p:nvSpPr>
        <p:spPr>
          <a:xfrm>
            <a:off x="7722108" y="689457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>
                <a:moveTo>
                  <a:pt x="0" y="237744"/>
                </a:moveTo>
                <a:lnTo>
                  <a:pt x="2377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agent-3-0395"/>
          <p:cNvSpPr/>
          <p:nvPr/>
        </p:nvSpPr>
        <p:spPr>
          <a:xfrm>
            <a:off x="7758684" y="6912864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agent-3-0396"/>
          <p:cNvSpPr/>
          <p:nvPr/>
        </p:nvSpPr>
        <p:spPr>
          <a:xfrm>
            <a:off x="7795260" y="6949440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agent-3-0397"/>
          <p:cNvSpPr/>
          <p:nvPr/>
        </p:nvSpPr>
        <p:spPr>
          <a:xfrm>
            <a:off x="7831836" y="698601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agent-3-0398"/>
          <p:cNvSpPr/>
          <p:nvPr/>
        </p:nvSpPr>
        <p:spPr>
          <a:xfrm>
            <a:off x="7868412" y="7022592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agent-3-0399"/>
          <p:cNvSpPr/>
          <p:nvPr/>
        </p:nvSpPr>
        <p:spPr>
          <a:xfrm>
            <a:off x="7904988" y="7059168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agent-3-0400"/>
          <p:cNvSpPr/>
          <p:nvPr/>
        </p:nvSpPr>
        <p:spPr>
          <a:xfrm>
            <a:off x="7941564" y="7095744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agent-3-0401 — ϕ"/>
          <p:cNvSpPr txBox="1"/>
          <p:nvPr/>
        </p:nvSpPr>
        <p:spPr>
          <a:xfrm>
            <a:off x="7462644" y="6813012"/>
            <a:ext cx="237515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403" name="agent-3-0402 — (3, 4)"/>
          <p:cNvSpPr txBox="1"/>
          <p:nvPr/>
        </p:nvSpPr>
        <p:spPr>
          <a:xfrm>
            <a:off x="7605839" y="6957688"/>
            <a:ext cx="430597" cy="1955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0" i="0" lang="en-US">
                <a:solidFill>
                  <a:srgbClr val="000000"/>
                </a:solidFill>
                <a:latin typeface="Times New Roman"/>
              </a:rPr>
              <a:t>(3, 4)</a:t>
            </a:r>
          </a:p>
        </p:txBody>
      </p:sp>
      <p:sp>
        <p:nvSpPr>
          <p:cNvPr id="404" name="agent-3-0403"/>
          <p:cNvSpPr/>
          <p:nvPr/>
        </p:nvSpPr>
        <p:spPr>
          <a:xfrm>
            <a:off x="5276088" y="7260336"/>
            <a:ext cx="4261104" cy="420624"/>
          </a:xfrm>
          <a:prstGeom prst="rect">
            <a:avLst/>
          </a:prstGeom>
          <a:solidFill>
            <a:srgbClr val="D7D0DE"/>
          </a:solidFill>
          <a:ln w="18288" cap="rnd">
            <a:solidFill>
              <a:srgbClr val="80748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agent-3-0404 — All placeholders"/>
          <p:cNvSpPr txBox="1"/>
          <p:nvPr/>
        </p:nvSpPr>
        <p:spPr>
          <a:xfrm>
            <a:off x="6099048" y="7299564"/>
            <a:ext cx="2158113" cy="35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lang="en-US">
                <a:solidFill>
                  <a:srgbClr val="000000"/>
                </a:solidFill>
                <a:latin typeface="Arial"/>
              </a:rPr>
              <a:t>All placeholders</a:t>
            </a:r>
          </a:p>
        </p:txBody>
      </p:sp>
      <p:sp>
        <p:nvSpPr>
          <p:cNvPr id="406" name="agent-3-0405"/>
          <p:cNvSpPr/>
          <p:nvPr/>
        </p:nvSpPr>
        <p:spPr>
          <a:xfrm>
            <a:off x="8229600" y="7324344"/>
            <a:ext cx="292608" cy="292608"/>
          </a:xfrm>
          <a:prstGeom prst="ellipse">
            <a:avLst/>
          </a:prstGeom>
          <a:solidFill>
            <a:srgbClr val="548636"/>
          </a:solidFill>
          <a:ln w="457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agent-3-0406"/>
          <p:cNvSpPr/>
          <p:nvPr/>
        </p:nvSpPr>
        <p:spPr>
          <a:xfrm>
            <a:off x="8296900" y="7407737"/>
            <a:ext cx="169713" cy="121432"/>
          </a:xfrm>
          <a:custGeom>
            <a:avLst/>
            <a:gdLst/>
            <a:ahLst/>
            <a:cxnLst/>
            <a:rect l="0" t="0" r="r" b="b"/>
            <a:pathLst>
              <a:path w="169713" h="121432">
                <a:moveTo>
                  <a:pt x="0" y="62911"/>
                </a:moveTo>
                <a:lnTo>
                  <a:pt x="62911" y="121432"/>
                </a:lnTo>
                <a:lnTo>
                  <a:pt x="169713" y="0"/>
                </a:lnTo>
              </a:path>
            </a:pathLst>
          </a:custGeom>
          <a:noFill/>
          <a:ln w="2194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agent-3-0407 — ?"/>
          <p:cNvSpPr txBox="1"/>
          <p:nvPr/>
        </p:nvSpPr>
        <p:spPr>
          <a:xfrm>
            <a:off x="8558784" y="7299564"/>
            <a:ext cx="271705" cy="35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lang="en-US">
                <a:solidFill>
                  <a:srgbClr val="000000"/>
                </a:solidFill>
                <a:latin typeface="Arial"/>
              </a:rPr>
              <a:t>?</a:t>
            </a:r>
          </a:p>
        </p:txBody>
      </p:sp>
      <p:sp>
        <p:nvSpPr>
          <p:cNvPr id="409" name="agent-3-0408"/>
          <p:cNvSpPr/>
          <p:nvPr/>
        </p:nvSpPr>
        <p:spPr>
          <a:xfrm>
            <a:off x="5276088" y="7680960"/>
            <a:ext cx="2660904" cy="557784"/>
          </a:xfrm>
          <a:prstGeom prst="rect">
            <a:avLst/>
          </a:prstGeom>
          <a:solidFill>
            <a:srgbClr val="FBE5D4"/>
          </a:solidFill>
          <a:ln w="18288" cap="rnd">
            <a:solidFill>
              <a:srgbClr val="C75A0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agent-3-0409"/>
          <p:cNvSpPr/>
          <p:nvPr/>
        </p:nvSpPr>
        <p:spPr>
          <a:xfrm>
            <a:off x="7936992" y="7680960"/>
            <a:ext cx="1600200" cy="557784"/>
          </a:xfrm>
          <a:prstGeom prst="rect">
            <a:avLst/>
          </a:prstGeom>
          <a:solidFill>
            <a:srgbClr val="DFEBF6"/>
          </a:solidFill>
          <a:ln w="18288" cap="rnd">
            <a:solidFill>
              <a:srgbClr val="457BA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agent-3-0410 — (Y) Sharing"/>
          <p:cNvSpPr txBox="1"/>
          <p:nvPr/>
        </p:nvSpPr>
        <p:spPr>
          <a:xfrm>
            <a:off x="5925312" y="7793065"/>
            <a:ext cx="1377715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 lang="en-US">
                <a:solidFill>
                  <a:srgbClr val="203D67"/>
                </a:solidFill>
                <a:latin typeface="Arial"/>
              </a:rPr>
              <a:t>(Y) Sharing</a:t>
            </a:r>
          </a:p>
        </p:txBody>
      </p:sp>
      <p:sp>
        <p:nvSpPr>
          <p:cNvPr id="412" name="agent-3-0411 — (N) Dense"/>
          <p:cNvSpPr txBox="1"/>
          <p:nvPr/>
        </p:nvSpPr>
        <p:spPr>
          <a:xfrm>
            <a:off x="8001000" y="7793065"/>
            <a:ext cx="1219367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 lang="en-US">
                <a:solidFill>
                  <a:srgbClr val="203D67"/>
                </a:solidFill>
                <a:latin typeface="Arial"/>
              </a:rPr>
              <a:t>(N) Dense</a:t>
            </a:r>
          </a:p>
        </p:txBody>
      </p:sp>
      <p:sp>
        <p:nvSpPr>
          <p:cNvPr id="413" name="agent-3-0412"/>
          <p:cNvSpPr/>
          <p:nvPr/>
        </p:nvSpPr>
        <p:spPr>
          <a:xfrm>
            <a:off x="9171432" y="7845552"/>
            <a:ext cx="292608" cy="292608"/>
          </a:xfrm>
          <a:prstGeom prst="ellipse">
            <a:avLst/>
          </a:prstGeom>
          <a:solidFill>
            <a:srgbClr val="C75A08"/>
          </a:solidFill>
          <a:ln w="4114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4" name="agent-3-0413"/>
          <p:cNvSpPr/>
          <p:nvPr/>
        </p:nvSpPr>
        <p:spPr>
          <a:xfrm>
            <a:off x="9246047" y="7991856"/>
            <a:ext cx="143378" cy="91"/>
          </a:xfrm>
          <a:custGeom>
            <a:avLst/>
            <a:gdLst/>
            <a:ahLst/>
            <a:cxnLst/>
            <a:rect l="0" t="0" r="r" b="b"/>
            <a:pathLst>
              <a:path w="143378" h="91">
                <a:moveTo>
                  <a:pt x="0" y="0"/>
                </a:moveTo>
                <a:lnTo>
                  <a:pt x="143378" y="0"/>
                </a:lnTo>
              </a:path>
            </a:pathLst>
          </a:custGeom>
          <a:noFill/>
          <a:ln w="1920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agent-3-0414"/>
          <p:cNvSpPr/>
          <p:nvPr/>
        </p:nvSpPr>
        <p:spPr>
          <a:xfrm>
            <a:off x="9317736" y="7920167"/>
            <a:ext cx="91" cy="143378"/>
          </a:xfrm>
          <a:custGeom>
            <a:avLst/>
            <a:gdLst/>
            <a:ahLst/>
            <a:cxnLst/>
            <a:rect l="0" t="0" r="r" b="b"/>
            <a:pathLst>
              <a:path w="91" h="143378">
                <a:moveTo>
                  <a:pt x="0" y="0"/>
                </a:moveTo>
                <a:lnTo>
                  <a:pt x="0" y="143378"/>
                </a:lnTo>
              </a:path>
            </a:pathLst>
          </a:custGeom>
          <a:noFill/>
          <a:ln w="1920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module-container-0415"/>
          <p:cNvSpPr/>
          <p:nvPr/>
        </p:nvSpPr>
        <p:spPr>
          <a:xfrm>
            <a:off x="5276088" y="128016"/>
            <a:ext cx="11841480" cy="4946904"/>
          </a:xfrm>
          <a:custGeom>
            <a:avLst/>
            <a:gdLst/>
            <a:ahLst/>
            <a:cxnLst/>
            <a:rect l="0" t="0" r="r" b="b"/>
            <a:pathLst>
              <a:path w="11841480" h="4946904">
                <a:moveTo>
                  <a:pt x="0" y="4782312"/>
                </a:moveTo>
                <a:lnTo>
                  <a:pt x="0" y="301752"/>
                </a:lnTo>
                <a:cubicBezTo>
                  <a:pt x="0" y="135099"/>
                  <a:pt x="135099" y="0"/>
                  <a:pt x="301752" y="0"/>
                </a:cubicBezTo>
                <a:lnTo>
                  <a:pt x="11539728" y="0"/>
                </a:lnTo>
                <a:cubicBezTo>
                  <a:pt x="11706381" y="0"/>
                  <a:pt x="11841480" y="135099"/>
                  <a:pt x="11841480" y="301752"/>
                </a:cubicBezTo>
                <a:lnTo>
                  <a:pt x="11841480" y="4782312"/>
                </a:lnTo>
                <a:cubicBezTo>
                  <a:pt x="11841480" y="4873214"/>
                  <a:pt x="11767790" y="4946904"/>
                  <a:pt x="11676888" y="4946904"/>
                </a:cubicBezTo>
                <a:lnTo>
                  <a:pt x="164592" y="4946904"/>
                </a:lnTo>
                <a:cubicBezTo>
                  <a:pt x="73690" y="4946904"/>
                  <a:pt x="0" y="4873214"/>
                  <a:pt x="0" y="4782312"/>
                </a:cubicBezTo>
                <a:close/>
              </a:path>
            </a:pathLst>
          </a:custGeom>
          <a:solidFill>
            <a:srgbClr val="A9D18E"/>
          </a:solidFill>
          <a:ln w="18288" cap="rnd">
            <a:solidFill>
              <a:srgbClr val="54863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module-container-0416"/>
          <p:cNvSpPr/>
          <p:nvPr/>
        </p:nvSpPr>
        <p:spPr>
          <a:xfrm>
            <a:off x="5276088" y="128016"/>
            <a:ext cx="11841480" cy="603504"/>
          </a:xfrm>
          <a:custGeom>
            <a:avLst/>
            <a:gdLst/>
            <a:ahLst/>
            <a:cxnLst/>
            <a:rect l="0" t="0" r="r" b="b"/>
            <a:pathLst>
              <a:path w="11841480" h="603504">
                <a:moveTo>
                  <a:pt x="0" y="603504"/>
                </a:moveTo>
                <a:lnTo>
                  <a:pt x="0" y="301752"/>
                </a:lnTo>
                <a:cubicBezTo>
                  <a:pt x="0" y="135099"/>
                  <a:pt x="135099" y="0"/>
                  <a:pt x="301752" y="0"/>
                </a:cubicBezTo>
                <a:lnTo>
                  <a:pt x="11539728" y="0"/>
                </a:lnTo>
                <a:cubicBezTo>
                  <a:pt x="11706381" y="0"/>
                  <a:pt x="11841480" y="135099"/>
                  <a:pt x="11841480" y="301752"/>
                </a:cubicBezTo>
                <a:lnTo>
                  <a:pt x="11841480" y="603504"/>
                </a:lnTo>
                <a:close/>
              </a:path>
            </a:pathLst>
          </a:custGeom>
          <a:solidFill>
            <a:srgbClr val="80748F"/>
          </a:solidFill>
          <a:ln w="16459" cap="rnd">
            <a:solidFill>
              <a:srgbClr val="457BA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module-container-0417"/>
          <p:cNvSpPr/>
          <p:nvPr/>
        </p:nvSpPr>
        <p:spPr>
          <a:xfrm>
            <a:off x="5294376" y="740664"/>
            <a:ext cx="4169664" cy="3749040"/>
          </a:xfrm>
          <a:prstGeom prst="rect">
            <a:avLst/>
          </a:prstGeom>
          <a:solidFill>
            <a:srgbClr val="D7D0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module-container-0418"/>
          <p:cNvSpPr/>
          <p:nvPr/>
        </p:nvSpPr>
        <p:spPr>
          <a:xfrm>
            <a:off x="5294376" y="4489704"/>
            <a:ext cx="4169664" cy="292608"/>
          </a:xfrm>
          <a:prstGeom prst="rect">
            <a:avLst/>
          </a:prstGeom>
          <a:solidFill>
            <a:srgbClr val="FBE5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module-container-0419"/>
          <p:cNvSpPr/>
          <p:nvPr/>
        </p:nvSpPr>
        <p:spPr>
          <a:xfrm>
            <a:off x="9464040" y="740664"/>
            <a:ext cx="3977640" cy="4041648"/>
          </a:xfrm>
          <a:prstGeom prst="rect">
            <a:avLst/>
          </a:prstGeom>
          <a:solidFill>
            <a:srgbClr val="FBE5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module-container-0420 — KV-cache Communication Module"/>
          <p:cNvSpPr txBox="1"/>
          <p:nvPr/>
        </p:nvSpPr>
        <p:spPr>
          <a:xfrm>
            <a:off x="7361384" y="105339"/>
            <a:ext cx="7771471" cy="6276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44" b="1" i="0" lang="en-US">
                <a:solidFill>
                  <a:srgbClr val="FFFFFF"/>
                </a:solidFill>
                <a:latin typeface="Arial"/>
              </a:rPr>
              <a:t>KV-cache Communication Module</a:t>
            </a:r>
          </a:p>
        </p:txBody>
      </p:sp>
      <p:sp>
        <p:nvSpPr>
          <p:cNvPr id="422" name="module-container-0421 — Anchor Matching"/>
          <p:cNvSpPr txBox="1"/>
          <p:nvPr/>
        </p:nvSpPr>
        <p:spPr>
          <a:xfrm>
            <a:off x="6000007" y="716341"/>
            <a:ext cx="2648674" cy="4103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 i="0" lang="en-US">
                <a:solidFill>
                  <a:srgbClr val="000000"/>
                </a:solidFill>
                <a:latin typeface="Arial"/>
              </a:rPr>
              <a:t>Anchor Matching</a:t>
            </a:r>
          </a:p>
        </p:txBody>
      </p:sp>
      <p:sp>
        <p:nvSpPr>
          <p:cNvPr id="423" name="module-container-0422 — Offset Approximation"/>
          <p:cNvSpPr txBox="1"/>
          <p:nvPr/>
        </p:nvSpPr>
        <p:spPr>
          <a:xfrm>
            <a:off x="9864954" y="725485"/>
            <a:ext cx="3276395" cy="4103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 i="0" lang="en-US">
                <a:solidFill>
                  <a:srgbClr val="000000"/>
                </a:solidFill>
                <a:latin typeface="Arial"/>
              </a:rPr>
              <a:t>Offset Approximation</a:t>
            </a:r>
          </a:p>
        </p:txBody>
      </p:sp>
      <p:sp>
        <p:nvSpPr>
          <p:cNvPr id="424" name="module-container-0423 — Anchor Prediction"/>
          <p:cNvSpPr txBox="1"/>
          <p:nvPr/>
        </p:nvSpPr>
        <p:spPr>
          <a:xfrm>
            <a:off x="13913982" y="743773"/>
            <a:ext cx="2804436" cy="4103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 i="0" lang="en-US">
                <a:solidFill>
                  <a:srgbClr val="000000"/>
                </a:solidFill>
                <a:latin typeface="Arial"/>
              </a:rPr>
              <a:t>Anchor Prediction</a:t>
            </a:r>
          </a:p>
        </p:txBody>
      </p:sp>
      <p:sp>
        <p:nvSpPr>
          <p:cNvPr id="425" name="anchor-matching-0424"/>
          <p:cNvSpPr/>
          <p:nvPr/>
        </p:nvSpPr>
        <p:spPr>
          <a:xfrm>
            <a:off x="5568696" y="1261872"/>
            <a:ext cx="1536192" cy="1463040"/>
          </a:xfrm>
          <a:prstGeom prst="rect">
            <a:avLst/>
          </a:prstGeom>
          <a:solidFill>
            <a:srgbClr val="FFFFFF"/>
          </a:solidFill>
          <a:ln w="32004" cap="rnd">
            <a:solidFill>
              <a:srgbClr val="80748F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26" name="anchor-matching-0425"/>
          <p:cNvSpPr/>
          <p:nvPr/>
        </p:nvSpPr>
        <p:spPr>
          <a:xfrm>
            <a:off x="5568696" y="1261872"/>
            <a:ext cx="1536192" cy="329184"/>
          </a:xfrm>
          <a:prstGeom prst="rect">
            <a:avLst/>
          </a:prstGeom>
          <a:solidFill>
            <a:srgbClr val="BEB5C9"/>
          </a:solidFill>
          <a:ln w="32004" cap="rnd">
            <a:solidFill>
              <a:srgbClr val="80748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7" name="anchor-matching-0426 — ϕ"/>
          <p:cNvSpPr txBox="1"/>
          <p:nvPr/>
        </p:nvSpPr>
        <p:spPr>
          <a:xfrm>
            <a:off x="5769864" y="1186160"/>
            <a:ext cx="261176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428" name="anchor-matching-0427 — (1, 1)"/>
          <p:cNvSpPr txBox="1"/>
          <p:nvPr/>
        </p:nvSpPr>
        <p:spPr>
          <a:xfrm>
            <a:off x="5939577" y="1378549"/>
            <a:ext cx="446427" cy="2051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429" name="anchor-matching-0428 — Pool"/>
          <p:cNvSpPr txBox="1"/>
          <p:nvPr/>
        </p:nvSpPr>
        <p:spPr>
          <a:xfrm>
            <a:off x="6391656" y="1273211"/>
            <a:ext cx="585202" cy="289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 lang="en-US">
                <a:solidFill>
                  <a:srgbClr val="000000"/>
                </a:solidFill>
                <a:latin typeface="Arial"/>
              </a:rPr>
              <a:t>Pool</a:t>
            </a:r>
          </a:p>
        </p:txBody>
      </p:sp>
      <p:sp>
        <p:nvSpPr>
          <p:cNvPr id="430" name="anchor-matching-0429"/>
          <p:cNvSpPr/>
          <p:nvPr/>
        </p:nvSpPr>
        <p:spPr>
          <a:xfrm>
            <a:off x="6382512" y="2103120"/>
            <a:ext cx="512064" cy="512064"/>
          </a:xfrm>
          <a:prstGeom prst="ellipse">
            <a:avLst/>
          </a:prstGeom>
          <a:solidFill>
            <a:srgbClr val="DCE2F3"/>
          </a:solidFill>
          <a:ln w="6400" cap="rnd">
            <a:solidFill>
              <a:srgbClr val="D6D7DC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31" name="anchor-matching-0430"/>
          <p:cNvSpPr/>
          <p:nvPr/>
        </p:nvSpPr>
        <p:spPr>
          <a:xfrm>
            <a:off x="5702198" y="1706270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2" name="anchor-matching-0431"/>
          <p:cNvSpPr/>
          <p:nvPr/>
        </p:nvSpPr>
        <p:spPr>
          <a:xfrm>
            <a:off x="6150254" y="1989734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anchor-matching-0432"/>
          <p:cNvSpPr/>
          <p:nvPr/>
        </p:nvSpPr>
        <p:spPr>
          <a:xfrm>
            <a:off x="6644030" y="1870862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4" name="anchor-matching-0433"/>
          <p:cNvSpPr/>
          <p:nvPr/>
        </p:nvSpPr>
        <p:spPr>
          <a:xfrm>
            <a:off x="5775350" y="2264054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5" name="anchor-matching-0434"/>
          <p:cNvSpPr/>
          <p:nvPr/>
        </p:nvSpPr>
        <p:spPr>
          <a:xfrm>
            <a:off x="6461150" y="2410358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6" name="anchor-matching-0435"/>
          <p:cNvSpPr/>
          <p:nvPr/>
        </p:nvSpPr>
        <p:spPr>
          <a:xfrm>
            <a:off x="6698894" y="2419502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7" name="anchor-matching-0436"/>
          <p:cNvSpPr/>
          <p:nvPr/>
        </p:nvSpPr>
        <p:spPr>
          <a:xfrm>
            <a:off x="6542883" y="2249424"/>
            <a:ext cx="191322" cy="181958"/>
          </a:xfrm>
          <a:custGeom>
            <a:avLst/>
            <a:gdLst/>
            <a:ahLst/>
            <a:cxnLst/>
            <a:rect l="0" t="0" r="r" b="b"/>
            <a:pathLst>
              <a:path w="191322" h="181958">
                <a:moveTo>
                  <a:pt x="95661" y="0"/>
                </a:moveTo>
                <a:lnTo>
                  <a:pt x="118127" y="69662"/>
                </a:lnTo>
                <a:lnTo>
                  <a:pt x="191322" y="69502"/>
                </a:lnTo>
                <a:lnTo>
                  <a:pt x="132012" y="112395"/>
                </a:lnTo>
                <a:lnTo>
                  <a:pt x="154783" y="181958"/>
                </a:lnTo>
                <a:lnTo>
                  <a:pt x="95661" y="138806"/>
                </a:lnTo>
                <a:lnTo>
                  <a:pt x="36539" y="181958"/>
                </a:lnTo>
                <a:lnTo>
                  <a:pt x="59310" y="112395"/>
                </a:lnTo>
                <a:lnTo>
                  <a:pt x="0" y="69502"/>
                </a:lnTo>
                <a:lnTo>
                  <a:pt x="73195" y="69662"/>
                </a:lnTo>
                <a:close/>
              </a:path>
            </a:pathLst>
          </a:custGeom>
          <a:solidFill>
            <a:srgbClr val="F6B181"/>
          </a:solidFill>
          <a:ln w="6858" cap="rnd">
            <a:solidFill>
              <a:srgbClr val="895223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38" name="anchor-matching-0437"/>
          <p:cNvSpPr/>
          <p:nvPr/>
        </p:nvSpPr>
        <p:spPr>
          <a:xfrm>
            <a:off x="7287768" y="1252728"/>
            <a:ext cx="1536192" cy="1463040"/>
          </a:xfrm>
          <a:prstGeom prst="rect">
            <a:avLst/>
          </a:prstGeom>
          <a:solidFill>
            <a:srgbClr val="FFFFFF"/>
          </a:solidFill>
          <a:ln w="32004" cap="rnd">
            <a:solidFill>
              <a:srgbClr val="80748F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39" name="anchor-matching-0438"/>
          <p:cNvSpPr/>
          <p:nvPr/>
        </p:nvSpPr>
        <p:spPr>
          <a:xfrm>
            <a:off x="7287768" y="1252728"/>
            <a:ext cx="1536192" cy="329184"/>
          </a:xfrm>
          <a:prstGeom prst="rect">
            <a:avLst/>
          </a:prstGeom>
          <a:solidFill>
            <a:srgbClr val="BEB5C9"/>
          </a:solidFill>
          <a:ln w="32004" cap="rnd">
            <a:solidFill>
              <a:srgbClr val="80748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0" name="anchor-matching-0439 — ϕ"/>
          <p:cNvSpPr txBox="1"/>
          <p:nvPr/>
        </p:nvSpPr>
        <p:spPr>
          <a:xfrm>
            <a:off x="7488936" y="1177016"/>
            <a:ext cx="261176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441" name="anchor-matching-0440 — (1, 2)"/>
          <p:cNvSpPr txBox="1"/>
          <p:nvPr/>
        </p:nvSpPr>
        <p:spPr>
          <a:xfrm>
            <a:off x="7658649" y="1369405"/>
            <a:ext cx="446427" cy="2051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en-US">
                <a:solidFill>
                  <a:srgbClr val="000000"/>
                </a:solidFill>
                <a:latin typeface="Times New Roman"/>
              </a:rPr>
              <a:t>(1, 2)</a:t>
            </a:r>
          </a:p>
        </p:txBody>
      </p:sp>
      <p:sp>
        <p:nvSpPr>
          <p:cNvPr id="442" name="anchor-matching-0441 — Pool"/>
          <p:cNvSpPr txBox="1"/>
          <p:nvPr/>
        </p:nvSpPr>
        <p:spPr>
          <a:xfrm>
            <a:off x="8110728" y="1264067"/>
            <a:ext cx="585202" cy="289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 lang="en-US">
                <a:solidFill>
                  <a:srgbClr val="000000"/>
                </a:solidFill>
                <a:latin typeface="Arial"/>
              </a:rPr>
              <a:t>Pool</a:t>
            </a:r>
          </a:p>
        </p:txBody>
      </p:sp>
      <p:sp>
        <p:nvSpPr>
          <p:cNvPr id="443" name="anchor-matching-0442"/>
          <p:cNvSpPr/>
          <p:nvPr/>
        </p:nvSpPr>
        <p:spPr>
          <a:xfrm>
            <a:off x="7443216" y="2148840"/>
            <a:ext cx="512064" cy="512064"/>
          </a:xfrm>
          <a:prstGeom prst="ellipse">
            <a:avLst/>
          </a:prstGeom>
          <a:solidFill>
            <a:srgbClr val="DCE2F3"/>
          </a:solidFill>
          <a:ln w="6400" cap="rnd">
            <a:solidFill>
              <a:srgbClr val="D6D7DC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44" name="anchor-matching-0443"/>
          <p:cNvSpPr/>
          <p:nvPr/>
        </p:nvSpPr>
        <p:spPr>
          <a:xfrm>
            <a:off x="7585862" y="1742846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5" name="anchor-matching-0444"/>
          <p:cNvSpPr/>
          <p:nvPr/>
        </p:nvSpPr>
        <p:spPr>
          <a:xfrm>
            <a:off x="8143646" y="1642262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6" name="anchor-matching-0445"/>
          <p:cNvSpPr/>
          <p:nvPr/>
        </p:nvSpPr>
        <p:spPr>
          <a:xfrm>
            <a:off x="7878470" y="1998878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7" name="anchor-matching-0446"/>
          <p:cNvSpPr/>
          <p:nvPr/>
        </p:nvSpPr>
        <p:spPr>
          <a:xfrm>
            <a:off x="8125358" y="1898294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8" name="anchor-matching-0447"/>
          <p:cNvSpPr/>
          <p:nvPr/>
        </p:nvSpPr>
        <p:spPr>
          <a:xfrm>
            <a:off x="8408822" y="1898294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9" name="anchor-matching-0448"/>
          <p:cNvSpPr/>
          <p:nvPr/>
        </p:nvSpPr>
        <p:spPr>
          <a:xfrm>
            <a:off x="8299094" y="2218334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0" name="anchor-matching-0449"/>
          <p:cNvSpPr/>
          <p:nvPr/>
        </p:nvSpPr>
        <p:spPr>
          <a:xfrm>
            <a:off x="8125358" y="2501798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1" name="anchor-matching-0450"/>
          <p:cNvSpPr/>
          <p:nvPr/>
        </p:nvSpPr>
        <p:spPr>
          <a:xfrm>
            <a:off x="7814462" y="2291486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2" name="anchor-matching-0451"/>
          <p:cNvSpPr/>
          <p:nvPr/>
        </p:nvSpPr>
        <p:spPr>
          <a:xfrm>
            <a:off x="7603587" y="2295144"/>
            <a:ext cx="191322" cy="181958"/>
          </a:xfrm>
          <a:custGeom>
            <a:avLst/>
            <a:gdLst/>
            <a:ahLst/>
            <a:cxnLst/>
            <a:rect l="0" t="0" r="r" b="b"/>
            <a:pathLst>
              <a:path w="191322" h="181958">
                <a:moveTo>
                  <a:pt x="95661" y="0"/>
                </a:moveTo>
                <a:lnTo>
                  <a:pt x="118127" y="69662"/>
                </a:lnTo>
                <a:lnTo>
                  <a:pt x="191322" y="69502"/>
                </a:lnTo>
                <a:lnTo>
                  <a:pt x="132012" y="112395"/>
                </a:lnTo>
                <a:lnTo>
                  <a:pt x="154783" y="181958"/>
                </a:lnTo>
                <a:lnTo>
                  <a:pt x="95661" y="138806"/>
                </a:lnTo>
                <a:lnTo>
                  <a:pt x="36539" y="181958"/>
                </a:lnTo>
                <a:lnTo>
                  <a:pt x="59310" y="112395"/>
                </a:lnTo>
                <a:lnTo>
                  <a:pt x="0" y="69502"/>
                </a:lnTo>
                <a:lnTo>
                  <a:pt x="73195" y="69662"/>
                </a:lnTo>
                <a:close/>
              </a:path>
            </a:pathLst>
          </a:custGeom>
          <a:solidFill>
            <a:srgbClr val="A9D18E"/>
          </a:solidFill>
          <a:ln w="6858" cap="rnd">
            <a:solidFill>
              <a:srgbClr val="4D7335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53" name="anchor-matching-0452"/>
          <p:cNvSpPr/>
          <p:nvPr/>
        </p:nvSpPr>
        <p:spPr>
          <a:xfrm>
            <a:off x="5568696" y="2834640"/>
            <a:ext cx="1536192" cy="1463040"/>
          </a:xfrm>
          <a:prstGeom prst="rect">
            <a:avLst/>
          </a:prstGeom>
          <a:solidFill>
            <a:srgbClr val="FFFFFF"/>
          </a:solidFill>
          <a:ln w="32004" cap="rnd">
            <a:solidFill>
              <a:srgbClr val="80748F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54" name="anchor-matching-0453"/>
          <p:cNvSpPr/>
          <p:nvPr/>
        </p:nvSpPr>
        <p:spPr>
          <a:xfrm>
            <a:off x="5568696" y="2834640"/>
            <a:ext cx="1536192" cy="329184"/>
          </a:xfrm>
          <a:prstGeom prst="rect">
            <a:avLst/>
          </a:prstGeom>
          <a:solidFill>
            <a:srgbClr val="BEB5C9"/>
          </a:solidFill>
          <a:ln w="32004" cap="rnd">
            <a:solidFill>
              <a:srgbClr val="80748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5" name="anchor-matching-0454 — ϕ"/>
          <p:cNvSpPr txBox="1"/>
          <p:nvPr/>
        </p:nvSpPr>
        <p:spPr>
          <a:xfrm>
            <a:off x="5769864" y="2758928"/>
            <a:ext cx="261176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456" name="anchor-matching-0455 — (1, 3)"/>
          <p:cNvSpPr txBox="1"/>
          <p:nvPr/>
        </p:nvSpPr>
        <p:spPr>
          <a:xfrm>
            <a:off x="5939577" y="2951317"/>
            <a:ext cx="446427" cy="2051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en-US">
                <a:solidFill>
                  <a:srgbClr val="000000"/>
                </a:solidFill>
                <a:latin typeface="Times New Roman"/>
              </a:rPr>
              <a:t>(1, 3)</a:t>
            </a:r>
          </a:p>
        </p:txBody>
      </p:sp>
      <p:sp>
        <p:nvSpPr>
          <p:cNvPr id="457" name="anchor-matching-0456 — Pool"/>
          <p:cNvSpPr txBox="1"/>
          <p:nvPr/>
        </p:nvSpPr>
        <p:spPr>
          <a:xfrm>
            <a:off x="6391656" y="2845979"/>
            <a:ext cx="585202" cy="289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 lang="en-US">
                <a:solidFill>
                  <a:srgbClr val="000000"/>
                </a:solidFill>
                <a:latin typeface="Arial"/>
              </a:rPr>
              <a:t>Pool</a:t>
            </a:r>
          </a:p>
        </p:txBody>
      </p:sp>
      <p:sp>
        <p:nvSpPr>
          <p:cNvPr id="458" name="anchor-matching-0457"/>
          <p:cNvSpPr/>
          <p:nvPr/>
        </p:nvSpPr>
        <p:spPr>
          <a:xfrm>
            <a:off x="5779008" y="3200400"/>
            <a:ext cx="512064" cy="512064"/>
          </a:xfrm>
          <a:prstGeom prst="ellipse">
            <a:avLst/>
          </a:prstGeom>
          <a:solidFill>
            <a:srgbClr val="DCE2F3"/>
          </a:solidFill>
          <a:ln w="6400" cap="rnd">
            <a:solidFill>
              <a:srgbClr val="D6D7DC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59" name="anchor-matching-0458"/>
          <p:cNvSpPr/>
          <p:nvPr/>
        </p:nvSpPr>
        <p:spPr>
          <a:xfrm>
            <a:off x="5811926" y="3315614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0" name="anchor-matching-0459"/>
          <p:cNvSpPr/>
          <p:nvPr/>
        </p:nvSpPr>
        <p:spPr>
          <a:xfrm>
            <a:off x="5958230" y="3233318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1" name="anchor-matching-0460"/>
          <p:cNvSpPr/>
          <p:nvPr/>
        </p:nvSpPr>
        <p:spPr>
          <a:xfrm>
            <a:off x="6141110" y="4092854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2" name="anchor-matching-0461"/>
          <p:cNvSpPr/>
          <p:nvPr/>
        </p:nvSpPr>
        <p:spPr>
          <a:xfrm>
            <a:off x="5821070" y="3772814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3" name="anchor-matching-0462"/>
          <p:cNvSpPr/>
          <p:nvPr/>
        </p:nvSpPr>
        <p:spPr>
          <a:xfrm>
            <a:off x="6442862" y="3233318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4" name="anchor-matching-0463"/>
          <p:cNvSpPr/>
          <p:nvPr/>
        </p:nvSpPr>
        <p:spPr>
          <a:xfrm>
            <a:off x="6863486" y="3397910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5" name="anchor-matching-0464"/>
          <p:cNvSpPr/>
          <p:nvPr/>
        </p:nvSpPr>
        <p:spPr>
          <a:xfrm>
            <a:off x="6817766" y="4092854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6" name="anchor-matching-0465"/>
          <p:cNvSpPr/>
          <p:nvPr/>
        </p:nvSpPr>
        <p:spPr>
          <a:xfrm>
            <a:off x="6269126" y="3809390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7" name="anchor-matching-0466"/>
          <p:cNvSpPr/>
          <p:nvPr/>
        </p:nvSpPr>
        <p:spPr>
          <a:xfrm>
            <a:off x="5939379" y="3346704"/>
            <a:ext cx="191322" cy="181958"/>
          </a:xfrm>
          <a:custGeom>
            <a:avLst/>
            <a:gdLst/>
            <a:ahLst/>
            <a:cxnLst/>
            <a:rect l="0" t="0" r="r" b="b"/>
            <a:pathLst>
              <a:path w="191322" h="181958">
                <a:moveTo>
                  <a:pt x="95661" y="0"/>
                </a:moveTo>
                <a:lnTo>
                  <a:pt x="118127" y="69662"/>
                </a:lnTo>
                <a:lnTo>
                  <a:pt x="191322" y="69502"/>
                </a:lnTo>
                <a:lnTo>
                  <a:pt x="132012" y="112395"/>
                </a:lnTo>
                <a:lnTo>
                  <a:pt x="154783" y="181958"/>
                </a:lnTo>
                <a:lnTo>
                  <a:pt x="95661" y="138806"/>
                </a:lnTo>
                <a:lnTo>
                  <a:pt x="36539" y="181958"/>
                </a:lnTo>
                <a:lnTo>
                  <a:pt x="59310" y="112395"/>
                </a:lnTo>
                <a:lnTo>
                  <a:pt x="0" y="69502"/>
                </a:lnTo>
                <a:lnTo>
                  <a:pt x="73195" y="69662"/>
                </a:lnTo>
                <a:close/>
              </a:path>
            </a:pathLst>
          </a:custGeom>
          <a:solidFill>
            <a:srgbClr val="F6B181"/>
          </a:solidFill>
          <a:ln w="6858" cap="rnd">
            <a:solidFill>
              <a:srgbClr val="895223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8" name="anchor-matching-0467"/>
          <p:cNvSpPr/>
          <p:nvPr/>
        </p:nvSpPr>
        <p:spPr>
          <a:xfrm>
            <a:off x="7287768" y="2834640"/>
            <a:ext cx="1536192" cy="1463040"/>
          </a:xfrm>
          <a:prstGeom prst="rect">
            <a:avLst/>
          </a:prstGeom>
          <a:solidFill>
            <a:srgbClr val="FFFFFF"/>
          </a:solidFill>
          <a:ln w="32004" cap="rnd">
            <a:solidFill>
              <a:srgbClr val="80748F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9" name="anchor-matching-0468"/>
          <p:cNvSpPr/>
          <p:nvPr/>
        </p:nvSpPr>
        <p:spPr>
          <a:xfrm>
            <a:off x="7287768" y="2834640"/>
            <a:ext cx="1536192" cy="329184"/>
          </a:xfrm>
          <a:prstGeom prst="rect">
            <a:avLst/>
          </a:prstGeom>
          <a:solidFill>
            <a:srgbClr val="BEB5C9"/>
          </a:solidFill>
          <a:ln w="32004" cap="rnd">
            <a:solidFill>
              <a:srgbClr val="80748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0" name="anchor-matching-0469 — ϕ"/>
          <p:cNvSpPr txBox="1"/>
          <p:nvPr/>
        </p:nvSpPr>
        <p:spPr>
          <a:xfrm>
            <a:off x="7488936" y="2758928"/>
            <a:ext cx="261176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471" name="anchor-matching-0470 — (2, 1)"/>
          <p:cNvSpPr txBox="1"/>
          <p:nvPr/>
        </p:nvSpPr>
        <p:spPr>
          <a:xfrm>
            <a:off x="7658649" y="2951317"/>
            <a:ext cx="446427" cy="2051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en-US">
                <a:solidFill>
                  <a:srgbClr val="000000"/>
                </a:solidFill>
                <a:latin typeface="Times New Roman"/>
              </a:rPr>
              <a:t>(2, 1)</a:t>
            </a:r>
          </a:p>
        </p:txBody>
      </p:sp>
      <p:sp>
        <p:nvSpPr>
          <p:cNvPr id="472" name="anchor-matching-0471 — Pool"/>
          <p:cNvSpPr txBox="1"/>
          <p:nvPr/>
        </p:nvSpPr>
        <p:spPr>
          <a:xfrm>
            <a:off x="8110728" y="2845979"/>
            <a:ext cx="585202" cy="289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 lang="en-US">
                <a:solidFill>
                  <a:srgbClr val="000000"/>
                </a:solidFill>
                <a:latin typeface="Arial"/>
              </a:rPr>
              <a:t>Pool</a:t>
            </a:r>
          </a:p>
        </p:txBody>
      </p:sp>
      <p:sp>
        <p:nvSpPr>
          <p:cNvPr id="473" name="anchor-matching-0472"/>
          <p:cNvSpPr/>
          <p:nvPr/>
        </p:nvSpPr>
        <p:spPr>
          <a:xfrm>
            <a:off x="7552944" y="3319272"/>
            <a:ext cx="512064" cy="512064"/>
          </a:xfrm>
          <a:prstGeom prst="ellipse">
            <a:avLst/>
          </a:prstGeom>
          <a:solidFill>
            <a:srgbClr val="DCE2F3"/>
          </a:solidFill>
          <a:ln w="6400" cap="rnd">
            <a:solidFill>
              <a:srgbClr val="D6D7DC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74" name="anchor-matching-0473"/>
          <p:cNvSpPr/>
          <p:nvPr/>
        </p:nvSpPr>
        <p:spPr>
          <a:xfrm>
            <a:off x="7540142" y="3315614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5" name="anchor-matching-0474"/>
          <p:cNvSpPr/>
          <p:nvPr/>
        </p:nvSpPr>
        <p:spPr>
          <a:xfrm>
            <a:off x="8107070" y="3215030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6" name="anchor-matching-0475"/>
          <p:cNvSpPr/>
          <p:nvPr/>
        </p:nvSpPr>
        <p:spPr>
          <a:xfrm>
            <a:off x="8363102" y="3480206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7" name="anchor-matching-0476"/>
          <p:cNvSpPr/>
          <p:nvPr/>
        </p:nvSpPr>
        <p:spPr>
          <a:xfrm>
            <a:off x="7915046" y="3416198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8" name="anchor-matching-0477"/>
          <p:cNvSpPr/>
          <p:nvPr/>
        </p:nvSpPr>
        <p:spPr>
          <a:xfrm>
            <a:off x="7494422" y="3882542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9" name="anchor-matching-0478"/>
          <p:cNvSpPr/>
          <p:nvPr/>
        </p:nvSpPr>
        <p:spPr>
          <a:xfrm>
            <a:off x="7713878" y="4019702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0" name="anchor-matching-0479"/>
          <p:cNvSpPr/>
          <p:nvPr/>
        </p:nvSpPr>
        <p:spPr>
          <a:xfrm>
            <a:off x="8088782" y="4074566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1" name="anchor-matching-0480"/>
          <p:cNvSpPr/>
          <p:nvPr/>
        </p:nvSpPr>
        <p:spPr>
          <a:xfrm>
            <a:off x="8216798" y="3891686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2" name="anchor-matching-0481"/>
          <p:cNvSpPr/>
          <p:nvPr/>
        </p:nvSpPr>
        <p:spPr>
          <a:xfrm>
            <a:off x="8481974" y="3891686"/>
            <a:ext cx="117043" cy="117043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3" name="anchor-matching-0482"/>
          <p:cNvSpPr/>
          <p:nvPr/>
        </p:nvSpPr>
        <p:spPr>
          <a:xfrm>
            <a:off x="7713315" y="3465576"/>
            <a:ext cx="191322" cy="181958"/>
          </a:xfrm>
          <a:custGeom>
            <a:avLst/>
            <a:gdLst/>
            <a:ahLst/>
            <a:cxnLst/>
            <a:rect l="0" t="0" r="r" b="b"/>
            <a:pathLst>
              <a:path w="191322" h="181958">
                <a:moveTo>
                  <a:pt x="95661" y="0"/>
                </a:moveTo>
                <a:lnTo>
                  <a:pt x="118127" y="69662"/>
                </a:lnTo>
                <a:lnTo>
                  <a:pt x="191322" y="69502"/>
                </a:lnTo>
                <a:lnTo>
                  <a:pt x="132012" y="112395"/>
                </a:lnTo>
                <a:lnTo>
                  <a:pt x="154783" y="181958"/>
                </a:lnTo>
                <a:lnTo>
                  <a:pt x="95661" y="138806"/>
                </a:lnTo>
                <a:lnTo>
                  <a:pt x="36539" y="181958"/>
                </a:lnTo>
                <a:lnTo>
                  <a:pt x="59310" y="112395"/>
                </a:lnTo>
                <a:lnTo>
                  <a:pt x="0" y="69502"/>
                </a:lnTo>
                <a:lnTo>
                  <a:pt x="73195" y="69662"/>
                </a:lnTo>
                <a:close/>
              </a:path>
            </a:pathLst>
          </a:custGeom>
          <a:solidFill>
            <a:srgbClr val="A9D18E"/>
          </a:solidFill>
          <a:ln w="6858" cap="rnd">
            <a:solidFill>
              <a:srgbClr val="4D7335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84" name="anchor-matching-0483"/>
          <p:cNvSpPr/>
          <p:nvPr/>
        </p:nvSpPr>
        <p:spPr>
          <a:xfrm>
            <a:off x="8979408" y="2578608"/>
            <a:ext cx="658368" cy="91"/>
          </a:xfrm>
          <a:custGeom>
            <a:avLst/>
            <a:gdLst/>
            <a:ahLst/>
            <a:cxnLst/>
            <a:rect l="0" t="0" r="r" b="b"/>
            <a:pathLst>
              <a:path w="658368" h="91">
                <a:moveTo>
                  <a:pt x="0" y="0"/>
                </a:moveTo>
                <a:lnTo>
                  <a:pt x="658368" y="0"/>
                </a:lnTo>
              </a:path>
            </a:pathLst>
          </a:custGeom>
          <a:noFill/>
          <a:ln w="82296" cap="rnd">
            <a:solidFill>
              <a:srgbClr val="80748F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85" name="anchor-matching-0484"/>
          <p:cNvSpPr/>
          <p:nvPr/>
        </p:nvSpPr>
        <p:spPr>
          <a:xfrm>
            <a:off x="9637776" y="2468880"/>
            <a:ext cx="228600" cy="219456"/>
          </a:xfrm>
          <a:custGeom>
            <a:avLst/>
            <a:gdLst/>
            <a:ahLst/>
            <a:cxnLst/>
            <a:rect l="0" t="0" r="r" b="b"/>
            <a:pathLst>
              <a:path w="228600" h="219456">
                <a:moveTo>
                  <a:pt x="228600" y="109728"/>
                </a:moveTo>
                <a:lnTo>
                  <a:pt x="0" y="219456"/>
                </a:lnTo>
                <a:lnTo>
                  <a:pt x="0" y="0"/>
                </a:lnTo>
                <a:close/>
              </a:path>
            </a:pathLst>
          </a:custGeom>
          <a:solidFill>
            <a:srgbClr val="80748F"/>
          </a:solidFill>
          <a:ln>
            <a:noFill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86" name="anchor-matching-0485 — Hit"/>
          <p:cNvSpPr txBox="1"/>
          <p:nvPr/>
        </p:nvSpPr>
        <p:spPr>
          <a:xfrm>
            <a:off x="9168424" y="2160636"/>
            <a:ext cx="463215" cy="35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lang="en-US">
                <a:solidFill>
                  <a:srgbClr val="000000"/>
                </a:solidFill>
                <a:latin typeface="Arial"/>
              </a:rPr>
              <a:t>Hit</a:t>
            </a:r>
          </a:p>
        </p:txBody>
      </p:sp>
      <p:sp>
        <p:nvSpPr>
          <p:cNvPr id="487" name="anchor-matching-0486"/>
          <p:cNvSpPr/>
          <p:nvPr/>
        </p:nvSpPr>
        <p:spPr>
          <a:xfrm>
            <a:off x="8947404" y="2747772"/>
            <a:ext cx="82296" cy="82296"/>
          </a:xfrm>
          <a:prstGeom prst="ellipse">
            <a:avLst/>
          </a:prstGeom>
          <a:solidFill>
            <a:srgbClr val="8074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8" name="anchor-matching-0487"/>
          <p:cNvSpPr/>
          <p:nvPr/>
        </p:nvSpPr>
        <p:spPr>
          <a:xfrm>
            <a:off x="9066276" y="2747772"/>
            <a:ext cx="82296" cy="82296"/>
          </a:xfrm>
          <a:prstGeom prst="ellipse">
            <a:avLst/>
          </a:prstGeom>
          <a:solidFill>
            <a:srgbClr val="8074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anchor-matching-0488"/>
          <p:cNvSpPr/>
          <p:nvPr/>
        </p:nvSpPr>
        <p:spPr>
          <a:xfrm>
            <a:off x="9185148" y="2747772"/>
            <a:ext cx="82296" cy="82296"/>
          </a:xfrm>
          <a:prstGeom prst="ellipse">
            <a:avLst/>
          </a:prstGeom>
          <a:solidFill>
            <a:srgbClr val="8074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offset-approximation-0489"/>
          <p:cNvSpPr/>
          <p:nvPr/>
        </p:nvSpPr>
        <p:spPr>
          <a:xfrm>
            <a:off x="9820656" y="1417320"/>
            <a:ext cx="1170432" cy="1170432"/>
          </a:xfrm>
          <a:prstGeom prst="ellipse">
            <a:avLst/>
          </a:prstGeom>
          <a:solidFill>
            <a:srgbClr val="DCE2F3"/>
          </a:solidFill>
          <a:ln w="9144" cap="rnd">
            <a:solidFill>
              <a:srgbClr val="D0D6E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91" name="offset-approximation-0490"/>
          <p:cNvSpPr/>
          <p:nvPr/>
        </p:nvSpPr>
        <p:spPr>
          <a:xfrm>
            <a:off x="10021824" y="2130552"/>
            <a:ext cx="201168" cy="201168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2" name="offset-approximation-0491"/>
          <p:cNvSpPr/>
          <p:nvPr/>
        </p:nvSpPr>
        <p:spPr>
          <a:xfrm>
            <a:off x="10533888" y="2148840"/>
            <a:ext cx="201168" cy="201168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3" name="offset-approximation-0492"/>
          <p:cNvSpPr/>
          <p:nvPr/>
        </p:nvSpPr>
        <p:spPr>
          <a:xfrm>
            <a:off x="10204063" y="1755648"/>
            <a:ext cx="330466" cy="314291"/>
          </a:xfrm>
          <a:custGeom>
            <a:avLst/>
            <a:gdLst/>
            <a:ahLst/>
            <a:cxnLst/>
            <a:rect l="0" t="0" r="r" b="b"/>
            <a:pathLst>
              <a:path w="330466" h="314291">
                <a:moveTo>
                  <a:pt x="165233" y="0"/>
                </a:moveTo>
                <a:lnTo>
                  <a:pt x="204038" y="120325"/>
                </a:lnTo>
                <a:lnTo>
                  <a:pt x="330466" y="120049"/>
                </a:lnTo>
                <a:lnTo>
                  <a:pt x="228021" y="194137"/>
                </a:lnTo>
                <a:lnTo>
                  <a:pt x="267352" y="314291"/>
                </a:lnTo>
                <a:lnTo>
                  <a:pt x="165233" y="239756"/>
                </a:lnTo>
                <a:lnTo>
                  <a:pt x="63113" y="314291"/>
                </a:lnTo>
                <a:lnTo>
                  <a:pt x="102444" y="194137"/>
                </a:lnTo>
                <a:lnTo>
                  <a:pt x="0" y="120049"/>
                </a:lnTo>
                <a:lnTo>
                  <a:pt x="126427" y="120325"/>
                </a:lnTo>
                <a:close/>
              </a:path>
            </a:pathLst>
          </a:custGeom>
          <a:solidFill>
            <a:srgbClr val="F6B181"/>
          </a:solidFill>
          <a:ln w="6858" cap="rnd">
            <a:solidFill>
              <a:srgbClr val="895223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94" name="offset-approximation-0493"/>
          <p:cNvSpPr/>
          <p:nvPr/>
        </p:nvSpPr>
        <p:spPr>
          <a:xfrm>
            <a:off x="10179817" y="2039112"/>
            <a:ext cx="143759" cy="125789"/>
          </a:xfrm>
          <a:custGeom>
            <a:avLst/>
            <a:gdLst/>
            <a:ahLst/>
            <a:cxnLst/>
            <a:rect l="0" t="0" r="r" b="b"/>
            <a:pathLst>
              <a:path w="143759" h="125789">
                <a:moveTo>
                  <a:pt x="143759" y="0"/>
                </a:moveTo>
                <a:lnTo>
                  <a:pt x="0" y="125789"/>
                </a:lnTo>
              </a:path>
            </a:pathLst>
          </a:custGeom>
          <a:noFill/>
          <a:ln w="16459" cap="rnd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5" name="offset-approximation-0494"/>
          <p:cNvSpPr/>
          <p:nvPr/>
        </p:nvSpPr>
        <p:spPr>
          <a:xfrm>
            <a:off x="10104120" y="2128566"/>
            <a:ext cx="107490" cy="102570"/>
          </a:xfrm>
          <a:custGeom>
            <a:avLst/>
            <a:gdLst/>
            <a:ahLst/>
            <a:cxnLst/>
            <a:rect l="0" t="0" r="r" b="b"/>
            <a:pathLst>
              <a:path w="107490" h="102570">
                <a:moveTo>
                  <a:pt x="0" y="102570"/>
                </a:moveTo>
                <a:lnTo>
                  <a:pt x="43904" y="0"/>
                </a:lnTo>
                <a:lnTo>
                  <a:pt x="107490" y="7266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6" name="offset-approximation-0495"/>
          <p:cNvSpPr/>
          <p:nvPr/>
        </p:nvSpPr>
        <p:spPr>
          <a:xfrm>
            <a:off x="10405872" y="2039112"/>
            <a:ext cx="185042" cy="140376"/>
          </a:xfrm>
          <a:custGeom>
            <a:avLst/>
            <a:gdLst/>
            <a:ahLst/>
            <a:cxnLst/>
            <a:rect l="0" t="0" r="r" b="b"/>
            <a:pathLst>
              <a:path w="185042" h="140376">
                <a:moveTo>
                  <a:pt x="0" y="0"/>
                </a:moveTo>
                <a:lnTo>
                  <a:pt x="185042" y="140376"/>
                </a:lnTo>
              </a:path>
            </a:pathLst>
          </a:custGeom>
          <a:noFill/>
          <a:ln w="16459" cap="rnd">
            <a:solidFill>
              <a:srgbClr val="00000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7" name="offset-approximation-0496"/>
          <p:cNvSpPr/>
          <p:nvPr/>
        </p:nvSpPr>
        <p:spPr>
          <a:xfrm>
            <a:off x="10561734" y="2141024"/>
            <a:ext cx="109314" cy="99256"/>
          </a:xfrm>
          <a:custGeom>
            <a:avLst/>
            <a:gdLst/>
            <a:ahLst/>
            <a:cxnLst/>
            <a:rect l="0" t="0" r="r" b="b"/>
            <a:pathLst>
              <a:path w="109314" h="99256">
                <a:moveTo>
                  <a:pt x="109314" y="99256"/>
                </a:moveTo>
                <a:lnTo>
                  <a:pt x="0" y="76929"/>
                </a:lnTo>
                <a:lnTo>
                  <a:pt x="5836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8" name="offset-approximation-0497 — w"/>
          <p:cNvSpPr txBox="1"/>
          <p:nvPr/>
        </p:nvSpPr>
        <p:spPr>
          <a:xfrm>
            <a:off x="9957816" y="1800271"/>
            <a:ext cx="280506" cy="3379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1" lang="en-US">
                <a:solidFill>
                  <a:srgbClr val="000000"/>
                </a:solidFill>
                <a:latin typeface="Times New Roman"/>
              </a:rPr>
              <a:t>w</a:t>
            </a:r>
          </a:p>
        </p:txBody>
      </p:sp>
      <p:sp>
        <p:nvSpPr>
          <p:cNvPr id="499" name="offset-approximation-0498 — 1"/>
          <p:cNvSpPr txBox="1"/>
          <p:nvPr/>
        </p:nvSpPr>
        <p:spPr>
          <a:xfrm>
            <a:off x="10140696" y="1959742"/>
            <a:ext cx="187452" cy="2051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en-US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500" name="offset-approximation-0499 — w"/>
          <p:cNvSpPr txBox="1"/>
          <p:nvPr/>
        </p:nvSpPr>
        <p:spPr>
          <a:xfrm>
            <a:off x="10607040" y="1845991"/>
            <a:ext cx="280506" cy="3379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1" lang="en-US">
                <a:solidFill>
                  <a:srgbClr val="000000"/>
                </a:solidFill>
                <a:latin typeface="Times New Roman"/>
              </a:rPr>
              <a:t>w</a:t>
            </a:r>
          </a:p>
        </p:txBody>
      </p:sp>
      <p:sp>
        <p:nvSpPr>
          <p:cNvPr id="501" name="offset-approximation-0500 — 2"/>
          <p:cNvSpPr txBox="1"/>
          <p:nvPr/>
        </p:nvSpPr>
        <p:spPr>
          <a:xfrm>
            <a:off x="10789920" y="1996318"/>
            <a:ext cx="187452" cy="2051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en-US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502" name="offset-approximation-0501 — (1)"/>
          <p:cNvSpPr txBox="1"/>
          <p:nvPr/>
        </p:nvSpPr>
        <p:spPr>
          <a:xfrm>
            <a:off x="10008165" y="2288560"/>
            <a:ext cx="301638" cy="2172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 lang="en-US">
                <a:solidFill>
                  <a:srgbClr val="000000"/>
                </a:solidFill>
                <a:latin typeface="Times New Roman"/>
              </a:rPr>
              <a:t>(1)</a:t>
            </a:r>
          </a:p>
        </p:txBody>
      </p:sp>
      <p:sp>
        <p:nvSpPr>
          <p:cNvPr id="503" name="offset-approximation-0502 — (2)"/>
          <p:cNvSpPr txBox="1"/>
          <p:nvPr/>
        </p:nvSpPr>
        <p:spPr>
          <a:xfrm>
            <a:off x="10492797" y="2288560"/>
            <a:ext cx="301638" cy="2172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 lang="en-US">
                <a:solidFill>
                  <a:srgbClr val="000000"/>
                </a:solidFill>
                <a:latin typeface="Times New Roman"/>
              </a:rPr>
              <a:t>(2)</a:t>
            </a:r>
          </a:p>
        </p:txBody>
      </p:sp>
      <p:sp>
        <p:nvSpPr>
          <p:cNvPr id="504" name="offset-approximation-0503"/>
          <p:cNvSpPr/>
          <p:nvPr/>
        </p:nvSpPr>
        <p:spPr>
          <a:xfrm>
            <a:off x="11192256" y="1298448"/>
            <a:ext cx="2112264" cy="1426464"/>
          </a:xfrm>
          <a:prstGeom prst="rect">
            <a:avLst/>
          </a:prstGeom>
          <a:solidFill>
            <a:srgbClr val="FFFFFF"/>
          </a:solidFill>
          <a:ln w="10972" cap="rnd">
            <a:solidFill>
              <a:srgbClr val="A397B2"/>
            </a:solidFill>
            <a:round/>
            <a:custDash>
              <a:ds d="750000" sp="500000"/>
            </a:custDash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05" name="offset-approximation-0504 — Each"/>
          <p:cNvSpPr txBox="1"/>
          <p:nvPr/>
        </p:nvSpPr>
        <p:spPr>
          <a:xfrm>
            <a:off x="11311128" y="1309787"/>
            <a:ext cx="634279" cy="289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 lang="en-US">
                <a:solidFill>
                  <a:srgbClr val="000000"/>
                </a:solidFill>
                <a:latin typeface="Arial"/>
              </a:rPr>
              <a:t>Each</a:t>
            </a:r>
          </a:p>
        </p:txBody>
      </p:sp>
      <p:sp>
        <p:nvSpPr>
          <p:cNvPr id="506" name="offset-approximation-0505 — ϕ"/>
          <p:cNvSpPr txBox="1"/>
          <p:nvPr/>
        </p:nvSpPr>
        <p:spPr>
          <a:xfrm>
            <a:off x="11887200" y="1261140"/>
            <a:ext cx="237515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507" name="offset-approximation-0506 — (1, 1)"/>
          <p:cNvSpPr txBox="1"/>
          <p:nvPr/>
        </p:nvSpPr>
        <p:spPr>
          <a:xfrm>
            <a:off x="12030395" y="1407719"/>
            <a:ext cx="426625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508" name="offset-approximation-0507 — Anchor"/>
          <p:cNvSpPr txBox="1"/>
          <p:nvPr/>
        </p:nvSpPr>
        <p:spPr>
          <a:xfrm>
            <a:off x="12481560" y="1309787"/>
            <a:ext cx="877867" cy="289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 lang="en-US">
                <a:solidFill>
                  <a:srgbClr val="000000"/>
                </a:solidFill>
                <a:latin typeface="Arial"/>
              </a:rPr>
              <a:t>Anchor</a:t>
            </a:r>
          </a:p>
        </p:txBody>
      </p:sp>
      <p:sp>
        <p:nvSpPr>
          <p:cNvPr id="509" name="offset-approximation-0508"/>
          <p:cNvSpPr/>
          <p:nvPr/>
        </p:nvSpPr>
        <p:spPr>
          <a:xfrm>
            <a:off x="11256264" y="2020824"/>
            <a:ext cx="201168" cy="201168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0" name="offset-approximation-0509 — {"/>
          <p:cNvSpPr txBox="1"/>
          <p:nvPr/>
        </p:nvSpPr>
        <p:spPr>
          <a:xfrm>
            <a:off x="11402568" y="1502542"/>
            <a:ext cx="513507" cy="11104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23" b="0" i="0" lang="en-US">
                <a:solidFill>
                  <a:srgbClr val="000000"/>
                </a:solidFill>
                <a:latin typeface="Times New Roman"/>
              </a:rPr>
              <a:t>{</a:t>
            </a:r>
          </a:p>
        </p:txBody>
      </p:sp>
      <p:sp>
        <p:nvSpPr>
          <p:cNvPr id="511" name="offset-approximation-0510"/>
          <p:cNvSpPr/>
          <p:nvPr/>
        </p:nvSpPr>
        <p:spPr>
          <a:xfrm>
            <a:off x="11731752" y="1609344"/>
            <a:ext cx="704088" cy="301752"/>
          </a:xfrm>
          <a:prstGeom prst="roundRect">
            <a:avLst>
              <a:gd name="adj" fmla="val 18181"/>
            </a:avLst>
          </a:prstGeom>
          <a:solidFill>
            <a:srgbClr val="C8B99B"/>
          </a:solidFill>
          <a:ln w="9144" cap="rnd">
            <a:solidFill>
              <a:srgbClr val="897655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12" name="offset-approximation-0511 — h"/>
          <p:cNvSpPr txBox="1"/>
          <p:nvPr/>
        </p:nvSpPr>
        <p:spPr>
          <a:xfrm>
            <a:off x="11823192" y="1534729"/>
            <a:ext cx="257204" cy="35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lang="en-US">
                <a:solidFill>
                  <a:srgbClr val="000000"/>
                </a:solidFill>
                <a:latin typeface="Times New Roman"/>
              </a:rPr>
              <a:t>h</a:t>
            </a:r>
          </a:p>
        </p:txBody>
      </p:sp>
      <p:sp>
        <p:nvSpPr>
          <p:cNvPr id="513" name="offset-approximation-0512 — ϕ"/>
          <p:cNvSpPr txBox="1"/>
          <p:nvPr/>
        </p:nvSpPr>
        <p:spPr>
          <a:xfrm>
            <a:off x="11978640" y="1722730"/>
            <a:ext cx="180723" cy="1810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514" name="offset-approximation-0513 — (1, 1)"/>
          <p:cNvSpPr txBox="1"/>
          <p:nvPr/>
        </p:nvSpPr>
        <p:spPr>
          <a:xfrm>
            <a:off x="12058193" y="1803105"/>
            <a:ext cx="287979" cy="108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8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515" name="offset-approximation-0514"/>
          <p:cNvSpPr/>
          <p:nvPr/>
        </p:nvSpPr>
        <p:spPr>
          <a:xfrm>
            <a:off x="11731752" y="1975104"/>
            <a:ext cx="1527048" cy="301752"/>
          </a:xfrm>
          <a:prstGeom prst="roundRect">
            <a:avLst>
              <a:gd name="adj" fmla="val 24242"/>
            </a:avLst>
          </a:prstGeom>
          <a:solidFill>
            <a:srgbClr val="C8B99B"/>
          </a:solidFill>
          <a:ln w="8229" cap="rnd">
            <a:solidFill>
              <a:srgbClr val="8D7C5E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16" name="offset-approximation-0515 — (Δ"/>
          <p:cNvSpPr txBox="1"/>
          <p:nvPr/>
        </p:nvSpPr>
        <p:spPr>
          <a:xfrm>
            <a:off x="11786616" y="1900123"/>
            <a:ext cx="395335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(Δ</a:t>
            </a:r>
          </a:p>
        </p:txBody>
      </p:sp>
      <p:sp>
        <p:nvSpPr>
          <p:cNvPr id="517" name="offset-approximation-0516 — k"/>
          <p:cNvSpPr txBox="1"/>
          <p:nvPr/>
        </p:nvSpPr>
        <p:spPr>
          <a:xfrm>
            <a:off x="12072223" y="1900123"/>
            <a:ext cx="272463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 lang="en-US">
                <a:solidFill>
                  <a:srgbClr val="000000"/>
                </a:solidFill>
                <a:latin typeface="Times New Roman"/>
              </a:rPr>
              <a:t>k</a:t>
            </a:r>
          </a:p>
        </p:txBody>
      </p:sp>
      <p:sp>
        <p:nvSpPr>
          <p:cNvPr id="518" name="offset-approximation-0517 — , Δ"/>
          <p:cNvSpPr txBox="1"/>
          <p:nvPr/>
        </p:nvSpPr>
        <p:spPr>
          <a:xfrm>
            <a:off x="12234958" y="1900123"/>
            <a:ext cx="428054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, Δ</a:t>
            </a:r>
          </a:p>
        </p:txBody>
      </p:sp>
      <p:sp>
        <p:nvSpPr>
          <p:cNvPr id="519" name="offset-approximation-0518 — v"/>
          <p:cNvSpPr txBox="1"/>
          <p:nvPr/>
        </p:nvSpPr>
        <p:spPr>
          <a:xfrm>
            <a:off x="12553283" y="1900123"/>
            <a:ext cx="256032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 lang="en-US">
                <a:solidFill>
                  <a:srgbClr val="000000"/>
                </a:solidFill>
                <a:latin typeface="Times New Roman"/>
              </a:rPr>
              <a:t>v</a:t>
            </a:r>
          </a:p>
        </p:txBody>
      </p:sp>
      <p:sp>
        <p:nvSpPr>
          <p:cNvPr id="520" name="offset-approximation-0519 — )"/>
          <p:cNvSpPr txBox="1"/>
          <p:nvPr/>
        </p:nvSpPr>
        <p:spPr>
          <a:xfrm>
            <a:off x="12699587" y="1900123"/>
            <a:ext cx="207169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)</a:t>
            </a:r>
          </a:p>
        </p:txBody>
      </p:sp>
      <p:sp>
        <p:nvSpPr>
          <p:cNvPr id="521" name="offset-approximation-0520 — ϕ"/>
          <p:cNvSpPr txBox="1"/>
          <p:nvPr/>
        </p:nvSpPr>
        <p:spPr>
          <a:xfrm>
            <a:off x="12815316" y="1932676"/>
            <a:ext cx="185452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522" name="offset-approximation-0521 — (1, 1)"/>
          <p:cNvSpPr txBox="1"/>
          <p:nvPr/>
        </p:nvSpPr>
        <p:spPr>
          <a:xfrm>
            <a:off x="12900172" y="2024116"/>
            <a:ext cx="287979" cy="108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8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523" name="offset-approximation-0522"/>
          <p:cNvSpPr/>
          <p:nvPr/>
        </p:nvSpPr>
        <p:spPr>
          <a:xfrm>
            <a:off x="11731752" y="2331720"/>
            <a:ext cx="1527048" cy="301752"/>
          </a:xfrm>
          <a:prstGeom prst="roundRect">
            <a:avLst>
              <a:gd name="adj" fmla="val 24242"/>
            </a:avLst>
          </a:prstGeom>
          <a:solidFill>
            <a:srgbClr val="C8B99B"/>
          </a:solidFill>
          <a:ln w="8229" cap="rnd">
            <a:solidFill>
              <a:srgbClr val="8D7C5E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24" name="offset-approximation-0523 — (Δ"/>
          <p:cNvSpPr txBox="1"/>
          <p:nvPr/>
        </p:nvSpPr>
        <p:spPr>
          <a:xfrm>
            <a:off x="11786616" y="2256739"/>
            <a:ext cx="395335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(Δ</a:t>
            </a:r>
          </a:p>
        </p:txBody>
      </p:sp>
      <p:sp>
        <p:nvSpPr>
          <p:cNvPr id="525" name="offset-approximation-0524 — k"/>
          <p:cNvSpPr txBox="1"/>
          <p:nvPr/>
        </p:nvSpPr>
        <p:spPr>
          <a:xfrm>
            <a:off x="12072223" y="2256739"/>
            <a:ext cx="272463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 lang="en-US">
                <a:solidFill>
                  <a:srgbClr val="000000"/>
                </a:solidFill>
                <a:latin typeface="Times New Roman"/>
              </a:rPr>
              <a:t>k</a:t>
            </a:r>
          </a:p>
        </p:txBody>
      </p:sp>
      <p:sp>
        <p:nvSpPr>
          <p:cNvPr id="526" name="offset-approximation-0525 — , Δ"/>
          <p:cNvSpPr txBox="1"/>
          <p:nvPr/>
        </p:nvSpPr>
        <p:spPr>
          <a:xfrm>
            <a:off x="12234958" y="2256739"/>
            <a:ext cx="428054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, Δ</a:t>
            </a:r>
          </a:p>
        </p:txBody>
      </p:sp>
      <p:sp>
        <p:nvSpPr>
          <p:cNvPr id="527" name="offset-approximation-0526 — v"/>
          <p:cNvSpPr txBox="1"/>
          <p:nvPr/>
        </p:nvSpPr>
        <p:spPr>
          <a:xfrm>
            <a:off x="12553283" y="2256739"/>
            <a:ext cx="256032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 lang="en-US">
                <a:solidFill>
                  <a:srgbClr val="000000"/>
                </a:solidFill>
                <a:latin typeface="Times New Roman"/>
              </a:rPr>
              <a:t>v</a:t>
            </a:r>
          </a:p>
        </p:txBody>
      </p:sp>
      <p:sp>
        <p:nvSpPr>
          <p:cNvPr id="528" name="offset-approximation-0527 — )"/>
          <p:cNvSpPr txBox="1"/>
          <p:nvPr/>
        </p:nvSpPr>
        <p:spPr>
          <a:xfrm>
            <a:off x="12699587" y="2256739"/>
            <a:ext cx="207169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)</a:t>
            </a:r>
          </a:p>
        </p:txBody>
      </p:sp>
      <p:sp>
        <p:nvSpPr>
          <p:cNvPr id="529" name="offset-approximation-0528 — p"/>
          <p:cNvSpPr txBox="1"/>
          <p:nvPr/>
        </p:nvSpPr>
        <p:spPr>
          <a:xfrm>
            <a:off x="12815316" y="2289292"/>
            <a:ext cx="191095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530" name="offset-approximation-0529 — (1, 1)"/>
          <p:cNvSpPr txBox="1"/>
          <p:nvPr/>
        </p:nvSpPr>
        <p:spPr>
          <a:xfrm>
            <a:off x="12897246" y="2380732"/>
            <a:ext cx="287979" cy="108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8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531" name="offset-approximation-0530"/>
          <p:cNvSpPr/>
          <p:nvPr/>
        </p:nvSpPr>
        <p:spPr>
          <a:xfrm>
            <a:off x="9601200" y="2734056"/>
            <a:ext cx="777240" cy="1746504"/>
          </a:xfrm>
          <a:prstGeom prst="rect">
            <a:avLst/>
          </a:prstGeom>
          <a:noFill/>
          <a:ln w="27432" cap="rnd">
            <a:solidFill>
              <a:srgbClr val="9E4F0F"/>
            </a:solidFill>
            <a:round/>
            <a:custDash>
              <a:ds d="600000" sp="300000"/>
            </a:custDash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32" name="offset-approximation-0531"/>
          <p:cNvSpPr/>
          <p:nvPr/>
        </p:nvSpPr>
        <p:spPr>
          <a:xfrm>
            <a:off x="9646920" y="2788920"/>
            <a:ext cx="667512" cy="356616"/>
          </a:xfrm>
          <a:prstGeom prst="roundRect">
            <a:avLst>
              <a:gd name="adj" fmla="val 10256"/>
            </a:avLst>
          </a:prstGeom>
          <a:solidFill>
            <a:srgbClr val="F6B181"/>
          </a:solidFill>
          <a:ln w="7315" cap="rnd">
            <a:solidFill>
              <a:srgbClr val="9D632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33" name="offset-approximation-0532 — ϕ"/>
          <p:cNvSpPr txBox="1"/>
          <p:nvPr/>
        </p:nvSpPr>
        <p:spPr>
          <a:xfrm>
            <a:off x="9705682" y="2741371"/>
            <a:ext cx="261176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534" name="offset-approximation-0533 — (1, 1)"/>
          <p:cNvSpPr txBox="1"/>
          <p:nvPr/>
        </p:nvSpPr>
        <p:spPr>
          <a:xfrm>
            <a:off x="9875394" y="2912839"/>
            <a:ext cx="490004" cy="2317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535" name="offset-approximation-0534"/>
          <p:cNvSpPr/>
          <p:nvPr/>
        </p:nvSpPr>
        <p:spPr>
          <a:xfrm>
            <a:off x="9646920" y="3657600"/>
            <a:ext cx="667512" cy="310896"/>
          </a:xfrm>
          <a:prstGeom prst="rect">
            <a:avLst/>
          </a:prstGeom>
          <a:solidFill>
            <a:srgbClr val="203D67"/>
          </a:solidFill>
          <a:ln w="8229" cap="rnd">
            <a:solidFill>
              <a:srgbClr val="A4BDD9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36" name="offset-approximation-0535 — p"/>
          <p:cNvSpPr txBox="1"/>
          <p:nvPr/>
        </p:nvSpPr>
        <p:spPr>
          <a:xfrm>
            <a:off x="9732132" y="3579386"/>
            <a:ext cx="251103" cy="3360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4" b="1" i="0" lang="en-US">
                <a:solidFill>
                  <a:srgbClr val="FFFFFF"/>
                </a:solidFill>
                <a:latin typeface="Times New Roman"/>
              </a:rPr>
              <a:t>p</a:t>
            </a:r>
          </a:p>
        </p:txBody>
      </p:sp>
      <p:sp>
        <p:nvSpPr>
          <p:cNvPr id="537" name="offset-approximation-0536 — (1, 1)"/>
          <p:cNvSpPr txBox="1"/>
          <p:nvPr/>
        </p:nvSpPr>
        <p:spPr>
          <a:xfrm>
            <a:off x="9874690" y="3716999"/>
            <a:ext cx="464258" cy="2162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0" lang="en-US">
                <a:solidFill>
                  <a:srgbClr val="FFFFFF"/>
                </a:solidFill>
                <a:latin typeface="Times New Roman"/>
              </a:rPr>
              <a:t>(1, 1)</a:t>
            </a:r>
          </a:p>
        </p:txBody>
      </p:sp>
      <p:sp>
        <p:nvSpPr>
          <p:cNvPr id="538" name="offset-approximation-0537"/>
          <p:cNvSpPr/>
          <p:nvPr/>
        </p:nvSpPr>
        <p:spPr>
          <a:xfrm>
            <a:off x="9834372" y="4302252"/>
            <a:ext cx="82296" cy="82296"/>
          </a:xfrm>
          <a:prstGeom prst="ellipse">
            <a:avLst/>
          </a:prstGeom>
          <a:solidFill>
            <a:srgbClr val="913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9" name="offset-approximation-0538"/>
          <p:cNvSpPr/>
          <p:nvPr/>
        </p:nvSpPr>
        <p:spPr>
          <a:xfrm>
            <a:off x="9953244" y="4302252"/>
            <a:ext cx="82296" cy="82296"/>
          </a:xfrm>
          <a:prstGeom prst="ellipse">
            <a:avLst/>
          </a:prstGeom>
          <a:solidFill>
            <a:srgbClr val="913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0" name="offset-approximation-0539"/>
          <p:cNvSpPr/>
          <p:nvPr/>
        </p:nvSpPr>
        <p:spPr>
          <a:xfrm>
            <a:off x="10072116" y="4302252"/>
            <a:ext cx="82296" cy="82296"/>
          </a:xfrm>
          <a:prstGeom prst="ellipse">
            <a:avLst/>
          </a:prstGeom>
          <a:solidFill>
            <a:srgbClr val="913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1" name="offset-approximation-0540 — ="/>
          <p:cNvSpPr txBox="1"/>
          <p:nvPr/>
        </p:nvSpPr>
        <p:spPr>
          <a:xfrm>
            <a:off x="10387584" y="2760025"/>
            <a:ext cx="259275" cy="35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 lang="en-US">
                <a:solidFill>
                  <a:srgbClr val="000000"/>
                </a:solidFill>
                <a:latin typeface="Times New Roman"/>
              </a:rPr>
              <a:t>=</a:t>
            </a:r>
          </a:p>
        </p:txBody>
      </p:sp>
      <p:sp>
        <p:nvSpPr>
          <p:cNvPr id="542" name="offset-approximation-0541"/>
          <p:cNvSpPr/>
          <p:nvPr/>
        </p:nvSpPr>
        <p:spPr>
          <a:xfrm>
            <a:off x="10597896" y="2798064"/>
            <a:ext cx="667512" cy="329184"/>
          </a:xfrm>
          <a:prstGeom prst="rect">
            <a:avLst/>
          </a:prstGeom>
          <a:solidFill>
            <a:srgbClr val="FFFFFF"/>
          </a:solidFill>
          <a:ln w="7315" cap="rnd">
            <a:solidFill>
              <a:srgbClr val="EEF0F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43" name="offset-approximation-0542"/>
          <p:cNvSpPr/>
          <p:nvPr/>
        </p:nvSpPr>
        <p:spPr>
          <a:xfrm>
            <a:off x="10616184" y="2807208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4" name="offset-approximation-0543"/>
          <p:cNvSpPr/>
          <p:nvPr/>
        </p:nvSpPr>
        <p:spPr>
          <a:xfrm>
            <a:off x="10616184" y="2807208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5" name="offset-approximation-0544"/>
          <p:cNvSpPr/>
          <p:nvPr/>
        </p:nvSpPr>
        <p:spPr>
          <a:xfrm>
            <a:off x="10616184" y="2807208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6" name="offset-approximation-0545"/>
          <p:cNvSpPr/>
          <p:nvPr/>
        </p:nvSpPr>
        <p:spPr>
          <a:xfrm>
            <a:off x="10616184" y="2807208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7" name="offset-approximation-0546"/>
          <p:cNvSpPr/>
          <p:nvPr/>
        </p:nvSpPr>
        <p:spPr>
          <a:xfrm>
            <a:off x="10616184" y="2807208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8" name="offset-approximation-0547"/>
          <p:cNvSpPr/>
          <p:nvPr/>
        </p:nvSpPr>
        <p:spPr>
          <a:xfrm>
            <a:off x="10616184" y="280720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19456" h="219456">
                <a:moveTo>
                  <a:pt x="0" y="219456"/>
                </a:moveTo>
                <a:lnTo>
                  <a:pt x="21945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9" name="offset-approximation-0548"/>
          <p:cNvSpPr/>
          <p:nvPr/>
        </p:nvSpPr>
        <p:spPr>
          <a:xfrm>
            <a:off x="10616184" y="2807208"/>
            <a:ext cx="256032" cy="256032"/>
          </a:xfrm>
          <a:custGeom>
            <a:avLst/>
            <a:gdLst/>
            <a:ahLst/>
            <a:cxnLst/>
            <a:rect l="0" t="0" r="r" b="b"/>
            <a:pathLst>
              <a:path w="256032" h="256032">
                <a:moveTo>
                  <a:pt x="0" y="256032"/>
                </a:moveTo>
                <a:lnTo>
                  <a:pt x="25603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0" name="offset-approximation-0549"/>
          <p:cNvSpPr/>
          <p:nvPr/>
        </p:nvSpPr>
        <p:spPr>
          <a:xfrm>
            <a:off x="10616184" y="2807208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292608" h="292608">
                <a:moveTo>
                  <a:pt x="0" y="292608"/>
                </a:moveTo>
                <a:lnTo>
                  <a:pt x="29260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1" name="offset-approximation-0550"/>
          <p:cNvSpPr/>
          <p:nvPr/>
        </p:nvSpPr>
        <p:spPr>
          <a:xfrm>
            <a:off x="10634472" y="2807208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310896" h="310896">
                <a:moveTo>
                  <a:pt x="0" y="310896"/>
                </a:moveTo>
                <a:lnTo>
                  <a:pt x="31089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2" name="offset-approximation-0551"/>
          <p:cNvSpPr/>
          <p:nvPr/>
        </p:nvSpPr>
        <p:spPr>
          <a:xfrm>
            <a:off x="10671048" y="2807208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310896" h="310896">
                <a:moveTo>
                  <a:pt x="0" y="310896"/>
                </a:moveTo>
                <a:lnTo>
                  <a:pt x="31089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3" name="offset-approximation-0552"/>
          <p:cNvSpPr/>
          <p:nvPr/>
        </p:nvSpPr>
        <p:spPr>
          <a:xfrm>
            <a:off x="10707624" y="2807208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310896" h="310896">
                <a:moveTo>
                  <a:pt x="0" y="310896"/>
                </a:moveTo>
                <a:lnTo>
                  <a:pt x="31089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4" name="offset-approximation-0553"/>
          <p:cNvSpPr/>
          <p:nvPr/>
        </p:nvSpPr>
        <p:spPr>
          <a:xfrm>
            <a:off x="10744200" y="2807208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310896" h="310896">
                <a:moveTo>
                  <a:pt x="0" y="310896"/>
                </a:moveTo>
                <a:lnTo>
                  <a:pt x="31089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5" name="offset-approximation-0554"/>
          <p:cNvSpPr/>
          <p:nvPr/>
        </p:nvSpPr>
        <p:spPr>
          <a:xfrm>
            <a:off x="10780776" y="2807208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310896" h="310896">
                <a:moveTo>
                  <a:pt x="0" y="310896"/>
                </a:moveTo>
                <a:lnTo>
                  <a:pt x="31089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6" name="offset-approximation-0555"/>
          <p:cNvSpPr/>
          <p:nvPr/>
        </p:nvSpPr>
        <p:spPr>
          <a:xfrm>
            <a:off x="10817352" y="2807208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310896" h="310896">
                <a:moveTo>
                  <a:pt x="0" y="310896"/>
                </a:moveTo>
                <a:lnTo>
                  <a:pt x="31089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7" name="offset-approximation-0556"/>
          <p:cNvSpPr/>
          <p:nvPr/>
        </p:nvSpPr>
        <p:spPr>
          <a:xfrm>
            <a:off x="10853928" y="2807208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310896" h="310896">
                <a:moveTo>
                  <a:pt x="0" y="310896"/>
                </a:moveTo>
                <a:lnTo>
                  <a:pt x="31089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8" name="offset-approximation-0557"/>
          <p:cNvSpPr/>
          <p:nvPr/>
        </p:nvSpPr>
        <p:spPr>
          <a:xfrm>
            <a:off x="10890504" y="2807208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310896" h="310896">
                <a:moveTo>
                  <a:pt x="0" y="310896"/>
                </a:moveTo>
                <a:lnTo>
                  <a:pt x="31089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9" name="offset-approximation-0558"/>
          <p:cNvSpPr/>
          <p:nvPr/>
        </p:nvSpPr>
        <p:spPr>
          <a:xfrm>
            <a:off x="10927080" y="2807208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310896" h="310896">
                <a:moveTo>
                  <a:pt x="0" y="310896"/>
                </a:moveTo>
                <a:lnTo>
                  <a:pt x="31089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0" name="offset-approximation-0559"/>
          <p:cNvSpPr/>
          <p:nvPr/>
        </p:nvSpPr>
        <p:spPr>
          <a:xfrm>
            <a:off x="10963656" y="2834640"/>
            <a:ext cx="283464" cy="283464"/>
          </a:xfrm>
          <a:custGeom>
            <a:avLst/>
            <a:gdLst/>
            <a:ahLst/>
            <a:cxnLst/>
            <a:rect l="0" t="0" r="r" b="b"/>
            <a:pathLst>
              <a:path w="283464" h="283464">
                <a:moveTo>
                  <a:pt x="0" y="283464"/>
                </a:moveTo>
                <a:lnTo>
                  <a:pt x="28346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1" name="offset-approximation-0560"/>
          <p:cNvSpPr/>
          <p:nvPr/>
        </p:nvSpPr>
        <p:spPr>
          <a:xfrm>
            <a:off x="11000232" y="2871216"/>
            <a:ext cx="246888" cy="246888"/>
          </a:xfrm>
          <a:custGeom>
            <a:avLst/>
            <a:gdLst/>
            <a:ahLst/>
            <a:cxnLst/>
            <a:rect l="0" t="0" r="r" b="b"/>
            <a:pathLst>
              <a:path w="246888" h="246888">
                <a:moveTo>
                  <a:pt x="0" y="246888"/>
                </a:moveTo>
                <a:lnTo>
                  <a:pt x="24688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2" name="offset-approximation-0561"/>
          <p:cNvSpPr/>
          <p:nvPr/>
        </p:nvSpPr>
        <p:spPr>
          <a:xfrm>
            <a:off x="11036808" y="2907792"/>
            <a:ext cx="210312" cy="210312"/>
          </a:xfrm>
          <a:custGeom>
            <a:avLst/>
            <a:gdLst/>
            <a:ahLst/>
            <a:cxnLst/>
            <a:rect l="0" t="0" r="r" b="b"/>
            <a:pathLst>
              <a:path w="210312" h="210312">
                <a:moveTo>
                  <a:pt x="0" y="210312"/>
                </a:moveTo>
                <a:lnTo>
                  <a:pt x="21031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3" name="offset-approximation-0562"/>
          <p:cNvSpPr/>
          <p:nvPr/>
        </p:nvSpPr>
        <p:spPr>
          <a:xfrm>
            <a:off x="11073384" y="2944368"/>
            <a:ext cx="173736" cy="173736"/>
          </a:xfrm>
          <a:custGeom>
            <a:avLst/>
            <a:gdLst/>
            <a:ahLst/>
            <a:cxnLst/>
            <a:rect l="0" t="0" r="r" b="b"/>
            <a:pathLst>
              <a:path w="173736" h="173736">
                <a:moveTo>
                  <a:pt x="0" y="173736"/>
                </a:moveTo>
                <a:lnTo>
                  <a:pt x="17373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4" name="offset-approximation-0563"/>
          <p:cNvSpPr/>
          <p:nvPr/>
        </p:nvSpPr>
        <p:spPr>
          <a:xfrm>
            <a:off x="11109960" y="2980944"/>
            <a:ext cx="137160" cy="137160"/>
          </a:xfrm>
          <a:custGeom>
            <a:avLst/>
            <a:gdLst/>
            <a:ahLst/>
            <a:cxnLst/>
            <a:rect l="0" t="0" r="r" b="b"/>
            <a:pathLst>
              <a:path w="137160" h="137160">
                <a:moveTo>
                  <a:pt x="0" y="137160"/>
                </a:moveTo>
                <a:lnTo>
                  <a:pt x="13716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5" name="offset-approximation-0564"/>
          <p:cNvSpPr/>
          <p:nvPr/>
        </p:nvSpPr>
        <p:spPr>
          <a:xfrm>
            <a:off x="11146536" y="3017520"/>
            <a:ext cx="100584" cy="100584"/>
          </a:xfrm>
          <a:custGeom>
            <a:avLst/>
            <a:gdLst/>
            <a:ahLst/>
            <a:cxnLst/>
            <a:rect l="0" t="0" r="r" b="b"/>
            <a:pathLst>
              <a:path w="100584" h="100584">
                <a:moveTo>
                  <a:pt x="0" y="100584"/>
                </a:moveTo>
                <a:lnTo>
                  <a:pt x="10058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6" name="offset-approximation-0565"/>
          <p:cNvSpPr/>
          <p:nvPr/>
        </p:nvSpPr>
        <p:spPr>
          <a:xfrm>
            <a:off x="11183112" y="3054096"/>
            <a:ext cx="64008" cy="64008"/>
          </a:xfrm>
          <a:custGeom>
            <a:avLst/>
            <a:gdLst/>
            <a:ahLst/>
            <a:cxnLst/>
            <a:rect l="0" t="0" r="r" b="b"/>
            <a:pathLst>
              <a:path w="64008" h="64008">
                <a:moveTo>
                  <a:pt x="0" y="64008"/>
                </a:moveTo>
                <a:lnTo>
                  <a:pt x="6400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7" name="offset-approximation-0566"/>
          <p:cNvSpPr/>
          <p:nvPr/>
        </p:nvSpPr>
        <p:spPr>
          <a:xfrm>
            <a:off x="11219688" y="3090672"/>
            <a:ext cx="27432" cy="27432"/>
          </a:xfrm>
          <a:custGeom>
            <a:avLst/>
            <a:gdLst/>
            <a:ahLst/>
            <a:cxnLst/>
            <a:rect l="0" t="0" r="r" b="b"/>
            <a:pathLst>
              <a:path w="27432" h="27432">
                <a:moveTo>
                  <a:pt x="0" y="27432"/>
                </a:moveTo>
                <a:lnTo>
                  <a:pt x="2743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8" name="offset-approximation-0567 — ϕ"/>
          <p:cNvSpPr txBox="1"/>
          <p:nvPr/>
        </p:nvSpPr>
        <p:spPr>
          <a:xfrm>
            <a:off x="10665253" y="2740274"/>
            <a:ext cx="256446" cy="3741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32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569" name="offset-approximation-0568 — (1, 1)"/>
          <p:cNvSpPr txBox="1"/>
          <p:nvPr/>
        </p:nvSpPr>
        <p:spPr>
          <a:xfrm>
            <a:off x="10829662" y="2906384"/>
            <a:ext cx="478117" cy="224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9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570" name="offset-approximation-0569 — +"/>
          <p:cNvSpPr txBox="1"/>
          <p:nvPr/>
        </p:nvSpPr>
        <p:spPr>
          <a:xfrm>
            <a:off x="11338560" y="2760391"/>
            <a:ext cx="254117" cy="3379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571" name="offset-approximation-0570 — w"/>
          <p:cNvSpPr txBox="1"/>
          <p:nvPr/>
        </p:nvSpPr>
        <p:spPr>
          <a:xfrm>
            <a:off x="11521440" y="2770266"/>
            <a:ext cx="268305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1" lang="en-US">
                <a:solidFill>
                  <a:srgbClr val="000000"/>
                </a:solidFill>
                <a:latin typeface="Times New Roman"/>
              </a:rPr>
              <a:t>w</a:t>
            </a:r>
          </a:p>
        </p:txBody>
      </p:sp>
      <p:sp>
        <p:nvSpPr>
          <p:cNvPr id="572" name="offset-approximation-0571 — 1"/>
          <p:cNvSpPr txBox="1"/>
          <p:nvPr/>
        </p:nvSpPr>
        <p:spPr>
          <a:xfrm>
            <a:off x="11675974" y="2905780"/>
            <a:ext cx="182880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en-US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573" name="offset-approximation-0572"/>
          <p:cNvSpPr/>
          <p:nvPr/>
        </p:nvSpPr>
        <p:spPr>
          <a:xfrm>
            <a:off x="11768328" y="2779776"/>
            <a:ext cx="1517904" cy="365760"/>
          </a:xfrm>
          <a:prstGeom prst="roundRect">
            <a:avLst>
              <a:gd name="adj" fmla="val 20000"/>
            </a:avLst>
          </a:prstGeom>
          <a:solidFill>
            <a:srgbClr val="C8B99B"/>
          </a:solidFill>
          <a:ln w="8229" cap="rnd">
            <a:solidFill>
              <a:srgbClr val="8D7C5E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74" name="offset-approximation-0573 — (Δ"/>
          <p:cNvSpPr txBox="1"/>
          <p:nvPr/>
        </p:nvSpPr>
        <p:spPr>
          <a:xfrm>
            <a:off x="11823192" y="2753441"/>
            <a:ext cx="395335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(Δ</a:t>
            </a:r>
          </a:p>
        </p:txBody>
      </p:sp>
      <p:sp>
        <p:nvSpPr>
          <p:cNvPr id="575" name="offset-approximation-0574 — k"/>
          <p:cNvSpPr txBox="1"/>
          <p:nvPr/>
        </p:nvSpPr>
        <p:spPr>
          <a:xfrm>
            <a:off x="12108799" y="2753441"/>
            <a:ext cx="272463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 lang="en-US">
                <a:solidFill>
                  <a:srgbClr val="000000"/>
                </a:solidFill>
                <a:latin typeface="Times New Roman"/>
              </a:rPr>
              <a:t>k</a:t>
            </a:r>
          </a:p>
        </p:txBody>
      </p:sp>
      <p:sp>
        <p:nvSpPr>
          <p:cNvPr id="576" name="offset-approximation-0575 — , Δ"/>
          <p:cNvSpPr txBox="1"/>
          <p:nvPr/>
        </p:nvSpPr>
        <p:spPr>
          <a:xfrm>
            <a:off x="12271534" y="2753441"/>
            <a:ext cx="428054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, Δ</a:t>
            </a:r>
          </a:p>
        </p:txBody>
      </p:sp>
      <p:sp>
        <p:nvSpPr>
          <p:cNvPr id="577" name="offset-approximation-0576 — v"/>
          <p:cNvSpPr txBox="1"/>
          <p:nvPr/>
        </p:nvSpPr>
        <p:spPr>
          <a:xfrm>
            <a:off x="12589859" y="2753441"/>
            <a:ext cx="256032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 lang="en-US">
                <a:solidFill>
                  <a:srgbClr val="000000"/>
                </a:solidFill>
                <a:latin typeface="Times New Roman"/>
              </a:rPr>
              <a:t>v</a:t>
            </a:r>
          </a:p>
        </p:txBody>
      </p:sp>
      <p:sp>
        <p:nvSpPr>
          <p:cNvPr id="578" name="offset-approximation-0577 — )"/>
          <p:cNvSpPr txBox="1"/>
          <p:nvPr/>
        </p:nvSpPr>
        <p:spPr>
          <a:xfrm>
            <a:off x="12736163" y="2753441"/>
            <a:ext cx="207169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)</a:t>
            </a:r>
          </a:p>
        </p:txBody>
      </p:sp>
      <p:sp>
        <p:nvSpPr>
          <p:cNvPr id="579" name="offset-approximation-0578 — ϕ"/>
          <p:cNvSpPr txBox="1"/>
          <p:nvPr/>
        </p:nvSpPr>
        <p:spPr>
          <a:xfrm>
            <a:off x="12851892" y="2737348"/>
            <a:ext cx="185452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580" name="offset-approximation-0579 — (1, 1)"/>
          <p:cNvSpPr txBox="1"/>
          <p:nvPr/>
        </p:nvSpPr>
        <p:spPr>
          <a:xfrm>
            <a:off x="12936748" y="2828788"/>
            <a:ext cx="287979" cy="108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8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581" name="offset-approximation-0580 — (1)"/>
          <p:cNvSpPr txBox="1"/>
          <p:nvPr/>
        </p:nvSpPr>
        <p:spPr>
          <a:xfrm>
            <a:off x="12851892" y="2947660"/>
            <a:ext cx="280321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en-US">
                <a:solidFill>
                  <a:srgbClr val="000000"/>
                </a:solidFill>
                <a:latin typeface="Times New Roman"/>
              </a:rPr>
              <a:t>(1)</a:t>
            </a:r>
          </a:p>
        </p:txBody>
      </p:sp>
      <p:sp>
        <p:nvSpPr>
          <p:cNvPr id="582" name="offset-approximation-0581 — +"/>
          <p:cNvSpPr txBox="1"/>
          <p:nvPr/>
        </p:nvSpPr>
        <p:spPr>
          <a:xfrm>
            <a:off x="10396728" y="3181015"/>
            <a:ext cx="254117" cy="3379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583" name="offset-approximation-0582 — w"/>
          <p:cNvSpPr txBox="1"/>
          <p:nvPr/>
        </p:nvSpPr>
        <p:spPr>
          <a:xfrm>
            <a:off x="10570464" y="3190890"/>
            <a:ext cx="268305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1" lang="en-US">
                <a:solidFill>
                  <a:srgbClr val="000000"/>
                </a:solidFill>
                <a:latin typeface="Times New Roman"/>
              </a:rPr>
              <a:t>w</a:t>
            </a:r>
          </a:p>
        </p:txBody>
      </p:sp>
      <p:sp>
        <p:nvSpPr>
          <p:cNvPr id="584" name="offset-approximation-0583 — 2"/>
          <p:cNvSpPr txBox="1"/>
          <p:nvPr/>
        </p:nvSpPr>
        <p:spPr>
          <a:xfrm>
            <a:off x="10724998" y="3326404"/>
            <a:ext cx="182880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en-US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585" name="offset-approximation-0584"/>
          <p:cNvSpPr/>
          <p:nvPr/>
        </p:nvSpPr>
        <p:spPr>
          <a:xfrm>
            <a:off x="10853928" y="3200400"/>
            <a:ext cx="1591056" cy="365760"/>
          </a:xfrm>
          <a:prstGeom prst="roundRect">
            <a:avLst>
              <a:gd name="adj" fmla="val 20000"/>
            </a:avLst>
          </a:prstGeom>
          <a:solidFill>
            <a:srgbClr val="C8B99B"/>
          </a:solidFill>
          <a:ln w="8229" cap="rnd">
            <a:solidFill>
              <a:srgbClr val="8D7C5E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86" name="offset-approximation-0585 — (Δ"/>
          <p:cNvSpPr txBox="1"/>
          <p:nvPr/>
        </p:nvSpPr>
        <p:spPr>
          <a:xfrm>
            <a:off x="10908792" y="3174065"/>
            <a:ext cx="395335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(Δ</a:t>
            </a:r>
          </a:p>
        </p:txBody>
      </p:sp>
      <p:sp>
        <p:nvSpPr>
          <p:cNvPr id="587" name="offset-approximation-0586 — k"/>
          <p:cNvSpPr txBox="1"/>
          <p:nvPr/>
        </p:nvSpPr>
        <p:spPr>
          <a:xfrm>
            <a:off x="11194399" y="3174065"/>
            <a:ext cx="272463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 lang="en-US">
                <a:solidFill>
                  <a:srgbClr val="000000"/>
                </a:solidFill>
                <a:latin typeface="Times New Roman"/>
              </a:rPr>
              <a:t>k</a:t>
            </a:r>
          </a:p>
        </p:txBody>
      </p:sp>
      <p:sp>
        <p:nvSpPr>
          <p:cNvPr id="588" name="offset-approximation-0587 — , Δ"/>
          <p:cNvSpPr txBox="1"/>
          <p:nvPr/>
        </p:nvSpPr>
        <p:spPr>
          <a:xfrm>
            <a:off x="11357134" y="3174065"/>
            <a:ext cx="428054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, Δ</a:t>
            </a:r>
          </a:p>
        </p:txBody>
      </p:sp>
      <p:sp>
        <p:nvSpPr>
          <p:cNvPr id="589" name="offset-approximation-0588 — v"/>
          <p:cNvSpPr txBox="1"/>
          <p:nvPr/>
        </p:nvSpPr>
        <p:spPr>
          <a:xfrm>
            <a:off x="11675459" y="3174065"/>
            <a:ext cx="256032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 lang="en-US">
                <a:solidFill>
                  <a:srgbClr val="000000"/>
                </a:solidFill>
                <a:latin typeface="Times New Roman"/>
              </a:rPr>
              <a:t>v</a:t>
            </a:r>
          </a:p>
        </p:txBody>
      </p:sp>
      <p:sp>
        <p:nvSpPr>
          <p:cNvPr id="590" name="offset-approximation-0589 — )"/>
          <p:cNvSpPr txBox="1"/>
          <p:nvPr/>
        </p:nvSpPr>
        <p:spPr>
          <a:xfrm>
            <a:off x="11821763" y="3174065"/>
            <a:ext cx="207169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)</a:t>
            </a:r>
          </a:p>
        </p:txBody>
      </p:sp>
      <p:sp>
        <p:nvSpPr>
          <p:cNvPr id="591" name="offset-approximation-0590 — ϕ"/>
          <p:cNvSpPr txBox="1"/>
          <p:nvPr/>
        </p:nvSpPr>
        <p:spPr>
          <a:xfrm>
            <a:off x="11937492" y="3157972"/>
            <a:ext cx="185452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592" name="offset-approximation-0591 — (1, 1)"/>
          <p:cNvSpPr txBox="1"/>
          <p:nvPr/>
        </p:nvSpPr>
        <p:spPr>
          <a:xfrm>
            <a:off x="12022348" y="3249412"/>
            <a:ext cx="287979" cy="108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8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593" name="offset-approximation-0592 — (2)"/>
          <p:cNvSpPr txBox="1"/>
          <p:nvPr/>
        </p:nvSpPr>
        <p:spPr>
          <a:xfrm>
            <a:off x="11937492" y="3368284"/>
            <a:ext cx="280321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en-US">
                <a:solidFill>
                  <a:srgbClr val="000000"/>
                </a:solidFill>
                <a:latin typeface="Times New Roman"/>
              </a:rPr>
              <a:t>(2)</a:t>
            </a:r>
          </a:p>
        </p:txBody>
      </p:sp>
      <p:sp>
        <p:nvSpPr>
          <p:cNvPr id="594" name="offset-approximation-0593 — ="/>
          <p:cNvSpPr txBox="1"/>
          <p:nvPr/>
        </p:nvSpPr>
        <p:spPr>
          <a:xfrm>
            <a:off x="10387584" y="3619561"/>
            <a:ext cx="259275" cy="35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 lang="en-US">
                <a:solidFill>
                  <a:srgbClr val="000000"/>
                </a:solidFill>
                <a:latin typeface="Times New Roman"/>
              </a:rPr>
              <a:t>=</a:t>
            </a:r>
          </a:p>
        </p:txBody>
      </p:sp>
      <p:sp>
        <p:nvSpPr>
          <p:cNvPr id="595" name="offset-approximation-0594"/>
          <p:cNvSpPr/>
          <p:nvPr/>
        </p:nvSpPr>
        <p:spPr>
          <a:xfrm>
            <a:off x="10634472" y="3657600"/>
            <a:ext cx="667512" cy="31089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96" name="offset-approximation-0595 — p"/>
          <p:cNvSpPr txBox="1"/>
          <p:nvPr/>
        </p:nvSpPr>
        <p:spPr>
          <a:xfrm>
            <a:off x="10726869" y="3587659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597" name="offset-approximation-0596 — (1, 1)"/>
          <p:cNvSpPr txBox="1"/>
          <p:nvPr/>
        </p:nvSpPr>
        <p:spPr>
          <a:xfrm>
            <a:off x="10864973" y="3720972"/>
            <a:ext cx="454342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598" name="offset-approximation-0597 — +"/>
          <p:cNvSpPr txBox="1"/>
          <p:nvPr/>
        </p:nvSpPr>
        <p:spPr>
          <a:xfrm>
            <a:off x="11338560" y="3601639"/>
            <a:ext cx="254117" cy="3379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599" name="offset-approximation-0598 — w"/>
          <p:cNvSpPr txBox="1"/>
          <p:nvPr/>
        </p:nvSpPr>
        <p:spPr>
          <a:xfrm>
            <a:off x="11521440" y="3611514"/>
            <a:ext cx="268305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1" lang="en-US">
                <a:solidFill>
                  <a:srgbClr val="000000"/>
                </a:solidFill>
                <a:latin typeface="Times New Roman"/>
              </a:rPr>
              <a:t>w</a:t>
            </a:r>
          </a:p>
        </p:txBody>
      </p:sp>
      <p:sp>
        <p:nvSpPr>
          <p:cNvPr id="600" name="offset-approximation-0599 — 1"/>
          <p:cNvSpPr txBox="1"/>
          <p:nvPr/>
        </p:nvSpPr>
        <p:spPr>
          <a:xfrm>
            <a:off x="11675974" y="3747028"/>
            <a:ext cx="182880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en-US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601" name="offset-approximation-0600"/>
          <p:cNvSpPr/>
          <p:nvPr/>
        </p:nvSpPr>
        <p:spPr>
          <a:xfrm>
            <a:off x="11768328" y="3611880"/>
            <a:ext cx="1517904" cy="365760"/>
          </a:xfrm>
          <a:prstGeom prst="roundRect">
            <a:avLst>
              <a:gd name="adj" fmla="val 20000"/>
            </a:avLst>
          </a:prstGeom>
          <a:solidFill>
            <a:srgbClr val="C8B99B"/>
          </a:solidFill>
          <a:ln w="8229" cap="rnd">
            <a:solidFill>
              <a:srgbClr val="8D7C5E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02" name="offset-approximation-0601 — (Δ"/>
          <p:cNvSpPr txBox="1"/>
          <p:nvPr/>
        </p:nvSpPr>
        <p:spPr>
          <a:xfrm>
            <a:off x="11823192" y="3585545"/>
            <a:ext cx="395335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(Δ</a:t>
            </a:r>
          </a:p>
        </p:txBody>
      </p:sp>
      <p:sp>
        <p:nvSpPr>
          <p:cNvPr id="603" name="offset-approximation-0602 — k"/>
          <p:cNvSpPr txBox="1"/>
          <p:nvPr/>
        </p:nvSpPr>
        <p:spPr>
          <a:xfrm>
            <a:off x="12108799" y="3585545"/>
            <a:ext cx="272463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 lang="en-US">
                <a:solidFill>
                  <a:srgbClr val="000000"/>
                </a:solidFill>
                <a:latin typeface="Times New Roman"/>
              </a:rPr>
              <a:t>k</a:t>
            </a:r>
          </a:p>
        </p:txBody>
      </p:sp>
      <p:sp>
        <p:nvSpPr>
          <p:cNvPr id="604" name="offset-approximation-0603 — , Δ"/>
          <p:cNvSpPr txBox="1"/>
          <p:nvPr/>
        </p:nvSpPr>
        <p:spPr>
          <a:xfrm>
            <a:off x="12271534" y="3585545"/>
            <a:ext cx="428054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, Δ</a:t>
            </a:r>
          </a:p>
        </p:txBody>
      </p:sp>
      <p:sp>
        <p:nvSpPr>
          <p:cNvPr id="605" name="offset-approximation-0604 — v"/>
          <p:cNvSpPr txBox="1"/>
          <p:nvPr/>
        </p:nvSpPr>
        <p:spPr>
          <a:xfrm>
            <a:off x="12589859" y="3585545"/>
            <a:ext cx="256032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 lang="en-US">
                <a:solidFill>
                  <a:srgbClr val="000000"/>
                </a:solidFill>
                <a:latin typeface="Times New Roman"/>
              </a:rPr>
              <a:t>v</a:t>
            </a:r>
          </a:p>
        </p:txBody>
      </p:sp>
      <p:sp>
        <p:nvSpPr>
          <p:cNvPr id="606" name="offset-approximation-0605 — )"/>
          <p:cNvSpPr txBox="1"/>
          <p:nvPr/>
        </p:nvSpPr>
        <p:spPr>
          <a:xfrm>
            <a:off x="12736163" y="3585545"/>
            <a:ext cx="207169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)</a:t>
            </a:r>
          </a:p>
        </p:txBody>
      </p:sp>
      <p:sp>
        <p:nvSpPr>
          <p:cNvPr id="607" name="offset-approximation-0606 — p"/>
          <p:cNvSpPr txBox="1"/>
          <p:nvPr/>
        </p:nvSpPr>
        <p:spPr>
          <a:xfrm>
            <a:off x="12851892" y="3569452"/>
            <a:ext cx="191095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608" name="offset-approximation-0607 — (1, 1)"/>
          <p:cNvSpPr txBox="1"/>
          <p:nvPr/>
        </p:nvSpPr>
        <p:spPr>
          <a:xfrm>
            <a:off x="12933822" y="3660892"/>
            <a:ext cx="287979" cy="108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8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609" name="offset-approximation-0608 — (1)"/>
          <p:cNvSpPr txBox="1"/>
          <p:nvPr/>
        </p:nvSpPr>
        <p:spPr>
          <a:xfrm>
            <a:off x="12851892" y="3779764"/>
            <a:ext cx="280321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en-US">
                <a:solidFill>
                  <a:srgbClr val="000000"/>
                </a:solidFill>
                <a:latin typeface="Times New Roman"/>
              </a:rPr>
              <a:t>(1)</a:t>
            </a:r>
          </a:p>
        </p:txBody>
      </p:sp>
      <p:sp>
        <p:nvSpPr>
          <p:cNvPr id="610" name="offset-approximation-0609 — +"/>
          <p:cNvSpPr txBox="1"/>
          <p:nvPr/>
        </p:nvSpPr>
        <p:spPr>
          <a:xfrm>
            <a:off x="10396728" y="4022263"/>
            <a:ext cx="254117" cy="3379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611" name="offset-approximation-0610 — w"/>
          <p:cNvSpPr txBox="1"/>
          <p:nvPr/>
        </p:nvSpPr>
        <p:spPr>
          <a:xfrm>
            <a:off x="10570464" y="4032138"/>
            <a:ext cx="268305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1" lang="en-US">
                <a:solidFill>
                  <a:srgbClr val="000000"/>
                </a:solidFill>
                <a:latin typeface="Times New Roman"/>
              </a:rPr>
              <a:t>w</a:t>
            </a:r>
          </a:p>
        </p:txBody>
      </p:sp>
      <p:sp>
        <p:nvSpPr>
          <p:cNvPr id="612" name="offset-approximation-0611 — 2"/>
          <p:cNvSpPr txBox="1"/>
          <p:nvPr/>
        </p:nvSpPr>
        <p:spPr>
          <a:xfrm>
            <a:off x="10724998" y="4167652"/>
            <a:ext cx="182880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en-US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613" name="offset-approximation-0612"/>
          <p:cNvSpPr/>
          <p:nvPr/>
        </p:nvSpPr>
        <p:spPr>
          <a:xfrm>
            <a:off x="10853928" y="4041648"/>
            <a:ext cx="1591056" cy="356616"/>
          </a:xfrm>
          <a:prstGeom prst="roundRect">
            <a:avLst>
              <a:gd name="adj" fmla="val 20512"/>
            </a:avLst>
          </a:prstGeom>
          <a:solidFill>
            <a:srgbClr val="C8B99B"/>
          </a:solidFill>
          <a:ln w="8229" cap="rnd">
            <a:solidFill>
              <a:srgbClr val="8D7C5E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14" name="offset-approximation-0613 — (Δ"/>
          <p:cNvSpPr txBox="1"/>
          <p:nvPr/>
        </p:nvSpPr>
        <p:spPr>
          <a:xfrm>
            <a:off x="10908792" y="4008364"/>
            <a:ext cx="395335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(Δ</a:t>
            </a:r>
          </a:p>
        </p:txBody>
      </p:sp>
      <p:sp>
        <p:nvSpPr>
          <p:cNvPr id="615" name="offset-approximation-0614 — k"/>
          <p:cNvSpPr txBox="1"/>
          <p:nvPr/>
        </p:nvSpPr>
        <p:spPr>
          <a:xfrm>
            <a:off x="11194399" y="4008364"/>
            <a:ext cx="272463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 lang="en-US">
                <a:solidFill>
                  <a:srgbClr val="000000"/>
                </a:solidFill>
                <a:latin typeface="Times New Roman"/>
              </a:rPr>
              <a:t>k</a:t>
            </a:r>
          </a:p>
        </p:txBody>
      </p:sp>
      <p:sp>
        <p:nvSpPr>
          <p:cNvPr id="616" name="offset-approximation-0615 — , Δ"/>
          <p:cNvSpPr txBox="1"/>
          <p:nvPr/>
        </p:nvSpPr>
        <p:spPr>
          <a:xfrm>
            <a:off x="11357134" y="4008364"/>
            <a:ext cx="428054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, Δ</a:t>
            </a:r>
          </a:p>
        </p:txBody>
      </p:sp>
      <p:sp>
        <p:nvSpPr>
          <p:cNvPr id="617" name="offset-approximation-0616 — v"/>
          <p:cNvSpPr txBox="1"/>
          <p:nvPr/>
        </p:nvSpPr>
        <p:spPr>
          <a:xfrm>
            <a:off x="11675459" y="4008364"/>
            <a:ext cx="256032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 lang="en-US">
                <a:solidFill>
                  <a:srgbClr val="000000"/>
                </a:solidFill>
                <a:latin typeface="Times New Roman"/>
              </a:rPr>
              <a:t>v</a:t>
            </a:r>
          </a:p>
        </p:txBody>
      </p:sp>
      <p:sp>
        <p:nvSpPr>
          <p:cNvPr id="618" name="offset-approximation-0617 — )"/>
          <p:cNvSpPr txBox="1"/>
          <p:nvPr/>
        </p:nvSpPr>
        <p:spPr>
          <a:xfrm>
            <a:off x="11821763" y="4008364"/>
            <a:ext cx="207169" cy="3862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lang="en-US">
                <a:solidFill>
                  <a:srgbClr val="000000"/>
                </a:solidFill>
                <a:latin typeface="Times New Roman"/>
              </a:rPr>
              <a:t>)</a:t>
            </a:r>
          </a:p>
        </p:txBody>
      </p:sp>
      <p:sp>
        <p:nvSpPr>
          <p:cNvPr id="619" name="offset-approximation-0618 — p"/>
          <p:cNvSpPr txBox="1"/>
          <p:nvPr/>
        </p:nvSpPr>
        <p:spPr>
          <a:xfrm>
            <a:off x="11937492" y="3999220"/>
            <a:ext cx="191095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620" name="offset-approximation-0619 — (1, 1)"/>
          <p:cNvSpPr txBox="1"/>
          <p:nvPr/>
        </p:nvSpPr>
        <p:spPr>
          <a:xfrm>
            <a:off x="12019422" y="4090660"/>
            <a:ext cx="287979" cy="108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8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621" name="offset-approximation-0620 — (2)"/>
          <p:cNvSpPr txBox="1"/>
          <p:nvPr/>
        </p:nvSpPr>
        <p:spPr>
          <a:xfrm>
            <a:off x="11937492" y="4200388"/>
            <a:ext cx="280321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en-US">
                <a:solidFill>
                  <a:srgbClr val="000000"/>
                </a:solidFill>
                <a:latin typeface="Times New Roman"/>
              </a:rPr>
              <a:t>(2)</a:t>
            </a:r>
          </a:p>
        </p:txBody>
      </p:sp>
      <p:sp>
        <p:nvSpPr>
          <p:cNvPr id="622" name="offset-approximation-0621"/>
          <p:cNvSpPr/>
          <p:nvPr/>
        </p:nvSpPr>
        <p:spPr>
          <a:xfrm>
            <a:off x="5349240" y="4498848"/>
            <a:ext cx="4645152" cy="137160"/>
          </a:xfrm>
          <a:custGeom>
            <a:avLst/>
            <a:gdLst/>
            <a:ahLst/>
            <a:cxnLst/>
            <a:rect l="0" t="0" r="r" b="b"/>
            <a:pathLst>
              <a:path w="4645152" h="137160">
                <a:moveTo>
                  <a:pt x="4645152" y="0"/>
                </a:moveTo>
                <a:lnTo>
                  <a:pt x="4645152" y="137160"/>
                </a:lnTo>
                <a:lnTo>
                  <a:pt x="0" y="137160"/>
                </a:lnTo>
              </a:path>
            </a:pathLst>
          </a:custGeom>
          <a:noFill/>
          <a:ln w="27432" cap="rnd">
            <a:solidFill>
              <a:srgbClr val="9E4F0F"/>
            </a:solidFill>
            <a:round/>
            <a:custDash>
              <a:ds d="666667" sp="600000"/>
            </a:custDash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23" name="anchor-prediction-0622"/>
          <p:cNvSpPr/>
          <p:nvPr/>
        </p:nvSpPr>
        <p:spPr>
          <a:xfrm>
            <a:off x="13569696" y="1197864"/>
            <a:ext cx="1700784" cy="368503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27432" cap="rnd">
            <a:solidFill>
              <a:srgbClr val="C75A0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4" name="anchor-prediction-0623"/>
          <p:cNvSpPr/>
          <p:nvPr/>
        </p:nvSpPr>
        <p:spPr>
          <a:xfrm>
            <a:off x="13651992" y="1289304"/>
            <a:ext cx="1536192" cy="1408176"/>
          </a:xfrm>
          <a:prstGeom prst="rect">
            <a:avLst/>
          </a:prstGeom>
          <a:solidFill>
            <a:srgbClr val="FFFFFF"/>
          </a:solidFill>
          <a:ln w="27432" cap="rnd">
            <a:solidFill>
              <a:srgbClr val="80748F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25" name="anchor-prediction-0624"/>
          <p:cNvSpPr/>
          <p:nvPr/>
        </p:nvSpPr>
        <p:spPr>
          <a:xfrm>
            <a:off x="13651992" y="1289304"/>
            <a:ext cx="1536192" cy="320040"/>
          </a:xfrm>
          <a:prstGeom prst="rect">
            <a:avLst/>
          </a:prstGeom>
          <a:solidFill>
            <a:srgbClr val="BEB5C9"/>
          </a:solidFill>
          <a:ln w="27432" cap="rnd">
            <a:solidFill>
              <a:srgbClr val="80748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6" name="anchor-prediction-0625 — h"/>
          <p:cNvSpPr txBox="1"/>
          <p:nvPr/>
        </p:nvSpPr>
        <p:spPr>
          <a:xfrm>
            <a:off x="13761720" y="1232611"/>
            <a:ext cx="262290" cy="3621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lang="en-US">
                <a:solidFill>
                  <a:srgbClr val="000000"/>
                </a:solidFill>
                <a:latin typeface="Times New Roman"/>
              </a:rPr>
              <a:t>h</a:t>
            </a:r>
          </a:p>
        </p:txBody>
      </p:sp>
      <p:sp>
        <p:nvSpPr>
          <p:cNvPr id="627" name="anchor-prediction-0626 — φ"/>
          <p:cNvSpPr txBox="1"/>
          <p:nvPr/>
        </p:nvSpPr>
        <p:spPr>
          <a:xfrm>
            <a:off x="13923569" y="1412382"/>
            <a:ext cx="194167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en-US">
                <a:solidFill>
                  <a:srgbClr val="000000"/>
                </a:solidFill>
                <a:latin typeface="Times New Roman"/>
              </a:rPr>
              <a:t>φ</a:t>
            </a:r>
          </a:p>
        </p:txBody>
      </p:sp>
      <p:sp>
        <p:nvSpPr>
          <p:cNvPr id="628" name="anchor-prediction-0627 — Unmatched"/>
          <p:cNvSpPr txBox="1"/>
          <p:nvPr/>
        </p:nvSpPr>
        <p:spPr>
          <a:xfrm>
            <a:off x="14100048" y="1318656"/>
            <a:ext cx="1155387" cy="2534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en-US">
                <a:solidFill>
                  <a:srgbClr val="000000"/>
                </a:solidFill>
                <a:latin typeface="Arial"/>
              </a:rPr>
              <a:t>Unmatched</a:t>
            </a:r>
          </a:p>
        </p:txBody>
      </p:sp>
      <p:sp>
        <p:nvSpPr>
          <p:cNvPr id="629" name="anchor-prediction-0628"/>
          <p:cNvSpPr/>
          <p:nvPr/>
        </p:nvSpPr>
        <p:spPr>
          <a:xfrm>
            <a:off x="14465808" y="1901952"/>
            <a:ext cx="512064" cy="512064"/>
          </a:xfrm>
          <a:prstGeom prst="ellipse">
            <a:avLst/>
          </a:prstGeom>
          <a:solidFill>
            <a:srgbClr val="DCE2F3"/>
          </a:solidFill>
          <a:ln w="5486" cap="rnd">
            <a:solidFill>
              <a:srgbClr val="D2D6E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0" name="anchor-prediction-0629"/>
          <p:cNvSpPr/>
          <p:nvPr/>
        </p:nvSpPr>
        <p:spPr>
          <a:xfrm>
            <a:off x="13793724" y="1668780"/>
            <a:ext cx="118872" cy="118872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1" name="anchor-prediction-0630"/>
          <p:cNvSpPr/>
          <p:nvPr/>
        </p:nvSpPr>
        <p:spPr>
          <a:xfrm>
            <a:off x="14241780" y="1961388"/>
            <a:ext cx="118872" cy="118872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2" name="anchor-prediction-0631"/>
          <p:cNvSpPr/>
          <p:nvPr/>
        </p:nvSpPr>
        <p:spPr>
          <a:xfrm>
            <a:off x="14726412" y="1796796"/>
            <a:ext cx="118872" cy="118872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3" name="anchor-prediction-0632"/>
          <p:cNvSpPr/>
          <p:nvPr/>
        </p:nvSpPr>
        <p:spPr>
          <a:xfrm>
            <a:off x="13866876" y="2235708"/>
            <a:ext cx="118872" cy="118872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4" name="anchor-prediction-0633"/>
          <p:cNvSpPr/>
          <p:nvPr/>
        </p:nvSpPr>
        <p:spPr>
          <a:xfrm>
            <a:off x="14543532" y="2391156"/>
            <a:ext cx="118872" cy="118872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5" name="anchor-prediction-0634"/>
          <p:cNvSpPr/>
          <p:nvPr/>
        </p:nvSpPr>
        <p:spPr>
          <a:xfrm>
            <a:off x="14772132" y="2391156"/>
            <a:ext cx="118872" cy="118872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6" name="anchor-prediction-0635"/>
          <p:cNvSpPr/>
          <p:nvPr/>
        </p:nvSpPr>
        <p:spPr>
          <a:xfrm>
            <a:off x="14626179" y="2048256"/>
            <a:ext cx="191322" cy="181958"/>
          </a:xfrm>
          <a:custGeom>
            <a:avLst/>
            <a:gdLst/>
            <a:ahLst/>
            <a:cxnLst/>
            <a:rect l="0" t="0" r="r" b="b"/>
            <a:pathLst>
              <a:path w="191322" h="181958">
                <a:moveTo>
                  <a:pt x="95661" y="0"/>
                </a:moveTo>
                <a:lnTo>
                  <a:pt x="118127" y="69662"/>
                </a:lnTo>
                <a:lnTo>
                  <a:pt x="191322" y="69502"/>
                </a:lnTo>
                <a:lnTo>
                  <a:pt x="132012" y="112395"/>
                </a:lnTo>
                <a:lnTo>
                  <a:pt x="154783" y="181958"/>
                </a:lnTo>
                <a:lnTo>
                  <a:pt x="95661" y="138806"/>
                </a:lnTo>
                <a:lnTo>
                  <a:pt x="36539" y="181958"/>
                </a:lnTo>
                <a:lnTo>
                  <a:pt x="59310" y="112395"/>
                </a:lnTo>
                <a:lnTo>
                  <a:pt x="0" y="69502"/>
                </a:lnTo>
                <a:lnTo>
                  <a:pt x="73195" y="69662"/>
                </a:lnTo>
                <a:close/>
              </a:path>
            </a:pathLst>
          </a:custGeom>
          <a:solidFill>
            <a:srgbClr val="F6B181"/>
          </a:solidFill>
          <a:ln w="6858" cap="rnd">
            <a:solidFill>
              <a:srgbClr val="895223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37" name="anchor-prediction-0636 — OR"/>
          <p:cNvSpPr txBox="1"/>
          <p:nvPr/>
        </p:nvSpPr>
        <p:spPr>
          <a:xfrm>
            <a:off x="14248602" y="2696748"/>
            <a:ext cx="452699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 i="1" lang="en-US">
                <a:solidFill>
                  <a:srgbClr val="000000"/>
                </a:solidFill>
                <a:latin typeface="Times New Roman"/>
              </a:rPr>
              <a:t>OR</a:t>
            </a:r>
          </a:p>
        </p:txBody>
      </p:sp>
      <p:sp>
        <p:nvSpPr>
          <p:cNvPr id="638" name="anchor-prediction-0637"/>
          <p:cNvSpPr/>
          <p:nvPr/>
        </p:nvSpPr>
        <p:spPr>
          <a:xfrm>
            <a:off x="13651992" y="3054096"/>
            <a:ext cx="1536192" cy="1417320"/>
          </a:xfrm>
          <a:prstGeom prst="rect">
            <a:avLst/>
          </a:prstGeom>
          <a:solidFill>
            <a:srgbClr val="FFFFFF"/>
          </a:solidFill>
          <a:ln w="27432" cap="rnd">
            <a:solidFill>
              <a:srgbClr val="80748F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39" name="anchor-prediction-0638"/>
          <p:cNvSpPr/>
          <p:nvPr/>
        </p:nvSpPr>
        <p:spPr>
          <a:xfrm>
            <a:off x="13651992" y="3054096"/>
            <a:ext cx="1536192" cy="283464"/>
          </a:xfrm>
          <a:prstGeom prst="rect">
            <a:avLst/>
          </a:prstGeom>
          <a:solidFill>
            <a:srgbClr val="BEB5C9"/>
          </a:solidFill>
          <a:ln w="27432" cap="rnd">
            <a:solidFill>
              <a:srgbClr val="80748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0" name="anchor-prediction-0639 — Length Uncover"/>
          <p:cNvSpPr txBox="1"/>
          <p:nvPr/>
        </p:nvSpPr>
        <p:spPr>
          <a:xfrm>
            <a:off x="13689240" y="3065160"/>
            <a:ext cx="1571425" cy="2534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en-US">
                <a:solidFill>
                  <a:srgbClr val="000000"/>
                </a:solidFill>
                <a:latin typeface="Arial"/>
              </a:rPr>
              <a:t>Length Uncover</a:t>
            </a:r>
          </a:p>
        </p:txBody>
      </p:sp>
      <p:sp>
        <p:nvSpPr>
          <p:cNvPr id="641" name="anchor-prediction-0640"/>
          <p:cNvSpPr/>
          <p:nvPr/>
        </p:nvSpPr>
        <p:spPr>
          <a:xfrm>
            <a:off x="13789152" y="3429000"/>
            <a:ext cx="731520" cy="128016"/>
          </a:xfrm>
          <a:prstGeom prst="roundRect">
            <a:avLst>
              <a:gd name="adj" fmla="val 42857"/>
            </a:avLst>
          </a:prstGeom>
          <a:solidFill>
            <a:srgbClr val="C8B99B"/>
          </a:solidFill>
          <a:ln w="7315" cap="rnd">
            <a:solidFill>
              <a:srgbClr val="8E7D61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42" name="anchor-prediction-0641"/>
          <p:cNvSpPr/>
          <p:nvPr/>
        </p:nvSpPr>
        <p:spPr>
          <a:xfrm>
            <a:off x="13789152" y="3639312"/>
            <a:ext cx="502920" cy="128016"/>
          </a:xfrm>
          <a:prstGeom prst="roundRect">
            <a:avLst>
              <a:gd name="adj" fmla="val 42857"/>
            </a:avLst>
          </a:prstGeom>
          <a:solidFill>
            <a:srgbClr val="C8B99B"/>
          </a:solidFill>
          <a:ln w="7315" cap="rnd">
            <a:solidFill>
              <a:srgbClr val="8E7D61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43" name="anchor-prediction-0642"/>
          <p:cNvSpPr/>
          <p:nvPr/>
        </p:nvSpPr>
        <p:spPr>
          <a:xfrm>
            <a:off x="13789152" y="3849624"/>
            <a:ext cx="905256" cy="128016"/>
          </a:xfrm>
          <a:prstGeom prst="roundRect">
            <a:avLst>
              <a:gd name="adj" fmla="val 42857"/>
            </a:avLst>
          </a:prstGeom>
          <a:solidFill>
            <a:srgbClr val="C8B99B"/>
          </a:solidFill>
          <a:ln w="7315" cap="rnd">
            <a:solidFill>
              <a:srgbClr val="8E7D61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44" name="anchor-prediction-0643"/>
          <p:cNvSpPr/>
          <p:nvPr/>
        </p:nvSpPr>
        <p:spPr>
          <a:xfrm>
            <a:off x="13789152" y="4059936"/>
            <a:ext cx="1161288" cy="128016"/>
          </a:xfrm>
          <a:prstGeom prst="roundRect">
            <a:avLst>
              <a:gd name="adj" fmla="val 42857"/>
            </a:avLst>
          </a:prstGeom>
          <a:solidFill>
            <a:srgbClr val="F6B181"/>
          </a:solidFill>
          <a:ln w="7315" cap="rnd">
            <a:solidFill>
              <a:srgbClr val="C75A08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45" name="anchor-prediction-0644"/>
          <p:cNvSpPr/>
          <p:nvPr/>
        </p:nvSpPr>
        <p:spPr>
          <a:xfrm>
            <a:off x="14273784" y="4535424"/>
            <a:ext cx="292608" cy="292608"/>
          </a:xfrm>
          <a:prstGeom prst="ellipse">
            <a:avLst/>
          </a:prstGeom>
          <a:solidFill>
            <a:srgbClr val="C75A08"/>
          </a:solidFill>
          <a:ln w="4114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6" name="anchor-prediction-0645"/>
          <p:cNvSpPr/>
          <p:nvPr/>
        </p:nvSpPr>
        <p:spPr>
          <a:xfrm>
            <a:off x="14348399" y="4681728"/>
            <a:ext cx="143378" cy="91"/>
          </a:xfrm>
          <a:custGeom>
            <a:avLst/>
            <a:gdLst/>
            <a:ahLst/>
            <a:cxnLst/>
            <a:rect l="0" t="0" r="r" b="b"/>
            <a:pathLst>
              <a:path w="143378" h="91">
                <a:moveTo>
                  <a:pt x="0" y="0"/>
                </a:moveTo>
                <a:lnTo>
                  <a:pt x="143378" y="0"/>
                </a:lnTo>
              </a:path>
            </a:pathLst>
          </a:custGeom>
          <a:noFill/>
          <a:ln w="1920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7" name="anchor-prediction-0646"/>
          <p:cNvSpPr/>
          <p:nvPr/>
        </p:nvSpPr>
        <p:spPr>
          <a:xfrm>
            <a:off x="14420088" y="4610039"/>
            <a:ext cx="91" cy="143378"/>
          </a:xfrm>
          <a:custGeom>
            <a:avLst/>
            <a:gdLst/>
            <a:ahLst/>
            <a:cxnLst/>
            <a:rect l="0" t="0" r="r" b="b"/>
            <a:pathLst>
              <a:path w="91" h="143378">
                <a:moveTo>
                  <a:pt x="0" y="0"/>
                </a:moveTo>
                <a:lnTo>
                  <a:pt x="0" y="143378"/>
                </a:lnTo>
              </a:path>
            </a:pathLst>
          </a:custGeom>
          <a:noFill/>
          <a:ln w="1920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8" name="anchor-prediction-0647"/>
          <p:cNvSpPr/>
          <p:nvPr/>
        </p:nvSpPr>
        <p:spPr>
          <a:xfrm>
            <a:off x="15307056" y="1197864"/>
            <a:ext cx="1700784" cy="368503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27432" cap="rnd">
            <a:solidFill>
              <a:srgbClr val="54863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9" name="anchor-prediction-0648"/>
          <p:cNvSpPr/>
          <p:nvPr/>
        </p:nvSpPr>
        <p:spPr>
          <a:xfrm>
            <a:off x="15389352" y="1289304"/>
            <a:ext cx="1536192" cy="1408176"/>
          </a:xfrm>
          <a:prstGeom prst="rect">
            <a:avLst/>
          </a:prstGeom>
          <a:solidFill>
            <a:srgbClr val="FFFFFF"/>
          </a:solidFill>
          <a:ln w="27432" cap="rnd">
            <a:solidFill>
              <a:srgbClr val="80748F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50" name="anchor-prediction-0649"/>
          <p:cNvSpPr/>
          <p:nvPr/>
        </p:nvSpPr>
        <p:spPr>
          <a:xfrm>
            <a:off x="15389352" y="1289304"/>
            <a:ext cx="1536192" cy="320040"/>
          </a:xfrm>
          <a:prstGeom prst="rect">
            <a:avLst/>
          </a:prstGeom>
          <a:solidFill>
            <a:srgbClr val="BEB5C9"/>
          </a:solidFill>
          <a:ln w="27432" cap="rnd">
            <a:solidFill>
              <a:srgbClr val="80748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1" name="anchor-prediction-0650 — h"/>
          <p:cNvSpPr txBox="1"/>
          <p:nvPr/>
        </p:nvSpPr>
        <p:spPr>
          <a:xfrm>
            <a:off x="15499080" y="1232611"/>
            <a:ext cx="262290" cy="3621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lang="en-US">
                <a:solidFill>
                  <a:srgbClr val="000000"/>
                </a:solidFill>
                <a:latin typeface="Times New Roman"/>
              </a:rPr>
              <a:t>h</a:t>
            </a:r>
          </a:p>
        </p:txBody>
      </p:sp>
      <p:sp>
        <p:nvSpPr>
          <p:cNvPr id="652" name="anchor-prediction-0651 — φ"/>
          <p:cNvSpPr txBox="1"/>
          <p:nvPr/>
        </p:nvSpPr>
        <p:spPr>
          <a:xfrm>
            <a:off x="15660929" y="1412382"/>
            <a:ext cx="194167" cy="1931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en-US">
                <a:solidFill>
                  <a:srgbClr val="000000"/>
                </a:solidFill>
                <a:latin typeface="Times New Roman"/>
              </a:rPr>
              <a:t>φ</a:t>
            </a:r>
          </a:p>
        </p:txBody>
      </p:sp>
      <p:sp>
        <p:nvSpPr>
          <p:cNvPr id="653" name="anchor-prediction-0652 — Matched"/>
          <p:cNvSpPr txBox="1"/>
          <p:nvPr/>
        </p:nvSpPr>
        <p:spPr>
          <a:xfrm>
            <a:off x="15837408" y="1318656"/>
            <a:ext cx="888640" cy="2534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en-US">
                <a:solidFill>
                  <a:srgbClr val="000000"/>
                </a:solidFill>
                <a:latin typeface="Arial"/>
              </a:rPr>
              <a:t>Matched</a:t>
            </a:r>
          </a:p>
        </p:txBody>
      </p:sp>
      <p:sp>
        <p:nvSpPr>
          <p:cNvPr id="654" name="anchor-prediction-0653"/>
          <p:cNvSpPr/>
          <p:nvPr/>
        </p:nvSpPr>
        <p:spPr>
          <a:xfrm>
            <a:off x="16002000" y="1883664"/>
            <a:ext cx="512064" cy="512064"/>
          </a:xfrm>
          <a:prstGeom prst="ellipse">
            <a:avLst/>
          </a:prstGeom>
          <a:solidFill>
            <a:srgbClr val="DCE2F3"/>
          </a:solidFill>
          <a:ln w="5486" cap="rnd">
            <a:solidFill>
              <a:srgbClr val="D2D6E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5" name="anchor-prediction-0654"/>
          <p:cNvSpPr/>
          <p:nvPr/>
        </p:nvSpPr>
        <p:spPr>
          <a:xfrm>
            <a:off x="15686532" y="1714500"/>
            <a:ext cx="118872" cy="118872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6" name="anchor-prediction-0655"/>
          <p:cNvSpPr/>
          <p:nvPr/>
        </p:nvSpPr>
        <p:spPr>
          <a:xfrm>
            <a:off x="16244316" y="1613916"/>
            <a:ext cx="118872" cy="118872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7" name="anchor-prediction-0656"/>
          <p:cNvSpPr/>
          <p:nvPr/>
        </p:nvSpPr>
        <p:spPr>
          <a:xfrm>
            <a:off x="15988284" y="1970532"/>
            <a:ext cx="118872" cy="118872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8" name="anchor-prediction-0657"/>
          <p:cNvSpPr/>
          <p:nvPr/>
        </p:nvSpPr>
        <p:spPr>
          <a:xfrm>
            <a:off x="16216884" y="1879092"/>
            <a:ext cx="118872" cy="118872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9" name="anchor-prediction-0658"/>
          <p:cNvSpPr/>
          <p:nvPr/>
        </p:nvSpPr>
        <p:spPr>
          <a:xfrm>
            <a:off x="16500348" y="1879092"/>
            <a:ext cx="118872" cy="118872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0" name="anchor-prediction-0659"/>
          <p:cNvSpPr/>
          <p:nvPr/>
        </p:nvSpPr>
        <p:spPr>
          <a:xfrm>
            <a:off x="15915132" y="2263140"/>
            <a:ext cx="118872" cy="118872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1" name="anchor-prediction-0660"/>
          <p:cNvSpPr/>
          <p:nvPr/>
        </p:nvSpPr>
        <p:spPr>
          <a:xfrm>
            <a:off x="16390620" y="2199132"/>
            <a:ext cx="118872" cy="118872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2" name="anchor-prediction-0661"/>
          <p:cNvSpPr/>
          <p:nvPr/>
        </p:nvSpPr>
        <p:spPr>
          <a:xfrm>
            <a:off x="16235172" y="2473452"/>
            <a:ext cx="118872" cy="118872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3" name="anchor-prediction-0662"/>
          <p:cNvSpPr/>
          <p:nvPr/>
        </p:nvSpPr>
        <p:spPr>
          <a:xfrm>
            <a:off x="15704820" y="2391156"/>
            <a:ext cx="118872" cy="118872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4" name="anchor-prediction-0663"/>
          <p:cNvSpPr/>
          <p:nvPr/>
        </p:nvSpPr>
        <p:spPr>
          <a:xfrm>
            <a:off x="16162371" y="2029968"/>
            <a:ext cx="191322" cy="181958"/>
          </a:xfrm>
          <a:custGeom>
            <a:avLst/>
            <a:gdLst/>
            <a:ahLst/>
            <a:cxnLst/>
            <a:rect l="0" t="0" r="r" b="b"/>
            <a:pathLst>
              <a:path w="191322" h="181958">
                <a:moveTo>
                  <a:pt x="95661" y="0"/>
                </a:moveTo>
                <a:lnTo>
                  <a:pt x="118127" y="69662"/>
                </a:lnTo>
                <a:lnTo>
                  <a:pt x="191322" y="69502"/>
                </a:lnTo>
                <a:lnTo>
                  <a:pt x="132012" y="112395"/>
                </a:lnTo>
                <a:lnTo>
                  <a:pt x="154783" y="181958"/>
                </a:lnTo>
                <a:lnTo>
                  <a:pt x="95661" y="138806"/>
                </a:lnTo>
                <a:lnTo>
                  <a:pt x="36539" y="181958"/>
                </a:lnTo>
                <a:lnTo>
                  <a:pt x="59310" y="112395"/>
                </a:lnTo>
                <a:lnTo>
                  <a:pt x="0" y="69502"/>
                </a:lnTo>
                <a:lnTo>
                  <a:pt x="73195" y="69662"/>
                </a:lnTo>
                <a:close/>
              </a:path>
            </a:pathLst>
          </a:custGeom>
          <a:solidFill>
            <a:srgbClr val="F6B181"/>
          </a:solidFill>
          <a:ln w="6858" cap="rnd">
            <a:solidFill>
              <a:srgbClr val="895223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65" name="anchor-prediction-0664 — AND"/>
          <p:cNvSpPr txBox="1"/>
          <p:nvPr/>
        </p:nvSpPr>
        <p:spPr>
          <a:xfrm>
            <a:off x="15896815" y="2696748"/>
            <a:ext cx="630993" cy="3258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 i="1" lang="en-US">
                <a:solidFill>
                  <a:srgbClr val="000000"/>
                </a:solidFill>
                <a:latin typeface="Times New Roman"/>
              </a:rPr>
              <a:t>AND</a:t>
            </a:r>
          </a:p>
        </p:txBody>
      </p:sp>
      <p:sp>
        <p:nvSpPr>
          <p:cNvPr id="666" name="anchor-prediction-0665"/>
          <p:cNvSpPr/>
          <p:nvPr/>
        </p:nvSpPr>
        <p:spPr>
          <a:xfrm>
            <a:off x="15389352" y="3054096"/>
            <a:ext cx="1536192" cy="1417320"/>
          </a:xfrm>
          <a:prstGeom prst="rect">
            <a:avLst/>
          </a:prstGeom>
          <a:solidFill>
            <a:srgbClr val="FFFFFF"/>
          </a:solidFill>
          <a:ln w="27432" cap="rnd">
            <a:solidFill>
              <a:srgbClr val="80748F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67" name="anchor-prediction-0666"/>
          <p:cNvSpPr/>
          <p:nvPr/>
        </p:nvSpPr>
        <p:spPr>
          <a:xfrm>
            <a:off x="15389352" y="3054096"/>
            <a:ext cx="1536192" cy="283464"/>
          </a:xfrm>
          <a:prstGeom prst="rect">
            <a:avLst/>
          </a:prstGeom>
          <a:solidFill>
            <a:srgbClr val="BEB5C9"/>
          </a:solidFill>
          <a:ln w="27432" cap="rnd">
            <a:solidFill>
              <a:srgbClr val="80748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8" name="anchor-prediction-0667 — Length Covered"/>
          <p:cNvSpPr txBox="1"/>
          <p:nvPr/>
        </p:nvSpPr>
        <p:spPr>
          <a:xfrm>
            <a:off x="15426600" y="3065160"/>
            <a:ext cx="1571425" cy="2534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en-US">
                <a:solidFill>
                  <a:srgbClr val="000000"/>
                </a:solidFill>
                <a:latin typeface="Arial"/>
              </a:rPr>
              <a:t>Length Covered</a:t>
            </a:r>
          </a:p>
        </p:txBody>
      </p:sp>
      <p:sp>
        <p:nvSpPr>
          <p:cNvPr id="669" name="anchor-prediction-0668"/>
          <p:cNvSpPr/>
          <p:nvPr/>
        </p:nvSpPr>
        <p:spPr>
          <a:xfrm>
            <a:off x="15526512" y="3429000"/>
            <a:ext cx="731520" cy="128016"/>
          </a:xfrm>
          <a:prstGeom prst="roundRect">
            <a:avLst>
              <a:gd name="adj" fmla="val 42857"/>
            </a:avLst>
          </a:prstGeom>
          <a:solidFill>
            <a:srgbClr val="C8B99B"/>
          </a:solidFill>
          <a:ln w="7315" cap="rnd">
            <a:solidFill>
              <a:srgbClr val="8E7D61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70" name="anchor-prediction-0669"/>
          <p:cNvSpPr/>
          <p:nvPr/>
        </p:nvSpPr>
        <p:spPr>
          <a:xfrm>
            <a:off x="15526512" y="3639312"/>
            <a:ext cx="502920" cy="128016"/>
          </a:xfrm>
          <a:prstGeom prst="roundRect">
            <a:avLst>
              <a:gd name="adj" fmla="val 42857"/>
            </a:avLst>
          </a:prstGeom>
          <a:solidFill>
            <a:srgbClr val="C8B99B"/>
          </a:solidFill>
          <a:ln w="7315" cap="rnd">
            <a:solidFill>
              <a:srgbClr val="8E7D61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71" name="anchor-prediction-0670"/>
          <p:cNvSpPr/>
          <p:nvPr/>
        </p:nvSpPr>
        <p:spPr>
          <a:xfrm>
            <a:off x="15526512" y="3849624"/>
            <a:ext cx="905256" cy="128016"/>
          </a:xfrm>
          <a:prstGeom prst="roundRect">
            <a:avLst>
              <a:gd name="adj" fmla="val 42857"/>
            </a:avLst>
          </a:prstGeom>
          <a:solidFill>
            <a:srgbClr val="C8B99B"/>
          </a:solidFill>
          <a:ln w="7315" cap="rnd">
            <a:solidFill>
              <a:srgbClr val="8E7D61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72" name="anchor-prediction-0671"/>
          <p:cNvSpPr/>
          <p:nvPr/>
        </p:nvSpPr>
        <p:spPr>
          <a:xfrm>
            <a:off x="15526512" y="4059936"/>
            <a:ext cx="576072" cy="128016"/>
          </a:xfrm>
          <a:prstGeom prst="roundRect">
            <a:avLst>
              <a:gd name="adj" fmla="val 42857"/>
            </a:avLst>
          </a:prstGeom>
          <a:solidFill>
            <a:srgbClr val="F6B181"/>
          </a:solidFill>
          <a:ln w="7315" cap="rnd">
            <a:solidFill>
              <a:srgbClr val="C75A08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73" name="anchor-prediction-0672"/>
          <p:cNvSpPr/>
          <p:nvPr/>
        </p:nvSpPr>
        <p:spPr>
          <a:xfrm>
            <a:off x="16011144" y="4535424"/>
            <a:ext cx="292608" cy="292608"/>
          </a:xfrm>
          <a:prstGeom prst="ellipse">
            <a:avLst/>
          </a:prstGeom>
          <a:solidFill>
            <a:srgbClr val="548636"/>
          </a:solidFill>
          <a:ln w="457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4" name="anchor-prediction-0673"/>
          <p:cNvSpPr/>
          <p:nvPr/>
        </p:nvSpPr>
        <p:spPr>
          <a:xfrm>
            <a:off x="16078444" y="4618817"/>
            <a:ext cx="169713" cy="121432"/>
          </a:xfrm>
          <a:custGeom>
            <a:avLst/>
            <a:gdLst/>
            <a:ahLst/>
            <a:cxnLst/>
            <a:rect l="0" t="0" r="r" b="b"/>
            <a:pathLst>
              <a:path w="169713" h="121432">
                <a:moveTo>
                  <a:pt x="0" y="62911"/>
                </a:moveTo>
                <a:lnTo>
                  <a:pt x="62911" y="121432"/>
                </a:lnTo>
                <a:lnTo>
                  <a:pt x="169713" y="0"/>
                </a:lnTo>
              </a:path>
            </a:pathLst>
          </a:custGeom>
          <a:noFill/>
          <a:ln w="2194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5" name="legend-frame-0674"/>
          <p:cNvSpPr/>
          <p:nvPr/>
        </p:nvSpPr>
        <p:spPr>
          <a:xfrm>
            <a:off x="9838944" y="5276088"/>
            <a:ext cx="7278624" cy="3145536"/>
          </a:xfrm>
          <a:prstGeom prst="rect">
            <a:avLst/>
          </a:prstGeom>
          <a:noFill/>
          <a:ln w="32004" cap="rnd">
            <a:solidFill>
              <a:srgbClr val="000000"/>
            </a:solidFill>
            <a:round/>
            <a:custDash>
              <a:ds d="685714" sp="4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6" name="prompt-example-0675"/>
          <p:cNvSpPr/>
          <p:nvPr/>
        </p:nvSpPr>
        <p:spPr>
          <a:xfrm>
            <a:off x="10021824" y="5312664"/>
            <a:ext cx="4361688" cy="1591056"/>
          </a:xfrm>
          <a:prstGeom prst="rect">
            <a:avLst/>
          </a:prstGeom>
          <a:solidFill>
            <a:srgbClr val="DFEBF6"/>
          </a:solidFill>
          <a:ln>
            <a:noFill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77" name="prompt-example-0676"/>
          <p:cNvSpPr/>
          <p:nvPr/>
        </p:nvSpPr>
        <p:spPr>
          <a:xfrm>
            <a:off x="10067544" y="5340096"/>
            <a:ext cx="4297680" cy="210312"/>
          </a:xfrm>
          <a:prstGeom prst="rect">
            <a:avLst/>
          </a:prstGeom>
          <a:noFill/>
          <a:ln w="22859" cap="rnd">
            <a:solidFill>
              <a:srgbClr val="203D67"/>
            </a:solidFill>
            <a:round/>
            <a:custDash>
              <a:ds d="480000" sp="24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8" name="prompt-example-0677"/>
          <p:cNvSpPr/>
          <p:nvPr/>
        </p:nvSpPr>
        <p:spPr>
          <a:xfrm>
            <a:off x="10067544" y="5541264"/>
            <a:ext cx="2148840" cy="256032"/>
          </a:xfrm>
          <a:prstGeom prst="rect">
            <a:avLst/>
          </a:prstGeom>
          <a:noFill/>
          <a:ln w="22859" cap="rnd">
            <a:solidFill>
              <a:srgbClr val="203D67"/>
            </a:solidFill>
            <a:round/>
            <a:custDash>
              <a:ds d="480000" sp="24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9" name="prompt-example-0678 — You are a math expert. You will be given a math"/>
          <p:cNvSpPr txBox="1"/>
          <p:nvPr/>
        </p:nvSpPr>
        <p:spPr>
          <a:xfrm>
            <a:off x="10076688" y="5323728"/>
            <a:ext cx="4173250" cy="2534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1" lang="en-US">
                <a:solidFill>
                  <a:srgbClr val="203D67"/>
                </a:solidFill>
                <a:latin typeface="Arial"/>
              </a:rPr>
              <a:t>You are a math expert. You will be given a math</a:t>
            </a:r>
          </a:p>
        </p:txBody>
      </p:sp>
      <p:sp>
        <p:nvSpPr>
          <p:cNvPr id="680" name="prompt-example-0679 — problem ...Q:"/>
          <p:cNvSpPr txBox="1"/>
          <p:nvPr/>
        </p:nvSpPr>
        <p:spPr>
          <a:xfrm>
            <a:off x="10076688" y="5552328"/>
            <a:ext cx="1219610" cy="2534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1" lang="en-US">
                <a:solidFill>
                  <a:srgbClr val="203D67"/>
                </a:solidFill>
                <a:latin typeface="Arial"/>
              </a:rPr>
              <a:t>problem ...Q:</a:t>
            </a:r>
          </a:p>
        </p:txBody>
      </p:sp>
      <p:sp>
        <p:nvSpPr>
          <p:cNvPr id="681" name="prompt-example-0680"/>
          <p:cNvSpPr/>
          <p:nvPr/>
        </p:nvSpPr>
        <p:spPr>
          <a:xfrm>
            <a:off x="11247120" y="5559552"/>
            <a:ext cx="612648" cy="219456"/>
          </a:xfrm>
          <a:prstGeom prst="rect">
            <a:avLst/>
          </a:prstGeom>
          <a:solidFill>
            <a:srgbClr val="FFFFFF"/>
          </a:solidFill>
          <a:ln w="7315" cap="rnd">
            <a:solidFill>
              <a:srgbClr val="EEF0F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82" name="prompt-example-0681"/>
          <p:cNvSpPr/>
          <p:nvPr/>
        </p:nvSpPr>
        <p:spPr>
          <a:xfrm>
            <a:off x="11265408" y="5568696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3" name="prompt-example-0682"/>
          <p:cNvSpPr/>
          <p:nvPr/>
        </p:nvSpPr>
        <p:spPr>
          <a:xfrm>
            <a:off x="11265408" y="5568696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4" name="prompt-example-0683"/>
          <p:cNvSpPr/>
          <p:nvPr/>
        </p:nvSpPr>
        <p:spPr>
          <a:xfrm>
            <a:off x="11265408" y="5568696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5" name="prompt-example-0684"/>
          <p:cNvSpPr/>
          <p:nvPr/>
        </p:nvSpPr>
        <p:spPr>
          <a:xfrm>
            <a:off x="11265408" y="556869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6" name="prompt-example-0685"/>
          <p:cNvSpPr/>
          <p:nvPr/>
        </p:nvSpPr>
        <p:spPr>
          <a:xfrm>
            <a:off x="11265408" y="5568696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7" name="prompt-example-0686"/>
          <p:cNvSpPr/>
          <p:nvPr/>
        </p:nvSpPr>
        <p:spPr>
          <a:xfrm>
            <a:off x="11283696" y="55686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8" name="prompt-example-0687"/>
          <p:cNvSpPr/>
          <p:nvPr/>
        </p:nvSpPr>
        <p:spPr>
          <a:xfrm>
            <a:off x="11320272" y="55686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9" name="prompt-example-0688"/>
          <p:cNvSpPr/>
          <p:nvPr/>
        </p:nvSpPr>
        <p:spPr>
          <a:xfrm>
            <a:off x="11356848" y="55686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0" name="prompt-example-0689"/>
          <p:cNvSpPr/>
          <p:nvPr/>
        </p:nvSpPr>
        <p:spPr>
          <a:xfrm>
            <a:off x="11393424" y="55686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1" name="prompt-example-0690"/>
          <p:cNvSpPr/>
          <p:nvPr/>
        </p:nvSpPr>
        <p:spPr>
          <a:xfrm>
            <a:off x="11430000" y="55686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2" name="prompt-example-0691"/>
          <p:cNvSpPr/>
          <p:nvPr/>
        </p:nvSpPr>
        <p:spPr>
          <a:xfrm>
            <a:off x="11466576" y="55686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3" name="prompt-example-0692"/>
          <p:cNvSpPr/>
          <p:nvPr/>
        </p:nvSpPr>
        <p:spPr>
          <a:xfrm>
            <a:off x="11503152" y="55686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4" name="prompt-example-0693"/>
          <p:cNvSpPr/>
          <p:nvPr/>
        </p:nvSpPr>
        <p:spPr>
          <a:xfrm>
            <a:off x="11539728" y="55686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5" name="prompt-example-0694"/>
          <p:cNvSpPr/>
          <p:nvPr/>
        </p:nvSpPr>
        <p:spPr>
          <a:xfrm>
            <a:off x="11576304" y="55686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6" name="prompt-example-0695"/>
          <p:cNvSpPr/>
          <p:nvPr/>
        </p:nvSpPr>
        <p:spPr>
          <a:xfrm>
            <a:off x="11612880" y="55686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7" name="prompt-example-0696"/>
          <p:cNvSpPr/>
          <p:nvPr/>
        </p:nvSpPr>
        <p:spPr>
          <a:xfrm>
            <a:off x="11649456" y="5577840"/>
            <a:ext cx="192024" cy="192024"/>
          </a:xfrm>
          <a:custGeom>
            <a:avLst/>
            <a:gdLst/>
            <a:ahLst/>
            <a:cxnLst/>
            <a:rect l="0" t="0" r="r" b="b"/>
            <a:pathLst>
              <a:path w="192024" h="192024">
                <a:moveTo>
                  <a:pt x="0" y="192024"/>
                </a:moveTo>
                <a:lnTo>
                  <a:pt x="19202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8" name="prompt-example-0697"/>
          <p:cNvSpPr/>
          <p:nvPr/>
        </p:nvSpPr>
        <p:spPr>
          <a:xfrm>
            <a:off x="11686032" y="5614416"/>
            <a:ext cx="155448" cy="155448"/>
          </a:xfrm>
          <a:custGeom>
            <a:avLst/>
            <a:gdLst/>
            <a:ahLst/>
            <a:cxnLst/>
            <a:rect l="0" t="0" r="r" b="b"/>
            <a:pathLst>
              <a:path w="155448" h="155448">
                <a:moveTo>
                  <a:pt x="0" y="155448"/>
                </a:moveTo>
                <a:lnTo>
                  <a:pt x="15544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9" name="prompt-example-0698"/>
          <p:cNvSpPr/>
          <p:nvPr/>
        </p:nvSpPr>
        <p:spPr>
          <a:xfrm>
            <a:off x="11722608" y="5650992"/>
            <a:ext cx="118872" cy="118872"/>
          </a:xfrm>
          <a:custGeom>
            <a:avLst/>
            <a:gdLst/>
            <a:ahLst/>
            <a:cxnLst/>
            <a:rect l="0" t="0" r="r" b="b"/>
            <a:pathLst>
              <a:path w="118872" h="118872">
                <a:moveTo>
                  <a:pt x="0" y="118872"/>
                </a:moveTo>
                <a:lnTo>
                  <a:pt x="11887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0" name="prompt-example-0699"/>
          <p:cNvSpPr/>
          <p:nvPr/>
        </p:nvSpPr>
        <p:spPr>
          <a:xfrm>
            <a:off x="11759184" y="5687568"/>
            <a:ext cx="82296" cy="82296"/>
          </a:xfrm>
          <a:custGeom>
            <a:avLst/>
            <a:gdLst/>
            <a:ahLst/>
            <a:cxnLst/>
            <a:rect l="0" t="0" r="r" b="b"/>
            <a:pathLst>
              <a:path w="82296" h="82296">
                <a:moveTo>
                  <a:pt x="0" y="82296"/>
                </a:moveTo>
                <a:lnTo>
                  <a:pt x="8229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1" name="prompt-example-0700"/>
          <p:cNvSpPr/>
          <p:nvPr/>
        </p:nvSpPr>
        <p:spPr>
          <a:xfrm>
            <a:off x="11795760" y="5724144"/>
            <a:ext cx="45720" cy="45720"/>
          </a:xfrm>
          <a:custGeom>
            <a:avLst/>
            <a:gdLst/>
            <a:ahLst/>
            <a:cxnLst/>
            <a:rect l="0" t="0" r="r" b="b"/>
            <a:pathLst>
              <a:path w="45720" h="45720">
                <a:moveTo>
                  <a:pt x="0" y="45720"/>
                </a:moveTo>
                <a:lnTo>
                  <a:pt x="4572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2" name="prompt-example-0701"/>
          <p:cNvSpPr/>
          <p:nvPr/>
        </p:nvSpPr>
        <p:spPr>
          <a:xfrm>
            <a:off x="11832336" y="5760720"/>
            <a:ext cx="9144" cy="9144"/>
          </a:xfrm>
          <a:custGeom>
            <a:avLst/>
            <a:gdLst/>
            <a:ahLst/>
            <a:cxnLst/>
            <a:rect l="0" t="0" r="r" b="b"/>
            <a:pathLst>
              <a:path w="9144" h="9144">
                <a:moveTo>
                  <a:pt x="0" y="9144"/>
                </a:moveTo>
                <a:lnTo>
                  <a:pt x="914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3" name="prompt-example-0702 — ϕ"/>
          <p:cNvSpPr txBox="1"/>
          <p:nvPr/>
        </p:nvSpPr>
        <p:spPr>
          <a:xfrm>
            <a:off x="11330008" y="5470307"/>
            <a:ext cx="232786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704" name="prompt-example-0703 — (1, 1)"/>
          <p:cNvSpPr txBox="1"/>
          <p:nvPr/>
        </p:nvSpPr>
        <p:spPr>
          <a:xfrm>
            <a:off x="11467899" y="5609625"/>
            <a:ext cx="418709" cy="188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705" name="prompt-example-0704"/>
          <p:cNvSpPr/>
          <p:nvPr/>
        </p:nvSpPr>
        <p:spPr>
          <a:xfrm>
            <a:off x="12198096" y="5532120"/>
            <a:ext cx="749808" cy="210312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06" name="prompt-example-0705 — p"/>
          <p:cNvSpPr txBox="1"/>
          <p:nvPr/>
        </p:nvSpPr>
        <p:spPr>
          <a:xfrm>
            <a:off x="12378667" y="5451470"/>
            <a:ext cx="220585" cy="262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6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707" name="prompt-example-0706 — (1, 0)"/>
          <p:cNvSpPr txBox="1"/>
          <p:nvPr/>
        </p:nvSpPr>
        <p:spPr>
          <a:xfrm>
            <a:off x="12490041" y="5558980"/>
            <a:ext cx="387020" cy="168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en-US">
                <a:solidFill>
                  <a:srgbClr val="000000"/>
                </a:solidFill>
                <a:latin typeface="Times New Roman"/>
              </a:rPr>
              <a:t>(1, 0)</a:t>
            </a:r>
          </a:p>
        </p:txBody>
      </p:sp>
      <p:sp>
        <p:nvSpPr>
          <p:cNvPr id="708" name="prompt-example-0707"/>
          <p:cNvSpPr/>
          <p:nvPr/>
        </p:nvSpPr>
        <p:spPr>
          <a:xfrm>
            <a:off x="10067544" y="5806440"/>
            <a:ext cx="2926080" cy="420624"/>
          </a:xfrm>
          <a:prstGeom prst="rect">
            <a:avLst/>
          </a:prstGeom>
          <a:noFill/>
          <a:ln w="22859" cap="rnd">
            <a:solidFill>
              <a:srgbClr val="203D67"/>
            </a:solidFill>
            <a:round/>
            <a:custDash>
              <a:ds d="480000" sp="24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9" name="prompt-example-0708 — Answers from other agents are:"/>
          <p:cNvSpPr txBox="1"/>
          <p:nvPr/>
        </p:nvSpPr>
        <p:spPr>
          <a:xfrm>
            <a:off x="10076688" y="5762640"/>
            <a:ext cx="2788663" cy="2534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1" lang="en-US">
                <a:solidFill>
                  <a:srgbClr val="203D67"/>
                </a:solidFill>
                <a:latin typeface="Arial"/>
              </a:rPr>
              <a:t>Answers from other agents are:</a:t>
            </a:r>
          </a:p>
        </p:txBody>
      </p:sp>
      <p:sp>
        <p:nvSpPr>
          <p:cNvPr id="710" name="prompt-example-0709 — Agent 2 as a mathematical analyst:"/>
          <p:cNvSpPr txBox="1"/>
          <p:nvPr/>
        </p:nvSpPr>
        <p:spPr>
          <a:xfrm>
            <a:off x="10076688" y="5982096"/>
            <a:ext cx="3098444" cy="2534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1" lang="en-US">
                <a:solidFill>
                  <a:srgbClr val="203D67"/>
                </a:solidFill>
                <a:latin typeface="Arial"/>
              </a:rPr>
              <a:t>Agent 2 as a mathematical analyst:</a:t>
            </a:r>
          </a:p>
        </p:txBody>
      </p:sp>
      <p:sp>
        <p:nvSpPr>
          <p:cNvPr id="711" name="prompt-example-0710"/>
          <p:cNvSpPr/>
          <p:nvPr/>
        </p:nvSpPr>
        <p:spPr>
          <a:xfrm>
            <a:off x="13021056" y="6016752"/>
            <a:ext cx="603504" cy="228600"/>
          </a:xfrm>
          <a:prstGeom prst="rect">
            <a:avLst/>
          </a:prstGeom>
          <a:solidFill>
            <a:srgbClr val="FFFFFF"/>
          </a:solidFill>
          <a:ln w="7315" cap="rnd">
            <a:solidFill>
              <a:srgbClr val="EEF0F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12" name="prompt-example-0711"/>
          <p:cNvSpPr/>
          <p:nvPr/>
        </p:nvSpPr>
        <p:spPr>
          <a:xfrm>
            <a:off x="13039344" y="6025896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3" name="prompt-example-0712"/>
          <p:cNvSpPr/>
          <p:nvPr/>
        </p:nvSpPr>
        <p:spPr>
          <a:xfrm>
            <a:off x="13039344" y="6025896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4" name="prompt-example-0713"/>
          <p:cNvSpPr/>
          <p:nvPr/>
        </p:nvSpPr>
        <p:spPr>
          <a:xfrm>
            <a:off x="13039344" y="6025896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5" name="prompt-example-0714"/>
          <p:cNvSpPr/>
          <p:nvPr/>
        </p:nvSpPr>
        <p:spPr>
          <a:xfrm>
            <a:off x="13039344" y="602589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6" name="prompt-example-0715"/>
          <p:cNvSpPr/>
          <p:nvPr/>
        </p:nvSpPr>
        <p:spPr>
          <a:xfrm>
            <a:off x="13039344" y="6025896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7" name="prompt-example-0716"/>
          <p:cNvSpPr/>
          <p:nvPr/>
        </p:nvSpPr>
        <p:spPr>
          <a:xfrm>
            <a:off x="13048488" y="6025896"/>
            <a:ext cx="210312" cy="210312"/>
          </a:xfrm>
          <a:custGeom>
            <a:avLst/>
            <a:gdLst/>
            <a:ahLst/>
            <a:cxnLst/>
            <a:rect l="0" t="0" r="r" b="b"/>
            <a:pathLst>
              <a:path w="210312" h="210312">
                <a:moveTo>
                  <a:pt x="0" y="210312"/>
                </a:moveTo>
                <a:lnTo>
                  <a:pt x="21031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8" name="prompt-example-0717"/>
          <p:cNvSpPr/>
          <p:nvPr/>
        </p:nvSpPr>
        <p:spPr>
          <a:xfrm>
            <a:off x="13085064" y="6025896"/>
            <a:ext cx="210312" cy="210312"/>
          </a:xfrm>
          <a:custGeom>
            <a:avLst/>
            <a:gdLst/>
            <a:ahLst/>
            <a:cxnLst/>
            <a:rect l="0" t="0" r="r" b="b"/>
            <a:pathLst>
              <a:path w="210312" h="210312">
                <a:moveTo>
                  <a:pt x="0" y="210312"/>
                </a:moveTo>
                <a:lnTo>
                  <a:pt x="21031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9" name="prompt-example-0718"/>
          <p:cNvSpPr/>
          <p:nvPr/>
        </p:nvSpPr>
        <p:spPr>
          <a:xfrm>
            <a:off x="13121640" y="6025896"/>
            <a:ext cx="210312" cy="210312"/>
          </a:xfrm>
          <a:custGeom>
            <a:avLst/>
            <a:gdLst/>
            <a:ahLst/>
            <a:cxnLst/>
            <a:rect l="0" t="0" r="r" b="b"/>
            <a:pathLst>
              <a:path w="210312" h="210312">
                <a:moveTo>
                  <a:pt x="0" y="210312"/>
                </a:moveTo>
                <a:lnTo>
                  <a:pt x="21031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0" name="prompt-example-0719"/>
          <p:cNvSpPr/>
          <p:nvPr/>
        </p:nvSpPr>
        <p:spPr>
          <a:xfrm>
            <a:off x="13158216" y="6025896"/>
            <a:ext cx="210312" cy="210312"/>
          </a:xfrm>
          <a:custGeom>
            <a:avLst/>
            <a:gdLst/>
            <a:ahLst/>
            <a:cxnLst/>
            <a:rect l="0" t="0" r="r" b="b"/>
            <a:pathLst>
              <a:path w="210312" h="210312">
                <a:moveTo>
                  <a:pt x="0" y="210312"/>
                </a:moveTo>
                <a:lnTo>
                  <a:pt x="21031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1" name="prompt-example-0720"/>
          <p:cNvSpPr/>
          <p:nvPr/>
        </p:nvSpPr>
        <p:spPr>
          <a:xfrm>
            <a:off x="13194792" y="6025896"/>
            <a:ext cx="210312" cy="210312"/>
          </a:xfrm>
          <a:custGeom>
            <a:avLst/>
            <a:gdLst/>
            <a:ahLst/>
            <a:cxnLst/>
            <a:rect l="0" t="0" r="r" b="b"/>
            <a:pathLst>
              <a:path w="210312" h="210312">
                <a:moveTo>
                  <a:pt x="0" y="210312"/>
                </a:moveTo>
                <a:lnTo>
                  <a:pt x="21031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2" name="prompt-example-0721"/>
          <p:cNvSpPr/>
          <p:nvPr/>
        </p:nvSpPr>
        <p:spPr>
          <a:xfrm>
            <a:off x="13231368" y="6025896"/>
            <a:ext cx="210312" cy="210312"/>
          </a:xfrm>
          <a:custGeom>
            <a:avLst/>
            <a:gdLst/>
            <a:ahLst/>
            <a:cxnLst/>
            <a:rect l="0" t="0" r="r" b="b"/>
            <a:pathLst>
              <a:path w="210312" h="210312">
                <a:moveTo>
                  <a:pt x="0" y="210312"/>
                </a:moveTo>
                <a:lnTo>
                  <a:pt x="21031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3" name="prompt-example-0722"/>
          <p:cNvSpPr/>
          <p:nvPr/>
        </p:nvSpPr>
        <p:spPr>
          <a:xfrm>
            <a:off x="13267944" y="6025896"/>
            <a:ext cx="210312" cy="210312"/>
          </a:xfrm>
          <a:custGeom>
            <a:avLst/>
            <a:gdLst/>
            <a:ahLst/>
            <a:cxnLst/>
            <a:rect l="0" t="0" r="r" b="b"/>
            <a:pathLst>
              <a:path w="210312" h="210312">
                <a:moveTo>
                  <a:pt x="0" y="210312"/>
                </a:moveTo>
                <a:lnTo>
                  <a:pt x="21031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4" name="prompt-example-0723"/>
          <p:cNvSpPr/>
          <p:nvPr/>
        </p:nvSpPr>
        <p:spPr>
          <a:xfrm>
            <a:off x="13304520" y="6025896"/>
            <a:ext cx="210312" cy="210312"/>
          </a:xfrm>
          <a:custGeom>
            <a:avLst/>
            <a:gdLst/>
            <a:ahLst/>
            <a:cxnLst/>
            <a:rect l="0" t="0" r="r" b="b"/>
            <a:pathLst>
              <a:path w="210312" h="210312">
                <a:moveTo>
                  <a:pt x="0" y="210312"/>
                </a:moveTo>
                <a:lnTo>
                  <a:pt x="21031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5" name="prompt-example-0724"/>
          <p:cNvSpPr/>
          <p:nvPr/>
        </p:nvSpPr>
        <p:spPr>
          <a:xfrm>
            <a:off x="13341096" y="6025896"/>
            <a:ext cx="210312" cy="210312"/>
          </a:xfrm>
          <a:custGeom>
            <a:avLst/>
            <a:gdLst/>
            <a:ahLst/>
            <a:cxnLst/>
            <a:rect l="0" t="0" r="r" b="b"/>
            <a:pathLst>
              <a:path w="210312" h="210312">
                <a:moveTo>
                  <a:pt x="0" y="210312"/>
                </a:moveTo>
                <a:lnTo>
                  <a:pt x="21031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6" name="prompt-example-0725"/>
          <p:cNvSpPr/>
          <p:nvPr/>
        </p:nvSpPr>
        <p:spPr>
          <a:xfrm>
            <a:off x="13377672" y="6025896"/>
            <a:ext cx="210312" cy="210312"/>
          </a:xfrm>
          <a:custGeom>
            <a:avLst/>
            <a:gdLst/>
            <a:ahLst/>
            <a:cxnLst/>
            <a:rect l="0" t="0" r="r" b="b"/>
            <a:pathLst>
              <a:path w="210312" h="210312">
                <a:moveTo>
                  <a:pt x="0" y="210312"/>
                </a:moveTo>
                <a:lnTo>
                  <a:pt x="21031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7" name="prompt-example-0726"/>
          <p:cNvSpPr/>
          <p:nvPr/>
        </p:nvSpPr>
        <p:spPr>
          <a:xfrm>
            <a:off x="13414248" y="6044184"/>
            <a:ext cx="192024" cy="192024"/>
          </a:xfrm>
          <a:custGeom>
            <a:avLst/>
            <a:gdLst/>
            <a:ahLst/>
            <a:cxnLst/>
            <a:rect l="0" t="0" r="r" b="b"/>
            <a:pathLst>
              <a:path w="192024" h="192024">
                <a:moveTo>
                  <a:pt x="0" y="192024"/>
                </a:moveTo>
                <a:lnTo>
                  <a:pt x="19202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8" name="prompt-example-0727"/>
          <p:cNvSpPr/>
          <p:nvPr/>
        </p:nvSpPr>
        <p:spPr>
          <a:xfrm>
            <a:off x="13450824" y="6080760"/>
            <a:ext cx="155448" cy="155448"/>
          </a:xfrm>
          <a:custGeom>
            <a:avLst/>
            <a:gdLst/>
            <a:ahLst/>
            <a:cxnLst/>
            <a:rect l="0" t="0" r="r" b="b"/>
            <a:pathLst>
              <a:path w="155448" h="155448">
                <a:moveTo>
                  <a:pt x="0" y="155448"/>
                </a:moveTo>
                <a:lnTo>
                  <a:pt x="155448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9" name="prompt-example-0728"/>
          <p:cNvSpPr/>
          <p:nvPr/>
        </p:nvSpPr>
        <p:spPr>
          <a:xfrm>
            <a:off x="13487400" y="6117336"/>
            <a:ext cx="118872" cy="118872"/>
          </a:xfrm>
          <a:custGeom>
            <a:avLst/>
            <a:gdLst/>
            <a:ahLst/>
            <a:cxnLst/>
            <a:rect l="0" t="0" r="r" b="b"/>
            <a:pathLst>
              <a:path w="118872" h="118872">
                <a:moveTo>
                  <a:pt x="0" y="118872"/>
                </a:moveTo>
                <a:lnTo>
                  <a:pt x="118872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0" name="prompt-example-0729"/>
          <p:cNvSpPr/>
          <p:nvPr/>
        </p:nvSpPr>
        <p:spPr>
          <a:xfrm>
            <a:off x="13523976" y="6153912"/>
            <a:ext cx="82296" cy="82296"/>
          </a:xfrm>
          <a:custGeom>
            <a:avLst/>
            <a:gdLst/>
            <a:ahLst/>
            <a:cxnLst/>
            <a:rect l="0" t="0" r="r" b="b"/>
            <a:pathLst>
              <a:path w="82296" h="82296">
                <a:moveTo>
                  <a:pt x="0" y="82296"/>
                </a:moveTo>
                <a:lnTo>
                  <a:pt x="82296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1" name="prompt-example-0730"/>
          <p:cNvSpPr/>
          <p:nvPr/>
        </p:nvSpPr>
        <p:spPr>
          <a:xfrm>
            <a:off x="13560552" y="6190488"/>
            <a:ext cx="45720" cy="45720"/>
          </a:xfrm>
          <a:custGeom>
            <a:avLst/>
            <a:gdLst/>
            <a:ahLst/>
            <a:cxnLst/>
            <a:rect l="0" t="0" r="r" b="b"/>
            <a:pathLst>
              <a:path w="45720" h="45720">
                <a:moveTo>
                  <a:pt x="0" y="45720"/>
                </a:moveTo>
                <a:lnTo>
                  <a:pt x="45720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2" name="prompt-example-0731"/>
          <p:cNvSpPr/>
          <p:nvPr/>
        </p:nvSpPr>
        <p:spPr>
          <a:xfrm>
            <a:off x="13597128" y="6227064"/>
            <a:ext cx="9144" cy="9144"/>
          </a:xfrm>
          <a:custGeom>
            <a:avLst/>
            <a:gdLst/>
            <a:ahLst/>
            <a:cxnLst/>
            <a:rect l="0" t="0" r="r" b="b"/>
            <a:pathLst>
              <a:path w="9144" h="9144">
                <a:moveTo>
                  <a:pt x="0" y="9144"/>
                </a:moveTo>
                <a:lnTo>
                  <a:pt x="9144" y="0"/>
                </a:lnTo>
              </a:path>
            </a:pathLst>
          </a:custGeom>
          <a:noFill/>
          <a:ln w="4389" cap="rnd">
            <a:solidFill>
              <a:srgbClr val="A7C88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3" name="prompt-example-0732 — ϕ"/>
          <p:cNvSpPr txBox="1"/>
          <p:nvPr/>
        </p:nvSpPr>
        <p:spPr>
          <a:xfrm>
            <a:off x="13099372" y="5934090"/>
            <a:ext cx="232786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734" name="prompt-example-0733 — (1, 2)"/>
          <p:cNvSpPr txBox="1"/>
          <p:nvPr/>
        </p:nvSpPr>
        <p:spPr>
          <a:xfrm>
            <a:off x="13237263" y="6073408"/>
            <a:ext cx="418709" cy="188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 lang="en-US">
                <a:solidFill>
                  <a:srgbClr val="000000"/>
                </a:solidFill>
                <a:latin typeface="Times New Roman"/>
              </a:rPr>
              <a:t>(1, 2)</a:t>
            </a:r>
          </a:p>
        </p:txBody>
      </p:sp>
      <p:sp>
        <p:nvSpPr>
          <p:cNvPr id="735" name="prompt-example-0734 — ,"/>
          <p:cNvSpPr txBox="1"/>
          <p:nvPr/>
        </p:nvSpPr>
        <p:spPr>
          <a:xfrm>
            <a:off x="13633704" y="6000384"/>
            <a:ext cx="163078" cy="2534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1" lang="en-US">
                <a:solidFill>
                  <a:srgbClr val="203D67"/>
                </a:solidFill>
                <a:latin typeface="Arial"/>
              </a:rPr>
              <a:t>,</a:t>
            </a:r>
          </a:p>
        </p:txBody>
      </p:sp>
      <p:sp>
        <p:nvSpPr>
          <p:cNvPr id="736" name="prompt-example-0735"/>
          <p:cNvSpPr/>
          <p:nvPr/>
        </p:nvSpPr>
        <p:spPr>
          <a:xfrm>
            <a:off x="13002768" y="5907024"/>
            <a:ext cx="18288" cy="91"/>
          </a:xfrm>
          <a:custGeom>
            <a:avLst/>
            <a:gdLst/>
            <a:ahLst/>
            <a:cxnLst/>
            <a:rect l="0" t="0" r="r" b="b"/>
            <a:pathLst>
              <a:path w="18288" h="91">
                <a:moveTo>
                  <a:pt x="0" y="0"/>
                </a:moveTo>
                <a:lnTo>
                  <a:pt x="18288" y="0"/>
                </a:lnTo>
              </a:path>
            </a:pathLst>
          </a:custGeom>
          <a:noFill/>
          <a:ln w="23774" cap="rnd">
            <a:solidFill>
              <a:srgbClr val="203D67"/>
            </a:solidFill>
            <a:round/>
            <a:custDash>
              <a:ds d="192308" sp="115385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7" name="prompt-example-0736"/>
          <p:cNvSpPr/>
          <p:nvPr/>
        </p:nvSpPr>
        <p:spPr>
          <a:xfrm>
            <a:off x="13021056" y="5849965"/>
            <a:ext cx="118872" cy="114117"/>
          </a:xfrm>
          <a:custGeom>
            <a:avLst/>
            <a:gdLst/>
            <a:ahLst/>
            <a:cxnLst/>
            <a:rect l="0" t="0" r="r" b="b"/>
            <a:pathLst>
              <a:path w="118872" h="114117">
                <a:moveTo>
                  <a:pt x="118872" y="57059"/>
                </a:moveTo>
                <a:lnTo>
                  <a:pt x="0" y="114117"/>
                </a:lnTo>
                <a:lnTo>
                  <a:pt x="0" y="0"/>
                </a:lnTo>
                <a:close/>
              </a:path>
            </a:pathLst>
          </a:custGeom>
          <a:solidFill>
            <a:srgbClr val="203D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8" name="prompt-example-0737"/>
          <p:cNvSpPr/>
          <p:nvPr/>
        </p:nvSpPr>
        <p:spPr>
          <a:xfrm>
            <a:off x="13149072" y="5769864"/>
            <a:ext cx="740664" cy="219456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39" name="prompt-example-0738 — p"/>
          <p:cNvSpPr txBox="1"/>
          <p:nvPr/>
        </p:nvSpPr>
        <p:spPr>
          <a:xfrm>
            <a:off x="13316900" y="5686427"/>
            <a:ext cx="224657" cy="273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8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740" name="prompt-example-0739 — (1, 1)"/>
          <p:cNvSpPr txBox="1"/>
          <p:nvPr/>
        </p:nvSpPr>
        <p:spPr>
          <a:xfrm>
            <a:off x="13432729" y="5798238"/>
            <a:ext cx="398907" cy="1757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8" b="0" i="0" lang="en-US">
                <a:solidFill>
                  <a:srgbClr val="000000"/>
                </a:solidFill>
                <a:latin typeface="Times New Roman"/>
              </a:rPr>
              <a:t>(1, 1)</a:t>
            </a:r>
          </a:p>
        </p:txBody>
      </p:sp>
      <p:sp>
        <p:nvSpPr>
          <p:cNvPr id="741" name="prompt-example-0740"/>
          <p:cNvSpPr/>
          <p:nvPr/>
        </p:nvSpPr>
        <p:spPr>
          <a:xfrm>
            <a:off x="10067544" y="6227064"/>
            <a:ext cx="2487168" cy="210312"/>
          </a:xfrm>
          <a:prstGeom prst="rect">
            <a:avLst/>
          </a:prstGeom>
          <a:noFill/>
          <a:ln w="22859" cap="rnd">
            <a:solidFill>
              <a:srgbClr val="203D67"/>
            </a:solidFill>
            <a:round/>
            <a:custDash>
              <a:ds d="480000" sp="24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2" name="prompt-example-0741 — The execution result is"/>
          <p:cNvSpPr txBox="1"/>
          <p:nvPr/>
        </p:nvSpPr>
        <p:spPr>
          <a:xfrm>
            <a:off x="10076688" y="6201552"/>
            <a:ext cx="2030954" cy="2534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1" lang="en-US">
                <a:solidFill>
                  <a:srgbClr val="203D67"/>
                </a:solidFill>
                <a:latin typeface="Arial"/>
              </a:rPr>
              <a:t>The execution result is</a:t>
            </a:r>
          </a:p>
        </p:txBody>
      </p:sp>
      <p:sp>
        <p:nvSpPr>
          <p:cNvPr id="743" name="prompt-example-0742"/>
          <p:cNvSpPr/>
          <p:nvPr/>
        </p:nvSpPr>
        <p:spPr>
          <a:xfrm>
            <a:off x="11896344" y="6245352"/>
            <a:ext cx="594360" cy="219456"/>
          </a:xfrm>
          <a:prstGeom prst="rect">
            <a:avLst/>
          </a:prstGeom>
          <a:solidFill>
            <a:srgbClr val="FFFFFF"/>
          </a:solidFill>
          <a:ln w="7315" cap="rnd">
            <a:solidFill>
              <a:srgbClr val="EEF0F2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44" name="prompt-example-0743"/>
          <p:cNvSpPr/>
          <p:nvPr/>
        </p:nvSpPr>
        <p:spPr>
          <a:xfrm>
            <a:off x="11914632" y="6254496"/>
            <a:ext cx="36576" cy="36576"/>
          </a:xfrm>
          <a:custGeom>
            <a:avLst/>
            <a:gdLst/>
            <a:ahLst/>
            <a:cxnLst/>
            <a:rect l="0" t="0" r="r" b="b"/>
            <a:pathLst>
              <a:path w="36576" h="36576">
                <a:moveTo>
                  <a:pt x="0" y="36576"/>
                </a:moveTo>
                <a:lnTo>
                  <a:pt x="3657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5" name="prompt-example-0744"/>
          <p:cNvSpPr/>
          <p:nvPr/>
        </p:nvSpPr>
        <p:spPr>
          <a:xfrm>
            <a:off x="11914632" y="6254496"/>
            <a:ext cx="73152" cy="73152"/>
          </a:xfrm>
          <a:custGeom>
            <a:avLst/>
            <a:gdLst/>
            <a:ahLst/>
            <a:cxnLst/>
            <a:rect l="0" t="0" r="r" b="b"/>
            <a:pathLst>
              <a:path w="73152" h="73152">
                <a:moveTo>
                  <a:pt x="0" y="73152"/>
                </a:moveTo>
                <a:lnTo>
                  <a:pt x="7315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6" name="prompt-example-0745"/>
          <p:cNvSpPr/>
          <p:nvPr/>
        </p:nvSpPr>
        <p:spPr>
          <a:xfrm>
            <a:off x="11914632" y="6254496"/>
            <a:ext cx="109728" cy="109728"/>
          </a:xfrm>
          <a:custGeom>
            <a:avLst/>
            <a:gdLst/>
            <a:ahLst/>
            <a:cxnLst/>
            <a:rect l="0" t="0" r="r" b="b"/>
            <a:pathLst>
              <a:path w="109728" h="109728">
                <a:moveTo>
                  <a:pt x="0" y="109728"/>
                </a:moveTo>
                <a:lnTo>
                  <a:pt x="10972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7" name="prompt-example-0746"/>
          <p:cNvSpPr/>
          <p:nvPr/>
        </p:nvSpPr>
        <p:spPr>
          <a:xfrm>
            <a:off x="11914632" y="6254496"/>
            <a:ext cx="146304" cy="146304"/>
          </a:xfrm>
          <a:custGeom>
            <a:avLst/>
            <a:gdLst/>
            <a:ahLst/>
            <a:cxnLst/>
            <a:rect l="0" t="0" r="r" b="b"/>
            <a:pathLst>
              <a:path w="146304" h="146304">
                <a:moveTo>
                  <a:pt x="0" y="146304"/>
                </a:moveTo>
                <a:lnTo>
                  <a:pt x="14630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8" name="prompt-example-0747"/>
          <p:cNvSpPr/>
          <p:nvPr/>
        </p:nvSpPr>
        <p:spPr>
          <a:xfrm>
            <a:off x="11914632" y="6254496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82880" h="182880">
                <a:moveTo>
                  <a:pt x="0" y="182880"/>
                </a:moveTo>
                <a:lnTo>
                  <a:pt x="18288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9" name="prompt-example-0748"/>
          <p:cNvSpPr/>
          <p:nvPr/>
        </p:nvSpPr>
        <p:spPr>
          <a:xfrm>
            <a:off x="11932920" y="62544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0" name="prompt-example-0749"/>
          <p:cNvSpPr/>
          <p:nvPr/>
        </p:nvSpPr>
        <p:spPr>
          <a:xfrm>
            <a:off x="11969496" y="62544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1" name="prompt-example-0750"/>
          <p:cNvSpPr/>
          <p:nvPr/>
        </p:nvSpPr>
        <p:spPr>
          <a:xfrm>
            <a:off x="12006072" y="62544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2" name="prompt-example-0751"/>
          <p:cNvSpPr/>
          <p:nvPr/>
        </p:nvSpPr>
        <p:spPr>
          <a:xfrm>
            <a:off x="12042648" y="62544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3" name="prompt-example-0752"/>
          <p:cNvSpPr/>
          <p:nvPr/>
        </p:nvSpPr>
        <p:spPr>
          <a:xfrm>
            <a:off x="12079224" y="62544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4" name="prompt-example-0753"/>
          <p:cNvSpPr/>
          <p:nvPr/>
        </p:nvSpPr>
        <p:spPr>
          <a:xfrm>
            <a:off x="12115800" y="62544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5" name="prompt-example-0754"/>
          <p:cNvSpPr/>
          <p:nvPr/>
        </p:nvSpPr>
        <p:spPr>
          <a:xfrm>
            <a:off x="12152376" y="62544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6" name="prompt-example-0755"/>
          <p:cNvSpPr/>
          <p:nvPr/>
        </p:nvSpPr>
        <p:spPr>
          <a:xfrm>
            <a:off x="12188952" y="62544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7" name="prompt-example-0756"/>
          <p:cNvSpPr/>
          <p:nvPr/>
        </p:nvSpPr>
        <p:spPr>
          <a:xfrm>
            <a:off x="12225528" y="62544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8" name="prompt-example-0757"/>
          <p:cNvSpPr/>
          <p:nvPr/>
        </p:nvSpPr>
        <p:spPr>
          <a:xfrm>
            <a:off x="12262104" y="625449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>
                <a:moveTo>
                  <a:pt x="0" y="201168"/>
                </a:moveTo>
                <a:lnTo>
                  <a:pt x="20116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9" name="prompt-example-0758"/>
          <p:cNvSpPr/>
          <p:nvPr/>
        </p:nvSpPr>
        <p:spPr>
          <a:xfrm>
            <a:off x="12298680" y="6281928"/>
            <a:ext cx="173736" cy="173736"/>
          </a:xfrm>
          <a:custGeom>
            <a:avLst/>
            <a:gdLst/>
            <a:ahLst/>
            <a:cxnLst/>
            <a:rect l="0" t="0" r="r" b="b"/>
            <a:pathLst>
              <a:path w="173736" h="173736">
                <a:moveTo>
                  <a:pt x="0" y="173736"/>
                </a:moveTo>
                <a:lnTo>
                  <a:pt x="173736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0" name="prompt-example-0759"/>
          <p:cNvSpPr/>
          <p:nvPr/>
        </p:nvSpPr>
        <p:spPr>
          <a:xfrm>
            <a:off x="12335256" y="6318504"/>
            <a:ext cx="137160" cy="137160"/>
          </a:xfrm>
          <a:custGeom>
            <a:avLst/>
            <a:gdLst/>
            <a:ahLst/>
            <a:cxnLst/>
            <a:rect l="0" t="0" r="r" b="b"/>
            <a:pathLst>
              <a:path w="137160" h="137160">
                <a:moveTo>
                  <a:pt x="0" y="137160"/>
                </a:moveTo>
                <a:lnTo>
                  <a:pt x="137160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1" name="prompt-example-0760"/>
          <p:cNvSpPr/>
          <p:nvPr/>
        </p:nvSpPr>
        <p:spPr>
          <a:xfrm>
            <a:off x="12371832" y="6355080"/>
            <a:ext cx="100584" cy="100584"/>
          </a:xfrm>
          <a:custGeom>
            <a:avLst/>
            <a:gdLst/>
            <a:ahLst/>
            <a:cxnLst/>
            <a:rect l="0" t="0" r="r" b="b"/>
            <a:pathLst>
              <a:path w="100584" h="100584">
                <a:moveTo>
                  <a:pt x="0" y="100584"/>
                </a:moveTo>
                <a:lnTo>
                  <a:pt x="100584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2" name="prompt-example-0761"/>
          <p:cNvSpPr/>
          <p:nvPr/>
        </p:nvSpPr>
        <p:spPr>
          <a:xfrm>
            <a:off x="12408408" y="6391656"/>
            <a:ext cx="64008" cy="64008"/>
          </a:xfrm>
          <a:custGeom>
            <a:avLst/>
            <a:gdLst/>
            <a:ahLst/>
            <a:cxnLst/>
            <a:rect l="0" t="0" r="r" b="b"/>
            <a:pathLst>
              <a:path w="64008" h="64008">
                <a:moveTo>
                  <a:pt x="0" y="64008"/>
                </a:moveTo>
                <a:lnTo>
                  <a:pt x="64008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3" name="prompt-example-0762"/>
          <p:cNvSpPr/>
          <p:nvPr/>
        </p:nvSpPr>
        <p:spPr>
          <a:xfrm>
            <a:off x="12444984" y="6428232"/>
            <a:ext cx="27432" cy="27432"/>
          </a:xfrm>
          <a:custGeom>
            <a:avLst/>
            <a:gdLst/>
            <a:ahLst/>
            <a:cxnLst/>
            <a:rect l="0" t="0" r="r" b="b"/>
            <a:pathLst>
              <a:path w="27432" h="27432">
                <a:moveTo>
                  <a:pt x="0" y="27432"/>
                </a:moveTo>
                <a:lnTo>
                  <a:pt x="27432" y="0"/>
                </a:lnTo>
              </a:path>
            </a:pathLst>
          </a:custGeom>
          <a:noFill/>
          <a:ln w="4389" cap="rnd">
            <a:solidFill>
              <a:srgbClr val="F0AD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4" name="prompt-example-0763 — ϕ"/>
          <p:cNvSpPr txBox="1"/>
          <p:nvPr/>
        </p:nvSpPr>
        <p:spPr>
          <a:xfrm>
            <a:off x="11970088" y="6156107"/>
            <a:ext cx="232786" cy="313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765" name="prompt-example-0764 — (1, 3)"/>
          <p:cNvSpPr txBox="1"/>
          <p:nvPr/>
        </p:nvSpPr>
        <p:spPr>
          <a:xfrm>
            <a:off x="12107979" y="6295425"/>
            <a:ext cx="418709" cy="188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 lang="en-US">
                <a:solidFill>
                  <a:srgbClr val="000000"/>
                </a:solidFill>
                <a:latin typeface="Times New Roman"/>
              </a:rPr>
              <a:t>(1, 3)</a:t>
            </a:r>
          </a:p>
        </p:txBody>
      </p:sp>
      <p:sp>
        <p:nvSpPr>
          <p:cNvPr id="766" name="prompt-example-0765"/>
          <p:cNvSpPr/>
          <p:nvPr/>
        </p:nvSpPr>
        <p:spPr>
          <a:xfrm>
            <a:off x="10954512" y="6437376"/>
            <a:ext cx="91" cy="36576"/>
          </a:xfrm>
          <a:custGeom>
            <a:avLst/>
            <a:gdLst/>
            <a:ahLst/>
            <a:cxnLst/>
            <a:rect l="0" t="0" r="r" b="b"/>
            <a:pathLst>
              <a:path w="91" h="36576">
                <a:moveTo>
                  <a:pt x="0" y="0"/>
                </a:moveTo>
                <a:lnTo>
                  <a:pt x="0" y="36576"/>
                </a:lnTo>
              </a:path>
            </a:pathLst>
          </a:custGeom>
          <a:noFill/>
          <a:ln w="25603" cap="rnd">
            <a:solidFill>
              <a:srgbClr val="203D67"/>
            </a:solidFill>
            <a:round/>
            <a:custDash>
              <a:ds d="214286" sp="142857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7" name="prompt-example-0766"/>
          <p:cNvSpPr/>
          <p:nvPr/>
        </p:nvSpPr>
        <p:spPr>
          <a:xfrm>
            <a:off x="10901843" y="6473952"/>
            <a:ext cx="105339" cy="109728"/>
          </a:xfrm>
          <a:custGeom>
            <a:avLst/>
            <a:gdLst/>
            <a:ahLst/>
            <a:cxnLst/>
            <a:rect l="0" t="0" r="r" b="b"/>
            <a:pathLst>
              <a:path w="105339" h="109728">
                <a:moveTo>
                  <a:pt x="52669" y="109728"/>
                </a:moveTo>
                <a:lnTo>
                  <a:pt x="0" y="0"/>
                </a:lnTo>
                <a:lnTo>
                  <a:pt x="105339" y="0"/>
                </a:lnTo>
                <a:close/>
              </a:path>
            </a:pathLst>
          </a:custGeom>
          <a:solidFill>
            <a:srgbClr val="203D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8" name="prompt-example-0767"/>
          <p:cNvSpPr/>
          <p:nvPr/>
        </p:nvSpPr>
        <p:spPr>
          <a:xfrm>
            <a:off x="12573000" y="6227064"/>
            <a:ext cx="91" cy="246888"/>
          </a:xfrm>
          <a:custGeom>
            <a:avLst/>
            <a:gdLst/>
            <a:ahLst/>
            <a:cxnLst/>
            <a:rect l="0" t="0" r="r" b="b"/>
            <a:pathLst>
              <a:path w="91" h="246888">
                <a:moveTo>
                  <a:pt x="0" y="0"/>
                </a:moveTo>
                <a:lnTo>
                  <a:pt x="0" y="246888"/>
                </a:lnTo>
              </a:path>
            </a:pathLst>
          </a:custGeom>
          <a:noFill/>
          <a:ln w="25603" cap="rnd">
            <a:solidFill>
              <a:srgbClr val="203D67"/>
            </a:solidFill>
            <a:round/>
            <a:custDash>
              <a:ds d="214286" sp="142857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9" name="prompt-example-0768"/>
          <p:cNvSpPr/>
          <p:nvPr/>
        </p:nvSpPr>
        <p:spPr>
          <a:xfrm>
            <a:off x="12520331" y="6473952"/>
            <a:ext cx="105339" cy="109728"/>
          </a:xfrm>
          <a:custGeom>
            <a:avLst/>
            <a:gdLst/>
            <a:ahLst/>
            <a:cxnLst/>
            <a:rect l="0" t="0" r="r" b="b"/>
            <a:pathLst>
              <a:path w="105339" h="109728">
                <a:moveTo>
                  <a:pt x="52669" y="109728"/>
                </a:moveTo>
                <a:lnTo>
                  <a:pt x="0" y="0"/>
                </a:lnTo>
                <a:lnTo>
                  <a:pt x="105339" y="0"/>
                </a:lnTo>
                <a:close/>
              </a:path>
            </a:pathLst>
          </a:custGeom>
          <a:solidFill>
            <a:srgbClr val="203D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0" name="prompt-example-0769"/>
          <p:cNvSpPr/>
          <p:nvPr/>
        </p:nvSpPr>
        <p:spPr>
          <a:xfrm>
            <a:off x="10588752" y="6601968"/>
            <a:ext cx="768096" cy="228600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71" name="prompt-example-0770 — p"/>
          <p:cNvSpPr txBox="1"/>
          <p:nvPr/>
        </p:nvSpPr>
        <p:spPr>
          <a:xfrm>
            <a:off x="10770296" y="6524017"/>
            <a:ext cx="224657" cy="273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8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772" name="prompt-example-0771 — (1, 2)"/>
          <p:cNvSpPr txBox="1"/>
          <p:nvPr/>
        </p:nvSpPr>
        <p:spPr>
          <a:xfrm>
            <a:off x="10886125" y="6635828"/>
            <a:ext cx="398907" cy="1757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8" b="0" i="0" lang="en-US">
                <a:solidFill>
                  <a:srgbClr val="000000"/>
                </a:solidFill>
                <a:latin typeface="Times New Roman"/>
              </a:rPr>
              <a:t>(1, 2)</a:t>
            </a:r>
          </a:p>
        </p:txBody>
      </p:sp>
      <p:sp>
        <p:nvSpPr>
          <p:cNvPr id="773" name="prompt-example-0772"/>
          <p:cNvSpPr/>
          <p:nvPr/>
        </p:nvSpPr>
        <p:spPr>
          <a:xfrm>
            <a:off x="12207240" y="6601968"/>
            <a:ext cx="731520" cy="228600"/>
          </a:xfrm>
          <a:prstGeom prst="rect">
            <a:avLst/>
          </a:prstGeom>
          <a:solidFill>
            <a:srgbClr val="8EAADC"/>
          </a:solidFill>
          <a:ln w="9144" cap="rnd">
            <a:solidFill>
              <a:srgbClr val="F3F7F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74" name="prompt-example-0773 — p"/>
          <p:cNvSpPr txBox="1"/>
          <p:nvPr/>
        </p:nvSpPr>
        <p:spPr>
          <a:xfrm>
            <a:off x="12370496" y="6524017"/>
            <a:ext cx="224657" cy="273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8" b="1" i="0" lang="en-US">
                <a:solidFill>
                  <a:srgbClr val="000000"/>
                </a:solidFill>
                <a:latin typeface="Times New Roman"/>
              </a:rPr>
              <a:t>p</a:t>
            </a:r>
          </a:p>
        </p:txBody>
      </p:sp>
      <p:sp>
        <p:nvSpPr>
          <p:cNvPr id="775" name="prompt-example-0774 — (1, 3)"/>
          <p:cNvSpPr txBox="1"/>
          <p:nvPr/>
        </p:nvSpPr>
        <p:spPr>
          <a:xfrm>
            <a:off x="12486325" y="6635828"/>
            <a:ext cx="398907" cy="1757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8" b="0" i="0" lang="en-US">
                <a:solidFill>
                  <a:srgbClr val="000000"/>
                </a:solidFill>
                <a:latin typeface="Times New Roman"/>
              </a:rPr>
              <a:t>(1, 3)</a:t>
            </a:r>
          </a:p>
        </p:txBody>
      </p:sp>
      <p:sp>
        <p:nvSpPr>
          <p:cNvPr id="776" name="prompt-example-0775 — Example"/>
          <p:cNvSpPr txBox="1"/>
          <p:nvPr/>
        </p:nvSpPr>
        <p:spPr>
          <a:xfrm>
            <a:off x="13258800" y="6549664"/>
            <a:ext cx="1162860" cy="3379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 lang="en-US">
                <a:solidFill>
                  <a:srgbClr val="000000"/>
                </a:solidFill>
                <a:latin typeface="Arial"/>
              </a:rPr>
              <a:t>Example</a:t>
            </a:r>
          </a:p>
        </p:txBody>
      </p:sp>
      <p:sp>
        <p:nvSpPr>
          <p:cNvPr id="777" name="kv-symbol-legend-0776"/>
          <p:cNvSpPr/>
          <p:nvPr/>
        </p:nvSpPr>
        <p:spPr>
          <a:xfrm>
            <a:off x="10149840" y="6995160"/>
            <a:ext cx="731520" cy="310896"/>
          </a:xfrm>
          <a:prstGeom prst="roundRect">
            <a:avLst>
              <a:gd name="adj" fmla="val 11764"/>
            </a:avLst>
          </a:prstGeom>
          <a:solidFill>
            <a:srgbClr val="F6B181"/>
          </a:solidFill>
          <a:ln w="7315" cap="rnd">
            <a:solidFill>
              <a:srgbClr val="9D632D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78" name="kv-symbol-legend-0777 — ϕ"/>
          <p:cNvSpPr txBox="1"/>
          <p:nvPr/>
        </p:nvSpPr>
        <p:spPr>
          <a:xfrm>
            <a:off x="10244472" y="6924203"/>
            <a:ext cx="256446" cy="3741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32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779" name="kv-symbol-legend-0778 — (m, i)"/>
          <p:cNvSpPr txBox="1"/>
          <p:nvPr/>
        </p:nvSpPr>
        <p:spPr>
          <a:xfrm>
            <a:off x="10408881" y="7090312"/>
            <a:ext cx="487575" cy="224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9" b="0" i="0" lang="en-US">
                <a:solidFill>
                  <a:srgbClr val="000000"/>
                </a:solidFill>
                <a:latin typeface="Times New Roman"/>
              </a:rPr>
              <a:t>(m, i)</a:t>
            </a:r>
          </a:p>
        </p:txBody>
      </p:sp>
      <p:sp>
        <p:nvSpPr>
          <p:cNvPr id="780" name="kv-symbol-legend-0779 — Estimated KV of the i-th (external input)"/>
          <p:cNvSpPr txBox="1"/>
          <p:nvPr/>
        </p:nvSpPr>
        <p:spPr>
          <a:xfrm>
            <a:off x="10963656" y="6969557"/>
            <a:ext cx="3301541" cy="241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en-US">
                <a:solidFill>
                  <a:srgbClr val="000000"/>
                </a:solidFill>
                <a:latin typeface="Arial"/>
              </a:rPr>
              <a:t>Estimated KV of the i-th (external input)</a:t>
            </a:r>
          </a:p>
        </p:txBody>
      </p:sp>
      <p:sp>
        <p:nvSpPr>
          <p:cNvPr id="781" name="kv-symbol-legend-0780 — Placeholder of Agent m"/>
          <p:cNvSpPr txBox="1"/>
          <p:nvPr/>
        </p:nvSpPr>
        <p:spPr>
          <a:xfrm>
            <a:off x="10963656" y="7152437"/>
            <a:ext cx="2000736" cy="241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en-US">
                <a:solidFill>
                  <a:srgbClr val="000000"/>
                </a:solidFill>
                <a:latin typeface="Arial"/>
              </a:rPr>
              <a:t>Placeholder of Agent m</a:t>
            </a:r>
          </a:p>
        </p:txBody>
      </p:sp>
      <p:sp>
        <p:nvSpPr>
          <p:cNvPr id="782" name="kv-symbol-legend-0781"/>
          <p:cNvSpPr/>
          <p:nvPr/>
        </p:nvSpPr>
        <p:spPr>
          <a:xfrm>
            <a:off x="10149840" y="7498080"/>
            <a:ext cx="731520" cy="320040"/>
          </a:xfrm>
          <a:prstGeom prst="roundRect">
            <a:avLst>
              <a:gd name="adj" fmla="val 11428"/>
            </a:avLst>
          </a:prstGeom>
          <a:solidFill>
            <a:srgbClr val="A9D18E"/>
          </a:solidFill>
          <a:ln w="7315" cap="rnd">
            <a:solidFill>
              <a:srgbClr val="597A3E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83" name="kv-symbol-legend-0782 — ϕ"/>
          <p:cNvSpPr txBox="1"/>
          <p:nvPr/>
        </p:nvSpPr>
        <p:spPr>
          <a:xfrm>
            <a:off x="10244472" y="7433706"/>
            <a:ext cx="256446" cy="3741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32" b="0" i="1" lang="en-US">
                <a:solidFill>
                  <a:srgbClr val="000000"/>
                </a:solidFill>
                <a:latin typeface="Times New Roman"/>
              </a:rPr>
              <a:t>ϕ</a:t>
            </a:r>
          </a:p>
        </p:txBody>
      </p:sp>
      <p:sp>
        <p:nvSpPr>
          <p:cNvPr id="784" name="kv-symbol-legend-0783 — (m, i)"/>
          <p:cNvSpPr txBox="1"/>
          <p:nvPr/>
        </p:nvSpPr>
        <p:spPr>
          <a:xfrm>
            <a:off x="10408881" y="7599816"/>
            <a:ext cx="487575" cy="224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9" b="0" i="0" lang="en-US">
                <a:solidFill>
                  <a:srgbClr val="000000"/>
                </a:solidFill>
                <a:latin typeface="Times New Roman"/>
              </a:rPr>
              <a:t>(m, i)</a:t>
            </a:r>
          </a:p>
        </p:txBody>
      </p:sp>
      <p:sp>
        <p:nvSpPr>
          <p:cNvPr id="785" name="kv-symbol-legend-0784 — Estimated KV of the i-th (response)"/>
          <p:cNvSpPr txBox="1"/>
          <p:nvPr/>
        </p:nvSpPr>
        <p:spPr>
          <a:xfrm>
            <a:off x="10963656" y="7463333"/>
            <a:ext cx="2955869" cy="241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en-US">
                <a:solidFill>
                  <a:srgbClr val="000000"/>
                </a:solidFill>
                <a:latin typeface="Arial"/>
              </a:rPr>
              <a:t>Estimated KV of the i-th (response)</a:t>
            </a:r>
          </a:p>
        </p:txBody>
      </p:sp>
      <p:sp>
        <p:nvSpPr>
          <p:cNvPr id="786" name="kv-symbol-legend-0785 — Placeholder of Agent m"/>
          <p:cNvSpPr txBox="1"/>
          <p:nvPr/>
        </p:nvSpPr>
        <p:spPr>
          <a:xfrm>
            <a:off x="10963656" y="7646213"/>
            <a:ext cx="2000736" cy="241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en-US">
                <a:solidFill>
                  <a:srgbClr val="000000"/>
                </a:solidFill>
                <a:latin typeface="Arial"/>
              </a:rPr>
              <a:t>Placeholder of Agent m</a:t>
            </a:r>
          </a:p>
        </p:txBody>
      </p:sp>
      <p:sp>
        <p:nvSpPr>
          <p:cNvPr id="787" name="kv-symbol-legend-0786"/>
          <p:cNvSpPr/>
          <p:nvPr/>
        </p:nvSpPr>
        <p:spPr>
          <a:xfrm>
            <a:off x="10149840" y="7991856"/>
            <a:ext cx="731520" cy="320040"/>
          </a:xfrm>
          <a:prstGeom prst="rect">
            <a:avLst/>
          </a:prstGeom>
          <a:solidFill>
            <a:srgbClr val="203D67"/>
          </a:solidFill>
          <a:ln w="8229" cap="rnd">
            <a:solidFill>
              <a:srgbClr val="A4BDD9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88" name="kv-symbol-legend-0787 — p"/>
          <p:cNvSpPr txBox="1"/>
          <p:nvPr/>
        </p:nvSpPr>
        <p:spPr>
          <a:xfrm>
            <a:off x="10269812" y="7927402"/>
            <a:ext cx="247031" cy="3255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1" b="1" i="0" lang="en-US">
                <a:solidFill>
                  <a:srgbClr val="FFFFFF"/>
                </a:solidFill>
                <a:latin typeface="Times New Roman"/>
              </a:rPr>
              <a:t>p</a:t>
            </a:r>
          </a:p>
        </p:txBody>
      </p:sp>
      <p:sp>
        <p:nvSpPr>
          <p:cNvPr id="789" name="kv-symbol-legend-0788 — (m, i)"/>
          <p:cNvSpPr txBox="1"/>
          <p:nvPr/>
        </p:nvSpPr>
        <p:spPr>
          <a:xfrm>
            <a:off x="10407915" y="8060715"/>
            <a:ext cx="463201" cy="2095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0" i="0" lang="en-US">
                <a:solidFill>
                  <a:srgbClr val="FFFFFF"/>
                </a:solidFill>
                <a:latin typeface="Times New Roman"/>
              </a:rPr>
              <a:t>(m, i)</a:t>
            </a:r>
          </a:p>
        </p:txBody>
      </p:sp>
      <p:sp>
        <p:nvSpPr>
          <p:cNvPr id="790" name="kv-symbol-legend-0789 — Estimated KV of the i-th Prefix"/>
          <p:cNvSpPr txBox="1"/>
          <p:nvPr/>
        </p:nvSpPr>
        <p:spPr>
          <a:xfrm>
            <a:off x="10963656" y="7966253"/>
            <a:ext cx="2549190" cy="241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en-US">
                <a:solidFill>
                  <a:srgbClr val="000000"/>
                </a:solidFill>
                <a:latin typeface="Arial"/>
              </a:rPr>
              <a:t>Estimated KV of the i-th Prefix</a:t>
            </a:r>
          </a:p>
        </p:txBody>
      </p:sp>
      <p:sp>
        <p:nvSpPr>
          <p:cNvPr id="791" name="kv-symbol-legend-0790 — Segment of Agent m"/>
          <p:cNvSpPr txBox="1"/>
          <p:nvPr/>
        </p:nvSpPr>
        <p:spPr>
          <a:xfrm>
            <a:off x="10963656" y="8149133"/>
            <a:ext cx="1766849" cy="241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en-US">
                <a:solidFill>
                  <a:srgbClr val="000000"/>
                </a:solidFill>
                <a:latin typeface="Arial"/>
              </a:rPr>
              <a:t>Segment of Agent m</a:t>
            </a:r>
          </a:p>
        </p:txBody>
      </p:sp>
      <p:sp>
        <p:nvSpPr>
          <p:cNvPr id="792" name="symbol-legend-0791 — Legend"/>
          <p:cNvSpPr txBox="1"/>
          <p:nvPr/>
        </p:nvSpPr>
        <p:spPr>
          <a:xfrm>
            <a:off x="14979887" y="5252862"/>
            <a:ext cx="1605315" cy="5552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11" b="1" i="0" lang="en-US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sp>
        <p:nvSpPr>
          <p:cNvPr id="793" name="symbol-legend-0792"/>
          <p:cNvSpPr/>
          <p:nvPr/>
        </p:nvSpPr>
        <p:spPr>
          <a:xfrm>
            <a:off x="14617035" y="5943600"/>
            <a:ext cx="191322" cy="181958"/>
          </a:xfrm>
          <a:custGeom>
            <a:avLst/>
            <a:gdLst/>
            <a:ahLst/>
            <a:cxnLst/>
            <a:rect l="0" t="0" r="r" b="b"/>
            <a:pathLst>
              <a:path w="191322" h="181958">
                <a:moveTo>
                  <a:pt x="95661" y="0"/>
                </a:moveTo>
                <a:lnTo>
                  <a:pt x="118127" y="69662"/>
                </a:lnTo>
                <a:lnTo>
                  <a:pt x="191322" y="69502"/>
                </a:lnTo>
                <a:lnTo>
                  <a:pt x="132012" y="112395"/>
                </a:lnTo>
                <a:lnTo>
                  <a:pt x="154783" y="181958"/>
                </a:lnTo>
                <a:lnTo>
                  <a:pt x="95661" y="138806"/>
                </a:lnTo>
                <a:lnTo>
                  <a:pt x="36539" y="181958"/>
                </a:lnTo>
                <a:lnTo>
                  <a:pt x="59310" y="112395"/>
                </a:lnTo>
                <a:lnTo>
                  <a:pt x="0" y="69502"/>
                </a:lnTo>
                <a:lnTo>
                  <a:pt x="73195" y="69662"/>
                </a:lnTo>
                <a:close/>
              </a:path>
            </a:pathLst>
          </a:custGeom>
          <a:solidFill>
            <a:srgbClr val="F6B181"/>
          </a:solidFill>
          <a:ln w="6858" cap="rnd">
            <a:solidFill>
              <a:srgbClr val="895223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94" name="symbol-legend-0793 — Queried (external input)"/>
          <p:cNvSpPr txBox="1"/>
          <p:nvPr/>
        </p:nvSpPr>
        <p:spPr>
          <a:xfrm>
            <a:off x="14950440" y="5817413"/>
            <a:ext cx="2031011" cy="241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en-US">
                <a:solidFill>
                  <a:srgbClr val="000000"/>
                </a:solidFill>
                <a:latin typeface="Arial"/>
              </a:rPr>
              <a:t>Queried (external input)</a:t>
            </a:r>
          </a:p>
        </p:txBody>
      </p:sp>
      <p:sp>
        <p:nvSpPr>
          <p:cNvPr id="795" name="symbol-legend-0794 — Placeholder"/>
          <p:cNvSpPr txBox="1"/>
          <p:nvPr/>
        </p:nvSpPr>
        <p:spPr>
          <a:xfrm>
            <a:off x="14950440" y="6000293"/>
            <a:ext cx="1075606" cy="241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en-US">
                <a:solidFill>
                  <a:srgbClr val="000000"/>
                </a:solidFill>
                <a:latin typeface="Arial"/>
              </a:rPr>
              <a:t>Placeholder</a:t>
            </a:r>
          </a:p>
        </p:txBody>
      </p:sp>
      <p:sp>
        <p:nvSpPr>
          <p:cNvPr id="796" name="symbol-legend-0795"/>
          <p:cNvSpPr/>
          <p:nvPr/>
        </p:nvSpPr>
        <p:spPr>
          <a:xfrm>
            <a:off x="14617035" y="6382512"/>
            <a:ext cx="191322" cy="181958"/>
          </a:xfrm>
          <a:custGeom>
            <a:avLst/>
            <a:gdLst/>
            <a:ahLst/>
            <a:cxnLst/>
            <a:rect l="0" t="0" r="r" b="b"/>
            <a:pathLst>
              <a:path w="191322" h="181958">
                <a:moveTo>
                  <a:pt x="95661" y="0"/>
                </a:moveTo>
                <a:lnTo>
                  <a:pt x="118127" y="69662"/>
                </a:lnTo>
                <a:lnTo>
                  <a:pt x="191322" y="69502"/>
                </a:lnTo>
                <a:lnTo>
                  <a:pt x="132012" y="112395"/>
                </a:lnTo>
                <a:lnTo>
                  <a:pt x="154783" y="181958"/>
                </a:lnTo>
                <a:lnTo>
                  <a:pt x="95661" y="138806"/>
                </a:lnTo>
                <a:lnTo>
                  <a:pt x="36539" y="181958"/>
                </a:lnTo>
                <a:lnTo>
                  <a:pt x="59310" y="112395"/>
                </a:lnTo>
                <a:lnTo>
                  <a:pt x="0" y="69502"/>
                </a:lnTo>
                <a:lnTo>
                  <a:pt x="73195" y="69662"/>
                </a:lnTo>
                <a:close/>
              </a:path>
            </a:pathLst>
          </a:custGeom>
          <a:solidFill>
            <a:srgbClr val="A9D18E"/>
          </a:solidFill>
          <a:ln w="6858" cap="rnd">
            <a:solidFill>
              <a:srgbClr val="4D7335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97" name="symbol-legend-0796 — Queried (response)"/>
          <p:cNvSpPr txBox="1"/>
          <p:nvPr/>
        </p:nvSpPr>
        <p:spPr>
          <a:xfrm>
            <a:off x="14950440" y="6283757"/>
            <a:ext cx="1685339" cy="241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en-US">
                <a:solidFill>
                  <a:srgbClr val="000000"/>
                </a:solidFill>
                <a:latin typeface="Arial"/>
              </a:rPr>
              <a:t>Queried (response)</a:t>
            </a:r>
          </a:p>
        </p:txBody>
      </p:sp>
      <p:sp>
        <p:nvSpPr>
          <p:cNvPr id="798" name="symbol-legend-0797 — Placeholder"/>
          <p:cNvSpPr txBox="1"/>
          <p:nvPr/>
        </p:nvSpPr>
        <p:spPr>
          <a:xfrm>
            <a:off x="14950440" y="6466637"/>
            <a:ext cx="1075606" cy="241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en-US">
                <a:solidFill>
                  <a:srgbClr val="000000"/>
                </a:solidFill>
                <a:latin typeface="Arial"/>
              </a:rPr>
              <a:t>Placeholder</a:t>
            </a:r>
          </a:p>
        </p:txBody>
      </p:sp>
      <p:sp>
        <p:nvSpPr>
          <p:cNvPr id="799" name="symbol-legend-0798"/>
          <p:cNvSpPr/>
          <p:nvPr/>
        </p:nvSpPr>
        <p:spPr>
          <a:xfrm>
            <a:off x="14616684" y="6825996"/>
            <a:ext cx="192024" cy="192024"/>
          </a:xfrm>
          <a:prstGeom prst="ellipse">
            <a:avLst/>
          </a:prstGeom>
          <a:solidFill>
            <a:srgbClr val="BDAA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0" name="symbol-legend-0799 — KV Anchor of the"/>
          <p:cNvSpPr txBox="1"/>
          <p:nvPr/>
        </p:nvSpPr>
        <p:spPr>
          <a:xfrm>
            <a:off x="14950440" y="6740957"/>
            <a:ext cx="1482257" cy="241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en-US">
                <a:solidFill>
                  <a:srgbClr val="000000"/>
                </a:solidFill>
                <a:latin typeface="Arial"/>
              </a:rPr>
              <a:t>KV Anchor of the</a:t>
            </a:r>
          </a:p>
        </p:txBody>
      </p:sp>
      <p:sp>
        <p:nvSpPr>
          <p:cNvPr id="801" name="symbol-legend-0800 — Placeholder"/>
          <p:cNvSpPr txBox="1"/>
          <p:nvPr/>
        </p:nvSpPr>
        <p:spPr>
          <a:xfrm>
            <a:off x="14950440" y="6923837"/>
            <a:ext cx="1075606" cy="241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en-US">
                <a:solidFill>
                  <a:srgbClr val="000000"/>
                </a:solidFill>
                <a:latin typeface="Arial"/>
              </a:rPr>
              <a:t>Placeholder</a:t>
            </a:r>
          </a:p>
        </p:txBody>
      </p:sp>
      <p:sp>
        <p:nvSpPr>
          <p:cNvPr id="802" name="symbol-legend-0801"/>
          <p:cNvSpPr/>
          <p:nvPr/>
        </p:nvSpPr>
        <p:spPr>
          <a:xfrm>
            <a:off x="14561820" y="7228332"/>
            <a:ext cx="301752" cy="301752"/>
          </a:xfrm>
          <a:prstGeom prst="ellipse">
            <a:avLst/>
          </a:prstGeom>
          <a:solidFill>
            <a:srgbClr val="DCE2F3"/>
          </a:solidFill>
          <a:ln w="6400" cap="rnd">
            <a:solidFill>
              <a:srgbClr val="D8D9E0"/>
            </a:solidFill>
            <a:round/>
          </a:ln>
          <a:effectLst>
            <a:outerShdw blurRad="32004" dist="29261" dir="1800000" algn="ctr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03" name="symbol-legend-0802 — Anchor Hit Range"/>
          <p:cNvSpPr txBox="1"/>
          <p:nvPr/>
        </p:nvSpPr>
        <p:spPr>
          <a:xfrm>
            <a:off x="14950440" y="7262165"/>
            <a:ext cx="1553251" cy="241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en-US">
                <a:solidFill>
                  <a:srgbClr val="000000"/>
                </a:solidFill>
                <a:latin typeface="Arial"/>
              </a:rPr>
              <a:t>Anchor Hit Range</a:t>
            </a:r>
          </a:p>
        </p:txBody>
      </p:sp>
      <p:sp>
        <p:nvSpPr>
          <p:cNvPr id="804" name="symbol-legend-0803"/>
          <p:cNvSpPr/>
          <p:nvPr/>
        </p:nvSpPr>
        <p:spPr>
          <a:xfrm>
            <a:off x="14566392" y="7644384"/>
            <a:ext cx="292608" cy="292608"/>
          </a:xfrm>
          <a:prstGeom prst="ellipse">
            <a:avLst/>
          </a:prstGeom>
          <a:solidFill>
            <a:srgbClr val="C75A08"/>
          </a:solidFill>
          <a:ln w="4114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5" name="symbol-legend-0804"/>
          <p:cNvSpPr/>
          <p:nvPr/>
        </p:nvSpPr>
        <p:spPr>
          <a:xfrm>
            <a:off x="14641007" y="7790688"/>
            <a:ext cx="143378" cy="91"/>
          </a:xfrm>
          <a:custGeom>
            <a:avLst/>
            <a:gdLst/>
            <a:ahLst/>
            <a:cxnLst/>
            <a:rect l="0" t="0" r="r" b="b"/>
            <a:pathLst>
              <a:path w="143378" h="91">
                <a:moveTo>
                  <a:pt x="0" y="0"/>
                </a:moveTo>
                <a:lnTo>
                  <a:pt x="143378" y="0"/>
                </a:lnTo>
              </a:path>
            </a:pathLst>
          </a:custGeom>
          <a:noFill/>
          <a:ln w="1920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6" name="symbol-legend-0805"/>
          <p:cNvSpPr/>
          <p:nvPr/>
        </p:nvSpPr>
        <p:spPr>
          <a:xfrm>
            <a:off x="14712696" y="7718999"/>
            <a:ext cx="91" cy="143378"/>
          </a:xfrm>
          <a:custGeom>
            <a:avLst/>
            <a:gdLst/>
            <a:ahLst/>
            <a:cxnLst/>
            <a:rect l="0" t="0" r="r" b="b"/>
            <a:pathLst>
              <a:path w="91" h="143378">
                <a:moveTo>
                  <a:pt x="0" y="0"/>
                </a:moveTo>
                <a:lnTo>
                  <a:pt x="0" y="143378"/>
                </a:lnTo>
              </a:path>
            </a:pathLst>
          </a:custGeom>
          <a:noFill/>
          <a:ln w="1920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7" name="symbol-legend-0806 — Add as a New Anchor"/>
          <p:cNvSpPr txBox="1"/>
          <p:nvPr/>
        </p:nvSpPr>
        <p:spPr>
          <a:xfrm>
            <a:off x="14950440" y="7673645"/>
            <a:ext cx="1868476" cy="241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en-US">
                <a:solidFill>
                  <a:srgbClr val="000000"/>
                </a:solidFill>
                <a:latin typeface="Arial"/>
              </a:rPr>
              <a:t>Add as a New Anchor</a:t>
            </a:r>
          </a:p>
        </p:txBody>
      </p:sp>
      <p:sp>
        <p:nvSpPr>
          <p:cNvPr id="808" name="symbol-legend-0807"/>
          <p:cNvSpPr/>
          <p:nvPr/>
        </p:nvSpPr>
        <p:spPr>
          <a:xfrm>
            <a:off x="14566392" y="7991856"/>
            <a:ext cx="292608" cy="292608"/>
          </a:xfrm>
          <a:prstGeom prst="ellipse">
            <a:avLst/>
          </a:prstGeom>
          <a:solidFill>
            <a:srgbClr val="548636"/>
          </a:solidFill>
          <a:ln w="457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9" name="symbol-legend-0808"/>
          <p:cNvSpPr/>
          <p:nvPr/>
        </p:nvSpPr>
        <p:spPr>
          <a:xfrm>
            <a:off x="14633692" y="8075249"/>
            <a:ext cx="169713" cy="121432"/>
          </a:xfrm>
          <a:custGeom>
            <a:avLst/>
            <a:gdLst/>
            <a:ahLst/>
            <a:cxnLst/>
            <a:rect l="0" t="0" r="r" b="b"/>
            <a:pathLst>
              <a:path w="169713" h="121432">
                <a:moveTo>
                  <a:pt x="0" y="62911"/>
                </a:moveTo>
                <a:lnTo>
                  <a:pt x="62911" y="121432"/>
                </a:lnTo>
                <a:lnTo>
                  <a:pt x="169713" y="0"/>
                </a:lnTo>
              </a:path>
            </a:pathLst>
          </a:custGeom>
          <a:noFill/>
          <a:ln w="2194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0" name="symbol-legend-0809 — Sharable placeholder"/>
          <p:cNvSpPr txBox="1"/>
          <p:nvPr/>
        </p:nvSpPr>
        <p:spPr>
          <a:xfrm>
            <a:off x="14950440" y="8021117"/>
            <a:ext cx="1838230" cy="241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en-US">
                <a:solidFill>
                  <a:srgbClr val="000000"/>
                </a:solidFill>
                <a:latin typeface="Arial"/>
              </a:rPr>
              <a:t>Sharable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KVCOMM Online Cross-context KV-cache Communication for Efficient LLM-based Multi-agent System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117568" cy="84216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KVCOMM — KV-cache Communication Module</dc:title>
  <dc:subject>Editable reconstruction of supplied reference diagram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