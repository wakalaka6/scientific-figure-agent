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12"/>
  </p:sldIdLst>
  <p:sldSz cx="18145125" cy="10496550" type="screen4x3"/>
  <p:notesSz cx="6858000" cy="9144000"/>
  <p:embeddedFontLst>
    <p:embeddedFont>
      <p:font typeface="Liberation Serif" charset="0"/>
      <p:bold r:id="rIdDiagramFont1"/>
    </p:embeddedFont>
    <p:embeddedFont>
      <p:font typeface="Liberation Sans" charset="0"/>
      <p:bold r:id="rIdDiagramFont2"/>
    </p:embeddedFont>
    <p:embeddedFont>
      <p:font typeface="DejaVu Sans Mono" charset="0"/>
      <p:bold r:id="rIdDiagramFont3"/>
    </p:embeddedFont>
    <p:embeddedFont>
      <p:font typeface="Diagram Mono Condensed" charset="0"/>
      <p:bold r:id="rIdDiagram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DiagramFont1" Type="http://schemas.openxmlformats.org/officeDocument/2006/relationships/font" Target="fonts/diagram-font-1.fntdata"/><Relationship Id="rIdDiagramFont2" Type="http://schemas.openxmlformats.org/officeDocument/2006/relationships/font" Target="fonts/diagram-font-2.fntdata"/><Relationship Id="rIdDiagramFont3" Type="http://schemas.openxmlformats.org/officeDocument/2006/relationships/font" Target="fonts/diagram-font-3.fntdata"/><Relationship Id="rIdDiagramFont4" Type="http://schemas.openxmlformats.org/officeDocument/2006/relationships/font" Target="fonts/diagram-font-4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8145125" cy="10496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onent A lavender panel"/>
          <p:cNvSpPr/>
          <p:nvPr/>
        </p:nvSpPr>
        <p:spPr>
          <a:xfrm>
            <a:off x="161925" y="1152525"/>
            <a:ext cx="8953500" cy="4333875"/>
          </a:xfrm>
          <a:prstGeom prst="roundRect">
            <a:avLst>
              <a:gd name="adj" fmla="val 3956"/>
            </a:avLst>
          </a:prstGeom>
          <a:solidFill>
            <a:srgbClr val="F4F4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onent B green panel"/>
          <p:cNvSpPr/>
          <p:nvPr/>
        </p:nvSpPr>
        <p:spPr>
          <a:xfrm>
            <a:off x="9115425" y="1152525"/>
            <a:ext cx="8972550" cy="4333875"/>
          </a:xfrm>
          <a:prstGeom prst="roundRect">
            <a:avLst>
              <a:gd name="adj" fmla="val 3956"/>
            </a:avLst>
          </a:prstGeom>
          <a:solidFill>
            <a:srgbClr val="EA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omponent C pink panel"/>
          <p:cNvSpPr/>
          <p:nvPr/>
        </p:nvSpPr>
        <p:spPr>
          <a:xfrm>
            <a:off x="161925" y="6629400"/>
            <a:ext cx="17926050" cy="4000500"/>
          </a:xfrm>
          <a:prstGeom prst="roundRect">
            <a:avLst>
              <a:gd name="adj" fmla="val 3809"/>
            </a:avLst>
          </a:prstGeom>
          <a:solidFill>
            <a:srgbClr val="FDF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Sample Selection outer frame"/>
          <p:cNvSpPr/>
          <p:nvPr/>
        </p:nvSpPr>
        <p:spPr>
          <a:xfrm>
            <a:off x="157162" y="161925"/>
            <a:ext cx="17930812" cy="5324475"/>
          </a:xfrm>
          <a:prstGeom prst="roundRect">
            <a:avLst>
              <a:gd name="adj" fmla="val 3220"/>
            </a:avLst>
          </a:prstGeom>
          <a:noFill/>
          <a:ln w="22859" cap="flat">
            <a:solidFill>
              <a:srgbClr val="251D1A"/>
            </a:solidFill>
            <a:custDash>
              <a:ds d="500000" sp="125000"/>
              <a:ds d="83333" sp="125000"/>
              <a:ds d="83333" sp="1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riggers outer frame"/>
          <p:cNvSpPr/>
          <p:nvPr/>
        </p:nvSpPr>
        <p:spPr>
          <a:xfrm>
            <a:off x="157162" y="6134100"/>
            <a:ext cx="17945100" cy="4457700"/>
          </a:xfrm>
          <a:prstGeom prst="roundRect">
            <a:avLst>
              <a:gd name="adj" fmla="val 3846"/>
            </a:avLst>
          </a:prstGeom>
          <a:noFill/>
          <a:ln w="22859" cap="flat">
            <a:solidFill>
              <a:srgbClr val="251D1A"/>
            </a:solidFill>
            <a:custDash>
              <a:ds d="500000" sp="125000"/>
              <a:ds d="83333" sp="125000"/>
              <a:ds d="83333" sp="1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ample Selection title"/>
          <p:cNvSpPr txBox="1"/>
          <p:nvPr/>
        </p:nvSpPr>
        <p:spPr>
          <a:xfrm>
            <a:off x="419100" y="358140"/>
            <a:ext cx="426720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spc="193" kern="0">
                <a:solidFill>
                  <a:srgbClr val="080808"/>
                </a:solidFill>
                <a:latin typeface="DejaVu Sans Mono"/>
                <a:ea typeface="DejaVu Sans Mono"/>
                <a:cs typeface="DejaVu Sans Mono"/>
              </a:rPr>
              <a:t>Sample Selection</a:t>
            </a:r>
          </a:p>
        </p:txBody>
      </p:sp>
      <p:sp>
        <p:nvSpPr>
          <p:cNvPr id="9" name="Sample Selection purpose line 1"/>
          <p:cNvSpPr txBox="1"/>
          <p:nvPr/>
        </p:nvSpPr>
        <p:spPr>
          <a:xfrm>
            <a:off x="5610225" y="206026"/>
            <a:ext cx="9182100" cy="6800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spc="-13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Explore the effect of </a:t>
            </a:r>
            <a:r>
              <a:rPr sz="3150" b="1" spc="-13" kern="0">
                <a:solidFill>
                  <a:srgbClr val="FF171E"/>
                </a:solidFill>
                <a:latin typeface="Diagram Mono Condensed"/>
                <a:ea typeface="Diagram Mono Condensed"/>
                <a:cs typeface="Diagram Mono Condensed"/>
              </a:rPr>
              <a:t>triggers</a:t>
            </a:r>
            <a:r>
              <a:rPr sz="3150" b="1" spc="-13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 on </a:t>
            </a:r>
            <a:r>
              <a:rPr sz="3150" b="1" spc="-13" kern="0">
                <a:solidFill>
                  <a:srgbClr val="FF171E"/>
                </a:solidFill>
                <a:latin typeface="Diagram Mono Condensed"/>
                <a:ea typeface="Diagram Mono Condensed"/>
                <a:cs typeface="Diagram Mono Condensed"/>
              </a:rPr>
              <a:t>sample selection</a:t>
            </a:r>
          </a:p>
        </p:txBody>
      </p:sp>
      <p:sp>
        <p:nvSpPr>
          <p:cNvPr id="10" name="Sample Selection purpose line 2"/>
          <p:cNvSpPr txBox="1"/>
          <p:nvPr/>
        </p:nvSpPr>
        <p:spPr>
          <a:xfrm>
            <a:off x="5010150" y="625126"/>
            <a:ext cx="10915650" cy="6800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spc="-21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via the enhancement of </a:t>
            </a:r>
            <a:r>
              <a:rPr sz="3150" b="1" spc="-21" kern="0">
                <a:solidFill>
                  <a:srgbClr val="1000FF"/>
                </a:solidFill>
                <a:latin typeface="Diagram Mono Condensed"/>
                <a:ea typeface="Diagram Mono Condensed"/>
                <a:cs typeface="Diagram Mono Condensed"/>
              </a:rPr>
              <a:t>attack success rate</a:t>
            </a:r>
            <a:r>
              <a:rPr sz="3150" b="1" spc="-21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 and </a:t>
            </a:r>
            <a:r>
              <a:rPr sz="3150" b="1" spc="-21" kern="0">
                <a:solidFill>
                  <a:srgbClr val="006936"/>
                </a:solidFill>
                <a:latin typeface="Diagram Mono Condensed"/>
                <a:ea typeface="Diagram Mono Condensed"/>
                <a:cs typeface="Diagram Mono Condensed"/>
              </a:rPr>
              <a:t>stealthiness</a:t>
            </a:r>
            <a:r>
              <a:rPr sz="3150" b="1" spc="-21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.</a:t>
            </a:r>
          </a:p>
        </p:txBody>
      </p:sp>
      <p:sp>
        <p:nvSpPr>
          <p:cNvPr id="11" name="Component A label"/>
          <p:cNvSpPr txBox="1"/>
          <p:nvPr/>
        </p:nvSpPr>
        <p:spPr>
          <a:xfrm>
            <a:off x="419100" y="1199769"/>
            <a:ext cx="23526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08" kern="0">
                <a:solidFill>
                  <a:srgbClr val="1000FF"/>
                </a:solidFill>
                <a:latin typeface="Liberation Sans"/>
                <a:ea typeface="Liberation Sans"/>
                <a:cs typeface="Liberation Sans"/>
              </a:rPr>
              <a:t>Component A</a:t>
            </a:r>
          </a:p>
        </p:txBody>
      </p:sp>
      <p:sp>
        <p:nvSpPr>
          <p:cNvPr id="12" name="A success enhancement line 1"/>
          <p:cNvSpPr txBox="1"/>
          <p:nvPr/>
        </p:nvSpPr>
        <p:spPr>
          <a:xfrm>
            <a:off x="6172200" y="1248613"/>
            <a:ext cx="27051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24" kern="0">
                <a:solidFill>
                  <a:srgbClr val="1000FF"/>
                </a:solidFill>
                <a:latin typeface="Liberation Serif"/>
                <a:ea typeface="Liberation Serif"/>
                <a:cs typeface="Liberation Serif"/>
              </a:rPr>
              <a:t>attack success rate</a:t>
            </a:r>
          </a:p>
        </p:txBody>
      </p:sp>
      <p:sp>
        <p:nvSpPr>
          <p:cNvPr id="13" name="A success enhancement line 2"/>
          <p:cNvSpPr txBox="1"/>
          <p:nvPr/>
        </p:nvSpPr>
        <p:spPr>
          <a:xfrm>
            <a:off x="6500812" y="1524838"/>
            <a:ext cx="20478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73" kern="0">
                <a:solidFill>
                  <a:srgbClr val="1000FF"/>
                </a:solidFill>
                <a:latin typeface="Liberation Serif"/>
                <a:ea typeface="Liberation Serif"/>
                <a:cs typeface="Liberation Serif"/>
              </a:rPr>
              <a:t>enhancement</a:t>
            </a:r>
          </a:p>
        </p:txBody>
      </p:sp>
      <p:sp>
        <p:nvSpPr>
          <p:cNvPr id="14" name="Large scale highlight"/>
          <p:cNvSpPr txBox="1"/>
          <p:nvPr/>
        </p:nvSpPr>
        <p:spPr>
          <a:xfrm>
            <a:off x="514350" y="1658188"/>
            <a:ext cx="14287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1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highlight</a:t>
            </a:r>
          </a:p>
        </p:txBody>
      </p:sp>
      <p:sp>
        <p:nvSpPr>
          <p:cNvPr id="15" name="Large trigger scale"/>
          <p:cNvSpPr txBox="1"/>
          <p:nvPr/>
        </p:nvSpPr>
        <p:spPr>
          <a:xfrm>
            <a:off x="295275" y="2152840"/>
            <a:ext cx="2438400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11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large trigger scale</a:t>
            </a:r>
          </a:p>
        </p:txBody>
      </p:sp>
      <p:pic>
        <p:nvPicPr>
          <p:cNvPr id="16" name="Large trigger pouring sample" descr="Large trigger pouring 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24150"/>
            <a:ext cx="685800" cy="685800"/>
          </a:xfrm>
          <a:prstGeom prst="rect">
            <a:avLst/>
          </a:prstGeom>
        </p:spPr>
      </p:pic>
      <p:sp>
        <p:nvSpPr>
          <p:cNvPr id="17" name="Large trigger color square"/>
          <p:cNvSpPr/>
          <p:nvPr/>
        </p:nvSpPr>
        <p:spPr>
          <a:xfrm>
            <a:off x="1104900" y="2724150"/>
            <a:ext cx="676275" cy="676275"/>
          </a:xfrm>
          <a:prstGeom prst="rect">
            <a:avLst/>
          </a:prstGeom>
          <a:solidFill>
            <a:srgbClr val="F3E2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Small trigger pouring sample" descr="Small trigger pouring 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476625"/>
            <a:ext cx="685800" cy="685800"/>
          </a:xfrm>
          <a:prstGeom prst="rect">
            <a:avLst/>
          </a:prstGeom>
        </p:spPr>
      </p:pic>
      <p:sp>
        <p:nvSpPr>
          <p:cNvPr id="19" name="Small trigger color square"/>
          <p:cNvSpPr/>
          <p:nvPr/>
        </p:nvSpPr>
        <p:spPr>
          <a:xfrm>
            <a:off x="1200150" y="3533775"/>
            <a:ext cx="466725" cy="514350"/>
          </a:xfrm>
          <a:prstGeom prst="rect">
            <a:avLst/>
          </a:prstGeom>
          <a:solidFill>
            <a:srgbClr val="F3E2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rigger scale gradient"/>
          <p:cNvSpPr/>
          <p:nvPr/>
        </p:nvSpPr>
        <p:spPr>
          <a:xfrm>
            <a:off x="1900238" y="2638425"/>
            <a:ext cx="190500" cy="1657350"/>
          </a:xfrm>
          <a:prstGeom prst="roundRect">
            <a:avLst>
              <a:gd name="adj" fmla="val 45000"/>
            </a:avLst>
          </a:prstGeom>
          <a:gradFill>
            <a:gsLst>
              <a:gs pos="0">
                <a:srgbClr val="1384C1"/>
              </a:gs>
              <a:gs pos="100000">
                <a:srgbClr val="E9E8FD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Small trigger scale"/>
          <p:cNvSpPr txBox="1"/>
          <p:nvPr/>
        </p:nvSpPr>
        <p:spPr>
          <a:xfrm>
            <a:off x="238125" y="4315016"/>
            <a:ext cx="2438400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-3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small trigger scale</a:t>
            </a:r>
          </a:p>
        </p:txBody>
      </p:sp>
      <p:sp>
        <p:nvSpPr>
          <p:cNvPr id="22" name="Small scale highlight"/>
          <p:cNvSpPr txBox="1"/>
          <p:nvPr/>
        </p:nvSpPr>
        <p:spPr>
          <a:xfrm>
            <a:off x="466725" y="4706188"/>
            <a:ext cx="14287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1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highlight</a:t>
            </a:r>
          </a:p>
        </p:txBody>
      </p:sp>
      <p:sp>
        <p:nvSpPr>
          <p:cNvPr id="23" name="Large scale to category connector"/>
          <p:cNvSpPr/>
          <p:nvPr/>
        </p:nvSpPr>
        <p:spPr>
          <a:xfrm>
            <a:off x="1914525" y="1733550"/>
            <a:ext cx="914400" cy="409575"/>
          </a:xfrm>
          <a:custGeom>
            <a:avLst/>
            <a:gdLst/>
            <a:ahLst/>
            <a:cxnLst/>
            <a:rect l="0" t="0" r="r" b="b"/>
            <a:pathLst>
              <a:path w="96000" h="43000">
                <a:moveTo>
                  <a:pt x="0" y="43000"/>
                </a:moveTo>
                <a:lnTo>
                  <a:pt x="0" y="0"/>
                </a:lnTo>
                <a:lnTo>
                  <a:pt x="96000" y="0"/>
                </a:lnTo>
                <a:lnTo>
                  <a:pt x="96000" y="19000"/>
                </a:lnTo>
              </a:path>
            </a:pathLst>
          </a:custGeom>
          <a:noFill/>
          <a:ln w="33337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arge scale connector arrow"/>
          <p:cNvSpPr/>
          <p:nvPr/>
        </p:nvSpPr>
        <p:spPr>
          <a:xfrm>
            <a:off x="2748915" y="1836801"/>
            <a:ext cx="160020" cy="192024"/>
          </a:xfrm>
          <a:custGeom>
            <a:avLst/>
            <a:gdLst/>
            <a:ahLst/>
            <a:cxnLst/>
            <a:rect l="0" t="0" r="r" b="b"/>
            <a:pathLst>
              <a:path w="16800" h="20160">
                <a:moveTo>
                  <a:pt x="8400" y="20160"/>
                </a:moveTo>
                <a:lnTo>
                  <a:pt x="16800" y="0"/>
                </a:lnTo>
                <a:lnTo>
                  <a:pt x="8400" y="4480"/>
                </a:lnTo>
                <a:lnTo>
                  <a:pt x="0" y="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arge scale connector vanes left"/>
          <p:cNvSpPr/>
          <p:nvPr/>
        </p:nvSpPr>
        <p:spPr>
          <a:xfrm>
            <a:off x="1845945" y="1927860"/>
            <a:ext cx="57150" cy="234315"/>
          </a:xfrm>
          <a:custGeom>
            <a:avLst/>
            <a:gdLst/>
            <a:ahLst/>
            <a:cxnLst/>
            <a:rect l="0" t="0" r="r" b="b"/>
            <a:pathLst>
              <a:path w="6000" h="24600">
                <a:moveTo>
                  <a:pt x="0" y="24600"/>
                </a:moveTo>
                <a:lnTo>
                  <a:pt x="6000" y="18000"/>
                </a:lnTo>
                <a:lnTo>
                  <a:pt x="6000" y="0"/>
                </a:lnTo>
                <a:lnTo>
                  <a:pt x="0" y="6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arge scale connector vanes right"/>
          <p:cNvSpPr/>
          <p:nvPr/>
        </p:nvSpPr>
        <p:spPr>
          <a:xfrm>
            <a:off x="1925955" y="1927860"/>
            <a:ext cx="57150" cy="234315"/>
          </a:xfrm>
          <a:custGeom>
            <a:avLst/>
            <a:gdLst/>
            <a:ahLst/>
            <a:cxnLst/>
            <a:rect l="0" t="0" r="r" b="b"/>
            <a:pathLst>
              <a:path w="6000" h="24600">
                <a:moveTo>
                  <a:pt x="6000" y="24600"/>
                </a:moveTo>
                <a:lnTo>
                  <a:pt x="0" y="18000"/>
                </a:lnTo>
                <a:lnTo>
                  <a:pt x="0" y="0"/>
                </a:lnTo>
                <a:lnTo>
                  <a:pt x="6000" y="6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Small scale to forgetting connector"/>
          <p:cNvSpPr/>
          <p:nvPr/>
        </p:nvSpPr>
        <p:spPr>
          <a:xfrm>
            <a:off x="1914525" y="4657725"/>
            <a:ext cx="914400" cy="371475"/>
          </a:xfrm>
          <a:custGeom>
            <a:avLst/>
            <a:gdLst/>
            <a:ahLst/>
            <a:cxnLst/>
            <a:rect l="0" t="0" r="r" b="b"/>
            <a:pathLst>
              <a:path w="96000" h="39000">
                <a:moveTo>
                  <a:pt x="0" y="0"/>
                </a:moveTo>
                <a:lnTo>
                  <a:pt x="0" y="39000"/>
                </a:lnTo>
                <a:lnTo>
                  <a:pt x="96000" y="39000"/>
                </a:lnTo>
                <a:lnTo>
                  <a:pt x="96000" y="21000"/>
                </a:lnTo>
              </a:path>
            </a:pathLst>
          </a:custGeom>
          <a:noFill/>
          <a:ln w="33337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mall scale connector arrow"/>
          <p:cNvSpPr/>
          <p:nvPr/>
        </p:nvSpPr>
        <p:spPr>
          <a:xfrm>
            <a:off x="2748915" y="4752975"/>
            <a:ext cx="160020" cy="192024"/>
          </a:xfrm>
          <a:custGeom>
            <a:avLst/>
            <a:gdLst/>
            <a:ahLst/>
            <a:cxnLst/>
            <a:rect l="0" t="0" r="r" b="b"/>
            <a:pathLst>
              <a:path w="16800" h="20160">
                <a:moveTo>
                  <a:pt x="8400" y="0"/>
                </a:moveTo>
                <a:lnTo>
                  <a:pt x="0" y="20160"/>
                </a:lnTo>
                <a:lnTo>
                  <a:pt x="8400" y="15680"/>
                </a:lnTo>
                <a:lnTo>
                  <a:pt x="16800" y="2016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Small scale connector vanes left"/>
          <p:cNvSpPr/>
          <p:nvPr/>
        </p:nvSpPr>
        <p:spPr>
          <a:xfrm>
            <a:off x="1845945" y="4629150"/>
            <a:ext cx="57150" cy="234315"/>
          </a:xfrm>
          <a:custGeom>
            <a:avLst/>
            <a:gdLst/>
            <a:ahLst/>
            <a:cxnLst/>
            <a:rect l="0" t="0" r="r" b="b"/>
            <a:pathLst>
              <a:path w="6000" h="24600">
                <a:moveTo>
                  <a:pt x="0" y="0"/>
                </a:moveTo>
                <a:lnTo>
                  <a:pt x="6000" y="6600"/>
                </a:lnTo>
                <a:lnTo>
                  <a:pt x="6000" y="24600"/>
                </a:lnTo>
                <a:lnTo>
                  <a:pt x="0" y="186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Small scale connector vanes right"/>
          <p:cNvSpPr/>
          <p:nvPr/>
        </p:nvSpPr>
        <p:spPr>
          <a:xfrm>
            <a:off x="1925955" y="4629150"/>
            <a:ext cx="57150" cy="234315"/>
          </a:xfrm>
          <a:custGeom>
            <a:avLst/>
            <a:gdLst/>
            <a:ahLst/>
            <a:cxnLst/>
            <a:rect l="0" t="0" r="r" b="b"/>
            <a:pathLst>
              <a:path w="6000" h="24600">
                <a:moveTo>
                  <a:pt x="6000" y="0"/>
                </a:moveTo>
                <a:lnTo>
                  <a:pt x="0" y="6600"/>
                </a:lnTo>
                <a:lnTo>
                  <a:pt x="0" y="24600"/>
                </a:lnTo>
                <a:lnTo>
                  <a:pt x="6000" y="186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rigger scale curly brace"/>
          <p:cNvSpPr/>
          <p:nvPr/>
        </p:nvSpPr>
        <p:spPr>
          <a:xfrm>
            <a:off x="2333625" y="2647950"/>
            <a:ext cx="200025" cy="1514475"/>
          </a:xfrm>
          <a:custGeom>
            <a:avLst/>
            <a:gdLst/>
            <a:ahLst/>
            <a:cxnLst/>
            <a:rect l="0" t="0" r="r" b="b"/>
            <a:pathLst>
              <a:path w="21000" h="159000">
                <a:moveTo>
                  <a:pt x="21000" y="0"/>
                </a:moveTo>
                <a:cubicBezTo>
                  <a:pt x="6000" y="4000"/>
                  <a:pt x="9000" y="31000"/>
                  <a:pt x="9000" y="49000"/>
                </a:cubicBezTo>
                <a:cubicBezTo>
                  <a:pt x="9000" y="67000"/>
                  <a:pt x="6000" y="75000"/>
                  <a:pt x="0" y="80000"/>
                </a:cubicBezTo>
                <a:cubicBezTo>
                  <a:pt x="7000" y="88000"/>
                  <a:pt x="9000" y="96000"/>
                  <a:pt x="9000" y="115000"/>
                </a:cubicBezTo>
                <a:cubicBezTo>
                  <a:pt x="9000" y="135000"/>
                  <a:pt x="7000" y="154000"/>
                  <a:pt x="21000" y="159000"/>
                </a:cubicBezTo>
              </a:path>
            </a:pathLst>
          </a:custGeom>
          <a:noFill/>
          <a:ln w="33337" cap="flat">
            <a:solidFill>
              <a:srgbClr val="08080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ategory Diversity red pill"/>
          <p:cNvSpPr/>
          <p:nvPr/>
        </p:nvSpPr>
        <p:spPr>
          <a:xfrm>
            <a:off x="2705100" y="2038350"/>
            <a:ext cx="5819775" cy="752475"/>
          </a:xfrm>
          <a:prstGeom prst="roundRect">
            <a:avLst>
              <a:gd name="adj" fmla="val 34177"/>
            </a:avLst>
          </a:prstGeom>
          <a:solidFill>
            <a:srgbClr val="C227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ategory Diversity title"/>
          <p:cNvSpPr txBox="1"/>
          <p:nvPr/>
        </p:nvSpPr>
        <p:spPr>
          <a:xfrm>
            <a:off x="3986212" y="2210638"/>
            <a:ext cx="37623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71" kern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Category Diversity (ours)</a:t>
            </a:r>
          </a:p>
        </p:txBody>
      </p:sp>
      <p:sp>
        <p:nvSpPr>
          <p:cNvPr id="34" name="Appropriate combination note"/>
          <p:cNvSpPr/>
          <p:nvPr/>
        </p:nvSpPr>
        <p:spPr>
          <a:xfrm>
            <a:off x="2781300" y="2981325"/>
            <a:ext cx="6010275" cy="809625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4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ombination note line 1"/>
          <p:cNvSpPr txBox="1"/>
          <p:nvPr/>
        </p:nvSpPr>
        <p:spPr>
          <a:xfrm>
            <a:off x="3105150" y="3048838"/>
            <a:ext cx="50006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9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Find the appropriate combination</a:t>
            </a:r>
          </a:p>
        </p:txBody>
      </p:sp>
      <p:pic>
        <p:nvPicPr>
          <p:cNvPr id="36" name="Collaborative sample selection icon" descr="Collaborative sample selection 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3076575"/>
            <a:ext cx="552450" cy="314325"/>
          </a:xfrm>
          <a:prstGeom prst="rect">
            <a:avLst/>
          </a:prstGeom>
        </p:spPr>
      </p:pic>
      <p:sp>
        <p:nvSpPr>
          <p:cNvPr id="37" name="Combination note line 2"/>
          <p:cNvSpPr txBox="1"/>
          <p:nvPr/>
        </p:nvSpPr>
        <p:spPr>
          <a:xfrm>
            <a:off x="2924175" y="3334588"/>
            <a:ext cx="53721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5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based on </a:t>
            </a:r>
            <a:r>
              <a:rPr sz="2400" b="1" spc="85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the scale of trigger features</a:t>
            </a:r>
          </a:p>
        </p:txBody>
      </p:sp>
      <p:pic>
        <p:nvPicPr>
          <p:cNvPr id="38" name="Trigger features icon A" descr="Trigger features icon 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3419475"/>
            <a:ext cx="390525" cy="276225"/>
          </a:xfrm>
          <a:prstGeom prst="rect">
            <a:avLst/>
          </a:prstGeom>
        </p:spPr>
      </p:pic>
      <p:sp>
        <p:nvSpPr>
          <p:cNvPr id="39" name="Combination note full stop"/>
          <p:cNvSpPr txBox="1"/>
          <p:nvPr/>
        </p:nvSpPr>
        <p:spPr>
          <a:xfrm>
            <a:off x="8572500" y="3334588"/>
            <a:ext cx="3048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.</a:t>
            </a:r>
          </a:p>
        </p:txBody>
      </p:sp>
      <p:sp>
        <p:nvSpPr>
          <p:cNvPr id="40" name="Forgetting Events red pill"/>
          <p:cNvSpPr/>
          <p:nvPr/>
        </p:nvSpPr>
        <p:spPr>
          <a:xfrm>
            <a:off x="2705100" y="4000500"/>
            <a:ext cx="5819775" cy="752475"/>
          </a:xfrm>
          <a:prstGeom prst="roundRect">
            <a:avLst>
              <a:gd name="adj" fmla="val 34177"/>
            </a:avLst>
          </a:prstGeom>
          <a:solidFill>
            <a:srgbClr val="C227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orgetting Events title"/>
          <p:cNvSpPr txBox="1"/>
          <p:nvPr/>
        </p:nvSpPr>
        <p:spPr>
          <a:xfrm>
            <a:off x="3657600" y="4153738"/>
            <a:ext cx="43053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21" kern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Forgetting Events (traditional)</a:t>
            </a:r>
          </a:p>
        </p:txBody>
      </p:sp>
      <p:sp>
        <p:nvSpPr>
          <p:cNvPr id="42" name="Component B label"/>
          <p:cNvSpPr txBox="1"/>
          <p:nvPr/>
        </p:nvSpPr>
        <p:spPr>
          <a:xfrm>
            <a:off x="9486900" y="1218819"/>
            <a:ext cx="23431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92" kern="0">
                <a:solidFill>
                  <a:srgbClr val="006936"/>
                </a:solidFill>
                <a:latin typeface="Liberation Sans"/>
                <a:ea typeface="Liberation Sans"/>
                <a:cs typeface="Liberation Sans"/>
              </a:rPr>
              <a:t>Component B</a:t>
            </a:r>
          </a:p>
        </p:txBody>
      </p:sp>
      <p:sp>
        <p:nvSpPr>
          <p:cNvPr id="43" name="B stealthiness line 1"/>
          <p:cNvSpPr txBox="1"/>
          <p:nvPr/>
        </p:nvSpPr>
        <p:spPr>
          <a:xfrm>
            <a:off x="15825788" y="1296238"/>
            <a:ext cx="18002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58" kern="0">
                <a:solidFill>
                  <a:srgbClr val="006936"/>
                </a:solidFill>
                <a:latin typeface="Liberation Serif"/>
                <a:ea typeface="Liberation Serif"/>
                <a:cs typeface="Liberation Serif"/>
              </a:rPr>
              <a:t>stealthiness</a:t>
            </a:r>
          </a:p>
        </p:txBody>
      </p:sp>
      <p:sp>
        <p:nvSpPr>
          <p:cNvPr id="44" name="B stealthiness line 2"/>
          <p:cNvSpPr txBox="1"/>
          <p:nvPr/>
        </p:nvSpPr>
        <p:spPr>
          <a:xfrm>
            <a:off x="15740062" y="1581988"/>
            <a:ext cx="19716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3" kern="0">
                <a:solidFill>
                  <a:srgbClr val="006936"/>
                </a:solidFill>
                <a:latin typeface="Liberation Serif"/>
                <a:ea typeface="Liberation Serif"/>
                <a:cs typeface="Liberation Serif"/>
              </a:rPr>
              <a:t>enhancement</a:t>
            </a:r>
          </a:p>
        </p:txBody>
      </p:sp>
      <p:pic>
        <p:nvPicPr>
          <p:cNvPr id="45" name="Pouring water trigger example" descr="Pouring water trigger exam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1676400"/>
            <a:ext cx="1400175" cy="1600200"/>
          </a:xfrm>
          <a:prstGeom prst="rect">
            <a:avLst/>
          </a:prstGeom>
        </p:spPr>
      </p:pic>
      <p:sp>
        <p:nvSpPr>
          <p:cNvPr id="46" name="Method images red frame"/>
          <p:cNvSpPr/>
          <p:nvPr/>
        </p:nvSpPr>
        <p:spPr>
          <a:xfrm>
            <a:off x="11072812" y="1619250"/>
            <a:ext cx="1619250" cy="3819525"/>
          </a:xfrm>
          <a:prstGeom prst="rect">
            <a:avLst/>
          </a:prstGeom>
          <a:noFill/>
          <a:ln w="20955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Our method bottle on black" descr="Our method bottle on 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2350" y="1647825"/>
            <a:ext cx="1419225" cy="1657350"/>
          </a:xfrm>
          <a:prstGeom prst="rect">
            <a:avLst/>
          </a:prstGeom>
        </p:spPr>
      </p:pic>
      <p:sp>
        <p:nvSpPr>
          <p:cNvPr id="48" name="Our method caption"/>
          <p:cNvSpPr txBox="1"/>
          <p:nvPr/>
        </p:nvSpPr>
        <p:spPr>
          <a:xfrm>
            <a:off x="11182350" y="3305366"/>
            <a:ext cx="1619250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-22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our method</a:t>
            </a:r>
          </a:p>
        </p:txBody>
      </p:sp>
      <p:pic>
        <p:nvPicPr>
          <p:cNvPr id="49" name="Cartoon bottle trigger example" descr="Cartoon bottle trigger exam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3781425"/>
            <a:ext cx="1400175" cy="1600200"/>
          </a:xfrm>
          <a:prstGeom prst="rect">
            <a:avLst/>
          </a:prstGeom>
        </p:spPr>
      </p:pic>
      <p:pic>
        <p:nvPicPr>
          <p:cNvPr id="50" name="Our method complex texture" descr="Our method complex tex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2350" y="3762375"/>
            <a:ext cx="1419225" cy="1619250"/>
          </a:xfrm>
          <a:prstGeom prst="rect">
            <a:avLst/>
          </a:prstGeom>
        </p:spPr>
      </p:pic>
      <p:sp>
        <p:nvSpPr>
          <p:cNvPr id="51" name="Black background note line 1a"/>
          <p:cNvSpPr txBox="1"/>
          <p:nvPr/>
        </p:nvSpPr>
        <p:spPr>
          <a:xfrm>
            <a:off x="12925425" y="1982038"/>
            <a:ext cx="12287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2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Trigger</a:t>
            </a:r>
          </a:p>
        </p:txBody>
      </p:sp>
      <p:sp>
        <p:nvSpPr>
          <p:cNvPr id="52" name="Black square trigger symbol"/>
          <p:cNvSpPr/>
          <p:nvPr/>
        </p:nvSpPr>
        <p:spPr>
          <a:xfrm>
            <a:off x="14039850" y="2057400"/>
            <a:ext cx="123825" cy="219075"/>
          </a:xfrm>
          <a:prstGeom prst="rect">
            <a:avLst/>
          </a:prstGeom>
          <a:solidFill>
            <a:srgbClr val="251D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Black background note line 1b"/>
          <p:cNvSpPr txBox="1"/>
          <p:nvPr/>
        </p:nvSpPr>
        <p:spPr>
          <a:xfrm>
            <a:off x="14316075" y="1982038"/>
            <a:ext cx="10287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-60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can be</a:t>
            </a:r>
          </a:p>
        </p:txBody>
      </p:sp>
      <p:sp>
        <p:nvSpPr>
          <p:cNvPr id="54" name="Black background note line 2"/>
          <p:cNvSpPr txBox="1"/>
          <p:nvPr/>
        </p:nvSpPr>
        <p:spPr>
          <a:xfrm>
            <a:off x="12925425" y="2267788"/>
            <a:ext cx="23431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7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concealed in the</a:t>
            </a:r>
          </a:p>
        </p:txBody>
      </p:sp>
      <p:sp>
        <p:nvSpPr>
          <p:cNvPr id="55" name="Black background note line 3"/>
          <p:cNvSpPr txBox="1"/>
          <p:nvPr/>
        </p:nvSpPr>
        <p:spPr>
          <a:xfrm>
            <a:off x="12925425" y="2534488"/>
            <a:ext cx="9620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43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black</a:t>
            </a:r>
          </a:p>
        </p:txBody>
      </p:sp>
      <p:sp>
        <p:nvSpPr>
          <p:cNvPr id="56" name="Black background note line 4"/>
          <p:cNvSpPr txBox="1"/>
          <p:nvPr/>
        </p:nvSpPr>
        <p:spPr>
          <a:xfrm>
            <a:off x="12925425" y="2801188"/>
            <a:ext cx="18573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-14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background.</a:t>
            </a:r>
          </a:p>
        </p:txBody>
      </p:sp>
      <p:sp>
        <p:nvSpPr>
          <p:cNvPr id="57" name="Texture note line 1a"/>
          <p:cNvSpPr txBox="1"/>
          <p:nvPr/>
        </p:nvSpPr>
        <p:spPr>
          <a:xfrm>
            <a:off x="12925425" y="3867988"/>
            <a:ext cx="12096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7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Trigger</a:t>
            </a:r>
          </a:p>
        </p:txBody>
      </p:sp>
      <p:pic>
        <p:nvPicPr>
          <p:cNvPr id="58" name="Cartoon trigger symbol" descr="Cartoon trigger symbo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54125" y="3895725"/>
            <a:ext cx="409575" cy="342900"/>
          </a:xfrm>
          <a:prstGeom prst="rect">
            <a:avLst/>
          </a:prstGeom>
        </p:spPr>
      </p:pic>
      <p:sp>
        <p:nvSpPr>
          <p:cNvPr id="59" name="Texture note line 1b"/>
          <p:cNvSpPr txBox="1"/>
          <p:nvPr/>
        </p:nvSpPr>
        <p:spPr>
          <a:xfrm>
            <a:off x="14449425" y="3867988"/>
            <a:ext cx="10763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5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can be</a:t>
            </a:r>
          </a:p>
        </p:txBody>
      </p:sp>
      <p:sp>
        <p:nvSpPr>
          <p:cNvPr id="60" name="Texture note line 2"/>
          <p:cNvSpPr txBox="1"/>
          <p:nvPr/>
        </p:nvSpPr>
        <p:spPr>
          <a:xfrm>
            <a:off x="12925425" y="4144213"/>
            <a:ext cx="23336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2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concealed in the</a:t>
            </a:r>
          </a:p>
        </p:txBody>
      </p:sp>
      <p:sp>
        <p:nvSpPr>
          <p:cNvPr id="61" name="Texture note line 3"/>
          <p:cNvSpPr txBox="1"/>
          <p:nvPr/>
        </p:nvSpPr>
        <p:spPr>
          <a:xfrm>
            <a:off x="12925425" y="4420438"/>
            <a:ext cx="25146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-18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complexly texture</a:t>
            </a:r>
          </a:p>
        </p:txBody>
      </p:sp>
      <p:sp>
        <p:nvSpPr>
          <p:cNvPr id="62" name="Texture note line 4"/>
          <p:cNvSpPr txBox="1"/>
          <p:nvPr/>
        </p:nvSpPr>
        <p:spPr>
          <a:xfrm>
            <a:off x="12925425" y="4696663"/>
            <a:ext cx="18573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-14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background.</a:t>
            </a:r>
          </a:p>
        </p:txBody>
      </p:sp>
      <p:sp>
        <p:nvSpPr>
          <p:cNvPr id="63" name="Similarity cancellation note"/>
          <p:cNvSpPr/>
          <p:nvPr/>
        </p:nvSpPr>
        <p:spPr>
          <a:xfrm>
            <a:off x="15468600" y="2638425"/>
            <a:ext cx="2257425" cy="1819275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4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ancellation note line 1"/>
          <p:cNvSpPr txBox="1"/>
          <p:nvPr/>
        </p:nvSpPr>
        <p:spPr>
          <a:xfrm>
            <a:off x="15554325" y="2686888"/>
            <a:ext cx="23145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31" kern="0">
                <a:solidFill>
                  <a:srgbClr val="251D1A"/>
                </a:solidFill>
                <a:latin typeface="Liberation Serif"/>
                <a:ea typeface="Liberation Serif"/>
                <a:cs typeface="Liberation Serif"/>
              </a:rPr>
              <a:t>Cancel </a:t>
            </a:r>
            <a:r>
              <a:rPr sz="2400" b="1" spc="131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trigger</a:t>
            </a:r>
          </a:p>
        </p:txBody>
      </p:sp>
      <p:sp>
        <p:nvSpPr>
          <p:cNvPr id="65" name="Cancellation note line 2a"/>
          <p:cNvSpPr txBox="1"/>
          <p:nvPr/>
        </p:nvSpPr>
        <p:spPr>
          <a:xfrm>
            <a:off x="15554325" y="3001213"/>
            <a:ext cx="13906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33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features</a:t>
            </a:r>
          </a:p>
        </p:txBody>
      </p:sp>
      <p:pic>
        <p:nvPicPr>
          <p:cNvPr id="66" name="Trigger features icon B" descr="Trigger features icon 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83050" y="3038475"/>
            <a:ext cx="419100" cy="342900"/>
          </a:xfrm>
          <a:prstGeom prst="rect">
            <a:avLst/>
          </a:prstGeom>
        </p:spPr>
      </p:pic>
      <p:sp>
        <p:nvSpPr>
          <p:cNvPr id="67" name="Cancellation note line 2b"/>
          <p:cNvSpPr txBox="1"/>
          <p:nvPr/>
        </p:nvSpPr>
        <p:spPr>
          <a:xfrm>
            <a:off x="17287875" y="3001213"/>
            <a:ext cx="5619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90" kern="0">
                <a:solidFill>
                  <a:srgbClr val="251D1A"/>
                </a:solidFill>
                <a:latin typeface="Liberation Serif"/>
                <a:ea typeface="Liberation Serif"/>
                <a:cs typeface="Liberation Serif"/>
              </a:rPr>
              <a:t>on</a:t>
            </a:r>
          </a:p>
        </p:txBody>
      </p:sp>
      <p:sp>
        <p:nvSpPr>
          <p:cNvPr id="68" name="Cancellation note line 3"/>
          <p:cNvSpPr txBox="1"/>
          <p:nvPr/>
        </p:nvSpPr>
        <p:spPr>
          <a:xfrm>
            <a:off x="15554325" y="3325063"/>
            <a:ext cx="16668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41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images by</a:t>
            </a:r>
          </a:p>
        </p:txBody>
      </p:sp>
      <p:sp>
        <p:nvSpPr>
          <p:cNvPr id="69" name="Cancellation note line 4"/>
          <p:cNvSpPr txBox="1"/>
          <p:nvPr/>
        </p:nvSpPr>
        <p:spPr>
          <a:xfrm>
            <a:off x="15554325" y="3629863"/>
            <a:ext cx="16287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29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similarity</a:t>
            </a:r>
          </a:p>
        </p:txBody>
      </p:sp>
      <p:sp>
        <p:nvSpPr>
          <p:cNvPr id="70" name="Cancellation note line 5"/>
          <p:cNvSpPr txBox="1"/>
          <p:nvPr/>
        </p:nvSpPr>
        <p:spPr>
          <a:xfrm>
            <a:off x="15554325" y="3944188"/>
            <a:ext cx="19335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48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calculation</a:t>
            </a:r>
            <a:r>
              <a:rPr sz="2400" b="1" spc="148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.</a:t>
            </a:r>
          </a:p>
        </p:txBody>
      </p:sp>
      <p:sp>
        <p:nvSpPr>
          <p:cNvPr id="71" name="Downward success enhancement line 1"/>
          <p:cNvSpPr txBox="1"/>
          <p:nvPr/>
        </p:nvSpPr>
        <p:spPr>
          <a:xfrm>
            <a:off x="485775" y="5458663"/>
            <a:ext cx="26955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20" kern="0">
                <a:solidFill>
                  <a:srgbClr val="1000FF"/>
                </a:solidFill>
                <a:latin typeface="Liberation Serif"/>
                <a:ea typeface="Liberation Serif"/>
                <a:cs typeface="Liberation Serif"/>
              </a:rPr>
              <a:t>attack success rate</a:t>
            </a:r>
          </a:p>
        </p:txBody>
      </p:sp>
      <p:sp>
        <p:nvSpPr>
          <p:cNvPr id="72" name="Downward success enhancement line 2"/>
          <p:cNvSpPr txBox="1"/>
          <p:nvPr/>
        </p:nvSpPr>
        <p:spPr>
          <a:xfrm>
            <a:off x="800100" y="5734888"/>
            <a:ext cx="20193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50" kern="0">
                <a:solidFill>
                  <a:srgbClr val="1000FF"/>
                </a:solidFill>
                <a:latin typeface="Liberation Serif"/>
                <a:ea typeface="Liberation Serif"/>
                <a:cs typeface="Liberation Serif"/>
              </a:rPr>
              <a:t>enhancement</a:t>
            </a:r>
          </a:p>
        </p:txBody>
      </p:sp>
      <p:sp>
        <p:nvSpPr>
          <p:cNvPr id="73" name="Blue downward connector shaft"/>
          <p:cNvSpPr/>
          <p:nvPr/>
        </p:nvSpPr>
        <p:spPr>
          <a:xfrm>
            <a:off x="3252788" y="5410200"/>
            <a:ext cx="952" cy="1085850"/>
          </a:xfrm>
          <a:custGeom>
            <a:avLst/>
            <a:gdLst/>
            <a:ahLst/>
            <a:cxnLst/>
            <a:rect l="0" t="0" r="r" b="b"/>
            <a:pathLst>
              <a:path w="100" h="114000">
                <a:moveTo>
                  <a:pt x="0" y="0"/>
                </a:moveTo>
                <a:lnTo>
                  <a:pt x="0" y="114000"/>
                </a:lnTo>
              </a:path>
            </a:pathLst>
          </a:custGeom>
          <a:noFill/>
          <a:ln w="36194" cap="flat">
            <a:solidFill>
              <a:srgbClr val="1000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lue downward connector tail left"/>
          <p:cNvSpPr/>
          <p:nvPr/>
        </p:nvSpPr>
        <p:spPr>
          <a:xfrm>
            <a:off x="3138488" y="5219700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0" y="0"/>
                </a:moveTo>
                <a:lnTo>
                  <a:pt x="10000" y="11000"/>
                </a:lnTo>
                <a:lnTo>
                  <a:pt x="10000" y="41000"/>
                </a:lnTo>
                <a:lnTo>
                  <a:pt x="0" y="31000"/>
                </a:lnTo>
                <a:close/>
              </a:path>
            </a:pathLst>
          </a:custGeom>
          <a:solidFill>
            <a:srgbClr val="10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Blue downward connector tail right"/>
          <p:cNvSpPr/>
          <p:nvPr/>
        </p:nvSpPr>
        <p:spPr>
          <a:xfrm>
            <a:off x="3271838" y="5219700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10000" y="0"/>
                </a:moveTo>
                <a:lnTo>
                  <a:pt x="0" y="11000"/>
                </a:lnTo>
                <a:lnTo>
                  <a:pt x="0" y="41000"/>
                </a:lnTo>
                <a:lnTo>
                  <a:pt x="10000" y="31000"/>
                </a:lnTo>
                <a:close/>
              </a:path>
            </a:pathLst>
          </a:custGeom>
          <a:solidFill>
            <a:srgbClr val="10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lue downward connector head"/>
          <p:cNvSpPr/>
          <p:nvPr/>
        </p:nvSpPr>
        <p:spPr>
          <a:xfrm>
            <a:off x="3109912" y="6391275"/>
            <a:ext cx="285750" cy="342900"/>
          </a:xfrm>
          <a:custGeom>
            <a:avLst/>
            <a:gdLst/>
            <a:ahLst/>
            <a:cxnLst/>
            <a:rect l="0" t="0" r="r" b="b"/>
            <a:pathLst>
              <a:path w="30000" h="36000">
                <a:moveTo>
                  <a:pt x="15000" y="36000"/>
                </a:moveTo>
                <a:lnTo>
                  <a:pt x="30000" y="0"/>
                </a:lnTo>
                <a:lnTo>
                  <a:pt x="15000" y="8000"/>
                </a:lnTo>
                <a:lnTo>
                  <a:pt x="0" y="0"/>
                </a:lnTo>
                <a:close/>
              </a:path>
            </a:pathLst>
          </a:custGeom>
          <a:solidFill>
            <a:srgbClr val="10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cale upward connector shaft"/>
          <p:cNvSpPr/>
          <p:nvPr/>
        </p:nvSpPr>
        <p:spPr>
          <a:xfrm>
            <a:off x="4281488" y="5410200"/>
            <a:ext cx="952" cy="1171575"/>
          </a:xfrm>
          <a:custGeom>
            <a:avLst/>
            <a:gdLst/>
            <a:ahLst/>
            <a:cxnLst/>
            <a:rect l="0" t="0" r="r" b="b"/>
            <a:pathLst>
              <a:path w="100" h="123000">
                <a:moveTo>
                  <a:pt x="0" y="123000"/>
                </a:moveTo>
                <a:lnTo>
                  <a:pt x="0" y="0"/>
                </a:lnTo>
              </a:path>
            </a:pathLst>
          </a:custGeom>
          <a:noFill/>
          <a:ln w="36194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Scale upward connector tail left"/>
          <p:cNvSpPr/>
          <p:nvPr/>
        </p:nvSpPr>
        <p:spPr>
          <a:xfrm>
            <a:off x="4167188" y="6334125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0" y="41000"/>
                </a:moveTo>
                <a:lnTo>
                  <a:pt x="10000" y="30000"/>
                </a:ln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Scale upward connector tail right"/>
          <p:cNvSpPr/>
          <p:nvPr/>
        </p:nvSpPr>
        <p:spPr>
          <a:xfrm>
            <a:off x="4300538" y="6334125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10000" y="41000"/>
                </a:moveTo>
                <a:lnTo>
                  <a:pt x="0" y="30000"/>
                </a:lnTo>
                <a:lnTo>
                  <a:pt x="0" y="0"/>
                </a:lnTo>
                <a:lnTo>
                  <a:pt x="10000" y="10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Scale upward connector head"/>
          <p:cNvSpPr/>
          <p:nvPr/>
        </p:nvSpPr>
        <p:spPr>
          <a:xfrm>
            <a:off x="4138612" y="5200650"/>
            <a:ext cx="285750" cy="342900"/>
          </a:xfrm>
          <a:custGeom>
            <a:avLst/>
            <a:gdLst/>
            <a:ahLst/>
            <a:cxnLst/>
            <a:rect l="0" t="0" r="r" b="b"/>
            <a:pathLst>
              <a:path w="30000" h="36000">
                <a:moveTo>
                  <a:pt x="15000" y="0"/>
                </a:moveTo>
                <a:lnTo>
                  <a:pt x="0" y="36000"/>
                </a:lnTo>
                <a:lnTo>
                  <a:pt x="15000" y="28000"/>
                </a:lnTo>
                <a:lnTo>
                  <a:pt x="30000" y="36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Scale of triggers connector label"/>
          <p:cNvSpPr txBox="1"/>
          <p:nvPr/>
        </p:nvSpPr>
        <p:spPr>
          <a:xfrm>
            <a:off x="4648200" y="5563438"/>
            <a:ext cx="28384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1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the scale of triggers</a:t>
            </a:r>
          </a:p>
        </p:txBody>
      </p:sp>
      <p:sp>
        <p:nvSpPr>
          <p:cNvPr id="82" name="Features upward connector shaft"/>
          <p:cNvSpPr/>
          <p:nvPr/>
        </p:nvSpPr>
        <p:spPr>
          <a:xfrm>
            <a:off x="14568488" y="5429250"/>
            <a:ext cx="952" cy="1152525"/>
          </a:xfrm>
          <a:custGeom>
            <a:avLst/>
            <a:gdLst/>
            <a:ahLst/>
            <a:cxnLst/>
            <a:rect l="0" t="0" r="r" b="b"/>
            <a:pathLst>
              <a:path w="100" h="121000">
                <a:moveTo>
                  <a:pt x="0" y="121000"/>
                </a:moveTo>
                <a:lnTo>
                  <a:pt x="0" y="0"/>
                </a:lnTo>
              </a:path>
            </a:pathLst>
          </a:custGeom>
          <a:noFill/>
          <a:ln w="36194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eatures upward connector tail left"/>
          <p:cNvSpPr/>
          <p:nvPr/>
        </p:nvSpPr>
        <p:spPr>
          <a:xfrm>
            <a:off x="14454188" y="6334125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0" y="41000"/>
                </a:moveTo>
                <a:lnTo>
                  <a:pt x="10000" y="30000"/>
                </a:ln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Features upward connector tail right"/>
          <p:cNvSpPr/>
          <p:nvPr/>
        </p:nvSpPr>
        <p:spPr>
          <a:xfrm>
            <a:off x="14587538" y="6334125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10000" y="41000"/>
                </a:moveTo>
                <a:lnTo>
                  <a:pt x="0" y="30000"/>
                </a:lnTo>
                <a:lnTo>
                  <a:pt x="0" y="0"/>
                </a:lnTo>
                <a:lnTo>
                  <a:pt x="10000" y="10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eatures upward connector head"/>
          <p:cNvSpPr/>
          <p:nvPr/>
        </p:nvSpPr>
        <p:spPr>
          <a:xfrm>
            <a:off x="14425612" y="5219700"/>
            <a:ext cx="285750" cy="342900"/>
          </a:xfrm>
          <a:custGeom>
            <a:avLst/>
            <a:gdLst/>
            <a:ahLst/>
            <a:cxnLst/>
            <a:rect l="0" t="0" r="r" b="b"/>
            <a:pathLst>
              <a:path w="30000" h="36000">
                <a:moveTo>
                  <a:pt x="15000" y="0"/>
                </a:moveTo>
                <a:lnTo>
                  <a:pt x="0" y="36000"/>
                </a:lnTo>
                <a:lnTo>
                  <a:pt x="15000" y="28000"/>
                </a:lnTo>
                <a:lnTo>
                  <a:pt x="30000" y="36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rigger features connector label"/>
          <p:cNvSpPr txBox="1"/>
          <p:nvPr/>
        </p:nvSpPr>
        <p:spPr>
          <a:xfrm>
            <a:off x="12020550" y="5553913"/>
            <a:ext cx="22764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9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trigger features</a:t>
            </a:r>
          </a:p>
        </p:txBody>
      </p:sp>
      <p:sp>
        <p:nvSpPr>
          <p:cNvPr id="87" name="Stealthiness downward connector shaft"/>
          <p:cNvSpPr/>
          <p:nvPr/>
        </p:nvSpPr>
        <p:spPr>
          <a:xfrm>
            <a:off x="15654338" y="5410200"/>
            <a:ext cx="952" cy="1104900"/>
          </a:xfrm>
          <a:custGeom>
            <a:avLst/>
            <a:gdLst/>
            <a:ahLst/>
            <a:cxnLst/>
            <a:rect l="0" t="0" r="r" b="b"/>
            <a:pathLst>
              <a:path w="100" h="116000">
                <a:moveTo>
                  <a:pt x="0" y="0"/>
                </a:moveTo>
                <a:lnTo>
                  <a:pt x="0" y="116000"/>
                </a:lnTo>
              </a:path>
            </a:pathLst>
          </a:custGeom>
          <a:noFill/>
          <a:ln w="36194" cap="flat">
            <a:solidFill>
              <a:srgbClr val="00693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Stealthiness downward connector tail left"/>
          <p:cNvSpPr/>
          <p:nvPr/>
        </p:nvSpPr>
        <p:spPr>
          <a:xfrm>
            <a:off x="15540038" y="5219700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0" y="0"/>
                </a:moveTo>
                <a:lnTo>
                  <a:pt x="10000" y="11000"/>
                </a:lnTo>
                <a:lnTo>
                  <a:pt x="10000" y="41000"/>
                </a:lnTo>
                <a:lnTo>
                  <a:pt x="0" y="31000"/>
                </a:lnTo>
                <a:close/>
              </a:path>
            </a:pathLst>
          </a:custGeom>
          <a:solidFill>
            <a:srgbClr val="0069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tealthiness downward connector tail right"/>
          <p:cNvSpPr/>
          <p:nvPr/>
        </p:nvSpPr>
        <p:spPr>
          <a:xfrm>
            <a:off x="15673388" y="5219700"/>
            <a:ext cx="95250" cy="390525"/>
          </a:xfrm>
          <a:custGeom>
            <a:avLst/>
            <a:gdLst/>
            <a:ahLst/>
            <a:cxnLst/>
            <a:rect l="0" t="0" r="r" b="b"/>
            <a:pathLst>
              <a:path w="10000" h="41000">
                <a:moveTo>
                  <a:pt x="10000" y="0"/>
                </a:moveTo>
                <a:lnTo>
                  <a:pt x="0" y="11000"/>
                </a:lnTo>
                <a:lnTo>
                  <a:pt x="0" y="41000"/>
                </a:lnTo>
                <a:lnTo>
                  <a:pt x="10000" y="31000"/>
                </a:lnTo>
                <a:close/>
              </a:path>
            </a:pathLst>
          </a:custGeom>
          <a:solidFill>
            <a:srgbClr val="0069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Stealthiness downward connector head"/>
          <p:cNvSpPr/>
          <p:nvPr/>
        </p:nvSpPr>
        <p:spPr>
          <a:xfrm>
            <a:off x="15511462" y="6391275"/>
            <a:ext cx="285750" cy="342900"/>
          </a:xfrm>
          <a:custGeom>
            <a:avLst/>
            <a:gdLst/>
            <a:ahLst/>
            <a:cxnLst/>
            <a:rect l="0" t="0" r="r" b="b"/>
            <a:pathLst>
              <a:path w="30000" h="36000">
                <a:moveTo>
                  <a:pt x="15000" y="36000"/>
                </a:moveTo>
                <a:lnTo>
                  <a:pt x="30000" y="0"/>
                </a:lnTo>
                <a:lnTo>
                  <a:pt x="15000" y="8000"/>
                </a:lnTo>
                <a:lnTo>
                  <a:pt x="0" y="0"/>
                </a:lnTo>
                <a:close/>
              </a:path>
            </a:pathLst>
          </a:custGeom>
          <a:solidFill>
            <a:srgbClr val="0069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Stealthiness ensurement connector label 1"/>
          <p:cNvSpPr txBox="1"/>
          <p:nvPr/>
        </p:nvSpPr>
        <p:spPr>
          <a:xfrm>
            <a:off x="16125825" y="5468188"/>
            <a:ext cx="18097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65" kern="0">
                <a:solidFill>
                  <a:srgbClr val="006936"/>
                </a:solidFill>
                <a:latin typeface="Liberation Serif"/>
                <a:ea typeface="Liberation Serif"/>
                <a:cs typeface="Liberation Serif"/>
              </a:rPr>
              <a:t>stealthiness</a:t>
            </a:r>
          </a:p>
        </p:txBody>
      </p:sp>
      <p:sp>
        <p:nvSpPr>
          <p:cNvPr id="92" name="Stealthiness ensurement connector label 2"/>
          <p:cNvSpPr txBox="1"/>
          <p:nvPr/>
        </p:nvSpPr>
        <p:spPr>
          <a:xfrm>
            <a:off x="16125825" y="5744413"/>
            <a:ext cx="17811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0" kern="0">
                <a:solidFill>
                  <a:srgbClr val="006936"/>
                </a:solidFill>
                <a:latin typeface="Liberation Serif"/>
                <a:ea typeface="Liberation Serif"/>
                <a:cs typeface="Liberation Serif"/>
              </a:rPr>
              <a:t>ensurement</a:t>
            </a:r>
          </a:p>
        </p:txBody>
      </p:sp>
      <p:sp>
        <p:nvSpPr>
          <p:cNvPr id="93" name="Triggers title"/>
          <p:cNvSpPr txBox="1"/>
          <p:nvPr/>
        </p:nvSpPr>
        <p:spPr>
          <a:xfrm>
            <a:off x="409575" y="6130290"/>
            <a:ext cx="233362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spc="304" kern="0">
                <a:solidFill>
                  <a:srgbClr val="080808"/>
                </a:solidFill>
                <a:latin typeface="DejaVu Sans Mono"/>
                <a:ea typeface="DejaVu Sans Mono"/>
                <a:cs typeface="DejaVu Sans Mono"/>
              </a:rPr>
              <a:t>Triggers</a:t>
            </a:r>
          </a:p>
        </p:txBody>
      </p:sp>
      <p:sp>
        <p:nvSpPr>
          <p:cNvPr id="94" name="Triggers purpose"/>
          <p:cNvSpPr txBox="1"/>
          <p:nvPr/>
        </p:nvSpPr>
        <p:spPr>
          <a:xfrm>
            <a:off x="5038725" y="6139815"/>
            <a:ext cx="933450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spc="52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Explore the effect of </a:t>
            </a:r>
            <a:r>
              <a:rPr sz="3000" b="1" spc="52" kern="0">
                <a:solidFill>
                  <a:srgbClr val="FF171E"/>
                </a:solidFill>
                <a:latin typeface="Diagram Mono Condensed"/>
                <a:ea typeface="Diagram Mono Condensed"/>
                <a:cs typeface="Diagram Mono Condensed"/>
              </a:rPr>
              <a:t>sample selection</a:t>
            </a:r>
            <a:r>
              <a:rPr sz="3000" b="1" spc="52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 on </a:t>
            </a:r>
            <a:r>
              <a:rPr sz="3000" b="1" spc="52" kern="0">
                <a:solidFill>
                  <a:srgbClr val="FF171E"/>
                </a:solidFill>
                <a:latin typeface="Diagram Mono Condensed"/>
                <a:ea typeface="Diagram Mono Condensed"/>
                <a:cs typeface="Diagram Mono Condensed"/>
              </a:rPr>
              <a:t>triggers</a:t>
            </a:r>
            <a:r>
              <a:rPr sz="3000" b="1" spc="52" kern="0">
                <a:solidFill>
                  <a:srgbClr val="080808"/>
                </a:solidFill>
                <a:latin typeface="Diagram Mono Condensed"/>
                <a:ea typeface="Diagram Mono Condensed"/>
                <a:cs typeface="Diagram Mono Condensed"/>
              </a:rPr>
              <a:t>.</a:t>
            </a:r>
          </a:p>
        </p:txBody>
      </p:sp>
      <p:sp>
        <p:nvSpPr>
          <p:cNvPr id="95" name="Component C label"/>
          <p:cNvSpPr txBox="1"/>
          <p:nvPr/>
        </p:nvSpPr>
        <p:spPr>
          <a:xfrm>
            <a:off x="419100" y="6572440"/>
            <a:ext cx="2352675" cy="5505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spc="1" kern="0">
                <a:solidFill>
                  <a:srgbClr val="FF171E"/>
                </a:solidFill>
                <a:latin typeface="Liberation Sans"/>
                <a:ea typeface="Liberation Sans"/>
                <a:cs typeface="Liberation Sans"/>
              </a:rPr>
              <a:t>Component C</a:t>
            </a:r>
          </a:p>
        </p:txBody>
      </p:sp>
      <p:sp>
        <p:nvSpPr>
          <p:cNvPr id="96" name="Stealthiness sample selection requirement"/>
          <p:cNvSpPr txBox="1"/>
          <p:nvPr/>
        </p:nvSpPr>
        <p:spPr>
          <a:xfrm>
            <a:off x="4400550" y="6696913"/>
            <a:ext cx="108775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9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Stealthiness ensurement via avoid selecting single-color dominated samples.</a:t>
            </a:r>
          </a:p>
        </p:txBody>
      </p:sp>
      <p:sp>
        <p:nvSpPr>
          <p:cNvPr id="97" name="Special samples to channel selection"/>
          <p:cNvSpPr/>
          <p:nvPr/>
        </p:nvSpPr>
        <p:spPr>
          <a:xfrm>
            <a:off x="3252788" y="7153275"/>
            <a:ext cx="12930188" cy="371475"/>
          </a:xfrm>
          <a:custGeom>
            <a:avLst/>
            <a:gdLst/>
            <a:ahLst/>
            <a:cxnLst/>
            <a:rect l="0" t="0" r="r" b="b"/>
            <a:pathLst>
              <a:path w="1357500" h="39000">
                <a:moveTo>
                  <a:pt x="1357500" y="28000"/>
                </a:moveTo>
                <a:lnTo>
                  <a:pt x="1357500" y="0"/>
                </a:lnTo>
                <a:lnTo>
                  <a:pt x="0" y="0"/>
                </a:lnTo>
                <a:lnTo>
                  <a:pt x="0" y="39000"/>
                </a:lnTo>
              </a:path>
            </a:pathLst>
          </a:custGeom>
          <a:noFill/>
          <a:ln w="33337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Special samples connector tail left"/>
          <p:cNvSpPr/>
          <p:nvPr/>
        </p:nvSpPr>
        <p:spPr>
          <a:xfrm>
            <a:off x="16108680" y="7337584"/>
            <a:ext cx="61912" cy="253841"/>
          </a:xfrm>
          <a:custGeom>
            <a:avLst/>
            <a:gdLst/>
            <a:ahLst/>
            <a:cxnLst/>
            <a:rect l="0" t="0" r="r" b="b"/>
            <a:pathLst>
              <a:path w="6500" h="26650">
                <a:moveTo>
                  <a:pt x="0" y="26650"/>
                </a:moveTo>
                <a:lnTo>
                  <a:pt x="6500" y="19500"/>
                </a:lnTo>
                <a:lnTo>
                  <a:pt x="6500" y="0"/>
                </a:lnTo>
                <a:lnTo>
                  <a:pt x="0" y="65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Special samples connector tail right"/>
          <p:cNvSpPr/>
          <p:nvPr/>
        </p:nvSpPr>
        <p:spPr>
          <a:xfrm>
            <a:off x="16195358" y="7337584"/>
            <a:ext cx="61912" cy="253841"/>
          </a:xfrm>
          <a:custGeom>
            <a:avLst/>
            <a:gdLst/>
            <a:ahLst/>
            <a:cxnLst/>
            <a:rect l="0" t="0" r="r" b="b"/>
            <a:pathLst>
              <a:path w="6500" h="26650">
                <a:moveTo>
                  <a:pt x="6500" y="26650"/>
                </a:moveTo>
                <a:lnTo>
                  <a:pt x="0" y="19500"/>
                </a:lnTo>
                <a:lnTo>
                  <a:pt x="0" y="0"/>
                </a:lnTo>
                <a:lnTo>
                  <a:pt x="6500" y="65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hannel selection downward arrow"/>
          <p:cNvSpPr/>
          <p:nvPr/>
        </p:nvSpPr>
        <p:spPr>
          <a:xfrm>
            <a:off x="3152775" y="7475220"/>
            <a:ext cx="200025" cy="240030"/>
          </a:xfrm>
          <a:custGeom>
            <a:avLst/>
            <a:gdLst/>
            <a:ahLst/>
            <a:cxnLst/>
            <a:rect l="0" t="0" r="r" b="b"/>
            <a:pathLst>
              <a:path w="21000" h="25200">
                <a:moveTo>
                  <a:pt x="10500" y="25200"/>
                </a:moveTo>
                <a:lnTo>
                  <a:pt x="21000" y="0"/>
                </a:lnTo>
                <a:lnTo>
                  <a:pt x="10500" y="5600"/>
                </a:lnTo>
                <a:lnTo>
                  <a:pt x="0" y="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GB human sensitivity heading"/>
          <p:cNvSpPr txBox="1"/>
          <p:nvPr/>
        </p:nvSpPr>
        <p:spPr>
          <a:xfrm>
            <a:off x="6019800" y="7201738"/>
            <a:ext cx="74295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9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Distinct sensitivity of human visual system on RGB</a:t>
            </a:r>
          </a:p>
        </p:txBody>
      </p:sp>
      <p:sp>
        <p:nvSpPr>
          <p:cNvPr id="102" name="RGB sensitivity gradient"/>
          <p:cNvSpPr/>
          <p:nvPr/>
        </p:nvSpPr>
        <p:spPr>
          <a:xfrm>
            <a:off x="438150" y="7296150"/>
            <a:ext cx="290512" cy="3019425"/>
          </a:xfrm>
          <a:prstGeom prst="roundRect">
            <a:avLst>
              <a:gd name="adj" fmla="val 26229"/>
            </a:avLst>
          </a:prstGeom>
          <a:gradFill>
            <a:gsLst>
              <a:gs pos="0">
                <a:srgbClr val="FF7CAF"/>
              </a:gs>
              <a:gs pos="100000">
                <a:srgbClr val="FFE5E5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Sensitivity green label"/>
          <p:cNvSpPr txBox="1"/>
          <p:nvPr/>
        </p:nvSpPr>
        <p:spPr>
          <a:xfrm>
            <a:off x="790575" y="7049338"/>
            <a:ext cx="465683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006936"/>
                </a:solidFill>
                <a:latin typeface="Liberation Serif"/>
                <a:ea typeface="Liberation Serif"/>
                <a:cs typeface="Liberation Serif"/>
              </a:rPr>
              <a:t>G</a:t>
            </a:r>
          </a:p>
        </p:txBody>
      </p:sp>
      <p:sp>
        <p:nvSpPr>
          <p:cNvPr id="104" name="Sensitivity red label"/>
          <p:cNvSpPr txBox="1"/>
          <p:nvPr/>
        </p:nvSpPr>
        <p:spPr>
          <a:xfrm>
            <a:off x="819150" y="7982788"/>
            <a:ext cx="448717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R</a:t>
            </a:r>
          </a:p>
        </p:txBody>
      </p:sp>
      <p:sp>
        <p:nvSpPr>
          <p:cNvPr id="105" name="Sensitivity callout left dotted line"/>
          <p:cNvSpPr/>
          <p:nvPr/>
        </p:nvSpPr>
        <p:spPr>
          <a:xfrm>
            <a:off x="1666875" y="8810625"/>
            <a:ext cx="333375" cy="542925"/>
          </a:xfrm>
          <a:custGeom>
            <a:avLst/>
            <a:gdLst/>
            <a:ahLst/>
            <a:cxnLst/>
            <a:rect l="0" t="0" r="r" b="b"/>
            <a:pathLst>
              <a:path w="35000" h="57000">
                <a:moveTo>
                  <a:pt x="35000" y="0"/>
                </a:moveTo>
                <a:lnTo>
                  <a:pt x="0" y="57000"/>
                </a:lnTo>
              </a:path>
            </a:pathLst>
          </a:custGeom>
          <a:noFill/>
          <a:ln w="22859" cap="flat">
            <a:solidFill>
              <a:srgbClr val="251D1A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Sensitivity callout right dotted line"/>
          <p:cNvSpPr/>
          <p:nvPr/>
        </p:nvSpPr>
        <p:spPr>
          <a:xfrm>
            <a:off x="2543175" y="8810625"/>
            <a:ext cx="276225" cy="542925"/>
          </a:xfrm>
          <a:custGeom>
            <a:avLst/>
            <a:gdLst/>
            <a:ahLst/>
            <a:cxnLst/>
            <a:rect l="0" t="0" r="r" b="b"/>
            <a:pathLst>
              <a:path w="29000" h="57000">
                <a:moveTo>
                  <a:pt x="0" y="0"/>
                </a:moveTo>
                <a:lnTo>
                  <a:pt x="29000" y="57000"/>
                </a:lnTo>
              </a:path>
            </a:pathLst>
          </a:custGeom>
          <a:noFill/>
          <a:ln w="22859" cap="flat">
            <a:solidFill>
              <a:srgbClr val="251D1A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lue channel feature note"/>
          <p:cNvSpPr/>
          <p:nvPr/>
        </p:nvSpPr>
        <p:spPr>
          <a:xfrm>
            <a:off x="1266825" y="7762875"/>
            <a:ext cx="4133850" cy="1038225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4F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lue channel note line 1"/>
          <p:cNvSpPr txBox="1"/>
          <p:nvPr/>
        </p:nvSpPr>
        <p:spPr>
          <a:xfrm>
            <a:off x="1352550" y="7916113"/>
            <a:ext cx="42291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25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Enhance the </a:t>
            </a:r>
            <a:r>
              <a:rPr sz="2400" b="1" spc="125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trigger feature</a:t>
            </a:r>
          </a:p>
        </p:txBody>
      </p:sp>
      <p:sp>
        <p:nvSpPr>
          <p:cNvPr id="109" name="Blue channel note line 2"/>
          <p:cNvSpPr txBox="1"/>
          <p:nvPr/>
        </p:nvSpPr>
        <p:spPr>
          <a:xfrm>
            <a:off x="1352550" y="8230438"/>
            <a:ext cx="40195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32" kern="0">
                <a:solidFill>
                  <a:srgbClr val="251D1A"/>
                </a:solidFill>
                <a:latin typeface="Liberation Serif"/>
                <a:ea typeface="Liberation Serif"/>
                <a:cs typeface="Liberation Serif"/>
              </a:rPr>
              <a:t>on the </a:t>
            </a:r>
            <a:r>
              <a:rPr sz="2400" b="1" spc="132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Blue</a:t>
            </a:r>
            <a:r>
              <a:rPr sz="2400" b="1" spc="132" kern="0">
                <a:solidFill>
                  <a:srgbClr val="251D1A"/>
                </a:solidFill>
                <a:latin typeface="Liberation Serif"/>
                <a:ea typeface="Liberation Serif"/>
                <a:cs typeface="Liberation Serif"/>
              </a:rPr>
              <a:t> color channel.</a:t>
            </a:r>
          </a:p>
        </p:txBody>
      </p:sp>
      <p:sp>
        <p:nvSpPr>
          <p:cNvPr id="110" name="Low sensitivity dash dot frame"/>
          <p:cNvSpPr/>
          <p:nvPr/>
        </p:nvSpPr>
        <p:spPr>
          <a:xfrm>
            <a:off x="452438" y="9353550"/>
            <a:ext cx="2524125" cy="838200"/>
          </a:xfrm>
          <a:prstGeom prst="rect">
            <a:avLst/>
          </a:prstGeom>
          <a:noFill/>
          <a:ln w="21907" cap="flat">
            <a:solidFill>
              <a:srgbClr val="251D1A"/>
            </a:solidFill>
            <a:custDash>
              <a:ds d="521739" sp="130435"/>
              <a:ds d="86957" sp="130435"/>
              <a:ds d="86957" sp="13043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Low sensitivity caption"/>
          <p:cNvSpPr txBox="1"/>
          <p:nvPr/>
        </p:nvSpPr>
        <p:spPr>
          <a:xfrm>
            <a:off x="857250" y="9306763"/>
            <a:ext cx="22098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1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low sensitivity</a:t>
            </a:r>
          </a:p>
        </p:txBody>
      </p:sp>
      <p:sp>
        <p:nvSpPr>
          <p:cNvPr id="112" name="Sensitivity blue label"/>
          <p:cNvSpPr txBox="1"/>
          <p:nvPr/>
        </p:nvSpPr>
        <p:spPr>
          <a:xfrm>
            <a:off x="790575" y="9716338"/>
            <a:ext cx="431899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1000FF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pic>
        <p:nvPicPr>
          <p:cNvPr id="113" name="Eyes low sensitivity illustration" descr="Eyes low sensitivity illustr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7775" y="9801225"/>
            <a:ext cx="971550" cy="228600"/>
          </a:xfrm>
          <a:prstGeom prst="rect">
            <a:avLst/>
          </a:prstGeom>
        </p:spPr>
      </p:pic>
      <p:sp>
        <p:nvSpPr>
          <p:cNvPr id="114" name="Distinct color poisoning line 1"/>
          <p:cNvSpPr txBox="1"/>
          <p:nvPr/>
        </p:nvSpPr>
        <p:spPr>
          <a:xfrm>
            <a:off x="3476625" y="9116263"/>
            <a:ext cx="19812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6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distinct-color</a:t>
            </a:r>
          </a:p>
        </p:txBody>
      </p:sp>
      <p:sp>
        <p:nvSpPr>
          <p:cNvPr id="115" name="Distinct color poisoning line 2"/>
          <p:cNvSpPr txBox="1"/>
          <p:nvPr/>
        </p:nvSpPr>
        <p:spPr>
          <a:xfrm>
            <a:off x="3638550" y="9935413"/>
            <a:ext cx="15049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22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poisoning</a:t>
            </a:r>
          </a:p>
        </p:txBody>
      </p:sp>
      <p:sp>
        <p:nvSpPr>
          <p:cNvPr id="116" name="Distinct color poisoning arrow shaft"/>
          <p:cNvSpPr/>
          <p:nvPr/>
        </p:nvSpPr>
        <p:spPr>
          <a:xfrm>
            <a:off x="3533775" y="9772650"/>
            <a:ext cx="1504950" cy="952"/>
          </a:xfrm>
          <a:custGeom>
            <a:avLst/>
            <a:gdLst/>
            <a:ahLst/>
            <a:cxnLst/>
            <a:rect l="0" t="0" r="r" b="b"/>
            <a:pathLst>
              <a:path w="158000" h="100">
                <a:moveTo>
                  <a:pt x="158000" y="0"/>
                </a:moveTo>
                <a:lnTo>
                  <a:pt x="0" y="0"/>
                </a:lnTo>
              </a:path>
            </a:pathLst>
          </a:custGeom>
          <a:noFill/>
          <a:ln w="57150" cap="flat">
            <a:solidFill>
              <a:srgbClr val="C823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Distinct color poisoning arrow head"/>
          <p:cNvSpPr/>
          <p:nvPr/>
        </p:nvSpPr>
        <p:spPr>
          <a:xfrm>
            <a:off x="3333750" y="9629775"/>
            <a:ext cx="342900" cy="285750"/>
          </a:xfrm>
          <a:custGeom>
            <a:avLst/>
            <a:gdLst/>
            <a:ahLst/>
            <a:cxnLst/>
            <a:rect l="0" t="0" r="r" b="b"/>
            <a:pathLst>
              <a:path w="36000" h="30000">
                <a:moveTo>
                  <a:pt x="0" y="15000"/>
                </a:moveTo>
                <a:lnTo>
                  <a:pt x="36000" y="30000"/>
                </a:lnTo>
                <a:lnTo>
                  <a:pt x="28000" y="15000"/>
                </a:lnTo>
                <a:lnTo>
                  <a:pt x="36000" y="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Distinct color poisoning arrow tail"/>
          <p:cNvSpPr/>
          <p:nvPr/>
        </p:nvSpPr>
        <p:spPr>
          <a:xfrm>
            <a:off x="4791075" y="9639300"/>
            <a:ext cx="447675" cy="266700"/>
          </a:xfrm>
          <a:custGeom>
            <a:avLst/>
            <a:gdLst/>
            <a:ahLst/>
            <a:cxnLst/>
            <a:rect l="0" t="0" r="r" b="b"/>
            <a:pathLst>
              <a:path w="47000" h="28000">
                <a:moveTo>
                  <a:pt x="47000" y="0"/>
                </a:moveTo>
                <a:lnTo>
                  <a:pt x="21000" y="0"/>
                </a:lnTo>
                <a:lnTo>
                  <a:pt x="0" y="14000"/>
                </a:lnTo>
                <a:lnTo>
                  <a:pt x="21000" y="28000"/>
                </a:lnTo>
                <a:lnTo>
                  <a:pt x="47000" y="28000"/>
                </a:lnTo>
                <a:lnTo>
                  <a:pt x="32000" y="14000"/>
                </a:lnTo>
                <a:close/>
              </a:path>
            </a:pathLst>
          </a:custGeom>
          <a:solidFill>
            <a:srgbClr val="C823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GB examples white backing"/>
          <p:cNvSpPr/>
          <p:nvPr/>
        </p:nvSpPr>
        <p:spPr>
          <a:xfrm>
            <a:off x="5495925" y="7696200"/>
            <a:ext cx="8534400" cy="2647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Mild distortion caption"/>
          <p:cNvSpPr txBox="1"/>
          <p:nvPr/>
        </p:nvSpPr>
        <p:spPr>
          <a:xfrm>
            <a:off x="5695950" y="7677988"/>
            <a:ext cx="23241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8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mild </a:t>
            </a:r>
            <a:r>
              <a:rPr sz="2400" b="1" spc="88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distortion</a:t>
            </a:r>
          </a:p>
        </p:txBody>
      </p:sp>
      <p:sp>
        <p:nvSpPr>
          <p:cNvPr id="121" name="Severe distortion caption"/>
          <p:cNvSpPr txBox="1"/>
          <p:nvPr/>
        </p:nvSpPr>
        <p:spPr>
          <a:xfrm>
            <a:off x="8362950" y="7677988"/>
            <a:ext cx="25527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84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severe </a:t>
            </a:r>
            <a:r>
              <a:rPr sz="2400" b="1" spc="84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distortion</a:t>
            </a:r>
          </a:p>
        </p:txBody>
      </p:sp>
      <p:sp>
        <p:nvSpPr>
          <p:cNvPr id="122" name="Subtle distortion caption"/>
          <p:cNvSpPr txBox="1"/>
          <p:nvPr/>
        </p:nvSpPr>
        <p:spPr>
          <a:xfrm>
            <a:off x="11201400" y="7677988"/>
            <a:ext cx="25431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93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subtle </a:t>
            </a:r>
            <a:r>
              <a:rPr sz="2400" b="1" spc="93" kern="0">
                <a:solidFill>
                  <a:srgbClr val="302D94"/>
                </a:solidFill>
                <a:latin typeface="Liberation Serif"/>
                <a:ea typeface="Liberation Serif"/>
                <a:cs typeface="Liberation Serif"/>
              </a:rPr>
              <a:t>distortion</a:t>
            </a:r>
          </a:p>
        </p:txBody>
      </p:sp>
      <p:pic>
        <p:nvPicPr>
          <p:cNvPr id="123" name="Red channel portrait" descr="Red channel portra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4500" y="8124825"/>
            <a:ext cx="2333625" cy="2152650"/>
          </a:xfrm>
          <a:prstGeom prst="rect">
            <a:avLst/>
          </a:prstGeom>
        </p:spPr>
      </p:pic>
      <p:pic>
        <p:nvPicPr>
          <p:cNvPr id="124" name="Green channel portrait" descr="Green channel portrai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2950" y="8115300"/>
            <a:ext cx="2324100" cy="2162175"/>
          </a:xfrm>
          <a:prstGeom prst="rect">
            <a:avLst/>
          </a:prstGeom>
        </p:spPr>
      </p:pic>
      <p:pic>
        <p:nvPicPr>
          <p:cNvPr id="125" name="Blue channel portrait" descr="Blue channel portrai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01400" y="8124825"/>
            <a:ext cx="2324100" cy="2162175"/>
          </a:xfrm>
          <a:prstGeom prst="rect">
            <a:avLst/>
          </a:prstGeom>
        </p:spPr>
      </p:pic>
      <p:sp>
        <p:nvSpPr>
          <p:cNvPr id="126" name="Red channel image label"/>
          <p:cNvSpPr txBox="1"/>
          <p:nvPr/>
        </p:nvSpPr>
        <p:spPr>
          <a:xfrm>
            <a:off x="8020050" y="9897313"/>
            <a:ext cx="448717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C8232C"/>
                </a:solidFill>
                <a:latin typeface="Liberation Serif"/>
                <a:ea typeface="Liberation Serif"/>
                <a:cs typeface="Liberation Serif"/>
              </a:rPr>
              <a:t>R</a:t>
            </a:r>
          </a:p>
        </p:txBody>
      </p:sp>
      <p:sp>
        <p:nvSpPr>
          <p:cNvPr id="127" name="Green channel image label"/>
          <p:cNvSpPr txBox="1"/>
          <p:nvPr/>
        </p:nvSpPr>
        <p:spPr>
          <a:xfrm>
            <a:off x="10839450" y="9897313"/>
            <a:ext cx="465683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006936"/>
                </a:solidFill>
                <a:latin typeface="Liberation Serif"/>
                <a:ea typeface="Liberation Serif"/>
                <a:cs typeface="Liberation Serif"/>
              </a:rPr>
              <a:t>G</a:t>
            </a:r>
          </a:p>
        </p:txBody>
      </p:sp>
      <p:sp>
        <p:nvSpPr>
          <p:cNvPr id="128" name="Blue channel image label"/>
          <p:cNvSpPr txBox="1"/>
          <p:nvPr/>
        </p:nvSpPr>
        <p:spPr>
          <a:xfrm>
            <a:off x="13658850" y="9897313"/>
            <a:ext cx="431899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0" kern="0">
                <a:solidFill>
                  <a:srgbClr val="1000FF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sp>
        <p:nvSpPr>
          <p:cNvPr id="129" name="Special samples green frame"/>
          <p:cNvSpPr/>
          <p:nvPr/>
        </p:nvSpPr>
        <p:spPr>
          <a:xfrm>
            <a:off x="14439900" y="7648575"/>
            <a:ext cx="3333750" cy="2657475"/>
          </a:xfrm>
          <a:prstGeom prst="rect">
            <a:avLst/>
          </a:prstGeom>
          <a:solidFill>
            <a:srgbClr val="FFFFFF"/>
          </a:solidFill>
          <a:ln w="22859" cap="flat">
            <a:solidFill>
              <a:srgbClr val="00693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Special samples title"/>
          <p:cNvSpPr txBox="1"/>
          <p:nvPr/>
        </p:nvSpPr>
        <p:spPr>
          <a:xfrm>
            <a:off x="15139988" y="7706563"/>
            <a:ext cx="240982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79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Special samples</a:t>
            </a:r>
          </a:p>
        </p:txBody>
      </p:sp>
      <p:sp>
        <p:nvSpPr>
          <p:cNvPr id="131" name="Green dominated label line 1"/>
          <p:cNvSpPr txBox="1"/>
          <p:nvPr/>
        </p:nvSpPr>
        <p:spPr>
          <a:xfrm>
            <a:off x="14825662" y="8116138"/>
            <a:ext cx="10953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18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Green</a:t>
            </a:r>
          </a:p>
        </p:txBody>
      </p:sp>
      <p:sp>
        <p:nvSpPr>
          <p:cNvPr id="132" name="Green dominated label line 2"/>
          <p:cNvSpPr txBox="1"/>
          <p:nvPr/>
        </p:nvSpPr>
        <p:spPr>
          <a:xfrm>
            <a:off x="14558962" y="8335213"/>
            <a:ext cx="162877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11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dominated</a:t>
            </a:r>
          </a:p>
        </p:txBody>
      </p:sp>
      <p:sp>
        <p:nvSpPr>
          <p:cNvPr id="133" name="Blue dominated label line 1"/>
          <p:cNvSpPr txBox="1"/>
          <p:nvPr/>
        </p:nvSpPr>
        <p:spPr>
          <a:xfrm>
            <a:off x="16630650" y="8116138"/>
            <a:ext cx="95250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44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Blue</a:t>
            </a:r>
          </a:p>
        </p:txBody>
      </p:sp>
      <p:sp>
        <p:nvSpPr>
          <p:cNvPr id="134" name="Blue dominated label line 2"/>
          <p:cNvSpPr txBox="1"/>
          <p:nvPr/>
        </p:nvSpPr>
        <p:spPr>
          <a:xfrm>
            <a:off x="16278225" y="8335213"/>
            <a:ext cx="165735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spc="39" kern="0">
                <a:solidFill>
                  <a:srgbClr val="080808"/>
                </a:solidFill>
                <a:latin typeface="Liberation Serif"/>
                <a:ea typeface="Liberation Serif"/>
                <a:cs typeface="Liberation Serif"/>
              </a:rPr>
              <a:t>dominated</a:t>
            </a:r>
          </a:p>
        </p:txBody>
      </p:sp>
      <p:pic>
        <p:nvPicPr>
          <p:cNvPr id="135" name="Green dominated special sample" descr="Green dominated special samp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563725" y="8801100"/>
            <a:ext cx="1390650" cy="1362075"/>
          </a:xfrm>
          <a:prstGeom prst="rect">
            <a:avLst/>
          </a:prstGeom>
        </p:spPr>
      </p:pic>
      <p:pic>
        <p:nvPicPr>
          <p:cNvPr id="136" name="Blue dominated special sample" descr="Blue dominated special sampl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316325" y="8820150"/>
            <a:ext cx="1333500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A Set of Generalized Components to Achieve Effective Poison-only Clean-label Backdoor Attacks with Collaborative Sample Selection and Trigger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145125" cy="10496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Sample Selection and Triggers</dc:title>
  <dc:subject>Editable reconstruction from the supplied reference figure</dc:subject>
  <dc:creator/>
  <cp:keywords>editable diagram, sample selection, triggers, vector reconstruction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