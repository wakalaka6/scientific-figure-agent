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7529048" cy="739749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the supplied reference as an editable diagram. Text, curves, scatter points, contours, panel outlines, connectors, equation fragments, and arrowheads are native PowerPoint objects. Small photos, perturbation textures, and the outcome icon are embedded bitmap assets. Slide coordinates correspond to the 1917 × 809 reference image.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hite background"/>
          <p:cNvSpPr/>
          <p:nvPr/>
        </p:nvSpPr>
        <p:spPr>
          <a:xfrm>
            <a:off x="0" y="0"/>
            <a:ext cx="17529048" cy="739749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al world panel"/>
          <p:cNvSpPr/>
          <p:nvPr/>
        </p:nvSpPr>
        <p:spPr>
          <a:xfrm>
            <a:off x="137160" y="164592"/>
            <a:ext cx="9381744" cy="2121408"/>
          </a:xfrm>
          <a:prstGeom prst="roundRect">
            <a:avLst>
              <a:gd name="adj" fmla="val 16810"/>
            </a:avLst>
          </a:prstGeom>
          <a:solidFill>
            <a:srgbClr val="F5F5F5"/>
          </a:solidFill>
          <a:ln w="9144">
            <a:solidFill>
              <a:srgbClr val="737373"/>
            </a:solidFill>
            <a:custDash>
              <a:ds d="1000000" sp="1000000"/>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Distribution panel"/>
          <p:cNvSpPr/>
          <p:nvPr/>
        </p:nvSpPr>
        <p:spPr>
          <a:xfrm>
            <a:off x="10268712" y="137160"/>
            <a:ext cx="3877056" cy="2020824"/>
          </a:xfrm>
          <a:prstGeom prst="roundRect">
            <a:avLst>
              <a:gd name="adj" fmla="val 15384"/>
            </a:avLst>
          </a:prstGeom>
          <a:solidFill>
            <a:srgbClr val="EEEEEE"/>
          </a:solidFill>
          <a:ln w="9144">
            <a:solidFill>
              <a:srgbClr val="323232"/>
            </a:solidFill>
            <a:custDash>
              <a:ds d="1000000" sp="1000000"/>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tage 1 frame"/>
          <p:cNvSpPr/>
          <p:nvPr/>
        </p:nvSpPr>
        <p:spPr>
          <a:xfrm>
            <a:off x="128016" y="2615184"/>
            <a:ext cx="3493008" cy="4462272"/>
          </a:xfrm>
          <a:prstGeom prst="rect">
            <a:avLst/>
          </a:prstGeom>
          <a:noFill/>
          <a:ln w="21488">
            <a:solidFill>
              <a:srgbClr val="080808"/>
            </a:solidFill>
            <a:custDash>
              <a:ds d="297872" sp="297872"/>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Stage 2 frame"/>
          <p:cNvSpPr/>
          <p:nvPr/>
        </p:nvSpPr>
        <p:spPr>
          <a:xfrm>
            <a:off x="3749040" y="2615184"/>
            <a:ext cx="5266944" cy="4462272"/>
          </a:xfrm>
          <a:prstGeom prst="rect">
            <a:avLst/>
          </a:prstGeom>
          <a:noFill/>
          <a:ln w="21488">
            <a:solidFill>
              <a:srgbClr val="080808"/>
            </a:solidFill>
            <a:custDash>
              <a:ds d="297872" sp="297872"/>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tage 3 frame"/>
          <p:cNvSpPr/>
          <p:nvPr/>
        </p:nvSpPr>
        <p:spPr>
          <a:xfrm>
            <a:off x="9125712" y="2313432"/>
            <a:ext cx="5047488" cy="4764024"/>
          </a:xfrm>
          <a:prstGeom prst="rect">
            <a:avLst/>
          </a:prstGeom>
          <a:noFill/>
          <a:ln w="21488">
            <a:solidFill>
              <a:srgbClr val="080808"/>
            </a:solidFill>
            <a:custDash>
              <a:ds d="297872" sp="297872"/>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Any image and prompt panel"/>
          <p:cNvSpPr/>
          <p:nvPr/>
        </p:nvSpPr>
        <p:spPr>
          <a:xfrm>
            <a:off x="14301216" y="128016"/>
            <a:ext cx="3145536" cy="3364992"/>
          </a:xfrm>
          <a:prstGeom prst="rect">
            <a:avLst/>
          </a:prstGeom>
          <a:solidFill>
            <a:srgbClr val="F4CECB"/>
          </a:solidFill>
          <a:ln w="9144">
            <a:solidFill>
              <a:srgbClr val="D5423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9" name="Real-world image and prompt set"/>
          <p:cNvGrpSpPr/>
          <p:nvPr/>
        </p:nvGrpSpPr>
        <p:grpSpPr>
          <a:xfrm>
            <a:off x="493776" y="189738"/>
            <a:ext cx="8814816" cy="2290023"/>
            <a:chOff x="493776" y="189738"/>
            <a:chExt cx="8814816" cy="2290023"/>
          </a:xfrm>
        </p:grpSpPr>
        <p:sp>
          <p:nvSpPr>
            <p:cNvPr id="10" name="Image and Prompt Set in the Real World"/>
            <p:cNvSpPr txBox="1"/>
            <p:nvPr/>
          </p:nvSpPr>
          <p:spPr>
            <a:xfrm>
              <a:off x="2221992" y="189738"/>
              <a:ext cx="4279392"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Image and Prompt Set in the Real World</a:t>
              </a:r>
            </a:p>
          </p:txBody>
        </p:sp>
        <p:sp>
          <p:nvSpPr>
            <p:cNvPr id="11" name="Image"/>
            <p:cNvSpPr txBox="1"/>
            <p:nvPr/>
          </p:nvSpPr>
          <p:spPr>
            <a:xfrm>
              <a:off x="2514600" y="491490"/>
              <a:ext cx="78638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Image</a:t>
              </a:r>
            </a:p>
          </p:txBody>
        </p:sp>
        <p:sp>
          <p:nvSpPr>
            <p:cNvPr id="12" name="Prompt"/>
            <p:cNvSpPr txBox="1"/>
            <p:nvPr/>
          </p:nvSpPr>
          <p:spPr>
            <a:xfrm>
              <a:off x="4133088" y="509778"/>
              <a:ext cx="87782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Prompt</a:t>
              </a:r>
            </a:p>
          </p:txBody>
        </p:sp>
        <p:sp>
          <p:nvSpPr>
            <p:cNvPr id="13" name="Connector"/>
            <p:cNvSpPr/>
            <p:nvPr/>
          </p:nvSpPr>
          <p:spPr>
            <a:xfrm>
              <a:off x="1051560" y="557784"/>
              <a:ext cx="1298448" cy="347472"/>
            </a:xfrm>
            <a:custGeom>
              <a:avLst/>
              <a:gdLst/>
              <a:ahLst/>
              <a:cxnLst/>
              <a:rect l="l" t="t" r="r" b="b"/>
              <a:pathLst>
                <a:path w="14200" h="3800">
                  <a:moveTo>
                    <a:pt x="0" y="0"/>
                  </a:moveTo>
                  <a:lnTo>
                    <a:pt x="14200" y="3800"/>
                  </a:lnTo>
                </a:path>
              </a:pathLst>
            </a:custGeom>
            <a:noFill/>
            <a:ln w="9144">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onnector"/>
            <p:cNvSpPr/>
            <p:nvPr/>
          </p:nvSpPr>
          <p:spPr>
            <a:xfrm>
              <a:off x="1783080" y="1124712"/>
              <a:ext cx="566928" cy="27432"/>
            </a:xfrm>
            <a:custGeom>
              <a:avLst/>
              <a:gdLst/>
              <a:ahLst/>
              <a:cxnLst/>
              <a:rect l="l" t="t" r="r" b="b"/>
              <a:pathLst>
                <a:path w="6200" h="300">
                  <a:moveTo>
                    <a:pt x="0" y="300"/>
                  </a:moveTo>
                  <a:lnTo>
                    <a:pt x="6200" y="0"/>
                  </a:lnTo>
                </a:path>
              </a:pathLst>
            </a:custGeom>
            <a:noFill/>
            <a:ln w="9144">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onnector"/>
            <p:cNvSpPr/>
            <p:nvPr/>
          </p:nvSpPr>
          <p:spPr>
            <a:xfrm>
              <a:off x="1106424" y="1746504"/>
              <a:ext cx="1161288" cy="100584"/>
            </a:xfrm>
            <a:custGeom>
              <a:avLst/>
              <a:gdLst/>
              <a:ahLst/>
              <a:cxnLst/>
              <a:rect l="l" t="t" r="r" b="b"/>
              <a:pathLst>
                <a:path w="12700" h="1100">
                  <a:moveTo>
                    <a:pt x="0" y="1100"/>
                  </a:moveTo>
                  <a:lnTo>
                    <a:pt x="12700" y="0"/>
                  </a:lnTo>
                </a:path>
              </a:pathLst>
            </a:custGeom>
            <a:noFill/>
            <a:ln w="9144">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Still life photo" descr="Still life photo.png"/>
            <p:cNvPicPr>
              <a:picLocks noChangeAspect="1"/>
            </p:cNvPicPr>
            <p:nvPr/>
          </p:nvPicPr>
          <p:blipFill>
            <a:blip r:embed="rId2"/>
            <a:stretch>
              <a:fillRect/>
            </a:stretch>
          </p:blipFill>
          <p:spPr>
            <a:xfrm>
              <a:off x="493776" y="411480"/>
              <a:ext cx="566928" cy="585216"/>
            </a:xfrm>
            <a:prstGeom prst="rect">
              <a:avLst/>
            </a:prstGeom>
          </p:spPr>
        </p:pic>
        <p:pic>
          <p:nvPicPr>
            <p:cNvPr id="17" name="Man portrait" descr="Man portrait.png"/>
            <p:cNvPicPr>
              <a:picLocks noChangeAspect="1"/>
            </p:cNvPicPr>
            <p:nvPr/>
          </p:nvPicPr>
          <p:blipFill>
            <a:blip r:embed="rId3"/>
            <a:stretch>
              <a:fillRect/>
            </a:stretch>
          </p:blipFill>
          <p:spPr>
            <a:xfrm>
              <a:off x="1207008" y="987552"/>
              <a:ext cx="576072" cy="576072"/>
            </a:xfrm>
            <a:prstGeom prst="rect">
              <a:avLst/>
            </a:prstGeom>
          </p:spPr>
        </p:pic>
        <p:pic>
          <p:nvPicPr>
            <p:cNvPr id="18" name="Food photo" descr="Food photo.png"/>
            <p:cNvPicPr>
              <a:picLocks noChangeAspect="1"/>
            </p:cNvPicPr>
            <p:nvPr/>
          </p:nvPicPr>
          <p:blipFill>
            <a:blip r:embed="rId4"/>
            <a:stretch>
              <a:fillRect/>
            </a:stretch>
          </p:blipFill>
          <p:spPr>
            <a:xfrm>
              <a:off x="539496" y="1545336"/>
              <a:ext cx="576072" cy="576072"/>
            </a:xfrm>
            <a:prstGeom prst="rect">
              <a:avLst/>
            </a:prstGeom>
          </p:spPr>
        </p:pic>
        <p:grpSp>
          <p:nvGrpSpPr>
            <p:cNvPr id="19" name="Image sample point cloud"/>
            <p:cNvGrpSpPr/>
            <p:nvPr/>
          </p:nvGrpSpPr>
          <p:grpSpPr>
            <a:xfrm>
              <a:off x="2215019" y="862112"/>
              <a:ext cx="1301598" cy="1064285"/>
              <a:chOff x="2215019" y="862112"/>
              <a:chExt cx="1301598" cy="1064285"/>
            </a:xfrm>
          </p:grpSpPr>
          <p:sp>
            <p:nvSpPr>
              <p:cNvPr id="20" name="Sample point"/>
              <p:cNvSpPr/>
              <p:nvPr/>
            </p:nvSpPr>
            <p:spPr>
              <a:xfrm>
                <a:off x="2320580" y="862112"/>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Sample point"/>
              <p:cNvSpPr/>
              <p:nvPr/>
            </p:nvSpPr>
            <p:spPr>
              <a:xfrm>
                <a:off x="2710448" y="890792"/>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ample point"/>
              <p:cNvSpPr/>
              <p:nvPr/>
            </p:nvSpPr>
            <p:spPr>
              <a:xfrm>
                <a:off x="3313115" y="889955"/>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ample point"/>
              <p:cNvSpPr/>
              <p:nvPr/>
            </p:nvSpPr>
            <p:spPr>
              <a:xfrm>
                <a:off x="2912821" y="928573"/>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Sample point"/>
              <p:cNvSpPr/>
              <p:nvPr/>
            </p:nvSpPr>
            <p:spPr>
              <a:xfrm>
                <a:off x="2876245" y="946861"/>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Sample point"/>
              <p:cNvSpPr/>
              <p:nvPr/>
            </p:nvSpPr>
            <p:spPr>
              <a:xfrm>
                <a:off x="2252000" y="962696"/>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Sample point"/>
              <p:cNvSpPr/>
              <p:nvPr/>
            </p:nvSpPr>
            <p:spPr>
              <a:xfrm>
                <a:off x="2454416" y="982232"/>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Sample point"/>
              <p:cNvSpPr/>
              <p:nvPr/>
            </p:nvSpPr>
            <p:spPr>
              <a:xfrm>
                <a:off x="3451112" y="1009664"/>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ample point"/>
              <p:cNvSpPr/>
              <p:nvPr/>
            </p:nvSpPr>
            <p:spPr>
              <a:xfrm>
                <a:off x="2645603" y="1036259"/>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Sample point"/>
              <p:cNvSpPr/>
              <p:nvPr/>
            </p:nvSpPr>
            <p:spPr>
              <a:xfrm>
                <a:off x="3021344" y="1037096"/>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Sample point"/>
              <p:cNvSpPr/>
              <p:nvPr/>
            </p:nvSpPr>
            <p:spPr>
              <a:xfrm>
                <a:off x="3312704" y="1035848"/>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ample point"/>
              <p:cNvSpPr/>
              <p:nvPr/>
            </p:nvSpPr>
            <p:spPr>
              <a:xfrm>
                <a:off x="2910368" y="1072424"/>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ample point"/>
              <p:cNvSpPr/>
              <p:nvPr/>
            </p:nvSpPr>
            <p:spPr>
              <a:xfrm>
                <a:off x="2300173" y="109316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ample point"/>
              <p:cNvSpPr/>
              <p:nvPr/>
            </p:nvSpPr>
            <p:spPr>
              <a:xfrm>
                <a:off x="2562896" y="1090712"/>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Sample point"/>
              <p:cNvSpPr/>
              <p:nvPr/>
            </p:nvSpPr>
            <p:spPr>
              <a:xfrm>
                <a:off x="2791907" y="1091123"/>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Sample point"/>
              <p:cNvSpPr/>
              <p:nvPr/>
            </p:nvSpPr>
            <p:spPr>
              <a:xfrm>
                <a:off x="2463138" y="1155546"/>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ample point"/>
              <p:cNvSpPr/>
              <p:nvPr/>
            </p:nvSpPr>
            <p:spPr>
              <a:xfrm>
                <a:off x="2702509" y="1157173"/>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ample point"/>
              <p:cNvSpPr/>
              <p:nvPr/>
            </p:nvSpPr>
            <p:spPr>
              <a:xfrm>
                <a:off x="2675077" y="1202893"/>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ample point"/>
              <p:cNvSpPr/>
              <p:nvPr/>
            </p:nvSpPr>
            <p:spPr>
              <a:xfrm>
                <a:off x="2693365" y="1266901"/>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ample point"/>
              <p:cNvSpPr/>
              <p:nvPr/>
            </p:nvSpPr>
            <p:spPr>
              <a:xfrm>
                <a:off x="3367979" y="1155131"/>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ample point"/>
              <p:cNvSpPr/>
              <p:nvPr/>
            </p:nvSpPr>
            <p:spPr>
              <a:xfrm>
                <a:off x="3451112" y="1155968"/>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Sample point"/>
              <p:cNvSpPr/>
              <p:nvPr/>
            </p:nvSpPr>
            <p:spPr>
              <a:xfrm>
                <a:off x="3022549" y="118460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Sample point"/>
              <p:cNvSpPr/>
              <p:nvPr/>
            </p:nvSpPr>
            <p:spPr>
              <a:xfrm>
                <a:off x="2967685" y="1202893"/>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ample point"/>
              <p:cNvSpPr/>
              <p:nvPr/>
            </p:nvSpPr>
            <p:spPr>
              <a:xfrm>
                <a:off x="2224979" y="1200851"/>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Sample point"/>
              <p:cNvSpPr/>
              <p:nvPr/>
            </p:nvSpPr>
            <p:spPr>
              <a:xfrm>
                <a:off x="3249107" y="1237427"/>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Sample point"/>
              <p:cNvSpPr/>
              <p:nvPr/>
            </p:nvSpPr>
            <p:spPr>
              <a:xfrm>
                <a:off x="2801466" y="1265274"/>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Sample point"/>
              <p:cNvSpPr/>
              <p:nvPr/>
            </p:nvSpPr>
            <p:spPr>
              <a:xfrm>
                <a:off x="2462723" y="1283147"/>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Sample point"/>
              <p:cNvSpPr/>
              <p:nvPr/>
            </p:nvSpPr>
            <p:spPr>
              <a:xfrm>
                <a:off x="2875040" y="1302272"/>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ample point"/>
              <p:cNvSpPr/>
              <p:nvPr/>
            </p:nvSpPr>
            <p:spPr>
              <a:xfrm>
                <a:off x="3140216" y="1302272"/>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ample point"/>
              <p:cNvSpPr/>
              <p:nvPr/>
            </p:nvSpPr>
            <p:spPr>
              <a:xfrm>
                <a:off x="3367979" y="1301435"/>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Sample point"/>
              <p:cNvSpPr/>
              <p:nvPr/>
            </p:nvSpPr>
            <p:spPr>
              <a:xfrm>
                <a:off x="3038795" y="1338011"/>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Sample point"/>
              <p:cNvSpPr/>
              <p:nvPr/>
            </p:nvSpPr>
            <p:spPr>
              <a:xfrm>
                <a:off x="2242856" y="1374176"/>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Sample point"/>
              <p:cNvSpPr/>
              <p:nvPr/>
            </p:nvSpPr>
            <p:spPr>
              <a:xfrm>
                <a:off x="2647645" y="1394917"/>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Sample point"/>
              <p:cNvSpPr/>
              <p:nvPr/>
            </p:nvSpPr>
            <p:spPr>
              <a:xfrm>
                <a:off x="2592781" y="141320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Sample point"/>
              <p:cNvSpPr/>
              <p:nvPr/>
            </p:nvSpPr>
            <p:spPr>
              <a:xfrm>
                <a:off x="2800235" y="1410347"/>
                <a:ext cx="68810" cy="688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Sample point"/>
              <p:cNvSpPr/>
              <p:nvPr/>
            </p:nvSpPr>
            <p:spPr>
              <a:xfrm>
                <a:off x="3248696" y="1410752"/>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Sample point"/>
              <p:cNvSpPr/>
              <p:nvPr/>
            </p:nvSpPr>
            <p:spPr>
              <a:xfrm>
                <a:off x="3038384" y="1483904"/>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Sample point"/>
              <p:cNvSpPr/>
              <p:nvPr/>
            </p:nvSpPr>
            <p:spPr>
              <a:xfrm>
                <a:off x="2453994" y="1503018"/>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Sample point"/>
              <p:cNvSpPr/>
              <p:nvPr/>
            </p:nvSpPr>
            <p:spPr>
              <a:xfrm>
                <a:off x="2736227" y="1520075"/>
                <a:ext cx="68810" cy="688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ample point"/>
              <p:cNvSpPr/>
              <p:nvPr/>
            </p:nvSpPr>
            <p:spPr>
              <a:xfrm>
                <a:off x="2243267" y="1539179"/>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Sample point"/>
              <p:cNvSpPr/>
              <p:nvPr/>
            </p:nvSpPr>
            <p:spPr>
              <a:xfrm>
                <a:off x="3267395" y="1539179"/>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Sample point"/>
              <p:cNvSpPr/>
              <p:nvPr/>
            </p:nvSpPr>
            <p:spPr>
              <a:xfrm>
                <a:off x="2591576" y="1604024"/>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Sample point"/>
              <p:cNvSpPr/>
              <p:nvPr/>
            </p:nvSpPr>
            <p:spPr>
              <a:xfrm>
                <a:off x="2819754" y="1603602"/>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Sample point"/>
              <p:cNvSpPr/>
              <p:nvPr/>
            </p:nvSpPr>
            <p:spPr>
              <a:xfrm>
                <a:off x="2215019" y="1712099"/>
                <a:ext cx="68810" cy="688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Sample point"/>
              <p:cNvSpPr/>
              <p:nvPr/>
            </p:nvSpPr>
            <p:spPr>
              <a:xfrm>
                <a:off x="3132277" y="173324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Sample point"/>
              <p:cNvSpPr/>
              <p:nvPr/>
            </p:nvSpPr>
            <p:spPr>
              <a:xfrm>
                <a:off x="3313115" y="1786067"/>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Sample point"/>
              <p:cNvSpPr/>
              <p:nvPr/>
            </p:nvSpPr>
            <p:spPr>
              <a:xfrm>
                <a:off x="2654747" y="1822643"/>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Sample point"/>
              <p:cNvSpPr/>
              <p:nvPr/>
            </p:nvSpPr>
            <p:spPr>
              <a:xfrm>
                <a:off x="2444435" y="1859219"/>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8" name="Prompt sample point cloud"/>
            <p:cNvGrpSpPr/>
            <p:nvPr/>
          </p:nvGrpSpPr>
          <p:grpSpPr>
            <a:xfrm>
              <a:off x="3862592" y="899514"/>
              <a:ext cx="1117065" cy="1071767"/>
              <a:chOff x="3862592" y="899514"/>
              <a:chExt cx="1117065" cy="1071767"/>
            </a:xfrm>
          </p:grpSpPr>
          <p:sp>
            <p:nvSpPr>
              <p:cNvPr id="69" name="Sample point"/>
              <p:cNvSpPr/>
              <p:nvPr/>
            </p:nvSpPr>
            <p:spPr>
              <a:xfrm>
                <a:off x="4383378" y="899514"/>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Sample point"/>
              <p:cNvSpPr/>
              <p:nvPr/>
            </p:nvSpPr>
            <p:spPr>
              <a:xfrm>
                <a:off x="4420376" y="1009664"/>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Sample point"/>
              <p:cNvSpPr/>
              <p:nvPr/>
            </p:nvSpPr>
            <p:spPr>
              <a:xfrm>
                <a:off x="4602834" y="1009242"/>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Sample point"/>
              <p:cNvSpPr/>
              <p:nvPr/>
            </p:nvSpPr>
            <p:spPr>
              <a:xfrm>
                <a:off x="4789055" y="1008011"/>
                <a:ext cx="68810" cy="68810"/>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Sample point"/>
              <p:cNvSpPr/>
              <p:nvPr/>
            </p:nvSpPr>
            <p:spPr>
              <a:xfrm>
                <a:off x="4246640" y="1064528"/>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Sample point"/>
              <p:cNvSpPr/>
              <p:nvPr/>
            </p:nvSpPr>
            <p:spPr>
              <a:xfrm>
                <a:off x="3972320" y="1119392"/>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Sample point"/>
              <p:cNvSpPr/>
              <p:nvPr/>
            </p:nvSpPr>
            <p:spPr>
              <a:xfrm>
                <a:off x="4365939" y="1119819"/>
                <a:ext cx="64651" cy="64651"/>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Sample point"/>
              <p:cNvSpPr/>
              <p:nvPr/>
            </p:nvSpPr>
            <p:spPr>
              <a:xfrm>
                <a:off x="4558741" y="112059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Sample point"/>
              <p:cNvSpPr/>
              <p:nvPr/>
            </p:nvSpPr>
            <p:spPr>
              <a:xfrm>
                <a:off x="4586173" y="112059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Sample point"/>
              <p:cNvSpPr/>
              <p:nvPr/>
            </p:nvSpPr>
            <p:spPr>
              <a:xfrm>
                <a:off x="4466096" y="1174256"/>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Sample point"/>
              <p:cNvSpPr/>
              <p:nvPr/>
            </p:nvSpPr>
            <p:spPr>
              <a:xfrm>
                <a:off x="4644404" y="1174256"/>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Sample point"/>
              <p:cNvSpPr/>
              <p:nvPr/>
            </p:nvSpPr>
            <p:spPr>
              <a:xfrm>
                <a:off x="4198092" y="1235436"/>
                <a:ext cx="62015" cy="6201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Sample point"/>
              <p:cNvSpPr/>
              <p:nvPr/>
            </p:nvSpPr>
            <p:spPr>
              <a:xfrm>
                <a:off x="4329363" y="1234119"/>
                <a:ext cx="64651" cy="64651"/>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Sample point"/>
              <p:cNvSpPr/>
              <p:nvPr/>
            </p:nvSpPr>
            <p:spPr>
              <a:xfrm>
                <a:off x="4513021" y="1239469"/>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Sample point"/>
              <p:cNvSpPr/>
              <p:nvPr/>
            </p:nvSpPr>
            <p:spPr>
              <a:xfrm>
                <a:off x="4802371" y="1231639"/>
                <a:ext cx="69611" cy="69611"/>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Sample point"/>
              <p:cNvSpPr/>
              <p:nvPr/>
            </p:nvSpPr>
            <p:spPr>
              <a:xfrm>
                <a:off x="4109480" y="1265696"/>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Sample point"/>
              <p:cNvSpPr/>
              <p:nvPr/>
            </p:nvSpPr>
            <p:spPr>
              <a:xfrm>
                <a:off x="4419954" y="1283562"/>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Sample point"/>
              <p:cNvSpPr/>
              <p:nvPr/>
            </p:nvSpPr>
            <p:spPr>
              <a:xfrm>
                <a:off x="3862592" y="1347992"/>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Sample point"/>
              <p:cNvSpPr/>
              <p:nvPr/>
            </p:nvSpPr>
            <p:spPr>
              <a:xfrm>
                <a:off x="4339285" y="1358341"/>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Sample point"/>
              <p:cNvSpPr/>
              <p:nvPr/>
            </p:nvSpPr>
            <p:spPr>
              <a:xfrm>
                <a:off x="4558741" y="134919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Sample point"/>
              <p:cNvSpPr/>
              <p:nvPr/>
            </p:nvSpPr>
            <p:spPr>
              <a:xfrm>
                <a:off x="4506925" y="137967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Sample point"/>
              <p:cNvSpPr/>
              <p:nvPr/>
            </p:nvSpPr>
            <p:spPr>
              <a:xfrm>
                <a:off x="4764481" y="134919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Sample point"/>
              <p:cNvSpPr/>
              <p:nvPr/>
            </p:nvSpPr>
            <p:spPr>
              <a:xfrm>
                <a:off x="4914152" y="1347992"/>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Sample point"/>
              <p:cNvSpPr/>
              <p:nvPr/>
            </p:nvSpPr>
            <p:spPr>
              <a:xfrm>
                <a:off x="4192981" y="139491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Sample point"/>
              <p:cNvSpPr/>
              <p:nvPr/>
            </p:nvSpPr>
            <p:spPr>
              <a:xfrm>
                <a:off x="4192981" y="1458925"/>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Sample point"/>
              <p:cNvSpPr/>
              <p:nvPr/>
            </p:nvSpPr>
            <p:spPr>
              <a:xfrm>
                <a:off x="4279849" y="1495501"/>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Sample point"/>
              <p:cNvSpPr/>
              <p:nvPr/>
            </p:nvSpPr>
            <p:spPr>
              <a:xfrm>
                <a:off x="4229557" y="1513789"/>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Sample point"/>
              <p:cNvSpPr/>
              <p:nvPr/>
            </p:nvSpPr>
            <p:spPr>
              <a:xfrm>
                <a:off x="4557114" y="1457298"/>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Sample point"/>
              <p:cNvSpPr/>
              <p:nvPr/>
            </p:nvSpPr>
            <p:spPr>
              <a:xfrm>
                <a:off x="4695901" y="1458925"/>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Sample point"/>
              <p:cNvSpPr/>
              <p:nvPr/>
            </p:nvSpPr>
            <p:spPr>
              <a:xfrm>
                <a:off x="4727905" y="1458925"/>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Sample point"/>
              <p:cNvSpPr/>
              <p:nvPr/>
            </p:nvSpPr>
            <p:spPr>
              <a:xfrm>
                <a:off x="4419954" y="1512162"/>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Sample point"/>
              <p:cNvSpPr/>
              <p:nvPr/>
            </p:nvSpPr>
            <p:spPr>
              <a:xfrm>
                <a:off x="4640692" y="1513444"/>
                <a:ext cx="63785" cy="6378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Sample point"/>
              <p:cNvSpPr/>
              <p:nvPr/>
            </p:nvSpPr>
            <p:spPr>
              <a:xfrm>
                <a:off x="3863452" y="1568308"/>
                <a:ext cx="63785" cy="6378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Sample point"/>
              <p:cNvSpPr/>
              <p:nvPr/>
            </p:nvSpPr>
            <p:spPr>
              <a:xfrm>
                <a:off x="4092397" y="1568653"/>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Sample point"/>
              <p:cNvSpPr/>
              <p:nvPr/>
            </p:nvSpPr>
            <p:spPr>
              <a:xfrm>
                <a:off x="4083253" y="1577797"/>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Sample point"/>
              <p:cNvSpPr/>
              <p:nvPr/>
            </p:nvSpPr>
            <p:spPr>
              <a:xfrm>
                <a:off x="4055821" y="1605229"/>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Sample point"/>
              <p:cNvSpPr/>
              <p:nvPr/>
            </p:nvSpPr>
            <p:spPr>
              <a:xfrm>
                <a:off x="4467301" y="1568653"/>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Sample point"/>
              <p:cNvSpPr/>
              <p:nvPr/>
            </p:nvSpPr>
            <p:spPr>
              <a:xfrm>
                <a:off x="4503877" y="1568653"/>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Sample point"/>
              <p:cNvSpPr/>
              <p:nvPr/>
            </p:nvSpPr>
            <p:spPr>
              <a:xfrm>
                <a:off x="4840578" y="1567026"/>
                <a:ext cx="66347" cy="66347"/>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Sample point"/>
              <p:cNvSpPr/>
              <p:nvPr/>
            </p:nvSpPr>
            <p:spPr>
              <a:xfrm>
                <a:off x="4284076" y="1682608"/>
                <a:ext cx="63785" cy="6378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Sample point"/>
              <p:cNvSpPr/>
              <p:nvPr/>
            </p:nvSpPr>
            <p:spPr>
              <a:xfrm>
                <a:off x="4503877" y="1696669"/>
                <a:ext cx="63094" cy="6309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Sample point"/>
              <p:cNvSpPr/>
              <p:nvPr/>
            </p:nvSpPr>
            <p:spPr>
              <a:xfrm>
                <a:off x="4695123" y="1682175"/>
                <a:ext cx="64651" cy="64651"/>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Sample point"/>
              <p:cNvSpPr/>
              <p:nvPr/>
            </p:nvSpPr>
            <p:spPr>
              <a:xfrm>
                <a:off x="4915451" y="1683047"/>
                <a:ext cx="62906" cy="62906"/>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Sample point"/>
              <p:cNvSpPr/>
              <p:nvPr/>
            </p:nvSpPr>
            <p:spPr>
              <a:xfrm>
                <a:off x="4006068" y="1765788"/>
                <a:ext cx="62015" cy="6201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Sample point"/>
              <p:cNvSpPr/>
              <p:nvPr/>
            </p:nvSpPr>
            <p:spPr>
              <a:xfrm>
                <a:off x="4198092" y="1765788"/>
                <a:ext cx="62015" cy="6201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Sample point"/>
              <p:cNvSpPr/>
              <p:nvPr/>
            </p:nvSpPr>
            <p:spPr>
              <a:xfrm>
                <a:off x="4501835" y="1795211"/>
                <a:ext cx="67178" cy="67178"/>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Sample point"/>
              <p:cNvSpPr/>
              <p:nvPr/>
            </p:nvSpPr>
            <p:spPr>
              <a:xfrm>
                <a:off x="4755864" y="1793208"/>
                <a:ext cx="71184" cy="71184"/>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Sample point"/>
              <p:cNvSpPr/>
              <p:nvPr/>
            </p:nvSpPr>
            <p:spPr>
              <a:xfrm>
                <a:off x="3944888" y="1905776"/>
                <a:ext cx="65505" cy="65505"/>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17" name="Curve"/>
            <p:cNvSpPr/>
            <p:nvPr/>
          </p:nvSpPr>
          <p:spPr>
            <a:xfrm>
              <a:off x="4809744" y="813816"/>
              <a:ext cx="1024128" cy="228600"/>
            </a:xfrm>
            <a:custGeom>
              <a:avLst/>
              <a:gdLst/>
              <a:ahLst/>
              <a:cxnLst/>
              <a:rect l="l" t="t" r="r" b="b"/>
              <a:pathLst>
                <a:path w="11200" h="2500">
                  <a:moveTo>
                    <a:pt x="0" y="2500"/>
                  </a:moveTo>
                  <a:lnTo>
                    <a:pt x="278" y="2489"/>
                  </a:lnTo>
                  <a:lnTo>
                    <a:pt x="558" y="2471"/>
                  </a:lnTo>
                  <a:lnTo>
                    <a:pt x="841" y="2446"/>
                  </a:lnTo>
                  <a:lnTo>
                    <a:pt x="1125" y="2416"/>
                  </a:lnTo>
                  <a:lnTo>
                    <a:pt x="1411" y="2380"/>
                  </a:lnTo>
                  <a:lnTo>
                    <a:pt x="1699" y="2338"/>
                  </a:lnTo>
                  <a:lnTo>
                    <a:pt x="1988" y="2291"/>
                  </a:lnTo>
                  <a:lnTo>
                    <a:pt x="2279" y="2239"/>
                  </a:lnTo>
                  <a:lnTo>
                    <a:pt x="2571" y="2183"/>
                  </a:lnTo>
                  <a:lnTo>
                    <a:pt x="2864" y="2122"/>
                  </a:lnTo>
                  <a:lnTo>
                    <a:pt x="3158" y="2058"/>
                  </a:lnTo>
                  <a:lnTo>
                    <a:pt x="3453" y="1990"/>
                  </a:lnTo>
                  <a:lnTo>
                    <a:pt x="3748" y="1919"/>
                  </a:lnTo>
                  <a:lnTo>
                    <a:pt x="4044" y="1844"/>
                  </a:lnTo>
                  <a:lnTo>
                    <a:pt x="4340" y="1768"/>
                  </a:lnTo>
                  <a:lnTo>
                    <a:pt x="4637" y="1689"/>
                  </a:lnTo>
                  <a:lnTo>
                    <a:pt x="4934" y="1608"/>
                  </a:lnTo>
                  <a:lnTo>
                    <a:pt x="5230" y="1526"/>
                  </a:lnTo>
                  <a:lnTo>
                    <a:pt x="5527" y="1442"/>
                  </a:lnTo>
                  <a:lnTo>
                    <a:pt x="5823" y="1358"/>
                  </a:lnTo>
                  <a:lnTo>
                    <a:pt x="6119" y="1272"/>
                  </a:lnTo>
                  <a:lnTo>
                    <a:pt x="6414" y="1187"/>
                  </a:lnTo>
                  <a:lnTo>
                    <a:pt x="6708" y="1101"/>
                  </a:lnTo>
                  <a:lnTo>
                    <a:pt x="7002" y="1016"/>
                  </a:lnTo>
                  <a:lnTo>
                    <a:pt x="7294" y="932"/>
                  </a:lnTo>
                  <a:lnTo>
                    <a:pt x="7585" y="848"/>
                  </a:lnTo>
                  <a:lnTo>
                    <a:pt x="7875" y="766"/>
                  </a:lnTo>
                  <a:lnTo>
                    <a:pt x="8164" y="685"/>
                  </a:lnTo>
                  <a:lnTo>
                    <a:pt x="8450" y="607"/>
                  </a:lnTo>
                  <a:lnTo>
                    <a:pt x="8736" y="530"/>
                  </a:lnTo>
                  <a:lnTo>
                    <a:pt x="9019" y="457"/>
                  </a:lnTo>
                  <a:lnTo>
                    <a:pt x="9300" y="386"/>
                  </a:lnTo>
                  <a:lnTo>
                    <a:pt x="9579" y="319"/>
                  </a:lnTo>
                  <a:lnTo>
                    <a:pt x="9856" y="255"/>
                  </a:lnTo>
                  <a:lnTo>
                    <a:pt x="10130" y="195"/>
                  </a:lnTo>
                  <a:lnTo>
                    <a:pt x="10402" y="139"/>
                  </a:lnTo>
                  <a:lnTo>
                    <a:pt x="10671" y="88"/>
                  </a:lnTo>
                  <a:lnTo>
                    <a:pt x="10937" y="41"/>
                  </a:lnTo>
                  <a:lnTo>
                    <a:pt x="11200" y="0"/>
                  </a:lnTo>
                </a:path>
              </a:pathLst>
            </a:custGeom>
            <a:noFill/>
            <a:ln w="10058">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Curve"/>
            <p:cNvSpPr/>
            <p:nvPr/>
          </p:nvSpPr>
          <p:spPr>
            <a:xfrm>
              <a:off x="4809744" y="1271016"/>
              <a:ext cx="1024128" cy="192024"/>
            </a:xfrm>
            <a:custGeom>
              <a:avLst/>
              <a:gdLst/>
              <a:ahLst/>
              <a:cxnLst/>
              <a:rect l="l" t="t" r="r" b="b"/>
              <a:pathLst>
                <a:path w="11200" h="2100">
                  <a:moveTo>
                    <a:pt x="0" y="0"/>
                  </a:moveTo>
                  <a:lnTo>
                    <a:pt x="300" y="18"/>
                  </a:lnTo>
                  <a:lnTo>
                    <a:pt x="600" y="41"/>
                  </a:lnTo>
                  <a:lnTo>
                    <a:pt x="900" y="68"/>
                  </a:lnTo>
                  <a:lnTo>
                    <a:pt x="1199" y="100"/>
                  </a:lnTo>
                  <a:lnTo>
                    <a:pt x="1499" y="136"/>
                  </a:lnTo>
                  <a:lnTo>
                    <a:pt x="1798" y="176"/>
                  </a:lnTo>
                  <a:lnTo>
                    <a:pt x="2097" y="219"/>
                  </a:lnTo>
                  <a:lnTo>
                    <a:pt x="2396" y="266"/>
                  </a:lnTo>
                  <a:lnTo>
                    <a:pt x="2694" y="317"/>
                  </a:lnTo>
                  <a:lnTo>
                    <a:pt x="2992" y="370"/>
                  </a:lnTo>
                  <a:lnTo>
                    <a:pt x="3289" y="426"/>
                  </a:lnTo>
                  <a:lnTo>
                    <a:pt x="3585" y="484"/>
                  </a:lnTo>
                  <a:lnTo>
                    <a:pt x="3881" y="544"/>
                  </a:lnTo>
                  <a:lnTo>
                    <a:pt x="4177" y="607"/>
                  </a:lnTo>
                  <a:lnTo>
                    <a:pt x="4472" y="671"/>
                  </a:lnTo>
                  <a:lnTo>
                    <a:pt x="4765" y="737"/>
                  </a:lnTo>
                  <a:lnTo>
                    <a:pt x="5059" y="804"/>
                  </a:lnTo>
                  <a:lnTo>
                    <a:pt x="5351" y="872"/>
                  </a:lnTo>
                  <a:lnTo>
                    <a:pt x="5642" y="940"/>
                  </a:lnTo>
                  <a:lnTo>
                    <a:pt x="5933" y="1010"/>
                  </a:lnTo>
                  <a:lnTo>
                    <a:pt x="6222" y="1079"/>
                  </a:lnTo>
                  <a:lnTo>
                    <a:pt x="6510" y="1149"/>
                  </a:lnTo>
                  <a:lnTo>
                    <a:pt x="6797" y="1218"/>
                  </a:lnTo>
                  <a:lnTo>
                    <a:pt x="7083" y="1287"/>
                  </a:lnTo>
                  <a:lnTo>
                    <a:pt x="7368" y="1355"/>
                  </a:lnTo>
                  <a:lnTo>
                    <a:pt x="7652" y="1422"/>
                  </a:lnTo>
                  <a:lnTo>
                    <a:pt x="7934" y="1488"/>
                  </a:lnTo>
                  <a:lnTo>
                    <a:pt x="8215" y="1553"/>
                  </a:lnTo>
                  <a:lnTo>
                    <a:pt x="8494" y="1616"/>
                  </a:lnTo>
                  <a:lnTo>
                    <a:pt x="8772" y="1677"/>
                  </a:lnTo>
                  <a:lnTo>
                    <a:pt x="9049" y="1736"/>
                  </a:lnTo>
                  <a:lnTo>
                    <a:pt x="9324" y="1792"/>
                  </a:lnTo>
                  <a:lnTo>
                    <a:pt x="9597" y="1846"/>
                  </a:lnTo>
                  <a:lnTo>
                    <a:pt x="9869" y="1897"/>
                  </a:lnTo>
                  <a:lnTo>
                    <a:pt x="10139" y="1945"/>
                  </a:lnTo>
                  <a:lnTo>
                    <a:pt x="10407" y="1989"/>
                  </a:lnTo>
                  <a:lnTo>
                    <a:pt x="10673" y="2030"/>
                  </a:lnTo>
                  <a:lnTo>
                    <a:pt x="10937" y="2067"/>
                  </a:lnTo>
                  <a:lnTo>
                    <a:pt x="11200" y="2100"/>
                  </a:lnTo>
                </a:path>
              </a:pathLst>
            </a:custGeom>
            <a:noFill/>
            <a:ln w="10058">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Curve"/>
            <p:cNvSpPr/>
            <p:nvPr/>
          </p:nvSpPr>
          <p:spPr>
            <a:xfrm>
              <a:off x="4764024" y="1828800"/>
              <a:ext cx="1069848" cy="128016"/>
            </a:xfrm>
            <a:custGeom>
              <a:avLst/>
              <a:gdLst/>
              <a:ahLst/>
              <a:cxnLst/>
              <a:rect l="l" t="t" r="r" b="b"/>
              <a:pathLst>
                <a:path w="11700" h="1400">
                  <a:moveTo>
                    <a:pt x="0" y="0"/>
                  </a:moveTo>
                  <a:lnTo>
                    <a:pt x="359" y="32"/>
                  </a:lnTo>
                  <a:lnTo>
                    <a:pt x="714" y="65"/>
                  </a:lnTo>
                  <a:lnTo>
                    <a:pt x="1064" y="99"/>
                  </a:lnTo>
                  <a:lnTo>
                    <a:pt x="1410" y="135"/>
                  </a:lnTo>
                  <a:lnTo>
                    <a:pt x="1751" y="171"/>
                  </a:lnTo>
                  <a:lnTo>
                    <a:pt x="2088" y="209"/>
                  </a:lnTo>
                  <a:lnTo>
                    <a:pt x="2422" y="248"/>
                  </a:lnTo>
                  <a:lnTo>
                    <a:pt x="2751" y="288"/>
                  </a:lnTo>
                  <a:lnTo>
                    <a:pt x="3077" y="329"/>
                  </a:lnTo>
                  <a:lnTo>
                    <a:pt x="3399" y="370"/>
                  </a:lnTo>
                  <a:lnTo>
                    <a:pt x="3717" y="411"/>
                  </a:lnTo>
                  <a:lnTo>
                    <a:pt x="4033" y="454"/>
                  </a:lnTo>
                  <a:lnTo>
                    <a:pt x="4344" y="496"/>
                  </a:lnTo>
                  <a:lnTo>
                    <a:pt x="4653" y="539"/>
                  </a:lnTo>
                  <a:lnTo>
                    <a:pt x="4959" y="582"/>
                  </a:lnTo>
                  <a:lnTo>
                    <a:pt x="5262" y="625"/>
                  </a:lnTo>
                  <a:lnTo>
                    <a:pt x="5562" y="668"/>
                  </a:lnTo>
                  <a:lnTo>
                    <a:pt x="5859" y="711"/>
                  </a:lnTo>
                  <a:lnTo>
                    <a:pt x="6154" y="754"/>
                  </a:lnTo>
                  <a:lnTo>
                    <a:pt x="6446" y="796"/>
                  </a:lnTo>
                  <a:lnTo>
                    <a:pt x="6736" y="838"/>
                  </a:lnTo>
                  <a:lnTo>
                    <a:pt x="7024" y="879"/>
                  </a:lnTo>
                  <a:lnTo>
                    <a:pt x="7309" y="920"/>
                  </a:lnTo>
                  <a:lnTo>
                    <a:pt x="7593" y="960"/>
                  </a:lnTo>
                  <a:lnTo>
                    <a:pt x="7875" y="999"/>
                  </a:lnTo>
                  <a:lnTo>
                    <a:pt x="8156" y="1037"/>
                  </a:lnTo>
                  <a:lnTo>
                    <a:pt x="8434" y="1074"/>
                  </a:lnTo>
                  <a:lnTo>
                    <a:pt x="8712" y="1110"/>
                  </a:lnTo>
                  <a:lnTo>
                    <a:pt x="8987" y="1145"/>
                  </a:lnTo>
                  <a:lnTo>
                    <a:pt x="9262" y="1178"/>
                  </a:lnTo>
                  <a:lnTo>
                    <a:pt x="9536" y="1210"/>
                  </a:lnTo>
                  <a:lnTo>
                    <a:pt x="9808" y="1240"/>
                  </a:lnTo>
                  <a:lnTo>
                    <a:pt x="10080" y="1269"/>
                  </a:lnTo>
                  <a:lnTo>
                    <a:pt x="10351" y="1296"/>
                  </a:lnTo>
                  <a:lnTo>
                    <a:pt x="10622" y="1321"/>
                  </a:lnTo>
                  <a:lnTo>
                    <a:pt x="10892" y="1344"/>
                  </a:lnTo>
                  <a:lnTo>
                    <a:pt x="11161" y="1365"/>
                  </a:lnTo>
                  <a:lnTo>
                    <a:pt x="11431" y="1383"/>
                  </a:lnTo>
                  <a:lnTo>
                    <a:pt x="11700" y="1400"/>
                  </a:lnTo>
                </a:path>
              </a:pathLst>
            </a:custGeom>
            <a:noFill/>
            <a:ln w="10058">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Question 1 box"/>
            <p:cNvSpPr/>
            <p:nvPr/>
          </p:nvSpPr>
          <p:spPr>
            <a:xfrm>
              <a:off x="5833872" y="484632"/>
              <a:ext cx="3474720" cy="667512"/>
            </a:xfrm>
            <a:prstGeom prst="rect">
              <a:avLst/>
            </a:prstGeom>
            <a:solidFill>
              <a:srgbClr val="DFD3E5"/>
            </a:solidFill>
            <a:ln w="9144">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Question 2 box"/>
            <p:cNvSpPr/>
            <p:nvPr/>
          </p:nvSpPr>
          <p:spPr>
            <a:xfrm>
              <a:off x="5833872" y="1225296"/>
              <a:ext cx="3474720" cy="448056"/>
            </a:xfrm>
            <a:prstGeom prst="rect">
              <a:avLst/>
            </a:prstGeom>
            <a:solidFill>
              <a:srgbClr val="DFD3E5"/>
            </a:solidFill>
            <a:ln w="9144">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Question 3 box"/>
            <p:cNvSpPr/>
            <p:nvPr/>
          </p:nvSpPr>
          <p:spPr>
            <a:xfrm>
              <a:off x="5833872" y="1737360"/>
              <a:ext cx="3474720" cy="429768"/>
            </a:xfrm>
            <a:prstGeom prst="rect">
              <a:avLst/>
            </a:prstGeom>
            <a:solidFill>
              <a:srgbClr val="DFD3E5"/>
            </a:solidFill>
            <a:ln w="9144">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What colors are the patterns in the"/>
            <p:cNvSpPr txBox="1"/>
            <p:nvPr/>
          </p:nvSpPr>
          <p:spPr>
            <a:xfrm>
              <a:off x="5897880" y="573786"/>
              <a:ext cx="3346704"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What colors are the patterns in the</a:t>
              </a:r>
            </a:p>
          </p:txBody>
        </p:sp>
        <p:sp>
          <p:nvSpPr>
            <p:cNvPr id="124" name="picture?"/>
            <p:cNvSpPr txBox="1"/>
            <p:nvPr/>
          </p:nvSpPr>
          <p:spPr>
            <a:xfrm>
              <a:off x="5897880" y="829818"/>
              <a:ext cx="3346704"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picture?</a:t>
              </a:r>
            </a:p>
          </p:txBody>
        </p:sp>
        <p:sp>
          <p:nvSpPr>
            <p:cNvPr id="125" name="What is that person wearing?"/>
            <p:cNvSpPr txBox="1"/>
            <p:nvPr/>
          </p:nvSpPr>
          <p:spPr>
            <a:xfrm>
              <a:off x="5916168" y="1305306"/>
              <a:ext cx="3310128"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What is that person wearing?</a:t>
              </a:r>
            </a:p>
          </p:txBody>
        </p:sp>
        <p:sp>
          <p:nvSpPr>
            <p:cNvPr id="126" name="What's on the plate?"/>
            <p:cNvSpPr txBox="1"/>
            <p:nvPr/>
          </p:nvSpPr>
          <p:spPr>
            <a:xfrm>
              <a:off x="5907024" y="1808226"/>
              <a:ext cx="3337560"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What's on the plate?</a:t>
              </a:r>
            </a:p>
          </p:txBody>
        </p:sp>
        <p:sp>
          <p:nvSpPr>
            <p:cNvPr id="127" name="v ~ N (μ, ∑/N)"/>
            <p:cNvSpPr txBox="1"/>
            <p:nvPr/>
          </p:nvSpPr>
          <p:spPr>
            <a:xfrm>
              <a:off x="1097280" y="2201418"/>
              <a:ext cx="153619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v ~ N (μ, ∑/N)</a:t>
              </a:r>
            </a:p>
          </p:txBody>
        </p:sp>
        <p:sp>
          <p:nvSpPr>
            <p:cNvPr id="128" name="t ~ N (μ, ∑/N)"/>
            <p:cNvSpPr txBox="1"/>
            <p:nvPr/>
          </p:nvSpPr>
          <p:spPr>
            <a:xfrm>
              <a:off x="5394960" y="2210562"/>
              <a:ext cx="1545336"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t ~ N (μ, ∑/N)</a:t>
              </a:r>
            </a:p>
          </p:txBody>
        </p:sp>
      </p:grpSp>
      <p:grpSp>
        <p:nvGrpSpPr>
          <p:cNvPr id="129" name="Model maps to input distribution"/>
          <p:cNvGrpSpPr/>
          <p:nvPr/>
        </p:nvGrpSpPr>
        <p:grpSpPr>
          <a:xfrm>
            <a:off x="9555480" y="208026"/>
            <a:ext cx="4370832" cy="1646476"/>
            <a:chOff x="9555480" y="208026"/>
            <a:chExt cx="4370832" cy="1646476"/>
          </a:xfrm>
        </p:grpSpPr>
        <p:sp>
          <p:nvSpPr>
            <p:cNvPr id="130" name="Model"/>
            <p:cNvSpPr txBox="1"/>
            <p:nvPr/>
          </p:nvSpPr>
          <p:spPr>
            <a:xfrm>
              <a:off x="9582912" y="875538"/>
              <a:ext cx="694944"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Model</a:t>
              </a:r>
            </a:p>
          </p:txBody>
        </p:sp>
        <p:sp>
          <p:nvSpPr>
            <p:cNvPr id="131" name="Model outlined arrow"/>
            <p:cNvSpPr/>
            <p:nvPr/>
          </p:nvSpPr>
          <p:spPr>
            <a:xfrm>
              <a:off x="9555480" y="1161288"/>
              <a:ext cx="658368" cy="338328"/>
            </a:xfrm>
            <a:custGeom>
              <a:avLst/>
              <a:gdLst/>
              <a:ahLst/>
              <a:cxnLst/>
              <a:rect l="l" t="t" r="r" b="b"/>
              <a:pathLst>
                <a:path w="7200" h="3700">
                  <a:moveTo>
                    <a:pt x="0" y="1200"/>
                  </a:moveTo>
                  <a:lnTo>
                    <a:pt x="4900" y="1200"/>
                  </a:lnTo>
                  <a:lnTo>
                    <a:pt x="4900" y="0"/>
                  </a:lnTo>
                  <a:lnTo>
                    <a:pt x="7200" y="1800"/>
                  </a:lnTo>
                  <a:lnTo>
                    <a:pt x="4900" y="3700"/>
                  </a:lnTo>
                  <a:lnTo>
                    <a:pt x="4900" y="2500"/>
                  </a:lnTo>
                  <a:lnTo>
                    <a:pt x="0" y="2500"/>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Image and Prompt Set Distribution"/>
            <p:cNvSpPr txBox="1"/>
            <p:nvPr/>
          </p:nvSpPr>
          <p:spPr>
            <a:xfrm>
              <a:off x="10543032" y="208026"/>
              <a:ext cx="3383280"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Image and Prompt Set Distribution</a:t>
              </a:r>
            </a:p>
          </p:txBody>
        </p:sp>
        <p:grpSp>
          <p:nvGrpSpPr>
            <p:cNvPr id="133" name="Image set Gaussian"/>
            <p:cNvGrpSpPr/>
            <p:nvPr/>
          </p:nvGrpSpPr>
          <p:grpSpPr>
            <a:xfrm>
              <a:off x="10803636" y="626364"/>
              <a:ext cx="1133856" cy="804672"/>
              <a:chOff x="10803636" y="626364"/>
              <a:chExt cx="1133856" cy="804672"/>
            </a:xfrm>
          </p:grpSpPr>
          <p:sp>
            <p:nvSpPr>
              <p:cNvPr id="134" name="Image set Gaussian contour 1"/>
              <p:cNvSpPr/>
              <p:nvPr/>
            </p:nvSpPr>
            <p:spPr>
              <a:xfrm rot="19500000">
                <a:off x="10803636" y="626364"/>
                <a:ext cx="1133856" cy="804672"/>
              </a:xfrm>
              <a:prstGeom prst="ellipse">
                <a:avLst/>
              </a:prstGeom>
              <a:solidFill>
                <a:srgbClr val="51D6F2"/>
              </a:solidFill>
              <a:ln w="8229">
                <a:solidFill>
                  <a:srgbClr val="51747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Image set Gaussian contour 2"/>
              <p:cNvSpPr/>
              <p:nvPr/>
            </p:nvSpPr>
            <p:spPr>
              <a:xfrm rot="19500000">
                <a:off x="10911352" y="702808"/>
                <a:ext cx="918423" cy="651784"/>
              </a:xfrm>
              <a:prstGeom prst="ellipse">
                <a:avLst/>
              </a:prstGeom>
              <a:solidFill>
                <a:srgbClr val="34C9F3"/>
              </a:solidFill>
              <a:ln w="8229">
                <a:solidFill>
                  <a:srgbClr val="42AE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Image set Gaussian contour 3"/>
              <p:cNvSpPr/>
              <p:nvPr/>
            </p:nvSpPr>
            <p:spPr>
              <a:xfrm rot="19500000">
                <a:off x="11007730" y="771205"/>
                <a:ext cx="725668" cy="514990"/>
              </a:xfrm>
              <a:prstGeom prst="ellipse">
                <a:avLst/>
              </a:prstGeom>
              <a:solidFill>
                <a:srgbClr val="2CB8F2"/>
              </a:solidFill>
              <a:ln w="8229">
                <a:solidFill>
                  <a:srgbClr val="26AFE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Image set Gaussian center"/>
              <p:cNvSpPr/>
              <p:nvPr/>
            </p:nvSpPr>
            <p:spPr>
              <a:xfrm>
                <a:off x="11336731" y="994867"/>
                <a:ext cx="67666" cy="67666"/>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8" name="Prompt set Gaussian"/>
            <p:cNvGrpSpPr/>
            <p:nvPr/>
          </p:nvGrpSpPr>
          <p:grpSpPr>
            <a:xfrm>
              <a:off x="12367260" y="635508"/>
              <a:ext cx="1133856" cy="786384"/>
              <a:chOff x="12367260" y="635508"/>
              <a:chExt cx="1133856" cy="786384"/>
            </a:xfrm>
          </p:grpSpPr>
          <p:sp>
            <p:nvSpPr>
              <p:cNvPr id="139" name="Prompt set Gaussian contour 1"/>
              <p:cNvSpPr/>
              <p:nvPr/>
            </p:nvSpPr>
            <p:spPr>
              <a:xfrm rot="19500000">
                <a:off x="12367260" y="635508"/>
                <a:ext cx="1133856" cy="786384"/>
              </a:xfrm>
              <a:prstGeom prst="ellipse">
                <a:avLst/>
              </a:prstGeom>
              <a:solidFill>
                <a:srgbClr val="E9E2EE"/>
              </a:solidFill>
              <a:ln w="8229">
                <a:solidFill>
                  <a:srgbClr val="B49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Prompt set Gaussian contour 2"/>
              <p:cNvSpPr/>
              <p:nvPr/>
            </p:nvSpPr>
            <p:spPr>
              <a:xfrm rot="19500000">
                <a:off x="12474976" y="710214"/>
                <a:ext cx="918423" cy="636971"/>
              </a:xfrm>
              <a:prstGeom prst="ellipse">
                <a:avLst/>
              </a:prstGeom>
              <a:solidFill>
                <a:srgbClr val="C9CAE9"/>
              </a:solidFill>
              <a:ln w="8229">
                <a:solidFill>
                  <a:srgbClr val="AFAF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Prompt set Gaussian contour 3"/>
              <p:cNvSpPr/>
              <p:nvPr/>
            </p:nvSpPr>
            <p:spPr>
              <a:xfrm rot="19500000">
                <a:off x="12571354" y="777057"/>
                <a:ext cx="725668" cy="503286"/>
              </a:xfrm>
              <a:prstGeom prst="ellipse">
                <a:avLst/>
              </a:prstGeom>
              <a:solidFill>
                <a:srgbClr val="B9BFED"/>
              </a:solidFill>
              <a:ln w="8229">
                <a:solidFill>
                  <a:srgbClr val="AFB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Prompt set Gaussian center"/>
              <p:cNvSpPr/>
              <p:nvPr/>
            </p:nvSpPr>
            <p:spPr>
              <a:xfrm>
                <a:off x="12900355" y="994867"/>
                <a:ext cx="67666" cy="67666"/>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43" name="v Gaussian formula"/>
            <p:cNvGrpSpPr/>
            <p:nvPr/>
          </p:nvGrpSpPr>
          <p:grpSpPr>
            <a:xfrm>
              <a:off x="10680192" y="1454170"/>
              <a:ext cx="1437071" cy="372900"/>
              <a:chOff x="10680192" y="1454170"/>
              <a:chExt cx="1437071" cy="372900"/>
            </a:xfrm>
          </p:grpSpPr>
          <p:sp>
            <p:nvSpPr>
              <p:cNvPr id="144" name="v"/>
              <p:cNvSpPr txBox="1"/>
              <p:nvPr/>
            </p:nvSpPr>
            <p:spPr>
              <a:xfrm>
                <a:off x="10680192" y="1515618"/>
                <a:ext cx="19202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v</a:t>
                </a:r>
              </a:p>
            </p:txBody>
          </p:sp>
          <p:sp>
            <p:nvSpPr>
              <p:cNvPr id="145" name="~"/>
              <p:cNvSpPr txBox="1"/>
              <p:nvPr/>
            </p:nvSpPr>
            <p:spPr>
              <a:xfrm>
                <a:off x="10838200" y="1515618"/>
                <a:ext cx="237744"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a:t>
                </a:r>
              </a:p>
            </p:txBody>
          </p:sp>
          <p:sp>
            <p:nvSpPr>
              <p:cNvPr id="146" name="N"/>
              <p:cNvSpPr txBox="1"/>
              <p:nvPr/>
            </p:nvSpPr>
            <p:spPr>
              <a:xfrm>
                <a:off x="11040100" y="1515618"/>
                <a:ext cx="219456"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N</a:t>
                </a:r>
              </a:p>
            </p:txBody>
          </p:sp>
          <p:sp>
            <p:nvSpPr>
              <p:cNvPr id="147" name="("/>
              <p:cNvSpPr txBox="1"/>
              <p:nvPr/>
            </p:nvSpPr>
            <p:spPr>
              <a:xfrm>
                <a:off x="11215665" y="1506474"/>
                <a:ext cx="128016" cy="280904"/>
              </a:xfrm>
              <a:prstGeom prst="rect">
                <a:avLst/>
              </a:prstGeom>
              <a:noFill/>
            </p:spPr>
            <p:txBody>
              <a:bodyPr wrap="none" lIns="0" rIns="0" tIns="0" bIns="0" anchor="t">
                <a:noAutofit/>
              </a:bodyPr>
              <a:lstStyle/>
              <a:p>
                <a:pPr algn="l">
                  <a:spcBef>
                    <a:spcPts val="0"/>
                  </a:spcBef>
                  <a:spcAft>
                    <a:spcPts val="0"/>
                  </a:spcAft>
                </a:pPr>
                <a:r>
                  <a:rPr sz="1728" b="0" i="0" u="none">
                    <a:solidFill>
                      <a:srgbClr val="080808"/>
                    </a:solidFill>
                    <a:latin typeface="Times New Roman"/>
                    <a:ea typeface="Times New Roman"/>
                  </a:rPr>
                  <a:t>(</a:t>
                </a:r>
              </a:p>
            </p:txBody>
          </p:sp>
          <p:sp>
            <p:nvSpPr>
              <p:cNvPr id="148" name="v"/>
              <p:cNvSpPr txBox="1"/>
              <p:nvPr/>
            </p:nvSpPr>
            <p:spPr>
              <a:xfrm>
                <a:off x="11294669" y="1515618"/>
                <a:ext cx="164592"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v</a:t>
                </a:r>
              </a:p>
            </p:txBody>
          </p:sp>
          <p:sp>
            <p:nvSpPr>
              <p:cNvPr id="149" name="Mean v hat accent"/>
              <p:cNvSpPr/>
              <p:nvPr/>
            </p:nvSpPr>
            <p:spPr>
              <a:xfrm>
                <a:off x="11321004" y="1544239"/>
                <a:ext cx="87782" cy="35113"/>
              </a:xfrm>
              <a:custGeom>
                <a:avLst/>
                <a:gdLst/>
                <a:ahLst/>
                <a:cxnLst/>
                <a:rect l="l" t="t" r="r" b="b"/>
                <a:pathLst>
                  <a:path w="960" h="384">
                    <a:moveTo>
                      <a:pt x="0" y="384"/>
                    </a:moveTo>
                    <a:lnTo>
                      <a:pt x="480" y="0"/>
                    </a:lnTo>
                    <a:lnTo>
                      <a:pt x="960" y="384"/>
                    </a:lnTo>
                  </a:path>
                </a:pathLst>
              </a:custGeom>
              <a:noFill/>
              <a:ln w="10058">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
              <p:cNvSpPr txBox="1"/>
              <p:nvPr/>
            </p:nvSpPr>
            <p:spPr>
              <a:xfrm>
                <a:off x="11479012" y="1515618"/>
                <a:ext cx="91440"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a:t>
                </a:r>
              </a:p>
            </p:txBody>
          </p:sp>
          <p:sp>
            <p:nvSpPr>
              <p:cNvPr id="151" name="H"/>
              <p:cNvSpPr txBox="1"/>
              <p:nvPr/>
            </p:nvSpPr>
            <p:spPr>
              <a:xfrm>
                <a:off x="11549238" y="1515618"/>
                <a:ext cx="256032"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H</a:t>
                </a:r>
              </a:p>
            </p:txBody>
          </p:sp>
          <p:sp>
            <p:nvSpPr>
              <p:cNvPr id="152" name="v"/>
              <p:cNvSpPr txBox="1"/>
              <p:nvPr/>
            </p:nvSpPr>
            <p:spPr>
              <a:xfrm>
                <a:off x="11698468" y="1647292"/>
                <a:ext cx="146304" cy="179778"/>
              </a:xfrm>
              <a:prstGeom prst="rect">
                <a:avLst/>
              </a:prstGeom>
              <a:noFill/>
            </p:spPr>
            <p:txBody>
              <a:bodyPr wrap="none" lIns="0" rIns="0" tIns="0" bIns="0" anchor="t">
                <a:noAutofit/>
              </a:bodyPr>
              <a:lstStyle/>
              <a:p>
                <a:pPr algn="l">
                  <a:spcBef>
                    <a:spcPts val="0"/>
                  </a:spcBef>
                  <a:spcAft>
                    <a:spcPts val="0"/>
                  </a:spcAft>
                </a:pPr>
                <a:r>
                  <a:rPr sz="1105" b="0" i="1" u="none">
                    <a:solidFill>
                      <a:srgbClr val="080808"/>
                    </a:solidFill>
                    <a:latin typeface="Times New Roman"/>
                    <a:ea typeface="Times New Roman"/>
                  </a:rPr>
                  <a:t>v</a:t>
                </a:r>
              </a:p>
            </p:txBody>
          </p:sp>
          <p:sp>
            <p:nvSpPr>
              <p:cNvPr id="153" name="−1"/>
              <p:cNvSpPr txBox="1"/>
              <p:nvPr/>
            </p:nvSpPr>
            <p:spPr>
              <a:xfrm>
                <a:off x="11724803" y="1454170"/>
                <a:ext cx="301752" cy="196633"/>
              </a:xfrm>
              <a:prstGeom prst="rect">
                <a:avLst/>
              </a:prstGeom>
              <a:noFill/>
            </p:spPr>
            <p:txBody>
              <a:bodyPr wrap="none" lIns="0" rIns="0" tIns="0" bIns="0" anchor="t">
                <a:noAutofit/>
              </a:bodyPr>
              <a:lstStyle/>
              <a:p>
                <a:pPr algn="l">
                  <a:spcBef>
                    <a:spcPts val="0"/>
                  </a:spcBef>
                  <a:spcAft>
                    <a:spcPts val="0"/>
                  </a:spcAft>
                </a:pPr>
                <a:r>
                  <a:rPr sz="1209" b="0" i="0" u="none">
                    <a:solidFill>
                      <a:srgbClr val="080808"/>
                    </a:solidFill>
                    <a:latin typeface="Times New Roman"/>
                    <a:ea typeface="Times New Roman"/>
                  </a:rPr>
                  <a:t>−1</a:t>
                </a:r>
              </a:p>
            </p:txBody>
          </p:sp>
          <p:sp>
            <p:nvSpPr>
              <p:cNvPr id="154" name=")"/>
              <p:cNvSpPr txBox="1"/>
              <p:nvPr/>
            </p:nvSpPr>
            <p:spPr>
              <a:xfrm>
                <a:off x="11961815" y="1515618"/>
                <a:ext cx="155448" cy="280904"/>
              </a:xfrm>
              <a:prstGeom prst="rect">
                <a:avLst/>
              </a:prstGeom>
              <a:noFill/>
            </p:spPr>
            <p:txBody>
              <a:bodyPr wrap="none" lIns="0" rIns="0" tIns="0" bIns="0" anchor="t">
                <a:noAutofit/>
              </a:bodyPr>
              <a:lstStyle/>
              <a:p>
                <a:pPr algn="l">
                  <a:spcBef>
                    <a:spcPts val="0"/>
                  </a:spcBef>
                  <a:spcAft>
                    <a:spcPts val="0"/>
                  </a:spcAft>
                </a:pPr>
                <a:r>
                  <a:rPr sz="1728" b="0" i="0" u="none">
                    <a:solidFill>
                      <a:srgbClr val="080808"/>
                    </a:solidFill>
                    <a:latin typeface="Times New Roman"/>
                    <a:ea typeface="Times New Roman"/>
                  </a:rPr>
                  <a:t>)</a:t>
                </a:r>
              </a:p>
            </p:txBody>
          </p:sp>
        </p:grpSp>
        <p:grpSp>
          <p:nvGrpSpPr>
            <p:cNvPr id="155" name="t Gaussian formula"/>
            <p:cNvGrpSpPr/>
            <p:nvPr/>
          </p:nvGrpSpPr>
          <p:grpSpPr>
            <a:xfrm>
              <a:off x="12262104" y="1481602"/>
              <a:ext cx="1437071" cy="372900"/>
              <a:chOff x="12262104" y="1481602"/>
              <a:chExt cx="1437071" cy="372900"/>
            </a:xfrm>
          </p:grpSpPr>
          <p:sp>
            <p:nvSpPr>
              <p:cNvPr id="156" name="t"/>
              <p:cNvSpPr txBox="1"/>
              <p:nvPr/>
            </p:nvSpPr>
            <p:spPr>
              <a:xfrm>
                <a:off x="12262104" y="1543050"/>
                <a:ext cx="19202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t</a:t>
                </a:r>
              </a:p>
            </p:txBody>
          </p:sp>
          <p:sp>
            <p:nvSpPr>
              <p:cNvPr id="157" name="~"/>
              <p:cNvSpPr txBox="1"/>
              <p:nvPr/>
            </p:nvSpPr>
            <p:spPr>
              <a:xfrm>
                <a:off x="12420112" y="1543050"/>
                <a:ext cx="237744"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a:t>
                </a:r>
              </a:p>
            </p:txBody>
          </p:sp>
          <p:sp>
            <p:nvSpPr>
              <p:cNvPr id="158" name="N"/>
              <p:cNvSpPr txBox="1"/>
              <p:nvPr/>
            </p:nvSpPr>
            <p:spPr>
              <a:xfrm>
                <a:off x="12622012" y="1543050"/>
                <a:ext cx="219456"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N</a:t>
                </a:r>
              </a:p>
            </p:txBody>
          </p:sp>
          <p:sp>
            <p:nvSpPr>
              <p:cNvPr id="159" name="("/>
              <p:cNvSpPr txBox="1"/>
              <p:nvPr/>
            </p:nvSpPr>
            <p:spPr>
              <a:xfrm>
                <a:off x="12797577" y="1533906"/>
                <a:ext cx="128016" cy="280904"/>
              </a:xfrm>
              <a:prstGeom prst="rect">
                <a:avLst/>
              </a:prstGeom>
              <a:noFill/>
            </p:spPr>
            <p:txBody>
              <a:bodyPr wrap="none" lIns="0" rIns="0" tIns="0" bIns="0" anchor="t">
                <a:noAutofit/>
              </a:bodyPr>
              <a:lstStyle/>
              <a:p>
                <a:pPr algn="l">
                  <a:spcBef>
                    <a:spcPts val="0"/>
                  </a:spcBef>
                  <a:spcAft>
                    <a:spcPts val="0"/>
                  </a:spcAft>
                </a:pPr>
                <a:r>
                  <a:rPr sz="1728" b="0" i="0" u="none">
                    <a:solidFill>
                      <a:srgbClr val="080808"/>
                    </a:solidFill>
                    <a:latin typeface="Times New Roman"/>
                    <a:ea typeface="Times New Roman"/>
                  </a:rPr>
                  <a:t>(</a:t>
                </a:r>
              </a:p>
            </p:txBody>
          </p:sp>
          <p:sp>
            <p:nvSpPr>
              <p:cNvPr id="160" name="t"/>
              <p:cNvSpPr txBox="1"/>
              <p:nvPr/>
            </p:nvSpPr>
            <p:spPr>
              <a:xfrm>
                <a:off x="12876581" y="1543050"/>
                <a:ext cx="128016"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t</a:t>
                </a:r>
              </a:p>
            </p:txBody>
          </p:sp>
          <p:sp>
            <p:nvSpPr>
              <p:cNvPr id="161" name="v"/>
              <p:cNvSpPr txBox="1"/>
              <p:nvPr/>
            </p:nvSpPr>
            <p:spPr>
              <a:xfrm>
                <a:off x="12955585" y="1665945"/>
                <a:ext cx="128016" cy="185396"/>
              </a:xfrm>
              <a:prstGeom prst="rect">
                <a:avLst/>
              </a:prstGeom>
              <a:noFill/>
            </p:spPr>
            <p:txBody>
              <a:bodyPr wrap="none" lIns="0" rIns="0" tIns="0" bIns="0" anchor="t">
                <a:noAutofit/>
              </a:bodyPr>
              <a:lstStyle/>
              <a:p>
                <a:pPr algn="l">
                  <a:spcBef>
                    <a:spcPts val="0"/>
                  </a:spcBef>
                  <a:spcAft>
                    <a:spcPts val="0"/>
                  </a:spcAft>
                </a:pPr>
                <a:r>
                  <a:rPr sz="1140" b="0" i="1" u="none">
                    <a:solidFill>
                      <a:srgbClr val="080808"/>
                    </a:solidFill>
                    <a:latin typeface="Times New Roman"/>
                    <a:ea typeface="Times New Roman"/>
                  </a:rPr>
                  <a:t>v</a:t>
                </a:r>
              </a:p>
            </p:txBody>
          </p:sp>
          <p:sp>
            <p:nvSpPr>
              <p:cNvPr id="162" name=","/>
              <p:cNvSpPr txBox="1"/>
              <p:nvPr/>
            </p:nvSpPr>
            <p:spPr>
              <a:xfrm>
                <a:off x="13060924" y="1543050"/>
                <a:ext cx="91440"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a:t>
                </a:r>
              </a:p>
            </p:txBody>
          </p:sp>
          <p:sp>
            <p:nvSpPr>
              <p:cNvPr id="163" name="H"/>
              <p:cNvSpPr txBox="1"/>
              <p:nvPr/>
            </p:nvSpPr>
            <p:spPr>
              <a:xfrm>
                <a:off x="13131150" y="1543050"/>
                <a:ext cx="256032"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H</a:t>
                </a:r>
              </a:p>
            </p:txBody>
          </p:sp>
          <p:sp>
            <p:nvSpPr>
              <p:cNvPr id="164" name="t"/>
              <p:cNvSpPr txBox="1"/>
              <p:nvPr/>
            </p:nvSpPr>
            <p:spPr>
              <a:xfrm>
                <a:off x="13280380" y="1674724"/>
                <a:ext cx="146304" cy="179778"/>
              </a:xfrm>
              <a:prstGeom prst="rect">
                <a:avLst/>
              </a:prstGeom>
              <a:noFill/>
            </p:spPr>
            <p:txBody>
              <a:bodyPr wrap="none" lIns="0" rIns="0" tIns="0" bIns="0" anchor="t">
                <a:noAutofit/>
              </a:bodyPr>
              <a:lstStyle/>
              <a:p>
                <a:pPr algn="l">
                  <a:spcBef>
                    <a:spcPts val="0"/>
                  </a:spcBef>
                  <a:spcAft>
                    <a:spcPts val="0"/>
                  </a:spcAft>
                </a:pPr>
                <a:r>
                  <a:rPr sz="1105" b="0" i="1" u="none">
                    <a:solidFill>
                      <a:srgbClr val="080808"/>
                    </a:solidFill>
                    <a:latin typeface="Times New Roman"/>
                    <a:ea typeface="Times New Roman"/>
                  </a:rPr>
                  <a:t>t</a:t>
                </a:r>
              </a:p>
            </p:txBody>
          </p:sp>
          <p:sp>
            <p:nvSpPr>
              <p:cNvPr id="165" name="−1"/>
              <p:cNvSpPr txBox="1"/>
              <p:nvPr/>
            </p:nvSpPr>
            <p:spPr>
              <a:xfrm>
                <a:off x="13306715" y="1481602"/>
                <a:ext cx="301752" cy="196633"/>
              </a:xfrm>
              <a:prstGeom prst="rect">
                <a:avLst/>
              </a:prstGeom>
              <a:noFill/>
            </p:spPr>
            <p:txBody>
              <a:bodyPr wrap="none" lIns="0" rIns="0" tIns="0" bIns="0" anchor="t">
                <a:noAutofit/>
              </a:bodyPr>
              <a:lstStyle/>
              <a:p>
                <a:pPr algn="l">
                  <a:spcBef>
                    <a:spcPts val="0"/>
                  </a:spcBef>
                  <a:spcAft>
                    <a:spcPts val="0"/>
                  </a:spcAft>
                </a:pPr>
                <a:r>
                  <a:rPr sz="1209" b="0" i="0" u="none">
                    <a:solidFill>
                      <a:srgbClr val="080808"/>
                    </a:solidFill>
                    <a:latin typeface="Times New Roman"/>
                    <a:ea typeface="Times New Roman"/>
                  </a:rPr>
                  <a:t>−1</a:t>
                </a:r>
              </a:p>
            </p:txBody>
          </p:sp>
          <p:sp>
            <p:nvSpPr>
              <p:cNvPr id="166" name=")"/>
              <p:cNvSpPr txBox="1"/>
              <p:nvPr/>
            </p:nvSpPr>
            <p:spPr>
              <a:xfrm>
                <a:off x="13543727" y="1543050"/>
                <a:ext cx="155448" cy="280904"/>
              </a:xfrm>
              <a:prstGeom prst="rect">
                <a:avLst/>
              </a:prstGeom>
              <a:noFill/>
            </p:spPr>
            <p:txBody>
              <a:bodyPr wrap="none" lIns="0" rIns="0" tIns="0" bIns="0" anchor="t">
                <a:noAutofit/>
              </a:bodyPr>
              <a:lstStyle/>
              <a:p>
                <a:pPr algn="l">
                  <a:spcBef>
                    <a:spcPts val="0"/>
                  </a:spcBef>
                  <a:spcAft>
                    <a:spcPts val="0"/>
                  </a:spcAft>
                </a:pPr>
                <a:r>
                  <a:rPr sz="1728" b="0" i="0" u="none">
                    <a:solidFill>
                      <a:srgbClr val="080808"/>
                    </a:solidFill>
                    <a:latin typeface="Times New Roman"/>
                    <a:ea typeface="Times New Roman"/>
                  </a:rPr>
                  <a:t>)</a:t>
                </a:r>
              </a:p>
            </p:txBody>
          </p:sp>
        </p:grpSp>
      </p:grpSp>
      <p:grpSp>
        <p:nvGrpSpPr>
          <p:cNvPr id="167" name="Stage 1 Image distribution approximation"/>
          <p:cNvGrpSpPr/>
          <p:nvPr/>
        </p:nvGrpSpPr>
        <p:grpSpPr>
          <a:xfrm>
            <a:off x="283464" y="1938528"/>
            <a:ext cx="3209544" cy="5139202"/>
            <a:chOff x="283464" y="1938528"/>
            <a:chExt cx="3209544" cy="5139202"/>
          </a:xfrm>
        </p:grpSpPr>
        <p:sp>
          <p:nvSpPr>
            <p:cNvPr id="168" name="1"/>
            <p:cNvSpPr txBox="1"/>
            <p:nvPr/>
          </p:nvSpPr>
          <p:spPr>
            <a:xfrm>
              <a:off x="356616" y="2658618"/>
              <a:ext cx="347472" cy="538399"/>
            </a:xfrm>
            <a:prstGeom prst="rect">
              <a:avLst/>
            </a:prstGeom>
            <a:noFill/>
          </p:spPr>
          <p:txBody>
            <a:bodyPr wrap="none" lIns="0" rIns="0" tIns="0" bIns="0" anchor="t">
              <a:noAutofit/>
            </a:bodyPr>
            <a:lstStyle/>
            <a:p>
              <a:pPr algn="l">
                <a:spcBef>
                  <a:spcPts val="0"/>
                </a:spcBef>
                <a:spcAft>
                  <a:spcPts val="0"/>
                </a:spcAft>
              </a:pPr>
              <a:r>
                <a:rPr sz="3311" b="1" i="0" u="none">
                  <a:solidFill>
                    <a:srgbClr val="6A90C7"/>
                  </a:solidFill>
                  <a:latin typeface="Arial"/>
                  <a:ea typeface="Arial"/>
                </a:rPr>
                <a:t>1</a:t>
              </a:r>
            </a:p>
          </p:txBody>
        </p:sp>
        <p:sp>
          <p:nvSpPr>
            <p:cNvPr id="169" name="Connector"/>
            <p:cNvSpPr/>
            <p:nvPr/>
          </p:nvSpPr>
          <p:spPr>
            <a:xfrm>
              <a:off x="356616" y="3063240"/>
              <a:ext cx="237744" cy="0"/>
            </a:xfrm>
            <a:custGeom>
              <a:avLst/>
              <a:gdLst/>
              <a:ahLst/>
              <a:cxnLst/>
              <a:rect l="l" t="t" r="r" b="b"/>
              <a:pathLst>
                <a:path w="2600" h="0">
                  <a:moveTo>
                    <a:pt x="0" y="0"/>
                  </a:moveTo>
                  <a:lnTo>
                    <a:pt x="2600" y="0"/>
                  </a:lnTo>
                </a:path>
              </a:pathLst>
            </a:custGeom>
            <a:noFill/>
            <a:ln w="7315">
              <a:solidFill>
                <a:srgbClr val="44525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Mean sample input stem"/>
            <p:cNvSpPr/>
            <p:nvPr/>
          </p:nvSpPr>
          <p:spPr>
            <a:xfrm>
              <a:off x="1033272" y="1938528"/>
              <a:ext cx="1527048" cy="1097280"/>
            </a:xfrm>
            <a:custGeom>
              <a:avLst/>
              <a:gdLst/>
              <a:ahLst/>
              <a:cxnLst/>
              <a:rect l="l" t="t" r="r" b="b"/>
              <a:pathLst>
                <a:path w="16700" h="12000">
                  <a:moveTo>
                    <a:pt x="16700" y="0"/>
                  </a:moveTo>
                  <a:lnTo>
                    <a:pt x="16700" y="5800"/>
                  </a:lnTo>
                  <a:lnTo>
                    <a:pt x="0" y="5800"/>
                  </a:lnTo>
                  <a:lnTo>
                    <a:pt x="0" y="12000"/>
                  </a:lnTo>
                </a:path>
              </a:pathLst>
            </a:custGeom>
            <a:noFill/>
            <a:ln w="20116">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Mean sample input arrowhead"/>
            <p:cNvSpPr/>
            <p:nvPr/>
          </p:nvSpPr>
          <p:spPr>
            <a:xfrm>
              <a:off x="960120" y="2852928"/>
              <a:ext cx="146304" cy="182880"/>
            </a:xfrm>
            <a:custGeom>
              <a:avLst/>
              <a:gdLst/>
              <a:ahLst/>
              <a:cxnLst/>
              <a:rect l="l" t="t" r="r" b="b"/>
              <a:pathLst>
                <a:path w="1600" h="2000">
                  <a:moveTo>
                    <a:pt x="800" y="2000"/>
                  </a:moveTo>
                  <a:lnTo>
                    <a:pt x="0" y="0"/>
                  </a:lnTo>
                  <a:lnTo>
                    <a:pt x="800" y="720"/>
                  </a:lnTo>
                  <a:lnTo>
                    <a:pt x="16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Distribution sample input stem"/>
            <p:cNvSpPr/>
            <p:nvPr/>
          </p:nvSpPr>
          <p:spPr>
            <a:xfrm>
              <a:off x="2560320" y="1938528"/>
              <a:ext cx="0" cy="1060704"/>
            </a:xfrm>
            <a:custGeom>
              <a:avLst/>
              <a:gdLst/>
              <a:ahLst/>
              <a:cxnLst/>
              <a:rect l="l" t="t" r="r" b="b"/>
              <a:pathLst>
                <a:path w="0" h="11600">
                  <a:moveTo>
                    <a:pt x="0" y="0"/>
                  </a:moveTo>
                  <a:lnTo>
                    <a:pt x="0" y="11600"/>
                  </a:lnTo>
                </a:path>
              </a:pathLst>
            </a:custGeom>
            <a:noFill/>
            <a:ln w="20116">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Distribution sample input arrowhead"/>
            <p:cNvSpPr/>
            <p:nvPr/>
          </p:nvSpPr>
          <p:spPr>
            <a:xfrm>
              <a:off x="2491740" y="2834640"/>
              <a:ext cx="137160" cy="164592"/>
            </a:xfrm>
            <a:custGeom>
              <a:avLst/>
              <a:gdLst/>
              <a:ahLst/>
              <a:cxnLst/>
              <a:rect l="l" t="t" r="r" b="b"/>
              <a:pathLst>
                <a:path w="1500" h="1800">
                  <a:moveTo>
                    <a:pt x="750" y="1800"/>
                  </a:moveTo>
                  <a:lnTo>
                    <a:pt x="0" y="0"/>
                  </a:lnTo>
                  <a:lnTo>
                    <a:pt x="750" y="648"/>
                  </a:lnTo>
                  <a:lnTo>
                    <a:pt x="15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174" name="Image mean sample cloud"/>
            <p:cNvGrpSpPr/>
            <p:nvPr/>
          </p:nvGrpSpPr>
          <p:grpSpPr>
            <a:xfrm>
              <a:off x="506744" y="3201849"/>
              <a:ext cx="979478" cy="737044"/>
              <a:chOff x="506744" y="3201849"/>
              <a:chExt cx="979478" cy="737044"/>
            </a:xfrm>
          </p:grpSpPr>
          <p:sp>
            <p:nvSpPr>
              <p:cNvPr id="175" name="Sample point"/>
              <p:cNvSpPr/>
              <p:nvPr/>
            </p:nvSpPr>
            <p:spPr>
              <a:xfrm>
                <a:off x="1181025" y="3201849"/>
                <a:ext cx="61110" cy="611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Sample point"/>
              <p:cNvSpPr/>
              <p:nvPr/>
            </p:nvSpPr>
            <p:spPr>
              <a:xfrm>
                <a:off x="616050" y="3212946"/>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Sample point"/>
              <p:cNvSpPr/>
              <p:nvPr/>
            </p:nvSpPr>
            <p:spPr>
              <a:xfrm>
                <a:off x="990954" y="3240378"/>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Sample point"/>
              <p:cNvSpPr/>
              <p:nvPr/>
            </p:nvSpPr>
            <p:spPr>
              <a:xfrm>
                <a:off x="1193749" y="3278581"/>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Sample point"/>
              <p:cNvSpPr/>
              <p:nvPr/>
            </p:nvSpPr>
            <p:spPr>
              <a:xfrm>
                <a:off x="1157173" y="3296869"/>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Sample point"/>
              <p:cNvSpPr/>
              <p:nvPr/>
            </p:nvSpPr>
            <p:spPr>
              <a:xfrm>
                <a:off x="1291880" y="3276128"/>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Sample point"/>
              <p:cNvSpPr/>
              <p:nvPr/>
            </p:nvSpPr>
            <p:spPr>
              <a:xfrm>
                <a:off x="532928" y="3312704"/>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Sample point"/>
              <p:cNvSpPr/>
              <p:nvPr/>
            </p:nvSpPr>
            <p:spPr>
              <a:xfrm>
                <a:off x="871256" y="3312704"/>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Sample point"/>
              <p:cNvSpPr/>
              <p:nvPr/>
            </p:nvSpPr>
            <p:spPr>
              <a:xfrm>
                <a:off x="931942" y="3387106"/>
                <a:ext cx="56357" cy="5635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Sample point"/>
              <p:cNvSpPr/>
              <p:nvPr/>
            </p:nvSpPr>
            <p:spPr>
              <a:xfrm>
                <a:off x="1302272" y="3387104"/>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Sample point"/>
              <p:cNvSpPr/>
              <p:nvPr/>
            </p:nvSpPr>
            <p:spPr>
              <a:xfrm>
                <a:off x="1193749" y="342488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Sample point"/>
              <p:cNvSpPr/>
              <p:nvPr/>
            </p:nvSpPr>
            <p:spPr>
              <a:xfrm>
                <a:off x="1157173" y="347060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Sample point"/>
              <p:cNvSpPr/>
              <p:nvPr/>
            </p:nvSpPr>
            <p:spPr>
              <a:xfrm>
                <a:off x="579059" y="3441131"/>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Sample point"/>
              <p:cNvSpPr/>
              <p:nvPr/>
            </p:nvSpPr>
            <p:spPr>
              <a:xfrm>
                <a:off x="846371" y="3443267"/>
                <a:ext cx="62906" cy="62906"/>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Sample point"/>
              <p:cNvSpPr/>
              <p:nvPr/>
            </p:nvSpPr>
            <p:spPr>
              <a:xfrm>
                <a:off x="1087679" y="3437687"/>
                <a:ext cx="55778" cy="557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Sample point"/>
              <p:cNvSpPr/>
              <p:nvPr/>
            </p:nvSpPr>
            <p:spPr>
              <a:xfrm>
                <a:off x="744066" y="3505554"/>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Sample point"/>
              <p:cNvSpPr/>
              <p:nvPr/>
            </p:nvSpPr>
            <p:spPr>
              <a:xfrm>
                <a:off x="983437" y="3507181"/>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Sample point"/>
              <p:cNvSpPr/>
              <p:nvPr/>
            </p:nvSpPr>
            <p:spPr>
              <a:xfrm>
                <a:off x="956005" y="3552901"/>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Sample point"/>
              <p:cNvSpPr/>
              <p:nvPr/>
            </p:nvSpPr>
            <p:spPr>
              <a:xfrm>
                <a:off x="969721" y="360776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Sample point"/>
              <p:cNvSpPr/>
              <p:nvPr/>
            </p:nvSpPr>
            <p:spPr>
              <a:xfrm>
                <a:off x="616050" y="3532986"/>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Sample point"/>
              <p:cNvSpPr/>
              <p:nvPr/>
            </p:nvSpPr>
            <p:spPr>
              <a:xfrm>
                <a:off x="1301850" y="3532986"/>
                <a:ext cx="66347" cy="66347"/>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Sample point"/>
              <p:cNvSpPr/>
              <p:nvPr/>
            </p:nvSpPr>
            <p:spPr>
              <a:xfrm>
                <a:off x="506744" y="3551696"/>
                <a:ext cx="65505" cy="6550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Sample point"/>
              <p:cNvSpPr/>
              <p:nvPr/>
            </p:nvSpPr>
            <p:spPr>
              <a:xfrm>
                <a:off x="742835" y="3632339"/>
                <a:ext cx="68810" cy="688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Sample point"/>
              <p:cNvSpPr/>
              <p:nvPr/>
            </p:nvSpPr>
            <p:spPr>
              <a:xfrm>
                <a:off x="1092251" y="3629711"/>
                <a:ext cx="55778" cy="557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Sample point"/>
              <p:cNvSpPr/>
              <p:nvPr/>
            </p:nvSpPr>
            <p:spPr>
              <a:xfrm>
                <a:off x="1156828" y="3648568"/>
                <a:ext cx="63785" cy="63785"/>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Sample point"/>
              <p:cNvSpPr/>
              <p:nvPr/>
            </p:nvSpPr>
            <p:spPr>
              <a:xfrm>
                <a:off x="1421571" y="3648135"/>
                <a:ext cx="64651" cy="64651"/>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Sample point"/>
              <p:cNvSpPr/>
              <p:nvPr/>
            </p:nvSpPr>
            <p:spPr>
              <a:xfrm>
                <a:off x="1319723" y="3688019"/>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Sample point"/>
              <p:cNvSpPr/>
              <p:nvPr/>
            </p:nvSpPr>
            <p:spPr>
              <a:xfrm>
                <a:off x="524195" y="3724595"/>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Sample point"/>
              <p:cNvSpPr/>
              <p:nvPr/>
            </p:nvSpPr>
            <p:spPr>
              <a:xfrm>
                <a:off x="928573" y="3744925"/>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4" name="Sample point"/>
              <p:cNvSpPr/>
              <p:nvPr/>
            </p:nvSpPr>
            <p:spPr>
              <a:xfrm>
                <a:off x="873709" y="3763213"/>
                <a:ext cx="63094" cy="63094"/>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Sample point"/>
              <p:cNvSpPr/>
              <p:nvPr/>
            </p:nvSpPr>
            <p:spPr>
              <a:xfrm>
                <a:off x="1081568" y="3760760"/>
                <a:ext cx="67999" cy="67999"/>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Sample point"/>
              <p:cNvSpPr/>
              <p:nvPr/>
            </p:nvSpPr>
            <p:spPr>
              <a:xfrm>
                <a:off x="1191707" y="3834323"/>
                <a:ext cx="67178" cy="67178"/>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Sample point"/>
              <p:cNvSpPr/>
              <p:nvPr/>
            </p:nvSpPr>
            <p:spPr>
              <a:xfrm>
                <a:off x="731199" y="3853875"/>
                <a:ext cx="64651" cy="64651"/>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Sample point"/>
              <p:cNvSpPr/>
              <p:nvPr/>
            </p:nvSpPr>
            <p:spPr>
              <a:xfrm>
                <a:off x="1017155" y="3870083"/>
                <a:ext cx="68810" cy="68810"/>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09" name="Empirical mean circle"/>
            <p:cNvSpPr/>
            <p:nvPr/>
          </p:nvSpPr>
          <p:spPr>
            <a:xfrm>
              <a:off x="891540" y="3442716"/>
              <a:ext cx="246888" cy="246888"/>
            </a:xfrm>
            <a:prstGeom prst="ellipse">
              <a:avLst/>
            </a:prstGeom>
            <a:noFill/>
            <a:ln w="33832">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10" name="Image Laplace Gaussian"/>
            <p:cNvGrpSpPr/>
            <p:nvPr/>
          </p:nvGrpSpPr>
          <p:grpSpPr>
            <a:xfrm>
              <a:off x="1970532" y="3090672"/>
              <a:ext cx="1133856" cy="804672"/>
              <a:chOff x="1970532" y="3090672"/>
              <a:chExt cx="1133856" cy="804672"/>
            </a:xfrm>
          </p:grpSpPr>
          <p:sp>
            <p:nvSpPr>
              <p:cNvPr id="211" name="Image Laplace Gaussian contour 1"/>
              <p:cNvSpPr/>
              <p:nvPr/>
            </p:nvSpPr>
            <p:spPr>
              <a:xfrm rot="19500000">
                <a:off x="1970532" y="3090672"/>
                <a:ext cx="1133856" cy="804672"/>
              </a:xfrm>
              <a:prstGeom prst="ellipse">
                <a:avLst/>
              </a:prstGeom>
              <a:solidFill>
                <a:srgbClr val="51D6F2"/>
              </a:solidFill>
              <a:ln w="8229">
                <a:solidFill>
                  <a:srgbClr val="51747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Image Laplace Gaussian contour 2"/>
              <p:cNvSpPr/>
              <p:nvPr/>
            </p:nvSpPr>
            <p:spPr>
              <a:xfrm rot="19500000">
                <a:off x="2078248" y="3167116"/>
                <a:ext cx="918423" cy="651784"/>
              </a:xfrm>
              <a:prstGeom prst="ellipse">
                <a:avLst/>
              </a:prstGeom>
              <a:solidFill>
                <a:srgbClr val="34C9F3"/>
              </a:solidFill>
              <a:ln w="8229">
                <a:solidFill>
                  <a:srgbClr val="42AE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Image Laplace Gaussian contour 3"/>
              <p:cNvSpPr/>
              <p:nvPr/>
            </p:nvSpPr>
            <p:spPr>
              <a:xfrm rot="19500000">
                <a:off x="2174626" y="3235513"/>
                <a:ext cx="725668" cy="514990"/>
              </a:xfrm>
              <a:prstGeom prst="ellipse">
                <a:avLst/>
              </a:prstGeom>
              <a:solidFill>
                <a:srgbClr val="2CB8F2"/>
              </a:solidFill>
              <a:ln w="8229">
                <a:solidFill>
                  <a:srgbClr val="26AFE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Image Laplace Gaussian center"/>
              <p:cNvSpPr/>
              <p:nvPr/>
            </p:nvSpPr>
            <p:spPr>
              <a:xfrm>
                <a:off x="2503627" y="3459175"/>
                <a:ext cx="67666" cy="67666"/>
              </a:xfrm>
              <a:prstGeom prst="ellipse">
                <a:avLst/>
              </a:pr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15" name="Zero reference curve"/>
            <p:cNvSpPr/>
            <p:nvPr/>
          </p:nvSpPr>
          <p:spPr>
            <a:xfrm>
              <a:off x="1602943" y="3282696"/>
              <a:ext cx="1065002" cy="210312"/>
            </a:xfrm>
            <a:custGeom>
              <a:avLst/>
              <a:gdLst/>
              <a:ahLst/>
              <a:cxnLst/>
              <a:rect l="l" t="t" r="r" b="b"/>
              <a:pathLst>
                <a:path w="11647" h="2300">
                  <a:moveTo>
                    <a:pt x="1270" y="0"/>
                  </a:moveTo>
                  <a:lnTo>
                    <a:pt x="835" y="111"/>
                  </a:lnTo>
                  <a:lnTo>
                    <a:pt x="496" y="215"/>
                  </a:lnTo>
                  <a:lnTo>
                    <a:pt x="247" y="311"/>
                  </a:lnTo>
                  <a:lnTo>
                    <a:pt x="85" y="400"/>
                  </a:lnTo>
                  <a:lnTo>
                    <a:pt x="4" y="482"/>
                  </a:lnTo>
                  <a:lnTo>
                    <a:pt x="0" y="558"/>
                  </a:lnTo>
                  <a:lnTo>
                    <a:pt x="68" y="628"/>
                  </a:lnTo>
                  <a:lnTo>
                    <a:pt x="202" y="693"/>
                  </a:lnTo>
                  <a:lnTo>
                    <a:pt x="399" y="753"/>
                  </a:lnTo>
                  <a:lnTo>
                    <a:pt x="653" y="809"/>
                  </a:lnTo>
                  <a:lnTo>
                    <a:pt x="959" y="860"/>
                  </a:lnTo>
                  <a:lnTo>
                    <a:pt x="1314" y="908"/>
                  </a:lnTo>
                  <a:lnTo>
                    <a:pt x="1711" y="952"/>
                  </a:lnTo>
                  <a:lnTo>
                    <a:pt x="2146" y="993"/>
                  </a:lnTo>
                  <a:lnTo>
                    <a:pt x="2615" y="1032"/>
                  </a:lnTo>
                  <a:lnTo>
                    <a:pt x="3112" y="1069"/>
                  </a:lnTo>
                  <a:lnTo>
                    <a:pt x="3633" y="1104"/>
                  </a:lnTo>
                  <a:lnTo>
                    <a:pt x="4173" y="1138"/>
                  </a:lnTo>
                  <a:lnTo>
                    <a:pt x="4727" y="1171"/>
                  </a:lnTo>
                  <a:lnTo>
                    <a:pt x="5290" y="1204"/>
                  </a:lnTo>
                  <a:lnTo>
                    <a:pt x="5858" y="1237"/>
                  </a:lnTo>
                  <a:lnTo>
                    <a:pt x="6425" y="1270"/>
                  </a:lnTo>
                  <a:lnTo>
                    <a:pt x="6988" y="1304"/>
                  </a:lnTo>
                  <a:lnTo>
                    <a:pt x="7540" y="1339"/>
                  </a:lnTo>
                  <a:lnTo>
                    <a:pt x="8078" y="1376"/>
                  </a:lnTo>
                  <a:lnTo>
                    <a:pt x="8596" y="1415"/>
                  </a:lnTo>
                  <a:lnTo>
                    <a:pt x="9090" y="1456"/>
                  </a:lnTo>
                  <a:lnTo>
                    <a:pt x="9555" y="1501"/>
                  </a:lnTo>
                  <a:lnTo>
                    <a:pt x="9985" y="1548"/>
                  </a:lnTo>
                  <a:lnTo>
                    <a:pt x="10377" y="1600"/>
                  </a:lnTo>
                  <a:lnTo>
                    <a:pt x="10726" y="1656"/>
                  </a:lnTo>
                  <a:lnTo>
                    <a:pt x="11026" y="1716"/>
                  </a:lnTo>
                  <a:lnTo>
                    <a:pt x="11273" y="1781"/>
                  </a:lnTo>
                  <a:lnTo>
                    <a:pt x="11462" y="1852"/>
                  </a:lnTo>
                  <a:lnTo>
                    <a:pt x="11589" y="1928"/>
                  </a:lnTo>
                  <a:lnTo>
                    <a:pt x="11647" y="2011"/>
                  </a:lnTo>
                  <a:lnTo>
                    <a:pt x="11634" y="2100"/>
                  </a:lnTo>
                  <a:lnTo>
                    <a:pt x="11543" y="2196"/>
                  </a:lnTo>
                  <a:lnTo>
                    <a:pt x="11370" y="2300"/>
                  </a:lnTo>
                </a:path>
              </a:pathLst>
            </a:custGeom>
            <a:noFill/>
            <a:ln w="10972">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0"/>
            <p:cNvSpPr txBox="1"/>
            <p:nvPr/>
          </p:nvSpPr>
          <p:spPr>
            <a:xfrm>
              <a:off x="1682496" y="3079242"/>
              <a:ext cx="173736" cy="245791"/>
            </a:xfrm>
            <a:prstGeom prst="rect">
              <a:avLst/>
            </a:prstGeom>
            <a:noFill/>
          </p:spPr>
          <p:txBody>
            <a:bodyPr wrap="none" lIns="0" rIns="0" tIns="0" bIns="0" anchor="t">
              <a:noAutofit/>
            </a:bodyPr>
            <a:lstStyle/>
            <a:p>
              <a:pPr algn="l">
                <a:spcBef>
                  <a:spcPts val="0"/>
                </a:spcBef>
                <a:spcAft>
                  <a:spcPts val="0"/>
                </a:spcAft>
              </a:pPr>
              <a:r>
                <a:rPr sz="1512" b="0" i="0" u="none">
                  <a:solidFill>
                    <a:srgbClr val="080808"/>
                  </a:solidFill>
                  <a:latin typeface="Times New Roman"/>
                  <a:ea typeface="Times New Roman"/>
                </a:rPr>
                <a:t>0</a:t>
              </a:r>
            </a:p>
          </p:txBody>
        </p:sp>
        <p:sp>
          <p:nvSpPr>
            <p:cNvPr id="217" name="v"/>
            <p:cNvSpPr txBox="1"/>
            <p:nvPr/>
          </p:nvSpPr>
          <p:spPr>
            <a:xfrm>
              <a:off x="283464" y="4011930"/>
              <a:ext cx="201168" cy="327721"/>
            </a:xfrm>
            <a:prstGeom prst="rect">
              <a:avLst/>
            </a:prstGeom>
            <a:noFill/>
          </p:spPr>
          <p:txBody>
            <a:bodyPr wrap="none" lIns="0" rIns="0" tIns="0" bIns="0" anchor="t">
              <a:noAutofit/>
            </a:bodyPr>
            <a:lstStyle/>
            <a:p>
              <a:pPr algn="l">
                <a:spcBef>
                  <a:spcPts val="0"/>
                </a:spcBef>
                <a:spcAft>
                  <a:spcPts val="0"/>
                </a:spcAft>
              </a:pPr>
              <a:r>
                <a:rPr sz="2016" b="0" i="1" u="none">
                  <a:solidFill>
                    <a:srgbClr val="080808"/>
                  </a:solidFill>
                  <a:latin typeface="Times New Roman"/>
                  <a:ea typeface="Times New Roman"/>
                </a:rPr>
                <a:t>v</a:t>
              </a:r>
            </a:p>
          </p:txBody>
        </p:sp>
        <p:sp>
          <p:nvSpPr>
            <p:cNvPr id="218" name="V hat accent"/>
            <p:cNvSpPr/>
            <p:nvPr/>
          </p:nvSpPr>
          <p:spPr>
            <a:xfrm>
              <a:off x="312999" y="4043751"/>
              <a:ext cx="98481" cy="39411"/>
            </a:xfrm>
            <a:custGeom>
              <a:avLst/>
              <a:gdLst/>
              <a:ahLst/>
              <a:cxnLst/>
              <a:rect l="l" t="t" r="r" b="b"/>
              <a:pathLst>
                <a:path w="1077" h="431">
                  <a:moveTo>
                    <a:pt x="0" y="431"/>
                  </a:moveTo>
                  <a:lnTo>
                    <a:pt x="539" y="0"/>
                  </a:lnTo>
                  <a:lnTo>
                    <a:pt x="1077" y="431"/>
                  </a:lnTo>
                </a:path>
              </a:pathLst>
            </a:custGeom>
            <a:noFill/>
            <a:ln w="10058">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 μ = mean(v)"/>
            <p:cNvSpPr txBox="1"/>
            <p:nvPr/>
          </p:nvSpPr>
          <p:spPr>
            <a:xfrm>
              <a:off x="484632" y="4011930"/>
              <a:ext cx="1362456"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 μ = mean(v)</a:t>
              </a:r>
            </a:p>
          </p:txBody>
        </p:sp>
        <p:sp>
          <p:nvSpPr>
            <p:cNvPr id="220" name="Image mean to MLLM stem"/>
            <p:cNvSpPr/>
            <p:nvPr/>
          </p:nvSpPr>
          <p:spPr>
            <a:xfrm>
              <a:off x="1014984" y="4315968"/>
              <a:ext cx="0" cy="219456"/>
            </a:xfrm>
            <a:custGeom>
              <a:avLst/>
              <a:gdLst/>
              <a:ahLst/>
              <a:cxnLst/>
              <a:rect l="l" t="t" r="r" b="b"/>
              <a:pathLst>
                <a:path w="0" h="2400">
                  <a:moveTo>
                    <a:pt x="0" y="0"/>
                  </a:moveTo>
                  <a:lnTo>
                    <a:pt x="0" y="2400"/>
                  </a:lnTo>
                </a:path>
              </a:pathLst>
            </a:custGeom>
            <a:noFill/>
            <a:ln w="18288">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Image mean to MLLM arrowhead"/>
            <p:cNvSpPr/>
            <p:nvPr/>
          </p:nvSpPr>
          <p:spPr>
            <a:xfrm>
              <a:off x="946404" y="4398264"/>
              <a:ext cx="137160" cy="137160"/>
            </a:xfrm>
            <a:custGeom>
              <a:avLst/>
              <a:gdLst/>
              <a:ahLst/>
              <a:cxnLst/>
              <a:rect l="l" t="t" r="r" b="b"/>
              <a:pathLst>
                <a:path w="1500" h="1500">
                  <a:moveTo>
                    <a:pt x="750" y="1500"/>
                  </a:moveTo>
                  <a:lnTo>
                    <a:pt x="0" y="0"/>
                  </a:lnTo>
                  <a:lnTo>
                    <a:pt x="750" y="540"/>
                  </a:lnTo>
                  <a:lnTo>
                    <a:pt x="15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22" name="v Gaussian formula"/>
            <p:cNvGrpSpPr/>
            <p:nvPr/>
          </p:nvGrpSpPr>
          <p:grpSpPr>
            <a:xfrm>
              <a:off x="2002536" y="4075938"/>
              <a:ext cx="1490472" cy="388437"/>
              <a:chOff x="2002536" y="4075938"/>
              <a:chExt cx="1490472" cy="388437"/>
            </a:xfrm>
          </p:grpSpPr>
          <p:sp>
            <p:nvSpPr>
              <p:cNvPr id="223" name="v"/>
              <p:cNvSpPr txBox="1"/>
              <p:nvPr/>
            </p:nvSpPr>
            <p:spPr>
              <a:xfrm>
                <a:off x="2002536" y="4139946"/>
                <a:ext cx="192024" cy="292608"/>
              </a:xfrm>
              <a:prstGeom prst="rect">
                <a:avLst/>
              </a:prstGeom>
              <a:noFill/>
            </p:spPr>
            <p:txBody>
              <a:bodyPr wrap="none" lIns="0" rIns="0" tIns="0" bIns="0" anchor="t">
                <a:noAutofit/>
              </a:bodyPr>
              <a:lstStyle/>
              <a:p>
                <a:pPr algn="l">
                  <a:spcBef>
                    <a:spcPts val="0"/>
                  </a:spcBef>
                  <a:spcAft>
                    <a:spcPts val="0"/>
                  </a:spcAft>
                </a:pPr>
                <a:r>
                  <a:rPr sz="1800" b="1" i="0" u="none">
                    <a:solidFill>
                      <a:srgbClr val="080808"/>
                    </a:solidFill>
                    <a:latin typeface="Arial"/>
                    <a:ea typeface="Arial"/>
                  </a:rPr>
                  <a:t>v</a:t>
                </a:r>
              </a:p>
            </p:txBody>
          </p:sp>
          <p:sp>
            <p:nvSpPr>
              <p:cNvPr id="224" name="~"/>
              <p:cNvSpPr txBox="1"/>
              <p:nvPr/>
            </p:nvSpPr>
            <p:spPr>
              <a:xfrm>
                <a:off x="2167128" y="4139946"/>
                <a:ext cx="237744"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a:t>
                </a:r>
              </a:p>
            </p:txBody>
          </p:sp>
          <p:sp>
            <p:nvSpPr>
              <p:cNvPr id="225" name="N"/>
              <p:cNvSpPr txBox="1"/>
              <p:nvPr/>
            </p:nvSpPr>
            <p:spPr>
              <a:xfrm>
                <a:off x="2377440" y="4139946"/>
                <a:ext cx="219456" cy="292608"/>
              </a:xfrm>
              <a:prstGeom prst="rect">
                <a:avLst/>
              </a:prstGeom>
              <a:noFill/>
            </p:spPr>
            <p:txBody>
              <a:bodyPr wrap="none" lIns="0" rIns="0" tIns="0" bIns="0" anchor="t">
                <a:noAutofit/>
              </a:bodyPr>
              <a:lstStyle/>
              <a:p>
                <a:pPr algn="l">
                  <a:spcBef>
                    <a:spcPts val="0"/>
                  </a:spcBef>
                  <a:spcAft>
                    <a:spcPts val="0"/>
                  </a:spcAft>
                </a:pPr>
                <a:r>
                  <a:rPr sz="1800" b="1" i="0" u="none">
                    <a:solidFill>
                      <a:srgbClr val="080808"/>
                    </a:solidFill>
                    <a:latin typeface="Arial"/>
                    <a:ea typeface="Arial"/>
                  </a:rPr>
                  <a:t>N</a:t>
                </a:r>
              </a:p>
            </p:txBody>
          </p:sp>
          <p:sp>
            <p:nvSpPr>
              <p:cNvPr id="226" name="("/>
              <p:cNvSpPr txBox="1"/>
              <p:nvPr/>
            </p:nvSpPr>
            <p:spPr>
              <a:xfrm>
                <a:off x="2560320" y="4130802"/>
                <a:ext cx="128016" cy="292608"/>
              </a:xfrm>
              <a:prstGeom prst="rect">
                <a:avLst/>
              </a:prstGeom>
              <a:noFill/>
            </p:spPr>
            <p:txBody>
              <a:bodyPr wrap="none" lIns="0" rIns="0" tIns="0" bIns="0" anchor="t">
                <a:noAutofit/>
              </a:bodyPr>
              <a:lstStyle/>
              <a:p>
                <a:pPr algn="l">
                  <a:spcBef>
                    <a:spcPts val="0"/>
                  </a:spcBef>
                  <a:spcAft>
                    <a:spcPts val="0"/>
                  </a:spcAft>
                </a:pPr>
                <a:r>
                  <a:rPr sz="1800" b="0" i="0" u="none">
                    <a:solidFill>
                      <a:srgbClr val="080808"/>
                    </a:solidFill>
                    <a:latin typeface="Times New Roman"/>
                    <a:ea typeface="Times New Roman"/>
                  </a:rPr>
                  <a:t>(</a:t>
                </a:r>
              </a:p>
            </p:txBody>
          </p:sp>
          <p:sp>
            <p:nvSpPr>
              <p:cNvPr id="227" name="v"/>
              <p:cNvSpPr txBox="1"/>
              <p:nvPr/>
            </p:nvSpPr>
            <p:spPr>
              <a:xfrm>
                <a:off x="2642616" y="4139946"/>
                <a:ext cx="164592"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v</a:t>
                </a:r>
              </a:p>
            </p:txBody>
          </p:sp>
          <p:sp>
            <p:nvSpPr>
              <p:cNvPr id="228" name="Mean v hat accent"/>
              <p:cNvSpPr/>
              <p:nvPr/>
            </p:nvSpPr>
            <p:spPr>
              <a:xfrm>
                <a:off x="2670048" y="4169664"/>
                <a:ext cx="91440" cy="36576"/>
              </a:xfrm>
              <a:custGeom>
                <a:avLst/>
                <a:gdLst/>
                <a:ahLst/>
                <a:cxnLst/>
                <a:rect l="l" t="t" r="r" b="b"/>
                <a:pathLst>
                  <a:path w="1000" h="400">
                    <a:moveTo>
                      <a:pt x="0" y="400"/>
                    </a:moveTo>
                    <a:lnTo>
                      <a:pt x="500" y="0"/>
                    </a:lnTo>
                    <a:lnTo>
                      <a:pt x="1000" y="400"/>
                    </a:lnTo>
                  </a:path>
                </a:pathLst>
              </a:custGeom>
              <a:noFill/>
              <a:ln w="10058">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
              <p:cNvSpPr txBox="1"/>
              <p:nvPr/>
            </p:nvSpPr>
            <p:spPr>
              <a:xfrm>
                <a:off x="2834640" y="4139946"/>
                <a:ext cx="91440"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a:t>
                </a:r>
              </a:p>
            </p:txBody>
          </p:sp>
          <p:sp>
            <p:nvSpPr>
              <p:cNvPr id="230" name="H"/>
              <p:cNvSpPr txBox="1"/>
              <p:nvPr/>
            </p:nvSpPr>
            <p:spPr>
              <a:xfrm>
                <a:off x="2907792" y="4139946"/>
                <a:ext cx="256032"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H</a:t>
                </a:r>
              </a:p>
            </p:txBody>
          </p:sp>
          <p:sp>
            <p:nvSpPr>
              <p:cNvPr id="231" name="v"/>
              <p:cNvSpPr txBox="1"/>
              <p:nvPr/>
            </p:nvSpPr>
            <p:spPr>
              <a:xfrm>
                <a:off x="3063240" y="4277106"/>
                <a:ext cx="146304" cy="187269"/>
              </a:xfrm>
              <a:prstGeom prst="rect">
                <a:avLst/>
              </a:prstGeom>
              <a:noFill/>
            </p:spPr>
            <p:txBody>
              <a:bodyPr wrap="none" lIns="0" rIns="0" tIns="0" bIns="0" anchor="t">
                <a:noAutofit/>
              </a:bodyPr>
              <a:lstStyle/>
              <a:p>
                <a:pPr algn="l">
                  <a:spcBef>
                    <a:spcPts val="0"/>
                  </a:spcBef>
                  <a:spcAft>
                    <a:spcPts val="0"/>
                  </a:spcAft>
                </a:pPr>
                <a:r>
                  <a:rPr sz="1152" b="0" i="1" u="none">
                    <a:solidFill>
                      <a:srgbClr val="080808"/>
                    </a:solidFill>
                    <a:latin typeface="Times New Roman"/>
                    <a:ea typeface="Times New Roman"/>
                  </a:rPr>
                  <a:t>v</a:t>
                </a:r>
              </a:p>
            </p:txBody>
          </p:sp>
          <p:sp>
            <p:nvSpPr>
              <p:cNvPr id="232" name="−1"/>
              <p:cNvSpPr txBox="1"/>
              <p:nvPr/>
            </p:nvSpPr>
            <p:spPr>
              <a:xfrm>
                <a:off x="3090672" y="4075938"/>
                <a:ext cx="301752" cy="204826"/>
              </a:xfrm>
              <a:prstGeom prst="rect">
                <a:avLst/>
              </a:prstGeom>
              <a:noFill/>
            </p:spPr>
            <p:txBody>
              <a:bodyPr wrap="none" lIns="0" rIns="0" tIns="0" bIns="0" anchor="t">
                <a:noAutofit/>
              </a:bodyPr>
              <a:lstStyle/>
              <a:p>
                <a:pPr algn="l">
                  <a:spcBef>
                    <a:spcPts val="0"/>
                  </a:spcBef>
                  <a:spcAft>
                    <a:spcPts val="0"/>
                  </a:spcAft>
                </a:pPr>
                <a:r>
                  <a:rPr sz="1260" b="0" i="0" u="none">
                    <a:solidFill>
                      <a:srgbClr val="080808"/>
                    </a:solidFill>
                    <a:latin typeface="Times New Roman"/>
                    <a:ea typeface="Times New Roman"/>
                  </a:rPr>
                  <a:t>−1</a:t>
                </a:r>
              </a:p>
            </p:txBody>
          </p:sp>
          <p:sp>
            <p:nvSpPr>
              <p:cNvPr id="233" name=")"/>
              <p:cNvSpPr txBox="1"/>
              <p:nvPr/>
            </p:nvSpPr>
            <p:spPr>
              <a:xfrm>
                <a:off x="3337560" y="4139946"/>
                <a:ext cx="155448" cy="292608"/>
              </a:xfrm>
              <a:prstGeom prst="rect">
                <a:avLst/>
              </a:prstGeom>
              <a:noFill/>
            </p:spPr>
            <p:txBody>
              <a:bodyPr wrap="none" lIns="0" rIns="0" tIns="0" bIns="0" anchor="t">
                <a:noAutofit/>
              </a:bodyPr>
              <a:lstStyle/>
              <a:p>
                <a:pPr algn="l">
                  <a:spcBef>
                    <a:spcPts val="0"/>
                  </a:spcBef>
                  <a:spcAft>
                    <a:spcPts val="0"/>
                  </a:spcAft>
                </a:pPr>
                <a:r>
                  <a:rPr sz="1800" b="0" i="0" u="none">
                    <a:solidFill>
                      <a:srgbClr val="080808"/>
                    </a:solidFill>
                    <a:latin typeface="Times New Roman"/>
                    <a:ea typeface="Times New Roman"/>
                  </a:rPr>
                  <a:t>)</a:t>
                </a:r>
              </a:p>
            </p:txBody>
          </p:sp>
        </p:grpSp>
        <p:sp>
          <p:nvSpPr>
            <p:cNvPr id="234" name="Hessian to Gaussian stem"/>
            <p:cNvSpPr/>
            <p:nvPr/>
          </p:nvSpPr>
          <p:spPr>
            <a:xfrm>
              <a:off x="2560320" y="3950208"/>
              <a:ext cx="0" cy="548640"/>
            </a:xfrm>
            <a:custGeom>
              <a:avLst/>
              <a:gdLst/>
              <a:ahLst/>
              <a:cxnLst/>
              <a:rect l="l" t="t" r="r" b="b"/>
              <a:pathLst>
                <a:path w="0" h="6000">
                  <a:moveTo>
                    <a:pt x="0" y="6000"/>
                  </a:moveTo>
                  <a:lnTo>
                    <a:pt x="0" y="0"/>
                  </a:lnTo>
                </a:path>
              </a:pathLst>
            </a:custGeom>
            <a:noFill/>
            <a:ln w="20116">
              <a:solidFill>
                <a:srgbClr val="395C6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Hessian to Gaussian arrowhead"/>
            <p:cNvSpPr/>
            <p:nvPr/>
          </p:nvSpPr>
          <p:spPr>
            <a:xfrm>
              <a:off x="2491740" y="3950208"/>
              <a:ext cx="137160" cy="137160"/>
            </a:xfrm>
            <a:custGeom>
              <a:avLst/>
              <a:gdLst/>
              <a:ahLst/>
              <a:cxnLst/>
              <a:rect l="l" t="t" r="r" b="b"/>
              <a:pathLst>
                <a:path w="1500" h="1500">
                  <a:moveTo>
                    <a:pt x="750" y="0"/>
                  </a:moveTo>
                  <a:lnTo>
                    <a:pt x="1500" y="1500"/>
                  </a:lnTo>
                  <a:lnTo>
                    <a:pt x="750" y="960"/>
                  </a:lnTo>
                  <a:lnTo>
                    <a:pt x="0" y="1500"/>
                  </a:lnTo>
                  <a:close/>
                </a:path>
              </a:pathLst>
            </a:custGeom>
            <a:solidFill>
              <a:srgbClr val="395C6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MLLM loss to image Hessian stem"/>
            <p:cNvSpPr/>
            <p:nvPr/>
          </p:nvSpPr>
          <p:spPr>
            <a:xfrm>
              <a:off x="1024128" y="5248656"/>
              <a:ext cx="0" cy="329184"/>
            </a:xfrm>
            <a:custGeom>
              <a:avLst/>
              <a:gdLst/>
              <a:ahLst/>
              <a:cxnLst/>
              <a:rect l="l" t="t" r="r" b="b"/>
              <a:pathLst>
                <a:path w="0" h="3600">
                  <a:moveTo>
                    <a:pt x="0" y="0"/>
                  </a:moveTo>
                  <a:lnTo>
                    <a:pt x="0" y="3600"/>
                  </a:lnTo>
                </a:path>
              </a:pathLst>
            </a:custGeom>
            <a:noFill/>
            <a:ln w="20116">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MLLM loss to image Hessian arrowhead"/>
            <p:cNvSpPr/>
            <p:nvPr/>
          </p:nvSpPr>
          <p:spPr>
            <a:xfrm>
              <a:off x="955548" y="5431536"/>
              <a:ext cx="137160" cy="146304"/>
            </a:xfrm>
            <a:custGeom>
              <a:avLst/>
              <a:gdLst/>
              <a:ahLst/>
              <a:cxnLst/>
              <a:rect l="l" t="t" r="r" b="b"/>
              <a:pathLst>
                <a:path w="1500" h="1600">
                  <a:moveTo>
                    <a:pt x="750" y="1600"/>
                  </a:moveTo>
                  <a:lnTo>
                    <a:pt x="0" y="0"/>
                  </a:lnTo>
                  <a:lnTo>
                    <a:pt x="750" y="576"/>
                  </a:lnTo>
                  <a:lnTo>
                    <a:pt x="15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Image Hessian to MLLM stem"/>
            <p:cNvSpPr/>
            <p:nvPr/>
          </p:nvSpPr>
          <p:spPr>
            <a:xfrm>
              <a:off x="2560320" y="5248656"/>
              <a:ext cx="0" cy="338328"/>
            </a:xfrm>
            <a:custGeom>
              <a:avLst/>
              <a:gdLst/>
              <a:ahLst/>
              <a:cxnLst/>
              <a:rect l="l" t="t" r="r" b="b"/>
              <a:pathLst>
                <a:path w="0" h="3700">
                  <a:moveTo>
                    <a:pt x="0" y="3700"/>
                  </a:moveTo>
                  <a:lnTo>
                    <a:pt x="0" y="0"/>
                  </a:lnTo>
                </a:path>
              </a:pathLst>
            </a:custGeom>
            <a:noFill/>
            <a:ln w="20116">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Image Hessian to MLLM arrowhead"/>
            <p:cNvSpPr/>
            <p:nvPr/>
          </p:nvSpPr>
          <p:spPr>
            <a:xfrm>
              <a:off x="2491740" y="5248656"/>
              <a:ext cx="137160" cy="146304"/>
            </a:xfrm>
            <a:custGeom>
              <a:avLst/>
              <a:gdLst/>
              <a:ahLst/>
              <a:cxnLst/>
              <a:rect l="l" t="t" r="r" b="b"/>
              <a:pathLst>
                <a:path w="1500" h="1600">
                  <a:moveTo>
                    <a:pt x="750" y="0"/>
                  </a:moveTo>
                  <a:lnTo>
                    <a:pt x="1500" y="1600"/>
                  </a:lnTo>
                  <a:lnTo>
                    <a:pt x="750" y="1024"/>
                  </a:lnTo>
                  <a:lnTo>
                    <a:pt x="0" y="160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Image inverse Hessian equation frame"/>
            <p:cNvSpPr/>
            <p:nvPr/>
          </p:nvSpPr>
          <p:spPr>
            <a:xfrm>
              <a:off x="438912" y="5623560"/>
              <a:ext cx="2852928" cy="1014984"/>
            </a:xfrm>
            <a:prstGeom prst="rect">
              <a:avLst/>
            </a:prstGeom>
            <a:noFill/>
            <a:ln w="10058">
              <a:solidFill>
                <a:srgbClr val="080808"/>
              </a:solidFill>
              <a:custDash>
                <a:ds d="909090" sp="909090"/>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41" name="Laplace inverse Hessian equation v"/>
            <p:cNvGrpSpPr/>
            <p:nvPr/>
          </p:nvGrpSpPr>
          <p:grpSpPr>
            <a:xfrm>
              <a:off x="704088" y="5795010"/>
              <a:ext cx="2377440" cy="670072"/>
              <a:chOff x="704088" y="5795010"/>
              <a:chExt cx="2377440" cy="670072"/>
            </a:xfrm>
          </p:grpSpPr>
          <p:sp>
            <p:nvSpPr>
              <p:cNvPr id="242" name="H"/>
              <p:cNvSpPr txBox="1"/>
              <p:nvPr/>
            </p:nvSpPr>
            <p:spPr>
              <a:xfrm>
                <a:off x="704088" y="5932170"/>
                <a:ext cx="283464" cy="397947"/>
              </a:xfrm>
              <a:prstGeom prst="rect">
                <a:avLst/>
              </a:prstGeom>
              <a:noFill/>
            </p:spPr>
            <p:txBody>
              <a:bodyPr wrap="none" lIns="0" rIns="0" tIns="0" bIns="0" anchor="t">
                <a:noAutofit/>
              </a:bodyPr>
              <a:lstStyle/>
              <a:p>
                <a:pPr algn="l">
                  <a:spcBef>
                    <a:spcPts val="0"/>
                  </a:spcBef>
                  <a:spcAft>
                    <a:spcPts val="0"/>
                  </a:spcAft>
                </a:pPr>
                <a:r>
                  <a:rPr sz="2448" b="0" i="1" u="none">
                    <a:solidFill>
                      <a:srgbClr val="080808"/>
                    </a:solidFill>
                    <a:latin typeface="Times New Roman"/>
                    <a:ea typeface="Times New Roman"/>
                  </a:rPr>
                  <a:t>H</a:t>
                </a:r>
              </a:p>
            </p:txBody>
          </p:sp>
          <p:sp>
            <p:nvSpPr>
              <p:cNvPr id="243" name="v"/>
              <p:cNvSpPr txBox="1"/>
              <p:nvPr/>
            </p:nvSpPr>
            <p:spPr>
              <a:xfrm>
                <a:off x="941832" y="6133338"/>
                <a:ext cx="146304" cy="245791"/>
              </a:xfrm>
              <a:prstGeom prst="rect">
                <a:avLst/>
              </a:prstGeom>
              <a:noFill/>
            </p:spPr>
            <p:txBody>
              <a:bodyPr wrap="none" lIns="0" rIns="0" tIns="0" bIns="0" anchor="t">
                <a:noAutofit/>
              </a:bodyPr>
              <a:lstStyle/>
              <a:p>
                <a:pPr algn="l">
                  <a:spcBef>
                    <a:spcPts val="0"/>
                  </a:spcBef>
                  <a:spcAft>
                    <a:spcPts val="0"/>
                  </a:spcAft>
                </a:pPr>
                <a:r>
                  <a:rPr sz="1512" b="0" i="1" u="none">
                    <a:solidFill>
                      <a:srgbClr val="080808"/>
                    </a:solidFill>
                    <a:latin typeface="Times New Roman"/>
                    <a:ea typeface="Times New Roman"/>
                  </a:rPr>
                  <a:t>v</a:t>
                </a:r>
              </a:p>
            </p:txBody>
          </p:sp>
          <p:sp>
            <p:nvSpPr>
              <p:cNvPr id="244" name="−1"/>
              <p:cNvSpPr txBox="1"/>
              <p:nvPr/>
            </p:nvSpPr>
            <p:spPr>
              <a:xfrm>
                <a:off x="960120" y="5886450"/>
                <a:ext cx="338328" cy="269199"/>
              </a:xfrm>
              <a:prstGeom prst="rect">
                <a:avLst/>
              </a:prstGeom>
              <a:noFill/>
            </p:spPr>
            <p:txBody>
              <a:bodyPr wrap="none" lIns="0" rIns="0" tIns="0" bIns="0" anchor="t">
                <a:noAutofit/>
              </a:bodyPr>
              <a:lstStyle/>
              <a:p>
                <a:pPr algn="l">
                  <a:spcBef>
                    <a:spcPts val="0"/>
                  </a:spcBef>
                  <a:spcAft>
                    <a:spcPts val="0"/>
                  </a:spcAft>
                </a:pPr>
                <a:r>
                  <a:rPr sz="1655" b="0" i="0" u="none">
                    <a:solidFill>
                      <a:srgbClr val="080808"/>
                    </a:solidFill>
                    <a:latin typeface="Times New Roman"/>
                    <a:ea typeface="Times New Roman"/>
                  </a:rPr>
                  <a:t>−1</a:t>
                </a:r>
              </a:p>
            </p:txBody>
          </p:sp>
          <p:sp>
            <p:nvSpPr>
              <p:cNvPr id="245" name="="/>
              <p:cNvSpPr txBox="1"/>
              <p:nvPr/>
            </p:nvSpPr>
            <p:spPr>
              <a:xfrm>
                <a:off x="1344168" y="5987034"/>
                <a:ext cx="320040" cy="386243"/>
              </a:xfrm>
              <a:prstGeom prst="rect">
                <a:avLst/>
              </a:prstGeom>
              <a:noFill/>
            </p:spPr>
            <p:txBody>
              <a:bodyPr wrap="none" lIns="0" rIns="0" tIns="0" bIns="0" anchor="t">
                <a:noAutofit/>
              </a:bodyPr>
              <a:lstStyle/>
              <a:p>
                <a:pPr algn="l">
                  <a:spcBef>
                    <a:spcPts val="0"/>
                  </a:spcBef>
                  <a:spcAft>
                    <a:spcPts val="0"/>
                  </a:spcAft>
                </a:pPr>
                <a:r>
                  <a:rPr sz="2376" b="0" i="0" u="none">
                    <a:solidFill>
                      <a:srgbClr val="080808"/>
                    </a:solidFill>
                    <a:latin typeface="Times New Roman"/>
                    <a:ea typeface="Times New Roman"/>
                  </a:rPr>
                  <a:t>=</a:t>
                </a:r>
              </a:p>
            </p:txBody>
          </p:sp>
          <p:sp>
            <p:nvSpPr>
              <p:cNvPr id="246" name="‖v−v‖"/>
              <p:cNvSpPr txBox="1"/>
              <p:nvPr/>
            </p:nvSpPr>
            <p:spPr>
              <a:xfrm>
                <a:off x="2039112" y="5831586"/>
                <a:ext cx="640080"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‖v−v‖</a:t>
                </a:r>
              </a:p>
            </p:txBody>
          </p:sp>
          <p:sp>
            <p:nvSpPr>
              <p:cNvPr id="247" name="Norm mean hat"/>
              <p:cNvSpPr/>
              <p:nvPr/>
            </p:nvSpPr>
            <p:spPr>
              <a:xfrm>
                <a:off x="2386584" y="5861304"/>
                <a:ext cx="73152" cy="27432"/>
              </a:xfrm>
              <a:custGeom>
                <a:avLst/>
                <a:gdLst/>
                <a:ahLst/>
                <a:cxnLst/>
                <a:rect l="l" t="t" r="r" b="b"/>
                <a:pathLst>
                  <a:path w="800" h="300">
                    <a:moveTo>
                      <a:pt x="0" y="300"/>
                    </a:moveTo>
                    <a:lnTo>
                      <a:pt x="400" y="0"/>
                    </a:lnTo>
                    <a:lnTo>
                      <a:pt x="800" y="300"/>
                    </a:lnTo>
                  </a:path>
                </a:pathLst>
              </a:custGeom>
              <a:noFill/>
              <a:ln w="9144">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2"/>
              <p:cNvSpPr txBox="1"/>
              <p:nvPr/>
            </p:nvSpPr>
            <p:spPr>
              <a:xfrm>
                <a:off x="2542032" y="5795010"/>
                <a:ext cx="100584" cy="175565"/>
              </a:xfrm>
              <a:prstGeom prst="rect">
                <a:avLst/>
              </a:prstGeom>
              <a:noFill/>
            </p:spPr>
            <p:txBody>
              <a:bodyPr wrap="none" lIns="0" rIns="0" tIns="0" bIns="0" anchor="t">
                <a:noAutofit/>
              </a:bodyPr>
              <a:lstStyle/>
              <a:p>
                <a:pPr algn="l">
                  <a:spcBef>
                    <a:spcPts val="0"/>
                  </a:spcBef>
                  <a:spcAft>
                    <a:spcPts val="0"/>
                  </a:spcAft>
                </a:pPr>
                <a:r>
                  <a:rPr sz="1080" b="0" i="0" u="none">
                    <a:solidFill>
                      <a:srgbClr val="080808"/>
                    </a:solidFill>
                    <a:latin typeface="Times New Roman"/>
                    <a:ea typeface="Times New Roman"/>
                  </a:rPr>
                  <a:t>2</a:t>
                </a:r>
              </a:p>
            </p:txBody>
          </p:sp>
          <p:sp>
            <p:nvSpPr>
              <p:cNvPr id="249" name="2"/>
              <p:cNvSpPr txBox="1"/>
              <p:nvPr/>
            </p:nvSpPr>
            <p:spPr>
              <a:xfrm>
                <a:off x="2542032" y="5950458"/>
                <a:ext cx="100584" cy="175565"/>
              </a:xfrm>
              <a:prstGeom prst="rect">
                <a:avLst/>
              </a:prstGeom>
              <a:noFill/>
            </p:spPr>
            <p:txBody>
              <a:bodyPr wrap="none" lIns="0" rIns="0" tIns="0" bIns="0" anchor="t">
                <a:noAutofit/>
              </a:bodyPr>
              <a:lstStyle/>
              <a:p>
                <a:pPr algn="l">
                  <a:spcBef>
                    <a:spcPts val="0"/>
                  </a:spcBef>
                  <a:spcAft>
                    <a:spcPts val="0"/>
                  </a:spcAft>
                </a:pPr>
                <a:r>
                  <a:rPr sz="1080" b="0" i="0" u="none">
                    <a:solidFill>
                      <a:srgbClr val="080808"/>
                    </a:solidFill>
                    <a:latin typeface="Times New Roman"/>
                    <a:ea typeface="Times New Roman"/>
                  </a:rPr>
                  <a:t>2</a:t>
                </a:r>
              </a:p>
            </p:txBody>
          </p:sp>
          <p:sp>
            <p:nvSpPr>
              <p:cNvPr id="250" name="Connector"/>
              <p:cNvSpPr/>
              <p:nvPr/>
            </p:nvSpPr>
            <p:spPr>
              <a:xfrm>
                <a:off x="1719072" y="6163056"/>
                <a:ext cx="1298448" cy="0"/>
              </a:xfrm>
              <a:custGeom>
                <a:avLst/>
                <a:gdLst/>
                <a:ahLst/>
                <a:cxnLst/>
                <a:rect l="l" t="t" r="r" b="b"/>
                <a:pathLst>
                  <a:path w="14200" h="0">
                    <a:moveTo>
                      <a:pt x="0" y="0"/>
                    </a:moveTo>
                    <a:lnTo>
                      <a:pt x="14200" y="0"/>
                    </a:lnTo>
                  </a:path>
                </a:pathLst>
              </a:custGeom>
              <a:noFill/>
              <a:ln w="14630">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2·(L(v)−L(v))"/>
              <p:cNvSpPr txBox="1"/>
              <p:nvPr/>
            </p:nvSpPr>
            <p:spPr>
              <a:xfrm>
                <a:off x="1719072" y="6160770"/>
                <a:ext cx="1362456" cy="304312"/>
              </a:xfrm>
              <a:prstGeom prst="rect">
                <a:avLst/>
              </a:prstGeom>
              <a:noFill/>
            </p:spPr>
            <p:txBody>
              <a:bodyPr wrap="none" lIns="0" rIns="0" tIns="0" bIns="0" anchor="t">
                <a:noAutofit/>
              </a:bodyPr>
              <a:lstStyle/>
              <a:p>
                <a:pPr algn="l">
                  <a:spcBef>
                    <a:spcPts val="0"/>
                  </a:spcBef>
                  <a:spcAft>
                    <a:spcPts val="0"/>
                  </a:spcAft>
                </a:pPr>
                <a:r>
                  <a:rPr sz="1872" b="0" i="1" u="none">
                    <a:solidFill>
                      <a:srgbClr val="080808"/>
                    </a:solidFill>
                    <a:latin typeface="Times New Roman"/>
                    <a:ea typeface="Times New Roman"/>
                  </a:rPr>
                  <a:t>2·(L(v)−L(v))</a:t>
                </a:r>
              </a:p>
            </p:txBody>
          </p:sp>
          <p:sp>
            <p:nvSpPr>
              <p:cNvPr id="252" name="Loss mean hat"/>
              <p:cNvSpPr/>
              <p:nvPr/>
            </p:nvSpPr>
            <p:spPr>
              <a:xfrm>
                <a:off x="2770632" y="6190488"/>
                <a:ext cx="91440" cy="36576"/>
              </a:xfrm>
              <a:custGeom>
                <a:avLst/>
                <a:gdLst/>
                <a:ahLst/>
                <a:cxnLst/>
                <a:rect l="l" t="t" r="r" b="b"/>
                <a:pathLst>
                  <a:path w="1000" h="400">
                    <a:moveTo>
                      <a:pt x="0" y="400"/>
                    </a:moveTo>
                    <a:lnTo>
                      <a:pt x="500" y="0"/>
                    </a:lnTo>
                    <a:lnTo>
                      <a:pt x="1000" y="400"/>
                    </a:lnTo>
                  </a:path>
                </a:pathLst>
              </a:custGeom>
              <a:noFill/>
              <a:ln w="9144">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53" name="Laplace approximation"/>
            <p:cNvSpPr txBox="1"/>
            <p:nvPr/>
          </p:nvSpPr>
          <p:spPr>
            <a:xfrm>
              <a:off x="676656" y="6773418"/>
              <a:ext cx="2770632" cy="304312"/>
            </a:xfrm>
            <a:prstGeom prst="rect">
              <a:avLst/>
            </a:prstGeom>
            <a:noFill/>
          </p:spPr>
          <p:txBody>
            <a:bodyPr wrap="none" lIns="0" rIns="0" tIns="0" bIns="0" anchor="t">
              <a:noAutofit/>
            </a:bodyPr>
            <a:lstStyle/>
            <a:p>
              <a:pPr algn="l">
                <a:spcBef>
                  <a:spcPts val="0"/>
                </a:spcBef>
                <a:spcAft>
                  <a:spcPts val="0"/>
                </a:spcAft>
              </a:pPr>
              <a:r>
                <a:rPr sz="1872" b="1" i="1" u="sng">
                  <a:solidFill>
                    <a:srgbClr val="080808"/>
                  </a:solidFill>
                  <a:latin typeface="Arial"/>
                  <a:ea typeface="Arial"/>
                </a:rPr>
                <a:t>Laplace approximation</a:t>
              </a:r>
            </a:p>
          </p:txBody>
        </p:sp>
      </p:grpSp>
      <p:grpSp>
        <p:nvGrpSpPr>
          <p:cNvPr id="254" name="Stage 2 Prompt distribution approximation"/>
          <p:cNvGrpSpPr/>
          <p:nvPr/>
        </p:nvGrpSpPr>
        <p:grpSpPr>
          <a:xfrm>
            <a:off x="3172968" y="1764792"/>
            <a:ext cx="5733288" cy="5331226"/>
            <a:chOff x="3172968" y="1764792"/>
            <a:chExt cx="5733288" cy="5331226"/>
          </a:xfrm>
        </p:grpSpPr>
        <p:sp>
          <p:nvSpPr>
            <p:cNvPr id="255" name="2"/>
            <p:cNvSpPr txBox="1"/>
            <p:nvPr/>
          </p:nvSpPr>
          <p:spPr>
            <a:xfrm>
              <a:off x="3849624" y="2658618"/>
              <a:ext cx="365760" cy="538399"/>
            </a:xfrm>
            <a:prstGeom prst="rect">
              <a:avLst/>
            </a:prstGeom>
            <a:noFill/>
          </p:spPr>
          <p:txBody>
            <a:bodyPr wrap="none" lIns="0" rIns="0" tIns="0" bIns="0" anchor="t">
              <a:noAutofit/>
            </a:bodyPr>
            <a:lstStyle/>
            <a:p>
              <a:pPr algn="l">
                <a:spcBef>
                  <a:spcPts val="0"/>
                </a:spcBef>
                <a:spcAft>
                  <a:spcPts val="0"/>
                </a:spcAft>
              </a:pPr>
              <a:r>
                <a:rPr sz="3311" b="1" i="0" u="none">
                  <a:solidFill>
                    <a:srgbClr val="9971AC"/>
                  </a:solidFill>
                  <a:latin typeface="Arial"/>
                  <a:ea typeface="Arial"/>
                </a:rPr>
                <a:t>2</a:t>
              </a:r>
            </a:p>
          </p:txBody>
        </p:sp>
        <p:sp>
          <p:nvSpPr>
            <p:cNvPr id="256" name="Connector"/>
            <p:cNvSpPr/>
            <p:nvPr/>
          </p:nvSpPr>
          <p:spPr>
            <a:xfrm>
              <a:off x="3849624" y="3063240"/>
              <a:ext cx="237744" cy="0"/>
            </a:xfrm>
            <a:custGeom>
              <a:avLst/>
              <a:gdLst/>
              <a:ahLst/>
              <a:cxnLst/>
              <a:rect l="l" t="t" r="r" b="b"/>
              <a:pathLst>
                <a:path w="2600" h="0">
                  <a:moveTo>
                    <a:pt x="0" y="0"/>
                  </a:moveTo>
                  <a:lnTo>
                    <a:pt x="2600" y="0"/>
                  </a:lnTo>
                </a:path>
              </a:pathLst>
            </a:custGeom>
            <a:noFill/>
            <a:ln w="7315">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Image-Prompt Input"/>
            <p:cNvSpPr txBox="1"/>
            <p:nvPr/>
          </p:nvSpPr>
          <p:spPr>
            <a:xfrm>
              <a:off x="4114800" y="2768346"/>
              <a:ext cx="224942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Image-Prompt Input</a:t>
              </a:r>
            </a:p>
          </p:txBody>
        </p:sp>
        <p:sp>
          <p:nvSpPr>
            <p:cNvPr id="258" name="Image input route stem"/>
            <p:cNvSpPr/>
            <p:nvPr/>
          </p:nvSpPr>
          <p:spPr>
            <a:xfrm>
              <a:off x="3172968" y="1764792"/>
              <a:ext cx="1335024" cy="1700784"/>
            </a:xfrm>
            <a:custGeom>
              <a:avLst/>
              <a:gdLst/>
              <a:ahLst/>
              <a:cxnLst/>
              <a:rect l="l" t="t" r="r" b="b"/>
              <a:pathLst>
                <a:path w="14600" h="18600">
                  <a:moveTo>
                    <a:pt x="0" y="0"/>
                  </a:moveTo>
                  <a:lnTo>
                    <a:pt x="0" y="14500"/>
                  </a:lnTo>
                  <a:lnTo>
                    <a:pt x="14600" y="14500"/>
                  </a:lnTo>
                  <a:lnTo>
                    <a:pt x="14600" y="18600"/>
                  </a:lnTo>
                </a:path>
              </a:pathLst>
            </a:custGeom>
            <a:noFill/>
            <a:ln w="21031">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Image input route arrowhead"/>
            <p:cNvSpPr/>
            <p:nvPr/>
          </p:nvSpPr>
          <p:spPr>
            <a:xfrm>
              <a:off x="4439412" y="3319272"/>
              <a:ext cx="137160" cy="146304"/>
            </a:xfrm>
            <a:custGeom>
              <a:avLst/>
              <a:gdLst/>
              <a:ahLst/>
              <a:cxnLst/>
              <a:rect l="l" t="t" r="r" b="b"/>
              <a:pathLst>
                <a:path w="1500" h="1600">
                  <a:moveTo>
                    <a:pt x="750" y="1600"/>
                  </a:moveTo>
                  <a:lnTo>
                    <a:pt x="0" y="0"/>
                  </a:lnTo>
                  <a:lnTo>
                    <a:pt x="750" y="576"/>
                  </a:lnTo>
                  <a:lnTo>
                    <a:pt x="15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Prompt distribution route stem"/>
            <p:cNvSpPr/>
            <p:nvPr/>
          </p:nvSpPr>
          <p:spPr>
            <a:xfrm>
              <a:off x="4526280" y="2029968"/>
              <a:ext cx="2660904" cy="676656"/>
            </a:xfrm>
            <a:custGeom>
              <a:avLst/>
              <a:gdLst/>
              <a:ahLst/>
              <a:cxnLst/>
              <a:rect l="l" t="t" r="r" b="b"/>
              <a:pathLst>
                <a:path w="29100" h="7400">
                  <a:moveTo>
                    <a:pt x="0" y="0"/>
                  </a:moveTo>
                  <a:lnTo>
                    <a:pt x="0" y="4900"/>
                  </a:lnTo>
                  <a:lnTo>
                    <a:pt x="29100" y="4900"/>
                  </a:lnTo>
                  <a:lnTo>
                    <a:pt x="29100" y="7400"/>
                  </a:lnTo>
                </a:path>
              </a:pathLst>
            </a:custGeom>
            <a:noFill/>
            <a:ln w="21031">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Prompt distribution route arrowhead"/>
            <p:cNvSpPr/>
            <p:nvPr/>
          </p:nvSpPr>
          <p:spPr>
            <a:xfrm>
              <a:off x="7118604" y="2560320"/>
              <a:ext cx="137160" cy="146304"/>
            </a:xfrm>
            <a:custGeom>
              <a:avLst/>
              <a:gdLst/>
              <a:ahLst/>
              <a:cxnLst/>
              <a:rect l="l" t="t" r="r" b="b"/>
              <a:pathLst>
                <a:path w="1500" h="1600">
                  <a:moveTo>
                    <a:pt x="750" y="1600"/>
                  </a:moveTo>
                  <a:lnTo>
                    <a:pt x="0" y="0"/>
                  </a:lnTo>
                  <a:lnTo>
                    <a:pt x="750" y="576"/>
                  </a:lnTo>
                  <a:lnTo>
                    <a:pt x="1500"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62" name="Prompt sampling Gaussian"/>
            <p:cNvGrpSpPr/>
            <p:nvPr/>
          </p:nvGrpSpPr>
          <p:grpSpPr>
            <a:xfrm>
              <a:off x="6624828" y="2779776"/>
              <a:ext cx="1133856" cy="804672"/>
              <a:chOff x="6624828" y="2779776"/>
              <a:chExt cx="1133856" cy="804672"/>
            </a:xfrm>
          </p:grpSpPr>
          <p:sp>
            <p:nvSpPr>
              <p:cNvPr id="263" name="Prompt sampling Gaussian contour 1"/>
              <p:cNvSpPr/>
              <p:nvPr/>
            </p:nvSpPr>
            <p:spPr>
              <a:xfrm rot="19500000">
                <a:off x="6624828" y="2779776"/>
                <a:ext cx="1133856" cy="804672"/>
              </a:xfrm>
              <a:prstGeom prst="ellipse">
                <a:avLst/>
              </a:prstGeom>
              <a:solidFill>
                <a:srgbClr val="E9E2EE"/>
              </a:solidFill>
              <a:ln w="8229">
                <a:solidFill>
                  <a:srgbClr val="B49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Prompt sampling Gaussian contour 2"/>
              <p:cNvSpPr/>
              <p:nvPr/>
            </p:nvSpPr>
            <p:spPr>
              <a:xfrm rot="19500000">
                <a:off x="6732544" y="2856220"/>
                <a:ext cx="918423" cy="651784"/>
              </a:xfrm>
              <a:prstGeom prst="ellipse">
                <a:avLst/>
              </a:prstGeom>
              <a:solidFill>
                <a:srgbClr val="C9CAE9"/>
              </a:solidFill>
              <a:ln w="8229">
                <a:solidFill>
                  <a:srgbClr val="AFAF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Prompt sampling Gaussian contour 3"/>
              <p:cNvSpPr/>
              <p:nvPr/>
            </p:nvSpPr>
            <p:spPr>
              <a:xfrm rot="19500000">
                <a:off x="6828922" y="2924617"/>
                <a:ext cx="725668" cy="514990"/>
              </a:xfrm>
              <a:prstGeom prst="ellipse">
                <a:avLst/>
              </a:prstGeom>
              <a:solidFill>
                <a:srgbClr val="B9BFED"/>
              </a:solidFill>
              <a:ln w="8229">
                <a:solidFill>
                  <a:srgbClr val="AFB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Prompt sampling Gaussian center"/>
              <p:cNvSpPr/>
              <p:nvPr/>
            </p:nvSpPr>
            <p:spPr>
              <a:xfrm>
                <a:off x="7157923" y="3148279"/>
                <a:ext cx="67666" cy="67666"/>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67" name="Random sampling route stem"/>
            <p:cNvSpPr/>
            <p:nvPr/>
          </p:nvSpPr>
          <p:spPr>
            <a:xfrm>
              <a:off x="5175504" y="3090672"/>
              <a:ext cx="1554480" cy="384048"/>
            </a:xfrm>
            <a:custGeom>
              <a:avLst/>
              <a:gdLst/>
              <a:ahLst/>
              <a:cxnLst/>
              <a:rect l="l" t="t" r="r" b="b"/>
              <a:pathLst>
                <a:path w="17000" h="4200">
                  <a:moveTo>
                    <a:pt x="17000" y="0"/>
                  </a:moveTo>
                  <a:lnTo>
                    <a:pt x="0" y="0"/>
                  </a:lnTo>
                  <a:lnTo>
                    <a:pt x="0" y="4200"/>
                  </a:lnTo>
                </a:path>
              </a:pathLst>
            </a:custGeom>
            <a:noFill/>
            <a:ln w="25603">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Random sampling route arrowhead"/>
            <p:cNvSpPr/>
            <p:nvPr/>
          </p:nvSpPr>
          <p:spPr>
            <a:xfrm>
              <a:off x="5102352" y="3319272"/>
              <a:ext cx="146304" cy="155448"/>
            </a:xfrm>
            <a:custGeom>
              <a:avLst/>
              <a:gdLst/>
              <a:ahLst/>
              <a:cxnLst/>
              <a:rect l="l" t="t" r="r" b="b"/>
              <a:pathLst>
                <a:path w="1600" h="1700">
                  <a:moveTo>
                    <a:pt x="800" y="1700"/>
                  </a:moveTo>
                  <a:lnTo>
                    <a:pt x="0" y="0"/>
                  </a:lnTo>
                  <a:lnTo>
                    <a:pt x="800" y="612"/>
                  </a:lnTo>
                  <a:lnTo>
                    <a:pt x="1600"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Selected prompt sample"/>
            <p:cNvSpPr/>
            <p:nvPr/>
          </p:nvSpPr>
          <p:spPr>
            <a:xfrm>
              <a:off x="6697980" y="3058668"/>
              <a:ext cx="64008" cy="64008"/>
            </a:xfrm>
            <a:prstGeom prst="ellipse">
              <a:avLst/>
            </a:prstGeom>
            <a:solidFill>
              <a:srgbClr val="FF38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Sample c x leader"/>
            <p:cNvSpPr/>
            <p:nvPr/>
          </p:nvSpPr>
          <p:spPr>
            <a:xfrm>
              <a:off x="7196328" y="2862072"/>
              <a:ext cx="658368" cy="329184"/>
            </a:xfrm>
            <a:custGeom>
              <a:avLst/>
              <a:gdLst/>
              <a:ahLst/>
              <a:cxnLst/>
              <a:rect l="l" t="t" r="r" b="b"/>
              <a:pathLst>
                <a:path w="7200" h="3600">
                  <a:moveTo>
                    <a:pt x="0" y="3600"/>
                  </a:moveTo>
                  <a:lnTo>
                    <a:pt x="229" y="3542"/>
                  </a:lnTo>
                  <a:lnTo>
                    <a:pt x="454" y="3478"/>
                  </a:lnTo>
                  <a:lnTo>
                    <a:pt x="675" y="3407"/>
                  </a:lnTo>
                  <a:lnTo>
                    <a:pt x="893" y="3329"/>
                  </a:lnTo>
                  <a:lnTo>
                    <a:pt x="1107" y="3246"/>
                  </a:lnTo>
                  <a:lnTo>
                    <a:pt x="1318" y="3157"/>
                  </a:lnTo>
                  <a:lnTo>
                    <a:pt x="1526" y="3064"/>
                  </a:lnTo>
                  <a:lnTo>
                    <a:pt x="1730" y="2966"/>
                  </a:lnTo>
                  <a:lnTo>
                    <a:pt x="1932" y="2863"/>
                  </a:lnTo>
                  <a:lnTo>
                    <a:pt x="2131" y="2758"/>
                  </a:lnTo>
                  <a:lnTo>
                    <a:pt x="2327" y="2648"/>
                  </a:lnTo>
                  <a:lnTo>
                    <a:pt x="2520" y="2537"/>
                  </a:lnTo>
                  <a:lnTo>
                    <a:pt x="2711" y="2422"/>
                  </a:lnTo>
                  <a:lnTo>
                    <a:pt x="2900" y="2306"/>
                  </a:lnTo>
                  <a:lnTo>
                    <a:pt x="3086" y="2188"/>
                  </a:lnTo>
                  <a:lnTo>
                    <a:pt x="3270" y="2069"/>
                  </a:lnTo>
                  <a:lnTo>
                    <a:pt x="3452" y="1949"/>
                  </a:lnTo>
                  <a:lnTo>
                    <a:pt x="3633" y="1829"/>
                  </a:lnTo>
                  <a:lnTo>
                    <a:pt x="3811" y="1710"/>
                  </a:lnTo>
                  <a:lnTo>
                    <a:pt x="3988" y="1590"/>
                  </a:lnTo>
                  <a:lnTo>
                    <a:pt x="4164" y="1472"/>
                  </a:lnTo>
                  <a:lnTo>
                    <a:pt x="4338" y="1355"/>
                  </a:lnTo>
                  <a:lnTo>
                    <a:pt x="4510" y="1241"/>
                  </a:lnTo>
                  <a:lnTo>
                    <a:pt x="4682" y="1128"/>
                  </a:lnTo>
                  <a:lnTo>
                    <a:pt x="4853" y="1018"/>
                  </a:lnTo>
                  <a:lnTo>
                    <a:pt x="5022" y="911"/>
                  </a:lnTo>
                  <a:lnTo>
                    <a:pt x="5191" y="808"/>
                  </a:lnTo>
                  <a:lnTo>
                    <a:pt x="5359" y="709"/>
                  </a:lnTo>
                  <a:lnTo>
                    <a:pt x="5527" y="614"/>
                  </a:lnTo>
                  <a:lnTo>
                    <a:pt x="5694" y="524"/>
                  </a:lnTo>
                  <a:lnTo>
                    <a:pt x="5861" y="439"/>
                  </a:lnTo>
                  <a:lnTo>
                    <a:pt x="6028" y="360"/>
                  </a:lnTo>
                  <a:lnTo>
                    <a:pt x="6194" y="286"/>
                  </a:lnTo>
                  <a:lnTo>
                    <a:pt x="6361" y="220"/>
                  </a:lnTo>
                  <a:lnTo>
                    <a:pt x="6528" y="160"/>
                  </a:lnTo>
                  <a:lnTo>
                    <a:pt x="6695" y="108"/>
                  </a:lnTo>
                  <a:lnTo>
                    <a:pt x="6863" y="64"/>
                  </a:lnTo>
                  <a:lnTo>
                    <a:pt x="7031" y="28"/>
                  </a:lnTo>
                  <a:lnTo>
                    <a:pt x="7200" y="0"/>
                  </a:lnTo>
                </a:path>
              </a:pathLst>
            </a:custGeom>
            <a:noFill/>
            <a:ln w="10058">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c"/>
            <p:cNvSpPr txBox="1"/>
            <p:nvPr/>
          </p:nvSpPr>
          <p:spPr>
            <a:xfrm>
              <a:off x="7973568" y="2667762"/>
              <a:ext cx="192024" cy="304312"/>
            </a:xfrm>
            <a:prstGeom prst="rect">
              <a:avLst/>
            </a:prstGeom>
            <a:noFill/>
          </p:spPr>
          <p:txBody>
            <a:bodyPr wrap="none" lIns="0" rIns="0" tIns="0" bIns="0" anchor="t">
              <a:noAutofit/>
            </a:bodyPr>
            <a:lstStyle/>
            <a:p>
              <a:pPr algn="l">
                <a:spcBef>
                  <a:spcPts val="0"/>
                </a:spcBef>
                <a:spcAft>
                  <a:spcPts val="0"/>
                </a:spcAft>
              </a:pPr>
              <a:r>
                <a:rPr sz="1872" b="0" i="1" u="none">
                  <a:solidFill>
                    <a:srgbClr val="080808"/>
                  </a:solidFill>
                  <a:latin typeface="Times New Roman"/>
                  <a:ea typeface="Times New Roman"/>
                </a:rPr>
                <a:t>c</a:t>
              </a:r>
            </a:p>
          </p:txBody>
        </p:sp>
        <p:sp>
          <p:nvSpPr>
            <p:cNvPr id="272" name="x"/>
            <p:cNvSpPr txBox="1"/>
            <p:nvPr/>
          </p:nvSpPr>
          <p:spPr>
            <a:xfrm>
              <a:off x="8101584" y="2804922"/>
              <a:ext cx="155448" cy="198973"/>
            </a:xfrm>
            <a:prstGeom prst="rect">
              <a:avLst/>
            </a:prstGeom>
            <a:noFill/>
          </p:spPr>
          <p:txBody>
            <a:bodyPr wrap="none" lIns="0" rIns="0" tIns="0" bIns="0" anchor="t">
              <a:noAutofit/>
            </a:bodyPr>
            <a:lstStyle/>
            <a:p>
              <a:pPr algn="l">
                <a:spcBef>
                  <a:spcPts val="0"/>
                </a:spcBef>
                <a:spcAft>
                  <a:spcPts val="0"/>
                </a:spcAft>
              </a:pPr>
              <a:r>
                <a:rPr sz="1224" b="0" i="1" u="none">
                  <a:solidFill>
                    <a:srgbClr val="080808"/>
                  </a:solidFill>
                  <a:latin typeface="Times New Roman"/>
                  <a:ea typeface="Times New Roman"/>
                </a:rPr>
                <a:t>x</a:t>
              </a:r>
            </a:p>
          </p:txBody>
        </p:sp>
        <p:sp>
          <p:nvSpPr>
            <p:cNvPr id="273" name="Random"/>
            <p:cNvSpPr txBox="1"/>
            <p:nvPr/>
          </p:nvSpPr>
          <p:spPr>
            <a:xfrm>
              <a:off x="5605272" y="3124962"/>
              <a:ext cx="1243584"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Random</a:t>
              </a:r>
            </a:p>
          </p:txBody>
        </p:sp>
        <p:sp>
          <p:nvSpPr>
            <p:cNvPr id="274" name="sampling"/>
            <p:cNvSpPr txBox="1"/>
            <p:nvPr/>
          </p:nvSpPr>
          <p:spPr>
            <a:xfrm>
              <a:off x="5605272" y="3362706"/>
              <a:ext cx="1243584"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sampling</a:t>
              </a:r>
            </a:p>
          </p:txBody>
        </p:sp>
        <p:sp>
          <p:nvSpPr>
            <p:cNvPr id="275" name="Input box hatch"/>
            <p:cNvSpPr/>
            <p:nvPr/>
          </p:nvSpPr>
          <p:spPr>
            <a:xfrm>
              <a:off x="4078224" y="3959352"/>
              <a:ext cx="27432" cy="27432"/>
            </a:xfrm>
            <a:custGeom>
              <a:avLst/>
              <a:gdLst/>
              <a:ahLst/>
              <a:cxnLst/>
              <a:rect l="l" t="t" r="r" b="b"/>
              <a:pathLst>
                <a:path w="300" h="300">
                  <a:moveTo>
                    <a:pt x="0" y="0"/>
                  </a:moveTo>
                  <a:lnTo>
                    <a:pt x="300" y="3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Input box hatch"/>
            <p:cNvSpPr/>
            <p:nvPr/>
          </p:nvSpPr>
          <p:spPr>
            <a:xfrm>
              <a:off x="4078224" y="3849624"/>
              <a:ext cx="137160" cy="137160"/>
            </a:xfrm>
            <a:custGeom>
              <a:avLst/>
              <a:gdLst/>
              <a:ahLst/>
              <a:cxnLst/>
              <a:rect l="l" t="t" r="r" b="b"/>
              <a:pathLst>
                <a:path w="1500" h="1500">
                  <a:moveTo>
                    <a:pt x="0" y="0"/>
                  </a:moveTo>
                  <a:lnTo>
                    <a:pt x="1500" y="15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Input box hatch"/>
            <p:cNvSpPr/>
            <p:nvPr/>
          </p:nvSpPr>
          <p:spPr>
            <a:xfrm>
              <a:off x="4078224" y="3739896"/>
              <a:ext cx="246888" cy="246888"/>
            </a:xfrm>
            <a:custGeom>
              <a:avLst/>
              <a:gdLst/>
              <a:ahLst/>
              <a:cxnLst/>
              <a:rect l="l" t="t" r="r" b="b"/>
              <a:pathLst>
                <a:path w="2700" h="2700">
                  <a:moveTo>
                    <a:pt x="0" y="0"/>
                  </a:moveTo>
                  <a:lnTo>
                    <a:pt x="2700" y="27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Input box hatch"/>
            <p:cNvSpPr/>
            <p:nvPr/>
          </p:nvSpPr>
          <p:spPr>
            <a:xfrm>
              <a:off x="4087368" y="3639312"/>
              <a:ext cx="347472" cy="347472"/>
            </a:xfrm>
            <a:custGeom>
              <a:avLst/>
              <a:gdLst/>
              <a:ahLst/>
              <a:cxnLst/>
              <a:rect l="l" t="t" r="r" b="b"/>
              <a:pathLst>
                <a:path w="3800" h="3800">
                  <a:moveTo>
                    <a:pt x="0" y="0"/>
                  </a:moveTo>
                  <a:lnTo>
                    <a:pt x="3800" y="38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Input box hatch"/>
            <p:cNvSpPr/>
            <p:nvPr/>
          </p:nvSpPr>
          <p:spPr>
            <a:xfrm>
              <a:off x="4197096" y="3639312"/>
              <a:ext cx="347472" cy="347472"/>
            </a:xfrm>
            <a:custGeom>
              <a:avLst/>
              <a:gdLst/>
              <a:ahLst/>
              <a:cxnLst/>
              <a:rect l="l" t="t" r="r" b="b"/>
              <a:pathLst>
                <a:path w="3800" h="3800">
                  <a:moveTo>
                    <a:pt x="0" y="0"/>
                  </a:moveTo>
                  <a:lnTo>
                    <a:pt x="3800" y="38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Input box hatch"/>
            <p:cNvSpPr/>
            <p:nvPr/>
          </p:nvSpPr>
          <p:spPr>
            <a:xfrm>
              <a:off x="4306824" y="3639312"/>
              <a:ext cx="347472" cy="347472"/>
            </a:xfrm>
            <a:custGeom>
              <a:avLst/>
              <a:gdLst/>
              <a:ahLst/>
              <a:cxnLst/>
              <a:rect l="l" t="t" r="r" b="b"/>
              <a:pathLst>
                <a:path w="3800" h="3800">
                  <a:moveTo>
                    <a:pt x="0" y="0"/>
                  </a:moveTo>
                  <a:lnTo>
                    <a:pt x="3800" y="38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Input box hatch"/>
            <p:cNvSpPr/>
            <p:nvPr/>
          </p:nvSpPr>
          <p:spPr>
            <a:xfrm>
              <a:off x="4416552" y="3639312"/>
              <a:ext cx="347472" cy="347472"/>
            </a:xfrm>
            <a:custGeom>
              <a:avLst/>
              <a:gdLst/>
              <a:ahLst/>
              <a:cxnLst/>
              <a:rect l="l" t="t" r="r" b="b"/>
              <a:pathLst>
                <a:path w="3800" h="3800">
                  <a:moveTo>
                    <a:pt x="0" y="0"/>
                  </a:moveTo>
                  <a:lnTo>
                    <a:pt x="3800" y="38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Input box hatch"/>
            <p:cNvSpPr/>
            <p:nvPr/>
          </p:nvSpPr>
          <p:spPr>
            <a:xfrm>
              <a:off x="4526280" y="3639312"/>
              <a:ext cx="329184" cy="329184"/>
            </a:xfrm>
            <a:custGeom>
              <a:avLst/>
              <a:gdLst/>
              <a:ahLst/>
              <a:cxnLst/>
              <a:rect l="l" t="t" r="r" b="b"/>
              <a:pathLst>
                <a:path w="3600" h="3600">
                  <a:moveTo>
                    <a:pt x="0" y="0"/>
                  </a:moveTo>
                  <a:lnTo>
                    <a:pt x="3600" y="36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Input box hatch"/>
            <p:cNvSpPr/>
            <p:nvPr/>
          </p:nvSpPr>
          <p:spPr>
            <a:xfrm>
              <a:off x="4636008" y="3639312"/>
              <a:ext cx="219456" cy="219456"/>
            </a:xfrm>
            <a:custGeom>
              <a:avLst/>
              <a:gdLst/>
              <a:ahLst/>
              <a:cxnLst/>
              <a:rect l="l" t="t" r="r" b="b"/>
              <a:pathLst>
                <a:path w="2400" h="2400">
                  <a:moveTo>
                    <a:pt x="0" y="0"/>
                  </a:moveTo>
                  <a:lnTo>
                    <a:pt x="2400" y="24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Input box hatch"/>
            <p:cNvSpPr/>
            <p:nvPr/>
          </p:nvSpPr>
          <p:spPr>
            <a:xfrm>
              <a:off x="4745736" y="3639312"/>
              <a:ext cx="109728" cy="109728"/>
            </a:xfrm>
            <a:custGeom>
              <a:avLst/>
              <a:gdLst/>
              <a:ahLst/>
              <a:cxnLst/>
              <a:rect l="l" t="t" r="r" b="b"/>
              <a:pathLst>
                <a:path w="1200" h="1200">
                  <a:moveTo>
                    <a:pt x="0" y="0"/>
                  </a:moveTo>
                  <a:lnTo>
                    <a:pt x="1200" y="1200"/>
                  </a:lnTo>
                </a:path>
              </a:pathLst>
            </a:custGeom>
            <a:noFill/>
            <a:ln w="50292">
              <a:solidFill>
                <a:srgbClr val="D9E8F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Input box hatch"/>
            <p:cNvSpPr/>
            <p:nvPr/>
          </p:nvSpPr>
          <p:spPr>
            <a:xfrm>
              <a:off x="4864608" y="3959352"/>
              <a:ext cx="27432" cy="27432"/>
            </a:xfrm>
            <a:custGeom>
              <a:avLst/>
              <a:gdLst/>
              <a:ahLst/>
              <a:cxnLst/>
              <a:rect l="l" t="t" r="r" b="b"/>
              <a:pathLst>
                <a:path w="300" h="300">
                  <a:moveTo>
                    <a:pt x="0" y="0"/>
                  </a:moveTo>
                  <a:lnTo>
                    <a:pt x="300" y="3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Input box hatch"/>
            <p:cNvSpPr/>
            <p:nvPr/>
          </p:nvSpPr>
          <p:spPr>
            <a:xfrm>
              <a:off x="4864608" y="3849624"/>
              <a:ext cx="137160" cy="137160"/>
            </a:xfrm>
            <a:custGeom>
              <a:avLst/>
              <a:gdLst/>
              <a:ahLst/>
              <a:cxnLst/>
              <a:rect l="l" t="t" r="r" b="b"/>
              <a:pathLst>
                <a:path w="1500" h="1500">
                  <a:moveTo>
                    <a:pt x="0" y="0"/>
                  </a:moveTo>
                  <a:lnTo>
                    <a:pt x="1500" y="15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Input box hatch"/>
            <p:cNvSpPr/>
            <p:nvPr/>
          </p:nvSpPr>
          <p:spPr>
            <a:xfrm>
              <a:off x="4864608" y="3739896"/>
              <a:ext cx="246888" cy="246888"/>
            </a:xfrm>
            <a:custGeom>
              <a:avLst/>
              <a:gdLst/>
              <a:ahLst/>
              <a:cxnLst/>
              <a:rect l="l" t="t" r="r" b="b"/>
              <a:pathLst>
                <a:path w="2700" h="2700">
                  <a:moveTo>
                    <a:pt x="0" y="0"/>
                  </a:moveTo>
                  <a:lnTo>
                    <a:pt x="2700" y="27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Input box hatch"/>
            <p:cNvSpPr/>
            <p:nvPr/>
          </p:nvSpPr>
          <p:spPr>
            <a:xfrm>
              <a:off x="4873752" y="3639312"/>
              <a:ext cx="347472" cy="347472"/>
            </a:xfrm>
            <a:custGeom>
              <a:avLst/>
              <a:gdLst/>
              <a:ahLst/>
              <a:cxnLst/>
              <a:rect l="l" t="t" r="r" b="b"/>
              <a:pathLst>
                <a:path w="3800" h="3800">
                  <a:moveTo>
                    <a:pt x="0" y="0"/>
                  </a:moveTo>
                  <a:lnTo>
                    <a:pt x="3800" y="38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Input box hatch"/>
            <p:cNvSpPr/>
            <p:nvPr/>
          </p:nvSpPr>
          <p:spPr>
            <a:xfrm>
              <a:off x="4983480" y="3639312"/>
              <a:ext cx="347472" cy="347472"/>
            </a:xfrm>
            <a:custGeom>
              <a:avLst/>
              <a:gdLst/>
              <a:ahLst/>
              <a:cxnLst/>
              <a:rect l="l" t="t" r="r" b="b"/>
              <a:pathLst>
                <a:path w="3800" h="3800">
                  <a:moveTo>
                    <a:pt x="0" y="0"/>
                  </a:moveTo>
                  <a:lnTo>
                    <a:pt x="3800" y="38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Input box hatch"/>
            <p:cNvSpPr/>
            <p:nvPr/>
          </p:nvSpPr>
          <p:spPr>
            <a:xfrm>
              <a:off x="5093208" y="3639312"/>
              <a:ext cx="347472" cy="347472"/>
            </a:xfrm>
            <a:custGeom>
              <a:avLst/>
              <a:gdLst/>
              <a:ahLst/>
              <a:cxnLst/>
              <a:rect l="l" t="t" r="r" b="b"/>
              <a:pathLst>
                <a:path w="3800" h="3800">
                  <a:moveTo>
                    <a:pt x="0" y="0"/>
                  </a:moveTo>
                  <a:lnTo>
                    <a:pt x="3800" y="38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Input box hatch"/>
            <p:cNvSpPr/>
            <p:nvPr/>
          </p:nvSpPr>
          <p:spPr>
            <a:xfrm>
              <a:off x="5202936" y="3639312"/>
              <a:ext cx="347472" cy="347472"/>
            </a:xfrm>
            <a:custGeom>
              <a:avLst/>
              <a:gdLst/>
              <a:ahLst/>
              <a:cxnLst/>
              <a:rect l="l" t="t" r="r" b="b"/>
              <a:pathLst>
                <a:path w="3800" h="3800">
                  <a:moveTo>
                    <a:pt x="0" y="0"/>
                  </a:moveTo>
                  <a:lnTo>
                    <a:pt x="3800" y="38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Input box hatch"/>
            <p:cNvSpPr/>
            <p:nvPr/>
          </p:nvSpPr>
          <p:spPr>
            <a:xfrm>
              <a:off x="5312664" y="3639312"/>
              <a:ext cx="329184" cy="329184"/>
            </a:xfrm>
            <a:custGeom>
              <a:avLst/>
              <a:gdLst/>
              <a:ahLst/>
              <a:cxnLst/>
              <a:rect l="l" t="t" r="r" b="b"/>
              <a:pathLst>
                <a:path w="3600" h="3600">
                  <a:moveTo>
                    <a:pt x="0" y="0"/>
                  </a:moveTo>
                  <a:lnTo>
                    <a:pt x="3600" y="36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Input box hatch"/>
            <p:cNvSpPr/>
            <p:nvPr/>
          </p:nvSpPr>
          <p:spPr>
            <a:xfrm>
              <a:off x="5422392" y="3639312"/>
              <a:ext cx="219456" cy="219456"/>
            </a:xfrm>
            <a:custGeom>
              <a:avLst/>
              <a:gdLst/>
              <a:ahLst/>
              <a:cxnLst/>
              <a:rect l="l" t="t" r="r" b="b"/>
              <a:pathLst>
                <a:path w="2400" h="2400">
                  <a:moveTo>
                    <a:pt x="0" y="0"/>
                  </a:moveTo>
                  <a:lnTo>
                    <a:pt x="2400" y="24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Input box hatch"/>
            <p:cNvSpPr/>
            <p:nvPr/>
          </p:nvSpPr>
          <p:spPr>
            <a:xfrm>
              <a:off x="5532120" y="3639312"/>
              <a:ext cx="109728" cy="109728"/>
            </a:xfrm>
            <a:custGeom>
              <a:avLst/>
              <a:gdLst/>
              <a:ahLst/>
              <a:cxnLst/>
              <a:rect l="l" t="t" r="r" b="b"/>
              <a:pathLst>
                <a:path w="1200" h="1200">
                  <a:moveTo>
                    <a:pt x="0" y="0"/>
                  </a:moveTo>
                  <a:lnTo>
                    <a:pt x="1200" y="1200"/>
                  </a:lnTo>
                </a:path>
              </a:pathLst>
            </a:custGeom>
            <a:noFill/>
            <a:ln w="50292">
              <a:solidFill>
                <a:srgbClr val="E6D9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Image input slot"/>
            <p:cNvSpPr/>
            <p:nvPr/>
          </p:nvSpPr>
          <p:spPr>
            <a:xfrm>
              <a:off x="4078224" y="3639312"/>
              <a:ext cx="777240" cy="356616"/>
            </a:xfrm>
            <a:prstGeom prst="roundRect">
              <a:avLst>
                <a:gd name="adj" fmla="val 12820"/>
              </a:avLst>
            </a:prstGeom>
            <a:noFill/>
            <a:ln w="22859">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Prompt input slot"/>
            <p:cNvSpPr/>
            <p:nvPr/>
          </p:nvSpPr>
          <p:spPr>
            <a:xfrm>
              <a:off x="4864608" y="3639312"/>
              <a:ext cx="777240" cy="356616"/>
            </a:xfrm>
            <a:prstGeom prst="roundRect">
              <a:avLst>
                <a:gd name="adj" fmla="val 12820"/>
              </a:avLst>
            </a:prstGeom>
            <a:noFill/>
            <a:ln w="22859">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Image"/>
            <p:cNvSpPr txBox="1"/>
            <p:nvPr/>
          </p:nvSpPr>
          <p:spPr>
            <a:xfrm>
              <a:off x="3895344" y="4039362"/>
              <a:ext cx="813816"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Image</a:t>
              </a:r>
            </a:p>
          </p:txBody>
        </p:sp>
        <p:sp>
          <p:nvSpPr>
            <p:cNvPr id="298" name="Prompt"/>
            <p:cNvSpPr txBox="1"/>
            <p:nvPr/>
          </p:nvSpPr>
          <p:spPr>
            <a:xfrm>
              <a:off x="5138928" y="4039362"/>
              <a:ext cx="960120"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Prompt</a:t>
              </a:r>
            </a:p>
          </p:txBody>
        </p:sp>
        <p:sp>
          <p:nvSpPr>
            <p:cNvPr id="299" name="Input pair to MLLM stem"/>
            <p:cNvSpPr/>
            <p:nvPr/>
          </p:nvSpPr>
          <p:spPr>
            <a:xfrm>
              <a:off x="4736592" y="4096512"/>
              <a:ext cx="0" cy="420624"/>
            </a:xfrm>
            <a:custGeom>
              <a:avLst/>
              <a:gdLst/>
              <a:ahLst/>
              <a:cxnLst/>
              <a:rect l="l" t="t" r="r" b="b"/>
              <a:pathLst>
                <a:path w="0" h="4600">
                  <a:moveTo>
                    <a:pt x="0" y="0"/>
                  </a:moveTo>
                  <a:lnTo>
                    <a:pt x="0" y="4600"/>
                  </a:lnTo>
                </a:path>
              </a:pathLst>
            </a:custGeom>
            <a:noFill/>
            <a:ln w="29260">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Input pair to MLLM arrowhead"/>
            <p:cNvSpPr/>
            <p:nvPr/>
          </p:nvSpPr>
          <p:spPr>
            <a:xfrm>
              <a:off x="4654296" y="4352544"/>
              <a:ext cx="164592" cy="164592"/>
            </a:xfrm>
            <a:custGeom>
              <a:avLst/>
              <a:gdLst/>
              <a:ahLst/>
              <a:cxnLst/>
              <a:rect l="l" t="t" r="r" b="b"/>
              <a:pathLst>
                <a:path w="1800" h="1800">
                  <a:moveTo>
                    <a:pt x="900" y="1800"/>
                  </a:moveTo>
                  <a:lnTo>
                    <a:pt x="0" y="0"/>
                  </a:lnTo>
                  <a:lnTo>
                    <a:pt x="900" y="648"/>
                  </a:lnTo>
                  <a:lnTo>
                    <a:pt x="1800"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Prompt fitted distribution stem"/>
            <p:cNvSpPr/>
            <p:nvPr/>
          </p:nvSpPr>
          <p:spPr>
            <a:xfrm>
              <a:off x="7187184" y="3749040"/>
              <a:ext cx="0" cy="749808"/>
            </a:xfrm>
            <a:custGeom>
              <a:avLst/>
              <a:gdLst/>
              <a:ahLst/>
              <a:cxnLst/>
              <a:rect l="l" t="t" r="r" b="b"/>
              <a:pathLst>
                <a:path w="0" h="8200">
                  <a:moveTo>
                    <a:pt x="0" y="8200"/>
                  </a:moveTo>
                  <a:lnTo>
                    <a:pt x="0" y="0"/>
                  </a:lnTo>
                </a:path>
              </a:pathLst>
            </a:custGeom>
            <a:noFill/>
            <a:ln w="29260">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Prompt fitted distribution arrowhead"/>
            <p:cNvSpPr/>
            <p:nvPr/>
          </p:nvSpPr>
          <p:spPr>
            <a:xfrm>
              <a:off x="7100316" y="3749040"/>
              <a:ext cx="173736" cy="182880"/>
            </a:xfrm>
            <a:custGeom>
              <a:avLst/>
              <a:gdLst/>
              <a:ahLst/>
              <a:cxnLst/>
              <a:rect l="l" t="t" r="r" b="b"/>
              <a:pathLst>
                <a:path w="1900" h="2000">
                  <a:moveTo>
                    <a:pt x="950" y="0"/>
                  </a:moveTo>
                  <a:lnTo>
                    <a:pt x="1900" y="2000"/>
                  </a:lnTo>
                  <a:lnTo>
                    <a:pt x="950" y="1280"/>
                  </a:lnTo>
                  <a:lnTo>
                    <a:pt x="0" y="200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03" name="t Gaussian formula"/>
            <p:cNvGrpSpPr/>
            <p:nvPr/>
          </p:nvGrpSpPr>
          <p:grpSpPr>
            <a:xfrm>
              <a:off x="7223760" y="3957066"/>
              <a:ext cx="1490472" cy="388437"/>
              <a:chOff x="7223760" y="3957066"/>
              <a:chExt cx="1490472" cy="388437"/>
            </a:xfrm>
          </p:grpSpPr>
          <p:sp>
            <p:nvSpPr>
              <p:cNvPr id="304" name="t"/>
              <p:cNvSpPr txBox="1"/>
              <p:nvPr/>
            </p:nvSpPr>
            <p:spPr>
              <a:xfrm>
                <a:off x="7223760" y="4021074"/>
                <a:ext cx="192024" cy="292608"/>
              </a:xfrm>
              <a:prstGeom prst="rect">
                <a:avLst/>
              </a:prstGeom>
              <a:noFill/>
            </p:spPr>
            <p:txBody>
              <a:bodyPr wrap="none" lIns="0" rIns="0" tIns="0" bIns="0" anchor="t">
                <a:noAutofit/>
              </a:bodyPr>
              <a:lstStyle/>
              <a:p>
                <a:pPr algn="l">
                  <a:spcBef>
                    <a:spcPts val="0"/>
                  </a:spcBef>
                  <a:spcAft>
                    <a:spcPts val="0"/>
                  </a:spcAft>
                </a:pPr>
                <a:r>
                  <a:rPr sz="1800" b="1" i="0" u="none">
                    <a:solidFill>
                      <a:srgbClr val="080808"/>
                    </a:solidFill>
                    <a:latin typeface="Arial"/>
                    <a:ea typeface="Arial"/>
                  </a:rPr>
                  <a:t>t</a:t>
                </a:r>
              </a:p>
            </p:txBody>
          </p:sp>
          <p:sp>
            <p:nvSpPr>
              <p:cNvPr id="305" name="~"/>
              <p:cNvSpPr txBox="1"/>
              <p:nvPr/>
            </p:nvSpPr>
            <p:spPr>
              <a:xfrm>
                <a:off x="7388352" y="4021074"/>
                <a:ext cx="237744"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a:t>
                </a:r>
              </a:p>
            </p:txBody>
          </p:sp>
          <p:sp>
            <p:nvSpPr>
              <p:cNvPr id="306" name="N"/>
              <p:cNvSpPr txBox="1"/>
              <p:nvPr/>
            </p:nvSpPr>
            <p:spPr>
              <a:xfrm>
                <a:off x="7598664" y="4021074"/>
                <a:ext cx="219456" cy="292608"/>
              </a:xfrm>
              <a:prstGeom prst="rect">
                <a:avLst/>
              </a:prstGeom>
              <a:noFill/>
            </p:spPr>
            <p:txBody>
              <a:bodyPr wrap="none" lIns="0" rIns="0" tIns="0" bIns="0" anchor="t">
                <a:noAutofit/>
              </a:bodyPr>
              <a:lstStyle/>
              <a:p>
                <a:pPr algn="l">
                  <a:spcBef>
                    <a:spcPts val="0"/>
                  </a:spcBef>
                  <a:spcAft>
                    <a:spcPts val="0"/>
                  </a:spcAft>
                </a:pPr>
                <a:r>
                  <a:rPr sz="1800" b="1" i="0" u="none">
                    <a:solidFill>
                      <a:srgbClr val="080808"/>
                    </a:solidFill>
                    <a:latin typeface="Arial"/>
                    <a:ea typeface="Arial"/>
                  </a:rPr>
                  <a:t>N</a:t>
                </a:r>
              </a:p>
            </p:txBody>
          </p:sp>
          <p:sp>
            <p:nvSpPr>
              <p:cNvPr id="307" name="("/>
              <p:cNvSpPr txBox="1"/>
              <p:nvPr/>
            </p:nvSpPr>
            <p:spPr>
              <a:xfrm>
                <a:off x="7781544" y="4011930"/>
                <a:ext cx="128016" cy="292608"/>
              </a:xfrm>
              <a:prstGeom prst="rect">
                <a:avLst/>
              </a:prstGeom>
              <a:noFill/>
            </p:spPr>
            <p:txBody>
              <a:bodyPr wrap="none" lIns="0" rIns="0" tIns="0" bIns="0" anchor="t">
                <a:noAutofit/>
              </a:bodyPr>
              <a:lstStyle/>
              <a:p>
                <a:pPr algn="l">
                  <a:spcBef>
                    <a:spcPts val="0"/>
                  </a:spcBef>
                  <a:spcAft>
                    <a:spcPts val="0"/>
                  </a:spcAft>
                </a:pPr>
                <a:r>
                  <a:rPr sz="1800" b="0" i="0" u="none">
                    <a:solidFill>
                      <a:srgbClr val="080808"/>
                    </a:solidFill>
                    <a:latin typeface="Times New Roman"/>
                    <a:ea typeface="Times New Roman"/>
                  </a:rPr>
                  <a:t>(</a:t>
                </a:r>
              </a:p>
            </p:txBody>
          </p:sp>
          <p:sp>
            <p:nvSpPr>
              <p:cNvPr id="308" name="t"/>
              <p:cNvSpPr txBox="1"/>
              <p:nvPr/>
            </p:nvSpPr>
            <p:spPr>
              <a:xfrm>
                <a:off x="7863840" y="4021074"/>
                <a:ext cx="128016"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t</a:t>
                </a:r>
              </a:p>
            </p:txBody>
          </p:sp>
          <p:sp>
            <p:nvSpPr>
              <p:cNvPr id="309" name="v"/>
              <p:cNvSpPr txBox="1"/>
              <p:nvPr/>
            </p:nvSpPr>
            <p:spPr>
              <a:xfrm>
                <a:off x="7946136" y="4149090"/>
                <a:ext cx="128016" cy="193121"/>
              </a:xfrm>
              <a:prstGeom prst="rect">
                <a:avLst/>
              </a:prstGeom>
              <a:noFill/>
            </p:spPr>
            <p:txBody>
              <a:bodyPr wrap="none" lIns="0" rIns="0" tIns="0" bIns="0" anchor="t">
                <a:noAutofit/>
              </a:bodyPr>
              <a:lstStyle/>
              <a:p>
                <a:pPr algn="l">
                  <a:spcBef>
                    <a:spcPts val="0"/>
                  </a:spcBef>
                  <a:spcAft>
                    <a:spcPts val="0"/>
                  </a:spcAft>
                </a:pPr>
                <a:r>
                  <a:rPr sz="1188" b="0" i="1" u="none">
                    <a:solidFill>
                      <a:srgbClr val="080808"/>
                    </a:solidFill>
                    <a:latin typeface="Times New Roman"/>
                    <a:ea typeface="Times New Roman"/>
                  </a:rPr>
                  <a:t>v</a:t>
                </a:r>
              </a:p>
            </p:txBody>
          </p:sp>
          <p:sp>
            <p:nvSpPr>
              <p:cNvPr id="310" name=","/>
              <p:cNvSpPr txBox="1"/>
              <p:nvPr/>
            </p:nvSpPr>
            <p:spPr>
              <a:xfrm>
                <a:off x="8055864" y="4021074"/>
                <a:ext cx="91440"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a:t>
                </a:r>
              </a:p>
            </p:txBody>
          </p:sp>
          <p:sp>
            <p:nvSpPr>
              <p:cNvPr id="311" name="H"/>
              <p:cNvSpPr txBox="1"/>
              <p:nvPr/>
            </p:nvSpPr>
            <p:spPr>
              <a:xfrm>
                <a:off x="8129016" y="4021074"/>
                <a:ext cx="256032"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H</a:t>
                </a:r>
              </a:p>
            </p:txBody>
          </p:sp>
          <p:sp>
            <p:nvSpPr>
              <p:cNvPr id="312" name="t"/>
              <p:cNvSpPr txBox="1"/>
              <p:nvPr/>
            </p:nvSpPr>
            <p:spPr>
              <a:xfrm>
                <a:off x="8284464" y="4158234"/>
                <a:ext cx="146304" cy="187269"/>
              </a:xfrm>
              <a:prstGeom prst="rect">
                <a:avLst/>
              </a:prstGeom>
              <a:noFill/>
            </p:spPr>
            <p:txBody>
              <a:bodyPr wrap="none" lIns="0" rIns="0" tIns="0" bIns="0" anchor="t">
                <a:noAutofit/>
              </a:bodyPr>
              <a:lstStyle/>
              <a:p>
                <a:pPr algn="l">
                  <a:spcBef>
                    <a:spcPts val="0"/>
                  </a:spcBef>
                  <a:spcAft>
                    <a:spcPts val="0"/>
                  </a:spcAft>
                </a:pPr>
                <a:r>
                  <a:rPr sz="1152" b="0" i="1" u="none">
                    <a:solidFill>
                      <a:srgbClr val="080808"/>
                    </a:solidFill>
                    <a:latin typeface="Times New Roman"/>
                    <a:ea typeface="Times New Roman"/>
                  </a:rPr>
                  <a:t>t</a:t>
                </a:r>
              </a:p>
            </p:txBody>
          </p:sp>
          <p:sp>
            <p:nvSpPr>
              <p:cNvPr id="313" name="−1"/>
              <p:cNvSpPr txBox="1"/>
              <p:nvPr/>
            </p:nvSpPr>
            <p:spPr>
              <a:xfrm>
                <a:off x="8311896" y="3957066"/>
                <a:ext cx="301752" cy="204826"/>
              </a:xfrm>
              <a:prstGeom prst="rect">
                <a:avLst/>
              </a:prstGeom>
              <a:noFill/>
            </p:spPr>
            <p:txBody>
              <a:bodyPr wrap="none" lIns="0" rIns="0" tIns="0" bIns="0" anchor="t">
                <a:noAutofit/>
              </a:bodyPr>
              <a:lstStyle/>
              <a:p>
                <a:pPr algn="l">
                  <a:spcBef>
                    <a:spcPts val="0"/>
                  </a:spcBef>
                  <a:spcAft>
                    <a:spcPts val="0"/>
                  </a:spcAft>
                </a:pPr>
                <a:r>
                  <a:rPr sz="1260" b="0" i="0" u="none">
                    <a:solidFill>
                      <a:srgbClr val="080808"/>
                    </a:solidFill>
                    <a:latin typeface="Times New Roman"/>
                    <a:ea typeface="Times New Roman"/>
                  </a:rPr>
                  <a:t>−1</a:t>
                </a:r>
              </a:p>
            </p:txBody>
          </p:sp>
          <p:sp>
            <p:nvSpPr>
              <p:cNvPr id="314" name=")"/>
              <p:cNvSpPr txBox="1"/>
              <p:nvPr/>
            </p:nvSpPr>
            <p:spPr>
              <a:xfrm>
                <a:off x="8558784" y="4021074"/>
                <a:ext cx="155448" cy="292608"/>
              </a:xfrm>
              <a:prstGeom prst="rect">
                <a:avLst/>
              </a:prstGeom>
              <a:noFill/>
            </p:spPr>
            <p:txBody>
              <a:bodyPr wrap="none" lIns="0" rIns="0" tIns="0" bIns="0" anchor="t">
                <a:noAutofit/>
              </a:bodyPr>
              <a:lstStyle/>
              <a:p>
                <a:pPr algn="l">
                  <a:spcBef>
                    <a:spcPts val="0"/>
                  </a:spcBef>
                  <a:spcAft>
                    <a:spcPts val="0"/>
                  </a:spcAft>
                </a:pPr>
                <a:r>
                  <a:rPr sz="1800" b="0" i="0" u="none">
                    <a:solidFill>
                      <a:srgbClr val="080808"/>
                    </a:solidFill>
                    <a:latin typeface="Times New Roman"/>
                    <a:ea typeface="Times New Roman"/>
                  </a:rPr>
                  <a:t>)</a:t>
                </a:r>
              </a:p>
            </p:txBody>
          </p:sp>
        </p:grpSp>
        <p:sp>
          <p:nvSpPr>
            <p:cNvPr id="315" name="MLLM prompt optimization stem"/>
            <p:cNvSpPr/>
            <p:nvPr/>
          </p:nvSpPr>
          <p:spPr>
            <a:xfrm>
              <a:off x="4736592" y="5248656"/>
              <a:ext cx="36576" cy="237744"/>
            </a:xfrm>
            <a:custGeom>
              <a:avLst/>
              <a:gdLst/>
              <a:ahLst/>
              <a:cxnLst/>
              <a:rect l="l" t="t" r="r" b="b"/>
              <a:pathLst>
                <a:path w="400" h="2600">
                  <a:moveTo>
                    <a:pt x="0" y="0"/>
                  </a:moveTo>
                  <a:lnTo>
                    <a:pt x="400" y="2600"/>
                  </a:lnTo>
                </a:path>
              </a:pathLst>
            </a:custGeom>
            <a:noFill/>
            <a:ln w="22859">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MLLM prompt optimization arrowhead"/>
            <p:cNvSpPr/>
            <p:nvPr/>
          </p:nvSpPr>
          <p:spPr>
            <a:xfrm>
              <a:off x="4672675" y="5320985"/>
              <a:ext cx="153711" cy="165415"/>
            </a:xfrm>
            <a:custGeom>
              <a:avLst/>
              <a:gdLst/>
              <a:ahLst/>
              <a:cxnLst/>
              <a:rect l="l" t="t" r="r" b="b"/>
              <a:pathLst>
                <a:path w="1681" h="1809">
                  <a:moveTo>
                    <a:pt x="1099" y="1809"/>
                  </a:moveTo>
                  <a:lnTo>
                    <a:pt x="0" y="258"/>
                  </a:lnTo>
                  <a:lnTo>
                    <a:pt x="934" y="734"/>
                  </a:lnTo>
                  <a:lnTo>
                    <a:pt x="1681"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17" name="Optimized prompt Gaussian"/>
            <p:cNvGrpSpPr/>
            <p:nvPr/>
          </p:nvGrpSpPr>
          <p:grpSpPr>
            <a:xfrm>
              <a:off x="4201668" y="5532120"/>
              <a:ext cx="1152144" cy="804672"/>
              <a:chOff x="4201668" y="5532120"/>
              <a:chExt cx="1152144" cy="804672"/>
            </a:xfrm>
          </p:grpSpPr>
          <p:sp>
            <p:nvSpPr>
              <p:cNvPr id="318" name="Optimized prompt Gaussian contour 1"/>
              <p:cNvSpPr/>
              <p:nvPr/>
            </p:nvSpPr>
            <p:spPr>
              <a:xfrm rot="19500000">
                <a:off x="4201668" y="5532120"/>
                <a:ext cx="1152144" cy="804672"/>
              </a:xfrm>
              <a:prstGeom prst="ellipse">
                <a:avLst/>
              </a:prstGeom>
              <a:solidFill>
                <a:srgbClr val="E9E2EE"/>
              </a:solidFill>
              <a:ln w="8229">
                <a:solidFill>
                  <a:srgbClr val="B49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Optimized prompt Gaussian contour 2"/>
              <p:cNvSpPr/>
              <p:nvPr/>
            </p:nvSpPr>
            <p:spPr>
              <a:xfrm rot="19500000">
                <a:off x="4311122" y="5608564"/>
                <a:ext cx="933237" cy="651784"/>
              </a:xfrm>
              <a:prstGeom prst="ellipse">
                <a:avLst/>
              </a:prstGeom>
              <a:solidFill>
                <a:srgbClr val="C9CAE9"/>
              </a:solidFill>
              <a:ln w="8229">
                <a:solidFill>
                  <a:srgbClr val="AFAF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Optimized prompt Gaussian contour 3"/>
              <p:cNvSpPr/>
              <p:nvPr/>
            </p:nvSpPr>
            <p:spPr>
              <a:xfrm rot="19500000">
                <a:off x="4409054" y="5676961"/>
                <a:ext cx="737372" cy="514990"/>
              </a:xfrm>
              <a:prstGeom prst="ellipse">
                <a:avLst/>
              </a:prstGeom>
              <a:solidFill>
                <a:srgbClr val="B9BFED"/>
              </a:solidFill>
              <a:ln w="8229">
                <a:solidFill>
                  <a:srgbClr val="AFB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Optimized prompt Gaussian center"/>
              <p:cNvSpPr/>
              <p:nvPr/>
            </p:nvSpPr>
            <p:spPr>
              <a:xfrm>
                <a:off x="4743907" y="5900623"/>
                <a:ext cx="67666" cy="67666"/>
              </a:xfrm>
              <a:prstGeom prst="ellipse">
                <a:avLst/>
              </a:pr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22" name="Prompt optimization sample path"/>
            <p:cNvSpPr/>
            <p:nvPr/>
          </p:nvSpPr>
          <p:spPr>
            <a:xfrm>
              <a:off x="4297680" y="5751576"/>
              <a:ext cx="210312" cy="365760"/>
            </a:xfrm>
            <a:custGeom>
              <a:avLst/>
              <a:gdLst/>
              <a:ahLst/>
              <a:cxnLst/>
              <a:rect l="l" t="t" r="r" b="b"/>
              <a:pathLst>
                <a:path w="2300" h="4000">
                  <a:moveTo>
                    <a:pt x="0" y="600"/>
                  </a:moveTo>
                  <a:lnTo>
                    <a:pt x="2300" y="0"/>
                  </a:lnTo>
                  <a:lnTo>
                    <a:pt x="2000" y="4000"/>
                  </a:lnTo>
                </a:path>
              </a:pathLst>
            </a:custGeom>
            <a:noFill/>
            <a:ln w="7315">
              <a:solidFill>
                <a:srgbClr val="DD33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Prompt optimization direction stem"/>
            <p:cNvSpPr/>
            <p:nvPr/>
          </p:nvSpPr>
          <p:spPr>
            <a:xfrm>
              <a:off x="4480560" y="5925312"/>
              <a:ext cx="320040" cy="192024"/>
            </a:xfrm>
            <a:custGeom>
              <a:avLst/>
              <a:gdLst/>
              <a:ahLst/>
              <a:cxnLst/>
              <a:rect l="l" t="t" r="r" b="b"/>
              <a:pathLst>
                <a:path w="3500" h="2100">
                  <a:moveTo>
                    <a:pt x="0" y="2100"/>
                  </a:moveTo>
                  <a:lnTo>
                    <a:pt x="3500" y="0"/>
                  </a:lnTo>
                </a:path>
              </a:pathLst>
            </a:custGeom>
            <a:noFill/>
            <a:ln w="10972">
              <a:solidFill>
                <a:srgbClr val="EE29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Prompt optimization direction arrowhead"/>
            <p:cNvSpPr/>
            <p:nvPr/>
          </p:nvSpPr>
          <p:spPr>
            <a:xfrm>
              <a:off x="4703399" y="5925312"/>
              <a:ext cx="97201" cy="78364"/>
            </a:xfrm>
            <a:custGeom>
              <a:avLst/>
              <a:gdLst/>
              <a:ahLst/>
              <a:cxnLst/>
              <a:rect l="l" t="t" r="r" b="b"/>
              <a:pathLst>
                <a:path w="1063" h="857">
                  <a:moveTo>
                    <a:pt x="1063" y="0"/>
                  </a:moveTo>
                  <a:lnTo>
                    <a:pt x="411" y="857"/>
                  </a:lnTo>
                  <a:lnTo>
                    <a:pt x="514" y="329"/>
                  </a:lnTo>
                  <a:lnTo>
                    <a:pt x="0" y="171"/>
                  </a:lnTo>
                  <a:close/>
                </a:path>
              </a:pathLst>
            </a:custGeom>
            <a:solidFill>
              <a:srgbClr val="EE29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Prompt optimization sample"/>
            <p:cNvSpPr/>
            <p:nvPr/>
          </p:nvSpPr>
          <p:spPr>
            <a:xfrm>
              <a:off x="4268419" y="5772607"/>
              <a:ext cx="67666" cy="67666"/>
            </a:xfrm>
            <a:prstGeom prst="ellipse">
              <a:avLst/>
            </a:prstGeom>
            <a:solidFill>
              <a:srgbClr val="FF3B4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t"/>
            <p:cNvSpPr txBox="1"/>
            <p:nvPr/>
          </p:nvSpPr>
          <p:spPr>
            <a:xfrm>
              <a:off x="4087368" y="6343650"/>
              <a:ext cx="146304" cy="316017"/>
            </a:xfrm>
            <a:prstGeom prst="rect">
              <a:avLst/>
            </a:prstGeom>
            <a:noFill/>
          </p:spPr>
          <p:txBody>
            <a:bodyPr wrap="none" lIns="0" rIns="0" tIns="0" bIns="0" anchor="t">
              <a:noAutofit/>
            </a:bodyPr>
            <a:lstStyle/>
            <a:p>
              <a:pPr algn="l">
                <a:spcBef>
                  <a:spcPts val="0"/>
                </a:spcBef>
                <a:spcAft>
                  <a:spcPts val="0"/>
                </a:spcAft>
              </a:pPr>
              <a:r>
                <a:rPr sz="1943" b="0" i="1" u="none">
                  <a:solidFill>
                    <a:srgbClr val="080808"/>
                  </a:solidFill>
                  <a:latin typeface="Times New Roman"/>
                  <a:ea typeface="Times New Roman"/>
                </a:rPr>
                <a:t>t</a:t>
              </a:r>
            </a:p>
          </p:txBody>
        </p:sp>
        <p:sp>
          <p:nvSpPr>
            <p:cNvPr id="327" name="v"/>
            <p:cNvSpPr txBox="1"/>
            <p:nvPr/>
          </p:nvSpPr>
          <p:spPr>
            <a:xfrm>
              <a:off x="4178808" y="6462522"/>
              <a:ext cx="146304" cy="210678"/>
            </a:xfrm>
            <a:prstGeom prst="rect">
              <a:avLst/>
            </a:prstGeom>
            <a:noFill/>
          </p:spPr>
          <p:txBody>
            <a:bodyPr wrap="none" lIns="0" rIns="0" tIns="0" bIns="0" anchor="t">
              <a:noAutofit/>
            </a:bodyPr>
            <a:lstStyle/>
            <a:p>
              <a:pPr algn="l">
                <a:spcBef>
                  <a:spcPts val="0"/>
                </a:spcBef>
                <a:spcAft>
                  <a:spcPts val="0"/>
                </a:spcAft>
              </a:pPr>
              <a:r>
                <a:rPr sz="1296" b="0" i="1" u="none">
                  <a:solidFill>
                    <a:srgbClr val="080808"/>
                  </a:solidFill>
                  <a:latin typeface="Times New Roman"/>
                  <a:ea typeface="Times New Roman"/>
                </a:rPr>
                <a:t>v</a:t>
              </a:r>
            </a:p>
          </p:txBody>
        </p:sp>
        <p:sp>
          <p:nvSpPr>
            <p:cNvPr id="328" name="="/>
            <p:cNvSpPr txBox="1"/>
            <p:nvPr/>
          </p:nvSpPr>
          <p:spPr>
            <a:xfrm>
              <a:off x="4343400" y="6343650"/>
              <a:ext cx="228600" cy="316017"/>
            </a:xfrm>
            <a:prstGeom prst="rect">
              <a:avLst/>
            </a:prstGeom>
            <a:noFill/>
          </p:spPr>
          <p:txBody>
            <a:bodyPr wrap="none" lIns="0" rIns="0" tIns="0" bIns="0" anchor="t">
              <a:noAutofit/>
            </a:bodyPr>
            <a:lstStyle/>
            <a:p>
              <a:pPr algn="l">
                <a:spcBef>
                  <a:spcPts val="0"/>
                </a:spcBef>
                <a:spcAft>
                  <a:spcPts val="0"/>
                </a:spcAft>
              </a:pPr>
              <a:r>
                <a:rPr sz="1943" b="0" i="0" u="none">
                  <a:solidFill>
                    <a:srgbClr val="080808"/>
                  </a:solidFill>
                  <a:latin typeface="Times New Roman"/>
                  <a:ea typeface="Times New Roman"/>
                </a:rPr>
                <a:t>=</a:t>
              </a:r>
            </a:p>
          </p:txBody>
        </p:sp>
        <p:sp>
          <p:nvSpPr>
            <p:cNvPr id="329" name="arg min"/>
            <p:cNvSpPr txBox="1"/>
            <p:nvPr/>
          </p:nvSpPr>
          <p:spPr>
            <a:xfrm>
              <a:off x="4526280" y="6343650"/>
              <a:ext cx="905256" cy="316017"/>
            </a:xfrm>
            <a:prstGeom prst="rect">
              <a:avLst/>
            </a:prstGeom>
            <a:noFill/>
          </p:spPr>
          <p:txBody>
            <a:bodyPr wrap="none" lIns="0" rIns="0" tIns="0" bIns="0" anchor="t">
              <a:noAutofit/>
            </a:bodyPr>
            <a:lstStyle/>
            <a:p>
              <a:pPr algn="l">
                <a:spcBef>
                  <a:spcPts val="0"/>
                </a:spcBef>
                <a:spcAft>
                  <a:spcPts val="0"/>
                </a:spcAft>
              </a:pPr>
              <a:r>
                <a:rPr sz="1943" b="0" i="0" u="none">
                  <a:solidFill>
                    <a:srgbClr val="080808"/>
                  </a:solidFill>
                  <a:latin typeface="Times New Roman"/>
                  <a:ea typeface="Times New Roman"/>
                </a:rPr>
                <a:t>arg min</a:t>
              </a:r>
            </a:p>
          </p:txBody>
        </p:sp>
        <p:sp>
          <p:nvSpPr>
            <p:cNvPr id="330" name="t"/>
            <p:cNvSpPr txBox="1"/>
            <p:nvPr/>
          </p:nvSpPr>
          <p:spPr>
            <a:xfrm>
              <a:off x="5029200" y="6544818"/>
              <a:ext cx="118872" cy="187269"/>
            </a:xfrm>
            <a:prstGeom prst="rect">
              <a:avLst/>
            </a:prstGeom>
            <a:noFill/>
          </p:spPr>
          <p:txBody>
            <a:bodyPr wrap="none" lIns="0" rIns="0" tIns="0" bIns="0" anchor="t">
              <a:noAutofit/>
            </a:bodyPr>
            <a:lstStyle/>
            <a:p>
              <a:pPr algn="l">
                <a:spcBef>
                  <a:spcPts val="0"/>
                </a:spcBef>
                <a:spcAft>
                  <a:spcPts val="0"/>
                </a:spcAft>
              </a:pPr>
              <a:r>
                <a:rPr sz="1152" b="0" i="1" u="none">
                  <a:solidFill>
                    <a:srgbClr val="080808"/>
                  </a:solidFill>
                  <a:latin typeface="Times New Roman"/>
                  <a:ea typeface="Times New Roman"/>
                </a:rPr>
                <a:t>t</a:t>
              </a:r>
            </a:p>
          </p:txBody>
        </p:sp>
        <p:sp>
          <p:nvSpPr>
            <p:cNvPr id="331" name="𝒟"/>
            <p:cNvSpPr txBox="1"/>
            <p:nvPr/>
          </p:nvSpPr>
          <p:spPr>
            <a:xfrm>
              <a:off x="3886200" y="6608826"/>
              <a:ext cx="219456" cy="292608"/>
            </a:xfrm>
            <a:prstGeom prst="rect">
              <a:avLst/>
            </a:prstGeom>
            <a:noFill/>
          </p:spPr>
          <p:txBody>
            <a:bodyPr wrap="none" lIns="0" rIns="0" tIns="0" bIns="0" anchor="t">
              <a:noAutofit/>
            </a:bodyPr>
            <a:lstStyle/>
            <a:p>
              <a:pPr algn="l">
                <a:spcBef>
                  <a:spcPts val="0"/>
                </a:spcBef>
                <a:spcAft>
                  <a:spcPts val="0"/>
                </a:spcAft>
              </a:pPr>
              <a:r>
                <a:rPr sz="1800" b="0" i="0" u="none">
                  <a:solidFill>
                    <a:srgbClr val="080808"/>
                  </a:solidFill>
                  <a:latin typeface="Cambria Math"/>
                  <a:ea typeface="Latin Modern Math"/>
                </a:rPr>
                <a:t>𝒟</a:t>
              </a:r>
            </a:p>
          </p:txBody>
        </p:sp>
        <p:sp>
          <p:nvSpPr>
            <p:cNvPr id="332" name="(MLLM(v, t), y"/>
            <p:cNvSpPr txBox="1"/>
            <p:nvPr/>
          </p:nvSpPr>
          <p:spPr>
            <a:xfrm>
              <a:off x="4059936" y="6608826"/>
              <a:ext cx="1572768"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(MLLM(v, t), y</a:t>
              </a:r>
            </a:p>
          </p:txBody>
        </p:sp>
        <p:sp>
          <p:nvSpPr>
            <p:cNvPr id="333" name="exp"/>
            <p:cNvSpPr txBox="1"/>
            <p:nvPr/>
          </p:nvSpPr>
          <p:spPr>
            <a:xfrm>
              <a:off x="5404104" y="6736842"/>
              <a:ext cx="265176" cy="187269"/>
            </a:xfrm>
            <a:prstGeom prst="rect">
              <a:avLst/>
            </a:prstGeom>
            <a:noFill/>
          </p:spPr>
          <p:txBody>
            <a:bodyPr wrap="none" lIns="0" rIns="0" tIns="0" bIns="0" anchor="t">
              <a:noAutofit/>
            </a:bodyPr>
            <a:lstStyle/>
            <a:p>
              <a:pPr algn="l">
                <a:spcBef>
                  <a:spcPts val="0"/>
                </a:spcBef>
                <a:spcAft>
                  <a:spcPts val="0"/>
                </a:spcAft>
              </a:pPr>
              <a:r>
                <a:rPr sz="1152" b="0" i="1" u="none">
                  <a:solidFill>
                    <a:srgbClr val="080808"/>
                  </a:solidFill>
                  <a:latin typeface="Times New Roman"/>
                  <a:ea typeface="Times New Roman"/>
                </a:rPr>
                <a:t>exp</a:t>
              </a:r>
            </a:p>
          </p:txBody>
        </p:sp>
        <p:sp>
          <p:nvSpPr>
            <p:cNvPr id="334" name=")"/>
            <p:cNvSpPr txBox="1"/>
            <p:nvPr/>
          </p:nvSpPr>
          <p:spPr>
            <a:xfrm>
              <a:off x="5687568" y="6608826"/>
              <a:ext cx="164592"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a:t>
              </a:r>
            </a:p>
          </p:txBody>
        </p:sp>
        <p:sp>
          <p:nvSpPr>
            <p:cNvPr id="335" name="Optimum prompt to Hessian stem"/>
            <p:cNvSpPr/>
            <p:nvPr/>
          </p:nvSpPr>
          <p:spPr>
            <a:xfrm>
              <a:off x="5413248" y="6446520"/>
              <a:ext cx="310896" cy="0"/>
            </a:xfrm>
            <a:custGeom>
              <a:avLst/>
              <a:gdLst/>
              <a:ahLst/>
              <a:cxnLst/>
              <a:rect l="l" t="t" r="r" b="b"/>
              <a:pathLst>
                <a:path w="3400" h="0">
                  <a:moveTo>
                    <a:pt x="0" y="0"/>
                  </a:moveTo>
                  <a:lnTo>
                    <a:pt x="3400" y="0"/>
                  </a:lnTo>
                </a:path>
              </a:pathLst>
            </a:custGeom>
            <a:noFill/>
            <a:ln w="27432">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Optimum prompt to Hessian arrowhead"/>
            <p:cNvSpPr/>
            <p:nvPr/>
          </p:nvSpPr>
          <p:spPr>
            <a:xfrm>
              <a:off x="5550408" y="6364224"/>
              <a:ext cx="173736" cy="164592"/>
            </a:xfrm>
            <a:custGeom>
              <a:avLst/>
              <a:gdLst/>
              <a:ahLst/>
              <a:cxnLst/>
              <a:rect l="l" t="t" r="r" b="b"/>
              <a:pathLst>
                <a:path w="1900" h="1800">
                  <a:moveTo>
                    <a:pt x="1900" y="900"/>
                  </a:moveTo>
                  <a:lnTo>
                    <a:pt x="0" y="1800"/>
                  </a:lnTo>
                  <a:lnTo>
                    <a:pt x="684" y="900"/>
                  </a:lnTo>
                  <a:lnTo>
                    <a:pt x="0"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Prompt Hessian to MLLM stem"/>
            <p:cNvSpPr/>
            <p:nvPr/>
          </p:nvSpPr>
          <p:spPr>
            <a:xfrm>
              <a:off x="7187184" y="5248656"/>
              <a:ext cx="0" cy="338328"/>
            </a:xfrm>
            <a:custGeom>
              <a:avLst/>
              <a:gdLst/>
              <a:ahLst/>
              <a:cxnLst/>
              <a:rect l="l" t="t" r="r" b="b"/>
              <a:pathLst>
                <a:path w="0" h="3700">
                  <a:moveTo>
                    <a:pt x="0" y="3700"/>
                  </a:moveTo>
                  <a:lnTo>
                    <a:pt x="0" y="0"/>
                  </a:lnTo>
                </a:path>
              </a:pathLst>
            </a:custGeom>
            <a:noFill/>
            <a:ln w="22859">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Prompt Hessian to MLLM arrowhead"/>
            <p:cNvSpPr/>
            <p:nvPr/>
          </p:nvSpPr>
          <p:spPr>
            <a:xfrm>
              <a:off x="7109460" y="5248656"/>
              <a:ext cx="155448" cy="155448"/>
            </a:xfrm>
            <a:custGeom>
              <a:avLst/>
              <a:gdLst/>
              <a:ahLst/>
              <a:cxnLst/>
              <a:rect l="l" t="t" r="r" b="b"/>
              <a:pathLst>
                <a:path w="1700" h="1700">
                  <a:moveTo>
                    <a:pt x="850" y="0"/>
                  </a:moveTo>
                  <a:lnTo>
                    <a:pt x="1700" y="1700"/>
                  </a:lnTo>
                  <a:lnTo>
                    <a:pt x="850" y="1088"/>
                  </a:lnTo>
                  <a:lnTo>
                    <a:pt x="0" y="170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Prompt inverse Hessian equation frame"/>
            <p:cNvSpPr/>
            <p:nvPr/>
          </p:nvSpPr>
          <p:spPr>
            <a:xfrm>
              <a:off x="5980176" y="5605272"/>
              <a:ext cx="2926080" cy="1207008"/>
            </a:xfrm>
            <a:prstGeom prst="rect">
              <a:avLst/>
            </a:prstGeom>
            <a:noFill/>
            <a:ln w="10058">
              <a:solidFill>
                <a:srgbClr val="080808"/>
              </a:solidFill>
              <a:custDash>
                <a:ds d="909090" sp="909090"/>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40" name="Laplace inverse Hessian equation t"/>
            <p:cNvGrpSpPr/>
            <p:nvPr/>
          </p:nvGrpSpPr>
          <p:grpSpPr>
            <a:xfrm>
              <a:off x="6035040" y="5813298"/>
              <a:ext cx="2825496" cy="683240"/>
              <a:chOff x="6035040" y="5813298"/>
              <a:chExt cx="2825496" cy="683240"/>
            </a:xfrm>
          </p:grpSpPr>
          <p:sp>
            <p:nvSpPr>
              <p:cNvPr id="341" name="H"/>
              <p:cNvSpPr txBox="1"/>
              <p:nvPr/>
            </p:nvSpPr>
            <p:spPr>
              <a:xfrm>
                <a:off x="6035040" y="5968746"/>
                <a:ext cx="283464" cy="397947"/>
              </a:xfrm>
              <a:prstGeom prst="rect">
                <a:avLst/>
              </a:prstGeom>
              <a:noFill/>
            </p:spPr>
            <p:txBody>
              <a:bodyPr wrap="none" lIns="0" rIns="0" tIns="0" bIns="0" anchor="t">
                <a:noAutofit/>
              </a:bodyPr>
              <a:lstStyle/>
              <a:p>
                <a:pPr algn="l">
                  <a:spcBef>
                    <a:spcPts val="0"/>
                  </a:spcBef>
                  <a:spcAft>
                    <a:spcPts val="0"/>
                  </a:spcAft>
                </a:pPr>
                <a:r>
                  <a:rPr sz="2448" b="0" i="1" u="none">
                    <a:solidFill>
                      <a:srgbClr val="080808"/>
                    </a:solidFill>
                    <a:latin typeface="Times New Roman"/>
                    <a:ea typeface="Times New Roman"/>
                  </a:rPr>
                  <a:t>H</a:t>
                </a:r>
              </a:p>
            </p:txBody>
          </p:sp>
          <p:sp>
            <p:nvSpPr>
              <p:cNvPr id="342" name="t"/>
              <p:cNvSpPr txBox="1"/>
              <p:nvPr/>
            </p:nvSpPr>
            <p:spPr>
              <a:xfrm>
                <a:off x="6272784" y="6169914"/>
                <a:ext cx="146304" cy="245791"/>
              </a:xfrm>
              <a:prstGeom prst="rect">
                <a:avLst/>
              </a:prstGeom>
              <a:noFill/>
            </p:spPr>
            <p:txBody>
              <a:bodyPr wrap="none" lIns="0" rIns="0" tIns="0" bIns="0" anchor="t">
                <a:noAutofit/>
              </a:bodyPr>
              <a:lstStyle/>
              <a:p>
                <a:pPr algn="l">
                  <a:spcBef>
                    <a:spcPts val="0"/>
                  </a:spcBef>
                  <a:spcAft>
                    <a:spcPts val="0"/>
                  </a:spcAft>
                </a:pPr>
                <a:r>
                  <a:rPr sz="1512" b="0" i="1" u="none">
                    <a:solidFill>
                      <a:srgbClr val="080808"/>
                    </a:solidFill>
                    <a:latin typeface="Times New Roman"/>
                    <a:ea typeface="Times New Roman"/>
                  </a:rPr>
                  <a:t>t</a:t>
                </a:r>
              </a:p>
            </p:txBody>
          </p:sp>
          <p:sp>
            <p:nvSpPr>
              <p:cNvPr id="343" name="−1"/>
              <p:cNvSpPr txBox="1"/>
              <p:nvPr/>
            </p:nvSpPr>
            <p:spPr>
              <a:xfrm>
                <a:off x="6291072" y="5923026"/>
                <a:ext cx="338328" cy="269199"/>
              </a:xfrm>
              <a:prstGeom prst="rect">
                <a:avLst/>
              </a:prstGeom>
              <a:noFill/>
            </p:spPr>
            <p:txBody>
              <a:bodyPr wrap="none" lIns="0" rIns="0" tIns="0" bIns="0" anchor="t">
                <a:noAutofit/>
              </a:bodyPr>
              <a:lstStyle/>
              <a:p>
                <a:pPr algn="l">
                  <a:spcBef>
                    <a:spcPts val="0"/>
                  </a:spcBef>
                  <a:spcAft>
                    <a:spcPts val="0"/>
                  </a:spcAft>
                </a:pPr>
                <a:r>
                  <a:rPr sz="1655" b="0" i="0" u="none">
                    <a:solidFill>
                      <a:srgbClr val="080808"/>
                    </a:solidFill>
                    <a:latin typeface="Times New Roman"/>
                    <a:ea typeface="Times New Roman"/>
                  </a:rPr>
                  <a:t>−1</a:t>
                </a:r>
              </a:p>
            </p:txBody>
          </p:sp>
          <p:sp>
            <p:nvSpPr>
              <p:cNvPr id="344" name="="/>
              <p:cNvSpPr txBox="1"/>
              <p:nvPr/>
            </p:nvSpPr>
            <p:spPr>
              <a:xfrm>
                <a:off x="6675120" y="6023610"/>
                <a:ext cx="320040" cy="386243"/>
              </a:xfrm>
              <a:prstGeom prst="rect">
                <a:avLst/>
              </a:prstGeom>
              <a:noFill/>
            </p:spPr>
            <p:txBody>
              <a:bodyPr wrap="none" lIns="0" rIns="0" tIns="0" bIns="0" anchor="t">
                <a:noAutofit/>
              </a:bodyPr>
              <a:lstStyle/>
              <a:p>
                <a:pPr algn="l">
                  <a:spcBef>
                    <a:spcPts val="0"/>
                  </a:spcBef>
                  <a:spcAft>
                    <a:spcPts val="0"/>
                  </a:spcAft>
                </a:pPr>
                <a:r>
                  <a:rPr sz="2376" b="0" i="0" u="none">
                    <a:solidFill>
                      <a:srgbClr val="080808"/>
                    </a:solidFill>
                    <a:latin typeface="Times New Roman"/>
                    <a:ea typeface="Times New Roman"/>
                  </a:rPr>
                  <a:t>=</a:t>
                </a:r>
              </a:p>
            </p:txBody>
          </p:sp>
          <p:sp>
            <p:nvSpPr>
              <p:cNvPr id="345" name="‖t₀−tᵥ‖"/>
              <p:cNvSpPr txBox="1"/>
              <p:nvPr/>
            </p:nvSpPr>
            <p:spPr>
              <a:xfrm>
                <a:off x="7470648" y="5868162"/>
                <a:ext cx="777240" cy="292608"/>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Times New Roman"/>
                    <a:ea typeface="Times New Roman"/>
                  </a:rPr>
                  <a:t>‖t₀−tᵥ‖</a:t>
                </a:r>
              </a:p>
            </p:txBody>
          </p:sp>
          <p:sp>
            <p:nvSpPr>
              <p:cNvPr id="346" name="2"/>
              <p:cNvSpPr txBox="1"/>
              <p:nvPr/>
            </p:nvSpPr>
            <p:spPr>
              <a:xfrm>
                <a:off x="8156448" y="5813298"/>
                <a:ext cx="100584" cy="175565"/>
              </a:xfrm>
              <a:prstGeom prst="rect">
                <a:avLst/>
              </a:prstGeom>
              <a:noFill/>
            </p:spPr>
            <p:txBody>
              <a:bodyPr wrap="none" lIns="0" rIns="0" tIns="0" bIns="0" anchor="t">
                <a:noAutofit/>
              </a:bodyPr>
              <a:lstStyle/>
              <a:p>
                <a:pPr algn="l">
                  <a:spcBef>
                    <a:spcPts val="0"/>
                  </a:spcBef>
                  <a:spcAft>
                    <a:spcPts val="0"/>
                  </a:spcAft>
                </a:pPr>
                <a:r>
                  <a:rPr sz="1080" b="0" i="0" u="none">
                    <a:solidFill>
                      <a:srgbClr val="080808"/>
                    </a:solidFill>
                    <a:latin typeface="Times New Roman"/>
                    <a:ea typeface="Times New Roman"/>
                  </a:rPr>
                  <a:t>2</a:t>
                </a:r>
              </a:p>
            </p:txBody>
          </p:sp>
          <p:sp>
            <p:nvSpPr>
              <p:cNvPr id="347" name="2"/>
              <p:cNvSpPr txBox="1"/>
              <p:nvPr/>
            </p:nvSpPr>
            <p:spPr>
              <a:xfrm>
                <a:off x="8156448" y="5977890"/>
                <a:ext cx="100584" cy="175565"/>
              </a:xfrm>
              <a:prstGeom prst="rect">
                <a:avLst/>
              </a:prstGeom>
              <a:noFill/>
            </p:spPr>
            <p:txBody>
              <a:bodyPr wrap="none" lIns="0" rIns="0" tIns="0" bIns="0" anchor="t">
                <a:noAutofit/>
              </a:bodyPr>
              <a:lstStyle/>
              <a:p>
                <a:pPr algn="l">
                  <a:spcBef>
                    <a:spcPts val="0"/>
                  </a:spcBef>
                  <a:spcAft>
                    <a:spcPts val="0"/>
                  </a:spcAft>
                </a:pPr>
                <a:r>
                  <a:rPr sz="1080" b="0" i="0" u="none">
                    <a:solidFill>
                      <a:srgbClr val="080808"/>
                    </a:solidFill>
                    <a:latin typeface="Times New Roman"/>
                    <a:ea typeface="Times New Roman"/>
                  </a:rPr>
                  <a:t>2</a:t>
                </a:r>
              </a:p>
            </p:txBody>
          </p:sp>
          <p:sp>
            <p:nvSpPr>
              <p:cNvPr id="348" name="Connector"/>
              <p:cNvSpPr/>
              <p:nvPr/>
            </p:nvSpPr>
            <p:spPr>
              <a:xfrm>
                <a:off x="7022592" y="6199632"/>
                <a:ext cx="1700784" cy="0"/>
              </a:xfrm>
              <a:custGeom>
                <a:avLst/>
                <a:gdLst/>
                <a:ahLst/>
                <a:cxnLst/>
                <a:rect l="l" t="t" r="r" b="b"/>
                <a:pathLst>
                  <a:path w="18600" h="0">
                    <a:moveTo>
                      <a:pt x="0" y="0"/>
                    </a:moveTo>
                    <a:lnTo>
                      <a:pt x="18600" y="0"/>
                    </a:lnTo>
                  </a:path>
                </a:pathLst>
              </a:custGeom>
              <a:noFill/>
              <a:ln w="14630">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2·(L(v,t₀)−L(v,tᵥ))"/>
              <p:cNvSpPr txBox="1"/>
              <p:nvPr/>
            </p:nvSpPr>
            <p:spPr>
              <a:xfrm>
                <a:off x="7022592" y="6215634"/>
                <a:ext cx="1837944" cy="280904"/>
              </a:xfrm>
              <a:prstGeom prst="rect">
                <a:avLst/>
              </a:prstGeom>
              <a:noFill/>
            </p:spPr>
            <p:txBody>
              <a:bodyPr wrap="none" lIns="0" rIns="0" tIns="0" bIns="0" anchor="t">
                <a:noAutofit/>
              </a:bodyPr>
              <a:lstStyle/>
              <a:p>
                <a:pPr algn="l">
                  <a:spcBef>
                    <a:spcPts val="0"/>
                  </a:spcBef>
                  <a:spcAft>
                    <a:spcPts val="0"/>
                  </a:spcAft>
                </a:pPr>
                <a:r>
                  <a:rPr sz="1728" b="0" i="1" u="none">
                    <a:solidFill>
                      <a:srgbClr val="080808"/>
                    </a:solidFill>
                    <a:latin typeface="Times New Roman"/>
                    <a:ea typeface="Times New Roman"/>
                  </a:rPr>
                  <a:t>2·(L(v,t₀)−L(v,tᵥ))</a:t>
                </a:r>
              </a:p>
            </p:txBody>
          </p:sp>
        </p:grpSp>
        <p:sp>
          <p:nvSpPr>
            <p:cNvPr id="350" name="Laplace approximation"/>
            <p:cNvSpPr txBox="1"/>
            <p:nvPr/>
          </p:nvSpPr>
          <p:spPr>
            <a:xfrm>
              <a:off x="5166360" y="6791706"/>
              <a:ext cx="2770632" cy="304312"/>
            </a:xfrm>
            <a:prstGeom prst="rect">
              <a:avLst/>
            </a:prstGeom>
            <a:noFill/>
          </p:spPr>
          <p:txBody>
            <a:bodyPr wrap="none" lIns="0" rIns="0" tIns="0" bIns="0" anchor="t">
              <a:noAutofit/>
            </a:bodyPr>
            <a:lstStyle/>
            <a:p>
              <a:pPr algn="l">
                <a:spcBef>
                  <a:spcPts val="0"/>
                </a:spcBef>
                <a:spcAft>
                  <a:spcPts val="0"/>
                </a:spcAft>
              </a:pPr>
              <a:r>
                <a:rPr sz="1872" b="1" i="1" u="sng">
                  <a:solidFill>
                    <a:srgbClr val="080808"/>
                  </a:solidFill>
                  <a:latin typeface="Arial"/>
                  <a:ea typeface="Arial"/>
                </a:rPr>
                <a:t>Laplace approximation</a:t>
              </a:r>
            </a:p>
          </p:txBody>
        </p:sp>
      </p:grpSp>
      <p:grpSp>
        <p:nvGrpSpPr>
          <p:cNvPr id="351" name="Stage 3 Distribution driven perturbation optimization"/>
          <p:cNvGrpSpPr/>
          <p:nvPr/>
        </p:nvGrpSpPr>
        <p:grpSpPr>
          <a:xfrm>
            <a:off x="9134856" y="1773936"/>
            <a:ext cx="6016752" cy="5193792"/>
            <a:chOff x="9134856" y="1773936"/>
            <a:chExt cx="6016752" cy="5193792"/>
          </a:xfrm>
        </p:grpSpPr>
        <p:sp>
          <p:nvSpPr>
            <p:cNvPr id="352" name="3"/>
            <p:cNvSpPr txBox="1"/>
            <p:nvPr/>
          </p:nvSpPr>
          <p:spPr>
            <a:xfrm>
              <a:off x="9299448" y="2329434"/>
              <a:ext cx="347472" cy="538399"/>
            </a:xfrm>
            <a:prstGeom prst="rect">
              <a:avLst/>
            </a:prstGeom>
            <a:noFill/>
          </p:spPr>
          <p:txBody>
            <a:bodyPr wrap="none" lIns="0" rIns="0" tIns="0" bIns="0" anchor="t">
              <a:noAutofit/>
            </a:bodyPr>
            <a:lstStyle/>
            <a:p>
              <a:pPr algn="l">
                <a:spcBef>
                  <a:spcPts val="0"/>
                </a:spcBef>
                <a:spcAft>
                  <a:spcPts val="0"/>
                </a:spcAft>
              </a:pPr>
              <a:r>
                <a:rPr sz="3311" b="1" i="0" u="none">
                  <a:solidFill>
                    <a:srgbClr val="FF3944"/>
                  </a:solidFill>
                  <a:latin typeface="Arial"/>
                  <a:ea typeface="Arial"/>
                </a:rPr>
                <a:t>3</a:t>
              </a:r>
            </a:p>
          </p:txBody>
        </p:sp>
        <p:sp>
          <p:nvSpPr>
            <p:cNvPr id="353" name="Connector"/>
            <p:cNvSpPr/>
            <p:nvPr/>
          </p:nvSpPr>
          <p:spPr>
            <a:xfrm>
              <a:off x="9299448" y="2715768"/>
              <a:ext cx="210312" cy="0"/>
            </a:xfrm>
            <a:custGeom>
              <a:avLst/>
              <a:gdLst/>
              <a:ahLst/>
              <a:cxnLst/>
              <a:rect l="l" t="t" r="r" b="b"/>
              <a:pathLst>
                <a:path w="2300" h="0">
                  <a:moveTo>
                    <a:pt x="0" y="0"/>
                  </a:moveTo>
                  <a:lnTo>
                    <a:pt x="2300" y="0"/>
                  </a:lnTo>
                </a:path>
              </a:pathLst>
            </a:custGeom>
            <a:noFill/>
            <a:ln w="7315">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Monte Carlo"/>
            <p:cNvSpPr txBox="1"/>
            <p:nvPr/>
          </p:nvSpPr>
          <p:spPr>
            <a:xfrm>
              <a:off x="9820656" y="2402586"/>
              <a:ext cx="1417320"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Monte Carlo</a:t>
              </a:r>
            </a:p>
          </p:txBody>
        </p:sp>
        <p:sp>
          <p:nvSpPr>
            <p:cNvPr id="355" name="Sampling"/>
            <p:cNvSpPr txBox="1"/>
            <p:nvPr/>
          </p:nvSpPr>
          <p:spPr>
            <a:xfrm>
              <a:off x="9820656" y="2658618"/>
              <a:ext cx="126187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Sampling</a:t>
              </a:r>
            </a:p>
          </p:txBody>
        </p:sp>
        <p:sp>
          <p:nvSpPr>
            <p:cNvPr id="356" name="Compute"/>
            <p:cNvSpPr txBox="1"/>
            <p:nvPr/>
          </p:nvSpPr>
          <p:spPr>
            <a:xfrm>
              <a:off x="11640312" y="2402586"/>
              <a:ext cx="117043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Compute</a:t>
              </a:r>
            </a:p>
          </p:txBody>
        </p:sp>
        <p:sp>
          <p:nvSpPr>
            <p:cNvPr id="357" name="distribution"/>
            <p:cNvSpPr txBox="1"/>
            <p:nvPr/>
          </p:nvSpPr>
          <p:spPr>
            <a:xfrm>
              <a:off x="11640312" y="2658618"/>
              <a:ext cx="126187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distribution</a:t>
              </a:r>
            </a:p>
          </p:txBody>
        </p:sp>
        <p:sp>
          <p:nvSpPr>
            <p:cNvPr id="358" name="Monte Carlo"/>
            <p:cNvSpPr txBox="1"/>
            <p:nvPr/>
          </p:nvSpPr>
          <p:spPr>
            <a:xfrm>
              <a:off x="12929616" y="2402586"/>
              <a:ext cx="1298448"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Monte Carlo</a:t>
              </a:r>
            </a:p>
          </p:txBody>
        </p:sp>
        <p:sp>
          <p:nvSpPr>
            <p:cNvPr id="359" name="Sampling"/>
            <p:cNvSpPr txBox="1"/>
            <p:nvPr/>
          </p:nvSpPr>
          <p:spPr>
            <a:xfrm>
              <a:off x="12929616" y="2658618"/>
              <a:ext cx="126187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Sampling</a:t>
              </a:r>
            </a:p>
          </p:txBody>
        </p:sp>
        <p:sp>
          <p:nvSpPr>
            <p:cNvPr id="360" name="Image Monte Carlo sampling stem"/>
            <p:cNvSpPr/>
            <p:nvPr/>
          </p:nvSpPr>
          <p:spPr>
            <a:xfrm>
              <a:off x="11228832" y="1828800"/>
              <a:ext cx="0" cy="1325880"/>
            </a:xfrm>
            <a:custGeom>
              <a:avLst/>
              <a:gdLst/>
              <a:ahLst/>
              <a:cxnLst/>
              <a:rect l="l" t="t" r="r" b="b"/>
              <a:pathLst>
                <a:path w="0" h="14500">
                  <a:moveTo>
                    <a:pt x="0" y="0"/>
                  </a:moveTo>
                  <a:lnTo>
                    <a:pt x="0" y="14500"/>
                  </a:lnTo>
                </a:path>
              </a:pathLst>
            </a:custGeom>
            <a:noFill/>
            <a:ln w="30175">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Image Monte Carlo sampling arrowhead"/>
            <p:cNvSpPr/>
            <p:nvPr/>
          </p:nvSpPr>
          <p:spPr>
            <a:xfrm>
              <a:off x="11137392" y="2971800"/>
              <a:ext cx="182880" cy="182880"/>
            </a:xfrm>
            <a:custGeom>
              <a:avLst/>
              <a:gdLst/>
              <a:ahLst/>
              <a:cxnLst/>
              <a:rect l="l" t="t" r="r" b="b"/>
              <a:pathLst>
                <a:path w="2000" h="2000">
                  <a:moveTo>
                    <a:pt x="1000" y="2000"/>
                  </a:moveTo>
                  <a:lnTo>
                    <a:pt x="0" y="0"/>
                  </a:lnTo>
                  <a:lnTo>
                    <a:pt x="1000" y="720"/>
                  </a:lnTo>
                  <a:lnTo>
                    <a:pt x="2000" y="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Compute prompt conditional distribution stem"/>
            <p:cNvSpPr/>
            <p:nvPr/>
          </p:nvSpPr>
          <p:spPr>
            <a:xfrm>
              <a:off x="11558016" y="1773936"/>
              <a:ext cx="1014984" cy="1380744"/>
            </a:xfrm>
            <a:custGeom>
              <a:avLst/>
              <a:gdLst/>
              <a:ahLst/>
              <a:cxnLst/>
              <a:rect l="l" t="t" r="r" b="b"/>
              <a:pathLst>
                <a:path w="11100" h="15100">
                  <a:moveTo>
                    <a:pt x="0" y="15100"/>
                  </a:moveTo>
                  <a:lnTo>
                    <a:pt x="0" y="2400"/>
                  </a:lnTo>
                  <a:lnTo>
                    <a:pt x="11100" y="2400"/>
                  </a:lnTo>
                  <a:lnTo>
                    <a:pt x="11100" y="0"/>
                  </a:lnTo>
                </a:path>
              </a:pathLst>
            </a:custGeom>
            <a:noFill/>
            <a:ln w="19202">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Compute prompt conditional distribution arrowhead"/>
            <p:cNvSpPr/>
            <p:nvPr/>
          </p:nvSpPr>
          <p:spPr>
            <a:xfrm>
              <a:off x="12504420" y="1773936"/>
              <a:ext cx="137160" cy="137160"/>
            </a:xfrm>
            <a:custGeom>
              <a:avLst/>
              <a:gdLst/>
              <a:ahLst/>
              <a:cxnLst/>
              <a:rect l="l" t="t" r="r" b="b"/>
              <a:pathLst>
                <a:path w="1500" h="1500">
                  <a:moveTo>
                    <a:pt x="750" y="0"/>
                  </a:moveTo>
                  <a:lnTo>
                    <a:pt x="1500" y="1500"/>
                  </a:lnTo>
                  <a:lnTo>
                    <a:pt x="750" y="960"/>
                  </a:lnTo>
                  <a:lnTo>
                    <a:pt x="0" y="1500"/>
                  </a:lnTo>
                  <a:close/>
                </a:path>
              </a:pathLst>
            </a:custGeom>
            <a:solidFill>
              <a:srgbClr val="6A90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Prompt Monte Carlo sampling stem"/>
            <p:cNvSpPr/>
            <p:nvPr/>
          </p:nvSpPr>
          <p:spPr>
            <a:xfrm>
              <a:off x="12829032" y="1773936"/>
              <a:ext cx="0" cy="1380744"/>
            </a:xfrm>
            <a:custGeom>
              <a:avLst/>
              <a:gdLst/>
              <a:ahLst/>
              <a:cxnLst/>
              <a:rect l="l" t="t" r="r" b="b"/>
              <a:pathLst>
                <a:path w="0" h="15100">
                  <a:moveTo>
                    <a:pt x="0" y="0"/>
                  </a:moveTo>
                  <a:lnTo>
                    <a:pt x="0" y="15100"/>
                  </a:lnTo>
                </a:path>
              </a:pathLst>
            </a:custGeom>
            <a:noFill/>
            <a:ln w="31089">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Prompt Monte Carlo sampling arrowhead"/>
            <p:cNvSpPr/>
            <p:nvPr/>
          </p:nvSpPr>
          <p:spPr>
            <a:xfrm>
              <a:off x="12737592" y="2971800"/>
              <a:ext cx="182880" cy="182880"/>
            </a:xfrm>
            <a:custGeom>
              <a:avLst/>
              <a:gdLst/>
              <a:ahLst/>
              <a:cxnLst/>
              <a:rect l="l" t="t" r="r" b="b"/>
              <a:pathLst>
                <a:path w="2000" h="2000">
                  <a:moveTo>
                    <a:pt x="1000" y="2000"/>
                  </a:moveTo>
                  <a:lnTo>
                    <a:pt x="0" y="0"/>
                  </a:lnTo>
                  <a:lnTo>
                    <a:pt x="1000" y="720"/>
                  </a:lnTo>
                  <a:lnTo>
                    <a:pt x="2000" y="0"/>
                  </a:lnTo>
                  <a:close/>
                </a:path>
              </a:pathLst>
            </a:custGeom>
            <a:solidFill>
              <a:srgbClr val="9971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6" name="Training perturbation texture" descr="Training perturbation texture.png"/>
            <p:cNvPicPr>
              <a:picLocks noChangeAspect="1"/>
            </p:cNvPicPr>
            <p:nvPr/>
          </p:nvPicPr>
          <p:blipFill>
            <a:blip r:embed="rId5"/>
            <a:stretch>
              <a:fillRect/>
            </a:stretch>
          </p:blipFill>
          <p:spPr>
            <a:xfrm>
              <a:off x="9491472" y="2962656"/>
              <a:ext cx="996696" cy="996696"/>
            </a:xfrm>
            <a:prstGeom prst="rect">
              <a:avLst/>
            </a:prstGeom>
          </p:spPr>
        </p:pic>
        <p:sp>
          <p:nvSpPr>
            <p:cNvPr id="367" name="Training perturbation red outline"/>
            <p:cNvSpPr/>
            <p:nvPr/>
          </p:nvSpPr>
          <p:spPr>
            <a:xfrm>
              <a:off x="9482328" y="2953512"/>
              <a:ext cx="1014984" cy="1014984"/>
            </a:xfrm>
            <a:prstGeom prst="rect">
              <a:avLst/>
            </a:prstGeom>
            <a:noFill/>
            <a:ln w="16459">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δ"/>
            <p:cNvSpPr txBox="1"/>
            <p:nvPr/>
          </p:nvSpPr>
          <p:spPr>
            <a:xfrm>
              <a:off x="9198864" y="3243834"/>
              <a:ext cx="228600" cy="292608"/>
            </a:xfrm>
            <a:prstGeom prst="rect">
              <a:avLst/>
            </a:prstGeom>
            <a:noFill/>
          </p:spPr>
          <p:txBody>
            <a:bodyPr wrap="none" lIns="0" rIns="0" tIns="0" bIns="0" anchor="t">
              <a:noAutofit/>
            </a:bodyPr>
            <a:lstStyle/>
            <a:p>
              <a:pPr algn="l">
                <a:spcBef>
                  <a:spcPts val="0"/>
                </a:spcBef>
                <a:spcAft>
                  <a:spcPts val="0"/>
                </a:spcAft>
              </a:pPr>
              <a:r>
                <a:rPr sz="1800" b="1" i="0" u="none">
                  <a:solidFill>
                    <a:srgbClr val="080808"/>
                  </a:solidFill>
                  <a:latin typeface="Arial"/>
                  <a:ea typeface="Arial"/>
                </a:rPr>
                <a:t>δ</a:t>
              </a:r>
            </a:p>
          </p:txBody>
        </p:sp>
        <p:sp>
          <p:nvSpPr>
            <p:cNvPr id="369" name="+"/>
            <p:cNvSpPr txBox="1"/>
            <p:nvPr/>
          </p:nvSpPr>
          <p:spPr>
            <a:xfrm>
              <a:off x="10561320" y="3307842"/>
              <a:ext cx="192024"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a:t>
              </a:r>
            </a:p>
          </p:txBody>
        </p:sp>
        <p:sp>
          <p:nvSpPr>
            <p:cNvPr id="370" name="Sampled image input"/>
            <p:cNvSpPr/>
            <p:nvPr/>
          </p:nvSpPr>
          <p:spPr>
            <a:xfrm>
              <a:off x="10780776" y="3236976"/>
              <a:ext cx="1344168" cy="402336"/>
            </a:xfrm>
            <a:prstGeom prst="rect">
              <a:avLst/>
            </a:prstGeom>
            <a:solidFill>
              <a:srgbClr val="D9E5F8"/>
            </a:solidFill>
            <a:ln w="10972">
              <a:solidFill>
                <a:srgbClr val="6A90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Sampled prompt input"/>
            <p:cNvSpPr/>
            <p:nvPr/>
          </p:nvSpPr>
          <p:spPr>
            <a:xfrm>
              <a:off x="12124944" y="3236976"/>
              <a:ext cx="1920240" cy="402336"/>
            </a:xfrm>
            <a:prstGeom prst="rect">
              <a:avLst/>
            </a:prstGeom>
            <a:solidFill>
              <a:srgbClr val="DED2E5"/>
            </a:solidFill>
            <a:ln w="10972">
              <a:solidFill>
                <a:srgbClr val="9971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Image"/>
            <p:cNvSpPr txBox="1"/>
            <p:nvPr/>
          </p:nvSpPr>
          <p:spPr>
            <a:xfrm>
              <a:off x="10789920" y="3289554"/>
              <a:ext cx="1325880"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Image</a:t>
              </a:r>
            </a:p>
          </p:txBody>
        </p:sp>
        <p:sp>
          <p:nvSpPr>
            <p:cNvPr id="373" name="Prompt"/>
            <p:cNvSpPr txBox="1"/>
            <p:nvPr/>
          </p:nvSpPr>
          <p:spPr>
            <a:xfrm>
              <a:off x="12134088" y="3289554"/>
              <a:ext cx="1901952"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Prompt</a:t>
              </a:r>
            </a:p>
          </p:txBody>
        </p:sp>
        <p:sp>
          <p:nvSpPr>
            <p:cNvPr id="374" name="Perturbed input to model stem"/>
            <p:cNvSpPr/>
            <p:nvPr/>
          </p:nvSpPr>
          <p:spPr>
            <a:xfrm>
              <a:off x="12353544" y="3739896"/>
              <a:ext cx="0" cy="777240"/>
            </a:xfrm>
            <a:custGeom>
              <a:avLst/>
              <a:gdLst/>
              <a:ahLst/>
              <a:cxnLst/>
              <a:rect l="l" t="t" r="r" b="b"/>
              <a:pathLst>
                <a:path w="0" h="8500">
                  <a:moveTo>
                    <a:pt x="0" y="0"/>
                  </a:moveTo>
                  <a:lnTo>
                    <a:pt x="0" y="8500"/>
                  </a:lnTo>
                </a:path>
              </a:pathLst>
            </a:custGeom>
            <a:noFill/>
            <a:ln w="38404">
              <a:solidFill>
                <a:srgbClr val="087F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Perturbed input to model arrowhead"/>
            <p:cNvSpPr/>
            <p:nvPr/>
          </p:nvSpPr>
          <p:spPr>
            <a:xfrm>
              <a:off x="12257532" y="4334256"/>
              <a:ext cx="192024" cy="182880"/>
            </a:xfrm>
            <a:custGeom>
              <a:avLst/>
              <a:gdLst/>
              <a:ahLst/>
              <a:cxnLst/>
              <a:rect l="l" t="t" r="r" b="b"/>
              <a:pathLst>
                <a:path w="2100" h="2000">
                  <a:moveTo>
                    <a:pt x="1050" y="2000"/>
                  </a:moveTo>
                  <a:lnTo>
                    <a:pt x="0" y="0"/>
                  </a:lnTo>
                  <a:lnTo>
                    <a:pt x="1050" y="720"/>
                  </a:lnTo>
                  <a:lnTo>
                    <a:pt x="2100" y="0"/>
                  </a:lnTo>
                  <a:close/>
                </a:path>
              </a:pathLst>
            </a:custGeom>
            <a:solidFill>
              <a:srgbClr val="087F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Input"/>
            <p:cNvSpPr txBox="1"/>
            <p:nvPr/>
          </p:nvSpPr>
          <p:spPr>
            <a:xfrm>
              <a:off x="12380976" y="3929634"/>
              <a:ext cx="621792" cy="269199"/>
            </a:xfrm>
            <a:prstGeom prst="rect">
              <a:avLst/>
            </a:prstGeom>
            <a:noFill/>
          </p:spPr>
          <p:txBody>
            <a:bodyPr wrap="none" lIns="0" rIns="0" tIns="0" bIns="0" anchor="t">
              <a:noAutofit/>
            </a:bodyPr>
            <a:lstStyle/>
            <a:p>
              <a:pPr algn="l">
                <a:spcBef>
                  <a:spcPts val="0"/>
                </a:spcBef>
                <a:spcAft>
                  <a:spcPts val="0"/>
                </a:spcAft>
              </a:pPr>
              <a:r>
                <a:rPr sz="1584" b="1" i="0" u="none">
                  <a:solidFill>
                    <a:srgbClr val="FF0000"/>
                  </a:solidFill>
                  <a:latin typeface="Arial"/>
                  <a:ea typeface="Arial"/>
                </a:rPr>
                <a:t>Input</a:t>
              </a:r>
            </a:p>
          </p:txBody>
        </p:sp>
        <p:sp>
          <p:nvSpPr>
            <p:cNvPr id="377" name="Update universal perturbation stem"/>
            <p:cNvSpPr/>
            <p:nvPr/>
          </p:nvSpPr>
          <p:spPr>
            <a:xfrm>
              <a:off x="9875520" y="4050792"/>
              <a:ext cx="0" cy="429768"/>
            </a:xfrm>
            <a:custGeom>
              <a:avLst/>
              <a:gdLst/>
              <a:ahLst/>
              <a:cxnLst/>
              <a:rect l="l" t="t" r="r" b="b"/>
              <a:pathLst>
                <a:path w="0" h="4700">
                  <a:moveTo>
                    <a:pt x="0" y="4700"/>
                  </a:moveTo>
                  <a:lnTo>
                    <a:pt x="0" y="0"/>
                  </a:lnTo>
                </a:path>
              </a:pathLst>
            </a:custGeom>
            <a:noFill/>
            <a:ln w="20116">
              <a:solidFill>
                <a:srgbClr val="BD71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Update universal perturbation arrowhead"/>
            <p:cNvSpPr/>
            <p:nvPr/>
          </p:nvSpPr>
          <p:spPr>
            <a:xfrm>
              <a:off x="9811512" y="4050792"/>
              <a:ext cx="128016" cy="146304"/>
            </a:xfrm>
            <a:custGeom>
              <a:avLst/>
              <a:gdLst/>
              <a:ahLst/>
              <a:cxnLst/>
              <a:rect l="l" t="t" r="r" b="b"/>
              <a:pathLst>
                <a:path w="1400" h="1600">
                  <a:moveTo>
                    <a:pt x="700" y="0"/>
                  </a:moveTo>
                  <a:lnTo>
                    <a:pt x="1400" y="1600"/>
                  </a:lnTo>
                  <a:lnTo>
                    <a:pt x="700" y="1024"/>
                  </a:lnTo>
                  <a:lnTo>
                    <a:pt x="0" y="1600"/>
                  </a:lnTo>
                  <a:close/>
                </a:path>
              </a:pathLst>
            </a:custGeom>
            <a:solidFill>
              <a:srgbClr val="BD7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Update"/>
            <p:cNvSpPr txBox="1"/>
            <p:nvPr/>
          </p:nvSpPr>
          <p:spPr>
            <a:xfrm>
              <a:off x="9134856" y="4112514"/>
              <a:ext cx="822960" cy="269199"/>
            </a:xfrm>
            <a:prstGeom prst="rect">
              <a:avLst/>
            </a:prstGeom>
            <a:noFill/>
          </p:spPr>
          <p:txBody>
            <a:bodyPr wrap="none" lIns="0" rIns="0" tIns="0" bIns="0" anchor="t">
              <a:noAutofit/>
            </a:bodyPr>
            <a:lstStyle/>
            <a:p>
              <a:pPr algn="l">
                <a:spcBef>
                  <a:spcPts val="0"/>
                </a:spcBef>
                <a:spcAft>
                  <a:spcPts val="0"/>
                </a:spcAft>
              </a:pPr>
              <a:r>
                <a:rPr sz="1584" b="1" i="0" u="none">
                  <a:solidFill>
                    <a:srgbClr val="FF0000"/>
                  </a:solidFill>
                  <a:latin typeface="Arial"/>
                  <a:ea typeface="Arial"/>
                </a:rPr>
                <a:t>Update</a:t>
              </a:r>
            </a:p>
          </p:txBody>
        </p:sp>
        <p:sp>
          <p:nvSpPr>
            <p:cNvPr id="380" name="Universal perturbation transfer stem"/>
            <p:cNvSpPr/>
            <p:nvPr/>
          </p:nvSpPr>
          <p:spPr>
            <a:xfrm>
              <a:off x="10113264" y="3236976"/>
              <a:ext cx="4983480" cy="1042416"/>
            </a:xfrm>
            <a:custGeom>
              <a:avLst/>
              <a:gdLst/>
              <a:ahLst/>
              <a:cxnLst/>
              <a:rect l="l" t="t" r="r" b="b"/>
              <a:pathLst>
                <a:path w="54500" h="11400">
                  <a:moveTo>
                    <a:pt x="0" y="9000"/>
                  </a:moveTo>
                  <a:lnTo>
                    <a:pt x="0" y="11400"/>
                  </a:lnTo>
                  <a:lnTo>
                    <a:pt x="54500" y="11400"/>
                  </a:lnTo>
                  <a:lnTo>
                    <a:pt x="54500" y="0"/>
                  </a:lnTo>
                </a:path>
              </a:pathLst>
            </a:custGeom>
            <a:noFill/>
            <a:ln w="10972">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Universal perturbation transfer arrowhead"/>
            <p:cNvSpPr/>
            <p:nvPr/>
          </p:nvSpPr>
          <p:spPr>
            <a:xfrm>
              <a:off x="15041880" y="3236976"/>
              <a:ext cx="109728" cy="109728"/>
            </a:xfrm>
            <a:custGeom>
              <a:avLst/>
              <a:gdLst/>
              <a:ahLst/>
              <a:cxnLst/>
              <a:rect l="l" t="t" r="r" b="b"/>
              <a:pathLst>
                <a:path w="1200" h="1200">
                  <a:moveTo>
                    <a:pt x="600" y="0"/>
                  </a:moveTo>
                  <a:lnTo>
                    <a:pt x="1200" y="1200"/>
                  </a:lnTo>
                  <a:lnTo>
                    <a:pt x="600" y="768"/>
                  </a:lnTo>
                  <a:lnTo>
                    <a:pt x="0" y="1200"/>
                  </a:lnTo>
                  <a:close/>
                </a:path>
              </a:pathLst>
            </a:custGeom>
            <a:solidFill>
              <a:srgbClr val="0808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Model output for training stem"/>
            <p:cNvSpPr/>
            <p:nvPr/>
          </p:nvSpPr>
          <p:spPr>
            <a:xfrm>
              <a:off x="12353544" y="5276088"/>
              <a:ext cx="0" cy="365760"/>
            </a:xfrm>
            <a:custGeom>
              <a:avLst/>
              <a:gdLst/>
              <a:ahLst/>
              <a:cxnLst/>
              <a:rect l="l" t="t" r="r" b="b"/>
              <a:pathLst>
                <a:path w="0" h="4000">
                  <a:moveTo>
                    <a:pt x="0" y="0"/>
                  </a:moveTo>
                  <a:lnTo>
                    <a:pt x="0" y="4000"/>
                  </a:lnTo>
                </a:path>
              </a:pathLst>
            </a:custGeom>
            <a:noFill/>
            <a:ln w="29260">
              <a:solidFill>
                <a:srgbClr val="087F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Model output for training arrowhead"/>
            <p:cNvSpPr/>
            <p:nvPr/>
          </p:nvSpPr>
          <p:spPr>
            <a:xfrm>
              <a:off x="12266676" y="5468112"/>
              <a:ext cx="173736" cy="173736"/>
            </a:xfrm>
            <a:custGeom>
              <a:avLst/>
              <a:gdLst/>
              <a:ahLst/>
              <a:cxnLst/>
              <a:rect l="l" t="t" r="r" b="b"/>
              <a:pathLst>
                <a:path w="1900" h="1900">
                  <a:moveTo>
                    <a:pt x="950" y="1900"/>
                  </a:moveTo>
                  <a:lnTo>
                    <a:pt x="0" y="0"/>
                  </a:lnTo>
                  <a:lnTo>
                    <a:pt x="950" y="684"/>
                  </a:lnTo>
                  <a:lnTo>
                    <a:pt x="1900" y="0"/>
                  </a:lnTo>
                  <a:close/>
                </a:path>
              </a:pathLst>
            </a:custGeom>
            <a:solidFill>
              <a:srgbClr val="087F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Perturbation training frame"/>
            <p:cNvSpPr/>
            <p:nvPr/>
          </p:nvSpPr>
          <p:spPr>
            <a:xfrm>
              <a:off x="9217152" y="5605272"/>
              <a:ext cx="4809744" cy="1362456"/>
            </a:xfrm>
            <a:prstGeom prst="rect">
              <a:avLst/>
            </a:prstGeom>
            <a:noFill/>
            <a:ln w="9144">
              <a:solidFill>
                <a:srgbClr val="D74938"/>
              </a:solidFill>
              <a:custDash>
                <a:ds d="1000000" sp="1000000"/>
              </a:cust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Perturbation optimization objective"/>
            <p:cNvSpPr/>
            <p:nvPr/>
          </p:nvSpPr>
          <p:spPr>
            <a:xfrm>
              <a:off x="9317736" y="5934456"/>
              <a:ext cx="2331720" cy="786384"/>
            </a:xfrm>
            <a:prstGeom prst="roundRect">
              <a:avLst>
                <a:gd name="adj" fmla="val 15116"/>
              </a:avLst>
            </a:prstGeom>
            <a:solidFill>
              <a:srgbClr val="F9D7A5"/>
            </a:solidFill>
            <a:ln w="10058">
              <a:solidFill>
                <a:srgbClr val="CE79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Perturbation training update stem"/>
            <p:cNvSpPr/>
            <p:nvPr/>
          </p:nvSpPr>
          <p:spPr>
            <a:xfrm>
              <a:off x="9875520" y="5248656"/>
              <a:ext cx="0" cy="585216"/>
            </a:xfrm>
            <a:custGeom>
              <a:avLst/>
              <a:gdLst/>
              <a:ahLst/>
              <a:cxnLst/>
              <a:rect l="l" t="t" r="r" b="b"/>
              <a:pathLst>
                <a:path w="0" h="6400">
                  <a:moveTo>
                    <a:pt x="0" y="6400"/>
                  </a:moveTo>
                  <a:lnTo>
                    <a:pt x="0" y="0"/>
                  </a:lnTo>
                </a:path>
              </a:pathLst>
            </a:custGeom>
            <a:noFill/>
            <a:ln w="20116">
              <a:solidFill>
                <a:srgbClr val="BD71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Perturbation training update arrowhead"/>
            <p:cNvSpPr/>
            <p:nvPr/>
          </p:nvSpPr>
          <p:spPr>
            <a:xfrm>
              <a:off x="9806940" y="5248656"/>
              <a:ext cx="137160" cy="155448"/>
            </a:xfrm>
            <a:custGeom>
              <a:avLst/>
              <a:gdLst/>
              <a:ahLst/>
              <a:cxnLst/>
              <a:rect l="l" t="t" r="r" b="b"/>
              <a:pathLst>
                <a:path w="1500" h="1700">
                  <a:moveTo>
                    <a:pt x="750" y="0"/>
                  </a:moveTo>
                  <a:lnTo>
                    <a:pt x="1500" y="1700"/>
                  </a:lnTo>
                  <a:lnTo>
                    <a:pt x="750" y="1088"/>
                  </a:lnTo>
                  <a:lnTo>
                    <a:pt x="0" y="1700"/>
                  </a:lnTo>
                  <a:close/>
                </a:path>
              </a:pathLst>
            </a:custGeom>
            <a:solidFill>
              <a:srgbClr val="BD7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Perturbation"/>
            <p:cNvSpPr txBox="1"/>
            <p:nvPr/>
          </p:nvSpPr>
          <p:spPr>
            <a:xfrm>
              <a:off x="9994392" y="5401818"/>
              <a:ext cx="1325880"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FF0000"/>
                  </a:solidFill>
                  <a:latin typeface="Arial"/>
                  <a:ea typeface="Arial"/>
                </a:rPr>
                <a:t>Perturbation</a:t>
              </a:r>
            </a:p>
          </p:txBody>
        </p:sp>
        <p:sp>
          <p:nvSpPr>
            <p:cNvPr id="389" name="Training"/>
            <p:cNvSpPr txBox="1"/>
            <p:nvPr/>
          </p:nvSpPr>
          <p:spPr>
            <a:xfrm>
              <a:off x="10094976" y="5648706"/>
              <a:ext cx="1060704" cy="269199"/>
            </a:xfrm>
            <a:prstGeom prst="rect">
              <a:avLst/>
            </a:prstGeom>
            <a:noFill/>
          </p:spPr>
          <p:txBody>
            <a:bodyPr wrap="none" lIns="0" rIns="0" tIns="0" bIns="0" anchor="t">
              <a:noAutofit/>
            </a:bodyPr>
            <a:lstStyle/>
            <a:p>
              <a:pPr algn="ctr">
                <a:spcBef>
                  <a:spcPts val="0"/>
                </a:spcBef>
                <a:spcAft>
                  <a:spcPts val="0"/>
                </a:spcAft>
              </a:pPr>
              <a:r>
                <a:rPr sz="1584" b="1" i="0" u="none">
                  <a:solidFill>
                    <a:srgbClr val="FF0000"/>
                  </a:solidFill>
                  <a:latin typeface="Arial"/>
                  <a:ea typeface="Arial"/>
                </a:rPr>
                <a:t>Training</a:t>
              </a:r>
            </a:p>
          </p:txBody>
        </p:sp>
        <p:sp>
          <p:nvSpPr>
            <p:cNvPr id="390" name="min"/>
            <p:cNvSpPr txBox="1"/>
            <p:nvPr/>
          </p:nvSpPr>
          <p:spPr>
            <a:xfrm>
              <a:off x="9445752" y="6197346"/>
              <a:ext cx="310896" cy="222382"/>
            </a:xfrm>
            <a:prstGeom prst="rect">
              <a:avLst/>
            </a:prstGeom>
            <a:noFill/>
          </p:spPr>
          <p:txBody>
            <a:bodyPr wrap="none" lIns="0" rIns="0" tIns="0" bIns="0" anchor="t">
              <a:noAutofit/>
            </a:bodyPr>
            <a:lstStyle/>
            <a:p>
              <a:pPr algn="l">
                <a:spcBef>
                  <a:spcPts val="0"/>
                </a:spcBef>
                <a:spcAft>
                  <a:spcPts val="0"/>
                </a:spcAft>
              </a:pPr>
              <a:r>
                <a:rPr sz="1368" b="0" i="0" u="none">
                  <a:solidFill>
                    <a:srgbClr val="080808"/>
                  </a:solidFill>
                  <a:latin typeface="Times New Roman"/>
                  <a:ea typeface="Times New Roman"/>
                </a:rPr>
                <a:t>min</a:t>
              </a:r>
            </a:p>
          </p:txBody>
        </p:sp>
        <p:sp>
          <p:nvSpPr>
            <p:cNvPr id="391" name="‖δ‖≤η"/>
            <p:cNvSpPr txBox="1"/>
            <p:nvPr/>
          </p:nvSpPr>
          <p:spPr>
            <a:xfrm>
              <a:off x="9436608" y="6361938"/>
              <a:ext cx="393192" cy="128748"/>
            </a:xfrm>
            <a:prstGeom prst="rect">
              <a:avLst/>
            </a:prstGeom>
            <a:noFill/>
          </p:spPr>
          <p:txBody>
            <a:bodyPr wrap="none" lIns="0" rIns="0" tIns="0" bIns="0" anchor="t">
              <a:noAutofit/>
            </a:bodyPr>
            <a:lstStyle/>
            <a:p>
              <a:pPr algn="l">
                <a:spcBef>
                  <a:spcPts val="0"/>
                </a:spcBef>
                <a:spcAft>
                  <a:spcPts val="0"/>
                </a:spcAft>
              </a:pPr>
              <a:r>
                <a:rPr sz="792" b="0" i="1" u="none">
                  <a:solidFill>
                    <a:srgbClr val="080808"/>
                  </a:solidFill>
                  <a:latin typeface="Times New Roman"/>
                  <a:ea typeface="Times New Roman"/>
                </a:rPr>
                <a:t>‖δ‖≤η</a:t>
              </a:r>
            </a:p>
          </p:txBody>
        </p:sp>
        <p:sp>
          <p:nvSpPr>
            <p:cNvPr id="392" name="𝒟"/>
            <p:cNvSpPr txBox="1"/>
            <p:nvPr/>
          </p:nvSpPr>
          <p:spPr>
            <a:xfrm>
              <a:off x="9756648" y="6197346"/>
              <a:ext cx="192024" cy="234086"/>
            </a:xfrm>
            <a:prstGeom prst="rect">
              <a:avLst/>
            </a:prstGeom>
            <a:noFill/>
          </p:spPr>
          <p:txBody>
            <a:bodyPr wrap="none" lIns="0" rIns="0" tIns="0" bIns="0" anchor="t">
              <a:noAutofit/>
            </a:bodyPr>
            <a:lstStyle/>
            <a:p>
              <a:pPr algn="l">
                <a:spcBef>
                  <a:spcPts val="0"/>
                </a:spcBef>
                <a:spcAft>
                  <a:spcPts val="0"/>
                </a:spcAft>
              </a:pPr>
              <a:r>
                <a:rPr sz="1439" b="0" i="0" u="none">
                  <a:solidFill>
                    <a:srgbClr val="080808"/>
                  </a:solidFill>
                  <a:latin typeface="Cambria Math"/>
                  <a:ea typeface="Latin Modern Math"/>
                </a:rPr>
                <a:t>𝒟</a:t>
              </a:r>
            </a:p>
          </p:txBody>
        </p:sp>
        <p:sp>
          <p:nvSpPr>
            <p:cNvPr id="393" name="("/>
            <p:cNvSpPr txBox="1"/>
            <p:nvPr/>
          </p:nvSpPr>
          <p:spPr>
            <a:xfrm>
              <a:off x="9902952" y="6142482"/>
              <a:ext cx="128016" cy="362834"/>
            </a:xfrm>
            <a:prstGeom prst="rect">
              <a:avLst/>
            </a:prstGeom>
            <a:noFill/>
          </p:spPr>
          <p:txBody>
            <a:bodyPr wrap="none" lIns="0" rIns="0" tIns="0" bIns="0" anchor="t">
              <a:noAutofit/>
            </a:bodyPr>
            <a:lstStyle/>
            <a:p>
              <a:pPr algn="l">
                <a:spcBef>
                  <a:spcPts val="0"/>
                </a:spcBef>
                <a:spcAft>
                  <a:spcPts val="0"/>
                </a:spcAft>
              </a:pPr>
              <a:r>
                <a:rPr sz="2232" b="0" i="0" u="none">
                  <a:solidFill>
                    <a:srgbClr val="080808"/>
                  </a:solidFill>
                  <a:latin typeface="Times New Roman"/>
                  <a:ea typeface="Times New Roman"/>
                </a:rPr>
                <a:t>(</a:t>
              </a:r>
            </a:p>
          </p:txBody>
        </p:sp>
        <p:sp>
          <p:nvSpPr>
            <p:cNvPr id="394" name="MLLM(v + δ, t), y"/>
            <p:cNvSpPr txBox="1"/>
            <p:nvPr/>
          </p:nvSpPr>
          <p:spPr>
            <a:xfrm>
              <a:off x="9985248" y="6197346"/>
              <a:ext cx="1353312" cy="210678"/>
            </a:xfrm>
            <a:prstGeom prst="rect">
              <a:avLst/>
            </a:prstGeom>
            <a:noFill/>
          </p:spPr>
          <p:txBody>
            <a:bodyPr wrap="none" lIns="0" rIns="0" tIns="0" bIns="0" anchor="t">
              <a:noAutofit/>
            </a:bodyPr>
            <a:lstStyle/>
            <a:p>
              <a:pPr algn="l">
                <a:spcBef>
                  <a:spcPts val="0"/>
                </a:spcBef>
                <a:spcAft>
                  <a:spcPts val="0"/>
                </a:spcAft>
              </a:pPr>
              <a:r>
                <a:rPr sz="1296" b="0" i="1" u="none">
                  <a:solidFill>
                    <a:srgbClr val="080808"/>
                  </a:solidFill>
                  <a:latin typeface="Times New Roman"/>
                  <a:ea typeface="Times New Roman"/>
                </a:rPr>
                <a:t>MLLM(v + δ, t), y</a:t>
              </a:r>
            </a:p>
          </p:txBody>
        </p:sp>
        <p:sp>
          <p:nvSpPr>
            <p:cNvPr id="395" name="tar"/>
            <p:cNvSpPr txBox="1"/>
            <p:nvPr/>
          </p:nvSpPr>
          <p:spPr>
            <a:xfrm>
              <a:off x="11183112" y="6288786"/>
              <a:ext cx="192024" cy="128748"/>
            </a:xfrm>
            <a:prstGeom prst="rect">
              <a:avLst/>
            </a:prstGeom>
            <a:noFill/>
          </p:spPr>
          <p:txBody>
            <a:bodyPr wrap="none" lIns="0" rIns="0" tIns="0" bIns="0" anchor="t">
              <a:noAutofit/>
            </a:bodyPr>
            <a:lstStyle/>
            <a:p>
              <a:pPr algn="l">
                <a:spcBef>
                  <a:spcPts val="0"/>
                </a:spcBef>
                <a:spcAft>
                  <a:spcPts val="0"/>
                </a:spcAft>
              </a:pPr>
              <a:r>
                <a:rPr sz="792" b="0" i="1" u="none">
                  <a:solidFill>
                    <a:srgbClr val="080808"/>
                  </a:solidFill>
                  <a:latin typeface="Times New Roman"/>
                  <a:ea typeface="Times New Roman"/>
                </a:rPr>
                <a:t>tar</a:t>
              </a:r>
            </a:p>
          </p:txBody>
        </p:sp>
        <p:sp>
          <p:nvSpPr>
            <p:cNvPr id="396" name=")"/>
            <p:cNvSpPr txBox="1"/>
            <p:nvPr/>
          </p:nvSpPr>
          <p:spPr>
            <a:xfrm>
              <a:off x="11365992" y="6142482"/>
              <a:ext cx="128016" cy="362834"/>
            </a:xfrm>
            <a:prstGeom prst="rect">
              <a:avLst/>
            </a:prstGeom>
            <a:noFill/>
          </p:spPr>
          <p:txBody>
            <a:bodyPr wrap="none" lIns="0" rIns="0" tIns="0" bIns="0" anchor="t">
              <a:noAutofit/>
            </a:bodyPr>
            <a:lstStyle/>
            <a:p>
              <a:pPr algn="l">
                <a:spcBef>
                  <a:spcPts val="0"/>
                </a:spcBef>
                <a:spcAft>
                  <a:spcPts val="0"/>
                </a:spcAft>
              </a:pPr>
              <a:r>
                <a:rPr sz="2232" b="0" i="0" u="none">
                  <a:solidFill>
                    <a:srgbClr val="080808"/>
                  </a:solidFill>
                  <a:latin typeface="Times New Roman"/>
                  <a:ea typeface="Times New Roman"/>
                </a:rPr>
                <a:t>)</a:t>
              </a:r>
            </a:p>
          </p:txBody>
        </p:sp>
        <p:sp>
          <p:nvSpPr>
            <p:cNvPr id="397" name="Training top branch"/>
            <p:cNvSpPr/>
            <p:nvPr/>
          </p:nvSpPr>
          <p:spPr>
            <a:xfrm>
              <a:off x="11649456" y="5870448"/>
              <a:ext cx="246888" cy="457200"/>
            </a:xfrm>
            <a:custGeom>
              <a:avLst/>
              <a:gdLst/>
              <a:ahLst/>
              <a:cxnLst/>
              <a:rect l="l" t="t" r="r" b="b"/>
              <a:pathLst>
                <a:path w="2700" h="5000">
                  <a:moveTo>
                    <a:pt x="0" y="5000"/>
                  </a:moveTo>
                  <a:lnTo>
                    <a:pt x="900" y="5000"/>
                  </a:lnTo>
                  <a:lnTo>
                    <a:pt x="900" y="0"/>
                  </a:lnTo>
                  <a:lnTo>
                    <a:pt x="2700" y="0"/>
                  </a:lnTo>
                </a:path>
              </a:pathLst>
            </a:custGeom>
            <a:noFill/>
            <a:ln w="19202">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Training bottom branch"/>
            <p:cNvSpPr/>
            <p:nvPr/>
          </p:nvSpPr>
          <p:spPr>
            <a:xfrm>
              <a:off x="11731752" y="6327648"/>
              <a:ext cx="164592" cy="438912"/>
            </a:xfrm>
            <a:custGeom>
              <a:avLst/>
              <a:gdLst/>
              <a:ahLst/>
              <a:cxnLst/>
              <a:rect l="l" t="t" r="r" b="b"/>
              <a:pathLst>
                <a:path w="1800" h="4800">
                  <a:moveTo>
                    <a:pt x="0" y="0"/>
                  </a:moveTo>
                  <a:lnTo>
                    <a:pt x="0" y="4800"/>
                  </a:lnTo>
                  <a:lnTo>
                    <a:pt x="1800" y="4800"/>
                  </a:lnTo>
                </a:path>
              </a:pathLst>
            </a:custGeom>
            <a:noFill/>
            <a:ln w="19202">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MLLM prediction"/>
            <p:cNvSpPr/>
            <p:nvPr/>
          </p:nvSpPr>
          <p:spPr>
            <a:xfrm>
              <a:off x="11896344" y="5687568"/>
              <a:ext cx="2020824" cy="530352"/>
            </a:xfrm>
            <a:prstGeom prst="roundRect">
              <a:avLst>
                <a:gd name="adj" fmla="val 17241"/>
              </a:avLst>
            </a:prstGeom>
            <a:solidFill>
              <a:srgbClr val="FFFFFF"/>
            </a:solidFill>
            <a:ln w="10058">
              <a:solidFill>
                <a:srgbClr val="1818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Target response"/>
            <p:cNvSpPr/>
            <p:nvPr/>
          </p:nvSpPr>
          <p:spPr>
            <a:xfrm>
              <a:off x="11896344" y="6327648"/>
              <a:ext cx="2020824" cy="566928"/>
            </a:xfrm>
            <a:prstGeom prst="roundRect">
              <a:avLst>
                <a:gd name="adj" fmla="val 17741"/>
              </a:avLst>
            </a:prstGeom>
            <a:solidFill>
              <a:srgbClr val="F8DAD4"/>
            </a:solidFill>
            <a:ln w="9144">
              <a:solidFill>
                <a:srgbClr val="DF43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MLLM(v + δ, t)"/>
            <p:cNvSpPr txBox="1"/>
            <p:nvPr/>
          </p:nvSpPr>
          <p:spPr>
            <a:xfrm>
              <a:off x="12042648" y="5785866"/>
              <a:ext cx="1801368" cy="327721"/>
            </a:xfrm>
            <a:prstGeom prst="rect">
              <a:avLst/>
            </a:prstGeom>
            <a:noFill/>
          </p:spPr>
          <p:txBody>
            <a:bodyPr wrap="none" lIns="0" rIns="0" tIns="0" bIns="0" anchor="t">
              <a:noAutofit/>
            </a:bodyPr>
            <a:lstStyle/>
            <a:p>
              <a:pPr algn="l">
                <a:spcBef>
                  <a:spcPts val="0"/>
                </a:spcBef>
                <a:spcAft>
                  <a:spcPts val="0"/>
                </a:spcAft>
              </a:pPr>
              <a:r>
                <a:rPr sz="2016" b="0" i="1" u="none">
                  <a:solidFill>
                    <a:srgbClr val="080808"/>
                  </a:solidFill>
                  <a:latin typeface="Times New Roman"/>
                  <a:ea typeface="Times New Roman"/>
                </a:rPr>
                <a:t>MLLM(v + δ, t)</a:t>
              </a:r>
            </a:p>
          </p:txBody>
        </p:sp>
        <p:sp>
          <p:nvSpPr>
            <p:cNvPr id="402" name="y"/>
            <p:cNvSpPr txBox="1"/>
            <p:nvPr/>
          </p:nvSpPr>
          <p:spPr>
            <a:xfrm>
              <a:off x="12188952" y="6444234"/>
              <a:ext cx="155448" cy="316017"/>
            </a:xfrm>
            <a:prstGeom prst="rect">
              <a:avLst/>
            </a:prstGeom>
            <a:noFill/>
          </p:spPr>
          <p:txBody>
            <a:bodyPr wrap="none" lIns="0" rIns="0" tIns="0" bIns="0" anchor="t">
              <a:noAutofit/>
            </a:bodyPr>
            <a:lstStyle/>
            <a:p>
              <a:pPr algn="l">
                <a:spcBef>
                  <a:spcPts val="0"/>
                </a:spcBef>
                <a:spcAft>
                  <a:spcPts val="0"/>
                </a:spcAft>
              </a:pPr>
              <a:r>
                <a:rPr sz="1943" b="0" i="1" u="none">
                  <a:solidFill>
                    <a:srgbClr val="080808"/>
                  </a:solidFill>
                  <a:latin typeface="Times New Roman"/>
                  <a:ea typeface="Times New Roman"/>
                </a:rPr>
                <a:t>y</a:t>
              </a:r>
            </a:p>
          </p:txBody>
        </p:sp>
        <p:sp>
          <p:nvSpPr>
            <p:cNvPr id="403" name="tar"/>
            <p:cNvSpPr txBox="1"/>
            <p:nvPr/>
          </p:nvSpPr>
          <p:spPr>
            <a:xfrm>
              <a:off x="12289536" y="6581394"/>
              <a:ext cx="237744" cy="187269"/>
            </a:xfrm>
            <a:prstGeom prst="rect">
              <a:avLst/>
            </a:prstGeom>
            <a:noFill/>
          </p:spPr>
          <p:txBody>
            <a:bodyPr wrap="none" lIns="0" rIns="0" tIns="0" bIns="0" anchor="t">
              <a:noAutofit/>
            </a:bodyPr>
            <a:lstStyle/>
            <a:p>
              <a:pPr algn="l">
                <a:spcBef>
                  <a:spcPts val="0"/>
                </a:spcBef>
                <a:spcAft>
                  <a:spcPts val="0"/>
                </a:spcAft>
              </a:pPr>
              <a:r>
                <a:rPr sz="1152" b="0" i="1" u="none">
                  <a:solidFill>
                    <a:srgbClr val="080808"/>
                  </a:solidFill>
                  <a:latin typeface="Times New Roman"/>
                  <a:ea typeface="Times New Roman"/>
                </a:rPr>
                <a:t>tar</a:t>
              </a:r>
            </a:p>
          </p:txBody>
        </p:sp>
        <p:sp>
          <p:nvSpPr>
            <p:cNvPr id="404" name=": I am sorry."/>
            <p:cNvSpPr txBox="1"/>
            <p:nvPr/>
          </p:nvSpPr>
          <p:spPr>
            <a:xfrm>
              <a:off x="12563856" y="6462522"/>
              <a:ext cx="1280160" cy="269199"/>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 I am sorry.</a:t>
              </a:r>
            </a:p>
          </p:txBody>
        </p:sp>
      </p:grpSp>
      <p:grpSp>
        <p:nvGrpSpPr>
          <p:cNvPr id="405" name="Any combination attack example"/>
          <p:cNvGrpSpPr/>
          <p:nvPr/>
        </p:nvGrpSpPr>
        <p:grpSpPr>
          <a:xfrm>
            <a:off x="14365224" y="180594"/>
            <a:ext cx="3081528" cy="6971386"/>
            <a:chOff x="14365224" y="180594"/>
            <a:chExt cx="3081528" cy="6971386"/>
          </a:xfrm>
        </p:grpSpPr>
        <p:sp>
          <p:nvSpPr>
            <p:cNvPr id="406" name="Any combination"/>
            <p:cNvSpPr txBox="1"/>
            <p:nvPr/>
          </p:nvSpPr>
          <p:spPr>
            <a:xfrm>
              <a:off x="14456664" y="180594"/>
              <a:ext cx="2834640"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Any combination</a:t>
              </a:r>
            </a:p>
          </p:txBody>
        </p:sp>
        <p:sp>
          <p:nvSpPr>
            <p:cNvPr id="407" name="of images and prompts"/>
            <p:cNvSpPr txBox="1"/>
            <p:nvPr/>
          </p:nvSpPr>
          <p:spPr>
            <a:xfrm>
              <a:off x="14456664" y="427482"/>
              <a:ext cx="2834640"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080808"/>
                  </a:solidFill>
                  <a:latin typeface="Arial"/>
                  <a:ea typeface="Arial"/>
                </a:rPr>
                <a:t>of images and prompts</a:t>
              </a:r>
            </a:p>
          </p:txBody>
        </p:sp>
        <p:sp>
          <p:nvSpPr>
            <p:cNvPr id="408" name="Prompt:"/>
            <p:cNvSpPr txBox="1"/>
            <p:nvPr/>
          </p:nvSpPr>
          <p:spPr>
            <a:xfrm>
              <a:off x="14474952" y="957834"/>
              <a:ext cx="1234440"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Prompt:</a:t>
              </a:r>
            </a:p>
          </p:txBody>
        </p:sp>
        <p:sp>
          <p:nvSpPr>
            <p:cNvPr id="409" name="What animal is in the toilet?"/>
            <p:cNvSpPr txBox="1"/>
            <p:nvPr/>
          </p:nvSpPr>
          <p:spPr>
            <a:xfrm>
              <a:off x="14465808" y="1241298"/>
              <a:ext cx="2926080" cy="304312"/>
            </a:xfrm>
            <a:prstGeom prst="rect">
              <a:avLst/>
            </a:prstGeom>
            <a:noFill/>
          </p:spPr>
          <p:txBody>
            <a:bodyPr wrap="none" lIns="0" rIns="0" tIns="0" bIns="0" anchor="t">
              <a:noAutofit/>
            </a:bodyPr>
            <a:lstStyle/>
            <a:p>
              <a:pPr algn="l">
                <a:spcBef>
                  <a:spcPts val="0"/>
                </a:spcBef>
                <a:spcAft>
                  <a:spcPts val="0"/>
                </a:spcAft>
              </a:pPr>
              <a:r>
                <a:rPr sz="1800" b="0" i="1" u="none">
                  <a:solidFill>
                    <a:srgbClr val="080808"/>
                  </a:solidFill>
                  <a:latin typeface="Arial"/>
                  <a:ea typeface="Arial"/>
                </a:rPr>
                <a:t>What animal is in the toilet?</a:t>
              </a:r>
            </a:p>
          </p:txBody>
        </p:sp>
        <p:sp>
          <p:nvSpPr>
            <p:cNvPr id="410" name="Prompt underline"/>
            <p:cNvSpPr/>
            <p:nvPr/>
          </p:nvSpPr>
          <p:spPr>
            <a:xfrm>
              <a:off x="14456664" y="1499616"/>
              <a:ext cx="2834640" cy="0"/>
            </a:xfrm>
            <a:custGeom>
              <a:avLst/>
              <a:gdLst/>
              <a:ahLst/>
              <a:cxnLst/>
              <a:rect l="l" t="t" r="r" b="b"/>
              <a:pathLst>
                <a:path w="31000" h="0">
                  <a:moveTo>
                    <a:pt x="0" y="0"/>
                  </a:moveTo>
                  <a:lnTo>
                    <a:pt x="31000" y="0"/>
                  </a:lnTo>
                </a:path>
              </a:pathLst>
            </a:custGeom>
            <a:noFill/>
            <a:ln w="15544">
              <a:solidFill>
                <a:srgbClr val="08080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Image:"/>
            <p:cNvSpPr txBox="1"/>
            <p:nvPr/>
          </p:nvSpPr>
          <p:spPr>
            <a:xfrm>
              <a:off x="14538960" y="1771650"/>
              <a:ext cx="996696"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Image:</a:t>
              </a:r>
            </a:p>
          </p:txBody>
        </p:sp>
        <p:pic>
          <p:nvPicPr>
            <p:cNvPr id="412" name="Universal perturbation texture" descr="Universal perturbation texture.png"/>
            <p:cNvPicPr>
              <a:picLocks noChangeAspect="1"/>
            </p:cNvPicPr>
            <p:nvPr/>
          </p:nvPicPr>
          <p:blipFill>
            <a:blip r:embed="rId6"/>
            <a:stretch>
              <a:fillRect/>
            </a:stretch>
          </p:blipFill>
          <p:spPr>
            <a:xfrm>
              <a:off x="14657832" y="2194560"/>
              <a:ext cx="978408" cy="978408"/>
            </a:xfrm>
            <a:prstGeom prst="rect">
              <a:avLst/>
            </a:prstGeom>
          </p:spPr>
        </p:pic>
        <p:sp>
          <p:nvSpPr>
            <p:cNvPr id="413" name="Universal perturbation outline"/>
            <p:cNvSpPr/>
            <p:nvPr/>
          </p:nvSpPr>
          <p:spPr>
            <a:xfrm>
              <a:off x="14648688" y="2185416"/>
              <a:ext cx="996696" cy="996696"/>
            </a:xfrm>
            <a:prstGeom prst="rect">
              <a:avLst/>
            </a:prstGeom>
            <a:noFill/>
            <a:ln w="18288">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
            <p:cNvSpPr txBox="1"/>
            <p:nvPr/>
          </p:nvSpPr>
          <p:spPr>
            <a:xfrm>
              <a:off x="15791688" y="2530602"/>
              <a:ext cx="201168" cy="280904"/>
            </a:xfrm>
            <a:prstGeom prst="rect">
              <a:avLst/>
            </a:prstGeom>
            <a:noFill/>
          </p:spPr>
          <p:txBody>
            <a:bodyPr wrap="none" lIns="0" rIns="0" tIns="0" bIns="0" anchor="t">
              <a:noAutofit/>
            </a:bodyPr>
            <a:lstStyle/>
            <a:p>
              <a:pPr algn="l">
                <a:spcBef>
                  <a:spcPts val="0"/>
                </a:spcBef>
                <a:spcAft>
                  <a:spcPts val="0"/>
                </a:spcAft>
              </a:pPr>
              <a:r>
                <a:rPr sz="1584" b="1" i="0" u="none">
                  <a:solidFill>
                    <a:srgbClr val="080808"/>
                  </a:solidFill>
                  <a:latin typeface="Arial"/>
                  <a:ea typeface="Arial"/>
                </a:rPr>
                <a:t>+</a:t>
              </a:r>
            </a:p>
          </p:txBody>
        </p:sp>
        <p:pic>
          <p:nvPicPr>
            <p:cNvPr id="415" name="Cat in toilet photo" descr="Cat in toilet photo.png"/>
            <p:cNvPicPr>
              <a:picLocks noChangeAspect="1"/>
            </p:cNvPicPr>
            <p:nvPr/>
          </p:nvPicPr>
          <p:blipFill>
            <a:blip r:embed="rId7"/>
            <a:stretch>
              <a:fillRect/>
            </a:stretch>
          </p:blipFill>
          <p:spPr>
            <a:xfrm>
              <a:off x="16047720" y="2194560"/>
              <a:ext cx="969264" cy="978408"/>
            </a:xfrm>
            <a:prstGeom prst="rect">
              <a:avLst/>
            </a:prstGeom>
          </p:spPr>
        </p:pic>
        <p:sp>
          <p:nvSpPr>
            <p:cNvPr id="416" name="Cat image green outline"/>
            <p:cNvSpPr/>
            <p:nvPr/>
          </p:nvSpPr>
          <p:spPr>
            <a:xfrm>
              <a:off x="16038576" y="2185416"/>
              <a:ext cx="987552" cy="996696"/>
            </a:xfrm>
            <a:prstGeom prst="rect">
              <a:avLst/>
            </a:prstGeom>
            <a:noFill/>
            <a:ln w="18288">
              <a:solidFill>
                <a:srgbClr val="00FF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Universal"/>
            <p:cNvSpPr txBox="1"/>
            <p:nvPr/>
          </p:nvSpPr>
          <p:spPr>
            <a:xfrm>
              <a:off x="14548104" y="3600450"/>
              <a:ext cx="1197864"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FF0000"/>
                  </a:solidFill>
                  <a:latin typeface="Arial"/>
                  <a:ea typeface="Arial"/>
                </a:rPr>
                <a:t>Universal</a:t>
              </a:r>
            </a:p>
          </p:txBody>
        </p:sp>
        <p:sp>
          <p:nvSpPr>
            <p:cNvPr id="418" name="Perturbation"/>
            <p:cNvSpPr txBox="1"/>
            <p:nvPr/>
          </p:nvSpPr>
          <p:spPr>
            <a:xfrm>
              <a:off x="14438376" y="3856482"/>
              <a:ext cx="1417320" cy="280904"/>
            </a:xfrm>
            <a:prstGeom prst="rect">
              <a:avLst/>
            </a:prstGeom>
            <a:noFill/>
          </p:spPr>
          <p:txBody>
            <a:bodyPr wrap="none" lIns="0" rIns="0" tIns="0" bIns="0" anchor="t">
              <a:noAutofit/>
            </a:bodyPr>
            <a:lstStyle/>
            <a:p>
              <a:pPr algn="ctr">
                <a:spcBef>
                  <a:spcPts val="0"/>
                </a:spcBef>
                <a:spcAft>
                  <a:spcPts val="0"/>
                </a:spcAft>
              </a:pPr>
              <a:r>
                <a:rPr sz="1584" b="1" i="0" u="none">
                  <a:solidFill>
                    <a:srgbClr val="FF0000"/>
                  </a:solidFill>
                  <a:latin typeface="Arial"/>
                  <a:ea typeface="Arial"/>
                </a:rPr>
                <a:t>Perturbation</a:t>
              </a:r>
            </a:p>
          </p:txBody>
        </p:sp>
        <p:sp>
          <p:nvSpPr>
            <p:cNvPr id="419" name="Attack process"/>
            <p:cNvSpPr txBox="1"/>
            <p:nvPr/>
          </p:nvSpPr>
          <p:spPr>
            <a:xfrm>
              <a:off x="15755112" y="3527298"/>
              <a:ext cx="1655064" cy="316017"/>
            </a:xfrm>
            <a:prstGeom prst="rect">
              <a:avLst/>
            </a:prstGeom>
            <a:noFill/>
          </p:spPr>
          <p:txBody>
            <a:bodyPr wrap="none" lIns="0" rIns="0" tIns="0" bIns="0" anchor="t">
              <a:noAutofit/>
            </a:bodyPr>
            <a:lstStyle/>
            <a:p>
              <a:pPr algn="l">
                <a:spcBef>
                  <a:spcPts val="0"/>
                </a:spcBef>
                <a:spcAft>
                  <a:spcPts val="0"/>
                </a:spcAft>
              </a:pPr>
              <a:r>
                <a:rPr sz="1800" b="1" i="0" u="sng">
                  <a:solidFill>
                    <a:srgbClr val="FF0000"/>
                  </a:solidFill>
                  <a:latin typeface="Arial"/>
                  <a:ea typeface="Arial"/>
                </a:rPr>
                <a:t>Attack process</a:t>
              </a:r>
            </a:p>
          </p:txBody>
        </p:sp>
        <p:sp>
          <p:nvSpPr>
            <p:cNvPr id="420" name="Attack process into MLLM stem"/>
            <p:cNvSpPr/>
            <p:nvPr/>
          </p:nvSpPr>
          <p:spPr>
            <a:xfrm>
              <a:off x="16495776" y="3831336"/>
              <a:ext cx="0" cy="603504"/>
            </a:xfrm>
            <a:custGeom>
              <a:avLst/>
              <a:gdLst/>
              <a:ahLst/>
              <a:cxnLst/>
              <a:rect l="l" t="t" r="r" b="b"/>
              <a:pathLst>
                <a:path w="0" h="6600">
                  <a:moveTo>
                    <a:pt x="0" y="0"/>
                  </a:moveTo>
                  <a:lnTo>
                    <a:pt x="0" y="6600"/>
                  </a:lnTo>
                </a:path>
              </a:pathLst>
            </a:custGeom>
            <a:noFill/>
            <a:ln w="27432">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Attack process into MLLM arrowhead"/>
            <p:cNvSpPr/>
            <p:nvPr/>
          </p:nvSpPr>
          <p:spPr>
            <a:xfrm>
              <a:off x="16404336" y="4261104"/>
              <a:ext cx="182880" cy="173736"/>
            </a:xfrm>
            <a:custGeom>
              <a:avLst/>
              <a:gdLst/>
              <a:ahLst/>
              <a:cxnLst/>
              <a:rect l="l" t="t" r="r" b="b"/>
              <a:pathLst>
                <a:path w="2000" h="1900">
                  <a:moveTo>
                    <a:pt x="1000" y="1900"/>
                  </a:moveTo>
                  <a:lnTo>
                    <a:pt x="0" y="0"/>
                  </a:lnTo>
                  <a:lnTo>
                    <a:pt x="1000" y="684"/>
                  </a:lnTo>
                  <a:lnTo>
                    <a:pt x="2000" y="0"/>
                  </a:lnTo>
                  <a:close/>
                </a:path>
              </a:pathLst>
            </a:custGeom>
            <a:solidFill>
              <a:srgbClr val="FF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Successful attack"/>
            <p:cNvSpPr txBox="1"/>
            <p:nvPr/>
          </p:nvSpPr>
          <p:spPr>
            <a:xfrm>
              <a:off x="14383512" y="5374386"/>
              <a:ext cx="2011680" cy="292608"/>
            </a:xfrm>
            <a:prstGeom prst="rect">
              <a:avLst/>
            </a:prstGeom>
            <a:noFill/>
          </p:spPr>
          <p:txBody>
            <a:bodyPr wrap="none" lIns="0" rIns="0" tIns="0" bIns="0" anchor="t">
              <a:noAutofit/>
            </a:bodyPr>
            <a:lstStyle/>
            <a:p>
              <a:pPr algn="l">
                <a:spcBef>
                  <a:spcPts val="0"/>
                </a:spcBef>
                <a:spcAft>
                  <a:spcPts val="0"/>
                </a:spcAft>
              </a:pPr>
              <a:r>
                <a:rPr sz="1728" b="1" i="0" u="none">
                  <a:solidFill>
                    <a:srgbClr val="FF0000"/>
                  </a:solidFill>
                  <a:latin typeface="Arial"/>
                  <a:ea typeface="Arial"/>
                </a:rPr>
                <a:t>Successful attack</a:t>
              </a:r>
            </a:p>
          </p:txBody>
        </p:sp>
        <p:sp>
          <p:nvSpPr>
            <p:cNvPr id="423" name="Successful attack arrow stem"/>
            <p:cNvSpPr/>
            <p:nvPr/>
          </p:nvSpPr>
          <p:spPr>
            <a:xfrm>
              <a:off x="16495776" y="5276088"/>
              <a:ext cx="0" cy="557784"/>
            </a:xfrm>
            <a:custGeom>
              <a:avLst/>
              <a:gdLst/>
              <a:ahLst/>
              <a:cxnLst/>
              <a:rect l="l" t="t" r="r" b="b"/>
              <a:pathLst>
                <a:path w="0" h="6100">
                  <a:moveTo>
                    <a:pt x="0" y="0"/>
                  </a:moveTo>
                  <a:lnTo>
                    <a:pt x="0" y="6100"/>
                  </a:lnTo>
                </a:path>
              </a:pathLst>
            </a:custGeom>
            <a:noFill/>
            <a:ln w="27432">
              <a:solidFill>
                <a:srgbClr val="FF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Successful attack arrow arrowhead"/>
            <p:cNvSpPr/>
            <p:nvPr/>
          </p:nvSpPr>
          <p:spPr>
            <a:xfrm>
              <a:off x="16404336" y="5660136"/>
              <a:ext cx="182880" cy="173736"/>
            </a:xfrm>
            <a:custGeom>
              <a:avLst/>
              <a:gdLst/>
              <a:ahLst/>
              <a:cxnLst/>
              <a:rect l="l" t="t" r="r" b="b"/>
              <a:pathLst>
                <a:path w="2000" h="1900">
                  <a:moveTo>
                    <a:pt x="1000" y="1900"/>
                  </a:moveTo>
                  <a:lnTo>
                    <a:pt x="0" y="0"/>
                  </a:lnTo>
                  <a:lnTo>
                    <a:pt x="1000" y="684"/>
                  </a:lnTo>
                  <a:lnTo>
                    <a:pt x="2000" y="0"/>
                  </a:lnTo>
                  <a:close/>
                </a:path>
              </a:pathLst>
            </a:custGeom>
            <a:solidFill>
              <a:srgbClr val="FF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5" name="Adversarial outcome icon" descr="Adversarial outcome icon.png"/>
            <p:cNvPicPr>
              <a:picLocks noChangeAspect="1"/>
            </p:cNvPicPr>
            <p:nvPr/>
          </p:nvPicPr>
          <p:blipFill>
            <a:blip r:embed="rId8"/>
            <a:stretch>
              <a:fillRect/>
            </a:stretch>
          </p:blipFill>
          <p:spPr>
            <a:xfrm>
              <a:off x="16733520" y="5321808"/>
              <a:ext cx="548640" cy="539496"/>
            </a:xfrm>
            <a:prstGeom prst="rect">
              <a:avLst/>
            </a:prstGeom>
          </p:spPr>
        </p:pic>
        <p:sp>
          <p:nvSpPr>
            <p:cNvPr id="426" name="Adversarial answer panel"/>
            <p:cNvSpPr/>
            <p:nvPr/>
          </p:nvSpPr>
          <p:spPr>
            <a:xfrm>
              <a:off x="14365224" y="5925312"/>
              <a:ext cx="3081528" cy="566928"/>
            </a:xfrm>
            <a:prstGeom prst="rect">
              <a:avLst/>
            </a:prstGeom>
            <a:solidFill>
              <a:srgbClr val="F3CDCB"/>
            </a:solidFill>
            <a:ln w="9144">
              <a:solidFill>
                <a:srgbClr val="D645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Original answer panel"/>
            <p:cNvSpPr/>
            <p:nvPr/>
          </p:nvSpPr>
          <p:spPr>
            <a:xfrm>
              <a:off x="14365224" y="6510528"/>
              <a:ext cx="3081528" cy="566928"/>
            </a:xfrm>
            <a:prstGeom prst="rect">
              <a:avLst/>
            </a:prstGeom>
            <a:solidFill>
              <a:srgbClr val="D6E5D0"/>
            </a:solidFill>
            <a:ln w="9144">
              <a:solidFill>
                <a:srgbClr val="66B34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Answer: I am sorry."/>
            <p:cNvSpPr txBox="1"/>
            <p:nvPr/>
          </p:nvSpPr>
          <p:spPr>
            <a:xfrm>
              <a:off x="14474952" y="6032754"/>
              <a:ext cx="2862072" cy="362834"/>
            </a:xfrm>
            <a:prstGeom prst="rect">
              <a:avLst/>
            </a:prstGeom>
            <a:noFill/>
          </p:spPr>
          <p:txBody>
            <a:bodyPr wrap="none" lIns="0" rIns="0" tIns="0" bIns="0" anchor="t">
              <a:noAutofit/>
            </a:bodyPr>
            <a:lstStyle/>
            <a:p>
              <a:pPr algn="ctr">
                <a:spcBef>
                  <a:spcPts val="0"/>
                </a:spcBef>
                <a:spcAft>
                  <a:spcPts val="0"/>
                </a:spcAft>
              </a:pPr>
              <a:r>
                <a:rPr sz="2160" b="1" i="0" u="none">
                  <a:solidFill>
                    <a:srgbClr val="080808"/>
                  </a:solidFill>
                  <a:latin typeface="Arial"/>
                  <a:ea typeface="Arial"/>
                </a:rPr>
                <a:t>Answer: I am sorry.</a:t>
              </a:r>
            </a:p>
          </p:txBody>
        </p:sp>
        <p:sp>
          <p:nvSpPr>
            <p:cNvPr id="429" name="Original answer:"/>
            <p:cNvSpPr txBox="1"/>
            <p:nvPr/>
          </p:nvSpPr>
          <p:spPr>
            <a:xfrm>
              <a:off x="14447520" y="6462522"/>
              <a:ext cx="2916936" cy="362834"/>
            </a:xfrm>
            <a:prstGeom prst="rect">
              <a:avLst/>
            </a:prstGeom>
            <a:noFill/>
          </p:spPr>
          <p:txBody>
            <a:bodyPr wrap="none" lIns="0" rIns="0" tIns="0" bIns="0" anchor="t">
              <a:noAutofit/>
            </a:bodyPr>
            <a:lstStyle/>
            <a:p>
              <a:pPr algn="ctr">
                <a:spcBef>
                  <a:spcPts val="0"/>
                </a:spcBef>
                <a:spcAft>
                  <a:spcPts val="0"/>
                </a:spcAft>
              </a:pPr>
              <a:r>
                <a:rPr sz="2160" b="1" i="0" u="none">
                  <a:solidFill>
                    <a:srgbClr val="080808"/>
                  </a:solidFill>
                  <a:latin typeface="Arial"/>
                  <a:ea typeface="Arial"/>
                </a:rPr>
                <a:t>Original answer:</a:t>
              </a:r>
            </a:p>
          </p:txBody>
        </p:sp>
        <p:sp>
          <p:nvSpPr>
            <p:cNvPr id="430" name="A cat."/>
            <p:cNvSpPr txBox="1"/>
            <p:nvPr/>
          </p:nvSpPr>
          <p:spPr>
            <a:xfrm>
              <a:off x="14465808" y="6800850"/>
              <a:ext cx="2880360" cy="351130"/>
            </a:xfrm>
            <a:prstGeom prst="rect">
              <a:avLst/>
            </a:prstGeom>
            <a:noFill/>
          </p:spPr>
          <p:txBody>
            <a:bodyPr wrap="none" lIns="0" rIns="0" tIns="0" bIns="0" anchor="t">
              <a:noAutofit/>
            </a:bodyPr>
            <a:lstStyle/>
            <a:p>
              <a:pPr algn="ctr">
                <a:spcBef>
                  <a:spcPts val="0"/>
                </a:spcBef>
                <a:spcAft>
                  <a:spcPts val="0"/>
                </a:spcAft>
              </a:pPr>
              <a:r>
                <a:rPr sz="2016" b="1" i="0" u="none">
                  <a:solidFill>
                    <a:srgbClr val="080808"/>
                  </a:solidFill>
                  <a:latin typeface="Arial"/>
                  <a:ea typeface="Arial"/>
                </a:rPr>
                <a:t>A cat.</a:t>
              </a:r>
            </a:p>
          </p:txBody>
        </p:sp>
      </p:grpSp>
      <p:grpSp>
        <p:nvGrpSpPr>
          <p:cNvPr id="431" name="Shared multimodal large language model"/>
          <p:cNvGrpSpPr/>
          <p:nvPr/>
        </p:nvGrpSpPr>
        <p:grpSpPr>
          <a:xfrm>
            <a:off x="137160" y="4572000"/>
            <a:ext cx="17364456" cy="676656"/>
            <a:chOff x="137160" y="4572000"/>
            <a:chExt cx="17364456" cy="676656"/>
          </a:xfrm>
        </p:grpSpPr>
        <p:sp>
          <p:nvSpPr>
            <p:cNvPr id="432" name="Shared MLLM bar"/>
            <p:cNvSpPr/>
            <p:nvPr/>
          </p:nvSpPr>
          <p:spPr>
            <a:xfrm>
              <a:off x="137160" y="4572000"/>
              <a:ext cx="17364456" cy="676656"/>
            </a:xfrm>
            <a:prstGeom prst="roundRect">
              <a:avLst>
                <a:gd name="adj" fmla="val 16216"/>
              </a:avLst>
            </a:prstGeom>
            <a:solidFill>
              <a:srgbClr val="FFF2CC"/>
            </a:solidFill>
            <a:ln w="9144">
              <a:solidFill>
                <a:srgbClr val="DBAA2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Multi-Modal Large Language Model  (MLLM)"/>
            <p:cNvSpPr txBox="1"/>
            <p:nvPr/>
          </p:nvSpPr>
          <p:spPr>
            <a:xfrm>
              <a:off x="5696712" y="4734306"/>
              <a:ext cx="6236208" cy="362834"/>
            </a:xfrm>
            <a:prstGeom prst="rect">
              <a:avLst/>
            </a:prstGeom>
            <a:noFill/>
          </p:spPr>
          <p:txBody>
            <a:bodyPr wrap="none" lIns="0" rIns="0" tIns="0" bIns="0" anchor="t">
              <a:noAutofit/>
            </a:bodyPr>
            <a:lstStyle/>
            <a:p>
              <a:pPr algn="ctr">
                <a:spcBef>
                  <a:spcPts val="0"/>
                </a:spcBef>
                <a:spcAft>
                  <a:spcPts val="0"/>
                </a:spcAft>
              </a:pPr>
              <a:r>
                <a:rPr sz="2160" b="1" i="0" u="none">
                  <a:solidFill>
                    <a:srgbClr val="080808"/>
                  </a:solidFill>
                  <a:latin typeface="Arial"/>
                  <a:ea typeface="Arial"/>
                </a:rPr>
                <a:t>Multi-Modal Large Language Model  (MLLM)</a:t>
              </a:r>
            </a:p>
          </p:txBody>
        </p:sp>
      </p:grpSp>
      <p:grpSp>
        <p:nvGrpSpPr>
          <p:cNvPr id="434" name="Stage captions"/>
          <p:cNvGrpSpPr/>
          <p:nvPr/>
        </p:nvGrpSpPr>
        <p:grpSpPr>
          <a:xfrm>
            <a:off x="137160" y="7139178"/>
            <a:ext cx="17245584" cy="292608"/>
            <a:chOff x="137160" y="7139178"/>
            <a:chExt cx="17245584" cy="292608"/>
          </a:xfrm>
        </p:grpSpPr>
        <p:sp>
          <p:nvSpPr>
            <p:cNvPr id="435" name="Image Distribution Approximation"/>
            <p:cNvSpPr txBox="1"/>
            <p:nvPr/>
          </p:nvSpPr>
          <p:spPr>
            <a:xfrm>
              <a:off x="137160" y="7139178"/>
              <a:ext cx="3575304" cy="292608"/>
            </a:xfrm>
            <a:prstGeom prst="rect">
              <a:avLst/>
            </a:prstGeom>
            <a:noFill/>
          </p:spPr>
          <p:txBody>
            <a:bodyPr wrap="none" lIns="0" rIns="0" tIns="0" bIns="0" anchor="t">
              <a:noAutofit/>
            </a:bodyPr>
            <a:lstStyle/>
            <a:p>
              <a:pPr algn="l">
                <a:spcBef>
                  <a:spcPts val="0"/>
                </a:spcBef>
                <a:spcAft>
                  <a:spcPts val="0"/>
                </a:spcAft>
              </a:pPr>
              <a:r>
                <a:rPr sz="1764" b="1" i="0" u="sng">
                  <a:solidFill>
                    <a:srgbClr val="6A90C7"/>
                  </a:solidFill>
                  <a:latin typeface="Arial"/>
                  <a:ea typeface="Arial"/>
                </a:rPr>
                <a:t>Image Distribution Approximation</a:t>
              </a:r>
            </a:p>
          </p:txBody>
        </p:sp>
        <p:sp>
          <p:nvSpPr>
            <p:cNvPr id="436" name="Prompt Distribution Approximation"/>
            <p:cNvSpPr txBox="1"/>
            <p:nvPr/>
          </p:nvSpPr>
          <p:spPr>
            <a:xfrm>
              <a:off x="4526280" y="7139178"/>
              <a:ext cx="3922776" cy="292608"/>
            </a:xfrm>
            <a:prstGeom prst="rect">
              <a:avLst/>
            </a:prstGeom>
            <a:noFill/>
          </p:spPr>
          <p:txBody>
            <a:bodyPr wrap="none" lIns="0" rIns="0" tIns="0" bIns="0" anchor="t">
              <a:noAutofit/>
            </a:bodyPr>
            <a:lstStyle/>
            <a:p>
              <a:pPr algn="l">
                <a:spcBef>
                  <a:spcPts val="0"/>
                </a:spcBef>
                <a:spcAft>
                  <a:spcPts val="0"/>
                </a:spcAft>
              </a:pPr>
              <a:r>
                <a:rPr sz="1764" b="1" i="0" u="sng">
                  <a:solidFill>
                    <a:srgbClr val="9971AC"/>
                  </a:solidFill>
                  <a:latin typeface="Arial"/>
                  <a:ea typeface="Arial"/>
                </a:rPr>
                <a:t>Prompt Distribution Approximation</a:t>
              </a:r>
            </a:p>
          </p:txBody>
        </p:sp>
        <p:sp>
          <p:nvSpPr>
            <p:cNvPr id="437" name="Distribution-Driven Perturbation Optimization via Monte Carlo Sampling"/>
            <p:cNvSpPr txBox="1"/>
            <p:nvPr/>
          </p:nvSpPr>
          <p:spPr>
            <a:xfrm>
              <a:off x="9564624" y="7139178"/>
              <a:ext cx="7818120" cy="292608"/>
            </a:xfrm>
            <a:prstGeom prst="rect">
              <a:avLst/>
            </a:prstGeom>
            <a:noFill/>
          </p:spPr>
          <p:txBody>
            <a:bodyPr wrap="none" lIns="0" rIns="0" tIns="0" bIns="0" anchor="t">
              <a:noAutofit/>
            </a:bodyPr>
            <a:lstStyle/>
            <a:p>
              <a:pPr algn="l">
                <a:spcBef>
                  <a:spcPts val="0"/>
                </a:spcBef>
                <a:spcAft>
                  <a:spcPts val="0"/>
                </a:spcAft>
              </a:pPr>
              <a:r>
                <a:rPr sz="1764" b="1" i="0" u="sng">
                  <a:solidFill>
                    <a:srgbClr val="080808"/>
                  </a:solidFill>
                  <a:latin typeface="Arial"/>
                  <a:ea typeface="Arial"/>
                </a:rPr>
                <a:t>Distribution-Driven Perturbation Optimization via Monte Carlo Sampling</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Fit the Distribution Cross-ImagePrompt Adversarial Attacks on Multimodal Large Language Models_diagram.jpg"/>
          <p:cNvPicPr>
            <a:picLocks noChangeAspect="1"/>
          </p:cNvPicPr>
          <p:nvPr/>
        </p:nvPicPr>
        <p:blipFill>
          <a:blip r:embed="rId2"/>
          <a:stretch>
            <a:fillRect/>
          </a:stretch>
        </p:blipFill>
        <p:spPr>
          <a:xfrm>
            <a:off x="0" y="0"/>
            <a:ext cx="17529048" cy="73974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 the Distribution — Editable Diagram Reconstruction</dc:title>
  <dc:subject>Image and prompt distributions; Laplace approximation; Monte Carlo perturbation optimization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