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16541496" cy="813816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Editable reconstruction of the user-supplied reference. Text, connectors, frames, brains, graph patches, and token cubes are native PowerPoint elements. The six domain thumbnails, seven noise tokens, and seven heatmap stacks are separately embedded raster assets, preserving the original data appearance.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 Id="rId11" Type="http://schemas.openxmlformats.org/officeDocument/2006/relationships/image" Target="../media/image10.png"/><Relationship Id="rId12" Type="http://schemas.openxmlformats.org/officeDocument/2006/relationships/image" Target="../media/image11.png"/><Relationship Id="rId13" Type="http://schemas.openxmlformats.org/officeDocument/2006/relationships/image" Target="../media/image12.png"/><Relationship Id="rId14" Type="http://schemas.openxmlformats.org/officeDocument/2006/relationships/image" Target="../media/image13.png"/><Relationship Id="rId15" Type="http://schemas.openxmlformats.org/officeDocument/2006/relationships/image" Target="../media/image14.png"/><Relationship Id="rId16" Type="http://schemas.openxmlformats.org/officeDocument/2006/relationships/image" Target="../media/image15.png"/><Relationship Id="rId17" Type="http://schemas.openxmlformats.org/officeDocument/2006/relationships/image" Target="../media/image16.png"/><Relationship Id="rId18" Type="http://schemas.openxmlformats.org/officeDocument/2006/relationships/image" Target="../media/image17.png"/><Relationship Id="rId19" Type="http://schemas.openxmlformats.org/officeDocument/2006/relationships/image" Target="../media/image18.png"/><Relationship Id="rId20" Type="http://schemas.openxmlformats.org/officeDocument/2006/relationships/image" Target="../media/image19.png"/><Relationship Id="rId21" Type="http://schemas.openxmlformats.org/officeDocument/2006/relationships/image" Target="../media/image20.png"/><Relationship Id="rId2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Datasets outer frame"/>
          <p:cNvSpPr/>
          <p:nvPr/>
        </p:nvSpPr>
        <p:spPr>
          <a:xfrm>
            <a:off x="109728" y="228600"/>
            <a:ext cx="4416552" cy="7333488"/>
          </a:xfrm>
          <a:prstGeom prst="roundRect">
            <a:avLst>
              <a:gd name="adj" fmla="val 5383"/>
            </a:avLst>
          </a:prstGeom>
          <a:solidFill>
            <a:srgbClr val="FFFFFF"/>
          </a:solidFill>
          <a:ln w="29261" cap="flat">
            <a:solidFill>
              <a:srgbClr val="000000"/>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3" name="Datasets dotted divider"/>
          <p:cNvSpPr/>
          <p:nvPr/>
        </p:nvSpPr>
        <p:spPr>
          <a:xfrm>
            <a:off x="118872" y="4197096"/>
            <a:ext cx="4398264" cy="914"/>
          </a:xfrm>
          <a:custGeom>
            <a:avLst/>
            <a:gdLst/>
            <a:ahLst/>
            <a:cxnLst/>
            <a:rect l="0" t="0" r="w" b="h"/>
            <a:pathLst>
              <a:path w="481000" h="100" fill="none" stroke="1" extrusionOk="0">
                <a:moveTo>
                  <a:pt x="0" y="0"/>
                </a:moveTo>
                <a:lnTo>
                  <a:pt x="481000" y="0"/>
                </a:lnTo>
              </a:path>
            </a:pathLst>
          </a:custGeom>
          <a:noFill/>
          <a:ln w="29261" cap="flat">
            <a:solidFill>
              <a:srgbClr val="000000"/>
            </a:solidFill>
            <a:round/>
            <a:custDash>
              <a:ds d="100000" sp="100000"/>
            </a:custDash>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4" name="Input branch"/>
          <p:cNvSpPr/>
          <p:nvPr/>
        </p:nvSpPr>
        <p:spPr>
          <a:xfrm>
            <a:off x="4526280" y="3895344"/>
            <a:ext cx="466344" cy="1243584"/>
          </a:xfrm>
          <a:custGeom>
            <a:avLst/>
            <a:gdLst/>
            <a:ahLst/>
            <a:cxnLst/>
            <a:rect l="0" t="0" r="w" b="h"/>
            <a:pathLst>
              <a:path w="51000" h="136000" fill="none" stroke="1" extrusionOk="0">
                <a:moveTo>
                  <a:pt x="0" y="0"/>
                </a:moveTo>
                <a:lnTo>
                  <a:pt x="51000" y="136000"/>
                </a:lnTo>
              </a:path>
            </a:pathLst>
          </a:custGeom>
          <a:noFill/>
          <a:ln w="29261" cap="flat">
            <a:solidFill>
              <a:srgbClr val="000000"/>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5" name="Patching input arrowhead"/>
          <p:cNvSpPr/>
          <p:nvPr/>
        </p:nvSpPr>
        <p:spPr>
          <a:xfrm>
            <a:off x="4892040" y="5038344"/>
            <a:ext cx="100584" cy="100584"/>
          </a:xfrm>
          <a:custGeom>
            <a:avLst/>
            <a:gdLst/>
            <a:ahLst/>
            <a:cxnLst/>
            <a:rect l="0" t="0" r="w" b="h"/>
            <a:pathLst>
              <a:path w="11000" h="11000" fill="norm" stroke="1" extrusionOk="0">
                <a:moveTo>
                  <a:pt x="11000" y="11000"/>
                </a:moveTo>
                <a:lnTo>
                  <a:pt x="0" y="2000"/>
                </a:lnTo>
                <a:lnTo>
                  <a:pt x="8000" y="0"/>
                </a:lnTo>
                <a:close/>
              </a:path>
            </a:pathLst>
          </a:custGeom>
          <a:solidFill>
            <a:srgbClr val="000000"/>
          </a:solidFill>
          <a:ln>
            <a:noFill/>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6" name="Data to noisy ST input shaft"/>
          <p:cNvSpPr/>
          <p:nvPr/>
        </p:nvSpPr>
        <p:spPr>
          <a:xfrm>
            <a:off x="4526280" y="6903720"/>
            <a:ext cx="466344" cy="914"/>
          </a:xfrm>
          <a:custGeom>
            <a:avLst/>
            <a:gdLst/>
            <a:ahLst/>
            <a:cxnLst/>
            <a:rect l="0" t="0" r="w" b="h"/>
            <a:pathLst>
              <a:path w="51000" h="100" fill="none" stroke="1" extrusionOk="0">
                <a:moveTo>
                  <a:pt x="0" y="0"/>
                </a:moveTo>
                <a:lnTo>
                  <a:pt x="51000" y="0"/>
                </a:lnTo>
              </a:path>
            </a:pathLst>
          </a:custGeom>
          <a:noFill/>
          <a:ln w="29261" cap="flat">
            <a:solidFill>
              <a:srgbClr val="000000"/>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7" name="Data to noisy ST input arrowhead"/>
          <p:cNvSpPr/>
          <p:nvPr/>
        </p:nvSpPr>
        <p:spPr>
          <a:xfrm>
            <a:off x="4873752" y="6847850"/>
            <a:ext cx="118872" cy="111740"/>
          </a:xfrm>
          <a:custGeom>
            <a:avLst/>
            <a:gdLst/>
            <a:ahLst/>
            <a:cxnLst/>
            <a:rect l="0" t="0" r="w" b="h"/>
            <a:pathLst>
              <a:path w="13000" h="12220" fill="norm" stroke="1" extrusionOk="0">
                <a:moveTo>
                  <a:pt x="13000" y="6110"/>
                </a:moveTo>
                <a:lnTo>
                  <a:pt x="0" y="12220"/>
                </a:lnTo>
                <a:lnTo>
                  <a:pt x="0" y="0"/>
                </a:lnTo>
                <a:close/>
              </a:path>
            </a:pathLst>
          </a:custGeom>
          <a:solidFill>
            <a:srgbClr val="000000"/>
          </a:solidFill>
          <a:ln>
            <a:noFill/>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8" name="Patching to transformer"/>
          <p:cNvSpPr/>
          <p:nvPr/>
        </p:nvSpPr>
        <p:spPr>
          <a:xfrm>
            <a:off x="6373368" y="3785616"/>
            <a:ext cx="914" cy="822960"/>
          </a:xfrm>
          <a:custGeom>
            <a:avLst/>
            <a:gdLst/>
            <a:ahLst/>
            <a:cxnLst/>
            <a:rect l="0" t="0" r="w" b="h"/>
            <a:pathLst>
              <a:path w="100" h="90000" fill="none" stroke="1" extrusionOk="0">
                <a:moveTo>
                  <a:pt x="0" y="90000"/>
                </a:moveTo>
                <a:lnTo>
                  <a:pt x="0" y="0"/>
                </a:lnTo>
              </a:path>
            </a:pathLst>
          </a:custGeom>
          <a:noFill/>
          <a:ln w="29261" cap="flat">
            <a:solidFill>
              <a:srgbClr val="000000"/>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9" name="Noisy data to patching"/>
          <p:cNvSpPr/>
          <p:nvPr/>
        </p:nvSpPr>
        <p:spPr>
          <a:xfrm>
            <a:off x="6373368" y="5724144"/>
            <a:ext cx="914" cy="630936"/>
          </a:xfrm>
          <a:custGeom>
            <a:avLst/>
            <a:gdLst/>
            <a:ahLst/>
            <a:cxnLst/>
            <a:rect l="0" t="0" r="w" b="h"/>
            <a:pathLst>
              <a:path w="100" h="69000" fill="none" stroke="1" extrusionOk="0">
                <a:moveTo>
                  <a:pt x="0" y="69000"/>
                </a:moveTo>
                <a:lnTo>
                  <a:pt x="0" y="0"/>
                </a:lnTo>
              </a:path>
            </a:pathLst>
          </a:custGeom>
          <a:noFill/>
          <a:ln w="29261" cap="flat">
            <a:solidFill>
              <a:srgbClr val="000000"/>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0" name="Timestep to embedding"/>
          <p:cNvSpPr/>
          <p:nvPr/>
        </p:nvSpPr>
        <p:spPr>
          <a:xfrm>
            <a:off x="9043416" y="5705856"/>
            <a:ext cx="914" cy="649224"/>
          </a:xfrm>
          <a:custGeom>
            <a:avLst/>
            <a:gdLst/>
            <a:ahLst/>
            <a:cxnLst/>
            <a:rect l="0" t="0" r="w" b="h"/>
            <a:pathLst>
              <a:path w="100" h="71000" fill="none" stroke="1" extrusionOk="0">
                <a:moveTo>
                  <a:pt x="0" y="71000"/>
                </a:moveTo>
                <a:lnTo>
                  <a:pt x="0" y="0"/>
                </a:lnTo>
              </a:path>
            </a:pathLst>
          </a:custGeom>
          <a:noFill/>
          <a:ln w="29261" cap="flat">
            <a:solidFill>
              <a:srgbClr val="000000"/>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1" name="Embedding to transformer"/>
          <p:cNvSpPr/>
          <p:nvPr/>
        </p:nvSpPr>
        <p:spPr>
          <a:xfrm>
            <a:off x="9043416" y="3785616"/>
            <a:ext cx="914" cy="813816"/>
          </a:xfrm>
          <a:custGeom>
            <a:avLst/>
            <a:gdLst/>
            <a:ahLst/>
            <a:cxnLst/>
            <a:rect l="0" t="0" r="w" b="h"/>
            <a:pathLst>
              <a:path w="100" h="89000" fill="none" stroke="1" extrusionOk="0">
                <a:moveTo>
                  <a:pt x="0" y="89000"/>
                </a:moveTo>
                <a:lnTo>
                  <a:pt x="0" y="0"/>
                </a:lnTo>
              </a:path>
            </a:pathLst>
          </a:custGeom>
          <a:noFill/>
          <a:ln w="29261" cap="flat">
            <a:solidFill>
              <a:srgbClr val="000000"/>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2" name="Concat to transformer input shaft"/>
          <p:cNvSpPr/>
          <p:nvPr/>
        </p:nvSpPr>
        <p:spPr>
          <a:xfrm>
            <a:off x="6373368" y="4178808"/>
            <a:ext cx="676656" cy="914"/>
          </a:xfrm>
          <a:custGeom>
            <a:avLst/>
            <a:gdLst/>
            <a:ahLst/>
            <a:cxnLst/>
            <a:rect l="0" t="0" r="w" b="h"/>
            <a:pathLst>
              <a:path w="74000" h="100" fill="none" stroke="1" extrusionOk="0">
                <a:moveTo>
                  <a:pt x="74000" y="0"/>
                </a:moveTo>
                <a:lnTo>
                  <a:pt x="0" y="0"/>
                </a:lnTo>
              </a:path>
            </a:pathLst>
          </a:custGeom>
          <a:noFill/>
          <a:ln w="29261" cap="flat">
            <a:solidFill>
              <a:srgbClr val="000000"/>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3" name="Concat to transformer input arrowhead"/>
          <p:cNvSpPr/>
          <p:nvPr/>
        </p:nvSpPr>
        <p:spPr>
          <a:xfrm>
            <a:off x="6373368" y="4122938"/>
            <a:ext cx="118872" cy="111740"/>
          </a:xfrm>
          <a:custGeom>
            <a:avLst/>
            <a:gdLst/>
            <a:ahLst/>
            <a:cxnLst/>
            <a:rect l="0" t="0" r="w" b="h"/>
            <a:pathLst>
              <a:path w="13000" h="12220" fill="norm" stroke="1" extrusionOk="0">
                <a:moveTo>
                  <a:pt x="0" y="6110"/>
                </a:moveTo>
                <a:lnTo>
                  <a:pt x="13000" y="0"/>
                </a:lnTo>
                <a:lnTo>
                  <a:pt x="13000" y="12220"/>
                </a:lnTo>
                <a:close/>
              </a:path>
            </a:pathLst>
          </a:custGeom>
          <a:solidFill>
            <a:srgbClr val="000000"/>
          </a:solidFill>
          <a:ln>
            <a:noFill/>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4" name="Prompt connection with bridge"/>
          <p:cNvSpPr/>
          <p:nvPr/>
        </p:nvSpPr>
        <p:spPr>
          <a:xfrm>
            <a:off x="8403336" y="2788920"/>
            <a:ext cx="2532888" cy="1399032"/>
          </a:xfrm>
          <a:custGeom>
            <a:avLst/>
            <a:gdLst/>
            <a:ahLst/>
            <a:cxnLst/>
            <a:rect l="0" t="0" r="w" b="h"/>
            <a:pathLst>
              <a:path w="277000" h="153000" fill="none" stroke="1" extrusionOk="0">
                <a:moveTo>
                  <a:pt x="277000" y="0"/>
                </a:moveTo>
                <a:lnTo>
                  <a:pt x="227000" y="0"/>
                </a:lnTo>
                <a:lnTo>
                  <a:pt x="227000" y="153000"/>
                </a:lnTo>
                <a:lnTo>
                  <a:pt x="87000" y="153000"/>
                </a:lnTo>
                <a:cubicBezTo>
                  <a:pt x="86000" y="131000"/>
                  <a:pt x="54000" y="130000"/>
                  <a:pt x="52000" y="153000"/>
                </a:cubicBezTo>
                <a:lnTo>
                  <a:pt x="0" y="153000"/>
                </a:lnTo>
              </a:path>
            </a:pathLst>
          </a:custGeom>
          <a:noFill/>
          <a:ln w="29261" cap="flat">
            <a:solidFill>
              <a:srgbClr val="000000"/>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5" name="Prompt concat arrowhead"/>
          <p:cNvSpPr/>
          <p:nvPr/>
        </p:nvSpPr>
        <p:spPr>
          <a:xfrm>
            <a:off x="8403336" y="4133088"/>
            <a:ext cx="118872" cy="109728"/>
          </a:xfrm>
          <a:custGeom>
            <a:avLst/>
            <a:gdLst/>
            <a:ahLst/>
            <a:cxnLst/>
            <a:rect l="0" t="0" r="w" b="h"/>
            <a:pathLst>
              <a:path w="13000" h="12000" fill="norm" stroke="1" extrusionOk="0">
                <a:moveTo>
                  <a:pt x="0" y="6000"/>
                </a:moveTo>
                <a:lnTo>
                  <a:pt x="13000" y="0"/>
                </a:lnTo>
                <a:lnTo>
                  <a:pt x="13000" y="12000"/>
                </a:lnTo>
                <a:close/>
              </a:path>
            </a:pathLst>
          </a:custGeom>
          <a:solidFill>
            <a:srgbClr val="000000"/>
          </a:solidFill>
          <a:ln>
            <a:noFill/>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6" name="Mask connection with bridge"/>
          <p:cNvSpPr/>
          <p:nvPr/>
        </p:nvSpPr>
        <p:spPr>
          <a:xfrm>
            <a:off x="6382512" y="5907024"/>
            <a:ext cx="4983480" cy="201168"/>
          </a:xfrm>
          <a:custGeom>
            <a:avLst/>
            <a:gdLst/>
            <a:ahLst/>
            <a:cxnLst/>
            <a:rect l="0" t="0" r="w" b="h"/>
            <a:pathLst>
              <a:path w="545000" h="22000" fill="none" stroke="1" extrusionOk="0">
                <a:moveTo>
                  <a:pt x="545000" y="22000"/>
                </a:moveTo>
                <a:lnTo>
                  <a:pt x="309000" y="22000"/>
                </a:lnTo>
                <a:cubicBezTo>
                  <a:pt x="308000" y="0"/>
                  <a:pt x="276000" y="0"/>
                  <a:pt x="275000" y="22000"/>
                </a:cubicBezTo>
                <a:lnTo>
                  <a:pt x="0" y="22000"/>
                </a:lnTo>
              </a:path>
            </a:pathLst>
          </a:custGeom>
          <a:noFill/>
          <a:ln w="29261" cap="flat">
            <a:solidFill>
              <a:srgbClr val="000000"/>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7" name="Mask input arrowhead"/>
          <p:cNvSpPr/>
          <p:nvPr/>
        </p:nvSpPr>
        <p:spPr>
          <a:xfrm>
            <a:off x="6382512" y="6053328"/>
            <a:ext cx="118872" cy="109728"/>
          </a:xfrm>
          <a:custGeom>
            <a:avLst/>
            <a:gdLst/>
            <a:ahLst/>
            <a:cxnLst/>
            <a:rect l="0" t="0" r="w" b="h"/>
            <a:pathLst>
              <a:path w="13000" h="12000" fill="norm" stroke="1" extrusionOk="0">
                <a:moveTo>
                  <a:pt x="0" y="6000"/>
                </a:moveTo>
                <a:lnTo>
                  <a:pt x="13000" y="0"/>
                </a:lnTo>
                <a:lnTo>
                  <a:pt x="13000" y="12000"/>
                </a:lnTo>
                <a:close/>
              </a:path>
            </a:pathLst>
          </a:custGeom>
          <a:solidFill>
            <a:srgbClr val="000000"/>
          </a:solidFill>
          <a:ln>
            <a:noFill/>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8" name="Output token connector 1"/>
          <p:cNvSpPr/>
          <p:nvPr/>
        </p:nvSpPr>
        <p:spPr>
          <a:xfrm>
            <a:off x="5504688" y="2176272"/>
            <a:ext cx="914" cy="292608"/>
          </a:xfrm>
          <a:custGeom>
            <a:avLst/>
            <a:gdLst/>
            <a:ahLst/>
            <a:cxnLst/>
            <a:rect l="0" t="0" r="w" b="h"/>
            <a:pathLst>
              <a:path w="100" h="32000" fill="none" stroke="1" extrusionOk="0">
                <a:moveTo>
                  <a:pt x="0" y="32000"/>
                </a:moveTo>
                <a:lnTo>
                  <a:pt x="0" y="0"/>
                </a:lnTo>
              </a:path>
            </a:pathLst>
          </a:custGeom>
          <a:noFill/>
          <a:ln w="29261" cap="flat">
            <a:solidFill>
              <a:srgbClr val="000000"/>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9" name="Output token connector 2"/>
          <p:cNvSpPr/>
          <p:nvPr/>
        </p:nvSpPr>
        <p:spPr>
          <a:xfrm>
            <a:off x="6172200" y="2176272"/>
            <a:ext cx="914" cy="292608"/>
          </a:xfrm>
          <a:custGeom>
            <a:avLst/>
            <a:gdLst/>
            <a:ahLst/>
            <a:cxnLst/>
            <a:rect l="0" t="0" r="w" b="h"/>
            <a:pathLst>
              <a:path w="100" h="32000" fill="none" stroke="1" extrusionOk="0">
                <a:moveTo>
                  <a:pt x="0" y="32000"/>
                </a:moveTo>
                <a:lnTo>
                  <a:pt x="0" y="0"/>
                </a:lnTo>
              </a:path>
            </a:pathLst>
          </a:custGeom>
          <a:noFill/>
          <a:ln w="29261" cap="flat">
            <a:solidFill>
              <a:srgbClr val="000000"/>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20" name="Output token connector 3"/>
          <p:cNvSpPr/>
          <p:nvPr/>
        </p:nvSpPr>
        <p:spPr>
          <a:xfrm>
            <a:off x="6839712" y="2176272"/>
            <a:ext cx="914" cy="292608"/>
          </a:xfrm>
          <a:custGeom>
            <a:avLst/>
            <a:gdLst/>
            <a:ahLst/>
            <a:cxnLst/>
            <a:rect l="0" t="0" r="w" b="h"/>
            <a:pathLst>
              <a:path w="100" h="32000" fill="none" stroke="1" extrusionOk="0">
                <a:moveTo>
                  <a:pt x="0" y="32000"/>
                </a:moveTo>
                <a:lnTo>
                  <a:pt x="0" y="0"/>
                </a:lnTo>
              </a:path>
            </a:pathLst>
          </a:custGeom>
          <a:noFill/>
          <a:ln w="29261" cap="flat">
            <a:solidFill>
              <a:srgbClr val="000000"/>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21" name="Output token connector 4"/>
          <p:cNvSpPr/>
          <p:nvPr/>
        </p:nvSpPr>
        <p:spPr>
          <a:xfrm>
            <a:off x="7507224" y="2176272"/>
            <a:ext cx="914" cy="292608"/>
          </a:xfrm>
          <a:custGeom>
            <a:avLst/>
            <a:gdLst/>
            <a:ahLst/>
            <a:cxnLst/>
            <a:rect l="0" t="0" r="w" b="h"/>
            <a:pathLst>
              <a:path w="100" h="32000" fill="none" stroke="1" extrusionOk="0">
                <a:moveTo>
                  <a:pt x="0" y="32000"/>
                </a:moveTo>
                <a:lnTo>
                  <a:pt x="0" y="0"/>
                </a:lnTo>
              </a:path>
            </a:pathLst>
          </a:custGeom>
          <a:noFill/>
          <a:ln w="29261" cap="flat">
            <a:solidFill>
              <a:srgbClr val="000000"/>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22" name="Output token connector 5"/>
          <p:cNvSpPr/>
          <p:nvPr/>
        </p:nvSpPr>
        <p:spPr>
          <a:xfrm>
            <a:off x="8183880" y="2176272"/>
            <a:ext cx="914" cy="292608"/>
          </a:xfrm>
          <a:custGeom>
            <a:avLst/>
            <a:gdLst/>
            <a:ahLst/>
            <a:cxnLst/>
            <a:rect l="0" t="0" r="w" b="h"/>
            <a:pathLst>
              <a:path w="100" h="32000" fill="none" stroke="1" extrusionOk="0">
                <a:moveTo>
                  <a:pt x="0" y="32000"/>
                </a:moveTo>
                <a:lnTo>
                  <a:pt x="0" y="0"/>
                </a:lnTo>
              </a:path>
            </a:pathLst>
          </a:custGeom>
          <a:noFill/>
          <a:ln w="29261" cap="flat">
            <a:solidFill>
              <a:srgbClr val="000000"/>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23" name="Output token connector 6"/>
          <p:cNvSpPr/>
          <p:nvPr/>
        </p:nvSpPr>
        <p:spPr>
          <a:xfrm>
            <a:off x="8842248" y="2176272"/>
            <a:ext cx="914" cy="292608"/>
          </a:xfrm>
          <a:custGeom>
            <a:avLst/>
            <a:gdLst/>
            <a:ahLst/>
            <a:cxnLst/>
            <a:rect l="0" t="0" r="w" b="h"/>
            <a:pathLst>
              <a:path w="100" h="32000" fill="none" stroke="1" extrusionOk="0">
                <a:moveTo>
                  <a:pt x="0" y="32000"/>
                </a:moveTo>
                <a:lnTo>
                  <a:pt x="0" y="0"/>
                </a:lnTo>
              </a:path>
            </a:pathLst>
          </a:custGeom>
          <a:noFill/>
          <a:ln w="29261" cap="flat">
            <a:solidFill>
              <a:srgbClr val="000000"/>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24" name="Output token connector 7"/>
          <p:cNvSpPr/>
          <p:nvPr/>
        </p:nvSpPr>
        <p:spPr>
          <a:xfrm>
            <a:off x="9518904" y="2176272"/>
            <a:ext cx="914" cy="292608"/>
          </a:xfrm>
          <a:custGeom>
            <a:avLst/>
            <a:gdLst/>
            <a:ahLst/>
            <a:cxnLst/>
            <a:rect l="0" t="0" r="w" b="h"/>
            <a:pathLst>
              <a:path w="100" h="32000" fill="none" stroke="1" extrusionOk="0">
                <a:moveTo>
                  <a:pt x="0" y="32000"/>
                </a:moveTo>
                <a:lnTo>
                  <a:pt x="0" y="0"/>
                </a:lnTo>
              </a:path>
            </a:pathLst>
          </a:custGeom>
          <a:noFill/>
          <a:ln w="29261" cap="flat">
            <a:solidFill>
              <a:srgbClr val="000000"/>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25" name="Transformer output stem"/>
          <p:cNvSpPr/>
          <p:nvPr/>
        </p:nvSpPr>
        <p:spPr>
          <a:xfrm>
            <a:off x="7498080" y="1408176"/>
            <a:ext cx="914" cy="283464"/>
          </a:xfrm>
          <a:custGeom>
            <a:avLst/>
            <a:gdLst/>
            <a:ahLst/>
            <a:cxnLst/>
            <a:rect l="0" t="0" r="w" b="h"/>
            <a:pathLst>
              <a:path w="100" h="31000" fill="none" stroke="1" extrusionOk="0">
                <a:moveTo>
                  <a:pt x="0" y="31000"/>
                </a:moveTo>
                <a:lnTo>
                  <a:pt x="0" y="0"/>
                </a:lnTo>
              </a:path>
            </a:pathLst>
          </a:custGeom>
          <a:noFill/>
          <a:ln w="29261" cap="flat">
            <a:solidFill>
              <a:srgbClr val="000000"/>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26" name="Final output arrow shaft"/>
          <p:cNvSpPr/>
          <p:nvPr/>
        </p:nvSpPr>
        <p:spPr>
          <a:xfrm>
            <a:off x="7488936" y="512064"/>
            <a:ext cx="914" cy="384048"/>
          </a:xfrm>
          <a:custGeom>
            <a:avLst/>
            <a:gdLst/>
            <a:ahLst/>
            <a:cxnLst/>
            <a:rect l="0" t="0" r="w" b="h"/>
            <a:pathLst>
              <a:path w="100" h="42000" fill="none" stroke="1" extrusionOk="0">
                <a:moveTo>
                  <a:pt x="0" y="42000"/>
                </a:moveTo>
                <a:lnTo>
                  <a:pt x="0" y="0"/>
                </a:lnTo>
              </a:path>
            </a:pathLst>
          </a:custGeom>
          <a:noFill/>
          <a:ln w="29261" cap="flat">
            <a:solidFill>
              <a:srgbClr val="000000"/>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27" name="Final output arrow arrowhead"/>
          <p:cNvSpPr/>
          <p:nvPr/>
        </p:nvSpPr>
        <p:spPr>
          <a:xfrm>
            <a:off x="7433066" y="512064"/>
            <a:ext cx="111740" cy="118872"/>
          </a:xfrm>
          <a:custGeom>
            <a:avLst/>
            <a:gdLst/>
            <a:ahLst/>
            <a:cxnLst/>
            <a:rect l="0" t="0" r="w" b="h"/>
            <a:pathLst>
              <a:path w="12220" h="13000" fill="norm" stroke="1" extrusionOk="0">
                <a:moveTo>
                  <a:pt x="6110" y="0"/>
                </a:moveTo>
                <a:lnTo>
                  <a:pt x="12220" y="13000"/>
                </a:lnTo>
                <a:lnTo>
                  <a:pt x="0" y="13000"/>
                </a:lnTo>
                <a:close/>
              </a:path>
            </a:pathLst>
          </a:custGeom>
          <a:solidFill>
            <a:srgbClr val="000000"/>
          </a:solidFill>
          <a:ln>
            <a:noFill/>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grpSp>
        <p:nvGrpSpPr>
          <p:cNvPr id="28" name="Urban Diffusion Transformer gradient and frame"/>
          <p:cNvGrpSpPr/>
          <p:nvPr/>
        </p:nvGrpSpPr>
        <p:grpSpPr>
          <a:xfrm>
            <a:off x="4992624" y="2468880"/>
            <a:ext cx="5120640" cy="1316736"/>
            <a:chOff x="4992624" y="2468880"/>
            <a:chExt cx="5120640" cy="1316736"/>
          </a:xfrm>
        </p:grpSpPr>
        <p:sp>
          <p:nvSpPr>
            <p:cNvPr id="29" name="Urban Diffusion Transformer gradient band 1"/>
            <p:cNvSpPr/>
            <p:nvPr/>
          </p:nvSpPr>
          <p:spPr>
            <a:xfrm>
              <a:off x="4992624" y="2468880"/>
              <a:ext cx="5120640" cy="460858"/>
            </a:xfrm>
            <a:custGeom>
              <a:avLst/>
              <a:gdLst/>
              <a:ahLst/>
              <a:cxnLst/>
              <a:rect l="0" t="0" r="w" b="h"/>
              <a:pathLst>
                <a:path w="560000" h="50400" fill="norm" stroke="1" extrusionOk="0">
                  <a:moveTo>
                    <a:pt x="21000" y="0"/>
                  </a:moveTo>
                  <a:lnTo>
                    <a:pt x="539000" y="0"/>
                  </a:lnTo>
                  <a:cubicBezTo>
                    <a:pt x="550598" y="0"/>
                    <a:pt x="560000" y="9402"/>
                    <a:pt x="560000" y="21000"/>
                  </a:cubicBezTo>
                  <a:lnTo>
                    <a:pt x="560000" y="50400"/>
                  </a:lnTo>
                  <a:lnTo>
                    <a:pt x="0" y="50400"/>
                  </a:lnTo>
                  <a:lnTo>
                    <a:pt x="0" y="21000"/>
                  </a:lnTo>
                  <a:cubicBezTo>
                    <a:pt x="0" y="9402"/>
                    <a:pt x="9402" y="0"/>
                    <a:pt x="21000" y="0"/>
                  </a:cubicBezTo>
                  <a:close/>
                </a:path>
              </a:pathLst>
            </a:custGeom>
            <a:gradFill rotWithShape="1">
              <a:gsLst>
                <a:gs pos="0">
                  <a:srgbClr val="c9fdd9"/>
                </a:gs>
                <a:gs pos="100000">
                  <a:srgbClr val="ebe3a2"/>
                </a:gs>
              </a:gsLst>
              <a:lin ang="5400000" scaled="1"/>
              <a:tileRect/>
            </a:gradFill>
            <a:ln>
              <a:noFill/>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30" name="Urban Diffusion Transformer gradient band 2"/>
            <p:cNvSpPr/>
            <p:nvPr/>
          </p:nvSpPr>
          <p:spPr>
            <a:xfrm>
              <a:off x="4992624" y="2929738"/>
              <a:ext cx="5120640" cy="263347"/>
            </a:xfrm>
            <a:custGeom>
              <a:avLst/>
              <a:gdLst/>
              <a:ahLst/>
              <a:cxnLst/>
              <a:rect l="0" t="0" r="w" b="h"/>
              <a:pathLst>
                <a:path w="560000" h="28800" fill="norm" stroke="1" extrusionOk="0">
                  <a:moveTo>
                    <a:pt x="0" y="0"/>
                  </a:moveTo>
                  <a:lnTo>
                    <a:pt x="560000" y="0"/>
                  </a:lnTo>
                  <a:lnTo>
                    <a:pt x="560000" y="28800"/>
                  </a:lnTo>
                  <a:lnTo>
                    <a:pt x="0" y="28800"/>
                  </a:lnTo>
                  <a:close/>
                </a:path>
              </a:pathLst>
            </a:custGeom>
            <a:gradFill rotWithShape="1">
              <a:gsLst>
                <a:gs pos="0">
                  <a:srgbClr val="ebe3a2"/>
                </a:gs>
                <a:gs pos="100000">
                  <a:srgbClr val="fbd187"/>
                </a:gs>
              </a:gsLst>
              <a:lin ang="5400000" scaled="1"/>
              <a:tileRect/>
            </a:gradFill>
            <a:ln>
              <a:noFill/>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31" name="Urban Diffusion Transformer gradient band 3"/>
            <p:cNvSpPr/>
            <p:nvPr/>
          </p:nvSpPr>
          <p:spPr>
            <a:xfrm>
              <a:off x="4992624" y="3193085"/>
              <a:ext cx="5120640" cy="592531"/>
            </a:xfrm>
            <a:custGeom>
              <a:avLst/>
              <a:gdLst/>
              <a:ahLst/>
              <a:cxnLst/>
              <a:rect l="0" t="0" r="w" b="h"/>
              <a:pathLst>
                <a:path w="560000" h="64800" fill="norm" stroke="1" extrusionOk="0">
                  <a:moveTo>
                    <a:pt x="0" y="0"/>
                  </a:moveTo>
                  <a:lnTo>
                    <a:pt x="560000" y="0"/>
                  </a:lnTo>
                  <a:lnTo>
                    <a:pt x="560000" y="43800"/>
                  </a:lnTo>
                  <a:cubicBezTo>
                    <a:pt x="560000" y="55398"/>
                    <a:pt x="550598" y="64800"/>
                    <a:pt x="539000" y="64800"/>
                  </a:cubicBezTo>
                  <a:lnTo>
                    <a:pt x="21000" y="64800"/>
                  </a:lnTo>
                  <a:cubicBezTo>
                    <a:pt x="9402" y="64800"/>
                    <a:pt x="0" y="55398"/>
                    <a:pt x="0" y="43800"/>
                  </a:cubicBezTo>
                  <a:close/>
                </a:path>
              </a:pathLst>
            </a:custGeom>
            <a:gradFill rotWithShape="1">
              <a:gsLst>
                <a:gs pos="0">
                  <a:srgbClr val="fbd187"/>
                </a:gs>
                <a:gs pos="100000">
                  <a:srgbClr val="f77e7c"/>
                </a:gs>
              </a:gsLst>
              <a:lin ang="5400000" scaled="1"/>
              <a:tileRect/>
            </a:gradFill>
            <a:ln>
              <a:noFill/>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32" name="Urban Diffusion Transformer editable outline"/>
            <p:cNvSpPr/>
            <p:nvPr/>
          </p:nvSpPr>
          <p:spPr>
            <a:xfrm>
              <a:off x="4992624" y="2468880"/>
              <a:ext cx="5120640" cy="1316736"/>
            </a:xfrm>
            <a:prstGeom prst="roundRect">
              <a:avLst>
                <a:gd name="adj" fmla="val 14583"/>
              </a:avLst>
            </a:prstGeom>
            <a:noFill/>
            <a:ln w="29261" cap="flat">
              <a:solidFill>
                <a:srgbClr val="000000"/>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grpSp>
      <p:sp>
        <p:nvSpPr>
          <p:cNvPr id="33" name="Reshape"/>
          <p:cNvSpPr/>
          <p:nvPr/>
        </p:nvSpPr>
        <p:spPr>
          <a:xfrm>
            <a:off x="5120640" y="896112"/>
            <a:ext cx="4727448" cy="512064"/>
          </a:xfrm>
          <a:prstGeom prst="roundRect">
            <a:avLst>
              <a:gd name="adj" fmla="val 12500"/>
            </a:avLst>
          </a:prstGeom>
          <a:solidFill>
            <a:srgbClr val="ECECEC"/>
          </a:solidFill>
          <a:ln w="29261" cap="flat">
            <a:solidFill>
              <a:srgbClr val="000000"/>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34" name="Spatio-temporal patching"/>
          <p:cNvSpPr/>
          <p:nvPr/>
        </p:nvSpPr>
        <p:spPr>
          <a:xfrm>
            <a:off x="4992624" y="4608576"/>
            <a:ext cx="2761488" cy="1115568"/>
          </a:xfrm>
          <a:prstGeom prst="roundRect">
            <a:avLst>
              <a:gd name="adj" fmla="val 12295"/>
            </a:avLst>
          </a:prstGeom>
          <a:solidFill>
            <a:srgbClr val="FFFFFF"/>
          </a:solidFill>
          <a:ln w="29261" cap="flat">
            <a:solidFill>
              <a:srgbClr val="000000"/>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35" name="Noisy ST data"/>
          <p:cNvSpPr/>
          <p:nvPr/>
        </p:nvSpPr>
        <p:spPr>
          <a:xfrm>
            <a:off x="4992624" y="6355080"/>
            <a:ext cx="2761488" cy="1106424"/>
          </a:xfrm>
          <a:prstGeom prst="roundRect">
            <a:avLst>
              <a:gd name="adj" fmla="val 12396"/>
            </a:avLst>
          </a:prstGeom>
          <a:solidFill>
            <a:srgbClr val="FFFFFF"/>
          </a:solidFill>
          <a:ln w="29261" cap="flat">
            <a:solidFill>
              <a:srgbClr val="000000"/>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36" name="Embedding layer"/>
          <p:cNvSpPr/>
          <p:nvPr/>
        </p:nvSpPr>
        <p:spPr>
          <a:xfrm>
            <a:off x="7982712" y="4590288"/>
            <a:ext cx="2112264" cy="1106424"/>
          </a:xfrm>
          <a:prstGeom prst="roundRect">
            <a:avLst>
              <a:gd name="adj" fmla="val 12396"/>
            </a:avLst>
          </a:prstGeom>
          <a:solidFill>
            <a:srgbClr val="ECECEC"/>
          </a:solidFill>
          <a:ln w="29261" cap="flat">
            <a:solidFill>
              <a:srgbClr val="000000"/>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37" name="Timestep t"/>
          <p:cNvSpPr/>
          <p:nvPr/>
        </p:nvSpPr>
        <p:spPr>
          <a:xfrm>
            <a:off x="8074152" y="6355080"/>
            <a:ext cx="1929384" cy="1106424"/>
          </a:xfrm>
          <a:prstGeom prst="roundRect">
            <a:avLst>
              <a:gd name="adj" fmla="val 12396"/>
            </a:avLst>
          </a:prstGeom>
          <a:solidFill>
            <a:srgbClr val="ECECEC"/>
          </a:solidFill>
          <a:ln w="29261" cap="flat">
            <a:solidFill>
              <a:srgbClr val="000000"/>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38" name="Concat"/>
          <p:cNvSpPr/>
          <p:nvPr/>
        </p:nvSpPr>
        <p:spPr>
          <a:xfrm>
            <a:off x="7050024" y="3995928"/>
            <a:ext cx="1344168" cy="374904"/>
          </a:xfrm>
          <a:prstGeom prst="roundRect">
            <a:avLst>
              <a:gd name="adj" fmla="val 14634"/>
            </a:avLst>
          </a:prstGeom>
          <a:solidFill>
            <a:srgbClr val="FFFFFF"/>
          </a:solidFill>
          <a:ln w="29261" cap="flat">
            <a:solidFill>
              <a:srgbClr val="000000"/>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39" name="Output label"/>
          <p:cNvSpPr txBox="1"/>
          <p:nvPr/>
        </p:nvSpPr>
        <p:spPr>
          <a:xfrm>
            <a:off x="6890918" y="47549"/>
            <a:ext cx="1250899" cy="438912"/>
          </a:xfrm>
          <a:prstGeom prst="rect">
            <a:avLst/>
          </a:prstGeom>
          <a:noFill/>
        </p:spPr>
        <p:txBody>
          <a:bodyPr wrap="none" lIns="0" rIns="0" tIns="0" bIns="0" anchor="t">
            <a:spAutoFit/>
          </a:bodyPr>
          <a:lstStyle/>
          <a:p>
            <a:pPr algn="ctr">
              <a:spcBef>
                <a:spcPts val="0"/>
              </a:spcBef>
              <a:spcAft>
                <a:spcPts val="0"/>
              </a:spcAft>
            </a:pPr>
            <a:r>
              <a:rPr sz="2879" b="0" i="0">
                <a:solidFill>
                  <a:srgbClr val="000000"/>
                </a:solidFill>
                <a:latin typeface="Times New Roman"/>
              </a:rPr>
              <a:t>Output</a:t>
            </a:r>
          </a:p>
        </p:txBody>
      </p:sp>
      <p:sp>
        <p:nvSpPr>
          <p:cNvPr id="40" name="Reshape label"/>
          <p:cNvSpPr txBox="1"/>
          <p:nvPr/>
        </p:nvSpPr>
        <p:spPr>
          <a:xfrm>
            <a:off x="6754673" y="916229"/>
            <a:ext cx="1459382" cy="438912"/>
          </a:xfrm>
          <a:prstGeom prst="rect">
            <a:avLst/>
          </a:prstGeom>
          <a:noFill/>
        </p:spPr>
        <p:txBody>
          <a:bodyPr wrap="none" lIns="0" rIns="0" tIns="0" bIns="0" anchor="t">
            <a:spAutoFit/>
          </a:bodyPr>
          <a:lstStyle/>
          <a:p>
            <a:pPr algn="ctr">
              <a:spcBef>
                <a:spcPts val="0"/>
              </a:spcBef>
              <a:spcAft>
                <a:spcPts val="0"/>
              </a:spcAft>
            </a:pPr>
            <a:r>
              <a:rPr sz="2879" b="0" i="0">
                <a:solidFill>
                  <a:srgbClr val="000000"/>
                </a:solidFill>
                <a:latin typeface="Times New Roman"/>
              </a:rPr>
              <a:t>Reshape</a:t>
            </a:r>
          </a:p>
        </p:txBody>
      </p:sp>
      <p:sp>
        <p:nvSpPr>
          <p:cNvPr id="41" name="Transformer label"/>
          <p:cNvSpPr txBox="1"/>
          <p:nvPr/>
        </p:nvSpPr>
        <p:spPr>
          <a:xfrm>
            <a:off x="5056632" y="2854940"/>
            <a:ext cx="4992624" cy="482803"/>
          </a:xfrm>
          <a:prstGeom prst="rect">
            <a:avLst/>
          </a:prstGeom>
          <a:noFill/>
        </p:spPr>
        <p:txBody>
          <a:bodyPr wrap="none" lIns="0" rIns="0" tIns="0" bIns="0" anchor="t">
            <a:spAutoFit/>
          </a:bodyPr>
          <a:lstStyle/>
          <a:p>
            <a:pPr algn="ctr">
              <a:spcBef>
                <a:spcPts val="0"/>
              </a:spcBef>
              <a:spcAft>
                <a:spcPts val="0"/>
              </a:spcAft>
            </a:pPr>
            <a:r>
              <a:rPr sz="3168" b="0" i="0">
                <a:solidFill>
                  <a:srgbClr val="000000"/>
                </a:solidFill>
                <a:latin typeface="Times New Roman"/>
              </a:rPr>
              <a:t>Urban Diffusion Transformer</a:t>
            </a:r>
          </a:p>
        </p:txBody>
      </p:sp>
      <p:sp>
        <p:nvSpPr>
          <p:cNvPr id="42" name="Concat label"/>
          <p:cNvSpPr txBox="1"/>
          <p:nvPr/>
        </p:nvSpPr>
        <p:spPr>
          <a:xfrm>
            <a:off x="7143567" y="3970188"/>
            <a:ext cx="1157082" cy="405994"/>
          </a:xfrm>
          <a:prstGeom prst="rect">
            <a:avLst/>
          </a:prstGeom>
          <a:noFill/>
        </p:spPr>
        <p:txBody>
          <a:bodyPr wrap="none" lIns="0" rIns="0" tIns="0" bIns="0" anchor="t">
            <a:spAutoFit/>
          </a:bodyPr>
          <a:lstStyle/>
          <a:p>
            <a:pPr algn="ctr">
              <a:spcBef>
                <a:spcPts val="0"/>
              </a:spcBef>
              <a:spcAft>
                <a:spcPts val="0"/>
              </a:spcAft>
            </a:pPr>
            <a:r>
              <a:rPr sz="2664" b="0" i="0">
                <a:solidFill>
                  <a:srgbClr val="000000"/>
                </a:solidFill>
                <a:latin typeface="Times New Roman"/>
              </a:rPr>
              <a:t>Concat</a:t>
            </a:r>
          </a:p>
        </p:txBody>
      </p:sp>
      <p:sp>
        <p:nvSpPr>
          <p:cNvPr id="43" name="Patching line 1"/>
          <p:cNvSpPr txBox="1"/>
          <p:nvPr/>
        </p:nvSpPr>
        <p:spPr>
          <a:xfrm>
            <a:off x="4809744" y="4710989"/>
            <a:ext cx="3127248" cy="438912"/>
          </a:xfrm>
          <a:prstGeom prst="rect">
            <a:avLst/>
          </a:prstGeom>
          <a:noFill/>
        </p:spPr>
        <p:txBody>
          <a:bodyPr wrap="none" lIns="0" rIns="0" tIns="0" bIns="0" anchor="t">
            <a:spAutoFit/>
          </a:bodyPr>
          <a:lstStyle/>
          <a:p>
            <a:pPr algn="ctr">
              <a:spcBef>
                <a:spcPts val="0"/>
              </a:spcBef>
              <a:spcAft>
                <a:spcPts val="0"/>
              </a:spcAft>
            </a:pPr>
            <a:r>
              <a:rPr sz="2879" b="0" i="0">
                <a:solidFill>
                  <a:srgbClr val="000000"/>
                </a:solidFill>
                <a:latin typeface="Times New Roman"/>
              </a:rPr>
              <a:t>Spatio-temporal</a:t>
            </a:r>
          </a:p>
        </p:txBody>
      </p:sp>
      <p:sp>
        <p:nvSpPr>
          <p:cNvPr id="44" name="Patching line 2"/>
          <p:cNvSpPr txBox="1"/>
          <p:nvPr/>
        </p:nvSpPr>
        <p:spPr>
          <a:xfrm>
            <a:off x="5539435" y="5140757"/>
            <a:ext cx="1667866" cy="438912"/>
          </a:xfrm>
          <a:prstGeom prst="rect">
            <a:avLst/>
          </a:prstGeom>
          <a:noFill/>
        </p:spPr>
        <p:txBody>
          <a:bodyPr wrap="none" lIns="0" rIns="0" tIns="0" bIns="0" anchor="t">
            <a:spAutoFit/>
          </a:bodyPr>
          <a:lstStyle/>
          <a:p>
            <a:pPr algn="ctr">
              <a:spcBef>
                <a:spcPts val="0"/>
              </a:spcBef>
              <a:spcAft>
                <a:spcPts val="0"/>
              </a:spcAft>
            </a:pPr>
            <a:r>
              <a:rPr sz="2879" b="0" i="0">
                <a:solidFill>
                  <a:srgbClr val="000000"/>
                </a:solidFill>
                <a:latin typeface="Times New Roman"/>
              </a:rPr>
              <a:t>patching</a:t>
            </a:r>
          </a:p>
        </p:txBody>
      </p:sp>
      <p:sp>
        <p:nvSpPr>
          <p:cNvPr id="45" name="Embedding line 1"/>
          <p:cNvSpPr txBox="1"/>
          <p:nvPr/>
        </p:nvSpPr>
        <p:spPr>
          <a:xfrm>
            <a:off x="8100670" y="4692701"/>
            <a:ext cx="1876349" cy="438912"/>
          </a:xfrm>
          <a:prstGeom prst="rect">
            <a:avLst/>
          </a:prstGeom>
          <a:noFill/>
        </p:spPr>
        <p:txBody>
          <a:bodyPr wrap="none" lIns="0" rIns="0" tIns="0" bIns="0" anchor="t">
            <a:spAutoFit/>
          </a:bodyPr>
          <a:lstStyle/>
          <a:p>
            <a:pPr algn="ctr">
              <a:spcBef>
                <a:spcPts val="0"/>
              </a:spcBef>
              <a:spcAft>
                <a:spcPts val="0"/>
              </a:spcAft>
            </a:pPr>
            <a:r>
              <a:rPr sz="2879" b="0" i="0">
                <a:solidFill>
                  <a:srgbClr val="000000"/>
                </a:solidFill>
                <a:latin typeface="Times New Roman"/>
              </a:rPr>
              <a:t>Embedding</a:t>
            </a:r>
          </a:p>
        </p:txBody>
      </p:sp>
      <p:sp>
        <p:nvSpPr>
          <p:cNvPr id="46" name="Embedding line 2"/>
          <p:cNvSpPr txBox="1"/>
          <p:nvPr/>
        </p:nvSpPr>
        <p:spPr>
          <a:xfrm>
            <a:off x="8517636" y="5122469"/>
            <a:ext cx="1042416" cy="438912"/>
          </a:xfrm>
          <a:prstGeom prst="rect">
            <a:avLst/>
          </a:prstGeom>
          <a:noFill/>
        </p:spPr>
        <p:txBody>
          <a:bodyPr wrap="none" lIns="0" rIns="0" tIns="0" bIns="0" anchor="t">
            <a:spAutoFit/>
          </a:bodyPr>
          <a:lstStyle/>
          <a:p>
            <a:pPr algn="ctr">
              <a:spcBef>
                <a:spcPts val="0"/>
              </a:spcBef>
              <a:spcAft>
                <a:spcPts val="0"/>
              </a:spcAft>
            </a:pPr>
            <a:r>
              <a:rPr sz="2879" b="0" i="0">
                <a:solidFill>
                  <a:srgbClr val="000000"/>
                </a:solidFill>
                <a:latin typeface="Times New Roman"/>
              </a:rPr>
              <a:t>layer</a:t>
            </a:r>
          </a:p>
        </p:txBody>
      </p:sp>
      <p:sp>
        <p:nvSpPr>
          <p:cNvPr id="47" name="Noisy ST line 1"/>
          <p:cNvSpPr txBox="1"/>
          <p:nvPr/>
        </p:nvSpPr>
        <p:spPr>
          <a:xfrm>
            <a:off x="5852160" y="6457493"/>
            <a:ext cx="1042416" cy="438912"/>
          </a:xfrm>
          <a:prstGeom prst="rect">
            <a:avLst/>
          </a:prstGeom>
          <a:noFill/>
        </p:spPr>
        <p:txBody>
          <a:bodyPr wrap="none" lIns="0" rIns="0" tIns="0" bIns="0" anchor="t">
            <a:spAutoFit/>
          </a:bodyPr>
          <a:lstStyle/>
          <a:p>
            <a:pPr algn="ctr">
              <a:spcBef>
                <a:spcPts val="0"/>
              </a:spcBef>
              <a:spcAft>
                <a:spcPts val="0"/>
              </a:spcAft>
            </a:pPr>
            <a:r>
              <a:rPr sz="2879" b="0" i="0">
                <a:solidFill>
                  <a:srgbClr val="000000"/>
                </a:solidFill>
                <a:latin typeface="Times New Roman"/>
              </a:rPr>
              <a:t>Noisy</a:t>
            </a:r>
          </a:p>
        </p:txBody>
      </p:sp>
      <p:sp>
        <p:nvSpPr>
          <p:cNvPr id="48" name="Noisy ST line 2"/>
          <p:cNvSpPr txBox="1"/>
          <p:nvPr/>
        </p:nvSpPr>
        <p:spPr>
          <a:xfrm>
            <a:off x="5643677" y="6896405"/>
            <a:ext cx="1459382" cy="438912"/>
          </a:xfrm>
          <a:prstGeom prst="rect">
            <a:avLst/>
          </a:prstGeom>
          <a:noFill/>
        </p:spPr>
        <p:txBody>
          <a:bodyPr wrap="none" lIns="0" rIns="0" tIns="0" bIns="0" anchor="t">
            <a:spAutoFit/>
          </a:bodyPr>
          <a:lstStyle/>
          <a:p>
            <a:pPr algn="ctr">
              <a:spcBef>
                <a:spcPts val="0"/>
              </a:spcBef>
              <a:spcAft>
                <a:spcPts val="0"/>
              </a:spcAft>
            </a:pPr>
            <a:r>
              <a:rPr sz="2879" b="0" i="0">
                <a:solidFill>
                  <a:srgbClr val="000000"/>
                </a:solidFill>
                <a:latin typeface="Times New Roman"/>
              </a:rPr>
              <a:t>ST data</a:t>
            </a:r>
          </a:p>
        </p:txBody>
      </p:sp>
      <p:sp>
        <p:nvSpPr>
          <p:cNvPr id="49" name="Timestep label"/>
          <p:cNvSpPr txBox="1"/>
          <p:nvPr/>
        </p:nvSpPr>
        <p:spPr>
          <a:xfrm>
            <a:off x="8204911" y="6457493"/>
            <a:ext cx="1667866" cy="438912"/>
          </a:xfrm>
          <a:prstGeom prst="rect">
            <a:avLst/>
          </a:prstGeom>
          <a:noFill/>
        </p:spPr>
        <p:txBody>
          <a:bodyPr wrap="none" lIns="0" rIns="0" tIns="0" bIns="0" anchor="t">
            <a:spAutoFit/>
          </a:bodyPr>
          <a:lstStyle/>
          <a:p>
            <a:pPr algn="ctr">
              <a:spcBef>
                <a:spcPts val="0"/>
              </a:spcBef>
              <a:spcAft>
                <a:spcPts val="0"/>
              </a:spcAft>
            </a:pPr>
            <a:r>
              <a:rPr sz="2879" b="0" i="0">
                <a:solidFill>
                  <a:srgbClr val="000000"/>
                </a:solidFill>
                <a:latin typeface="Times New Roman"/>
              </a:rPr>
              <a:t>Timestep</a:t>
            </a:r>
          </a:p>
        </p:txBody>
      </p:sp>
      <p:sp>
        <p:nvSpPr>
          <p:cNvPr id="50" name="Timestep symbol"/>
          <p:cNvSpPr txBox="1"/>
          <p:nvPr/>
        </p:nvSpPr>
        <p:spPr>
          <a:xfrm>
            <a:off x="8673084" y="6896405"/>
            <a:ext cx="731520" cy="438912"/>
          </a:xfrm>
          <a:prstGeom prst="rect">
            <a:avLst/>
          </a:prstGeom>
          <a:noFill/>
        </p:spPr>
        <p:txBody>
          <a:bodyPr wrap="none" lIns="0" rIns="0" tIns="0" bIns="0" anchor="t">
            <a:spAutoFit/>
          </a:bodyPr>
          <a:lstStyle/>
          <a:p>
            <a:pPr algn="ctr">
              <a:spcBef>
                <a:spcPts val="0"/>
              </a:spcBef>
              <a:spcAft>
                <a:spcPts val="0"/>
              </a:spcAft>
            </a:pPr>
            <a:r>
              <a:rPr sz="2879" b="0" i="1">
                <a:solidFill>
                  <a:srgbClr val="000000"/>
                </a:solidFill>
                <a:latin typeface="Times New Roman"/>
              </a:rPr>
              <a:t>t</a:t>
            </a:r>
          </a:p>
        </p:txBody>
      </p:sp>
      <p:pic>
        <p:nvPicPr>
          <p:cNvPr id="51" name="Output noise token 1" descr="Output noise token 1.png"/>
          <p:cNvPicPr>
            <a:picLocks noChangeAspect="1"/>
          </p:cNvPicPr>
          <p:nvPr/>
        </p:nvPicPr>
        <p:blipFill>
          <a:blip r:embed="rId2"/>
          <a:stretch>
            <a:fillRect/>
          </a:stretch>
        </p:blipFill>
        <p:spPr>
          <a:xfrm>
            <a:off x="5257800" y="1691640"/>
            <a:ext cx="493776" cy="493776"/>
          </a:xfrm>
          <a:prstGeom prst="rect">
            <a:avLst/>
          </a:prstGeom>
        </p:spPr>
      </p:pic>
      <p:pic>
        <p:nvPicPr>
          <p:cNvPr id="52" name="Output noise token 2" descr="Output noise token 2.png"/>
          <p:cNvPicPr>
            <a:picLocks noChangeAspect="1"/>
          </p:cNvPicPr>
          <p:nvPr/>
        </p:nvPicPr>
        <p:blipFill>
          <a:blip r:embed="rId3"/>
          <a:stretch>
            <a:fillRect/>
          </a:stretch>
        </p:blipFill>
        <p:spPr>
          <a:xfrm>
            <a:off x="5925312" y="1682496"/>
            <a:ext cx="493776" cy="502920"/>
          </a:xfrm>
          <a:prstGeom prst="rect">
            <a:avLst/>
          </a:prstGeom>
        </p:spPr>
      </p:pic>
      <p:pic>
        <p:nvPicPr>
          <p:cNvPr id="53" name="Output noise token 3" descr="Output noise token 3.png"/>
          <p:cNvPicPr>
            <a:picLocks noChangeAspect="1"/>
          </p:cNvPicPr>
          <p:nvPr/>
        </p:nvPicPr>
        <p:blipFill>
          <a:blip r:embed="rId4"/>
          <a:stretch>
            <a:fillRect/>
          </a:stretch>
        </p:blipFill>
        <p:spPr>
          <a:xfrm>
            <a:off x="6592824" y="1682496"/>
            <a:ext cx="502920" cy="502920"/>
          </a:xfrm>
          <a:prstGeom prst="rect">
            <a:avLst/>
          </a:prstGeom>
        </p:spPr>
      </p:pic>
      <p:pic>
        <p:nvPicPr>
          <p:cNvPr id="54" name="Output noise token 4" descr="Output noise token 4.png"/>
          <p:cNvPicPr>
            <a:picLocks noChangeAspect="1"/>
          </p:cNvPicPr>
          <p:nvPr/>
        </p:nvPicPr>
        <p:blipFill>
          <a:blip r:embed="rId5"/>
          <a:stretch>
            <a:fillRect/>
          </a:stretch>
        </p:blipFill>
        <p:spPr>
          <a:xfrm>
            <a:off x="7260336" y="1691640"/>
            <a:ext cx="502920" cy="493776"/>
          </a:xfrm>
          <a:prstGeom prst="rect">
            <a:avLst/>
          </a:prstGeom>
        </p:spPr>
      </p:pic>
      <p:pic>
        <p:nvPicPr>
          <p:cNvPr id="55" name="Output noise token 5" descr="Output noise token 5.png"/>
          <p:cNvPicPr>
            <a:picLocks noChangeAspect="1"/>
          </p:cNvPicPr>
          <p:nvPr/>
        </p:nvPicPr>
        <p:blipFill>
          <a:blip r:embed="rId6"/>
          <a:stretch>
            <a:fillRect/>
          </a:stretch>
        </p:blipFill>
        <p:spPr>
          <a:xfrm>
            <a:off x="7927848" y="1691640"/>
            <a:ext cx="502920" cy="493776"/>
          </a:xfrm>
          <a:prstGeom prst="rect">
            <a:avLst/>
          </a:prstGeom>
        </p:spPr>
      </p:pic>
      <p:pic>
        <p:nvPicPr>
          <p:cNvPr id="56" name="Output noise token 6" descr="Output noise token 6.png"/>
          <p:cNvPicPr>
            <a:picLocks noChangeAspect="1"/>
          </p:cNvPicPr>
          <p:nvPr/>
        </p:nvPicPr>
        <p:blipFill>
          <a:blip r:embed="rId7"/>
          <a:stretch>
            <a:fillRect/>
          </a:stretch>
        </p:blipFill>
        <p:spPr>
          <a:xfrm>
            <a:off x="8595360" y="1682496"/>
            <a:ext cx="502920" cy="502920"/>
          </a:xfrm>
          <a:prstGeom prst="rect">
            <a:avLst/>
          </a:prstGeom>
        </p:spPr>
      </p:pic>
      <p:pic>
        <p:nvPicPr>
          <p:cNvPr id="57" name="Output noise token 7" descr="Output noise token 7.png"/>
          <p:cNvPicPr>
            <a:picLocks noChangeAspect="1"/>
          </p:cNvPicPr>
          <p:nvPr/>
        </p:nvPicPr>
        <p:blipFill>
          <a:blip r:embed="rId8"/>
          <a:stretch>
            <a:fillRect/>
          </a:stretch>
        </p:blipFill>
        <p:spPr>
          <a:xfrm>
            <a:off x="9262872" y="1682496"/>
            <a:ext cx="502920" cy="502920"/>
          </a:xfrm>
          <a:prstGeom prst="rect">
            <a:avLst/>
          </a:prstGeom>
        </p:spPr>
      </p:pic>
      <p:pic>
        <p:nvPicPr>
          <p:cNvPr id="58" name="Satellite map" descr="Satellite map.png"/>
          <p:cNvPicPr>
            <a:picLocks noChangeAspect="1"/>
          </p:cNvPicPr>
          <p:nvPr/>
        </p:nvPicPr>
        <p:blipFill>
          <a:blip r:embed="rId9"/>
          <a:stretch>
            <a:fillRect/>
          </a:stretch>
        </p:blipFill>
        <p:spPr>
          <a:xfrm>
            <a:off x="365760" y="4462272"/>
            <a:ext cx="1115568" cy="978408"/>
          </a:xfrm>
          <a:prstGeom prst="rect">
            <a:avLst/>
          </a:prstGeom>
        </p:spPr>
      </p:pic>
      <p:pic>
        <p:nvPicPr>
          <p:cNvPr id="59" name="City at night" descr="City at night.png"/>
          <p:cNvPicPr>
            <a:picLocks noChangeAspect="1"/>
          </p:cNvPicPr>
          <p:nvPr/>
        </p:nvPicPr>
        <p:blipFill>
          <a:blip r:embed="rId10"/>
          <a:stretch>
            <a:fillRect/>
          </a:stretch>
        </p:blipFill>
        <p:spPr>
          <a:xfrm>
            <a:off x="1764792" y="4462272"/>
            <a:ext cx="1106424" cy="987552"/>
          </a:xfrm>
          <a:prstGeom prst="rect">
            <a:avLst/>
          </a:prstGeom>
        </p:spPr>
      </p:pic>
      <p:pic>
        <p:nvPicPr>
          <p:cNvPr id="60" name="Taxi photograph" descr="Taxi photograph.png"/>
          <p:cNvPicPr>
            <a:picLocks noChangeAspect="1"/>
          </p:cNvPicPr>
          <p:nvPr/>
        </p:nvPicPr>
        <p:blipFill>
          <a:blip r:embed="rId11"/>
          <a:stretch>
            <a:fillRect/>
          </a:stretch>
        </p:blipFill>
        <p:spPr>
          <a:xfrm>
            <a:off x="3209544" y="4471416"/>
            <a:ext cx="1024128" cy="969264"/>
          </a:xfrm>
          <a:prstGeom prst="rect">
            <a:avLst/>
          </a:prstGeom>
        </p:spPr>
      </p:pic>
      <p:pic>
        <p:nvPicPr>
          <p:cNvPr id="61" name="Road network map" descr="Road network map.png"/>
          <p:cNvPicPr>
            <a:picLocks noChangeAspect="1"/>
          </p:cNvPicPr>
          <p:nvPr/>
        </p:nvPicPr>
        <p:blipFill>
          <a:blip r:embed="rId12"/>
          <a:stretch>
            <a:fillRect/>
          </a:stretch>
        </p:blipFill>
        <p:spPr>
          <a:xfrm>
            <a:off x="365760" y="5641848"/>
            <a:ext cx="1124712" cy="978408"/>
          </a:xfrm>
          <a:prstGeom prst="rect">
            <a:avLst/>
          </a:prstGeom>
        </p:spPr>
      </p:pic>
      <p:pic>
        <p:nvPicPr>
          <p:cNvPr id="62" name="Urban heatmap" descr="Urban heatmap.png"/>
          <p:cNvPicPr>
            <a:picLocks noChangeAspect="1"/>
          </p:cNvPicPr>
          <p:nvPr/>
        </p:nvPicPr>
        <p:blipFill>
          <a:blip r:embed="rId13"/>
          <a:stretch>
            <a:fillRect/>
          </a:stretch>
        </p:blipFill>
        <p:spPr>
          <a:xfrm>
            <a:off x="1764792" y="5660136"/>
            <a:ext cx="1161288" cy="969264"/>
          </a:xfrm>
          <a:prstGeom prst="rect">
            <a:avLst/>
          </a:prstGeom>
        </p:spPr>
      </p:pic>
      <p:pic>
        <p:nvPicPr>
          <p:cNvPr id="63" name="Mobility flow map" descr="Mobility flow map.png"/>
          <p:cNvPicPr>
            <a:picLocks noChangeAspect="1"/>
          </p:cNvPicPr>
          <p:nvPr/>
        </p:nvPicPr>
        <p:blipFill>
          <a:blip r:embed="rId14"/>
          <a:stretch>
            <a:fillRect/>
          </a:stretch>
        </p:blipFill>
        <p:spPr>
          <a:xfrm>
            <a:off x="3255264" y="5641848"/>
            <a:ext cx="1042416" cy="969264"/>
          </a:xfrm>
          <a:prstGeom prst="rect">
            <a:avLst/>
          </a:prstGeom>
        </p:spPr>
      </p:pic>
      <p:sp>
        <p:nvSpPr>
          <p:cNvPr id="64" name="Different data types line 1"/>
          <p:cNvSpPr txBox="1"/>
          <p:nvPr/>
        </p:nvSpPr>
        <p:spPr>
          <a:xfrm>
            <a:off x="143195" y="3183758"/>
            <a:ext cx="1688714" cy="395021"/>
          </a:xfrm>
          <a:prstGeom prst="rect">
            <a:avLst/>
          </a:prstGeom>
          <a:noFill/>
        </p:spPr>
        <p:txBody>
          <a:bodyPr wrap="none" lIns="0" rIns="0" tIns="0" bIns="0" anchor="t">
            <a:spAutoFit/>
          </a:bodyPr>
          <a:lstStyle/>
          <a:p>
            <a:pPr algn="ctr">
              <a:spcBef>
                <a:spcPts val="0"/>
              </a:spcBef>
              <a:spcAft>
                <a:spcPts val="0"/>
              </a:spcAft>
            </a:pPr>
            <a:r>
              <a:rPr sz="2592" b="0" i="0">
                <a:solidFill>
                  <a:srgbClr val="000000"/>
                </a:solidFill>
                <a:latin typeface="Times New Roman"/>
              </a:rPr>
              <a:t>Different</a:t>
            </a:r>
          </a:p>
        </p:txBody>
      </p:sp>
      <p:sp>
        <p:nvSpPr>
          <p:cNvPr id="65" name="Different data types line 2"/>
          <p:cNvSpPr txBox="1"/>
          <p:nvPr/>
        </p:nvSpPr>
        <p:spPr>
          <a:xfrm>
            <a:off x="49378" y="3586094"/>
            <a:ext cx="1876349" cy="395021"/>
          </a:xfrm>
          <a:prstGeom prst="rect">
            <a:avLst/>
          </a:prstGeom>
          <a:noFill/>
        </p:spPr>
        <p:txBody>
          <a:bodyPr wrap="none" lIns="0" rIns="0" tIns="0" bIns="0" anchor="t">
            <a:spAutoFit/>
          </a:bodyPr>
          <a:lstStyle/>
          <a:p>
            <a:pPr algn="ctr">
              <a:spcBef>
                <a:spcPts val="0"/>
              </a:spcBef>
              <a:spcAft>
                <a:spcPts val="0"/>
              </a:spcAft>
            </a:pPr>
            <a:r>
              <a:rPr sz="2592" b="0" i="0">
                <a:solidFill>
                  <a:srgbClr val="000000"/>
                </a:solidFill>
                <a:latin typeface="Times New Roman"/>
              </a:rPr>
              <a:t>data types</a:t>
            </a:r>
          </a:p>
        </p:txBody>
      </p:sp>
      <p:sp>
        <p:nvSpPr>
          <p:cNvPr id="66" name="Sequential format line 1"/>
          <p:cNvSpPr txBox="1"/>
          <p:nvPr/>
        </p:nvSpPr>
        <p:spPr>
          <a:xfrm>
            <a:off x="2774290" y="3211190"/>
            <a:ext cx="1876349" cy="395021"/>
          </a:xfrm>
          <a:prstGeom prst="rect">
            <a:avLst/>
          </a:prstGeom>
          <a:noFill/>
        </p:spPr>
        <p:txBody>
          <a:bodyPr wrap="none" lIns="0" rIns="0" tIns="0" bIns="0" anchor="t">
            <a:spAutoFit/>
          </a:bodyPr>
          <a:lstStyle/>
          <a:p>
            <a:pPr algn="ctr">
              <a:spcBef>
                <a:spcPts val="0"/>
              </a:spcBef>
              <a:spcAft>
                <a:spcPts val="0"/>
              </a:spcAft>
            </a:pPr>
            <a:r>
              <a:rPr sz="2592" b="0" i="0">
                <a:solidFill>
                  <a:srgbClr val="000000"/>
                </a:solidFill>
                <a:latin typeface="Times New Roman"/>
              </a:rPr>
              <a:t>Sequential</a:t>
            </a:r>
          </a:p>
        </p:txBody>
      </p:sp>
      <p:sp>
        <p:nvSpPr>
          <p:cNvPr id="67" name="Sequential format line 2"/>
          <p:cNvSpPr txBox="1"/>
          <p:nvPr/>
        </p:nvSpPr>
        <p:spPr>
          <a:xfrm>
            <a:off x="3149559" y="3595238"/>
            <a:ext cx="1125809" cy="395021"/>
          </a:xfrm>
          <a:prstGeom prst="rect">
            <a:avLst/>
          </a:prstGeom>
          <a:noFill/>
        </p:spPr>
        <p:txBody>
          <a:bodyPr wrap="none" lIns="0" rIns="0" tIns="0" bIns="0" anchor="t">
            <a:spAutoFit/>
          </a:bodyPr>
          <a:lstStyle/>
          <a:p>
            <a:pPr algn="ctr">
              <a:spcBef>
                <a:spcPts val="0"/>
              </a:spcBef>
              <a:spcAft>
                <a:spcPts val="0"/>
              </a:spcAft>
            </a:pPr>
            <a:r>
              <a:rPr sz="2592" b="0" i="0">
                <a:solidFill>
                  <a:srgbClr val="000000"/>
                </a:solidFill>
                <a:latin typeface="Times New Roman"/>
              </a:rPr>
              <a:t>format</a:t>
            </a:r>
          </a:p>
        </p:txBody>
      </p:sp>
      <p:sp>
        <p:nvSpPr>
          <p:cNvPr id="68" name="Multiple domains"/>
          <p:cNvSpPr txBox="1"/>
          <p:nvPr/>
        </p:nvSpPr>
        <p:spPr>
          <a:xfrm>
            <a:off x="739201" y="6667622"/>
            <a:ext cx="3002158" cy="395021"/>
          </a:xfrm>
          <a:prstGeom prst="rect">
            <a:avLst/>
          </a:prstGeom>
          <a:noFill/>
        </p:spPr>
        <p:txBody>
          <a:bodyPr wrap="none" lIns="0" rIns="0" tIns="0" bIns="0" anchor="t">
            <a:spAutoFit/>
          </a:bodyPr>
          <a:lstStyle/>
          <a:p>
            <a:pPr algn="ctr">
              <a:spcBef>
                <a:spcPts val="0"/>
              </a:spcBef>
              <a:spcAft>
                <a:spcPts val="0"/>
              </a:spcAft>
            </a:pPr>
            <a:r>
              <a:rPr sz="2592" b="0" i="0">
                <a:solidFill>
                  <a:srgbClr val="000000"/>
                </a:solidFill>
                <a:latin typeface="Times New Roman"/>
              </a:rPr>
              <a:t>Multiple Domains</a:t>
            </a:r>
          </a:p>
        </p:txBody>
      </p:sp>
      <p:sp>
        <p:nvSpPr>
          <p:cNvPr id="69" name="Multiple cities"/>
          <p:cNvSpPr txBox="1"/>
          <p:nvPr/>
        </p:nvSpPr>
        <p:spPr>
          <a:xfrm>
            <a:off x="833018" y="7060814"/>
            <a:ext cx="2814523" cy="395021"/>
          </a:xfrm>
          <a:prstGeom prst="rect">
            <a:avLst/>
          </a:prstGeom>
          <a:noFill/>
        </p:spPr>
        <p:txBody>
          <a:bodyPr wrap="none" lIns="0" rIns="0" tIns="0" bIns="0" anchor="t">
            <a:spAutoFit/>
          </a:bodyPr>
          <a:lstStyle/>
          <a:p>
            <a:pPr algn="ctr">
              <a:spcBef>
                <a:spcPts val="0"/>
              </a:spcBef>
              <a:spcAft>
                <a:spcPts val="0"/>
              </a:spcAft>
            </a:pPr>
            <a:r>
              <a:rPr sz="2592" b="0" i="0">
                <a:solidFill>
                  <a:srgbClr val="000000"/>
                </a:solidFill>
                <a:latin typeface="Times New Roman"/>
              </a:rPr>
              <a:t>Multiple Cities</a:t>
            </a:r>
          </a:p>
        </p:txBody>
      </p:sp>
      <p:pic>
        <p:nvPicPr>
          <p:cNvPr id="70" name="Input spatiotemporal heatmap stack" descr="Input spatiotemporal heatmap stack.png"/>
          <p:cNvPicPr>
            <a:picLocks noChangeAspect="1"/>
          </p:cNvPicPr>
          <p:nvPr/>
        </p:nvPicPr>
        <p:blipFill>
          <a:blip r:embed="rId15"/>
          <a:stretch>
            <a:fillRect/>
          </a:stretch>
        </p:blipFill>
        <p:spPr>
          <a:xfrm>
            <a:off x="164592" y="521208"/>
            <a:ext cx="1152144" cy="1078992"/>
          </a:xfrm>
          <a:prstGeom prst="rect">
            <a:avLst/>
          </a:prstGeom>
        </p:spPr>
      </p:pic>
      <p:sp>
        <p:nvSpPr>
          <p:cNvPr id="71" name="Heatmaps to spatial patches"/>
          <p:cNvSpPr/>
          <p:nvPr/>
        </p:nvSpPr>
        <p:spPr>
          <a:xfrm>
            <a:off x="1380744" y="768096"/>
            <a:ext cx="347472" cy="457200"/>
          </a:xfrm>
          <a:custGeom>
            <a:avLst/>
            <a:gdLst/>
            <a:ahLst/>
            <a:cxnLst/>
            <a:rect l="0" t="0" r="w" b="h"/>
            <a:pathLst>
              <a:path w="38000" h="50000" fill="norm" stroke="1" extrusionOk="0">
                <a:moveTo>
                  <a:pt x="0" y="13000"/>
                </a:moveTo>
                <a:lnTo>
                  <a:pt x="19760" y="13000"/>
                </a:lnTo>
                <a:lnTo>
                  <a:pt x="19760" y="0"/>
                </a:lnTo>
                <a:lnTo>
                  <a:pt x="38000" y="25000"/>
                </a:lnTo>
                <a:lnTo>
                  <a:pt x="19760" y="50000"/>
                </a:lnTo>
                <a:lnTo>
                  <a:pt x="19760" y="37000"/>
                </a:lnTo>
                <a:lnTo>
                  <a:pt x="0" y="37000"/>
                </a:lnTo>
                <a:close/>
              </a:path>
            </a:pathLst>
          </a:custGeom>
          <a:solidFill>
            <a:srgbClr val="D9D9D9"/>
          </a:solidFill>
          <a:ln>
            <a:noFill/>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72" name="Graphs to graph patches"/>
          <p:cNvSpPr/>
          <p:nvPr/>
        </p:nvSpPr>
        <p:spPr>
          <a:xfrm>
            <a:off x="1371600" y="2093976"/>
            <a:ext cx="347472" cy="438912"/>
          </a:xfrm>
          <a:custGeom>
            <a:avLst/>
            <a:gdLst/>
            <a:ahLst/>
            <a:cxnLst/>
            <a:rect l="0" t="0" r="w" b="h"/>
            <a:pathLst>
              <a:path w="38000" h="48000" fill="norm" stroke="1" extrusionOk="0">
                <a:moveTo>
                  <a:pt x="0" y="12480"/>
                </a:moveTo>
                <a:lnTo>
                  <a:pt x="19760" y="12480"/>
                </a:lnTo>
                <a:lnTo>
                  <a:pt x="19760" y="0"/>
                </a:lnTo>
                <a:lnTo>
                  <a:pt x="38000" y="24000"/>
                </a:lnTo>
                <a:lnTo>
                  <a:pt x="19760" y="48000"/>
                </a:lnTo>
                <a:lnTo>
                  <a:pt x="19760" y="35520"/>
                </a:lnTo>
                <a:lnTo>
                  <a:pt x="0" y="35520"/>
                </a:lnTo>
                <a:close/>
              </a:path>
            </a:pathLst>
          </a:custGeom>
          <a:solidFill>
            <a:srgbClr val="D9D9D9"/>
          </a:solidFill>
          <a:ln>
            <a:noFill/>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73" name="Patches to token sequence"/>
          <p:cNvSpPr/>
          <p:nvPr/>
        </p:nvSpPr>
        <p:spPr>
          <a:xfrm>
            <a:off x="3419856" y="1563624"/>
            <a:ext cx="512064" cy="448056"/>
          </a:xfrm>
          <a:custGeom>
            <a:avLst/>
            <a:gdLst/>
            <a:ahLst/>
            <a:cxnLst/>
            <a:rect l="0" t="0" r="w" b="h"/>
            <a:pathLst>
              <a:path w="56000" h="49000" fill="norm" stroke="1" extrusionOk="0">
                <a:moveTo>
                  <a:pt x="0" y="12740"/>
                </a:moveTo>
                <a:lnTo>
                  <a:pt x="29120" y="12740"/>
                </a:lnTo>
                <a:lnTo>
                  <a:pt x="29120" y="0"/>
                </a:lnTo>
                <a:lnTo>
                  <a:pt x="56000" y="24500"/>
                </a:lnTo>
                <a:lnTo>
                  <a:pt x="29120" y="49000"/>
                </a:lnTo>
                <a:lnTo>
                  <a:pt x="29120" y="36260"/>
                </a:lnTo>
                <a:lnTo>
                  <a:pt x="0" y="36260"/>
                </a:lnTo>
                <a:close/>
              </a:path>
            </a:pathLst>
          </a:custGeom>
          <a:solidFill>
            <a:srgbClr val="D9D9D9"/>
          </a:solidFill>
          <a:ln>
            <a:noFill/>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grpSp>
        <p:nvGrpSpPr>
          <p:cNvPr id="74" name="Editable spatial grid patches"/>
          <p:cNvGrpSpPr/>
          <p:nvPr/>
        </p:nvGrpSpPr>
        <p:grpSpPr>
          <a:xfrm>
            <a:off x="1828800" y="402336"/>
            <a:ext cx="1581912" cy="1152144"/>
            <a:chOff x="1828800" y="402336"/>
            <a:chExt cx="1581912" cy="1152144"/>
          </a:xfrm>
        </p:grpSpPr>
        <p:sp>
          <p:nvSpPr>
            <p:cNvPr id="75" name="Spatial patch 1"/>
            <p:cNvSpPr/>
            <p:nvPr/>
          </p:nvSpPr>
          <p:spPr>
            <a:xfrm>
              <a:off x="1828800" y="402336"/>
              <a:ext cx="768096" cy="704088"/>
            </a:xfrm>
            <a:prstGeom prst="ellipse">
              <a:avLst/>
            </a:prstGeom>
            <a:solidFill>
              <a:srgbClr val="FFE0E5"/>
            </a:solidFill>
            <a:ln>
              <a:noFill/>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76" name="Spatial patch 2"/>
            <p:cNvSpPr/>
            <p:nvPr/>
          </p:nvSpPr>
          <p:spPr>
            <a:xfrm>
              <a:off x="2578608" y="411480"/>
              <a:ext cx="777240" cy="704088"/>
            </a:xfrm>
            <a:prstGeom prst="ellipse">
              <a:avLst/>
            </a:prstGeom>
            <a:solidFill>
              <a:srgbClr val="FFE0E5"/>
            </a:solidFill>
            <a:ln>
              <a:noFill/>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77" name="Spatial patch 3"/>
            <p:cNvSpPr/>
            <p:nvPr/>
          </p:nvSpPr>
          <p:spPr>
            <a:xfrm>
              <a:off x="1828800" y="1124712"/>
              <a:ext cx="768096" cy="429768"/>
            </a:xfrm>
            <a:prstGeom prst="ellipse">
              <a:avLst/>
            </a:prstGeom>
            <a:solidFill>
              <a:srgbClr val="FFE0E5"/>
            </a:solidFill>
            <a:ln>
              <a:noFill/>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78" name="Spatial patch 4"/>
            <p:cNvSpPr/>
            <p:nvPr/>
          </p:nvSpPr>
          <p:spPr>
            <a:xfrm>
              <a:off x="2587752" y="1124712"/>
              <a:ext cx="768096" cy="420624"/>
            </a:xfrm>
            <a:prstGeom prst="ellipse">
              <a:avLst/>
            </a:prstGeom>
            <a:solidFill>
              <a:srgbClr val="FFE0E5"/>
            </a:solidFill>
            <a:ln>
              <a:noFill/>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79" name="Spatial vertical grid 223"/>
            <p:cNvSpPr/>
            <p:nvPr/>
          </p:nvSpPr>
          <p:spPr>
            <a:xfrm>
              <a:off x="2039112" y="438912"/>
              <a:ext cx="914" cy="1078992"/>
            </a:xfrm>
            <a:custGeom>
              <a:avLst/>
              <a:gdLst/>
              <a:ahLst/>
              <a:cxnLst/>
              <a:rect l="0" t="0" r="w" b="h"/>
              <a:pathLst>
                <a:path w="100" h="118000" fill="none" stroke="1" extrusionOk="0">
                  <a:moveTo>
                    <a:pt x="0" y="0"/>
                  </a:moveTo>
                  <a:lnTo>
                    <a:pt x="0" y="118000"/>
                  </a:lnTo>
                </a:path>
              </a:pathLst>
            </a:custGeom>
            <a:noFill/>
            <a:ln w="28346" cap="flat">
              <a:solidFill>
                <a:srgbClr val="82A9CE"/>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80" name="Spatial vertical grid 265"/>
            <p:cNvSpPr/>
            <p:nvPr/>
          </p:nvSpPr>
          <p:spPr>
            <a:xfrm>
              <a:off x="2423160" y="438912"/>
              <a:ext cx="914" cy="1078992"/>
            </a:xfrm>
            <a:custGeom>
              <a:avLst/>
              <a:gdLst/>
              <a:ahLst/>
              <a:cxnLst/>
              <a:rect l="0" t="0" r="w" b="h"/>
              <a:pathLst>
                <a:path w="100" h="118000" fill="none" stroke="1" extrusionOk="0">
                  <a:moveTo>
                    <a:pt x="0" y="0"/>
                  </a:moveTo>
                  <a:lnTo>
                    <a:pt x="0" y="118000"/>
                  </a:lnTo>
                </a:path>
              </a:pathLst>
            </a:custGeom>
            <a:noFill/>
            <a:ln w="28346" cap="flat">
              <a:solidFill>
                <a:srgbClr val="82A9CE"/>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81" name="Spatial vertical grid 307"/>
            <p:cNvSpPr/>
            <p:nvPr/>
          </p:nvSpPr>
          <p:spPr>
            <a:xfrm>
              <a:off x="2807208" y="438912"/>
              <a:ext cx="914" cy="1078992"/>
            </a:xfrm>
            <a:custGeom>
              <a:avLst/>
              <a:gdLst/>
              <a:ahLst/>
              <a:cxnLst/>
              <a:rect l="0" t="0" r="w" b="h"/>
              <a:pathLst>
                <a:path w="100" h="118000" fill="none" stroke="1" extrusionOk="0">
                  <a:moveTo>
                    <a:pt x="0" y="0"/>
                  </a:moveTo>
                  <a:lnTo>
                    <a:pt x="0" y="118000"/>
                  </a:lnTo>
                </a:path>
              </a:pathLst>
            </a:custGeom>
            <a:noFill/>
            <a:ln w="28346" cap="flat">
              <a:solidFill>
                <a:srgbClr val="82A9CE"/>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82" name="Spatial vertical grid 349"/>
            <p:cNvSpPr/>
            <p:nvPr/>
          </p:nvSpPr>
          <p:spPr>
            <a:xfrm>
              <a:off x="3191256" y="438912"/>
              <a:ext cx="914" cy="1078992"/>
            </a:xfrm>
            <a:custGeom>
              <a:avLst/>
              <a:gdLst/>
              <a:ahLst/>
              <a:cxnLst/>
              <a:rect l="0" t="0" r="w" b="h"/>
              <a:pathLst>
                <a:path w="100" h="118000" fill="none" stroke="1" extrusionOk="0">
                  <a:moveTo>
                    <a:pt x="0" y="0"/>
                  </a:moveTo>
                  <a:lnTo>
                    <a:pt x="0" y="118000"/>
                  </a:lnTo>
                </a:path>
              </a:pathLst>
            </a:custGeom>
            <a:noFill/>
            <a:ln w="28346" cap="flat">
              <a:solidFill>
                <a:srgbClr val="82A9CE"/>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83" name="Spatial horizontal grid 63"/>
            <p:cNvSpPr/>
            <p:nvPr/>
          </p:nvSpPr>
          <p:spPr>
            <a:xfrm>
              <a:off x="1828800" y="576072"/>
              <a:ext cx="1581912" cy="914"/>
            </a:xfrm>
            <a:custGeom>
              <a:avLst/>
              <a:gdLst/>
              <a:ahLst/>
              <a:cxnLst/>
              <a:rect l="0" t="0" r="w" b="h"/>
              <a:pathLst>
                <a:path w="173000" h="100" fill="none" stroke="1" extrusionOk="0">
                  <a:moveTo>
                    <a:pt x="0" y="0"/>
                  </a:moveTo>
                  <a:lnTo>
                    <a:pt x="173000" y="0"/>
                  </a:lnTo>
                </a:path>
              </a:pathLst>
            </a:custGeom>
            <a:noFill/>
            <a:ln w="28346" cap="flat">
              <a:solidFill>
                <a:srgbClr val="82A9CE"/>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84" name="Spatial horizontal grid 105"/>
            <p:cNvSpPr/>
            <p:nvPr/>
          </p:nvSpPr>
          <p:spPr>
            <a:xfrm>
              <a:off x="1828800" y="960120"/>
              <a:ext cx="1581912" cy="914"/>
            </a:xfrm>
            <a:custGeom>
              <a:avLst/>
              <a:gdLst/>
              <a:ahLst/>
              <a:cxnLst/>
              <a:rect l="0" t="0" r="w" b="h"/>
              <a:pathLst>
                <a:path w="173000" h="100" fill="none" stroke="1" extrusionOk="0">
                  <a:moveTo>
                    <a:pt x="0" y="0"/>
                  </a:moveTo>
                  <a:lnTo>
                    <a:pt x="173000" y="0"/>
                  </a:lnTo>
                </a:path>
              </a:pathLst>
            </a:custGeom>
            <a:noFill/>
            <a:ln w="28346" cap="flat">
              <a:solidFill>
                <a:srgbClr val="82A9CE"/>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85" name="Spatial horizontal grid 147"/>
            <p:cNvSpPr/>
            <p:nvPr/>
          </p:nvSpPr>
          <p:spPr>
            <a:xfrm>
              <a:off x="1828800" y="1344168"/>
              <a:ext cx="1581912" cy="914"/>
            </a:xfrm>
            <a:custGeom>
              <a:avLst/>
              <a:gdLst/>
              <a:ahLst/>
              <a:cxnLst/>
              <a:rect l="0" t="0" r="w" b="h"/>
              <a:pathLst>
                <a:path w="173000" h="100" fill="none" stroke="1" extrusionOk="0">
                  <a:moveTo>
                    <a:pt x="0" y="0"/>
                  </a:moveTo>
                  <a:lnTo>
                    <a:pt x="173000" y="0"/>
                  </a:lnTo>
                </a:path>
              </a:pathLst>
            </a:custGeom>
            <a:noFill/>
            <a:ln w="28346" cap="flat">
              <a:solidFill>
                <a:srgbClr val="82A9CE"/>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86" name="Blue grid top tip 223"/>
            <p:cNvSpPr/>
            <p:nvPr/>
          </p:nvSpPr>
          <p:spPr>
            <a:xfrm>
              <a:off x="2039112" y="438912"/>
              <a:ext cx="914" cy="54864"/>
            </a:xfrm>
            <a:custGeom>
              <a:avLst/>
              <a:gdLst/>
              <a:ahLst/>
              <a:cxnLst/>
              <a:rect l="0" t="0" r="w" b="h"/>
              <a:pathLst>
                <a:path w="100" h="6000" fill="none" stroke="1" extrusionOk="0">
                  <a:moveTo>
                    <a:pt x="0" y="0"/>
                  </a:moveTo>
                  <a:lnTo>
                    <a:pt x="0" y="6000"/>
                  </a:lnTo>
                </a:path>
              </a:pathLst>
            </a:custGeom>
            <a:noFill/>
            <a:ln w="27432" cap="flat">
              <a:solidFill>
                <a:srgbClr val="009EE3"/>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87" name="Blue grid bottom tip 223"/>
            <p:cNvSpPr/>
            <p:nvPr/>
          </p:nvSpPr>
          <p:spPr>
            <a:xfrm>
              <a:off x="2039112" y="1463040"/>
              <a:ext cx="914" cy="54864"/>
            </a:xfrm>
            <a:custGeom>
              <a:avLst/>
              <a:gdLst/>
              <a:ahLst/>
              <a:cxnLst/>
              <a:rect l="0" t="0" r="w" b="h"/>
              <a:pathLst>
                <a:path w="100" h="6000" fill="none" stroke="1" extrusionOk="0">
                  <a:moveTo>
                    <a:pt x="0" y="0"/>
                  </a:moveTo>
                  <a:lnTo>
                    <a:pt x="0" y="6000"/>
                  </a:lnTo>
                </a:path>
              </a:pathLst>
            </a:custGeom>
            <a:noFill/>
            <a:ln w="27432" cap="flat">
              <a:solidFill>
                <a:srgbClr val="009EE3"/>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88" name="Blue grid top tip 265"/>
            <p:cNvSpPr/>
            <p:nvPr/>
          </p:nvSpPr>
          <p:spPr>
            <a:xfrm>
              <a:off x="2423160" y="438912"/>
              <a:ext cx="914" cy="54864"/>
            </a:xfrm>
            <a:custGeom>
              <a:avLst/>
              <a:gdLst/>
              <a:ahLst/>
              <a:cxnLst/>
              <a:rect l="0" t="0" r="w" b="h"/>
              <a:pathLst>
                <a:path w="100" h="6000" fill="none" stroke="1" extrusionOk="0">
                  <a:moveTo>
                    <a:pt x="0" y="0"/>
                  </a:moveTo>
                  <a:lnTo>
                    <a:pt x="0" y="6000"/>
                  </a:lnTo>
                </a:path>
              </a:pathLst>
            </a:custGeom>
            <a:noFill/>
            <a:ln w="27432" cap="flat">
              <a:solidFill>
                <a:srgbClr val="009EE3"/>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89" name="Blue grid bottom tip 265"/>
            <p:cNvSpPr/>
            <p:nvPr/>
          </p:nvSpPr>
          <p:spPr>
            <a:xfrm>
              <a:off x="2423160" y="1463040"/>
              <a:ext cx="914" cy="54864"/>
            </a:xfrm>
            <a:custGeom>
              <a:avLst/>
              <a:gdLst/>
              <a:ahLst/>
              <a:cxnLst/>
              <a:rect l="0" t="0" r="w" b="h"/>
              <a:pathLst>
                <a:path w="100" h="6000" fill="none" stroke="1" extrusionOk="0">
                  <a:moveTo>
                    <a:pt x="0" y="0"/>
                  </a:moveTo>
                  <a:lnTo>
                    <a:pt x="0" y="6000"/>
                  </a:lnTo>
                </a:path>
              </a:pathLst>
            </a:custGeom>
            <a:noFill/>
            <a:ln w="27432" cap="flat">
              <a:solidFill>
                <a:srgbClr val="009EE3"/>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90" name="Blue grid top tip 307"/>
            <p:cNvSpPr/>
            <p:nvPr/>
          </p:nvSpPr>
          <p:spPr>
            <a:xfrm>
              <a:off x="2807208" y="438912"/>
              <a:ext cx="914" cy="54864"/>
            </a:xfrm>
            <a:custGeom>
              <a:avLst/>
              <a:gdLst/>
              <a:ahLst/>
              <a:cxnLst/>
              <a:rect l="0" t="0" r="w" b="h"/>
              <a:pathLst>
                <a:path w="100" h="6000" fill="none" stroke="1" extrusionOk="0">
                  <a:moveTo>
                    <a:pt x="0" y="0"/>
                  </a:moveTo>
                  <a:lnTo>
                    <a:pt x="0" y="6000"/>
                  </a:lnTo>
                </a:path>
              </a:pathLst>
            </a:custGeom>
            <a:noFill/>
            <a:ln w="27432" cap="flat">
              <a:solidFill>
                <a:srgbClr val="009EE3"/>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91" name="Blue grid bottom tip 307"/>
            <p:cNvSpPr/>
            <p:nvPr/>
          </p:nvSpPr>
          <p:spPr>
            <a:xfrm>
              <a:off x="2807208" y="1463040"/>
              <a:ext cx="914" cy="54864"/>
            </a:xfrm>
            <a:custGeom>
              <a:avLst/>
              <a:gdLst/>
              <a:ahLst/>
              <a:cxnLst/>
              <a:rect l="0" t="0" r="w" b="h"/>
              <a:pathLst>
                <a:path w="100" h="6000" fill="none" stroke="1" extrusionOk="0">
                  <a:moveTo>
                    <a:pt x="0" y="0"/>
                  </a:moveTo>
                  <a:lnTo>
                    <a:pt x="0" y="6000"/>
                  </a:lnTo>
                </a:path>
              </a:pathLst>
            </a:custGeom>
            <a:noFill/>
            <a:ln w="27432" cap="flat">
              <a:solidFill>
                <a:srgbClr val="009EE3"/>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92" name="Blue grid top tip 349"/>
            <p:cNvSpPr/>
            <p:nvPr/>
          </p:nvSpPr>
          <p:spPr>
            <a:xfrm>
              <a:off x="3191256" y="438912"/>
              <a:ext cx="914" cy="54864"/>
            </a:xfrm>
            <a:custGeom>
              <a:avLst/>
              <a:gdLst/>
              <a:ahLst/>
              <a:cxnLst/>
              <a:rect l="0" t="0" r="w" b="h"/>
              <a:pathLst>
                <a:path w="100" h="6000" fill="none" stroke="1" extrusionOk="0">
                  <a:moveTo>
                    <a:pt x="0" y="0"/>
                  </a:moveTo>
                  <a:lnTo>
                    <a:pt x="0" y="6000"/>
                  </a:lnTo>
                </a:path>
              </a:pathLst>
            </a:custGeom>
            <a:noFill/>
            <a:ln w="27432" cap="flat">
              <a:solidFill>
                <a:srgbClr val="009EE3"/>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93" name="Blue grid bottom tip 349"/>
            <p:cNvSpPr/>
            <p:nvPr/>
          </p:nvSpPr>
          <p:spPr>
            <a:xfrm>
              <a:off x="3191256" y="1463040"/>
              <a:ext cx="914" cy="54864"/>
            </a:xfrm>
            <a:custGeom>
              <a:avLst/>
              <a:gdLst/>
              <a:ahLst/>
              <a:cxnLst/>
              <a:rect l="0" t="0" r="w" b="h"/>
              <a:pathLst>
                <a:path w="100" h="6000" fill="none" stroke="1" extrusionOk="0">
                  <a:moveTo>
                    <a:pt x="0" y="0"/>
                  </a:moveTo>
                  <a:lnTo>
                    <a:pt x="0" y="6000"/>
                  </a:lnTo>
                </a:path>
              </a:pathLst>
            </a:custGeom>
            <a:noFill/>
            <a:ln w="27432" cap="flat">
              <a:solidFill>
                <a:srgbClr val="009EE3"/>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94" name="Blue grid left tip 63"/>
            <p:cNvSpPr/>
            <p:nvPr/>
          </p:nvSpPr>
          <p:spPr>
            <a:xfrm>
              <a:off x="1828800" y="576072"/>
              <a:ext cx="118872" cy="914"/>
            </a:xfrm>
            <a:custGeom>
              <a:avLst/>
              <a:gdLst/>
              <a:ahLst/>
              <a:cxnLst/>
              <a:rect l="0" t="0" r="w" b="h"/>
              <a:pathLst>
                <a:path w="13000" h="100" fill="none" stroke="1" extrusionOk="0">
                  <a:moveTo>
                    <a:pt x="0" y="0"/>
                  </a:moveTo>
                  <a:lnTo>
                    <a:pt x="13000" y="0"/>
                  </a:lnTo>
                </a:path>
              </a:pathLst>
            </a:custGeom>
            <a:noFill/>
            <a:ln w="27432" cap="flat">
              <a:solidFill>
                <a:srgbClr val="009EE3"/>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95" name="Blue grid right tip 63"/>
            <p:cNvSpPr/>
            <p:nvPr/>
          </p:nvSpPr>
          <p:spPr>
            <a:xfrm>
              <a:off x="3282696" y="576072"/>
              <a:ext cx="128016" cy="914"/>
            </a:xfrm>
            <a:custGeom>
              <a:avLst/>
              <a:gdLst/>
              <a:ahLst/>
              <a:cxnLst/>
              <a:rect l="0" t="0" r="w" b="h"/>
              <a:pathLst>
                <a:path w="14000" h="100" fill="none" stroke="1" extrusionOk="0">
                  <a:moveTo>
                    <a:pt x="0" y="0"/>
                  </a:moveTo>
                  <a:lnTo>
                    <a:pt x="14000" y="0"/>
                  </a:lnTo>
                </a:path>
              </a:pathLst>
            </a:custGeom>
            <a:noFill/>
            <a:ln w="27432" cap="flat">
              <a:solidFill>
                <a:srgbClr val="009EE3"/>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96" name="Spatial grid vertex"/>
            <p:cNvSpPr/>
            <p:nvPr/>
          </p:nvSpPr>
          <p:spPr>
            <a:xfrm>
              <a:off x="1976933" y="513893"/>
              <a:ext cx="124358" cy="124358"/>
            </a:xfrm>
            <a:prstGeom prst="ellipse">
              <a:avLst/>
            </a:prstGeom>
            <a:solidFill>
              <a:srgbClr val="AC91B3"/>
            </a:solidFill>
            <a:ln w="14630" cap="flat">
              <a:solidFill>
                <a:srgbClr val="89B0C5"/>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97" name="Spatial grid vertex"/>
            <p:cNvSpPr/>
            <p:nvPr/>
          </p:nvSpPr>
          <p:spPr>
            <a:xfrm>
              <a:off x="2360981" y="513893"/>
              <a:ext cx="124358" cy="124358"/>
            </a:xfrm>
            <a:prstGeom prst="ellipse">
              <a:avLst/>
            </a:prstGeom>
            <a:solidFill>
              <a:srgbClr val="AC91B3"/>
            </a:solidFill>
            <a:ln w="14630" cap="flat">
              <a:solidFill>
                <a:srgbClr val="89B0C5"/>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98" name="Spatial grid vertex"/>
            <p:cNvSpPr/>
            <p:nvPr/>
          </p:nvSpPr>
          <p:spPr>
            <a:xfrm>
              <a:off x="2745029" y="513893"/>
              <a:ext cx="124358" cy="124358"/>
            </a:xfrm>
            <a:prstGeom prst="ellipse">
              <a:avLst/>
            </a:prstGeom>
            <a:solidFill>
              <a:srgbClr val="AC91B3"/>
            </a:solidFill>
            <a:ln w="14630" cap="flat">
              <a:solidFill>
                <a:srgbClr val="89B0C5"/>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99" name="Spatial grid vertex"/>
            <p:cNvSpPr/>
            <p:nvPr/>
          </p:nvSpPr>
          <p:spPr>
            <a:xfrm>
              <a:off x="3129077" y="513893"/>
              <a:ext cx="124358" cy="124358"/>
            </a:xfrm>
            <a:prstGeom prst="ellipse">
              <a:avLst/>
            </a:prstGeom>
            <a:solidFill>
              <a:srgbClr val="AC91B3"/>
            </a:solidFill>
            <a:ln w="14630" cap="flat">
              <a:solidFill>
                <a:srgbClr val="89B0C5"/>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00" name="Blue grid left tip 105"/>
            <p:cNvSpPr/>
            <p:nvPr/>
          </p:nvSpPr>
          <p:spPr>
            <a:xfrm>
              <a:off x="1828800" y="960120"/>
              <a:ext cx="118872" cy="914"/>
            </a:xfrm>
            <a:custGeom>
              <a:avLst/>
              <a:gdLst/>
              <a:ahLst/>
              <a:cxnLst/>
              <a:rect l="0" t="0" r="w" b="h"/>
              <a:pathLst>
                <a:path w="13000" h="100" fill="none" stroke="1" extrusionOk="0">
                  <a:moveTo>
                    <a:pt x="0" y="0"/>
                  </a:moveTo>
                  <a:lnTo>
                    <a:pt x="13000" y="0"/>
                  </a:lnTo>
                </a:path>
              </a:pathLst>
            </a:custGeom>
            <a:noFill/>
            <a:ln w="27432" cap="flat">
              <a:solidFill>
                <a:srgbClr val="009EE3"/>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01" name="Blue grid right tip 105"/>
            <p:cNvSpPr/>
            <p:nvPr/>
          </p:nvSpPr>
          <p:spPr>
            <a:xfrm>
              <a:off x="3282696" y="960120"/>
              <a:ext cx="128016" cy="914"/>
            </a:xfrm>
            <a:custGeom>
              <a:avLst/>
              <a:gdLst/>
              <a:ahLst/>
              <a:cxnLst/>
              <a:rect l="0" t="0" r="w" b="h"/>
              <a:pathLst>
                <a:path w="14000" h="100" fill="none" stroke="1" extrusionOk="0">
                  <a:moveTo>
                    <a:pt x="0" y="0"/>
                  </a:moveTo>
                  <a:lnTo>
                    <a:pt x="14000" y="0"/>
                  </a:lnTo>
                </a:path>
              </a:pathLst>
            </a:custGeom>
            <a:noFill/>
            <a:ln w="27432" cap="flat">
              <a:solidFill>
                <a:srgbClr val="009EE3"/>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02" name="Spatial grid vertex"/>
            <p:cNvSpPr/>
            <p:nvPr/>
          </p:nvSpPr>
          <p:spPr>
            <a:xfrm>
              <a:off x="1976933" y="897941"/>
              <a:ext cx="124358" cy="124358"/>
            </a:xfrm>
            <a:prstGeom prst="ellipse">
              <a:avLst/>
            </a:prstGeom>
            <a:solidFill>
              <a:srgbClr val="AC91B3"/>
            </a:solidFill>
            <a:ln w="14630" cap="flat">
              <a:solidFill>
                <a:srgbClr val="89B0C5"/>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03" name="Spatial grid vertex"/>
            <p:cNvSpPr/>
            <p:nvPr/>
          </p:nvSpPr>
          <p:spPr>
            <a:xfrm>
              <a:off x="2360981" y="897941"/>
              <a:ext cx="124358" cy="124358"/>
            </a:xfrm>
            <a:prstGeom prst="ellipse">
              <a:avLst/>
            </a:prstGeom>
            <a:solidFill>
              <a:srgbClr val="AC91B3"/>
            </a:solidFill>
            <a:ln w="14630" cap="flat">
              <a:solidFill>
                <a:srgbClr val="89B0C5"/>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04" name="Spatial grid vertex"/>
            <p:cNvSpPr/>
            <p:nvPr/>
          </p:nvSpPr>
          <p:spPr>
            <a:xfrm>
              <a:off x="2745029" y="897941"/>
              <a:ext cx="124358" cy="124358"/>
            </a:xfrm>
            <a:prstGeom prst="ellipse">
              <a:avLst/>
            </a:prstGeom>
            <a:solidFill>
              <a:srgbClr val="AC91B3"/>
            </a:solidFill>
            <a:ln w="14630" cap="flat">
              <a:solidFill>
                <a:srgbClr val="89B0C5"/>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05" name="Spatial grid vertex"/>
            <p:cNvSpPr/>
            <p:nvPr/>
          </p:nvSpPr>
          <p:spPr>
            <a:xfrm>
              <a:off x="3129077" y="897941"/>
              <a:ext cx="124358" cy="124358"/>
            </a:xfrm>
            <a:prstGeom prst="ellipse">
              <a:avLst/>
            </a:prstGeom>
            <a:solidFill>
              <a:srgbClr val="AC91B3"/>
            </a:solidFill>
            <a:ln w="14630" cap="flat">
              <a:solidFill>
                <a:srgbClr val="89B0C5"/>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06" name="Blue grid left tip 147"/>
            <p:cNvSpPr/>
            <p:nvPr/>
          </p:nvSpPr>
          <p:spPr>
            <a:xfrm>
              <a:off x="1828800" y="1344168"/>
              <a:ext cx="118872" cy="914"/>
            </a:xfrm>
            <a:custGeom>
              <a:avLst/>
              <a:gdLst/>
              <a:ahLst/>
              <a:cxnLst/>
              <a:rect l="0" t="0" r="w" b="h"/>
              <a:pathLst>
                <a:path w="13000" h="100" fill="none" stroke="1" extrusionOk="0">
                  <a:moveTo>
                    <a:pt x="0" y="0"/>
                  </a:moveTo>
                  <a:lnTo>
                    <a:pt x="13000" y="0"/>
                  </a:lnTo>
                </a:path>
              </a:pathLst>
            </a:custGeom>
            <a:noFill/>
            <a:ln w="27432" cap="flat">
              <a:solidFill>
                <a:srgbClr val="009EE3"/>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07" name="Blue grid right tip 147"/>
            <p:cNvSpPr/>
            <p:nvPr/>
          </p:nvSpPr>
          <p:spPr>
            <a:xfrm>
              <a:off x="3282696" y="1344168"/>
              <a:ext cx="128016" cy="914"/>
            </a:xfrm>
            <a:custGeom>
              <a:avLst/>
              <a:gdLst/>
              <a:ahLst/>
              <a:cxnLst/>
              <a:rect l="0" t="0" r="w" b="h"/>
              <a:pathLst>
                <a:path w="14000" h="100" fill="none" stroke="1" extrusionOk="0">
                  <a:moveTo>
                    <a:pt x="0" y="0"/>
                  </a:moveTo>
                  <a:lnTo>
                    <a:pt x="14000" y="0"/>
                  </a:lnTo>
                </a:path>
              </a:pathLst>
            </a:custGeom>
            <a:noFill/>
            <a:ln w="27432" cap="flat">
              <a:solidFill>
                <a:srgbClr val="009EE3"/>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08" name="Spatial grid vertex"/>
            <p:cNvSpPr/>
            <p:nvPr/>
          </p:nvSpPr>
          <p:spPr>
            <a:xfrm>
              <a:off x="1976933" y="1281989"/>
              <a:ext cx="124358" cy="124358"/>
            </a:xfrm>
            <a:prstGeom prst="ellipse">
              <a:avLst/>
            </a:prstGeom>
            <a:solidFill>
              <a:srgbClr val="AC91B3"/>
            </a:solidFill>
            <a:ln w="14630" cap="flat">
              <a:solidFill>
                <a:srgbClr val="89B0C5"/>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09" name="Spatial grid vertex"/>
            <p:cNvSpPr/>
            <p:nvPr/>
          </p:nvSpPr>
          <p:spPr>
            <a:xfrm>
              <a:off x="2360981" y="1281989"/>
              <a:ext cx="124358" cy="124358"/>
            </a:xfrm>
            <a:prstGeom prst="ellipse">
              <a:avLst/>
            </a:prstGeom>
            <a:solidFill>
              <a:srgbClr val="AC91B3"/>
            </a:solidFill>
            <a:ln w="14630" cap="flat">
              <a:solidFill>
                <a:srgbClr val="89B0C5"/>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10" name="Spatial grid vertex"/>
            <p:cNvSpPr/>
            <p:nvPr/>
          </p:nvSpPr>
          <p:spPr>
            <a:xfrm>
              <a:off x="2745029" y="1281989"/>
              <a:ext cx="124358" cy="124358"/>
            </a:xfrm>
            <a:prstGeom prst="ellipse">
              <a:avLst/>
            </a:prstGeom>
            <a:solidFill>
              <a:srgbClr val="AC91B3"/>
            </a:solidFill>
            <a:ln w="14630" cap="flat">
              <a:solidFill>
                <a:srgbClr val="89B0C5"/>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11" name="Spatial grid vertex"/>
            <p:cNvSpPr/>
            <p:nvPr/>
          </p:nvSpPr>
          <p:spPr>
            <a:xfrm>
              <a:off x="3129077" y="1281989"/>
              <a:ext cx="124358" cy="124358"/>
            </a:xfrm>
            <a:prstGeom prst="ellipse">
              <a:avLst/>
            </a:prstGeom>
            <a:solidFill>
              <a:srgbClr val="AC91B3"/>
            </a:solidFill>
            <a:ln w="14630" cap="flat">
              <a:solidFill>
                <a:srgbClr val="89B0C5"/>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grpSp>
      <p:grpSp>
        <p:nvGrpSpPr>
          <p:cNvPr id="112" name="Three graph snapshots"/>
          <p:cNvGrpSpPr/>
          <p:nvPr/>
        </p:nvGrpSpPr>
        <p:grpSpPr>
          <a:xfrm>
            <a:off x="265176" y="1901952"/>
            <a:ext cx="987552" cy="841248"/>
            <a:chOff x="265176" y="1901952"/>
            <a:chExt cx="987552" cy="841248"/>
          </a:xfrm>
        </p:grpSpPr>
        <p:sp>
          <p:nvSpPr>
            <p:cNvPr id="113" name="Graph snapshot border"/>
            <p:cNvSpPr/>
            <p:nvPr/>
          </p:nvSpPr>
          <p:spPr>
            <a:xfrm>
              <a:off x="667512" y="1901952"/>
              <a:ext cx="585216" cy="576072"/>
            </a:xfrm>
            <a:prstGeom prst="rect">
              <a:avLst/>
            </a:prstGeom>
            <a:solidFill>
              <a:srgbClr val="FFFFFF"/>
            </a:solidFill>
            <a:ln w="45720" cap="flat">
              <a:solidFill>
                <a:srgbClr val="858585"/>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14" name="Graph edge"/>
            <p:cNvSpPr/>
            <p:nvPr/>
          </p:nvSpPr>
          <p:spPr>
            <a:xfrm>
              <a:off x="722376" y="1956816"/>
              <a:ext cx="164592" cy="265176"/>
            </a:xfrm>
            <a:custGeom>
              <a:avLst/>
              <a:gdLst/>
              <a:ahLst/>
              <a:cxnLst/>
              <a:rect l="0" t="0" r="w" b="h"/>
              <a:pathLst>
                <a:path w="18000" h="29000" fill="none" stroke="1" extrusionOk="0">
                  <a:moveTo>
                    <a:pt x="0" y="29000"/>
                  </a:moveTo>
                  <a:lnTo>
                    <a:pt x="18000" y="0"/>
                  </a:lnTo>
                </a:path>
              </a:pathLst>
            </a:custGeom>
            <a:noFill/>
            <a:ln w="43891" cap="flat">
              <a:solidFill>
                <a:srgbClr val="858585"/>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15" name="Graph edge"/>
            <p:cNvSpPr/>
            <p:nvPr/>
          </p:nvSpPr>
          <p:spPr>
            <a:xfrm>
              <a:off x="886968" y="1956816"/>
              <a:ext cx="274320" cy="64008"/>
            </a:xfrm>
            <a:custGeom>
              <a:avLst/>
              <a:gdLst/>
              <a:ahLst/>
              <a:cxnLst/>
              <a:rect l="0" t="0" r="w" b="h"/>
              <a:pathLst>
                <a:path w="30000" h="7000" fill="none" stroke="1" extrusionOk="0">
                  <a:moveTo>
                    <a:pt x="0" y="0"/>
                  </a:moveTo>
                  <a:lnTo>
                    <a:pt x="30000" y="7000"/>
                  </a:lnTo>
                </a:path>
              </a:pathLst>
            </a:custGeom>
            <a:noFill/>
            <a:ln w="43891" cap="flat">
              <a:solidFill>
                <a:srgbClr val="858585"/>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16" name="Graph edge"/>
            <p:cNvSpPr/>
            <p:nvPr/>
          </p:nvSpPr>
          <p:spPr>
            <a:xfrm>
              <a:off x="1161288" y="2020824"/>
              <a:ext cx="27432" cy="246888"/>
            </a:xfrm>
            <a:custGeom>
              <a:avLst/>
              <a:gdLst/>
              <a:ahLst/>
              <a:cxnLst/>
              <a:rect l="0" t="0" r="w" b="h"/>
              <a:pathLst>
                <a:path w="3000" h="27000" fill="none" stroke="1" extrusionOk="0">
                  <a:moveTo>
                    <a:pt x="0" y="0"/>
                  </a:moveTo>
                  <a:lnTo>
                    <a:pt x="3000" y="27000"/>
                  </a:lnTo>
                </a:path>
              </a:pathLst>
            </a:custGeom>
            <a:noFill/>
            <a:ln w="43891" cap="flat">
              <a:solidFill>
                <a:srgbClr val="858585"/>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17" name="Graph edge"/>
            <p:cNvSpPr/>
            <p:nvPr/>
          </p:nvSpPr>
          <p:spPr>
            <a:xfrm>
              <a:off x="969264" y="2267712"/>
              <a:ext cx="219456" cy="137160"/>
            </a:xfrm>
            <a:custGeom>
              <a:avLst/>
              <a:gdLst/>
              <a:ahLst/>
              <a:cxnLst/>
              <a:rect l="0" t="0" r="w" b="h"/>
              <a:pathLst>
                <a:path w="24000" h="15000" fill="none" stroke="1" extrusionOk="0">
                  <a:moveTo>
                    <a:pt x="24000" y="0"/>
                  </a:moveTo>
                  <a:lnTo>
                    <a:pt x="0" y="15000"/>
                  </a:lnTo>
                </a:path>
              </a:pathLst>
            </a:custGeom>
            <a:noFill/>
            <a:ln w="43891" cap="flat">
              <a:solidFill>
                <a:srgbClr val="858585"/>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18" name="Graph edge"/>
            <p:cNvSpPr/>
            <p:nvPr/>
          </p:nvSpPr>
          <p:spPr>
            <a:xfrm>
              <a:off x="950976" y="2176272"/>
              <a:ext cx="18288" cy="228600"/>
            </a:xfrm>
            <a:custGeom>
              <a:avLst/>
              <a:gdLst/>
              <a:ahLst/>
              <a:cxnLst/>
              <a:rect l="0" t="0" r="w" b="h"/>
              <a:pathLst>
                <a:path w="2000" h="25000" fill="none" stroke="1" extrusionOk="0">
                  <a:moveTo>
                    <a:pt x="2000" y="25000"/>
                  </a:moveTo>
                  <a:lnTo>
                    <a:pt x="0" y="0"/>
                  </a:lnTo>
                </a:path>
              </a:pathLst>
            </a:custGeom>
            <a:noFill/>
            <a:ln w="43891" cap="flat">
              <a:solidFill>
                <a:srgbClr val="858585"/>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19" name="Graph edge"/>
            <p:cNvSpPr/>
            <p:nvPr/>
          </p:nvSpPr>
          <p:spPr>
            <a:xfrm>
              <a:off x="886968" y="1956816"/>
              <a:ext cx="64008" cy="219456"/>
            </a:xfrm>
            <a:custGeom>
              <a:avLst/>
              <a:gdLst/>
              <a:ahLst/>
              <a:cxnLst/>
              <a:rect l="0" t="0" r="w" b="h"/>
              <a:pathLst>
                <a:path w="7000" h="24000" fill="none" stroke="1" extrusionOk="0">
                  <a:moveTo>
                    <a:pt x="7000" y="24000"/>
                  </a:moveTo>
                  <a:lnTo>
                    <a:pt x="0" y="0"/>
                  </a:lnTo>
                </a:path>
              </a:pathLst>
            </a:custGeom>
            <a:noFill/>
            <a:ln w="43891" cap="flat">
              <a:solidFill>
                <a:srgbClr val="858585"/>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20" name="Graph node"/>
            <p:cNvSpPr/>
            <p:nvPr/>
          </p:nvSpPr>
          <p:spPr>
            <a:xfrm>
              <a:off x="667512" y="2167128"/>
              <a:ext cx="109728" cy="109728"/>
            </a:xfrm>
            <a:prstGeom prst="ellipse">
              <a:avLst/>
            </a:prstGeom>
            <a:solidFill>
              <a:srgbClr val="A9D58D"/>
            </a:solidFill>
            <a:ln>
              <a:noFill/>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21" name="Graph node"/>
            <p:cNvSpPr/>
            <p:nvPr/>
          </p:nvSpPr>
          <p:spPr>
            <a:xfrm>
              <a:off x="832104" y="1901952"/>
              <a:ext cx="109728" cy="109728"/>
            </a:xfrm>
            <a:prstGeom prst="ellipse">
              <a:avLst/>
            </a:prstGeom>
            <a:solidFill>
              <a:srgbClr val="A9D58D"/>
            </a:solidFill>
            <a:ln>
              <a:noFill/>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22" name="Graph node"/>
            <p:cNvSpPr/>
            <p:nvPr/>
          </p:nvSpPr>
          <p:spPr>
            <a:xfrm>
              <a:off x="1106424" y="1965960"/>
              <a:ext cx="109728" cy="109728"/>
            </a:xfrm>
            <a:prstGeom prst="ellipse">
              <a:avLst/>
            </a:prstGeom>
            <a:solidFill>
              <a:srgbClr val="A9D58D"/>
            </a:solidFill>
            <a:ln>
              <a:noFill/>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23" name="Graph node"/>
            <p:cNvSpPr/>
            <p:nvPr/>
          </p:nvSpPr>
          <p:spPr>
            <a:xfrm>
              <a:off x="1133856" y="2212848"/>
              <a:ext cx="109728" cy="109728"/>
            </a:xfrm>
            <a:prstGeom prst="ellipse">
              <a:avLst/>
            </a:prstGeom>
            <a:solidFill>
              <a:srgbClr val="A9D58D"/>
            </a:solidFill>
            <a:ln>
              <a:noFill/>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24" name="Graph node"/>
            <p:cNvSpPr/>
            <p:nvPr/>
          </p:nvSpPr>
          <p:spPr>
            <a:xfrm>
              <a:off x="914400" y="2350008"/>
              <a:ext cx="109728" cy="109728"/>
            </a:xfrm>
            <a:prstGeom prst="ellipse">
              <a:avLst/>
            </a:prstGeom>
            <a:solidFill>
              <a:srgbClr val="A9D58D"/>
            </a:solidFill>
            <a:ln>
              <a:noFill/>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25" name="Graph node"/>
            <p:cNvSpPr/>
            <p:nvPr/>
          </p:nvSpPr>
          <p:spPr>
            <a:xfrm>
              <a:off x="896112" y="2121408"/>
              <a:ext cx="109728" cy="109728"/>
            </a:xfrm>
            <a:prstGeom prst="ellipse">
              <a:avLst/>
            </a:prstGeom>
            <a:solidFill>
              <a:srgbClr val="A9D58D"/>
            </a:solidFill>
            <a:ln>
              <a:noFill/>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26" name="Graph snapshot border"/>
            <p:cNvSpPr/>
            <p:nvPr/>
          </p:nvSpPr>
          <p:spPr>
            <a:xfrm>
              <a:off x="475488" y="2048256"/>
              <a:ext cx="585216" cy="576072"/>
            </a:xfrm>
            <a:prstGeom prst="rect">
              <a:avLst/>
            </a:prstGeom>
            <a:solidFill>
              <a:srgbClr val="FFFFFF"/>
            </a:solidFill>
            <a:ln w="45720" cap="flat">
              <a:solidFill>
                <a:srgbClr val="858585"/>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27" name="Graph edge"/>
            <p:cNvSpPr/>
            <p:nvPr/>
          </p:nvSpPr>
          <p:spPr>
            <a:xfrm>
              <a:off x="530352" y="2103120"/>
              <a:ext cx="164592" cy="265176"/>
            </a:xfrm>
            <a:custGeom>
              <a:avLst/>
              <a:gdLst/>
              <a:ahLst/>
              <a:cxnLst/>
              <a:rect l="0" t="0" r="w" b="h"/>
              <a:pathLst>
                <a:path w="18000" h="29000" fill="none" stroke="1" extrusionOk="0">
                  <a:moveTo>
                    <a:pt x="0" y="29000"/>
                  </a:moveTo>
                  <a:lnTo>
                    <a:pt x="18000" y="0"/>
                  </a:lnTo>
                </a:path>
              </a:pathLst>
            </a:custGeom>
            <a:noFill/>
            <a:ln w="43891" cap="flat">
              <a:solidFill>
                <a:srgbClr val="858585"/>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28" name="Graph edge"/>
            <p:cNvSpPr/>
            <p:nvPr/>
          </p:nvSpPr>
          <p:spPr>
            <a:xfrm>
              <a:off x="694944" y="2103120"/>
              <a:ext cx="274320" cy="64008"/>
            </a:xfrm>
            <a:custGeom>
              <a:avLst/>
              <a:gdLst/>
              <a:ahLst/>
              <a:cxnLst/>
              <a:rect l="0" t="0" r="w" b="h"/>
              <a:pathLst>
                <a:path w="30000" h="7000" fill="none" stroke="1" extrusionOk="0">
                  <a:moveTo>
                    <a:pt x="0" y="0"/>
                  </a:moveTo>
                  <a:lnTo>
                    <a:pt x="30000" y="7000"/>
                  </a:lnTo>
                </a:path>
              </a:pathLst>
            </a:custGeom>
            <a:noFill/>
            <a:ln w="43891" cap="flat">
              <a:solidFill>
                <a:srgbClr val="858585"/>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29" name="Graph edge"/>
            <p:cNvSpPr/>
            <p:nvPr/>
          </p:nvSpPr>
          <p:spPr>
            <a:xfrm>
              <a:off x="969264" y="2167128"/>
              <a:ext cx="27432" cy="246888"/>
            </a:xfrm>
            <a:custGeom>
              <a:avLst/>
              <a:gdLst/>
              <a:ahLst/>
              <a:cxnLst/>
              <a:rect l="0" t="0" r="w" b="h"/>
              <a:pathLst>
                <a:path w="3000" h="27000" fill="none" stroke="1" extrusionOk="0">
                  <a:moveTo>
                    <a:pt x="0" y="0"/>
                  </a:moveTo>
                  <a:lnTo>
                    <a:pt x="3000" y="27000"/>
                  </a:lnTo>
                </a:path>
              </a:pathLst>
            </a:custGeom>
            <a:noFill/>
            <a:ln w="43891" cap="flat">
              <a:solidFill>
                <a:srgbClr val="858585"/>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30" name="Graph edge"/>
            <p:cNvSpPr/>
            <p:nvPr/>
          </p:nvSpPr>
          <p:spPr>
            <a:xfrm>
              <a:off x="777240" y="2414016"/>
              <a:ext cx="219456" cy="137160"/>
            </a:xfrm>
            <a:custGeom>
              <a:avLst/>
              <a:gdLst/>
              <a:ahLst/>
              <a:cxnLst/>
              <a:rect l="0" t="0" r="w" b="h"/>
              <a:pathLst>
                <a:path w="24000" h="15000" fill="none" stroke="1" extrusionOk="0">
                  <a:moveTo>
                    <a:pt x="24000" y="0"/>
                  </a:moveTo>
                  <a:lnTo>
                    <a:pt x="0" y="15000"/>
                  </a:lnTo>
                </a:path>
              </a:pathLst>
            </a:custGeom>
            <a:noFill/>
            <a:ln w="43891" cap="flat">
              <a:solidFill>
                <a:srgbClr val="858585"/>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31" name="Graph edge"/>
            <p:cNvSpPr/>
            <p:nvPr/>
          </p:nvSpPr>
          <p:spPr>
            <a:xfrm>
              <a:off x="758952" y="2322576"/>
              <a:ext cx="18288" cy="228600"/>
            </a:xfrm>
            <a:custGeom>
              <a:avLst/>
              <a:gdLst/>
              <a:ahLst/>
              <a:cxnLst/>
              <a:rect l="0" t="0" r="w" b="h"/>
              <a:pathLst>
                <a:path w="2000" h="25000" fill="none" stroke="1" extrusionOk="0">
                  <a:moveTo>
                    <a:pt x="2000" y="25000"/>
                  </a:moveTo>
                  <a:lnTo>
                    <a:pt x="0" y="0"/>
                  </a:lnTo>
                </a:path>
              </a:pathLst>
            </a:custGeom>
            <a:noFill/>
            <a:ln w="43891" cap="flat">
              <a:solidFill>
                <a:srgbClr val="858585"/>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32" name="Graph edge"/>
            <p:cNvSpPr/>
            <p:nvPr/>
          </p:nvSpPr>
          <p:spPr>
            <a:xfrm>
              <a:off x="694944" y="2103120"/>
              <a:ext cx="64008" cy="219456"/>
            </a:xfrm>
            <a:custGeom>
              <a:avLst/>
              <a:gdLst/>
              <a:ahLst/>
              <a:cxnLst/>
              <a:rect l="0" t="0" r="w" b="h"/>
              <a:pathLst>
                <a:path w="7000" h="24000" fill="none" stroke="1" extrusionOk="0">
                  <a:moveTo>
                    <a:pt x="7000" y="24000"/>
                  </a:moveTo>
                  <a:lnTo>
                    <a:pt x="0" y="0"/>
                  </a:lnTo>
                </a:path>
              </a:pathLst>
            </a:custGeom>
            <a:noFill/>
            <a:ln w="43891" cap="flat">
              <a:solidFill>
                <a:srgbClr val="858585"/>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33" name="Graph node"/>
            <p:cNvSpPr/>
            <p:nvPr/>
          </p:nvSpPr>
          <p:spPr>
            <a:xfrm>
              <a:off x="475488" y="2313432"/>
              <a:ext cx="109728" cy="109728"/>
            </a:xfrm>
            <a:prstGeom prst="ellipse">
              <a:avLst/>
            </a:prstGeom>
            <a:solidFill>
              <a:srgbClr val="A9D58D"/>
            </a:solidFill>
            <a:ln>
              <a:noFill/>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34" name="Graph node"/>
            <p:cNvSpPr/>
            <p:nvPr/>
          </p:nvSpPr>
          <p:spPr>
            <a:xfrm>
              <a:off x="640080" y="2048256"/>
              <a:ext cx="109728" cy="109728"/>
            </a:xfrm>
            <a:prstGeom prst="ellipse">
              <a:avLst/>
            </a:prstGeom>
            <a:solidFill>
              <a:srgbClr val="A9D58D"/>
            </a:solidFill>
            <a:ln>
              <a:noFill/>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35" name="Graph node"/>
            <p:cNvSpPr/>
            <p:nvPr/>
          </p:nvSpPr>
          <p:spPr>
            <a:xfrm>
              <a:off x="914400" y="2112264"/>
              <a:ext cx="109728" cy="109728"/>
            </a:xfrm>
            <a:prstGeom prst="ellipse">
              <a:avLst/>
            </a:prstGeom>
            <a:solidFill>
              <a:srgbClr val="A9D58D"/>
            </a:solidFill>
            <a:ln>
              <a:noFill/>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36" name="Graph node"/>
            <p:cNvSpPr/>
            <p:nvPr/>
          </p:nvSpPr>
          <p:spPr>
            <a:xfrm>
              <a:off x="941832" y="2359152"/>
              <a:ext cx="109728" cy="109728"/>
            </a:xfrm>
            <a:prstGeom prst="ellipse">
              <a:avLst/>
            </a:prstGeom>
            <a:solidFill>
              <a:srgbClr val="A9D58D"/>
            </a:solidFill>
            <a:ln>
              <a:noFill/>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37" name="Graph node"/>
            <p:cNvSpPr/>
            <p:nvPr/>
          </p:nvSpPr>
          <p:spPr>
            <a:xfrm>
              <a:off x="722376" y="2496312"/>
              <a:ext cx="109728" cy="109728"/>
            </a:xfrm>
            <a:prstGeom prst="ellipse">
              <a:avLst/>
            </a:prstGeom>
            <a:solidFill>
              <a:srgbClr val="A9D58D"/>
            </a:solidFill>
            <a:ln>
              <a:noFill/>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38" name="Graph node"/>
            <p:cNvSpPr/>
            <p:nvPr/>
          </p:nvSpPr>
          <p:spPr>
            <a:xfrm>
              <a:off x="704088" y="2267712"/>
              <a:ext cx="109728" cy="109728"/>
            </a:xfrm>
            <a:prstGeom prst="ellipse">
              <a:avLst/>
            </a:prstGeom>
            <a:solidFill>
              <a:srgbClr val="A9D58D"/>
            </a:solidFill>
            <a:ln>
              <a:noFill/>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39" name="Graph snapshot border"/>
            <p:cNvSpPr/>
            <p:nvPr/>
          </p:nvSpPr>
          <p:spPr>
            <a:xfrm>
              <a:off x="265176" y="2167128"/>
              <a:ext cx="585216" cy="576072"/>
            </a:xfrm>
            <a:prstGeom prst="rect">
              <a:avLst/>
            </a:prstGeom>
            <a:solidFill>
              <a:srgbClr val="FFFFFF"/>
            </a:solidFill>
            <a:ln w="45720" cap="flat">
              <a:solidFill>
                <a:srgbClr val="858585"/>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40" name="Graph edge"/>
            <p:cNvSpPr/>
            <p:nvPr/>
          </p:nvSpPr>
          <p:spPr>
            <a:xfrm>
              <a:off x="320040" y="2221992"/>
              <a:ext cx="164592" cy="265176"/>
            </a:xfrm>
            <a:custGeom>
              <a:avLst/>
              <a:gdLst/>
              <a:ahLst/>
              <a:cxnLst/>
              <a:rect l="0" t="0" r="w" b="h"/>
              <a:pathLst>
                <a:path w="18000" h="29000" fill="none" stroke="1" extrusionOk="0">
                  <a:moveTo>
                    <a:pt x="0" y="29000"/>
                  </a:moveTo>
                  <a:lnTo>
                    <a:pt x="18000" y="0"/>
                  </a:lnTo>
                </a:path>
              </a:pathLst>
            </a:custGeom>
            <a:noFill/>
            <a:ln w="43891" cap="flat">
              <a:solidFill>
                <a:srgbClr val="858585"/>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41" name="Graph edge"/>
            <p:cNvSpPr/>
            <p:nvPr/>
          </p:nvSpPr>
          <p:spPr>
            <a:xfrm>
              <a:off x="484632" y="2221992"/>
              <a:ext cx="274320" cy="64008"/>
            </a:xfrm>
            <a:custGeom>
              <a:avLst/>
              <a:gdLst/>
              <a:ahLst/>
              <a:cxnLst/>
              <a:rect l="0" t="0" r="w" b="h"/>
              <a:pathLst>
                <a:path w="30000" h="7000" fill="none" stroke="1" extrusionOk="0">
                  <a:moveTo>
                    <a:pt x="0" y="0"/>
                  </a:moveTo>
                  <a:lnTo>
                    <a:pt x="30000" y="7000"/>
                  </a:lnTo>
                </a:path>
              </a:pathLst>
            </a:custGeom>
            <a:noFill/>
            <a:ln w="43891" cap="flat">
              <a:solidFill>
                <a:srgbClr val="858585"/>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42" name="Graph edge"/>
            <p:cNvSpPr/>
            <p:nvPr/>
          </p:nvSpPr>
          <p:spPr>
            <a:xfrm>
              <a:off x="758952" y="2286000"/>
              <a:ext cx="27432" cy="246888"/>
            </a:xfrm>
            <a:custGeom>
              <a:avLst/>
              <a:gdLst/>
              <a:ahLst/>
              <a:cxnLst/>
              <a:rect l="0" t="0" r="w" b="h"/>
              <a:pathLst>
                <a:path w="3000" h="27000" fill="none" stroke="1" extrusionOk="0">
                  <a:moveTo>
                    <a:pt x="0" y="0"/>
                  </a:moveTo>
                  <a:lnTo>
                    <a:pt x="3000" y="27000"/>
                  </a:lnTo>
                </a:path>
              </a:pathLst>
            </a:custGeom>
            <a:noFill/>
            <a:ln w="43891" cap="flat">
              <a:solidFill>
                <a:srgbClr val="858585"/>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43" name="Graph edge"/>
            <p:cNvSpPr/>
            <p:nvPr/>
          </p:nvSpPr>
          <p:spPr>
            <a:xfrm>
              <a:off x="566928" y="2532888"/>
              <a:ext cx="219456" cy="137160"/>
            </a:xfrm>
            <a:custGeom>
              <a:avLst/>
              <a:gdLst/>
              <a:ahLst/>
              <a:cxnLst/>
              <a:rect l="0" t="0" r="w" b="h"/>
              <a:pathLst>
                <a:path w="24000" h="15000" fill="none" stroke="1" extrusionOk="0">
                  <a:moveTo>
                    <a:pt x="24000" y="0"/>
                  </a:moveTo>
                  <a:lnTo>
                    <a:pt x="0" y="15000"/>
                  </a:lnTo>
                </a:path>
              </a:pathLst>
            </a:custGeom>
            <a:noFill/>
            <a:ln w="43891" cap="flat">
              <a:solidFill>
                <a:srgbClr val="858585"/>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44" name="Graph edge"/>
            <p:cNvSpPr/>
            <p:nvPr/>
          </p:nvSpPr>
          <p:spPr>
            <a:xfrm>
              <a:off x="548640" y="2441448"/>
              <a:ext cx="18288" cy="228600"/>
            </a:xfrm>
            <a:custGeom>
              <a:avLst/>
              <a:gdLst/>
              <a:ahLst/>
              <a:cxnLst/>
              <a:rect l="0" t="0" r="w" b="h"/>
              <a:pathLst>
                <a:path w="2000" h="25000" fill="none" stroke="1" extrusionOk="0">
                  <a:moveTo>
                    <a:pt x="2000" y="25000"/>
                  </a:moveTo>
                  <a:lnTo>
                    <a:pt x="0" y="0"/>
                  </a:lnTo>
                </a:path>
              </a:pathLst>
            </a:custGeom>
            <a:noFill/>
            <a:ln w="43891" cap="flat">
              <a:solidFill>
                <a:srgbClr val="858585"/>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45" name="Graph edge"/>
            <p:cNvSpPr/>
            <p:nvPr/>
          </p:nvSpPr>
          <p:spPr>
            <a:xfrm>
              <a:off x="484632" y="2221992"/>
              <a:ext cx="64008" cy="219456"/>
            </a:xfrm>
            <a:custGeom>
              <a:avLst/>
              <a:gdLst/>
              <a:ahLst/>
              <a:cxnLst/>
              <a:rect l="0" t="0" r="w" b="h"/>
              <a:pathLst>
                <a:path w="7000" h="24000" fill="none" stroke="1" extrusionOk="0">
                  <a:moveTo>
                    <a:pt x="7000" y="24000"/>
                  </a:moveTo>
                  <a:lnTo>
                    <a:pt x="0" y="0"/>
                  </a:lnTo>
                </a:path>
              </a:pathLst>
            </a:custGeom>
            <a:noFill/>
            <a:ln w="43891" cap="flat">
              <a:solidFill>
                <a:srgbClr val="858585"/>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46" name="Graph node"/>
            <p:cNvSpPr/>
            <p:nvPr/>
          </p:nvSpPr>
          <p:spPr>
            <a:xfrm>
              <a:off x="265176" y="2432304"/>
              <a:ext cx="109728" cy="109728"/>
            </a:xfrm>
            <a:prstGeom prst="ellipse">
              <a:avLst/>
            </a:prstGeom>
            <a:solidFill>
              <a:srgbClr val="A9D58D"/>
            </a:solidFill>
            <a:ln>
              <a:noFill/>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47" name="Graph node"/>
            <p:cNvSpPr/>
            <p:nvPr/>
          </p:nvSpPr>
          <p:spPr>
            <a:xfrm>
              <a:off x="429768" y="2167128"/>
              <a:ext cx="109728" cy="109728"/>
            </a:xfrm>
            <a:prstGeom prst="ellipse">
              <a:avLst/>
            </a:prstGeom>
            <a:solidFill>
              <a:srgbClr val="A9D58D"/>
            </a:solidFill>
            <a:ln>
              <a:noFill/>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48" name="Graph node"/>
            <p:cNvSpPr/>
            <p:nvPr/>
          </p:nvSpPr>
          <p:spPr>
            <a:xfrm>
              <a:off x="704088" y="2231136"/>
              <a:ext cx="109728" cy="109728"/>
            </a:xfrm>
            <a:prstGeom prst="ellipse">
              <a:avLst/>
            </a:prstGeom>
            <a:solidFill>
              <a:srgbClr val="A9D58D"/>
            </a:solidFill>
            <a:ln>
              <a:noFill/>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49" name="Graph node"/>
            <p:cNvSpPr/>
            <p:nvPr/>
          </p:nvSpPr>
          <p:spPr>
            <a:xfrm>
              <a:off x="731520" y="2478024"/>
              <a:ext cx="109728" cy="109728"/>
            </a:xfrm>
            <a:prstGeom prst="ellipse">
              <a:avLst/>
            </a:prstGeom>
            <a:solidFill>
              <a:srgbClr val="A9D58D"/>
            </a:solidFill>
            <a:ln>
              <a:noFill/>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50" name="Graph node"/>
            <p:cNvSpPr/>
            <p:nvPr/>
          </p:nvSpPr>
          <p:spPr>
            <a:xfrm>
              <a:off x="512064" y="2615184"/>
              <a:ext cx="109728" cy="109728"/>
            </a:xfrm>
            <a:prstGeom prst="ellipse">
              <a:avLst/>
            </a:prstGeom>
            <a:solidFill>
              <a:srgbClr val="A9D58D"/>
            </a:solidFill>
            <a:ln>
              <a:noFill/>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51" name="Graph node"/>
            <p:cNvSpPr/>
            <p:nvPr/>
          </p:nvSpPr>
          <p:spPr>
            <a:xfrm>
              <a:off x="493776" y="2386584"/>
              <a:ext cx="109728" cy="109728"/>
            </a:xfrm>
            <a:prstGeom prst="ellipse">
              <a:avLst/>
            </a:prstGeom>
            <a:solidFill>
              <a:srgbClr val="A9D58D"/>
            </a:solidFill>
            <a:ln>
              <a:noFill/>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grpSp>
      <p:grpSp>
        <p:nvGrpSpPr>
          <p:cNvPr id="152" name="Editable graph patches"/>
          <p:cNvGrpSpPr/>
          <p:nvPr/>
        </p:nvGrpSpPr>
        <p:grpSpPr>
          <a:xfrm>
            <a:off x="1792224" y="1956816"/>
            <a:ext cx="1627632" cy="1078992"/>
            <a:chOff x="1792224" y="1956816"/>
            <a:chExt cx="1627632" cy="1078992"/>
          </a:xfrm>
        </p:grpSpPr>
        <p:sp>
          <p:nvSpPr>
            <p:cNvPr id="153" name="Graph patch left"/>
            <p:cNvSpPr/>
            <p:nvPr/>
          </p:nvSpPr>
          <p:spPr>
            <a:xfrm rot="900000">
              <a:off x="1792224" y="1993392"/>
              <a:ext cx="621792" cy="868680"/>
            </a:xfrm>
            <a:prstGeom prst="ellipse">
              <a:avLst/>
            </a:prstGeom>
            <a:solidFill>
              <a:srgbClr val="D3E4F4"/>
            </a:solidFill>
            <a:ln>
              <a:noFill/>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54" name="Graph patch upper node"/>
            <p:cNvSpPr/>
            <p:nvPr/>
          </p:nvSpPr>
          <p:spPr>
            <a:xfrm>
              <a:off x="2459736" y="2002536"/>
              <a:ext cx="237744" cy="228600"/>
            </a:xfrm>
            <a:prstGeom prst="ellipse">
              <a:avLst/>
            </a:prstGeom>
            <a:solidFill>
              <a:srgbClr val="D3E4F4"/>
            </a:solidFill>
            <a:ln>
              <a:noFill/>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55" name="Graph patch middle"/>
            <p:cNvSpPr/>
            <p:nvPr/>
          </p:nvSpPr>
          <p:spPr>
            <a:xfrm rot="1440000">
              <a:off x="2423160" y="2496312"/>
              <a:ext cx="411480" cy="521208"/>
            </a:xfrm>
            <a:prstGeom prst="ellipse">
              <a:avLst/>
            </a:prstGeom>
            <a:solidFill>
              <a:srgbClr val="D3E4F4"/>
            </a:solidFill>
            <a:ln>
              <a:noFill/>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56" name="Graph patch right upper"/>
            <p:cNvSpPr/>
            <p:nvPr/>
          </p:nvSpPr>
          <p:spPr>
            <a:xfrm rot="21000000">
              <a:off x="2724912" y="1956816"/>
              <a:ext cx="694944" cy="539496"/>
            </a:xfrm>
            <a:prstGeom prst="ellipse">
              <a:avLst/>
            </a:prstGeom>
            <a:solidFill>
              <a:srgbClr val="D3E4F4"/>
            </a:solidFill>
            <a:ln>
              <a:noFill/>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57" name="Graph patch right lower"/>
            <p:cNvSpPr/>
            <p:nvPr/>
          </p:nvSpPr>
          <p:spPr>
            <a:xfrm rot="1920000">
              <a:off x="2752344" y="2432304"/>
              <a:ext cx="630936" cy="603504"/>
            </a:xfrm>
            <a:prstGeom prst="ellipse">
              <a:avLst/>
            </a:prstGeom>
            <a:solidFill>
              <a:srgbClr val="D3E4F4"/>
            </a:solidFill>
            <a:ln>
              <a:noFill/>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58" name="Patched graph edge"/>
            <p:cNvSpPr/>
            <p:nvPr/>
          </p:nvSpPr>
          <p:spPr>
            <a:xfrm>
              <a:off x="1929384" y="2066544"/>
              <a:ext cx="219456" cy="310896"/>
            </a:xfrm>
            <a:custGeom>
              <a:avLst/>
              <a:gdLst/>
              <a:ahLst/>
              <a:cxnLst/>
              <a:rect l="0" t="0" r="w" b="h"/>
              <a:pathLst>
                <a:path w="24000" h="34000" fill="none" stroke="1" extrusionOk="0">
                  <a:moveTo>
                    <a:pt x="0" y="34000"/>
                  </a:moveTo>
                  <a:lnTo>
                    <a:pt x="24000" y="0"/>
                  </a:lnTo>
                </a:path>
              </a:pathLst>
            </a:custGeom>
            <a:noFill/>
            <a:ln w="32004" cap="flat">
              <a:solidFill>
                <a:srgbClr val="55A38E"/>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59" name="Patched graph edge"/>
            <p:cNvSpPr/>
            <p:nvPr/>
          </p:nvSpPr>
          <p:spPr>
            <a:xfrm>
              <a:off x="1929384" y="2377440"/>
              <a:ext cx="82296" cy="338328"/>
            </a:xfrm>
            <a:custGeom>
              <a:avLst/>
              <a:gdLst/>
              <a:ahLst/>
              <a:cxnLst/>
              <a:rect l="0" t="0" r="w" b="h"/>
              <a:pathLst>
                <a:path w="9000" h="37000" fill="none" stroke="1" extrusionOk="0">
                  <a:moveTo>
                    <a:pt x="0" y="0"/>
                  </a:moveTo>
                  <a:lnTo>
                    <a:pt x="9000" y="37000"/>
                  </a:lnTo>
                </a:path>
              </a:pathLst>
            </a:custGeom>
            <a:noFill/>
            <a:ln w="32004" cap="flat">
              <a:solidFill>
                <a:srgbClr val="55A38E"/>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60" name="Patched graph edge"/>
            <p:cNvSpPr/>
            <p:nvPr/>
          </p:nvSpPr>
          <p:spPr>
            <a:xfrm>
              <a:off x="2148840" y="2066544"/>
              <a:ext cx="182880" cy="265176"/>
            </a:xfrm>
            <a:custGeom>
              <a:avLst/>
              <a:gdLst/>
              <a:ahLst/>
              <a:cxnLst/>
              <a:rect l="0" t="0" r="w" b="h"/>
              <a:pathLst>
                <a:path w="20000" h="29000" fill="none" stroke="1" extrusionOk="0">
                  <a:moveTo>
                    <a:pt x="0" y="0"/>
                  </a:moveTo>
                  <a:lnTo>
                    <a:pt x="20000" y="29000"/>
                  </a:lnTo>
                </a:path>
              </a:pathLst>
            </a:custGeom>
            <a:noFill/>
            <a:ln w="32004" cap="flat">
              <a:solidFill>
                <a:srgbClr val="55A38E"/>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61" name="Patched graph edge"/>
            <p:cNvSpPr/>
            <p:nvPr/>
          </p:nvSpPr>
          <p:spPr>
            <a:xfrm>
              <a:off x="2331720" y="2331720"/>
              <a:ext cx="914" cy="292608"/>
            </a:xfrm>
            <a:custGeom>
              <a:avLst/>
              <a:gdLst/>
              <a:ahLst/>
              <a:cxnLst/>
              <a:rect l="0" t="0" r="w" b="h"/>
              <a:pathLst>
                <a:path w="100" h="32000" fill="none" stroke="1" extrusionOk="0">
                  <a:moveTo>
                    <a:pt x="0" y="0"/>
                  </a:moveTo>
                  <a:lnTo>
                    <a:pt x="0" y="32000"/>
                  </a:lnTo>
                </a:path>
              </a:pathLst>
            </a:custGeom>
            <a:noFill/>
            <a:ln w="32004" cap="flat">
              <a:solidFill>
                <a:srgbClr val="55A38E"/>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62" name="Patched graph edge"/>
            <p:cNvSpPr/>
            <p:nvPr/>
          </p:nvSpPr>
          <p:spPr>
            <a:xfrm>
              <a:off x="2331720" y="2103120"/>
              <a:ext cx="265176" cy="228600"/>
            </a:xfrm>
            <a:custGeom>
              <a:avLst/>
              <a:gdLst/>
              <a:ahLst/>
              <a:cxnLst/>
              <a:rect l="0" t="0" r="w" b="h"/>
              <a:pathLst>
                <a:path w="29000" h="25000" fill="none" stroke="1" extrusionOk="0">
                  <a:moveTo>
                    <a:pt x="0" y="25000"/>
                  </a:moveTo>
                  <a:lnTo>
                    <a:pt x="29000" y="0"/>
                  </a:lnTo>
                </a:path>
              </a:pathLst>
            </a:custGeom>
            <a:noFill/>
            <a:ln w="32004" cap="flat">
              <a:solidFill>
                <a:srgbClr val="55A38E"/>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63" name="Patched graph edge"/>
            <p:cNvSpPr/>
            <p:nvPr/>
          </p:nvSpPr>
          <p:spPr>
            <a:xfrm>
              <a:off x="2331720" y="2331720"/>
              <a:ext cx="356616" cy="237744"/>
            </a:xfrm>
            <a:custGeom>
              <a:avLst/>
              <a:gdLst/>
              <a:ahLst/>
              <a:cxnLst/>
              <a:rect l="0" t="0" r="w" b="h"/>
              <a:pathLst>
                <a:path w="39000" h="26000" fill="none" stroke="1" extrusionOk="0">
                  <a:moveTo>
                    <a:pt x="0" y="0"/>
                  </a:moveTo>
                  <a:lnTo>
                    <a:pt x="39000" y="26000"/>
                  </a:lnTo>
                </a:path>
              </a:pathLst>
            </a:custGeom>
            <a:noFill/>
            <a:ln w="32004" cap="flat">
              <a:solidFill>
                <a:srgbClr val="55A38E"/>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64" name="Patched graph edge"/>
            <p:cNvSpPr/>
            <p:nvPr/>
          </p:nvSpPr>
          <p:spPr>
            <a:xfrm>
              <a:off x="2569464" y="2569464"/>
              <a:ext cx="118872" cy="338328"/>
            </a:xfrm>
            <a:custGeom>
              <a:avLst/>
              <a:gdLst/>
              <a:ahLst/>
              <a:cxnLst/>
              <a:rect l="0" t="0" r="w" b="h"/>
              <a:pathLst>
                <a:path w="13000" h="37000" fill="none" stroke="1" extrusionOk="0">
                  <a:moveTo>
                    <a:pt x="13000" y="0"/>
                  </a:moveTo>
                  <a:lnTo>
                    <a:pt x="0" y="37000"/>
                  </a:lnTo>
                </a:path>
              </a:pathLst>
            </a:custGeom>
            <a:noFill/>
            <a:ln w="32004" cap="flat">
              <a:solidFill>
                <a:srgbClr val="55A38E"/>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65" name="Patched graph edge"/>
            <p:cNvSpPr/>
            <p:nvPr/>
          </p:nvSpPr>
          <p:spPr>
            <a:xfrm>
              <a:off x="2688336" y="2304288"/>
              <a:ext cx="365760" cy="265176"/>
            </a:xfrm>
            <a:custGeom>
              <a:avLst/>
              <a:gdLst/>
              <a:ahLst/>
              <a:cxnLst/>
              <a:rect l="0" t="0" r="w" b="h"/>
              <a:pathLst>
                <a:path w="40000" h="29000" fill="none" stroke="1" extrusionOk="0">
                  <a:moveTo>
                    <a:pt x="0" y="29000"/>
                  </a:moveTo>
                  <a:lnTo>
                    <a:pt x="40000" y="0"/>
                  </a:lnTo>
                </a:path>
              </a:pathLst>
            </a:custGeom>
            <a:noFill/>
            <a:ln w="32004" cap="flat">
              <a:solidFill>
                <a:srgbClr val="55A38E"/>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66" name="Patched graph edge"/>
            <p:cNvSpPr/>
            <p:nvPr/>
          </p:nvSpPr>
          <p:spPr>
            <a:xfrm>
              <a:off x="2962656" y="2066544"/>
              <a:ext cx="91440" cy="237744"/>
            </a:xfrm>
            <a:custGeom>
              <a:avLst/>
              <a:gdLst/>
              <a:ahLst/>
              <a:cxnLst/>
              <a:rect l="0" t="0" r="w" b="h"/>
              <a:pathLst>
                <a:path w="10000" h="26000" fill="none" stroke="1" extrusionOk="0">
                  <a:moveTo>
                    <a:pt x="0" y="0"/>
                  </a:moveTo>
                  <a:lnTo>
                    <a:pt x="10000" y="26000"/>
                  </a:lnTo>
                </a:path>
              </a:pathLst>
            </a:custGeom>
            <a:noFill/>
            <a:ln w="32004" cap="flat">
              <a:solidFill>
                <a:srgbClr val="55A38E"/>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67" name="Patched graph edge"/>
            <p:cNvSpPr/>
            <p:nvPr/>
          </p:nvSpPr>
          <p:spPr>
            <a:xfrm>
              <a:off x="3054096" y="2167128"/>
              <a:ext cx="118872" cy="137160"/>
            </a:xfrm>
            <a:custGeom>
              <a:avLst/>
              <a:gdLst/>
              <a:ahLst/>
              <a:cxnLst/>
              <a:rect l="0" t="0" r="w" b="h"/>
              <a:pathLst>
                <a:path w="13000" h="15000" fill="none" stroke="1" extrusionOk="0">
                  <a:moveTo>
                    <a:pt x="0" y="15000"/>
                  </a:moveTo>
                  <a:lnTo>
                    <a:pt x="13000" y="0"/>
                  </a:lnTo>
                </a:path>
              </a:pathLst>
            </a:custGeom>
            <a:noFill/>
            <a:ln w="32004" cap="flat">
              <a:solidFill>
                <a:srgbClr val="55A38E"/>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68" name="Patched graph edge"/>
            <p:cNvSpPr/>
            <p:nvPr/>
          </p:nvSpPr>
          <p:spPr>
            <a:xfrm>
              <a:off x="3054096" y="2304288"/>
              <a:ext cx="210312" cy="310896"/>
            </a:xfrm>
            <a:custGeom>
              <a:avLst/>
              <a:gdLst/>
              <a:ahLst/>
              <a:cxnLst/>
              <a:rect l="0" t="0" r="w" b="h"/>
              <a:pathLst>
                <a:path w="23000" h="34000" fill="none" stroke="1" extrusionOk="0">
                  <a:moveTo>
                    <a:pt x="0" y="0"/>
                  </a:moveTo>
                  <a:lnTo>
                    <a:pt x="23000" y="34000"/>
                  </a:lnTo>
                </a:path>
              </a:pathLst>
            </a:custGeom>
            <a:noFill/>
            <a:ln w="32004" cap="flat">
              <a:solidFill>
                <a:srgbClr val="55A38E"/>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69" name="Patched graph edge"/>
            <p:cNvSpPr/>
            <p:nvPr/>
          </p:nvSpPr>
          <p:spPr>
            <a:xfrm>
              <a:off x="3054096" y="2304288"/>
              <a:ext cx="914" cy="649224"/>
            </a:xfrm>
            <a:custGeom>
              <a:avLst/>
              <a:gdLst/>
              <a:ahLst/>
              <a:cxnLst/>
              <a:rect l="0" t="0" r="w" b="h"/>
              <a:pathLst>
                <a:path w="100" h="71000" fill="none" stroke="1" extrusionOk="0">
                  <a:moveTo>
                    <a:pt x="0" y="0"/>
                  </a:moveTo>
                  <a:lnTo>
                    <a:pt x="0" y="71000"/>
                  </a:lnTo>
                </a:path>
              </a:pathLst>
            </a:custGeom>
            <a:noFill/>
            <a:ln w="32004" cap="flat">
              <a:solidFill>
                <a:srgbClr val="55A38E"/>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70" name="Patched graph vertex"/>
            <p:cNvSpPr/>
            <p:nvPr/>
          </p:nvSpPr>
          <p:spPr>
            <a:xfrm>
              <a:off x="1877263" y="2325319"/>
              <a:ext cx="104242" cy="104242"/>
            </a:xfrm>
            <a:prstGeom prst="ellipse">
              <a:avLst/>
            </a:prstGeom>
            <a:solidFill>
              <a:srgbClr val="5AA888"/>
            </a:solidFill>
            <a:ln w="18288" cap="flat">
              <a:solidFill>
                <a:srgbClr val="88BEA1"/>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71" name="Patched graph vertex"/>
            <p:cNvSpPr/>
            <p:nvPr/>
          </p:nvSpPr>
          <p:spPr>
            <a:xfrm>
              <a:off x="2096719" y="2014423"/>
              <a:ext cx="104242" cy="104242"/>
            </a:xfrm>
            <a:prstGeom prst="ellipse">
              <a:avLst/>
            </a:prstGeom>
            <a:solidFill>
              <a:srgbClr val="5AA888"/>
            </a:solidFill>
            <a:ln w="18288" cap="flat">
              <a:solidFill>
                <a:srgbClr val="88BEA1"/>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72" name="Patched graph vertex"/>
            <p:cNvSpPr/>
            <p:nvPr/>
          </p:nvSpPr>
          <p:spPr>
            <a:xfrm>
              <a:off x="1959559" y="2663647"/>
              <a:ext cx="104242" cy="104242"/>
            </a:xfrm>
            <a:prstGeom prst="ellipse">
              <a:avLst/>
            </a:prstGeom>
            <a:solidFill>
              <a:srgbClr val="5AA888"/>
            </a:solidFill>
            <a:ln w="18288" cap="flat">
              <a:solidFill>
                <a:srgbClr val="88BEA1"/>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73" name="Patched graph vertex"/>
            <p:cNvSpPr/>
            <p:nvPr/>
          </p:nvSpPr>
          <p:spPr>
            <a:xfrm>
              <a:off x="2279599" y="2279599"/>
              <a:ext cx="104242" cy="104242"/>
            </a:xfrm>
            <a:prstGeom prst="ellipse">
              <a:avLst/>
            </a:prstGeom>
            <a:solidFill>
              <a:srgbClr val="5AA888"/>
            </a:solidFill>
            <a:ln w="18288" cap="flat">
              <a:solidFill>
                <a:srgbClr val="88BEA1"/>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74" name="Patched graph vertex"/>
            <p:cNvSpPr/>
            <p:nvPr/>
          </p:nvSpPr>
          <p:spPr>
            <a:xfrm>
              <a:off x="2279599" y="2572207"/>
              <a:ext cx="104242" cy="104242"/>
            </a:xfrm>
            <a:prstGeom prst="ellipse">
              <a:avLst/>
            </a:prstGeom>
            <a:solidFill>
              <a:srgbClr val="5AA888"/>
            </a:solidFill>
            <a:ln w="18288" cap="flat">
              <a:solidFill>
                <a:srgbClr val="88BEA1"/>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75" name="Patched graph vertex"/>
            <p:cNvSpPr/>
            <p:nvPr/>
          </p:nvSpPr>
          <p:spPr>
            <a:xfrm>
              <a:off x="2544775" y="2050999"/>
              <a:ext cx="104242" cy="104242"/>
            </a:xfrm>
            <a:prstGeom prst="ellipse">
              <a:avLst/>
            </a:prstGeom>
            <a:solidFill>
              <a:srgbClr val="5AA888"/>
            </a:solidFill>
            <a:ln w="18288" cap="flat">
              <a:solidFill>
                <a:srgbClr val="88BEA1"/>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76" name="Patched graph vertex"/>
            <p:cNvSpPr/>
            <p:nvPr/>
          </p:nvSpPr>
          <p:spPr>
            <a:xfrm>
              <a:off x="2636215" y="2517343"/>
              <a:ext cx="104242" cy="104242"/>
            </a:xfrm>
            <a:prstGeom prst="ellipse">
              <a:avLst/>
            </a:prstGeom>
            <a:solidFill>
              <a:srgbClr val="5AA888"/>
            </a:solidFill>
            <a:ln w="18288" cap="flat">
              <a:solidFill>
                <a:srgbClr val="88BEA1"/>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77" name="Patched graph vertex"/>
            <p:cNvSpPr/>
            <p:nvPr/>
          </p:nvSpPr>
          <p:spPr>
            <a:xfrm>
              <a:off x="2517343" y="2855671"/>
              <a:ext cx="104242" cy="104242"/>
            </a:xfrm>
            <a:prstGeom prst="ellipse">
              <a:avLst/>
            </a:prstGeom>
            <a:solidFill>
              <a:srgbClr val="5AA888"/>
            </a:solidFill>
            <a:ln w="18288" cap="flat">
              <a:solidFill>
                <a:srgbClr val="88BEA1"/>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78" name="Patched graph vertex"/>
            <p:cNvSpPr/>
            <p:nvPr/>
          </p:nvSpPr>
          <p:spPr>
            <a:xfrm>
              <a:off x="2910535" y="2014423"/>
              <a:ext cx="104242" cy="104242"/>
            </a:xfrm>
            <a:prstGeom prst="ellipse">
              <a:avLst/>
            </a:prstGeom>
            <a:solidFill>
              <a:srgbClr val="5AA888"/>
            </a:solidFill>
            <a:ln w="18288" cap="flat">
              <a:solidFill>
                <a:srgbClr val="88BEA1"/>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79" name="Patched graph vertex"/>
            <p:cNvSpPr/>
            <p:nvPr/>
          </p:nvSpPr>
          <p:spPr>
            <a:xfrm>
              <a:off x="3001975" y="2252167"/>
              <a:ext cx="104242" cy="104242"/>
            </a:xfrm>
            <a:prstGeom prst="ellipse">
              <a:avLst/>
            </a:prstGeom>
            <a:solidFill>
              <a:srgbClr val="5AA888"/>
            </a:solidFill>
            <a:ln w="18288" cap="flat">
              <a:solidFill>
                <a:srgbClr val="88BEA1"/>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80" name="Patched graph vertex"/>
            <p:cNvSpPr/>
            <p:nvPr/>
          </p:nvSpPr>
          <p:spPr>
            <a:xfrm>
              <a:off x="3120847" y="2115007"/>
              <a:ext cx="104242" cy="104242"/>
            </a:xfrm>
            <a:prstGeom prst="ellipse">
              <a:avLst/>
            </a:prstGeom>
            <a:solidFill>
              <a:srgbClr val="5AA888"/>
            </a:solidFill>
            <a:ln w="18288" cap="flat">
              <a:solidFill>
                <a:srgbClr val="88BEA1"/>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81" name="Patched graph vertex"/>
            <p:cNvSpPr/>
            <p:nvPr/>
          </p:nvSpPr>
          <p:spPr>
            <a:xfrm>
              <a:off x="3212287" y="2563063"/>
              <a:ext cx="104242" cy="104242"/>
            </a:xfrm>
            <a:prstGeom prst="ellipse">
              <a:avLst/>
            </a:prstGeom>
            <a:solidFill>
              <a:srgbClr val="5AA888"/>
            </a:solidFill>
            <a:ln w="18288" cap="flat">
              <a:solidFill>
                <a:srgbClr val="88BEA1"/>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82" name="Patched graph vertex"/>
            <p:cNvSpPr/>
            <p:nvPr/>
          </p:nvSpPr>
          <p:spPr>
            <a:xfrm>
              <a:off x="3001975" y="2901391"/>
              <a:ext cx="104242" cy="104242"/>
            </a:xfrm>
            <a:prstGeom prst="ellipse">
              <a:avLst/>
            </a:prstGeom>
            <a:solidFill>
              <a:srgbClr val="5AA888"/>
            </a:solidFill>
            <a:ln w="18288" cap="flat">
              <a:solidFill>
                <a:srgbClr val="88BEA1"/>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grpSp>
      <p:grpSp>
        <p:nvGrpSpPr>
          <p:cNvPr id="183" name="Sequence of tokens"/>
          <p:cNvGrpSpPr/>
          <p:nvPr/>
        </p:nvGrpSpPr>
        <p:grpSpPr>
          <a:xfrm>
            <a:off x="4087368" y="859536"/>
            <a:ext cx="246888" cy="1691640"/>
            <a:chOff x="4087368" y="859536"/>
            <a:chExt cx="246888" cy="1691640"/>
          </a:xfrm>
        </p:grpSpPr>
        <p:sp>
          <p:nvSpPr>
            <p:cNvPr id="184" name="Token cube front"/>
            <p:cNvSpPr/>
            <p:nvPr/>
          </p:nvSpPr>
          <p:spPr>
            <a:xfrm>
              <a:off x="4087368" y="896112"/>
              <a:ext cx="201168" cy="210312"/>
            </a:xfrm>
            <a:custGeom>
              <a:avLst/>
              <a:gdLst/>
              <a:ahLst/>
              <a:cxnLst/>
              <a:rect l="0" t="0" r="w" b="h"/>
              <a:pathLst>
                <a:path w="22000" h="23000" fill="norm" stroke="1" extrusionOk="0">
                  <a:moveTo>
                    <a:pt x="0" y="0"/>
                  </a:moveTo>
                  <a:lnTo>
                    <a:pt x="22000" y="2000"/>
                  </a:lnTo>
                  <a:lnTo>
                    <a:pt x="21000" y="23000"/>
                  </a:lnTo>
                  <a:lnTo>
                    <a:pt x="0" y="19000"/>
                  </a:lnTo>
                  <a:close/>
                </a:path>
              </a:pathLst>
            </a:custGeom>
            <a:solidFill>
              <a:srgbClr val="337AB7"/>
            </a:solidFill>
            <a:ln>
              <a:noFill/>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85" name="Token cube side"/>
            <p:cNvSpPr/>
            <p:nvPr/>
          </p:nvSpPr>
          <p:spPr>
            <a:xfrm>
              <a:off x="4279392" y="859536"/>
              <a:ext cx="54864" cy="246888"/>
            </a:xfrm>
            <a:custGeom>
              <a:avLst/>
              <a:gdLst/>
              <a:ahLst/>
              <a:cxnLst/>
              <a:rect l="0" t="0" r="w" b="h"/>
              <a:pathLst>
                <a:path w="6000" h="27000" fill="norm" stroke="1" extrusionOk="0">
                  <a:moveTo>
                    <a:pt x="1000" y="6000"/>
                  </a:moveTo>
                  <a:lnTo>
                    <a:pt x="6000" y="0"/>
                  </a:lnTo>
                  <a:lnTo>
                    <a:pt x="5000" y="22000"/>
                  </a:lnTo>
                  <a:lnTo>
                    <a:pt x="0" y="27000"/>
                  </a:lnTo>
                  <a:close/>
                </a:path>
              </a:pathLst>
            </a:custGeom>
            <a:solidFill>
              <a:srgbClr val="2C65A0"/>
            </a:solidFill>
            <a:ln>
              <a:noFill/>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86" name="Token cube top"/>
            <p:cNvSpPr/>
            <p:nvPr/>
          </p:nvSpPr>
          <p:spPr>
            <a:xfrm>
              <a:off x="4087368" y="859536"/>
              <a:ext cx="246888" cy="54864"/>
            </a:xfrm>
            <a:custGeom>
              <a:avLst/>
              <a:gdLst/>
              <a:ahLst/>
              <a:cxnLst/>
              <a:rect l="0" t="0" r="w" b="h"/>
              <a:pathLst>
                <a:path w="27000" h="6000" fill="norm" stroke="1" extrusionOk="0">
                  <a:moveTo>
                    <a:pt x="0" y="4000"/>
                  </a:moveTo>
                  <a:lnTo>
                    <a:pt x="7000" y="0"/>
                  </a:lnTo>
                  <a:lnTo>
                    <a:pt x="27000" y="0"/>
                  </a:lnTo>
                  <a:lnTo>
                    <a:pt x="22000" y="6000"/>
                  </a:lnTo>
                  <a:close/>
                </a:path>
              </a:pathLst>
            </a:custGeom>
            <a:solidFill>
              <a:srgbClr val="78A1BD"/>
            </a:solidFill>
            <a:ln>
              <a:noFill/>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87" name="Token cube front"/>
            <p:cNvSpPr/>
            <p:nvPr/>
          </p:nvSpPr>
          <p:spPr>
            <a:xfrm>
              <a:off x="4087368" y="1216152"/>
              <a:ext cx="201168" cy="210312"/>
            </a:xfrm>
            <a:custGeom>
              <a:avLst/>
              <a:gdLst/>
              <a:ahLst/>
              <a:cxnLst/>
              <a:rect l="0" t="0" r="w" b="h"/>
              <a:pathLst>
                <a:path w="22000" h="23000" fill="norm" stroke="1" extrusionOk="0">
                  <a:moveTo>
                    <a:pt x="0" y="0"/>
                  </a:moveTo>
                  <a:lnTo>
                    <a:pt x="22000" y="2000"/>
                  </a:lnTo>
                  <a:lnTo>
                    <a:pt x="21000" y="23000"/>
                  </a:lnTo>
                  <a:lnTo>
                    <a:pt x="0" y="19000"/>
                  </a:lnTo>
                  <a:close/>
                </a:path>
              </a:pathLst>
            </a:custGeom>
            <a:solidFill>
              <a:srgbClr val="337AB7"/>
            </a:solidFill>
            <a:ln>
              <a:noFill/>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88" name="Token cube side"/>
            <p:cNvSpPr/>
            <p:nvPr/>
          </p:nvSpPr>
          <p:spPr>
            <a:xfrm>
              <a:off x="4279392" y="1179576"/>
              <a:ext cx="54864" cy="246888"/>
            </a:xfrm>
            <a:custGeom>
              <a:avLst/>
              <a:gdLst/>
              <a:ahLst/>
              <a:cxnLst/>
              <a:rect l="0" t="0" r="w" b="h"/>
              <a:pathLst>
                <a:path w="6000" h="27000" fill="norm" stroke="1" extrusionOk="0">
                  <a:moveTo>
                    <a:pt x="1000" y="6000"/>
                  </a:moveTo>
                  <a:lnTo>
                    <a:pt x="6000" y="0"/>
                  </a:lnTo>
                  <a:lnTo>
                    <a:pt x="5000" y="22000"/>
                  </a:lnTo>
                  <a:lnTo>
                    <a:pt x="0" y="27000"/>
                  </a:lnTo>
                  <a:close/>
                </a:path>
              </a:pathLst>
            </a:custGeom>
            <a:solidFill>
              <a:srgbClr val="2C65A0"/>
            </a:solidFill>
            <a:ln>
              <a:noFill/>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89" name="Token cube top"/>
            <p:cNvSpPr/>
            <p:nvPr/>
          </p:nvSpPr>
          <p:spPr>
            <a:xfrm>
              <a:off x="4087368" y="1179576"/>
              <a:ext cx="246888" cy="54864"/>
            </a:xfrm>
            <a:custGeom>
              <a:avLst/>
              <a:gdLst/>
              <a:ahLst/>
              <a:cxnLst/>
              <a:rect l="0" t="0" r="w" b="h"/>
              <a:pathLst>
                <a:path w="27000" h="6000" fill="norm" stroke="1" extrusionOk="0">
                  <a:moveTo>
                    <a:pt x="0" y="4000"/>
                  </a:moveTo>
                  <a:lnTo>
                    <a:pt x="7000" y="0"/>
                  </a:lnTo>
                  <a:lnTo>
                    <a:pt x="27000" y="0"/>
                  </a:lnTo>
                  <a:lnTo>
                    <a:pt x="22000" y="6000"/>
                  </a:lnTo>
                  <a:close/>
                </a:path>
              </a:pathLst>
            </a:custGeom>
            <a:solidFill>
              <a:srgbClr val="78A1BD"/>
            </a:solidFill>
            <a:ln>
              <a:noFill/>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90" name="Token cube front"/>
            <p:cNvSpPr/>
            <p:nvPr/>
          </p:nvSpPr>
          <p:spPr>
            <a:xfrm>
              <a:off x="4087368" y="1527048"/>
              <a:ext cx="201168" cy="210312"/>
            </a:xfrm>
            <a:custGeom>
              <a:avLst/>
              <a:gdLst/>
              <a:ahLst/>
              <a:cxnLst/>
              <a:rect l="0" t="0" r="w" b="h"/>
              <a:pathLst>
                <a:path w="22000" h="23000" fill="norm" stroke="1" extrusionOk="0">
                  <a:moveTo>
                    <a:pt x="0" y="0"/>
                  </a:moveTo>
                  <a:lnTo>
                    <a:pt x="22000" y="2000"/>
                  </a:lnTo>
                  <a:lnTo>
                    <a:pt x="21000" y="23000"/>
                  </a:lnTo>
                  <a:lnTo>
                    <a:pt x="0" y="19000"/>
                  </a:lnTo>
                  <a:close/>
                </a:path>
              </a:pathLst>
            </a:custGeom>
            <a:solidFill>
              <a:srgbClr val="337AB7"/>
            </a:solidFill>
            <a:ln>
              <a:noFill/>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91" name="Token cube side"/>
            <p:cNvSpPr/>
            <p:nvPr/>
          </p:nvSpPr>
          <p:spPr>
            <a:xfrm>
              <a:off x="4279392" y="1490472"/>
              <a:ext cx="54864" cy="246888"/>
            </a:xfrm>
            <a:custGeom>
              <a:avLst/>
              <a:gdLst/>
              <a:ahLst/>
              <a:cxnLst/>
              <a:rect l="0" t="0" r="w" b="h"/>
              <a:pathLst>
                <a:path w="6000" h="27000" fill="norm" stroke="1" extrusionOk="0">
                  <a:moveTo>
                    <a:pt x="1000" y="6000"/>
                  </a:moveTo>
                  <a:lnTo>
                    <a:pt x="6000" y="0"/>
                  </a:lnTo>
                  <a:lnTo>
                    <a:pt x="5000" y="22000"/>
                  </a:lnTo>
                  <a:lnTo>
                    <a:pt x="0" y="27000"/>
                  </a:lnTo>
                  <a:close/>
                </a:path>
              </a:pathLst>
            </a:custGeom>
            <a:solidFill>
              <a:srgbClr val="2C65A0"/>
            </a:solidFill>
            <a:ln>
              <a:noFill/>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92" name="Token cube top"/>
            <p:cNvSpPr/>
            <p:nvPr/>
          </p:nvSpPr>
          <p:spPr>
            <a:xfrm>
              <a:off x="4087368" y="1490472"/>
              <a:ext cx="246888" cy="54864"/>
            </a:xfrm>
            <a:custGeom>
              <a:avLst/>
              <a:gdLst/>
              <a:ahLst/>
              <a:cxnLst/>
              <a:rect l="0" t="0" r="w" b="h"/>
              <a:pathLst>
                <a:path w="27000" h="6000" fill="norm" stroke="1" extrusionOk="0">
                  <a:moveTo>
                    <a:pt x="0" y="4000"/>
                  </a:moveTo>
                  <a:lnTo>
                    <a:pt x="7000" y="0"/>
                  </a:lnTo>
                  <a:lnTo>
                    <a:pt x="27000" y="0"/>
                  </a:lnTo>
                  <a:lnTo>
                    <a:pt x="22000" y="6000"/>
                  </a:lnTo>
                  <a:close/>
                </a:path>
              </a:pathLst>
            </a:custGeom>
            <a:solidFill>
              <a:srgbClr val="78A1BD"/>
            </a:solidFill>
            <a:ln>
              <a:noFill/>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93" name="Token cube front"/>
            <p:cNvSpPr/>
            <p:nvPr/>
          </p:nvSpPr>
          <p:spPr>
            <a:xfrm>
              <a:off x="4087368" y="2039112"/>
              <a:ext cx="201168" cy="210312"/>
            </a:xfrm>
            <a:custGeom>
              <a:avLst/>
              <a:gdLst/>
              <a:ahLst/>
              <a:cxnLst/>
              <a:rect l="0" t="0" r="w" b="h"/>
              <a:pathLst>
                <a:path w="22000" h="23000" fill="norm" stroke="1" extrusionOk="0">
                  <a:moveTo>
                    <a:pt x="0" y="0"/>
                  </a:moveTo>
                  <a:lnTo>
                    <a:pt x="22000" y="2000"/>
                  </a:lnTo>
                  <a:lnTo>
                    <a:pt x="21000" y="23000"/>
                  </a:lnTo>
                  <a:lnTo>
                    <a:pt x="0" y="19000"/>
                  </a:lnTo>
                  <a:close/>
                </a:path>
              </a:pathLst>
            </a:custGeom>
            <a:solidFill>
              <a:srgbClr val="337AB7"/>
            </a:solidFill>
            <a:ln>
              <a:noFill/>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94" name="Token cube side"/>
            <p:cNvSpPr/>
            <p:nvPr/>
          </p:nvSpPr>
          <p:spPr>
            <a:xfrm>
              <a:off x="4279392" y="2002536"/>
              <a:ext cx="54864" cy="246888"/>
            </a:xfrm>
            <a:custGeom>
              <a:avLst/>
              <a:gdLst/>
              <a:ahLst/>
              <a:cxnLst/>
              <a:rect l="0" t="0" r="w" b="h"/>
              <a:pathLst>
                <a:path w="6000" h="27000" fill="norm" stroke="1" extrusionOk="0">
                  <a:moveTo>
                    <a:pt x="1000" y="6000"/>
                  </a:moveTo>
                  <a:lnTo>
                    <a:pt x="6000" y="0"/>
                  </a:lnTo>
                  <a:lnTo>
                    <a:pt x="5000" y="22000"/>
                  </a:lnTo>
                  <a:lnTo>
                    <a:pt x="0" y="27000"/>
                  </a:lnTo>
                  <a:close/>
                </a:path>
              </a:pathLst>
            </a:custGeom>
            <a:solidFill>
              <a:srgbClr val="2C65A0"/>
            </a:solidFill>
            <a:ln>
              <a:noFill/>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95" name="Token cube top"/>
            <p:cNvSpPr/>
            <p:nvPr/>
          </p:nvSpPr>
          <p:spPr>
            <a:xfrm>
              <a:off x="4087368" y="2002536"/>
              <a:ext cx="246888" cy="54864"/>
            </a:xfrm>
            <a:custGeom>
              <a:avLst/>
              <a:gdLst/>
              <a:ahLst/>
              <a:cxnLst/>
              <a:rect l="0" t="0" r="w" b="h"/>
              <a:pathLst>
                <a:path w="27000" h="6000" fill="norm" stroke="1" extrusionOk="0">
                  <a:moveTo>
                    <a:pt x="0" y="4000"/>
                  </a:moveTo>
                  <a:lnTo>
                    <a:pt x="7000" y="0"/>
                  </a:lnTo>
                  <a:lnTo>
                    <a:pt x="27000" y="0"/>
                  </a:lnTo>
                  <a:lnTo>
                    <a:pt x="22000" y="6000"/>
                  </a:lnTo>
                  <a:close/>
                </a:path>
              </a:pathLst>
            </a:custGeom>
            <a:solidFill>
              <a:srgbClr val="78A1BD"/>
            </a:solidFill>
            <a:ln>
              <a:noFill/>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96" name="Token cube front"/>
            <p:cNvSpPr/>
            <p:nvPr/>
          </p:nvSpPr>
          <p:spPr>
            <a:xfrm>
              <a:off x="4087368" y="2340864"/>
              <a:ext cx="201168" cy="210312"/>
            </a:xfrm>
            <a:custGeom>
              <a:avLst/>
              <a:gdLst/>
              <a:ahLst/>
              <a:cxnLst/>
              <a:rect l="0" t="0" r="w" b="h"/>
              <a:pathLst>
                <a:path w="22000" h="23000" fill="norm" stroke="1" extrusionOk="0">
                  <a:moveTo>
                    <a:pt x="0" y="0"/>
                  </a:moveTo>
                  <a:lnTo>
                    <a:pt x="22000" y="2000"/>
                  </a:lnTo>
                  <a:lnTo>
                    <a:pt x="21000" y="23000"/>
                  </a:lnTo>
                  <a:lnTo>
                    <a:pt x="0" y="19000"/>
                  </a:lnTo>
                  <a:close/>
                </a:path>
              </a:pathLst>
            </a:custGeom>
            <a:solidFill>
              <a:srgbClr val="337AB7"/>
            </a:solidFill>
            <a:ln>
              <a:noFill/>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97" name="Token cube side"/>
            <p:cNvSpPr/>
            <p:nvPr/>
          </p:nvSpPr>
          <p:spPr>
            <a:xfrm>
              <a:off x="4279392" y="2304288"/>
              <a:ext cx="54864" cy="246888"/>
            </a:xfrm>
            <a:custGeom>
              <a:avLst/>
              <a:gdLst/>
              <a:ahLst/>
              <a:cxnLst/>
              <a:rect l="0" t="0" r="w" b="h"/>
              <a:pathLst>
                <a:path w="6000" h="27000" fill="norm" stroke="1" extrusionOk="0">
                  <a:moveTo>
                    <a:pt x="1000" y="6000"/>
                  </a:moveTo>
                  <a:lnTo>
                    <a:pt x="6000" y="0"/>
                  </a:lnTo>
                  <a:lnTo>
                    <a:pt x="5000" y="22000"/>
                  </a:lnTo>
                  <a:lnTo>
                    <a:pt x="0" y="27000"/>
                  </a:lnTo>
                  <a:close/>
                </a:path>
              </a:pathLst>
            </a:custGeom>
            <a:solidFill>
              <a:srgbClr val="2C65A0"/>
            </a:solidFill>
            <a:ln>
              <a:noFill/>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198" name="Token cube top"/>
            <p:cNvSpPr/>
            <p:nvPr/>
          </p:nvSpPr>
          <p:spPr>
            <a:xfrm>
              <a:off x="4087368" y="2304288"/>
              <a:ext cx="246888" cy="54864"/>
            </a:xfrm>
            <a:custGeom>
              <a:avLst/>
              <a:gdLst/>
              <a:ahLst/>
              <a:cxnLst/>
              <a:rect l="0" t="0" r="w" b="h"/>
              <a:pathLst>
                <a:path w="27000" h="6000" fill="norm" stroke="1" extrusionOk="0">
                  <a:moveTo>
                    <a:pt x="0" y="4000"/>
                  </a:moveTo>
                  <a:lnTo>
                    <a:pt x="7000" y="0"/>
                  </a:lnTo>
                  <a:lnTo>
                    <a:pt x="27000" y="0"/>
                  </a:lnTo>
                  <a:lnTo>
                    <a:pt x="22000" y="6000"/>
                  </a:lnTo>
                  <a:close/>
                </a:path>
              </a:pathLst>
            </a:custGeom>
            <a:solidFill>
              <a:srgbClr val="78A1BD"/>
            </a:solidFill>
            <a:ln>
              <a:noFill/>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grpSp>
      <p:sp>
        <p:nvSpPr>
          <p:cNvPr id="199" name="Token sequence ellipsis"/>
          <p:cNvSpPr/>
          <p:nvPr/>
        </p:nvSpPr>
        <p:spPr>
          <a:xfrm>
            <a:off x="4187952" y="1755648"/>
            <a:ext cx="36576" cy="36576"/>
          </a:xfrm>
          <a:prstGeom prst="ellipse">
            <a:avLst/>
          </a:prstGeom>
          <a:solidFill>
            <a:srgbClr val="000000"/>
          </a:solidFill>
          <a:ln>
            <a:noFill/>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200" name="Token sequence ellipsis"/>
          <p:cNvSpPr/>
          <p:nvPr/>
        </p:nvSpPr>
        <p:spPr>
          <a:xfrm>
            <a:off x="4187952" y="1828800"/>
            <a:ext cx="36576" cy="36576"/>
          </a:xfrm>
          <a:prstGeom prst="ellipse">
            <a:avLst/>
          </a:prstGeom>
          <a:solidFill>
            <a:srgbClr val="000000"/>
          </a:solidFill>
          <a:ln>
            <a:noFill/>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201" name="Token sequence ellipsis"/>
          <p:cNvSpPr/>
          <p:nvPr/>
        </p:nvSpPr>
        <p:spPr>
          <a:xfrm>
            <a:off x="4187952" y="1901952"/>
            <a:ext cx="36576" cy="36576"/>
          </a:xfrm>
          <a:prstGeom prst="ellipse">
            <a:avLst/>
          </a:prstGeom>
          <a:solidFill>
            <a:srgbClr val="000000"/>
          </a:solidFill>
          <a:ln>
            <a:noFill/>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202" name="Unified prompt learning outer frame"/>
          <p:cNvSpPr/>
          <p:nvPr/>
        </p:nvSpPr>
        <p:spPr>
          <a:xfrm>
            <a:off x="10945368" y="192024"/>
            <a:ext cx="5577840" cy="5202936"/>
          </a:xfrm>
          <a:prstGeom prst="roundRect">
            <a:avLst>
              <a:gd name="adj" fmla="val 5096"/>
            </a:avLst>
          </a:prstGeom>
          <a:solidFill>
            <a:srgbClr val="FFFFFF"/>
          </a:solidFill>
          <a:ln w="29261" cap="flat">
            <a:solidFill>
              <a:srgbClr val="000000"/>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203" name="Data-driven prompt dashed frame"/>
          <p:cNvSpPr/>
          <p:nvPr/>
        </p:nvSpPr>
        <p:spPr>
          <a:xfrm>
            <a:off x="11164824" y="347472"/>
            <a:ext cx="4114800" cy="2816352"/>
          </a:xfrm>
          <a:prstGeom prst="roundRect">
            <a:avLst>
              <a:gd name="adj" fmla="val 8116"/>
            </a:avLst>
          </a:prstGeom>
          <a:noFill/>
          <a:ln w="28346" cap="flat">
            <a:solidFill>
              <a:srgbClr val="000000"/>
            </a:solidFill>
            <a:round/>
            <a:custDash>
              <a:ds d="290000" sp="129000"/>
            </a:custDash>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204" name="Task-specific prompt dashed frame"/>
          <p:cNvSpPr/>
          <p:nvPr/>
        </p:nvSpPr>
        <p:spPr>
          <a:xfrm>
            <a:off x="11164824" y="3355848"/>
            <a:ext cx="4133088" cy="1892808"/>
          </a:xfrm>
          <a:prstGeom prst="roundRect">
            <a:avLst>
              <a:gd name="adj" fmla="val 9178"/>
            </a:avLst>
          </a:prstGeom>
          <a:noFill/>
          <a:ln w="28346" cap="flat">
            <a:solidFill>
              <a:srgbClr val="000000"/>
            </a:solidFill>
            <a:round/>
            <a:custDash>
              <a:ds d="290000" sp="129000"/>
            </a:custDash>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205" name="Frequency pattern box"/>
          <p:cNvSpPr/>
          <p:nvPr/>
        </p:nvSpPr>
        <p:spPr>
          <a:xfrm>
            <a:off x="12508992" y="539496"/>
            <a:ext cx="2596896" cy="384048"/>
          </a:xfrm>
          <a:prstGeom prst="roundRect">
            <a:avLst>
              <a:gd name="adj" fmla="val 9523"/>
            </a:avLst>
          </a:prstGeom>
          <a:solidFill>
            <a:srgbClr val="FFFFFF"/>
          </a:solidFill>
          <a:ln w="27432" cap="flat">
            <a:solidFill>
              <a:srgbClr val="000000"/>
            </a:solidFill>
            <a:round/>
            <a:custDash>
              <a:ds d="290000" sp="129000"/>
            </a:custDash>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206" name="Frequency pattern label"/>
          <p:cNvSpPr txBox="1"/>
          <p:nvPr/>
        </p:nvSpPr>
        <p:spPr>
          <a:xfrm>
            <a:off x="12212544" y="495422"/>
            <a:ext cx="3189793" cy="395021"/>
          </a:xfrm>
          <a:prstGeom prst="rect">
            <a:avLst/>
          </a:prstGeom>
          <a:noFill/>
        </p:spPr>
        <p:txBody>
          <a:bodyPr wrap="none" lIns="0" rIns="0" tIns="0" bIns="0" anchor="t">
            <a:spAutoFit/>
          </a:bodyPr>
          <a:lstStyle/>
          <a:p>
            <a:pPr algn="ctr">
              <a:spcBef>
                <a:spcPts val="0"/>
              </a:spcBef>
              <a:spcAft>
                <a:spcPts val="0"/>
              </a:spcAft>
            </a:pPr>
            <a:r>
              <a:rPr sz="2592" b="0" i="0">
                <a:solidFill>
                  <a:srgbClr val="000000"/>
                </a:solidFill>
                <a:latin typeface="Times New Roman"/>
              </a:rPr>
              <a:t>Frequency pattern</a:t>
            </a:r>
          </a:p>
        </p:txBody>
      </p:sp>
      <p:sp>
        <p:nvSpPr>
          <p:cNvPr id="207" name="Frequency pattern to memory shaft"/>
          <p:cNvSpPr/>
          <p:nvPr/>
        </p:nvSpPr>
        <p:spPr>
          <a:xfrm>
            <a:off x="12262104" y="758952"/>
            <a:ext cx="246888" cy="914"/>
          </a:xfrm>
          <a:custGeom>
            <a:avLst/>
            <a:gdLst/>
            <a:ahLst/>
            <a:cxnLst/>
            <a:rect l="0" t="0" r="w" b="h"/>
            <a:pathLst>
              <a:path w="27000" h="100" fill="none" stroke="1" extrusionOk="0">
                <a:moveTo>
                  <a:pt x="27000" y="0"/>
                </a:moveTo>
                <a:lnTo>
                  <a:pt x="0" y="0"/>
                </a:lnTo>
              </a:path>
            </a:pathLst>
          </a:custGeom>
          <a:noFill/>
          <a:ln w="29261" cap="flat">
            <a:solidFill>
              <a:srgbClr val="000000"/>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208" name="Frequency pattern to memory arrowhead"/>
          <p:cNvSpPr/>
          <p:nvPr/>
        </p:nvSpPr>
        <p:spPr>
          <a:xfrm>
            <a:off x="12262104" y="703082"/>
            <a:ext cx="118872" cy="111740"/>
          </a:xfrm>
          <a:custGeom>
            <a:avLst/>
            <a:gdLst/>
            <a:ahLst/>
            <a:cxnLst/>
            <a:rect l="0" t="0" r="w" b="h"/>
            <a:pathLst>
              <a:path w="13000" h="12220" fill="norm" stroke="1" extrusionOk="0">
                <a:moveTo>
                  <a:pt x="0" y="6110"/>
                </a:moveTo>
                <a:lnTo>
                  <a:pt x="13000" y="0"/>
                </a:lnTo>
                <a:lnTo>
                  <a:pt x="13000" y="12220"/>
                </a:lnTo>
                <a:close/>
              </a:path>
            </a:pathLst>
          </a:custGeom>
          <a:solidFill>
            <a:srgbClr val="000000"/>
          </a:solidFill>
          <a:ln>
            <a:noFill/>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209" name="Temporal pattern box"/>
          <p:cNvSpPr/>
          <p:nvPr/>
        </p:nvSpPr>
        <p:spPr>
          <a:xfrm>
            <a:off x="12508992" y="1298448"/>
            <a:ext cx="2596896" cy="384048"/>
          </a:xfrm>
          <a:prstGeom prst="roundRect">
            <a:avLst>
              <a:gd name="adj" fmla="val 9523"/>
            </a:avLst>
          </a:prstGeom>
          <a:solidFill>
            <a:srgbClr val="FFFFFF"/>
          </a:solidFill>
          <a:ln w="27432" cap="flat">
            <a:solidFill>
              <a:srgbClr val="000000"/>
            </a:solidFill>
            <a:round/>
            <a:custDash>
              <a:ds d="290000" sp="129000"/>
            </a:custDash>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210" name="Temporal pattern label"/>
          <p:cNvSpPr txBox="1"/>
          <p:nvPr/>
        </p:nvSpPr>
        <p:spPr>
          <a:xfrm>
            <a:off x="12306361" y="1254374"/>
            <a:ext cx="3002158" cy="395021"/>
          </a:xfrm>
          <a:prstGeom prst="rect">
            <a:avLst/>
          </a:prstGeom>
          <a:noFill/>
        </p:spPr>
        <p:txBody>
          <a:bodyPr wrap="none" lIns="0" rIns="0" tIns="0" bIns="0" anchor="t">
            <a:spAutoFit/>
          </a:bodyPr>
          <a:lstStyle/>
          <a:p>
            <a:pPr algn="ctr">
              <a:spcBef>
                <a:spcPts val="0"/>
              </a:spcBef>
              <a:spcAft>
                <a:spcPts val="0"/>
              </a:spcAft>
            </a:pPr>
            <a:r>
              <a:rPr sz="2592" b="0" i="0">
                <a:solidFill>
                  <a:srgbClr val="000000"/>
                </a:solidFill>
                <a:latin typeface="Times New Roman"/>
              </a:rPr>
              <a:t>Temporal pattern</a:t>
            </a:r>
          </a:p>
        </p:txBody>
      </p:sp>
      <p:sp>
        <p:nvSpPr>
          <p:cNvPr id="211" name="Temporal pattern to memory shaft"/>
          <p:cNvSpPr/>
          <p:nvPr/>
        </p:nvSpPr>
        <p:spPr>
          <a:xfrm>
            <a:off x="12262104" y="1517904"/>
            <a:ext cx="246888" cy="914"/>
          </a:xfrm>
          <a:custGeom>
            <a:avLst/>
            <a:gdLst/>
            <a:ahLst/>
            <a:cxnLst/>
            <a:rect l="0" t="0" r="w" b="h"/>
            <a:pathLst>
              <a:path w="27000" h="100" fill="none" stroke="1" extrusionOk="0">
                <a:moveTo>
                  <a:pt x="27000" y="0"/>
                </a:moveTo>
                <a:lnTo>
                  <a:pt x="0" y="0"/>
                </a:lnTo>
              </a:path>
            </a:pathLst>
          </a:custGeom>
          <a:noFill/>
          <a:ln w="29261" cap="flat">
            <a:solidFill>
              <a:srgbClr val="000000"/>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212" name="Temporal pattern to memory arrowhead"/>
          <p:cNvSpPr/>
          <p:nvPr/>
        </p:nvSpPr>
        <p:spPr>
          <a:xfrm>
            <a:off x="12262104" y="1462034"/>
            <a:ext cx="118872" cy="111740"/>
          </a:xfrm>
          <a:custGeom>
            <a:avLst/>
            <a:gdLst/>
            <a:ahLst/>
            <a:cxnLst/>
            <a:rect l="0" t="0" r="w" b="h"/>
            <a:pathLst>
              <a:path w="13000" h="12220" fill="norm" stroke="1" extrusionOk="0">
                <a:moveTo>
                  <a:pt x="0" y="6110"/>
                </a:moveTo>
                <a:lnTo>
                  <a:pt x="13000" y="0"/>
                </a:lnTo>
                <a:lnTo>
                  <a:pt x="13000" y="12220"/>
                </a:lnTo>
                <a:close/>
              </a:path>
            </a:pathLst>
          </a:custGeom>
          <a:solidFill>
            <a:srgbClr val="000000"/>
          </a:solidFill>
          <a:ln>
            <a:noFill/>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213" name="Spatial pattern box"/>
          <p:cNvSpPr/>
          <p:nvPr/>
        </p:nvSpPr>
        <p:spPr>
          <a:xfrm>
            <a:off x="12508992" y="2020824"/>
            <a:ext cx="2596896" cy="384048"/>
          </a:xfrm>
          <a:prstGeom prst="roundRect">
            <a:avLst>
              <a:gd name="adj" fmla="val 9523"/>
            </a:avLst>
          </a:prstGeom>
          <a:solidFill>
            <a:srgbClr val="FFFFFF"/>
          </a:solidFill>
          <a:ln w="27432" cap="flat">
            <a:solidFill>
              <a:srgbClr val="000000"/>
            </a:solidFill>
            <a:round/>
            <a:custDash>
              <a:ds d="290000" sp="129000"/>
            </a:custDash>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214" name="Spatial pattern label"/>
          <p:cNvSpPr txBox="1"/>
          <p:nvPr/>
        </p:nvSpPr>
        <p:spPr>
          <a:xfrm>
            <a:off x="12400178" y="1976750"/>
            <a:ext cx="2814523" cy="395021"/>
          </a:xfrm>
          <a:prstGeom prst="rect">
            <a:avLst/>
          </a:prstGeom>
          <a:noFill/>
        </p:spPr>
        <p:txBody>
          <a:bodyPr wrap="none" lIns="0" rIns="0" tIns="0" bIns="0" anchor="t">
            <a:spAutoFit/>
          </a:bodyPr>
          <a:lstStyle/>
          <a:p>
            <a:pPr algn="ctr">
              <a:spcBef>
                <a:spcPts val="0"/>
              </a:spcBef>
              <a:spcAft>
                <a:spcPts val="0"/>
              </a:spcAft>
            </a:pPr>
            <a:r>
              <a:rPr sz="2592" b="0" i="0">
                <a:solidFill>
                  <a:srgbClr val="000000"/>
                </a:solidFill>
                <a:latin typeface="Times New Roman"/>
              </a:rPr>
              <a:t>Spatial pattern</a:t>
            </a:r>
          </a:p>
        </p:txBody>
      </p:sp>
      <p:sp>
        <p:nvSpPr>
          <p:cNvPr id="215" name="Spatial pattern to memory shaft"/>
          <p:cNvSpPr/>
          <p:nvPr/>
        </p:nvSpPr>
        <p:spPr>
          <a:xfrm>
            <a:off x="12262104" y="2240280"/>
            <a:ext cx="246888" cy="914"/>
          </a:xfrm>
          <a:custGeom>
            <a:avLst/>
            <a:gdLst/>
            <a:ahLst/>
            <a:cxnLst/>
            <a:rect l="0" t="0" r="w" b="h"/>
            <a:pathLst>
              <a:path w="27000" h="100" fill="none" stroke="1" extrusionOk="0">
                <a:moveTo>
                  <a:pt x="27000" y="0"/>
                </a:moveTo>
                <a:lnTo>
                  <a:pt x="0" y="0"/>
                </a:lnTo>
              </a:path>
            </a:pathLst>
          </a:custGeom>
          <a:noFill/>
          <a:ln w="29261" cap="flat">
            <a:solidFill>
              <a:srgbClr val="000000"/>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216" name="Spatial pattern to memory arrowhead"/>
          <p:cNvSpPr/>
          <p:nvPr/>
        </p:nvSpPr>
        <p:spPr>
          <a:xfrm>
            <a:off x="12262104" y="2184410"/>
            <a:ext cx="118872" cy="111740"/>
          </a:xfrm>
          <a:custGeom>
            <a:avLst/>
            <a:gdLst/>
            <a:ahLst/>
            <a:cxnLst/>
            <a:rect l="0" t="0" r="w" b="h"/>
            <a:pathLst>
              <a:path w="13000" h="12220" fill="norm" stroke="1" extrusionOk="0">
                <a:moveTo>
                  <a:pt x="0" y="6110"/>
                </a:moveTo>
                <a:lnTo>
                  <a:pt x="13000" y="0"/>
                </a:lnTo>
                <a:lnTo>
                  <a:pt x="13000" y="12220"/>
                </a:lnTo>
                <a:close/>
              </a:path>
            </a:pathLst>
          </a:custGeom>
          <a:solidFill>
            <a:srgbClr val="000000"/>
          </a:solidFill>
          <a:ln>
            <a:noFill/>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grpSp>
        <p:nvGrpSpPr>
          <p:cNvPr id="217" name="Frequency memory"/>
          <p:cNvGrpSpPr/>
          <p:nvPr/>
        </p:nvGrpSpPr>
        <p:grpSpPr>
          <a:xfrm>
            <a:off x="11365992" y="420624"/>
            <a:ext cx="786384" cy="713232"/>
            <a:chOff x="11365992" y="420624"/>
            <a:chExt cx="786384" cy="713232"/>
          </a:xfrm>
        </p:grpSpPr>
        <p:sp>
          <p:nvSpPr>
            <p:cNvPr id="218" name="Frequency memory left brain hemisphere"/>
            <p:cNvSpPr/>
            <p:nvPr/>
          </p:nvSpPr>
          <p:spPr>
            <a:xfrm>
              <a:off x="11365992" y="420624"/>
              <a:ext cx="347472" cy="713232"/>
            </a:xfrm>
            <a:custGeom>
              <a:avLst/>
              <a:gdLst/>
              <a:ahLst/>
              <a:cxnLst/>
              <a:rect l="0" t="0" r="w" b="h"/>
              <a:pathLst>
                <a:path w="38000" h="78000" fill="norm" stroke="1" extrusionOk="0">
                  <a:moveTo>
                    <a:pt x="36000" y="3000"/>
                  </a:moveTo>
                  <a:cubicBezTo>
                    <a:pt x="25000" y="0"/>
                    <a:pt x="16000" y="9000"/>
                    <a:pt x="19000" y="18000"/>
                  </a:cubicBezTo>
                  <a:cubicBezTo>
                    <a:pt x="8000" y="12000"/>
                    <a:pt x="1000" y="29000"/>
                    <a:pt x="10000" y="37000"/>
                  </a:cubicBezTo>
                  <a:cubicBezTo>
                    <a:pt x="0" y="46000"/>
                    <a:pt x="6000" y="59000"/>
                    <a:pt x="16000" y="60000"/>
                  </a:cubicBezTo>
                  <a:cubicBezTo>
                    <a:pt x="14000" y="71000"/>
                    <a:pt x="27000" y="78000"/>
                    <a:pt x="37000" y="71000"/>
                  </a:cubicBezTo>
                  <a:lnTo>
                    <a:pt x="37000" y="9000"/>
                  </a:lnTo>
                  <a:cubicBezTo>
                    <a:pt x="37000" y="6000"/>
                    <a:pt x="38000" y="4000"/>
                    <a:pt x="36000" y="3000"/>
                  </a:cubicBezTo>
                  <a:close/>
                </a:path>
              </a:pathLst>
            </a:custGeom>
            <a:solidFill>
              <a:srgbClr val="FFFFFF"/>
            </a:solidFill>
            <a:ln w="48463" cap="rnd">
              <a:solidFill>
                <a:srgbClr val="4035A1"/>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219" name="Frequency memory right brain hemisphere"/>
            <p:cNvSpPr/>
            <p:nvPr/>
          </p:nvSpPr>
          <p:spPr>
            <a:xfrm>
              <a:off x="11804904" y="420624"/>
              <a:ext cx="347472" cy="713232"/>
            </a:xfrm>
            <a:custGeom>
              <a:avLst/>
              <a:gdLst/>
              <a:ahLst/>
              <a:cxnLst/>
              <a:rect l="0" t="0" r="w" b="h"/>
              <a:pathLst>
                <a:path w="38000" h="78000" fill="norm" stroke="1" extrusionOk="0">
                  <a:moveTo>
                    <a:pt x="2000" y="3000"/>
                  </a:moveTo>
                  <a:cubicBezTo>
                    <a:pt x="13000" y="0"/>
                    <a:pt x="22000" y="9000"/>
                    <a:pt x="19000" y="18000"/>
                  </a:cubicBezTo>
                  <a:cubicBezTo>
                    <a:pt x="30000" y="12000"/>
                    <a:pt x="37000" y="29000"/>
                    <a:pt x="28000" y="37000"/>
                  </a:cubicBezTo>
                  <a:cubicBezTo>
                    <a:pt x="38000" y="46000"/>
                    <a:pt x="32000" y="59000"/>
                    <a:pt x="22000" y="60000"/>
                  </a:cubicBezTo>
                  <a:cubicBezTo>
                    <a:pt x="24000" y="71000"/>
                    <a:pt x="11000" y="78000"/>
                    <a:pt x="1000" y="71000"/>
                  </a:cubicBezTo>
                  <a:lnTo>
                    <a:pt x="1000" y="9000"/>
                  </a:lnTo>
                  <a:cubicBezTo>
                    <a:pt x="1000" y="6000"/>
                    <a:pt x="0" y="4000"/>
                    <a:pt x="2000" y="3000"/>
                  </a:cubicBezTo>
                  <a:close/>
                </a:path>
              </a:pathLst>
            </a:custGeom>
            <a:solidFill>
              <a:srgbClr val="FFFFFF"/>
            </a:solidFill>
            <a:ln w="48463" cap="rnd">
              <a:solidFill>
                <a:srgbClr val="4035A1"/>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220" name="Frequency memory left memory accent"/>
            <p:cNvSpPr/>
            <p:nvPr/>
          </p:nvSpPr>
          <p:spPr>
            <a:xfrm>
              <a:off x="11548872" y="795528"/>
              <a:ext cx="173736" cy="118872"/>
            </a:xfrm>
            <a:custGeom>
              <a:avLst/>
              <a:gdLst/>
              <a:ahLst/>
              <a:cxnLst/>
              <a:rect l="0" t="0" r="w" b="h"/>
              <a:pathLst>
                <a:path w="19000" h="13000" fill="none" stroke="1" extrusionOk="0">
                  <a:moveTo>
                    <a:pt x="3000" y="0"/>
                  </a:moveTo>
                  <a:cubicBezTo>
                    <a:pt x="19000" y="6000"/>
                    <a:pt x="9000" y="13000"/>
                    <a:pt x="0" y="9000"/>
                  </a:cubicBezTo>
                </a:path>
              </a:pathLst>
            </a:custGeom>
            <a:noFill/>
            <a:ln w="43891" cap="rnd">
              <a:solidFill>
                <a:srgbClr val="F5A30B"/>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221" name="Frequency memory right memory accent"/>
            <p:cNvSpPr/>
            <p:nvPr/>
          </p:nvSpPr>
          <p:spPr>
            <a:xfrm>
              <a:off x="11795760" y="795528"/>
              <a:ext cx="173736" cy="118872"/>
            </a:xfrm>
            <a:custGeom>
              <a:avLst/>
              <a:gdLst/>
              <a:ahLst/>
              <a:cxnLst/>
              <a:rect l="0" t="0" r="w" b="h"/>
              <a:pathLst>
                <a:path w="19000" h="13000" fill="none" stroke="1" extrusionOk="0">
                  <a:moveTo>
                    <a:pt x="16000" y="0"/>
                  </a:moveTo>
                  <a:cubicBezTo>
                    <a:pt x="0" y="6000"/>
                    <a:pt x="10000" y="13000"/>
                    <a:pt x="19000" y="9000"/>
                  </a:cubicBezTo>
                </a:path>
              </a:pathLst>
            </a:custGeom>
            <a:noFill/>
            <a:ln w="43891" cap="rnd">
              <a:solidFill>
                <a:srgbClr val="F5A30B"/>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grpSp>
      <p:grpSp>
        <p:nvGrpSpPr>
          <p:cNvPr id="222" name="Temporal memory"/>
          <p:cNvGrpSpPr/>
          <p:nvPr/>
        </p:nvGrpSpPr>
        <p:grpSpPr>
          <a:xfrm>
            <a:off x="11365992" y="1143000"/>
            <a:ext cx="786384" cy="713232"/>
            <a:chOff x="11365992" y="1143000"/>
            <a:chExt cx="786384" cy="713232"/>
          </a:xfrm>
        </p:grpSpPr>
        <p:sp>
          <p:nvSpPr>
            <p:cNvPr id="223" name="Temporal memory left brain hemisphere"/>
            <p:cNvSpPr/>
            <p:nvPr/>
          </p:nvSpPr>
          <p:spPr>
            <a:xfrm>
              <a:off x="11365992" y="1143000"/>
              <a:ext cx="347472" cy="713232"/>
            </a:xfrm>
            <a:custGeom>
              <a:avLst/>
              <a:gdLst/>
              <a:ahLst/>
              <a:cxnLst/>
              <a:rect l="0" t="0" r="w" b="h"/>
              <a:pathLst>
                <a:path w="38000" h="78000" fill="norm" stroke="1" extrusionOk="0">
                  <a:moveTo>
                    <a:pt x="36000" y="3000"/>
                  </a:moveTo>
                  <a:cubicBezTo>
                    <a:pt x="25000" y="0"/>
                    <a:pt x="16000" y="9000"/>
                    <a:pt x="19000" y="18000"/>
                  </a:cubicBezTo>
                  <a:cubicBezTo>
                    <a:pt x="8000" y="12000"/>
                    <a:pt x="1000" y="29000"/>
                    <a:pt x="10000" y="37000"/>
                  </a:cubicBezTo>
                  <a:cubicBezTo>
                    <a:pt x="0" y="46000"/>
                    <a:pt x="6000" y="59000"/>
                    <a:pt x="16000" y="60000"/>
                  </a:cubicBezTo>
                  <a:cubicBezTo>
                    <a:pt x="14000" y="71000"/>
                    <a:pt x="27000" y="78000"/>
                    <a:pt x="37000" y="71000"/>
                  </a:cubicBezTo>
                  <a:lnTo>
                    <a:pt x="37000" y="9000"/>
                  </a:lnTo>
                  <a:cubicBezTo>
                    <a:pt x="37000" y="6000"/>
                    <a:pt x="38000" y="4000"/>
                    <a:pt x="36000" y="3000"/>
                  </a:cubicBezTo>
                  <a:close/>
                </a:path>
              </a:pathLst>
            </a:custGeom>
            <a:solidFill>
              <a:srgbClr val="FFFFFF"/>
            </a:solidFill>
            <a:ln w="48463" cap="rnd">
              <a:solidFill>
                <a:srgbClr val="4035A1"/>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224" name="Temporal memory right brain hemisphere"/>
            <p:cNvSpPr/>
            <p:nvPr/>
          </p:nvSpPr>
          <p:spPr>
            <a:xfrm>
              <a:off x="11804904" y="1143000"/>
              <a:ext cx="347472" cy="713232"/>
            </a:xfrm>
            <a:custGeom>
              <a:avLst/>
              <a:gdLst/>
              <a:ahLst/>
              <a:cxnLst/>
              <a:rect l="0" t="0" r="w" b="h"/>
              <a:pathLst>
                <a:path w="38000" h="78000" fill="norm" stroke="1" extrusionOk="0">
                  <a:moveTo>
                    <a:pt x="2000" y="3000"/>
                  </a:moveTo>
                  <a:cubicBezTo>
                    <a:pt x="13000" y="0"/>
                    <a:pt x="22000" y="9000"/>
                    <a:pt x="19000" y="18000"/>
                  </a:cubicBezTo>
                  <a:cubicBezTo>
                    <a:pt x="30000" y="12000"/>
                    <a:pt x="37000" y="29000"/>
                    <a:pt x="28000" y="37000"/>
                  </a:cubicBezTo>
                  <a:cubicBezTo>
                    <a:pt x="38000" y="46000"/>
                    <a:pt x="32000" y="59000"/>
                    <a:pt x="22000" y="60000"/>
                  </a:cubicBezTo>
                  <a:cubicBezTo>
                    <a:pt x="24000" y="71000"/>
                    <a:pt x="11000" y="78000"/>
                    <a:pt x="1000" y="71000"/>
                  </a:cubicBezTo>
                  <a:lnTo>
                    <a:pt x="1000" y="9000"/>
                  </a:lnTo>
                  <a:cubicBezTo>
                    <a:pt x="1000" y="6000"/>
                    <a:pt x="0" y="4000"/>
                    <a:pt x="2000" y="3000"/>
                  </a:cubicBezTo>
                  <a:close/>
                </a:path>
              </a:pathLst>
            </a:custGeom>
            <a:solidFill>
              <a:srgbClr val="FFFFFF"/>
            </a:solidFill>
            <a:ln w="48463" cap="rnd">
              <a:solidFill>
                <a:srgbClr val="4035A1"/>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225" name="Temporal memory left memory accent"/>
            <p:cNvSpPr/>
            <p:nvPr/>
          </p:nvSpPr>
          <p:spPr>
            <a:xfrm>
              <a:off x="11548872" y="1517904"/>
              <a:ext cx="173736" cy="118872"/>
            </a:xfrm>
            <a:custGeom>
              <a:avLst/>
              <a:gdLst/>
              <a:ahLst/>
              <a:cxnLst/>
              <a:rect l="0" t="0" r="w" b="h"/>
              <a:pathLst>
                <a:path w="19000" h="13000" fill="none" stroke="1" extrusionOk="0">
                  <a:moveTo>
                    <a:pt x="3000" y="0"/>
                  </a:moveTo>
                  <a:cubicBezTo>
                    <a:pt x="19000" y="6000"/>
                    <a:pt x="9000" y="13000"/>
                    <a:pt x="0" y="9000"/>
                  </a:cubicBezTo>
                </a:path>
              </a:pathLst>
            </a:custGeom>
            <a:noFill/>
            <a:ln w="43891" cap="rnd">
              <a:solidFill>
                <a:srgbClr val="F5A30B"/>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226" name="Temporal memory right memory accent"/>
            <p:cNvSpPr/>
            <p:nvPr/>
          </p:nvSpPr>
          <p:spPr>
            <a:xfrm>
              <a:off x="11795760" y="1517904"/>
              <a:ext cx="173736" cy="118872"/>
            </a:xfrm>
            <a:custGeom>
              <a:avLst/>
              <a:gdLst/>
              <a:ahLst/>
              <a:cxnLst/>
              <a:rect l="0" t="0" r="w" b="h"/>
              <a:pathLst>
                <a:path w="19000" h="13000" fill="none" stroke="1" extrusionOk="0">
                  <a:moveTo>
                    <a:pt x="16000" y="0"/>
                  </a:moveTo>
                  <a:cubicBezTo>
                    <a:pt x="0" y="6000"/>
                    <a:pt x="10000" y="13000"/>
                    <a:pt x="19000" y="9000"/>
                  </a:cubicBezTo>
                </a:path>
              </a:pathLst>
            </a:custGeom>
            <a:noFill/>
            <a:ln w="43891" cap="rnd">
              <a:solidFill>
                <a:srgbClr val="F5A30B"/>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grpSp>
      <p:grpSp>
        <p:nvGrpSpPr>
          <p:cNvPr id="227" name="Spatial memory"/>
          <p:cNvGrpSpPr/>
          <p:nvPr/>
        </p:nvGrpSpPr>
        <p:grpSpPr>
          <a:xfrm>
            <a:off x="11365992" y="1865376"/>
            <a:ext cx="786384" cy="713232"/>
            <a:chOff x="11365992" y="1865376"/>
            <a:chExt cx="786384" cy="713232"/>
          </a:xfrm>
        </p:grpSpPr>
        <p:sp>
          <p:nvSpPr>
            <p:cNvPr id="228" name="Spatial memory left brain hemisphere"/>
            <p:cNvSpPr/>
            <p:nvPr/>
          </p:nvSpPr>
          <p:spPr>
            <a:xfrm>
              <a:off x="11365992" y="1865376"/>
              <a:ext cx="347472" cy="713232"/>
            </a:xfrm>
            <a:custGeom>
              <a:avLst/>
              <a:gdLst/>
              <a:ahLst/>
              <a:cxnLst/>
              <a:rect l="0" t="0" r="w" b="h"/>
              <a:pathLst>
                <a:path w="38000" h="78000" fill="norm" stroke="1" extrusionOk="0">
                  <a:moveTo>
                    <a:pt x="36000" y="3000"/>
                  </a:moveTo>
                  <a:cubicBezTo>
                    <a:pt x="25000" y="0"/>
                    <a:pt x="16000" y="9000"/>
                    <a:pt x="19000" y="18000"/>
                  </a:cubicBezTo>
                  <a:cubicBezTo>
                    <a:pt x="8000" y="12000"/>
                    <a:pt x="1000" y="29000"/>
                    <a:pt x="10000" y="37000"/>
                  </a:cubicBezTo>
                  <a:cubicBezTo>
                    <a:pt x="0" y="46000"/>
                    <a:pt x="6000" y="59000"/>
                    <a:pt x="16000" y="60000"/>
                  </a:cubicBezTo>
                  <a:cubicBezTo>
                    <a:pt x="14000" y="71000"/>
                    <a:pt x="27000" y="78000"/>
                    <a:pt x="37000" y="71000"/>
                  </a:cubicBezTo>
                  <a:lnTo>
                    <a:pt x="37000" y="9000"/>
                  </a:lnTo>
                  <a:cubicBezTo>
                    <a:pt x="37000" y="6000"/>
                    <a:pt x="38000" y="4000"/>
                    <a:pt x="36000" y="3000"/>
                  </a:cubicBezTo>
                  <a:close/>
                </a:path>
              </a:pathLst>
            </a:custGeom>
            <a:solidFill>
              <a:srgbClr val="FFFFFF"/>
            </a:solidFill>
            <a:ln w="48463" cap="rnd">
              <a:solidFill>
                <a:srgbClr val="4035A1"/>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229" name="Spatial memory right brain hemisphere"/>
            <p:cNvSpPr/>
            <p:nvPr/>
          </p:nvSpPr>
          <p:spPr>
            <a:xfrm>
              <a:off x="11804904" y="1865376"/>
              <a:ext cx="347472" cy="713232"/>
            </a:xfrm>
            <a:custGeom>
              <a:avLst/>
              <a:gdLst/>
              <a:ahLst/>
              <a:cxnLst/>
              <a:rect l="0" t="0" r="w" b="h"/>
              <a:pathLst>
                <a:path w="38000" h="78000" fill="norm" stroke="1" extrusionOk="0">
                  <a:moveTo>
                    <a:pt x="2000" y="3000"/>
                  </a:moveTo>
                  <a:cubicBezTo>
                    <a:pt x="13000" y="0"/>
                    <a:pt x="22000" y="9000"/>
                    <a:pt x="19000" y="18000"/>
                  </a:cubicBezTo>
                  <a:cubicBezTo>
                    <a:pt x="30000" y="12000"/>
                    <a:pt x="37000" y="29000"/>
                    <a:pt x="28000" y="37000"/>
                  </a:cubicBezTo>
                  <a:cubicBezTo>
                    <a:pt x="38000" y="46000"/>
                    <a:pt x="32000" y="59000"/>
                    <a:pt x="22000" y="60000"/>
                  </a:cubicBezTo>
                  <a:cubicBezTo>
                    <a:pt x="24000" y="71000"/>
                    <a:pt x="11000" y="78000"/>
                    <a:pt x="1000" y="71000"/>
                  </a:cubicBezTo>
                  <a:lnTo>
                    <a:pt x="1000" y="9000"/>
                  </a:lnTo>
                  <a:cubicBezTo>
                    <a:pt x="1000" y="6000"/>
                    <a:pt x="0" y="4000"/>
                    <a:pt x="2000" y="3000"/>
                  </a:cubicBezTo>
                  <a:close/>
                </a:path>
              </a:pathLst>
            </a:custGeom>
            <a:solidFill>
              <a:srgbClr val="FFFFFF"/>
            </a:solidFill>
            <a:ln w="48463" cap="rnd">
              <a:solidFill>
                <a:srgbClr val="4035A1"/>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230" name="Spatial memory left memory accent"/>
            <p:cNvSpPr/>
            <p:nvPr/>
          </p:nvSpPr>
          <p:spPr>
            <a:xfrm>
              <a:off x="11548872" y="2240280"/>
              <a:ext cx="173736" cy="118872"/>
            </a:xfrm>
            <a:custGeom>
              <a:avLst/>
              <a:gdLst/>
              <a:ahLst/>
              <a:cxnLst/>
              <a:rect l="0" t="0" r="w" b="h"/>
              <a:pathLst>
                <a:path w="19000" h="13000" fill="none" stroke="1" extrusionOk="0">
                  <a:moveTo>
                    <a:pt x="3000" y="0"/>
                  </a:moveTo>
                  <a:cubicBezTo>
                    <a:pt x="19000" y="6000"/>
                    <a:pt x="9000" y="13000"/>
                    <a:pt x="0" y="9000"/>
                  </a:cubicBezTo>
                </a:path>
              </a:pathLst>
            </a:custGeom>
            <a:noFill/>
            <a:ln w="43891" cap="rnd">
              <a:solidFill>
                <a:srgbClr val="F5A30B"/>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231" name="Spatial memory right memory accent"/>
            <p:cNvSpPr/>
            <p:nvPr/>
          </p:nvSpPr>
          <p:spPr>
            <a:xfrm>
              <a:off x="11795760" y="2240280"/>
              <a:ext cx="173736" cy="118872"/>
            </a:xfrm>
            <a:custGeom>
              <a:avLst/>
              <a:gdLst/>
              <a:ahLst/>
              <a:cxnLst/>
              <a:rect l="0" t="0" r="w" b="h"/>
              <a:pathLst>
                <a:path w="19000" h="13000" fill="none" stroke="1" extrusionOk="0">
                  <a:moveTo>
                    <a:pt x="16000" y="0"/>
                  </a:moveTo>
                  <a:cubicBezTo>
                    <a:pt x="0" y="6000"/>
                    <a:pt x="10000" y="13000"/>
                    <a:pt x="19000" y="9000"/>
                  </a:cubicBezTo>
                </a:path>
              </a:pathLst>
            </a:custGeom>
            <a:noFill/>
            <a:ln w="43891" cap="rnd">
              <a:solidFill>
                <a:srgbClr val="F5A30B"/>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grpSp>
      <p:grpSp>
        <p:nvGrpSpPr>
          <p:cNvPr id="232" name="Task memory"/>
          <p:cNvGrpSpPr/>
          <p:nvPr/>
        </p:nvGrpSpPr>
        <p:grpSpPr>
          <a:xfrm>
            <a:off x="11365992" y="3657600"/>
            <a:ext cx="786384" cy="713232"/>
            <a:chOff x="11365992" y="3657600"/>
            <a:chExt cx="786384" cy="713232"/>
          </a:xfrm>
        </p:grpSpPr>
        <p:sp>
          <p:nvSpPr>
            <p:cNvPr id="233" name="Task memory left brain hemisphere"/>
            <p:cNvSpPr/>
            <p:nvPr/>
          </p:nvSpPr>
          <p:spPr>
            <a:xfrm>
              <a:off x="11365992" y="3657600"/>
              <a:ext cx="347472" cy="713232"/>
            </a:xfrm>
            <a:custGeom>
              <a:avLst/>
              <a:gdLst/>
              <a:ahLst/>
              <a:cxnLst/>
              <a:rect l="0" t="0" r="w" b="h"/>
              <a:pathLst>
                <a:path w="38000" h="78000" fill="norm" stroke="1" extrusionOk="0">
                  <a:moveTo>
                    <a:pt x="36000" y="3000"/>
                  </a:moveTo>
                  <a:cubicBezTo>
                    <a:pt x="25000" y="0"/>
                    <a:pt x="16000" y="9000"/>
                    <a:pt x="19000" y="18000"/>
                  </a:cubicBezTo>
                  <a:cubicBezTo>
                    <a:pt x="8000" y="12000"/>
                    <a:pt x="1000" y="29000"/>
                    <a:pt x="10000" y="37000"/>
                  </a:cubicBezTo>
                  <a:cubicBezTo>
                    <a:pt x="0" y="46000"/>
                    <a:pt x="6000" y="59000"/>
                    <a:pt x="16000" y="60000"/>
                  </a:cubicBezTo>
                  <a:cubicBezTo>
                    <a:pt x="14000" y="71000"/>
                    <a:pt x="27000" y="78000"/>
                    <a:pt x="37000" y="71000"/>
                  </a:cubicBezTo>
                  <a:lnTo>
                    <a:pt x="37000" y="9000"/>
                  </a:lnTo>
                  <a:cubicBezTo>
                    <a:pt x="37000" y="6000"/>
                    <a:pt x="38000" y="4000"/>
                    <a:pt x="36000" y="3000"/>
                  </a:cubicBezTo>
                  <a:close/>
                </a:path>
              </a:pathLst>
            </a:custGeom>
            <a:solidFill>
              <a:srgbClr val="FFFFFF"/>
            </a:solidFill>
            <a:ln w="48463" cap="rnd">
              <a:solidFill>
                <a:srgbClr val="4035A1"/>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234" name="Task memory right brain hemisphere"/>
            <p:cNvSpPr/>
            <p:nvPr/>
          </p:nvSpPr>
          <p:spPr>
            <a:xfrm>
              <a:off x="11804904" y="3657600"/>
              <a:ext cx="347472" cy="713232"/>
            </a:xfrm>
            <a:custGeom>
              <a:avLst/>
              <a:gdLst/>
              <a:ahLst/>
              <a:cxnLst/>
              <a:rect l="0" t="0" r="w" b="h"/>
              <a:pathLst>
                <a:path w="38000" h="78000" fill="norm" stroke="1" extrusionOk="0">
                  <a:moveTo>
                    <a:pt x="2000" y="3000"/>
                  </a:moveTo>
                  <a:cubicBezTo>
                    <a:pt x="13000" y="0"/>
                    <a:pt x="22000" y="9000"/>
                    <a:pt x="19000" y="18000"/>
                  </a:cubicBezTo>
                  <a:cubicBezTo>
                    <a:pt x="30000" y="12000"/>
                    <a:pt x="37000" y="29000"/>
                    <a:pt x="28000" y="37000"/>
                  </a:cubicBezTo>
                  <a:cubicBezTo>
                    <a:pt x="38000" y="46000"/>
                    <a:pt x="32000" y="59000"/>
                    <a:pt x="22000" y="60000"/>
                  </a:cubicBezTo>
                  <a:cubicBezTo>
                    <a:pt x="24000" y="71000"/>
                    <a:pt x="11000" y="78000"/>
                    <a:pt x="1000" y="71000"/>
                  </a:cubicBezTo>
                  <a:lnTo>
                    <a:pt x="1000" y="9000"/>
                  </a:lnTo>
                  <a:cubicBezTo>
                    <a:pt x="1000" y="6000"/>
                    <a:pt x="0" y="4000"/>
                    <a:pt x="2000" y="3000"/>
                  </a:cubicBezTo>
                  <a:close/>
                </a:path>
              </a:pathLst>
            </a:custGeom>
            <a:solidFill>
              <a:srgbClr val="FFFFFF"/>
            </a:solidFill>
            <a:ln w="48463" cap="rnd">
              <a:solidFill>
                <a:srgbClr val="4035A1"/>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235" name="Task memory left memory accent"/>
            <p:cNvSpPr/>
            <p:nvPr/>
          </p:nvSpPr>
          <p:spPr>
            <a:xfrm>
              <a:off x="11548872" y="4032504"/>
              <a:ext cx="173736" cy="118872"/>
            </a:xfrm>
            <a:custGeom>
              <a:avLst/>
              <a:gdLst/>
              <a:ahLst/>
              <a:cxnLst/>
              <a:rect l="0" t="0" r="w" b="h"/>
              <a:pathLst>
                <a:path w="19000" h="13000" fill="none" stroke="1" extrusionOk="0">
                  <a:moveTo>
                    <a:pt x="3000" y="0"/>
                  </a:moveTo>
                  <a:cubicBezTo>
                    <a:pt x="19000" y="6000"/>
                    <a:pt x="9000" y="13000"/>
                    <a:pt x="0" y="9000"/>
                  </a:cubicBezTo>
                </a:path>
              </a:pathLst>
            </a:custGeom>
            <a:noFill/>
            <a:ln w="43891" cap="rnd">
              <a:solidFill>
                <a:srgbClr val="F5A30B"/>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236" name="Task memory right memory accent"/>
            <p:cNvSpPr/>
            <p:nvPr/>
          </p:nvSpPr>
          <p:spPr>
            <a:xfrm>
              <a:off x="11795760" y="4032504"/>
              <a:ext cx="173736" cy="118872"/>
            </a:xfrm>
            <a:custGeom>
              <a:avLst/>
              <a:gdLst/>
              <a:ahLst/>
              <a:cxnLst/>
              <a:rect l="0" t="0" r="w" b="h"/>
              <a:pathLst>
                <a:path w="19000" h="13000" fill="none" stroke="1" extrusionOk="0">
                  <a:moveTo>
                    <a:pt x="16000" y="0"/>
                  </a:moveTo>
                  <a:cubicBezTo>
                    <a:pt x="0" y="6000"/>
                    <a:pt x="10000" y="13000"/>
                    <a:pt x="19000" y="9000"/>
                  </a:cubicBezTo>
                </a:path>
              </a:pathLst>
            </a:custGeom>
            <a:noFill/>
            <a:ln w="43891" cap="rnd">
              <a:solidFill>
                <a:srgbClr val="F5A30B"/>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grpSp>
      <p:sp>
        <p:nvSpPr>
          <p:cNvPr id="237" name="Data memory line 1"/>
          <p:cNvSpPr txBox="1"/>
          <p:nvPr/>
        </p:nvSpPr>
        <p:spPr>
          <a:xfrm>
            <a:off x="11475720" y="2488768"/>
            <a:ext cx="731520" cy="384048"/>
          </a:xfrm>
          <a:prstGeom prst="rect">
            <a:avLst/>
          </a:prstGeom>
          <a:noFill/>
        </p:spPr>
        <p:txBody>
          <a:bodyPr wrap="none" lIns="0" rIns="0" tIns="0" bIns="0" anchor="t">
            <a:spAutoFit/>
          </a:bodyPr>
          <a:lstStyle/>
          <a:p>
            <a:pPr algn="ctr">
              <a:spcBef>
                <a:spcPts val="0"/>
              </a:spcBef>
              <a:spcAft>
                <a:spcPts val="0"/>
              </a:spcAft>
            </a:pPr>
            <a:r>
              <a:rPr sz="2520" b="0" i="0">
                <a:solidFill>
                  <a:srgbClr val="000000"/>
                </a:solidFill>
                <a:latin typeface="Times New Roman"/>
              </a:rPr>
              <a:t>Data</a:t>
            </a:r>
          </a:p>
        </p:txBody>
      </p:sp>
      <p:sp>
        <p:nvSpPr>
          <p:cNvPr id="238" name="Data memory line 2"/>
          <p:cNvSpPr txBox="1"/>
          <p:nvPr/>
        </p:nvSpPr>
        <p:spPr>
          <a:xfrm>
            <a:off x="11294212" y="2717368"/>
            <a:ext cx="1094537" cy="384048"/>
          </a:xfrm>
          <a:prstGeom prst="rect">
            <a:avLst/>
          </a:prstGeom>
          <a:noFill/>
        </p:spPr>
        <p:txBody>
          <a:bodyPr wrap="none" lIns="0" rIns="0" tIns="0" bIns="0" anchor="t">
            <a:spAutoFit/>
          </a:bodyPr>
          <a:lstStyle/>
          <a:p>
            <a:pPr algn="ctr">
              <a:spcBef>
                <a:spcPts val="0"/>
              </a:spcBef>
              <a:spcAft>
                <a:spcPts val="0"/>
              </a:spcAft>
            </a:pPr>
            <a:r>
              <a:rPr sz="2520" b="0" i="0">
                <a:solidFill>
                  <a:srgbClr val="000000"/>
                </a:solidFill>
                <a:latin typeface="Times New Roman"/>
              </a:rPr>
              <a:t>memory</a:t>
            </a:r>
          </a:p>
        </p:txBody>
      </p:sp>
      <p:sp>
        <p:nvSpPr>
          <p:cNvPr id="239" name="Data driven prompt label"/>
          <p:cNvSpPr txBox="1"/>
          <p:nvPr/>
        </p:nvSpPr>
        <p:spPr>
          <a:xfrm>
            <a:off x="12440412" y="2625974"/>
            <a:ext cx="2788920" cy="395021"/>
          </a:xfrm>
          <a:prstGeom prst="rect">
            <a:avLst/>
          </a:prstGeom>
          <a:noFill/>
        </p:spPr>
        <p:txBody>
          <a:bodyPr wrap="none" lIns="0" rIns="0" tIns="0" bIns="0" anchor="t">
            <a:spAutoFit/>
          </a:bodyPr>
          <a:lstStyle/>
          <a:p>
            <a:pPr algn="ctr">
              <a:spcBef>
                <a:spcPts val="0"/>
              </a:spcBef>
              <a:spcAft>
                <a:spcPts val="0"/>
              </a:spcAft>
            </a:pPr>
            <a:r>
              <a:rPr sz="2592" b="1" i="1">
                <a:solidFill>
                  <a:srgbClr val="000000"/>
                </a:solidFill>
                <a:latin typeface="Times New Roman"/>
              </a:rPr>
              <a:t>Data-driven prompt</a:t>
            </a:r>
          </a:p>
        </p:txBody>
      </p:sp>
      <p:sp>
        <p:nvSpPr>
          <p:cNvPr id="240" name="Task memory line 1"/>
          <p:cNvSpPr txBox="1"/>
          <p:nvPr/>
        </p:nvSpPr>
        <p:spPr>
          <a:xfrm>
            <a:off x="11475720" y="4399864"/>
            <a:ext cx="731520" cy="384048"/>
          </a:xfrm>
          <a:prstGeom prst="rect">
            <a:avLst/>
          </a:prstGeom>
          <a:noFill/>
        </p:spPr>
        <p:txBody>
          <a:bodyPr wrap="none" lIns="0" rIns="0" tIns="0" bIns="0" anchor="t">
            <a:spAutoFit/>
          </a:bodyPr>
          <a:lstStyle/>
          <a:p>
            <a:pPr algn="ctr">
              <a:spcBef>
                <a:spcPts val="0"/>
              </a:spcBef>
              <a:spcAft>
                <a:spcPts val="0"/>
              </a:spcAft>
            </a:pPr>
            <a:r>
              <a:rPr sz="2520" b="0" i="0">
                <a:solidFill>
                  <a:srgbClr val="000000"/>
                </a:solidFill>
                <a:latin typeface="Times New Roman"/>
              </a:rPr>
              <a:t>Task</a:t>
            </a:r>
          </a:p>
        </p:txBody>
      </p:sp>
      <p:sp>
        <p:nvSpPr>
          <p:cNvPr id="241" name="Task memory line 2"/>
          <p:cNvSpPr txBox="1"/>
          <p:nvPr/>
        </p:nvSpPr>
        <p:spPr>
          <a:xfrm>
            <a:off x="11294212" y="4637608"/>
            <a:ext cx="1094537" cy="384048"/>
          </a:xfrm>
          <a:prstGeom prst="rect">
            <a:avLst/>
          </a:prstGeom>
          <a:noFill/>
        </p:spPr>
        <p:txBody>
          <a:bodyPr wrap="none" lIns="0" rIns="0" tIns="0" bIns="0" anchor="t">
            <a:spAutoFit/>
          </a:bodyPr>
          <a:lstStyle/>
          <a:p>
            <a:pPr algn="ctr">
              <a:spcBef>
                <a:spcPts val="0"/>
              </a:spcBef>
              <a:spcAft>
                <a:spcPts val="0"/>
              </a:spcAft>
            </a:pPr>
            <a:r>
              <a:rPr sz="2520" b="0" i="0">
                <a:solidFill>
                  <a:srgbClr val="000000"/>
                </a:solidFill>
                <a:latin typeface="Times New Roman"/>
              </a:rPr>
              <a:t>memory</a:t>
            </a:r>
          </a:p>
        </p:txBody>
      </p:sp>
      <p:sp>
        <p:nvSpPr>
          <p:cNvPr id="242" name="Task-specific prompt label"/>
          <p:cNvSpPr txBox="1"/>
          <p:nvPr/>
        </p:nvSpPr>
        <p:spPr>
          <a:xfrm>
            <a:off x="12335256" y="4783958"/>
            <a:ext cx="2926080" cy="395021"/>
          </a:xfrm>
          <a:prstGeom prst="rect">
            <a:avLst/>
          </a:prstGeom>
          <a:noFill/>
        </p:spPr>
        <p:txBody>
          <a:bodyPr wrap="none" lIns="0" rIns="0" tIns="0" bIns="0" anchor="t">
            <a:spAutoFit/>
          </a:bodyPr>
          <a:lstStyle/>
          <a:p>
            <a:pPr algn="ctr">
              <a:spcBef>
                <a:spcPts val="0"/>
              </a:spcBef>
              <a:spcAft>
                <a:spcPts val="0"/>
              </a:spcAft>
            </a:pPr>
            <a:r>
              <a:rPr sz="2592" b="1" i="1">
                <a:solidFill>
                  <a:srgbClr val="000000"/>
                </a:solidFill>
                <a:latin typeface="Times New Roman"/>
              </a:rPr>
              <a:t>Task-specific prompt</a:t>
            </a:r>
          </a:p>
        </p:txBody>
      </p:sp>
      <p:sp>
        <p:nvSpPr>
          <p:cNvPr id="243" name="Attention box"/>
          <p:cNvSpPr/>
          <p:nvPr/>
        </p:nvSpPr>
        <p:spPr>
          <a:xfrm>
            <a:off x="12646152" y="3419856"/>
            <a:ext cx="384048" cy="1362456"/>
          </a:xfrm>
          <a:prstGeom prst="roundRect">
            <a:avLst>
              <a:gd name="adj" fmla="val 11904"/>
            </a:avLst>
          </a:prstGeom>
          <a:solidFill>
            <a:srgbClr val="FFFFFF"/>
          </a:solidFill>
          <a:ln w="27432" cap="flat">
            <a:solidFill>
              <a:srgbClr val="000000"/>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244" name="Attention label"/>
          <p:cNvSpPr txBox="1"/>
          <p:nvPr/>
        </p:nvSpPr>
        <p:spPr>
          <a:xfrm rot="5400000">
            <a:off x="12175236" y="3869558"/>
            <a:ext cx="1325880" cy="395021"/>
          </a:xfrm>
          <a:prstGeom prst="rect">
            <a:avLst/>
          </a:prstGeom>
          <a:noFill/>
        </p:spPr>
        <p:txBody>
          <a:bodyPr wrap="none" lIns="0" rIns="0" tIns="0" bIns="0" anchor="t">
            <a:spAutoFit/>
          </a:bodyPr>
          <a:lstStyle/>
          <a:p>
            <a:pPr algn="ctr">
              <a:spcBef>
                <a:spcPts val="0"/>
              </a:spcBef>
              <a:spcAft>
                <a:spcPts val="0"/>
              </a:spcAft>
            </a:pPr>
            <a:r>
              <a:rPr sz="2592" b="0" i="0">
                <a:solidFill>
                  <a:srgbClr val="000000"/>
                </a:solidFill>
                <a:latin typeface="Times New Roman"/>
              </a:rPr>
              <a:t>Attention</a:t>
            </a:r>
          </a:p>
        </p:txBody>
      </p:sp>
      <p:sp>
        <p:nvSpPr>
          <p:cNvPr id="245" name="Attention to task memory shaft"/>
          <p:cNvSpPr/>
          <p:nvPr/>
        </p:nvSpPr>
        <p:spPr>
          <a:xfrm>
            <a:off x="12298680" y="4096512"/>
            <a:ext cx="274320" cy="914"/>
          </a:xfrm>
          <a:custGeom>
            <a:avLst/>
            <a:gdLst/>
            <a:ahLst/>
            <a:cxnLst/>
            <a:rect l="0" t="0" r="w" b="h"/>
            <a:pathLst>
              <a:path w="30000" h="100" fill="none" stroke="1" extrusionOk="0">
                <a:moveTo>
                  <a:pt x="30000" y="0"/>
                </a:moveTo>
                <a:lnTo>
                  <a:pt x="0" y="0"/>
                </a:lnTo>
              </a:path>
            </a:pathLst>
          </a:custGeom>
          <a:noFill/>
          <a:ln w="29261" cap="flat">
            <a:solidFill>
              <a:srgbClr val="000000"/>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246" name="Attention to task memory arrowhead"/>
          <p:cNvSpPr/>
          <p:nvPr/>
        </p:nvSpPr>
        <p:spPr>
          <a:xfrm>
            <a:off x="12298680" y="4040642"/>
            <a:ext cx="118872" cy="111740"/>
          </a:xfrm>
          <a:custGeom>
            <a:avLst/>
            <a:gdLst/>
            <a:ahLst/>
            <a:cxnLst/>
            <a:rect l="0" t="0" r="w" b="h"/>
            <a:pathLst>
              <a:path w="13000" h="12220" fill="norm" stroke="1" extrusionOk="0">
                <a:moveTo>
                  <a:pt x="0" y="6110"/>
                </a:moveTo>
                <a:lnTo>
                  <a:pt x="13000" y="0"/>
                </a:lnTo>
                <a:lnTo>
                  <a:pt x="13000" y="12220"/>
                </a:lnTo>
                <a:close/>
              </a:path>
            </a:pathLst>
          </a:custGeom>
          <a:solidFill>
            <a:srgbClr val="000000"/>
          </a:solidFill>
          <a:ln>
            <a:noFill/>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247" name="Masked ST data to attention shaft"/>
          <p:cNvSpPr/>
          <p:nvPr/>
        </p:nvSpPr>
        <p:spPr>
          <a:xfrm>
            <a:off x="13130784" y="4096512"/>
            <a:ext cx="246888" cy="914"/>
          </a:xfrm>
          <a:custGeom>
            <a:avLst/>
            <a:gdLst/>
            <a:ahLst/>
            <a:cxnLst/>
            <a:rect l="0" t="0" r="w" b="h"/>
            <a:pathLst>
              <a:path w="27000" h="100" fill="none" stroke="1" extrusionOk="0">
                <a:moveTo>
                  <a:pt x="27000" y="0"/>
                </a:moveTo>
                <a:lnTo>
                  <a:pt x="0" y="0"/>
                </a:lnTo>
              </a:path>
            </a:pathLst>
          </a:custGeom>
          <a:noFill/>
          <a:ln w="29261" cap="flat">
            <a:solidFill>
              <a:srgbClr val="000000"/>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248" name="Masked ST data to attention arrowhead"/>
          <p:cNvSpPr/>
          <p:nvPr/>
        </p:nvSpPr>
        <p:spPr>
          <a:xfrm>
            <a:off x="13130784" y="4040642"/>
            <a:ext cx="118872" cy="111740"/>
          </a:xfrm>
          <a:custGeom>
            <a:avLst/>
            <a:gdLst/>
            <a:ahLst/>
            <a:cxnLst/>
            <a:rect l="0" t="0" r="w" b="h"/>
            <a:pathLst>
              <a:path w="13000" h="12220" fill="norm" stroke="1" extrusionOk="0">
                <a:moveTo>
                  <a:pt x="0" y="6110"/>
                </a:moveTo>
                <a:lnTo>
                  <a:pt x="13000" y="0"/>
                </a:lnTo>
                <a:lnTo>
                  <a:pt x="13000" y="12220"/>
                </a:lnTo>
                <a:close/>
              </a:path>
            </a:pathLst>
          </a:custGeom>
          <a:solidFill>
            <a:srgbClr val="000000"/>
          </a:solidFill>
          <a:ln>
            <a:noFill/>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pic>
        <p:nvPicPr>
          <p:cNvPr id="249" name="Task-specific masked data stack" descr="Task-specific masked data stack.png"/>
          <p:cNvPicPr>
            <a:picLocks noChangeAspect="1"/>
          </p:cNvPicPr>
          <p:nvPr/>
        </p:nvPicPr>
        <p:blipFill>
          <a:blip r:embed="rId16"/>
          <a:stretch>
            <a:fillRect/>
          </a:stretch>
        </p:blipFill>
        <p:spPr>
          <a:xfrm>
            <a:off x="13478256" y="3712464"/>
            <a:ext cx="1655064" cy="822960"/>
          </a:xfrm>
          <a:prstGeom prst="rect">
            <a:avLst/>
          </a:prstGeom>
        </p:spPr>
      </p:pic>
      <p:sp>
        <p:nvSpPr>
          <p:cNvPr id="250" name="ST data input shaft"/>
          <p:cNvSpPr/>
          <p:nvPr/>
        </p:nvSpPr>
        <p:spPr>
          <a:xfrm>
            <a:off x="15297912" y="1581912"/>
            <a:ext cx="246888" cy="914"/>
          </a:xfrm>
          <a:custGeom>
            <a:avLst/>
            <a:gdLst/>
            <a:ahLst/>
            <a:cxnLst/>
            <a:rect l="0" t="0" r="w" b="h"/>
            <a:pathLst>
              <a:path w="27000" h="100" fill="none" stroke="1" extrusionOk="0">
                <a:moveTo>
                  <a:pt x="27000" y="0"/>
                </a:moveTo>
                <a:lnTo>
                  <a:pt x="0" y="0"/>
                </a:lnTo>
              </a:path>
            </a:pathLst>
          </a:custGeom>
          <a:noFill/>
          <a:ln w="29261" cap="flat">
            <a:solidFill>
              <a:srgbClr val="000000"/>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251" name="ST data input arrowhead"/>
          <p:cNvSpPr/>
          <p:nvPr/>
        </p:nvSpPr>
        <p:spPr>
          <a:xfrm>
            <a:off x="15297912" y="1526042"/>
            <a:ext cx="118872" cy="111740"/>
          </a:xfrm>
          <a:custGeom>
            <a:avLst/>
            <a:gdLst/>
            <a:ahLst/>
            <a:cxnLst/>
            <a:rect l="0" t="0" r="w" b="h"/>
            <a:pathLst>
              <a:path w="13000" h="12220" fill="norm" stroke="1" extrusionOk="0">
                <a:moveTo>
                  <a:pt x="0" y="6110"/>
                </a:moveTo>
                <a:lnTo>
                  <a:pt x="13000" y="0"/>
                </a:lnTo>
                <a:lnTo>
                  <a:pt x="13000" y="12220"/>
                </a:lnTo>
                <a:close/>
              </a:path>
            </a:pathLst>
          </a:custGeom>
          <a:solidFill>
            <a:srgbClr val="000000"/>
          </a:solidFill>
          <a:ln>
            <a:noFill/>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252" name="ST data input line 1"/>
          <p:cNvSpPr txBox="1"/>
          <p:nvPr/>
        </p:nvSpPr>
        <p:spPr>
          <a:xfrm>
            <a:off x="15654528" y="1163117"/>
            <a:ext cx="731520" cy="438912"/>
          </a:xfrm>
          <a:prstGeom prst="rect">
            <a:avLst/>
          </a:prstGeom>
          <a:noFill/>
        </p:spPr>
        <p:txBody>
          <a:bodyPr wrap="none" lIns="0" rIns="0" tIns="0" bIns="0" anchor="t">
            <a:spAutoFit/>
          </a:bodyPr>
          <a:lstStyle/>
          <a:p>
            <a:pPr algn="ctr">
              <a:spcBef>
                <a:spcPts val="0"/>
              </a:spcBef>
              <a:spcAft>
                <a:spcPts val="0"/>
              </a:spcAft>
            </a:pPr>
            <a:r>
              <a:rPr sz="2879" b="0" i="0">
                <a:solidFill>
                  <a:srgbClr val="000000"/>
                </a:solidFill>
                <a:latin typeface="Times New Roman"/>
              </a:rPr>
              <a:t>ST</a:t>
            </a:r>
          </a:p>
        </p:txBody>
      </p:sp>
      <p:sp>
        <p:nvSpPr>
          <p:cNvPr id="253" name="ST data input line 2"/>
          <p:cNvSpPr txBox="1"/>
          <p:nvPr/>
        </p:nvSpPr>
        <p:spPr>
          <a:xfrm>
            <a:off x="15603322" y="1592885"/>
            <a:ext cx="833933" cy="438912"/>
          </a:xfrm>
          <a:prstGeom prst="rect">
            <a:avLst/>
          </a:prstGeom>
          <a:noFill/>
        </p:spPr>
        <p:txBody>
          <a:bodyPr wrap="none" lIns="0" rIns="0" tIns="0" bIns="0" anchor="t">
            <a:spAutoFit/>
          </a:bodyPr>
          <a:lstStyle/>
          <a:p>
            <a:pPr algn="ctr">
              <a:spcBef>
                <a:spcPts val="0"/>
              </a:spcBef>
              <a:spcAft>
                <a:spcPts val="0"/>
              </a:spcAft>
            </a:pPr>
            <a:r>
              <a:rPr sz="2879" b="0" i="0">
                <a:solidFill>
                  <a:srgbClr val="000000"/>
                </a:solidFill>
                <a:latin typeface="Times New Roman"/>
              </a:rPr>
              <a:t>Data</a:t>
            </a:r>
          </a:p>
        </p:txBody>
      </p:sp>
      <p:sp>
        <p:nvSpPr>
          <p:cNvPr id="254" name="Mask input shaft"/>
          <p:cNvSpPr/>
          <p:nvPr/>
        </p:nvSpPr>
        <p:spPr>
          <a:xfrm>
            <a:off x="15297912" y="4306824"/>
            <a:ext cx="256032" cy="914"/>
          </a:xfrm>
          <a:custGeom>
            <a:avLst/>
            <a:gdLst/>
            <a:ahLst/>
            <a:cxnLst/>
            <a:rect l="0" t="0" r="w" b="h"/>
            <a:pathLst>
              <a:path w="28000" h="100" fill="none" stroke="1" extrusionOk="0">
                <a:moveTo>
                  <a:pt x="28000" y="0"/>
                </a:moveTo>
                <a:lnTo>
                  <a:pt x="0" y="0"/>
                </a:lnTo>
              </a:path>
            </a:pathLst>
          </a:custGeom>
          <a:noFill/>
          <a:ln w="29261" cap="flat">
            <a:solidFill>
              <a:srgbClr val="000000"/>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255" name="Mask input arrowhead"/>
          <p:cNvSpPr/>
          <p:nvPr/>
        </p:nvSpPr>
        <p:spPr>
          <a:xfrm>
            <a:off x="15297912" y="4250954"/>
            <a:ext cx="118872" cy="111740"/>
          </a:xfrm>
          <a:custGeom>
            <a:avLst/>
            <a:gdLst/>
            <a:ahLst/>
            <a:cxnLst/>
            <a:rect l="0" t="0" r="w" b="h"/>
            <a:pathLst>
              <a:path w="13000" h="12220" fill="norm" stroke="1" extrusionOk="0">
                <a:moveTo>
                  <a:pt x="0" y="6110"/>
                </a:moveTo>
                <a:lnTo>
                  <a:pt x="13000" y="0"/>
                </a:lnTo>
                <a:lnTo>
                  <a:pt x="13000" y="12220"/>
                </a:lnTo>
                <a:close/>
              </a:path>
            </a:pathLst>
          </a:custGeom>
          <a:solidFill>
            <a:srgbClr val="000000"/>
          </a:solidFill>
          <a:ln>
            <a:noFill/>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sp>
        <p:nvSpPr>
          <p:cNvPr id="256" name="Mask input label"/>
          <p:cNvSpPr txBox="1"/>
          <p:nvPr/>
        </p:nvSpPr>
        <p:spPr>
          <a:xfrm>
            <a:off x="15639898" y="4052621"/>
            <a:ext cx="833933" cy="438912"/>
          </a:xfrm>
          <a:prstGeom prst="rect">
            <a:avLst/>
          </a:prstGeom>
          <a:noFill/>
        </p:spPr>
        <p:txBody>
          <a:bodyPr wrap="none" lIns="0" rIns="0" tIns="0" bIns="0" anchor="t">
            <a:spAutoFit/>
          </a:bodyPr>
          <a:lstStyle/>
          <a:p>
            <a:pPr algn="ctr">
              <a:spcBef>
                <a:spcPts val="0"/>
              </a:spcBef>
              <a:spcAft>
                <a:spcPts val="0"/>
              </a:spcAft>
            </a:pPr>
            <a:r>
              <a:rPr sz="2879" b="0" i="0">
                <a:solidFill>
                  <a:srgbClr val="000000"/>
                </a:solidFill>
                <a:latin typeface="Times New Roman"/>
              </a:rPr>
              <a:t>Mask</a:t>
            </a:r>
          </a:p>
        </p:txBody>
      </p:sp>
      <p:sp>
        <p:nvSpPr>
          <p:cNvPr id="257" name="Masking strategies outer frame"/>
          <p:cNvSpPr/>
          <p:nvPr/>
        </p:nvSpPr>
        <p:spPr>
          <a:xfrm>
            <a:off x="11365992" y="6025896"/>
            <a:ext cx="4718304" cy="1481328"/>
          </a:xfrm>
          <a:prstGeom prst="roundRect">
            <a:avLst>
              <a:gd name="adj" fmla="val 4938"/>
            </a:avLst>
          </a:prstGeom>
          <a:solidFill>
            <a:srgbClr val="FFFFFF"/>
          </a:solidFill>
          <a:ln w="29261" cap="flat">
            <a:solidFill>
              <a:srgbClr val="000000"/>
            </a:solidFill>
            <a:round/>
          </a:ln>
          <a:effectLst/>
        </p:spPr>
        <p:style>
          <a:lnRef idx="1">
            <a:schemeClr val="accent1"/>
          </a:lnRef>
          <a:fillRef idx="0">
            <a:schemeClr val="accent1"/>
          </a:fillRef>
          <a:effectRef idx="0">
            <a:schemeClr val="accent1"/>
          </a:effectRef>
          <a:fontRef idx="minor">
            <a:schemeClr val="lt1"/>
          </a:fontRef>
        </p:style>
        <p:txBody>
          <a:bodyPr rtlCol="0" anchor="ctr"/>
          <a:lstStyle/>
          <a:p>
            <a:pPr algn="ctr"/>
          </a:p>
        </p:txBody>
      </p:sp>
      <p:pic>
        <p:nvPicPr>
          <p:cNvPr id="258" name="Forecasting temporal mask" descr="Forecasting temporal mask.png"/>
          <p:cNvPicPr>
            <a:picLocks noChangeAspect="1"/>
          </p:cNvPicPr>
          <p:nvPr/>
        </p:nvPicPr>
        <p:blipFill>
          <a:blip r:embed="rId17"/>
          <a:stretch>
            <a:fillRect/>
          </a:stretch>
        </p:blipFill>
        <p:spPr>
          <a:xfrm>
            <a:off x="11585448" y="6089904"/>
            <a:ext cx="1170432" cy="594360"/>
          </a:xfrm>
          <a:prstGeom prst="rect">
            <a:avLst/>
          </a:prstGeom>
        </p:spPr>
      </p:pic>
      <p:pic>
        <p:nvPicPr>
          <p:cNvPr id="259" name="Backcasting temporal mask" descr="Backcasting temporal mask.png"/>
          <p:cNvPicPr>
            <a:picLocks noChangeAspect="1"/>
          </p:cNvPicPr>
          <p:nvPr/>
        </p:nvPicPr>
        <p:blipFill>
          <a:blip r:embed="rId18"/>
          <a:stretch>
            <a:fillRect/>
          </a:stretch>
        </p:blipFill>
        <p:spPr>
          <a:xfrm>
            <a:off x="13222224" y="6089904"/>
            <a:ext cx="1124712" cy="585216"/>
          </a:xfrm>
          <a:prstGeom prst="rect">
            <a:avLst/>
          </a:prstGeom>
        </p:spPr>
      </p:pic>
      <p:pic>
        <p:nvPicPr>
          <p:cNvPr id="260" name="Spatial stripe mask" descr="Spatial stripe mask.png"/>
          <p:cNvPicPr>
            <a:picLocks noChangeAspect="1"/>
          </p:cNvPicPr>
          <p:nvPr/>
        </p:nvPicPr>
        <p:blipFill>
          <a:blip r:embed="rId19"/>
          <a:stretch>
            <a:fillRect/>
          </a:stretch>
        </p:blipFill>
        <p:spPr>
          <a:xfrm>
            <a:off x="14657832" y="6099048"/>
            <a:ext cx="1133856" cy="585216"/>
          </a:xfrm>
          <a:prstGeom prst="rect">
            <a:avLst/>
          </a:prstGeom>
        </p:spPr>
      </p:pic>
      <p:pic>
        <p:nvPicPr>
          <p:cNvPr id="261" name="Alternating temporal mask" descr="Alternating temporal mask.png"/>
          <p:cNvPicPr>
            <a:picLocks noChangeAspect="1"/>
          </p:cNvPicPr>
          <p:nvPr/>
        </p:nvPicPr>
        <p:blipFill>
          <a:blip r:embed="rId20"/>
          <a:stretch>
            <a:fillRect/>
          </a:stretch>
        </p:blipFill>
        <p:spPr>
          <a:xfrm>
            <a:off x="12115800" y="6784848"/>
            <a:ext cx="1408176" cy="667512"/>
          </a:xfrm>
          <a:prstGeom prst="rect">
            <a:avLst/>
          </a:prstGeom>
        </p:spPr>
      </p:pic>
      <p:pic>
        <p:nvPicPr>
          <p:cNvPr id="262" name="Random spatiotemporal mask" descr="Random spatiotemporal mask.png"/>
          <p:cNvPicPr>
            <a:picLocks noChangeAspect="1"/>
          </p:cNvPicPr>
          <p:nvPr/>
        </p:nvPicPr>
        <p:blipFill>
          <a:blip r:embed="rId21"/>
          <a:stretch>
            <a:fillRect/>
          </a:stretch>
        </p:blipFill>
        <p:spPr>
          <a:xfrm>
            <a:off x="13990320" y="6739128"/>
            <a:ext cx="1261872" cy="621792"/>
          </a:xfrm>
          <a:prstGeom prst="rect">
            <a:avLst/>
          </a:prstGeom>
        </p:spPr>
      </p:pic>
      <p:sp>
        <p:nvSpPr>
          <p:cNvPr id="263" name="Caption a"/>
          <p:cNvSpPr txBox="1"/>
          <p:nvPr/>
        </p:nvSpPr>
        <p:spPr>
          <a:xfrm>
            <a:off x="1099109" y="7646213"/>
            <a:ext cx="2501798" cy="438912"/>
          </a:xfrm>
          <a:prstGeom prst="rect">
            <a:avLst/>
          </a:prstGeom>
          <a:noFill/>
        </p:spPr>
        <p:txBody>
          <a:bodyPr wrap="none" lIns="0" rIns="0" tIns="0" bIns="0" anchor="t">
            <a:spAutoFit/>
          </a:bodyPr>
          <a:lstStyle/>
          <a:p>
            <a:pPr algn="ctr">
              <a:spcBef>
                <a:spcPts val="0"/>
              </a:spcBef>
              <a:spcAft>
                <a:spcPts val="0"/>
              </a:spcAft>
            </a:pPr>
            <a:r>
              <a:rPr sz="2879" b="0" i="0">
                <a:solidFill>
                  <a:srgbClr val="000000"/>
                </a:solidFill>
                <a:latin typeface="Times New Roman"/>
              </a:rPr>
              <a:t>(a) Datasets</a:t>
            </a:r>
          </a:p>
        </p:txBody>
      </p:sp>
      <p:sp>
        <p:nvSpPr>
          <p:cNvPr id="264" name="Caption b"/>
          <p:cNvSpPr txBox="1"/>
          <p:nvPr/>
        </p:nvSpPr>
        <p:spPr>
          <a:xfrm>
            <a:off x="5061204" y="7646213"/>
            <a:ext cx="5202936" cy="438912"/>
          </a:xfrm>
          <a:prstGeom prst="rect">
            <a:avLst/>
          </a:prstGeom>
          <a:noFill/>
        </p:spPr>
        <p:txBody>
          <a:bodyPr wrap="none" lIns="0" rIns="0" tIns="0" bIns="0" anchor="t">
            <a:spAutoFit/>
          </a:bodyPr>
          <a:lstStyle/>
          <a:p>
            <a:pPr algn="ctr">
              <a:spcBef>
                <a:spcPts val="0"/>
              </a:spcBef>
              <a:spcAft>
                <a:spcPts val="0"/>
              </a:spcAft>
            </a:pPr>
            <a:r>
              <a:rPr sz="2879" b="0" i="0">
                <a:solidFill>
                  <a:srgbClr val="000000"/>
                </a:solidFill>
                <a:latin typeface="Times New Roman"/>
              </a:rPr>
              <a:t>(b) Urban Diffusion Transformer</a:t>
            </a:r>
          </a:p>
        </p:txBody>
      </p:sp>
      <p:sp>
        <p:nvSpPr>
          <p:cNvPr id="265" name="Caption c"/>
          <p:cNvSpPr txBox="1"/>
          <p:nvPr/>
        </p:nvSpPr>
        <p:spPr>
          <a:xfrm>
            <a:off x="11404397" y="7646213"/>
            <a:ext cx="4586630" cy="438912"/>
          </a:xfrm>
          <a:prstGeom prst="rect">
            <a:avLst/>
          </a:prstGeom>
          <a:noFill/>
        </p:spPr>
        <p:txBody>
          <a:bodyPr wrap="none" lIns="0" rIns="0" tIns="0" bIns="0" anchor="t">
            <a:spAutoFit/>
          </a:bodyPr>
          <a:lstStyle/>
          <a:p>
            <a:pPr algn="ctr">
              <a:spcBef>
                <a:spcPts val="0"/>
              </a:spcBef>
              <a:spcAft>
                <a:spcPts val="0"/>
              </a:spcAft>
            </a:pPr>
            <a:r>
              <a:rPr sz="2879" b="0" i="0">
                <a:solidFill>
                  <a:srgbClr val="000000"/>
                </a:solidFill>
                <a:latin typeface="Times New Roman"/>
              </a:rPr>
              <a:t>(c) Masking Strategies</a:t>
            </a:r>
          </a:p>
        </p:txBody>
      </p:sp>
      <p:sp>
        <p:nvSpPr>
          <p:cNvPr id="266" name="Caption d"/>
          <p:cNvSpPr txBox="1"/>
          <p:nvPr/>
        </p:nvSpPr>
        <p:spPr>
          <a:xfrm>
            <a:off x="11320272" y="5405933"/>
            <a:ext cx="4754880" cy="438912"/>
          </a:xfrm>
          <a:prstGeom prst="rect">
            <a:avLst/>
          </a:prstGeom>
          <a:noFill/>
        </p:spPr>
        <p:txBody>
          <a:bodyPr wrap="none" lIns="0" rIns="0" tIns="0" bIns="0" anchor="t">
            <a:spAutoFit/>
          </a:bodyPr>
          <a:lstStyle/>
          <a:p>
            <a:pPr algn="ctr">
              <a:spcBef>
                <a:spcPts val="0"/>
              </a:spcBef>
              <a:spcAft>
                <a:spcPts val="0"/>
              </a:spcAft>
            </a:pPr>
            <a:r>
              <a:rPr sz="2879" b="0" i="0">
                <a:solidFill>
                  <a:srgbClr val="000000"/>
                </a:solidFill>
                <a:latin typeface="Times New Roman"/>
              </a:rPr>
              <a:t>(d) Unified Prompt Learning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__ORIGINAL_REFERENCE_IMAGE__" descr="Diffusion Transformers as Open-World Spatiotemporal Foundation Models_diagram.jpg"/>
          <p:cNvPicPr>
            <a:picLocks noChangeAspect="1"/>
          </p:cNvPicPr>
          <p:nvPr/>
        </p:nvPicPr>
        <p:blipFill>
          <a:blip r:embed="rId2"/>
          <a:stretch>
            <a:fillRect/>
          </a:stretch>
        </p:blipFill>
        <p:spPr>
          <a:xfrm>
            <a:off x="0" y="0"/>
            <a:ext cx="16541496" cy="81381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Urban Diffusion Transformer — editable reconstruction</dc:title>
  <dc:subject>Reconstruction of the supplied spatiotemporal foundation-model diagram</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