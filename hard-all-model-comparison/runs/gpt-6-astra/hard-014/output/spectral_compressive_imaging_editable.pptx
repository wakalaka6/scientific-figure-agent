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172432" cy="94823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01 Canvas"/>
          <p:cNvSpPr/>
          <p:nvPr/>
        </p:nvSpPr>
        <p:spPr>
          <a:xfrm>
            <a:off x="0" y="0"/>
            <a:ext cx="17172432" cy="9482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a-iterative-reconstruction"/>
          <p:cNvGrpSpPr/>
          <p:nvPr/>
        </p:nvGrpSpPr>
        <p:grpSpPr>
          <a:xfrm>
            <a:off x="96012" y="155448"/>
            <a:ext cx="14730984" cy="3493008"/>
            <a:chOff x="96012" y="155448"/>
            <a:chExt cx="14730984" cy="3493008"/>
          </a:xfrm>
        </p:grpSpPr>
        <p:sp>
          <p:nvSpPr>
            <p:cNvPr id="4" name="002 Panel a background"/>
            <p:cNvSpPr/>
            <p:nvPr/>
          </p:nvSpPr>
          <p:spPr>
            <a:xfrm>
              <a:off x="96012" y="155448"/>
              <a:ext cx="14730984" cy="3493008"/>
            </a:xfrm>
            <a:prstGeom prst="roundRect">
              <a:avLst>
                <a:gd name="adj" fmla="val 5759"/>
              </a:avLst>
            </a:prstGeom>
            <a:solidFill>
              <a:srgbClr val="F1F7FB"/>
            </a:solidFill>
            <a:ln w="14630">
              <a:solidFill>
                <a:srgbClr val="92CF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003 (a)"/>
            <p:cNvSpPr txBox="1"/>
            <p:nvPr/>
          </p:nvSpPr>
          <p:spPr>
            <a:xfrm>
              <a:off x="137160" y="223571"/>
              <a:ext cx="301581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101010"/>
                  </a:solidFill>
                  <a:latin typeface="Liberation Sans"/>
                </a:rPr>
                <a:t>(a)</a:t>
              </a:r>
            </a:p>
          </p:txBody>
        </p:sp>
        <p:sp>
          <p:nvSpPr>
            <p:cNvPr id="6" name="004 Iteration group"/>
            <p:cNvSpPr/>
            <p:nvPr/>
          </p:nvSpPr>
          <p:spPr>
            <a:xfrm>
              <a:off x="3813048" y="914400"/>
              <a:ext cx="3008376" cy="1865376"/>
            </a:xfrm>
            <a:prstGeom prst="roundRect">
              <a:avLst>
                <a:gd name="adj" fmla="val 17647"/>
              </a:avLst>
            </a:prstGeom>
            <a:solidFill>
              <a:srgbClr val="FCFAFE"/>
            </a:solidFill>
            <a:ln w="16459">
              <a:solidFill>
                <a:srgbClr val="F1F1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005 Iteration group"/>
            <p:cNvSpPr/>
            <p:nvPr/>
          </p:nvSpPr>
          <p:spPr>
            <a:xfrm>
              <a:off x="6958584" y="905256"/>
              <a:ext cx="3035808" cy="1874520"/>
            </a:xfrm>
            <a:prstGeom prst="roundRect">
              <a:avLst>
                <a:gd name="adj" fmla="val 17560"/>
              </a:avLst>
            </a:prstGeom>
            <a:solidFill>
              <a:srgbClr val="FCFAFE"/>
            </a:solidFill>
            <a:ln w="16459">
              <a:solidFill>
                <a:srgbClr val="F1F1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006 Iteration group"/>
            <p:cNvSpPr/>
            <p:nvPr/>
          </p:nvSpPr>
          <p:spPr>
            <a:xfrm>
              <a:off x="10506456" y="923544"/>
              <a:ext cx="2871216" cy="1856232"/>
            </a:xfrm>
            <a:prstGeom prst="roundRect">
              <a:avLst>
                <a:gd name="adj" fmla="val 17733"/>
              </a:avLst>
            </a:prstGeom>
            <a:solidFill>
              <a:srgbClr val="FCFAFE"/>
            </a:solidFill>
            <a:ln w="16459">
              <a:solidFill>
                <a:srgbClr val="F1F1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007 Input image group"/>
            <p:cNvSpPr/>
            <p:nvPr/>
          </p:nvSpPr>
          <p:spPr>
            <a:xfrm>
              <a:off x="265176" y="914400"/>
              <a:ext cx="2423160" cy="1865376"/>
            </a:xfrm>
            <a:prstGeom prst="roundRect">
              <a:avLst>
                <a:gd name="adj" fmla="val 16666"/>
              </a:avLst>
            </a:prstGeom>
            <a:solidFill>
              <a:srgbClr val="FDFBFE"/>
            </a:solidFill>
            <a:ln w="14630">
              <a:solidFill>
                <a:srgbClr val="8F8F8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008 Measurement y distribution"/>
            <p:cNvCxnSpPr/>
            <p:nvPr/>
          </p:nvCxnSpPr>
          <p:spPr>
            <a:xfrm flipV="1">
              <a:off x="777240" y="283464"/>
              <a:ext cx="0" cy="978408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009 Measurement y distribution"/>
            <p:cNvCxnSpPr/>
            <p:nvPr/>
          </p:nvCxnSpPr>
          <p:spPr>
            <a:xfrm>
              <a:off x="777240" y="283464"/>
              <a:ext cx="10689336" cy="0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010 Measurement and sensing distribution"/>
            <p:cNvCxnSpPr/>
            <p:nvPr/>
          </p:nvCxnSpPr>
          <p:spPr>
            <a:xfrm>
              <a:off x="777240" y="2377440"/>
              <a:ext cx="0" cy="1078992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011 Measurement and sensing distribution"/>
            <p:cNvCxnSpPr/>
            <p:nvPr/>
          </p:nvCxnSpPr>
          <p:spPr>
            <a:xfrm>
              <a:off x="777240" y="3456432"/>
              <a:ext cx="10689336" cy="0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012 Mask element product input"/>
            <p:cNvCxnSpPr/>
            <p:nvPr/>
          </p:nvCxnSpPr>
          <p:spPr>
            <a:xfrm>
              <a:off x="1490472" y="2368296"/>
              <a:ext cx="0" cy="594360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013 Mask element product input"/>
            <p:cNvCxnSpPr/>
            <p:nvPr/>
          </p:nvCxnSpPr>
          <p:spPr>
            <a:xfrm>
              <a:off x="1490472" y="2962656"/>
              <a:ext cx="576072" cy="0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014 Mask element product input arrow"/>
            <p:cNvSpPr/>
            <p:nvPr/>
          </p:nvSpPr>
          <p:spPr>
            <a:xfrm>
              <a:off x="1997050" y="29297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015 Image element product input"/>
            <p:cNvCxnSpPr/>
            <p:nvPr/>
          </p:nvCxnSpPr>
          <p:spPr>
            <a:xfrm>
              <a:off x="2185416" y="2322576"/>
              <a:ext cx="0" cy="521208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016 Image element product input arrow"/>
            <p:cNvSpPr/>
            <p:nvPr/>
          </p:nvSpPr>
          <p:spPr>
            <a:xfrm>
              <a:off x="2152498" y="2774290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017 Sensing H output"/>
            <p:cNvCxnSpPr/>
            <p:nvPr/>
          </p:nvCxnSpPr>
          <p:spPr>
            <a:xfrm>
              <a:off x="2185416" y="3090672"/>
              <a:ext cx="0" cy="365760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018 Sensing H output arrow"/>
            <p:cNvSpPr/>
            <p:nvPr/>
          </p:nvSpPr>
          <p:spPr>
            <a:xfrm>
              <a:off x="2152498" y="338693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019 element"/>
            <p:cNvSpPr/>
            <p:nvPr/>
          </p:nvSpPr>
          <p:spPr>
            <a:xfrm>
              <a:off x="2071116" y="2857500"/>
              <a:ext cx="228600" cy="228600"/>
            </a:xfrm>
            <a:prstGeom prst="ellipse">
              <a:avLst/>
            </a:prstGeom>
            <a:solidFill>
              <a:srgbClr val="F1F7FB"/>
            </a:solidFill>
            <a:ln w="15544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020 Multiplication dot"/>
            <p:cNvSpPr/>
            <p:nvPr/>
          </p:nvSpPr>
          <p:spPr>
            <a:xfrm>
              <a:off x="2169871" y="2956255"/>
              <a:ext cx="31090" cy="31090"/>
            </a:xfrm>
            <a:prstGeom prst="ellipse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021 y"/>
            <p:cNvSpPr txBox="1"/>
            <p:nvPr/>
          </p:nvSpPr>
          <p:spPr>
            <a:xfrm>
              <a:off x="868680" y="3052267"/>
              <a:ext cx="120701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erif"/>
                </a:rPr>
                <a:t>y</a:t>
              </a:r>
            </a:p>
          </p:txBody>
        </p:sp>
        <p:sp>
          <p:nvSpPr>
            <p:cNvPr id="24" name="022 H"/>
            <p:cNvSpPr txBox="1"/>
            <p:nvPr/>
          </p:nvSpPr>
          <p:spPr>
            <a:xfrm>
              <a:off x="2423160" y="3052267"/>
              <a:ext cx="169457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erif"/>
                </a:rPr>
                <a:t>H</a:t>
              </a:r>
            </a:p>
          </p:txBody>
        </p:sp>
        <p:pic>
          <p:nvPicPr>
            <p:cNvPr id="25" name="023 a-measurement" descr="a-measuremen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344" y="1078992"/>
              <a:ext cx="621792" cy="1463040"/>
            </a:xfrm>
            <a:prstGeom prst="rect">
              <a:avLst/>
            </a:prstGeom>
            <a:effectLst/>
          </p:spPr>
        </p:pic>
        <p:pic>
          <p:nvPicPr>
            <p:cNvPr id="26" name="024 a-mask" descr="a-mas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6152" y="1033272"/>
              <a:ext cx="621792" cy="1517904"/>
            </a:xfrm>
            <a:prstGeom prst="rect">
              <a:avLst/>
            </a:prstGeom>
            <a:effectLst/>
          </p:spPr>
        </p:pic>
        <p:pic>
          <p:nvPicPr>
            <p:cNvPr id="27" name="025 a-modulated-input" descr="a-modulated-inpu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2808" y="1042416"/>
              <a:ext cx="585216" cy="1453896"/>
            </a:xfrm>
            <a:prstGeom prst="rect">
              <a:avLst/>
            </a:prstGeom>
            <a:effectLst/>
          </p:spPr>
        </p:pic>
        <p:cxnSp>
          <p:nvCxnSpPr>
            <p:cNvPr id="28" name="026 Input to initialization"/>
            <p:cNvCxnSpPr/>
            <p:nvPr/>
          </p:nvCxnSpPr>
          <p:spPr>
            <a:xfrm>
              <a:off x="2688336" y="1801368"/>
              <a:ext cx="484632" cy="0"/>
            </a:xfrm>
            <a:prstGeom prst="line">
              <a:avLst/>
            </a:prstGeom>
            <a:ln w="15544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027 Input to initialization arrow"/>
            <p:cNvSpPr/>
            <p:nvPr/>
          </p:nvSpPr>
          <p:spPr>
            <a:xfrm>
              <a:off x="3103474" y="1768450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6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028 Initialization"/>
            <p:cNvSpPr/>
            <p:nvPr/>
          </p:nvSpPr>
          <p:spPr>
            <a:xfrm>
              <a:off x="3223260" y="914400"/>
              <a:ext cx="345643" cy="1819656"/>
            </a:xfrm>
            <a:prstGeom prst="roundRect">
              <a:avLst>
                <a:gd name="adj" fmla="val 13227"/>
              </a:avLst>
            </a:prstGeom>
            <a:solidFill>
              <a:srgbClr val="FFFFFF"/>
            </a:solidFill>
            <a:ln w="15544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029 Initialization"/>
            <p:cNvSpPr txBox="1"/>
            <p:nvPr/>
          </p:nvSpPr>
          <p:spPr>
            <a:xfrm rot="5400000">
              <a:off x="2528316" y="1671523"/>
              <a:ext cx="1737360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ans"/>
                </a:rPr>
                <a:t>Initialization</a:t>
              </a:r>
            </a:p>
          </p:txBody>
        </p:sp>
        <p:cxnSp>
          <p:nvCxnSpPr>
            <p:cNvPr id="32" name="030 Initialized reconstruction"/>
            <p:cNvCxnSpPr/>
            <p:nvPr/>
          </p:nvCxnSpPr>
          <p:spPr>
            <a:xfrm>
              <a:off x="3566160" y="2258568"/>
              <a:ext cx="786384" cy="0"/>
            </a:xfrm>
            <a:prstGeom prst="line">
              <a:avLst/>
            </a:prstGeom>
            <a:ln w="16459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031 Measurement input to estimator 1"/>
            <p:cNvCxnSpPr/>
            <p:nvPr/>
          </p:nvCxnSpPr>
          <p:spPr>
            <a:xfrm>
              <a:off x="4864608" y="283464"/>
              <a:ext cx="0" cy="804672"/>
            </a:xfrm>
            <a:prstGeom prst="line">
              <a:avLst/>
            </a:prstGeom>
            <a:ln w="1554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032 Measurement input to estimator 1 arrow"/>
            <p:cNvSpPr/>
            <p:nvPr/>
          </p:nvSpPr>
          <p:spPr>
            <a:xfrm>
              <a:off x="4831690" y="1018642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033 y"/>
            <p:cNvSpPr txBox="1"/>
            <p:nvPr/>
          </p:nvSpPr>
          <p:spPr>
            <a:xfrm>
              <a:off x="5020056" y="403479"/>
              <a:ext cx="112450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101010"/>
                  </a:solidFill>
                  <a:latin typeface="Liberation Serif"/>
                </a:rPr>
                <a:t>y</a:t>
              </a:r>
            </a:p>
          </p:txBody>
        </p:sp>
        <p:cxnSp>
          <p:nvCxnSpPr>
            <p:cNvPr id="36" name="034 Measurement and H to projection 1"/>
            <p:cNvCxnSpPr/>
            <p:nvPr/>
          </p:nvCxnSpPr>
          <p:spPr>
            <a:xfrm flipV="1">
              <a:off x="4864608" y="2532888"/>
              <a:ext cx="0" cy="923544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035 Measurement and H to projection 1 arrow"/>
            <p:cNvSpPr/>
            <p:nvPr/>
          </p:nvSpPr>
          <p:spPr>
            <a:xfrm>
              <a:off x="4831690" y="253288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0"/>
                  </a:moveTo>
                  <a:lnTo>
                    <a:pt x="65836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036 (y, H)"/>
            <p:cNvSpPr txBox="1"/>
            <p:nvPr/>
          </p:nvSpPr>
          <p:spPr>
            <a:xfrm>
              <a:off x="5010912" y="3046095"/>
              <a:ext cx="542039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erif"/>
                </a:rPr>
                <a:t>(y, H)</a:t>
              </a:r>
            </a:p>
          </p:txBody>
        </p:sp>
        <p:cxnSp>
          <p:nvCxnSpPr>
            <p:cNvPr id="39" name="037 Reconstruction to estimator 1"/>
            <p:cNvCxnSpPr/>
            <p:nvPr/>
          </p:nvCxnSpPr>
          <p:spPr>
            <a:xfrm flipV="1">
              <a:off x="4014216" y="1362456"/>
              <a:ext cx="0" cy="896112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038 Reconstruction to estimator 1"/>
            <p:cNvCxnSpPr/>
            <p:nvPr/>
          </p:nvCxnSpPr>
          <p:spPr>
            <a:xfrm>
              <a:off x="4014216" y="1362456"/>
              <a:ext cx="338328" cy="0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039 Reconstruction to estimator 1 arrow"/>
            <p:cNvSpPr/>
            <p:nvPr/>
          </p:nvSpPr>
          <p:spPr>
            <a:xfrm>
              <a:off x="4283050" y="13295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040 Learned weights 1"/>
            <p:cNvCxnSpPr/>
            <p:nvPr/>
          </p:nvCxnSpPr>
          <p:spPr>
            <a:xfrm>
              <a:off x="5376672" y="1362456"/>
              <a:ext cx="795528" cy="0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041 Learned weights 1"/>
            <p:cNvCxnSpPr/>
            <p:nvPr/>
          </p:nvCxnSpPr>
          <p:spPr>
            <a:xfrm>
              <a:off x="6172200" y="1362456"/>
              <a:ext cx="0" cy="630936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042 Learned weights 1 arrow"/>
            <p:cNvSpPr/>
            <p:nvPr/>
          </p:nvSpPr>
          <p:spPr>
            <a:xfrm>
              <a:off x="6139282" y="192389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043 Learned covariance 1"/>
            <p:cNvCxnSpPr/>
            <p:nvPr/>
          </p:nvCxnSpPr>
          <p:spPr>
            <a:xfrm>
              <a:off x="4864608" y="1627632"/>
              <a:ext cx="0" cy="356616"/>
            </a:xfrm>
            <a:prstGeom prst="line">
              <a:avLst/>
            </a:prstGeom>
            <a:ln w="1554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044 Learned covariance 1 arrow"/>
            <p:cNvSpPr/>
            <p:nvPr/>
          </p:nvSpPr>
          <p:spPr>
            <a:xfrm>
              <a:off x="4831690" y="1914754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045 Projection to proximal operator 1"/>
            <p:cNvCxnSpPr/>
            <p:nvPr/>
          </p:nvCxnSpPr>
          <p:spPr>
            <a:xfrm>
              <a:off x="5376672" y="2258568"/>
              <a:ext cx="228600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046 Reconstruction output 1"/>
            <p:cNvCxnSpPr/>
            <p:nvPr/>
          </p:nvCxnSpPr>
          <p:spPr>
            <a:xfrm>
              <a:off x="6684264" y="2258568"/>
              <a:ext cx="813816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047 Reconstruction output 1 arrow"/>
            <p:cNvSpPr/>
            <p:nvPr/>
          </p:nvSpPr>
          <p:spPr>
            <a:xfrm>
              <a:off x="7428586" y="2225650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6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048 Parameter estimator 1"/>
            <p:cNvSpPr/>
            <p:nvPr/>
          </p:nvSpPr>
          <p:spPr>
            <a:xfrm>
              <a:off x="4352544" y="1088136"/>
              <a:ext cx="1024128" cy="539496"/>
            </a:xfrm>
            <a:prstGeom prst="roundRect">
              <a:avLst>
                <a:gd name="adj" fmla="val 18644"/>
              </a:avLst>
            </a:prstGeom>
            <a:solidFill>
              <a:srgbClr val="C9EDF9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049 ℰ"/>
            <p:cNvSpPr txBox="1"/>
            <p:nvPr/>
          </p:nvSpPr>
          <p:spPr>
            <a:xfrm>
              <a:off x="4608576" y="1195807"/>
              <a:ext cx="237744" cy="333299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0" i="0">
                  <a:solidFill>
                    <a:srgbClr val="101010"/>
                  </a:solidFill>
                  <a:latin typeface="Latin Modern Math"/>
                </a:rPr>
                <a:t>ℰ</a:t>
              </a:r>
            </a:p>
          </p:txBody>
        </p:sp>
        <p:sp>
          <p:nvSpPr>
            <p:cNvPr id="52" name="050 (·)"/>
            <p:cNvSpPr txBox="1"/>
            <p:nvPr/>
          </p:nvSpPr>
          <p:spPr>
            <a:xfrm>
              <a:off x="4732020" y="1201979"/>
              <a:ext cx="320040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53" name="051 Projection 1"/>
            <p:cNvSpPr/>
            <p:nvPr/>
          </p:nvSpPr>
          <p:spPr>
            <a:xfrm>
              <a:off x="4352544" y="1993392"/>
              <a:ext cx="1024128" cy="539496"/>
            </a:xfrm>
            <a:prstGeom prst="roundRect">
              <a:avLst>
                <a:gd name="adj" fmla="val 18644"/>
              </a:avLst>
            </a:prstGeom>
            <a:solidFill>
              <a:srgbClr val="F8F2D9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052 proj(·)"/>
            <p:cNvSpPr txBox="1"/>
            <p:nvPr/>
          </p:nvSpPr>
          <p:spPr>
            <a:xfrm>
              <a:off x="4370832" y="2098091"/>
              <a:ext cx="987552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proj(·)</a:t>
              </a:r>
            </a:p>
          </p:txBody>
        </p:sp>
        <p:sp>
          <p:nvSpPr>
            <p:cNvPr id="55" name="053 Proximal regularizer 1"/>
            <p:cNvSpPr/>
            <p:nvPr/>
          </p:nvSpPr>
          <p:spPr>
            <a:xfrm>
              <a:off x="5605272" y="1993392"/>
              <a:ext cx="1078992" cy="539496"/>
            </a:xfrm>
            <a:prstGeom prst="roundRect">
              <a:avLst>
                <a:gd name="adj" fmla="val 18644"/>
              </a:avLst>
            </a:prstGeom>
            <a:solidFill>
              <a:srgbClr val="E4F0D8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054 prox"/>
            <p:cNvSpPr txBox="1"/>
            <p:nvPr/>
          </p:nvSpPr>
          <p:spPr>
            <a:xfrm>
              <a:off x="5724144" y="2098091"/>
              <a:ext cx="446777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prox</a:t>
              </a:r>
            </a:p>
          </p:txBody>
        </p:sp>
        <p:sp>
          <p:nvSpPr>
            <p:cNvPr id="57" name="055 R"/>
            <p:cNvSpPr txBox="1"/>
            <p:nvPr/>
          </p:nvSpPr>
          <p:spPr>
            <a:xfrm>
              <a:off x="6153912" y="2217649"/>
              <a:ext cx="114664" cy="209855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101010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58" name="056 (·)"/>
            <p:cNvSpPr txBox="1"/>
            <p:nvPr/>
          </p:nvSpPr>
          <p:spPr>
            <a:xfrm>
              <a:off x="6272784" y="2098091"/>
              <a:ext cx="248538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59" name="057 Σ"/>
            <p:cNvSpPr txBox="1"/>
            <p:nvPr/>
          </p:nvSpPr>
          <p:spPr>
            <a:xfrm>
              <a:off x="4956048" y="1671523"/>
              <a:ext cx="138703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erif"/>
                </a:rPr>
                <a:t>Σ</a:t>
              </a:r>
            </a:p>
          </p:txBody>
        </p:sp>
        <p:sp>
          <p:nvSpPr>
            <p:cNvPr id="60" name="058 (1)"/>
            <p:cNvSpPr txBox="1"/>
            <p:nvPr/>
          </p:nvSpPr>
          <p:spPr>
            <a:xfrm>
              <a:off x="5102066" y="1635532"/>
              <a:ext cx="184209" cy="20146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75" b="0" i="0">
                  <a:solidFill>
                    <a:srgbClr val="101010"/>
                  </a:solidFill>
                  <a:latin typeface="Liberation Serif"/>
                </a:rPr>
                <a:t>(1)</a:t>
              </a:r>
            </a:p>
          </p:txBody>
        </p:sp>
        <p:sp>
          <p:nvSpPr>
            <p:cNvPr id="61" name="059 w"/>
            <p:cNvSpPr txBox="1"/>
            <p:nvPr/>
          </p:nvSpPr>
          <p:spPr>
            <a:xfrm>
              <a:off x="6254496" y="1409319"/>
              <a:ext cx="163456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101010"/>
                  </a:solidFill>
                  <a:latin typeface="Liberation Serif"/>
                </a:rPr>
                <a:t>w</a:t>
              </a:r>
            </a:p>
          </p:txBody>
        </p:sp>
        <p:sp>
          <p:nvSpPr>
            <p:cNvPr id="62" name="060 (1)"/>
            <p:cNvSpPr txBox="1"/>
            <p:nvPr/>
          </p:nvSpPr>
          <p:spPr>
            <a:xfrm>
              <a:off x="6425267" y="1371829"/>
              <a:ext cx="192210" cy="209855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101010"/>
                  </a:solidFill>
                  <a:latin typeface="Liberation Serif"/>
                </a:rPr>
                <a:t>(1)</a:t>
              </a:r>
            </a:p>
          </p:txBody>
        </p:sp>
        <p:sp>
          <p:nvSpPr>
            <p:cNvPr id="63" name="061 z"/>
            <p:cNvSpPr txBox="1"/>
            <p:nvPr/>
          </p:nvSpPr>
          <p:spPr>
            <a:xfrm>
              <a:off x="6803136" y="2366467"/>
              <a:ext cx="96376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1">
                  <a:solidFill>
                    <a:srgbClr val="101010"/>
                  </a:solidFill>
                  <a:latin typeface="Liberation Serif"/>
                </a:rPr>
                <a:t>z</a:t>
              </a:r>
            </a:p>
          </p:txBody>
        </p:sp>
        <p:sp>
          <p:nvSpPr>
            <p:cNvPr id="64" name="062 (1)"/>
            <p:cNvSpPr txBox="1"/>
            <p:nvPr/>
          </p:nvSpPr>
          <p:spPr>
            <a:xfrm>
              <a:off x="6906828" y="2330476"/>
              <a:ext cx="184209" cy="20146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75" b="0" i="0">
                  <a:solidFill>
                    <a:srgbClr val="101010"/>
                  </a:solidFill>
                  <a:latin typeface="Liberation Serif"/>
                </a:rPr>
                <a:t>(1)</a:t>
              </a:r>
            </a:p>
          </p:txBody>
        </p:sp>
        <p:cxnSp>
          <p:nvCxnSpPr>
            <p:cNvPr id="65" name="063 Measurement input to estimator 2"/>
            <p:cNvCxnSpPr/>
            <p:nvPr/>
          </p:nvCxnSpPr>
          <p:spPr>
            <a:xfrm>
              <a:off x="8019288" y="283464"/>
              <a:ext cx="0" cy="804672"/>
            </a:xfrm>
            <a:prstGeom prst="line">
              <a:avLst/>
            </a:prstGeom>
            <a:ln w="1554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064 Measurement input to estimator 2 arrow"/>
            <p:cNvSpPr/>
            <p:nvPr/>
          </p:nvSpPr>
          <p:spPr>
            <a:xfrm>
              <a:off x="7986370" y="1018642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065 y"/>
            <p:cNvSpPr txBox="1"/>
            <p:nvPr/>
          </p:nvSpPr>
          <p:spPr>
            <a:xfrm>
              <a:off x="8174736" y="366903"/>
              <a:ext cx="112450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101010"/>
                  </a:solidFill>
                  <a:latin typeface="Liberation Serif"/>
                </a:rPr>
                <a:t>y</a:t>
              </a:r>
            </a:p>
          </p:txBody>
        </p:sp>
        <p:cxnSp>
          <p:nvCxnSpPr>
            <p:cNvPr id="68" name="066 Measurement and H to projection 2"/>
            <p:cNvCxnSpPr/>
            <p:nvPr/>
          </p:nvCxnSpPr>
          <p:spPr>
            <a:xfrm flipV="1">
              <a:off x="8019288" y="2532888"/>
              <a:ext cx="0" cy="923544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067 Measurement and H to projection 2 arrow"/>
            <p:cNvSpPr/>
            <p:nvPr/>
          </p:nvSpPr>
          <p:spPr>
            <a:xfrm>
              <a:off x="7986370" y="253288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0"/>
                  </a:moveTo>
                  <a:lnTo>
                    <a:pt x="65836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068 (y, H)"/>
            <p:cNvSpPr txBox="1"/>
            <p:nvPr/>
          </p:nvSpPr>
          <p:spPr>
            <a:xfrm>
              <a:off x="8165592" y="3046095"/>
              <a:ext cx="542039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erif"/>
                </a:rPr>
                <a:t>(y, H)</a:t>
              </a:r>
            </a:p>
          </p:txBody>
        </p:sp>
        <p:cxnSp>
          <p:nvCxnSpPr>
            <p:cNvPr id="71" name="069 Reconstruction to estimator 2"/>
            <p:cNvCxnSpPr/>
            <p:nvPr/>
          </p:nvCxnSpPr>
          <p:spPr>
            <a:xfrm flipV="1">
              <a:off x="7187184" y="1362456"/>
              <a:ext cx="0" cy="896112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070 Reconstruction to estimator 2"/>
            <p:cNvCxnSpPr/>
            <p:nvPr/>
          </p:nvCxnSpPr>
          <p:spPr>
            <a:xfrm>
              <a:off x="7187184" y="1362456"/>
              <a:ext cx="329184" cy="0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071 Reconstruction to estimator 2 arrow"/>
            <p:cNvSpPr/>
            <p:nvPr/>
          </p:nvSpPr>
          <p:spPr>
            <a:xfrm>
              <a:off x="7446874" y="13295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072 Learned weights 2"/>
            <p:cNvCxnSpPr/>
            <p:nvPr/>
          </p:nvCxnSpPr>
          <p:spPr>
            <a:xfrm>
              <a:off x="8540496" y="1362456"/>
              <a:ext cx="603504" cy="0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073 Learned weights 2"/>
            <p:cNvCxnSpPr/>
            <p:nvPr/>
          </p:nvCxnSpPr>
          <p:spPr>
            <a:xfrm>
              <a:off x="9144000" y="1362456"/>
              <a:ext cx="0" cy="630936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074 Learned weights 2 arrow"/>
            <p:cNvSpPr/>
            <p:nvPr/>
          </p:nvSpPr>
          <p:spPr>
            <a:xfrm>
              <a:off x="9111082" y="192389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7" name="075 Learned covariance 2"/>
            <p:cNvCxnSpPr/>
            <p:nvPr/>
          </p:nvCxnSpPr>
          <p:spPr>
            <a:xfrm>
              <a:off x="8019288" y="1627632"/>
              <a:ext cx="0" cy="356616"/>
            </a:xfrm>
            <a:prstGeom prst="line">
              <a:avLst/>
            </a:prstGeom>
            <a:ln w="1554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076 Learned covariance 2 arrow"/>
            <p:cNvSpPr/>
            <p:nvPr/>
          </p:nvSpPr>
          <p:spPr>
            <a:xfrm>
              <a:off x="7986370" y="1914754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077 Projection to proximal operator 2"/>
            <p:cNvCxnSpPr/>
            <p:nvPr/>
          </p:nvCxnSpPr>
          <p:spPr>
            <a:xfrm>
              <a:off x="8513064" y="2258568"/>
              <a:ext cx="182880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078 Reconstruction output 2"/>
            <p:cNvCxnSpPr/>
            <p:nvPr/>
          </p:nvCxnSpPr>
          <p:spPr>
            <a:xfrm>
              <a:off x="9774936" y="2258568"/>
              <a:ext cx="393192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079 Reconstruction output 2 arrow"/>
            <p:cNvSpPr/>
            <p:nvPr/>
          </p:nvSpPr>
          <p:spPr>
            <a:xfrm>
              <a:off x="10098634" y="2225650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6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080 Parameter estimator 2"/>
            <p:cNvSpPr/>
            <p:nvPr/>
          </p:nvSpPr>
          <p:spPr>
            <a:xfrm>
              <a:off x="7516368" y="1088136"/>
              <a:ext cx="1024128" cy="539496"/>
            </a:xfrm>
            <a:prstGeom prst="roundRect">
              <a:avLst>
                <a:gd name="adj" fmla="val 18644"/>
              </a:avLst>
            </a:prstGeom>
            <a:solidFill>
              <a:srgbClr val="C9EDF9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081 ℰ"/>
            <p:cNvSpPr txBox="1"/>
            <p:nvPr/>
          </p:nvSpPr>
          <p:spPr>
            <a:xfrm>
              <a:off x="7772400" y="1195807"/>
              <a:ext cx="237744" cy="333299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0" i="0">
                  <a:solidFill>
                    <a:srgbClr val="101010"/>
                  </a:solidFill>
                  <a:latin typeface="Latin Modern Math"/>
                </a:rPr>
                <a:t>ℰ</a:t>
              </a:r>
            </a:p>
          </p:txBody>
        </p:sp>
        <p:sp>
          <p:nvSpPr>
            <p:cNvPr id="84" name="082 (·)"/>
            <p:cNvSpPr txBox="1"/>
            <p:nvPr/>
          </p:nvSpPr>
          <p:spPr>
            <a:xfrm>
              <a:off x="7895844" y="1201979"/>
              <a:ext cx="320040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85" name="083 Projection 2"/>
            <p:cNvSpPr/>
            <p:nvPr/>
          </p:nvSpPr>
          <p:spPr>
            <a:xfrm>
              <a:off x="7488936" y="1993392"/>
              <a:ext cx="1024128" cy="539496"/>
            </a:xfrm>
            <a:prstGeom prst="roundRect">
              <a:avLst>
                <a:gd name="adj" fmla="val 18644"/>
              </a:avLst>
            </a:prstGeom>
            <a:solidFill>
              <a:srgbClr val="F8F2D9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084 proj(·)"/>
            <p:cNvSpPr txBox="1"/>
            <p:nvPr/>
          </p:nvSpPr>
          <p:spPr>
            <a:xfrm>
              <a:off x="7507224" y="2098091"/>
              <a:ext cx="987552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proj(·)</a:t>
              </a:r>
            </a:p>
          </p:txBody>
        </p:sp>
        <p:sp>
          <p:nvSpPr>
            <p:cNvPr id="87" name="085 Proximal regularizer 2"/>
            <p:cNvSpPr/>
            <p:nvPr/>
          </p:nvSpPr>
          <p:spPr>
            <a:xfrm>
              <a:off x="8695944" y="1993392"/>
              <a:ext cx="1078992" cy="539496"/>
            </a:xfrm>
            <a:prstGeom prst="roundRect">
              <a:avLst>
                <a:gd name="adj" fmla="val 18644"/>
              </a:avLst>
            </a:prstGeom>
            <a:solidFill>
              <a:srgbClr val="E4F0D8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086 prox"/>
            <p:cNvSpPr txBox="1"/>
            <p:nvPr/>
          </p:nvSpPr>
          <p:spPr>
            <a:xfrm>
              <a:off x="8814816" y="2098091"/>
              <a:ext cx="446777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prox</a:t>
              </a:r>
            </a:p>
          </p:txBody>
        </p:sp>
        <p:sp>
          <p:nvSpPr>
            <p:cNvPr id="89" name="087 R"/>
            <p:cNvSpPr txBox="1"/>
            <p:nvPr/>
          </p:nvSpPr>
          <p:spPr>
            <a:xfrm>
              <a:off x="9244584" y="2217649"/>
              <a:ext cx="114664" cy="209855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101010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90" name="088 (·)"/>
            <p:cNvSpPr txBox="1"/>
            <p:nvPr/>
          </p:nvSpPr>
          <p:spPr>
            <a:xfrm>
              <a:off x="9363456" y="2098091"/>
              <a:ext cx="248538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91" name="089 Σ"/>
            <p:cNvSpPr txBox="1"/>
            <p:nvPr/>
          </p:nvSpPr>
          <p:spPr>
            <a:xfrm>
              <a:off x="8110728" y="1671523"/>
              <a:ext cx="138703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erif"/>
                </a:rPr>
                <a:t>Σ</a:t>
              </a:r>
            </a:p>
          </p:txBody>
        </p:sp>
        <p:sp>
          <p:nvSpPr>
            <p:cNvPr id="92" name="090 (2)"/>
            <p:cNvSpPr txBox="1"/>
            <p:nvPr/>
          </p:nvSpPr>
          <p:spPr>
            <a:xfrm>
              <a:off x="8256746" y="1635532"/>
              <a:ext cx="184209" cy="20146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75" b="0" i="0">
                  <a:solidFill>
                    <a:srgbClr val="101010"/>
                  </a:solidFill>
                  <a:latin typeface="Liberation Serif"/>
                </a:rPr>
                <a:t>(2)</a:t>
              </a:r>
            </a:p>
          </p:txBody>
        </p:sp>
        <p:sp>
          <p:nvSpPr>
            <p:cNvPr id="93" name="091 w"/>
            <p:cNvSpPr txBox="1"/>
            <p:nvPr/>
          </p:nvSpPr>
          <p:spPr>
            <a:xfrm>
              <a:off x="9208008" y="1409319"/>
              <a:ext cx="163456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101010"/>
                  </a:solidFill>
                  <a:latin typeface="Liberation Serif"/>
                </a:rPr>
                <a:t>w</a:t>
              </a:r>
            </a:p>
          </p:txBody>
        </p:sp>
        <p:sp>
          <p:nvSpPr>
            <p:cNvPr id="94" name="092 (2)"/>
            <p:cNvSpPr txBox="1"/>
            <p:nvPr/>
          </p:nvSpPr>
          <p:spPr>
            <a:xfrm>
              <a:off x="9378779" y="1371829"/>
              <a:ext cx="192210" cy="209855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101010"/>
                  </a:solidFill>
                  <a:latin typeface="Liberation Serif"/>
                </a:rPr>
                <a:t>(2)</a:t>
              </a:r>
            </a:p>
          </p:txBody>
        </p:sp>
        <p:sp>
          <p:nvSpPr>
            <p:cNvPr id="95" name="093 z"/>
            <p:cNvSpPr txBox="1"/>
            <p:nvPr/>
          </p:nvSpPr>
          <p:spPr>
            <a:xfrm>
              <a:off x="9912096" y="2366467"/>
              <a:ext cx="96376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1">
                  <a:solidFill>
                    <a:srgbClr val="101010"/>
                  </a:solidFill>
                  <a:latin typeface="Liberation Serif"/>
                </a:rPr>
                <a:t>z</a:t>
              </a:r>
            </a:p>
          </p:txBody>
        </p:sp>
        <p:sp>
          <p:nvSpPr>
            <p:cNvPr id="96" name="094 (2)"/>
            <p:cNvSpPr txBox="1"/>
            <p:nvPr/>
          </p:nvSpPr>
          <p:spPr>
            <a:xfrm>
              <a:off x="10015788" y="2330476"/>
              <a:ext cx="184209" cy="20146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75" b="0" i="0">
                  <a:solidFill>
                    <a:srgbClr val="101010"/>
                  </a:solidFill>
                  <a:latin typeface="Liberation Serif"/>
                </a:rPr>
                <a:t>(2)</a:t>
              </a:r>
            </a:p>
          </p:txBody>
        </p:sp>
        <p:cxnSp>
          <p:nvCxnSpPr>
            <p:cNvPr id="97" name="095 Measurement input to estimator K"/>
            <p:cNvCxnSpPr/>
            <p:nvPr/>
          </p:nvCxnSpPr>
          <p:spPr>
            <a:xfrm>
              <a:off x="11457432" y="283464"/>
              <a:ext cx="0" cy="804672"/>
            </a:xfrm>
            <a:prstGeom prst="line">
              <a:avLst/>
            </a:prstGeom>
            <a:ln w="1554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096 Measurement input to estimator K arrow"/>
            <p:cNvSpPr/>
            <p:nvPr/>
          </p:nvSpPr>
          <p:spPr>
            <a:xfrm>
              <a:off x="11424514" y="1018642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097 y"/>
            <p:cNvSpPr txBox="1"/>
            <p:nvPr/>
          </p:nvSpPr>
          <p:spPr>
            <a:xfrm>
              <a:off x="11612880" y="366903"/>
              <a:ext cx="112450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101010"/>
                  </a:solidFill>
                  <a:latin typeface="Liberation Serif"/>
                </a:rPr>
                <a:t>y</a:t>
              </a:r>
            </a:p>
          </p:txBody>
        </p:sp>
        <p:cxnSp>
          <p:nvCxnSpPr>
            <p:cNvPr id="100" name="098 Measurement and H to projection K"/>
            <p:cNvCxnSpPr/>
            <p:nvPr/>
          </p:nvCxnSpPr>
          <p:spPr>
            <a:xfrm flipV="1">
              <a:off x="11457432" y="2532888"/>
              <a:ext cx="0" cy="923544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099 Measurement and H to projection K arrow"/>
            <p:cNvSpPr/>
            <p:nvPr/>
          </p:nvSpPr>
          <p:spPr>
            <a:xfrm>
              <a:off x="11424514" y="253288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0"/>
                  </a:moveTo>
                  <a:lnTo>
                    <a:pt x="65836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100 (y, H)"/>
            <p:cNvSpPr txBox="1"/>
            <p:nvPr/>
          </p:nvSpPr>
          <p:spPr>
            <a:xfrm>
              <a:off x="11603736" y="3046095"/>
              <a:ext cx="542039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erif"/>
                </a:rPr>
                <a:t>(y, H)</a:t>
              </a:r>
            </a:p>
          </p:txBody>
        </p:sp>
        <p:cxnSp>
          <p:nvCxnSpPr>
            <p:cNvPr id="103" name="101 Reconstruction to estimator K"/>
            <p:cNvCxnSpPr/>
            <p:nvPr/>
          </p:nvCxnSpPr>
          <p:spPr>
            <a:xfrm flipV="1">
              <a:off x="10671048" y="1362456"/>
              <a:ext cx="0" cy="896112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102 Reconstruction to estimator K"/>
            <p:cNvCxnSpPr/>
            <p:nvPr/>
          </p:nvCxnSpPr>
          <p:spPr>
            <a:xfrm>
              <a:off x="10671048" y="1362456"/>
              <a:ext cx="274320" cy="0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103 Reconstruction to estimator K arrow"/>
            <p:cNvSpPr/>
            <p:nvPr/>
          </p:nvSpPr>
          <p:spPr>
            <a:xfrm>
              <a:off x="10875874" y="13295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104 Learned weights K"/>
            <p:cNvCxnSpPr/>
            <p:nvPr/>
          </p:nvCxnSpPr>
          <p:spPr>
            <a:xfrm>
              <a:off x="11969496" y="1362456"/>
              <a:ext cx="612648" cy="0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105 Learned weights K"/>
            <p:cNvCxnSpPr/>
            <p:nvPr/>
          </p:nvCxnSpPr>
          <p:spPr>
            <a:xfrm>
              <a:off x="12582144" y="1362456"/>
              <a:ext cx="0" cy="630936"/>
            </a:xfrm>
            <a:prstGeom prst="line">
              <a:avLst/>
            </a:prstGeom>
            <a:ln w="17373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106 Learned weights K arrow"/>
            <p:cNvSpPr/>
            <p:nvPr/>
          </p:nvSpPr>
          <p:spPr>
            <a:xfrm>
              <a:off x="12549226" y="1923898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9" name="107 Learned covariance K"/>
            <p:cNvCxnSpPr/>
            <p:nvPr/>
          </p:nvCxnSpPr>
          <p:spPr>
            <a:xfrm>
              <a:off x="11457432" y="1627632"/>
              <a:ext cx="0" cy="356616"/>
            </a:xfrm>
            <a:prstGeom prst="line">
              <a:avLst/>
            </a:prstGeom>
            <a:ln w="1554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108 Learned covariance K arrow"/>
            <p:cNvSpPr/>
            <p:nvPr/>
          </p:nvSpPr>
          <p:spPr>
            <a:xfrm>
              <a:off x="11424514" y="1914754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69494"/>
                  </a:moveTo>
                  <a:lnTo>
                    <a:pt x="0" y="0"/>
                  </a:lnTo>
                  <a:lnTo>
                    <a:pt x="65836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1" name="109 Projection to proximal operator K"/>
            <p:cNvCxnSpPr/>
            <p:nvPr/>
          </p:nvCxnSpPr>
          <p:spPr>
            <a:xfrm>
              <a:off x="11969496" y="2258568"/>
              <a:ext cx="201168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110 Reconstruction output K"/>
            <p:cNvCxnSpPr/>
            <p:nvPr/>
          </p:nvCxnSpPr>
          <p:spPr>
            <a:xfrm>
              <a:off x="13249656" y="2258568"/>
              <a:ext cx="356616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111 Reconstruction output K arrow"/>
            <p:cNvSpPr/>
            <p:nvPr/>
          </p:nvSpPr>
          <p:spPr>
            <a:xfrm>
              <a:off x="13536778" y="2225650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6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112 Parameter estimator K"/>
            <p:cNvSpPr/>
            <p:nvPr/>
          </p:nvSpPr>
          <p:spPr>
            <a:xfrm>
              <a:off x="10945368" y="1088136"/>
              <a:ext cx="1024128" cy="539496"/>
            </a:xfrm>
            <a:prstGeom prst="roundRect">
              <a:avLst>
                <a:gd name="adj" fmla="val 18644"/>
              </a:avLst>
            </a:prstGeom>
            <a:solidFill>
              <a:srgbClr val="C9EDF9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113 ℰ"/>
            <p:cNvSpPr txBox="1"/>
            <p:nvPr/>
          </p:nvSpPr>
          <p:spPr>
            <a:xfrm>
              <a:off x="11201400" y="1195807"/>
              <a:ext cx="237744" cy="333299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0" i="0">
                  <a:solidFill>
                    <a:srgbClr val="101010"/>
                  </a:solidFill>
                  <a:latin typeface="Latin Modern Math"/>
                </a:rPr>
                <a:t>ℰ</a:t>
              </a:r>
            </a:p>
          </p:txBody>
        </p:sp>
        <p:sp>
          <p:nvSpPr>
            <p:cNvPr id="116" name="114 (·)"/>
            <p:cNvSpPr txBox="1"/>
            <p:nvPr/>
          </p:nvSpPr>
          <p:spPr>
            <a:xfrm>
              <a:off x="11324844" y="1201979"/>
              <a:ext cx="320040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117" name="115 Projection K"/>
            <p:cNvSpPr/>
            <p:nvPr/>
          </p:nvSpPr>
          <p:spPr>
            <a:xfrm>
              <a:off x="10945368" y="1993392"/>
              <a:ext cx="1024128" cy="539496"/>
            </a:xfrm>
            <a:prstGeom prst="roundRect">
              <a:avLst>
                <a:gd name="adj" fmla="val 18644"/>
              </a:avLst>
            </a:prstGeom>
            <a:solidFill>
              <a:srgbClr val="F8F2D9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116 proj(·)"/>
            <p:cNvSpPr txBox="1"/>
            <p:nvPr/>
          </p:nvSpPr>
          <p:spPr>
            <a:xfrm>
              <a:off x="10963656" y="2098091"/>
              <a:ext cx="987552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proj(·)</a:t>
              </a:r>
            </a:p>
          </p:txBody>
        </p:sp>
        <p:sp>
          <p:nvSpPr>
            <p:cNvPr id="119" name="117 Proximal regularizer K"/>
            <p:cNvSpPr/>
            <p:nvPr/>
          </p:nvSpPr>
          <p:spPr>
            <a:xfrm>
              <a:off x="12170664" y="1993392"/>
              <a:ext cx="1078992" cy="539496"/>
            </a:xfrm>
            <a:prstGeom prst="roundRect">
              <a:avLst>
                <a:gd name="adj" fmla="val 18644"/>
              </a:avLst>
            </a:prstGeom>
            <a:solidFill>
              <a:srgbClr val="E4F0D8"/>
            </a:solidFill>
            <a:ln w="18288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118 prox"/>
            <p:cNvSpPr txBox="1"/>
            <p:nvPr/>
          </p:nvSpPr>
          <p:spPr>
            <a:xfrm>
              <a:off x="12289536" y="2098091"/>
              <a:ext cx="446777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prox</a:t>
              </a:r>
            </a:p>
          </p:txBody>
        </p:sp>
        <p:sp>
          <p:nvSpPr>
            <p:cNvPr id="121" name="119 R"/>
            <p:cNvSpPr txBox="1"/>
            <p:nvPr/>
          </p:nvSpPr>
          <p:spPr>
            <a:xfrm>
              <a:off x="12719304" y="2217649"/>
              <a:ext cx="114664" cy="209855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101010"/>
                  </a:solidFill>
                  <a:latin typeface="Liberation Serif"/>
                </a:rPr>
                <a:t>R</a:t>
              </a:r>
            </a:p>
          </p:txBody>
        </p:sp>
        <p:sp>
          <p:nvSpPr>
            <p:cNvPr id="122" name="120 (·)"/>
            <p:cNvSpPr txBox="1"/>
            <p:nvPr/>
          </p:nvSpPr>
          <p:spPr>
            <a:xfrm>
              <a:off x="12838176" y="2098091"/>
              <a:ext cx="248538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123" name="121 Σ"/>
            <p:cNvSpPr txBox="1"/>
            <p:nvPr/>
          </p:nvSpPr>
          <p:spPr>
            <a:xfrm>
              <a:off x="11548872" y="1671523"/>
              <a:ext cx="138703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erif"/>
                </a:rPr>
                <a:t>Σ</a:t>
              </a:r>
            </a:p>
          </p:txBody>
        </p:sp>
        <p:sp>
          <p:nvSpPr>
            <p:cNvPr id="124" name="122 (K)"/>
            <p:cNvSpPr txBox="1"/>
            <p:nvPr/>
          </p:nvSpPr>
          <p:spPr>
            <a:xfrm>
              <a:off x="11694890" y="1635532"/>
              <a:ext cx="217213" cy="20146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75" b="0" i="0">
                  <a:solidFill>
                    <a:srgbClr val="101010"/>
                  </a:solidFill>
                  <a:latin typeface="Liberation Serif"/>
                </a:rPr>
                <a:t>(K)</a:t>
              </a:r>
            </a:p>
          </p:txBody>
        </p:sp>
        <p:sp>
          <p:nvSpPr>
            <p:cNvPr id="125" name="123 w"/>
            <p:cNvSpPr txBox="1"/>
            <p:nvPr/>
          </p:nvSpPr>
          <p:spPr>
            <a:xfrm>
              <a:off x="12664440" y="1409319"/>
              <a:ext cx="163456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1">
                  <a:solidFill>
                    <a:srgbClr val="101010"/>
                  </a:solidFill>
                  <a:latin typeface="Liberation Serif"/>
                </a:rPr>
                <a:t>w</a:t>
              </a:r>
            </a:p>
          </p:txBody>
        </p:sp>
        <p:sp>
          <p:nvSpPr>
            <p:cNvPr id="126" name="124 (K)"/>
            <p:cNvSpPr txBox="1"/>
            <p:nvPr/>
          </p:nvSpPr>
          <p:spPr>
            <a:xfrm>
              <a:off x="12835211" y="1371829"/>
              <a:ext cx="226750" cy="209855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101010"/>
                  </a:solidFill>
                  <a:latin typeface="Liberation Serif"/>
                </a:rPr>
                <a:t>(K)</a:t>
              </a:r>
            </a:p>
          </p:txBody>
        </p:sp>
        <p:sp>
          <p:nvSpPr>
            <p:cNvPr id="127" name="125 z"/>
            <p:cNvSpPr txBox="1"/>
            <p:nvPr/>
          </p:nvSpPr>
          <p:spPr>
            <a:xfrm>
              <a:off x="13331952" y="2366467"/>
              <a:ext cx="96376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1">
                  <a:solidFill>
                    <a:srgbClr val="101010"/>
                  </a:solidFill>
                  <a:latin typeface="Liberation Serif"/>
                </a:rPr>
                <a:t>z</a:t>
              </a:r>
            </a:p>
          </p:txBody>
        </p:sp>
        <p:sp>
          <p:nvSpPr>
            <p:cNvPr id="128" name="126 (K)"/>
            <p:cNvSpPr txBox="1"/>
            <p:nvPr/>
          </p:nvSpPr>
          <p:spPr>
            <a:xfrm>
              <a:off x="13435644" y="2330476"/>
              <a:ext cx="217213" cy="20146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75" b="0" i="0">
                  <a:solidFill>
                    <a:srgbClr val="101010"/>
                  </a:solidFill>
                  <a:latin typeface="Liberation Serif"/>
                </a:rPr>
                <a:t>(K)</a:t>
              </a:r>
            </a:p>
          </p:txBody>
        </p:sp>
        <p:sp>
          <p:nvSpPr>
            <p:cNvPr id="129" name="127 …"/>
            <p:cNvSpPr txBox="1"/>
            <p:nvPr/>
          </p:nvSpPr>
          <p:spPr>
            <a:xfrm>
              <a:off x="10177272" y="2018538"/>
              <a:ext cx="329184" cy="37033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101010"/>
                  </a:solidFill>
                  <a:latin typeface="Liberation Serif"/>
                </a:rPr>
                <a:t>…</a:t>
              </a:r>
            </a:p>
          </p:txBody>
        </p:sp>
        <p:cxnSp>
          <p:nvCxnSpPr>
            <p:cNvPr id="130" name="128 Remaining reconstruction iterations"/>
            <p:cNvCxnSpPr/>
            <p:nvPr/>
          </p:nvCxnSpPr>
          <p:spPr>
            <a:xfrm>
              <a:off x="10524744" y="2258568"/>
              <a:ext cx="420624" cy="0"/>
            </a:xfrm>
            <a:prstGeom prst="line">
              <a:avLst/>
            </a:prstGeom>
            <a:ln w="17373">
              <a:solidFill>
                <a:srgbClr val="1336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129 Remaining reconstruction iterations arrow"/>
            <p:cNvSpPr/>
            <p:nvPr/>
          </p:nvSpPr>
          <p:spPr>
            <a:xfrm>
              <a:off x="10875874" y="2225650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6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32" name="130 a-reconstructed-spectral-cube" descr="a-reconstructed-spectral-cub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07440" y="1033272"/>
              <a:ext cx="832104" cy="1673352"/>
            </a:xfrm>
            <a:prstGeom prst="rect">
              <a:avLst/>
            </a:prstGeom>
            <a:effectLst/>
          </p:spPr>
        </p:pic>
      </p:grpSp>
      <p:grpSp>
        <p:nvGrpSpPr>
          <p:cNvPr id="133" name="legend"/>
          <p:cNvGrpSpPr/>
          <p:nvPr/>
        </p:nvGrpSpPr>
        <p:grpSpPr>
          <a:xfrm>
            <a:off x="14936724" y="155448"/>
            <a:ext cx="2176272" cy="6044184"/>
            <a:chOff x="14936724" y="155448"/>
            <a:chExt cx="2176272" cy="6044184"/>
          </a:xfrm>
        </p:grpSpPr>
        <p:sp>
          <p:nvSpPr>
            <p:cNvPr id="134" name="131 Legend background"/>
            <p:cNvSpPr/>
            <p:nvPr/>
          </p:nvSpPr>
          <p:spPr>
            <a:xfrm>
              <a:off x="14936724" y="155448"/>
              <a:ext cx="2176272" cy="6044184"/>
            </a:xfrm>
            <a:prstGeom prst="roundRect">
              <a:avLst>
                <a:gd name="adj" fmla="val 6302"/>
              </a:avLst>
            </a:prstGeom>
            <a:solidFill>
              <a:srgbClr val="F7F7F7"/>
            </a:solidFill>
            <a:ln w="18288">
              <a:solidFill>
                <a:srgbClr val="A5A5A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132 concat"/>
            <p:cNvSpPr/>
            <p:nvPr/>
          </p:nvSpPr>
          <p:spPr>
            <a:xfrm>
              <a:off x="15055596" y="553212"/>
              <a:ext cx="246888" cy="246888"/>
            </a:xfrm>
            <a:prstGeom prst="ellipse">
              <a:avLst/>
            </a:prstGeom>
            <a:solidFill>
              <a:srgbClr val="F7F7F7"/>
            </a:solidFill>
            <a:ln w="164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133 C"/>
            <p:cNvSpPr txBox="1"/>
            <p:nvPr/>
          </p:nvSpPr>
          <p:spPr>
            <a:xfrm>
              <a:off x="15055596" y="561668"/>
              <a:ext cx="246888" cy="22997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41" b="0" i="1">
                  <a:solidFill>
                    <a:srgbClr val="133647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137" name="134 Concatenate"/>
            <p:cNvSpPr txBox="1"/>
            <p:nvPr/>
          </p:nvSpPr>
          <p:spPr>
            <a:xfrm>
              <a:off x="15462504" y="516179"/>
              <a:ext cx="1359248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0" i="0">
                  <a:solidFill>
                    <a:srgbClr val="101010"/>
                  </a:solidFill>
                  <a:latin typeface="Liberation Sans"/>
                </a:rPr>
                <a:t>Concatenate</a:t>
              </a:r>
            </a:p>
          </p:txBody>
        </p:sp>
        <p:sp>
          <p:nvSpPr>
            <p:cNvPr id="138" name="135 element"/>
            <p:cNvSpPr/>
            <p:nvPr/>
          </p:nvSpPr>
          <p:spPr>
            <a:xfrm>
              <a:off x="15060168" y="1280160"/>
              <a:ext cx="237744" cy="237744"/>
            </a:xfrm>
            <a:prstGeom prst="ellipse">
              <a:avLst/>
            </a:prstGeom>
            <a:solidFill>
              <a:srgbClr val="F7F7F7"/>
            </a:solidFill>
            <a:ln w="18288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136 Multiplication dot"/>
            <p:cNvSpPr/>
            <p:nvPr/>
          </p:nvSpPr>
          <p:spPr>
            <a:xfrm>
              <a:off x="15163495" y="1383487"/>
              <a:ext cx="31090" cy="31090"/>
            </a:xfrm>
            <a:prstGeom prst="ellipse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137 Element-wise"/>
            <p:cNvSpPr txBox="1"/>
            <p:nvPr/>
          </p:nvSpPr>
          <p:spPr>
            <a:xfrm>
              <a:off x="15462504" y="1098423"/>
              <a:ext cx="1382966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Element-wise</a:t>
              </a:r>
            </a:p>
          </p:txBody>
        </p:sp>
        <p:sp>
          <p:nvSpPr>
            <p:cNvPr id="141" name="138 multiplication"/>
            <p:cNvSpPr txBox="1"/>
            <p:nvPr/>
          </p:nvSpPr>
          <p:spPr>
            <a:xfrm>
              <a:off x="15462504" y="1363599"/>
              <a:ext cx="1332281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multiplication</a:t>
              </a:r>
            </a:p>
          </p:txBody>
        </p:sp>
        <p:sp>
          <p:nvSpPr>
            <p:cNvPr id="142" name="139 multiply"/>
            <p:cNvSpPr/>
            <p:nvPr/>
          </p:nvSpPr>
          <p:spPr>
            <a:xfrm>
              <a:off x="15060168" y="2029968"/>
              <a:ext cx="237744" cy="237744"/>
            </a:xfrm>
            <a:prstGeom prst="ellipse">
              <a:avLst/>
            </a:prstGeom>
            <a:solidFill>
              <a:srgbClr val="F7F7F7"/>
            </a:solidFill>
            <a:ln w="16459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3" name="140 Connection"/>
            <p:cNvCxnSpPr/>
            <p:nvPr/>
          </p:nvCxnSpPr>
          <p:spPr>
            <a:xfrm>
              <a:off x="15099396" y="2069196"/>
              <a:ext cx="159288" cy="159288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141 Connection"/>
            <p:cNvCxnSpPr/>
            <p:nvPr/>
          </p:nvCxnSpPr>
          <p:spPr>
            <a:xfrm flipV="1">
              <a:off x="15099396" y="2069196"/>
              <a:ext cx="159288" cy="159288"/>
            </a:xfrm>
            <a:prstGeom prst="line">
              <a:avLst/>
            </a:prstGeom>
            <a:ln w="16459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142 Matrix"/>
            <p:cNvSpPr txBox="1"/>
            <p:nvPr/>
          </p:nvSpPr>
          <p:spPr>
            <a:xfrm>
              <a:off x="15462504" y="1839087"/>
              <a:ext cx="633229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Matrix</a:t>
              </a:r>
            </a:p>
          </p:txBody>
        </p:sp>
        <p:sp>
          <p:nvSpPr>
            <p:cNvPr id="146" name="143 multiplication"/>
            <p:cNvSpPr txBox="1"/>
            <p:nvPr/>
          </p:nvSpPr>
          <p:spPr>
            <a:xfrm>
              <a:off x="15462504" y="2104263"/>
              <a:ext cx="1332281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multiplication</a:t>
              </a:r>
            </a:p>
          </p:txBody>
        </p:sp>
        <p:sp>
          <p:nvSpPr>
            <p:cNvPr id="147" name="144 weighted"/>
            <p:cNvSpPr/>
            <p:nvPr/>
          </p:nvSpPr>
          <p:spPr>
            <a:xfrm>
              <a:off x="15055596" y="2711196"/>
              <a:ext cx="246888" cy="246888"/>
            </a:xfrm>
            <a:prstGeom prst="ellipse">
              <a:avLst/>
            </a:prstGeom>
            <a:solidFill>
              <a:srgbClr val="F7F7F7"/>
            </a:solidFill>
            <a:ln w="16459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145 Σ"/>
            <p:cNvSpPr txBox="1"/>
            <p:nvPr/>
          </p:nvSpPr>
          <p:spPr>
            <a:xfrm>
              <a:off x="15055596" y="2692988"/>
              <a:ext cx="246888" cy="28330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52" b="0" i="0">
                  <a:solidFill>
                    <a:srgbClr val="101010"/>
                  </a:solidFill>
                  <a:latin typeface="Liberation Serif"/>
                </a:rPr>
                <a:t>Σ</a:t>
              </a:r>
            </a:p>
          </p:txBody>
        </p:sp>
        <p:sp>
          <p:nvSpPr>
            <p:cNvPr id="149" name="146 Weighted-Sum"/>
            <p:cNvSpPr txBox="1"/>
            <p:nvPr/>
          </p:nvSpPr>
          <p:spPr>
            <a:xfrm>
              <a:off x="15462504" y="2680335"/>
              <a:ext cx="1518661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Weighted-Sum</a:t>
              </a:r>
            </a:p>
          </p:txBody>
        </p:sp>
        <p:sp>
          <p:nvSpPr>
            <p:cNvPr id="150" name="147 Legend Down"/>
            <p:cNvSpPr/>
            <p:nvPr/>
          </p:nvSpPr>
          <p:spPr>
            <a:xfrm>
              <a:off x="15041880" y="3346704"/>
              <a:ext cx="832104" cy="356616"/>
            </a:xfrm>
            <a:prstGeom prst="roundRect">
              <a:avLst>
                <a:gd name="adj" fmla="val 15384"/>
              </a:avLst>
            </a:prstGeom>
            <a:solidFill>
              <a:srgbClr val="F7F7F7"/>
            </a:solidFill>
            <a:ln w="25603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148 Down"/>
            <p:cNvSpPr txBox="1"/>
            <p:nvPr/>
          </p:nvSpPr>
          <p:spPr>
            <a:xfrm>
              <a:off x="15064740" y="3395396"/>
              <a:ext cx="786384" cy="25923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101010"/>
                  </a:solidFill>
                  <a:latin typeface="Liberation Sans"/>
                </a:rPr>
                <a:t>Down</a:t>
              </a:r>
            </a:p>
          </p:txBody>
        </p:sp>
        <p:sp>
          <p:nvSpPr>
            <p:cNvPr id="152" name="149 Legend Up"/>
            <p:cNvSpPr/>
            <p:nvPr/>
          </p:nvSpPr>
          <p:spPr>
            <a:xfrm>
              <a:off x="15041880" y="4078224"/>
              <a:ext cx="832104" cy="356616"/>
            </a:xfrm>
            <a:prstGeom prst="roundRect">
              <a:avLst>
                <a:gd name="adj" fmla="val 15384"/>
              </a:avLst>
            </a:prstGeom>
            <a:solidFill>
              <a:srgbClr val="F7F7F7"/>
            </a:solidFill>
            <a:ln w="25603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150 Up"/>
            <p:cNvSpPr txBox="1"/>
            <p:nvPr/>
          </p:nvSpPr>
          <p:spPr>
            <a:xfrm>
              <a:off x="15064740" y="4126916"/>
              <a:ext cx="786384" cy="25923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101010"/>
                  </a:solidFill>
                  <a:latin typeface="Liberation Sans"/>
                </a:rPr>
                <a:t>Up</a:t>
              </a:r>
            </a:p>
          </p:txBody>
        </p:sp>
        <p:sp>
          <p:nvSpPr>
            <p:cNvPr id="154" name="151 Legend LN"/>
            <p:cNvSpPr/>
            <p:nvPr/>
          </p:nvSpPr>
          <p:spPr>
            <a:xfrm>
              <a:off x="15041880" y="4818888"/>
              <a:ext cx="640080" cy="356616"/>
            </a:xfrm>
            <a:prstGeom prst="roundRect">
              <a:avLst>
                <a:gd name="adj" fmla="val 15384"/>
              </a:avLst>
            </a:prstGeom>
            <a:solidFill>
              <a:srgbClr val="F7F7F7"/>
            </a:solidFill>
            <a:ln w="25603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152 LN"/>
            <p:cNvSpPr txBox="1"/>
            <p:nvPr/>
          </p:nvSpPr>
          <p:spPr>
            <a:xfrm>
              <a:off x="15064740" y="4867580"/>
              <a:ext cx="594360" cy="25923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101010"/>
                  </a:solidFill>
                  <a:latin typeface="Liberation Sans"/>
                </a:rPr>
                <a:t>LN</a:t>
              </a:r>
            </a:p>
          </p:txBody>
        </p:sp>
        <p:sp>
          <p:nvSpPr>
            <p:cNvPr id="156" name="153 Legend 1x1"/>
            <p:cNvSpPr/>
            <p:nvPr/>
          </p:nvSpPr>
          <p:spPr>
            <a:xfrm>
              <a:off x="15041880" y="5559552"/>
              <a:ext cx="640080" cy="356616"/>
            </a:xfrm>
            <a:prstGeom prst="roundRect">
              <a:avLst>
                <a:gd name="adj" fmla="val 15384"/>
              </a:avLst>
            </a:prstGeom>
            <a:solidFill>
              <a:srgbClr val="F7F7F7"/>
            </a:solidFill>
            <a:ln w="25603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154 1x1"/>
            <p:cNvSpPr txBox="1"/>
            <p:nvPr/>
          </p:nvSpPr>
          <p:spPr>
            <a:xfrm>
              <a:off x="15064740" y="5608244"/>
              <a:ext cx="594360" cy="25923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12" b="0" i="0">
                  <a:solidFill>
                    <a:srgbClr val="101010"/>
                  </a:solidFill>
                  <a:latin typeface="Liberation Sans"/>
                </a:rPr>
                <a:t>1x1</a:t>
              </a:r>
            </a:p>
          </p:txBody>
        </p:sp>
        <p:sp>
          <p:nvSpPr>
            <p:cNvPr id="158" name="155 Down-"/>
            <p:cNvSpPr txBox="1"/>
            <p:nvPr/>
          </p:nvSpPr>
          <p:spPr>
            <a:xfrm>
              <a:off x="16011144" y="3228975"/>
              <a:ext cx="671520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Down-</a:t>
              </a:r>
            </a:p>
          </p:txBody>
        </p:sp>
        <p:sp>
          <p:nvSpPr>
            <p:cNvPr id="159" name="156 sample"/>
            <p:cNvSpPr txBox="1"/>
            <p:nvPr/>
          </p:nvSpPr>
          <p:spPr>
            <a:xfrm>
              <a:off x="16011144" y="3494151"/>
              <a:ext cx="747851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sample</a:t>
              </a:r>
            </a:p>
          </p:txBody>
        </p:sp>
        <p:sp>
          <p:nvSpPr>
            <p:cNvPr id="160" name="157 Up-"/>
            <p:cNvSpPr txBox="1"/>
            <p:nvPr/>
          </p:nvSpPr>
          <p:spPr>
            <a:xfrm>
              <a:off x="16011144" y="3978783"/>
              <a:ext cx="379305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Up-</a:t>
              </a:r>
            </a:p>
          </p:txBody>
        </p:sp>
        <p:sp>
          <p:nvSpPr>
            <p:cNvPr id="161" name="158 sample"/>
            <p:cNvSpPr txBox="1"/>
            <p:nvPr/>
          </p:nvSpPr>
          <p:spPr>
            <a:xfrm>
              <a:off x="16011144" y="4243959"/>
              <a:ext cx="747851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sample</a:t>
              </a:r>
            </a:p>
          </p:txBody>
        </p:sp>
        <p:sp>
          <p:nvSpPr>
            <p:cNvPr id="162" name="159 LayerNorm"/>
            <p:cNvSpPr txBox="1"/>
            <p:nvPr/>
          </p:nvSpPr>
          <p:spPr>
            <a:xfrm>
              <a:off x="15809976" y="4810887"/>
              <a:ext cx="1141507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LayerNorm</a:t>
              </a:r>
            </a:p>
          </p:txBody>
        </p:sp>
        <p:sp>
          <p:nvSpPr>
            <p:cNvPr id="163" name="160 Convolution"/>
            <p:cNvSpPr txBox="1"/>
            <p:nvPr/>
          </p:nvSpPr>
          <p:spPr>
            <a:xfrm>
              <a:off x="15809976" y="5447995"/>
              <a:ext cx="1169975" cy="29626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728" b="0" i="0">
                  <a:solidFill>
                    <a:srgbClr val="101010"/>
                  </a:solidFill>
                  <a:latin typeface="Liberation Sans"/>
                </a:rPr>
                <a:t>Convolution</a:t>
              </a:r>
            </a:p>
          </p:txBody>
        </p:sp>
        <p:sp>
          <p:nvSpPr>
            <p:cNvPr id="164" name="161 1×1"/>
            <p:cNvSpPr txBox="1"/>
            <p:nvPr/>
          </p:nvSpPr>
          <p:spPr>
            <a:xfrm>
              <a:off x="15809976" y="5716143"/>
              <a:ext cx="398736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1×1</a:t>
              </a:r>
            </a:p>
          </p:txBody>
        </p:sp>
      </p:grpSp>
      <p:grpSp>
        <p:nvGrpSpPr>
          <p:cNvPr id="165" name="b-chromaticity-forward-model"/>
          <p:cNvGrpSpPr/>
          <p:nvPr/>
        </p:nvGrpSpPr>
        <p:grpSpPr>
          <a:xfrm>
            <a:off x="6291072" y="3703320"/>
            <a:ext cx="8677656" cy="2505456"/>
            <a:chOff x="6291072" y="3703320"/>
            <a:chExt cx="8677656" cy="2505456"/>
          </a:xfrm>
        </p:grpSpPr>
        <p:sp>
          <p:nvSpPr>
            <p:cNvPr id="166" name="162 Panel b dashed boundary"/>
            <p:cNvSpPr/>
            <p:nvPr/>
          </p:nvSpPr>
          <p:spPr>
            <a:xfrm>
              <a:off x="6291072" y="3703320"/>
              <a:ext cx="8531352" cy="2505456"/>
            </a:xfrm>
            <a:prstGeom prst="roundRect">
              <a:avLst>
                <a:gd name="adj" fmla="val 5474"/>
              </a:avLst>
            </a:prstGeom>
            <a:solidFill>
              <a:srgbClr val="FFFFFF"/>
            </a:solidFill>
            <a:ln w="27432">
              <a:solidFill>
                <a:srgbClr val="10101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163 (b)"/>
            <p:cNvSpPr txBox="1"/>
            <p:nvPr/>
          </p:nvSpPr>
          <p:spPr>
            <a:xfrm>
              <a:off x="6345936" y="3753155"/>
              <a:ext cx="314582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101010"/>
                  </a:solidFill>
                  <a:latin typeface="Liberation Sans"/>
                </a:rPr>
                <a:t>(b)</a:t>
              </a:r>
            </a:p>
          </p:txBody>
        </p:sp>
        <p:sp>
          <p:nvSpPr>
            <p:cNvPr id="168" name="164 C"/>
            <p:cNvSpPr txBox="1"/>
            <p:nvPr/>
          </p:nvSpPr>
          <p:spPr>
            <a:xfrm>
              <a:off x="6633972" y="3924376"/>
              <a:ext cx="246888" cy="23454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68" b="0" i="0">
                  <a:solidFill>
                    <a:srgbClr val="101010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169" name="165 M′"/>
            <p:cNvSpPr txBox="1"/>
            <p:nvPr/>
          </p:nvSpPr>
          <p:spPr>
            <a:xfrm>
              <a:off x="8188452" y="3951808"/>
              <a:ext cx="356616" cy="23454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68" b="0" i="0">
                  <a:solidFill>
                    <a:srgbClr val="101010"/>
                  </a:solidFill>
                  <a:latin typeface="Liberation Serif"/>
                </a:rPr>
                <a:t>M′</a:t>
              </a:r>
            </a:p>
          </p:txBody>
        </p:sp>
        <p:sp>
          <p:nvSpPr>
            <p:cNvPr id="170" name="166 X′"/>
            <p:cNvSpPr txBox="1"/>
            <p:nvPr/>
          </p:nvSpPr>
          <p:spPr>
            <a:xfrm>
              <a:off x="9624060" y="3942664"/>
              <a:ext cx="356616" cy="23454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68" b="0" i="0">
                  <a:solidFill>
                    <a:srgbClr val="101010"/>
                  </a:solidFill>
                  <a:latin typeface="Liberation Serif"/>
                </a:rPr>
                <a:t>X′</a:t>
              </a:r>
            </a:p>
          </p:txBody>
        </p:sp>
        <p:sp>
          <p:nvSpPr>
            <p:cNvPr id="171" name="167 X″"/>
            <p:cNvSpPr txBox="1"/>
            <p:nvPr/>
          </p:nvSpPr>
          <p:spPr>
            <a:xfrm>
              <a:off x="11850624" y="3951808"/>
              <a:ext cx="402336" cy="23454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68" b="0" i="0">
                  <a:solidFill>
                    <a:srgbClr val="101010"/>
                  </a:solidFill>
                  <a:latin typeface="Liberation Serif"/>
                </a:rPr>
                <a:t>X″</a:t>
              </a:r>
            </a:p>
          </p:txBody>
        </p:sp>
        <p:sp>
          <p:nvSpPr>
            <p:cNvPr id="172" name="168 Y"/>
            <p:cNvSpPr txBox="1"/>
            <p:nvPr/>
          </p:nvSpPr>
          <p:spPr>
            <a:xfrm>
              <a:off x="13917168" y="3951808"/>
              <a:ext cx="256032" cy="23454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68" b="0" i="0">
                  <a:solidFill>
                    <a:srgbClr val="101010"/>
                  </a:solidFill>
                  <a:latin typeface="Liberation Serif"/>
                </a:rPr>
                <a:t>Y</a:t>
              </a:r>
            </a:p>
          </p:txBody>
        </p:sp>
        <p:pic>
          <p:nvPicPr>
            <p:cNvPr id="173" name="169 b-chromaticity-cube" descr="b-chromaticity-cub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2512" y="4105656"/>
              <a:ext cx="996696" cy="1737360"/>
            </a:xfrm>
            <a:prstGeom prst="rect">
              <a:avLst/>
            </a:prstGeom>
            <a:effectLst/>
          </p:spPr>
        </p:pic>
        <p:pic>
          <p:nvPicPr>
            <p:cNvPr id="174" name="170 b-spectral-mask" descr="b-spectral-mas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27848" y="4206240"/>
              <a:ext cx="886968" cy="1609344"/>
            </a:xfrm>
            <a:prstGeom prst="rect">
              <a:avLst/>
            </a:prstGeom>
            <a:effectLst/>
          </p:spPr>
        </p:pic>
        <p:pic>
          <p:nvPicPr>
            <p:cNvPr id="175" name="171 b-modulated-hsi" descr="b-modulated-hsi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54896" y="4123944"/>
              <a:ext cx="996696" cy="1728216"/>
            </a:xfrm>
            <a:prstGeom prst="rect">
              <a:avLst/>
            </a:prstGeom>
            <a:effectLst/>
          </p:spPr>
        </p:pic>
        <p:pic>
          <p:nvPicPr>
            <p:cNvPr id="176" name="172 b-dispersed-hsi" descr="b-dispersed-hsi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448288" y="4050792"/>
              <a:ext cx="1472184" cy="1947672"/>
            </a:xfrm>
            <a:prstGeom prst="rect">
              <a:avLst/>
            </a:prstGeom>
            <a:effectLst/>
          </p:spPr>
        </p:pic>
        <p:pic>
          <p:nvPicPr>
            <p:cNvPr id="177" name="173 b-compressed-measurement" descr="b-compressed-measurement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679424" y="4087368"/>
              <a:ext cx="960120" cy="1645920"/>
            </a:xfrm>
            <a:prstGeom prst="rect">
              <a:avLst/>
            </a:prstGeom>
            <a:effectLst/>
          </p:spPr>
        </p:pic>
        <p:cxnSp>
          <p:nvCxnSpPr>
            <p:cNvPr id="178" name="174 Imaging pipeline"/>
            <p:cNvCxnSpPr/>
            <p:nvPr/>
          </p:nvCxnSpPr>
          <p:spPr>
            <a:xfrm>
              <a:off x="7479792" y="4937760"/>
              <a:ext cx="365760" cy="0"/>
            </a:xfrm>
            <a:prstGeom prst="line">
              <a:avLst/>
            </a:prstGeom>
            <a:ln w="25603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175 Imaging pipeline arrow"/>
            <p:cNvSpPr/>
            <p:nvPr/>
          </p:nvSpPr>
          <p:spPr>
            <a:xfrm>
              <a:off x="7758684" y="489386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0" name="176 Imaging pipeline"/>
            <p:cNvCxnSpPr/>
            <p:nvPr/>
          </p:nvCxnSpPr>
          <p:spPr>
            <a:xfrm>
              <a:off x="8851392" y="4937760"/>
              <a:ext cx="512064" cy="0"/>
            </a:xfrm>
            <a:prstGeom prst="line">
              <a:avLst/>
            </a:prstGeom>
            <a:ln w="25603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177 Imaging pipeline arrow"/>
            <p:cNvSpPr/>
            <p:nvPr/>
          </p:nvSpPr>
          <p:spPr>
            <a:xfrm>
              <a:off x="9276588" y="489386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2" name="178 Imaging pipeline"/>
            <p:cNvCxnSpPr/>
            <p:nvPr/>
          </p:nvCxnSpPr>
          <p:spPr>
            <a:xfrm>
              <a:off x="10552176" y="4937760"/>
              <a:ext cx="795528" cy="0"/>
            </a:xfrm>
            <a:prstGeom prst="line">
              <a:avLst/>
            </a:prstGeom>
            <a:ln w="25603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179 Imaging pipeline arrow"/>
            <p:cNvSpPr/>
            <p:nvPr/>
          </p:nvSpPr>
          <p:spPr>
            <a:xfrm>
              <a:off x="11260836" y="489386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4" name="180 Imaging pipeline"/>
            <p:cNvCxnSpPr/>
            <p:nvPr/>
          </p:nvCxnSpPr>
          <p:spPr>
            <a:xfrm>
              <a:off x="12966192" y="4937760"/>
              <a:ext cx="658368" cy="0"/>
            </a:xfrm>
            <a:prstGeom prst="line">
              <a:avLst/>
            </a:prstGeom>
            <a:ln w="25603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181 Imaging pipeline arrow"/>
            <p:cNvSpPr/>
            <p:nvPr/>
          </p:nvSpPr>
          <p:spPr>
            <a:xfrm>
              <a:off x="13537692" y="489386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182 Dispersion"/>
            <p:cNvSpPr txBox="1"/>
            <p:nvPr/>
          </p:nvSpPr>
          <p:spPr>
            <a:xfrm>
              <a:off x="10410444" y="4649724"/>
              <a:ext cx="1088136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Dispersion</a:t>
              </a:r>
            </a:p>
          </p:txBody>
        </p:sp>
        <p:sp>
          <p:nvSpPr>
            <p:cNvPr id="187" name="183 Imaging"/>
            <p:cNvSpPr txBox="1"/>
            <p:nvPr/>
          </p:nvSpPr>
          <p:spPr>
            <a:xfrm>
              <a:off x="12874752" y="4658868"/>
              <a:ext cx="822960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Imaging</a:t>
              </a:r>
            </a:p>
          </p:txBody>
        </p:sp>
        <p:sp>
          <p:nvSpPr>
            <p:cNvPr id="188" name="184 Chromaticity"/>
            <p:cNvSpPr txBox="1"/>
            <p:nvPr/>
          </p:nvSpPr>
          <p:spPr>
            <a:xfrm rot="19680000">
              <a:off x="6391656" y="5582412"/>
              <a:ext cx="1280160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Chromaticity</a:t>
              </a:r>
            </a:p>
          </p:txBody>
        </p:sp>
        <p:sp>
          <p:nvSpPr>
            <p:cNvPr id="189" name="185 Mask"/>
            <p:cNvSpPr txBox="1"/>
            <p:nvPr/>
          </p:nvSpPr>
          <p:spPr>
            <a:xfrm rot="19800000">
              <a:off x="8133588" y="5573268"/>
              <a:ext cx="685800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Mask</a:t>
              </a:r>
            </a:p>
          </p:txBody>
        </p:sp>
        <p:sp>
          <p:nvSpPr>
            <p:cNvPr id="190" name="186 Modulated HSI"/>
            <p:cNvSpPr txBox="1"/>
            <p:nvPr/>
          </p:nvSpPr>
          <p:spPr>
            <a:xfrm rot="19800000">
              <a:off x="9372600" y="5573268"/>
              <a:ext cx="1499616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Modulated HSI</a:t>
              </a:r>
            </a:p>
          </p:txBody>
        </p:sp>
        <p:sp>
          <p:nvSpPr>
            <p:cNvPr id="191" name="187 Dispersed HSI"/>
            <p:cNvSpPr txBox="1"/>
            <p:nvPr/>
          </p:nvSpPr>
          <p:spPr>
            <a:xfrm rot="19920000">
              <a:off x="11631168" y="5564124"/>
              <a:ext cx="1463040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Dispersed HSI</a:t>
              </a:r>
            </a:p>
          </p:txBody>
        </p:sp>
        <p:sp>
          <p:nvSpPr>
            <p:cNvPr id="192" name="188 Measurement"/>
            <p:cNvSpPr txBox="1"/>
            <p:nvPr/>
          </p:nvSpPr>
          <p:spPr>
            <a:xfrm rot="19800000">
              <a:off x="13633704" y="5426964"/>
              <a:ext cx="1335024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39" b="0" i="0">
                  <a:solidFill>
                    <a:srgbClr val="101010"/>
                  </a:solidFill>
                  <a:latin typeface="Liberation Sans"/>
                </a:rPr>
                <a:t>Measurement</a:t>
              </a:r>
            </a:p>
          </p:txBody>
        </p:sp>
      </p:grpSp>
      <p:grpSp>
        <p:nvGrpSpPr>
          <p:cNvPr id="193" name="c-spatial-spectral-network"/>
          <p:cNvGrpSpPr/>
          <p:nvPr/>
        </p:nvGrpSpPr>
        <p:grpSpPr>
          <a:xfrm>
            <a:off x="86868" y="3712464"/>
            <a:ext cx="6117336" cy="5806440"/>
            <a:chOff x="86868" y="3712464"/>
            <a:chExt cx="6117336" cy="5806440"/>
          </a:xfrm>
        </p:grpSpPr>
        <p:sp>
          <p:nvSpPr>
            <p:cNvPr id="194" name="189 Panel c background"/>
            <p:cNvSpPr/>
            <p:nvPr/>
          </p:nvSpPr>
          <p:spPr>
            <a:xfrm>
              <a:off x="86868" y="3712464"/>
              <a:ext cx="6117336" cy="5806440"/>
            </a:xfrm>
            <a:prstGeom prst="roundRect">
              <a:avLst>
                <a:gd name="adj" fmla="val 2992"/>
              </a:avLst>
            </a:prstGeom>
            <a:solidFill>
              <a:srgbClr val="EBF4E2"/>
            </a:solidFill>
            <a:ln w="15544">
              <a:solidFill>
                <a:srgbClr val="CDDD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190 (c)"/>
            <p:cNvSpPr txBox="1"/>
            <p:nvPr/>
          </p:nvSpPr>
          <p:spPr>
            <a:xfrm>
              <a:off x="146304" y="3771443"/>
              <a:ext cx="301581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101010"/>
                  </a:solidFill>
                  <a:latin typeface="Liberation Sans"/>
                </a:rPr>
                <a:t>(c)</a:t>
              </a:r>
            </a:p>
          </p:txBody>
        </p:sp>
        <p:cxnSp>
          <p:nvCxnSpPr>
            <p:cNvPr id="196" name="191 Network input"/>
            <p:cNvCxnSpPr/>
            <p:nvPr/>
          </p:nvCxnSpPr>
          <p:spPr>
            <a:xfrm>
              <a:off x="1060704" y="3877056"/>
              <a:ext cx="0" cy="630936"/>
            </a:xfrm>
            <a:prstGeom prst="line">
              <a:avLst/>
            </a:prstGeom>
            <a:ln w="20116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192 Network input arrow"/>
            <p:cNvSpPr/>
            <p:nvPr/>
          </p:nvSpPr>
          <p:spPr>
            <a:xfrm>
              <a:off x="1016813" y="4421124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8" name="193 Network residual bypass"/>
            <p:cNvCxnSpPr/>
            <p:nvPr/>
          </p:nvCxnSpPr>
          <p:spPr>
            <a:xfrm>
              <a:off x="1060704" y="4197096"/>
              <a:ext cx="3904488" cy="0"/>
            </a:xfrm>
            <a:prstGeom prst="line">
              <a:avLst/>
            </a:prstGeom>
            <a:ln w="20116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194 Network residual bypass arrow"/>
            <p:cNvSpPr/>
            <p:nvPr/>
          </p:nvSpPr>
          <p:spPr>
            <a:xfrm>
              <a:off x="4878324" y="4153205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0" name="195 Network residual output"/>
            <p:cNvCxnSpPr/>
            <p:nvPr/>
          </p:nvCxnSpPr>
          <p:spPr>
            <a:xfrm flipV="1">
              <a:off x="5111496" y="3822192"/>
              <a:ext cx="0" cy="685800"/>
            </a:xfrm>
            <a:prstGeom prst="line">
              <a:avLst/>
            </a:prstGeom>
            <a:ln w="20116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196 Network residual output arrow"/>
            <p:cNvSpPr/>
            <p:nvPr/>
          </p:nvSpPr>
          <p:spPr>
            <a:xfrm>
              <a:off x="5067605" y="3822192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197 sum"/>
            <p:cNvSpPr/>
            <p:nvPr/>
          </p:nvSpPr>
          <p:spPr>
            <a:xfrm>
              <a:off x="4976165" y="4061765"/>
              <a:ext cx="270662" cy="270662"/>
            </a:xfrm>
            <a:prstGeom prst="ellipse">
              <a:avLst/>
            </a:prstGeom>
            <a:solidFill>
              <a:srgbClr val="EBF4E2"/>
            </a:solidFill>
            <a:ln w="19202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3" name="198 Connection"/>
            <p:cNvCxnSpPr/>
            <p:nvPr/>
          </p:nvCxnSpPr>
          <p:spPr>
            <a:xfrm>
              <a:off x="4994453" y="4197096"/>
              <a:ext cx="234086" cy="0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199 Connection"/>
            <p:cNvCxnSpPr/>
            <p:nvPr/>
          </p:nvCxnSpPr>
          <p:spPr>
            <a:xfrm>
              <a:off x="5111496" y="4080053"/>
              <a:ext cx="0" cy="234086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200 Spatial encoder connection"/>
            <p:cNvCxnSpPr/>
            <p:nvPr/>
          </p:nvCxnSpPr>
          <p:spPr>
            <a:xfrm>
              <a:off x="1060704" y="5047488"/>
              <a:ext cx="0" cy="292608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201 Spatial encoder connection arrow"/>
            <p:cNvSpPr/>
            <p:nvPr/>
          </p:nvSpPr>
          <p:spPr>
            <a:xfrm>
              <a:off x="1016813" y="5253228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7" name="202 Spatial encoder connection"/>
            <p:cNvCxnSpPr/>
            <p:nvPr/>
          </p:nvCxnSpPr>
          <p:spPr>
            <a:xfrm>
              <a:off x="1060704" y="5879592"/>
              <a:ext cx="0" cy="301752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203 Spatial encoder connection arrow"/>
            <p:cNvSpPr/>
            <p:nvPr/>
          </p:nvSpPr>
          <p:spPr>
            <a:xfrm>
              <a:off x="1016813" y="6094476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9" name="204 Spatial encoder connection"/>
            <p:cNvCxnSpPr/>
            <p:nvPr/>
          </p:nvCxnSpPr>
          <p:spPr>
            <a:xfrm>
              <a:off x="1060704" y="6720840"/>
              <a:ext cx="0" cy="320040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205 Spatial encoder connection arrow"/>
            <p:cNvSpPr/>
            <p:nvPr/>
          </p:nvSpPr>
          <p:spPr>
            <a:xfrm>
              <a:off x="1016813" y="6954012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1" name="206 Spatial encoder connection"/>
            <p:cNvCxnSpPr/>
            <p:nvPr/>
          </p:nvCxnSpPr>
          <p:spPr>
            <a:xfrm>
              <a:off x="1060704" y="7580376"/>
              <a:ext cx="0" cy="301752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207 Spatial encoder connection arrow"/>
            <p:cNvSpPr/>
            <p:nvPr/>
          </p:nvSpPr>
          <p:spPr>
            <a:xfrm>
              <a:off x="1016813" y="7795260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3" name="208 Encoder to bottleneck"/>
            <p:cNvCxnSpPr/>
            <p:nvPr/>
          </p:nvCxnSpPr>
          <p:spPr>
            <a:xfrm>
              <a:off x="1060704" y="8412480"/>
              <a:ext cx="0" cy="704088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209 Encoder to bottleneck"/>
            <p:cNvCxnSpPr/>
            <p:nvPr/>
          </p:nvCxnSpPr>
          <p:spPr>
            <a:xfrm>
              <a:off x="1060704" y="9116568"/>
              <a:ext cx="1335024" cy="0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210 Encoder to bottleneck arrow"/>
            <p:cNvSpPr/>
            <p:nvPr/>
          </p:nvSpPr>
          <p:spPr>
            <a:xfrm>
              <a:off x="2308860" y="9072677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6" name="211 Bottleneck to decoder"/>
            <p:cNvCxnSpPr/>
            <p:nvPr/>
          </p:nvCxnSpPr>
          <p:spPr>
            <a:xfrm>
              <a:off x="3886200" y="9116568"/>
              <a:ext cx="1225296" cy="0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212 Bottleneck to decoder"/>
            <p:cNvCxnSpPr/>
            <p:nvPr/>
          </p:nvCxnSpPr>
          <p:spPr>
            <a:xfrm flipV="1">
              <a:off x="5111496" y="8421624"/>
              <a:ext cx="0" cy="694944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213 Bottleneck to decoder arrow"/>
            <p:cNvSpPr/>
            <p:nvPr/>
          </p:nvSpPr>
          <p:spPr>
            <a:xfrm>
              <a:off x="5067605" y="8421624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9" name="214 Spectral decoder connection"/>
            <p:cNvCxnSpPr/>
            <p:nvPr/>
          </p:nvCxnSpPr>
          <p:spPr>
            <a:xfrm flipV="1">
              <a:off x="5111496" y="7580376"/>
              <a:ext cx="0" cy="301752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215 Spectral decoder connection arrow"/>
            <p:cNvSpPr/>
            <p:nvPr/>
          </p:nvSpPr>
          <p:spPr>
            <a:xfrm>
              <a:off x="5067605" y="7580376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1" name="216 Spectral decoder connection"/>
            <p:cNvCxnSpPr/>
            <p:nvPr/>
          </p:nvCxnSpPr>
          <p:spPr>
            <a:xfrm flipV="1">
              <a:off x="5111496" y="6720840"/>
              <a:ext cx="0" cy="320040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217 Spectral decoder connection arrow"/>
            <p:cNvSpPr/>
            <p:nvPr/>
          </p:nvSpPr>
          <p:spPr>
            <a:xfrm>
              <a:off x="5067605" y="6720840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3" name="218 Spectral decoder connection"/>
            <p:cNvCxnSpPr/>
            <p:nvPr/>
          </p:nvCxnSpPr>
          <p:spPr>
            <a:xfrm flipV="1">
              <a:off x="5111496" y="5879592"/>
              <a:ext cx="0" cy="301752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219 Spectral decoder connection arrow"/>
            <p:cNvSpPr/>
            <p:nvPr/>
          </p:nvSpPr>
          <p:spPr>
            <a:xfrm>
              <a:off x="5067605" y="5879592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5" name="220 Spectral decoder connection"/>
            <p:cNvCxnSpPr/>
            <p:nvPr/>
          </p:nvCxnSpPr>
          <p:spPr>
            <a:xfrm flipV="1">
              <a:off x="5111496" y="5047488"/>
              <a:ext cx="0" cy="292608"/>
            </a:xfrm>
            <a:prstGeom prst="line">
              <a:avLst/>
            </a:prstGeom>
            <a:ln w="19202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221 Spectral decoder connection arrow"/>
            <p:cNvSpPr/>
            <p:nvPr/>
          </p:nvSpPr>
          <p:spPr>
            <a:xfrm>
              <a:off x="5067605" y="5047488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7" name="222 Spatial skip"/>
            <p:cNvCxnSpPr/>
            <p:nvPr/>
          </p:nvCxnSpPr>
          <p:spPr>
            <a:xfrm>
              <a:off x="1938528" y="5614416"/>
              <a:ext cx="374904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223 Spatial skip arrow"/>
            <p:cNvSpPr/>
            <p:nvPr/>
          </p:nvSpPr>
          <p:spPr>
            <a:xfrm>
              <a:off x="2243938" y="558149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9" name="224 Decoder fusion input"/>
            <p:cNvCxnSpPr/>
            <p:nvPr/>
          </p:nvCxnSpPr>
          <p:spPr>
            <a:xfrm flipH="1">
              <a:off x="2487168" y="6455664"/>
              <a:ext cx="1755648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225 Decoder fusion input"/>
            <p:cNvCxnSpPr/>
            <p:nvPr/>
          </p:nvCxnSpPr>
          <p:spPr>
            <a:xfrm flipV="1">
              <a:off x="2487168" y="5788152"/>
              <a:ext cx="0" cy="667512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226 Decoder fusion input arrow"/>
            <p:cNvSpPr/>
            <p:nvPr/>
          </p:nvSpPr>
          <p:spPr>
            <a:xfrm>
              <a:off x="2454250" y="5788152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0"/>
                  </a:moveTo>
                  <a:lnTo>
                    <a:pt x="65836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2" name="227 Concatenation to fusion"/>
            <p:cNvCxnSpPr/>
            <p:nvPr/>
          </p:nvCxnSpPr>
          <p:spPr>
            <a:xfrm>
              <a:off x="2660904" y="5614416"/>
              <a:ext cx="374904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228 Concatenation to fusion arrow"/>
            <p:cNvSpPr/>
            <p:nvPr/>
          </p:nvSpPr>
          <p:spPr>
            <a:xfrm>
              <a:off x="2966314" y="558149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4" name="229 Fusion to spectral attention"/>
            <p:cNvCxnSpPr/>
            <p:nvPr/>
          </p:nvCxnSpPr>
          <p:spPr>
            <a:xfrm>
              <a:off x="3858768" y="5614416"/>
              <a:ext cx="384048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230 Fusion to spectral attention arrow"/>
            <p:cNvSpPr/>
            <p:nvPr/>
          </p:nvSpPr>
          <p:spPr>
            <a:xfrm>
              <a:off x="4173322" y="558149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231 concat"/>
            <p:cNvSpPr/>
            <p:nvPr/>
          </p:nvSpPr>
          <p:spPr>
            <a:xfrm>
              <a:off x="2315261" y="5442509"/>
              <a:ext cx="343814" cy="343814"/>
            </a:xfrm>
            <a:prstGeom prst="ellipse">
              <a:avLst/>
            </a:prstGeom>
            <a:solidFill>
              <a:srgbClr val="EBF4E2"/>
            </a:solidFill>
            <a:ln w="17373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232 C"/>
            <p:cNvSpPr txBox="1"/>
            <p:nvPr/>
          </p:nvSpPr>
          <p:spPr>
            <a:xfrm>
              <a:off x="2315261" y="5454284"/>
              <a:ext cx="343814" cy="32026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67" b="0" i="1">
                  <a:solidFill>
                    <a:srgbClr val="133647"/>
                  </a:solidFill>
                  <a:latin typeface="Liberation Serif"/>
                </a:rPr>
                <a:t>C</a:t>
              </a:r>
            </a:p>
          </p:txBody>
        </p:sp>
        <p:cxnSp>
          <p:nvCxnSpPr>
            <p:cNvPr id="238" name="233 Spatial skip"/>
            <p:cNvCxnSpPr/>
            <p:nvPr/>
          </p:nvCxnSpPr>
          <p:spPr>
            <a:xfrm>
              <a:off x="1938528" y="7306056"/>
              <a:ext cx="374904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234 Spatial skip arrow"/>
            <p:cNvSpPr/>
            <p:nvPr/>
          </p:nvSpPr>
          <p:spPr>
            <a:xfrm>
              <a:off x="2243938" y="72731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0" name="235 Decoder fusion input"/>
            <p:cNvCxnSpPr/>
            <p:nvPr/>
          </p:nvCxnSpPr>
          <p:spPr>
            <a:xfrm flipH="1">
              <a:off x="2487168" y="8147304"/>
              <a:ext cx="1755648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236 Decoder fusion input"/>
            <p:cNvCxnSpPr/>
            <p:nvPr/>
          </p:nvCxnSpPr>
          <p:spPr>
            <a:xfrm flipV="1">
              <a:off x="2487168" y="7479792"/>
              <a:ext cx="0" cy="667512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237 Decoder fusion input arrow"/>
            <p:cNvSpPr/>
            <p:nvPr/>
          </p:nvSpPr>
          <p:spPr>
            <a:xfrm>
              <a:off x="2454250" y="7479792"/>
              <a:ext cx="65836" cy="69494"/>
            </a:xfrm>
            <a:custGeom>
              <a:avLst/>
              <a:gdLst/>
              <a:ahLst/>
              <a:cxnLst/>
              <a:rect l="l" t="t" r="r" b="b"/>
              <a:pathLst>
                <a:path w="65836" h="69494">
                  <a:moveTo>
                    <a:pt x="32918" y="0"/>
                  </a:moveTo>
                  <a:lnTo>
                    <a:pt x="65836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3" name="238 Concatenation to fusion"/>
            <p:cNvCxnSpPr/>
            <p:nvPr/>
          </p:nvCxnSpPr>
          <p:spPr>
            <a:xfrm>
              <a:off x="2660904" y="7306056"/>
              <a:ext cx="374904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239 Concatenation to fusion arrow"/>
            <p:cNvSpPr/>
            <p:nvPr/>
          </p:nvSpPr>
          <p:spPr>
            <a:xfrm>
              <a:off x="2966314" y="72731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5" name="240 Fusion to spectral attention"/>
            <p:cNvCxnSpPr/>
            <p:nvPr/>
          </p:nvCxnSpPr>
          <p:spPr>
            <a:xfrm>
              <a:off x="3858768" y="7306056"/>
              <a:ext cx="384048" cy="0"/>
            </a:xfrm>
            <a:prstGeom prst="line">
              <a:avLst/>
            </a:prstGeom>
            <a:ln w="18288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241 Fusion to spectral attention arrow"/>
            <p:cNvSpPr/>
            <p:nvPr/>
          </p:nvSpPr>
          <p:spPr>
            <a:xfrm>
              <a:off x="4173322" y="7273138"/>
              <a:ext cx="69494" cy="65836"/>
            </a:xfrm>
            <a:custGeom>
              <a:avLst/>
              <a:gdLst/>
              <a:ahLst/>
              <a:cxnLst/>
              <a:rect l="l" t="t" r="r" b="b"/>
              <a:pathLst>
                <a:path w="69494" h="65836">
                  <a:moveTo>
                    <a:pt x="69494" y="32918"/>
                  </a:moveTo>
                  <a:lnTo>
                    <a:pt x="0" y="65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242 concat"/>
            <p:cNvSpPr/>
            <p:nvPr/>
          </p:nvSpPr>
          <p:spPr>
            <a:xfrm>
              <a:off x="2315261" y="7134149"/>
              <a:ext cx="343814" cy="343814"/>
            </a:xfrm>
            <a:prstGeom prst="ellipse">
              <a:avLst/>
            </a:prstGeom>
            <a:solidFill>
              <a:srgbClr val="EBF4E2"/>
            </a:solidFill>
            <a:ln w="17373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243 C"/>
            <p:cNvSpPr txBox="1"/>
            <p:nvPr/>
          </p:nvSpPr>
          <p:spPr>
            <a:xfrm>
              <a:off x="2315261" y="7145924"/>
              <a:ext cx="343814" cy="32026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67" b="0" i="1">
                  <a:solidFill>
                    <a:srgbClr val="133647"/>
                  </a:solidFill>
                  <a:latin typeface="Liberation Serif"/>
                </a:rPr>
                <a:t>C</a:t>
              </a:r>
            </a:p>
          </p:txBody>
        </p:sp>
        <p:sp>
          <p:nvSpPr>
            <p:cNvPr id="249" name="244 Conv3x3"/>
            <p:cNvSpPr/>
            <p:nvPr/>
          </p:nvSpPr>
          <p:spPr>
            <a:xfrm>
              <a:off x="192024" y="4507992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FFFCF2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245 Conv3x3"/>
            <p:cNvSpPr txBox="1"/>
            <p:nvPr/>
          </p:nvSpPr>
          <p:spPr>
            <a:xfrm>
              <a:off x="219456" y="4614062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Conv3x3</a:t>
              </a:r>
            </a:p>
          </p:txBody>
        </p:sp>
        <p:sp>
          <p:nvSpPr>
            <p:cNvPr id="251" name="246 Spa-LWSA"/>
            <p:cNvSpPr/>
            <p:nvPr/>
          </p:nvSpPr>
          <p:spPr>
            <a:xfrm>
              <a:off x="192024" y="5340096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E3EDF7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247 Spa-LWSA"/>
            <p:cNvSpPr txBox="1"/>
            <p:nvPr/>
          </p:nvSpPr>
          <p:spPr>
            <a:xfrm>
              <a:off x="219456" y="5446166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Spa-LWSA</a:t>
              </a:r>
            </a:p>
          </p:txBody>
        </p:sp>
        <p:sp>
          <p:nvSpPr>
            <p:cNvPr id="253" name="248 Down"/>
            <p:cNvSpPr/>
            <p:nvPr/>
          </p:nvSpPr>
          <p:spPr>
            <a:xfrm>
              <a:off x="192024" y="6181344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DEE1D9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249 Down"/>
            <p:cNvSpPr txBox="1"/>
            <p:nvPr/>
          </p:nvSpPr>
          <p:spPr>
            <a:xfrm>
              <a:off x="219456" y="6287414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Down</a:t>
              </a:r>
            </a:p>
          </p:txBody>
        </p:sp>
        <p:sp>
          <p:nvSpPr>
            <p:cNvPr id="255" name="250 Spa-LWSA"/>
            <p:cNvSpPr/>
            <p:nvPr/>
          </p:nvSpPr>
          <p:spPr>
            <a:xfrm>
              <a:off x="192024" y="7040880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E3EDF7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251 Spa-LWSA"/>
            <p:cNvSpPr txBox="1"/>
            <p:nvPr/>
          </p:nvSpPr>
          <p:spPr>
            <a:xfrm>
              <a:off x="219456" y="7146950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Spa-LWSA</a:t>
              </a:r>
            </a:p>
          </p:txBody>
        </p:sp>
        <p:sp>
          <p:nvSpPr>
            <p:cNvPr id="257" name="252 Down"/>
            <p:cNvSpPr/>
            <p:nvPr/>
          </p:nvSpPr>
          <p:spPr>
            <a:xfrm>
              <a:off x="192024" y="7882128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DEE1D9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253 Down"/>
            <p:cNvSpPr txBox="1"/>
            <p:nvPr/>
          </p:nvSpPr>
          <p:spPr>
            <a:xfrm>
              <a:off x="219456" y="7988198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Down</a:t>
              </a:r>
            </a:p>
          </p:txBody>
        </p:sp>
        <p:sp>
          <p:nvSpPr>
            <p:cNvPr id="259" name="254 Spa-LWSA"/>
            <p:cNvSpPr/>
            <p:nvPr/>
          </p:nvSpPr>
          <p:spPr>
            <a:xfrm>
              <a:off x="2395728" y="8796528"/>
              <a:ext cx="1490472" cy="640080"/>
            </a:xfrm>
            <a:prstGeom prst="roundRect">
              <a:avLst>
                <a:gd name="adj" fmla="val 15714"/>
              </a:avLst>
            </a:prstGeom>
            <a:solidFill>
              <a:srgbClr val="E3EDF7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255 Spa-LWSA"/>
            <p:cNvSpPr txBox="1"/>
            <p:nvPr/>
          </p:nvSpPr>
          <p:spPr>
            <a:xfrm>
              <a:off x="2423160" y="8952890"/>
              <a:ext cx="1435608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Spa-LWSA</a:t>
              </a:r>
            </a:p>
          </p:txBody>
        </p:sp>
        <p:sp>
          <p:nvSpPr>
            <p:cNvPr id="261" name="256 Up"/>
            <p:cNvSpPr/>
            <p:nvPr/>
          </p:nvSpPr>
          <p:spPr>
            <a:xfrm>
              <a:off x="4242816" y="7882128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DEE1D9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257 Up"/>
            <p:cNvSpPr txBox="1"/>
            <p:nvPr/>
          </p:nvSpPr>
          <p:spPr>
            <a:xfrm>
              <a:off x="4270248" y="7988198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Up</a:t>
              </a:r>
            </a:p>
          </p:txBody>
        </p:sp>
        <p:sp>
          <p:nvSpPr>
            <p:cNvPr id="263" name="258 Spec-TKSA"/>
            <p:cNvSpPr/>
            <p:nvPr/>
          </p:nvSpPr>
          <p:spPr>
            <a:xfrm>
              <a:off x="4242816" y="7040880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FBE8D8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259 Spec-TKSA"/>
            <p:cNvSpPr txBox="1"/>
            <p:nvPr/>
          </p:nvSpPr>
          <p:spPr>
            <a:xfrm>
              <a:off x="4270248" y="7146950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Spec-TKSA</a:t>
              </a:r>
            </a:p>
          </p:txBody>
        </p:sp>
        <p:sp>
          <p:nvSpPr>
            <p:cNvPr id="265" name="260 Up"/>
            <p:cNvSpPr/>
            <p:nvPr/>
          </p:nvSpPr>
          <p:spPr>
            <a:xfrm>
              <a:off x="4242816" y="6181344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DEE1D9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261 Up"/>
            <p:cNvSpPr txBox="1"/>
            <p:nvPr/>
          </p:nvSpPr>
          <p:spPr>
            <a:xfrm>
              <a:off x="4270248" y="6287414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Up</a:t>
              </a:r>
            </a:p>
          </p:txBody>
        </p:sp>
        <p:sp>
          <p:nvSpPr>
            <p:cNvPr id="267" name="262 Spec-TKSA"/>
            <p:cNvSpPr/>
            <p:nvPr/>
          </p:nvSpPr>
          <p:spPr>
            <a:xfrm>
              <a:off x="4242816" y="5340096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FBE8D8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263 Spec-TKSA"/>
            <p:cNvSpPr txBox="1"/>
            <p:nvPr/>
          </p:nvSpPr>
          <p:spPr>
            <a:xfrm>
              <a:off x="4270248" y="5446166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Spec-TKSA</a:t>
              </a:r>
            </a:p>
          </p:txBody>
        </p:sp>
        <p:sp>
          <p:nvSpPr>
            <p:cNvPr id="269" name="264 Conv3x3"/>
            <p:cNvSpPr/>
            <p:nvPr/>
          </p:nvSpPr>
          <p:spPr>
            <a:xfrm>
              <a:off x="4242816" y="4507992"/>
              <a:ext cx="1746504" cy="539496"/>
            </a:xfrm>
            <a:prstGeom prst="roundRect">
              <a:avLst>
                <a:gd name="adj" fmla="val 18644"/>
              </a:avLst>
            </a:prstGeom>
            <a:solidFill>
              <a:srgbClr val="FFFCF2"/>
            </a:solidFill>
            <a:ln w="20116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265 Conv3x3"/>
            <p:cNvSpPr txBox="1"/>
            <p:nvPr/>
          </p:nvSpPr>
          <p:spPr>
            <a:xfrm>
              <a:off x="4270248" y="4614062"/>
              <a:ext cx="1691640" cy="34564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101010"/>
                  </a:solidFill>
                  <a:latin typeface="Liberation Sans"/>
                </a:rPr>
                <a:t>Conv3x3</a:t>
              </a:r>
            </a:p>
          </p:txBody>
        </p:sp>
        <p:sp>
          <p:nvSpPr>
            <p:cNvPr id="271" name="266 Fusion"/>
            <p:cNvSpPr/>
            <p:nvPr/>
          </p:nvSpPr>
          <p:spPr>
            <a:xfrm>
              <a:off x="3035808" y="5394960"/>
              <a:ext cx="822960" cy="374904"/>
            </a:xfrm>
            <a:prstGeom prst="roundRect">
              <a:avLst>
                <a:gd name="adj" fmla="val 14634"/>
              </a:avLst>
            </a:prstGeom>
            <a:solidFill>
              <a:srgbClr val="EBF4E2"/>
            </a:solidFill>
            <a:ln w="18288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267 Fusion"/>
            <p:cNvSpPr txBox="1"/>
            <p:nvPr/>
          </p:nvSpPr>
          <p:spPr>
            <a:xfrm>
              <a:off x="3054096" y="5445023"/>
              <a:ext cx="786384" cy="28392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55" b="0" i="0">
                  <a:solidFill>
                    <a:srgbClr val="101010"/>
                  </a:solidFill>
                  <a:latin typeface="Liberation Sans"/>
                </a:rPr>
                <a:t>Fusion</a:t>
              </a:r>
            </a:p>
          </p:txBody>
        </p:sp>
        <p:sp>
          <p:nvSpPr>
            <p:cNvPr id="273" name="268 Fusion"/>
            <p:cNvSpPr/>
            <p:nvPr/>
          </p:nvSpPr>
          <p:spPr>
            <a:xfrm>
              <a:off x="3035808" y="7095744"/>
              <a:ext cx="822960" cy="374904"/>
            </a:xfrm>
            <a:prstGeom prst="roundRect">
              <a:avLst>
                <a:gd name="adj" fmla="val 14634"/>
              </a:avLst>
            </a:prstGeom>
            <a:solidFill>
              <a:srgbClr val="EBF4E2"/>
            </a:solidFill>
            <a:ln w="18288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269 Fusion"/>
            <p:cNvSpPr txBox="1"/>
            <p:nvPr/>
          </p:nvSpPr>
          <p:spPr>
            <a:xfrm>
              <a:off x="3054096" y="7145807"/>
              <a:ext cx="786384" cy="283921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55" b="0" i="0">
                  <a:solidFill>
                    <a:srgbClr val="101010"/>
                  </a:solidFill>
                  <a:latin typeface="Liberation Sans"/>
                </a:rPr>
                <a:t>Fusion</a:t>
              </a:r>
            </a:p>
          </p:txBody>
        </p:sp>
        <p:sp>
          <p:nvSpPr>
            <p:cNvPr id="275" name="270 C×H×W"/>
            <p:cNvSpPr txBox="1"/>
            <p:nvPr/>
          </p:nvSpPr>
          <p:spPr>
            <a:xfrm>
              <a:off x="1207008" y="4253789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76" name="271 C×H×W"/>
            <p:cNvSpPr txBox="1"/>
            <p:nvPr/>
          </p:nvSpPr>
          <p:spPr>
            <a:xfrm>
              <a:off x="1207008" y="5104181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77" name="272 C×H×W"/>
            <p:cNvSpPr txBox="1"/>
            <p:nvPr/>
          </p:nvSpPr>
          <p:spPr>
            <a:xfrm>
              <a:off x="1207008" y="5936285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78" name="273 C×H×W"/>
            <p:cNvSpPr txBox="1"/>
            <p:nvPr/>
          </p:nvSpPr>
          <p:spPr>
            <a:xfrm>
              <a:off x="5349240" y="4253789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79" name="274 C×H×W"/>
            <p:cNvSpPr txBox="1"/>
            <p:nvPr/>
          </p:nvSpPr>
          <p:spPr>
            <a:xfrm>
              <a:off x="5349240" y="5104181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80" name="275 C×H×W"/>
            <p:cNvSpPr txBox="1"/>
            <p:nvPr/>
          </p:nvSpPr>
          <p:spPr>
            <a:xfrm>
              <a:off x="3520440" y="5223053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81" name="276 C×H×W"/>
            <p:cNvSpPr txBox="1"/>
            <p:nvPr/>
          </p:nvSpPr>
          <p:spPr>
            <a:xfrm>
              <a:off x="3520440" y="6274613"/>
              <a:ext cx="533538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282" name="277 2C×"/>
            <p:cNvSpPr txBox="1"/>
            <p:nvPr/>
          </p:nvSpPr>
          <p:spPr>
            <a:xfrm>
              <a:off x="1152144" y="6786677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2C×</a:t>
              </a:r>
            </a:p>
          </p:txBody>
        </p:sp>
        <p:sp>
          <p:nvSpPr>
            <p:cNvPr id="283" name="278 H"/>
            <p:cNvSpPr txBox="1"/>
            <p:nvPr/>
          </p:nvSpPr>
          <p:spPr>
            <a:xfrm>
              <a:off x="1412462" y="6732041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284" name="279 Connection"/>
            <p:cNvCxnSpPr/>
            <p:nvPr/>
          </p:nvCxnSpPr>
          <p:spPr>
            <a:xfrm>
              <a:off x="1421606" y="6885432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280 2"/>
            <p:cNvSpPr txBox="1"/>
            <p:nvPr/>
          </p:nvSpPr>
          <p:spPr>
            <a:xfrm>
              <a:off x="1417034" y="6893662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286" name="281 W"/>
            <p:cNvSpPr txBox="1"/>
            <p:nvPr/>
          </p:nvSpPr>
          <p:spPr>
            <a:xfrm>
              <a:off x="1641062" y="6732041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287" name="282 Connection"/>
            <p:cNvCxnSpPr/>
            <p:nvPr/>
          </p:nvCxnSpPr>
          <p:spPr>
            <a:xfrm>
              <a:off x="1650206" y="6885432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283 2"/>
            <p:cNvSpPr txBox="1"/>
            <p:nvPr/>
          </p:nvSpPr>
          <p:spPr>
            <a:xfrm>
              <a:off x="1645634" y="6893662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289" name="284 ×"/>
            <p:cNvSpPr txBox="1"/>
            <p:nvPr/>
          </p:nvSpPr>
          <p:spPr>
            <a:xfrm>
              <a:off x="1549622" y="6799021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290" name="285 2C×"/>
            <p:cNvSpPr txBox="1"/>
            <p:nvPr/>
          </p:nvSpPr>
          <p:spPr>
            <a:xfrm>
              <a:off x="1152144" y="7627925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2C×</a:t>
              </a:r>
            </a:p>
          </p:txBody>
        </p:sp>
        <p:sp>
          <p:nvSpPr>
            <p:cNvPr id="291" name="286 H"/>
            <p:cNvSpPr txBox="1"/>
            <p:nvPr/>
          </p:nvSpPr>
          <p:spPr>
            <a:xfrm>
              <a:off x="1412462" y="7573289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292" name="287 Connection"/>
            <p:cNvCxnSpPr/>
            <p:nvPr/>
          </p:nvCxnSpPr>
          <p:spPr>
            <a:xfrm>
              <a:off x="1421606" y="7726680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288 2"/>
            <p:cNvSpPr txBox="1"/>
            <p:nvPr/>
          </p:nvSpPr>
          <p:spPr>
            <a:xfrm>
              <a:off x="1417034" y="7734910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294" name="289 W"/>
            <p:cNvSpPr txBox="1"/>
            <p:nvPr/>
          </p:nvSpPr>
          <p:spPr>
            <a:xfrm>
              <a:off x="1641062" y="7573289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295" name="290 Connection"/>
            <p:cNvCxnSpPr/>
            <p:nvPr/>
          </p:nvCxnSpPr>
          <p:spPr>
            <a:xfrm>
              <a:off x="1650206" y="7726680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291 2"/>
            <p:cNvSpPr txBox="1"/>
            <p:nvPr/>
          </p:nvSpPr>
          <p:spPr>
            <a:xfrm>
              <a:off x="1645634" y="7734910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297" name="292 ×"/>
            <p:cNvSpPr txBox="1"/>
            <p:nvPr/>
          </p:nvSpPr>
          <p:spPr>
            <a:xfrm>
              <a:off x="1549622" y="7640269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298" name="293 2C×"/>
            <p:cNvSpPr txBox="1"/>
            <p:nvPr/>
          </p:nvSpPr>
          <p:spPr>
            <a:xfrm>
              <a:off x="3465576" y="6823253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2C×</a:t>
              </a:r>
            </a:p>
          </p:txBody>
        </p:sp>
        <p:sp>
          <p:nvSpPr>
            <p:cNvPr id="299" name="294 H"/>
            <p:cNvSpPr txBox="1"/>
            <p:nvPr/>
          </p:nvSpPr>
          <p:spPr>
            <a:xfrm>
              <a:off x="3725894" y="676861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300" name="295 Connection"/>
            <p:cNvCxnSpPr/>
            <p:nvPr/>
          </p:nvCxnSpPr>
          <p:spPr>
            <a:xfrm>
              <a:off x="3735038" y="692200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296 2"/>
            <p:cNvSpPr txBox="1"/>
            <p:nvPr/>
          </p:nvSpPr>
          <p:spPr>
            <a:xfrm>
              <a:off x="3730466" y="693023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02" name="297 W"/>
            <p:cNvSpPr txBox="1"/>
            <p:nvPr/>
          </p:nvSpPr>
          <p:spPr>
            <a:xfrm>
              <a:off x="3954494" y="676861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303" name="298 Connection"/>
            <p:cNvCxnSpPr/>
            <p:nvPr/>
          </p:nvCxnSpPr>
          <p:spPr>
            <a:xfrm>
              <a:off x="3963638" y="692200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299 2"/>
            <p:cNvSpPr txBox="1"/>
            <p:nvPr/>
          </p:nvSpPr>
          <p:spPr>
            <a:xfrm>
              <a:off x="3959066" y="693023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05" name="300 ×"/>
            <p:cNvSpPr txBox="1"/>
            <p:nvPr/>
          </p:nvSpPr>
          <p:spPr>
            <a:xfrm>
              <a:off x="3863054" y="6835597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306" name="301 2C×"/>
            <p:cNvSpPr txBox="1"/>
            <p:nvPr/>
          </p:nvSpPr>
          <p:spPr>
            <a:xfrm>
              <a:off x="3465576" y="7920533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2C×</a:t>
              </a:r>
            </a:p>
          </p:txBody>
        </p:sp>
        <p:sp>
          <p:nvSpPr>
            <p:cNvPr id="307" name="302 H"/>
            <p:cNvSpPr txBox="1"/>
            <p:nvPr/>
          </p:nvSpPr>
          <p:spPr>
            <a:xfrm>
              <a:off x="3725894" y="786589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308" name="303 Connection"/>
            <p:cNvCxnSpPr/>
            <p:nvPr/>
          </p:nvCxnSpPr>
          <p:spPr>
            <a:xfrm>
              <a:off x="3735038" y="801928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304 2"/>
            <p:cNvSpPr txBox="1"/>
            <p:nvPr/>
          </p:nvSpPr>
          <p:spPr>
            <a:xfrm>
              <a:off x="3730466" y="802751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10" name="305 W"/>
            <p:cNvSpPr txBox="1"/>
            <p:nvPr/>
          </p:nvSpPr>
          <p:spPr>
            <a:xfrm>
              <a:off x="3954494" y="786589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311" name="306 Connection"/>
            <p:cNvCxnSpPr/>
            <p:nvPr/>
          </p:nvCxnSpPr>
          <p:spPr>
            <a:xfrm>
              <a:off x="3963638" y="801928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307 2"/>
            <p:cNvSpPr txBox="1"/>
            <p:nvPr/>
          </p:nvSpPr>
          <p:spPr>
            <a:xfrm>
              <a:off x="3959066" y="802751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13" name="308 ×"/>
            <p:cNvSpPr txBox="1"/>
            <p:nvPr/>
          </p:nvSpPr>
          <p:spPr>
            <a:xfrm>
              <a:off x="3863054" y="7932877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314" name="309 2C×"/>
            <p:cNvSpPr txBox="1"/>
            <p:nvPr/>
          </p:nvSpPr>
          <p:spPr>
            <a:xfrm>
              <a:off x="5303520" y="6777533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2C×</a:t>
              </a:r>
            </a:p>
          </p:txBody>
        </p:sp>
        <p:sp>
          <p:nvSpPr>
            <p:cNvPr id="315" name="310 H"/>
            <p:cNvSpPr txBox="1"/>
            <p:nvPr/>
          </p:nvSpPr>
          <p:spPr>
            <a:xfrm>
              <a:off x="5563838" y="672289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316" name="311 Connection"/>
            <p:cNvCxnSpPr/>
            <p:nvPr/>
          </p:nvCxnSpPr>
          <p:spPr>
            <a:xfrm>
              <a:off x="5572982" y="687628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312 2"/>
            <p:cNvSpPr txBox="1"/>
            <p:nvPr/>
          </p:nvSpPr>
          <p:spPr>
            <a:xfrm>
              <a:off x="5568410" y="688451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18" name="313 W"/>
            <p:cNvSpPr txBox="1"/>
            <p:nvPr/>
          </p:nvSpPr>
          <p:spPr>
            <a:xfrm>
              <a:off x="5792438" y="672289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319" name="314 Connection"/>
            <p:cNvCxnSpPr/>
            <p:nvPr/>
          </p:nvCxnSpPr>
          <p:spPr>
            <a:xfrm>
              <a:off x="5801582" y="687628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315 2"/>
            <p:cNvSpPr txBox="1"/>
            <p:nvPr/>
          </p:nvSpPr>
          <p:spPr>
            <a:xfrm>
              <a:off x="5797010" y="688451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21" name="316 ×"/>
            <p:cNvSpPr txBox="1"/>
            <p:nvPr/>
          </p:nvSpPr>
          <p:spPr>
            <a:xfrm>
              <a:off x="5700998" y="6789877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322" name="317 4C×"/>
            <p:cNvSpPr txBox="1"/>
            <p:nvPr/>
          </p:nvSpPr>
          <p:spPr>
            <a:xfrm>
              <a:off x="1152144" y="8514893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4C×</a:t>
              </a:r>
            </a:p>
          </p:txBody>
        </p:sp>
        <p:sp>
          <p:nvSpPr>
            <p:cNvPr id="323" name="318 H"/>
            <p:cNvSpPr txBox="1"/>
            <p:nvPr/>
          </p:nvSpPr>
          <p:spPr>
            <a:xfrm>
              <a:off x="1412462" y="846025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324" name="319 Connection"/>
            <p:cNvCxnSpPr/>
            <p:nvPr/>
          </p:nvCxnSpPr>
          <p:spPr>
            <a:xfrm>
              <a:off x="1421606" y="861364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320 4"/>
            <p:cNvSpPr txBox="1"/>
            <p:nvPr/>
          </p:nvSpPr>
          <p:spPr>
            <a:xfrm>
              <a:off x="1417034" y="862187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326" name="321 W"/>
            <p:cNvSpPr txBox="1"/>
            <p:nvPr/>
          </p:nvSpPr>
          <p:spPr>
            <a:xfrm>
              <a:off x="1641062" y="846025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327" name="322 Connection"/>
            <p:cNvCxnSpPr/>
            <p:nvPr/>
          </p:nvCxnSpPr>
          <p:spPr>
            <a:xfrm>
              <a:off x="1650206" y="861364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323 4"/>
            <p:cNvSpPr txBox="1"/>
            <p:nvPr/>
          </p:nvSpPr>
          <p:spPr>
            <a:xfrm>
              <a:off x="1645634" y="862187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329" name="324 ×"/>
            <p:cNvSpPr txBox="1"/>
            <p:nvPr/>
          </p:nvSpPr>
          <p:spPr>
            <a:xfrm>
              <a:off x="1549622" y="8527237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  <p:sp>
          <p:nvSpPr>
            <p:cNvPr id="330" name="325 4C×"/>
            <p:cNvSpPr txBox="1"/>
            <p:nvPr/>
          </p:nvSpPr>
          <p:spPr>
            <a:xfrm>
              <a:off x="5303520" y="8514893"/>
              <a:ext cx="280435" cy="1975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888888"/>
                  </a:solidFill>
                  <a:latin typeface="Liberation Serif"/>
                </a:rPr>
                <a:t>4C×</a:t>
              </a:r>
            </a:p>
          </p:txBody>
        </p:sp>
        <p:sp>
          <p:nvSpPr>
            <p:cNvPr id="331" name="326 H"/>
            <p:cNvSpPr txBox="1"/>
            <p:nvPr/>
          </p:nvSpPr>
          <p:spPr>
            <a:xfrm>
              <a:off x="5563838" y="846025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H</a:t>
              </a:r>
            </a:p>
          </p:txBody>
        </p:sp>
        <p:cxnSp>
          <p:nvCxnSpPr>
            <p:cNvPr id="332" name="327 Connection"/>
            <p:cNvCxnSpPr/>
            <p:nvPr/>
          </p:nvCxnSpPr>
          <p:spPr>
            <a:xfrm>
              <a:off x="5572982" y="861364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328 4"/>
            <p:cNvSpPr txBox="1"/>
            <p:nvPr/>
          </p:nvSpPr>
          <p:spPr>
            <a:xfrm>
              <a:off x="5568410" y="862187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334" name="329 W"/>
            <p:cNvSpPr txBox="1"/>
            <p:nvPr/>
          </p:nvSpPr>
          <p:spPr>
            <a:xfrm>
              <a:off x="5792438" y="8460257"/>
              <a:ext cx="146304" cy="160477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6" b="0" i="1">
                  <a:solidFill>
                    <a:srgbClr val="888888"/>
                  </a:solidFill>
                  <a:latin typeface="Liberation Serif"/>
                </a:rPr>
                <a:t>W</a:t>
              </a:r>
            </a:p>
          </p:txBody>
        </p:sp>
        <p:cxnSp>
          <p:nvCxnSpPr>
            <p:cNvPr id="335" name="330 Connection"/>
            <p:cNvCxnSpPr/>
            <p:nvPr/>
          </p:nvCxnSpPr>
          <p:spPr>
            <a:xfrm>
              <a:off x="5801582" y="8613648"/>
              <a:ext cx="128016" cy="0"/>
            </a:xfrm>
            <a:prstGeom prst="line">
              <a:avLst/>
            </a:prstGeom>
            <a:ln w="7315">
              <a:solidFill>
                <a:srgbClr val="88888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331 4"/>
            <p:cNvSpPr txBox="1"/>
            <p:nvPr/>
          </p:nvSpPr>
          <p:spPr>
            <a:xfrm>
              <a:off x="5797010" y="8621878"/>
              <a:ext cx="137160" cy="14813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64" b="0" i="0">
                  <a:solidFill>
                    <a:srgbClr val="888888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337" name="332 ×"/>
            <p:cNvSpPr txBox="1"/>
            <p:nvPr/>
          </p:nvSpPr>
          <p:spPr>
            <a:xfrm>
              <a:off x="5700998" y="8527237"/>
              <a:ext cx="109728" cy="172822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888888"/>
                  </a:solidFill>
                  <a:latin typeface="Liberation Serif"/>
                </a:rPr>
                <a:t>×</a:t>
              </a:r>
            </a:p>
          </p:txBody>
        </p:sp>
      </p:grpSp>
      <p:grpSp>
        <p:nvGrpSpPr>
          <p:cNvPr id="338" name="d-spectral-attention"/>
          <p:cNvGrpSpPr/>
          <p:nvPr/>
        </p:nvGrpSpPr>
        <p:grpSpPr>
          <a:xfrm>
            <a:off x="6291072" y="6272784"/>
            <a:ext cx="10826496" cy="3255264"/>
            <a:chOff x="6291072" y="6272784"/>
            <a:chExt cx="10826496" cy="3255264"/>
          </a:xfrm>
        </p:grpSpPr>
        <p:sp>
          <p:nvSpPr>
            <p:cNvPr id="339" name="333 Panel d background"/>
            <p:cNvSpPr/>
            <p:nvPr/>
          </p:nvSpPr>
          <p:spPr>
            <a:xfrm>
              <a:off x="6291072" y="6272784"/>
              <a:ext cx="10826496" cy="3255264"/>
            </a:xfrm>
            <a:prstGeom prst="roundRect">
              <a:avLst>
                <a:gd name="adj" fmla="val 4775"/>
              </a:avLst>
            </a:prstGeom>
            <a:solidFill>
              <a:srgbClr val="FCF3EA"/>
            </a:solidFill>
            <a:ln w="15544">
              <a:solidFill>
                <a:srgbClr val="EBCB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334 (d)"/>
            <p:cNvSpPr txBox="1"/>
            <p:nvPr/>
          </p:nvSpPr>
          <p:spPr>
            <a:xfrm>
              <a:off x="6345936" y="6368339"/>
              <a:ext cx="314582" cy="32095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101010"/>
                  </a:solidFill>
                  <a:latin typeface="Liberation Sans"/>
                </a:rPr>
                <a:t>(d)</a:t>
              </a:r>
            </a:p>
          </p:txBody>
        </p:sp>
        <p:cxnSp>
          <p:nvCxnSpPr>
            <p:cNvPr id="341" name="335 Attention input"/>
            <p:cNvCxnSpPr/>
            <p:nvPr/>
          </p:nvCxnSpPr>
          <p:spPr>
            <a:xfrm>
              <a:off x="6565392" y="8037576"/>
              <a:ext cx="512064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336 Attention input arrow"/>
            <p:cNvSpPr/>
            <p:nvPr/>
          </p:nvSpPr>
          <p:spPr>
            <a:xfrm>
              <a:off x="6990588" y="7993685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3" name="337 Attention residual bypass"/>
            <p:cNvCxnSpPr/>
            <p:nvPr/>
          </p:nvCxnSpPr>
          <p:spPr>
            <a:xfrm flipV="1">
              <a:off x="6757416" y="6574536"/>
              <a:ext cx="0" cy="146304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338 Attention residual bypass"/>
            <p:cNvCxnSpPr/>
            <p:nvPr/>
          </p:nvCxnSpPr>
          <p:spPr>
            <a:xfrm>
              <a:off x="6757416" y="6574536"/>
              <a:ext cx="975664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339 Attention residual bypass"/>
            <p:cNvCxnSpPr/>
            <p:nvPr/>
          </p:nvCxnSpPr>
          <p:spPr>
            <a:xfrm>
              <a:off x="16514064" y="6574536"/>
              <a:ext cx="0" cy="228600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340 Attention residual bypass arrow"/>
            <p:cNvSpPr/>
            <p:nvPr/>
          </p:nvSpPr>
          <p:spPr>
            <a:xfrm>
              <a:off x="16470173" y="8773668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7" name="341 Q branch"/>
            <p:cNvCxnSpPr/>
            <p:nvPr/>
          </p:nvCxnSpPr>
          <p:spPr>
            <a:xfrm>
              <a:off x="7470648" y="8037576"/>
              <a:ext cx="256032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342 Q branch"/>
            <p:cNvCxnSpPr/>
            <p:nvPr/>
          </p:nvCxnSpPr>
          <p:spPr>
            <a:xfrm flipV="1">
              <a:off x="7726680" y="7159752"/>
              <a:ext cx="0" cy="877824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343 Q branch"/>
            <p:cNvCxnSpPr/>
            <p:nvPr/>
          </p:nvCxnSpPr>
          <p:spPr>
            <a:xfrm>
              <a:off x="7726680" y="7159752"/>
              <a:ext cx="33832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344 Q branch arrow"/>
            <p:cNvSpPr/>
            <p:nvPr/>
          </p:nvSpPr>
          <p:spPr>
            <a:xfrm>
              <a:off x="7978140" y="7115861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1" name="345 K branch"/>
            <p:cNvCxnSpPr/>
            <p:nvPr/>
          </p:nvCxnSpPr>
          <p:spPr>
            <a:xfrm>
              <a:off x="7470648" y="8037576"/>
              <a:ext cx="594360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346 K branch arrow"/>
            <p:cNvSpPr/>
            <p:nvPr/>
          </p:nvSpPr>
          <p:spPr>
            <a:xfrm>
              <a:off x="7978140" y="7993685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3" name="347 V branch"/>
            <p:cNvCxnSpPr/>
            <p:nvPr/>
          </p:nvCxnSpPr>
          <p:spPr>
            <a:xfrm>
              <a:off x="7726680" y="8037576"/>
              <a:ext cx="0" cy="969264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348 V branch"/>
            <p:cNvCxnSpPr/>
            <p:nvPr/>
          </p:nvCxnSpPr>
          <p:spPr>
            <a:xfrm>
              <a:off x="7726680" y="9006840"/>
              <a:ext cx="33832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349 V branch arrow"/>
            <p:cNvSpPr/>
            <p:nvPr/>
          </p:nvSpPr>
          <p:spPr>
            <a:xfrm>
              <a:off x="7978140" y="896294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6" name="350 Query to correlation"/>
            <p:cNvCxnSpPr/>
            <p:nvPr/>
          </p:nvCxnSpPr>
          <p:spPr>
            <a:xfrm>
              <a:off x="8458200" y="7159752"/>
              <a:ext cx="74980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351 Query to correlation"/>
            <p:cNvCxnSpPr/>
            <p:nvPr/>
          </p:nvCxnSpPr>
          <p:spPr>
            <a:xfrm>
              <a:off x="9208008" y="7159752"/>
              <a:ext cx="0" cy="292608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352 Query to correlation arrow"/>
            <p:cNvSpPr/>
            <p:nvPr/>
          </p:nvSpPr>
          <p:spPr>
            <a:xfrm>
              <a:off x="9164117" y="7365492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9" name="353 Key to correlation"/>
            <p:cNvCxnSpPr/>
            <p:nvPr/>
          </p:nvCxnSpPr>
          <p:spPr>
            <a:xfrm>
              <a:off x="8458200" y="8074152"/>
              <a:ext cx="74980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354 Key to correlation"/>
            <p:cNvCxnSpPr/>
            <p:nvPr/>
          </p:nvCxnSpPr>
          <p:spPr>
            <a:xfrm flipV="1">
              <a:off x="9208008" y="7827264"/>
              <a:ext cx="0" cy="246888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355 Key to correlation arrow"/>
            <p:cNvSpPr/>
            <p:nvPr/>
          </p:nvSpPr>
          <p:spPr>
            <a:xfrm>
              <a:off x="9164117" y="7827264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0"/>
                  </a:moveTo>
                  <a:lnTo>
                    <a:pt x="87782" y="86868"/>
                  </a:lnTo>
                  <a:lnTo>
                    <a:pt x="0" y="86868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2" name="356 Correlation matrix"/>
            <p:cNvCxnSpPr/>
            <p:nvPr/>
          </p:nvCxnSpPr>
          <p:spPr>
            <a:xfrm>
              <a:off x="9354312" y="7635240"/>
              <a:ext cx="265176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357 Correlation matrix arrow"/>
            <p:cNvSpPr/>
            <p:nvPr/>
          </p:nvSpPr>
          <p:spPr>
            <a:xfrm>
              <a:off x="9532620" y="759134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4" name="358 Correlation to mask"/>
            <p:cNvCxnSpPr/>
            <p:nvPr/>
          </p:nvCxnSpPr>
          <p:spPr>
            <a:xfrm>
              <a:off x="10524744" y="7635240"/>
              <a:ext cx="274320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359 Correlation to mask arrow"/>
            <p:cNvSpPr/>
            <p:nvPr/>
          </p:nvSpPr>
          <p:spPr>
            <a:xfrm>
              <a:off x="10712196" y="759134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6" name="360 Masked attention matrices"/>
            <p:cNvCxnSpPr/>
            <p:nvPr/>
          </p:nvCxnSpPr>
          <p:spPr>
            <a:xfrm>
              <a:off x="11256264" y="7635240"/>
              <a:ext cx="301752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361 Masked attention matrices arrow"/>
            <p:cNvSpPr/>
            <p:nvPr/>
          </p:nvSpPr>
          <p:spPr>
            <a:xfrm>
              <a:off x="11471148" y="759134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8" name="362 Top-k mask one"/>
            <p:cNvCxnSpPr/>
            <p:nvPr/>
          </p:nvCxnSpPr>
          <p:spPr>
            <a:xfrm>
              <a:off x="12600432" y="6976872"/>
              <a:ext cx="283464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363 Top-k mask one arrow"/>
            <p:cNvSpPr/>
            <p:nvPr/>
          </p:nvSpPr>
          <p:spPr>
            <a:xfrm>
              <a:off x="12797028" y="6932981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0" name="364 Top-k mask two"/>
            <p:cNvCxnSpPr/>
            <p:nvPr/>
          </p:nvCxnSpPr>
          <p:spPr>
            <a:xfrm>
              <a:off x="12746736" y="7306056"/>
              <a:ext cx="283464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365 Top-k mask two arrow"/>
            <p:cNvSpPr/>
            <p:nvPr/>
          </p:nvSpPr>
          <p:spPr>
            <a:xfrm>
              <a:off x="12943332" y="7262165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2" name="366 Top-k mask final"/>
            <p:cNvCxnSpPr/>
            <p:nvPr/>
          </p:nvCxnSpPr>
          <p:spPr>
            <a:xfrm>
              <a:off x="12920472" y="7955280"/>
              <a:ext cx="24688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3" name="367 Top-k mask final arrow"/>
            <p:cNvSpPr/>
            <p:nvPr/>
          </p:nvSpPr>
          <p:spPr>
            <a:xfrm>
              <a:off x="13080492" y="7911389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4" name="368 Normalized attention weights"/>
            <p:cNvCxnSpPr/>
            <p:nvPr/>
          </p:nvCxnSpPr>
          <p:spPr>
            <a:xfrm>
              <a:off x="13633704" y="7653528"/>
              <a:ext cx="658368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369 Normalized attention weights"/>
            <p:cNvCxnSpPr/>
            <p:nvPr/>
          </p:nvCxnSpPr>
          <p:spPr>
            <a:xfrm>
              <a:off x="14292072" y="7653528"/>
              <a:ext cx="0" cy="1207008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370 Normalized attention weights arrow"/>
            <p:cNvSpPr/>
            <p:nvPr/>
          </p:nvSpPr>
          <p:spPr>
            <a:xfrm>
              <a:off x="14248181" y="8773668"/>
              <a:ext cx="87782" cy="86868"/>
            </a:xfrm>
            <a:custGeom>
              <a:avLst/>
              <a:gdLst/>
              <a:ahLst/>
              <a:cxnLst/>
              <a:rect l="l" t="t" r="r" b="b"/>
              <a:pathLst>
                <a:path w="87782" h="86868">
                  <a:moveTo>
                    <a:pt x="43891" y="86868"/>
                  </a:moveTo>
                  <a:lnTo>
                    <a:pt x="0" y="0"/>
                  </a:lnTo>
                  <a:lnTo>
                    <a:pt x="87782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7" name="371 Values to attention product"/>
            <p:cNvCxnSpPr/>
            <p:nvPr/>
          </p:nvCxnSpPr>
          <p:spPr>
            <a:xfrm>
              <a:off x="8458200" y="9025128"/>
              <a:ext cx="5669280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372 Values to attention product arrow"/>
            <p:cNvSpPr/>
            <p:nvPr/>
          </p:nvSpPr>
          <p:spPr>
            <a:xfrm>
              <a:off x="14040612" y="8981237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9" name="373 Attention to weighted sum"/>
            <p:cNvCxnSpPr/>
            <p:nvPr/>
          </p:nvCxnSpPr>
          <p:spPr>
            <a:xfrm>
              <a:off x="14438376" y="9025128"/>
              <a:ext cx="493776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0" name="374 Attention to weighted sum arrow"/>
            <p:cNvSpPr/>
            <p:nvPr/>
          </p:nvSpPr>
          <p:spPr>
            <a:xfrm>
              <a:off x="14845284" y="8981237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1" name="375 Weighted sum to projection"/>
            <p:cNvCxnSpPr/>
            <p:nvPr/>
          </p:nvCxnSpPr>
          <p:spPr>
            <a:xfrm>
              <a:off x="15316200" y="9025128"/>
              <a:ext cx="393192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" name="376 Weighted sum to projection arrow"/>
            <p:cNvSpPr/>
            <p:nvPr/>
          </p:nvSpPr>
          <p:spPr>
            <a:xfrm>
              <a:off x="15622524" y="8981237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3" name="377 Attention output"/>
            <p:cNvCxnSpPr/>
            <p:nvPr/>
          </p:nvCxnSpPr>
          <p:spPr>
            <a:xfrm>
              <a:off x="16093440" y="9025128"/>
              <a:ext cx="850392" cy="0"/>
            </a:xfrm>
            <a:prstGeom prst="line">
              <a:avLst/>
            </a:prstGeom>
            <a:ln w="23774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378 Attention output arrow"/>
            <p:cNvSpPr/>
            <p:nvPr/>
          </p:nvSpPr>
          <p:spPr>
            <a:xfrm>
              <a:off x="16856964" y="8981237"/>
              <a:ext cx="86868" cy="87782"/>
            </a:xfrm>
            <a:custGeom>
              <a:avLst/>
              <a:gdLst/>
              <a:ahLst/>
              <a:cxnLst/>
              <a:rect l="l" t="t" r="r" b="b"/>
              <a:pathLst>
                <a:path w="86868" h="87782">
                  <a:moveTo>
                    <a:pt x="86868" y="43891"/>
                  </a:moveTo>
                  <a:lnTo>
                    <a:pt x="0" y="87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379 Attention LN"/>
            <p:cNvSpPr/>
            <p:nvPr/>
          </p:nvSpPr>
          <p:spPr>
            <a:xfrm>
              <a:off x="7077456" y="7662672"/>
              <a:ext cx="393192" cy="768096"/>
            </a:xfrm>
            <a:prstGeom prst="roundRect">
              <a:avLst>
                <a:gd name="adj" fmla="val 16279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380 LN"/>
            <p:cNvSpPr txBox="1"/>
            <p:nvPr/>
          </p:nvSpPr>
          <p:spPr>
            <a:xfrm rot="16200000">
              <a:off x="6917436" y="7892415"/>
              <a:ext cx="713232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LN</a:t>
              </a:r>
            </a:p>
          </p:txBody>
        </p:sp>
        <p:sp>
          <p:nvSpPr>
            <p:cNvPr id="387" name="381 Attention 1X1"/>
            <p:cNvSpPr/>
            <p:nvPr/>
          </p:nvSpPr>
          <p:spPr>
            <a:xfrm>
              <a:off x="8065008" y="6812280"/>
              <a:ext cx="393192" cy="722376"/>
            </a:xfrm>
            <a:prstGeom prst="roundRect">
              <a:avLst>
                <a:gd name="adj" fmla="val 16279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382 1X1"/>
            <p:cNvSpPr txBox="1"/>
            <p:nvPr/>
          </p:nvSpPr>
          <p:spPr>
            <a:xfrm rot="16200000">
              <a:off x="7927848" y="7019163"/>
              <a:ext cx="667512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1X1</a:t>
              </a:r>
            </a:p>
          </p:txBody>
        </p:sp>
        <p:sp>
          <p:nvSpPr>
            <p:cNvPr id="389" name="383 Attention 1X1"/>
            <p:cNvSpPr/>
            <p:nvPr/>
          </p:nvSpPr>
          <p:spPr>
            <a:xfrm>
              <a:off x="8065008" y="7717536"/>
              <a:ext cx="393192" cy="722376"/>
            </a:xfrm>
            <a:prstGeom prst="roundRect">
              <a:avLst>
                <a:gd name="adj" fmla="val 16279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384 1X1"/>
            <p:cNvSpPr txBox="1"/>
            <p:nvPr/>
          </p:nvSpPr>
          <p:spPr>
            <a:xfrm rot="16200000">
              <a:off x="7927848" y="7924419"/>
              <a:ext cx="667512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1X1</a:t>
              </a:r>
            </a:p>
          </p:txBody>
        </p:sp>
        <p:sp>
          <p:nvSpPr>
            <p:cNvPr id="391" name="385 Attention 1X1"/>
            <p:cNvSpPr/>
            <p:nvPr/>
          </p:nvSpPr>
          <p:spPr>
            <a:xfrm>
              <a:off x="8065008" y="8641080"/>
              <a:ext cx="393192" cy="722376"/>
            </a:xfrm>
            <a:prstGeom prst="roundRect">
              <a:avLst>
                <a:gd name="adj" fmla="val 16279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386 1X1"/>
            <p:cNvSpPr txBox="1"/>
            <p:nvPr/>
          </p:nvSpPr>
          <p:spPr>
            <a:xfrm rot="16200000">
              <a:off x="7927848" y="8847963"/>
              <a:ext cx="667512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1X1</a:t>
              </a:r>
            </a:p>
          </p:txBody>
        </p:sp>
        <p:sp>
          <p:nvSpPr>
            <p:cNvPr id="393" name="387 Attention Mask"/>
            <p:cNvSpPr/>
            <p:nvPr/>
          </p:nvSpPr>
          <p:spPr>
            <a:xfrm>
              <a:off x="10844784" y="7159752"/>
              <a:ext cx="393192" cy="969264"/>
            </a:xfrm>
            <a:prstGeom prst="roundRect">
              <a:avLst>
                <a:gd name="adj" fmla="val 16279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388 Mask"/>
            <p:cNvSpPr txBox="1"/>
            <p:nvPr/>
          </p:nvSpPr>
          <p:spPr>
            <a:xfrm rot="16200000">
              <a:off x="10584180" y="7490079"/>
              <a:ext cx="914400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Mask</a:t>
              </a:r>
            </a:p>
          </p:txBody>
        </p:sp>
        <p:sp>
          <p:nvSpPr>
            <p:cNvPr id="395" name="389 Attention Softmax"/>
            <p:cNvSpPr/>
            <p:nvPr/>
          </p:nvSpPr>
          <p:spPr>
            <a:xfrm>
              <a:off x="13240512" y="6931152"/>
              <a:ext cx="393192" cy="1463040"/>
            </a:xfrm>
            <a:prstGeom prst="roundRect">
              <a:avLst>
                <a:gd name="adj" fmla="val 16279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390 Softmax"/>
            <p:cNvSpPr txBox="1"/>
            <p:nvPr/>
          </p:nvSpPr>
          <p:spPr>
            <a:xfrm rot="16200000">
              <a:off x="12733020" y="7508367"/>
              <a:ext cx="1408176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Softmax</a:t>
              </a:r>
            </a:p>
          </p:txBody>
        </p:sp>
        <p:sp>
          <p:nvSpPr>
            <p:cNvPr id="397" name="391 Attention 1X1"/>
            <p:cNvSpPr/>
            <p:nvPr/>
          </p:nvSpPr>
          <p:spPr>
            <a:xfrm>
              <a:off x="15745968" y="8659368"/>
              <a:ext cx="347472" cy="713232"/>
            </a:xfrm>
            <a:prstGeom prst="roundRect">
              <a:avLst>
                <a:gd name="adj" fmla="val 18421"/>
              </a:avLst>
            </a:prstGeom>
            <a:solidFill>
              <a:srgbClr val="FCF3EA"/>
            </a:solidFill>
            <a:ln w="22859">
              <a:solidFill>
                <a:srgbClr val="13364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392 1X1"/>
            <p:cNvSpPr txBox="1"/>
            <p:nvPr/>
          </p:nvSpPr>
          <p:spPr>
            <a:xfrm rot="16200000">
              <a:off x="15590520" y="8861679"/>
              <a:ext cx="658368" cy="308610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101010"/>
                  </a:solidFill>
                  <a:latin typeface="Liberation Sans"/>
                </a:rPr>
                <a:t>1X1</a:t>
              </a:r>
            </a:p>
          </p:txBody>
        </p:sp>
        <p:sp>
          <p:nvSpPr>
            <p:cNvPr id="399" name="393 Q"/>
            <p:cNvSpPr txBox="1"/>
            <p:nvPr/>
          </p:nvSpPr>
          <p:spPr>
            <a:xfrm>
              <a:off x="8641080" y="6776390"/>
              <a:ext cx="231465" cy="38267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101010"/>
                  </a:solidFill>
                  <a:latin typeface="Liberation Sans"/>
                </a:rPr>
                <a:t>Q</a:t>
              </a:r>
            </a:p>
          </p:txBody>
        </p:sp>
        <p:sp>
          <p:nvSpPr>
            <p:cNvPr id="400" name="394 K"/>
            <p:cNvSpPr txBox="1"/>
            <p:nvPr/>
          </p:nvSpPr>
          <p:spPr>
            <a:xfrm>
              <a:off x="8641080" y="7663358"/>
              <a:ext cx="200032" cy="38267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101010"/>
                  </a:solidFill>
                  <a:latin typeface="Liberation Sans"/>
                </a:rPr>
                <a:t>K</a:t>
              </a:r>
            </a:p>
          </p:txBody>
        </p:sp>
        <p:sp>
          <p:nvSpPr>
            <p:cNvPr id="401" name="395 V"/>
            <p:cNvSpPr txBox="1"/>
            <p:nvPr/>
          </p:nvSpPr>
          <p:spPr>
            <a:xfrm>
              <a:off x="8622792" y="8614334"/>
              <a:ext cx="200032" cy="382676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101010"/>
                  </a:solidFill>
                  <a:latin typeface="Liberation Sans"/>
                </a:rPr>
                <a:t>V</a:t>
              </a:r>
            </a:p>
          </p:txBody>
        </p:sp>
        <p:sp>
          <p:nvSpPr>
            <p:cNvPr id="402" name="396 multiply"/>
            <p:cNvSpPr/>
            <p:nvPr/>
          </p:nvSpPr>
          <p:spPr>
            <a:xfrm>
              <a:off x="9070848" y="7498080"/>
              <a:ext cx="274320" cy="274320"/>
            </a:xfrm>
            <a:prstGeom prst="ellipse">
              <a:avLst/>
            </a:prstGeom>
            <a:solidFill>
              <a:srgbClr val="FCF3EA"/>
            </a:solidFill>
            <a:ln w="21031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3" name="397 Connection"/>
            <p:cNvCxnSpPr/>
            <p:nvPr/>
          </p:nvCxnSpPr>
          <p:spPr>
            <a:xfrm>
              <a:off x="9116111" y="7543343"/>
              <a:ext cx="183794" cy="183794"/>
            </a:xfrm>
            <a:prstGeom prst="line">
              <a:avLst/>
            </a:prstGeom>
            <a:ln w="21031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398 Connection"/>
            <p:cNvCxnSpPr/>
            <p:nvPr/>
          </p:nvCxnSpPr>
          <p:spPr>
            <a:xfrm flipV="1">
              <a:off x="9116111" y="7543343"/>
              <a:ext cx="183794" cy="183794"/>
            </a:xfrm>
            <a:prstGeom prst="line">
              <a:avLst/>
            </a:prstGeom>
            <a:ln w="21031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5" name="399 multiply"/>
            <p:cNvSpPr/>
            <p:nvPr/>
          </p:nvSpPr>
          <p:spPr>
            <a:xfrm>
              <a:off x="14154912" y="8887968"/>
              <a:ext cx="274320" cy="274320"/>
            </a:xfrm>
            <a:prstGeom prst="ellipse">
              <a:avLst/>
            </a:prstGeom>
            <a:solidFill>
              <a:srgbClr val="FCF3EA"/>
            </a:solidFill>
            <a:ln w="21031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6" name="400 Connection"/>
            <p:cNvCxnSpPr/>
            <p:nvPr/>
          </p:nvCxnSpPr>
          <p:spPr>
            <a:xfrm>
              <a:off x="14200175" y="8933231"/>
              <a:ext cx="183794" cy="183794"/>
            </a:xfrm>
            <a:prstGeom prst="line">
              <a:avLst/>
            </a:prstGeom>
            <a:ln w="21031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401 Connection"/>
            <p:cNvCxnSpPr/>
            <p:nvPr/>
          </p:nvCxnSpPr>
          <p:spPr>
            <a:xfrm flipV="1">
              <a:off x="14200175" y="8933231"/>
              <a:ext cx="183794" cy="183794"/>
            </a:xfrm>
            <a:prstGeom prst="line">
              <a:avLst/>
            </a:prstGeom>
            <a:ln w="21031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402 weighted"/>
            <p:cNvSpPr/>
            <p:nvPr/>
          </p:nvSpPr>
          <p:spPr>
            <a:xfrm>
              <a:off x="14968728" y="8869680"/>
              <a:ext cx="310896" cy="310896"/>
            </a:xfrm>
            <a:prstGeom prst="ellipse">
              <a:avLst/>
            </a:prstGeom>
            <a:solidFill>
              <a:srgbClr val="FCF3EA"/>
            </a:solidFill>
            <a:ln w="21031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403 Σ"/>
            <p:cNvSpPr txBox="1"/>
            <p:nvPr/>
          </p:nvSpPr>
          <p:spPr>
            <a:xfrm>
              <a:off x="14968728" y="8846751"/>
              <a:ext cx="310896" cy="356753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80" b="0" i="0">
                  <a:solidFill>
                    <a:srgbClr val="101010"/>
                  </a:solidFill>
                  <a:latin typeface="Liberation Serif"/>
                </a:rPr>
                <a:t>Σ</a:t>
              </a:r>
            </a:p>
          </p:txBody>
        </p:sp>
        <p:sp>
          <p:nvSpPr>
            <p:cNvPr id="410" name="404 sum"/>
            <p:cNvSpPr/>
            <p:nvPr/>
          </p:nvSpPr>
          <p:spPr>
            <a:xfrm>
              <a:off x="16386048" y="8897112"/>
              <a:ext cx="256032" cy="256032"/>
            </a:xfrm>
            <a:prstGeom prst="ellipse">
              <a:avLst/>
            </a:prstGeom>
            <a:solidFill>
              <a:srgbClr val="FCF3EA"/>
            </a:solidFill>
            <a:ln w="21031">
              <a:solidFill>
                <a:srgbClr val="1010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1" name="405 Connection"/>
            <p:cNvCxnSpPr/>
            <p:nvPr/>
          </p:nvCxnSpPr>
          <p:spPr>
            <a:xfrm>
              <a:off x="16404336" y="9025128"/>
              <a:ext cx="219456" cy="0"/>
            </a:xfrm>
            <a:prstGeom prst="line">
              <a:avLst/>
            </a:prstGeom>
            <a:ln w="21031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406 Connection"/>
            <p:cNvCxnSpPr/>
            <p:nvPr/>
          </p:nvCxnSpPr>
          <p:spPr>
            <a:xfrm>
              <a:off x="16514064" y="8915400"/>
              <a:ext cx="0" cy="219456"/>
            </a:xfrm>
            <a:prstGeom prst="line">
              <a:avLst/>
            </a:prstGeom>
            <a:ln w="21031">
              <a:solidFill>
                <a:srgbClr val="10101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3" name="407 d-correlation-texture" descr="d-correlation-textur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46920" y="7196328"/>
              <a:ext cx="886968" cy="886968"/>
            </a:xfrm>
            <a:prstGeom prst="rect">
              <a:avLst/>
            </a:prstGeom>
            <a:effectLst/>
          </p:spPr>
        </p:pic>
        <p:sp>
          <p:nvSpPr>
            <p:cNvPr id="414" name="408 Correlation matrix frame"/>
            <p:cNvSpPr/>
            <p:nvPr/>
          </p:nvSpPr>
          <p:spPr>
            <a:xfrm>
              <a:off x="9651492" y="7200900"/>
              <a:ext cx="868680" cy="868680"/>
            </a:xfrm>
            <a:prstGeom prst="rect">
              <a:avLst/>
            </a:prstGeom>
            <a:noFill/>
            <a:ln w="9144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5" name="409 d-mask-texture-1" descr="d-mask-texture-1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622024" y="6885432"/>
              <a:ext cx="896112" cy="905256"/>
            </a:xfrm>
            <a:prstGeom prst="rect">
              <a:avLst/>
            </a:prstGeom>
            <a:effectLst/>
          </p:spPr>
        </p:pic>
        <p:sp>
          <p:nvSpPr>
            <p:cNvPr id="416" name="410 First masked matrix frame"/>
            <p:cNvSpPr/>
            <p:nvPr/>
          </p:nvSpPr>
          <p:spPr>
            <a:xfrm>
              <a:off x="11626596" y="6890004"/>
              <a:ext cx="877824" cy="886968"/>
            </a:xfrm>
            <a:prstGeom prst="rect">
              <a:avLst/>
            </a:prstGeom>
            <a:noFill/>
            <a:ln w="10058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7" name="411 d-mask-texture-2" descr="d-mask-texture-2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768328" y="7050024"/>
              <a:ext cx="896112" cy="923544"/>
            </a:xfrm>
            <a:prstGeom prst="rect">
              <a:avLst/>
            </a:prstGeom>
            <a:effectLst/>
          </p:spPr>
        </p:pic>
        <p:sp>
          <p:nvSpPr>
            <p:cNvPr id="418" name="412 Second masked matrix frame"/>
            <p:cNvSpPr/>
            <p:nvPr/>
          </p:nvSpPr>
          <p:spPr>
            <a:xfrm>
              <a:off x="11772900" y="7054596"/>
              <a:ext cx="877824" cy="905256"/>
            </a:xfrm>
            <a:prstGeom prst="rect">
              <a:avLst/>
            </a:prstGeom>
            <a:noFill/>
            <a:ln w="10058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9" name="413 d-mask-texture-3" descr="d-mask-texture-3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996928" y="7488936"/>
              <a:ext cx="896112" cy="905256"/>
            </a:xfrm>
            <a:prstGeom prst="rect">
              <a:avLst/>
            </a:prstGeom>
            <a:effectLst/>
          </p:spPr>
        </p:pic>
        <p:sp>
          <p:nvSpPr>
            <p:cNvPr id="420" name="414 Final masked matrix frame"/>
            <p:cNvSpPr/>
            <p:nvPr/>
          </p:nvSpPr>
          <p:spPr>
            <a:xfrm>
              <a:off x="11996928" y="7488936"/>
              <a:ext cx="886968" cy="896112"/>
            </a:xfrm>
            <a:prstGeom prst="rect">
              <a:avLst/>
            </a:prstGeom>
            <a:noFill/>
            <a:ln w="10058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415 Mask stack ellipsis"/>
            <p:cNvSpPr/>
            <p:nvPr/>
          </p:nvSpPr>
          <p:spPr>
            <a:xfrm>
              <a:off x="11853367" y="8003743"/>
              <a:ext cx="31090" cy="31090"/>
            </a:xfrm>
            <a:prstGeom prst="ellipse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416 Mask stack ellipsis"/>
            <p:cNvSpPr/>
            <p:nvPr/>
          </p:nvSpPr>
          <p:spPr>
            <a:xfrm>
              <a:off x="11899087" y="8067751"/>
              <a:ext cx="31090" cy="31090"/>
            </a:xfrm>
            <a:prstGeom prst="ellipse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417 Mask stack ellipsis"/>
            <p:cNvSpPr/>
            <p:nvPr/>
          </p:nvSpPr>
          <p:spPr>
            <a:xfrm>
              <a:off x="11935663" y="8131759"/>
              <a:ext cx="31090" cy="31090"/>
            </a:xfrm>
            <a:prstGeom prst="ellipse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418 C×H×W"/>
            <p:cNvSpPr txBox="1"/>
            <p:nvPr/>
          </p:nvSpPr>
          <p:spPr>
            <a:xfrm>
              <a:off x="6355080" y="8130616"/>
              <a:ext cx="631515" cy="234544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68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  <p:sp>
          <p:nvSpPr>
            <p:cNvPr id="425" name="419 C×HW"/>
            <p:cNvSpPr txBox="1"/>
            <p:nvPr/>
          </p:nvSpPr>
          <p:spPr>
            <a:xfrm>
              <a:off x="8933688" y="6624828"/>
              <a:ext cx="540789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888888"/>
                  </a:solidFill>
                  <a:latin typeface="Liberation Serif"/>
                </a:rPr>
                <a:t>C×HW</a:t>
              </a:r>
            </a:p>
          </p:txBody>
        </p:sp>
        <p:sp>
          <p:nvSpPr>
            <p:cNvPr id="426" name="420 C×C"/>
            <p:cNvSpPr txBox="1"/>
            <p:nvPr/>
          </p:nvSpPr>
          <p:spPr>
            <a:xfrm>
              <a:off x="9912096" y="6917436"/>
              <a:ext cx="378340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888888"/>
                  </a:solidFill>
                  <a:latin typeface="Liberation Serif"/>
                </a:rPr>
                <a:t>C×C</a:t>
              </a:r>
            </a:p>
          </p:txBody>
        </p:sp>
        <p:sp>
          <p:nvSpPr>
            <p:cNvPr id="427" name="421 C×HW"/>
            <p:cNvSpPr txBox="1"/>
            <p:nvPr/>
          </p:nvSpPr>
          <p:spPr>
            <a:xfrm>
              <a:off x="8933688" y="8124444"/>
              <a:ext cx="540789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888888"/>
                  </a:solidFill>
                  <a:latin typeface="Liberation Serif"/>
                </a:rPr>
                <a:t>C×HW</a:t>
              </a:r>
            </a:p>
          </p:txBody>
        </p:sp>
        <p:sp>
          <p:nvSpPr>
            <p:cNvPr id="428" name="422 C×HW"/>
            <p:cNvSpPr txBox="1"/>
            <p:nvPr/>
          </p:nvSpPr>
          <p:spPr>
            <a:xfrm>
              <a:off x="8933688" y="8746236"/>
              <a:ext cx="540789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888888"/>
                  </a:solidFill>
                  <a:latin typeface="Liberation Serif"/>
                </a:rPr>
                <a:t>C×HW</a:t>
              </a:r>
            </a:p>
          </p:txBody>
        </p:sp>
        <p:sp>
          <p:nvSpPr>
            <p:cNvPr id="429" name="423 C×H×W"/>
            <p:cNvSpPr txBox="1"/>
            <p:nvPr/>
          </p:nvSpPr>
          <p:spPr>
            <a:xfrm>
              <a:off x="16258032" y="9194292"/>
              <a:ext cx="664197" cy="246888"/>
            </a:xfrm>
            <a:prstGeom prst="rect">
              <a:avLst/>
            </a:prstGeom>
            <a:noFill/>
            <a:effectLst/>
          </p:spPr>
          <p:txBody>
            <a:bodyPr wrap="none" anchorCtr="0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9" b="0" i="1">
                  <a:solidFill>
                    <a:srgbClr val="888888"/>
                  </a:solidFill>
                  <a:latin typeface="Liberation Serif"/>
                </a:rPr>
                <a:t>C×H×W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pectral Compressive Imaging via Chromaticity-Intensity Decomposi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172432" cy="9482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Spectral Compressive Imaging via Chromaticity-Intensity Decomposition</dc:title>
  <dc:subject>Editable reconstruction of the supplied reference diagram</dc:subject>
  <dc:creator/>
  <cp:keywords>editable, chromaticity, intensity, spectral imaging,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