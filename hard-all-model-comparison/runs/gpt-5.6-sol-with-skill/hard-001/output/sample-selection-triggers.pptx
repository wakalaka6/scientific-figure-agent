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70527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001_canvas"/>
          <p:cNvSpPr/>
          <p:nvPr/>
        </p:nvSpPr>
        <p:spPr>
          <a:xfrm>
            <a:off x="0" y="0"/>
            <a:ext cx="12191999" cy="70527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002_component_a_background"/>
          <p:cNvSpPr/>
          <p:nvPr/>
        </p:nvSpPr>
        <p:spPr>
          <a:xfrm>
            <a:off x="108800" y="774400"/>
            <a:ext cx="6009600" cy="2912000"/>
          </a:xfrm>
          <a:prstGeom prst="roundRect">
            <a:avLst>
              <a:gd name="adj" fmla="val 3296"/>
            </a:avLst>
          </a:prstGeom>
          <a:solidFill>
            <a:srgbClr val="F4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003_component_b_background"/>
          <p:cNvSpPr/>
          <p:nvPr/>
        </p:nvSpPr>
        <p:spPr>
          <a:xfrm>
            <a:off x="6118399" y="774400"/>
            <a:ext cx="6041600" cy="2912000"/>
          </a:xfrm>
          <a:prstGeom prst="roundRect">
            <a:avLst>
              <a:gd name="adj" fmla="val 3296"/>
            </a:avLst>
          </a:prstGeom>
          <a:solidFill>
            <a:srgbClr val="EA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004_component_c_background"/>
          <p:cNvSpPr/>
          <p:nvPr/>
        </p:nvSpPr>
        <p:spPr>
          <a:xfrm>
            <a:off x="108800" y="4454399"/>
            <a:ext cx="12051199" cy="2592000"/>
          </a:xfrm>
          <a:prstGeom prst="rect">
            <a:avLst/>
          </a:prstGeom>
          <a:solidFill>
            <a:srgbClr val="FD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005_upper_panel_border"/>
          <p:cNvSpPr/>
          <p:nvPr/>
        </p:nvSpPr>
        <p:spPr>
          <a:xfrm>
            <a:off x="102400" y="102400"/>
            <a:ext cx="12051199" cy="3583999"/>
          </a:xfrm>
          <a:prstGeom prst="roundRect">
            <a:avLst>
              <a:gd name="adj" fmla="val 3571"/>
            </a:avLst>
          </a:prstGeom>
          <a:noFill/>
          <a:ln w="14079">
            <a:solidFill>
              <a:srgbClr val="000000"/>
            </a:solidFill>
            <a:prstDash val="dash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006_lower_panel_border"/>
          <p:cNvSpPr/>
          <p:nvPr/>
        </p:nvSpPr>
        <p:spPr>
          <a:xfrm>
            <a:off x="102400" y="4121599"/>
            <a:ext cx="12051199" cy="2924800"/>
          </a:xfrm>
          <a:prstGeom prst="roundRect">
            <a:avLst>
              <a:gd name="adj" fmla="val 4376"/>
            </a:avLst>
          </a:prstGeom>
          <a:noFill/>
          <a:ln w="14079">
            <a:solidFill>
              <a:srgbClr val="000000"/>
            </a:solidFill>
            <a:prstDash val="dash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007_sample_selection"/>
          <p:cNvSpPr txBox="1"/>
          <p:nvPr/>
        </p:nvSpPr>
        <p:spPr>
          <a:xfrm>
            <a:off x="275200" y="204800"/>
            <a:ext cx="3200000" cy="371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18" b="1">
                <a:solidFill>
                  <a:srgbClr val="000000"/>
                </a:solidFill>
                <a:latin typeface="DejaVu Sans Mono"/>
              </a:rPr>
              <a:t>Sample Selection</a:t>
            </a:r>
          </a:p>
        </p:txBody>
      </p:sp>
      <p:sp>
        <p:nvSpPr>
          <p:cNvPr id="9" name="008_title_line_1"/>
          <p:cNvSpPr txBox="1"/>
          <p:nvPr/>
        </p:nvSpPr>
        <p:spPr>
          <a:xfrm>
            <a:off x="3776000" y="128000"/>
            <a:ext cx="6783999" cy="313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65" b="1">
                <a:solidFill>
                  <a:srgbClr val="000000"/>
                </a:solidFill>
                <a:latin typeface="DejaVu Sans Condensed"/>
              </a:rPr>
              <a:t>Explore the effect of </a:t>
            </a:r>
            <a:r>
              <a:rPr sz="1965" b="1">
                <a:solidFill>
                  <a:srgbClr val="F0161D"/>
                </a:solidFill>
                <a:latin typeface="DejaVu Sans Condensed"/>
              </a:rPr>
              <a:t>triggers</a:t>
            </a:r>
            <a:r>
              <a:rPr sz="1965" b="1">
                <a:solidFill>
                  <a:srgbClr val="000000"/>
                </a:solidFill>
                <a:latin typeface="DejaVu Sans Condensed"/>
              </a:rPr>
              <a:t> on </a:t>
            </a:r>
            <a:r>
              <a:rPr sz="1965" b="1">
                <a:solidFill>
                  <a:srgbClr val="F0161D"/>
                </a:solidFill>
                <a:latin typeface="DejaVu Sans Condensed"/>
              </a:rPr>
              <a:t>sample selection</a:t>
            </a:r>
          </a:p>
        </p:txBody>
      </p:sp>
      <p:sp>
        <p:nvSpPr>
          <p:cNvPr id="10" name="009_title_line_2"/>
          <p:cNvSpPr txBox="1"/>
          <p:nvPr/>
        </p:nvSpPr>
        <p:spPr>
          <a:xfrm>
            <a:off x="3360000" y="435200"/>
            <a:ext cx="7295999" cy="300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5" b="1">
                <a:solidFill>
                  <a:srgbClr val="000000"/>
                </a:solidFill>
                <a:latin typeface="DejaVu Sans Condensed"/>
              </a:rPr>
              <a:t>via the enhancement of </a:t>
            </a:r>
            <a:r>
              <a:rPr sz="1765" b="1">
                <a:solidFill>
                  <a:srgbClr val="0000EE"/>
                </a:solidFill>
                <a:latin typeface="DejaVu Sans Condensed"/>
              </a:rPr>
              <a:t>attack success rate</a:t>
            </a:r>
            <a:r>
              <a:rPr sz="1765" b="1">
                <a:solidFill>
                  <a:srgbClr val="000000"/>
                </a:solidFill>
                <a:latin typeface="DejaVu Sans Condensed"/>
              </a:rPr>
              <a:t> and </a:t>
            </a:r>
            <a:r>
              <a:rPr sz="1765" b="1">
                <a:solidFill>
                  <a:srgbClr val="006837"/>
                </a:solidFill>
                <a:latin typeface="DejaVu Sans Condensed"/>
              </a:rPr>
              <a:t>stealthiness</a:t>
            </a:r>
            <a:r>
              <a:rPr sz="1765" b="1">
                <a:solidFill>
                  <a:srgbClr val="000000"/>
                </a:solidFill>
                <a:latin typeface="DejaVu Sans Condensed"/>
              </a:rPr>
              <a:t>.</a:t>
            </a:r>
          </a:p>
        </p:txBody>
      </p:sp>
      <p:sp>
        <p:nvSpPr>
          <p:cNvPr id="11" name="010_component_a_title"/>
          <p:cNvSpPr txBox="1"/>
          <p:nvPr/>
        </p:nvSpPr>
        <p:spPr>
          <a:xfrm>
            <a:off x="281600" y="806400"/>
            <a:ext cx="2304000" cy="288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13" b="1">
                <a:solidFill>
                  <a:srgbClr val="0000EE"/>
                </a:solidFill>
                <a:latin typeface="DejaVu Sans Condensed"/>
              </a:rPr>
              <a:t>Component A</a:t>
            </a:r>
          </a:p>
        </p:txBody>
      </p:sp>
      <p:sp>
        <p:nvSpPr>
          <p:cNvPr id="12" name="011_highlight_large"/>
          <p:cNvSpPr txBox="1"/>
          <p:nvPr/>
        </p:nvSpPr>
        <p:spPr>
          <a:xfrm>
            <a:off x="352000" y="1113600"/>
            <a:ext cx="1088000" cy="28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2" b="1">
                <a:solidFill>
                  <a:srgbClr val="C2272D"/>
                </a:solidFill>
                <a:latin typeface="Liberation Serif"/>
              </a:rPr>
              <a:t>highlight</a:t>
            </a:r>
          </a:p>
        </p:txBody>
      </p:sp>
      <p:sp>
        <p:nvSpPr>
          <p:cNvPr id="13" name="012_large_trigger_scale"/>
          <p:cNvSpPr txBox="1"/>
          <p:nvPr/>
        </p:nvSpPr>
        <p:spPr>
          <a:xfrm>
            <a:off x="211200" y="1433600"/>
            <a:ext cx="1504000" cy="275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7" b="1">
                <a:solidFill>
                  <a:srgbClr val="24247B"/>
                </a:solidFill>
                <a:latin typeface="Liberation Serif"/>
              </a:rPr>
              <a:t>large trigger scale</a:t>
            </a:r>
          </a:p>
        </p:txBody>
      </p:sp>
      <p:pic>
        <p:nvPicPr>
          <p:cNvPr id="14" name="013_large_trigger_example" descr="a_la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00" y="1830400"/>
            <a:ext cx="454400" cy="454400"/>
          </a:xfrm>
          <a:prstGeom prst="rect">
            <a:avLst/>
          </a:prstGeom>
          <a:effectLst/>
        </p:spPr>
      </p:pic>
      <p:sp>
        <p:nvSpPr>
          <p:cNvPr id="15" name="014_large_trigger_patch"/>
          <p:cNvSpPr/>
          <p:nvPr/>
        </p:nvSpPr>
        <p:spPr>
          <a:xfrm>
            <a:off x="748800" y="1830400"/>
            <a:ext cx="454400" cy="454400"/>
          </a:xfrm>
          <a:prstGeom prst="rect">
            <a:avLst/>
          </a:prstGeom>
          <a:solidFill>
            <a:srgbClr val="F3E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015_small_trigger_example" descr="a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200" y="2348800"/>
            <a:ext cx="454400" cy="454400"/>
          </a:xfrm>
          <a:prstGeom prst="rect">
            <a:avLst/>
          </a:prstGeom>
          <a:effectLst/>
        </p:spPr>
      </p:pic>
      <p:sp>
        <p:nvSpPr>
          <p:cNvPr id="17" name="016_small_trigger_patch"/>
          <p:cNvSpPr/>
          <p:nvPr/>
        </p:nvSpPr>
        <p:spPr>
          <a:xfrm>
            <a:off x="748800" y="2348800"/>
            <a:ext cx="454400" cy="454400"/>
          </a:xfrm>
          <a:prstGeom prst="rect">
            <a:avLst/>
          </a:prstGeom>
          <a:solidFill>
            <a:srgbClr val="F3E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017_trigger_scale_gradient_0"/>
          <p:cNvSpPr/>
          <p:nvPr/>
        </p:nvSpPr>
        <p:spPr>
          <a:xfrm>
            <a:off x="1273600" y="1772800"/>
            <a:ext cx="134400" cy="98133"/>
          </a:xfrm>
          <a:prstGeom prst="roundRect">
            <a:avLst>
              <a:gd name="adj" fmla="val 18000"/>
            </a:avLst>
          </a:prstGeom>
          <a:solidFill>
            <a:srgbClr val="258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018_trigger_scale_gradient_1"/>
          <p:cNvSpPr/>
          <p:nvPr/>
        </p:nvSpPr>
        <p:spPr>
          <a:xfrm>
            <a:off x="1273600" y="1867733"/>
            <a:ext cx="134400" cy="98133"/>
          </a:xfrm>
          <a:prstGeom prst="rect">
            <a:avLst/>
          </a:prstGeom>
          <a:solidFill>
            <a:srgbClr val="359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019_trigger_scale_gradient_2"/>
          <p:cNvSpPr/>
          <p:nvPr/>
        </p:nvSpPr>
        <p:spPr>
          <a:xfrm>
            <a:off x="1273600" y="1962666"/>
            <a:ext cx="134400" cy="98133"/>
          </a:xfrm>
          <a:prstGeom prst="rect">
            <a:avLst/>
          </a:prstGeom>
          <a:solidFill>
            <a:srgbClr val="4AA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020_trigger_scale_gradient_3"/>
          <p:cNvSpPr/>
          <p:nvPr/>
        </p:nvSpPr>
        <p:spPr>
          <a:xfrm>
            <a:off x="1273600" y="2057600"/>
            <a:ext cx="134400" cy="98133"/>
          </a:xfrm>
          <a:prstGeom prst="rect">
            <a:avLst/>
          </a:prstGeom>
          <a:solidFill>
            <a:srgbClr val="62A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021_trigger_scale_gradient_4"/>
          <p:cNvSpPr/>
          <p:nvPr/>
        </p:nvSpPr>
        <p:spPr>
          <a:xfrm>
            <a:off x="1273600" y="2152533"/>
            <a:ext cx="134400" cy="98133"/>
          </a:xfrm>
          <a:prstGeom prst="rect">
            <a:avLst/>
          </a:prstGeom>
          <a:solidFill>
            <a:srgbClr val="79B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022_trigger_scale_gradient_5"/>
          <p:cNvSpPr/>
          <p:nvPr/>
        </p:nvSpPr>
        <p:spPr>
          <a:xfrm>
            <a:off x="1273600" y="2247466"/>
            <a:ext cx="134400" cy="98133"/>
          </a:xfrm>
          <a:prstGeom prst="rect">
            <a:avLst/>
          </a:prstGeom>
          <a:solidFill>
            <a:srgbClr val="8EC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023_trigger_scale_gradient_6"/>
          <p:cNvSpPr/>
          <p:nvPr/>
        </p:nvSpPr>
        <p:spPr>
          <a:xfrm>
            <a:off x="1273600" y="2342400"/>
            <a:ext cx="134400" cy="98133"/>
          </a:xfrm>
          <a:prstGeom prst="rect">
            <a:avLst/>
          </a:prstGeom>
          <a:solidFill>
            <a:srgbClr val="A4C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024_trigger_scale_gradient_7"/>
          <p:cNvSpPr/>
          <p:nvPr/>
        </p:nvSpPr>
        <p:spPr>
          <a:xfrm>
            <a:off x="1273600" y="2437333"/>
            <a:ext cx="134400" cy="98133"/>
          </a:xfrm>
          <a:prstGeom prst="rect">
            <a:avLst/>
          </a:prstGeom>
          <a:solidFill>
            <a:srgbClr val="B6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025_trigger_scale_gradient_8"/>
          <p:cNvSpPr/>
          <p:nvPr/>
        </p:nvSpPr>
        <p:spPr>
          <a:xfrm>
            <a:off x="1273600" y="2532266"/>
            <a:ext cx="134400" cy="98133"/>
          </a:xfrm>
          <a:prstGeom prst="rect">
            <a:avLst/>
          </a:prstGeom>
          <a:solidFill>
            <a:srgbClr val="C7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026_trigger_scale_gradient_9"/>
          <p:cNvSpPr/>
          <p:nvPr/>
        </p:nvSpPr>
        <p:spPr>
          <a:xfrm>
            <a:off x="1273600" y="2627200"/>
            <a:ext cx="134400" cy="98133"/>
          </a:xfrm>
          <a:prstGeom prst="rect">
            <a:avLst/>
          </a:prstGeom>
          <a:solidFill>
            <a:srgbClr val="D5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027_trigger_scale_gradient_10"/>
          <p:cNvSpPr/>
          <p:nvPr/>
        </p:nvSpPr>
        <p:spPr>
          <a:xfrm>
            <a:off x="1273600" y="2722133"/>
            <a:ext cx="134400" cy="98133"/>
          </a:xfrm>
          <a:prstGeom prst="rect">
            <a:avLst/>
          </a:prstGeom>
          <a:solidFill>
            <a:srgbClr val="DF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028_trigger_scale_gradient_11"/>
          <p:cNvSpPr/>
          <p:nvPr/>
        </p:nvSpPr>
        <p:spPr>
          <a:xfrm>
            <a:off x="1273600" y="2817066"/>
            <a:ext cx="134400" cy="98133"/>
          </a:xfrm>
          <a:prstGeom prst="roundRect">
            <a:avLst>
              <a:gd name="adj" fmla="val 180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029_brace"/>
          <p:cNvSpPr txBox="1"/>
          <p:nvPr/>
        </p:nvSpPr>
        <p:spPr>
          <a:xfrm>
            <a:off x="1446400" y="1632000"/>
            <a:ext cx="300800" cy="1248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15" b="0">
                <a:solidFill>
                  <a:srgbClr val="000000"/>
                </a:solidFill>
                <a:latin typeface="Liberation Serif"/>
              </a:rPr>
              <a:t>}</a:t>
            </a:r>
          </a:p>
        </p:txBody>
      </p:sp>
      <p:sp>
        <p:nvSpPr>
          <p:cNvPr id="31" name="030_small_trigger_scale"/>
          <p:cNvSpPr txBox="1"/>
          <p:nvPr/>
        </p:nvSpPr>
        <p:spPr>
          <a:xfrm>
            <a:off x="166400" y="2880000"/>
            <a:ext cx="1568000" cy="268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8" b="1">
                <a:solidFill>
                  <a:srgbClr val="24247B"/>
                </a:solidFill>
                <a:latin typeface="Liberation Serif"/>
              </a:rPr>
              <a:t>small trigger scale</a:t>
            </a:r>
          </a:p>
        </p:txBody>
      </p:sp>
      <p:sp>
        <p:nvSpPr>
          <p:cNvPr id="32" name="031_highlight_small"/>
          <p:cNvSpPr txBox="1"/>
          <p:nvPr/>
        </p:nvSpPr>
        <p:spPr>
          <a:xfrm>
            <a:off x="326400" y="3148800"/>
            <a:ext cx="1088000" cy="28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2" b="1">
                <a:solidFill>
                  <a:srgbClr val="C2272D"/>
                </a:solidFill>
                <a:latin typeface="Liberation Serif"/>
              </a:rPr>
              <a:t>highlight</a:t>
            </a:r>
          </a:p>
        </p:txBody>
      </p:sp>
      <p:cxnSp>
        <p:nvCxnSpPr>
          <p:cNvPr id="33" name="032_large_u_left"/>
          <p:cNvCxnSpPr/>
          <p:nvPr/>
        </p:nvCxnSpPr>
        <p:spPr>
          <a:xfrm flipV="1">
            <a:off x="1286400" y="1164800"/>
            <a:ext cx="0" cy="268800"/>
          </a:xfrm>
          <a:prstGeom prst="line">
            <a:avLst/>
          </a:prstGeom>
          <a:ln w="25599">
            <a:solidFill>
              <a:srgbClr val="C227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033_large_u_top"/>
          <p:cNvCxnSpPr/>
          <p:nvPr/>
        </p:nvCxnSpPr>
        <p:spPr>
          <a:xfrm>
            <a:off x="1286400" y="1164800"/>
            <a:ext cx="620800" cy="0"/>
          </a:xfrm>
          <a:prstGeom prst="line">
            <a:avLst/>
          </a:prstGeom>
          <a:ln w="25599">
            <a:solidFill>
              <a:srgbClr val="C227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034_large_u_right_shaft"/>
          <p:cNvCxnSpPr/>
          <p:nvPr/>
        </p:nvCxnSpPr>
        <p:spPr>
          <a:xfrm>
            <a:off x="1907200" y="1164800"/>
            <a:ext cx="0" cy="108800"/>
          </a:xfrm>
          <a:prstGeom prst="line">
            <a:avLst/>
          </a:prstGeom>
          <a:ln w="25599">
            <a:solidFill>
              <a:srgbClr val="C227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035_large_u_right_head"/>
          <p:cNvSpPr/>
          <p:nvPr/>
        </p:nvSpPr>
        <p:spPr>
          <a:xfrm>
            <a:off x="1856000" y="1273600"/>
            <a:ext cx="102400" cy="89600"/>
          </a:xfrm>
          <a:custGeom>
            <a:avLst/>
            <a:gdLst/>
            <a:ahLst/>
            <a:cxnLst/>
            <a:rect l="l" t="t" r="r" b="b"/>
            <a:pathLst>
              <a:path w="16" h="14">
                <a:moveTo>
                  <a:pt x="8" y="14"/>
                </a:moveTo>
                <a:lnTo>
                  <a:pt x="0" y="0"/>
                </a:lnTo>
                <a:lnTo>
                  <a:pt x="16" y="0"/>
                </a:lnTo>
                <a:close/>
              </a:path>
            </a:pathLst>
          </a:custGeom>
          <a:solidFill>
            <a:srgbClr val="C2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036_large_u_up_shaft"/>
          <p:cNvCxnSpPr/>
          <p:nvPr/>
        </p:nvCxnSpPr>
        <p:spPr>
          <a:xfrm flipV="1">
            <a:off x="1286400" y="1369600"/>
            <a:ext cx="0" cy="64000"/>
          </a:xfrm>
          <a:prstGeom prst="line">
            <a:avLst/>
          </a:prstGeom>
          <a:ln w="25599">
            <a:solidFill>
              <a:srgbClr val="C227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037_large_u_up_head"/>
          <p:cNvSpPr/>
          <p:nvPr/>
        </p:nvSpPr>
        <p:spPr>
          <a:xfrm>
            <a:off x="1241600" y="1292800"/>
            <a:ext cx="89600" cy="76800"/>
          </a:xfrm>
          <a:custGeom>
            <a:avLst/>
            <a:gdLst/>
            <a:ahLst/>
            <a:cxnLst/>
            <a:rect l="l" t="t" r="r" b="b"/>
            <a:pathLst>
              <a:path w="14" h="12">
                <a:moveTo>
                  <a:pt x="7" y="0"/>
                </a:moveTo>
                <a:lnTo>
                  <a:pt x="14" y="12"/>
                </a:lnTo>
                <a:lnTo>
                  <a:pt x="0" y="12"/>
                </a:lnTo>
                <a:close/>
              </a:path>
            </a:pathLst>
          </a:custGeom>
          <a:solidFill>
            <a:srgbClr val="C2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038_small_u_left"/>
          <p:cNvCxnSpPr/>
          <p:nvPr/>
        </p:nvCxnSpPr>
        <p:spPr>
          <a:xfrm>
            <a:off x="1286400" y="3123200"/>
            <a:ext cx="0" cy="262400"/>
          </a:xfrm>
          <a:prstGeom prst="line">
            <a:avLst/>
          </a:prstGeom>
          <a:ln w="25599">
            <a:solidFill>
              <a:srgbClr val="C227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039_small_u_bottom"/>
          <p:cNvCxnSpPr/>
          <p:nvPr/>
        </p:nvCxnSpPr>
        <p:spPr>
          <a:xfrm>
            <a:off x="1286400" y="3385600"/>
            <a:ext cx="620800" cy="0"/>
          </a:xfrm>
          <a:prstGeom prst="line">
            <a:avLst/>
          </a:prstGeom>
          <a:ln w="25599">
            <a:solidFill>
              <a:srgbClr val="C227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040_small_u_right_shaft"/>
          <p:cNvCxnSpPr/>
          <p:nvPr/>
        </p:nvCxnSpPr>
        <p:spPr>
          <a:xfrm flipV="1">
            <a:off x="1907200" y="3283200"/>
            <a:ext cx="0" cy="102400"/>
          </a:xfrm>
          <a:prstGeom prst="line">
            <a:avLst/>
          </a:prstGeom>
          <a:ln w="25599">
            <a:solidFill>
              <a:srgbClr val="C227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041_small_u_right_head"/>
          <p:cNvSpPr/>
          <p:nvPr/>
        </p:nvSpPr>
        <p:spPr>
          <a:xfrm>
            <a:off x="1856000" y="3193600"/>
            <a:ext cx="102400" cy="89600"/>
          </a:xfrm>
          <a:custGeom>
            <a:avLst/>
            <a:gdLst/>
            <a:ahLst/>
            <a:cxnLst/>
            <a:rect l="l" t="t" r="r" b="b"/>
            <a:pathLst>
              <a:path w="16" h="14">
                <a:moveTo>
                  <a:pt x="8" y="0"/>
                </a:moveTo>
                <a:lnTo>
                  <a:pt x="16" y="14"/>
                </a:lnTo>
                <a:lnTo>
                  <a:pt x="0" y="14"/>
                </a:lnTo>
                <a:close/>
              </a:path>
            </a:pathLst>
          </a:custGeom>
          <a:solidFill>
            <a:srgbClr val="C2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042_small_u_down_shaft"/>
          <p:cNvCxnSpPr/>
          <p:nvPr/>
        </p:nvCxnSpPr>
        <p:spPr>
          <a:xfrm>
            <a:off x="1286400" y="3123200"/>
            <a:ext cx="0" cy="64000"/>
          </a:xfrm>
          <a:prstGeom prst="line">
            <a:avLst/>
          </a:prstGeom>
          <a:ln w="25599">
            <a:solidFill>
              <a:srgbClr val="C227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043_small_u_down_head"/>
          <p:cNvSpPr/>
          <p:nvPr/>
        </p:nvSpPr>
        <p:spPr>
          <a:xfrm>
            <a:off x="1241600" y="3187200"/>
            <a:ext cx="89600" cy="76800"/>
          </a:xfrm>
          <a:custGeom>
            <a:avLst/>
            <a:gdLst/>
            <a:ahLst/>
            <a:cxnLst/>
            <a:rect l="l" t="t" r="r" b="b"/>
            <a:pathLst>
              <a:path w="14" h="12">
                <a:moveTo>
                  <a:pt x="7" y="12"/>
                </a:moveTo>
                <a:lnTo>
                  <a:pt x="0" y="0"/>
                </a:lnTo>
                <a:lnTo>
                  <a:pt x="14" y="0"/>
                </a:lnTo>
                <a:close/>
              </a:path>
            </a:pathLst>
          </a:custGeom>
          <a:solidFill>
            <a:srgbClr val="C2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044_category_diversity_bar"/>
          <p:cNvSpPr/>
          <p:nvPr/>
        </p:nvSpPr>
        <p:spPr>
          <a:xfrm>
            <a:off x="1824000" y="1369600"/>
            <a:ext cx="3904000" cy="505600"/>
          </a:xfrm>
          <a:prstGeom prst="roundRect">
            <a:avLst>
              <a:gd name="adj" fmla="val 18000"/>
            </a:avLst>
          </a:prstGeom>
          <a:solidFill>
            <a:srgbClr val="C2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045_category_diversity_text"/>
          <p:cNvSpPr txBox="1"/>
          <p:nvPr/>
        </p:nvSpPr>
        <p:spPr>
          <a:xfrm>
            <a:off x="1984000" y="1446400"/>
            <a:ext cx="3584000" cy="35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2" b="1">
                <a:solidFill>
                  <a:srgbClr val="FFFFFF"/>
                </a:solidFill>
                <a:latin typeface="Liberation Serif"/>
              </a:rPr>
              <a:t>Category Diversity (ours)</a:t>
            </a:r>
          </a:p>
        </p:txBody>
      </p:sp>
      <p:sp>
        <p:nvSpPr>
          <p:cNvPr id="47" name="046_selection_rule_box"/>
          <p:cNvSpPr/>
          <p:nvPr/>
        </p:nvSpPr>
        <p:spPr>
          <a:xfrm>
            <a:off x="1868800" y="1996800"/>
            <a:ext cx="4038400" cy="550400"/>
          </a:xfrm>
          <a:prstGeom prst="rect">
            <a:avLst/>
          </a:prstGeom>
          <a:solidFill>
            <a:srgbClr val="FFFFFF"/>
          </a:solidFill>
          <a:ln w="14719">
            <a:solidFill>
              <a:srgbClr val="FFE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047_selection_rule_line_1"/>
          <p:cNvSpPr txBox="1"/>
          <p:nvPr/>
        </p:nvSpPr>
        <p:spPr>
          <a:xfrm>
            <a:off x="2092800" y="2035200"/>
            <a:ext cx="3328000" cy="256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1">
                <a:solidFill>
                  <a:srgbClr val="000000"/>
                </a:solidFill>
                <a:latin typeface="DejaVu Serif"/>
              </a:rPr>
              <a:t>Find the appropriate combination</a:t>
            </a:r>
          </a:p>
        </p:txBody>
      </p:sp>
      <p:sp>
        <p:nvSpPr>
          <p:cNvPr id="49" name="048_selection_rule_line_2"/>
          <p:cNvSpPr txBox="1"/>
          <p:nvPr/>
        </p:nvSpPr>
        <p:spPr>
          <a:xfrm>
            <a:off x="1977600" y="2252800"/>
            <a:ext cx="3328000" cy="256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5" b="1">
                <a:solidFill>
                  <a:srgbClr val="000000"/>
                </a:solidFill>
                <a:latin typeface="DejaVu Serif"/>
              </a:rPr>
              <a:t>based on </a:t>
            </a:r>
            <a:r>
              <a:rPr sz="1195" b="1">
                <a:solidFill>
                  <a:srgbClr val="C2272D"/>
                </a:solidFill>
                <a:latin typeface="DejaVu Serif"/>
              </a:rPr>
              <a:t>the scale of trigger features</a:t>
            </a:r>
          </a:p>
        </p:txBody>
      </p:sp>
      <p:sp>
        <p:nvSpPr>
          <p:cNvPr id="50" name="049_runner_red_head"/>
          <p:cNvSpPr/>
          <p:nvPr/>
        </p:nvSpPr>
        <p:spPr>
          <a:xfrm>
            <a:off x="5355008" y="2097408"/>
            <a:ext cx="41984" cy="41984"/>
          </a:xfrm>
          <a:prstGeom prst="ellipse">
            <a:avLst/>
          </a:prstGeom>
          <a:solidFill>
            <a:srgbClr val="C2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050_runner_red_body"/>
          <p:cNvCxnSpPr/>
          <p:nvPr/>
        </p:nvCxnSpPr>
        <p:spPr>
          <a:xfrm flipH="1">
            <a:off x="5349760" y="2144640"/>
            <a:ext cx="20992" cy="62976"/>
          </a:xfrm>
          <a:prstGeom prst="line">
            <a:avLst/>
          </a:prstGeom>
          <a:ln w="15743">
            <a:solidFill>
              <a:srgbClr val="C227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051_runner_red_arm1"/>
          <p:cNvCxnSpPr/>
          <p:nvPr/>
        </p:nvCxnSpPr>
        <p:spPr>
          <a:xfrm>
            <a:off x="5365504" y="2165632"/>
            <a:ext cx="57728" cy="15744"/>
          </a:xfrm>
          <a:prstGeom prst="line">
            <a:avLst/>
          </a:prstGeom>
          <a:ln w="15743">
            <a:solidFill>
              <a:srgbClr val="C227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052_runner_red_arm2"/>
          <p:cNvCxnSpPr/>
          <p:nvPr/>
        </p:nvCxnSpPr>
        <p:spPr>
          <a:xfrm flipH="1">
            <a:off x="5313024" y="2170880"/>
            <a:ext cx="47232" cy="31488"/>
          </a:xfrm>
          <a:prstGeom prst="line">
            <a:avLst/>
          </a:prstGeom>
          <a:ln w="15743">
            <a:solidFill>
              <a:srgbClr val="C227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053_runner_red_leg1"/>
          <p:cNvCxnSpPr/>
          <p:nvPr/>
        </p:nvCxnSpPr>
        <p:spPr>
          <a:xfrm>
            <a:off x="5349760" y="2207616"/>
            <a:ext cx="47232" cy="41984"/>
          </a:xfrm>
          <a:prstGeom prst="line">
            <a:avLst/>
          </a:prstGeom>
          <a:ln w="15743">
            <a:solidFill>
              <a:srgbClr val="C227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054_runner_red_leg2"/>
          <p:cNvCxnSpPr/>
          <p:nvPr/>
        </p:nvCxnSpPr>
        <p:spPr>
          <a:xfrm flipH="1">
            <a:off x="5302528" y="2207616"/>
            <a:ext cx="47232" cy="52480"/>
          </a:xfrm>
          <a:prstGeom prst="line">
            <a:avLst/>
          </a:prstGeom>
          <a:ln w="15743">
            <a:solidFill>
              <a:srgbClr val="C227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055_runner_gray_head"/>
          <p:cNvSpPr/>
          <p:nvPr/>
        </p:nvSpPr>
        <p:spPr>
          <a:xfrm>
            <a:off x="5508608" y="2097408"/>
            <a:ext cx="41984" cy="41984"/>
          </a:xfrm>
          <a:prstGeom prst="ellipse">
            <a:avLst/>
          </a:prstGeom>
          <a:solidFill>
            <a:srgbClr val="B7B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056_runner_gray_body"/>
          <p:cNvCxnSpPr/>
          <p:nvPr/>
        </p:nvCxnSpPr>
        <p:spPr>
          <a:xfrm flipH="1">
            <a:off x="5503360" y="2144640"/>
            <a:ext cx="20992" cy="62976"/>
          </a:xfrm>
          <a:prstGeom prst="line">
            <a:avLst/>
          </a:prstGeom>
          <a:ln w="15743">
            <a:solidFill>
              <a:srgbClr val="B7B7B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057_runner_gray_arm1"/>
          <p:cNvCxnSpPr/>
          <p:nvPr/>
        </p:nvCxnSpPr>
        <p:spPr>
          <a:xfrm>
            <a:off x="5519104" y="2165632"/>
            <a:ext cx="57728" cy="15744"/>
          </a:xfrm>
          <a:prstGeom prst="line">
            <a:avLst/>
          </a:prstGeom>
          <a:ln w="15743">
            <a:solidFill>
              <a:srgbClr val="B7B7B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058_runner_gray_arm2"/>
          <p:cNvCxnSpPr/>
          <p:nvPr/>
        </p:nvCxnSpPr>
        <p:spPr>
          <a:xfrm flipH="1">
            <a:off x="5466624" y="2170880"/>
            <a:ext cx="47232" cy="31488"/>
          </a:xfrm>
          <a:prstGeom prst="line">
            <a:avLst/>
          </a:prstGeom>
          <a:ln w="15743">
            <a:solidFill>
              <a:srgbClr val="B7B7B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059_runner_gray_leg1"/>
          <p:cNvCxnSpPr/>
          <p:nvPr/>
        </p:nvCxnSpPr>
        <p:spPr>
          <a:xfrm>
            <a:off x="5503360" y="2207616"/>
            <a:ext cx="47232" cy="41984"/>
          </a:xfrm>
          <a:prstGeom prst="line">
            <a:avLst/>
          </a:prstGeom>
          <a:ln w="15743">
            <a:solidFill>
              <a:srgbClr val="B7B7B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060_runner_gray_leg2"/>
          <p:cNvCxnSpPr/>
          <p:nvPr/>
        </p:nvCxnSpPr>
        <p:spPr>
          <a:xfrm flipH="1">
            <a:off x="5456128" y="2207616"/>
            <a:ext cx="47232" cy="52480"/>
          </a:xfrm>
          <a:prstGeom prst="line">
            <a:avLst/>
          </a:prstGeom>
          <a:ln w="15743">
            <a:solidFill>
              <a:srgbClr val="B7B7B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061_selection_feature_icon"/>
          <p:cNvSpPr/>
          <p:nvPr/>
        </p:nvSpPr>
        <p:spPr>
          <a:xfrm>
            <a:off x="5523200" y="2323200"/>
            <a:ext cx="153600" cy="153600"/>
          </a:xfrm>
          <a:custGeom>
            <a:avLst/>
            <a:gdLst/>
            <a:ahLst/>
            <a:cxnLst/>
            <a:rect l="l" t="t" r="r" b="b"/>
            <a:pathLst>
              <a:path w="24" h="24">
                <a:moveTo>
                  <a:pt x="12" y="0"/>
                </a:moveTo>
                <a:lnTo>
                  <a:pt x="15" y="6"/>
                </a:lnTo>
                <a:lnTo>
                  <a:pt x="20" y="4"/>
                </a:lnTo>
                <a:lnTo>
                  <a:pt x="18" y="9"/>
                </a:lnTo>
                <a:lnTo>
                  <a:pt x="24" y="12"/>
                </a:lnTo>
                <a:lnTo>
                  <a:pt x="18" y="15"/>
                </a:lnTo>
                <a:lnTo>
                  <a:pt x="20" y="20"/>
                </a:lnTo>
                <a:lnTo>
                  <a:pt x="15" y="18"/>
                </a:lnTo>
                <a:lnTo>
                  <a:pt x="12" y="24"/>
                </a:lnTo>
                <a:lnTo>
                  <a:pt x="9" y="18"/>
                </a:lnTo>
                <a:lnTo>
                  <a:pt x="4" y="20"/>
                </a:lnTo>
                <a:lnTo>
                  <a:pt x="6" y="15"/>
                </a:lnTo>
                <a:lnTo>
                  <a:pt x="0" y="12"/>
                </a:lnTo>
                <a:lnTo>
                  <a:pt x="6" y="9"/>
                </a:lnTo>
                <a:lnTo>
                  <a:pt x="4" y="4"/>
                </a:lnTo>
                <a:lnTo>
                  <a:pt x="9" y="6"/>
                </a:lnTo>
                <a:close/>
              </a:path>
            </a:pathLst>
          </a:custGeom>
          <a:solidFill>
            <a:srgbClr val="68AF6B"/>
          </a:solidFill>
          <a:ln w="6399">
            <a:solidFill>
              <a:srgbClr val="0068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062_selection_feature_icon_center"/>
          <p:cNvSpPr/>
          <p:nvPr/>
        </p:nvSpPr>
        <p:spPr>
          <a:xfrm>
            <a:off x="5572352" y="2372352"/>
            <a:ext cx="55296" cy="55296"/>
          </a:xfrm>
          <a:prstGeom prst="ellipse">
            <a:avLst/>
          </a:prstGeom>
          <a:solidFill>
            <a:srgbClr val="E04A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063_selection_period"/>
          <p:cNvSpPr txBox="1"/>
          <p:nvPr/>
        </p:nvSpPr>
        <p:spPr>
          <a:xfrm>
            <a:off x="5734400" y="2272000"/>
            <a:ext cx="89600" cy="217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>
                <a:solidFill>
                  <a:srgbClr val="000000"/>
                </a:solidFill>
                <a:latin typeface="Liberation Serif"/>
              </a:rPr>
              <a:t>.</a:t>
            </a:r>
          </a:p>
        </p:txBody>
      </p:sp>
      <p:sp>
        <p:nvSpPr>
          <p:cNvPr id="65" name="064_forgetting_events_bar"/>
          <p:cNvSpPr/>
          <p:nvPr/>
        </p:nvSpPr>
        <p:spPr>
          <a:xfrm>
            <a:off x="1824000" y="2688000"/>
            <a:ext cx="3904000" cy="505600"/>
          </a:xfrm>
          <a:prstGeom prst="roundRect">
            <a:avLst>
              <a:gd name="adj" fmla="val 18000"/>
            </a:avLst>
          </a:prstGeom>
          <a:solidFill>
            <a:srgbClr val="C2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065_forgetting_events_text"/>
          <p:cNvSpPr txBox="1"/>
          <p:nvPr/>
        </p:nvSpPr>
        <p:spPr>
          <a:xfrm>
            <a:off x="2016000" y="2764800"/>
            <a:ext cx="3520000" cy="35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2" b="1">
                <a:solidFill>
                  <a:srgbClr val="FFFFFF"/>
                </a:solidFill>
                <a:latin typeface="Liberation Serif"/>
              </a:rPr>
              <a:t>Forgetting Events (traditional)</a:t>
            </a:r>
          </a:p>
        </p:txBody>
      </p:sp>
      <p:sp>
        <p:nvSpPr>
          <p:cNvPr id="67" name="066_asr_enhancement_top"/>
          <p:cNvSpPr txBox="1"/>
          <p:nvPr/>
        </p:nvSpPr>
        <p:spPr>
          <a:xfrm>
            <a:off x="4032000" y="870400"/>
            <a:ext cx="1920000" cy="268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1" b="1">
                <a:solidFill>
                  <a:srgbClr val="0000EE"/>
                </a:solidFill>
                <a:latin typeface="Liberation Serif"/>
              </a:rPr>
              <a:t>attack success rate</a:t>
            </a:r>
          </a:p>
        </p:txBody>
      </p:sp>
      <p:sp>
        <p:nvSpPr>
          <p:cNvPr id="68" name="067_asr_enhancement_top_2"/>
          <p:cNvSpPr txBox="1"/>
          <p:nvPr/>
        </p:nvSpPr>
        <p:spPr>
          <a:xfrm>
            <a:off x="4032000" y="1081600"/>
            <a:ext cx="1920000" cy="268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1" b="1">
                <a:solidFill>
                  <a:srgbClr val="0000EE"/>
                </a:solidFill>
                <a:latin typeface="Liberation Serif"/>
              </a:rPr>
              <a:t>enhancement</a:t>
            </a:r>
          </a:p>
        </p:txBody>
      </p:sp>
      <p:sp>
        <p:nvSpPr>
          <p:cNvPr id="69" name="068_component_b_title"/>
          <p:cNvSpPr txBox="1"/>
          <p:nvPr/>
        </p:nvSpPr>
        <p:spPr>
          <a:xfrm>
            <a:off x="6380799" y="812800"/>
            <a:ext cx="2304000" cy="288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13" b="1">
                <a:solidFill>
                  <a:srgbClr val="006837"/>
                </a:solidFill>
                <a:latin typeface="DejaVu Sans Condensed"/>
              </a:rPr>
              <a:t>Component B</a:t>
            </a:r>
          </a:p>
        </p:txBody>
      </p:sp>
      <p:sp>
        <p:nvSpPr>
          <p:cNvPr id="70" name="069_stealthiness_top_1"/>
          <p:cNvSpPr txBox="1"/>
          <p:nvPr/>
        </p:nvSpPr>
        <p:spPr>
          <a:xfrm>
            <a:off x="10495999" y="908800"/>
            <a:ext cx="1664000" cy="268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>
                <a:solidFill>
                  <a:srgbClr val="006837"/>
                </a:solidFill>
                <a:latin typeface="DejaVu Serif"/>
              </a:rPr>
              <a:t>stealthiness</a:t>
            </a:r>
          </a:p>
        </p:txBody>
      </p:sp>
      <p:sp>
        <p:nvSpPr>
          <p:cNvPr id="71" name="070_stealthiness_top_2"/>
          <p:cNvSpPr txBox="1"/>
          <p:nvPr/>
        </p:nvSpPr>
        <p:spPr>
          <a:xfrm>
            <a:off x="10495999" y="1113600"/>
            <a:ext cx="1664000" cy="268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>
                <a:solidFill>
                  <a:srgbClr val="006837"/>
                </a:solidFill>
                <a:latin typeface="DejaVu Serif"/>
              </a:rPr>
              <a:t>enhancement</a:t>
            </a:r>
          </a:p>
        </p:txBody>
      </p:sp>
      <p:pic>
        <p:nvPicPr>
          <p:cNvPr id="72" name="071_water_scene" descr="b_wa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9999" y="1126400"/>
            <a:ext cx="940800" cy="1081600"/>
          </a:xfrm>
          <a:prstGeom prst="rect">
            <a:avLst/>
          </a:prstGeom>
          <a:effectLst/>
        </p:spPr>
      </p:pic>
      <p:pic>
        <p:nvPicPr>
          <p:cNvPr id="73" name="072_bottle_method" descr="b_bott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3599" y="1126400"/>
            <a:ext cx="953600" cy="1094400"/>
          </a:xfrm>
          <a:prstGeom prst="rect">
            <a:avLst/>
          </a:prstGeom>
          <a:effectLst/>
        </p:spPr>
      </p:pic>
      <p:pic>
        <p:nvPicPr>
          <p:cNvPr id="74" name="073_kitty_scene" descr="b_kit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9999" y="2547200"/>
            <a:ext cx="940800" cy="1062400"/>
          </a:xfrm>
          <a:prstGeom prst="rect">
            <a:avLst/>
          </a:prstGeom>
          <a:effectLst/>
        </p:spPr>
      </p:pic>
      <p:pic>
        <p:nvPicPr>
          <p:cNvPr id="75" name="074_texture_method" descr="b_textu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3599" y="2528000"/>
            <a:ext cx="953600" cy="1081600"/>
          </a:xfrm>
          <a:prstGeom prst="rect">
            <a:avLst/>
          </a:prstGeom>
          <a:effectLst/>
        </p:spPr>
      </p:pic>
      <p:sp>
        <p:nvSpPr>
          <p:cNvPr id="76" name="075_method_column_outline"/>
          <p:cNvSpPr/>
          <p:nvPr/>
        </p:nvSpPr>
        <p:spPr>
          <a:xfrm>
            <a:off x="7443199" y="1081600"/>
            <a:ext cx="1088000" cy="2572800"/>
          </a:xfrm>
          <a:prstGeom prst="rect">
            <a:avLst/>
          </a:prstGeom>
          <a:noFill/>
          <a:ln w="15999">
            <a:solidFill>
              <a:srgbClr val="C227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076_our_method"/>
          <p:cNvSpPr txBox="1"/>
          <p:nvPr/>
        </p:nvSpPr>
        <p:spPr>
          <a:xfrm>
            <a:off x="7513599" y="2201600"/>
            <a:ext cx="953600" cy="288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C2272D"/>
                </a:solidFill>
                <a:latin typeface="Liberation Serif"/>
              </a:rPr>
              <a:t>our method</a:t>
            </a:r>
          </a:p>
        </p:txBody>
      </p:sp>
      <p:sp>
        <p:nvSpPr>
          <p:cNvPr id="78" name="077_black_trigger"/>
          <p:cNvSpPr/>
          <p:nvPr/>
        </p:nvSpPr>
        <p:spPr>
          <a:xfrm>
            <a:off x="7180799" y="2048000"/>
            <a:ext cx="89600" cy="140800"/>
          </a:xfrm>
          <a:prstGeom prst="rect">
            <a:avLst/>
          </a:prstGeom>
          <a:solidFill>
            <a:srgbClr val="20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078_dotted_trigger"/>
          <p:cNvSpPr/>
          <p:nvPr/>
        </p:nvSpPr>
        <p:spPr>
          <a:xfrm>
            <a:off x="8326399" y="2054400"/>
            <a:ext cx="19200" cy="1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079_dotted_trigger"/>
          <p:cNvSpPr/>
          <p:nvPr/>
        </p:nvSpPr>
        <p:spPr>
          <a:xfrm>
            <a:off x="8371199" y="2054400"/>
            <a:ext cx="19200" cy="1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080_dotted_trigger"/>
          <p:cNvSpPr/>
          <p:nvPr/>
        </p:nvSpPr>
        <p:spPr>
          <a:xfrm>
            <a:off x="8326399" y="2099200"/>
            <a:ext cx="19200" cy="1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081_dotted_trigger"/>
          <p:cNvSpPr/>
          <p:nvPr/>
        </p:nvSpPr>
        <p:spPr>
          <a:xfrm>
            <a:off x="8371199" y="2099200"/>
            <a:ext cx="19200" cy="1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082_dotted_trigger"/>
          <p:cNvSpPr/>
          <p:nvPr/>
        </p:nvSpPr>
        <p:spPr>
          <a:xfrm>
            <a:off x="8326399" y="2144000"/>
            <a:ext cx="19200" cy="1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083_dotted_trigger"/>
          <p:cNvSpPr/>
          <p:nvPr/>
        </p:nvSpPr>
        <p:spPr>
          <a:xfrm>
            <a:off x="8371199" y="2144000"/>
            <a:ext cx="19200" cy="1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084_b_text1_a"/>
          <p:cNvSpPr txBox="1"/>
          <p:nvPr/>
        </p:nvSpPr>
        <p:spPr>
          <a:xfrm>
            <a:off x="8684799" y="1324800"/>
            <a:ext cx="1664000" cy="256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>
                <a:solidFill>
                  <a:srgbClr val="24247B"/>
                </a:solidFill>
                <a:latin typeface="Liberation Serif"/>
              </a:rPr>
              <a:t>Trigger </a:t>
            </a:r>
            <a:r>
              <a:rPr sz="1411" b="1">
                <a:solidFill>
                  <a:srgbClr val="201B19"/>
                </a:solidFill>
                <a:latin typeface="Liberation Serif"/>
              </a:rPr>
              <a:t>■</a:t>
            </a:r>
            <a:r>
              <a:rPr sz="1411" b="1">
                <a:solidFill>
                  <a:srgbClr val="24247B"/>
                </a:solidFill>
                <a:latin typeface="Liberation Serif"/>
              </a:rPr>
              <a:t> can be</a:t>
            </a:r>
          </a:p>
        </p:txBody>
      </p:sp>
      <p:sp>
        <p:nvSpPr>
          <p:cNvPr id="86" name="085_b_text1_b"/>
          <p:cNvSpPr txBox="1"/>
          <p:nvPr/>
        </p:nvSpPr>
        <p:spPr>
          <a:xfrm>
            <a:off x="8684799" y="1568000"/>
            <a:ext cx="1792000" cy="256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>
                <a:solidFill>
                  <a:srgbClr val="24247B"/>
                </a:solidFill>
                <a:latin typeface="Liberation Serif"/>
              </a:rPr>
              <a:t>concealed in the</a:t>
            </a:r>
          </a:p>
        </p:txBody>
      </p:sp>
      <p:sp>
        <p:nvSpPr>
          <p:cNvPr id="87" name="086_b_text1_c"/>
          <p:cNvSpPr txBox="1"/>
          <p:nvPr/>
        </p:nvSpPr>
        <p:spPr>
          <a:xfrm>
            <a:off x="8684799" y="1798400"/>
            <a:ext cx="896000" cy="256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>
                <a:solidFill>
                  <a:srgbClr val="C2272D"/>
                </a:solidFill>
                <a:latin typeface="Liberation Serif"/>
              </a:rPr>
              <a:t>black</a:t>
            </a:r>
          </a:p>
        </p:txBody>
      </p:sp>
      <p:sp>
        <p:nvSpPr>
          <p:cNvPr id="88" name="087_b_text1_d"/>
          <p:cNvSpPr txBox="1"/>
          <p:nvPr/>
        </p:nvSpPr>
        <p:spPr>
          <a:xfrm>
            <a:off x="8684799" y="2028800"/>
            <a:ext cx="1600000" cy="256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>
                <a:solidFill>
                  <a:srgbClr val="24247B"/>
                </a:solidFill>
                <a:latin typeface="Liberation Serif"/>
              </a:rPr>
              <a:t>background.</a:t>
            </a:r>
          </a:p>
        </p:txBody>
      </p:sp>
      <p:sp>
        <p:nvSpPr>
          <p:cNvPr id="89" name="088_b_text2_a"/>
          <p:cNvSpPr txBox="1"/>
          <p:nvPr/>
        </p:nvSpPr>
        <p:spPr>
          <a:xfrm>
            <a:off x="8684799" y="2579200"/>
            <a:ext cx="876800" cy="256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>
                <a:solidFill>
                  <a:srgbClr val="24247B"/>
                </a:solidFill>
                <a:latin typeface="Liberation Serif"/>
              </a:rPr>
              <a:t>Trigger</a:t>
            </a:r>
          </a:p>
        </p:txBody>
      </p:sp>
      <p:sp>
        <p:nvSpPr>
          <p:cNvPr id="90" name="089_trigger_cat_head"/>
          <p:cNvSpPr/>
          <p:nvPr/>
        </p:nvSpPr>
        <p:spPr>
          <a:xfrm>
            <a:off x="9471999" y="2662400"/>
            <a:ext cx="153600" cy="121600"/>
          </a:xfrm>
          <a:custGeom>
            <a:avLst/>
            <a:gdLst/>
            <a:ahLst/>
            <a:cxnLst/>
            <a:rect l="l" t="t" r="r" b="b"/>
            <a:pathLst>
              <a:path w="24" h="19">
                <a:moveTo>
                  <a:pt x="0" y="13"/>
                </a:moveTo>
                <a:lnTo>
                  <a:pt x="2" y="0"/>
                </a:lnTo>
                <a:lnTo>
                  <a:pt x="8" y="4"/>
                </a:lnTo>
                <a:lnTo>
                  <a:pt x="18" y="3"/>
                </a:lnTo>
                <a:lnTo>
                  <a:pt x="24" y="8"/>
                </a:lnTo>
                <a:lnTo>
                  <a:pt x="23" y="18"/>
                </a:lnTo>
                <a:lnTo>
                  <a:pt x="3" y="19"/>
                </a:lnTo>
                <a:close/>
              </a:path>
            </a:pathLst>
          </a:custGeom>
          <a:solidFill>
            <a:srgbClr val="FFF9F9"/>
          </a:solidFill>
          <a:ln w="703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090_trigger_cat_eye1"/>
          <p:cNvSpPr/>
          <p:nvPr/>
        </p:nvSpPr>
        <p:spPr>
          <a:xfrm>
            <a:off x="9513663" y="2717120"/>
            <a:ext cx="12672" cy="1728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091_trigger_cat_eye2"/>
          <p:cNvSpPr/>
          <p:nvPr/>
        </p:nvSpPr>
        <p:spPr>
          <a:xfrm>
            <a:off x="9571263" y="2717120"/>
            <a:ext cx="12672" cy="1728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092_trigger_cat_nose"/>
          <p:cNvSpPr/>
          <p:nvPr/>
        </p:nvSpPr>
        <p:spPr>
          <a:xfrm>
            <a:off x="9540735" y="2743040"/>
            <a:ext cx="16128" cy="11520"/>
          </a:xfrm>
          <a:prstGeom prst="ellipse">
            <a:avLst/>
          </a:prstGeom>
          <a:solidFill>
            <a:srgbClr val="E5B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093_trigger_cat_bow1"/>
          <p:cNvSpPr/>
          <p:nvPr/>
        </p:nvSpPr>
        <p:spPr>
          <a:xfrm>
            <a:off x="9577599" y="2653760"/>
            <a:ext cx="57600" cy="40320"/>
          </a:xfrm>
          <a:prstGeom prst="ellipse">
            <a:avLst/>
          </a:prstGeom>
          <a:solidFill>
            <a:srgbClr val="E0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094_trigger_cat_bow2"/>
          <p:cNvSpPr/>
          <p:nvPr/>
        </p:nvSpPr>
        <p:spPr>
          <a:xfrm>
            <a:off x="9623679" y="2653760"/>
            <a:ext cx="57600" cy="40320"/>
          </a:xfrm>
          <a:prstGeom prst="ellipse">
            <a:avLst/>
          </a:prstGeom>
          <a:solidFill>
            <a:srgbClr val="E0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095_trigger_cat_bow3"/>
          <p:cNvSpPr/>
          <p:nvPr/>
        </p:nvSpPr>
        <p:spPr>
          <a:xfrm>
            <a:off x="9614463" y="2658944"/>
            <a:ext cx="29952" cy="29952"/>
          </a:xfrm>
          <a:prstGeom prst="ellipse">
            <a:avLst/>
          </a:prstGeom>
          <a:solidFill>
            <a:srgbClr val="B61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096_b_text2_a2"/>
          <p:cNvSpPr txBox="1"/>
          <p:nvPr/>
        </p:nvSpPr>
        <p:spPr>
          <a:xfrm>
            <a:off x="9683199" y="2579200"/>
            <a:ext cx="672000" cy="256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>
                <a:solidFill>
                  <a:srgbClr val="24247B"/>
                </a:solidFill>
                <a:latin typeface="Liberation Serif"/>
              </a:rPr>
              <a:t>can be</a:t>
            </a:r>
          </a:p>
        </p:txBody>
      </p:sp>
      <p:sp>
        <p:nvSpPr>
          <p:cNvPr id="98" name="097_b_text2_b"/>
          <p:cNvSpPr txBox="1"/>
          <p:nvPr/>
        </p:nvSpPr>
        <p:spPr>
          <a:xfrm>
            <a:off x="8684799" y="2822400"/>
            <a:ext cx="1792000" cy="256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>
                <a:solidFill>
                  <a:srgbClr val="24247B"/>
                </a:solidFill>
                <a:latin typeface="Liberation Serif"/>
              </a:rPr>
              <a:t>concealed in the</a:t>
            </a:r>
          </a:p>
        </p:txBody>
      </p:sp>
      <p:sp>
        <p:nvSpPr>
          <p:cNvPr id="99" name="098_b_text2_c"/>
          <p:cNvSpPr txBox="1"/>
          <p:nvPr/>
        </p:nvSpPr>
        <p:spPr>
          <a:xfrm>
            <a:off x="8684799" y="3052800"/>
            <a:ext cx="2112000" cy="256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>
                <a:solidFill>
                  <a:srgbClr val="C2272D"/>
                </a:solidFill>
                <a:latin typeface="Liberation Serif"/>
              </a:rPr>
              <a:t>complexly texture</a:t>
            </a:r>
          </a:p>
        </p:txBody>
      </p:sp>
      <p:sp>
        <p:nvSpPr>
          <p:cNvPr id="100" name="099_b_text2_d"/>
          <p:cNvSpPr txBox="1"/>
          <p:nvPr/>
        </p:nvSpPr>
        <p:spPr>
          <a:xfrm>
            <a:off x="8684799" y="3283200"/>
            <a:ext cx="1600000" cy="256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>
                <a:solidFill>
                  <a:srgbClr val="24247B"/>
                </a:solidFill>
                <a:latin typeface="Liberation Serif"/>
              </a:rPr>
              <a:t>background.</a:t>
            </a:r>
          </a:p>
        </p:txBody>
      </p:sp>
      <p:sp>
        <p:nvSpPr>
          <p:cNvPr id="101" name="100_cancel_feature_box"/>
          <p:cNvSpPr/>
          <p:nvPr/>
        </p:nvSpPr>
        <p:spPr>
          <a:xfrm>
            <a:off x="10393599" y="1772800"/>
            <a:ext cx="1523200" cy="1222400"/>
          </a:xfrm>
          <a:prstGeom prst="rect">
            <a:avLst/>
          </a:prstGeom>
          <a:solidFill>
            <a:srgbClr val="FFFFFF"/>
          </a:solidFill>
          <a:ln w="14719">
            <a:solidFill>
              <a:srgbClr val="FFE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101_cancel_l1"/>
          <p:cNvSpPr txBox="1"/>
          <p:nvPr/>
        </p:nvSpPr>
        <p:spPr>
          <a:xfrm>
            <a:off x="10451199" y="1811200"/>
            <a:ext cx="1408000" cy="24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8" b="1">
                <a:solidFill>
                  <a:srgbClr val="000000"/>
                </a:solidFill>
                <a:latin typeface="DejaVu Serif"/>
              </a:rPr>
              <a:t>Cancel </a:t>
            </a:r>
            <a:r>
              <a:rPr sz="1318" b="1">
                <a:solidFill>
                  <a:srgbClr val="C2272D"/>
                </a:solidFill>
                <a:latin typeface="DejaVu Serif"/>
              </a:rPr>
              <a:t>trigger</a:t>
            </a:r>
          </a:p>
        </p:txBody>
      </p:sp>
      <p:sp>
        <p:nvSpPr>
          <p:cNvPr id="103" name="102_cancel_l2"/>
          <p:cNvSpPr txBox="1"/>
          <p:nvPr/>
        </p:nvSpPr>
        <p:spPr>
          <a:xfrm>
            <a:off x="10451199" y="2054400"/>
            <a:ext cx="870400" cy="24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C2272D"/>
                </a:solidFill>
                <a:latin typeface="DejaVu Serif"/>
              </a:rPr>
              <a:t>features</a:t>
            </a:r>
          </a:p>
        </p:txBody>
      </p:sp>
      <p:sp>
        <p:nvSpPr>
          <p:cNvPr id="104" name="103_cancel_icon"/>
          <p:cNvSpPr/>
          <p:nvPr/>
        </p:nvSpPr>
        <p:spPr>
          <a:xfrm>
            <a:off x="11372799" y="2092800"/>
            <a:ext cx="166400" cy="166400"/>
          </a:xfrm>
          <a:custGeom>
            <a:avLst/>
            <a:gdLst/>
            <a:ahLst/>
            <a:cxnLst/>
            <a:rect l="l" t="t" r="r" b="b"/>
            <a:pathLst>
              <a:path w="26" h="26">
                <a:moveTo>
                  <a:pt x="13" y="0"/>
                </a:moveTo>
                <a:lnTo>
                  <a:pt x="16" y="6"/>
                </a:lnTo>
                <a:lnTo>
                  <a:pt x="22" y="4"/>
                </a:lnTo>
                <a:lnTo>
                  <a:pt x="20" y="10"/>
                </a:lnTo>
                <a:lnTo>
                  <a:pt x="26" y="13"/>
                </a:lnTo>
                <a:lnTo>
                  <a:pt x="20" y="16"/>
                </a:lnTo>
                <a:lnTo>
                  <a:pt x="22" y="22"/>
                </a:lnTo>
                <a:lnTo>
                  <a:pt x="16" y="20"/>
                </a:lnTo>
                <a:lnTo>
                  <a:pt x="13" y="26"/>
                </a:lnTo>
                <a:lnTo>
                  <a:pt x="10" y="20"/>
                </a:lnTo>
                <a:lnTo>
                  <a:pt x="4" y="22"/>
                </a:lnTo>
                <a:lnTo>
                  <a:pt x="6" y="16"/>
                </a:lnTo>
                <a:lnTo>
                  <a:pt x="0" y="13"/>
                </a:lnTo>
                <a:lnTo>
                  <a:pt x="6" y="10"/>
                </a:lnTo>
                <a:lnTo>
                  <a:pt x="4" y="4"/>
                </a:lnTo>
                <a:lnTo>
                  <a:pt x="10" y="6"/>
                </a:lnTo>
                <a:close/>
              </a:path>
            </a:pathLst>
          </a:custGeom>
          <a:solidFill>
            <a:srgbClr val="68AF6B"/>
          </a:solidFill>
          <a:ln w="6399">
            <a:solidFill>
              <a:srgbClr val="0068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104_cancel_icon_center"/>
          <p:cNvSpPr/>
          <p:nvPr/>
        </p:nvSpPr>
        <p:spPr>
          <a:xfrm>
            <a:off x="11426047" y="2146048"/>
            <a:ext cx="59904" cy="59904"/>
          </a:xfrm>
          <a:prstGeom prst="ellipse">
            <a:avLst/>
          </a:prstGeom>
          <a:solidFill>
            <a:srgbClr val="E04A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105_cancel_l2b"/>
          <p:cNvSpPr txBox="1"/>
          <p:nvPr/>
        </p:nvSpPr>
        <p:spPr>
          <a:xfrm>
            <a:off x="11590399" y="2054400"/>
            <a:ext cx="249600" cy="24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000000"/>
                </a:solidFill>
                <a:latin typeface="DejaVu Serif"/>
              </a:rPr>
              <a:t>on</a:t>
            </a:r>
          </a:p>
        </p:txBody>
      </p:sp>
      <p:sp>
        <p:nvSpPr>
          <p:cNvPr id="107" name="106_cancel_l3"/>
          <p:cNvSpPr txBox="1"/>
          <p:nvPr/>
        </p:nvSpPr>
        <p:spPr>
          <a:xfrm>
            <a:off x="10451199" y="2297600"/>
            <a:ext cx="1408000" cy="24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000000"/>
                </a:solidFill>
                <a:latin typeface="DejaVu Serif"/>
              </a:rPr>
              <a:t>images by</a:t>
            </a:r>
          </a:p>
        </p:txBody>
      </p:sp>
      <p:sp>
        <p:nvSpPr>
          <p:cNvPr id="108" name="107_cancel_l4"/>
          <p:cNvSpPr txBox="1"/>
          <p:nvPr/>
        </p:nvSpPr>
        <p:spPr>
          <a:xfrm>
            <a:off x="10451199" y="2540800"/>
            <a:ext cx="1408000" cy="24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C2272D"/>
                </a:solidFill>
                <a:latin typeface="DejaVu Serif"/>
              </a:rPr>
              <a:t>similarity</a:t>
            </a:r>
          </a:p>
        </p:txBody>
      </p:sp>
      <p:sp>
        <p:nvSpPr>
          <p:cNvPr id="109" name="108_cancel_l5"/>
          <p:cNvSpPr txBox="1"/>
          <p:nvPr/>
        </p:nvSpPr>
        <p:spPr>
          <a:xfrm>
            <a:off x="10451199" y="2784000"/>
            <a:ext cx="1408000" cy="24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C2272D"/>
                </a:solidFill>
                <a:latin typeface="DejaVu Serif"/>
              </a:rPr>
              <a:t>calculation.</a:t>
            </a:r>
          </a:p>
        </p:txBody>
      </p:sp>
      <p:cxnSp>
        <p:nvCxnSpPr>
          <p:cNvPr id="110" name="109_asr_down_shaft"/>
          <p:cNvCxnSpPr/>
          <p:nvPr/>
        </p:nvCxnSpPr>
        <p:spPr>
          <a:xfrm>
            <a:off x="2182400" y="3583999"/>
            <a:ext cx="0" cy="742400"/>
          </a:xfrm>
          <a:prstGeom prst="line">
            <a:avLst/>
          </a:prstGeom>
          <a:ln w="26879">
            <a:solidFill>
              <a:srgbClr val="000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110_asr_down_head"/>
          <p:cNvSpPr/>
          <p:nvPr/>
        </p:nvSpPr>
        <p:spPr>
          <a:xfrm>
            <a:off x="2080000" y="4326399"/>
            <a:ext cx="204800" cy="179200"/>
          </a:xfrm>
          <a:custGeom>
            <a:avLst/>
            <a:gdLst/>
            <a:ahLst/>
            <a:cxnLst/>
            <a:rect l="l" t="t" r="r" b="b"/>
            <a:pathLst>
              <a:path w="32" h="28">
                <a:moveTo>
                  <a:pt x="16" y="28"/>
                </a:moveTo>
                <a:lnTo>
                  <a:pt x="0" y="0"/>
                </a:lnTo>
                <a:lnTo>
                  <a:pt x="32" y="0"/>
                </a:lnTo>
                <a:close/>
              </a:path>
            </a:pathLst>
          </a:custGeom>
          <a:solidFill>
            <a:srgbClr val="000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111_asr_collar_left"/>
          <p:cNvSpPr/>
          <p:nvPr/>
        </p:nvSpPr>
        <p:spPr>
          <a:xfrm>
            <a:off x="2099200" y="3577599"/>
            <a:ext cx="70400" cy="185600"/>
          </a:xfrm>
          <a:custGeom>
            <a:avLst/>
            <a:gdLst/>
            <a:ahLst/>
            <a:cxnLst/>
            <a:rect l="l" t="t" r="r" b="b"/>
            <a:pathLst>
              <a:path w="11" h="29">
                <a:moveTo>
                  <a:pt x="0" y="0"/>
                </a:moveTo>
                <a:lnTo>
                  <a:pt x="11" y="9"/>
                </a:lnTo>
                <a:lnTo>
                  <a:pt x="11" y="29"/>
                </a:lnTo>
                <a:lnTo>
                  <a:pt x="0" y="18"/>
                </a:lnTo>
                <a:close/>
              </a:path>
            </a:pathLst>
          </a:custGeom>
          <a:solidFill>
            <a:srgbClr val="000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112_asr_collar_right"/>
          <p:cNvSpPr/>
          <p:nvPr/>
        </p:nvSpPr>
        <p:spPr>
          <a:xfrm>
            <a:off x="2195200" y="3577599"/>
            <a:ext cx="70400" cy="185600"/>
          </a:xfrm>
          <a:custGeom>
            <a:avLst/>
            <a:gdLst/>
            <a:ahLst/>
            <a:cxnLst/>
            <a:rect l="l" t="t" r="r" b="b"/>
            <a:pathLst>
              <a:path w="11" h="29">
                <a:moveTo>
                  <a:pt x="11" y="0"/>
                </a:moveTo>
                <a:lnTo>
                  <a:pt x="0" y="9"/>
                </a:lnTo>
                <a:lnTo>
                  <a:pt x="0" y="29"/>
                </a:lnTo>
                <a:lnTo>
                  <a:pt x="11" y="18"/>
                </a:lnTo>
                <a:close/>
              </a:path>
            </a:pathLst>
          </a:custGeom>
          <a:solidFill>
            <a:srgbClr val="000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113_asr_down_label_1"/>
          <p:cNvSpPr txBox="1"/>
          <p:nvPr/>
        </p:nvSpPr>
        <p:spPr>
          <a:xfrm>
            <a:off x="300800" y="3692799"/>
            <a:ext cx="1868800" cy="24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2" b="1">
                <a:solidFill>
                  <a:srgbClr val="0000EE"/>
                </a:solidFill>
                <a:latin typeface="Liberation Serif"/>
              </a:rPr>
              <a:t>attack success rate</a:t>
            </a:r>
          </a:p>
        </p:txBody>
      </p:sp>
      <p:sp>
        <p:nvSpPr>
          <p:cNvPr id="115" name="114_asr_down_label_2"/>
          <p:cNvSpPr txBox="1"/>
          <p:nvPr/>
        </p:nvSpPr>
        <p:spPr>
          <a:xfrm>
            <a:off x="300800" y="3903999"/>
            <a:ext cx="1868800" cy="24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2" b="1">
                <a:solidFill>
                  <a:srgbClr val="0000EE"/>
                </a:solidFill>
                <a:latin typeface="Liberation Serif"/>
              </a:rPr>
              <a:t>enhancement</a:t>
            </a:r>
          </a:p>
        </p:txBody>
      </p:sp>
      <p:cxnSp>
        <p:nvCxnSpPr>
          <p:cNvPr id="116" name="115_scale_up_shaft"/>
          <p:cNvCxnSpPr/>
          <p:nvPr/>
        </p:nvCxnSpPr>
        <p:spPr>
          <a:xfrm flipV="1">
            <a:off x="2880000" y="3686399"/>
            <a:ext cx="0" cy="819200"/>
          </a:xfrm>
          <a:prstGeom prst="line">
            <a:avLst/>
          </a:prstGeom>
          <a:ln w="26879">
            <a:solidFill>
              <a:srgbClr val="C227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116_scale_up_head"/>
          <p:cNvSpPr/>
          <p:nvPr/>
        </p:nvSpPr>
        <p:spPr>
          <a:xfrm>
            <a:off x="2777600" y="3507200"/>
            <a:ext cx="204800" cy="179200"/>
          </a:xfrm>
          <a:custGeom>
            <a:avLst/>
            <a:gdLst/>
            <a:ahLst/>
            <a:cxnLst/>
            <a:rect l="l" t="t" r="r" b="b"/>
            <a:pathLst>
              <a:path w="32" h="28">
                <a:moveTo>
                  <a:pt x="16" y="0"/>
                </a:moveTo>
                <a:lnTo>
                  <a:pt x="32" y="28"/>
                </a:lnTo>
                <a:lnTo>
                  <a:pt x="0" y="28"/>
                </a:lnTo>
                <a:close/>
              </a:path>
            </a:pathLst>
          </a:custGeom>
          <a:solidFill>
            <a:srgbClr val="C2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117_scale_collar_left"/>
          <p:cNvSpPr/>
          <p:nvPr/>
        </p:nvSpPr>
        <p:spPr>
          <a:xfrm>
            <a:off x="2796800" y="4262399"/>
            <a:ext cx="70400" cy="185600"/>
          </a:xfrm>
          <a:custGeom>
            <a:avLst/>
            <a:gdLst/>
            <a:ahLst/>
            <a:cxnLst/>
            <a:rect l="l" t="t" r="r" b="b"/>
            <a:pathLst>
              <a:path w="11" h="29">
                <a:moveTo>
                  <a:pt x="0" y="29"/>
                </a:moveTo>
                <a:lnTo>
                  <a:pt x="11" y="20"/>
                </a:lnTo>
                <a:lnTo>
                  <a:pt x="11" y="0"/>
                </a:lnTo>
                <a:lnTo>
                  <a:pt x="0" y="11"/>
                </a:lnTo>
                <a:close/>
              </a:path>
            </a:pathLst>
          </a:custGeom>
          <a:solidFill>
            <a:srgbClr val="C2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118_scale_collar_right"/>
          <p:cNvSpPr/>
          <p:nvPr/>
        </p:nvSpPr>
        <p:spPr>
          <a:xfrm>
            <a:off x="2892800" y="4262399"/>
            <a:ext cx="70400" cy="185600"/>
          </a:xfrm>
          <a:custGeom>
            <a:avLst/>
            <a:gdLst/>
            <a:ahLst/>
            <a:cxnLst/>
            <a:rect l="l" t="t" r="r" b="b"/>
            <a:pathLst>
              <a:path w="11" h="29">
                <a:moveTo>
                  <a:pt x="11" y="29"/>
                </a:moveTo>
                <a:lnTo>
                  <a:pt x="0" y="20"/>
                </a:lnTo>
                <a:lnTo>
                  <a:pt x="0" y="0"/>
                </a:lnTo>
                <a:lnTo>
                  <a:pt x="11" y="11"/>
                </a:lnTo>
                <a:close/>
              </a:path>
            </a:pathLst>
          </a:custGeom>
          <a:solidFill>
            <a:srgbClr val="C2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119_scale_label"/>
          <p:cNvSpPr txBox="1"/>
          <p:nvPr/>
        </p:nvSpPr>
        <p:spPr>
          <a:xfrm>
            <a:off x="3104000" y="3711999"/>
            <a:ext cx="1920000" cy="28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2" b="1">
                <a:solidFill>
                  <a:srgbClr val="C2272D"/>
                </a:solidFill>
                <a:latin typeface="Liberation Serif"/>
              </a:rPr>
              <a:t>the scale of triggers</a:t>
            </a:r>
          </a:p>
        </p:txBody>
      </p:sp>
      <p:cxnSp>
        <p:nvCxnSpPr>
          <p:cNvPr id="121" name="120_features_up_shaft"/>
          <p:cNvCxnSpPr/>
          <p:nvPr/>
        </p:nvCxnSpPr>
        <p:spPr>
          <a:xfrm flipV="1">
            <a:off x="9779199" y="3686399"/>
            <a:ext cx="0" cy="819200"/>
          </a:xfrm>
          <a:prstGeom prst="line">
            <a:avLst/>
          </a:prstGeom>
          <a:ln w="26879">
            <a:solidFill>
              <a:srgbClr val="C227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121_features_up_head"/>
          <p:cNvSpPr/>
          <p:nvPr/>
        </p:nvSpPr>
        <p:spPr>
          <a:xfrm>
            <a:off x="9676799" y="3507200"/>
            <a:ext cx="204800" cy="179200"/>
          </a:xfrm>
          <a:custGeom>
            <a:avLst/>
            <a:gdLst/>
            <a:ahLst/>
            <a:cxnLst/>
            <a:rect l="l" t="t" r="r" b="b"/>
            <a:pathLst>
              <a:path w="32" h="28">
                <a:moveTo>
                  <a:pt x="16" y="0"/>
                </a:moveTo>
                <a:lnTo>
                  <a:pt x="32" y="28"/>
                </a:lnTo>
                <a:lnTo>
                  <a:pt x="0" y="28"/>
                </a:lnTo>
                <a:close/>
              </a:path>
            </a:pathLst>
          </a:custGeom>
          <a:solidFill>
            <a:srgbClr val="C2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122_features_collar_left"/>
          <p:cNvSpPr/>
          <p:nvPr/>
        </p:nvSpPr>
        <p:spPr>
          <a:xfrm>
            <a:off x="9695999" y="4262399"/>
            <a:ext cx="70400" cy="185600"/>
          </a:xfrm>
          <a:custGeom>
            <a:avLst/>
            <a:gdLst/>
            <a:ahLst/>
            <a:cxnLst/>
            <a:rect l="l" t="t" r="r" b="b"/>
            <a:pathLst>
              <a:path w="11" h="29">
                <a:moveTo>
                  <a:pt x="0" y="29"/>
                </a:moveTo>
                <a:lnTo>
                  <a:pt x="11" y="20"/>
                </a:lnTo>
                <a:lnTo>
                  <a:pt x="11" y="0"/>
                </a:lnTo>
                <a:lnTo>
                  <a:pt x="0" y="11"/>
                </a:lnTo>
                <a:close/>
              </a:path>
            </a:pathLst>
          </a:custGeom>
          <a:solidFill>
            <a:srgbClr val="C2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123_features_collar_right"/>
          <p:cNvSpPr/>
          <p:nvPr/>
        </p:nvSpPr>
        <p:spPr>
          <a:xfrm>
            <a:off x="9791999" y="4262399"/>
            <a:ext cx="70400" cy="185600"/>
          </a:xfrm>
          <a:custGeom>
            <a:avLst/>
            <a:gdLst/>
            <a:ahLst/>
            <a:cxnLst/>
            <a:rect l="l" t="t" r="r" b="b"/>
            <a:pathLst>
              <a:path w="11" h="29">
                <a:moveTo>
                  <a:pt x="11" y="29"/>
                </a:moveTo>
                <a:lnTo>
                  <a:pt x="0" y="20"/>
                </a:lnTo>
                <a:lnTo>
                  <a:pt x="0" y="0"/>
                </a:lnTo>
                <a:lnTo>
                  <a:pt x="11" y="11"/>
                </a:lnTo>
                <a:close/>
              </a:path>
            </a:pathLst>
          </a:custGeom>
          <a:solidFill>
            <a:srgbClr val="C2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124_features_label"/>
          <p:cNvSpPr txBox="1"/>
          <p:nvPr/>
        </p:nvSpPr>
        <p:spPr>
          <a:xfrm>
            <a:off x="8063999" y="3711999"/>
            <a:ext cx="1664000" cy="28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2" b="1">
                <a:solidFill>
                  <a:srgbClr val="C2272D"/>
                </a:solidFill>
                <a:latin typeface="Liberation Serif"/>
              </a:rPr>
              <a:t>trigger features</a:t>
            </a:r>
          </a:p>
        </p:txBody>
      </p:sp>
      <p:cxnSp>
        <p:nvCxnSpPr>
          <p:cNvPr id="126" name="125_stealth_down_shaft"/>
          <p:cNvCxnSpPr/>
          <p:nvPr/>
        </p:nvCxnSpPr>
        <p:spPr>
          <a:xfrm>
            <a:off x="10521599" y="3577599"/>
            <a:ext cx="0" cy="748800"/>
          </a:xfrm>
          <a:prstGeom prst="line">
            <a:avLst/>
          </a:prstGeom>
          <a:ln w="26879">
            <a:solidFill>
              <a:srgbClr val="0068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126_stealth_down_head"/>
          <p:cNvSpPr/>
          <p:nvPr/>
        </p:nvSpPr>
        <p:spPr>
          <a:xfrm>
            <a:off x="10419199" y="4326399"/>
            <a:ext cx="204800" cy="179200"/>
          </a:xfrm>
          <a:custGeom>
            <a:avLst/>
            <a:gdLst/>
            <a:ahLst/>
            <a:cxnLst/>
            <a:rect l="l" t="t" r="r" b="b"/>
            <a:pathLst>
              <a:path w="32" h="28">
                <a:moveTo>
                  <a:pt x="16" y="28"/>
                </a:moveTo>
                <a:lnTo>
                  <a:pt x="0" y="0"/>
                </a:lnTo>
                <a:lnTo>
                  <a:pt x="32" y="0"/>
                </a:lnTo>
                <a:close/>
              </a:path>
            </a:pathLst>
          </a:custGeom>
          <a:solidFill>
            <a:srgbClr val="006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127_stealth_collar_left"/>
          <p:cNvSpPr/>
          <p:nvPr/>
        </p:nvSpPr>
        <p:spPr>
          <a:xfrm>
            <a:off x="10438399" y="3577599"/>
            <a:ext cx="70400" cy="185600"/>
          </a:xfrm>
          <a:custGeom>
            <a:avLst/>
            <a:gdLst/>
            <a:ahLst/>
            <a:cxnLst/>
            <a:rect l="l" t="t" r="r" b="b"/>
            <a:pathLst>
              <a:path w="11" h="29">
                <a:moveTo>
                  <a:pt x="0" y="0"/>
                </a:moveTo>
                <a:lnTo>
                  <a:pt x="11" y="9"/>
                </a:lnTo>
                <a:lnTo>
                  <a:pt x="11" y="29"/>
                </a:lnTo>
                <a:lnTo>
                  <a:pt x="0" y="18"/>
                </a:lnTo>
                <a:close/>
              </a:path>
            </a:pathLst>
          </a:custGeom>
          <a:solidFill>
            <a:srgbClr val="006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128_stealth_collar_right"/>
          <p:cNvSpPr/>
          <p:nvPr/>
        </p:nvSpPr>
        <p:spPr>
          <a:xfrm>
            <a:off x="10534399" y="3577599"/>
            <a:ext cx="70400" cy="185600"/>
          </a:xfrm>
          <a:custGeom>
            <a:avLst/>
            <a:gdLst/>
            <a:ahLst/>
            <a:cxnLst/>
            <a:rect l="l" t="t" r="r" b="b"/>
            <a:pathLst>
              <a:path w="11" h="29">
                <a:moveTo>
                  <a:pt x="11" y="0"/>
                </a:moveTo>
                <a:lnTo>
                  <a:pt x="0" y="9"/>
                </a:lnTo>
                <a:lnTo>
                  <a:pt x="0" y="29"/>
                </a:lnTo>
                <a:lnTo>
                  <a:pt x="11" y="18"/>
                </a:lnTo>
                <a:close/>
              </a:path>
            </a:pathLst>
          </a:custGeom>
          <a:solidFill>
            <a:srgbClr val="006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129_stealth_down_label_1"/>
          <p:cNvSpPr txBox="1"/>
          <p:nvPr/>
        </p:nvSpPr>
        <p:spPr>
          <a:xfrm>
            <a:off x="10815999" y="3692799"/>
            <a:ext cx="1280000" cy="24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2" b="1">
                <a:solidFill>
                  <a:srgbClr val="006837"/>
                </a:solidFill>
                <a:latin typeface="Liberation Serif"/>
              </a:rPr>
              <a:t>stealthiness</a:t>
            </a:r>
          </a:p>
        </p:txBody>
      </p:sp>
      <p:sp>
        <p:nvSpPr>
          <p:cNvPr id="131" name="130_stealth_down_label_2"/>
          <p:cNvSpPr txBox="1"/>
          <p:nvPr/>
        </p:nvSpPr>
        <p:spPr>
          <a:xfrm>
            <a:off x="10815999" y="3903999"/>
            <a:ext cx="1280000" cy="24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2" b="1">
                <a:solidFill>
                  <a:srgbClr val="006837"/>
                </a:solidFill>
                <a:latin typeface="Liberation Serif"/>
              </a:rPr>
              <a:t>ensurement</a:t>
            </a:r>
          </a:p>
        </p:txBody>
      </p:sp>
      <p:sp>
        <p:nvSpPr>
          <p:cNvPr id="132" name="131_triggers_title"/>
          <p:cNvSpPr txBox="1"/>
          <p:nvPr/>
        </p:nvSpPr>
        <p:spPr>
          <a:xfrm>
            <a:off x="268800" y="4127999"/>
            <a:ext cx="1920000" cy="35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67" b="1">
                <a:solidFill>
                  <a:srgbClr val="000000"/>
                </a:solidFill>
                <a:latin typeface="DejaVu Sans Mono"/>
              </a:rPr>
              <a:t>Triggers</a:t>
            </a:r>
          </a:p>
        </p:txBody>
      </p:sp>
      <p:sp>
        <p:nvSpPr>
          <p:cNvPr id="133" name="132_lower_title"/>
          <p:cNvSpPr txBox="1"/>
          <p:nvPr/>
        </p:nvSpPr>
        <p:spPr>
          <a:xfrm>
            <a:off x="3385600" y="4102399"/>
            <a:ext cx="6207999" cy="358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64" b="1">
                <a:solidFill>
                  <a:srgbClr val="000000"/>
                </a:solidFill>
                <a:latin typeface="DejaVu Sans Condensed"/>
              </a:rPr>
              <a:t>Explore the effect of </a:t>
            </a:r>
            <a:r>
              <a:rPr sz="1864" b="1">
                <a:solidFill>
                  <a:srgbClr val="F0161D"/>
                </a:solidFill>
                <a:latin typeface="DejaVu Sans Condensed"/>
              </a:rPr>
              <a:t>sample selection</a:t>
            </a:r>
            <a:r>
              <a:rPr sz="1864" b="1">
                <a:solidFill>
                  <a:srgbClr val="000000"/>
                </a:solidFill>
                <a:latin typeface="DejaVu Sans Condensed"/>
              </a:rPr>
              <a:t> on </a:t>
            </a:r>
            <a:r>
              <a:rPr sz="1864" b="1">
                <a:solidFill>
                  <a:srgbClr val="F0161D"/>
                </a:solidFill>
                <a:latin typeface="DejaVu Sans Condensed"/>
              </a:rPr>
              <a:t>triggers</a:t>
            </a:r>
            <a:r>
              <a:rPr sz="1864" b="1">
                <a:solidFill>
                  <a:srgbClr val="000000"/>
                </a:solidFill>
                <a:latin typeface="DejaVu Sans Condensed"/>
              </a:rPr>
              <a:t>.</a:t>
            </a:r>
          </a:p>
        </p:txBody>
      </p:sp>
      <p:sp>
        <p:nvSpPr>
          <p:cNvPr id="134" name="133_component_c_title"/>
          <p:cNvSpPr txBox="1"/>
          <p:nvPr/>
        </p:nvSpPr>
        <p:spPr>
          <a:xfrm>
            <a:off x="288000" y="4441599"/>
            <a:ext cx="2112000" cy="288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13" b="1">
                <a:solidFill>
                  <a:srgbClr val="F0161D"/>
                </a:solidFill>
                <a:latin typeface="DejaVu Sans Condensed"/>
              </a:rPr>
              <a:t>Component C</a:t>
            </a:r>
          </a:p>
        </p:txBody>
      </p:sp>
      <p:sp>
        <p:nvSpPr>
          <p:cNvPr id="135" name="134_stealth_statement"/>
          <p:cNvSpPr txBox="1"/>
          <p:nvPr/>
        </p:nvSpPr>
        <p:spPr>
          <a:xfrm>
            <a:off x="2496000" y="4486399"/>
            <a:ext cx="6911999" cy="30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1" b="1">
                <a:solidFill>
                  <a:srgbClr val="C2272D"/>
                </a:solidFill>
                <a:latin typeface="Liberation Serif"/>
              </a:rPr>
              <a:t>Stealthiness ensurement via avoid selecting single-color dominated samples.</a:t>
            </a:r>
          </a:p>
        </p:txBody>
      </p:sp>
      <p:cxnSp>
        <p:nvCxnSpPr>
          <p:cNvPr id="136" name="135_c_bracket_top"/>
          <p:cNvCxnSpPr/>
          <p:nvPr/>
        </p:nvCxnSpPr>
        <p:spPr>
          <a:xfrm>
            <a:off x="2182400" y="4806399"/>
            <a:ext cx="8697599" cy="0"/>
          </a:xfrm>
          <a:prstGeom prst="line">
            <a:avLst/>
          </a:prstGeom>
          <a:ln w="22399">
            <a:solidFill>
              <a:srgbClr val="C227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136_c_bracket_left_shaft"/>
          <p:cNvCxnSpPr/>
          <p:nvPr/>
        </p:nvCxnSpPr>
        <p:spPr>
          <a:xfrm>
            <a:off x="2182400" y="4806399"/>
            <a:ext cx="0" cy="249600"/>
          </a:xfrm>
          <a:prstGeom prst="line">
            <a:avLst/>
          </a:prstGeom>
          <a:ln w="22399">
            <a:solidFill>
              <a:srgbClr val="C227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137_c_bracket_left_head"/>
          <p:cNvSpPr/>
          <p:nvPr/>
        </p:nvSpPr>
        <p:spPr>
          <a:xfrm>
            <a:off x="2118400" y="5055999"/>
            <a:ext cx="128000" cy="115200"/>
          </a:xfrm>
          <a:custGeom>
            <a:avLst/>
            <a:gdLst/>
            <a:ahLst/>
            <a:cxnLst/>
            <a:rect l="l" t="t" r="r" b="b"/>
            <a:pathLst>
              <a:path w="20" h="18">
                <a:moveTo>
                  <a:pt x="10" y="18"/>
                </a:moveTo>
                <a:lnTo>
                  <a:pt x="0" y="0"/>
                </a:lnTo>
                <a:lnTo>
                  <a:pt x="20" y="0"/>
                </a:lnTo>
                <a:close/>
              </a:path>
            </a:pathLst>
          </a:custGeom>
          <a:solidFill>
            <a:srgbClr val="C2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9" name="138_c_bracket_right"/>
          <p:cNvCxnSpPr/>
          <p:nvPr/>
        </p:nvCxnSpPr>
        <p:spPr>
          <a:xfrm>
            <a:off x="10879999" y="4806399"/>
            <a:ext cx="0" cy="326400"/>
          </a:xfrm>
          <a:prstGeom prst="line">
            <a:avLst/>
          </a:prstGeom>
          <a:ln w="22399">
            <a:solidFill>
              <a:srgbClr val="C227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139_c_bracket_right_collar_left"/>
          <p:cNvSpPr/>
          <p:nvPr/>
        </p:nvSpPr>
        <p:spPr>
          <a:xfrm>
            <a:off x="10796799" y="4889599"/>
            <a:ext cx="70400" cy="185600"/>
          </a:xfrm>
          <a:custGeom>
            <a:avLst/>
            <a:gdLst/>
            <a:ahLst/>
            <a:cxnLst/>
            <a:rect l="l" t="t" r="r" b="b"/>
            <a:pathLst>
              <a:path w="11" h="29">
                <a:moveTo>
                  <a:pt x="0" y="29"/>
                </a:moveTo>
                <a:lnTo>
                  <a:pt x="11" y="20"/>
                </a:lnTo>
                <a:lnTo>
                  <a:pt x="11" y="0"/>
                </a:lnTo>
                <a:lnTo>
                  <a:pt x="0" y="11"/>
                </a:lnTo>
                <a:close/>
              </a:path>
            </a:pathLst>
          </a:custGeom>
          <a:solidFill>
            <a:srgbClr val="C2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140_c_bracket_right_collar_right"/>
          <p:cNvSpPr/>
          <p:nvPr/>
        </p:nvSpPr>
        <p:spPr>
          <a:xfrm>
            <a:off x="10892799" y="4889599"/>
            <a:ext cx="70400" cy="185600"/>
          </a:xfrm>
          <a:custGeom>
            <a:avLst/>
            <a:gdLst/>
            <a:ahLst/>
            <a:cxnLst/>
            <a:rect l="l" t="t" r="r" b="b"/>
            <a:pathLst>
              <a:path w="11" h="29">
                <a:moveTo>
                  <a:pt x="11" y="29"/>
                </a:moveTo>
                <a:lnTo>
                  <a:pt x="0" y="20"/>
                </a:lnTo>
                <a:lnTo>
                  <a:pt x="0" y="0"/>
                </a:lnTo>
                <a:lnTo>
                  <a:pt x="11" y="11"/>
                </a:lnTo>
                <a:close/>
              </a:path>
            </a:pathLst>
          </a:custGeom>
          <a:solidFill>
            <a:srgbClr val="C2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141_rgb_sensitivity_heading"/>
          <p:cNvSpPr txBox="1"/>
          <p:nvPr/>
        </p:nvSpPr>
        <p:spPr>
          <a:xfrm>
            <a:off x="3936000" y="4838399"/>
            <a:ext cx="5120000" cy="30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13" b="1">
                <a:solidFill>
                  <a:srgbClr val="24247B"/>
                </a:solidFill>
                <a:latin typeface="Liberation Serif"/>
              </a:rPr>
              <a:t>Distinct sensitivity of human visual system on RGB</a:t>
            </a:r>
          </a:p>
        </p:txBody>
      </p:sp>
      <p:sp>
        <p:nvSpPr>
          <p:cNvPr id="143" name="142_rgb_sensitivity_gradient_0"/>
          <p:cNvSpPr/>
          <p:nvPr/>
        </p:nvSpPr>
        <p:spPr>
          <a:xfrm>
            <a:off x="294400" y="4895999"/>
            <a:ext cx="198400" cy="142080"/>
          </a:xfrm>
          <a:prstGeom prst="roundRect">
            <a:avLst>
              <a:gd name="adj" fmla="val 18000"/>
            </a:avLst>
          </a:prstGeom>
          <a:solidFill>
            <a:srgbClr val="F16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143_rgb_sensitivity_gradient_1"/>
          <p:cNvSpPr/>
          <p:nvPr/>
        </p:nvSpPr>
        <p:spPr>
          <a:xfrm>
            <a:off x="294400" y="5035519"/>
            <a:ext cx="198400" cy="142080"/>
          </a:xfrm>
          <a:prstGeom prst="rect">
            <a:avLst/>
          </a:prstGeom>
          <a:solidFill>
            <a:srgbClr val="F47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144_rgb_sensitivity_gradient_2"/>
          <p:cNvSpPr/>
          <p:nvPr/>
        </p:nvSpPr>
        <p:spPr>
          <a:xfrm>
            <a:off x="294400" y="5175039"/>
            <a:ext cx="198400" cy="142080"/>
          </a:xfrm>
          <a:prstGeom prst="rect">
            <a:avLst/>
          </a:prstGeom>
          <a:solidFill>
            <a:srgbClr val="F78F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145_rgb_sensitivity_gradient_3"/>
          <p:cNvSpPr/>
          <p:nvPr/>
        </p:nvSpPr>
        <p:spPr>
          <a:xfrm>
            <a:off x="294400" y="5314559"/>
            <a:ext cx="198400" cy="142080"/>
          </a:xfrm>
          <a:prstGeom prst="rect">
            <a:avLst/>
          </a:prstGeom>
          <a:solidFill>
            <a:srgbClr val="F9A0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146_rgb_sensitivity_gradient_4"/>
          <p:cNvSpPr/>
          <p:nvPr/>
        </p:nvSpPr>
        <p:spPr>
          <a:xfrm>
            <a:off x="294400" y="5454079"/>
            <a:ext cx="198400" cy="142080"/>
          </a:xfrm>
          <a:prstGeom prst="rect">
            <a:avLst/>
          </a:prstGeom>
          <a:solidFill>
            <a:srgbClr val="FA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147_rgb_sensitivity_gradient_5"/>
          <p:cNvSpPr/>
          <p:nvPr/>
        </p:nvSpPr>
        <p:spPr>
          <a:xfrm>
            <a:off x="294400" y="5593599"/>
            <a:ext cx="198400" cy="142080"/>
          </a:xfrm>
          <a:prstGeom prst="rect">
            <a:avLst/>
          </a:prstGeom>
          <a:solidFill>
            <a:srgbClr val="FBC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148_rgb_sensitivity_gradient_6"/>
          <p:cNvSpPr/>
          <p:nvPr/>
        </p:nvSpPr>
        <p:spPr>
          <a:xfrm>
            <a:off x="294400" y="5733119"/>
            <a:ext cx="198400" cy="142080"/>
          </a:xfrm>
          <a:prstGeom prst="rect">
            <a:avLst/>
          </a:prstGeom>
          <a:solidFill>
            <a:srgbClr val="FC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149_rgb_sensitivity_gradient_7"/>
          <p:cNvSpPr/>
          <p:nvPr/>
        </p:nvSpPr>
        <p:spPr>
          <a:xfrm>
            <a:off x="294400" y="5872639"/>
            <a:ext cx="198400" cy="142080"/>
          </a:xfrm>
          <a:prstGeom prst="rect">
            <a:avLst/>
          </a:prstGeom>
          <a:solidFill>
            <a:srgbClr val="FD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150_rgb_sensitivity_gradient_8"/>
          <p:cNvSpPr/>
          <p:nvPr/>
        </p:nvSpPr>
        <p:spPr>
          <a:xfrm>
            <a:off x="294400" y="6012159"/>
            <a:ext cx="198400" cy="142080"/>
          </a:xfrm>
          <a:prstGeom prst="rect">
            <a:avLst/>
          </a:prstGeom>
          <a:solidFill>
            <a:srgbClr val="FD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151_rgb_sensitivity_gradient_9"/>
          <p:cNvSpPr/>
          <p:nvPr/>
        </p:nvSpPr>
        <p:spPr>
          <a:xfrm>
            <a:off x="294400" y="6151679"/>
            <a:ext cx="198400" cy="142080"/>
          </a:xfrm>
          <a:prstGeom prst="roundRect">
            <a:avLst>
              <a:gd name="adj" fmla="val 18000"/>
            </a:avLst>
          </a:prstGeom>
          <a:solidFill>
            <a:srgbClr val="F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152_gradient_g"/>
          <p:cNvSpPr txBox="1"/>
          <p:nvPr/>
        </p:nvSpPr>
        <p:spPr>
          <a:xfrm>
            <a:off x="531200" y="4735999"/>
            <a:ext cx="307200" cy="28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2" b="1">
                <a:solidFill>
                  <a:srgbClr val="006837"/>
                </a:solidFill>
                <a:latin typeface="Liberation Serif"/>
              </a:rPr>
              <a:t>G</a:t>
            </a:r>
          </a:p>
        </p:txBody>
      </p:sp>
      <p:sp>
        <p:nvSpPr>
          <p:cNvPr id="154" name="153_gradient_r"/>
          <p:cNvSpPr txBox="1"/>
          <p:nvPr/>
        </p:nvSpPr>
        <p:spPr>
          <a:xfrm>
            <a:off x="544000" y="5369599"/>
            <a:ext cx="307200" cy="28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2" b="1">
                <a:solidFill>
                  <a:srgbClr val="C2272D"/>
                </a:solidFill>
                <a:latin typeface="Liberation Serif"/>
              </a:rPr>
              <a:t>R</a:t>
            </a:r>
          </a:p>
        </p:txBody>
      </p:sp>
      <p:sp>
        <p:nvSpPr>
          <p:cNvPr id="155" name="154_gradient_b"/>
          <p:cNvSpPr txBox="1"/>
          <p:nvPr/>
        </p:nvSpPr>
        <p:spPr>
          <a:xfrm>
            <a:off x="537600" y="6399999"/>
            <a:ext cx="307200" cy="28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2" b="1">
                <a:solidFill>
                  <a:srgbClr val="0000EE"/>
                </a:solidFill>
                <a:latin typeface="Liberation Serif"/>
              </a:rPr>
              <a:t>B</a:t>
            </a:r>
          </a:p>
        </p:txBody>
      </p:sp>
      <p:sp>
        <p:nvSpPr>
          <p:cNvPr id="156" name="155_blue_channel_box"/>
          <p:cNvSpPr/>
          <p:nvPr/>
        </p:nvSpPr>
        <p:spPr>
          <a:xfrm>
            <a:off x="851200" y="5215999"/>
            <a:ext cx="2771200" cy="697600"/>
          </a:xfrm>
          <a:prstGeom prst="rect">
            <a:avLst/>
          </a:prstGeom>
          <a:solidFill>
            <a:srgbClr val="FFFFFF"/>
          </a:solidFill>
          <a:ln w="14079">
            <a:solidFill>
              <a:srgbClr val="FFE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156_blue_channel_l1"/>
          <p:cNvSpPr txBox="1"/>
          <p:nvPr/>
        </p:nvSpPr>
        <p:spPr>
          <a:xfrm>
            <a:off x="915200" y="5292799"/>
            <a:ext cx="2624000" cy="268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3" b="1">
                <a:solidFill>
                  <a:srgbClr val="000000"/>
                </a:solidFill>
                <a:latin typeface="DejaVu Serif"/>
              </a:rPr>
              <a:t>Enhance the </a:t>
            </a:r>
            <a:r>
              <a:rPr sz="1263" b="1">
                <a:solidFill>
                  <a:srgbClr val="C2272D"/>
                </a:solidFill>
                <a:latin typeface="DejaVu Serif"/>
              </a:rPr>
              <a:t>trigger feature</a:t>
            </a:r>
          </a:p>
        </p:txBody>
      </p:sp>
      <p:sp>
        <p:nvSpPr>
          <p:cNvPr id="158" name="157_blue_channel_l2"/>
          <p:cNvSpPr txBox="1"/>
          <p:nvPr/>
        </p:nvSpPr>
        <p:spPr>
          <a:xfrm>
            <a:off x="915200" y="5555199"/>
            <a:ext cx="2624000" cy="268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000000"/>
                </a:solidFill>
                <a:latin typeface="DejaVu Serif"/>
              </a:rPr>
              <a:t>on the </a:t>
            </a:r>
            <a:r>
              <a:rPr sz="1360" b="1">
                <a:solidFill>
                  <a:srgbClr val="C2272D"/>
                </a:solidFill>
                <a:latin typeface="DejaVu Serif"/>
              </a:rPr>
              <a:t>Blue</a:t>
            </a:r>
            <a:r>
              <a:rPr sz="1360" b="1">
                <a:solidFill>
                  <a:srgbClr val="000000"/>
                </a:solidFill>
                <a:latin typeface="DejaVu Serif"/>
              </a:rPr>
              <a:t> color channel.</a:t>
            </a:r>
          </a:p>
        </p:txBody>
      </p:sp>
      <p:cxnSp>
        <p:nvCxnSpPr>
          <p:cNvPr id="159" name="158_sensitivity_dotted_left"/>
          <p:cNvCxnSpPr/>
          <p:nvPr/>
        </p:nvCxnSpPr>
        <p:spPr>
          <a:xfrm flipH="1">
            <a:off x="1100800" y="5913599"/>
            <a:ext cx="249600" cy="371200"/>
          </a:xfrm>
          <a:prstGeom prst="line">
            <a:avLst/>
          </a:prstGeom>
          <a:ln w="14079">
            <a:solidFill>
              <a:srgbClr val="000000"/>
            </a:solidFill>
            <a:prstDash val="dash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159_sensitivity_dotted_right"/>
          <p:cNvCxnSpPr/>
          <p:nvPr/>
        </p:nvCxnSpPr>
        <p:spPr>
          <a:xfrm>
            <a:off x="1683200" y="5913599"/>
            <a:ext cx="249600" cy="371200"/>
          </a:xfrm>
          <a:prstGeom prst="line">
            <a:avLst/>
          </a:prstGeom>
          <a:ln w="14079">
            <a:solidFill>
              <a:srgbClr val="000000"/>
            </a:solidFill>
            <a:prstDash val="dash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160_low_sensitivity_box"/>
          <p:cNvSpPr/>
          <p:nvPr/>
        </p:nvSpPr>
        <p:spPr>
          <a:xfrm>
            <a:off x="300800" y="6284799"/>
            <a:ext cx="1715200" cy="569600"/>
          </a:xfrm>
          <a:prstGeom prst="rect">
            <a:avLst/>
          </a:prstGeom>
          <a:solidFill>
            <a:srgbClr val="FFFFFF"/>
          </a:solidFill>
          <a:ln w="14079">
            <a:solidFill>
              <a:srgbClr val="000000"/>
            </a:solidFill>
            <a:prstDash val="dash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161_low_sensitivity_text"/>
          <p:cNvSpPr txBox="1"/>
          <p:nvPr/>
        </p:nvSpPr>
        <p:spPr>
          <a:xfrm>
            <a:off x="563200" y="6271999"/>
            <a:ext cx="1369600" cy="24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8" b="1">
                <a:solidFill>
                  <a:srgbClr val="24247B"/>
                </a:solidFill>
                <a:latin typeface="DejaVu Serif"/>
              </a:rPr>
              <a:t>low sensitivity</a:t>
            </a:r>
          </a:p>
        </p:txBody>
      </p:sp>
      <p:sp>
        <p:nvSpPr>
          <p:cNvPr id="163" name="162_low_sensitivity_b"/>
          <p:cNvSpPr txBox="1"/>
          <p:nvPr/>
        </p:nvSpPr>
        <p:spPr>
          <a:xfrm>
            <a:off x="537600" y="6521599"/>
            <a:ext cx="256000" cy="268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1" b="1">
                <a:solidFill>
                  <a:srgbClr val="0000EE"/>
                </a:solidFill>
                <a:latin typeface="Liberation Serif"/>
              </a:rPr>
              <a:t>B</a:t>
            </a:r>
          </a:p>
        </p:txBody>
      </p:sp>
      <p:sp>
        <p:nvSpPr>
          <p:cNvPr id="164" name="163_eye_outline"/>
          <p:cNvSpPr/>
          <p:nvPr/>
        </p:nvSpPr>
        <p:spPr>
          <a:xfrm>
            <a:off x="844800" y="6566399"/>
            <a:ext cx="627200" cy="121600"/>
          </a:xfrm>
          <a:custGeom>
            <a:avLst/>
            <a:gdLst/>
            <a:ahLst/>
            <a:cxnLst/>
            <a:rect l="l" t="t" r="r" b="b"/>
            <a:pathLst>
              <a:path w="98" h="19">
                <a:moveTo>
                  <a:pt x="0" y="9"/>
                </a:moveTo>
                <a:lnTo>
                  <a:pt x="19" y="1"/>
                </a:lnTo>
                <a:lnTo>
                  <a:pt x="49" y="0"/>
                </a:lnTo>
                <a:lnTo>
                  <a:pt x="79" y="1"/>
                </a:lnTo>
                <a:lnTo>
                  <a:pt x="98" y="9"/>
                </a:lnTo>
                <a:lnTo>
                  <a:pt x="79" y="17"/>
                </a:lnTo>
                <a:lnTo>
                  <a:pt x="49" y="19"/>
                </a:lnTo>
                <a:lnTo>
                  <a:pt x="19" y="17"/>
                </a:lnTo>
                <a:close/>
              </a:path>
            </a:pathLst>
          </a:custGeom>
          <a:solidFill>
            <a:srgbClr val="FFFFFF"/>
          </a:solidFill>
          <a:ln w="12799">
            <a:solidFill>
              <a:srgbClr val="6E6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164_eye_left"/>
          <p:cNvSpPr/>
          <p:nvPr/>
        </p:nvSpPr>
        <p:spPr>
          <a:xfrm>
            <a:off x="998400" y="6585599"/>
            <a:ext cx="89600" cy="89600"/>
          </a:xfrm>
          <a:prstGeom prst="ellipse">
            <a:avLst/>
          </a:prstGeom>
          <a:solidFill>
            <a:srgbClr val="6E6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165_eye_right"/>
          <p:cNvSpPr/>
          <p:nvPr/>
        </p:nvSpPr>
        <p:spPr>
          <a:xfrm>
            <a:off x="1241600" y="6585599"/>
            <a:ext cx="89600" cy="89600"/>
          </a:xfrm>
          <a:prstGeom prst="ellipse">
            <a:avLst/>
          </a:prstGeom>
          <a:solidFill>
            <a:srgbClr val="6E6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166_eye_left_pupil"/>
          <p:cNvSpPr/>
          <p:nvPr/>
        </p:nvSpPr>
        <p:spPr>
          <a:xfrm>
            <a:off x="1024000" y="6611199"/>
            <a:ext cx="38400" cy="384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167_eye_right_pupil"/>
          <p:cNvSpPr/>
          <p:nvPr/>
        </p:nvSpPr>
        <p:spPr>
          <a:xfrm>
            <a:off x="1267200" y="6611199"/>
            <a:ext cx="38400" cy="384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9" name="168_angry_brow_left"/>
          <p:cNvCxnSpPr/>
          <p:nvPr/>
        </p:nvCxnSpPr>
        <p:spPr>
          <a:xfrm>
            <a:off x="921600" y="6579199"/>
            <a:ext cx="185600" cy="38400"/>
          </a:xfrm>
          <a:prstGeom prst="line">
            <a:avLst/>
          </a:prstGeom>
          <a:ln w="1919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169_angry_brow_right"/>
          <p:cNvCxnSpPr/>
          <p:nvPr/>
        </p:nvCxnSpPr>
        <p:spPr>
          <a:xfrm flipV="1">
            <a:off x="1216000" y="6579199"/>
            <a:ext cx="185600" cy="38400"/>
          </a:xfrm>
          <a:prstGeom prst="line">
            <a:avLst/>
          </a:prstGeom>
          <a:ln w="1919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170_distinct_color_label"/>
          <p:cNvSpPr txBox="1"/>
          <p:nvPr/>
        </p:nvSpPr>
        <p:spPr>
          <a:xfrm>
            <a:off x="2336000" y="6099199"/>
            <a:ext cx="1216000" cy="275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>
                <a:solidFill>
                  <a:srgbClr val="C2272D"/>
                </a:solidFill>
                <a:latin typeface="DejaVu Serif"/>
              </a:rPr>
              <a:t>distinct-color</a:t>
            </a:r>
          </a:p>
        </p:txBody>
      </p:sp>
      <p:sp>
        <p:nvSpPr>
          <p:cNvPr id="172" name="171_poisoning_label"/>
          <p:cNvSpPr txBox="1"/>
          <p:nvPr/>
        </p:nvSpPr>
        <p:spPr>
          <a:xfrm>
            <a:off x="2444800" y="6495999"/>
            <a:ext cx="1056000" cy="275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C2272D"/>
                </a:solidFill>
                <a:latin typeface="DejaVu Serif"/>
              </a:rPr>
              <a:t>poisoning</a:t>
            </a:r>
          </a:p>
        </p:txBody>
      </p:sp>
      <p:cxnSp>
        <p:nvCxnSpPr>
          <p:cNvPr id="173" name="172_poisoning_arrow_shaft"/>
          <p:cNvCxnSpPr/>
          <p:nvPr/>
        </p:nvCxnSpPr>
        <p:spPr>
          <a:xfrm flipH="1">
            <a:off x="2400000" y="6476799"/>
            <a:ext cx="1113600" cy="0"/>
          </a:xfrm>
          <a:prstGeom prst="line">
            <a:avLst/>
          </a:prstGeom>
          <a:ln w="76799">
            <a:solidFill>
              <a:srgbClr val="C227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173_poisoning_arrow_head"/>
          <p:cNvSpPr/>
          <p:nvPr/>
        </p:nvSpPr>
        <p:spPr>
          <a:xfrm>
            <a:off x="2240000" y="6387199"/>
            <a:ext cx="160000" cy="179200"/>
          </a:xfrm>
          <a:custGeom>
            <a:avLst/>
            <a:gdLst/>
            <a:ahLst/>
            <a:cxnLst/>
            <a:rect l="l" t="t" r="r" b="b"/>
            <a:pathLst>
              <a:path w="25" h="28">
                <a:moveTo>
                  <a:pt x="0" y="14"/>
                </a:moveTo>
                <a:lnTo>
                  <a:pt x="25" y="0"/>
                </a:lnTo>
                <a:lnTo>
                  <a:pt x="25" y="28"/>
                </a:lnTo>
                <a:close/>
              </a:path>
            </a:pathLst>
          </a:custGeom>
          <a:solidFill>
            <a:srgbClr val="C2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174_poisoning_tail_notch_top"/>
          <p:cNvSpPr/>
          <p:nvPr/>
        </p:nvSpPr>
        <p:spPr>
          <a:xfrm>
            <a:off x="3404800" y="6399999"/>
            <a:ext cx="108800" cy="76800"/>
          </a:xfrm>
          <a:custGeom>
            <a:avLst/>
            <a:gdLst/>
            <a:ahLst/>
            <a:cxnLst/>
            <a:rect l="l" t="t" r="r" b="b"/>
            <a:pathLst>
              <a:path w="17" h="12">
                <a:moveTo>
                  <a:pt x="17" y="0"/>
                </a:moveTo>
                <a:lnTo>
                  <a:pt x="0" y="12"/>
                </a:lnTo>
                <a:lnTo>
                  <a:pt x="17" y="12"/>
                </a:lnTo>
                <a:close/>
              </a:path>
            </a:pathLst>
          </a:custGeom>
          <a:solidFill>
            <a:srgbClr val="FD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175_poisoning_tail_notch_bottom"/>
          <p:cNvSpPr/>
          <p:nvPr/>
        </p:nvSpPr>
        <p:spPr>
          <a:xfrm>
            <a:off x="3404800" y="6476799"/>
            <a:ext cx="108800" cy="76800"/>
          </a:xfrm>
          <a:custGeom>
            <a:avLst/>
            <a:gdLst/>
            <a:ahLst/>
            <a:cxnLst/>
            <a:rect l="l" t="t" r="r" b="b"/>
            <a:pathLst>
              <a:path w="17" h="12">
                <a:moveTo>
                  <a:pt x="17" y="12"/>
                </a:moveTo>
                <a:lnTo>
                  <a:pt x="0" y="0"/>
                </a:lnTo>
                <a:lnTo>
                  <a:pt x="17" y="0"/>
                </a:lnTo>
                <a:close/>
              </a:path>
            </a:pathLst>
          </a:custGeom>
          <a:solidFill>
            <a:srgbClr val="FD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176_rgb_examples_card"/>
          <p:cNvSpPr/>
          <p:nvPr/>
        </p:nvSpPr>
        <p:spPr>
          <a:xfrm>
            <a:off x="3692800" y="5171199"/>
            <a:ext cx="5593600" cy="1785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177_mild_distortion"/>
          <p:cNvSpPr txBox="1"/>
          <p:nvPr/>
        </p:nvSpPr>
        <p:spPr>
          <a:xfrm>
            <a:off x="3705600" y="5126399"/>
            <a:ext cx="1568000" cy="288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1" b="1">
                <a:solidFill>
                  <a:srgbClr val="C2272D"/>
                </a:solidFill>
                <a:latin typeface="Liberation Serif"/>
              </a:rPr>
              <a:t>mild distortion</a:t>
            </a:r>
          </a:p>
        </p:txBody>
      </p:sp>
      <p:sp>
        <p:nvSpPr>
          <p:cNvPr id="179" name="178_severe_distortion"/>
          <p:cNvSpPr txBox="1"/>
          <p:nvPr/>
        </p:nvSpPr>
        <p:spPr>
          <a:xfrm>
            <a:off x="5625600" y="5126399"/>
            <a:ext cx="1555200" cy="288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1" b="1">
                <a:solidFill>
                  <a:srgbClr val="C2272D"/>
                </a:solidFill>
                <a:latin typeface="Liberation Serif"/>
              </a:rPr>
              <a:t>severe distortion</a:t>
            </a:r>
          </a:p>
        </p:txBody>
      </p:sp>
      <p:sp>
        <p:nvSpPr>
          <p:cNvPr id="180" name="179_subtle_distortion"/>
          <p:cNvSpPr txBox="1"/>
          <p:nvPr/>
        </p:nvSpPr>
        <p:spPr>
          <a:xfrm>
            <a:off x="7532799" y="5126399"/>
            <a:ext cx="1555200" cy="288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1" b="1">
                <a:solidFill>
                  <a:srgbClr val="C2272D"/>
                </a:solidFill>
                <a:latin typeface="Liberation Serif"/>
              </a:rPr>
              <a:t>subtle distortion</a:t>
            </a:r>
          </a:p>
        </p:txBody>
      </p:sp>
      <p:pic>
        <p:nvPicPr>
          <p:cNvPr id="181" name="180_red_distortion_photo" descr="c_r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5600" y="5452799"/>
            <a:ext cx="1568000" cy="1446400"/>
          </a:xfrm>
          <a:prstGeom prst="rect">
            <a:avLst/>
          </a:prstGeom>
          <a:effectLst/>
        </p:spPr>
      </p:pic>
      <p:pic>
        <p:nvPicPr>
          <p:cNvPr id="182" name="181_green_distortion_photo" descr="c_gree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25600" y="5452799"/>
            <a:ext cx="1555200" cy="1446400"/>
          </a:xfrm>
          <a:prstGeom prst="rect">
            <a:avLst/>
          </a:prstGeom>
          <a:effectLst/>
        </p:spPr>
      </p:pic>
      <p:pic>
        <p:nvPicPr>
          <p:cNvPr id="183" name="182_blue_distortion_photo" descr="c_blu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32799" y="5452799"/>
            <a:ext cx="1555200" cy="1446400"/>
          </a:xfrm>
          <a:prstGeom prst="rect">
            <a:avLst/>
          </a:prstGeom>
          <a:effectLst/>
        </p:spPr>
      </p:pic>
      <p:sp>
        <p:nvSpPr>
          <p:cNvPr id="184" name="183_red_channel_label"/>
          <p:cNvSpPr txBox="1"/>
          <p:nvPr/>
        </p:nvSpPr>
        <p:spPr>
          <a:xfrm>
            <a:off x="5369600" y="6630399"/>
            <a:ext cx="288000" cy="288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>
                <a:solidFill>
                  <a:srgbClr val="C2272D"/>
                </a:solidFill>
                <a:latin typeface="Liberation Serif"/>
              </a:rPr>
              <a:t>R</a:t>
            </a:r>
          </a:p>
        </p:txBody>
      </p:sp>
      <p:sp>
        <p:nvSpPr>
          <p:cNvPr id="185" name="184_green_channel_label"/>
          <p:cNvSpPr txBox="1"/>
          <p:nvPr/>
        </p:nvSpPr>
        <p:spPr>
          <a:xfrm>
            <a:off x="7283199" y="6630399"/>
            <a:ext cx="288000" cy="288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>
                <a:solidFill>
                  <a:srgbClr val="006837"/>
                </a:solidFill>
                <a:latin typeface="Liberation Serif"/>
              </a:rPr>
              <a:t>G</a:t>
            </a:r>
          </a:p>
        </p:txBody>
      </p:sp>
      <p:sp>
        <p:nvSpPr>
          <p:cNvPr id="186" name="185_blue_channel_label"/>
          <p:cNvSpPr txBox="1"/>
          <p:nvPr/>
        </p:nvSpPr>
        <p:spPr>
          <a:xfrm>
            <a:off x="9171199" y="6630399"/>
            <a:ext cx="288000" cy="288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>
                <a:solidFill>
                  <a:srgbClr val="0000EE"/>
                </a:solidFill>
                <a:latin typeface="Liberation Serif"/>
              </a:rPr>
              <a:t>B</a:t>
            </a:r>
          </a:p>
        </p:txBody>
      </p:sp>
      <p:sp>
        <p:nvSpPr>
          <p:cNvPr id="187" name="186_special_samples_card"/>
          <p:cNvSpPr/>
          <p:nvPr/>
        </p:nvSpPr>
        <p:spPr>
          <a:xfrm>
            <a:off x="9702399" y="5139199"/>
            <a:ext cx="2240000" cy="1785600"/>
          </a:xfrm>
          <a:prstGeom prst="rect">
            <a:avLst/>
          </a:prstGeom>
          <a:solidFill>
            <a:srgbClr val="FFFFFF"/>
          </a:solidFill>
          <a:ln w="15999">
            <a:solidFill>
              <a:srgbClr val="0068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187_special_samples_title"/>
          <p:cNvSpPr txBox="1"/>
          <p:nvPr/>
        </p:nvSpPr>
        <p:spPr>
          <a:xfrm>
            <a:off x="9919999" y="5171199"/>
            <a:ext cx="1804800" cy="294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2" b="1">
                <a:solidFill>
                  <a:srgbClr val="000000"/>
                </a:solidFill>
                <a:latin typeface="Liberation Serif"/>
              </a:rPr>
              <a:t>Special samples</a:t>
            </a:r>
          </a:p>
        </p:txBody>
      </p:sp>
      <p:sp>
        <p:nvSpPr>
          <p:cNvPr id="189" name="188_green_dominated_1"/>
          <p:cNvSpPr txBox="1"/>
          <p:nvPr/>
        </p:nvSpPr>
        <p:spPr>
          <a:xfrm>
            <a:off x="9817599" y="5452799"/>
            <a:ext cx="992000" cy="243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000000"/>
                </a:solidFill>
                <a:latin typeface="Liberation Serif"/>
              </a:rPr>
              <a:t>Green</a:t>
            </a:r>
          </a:p>
        </p:txBody>
      </p:sp>
      <p:sp>
        <p:nvSpPr>
          <p:cNvPr id="190" name="189_green_dominated_2"/>
          <p:cNvSpPr txBox="1"/>
          <p:nvPr/>
        </p:nvSpPr>
        <p:spPr>
          <a:xfrm>
            <a:off x="9791999" y="5644799"/>
            <a:ext cx="1056000" cy="243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000000"/>
                </a:solidFill>
                <a:latin typeface="Liberation Serif"/>
              </a:rPr>
              <a:t>dominated</a:t>
            </a:r>
          </a:p>
        </p:txBody>
      </p:sp>
      <p:sp>
        <p:nvSpPr>
          <p:cNvPr id="191" name="190_blue_dominated_1"/>
          <p:cNvSpPr txBox="1"/>
          <p:nvPr/>
        </p:nvSpPr>
        <p:spPr>
          <a:xfrm>
            <a:off x="10892799" y="5452799"/>
            <a:ext cx="992000" cy="243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000000"/>
                </a:solidFill>
                <a:latin typeface="Liberation Serif"/>
              </a:rPr>
              <a:t>Blue</a:t>
            </a:r>
          </a:p>
        </p:txBody>
      </p:sp>
      <p:sp>
        <p:nvSpPr>
          <p:cNvPr id="192" name="191_blue_dominated_2"/>
          <p:cNvSpPr txBox="1"/>
          <p:nvPr/>
        </p:nvSpPr>
        <p:spPr>
          <a:xfrm>
            <a:off x="10860799" y="5644799"/>
            <a:ext cx="1075200" cy="243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000000"/>
                </a:solidFill>
                <a:latin typeface="Liberation Serif"/>
              </a:rPr>
              <a:t>dominated</a:t>
            </a:r>
          </a:p>
        </p:txBody>
      </p:sp>
      <p:pic>
        <p:nvPicPr>
          <p:cNvPr id="193" name="192_green_dominated_photo" descr="special_gree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79199" y="5913599"/>
            <a:ext cx="934400" cy="908800"/>
          </a:xfrm>
          <a:prstGeom prst="rect">
            <a:avLst/>
          </a:prstGeom>
          <a:effectLst/>
        </p:spPr>
      </p:pic>
      <p:pic>
        <p:nvPicPr>
          <p:cNvPr id="194" name="193_blue_dominated_photo" descr="special_blu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69599" y="5913599"/>
            <a:ext cx="889600" cy="90880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A Set of Generalized Components to Achieve Effective Poison-only Clean-label Backdoor Attacks with Collaborative Sample Selection and Trigger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8" cy="70527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