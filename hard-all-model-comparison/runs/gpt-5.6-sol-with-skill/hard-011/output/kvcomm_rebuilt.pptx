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86868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nvas"/>
          <p:cNvSpPr/>
          <p:nvPr/>
        </p:nvSpPr>
        <p:spPr>
          <a:xfrm>
            <a:off x="0" y="0"/>
            <a:ext cx="14868680" cy="731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external_flows_002"/>
          <p:cNvCxnSpPr/>
          <p:nvPr/>
        </p:nvCxnSpPr>
        <p:spPr>
          <a:xfrm>
            <a:off x="3828367" y="2271603"/>
            <a:ext cx="246223" cy="0"/>
          </a:xfrm>
          <a:prstGeom prst="line">
            <a:avLst/>
          </a:prstGeom>
          <a:ln w="63541">
            <a:solidFill>
              <a:srgbClr val="81749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xternal_flows_003"/>
          <p:cNvCxnSpPr/>
          <p:nvPr/>
        </p:nvCxnSpPr>
        <p:spPr>
          <a:xfrm>
            <a:off x="4074590" y="2271603"/>
            <a:ext cx="0" cy="4193731"/>
          </a:xfrm>
          <a:prstGeom prst="line">
            <a:avLst/>
          </a:prstGeom>
          <a:ln w="63541">
            <a:solidFill>
              <a:srgbClr val="81749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xternal_flows_004"/>
          <p:cNvCxnSpPr/>
          <p:nvPr/>
        </p:nvCxnSpPr>
        <p:spPr>
          <a:xfrm flipH="1">
            <a:off x="3828367" y="6465334"/>
            <a:ext cx="246223" cy="0"/>
          </a:xfrm>
          <a:prstGeom prst="line">
            <a:avLst/>
          </a:prstGeom>
          <a:ln w="63541">
            <a:solidFill>
              <a:srgbClr val="81749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xternal_flows_005"/>
          <p:cNvCxnSpPr/>
          <p:nvPr/>
        </p:nvCxnSpPr>
        <p:spPr>
          <a:xfrm>
            <a:off x="3836310" y="2271603"/>
            <a:ext cx="738668" cy="0"/>
          </a:xfrm>
          <a:prstGeom prst="line">
            <a:avLst/>
          </a:prstGeom>
          <a:ln w="63541">
            <a:solidFill>
              <a:srgbClr val="81749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xternal_flows_006"/>
          <p:cNvSpPr/>
          <p:nvPr/>
        </p:nvSpPr>
        <p:spPr>
          <a:xfrm rot="5400000">
            <a:off x="4432010" y="2182963"/>
            <a:ext cx="142968" cy="177280"/>
          </a:xfrm>
          <a:prstGeom prst="triangle">
            <a:avLst/>
          </a:prstGeom>
          <a:solidFill>
            <a:srgbClr val="817492"/>
          </a:solidFill>
          <a:ln w="7942">
            <a:solidFill>
              <a:srgbClr val="8174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ternal_flows_007"/>
          <p:cNvSpPr txBox="1"/>
          <p:nvPr/>
        </p:nvSpPr>
        <p:spPr>
          <a:xfrm>
            <a:off x="3844252" y="1953897"/>
            <a:ext cx="714840" cy="270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88" b="1" i="0">
                <a:solidFill>
                  <a:srgbClr val="000000"/>
                </a:solidFill>
                <a:latin typeface="Liberation Sans"/>
              </a:defRPr>
            </a:pPr>
            <a:r>
              <a:t>Query</a:t>
            </a:r>
          </a:p>
        </p:txBody>
      </p:sp>
      <p:cxnSp>
        <p:nvCxnSpPr>
          <p:cNvPr id="9" name="external_flows_008"/>
          <p:cNvCxnSpPr/>
          <p:nvPr/>
        </p:nvCxnSpPr>
        <p:spPr>
          <a:xfrm flipH="1">
            <a:off x="4209615" y="2771992"/>
            <a:ext cx="365363" cy="0"/>
          </a:xfrm>
          <a:prstGeom prst="line">
            <a:avLst/>
          </a:prstGeom>
          <a:ln w="63541">
            <a:solidFill>
              <a:srgbClr val="F4B08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xternal_flows_009"/>
          <p:cNvCxnSpPr/>
          <p:nvPr/>
        </p:nvCxnSpPr>
        <p:spPr>
          <a:xfrm>
            <a:off x="4209615" y="2771992"/>
            <a:ext cx="0" cy="4130189"/>
          </a:xfrm>
          <a:prstGeom prst="line">
            <a:avLst/>
          </a:prstGeom>
          <a:ln w="63541">
            <a:solidFill>
              <a:srgbClr val="F4B08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xternal_flows_010"/>
          <p:cNvCxnSpPr/>
          <p:nvPr/>
        </p:nvCxnSpPr>
        <p:spPr>
          <a:xfrm flipH="1">
            <a:off x="3844252" y="2771992"/>
            <a:ext cx="365363" cy="0"/>
          </a:xfrm>
          <a:prstGeom prst="line">
            <a:avLst/>
          </a:prstGeom>
          <a:ln w="63541">
            <a:solidFill>
              <a:srgbClr val="F4B08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xternal_flows_011"/>
          <p:cNvSpPr/>
          <p:nvPr/>
        </p:nvSpPr>
        <p:spPr>
          <a:xfrm rot="16200000">
            <a:off x="3844252" y="2683351"/>
            <a:ext cx="142968" cy="177280"/>
          </a:xfrm>
          <a:prstGeom prst="triangle">
            <a:avLst/>
          </a:prstGeom>
          <a:solidFill>
            <a:srgbClr val="F4B083"/>
          </a:solidFill>
          <a:ln w="7942">
            <a:solidFill>
              <a:srgbClr val="F4B08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external_flows_012"/>
          <p:cNvCxnSpPr/>
          <p:nvPr/>
        </p:nvCxnSpPr>
        <p:spPr>
          <a:xfrm flipH="1">
            <a:off x="3836310" y="6902181"/>
            <a:ext cx="373305" cy="0"/>
          </a:xfrm>
          <a:prstGeom prst="line">
            <a:avLst/>
          </a:prstGeom>
          <a:ln w="63541">
            <a:solidFill>
              <a:srgbClr val="F4B08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xternal_flows_013"/>
          <p:cNvSpPr/>
          <p:nvPr/>
        </p:nvSpPr>
        <p:spPr>
          <a:xfrm rot="16200000">
            <a:off x="3836310" y="6813540"/>
            <a:ext cx="142968" cy="177280"/>
          </a:xfrm>
          <a:prstGeom prst="triangle">
            <a:avLst/>
          </a:prstGeom>
          <a:solidFill>
            <a:srgbClr val="F4B083"/>
          </a:solidFill>
          <a:ln w="7942">
            <a:solidFill>
              <a:srgbClr val="F4B08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external_flows_014"/>
          <p:cNvCxnSpPr/>
          <p:nvPr/>
        </p:nvCxnSpPr>
        <p:spPr>
          <a:xfrm>
            <a:off x="4209615" y="6902181"/>
            <a:ext cx="373306" cy="0"/>
          </a:xfrm>
          <a:prstGeom prst="line">
            <a:avLst/>
          </a:prstGeom>
          <a:ln w="63541">
            <a:solidFill>
              <a:srgbClr val="F4B08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xternal_flows_015"/>
          <p:cNvSpPr/>
          <p:nvPr/>
        </p:nvSpPr>
        <p:spPr>
          <a:xfrm rot="5400000">
            <a:off x="4439953" y="6813540"/>
            <a:ext cx="142968" cy="177280"/>
          </a:xfrm>
          <a:prstGeom prst="triangle">
            <a:avLst/>
          </a:prstGeom>
          <a:solidFill>
            <a:srgbClr val="F4B083"/>
          </a:solidFill>
          <a:ln w="7942">
            <a:solidFill>
              <a:srgbClr val="F4B08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xternal_flows_016"/>
          <p:cNvSpPr txBox="1"/>
          <p:nvPr/>
        </p:nvSpPr>
        <p:spPr>
          <a:xfrm>
            <a:off x="3868080" y="6894238"/>
            <a:ext cx="714840" cy="333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88" b="1" i="0">
                <a:solidFill>
                  <a:srgbClr val="000000"/>
                </a:solidFill>
                <a:latin typeface="Liberation Sans"/>
              </a:defRPr>
            </a:pPr>
            <a:r>
              <a:t>Reuse</a:t>
            </a:r>
          </a:p>
        </p:txBody>
      </p:sp>
      <p:cxnSp>
        <p:nvCxnSpPr>
          <p:cNvPr id="18" name="external_flows_017"/>
          <p:cNvCxnSpPr/>
          <p:nvPr/>
        </p:nvCxnSpPr>
        <p:spPr>
          <a:xfrm>
            <a:off x="3153240" y="3804539"/>
            <a:ext cx="0" cy="476560"/>
          </a:xfrm>
          <a:prstGeom prst="line">
            <a:avLst/>
          </a:prstGeom>
          <a:ln w="63541">
            <a:solidFill>
              <a:srgbClr val="51813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xternal_flows_018"/>
          <p:cNvCxnSpPr/>
          <p:nvPr/>
        </p:nvCxnSpPr>
        <p:spPr>
          <a:xfrm>
            <a:off x="3153240" y="4281099"/>
            <a:ext cx="1199343" cy="0"/>
          </a:xfrm>
          <a:prstGeom prst="line">
            <a:avLst/>
          </a:prstGeom>
          <a:ln w="63541">
            <a:solidFill>
              <a:srgbClr val="51813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xternal_flows_019"/>
          <p:cNvCxnSpPr/>
          <p:nvPr/>
        </p:nvCxnSpPr>
        <p:spPr>
          <a:xfrm>
            <a:off x="4352583" y="4281099"/>
            <a:ext cx="230338" cy="0"/>
          </a:xfrm>
          <a:prstGeom prst="line">
            <a:avLst/>
          </a:prstGeom>
          <a:ln w="63541">
            <a:solidFill>
              <a:srgbClr val="51813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xternal_flows_020"/>
          <p:cNvSpPr/>
          <p:nvPr/>
        </p:nvSpPr>
        <p:spPr>
          <a:xfrm rot="5400000">
            <a:off x="4439953" y="4192459"/>
            <a:ext cx="142968" cy="177280"/>
          </a:xfrm>
          <a:prstGeom prst="triangle">
            <a:avLst/>
          </a:prstGeom>
          <a:solidFill>
            <a:srgbClr val="518135"/>
          </a:solidFill>
          <a:ln w="7942">
            <a:solidFill>
              <a:srgbClr val="51813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external_flows_021"/>
          <p:cNvCxnSpPr/>
          <p:nvPr/>
        </p:nvCxnSpPr>
        <p:spPr>
          <a:xfrm>
            <a:off x="2644909" y="4281099"/>
            <a:ext cx="0" cy="301822"/>
          </a:xfrm>
          <a:prstGeom prst="line">
            <a:avLst/>
          </a:prstGeom>
          <a:ln w="55598">
            <a:solidFill>
              <a:srgbClr val="51813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external_flows_022"/>
          <p:cNvCxnSpPr/>
          <p:nvPr/>
        </p:nvCxnSpPr>
        <p:spPr>
          <a:xfrm>
            <a:off x="5734608" y="7156346"/>
            <a:ext cx="0" cy="158854"/>
          </a:xfrm>
          <a:prstGeom prst="line">
            <a:avLst/>
          </a:prstGeom>
          <a:ln w="55598">
            <a:solidFill>
              <a:srgbClr val="51813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KV_cache_module"/>
          <p:cNvSpPr/>
          <p:nvPr/>
        </p:nvSpPr>
        <p:spPr>
          <a:xfrm>
            <a:off x="4574978" y="111197"/>
            <a:ext cx="10293701" cy="4304927"/>
          </a:xfrm>
          <a:prstGeom prst="roundRect">
            <a:avLst/>
          </a:prstGeom>
          <a:solidFill>
            <a:srgbClr val="A7D08C"/>
          </a:solidFill>
          <a:ln w="15885">
            <a:solidFill>
              <a:srgbClr val="51813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module_024"/>
          <p:cNvSpPr/>
          <p:nvPr/>
        </p:nvSpPr>
        <p:spPr>
          <a:xfrm>
            <a:off x="4574978" y="111197"/>
            <a:ext cx="10293701" cy="524216"/>
          </a:xfrm>
          <a:prstGeom prst="roundRect">
            <a:avLst/>
          </a:prstGeom>
          <a:solidFill>
            <a:srgbClr val="817492"/>
          </a:solidFill>
          <a:ln w="15885">
            <a:solidFill>
              <a:srgbClr val="376A9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module_025"/>
          <p:cNvSpPr/>
          <p:nvPr/>
        </p:nvSpPr>
        <p:spPr>
          <a:xfrm>
            <a:off x="4574978" y="635413"/>
            <a:ext cx="3645685" cy="3518603"/>
          </a:xfrm>
          <a:prstGeom prst="rect">
            <a:avLst/>
          </a:prstGeom>
          <a:solidFill>
            <a:srgbClr val="D9D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module_026"/>
          <p:cNvSpPr/>
          <p:nvPr/>
        </p:nvSpPr>
        <p:spPr>
          <a:xfrm>
            <a:off x="8220664" y="635413"/>
            <a:ext cx="3447119" cy="3518603"/>
          </a:xfrm>
          <a:prstGeom prst="rect">
            <a:avLst/>
          </a:prstGeom>
          <a:solidFill>
            <a:srgbClr val="FAE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module_027"/>
          <p:cNvSpPr/>
          <p:nvPr/>
        </p:nvSpPr>
        <p:spPr>
          <a:xfrm>
            <a:off x="11667783" y="635413"/>
            <a:ext cx="3200896" cy="3518603"/>
          </a:xfrm>
          <a:prstGeom prst="rect">
            <a:avLst/>
          </a:prstGeom>
          <a:solidFill>
            <a:srgbClr val="A7D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module_028"/>
          <p:cNvSpPr txBox="1"/>
          <p:nvPr/>
        </p:nvSpPr>
        <p:spPr>
          <a:xfrm>
            <a:off x="4574978" y="79426"/>
            <a:ext cx="10293701" cy="5321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64" b="1" i="0">
                <a:solidFill>
                  <a:srgbClr val="FFFFFF"/>
                </a:solidFill>
                <a:latin typeface="Liberation Sans"/>
              </a:defRPr>
            </a:pPr>
            <a:r>
              <a:t>KV-cache Communication Module</a:t>
            </a:r>
          </a:p>
        </p:txBody>
      </p:sp>
      <p:sp>
        <p:nvSpPr>
          <p:cNvPr id="30" name="matching_029"/>
          <p:cNvSpPr txBox="1"/>
          <p:nvPr/>
        </p:nvSpPr>
        <p:spPr>
          <a:xfrm>
            <a:off x="4574978" y="619528"/>
            <a:ext cx="3645685" cy="34947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51" b="1" i="0">
                <a:solidFill>
                  <a:srgbClr val="000000"/>
                </a:solidFill>
                <a:latin typeface="Liberation Sans"/>
              </a:defRPr>
            </a:pPr>
            <a:r>
              <a:t>Anchor Matching</a:t>
            </a:r>
          </a:p>
        </p:txBody>
      </p:sp>
      <p:sp>
        <p:nvSpPr>
          <p:cNvPr id="31" name="offset_030"/>
          <p:cNvSpPr txBox="1"/>
          <p:nvPr/>
        </p:nvSpPr>
        <p:spPr>
          <a:xfrm>
            <a:off x="8220664" y="619528"/>
            <a:ext cx="3447119" cy="34947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51" b="1" i="0">
                <a:solidFill>
                  <a:srgbClr val="000000"/>
                </a:solidFill>
                <a:latin typeface="Liberation Sans"/>
              </a:defRPr>
            </a:pPr>
            <a:r>
              <a:t>Offset Approximation</a:t>
            </a:r>
          </a:p>
        </p:txBody>
      </p:sp>
      <p:sp>
        <p:nvSpPr>
          <p:cNvPr id="32" name="prediction_031"/>
          <p:cNvSpPr txBox="1"/>
          <p:nvPr/>
        </p:nvSpPr>
        <p:spPr>
          <a:xfrm>
            <a:off x="11667783" y="619528"/>
            <a:ext cx="3200896" cy="34947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51" b="1" i="0">
                <a:solidFill>
                  <a:srgbClr val="000000"/>
                </a:solidFill>
                <a:latin typeface="Liberation Sans"/>
              </a:defRPr>
            </a:pPr>
            <a:r>
              <a:t>Anchor Prediction</a:t>
            </a:r>
          </a:p>
        </p:txBody>
      </p:sp>
      <p:sp>
        <p:nvSpPr>
          <p:cNvPr id="33" name="Agent_1_panel"/>
          <p:cNvSpPr/>
          <p:nvPr/>
        </p:nvSpPr>
        <p:spPr>
          <a:xfrm>
            <a:off x="142968" y="111197"/>
            <a:ext cx="3709227" cy="3891908"/>
          </a:xfrm>
          <a:prstGeom prst="roundRect">
            <a:avLst/>
          </a:prstGeom>
          <a:solidFill>
            <a:srgbClr val="9CC3E4"/>
          </a:solidFill>
          <a:ln w="15885">
            <a:solidFill>
              <a:srgbClr val="376A9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gent1_033"/>
          <p:cNvSpPr/>
          <p:nvPr/>
        </p:nvSpPr>
        <p:spPr>
          <a:xfrm>
            <a:off x="142968" y="627471"/>
            <a:ext cx="3709227" cy="3375635"/>
          </a:xfrm>
          <a:prstGeom prst="rect">
            <a:avLst/>
          </a:prstGeom>
          <a:solidFill>
            <a:srgbClr val="DEEAF6"/>
          </a:solidFill>
          <a:ln w="15885">
            <a:solidFill>
              <a:srgbClr val="376A9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gent1_034"/>
          <p:cNvSpPr txBox="1"/>
          <p:nvPr/>
        </p:nvSpPr>
        <p:spPr>
          <a:xfrm>
            <a:off x="142968" y="166796"/>
            <a:ext cx="3709227" cy="43684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14" b="1" i="0">
                <a:solidFill>
                  <a:srgbClr val="1F3763"/>
                </a:solidFill>
                <a:latin typeface="Liberation Sans"/>
              </a:defRPr>
            </a:pPr>
            <a:r>
              <a:t>Agent 1</a:t>
            </a:r>
          </a:p>
        </p:txBody>
      </p:sp>
      <p:sp>
        <p:nvSpPr>
          <p:cNvPr id="36" name="agent1_035"/>
          <p:cNvSpPr txBox="1"/>
          <p:nvPr/>
        </p:nvSpPr>
        <p:spPr>
          <a:xfrm>
            <a:off x="325649" y="667184"/>
            <a:ext cx="1260184" cy="270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88" b="1" i="0">
                <a:solidFill>
                  <a:srgbClr val="1F3763"/>
                </a:solidFill>
                <a:latin typeface="Liberation Sans"/>
              </a:defRPr>
            </a:pPr>
            <a:r>
              <a:t>Prefix KV</a:t>
            </a:r>
          </a:p>
        </p:txBody>
      </p:sp>
      <p:sp>
        <p:nvSpPr>
          <p:cNvPr id="37" name="agent1_036"/>
          <p:cNvSpPr/>
          <p:nvPr/>
        </p:nvSpPr>
        <p:spPr>
          <a:xfrm>
            <a:off x="285936" y="945177"/>
            <a:ext cx="587757" cy="270050"/>
          </a:xfrm>
          <a:prstGeom prst="roundRect">
            <a:avLst/>
          </a:prstGeom>
          <a:solidFill>
            <a:srgbClr val="90AADB"/>
          </a:solidFill>
          <a:ln w="10325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gent1_037"/>
          <p:cNvSpPr txBox="1"/>
          <p:nvPr/>
        </p:nvSpPr>
        <p:spPr>
          <a:xfrm>
            <a:off x="293878" y="937235"/>
            <a:ext cx="571872" cy="2859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p(1,0)</a:t>
            </a:r>
          </a:p>
        </p:txBody>
      </p:sp>
      <p:sp>
        <p:nvSpPr>
          <p:cNvPr id="39" name="agent1_038"/>
          <p:cNvSpPr/>
          <p:nvPr/>
        </p:nvSpPr>
        <p:spPr>
          <a:xfrm>
            <a:off x="953120" y="945177"/>
            <a:ext cx="587757" cy="270050"/>
          </a:xfrm>
          <a:prstGeom prst="roundRect">
            <a:avLst/>
          </a:prstGeom>
          <a:solidFill>
            <a:srgbClr val="90AADB"/>
          </a:solidFill>
          <a:ln w="10325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agent1_039"/>
          <p:cNvSpPr txBox="1"/>
          <p:nvPr/>
        </p:nvSpPr>
        <p:spPr>
          <a:xfrm>
            <a:off x="961063" y="937235"/>
            <a:ext cx="571872" cy="2859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p(1,1)</a:t>
            </a:r>
          </a:p>
        </p:txBody>
      </p:sp>
      <p:sp>
        <p:nvSpPr>
          <p:cNvPr id="41" name="agent1_040"/>
          <p:cNvSpPr/>
          <p:nvPr/>
        </p:nvSpPr>
        <p:spPr>
          <a:xfrm>
            <a:off x="1620304" y="945177"/>
            <a:ext cx="587757" cy="270050"/>
          </a:xfrm>
          <a:prstGeom prst="roundRect">
            <a:avLst/>
          </a:prstGeom>
          <a:solidFill>
            <a:srgbClr val="90AADB"/>
          </a:solidFill>
          <a:ln w="10325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agent1_041"/>
          <p:cNvSpPr txBox="1"/>
          <p:nvPr/>
        </p:nvSpPr>
        <p:spPr>
          <a:xfrm>
            <a:off x="1628247" y="937235"/>
            <a:ext cx="571872" cy="2859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p(1,2)</a:t>
            </a:r>
          </a:p>
        </p:txBody>
      </p:sp>
      <p:sp>
        <p:nvSpPr>
          <p:cNvPr id="43" name="agent1_042"/>
          <p:cNvSpPr/>
          <p:nvPr/>
        </p:nvSpPr>
        <p:spPr>
          <a:xfrm>
            <a:off x="2287489" y="945177"/>
            <a:ext cx="587757" cy="270050"/>
          </a:xfrm>
          <a:prstGeom prst="roundRect">
            <a:avLst/>
          </a:prstGeom>
          <a:solidFill>
            <a:srgbClr val="90AADB"/>
          </a:solidFill>
          <a:ln w="10325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agent1_043"/>
          <p:cNvSpPr txBox="1"/>
          <p:nvPr/>
        </p:nvSpPr>
        <p:spPr>
          <a:xfrm>
            <a:off x="2295431" y="937235"/>
            <a:ext cx="571872" cy="2859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p(1,3)</a:t>
            </a:r>
          </a:p>
        </p:txBody>
      </p:sp>
      <p:sp>
        <p:nvSpPr>
          <p:cNvPr id="45" name="agent1_044"/>
          <p:cNvSpPr txBox="1"/>
          <p:nvPr/>
        </p:nvSpPr>
        <p:spPr>
          <a:xfrm>
            <a:off x="325649" y="1246999"/>
            <a:ext cx="1924985" cy="2621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88" b="1" i="0">
                <a:solidFill>
                  <a:srgbClr val="1F3763"/>
                </a:solidFill>
                <a:latin typeface="Liberation Sans"/>
              </a:defRPr>
            </a:pPr>
            <a:r>
              <a:t>Placeholder KV</a:t>
            </a:r>
          </a:p>
        </p:txBody>
      </p:sp>
      <p:sp>
        <p:nvSpPr>
          <p:cNvPr id="46" name="agent1_045"/>
          <p:cNvSpPr/>
          <p:nvPr/>
        </p:nvSpPr>
        <p:spPr>
          <a:xfrm>
            <a:off x="285936" y="1509107"/>
            <a:ext cx="524216" cy="254165"/>
          </a:xfrm>
          <a:prstGeom prst="roundRect">
            <a:avLst/>
          </a:prstGeom>
          <a:solidFill>
            <a:srgbClr val="F4B083"/>
          </a:solidFill>
          <a:ln w="10325">
            <a:solidFill>
              <a:srgbClr val="C95B0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agent1_046"/>
          <p:cNvCxnSpPr/>
          <p:nvPr/>
        </p:nvCxnSpPr>
        <p:spPr>
          <a:xfrm flipV="1">
            <a:off x="285936" y="1604419"/>
            <a:ext cx="95312" cy="63541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agent1_047"/>
          <p:cNvCxnSpPr/>
          <p:nvPr/>
        </p:nvCxnSpPr>
        <p:spPr>
          <a:xfrm>
            <a:off x="285936" y="1572648"/>
            <a:ext cx="190624" cy="127083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agent1_048"/>
          <p:cNvCxnSpPr/>
          <p:nvPr/>
        </p:nvCxnSpPr>
        <p:spPr>
          <a:xfrm>
            <a:off x="317706" y="1509107"/>
            <a:ext cx="254166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agent1_049"/>
          <p:cNvCxnSpPr/>
          <p:nvPr/>
        </p:nvCxnSpPr>
        <p:spPr>
          <a:xfrm>
            <a:off x="413018" y="1509107"/>
            <a:ext cx="254166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agent1_050"/>
          <p:cNvCxnSpPr/>
          <p:nvPr/>
        </p:nvCxnSpPr>
        <p:spPr>
          <a:xfrm>
            <a:off x="508330" y="1509107"/>
            <a:ext cx="254166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agent1_051"/>
          <p:cNvCxnSpPr/>
          <p:nvPr/>
        </p:nvCxnSpPr>
        <p:spPr>
          <a:xfrm>
            <a:off x="603642" y="1509107"/>
            <a:ext cx="206510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agent1_052"/>
          <p:cNvCxnSpPr/>
          <p:nvPr/>
        </p:nvCxnSpPr>
        <p:spPr>
          <a:xfrm>
            <a:off x="698955" y="1509107"/>
            <a:ext cx="111197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agent1_053"/>
          <p:cNvCxnSpPr/>
          <p:nvPr/>
        </p:nvCxnSpPr>
        <p:spPr>
          <a:xfrm>
            <a:off x="794267" y="1509107"/>
            <a:ext cx="15885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agent1_054"/>
          <p:cNvSpPr txBox="1"/>
          <p:nvPr/>
        </p:nvSpPr>
        <p:spPr>
          <a:xfrm>
            <a:off x="293878" y="1501164"/>
            <a:ext cx="508330" cy="270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φ(1,1)</a:t>
            </a:r>
          </a:p>
        </p:txBody>
      </p:sp>
      <p:sp>
        <p:nvSpPr>
          <p:cNvPr id="56" name="agent1_055"/>
          <p:cNvSpPr/>
          <p:nvPr/>
        </p:nvSpPr>
        <p:spPr>
          <a:xfrm>
            <a:off x="849865" y="1509107"/>
            <a:ext cx="524216" cy="254165"/>
          </a:xfrm>
          <a:prstGeom prst="roundRect">
            <a:avLst/>
          </a:prstGeom>
          <a:solidFill>
            <a:srgbClr val="A7D08C"/>
          </a:solidFill>
          <a:ln w="10325">
            <a:solidFill>
              <a:srgbClr val="51813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agent1_056"/>
          <p:cNvCxnSpPr/>
          <p:nvPr/>
        </p:nvCxnSpPr>
        <p:spPr>
          <a:xfrm flipV="1">
            <a:off x="849865" y="1604419"/>
            <a:ext cx="95312" cy="63541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agent1_057"/>
          <p:cNvCxnSpPr/>
          <p:nvPr/>
        </p:nvCxnSpPr>
        <p:spPr>
          <a:xfrm>
            <a:off x="849865" y="1572648"/>
            <a:ext cx="190624" cy="127083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agent1_058"/>
          <p:cNvCxnSpPr/>
          <p:nvPr/>
        </p:nvCxnSpPr>
        <p:spPr>
          <a:xfrm>
            <a:off x="881636" y="1509107"/>
            <a:ext cx="254165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agent1_059"/>
          <p:cNvCxnSpPr/>
          <p:nvPr/>
        </p:nvCxnSpPr>
        <p:spPr>
          <a:xfrm>
            <a:off x="976948" y="1509107"/>
            <a:ext cx="254166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agent1_060"/>
          <p:cNvCxnSpPr/>
          <p:nvPr/>
        </p:nvCxnSpPr>
        <p:spPr>
          <a:xfrm>
            <a:off x="1072260" y="1509107"/>
            <a:ext cx="254166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agent1_061"/>
          <p:cNvCxnSpPr/>
          <p:nvPr/>
        </p:nvCxnSpPr>
        <p:spPr>
          <a:xfrm>
            <a:off x="1167572" y="1509107"/>
            <a:ext cx="206510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agent1_062"/>
          <p:cNvCxnSpPr/>
          <p:nvPr/>
        </p:nvCxnSpPr>
        <p:spPr>
          <a:xfrm>
            <a:off x="1262884" y="1509107"/>
            <a:ext cx="111198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agent1_063"/>
          <p:cNvCxnSpPr/>
          <p:nvPr/>
        </p:nvCxnSpPr>
        <p:spPr>
          <a:xfrm>
            <a:off x="1358196" y="1509107"/>
            <a:ext cx="15886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agent1_064"/>
          <p:cNvSpPr txBox="1"/>
          <p:nvPr/>
        </p:nvSpPr>
        <p:spPr>
          <a:xfrm>
            <a:off x="857808" y="1501164"/>
            <a:ext cx="508330" cy="270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φ(1,2)</a:t>
            </a:r>
          </a:p>
        </p:txBody>
      </p:sp>
      <p:sp>
        <p:nvSpPr>
          <p:cNvPr id="66" name="agent1_065"/>
          <p:cNvSpPr/>
          <p:nvPr/>
        </p:nvSpPr>
        <p:spPr>
          <a:xfrm>
            <a:off x="1413795" y="1509107"/>
            <a:ext cx="524216" cy="254165"/>
          </a:xfrm>
          <a:prstGeom prst="roundRect">
            <a:avLst/>
          </a:prstGeom>
          <a:solidFill>
            <a:srgbClr val="F4B083"/>
          </a:solidFill>
          <a:ln w="10325">
            <a:solidFill>
              <a:srgbClr val="C95B0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agent1_066"/>
          <p:cNvCxnSpPr/>
          <p:nvPr/>
        </p:nvCxnSpPr>
        <p:spPr>
          <a:xfrm flipV="1">
            <a:off x="1413795" y="1604419"/>
            <a:ext cx="95312" cy="63541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agent1_067"/>
          <p:cNvCxnSpPr/>
          <p:nvPr/>
        </p:nvCxnSpPr>
        <p:spPr>
          <a:xfrm>
            <a:off x="1413795" y="1572648"/>
            <a:ext cx="190624" cy="127083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agent1_068"/>
          <p:cNvCxnSpPr/>
          <p:nvPr/>
        </p:nvCxnSpPr>
        <p:spPr>
          <a:xfrm>
            <a:off x="1445566" y="1509107"/>
            <a:ext cx="254165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agent1_069"/>
          <p:cNvCxnSpPr/>
          <p:nvPr/>
        </p:nvCxnSpPr>
        <p:spPr>
          <a:xfrm>
            <a:off x="1540878" y="1509107"/>
            <a:ext cx="254165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agent1_070"/>
          <p:cNvCxnSpPr/>
          <p:nvPr/>
        </p:nvCxnSpPr>
        <p:spPr>
          <a:xfrm>
            <a:off x="1636190" y="1509107"/>
            <a:ext cx="254165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agent1_071"/>
          <p:cNvCxnSpPr/>
          <p:nvPr/>
        </p:nvCxnSpPr>
        <p:spPr>
          <a:xfrm>
            <a:off x="1731502" y="1509107"/>
            <a:ext cx="206509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agent1_072"/>
          <p:cNvCxnSpPr/>
          <p:nvPr/>
        </p:nvCxnSpPr>
        <p:spPr>
          <a:xfrm>
            <a:off x="1826814" y="1509107"/>
            <a:ext cx="111197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agent1_073"/>
          <p:cNvCxnSpPr/>
          <p:nvPr/>
        </p:nvCxnSpPr>
        <p:spPr>
          <a:xfrm>
            <a:off x="1922126" y="1509107"/>
            <a:ext cx="15885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agent1_074"/>
          <p:cNvSpPr txBox="1"/>
          <p:nvPr/>
        </p:nvSpPr>
        <p:spPr>
          <a:xfrm>
            <a:off x="1421738" y="1501164"/>
            <a:ext cx="508330" cy="270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φ(1,3)</a:t>
            </a:r>
          </a:p>
        </p:txBody>
      </p:sp>
      <p:sp>
        <p:nvSpPr>
          <p:cNvPr id="76" name="agent1_075"/>
          <p:cNvSpPr/>
          <p:nvPr/>
        </p:nvSpPr>
        <p:spPr>
          <a:xfrm>
            <a:off x="142968" y="1771215"/>
            <a:ext cx="3709227" cy="365362"/>
          </a:xfrm>
          <a:prstGeom prst="rect">
            <a:avLst/>
          </a:prstGeom>
          <a:solidFill>
            <a:srgbClr val="D9D1DE"/>
          </a:solidFill>
          <a:ln w="15885">
            <a:solidFill>
              <a:srgbClr val="8174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agent1_076"/>
          <p:cNvSpPr txBox="1"/>
          <p:nvPr/>
        </p:nvSpPr>
        <p:spPr>
          <a:xfrm>
            <a:off x="142968" y="1771215"/>
            <a:ext cx="3709227" cy="3653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13" b="1" i="0">
                <a:solidFill>
                  <a:srgbClr val="000000"/>
                </a:solidFill>
                <a:latin typeface="Liberation Sans"/>
              </a:defRPr>
            </a:pPr>
            <a:r>
              <a:t>All placeholders       ?</a:t>
            </a:r>
          </a:p>
        </p:txBody>
      </p:sp>
      <p:sp>
        <p:nvSpPr>
          <p:cNvPr id="78" name="agent1_077"/>
          <p:cNvSpPr/>
          <p:nvPr/>
        </p:nvSpPr>
        <p:spPr>
          <a:xfrm>
            <a:off x="2715678" y="1818871"/>
            <a:ext cx="270050" cy="270050"/>
          </a:xfrm>
          <a:prstGeom prst="ellipse">
            <a:avLst/>
          </a:prstGeom>
          <a:solidFill>
            <a:srgbClr val="518135"/>
          </a:solidFill>
          <a:ln w="9531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agent1_078"/>
          <p:cNvCxnSpPr/>
          <p:nvPr/>
        </p:nvCxnSpPr>
        <p:spPr>
          <a:xfrm>
            <a:off x="2779220" y="1953897"/>
            <a:ext cx="55598" cy="55598"/>
          </a:xfrm>
          <a:prstGeom prst="line">
            <a:avLst/>
          </a:prstGeom>
          <a:ln w="25416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agent1_079"/>
          <p:cNvCxnSpPr/>
          <p:nvPr/>
        </p:nvCxnSpPr>
        <p:spPr>
          <a:xfrm flipV="1">
            <a:off x="2834818" y="1890355"/>
            <a:ext cx="95312" cy="119140"/>
          </a:xfrm>
          <a:prstGeom prst="line">
            <a:avLst/>
          </a:prstGeom>
          <a:ln w="25416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agent1_080"/>
          <p:cNvSpPr/>
          <p:nvPr/>
        </p:nvSpPr>
        <p:spPr>
          <a:xfrm>
            <a:off x="142968" y="2136578"/>
            <a:ext cx="1390960" cy="285936"/>
          </a:xfrm>
          <a:prstGeom prst="rect">
            <a:avLst/>
          </a:prstGeom>
          <a:solidFill>
            <a:srgbClr val="DEEAF6"/>
          </a:solidFill>
          <a:ln w="12708">
            <a:solidFill>
              <a:srgbClr val="376A9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agent1_081"/>
          <p:cNvSpPr/>
          <p:nvPr/>
        </p:nvSpPr>
        <p:spPr>
          <a:xfrm>
            <a:off x="1533928" y="2136578"/>
            <a:ext cx="2318267" cy="285936"/>
          </a:xfrm>
          <a:prstGeom prst="rect">
            <a:avLst/>
          </a:prstGeom>
          <a:solidFill>
            <a:srgbClr val="D9D1DE"/>
          </a:solidFill>
          <a:ln w="12708">
            <a:solidFill>
              <a:srgbClr val="8174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agent1_082"/>
          <p:cNvSpPr txBox="1"/>
          <p:nvPr/>
        </p:nvSpPr>
        <p:spPr>
          <a:xfrm>
            <a:off x="142968" y="2136578"/>
            <a:ext cx="1390960" cy="2859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51" b="1" i="0">
                <a:solidFill>
                  <a:srgbClr val="000000"/>
                </a:solidFill>
                <a:latin typeface="Liberation Sans"/>
              </a:defRPr>
            </a:pPr>
            <a:r>
              <a:t>No</a:t>
            </a:r>
          </a:p>
        </p:txBody>
      </p:sp>
      <p:sp>
        <p:nvSpPr>
          <p:cNvPr id="84" name="agent1_083"/>
          <p:cNvSpPr txBox="1"/>
          <p:nvPr/>
        </p:nvSpPr>
        <p:spPr>
          <a:xfrm>
            <a:off x="1533928" y="2136578"/>
            <a:ext cx="2318267" cy="2859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51" b="1" i="0">
                <a:solidFill>
                  <a:srgbClr val="000000"/>
                </a:solidFill>
                <a:latin typeface="Liberation Sans"/>
              </a:defRPr>
            </a:pPr>
            <a:r>
              <a:t>Yes</a:t>
            </a:r>
          </a:p>
        </p:txBody>
      </p:sp>
      <p:sp>
        <p:nvSpPr>
          <p:cNvPr id="85" name="agent1_084"/>
          <p:cNvSpPr/>
          <p:nvPr/>
        </p:nvSpPr>
        <p:spPr>
          <a:xfrm>
            <a:off x="142968" y="2422514"/>
            <a:ext cx="1390960" cy="913407"/>
          </a:xfrm>
          <a:prstGeom prst="rect">
            <a:avLst/>
          </a:prstGeom>
          <a:solidFill>
            <a:srgbClr val="DEEAF6"/>
          </a:solidFill>
          <a:ln w="11914">
            <a:solidFill>
              <a:srgbClr val="376A9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agent1_085"/>
          <p:cNvSpPr/>
          <p:nvPr/>
        </p:nvSpPr>
        <p:spPr>
          <a:xfrm>
            <a:off x="142968" y="3335921"/>
            <a:ext cx="1390960" cy="667184"/>
          </a:xfrm>
          <a:prstGeom prst="rect">
            <a:avLst/>
          </a:prstGeom>
          <a:solidFill>
            <a:srgbClr val="DEEAF6"/>
          </a:solidFill>
          <a:ln w="11914">
            <a:solidFill>
              <a:srgbClr val="376A9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agent1_086"/>
          <p:cNvCxnSpPr/>
          <p:nvPr/>
        </p:nvCxnSpPr>
        <p:spPr>
          <a:xfrm>
            <a:off x="222394" y="3335921"/>
            <a:ext cx="1232107" cy="0"/>
          </a:xfrm>
          <a:prstGeom prst="line">
            <a:avLst/>
          </a:prstGeom>
          <a:ln w="15885">
            <a:solidFill>
              <a:srgbClr val="376A9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agent1_087"/>
          <p:cNvSpPr txBox="1"/>
          <p:nvPr/>
        </p:nvSpPr>
        <p:spPr>
          <a:xfrm>
            <a:off x="142968" y="2525769"/>
            <a:ext cx="1390960" cy="6195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88" b="1" i="0">
                <a:solidFill>
                  <a:srgbClr val="1F3763"/>
                </a:solidFill>
                <a:latin typeface="Liberation Sans"/>
              </a:defRPr>
            </a:pPr>
            <a:r>
              <a:t>Dense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88" b="1" i="0">
                <a:solidFill>
                  <a:srgbClr val="1F3763"/>
                </a:solidFill>
                <a:latin typeface="Liberation Sans"/>
              </a:defRPr>
            </a:pPr>
            <a:r>
              <a:t>Prefilling</a:t>
            </a:r>
          </a:p>
        </p:txBody>
      </p:sp>
      <p:sp>
        <p:nvSpPr>
          <p:cNvPr id="89" name="agent1_088"/>
          <p:cNvSpPr/>
          <p:nvPr/>
        </p:nvSpPr>
        <p:spPr>
          <a:xfrm>
            <a:off x="703422" y="3034100"/>
            <a:ext cx="270050" cy="270050"/>
          </a:xfrm>
          <a:prstGeom prst="ellipse">
            <a:avLst/>
          </a:prstGeom>
          <a:solidFill>
            <a:srgbClr val="C95B0B"/>
          </a:solidFill>
          <a:ln w="9531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agent1_089"/>
          <p:cNvCxnSpPr/>
          <p:nvPr/>
        </p:nvCxnSpPr>
        <p:spPr>
          <a:xfrm>
            <a:off x="766964" y="3169125"/>
            <a:ext cx="142968" cy="0"/>
          </a:xfrm>
          <a:prstGeom prst="line">
            <a:avLst/>
          </a:prstGeom>
          <a:ln w="25416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agent1_090"/>
          <p:cNvCxnSpPr/>
          <p:nvPr/>
        </p:nvCxnSpPr>
        <p:spPr>
          <a:xfrm>
            <a:off x="838448" y="3097641"/>
            <a:ext cx="0" cy="142968"/>
          </a:xfrm>
          <a:prstGeom prst="line">
            <a:avLst/>
          </a:prstGeom>
          <a:ln w="25416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agent1_091"/>
          <p:cNvSpPr txBox="1"/>
          <p:nvPr/>
        </p:nvSpPr>
        <p:spPr>
          <a:xfrm>
            <a:off x="142968" y="3407405"/>
            <a:ext cx="1390960" cy="34947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88" b="1" i="0">
                <a:solidFill>
                  <a:srgbClr val="1F3763"/>
                </a:solidFill>
                <a:latin typeface="Liberation Sans"/>
              </a:defRPr>
            </a:pPr>
            <a:r>
              <a:t>Decoding</a:t>
            </a:r>
          </a:p>
        </p:txBody>
      </p:sp>
      <p:sp>
        <p:nvSpPr>
          <p:cNvPr id="93" name="agent1_092"/>
          <p:cNvSpPr/>
          <p:nvPr/>
        </p:nvSpPr>
        <p:spPr>
          <a:xfrm>
            <a:off x="703422" y="3685399"/>
            <a:ext cx="270050" cy="270050"/>
          </a:xfrm>
          <a:prstGeom prst="ellipse">
            <a:avLst/>
          </a:prstGeom>
          <a:solidFill>
            <a:srgbClr val="C95B0B"/>
          </a:solidFill>
          <a:ln w="9531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agent1_093"/>
          <p:cNvCxnSpPr/>
          <p:nvPr/>
        </p:nvCxnSpPr>
        <p:spPr>
          <a:xfrm>
            <a:off x="766964" y="3820424"/>
            <a:ext cx="142968" cy="0"/>
          </a:xfrm>
          <a:prstGeom prst="line">
            <a:avLst/>
          </a:prstGeom>
          <a:ln w="25416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agent1_094"/>
          <p:cNvCxnSpPr/>
          <p:nvPr/>
        </p:nvCxnSpPr>
        <p:spPr>
          <a:xfrm>
            <a:off x="838448" y="3748940"/>
            <a:ext cx="0" cy="142968"/>
          </a:xfrm>
          <a:prstGeom prst="line">
            <a:avLst/>
          </a:prstGeom>
          <a:ln w="25416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agent1_095"/>
          <p:cNvSpPr/>
          <p:nvPr/>
        </p:nvSpPr>
        <p:spPr>
          <a:xfrm>
            <a:off x="1533928" y="2422514"/>
            <a:ext cx="2318267" cy="913407"/>
          </a:xfrm>
          <a:prstGeom prst="rect">
            <a:avLst/>
          </a:prstGeom>
          <a:solidFill>
            <a:srgbClr val="FAE5D4"/>
          </a:solidFill>
          <a:ln w="11914">
            <a:solidFill>
              <a:srgbClr val="C95B0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agent1_096"/>
          <p:cNvSpPr/>
          <p:nvPr/>
        </p:nvSpPr>
        <p:spPr>
          <a:xfrm>
            <a:off x="1533928" y="3335921"/>
            <a:ext cx="2318267" cy="667184"/>
          </a:xfrm>
          <a:prstGeom prst="rect">
            <a:avLst/>
          </a:prstGeom>
          <a:solidFill>
            <a:srgbClr val="FAE5D4"/>
          </a:solidFill>
          <a:ln w="11914">
            <a:solidFill>
              <a:srgbClr val="C95B0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agent1_097"/>
          <p:cNvSpPr txBox="1"/>
          <p:nvPr/>
        </p:nvSpPr>
        <p:spPr>
          <a:xfrm>
            <a:off x="1597469" y="2446342"/>
            <a:ext cx="1659065" cy="2621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88" b="1" i="0">
                <a:solidFill>
                  <a:srgbClr val="1F3763"/>
                </a:solidFill>
                <a:latin typeface="Liberation Sans"/>
              </a:defRPr>
            </a:pPr>
            <a:r>
              <a:t>Cache Update</a:t>
            </a:r>
          </a:p>
        </p:txBody>
      </p:sp>
      <p:sp>
        <p:nvSpPr>
          <p:cNvPr id="99" name="agent1_098"/>
          <p:cNvSpPr txBox="1"/>
          <p:nvPr/>
        </p:nvSpPr>
        <p:spPr>
          <a:xfrm>
            <a:off x="1692781" y="2700508"/>
            <a:ext cx="299915" cy="2382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F3763"/>
                </a:solidFill>
                <a:latin typeface="Liberation Sans"/>
              </a:defRPr>
            </a:pPr>
            <a:r>
              <a:t>PH</a:t>
            </a:r>
          </a:p>
        </p:txBody>
      </p:sp>
      <p:sp>
        <p:nvSpPr>
          <p:cNvPr id="100" name="agent1_099"/>
          <p:cNvSpPr/>
          <p:nvPr/>
        </p:nvSpPr>
        <p:spPr>
          <a:xfrm>
            <a:off x="2026373" y="2676680"/>
            <a:ext cx="540101" cy="246222"/>
          </a:xfrm>
          <a:prstGeom prst="roundRect">
            <a:avLst/>
          </a:prstGeom>
          <a:solidFill>
            <a:srgbClr val="F4B083"/>
          </a:solidFill>
          <a:ln w="10325">
            <a:solidFill>
              <a:srgbClr val="C95B0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" name="agent1_100"/>
          <p:cNvCxnSpPr/>
          <p:nvPr/>
        </p:nvCxnSpPr>
        <p:spPr>
          <a:xfrm flipV="1">
            <a:off x="2026373" y="2771992"/>
            <a:ext cx="95312" cy="55598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agent1_101"/>
          <p:cNvCxnSpPr/>
          <p:nvPr/>
        </p:nvCxnSpPr>
        <p:spPr>
          <a:xfrm>
            <a:off x="2026373" y="2732278"/>
            <a:ext cx="190625" cy="135026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agent1_102"/>
          <p:cNvCxnSpPr/>
          <p:nvPr/>
        </p:nvCxnSpPr>
        <p:spPr>
          <a:xfrm>
            <a:off x="2066087" y="2676680"/>
            <a:ext cx="246223" cy="246222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agent1_103"/>
          <p:cNvCxnSpPr/>
          <p:nvPr/>
        </p:nvCxnSpPr>
        <p:spPr>
          <a:xfrm>
            <a:off x="2161399" y="2676680"/>
            <a:ext cx="246223" cy="246222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agent1_104"/>
          <p:cNvCxnSpPr/>
          <p:nvPr/>
        </p:nvCxnSpPr>
        <p:spPr>
          <a:xfrm>
            <a:off x="2256711" y="2676680"/>
            <a:ext cx="246223" cy="246222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agent1_105"/>
          <p:cNvCxnSpPr/>
          <p:nvPr/>
        </p:nvCxnSpPr>
        <p:spPr>
          <a:xfrm>
            <a:off x="2352023" y="2676680"/>
            <a:ext cx="214452" cy="246222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agent1_106"/>
          <p:cNvCxnSpPr/>
          <p:nvPr/>
        </p:nvCxnSpPr>
        <p:spPr>
          <a:xfrm>
            <a:off x="2447335" y="2676680"/>
            <a:ext cx="119140" cy="246222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agent1_107"/>
          <p:cNvCxnSpPr/>
          <p:nvPr/>
        </p:nvCxnSpPr>
        <p:spPr>
          <a:xfrm>
            <a:off x="2542647" y="2676680"/>
            <a:ext cx="23828" cy="246222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agent1_108"/>
          <p:cNvSpPr txBox="1"/>
          <p:nvPr/>
        </p:nvSpPr>
        <p:spPr>
          <a:xfrm>
            <a:off x="2034316" y="2668737"/>
            <a:ext cx="524216" cy="2621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φ(1,1)</a:t>
            </a:r>
          </a:p>
        </p:txBody>
      </p:sp>
      <p:sp>
        <p:nvSpPr>
          <p:cNvPr id="110" name="agent1_109"/>
          <p:cNvSpPr/>
          <p:nvPr/>
        </p:nvSpPr>
        <p:spPr>
          <a:xfrm>
            <a:off x="2598246" y="2676680"/>
            <a:ext cx="540101" cy="246222"/>
          </a:xfrm>
          <a:prstGeom prst="roundRect">
            <a:avLst/>
          </a:prstGeom>
          <a:solidFill>
            <a:srgbClr val="A7D08C"/>
          </a:solidFill>
          <a:ln w="10325">
            <a:solidFill>
              <a:srgbClr val="51813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agent1_110"/>
          <p:cNvCxnSpPr/>
          <p:nvPr/>
        </p:nvCxnSpPr>
        <p:spPr>
          <a:xfrm flipV="1">
            <a:off x="2598246" y="2771992"/>
            <a:ext cx="95312" cy="55598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agent1_111"/>
          <p:cNvCxnSpPr/>
          <p:nvPr/>
        </p:nvCxnSpPr>
        <p:spPr>
          <a:xfrm>
            <a:off x="2598246" y="2732278"/>
            <a:ext cx="190624" cy="135026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agent1_112"/>
          <p:cNvCxnSpPr/>
          <p:nvPr/>
        </p:nvCxnSpPr>
        <p:spPr>
          <a:xfrm>
            <a:off x="2637959" y="2676680"/>
            <a:ext cx="246223" cy="246222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agent1_113"/>
          <p:cNvCxnSpPr/>
          <p:nvPr/>
        </p:nvCxnSpPr>
        <p:spPr>
          <a:xfrm>
            <a:off x="2733271" y="2676680"/>
            <a:ext cx="246223" cy="246222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agent1_114"/>
          <p:cNvCxnSpPr/>
          <p:nvPr/>
        </p:nvCxnSpPr>
        <p:spPr>
          <a:xfrm>
            <a:off x="2828583" y="2676680"/>
            <a:ext cx="246223" cy="246222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agent1_115"/>
          <p:cNvCxnSpPr/>
          <p:nvPr/>
        </p:nvCxnSpPr>
        <p:spPr>
          <a:xfrm>
            <a:off x="2923895" y="2676680"/>
            <a:ext cx="214452" cy="246222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agent1_116"/>
          <p:cNvCxnSpPr/>
          <p:nvPr/>
        </p:nvCxnSpPr>
        <p:spPr>
          <a:xfrm>
            <a:off x="3019207" y="2676680"/>
            <a:ext cx="119140" cy="246222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agent1_117"/>
          <p:cNvCxnSpPr/>
          <p:nvPr/>
        </p:nvCxnSpPr>
        <p:spPr>
          <a:xfrm>
            <a:off x="3114519" y="2676680"/>
            <a:ext cx="23828" cy="246222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agent1_118"/>
          <p:cNvSpPr txBox="1"/>
          <p:nvPr/>
        </p:nvSpPr>
        <p:spPr>
          <a:xfrm>
            <a:off x="2606188" y="2668737"/>
            <a:ext cx="524216" cy="2621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φ(1,2)</a:t>
            </a:r>
          </a:p>
        </p:txBody>
      </p:sp>
      <p:sp>
        <p:nvSpPr>
          <p:cNvPr id="120" name="agent1_119"/>
          <p:cNvSpPr/>
          <p:nvPr/>
        </p:nvSpPr>
        <p:spPr>
          <a:xfrm>
            <a:off x="3170118" y="2676680"/>
            <a:ext cx="524216" cy="246222"/>
          </a:xfrm>
          <a:prstGeom prst="roundRect">
            <a:avLst/>
          </a:prstGeom>
          <a:solidFill>
            <a:srgbClr val="F4B083"/>
          </a:solidFill>
          <a:ln w="10325">
            <a:solidFill>
              <a:srgbClr val="C95B0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agent1_120"/>
          <p:cNvCxnSpPr/>
          <p:nvPr/>
        </p:nvCxnSpPr>
        <p:spPr>
          <a:xfrm flipV="1">
            <a:off x="3170118" y="2771992"/>
            <a:ext cx="95312" cy="55598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agent1_121"/>
          <p:cNvCxnSpPr/>
          <p:nvPr/>
        </p:nvCxnSpPr>
        <p:spPr>
          <a:xfrm>
            <a:off x="3170118" y="2732278"/>
            <a:ext cx="190624" cy="135026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agent1_122"/>
          <p:cNvCxnSpPr/>
          <p:nvPr/>
        </p:nvCxnSpPr>
        <p:spPr>
          <a:xfrm>
            <a:off x="3209831" y="2676680"/>
            <a:ext cx="246223" cy="246222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agent1_123"/>
          <p:cNvCxnSpPr/>
          <p:nvPr/>
        </p:nvCxnSpPr>
        <p:spPr>
          <a:xfrm>
            <a:off x="3305143" y="2676680"/>
            <a:ext cx="246223" cy="246222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agent1_124"/>
          <p:cNvCxnSpPr/>
          <p:nvPr/>
        </p:nvCxnSpPr>
        <p:spPr>
          <a:xfrm>
            <a:off x="3400456" y="2676680"/>
            <a:ext cx="246222" cy="246222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agent1_125"/>
          <p:cNvCxnSpPr/>
          <p:nvPr/>
        </p:nvCxnSpPr>
        <p:spPr>
          <a:xfrm>
            <a:off x="3495768" y="2676680"/>
            <a:ext cx="198566" cy="246222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agent1_126"/>
          <p:cNvCxnSpPr/>
          <p:nvPr/>
        </p:nvCxnSpPr>
        <p:spPr>
          <a:xfrm>
            <a:off x="3591080" y="2676680"/>
            <a:ext cx="103254" cy="246222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agent1_127"/>
          <p:cNvCxnSpPr/>
          <p:nvPr/>
        </p:nvCxnSpPr>
        <p:spPr>
          <a:xfrm>
            <a:off x="3686392" y="2676680"/>
            <a:ext cx="7942" cy="246222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agent1_128"/>
          <p:cNvSpPr txBox="1"/>
          <p:nvPr/>
        </p:nvSpPr>
        <p:spPr>
          <a:xfrm>
            <a:off x="3178061" y="2668737"/>
            <a:ext cx="508330" cy="2621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φ(1,3)</a:t>
            </a:r>
          </a:p>
        </p:txBody>
      </p:sp>
      <p:sp>
        <p:nvSpPr>
          <p:cNvPr id="130" name="agent1_129"/>
          <p:cNvSpPr txBox="1"/>
          <p:nvPr/>
        </p:nvSpPr>
        <p:spPr>
          <a:xfrm>
            <a:off x="1692781" y="2962616"/>
            <a:ext cx="299915" cy="2382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F3763"/>
                </a:solidFill>
                <a:latin typeface="Liberation Sans"/>
              </a:defRPr>
            </a:pPr>
            <a:r>
              <a:t>PF</a:t>
            </a:r>
          </a:p>
        </p:txBody>
      </p:sp>
      <p:sp>
        <p:nvSpPr>
          <p:cNvPr id="131" name="agent1_130"/>
          <p:cNvSpPr/>
          <p:nvPr/>
        </p:nvSpPr>
        <p:spPr>
          <a:xfrm>
            <a:off x="2026373" y="2962616"/>
            <a:ext cx="540101" cy="246222"/>
          </a:xfrm>
          <a:prstGeom prst="roundRect">
            <a:avLst/>
          </a:prstGeom>
          <a:solidFill>
            <a:srgbClr val="90AADB"/>
          </a:solidFill>
          <a:ln w="10325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agent1_131"/>
          <p:cNvSpPr txBox="1"/>
          <p:nvPr/>
        </p:nvSpPr>
        <p:spPr>
          <a:xfrm>
            <a:off x="2034316" y="2954673"/>
            <a:ext cx="524216" cy="2621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p(1,1)</a:t>
            </a:r>
          </a:p>
        </p:txBody>
      </p:sp>
      <p:sp>
        <p:nvSpPr>
          <p:cNvPr id="133" name="agent1_132"/>
          <p:cNvSpPr/>
          <p:nvPr/>
        </p:nvSpPr>
        <p:spPr>
          <a:xfrm>
            <a:off x="2598246" y="2962616"/>
            <a:ext cx="540101" cy="246222"/>
          </a:xfrm>
          <a:prstGeom prst="roundRect">
            <a:avLst/>
          </a:prstGeom>
          <a:solidFill>
            <a:srgbClr val="90AADB"/>
          </a:solidFill>
          <a:ln w="10325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agent1_133"/>
          <p:cNvSpPr txBox="1"/>
          <p:nvPr/>
        </p:nvSpPr>
        <p:spPr>
          <a:xfrm>
            <a:off x="2606188" y="2954673"/>
            <a:ext cx="524216" cy="2621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p(1,2)</a:t>
            </a:r>
          </a:p>
        </p:txBody>
      </p:sp>
      <p:sp>
        <p:nvSpPr>
          <p:cNvPr id="135" name="agent1_134"/>
          <p:cNvSpPr/>
          <p:nvPr/>
        </p:nvSpPr>
        <p:spPr>
          <a:xfrm>
            <a:off x="3170118" y="2962616"/>
            <a:ext cx="524216" cy="246222"/>
          </a:xfrm>
          <a:prstGeom prst="roundRect">
            <a:avLst/>
          </a:prstGeom>
          <a:solidFill>
            <a:srgbClr val="90AADB"/>
          </a:solidFill>
          <a:ln w="10325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agent1_135"/>
          <p:cNvSpPr txBox="1"/>
          <p:nvPr/>
        </p:nvSpPr>
        <p:spPr>
          <a:xfrm>
            <a:off x="3178061" y="2954673"/>
            <a:ext cx="508330" cy="2621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p(1,3)</a:t>
            </a:r>
          </a:p>
        </p:txBody>
      </p:sp>
      <p:sp>
        <p:nvSpPr>
          <p:cNvPr id="137" name="agent1_136"/>
          <p:cNvSpPr txBox="1"/>
          <p:nvPr/>
        </p:nvSpPr>
        <p:spPr>
          <a:xfrm>
            <a:off x="1613355" y="3383577"/>
            <a:ext cx="1924985" cy="2779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88" b="1" i="0">
                <a:solidFill>
                  <a:srgbClr val="1F3763"/>
                </a:solidFill>
                <a:latin typeface="Liberation Sans"/>
              </a:defRPr>
            </a:pPr>
            <a:r>
              <a:t>Response Cache</a:t>
            </a:r>
          </a:p>
        </p:txBody>
      </p:sp>
      <p:sp>
        <p:nvSpPr>
          <p:cNvPr id="138" name="agent1_137"/>
          <p:cNvSpPr txBox="1"/>
          <p:nvPr/>
        </p:nvSpPr>
        <p:spPr>
          <a:xfrm>
            <a:off x="1692781" y="3653628"/>
            <a:ext cx="913407" cy="2382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38" b="1" i="0">
                <a:solidFill>
                  <a:srgbClr val="1F3763"/>
                </a:solidFill>
                <a:latin typeface="Liberation Sans"/>
              </a:defRPr>
            </a:pPr>
            <a:r>
              <a:t>[PH, PF]</a:t>
            </a:r>
          </a:p>
        </p:txBody>
      </p:sp>
      <p:cxnSp>
        <p:nvCxnSpPr>
          <p:cNvPr id="139" name="agent1_138"/>
          <p:cNvCxnSpPr/>
          <p:nvPr/>
        </p:nvCxnSpPr>
        <p:spPr>
          <a:xfrm>
            <a:off x="2487048" y="3772768"/>
            <a:ext cx="198567" cy="0"/>
          </a:xfrm>
          <a:prstGeom prst="line">
            <a:avLst/>
          </a:prstGeom>
          <a:ln w="23828">
            <a:solidFill>
              <a:srgbClr val="51813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agent1_139"/>
          <p:cNvSpPr/>
          <p:nvPr/>
        </p:nvSpPr>
        <p:spPr>
          <a:xfrm rot="5400000">
            <a:off x="2622074" y="3733373"/>
            <a:ext cx="63541" cy="78791"/>
          </a:xfrm>
          <a:prstGeom prst="triangle">
            <a:avLst/>
          </a:prstGeom>
          <a:solidFill>
            <a:srgbClr val="518135"/>
          </a:solidFill>
          <a:ln w="7942">
            <a:solidFill>
              <a:srgbClr val="51813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agent1_140"/>
          <p:cNvSpPr/>
          <p:nvPr/>
        </p:nvSpPr>
        <p:spPr>
          <a:xfrm>
            <a:off x="2685615" y="3669514"/>
            <a:ext cx="1000776" cy="214452"/>
          </a:xfrm>
          <a:prstGeom prst="roundRect">
            <a:avLst/>
          </a:prstGeom>
          <a:solidFill>
            <a:srgbClr val="A7D08C"/>
          </a:solidFill>
          <a:ln w="11119">
            <a:solidFill>
              <a:srgbClr val="51813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agent1_141"/>
          <p:cNvSpPr txBox="1"/>
          <p:nvPr/>
        </p:nvSpPr>
        <p:spPr>
          <a:xfrm>
            <a:off x="2685615" y="3653628"/>
            <a:ext cx="1000776" cy="2462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000000"/>
                </a:solidFill>
                <a:latin typeface="Liberation Sans"/>
              </a:defRPr>
            </a:pPr>
            <a:r>
              <a:t>Response</a:t>
            </a:r>
          </a:p>
        </p:txBody>
      </p:sp>
      <p:sp>
        <p:nvSpPr>
          <p:cNvPr id="143" name="agents_142"/>
          <p:cNvSpPr txBox="1"/>
          <p:nvPr/>
        </p:nvSpPr>
        <p:spPr>
          <a:xfrm>
            <a:off x="63541" y="4249328"/>
            <a:ext cx="3796596" cy="3097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51" b="1" i="0">
                <a:solidFill>
                  <a:srgbClr val="000000"/>
                </a:solidFill>
                <a:latin typeface="Liberation Sans"/>
              </a:defRPr>
            </a:pPr>
            <a:r>
              <a:t>Anchor Prediction of Response KV</a:t>
            </a:r>
          </a:p>
        </p:txBody>
      </p:sp>
      <p:sp>
        <p:nvSpPr>
          <p:cNvPr id="144" name="Agent_2_panel"/>
          <p:cNvSpPr/>
          <p:nvPr/>
        </p:nvSpPr>
        <p:spPr>
          <a:xfrm>
            <a:off x="142968" y="4582921"/>
            <a:ext cx="3709227" cy="2573425"/>
          </a:xfrm>
          <a:prstGeom prst="roundRect">
            <a:avLst/>
          </a:prstGeom>
          <a:solidFill>
            <a:srgbClr val="9CC3E4"/>
          </a:solidFill>
          <a:ln w="15885">
            <a:solidFill>
              <a:srgbClr val="376A9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agent2_144"/>
          <p:cNvSpPr/>
          <p:nvPr/>
        </p:nvSpPr>
        <p:spPr>
          <a:xfrm>
            <a:off x="142968" y="5099194"/>
            <a:ext cx="3709227" cy="2057151"/>
          </a:xfrm>
          <a:prstGeom prst="rect">
            <a:avLst/>
          </a:prstGeom>
          <a:solidFill>
            <a:srgbClr val="DEEAF6"/>
          </a:solidFill>
          <a:ln w="15885">
            <a:solidFill>
              <a:srgbClr val="376A9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agent2_145"/>
          <p:cNvSpPr txBox="1"/>
          <p:nvPr/>
        </p:nvSpPr>
        <p:spPr>
          <a:xfrm>
            <a:off x="142968" y="4638519"/>
            <a:ext cx="3709227" cy="43684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14" b="1" i="0">
                <a:solidFill>
                  <a:srgbClr val="1F3763"/>
                </a:solidFill>
                <a:latin typeface="Liberation Sans"/>
              </a:defRPr>
            </a:pPr>
            <a:r>
              <a:t>Agent 2</a:t>
            </a:r>
          </a:p>
        </p:txBody>
      </p:sp>
      <p:sp>
        <p:nvSpPr>
          <p:cNvPr id="147" name="agent2_146"/>
          <p:cNvSpPr txBox="1"/>
          <p:nvPr/>
        </p:nvSpPr>
        <p:spPr>
          <a:xfrm>
            <a:off x="325649" y="5138908"/>
            <a:ext cx="1260184" cy="270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88" b="1" i="0">
                <a:solidFill>
                  <a:srgbClr val="1F3763"/>
                </a:solidFill>
                <a:latin typeface="Liberation Sans"/>
              </a:defRPr>
            </a:pPr>
            <a:r>
              <a:t>Prefix KV</a:t>
            </a:r>
          </a:p>
        </p:txBody>
      </p:sp>
      <p:sp>
        <p:nvSpPr>
          <p:cNvPr id="148" name="agent2_147"/>
          <p:cNvSpPr/>
          <p:nvPr/>
        </p:nvSpPr>
        <p:spPr>
          <a:xfrm>
            <a:off x="285936" y="5416901"/>
            <a:ext cx="579814" cy="270050"/>
          </a:xfrm>
          <a:prstGeom prst="roundRect">
            <a:avLst/>
          </a:prstGeom>
          <a:solidFill>
            <a:srgbClr val="90AADB"/>
          </a:solidFill>
          <a:ln w="10325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agent2_148"/>
          <p:cNvSpPr txBox="1"/>
          <p:nvPr/>
        </p:nvSpPr>
        <p:spPr>
          <a:xfrm>
            <a:off x="293878" y="5408958"/>
            <a:ext cx="563929" cy="2859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p(2,0)</a:t>
            </a:r>
          </a:p>
        </p:txBody>
      </p:sp>
      <p:sp>
        <p:nvSpPr>
          <p:cNvPr id="150" name="agent2_149"/>
          <p:cNvSpPr/>
          <p:nvPr/>
        </p:nvSpPr>
        <p:spPr>
          <a:xfrm>
            <a:off x="945177" y="5416901"/>
            <a:ext cx="579814" cy="270050"/>
          </a:xfrm>
          <a:prstGeom prst="roundRect">
            <a:avLst/>
          </a:prstGeom>
          <a:solidFill>
            <a:srgbClr val="90AADB"/>
          </a:solidFill>
          <a:ln w="10325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agent2_150"/>
          <p:cNvSpPr txBox="1"/>
          <p:nvPr/>
        </p:nvSpPr>
        <p:spPr>
          <a:xfrm>
            <a:off x="953120" y="5408958"/>
            <a:ext cx="563929" cy="2859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p(2,1)</a:t>
            </a:r>
          </a:p>
        </p:txBody>
      </p:sp>
      <p:sp>
        <p:nvSpPr>
          <p:cNvPr id="152" name="agent2_151"/>
          <p:cNvSpPr/>
          <p:nvPr/>
        </p:nvSpPr>
        <p:spPr>
          <a:xfrm>
            <a:off x="1604419" y="5416901"/>
            <a:ext cx="579814" cy="270050"/>
          </a:xfrm>
          <a:prstGeom prst="roundRect">
            <a:avLst/>
          </a:prstGeom>
          <a:solidFill>
            <a:srgbClr val="90AADB"/>
          </a:solidFill>
          <a:ln w="10325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agent2_152"/>
          <p:cNvSpPr txBox="1"/>
          <p:nvPr/>
        </p:nvSpPr>
        <p:spPr>
          <a:xfrm>
            <a:off x="1612362" y="5408958"/>
            <a:ext cx="563929" cy="2859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p(2,2)</a:t>
            </a:r>
          </a:p>
        </p:txBody>
      </p:sp>
      <p:sp>
        <p:nvSpPr>
          <p:cNvPr id="154" name="agent2_153"/>
          <p:cNvSpPr/>
          <p:nvPr/>
        </p:nvSpPr>
        <p:spPr>
          <a:xfrm>
            <a:off x="2263661" y="5416901"/>
            <a:ext cx="579814" cy="270050"/>
          </a:xfrm>
          <a:prstGeom prst="roundRect">
            <a:avLst/>
          </a:prstGeom>
          <a:solidFill>
            <a:srgbClr val="90AADB"/>
          </a:solidFill>
          <a:ln w="10325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agent2_154"/>
          <p:cNvSpPr txBox="1"/>
          <p:nvPr/>
        </p:nvSpPr>
        <p:spPr>
          <a:xfrm>
            <a:off x="2271603" y="5408958"/>
            <a:ext cx="563929" cy="2859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p(2,3)</a:t>
            </a:r>
          </a:p>
        </p:txBody>
      </p:sp>
      <p:sp>
        <p:nvSpPr>
          <p:cNvPr id="156" name="agent2_155"/>
          <p:cNvSpPr/>
          <p:nvPr/>
        </p:nvSpPr>
        <p:spPr>
          <a:xfrm>
            <a:off x="2922902" y="5416901"/>
            <a:ext cx="579814" cy="270050"/>
          </a:xfrm>
          <a:prstGeom prst="roundRect">
            <a:avLst/>
          </a:prstGeom>
          <a:solidFill>
            <a:srgbClr val="90AADB"/>
          </a:solidFill>
          <a:ln w="10325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agent2_156"/>
          <p:cNvSpPr txBox="1"/>
          <p:nvPr/>
        </p:nvSpPr>
        <p:spPr>
          <a:xfrm>
            <a:off x="2930845" y="5408958"/>
            <a:ext cx="563929" cy="2859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p(2,4)</a:t>
            </a:r>
          </a:p>
        </p:txBody>
      </p:sp>
      <p:sp>
        <p:nvSpPr>
          <p:cNvPr id="158" name="agent2_157"/>
          <p:cNvSpPr txBox="1"/>
          <p:nvPr/>
        </p:nvSpPr>
        <p:spPr>
          <a:xfrm>
            <a:off x="325649" y="5718723"/>
            <a:ext cx="1924985" cy="2621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88" b="1" i="0">
                <a:solidFill>
                  <a:srgbClr val="1F3763"/>
                </a:solidFill>
                <a:latin typeface="Liberation Sans"/>
              </a:defRPr>
            </a:pPr>
            <a:r>
              <a:t>Placeholder KV</a:t>
            </a:r>
          </a:p>
        </p:txBody>
      </p:sp>
      <p:sp>
        <p:nvSpPr>
          <p:cNvPr id="159" name="agent2_158"/>
          <p:cNvSpPr/>
          <p:nvPr/>
        </p:nvSpPr>
        <p:spPr>
          <a:xfrm>
            <a:off x="285936" y="5980831"/>
            <a:ext cx="508330" cy="254165"/>
          </a:xfrm>
          <a:prstGeom prst="roundRect">
            <a:avLst/>
          </a:prstGeom>
          <a:solidFill>
            <a:srgbClr val="F4B083"/>
          </a:solidFill>
          <a:ln w="10325">
            <a:solidFill>
              <a:srgbClr val="C95B0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0" name="agent2_159"/>
          <p:cNvCxnSpPr/>
          <p:nvPr/>
        </p:nvCxnSpPr>
        <p:spPr>
          <a:xfrm flipV="1">
            <a:off x="285936" y="6076143"/>
            <a:ext cx="95312" cy="63541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agent2_160"/>
          <p:cNvCxnSpPr/>
          <p:nvPr/>
        </p:nvCxnSpPr>
        <p:spPr>
          <a:xfrm>
            <a:off x="285936" y="6044372"/>
            <a:ext cx="190624" cy="127083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agent2_161"/>
          <p:cNvCxnSpPr/>
          <p:nvPr/>
        </p:nvCxnSpPr>
        <p:spPr>
          <a:xfrm>
            <a:off x="317706" y="5980831"/>
            <a:ext cx="254166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agent2_162"/>
          <p:cNvCxnSpPr/>
          <p:nvPr/>
        </p:nvCxnSpPr>
        <p:spPr>
          <a:xfrm>
            <a:off x="413018" y="5980831"/>
            <a:ext cx="254166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agent2_163"/>
          <p:cNvCxnSpPr/>
          <p:nvPr/>
        </p:nvCxnSpPr>
        <p:spPr>
          <a:xfrm>
            <a:off x="508330" y="5980831"/>
            <a:ext cx="254166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agent2_164"/>
          <p:cNvCxnSpPr/>
          <p:nvPr/>
        </p:nvCxnSpPr>
        <p:spPr>
          <a:xfrm>
            <a:off x="603642" y="5980831"/>
            <a:ext cx="190625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agent2_165"/>
          <p:cNvCxnSpPr/>
          <p:nvPr/>
        </p:nvCxnSpPr>
        <p:spPr>
          <a:xfrm>
            <a:off x="698955" y="5980831"/>
            <a:ext cx="95312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agent2_166"/>
          <p:cNvSpPr txBox="1"/>
          <p:nvPr/>
        </p:nvSpPr>
        <p:spPr>
          <a:xfrm>
            <a:off x="293878" y="5972888"/>
            <a:ext cx="492445" cy="270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φ(2,1)</a:t>
            </a:r>
          </a:p>
        </p:txBody>
      </p:sp>
      <p:sp>
        <p:nvSpPr>
          <p:cNvPr id="168" name="agent2_167"/>
          <p:cNvSpPr/>
          <p:nvPr/>
        </p:nvSpPr>
        <p:spPr>
          <a:xfrm>
            <a:off x="833980" y="5980831"/>
            <a:ext cx="508330" cy="254165"/>
          </a:xfrm>
          <a:prstGeom prst="roundRect">
            <a:avLst/>
          </a:prstGeom>
          <a:solidFill>
            <a:srgbClr val="A7D08C"/>
          </a:solidFill>
          <a:ln w="10325">
            <a:solidFill>
              <a:srgbClr val="51813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9" name="agent2_168"/>
          <p:cNvCxnSpPr/>
          <p:nvPr/>
        </p:nvCxnSpPr>
        <p:spPr>
          <a:xfrm flipV="1">
            <a:off x="833980" y="6076143"/>
            <a:ext cx="95312" cy="63541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agent2_169"/>
          <p:cNvCxnSpPr/>
          <p:nvPr/>
        </p:nvCxnSpPr>
        <p:spPr>
          <a:xfrm>
            <a:off x="833980" y="6044372"/>
            <a:ext cx="190624" cy="127083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agent2_170"/>
          <p:cNvCxnSpPr/>
          <p:nvPr/>
        </p:nvCxnSpPr>
        <p:spPr>
          <a:xfrm>
            <a:off x="865751" y="5980831"/>
            <a:ext cx="254165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agent2_171"/>
          <p:cNvCxnSpPr/>
          <p:nvPr/>
        </p:nvCxnSpPr>
        <p:spPr>
          <a:xfrm>
            <a:off x="961063" y="5980831"/>
            <a:ext cx="254165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agent2_172"/>
          <p:cNvCxnSpPr/>
          <p:nvPr/>
        </p:nvCxnSpPr>
        <p:spPr>
          <a:xfrm>
            <a:off x="1056375" y="5980831"/>
            <a:ext cx="254165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agent2_173"/>
          <p:cNvCxnSpPr/>
          <p:nvPr/>
        </p:nvCxnSpPr>
        <p:spPr>
          <a:xfrm>
            <a:off x="1151687" y="5980831"/>
            <a:ext cx="190624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agent2_174"/>
          <p:cNvCxnSpPr/>
          <p:nvPr/>
        </p:nvCxnSpPr>
        <p:spPr>
          <a:xfrm>
            <a:off x="1246999" y="5980831"/>
            <a:ext cx="95312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agent2_175"/>
          <p:cNvSpPr txBox="1"/>
          <p:nvPr/>
        </p:nvSpPr>
        <p:spPr>
          <a:xfrm>
            <a:off x="841923" y="5972888"/>
            <a:ext cx="492445" cy="270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φ(2,2)</a:t>
            </a:r>
          </a:p>
        </p:txBody>
      </p:sp>
      <p:sp>
        <p:nvSpPr>
          <p:cNvPr id="177" name="agent2_176"/>
          <p:cNvSpPr/>
          <p:nvPr/>
        </p:nvSpPr>
        <p:spPr>
          <a:xfrm>
            <a:off x="1382024" y="5980831"/>
            <a:ext cx="508330" cy="254165"/>
          </a:xfrm>
          <a:prstGeom prst="roundRect">
            <a:avLst/>
          </a:prstGeom>
          <a:solidFill>
            <a:srgbClr val="F4B083"/>
          </a:solidFill>
          <a:ln w="10325">
            <a:solidFill>
              <a:srgbClr val="C95B0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8" name="agent2_177"/>
          <p:cNvCxnSpPr/>
          <p:nvPr/>
        </p:nvCxnSpPr>
        <p:spPr>
          <a:xfrm flipV="1">
            <a:off x="1382024" y="6076143"/>
            <a:ext cx="95312" cy="63541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agent2_178"/>
          <p:cNvCxnSpPr/>
          <p:nvPr/>
        </p:nvCxnSpPr>
        <p:spPr>
          <a:xfrm>
            <a:off x="1382024" y="6044372"/>
            <a:ext cx="190624" cy="127083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agent2_179"/>
          <p:cNvCxnSpPr/>
          <p:nvPr/>
        </p:nvCxnSpPr>
        <p:spPr>
          <a:xfrm>
            <a:off x="1413795" y="5980831"/>
            <a:ext cx="254165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agent2_180"/>
          <p:cNvCxnSpPr/>
          <p:nvPr/>
        </p:nvCxnSpPr>
        <p:spPr>
          <a:xfrm>
            <a:off x="1509107" y="5980831"/>
            <a:ext cx="254165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agent2_181"/>
          <p:cNvCxnSpPr/>
          <p:nvPr/>
        </p:nvCxnSpPr>
        <p:spPr>
          <a:xfrm>
            <a:off x="1604419" y="5980831"/>
            <a:ext cx="254166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agent2_182"/>
          <p:cNvCxnSpPr/>
          <p:nvPr/>
        </p:nvCxnSpPr>
        <p:spPr>
          <a:xfrm>
            <a:off x="1699731" y="5980831"/>
            <a:ext cx="190624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agent2_183"/>
          <p:cNvCxnSpPr/>
          <p:nvPr/>
        </p:nvCxnSpPr>
        <p:spPr>
          <a:xfrm>
            <a:off x="1795043" y="5980831"/>
            <a:ext cx="95312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agent2_184"/>
          <p:cNvSpPr txBox="1"/>
          <p:nvPr/>
        </p:nvSpPr>
        <p:spPr>
          <a:xfrm>
            <a:off x="1389967" y="5972888"/>
            <a:ext cx="492445" cy="270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φ(2,3)</a:t>
            </a:r>
          </a:p>
        </p:txBody>
      </p:sp>
      <p:sp>
        <p:nvSpPr>
          <p:cNvPr id="186" name="agent2_185"/>
          <p:cNvSpPr/>
          <p:nvPr/>
        </p:nvSpPr>
        <p:spPr>
          <a:xfrm>
            <a:off x="1930069" y="5980831"/>
            <a:ext cx="508330" cy="254165"/>
          </a:xfrm>
          <a:prstGeom prst="roundRect">
            <a:avLst/>
          </a:prstGeom>
          <a:solidFill>
            <a:srgbClr val="A7D08C"/>
          </a:solidFill>
          <a:ln w="10325">
            <a:solidFill>
              <a:srgbClr val="51813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7" name="agent2_186"/>
          <p:cNvCxnSpPr/>
          <p:nvPr/>
        </p:nvCxnSpPr>
        <p:spPr>
          <a:xfrm flipV="1">
            <a:off x="1930069" y="6076143"/>
            <a:ext cx="95312" cy="63541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agent2_187"/>
          <p:cNvCxnSpPr/>
          <p:nvPr/>
        </p:nvCxnSpPr>
        <p:spPr>
          <a:xfrm>
            <a:off x="1930069" y="6044372"/>
            <a:ext cx="190624" cy="127083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agent2_188"/>
          <p:cNvCxnSpPr/>
          <p:nvPr/>
        </p:nvCxnSpPr>
        <p:spPr>
          <a:xfrm>
            <a:off x="1961839" y="5980831"/>
            <a:ext cx="254166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agent2_189"/>
          <p:cNvCxnSpPr/>
          <p:nvPr/>
        </p:nvCxnSpPr>
        <p:spPr>
          <a:xfrm>
            <a:off x="2057151" y="5980831"/>
            <a:ext cx="254166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agent2_190"/>
          <p:cNvCxnSpPr/>
          <p:nvPr/>
        </p:nvCxnSpPr>
        <p:spPr>
          <a:xfrm>
            <a:off x="2152463" y="5980831"/>
            <a:ext cx="254166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agent2_191"/>
          <p:cNvCxnSpPr/>
          <p:nvPr/>
        </p:nvCxnSpPr>
        <p:spPr>
          <a:xfrm>
            <a:off x="2247775" y="5980831"/>
            <a:ext cx="190625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agent2_192"/>
          <p:cNvCxnSpPr/>
          <p:nvPr/>
        </p:nvCxnSpPr>
        <p:spPr>
          <a:xfrm>
            <a:off x="2343087" y="5980831"/>
            <a:ext cx="95313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agent2_193"/>
          <p:cNvSpPr txBox="1"/>
          <p:nvPr/>
        </p:nvSpPr>
        <p:spPr>
          <a:xfrm>
            <a:off x="1938011" y="5972888"/>
            <a:ext cx="492445" cy="270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φ(2,4)</a:t>
            </a:r>
          </a:p>
        </p:txBody>
      </p:sp>
      <p:sp>
        <p:nvSpPr>
          <p:cNvPr id="195" name="agent2_194"/>
          <p:cNvSpPr/>
          <p:nvPr/>
        </p:nvSpPr>
        <p:spPr>
          <a:xfrm>
            <a:off x="142968" y="6298538"/>
            <a:ext cx="3709227" cy="365362"/>
          </a:xfrm>
          <a:prstGeom prst="rect">
            <a:avLst/>
          </a:prstGeom>
          <a:solidFill>
            <a:srgbClr val="D9D1DE"/>
          </a:solidFill>
          <a:ln w="15885">
            <a:solidFill>
              <a:srgbClr val="8174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agent2_195"/>
          <p:cNvSpPr txBox="1"/>
          <p:nvPr/>
        </p:nvSpPr>
        <p:spPr>
          <a:xfrm>
            <a:off x="142968" y="6298538"/>
            <a:ext cx="3709227" cy="3653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13" b="1" i="0">
                <a:solidFill>
                  <a:srgbClr val="000000"/>
                </a:solidFill>
                <a:latin typeface="Liberation Sans"/>
              </a:defRPr>
            </a:pPr>
            <a:r>
              <a:t>All placeholders       ?</a:t>
            </a:r>
          </a:p>
        </p:txBody>
      </p:sp>
      <p:sp>
        <p:nvSpPr>
          <p:cNvPr id="197" name="agent2_196"/>
          <p:cNvSpPr/>
          <p:nvPr/>
        </p:nvSpPr>
        <p:spPr>
          <a:xfrm>
            <a:off x="2715678" y="6346194"/>
            <a:ext cx="270050" cy="270050"/>
          </a:xfrm>
          <a:prstGeom prst="ellipse">
            <a:avLst/>
          </a:prstGeom>
          <a:solidFill>
            <a:srgbClr val="518135"/>
          </a:solidFill>
          <a:ln w="9531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8" name="agent2_197"/>
          <p:cNvCxnSpPr/>
          <p:nvPr/>
        </p:nvCxnSpPr>
        <p:spPr>
          <a:xfrm>
            <a:off x="2779220" y="6481219"/>
            <a:ext cx="55598" cy="55599"/>
          </a:xfrm>
          <a:prstGeom prst="line">
            <a:avLst/>
          </a:prstGeom>
          <a:ln w="25416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agent2_198"/>
          <p:cNvCxnSpPr/>
          <p:nvPr/>
        </p:nvCxnSpPr>
        <p:spPr>
          <a:xfrm flipV="1">
            <a:off x="2834818" y="6417678"/>
            <a:ext cx="95312" cy="119140"/>
          </a:xfrm>
          <a:prstGeom prst="line">
            <a:avLst/>
          </a:prstGeom>
          <a:ln w="25416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agent2_199"/>
          <p:cNvSpPr/>
          <p:nvPr/>
        </p:nvSpPr>
        <p:spPr>
          <a:xfrm>
            <a:off x="142968" y="6663900"/>
            <a:ext cx="1390960" cy="492445"/>
          </a:xfrm>
          <a:prstGeom prst="rect">
            <a:avLst/>
          </a:prstGeom>
          <a:solidFill>
            <a:srgbClr val="DEEAF6"/>
          </a:solidFill>
          <a:ln w="13502">
            <a:solidFill>
              <a:srgbClr val="376A9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agent2_200"/>
          <p:cNvSpPr/>
          <p:nvPr/>
        </p:nvSpPr>
        <p:spPr>
          <a:xfrm>
            <a:off x="1533928" y="6663900"/>
            <a:ext cx="2318267" cy="492445"/>
          </a:xfrm>
          <a:prstGeom prst="rect">
            <a:avLst/>
          </a:prstGeom>
          <a:solidFill>
            <a:srgbClr val="FAE5D4"/>
          </a:solidFill>
          <a:ln w="13502">
            <a:solidFill>
              <a:srgbClr val="C95B0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agent2_201"/>
          <p:cNvSpPr txBox="1"/>
          <p:nvPr/>
        </p:nvSpPr>
        <p:spPr>
          <a:xfrm>
            <a:off x="174738" y="6663900"/>
            <a:ext cx="1327418" cy="4924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63" b="1" i="0">
                <a:solidFill>
                  <a:srgbClr val="1F3763"/>
                </a:solidFill>
                <a:latin typeface="Liberation Sans"/>
              </a:defRPr>
            </a:pPr>
            <a:r>
              <a:t>(N) Dense</a:t>
            </a:r>
          </a:p>
        </p:txBody>
      </p:sp>
      <p:sp>
        <p:nvSpPr>
          <p:cNvPr id="203" name="agent2_202"/>
          <p:cNvSpPr txBox="1"/>
          <p:nvPr/>
        </p:nvSpPr>
        <p:spPr>
          <a:xfrm>
            <a:off x="1565699" y="6663900"/>
            <a:ext cx="2254725" cy="4924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63" b="1" i="0">
                <a:solidFill>
                  <a:srgbClr val="1F3763"/>
                </a:solidFill>
                <a:latin typeface="Liberation Sans"/>
              </a:defRPr>
            </a:pPr>
            <a:r>
              <a:t>(Y) Sharing</a:t>
            </a:r>
          </a:p>
        </p:txBody>
      </p:sp>
      <p:sp>
        <p:nvSpPr>
          <p:cNvPr id="204" name="agent2_203"/>
          <p:cNvSpPr/>
          <p:nvPr/>
        </p:nvSpPr>
        <p:spPr>
          <a:xfrm>
            <a:off x="1208278" y="6775098"/>
            <a:ext cx="270050" cy="270050"/>
          </a:xfrm>
          <a:prstGeom prst="ellipse">
            <a:avLst/>
          </a:prstGeom>
          <a:solidFill>
            <a:srgbClr val="C95B0B"/>
          </a:solidFill>
          <a:ln w="9531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5" name="agent2_204"/>
          <p:cNvCxnSpPr/>
          <p:nvPr/>
        </p:nvCxnSpPr>
        <p:spPr>
          <a:xfrm>
            <a:off x="1271820" y="6910123"/>
            <a:ext cx="142968" cy="0"/>
          </a:xfrm>
          <a:prstGeom prst="line">
            <a:avLst/>
          </a:prstGeom>
          <a:ln w="25416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agent2_205"/>
          <p:cNvCxnSpPr/>
          <p:nvPr/>
        </p:nvCxnSpPr>
        <p:spPr>
          <a:xfrm>
            <a:off x="1343304" y="6838639"/>
            <a:ext cx="0" cy="142968"/>
          </a:xfrm>
          <a:prstGeom prst="line">
            <a:avLst/>
          </a:prstGeom>
          <a:ln w="25416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Agent_3_panel"/>
          <p:cNvSpPr/>
          <p:nvPr/>
        </p:nvSpPr>
        <p:spPr>
          <a:xfrm>
            <a:off x="4574978" y="4582921"/>
            <a:ext cx="3709227" cy="2573425"/>
          </a:xfrm>
          <a:prstGeom prst="roundRect">
            <a:avLst/>
          </a:prstGeom>
          <a:solidFill>
            <a:srgbClr val="9CC3E4"/>
          </a:solidFill>
          <a:ln w="15885">
            <a:solidFill>
              <a:srgbClr val="376A9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agent3_207"/>
          <p:cNvSpPr/>
          <p:nvPr/>
        </p:nvSpPr>
        <p:spPr>
          <a:xfrm>
            <a:off x="4574978" y="5099194"/>
            <a:ext cx="3709227" cy="2057151"/>
          </a:xfrm>
          <a:prstGeom prst="rect">
            <a:avLst/>
          </a:prstGeom>
          <a:solidFill>
            <a:srgbClr val="DEEAF6"/>
          </a:solidFill>
          <a:ln w="15885">
            <a:solidFill>
              <a:srgbClr val="376A9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agent3_208"/>
          <p:cNvSpPr txBox="1"/>
          <p:nvPr/>
        </p:nvSpPr>
        <p:spPr>
          <a:xfrm>
            <a:off x="4574978" y="4638519"/>
            <a:ext cx="3709227" cy="43684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14" b="1" i="0">
                <a:solidFill>
                  <a:srgbClr val="1F3763"/>
                </a:solidFill>
                <a:latin typeface="Liberation Sans"/>
              </a:defRPr>
            </a:pPr>
            <a:r>
              <a:t>Agent 3</a:t>
            </a:r>
          </a:p>
        </p:txBody>
      </p:sp>
      <p:sp>
        <p:nvSpPr>
          <p:cNvPr id="210" name="agent3_209"/>
          <p:cNvSpPr txBox="1"/>
          <p:nvPr/>
        </p:nvSpPr>
        <p:spPr>
          <a:xfrm>
            <a:off x="4757659" y="5138908"/>
            <a:ext cx="1260184" cy="270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88" b="1" i="0">
                <a:solidFill>
                  <a:srgbClr val="1F3763"/>
                </a:solidFill>
                <a:latin typeface="Liberation Sans"/>
              </a:defRPr>
            </a:pPr>
            <a:r>
              <a:t>Prefix KV</a:t>
            </a:r>
          </a:p>
        </p:txBody>
      </p:sp>
      <p:sp>
        <p:nvSpPr>
          <p:cNvPr id="211" name="agent3_210"/>
          <p:cNvSpPr/>
          <p:nvPr/>
        </p:nvSpPr>
        <p:spPr>
          <a:xfrm>
            <a:off x="4717946" y="5416901"/>
            <a:ext cx="579814" cy="270050"/>
          </a:xfrm>
          <a:prstGeom prst="roundRect">
            <a:avLst/>
          </a:prstGeom>
          <a:solidFill>
            <a:srgbClr val="90AADB"/>
          </a:solidFill>
          <a:ln w="10325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agent3_211"/>
          <p:cNvSpPr txBox="1"/>
          <p:nvPr/>
        </p:nvSpPr>
        <p:spPr>
          <a:xfrm>
            <a:off x="4725889" y="5408958"/>
            <a:ext cx="563929" cy="2859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p(3,0)</a:t>
            </a:r>
          </a:p>
        </p:txBody>
      </p:sp>
      <p:sp>
        <p:nvSpPr>
          <p:cNvPr id="213" name="agent3_212"/>
          <p:cNvSpPr/>
          <p:nvPr/>
        </p:nvSpPr>
        <p:spPr>
          <a:xfrm>
            <a:off x="5377188" y="5416901"/>
            <a:ext cx="579814" cy="270050"/>
          </a:xfrm>
          <a:prstGeom prst="roundRect">
            <a:avLst/>
          </a:prstGeom>
          <a:solidFill>
            <a:srgbClr val="90AADB"/>
          </a:solidFill>
          <a:ln w="10325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agent3_213"/>
          <p:cNvSpPr txBox="1"/>
          <p:nvPr/>
        </p:nvSpPr>
        <p:spPr>
          <a:xfrm>
            <a:off x="5385130" y="5408958"/>
            <a:ext cx="563929" cy="2859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p(3,1)</a:t>
            </a:r>
          </a:p>
        </p:txBody>
      </p:sp>
      <p:sp>
        <p:nvSpPr>
          <p:cNvPr id="215" name="agent3_214"/>
          <p:cNvSpPr/>
          <p:nvPr/>
        </p:nvSpPr>
        <p:spPr>
          <a:xfrm>
            <a:off x="6036429" y="5416901"/>
            <a:ext cx="579814" cy="270050"/>
          </a:xfrm>
          <a:prstGeom prst="roundRect">
            <a:avLst/>
          </a:prstGeom>
          <a:solidFill>
            <a:srgbClr val="90AADB"/>
          </a:solidFill>
          <a:ln w="10325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agent3_215"/>
          <p:cNvSpPr txBox="1"/>
          <p:nvPr/>
        </p:nvSpPr>
        <p:spPr>
          <a:xfrm>
            <a:off x="6044372" y="5408958"/>
            <a:ext cx="563929" cy="2859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p(3,2)</a:t>
            </a:r>
          </a:p>
        </p:txBody>
      </p:sp>
      <p:sp>
        <p:nvSpPr>
          <p:cNvPr id="217" name="agent3_216"/>
          <p:cNvSpPr/>
          <p:nvPr/>
        </p:nvSpPr>
        <p:spPr>
          <a:xfrm>
            <a:off x="6695671" y="5416901"/>
            <a:ext cx="579814" cy="270050"/>
          </a:xfrm>
          <a:prstGeom prst="roundRect">
            <a:avLst/>
          </a:prstGeom>
          <a:solidFill>
            <a:srgbClr val="90AADB"/>
          </a:solidFill>
          <a:ln w="10325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agent3_217"/>
          <p:cNvSpPr txBox="1"/>
          <p:nvPr/>
        </p:nvSpPr>
        <p:spPr>
          <a:xfrm>
            <a:off x="6703614" y="5408958"/>
            <a:ext cx="563929" cy="2859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p(3,3)</a:t>
            </a:r>
          </a:p>
        </p:txBody>
      </p:sp>
      <p:sp>
        <p:nvSpPr>
          <p:cNvPr id="219" name="agent3_218"/>
          <p:cNvSpPr/>
          <p:nvPr/>
        </p:nvSpPr>
        <p:spPr>
          <a:xfrm>
            <a:off x="7354913" y="5416901"/>
            <a:ext cx="579814" cy="270050"/>
          </a:xfrm>
          <a:prstGeom prst="roundRect">
            <a:avLst/>
          </a:prstGeom>
          <a:solidFill>
            <a:srgbClr val="90AADB"/>
          </a:solidFill>
          <a:ln w="10325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agent3_219"/>
          <p:cNvSpPr txBox="1"/>
          <p:nvPr/>
        </p:nvSpPr>
        <p:spPr>
          <a:xfrm>
            <a:off x="7362856" y="5408958"/>
            <a:ext cx="563929" cy="2859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p(3,4)</a:t>
            </a:r>
          </a:p>
        </p:txBody>
      </p:sp>
      <p:sp>
        <p:nvSpPr>
          <p:cNvPr id="221" name="agent3_220"/>
          <p:cNvSpPr txBox="1"/>
          <p:nvPr/>
        </p:nvSpPr>
        <p:spPr>
          <a:xfrm>
            <a:off x="4757659" y="5718723"/>
            <a:ext cx="1924985" cy="2621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88" b="1" i="0">
                <a:solidFill>
                  <a:srgbClr val="1F3763"/>
                </a:solidFill>
                <a:latin typeface="Liberation Sans"/>
              </a:defRPr>
            </a:pPr>
            <a:r>
              <a:t>Placeholder KV</a:t>
            </a:r>
          </a:p>
        </p:txBody>
      </p:sp>
      <p:sp>
        <p:nvSpPr>
          <p:cNvPr id="222" name="agent3_221"/>
          <p:cNvSpPr/>
          <p:nvPr/>
        </p:nvSpPr>
        <p:spPr>
          <a:xfrm>
            <a:off x="4717946" y="5980831"/>
            <a:ext cx="508330" cy="254165"/>
          </a:xfrm>
          <a:prstGeom prst="roundRect">
            <a:avLst/>
          </a:prstGeom>
          <a:solidFill>
            <a:srgbClr val="F4B083"/>
          </a:solidFill>
          <a:ln w="10325">
            <a:solidFill>
              <a:srgbClr val="C95B0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3" name="agent3_222"/>
          <p:cNvCxnSpPr/>
          <p:nvPr/>
        </p:nvCxnSpPr>
        <p:spPr>
          <a:xfrm flipV="1">
            <a:off x="4717946" y="6076143"/>
            <a:ext cx="95312" cy="63541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agent3_223"/>
          <p:cNvCxnSpPr/>
          <p:nvPr/>
        </p:nvCxnSpPr>
        <p:spPr>
          <a:xfrm>
            <a:off x="4717946" y="6044372"/>
            <a:ext cx="190624" cy="127083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agent3_224"/>
          <p:cNvCxnSpPr/>
          <p:nvPr/>
        </p:nvCxnSpPr>
        <p:spPr>
          <a:xfrm>
            <a:off x="4749717" y="5980831"/>
            <a:ext cx="254165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agent3_225"/>
          <p:cNvCxnSpPr/>
          <p:nvPr/>
        </p:nvCxnSpPr>
        <p:spPr>
          <a:xfrm>
            <a:off x="4845029" y="5980831"/>
            <a:ext cx="254165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agent3_226"/>
          <p:cNvCxnSpPr/>
          <p:nvPr/>
        </p:nvCxnSpPr>
        <p:spPr>
          <a:xfrm>
            <a:off x="4940341" y="5980831"/>
            <a:ext cx="254165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agent3_227"/>
          <p:cNvCxnSpPr/>
          <p:nvPr/>
        </p:nvCxnSpPr>
        <p:spPr>
          <a:xfrm>
            <a:off x="5035653" y="5980831"/>
            <a:ext cx="190624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agent3_228"/>
          <p:cNvCxnSpPr/>
          <p:nvPr/>
        </p:nvCxnSpPr>
        <p:spPr>
          <a:xfrm>
            <a:off x="5130965" y="5980831"/>
            <a:ext cx="95312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agent3_229"/>
          <p:cNvSpPr txBox="1"/>
          <p:nvPr/>
        </p:nvSpPr>
        <p:spPr>
          <a:xfrm>
            <a:off x="4725889" y="5972888"/>
            <a:ext cx="492445" cy="270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φ(3,1)</a:t>
            </a:r>
          </a:p>
        </p:txBody>
      </p:sp>
      <p:sp>
        <p:nvSpPr>
          <p:cNvPr id="231" name="agent3_230"/>
          <p:cNvSpPr/>
          <p:nvPr/>
        </p:nvSpPr>
        <p:spPr>
          <a:xfrm>
            <a:off x="5265990" y="5980831"/>
            <a:ext cx="508330" cy="254165"/>
          </a:xfrm>
          <a:prstGeom prst="roundRect">
            <a:avLst/>
          </a:prstGeom>
          <a:solidFill>
            <a:srgbClr val="A7D08C"/>
          </a:solidFill>
          <a:ln w="10325">
            <a:solidFill>
              <a:srgbClr val="51813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2" name="agent3_231"/>
          <p:cNvCxnSpPr/>
          <p:nvPr/>
        </p:nvCxnSpPr>
        <p:spPr>
          <a:xfrm flipV="1">
            <a:off x="5265990" y="6076143"/>
            <a:ext cx="95312" cy="63541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agent3_232"/>
          <p:cNvCxnSpPr/>
          <p:nvPr/>
        </p:nvCxnSpPr>
        <p:spPr>
          <a:xfrm>
            <a:off x="5265990" y="6044372"/>
            <a:ext cx="190624" cy="127083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agent3_233"/>
          <p:cNvCxnSpPr/>
          <p:nvPr/>
        </p:nvCxnSpPr>
        <p:spPr>
          <a:xfrm>
            <a:off x="5297761" y="5980831"/>
            <a:ext cx="254166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agent3_234"/>
          <p:cNvCxnSpPr/>
          <p:nvPr/>
        </p:nvCxnSpPr>
        <p:spPr>
          <a:xfrm>
            <a:off x="5393073" y="5980831"/>
            <a:ext cx="254166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agent3_235"/>
          <p:cNvCxnSpPr/>
          <p:nvPr/>
        </p:nvCxnSpPr>
        <p:spPr>
          <a:xfrm>
            <a:off x="5488385" y="5980831"/>
            <a:ext cx="254166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agent3_236"/>
          <p:cNvCxnSpPr/>
          <p:nvPr/>
        </p:nvCxnSpPr>
        <p:spPr>
          <a:xfrm>
            <a:off x="5583697" y="5980831"/>
            <a:ext cx="190624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agent3_237"/>
          <p:cNvCxnSpPr/>
          <p:nvPr/>
        </p:nvCxnSpPr>
        <p:spPr>
          <a:xfrm>
            <a:off x="5679009" y="5980831"/>
            <a:ext cx="95312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agent3_238"/>
          <p:cNvSpPr txBox="1"/>
          <p:nvPr/>
        </p:nvSpPr>
        <p:spPr>
          <a:xfrm>
            <a:off x="5273933" y="5972888"/>
            <a:ext cx="492445" cy="270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φ(3,2)</a:t>
            </a:r>
          </a:p>
        </p:txBody>
      </p:sp>
      <p:sp>
        <p:nvSpPr>
          <p:cNvPr id="240" name="agent3_239"/>
          <p:cNvSpPr/>
          <p:nvPr/>
        </p:nvSpPr>
        <p:spPr>
          <a:xfrm>
            <a:off x="5814035" y="5980831"/>
            <a:ext cx="508330" cy="254165"/>
          </a:xfrm>
          <a:prstGeom prst="roundRect">
            <a:avLst/>
          </a:prstGeom>
          <a:solidFill>
            <a:srgbClr val="F4B083"/>
          </a:solidFill>
          <a:ln w="10325">
            <a:solidFill>
              <a:srgbClr val="C95B0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1" name="agent3_240"/>
          <p:cNvCxnSpPr/>
          <p:nvPr/>
        </p:nvCxnSpPr>
        <p:spPr>
          <a:xfrm flipV="1">
            <a:off x="5814035" y="6076143"/>
            <a:ext cx="95312" cy="63541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agent3_241"/>
          <p:cNvCxnSpPr/>
          <p:nvPr/>
        </p:nvCxnSpPr>
        <p:spPr>
          <a:xfrm>
            <a:off x="5814035" y="6044372"/>
            <a:ext cx="190624" cy="127083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agent3_242"/>
          <p:cNvCxnSpPr/>
          <p:nvPr/>
        </p:nvCxnSpPr>
        <p:spPr>
          <a:xfrm>
            <a:off x="5845805" y="5980831"/>
            <a:ext cx="254166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agent3_243"/>
          <p:cNvCxnSpPr/>
          <p:nvPr/>
        </p:nvCxnSpPr>
        <p:spPr>
          <a:xfrm>
            <a:off x="5941117" y="5980831"/>
            <a:ext cx="254166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agent3_244"/>
          <p:cNvCxnSpPr/>
          <p:nvPr/>
        </p:nvCxnSpPr>
        <p:spPr>
          <a:xfrm>
            <a:off x="6036429" y="5980831"/>
            <a:ext cx="254166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agent3_245"/>
          <p:cNvCxnSpPr/>
          <p:nvPr/>
        </p:nvCxnSpPr>
        <p:spPr>
          <a:xfrm>
            <a:off x="6131742" y="5980831"/>
            <a:ext cx="190624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agent3_246"/>
          <p:cNvCxnSpPr/>
          <p:nvPr/>
        </p:nvCxnSpPr>
        <p:spPr>
          <a:xfrm>
            <a:off x="6227054" y="5980831"/>
            <a:ext cx="95312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agent3_247"/>
          <p:cNvSpPr txBox="1"/>
          <p:nvPr/>
        </p:nvSpPr>
        <p:spPr>
          <a:xfrm>
            <a:off x="5821977" y="5972888"/>
            <a:ext cx="492445" cy="270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φ(3,3)</a:t>
            </a:r>
          </a:p>
        </p:txBody>
      </p:sp>
      <p:sp>
        <p:nvSpPr>
          <p:cNvPr id="249" name="agent3_248"/>
          <p:cNvSpPr/>
          <p:nvPr/>
        </p:nvSpPr>
        <p:spPr>
          <a:xfrm>
            <a:off x="6362079" y="5980831"/>
            <a:ext cx="508330" cy="254165"/>
          </a:xfrm>
          <a:prstGeom prst="roundRect">
            <a:avLst/>
          </a:prstGeom>
          <a:solidFill>
            <a:srgbClr val="A7D08C"/>
          </a:solidFill>
          <a:ln w="10325">
            <a:solidFill>
              <a:srgbClr val="51813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0" name="agent3_249"/>
          <p:cNvCxnSpPr/>
          <p:nvPr/>
        </p:nvCxnSpPr>
        <p:spPr>
          <a:xfrm flipV="1">
            <a:off x="6362079" y="6076143"/>
            <a:ext cx="95312" cy="63541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agent3_250"/>
          <p:cNvCxnSpPr/>
          <p:nvPr/>
        </p:nvCxnSpPr>
        <p:spPr>
          <a:xfrm>
            <a:off x="6362079" y="6044372"/>
            <a:ext cx="190624" cy="127083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agent3_251"/>
          <p:cNvCxnSpPr/>
          <p:nvPr/>
        </p:nvCxnSpPr>
        <p:spPr>
          <a:xfrm>
            <a:off x="6393850" y="5980831"/>
            <a:ext cx="254165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agent3_252"/>
          <p:cNvCxnSpPr/>
          <p:nvPr/>
        </p:nvCxnSpPr>
        <p:spPr>
          <a:xfrm>
            <a:off x="6489162" y="5980831"/>
            <a:ext cx="254165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agent3_253"/>
          <p:cNvCxnSpPr/>
          <p:nvPr/>
        </p:nvCxnSpPr>
        <p:spPr>
          <a:xfrm>
            <a:off x="6584474" y="5980831"/>
            <a:ext cx="254165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agent3_254"/>
          <p:cNvCxnSpPr/>
          <p:nvPr/>
        </p:nvCxnSpPr>
        <p:spPr>
          <a:xfrm>
            <a:off x="6679786" y="5980831"/>
            <a:ext cx="190624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agent3_255"/>
          <p:cNvCxnSpPr/>
          <p:nvPr/>
        </p:nvCxnSpPr>
        <p:spPr>
          <a:xfrm>
            <a:off x="6775098" y="5980831"/>
            <a:ext cx="95312" cy="254165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7" name="agent3_256"/>
          <p:cNvSpPr txBox="1"/>
          <p:nvPr/>
        </p:nvSpPr>
        <p:spPr>
          <a:xfrm>
            <a:off x="6370022" y="5972888"/>
            <a:ext cx="492445" cy="270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φ(3,4)</a:t>
            </a:r>
          </a:p>
        </p:txBody>
      </p:sp>
      <p:sp>
        <p:nvSpPr>
          <p:cNvPr id="258" name="agent3_257"/>
          <p:cNvSpPr/>
          <p:nvPr/>
        </p:nvSpPr>
        <p:spPr>
          <a:xfrm>
            <a:off x="4574978" y="6298538"/>
            <a:ext cx="3709227" cy="365362"/>
          </a:xfrm>
          <a:prstGeom prst="rect">
            <a:avLst/>
          </a:prstGeom>
          <a:solidFill>
            <a:srgbClr val="D9D1DE"/>
          </a:solidFill>
          <a:ln w="15885">
            <a:solidFill>
              <a:srgbClr val="8174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agent3_258"/>
          <p:cNvSpPr txBox="1"/>
          <p:nvPr/>
        </p:nvSpPr>
        <p:spPr>
          <a:xfrm>
            <a:off x="4574978" y="6298538"/>
            <a:ext cx="3709227" cy="3653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13" b="1" i="0">
                <a:solidFill>
                  <a:srgbClr val="000000"/>
                </a:solidFill>
                <a:latin typeface="Liberation Sans"/>
              </a:defRPr>
            </a:pPr>
            <a:r>
              <a:t>All placeholders       ?</a:t>
            </a:r>
          </a:p>
        </p:txBody>
      </p:sp>
      <p:sp>
        <p:nvSpPr>
          <p:cNvPr id="260" name="agent3_259"/>
          <p:cNvSpPr/>
          <p:nvPr/>
        </p:nvSpPr>
        <p:spPr>
          <a:xfrm>
            <a:off x="7147689" y="6346194"/>
            <a:ext cx="270050" cy="270050"/>
          </a:xfrm>
          <a:prstGeom prst="ellipse">
            <a:avLst/>
          </a:prstGeom>
          <a:solidFill>
            <a:srgbClr val="518135"/>
          </a:solidFill>
          <a:ln w="9531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1" name="agent3_260"/>
          <p:cNvCxnSpPr/>
          <p:nvPr/>
        </p:nvCxnSpPr>
        <p:spPr>
          <a:xfrm>
            <a:off x="7211230" y="6481219"/>
            <a:ext cx="55599" cy="55599"/>
          </a:xfrm>
          <a:prstGeom prst="line">
            <a:avLst/>
          </a:prstGeom>
          <a:ln w="25416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agent3_261"/>
          <p:cNvCxnSpPr/>
          <p:nvPr/>
        </p:nvCxnSpPr>
        <p:spPr>
          <a:xfrm flipV="1">
            <a:off x="7266829" y="6417678"/>
            <a:ext cx="95312" cy="119140"/>
          </a:xfrm>
          <a:prstGeom prst="line">
            <a:avLst/>
          </a:prstGeom>
          <a:ln w="25416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3" name="agent3_262"/>
          <p:cNvSpPr/>
          <p:nvPr/>
        </p:nvSpPr>
        <p:spPr>
          <a:xfrm>
            <a:off x="4574978" y="6663900"/>
            <a:ext cx="1390960" cy="492445"/>
          </a:xfrm>
          <a:prstGeom prst="rect">
            <a:avLst/>
          </a:prstGeom>
          <a:solidFill>
            <a:srgbClr val="FAE5D4"/>
          </a:solidFill>
          <a:ln w="13502">
            <a:solidFill>
              <a:srgbClr val="376A9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agent3_263"/>
          <p:cNvSpPr/>
          <p:nvPr/>
        </p:nvSpPr>
        <p:spPr>
          <a:xfrm>
            <a:off x="5965938" y="6663900"/>
            <a:ext cx="2318267" cy="492445"/>
          </a:xfrm>
          <a:prstGeom prst="rect">
            <a:avLst/>
          </a:prstGeom>
          <a:solidFill>
            <a:srgbClr val="DEEAF6"/>
          </a:solidFill>
          <a:ln w="13502">
            <a:solidFill>
              <a:srgbClr val="C95B0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agent3_264"/>
          <p:cNvSpPr txBox="1"/>
          <p:nvPr/>
        </p:nvSpPr>
        <p:spPr>
          <a:xfrm>
            <a:off x="4606749" y="6663900"/>
            <a:ext cx="1327418" cy="4924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63" b="1" i="0">
                <a:solidFill>
                  <a:srgbClr val="1F3763"/>
                </a:solidFill>
                <a:latin typeface="Liberation Sans"/>
              </a:defRPr>
            </a:pPr>
            <a:r>
              <a:t>(Y) Sharing</a:t>
            </a:r>
          </a:p>
        </p:txBody>
      </p:sp>
      <p:sp>
        <p:nvSpPr>
          <p:cNvPr id="266" name="agent3_265"/>
          <p:cNvSpPr txBox="1"/>
          <p:nvPr/>
        </p:nvSpPr>
        <p:spPr>
          <a:xfrm>
            <a:off x="5997709" y="6663900"/>
            <a:ext cx="2254725" cy="4924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63" b="1" i="0">
                <a:solidFill>
                  <a:srgbClr val="1F3763"/>
                </a:solidFill>
                <a:latin typeface="Liberation Sans"/>
              </a:defRPr>
            </a:pPr>
            <a:r>
              <a:t>(N) Dense</a:t>
            </a:r>
          </a:p>
        </p:txBody>
      </p:sp>
      <p:sp>
        <p:nvSpPr>
          <p:cNvPr id="267" name="agent3_266"/>
          <p:cNvSpPr/>
          <p:nvPr/>
        </p:nvSpPr>
        <p:spPr>
          <a:xfrm>
            <a:off x="7950613" y="6775098"/>
            <a:ext cx="270050" cy="270050"/>
          </a:xfrm>
          <a:prstGeom prst="ellipse">
            <a:avLst/>
          </a:prstGeom>
          <a:solidFill>
            <a:srgbClr val="C95B0B"/>
          </a:solidFill>
          <a:ln w="9531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8" name="agent3_267"/>
          <p:cNvCxnSpPr/>
          <p:nvPr/>
        </p:nvCxnSpPr>
        <p:spPr>
          <a:xfrm>
            <a:off x="8014155" y="6910123"/>
            <a:ext cx="142968" cy="0"/>
          </a:xfrm>
          <a:prstGeom prst="line">
            <a:avLst/>
          </a:prstGeom>
          <a:ln w="25416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agent3_268"/>
          <p:cNvCxnSpPr/>
          <p:nvPr/>
        </p:nvCxnSpPr>
        <p:spPr>
          <a:xfrm>
            <a:off x="8085639" y="6838639"/>
            <a:ext cx="0" cy="142968"/>
          </a:xfrm>
          <a:prstGeom prst="line">
            <a:avLst/>
          </a:prstGeom>
          <a:ln w="25416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matching_269"/>
          <p:cNvSpPr/>
          <p:nvPr/>
        </p:nvSpPr>
        <p:spPr>
          <a:xfrm>
            <a:off x="4837086" y="1080203"/>
            <a:ext cx="1342311" cy="1262884"/>
          </a:xfrm>
          <a:prstGeom prst="rect">
            <a:avLst/>
          </a:prstGeom>
          <a:solidFill>
            <a:srgbClr val="FFFFFF"/>
          </a:solidFill>
          <a:ln w="31770">
            <a:solidFill>
              <a:srgbClr val="8174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matching_270"/>
          <p:cNvSpPr/>
          <p:nvPr/>
        </p:nvSpPr>
        <p:spPr>
          <a:xfrm>
            <a:off x="4837086" y="1080203"/>
            <a:ext cx="1342311" cy="285936"/>
          </a:xfrm>
          <a:prstGeom prst="rect">
            <a:avLst/>
          </a:prstGeom>
          <a:solidFill>
            <a:srgbClr val="B4ABBE"/>
          </a:solidFill>
          <a:ln w="23828">
            <a:solidFill>
              <a:srgbClr val="8174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matching_271"/>
          <p:cNvSpPr txBox="1"/>
          <p:nvPr/>
        </p:nvSpPr>
        <p:spPr>
          <a:xfrm>
            <a:off x="4868857" y="1072260"/>
            <a:ext cx="1278770" cy="30182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00000"/>
                </a:solidFill>
                <a:latin typeface="Liberation Serif"/>
              </a:defRPr>
            </a:pPr>
            <a:r>
              <a:t>φ(1,1) Pool</a:t>
            </a:r>
          </a:p>
        </p:txBody>
      </p:sp>
      <p:sp>
        <p:nvSpPr>
          <p:cNvPr id="273" name="matching_272"/>
          <p:cNvSpPr/>
          <p:nvPr/>
        </p:nvSpPr>
        <p:spPr>
          <a:xfrm>
            <a:off x="4948284" y="1469394"/>
            <a:ext cx="111197" cy="111197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matching_273"/>
          <p:cNvSpPr/>
          <p:nvPr/>
        </p:nvSpPr>
        <p:spPr>
          <a:xfrm>
            <a:off x="5329532" y="1723559"/>
            <a:ext cx="111197" cy="111197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matching_274"/>
          <p:cNvSpPr/>
          <p:nvPr/>
        </p:nvSpPr>
        <p:spPr>
          <a:xfrm>
            <a:off x="5758436" y="1548820"/>
            <a:ext cx="111197" cy="111197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matching_275"/>
          <p:cNvSpPr/>
          <p:nvPr/>
        </p:nvSpPr>
        <p:spPr>
          <a:xfrm>
            <a:off x="5011825" y="1961839"/>
            <a:ext cx="111197" cy="111197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matching_276"/>
          <p:cNvSpPr/>
          <p:nvPr/>
        </p:nvSpPr>
        <p:spPr>
          <a:xfrm>
            <a:off x="5615468" y="2120693"/>
            <a:ext cx="111197" cy="111197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matching_277"/>
          <p:cNvSpPr/>
          <p:nvPr/>
        </p:nvSpPr>
        <p:spPr>
          <a:xfrm>
            <a:off x="5829920" y="2104807"/>
            <a:ext cx="111197" cy="111197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matching_278"/>
          <p:cNvSpPr/>
          <p:nvPr/>
        </p:nvSpPr>
        <p:spPr>
          <a:xfrm>
            <a:off x="5528099" y="1810928"/>
            <a:ext cx="460674" cy="460674"/>
          </a:xfrm>
          <a:prstGeom prst="ellipse">
            <a:avLst/>
          </a:prstGeom>
          <a:solidFill>
            <a:srgbClr val="DAE1F3"/>
          </a:solidFill>
          <a:ln w="7942">
            <a:solidFill>
              <a:srgbClr val="C7CED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matching_279"/>
          <p:cNvSpPr/>
          <p:nvPr/>
        </p:nvSpPr>
        <p:spPr>
          <a:xfrm>
            <a:off x="5663124" y="1945954"/>
            <a:ext cx="190624" cy="190624"/>
          </a:xfrm>
          <a:prstGeom prst="star5">
            <a:avLst/>
          </a:prstGeom>
          <a:solidFill>
            <a:srgbClr val="F4B083"/>
          </a:solidFill>
          <a:ln w="11914">
            <a:solidFill>
              <a:srgbClr val="C95B0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matching_280"/>
          <p:cNvSpPr/>
          <p:nvPr/>
        </p:nvSpPr>
        <p:spPr>
          <a:xfrm>
            <a:off x="6330308" y="1080203"/>
            <a:ext cx="1342311" cy="1262884"/>
          </a:xfrm>
          <a:prstGeom prst="rect">
            <a:avLst/>
          </a:prstGeom>
          <a:solidFill>
            <a:srgbClr val="FFFFFF"/>
          </a:solidFill>
          <a:ln w="31770">
            <a:solidFill>
              <a:srgbClr val="8174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matching_281"/>
          <p:cNvSpPr/>
          <p:nvPr/>
        </p:nvSpPr>
        <p:spPr>
          <a:xfrm>
            <a:off x="6330308" y="1080203"/>
            <a:ext cx="1342311" cy="285936"/>
          </a:xfrm>
          <a:prstGeom prst="rect">
            <a:avLst/>
          </a:prstGeom>
          <a:solidFill>
            <a:srgbClr val="B4ABBE"/>
          </a:solidFill>
          <a:ln w="23828">
            <a:solidFill>
              <a:srgbClr val="8174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matching_282"/>
          <p:cNvSpPr txBox="1"/>
          <p:nvPr/>
        </p:nvSpPr>
        <p:spPr>
          <a:xfrm>
            <a:off x="6362079" y="1072260"/>
            <a:ext cx="1278770" cy="30182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00000"/>
                </a:solidFill>
                <a:latin typeface="Liberation Serif"/>
              </a:defRPr>
            </a:pPr>
            <a:r>
              <a:t>φ(1,2) Pool</a:t>
            </a:r>
          </a:p>
        </p:txBody>
      </p:sp>
      <p:sp>
        <p:nvSpPr>
          <p:cNvPr id="284" name="matching_283"/>
          <p:cNvSpPr/>
          <p:nvPr/>
        </p:nvSpPr>
        <p:spPr>
          <a:xfrm>
            <a:off x="6592416" y="1501164"/>
            <a:ext cx="111197" cy="111197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matching_284"/>
          <p:cNvSpPr/>
          <p:nvPr/>
        </p:nvSpPr>
        <p:spPr>
          <a:xfrm>
            <a:off x="7084862" y="1429680"/>
            <a:ext cx="111197" cy="111197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matching_285"/>
          <p:cNvSpPr/>
          <p:nvPr/>
        </p:nvSpPr>
        <p:spPr>
          <a:xfrm>
            <a:off x="6830697" y="1731502"/>
            <a:ext cx="111197" cy="111197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matching_286"/>
          <p:cNvSpPr/>
          <p:nvPr/>
        </p:nvSpPr>
        <p:spPr>
          <a:xfrm>
            <a:off x="7291371" y="1763272"/>
            <a:ext cx="111197" cy="111197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matching_287"/>
          <p:cNvSpPr/>
          <p:nvPr/>
        </p:nvSpPr>
        <p:spPr>
          <a:xfrm>
            <a:off x="7076919" y="1969782"/>
            <a:ext cx="111197" cy="111197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matching_288"/>
          <p:cNvSpPr/>
          <p:nvPr/>
        </p:nvSpPr>
        <p:spPr>
          <a:xfrm>
            <a:off x="7053091" y="2200119"/>
            <a:ext cx="111197" cy="111197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matching_289"/>
          <p:cNvSpPr/>
          <p:nvPr/>
        </p:nvSpPr>
        <p:spPr>
          <a:xfrm>
            <a:off x="6481219" y="1834757"/>
            <a:ext cx="460674" cy="460674"/>
          </a:xfrm>
          <a:prstGeom prst="ellipse">
            <a:avLst/>
          </a:prstGeom>
          <a:solidFill>
            <a:srgbClr val="DAE1F3"/>
          </a:solidFill>
          <a:ln w="7942">
            <a:solidFill>
              <a:srgbClr val="C7CED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matching_290"/>
          <p:cNvSpPr/>
          <p:nvPr/>
        </p:nvSpPr>
        <p:spPr>
          <a:xfrm>
            <a:off x="6616244" y="1969782"/>
            <a:ext cx="190624" cy="190624"/>
          </a:xfrm>
          <a:prstGeom prst="star5">
            <a:avLst/>
          </a:prstGeom>
          <a:solidFill>
            <a:srgbClr val="A7D08C"/>
          </a:solidFill>
          <a:ln w="11914">
            <a:solidFill>
              <a:srgbClr val="51813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matching_291"/>
          <p:cNvSpPr/>
          <p:nvPr/>
        </p:nvSpPr>
        <p:spPr>
          <a:xfrm>
            <a:off x="4837086" y="2462228"/>
            <a:ext cx="1342311" cy="1262884"/>
          </a:xfrm>
          <a:prstGeom prst="rect">
            <a:avLst/>
          </a:prstGeom>
          <a:solidFill>
            <a:srgbClr val="FFFFFF"/>
          </a:solidFill>
          <a:ln w="31770">
            <a:solidFill>
              <a:srgbClr val="8174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matching_292"/>
          <p:cNvSpPr/>
          <p:nvPr/>
        </p:nvSpPr>
        <p:spPr>
          <a:xfrm>
            <a:off x="4837086" y="2462228"/>
            <a:ext cx="1342311" cy="285936"/>
          </a:xfrm>
          <a:prstGeom prst="rect">
            <a:avLst/>
          </a:prstGeom>
          <a:solidFill>
            <a:srgbClr val="B4ABBE"/>
          </a:solidFill>
          <a:ln w="23828">
            <a:solidFill>
              <a:srgbClr val="8174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matching_293"/>
          <p:cNvSpPr txBox="1"/>
          <p:nvPr/>
        </p:nvSpPr>
        <p:spPr>
          <a:xfrm>
            <a:off x="4868857" y="2454285"/>
            <a:ext cx="1278770" cy="30182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00000"/>
                </a:solidFill>
                <a:latin typeface="Liberation Serif"/>
              </a:defRPr>
            </a:pPr>
            <a:r>
              <a:t>φ(1,3) Pool</a:t>
            </a:r>
          </a:p>
        </p:txBody>
      </p:sp>
      <p:sp>
        <p:nvSpPr>
          <p:cNvPr id="295" name="matching_294"/>
          <p:cNvSpPr/>
          <p:nvPr/>
        </p:nvSpPr>
        <p:spPr>
          <a:xfrm>
            <a:off x="5019768" y="2811705"/>
            <a:ext cx="111197" cy="111197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matching_295"/>
          <p:cNvSpPr/>
          <p:nvPr/>
        </p:nvSpPr>
        <p:spPr>
          <a:xfrm>
            <a:off x="5408958" y="2771992"/>
            <a:ext cx="111197" cy="111197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matching_296"/>
          <p:cNvSpPr/>
          <p:nvPr/>
        </p:nvSpPr>
        <p:spPr>
          <a:xfrm>
            <a:off x="5798149" y="2970558"/>
            <a:ext cx="111197" cy="111197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matching_297"/>
          <p:cNvSpPr/>
          <p:nvPr/>
        </p:nvSpPr>
        <p:spPr>
          <a:xfrm>
            <a:off x="5297761" y="3185011"/>
            <a:ext cx="111197" cy="111197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matching_298"/>
          <p:cNvSpPr/>
          <p:nvPr/>
        </p:nvSpPr>
        <p:spPr>
          <a:xfrm>
            <a:off x="5639296" y="3073813"/>
            <a:ext cx="111197" cy="111197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matching_299"/>
          <p:cNvSpPr/>
          <p:nvPr/>
        </p:nvSpPr>
        <p:spPr>
          <a:xfrm>
            <a:off x="5043596" y="3383577"/>
            <a:ext cx="111197" cy="111197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matching_300"/>
          <p:cNvSpPr/>
          <p:nvPr/>
        </p:nvSpPr>
        <p:spPr>
          <a:xfrm>
            <a:off x="5401016" y="3574201"/>
            <a:ext cx="111197" cy="111197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matching_301"/>
          <p:cNvSpPr/>
          <p:nvPr/>
        </p:nvSpPr>
        <p:spPr>
          <a:xfrm>
            <a:off x="5917289" y="3550373"/>
            <a:ext cx="111197" cy="111197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matching_302"/>
          <p:cNvSpPr/>
          <p:nvPr/>
        </p:nvSpPr>
        <p:spPr>
          <a:xfrm>
            <a:off x="4995940" y="3065871"/>
            <a:ext cx="460674" cy="460674"/>
          </a:xfrm>
          <a:prstGeom prst="ellipse">
            <a:avLst/>
          </a:prstGeom>
          <a:solidFill>
            <a:srgbClr val="DAE1F3"/>
          </a:solidFill>
          <a:ln w="7942">
            <a:solidFill>
              <a:srgbClr val="C7CED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matching_303"/>
          <p:cNvSpPr/>
          <p:nvPr/>
        </p:nvSpPr>
        <p:spPr>
          <a:xfrm>
            <a:off x="5130965" y="3200896"/>
            <a:ext cx="190624" cy="190624"/>
          </a:xfrm>
          <a:prstGeom prst="star5">
            <a:avLst/>
          </a:prstGeom>
          <a:solidFill>
            <a:srgbClr val="F4B083"/>
          </a:solidFill>
          <a:ln w="11914">
            <a:solidFill>
              <a:srgbClr val="C95B0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matching_304"/>
          <p:cNvSpPr/>
          <p:nvPr/>
        </p:nvSpPr>
        <p:spPr>
          <a:xfrm>
            <a:off x="6330308" y="2462228"/>
            <a:ext cx="1342311" cy="1262884"/>
          </a:xfrm>
          <a:prstGeom prst="rect">
            <a:avLst/>
          </a:prstGeom>
          <a:solidFill>
            <a:srgbClr val="FFFFFF"/>
          </a:solidFill>
          <a:ln w="31770">
            <a:solidFill>
              <a:srgbClr val="8174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matching_305"/>
          <p:cNvSpPr/>
          <p:nvPr/>
        </p:nvSpPr>
        <p:spPr>
          <a:xfrm>
            <a:off x="6330308" y="2462228"/>
            <a:ext cx="1342311" cy="285936"/>
          </a:xfrm>
          <a:prstGeom prst="rect">
            <a:avLst/>
          </a:prstGeom>
          <a:solidFill>
            <a:srgbClr val="B4ABBE"/>
          </a:solidFill>
          <a:ln w="23828">
            <a:solidFill>
              <a:srgbClr val="8174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matching_306"/>
          <p:cNvSpPr txBox="1"/>
          <p:nvPr/>
        </p:nvSpPr>
        <p:spPr>
          <a:xfrm>
            <a:off x="6362079" y="2454285"/>
            <a:ext cx="1278770" cy="30182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00000"/>
                </a:solidFill>
                <a:latin typeface="Liberation Serif"/>
              </a:defRPr>
            </a:pPr>
            <a:r>
              <a:t>φ(2,1) Pool</a:t>
            </a:r>
          </a:p>
        </p:txBody>
      </p:sp>
      <p:sp>
        <p:nvSpPr>
          <p:cNvPr id="308" name="matching_307"/>
          <p:cNvSpPr/>
          <p:nvPr/>
        </p:nvSpPr>
        <p:spPr>
          <a:xfrm>
            <a:off x="6552703" y="2867304"/>
            <a:ext cx="111197" cy="111197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matching_308"/>
          <p:cNvSpPr/>
          <p:nvPr/>
        </p:nvSpPr>
        <p:spPr>
          <a:xfrm>
            <a:off x="6997493" y="2787877"/>
            <a:ext cx="111197" cy="111197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matching_309"/>
          <p:cNvSpPr/>
          <p:nvPr/>
        </p:nvSpPr>
        <p:spPr>
          <a:xfrm>
            <a:off x="7180174" y="3057928"/>
            <a:ext cx="111197" cy="111197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matching_310"/>
          <p:cNvSpPr/>
          <p:nvPr/>
        </p:nvSpPr>
        <p:spPr>
          <a:xfrm>
            <a:off x="7339028" y="3391520"/>
            <a:ext cx="111197" cy="111197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matching_311"/>
          <p:cNvSpPr/>
          <p:nvPr/>
        </p:nvSpPr>
        <p:spPr>
          <a:xfrm>
            <a:off x="6497104" y="3494775"/>
            <a:ext cx="111197" cy="111197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matching_312"/>
          <p:cNvSpPr/>
          <p:nvPr/>
        </p:nvSpPr>
        <p:spPr>
          <a:xfrm>
            <a:off x="6862467" y="3590087"/>
            <a:ext cx="111197" cy="111197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matching_313"/>
          <p:cNvSpPr/>
          <p:nvPr/>
        </p:nvSpPr>
        <p:spPr>
          <a:xfrm>
            <a:off x="7140461" y="3510660"/>
            <a:ext cx="111197" cy="111197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matching_314"/>
          <p:cNvSpPr/>
          <p:nvPr/>
        </p:nvSpPr>
        <p:spPr>
          <a:xfrm>
            <a:off x="6576531" y="3097641"/>
            <a:ext cx="460674" cy="460674"/>
          </a:xfrm>
          <a:prstGeom prst="ellipse">
            <a:avLst/>
          </a:prstGeom>
          <a:solidFill>
            <a:srgbClr val="DAE1F3"/>
          </a:solidFill>
          <a:ln w="7942">
            <a:solidFill>
              <a:srgbClr val="C7CED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matching_315"/>
          <p:cNvSpPr/>
          <p:nvPr/>
        </p:nvSpPr>
        <p:spPr>
          <a:xfrm>
            <a:off x="6711557" y="3232667"/>
            <a:ext cx="190624" cy="190624"/>
          </a:xfrm>
          <a:prstGeom prst="star5">
            <a:avLst/>
          </a:prstGeom>
          <a:solidFill>
            <a:srgbClr val="A7D08C"/>
          </a:solidFill>
          <a:ln w="11914">
            <a:solidFill>
              <a:srgbClr val="51813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7" name="matching_316"/>
          <p:cNvCxnSpPr/>
          <p:nvPr/>
        </p:nvCxnSpPr>
        <p:spPr>
          <a:xfrm>
            <a:off x="7775874" y="2239833"/>
            <a:ext cx="778382" cy="0"/>
          </a:xfrm>
          <a:prstGeom prst="line">
            <a:avLst/>
          </a:prstGeom>
          <a:ln w="63541">
            <a:solidFill>
              <a:srgbClr val="81749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8" name="matching_317"/>
          <p:cNvSpPr/>
          <p:nvPr/>
        </p:nvSpPr>
        <p:spPr>
          <a:xfrm rot="5400000">
            <a:off x="8411288" y="2151193"/>
            <a:ext cx="142968" cy="177280"/>
          </a:xfrm>
          <a:prstGeom prst="triangle">
            <a:avLst/>
          </a:prstGeom>
          <a:solidFill>
            <a:srgbClr val="817492"/>
          </a:solidFill>
          <a:ln w="7942">
            <a:solidFill>
              <a:srgbClr val="8174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matching_318"/>
          <p:cNvSpPr txBox="1"/>
          <p:nvPr/>
        </p:nvSpPr>
        <p:spPr>
          <a:xfrm>
            <a:off x="7783817" y="1882413"/>
            <a:ext cx="635413" cy="2779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51" b="1" i="0">
                <a:solidFill>
                  <a:srgbClr val="000000"/>
                </a:solidFill>
                <a:latin typeface="Liberation Sans"/>
              </a:defRPr>
            </a:pPr>
            <a:r>
              <a:t>Hit</a:t>
            </a:r>
          </a:p>
        </p:txBody>
      </p:sp>
      <p:sp>
        <p:nvSpPr>
          <p:cNvPr id="320" name="matching_319"/>
          <p:cNvSpPr/>
          <p:nvPr/>
        </p:nvSpPr>
        <p:spPr>
          <a:xfrm>
            <a:off x="7783817" y="2390743"/>
            <a:ext cx="63541" cy="63541"/>
          </a:xfrm>
          <a:prstGeom prst="ellipse">
            <a:avLst/>
          </a:prstGeom>
          <a:solidFill>
            <a:srgbClr val="817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matching_320"/>
          <p:cNvSpPr/>
          <p:nvPr/>
        </p:nvSpPr>
        <p:spPr>
          <a:xfrm>
            <a:off x="7887072" y="2390743"/>
            <a:ext cx="63541" cy="63541"/>
          </a:xfrm>
          <a:prstGeom prst="ellipse">
            <a:avLst/>
          </a:prstGeom>
          <a:solidFill>
            <a:srgbClr val="817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matching_321"/>
          <p:cNvSpPr/>
          <p:nvPr/>
        </p:nvSpPr>
        <p:spPr>
          <a:xfrm>
            <a:off x="7990327" y="2390743"/>
            <a:ext cx="63541" cy="63541"/>
          </a:xfrm>
          <a:prstGeom prst="ellipse">
            <a:avLst/>
          </a:prstGeom>
          <a:solidFill>
            <a:srgbClr val="817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ffset_322"/>
          <p:cNvSpPr/>
          <p:nvPr/>
        </p:nvSpPr>
        <p:spPr>
          <a:xfrm>
            <a:off x="8522485" y="1223171"/>
            <a:ext cx="1016661" cy="1016661"/>
          </a:xfrm>
          <a:prstGeom prst="ellipse">
            <a:avLst/>
          </a:prstGeom>
          <a:solidFill>
            <a:srgbClr val="DAE1F3"/>
          </a:solidFill>
          <a:ln w="11914">
            <a:solidFill>
              <a:srgbClr val="C3C8D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ffset_323"/>
          <p:cNvSpPr/>
          <p:nvPr/>
        </p:nvSpPr>
        <p:spPr>
          <a:xfrm>
            <a:off x="8887848" y="1532935"/>
            <a:ext cx="285936" cy="285936"/>
          </a:xfrm>
          <a:prstGeom prst="star5">
            <a:avLst/>
          </a:prstGeom>
          <a:solidFill>
            <a:srgbClr val="F4B083"/>
          </a:solidFill>
          <a:ln w="11914">
            <a:solidFill>
              <a:srgbClr val="C95B0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ffset_324"/>
          <p:cNvSpPr/>
          <p:nvPr/>
        </p:nvSpPr>
        <p:spPr>
          <a:xfrm>
            <a:off x="8721052" y="1850642"/>
            <a:ext cx="158853" cy="158853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ffset_325"/>
          <p:cNvSpPr/>
          <p:nvPr/>
        </p:nvSpPr>
        <p:spPr>
          <a:xfrm>
            <a:off x="9197613" y="1850642"/>
            <a:ext cx="158853" cy="158853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7" name="offset_326"/>
          <p:cNvCxnSpPr/>
          <p:nvPr/>
        </p:nvCxnSpPr>
        <p:spPr>
          <a:xfrm flipH="1">
            <a:off x="8768708" y="1715616"/>
            <a:ext cx="230338" cy="182682"/>
          </a:xfrm>
          <a:prstGeom prst="line">
            <a:avLst/>
          </a:prstGeom>
          <a:ln w="23828">
            <a:solidFill>
              <a:srgbClr val="00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8" name="offset_327"/>
          <p:cNvSpPr/>
          <p:nvPr/>
        </p:nvSpPr>
        <p:spPr>
          <a:xfrm rot="13894917">
            <a:off x="8768708" y="1819153"/>
            <a:ext cx="83547" cy="79144"/>
          </a:xfrm>
          <a:prstGeom prst="triangle">
            <a:avLst/>
          </a:prstGeom>
          <a:solidFill>
            <a:srgbClr val="000000"/>
          </a:solidFill>
          <a:ln w="7942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9" name="offset_328"/>
          <p:cNvCxnSpPr/>
          <p:nvPr/>
        </p:nvCxnSpPr>
        <p:spPr>
          <a:xfrm>
            <a:off x="9062587" y="1715616"/>
            <a:ext cx="246223" cy="182682"/>
          </a:xfrm>
          <a:prstGeom prst="line">
            <a:avLst/>
          </a:prstGeom>
          <a:ln w="23828">
            <a:solidFill>
              <a:srgbClr val="00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0" name="offset_329"/>
          <p:cNvSpPr/>
          <p:nvPr/>
        </p:nvSpPr>
        <p:spPr>
          <a:xfrm rot="7594382">
            <a:off x="9224993" y="1820111"/>
            <a:ext cx="83816" cy="78186"/>
          </a:xfrm>
          <a:prstGeom prst="triangle">
            <a:avLst/>
          </a:prstGeom>
          <a:solidFill>
            <a:srgbClr val="000000"/>
          </a:solidFill>
          <a:ln w="7942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ffset_330"/>
          <p:cNvSpPr txBox="1"/>
          <p:nvPr/>
        </p:nvSpPr>
        <p:spPr>
          <a:xfrm>
            <a:off x="8586027" y="1556763"/>
            <a:ext cx="381248" cy="270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w₁</a:t>
            </a:r>
          </a:p>
        </p:txBody>
      </p:sp>
      <p:sp>
        <p:nvSpPr>
          <p:cNvPr id="332" name="offset_331"/>
          <p:cNvSpPr txBox="1"/>
          <p:nvPr/>
        </p:nvSpPr>
        <p:spPr>
          <a:xfrm>
            <a:off x="9134071" y="1556763"/>
            <a:ext cx="381248" cy="270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w₂</a:t>
            </a:r>
          </a:p>
        </p:txBody>
      </p:sp>
      <p:sp>
        <p:nvSpPr>
          <p:cNvPr id="333" name="offset_332"/>
          <p:cNvSpPr txBox="1"/>
          <p:nvPr/>
        </p:nvSpPr>
        <p:spPr>
          <a:xfrm>
            <a:off x="8641626" y="1969782"/>
            <a:ext cx="317706" cy="2223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25" b="0" i="0">
                <a:solidFill>
                  <a:srgbClr val="000000"/>
                </a:solidFill>
                <a:latin typeface="Liberation Serif"/>
              </a:defRPr>
            </a:pPr>
            <a:r>
              <a:t>(1)</a:t>
            </a:r>
          </a:p>
        </p:txBody>
      </p:sp>
      <p:sp>
        <p:nvSpPr>
          <p:cNvPr id="334" name="offset_333"/>
          <p:cNvSpPr txBox="1"/>
          <p:nvPr/>
        </p:nvSpPr>
        <p:spPr>
          <a:xfrm>
            <a:off x="9118186" y="1969782"/>
            <a:ext cx="317706" cy="2223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25" b="0" i="0">
                <a:solidFill>
                  <a:srgbClr val="000000"/>
                </a:solidFill>
                <a:latin typeface="Liberation Serif"/>
              </a:defRPr>
            </a:pPr>
            <a:r>
              <a:t>(2)</a:t>
            </a:r>
          </a:p>
        </p:txBody>
      </p:sp>
      <p:sp>
        <p:nvSpPr>
          <p:cNvPr id="335" name="offset_334"/>
          <p:cNvSpPr/>
          <p:nvPr/>
        </p:nvSpPr>
        <p:spPr>
          <a:xfrm>
            <a:off x="9721829" y="1119916"/>
            <a:ext cx="1850642" cy="1246999"/>
          </a:xfrm>
          <a:prstGeom prst="rect">
            <a:avLst/>
          </a:prstGeom>
          <a:solidFill>
            <a:srgbClr val="FFFFFF"/>
          </a:solidFill>
          <a:ln w="11914">
            <a:solidFill>
              <a:srgbClr val="81749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ffset_335"/>
          <p:cNvSpPr txBox="1"/>
          <p:nvPr/>
        </p:nvSpPr>
        <p:spPr>
          <a:xfrm>
            <a:off x="9777428" y="1143744"/>
            <a:ext cx="1747387" cy="2779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00000"/>
                </a:solidFill>
                <a:latin typeface="Liberation Serif"/>
              </a:defRPr>
            </a:pPr>
            <a:r>
              <a:t>Each φ(1,1) Anchor</a:t>
            </a:r>
          </a:p>
        </p:txBody>
      </p:sp>
      <p:sp>
        <p:nvSpPr>
          <p:cNvPr id="337" name="offset_336"/>
          <p:cNvSpPr txBox="1"/>
          <p:nvPr/>
        </p:nvSpPr>
        <p:spPr>
          <a:xfrm>
            <a:off x="9682115" y="1413795"/>
            <a:ext cx="309764" cy="8339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190" b="0" i="0">
                <a:solidFill>
                  <a:srgbClr val="000000"/>
                </a:solidFill>
                <a:latin typeface="Liberation Serif"/>
              </a:defRPr>
            </a:pPr>
            <a:r>
              <a:t>{</a:t>
            </a:r>
          </a:p>
        </p:txBody>
      </p:sp>
      <p:sp>
        <p:nvSpPr>
          <p:cNvPr id="338" name="offset_337"/>
          <p:cNvSpPr/>
          <p:nvPr/>
        </p:nvSpPr>
        <p:spPr>
          <a:xfrm>
            <a:off x="9777428" y="1731502"/>
            <a:ext cx="174738" cy="174738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ffset_338"/>
          <p:cNvSpPr/>
          <p:nvPr/>
        </p:nvSpPr>
        <p:spPr>
          <a:xfrm>
            <a:off x="10182504" y="1397910"/>
            <a:ext cx="603642" cy="254165"/>
          </a:xfrm>
          <a:prstGeom prst="roundRect">
            <a:avLst/>
          </a:prstGeom>
          <a:solidFill>
            <a:srgbClr val="BCAD90"/>
          </a:solidFill>
          <a:ln w="7942">
            <a:solidFill>
              <a:srgbClr val="6E5D3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ffset_339"/>
          <p:cNvSpPr txBox="1"/>
          <p:nvPr/>
        </p:nvSpPr>
        <p:spPr>
          <a:xfrm>
            <a:off x="10190446" y="1397910"/>
            <a:ext cx="587757" cy="254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25" b="1" i="1">
                <a:solidFill>
                  <a:srgbClr val="000000"/>
                </a:solidFill>
                <a:latin typeface="Liberation Serif"/>
              </a:defRPr>
            </a:pPr>
            <a:r>
              <a:t>hφ(1,1)</a:t>
            </a:r>
          </a:p>
        </p:txBody>
      </p:sp>
      <p:sp>
        <p:nvSpPr>
          <p:cNvPr id="341" name="offset_340"/>
          <p:cNvSpPr/>
          <p:nvPr/>
        </p:nvSpPr>
        <p:spPr>
          <a:xfrm>
            <a:off x="10182504" y="1699731"/>
            <a:ext cx="1278770" cy="277993"/>
          </a:xfrm>
          <a:prstGeom prst="roundRect">
            <a:avLst/>
          </a:prstGeom>
          <a:solidFill>
            <a:srgbClr val="BCAD90"/>
          </a:solidFill>
          <a:ln w="7942">
            <a:solidFill>
              <a:srgbClr val="6E5D3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ffset_341"/>
          <p:cNvSpPr txBox="1"/>
          <p:nvPr/>
        </p:nvSpPr>
        <p:spPr>
          <a:xfrm>
            <a:off x="10206332" y="1691788"/>
            <a:ext cx="1231114" cy="2859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75" b="0" i="1">
                <a:solidFill>
                  <a:srgbClr val="000000"/>
                </a:solidFill>
                <a:latin typeface="Liberation Serif"/>
              </a:defRPr>
            </a:pPr>
            <a:r>
              <a:t>(Δk, Δv) φ(1,1)</a:t>
            </a:r>
          </a:p>
        </p:txBody>
      </p:sp>
      <p:sp>
        <p:nvSpPr>
          <p:cNvPr id="343" name="offset_342"/>
          <p:cNvSpPr/>
          <p:nvPr/>
        </p:nvSpPr>
        <p:spPr>
          <a:xfrm>
            <a:off x="10182504" y="2017438"/>
            <a:ext cx="1278770" cy="277993"/>
          </a:xfrm>
          <a:prstGeom prst="roundRect">
            <a:avLst/>
          </a:prstGeom>
          <a:solidFill>
            <a:srgbClr val="BCAD90"/>
          </a:solidFill>
          <a:ln w="7942">
            <a:solidFill>
              <a:srgbClr val="6E5D3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ffset_343"/>
          <p:cNvSpPr txBox="1"/>
          <p:nvPr/>
        </p:nvSpPr>
        <p:spPr>
          <a:xfrm>
            <a:off x="10206332" y="2009495"/>
            <a:ext cx="1231114" cy="2859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75" b="0" i="1">
                <a:solidFill>
                  <a:srgbClr val="000000"/>
                </a:solidFill>
                <a:latin typeface="Liberation Serif"/>
              </a:defRPr>
            </a:pPr>
            <a:r>
              <a:t>(Δk, Δv) p(1,1)</a:t>
            </a:r>
          </a:p>
        </p:txBody>
      </p:sp>
      <p:cxnSp>
        <p:nvCxnSpPr>
          <p:cNvPr id="345" name="offset_344"/>
          <p:cNvCxnSpPr/>
          <p:nvPr/>
        </p:nvCxnSpPr>
        <p:spPr>
          <a:xfrm>
            <a:off x="8347747" y="2366915"/>
            <a:ext cx="659241" cy="0"/>
          </a:xfrm>
          <a:prstGeom prst="line">
            <a:avLst/>
          </a:prstGeom>
          <a:ln w="23828">
            <a:solidFill>
              <a:srgbClr val="C95B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offset_345"/>
          <p:cNvCxnSpPr/>
          <p:nvPr/>
        </p:nvCxnSpPr>
        <p:spPr>
          <a:xfrm>
            <a:off x="9006988" y="2366915"/>
            <a:ext cx="0" cy="1517051"/>
          </a:xfrm>
          <a:prstGeom prst="line">
            <a:avLst/>
          </a:prstGeom>
          <a:ln w="23828">
            <a:solidFill>
              <a:srgbClr val="C95B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offset_346"/>
          <p:cNvCxnSpPr/>
          <p:nvPr/>
        </p:nvCxnSpPr>
        <p:spPr>
          <a:xfrm flipH="1">
            <a:off x="8347747" y="3883966"/>
            <a:ext cx="659241" cy="0"/>
          </a:xfrm>
          <a:prstGeom prst="line">
            <a:avLst/>
          </a:prstGeom>
          <a:ln w="23828">
            <a:solidFill>
              <a:srgbClr val="C95B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offset_347"/>
          <p:cNvCxnSpPr/>
          <p:nvPr/>
        </p:nvCxnSpPr>
        <p:spPr>
          <a:xfrm flipV="1">
            <a:off x="8347747" y="2366915"/>
            <a:ext cx="0" cy="1517051"/>
          </a:xfrm>
          <a:prstGeom prst="line">
            <a:avLst/>
          </a:prstGeom>
          <a:ln w="23828">
            <a:solidFill>
              <a:srgbClr val="C95B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9" name="offset_348"/>
          <p:cNvSpPr/>
          <p:nvPr/>
        </p:nvSpPr>
        <p:spPr>
          <a:xfrm>
            <a:off x="8395403" y="2430457"/>
            <a:ext cx="595700" cy="309764"/>
          </a:xfrm>
          <a:prstGeom prst="roundRect">
            <a:avLst/>
          </a:prstGeom>
          <a:solidFill>
            <a:srgbClr val="F4B083"/>
          </a:solidFill>
          <a:ln w="10325">
            <a:solidFill>
              <a:srgbClr val="C95B0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0" name="offset_349"/>
          <p:cNvCxnSpPr/>
          <p:nvPr/>
        </p:nvCxnSpPr>
        <p:spPr>
          <a:xfrm flipV="1">
            <a:off x="8395403" y="2525769"/>
            <a:ext cx="95312" cy="119140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offset_350"/>
          <p:cNvCxnSpPr/>
          <p:nvPr/>
        </p:nvCxnSpPr>
        <p:spPr>
          <a:xfrm>
            <a:off x="8395403" y="2549597"/>
            <a:ext cx="190624" cy="71484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offset_351"/>
          <p:cNvCxnSpPr/>
          <p:nvPr/>
        </p:nvCxnSpPr>
        <p:spPr>
          <a:xfrm>
            <a:off x="8395403" y="2454285"/>
            <a:ext cx="285936" cy="262108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offset_352"/>
          <p:cNvCxnSpPr/>
          <p:nvPr/>
        </p:nvCxnSpPr>
        <p:spPr>
          <a:xfrm>
            <a:off x="8466887" y="2430457"/>
            <a:ext cx="309764" cy="309764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offset_353"/>
          <p:cNvCxnSpPr/>
          <p:nvPr/>
        </p:nvCxnSpPr>
        <p:spPr>
          <a:xfrm>
            <a:off x="8562199" y="2430457"/>
            <a:ext cx="309764" cy="309764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offset_354"/>
          <p:cNvCxnSpPr/>
          <p:nvPr/>
        </p:nvCxnSpPr>
        <p:spPr>
          <a:xfrm>
            <a:off x="8657511" y="2430457"/>
            <a:ext cx="309764" cy="309764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offset_355"/>
          <p:cNvCxnSpPr/>
          <p:nvPr/>
        </p:nvCxnSpPr>
        <p:spPr>
          <a:xfrm>
            <a:off x="8752823" y="2430457"/>
            <a:ext cx="238280" cy="309764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offset_356"/>
          <p:cNvCxnSpPr/>
          <p:nvPr/>
        </p:nvCxnSpPr>
        <p:spPr>
          <a:xfrm>
            <a:off x="8848135" y="2430457"/>
            <a:ext cx="142968" cy="309764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offset_357"/>
          <p:cNvCxnSpPr/>
          <p:nvPr/>
        </p:nvCxnSpPr>
        <p:spPr>
          <a:xfrm>
            <a:off x="8943447" y="2430457"/>
            <a:ext cx="47656" cy="309764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9" name="offset_358"/>
          <p:cNvSpPr txBox="1"/>
          <p:nvPr/>
        </p:nvSpPr>
        <p:spPr>
          <a:xfrm>
            <a:off x="8403345" y="2422514"/>
            <a:ext cx="579814" cy="3256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φ(1,1)</a:t>
            </a:r>
          </a:p>
        </p:txBody>
      </p:sp>
      <p:sp>
        <p:nvSpPr>
          <p:cNvPr id="360" name="offset_359"/>
          <p:cNvSpPr/>
          <p:nvPr/>
        </p:nvSpPr>
        <p:spPr>
          <a:xfrm>
            <a:off x="9213498" y="2430457"/>
            <a:ext cx="595700" cy="309764"/>
          </a:xfrm>
          <a:prstGeom prst="roundRect">
            <a:avLst/>
          </a:prstGeom>
          <a:solidFill>
            <a:srgbClr val="F4B083"/>
          </a:solidFill>
          <a:ln w="10325">
            <a:solidFill>
              <a:srgbClr val="C95B0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1" name="offset_360"/>
          <p:cNvCxnSpPr/>
          <p:nvPr/>
        </p:nvCxnSpPr>
        <p:spPr>
          <a:xfrm flipV="1">
            <a:off x="9213498" y="2525769"/>
            <a:ext cx="95312" cy="119140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offset_361"/>
          <p:cNvCxnSpPr/>
          <p:nvPr/>
        </p:nvCxnSpPr>
        <p:spPr>
          <a:xfrm>
            <a:off x="9213498" y="2549597"/>
            <a:ext cx="190624" cy="71484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offset_362"/>
          <p:cNvCxnSpPr/>
          <p:nvPr/>
        </p:nvCxnSpPr>
        <p:spPr>
          <a:xfrm>
            <a:off x="9213498" y="2454285"/>
            <a:ext cx="285936" cy="262108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offset_363"/>
          <p:cNvCxnSpPr/>
          <p:nvPr/>
        </p:nvCxnSpPr>
        <p:spPr>
          <a:xfrm>
            <a:off x="9284982" y="2430457"/>
            <a:ext cx="309764" cy="309764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offset_364"/>
          <p:cNvCxnSpPr/>
          <p:nvPr/>
        </p:nvCxnSpPr>
        <p:spPr>
          <a:xfrm>
            <a:off x="9380294" y="2430457"/>
            <a:ext cx="309764" cy="309764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offset_365"/>
          <p:cNvCxnSpPr/>
          <p:nvPr/>
        </p:nvCxnSpPr>
        <p:spPr>
          <a:xfrm>
            <a:off x="9475606" y="2430457"/>
            <a:ext cx="309764" cy="309764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offset_366"/>
          <p:cNvCxnSpPr/>
          <p:nvPr/>
        </p:nvCxnSpPr>
        <p:spPr>
          <a:xfrm>
            <a:off x="9570918" y="2430457"/>
            <a:ext cx="238280" cy="309764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offset_367"/>
          <p:cNvCxnSpPr/>
          <p:nvPr/>
        </p:nvCxnSpPr>
        <p:spPr>
          <a:xfrm>
            <a:off x="9666230" y="2430457"/>
            <a:ext cx="142968" cy="309764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offset_368"/>
          <p:cNvCxnSpPr/>
          <p:nvPr/>
        </p:nvCxnSpPr>
        <p:spPr>
          <a:xfrm>
            <a:off x="9761542" y="2430457"/>
            <a:ext cx="47656" cy="309764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0" name="offset_369"/>
          <p:cNvSpPr txBox="1"/>
          <p:nvPr/>
        </p:nvSpPr>
        <p:spPr>
          <a:xfrm>
            <a:off x="9221441" y="2422514"/>
            <a:ext cx="579814" cy="3256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φ(1,i)</a:t>
            </a:r>
          </a:p>
        </p:txBody>
      </p:sp>
      <p:sp>
        <p:nvSpPr>
          <p:cNvPr id="371" name="offset_370"/>
          <p:cNvSpPr txBox="1"/>
          <p:nvPr/>
        </p:nvSpPr>
        <p:spPr>
          <a:xfrm>
            <a:off x="8983160" y="2382801"/>
            <a:ext cx="238280" cy="3812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38" b="1" i="0">
                <a:solidFill>
                  <a:srgbClr val="000000"/>
                </a:solidFill>
                <a:latin typeface="Liberation Serif"/>
              </a:defRPr>
            </a:pPr>
            <a:r>
              <a:t>=</a:t>
            </a:r>
          </a:p>
        </p:txBody>
      </p:sp>
      <p:sp>
        <p:nvSpPr>
          <p:cNvPr id="372" name="offset_371"/>
          <p:cNvSpPr txBox="1"/>
          <p:nvPr/>
        </p:nvSpPr>
        <p:spPr>
          <a:xfrm>
            <a:off x="9840969" y="2406629"/>
            <a:ext cx="277993" cy="3574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76" b="1" i="0">
                <a:solidFill>
                  <a:srgbClr val="000000"/>
                </a:solidFill>
                <a:latin typeface="Liberation Sans"/>
              </a:defRPr>
            </a:pPr>
            <a:r>
              <a:t>+</a:t>
            </a:r>
          </a:p>
        </p:txBody>
      </p:sp>
      <p:sp>
        <p:nvSpPr>
          <p:cNvPr id="373" name="offset_372"/>
          <p:cNvSpPr txBox="1"/>
          <p:nvPr/>
        </p:nvSpPr>
        <p:spPr>
          <a:xfrm>
            <a:off x="10039536" y="2382801"/>
            <a:ext cx="1461451" cy="3891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63" b="0" i="1">
                <a:solidFill>
                  <a:srgbClr val="000000"/>
                </a:solidFill>
                <a:latin typeface="Liberation Serif"/>
              </a:defRPr>
            </a:pPr>
            <a:r>
              <a:t>w₁(Δk, Δv) φ₍₁₎</a:t>
            </a:r>
          </a:p>
        </p:txBody>
      </p:sp>
      <p:sp>
        <p:nvSpPr>
          <p:cNvPr id="374" name="offset_373"/>
          <p:cNvSpPr txBox="1"/>
          <p:nvPr/>
        </p:nvSpPr>
        <p:spPr>
          <a:xfrm>
            <a:off x="8983160" y="2732278"/>
            <a:ext cx="2517826" cy="3733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63" b="0" i="1">
                <a:solidFill>
                  <a:srgbClr val="000000"/>
                </a:solidFill>
                <a:latin typeface="Liberation Serif"/>
              </a:defRPr>
            </a:pPr>
            <a:r>
              <a:t>+ w₂(Δk, Δv) φ₍₂₎</a:t>
            </a:r>
          </a:p>
        </p:txBody>
      </p:sp>
      <p:sp>
        <p:nvSpPr>
          <p:cNvPr id="375" name="offset_374"/>
          <p:cNvSpPr/>
          <p:nvPr/>
        </p:nvSpPr>
        <p:spPr>
          <a:xfrm>
            <a:off x="8395403" y="3153240"/>
            <a:ext cx="595700" cy="309764"/>
          </a:xfrm>
          <a:prstGeom prst="roundRect">
            <a:avLst/>
          </a:prstGeom>
          <a:solidFill>
            <a:srgbClr val="90AADB"/>
          </a:solidFill>
          <a:ln w="10325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ffset_375"/>
          <p:cNvSpPr txBox="1"/>
          <p:nvPr/>
        </p:nvSpPr>
        <p:spPr>
          <a:xfrm>
            <a:off x="8403345" y="3145297"/>
            <a:ext cx="579814" cy="3256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p(1,1)</a:t>
            </a:r>
          </a:p>
        </p:txBody>
      </p:sp>
      <p:sp>
        <p:nvSpPr>
          <p:cNvPr id="377" name="offset_376"/>
          <p:cNvSpPr/>
          <p:nvPr/>
        </p:nvSpPr>
        <p:spPr>
          <a:xfrm>
            <a:off x="9213498" y="3153240"/>
            <a:ext cx="595700" cy="309764"/>
          </a:xfrm>
          <a:prstGeom prst="roundRect">
            <a:avLst/>
          </a:prstGeom>
          <a:solidFill>
            <a:srgbClr val="90AADB"/>
          </a:solidFill>
          <a:ln w="10325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ffset_377"/>
          <p:cNvSpPr txBox="1"/>
          <p:nvPr/>
        </p:nvSpPr>
        <p:spPr>
          <a:xfrm>
            <a:off x="9221441" y="3145297"/>
            <a:ext cx="579814" cy="3256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p(1,1)</a:t>
            </a:r>
          </a:p>
        </p:txBody>
      </p:sp>
      <p:sp>
        <p:nvSpPr>
          <p:cNvPr id="379" name="offset_378"/>
          <p:cNvSpPr txBox="1"/>
          <p:nvPr/>
        </p:nvSpPr>
        <p:spPr>
          <a:xfrm>
            <a:off x="8983160" y="3105584"/>
            <a:ext cx="238280" cy="3812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38" b="1" i="0">
                <a:solidFill>
                  <a:srgbClr val="000000"/>
                </a:solidFill>
                <a:latin typeface="Liberation Serif"/>
              </a:defRPr>
            </a:pPr>
            <a:r>
              <a:t>=</a:t>
            </a:r>
          </a:p>
        </p:txBody>
      </p:sp>
      <p:sp>
        <p:nvSpPr>
          <p:cNvPr id="380" name="offset_379"/>
          <p:cNvSpPr txBox="1"/>
          <p:nvPr/>
        </p:nvSpPr>
        <p:spPr>
          <a:xfrm>
            <a:off x="9840969" y="3129412"/>
            <a:ext cx="277993" cy="3574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76" b="1" i="0">
                <a:solidFill>
                  <a:srgbClr val="000000"/>
                </a:solidFill>
                <a:latin typeface="Liberation Sans"/>
              </a:defRPr>
            </a:pPr>
            <a:r>
              <a:t>+</a:t>
            </a:r>
          </a:p>
        </p:txBody>
      </p:sp>
      <p:sp>
        <p:nvSpPr>
          <p:cNvPr id="381" name="offset_380"/>
          <p:cNvSpPr txBox="1"/>
          <p:nvPr/>
        </p:nvSpPr>
        <p:spPr>
          <a:xfrm>
            <a:off x="10039536" y="3105584"/>
            <a:ext cx="1461451" cy="3891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63" b="0" i="1">
                <a:solidFill>
                  <a:srgbClr val="000000"/>
                </a:solidFill>
                <a:latin typeface="Liberation Serif"/>
              </a:defRPr>
            </a:pPr>
            <a:r>
              <a:t>w₁(Δk, Δv) p₍₁₎</a:t>
            </a:r>
          </a:p>
        </p:txBody>
      </p:sp>
      <p:sp>
        <p:nvSpPr>
          <p:cNvPr id="382" name="offset_381"/>
          <p:cNvSpPr txBox="1"/>
          <p:nvPr/>
        </p:nvSpPr>
        <p:spPr>
          <a:xfrm>
            <a:off x="8983160" y="3455061"/>
            <a:ext cx="2517826" cy="3733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63" b="0" i="1">
                <a:solidFill>
                  <a:srgbClr val="000000"/>
                </a:solidFill>
                <a:latin typeface="Liberation Serif"/>
              </a:defRPr>
            </a:pPr>
            <a:r>
              <a:t>+ w₂(Δk, Δv) p₍₂₎</a:t>
            </a:r>
          </a:p>
        </p:txBody>
      </p:sp>
      <p:sp>
        <p:nvSpPr>
          <p:cNvPr id="383" name="offset_382"/>
          <p:cNvSpPr txBox="1"/>
          <p:nvPr/>
        </p:nvSpPr>
        <p:spPr>
          <a:xfrm>
            <a:off x="8419231" y="3582144"/>
            <a:ext cx="555986" cy="2859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38" b="1" i="0">
                <a:solidFill>
                  <a:srgbClr val="C95B0B"/>
                </a:solidFill>
                <a:latin typeface="Liberation Sans"/>
              </a:defRPr>
            </a:pPr>
            <a:r>
              <a:t>•••</a:t>
            </a:r>
          </a:p>
        </p:txBody>
      </p:sp>
      <p:sp>
        <p:nvSpPr>
          <p:cNvPr id="384" name="prediction_383"/>
          <p:cNvSpPr/>
          <p:nvPr/>
        </p:nvSpPr>
        <p:spPr>
          <a:xfrm>
            <a:off x="11794866" y="1032547"/>
            <a:ext cx="1469394" cy="3216781"/>
          </a:xfrm>
          <a:prstGeom prst="roundRect">
            <a:avLst/>
          </a:prstGeom>
          <a:solidFill>
            <a:srgbClr val="FFFFFF"/>
          </a:solidFill>
          <a:ln w="23828">
            <a:solidFill>
              <a:srgbClr val="C95B0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prediction_384"/>
          <p:cNvSpPr/>
          <p:nvPr/>
        </p:nvSpPr>
        <p:spPr>
          <a:xfrm>
            <a:off x="13288088" y="1032547"/>
            <a:ext cx="1477336" cy="3216781"/>
          </a:xfrm>
          <a:prstGeom prst="roundRect">
            <a:avLst/>
          </a:prstGeom>
          <a:solidFill>
            <a:srgbClr val="FFFFFF"/>
          </a:solidFill>
          <a:ln w="23828">
            <a:solidFill>
              <a:srgbClr val="51813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prediction_385"/>
          <p:cNvSpPr/>
          <p:nvPr/>
        </p:nvSpPr>
        <p:spPr>
          <a:xfrm>
            <a:off x="11858407" y="1096088"/>
            <a:ext cx="1342311" cy="1246999"/>
          </a:xfrm>
          <a:prstGeom prst="rect">
            <a:avLst/>
          </a:prstGeom>
          <a:solidFill>
            <a:srgbClr val="FFFFFF"/>
          </a:solidFill>
          <a:ln w="27799">
            <a:solidFill>
              <a:srgbClr val="8174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prediction_386"/>
          <p:cNvSpPr/>
          <p:nvPr/>
        </p:nvSpPr>
        <p:spPr>
          <a:xfrm>
            <a:off x="11858407" y="1096088"/>
            <a:ext cx="1342311" cy="293878"/>
          </a:xfrm>
          <a:prstGeom prst="rect">
            <a:avLst/>
          </a:prstGeom>
          <a:solidFill>
            <a:srgbClr val="B4ABBE"/>
          </a:solidFill>
          <a:ln w="23828">
            <a:solidFill>
              <a:srgbClr val="8174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prediction_387"/>
          <p:cNvSpPr txBox="1"/>
          <p:nvPr/>
        </p:nvSpPr>
        <p:spPr>
          <a:xfrm>
            <a:off x="11882235" y="1088145"/>
            <a:ext cx="1294655" cy="30182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000000"/>
                </a:solidFill>
                <a:latin typeface="Liberation Serif"/>
              </a:defRPr>
            </a:pPr>
            <a:r>
              <a:t>hφ Unmatched</a:t>
            </a:r>
          </a:p>
        </p:txBody>
      </p:sp>
      <p:sp>
        <p:nvSpPr>
          <p:cNvPr id="389" name="prediction_388"/>
          <p:cNvSpPr/>
          <p:nvPr/>
        </p:nvSpPr>
        <p:spPr>
          <a:xfrm>
            <a:off x="11969605" y="1461451"/>
            <a:ext cx="111197" cy="111197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prediction_389"/>
          <p:cNvSpPr/>
          <p:nvPr/>
        </p:nvSpPr>
        <p:spPr>
          <a:xfrm>
            <a:off x="12358796" y="1652075"/>
            <a:ext cx="111197" cy="111197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prediction_390"/>
          <p:cNvSpPr/>
          <p:nvPr/>
        </p:nvSpPr>
        <p:spPr>
          <a:xfrm>
            <a:off x="12787700" y="1485279"/>
            <a:ext cx="111197" cy="111197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prediction_391"/>
          <p:cNvSpPr/>
          <p:nvPr/>
        </p:nvSpPr>
        <p:spPr>
          <a:xfrm>
            <a:off x="12136401" y="1898298"/>
            <a:ext cx="111197" cy="111197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prediction_392"/>
          <p:cNvSpPr/>
          <p:nvPr/>
        </p:nvSpPr>
        <p:spPr>
          <a:xfrm>
            <a:off x="12676502" y="2033323"/>
            <a:ext cx="111197" cy="111197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prediction_393"/>
          <p:cNvSpPr/>
          <p:nvPr/>
        </p:nvSpPr>
        <p:spPr>
          <a:xfrm>
            <a:off x="12906840" y="2033323"/>
            <a:ext cx="111197" cy="111197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prediction_394"/>
          <p:cNvSpPr/>
          <p:nvPr/>
        </p:nvSpPr>
        <p:spPr>
          <a:xfrm>
            <a:off x="12565305" y="1596476"/>
            <a:ext cx="444789" cy="444789"/>
          </a:xfrm>
          <a:prstGeom prst="ellipse">
            <a:avLst/>
          </a:prstGeom>
          <a:solidFill>
            <a:srgbClr val="DAE1F3"/>
          </a:solidFill>
          <a:ln w="7942">
            <a:solidFill>
              <a:srgbClr val="C7CED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prediction_395"/>
          <p:cNvSpPr/>
          <p:nvPr/>
        </p:nvSpPr>
        <p:spPr>
          <a:xfrm>
            <a:off x="12692388" y="1723559"/>
            <a:ext cx="190624" cy="190624"/>
          </a:xfrm>
          <a:prstGeom prst="star5">
            <a:avLst/>
          </a:prstGeom>
          <a:solidFill>
            <a:srgbClr val="F4B083"/>
          </a:solidFill>
          <a:ln w="11914">
            <a:solidFill>
              <a:srgbClr val="C95B0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prediction_396"/>
          <p:cNvSpPr/>
          <p:nvPr/>
        </p:nvSpPr>
        <p:spPr>
          <a:xfrm>
            <a:off x="13351629" y="1096088"/>
            <a:ext cx="1342311" cy="1246999"/>
          </a:xfrm>
          <a:prstGeom prst="rect">
            <a:avLst/>
          </a:prstGeom>
          <a:solidFill>
            <a:srgbClr val="FFFFFF"/>
          </a:solidFill>
          <a:ln w="27799">
            <a:solidFill>
              <a:srgbClr val="8174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prediction_397"/>
          <p:cNvSpPr/>
          <p:nvPr/>
        </p:nvSpPr>
        <p:spPr>
          <a:xfrm>
            <a:off x="13351629" y="1096088"/>
            <a:ext cx="1342311" cy="293878"/>
          </a:xfrm>
          <a:prstGeom prst="rect">
            <a:avLst/>
          </a:prstGeom>
          <a:solidFill>
            <a:srgbClr val="B4ABBE"/>
          </a:solidFill>
          <a:ln w="23828">
            <a:solidFill>
              <a:srgbClr val="8174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prediction_398"/>
          <p:cNvSpPr txBox="1"/>
          <p:nvPr/>
        </p:nvSpPr>
        <p:spPr>
          <a:xfrm>
            <a:off x="13375457" y="1088145"/>
            <a:ext cx="1294655" cy="30182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000000"/>
                </a:solidFill>
                <a:latin typeface="Liberation Serif"/>
              </a:defRPr>
            </a:pPr>
            <a:r>
              <a:t>hφ Matched</a:t>
            </a:r>
          </a:p>
        </p:txBody>
      </p:sp>
      <p:sp>
        <p:nvSpPr>
          <p:cNvPr id="400" name="prediction_399"/>
          <p:cNvSpPr/>
          <p:nvPr/>
        </p:nvSpPr>
        <p:spPr>
          <a:xfrm>
            <a:off x="13494598" y="1461451"/>
            <a:ext cx="111197" cy="111197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prediction_400"/>
          <p:cNvSpPr/>
          <p:nvPr/>
        </p:nvSpPr>
        <p:spPr>
          <a:xfrm>
            <a:off x="13931444" y="1540878"/>
            <a:ext cx="111197" cy="111197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prediction_401"/>
          <p:cNvSpPr/>
          <p:nvPr/>
        </p:nvSpPr>
        <p:spPr>
          <a:xfrm>
            <a:off x="14114126" y="1350254"/>
            <a:ext cx="111197" cy="111197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prediction_402"/>
          <p:cNvSpPr/>
          <p:nvPr/>
        </p:nvSpPr>
        <p:spPr>
          <a:xfrm>
            <a:off x="14320635" y="1612362"/>
            <a:ext cx="111197" cy="111197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prediction_403"/>
          <p:cNvSpPr/>
          <p:nvPr/>
        </p:nvSpPr>
        <p:spPr>
          <a:xfrm>
            <a:off x="13677279" y="1898298"/>
            <a:ext cx="111197" cy="111197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prediction_404"/>
          <p:cNvSpPr/>
          <p:nvPr/>
        </p:nvSpPr>
        <p:spPr>
          <a:xfrm>
            <a:off x="13923502" y="2001553"/>
            <a:ext cx="111197" cy="111197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prediction_405"/>
          <p:cNvSpPr/>
          <p:nvPr/>
        </p:nvSpPr>
        <p:spPr>
          <a:xfrm>
            <a:off x="14352406" y="1906241"/>
            <a:ext cx="111197" cy="111197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prediction_406"/>
          <p:cNvSpPr/>
          <p:nvPr/>
        </p:nvSpPr>
        <p:spPr>
          <a:xfrm>
            <a:off x="14463603" y="1382024"/>
            <a:ext cx="111197" cy="111197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prediction_407"/>
          <p:cNvSpPr/>
          <p:nvPr/>
        </p:nvSpPr>
        <p:spPr>
          <a:xfrm>
            <a:off x="13891731" y="1540878"/>
            <a:ext cx="444789" cy="444789"/>
          </a:xfrm>
          <a:prstGeom prst="ellipse">
            <a:avLst/>
          </a:prstGeom>
          <a:solidFill>
            <a:srgbClr val="DAE1F3"/>
          </a:solidFill>
          <a:ln w="7942">
            <a:solidFill>
              <a:srgbClr val="C7CED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prediction_408"/>
          <p:cNvSpPr/>
          <p:nvPr/>
        </p:nvSpPr>
        <p:spPr>
          <a:xfrm>
            <a:off x="14018814" y="1667960"/>
            <a:ext cx="190624" cy="190624"/>
          </a:xfrm>
          <a:prstGeom prst="star5">
            <a:avLst/>
          </a:prstGeom>
          <a:solidFill>
            <a:srgbClr val="F4B083"/>
          </a:solidFill>
          <a:ln w="11914">
            <a:solidFill>
              <a:srgbClr val="C95B0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prediction_409"/>
          <p:cNvSpPr txBox="1"/>
          <p:nvPr/>
        </p:nvSpPr>
        <p:spPr>
          <a:xfrm>
            <a:off x="11858407" y="2358973"/>
            <a:ext cx="1342311" cy="254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1">
                <a:solidFill>
                  <a:srgbClr val="000000"/>
                </a:solidFill>
                <a:latin typeface="Liberation Serif"/>
              </a:defRPr>
            </a:pPr>
            <a:r>
              <a:t>OR</a:t>
            </a:r>
          </a:p>
        </p:txBody>
      </p:sp>
      <p:sp>
        <p:nvSpPr>
          <p:cNvPr id="411" name="prediction_410"/>
          <p:cNvSpPr txBox="1"/>
          <p:nvPr/>
        </p:nvSpPr>
        <p:spPr>
          <a:xfrm>
            <a:off x="13351629" y="2358973"/>
            <a:ext cx="1342311" cy="254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1">
                <a:solidFill>
                  <a:srgbClr val="000000"/>
                </a:solidFill>
                <a:latin typeface="Liberation Serif"/>
              </a:defRPr>
            </a:pPr>
            <a:r>
              <a:t>AND</a:t>
            </a:r>
          </a:p>
        </p:txBody>
      </p:sp>
      <p:sp>
        <p:nvSpPr>
          <p:cNvPr id="412" name="prediction_411"/>
          <p:cNvSpPr/>
          <p:nvPr/>
        </p:nvSpPr>
        <p:spPr>
          <a:xfrm>
            <a:off x="11858407" y="2660794"/>
            <a:ext cx="1342311" cy="1223171"/>
          </a:xfrm>
          <a:prstGeom prst="rect">
            <a:avLst/>
          </a:prstGeom>
          <a:solidFill>
            <a:srgbClr val="FFFFFF"/>
          </a:solidFill>
          <a:ln w="27799">
            <a:solidFill>
              <a:srgbClr val="8174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prediction_412"/>
          <p:cNvSpPr/>
          <p:nvPr/>
        </p:nvSpPr>
        <p:spPr>
          <a:xfrm>
            <a:off x="11858407" y="2660794"/>
            <a:ext cx="1342311" cy="246222"/>
          </a:xfrm>
          <a:prstGeom prst="rect">
            <a:avLst/>
          </a:prstGeom>
          <a:solidFill>
            <a:srgbClr val="B4ABBE"/>
          </a:solidFill>
          <a:ln w="23828">
            <a:solidFill>
              <a:srgbClr val="8174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prediction_413"/>
          <p:cNvSpPr txBox="1"/>
          <p:nvPr/>
        </p:nvSpPr>
        <p:spPr>
          <a:xfrm>
            <a:off x="11882235" y="2660794"/>
            <a:ext cx="1294655" cy="2462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88" b="1" i="0">
                <a:solidFill>
                  <a:srgbClr val="000000"/>
                </a:solidFill>
                <a:latin typeface="Liberation Sans"/>
              </a:defRPr>
            </a:pPr>
            <a:r>
              <a:t>Length Uncover</a:t>
            </a:r>
          </a:p>
        </p:txBody>
      </p:sp>
      <p:sp>
        <p:nvSpPr>
          <p:cNvPr id="415" name="prediction_414"/>
          <p:cNvSpPr/>
          <p:nvPr/>
        </p:nvSpPr>
        <p:spPr>
          <a:xfrm>
            <a:off x="11985490" y="3042042"/>
            <a:ext cx="635413" cy="103254"/>
          </a:xfrm>
          <a:prstGeom prst="roundRect">
            <a:avLst/>
          </a:prstGeom>
          <a:solidFill>
            <a:srgbClr val="BCAD90"/>
          </a:solidFill>
          <a:ln w="7942">
            <a:solidFill>
              <a:srgbClr val="6E5D3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prediction_415"/>
          <p:cNvSpPr/>
          <p:nvPr/>
        </p:nvSpPr>
        <p:spPr>
          <a:xfrm>
            <a:off x="11985490" y="3224724"/>
            <a:ext cx="460674" cy="103254"/>
          </a:xfrm>
          <a:prstGeom prst="roundRect">
            <a:avLst/>
          </a:prstGeom>
          <a:solidFill>
            <a:srgbClr val="BCAD90"/>
          </a:solidFill>
          <a:ln w="7942">
            <a:solidFill>
              <a:srgbClr val="6E5D3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prediction_416"/>
          <p:cNvSpPr/>
          <p:nvPr/>
        </p:nvSpPr>
        <p:spPr>
          <a:xfrm>
            <a:off x="11985490" y="3407405"/>
            <a:ext cx="786324" cy="103254"/>
          </a:xfrm>
          <a:prstGeom prst="roundRect">
            <a:avLst/>
          </a:prstGeom>
          <a:solidFill>
            <a:srgbClr val="BCAD90"/>
          </a:solidFill>
          <a:ln w="7942">
            <a:solidFill>
              <a:srgbClr val="6E5D3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prediction_417"/>
          <p:cNvSpPr/>
          <p:nvPr/>
        </p:nvSpPr>
        <p:spPr>
          <a:xfrm>
            <a:off x="11985490" y="3598029"/>
            <a:ext cx="1000776" cy="119140"/>
          </a:xfrm>
          <a:prstGeom prst="roundRect">
            <a:avLst/>
          </a:prstGeom>
          <a:solidFill>
            <a:srgbClr val="F4B083"/>
          </a:solidFill>
          <a:ln w="9531">
            <a:solidFill>
              <a:srgbClr val="C95B0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prediction_418"/>
          <p:cNvSpPr/>
          <p:nvPr/>
        </p:nvSpPr>
        <p:spPr>
          <a:xfrm>
            <a:off x="13351629" y="2660794"/>
            <a:ext cx="1342311" cy="1223171"/>
          </a:xfrm>
          <a:prstGeom prst="rect">
            <a:avLst/>
          </a:prstGeom>
          <a:solidFill>
            <a:srgbClr val="FFFFFF"/>
          </a:solidFill>
          <a:ln w="27799">
            <a:solidFill>
              <a:srgbClr val="8174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prediction_419"/>
          <p:cNvSpPr/>
          <p:nvPr/>
        </p:nvSpPr>
        <p:spPr>
          <a:xfrm>
            <a:off x="13351629" y="2660794"/>
            <a:ext cx="1342311" cy="246222"/>
          </a:xfrm>
          <a:prstGeom prst="rect">
            <a:avLst/>
          </a:prstGeom>
          <a:solidFill>
            <a:srgbClr val="B4ABBE"/>
          </a:solidFill>
          <a:ln w="23828">
            <a:solidFill>
              <a:srgbClr val="8174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prediction_420"/>
          <p:cNvSpPr txBox="1"/>
          <p:nvPr/>
        </p:nvSpPr>
        <p:spPr>
          <a:xfrm>
            <a:off x="13375457" y="2660794"/>
            <a:ext cx="1294655" cy="2462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88" b="1" i="0">
                <a:solidFill>
                  <a:srgbClr val="000000"/>
                </a:solidFill>
                <a:latin typeface="Liberation Sans"/>
              </a:defRPr>
            </a:pPr>
            <a:r>
              <a:t>Length Covered</a:t>
            </a:r>
          </a:p>
        </p:txBody>
      </p:sp>
      <p:sp>
        <p:nvSpPr>
          <p:cNvPr id="422" name="prediction_421"/>
          <p:cNvSpPr/>
          <p:nvPr/>
        </p:nvSpPr>
        <p:spPr>
          <a:xfrm>
            <a:off x="13478712" y="3042042"/>
            <a:ext cx="635413" cy="103254"/>
          </a:xfrm>
          <a:prstGeom prst="roundRect">
            <a:avLst/>
          </a:prstGeom>
          <a:solidFill>
            <a:srgbClr val="BCAD90"/>
          </a:solidFill>
          <a:ln w="7942">
            <a:solidFill>
              <a:srgbClr val="6E5D3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prediction_422"/>
          <p:cNvSpPr/>
          <p:nvPr/>
        </p:nvSpPr>
        <p:spPr>
          <a:xfrm>
            <a:off x="13478712" y="3224724"/>
            <a:ext cx="460674" cy="103254"/>
          </a:xfrm>
          <a:prstGeom prst="roundRect">
            <a:avLst/>
          </a:prstGeom>
          <a:solidFill>
            <a:srgbClr val="BCAD90"/>
          </a:solidFill>
          <a:ln w="7942">
            <a:solidFill>
              <a:srgbClr val="6E5D3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prediction_423"/>
          <p:cNvSpPr/>
          <p:nvPr/>
        </p:nvSpPr>
        <p:spPr>
          <a:xfrm>
            <a:off x="13478712" y="3407405"/>
            <a:ext cx="786324" cy="103254"/>
          </a:xfrm>
          <a:prstGeom prst="roundRect">
            <a:avLst/>
          </a:prstGeom>
          <a:solidFill>
            <a:srgbClr val="BCAD90"/>
          </a:solidFill>
          <a:ln w="7942">
            <a:solidFill>
              <a:srgbClr val="6E5D3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prediction_424"/>
          <p:cNvSpPr/>
          <p:nvPr/>
        </p:nvSpPr>
        <p:spPr>
          <a:xfrm>
            <a:off x="13478712" y="3598029"/>
            <a:ext cx="405076" cy="119140"/>
          </a:xfrm>
          <a:prstGeom prst="roundRect">
            <a:avLst/>
          </a:prstGeom>
          <a:solidFill>
            <a:srgbClr val="F4B083"/>
          </a:solidFill>
          <a:ln w="9531">
            <a:solidFill>
              <a:srgbClr val="C95B0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prediction_425"/>
          <p:cNvSpPr/>
          <p:nvPr/>
        </p:nvSpPr>
        <p:spPr>
          <a:xfrm>
            <a:off x="12390566" y="3931622"/>
            <a:ext cx="270050" cy="270050"/>
          </a:xfrm>
          <a:prstGeom prst="ellipse">
            <a:avLst/>
          </a:prstGeom>
          <a:solidFill>
            <a:srgbClr val="C95B0B"/>
          </a:solidFill>
          <a:ln w="9531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7" name="prediction_426"/>
          <p:cNvCxnSpPr/>
          <p:nvPr/>
        </p:nvCxnSpPr>
        <p:spPr>
          <a:xfrm>
            <a:off x="12454108" y="4066647"/>
            <a:ext cx="142968" cy="0"/>
          </a:xfrm>
          <a:prstGeom prst="line">
            <a:avLst/>
          </a:prstGeom>
          <a:ln w="25416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prediction_427"/>
          <p:cNvCxnSpPr/>
          <p:nvPr/>
        </p:nvCxnSpPr>
        <p:spPr>
          <a:xfrm>
            <a:off x="12525592" y="3995163"/>
            <a:ext cx="0" cy="142968"/>
          </a:xfrm>
          <a:prstGeom prst="line">
            <a:avLst/>
          </a:prstGeom>
          <a:ln w="25416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9" name="prediction_428"/>
          <p:cNvSpPr/>
          <p:nvPr/>
        </p:nvSpPr>
        <p:spPr>
          <a:xfrm>
            <a:off x="13899674" y="3931622"/>
            <a:ext cx="270050" cy="270050"/>
          </a:xfrm>
          <a:prstGeom prst="ellipse">
            <a:avLst/>
          </a:prstGeom>
          <a:solidFill>
            <a:srgbClr val="518135"/>
          </a:solidFill>
          <a:ln w="9531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0" name="prediction_429"/>
          <p:cNvCxnSpPr/>
          <p:nvPr/>
        </p:nvCxnSpPr>
        <p:spPr>
          <a:xfrm>
            <a:off x="13963215" y="4066647"/>
            <a:ext cx="55599" cy="55599"/>
          </a:xfrm>
          <a:prstGeom prst="line">
            <a:avLst/>
          </a:prstGeom>
          <a:ln w="25416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prediction_430"/>
          <p:cNvCxnSpPr/>
          <p:nvPr/>
        </p:nvCxnSpPr>
        <p:spPr>
          <a:xfrm flipV="1">
            <a:off x="14018814" y="4003106"/>
            <a:ext cx="95312" cy="119140"/>
          </a:xfrm>
          <a:prstGeom prst="line">
            <a:avLst/>
          </a:prstGeom>
          <a:ln w="25416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2" name="example_legend_431"/>
          <p:cNvSpPr/>
          <p:nvPr/>
        </p:nvSpPr>
        <p:spPr>
          <a:xfrm>
            <a:off x="8538371" y="4590863"/>
            <a:ext cx="6330308" cy="2724336"/>
          </a:xfrm>
          <a:prstGeom prst="rect">
            <a:avLst/>
          </a:prstGeom>
          <a:solidFill>
            <a:srgbClr val="FFFFFF"/>
          </a:solidFill>
          <a:ln w="23828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example_432"/>
          <p:cNvSpPr/>
          <p:nvPr/>
        </p:nvSpPr>
        <p:spPr>
          <a:xfrm>
            <a:off x="8705167" y="4606749"/>
            <a:ext cx="3812482" cy="1405852"/>
          </a:xfrm>
          <a:prstGeom prst="rect">
            <a:avLst/>
          </a:prstGeom>
          <a:solidFill>
            <a:srgbClr val="DEEAF6"/>
          </a:solidFill>
          <a:ln w="7942">
            <a:solidFill>
              <a:srgbClr val="CDD4D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example_433"/>
          <p:cNvSpPr txBox="1"/>
          <p:nvPr/>
        </p:nvSpPr>
        <p:spPr>
          <a:xfrm>
            <a:off x="8752823" y="4630577"/>
            <a:ext cx="3653628" cy="19856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0" i="1">
                <a:solidFill>
                  <a:srgbClr val="1F3763"/>
                </a:solidFill>
                <a:latin typeface="Liberation Sans"/>
              </a:defRPr>
            </a:pPr>
            <a:r>
              <a:t>You are a math expert. You will be given a math</a:t>
            </a:r>
          </a:p>
        </p:txBody>
      </p:sp>
      <p:sp>
        <p:nvSpPr>
          <p:cNvPr id="435" name="example_434"/>
          <p:cNvSpPr txBox="1"/>
          <p:nvPr/>
        </p:nvSpPr>
        <p:spPr>
          <a:xfrm>
            <a:off x="8752823" y="4829143"/>
            <a:ext cx="1442389" cy="19856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0" i="1">
                <a:solidFill>
                  <a:srgbClr val="1F3763"/>
                </a:solidFill>
                <a:latin typeface="Liberation Sans"/>
              </a:defRPr>
            </a:pPr>
            <a:r>
              <a:t>problem ... Q:</a:t>
            </a:r>
          </a:p>
        </p:txBody>
      </p:sp>
      <p:sp>
        <p:nvSpPr>
          <p:cNvPr id="436" name="example_435"/>
          <p:cNvSpPr txBox="1"/>
          <p:nvPr/>
        </p:nvSpPr>
        <p:spPr>
          <a:xfrm>
            <a:off x="8752823" y="5027710"/>
            <a:ext cx="3018214" cy="19856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0" i="1">
                <a:solidFill>
                  <a:srgbClr val="1F3763"/>
                </a:solidFill>
                <a:latin typeface="Liberation Sans"/>
              </a:defRPr>
            </a:pPr>
            <a:r>
              <a:t>Answers from other agents are:</a:t>
            </a:r>
          </a:p>
        </p:txBody>
      </p:sp>
      <p:sp>
        <p:nvSpPr>
          <p:cNvPr id="437" name="example_436"/>
          <p:cNvSpPr txBox="1"/>
          <p:nvPr/>
        </p:nvSpPr>
        <p:spPr>
          <a:xfrm>
            <a:off x="8752823" y="5226277"/>
            <a:ext cx="3412171" cy="19856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0" i="1">
                <a:solidFill>
                  <a:srgbClr val="1F3763"/>
                </a:solidFill>
                <a:latin typeface="Liberation Sans"/>
              </a:defRPr>
            </a:pPr>
            <a:r>
              <a:t>Agent 2 as a mathematical analyst!</a:t>
            </a:r>
          </a:p>
        </p:txBody>
      </p:sp>
      <p:sp>
        <p:nvSpPr>
          <p:cNvPr id="438" name="example_437"/>
          <p:cNvSpPr txBox="1"/>
          <p:nvPr/>
        </p:nvSpPr>
        <p:spPr>
          <a:xfrm>
            <a:off x="8752823" y="5424844"/>
            <a:ext cx="2328791" cy="19856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0" i="1">
                <a:solidFill>
                  <a:srgbClr val="1F3763"/>
                </a:solidFill>
                <a:latin typeface="Liberation Sans"/>
              </a:defRPr>
            </a:pPr>
            <a:r>
              <a:t>The execution result is</a:t>
            </a:r>
          </a:p>
        </p:txBody>
      </p:sp>
      <p:sp>
        <p:nvSpPr>
          <p:cNvPr id="439" name="example_438"/>
          <p:cNvSpPr/>
          <p:nvPr/>
        </p:nvSpPr>
        <p:spPr>
          <a:xfrm>
            <a:off x="9753600" y="4805315"/>
            <a:ext cx="532158" cy="214452"/>
          </a:xfrm>
          <a:prstGeom prst="roundRect">
            <a:avLst/>
          </a:prstGeom>
          <a:solidFill>
            <a:srgbClr val="F4B083"/>
          </a:solidFill>
          <a:ln w="10325">
            <a:solidFill>
              <a:srgbClr val="C95B0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0" name="example_439"/>
          <p:cNvCxnSpPr/>
          <p:nvPr/>
        </p:nvCxnSpPr>
        <p:spPr>
          <a:xfrm flipV="1">
            <a:off x="9753600" y="4900628"/>
            <a:ext cx="95312" cy="23828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example_440"/>
          <p:cNvCxnSpPr/>
          <p:nvPr/>
        </p:nvCxnSpPr>
        <p:spPr>
          <a:xfrm>
            <a:off x="9753600" y="4829143"/>
            <a:ext cx="190624" cy="166797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example_441"/>
          <p:cNvCxnSpPr/>
          <p:nvPr/>
        </p:nvCxnSpPr>
        <p:spPr>
          <a:xfrm>
            <a:off x="9825084" y="4805315"/>
            <a:ext cx="214452" cy="214453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example_442"/>
          <p:cNvCxnSpPr/>
          <p:nvPr/>
        </p:nvCxnSpPr>
        <p:spPr>
          <a:xfrm>
            <a:off x="9920396" y="4805315"/>
            <a:ext cx="214452" cy="214453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example_443"/>
          <p:cNvCxnSpPr/>
          <p:nvPr/>
        </p:nvCxnSpPr>
        <p:spPr>
          <a:xfrm>
            <a:off x="10015708" y="4805315"/>
            <a:ext cx="214452" cy="214453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example_444"/>
          <p:cNvCxnSpPr/>
          <p:nvPr/>
        </p:nvCxnSpPr>
        <p:spPr>
          <a:xfrm>
            <a:off x="10111020" y="4805315"/>
            <a:ext cx="174738" cy="214453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example_445"/>
          <p:cNvCxnSpPr/>
          <p:nvPr/>
        </p:nvCxnSpPr>
        <p:spPr>
          <a:xfrm>
            <a:off x="10206332" y="4805315"/>
            <a:ext cx="79426" cy="214453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7" name="example_446"/>
          <p:cNvSpPr txBox="1"/>
          <p:nvPr/>
        </p:nvSpPr>
        <p:spPr>
          <a:xfrm>
            <a:off x="9761542" y="4797373"/>
            <a:ext cx="516273" cy="2303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φ(1,1)</a:t>
            </a:r>
          </a:p>
        </p:txBody>
      </p:sp>
      <p:sp>
        <p:nvSpPr>
          <p:cNvPr id="448" name="example_447"/>
          <p:cNvSpPr/>
          <p:nvPr/>
        </p:nvSpPr>
        <p:spPr>
          <a:xfrm>
            <a:off x="10659064" y="4606749"/>
            <a:ext cx="587757" cy="230337"/>
          </a:xfrm>
          <a:prstGeom prst="roundRect">
            <a:avLst/>
          </a:prstGeom>
          <a:solidFill>
            <a:srgbClr val="90AADB"/>
          </a:solidFill>
          <a:ln w="10325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example_448"/>
          <p:cNvSpPr txBox="1"/>
          <p:nvPr/>
        </p:nvSpPr>
        <p:spPr>
          <a:xfrm>
            <a:off x="10667007" y="4598806"/>
            <a:ext cx="571872" cy="2462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p(1,0)</a:t>
            </a:r>
          </a:p>
        </p:txBody>
      </p:sp>
      <p:sp>
        <p:nvSpPr>
          <p:cNvPr id="450" name="example_449"/>
          <p:cNvSpPr/>
          <p:nvPr/>
        </p:nvSpPr>
        <p:spPr>
          <a:xfrm>
            <a:off x="11262707" y="4964169"/>
            <a:ext cx="587757" cy="230337"/>
          </a:xfrm>
          <a:prstGeom prst="roundRect">
            <a:avLst/>
          </a:prstGeom>
          <a:solidFill>
            <a:srgbClr val="90AADB"/>
          </a:solidFill>
          <a:ln w="10325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example_450"/>
          <p:cNvSpPr txBox="1"/>
          <p:nvPr/>
        </p:nvSpPr>
        <p:spPr>
          <a:xfrm>
            <a:off x="11270650" y="4956226"/>
            <a:ext cx="571872" cy="2462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p(1,1)</a:t>
            </a:r>
          </a:p>
        </p:txBody>
      </p:sp>
      <p:sp>
        <p:nvSpPr>
          <p:cNvPr id="452" name="example_451"/>
          <p:cNvSpPr/>
          <p:nvPr/>
        </p:nvSpPr>
        <p:spPr>
          <a:xfrm>
            <a:off x="10865573" y="5186564"/>
            <a:ext cx="532158" cy="214452"/>
          </a:xfrm>
          <a:prstGeom prst="roundRect">
            <a:avLst/>
          </a:prstGeom>
          <a:solidFill>
            <a:srgbClr val="A7D08C"/>
          </a:solidFill>
          <a:ln w="10325">
            <a:solidFill>
              <a:srgbClr val="51813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3" name="example_452"/>
          <p:cNvCxnSpPr/>
          <p:nvPr/>
        </p:nvCxnSpPr>
        <p:spPr>
          <a:xfrm flipV="1">
            <a:off x="10865573" y="5281876"/>
            <a:ext cx="95312" cy="23828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example_453"/>
          <p:cNvCxnSpPr/>
          <p:nvPr/>
        </p:nvCxnSpPr>
        <p:spPr>
          <a:xfrm>
            <a:off x="10865573" y="5210392"/>
            <a:ext cx="190625" cy="166796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example_454"/>
          <p:cNvCxnSpPr/>
          <p:nvPr/>
        </p:nvCxnSpPr>
        <p:spPr>
          <a:xfrm>
            <a:off x="10937057" y="5186564"/>
            <a:ext cx="214453" cy="214452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example_455"/>
          <p:cNvCxnSpPr/>
          <p:nvPr/>
        </p:nvCxnSpPr>
        <p:spPr>
          <a:xfrm>
            <a:off x="11032370" y="5186564"/>
            <a:ext cx="214452" cy="214452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example_456"/>
          <p:cNvCxnSpPr/>
          <p:nvPr/>
        </p:nvCxnSpPr>
        <p:spPr>
          <a:xfrm>
            <a:off x="11127682" y="5186564"/>
            <a:ext cx="214452" cy="214452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example_457"/>
          <p:cNvCxnSpPr/>
          <p:nvPr/>
        </p:nvCxnSpPr>
        <p:spPr>
          <a:xfrm>
            <a:off x="11222994" y="5186564"/>
            <a:ext cx="174738" cy="214452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example_458"/>
          <p:cNvCxnSpPr/>
          <p:nvPr/>
        </p:nvCxnSpPr>
        <p:spPr>
          <a:xfrm>
            <a:off x="11318306" y="5186564"/>
            <a:ext cx="79426" cy="214452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0" name="example_459"/>
          <p:cNvSpPr txBox="1"/>
          <p:nvPr/>
        </p:nvSpPr>
        <p:spPr>
          <a:xfrm>
            <a:off x="10873516" y="5178621"/>
            <a:ext cx="516273" cy="2303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φ(1,2)</a:t>
            </a:r>
          </a:p>
        </p:txBody>
      </p:sp>
      <p:sp>
        <p:nvSpPr>
          <p:cNvPr id="461" name="example_460"/>
          <p:cNvSpPr/>
          <p:nvPr/>
        </p:nvSpPr>
        <p:spPr>
          <a:xfrm>
            <a:off x="9848912" y="5408958"/>
            <a:ext cx="532158" cy="214452"/>
          </a:xfrm>
          <a:prstGeom prst="roundRect">
            <a:avLst/>
          </a:prstGeom>
          <a:solidFill>
            <a:srgbClr val="F4B083"/>
          </a:solidFill>
          <a:ln w="10325">
            <a:solidFill>
              <a:srgbClr val="C95B0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2" name="example_461"/>
          <p:cNvCxnSpPr/>
          <p:nvPr/>
        </p:nvCxnSpPr>
        <p:spPr>
          <a:xfrm flipV="1">
            <a:off x="9848912" y="5504271"/>
            <a:ext cx="95312" cy="23828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example_462"/>
          <p:cNvCxnSpPr/>
          <p:nvPr/>
        </p:nvCxnSpPr>
        <p:spPr>
          <a:xfrm>
            <a:off x="9848912" y="5432786"/>
            <a:ext cx="190624" cy="166797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example_463"/>
          <p:cNvCxnSpPr/>
          <p:nvPr/>
        </p:nvCxnSpPr>
        <p:spPr>
          <a:xfrm>
            <a:off x="9920396" y="5408958"/>
            <a:ext cx="214452" cy="214453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example_464"/>
          <p:cNvCxnSpPr/>
          <p:nvPr/>
        </p:nvCxnSpPr>
        <p:spPr>
          <a:xfrm>
            <a:off x="10015708" y="5408958"/>
            <a:ext cx="214452" cy="214453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example_465"/>
          <p:cNvCxnSpPr/>
          <p:nvPr/>
        </p:nvCxnSpPr>
        <p:spPr>
          <a:xfrm>
            <a:off x="10111020" y="5408958"/>
            <a:ext cx="214452" cy="214453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example_466"/>
          <p:cNvCxnSpPr/>
          <p:nvPr/>
        </p:nvCxnSpPr>
        <p:spPr>
          <a:xfrm>
            <a:off x="10206332" y="5408958"/>
            <a:ext cx="174739" cy="214453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example_467"/>
          <p:cNvCxnSpPr/>
          <p:nvPr/>
        </p:nvCxnSpPr>
        <p:spPr>
          <a:xfrm>
            <a:off x="10301644" y="5408958"/>
            <a:ext cx="79427" cy="214453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9" name="example_468"/>
          <p:cNvSpPr txBox="1"/>
          <p:nvPr/>
        </p:nvSpPr>
        <p:spPr>
          <a:xfrm>
            <a:off x="9856854" y="5401016"/>
            <a:ext cx="516273" cy="2303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φ(1,3)</a:t>
            </a:r>
          </a:p>
        </p:txBody>
      </p:sp>
      <p:sp>
        <p:nvSpPr>
          <p:cNvPr id="470" name="example_469"/>
          <p:cNvSpPr/>
          <p:nvPr/>
        </p:nvSpPr>
        <p:spPr>
          <a:xfrm>
            <a:off x="9189670" y="5671067"/>
            <a:ext cx="667184" cy="230337"/>
          </a:xfrm>
          <a:prstGeom prst="roundRect">
            <a:avLst/>
          </a:prstGeom>
          <a:solidFill>
            <a:srgbClr val="90AADB"/>
          </a:solidFill>
          <a:ln w="10325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example_470"/>
          <p:cNvSpPr txBox="1"/>
          <p:nvPr/>
        </p:nvSpPr>
        <p:spPr>
          <a:xfrm>
            <a:off x="9197613" y="5663124"/>
            <a:ext cx="651299" cy="2462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p(1,2)</a:t>
            </a:r>
          </a:p>
        </p:txBody>
      </p:sp>
      <p:sp>
        <p:nvSpPr>
          <p:cNvPr id="472" name="example_471"/>
          <p:cNvSpPr/>
          <p:nvPr/>
        </p:nvSpPr>
        <p:spPr>
          <a:xfrm>
            <a:off x="10603465" y="5671067"/>
            <a:ext cx="667184" cy="230337"/>
          </a:xfrm>
          <a:prstGeom prst="roundRect">
            <a:avLst/>
          </a:prstGeom>
          <a:solidFill>
            <a:srgbClr val="90AADB"/>
          </a:solidFill>
          <a:ln w="10325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example_472"/>
          <p:cNvSpPr txBox="1"/>
          <p:nvPr/>
        </p:nvSpPr>
        <p:spPr>
          <a:xfrm>
            <a:off x="10611408" y="5663124"/>
            <a:ext cx="651299" cy="2462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p(1,3)</a:t>
            </a:r>
          </a:p>
        </p:txBody>
      </p:sp>
      <p:cxnSp>
        <p:nvCxnSpPr>
          <p:cNvPr id="474" name="example_473"/>
          <p:cNvCxnSpPr/>
          <p:nvPr/>
        </p:nvCxnSpPr>
        <p:spPr>
          <a:xfrm flipV="1">
            <a:off x="10285758" y="4725889"/>
            <a:ext cx="373306" cy="190624"/>
          </a:xfrm>
          <a:prstGeom prst="line">
            <a:avLst/>
          </a:prstGeom>
          <a:ln w="23828">
            <a:solidFill>
              <a:srgbClr val="1F376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5" name="example_474"/>
          <p:cNvSpPr/>
          <p:nvPr/>
        </p:nvSpPr>
        <p:spPr>
          <a:xfrm rot="3776964">
            <a:off x="10584557" y="4719700"/>
            <a:ext cx="74506" cy="70171"/>
          </a:xfrm>
          <a:prstGeom prst="triangle">
            <a:avLst/>
          </a:prstGeom>
          <a:solidFill>
            <a:srgbClr val="1F3763"/>
          </a:solidFill>
          <a:ln w="7942">
            <a:solidFill>
              <a:srgbClr val="1F376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6" name="example_475"/>
          <p:cNvCxnSpPr/>
          <p:nvPr/>
        </p:nvCxnSpPr>
        <p:spPr>
          <a:xfrm>
            <a:off x="11246822" y="4733831"/>
            <a:ext cx="0" cy="230338"/>
          </a:xfrm>
          <a:prstGeom prst="line">
            <a:avLst/>
          </a:prstGeom>
          <a:ln w="23828">
            <a:solidFill>
              <a:srgbClr val="1F376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7" name="example_476"/>
          <p:cNvSpPr/>
          <p:nvPr/>
        </p:nvSpPr>
        <p:spPr>
          <a:xfrm rot="10800000">
            <a:off x="11207426" y="4900628"/>
            <a:ext cx="78791" cy="63541"/>
          </a:xfrm>
          <a:prstGeom prst="triangle">
            <a:avLst/>
          </a:prstGeom>
          <a:solidFill>
            <a:srgbClr val="1F3763"/>
          </a:solidFill>
          <a:ln w="7942">
            <a:solidFill>
              <a:srgbClr val="1F376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8" name="example_477"/>
          <p:cNvCxnSpPr/>
          <p:nvPr/>
        </p:nvCxnSpPr>
        <p:spPr>
          <a:xfrm flipH="1">
            <a:off x="11413618" y="5083309"/>
            <a:ext cx="436847" cy="0"/>
          </a:xfrm>
          <a:prstGeom prst="line">
            <a:avLst/>
          </a:prstGeom>
          <a:ln w="23828">
            <a:solidFill>
              <a:srgbClr val="1F376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9" name="example_478"/>
          <p:cNvSpPr/>
          <p:nvPr/>
        </p:nvSpPr>
        <p:spPr>
          <a:xfrm rot="16200000">
            <a:off x="11413618" y="5043913"/>
            <a:ext cx="63541" cy="78791"/>
          </a:xfrm>
          <a:prstGeom prst="triangle">
            <a:avLst/>
          </a:prstGeom>
          <a:solidFill>
            <a:srgbClr val="1F3763"/>
          </a:solidFill>
          <a:ln w="7942">
            <a:solidFill>
              <a:srgbClr val="1F376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0" name="example_479"/>
          <p:cNvCxnSpPr/>
          <p:nvPr/>
        </p:nvCxnSpPr>
        <p:spPr>
          <a:xfrm flipH="1">
            <a:off x="10381071" y="5297761"/>
            <a:ext cx="484502" cy="198567"/>
          </a:xfrm>
          <a:prstGeom prst="line">
            <a:avLst/>
          </a:prstGeom>
          <a:ln w="23828">
            <a:solidFill>
              <a:srgbClr val="1F376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1" name="example_480"/>
          <p:cNvSpPr/>
          <p:nvPr/>
        </p:nvSpPr>
        <p:spPr>
          <a:xfrm rot="14862865">
            <a:off x="10381071" y="5435778"/>
            <a:ext cx="73734" cy="72905"/>
          </a:xfrm>
          <a:prstGeom prst="triangle">
            <a:avLst/>
          </a:prstGeom>
          <a:solidFill>
            <a:srgbClr val="1F3763"/>
          </a:solidFill>
          <a:ln w="7942">
            <a:solidFill>
              <a:srgbClr val="1F376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2" name="example_481"/>
          <p:cNvCxnSpPr/>
          <p:nvPr/>
        </p:nvCxnSpPr>
        <p:spPr>
          <a:xfrm flipH="1">
            <a:off x="9523262" y="5607525"/>
            <a:ext cx="587758" cy="63542"/>
          </a:xfrm>
          <a:prstGeom prst="line">
            <a:avLst/>
          </a:prstGeom>
          <a:ln w="23828">
            <a:solidFill>
              <a:srgbClr val="1F376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3" name="example_482"/>
          <p:cNvSpPr/>
          <p:nvPr/>
        </p:nvSpPr>
        <p:spPr>
          <a:xfrm rot="15829789">
            <a:off x="9523262" y="5625070"/>
            <a:ext cx="67407" cy="78334"/>
          </a:xfrm>
          <a:prstGeom prst="triangle">
            <a:avLst/>
          </a:prstGeom>
          <a:solidFill>
            <a:srgbClr val="1F3763"/>
          </a:solidFill>
          <a:ln w="7942">
            <a:solidFill>
              <a:srgbClr val="1F376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4" name="example_483"/>
          <p:cNvCxnSpPr/>
          <p:nvPr/>
        </p:nvCxnSpPr>
        <p:spPr>
          <a:xfrm>
            <a:off x="10881459" y="5401016"/>
            <a:ext cx="0" cy="270051"/>
          </a:xfrm>
          <a:prstGeom prst="line">
            <a:avLst/>
          </a:prstGeom>
          <a:ln w="23828">
            <a:solidFill>
              <a:srgbClr val="1F376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5" name="example_484"/>
          <p:cNvSpPr/>
          <p:nvPr/>
        </p:nvSpPr>
        <p:spPr>
          <a:xfrm rot="10800000">
            <a:off x="10842063" y="5607525"/>
            <a:ext cx="78791" cy="63541"/>
          </a:xfrm>
          <a:prstGeom prst="triangle">
            <a:avLst/>
          </a:prstGeom>
          <a:solidFill>
            <a:srgbClr val="1F3763"/>
          </a:solidFill>
          <a:ln w="7942">
            <a:solidFill>
              <a:srgbClr val="1F376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example_485"/>
          <p:cNvSpPr txBox="1"/>
          <p:nvPr/>
        </p:nvSpPr>
        <p:spPr>
          <a:xfrm>
            <a:off x="11405675" y="5647239"/>
            <a:ext cx="1000776" cy="3256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88" b="1" i="0">
                <a:solidFill>
                  <a:srgbClr val="000000"/>
                </a:solidFill>
                <a:latin typeface="Liberation Sans"/>
              </a:defRPr>
            </a:pPr>
            <a:r>
              <a:t>Example</a:t>
            </a:r>
          </a:p>
        </p:txBody>
      </p:sp>
      <p:sp>
        <p:nvSpPr>
          <p:cNvPr id="487" name="example_legend_486"/>
          <p:cNvSpPr/>
          <p:nvPr/>
        </p:nvSpPr>
        <p:spPr>
          <a:xfrm>
            <a:off x="8800479" y="6076143"/>
            <a:ext cx="635413" cy="285936"/>
          </a:xfrm>
          <a:prstGeom prst="roundRect">
            <a:avLst/>
          </a:prstGeom>
          <a:solidFill>
            <a:srgbClr val="F4B083"/>
          </a:solidFill>
          <a:ln w="10325">
            <a:solidFill>
              <a:srgbClr val="C95B0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8" name="example_legend_487"/>
          <p:cNvCxnSpPr/>
          <p:nvPr/>
        </p:nvCxnSpPr>
        <p:spPr>
          <a:xfrm flipV="1">
            <a:off x="8800479" y="6171455"/>
            <a:ext cx="95312" cy="95312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example_legend_488"/>
          <p:cNvCxnSpPr/>
          <p:nvPr/>
        </p:nvCxnSpPr>
        <p:spPr>
          <a:xfrm>
            <a:off x="8800479" y="6171455"/>
            <a:ext cx="190624" cy="95312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example_legend_489"/>
          <p:cNvCxnSpPr/>
          <p:nvPr/>
        </p:nvCxnSpPr>
        <p:spPr>
          <a:xfrm>
            <a:off x="8800479" y="6076143"/>
            <a:ext cx="285936" cy="285936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example_legend_490"/>
          <p:cNvCxnSpPr/>
          <p:nvPr/>
        </p:nvCxnSpPr>
        <p:spPr>
          <a:xfrm>
            <a:off x="8895791" y="6076143"/>
            <a:ext cx="285936" cy="285936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example_legend_491"/>
          <p:cNvCxnSpPr/>
          <p:nvPr/>
        </p:nvCxnSpPr>
        <p:spPr>
          <a:xfrm>
            <a:off x="8991103" y="6076143"/>
            <a:ext cx="285936" cy="285936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example_legend_492"/>
          <p:cNvCxnSpPr/>
          <p:nvPr/>
        </p:nvCxnSpPr>
        <p:spPr>
          <a:xfrm>
            <a:off x="9086415" y="6076143"/>
            <a:ext cx="285936" cy="285936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example_legend_493"/>
          <p:cNvCxnSpPr/>
          <p:nvPr/>
        </p:nvCxnSpPr>
        <p:spPr>
          <a:xfrm>
            <a:off x="9181727" y="6076143"/>
            <a:ext cx="254166" cy="285936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example_legend_494"/>
          <p:cNvCxnSpPr/>
          <p:nvPr/>
        </p:nvCxnSpPr>
        <p:spPr>
          <a:xfrm>
            <a:off x="9277039" y="6076143"/>
            <a:ext cx="158854" cy="285936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example_legend_495"/>
          <p:cNvCxnSpPr/>
          <p:nvPr/>
        </p:nvCxnSpPr>
        <p:spPr>
          <a:xfrm>
            <a:off x="9372351" y="6076143"/>
            <a:ext cx="63542" cy="285936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7" name="example_legend_496"/>
          <p:cNvSpPr txBox="1"/>
          <p:nvPr/>
        </p:nvSpPr>
        <p:spPr>
          <a:xfrm>
            <a:off x="8808422" y="6068200"/>
            <a:ext cx="619528" cy="30182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φ(m,i)</a:t>
            </a:r>
          </a:p>
        </p:txBody>
      </p:sp>
      <p:sp>
        <p:nvSpPr>
          <p:cNvPr id="498" name="example_legend_497"/>
          <p:cNvSpPr txBox="1"/>
          <p:nvPr/>
        </p:nvSpPr>
        <p:spPr>
          <a:xfrm>
            <a:off x="9515319" y="6020544"/>
            <a:ext cx="2938788" cy="4050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000000"/>
                </a:solidFill>
                <a:latin typeface="Liberation Sans"/>
              </a:defRPr>
            </a:pPr>
            <a:r>
              <a:t>Estimated KV of the i-th (external input)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000000"/>
                </a:solidFill>
                <a:latin typeface="Liberation Sans"/>
              </a:defRPr>
            </a:pPr>
            <a:r>
              <a:t>Placeholder of Agent m</a:t>
            </a:r>
          </a:p>
        </p:txBody>
      </p:sp>
      <p:sp>
        <p:nvSpPr>
          <p:cNvPr id="499" name="example_legend_498"/>
          <p:cNvSpPr/>
          <p:nvPr/>
        </p:nvSpPr>
        <p:spPr>
          <a:xfrm>
            <a:off x="8800479" y="6473276"/>
            <a:ext cx="635413" cy="285936"/>
          </a:xfrm>
          <a:prstGeom prst="roundRect">
            <a:avLst/>
          </a:prstGeom>
          <a:solidFill>
            <a:srgbClr val="A7D08C"/>
          </a:solidFill>
          <a:ln w="10325">
            <a:solidFill>
              <a:srgbClr val="51813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0" name="example_legend_499"/>
          <p:cNvCxnSpPr/>
          <p:nvPr/>
        </p:nvCxnSpPr>
        <p:spPr>
          <a:xfrm flipV="1">
            <a:off x="8800479" y="6568588"/>
            <a:ext cx="95312" cy="95312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example_legend_500"/>
          <p:cNvCxnSpPr/>
          <p:nvPr/>
        </p:nvCxnSpPr>
        <p:spPr>
          <a:xfrm>
            <a:off x="8800479" y="6568588"/>
            <a:ext cx="190624" cy="95312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example_legend_501"/>
          <p:cNvCxnSpPr/>
          <p:nvPr/>
        </p:nvCxnSpPr>
        <p:spPr>
          <a:xfrm>
            <a:off x="8800479" y="6473276"/>
            <a:ext cx="285936" cy="285937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example_legend_502"/>
          <p:cNvCxnSpPr/>
          <p:nvPr/>
        </p:nvCxnSpPr>
        <p:spPr>
          <a:xfrm>
            <a:off x="8895791" y="6473276"/>
            <a:ext cx="285936" cy="285937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example_legend_503"/>
          <p:cNvCxnSpPr/>
          <p:nvPr/>
        </p:nvCxnSpPr>
        <p:spPr>
          <a:xfrm>
            <a:off x="8991103" y="6473276"/>
            <a:ext cx="285936" cy="285937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example_legend_504"/>
          <p:cNvCxnSpPr/>
          <p:nvPr/>
        </p:nvCxnSpPr>
        <p:spPr>
          <a:xfrm>
            <a:off x="9086415" y="6473276"/>
            <a:ext cx="285936" cy="285937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example_legend_505"/>
          <p:cNvCxnSpPr/>
          <p:nvPr/>
        </p:nvCxnSpPr>
        <p:spPr>
          <a:xfrm>
            <a:off x="9181727" y="6473276"/>
            <a:ext cx="254166" cy="285937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example_legend_506"/>
          <p:cNvCxnSpPr/>
          <p:nvPr/>
        </p:nvCxnSpPr>
        <p:spPr>
          <a:xfrm>
            <a:off x="9277039" y="6473276"/>
            <a:ext cx="158854" cy="285937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" name="example_legend_507"/>
          <p:cNvCxnSpPr/>
          <p:nvPr/>
        </p:nvCxnSpPr>
        <p:spPr>
          <a:xfrm>
            <a:off x="9372351" y="6473276"/>
            <a:ext cx="63542" cy="285937"/>
          </a:xfrm>
          <a:prstGeom prst="line">
            <a:avLst/>
          </a:prstGeom>
          <a:ln w="6354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9" name="example_legend_508"/>
          <p:cNvSpPr txBox="1"/>
          <p:nvPr/>
        </p:nvSpPr>
        <p:spPr>
          <a:xfrm>
            <a:off x="8808422" y="6465334"/>
            <a:ext cx="619528" cy="30182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φ(m,i)</a:t>
            </a:r>
          </a:p>
        </p:txBody>
      </p:sp>
      <p:sp>
        <p:nvSpPr>
          <p:cNvPr id="510" name="example_legend_509"/>
          <p:cNvSpPr txBox="1"/>
          <p:nvPr/>
        </p:nvSpPr>
        <p:spPr>
          <a:xfrm>
            <a:off x="9515319" y="6417678"/>
            <a:ext cx="2938788" cy="4050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000000"/>
                </a:solidFill>
                <a:latin typeface="Liberation Sans"/>
              </a:defRPr>
            </a:pPr>
            <a:r>
              <a:t>Estimated KV of the i-th (response)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000000"/>
                </a:solidFill>
                <a:latin typeface="Liberation Sans"/>
              </a:defRPr>
            </a:pPr>
            <a:r>
              <a:t>Placeholder of Agent m</a:t>
            </a:r>
          </a:p>
        </p:txBody>
      </p:sp>
      <p:sp>
        <p:nvSpPr>
          <p:cNvPr id="511" name="example_legend_510"/>
          <p:cNvSpPr/>
          <p:nvPr/>
        </p:nvSpPr>
        <p:spPr>
          <a:xfrm>
            <a:off x="8800479" y="6870410"/>
            <a:ext cx="635413" cy="285936"/>
          </a:xfrm>
          <a:prstGeom prst="roundRect">
            <a:avLst/>
          </a:prstGeom>
          <a:solidFill>
            <a:srgbClr val="90AADB"/>
          </a:solidFill>
          <a:ln w="10325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example_legend_511"/>
          <p:cNvSpPr txBox="1"/>
          <p:nvPr/>
        </p:nvSpPr>
        <p:spPr>
          <a:xfrm>
            <a:off x="8808422" y="6862467"/>
            <a:ext cx="619528" cy="30182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8" b="1" i="1">
                <a:solidFill>
                  <a:srgbClr val="000000"/>
                </a:solidFill>
                <a:latin typeface="Liberation Serif"/>
              </a:defRPr>
            </a:pPr>
            <a:r>
              <a:t>p(m,i)</a:t>
            </a:r>
          </a:p>
        </p:txBody>
      </p:sp>
      <p:sp>
        <p:nvSpPr>
          <p:cNvPr id="513" name="example_legend_512"/>
          <p:cNvSpPr txBox="1"/>
          <p:nvPr/>
        </p:nvSpPr>
        <p:spPr>
          <a:xfrm>
            <a:off x="9515319" y="6814811"/>
            <a:ext cx="2938788" cy="43684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000000"/>
                </a:solidFill>
                <a:latin typeface="Liberation Sans"/>
              </a:defRPr>
            </a:pPr>
            <a:r>
              <a:t>Estimated KV of the i-th Prefix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000000"/>
                </a:solidFill>
                <a:latin typeface="Liberation Sans"/>
              </a:defRPr>
            </a:pPr>
            <a:r>
              <a:t>Segment of Agent m</a:t>
            </a:r>
          </a:p>
        </p:txBody>
      </p:sp>
      <p:sp>
        <p:nvSpPr>
          <p:cNvPr id="514" name="legend_513"/>
          <p:cNvSpPr txBox="1"/>
          <p:nvPr/>
        </p:nvSpPr>
        <p:spPr>
          <a:xfrm>
            <a:off x="12978324" y="4598806"/>
            <a:ext cx="1787100" cy="4924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626" b="1" i="0">
                <a:solidFill>
                  <a:srgbClr val="000000"/>
                </a:solidFill>
                <a:latin typeface="Liberation Sans"/>
              </a:defRPr>
            </a:pPr>
            <a:r>
              <a:t>Legend</a:t>
            </a:r>
          </a:p>
        </p:txBody>
      </p:sp>
      <p:sp>
        <p:nvSpPr>
          <p:cNvPr id="515" name="legend_514"/>
          <p:cNvSpPr/>
          <p:nvPr/>
        </p:nvSpPr>
        <p:spPr>
          <a:xfrm>
            <a:off x="12692388" y="5170678"/>
            <a:ext cx="158853" cy="158853"/>
          </a:xfrm>
          <a:prstGeom prst="star5">
            <a:avLst/>
          </a:prstGeom>
          <a:solidFill>
            <a:srgbClr val="F4B083"/>
          </a:solidFill>
          <a:ln w="11914">
            <a:solidFill>
              <a:srgbClr val="C95B0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legend_515"/>
          <p:cNvSpPr txBox="1"/>
          <p:nvPr/>
        </p:nvSpPr>
        <p:spPr>
          <a:xfrm>
            <a:off x="12986267" y="5067424"/>
            <a:ext cx="1747387" cy="4289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000000"/>
                </a:solidFill>
                <a:latin typeface="Liberation Sans"/>
              </a:defRPr>
            </a:pPr>
            <a:r>
              <a:t>Queried (external input)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000000"/>
                </a:solidFill>
                <a:latin typeface="Liberation Sans"/>
              </a:defRPr>
            </a:pPr>
            <a:r>
              <a:t>Placeholder</a:t>
            </a:r>
          </a:p>
        </p:txBody>
      </p:sp>
      <p:sp>
        <p:nvSpPr>
          <p:cNvPr id="517" name="legend_516"/>
          <p:cNvSpPr/>
          <p:nvPr/>
        </p:nvSpPr>
        <p:spPr>
          <a:xfrm>
            <a:off x="12692388" y="5567812"/>
            <a:ext cx="158853" cy="158853"/>
          </a:xfrm>
          <a:prstGeom prst="star5">
            <a:avLst/>
          </a:prstGeom>
          <a:solidFill>
            <a:srgbClr val="A7D08C"/>
          </a:solidFill>
          <a:ln w="11914">
            <a:solidFill>
              <a:srgbClr val="51813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legend_517"/>
          <p:cNvSpPr txBox="1"/>
          <p:nvPr/>
        </p:nvSpPr>
        <p:spPr>
          <a:xfrm>
            <a:off x="12986267" y="5464557"/>
            <a:ext cx="1747387" cy="4289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000000"/>
                </a:solidFill>
                <a:latin typeface="Liberation Sans"/>
              </a:defRPr>
            </a:pPr>
            <a:r>
              <a:t>Queried (response)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000000"/>
                </a:solidFill>
                <a:latin typeface="Liberation Sans"/>
              </a:defRPr>
            </a:pPr>
            <a:r>
              <a:t>Placeholder</a:t>
            </a:r>
          </a:p>
        </p:txBody>
      </p:sp>
      <p:sp>
        <p:nvSpPr>
          <p:cNvPr id="519" name="legend_518"/>
          <p:cNvSpPr/>
          <p:nvPr/>
        </p:nvSpPr>
        <p:spPr>
          <a:xfrm>
            <a:off x="12684445" y="5925232"/>
            <a:ext cx="174738" cy="174738"/>
          </a:xfrm>
          <a:prstGeom prst="ellipse">
            <a:avLst/>
          </a:prstGeom>
          <a:solidFill>
            <a:srgbClr val="BCA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legend_519"/>
          <p:cNvSpPr txBox="1"/>
          <p:nvPr/>
        </p:nvSpPr>
        <p:spPr>
          <a:xfrm>
            <a:off x="12986267" y="5829920"/>
            <a:ext cx="1639367" cy="4289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000000"/>
                </a:solidFill>
                <a:latin typeface="Liberation Sans"/>
              </a:defRPr>
            </a:pPr>
            <a:r>
              <a:t>KV Anchor of the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000000"/>
                </a:solidFill>
                <a:latin typeface="Liberation Sans"/>
              </a:defRPr>
            </a:pPr>
            <a:r>
              <a:t>Placeholder</a:t>
            </a:r>
          </a:p>
        </p:txBody>
      </p:sp>
      <p:sp>
        <p:nvSpPr>
          <p:cNvPr id="521" name="legend_520"/>
          <p:cNvSpPr/>
          <p:nvPr/>
        </p:nvSpPr>
        <p:spPr>
          <a:xfrm>
            <a:off x="12636789" y="6274710"/>
            <a:ext cx="270050" cy="270050"/>
          </a:xfrm>
          <a:prstGeom prst="ellipse">
            <a:avLst/>
          </a:prstGeom>
          <a:solidFill>
            <a:srgbClr val="DAE1F3"/>
          </a:solidFill>
          <a:ln w="7942">
            <a:solidFill>
              <a:srgbClr val="C7CED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legend_521"/>
          <p:cNvSpPr txBox="1"/>
          <p:nvPr/>
        </p:nvSpPr>
        <p:spPr>
          <a:xfrm>
            <a:off x="12986267" y="6234996"/>
            <a:ext cx="1639367" cy="3574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000000"/>
                </a:solidFill>
                <a:latin typeface="Liberation Sans"/>
              </a:defRPr>
            </a:pPr>
            <a:r>
              <a:t>Anchor Hit Range</a:t>
            </a:r>
          </a:p>
        </p:txBody>
      </p:sp>
      <p:sp>
        <p:nvSpPr>
          <p:cNvPr id="523" name="legend_522"/>
          <p:cNvSpPr/>
          <p:nvPr/>
        </p:nvSpPr>
        <p:spPr>
          <a:xfrm>
            <a:off x="12636789" y="6632130"/>
            <a:ext cx="270050" cy="270050"/>
          </a:xfrm>
          <a:prstGeom prst="ellipse">
            <a:avLst/>
          </a:prstGeom>
          <a:solidFill>
            <a:srgbClr val="C95B0B"/>
          </a:solidFill>
          <a:ln w="9531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4" name="legend_523"/>
          <p:cNvCxnSpPr/>
          <p:nvPr/>
        </p:nvCxnSpPr>
        <p:spPr>
          <a:xfrm>
            <a:off x="12700330" y="6767155"/>
            <a:ext cx="142969" cy="0"/>
          </a:xfrm>
          <a:prstGeom prst="line">
            <a:avLst/>
          </a:prstGeom>
          <a:ln w="25416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legend_524"/>
          <p:cNvCxnSpPr/>
          <p:nvPr/>
        </p:nvCxnSpPr>
        <p:spPr>
          <a:xfrm>
            <a:off x="12771814" y="6695671"/>
            <a:ext cx="0" cy="142968"/>
          </a:xfrm>
          <a:prstGeom prst="line">
            <a:avLst/>
          </a:prstGeom>
          <a:ln w="25416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6" name="legend_525"/>
          <p:cNvSpPr txBox="1"/>
          <p:nvPr/>
        </p:nvSpPr>
        <p:spPr>
          <a:xfrm>
            <a:off x="12986267" y="6608302"/>
            <a:ext cx="1747387" cy="3177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000000"/>
                </a:solidFill>
                <a:latin typeface="Liberation Sans"/>
              </a:defRPr>
            </a:pPr>
            <a:r>
              <a:t>Add as a New Anchor</a:t>
            </a:r>
          </a:p>
        </p:txBody>
      </p:sp>
      <p:sp>
        <p:nvSpPr>
          <p:cNvPr id="527" name="legend_526"/>
          <p:cNvSpPr/>
          <p:nvPr/>
        </p:nvSpPr>
        <p:spPr>
          <a:xfrm>
            <a:off x="12636789" y="6973665"/>
            <a:ext cx="270050" cy="270050"/>
          </a:xfrm>
          <a:prstGeom prst="ellipse">
            <a:avLst/>
          </a:prstGeom>
          <a:solidFill>
            <a:srgbClr val="518135"/>
          </a:solidFill>
          <a:ln w="9531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8" name="legend_527"/>
          <p:cNvCxnSpPr/>
          <p:nvPr/>
        </p:nvCxnSpPr>
        <p:spPr>
          <a:xfrm>
            <a:off x="12700330" y="7108690"/>
            <a:ext cx="55599" cy="55599"/>
          </a:xfrm>
          <a:prstGeom prst="line">
            <a:avLst/>
          </a:prstGeom>
          <a:ln w="25416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legend_528"/>
          <p:cNvCxnSpPr/>
          <p:nvPr/>
        </p:nvCxnSpPr>
        <p:spPr>
          <a:xfrm flipV="1">
            <a:off x="12755929" y="7045149"/>
            <a:ext cx="95312" cy="119140"/>
          </a:xfrm>
          <a:prstGeom prst="line">
            <a:avLst/>
          </a:prstGeom>
          <a:ln w="25416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0" name="legend_529"/>
          <p:cNvSpPr txBox="1"/>
          <p:nvPr/>
        </p:nvSpPr>
        <p:spPr>
          <a:xfrm>
            <a:off x="12986267" y="6949837"/>
            <a:ext cx="1747387" cy="3177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000000"/>
                </a:solidFill>
                <a:latin typeface="Liberation Sans"/>
              </a:defRPr>
            </a:pPr>
            <a:r>
              <a:t>Sharable placeholder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KVCOMM Online Cross-context KV-cache Communication for Efficient LLM-based Multi-agent System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868680" cy="73151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