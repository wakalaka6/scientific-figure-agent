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604961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2801600" cy="6049617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op-panel"/>
          <p:cNvSpPr/>
          <p:nvPr/>
        </p:nvSpPr>
        <p:spPr>
          <a:xfrm>
            <a:off x="53008" y="106017"/>
            <a:ext cx="12702208" cy="2623930"/>
          </a:xfrm>
          <a:prstGeom prst="roundRect">
            <a:avLst>
              <a:gd name="adj" fmla="val 5050"/>
            </a:avLst>
          </a:prstGeom>
          <a:solidFill>
            <a:srgbClr val="FBFBFB"/>
          </a:solidFill>
          <a:ln w="16565">
            <a:solidFill>
              <a:srgbClr val="05050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bottom-panel"/>
          <p:cNvSpPr/>
          <p:nvPr/>
        </p:nvSpPr>
        <p:spPr>
          <a:xfrm>
            <a:off x="53008" y="3313043"/>
            <a:ext cx="12702208" cy="2789582"/>
          </a:xfrm>
          <a:prstGeom prst="roundRect">
            <a:avLst>
              <a:gd name="adj" fmla="val 4750"/>
            </a:avLst>
          </a:prstGeom>
          <a:solidFill>
            <a:srgbClr val="FBFBFB"/>
          </a:solidFill>
          <a:ln w="16565">
            <a:solidFill>
              <a:srgbClr val="05050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bottom-divider"/>
          <p:cNvCxnSpPr/>
          <p:nvPr/>
        </p:nvCxnSpPr>
        <p:spPr>
          <a:xfrm>
            <a:off x="6824869" y="3319669"/>
            <a:ext cx="0" cy="2723322"/>
          </a:xfrm>
          <a:prstGeom prst="line">
            <a:avLst/>
          </a:prstGeom>
          <a:ln w="16565">
            <a:solidFill>
              <a:srgbClr val="8E8E8E"/>
            </a:solidFill>
            <a:prstDash val="sysDot"/>
          </a:ln>
          <a:effectLst/>
        </p:spPr>
      </p:cxnSp>
      <p:sp>
        <p:nvSpPr>
          <p:cNvPr id="6" name="dynamic-panel"/>
          <p:cNvSpPr/>
          <p:nvPr/>
        </p:nvSpPr>
        <p:spPr>
          <a:xfrm>
            <a:off x="9468678" y="165652"/>
            <a:ext cx="3220278" cy="2511286"/>
          </a:xfrm>
          <a:prstGeom prst="roundRect">
            <a:avLst>
              <a:gd name="adj" fmla="val 5804"/>
            </a:avLst>
          </a:prstGeom>
          <a:solidFill>
            <a:srgbClr val="FBFBFB"/>
          </a:solidFill>
          <a:ln w="26504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zero-reward-route-outer-segment-1"/>
          <p:cNvCxnSpPr/>
          <p:nvPr/>
        </p:nvCxnSpPr>
        <p:spPr>
          <a:xfrm>
            <a:off x="7633252" y="1384852"/>
            <a:ext cx="0" cy="1066800"/>
          </a:xfrm>
          <a:prstGeom prst="line">
            <a:avLst/>
          </a:prstGeom>
          <a:ln w="298173">
            <a:solidFill>
              <a:srgbClr val="FF756F"/>
            </a:solidFill>
          </a:ln>
          <a:effectLst/>
        </p:spPr>
      </p:cxnSp>
      <p:sp>
        <p:nvSpPr>
          <p:cNvPr id="8" name="zero-reward-route-outer-joint-1"/>
          <p:cNvSpPr/>
          <p:nvPr/>
        </p:nvSpPr>
        <p:spPr>
          <a:xfrm>
            <a:off x="7484165" y="2302565"/>
            <a:ext cx="298173" cy="298173"/>
          </a:xfrm>
          <a:prstGeom prst="ellipse">
            <a:avLst/>
          </a:prstGeom>
          <a:solidFill>
            <a:srgbClr val="FF75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zero-reward-route-outer-segment-2"/>
          <p:cNvCxnSpPr/>
          <p:nvPr/>
        </p:nvCxnSpPr>
        <p:spPr>
          <a:xfrm flipH="1">
            <a:off x="7540486" y="2451652"/>
            <a:ext cx="92766" cy="225287"/>
          </a:xfrm>
          <a:prstGeom prst="line">
            <a:avLst/>
          </a:prstGeom>
          <a:ln w="298173">
            <a:solidFill>
              <a:srgbClr val="FF756F"/>
            </a:solidFill>
          </a:ln>
          <a:effectLst/>
        </p:spPr>
      </p:cxnSp>
      <p:sp>
        <p:nvSpPr>
          <p:cNvPr id="10" name="zero-reward-route-outer-joint-2"/>
          <p:cNvSpPr/>
          <p:nvPr/>
        </p:nvSpPr>
        <p:spPr>
          <a:xfrm>
            <a:off x="7391400" y="2527852"/>
            <a:ext cx="298173" cy="298173"/>
          </a:xfrm>
          <a:prstGeom prst="ellipse">
            <a:avLst/>
          </a:prstGeom>
          <a:solidFill>
            <a:srgbClr val="FF75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zero-reward-route-outer-segment-3"/>
          <p:cNvCxnSpPr/>
          <p:nvPr/>
        </p:nvCxnSpPr>
        <p:spPr>
          <a:xfrm flipH="1">
            <a:off x="7321826" y="2676939"/>
            <a:ext cx="218660" cy="152400"/>
          </a:xfrm>
          <a:prstGeom prst="line">
            <a:avLst/>
          </a:prstGeom>
          <a:ln w="298173">
            <a:solidFill>
              <a:srgbClr val="FF756F"/>
            </a:solidFill>
          </a:ln>
          <a:effectLst/>
        </p:spPr>
      </p:cxnSp>
      <p:sp>
        <p:nvSpPr>
          <p:cNvPr id="12" name="zero-reward-route-outer-joint-3"/>
          <p:cNvSpPr/>
          <p:nvPr/>
        </p:nvSpPr>
        <p:spPr>
          <a:xfrm>
            <a:off x="7172739" y="2680252"/>
            <a:ext cx="298173" cy="298173"/>
          </a:xfrm>
          <a:prstGeom prst="ellipse">
            <a:avLst/>
          </a:prstGeom>
          <a:solidFill>
            <a:srgbClr val="FF75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zero-reward-route-outer-segment-4"/>
          <p:cNvCxnSpPr/>
          <p:nvPr/>
        </p:nvCxnSpPr>
        <p:spPr>
          <a:xfrm flipH="1">
            <a:off x="7089913" y="2829339"/>
            <a:ext cx="231913" cy="39756"/>
          </a:xfrm>
          <a:prstGeom prst="line">
            <a:avLst/>
          </a:prstGeom>
          <a:ln w="298173">
            <a:solidFill>
              <a:srgbClr val="FF756F"/>
            </a:solidFill>
          </a:ln>
          <a:effectLst/>
        </p:spPr>
      </p:cxnSp>
      <p:sp>
        <p:nvSpPr>
          <p:cNvPr id="14" name="zero-reward-route-outer-joint-4"/>
          <p:cNvSpPr/>
          <p:nvPr/>
        </p:nvSpPr>
        <p:spPr>
          <a:xfrm>
            <a:off x="6940826" y="2720008"/>
            <a:ext cx="298173" cy="298173"/>
          </a:xfrm>
          <a:prstGeom prst="ellipse">
            <a:avLst/>
          </a:prstGeom>
          <a:solidFill>
            <a:srgbClr val="FF75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zero-reward-route-outer-segment-5"/>
          <p:cNvCxnSpPr/>
          <p:nvPr/>
        </p:nvCxnSpPr>
        <p:spPr>
          <a:xfrm flipH="1">
            <a:off x="3810000" y="2869095"/>
            <a:ext cx="3279913" cy="0"/>
          </a:xfrm>
          <a:prstGeom prst="line">
            <a:avLst/>
          </a:prstGeom>
          <a:ln w="298173">
            <a:solidFill>
              <a:srgbClr val="FF756F"/>
            </a:solidFill>
          </a:ln>
          <a:effectLst/>
        </p:spPr>
      </p:cxnSp>
      <p:sp>
        <p:nvSpPr>
          <p:cNvPr id="16" name="zero-reward-route-outer-joint-5"/>
          <p:cNvSpPr/>
          <p:nvPr/>
        </p:nvSpPr>
        <p:spPr>
          <a:xfrm>
            <a:off x="3660913" y="2720008"/>
            <a:ext cx="298173" cy="298173"/>
          </a:xfrm>
          <a:prstGeom prst="ellipse">
            <a:avLst/>
          </a:prstGeom>
          <a:solidFill>
            <a:srgbClr val="FF75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zero-reward-route-outer-segment-6"/>
          <p:cNvCxnSpPr/>
          <p:nvPr/>
        </p:nvCxnSpPr>
        <p:spPr>
          <a:xfrm flipH="1">
            <a:off x="3631095" y="2869095"/>
            <a:ext cx="178905" cy="66261"/>
          </a:xfrm>
          <a:prstGeom prst="line">
            <a:avLst/>
          </a:prstGeom>
          <a:ln w="298173">
            <a:solidFill>
              <a:srgbClr val="FF756F"/>
            </a:solidFill>
          </a:ln>
          <a:effectLst/>
        </p:spPr>
      </p:cxnSp>
      <p:sp>
        <p:nvSpPr>
          <p:cNvPr id="18" name="zero-reward-route-outer-joint-6"/>
          <p:cNvSpPr/>
          <p:nvPr/>
        </p:nvSpPr>
        <p:spPr>
          <a:xfrm>
            <a:off x="3482008" y="2786269"/>
            <a:ext cx="298173" cy="298173"/>
          </a:xfrm>
          <a:prstGeom prst="ellipse">
            <a:avLst/>
          </a:prstGeom>
          <a:solidFill>
            <a:srgbClr val="FF75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zero-reward-route-outer-segment-7"/>
          <p:cNvCxnSpPr/>
          <p:nvPr/>
        </p:nvCxnSpPr>
        <p:spPr>
          <a:xfrm flipH="1">
            <a:off x="3498573" y="2935356"/>
            <a:ext cx="132522" cy="145774"/>
          </a:xfrm>
          <a:prstGeom prst="line">
            <a:avLst/>
          </a:prstGeom>
          <a:ln w="298173">
            <a:solidFill>
              <a:srgbClr val="FF756F"/>
            </a:solidFill>
          </a:ln>
          <a:effectLst/>
        </p:spPr>
      </p:cxnSp>
      <p:sp>
        <p:nvSpPr>
          <p:cNvPr id="20" name="zero-reward-route-outer-joint-7"/>
          <p:cNvSpPr/>
          <p:nvPr/>
        </p:nvSpPr>
        <p:spPr>
          <a:xfrm>
            <a:off x="3349486" y="2932043"/>
            <a:ext cx="298173" cy="298173"/>
          </a:xfrm>
          <a:prstGeom prst="ellipse">
            <a:avLst/>
          </a:prstGeom>
          <a:solidFill>
            <a:srgbClr val="FF75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zero-reward-route-outer-segment-8"/>
          <p:cNvCxnSpPr/>
          <p:nvPr/>
        </p:nvCxnSpPr>
        <p:spPr>
          <a:xfrm>
            <a:off x="3498573" y="3081130"/>
            <a:ext cx="0" cy="192156"/>
          </a:xfrm>
          <a:prstGeom prst="line">
            <a:avLst/>
          </a:prstGeom>
          <a:ln w="298173">
            <a:solidFill>
              <a:srgbClr val="FF756F"/>
            </a:solidFill>
          </a:ln>
          <a:effectLst/>
        </p:spPr>
      </p:cxnSp>
      <p:cxnSp>
        <p:nvCxnSpPr>
          <p:cNvPr id="22" name="zero-reward-route-highlight-segment-1"/>
          <p:cNvCxnSpPr/>
          <p:nvPr/>
        </p:nvCxnSpPr>
        <p:spPr>
          <a:xfrm>
            <a:off x="7633252" y="1384852"/>
            <a:ext cx="0" cy="1066800"/>
          </a:xfrm>
          <a:prstGeom prst="line">
            <a:avLst/>
          </a:prstGeom>
          <a:ln w="139147">
            <a:solidFill>
              <a:srgbClr val="FFA8A0"/>
            </a:solidFill>
          </a:ln>
          <a:effectLst/>
        </p:spPr>
      </p:cxnSp>
      <p:sp>
        <p:nvSpPr>
          <p:cNvPr id="23" name="zero-reward-route-highlight-joint-1"/>
          <p:cNvSpPr/>
          <p:nvPr/>
        </p:nvSpPr>
        <p:spPr>
          <a:xfrm>
            <a:off x="7563678" y="2382078"/>
            <a:ext cx="139147" cy="139147"/>
          </a:xfrm>
          <a:prstGeom prst="ellipse">
            <a:avLst/>
          </a:prstGeom>
          <a:solidFill>
            <a:srgbClr val="FFA8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zero-reward-route-highlight-segment-2"/>
          <p:cNvCxnSpPr/>
          <p:nvPr/>
        </p:nvCxnSpPr>
        <p:spPr>
          <a:xfrm flipH="1">
            <a:off x="7540486" y="2451652"/>
            <a:ext cx="92766" cy="225287"/>
          </a:xfrm>
          <a:prstGeom prst="line">
            <a:avLst/>
          </a:prstGeom>
          <a:ln w="139147">
            <a:solidFill>
              <a:srgbClr val="FFA8A0"/>
            </a:solidFill>
          </a:ln>
          <a:effectLst/>
        </p:spPr>
      </p:cxnSp>
      <p:sp>
        <p:nvSpPr>
          <p:cNvPr id="25" name="zero-reward-route-highlight-joint-2"/>
          <p:cNvSpPr/>
          <p:nvPr/>
        </p:nvSpPr>
        <p:spPr>
          <a:xfrm>
            <a:off x="7470913" y="2607365"/>
            <a:ext cx="139147" cy="139147"/>
          </a:xfrm>
          <a:prstGeom prst="ellipse">
            <a:avLst/>
          </a:prstGeom>
          <a:solidFill>
            <a:srgbClr val="FFA8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zero-reward-route-highlight-segment-3"/>
          <p:cNvCxnSpPr/>
          <p:nvPr/>
        </p:nvCxnSpPr>
        <p:spPr>
          <a:xfrm flipH="1">
            <a:off x="7321826" y="2676939"/>
            <a:ext cx="218660" cy="152400"/>
          </a:xfrm>
          <a:prstGeom prst="line">
            <a:avLst/>
          </a:prstGeom>
          <a:ln w="139147">
            <a:solidFill>
              <a:srgbClr val="FFA8A0"/>
            </a:solidFill>
          </a:ln>
          <a:effectLst/>
        </p:spPr>
      </p:cxnSp>
      <p:sp>
        <p:nvSpPr>
          <p:cNvPr id="27" name="zero-reward-route-highlight-joint-3"/>
          <p:cNvSpPr/>
          <p:nvPr/>
        </p:nvSpPr>
        <p:spPr>
          <a:xfrm>
            <a:off x="7252252" y="2759765"/>
            <a:ext cx="139147" cy="139147"/>
          </a:xfrm>
          <a:prstGeom prst="ellipse">
            <a:avLst/>
          </a:prstGeom>
          <a:solidFill>
            <a:srgbClr val="FFA8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zero-reward-route-highlight-segment-4"/>
          <p:cNvCxnSpPr/>
          <p:nvPr/>
        </p:nvCxnSpPr>
        <p:spPr>
          <a:xfrm flipH="1">
            <a:off x="7089913" y="2829339"/>
            <a:ext cx="231913" cy="39756"/>
          </a:xfrm>
          <a:prstGeom prst="line">
            <a:avLst/>
          </a:prstGeom>
          <a:ln w="139147">
            <a:solidFill>
              <a:srgbClr val="FFA8A0"/>
            </a:solidFill>
          </a:ln>
          <a:effectLst/>
        </p:spPr>
      </p:cxnSp>
      <p:sp>
        <p:nvSpPr>
          <p:cNvPr id="29" name="zero-reward-route-highlight-joint-4"/>
          <p:cNvSpPr/>
          <p:nvPr/>
        </p:nvSpPr>
        <p:spPr>
          <a:xfrm>
            <a:off x="7020339" y="2799521"/>
            <a:ext cx="139147" cy="139147"/>
          </a:xfrm>
          <a:prstGeom prst="ellipse">
            <a:avLst/>
          </a:prstGeom>
          <a:solidFill>
            <a:srgbClr val="FFA8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zero-reward-route-highlight-segment-5"/>
          <p:cNvCxnSpPr/>
          <p:nvPr/>
        </p:nvCxnSpPr>
        <p:spPr>
          <a:xfrm flipH="1">
            <a:off x="3810000" y="2869095"/>
            <a:ext cx="3279913" cy="0"/>
          </a:xfrm>
          <a:prstGeom prst="line">
            <a:avLst/>
          </a:prstGeom>
          <a:ln w="139147">
            <a:solidFill>
              <a:srgbClr val="FFA8A0"/>
            </a:solidFill>
          </a:ln>
          <a:effectLst/>
        </p:spPr>
      </p:cxnSp>
      <p:sp>
        <p:nvSpPr>
          <p:cNvPr id="31" name="zero-reward-route-highlight-joint-5"/>
          <p:cNvSpPr/>
          <p:nvPr/>
        </p:nvSpPr>
        <p:spPr>
          <a:xfrm>
            <a:off x="3740426" y="2799521"/>
            <a:ext cx="139147" cy="139147"/>
          </a:xfrm>
          <a:prstGeom prst="ellipse">
            <a:avLst/>
          </a:prstGeom>
          <a:solidFill>
            <a:srgbClr val="FFA8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zero-reward-route-highlight-segment-6"/>
          <p:cNvCxnSpPr/>
          <p:nvPr/>
        </p:nvCxnSpPr>
        <p:spPr>
          <a:xfrm flipH="1">
            <a:off x="3631095" y="2869095"/>
            <a:ext cx="178905" cy="66261"/>
          </a:xfrm>
          <a:prstGeom prst="line">
            <a:avLst/>
          </a:prstGeom>
          <a:ln w="139147">
            <a:solidFill>
              <a:srgbClr val="FFA8A0"/>
            </a:solidFill>
          </a:ln>
          <a:effectLst/>
        </p:spPr>
      </p:cxnSp>
      <p:sp>
        <p:nvSpPr>
          <p:cNvPr id="33" name="zero-reward-route-highlight-joint-6"/>
          <p:cNvSpPr/>
          <p:nvPr/>
        </p:nvSpPr>
        <p:spPr>
          <a:xfrm>
            <a:off x="3561521" y="2865782"/>
            <a:ext cx="139147" cy="139147"/>
          </a:xfrm>
          <a:prstGeom prst="ellipse">
            <a:avLst/>
          </a:prstGeom>
          <a:solidFill>
            <a:srgbClr val="FFA8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zero-reward-route-highlight-segment-7"/>
          <p:cNvCxnSpPr/>
          <p:nvPr/>
        </p:nvCxnSpPr>
        <p:spPr>
          <a:xfrm flipH="1">
            <a:off x="3498573" y="2935356"/>
            <a:ext cx="132522" cy="145774"/>
          </a:xfrm>
          <a:prstGeom prst="line">
            <a:avLst/>
          </a:prstGeom>
          <a:ln w="139147">
            <a:solidFill>
              <a:srgbClr val="FFA8A0"/>
            </a:solidFill>
          </a:ln>
          <a:effectLst/>
        </p:spPr>
      </p:cxnSp>
      <p:sp>
        <p:nvSpPr>
          <p:cNvPr id="35" name="zero-reward-route-highlight-joint-7"/>
          <p:cNvSpPr/>
          <p:nvPr/>
        </p:nvSpPr>
        <p:spPr>
          <a:xfrm>
            <a:off x="3429000" y="3011556"/>
            <a:ext cx="139147" cy="139147"/>
          </a:xfrm>
          <a:prstGeom prst="ellipse">
            <a:avLst/>
          </a:prstGeom>
          <a:solidFill>
            <a:srgbClr val="FFA8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zero-reward-route-highlight-segment-8"/>
          <p:cNvCxnSpPr/>
          <p:nvPr/>
        </p:nvCxnSpPr>
        <p:spPr>
          <a:xfrm>
            <a:off x="3498573" y="3081130"/>
            <a:ext cx="0" cy="192156"/>
          </a:xfrm>
          <a:prstGeom prst="line">
            <a:avLst/>
          </a:prstGeom>
          <a:ln w="139147">
            <a:solidFill>
              <a:srgbClr val="FFA8A0"/>
            </a:solidFill>
          </a:ln>
          <a:effectLst/>
        </p:spPr>
      </p:cxnSp>
      <p:sp>
        <p:nvSpPr>
          <p:cNvPr id="37" name="zero-reward-route-arrowhead"/>
          <p:cNvSpPr/>
          <p:nvPr/>
        </p:nvSpPr>
        <p:spPr>
          <a:xfrm>
            <a:off x="3299748" y="3074464"/>
            <a:ext cx="397560" cy="198780"/>
          </a:xfrm>
          <a:custGeom>
            <a:avLst/>
            <a:gdLst/>
            <a:ahLst/>
            <a:cxnLst/>
            <a:rect l="l" t="t" r="r" b="b"/>
            <a:pathLst>
              <a:path w="60" h="30">
                <a:moveTo>
                  <a:pt x="0" y="0"/>
                </a:moveTo>
                <a:lnTo>
                  <a:pt x="60" y="0"/>
                </a:lnTo>
                <a:lnTo>
                  <a:pt x="30" y="30"/>
                </a:lnTo>
                <a:close/>
              </a:path>
            </a:pathLst>
          </a:custGeom>
          <a:solidFill>
            <a:srgbClr val="FF75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zero-reward-route-arrowhead-highlight"/>
          <p:cNvSpPr/>
          <p:nvPr/>
        </p:nvSpPr>
        <p:spPr>
          <a:xfrm>
            <a:off x="3405764" y="3074464"/>
            <a:ext cx="185528" cy="172276"/>
          </a:xfrm>
          <a:custGeom>
            <a:avLst/>
            <a:gdLst/>
            <a:ahLst/>
            <a:cxnLst/>
            <a:rect l="l" t="t" r="r" b="b"/>
            <a:pathLst>
              <a:path w="28" h="26">
                <a:moveTo>
                  <a:pt x="0" y="0"/>
                </a:moveTo>
                <a:lnTo>
                  <a:pt x="28" y="0"/>
                </a:lnTo>
                <a:lnTo>
                  <a:pt x="14" y="26"/>
                </a:lnTo>
                <a:close/>
              </a:path>
            </a:pathLst>
          </a:custGeom>
          <a:solidFill>
            <a:srgbClr val="FFA8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high-reward-route-outer-segment-1"/>
          <p:cNvCxnSpPr/>
          <p:nvPr/>
        </p:nvCxnSpPr>
        <p:spPr>
          <a:xfrm>
            <a:off x="8335617" y="2504660"/>
            <a:ext cx="79513" cy="212035"/>
          </a:xfrm>
          <a:prstGeom prst="line">
            <a:avLst/>
          </a:prstGeom>
          <a:ln w="298173">
            <a:solidFill>
              <a:srgbClr val="08B553"/>
            </a:solidFill>
          </a:ln>
          <a:effectLst/>
        </p:spPr>
      </p:cxnSp>
      <p:sp>
        <p:nvSpPr>
          <p:cNvPr id="40" name="high-reward-route-outer-joint-1"/>
          <p:cNvSpPr/>
          <p:nvPr/>
        </p:nvSpPr>
        <p:spPr>
          <a:xfrm>
            <a:off x="8266043" y="2567608"/>
            <a:ext cx="298173" cy="298173"/>
          </a:xfrm>
          <a:prstGeom prst="ellipse">
            <a:avLst/>
          </a:pr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high-reward-route-outer-segment-2"/>
          <p:cNvCxnSpPr/>
          <p:nvPr/>
        </p:nvCxnSpPr>
        <p:spPr>
          <a:xfrm>
            <a:off x="8415130" y="2716695"/>
            <a:ext cx="198783" cy="152400"/>
          </a:xfrm>
          <a:prstGeom prst="line">
            <a:avLst/>
          </a:prstGeom>
          <a:ln w="298173">
            <a:solidFill>
              <a:srgbClr val="08B553"/>
            </a:solidFill>
          </a:ln>
          <a:effectLst/>
        </p:spPr>
      </p:cxnSp>
      <p:sp>
        <p:nvSpPr>
          <p:cNvPr id="42" name="high-reward-route-outer-joint-2"/>
          <p:cNvSpPr/>
          <p:nvPr/>
        </p:nvSpPr>
        <p:spPr>
          <a:xfrm>
            <a:off x="8464826" y="2720008"/>
            <a:ext cx="298173" cy="298173"/>
          </a:xfrm>
          <a:prstGeom prst="ellipse">
            <a:avLst/>
          </a:pr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high-reward-route-outer-segment-3"/>
          <p:cNvCxnSpPr/>
          <p:nvPr/>
        </p:nvCxnSpPr>
        <p:spPr>
          <a:xfrm>
            <a:off x="8613913" y="2869095"/>
            <a:ext cx="205408" cy="59635"/>
          </a:xfrm>
          <a:prstGeom prst="line">
            <a:avLst/>
          </a:prstGeom>
          <a:ln w="298173">
            <a:solidFill>
              <a:srgbClr val="08B553"/>
            </a:solidFill>
          </a:ln>
          <a:effectLst/>
        </p:spPr>
      </p:cxnSp>
      <p:sp>
        <p:nvSpPr>
          <p:cNvPr id="44" name="high-reward-route-outer-joint-3"/>
          <p:cNvSpPr/>
          <p:nvPr/>
        </p:nvSpPr>
        <p:spPr>
          <a:xfrm>
            <a:off x="8670234" y="2779643"/>
            <a:ext cx="298173" cy="298173"/>
          </a:xfrm>
          <a:prstGeom prst="ellipse">
            <a:avLst/>
          </a:pr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high-reward-route-outer-segment-4"/>
          <p:cNvCxnSpPr/>
          <p:nvPr/>
        </p:nvCxnSpPr>
        <p:spPr>
          <a:xfrm>
            <a:off x="8819321" y="2928730"/>
            <a:ext cx="682487" cy="0"/>
          </a:xfrm>
          <a:prstGeom prst="line">
            <a:avLst/>
          </a:prstGeom>
          <a:ln w="298173">
            <a:solidFill>
              <a:srgbClr val="08B553"/>
            </a:solidFill>
          </a:ln>
          <a:effectLst/>
        </p:spPr>
      </p:cxnSp>
      <p:sp>
        <p:nvSpPr>
          <p:cNvPr id="46" name="high-reward-route-outer-joint-4"/>
          <p:cNvSpPr/>
          <p:nvPr/>
        </p:nvSpPr>
        <p:spPr>
          <a:xfrm>
            <a:off x="9352721" y="2779643"/>
            <a:ext cx="298173" cy="298173"/>
          </a:xfrm>
          <a:prstGeom prst="ellipse">
            <a:avLst/>
          </a:pr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high-reward-route-outer-segment-5"/>
          <p:cNvCxnSpPr/>
          <p:nvPr/>
        </p:nvCxnSpPr>
        <p:spPr>
          <a:xfrm>
            <a:off x="9501808" y="2928730"/>
            <a:ext cx="172278" cy="59635"/>
          </a:xfrm>
          <a:prstGeom prst="line">
            <a:avLst/>
          </a:prstGeom>
          <a:ln w="298173">
            <a:solidFill>
              <a:srgbClr val="08B553"/>
            </a:solidFill>
          </a:ln>
          <a:effectLst/>
        </p:spPr>
      </p:cxnSp>
      <p:sp>
        <p:nvSpPr>
          <p:cNvPr id="48" name="high-reward-route-outer-joint-5"/>
          <p:cNvSpPr/>
          <p:nvPr/>
        </p:nvSpPr>
        <p:spPr>
          <a:xfrm>
            <a:off x="9525000" y="2839278"/>
            <a:ext cx="298173" cy="298173"/>
          </a:xfrm>
          <a:prstGeom prst="ellipse">
            <a:avLst/>
          </a:pr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high-reward-route-outer-segment-6"/>
          <p:cNvCxnSpPr/>
          <p:nvPr/>
        </p:nvCxnSpPr>
        <p:spPr>
          <a:xfrm>
            <a:off x="9674086" y="2988365"/>
            <a:ext cx="99392" cy="145774"/>
          </a:xfrm>
          <a:prstGeom prst="line">
            <a:avLst/>
          </a:prstGeom>
          <a:ln w="298173">
            <a:solidFill>
              <a:srgbClr val="08B553"/>
            </a:solidFill>
          </a:ln>
          <a:effectLst/>
        </p:spPr>
      </p:cxnSp>
      <p:sp>
        <p:nvSpPr>
          <p:cNvPr id="50" name="high-reward-route-outer-joint-6"/>
          <p:cNvSpPr/>
          <p:nvPr/>
        </p:nvSpPr>
        <p:spPr>
          <a:xfrm>
            <a:off x="9624391" y="2985052"/>
            <a:ext cx="298173" cy="298173"/>
          </a:xfrm>
          <a:prstGeom prst="ellipse">
            <a:avLst/>
          </a:pr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high-reward-route-outer-segment-7"/>
          <p:cNvCxnSpPr/>
          <p:nvPr/>
        </p:nvCxnSpPr>
        <p:spPr>
          <a:xfrm>
            <a:off x="9773478" y="3134139"/>
            <a:ext cx="0" cy="139147"/>
          </a:xfrm>
          <a:prstGeom prst="line">
            <a:avLst/>
          </a:prstGeom>
          <a:ln w="298173">
            <a:solidFill>
              <a:srgbClr val="08B553"/>
            </a:solidFill>
          </a:ln>
          <a:effectLst/>
        </p:spPr>
      </p:cxnSp>
      <p:cxnSp>
        <p:nvCxnSpPr>
          <p:cNvPr id="52" name="high-reward-route-highlight-segment-1"/>
          <p:cNvCxnSpPr/>
          <p:nvPr/>
        </p:nvCxnSpPr>
        <p:spPr>
          <a:xfrm>
            <a:off x="8335617" y="2504660"/>
            <a:ext cx="79513" cy="212035"/>
          </a:xfrm>
          <a:prstGeom prst="line">
            <a:avLst/>
          </a:prstGeom>
          <a:ln w="139147">
            <a:solidFill>
              <a:srgbClr val="86D77B"/>
            </a:solidFill>
          </a:ln>
          <a:effectLst/>
        </p:spPr>
      </p:cxnSp>
      <p:sp>
        <p:nvSpPr>
          <p:cNvPr id="53" name="high-reward-route-highlight-joint-1"/>
          <p:cNvSpPr/>
          <p:nvPr/>
        </p:nvSpPr>
        <p:spPr>
          <a:xfrm>
            <a:off x="8345556" y="2647121"/>
            <a:ext cx="139147" cy="139147"/>
          </a:xfrm>
          <a:prstGeom prst="ellipse">
            <a:avLst/>
          </a:prstGeom>
          <a:solidFill>
            <a:srgbClr val="86D7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high-reward-route-highlight-segment-2"/>
          <p:cNvCxnSpPr/>
          <p:nvPr/>
        </p:nvCxnSpPr>
        <p:spPr>
          <a:xfrm>
            <a:off x="8415130" y="2716695"/>
            <a:ext cx="198783" cy="152400"/>
          </a:xfrm>
          <a:prstGeom prst="line">
            <a:avLst/>
          </a:prstGeom>
          <a:ln w="139147">
            <a:solidFill>
              <a:srgbClr val="86D77B"/>
            </a:solidFill>
          </a:ln>
          <a:effectLst/>
        </p:spPr>
      </p:cxnSp>
      <p:sp>
        <p:nvSpPr>
          <p:cNvPr id="55" name="high-reward-route-highlight-joint-2"/>
          <p:cNvSpPr/>
          <p:nvPr/>
        </p:nvSpPr>
        <p:spPr>
          <a:xfrm>
            <a:off x="8544339" y="2799521"/>
            <a:ext cx="139147" cy="139147"/>
          </a:xfrm>
          <a:prstGeom prst="ellipse">
            <a:avLst/>
          </a:prstGeom>
          <a:solidFill>
            <a:srgbClr val="86D7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high-reward-route-highlight-segment-3"/>
          <p:cNvCxnSpPr/>
          <p:nvPr/>
        </p:nvCxnSpPr>
        <p:spPr>
          <a:xfrm>
            <a:off x="8613913" y="2869095"/>
            <a:ext cx="205408" cy="59635"/>
          </a:xfrm>
          <a:prstGeom prst="line">
            <a:avLst/>
          </a:prstGeom>
          <a:ln w="139147">
            <a:solidFill>
              <a:srgbClr val="86D77B"/>
            </a:solidFill>
          </a:ln>
          <a:effectLst/>
        </p:spPr>
      </p:cxnSp>
      <p:sp>
        <p:nvSpPr>
          <p:cNvPr id="57" name="high-reward-route-highlight-joint-3"/>
          <p:cNvSpPr/>
          <p:nvPr/>
        </p:nvSpPr>
        <p:spPr>
          <a:xfrm>
            <a:off x="8749747" y="2859156"/>
            <a:ext cx="139147" cy="139147"/>
          </a:xfrm>
          <a:prstGeom prst="ellipse">
            <a:avLst/>
          </a:prstGeom>
          <a:solidFill>
            <a:srgbClr val="86D7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8" name="high-reward-route-highlight-segment-4"/>
          <p:cNvCxnSpPr/>
          <p:nvPr/>
        </p:nvCxnSpPr>
        <p:spPr>
          <a:xfrm>
            <a:off x="8819321" y="2928730"/>
            <a:ext cx="682487" cy="0"/>
          </a:xfrm>
          <a:prstGeom prst="line">
            <a:avLst/>
          </a:prstGeom>
          <a:ln w="139147">
            <a:solidFill>
              <a:srgbClr val="86D77B"/>
            </a:solidFill>
          </a:ln>
          <a:effectLst/>
        </p:spPr>
      </p:cxnSp>
      <p:sp>
        <p:nvSpPr>
          <p:cNvPr id="59" name="high-reward-route-highlight-joint-4"/>
          <p:cNvSpPr/>
          <p:nvPr/>
        </p:nvSpPr>
        <p:spPr>
          <a:xfrm>
            <a:off x="9432234" y="2859156"/>
            <a:ext cx="139147" cy="139147"/>
          </a:xfrm>
          <a:prstGeom prst="ellipse">
            <a:avLst/>
          </a:prstGeom>
          <a:solidFill>
            <a:srgbClr val="86D7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high-reward-route-highlight-segment-5"/>
          <p:cNvCxnSpPr/>
          <p:nvPr/>
        </p:nvCxnSpPr>
        <p:spPr>
          <a:xfrm>
            <a:off x="9501808" y="2928730"/>
            <a:ext cx="172278" cy="59635"/>
          </a:xfrm>
          <a:prstGeom prst="line">
            <a:avLst/>
          </a:prstGeom>
          <a:ln w="139147">
            <a:solidFill>
              <a:srgbClr val="86D77B"/>
            </a:solidFill>
          </a:ln>
          <a:effectLst/>
        </p:spPr>
      </p:cxnSp>
      <p:sp>
        <p:nvSpPr>
          <p:cNvPr id="61" name="high-reward-route-highlight-joint-5"/>
          <p:cNvSpPr/>
          <p:nvPr/>
        </p:nvSpPr>
        <p:spPr>
          <a:xfrm>
            <a:off x="9604513" y="2918791"/>
            <a:ext cx="139147" cy="139147"/>
          </a:xfrm>
          <a:prstGeom prst="ellipse">
            <a:avLst/>
          </a:prstGeom>
          <a:solidFill>
            <a:srgbClr val="86D7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high-reward-route-highlight-segment-6"/>
          <p:cNvCxnSpPr/>
          <p:nvPr/>
        </p:nvCxnSpPr>
        <p:spPr>
          <a:xfrm>
            <a:off x="9674086" y="2988365"/>
            <a:ext cx="99392" cy="145774"/>
          </a:xfrm>
          <a:prstGeom prst="line">
            <a:avLst/>
          </a:prstGeom>
          <a:ln w="139147">
            <a:solidFill>
              <a:srgbClr val="86D77B"/>
            </a:solidFill>
          </a:ln>
          <a:effectLst/>
        </p:spPr>
      </p:cxnSp>
      <p:sp>
        <p:nvSpPr>
          <p:cNvPr id="63" name="high-reward-route-highlight-joint-6"/>
          <p:cNvSpPr/>
          <p:nvPr/>
        </p:nvSpPr>
        <p:spPr>
          <a:xfrm>
            <a:off x="9703904" y="3064565"/>
            <a:ext cx="139147" cy="139147"/>
          </a:xfrm>
          <a:prstGeom prst="ellipse">
            <a:avLst/>
          </a:prstGeom>
          <a:solidFill>
            <a:srgbClr val="86D7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high-reward-route-highlight-segment-7"/>
          <p:cNvCxnSpPr/>
          <p:nvPr/>
        </p:nvCxnSpPr>
        <p:spPr>
          <a:xfrm>
            <a:off x="9773478" y="3134139"/>
            <a:ext cx="0" cy="139147"/>
          </a:xfrm>
          <a:prstGeom prst="line">
            <a:avLst/>
          </a:prstGeom>
          <a:ln w="139147">
            <a:solidFill>
              <a:srgbClr val="86D77B"/>
            </a:solidFill>
          </a:ln>
          <a:effectLst/>
        </p:spPr>
      </p:cxnSp>
      <p:sp>
        <p:nvSpPr>
          <p:cNvPr id="65" name="high-reward-route-arrowhead"/>
          <p:cNvSpPr/>
          <p:nvPr/>
        </p:nvSpPr>
        <p:spPr>
          <a:xfrm>
            <a:off x="9574570" y="3074464"/>
            <a:ext cx="397560" cy="198780"/>
          </a:xfrm>
          <a:custGeom>
            <a:avLst/>
            <a:gdLst/>
            <a:ahLst/>
            <a:cxnLst/>
            <a:rect l="l" t="t" r="r" b="b"/>
            <a:pathLst>
              <a:path w="60" h="30">
                <a:moveTo>
                  <a:pt x="0" y="0"/>
                </a:moveTo>
                <a:lnTo>
                  <a:pt x="60" y="0"/>
                </a:lnTo>
                <a:lnTo>
                  <a:pt x="30" y="30"/>
                </a:lnTo>
                <a:close/>
              </a:path>
            </a:pathLst>
          </a:cu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high-reward-route-arrowhead-highlight"/>
          <p:cNvSpPr/>
          <p:nvPr/>
        </p:nvSpPr>
        <p:spPr>
          <a:xfrm>
            <a:off x="9680586" y="3074464"/>
            <a:ext cx="185528" cy="172276"/>
          </a:xfrm>
          <a:custGeom>
            <a:avLst/>
            <a:gdLst/>
            <a:ahLst/>
            <a:cxnLst/>
            <a:rect l="l" t="t" r="r" b="b"/>
            <a:pathLst>
              <a:path w="28" h="26">
                <a:moveTo>
                  <a:pt x="0" y="0"/>
                </a:moveTo>
                <a:lnTo>
                  <a:pt x="28" y="0"/>
                </a:lnTo>
                <a:lnTo>
                  <a:pt x="14" y="26"/>
                </a:lnTo>
                <a:close/>
              </a:path>
            </a:pathLst>
          </a:custGeom>
          <a:solidFill>
            <a:srgbClr val="86D7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op-title"/>
          <p:cNvSpPr txBox="1"/>
          <p:nvPr/>
        </p:nvSpPr>
        <p:spPr>
          <a:xfrm>
            <a:off x="172278" y="132521"/>
            <a:ext cx="6294782" cy="2782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 i="0" u="none">
                <a:solidFill>
                  <a:srgbClr val="050505"/>
                </a:solidFill>
                <a:latin typeface="DejaVu Serif"/>
              </a:rPr>
              <a:t>Measure Difficulty based on Relative Reward Statistics</a:t>
            </a:r>
          </a:p>
        </p:txBody>
      </p:sp>
      <p:sp>
        <p:nvSpPr>
          <p:cNvPr id="68" name="decrease-title"/>
          <p:cNvSpPr txBox="1"/>
          <p:nvPr/>
        </p:nvSpPr>
        <p:spPr>
          <a:xfrm>
            <a:off x="172278" y="3339547"/>
            <a:ext cx="5035826" cy="2782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 i="0" u="none">
                <a:solidFill>
                  <a:srgbClr val="050505"/>
                </a:solidFill>
                <a:latin typeface="DejaVu Serif"/>
              </a:rPr>
              <a:t>Difficulty Decreasement Augmentation</a:t>
            </a:r>
          </a:p>
        </p:txBody>
      </p:sp>
      <p:sp>
        <p:nvSpPr>
          <p:cNvPr id="69" name="increase-title"/>
          <p:cNvSpPr txBox="1"/>
          <p:nvPr/>
        </p:nvSpPr>
        <p:spPr>
          <a:xfrm>
            <a:off x="6897756" y="3339547"/>
            <a:ext cx="4770782" cy="2782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2" b="1" i="0" u="none">
                <a:solidFill>
                  <a:srgbClr val="050505"/>
                </a:solidFill>
                <a:latin typeface="DejaVu Serif"/>
              </a:rPr>
              <a:t>Difficulty Increasement Augmentation</a:t>
            </a:r>
          </a:p>
        </p:txBody>
      </p:sp>
      <p:sp>
        <p:nvSpPr>
          <p:cNvPr id="70" name="dynamic-title"/>
          <p:cNvSpPr txBox="1"/>
          <p:nvPr/>
        </p:nvSpPr>
        <p:spPr>
          <a:xfrm>
            <a:off x="9581321" y="192156"/>
            <a:ext cx="3014869" cy="2782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1" i="0" u="none">
                <a:solidFill>
                  <a:srgbClr val="050505"/>
                </a:solidFill>
                <a:latin typeface="DejaVu Serif"/>
              </a:rPr>
              <a:t>Dynamic Global Reward</a:t>
            </a:r>
          </a:p>
        </p:txBody>
      </p:sp>
      <p:sp>
        <p:nvSpPr>
          <p:cNvPr id="71" name="top-input-card"/>
          <p:cNvSpPr/>
          <p:nvPr/>
        </p:nvSpPr>
        <p:spPr>
          <a:xfrm>
            <a:off x="125895" y="808382"/>
            <a:ext cx="1961321" cy="1424608"/>
          </a:xfrm>
          <a:prstGeom prst="roundRect">
            <a:avLst>
              <a:gd name="adj" fmla="val 6046"/>
            </a:avLst>
          </a:prstGeom>
          <a:solidFill>
            <a:srgbClr val="FBFBFB"/>
          </a:solidFill>
          <a:ln w="19878">
            <a:solidFill>
              <a:srgbClr val="EEE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2" name="top-input-frames-a" descr="top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7" y="881269"/>
            <a:ext cx="702365" cy="682486"/>
          </a:xfrm>
          <a:prstGeom prst="rect">
            <a:avLst/>
          </a:prstGeom>
          <a:effectLst/>
        </p:spPr>
      </p:pic>
      <p:sp>
        <p:nvSpPr>
          <p:cNvPr id="73" name="top-input-ellipsis"/>
          <p:cNvSpPr txBox="1"/>
          <p:nvPr/>
        </p:nvSpPr>
        <p:spPr>
          <a:xfrm>
            <a:off x="980660" y="1046921"/>
            <a:ext cx="284921" cy="2915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2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pic>
        <p:nvPicPr>
          <p:cNvPr id="74" name="top-input-frames-b" descr="top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582" y="881269"/>
            <a:ext cx="702365" cy="682486"/>
          </a:xfrm>
          <a:prstGeom prst="rect">
            <a:avLst/>
          </a:prstGeom>
          <a:effectLst/>
        </p:spPr>
      </p:pic>
      <p:sp>
        <p:nvSpPr>
          <p:cNvPr id="75" name="top-question-label"/>
          <p:cNvSpPr txBox="1"/>
          <p:nvPr/>
        </p:nvSpPr>
        <p:spPr>
          <a:xfrm>
            <a:off x="205408" y="1596886"/>
            <a:ext cx="762000" cy="2054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5" b="0" i="0" u="none">
                <a:solidFill>
                  <a:srgbClr val="050505"/>
                </a:solidFill>
                <a:latin typeface="Purisa"/>
              </a:rPr>
              <a:t>Question:</a:t>
            </a:r>
          </a:p>
        </p:txBody>
      </p:sp>
      <p:sp>
        <p:nvSpPr>
          <p:cNvPr id="76" name="top-question-line-1"/>
          <p:cNvSpPr txBox="1"/>
          <p:nvPr/>
        </p:nvSpPr>
        <p:spPr>
          <a:xfrm>
            <a:off x="947530" y="1596886"/>
            <a:ext cx="1060173" cy="2054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1" b="0" i="0" u="none">
                <a:solidFill>
                  <a:srgbClr val="AD6B2C"/>
                </a:solidFill>
                <a:latin typeface="Purisa"/>
              </a:rPr>
              <a:t>What action</a:t>
            </a:r>
          </a:p>
        </p:txBody>
      </p:sp>
      <p:sp>
        <p:nvSpPr>
          <p:cNvPr id="77" name="top-question-line-2"/>
          <p:cNvSpPr txBox="1"/>
          <p:nvPr/>
        </p:nvSpPr>
        <p:spPr>
          <a:xfrm>
            <a:off x="205408" y="1789043"/>
            <a:ext cx="1789043" cy="2054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1" b="0" i="0" u="none">
                <a:solidFill>
                  <a:srgbClr val="AD6B2C"/>
                </a:solidFill>
                <a:latin typeface="Purisa"/>
              </a:rPr>
              <a:t>should I take next in</a:t>
            </a:r>
          </a:p>
        </p:txBody>
      </p:sp>
      <p:sp>
        <p:nvSpPr>
          <p:cNvPr id="78" name="top-question-line-3"/>
          <p:cNvSpPr txBox="1"/>
          <p:nvPr/>
        </p:nvSpPr>
        <p:spPr>
          <a:xfrm>
            <a:off x="205408" y="1981199"/>
            <a:ext cx="1789043" cy="2054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1" b="0" i="0" u="none">
                <a:solidFill>
                  <a:srgbClr val="AD6B2C"/>
                </a:solidFill>
                <a:latin typeface="Purisa"/>
              </a:rPr>
              <a:t>order to eat the celery?</a:t>
            </a:r>
          </a:p>
        </p:txBody>
      </p:sp>
      <p:cxnSp>
        <p:nvCxnSpPr>
          <p:cNvPr id="79" name="top-input-arrow"/>
          <p:cNvCxnSpPr/>
          <p:nvPr/>
        </p:nvCxnSpPr>
        <p:spPr>
          <a:xfrm>
            <a:off x="2093843" y="1517373"/>
            <a:ext cx="218661" cy="0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80" name="top-video-llm"/>
          <p:cNvSpPr/>
          <p:nvPr/>
        </p:nvSpPr>
        <p:spPr>
          <a:xfrm>
            <a:off x="2319130" y="1152939"/>
            <a:ext cx="914400" cy="735495"/>
          </a:xfrm>
          <a:prstGeom prst="roundRect">
            <a:avLst>
              <a:gd name="adj" fmla="val 12612"/>
            </a:avLst>
          </a:prstGeom>
          <a:solidFill>
            <a:srgbClr val="FFF5DC"/>
          </a:solidFill>
          <a:ln w="26504">
            <a:solidFill>
              <a:srgbClr val="FFE1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op-video-llm-text"/>
          <p:cNvSpPr txBox="1"/>
          <p:nvPr/>
        </p:nvSpPr>
        <p:spPr>
          <a:xfrm>
            <a:off x="2411895" y="1245704"/>
            <a:ext cx="728869" cy="5433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3" b="0" i="0" u="none">
                <a:solidFill>
                  <a:srgbClr val="050505"/>
                </a:solidFill>
                <a:latin typeface="Purisa"/>
              </a:rPr>
              <a:t>Video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3" b="0" i="0" u="none">
                <a:solidFill>
                  <a:srgbClr val="050505"/>
                </a:solidFill>
                <a:latin typeface="Purisa"/>
              </a:rPr>
              <a:t>LLM</a:t>
            </a:r>
          </a:p>
        </p:txBody>
      </p:sp>
      <p:cxnSp>
        <p:nvCxnSpPr>
          <p:cNvPr id="82" name="top-fork-one-segment-1"/>
          <p:cNvCxnSpPr/>
          <p:nvPr/>
        </p:nvCxnSpPr>
        <p:spPr>
          <a:xfrm flipV="1">
            <a:off x="3233530" y="1417982"/>
            <a:ext cx="178904" cy="99391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83" name="top-fork-one-segment-2"/>
          <p:cNvCxnSpPr/>
          <p:nvPr/>
        </p:nvCxnSpPr>
        <p:spPr>
          <a:xfrm flipV="1">
            <a:off x="3412434" y="1060173"/>
            <a:ext cx="33131" cy="357809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84" name="top-fork-one-segment-3"/>
          <p:cNvCxnSpPr/>
          <p:nvPr/>
        </p:nvCxnSpPr>
        <p:spPr>
          <a:xfrm flipV="1">
            <a:off x="3445565" y="954156"/>
            <a:ext cx="139148" cy="106017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cxnSp>
        <p:nvCxnSpPr>
          <p:cNvPr id="85" name="top-fork-two-segment-1"/>
          <p:cNvCxnSpPr/>
          <p:nvPr/>
        </p:nvCxnSpPr>
        <p:spPr>
          <a:xfrm flipV="1">
            <a:off x="3233530" y="1364973"/>
            <a:ext cx="198783" cy="152400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86" name="top-fork-two-segment-2"/>
          <p:cNvCxnSpPr/>
          <p:nvPr/>
        </p:nvCxnSpPr>
        <p:spPr>
          <a:xfrm flipV="1">
            <a:off x="3432313" y="1345095"/>
            <a:ext cx="152400" cy="19878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cxnSp>
        <p:nvCxnSpPr>
          <p:cNvPr id="87" name="top-fork-three-segment-1"/>
          <p:cNvCxnSpPr/>
          <p:nvPr/>
        </p:nvCxnSpPr>
        <p:spPr>
          <a:xfrm>
            <a:off x="3233530" y="1517373"/>
            <a:ext cx="165652" cy="125896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88" name="top-fork-three-segment-2"/>
          <p:cNvCxnSpPr/>
          <p:nvPr/>
        </p:nvCxnSpPr>
        <p:spPr>
          <a:xfrm>
            <a:off x="3399182" y="1643269"/>
            <a:ext cx="39757" cy="344557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89" name="top-fork-three-segment-3"/>
          <p:cNvCxnSpPr/>
          <p:nvPr/>
        </p:nvCxnSpPr>
        <p:spPr>
          <a:xfrm>
            <a:off x="3438939" y="1987826"/>
            <a:ext cx="145774" cy="99391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90" name="top-reward-group"/>
          <p:cNvSpPr/>
          <p:nvPr/>
        </p:nvSpPr>
        <p:spPr>
          <a:xfrm>
            <a:off x="5393634" y="715617"/>
            <a:ext cx="1106556" cy="1590260"/>
          </a:xfrm>
          <a:prstGeom prst="roundRect">
            <a:avLst>
              <a:gd name="adj" fmla="val 9580"/>
            </a:avLst>
          </a:prstGeom>
          <a:solidFill>
            <a:srgbClr val="E3F3D8"/>
          </a:solidFill>
          <a:ln w="19878">
            <a:solidFill>
              <a:srgbClr val="78D36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op-reward-title"/>
          <p:cNvSpPr txBox="1"/>
          <p:nvPr/>
        </p:nvSpPr>
        <p:spPr>
          <a:xfrm>
            <a:off x="5426765" y="397565"/>
            <a:ext cx="1046921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6" b="0" i="0" u="none">
                <a:solidFill>
                  <a:srgbClr val="050505"/>
                </a:solidFill>
                <a:latin typeface="Latin Modern Math"/>
              </a:rPr>
              <a:t>ℛgroup</a:t>
            </a:r>
          </a:p>
        </p:txBody>
      </p:sp>
      <p:sp>
        <p:nvSpPr>
          <p:cNvPr id="92" name="top-response-1"/>
          <p:cNvSpPr/>
          <p:nvPr/>
        </p:nvSpPr>
        <p:spPr>
          <a:xfrm>
            <a:off x="3591339" y="775252"/>
            <a:ext cx="1431234" cy="364434"/>
          </a:xfrm>
          <a:prstGeom prst="roundRect">
            <a:avLst>
              <a:gd name="adj" fmla="val 1818"/>
            </a:avLst>
          </a:prstGeom>
          <a:solidFill>
            <a:srgbClr val="FBFBFB"/>
          </a:solidFill>
          <a:ln w="19878">
            <a:solidFill>
              <a:srgbClr val="447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op-response-text-1"/>
          <p:cNvSpPr txBox="1"/>
          <p:nvPr/>
        </p:nvSpPr>
        <p:spPr>
          <a:xfrm>
            <a:off x="3644347" y="795130"/>
            <a:ext cx="1325217" cy="3246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 u="none">
                <a:solidFill>
                  <a:srgbClr val="050505"/>
                </a:solidFill>
                <a:latin typeface="Purisa"/>
              </a:rPr>
              <a:t>Response  y¹</a:t>
            </a:r>
          </a:p>
        </p:txBody>
      </p:sp>
      <p:cxnSp>
        <p:nvCxnSpPr>
          <p:cNvPr id="94" name="top-response-link-1"/>
          <p:cNvCxnSpPr/>
          <p:nvPr/>
        </p:nvCxnSpPr>
        <p:spPr>
          <a:xfrm flipV="1">
            <a:off x="5022573" y="927652"/>
            <a:ext cx="371061" cy="26504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95" name="top-response-2"/>
          <p:cNvSpPr/>
          <p:nvPr/>
        </p:nvSpPr>
        <p:spPr>
          <a:xfrm>
            <a:off x="3591339" y="1225826"/>
            <a:ext cx="1431234" cy="364434"/>
          </a:xfrm>
          <a:prstGeom prst="roundRect">
            <a:avLst>
              <a:gd name="adj" fmla="val 1818"/>
            </a:avLst>
          </a:prstGeom>
          <a:solidFill>
            <a:srgbClr val="FBFBFB"/>
          </a:solidFill>
          <a:ln w="19878">
            <a:solidFill>
              <a:srgbClr val="447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op-response-text-2"/>
          <p:cNvSpPr txBox="1"/>
          <p:nvPr/>
        </p:nvSpPr>
        <p:spPr>
          <a:xfrm>
            <a:off x="3644347" y="1245704"/>
            <a:ext cx="1325217" cy="3246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 u="none">
                <a:solidFill>
                  <a:srgbClr val="050505"/>
                </a:solidFill>
                <a:latin typeface="Purisa"/>
              </a:rPr>
              <a:t>Response  y²</a:t>
            </a:r>
          </a:p>
        </p:txBody>
      </p:sp>
      <p:cxnSp>
        <p:nvCxnSpPr>
          <p:cNvPr id="97" name="top-response-link-2"/>
          <p:cNvCxnSpPr/>
          <p:nvPr/>
        </p:nvCxnSpPr>
        <p:spPr>
          <a:xfrm flipV="1">
            <a:off x="5022573" y="1391478"/>
            <a:ext cx="371061" cy="13252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98" name="top-response-3"/>
          <p:cNvSpPr/>
          <p:nvPr/>
        </p:nvSpPr>
        <p:spPr>
          <a:xfrm>
            <a:off x="3591339" y="1895060"/>
            <a:ext cx="1431234" cy="364434"/>
          </a:xfrm>
          <a:prstGeom prst="roundRect">
            <a:avLst>
              <a:gd name="adj" fmla="val 1818"/>
            </a:avLst>
          </a:prstGeom>
          <a:solidFill>
            <a:srgbClr val="FBFBFB"/>
          </a:solidFill>
          <a:ln w="19878">
            <a:solidFill>
              <a:srgbClr val="447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op-response-text-3"/>
          <p:cNvSpPr txBox="1"/>
          <p:nvPr/>
        </p:nvSpPr>
        <p:spPr>
          <a:xfrm>
            <a:off x="3644347" y="1914939"/>
            <a:ext cx="1325217" cy="3246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 u="none">
                <a:solidFill>
                  <a:srgbClr val="050505"/>
                </a:solidFill>
                <a:latin typeface="Purisa"/>
              </a:rPr>
              <a:t>Response  yG</a:t>
            </a:r>
          </a:p>
        </p:txBody>
      </p:sp>
      <p:cxnSp>
        <p:nvCxnSpPr>
          <p:cNvPr id="100" name="top-response-link-3"/>
          <p:cNvCxnSpPr/>
          <p:nvPr/>
        </p:nvCxnSpPr>
        <p:spPr>
          <a:xfrm flipV="1">
            <a:off x="5022573" y="2040834"/>
            <a:ext cx="371061" cy="33131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101" name="top-response-dots"/>
          <p:cNvSpPr txBox="1"/>
          <p:nvPr/>
        </p:nvSpPr>
        <p:spPr>
          <a:xfrm>
            <a:off x="4002156" y="1550504"/>
            <a:ext cx="596347" cy="318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8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sp>
        <p:nvSpPr>
          <p:cNvPr id="102" name="top-reward-text-1"/>
          <p:cNvSpPr txBox="1"/>
          <p:nvPr/>
        </p:nvSpPr>
        <p:spPr>
          <a:xfrm>
            <a:off x="5453269" y="848139"/>
            <a:ext cx="993913" cy="3379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1" u="none">
                <a:solidFill>
                  <a:srgbClr val="050505"/>
                </a:solidFill>
                <a:latin typeface="Latin Modern Math"/>
              </a:rPr>
              <a:t>ℛ(x, y¹)</a:t>
            </a:r>
          </a:p>
        </p:txBody>
      </p:sp>
      <p:sp>
        <p:nvSpPr>
          <p:cNvPr id="103" name="top-reward-text-2"/>
          <p:cNvSpPr txBox="1"/>
          <p:nvPr/>
        </p:nvSpPr>
        <p:spPr>
          <a:xfrm>
            <a:off x="5453269" y="1311965"/>
            <a:ext cx="993913" cy="3379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1" u="none">
                <a:solidFill>
                  <a:srgbClr val="050505"/>
                </a:solidFill>
                <a:latin typeface="Latin Modern Math"/>
              </a:rPr>
              <a:t>ℛ(x, y²)</a:t>
            </a:r>
          </a:p>
        </p:txBody>
      </p:sp>
      <p:sp>
        <p:nvSpPr>
          <p:cNvPr id="104" name="top-reward-text-3"/>
          <p:cNvSpPr txBox="1"/>
          <p:nvPr/>
        </p:nvSpPr>
        <p:spPr>
          <a:xfrm>
            <a:off x="5453269" y="1974573"/>
            <a:ext cx="993913" cy="3379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1" u="none">
                <a:solidFill>
                  <a:srgbClr val="050505"/>
                </a:solidFill>
                <a:latin typeface="Latin Modern Math"/>
              </a:rPr>
              <a:t>ℛ(x, yG)</a:t>
            </a:r>
          </a:p>
        </p:txBody>
      </p:sp>
      <p:sp>
        <p:nvSpPr>
          <p:cNvPr id="105" name="top-reward-dots"/>
          <p:cNvSpPr txBox="1"/>
          <p:nvPr/>
        </p:nvSpPr>
        <p:spPr>
          <a:xfrm>
            <a:off x="5645426" y="1490869"/>
            <a:ext cx="596347" cy="318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6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sp>
        <p:nvSpPr>
          <p:cNvPr id="106" name="advantage-formula-bg"/>
          <p:cNvSpPr/>
          <p:nvPr/>
        </p:nvSpPr>
        <p:spPr>
          <a:xfrm>
            <a:off x="6665843" y="238539"/>
            <a:ext cx="2643808" cy="6361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advantage-left-term"/>
          <p:cNvSpPr txBox="1"/>
          <p:nvPr/>
        </p:nvSpPr>
        <p:spPr>
          <a:xfrm>
            <a:off x="6745356" y="337930"/>
            <a:ext cx="715617" cy="3975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3" b="0" i="1" u="none">
                <a:solidFill>
                  <a:srgbClr val="050505"/>
                </a:solidFill>
                <a:latin typeface="Latin Modern Math"/>
              </a:rPr>
              <a:t>Â⁽ⁱ⁾ =</a:t>
            </a:r>
          </a:p>
        </p:txBody>
      </p:sp>
      <p:sp>
        <p:nvSpPr>
          <p:cNvPr id="108" name="advantage-numerator"/>
          <p:cNvSpPr txBox="1"/>
          <p:nvPr/>
        </p:nvSpPr>
        <p:spPr>
          <a:xfrm>
            <a:off x="7454347" y="231913"/>
            <a:ext cx="1749286" cy="3313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5" b="0" i="1" u="none">
                <a:solidFill>
                  <a:srgbClr val="050505"/>
                </a:solidFill>
                <a:latin typeface="Latin Modern Math"/>
              </a:rPr>
              <a:t>ℛ(x, y⁽ⁱ⁾) − μᵣ</a:t>
            </a:r>
          </a:p>
        </p:txBody>
      </p:sp>
      <p:cxnSp>
        <p:nvCxnSpPr>
          <p:cNvPr id="109" name="advantage-fraction-line"/>
          <p:cNvCxnSpPr/>
          <p:nvPr/>
        </p:nvCxnSpPr>
        <p:spPr>
          <a:xfrm>
            <a:off x="7480852" y="576469"/>
            <a:ext cx="1696278" cy="0"/>
          </a:xfrm>
          <a:prstGeom prst="line">
            <a:avLst/>
          </a:prstGeom>
          <a:ln w="11264">
            <a:solidFill>
              <a:srgbClr val="050505"/>
            </a:solidFill>
          </a:ln>
          <a:effectLst/>
        </p:spPr>
      </p:cxnSp>
      <p:sp>
        <p:nvSpPr>
          <p:cNvPr id="110" name="advantage-denominator"/>
          <p:cNvSpPr txBox="1"/>
          <p:nvPr/>
        </p:nvSpPr>
        <p:spPr>
          <a:xfrm>
            <a:off x="8070573" y="583095"/>
            <a:ext cx="516834" cy="2517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1" u="none">
                <a:solidFill>
                  <a:srgbClr val="050505"/>
                </a:solidFill>
                <a:latin typeface="Latin Modern Math"/>
              </a:rPr>
              <a:t>σᵣ</a:t>
            </a:r>
          </a:p>
        </p:txBody>
      </p:sp>
      <p:sp>
        <p:nvSpPr>
          <p:cNvPr id="111" name="zero-reward-case"/>
          <p:cNvSpPr/>
          <p:nvPr/>
        </p:nvSpPr>
        <p:spPr>
          <a:xfrm>
            <a:off x="6632713" y="1020417"/>
            <a:ext cx="2710069" cy="371060"/>
          </a:xfrm>
          <a:prstGeom prst="roundRect">
            <a:avLst>
              <a:gd name="adj" fmla="val 17857"/>
            </a:avLst>
          </a:prstGeom>
          <a:solidFill>
            <a:srgbClr val="FBFBFB"/>
          </a:solidFill>
          <a:ln w="26504">
            <a:solidFill>
              <a:srgbClr val="FF756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zero-reward-case-text"/>
          <p:cNvSpPr txBox="1"/>
          <p:nvPr/>
        </p:nvSpPr>
        <p:spPr>
          <a:xfrm>
            <a:off x="6652591" y="1053547"/>
            <a:ext cx="267031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 u="none">
                <a:solidFill>
                  <a:srgbClr val="050505"/>
                </a:solidFill>
                <a:latin typeface="Latin Modern Math"/>
              </a:rPr>
              <a:t>ℛgroup = {0.0, 0.0, …, 0.0, 0.0}</a:t>
            </a:r>
          </a:p>
        </p:txBody>
      </p:sp>
      <p:sp>
        <p:nvSpPr>
          <p:cNvPr id="113" name="mixed-reward-case"/>
          <p:cNvSpPr/>
          <p:nvPr/>
        </p:nvSpPr>
        <p:spPr>
          <a:xfrm>
            <a:off x="6632713" y="1590260"/>
            <a:ext cx="2710069" cy="371060"/>
          </a:xfrm>
          <a:prstGeom prst="roundRect">
            <a:avLst>
              <a:gd name="adj" fmla="val 17857"/>
            </a:avLst>
          </a:prstGeom>
          <a:solidFill>
            <a:srgbClr val="FBFBFB"/>
          </a:solidFill>
          <a:ln w="26504">
            <a:solidFill>
              <a:srgbClr val="5D5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mixed-reward-case-text"/>
          <p:cNvSpPr txBox="1"/>
          <p:nvPr/>
        </p:nvSpPr>
        <p:spPr>
          <a:xfrm>
            <a:off x="6652591" y="1623391"/>
            <a:ext cx="267031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 u="none">
                <a:solidFill>
                  <a:srgbClr val="050505"/>
                </a:solidFill>
                <a:latin typeface="Latin Modern Math"/>
              </a:rPr>
              <a:t>ℛgroup = {1.1, 0.3, …, 1.9, 0.8}</a:t>
            </a:r>
          </a:p>
        </p:txBody>
      </p:sp>
      <p:sp>
        <p:nvSpPr>
          <p:cNvPr id="115" name="high-reward-case"/>
          <p:cNvSpPr/>
          <p:nvPr/>
        </p:nvSpPr>
        <p:spPr>
          <a:xfrm>
            <a:off x="6632713" y="2133600"/>
            <a:ext cx="2710069" cy="371060"/>
          </a:xfrm>
          <a:prstGeom prst="roundRect">
            <a:avLst>
              <a:gd name="adj" fmla="val 17857"/>
            </a:avLst>
          </a:prstGeom>
          <a:solidFill>
            <a:srgbClr val="FBFBFB"/>
          </a:solidFill>
          <a:ln w="26504">
            <a:solidFill>
              <a:srgbClr val="08B5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high-reward-case-text"/>
          <p:cNvSpPr txBox="1"/>
          <p:nvPr/>
        </p:nvSpPr>
        <p:spPr>
          <a:xfrm>
            <a:off x="6652591" y="2166730"/>
            <a:ext cx="2670313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 u="none">
                <a:solidFill>
                  <a:srgbClr val="050505"/>
                </a:solidFill>
                <a:latin typeface="Latin Modern Math"/>
              </a:rPr>
              <a:t>ℛgroup = {2.0, 2.0, …, 2.0, 2.0}</a:t>
            </a:r>
          </a:p>
        </p:txBody>
      </p:sp>
      <p:sp>
        <p:nvSpPr>
          <p:cNvPr id="117" name="chart-y-label"/>
          <p:cNvSpPr txBox="1"/>
          <p:nvPr/>
        </p:nvSpPr>
        <p:spPr>
          <a:xfrm>
            <a:off x="9621078" y="616226"/>
            <a:ext cx="662608" cy="198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 u="none">
                <a:solidFill>
                  <a:srgbClr val="050505"/>
                </a:solidFill>
                <a:latin typeface="DejaVu Sans"/>
              </a:rPr>
              <a:t>Reward</a:t>
            </a:r>
          </a:p>
        </p:txBody>
      </p:sp>
      <p:sp>
        <p:nvSpPr>
          <p:cNvPr id="118" name="chart-x-label"/>
          <p:cNvSpPr txBox="1"/>
          <p:nvPr/>
        </p:nvSpPr>
        <p:spPr>
          <a:xfrm>
            <a:off x="11973339" y="2113721"/>
            <a:ext cx="675860" cy="2054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 u="none">
                <a:solidFill>
                  <a:srgbClr val="050505"/>
                </a:solidFill>
                <a:latin typeface="DejaVu Sans"/>
              </a:rPr>
              <a:t>Iteration</a:t>
            </a:r>
          </a:p>
        </p:txBody>
      </p:sp>
      <p:cxnSp>
        <p:nvCxnSpPr>
          <p:cNvPr id="119" name="chart-grid-0"/>
          <p:cNvCxnSpPr/>
          <p:nvPr/>
        </p:nvCxnSpPr>
        <p:spPr>
          <a:xfrm>
            <a:off x="9872869" y="1073426"/>
            <a:ext cx="1914939" cy="0"/>
          </a:xfrm>
          <a:prstGeom prst="line">
            <a:avLst/>
          </a:prstGeom>
          <a:ln w="7951">
            <a:solidFill>
              <a:srgbClr val="D8D8D8"/>
            </a:solidFill>
          </a:ln>
          <a:effectLst/>
        </p:spPr>
      </p:cxnSp>
      <p:cxnSp>
        <p:nvCxnSpPr>
          <p:cNvPr id="120" name="chart-grid-1"/>
          <p:cNvCxnSpPr/>
          <p:nvPr/>
        </p:nvCxnSpPr>
        <p:spPr>
          <a:xfrm>
            <a:off x="9872869" y="1305339"/>
            <a:ext cx="1914939" cy="0"/>
          </a:xfrm>
          <a:prstGeom prst="line">
            <a:avLst/>
          </a:prstGeom>
          <a:ln w="7951">
            <a:solidFill>
              <a:srgbClr val="D8D8D8"/>
            </a:solidFill>
          </a:ln>
          <a:effectLst/>
        </p:spPr>
      </p:cxnSp>
      <p:cxnSp>
        <p:nvCxnSpPr>
          <p:cNvPr id="121" name="chart-grid-2"/>
          <p:cNvCxnSpPr/>
          <p:nvPr/>
        </p:nvCxnSpPr>
        <p:spPr>
          <a:xfrm>
            <a:off x="9872869" y="1543878"/>
            <a:ext cx="1914939" cy="0"/>
          </a:xfrm>
          <a:prstGeom prst="line">
            <a:avLst/>
          </a:prstGeom>
          <a:ln w="7951">
            <a:solidFill>
              <a:srgbClr val="D8D8D8"/>
            </a:solidFill>
          </a:ln>
          <a:effectLst/>
        </p:spPr>
      </p:cxnSp>
      <p:cxnSp>
        <p:nvCxnSpPr>
          <p:cNvPr id="122" name="chart-grid-3"/>
          <p:cNvCxnSpPr/>
          <p:nvPr/>
        </p:nvCxnSpPr>
        <p:spPr>
          <a:xfrm>
            <a:off x="9872869" y="1775791"/>
            <a:ext cx="1914939" cy="0"/>
          </a:xfrm>
          <a:prstGeom prst="line">
            <a:avLst/>
          </a:prstGeom>
          <a:ln w="7951">
            <a:solidFill>
              <a:srgbClr val="D8D8D8"/>
            </a:solidFill>
          </a:ln>
          <a:effectLst/>
        </p:spPr>
      </p:cxnSp>
      <p:cxnSp>
        <p:nvCxnSpPr>
          <p:cNvPr id="123" name="chart-grid-4"/>
          <p:cNvCxnSpPr/>
          <p:nvPr/>
        </p:nvCxnSpPr>
        <p:spPr>
          <a:xfrm>
            <a:off x="9872869" y="2014330"/>
            <a:ext cx="1914939" cy="0"/>
          </a:xfrm>
          <a:prstGeom prst="line">
            <a:avLst/>
          </a:prstGeom>
          <a:ln w="7951">
            <a:solidFill>
              <a:srgbClr val="D8D8D8"/>
            </a:solidFill>
          </a:ln>
          <a:effectLst/>
        </p:spPr>
      </p:cxnSp>
      <p:sp>
        <p:nvSpPr>
          <p:cNvPr id="124" name="chart-y-arrow"/>
          <p:cNvSpPr/>
          <p:nvPr/>
        </p:nvSpPr>
        <p:spPr>
          <a:xfrm>
            <a:off x="9819732" y="735486"/>
            <a:ext cx="106016" cy="106016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0" y="16"/>
                </a:moveTo>
                <a:lnTo>
                  <a:pt x="8" y="0"/>
                </a:lnTo>
                <a:lnTo>
                  <a:pt x="16" y="16"/>
                </a:lnTo>
                <a:close/>
              </a:path>
            </a:pathLst>
          </a:custGeom>
          <a:solidFill>
            <a:srgbClr val="05050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" name="chart-y-axis"/>
          <p:cNvCxnSpPr/>
          <p:nvPr/>
        </p:nvCxnSpPr>
        <p:spPr>
          <a:xfrm flipV="1">
            <a:off x="9872869" y="815008"/>
            <a:ext cx="0" cy="1424609"/>
          </a:xfrm>
          <a:prstGeom prst="line">
            <a:avLst/>
          </a:prstGeom>
          <a:ln w="16565">
            <a:solidFill>
              <a:srgbClr val="050505"/>
            </a:solidFill>
          </a:ln>
          <a:effectLst/>
        </p:spPr>
      </p:cxnSp>
      <p:cxnSp>
        <p:nvCxnSpPr>
          <p:cNvPr id="126" name="chart-x-axis"/>
          <p:cNvCxnSpPr/>
          <p:nvPr/>
        </p:nvCxnSpPr>
        <p:spPr>
          <a:xfrm>
            <a:off x="9872869" y="2239617"/>
            <a:ext cx="1948070" cy="0"/>
          </a:xfrm>
          <a:prstGeom prst="line">
            <a:avLst/>
          </a:prstGeom>
          <a:ln w="16565">
            <a:solidFill>
              <a:srgbClr val="050505"/>
            </a:solidFill>
          </a:ln>
          <a:effectLst/>
        </p:spPr>
      </p:cxnSp>
      <p:sp>
        <p:nvSpPr>
          <p:cNvPr id="127" name="chart-x-arrow"/>
          <p:cNvSpPr/>
          <p:nvPr/>
        </p:nvSpPr>
        <p:spPr>
          <a:xfrm>
            <a:off x="11794280" y="2186580"/>
            <a:ext cx="112642" cy="106016"/>
          </a:xfrm>
          <a:custGeom>
            <a:avLst/>
            <a:gdLst/>
            <a:ahLst/>
            <a:cxnLst/>
            <a:rect l="l" t="t" r="r" b="b"/>
            <a:pathLst>
              <a:path w="17" h="16">
                <a:moveTo>
                  <a:pt x="0" y="0"/>
                </a:moveTo>
                <a:lnTo>
                  <a:pt x="17" y="8"/>
                </a:lnTo>
                <a:lnTo>
                  <a:pt x="0" y="16"/>
                </a:lnTo>
                <a:close/>
              </a:path>
            </a:pathLst>
          </a:custGeom>
          <a:solidFill>
            <a:srgbClr val="05050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chart-window"/>
          <p:cNvSpPr/>
          <p:nvPr/>
        </p:nvSpPr>
        <p:spPr>
          <a:xfrm>
            <a:off x="10886660" y="1080052"/>
            <a:ext cx="629478" cy="1060173"/>
          </a:xfrm>
          <a:prstGeom prst="rect">
            <a:avLst/>
          </a:prstGeom>
          <a:solidFill>
            <a:srgbClr val="FFFE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reward-trend-segment-1"/>
          <p:cNvCxnSpPr/>
          <p:nvPr/>
        </p:nvCxnSpPr>
        <p:spPr>
          <a:xfrm>
            <a:off x="9872869" y="2014330"/>
            <a:ext cx="212035" cy="26504"/>
          </a:xfrm>
          <a:prstGeom prst="line">
            <a:avLst/>
          </a:prstGeom>
          <a:ln w="15240">
            <a:solidFill>
              <a:srgbClr val="14749B"/>
            </a:solidFill>
          </a:ln>
          <a:effectLst/>
        </p:spPr>
      </p:cxnSp>
      <p:cxnSp>
        <p:nvCxnSpPr>
          <p:cNvPr id="130" name="reward-trend-segment-2"/>
          <p:cNvCxnSpPr/>
          <p:nvPr/>
        </p:nvCxnSpPr>
        <p:spPr>
          <a:xfrm flipV="1">
            <a:off x="10084904" y="1563756"/>
            <a:ext cx="430696" cy="477078"/>
          </a:xfrm>
          <a:prstGeom prst="line">
            <a:avLst/>
          </a:prstGeom>
          <a:ln w="15240">
            <a:solidFill>
              <a:srgbClr val="14749B"/>
            </a:solidFill>
          </a:ln>
          <a:effectLst/>
        </p:spPr>
      </p:cxnSp>
      <p:cxnSp>
        <p:nvCxnSpPr>
          <p:cNvPr id="131" name="reward-trend-segment-3"/>
          <p:cNvCxnSpPr/>
          <p:nvPr/>
        </p:nvCxnSpPr>
        <p:spPr>
          <a:xfrm flipV="1">
            <a:off x="10515600" y="1318591"/>
            <a:ext cx="437321" cy="245165"/>
          </a:xfrm>
          <a:prstGeom prst="line">
            <a:avLst/>
          </a:prstGeom>
          <a:ln w="15240">
            <a:solidFill>
              <a:srgbClr val="14749B"/>
            </a:solidFill>
          </a:ln>
          <a:effectLst/>
        </p:spPr>
      </p:cxnSp>
      <p:cxnSp>
        <p:nvCxnSpPr>
          <p:cNvPr id="132" name="reward-trend-segment-4"/>
          <p:cNvCxnSpPr/>
          <p:nvPr/>
        </p:nvCxnSpPr>
        <p:spPr>
          <a:xfrm>
            <a:off x="10952921" y="1318591"/>
            <a:ext cx="218661" cy="79513"/>
          </a:xfrm>
          <a:prstGeom prst="line">
            <a:avLst/>
          </a:prstGeom>
          <a:ln w="15240">
            <a:solidFill>
              <a:srgbClr val="14749B"/>
            </a:solidFill>
          </a:ln>
          <a:effectLst/>
        </p:spPr>
      </p:cxnSp>
      <p:cxnSp>
        <p:nvCxnSpPr>
          <p:cNvPr id="133" name="reward-trend-segment-5"/>
          <p:cNvCxnSpPr/>
          <p:nvPr/>
        </p:nvCxnSpPr>
        <p:spPr>
          <a:xfrm flipV="1">
            <a:off x="11171582" y="1225826"/>
            <a:ext cx="225287" cy="172278"/>
          </a:xfrm>
          <a:prstGeom prst="line">
            <a:avLst/>
          </a:prstGeom>
          <a:ln w="15240">
            <a:solidFill>
              <a:srgbClr val="14749B"/>
            </a:solidFill>
          </a:ln>
          <a:effectLst/>
        </p:spPr>
      </p:cxnSp>
      <p:cxnSp>
        <p:nvCxnSpPr>
          <p:cNvPr id="134" name="reward-trend-segment-6"/>
          <p:cNvCxnSpPr/>
          <p:nvPr/>
        </p:nvCxnSpPr>
        <p:spPr>
          <a:xfrm flipV="1">
            <a:off x="11396869" y="1159565"/>
            <a:ext cx="132522" cy="66261"/>
          </a:xfrm>
          <a:prstGeom prst="line">
            <a:avLst/>
          </a:prstGeom>
          <a:ln w="15240">
            <a:solidFill>
              <a:srgbClr val="14749B"/>
            </a:solidFill>
          </a:ln>
          <a:effectLst/>
        </p:spPr>
      </p:cxnSp>
      <p:cxnSp>
        <p:nvCxnSpPr>
          <p:cNvPr id="135" name="window-width-arrow"/>
          <p:cNvCxnSpPr/>
          <p:nvPr/>
        </p:nvCxnSpPr>
        <p:spPr>
          <a:xfrm>
            <a:off x="10906539" y="2100469"/>
            <a:ext cx="609600" cy="0"/>
          </a:xfrm>
          <a:prstGeom prst="line">
            <a:avLst/>
          </a:prstGeom>
          <a:ln w="16565">
            <a:solidFill>
              <a:srgbClr val="FF5479"/>
            </a:solidFill>
            <a:headEnd type="triangle" w="sm" len="sm"/>
            <a:tailEnd type="triangle" w="sm" len="sm"/>
          </a:ln>
          <a:effectLst/>
        </p:spPr>
      </p:cxnSp>
      <p:sp>
        <p:nvSpPr>
          <p:cNvPr id="136" name="window-width-label"/>
          <p:cNvSpPr txBox="1"/>
          <p:nvPr/>
        </p:nvSpPr>
        <p:spPr>
          <a:xfrm>
            <a:off x="10999304" y="1749286"/>
            <a:ext cx="463826" cy="26504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6" b="0" i="0" u="none">
                <a:solidFill>
                  <a:srgbClr val="050505"/>
                </a:solidFill>
                <a:latin typeface="Latin Modern Math"/>
              </a:rPr>
              <a:t>𝔹ᵂ</a:t>
            </a:r>
          </a:p>
        </p:txBody>
      </p:sp>
      <p:sp>
        <p:nvSpPr>
          <p:cNvPr id="137" name="buffer-body"/>
          <p:cNvSpPr/>
          <p:nvPr/>
        </p:nvSpPr>
        <p:spPr>
          <a:xfrm>
            <a:off x="12099234" y="1245704"/>
            <a:ext cx="251791" cy="225286"/>
          </a:xfrm>
          <a:prstGeom prst="rect">
            <a:avLst/>
          </a:prstGeom>
          <a:solidFill>
            <a:srgbClr val="050505"/>
          </a:solidFill>
          <a:ln w="6626">
            <a:solidFill>
              <a:srgbClr val="05050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buffer-top"/>
          <p:cNvSpPr/>
          <p:nvPr/>
        </p:nvSpPr>
        <p:spPr>
          <a:xfrm>
            <a:off x="12099234" y="1199321"/>
            <a:ext cx="251791" cy="86139"/>
          </a:xfrm>
          <a:prstGeom prst="ellipse">
            <a:avLst/>
          </a:prstGeom>
          <a:solidFill>
            <a:srgbClr val="050505"/>
          </a:solidFill>
          <a:ln w="6626">
            <a:solidFill>
              <a:srgbClr val="05050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buffer-band-one"/>
          <p:cNvSpPr/>
          <p:nvPr/>
        </p:nvSpPr>
        <p:spPr>
          <a:xfrm>
            <a:off x="12099234" y="1305339"/>
            <a:ext cx="251791" cy="66260"/>
          </a:xfrm>
          <a:prstGeom prst="ellipse">
            <a:avLst/>
          </a:prstGeom>
          <a:noFill/>
          <a:ln w="9939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buffer-band-two"/>
          <p:cNvSpPr/>
          <p:nvPr/>
        </p:nvSpPr>
        <p:spPr>
          <a:xfrm>
            <a:off x="12099234" y="1391478"/>
            <a:ext cx="251791" cy="66260"/>
          </a:xfrm>
          <a:prstGeom prst="ellipse">
            <a:avLst/>
          </a:prstGeom>
          <a:noFill/>
          <a:ln w="9939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buffer-bottom"/>
          <p:cNvSpPr/>
          <p:nvPr/>
        </p:nvSpPr>
        <p:spPr>
          <a:xfrm>
            <a:off x="12099234" y="1431234"/>
            <a:ext cx="251791" cy="79513"/>
          </a:xfrm>
          <a:prstGeom prst="ellipse">
            <a:avLst/>
          </a:prstGeom>
          <a:solidFill>
            <a:srgbClr val="050505"/>
          </a:solidFill>
          <a:ln w="6626">
            <a:solidFill>
              <a:srgbClr val="05050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buffer-label"/>
          <p:cNvSpPr txBox="1"/>
          <p:nvPr/>
        </p:nvSpPr>
        <p:spPr>
          <a:xfrm>
            <a:off x="11820939" y="1577008"/>
            <a:ext cx="795130" cy="46382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5" b="0" i="0" u="none">
                <a:solidFill>
                  <a:srgbClr val="050505"/>
                </a:solidFill>
                <a:latin typeface="Purisa"/>
              </a:rPr>
              <a:t>Replay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5" b="0" i="0" u="none">
                <a:solidFill>
                  <a:srgbClr val="050505"/>
                </a:solidFill>
                <a:latin typeface="Purisa"/>
              </a:rPr>
              <a:t>Buffer</a:t>
            </a:r>
          </a:p>
        </p:txBody>
      </p:sp>
      <p:sp>
        <p:nvSpPr>
          <p:cNvPr id="143" name="lower-input-card"/>
          <p:cNvSpPr/>
          <p:nvPr/>
        </p:nvSpPr>
        <p:spPr>
          <a:xfrm>
            <a:off x="145773" y="3631095"/>
            <a:ext cx="1954695" cy="1636643"/>
          </a:xfrm>
          <a:prstGeom prst="roundRect">
            <a:avLst>
              <a:gd name="adj" fmla="val 5263"/>
            </a:avLst>
          </a:prstGeom>
          <a:solidFill>
            <a:srgbClr val="FBFBFB"/>
          </a:solidFill>
          <a:ln w="19878">
            <a:solidFill>
              <a:srgbClr val="EEEE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4" name="lower-input-frames-a" descr="lower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17" y="3670852"/>
            <a:ext cx="702365" cy="742121"/>
          </a:xfrm>
          <a:prstGeom prst="rect">
            <a:avLst/>
          </a:prstGeom>
          <a:effectLst/>
        </p:spPr>
      </p:pic>
      <p:sp>
        <p:nvSpPr>
          <p:cNvPr id="145" name="lower-input-ellipsis"/>
          <p:cNvSpPr txBox="1"/>
          <p:nvPr/>
        </p:nvSpPr>
        <p:spPr>
          <a:xfrm>
            <a:off x="980660" y="3836504"/>
            <a:ext cx="291547" cy="2915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2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pic>
        <p:nvPicPr>
          <p:cNvPr id="146" name="lower-input-frames-b" descr="lowe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208" y="3670852"/>
            <a:ext cx="702365" cy="742121"/>
          </a:xfrm>
          <a:prstGeom prst="rect">
            <a:avLst/>
          </a:prstGeom>
          <a:effectLst/>
        </p:spPr>
      </p:pic>
      <p:sp>
        <p:nvSpPr>
          <p:cNvPr id="147" name="lower-question-label"/>
          <p:cNvSpPr txBox="1"/>
          <p:nvPr/>
        </p:nvSpPr>
        <p:spPr>
          <a:xfrm>
            <a:off x="231913" y="4459356"/>
            <a:ext cx="728869" cy="1921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 u="none">
                <a:solidFill>
                  <a:srgbClr val="050505"/>
                </a:solidFill>
                <a:latin typeface="Purisa"/>
              </a:rPr>
              <a:t>Question:</a:t>
            </a:r>
          </a:p>
        </p:txBody>
      </p:sp>
      <p:sp>
        <p:nvSpPr>
          <p:cNvPr id="148" name="lower-question-line-1"/>
          <p:cNvSpPr txBox="1"/>
          <p:nvPr/>
        </p:nvSpPr>
        <p:spPr>
          <a:xfrm>
            <a:off x="947530" y="4459356"/>
            <a:ext cx="1060173" cy="1921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1" b="0" i="0" u="none">
                <a:solidFill>
                  <a:srgbClr val="AD6B2C"/>
                </a:solidFill>
                <a:latin typeface="Purisa"/>
              </a:rPr>
              <a:t>What action</a:t>
            </a:r>
          </a:p>
        </p:txBody>
      </p:sp>
      <p:sp>
        <p:nvSpPr>
          <p:cNvPr id="149" name="lower-question-line-2"/>
          <p:cNvSpPr txBox="1"/>
          <p:nvPr/>
        </p:nvSpPr>
        <p:spPr>
          <a:xfrm>
            <a:off x="231913" y="4651513"/>
            <a:ext cx="1769165" cy="1921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1" b="0" i="0" u="none">
                <a:solidFill>
                  <a:srgbClr val="AD6B2C"/>
                </a:solidFill>
                <a:latin typeface="Purisa"/>
              </a:rPr>
              <a:t>should I take next in</a:t>
            </a:r>
          </a:p>
        </p:txBody>
      </p:sp>
      <p:sp>
        <p:nvSpPr>
          <p:cNvPr id="150" name="lower-question-line-3"/>
          <p:cNvSpPr txBox="1"/>
          <p:nvPr/>
        </p:nvSpPr>
        <p:spPr>
          <a:xfrm>
            <a:off x="231913" y="4843669"/>
            <a:ext cx="1769165" cy="1921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1" b="0" i="0" u="none">
                <a:solidFill>
                  <a:srgbClr val="AD6B2C"/>
                </a:solidFill>
                <a:latin typeface="Purisa"/>
              </a:rPr>
              <a:t>order to eat the celery?</a:t>
            </a:r>
          </a:p>
        </p:txBody>
      </p:sp>
      <p:sp>
        <p:nvSpPr>
          <p:cNvPr id="151" name="lower-gt-label"/>
          <p:cNvSpPr txBox="1"/>
          <p:nvPr/>
        </p:nvSpPr>
        <p:spPr>
          <a:xfrm>
            <a:off x="231913" y="5042452"/>
            <a:ext cx="278295" cy="1855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 u="none">
                <a:solidFill>
                  <a:srgbClr val="050505"/>
                </a:solidFill>
                <a:latin typeface="Purisa"/>
              </a:rPr>
              <a:t>GT:</a:t>
            </a:r>
          </a:p>
        </p:txBody>
      </p:sp>
      <p:sp>
        <p:nvSpPr>
          <p:cNvPr id="152" name="lower-gt-answer"/>
          <p:cNvSpPr txBox="1"/>
          <p:nvPr/>
        </p:nvSpPr>
        <p:spPr>
          <a:xfrm>
            <a:off x="530086" y="5042452"/>
            <a:ext cx="1444486" cy="1855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1" b="0" i="0" u="none">
                <a:solidFill>
                  <a:srgbClr val="08B553"/>
                </a:solidFill>
                <a:latin typeface="Purisa"/>
              </a:rPr>
              <a:t>B. pick up celery</a:t>
            </a:r>
          </a:p>
        </p:txBody>
      </p:sp>
      <p:cxnSp>
        <p:nvCxnSpPr>
          <p:cNvPr id="153" name="lower-input-arrow"/>
          <p:cNvCxnSpPr/>
          <p:nvPr/>
        </p:nvCxnSpPr>
        <p:spPr>
          <a:xfrm>
            <a:off x="2100469" y="4485860"/>
            <a:ext cx="212035" cy="0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154" name="lower-video-llm"/>
          <p:cNvSpPr/>
          <p:nvPr/>
        </p:nvSpPr>
        <p:spPr>
          <a:xfrm>
            <a:off x="2319130" y="4108173"/>
            <a:ext cx="914400" cy="742121"/>
          </a:xfrm>
          <a:prstGeom prst="roundRect">
            <a:avLst>
              <a:gd name="adj" fmla="val 12500"/>
            </a:avLst>
          </a:prstGeom>
          <a:solidFill>
            <a:srgbClr val="FFF5DC"/>
          </a:solidFill>
          <a:ln w="26504">
            <a:solidFill>
              <a:srgbClr val="FFE1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lower-video-llm-text"/>
          <p:cNvSpPr txBox="1"/>
          <p:nvPr/>
        </p:nvSpPr>
        <p:spPr>
          <a:xfrm>
            <a:off x="2411895" y="4207565"/>
            <a:ext cx="728869" cy="5433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3" b="0" i="0" u="none">
                <a:solidFill>
                  <a:srgbClr val="050505"/>
                </a:solidFill>
                <a:latin typeface="Purisa"/>
              </a:rPr>
              <a:t>Video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3" b="0" i="0" u="none">
                <a:solidFill>
                  <a:srgbClr val="050505"/>
                </a:solidFill>
                <a:latin typeface="Purisa"/>
              </a:rPr>
              <a:t>LLM</a:t>
            </a:r>
          </a:p>
        </p:txBody>
      </p:sp>
      <p:cxnSp>
        <p:nvCxnSpPr>
          <p:cNvPr id="156" name="lower-fork-one-segment-1"/>
          <p:cNvCxnSpPr/>
          <p:nvPr/>
        </p:nvCxnSpPr>
        <p:spPr>
          <a:xfrm flipV="1">
            <a:off x="3233530" y="4373217"/>
            <a:ext cx="178904" cy="106017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157" name="lower-fork-one-segment-2"/>
          <p:cNvCxnSpPr/>
          <p:nvPr/>
        </p:nvCxnSpPr>
        <p:spPr>
          <a:xfrm flipV="1">
            <a:off x="3412434" y="4028660"/>
            <a:ext cx="33131" cy="344557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158" name="lower-fork-one-segment-3"/>
          <p:cNvCxnSpPr/>
          <p:nvPr/>
        </p:nvCxnSpPr>
        <p:spPr>
          <a:xfrm flipV="1">
            <a:off x="3445565" y="3929269"/>
            <a:ext cx="139148" cy="99391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cxnSp>
        <p:nvCxnSpPr>
          <p:cNvPr id="159" name="lower-fork-two-segment-1"/>
          <p:cNvCxnSpPr/>
          <p:nvPr/>
        </p:nvCxnSpPr>
        <p:spPr>
          <a:xfrm flipV="1">
            <a:off x="3233530" y="4379843"/>
            <a:ext cx="185530" cy="99391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160" name="lower-fork-two-segment-2"/>
          <p:cNvCxnSpPr/>
          <p:nvPr/>
        </p:nvCxnSpPr>
        <p:spPr>
          <a:xfrm>
            <a:off x="3419060" y="4379843"/>
            <a:ext cx="165653" cy="26504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cxnSp>
        <p:nvCxnSpPr>
          <p:cNvPr id="161" name="lower-fork-three-segment-1"/>
          <p:cNvCxnSpPr/>
          <p:nvPr/>
        </p:nvCxnSpPr>
        <p:spPr>
          <a:xfrm>
            <a:off x="3233530" y="4479234"/>
            <a:ext cx="165652" cy="145774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162" name="lower-fork-three-segment-2"/>
          <p:cNvCxnSpPr/>
          <p:nvPr/>
        </p:nvCxnSpPr>
        <p:spPr>
          <a:xfrm>
            <a:off x="3399182" y="4625008"/>
            <a:ext cx="46383" cy="284922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163" name="lower-fork-three-segment-3"/>
          <p:cNvCxnSpPr/>
          <p:nvPr/>
        </p:nvCxnSpPr>
        <p:spPr>
          <a:xfrm>
            <a:off x="3445565" y="4909930"/>
            <a:ext cx="139148" cy="33130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164" name="lower-reward-group"/>
          <p:cNvSpPr/>
          <p:nvPr/>
        </p:nvSpPr>
        <p:spPr>
          <a:xfrm>
            <a:off x="5393634" y="3670852"/>
            <a:ext cx="1106556" cy="1590260"/>
          </a:xfrm>
          <a:prstGeom prst="roundRect">
            <a:avLst>
              <a:gd name="adj" fmla="val 9580"/>
            </a:avLst>
          </a:prstGeom>
          <a:solidFill>
            <a:srgbClr val="E3F3D8"/>
          </a:solidFill>
          <a:ln w="19878">
            <a:solidFill>
              <a:srgbClr val="78D36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lower-reward-title"/>
          <p:cNvSpPr txBox="1"/>
          <p:nvPr/>
        </p:nvSpPr>
        <p:spPr>
          <a:xfrm>
            <a:off x="5426765" y="3352800"/>
            <a:ext cx="1046921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6" b="0" i="0" u="none">
                <a:solidFill>
                  <a:srgbClr val="050505"/>
                </a:solidFill>
                <a:latin typeface="Latin Modern Math"/>
              </a:rPr>
              <a:t>ℛgroup</a:t>
            </a:r>
          </a:p>
        </p:txBody>
      </p:sp>
      <p:sp>
        <p:nvSpPr>
          <p:cNvPr id="166" name="lower-response-1"/>
          <p:cNvSpPr/>
          <p:nvPr/>
        </p:nvSpPr>
        <p:spPr>
          <a:xfrm>
            <a:off x="3591339" y="3743739"/>
            <a:ext cx="1431234" cy="364434"/>
          </a:xfrm>
          <a:prstGeom prst="roundRect">
            <a:avLst>
              <a:gd name="adj" fmla="val 1818"/>
            </a:avLst>
          </a:prstGeom>
          <a:solidFill>
            <a:srgbClr val="FBFBFB"/>
          </a:solidFill>
          <a:ln w="19878">
            <a:solidFill>
              <a:srgbClr val="447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ower-response-text-1"/>
          <p:cNvSpPr txBox="1"/>
          <p:nvPr/>
        </p:nvSpPr>
        <p:spPr>
          <a:xfrm>
            <a:off x="3644347" y="3763617"/>
            <a:ext cx="1325217" cy="3246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 u="none">
                <a:solidFill>
                  <a:srgbClr val="050505"/>
                </a:solidFill>
                <a:latin typeface="Purisa"/>
              </a:rPr>
              <a:t>Response  y¹gt</a:t>
            </a:r>
          </a:p>
        </p:txBody>
      </p:sp>
      <p:cxnSp>
        <p:nvCxnSpPr>
          <p:cNvPr id="168" name="lower-response-link-1"/>
          <p:cNvCxnSpPr/>
          <p:nvPr/>
        </p:nvCxnSpPr>
        <p:spPr>
          <a:xfrm flipV="1">
            <a:off x="5022573" y="3882886"/>
            <a:ext cx="371061" cy="39757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169" name="lower-response-2"/>
          <p:cNvSpPr/>
          <p:nvPr/>
        </p:nvSpPr>
        <p:spPr>
          <a:xfrm>
            <a:off x="3591339" y="4220817"/>
            <a:ext cx="1431234" cy="364434"/>
          </a:xfrm>
          <a:prstGeom prst="roundRect">
            <a:avLst>
              <a:gd name="adj" fmla="val 1818"/>
            </a:avLst>
          </a:prstGeom>
          <a:solidFill>
            <a:srgbClr val="FBFBFB"/>
          </a:solidFill>
          <a:ln w="19878">
            <a:solidFill>
              <a:srgbClr val="447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lower-response-text-2"/>
          <p:cNvSpPr txBox="1"/>
          <p:nvPr/>
        </p:nvSpPr>
        <p:spPr>
          <a:xfrm>
            <a:off x="3644347" y="4240695"/>
            <a:ext cx="1325217" cy="3246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 u="none">
                <a:solidFill>
                  <a:srgbClr val="050505"/>
                </a:solidFill>
                <a:latin typeface="Purisa"/>
              </a:rPr>
              <a:t>Response  y²gt</a:t>
            </a:r>
          </a:p>
        </p:txBody>
      </p:sp>
      <p:cxnSp>
        <p:nvCxnSpPr>
          <p:cNvPr id="171" name="lower-response-link-2"/>
          <p:cNvCxnSpPr/>
          <p:nvPr/>
        </p:nvCxnSpPr>
        <p:spPr>
          <a:xfrm flipV="1">
            <a:off x="5022573" y="4346713"/>
            <a:ext cx="371061" cy="53008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172" name="lower-response-3"/>
          <p:cNvSpPr/>
          <p:nvPr/>
        </p:nvSpPr>
        <p:spPr>
          <a:xfrm>
            <a:off x="3591339" y="4757530"/>
            <a:ext cx="1431234" cy="364434"/>
          </a:xfrm>
          <a:prstGeom prst="roundRect">
            <a:avLst>
              <a:gd name="adj" fmla="val 1818"/>
            </a:avLst>
          </a:prstGeom>
          <a:solidFill>
            <a:srgbClr val="FBFBFB"/>
          </a:solidFill>
          <a:ln w="19878">
            <a:solidFill>
              <a:srgbClr val="447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ower-response-text-3"/>
          <p:cNvSpPr txBox="1"/>
          <p:nvPr/>
        </p:nvSpPr>
        <p:spPr>
          <a:xfrm>
            <a:off x="3644347" y="4777408"/>
            <a:ext cx="1325217" cy="3246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 u="none">
                <a:solidFill>
                  <a:srgbClr val="050505"/>
                </a:solidFill>
                <a:latin typeface="Purisa"/>
              </a:rPr>
              <a:t>Response  yGgt</a:t>
            </a:r>
          </a:p>
        </p:txBody>
      </p:sp>
      <p:cxnSp>
        <p:nvCxnSpPr>
          <p:cNvPr id="174" name="lower-response-link-3"/>
          <p:cNvCxnSpPr/>
          <p:nvPr/>
        </p:nvCxnSpPr>
        <p:spPr>
          <a:xfrm>
            <a:off x="5022573" y="4936434"/>
            <a:ext cx="371061" cy="59635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sp>
        <p:nvSpPr>
          <p:cNvPr id="175" name="lower-response-dots"/>
          <p:cNvSpPr txBox="1"/>
          <p:nvPr/>
        </p:nvSpPr>
        <p:spPr>
          <a:xfrm>
            <a:off x="4002156" y="4545495"/>
            <a:ext cx="596347" cy="318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8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sp>
        <p:nvSpPr>
          <p:cNvPr id="176" name="lower-reward-text-1"/>
          <p:cNvSpPr txBox="1"/>
          <p:nvPr/>
        </p:nvSpPr>
        <p:spPr>
          <a:xfrm>
            <a:off x="5453269" y="3803373"/>
            <a:ext cx="993913" cy="3379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1" u="none">
                <a:solidFill>
                  <a:srgbClr val="050505"/>
                </a:solidFill>
                <a:latin typeface="Latin Modern Math"/>
              </a:rPr>
              <a:t>ℛ(x, y¹gt)</a:t>
            </a:r>
          </a:p>
        </p:txBody>
      </p:sp>
      <p:sp>
        <p:nvSpPr>
          <p:cNvPr id="177" name="lower-reward-text-2"/>
          <p:cNvSpPr txBox="1"/>
          <p:nvPr/>
        </p:nvSpPr>
        <p:spPr>
          <a:xfrm>
            <a:off x="5453269" y="4267200"/>
            <a:ext cx="993913" cy="3379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1" u="none">
                <a:solidFill>
                  <a:srgbClr val="050505"/>
                </a:solidFill>
                <a:latin typeface="Latin Modern Math"/>
              </a:rPr>
              <a:t>ℛ(x, y²gt)</a:t>
            </a:r>
          </a:p>
        </p:txBody>
      </p:sp>
      <p:sp>
        <p:nvSpPr>
          <p:cNvPr id="178" name="lower-reward-text-3"/>
          <p:cNvSpPr txBox="1"/>
          <p:nvPr/>
        </p:nvSpPr>
        <p:spPr>
          <a:xfrm>
            <a:off x="5453269" y="4929808"/>
            <a:ext cx="993913" cy="3379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1" u="none">
                <a:solidFill>
                  <a:srgbClr val="050505"/>
                </a:solidFill>
                <a:latin typeface="Latin Modern Math"/>
              </a:rPr>
              <a:t>ℛ(x, yGgt)</a:t>
            </a:r>
          </a:p>
        </p:txBody>
      </p:sp>
      <p:sp>
        <p:nvSpPr>
          <p:cNvPr id="179" name="lower-reward-dots"/>
          <p:cNvSpPr txBox="1"/>
          <p:nvPr/>
        </p:nvSpPr>
        <p:spPr>
          <a:xfrm>
            <a:off x="5645426" y="4446104"/>
            <a:ext cx="596347" cy="3180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6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sp>
        <p:nvSpPr>
          <p:cNvPr id="180" name="selected-response-outline"/>
          <p:cNvSpPr/>
          <p:nvPr/>
        </p:nvSpPr>
        <p:spPr>
          <a:xfrm>
            <a:off x="5353878" y="4187686"/>
            <a:ext cx="1186069" cy="377686"/>
          </a:xfrm>
          <a:prstGeom prst="rect">
            <a:avLst/>
          </a:prstGeom>
          <a:noFill/>
          <a:ln w="19878">
            <a:solidFill>
              <a:srgbClr val="447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rophy-left-handle"/>
          <p:cNvSpPr/>
          <p:nvPr/>
        </p:nvSpPr>
        <p:spPr>
          <a:xfrm>
            <a:off x="6473686" y="4220817"/>
            <a:ext cx="119269" cy="152400"/>
          </a:xfrm>
          <a:prstGeom prst="ellipse">
            <a:avLst/>
          </a:prstGeom>
          <a:noFill/>
          <a:ln w="19878">
            <a:solidFill>
              <a:srgbClr val="BB78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rophy-right-handle"/>
          <p:cNvSpPr/>
          <p:nvPr/>
        </p:nvSpPr>
        <p:spPr>
          <a:xfrm>
            <a:off x="6672469" y="4220817"/>
            <a:ext cx="119269" cy="152400"/>
          </a:xfrm>
          <a:prstGeom prst="ellipse">
            <a:avLst/>
          </a:prstGeom>
          <a:noFill/>
          <a:ln w="19878">
            <a:solidFill>
              <a:srgbClr val="BB78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rophy-cup"/>
          <p:cNvSpPr/>
          <p:nvPr/>
        </p:nvSpPr>
        <p:spPr>
          <a:xfrm>
            <a:off x="6539862" y="4187632"/>
            <a:ext cx="192154" cy="258414"/>
          </a:xfrm>
          <a:custGeom>
            <a:avLst/>
            <a:gdLst/>
            <a:ahLst/>
            <a:cxnLst/>
            <a:rect l="l" t="t" r="r" b="b"/>
            <a:pathLst>
              <a:path w="29" h="39">
                <a:moveTo>
                  <a:pt x="0" y="0"/>
                </a:moveTo>
                <a:lnTo>
                  <a:pt x="29" y="0"/>
                </a:lnTo>
                <a:lnTo>
                  <a:pt x="25" y="28"/>
                </a:lnTo>
                <a:lnTo>
                  <a:pt x="16" y="39"/>
                </a:lnTo>
                <a:lnTo>
                  <a:pt x="6" y="28"/>
                </a:lnTo>
                <a:close/>
              </a:path>
            </a:pathLst>
          </a:custGeom>
          <a:solidFill>
            <a:srgbClr val="F5A500"/>
          </a:solidFill>
          <a:ln w="13252">
            <a:solidFill>
              <a:srgbClr val="BB78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rophy-stem"/>
          <p:cNvSpPr/>
          <p:nvPr/>
        </p:nvSpPr>
        <p:spPr>
          <a:xfrm>
            <a:off x="6619460" y="4432852"/>
            <a:ext cx="33130" cy="92765"/>
          </a:xfrm>
          <a:prstGeom prst="rect">
            <a:avLst/>
          </a:prstGeom>
          <a:solidFill>
            <a:srgbClr val="F5A500"/>
          </a:solidFill>
          <a:ln w="6626">
            <a:solidFill>
              <a:srgbClr val="BB78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trophy-base"/>
          <p:cNvSpPr/>
          <p:nvPr/>
        </p:nvSpPr>
        <p:spPr>
          <a:xfrm>
            <a:off x="6553200" y="4518991"/>
            <a:ext cx="165652" cy="39756"/>
          </a:xfrm>
          <a:prstGeom prst="rect">
            <a:avLst/>
          </a:prstGeom>
          <a:solidFill>
            <a:srgbClr val="F5A500"/>
          </a:solidFill>
          <a:ln w="6626">
            <a:solidFill>
              <a:srgbClr val="BB78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guided-answer-symbol"/>
          <p:cNvSpPr txBox="1"/>
          <p:nvPr/>
        </p:nvSpPr>
        <p:spPr>
          <a:xfrm>
            <a:off x="172278" y="5413513"/>
            <a:ext cx="410817" cy="4306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1" u="none">
                <a:solidFill>
                  <a:srgbClr val="050505"/>
                </a:solidFill>
                <a:latin typeface="Latin Modern Math"/>
              </a:rPr>
              <a:t>y²gt</a:t>
            </a:r>
          </a:p>
        </p:txBody>
      </p:sp>
      <p:sp>
        <p:nvSpPr>
          <p:cNvPr id="187" name="guided-answer-one"/>
          <p:cNvSpPr txBox="1"/>
          <p:nvPr/>
        </p:nvSpPr>
        <p:spPr>
          <a:xfrm>
            <a:off x="616226" y="5413513"/>
            <a:ext cx="3743739" cy="2252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5" b="0" i="0" u="none">
                <a:solidFill>
                  <a:srgbClr val="050505"/>
                </a:solidFill>
                <a:latin typeface="Purisa"/>
              </a:rPr>
              <a:t>&lt;think&gt; The video shows a person preparing … .</a:t>
            </a:r>
          </a:p>
        </p:txBody>
      </p:sp>
      <p:sp>
        <p:nvSpPr>
          <p:cNvPr id="188" name="guided-answer-green-one"/>
          <p:cNvSpPr txBox="1"/>
          <p:nvPr/>
        </p:nvSpPr>
        <p:spPr>
          <a:xfrm>
            <a:off x="4373217" y="5413513"/>
            <a:ext cx="2305878" cy="22528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 u="sng">
                <a:solidFill>
                  <a:srgbClr val="08B553"/>
                </a:solidFill>
                <a:latin typeface="Purisa"/>
              </a:rPr>
              <a:t>To make a slice of celery, you</a:t>
            </a:r>
          </a:p>
        </p:txBody>
      </p:sp>
      <p:sp>
        <p:nvSpPr>
          <p:cNvPr id="189" name="guided-answer-green-two"/>
          <p:cNvSpPr txBox="1"/>
          <p:nvPr/>
        </p:nvSpPr>
        <p:spPr>
          <a:xfrm>
            <a:off x="616226" y="5638800"/>
            <a:ext cx="2299252" cy="2186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3" b="0" i="0" u="sng">
                <a:solidFill>
                  <a:srgbClr val="08B553"/>
                </a:solidFill>
                <a:latin typeface="Purisa"/>
              </a:rPr>
              <a:t>should bring it from the bag.</a:t>
            </a:r>
          </a:p>
        </p:txBody>
      </p:sp>
      <p:sp>
        <p:nvSpPr>
          <p:cNvPr id="190" name="guided-answer-two"/>
          <p:cNvSpPr txBox="1"/>
          <p:nvPr/>
        </p:nvSpPr>
        <p:spPr>
          <a:xfrm>
            <a:off x="2928730" y="5638800"/>
            <a:ext cx="3750365" cy="2186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1" b="0" i="0" u="none">
                <a:solidFill>
                  <a:srgbClr val="050505"/>
                </a:solidFill>
                <a:latin typeface="Purisa"/>
              </a:rPr>
              <a:t>&lt;/think&gt;&lt;answer&gt;B. pick up celery&lt;/answer&gt;</a:t>
            </a:r>
          </a:p>
        </p:txBody>
      </p:sp>
      <p:sp>
        <p:nvSpPr>
          <p:cNvPr id="191" name="guidance-arrow"/>
          <p:cNvSpPr/>
          <p:nvPr/>
        </p:nvSpPr>
        <p:spPr>
          <a:xfrm>
            <a:off x="980648" y="5844132"/>
            <a:ext cx="1881784" cy="185528"/>
          </a:xfrm>
          <a:custGeom>
            <a:avLst/>
            <a:gdLst/>
            <a:ahLst/>
            <a:cxnLst/>
            <a:rect l="l" t="t" r="r" b="b"/>
            <a:pathLst>
              <a:path w="284" h="28">
                <a:moveTo>
                  <a:pt x="0" y="14"/>
                </a:moveTo>
                <a:lnTo>
                  <a:pt x="16" y="0"/>
                </a:lnTo>
                <a:lnTo>
                  <a:pt x="16" y="7"/>
                </a:lnTo>
                <a:lnTo>
                  <a:pt x="284" y="7"/>
                </a:lnTo>
                <a:lnTo>
                  <a:pt x="284" y="21"/>
                </a:lnTo>
                <a:lnTo>
                  <a:pt x="16" y="21"/>
                </a:lnTo>
                <a:lnTo>
                  <a:pt x="16" y="28"/>
                </a:lnTo>
                <a:close/>
              </a:path>
            </a:pathLst>
          </a:cu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guidance-arrow-fade"/>
          <p:cNvSpPr/>
          <p:nvPr/>
        </p:nvSpPr>
        <p:spPr>
          <a:xfrm>
            <a:off x="1457739" y="5890591"/>
            <a:ext cx="1404730" cy="92765"/>
          </a:xfrm>
          <a:prstGeom prst="rect">
            <a:avLst/>
          </a:prstGeom>
          <a:solidFill>
            <a:srgbClr val="A8D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guidance-level-label"/>
          <p:cNvSpPr txBox="1"/>
          <p:nvPr/>
        </p:nvSpPr>
        <p:spPr>
          <a:xfrm>
            <a:off x="2928730" y="5844208"/>
            <a:ext cx="1524000" cy="2054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2" b="1" i="0" u="none">
                <a:solidFill>
                  <a:srgbClr val="050505"/>
                </a:solidFill>
                <a:latin typeface="DejaVu Serif"/>
              </a:rPr>
              <a:t>Guidance Level</a:t>
            </a:r>
          </a:p>
        </p:txBody>
      </p:sp>
      <p:pic>
        <p:nvPicPr>
          <p:cNvPr id="194" name="increase-source-frames-a" descr="inc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669" y="3677478"/>
            <a:ext cx="715617" cy="755373"/>
          </a:xfrm>
          <a:prstGeom prst="rect">
            <a:avLst/>
          </a:prstGeom>
          <a:effectLst/>
        </p:spPr>
      </p:pic>
      <p:sp>
        <p:nvSpPr>
          <p:cNvPr id="195" name="increase-source-ellipsis"/>
          <p:cNvSpPr txBox="1"/>
          <p:nvPr/>
        </p:nvSpPr>
        <p:spPr>
          <a:xfrm>
            <a:off x="7865165" y="3843130"/>
            <a:ext cx="278295" cy="2915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2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pic>
        <p:nvPicPr>
          <p:cNvPr id="196" name="increase-source-frames-b" descr="inc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3460" y="3677478"/>
            <a:ext cx="722243" cy="755373"/>
          </a:xfrm>
          <a:prstGeom prst="rect">
            <a:avLst/>
          </a:prstGeom>
          <a:effectLst/>
        </p:spPr>
      </p:pic>
      <p:cxnSp>
        <p:nvCxnSpPr>
          <p:cNvPr id="197" name="perturbation-branch-1-segment-1"/>
          <p:cNvCxnSpPr/>
          <p:nvPr/>
        </p:nvCxnSpPr>
        <p:spPr>
          <a:xfrm flipV="1">
            <a:off x="8865704" y="4200939"/>
            <a:ext cx="344556" cy="19878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198" name="perturbation-branch-1-segment-2"/>
          <p:cNvCxnSpPr/>
          <p:nvPr/>
        </p:nvCxnSpPr>
        <p:spPr>
          <a:xfrm flipV="1">
            <a:off x="9210260" y="4147930"/>
            <a:ext cx="278296" cy="53009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199" name="perturbation-branch-1-segment-3"/>
          <p:cNvCxnSpPr/>
          <p:nvPr/>
        </p:nvCxnSpPr>
        <p:spPr>
          <a:xfrm flipV="1">
            <a:off x="9488556" y="4081669"/>
            <a:ext cx="19878" cy="66261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200" name="perturbation-branch-1-segment-4"/>
          <p:cNvCxnSpPr/>
          <p:nvPr/>
        </p:nvCxnSpPr>
        <p:spPr>
          <a:xfrm flipV="1">
            <a:off x="9508434" y="4055165"/>
            <a:ext cx="887896" cy="26504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cxnSp>
        <p:nvCxnSpPr>
          <p:cNvPr id="201" name="perturbation-branch-2-segment-1"/>
          <p:cNvCxnSpPr/>
          <p:nvPr/>
        </p:nvCxnSpPr>
        <p:spPr>
          <a:xfrm>
            <a:off x="8865704" y="4220817"/>
            <a:ext cx="371061" cy="72887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202" name="perturbation-branch-2-segment-2"/>
          <p:cNvCxnSpPr/>
          <p:nvPr/>
        </p:nvCxnSpPr>
        <p:spPr>
          <a:xfrm>
            <a:off x="9236765" y="4293704"/>
            <a:ext cx="238539" cy="132522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203" name="perturbation-branch-2-segment-3"/>
          <p:cNvCxnSpPr/>
          <p:nvPr/>
        </p:nvCxnSpPr>
        <p:spPr>
          <a:xfrm>
            <a:off x="9475304" y="4426226"/>
            <a:ext cx="33130" cy="112643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204" name="perturbation-branch-2-segment-4"/>
          <p:cNvCxnSpPr/>
          <p:nvPr/>
        </p:nvCxnSpPr>
        <p:spPr>
          <a:xfrm>
            <a:off x="9508434" y="4538869"/>
            <a:ext cx="887896" cy="251791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cxnSp>
        <p:nvCxnSpPr>
          <p:cNvPr id="205" name="perturbation-branch-3-segment-1"/>
          <p:cNvCxnSpPr/>
          <p:nvPr/>
        </p:nvCxnSpPr>
        <p:spPr>
          <a:xfrm>
            <a:off x="8865704" y="4220817"/>
            <a:ext cx="364435" cy="132522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206" name="perturbation-branch-3-segment-2"/>
          <p:cNvCxnSpPr/>
          <p:nvPr/>
        </p:nvCxnSpPr>
        <p:spPr>
          <a:xfrm>
            <a:off x="9230139" y="4353339"/>
            <a:ext cx="245165" cy="291547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207" name="perturbation-branch-3-segment-3"/>
          <p:cNvCxnSpPr/>
          <p:nvPr/>
        </p:nvCxnSpPr>
        <p:spPr>
          <a:xfrm>
            <a:off x="9475304" y="4644886"/>
            <a:ext cx="26504" cy="311427"/>
          </a:xfrm>
          <a:prstGeom prst="line">
            <a:avLst/>
          </a:prstGeom>
          <a:ln w="19878">
            <a:solidFill>
              <a:srgbClr val="5D5D5D"/>
            </a:solidFill>
          </a:ln>
          <a:effectLst/>
        </p:spPr>
      </p:cxnSp>
      <p:cxnSp>
        <p:nvCxnSpPr>
          <p:cNvPr id="208" name="perturbation-branch-3-segment-4"/>
          <p:cNvCxnSpPr/>
          <p:nvPr/>
        </p:nvCxnSpPr>
        <p:spPr>
          <a:xfrm>
            <a:off x="9501808" y="4956313"/>
            <a:ext cx="894522" cy="569843"/>
          </a:xfrm>
          <a:prstGeom prst="line">
            <a:avLst/>
          </a:prstGeom>
          <a:ln w="19878">
            <a:solidFill>
              <a:srgbClr val="5D5D5D"/>
            </a:solidFill>
            <a:tailEnd type="triangle" w="sm" len="sm"/>
          </a:ln>
          <a:effectLst/>
        </p:spPr>
      </p:cxnSp>
      <p:pic>
        <p:nvPicPr>
          <p:cNvPr id="209" name="perturbed-1-a" descr="noise_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2956" y="3677478"/>
            <a:ext cx="715617" cy="755373"/>
          </a:xfrm>
          <a:prstGeom prst="rect">
            <a:avLst/>
          </a:prstGeom>
          <a:effectLst/>
        </p:spPr>
      </p:pic>
      <p:sp>
        <p:nvSpPr>
          <p:cNvPr id="210" name="perturbed-1-dots"/>
          <p:cNvSpPr txBox="1"/>
          <p:nvPr/>
        </p:nvSpPr>
        <p:spPr>
          <a:xfrm>
            <a:off x="11111947" y="3863008"/>
            <a:ext cx="284921" cy="2915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3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pic>
        <p:nvPicPr>
          <p:cNvPr id="211" name="perturbed-1-b" descr="noise_1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83617" y="3677478"/>
            <a:ext cx="722243" cy="755373"/>
          </a:xfrm>
          <a:prstGeom prst="rect">
            <a:avLst/>
          </a:prstGeom>
          <a:effectLst/>
        </p:spPr>
      </p:pic>
      <p:pic>
        <p:nvPicPr>
          <p:cNvPr id="212" name="perturbed-2-a" descr="noise_2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2956" y="4412973"/>
            <a:ext cx="715617" cy="755373"/>
          </a:xfrm>
          <a:prstGeom prst="rect">
            <a:avLst/>
          </a:prstGeom>
          <a:effectLst/>
        </p:spPr>
      </p:pic>
      <p:sp>
        <p:nvSpPr>
          <p:cNvPr id="213" name="perturbed-2-dots"/>
          <p:cNvSpPr txBox="1"/>
          <p:nvPr/>
        </p:nvSpPr>
        <p:spPr>
          <a:xfrm>
            <a:off x="11111947" y="4598504"/>
            <a:ext cx="284921" cy="2915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3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pic>
        <p:nvPicPr>
          <p:cNvPr id="214" name="perturbed-2-b" descr="noise_2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83617" y="4412973"/>
            <a:ext cx="722243" cy="755373"/>
          </a:xfrm>
          <a:prstGeom prst="rect">
            <a:avLst/>
          </a:prstGeom>
          <a:effectLst/>
        </p:spPr>
      </p:pic>
      <p:pic>
        <p:nvPicPr>
          <p:cNvPr id="215" name="perturbed-3-a" descr="noise_3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2956" y="5148469"/>
            <a:ext cx="715617" cy="755373"/>
          </a:xfrm>
          <a:prstGeom prst="rect">
            <a:avLst/>
          </a:prstGeom>
          <a:effectLst/>
        </p:spPr>
      </p:pic>
      <p:sp>
        <p:nvSpPr>
          <p:cNvPr id="216" name="perturbed-3-dots"/>
          <p:cNvSpPr txBox="1"/>
          <p:nvPr/>
        </p:nvSpPr>
        <p:spPr>
          <a:xfrm>
            <a:off x="11111947" y="5334000"/>
            <a:ext cx="284921" cy="2915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3" b="0" i="0" u="none">
                <a:solidFill>
                  <a:srgbClr val="050505"/>
                </a:solidFill>
                <a:latin typeface="DejaVu Sans"/>
              </a:rPr>
              <a:t>⋯</a:t>
            </a:r>
          </a:p>
        </p:txBody>
      </p:sp>
      <p:pic>
        <p:nvPicPr>
          <p:cNvPr id="217" name="perturbed-3-b" descr="noise_3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83617" y="5148469"/>
            <a:ext cx="722243" cy="755373"/>
          </a:xfrm>
          <a:prstGeom prst="rect">
            <a:avLst/>
          </a:prstGeom>
          <a:effectLst/>
        </p:spPr>
      </p:pic>
      <p:sp>
        <p:nvSpPr>
          <p:cNvPr id="218" name="delta-negative"/>
          <p:cNvSpPr txBox="1"/>
          <p:nvPr/>
        </p:nvSpPr>
        <p:spPr>
          <a:xfrm>
            <a:off x="7586869" y="4678017"/>
            <a:ext cx="1126434" cy="3511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0" b="0" i="1" u="none">
                <a:solidFill>
                  <a:srgbClr val="050505"/>
                </a:solidFill>
                <a:latin typeface="Latin Modern Math"/>
              </a:rPr>
              <a:t>Δℛ &lt; 0</a:t>
            </a:r>
          </a:p>
        </p:txBody>
      </p:sp>
      <p:sp>
        <p:nvSpPr>
          <p:cNvPr id="219" name="delta-neutral"/>
          <p:cNvSpPr txBox="1"/>
          <p:nvPr/>
        </p:nvSpPr>
        <p:spPr>
          <a:xfrm>
            <a:off x="7586869" y="5082208"/>
            <a:ext cx="1126434" cy="3511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0" b="0" i="1" u="none">
                <a:solidFill>
                  <a:srgbClr val="050505"/>
                </a:solidFill>
                <a:latin typeface="Latin Modern Math"/>
              </a:rPr>
              <a:t>Δℛ ≈ 0</a:t>
            </a:r>
          </a:p>
        </p:txBody>
      </p:sp>
      <p:sp>
        <p:nvSpPr>
          <p:cNvPr id="220" name="delta-positive"/>
          <p:cNvSpPr txBox="1"/>
          <p:nvPr/>
        </p:nvSpPr>
        <p:spPr>
          <a:xfrm>
            <a:off x="7586869" y="5486400"/>
            <a:ext cx="1126434" cy="3511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0" b="0" i="1" u="none">
                <a:solidFill>
                  <a:srgbClr val="050505"/>
                </a:solidFill>
                <a:latin typeface="Latin Modern Math"/>
              </a:rPr>
              <a:t>Δℛ &gt; 0</a:t>
            </a:r>
          </a:p>
        </p:txBody>
      </p:sp>
      <p:sp>
        <p:nvSpPr>
          <p:cNvPr id="221" name="reward-order-red"/>
          <p:cNvSpPr/>
          <p:nvPr/>
        </p:nvSpPr>
        <p:spPr>
          <a:xfrm>
            <a:off x="9011478" y="4731026"/>
            <a:ext cx="79513" cy="1099930"/>
          </a:xfrm>
          <a:prstGeom prst="rect">
            <a:avLst/>
          </a:prstGeom>
          <a:solidFill>
            <a:srgbClr val="FFCB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ward-order-red-head"/>
          <p:cNvSpPr/>
          <p:nvPr/>
        </p:nvSpPr>
        <p:spPr>
          <a:xfrm>
            <a:off x="8925222" y="5830880"/>
            <a:ext cx="251788" cy="145772"/>
          </a:xfrm>
          <a:custGeom>
            <a:avLst/>
            <a:gdLst/>
            <a:ahLst/>
            <a:cxnLst/>
            <a:rect l="l" t="t" r="r" b="b"/>
            <a:pathLst>
              <a:path w="38" h="22">
                <a:moveTo>
                  <a:pt x="0" y="0"/>
                </a:moveTo>
                <a:lnTo>
                  <a:pt x="38" y="0"/>
                </a:lnTo>
                <a:lnTo>
                  <a:pt x="19" y="22"/>
                </a:lnTo>
                <a:close/>
              </a:path>
            </a:pathLst>
          </a:custGeom>
          <a:solidFill>
            <a:srgbClr val="F51E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ward-order-green"/>
          <p:cNvSpPr/>
          <p:nvPr/>
        </p:nvSpPr>
        <p:spPr>
          <a:xfrm>
            <a:off x="9216886" y="4843669"/>
            <a:ext cx="79513" cy="1099930"/>
          </a:xfrm>
          <a:prstGeom prst="rect">
            <a:avLst/>
          </a:prstGeom>
          <a:solidFill>
            <a:srgbClr val="80DC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ward-order-green-head"/>
          <p:cNvSpPr/>
          <p:nvPr/>
        </p:nvSpPr>
        <p:spPr>
          <a:xfrm>
            <a:off x="9137254" y="4717712"/>
            <a:ext cx="238536" cy="125894"/>
          </a:xfrm>
          <a:custGeom>
            <a:avLst/>
            <a:gdLst/>
            <a:ahLst/>
            <a:cxnLst/>
            <a:rect l="l" t="t" r="r" b="b"/>
            <a:pathLst>
              <a:path w="36" h="19">
                <a:moveTo>
                  <a:pt x="0" y="19"/>
                </a:moveTo>
                <a:lnTo>
                  <a:pt x="36" y="19"/>
                </a:lnTo>
                <a:lnTo>
                  <a:pt x="18" y="0"/>
                </a:lnTo>
                <a:close/>
              </a:path>
            </a:pathLst>
          </a:custGeom>
          <a:solidFill>
            <a:srgbClr val="08B5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perturbation-level-bar"/>
          <p:cNvSpPr/>
          <p:nvPr/>
        </p:nvSpPr>
        <p:spPr>
          <a:xfrm>
            <a:off x="12231756" y="3750365"/>
            <a:ext cx="112643" cy="1948069"/>
          </a:xfrm>
          <a:prstGeom prst="rect">
            <a:avLst/>
          </a:prstGeom>
          <a:solidFill>
            <a:srgbClr val="FFD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perturbation-level-lower"/>
          <p:cNvSpPr/>
          <p:nvPr/>
        </p:nvSpPr>
        <p:spPr>
          <a:xfrm>
            <a:off x="12231756" y="4837043"/>
            <a:ext cx="112643" cy="947530"/>
          </a:xfrm>
          <a:prstGeom prst="rect">
            <a:avLst/>
          </a:prstGeom>
          <a:solidFill>
            <a:srgbClr val="FF44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perturbation-level-head"/>
          <p:cNvSpPr/>
          <p:nvPr/>
        </p:nvSpPr>
        <p:spPr>
          <a:xfrm>
            <a:off x="12145458" y="5777872"/>
            <a:ext cx="284918" cy="152398"/>
          </a:xfrm>
          <a:custGeom>
            <a:avLst/>
            <a:gdLst/>
            <a:ahLst/>
            <a:cxnLst/>
            <a:rect l="l" t="t" r="r" b="b"/>
            <a:pathLst>
              <a:path w="43" h="23">
                <a:moveTo>
                  <a:pt x="0" y="0"/>
                </a:moveTo>
                <a:lnTo>
                  <a:pt x="43" y="0"/>
                </a:lnTo>
                <a:lnTo>
                  <a:pt x="21" y="23"/>
                </a:lnTo>
                <a:close/>
              </a:path>
            </a:pathLst>
          </a:custGeom>
          <a:solidFill>
            <a:srgbClr val="F51E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perturbation-level-label"/>
          <p:cNvSpPr txBox="1"/>
          <p:nvPr/>
        </p:nvSpPr>
        <p:spPr>
          <a:xfrm rot="5400000">
            <a:off x="12417286" y="3909391"/>
            <a:ext cx="298173" cy="1722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2" b="1" i="0" u="none">
                <a:solidFill>
                  <a:srgbClr val="050505"/>
                </a:solidFill>
                <a:latin typeface="DejaVu Serif"/>
              </a:rPr>
              <a:t>Perturbation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eepVideo-R1 Video Reinforcement Fine-Tuning via Difficulty-aware Regressive GRPO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599" cy="60496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DeepVideo-R1 difficulty-aware regressive GRPO diagram</dc:title>
  <dc:subject>Editable reconstruction from the supplied reference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