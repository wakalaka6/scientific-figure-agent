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6535399" cy="96964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age background 1"/>
          <p:cNvSpPr/>
          <p:nvPr/>
        </p:nvSpPr>
        <p:spPr>
          <a:xfrm>
            <a:off x="0" y="0"/>
            <a:ext cx="16535400" cy="96964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nel a shadow 2"/>
          <p:cNvSpPr/>
          <p:nvPr/>
        </p:nvSpPr>
        <p:spPr>
          <a:xfrm>
            <a:off x="104775" y="542925"/>
            <a:ext cx="9982200" cy="2809875"/>
          </a:xfrm>
          <a:prstGeom prst="rect">
            <a:avLst/>
          </a:prstGeom>
          <a:solidFill>
            <a:srgbClr val="CACA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nel b shared background 3"/>
          <p:cNvSpPr/>
          <p:nvPr/>
        </p:nvSpPr>
        <p:spPr>
          <a:xfrm>
            <a:off x="10153650" y="495300"/>
            <a:ext cx="6353175" cy="4467225"/>
          </a:xfrm>
          <a:prstGeom prst="rect">
            <a:avLst/>
          </a:prstGeom>
          <a:solidFill>
            <a:srgbClr val="E3EF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middle shared background 4"/>
          <p:cNvSpPr/>
          <p:nvPr/>
        </p:nvSpPr>
        <p:spPr>
          <a:xfrm>
            <a:off x="3038475" y="3314700"/>
            <a:ext cx="13468350" cy="1647825"/>
          </a:xfrm>
          <a:prstGeom prst="rect">
            <a:avLst/>
          </a:prstGeom>
          <a:solidFill>
            <a:srgbClr val="E3EF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anel c background 5"/>
          <p:cNvSpPr/>
          <p:nvPr/>
        </p:nvSpPr>
        <p:spPr>
          <a:xfrm>
            <a:off x="66675" y="5038725"/>
            <a:ext cx="16440150" cy="4286250"/>
          </a:xfrm>
          <a:prstGeom prst="rect">
            <a:avLst/>
          </a:prstGeom>
          <a:solidFill>
            <a:srgbClr val="FFF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anel a background 6"/>
          <p:cNvSpPr/>
          <p:nvPr/>
        </p:nvSpPr>
        <p:spPr>
          <a:xfrm>
            <a:off x="66675" y="495300"/>
            <a:ext cx="9982200" cy="2809875"/>
          </a:xfrm>
          <a:prstGeom prst="rect">
            <a:avLst/>
          </a:prstGeom>
          <a:solidFill>
            <a:srgbClr val="EBD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anel c left tint 7"/>
          <p:cNvSpPr/>
          <p:nvPr/>
        </p:nvSpPr>
        <p:spPr>
          <a:xfrm>
            <a:off x="66675" y="5038725"/>
            <a:ext cx="6029325" cy="4286250"/>
          </a:xfrm>
          <a:prstGeom prst="rect">
            <a:avLst/>
          </a:prstGeom>
          <a:solidFill>
            <a:srgbClr val="FDE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ecoder refinement group 8"/>
          <p:cNvSpPr/>
          <p:nvPr/>
        </p:nvSpPr>
        <p:spPr>
          <a:xfrm>
            <a:off x="6096000" y="6553200"/>
            <a:ext cx="7334250" cy="2419350"/>
          </a:xfrm>
          <a:prstGeom prst="roundRect">
            <a:avLst>
              <a:gd name="adj" fmla="val 7086"/>
            </a:avLst>
          </a:prstGeom>
          <a:solidFill>
            <a:srgbClr val="FAD4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source to encoder segment 1"/>
          <p:cNvCxnSpPr/>
          <p:nvPr/>
        </p:nvCxnSpPr>
        <p:spPr>
          <a:xfrm>
            <a:off x="2466975" y="1495425"/>
            <a:ext cx="266700" cy="0"/>
          </a:xfrm>
          <a:prstGeom prst="line">
            <a:avLst/>
          </a:prstGeom>
          <a:ln w="23812">
            <a:solidFill>
              <a:srgbClr val="10101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encoder to latent segment 1"/>
          <p:cNvCxnSpPr/>
          <p:nvPr/>
        </p:nvCxnSpPr>
        <p:spPr>
          <a:xfrm>
            <a:off x="3514725" y="1495425"/>
            <a:ext cx="476250" cy="0"/>
          </a:xfrm>
          <a:prstGeom prst="line">
            <a:avLst/>
          </a:prstGeom>
          <a:ln w="23812">
            <a:solidFill>
              <a:srgbClr val="10101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latent to noise segment 1"/>
          <p:cNvCxnSpPr/>
          <p:nvPr/>
        </p:nvCxnSpPr>
        <p:spPr>
          <a:xfrm>
            <a:off x="4448175" y="1495425"/>
            <a:ext cx="485775" cy="0"/>
          </a:xfrm>
          <a:prstGeom prst="line">
            <a:avLst/>
          </a:prstGeom>
          <a:ln w="23812">
            <a:solidFill>
              <a:srgbClr val="10101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noise branch t segment 1"/>
          <p:cNvCxnSpPr/>
          <p:nvPr/>
        </p:nvCxnSpPr>
        <p:spPr>
          <a:xfrm>
            <a:off x="5400675" y="1495425"/>
            <a:ext cx="990600" cy="0"/>
          </a:xfrm>
          <a:prstGeom prst="line">
            <a:avLst/>
          </a:prstGeom>
          <a:ln w="38100">
            <a:solidFill>
              <a:srgbClr val="69B7C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noise branch t prime segment 1"/>
          <p:cNvCxnSpPr/>
          <p:nvPr/>
        </p:nvCxnSpPr>
        <p:spPr>
          <a:xfrm>
            <a:off x="5657850" y="1495425"/>
            <a:ext cx="0" cy="904875"/>
          </a:xfrm>
          <a:prstGeom prst="line">
            <a:avLst/>
          </a:prstGeom>
          <a:ln w="38100">
            <a:solidFill>
              <a:srgbClr val="2D6B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noise branch t prime segment 2"/>
          <p:cNvCxnSpPr/>
          <p:nvPr/>
        </p:nvCxnSpPr>
        <p:spPr>
          <a:xfrm>
            <a:off x="5657850" y="2400300"/>
            <a:ext cx="1085850" cy="0"/>
          </a:xfrm>
          <a:prstGeom prst="line">
            <a:avLst/>
          </a:prstGeom>
          <a:ln w="38100">
            <a:solidFill>
              <a:srgbClr val="2D6B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noise branch t prime segment 3"/>
          <p:cNvCxnSpPr/>
          <p:nvPr/>
        </p:nvCxnSpPr>
        <p:spPr>
          <a:xfrm flipV="1">
            <a:off x="6743700" y="2019300"/>
            <a:ext cx="0" cy="381000"/>
          </a:xfrm>
          <a:prstGeom prst="line">
            <a:avLst/>
          </a:prstGeom>
          <a:ln w="38100">
            <a:solidFill>
              <a:srgbClr val="2D6B7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noisy latent to diffusion segment 1"/>
          <p:cNvCxnSpPr/>
          <p:nvPr/>
        </p:nvCxnSpPr>
        <p:spPr>
          <a:xfrm>
            <a:off x="7181850" y="1504950"/>
            <a:ext cx="419100" cy="0"/>
          </a:xfrm>
          <a:prstGeom prst="line">
            <a:avLst/>
          </a:prstGeom>
          <a:ln w="36194">
            <a:solidFill>
              <a:srgbClr val="2D6B7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diffusion top conditioning segment 1"/>
          <p:cNvCxnSpPr/>
          <p:nvPr/>
        </p:nvCxnSpPr>
        <p:spPr>
          <a:xfrm flipV="1">
            <a:off x="6819900" y="714375"/>
            <a:ext cx="0" cy="219075"/>
          </a:xfrm>
          <a:prstGeom prst="line">
            <a:avLst/>
          </a:prstGeom>
          <a:ln w="38100">
            <a:solidFill>
              <a:srgbClr val="69B7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diffusion top conditioning segment 2"/>
          <p:cNvCxnSpPr/>
          <p:nvPr/>
        </p:nvCxnSpPr>
        <p:spPr>
          <a:xfrm>
            <a:off x="6819900" y="714375"/>
            <a:ext cx="1609725" cy="0"/>
          </a:xfrm>
          <a:prstGeom prst="line">
            <a:avLst/>
          </a:prstGeom>
          <a:ln w="38100">
            <a:solidFill>
              <a:srgbClr val="69B7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diffusion top conditioning segment 3"/>
          <p:cNvCxnSpPr/>
          <p:nvPr/>
        </p:nvCxnSpPr>
        <p:spPr>
          <a:xfrm>
            <a:off x="8429625" y="714375"/>
            <a:ext cx="0" cy="447675"/>
          </a:xfrm>
          <a:prstGeom prst="line">
            <a:avLst/>
          </a:prstGeom>
          <a:ln w="38100">
            <a:solidFill>
              <a:srgbClr val="69B7C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dual top to aggregation segment 1"/>
          <p:cNvCxnSpPr/>
          <p:nvPr/>
        </p:nvCxnSpPr>
        <p:spPr>
          <a:xfrm>
            <a:off x="5057775" y="2867025"/>
            <a:ext cx="695325" cy="0"/>
          </a:xfrm>
          <a:prstGeom prst="line">
            <a:avLst/>
          </a:prstGeom>
          <a:ln w="32384">
            <a:solidFill>
              <a:srgbClr val="69B7C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dual bottom to aggregation segment 1"/>
          <p:cNvCxnSpPr/>
          <p:nvPr/>
        </p:nvCxnSpPr>
        <p:spPr>
          <a:xfrm>
            <a:off x="5057775" y="3733800"/>
            <a:ext cx="371475" cy="0"/>
          </a:xfrm>
          <a:prstGeom prst="line">
            <a:avLst/>
          </a:prstGeom>
          <a:ln w="32384">
            <a:solidFill>
              <a:srgbClr val="2D6B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dual bottom to aggregation segment 2"/>
          <p:cNvCxnSpPr/>
          <p:nvPr/>
        </p:nvCxnSpPr>
        <p:spPr>
          <a:xfrm flipV="1">
            <a:off x="5429250" y="3105150"/>
            <a:ext cx="0" cy="628650"/>
          </a:xfrm>
          <a:prstGeom prst="line">
            <a:avLst/>
          </a:prstGeom>
          <a:ln w="32384">
            <a:solidFill>
              <a:srgbClr val="2D6B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dual bottom to aggregation segment 3"/>
          <p:cNvCxnSpPr/>
          <p:nvPr/>
        </p:nvCxnSpPr>
        <p:spPr>
          <a:xfrm>
            <a:off x="5429250" y="3105150"/>
            <a:ext cx="323850" cy="0"/>
          </a:xfrm>
          <a:prstGeom prst="line">
            <a:avLst/>
          </a:prstGeom>
          <a:ln w="32384">
            <a:solidFill>
              <a:srgbClr val="2D6B7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diffusion light output segment 1"/>
          <p:cNvCxnSpPr/>
          <p:nvPr/>
        </p:nvCxnSpPr>
        <p:spPr>
          <a:xfrm>
            <a:off x="8020050" y="2000250"/>
            <a:ext cx="0" cy="647700"/>
          </a:xfrm>
          <a:prstGeom prst="line">
            <a:avLst/>
          </a:prstGeom>
          <a:ln w="33337">
            <a:solidFill>
              <a:srgbClr val="69B7C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diffusion dark output segment 1"/>
          <p:cNvCxnSpPr/>
          <p:nvPr/>
        </p:nvCxnSpPr>
        <p:spPr>
          <a:xfrm>
            <a:off x="8934450" y="2000250"/>
            <a:ext cx="0" cy="647700"/>
          </a:xfrm>
          <a:prstGeom prst="line">
            <a:avLst/>
          </a:prstGeom>
          <a:ln w="33337">
            <a:solidFill>
              <a:srgbClr val="2D6B7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aggregation to q ins segment 1"/>
          <p:cNvCxnSpPr/>
          <p:nvPr/>
        </p:nvCxnSpPr>
        <p:spPr>
          <a:xfrm>
            <a:off x="6572250" y="3114675"/>
            <a:ext cx="0" cy="552450"/>
          </a:xfrm>
          <a:prstGeom prst="line">
            <a:avLst/>
          </a:prstGeom>
          <a:ln w="34290">
            <a:solidFill>
              <a:srgbClr val="69B7C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aggregation to q prime segment 1"/>
          <p:cNvCxnSpPr/>
          <p:nvPr/>
        </p:nvCxnSpPr>
        <p:spPr>
          <a:xfrm>
            <a:off x="8753475" y="3114675"/>
            <a:ext cx="0" cy="552450"/>
          </a:xfrm>
          <a:prstGeom prst="line">
            <a:avLst/>
          </a:prstGeom>
          <a:ln w="34290">
            <a:solidFill>
              <a:srgbClr val="2D6B7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q ins to pca segment 1"/>
          <p:cNvCxnSpPr/>
          <p:nvPr/>
        </p:nvCxnSpPr>
        <p:spPr>
          <a:xfrm>
            <a:off x="6572250" y="4095750"/>
            <a:ext cx="0" cy="314325"/>
          </a:xfrm>
          <a:prstGeom prst="line">
            <a:avLst/>
          </a:prstGeom>
          <a:ln w="33337">
            <a:solidFill>
              <a:srgbClr val="69B7C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q prime to pca segment 1"/>
          <p:cNvCxnSpPr/>
          <p:nvPr/>
        </p:nvCxnSpPr>
        <p:spPr>
          <a:xfrm>
            <a:off x="8753475" y="4095750"/>
            <a:ext cx="0" cy="314325"/>
          </a:xfrm>
          <a:prstGeom prst="line">
            <a:avLst/>
          </a:prstGeom>
          <a:ln w="33337">
            <a:solidFill>
              <a:srgbClr val="2D6B7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header queries to svd segment 1"/>
          <p:cNvCxnSpPr/>
          <p:nvPr/>
        </p:nvCxnSpPr>
        <p:spPr>
          <a:xfrm>
            <a:off x="11991975" y="1057275"/>
            <a:ext cx="0" cy="285750"/>
          </a:xfrm>
          <a:prstGeom prst="line">
            <a:avLst/>
          </a:prstGeom>
          <a:ln w="26669">
            <a:solidFill>
              <a:srgbClr val="10101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vd down to quantized segment 1"/>
          <p:cNvCxnSpPr/>
          <p:nvPr/>
        </p:nvCxnSpPr>
        <p:spPr>
          <a:xfrm>
            <a:off x="15106650" y="2771775"/>
            <a:ext cx="0" cy="276225"/>
          </a:xfrm>
          <a:prstGeom prst="line">
            <a:avLst/>
          </a:prstGeom>
          <a:ln w="26669">
            <a:solidFill>
              <a:srgbClr val="10101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pca dark route segment 1"/>
          <p:cNvCxnSpPr/>
          <p:nvPr/>
        </p:nvCxnSpPr>
        <p:spPr>
          <a:xfrm>
            <a:off x="9696450" y="4648200"/>
            <a:ext cx="238125" cy="0"/>
          </a:xfrm>
          <a:prstGeom prst="line">
            <a:avLst/>
          </a:prstGeom>
          <a:ln w="35242">
            <a:solidFill>
              <a:srgbClr val="2D6B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pca dark route segment 2"/>
          <p:cNvCxnSpPr/>
          <p:nvPr/>
        </p:nvCxnSpPr>
        <p:spPr>
          <a:xfrm flipV="1">
            <a:off x="9934575" y="3771900"/>
            <a:ext cx="0" cy="876300"/>
          </a:xfrm>
          <a:prstGeom prst="line">
            <a:avLst/>
          </a:prstGeom>
          <a:ln w="35242">
            <a:solidFill>
              <a:srgbClr val="2D6B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pca dark route segment 3"/>
          <p:cNvCxnSpPr/>
          <p:nvPr/>
        </p:nvCxnSpPr>
        <p:spPr>
          <a:xfrm>
            <a:off x="9934575" y="3771900"/>
            <a:ext cx="5743575" cy="0"/>
          </a:xfrm>
          <a:prstGeom prst="line">
            <a:avLst/>
          </a:prstGeom>
          <a:ln w="35242">
            <a:solidFill>
              <a:srgbClr val="2D6B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pca dark route segment 4"/>
          <p:cNvCxnSpPr/>
          <p:nvPr/>
        </p:nvCxnSpPr>
        <p:spPr>
          <a:xfrm>
            <a:off x="15678150" y="3771900"/>
            <a:ext cx="0" cy="190500"/>
          </a:xfrm>
          <a:prstGeom prst="line">
            <a:avLst/>
          </a:prstGeom>
          <a:ln w="35242">
            <a:solidFill>
              <a:srgbClr val="2D6B7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pca light route segment 1"/>
          <p:cNvCxnSpPr/>
          <p:nvPr/>
        </p:nvCxnSpPr>
        <p:spPr>
          <a:xfrm>
            <a:off x="9696450" y="4829175"/>
            <a:ext cx="457200" cy="0"/>
          </a:xfrm>
          <a:prstGeom prst="line">
            <a:avLst/>
          </a:prstGeom>
          <a:ln w="35242">
            <a:solidFill>
              <a:srgbClr val="69B7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pca light route segment 2"/>
          <p:cNvCxnSpPr/>
          <p:nvPr/>
        </p:nvCxnSpPr>
        <p:spPr>
          <a:xfrm flipV="1">
            <a:off x="10153650" y="4400550"/>
            <a:ext cx="0" cy="428625"/>
          </a:xfrm>
          <a:prstGeom prst="line">
            <a:avLst/>
          </a:prstGeom>
          <a:ln w="35242">
            <a:solidFill>
              <a:srgbClr val="69B7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pca light route segment 3"/>
          <p:cNvCxnSpPr/>
          <p:nvPr/>
        </p:nvCxnSpPr>
        <p:spPr>
          <a:xfrm>
            <a:off x="10153650" y="4400550"/>
            <a:ext cx="304800" cy="0"/>
          </a:xfrm>
          <a:prstGeom prst="line">
            <a:avLst/>
          </a:prstGeom>
          <a:ln w="35242">
            <a:solidFill>
              <a:srgbClr val="69B7C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q ins pc to mlp segment 1"/>
          <p:cNvCxnSpPr/>
          <p:nvPr/>
        </p:nvCxnSpPr>
        <p:spPr>
          <a:xfrm>
            <a:off x="11982450" y="4248150"/>
            <a:ext cx="304800" cy="0"/>
          </a:xfrm>
          <a:prstGeom prst="line">
            <a:avLst/>
          </a:prstGeom>
          <a:ln w="30480">
            <a:solidFill>
              <a:srgbClr val="69B7C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mlp to consistency segment 1"/>
          <p:cNvCxnSpPr/>
          <p:nvPr/>
        </p:nvCxnSpPr>
        <p:spPr>
          <a:xfrm>
            <a:off x="13154025" y="4248150"/>
            <a:ext cx="200025" cy="0"/>
          </a:xfrm>
          <a:prstGeom prst="line">
            <a:avLst/>
          </a:prstGeom>
          <a:ln w="30480">
            <a:solidFill>
              <a:srgbClr val="69B7C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q prime pc to consistency segment 1"/>
          <p:cNvCxnSpPr/>
          <p:nvPr/>
        </p:nvCxnSpPr>
        <p:spPr>
          <a:xfrm flipH="1">
            <a:off x="14535150" y="4248150"/>
            <a:ext cx="371475" cy="0"/>
          </a:xfrm>
          <a:prstGeom prst="line">
            <a:avLst/>
          </a:prstGeom>
          <a:ln w="30480">
            <a:solidFill>
              <a:srgbClr val="2D6B7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point cloud to backbone segment 1"/>
          <p:cNvCxnSpPr/>
          <p:nvPr/>
        </p:nvCxnSpPr>
        <p:spPr>
          <a:xfrm>
            <a:off x="2324100" y="7762875"/>
            <a:ext cx="352425" cy="0"/>
          </a:xfrm>
          <a:prstGeom prst="line">
            <a:avLst/>
          </a:prstGeom>
          <a:ln w="23812">
            <a:solidFill>
              <a:srgbClr val="10101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backbone layer 1 to dots segment 1"/>
          <p:cNvCxnSpPr/>
          <p:nvPr/>
        </p:nvCxnSpPr>
        <p:spPr>
          <a:xfrm>
            <a:off x="3257550" y="7762875"/>
            <a:ext cx="304800" cy="0"/>
          </a:xfrm>
          <a:prstGeom prst="line">
            <a:avLst/>
          </a:prstGeom>
          <a:ln w="20955">
            <a:solidFill>
              <a:srgbClr val="10101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backbone dots to layer L segment 1"/>
          <p:cNvCxnSpPr/>
          <p:nvPr/>
        </p:nvCxnSpPr>
        <p:spPr>
          <a:xfrm>
            <a:off x="4038600" y="7762875"/>
            <a:ext cx="247650" cy="0"/>
          </a:xfrm>
          <a:prstGeom prst="line">
            <a:avLst/>
          </a:prstGeom>
          <a:ln w="20955">
            <a:solidFill>
              <a:srgbClr val="10101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backbone to feature stack segment 1"/>
          <p:cNvCxnSpPr/>
          <p:nvPr/>
        </p:nvCxnSpPr>
        <p:spPr>
          <a:xfrm>
            <a:off x="4686300" y="7762875"/>
            <a:ext cx="628650" cy="0"/>
          </a:xfrm>
          <a:prstGeom prst="line">
            <a:avLst/>
          </a:prstGeom>
          <a:ln w="23812">
            <a:solidFill>
              <a:srgbClr val="10101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3d queries to aggregation segment 1"/>
          <p:cNvCxnSpPr/>
          <p:nvPr/>
        </p:nvCxnSpPr>
        <p:spPr>
          <a:xfrm>
            <a:off x="3838575" y="5781675"/>
            <a:ext cx="0" cy="200025"/>
          </a:xfrm>
          <a:prstGeom prst="line">
            <a:avLst/>
          </a:prstGeom>
          <a:ln w="23812">
            <a:solidFill>
              <a:srgbClr val="10101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backbone feature to aggregation 1 segment 1"/>
          <p:cNvCxnSpPr/>
          <p:nvPr/>
        </p:nvCxnSpPr>
        <p:spPr>
          <a:xfrm flipV="1">
            <a:off x="3067050" y="6448425"/>
            <a:ext cx="0" cy="400050"/>
          </a:xfrm>
          <a:prstGeom prst="line">
            <a:avLst/>
          </a:prstGeom>
          <a:ln w="23812">
            <a:solidFill>
              <a:srgbClr val="10101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backbone feature to aggregation L segment 1"/>
          <p:cNvCxnSpPr/>
          <p:nvPr/>
        </p:nvCxnSpPr>
        <p:spPr>
          <a:xfrm flipV="1">
            <a:off x="4486275" y="6448425"/>
            <a:ext cx="0" cy="400050"/>
          </a:xfrm>
          <a:prstGeom prst="line">
            <a:avLst/>
          </a:prstGeom>
          <a:ln w="23812">
            <a:solidFill>
              <a:srgbClr val="10101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3d aggregation output segment 1"/>
          <p:cNvCxnSpPr/>
          <p:nvPr/>
        </p:nvCxnSpPr>
        <p:spPr>
          <a:xfrm>
            <a:off x="5981700" y="6210300"/>
            <a:ext cx="685800" cy="0"/>
          </a:xfrm>
          <a:prstGeom prst="line">
            <a:avLst/>
          </a:prstGeom>
          <a:ln w="25717">
            <a:solidFill>
              <a:srgbClr val="10101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q3d to first refinement segment 1"/>
          <p:cNvCxnSpPr/>
          <p:nvPr/>
        </p:nvCxnSpPr>
        <p:spPr>
          <a:xfrm>
            <a:off x="7286625" y="6448425"/>
            <a:ext cx="0" cy="257175"/>
          </a:xfrm>
          <a:prstGeom prst="line">
            <a:avLst/>
          </a:prstGeom>
          <a:ln w="24765">
            <a:solidFill>
              <a:srgbClr val="10101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feature split upper segment 1"/>
          <p:cNvCxnSpPr/>
          <p:nvPr/>
        </p:nvCxnSpPr>
        <p:spPr>
          <a:xfrm>
            <a:off x="5667375" y="7486650"/>
            <a:ext cx="333375" cy="0"/>
          </a:xfrm>
          <a:prstGeom prst="line">
            <a:avLst/>
          </a:prstGeom>
          <a:ln w="23812">
            <a:solidFill>
              <a:srgbClr val="1010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feature split upper segment 2"/>
          <p:cNvCxnSpPr/>
          <p:nvPr/>
        </p:nvCxnSpPr>
        <p:spPr>
          <a:xfrm flipV="1">
            <a:off x="6000750" y="7019925"/>
            <a:ext cx="0" cy="466725"/>
          </a:xfrm>
          <a:prstGeom prst="line">
            <a:avLst/>
          </a:prstGeom>
          <a:ln w="23812">
            <a:solidFill>
              <a:srgbClr val="1010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feature split upper segment 3"/>
          <p:cNvCxnSpPr/>
          <p:nvPr/>
        </p:nvCxnSpPr>
        <p:spPr>
          <a:xfrm>
            <a:off x="6000750" y="7019925"/>
            <a:ext cx="333375" cy="0"/>
          </a:xfrm>
          <a:prstGeom prst="line">
            <a:avLst/>
          </a:prstGeom>
          <a:ln w="23812">
            <a:solidFill>
              <a:srgbClr val="10101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feature split lower segment 1"/>
          <p:cNvCxnSpPr/>
          <p:nvPr/>
        </p:nvCxnSpPr>
        <p:spPr>
          <a:xfrm>
            <a:off x="5667375" y="8058150"/>
            <a:ext cx="333375" cy="0"/>
          </a:xfrm>
          <a:prstGeom prst="line">
            <a:avLst/>
          </a:prstGeom>
          <a:ln w="23812">
            <a:solidFill>
              <a:srgbClr val="1010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feature split lower segment 2"/>
          <p:cNvCxnSpPr/>
          <p:nvPr/>
        </p:nvCxnSpPr>
        <p:spPr>
          <a:xfrm>
            <a:off x="6000750" y="8058150"/>
            <a:ext cx="0" cy="628650"/>
          </a:xfrm>
          <a:prstGeom prst="line">
            <a:avLst/>
          </a:prstGeom>
          <a:ln w="23812">
            <a:solidFill>
              <a:srgbClr val="1010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feature split lower segment 3"/>
          <p:cNvCxnSpPr/>
          <p:nvPr/>
        </p:nvCxnSpPr>
        <p:spPr>
          <a:xfrm>
            <a:off x="6000750" y="8686800"/>
            <a:ext cx="333375" cy="0"/>
          </a:xfrm>
          <a:prstGeom prst="line">
            <a:avLst/>
          </a:prstGeom>
          <a:ln w="23812">
            <a:solidFill>
              <a:srgbClr val="10101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refinement 1 shared up segment 1"/>
          <p:cNvCxnSpPr/>
          <p:nvPr/>
        </p:nvCxnSpPr>
        <p:spPr>
          <a:xfrm flipV="1">
            <a:off x="6486525" y="7334250"/>
            <a:ext cx="0" cy="1038225"/>
          </a:xfrm>
          <a:prstGeom prst="line">
            <a:avLst/>
          </a:prstGeom>
          <a:ln w="25717">
            <a:solidFill>
              <a:srgbClr val="A6A6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refinement 1 shared down segment 1"/>
          <p:cNvCxnSpPr/>
          <p:nvPr/>
        </p:nvCxnSpPr>
        <p:spPr>
          <a:xfrm>
            <a:off x="6677025" y="7334250"/>
            <a:ext cx="0" cy="1038225"/>
          </a:xfrm>
          <a:prstGeom prst="line">
            <a:avLst/>
          </a:prstGeom>
          <a:ln w="25717">
            <a:solidFill>
              <a:srgbClr val="A6A6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refinement 1 upper to loss segment 1"/>
          <p:cNvCxnSpPr/>
          <p:nvPr/>
        </p:nvCxnSpPr>
        <p:spPr>
          <a:xfrm>
            <a:off x="7781925" y="7334250"/>
            <a:ext cx="0" cy="180975"/>
          </a:xfrm>
          <a:prstGeom prst="line">
            <a:avLst/>
          </a:prstGeom>
          <a:ln w="21907">
            <a:solidFill>
              <a:srgbClr val="10101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refinement 1 lower to loss segment 1"/>
          <p:cNvCxnSpPr/>
          <p:nvPr/>
        </p:nvCxnSpPr>
        <p:spPr>
          <a:xfrm flipV="1">
            <a:off x="7781925" y="8001000"/>
            <a:ext cx="0" cy="371475"/>
          </a:xfrm>
          <a:prstGeom prst="line">
            <a:avLst/>
          </a:prstGeom>
          <a:ln w="21907">
            <a:solidFill>
              <a:srgbClr val="10101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refinement 1 to token stack segment 1"/>
          <p:cNvCxnSpPr/>
          <p:nvPr/>
        </p:nvCxnSpPr>
        <p:spPr>
          <a:xfrm>
            <a:off x="8267700" y="7019925"/>
            <a:ext cx="400050" cy="0"/>
          </a:xfrm>
          <a:prstGeom prst="line">
            <a:avLst/>
          </a:prstGeom>
          <a:ln w="23812">
            <a:solidFill>
              <a:srgbClr val="10101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decoder intermediate segment 1"/>
          <p:cNvCxnSpPr/>
          <p:nvPr/>
        </p:nvCxnSpPr>
        <p:spPr>
          <a:xfrm>
            <a:off x="9029700" y="7019925"/>
            <a:ext cx="361950" cy="0"/>
          </a:xfrm>
          <a:prstGeom prst="line">
            <a:avLst/>
          </a:prstGeom>
          <a:ln w="22859">
            <a:solidFill>
              <a:srgbClr val="10101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decoder intermediate to refinement segment 1"/>
          <p:cNvCxnSpPr/>
          <p:nvPr/>
        </p:nvCxnSpPr>
        <p:spPr>
          <a:xfrm>
            <a:off x="9791700" y="7019925"/>
            <a:ext cx="238125" cy="0"/>
          </a:xfrm>
          <a:prstGeom prst="line">
            <a:avLst/>
          </a:prstGeom>
          <a:ln w="22859">
            <a:solidFill>
              <a:srgbClr val="10101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refinement S shared up segment 1"/>
          <p:cNvCxnSpPr/>
          <p:nvPr/>
        </p:nvCxnSpPr>
        <p:spPr>
          <a:xfrm flipV="1">
            <a:off x="10210800" y="7334250"/>
            <a:ext cx="0" cy="942975"/>
          </a:xfrm>
          <a:prstGeom prst="line">
            <a:avLst/>
          </a:prstGeom>
          <a:ln w="25717">
            <a:solidFill>
              <a:srgbClr val="A6A6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refinement S shared down segment 1"/>
          <p:cNvCxnSpPr/>
          <p:nvPr/>
        </p:nvCxnSpPr>
        <p:spPr>
          <a:xfrm>
            <a:off x="10401300" y="7334250"/>
            <a:ext cx="0" cy="942975"/>
          </a:xfrm>
          <a:prstGeom prst="line">
            <a:avLst/>
          </a:prstGeom>
          <a:ln w="25717">
            <a:solidFill>
              <a:srgbClr val="A6A6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refinement S upper to loss segment 1"/>
          <p:cNvCxnSpPr/>
          <p:nvPr/>
        </p:nvCxnSpPr>
        <p:spPr>
          <a:xfrm>
            <a:off x="11496675" y="7334250"/>
            <a:ext cx="0" cy="171450"/>
          </a:xfrm>
          <a:prstGeom prst="line">
            <a:avLst/>
          </a:prstGeom>
          <a:ln w="21907">
            <a:solidFill>
              <a:srgbClr val="10101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refinement S lower to loss segment 1"/>
          <p:cNvCxnSpPr/>
          <p:nvPr/>
        </p:nvCxnSpPr>
        <p:spPr>
          <a:xfrm flipV="1">
            <a:off x="11496675" y="8001000"/>
            <a:ext cx="0" cy="276225"/>
          </a:xfrm>
          <a:prstGeom prst="line">
            <a:avLst/>
          </a:prstGeom>
          <a:ln w="21907">
            <a:solidFill>
              <a:srgbClr val="10101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refinement S to output stack segment 1"/>
          <p:cNvCxnSpPr/>
          <p:nvPr/>
        </p:nvCxnSpPr>
        <p:spPr>
          <a:xfrm>
            <a:off x="11972925" y="7019925"/>
            <a:ext cx="314325" cy="0"/>
          </a:xfrm>
          <a:prstGeom prst="line">
            <a:avLst/>
          </a:prstGeom>
          <a:ln w="23812">
            <a:solidFill>
              <a:srgbClr val="10101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decoder lower feedback segment 1"/>
          <p:cNvCxnSpPr/>
          <p:nvPr/>
        </p:nvCxnSpPr>
        <p:spPr>
          <a:xfrm flipH="1">
            <a:off x="11972925" y="8391525"/>
            <a:ext cx="1924050" cy="0"/>
          </a:xfrm>
          <a:prstGeom prst="line">
            <a:avLst/>
          </a:prstGeom>
          <a:ln w="23812">
            <a:solidFill>
              <a:srgbClr val="10101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decoder full feedback segment 1"/>
          <p:cNvCxnSpPr/>
          <p:nvPr/>
        </p:nvCxnSpPr>
        <p:spPr>
          <a:xfrm>
            <a:off x="13896975" y="8391525"/>
            <a:ext cx="0" cy="819150"/>
          </a:xfrm>
          <a:prstGeom prst="line">
            <a:avLst/>
          </a:prstGeom>
          <a:ln w="23812">
            <a:solidFill>
              <a:srgbClr val="1010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decoder full feedback segment 2"/>
          <p:cNvCxnSpPr/>
          <p:nvPr/>
        </p:nvCxnSpPr>
        <p:spPr>
          <a:xfrm flipH="1">
            <a:off x="7781925" y="9210675"/>
            <a:ext cx="6115050" cy="0"/>
          </a:xfrm>
          <a:prstGeom prst="line">
            <a:avLst/>
          </a:prstGeom>
          <a:ln w="23812">
            <a:solidFill>
              <a:srgbClr val="1010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decoder full feedback segment 3"/>
          <p:cNvCxnSpPr/>
          <p:nvPr/>
        </p:nvCxnSpPr>
        <p:spPr>
          <a:xfrm flipV="1">
            <a:off x="7781925" y="8991600"/>
            <a:ext cx="0" cy="219075"/>
          </a:xfrm>
          <a:prstGeom prst="line">
            <a:avLst/>
          </a:prstGeom>
          <a:ln w="23812">
            <a:solidFill>
              <a:srgbClr val="10101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output stack to conv segment 1"/>
          <p:cNvCxnSpPr/>
          <p:nvPr/>
        </p:nvCxnSpPr>
        <p:spPr>
          <a:xfrm>
            <a:off x="12649200" y="7248525"/>
            <a:ext cx="1247775" cy="0"/>
          </a:xfrm>
          <a:prstGeom prst="line">
            <a:avLst/>
          </a:prstGeom>
          <a:ln w="23812">
            <a:solidFill>
              <a:srgbClr val="1010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output stack to conv segment 2"/>
          <p:cNvCxnSpPr/>
          <p:nvPr/>
        </p:nvCxnSpPr>
        <p:spPr>
          <a:xfrm flipV="1">
            <a:off x="13896975" y="6981825"/>
            <a:ext cx="0" cy="266700"/>
          </a:xfrm>
          <a:prstGeom prst="line">
            <a:avLst/>
          </a:prstGeom>
          <a:ln w="23812">
            <a:solidFill>
              <a:srgbClr val="1010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output stack to conv segment 3"/>
          <p:cNvCxnSpPr/>
          <p:nvPr/>
        </p:nvCxnSpPr>
        <p:spPr>
          <a:xfrm>
            <a:off x="13896975" y="6981825"/>
            <a:ext cx="361950" cy="0"/>
          </a:xfrm>
          <a:prstGeom prst="line">
            <a:avLst/>
          </a:prstGeom>
          <a:ln w="23812">
            <a:solidFill>
              <a:srgbClr val="10101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v to segmentation loss segment 1"/>
          <p:cNvCxnSpPr/>
          <p:nvPr/>
        </p:nvCxnSpPr>
        <p:spPr>
          <a:xfrm>
            <a:off x="15192375" y="6981825"/>
            <a:ext cx="200025" cy="0"/>
          </a:xfrm>
          <a:prstGeom prst="line">
            <a:avLst/>
          </a:prstGeom>
          <a:ln w="23812">
            <a:solidFill>
              <a:srgbClr val="10101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label to segmentation loss segment 1"/>
          <p:cNvCxnSpPr/>
          <p:nvPr/>
        </p:nvCxnSpPr>
        <p:spPr>
          <a:xfrm flipV="1">
            <a:off x="15944850" y="7229475"/>
            <a:ext cx="0" cy="752475"/>
          </a:xfrm>
          <a:prstGeom prst="line">
            <a:avLst/>
          </a:prstGeom>
          <a:ln w="23812">
            <a:solidFill>
              <a:srgbClr val="10101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q3d to alignment segment 1"/>
          <p:cNvCxnSpPr/>
          <p:nvPr/>
        </p:nvCxnSpPr>
        <p:spPr>
          <a:xfrm>
            <a:off x="8258175" y="6115050"/>
            <a:ext cx="590550" cy="0"/>
          </a:xfrm>
          <a:prstGeom prst="line">
            <a:avLst/>
          </a:prstGeom>
          <a:ln w="23812">
            <a:solidFill>
              <a:srgbClr val="10101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alignment operator 1 to sum segment 1"/>
          <p:cNvCxnSpPr/>
          <p:nvPr/>
        </p:nvCxnSpPr>
        <p:spPr>
          <a:xfrm>
            <a:off x="9191625" y="5962650"/>
            <a:ext cx="333375" cy="0"/>
          </a:xfrm>
          <a:prstGeom prst="line">
            <a:avLst/>
          </a:prstGeom>
          <a:ln w="21907">
            <a:solidFill>
              <a:srgbClr val="10101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alignment sum to map segment 1"/>
          <p:cNvCxnSpPr/>
          <p:nvPr/>
        </p:nvCxnSpPr>
        <p:spPr>
          <a:xfrm>
            <a:off x="9858375" y="5962650"/>
            <a:ext cx="381000" cy="0"/>
          </a:xfrm>
          <a:prstGeom prst="line">
            <a:avLst/>
          </a:prstGeom>
          <a:ln w="21907">
            <a:solidFill>
              <a:srgbClr val="10101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alignment map to multiply 2 segment 1"/>
          <p:cNvCxnSpPr/>
          <p:nvPr/>
        </p:nvCxnSpPr>
        <p:spPr>
          <a:xfrm>
            <a:off x="11020425" y="5962650"/>
            <a:ext cx="390525" cy="0"/>
          </a:xfrm>
          <a:prstGeom prst="line">
            <a:avLst/>
          </a:prstGeom>
          <a:ln w="21907">
            <a:solidFill>
              <a:srgbClr val="10101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alignment multiply 2 to mlp segment 1"/>
          <p:cNvCxnSpPr/>
          <p:nvPr/>
        </p:nvCxnSpPr>
        <p:spPr>
          <a:xfrm>
            <a:off x="11744325" y="5962650"/>
            <a:ext cx="561975" cy="0"/>
          </a:xfrm>
          <a:prstGeom prst="line">
            <a:avLst/>
          </a:prstGeom>
          <a:ln w="21907">
            <a:solidFill>
              <a:srgbClr val="10101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alignment mlp to qhat segment 1"/>
          <p:cNvCxnSpPr/>
          <p:nvPr/>
        </p:nvCxnSpPr>
        <p:spPr>
          <a:xfrm>
            <a:off x="13277850" y="5962650"/>
            <a:ext cx="409575" cy="0"/>
          </a:xfrm>
          <a:prstGeom prst="line">
            <a:avLst/>
          </a:prstGeom>
          <a:ln w="21907">
            <a:solidFill>
              <a:srgbClr val="10101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q ins pc to alignment segment 1"/>
          <p:cNvCxnSpPr/>
          <p:nvPr/>
        </p:nvCxnSpPr>
        <p:spPr>
          <a:xfrm>
            <a:off x="11582400" y="4581525"/>
            <a:ext cx="0" cy="1219200"/>
          </a:xfrm>
          <a:prstGeom prst="line">
            <a:avLst/>
          </a:prstGeom>
          <a:ln w="23812">
            <a:solidFill>
              <a:srgbClr val="10101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qhat to semantic junction segment 1"/>
          <p:cNvCxnSpPr/>
          <p:nvPr/>
        </p:nvCxnSpPr>
        <p:spPr>
          <a:xfrm>
            <a:off x="14411325" y="6267450"/>
            <a:ext cx="0" cy="714375"/>
          </a:xfrm>
          <a:prstGeom prst="line">
            <a:avLst/>
          </a:prstGeom>
          <a:ln w="23812">
            <a:solidFill>
              <a:srgbClr val="1010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qhat to semantic junction segment 2"/>
          <p:cNvCxnSpPr/>
          <p:nvPr/>
        </p:nvCxnSpPr>
        <p:spPr>
          <a:xfrm flipH="1">
            <a:off x="14258925" y="6981825"/>
            <a:ext cx="152400" cy="0"/>
          </a:xfrm>
          <a:prstGeom prst="line">
            <a:avLst/>
          </a:prstGeom>
          <a:ln w="23812">
            <a:solidFill>
              <a:srgbClr val="10101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paired source link upper segment 1"/>
          <p:cNvCxnSpPr/>
          <p:nvPr/>
        </p:nvCxnSpPr>
        <p:spPr>
          <a:xfrm flipV="1">
            <a:off x="600075" y="2200275"/>
            <a:ext cx="0" cy="1162050"/>
          </a:xfrm>
          <a:prstGeom prst="line">
            <a:avLst/>
          </a:prstGeom>
          <a:ln w="23812">
            <a:solidFill>
              <a:srgbClr val="10101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paired source link lower segment 1"/>
          <p:cNvCxnSpPr/>
          <p:nvPr/>
        </p:nvCxnSpPr>
        <p:spPr>
          <a:xfrm>
            <a:off x="600075" y="4914900"/>
            <a:ext cx="0" cy="2124075"/>
          </a:xfrm>
          <a:prstGeom prst="line">
            <a:avLst/>
          </a:prstGeom>
          <a:ln w="23812">
            <a:solidFill>
              <a:srgbClr val="10101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dual consistency frame 69"/>
          <p:cNvSpPr/>
          <p:nvPr/>
        </p:nvSpPr>
        <p:spPr>
          <a:xfrm>
            <a:off x="10287000" y="571500"/>
            <a:ext cx="6162675" cy="2990850"/>
          </a:xfrm>
          <a:prstGeom prst="roundRect">
            <a:avLst>
              <a:gd name="adj" fmla="val 5414"/>
            </a:avLst>
          </a:prstGeom>
          <a:solidFill>
            <a:srgbClr val="C6E9E2"/>
          </a:solidFill>
          <a:ln w="23812"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query legend shadow 70"/>
          <p:cNvSpPr/>
          <p:nvPr/>
        </p:nvSpPr>
        <p:spPr>
          <a:xfrm>
            <a:off x="123825" y="3419475"/>
            <a:ext cx="2895600" cy="1562100"/>
          </a:xfrm>
          <a:prstGeom prst="rect">
            <a:avLst/>
          </a:prstGeom>
          <a:solidFill>
            <a:srgbClr val="B9B9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dual queries design 71"/>
          <p:cNvSpPr/>
          <p:nvPr/>
        </p:nvSpPr>
        <p:spPr>
          <a:xfrm>
            <a:off x="3143250" y="2514600"/>
            <a:ext cx="2038350" cy="2266950"/>
          </a:xfrm>
          <a:prstGeom prst="rect">
            <a:avLst/>
          </a:prstGeom>
          <a:noFill/>
          <a:ln w="33337">
            <a:solidFill>
              <a:srgbClr val="17345A"/>
            </a:solidFill>
            <a:prstDash val="sys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query legend 72"/>
          <p:cNvSpPr/>
          <p:nvPr/>
        </p:nvSpPr>
        <p:spPr>
          <a:xfrm>
            <a:off x="76200" y="3362325"/>
            <a:ext cx="2895600" cy="1562100"/>
          </a:xfrm>
          <a:prstGeom prst="rect">
            <a:avLst/>
          </a:prstGeom>
          <a:solidFill>
            <a:srgbClr val="EFEFEF"/>
          </a:solidFill>
          <a:ln w="14287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cross modal semantic alignment 73"/>
          <p:cNvSpPr/>
          <p:nvPr/>
        </p:nvSpPr>
        <p:spPr>
          <a:xfrm>
            <a:off x="8591550" y="5172075"/>
            <a:ext cx="7620000" cy="1257300"/>
          </a:xfrm>
          <a:prstGeom prst="rect">
            <a:avLst/>
          </a:prstGeom>
          <a:noFill/>
          <a:ln w="32384">
            <a:solidFill>
              <a:srgbClr val="17345A"/>
            </a:solidFill>
            <a:prstDash val="sys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instance semantic 2d shadow 74"/>
          <p:cNvSpPr/>
          <p:nvPr/>
        </p:nvSpPr>
        <p:spPr>
          <a:xfrm>
            <a:off x="5800725" y="2705100"/>
            <a:ext cx="4171950" cy="466725"/>
          </a:xfrm>
          <a:prstGeom prst="roundRect">
            <a:avLst>
              <a:gd name="adj" fmla="val 20408"/>
            </a:avLst>
          </a:prstGeom>
          <a:solidFill>
            <a:srgbClr val="B9B9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instance semantic 3d shadow 75"/>
          <p:cNvSpPr/>
          <p:nvPr/>
        </p:nvSpPr>
        <p:spPr>
          <a:xfrm>
            <a:off x="1885950" y="6038850"/>
            <a:ext cx="4143375" cy="466725"/>
          </a:xfrm>
          <a:prstGeom prst="roundRect">
            <a:avLst>
              <a:gd name="adj" fmla="val 20408"/>
            </a:avLst>
          </a:prstGeom>
          <a:solidFill>
            <a:srgbClr val="B9B9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svd source group 76"/>
          <p:cNvSpPr/>
          <p:nvPr/>
        </p:nvSpPr>
        <p:spPr>
          <a:xfrm>
            <a:off x="10372725" y="1362075"/>
            <a:ext cx="3171825" cy="1485900"/>
          </a:xfrm>
          <a:prstGeom prst="rect">
            <a:avLst/>
          </a:prstGeom>
          <a:noFill/>
          <a:ln w="17145">
            <a:solidFill>
              <a:srgbClr val="17345A"/>
            </a:solidFill>
            <a:prstDash val="sys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svd target group 77"/>
          <p:cNvSpPr/>
          <p:nvPr/>
        </p:nvSpPr>
        <p:spPr>
          <a:xfrm>
            <a:off x="13782675" y="1457325"/>
            <a:ext cx="2543175" cy="1314450"/>
          </a:xfrm>
          <a:prstGeom prst="rect">
            <a:avLst/>
          </a:prstGeom>
          <a:noFill/>
          <a:ln w="17145">
            <a:solidFill>
              <a:srgbClr val="17345A"/>
            </a:solidFill>
            <a:prstDash val="sys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backbone frame 78"/>
          <p:cNvSpPr/>
          <p:nvPr/>
        </p:nvSpPr>
        <p:spPr>
          <a:xfrm>
            <a:off x="2676525" y="6848475"/>
            <a:ext cx="2276475" cy="1962150"/>
          </a:xfrm>
          <a:prstGeom prst="roundRect">
            <a:avLst>
              <a:gd name="adj" fmla="val 7766"/>
            </a:avLst>
          </a:prstGeom>
          <a:solidFill>
            <a:srgbClr val="FFF0BA"/>
          </a:solidFill>
          <a:ln w="24765">
            <a:solidFill>
              <a:srgbClr val="173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frozen encoder 79"/>
          <p:cNvSpPr/>
          <p:nvPr/>
        </p:nvSpPr>
        <p:spPr>
          <a:xfrm>
            <a:off x="2733675" y="609600"/>
            <a:ext cx="781050" cy="1800225"/>
          </a:xfrm>
          <a:prstGeom prst="roundRect">
            <a:avLst>
              <a:gd name="adj" fmla="val 19512"/>
            </a:avLst>
          </a:prstGeom>
          <a:solidFill>
            <a:srgbClr val="EBDCE1"/>
          </a:solidFill>
          <a:ln w="24765">
            <a:solidFill>
              <a:srgbClr val="173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add noise 80"/>
          <p:cNvSpPr/>
          <p:nvPr/>
        </p:nvSpPr>
        <p:spPr>
          <a:xfrm>
            <a:off x="4933950" y="609600"/>
            <a:ext cx="466725" cy="1790700"/>
          </a:xfrm>
          <a:prstGeom prst="roundRect">
            <a:avLst>
              <a:gd name="adj" fmla="val 22448"/>
            </a:avLst>
          </a:prstGeom>
          <a:solidFill>
            <a:srgbClr val="EBDCE1"/>
          </a:solidFill>
          <a:ln w="24765">
            <a:solidFill>
              <a:srgbClr val="173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diffusion model 81"/>
          <p:cNvSpPr/>
          <p:nvPr/>
        </p:nvSpPr>
        <p:spPr>
          <a:xfrm>
            <a:off x="7600950" y="1162050"/>
            <a:ext cx="1647825" cy="838200"/>
          </a:xfrm>
          <a:prstGeom prst="roundRect">
            <a:avLst>
              <a:gd name="adj" fmla="val 15909"/>
            </a:avLst>
          </a:prstGeom>
          <a:solidFill>
            <a:srgbClr val="F4E8EC"/>
          </a:solidFill>
          <a:ln w="24765">
            <a:solidFill>
              <a:srgbClr val="173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principal component extraction 82"/>
          <p:cNvSpPr/>
          <p:nvPr/>
        </p:nvSpPr>
        <p:spPr>
          <a:xfrm>
            <a:off x="5572125" y="4410075"/>
            <a:ext cx="4124325" cy="476250"/>
          </a:xfrm>
          <a:prstGeom prst="roundRect">
            <a:avLst>
              <a:gd name="adj" fmla="val 20000"/>
            </a:avLst>
          </a:prstGeom>
          <a:solidFill>
            <a:srgbClr val="C6E9E2"/>
          </a:solidFill>
          <a:ln w="23812"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consistency mlp 83"/>
          <p:cNvSpPr/>
          <p:nvPr/>
        </p:nvSpPr>
        <p:spPr>
          <a:xfrm>
            <a:off x="12287250" y="4076700"/>
            <a:ext cx="866775" cy="409575"/>
          </a:xfrm>
          <a:prstGeom prst="roundRect">
            <a:avLst>
              <a:gd name="adj" fmla="val 18604"/>
            </a:avLst>
          </a:prstGeom>
          <a:solidFill>
            <a:srgbClr val="E3EFD9"/>
          </a:solidFill>
          <a:ln w="23812">
            <a:solidFill>
              <a:srgbClr val="173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consistency loss 84"/>
          <p:cNvSpPr/>
          <p:nvPr/>
        </p:nvSpPr>
        <p:spPr>
          <a:xfrm>
            <a:off x="13354050" y="3981450"/>
            <a:ext cx="1181100" cy="523875"/>
          </a:xfrm>
          <a:prstGeom prst="roundRect">
            <a:avLst>
              <a:gd name="adj" fmla="val 16363"/>
            </a:avLst>
          </a:prstGeom>
          <a:solidFill>
            <a:srgbClr val="E3EFD9"/>
          </a:solidFill>
          <a:ln w="23812">
            <a:solidFill>
              <a:srgbClr val="173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backbone layer 1 85"/>
          <p:cNvSpPr/>
          <p:nvPr/>
        </p:nvSpPr>
        <p:spPr>
          <a:xfrm>
            <a:off x="2857500" y="6991350"/>
            <a:ext cx="400050" cy="1457325"/>
          </a:xfrm>
          <a:prstGeom prst="rect">
            <a:avLst/>
          </a:prstGeom>
          <a:solidFill>
            <a:srgbClr val="FFF5D1"/>
          </a:solidFill>
          <a:ln w="20955">
            <a:solidFill>
              <a:srgbClr val="173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backbone layer L 86"/>
          <p:cNvSpPr/>
          <p:nvPr/>
        </p:nvSpPr>
        <p:spPr>
          <a:xfrm>
            <a:off x="4286250" y="6991350"/>
            <a:ext cx="400050" cy="1457325"/>
          </a:xfrm>
          <a:prstGeom prst="rect">
            <a:avLst/>
          </a:prstGeom>
          <a:solidFill>
            <a:srgbClr val="FFF5D1"/>
          </a:solidFill>
          <a:ln w="20955">
            <a:solidFill>
              <a:srgbClr val="173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feature refinement 1 upper 87"/>
          <p:cNvSpPr/>
          <p:nvPr/>
        </p:nvSpPr>
        <p:spPr>
          <a:xfrm>
            <a:off x="6334125" y="6705600"/>
            <a:ext cx="1933575" cy="628650"/>
          </a:xfrm>
          <a:prstGeom prst="roundRect">
            <a:avLst>
              <a:gd name="adj" fmla="val 19696"/>
            </a:avLst>
          </a:prstGeom>
          <a:solidFill>
            <a:srgbClr val="FFE07D"/>
          </a:solidFill>
          <a:ln w="23812"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feature refinement 1 lower 88"/>
          <p:cNvSpPr/>
          <p:nvPr/>
        </p:nvSpPr>
        <p:spPr>
          <a:xfrm>
            <a:off x="6334125" y="8372475"/>
            <a:ext cx="1933575" cy="619125"/>
          </a:xfrm>
          <a:prstGeom prst="roundRect">
            <a:avLst>
              <a:gd name="adj" fmla="val 20000"/>
            </a:avLst>
          </a:prstGeom>
          <a:solidFill>
            <a:srgbClr val="FFE07D"/>
          </a:solidFill>
          <a:ln w="23812"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support loss 1 89"/>
          <p:cNvSpPr/>
          <p:nvPr/>
        </p:nvSpPr>
        <p:spPr>
          <a:xfrm>
            <a:off x="7315200" y="7515225"/>
            <a:ext cx="923925" cy="485775"/>
          </a:xfrm>
          <a:prstGeom prst="roundRect">
            <a:avLst>
              <a:gd name="adj" fmla="val 17647"/>
            </a:avLst>
          </a:prstGeom>
          <a:solidFill>
            <a:srgbClr val="FBD6A6"/>
          </a:solidFill>
          <a:ln w="21907">
            <a:solidFill>
              <a:srgbClr val="173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feature refinement S upper 90"/>
          <p:cNvSpPr/>
          <p:nvPr/>
        </p:nvSpPr>
        <p:spPr>
          <a:xfrm>
            <a:off x="10029825" y="6705600"/>
            <a:ext cx="1943100" cy="628650"/>
          </a:xfrm>
          <a:prstGeom prst="roundRect">
            <a:avLst>
              <a:gd name="adj" fmla="val 19696"/>
            </a:avLst>
          </a:prstGeom>
          <a:solidFill>
            <a:srgbClr val="FFE07D"/>
          </a:solidFill>
          <a:ln w="23812"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feature refinement S lower 91"/>
          <p:cNvSpPr/>
          <p:nvPr/>
        </p:nvSpPr>
        <p:spPr>
          <a:xfrm>
            <a:off x="10029825" y="8277225"/>
            <a:ext cx="1943100" cy="619125"/>
          </a:xfrm>
          <a:prstGeom prst="roundRect">
            <a:avLst>
              <a:gd name="adj" fmla="val 20000"/>
            </a:avLst>
          </a:prstGeom>
          <a:solidFill>
            <a:srgbClr val="FFE07D"/>
          </a:solidFill>
          <a:ln w="23812"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support loss S 92"/>
          <p:cNvSpPr/>
          <p:nvPr/>
        </p:nvSpPr>
        <p:spPr>
          <a:xfrm>
            <a:off x="11039475" y="7505700"/>
            <a:ext cx="923925" cy="495300"/>
          </a:xfrm>
          <a:prstGeom prst="roundRect">
            <a:avLst>
              <a:gd name="adj" fmla="val 17307"/>
            </a:avLst>
          </a:prstGeom>
          <a:solidFill>
            <a:srgbClr val="FBD6A6"/>
          </a:solidFill>
          <a:ln w="21907">
            <a:solidFill>
              <a:srgbClr val="173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segmentation conv 93"/>
          <p:cNvSpPr/>
          <p:nvPr/>
        </p:nvSpPr>
        <p:spPr>
          <a:xfrm>
            <a:off x="14258925" y="6743700"/>
            <a:ext cx="933450" cy="485775"/>
          </a:xfrm>
          <a:prstGeom prst="roundRect">
            <a:avLst>
              <a:gd name="adj" fmla="val 17647"/>
            </a:avLst>
          </a:prstGeom>
          <a:solidFill>
            <a:srgbClr val="FFFBD2"/>
          </a:solidFill>
          <a:ln w="23812">
            <a:solidFill>
              <a:srgbClr val="173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segmentation loss 94"/>
          <p:cNvSpPr/>
          <p:nvPr/>
        </p:nvSpPr>
        <p:spPr>
          <a:xfrm>
            <a:off x="15392400" y="6715125"/>
            <a:ext cx="914400" cy="514350"/>
          </a:xfrm>
          <a:prstGeom prst="roundRect">
            <a:avLst>
              <a:gd name="adj" fmla="val 16666"/>
            </a:avLst>
          </a:prstGeom>
          <a:solidFill>
            <a:srgbClr val="FFFBD2"/>
          </a:solidFill>
          <a:ln w="23812">
            <a:solidFill>
              <a:srgbClr val="173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alignment mlp 95"/>
          <p:cNvSpPr/>
          <p:nvPr/>
        </p:nvSpPr>
        <p:spPr>
          <a:xfrm>
            <a:off x="12306300" y="5753100"/>
            <a:ext cx="971550" cy="447675"/>
          </a:xfrm>
          <a:prstGeom prst="roundRect">
            <a:avLst>
              <a:gd name="adj" fmla="val 17021"/>
            </a:avLst>
          </a:prstGeom>
          <a:solidFill>
            <a:srgbClr val="FFFBD2"/>
          </a:solidFill>
          <a:ln w="23812">
            <a:solidFill>
              <a:srgbClr val="173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instance semantic 2d 96"/>
          <p:cNvSpPr/>
          <p:nvPr/>
        </p:nvSpPr>
        <p:spPr>
          <a:xfrm>
            <a:off x="5753100" y="2647950"/>
            <a:ext cx="4171950" cy="466725"/>
          </a:xfrm>
          <a:prstGeom prst="roundRect">
            <a:avLst>
              <a:gd name="adj" fmla="val 20408"/>
            </a:avLst>
          </a:prstGeom>
          <a:solidFill>
            <a:srgbClr val="E8B1D4"/>
          </a:solidFill>
          <a:ln w="23812"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q ins group 97"/>
          <p:cNvSpPr/>
          <p:nvPr/>
        </p:nvSpPr>
        <p:spPr>
          <a:xfrm>
            <a:off x="5608320" y="3544443"/>
            <a:ext cx="1428369" cy="543306"/>
          </a:xfrm>
          <a:prstGeom prst="rect">
            <a:avLst/>
          </a:prstGeom>
          <a:noFill/>
          <a:ln w="19050">
            <a:solidFill>
              <a:srgbClr val="17345A"/>
            </a:solidFill>
            <a:prstDash val="sys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q prime ins group 98"/>
          <p:cNvSpPr/>
          <p:nvPr/>
        </p:nvSpPr>
        <p:spPr>
          <a:xfrm>
            <a:off x="7894320" y="3544443"/>
            <a:ext cx="1428369" cy="543306"/>
          </a:xfrm>
          <a:prstGeom prst="rect">
            <a:avLst/>
          </a:prstGeom>
          <a:noFill/>
          <a:ln w="19050">
            <a:solidFill>
              <a:srgbClr val="17345A"/>
            </a:solidFill>
            <a:prstDash val="sys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q ins pc group 99"/>
          <p:cNvSpPr/>
          <p:nvPr/>
        </p:nvSpPr>
        <p:spPr>
          <a:xfrm>
            <a:off x="10403205" y="3921252"/>
            <a:ext cx="1366266" cy="519684"/>
          </a:xfrm>
          <a:prstGeom prst="rect">
            <a:avLst/>
          </a:prstGeom>
          <a:noFill/>
          <a:ln w="19050">
            <a:solidFill>
              <a:srgbClr val="17345A"/>
            </a:solidFill>
            <a:prstDash val="sys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q prime ins pc group 100"/>
          <p:cNvSpPr/>
          <p:nvPr/>
        </p:nvSpPr>
        <p:spPr>
          <a:xfrm>
            <a:off x="14822805" y="3921252"/>
            <a:ext cx="1366266" cy="519684"/>
          </a:xfrm>
          <a:prstGeom prst="rect">
            <a:avLst/>
          </a:prstGeom>
          <a:noFill/>
          <a:ln w="19050">
            <a:solidFill>
              <a:srgbClr val="17345A"/>
            </a:solidFill>
            <a:prstDash val="sys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instance semantic 3d 101"/>
          <p:cNvSpPr/>
          <p:nvPr/>
        </p:nvSpPr>
        <p:spPr>
          <a:xfrm>
            <a:off x="1838325" y="5981700"/>
            <a:ext cx="4143375" cy="466725"/>
          </a:xfrm>
          <a:prstGeom prst="roundRect">
            <a:avLst>
              <a:gd name="adj" fmla="val 20408"/>
            </a:avLst>
          </a:prstGeom>
          <a:solidFill>
            <a:srgbClr val="FFE88F"/>
          </a:solidFill>
          <a:ln w="23812"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3d aggregation queries group 102"/>
          <p:cNvSpPr/>
          <p:nvPr/>
        </p:nvSpPr>
        <p:spPr>
          <a:xfrm>
            <a:off x="2941320" y="5163693"/>
            <a:ext cx="1673733" cy="543306"/>
          </a:xfrm>
          <a:prstGeom prst="rect">
            <a:avLst/>
          </a:prstGeom>
          <a:noFill/>
          <a:ln w="19050">
            <a:solidFill>
              <a:srgbClr val="17345A"/>
            </a:solidFill>
            <a:prstDash val="sys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q3d queries group 103"/>
          <p:cNvSpPr/>
          <p:nvPr/>
        </p:nvSpPr>
        <p:spPr>
          <a:xfrm>
            <a:off x="6643688" y="5797868"/>
            <a:ext cx="1474946" cy="561022"/>
          </a:xfrm>
          <a:prstGeom prst="rect">
            <a:avLst/>
          </a:prstGeom>
          <a:noFill/>
          <a:ln w="19050">
            <a:solidFill>
              <a:srgbClr val="17345A"/>
            </a:solidFill>
            <a:prstDash val="sys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qhat 3d group 104"/>
          <p:cNvSpPr/>
          <p:nvPr/>
        </p:nvSpPr>
        <p:spPr>
          <a:xfrm>
            <a:off x="13667422" y="5707952"/>
            <a:ext cx="1412843" cy="537400"/>
          </a:xfrm>
          <a:prstGeom prst="rect">
            <a:avLst/>
          </a:prstGeom>
          <a:noFill/>
          <a:ln w="19050">
            <a:solidFill>
              <a:srgbClr val="17345A"/>
            </a:solidFill>
            <a:prstDash val="sys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6" name="source street bitmap 105" descr="source-stre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650" y="809625"/>
            <a:ext cx="2219325" cy="1390650"/>
          </a:xfrm>
          <a:prstGeom prst="rect">
            <a:avLst/>
          </a:prstGeom>
        </p:spPr>
      </p:pic>
      <p:sp>
        <p:nvSpPr>
          <p:cNvPr id="127" name="latent z0 plate 106"/>
          <p:cNvSpPr/>
          <p:nvPr/>
        </p:nvSpPr>
        <p:spPr>
          <a:xfrm>
            <a:off x="3990975" y="790575"/>
            <a:ext cx="457200" cy="1266825"/>
          </a:xfrm>
          <a:custGeom>
            <a:avLst/>
            <a:gdLst/>
            <a:ahLst/>
            <a:cxnLst/>
            <a:rect l="l" t="t" r="r" b="b"/>
            <a:pathLst>
              <a:path w="48" h="133">
                <a:moveTo>
                  <a:pt x="10" y="0"/>
                </a:moveTo>
                <a:lnTo>
                  <a:pt x="48" y="0"/>
                </a:lnTo>
                <a:lnTo>
                  <a:pt x="38" y="133"/>
                </a:lnTo>
                <a:lnTo>
                  <a:pt x="0" y="133"/>
                </a:lnTo>
                <a:close/>
              </a:path>
            </a:pathLst>
          </a:custGeom>
          <a:solidFill>
            <a:srgbClr val="D4D4D4"/>
          </a:solidFill>
          <a:ln w="16192">
            <a:solidFill>
              <a:srgbClr val="7A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noisy latent light 107"/>
          <p:cNvSpPr/>
          <p:nvPr/>
        </p:nvSpPr>
        <p:spPr>
          <a:xfrm>
            <a:off x="6391275" y="942975"/>
            <a:ext cx="466725" cy="1257300"/>
          </a:xfrm>
          <a:custGeom>
            <a:avLst/>
            <a:gdLst/>
            <a:ahLst/>
            <a:cxnLst/>
            <a:rect l="l" t="t" r="r" b="b"/>
            <a:pathLst>
              <a:path w="49" h="132">
                <a:moveTo>
                  <a:pt x="10" y="0"/>
                </a:moveTo>
                <a:lnTo>
                  <a:pt x="49" y="0"/>
                </a:lnTo>
                <a:lnTo>
                  <a:pt x="39" y="132"/>
                </a:lnTo>
                <a:lnTo>
                  <a:pt x="0" y="132"/>
                </a:lnTo>
                <a:close/>
              </a:path>
            </a:pathLst>
          </a:custGeom>
          <a:solidFill>
            <a:srgbClr val="B8C9D7"/>
          </a:solidFill>
          <a:ln w="16192">
            <a:solidFill>
              <a:srgbClr val="7A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noisy latent dark 108"/>
          <p:cNvSpPr/>
          <p:nvPr/>
        </p:nvSpPr>
        <p:spPr>
          <a:xfrm>
            <a:off x="6715125" y="933450"/>
            <a:ext cx="466725" cy="1257300"/>
          </a:xfrm>
          <a:custGeom>
            <a:avLst/>
            <a:gdLst/>
            <a:ahLst/>
            <a:cxnLst/>
            <a:rect l="l" t="t" r="r" b="b"/>
            <a:pathLst>
              <a:path w="49" h="132">
                <a:moveTo>
                  <a:pt x="10" y="0"/>
                </a:moveTo>
                <a:lnTo>
                  <a:pt x="49" y="0"/>
                </a:lnTo>
                <a:lnTo>
                  <a:pt x="39" y="132"/>
                </a:lnTo>
                <a:lnTo>
                  <a:pt x="0" y="132"/>
                </a:lnTo>
                <a:close/>
              </a:path>
            </a:pathLst>
          </a:custGeom>
          <a:solidFill>
            <a:srgbClr val="3F93AD"/>
          </a:solidFill>
          <a:ln w="16192">
            <a:solidFill>
              <a:srgbClr val="7A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0" name="source point cloud bitmap 109" descr="source-pointcl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175" y="7048500"/>
            <a:ext cx="2057400" cy="1428750"/>
          </a:xfrm>
          <a:prstGeom prst="rect">
            <a:avLst/>
          </a:prstGeom>
        </p:spPr>
      </p:pic>
      <p:pic>
        <p:nvPicPr>
          <p:cNvPr id="131" name="target label bitmap 110" descr="target-labe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25600" y="7991475"/>
            <a:ext cx="2038350" cy="1257300"/>
          </a:xfrm>
          <a:prstGeom prst="rect">
            <a:avLst/>
          </a:prstGeom>
        </p:spPr>
      </p:pic>
      <p:sp>
        <p:nvSpPr>
          <p:cNvPr id="132" name="latent z0 plate edge 111"/>
          <p:cNvSpPr/>
          <p:nvPr/>
        </p:nvSpPr>
        <p:spPr>
          <a:xfrm>
            <a:off x="3990975" y="790575"/>
            <a:ext cx="95250" cy="1266825"/>
          </a:xfrm>
          <a:custGeom>
            <a:avLst/>
            <a:gdLst/>
            <a:ahLst/>
            <a:cxnLst/>
            <a:rect l="l" t="t" r="r" b="b"/>
            <a:pathLst>
              <a:path w="10" h="133">
                <a:moveTo>
                  <a:pt x="0" y="10"/>
                </a:moveTo>
                <a:lnTo>
                  <a:pt x="10" y="0"/>
                </a:lnTo>
                <a:lnTo>
                  <a:pt x="10" y="124"/>
                </a:lnTo>
                <a:lnTo>
                  <a:pt x="0" y="133"/>
                </a:lnTo>
                <a:close/>
              </a:path>
            </a:pathLst>
          </a:custGeom>
          <a:solidFill>
            <a:srgbClr val="F8F8F8"/>
          </a:solidFill>
          <a:ln w="11429">
            <a:solidFill>
              <a:srgbClr val="8A8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noisy latent light edge 112"/>
          <p:cNvSpPr/>
          <p:nvPr/>
        </p:nvSpPr>
        <p:spPr>
          <a:xfrm>
            <a:off x="6391275" y="942975"/>
            <a:ext cx="95250" cy="1257300"/>
          </a:xfrm>
          <a:custGeom>
            <a:avLst/>
            <a:gdLst/>
            <a:ahLst/>
            <a:cxnLst/>
            <a:rect l="l" t="t" r="r" b="b"/>
            <a:pathLst>
              <a:path w="10" h="132">
                <a:moveTo>
                  <a:pt x="0" y="10"/>
                </a:moveTo>
                <a:lnTo>
                  <a:pt x="10" y="0"/>
                </a:lnTo>
                <a:lnTo>
                  <a:pt x="10" y="123"/>
                </a:lnTo>
                <a:lnTo>
                  <a:pt x="0" y="132"/>
                </a:lnTo>
                <a:close/>
              </a:path>
            </a:pathLst>
          </a:custGeom>
          <a:solidFill>
            <a:srgbClr val="F8F8F8"/>
          </a:solidFill>
          <a:ln w="11429">
            <a:solidFill>
              <a:srgbClr val="8A8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noisy latent dark edge 113"/>
          <p:cNvSpPr/>
          <p:nvPr/>
        </p:nvSpPr>
        <p:spPr>
          <a:xfrm>
            <a:off x="6715125" y="933450"/>
            <a:ext cx="95250" cy="1257300"/>
          </a:xfrm>
          <a:custGeom>
            <a:avLst/>
            <a:gdLst/>
            <a:ahLst/>
            <a:cxnLst/>
            <a:rect l="l" t="t" r="r" b="b"/>
            <a:pathLst>
              <a:path w="10" h="132">
                <a:moveTo>
                  <a:pt x="0" y="10"/>
                </a:moveTo>
                <a:lnTo>
                  <a:pt x="10" y="0"/>
                </a:lnTo>
                <a:lnTo>
                  <a:pt x="10" y="123"/>
                </a:lnTo>
                <a:lnTo>
                  <a:pt x="0" y="132"/>
                </a:lnTo>
                <a:close/>
              </a:path>
            </a:pathLst>
          </a:custGeom>
          <a:solidFill>
            <a:srgbClr val="F8F8F8"/>
          </a:solidFill>
          <a:ln w="11429">
            <a:solidFill>
              <a:srgbClr val="8A8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q ins semantic ellipse 1 114"/>
          <p:cNvSpPr/>
          <p:nvPr/>
        </p:nvSpPr>
        <p:spPr>
          <a:xfrm>
            <a:off x="6186678" y="3588258"/>
            <a:ext cx="968312" cy="403098"/>
          </a:xfrm>
          <a:prstGeom prst="ellipse">
            <a:avLst/>
          </a:prstGeom>
          <a:noFill/>
          <a:ln w="11429">
            <a:solidFill>
              <a:srgbClr val="B7B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q ins semantic ellipse 2 115"/>
          <p:cNvSpPr/>
          <p:nvPr/>
        </p:nvSpPr>
        <p:spPr>
          <a:xfrm>
            <a:off x="6230493" y="3561969"/>
            <a:ext cx="968312" cy="455676"/>
          </a:xfrm>
          <a:prstGeom prst="ellipse">
            <a:avLst/>
          </a:prstGeom>
          <a:noFill/>
          <a:ln w="11429">
            <a:solidFill>
              <a:srgbClr val="B7B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q ins semantic ellipse 3 116"/>
          <p:cNvSpPr/>
          <p:nvPr/>
        </p:nvSpPr>
        <p:spPr>
          <a:xfrm>
            <a:off x="6274308" y="3535680"/>
            <a:ext cx="968312" cy="508254"/>
          </a:xfrm>
          <a:prstGeom prst="ellipse">
            <a:avLst/>
          </a:prstGeom>
          <a:noFill/>
          <a:ln w="11429">
            <a:solidFill>
              <a:srgbClr val="B7B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q prime ins semantic ellipse 1 117"/>
          <p:cNvSpPr/>
          <p:nvPr/>
        </p:nvSpPr>
        <p:spPr>
          <a:xfrm>
            <a:off x="8472678" y="3588258"/>
            <a:ext cx="968312" cy="403098"/>
          </a:xfrm>
          <a:prstGeom prst="ellipse">
            <a:avLst/>
          </a:prstGeom>
          <a:noFill/>
          <a:ln w="11429">
            <a:solidFill>
              <a:srgbClr val="B7B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q prime ins semantic ellipse 2 118"/>
          <p:cNvSpPr/>
          <p:nvPr/>
        </p:nvSpPr>
        <p:spPr>
          <a:xfrm>
            <a:off x="8516493" y="3561969"/>
            <a:ext cx="968312" cy="455676"/>
          </a:xfrm>
          <a:prstGeom prst="ellipse">
            <a:avLst/>
          </a:prstGeom>
          <a:noFill/>
          <a:ln w="11429">
            <a:solidFill>
              <a:srgbClr val="B7B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q prime ins semantic ellipse 3 119"/>
          <p:cNvSpPr/>
          <p:nvPr/>
        </p:nvSpPr>
        <p:spPr>
          <a:xfrm>
            <a:off x="8560308" y="3535680"/>
            <a:ext cx="968312" cy="508254"/>
          </a:xfrm>
          <a:prstGeom prst="ellipse">
            <a:avLst/>
          </a:prstGeom>
          <a:noFill/>
          <a:ln w="11429">
            <a:solidFill>
              <a:srgbClr val="B7B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q ins pc semantic ellipse 1 120"/>
          <p:cNvSpPr/>
          <p:nvPr/>
        </p:nvSpPr>
        <p:spPr>
          <a:xfrm>
            <a:off x="10956417" y="3963162"/>
            <a:ext cx="926211" cy="385572"/>
          </a:xfrm>
          <a:prstGeom prst="ellipse">
            <a:avLst/>
          </a:prstGeom>
          <a:noFill/>
          <a:ln w="11429">
            <a:solidFill>
              <a:srgbClr val="B7B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q ins pc semantic ellipse 2 121"/>
          <p:cNvSpPr/>
          <p:nvPr/>
        </p:nvSpPr>
        <p:spPr>
          <a:xfrm>
            <a:off x="10998327" y="3938016"/>
            <a:ext cx="926211" cy="435864"/>
          </a:xfrm>
          <a:prstGeom prst="ellipse">
            <a:avLst/>
          </a:prstGeom>
          <a:noFill/>
          <a:ln w="11429">
            <a:solidFill>
              <a:srgbClr val="B7B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q ins pc semantic ellipse 3 122"/>
          <p:cNvSpPr/>
          <p:nvPr/>
        </p:nvSpPr>
        <p:spPr>
          <a:xfrm>
            <a:off x="11040237" y="3912870"/>
            <a:ext cx="926211" cy="486156"/>
          </a:xfrm>
          <a:prstGeom prst="ellipse">
            <a:avLst/>
          </a:prstGeom>
          <a:noFill/>
          <a:ln w="11429">
            <a:solidFill>
              <a:srgbClr val="B7B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q prime ins pc semantic ellipse 1 123"/>
          <p:cNvSpPr/>
          <p:nvPr/>
        </p:nvSpPr>
        <p:spPr>
          <a:xfrm>
            <a:off x="15376017" y="3963162"/>
            <a:ext cx="926211" cy="385572"/>
          </a:xfrm>
          <a:prstGeom prst="ellipse">
            <a:avLst/>
          </a:prstGeom>
          <a:noFill/>
          <a:ln w="11429">
            <a:solidFill>
              <a:srgbClr val="B7B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q prime ins pc semantic ellipse 2 124"/>
          <p:cNvSpPr/>
          <p:nvPr/>
        </p:nvSpPr>
        <p:spPr>
          <a:xfrm>
            <a:off x="15417927" y="3938016"/>
            <a:ext cx="926211" cy="435864"/>
          </a:xfrm>
          <a:prstGeom prst="ellipse">
            <a:avLst/>
          </a:prstGeom>
          <a:noFill/>
          <a:ln w="11429">
            <a:solidFill>
              <a:srgbClr val="B7B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q prime ins pc semantic ellipse 3 125"/>
          <p:cNvSpPr/>
          <p:nvPr/>
        </p:nvSpPr>
        <p:spPr>
          <a:xfrm>
            <a:off x="15459837" y="3912870"/>
            <a:ext cx="926211" cy="486156"/>
          </a:xfrm>
          <a:prstGeom prst="ellipse">
            <a:avLst/>
          </a:prstGeom>
          <a:noFill/>
          <a:ln w="11429">
            <a:solidFill>
              <a:srgbClr val="B7B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qhat 3d semantic ellipse 1 126"/>
          <p:cNvSpPr/>
          <p:nvPr/>
        </p:nvSpPr>
        <p:spPr>
          <a:xfrm>
            <a:off x="14239494" y="5751290"/>
            <a:ext cx="957786" cy="398716"/>
          </a:xfrm>
          <a:prstGeom prst="ellipse">
            <a:avLst/>
          </a:prstGeom>
          <a:noFill/>
          <a:ln w="11429">
            <a:solidFill>
              <a:srgbClr val="B7B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qhat 3d semantic ellipse 2 127"/>
          <p:cNvSpPr/>
          <p:nvPr/>
        </p:nvSpPr>
        <p:spPr>
          <a:xfrm>
            <a:off x="14282833" y="5725287"/>
            <a:ext cx="957786" cy="450723"/>
          </a:xfrm>
          <a:prstGeom prst="ellipse">
            <a:avLst/>
          </a:prstGeom>
          <a:noFill/>
          <a:ln w="11429">
            <a:solidFill>
              <a:srgbClr val="B7B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qhat 3d semantic ellipse 3 128"/>
          <p:cNvSpPr/>
          <p:nvPr/>
        </p:nvSpPr>
        <p:spPr>
          <a:xfrm>
            <a:off x="14326172" y="5699284"/>
            <a:ext cx="957786" cy="502730"/>
          </a:xfrm>
          <a:prstGeom prst="ellipse">
            <a:avLst/>
          </a:prstGeom>
          <a:noFill/>
          <a:ln w="11429">
            <a:solidFill>
              <a:srgbClr val="B7B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dual query top single 129"/>
          <p:cNvSpPr/>
          <p:nvPr/>
        </p:nvSpPr>
        <p:spPr>
          <a:xfrm>
            <a:off x="3314700" y="2733675"/>
            <a:ext cx="253365" cy="253365"/>
          </a:xfrm>
          <a:prstGeom prst="rect">
            <a:avLst/>
          </a:prstGeom>
          <a:solidFill>
            <a:srgbClr val="D8E6F1"/>
          </a:solidFill>
          <a:ln w="15240">
            <a:solidFill>
              <a:srgbClr val="173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dual query top token 1 130"/>
          <p:cNvSpPr/>
          <p:nvPr/>
        </p:nvSpPr>
        <p:spPr>
          <a:xfrm>
            <a:off x="3939064" y="2733675"/>
            <a:ext cx="253365" cy="253365"/>
          </a:xfrm>
          <a:prstGeom prst="rect">
            <a:avLst/>
          </a:prstGeom>
          <a:solidFill>
            <a:srgbClr val="D8E6F1"/>
          </a:solidFill>
          <a:ln w="15240">
            <a:solidFill>
              <a:srgbClr val="173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dual query top token 2 131"/>
          <p:cNvSpPr/>
          <p:nvPr/>
        </p:nvSpPr>
        <p:spPr>
          <a:xfrm>
            <a:off x="4206002" y="2733675"/>
            <a:ext cx="253365" cy="253365"/>
          </a:xfrm>
          <a:prstGeom prst="rect">
            <a:avLst/>
          </a:prstGeom>
          <a:solidFill>
            <a:srgbClr val="D8E6F1"/>
          </a:solidFill>
          <a:ln w="15240">
            <a:solidFill>
              <a:srgbClr val="173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dual query top token 3 132"/>
          <p:cNvSpPr/>
          <p:nvPr/>
        </p:nvSpPr>
        <p:spPr>
          <a:xfrm>
            <a:off x="4472940" y="2733675"/>
            <a:ext cx="253365" cy="253365"/>
          </a:xfrm>
          <a:prstGeom prst="rect">
            <a:avLst/>
          </a:prstGeom>
          <a:solidFill>
            <a:srgbClr val="D8E6F1"/>
          </a:solidFill>
          <a:ln w="15240">
            <a:solidFill>
              <a:srgbClr val="173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dual query top token 4 133"/>
          <p:cNvSpPr/>
          <p:nvPr/>
        </p:nvSpPr>
        <p:spPr>
          <a:xfrm>
            <a:off x="4739878" y="2733675"/>
            <a:ext cx="253365" cy="253365"/>
          </a:xfrm>
          <a:prstGeom prst="rect">
            <a:avLst/>
          </a:prstGeom>
          <a:solidFill>
            <a:srgbClr val="D8E6F1"/>
          </a:solidFill>
          <a:ln w="15240">
            <a:solidFill>
              <a:srgbClr val="173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dual query bottom single 134"/>
          <p:cNvSpPr/>
          <p:nvPr/>
        </p:nvSpPr>
        <p:spPr>
          <a:xfrm>
            <a:off x="3314700" y="3543300"/>
            <a:ext cx="253365" cy="253365"/>
          </a:xfrm>
          <a:prstGeom prst="rect">
            <a:avLst/>
          </a:prstGeom>
          <a:solidFill>
            <a:srgbClr val="D8E6F1"/>
          </a:solidFill>
          <a:ln w="15240">
            <a:solidFill>
              <a:srgbClr val="173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dual query bottom token 1 135"/>
          <p:cNvSpPr/>
          <p:nvPr/>
        </p:nvSpPr>
        <p:spPr>
          <a:xfrm>
            <a:off x="3939064" y="3543300"/>
            <a:ext cx="253365" cy="253365"/>
          </a:xfrm>
          <a:prstGeom prst="rect">
            <a:avLst/>
          </a:prstGeom>
          <a:solidFill>
            <a:srgbClr val="D8E6F1"/>
          </a:solidFill>
          <a:ln w="15240">
            <a:solidFill>
              <a:srgbClr val="173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dual query bottom token 2 136"/>
          <p:cNvSpPr/>
          <p:nvPr/>
        </p:nvSpPr>
        <p:spPr>
          <a:xfrm>
            <a:off x="4206002" y="3543300"/>
            <a:ext cx="253365" cy="253365"/>
          </a:xfrm>
          <a:prstGeom prst="rect">
            <a:avLst/>
          </a:prstGeom>
          <a:solidFill>
            <a:srgbClr val="D8E6F1"/>
          </a:solidFill>
          <a:ln w="15240">
            <a:solidFill>
              <a:srgbClr val="173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dual query bottom token 3 137"/>
          <p:cNvSpPr/>
          <p:nvPr/>
        </p:nvSpPr>
        <p:spPr>
          <a:xfrm>
            <a:off x="4472940" y="3543300"/>
            <a:ext cx="253365" cy="253365"/>
          </a:xfrm>
          <a:prstGeom prst="rect">
            <a:avLst/>
          </a:prstGeom>
          <a:solidFill>
            <a:srgbClr val="D8E6F1"/>
          </a:solidFill>
          <a:ln w="15240">
            <a:solidFill>
              <a:srgbClr val="173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dual query bottom token 4 138"/>
          <p:cNvSpPr/>
          <p:nvPr/>
        </p:nvSpPr>
        <p:spPr>
          <a:xfrm>
            <a:off x="4739878" y="3543300"/>
            <a:ext cx="253365" cy="253365"/>
          </a:xfrm>
          <a:prstGeom prst="rect">
            <a:avLst/>
          </a:prstGeom>
          <a:solidFill>
            <a:srgbClr val="D8E6F1"/>
          </a:solidFill>
          <a:ln w="15240">
            <a:solidFill>
              <a:srgbClr val="173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light feature mini top 139"/>
          <p:cNvSpPr/>
          <p:nvPr/>
        </p:nvSpPr>
        <p:spPr>
          <a:xfrm>
            <a:off x="7600950" y="2085975"/>
            <a:ext cx="361950" cy="76200"/>
          </a:xfrm>
          <a:custGeom>
            <a:avLst/>
            <a:gdLst/>
            <a:ahLst/>
            <a:cxnLst/>
            <a:rect l="l" t="t" r="r" b="b"/>
            <a:pathLst>
              <a:path w="38" h="8">
                <a:moveTo>
                  <a:pt x="0" y="8"/>
                </a:moveTo>
                <a:lnTo>
                  <a:pt x="10" y="0"/>
                </a:lnTo>
                <a:lnTo>
                  <a:pt x="38" y="0"/>
                </a:lnTo>
                <a:lnTo>
                  <a:pt x="28" y="8"/>
                </a:lnTo>
                <a:close/>
              </a:path>
            </a:pathLst>
          </a:custGeom>
          <a:solidFill>
            <a:srgbClr val="FFD7C5"/>
          </a:solidFill>
          <a:ln w="14287">
            <a:solidFill>
              <a:srgbClr val="173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light feature mini front 140"/>
          <p:cNvSpPr/>
          <p:nvPr/>
        </p:nvSpPr>
        <p:spPr>
          <a:xfrm>
            <a:off x="7600950" y="2162175"/>
            <a:ext cx="266700" cy="323850"/>
          </a:xfrm>
          <a:prstGeom prst="rect">
            <a:avLst/>
          </a:prstGeom>
          <a:solidFill>
            <a:srgbClr val="A9CEE2"/>
          </a:solidFill>
          <a:ln w="16192">
            <a:solidFill>
              <a:srgbClr val="173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light feature mini side 141"/>
          <p:cNvSpPr/>
          <p:nvPr/>
        </p:nvSpPr>
        <p:spPr>
          <a:xfrm>
            <a:off x="7867650" y="2085975"/>
            <a:ext cx="95250" cy="400050"/>
          </a:xfrm>
          <a:custGeom>
            <a:avLst/>
            <a:gdLst/>
            <a:ahLst/>
            <a:cxnLst/>
            <a:rect l="l" t="t" r="r" b="b"/>
            <a:pathLst>
              <a:path w="10" h="42">
                <a:moveTo>
                  <a:pt x="0" y="8"/>
                </a:moveTo>
                <a:lnTo>
                  <a:pt x="10" y="0"/>
                </a:lnTo>
                <a:lnTo>
                  <a:pt x="10" y="34"/>
                </a:lnTo>
                <a:lnTo>
                  <a:pt x="0" y="42"/>
                </a:lnTo>
                <a:close/>
              </a:path>
            </a:pathLst>
          </a:custGeom>
          <a:solidFill>
            <a:srgbClr val="E8A38D"/>
          </a:solidFill>
          <a:ln w="14287">
            <a:solidFill>
              <a:srgbClr val="173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dark feature mini top 142"/>
          <p:cNvSpPr/>
          <p:nvPr/>
        </p:nvSpPr>
        <p:spPr>
          <a:xfrm>
            <a:off x="8515350" y="2085975"/>
            <a:ext cx="361950" cy="76200"/>
          </a:xfrm>
          <a:custGeom>
            <a:avLst/>
            <a:gdLst/>
            <a:ahLst/>
            <a:cxnLst/>
            <a:rect l="l" t="t" r="r" b="b"/>
            <a:pathLst>
              <a:path w="38" h="8">
                <a:moveTo>
                  <a:pt x="0" y="8"/>
                </a:moveTo>
                <a:lnTo>
                  <a:pt x="10" y="0"/>
                </a:lnTo>
                <a:lnTo>
                  <a:pt x="38" y="0"/>
                </a:lnTo>
                <a:lnTo>
                  <a:pt x="28" y="8"/>
                </a:lnTo>
                <a:close/>
              </a:path>
            </a:pathLst>
          </a:custGeom>
          <a:solidFill>
            <a:srgbClr val="FFD7C5"/>
          </a:solidFill>
          <a:ln w="14287">
            <a:solidFill>
              <a:srgbClr val="173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dark feature mini front 143"/>
          <p:cNvSpPr/>
          <p:nvPr/>
        </p:nvSpPr>
        <p:spPr>
          <a:xfrm>
            <a:off x="8515350" y="2162175"/>
            <a:ext cx="266700" cy="323850"/>
          </a:xfrm>
          <a:prstGeom prst="rect">
            <a:avLst/>
          </a:prstGeom>
          <a:solidFill>
            <a:srgbClr val="3E9DC0"/>
          </a:solidFill>
          <a:ln w="16192">
            <a:solidFill>
              <a:srgbClr val="173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dark feature mini side 144"/>
          <p:cNvSpPr/>
          <p:nvPr/>
        </p:nvSpPr>
        <p:spPr>
          <a:xfrm>
            <a:off x="8782050" y="2085975"/>
            <a:ext cx="95250" cy="400050"/>
          </a:xfrm>
          <a:custGeom>
            <a:avLst/>
            <a:gdLst/>
            <a:ahLst/>
            <a:cxnLst/>
            <a:rect l="l" t="t" r="r" b="b"/>
            <a:pathLst>
              <a:path w="10" h="42">
                <a:moveTo>
                  <a:pt x="0" y="8"/>
                </a:moveTo>
                <a:lnTo>
                  <a:pt x="10" y="0"/>
                </a:lnTo>
                <a:lnTo>
                  <a:pt x="10" y="34"/>
                </a:lnTo>
                <a:lnTo>
                  <a:pt x="0" y="42"/>
                </a:lnTo>
                <a:close/>
              </a:path>
            </a:pathLst>
          </a:custGeom>
          <a:solidFill>
            <a:srgbClr val="E8A38D"/>
          </a:solidFill>
          <a:ln w="14287">
            <a:solidFill>
              <a:srgbClr val="173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q ins single 145"/>
          <p:cNvSpPr/>
          <p:nvPr/>
        </p:nvSpPr>
        <p:spPr>
          <a:xfrm>
            <a:off x="5695950" y="3667125"/>
            <a:ext cx="245364" cy="245364"/>
          </a:xfrm>
          <a:prstGeom prst="rect">
            <a:avLst/>
          </a:prstGeom>
          <a:solidFill>
            <a:srgbClr val="A9CEE2"/>
          </a:solidFill>
          <a:ln w="15240">
            <a:solidFill>
              <a:srgbClr val="173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q ins token 1 146"/>
          <p:cNvSpPr/>
          <p:nvPr/>
        </p:nvSpPr>
        <p:spPr>
          <a:xfrm>
            <a:off x="6300597" y="3667125"/>
            <a:ext cx="245364" cy="245364"/>
          </a:xfrm>
          <a:prstGeom prst="rect">
            <a:avLst/>
          </a:prstGeom>
          <a:solidFill>
            <a:srgbClr val="A9CEE2"/>
          </a:solidFill>
          <a:ln w="15240">
            <a:solidFill>
              <a:srgbClr val="173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q ins token 2 147"/>
          <p:cNvSpPr/>
          <p:nvPr/>
        </p:nvSpPr>
        <p:spPr>
          <a:xfrm>
            <a:off x="6559106" y="3667125"/>
            <a:ext cx="245364" cy="245364"/>
          </a:xfrm>
          <a:prstGeom prst="rect">
            <a:avLst/>
          </a:prstGeom>
          <a:solidFill>
            <a:srgbClr val="A9CEE2"/>
          </a:solidFill>
          <a:ln w="15240">
            <a:solidFill>
              <a:srgbClr val="173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q ins token 3 148"/>
          <p:cNvSpPr/>
          <p:nvPr/>
        </p:nvSpPr>
        <p:spPr>
          <a:xfrm>
            <a:off x="6817614" y="3667125"/>
            <a:ext cx="245364" cy="245364"/>
          </a:xfrm>
          <a:prstGeom prst="rect">
            <a:avLst/>
          </a:prstGeom>
          <a:solidFill>
            <a:srgbClr val="A9CEE2"/>
          </a:solidFill>
          <a:ln w="15240">
            <a:solidFill>
              <a:srgbClr val="173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q prime ins single 149"/>
          <p:cNvSpPr/>
          <p:nvPr/>
        </p:nvSpPr>
        <p:spPr>
          <a:xfrm>
            <a:off x="7981950" y="3667125"/>
            <a:ext cx="245364" cy="245364"/>
          </a:xfrm>
          <a:prstGeom prst="rect">
            <a:avLst/>
          </a:prstGeom>
          <a:solidFill>
            <a:srgbClr val="3E9DC0"/>
          </a:solidFill>
          <a:ln w="15240">
            <a:solidFill>
              <a:srgbClr val="173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q prime ins token 1 150"/>
          <p:cNvSpPr/>
          <p:nvPr/>
        </p:nvSpPr>
        <p:spPr>
          <a:xfrm>
            <a:off x="8586597" y="3667125"/>
            <a:ext cx="245364" cy="245364"/>
          </a:xfrm>
          <a:prstGeom prst="rect">
            <a:avLst/>
          </a:prstGeom>
          <a:solidFill>
            <a:srgbClr val="3E9DC0"/>
          </a:solidFill>
          <a:ln w="15240">
            <a:solidFill>
              <a:srgbClr val="173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q prime ins token 2 151"/>
          <p:cNvSpPr/>
          <p:nvPr/>
        </p:nvSpPr>
        <p:spPr>
          <a:xfrm>
            <a:off x="8845106" y="3667125"/>
            <a:ext cx="245364" cy="245364"/>
          </a:xfrm>
          <a:prstGeom prst="rect">
            <a:avLst/>
          </a:prstGeom>
          <a:solidFill>
            <a:srgbClr val="3E9DC0"/>
          </a:solidFill>
          <a:ln w="15240">
            <a:solidFill>
              <a:srgbClr val="173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q prime ins token 3 152"/>
          <p:cNvSpPr/>
          <p:nvPr/>
        </p:nvSpPr>
        <p:spPr>
          <a:xfrm>
            <a:off x="9103614" y="3667125"/>
            <a:ext cx="245364" cy="245364"/>
          </a:xfrm>
          <a:prstGeom prst="rect">
            <a:avLst/>
          </a:prstGeom>
          <a:solidFill>
            <a:srgbClr val="3E9DC0"/>
          </a:solidFill>
          <a:ln w="15240">
            <a:solidFill>
              <a:srgbClr val="173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legend swatch 1 153"/>
          <p:cNvSpPr/>
          <p:nvPr/>
        </p:nvSpPr>
        <p:spPr>
          <a:xfrm>
            <a:off x="171450" y="3495675"/>
            <a:ext cx="180975" cy="180975"/>
          </a:xfrm>
          <a:prstGeom prst="rect">
            <a:avLst/>
          </a:prstGeom>
          <a:solidFill>
            <a:srgbClr val="D8E6F1"/>
          </a:solidFill>
          <a:ln w="14287">
            <a:solidFill>
              <a:srgbClr val="173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legend swatch 2 154"/>
          <p:cNvSpPr/>
          <p:nvPr/>
        </p:nvSpPr>
        <p:spPr>
          <a:xfrm>
            <a:off x="171450" y="3848100"/>
            <a:ext cx="180975" cy="180975"/>
          </a:xfrm>
          <a:prstGeom prst="rect">
            <a:avLst/>
          </a:prstGeom>
          <a:solidFill>
            <a:srgbClr val="A9CEE2"/>
          </a:solidFill>
          <a:ln w="14287">
            <a:solidFill>
              <a:srgbClr val="173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legend swatch 3 155"/>
          <p:cNvSpPr/>
          <p:nvPr/>
        </p:nvSpPr>
        <p:spPr>
          <a:xfrm>
            <a:off x="171450" y="4200525"/>
            <a:ext cx="180975" cy="180975"/>
          </a:xfrm>
          <a:prstGeom prst="rect">
            <a:avLst/>
          </a:prstGeom>
          <a:solidFill>
            <a:srgbClr val="3E9DC0"/>
          </a:solidFill>
          <a:ln w="14287">
            <a:solidFill>
              <a:srgbClr val="173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legend swatch 4 156"/>
          <p:cNvSpPr/>
          <p:nvPr/>
        </p:nvSpPr>
        <p:spPr>
          <a:xfrm>
            <a:off x="171450" y="4552950"/>
            <a:ext cx="180975" cy="180975"/>
          </a:xfrm>
          <a:prstGeom prst="rect">
            <a:avLst/>
          </a:prstGeom>
          <a:solidFill>
            <a:srgbClr val="FFC3AA"/>
          </a:solidFill>
          <a:ln w="14287">
            <a:solidFill>
              <a:srgbClr val="173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object agent query header single 157"/>
          <p:cNvSpPr/>
          <p:nvPr/>
        </p:nvSpPr>
        <p:spPr>
          <a:xfrm>
            <a:off x="11353800" y="752475"/>
            <a:ext cx="266700" cy="266700"/>
          </a:xfrm>
          <a:prstGeom prst="rect">
            <a:avLst/>
          </a:prstGeom>
          <a:solidFill>
            <a:srgbClr val="FFF2C7"/>
          </a:solidFill>
          <a:ln w="15240">
            <a:solidFill>
              <a:srgbClr val="173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object agent query header token 1 158"/>
          <p:cNvSpPr/>
          <p:nvPr/>
        </p:nvSpPr>
        <p:spPr>
          <a:xfrm>
            <a:off x="12011025" y="752475"/>
            <a:ext cx="266700" cy="266700"/>
          </a:xfrm>
          <a:prstGeom prst="rect">
            <a:avLst/>
          </a:prstGeom>
          <a:solidFill>
            <a:srgbClr val="FFF2C7"/>
          </a:solidFill>
          <a:ln w="15240">
            <a:solidFill>
              <a:srgbClr val="173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object agent query header token 2 159"/>
          <p:cNvSpPr/>
          <p:nvPr/>
        </p:nvSpPr>
        <p:spPr>
          <a:xfrm>
            <a:off x="12292012" y="752475"/>
            <a:ext cx="266700" cy="266700"/>
          </a:xfrm>
          <a:prstGeom prst="rect">
            <a:avLst/>
          </a:prstGeom>
          <a:solidFill>
            <a:srgbClr val="FFF2C7"/>
          </a:solidFill>
          <a:ln w="15240">
            <a:solidFill>
              <a:srgbClr val="173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object agent query header token 3 160"/>
          <p:cNvSpPr/>
          <p:nvPr/>
        </p:nvSpPr>
        <p:spPr>
          <a:xfrm>
            <a:off x="12573000" y="752475"/>
            <a:ext cx="266700" cy="266700"/>
          </a:xfrm>
          <a:prstGeom prst="rect">
            <a:avLst/>
          </a:prstGeom>
          <a:solidFill>
            <a:srgbClr val="FFF2C7"/>
          </a:solidFill>
          <a:ln w="15240">
            <a:solidFill>
              <a:srgbClr val="173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svd left tensor layer 1 161"/>
          <p:cNvSpPr/>
          <p:nvPr/>
        </p:nvSpPr>
        <p:spPr>
          <a:xfrm>
            <a:off x="10477500" y="1828800"/>
            <a:ext cx="638175" cy="647700"/>
          </a:xfrm>
          <a:prstGeom prst="rect">
            <a:avLst/>
          </a:prstGeom>
          <a:solidFill>
            <a:srgbClr val="E9F4F1"/>
          </a:solidFill>
          <a:ln w="11429">
            <a:solidFill>
              <a:srgbClr val="6B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svd middle tensor layer 1 162"/>
          <p:cNvSpPr/>
          <p:nvPr/>
        </p:nvSpPr>
        <p:spPr>
          <a:xfrm>
            <a:off x="11744325" y="1819275"/>
            <a:ext cx="638175" cy="647700"/>
          </a:xfrm>
          <a:prstGeom prst="rect">
            <a:avLst/>
          </a:prstGeom>
          <a:solidFill>
            <a:srgbClr val="E9F4F1"/>
          </a:solidFill>
          <a:ln w="11429">
            <a:solidFill>
              <a:srgbClr val="6B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svd component 163"/>
          <p:cNvSpPr/>
          <p:nvPr/>
        </p:nvSpPr>
        <p:spPr>
          <a:xfrm>
            <a:off x="12858750" y="1905000"/>
            <a:ext cx="600075" cy="542925"/>
          </a:xfrm>
          <a:prstGeom prst="rect">
            <a:avLst/>
          </a:prstGeom>
          <a:solidFill>
            <a:srgbClr val="E8C4D3"/>
          </a:solidFill>
          <a:ln w="12382">
            <a:solidFill>
              <a:srgbClr val="8A8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svd right tensor layer 1 164"/>
          <p:cNvSpPr/>
          <p:nvPr/>
        </p:nvSpPr>
        <p:spPr>
          <a:xfrm>
            <a:off x="13906500" y="1819275"/>
            <a:ext cx="638175" cy="647700"/>
          </a:xfrm>
          <a:prstGeom prst="rect">
            <a:avLst/>
          </a:prstGeom>
          <a:solidFill>
            <a:srgbClr val="E9F4F1"/>
          </a:solidFill>
          <a:ln w="11429">
            <a:solidFill>
              <a:srgbClr val="6B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svd right compressed layer 1 165"/>
          <p:cNvSpPr/>
          <p:nvPr/>
        </p:nvSpPr>
        <p:spPr>
          <a:xfrm>
            <a:off x="15097125" y="1895475"/>
            <a:ext cx="638175" cy="647700"/>
          </a:xfrm>
          <a:prstGeom prst="rect">
            <a:avLst/>
          </a:prstGeom>
          <a:solidFill>
            <a:srgbClr val="E9F4F1"/>
          </a:solidFill>
          <a:ln w="11429">
            <a:solidFill>
              <a:srgbClr val="6B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svd target component 166"/>
          <p:cNvSpPr/>
          <p:nvPr/>
        </p:nvSpPr>
        <p:spPr>
          <a:xfrm>
            <a:off x="15811500" y="1971675"/>
            <a:ext cx="504825" cy="457200"/>
          </a:xfrm>
          <a:prstGeom prst="rect">
            <a:avLst/>
          </a:prstGeom>
          <a:solidFill>
            <a:srgbClr val="E8C4D3"/>
          </a:solidFill>
          <a:ln w="11429">
            <a:solidFill>
              <a:srgbClr val="8A8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quantized agent queries single 167"/>
          <p:cNvSpPr/>
          <p:nvPr/>
        </p:nvSpPr>
        <p:spPr>
          <a:xfrm>
            <a:off x="14373225" y="2809875"/>
            <a:ext cx="250698" cy="250698"/>
          </a:xfrm>
          <a:prstGeom prst="rect">
            <a:avLst/>
          </a:prstGeom>
          <a:solidFill>
            <a:srgbClr val="FFF4CF"/>
          </a:solidFill>
          <a:ln w="15240">
            <a:solidFill>
              <a:srgbClr val="173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quantized agent queries token 1 168"/>
          <p:cNvSpPr/>
          <p:nvPr/>
        </p:nvSpPr>
        <p:spPr>
          <a:xfrm>
            <a:off x="14991016" y="2809875"/>
            <a:ext cx="250698" cy="250698"/>
          </a:xfrm>
          <a:prstGeom prst="rect">
            <a:avLst/>
          </a:prstGeom>
          <a:solidFill>
            <a:srgbClr val="FFF4CF"/>
          </a:solidFill>
          <a:ln w="15240">
            <a:solidFill>
              <a:srgbClr val="173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quantized agent queries token 2 169"/>
          <p:cNvSpPr/>
          <p:nvPr/>
        </p:nvSpPr>
        <p:spPr>
          <a:xfrm>
            <a:off x="15255145" y="2809875"/>
            <a:ext cx="250698" cy="250698"/>
          </a:xfrm>
          <a:prstGeom prst="rect">
            <a:avLst/>
          </a:prstGeom>
          <a:solidFill>
            <a:srgbClr val="FFF4CF"/>
          </a:solidFill>
          <a:ln w="15240">
            <a:solidFill>
              <a:srgbClr val="173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quantized agent queries token 3 170"/>
          <p:cNvSpPr/>
          <p:nvPr/>
        </p:nvSpPr>
        <p:spPr>
          <a:xfrm>
            <a:off x="15519273" y="2809875"/>
            <a:ext cx="250698" cy="250698"/>
          </a:xfrm>
          <a:prstGeom prst="rect">
            <a:avLst/>
          </a:prstGeom>
          <a:solidFill>
            <a:srgbClr val="FFF4CF"/>
          </a:solidFill>
          <a:ln w="15240">
            <a:solidFill>
              <a:srgbClr val="173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q ins pc single 171"/>
          <p:cNvSpPr/>
          <p:nvPr/>
        </p:nvSpPr>
        <p:spPr>
          <a:xfrm>
            <a:off x="10487025" y="4038600"/>
            <a:ext cx="234696" cy="234696"/>
          </a:xfrm>
          <a:prstGeom prst="rect">
            <a:avLst/>
          </a:prstGeom>
          <a:solidFill>
            <a:srgbClr val="A9CEE2"/>
          </a:solidFill>
          <a:ln w="15240">
            <a:solidFill>
              <a:srgbClr val="173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q ins pc token 1 172"/>
          <p:cNvSpPr/>
          <p:nvPr/>
        </p:nvSpPr>
        <p:spPr>
          <a:xfrm>
            <a:off x="11065383" y="4038600"/>
            <a:ext cx="234696" cy="234696"/>
          </a:xfrm>
          <a:prstGeom prst="rect">
            <a:avLst/>
          </a:prstGeom>
          <a:solidFill>
            <a:srgbClr val="A9CEE2"/>
          </a:solidFill>
          <a:ln w="15240">
            <a:solidFill>
              <a:srgbClr val="173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q ins pc token 2 173"/>
          <p:cNvSpPr/>
          <p:nvPr/>
        </p:nvSpPr>
        <p:spPr>
          <a:xfrm>
            <a:off x="11312652" y="4038600"/>
            <a:ext cx="234696" cy="234696"/>
          </a:xfrm>
          <a:prstGeom prst="rect">
            <a:avLst/>
          </a:prstGeom>
          <a:solidFill>
            <a:srgbClr val="A9CEE2"/>
          </a:solidFill>
          <a:ln w="15240">
            <a:solidFill>
              <a:srgbClr val="173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q ins pc token 3 174"/>
          <p:cNvSpPr/>
          <p:nvPr/>
        </p:nvSpPr>
        <p:spPr>
          <a:xfrm>
            <a:off x="11559921" y="4038600"/>
            <a:ext cx="234696" cy="234696"/>
          </a:xfrm>
          <a:prstGeom prst="rect">
            <a:avLst/>
          </a:prstGeom>
          <a:solidFill>
            <a:srgbClr val="A9CEE2"/>
          </a:solidFill>
          <a:ln w="15240">
            <a:solidFill>
              <a:srgbClr val="173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q prime ins pc single 175"/>
          <p:cNvSpPr/>
          <p:nvPr/>
        </p:nvSpPr>
        <p:spPr>
          <a:xfrm>
            <a:off x="14906625" y="4038600"/>
            <a:ext cx="234696" cy="234696"/>
          </a:xfrm>
          <a:prstGeom prst="rect">
            <a:avLst/>
          </a:prstGeom>
          <a:solidFill>
            <a:srgbClr val="3E9DC0"/>
          </a:solidFill>
          <a:ln w="15240">
            <a:solidFill>
              <a:srgbClr val="173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q prime ins pc token 1 176"/>
          <p:cNvSpPr/>
          <p:nvPr/>
        </p:nvSpPr>
        <p:spPr>
          <a:xfrm>
            <a:off x="15484983" y="4038600"/>
            <a:ext cx="234696" cy="234696"/>
          </a:xfrm>
          <a:prstGeom prst="rect">
            <a:avLst/>
          </a:prstGeom>
          <a:solidFill>
            <a:srgbClr val="3E9DC0"/>
          </a:solidFill>
          <a:ln w="15240">
            <a:solidFill>
              <a:srgbClr val="173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q prime ins pc token 2 177"/>
          <p:cNvSpPr/>
          <p:nvPr/>
        </p:nvSpPr>
        <p:spPr>
          <a:xfrm>
            <a:off x="15732252" y="4038600"/>
            <a:ext cx="234696" cy="234696"/>
          </a:xfrm>
          <a:prstGeom prst="rect">
            <a:avLst/>
          </a:prstGeom>
          <a:solidFill>
            <a:srgbClr val="3E9DC0"/>
          </a:solidFill>
          <a:ln w="15240">
            <a:solidFill>
              <a:srgbClr val="173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q prime ins pc token 3 178"/>
          <p:cNvSpPr/>
          <p:nvPr/>
        </p:nvSpPr>
        <p:spPr>
          <a:xfrm>
            <a:off x="15979521" y="4038600"/>
            <a:ext cx="234696" cy="234696"/>
          </a:xfrm>
          <a:prstGeom prst="rect">
            <a:avLst/>
          </a:prstGeom>
          <a:solidFill>
            <a:srgbClr val="3E9DC0"/>
          </a:solidFill>
          <a:ln w="15240">
            <a:solidFill>
              <a:srgbClr val="173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backbone feature stack top 179"/>
          <p:cNvSpPr/>
          <p:nvPr/>
        </p:nvSpPr>
        <p:spPr>
          <a:xfrm>
            <a:off x="5314950" y="7172325"/>
            <a:ext cx="361950" cy="76200"/>
          </a:xfrm>
          <a:custGeom>
            <a:avLst/>
            <a:gdLst/>
            <a:ahLst/>
            <a:cxnLst/>
            <a:rect l="l" t="t" r="r" b="b"/>
            <a:pathLst>
              <a:path w="38" h="8">
                <a:moveTo>
                  <a:pt x="0" y="8"/>
                </a:moveTo>
                <a:lnTo>
                  <a:pt x="10" y="0"/>
                </a:lnTo>
                <a:lnTo>
                  <a:pt x="38" y="0"/>
                </a:lnTo>
                <a:lnTo>
                  <a:pt x="28" y="8"/>
                </a:lnTo>
                <a:close/>
              </a:path>
            </a:pathLst>
          </a:custGeom>
          <a:solidFill>
            <a:srgbClr val="FFD7C5"/>
          </a:solidFill>
          <a:ln w="14287">
            <a:solidFill>
              <a:srgbClr val="173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backbone feature stack front 180"/>
          <p:cNvSpPr/>
          <p:nvPr/>
        </p:nvSpPr>
        <p:spPr>
          <a:xfrm>
            <a:off x="5314950" y="7248525"/>
            <a:ext cx="266700" cy="990600"/>
          </a:xfrm>
          <a:prstGeom prst="rect">
            <a:avLst/>
          </a:prstGeom>
          <a:solidFill>
            <a:srgbClr val="FFC3AA"/>
          </a:solidFill>
          <a:ln w="16192">
            <a:solidFill>
              <a:srgbClr val="173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backbone feature stack side 181"/>
          <p:cNvSpPr/>
          <p:nvPr/>
        </p:nvSpPr>
        <p:spPr>
          <a:xfrm>
            <a:off x="5581650" y="7172325"/>
            <a:ext cx="95250" cy="1066800"/>
          </a:xfrm>
          <a:custGeom>
            <a:avLst/>
            <a:gdLst/>
            <a:ahLst/>
            <a:cxnLst/>
            <a:rect l="l" t="t" r="r" b="b"/>
            <a:pathLst>
              <a:path w="10" h="112">
                <a:moveTo>
                  <a:pt x="0" y="8"/>
                </a:moveTo>
                <a:lnTo>
                  <a:pt x="10" y="0"/>
                </a:lnTo>
                <a:lnTo>
                  <a:pt x="10" y="104"/>
                </a:lnTo>
                <a:lnTo>
                  <a:pt x="0" y="112"/>
                </a:lnTo>
                <a:close/>
              </a:path>
            </a:pathLst>
          </a:custGeom>
          <a:solidFill>
            <a:srgbClr val="E8A38D"/>
          </a:solidFill>
          <a:ln w="14287">
            <a:solidFill>
              <a:srgbClr val="173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3d aggregation queries single 182"/>
          <p:cNvSpPr/>
          <p:nvPr/>
        </p:nvSpPr>
        <p:spPr>
          <a:xfrm>
            <a:off x="3028950" y="5286375"/>
            <a:ext cx="245364" cy="245364"/>
          </a:xfrm>
          <a:prstGeom prst="rect">
            <a:avLst/>
          </a:prstGeom>
          <a:solidFill>
            <a:srgbClr val="D8E6F1"/>
          </a:solidFill>
          <a:ln w="15240">
            <a:solidFill>
              <a:srgbClr val="173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3d aggregation queries token 1 183"/>
          <p:cNvSpPr/>
          <p:nvPr/>
        </p:nvSpPr>
        <p:spPr>
          <a:xfrm>
            <a:off x="3633597" y="5286375"/>
            <a:ext cx="245364" cy="245364"/>
          </a:xfrm>
          <a:prstGeom prst="rect">
            <a:avLst/>
          </a:prstGeom>
          <a:solidFill>
            <a:srgbClr val="D8E6F1"/>
          </a:solidFill>
          <a:ln w="15240">
            <a:solidFill>
              <a:srgbClr val="173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3d aggregation queries token 2 184"/>
          <p:cNvSpPr/>
          <p:nvPr/>
        </p:nvSpPr>
        <p:spPr>
          <a:xfrm>
            <a:off x="3892106" y="5286375"/>
            <a:ext cx="245364" cy="245364"/>
          </a:xfrm>
          <a:prstGeom prst="rect">
            <a:avLst/>
          </a:prstGeom>
          <a:solidFill>
            <a:srgbClr val="D8E6F1"/>
          </a:solidFill>
          <a:ln w="15240">
            <a:solidFill>
              <a:srgbClr val="173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3d aggregation queries token 3 185"/>
          <p:cNvSpPr/>
          <p:nvPr/>
        </p:nvSpPr>
        <p:spPr>
          <a:xfrm>
            <a:off x="4150614" y="5286375"/>
            <a:ext cx="245364" cy="245364"/>
          </a:xfrm>
          <a:prstGeom prst="rect">
            <a:avLst/>
          </a:prstGeom>
          <a:solidFill>
            <a:srgbClr val="D8E6F1"/>
          </a:solidFill>
          <a:ln w="15240">
            <a:solidFill>
              <a:srgbClr val="173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3d aggregation queries token 4 186"/>
          <p:cNvSpPr/>
          <p:nvPr/>
        </p:nvSpPr>
        <p:spPr>
          <a:xfrm>
            <a:off x="4409122" y="5286375"/>
            <a:ext cx="245364" cy="245364"/>
          </a:xfrm>
          <a:prstGeom prst="rect">
            <a:avLst/>
          </a:prstGeom>
          <a:solidFill>
            <a:srgbClr val="D8E6F1"/>
          </a:solidFill>
          <a:ln w="15240">
            <a:solidFill>
              <a:srgbClr val="173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q3d queries single 187"/>
          <p:cNvSpPr/>
          <p:nvPr/>
        </p:nvSpPr>
        <p:spPr>
          <a:xfrm>
            <a:off x="6734175" y="5924550"/>
            <a:ext cx="253365" cy="253365"/>
          </a:xfrm>
          <a:prstGeom prst="rect">
            <a:avLst/>
          </a:prstGeom>
          <a:solidFill>
            <a:srgbClr val="FFC3AA"/>
          </a:solidFill>
          <a:ln w="15240">
            <a:solidFill>
              <a:srgbClr val="173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q3d queries token 1 188"/>
          <p:cNvSpPr/>
          <p:nvPr/>
        </p:nvSpPr>
        <p:spPr>
          <a:xfrm>
            <a:off x="7358539" y="5924550"/>
            <a:ext cx="253365" cy="253365"/>
          </a:xfrm>
          <a:prstGeom prst="rect">
            <a:avLst/>
          </a:prstGeom>
          <a:solidFill>
            <a:srgbClr val="FFC3AA"/>
          </a:solidFill>
          <a:ln w="15240">
            <a:solidFill>
              <a:srgbClr val="173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q3d queries token 2 189"/>
          <p:cNvSpPr/>
          <p:nvPr/>
        </p:nvSpPr>
        <p:spPr>
          <a:xfrm>
            <a:off x="7625477" y="5924550"/>
            <a:ext cx="253365" cy="253365"/>
          </a:xfrm>
          <a:prstGeom prst="rect">
            <a:avLst/>
          </a:prstGeom>
          <a:solidFill>
            <a:srgbClr val="FFC3AA"/>
          </a:solidFill>
          <a:ln w="15240">
            <a:solidFill>
              <a:srgbClr val="173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q3d queries token 3 190"/>
          <p:cNvSpPr/>
          <p:nvPr/>
        </p:nvSpPr>
        <p:spPr>
          <a:xfrm>
            <a:off x="7892415" y="5924550"/>
            <a:ext cx="253365" cy="253365"/>
          </a:xfrm>
          <a:prstGeom prst="rect">
            <a:avLst/>
          </a:prstGeom>
          <a:solidFill>
            <a:srgbClr val="FFC3AA"/>
          </a:solidFill>
          <a:ln w="15240">
            <a:solidFill>
              <a:srgbClr val="173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decoder feature stack 1 top 191"/>
          <p:cNvSpPr/>
          <p:nvPr/>
        </p:nvSpPr>
        <p:spPr>
          <a:xfrm>
            <a:off x="8667750" y="6686550"/>
            <a:ext cx="361950" cy="76200"/>
          </a:xfrm>
          <a:custGeom>
            <a:avLst/>
            <a:gdLst/>
            <a:ahLst/>
            <a:cxnLst/>
            <a:rect l="l" t="t" r="r" b="b"/>
            <a:pathLst>
              <a:path w="38" h="8">
                <a:moveTo>
                  <a:pt x="0" y="8"/>
                </a:moveTo>
                <a:lnTo>
                  <a:pt x="10" y="0"/>
                </a:lnTo>
                <a:lnTo>
                  <a:pt x="38" y="0"/>
                </a:lnTo>
                <a:lnTo>
                  <a:pt x="28" y="8"/>
                </a:lnTo>
                <a:close/>
              </a:path>
            </a:pathLst>
          </a:custGeom>
          <a:solidFill>
            <a:srgbClr val="FFD7C5"/>
          </a:solidFill>
          <a:ln w="14287">
            <a:solidFill>
              <a:srgbClr val="173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decoder feature stack 1 front 192"/>
          <p:cNvSpPr/>
          <p:nvPr/>
        </p:nvSpPr>
        <p:spPr>
          <a:xfrm>
            <a:off x="8667750" y="6762750"/>
            <a:ext cx="266700" cy="1143000"/>
          </a:xfrm>
          <a:prstGeom prst="rect">
            <a:avLst/>
          </a:prstGeom>
          <a:solidFill>
            <a:srgbClr val="FFC3AA"/>
          </a:solidFill>
          <a:ln w="16192">
            <a:solidFill>
              <a:srgbClr val="173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decoder feature stack 1 side 193"/>
          <p:cNvSpPr/>
          <p:nvPr/>
        </p:nvSpPr>
        <p:spPr>
          <a:xfrm>
            <a:off x="8934450" y="6686550"/>
            <a:ext cx="95250" cy="1219200"/>
          </a:xfrm>
          <a:custGeom>
            <a:avLst/>
            <a:gdLst/>
            <a:ahLst/>
            <a:cxnLst/>
            <a:rect l="l" t="t" r="r" b="b"/>
            <a:pathLst>
              <a:path w="10" h="128">
                <a:moveTo>
                  <a:pt x="0" y="8"/>
                </a:moveTo>
                <a:lnTo>
                  <a:pt x="10" y="0"/>
                </a:lnTo>
                <a:lnTo>
                  <a:pt x="10" y="120"/>
                </a:lnTo>
                <a:lnTo>
                  <a:pt x="0" y="128"/>
                </a:lnTo>
                <a:close/>
              </a:path>
            </a:pathLst>
          </a:custGeom>
          <a:solidFill>
            <a:srgbClr val="E8A38D"/>
          </a:solidFill>
          <a:ln w="14287">
            <a:solidFill>
              <a:srgbClr val="173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decoder output feature stack top 194"/>
          <p:cNvSpPr/>
          <p:nvPr/>
        </p:nvSpPr>
        <p:spPr>
          <a:xfrm>
            <a:off x="12287250" y="6686550"/>
            <a:ext cx="361950" cy="76200"/>
          </a:xfrm>
          <a:custGeom>
            <a:avLst/>
            <a:gdLst/>
            <a:ahLst/>
            <a:cxnLst/>
            <a:rect l="l" t="t" r="r" b="b"/>
            <a:pathLst>
              <a:path w="38" h="8">
                <a:moveTo>
                  <a:pt x="0" y="8"/>
                </a:moveTo>
                <a:lnTo>
                  <a:pt x="10" y="0"/>
                </a:lnTo>
                <a:lnTo>
                  <a:pt x="38" y="0"/>
                </a:lnTo>
                <a:lnTo>
                  <a:pt x="28" y="8"/>
                </a:lnTo>
                <a:close/>
              </a:path>
            </a:pathLst>
          </a:custGeom>
          <a:solidFill>
            <a:srgbClr val="FFD7C5"/>
          </a:solidFill>
          <a:ln w="14287">
            <a:solidFill>
              <a:srgbClr val="173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decoder output feature stack front 195"/>
          <p:cNvSpPr/>
          <p:nvPr/>
        </p:nvSpPr>
        <p:spPr>
          <a:xfrm>
            <a:off x="12287250" y="6762750"/>
            <a:ext cx="266700" cy="1143000"/>
          </a:xfrm>
          <a:prstGeom prst="rect">
            <a:avLst/>
          </a:prstGeom>
          <a:solidFill>
            <a:srgbClr val="FFC3AA"/>
          </a:solidFill>
          <a:ln w="16192">
            <a:solidFill>
              <a:srgbClr val="173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decoder output feature stack side 196"/>
          <p:cNvSpPr/>
          <p:nvPr/>
        </p:nvSpPr>
        <p:spPr>
          <a:xfrm>
            <a:off x="12553950" y="6686550"/>
            <a:ext cx="95250" cy="1219200"/>
          </a:xfrm>
          <a:custGeom>
            <a:avLst/>
            <a:gdLst/>
            <a:ahLst/>
            <a:cxnLst/>
            <a:rect l="l" t="t" r="r" b="b"/>
            <a:pathLst>
              <a:path w="10" h="128">
                <a:moveTo>
                  <a:pt x="0" y="8"/>
                </a:moveTo>
                <a:lnTo>
                  <a:pt x="10" y="0"/>
                </a:lnTo>
                <a:lnTo>
                  <a:pt x="10" y="120"/>
                </a:lnTo>
                <a:lnTo>
                  <a:pt x="0" y="128"/>
                </a:lnTo>
                <a:close/>
              </a:path>
            </a:pathLst>
          </a:custGeom>
          <a:solidFill>
            <a:srgbClr val="E8A38D"/>
          </a:solidFill>
          <a:ln w="14287">
            <a:solidFill>
              <a:srgbClr val="173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qhat 3d single 197"/>
          <p:cNvSpPr/>
          <p:nvPr/>
        </p:nvSpPr>
        <p:spPr>
          <a:xfrm>
            <a:off x="13754100" y="5829300"/>
            <a:ext cx="242697" cy="242697"/>
          </a:xfrm>
          <a:prstGeom prst="rect">
            <a:avLst/>
          </a:prstGeom>
          <a:solidFill>
            <a:srgbClr val="FFC3AA"/>
          </a:solidFill>
          <a:ln w="15240">
            <a:solidFill>
              <a:srgbClr val="173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qhat 3d token 1 198"/>
          <p:cNvSpPr/>
          <p:nvPr/>
        </p:nvSpPr>
        <p:spPr>
          <a:xfrm>
            <a:off x="14352175" y="5829300"/>
            <a:ext cx="242697" cy="242697"/>
          </a:xfrm>
          <a:prstGeom prst="rect">
            <a:avLst/>
          </a:prstGeom>
          <a:solidFill>
            <a:srgbClr val="FFC3AA"/>
          </a:solidFill>
          <a:ln w="15240">
            <a:solidFill>
              <a:srgbClr val="173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qhat 3d token 2 199"/>
          <p:cNvSpPr/>
          <p:nvPr/>
        </p:nvSpPr>
        <p:spPr>
          <a:xfrm>
            <a:off x="14607873" y="5829300"/>
            <a:ext cx="242697" cy="242697"/>
          </a:xfrm>
          <a:prstGeom prst="rect">
            <a:avLst/>
          </a:prstGeom>
          <a:solidFill>
            <a:srgbClr val="FFC3AA"/>
          </a:solidFill>
          <a:ln w="15240">
            <a:solidFill>
              <a:srgbClr val="173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qhat 3d token 3 200"/>
          <p:cNvSpPr/>
          <p:nvPr/>
        </p:nvSpPr>
        <p:spPr>
          <a:xfrm>
            <a:off x="14863572" y="5829300"/>
            <a:ext cx="242697" cy="242697"/>
          </a:xfrm>
          <a:prstGeom prst="rect">
            <a:avLst/>
          </a:prstGeom>
          <a:solidFill>
            <a:srgbClr val="FFC3AA"/>
          </a:solidFill>
          <a:ln w="15240">
            <a:solidFill>
              <a:srgbClr val="173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svd left tensor layer 2 201"/>
          <p:cNvSpPr/>
          <p:nvPr/>
        </p:nvSpPr>
        <p:spPr>
          <a:xfrm>
            <a:off x="10534650" y="1781175"/>
            <a:ext cx="638175" cy="647700"/>
          </a:xfrm>
          <a:prstGeom prst="rect">
            <a:avLst/>
          </a:prstGeom>
          <a:solidFill>
            <a:srgbClr val="E9F4F1"/>
          </a:solidFill>
          <a:ln w="11429">
            <a:solidFill>
              <a:srgbClr val="6B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svd middle tensor layer 2 202"/>
          <p:cNvSpPr/>
          <p:nvPr/>
        </p:nvSpPr>
        <p:spPr>
          <a:xfrm>
            <a:off x="11801475" y="1771650"/>
            <a:ext cx="638175" cy="647700"/>
          </a:xfrm>
          <a:prstGeom prst="rect">
            <a:avLst/>
          </a:prstGeom>
          <a:solidFill>
            <a:srgbClr val="E9F4F1"/>
          </a:solidFill>
          <a:ln w="11429">
            <a:solidFill>
              <a:srgbClr val="6B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svd right tensor layer 2 203"/>
          <p:cNvSpPr/>
          <p:nvPr/>
        </p:nvSpPr>
        <p:spPr>
          <a:xfrm>
            <a:off x="13963650" y="1771650"/>
            <a:ext cx="638175" cy="647700"/>
          </a:xfrm>
          <a:prstGeom prst="rect">
            <a:avLst/>
          </a:prstGeom>
          <a:solidFill>
            <a:srgbClr val="E9F4F1"/>
          </a:solidFill>
          <a:ln w="11429">
            <a:solidFill>
              <a:srgbClr val="6B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svd right compressed layer 2 204"/>
          <p:cNvSpPr/>
          <p:nvPr/>
        </p:nvSpPr>
        <p:spPr>
          <a:xfrm>
            <a:off x="15154275" y="1847850"/>
            <a:ext cx="638175" cy="647700"/>
          </a:xfrm>
          <a:prstGeom prst="rect">
            <a:avLst/>
          </a:prstGeom>
          <a:solidFill>
            <a:srgbClr val="E9F4F1"/>
          </a:solidFill>
          <a:ln w="11429">
            <a:solidFill>
              <a:srgbClr val="6B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6" name="quantized agent queries single hatch 1 segment 1"/>
          <p:cNvCxnSpPr/>
          <p:nvPr/>
        </p:nvCxnSpPr>
        <p:spPr>
          <a:xfrm flipV="1">
            <a:off x="14373225" y="2809875"/>
            <a:ext cx="100279" cy="250698"/>
          </a:xfrm>
          <a:prstGeom prst="line">
            <a:avLst/>
          </a:prstGeom>
          <a:ln w="19050">
            <a:solidFill>
              <a:srgbClr val="1717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7" name="quantized agent queries single hatch 2 segment 1"/>
          <p:cNvCxnSpPr/>
          <p:nvPr/>
        </p:nvCxnSpPr>
        <p:spPr>
          <a:xfrm flipV="1">
            <a:off x="14423365" y="2809875"/>
            <a:ext cx="125349" cy="250698"/>
          </a:xfrm>
          <a:prstGeom prst="line">
            <a:avLst/>
          </a:prstGeom>
          <a:ln w="19050">
            <a:solidFill>
              <a:srgbClr val="1717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8" name="quantized agent queries single hatch 3 segment 1"/>
          <p:cNvCxnSpPr/>
          <p:nvPr/>
        </p:nvCxnSpPr>
        <p:spPr>
          <a:xfrm flipV="1">
            <a:off x="14498574" y="2809875"/>
            <a:ext cx="125349" cy="250698"/>
          </a:xfrm>
          <a:prstGeom prst="line">
            <a:avLst/>
          </a:prstGeom>
          <a:ln w="19050">
            <a:solidFill>
              <a:srgbClr val="1717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9" name="quantized agent queries token 1 hatch 1 segment 1"/>
          <p:cNvCxnSpPr/>
          <p:nvPr/>
        </p:nvCxnSpPr>
        <p:spPr>
          <a:xfrm flipV="1">
            <a:off x="14991016" y="2809875"/>
            <a:ext cx="100280" cy="250698"/>
          </a:xfrm>
          <a:prstGeom prst="line">
            <a:avLst/>
          </a:prstGeom>
          <a:ln w="19050">
            <a:solidFill>
              <a:srgbClr val="1717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0" name="quantized agent queries token 1 hatch 2 segment 1"/>
          <p:cNvCxnSpPr/>
          <p:nvPr/>
        </p:nvCxnSpPr>
        <p:spPr>
          <a:xfrm flipV="1">
            <a:off x="15041156" y="2809875"/>
            <a:ext cx="125349" cy="250698"/>
          </a:xfrm>
          <a:prstGeom prst="line">
            <a:avLst/>
          </a:prstGeom>
          <a:ln w="19050">
            <a:solidFill>
              <a:srgbClr val="1717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1" name="quantized agent queries token 1 hatch 3 segment 1"/>
          <p:cNvCxnSpPr/>
          <p:nvPr/>
        </p:nvCxnSpPr>
        <p:spPr>
          <a:xfrm flipV="1">
            <a:off x="15116366" y="2809875"/>
            <a:ext cx="125348" cy="250698"/>
          </a:xfrm>
          <a:prstGeom prst="line">
            <a:avLst/>
          </a:prstGeom>
          <a:ln w="19050">
            <a:solidFill>
              <a:srgbClr val="1717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2" name="quantized agent queries token 2 hatch 1 segment 1"/>
          <p:cNvCxnSpPr/>
          <p:nvPr/>
        </p:nvCxnSpPr>
        <p:spPr>
          <a:xfrm flipV="1">
            <a:off x="15255145" y="2809875"/>
            <a:ext cx="100279" cy="250698"/>
          </a:xfrm>
          <a:prstGeom prst="line">
            <a:avLst/>
          </a:prstGeom>
          <a:ln w="19050">
            <a:solidFill>
              <a:srgbClr val="1717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3" name="quantized agent queries token 2 hatch 2 segment 1"/>
          <p:cNvCxnSpPr/>
          <p:nvPr/>
        </p:nvCxnSpPr>
        <p:spPr>
          <a:xfrm flipV="1">
            <a:off x="15305284" y="2809875"/>
            <a:ext cx="125349" cy="250698"/>
          </a:xfrm>
          <a:prstGeom prst="line">
            <a:avLst/>
          </a:prstGeom>
          <a:ln w="19050">
            <a:solidFill>
              <a:srgbClr val="1717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4" name="quantized agent queries token 2 hatch 3 segment 1"/>
          <p:cNvCxnSpPr/>
          <p:nvPr/>
        </p:nvCxnSpPr>
        <p:spPr>
          <a:xfrm flipV="1">
            <a:off x="15380494" y="2809875"/>
            <a:ext cx="125349" cy="250698"/>
          </a:xfrm>
          <a:prstGeom prst="line">
            <a:avLst/>
          </a:prstGeom>
          <a:ln w="19050">
            <a:solidFill>
              <a:srgbClr val="1717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5" name="quantized agent queries token 3 hatch 1 segment 1"/>
          <p:cNvCxnSpPr/>
          <p:nvPr/>
        </p:nvCxnSpPr>
        <p:spPr>
          <a:xfrm flipV="1">
            <a:off x="15519273" y="2809875"/>
            <a:ext cx="100279" cy="250698"/>
          </a:xfrm>
          <a:prstGeom prst="line">
            <a:avLst/>
          </a:prstGeom>
          <a:ln w="19050">
            <a:solidFill>
              <a:srgbClr val="1717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6" name="quantized agent queries token 3 hatch 2 segment 1"/>
          <p:cNvCxnSpPr/>
          <p:nvPr/>
        </p:nvCxnSpPr>
        <p:spPr>
          <a:xfrm flipV="1">
            <a:off x="15569413" y="2809875"/>
            <a:ext cx="125349" cy="250698"/>
          </a:xfrm>
          <a:prstGeom prst="line">
            <a:avLst/>
          </a:prstGeom>
          <a:ln w="19050">
            <a:solidFill>
              <a:srgbClr val="1717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7" name="quantized agent queries token 3 hatch 3 segment 1"/>
          <p:cNvCxnSpPr/>
          <p:nvPr/>
        </p:nvCxnSpPr>
        <p:spPr>
          <a:xfrm flipV="1">
            <a:off x="15644622" y="2809875"/>
            <a:ext cx="125349" cy="250698"/>
          </a:xfrm>
          <a:prstGeom prst="line">
            <a:avLst/>
          </a:prstGeom>
          <a:ln w="19050">
            <a:solidFill>
              <a:srgbClr val="1717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8" name="q ins pc single hatch 1 segment 1"/>
          <p:cNvCxnSpPr/>
          <p:nvPr/>
        </p:nvCxnSpPr>
        <p:spPr>
          <a:xfrm flipV="1">
            <a:off x="10487025" y="4038600"/>
            <a:ext cx="93878" cy="234696"/>
          </a:xfrm>
          <a:prstGeom prst="line">
            <a:avLst/>
          </a:prstGeom>
          <a:ln w="19050">
            <a:solidFill>
              <a:srgbClr val="1717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9" name="q ins pc single hatch 2 segment 1"/>
          <p:cNvCxnSpPr/>
          <p:nvPr/>
        </p:nvCxnSpPr>
        <p:spPr>
          <a:xfrm flipV="1">
            <a:off x="10533964" y="4038600"/>
            <a:ext cx="117348" cy="234696"/>
          </a:xfrm>
          <a:prstGeom prst="line">
            <a:avLst/>
          </a:prstGeom>
          <a:ln w="19050">
            <a:solidFill>
              <a:srgbClr val="1717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0" name="q ins pc single hatch 3 segment 1"/>
          <p:cNvCxnSpPr/>
          <p:nvPr/>
        </p:nvCxnSpPr>
        <p:spPr>
          <a:xfrm flipV="1">
            <a:off x="10604373" y="4038600"/>
            <a:ext cx="117348" cy="234696"/>
          </a:xfrm>
          <a:prstGeom prst="line">
            <a:avLst/>
          </a:prstGeom>
          <a:ln w="19050">
            <a:solidFill>
              <a:srgbClr val="1717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1" name="q ins pc token 1 hatch 1 segment 1"/>
          <p:cNvCxnSpPr/>
          <p:nvPr/>
        </p:nvCxnSpPr>
        <p:spPr>
          <a:xfrm flipV="1">
            <a:off x="11065383" y="4038600"/>
            <a:ext cx="93878" cy="234696"/>
          </a:xfrm>
          <a:prstGeom prst="line">
            <a:avLst/>
          </a:prstGeom>
          <a:ln w="19050">
            <a:solidFill>
              <a:srgbClr val="1717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2" name="q ins pc token 1 hatch 2 segment 1"/>
          <p:cNvCxnSpPr/>
          <p:nvPr/>
        </p:nvCxnSpPr>
        <p:spPr>
          <a:xfrm flipV="1">
            <a:off x="11112322" y="4038600"/>
            <a:ext cx="117348" cy="234696"/>
          </a:xfrm>
          <a:prstGeom prst="line">
            <a:avLst/>
          </a:prstGeom>
          <a:ln w="19050">
            <a:solidFill>
              <a:srgbClr val="1717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3" name="q ins pc token 1 hatch 3 segment 1"/>
          <p:cNvCxnSpPr/>
          <p:nvPr/>
        </p:nvCxnSpPr>
        <p:spPr>
          <a:xfrm flipV="1">
            <a:off x="11182731" y="4038600"/>
            <a:ext cx="117348" cy="234696"/>
          </a:xfrm>
          <a:prstGeom prst="line">
            <a:avLst/>
          </a:prstGeom>
          <a:ln w="19050">
            <a:solidFill>
              <a:srgbClr val="1717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4" name="q ins pc token 2 hatch 1 segment 1"/>
          <p:cNvCxnSpPr/>
          <p:nvPr/>
        </p:nvCxnSpPr>
        <p:spPr>
          <a:xfrm flipV="1">
            <a:off x="11312652" y="4038600"/>
            <a:ext cx="93878" cy="234696"/>
          </a:xfrm>
          <a:prstGeom prst="line">
            <a:avLst/>
          </a:prstGeom>
          <a:ln w="19050">
            <a:solidFill>
              <a:srgbClr val="1717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5" name="q ins pc token 2 hatch 2 segment 1"/>
          <p:cNvCxnSpPr/>
          <p:nvPr/>
        </p:nvCxnSpPr>
        <p:spPr>
          <a:xfrm flipV="1">
            <a:off x="11359591" y="4038600"/>
            <a:ext cx="117348" cy="234696"/>
          </a:xfrm>
          <a:prstGeom prst="line">
            <a:avLst/>
          </a:prstGeom>
          <a:ln w="19050">
            <a:solidFill>
              <a:srgbClr val="1717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6" name="q ins pc token 2 hatch 3 segment 1"/>
          <p:cNvCxnSpPr/>
          <p:nvPr/>
        </p:nvCxnSpPr>
        <p:spPr>
          <a:xfrm flipV="1">
            <a:off x="11430000" y="4038600"/>
            <a:ext cx="117348" cy="234696"/>
          </a:xfrm>
          <a:prstGeom prst="line">
            <a:avLst/>
          </a:prstGeom>
          <a:ln w="19050">
            <a:solidFill>
              <a:srgbClr val="1717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7" name="q ins pc token 3 hatch 1 segment 1"/>
          <p:cNvCxnSpPr/>
          <p:nvPr/>
        </p:nvCxnSpPr>
        <p:spPr>
          <a:xfrm flipV="1">
            <a:off x="11559921" y="4038600"/>
            <a:ext cx="93878" cy="234696"/>
          </a:xfrm>
          <a:prstGeom prst="line">
            <a:avLst/>
          </a:prstGeom>
          <a:ln w="19050">
            <a:solidFill>
              <a:srgbClr val="1717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8" name="q ins pc token 3 hatch 2 segment 1"/>
          <p:cNvCxnSpPr/>
          <p:nvPr/>
        </p:nvCxnSpPr>
        <p:spPr>
          <a:xfrm flipV="1">
            <a:off x="11606860" y="4038600"/>
            <a:ext cx="117348" cy="234696"/>
          </a:xfrm>
          <a:prstGeom prst="line">
            <a:avLst/>
          </a:prstGeom>
          <a:ln w="19050">
            <a:solidFill>
              <a:srgbClr val="1717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9" name="q ins pc token 3 hatch 3 segment 1"/>
          <p:cNvCxnSpPr/>
          <p:nvPr/>
        </p:nvCxnSpPr>
        <p:spPr>
          <a:xfrm flipV="1">
            <a:off x="11677269" y="4038600"/>
            <a:ext cx="117348" cy="234696"/>
          </a:xfrm>
          <a:prstGeom prst="line">
            <a:avLst/>
          </a:prstGeom>
          <a:ln w="19050">
            <a:solidFill>
              <a:srgbClr val="1717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0" name="q prime ins pc single hatch 1 segment 1"/>
          <p:cNvCxnSpPr/>
          <p:nvPr/>
        </p:nvCxnSpPr>
        <p:spPr>
          <a:xfrm flipV="1">
            <a:off x="14906625" y="4038600"/>
            <a:ext cx="93878" cy="234696"/>
          </a:xfrm>
          <a:prstGeom prst="line">
            <a:avLst/>
          </a:prstGeom>
          <a:ln w="19050">
            <a:solidFill>
              <a:srgbClr val="1717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1" name="q prime ins pc single hatch 2 segment 1"/>
          <p:cNvCxnSpPr/>
          <p:nvPr/>
        </p:nvCxnSpPr>
        <p:spPr>
          <a:xfrm flipV="1">
            <a:off x="14953564" y="4038600"/>
            <a:ext cx="117348" cy="234696"/>
          </a:xfrm>
          <a:prstGeom prst="line">
            <a:avLst/>
          </a:prstGeom>
          <a:ln w="19050">
            <a:solidFill>
              <a:srgbClr val="1717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2" name="q prime ins pc single hatch 3 segment 1"/>
          <p:cNvCxnSpPr/>
          <p:nvPr/>
        </p:nvCxnSpPr>
        <p:spPr>
          <a:xfrm flipV="1">
            <a:off x="15023973" y="4038600"/>
            <a:ext cx="117348" cy="234696"/>
          </a:xfrm>
          <a:prstGeom prst="line">
            <a:avLst/>
          </a:prstGeom>
          <a:ln w="19050">
            <a:solidFill>
              <a:srgbClr val="1717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3" name="q prime ins pc token 1 hatch 1 segment 1"/>
          <p:cNvCxnSpPr/>
          <p:nvPr/>
        </p:nvCxnSpPr>
        <p:spPr>
          <a:xfrm flipV="1">
            <a:off x="15484983" y="4038600"/>
            <a:ext cx="93878" cy="234696"/>
          </a:xfrm>
          <a:prstGeom prst="line">
            <a:avLst/>
          </a:prstGeom>
          <a:ln w="19050">
            <a:solidFill>
              <a:srgbClr val="1717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4" name="q prime ins pc token 1 hatch 2 segment 1"/>
          <p:cNvCxnSpPr/>
          <p:nvPr/>
        </p:nvCxnSpPr>
        <p:spPr>
          <a:xfrm flipV="1">
            <a:off x="15531922" y="4038600"/>
            <a:ext cx="117348" cy="234696"/>
          </a:xfrm>
          <a:prstGeom prst="line">
            <a:avLst/>
          </a:prstGeom>
          <a:ln w="19050">
            <a:solidFill>
              <a:srgbClr val="1717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5" name="q prime ins pc token 1 hatch 3 segment 1"/>
          <p:cNvCxnSpPr/>
          <p:nvPr/>
        </p:nvCxnSpPr>
        <p:spPr>
          <a:xfrm flipV="1">
            <a:off x="15602331" y="4038600"/>
            <a:ext cx="117348" cy="234696"/>
          </a:xfrm>
          <a:prstGeom prst="line">
            <a:avLst/>
          </a:prstGeom>
          <a:ln w="19050">
            <a:solidFill>
              <a:srgbClr val="1717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6" name="q prime ins pc token 2 hatch 1 segment 1"/>
          <p:cNvCxnSpPr/>
          <p:nvPr/>
        </p:nvCxnSpPr>
        <p:spPr>
          <a:xfrm flipV="1">
            <a:off x="15732252" y="4038600"/>
            <a:ext cx="93878" cy="234696"/>
          </a:xfrm>
          <a:prstGeom prst="line">
            <a:avLst/>
          </a:prstGeom>
          <a:ln w="19050">
            <a:solidFill>
              <a:srgbClr val="1717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7" name="q prime ins pc token 2 hatch 2 segment 1"/>
          <p:cNvCxnSpPr/>
          <p:nvPr/>
        </p:nvCxnSpPr>
        <p:spPr>
          <a:xfrm flipV="1">
            <a:off x="15779191" y="4038600"/>
            <a:ext cx="117348" cy="234696"/>
          </a:xfrm>
          <a:prstGeom prst="line">
            <a:avLst/>
          </a:prstGeom>
          <a:ln w="19050">
            <a:solidFill>
              <a:srgbClr val="1717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8" name="q prime ins pc token 2 hatch 3 segment 1"/>
          <p:cNvCxnSpPr/>
          <p:nvPr/>
        </p:nvCxnSpPr>
        <p:spPr>
          <a:xfrm flipV="1">
            <a:off x="15849600" y="4038600"/>
            <a:ext cx="117348" cy="234696"/>
          </a:xfrm>
          <a:prstGeom prst="line">
            <a:avLst/>
          </a:prstGeom>
          <a:ln w="19050">
            <a:solidFill>
              <a:srgbClr val="1717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9" name="q prime ins pc token 3 hatch 1 segment 1"/>
          <p:cNvCxnSpPr/>
          <p:nvPr/>
        </p:nvCxnSpPr>
        <p:spPr>
          <a:xfrm flipV="1">
            <a:off x="15979521" y="4038600"/>
            <a:ext cx="93878" cy="234696"/>
          </a:xfrm>
          <a:prstGeom prst="line">
            <a:avLst/>
          </a:prstGeom>
          <a:ln w="19050">
            <a:solidFill>
              <a:srgbClr val="1717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0" name="q prime ins pc token 3 hatch 2 segment 1"/>
          <p:cNvCxnSpPr/>
          <p:nvPr/>
        </p:nvCxnSpPr>
        <p:spPr>
          <a:xfrm flipV="1">
            <a:off x="16026460" y="4038600"/>
            <a:ext cx="117348" cy="234696"/>
          </a:xfrm>
          <a:prstGeom prst="line">
            <a:avLst/>
          </a:prstGeom>
          <a:ln w="19050">
            <a:solidFill>
              <a:srgbClr val="1717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1" name="q prime ins pc token 3 hatch 3 segment 1"/>
          <p:cNvCxnSpPr/>
          <p:nvPr/>
        </p:nvCxnSpPr>
        <p:spPr>
          <a:xfrm flipV="1">
            <a:off x="16096869" y="4038600"/>
            <a:ext cx="117348" cy="234696"/>
          </a:xfrm>
          <a:prstGeom prst="line">
            <a:avLst/>
          </a:prstGeom>
          <a:ln w="19050">
            <a:solidFill>
              <a:srgbClr val="1717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2" name="alignment multiply 1 241"/>
          <p:cNvSpPr/>
          <p:nvPr/>
        </p:nvSpPr>
        <p:spPr>
          <a:xfrm>
            <a:off x="8858250" y="5800725"/>
            <a:ext cx="333375" cy="333375"/>
          </a:xfrm>
          <a:prstGeom prst="ellipse">
            <a:avLst/>
          </a:prstGeom>
          <a:solidFill>
            <a:srgbClr val="FFFBD2"/>
          </a:solidFill>
          <a:ln w="21907"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alignment sum 242"/>
          <p:cNvSpPr/>
          <p:nvPr/>
        </p:nvSpPr>
        <p:spPr>
          <a:xfrm>
            <a:off x="9525000" y="5800725"/>
            <a:ext cx="333375" cy="333375"/>
          </a:xfrm>
          <a:prstGeom prst="ellipse">
            <a:avLst/>
          </a:prstGeom>
          <a:solidFill>
            <a:srgbClr val="FFFBD2"/>
          </a:solidFill>
          <a:ln w="21907"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alignment map cell 1-1 243"/>
          <p:cNvSpPr/>
          <p:nvPr/>
        </p:nvSpPr>
        <p:spPr>
          <a:xfrm>
            <a:off x="10239375" y="5572125"/>
            <a:ext cx="200025" cy="200025"/>
          </a:xfrm>
          <a:prstGeom prst="rect">
            <a:avLst/>
          </a:prstGeom>
          <a:solidFill>
            <a:srgbClr val="F8A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alignment map cell 1-2 244"/>
          <p:cNvSpPr/>
          <p:nvPr/>
        </p:nvSpPr>
        <p:spPr>
          <a:xfrm>
            <a:off x="10434638" y="5572125"/>
            <a:ext cx="200025" cy="200025"/>
          </a:xfrm>
          <a:prstGeom prst="rect">
            <a:avLst/>
          </a:prstGeom>
          <a:solidFill>
            <a:srgbClr val="FF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alignment map cell 1-3 245"/>
          <p:cNvSpPr/>
          <p:nvPr/>
        </p:nvSpPr>
        <p:spPr>
          <a:xfrm>
            <a:off x="10629900" y="5572125"/>
            <a:ext cx="200025" cy="200025"/>
          </a:xfrm>
          <a:prstGeom prst="rect">
            <a:avLst/>
          </a:prstGeom>
          <a:solidFill>
            <a:srgbClr val="F8A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alignment map cell 1-4 246"/>
          <p:cNvSpPr/>
          <p:nvPr/>
        </p:nvSpPr>
        <p:spPr>
          <a:xfrm>
            <a:off x="10825162" y="5572125"/>
            <a:ext cx="200025" cy="200025"/>
          </a:xfrm>
          <a:prstGeom prst="rect">
            <a:avLst/>
          </a:prstGeom>
          <a:solidFill>
            <a:srgbClr val="FF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alignment map cell 2-1 247"/>
          <p:cNvSpPr/>
          <p:nvPr/>
        </p:nvSpPr>
        <p:spPr>
          <a:xfrm>
            <a:off x="10239375" y="5767388"/>
            <a:ext cx="200025" cy="200025"/>
          </a:xfrm>
          <a:prstGeom prst="rect">
            <a:avLst/>
          </a:prstGeom>
          <a:solidFill>
            <a:srgbClr val="FF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alignment map cell 2-2 248"/>
          <p:cNvSpPr/>
          <p:nvPr/>
        </p:nvSpPr>
        <p:spPr>
          <a:xfrm>
            <a:off x="10434638" y="5767388"/>
            <a:ext cx="200025" cy="200025"/>
          </a:xfrm>
          <a:prstGeom prst="rect">
            <a:avLst/>
          </a:prstGeom>
          <a:solidFill>
            <a:srgbClr val="F8A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alignment map cell 2-3 249"/>
          <p:cNvSpPr/>
          <p:nvPr/>
        </p:nvSpPr>
        <p:spPr>
          <a:xfrm>
            <a:off x="10629900" y="5767388"/>
            <a:ext cx="200025" cy="200025"/>
          </a:xfrm>
          <a:prstGeom prst="rect">
            <a:avLst/>
          </a:prstGeom>
          <a:solidFill>
            <a:srgbClr val="FF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alignment map cell 2-4 250"/>
          <p:cNvSpPr/>
          <p:nvPr/>
        </p:nvSpPr>
        <p:spPr>
          <a:xfrm>
            <a:off x="10825162" y="5767388"/>
            <a:ext cx="200025" cy="200025"/>
          </a:xfrm>
          <a:prstGeom prst="rect">
            <a:avLst/>
          </a:prstGeom>
          <a:solidFill>
            <a:srgbClr val="F8A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alignment map cell 3-1 251"/>
          <p:cNvSpPr/>
          <p:nvPr/>
        </p:nvSpPr>
        <p:spPr>
          <a:xfrm>
            <a:off x="10239375" y="5962650"/>
            <a:ext cx="200025" cy="200025"/>
          </a:xfrm>
          <a:prstGeom prst="rect">
            <a:avLst/>
          </a:prstGeom>
          <a:solidFill>
            <a:srgbClr val="F8A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alignment map cell 3-2 252"/>
          <p:cNvSpPr/>
          <p:nvPr/>
        </p:nvSpPr>
        <p:spPr>
          <a:xfrm>
            <a:off x="10434638" y="5962650"/>
            <a:ext cx="200025" cy="200025"/>
          </a:xfrm>
          <a:prstGeom prst="rect">
            <a:avLst/>
          </a:prstGeom>
          <a:solidFill>
            <a:srgbClr val="FF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alignment map cell 3-3 253"/>
          <p:cNvSpPr/>
          <p:nvPr/>
        </p:nvSpPr>
        <p:spPr>
          <a:xfrm>
            <a:off x="10629900" y="5962650"/>
            <a:ext cx="200025" cy="200025"/>
          </a:xfrm>
          <a:prstGeom prst="rect">
            <a:avLst/>
          </a:prstGeom>
          <a:solidFill>
            <a:srgbClr val="F8A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alignment map cell 3-4 254"/>
          <p:cNvSpPr/>
          <p:nvPr/>
        </p:nvSpPr>
        <p:spPr>
          <a:xfrm>
            <a:off x="10825162" y="5962650"/>
            <a:ext cx="200025" cy="200025"/>
          </a:xfrm>
          <a:prstGeom prst="rect">
            <a:avLst/>
          </a:prstGeom>
          <a:solidFill>
            <a:srgbClr val="FF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alignment map cell 4-1 255"/>
          <p:cNvSpPr/>
          <p:nvPr/>
        </p:nvSpPr>
        <p:spPr>
          <a:xfrm>
            <a:off x="10239375" y="6157912"/>
            <a:ext cx="200025" cy="200025"/>
          </a:xfrm>
          <a:prstGeom prst="rect">
            <a:avLst/>
          </a:prstGeom>
          <a:solidFill>
            <a:srgbClr val="FF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alignment map cell 4-2 256"/>
          <p:cNvSpPr/>
          <p:nvPr/>
        </p:nvSpPr>
        <p:spPr>
          <a:xfrm>
            <a:off x="10434638" y="6157912"/>
            <a:ext cx="200025" cy="200025"/>
          </a:xfrm>
          <a:prstGeom prst="rect">
            <a:avLst/>
          </a:prstGeom>
          <a:solidFill>
            <a:srgbClr val="F8A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alignment map cell 4-3 257"/>
          <p:cNvSpPr/>
          <p:nvPr/>
        </p:nvSpPr>
        <p:spPr>
          <a:xfrm>
            <a:off x="10629900" y="6157912"/>
            <a:ext cx="200025" cy="200025"/>
          </a:xfrm>
          <a:prstGeom prst="rect">
            <a:avLst/>
          </a:prstGeom>
          <a:solidFill>
            <a:srgbClr val="FF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alignment map cell 4-4 258"/>
          <p:cNvSpPr/>
          <p:nvPr/>
        </p:nvSpPr>
        <p:spPr>
          <a:xfrm>
            <a:off x="10825162" y="6157912"/>
            <a:ext cx="200025" cy="200025"/>
          </a:xfrm>
          <a:prstGeom prst="rect">
            <a:avLst/>
          </a:prstGeom>
          <a:solidFill>
            <a:srgbClr val="F8A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alignment multiply 2 259"/>
          <p:cNvSpPr/>
          <p:nvPr/>
        </p:nvSpPr>
        <p:spPr>
          <a:xfrm>
            <a:off x="11410950" y="5800725"/>
            <a:ext cx="333375" cy="333375"/>
          </a:xfrm>
          <a:prstGeom prst="ellipse">
            <a:avLst/>
          </a:prstGeom>
          <a:solidFill>
            <a:srgbClr val="FFFBD2"/>
          </a:solidFill>
          <a:ln w="21907"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1" name="light feature mini divide 1 segment 1"/>
          <p:cNvCxnSpPr/>
          <p:nvPr/>
        </p:nvCxnSpPr>
        <p:spPr>
          <a:xfrm>
            <a:off x="7600950" y="2243138"/>
            <a:ext cx="266700" cy="0"/>
          </a:xfrm>
          <a:prstGeom prst="line">
            <a:avLst/>
          </a:prstGeom>
          <a:ln w="11429">
            <a:solidFill>
              <a:srgbClr val="1734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2" name="light feature mini divide 2 segment 1"/>
          <p:cNvCxnSpPr/>
          <p:nvPr/>
        </p:nvCxnSpPr>
        <p:spPr>
          <a:xfrm>
            <a:off x="7600950" y="2324100"/>
            <a:ext cx="266700" cy="0"/>
          </a:xfrm>
          <a:prstGeom prst="line">
            <a:avLst/>
          </a:prstGeom>
          <a:ln w="11429">
            <a:solidFill>
              <a:srgbClr val="1734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3" name="light feature mini divide 3 segment 1"/>
          <p:cNvCxnSpPr/>
          <p:nvPr/>
        </p:nvCxnSpPr>
        <p:spPr>
          <a:xfrm>
            <a:off x="7600950" y="2405062"/>
            <a:ext cx="266700" cy="0"/>
          </a:xfrm>
          <a:prstGeom prst="line">
            <a:avLst/>
          </a:prstGeom>
          <a:ln w="11429">
            <a:solidFill>
              <a:srgbClr val="1734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4" name="dark feature mini divide 1 segment 1"/>
          <p:cNvCxnSpPr/>
          <p:nvPr/>
        </p:nvCxnSpPr>
        <p:spPr>
          <a:xfrm>
            <a:off x="8515350" y="2243138"/>
            <a:ext cx="266700" cy="0"/>
          </a:xfrm>
          <a:prstGeom prst="line">
            <a:avLst/>
          </a:prstGeom>
          <a:ln w="11429">
            <a:solidFill>
              <a:srgbClr val="1734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5" name="dark feature mini divide 2 segment 1"/>
          <p:cNvCxnSpPr/>
          <p:nvPr/>
        </p:nvCxnSpPr>
        <p:spPr>
          <a:xfrm>
            <a:off x="8515350" y="2324100"/>
            <a:ext cx="266700" cy="0"/>
          </a:xfrm>
          <a:prstGeom prst="line">
            <a:avLst/>
          </a:prstGeom>
          <a:ln w="11429">
            <a:solidFill>
              <a:srgbClr val="1734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6" name="dark feature mini divide 3 segment 1"/>
          <p:cNvCxnSpPr/>
          <p:nvPr/>
        </p:nvCxnSpPr>
        <p:spPr>
          <a:xfrm>
            <a:off x="8515350" y="2405062"/>
            <a:ext cx="266700" cy="0"/>
          </a:xfrm>
          <a:prstGeom prst="line">
            <a:avLst/>
          </a:prstGeom>
          <a:ln w="11429">
            <a:solidFill>
              <a:srgbClr val="1734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7" name="svd left tensor layer 3 266"/>
          <p:cNvSpPr/>
          <p:nvPr/>
        </p:nvSpPr>
        <p:spPr>
          <a:xfrm>
            <a:off x="10591800" y="1733550"/>
            <a:ext cx="638175" cy="647700"/>
          </a:xfrm>
          <a:prstGeom prst="rect">
            <a:avLst/>
          </a:prstGeom>
          <a:solidFill>
            <a:srgbClr val="B8DADF"/>
          </a:solidFill>
          <a:ln w="11429">
            <a:solidFill>
              <a:srgbClr val="6B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svd middle tensor layer 3 267"/>
          <p:cNvSpPr/>
          <p:nvPr/>
        </p:nvSpPr>
        <p:spPr>
          <a:xfrm>
            <a:off x="11858625" y="1724025"/>
            <a:ext cx="638175" cy="647700"/>
          </a:xfrm>
          <a:prstGeom prst="rect">
            <a:avLst/>
          </a:prstGeom>
          <a:solidFill>
            <a:srgbClr val="E9F4F1"/>
          </a:solidFill>
          <a:ln w="11429">
            <a:solidFill>
              <a:srgbClr val="6B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svd right tensor layer 3 268"/>
          <p:cNvSpPr/>
          <p:nvPr/>
        </p:nvSpPr>
        <p:spPr>
          <a:xfrm>
            <a:off x="14020800" y="1724025"/>
            <a:ext cx="638175" cy="647700"/>
          </a:xfrm>
          <a:prstGeom prst="rect">
            <a:avLst/>
          </a:prstGeom>
          <a:solidFill>
            <a:srgbClr val="B8DADF"/>
          </a:solidFill>
          <a:ln w="11429">
            <a:solidFill>
              <a:srgbClr val="6B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svd right compressed layer 3 269"/>
          <p:cNvSpPr/>
          <p:nvPr/>
        </p:nvSpPr>
        <p:spPr>
          <a:xfrm>
            <a:off x="15211425" y="1800225"/>
            <a:ext cx="638175" cy="647700"/>
          </a:xfrm>
          <a:prstGeom prst="rect">
            <a:avLst/>
          </a:prstGeom>
          <a:solidFill>
            <a:srgbClr val="E9F4F1"/>
          </a:solidFill>
          <a:ln w="11429">
            <a:solidFill>
              <a:srgbClr val="6B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source point cloud frame 270"/>
          <p:cNvSpPr/>
          <p:nvPr/>
        </p:nvSpPr>
        <p:spPr>
          <a:xfrm>
            <a:off x="247650" y="7038975"/>
            <a:ext cx="2076450" cy="1447800"/>
          </a:xfrm>
          <a:prstGeom prst="rect">
            <a:avLst/>
          </a:prstGeom>
          <a:noFill/>
          <a:ln w="190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2" name="backbone feature stack divide 1 segment 1"/>
          <p:cNvCxnSpPr/>
          <p:nvPr/>
        </p:nvCxnSpPr>
        <p:spPr>
          <a:xfrm>
            <a:off x="5314950" y="7496175"/>
            <a:ext cx="266700" cy="0"/>
          </a:xfrm>
          <a:prstGeom prst="line">
            <a:avLst/>
          </a:prstGeom>
          <a:ln w="11429">
            <a:solidFill>
              <a:srgbClr val="1734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3" name="backbone feature stack divide 2 segment 1"/>
          <p:cNvCxnSpPr/>
          <p:nvPr/>
        </p:nvCxnSpPr>
        <p:spPr>
          <a:xfrm>
            <a:off x="5314950" y="7743825"/>
            <a:ext cx="266700" cy="0"/>
          </a:xfrm>
          <a:prstGeom prst="line">
            <a:avLst/>
          </a:prstGeom>
          <a:ln w="11429">
            <a:solidFill>
              <a:srgbClr val="1734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4" name="backbone feature stack divide 3 segment 1"/>
          <p:cNvCxnSpPr/>
          <p:nvPr/>
        </p:nvCxnSpPr>
        <p:spPr>
          <a:xfrm>
            <a:off x="5314950" y="7991475"/>
            <a:ext cx="266700" cy="0"/>
          </a:xfrm>
          <a:prstGeom prst="line">
            <a:avLst/>
          </a:prstGeom>
          <a:ln w="11429">
            <a:solidFill>
              <a:srgbClr val="1734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5" name="decoder feature stack 1 divide 1 segment 1"/>
          <p:cNvCxnSpPr/>
          <p:nvPr/>
        </p:nvCxnSpPr>
        <p:spPr>
          <a:xfrm>
            <a:off x="8667750" y="7048500"/>
            <a:ext cx="266700" cy="0"/>
          </a:xfrm>
          <a:prstGeom prst="line">
            <a:avLst/>
          </a:prstGeom>
          <a:ln w="11429">
            <a:solidFill>
              <a:srgbClr val="1734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6" name="decoder feature stack 1 divide 2 segment 1"/>
          <p:cNvCxnSpPr/>
          <p:nvPr/>
        </p:nvCxnSpPr>
        <p:spPr>
          <a:xfrm>
            <a:off x="8667750" y="7334250"/>
            <a:ext cx="266700" cy="0"/>
          </a:xfrm>
          <a:prstGeom prst="line">
            <a:avLst/>
          </a:prstGeom>
          <a:ln w="11429">
            <a:solidFill>
              <a:srgbClr val="1734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7" name="decoder feature stack 1 divide 3 segment 1"/>
          <p:cNvCxnSpPr/>
          <p:nvPr/>
        </p:nvCxnSpPr>
        <p:spPr>
          <a:xfrm>
            <a:off x="8667750" y="7620000"/>
            <a:ext cx="266700" cy="0"/>
          </a:xfrm>
          <a:prstGeom prst="line">
            <a:avLst/>
          </a:prstGeom>
          <a:ln w="11429">
            <a:solidFill>
              <a:srgbClr val="1734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8" name="decoder output feature stack divide 1 segment 1"/>
          <p:cNvCxnSpPr/>
          <p:nvPr/>
        </p:nvCxnSpPr>
        <p:spPr>
          <a:xfrm>
            <a:off x="12287250" y="7048500"/>
            <a:ext cx="266700" cy="0"/>
          </a:xfrm>
          <a:prstGeom prst="line">
            <a:avLst/>
          </a:prstGeom>
          <a:ln w="11429">
            <a:solidFill>
              <a:srgbClr val="1734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9" name="decoder output feature stack divide 2 segment 1"/>
          <p:cNvCxnSpPr/>
          <p:nvPr/>
        </p:nvCxnSpPr>
        <p:spPr>
          <a:xfrm>
            <a:off x="12287250" y="7334250"/>
            <a:ext cx="266700" cy="0"/>
          </a:xfrm>
          <a:prstGeom prst="line">
            <a:avLst/>
          </a:prstGeom>
          <a:ln w="11429">
            <a:solidFill>
              <a:srgbClr val="1734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" name="decoder output feature stack divide 3 segment 1"/>
          <p:cNvCxnSpPr/>
          <p:nvPr/>
        </p:nvCxnSpPr>
        <p:spPr>
          <a:xfrm>
            <a:off x="12287250" y="7620000"/>
            <a:ext cx="266700" cy="0"/>
          </a:xfrm>
          <a:prstGeom prst="line">
            <a:avLst/>
          </a:prstGeom>
          <a:ln w="11429">
            <a:solidFill>
              <a:srgbClr val="1734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1" name="target label frame 280"/>
          <p:cNvSpPr/>
          <p:nvPr/>
        </p:nvSpPr>
        <p:spPr>
          <a:xfrm>
            <a:off x="14316075" y="7981950"/>
            <a:ext cx="2057400" cy="1276350"/>
          </a:xfrm>
          <a:prstGeom prst="rect">
            <a:avLst/>
          </a:prstGeom>
          <a:noFill/>
          <a:ln w="190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alignment feature map frame 281"/>
          <p:cNvSpPr/>
          <p:nvPr/>
        </p:nvSpPr>
        <p:spPr>
          <a:xfrm>
            <a:off x="10239375" y="5572125"/>
            <a:ext cx="781050" cy="781050"/>
          </a:xfrm>
          <a:prstGeom prst="rect">
            <a:avLst/>
          </a:prstGeom>
          <a:noFill/>
          <a:ln w="13334">
            <a:solidFill>
              <a:srgbClr val="E790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dual query top dots 282"/>
          <p:cNvSpPr txBox="1"/>
          <p:nvPr/>
        </p:nvSpPr>
        <p:spPr>
          <a:xfrm>
            <a:off x="3622358" y="2706529"/>
            <a:ext cx="307658" cy="30765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67" b="0" i="0">
                <a:solidFill>
                  <a:srgbClr val="101010"/>
                </a:solidFill>
                <a:latin typeface="Liberation Sans"/>
              </a:rPr>
              <a:t>...</a:t>
            </a:r>
          </a:p>
        </p:txBody>
      </p:sp>
      <p:sp>
        <p:nvSpPr>
          <p:cNvPr id="304" name="dual query bottom dots 283"/>
          <p:cNvSpPr txBox="1"/>
          <p:nvPr/>
        </p:nvSpPr>
        <p:spPr>
          <a:xfrm>
            <a:off x="3622358" y="3516154"/>
            <a:ext cx="307658" cy="30765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67" b="0" i="0">
                <a:solidFill>
                  <a:srgbClr val="101010"/>
                </a:solidFill>
                <a:latin typeface="Liberation Sans"/>
              </a:rPr>
              <a:t>...</a:t>
            </a:r>
          </a:p>
        </p:txBody>
      </p:sp>
      <p:sp>
        <p:nvSpPr>
          <p:cNvPr id="305" name="q ins dots 284"/>
          <p:cNvSpPr txBox="1"/>
          <p:nvPr/>
        </p:nvSpPr>
        <p:spPr>
          <a:xfrm>
            <a:off x="5993892" y="3640836"/>
            <a:ext cx="297942" cy="29794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18" b="0" i="0">
                <a:solidFill>
                  <a:srgbClr val="101010"/>
                </a:solidFill>
                <a:latin typeface="Liberation Sans"/>
              </a:rPr>
              <a:t>...</a:t>
            </a:r>
          </a:p>
        </p:txBody>
      </p:sp>
      <p:sp>
        <p:nvSpPr>
          <p:cNvPr id="306" name="q prime ins dots 285"/>
          <p:cNvSpPr txBox="1"/>
          <p:nvPr/>
        </p:nvSpPr>
        <p:spPr>
          <a:xfrm>
            <a:off x="8279892" y="3640836"/>
            <a:ext cx="297942" cy="29794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18" b="0" i="0">
                <a:solidFill>
                  <a:srgbClr val="101010"/>
                </a:solidFill>
                <a:latin typeface="Liberation Sans"/>
              </a:rPr>
              <a:t>...</a:t>
            </a:r>
          </a:p>
        </p:txBody>
      </p:sp>
      <p:sp>
        <p:nvSpPr>
          <p:cNvPr id="307" name="dual consistency frame label 286"/>
          <p:cNvSpPr txBox="1"/>
          <p:nvPr/>
        </p:nvSpPr>
        <p:spPr>
          <a:xfrm>
            <a:off x="10325100" y="590550"/>
            <a:ext cx="6086475" cy="29527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08" name="object agent query header dots 287"/>
          <p:cNvSpPr txBox="1"/>
          <p:nvPr/>
        </p:nvSpPr>
        <p:spPr>
          <a:xfrm>
            <a:off x="11677650" y="723900"/>
            <a:ext cx="323850" cy="323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01010"/>
                </a:solidFill>
                <a:latin typeface="Liberation Sans"/>
              </a:rPr>
              <a:t>...</a:t>
            </a:r>
          </a:p>
        </p:txBody>
      </p:sp>
      <p:sp>
        <p:nvSpPr>
          <p:cNvPr id="309" name="svd middle tensor stripe 288"/>
          <p:cNvSpPr/>
          <p:nvPr/>
        </p:nvSpPr>
        <p:spPr>
          <a:xfrm>
            <a:off x="11820525" y="1819275"/>
            <a:ext cx="571500" cy="523875"/>
          </a:xfrm>
          <a:custGeom>
            <a:avLst/>
            <a:gdLst/>
            <a:ahLst/>
            <a:cxnLst/>
            <a:rect l="l" t="t" r="r" b="b"/>
            <a:pathLst>
              <a:path w="60" h="55">
                <a:moveTo>
                  <a:pt x="0" y="0"/>
                </a:moveTo>
                <a:lnTo>
                  <a:pt x="20" y="0"/>
                </a:lnTo>
                <a:lnTo>
                  <a:pt x="60" y="55"/>
                </a:lnTo>
                <a:lnTo>
                  <a:pt x="39" y="55"/>
                </a:lnTo>
                <a:close/>
              </a:path>
            </a:pathLst>
          </a:custGeom>
          <a:solidFill>
            <a:srgbClr val="FFE6C9"/>
          </a:solidFill>
          <a:ln w="9525">
            <a:solidFill>
              <a:srgbClr val="C18B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svd right compressed stripe 289"/>
          <p:cNvSpPr/>
          <p:nvPr/>
        </p:nvSpPr>
        <p:spPr>
          <a:xfrm>
            <a:off x="15173325" y="1895475"/>
            <a:ext cx="571500" cy="523875"/>
          </a:xfrm>
          <a:custGeom>
            <a:avLst/>
            <a:gdLst/>
            <a:ahLst/>
            <a:cxnLst/>
            <a:rect l="l" t="t" r="r" b="b"/>
            <a:pathLst>
              <a:path w="60" h="55">
                <a:moveTo>
                  <a:pt x="0" y="0"/>
                </a:moveTo>
                <a:lnTo>
                  <a:pt x="20" y="0"/>
                </a:lnTo>
                <a:lnTo>
                  <a:pt x="60" y="55"/>
                </a:lnTo>
                <a:lnTo>
                  <a:pt x="39" y="55"/>
                </a:lnTo>
                <a:close/>
              </a:path>
            </a:pathLst>
          </a:custGeom>
          <a:solidFill>
            <a:srgbClr val="FFE6C9"/>
          </a:solidFill>
          <a:ln w="9525">
            <a:solidFill>
              <a:srgbClr val="C18B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quantized agent queries dots 290"/>
          <p:cNvSpPr txBox="1"/>
          <p:nvPr/>
        </p:nvSpPr>
        <p:spPr>
          <a:xfrm>
            <a:off x="14677644" y="2783014"/>
            <a:ext cx="304419" cy="30441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51" b="0" i="0">
                <a:solidFill>
                  <a:srgbClr val="101010"/>
                </a:solidFill>
                <a:latin typeface="Liberation Sans"/>
              </a:rPr>
              <a:t>...</a:t>
            </a:r>
          </a:p>
        </p:txBody>
      </p:sp>
      <p:sp>
        <p:nvSpPr>
          <p:cNvPr id="312" name="q ins pc dots 291"/>
          <p:cNvSpPr txBox="1"/>
          <p:nvPr/>
        </p:nvSpPr>
        <p:spPr>
          <a:xfrm>
            <a:off x="10772013" y="4013454"/>
            <a:ext cx="284988" cy="28498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452" b="0" i="0">
                <a:solidFill>
                  <a:srgbClr val="101010"/>
                </a:solidFill>
                <a:latin typeface="Liberation Sans"/>
              </a:rPr>
              <a:t>...</a:t>
            </a:r>
          </a:p>
        </p:txBody>
      </p:sp>
      <p:sp>
        <p:nvSpPr>
          <p:cNvPr id="313" name="q prime ins pc dots 292"/>
          <p:cNvSpPr txBox="1"/>
          <p:nvPr/>
        </p:nvSpPr>
        <p:spPr>
          <a:xfrm>
            <a:off x="15191613" y="4013454"/>
            <a:ext cx="284988" cy="28498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452" b="0" i="0">
                <a:solidFill>
                  <a:srgbClr val="101010"/>
                </a:solidFill>
                <a:latin typeface="Liberation Sans"/>
              </a:rPr>
              <a:t>...</a:t>
            </a:r>
          </a:p>
        </p:txBody>
      </p:sp>
      <p:sp>
        <p:nvSpPr>
          <p:cNvPr id="314" name="3d aggregation queries dots 293"/>
          <p:cNvSpPr txBox="1"/>
          <p:nvPr/>
        </p:nvSpPr>
        <p:spPr>
          <a:xfrm>
            <a:off x="3326892" y="5260086"/>
            <a:ext cx="297942" cy="29794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18" b="0" i="0">
                <a:solidFill>
                  <a:srgbClr val="101010"/>
                </a:solidFill>
                <a:latin typeface="Liberation Sans"/>
              </a:rPr>
              <a:t>...</a:t>
            </a:r>
          </a:p>
        </p:txBody>
      </p:sp>
      <p:sp>
        <p:nvSpPr>
          <p:cNvPr id="315" name="q3d queries dots 294"/>
          <p:cNvSpPr txBox="1"/>
          <p:nvPr/>
        </p:nvSpPr>
        <p:spPr>
          <a:xfrm>
            <a:off x="7041832" y="5897404"/>
            <a:ext cx="307658" cy="30765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67" b="0" i="0">
                <a:solidFill>
                  <a:srgbClr val="101010"/>
                </a:solidFill>
                <a:latin typeface="Liberation Sans"/>
              </a:rPr>
              <a:t>...</a:t>
            </a:r>
          </a:p>
        </p:txBody>
      </p:sp>
      <p:sp>
        <p:nvSpPr>
          <p:cNvPr id="316" name="qhat 3d dots 295"/>
          <p:cNvSpPr txBox="1"/>
          <p:nvPr/>
        </p:nvSpPr>
        <p:spPr>
          <a:xfrm>
            <a:off x="14048804" y="5803297"/>
            <a:ext cx="294704" cy="2947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01" b="0" i="0">
                <a:solidFill>
                  <a:srgbClr val="101010"/>
                </a:solidFill>
                <a:latin typeface="Liberation Sans"/>
              </a:rPr>
              <a:t>...</a:t>
            </a:r>
          </a:p>
        </p:txBody>
      </p:sp>
      <p:cxnSp>
        <p:nvCxnSpPr>
          <p:cNvPr id="317" name="svd arrow segment 1"/>
          <p:cNvCxnSpPr/>
          <p:nvPr/>
        </p:nvCxnSpPr>
        <p:spPr>
          <a:xfrm>
            <a:off x="13468350" y="2171700"/>
            <a:ext cx="323850" cy="0"/>
          </a:xfrm>
          <a:prstGeom prst="line">
            <a:avLst/>
          </a:prstGeom>
          <a:ln w="24765">
            <a:solidFill>
              <a:srgbClr val="10101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8" name="svd left tensor right brace 297"/>
          <p:cNvSpPr txBox="1"/>
          <p:nvPr/>
        </p:nvSpPr>
        <p:spPr>
          <a:xfrm>
            <a:off x="11134725" y="1809750"/>
            <a:ext cx="238125" cy="723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3300" b="0" i="0">
                <a:solidFill>
                  <a:srgbClr val="101010"/>
                </a:solidFill>
                <a:latin typeface="Liberation Serif"/>
              </a:rPr>
              <a:t>}</a:t>
            </a:r>
          </a:p>
        </p:txBody>
      </p:sp>
      <p:sp>
        <p:nvSpPr>
          <p:cNvPr id="319" name="svd left tensor r 298"/>
          <p:cNvSpPr txBox="1"/>
          <p:nvPr/>
        </p:nvSpPr>
        <p:spPr>
          <a:xfrm>
            <a:off x="11325225" y="2047875"/>
            <a:ext cx="180975" cy="23812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01010"/>
                </a:solidFill>
                <a:latin typeface="Liberation Serif"/>
              </a:rPr>
              <a:t>r</a:t>
            </a:r>
          </a:p>
        </p:txBody>
      </p:sp>
      <p:cxnSp>
        <p:nvCxnSpPr>
          <p:cNvPr id="320" name="svd left tensor bottom bracket segment 1"/>
          <p:cNvCxnSpPr/>
          <p:nvPr/>
        </p:nvCxnSpPr>
        <p:spPr>
          <a:xfrm>
            <a:off x="10668000" y="2371725"/>
            <a:ext cx="0" cy="95250"/>
          </a:xfrm>
          <a:prstGeom prst="line">
            <a:avLst/>
          </a:prstGeom>
          <a:ln w="17145">
            <a:solidFill>
              <a:srgbClr val="1010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1" name="svd left tensor bottom bracket segment 2"/>
          <p:cNvCxnSpPr/>
          <p:nvPr/>
        </p:nvCxnSpPr>
        <p:spPr>
          <a:xfrm>
            <a:off x="10668000" y="2466975"/>
            <a:ext cx="447675" cy="0"/>
          </a:xfrm>
          <a:prstGeom prst="line">
            <a:avLst/>
          </a:prstGeom>
          <a:ln w="17145">
            <a:solidFill>
              <a:srgbClr val="1010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2" name="svd left tensor bottom bracket segment 3"/>
          <p:cNvCxnSpPr/>
          <p:nvPr/>
        </p:nvCxnSpPr>
        <p:spPr>
          <a:xfrm flipV="1">
            <a:off x="11115675" y="2371725"/>
            <a:ext cx="0" cy="95250"/>
          </a:xfrm>
          <a:prstGeom prst="line">
            <a:avLst/>
          </a:prstGeom>
          <a:ln w="17145">
            <a:solidFill>
              <a:srgbClr val="1010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3" name="svd left tensor c 300"/>
          <p:cNvSpPr txBox="1"/>
          <p:nvPr/>
        </p:nvSpPr>
        <p:spPr>
          <a:xfrm>
            <a:off x="10858500" y="2495550"/>
            <a:ext cx="190500" cy="209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425" b="0" i="0">
                <a:solidFill>
                  <a:srgbClr val="101010"/>
                </a:solidFill>
                <a:latin typeface="Liberation Serif"/>
              </a:rPr>
              <a:t>c</a:t>
            </a:r>
          </a:p>
        </p:txBody>
      </p:sp>
      <p:sp>
        <p:nvSpPr>
          <p:cNvPr id="324" name="svd left tensor k 301"/>
          <p:cNvSpPr txBox="1"/>
          <p:nvPr/>
        </p:nvSpPr>
        <p:spPr>
          <a:xfrm>
            <a:off x="10677525" y="1533525"/>
            <a:ext cx="285750" cy="2667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B466C5"/>
                </a:solidFill>
                <a:latin typeface="Liberation Serif"/>
              </a:rPr>
              <a:t>k</a:t>
            </a:r>
          </a:p>
        </p:txBody>
      </p:sp>
      <p:cxnSp>
        <p:nvCxnSpPr>
          <p:cNvPr id="325" name="svd left tensor top bracket segment 1"/>
          <p:cNvCxnSpPr/>
          <p:nvPr/>
        </p:nvCxnSpPr>
        <p:spPr>
          <a:xfrm flipV="1">
            <a:off x="10553700" y="1714500"/>
            <a:ext cx="0" cy="95250"/>
          </a:xfrm>
          <a:prstGeom prst="line">
            <a:avLst/>
          </a:prstGeom>
          <a:ln w="17145">
            <a:solidFill>
              <a:srgbClr val="B466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6" name="svd left tensor top bracket segment 2"/>
          <p:cNvCxnSpPr/>
          <p:nvPr/>
        </p:nvCxnSpPr>
        <p:spPr>
          <a:xfrm>
            <a:off x="10553700" y="1714500"/>
            <a:ext cx="409575" cy="0"/>
          </a:xfrm>
          <a:prstGeom prst="line">
            <a:avLst/>
          </a:prstGeom>
          <a:ln w="17145">
            <a:solidFill>
              <a:srgbClr val="B466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7" name="svd left tensor top bracket segment 3"/>
          <p:cNvCxnSpPr/>
          <p:nvPr/>
        </p:nvCxnSpPr>
        <p:spPr>
          <a:xfrm>
            <a:off x="10963275" y="1714500"/>
            <a:ext cx="0" cy="95250"/>
          </a:xfrm>
          <a:prstGeom prst="line">
            <a:avLst/>
          </a:prstGeom>
          <a:ln w="17145">
            <a:solidFill>
              <a:srgbClr val="B466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8" name="svd middle tensor right brace 303"/>
          <p:cNvSpPr txBox="1"/>
          <p:nvPr/>
        </p:nvSpPr>
        <p:spPr>
          <a:xfrm>
            <a:off x="12401550" y="1800225"/>
            <a:ext cx="238125" cy="723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3300" b="0" i="0">
                <a:solidFill>
                  <a:srgbClr val="101010"/>
                </a:solidFill>
                <a:latin typeface="Liberation Serif"/>
              </a:rPr>
              <a:t>}</a:t>
            </a:r>
          </a:p>
        </p:txBody>
      </p:sp>
      <p:sp>
        <p:nvSpPr>
          <p:cNvPr id="329" name="svd middle tensor r 304"/>
          <p:cNvSpPr txBox="1"/>
          <p:nvPr/>
        </p:nvSpPr>
        <p:spPr>
          <a:xfrm>
            <a:off x="12592050" y="2038350"/>
            <a:ext cx="180975" cy="23812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01010"/>
                </a:solidFill>
                <a:latin typeface="Liberation Serif"/>
              </a:rPr>
              <a:t>r</a:t>
            </a:r>
          </a:p>
        </p:txBody>
      </p:sp>
      <p:cxnSp>
        <p:nvCxnSpPr>
          <p:cNvPr id="330" name="svd middle tensor bottom bracket segment 1"/>
          <p:cNvCxnSpPr/>
          <p:nvPr/>
        </p:nvCxnSpPr>
        <p:spPr>
          <a:xfrm>
            <a:off x="11934825" y="2362200"/>
            <a:ext cx="0" cy="95250"/>
          </a:xfrm>
          <a:prstGeom prst="line">
            <a:avLst/>
          </a:prstGeom>
          <a:ln w="17145">
            <a:solidFill>
              <a:srgbClr val="1010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1" name="svd middle tensor bottom bracket segment 2"/>
          <p:cNvCxnSpPr/>
          <p:nvPr/>
        </p:nvCxnSpPr>
        <p:spPr>
          <a:xfrm>
            <a:off x="11934825" y="2457450"/>
            <a:ext cx="447675" cy="0"/>
          </a:xfrm>
          <a:prstGeom prst="line">
            <a:avLst/>
          </a:prstGeom>
          <a:ln w="17145">
            <a:solidFill>
              <a:srgbClr val="1010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2" name="svd middle tensor bottom bracket segment 3"/>
          <p:cNvCxnSpPr/>
          <p:nvPr/>
        </p:nvCxnSpPr>
        <p:spPr>
          <a:xfrm flipV="1">
            <a:off x="12382500" y="2362200"/>
            <a:ext cx="0" cy="95250"/>
          </a:xfrm>
          <a:prstGeom prst="line">
            <a:avLst/>
          </a:prstGeom>
          <a:ln w="17145">
            <a:solidFill>
              <a:srgbClr val="1010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3" name="svd middle tensor c 306"/>
          <p:cNvSpPr txBox="1"/>
          <p:nvPr/>
        </p:nvSpPr>
        <p:spPr>
          <a:xfrm>
            <a:off x="12125325" y="2486025"/>
            <a:ext cx="190500" cy="209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425" b="0" i="0">
                <a:solidFill>
                  <a:srgbClr val="101010"/>
                </a:solidFill>
                <a:latin typeface="Liberation Serif"/>
              </a:rPr>
              <a:t>c</a:t>
            </a:r>
          </a:p>
        </p:txBody>
      </p:sp>
      <p:sp>
        <p:nvSpPr>
          <p:cNvPr id="334" name="svd middle tensor k 307"/>
          <p:cNvSpPr txBox="1"/>
          <p:nvPr/>
        </p:nvSpPr>
        <p:spPr>
          <a:xfrm>
            <a:off x="11944350" y="1524000"/>
            <a:ext cx="285750" cy="2667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B466C5"/>
                </a:solidFill>
                <a:latin typeface="Liberation Serif"/>
              </a:rPr>
              <a:t>k</a:t>
            </a:r>
          </a:p>
        </p:txBody>
      </p:sp>
      <p:cxnSp>
        <p:nvCxnSpPr>
          <p:cNvPr id="335" name="svd middle tensor top bracket segment 1"/>
          <p:cNvCxnSpPr/>
          <p:nvPr/>
        </p:nvCxnSpPr>
        <p:spPr>
          <a:xfrm flipV="1">
            <a:off x="11820525" y="1704975"/>
            <a:ext cx="0" cy="95250"/>
          </a:xfrm>
          <a:prstGeom prst="line">
            <a:avLst/>
          </a:prstGeom>
          <a:ln w="17145">
            <a:solidFill>
              <a:srgbClr val="B466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6" name="svd middle tensor top bracket segment 2"/>
          <p:cNvCxnSpPr/>
          <p:nvPr/>
        </p:nvCxnSpPr>
        <p:spPr>
          <a:xfrm>
            <a:off x="11820525" y="1704975"/>
            <a:ext cx="409575" cy="0"/>
          </a:xfrm>
          <a:prstGeom prst="line">
            <a:avLst/>
          </a:prstGeom>
          <a:ln w="17145">
            <a:solidFill>
              <a:srgbClr val="B466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7" name="svd middle tensor top bracket segment 3"/>
          <p:cNvCxnSpPr/>
          <p:nvPr/>
        </p:nvCxnSpPr>
        <p:spPr>
          <a:xfrm>
            <a:off x="12230100" y="1704975"/>
            <a:ext cx="0" cy="95250"/>
          </a:xfrm>
          <a:prstGeom prst="line">
            <a:avLst/>
          </a:prstGeom>
          <a:ln w="17145">
            <a:solidFill>
              <a:srgbClr val="B466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8" name="svd right tensor right brace 309"/>
          <p:cNvSpPr txBox="1"/>
          <p:nvPr/>
        </p:nvSpPr>
        <p:spPr>
          <a:xfrm>
            <a:off x="14563725" y="1800225"/>
            <a:ext cx="238125" cy="723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3300" b="0" i="0">
                <a:solidFill>
                  <a:srgbClr val="101010"/>
                </a:solidFill>
                <a:latin typeface="Liberation Serif"/>
              </a:rPr>
              <a:t>}</a:t>
            </a:r>
          </a:p>
        </p:txBody>
      </p:sp>
      <p:sp>
        <p:nvSpPr>
          <p:cNvPr id="339" name="svd right tensor r 310"/>
          <p:cNvSpPr txBox="1"/>
          <p:nvPr/>
        </p:nvSpPr>
        <p:spPr>
          <a:xfrm>
            <a:off x="14754225" y="2038350"/>
            <a:ext cx="180975" cy="23812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01010"/>
                </a:solidFill>
                <a:latin typeface="Liberation Serif"/>
              </a:rPr>
              <a:t>r</a:t>
            </a:r>
          </a:p>
        </p:txBody>
      </p:sp>
      <p:cxnSp>
        <p:nvCxnSpPr>
          <p:cNvPr id="340" name="svd right tensor bottom bracket segment 1"/>
          <p:cNvCxnSpPr/>
          <p:nvPr/>
        </p:nvCxnSpPr>
        <p:spPr>
          <a:xfrm>
            <a:off x="14097000" y="2362200"/>
            <a:ext cx="0" cy="95250"/>
          </a:xfrm>
          <a:prstGeom prst="line">
            <a:avLst/>
          </a:prstGeom>
          <a:ln w="17145">
            <a:solidFill>
              <a:srgbClr val="1010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1" name="svd right tensor bottom bracket segment 2"/>
          <p:cNvCxnSpPr/>
          <p:nvPr/>
        </p:nvCxnSpPr>
        <p:spPr>
          <a:xfrm>
            <a:off x="14097000" y="2457450"/>
            <a:ext cx="447675" cy="0"/>
          </a:xfrm>
          <a:prstGeom prst="line">
            <a:avLst/>
          </a:prstGeom>
          <a:ln w="17145">
            <a:solidFill>
              <a:srgbClr val="1010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2" name="svd right tensor bottom bracket segment 3"/>
          <p:cNvCxnSpPr/>
          <p:nvPr/>
        </p:nvCxnSpPr>
        <p:spPr>
          <a:xfrm flipV="1">
            <a:off x="14544675" y="2362200"/>
            <a:ext cx="0" cy="95250"/>
          </a:xfrm>
          <a:prstGeom prst="line">
            <a:avLst/>
          </a:prstGeom>
          <a:ln w="17145">
            <a:solidFill>
              <a:srgbClr val="1010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3" name="svd right tensor c 312"/>
          <p:cNvSpPr txBox="1"/>
          <p:nvPr/>
        </p:nvSpPr>
        <p:spPr>
          <a:xfrm>
            <a:off x="14287500" y="2486025"/>
            <a:ext cx="190500" cy="209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425" b="0" i="0">
                <a:solidFill>
                  <a:srgbClr val="101010"/>
                </a:solidFill>
                <a:latin typeface="Liberation Serif"/>
              </a:rPr>
              <a:t>c</a:t>
            </a:r>
          </a:p>
        </p:txBody>
      </p:sp>
      <p:sp>
        <p:nvSpPr>
          <p:cNvPr id="344" name="svd right tensor k 313"/>
          <p:cNvSpPr txBox="1"/>
          <p:nvPr/>
        </p:nvSpPr>
        <p:spPr>
          <a:xfrm>
            <a:off x="14106525" y="1524000"/>
            <a:ext cx="285750" cy="2667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B466C5"/>
                </a:solidFill>
                <a:latin typeface="Liberation Serif"/>
              </a:rPr>
              <a:t>k</a:t>
            </a:r>
          </a:p>
        </p:txBody>
      </p:sp>
      <p:cxnSp>
        <p:nvCxnSpPr>
          <p:cNvPr id="345" name="svd right tensor top bracket segment 1"/>
          <p:cNvCxnSpPr/>
          <p:nvPr/>
        </p:nvCxnSpPr>
        <p:spPr>
          <a:xfrm flipV="1">
            <a:off x="13982700" y="1704975"/>
            <a:ext cx="0" cy="95250"/>
          </a:xfrm>
          <a:prstGeom prst="line">
            <a:avLst/>
          </a:prstGeom>
          <a:ln w="17145">
            <a:solidFill>
              <a:srgbClr val="B466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6" name="svd right tensor top bracket segment 2"/>
          <p:cNvCxnSpPr/>
          <p:nvPr/>
        </p:nvCxnSpPr>
        <p:spPr>
          <a:xfrm>
            <a:off x="13982700" y="1704975"/>
            <a:ext cx="409575" cy="0"/>
          </a:xfrm>
          <a:prstGeom prst="line">
            <a:avLst/>
          </a:prstGeom>
          <a:ln w="17145">
            <a:solidFill>
              <a:srgbClr val="B466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7" name="svd right tensor top bracket segment 3"/>
          <p:cNvCxnSpPr/>
          <p:nvPr/>
        </p:nvCxnSpPr>
        <p:spPr>
          <a:xfrm>
            <a:off x="14392275" y="1704975"/>
            <a:ext cx="0" cy="95250"/>
          </a:xfrm>
          <a:prstGeom prst="line">
            <a:avLst/>
          </a:prstGeom>
          <a:ln w="17145">
            <a:solidFill>
              <a:srgbClr val="B466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8" name="svd right compressed right brace 315"/>
          <p:cNvSpPr txBox="1"/>
          <p:nvPr/>
        </p:nvSpPr>
        <p:spPr>
          <a:xfrm>
            <a:off x="15754350" y="1876425"/>
            <a:ext cx="238125" cy="723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3300" b="0" i="0">
                <a:solidFill>
                  <a:srgbClr val="101010"/>
                </a:solidFill>
                <a:latin typeface="Liberation Serif"/>
              </a:rPr>
              <a:t>}</a:t>
            </a:r>
          </a:p>
        </p:txBody>
      </p:sp>
      <p:sp>
        <p:nvSpPr>
          <p:cNvPr id="349" name="svd right compressed r 316"/>
          <p:cNvSpPr txBox="1"/>
          <p:nvPr/>
        </p:nvSpPr>
        <p:spPr>
          <a:xfrm>
            <a:off x="15944850" y="2114550"/>
            <a:ext cx="180975" cy="23812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01010"/>
                </a:solidFill>
                <a:latin typeface="Liberation Serif"/>
              </a:rPr>
              <a:t>r</a:t>
            </a:r>
          </a:p>
        </p:txBody>
      </p:sp>
      <p:cxnSp>
        <p:nvCxnSpPr>
          <p:cNvPr id="350" name="svd right compressed bottom bracket segment 1"/>
          <p:cNvCxnSpPr/>
          <p:nvPr/>
        </p:nvCxnSpPr>
        <p:spPr>
          <a:xfrm>
            <a:off x="15287625" y="2438400"/>
            <a:ext cx="0" cy="95250"/>
          </a:xfrm>
          <a:prstGeom prst="line">
            <a:avLst/>
          </a:prstGeom>
          <a:ln w="17145">
            <a:solidFill>
              <a:srgbClr val="1010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1" name="svd right compressed bottom bracket segment 2"/>
          <p:cNvCxnSpPr/>
          <p:nvPr/>
        </p:nvCxnSpPr>
        <p:spPr>
          <a:xfrm>
            <a:off x="15287625" y="2533650"/>
            <a:ext cx="447675" cy="0"/>
          </a:xfrm>
          <a:prstGeom prst="line">
            <a:avLst/>
          </a:prstGeom>
          <a:ln w="17145">
            <a:solidFill>
              <a:srgbClr val="1010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2" name="svd right compressed bottom bracket segment 3"/>
          <p:cNvCxnSpPr/>
          <p:nvPr/>
        </p:nvCxnSpPr>
        <p:spPr>
          <a:xfrm flipV="1">
            <a:off x="15735300" y="2438400"/>
            <a:ext cx="0" cy="95250"/>
          </a:xfrm>
          <a:prstGeom prst="line">
            <a:avLst/>
          </a:prstGeom>
          <a:ln w="17145">
            <a:solidFill>
              <a:srgbClr val="1010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3" name="svd right compressed c 318"/>
          <p:cNvSpPr txBox="1"/>
          <p:nvPr/>
        </p:nvSpPr>
        <p:spPr>
          <a:xfrm>
            <a:off x="15478125" y="2562225"/>
            <a:ext cx="190500" cy="209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425" b="0" i="0">
                <a:solidFill>
                  <a:srgbClr val="101010"/>
                </a:solidFill>
                <a:latin typeface="Liberation Serif"/>
              </a:rPr>
              <a:t>c</a:t>
            </a:r>
          </a:p>
        </p:txBody>
      </p:sp>
      <p:sp>
        <p:nvSpPr>
          <p:cNvPr id="354" name="svd right compressed k 319"/>
          <p:cNvSpPr txBox="1"/>
          <p:nvPr/>
        </p:nvSpPr>
        <p:spPr>
          <a:xfrm>
            <a:off x="15297150" y="1600200"/>
            <a:ext cx="285750" cy="2667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B466C5"/>
                </a:solidFill>
                <a:latin typeface="Liberation Serif"/>
              </a:rPr>
              <a:t>k</a:t>
            </a:r>
          </a:p>
        </p:txBody>
      </p:sp>
      <p:cxnSp>
        <p:nvCxnSpPr>
          <p:cNvPr id="355" name="svd right compressed top bracket segment 1"/>
          <p:cNvCxnSpPr/>
          <p:nvPr/>
        </p:nvCxnSpPr>
        <p:spPr>
          <a:xfrm flipV="1">
            <a:off x="15173325" y="1781175"/>
            <a:ext cx="0" cy="95250"/>
          </a:xfrm>
          <a:prstGeom prst="line">
            <a:avLst/>
          </a:prstGeom>
          <a:ln w="17145">
            <a:solidFill>
              <a:srgbClr val="B466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6" name="svd right compressed top bracket segment 2"/>
          <p:cNvCxnSpPr/>
          <p:nvPr/>
        </p:nvCxnSpPr>
        <p:spPr>
          <a:xfrm>
            <a:off x="15173325" y="1781175"/>
            <a:ext cx="409575" cy="0"/>
          </a:xfrm>
          <a:prstGeom prst="line">
            <a:avLst/>
          </a:prstGeom>
          <a:ln w="17145">
            <a:solidFill>
              <a:srgbClr val="B466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7" name="svd right compressed top bracket segment 3"/>
          <p:cNvCxnSpPr/>
          <p:nvPr/>
        </p:nvCxnSpPr>
        <p:spPr>
          <a:xfrm>
            <a:off x="15582900" y="1781175"/>
            <a:ext cx="0" cy="95250"/>
          </a:xfrm>
          <a:prstGeom prst="line">
            <a:avLst/>
          </a:prstGeom>
          <a:ln w="17145">
            <a:solidFill>
              <a:srgbClr val="B466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8" name="frozen encoder label 321"/>
          <p:cNvSpPr txBox="1"/>
          <p:nvPr/>
        </p:nvSpPr>
        <p:spPr>
          <a:xfrm rot="5400000">
            <a:off x="2771775" y="628650"/>
            <a:ext cx="704850" cy="176212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875" b="0" i="0">
                <a:solidFill>
                  <a:srgbClr val="101010"/>
                </a:solidFill>
                <a:latin typeface="Liberation Sans"/>
              </a:rPr>
              <a:t>Pre-trained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875" b="0" i="0">
                <a:solidFill>
                  <a:srgbClr val="101010"/>
                </a:solidFill>
                <a:latin typeface="Liberation Sans"/>
              </a:rPr>
              <a:t>Encoder</a:t>
            </a:r>
          </a:p>
        </p:txBody>
      </p:sp>
      <p:sp>
        <p:nvSpPr>
          <p:cNvPr id="359" name="add noise label 322"/>
          <p:cNvSpPr txBox="1"/>
          <p:nvPr/>
        </p:nvSpPr>
        <p:spPr>
          <a:xfrm rot="5400000">
            <a:off x="4972050" y="628650"/>
            <a:ext cx="390525" cy="1752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875" b="0" i="0">
                <a:solidFill>
                  <a:srgbClr val="101010"/>
                </a:solidFill>
                <a:latin typeface="Liberation Sans"/>
              </a:rPr>
              <a:t>Add Noise</a:t>
            </a:r>
          </a:p>
        </p:txBody>
      </p:sp>
      <p:sp>
        <p:nvSpPr>
          <p:cNvPr id="360" name="diffusion model label 323"/>
          <p:cNvSpPr txBox="1"/>
          <p:nvPr/>
        </p:nvSpPr>
        <p:spPr>
          <a:xfrm>
            <a:off x="7639050" y="1181100"/>
            <a:ext cx="1571625" cy="8001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175" b="0" i="0">
                <a:solidFill>
                  <a:srgbClr val="101010"/>
                </a:solidFill>
                <a:latin typeface="Liberation Sans"/>
              </a:rPr>
              <a:t>Diffusion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175" b="0" i="0">
                <a:solidFill>
                  <a:srgbClr val="101010"/>
                </a:solidFill>
                <a:latin typeface="Liberation Sans"/>
              </a:rPr>
              <a:t>Model</a:t>
            </a:r>
          </a:p>
        </p:txBody>
      </p:sp>
      <p:sp>
        <p:nvSpPr>
          <p:cNvPr id="361" name="principal component extraction label 324"/>
          <p:cNvSpPr txBox="1"/>
          <p:nvPr/>
        </p:nvSpPr>
        <p:spPr>
          <a:xfrm>
            <a:off x="5610225" y="4429125"/>
            <a:ext cx="4048125" cy="4381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25" b="0" i="0">
                <a:solidFill>
                  <a:srgbClr val="101010"/>
                </a:solidFill>
                <a:latin typeface="Liberation Sans"/>
              </a:rPr>
              <a:t>Principal Component Extraction</a:t>
            </a:r>
          </a:p>
        </p:txBody>
      </p:sp>
      <p:sp>
        <p:nvSpPr>
          <p:cNvPr id="362" name="consistency mlp label 325"/>
          <p:cNvSpPr txBox="1"/>
          <p:nvPr/>
        </p:nvSpPr>
        <p:spPr>
          <a:xfrm>
            <a:off x="12325350" y="4095750"/>
            <a:ext cx="790575" cy="37147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875" b="0" i="0">
                <a:solidFill>
                  <a:srgbClr val="101010"/>
                </a:solidFill>
                <a:latin typeface="Liberation Sans"/>
              </a:rPr>
              <a:t>MLP</a:t>
            </a:r>
          </a:p>
        </p:txBody>
      </p:sp>
      <p:sp>
        <p:nvSpPr>
          <p:cNvPr id="363" name="consistency loss label 326"/>
          <p:cNvSpPr txBox="1"/>
          <p:nvPr/>
        </p:nvSpPr>
        <p:spPr>
          <a:xfrm>
            <a:off x="13392150" y="4000500"/>
            <a:ext cx="1104900" cy="48577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101010"/>
                </a:solidFill>
                <a:latin typeface="DejaVu Sans"/>
              </a:rPr>
              <a:t>ℒconsist</a:t>
            </a:r>
          </a:p>
        </p:txBody>
      </p:sp>
      <p:sp>
        <p:nvSpPr>
          <p:cNvPr id="364" name="backbone layer 1 label 327"/>
          <p:cNvSpPr txBox="1"/>
          <p:nvPr/>
        </p:nvSpPr>
        <p:spPr>
          <a:xfrm rot="5400000">
            <a:off x="2895600" y="7010400"/>
            <a:ext cx="323850" cy="141922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01010"/>
                </a:solidFill>
                <a:latin typeface="Liberation Sans"/>
              </a:rPr>
              <a:t>Layer 1</a:t>
            </a:r>
          </a:p>
        </p:txBody>
      </p:sp>
      <p:sp>
        <p:nvSpPr>
          <p:cNvPr id="365" name="backbone layer L label 328"/>
          <p:cNvSpPr txBox="1"/>
          <p:nvPr/>
        </p:nvSpPr>
        <p:spPr>
          <a:xfrm rot="5400000">
            <a:off x="4324350" y="7010400"/>
            <a:ext cx="323850" cy="141922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01010"/>
                </a:solidFill>
                <a:latin typeface="Liberation Sans"/>
              </a:rPr>
              <a:t>Layer L</a:t>
            </a:r>
          </a:p>
        </p:txBody>
      </p:sp>
      <p:sp>
        <p:nvSpPr>
          <p:cNvPr id="366" name="feature refinement 1 upper label 329"/>
          <p:cNvSpPr txBox="1"/>
          <p:nvPr/>
        </p:nvSpPr>
        <p:spPr>
          <a:xfrm>
            <a:off x="6372225" y="6724650"/>
            <a:ext cx="1857375" cy="590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25" b="0" i="0">
                <a:solidFill>
                  <a:srgbClr val="101010"/>
                </a:solidFill>
                <a:latin typeface="Liberation Sans"/>
              </a:rPr>
              <a:t>Feature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25" b="0" i="0">
                <a:solidFill>
                  <a:srgbClr val="101010"/>
                </a:solidFill>
                <a:latin typeface="Liberation Sans"/>
              </a:rPr>
              <a:t>Refinement</a:t>
            </a:r>
          </a:p>
        </p:txBody>
      </p:sp>
      <p:sp>
        <p:nvSpPr>
          <p:cNvPr id="367" name="feature refinement 1 lower label 330"/>
          <p:cNvSpPr txBox="1"/>
          <p:nvPr/>
        </p:nvSpPr>
        <p:spPr>
          <a:xfrm>
            <a:off x="6372225" y="8391525"/>
            <a:ext cx="1857375" cy="58102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25" b="0" i="0">
                <a:solidFill>
                  <a:srgbClr val="101010"/>
                </a:solidFill>
                <a:latin typeface="Liberation Sans"/>
              </a:rPr>
              <a:t>Feature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25" b="0" i="0">
                <a:solidFill>
                  <a:srgbClr val="101010"/>
                </a:solidFill>
                <a:latin typeface="Liberation Sans"/>
              </a:rPr>
              <a:t>Refinement</a:t>
            </a:r>
          </a:p>
        </p:txBody>
      </p:sp>
      <p:sp>
        <p:nvSpPr>
          <p:cNvPr id="368" name="support loss 1 label 331"/>
          <p:cNvSpPr txBox="1"/>
          <p:nvPr/>
        </p:nvSpPr>
        <p:spPr>
          <a:xfrm>
            <a:off x="7353300" y="7534275"/>
            <a:ext cx="847725" cy="44767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950" b="0" i="1">
                <a:solidFill>
                  <a:srgbClr val="101010"/>
                </a:solidFill>
                <a:latin typeface="DejaVu Sans"/>
              </a:rPr>
              <a:t>ℒ¹ₛᵤₚ</a:t>
            </a:r>
          </a:p>
        </p:txBody>
      </p:sp>
      <p:sp>
        <p:nvSpPr>
          <p:cNvPr id="369" name="feature refinement S upper label 332"/>
          <p:cNvSpPr txBox="1"/>
          <p:nvPr/>
        </p:nvSpPr>
        <p:spPr>
          <a:xfrm>
            <a:off x="10067925" y="6724650"/>
            <a:ext cx="1866900" cy="590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25" b="0" i="0">
                <a:solidFill>
                  <a:srgbClr val="101010"/>
                </a:solidFill>
                <a:latin typeface="Liberation Sans"/>
              </a:rPr>
              <a:t>Feature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25" b="0" i="0">
                <a:solidFill>
                  <a:srgbClr val="101010"/>
                </a:solidFill>
                <a:latin typeface="Liberation Sans"/>
              </a:rPr>
              <a:t>Refinement</a:t>
            </a:r>
          </a:p>
        </p:txBody>
      </p:sp>
      <p:sp>
        <p:nvSpPr>
          <p:cNvPr id="370" name="feature refinement S lower label 333"/>
          <p:cNvSpPr txBox="1"/>
          <p:nvPr/>
        </p:nvSpPr>
        <p:spPr>
          <a:xfrm>
            <a:off x="10067925" y="8296275"/>
            <a:ext cx="1866900" cy="58102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25" b="0" i="0">
                <a:solidFill>
                  <a:srgbClr val="101010"/>
                </a:solidFill>
                <a:latin typeface="Liberation Sans"/>
              </a:rPr>
              <a:t>Feature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25" b="0" i="0">
                <a:solidFill>
                  <a:srgbClr val="101010"/>
                </a:solidFill>
                <a:latin typeface="Liberation Sans"/>
              </a:rPr>
              <a:t>Refinement</a:t>
            </a:r>
          </a:p>
        </p:txBody>
      </p:sp>
      <p:sp>
        <p:nvSpPr>
          <p:cNvPr id="371" name="support loss S label 334"/>
          <p:cNvSpPr txBox="1"/>
          <p:nvPr/>
        </p:nvSpPr>
        <p:spPr>
          <a:xfrm>
            <a:off x="11077575" y="7524750"/>
            <a:ext cx="847725" cy="457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950" b="0" i="1">
                <a:solidFill>
                  <a:srgbClr val="101010"/>
                </a:solidFill>
                <a:latin typeface="DejaVu Sans"/>
              </a:rPr>
              <a:t>ℒˢₛᵤₚ</a:t>
            </a:r>
          </a:p>
        </p:txBody>
      </p:sp>
      <p:sp>
        <p:nvSpPr>
          <p:cNvPr id="372" name="segmentation conv label 335"/>
          <p:cNvSpPr txBox="1"/>
          <p:nvPr/>
        </p:nvSpPr>
        <p:spPr>
          <a:xfrm>
            <a:off x="14297025" y="6762750"/>
            <a:ext cx="857250" cy="44767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25" b="0" i="0">
                <a:solidFill>
                  <a:srgbClr val="101010"/>
                </a:solidFill>
                <a:latin typeface="Liberation Sans"/>
              </a:rPr>
              <a:t>Conv</a:t>
            </a:r>
          </a:p>
        </p:txBody>
      </p:sp>
      <p:sp>
        <p:nvSpPr>
          <p:cNvPr id="373" name="segmentation loss label 336"/>
          <p:cNvSpPr txBox="1"/>
          <p:nvPr/>
        </p:nvSpPr>
        <p:spPr>
          <a:xfrm>
            <a:off x="15430500" y="6734175"/>
            <a:ext cx="838200" cy="4762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875" b="0" i="1">
                <a:solidFill>
                  <a:srgbClr val="101010"/>
                </a:solidFill>
                <a:latin typeface="DejaVu Sans"/>
              </a:rPr>
              <a:t>ℒseg</a:t>
            </a:r>
          </a:p>
        </p:txBody>
      </p:sp>
      <p:sp>
        <p:nvSpPr>
          <p:cNvPr id="374" name="alignment mlp label 337"/>
          <p:cNvSpPr txBox="1"/>
          <p:nvPr/>
        </p:nvSpPr>
        <p:spPr>
          <a:xfrm>
            <a:off x="12344400" y="5772150"/>
            <a:ext cx="895350" cy="40957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25" b="0" i="0">
                <a:solidFill>
                  <a:srgbClr val="101010"/>
                </a:solidFill>
                <a:latin typeface="Liberation Sans"/>
              </a:rPr>
              <a:t>MLP</a:t>
            </a:r>
          </a:p>
        </p:txBody>
      </p:sp>
      <p:sp>
        <p:nvSpPr>
          <p:cNvPr id="375" name="instance semantic 2d label 338"/>
          <p:cNvSpPr txBox="1"/>
          <p:nvPr/>
        </p:nvSpPr>
        <p:spPr>
          <a:xfrm>
            <a:off x="5791200" y="2667000"/>
            <a:ext cx="4095750" cy="42862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101010"/>
                </a:solidFill>
                <a:latin typeface="Liberation Sans"/>
              </a:rPr>
              <a:t>Aggregating Instance Semantic</a:t>
            </a:r>
          </a:p>
        </p:txBody>
      </p:sp>
      <p:sp>
        <p:nvSpPr>
          <p:cNvPr id="376" name="instance semantic 3d label 339"/>
          <p:cNvSpPr txBox="1"/>
          <p:nvPr/>
        </p:nvSpPr>
        <p:spPr>
          <a:xfrm>
            <a:off x="1876425" y="6000750"/>
            <a:ext cx="4067175" cy="42862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101010"/>
                </a:solidFill>
                <a:latin typeface="Liberation Sans"/>
              </a:rPr>
              <a:t>Aggregating Instance Semantic</a:t>
            </a:r>
          </a:p>
        </p:txBody>
      </p:sp>
      <p:sp>
        <p:nvSpPr>
          <p:cNvPr id="377" name="paired label 340"/>
          <p:cNvSpPr txBox="1"/>
          <p:nvPr/>
        </p:nvSpPr>
        <p:spPr>
          <a:xfrm rot="5400000">
            <a:off x="228600" y="5238750"/>
            <a:ext cx="381000" cy="10477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0" i="0">
                <a:solidFill>
                  <a:srgbClr val="686868"/>
                </a:solidFill>
                <a:latin typeface="Liberation Sans"/>
              </a:rPr>
              <a:t>Paired</a:t>
            </a:r>
          </a:p>
        </p:txBody>
      </p:sp>
      <p:sp>
        <p:nvSpPr>
          <p:cNvPr id="378" name="source image label 341"/>
          <p:cNvSpPr txBox="1"/>
          <p:nvPr/>
        </p:nvSpPr>
        <p:spPr>
          <a:xfrm>
            <a:off x="371475" y="2247900"/>
            <a:ext cx="2000250" cy="323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875" b="0" i="0">
                <a:solidFill>
                  <a:srgbClr val="101010"/>
                </a:solidFill>
                <a:latin typeface="Liberation Sans"/>
              </a:rPr>
              <a:t>Source Image</a:t>
            </a:r>
          </a:p>
        </p:txBody>
      </p:sp>
      <p:sp>
        <p:nvSpPr>
          <p:cNvPr id="379" name="t label 342"/>
          <p:cNvSpPr txBox="1"/>
          <p:nvPr/>
        </p:nvSpPr>
        <p:spPr>
          <a:xfrm>
            <a:off x="5848350" y="1171575"/>
            <a:ext cx="323850" cy="33337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1">
                <a:solidFill>
                  <a:srgbClr val="101010"/>
                </a:solidFill>
                <a:latin typeface="Liberation Serif"/>
              </a:rPr>
              <a:t>t</a:t>
            </a:r>
          </a:p>
        </p:txBody>
      </p:sp>
      <p:sp>
        <p:nvSpPr>
          <p:cNvPr id="380" name="t prime label 343"/>
          <p:cNvSpPr txBox="1"/>
          <p:nvPr/>
        </p:nvSpPr>
        <p:spPr>
          <a:xfrm>
            <a:off x="5838825" y="2000250"/>
            <a:ext cx="361950" cy="33337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1">
                <a:solidFill>
                  <a:srgbClr val="101010"/>
                </a:solidFill>
                <a:latin typeface="Liberation Serif"/>
              </a:rPr>
              <a:t>t′</a:t>
            </a:r>
          </a:p>
        </p:txBody>
      </p:sp>
      <p:sp>
        <p:nvSpPr>
          <p:cNvPr id="381" name="latent z0 label 344"/>
          <p:cNvSpPr txBox="1"/>
          <p:nvPr/>
        </p:nvSpPr>
        <p:spPr>
          <a:xfrm>
            <a:off x="3714750" y="2076450"/>
            <a:ext cx="1066800" cy="29527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0" i="0">
                <a:solidFill>
                  <a:srgbClr val="101010"/>
                </a:solidFill>
                <a:latin typeface="Liberation Serif"/>
              </a:rPr>
              <a:t>Latent z₀</a:t>
            </a:r>
          </a:p>
        </p:txBody>
      </p:sp>
      <p:sp>
        <p:nvSpPr>
          <p:cNvPr id="382" name="dual queries title 345"/>
          <p:cNvSpPr txBox="1"/>
          <p:nvPr/>
        </p:nvSpPr>
        <p:spPr>
          <a:xfrm>
            <a:off x="3305175" y="4095750"/>
            <a:ext cx="1704975" cy="628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875" b="1" i="1">
                <a:solidFill>
                  <a:srgbClr val="101010"/>
                </a:solidFill>
                <a:latin typeface="Liberation Serif"/>
              </a:rPr>
              <a:t>Dual-queries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875" b="1" i="1">
                <a:solidFill>
                  <a:srgbClr val="101010"/>
                </a:solidFill>
                <a:latin typeface="Liberation Serif"/>
              </a:rPr>
              <a:t>Design</a:t>
            </a:r>
          </a:p>
        </p:txBody>
      </p:sp>
      <p:sp>
        <p:nvSpPr>
          <p:cNvPr id="383" name="legend label 1 346"/>
          <p:cNvSpPr txBox="1"/>
          <p:nvPr/>
        </p:nvSpPr>
        <p:spPr>
          <a:xfrm>
            <a:off x="400050" y="3476625"/>
            <a:ext cx="2457450" cy="23812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275" b="0" i="0">
                <a:solidFill>
                  <a:srgbClr val="4A4A4A"/>
                </a:solidFill>
                <a:latin typeface="Liberation Sans"/>
              </a:rPr>
              <a:t>Learnable Queries</a:t>
            </a:r>
          </a:p>
        </p:txBody>
      </p:sp>
      <p:sp>
        <p:nvSpPr>
          <p:cNvPr id="384" name="legend label 2 347"/>
          <p:cNvSpPr txBox="1"/>
          <p:nvPr/>
        </p:nvSpPr>
        <p:spPr>
          <a:xfrm>
            <a:off x="400050" y="3829050"/>
            <a:ext cx="2457450" cy="23812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275" b="0" i="0">
                <a:solidFill>
                  <a:srgbClr val="4A4A4A"/>
                </a:solidFill>
                <a:latin typeface="Liberation Sans"/>
              </a:rPr>
              <a:t>2D Object Agent Queries</a:t>
            </a:r>
          </a:p>
        </p:txBody>
      </p:sp>
      <p:sp>
        <p:nvSpPr>
          <p:cNvPr id="385" name="legend label 3 348"/>
          <p:cNvSpPr txBox="1"/>
          <p:nvPr/>
        </p:nvSpPr>
        <p:spPr>
          <a:xfrm>
            <a:off x="400050" y="4181475"/>
            <a:ext cx="2457450" cy="23812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275" b="0" i="0">
                <a:solidFill>
                  <a:srgbClr val="4A4A4A"/>
                </a:solidFill>
                <a:latin typeface="Liberation Sans"/>
              </a:rPr>
              <a:t>2D Auxiliary Object Agent Queries</a:t>
            </a:r>
          </a:p>
        </p:txBody>
      </p:sp>
      <p:sp>
        <p:nvSpPr>
          <p:cNvPr id="386" name="legend label 4 349"/>
          <p:cNvSpPr txBox="1"/>
          <p:nvPr/>
        </p:nvSpPr>
        <p:spPr>
          <a:xfrm>
            <a:off x="400050" y="4533900"/>
            <a:ext cx="2457450" cy="23812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275" b="0" i="0">
                <a:solidFill>
                  <a:srgbClr val="4A4A4A"/>
                </a:solidFill>
                <a:latin typeface="Liberation Sans"/>
              </a:rPr>
              <a:t>3D Object Agent Queries</a:t>
            </a:r>
          </a:p>
        </p:txBody>
      </p:sp>
      <p:sp>
        <p:nvSpPr>
          <p:cNvPr id="387" name="object agent query header label 350"/>
          <p:cNvSpPr txBox="1"/>
          <p:nvPr/>
        </p:nvSpPr>
        <p:spPr>
          <a:xfrm>
            <a:off x="12954000" y="733425"/>
            <a:ext cx="3028950" cy="3619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101010"/>
                </a:solidFill>
                <a:latin typeface="Liberation Sans"/>
              </a:rPr>
              <a:t>Object Agent Queries</a:t>
            </a:r>
          </a:p>
        </p:txBody>
      </p:sp>
      <p:sp>
        <p:nvSpPr>
          <p:cNvPr id="388" name="svd component c 351"/>
          <p:cNvSpPr txBox="1"/>
          <p:nvPr/>
        </p:nvSpPr>
        <p:spPr>
          <a:xfrm>
            <a:off x="13068300" y="2419350"/>
            <a:ext cx="228600" cy="23812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425" b="0" i="0">
                <a:solidFill>
                  <a:srgbClr val="101010"/>
                </a:solidFill>
                <a:latin typeface="Liberation Serif"/>
              </a:rPr>
              <a:t>c</a:t>
            </a:r>
          </a:p>
        </p:txBody>
      </p:sp>
      <p:cxnSp>
        <p:nvCxnSpPr>
          <p:cNvPr id="389" name="svd component bottom bracket segment 1"/>
          <p:cNvCxnSpPr/>
          <p:nvPr/>
        </p:nvCxnSpPr>
        <p:spPr>
          <a:xfrm>
            <a:off x="12925425" y="2352675"/>
            <a:ext cx="0" cy="114300"/>
          </a:xfrm>
          <a:prstGeom prst="line">
            <a:avLst/>
          </a:prstGeom>
          <a:ln w="17145">
            <a:solidFill>
              <a:srgbClr val="1010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0" name="svd component bottom bracket segment 2"/>
          <p:cNvCxnSpPr/>
          <p:nvPr/>
        </p:nvCxnSpPr>
        <p:spPr>
          <a:xfrm>
            <a:off x="12925425" y="2466975"/>
            <a:ext cx="457200" cy="0"/>
          </a:xfrm>
          <a:prstGeom prst="line">
            <a:avLst/>
          </a:prstGeom>
          <a:ln w="17145">
            <a:solidFill>
              <a:srgbClr val="1010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1" name="svd component bottom bracket segment 3"/>
          <p:cNvCxnSpPr/>
          <p:nvPr/>
        </p:nvCxnSpPr>
        <p:spPr>
          <a:xfrm flipV="1">
            <a:off x="13382625" y="2352675"/>
            <a:ext cx="0" cy="114300"/>
          </a:xfrm>
          <a:prstGeom prst="line">
            <a:avLst/>
          </a:prstGeom>
          <a:ln w="17145">
            <a:solidFill>
              <a:srgbClr val="1010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2" name="quantized label 353"/>
          <p:cNvSpPr txBox="1"/>
          <p:nvPr/>
        </p:nvSpPr>
        <p:spPr>
          <a:xfrm>
            <a:off x="10572750" y="2857500"/>
            <a:ext cx="3543300" cy="3619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950" b="0" i="0">
                <a:solidFill>
                  <a:srgbClr val="101010"/>
                </a:solidFill>
                <a:latin typeface="Liberation Sans"/>
              </a:rPr>
              <a:t>Quantized Object Agent Queries</a:t>
            </a:r>
          </a:p>
        </p:txBody>
      </p:sp>
      <p:sp>
        <p:nvSpPr>
          <p:cNvPr id="393" name="source point cloud label 354"/>
          <p:cNvSpPr txBox="1"/>
          <p:nvPr/>
        </p:nvSpPr>
        <p:spPr>
          <a:xfrm>
            <a:off x="209550" y="8524875"/>
            <a:ext cx="2238375" cy="33337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875" b="0" i="0">
                <a:solidFill>
                  <a:srgbClr val="101010"/>
                </a:solidFill>
                <a:latin typeface="Liberation Sans"/>
              </a:rPr>
              <a:t>Source Point Cloud</a:t>
            </a:r>
          </a:p>
        </p:txBody>
      </p:sp>
      <p:sp>
        <p:nvSpPr>
          <p:cNvPr id="394" name="backbone dots 355"/>
          <p:cNvSpPr txBox="1"/>
          <p:nvPr/>
        </p:nvSpPr>
        <p:spPr>
          <a:xfrm>
            <a:off x="3562350" y="7600950"/>
            <a:ext cx="476250" cy="323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101010"/>
                </a:solidFill>
                <a:latin typeface="Liberation Sans"/>
              </a:rPr>
              <a:t>...</a:t>
            </a:r>
          </a:p>
        </p:txBody>
      </p:sp>
      <p:sp>
        <p:nvSpPr>
          <p:cNvPr id="395" name="backbone label 356"/>
          <p:cNvSpPr txBox="1"/>
          <p:nvPr/>
        </p:nvSpPr>
        <p:spPr>
          <a:xfrm>
            <a:off x="2838450" y="8439150"/>
            <a:ext cx="2000250" cy="342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25" b="0" i="0">
                <a:solidFill>
                  <a:srgbClr val="101010"/>
                </a:solidFill>
                <a:latin typeface="Liberation Sans"/>
              </a:rPr>
              <a:t>Backbone</a:t>
            </a:r>
          </a:p>
        </p:txBody>
      </p:sp>
      <p:sp>
        <p:nvSpPr>
          <p:cNvPr id="396" name="decoder intermediate dots 357"/>
          <p:cNvSpPr txBox="1"/>
          <p:nvPr/>
        </p:nvSpPr>
        <p:spPr>
          <a:xfrm>
            <a:off x="9363075" y="6829425"/>
            <a:ext cx="428625" cy="37147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101010"/>
                </a:solidFill>
                <a:latin typeface="Liberation Sans"/>
              </a:rPr>
              <a:t>...</a:t>
            </a:r>
          </a:p>
        </p:txBody>
      </p:sp>
      <p:sp>
        <p:nvSpPr>
          <p:cNvPr id="397" name="label heading 358"/>
          <p:cNvSpPr txBox="1"/>
          <p:nvPr/>
        </p:nvSpPr>
        <p:spPr>
          <a:xfrm>
            <a:off x="14354175" y="7610475"/>
            <a:ext cx="1009650" cy="35242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950" b="0" i="0">
                <a:solidFill>
                  <a:srgbClr val="101010"/>
                </a:solidFill>
                <a:latin typeface="Liberation Sans"/>
              </a:rPr>
              <a:t>Label</a:t>
            </a:r>
          </a:p>
        </p:txBody>
      </p:sp>
      <p:sp>
        <p:nvSpPr>
          <p:cNvPr id="398" name="refinement 1 shared label 359"/>
          <p:cNvSpPr txBox="1"/>
          <p:nvPr/>
        </p:nvSpPr>
        <p:spPr>
          <a:xfrm rot="5400000">
            <a:off x="6591300" y="7515225"/>
            <a:ext cx="685800" cy="704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777777"/>
                </a:solidFill>
                <a:latin typeface="Liberation Sans"/>
              </a:rPr>
              <a:t>Share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777777"/>
                </a:solidFill>
                <a:latin typeface="Liberation Sans"/>
              </a:rPr>
              <a:t>Weight</a:t>
            </a:r>
          </a:p>
        </p:txBody>
      </p:sp>
      <p:sp>
        <p:nvSpPr>
          <p:cNvPr id="399" name="refinement S shared label 360"/>
          <p:cNvSpPr txBox="1"/>
          <p:nvPr/>
        </p:nvSpPr>
        <p:spPr>
          <a:xfrm rot="5400000">
            <a:off x="10315575" y="7524750"/>
            <a:ext cx="685800" cy="6667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777777"/>
                </a:solidFill>
                <a:latin typeface="Liberation Sans"/>
              </a:rPr>
              <a:t>Share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777777"/>
                </a:solidFill>
                <a:latin typeface="Liberation Sans"/>
              </a:rPr>
              <a:t>Weight</a:t>
            </a:r>
          </a:p>
        </p:txBody>
      </p:sp>
      <p:sp>
        <p:nvSpPr>
          <p:cNvPr id="400" name="decoder label 361"/>
          <p:cNvSpPr txBox="1"/>
          <p:nvPr/>
        </p:nvSpPr>
        <p:spPr>
          <a:xfrm rot="5400000">
            <a:off x="12830175" y="7181850"/>
            <a:ext cx="428625" cy="11239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101010"/>
                </a:solidFill>
                <a:latin typeface="Liberation Sans"/>
              </a:rPr>
              <a:t>Decoder</a:t>
            </a:r>
          </a:p>
        </p:txBody>
      </p:sp>
      <p:sp>
        <p:nvSpPr>
          <p:cNvPr id="401" name="q ins pc label 362"/>
          <p:cNvSpPr txBox="1"/>
          <p:nvPr/>
        </p:nvSpPr>
        <p:spPr>
          <a:xfrm>
            <a:off x="10372725" y="4410075"/>
            <a:ext cx="1095375" cy="342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0" i="1">
                <a:solidFill>
                  <a:srgbClr val="101010"/>
                </a:solidFill>
                <a:latin typeface="DejaVu Sans"/>
              </a:rPr>
              <a:t>qᵢₙₛ_ₚc</a:t>
            </a:r>
          </a:p>
        </p:txBody>
      </p:sp>
      <p:sp>
        <p:nvSpPr>
          <p:cNvPr id="402" name="q prime ins pc label 363"/>
          <p:cNvSpPr txBox="1"/>
          <p:nvPr/>
        </p:nvSpPr>
        <p:spPr>
          <a:xfrm>
            <a:off x="14792325" y="4410075"/>
            <a:ext cx="1200150" cy="342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0" i="1">
                <a:solidFill>
                  <a:srgbClr val="101010"/>
                </a:solidFill>
                <a:latin typeface="DejaVu Sans"/>
              </a:rPr>
              <a:t>q′ᵢₙₛ_ₚc</a:t>
            </a:r>
          </a:p>
        </p:txBody>
      </p:sp>
      <p:sp>
        <p:nvSpPr>
          <p:cNvPr id="403" name="q3d label 364"/>
          <p:cNvSpPr txBox="1"/>
          <p:nvPr/>
        </p:nvSpPr>
        <p:spPr>
          <a:xfrm>
            <a:off x="6105525" y="5781675"/>
            <a:ext cx="523875" cy="37147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950" b="0" i="1">
                <a:solidFill>
                  <a:srgbClr val="101010"/>
                </a:solidFill>
                <a:latin typeface="DejaVu Sans"/>
              </a:rPr>
              <a:t>q₃ᴅ</a:t>
            </a:r>
          </a:p>
        </p:txBody>
      </p:sp>
      <p:sp>
        <p:nvSpPr>
          <p:cNvPr id="404" name="cross modal title 365"/>
          <p:cNvSpPr txBox="1"/>
          <p:nvPr/>
        </p:nvSpPr>
        <p:spPr>
          <a:xfrm>
            <a:off x="11877675" y="5153025"/>
            <a:ext cx="4038600" cy="3619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875" b="1" i="1">
                <a:solidFill>
                  <a:srgbClr val="101010"/>
                </a:solidFill>
                <a:latin typeface="Liberation Serif"/>
              </a:rPr>
              <a:t>Cross-modal Semantic Alignment</a:t>
            </a:r>
          </a:p>
        </p:txBody>
      </p:sp>
      <p:sp>
        <p:nvSpPr>
          <p:cNvPr id="405" name="alignment multiply 1 x 366"/>
          <p:cNvSpPr txBox="1"/>
          <p:nvPr/>
        </p:nvSpPr>
        <p:spPr>
          <a:xfrm>
            <a:off x="8858250" y="5781675"/>
            <a:ext cx="333375" cy="37147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101010"/>
                </a:solidFill>
                <a:latin typeface="Liberation Sans"/>
              </a:rPr>
              <a:t>×</a:t>
            </a:r>
          </a:p>
        </p:txBody>
      </p:sp>
      <p:sp>
        <p:nvSpPr>
          <p:cNvPr id="406" name="alignment sum S 367"/>
          <p:cNvSpPr txBox="1"/>
          <p:nvPr/>
        </p:nvSpPr>
        <p:spPr>
          <a:xfrm>
            <a:off x="9534525" y="5781675"/>
            <a:ext cx="323850" cy="37147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101010"/>
                </a:solidFill>
                <a:latin typeface="Liberation Serif"/>
              </a:rPr>
              <a:t>S</a:t>
            </a:r>
          </a:p>
        </p:txBody>
      </p:sp>
      <p:sp>
        <p:nvSpPr>
          <p:cNvPr id="407" name="alignment multiply 2 x 368"/>
          <p:cNvSpPr txBox="1"/>
          <p:nvPr/>
        </p:nvSpPr>
        <p:spPr>
          <a:xfrm>
            <a:off x="11410950" y="5781675"/>
            <a:ext cx="333375" cy="37147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101010"/>
                </a:solidFill>
                <a:latin typeface="Liberation Sans"/>
              </a:rPr>
              <a:t>×</a:t>
            </a:r>
          </a:p>
        </p:txBody>
      </p:sp>
      <p:sp>
        <p:nvSpPr>
          <p:cNvPr id="408" name="qhat 3d label 369"/>
          <p:cNvSpPr txBox="1"/>
          <p:nvPr/>
        </p:nvSpPr>
        <p:spPr>
          <a:xfrm>
            <a:off x="15392400" y="5543550"/>
            <a:ext cx="647700" cy="33337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875" b="0" i="1">
                <a:solidFill>
                  <a:srgbClr val="101010"/>
                </a:solidFill>
                <a:latin typeface="DejaVu Sans"/>
              </a:rPr>
              <a:t>q̂₃ᴅ</a:t>
            </a:r>
          </a:p>
        </p:txBody>
      </p:sp>
      <p:sp>
        <p:nvSpPr>
          <p:cNvPr id="409" name="linear label 1 370"/>
          <p:cNvSpPr txBox="1"/>
          <p:nvPr/>
        </p:nvSpPr>
        <p:spPr>
          <a:xfrm>
            <a:off x="9105900" y="5467350"/>
            <a:ext cx="781050" cy="2667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777777"/>
                </a:solidFill>
                <a:latin typeface="Liberation Sans"/>
              </a:rPr>
              <a:t>Linear</a:t>
            </a:r>
          </a:p>
        </p:txBody>
      </p:sp>
      <p:sp>
        <p:nvSpPr>
          <p:cNvPr id="410" name="linear label 2 371"/>
          <p:cNvSpPr txBox="1"/>
          <p:nvPr/>
        </p:nvSpPr>
        <p:spPr>
          <a:xfrm>
            <a:off x="11668125" y="5467350"/>
            <a:ext cx="781050" cy="2667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777777"/>
                </a:solidFill>
                <a:latin typeface="Liberation Sans"/>
              </a:rPr>
              <a:t>Linear</a:t>
            </a:r>
          </a:p>
        </p:txBody>
      </p:sp>
      <p:sp>
        <p:nvSpPr>
          <p:cNvPr id="411" name="encoder snowflake 372"/>
          <p:cNvSpPr txBox="1"/>
          <p:nvPr/>
        </p:nvSpPr>
        <p:spPr>
          <a:xfrm>
            <a:off x="3219450" y="2047875"/>
            <a:ext cx="295275" cy="2857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875" b="0" i="0">
                <a:solidFill>
                  <a:srgbClr val="101010"/>
                </a:solidFill>
                <a:latin typeface="DejaVu Sans"/>
              </a:rPr>
              <a:t>❄</a:t>
            </a:r>
          </a:p>
        </p:txBody>
      </p:sp>
      <p:sp>
        <p:nvSpPr>
          <p:cNvPr id="412" name="diffusion snowflake 373"/>
          <p:cNvSpPr txBox="1"/>
          <p:nvPr/>
        </p:nvSpPr>
        <p:spPr>
          <a:xfrm>
            <a:off x="8934450" y="1200150"/>
            <a:ext cx="304800" cy="2857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875" b="0" i="0">
                <a:solidFill>
                  <a:srgbClr val="101010"/>
                </a:solidFill>
                <a:latin typeface="DejaVu Sans"/>
              </a:rPr>
              <a:t>❄</a:t>
            </a:r>
          </a:p>
        </p:txBody>
      </p:sp>
      <p:sp>
        <p:nvSpPr>
          <p:cNvPr id="413" name="q ins label 374"/>
          <p:cNvSpPr txBox="1"/>
          <p:nvPr/>
        </p:nvSpPr>
        <p:spPr>
          <a:xfrm>
            <a:off x="5600700" y="4048125"/>
            <a:ext cx="904875" cy="33337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101010"/>
                </a:solidFill>
                <a:latin typeface="DejaVu Sans"/>
              </a:rPr>
              <a:t>qᵢₙₛ</a:t>
            </a:r>
          </a:p>
        </p:txBody>
      </p:sp>
      <p:sp>
        <p:nvSpPr>
          <p:cNvPr id="414" name="q prime ins label 375"/>
          <p:cNvSpPr txBox="1"/>
          <p:nvPr/>
        </p:nvSpPr>
        <p:spPr>
          <a:xfrm>
            <a:off x="7886700" y="4048125"/>
            <a:ext cx="952500" cy="33337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101010"/>
                </a:solidFill>
                <a:latin typeface="DejaVu Sans"/>
              </a:rPr>
              <a:t>q′ᵢₙₛ</a:t>
            </a:r>
          </a:p>
        </p:txBody>
      </p:sp>
      <p:sp>
        <p:nvSpPr>
          <p:cNvPr id="415" name="svd label 376"/>
          <p:cNvSpPr txBox="1"/>
          <p:nvPr/>
        </p:nvSpPr>
        <p:spPr>
          <a:xfrm>
            <a:off x="12420600" y="1362075"/>
            <a:ext cx="876300" cy="35242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i="1">
                <a:solidFill>
                  <a:srgbClr val="101010"/>
                </a:solidFill>
                <a:latin typeface="Liberation Serif"/>
              </a:rPr>
              <a:t>SVD</a:t>
            </a:r>
          </a:p>
        </p:txBody>
      </p:sp>
      <p:sp>
        <p:nvSpPr>
          <p:cNvPr id="416" name="title a 377"/>
          <p:cNvSpPr txBox="1"/>
          <p:nvPr/>
        </p:nvSpPr>
        <p:spPr>
          <a:xfrm>
            <a:off x="123825" y="66675"/>
            <a:ext cx="8763000" cy="37147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325" b="1" i="0">
                <a:solidFill>
                  <a:srgbClr val="101010"/>
                </a:solidFill>
                <a:latin typeface="Liberation Sans"/>
              </a:rPr>
              <a:t>(a) Construction of Object Agent Queries</a:t>
            </a:r>
          </a:p>
        </p:txBody>
      </p:sp>
      <p:sp>
        <p:nvSpPr>
          <p:cNvPr id="417" name="title b 378"/>
          <p:cNvSpPr txBox="1"/>
          <p:nvPr/>
        </p:nvSpPr>
        <p:spPr>
          <a:xfrm>
            <a:off x="10172700" y="66675"/>
            <a:ext cx="6238875" cy="37147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325" b="1" i="0">
                <a:solidFill>
                  <a:srgbClr val="101010"/>
                </a:solidFill>
                <a:latin typeface="Liberation Sans"/>
              </a:rPr>
              <a:t>(b) Dual-queries Consistency Scheme</a:t>
            </a:r>
          </a:p>
        </p:txBody>
      </p:sp>
      <p:sp>
        <p:nvSpPr>
          <p:cNvPr id="418" name="title c 379"/>
          <p:cNvSpPr txBox="1"/>
          <p:nvPr/>
        </p:nvSpPr>
        <p:spPr>
          <a:xfrm>
            <a:off x="123825" y="9363075"/>
            <a:ext cx="8096250" cy="33337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175" b="1" i="0">
                <a:solidFill>
                  <a:srgbClr val="101010"/>
                </a:solidFill>
                <a:latin typeface="Liberation Sans"/>
              </a:rPr>
              <a:t>(c) Cross-modal Semantic Enhancement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__ORIGINAL_REFERENCE_IMAGE__" descr="No Object Is an Island Enhancing 3D Semantic Segmentation Generalization with Diffusion Models_diagr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535399" cy="969644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