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4362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2i_panel"/>
          <p:cNvSpPr/>
          <p:nvPr/>
        </p:nvSpPr>
        <p:spPr>
          <a:xfrm>
            <a:off x="51119" y="127799"/>
            <a:ext cx="6070440" cy="3942591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23812">
            <a:solidFill>
              <a:srgbClr val="6FB8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2i_title_band"/>
          <p:cNvSpPr/>
          <p:nvPr/>
        </p:nvSpPr>
        <p:spPr>
          <a:xfrm>
            <a:off x="1405786" y="127799"/>
            <a:ext cx="4702993" cy="313107"/>
          </a:xfrm>
          <a:prstGeom prst="roundRect">
            <a:avLst>
              <a:gd name="adj" fmla="val 26530"/>
            </a:avLst>
          </a:prstGeom>
          <a:solidFill>
            <a:srgbClr val="DCE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2i_title"/>
          <p:cNvSpPr txBox="1"/>
          <p:nvPr/>
        </p:nvSpPr>
        <p:spPr>
          <a:xfrm>
            <a:off x="1431346" y="134189"/>
            <a:ext cx="4651874" cy="287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8ED3"/>
                </a:solidFill>
                <a:latin typeface="DejaVu Sans Condensed"/>
              </a:rPr>
              <a:t>In-context Editing Framework based on T2I DiT</a:t>
            </a:r>
          </a:p>
        </p:txBody>
      </p:sp>
      <p:pic>
        <p:nvPicPr>
          <p:cNvPr id="5" name="t2i_source_photo" descr="ma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5" y="472855"/>
            <a:ext cx="875421" cy="1309937"/>
          </a:xfrm>
          <a:prstGeom prst="rect">
            <a:avLst/>
          </a:prstGeom>
        </p:spPr>
      </p:pic>
      <p:sp>
        <p:nvSpPr>
          <p:cNvPr id="6" name="t2i_source_photo_border"/>
          <p:cNvSpPr/>
          <p:nvPr/>
        </p:nvSpPr>
        <p:spPr>
          <a:xfrm>
            <a:off x="536755" y="472855"/>
            <a:ext cx="875421" cy="1309937"/>
          </a:xfrm>
          <a:prstGeom prst="roundRect">
            <a:avLst/>
          </a:prstGeom>
          <a:noFill/>
          <a:ln w="19050">
            <a:solidFill>
              <a:srgbClr val="6FB8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2i_source_label"/>
          <p:cNvSpPr txBox="1"/>
          <p:nvPr/>
        </p:nvSpPr>
        <p:spPr>
          <a:xfrm>
            <a:off x="351447" y="1789182"/>
            <a:ext cx="1246038" cy="217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8ED3"/>
                </a:solidFill>
                <a:latin typeface="DejaVu Sans Condensed"/>
              </a:rPr>
              <a:t>Source Image</a:t>
            </a:r>
          </a:p>
        </p:txBody>
      </p:sp>
      <p:cxnSp>
        <p:nvCxnSpPr>
          <p:cNvPr id="8" name="t2i_source_to_dit"/>
          <p:cNvCxnSpPr/>
          <p:nvPr/>
        </p:nvCxnSpPr>
        <p:spPr>
          <a:xfrm>
            <a:off x="1552755" y="952101"/>
            <a:ext cx="549534" cy="0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version_dit"/>
          <p:cNvSpPr/>
          <p:nvPr/>
        </p:nvSpPr>
        <p:spPr>
          <a:xfrm>
            <a:off x="2166189" y="645384"/>
            <a:ext cx="2153409" cy="613434"/>
          </a:xfrm>
          <a:prstGeom prst="roundRect">
            <a:avLst>
              <a:gd name="adj" fmla="val 18750"/>
            </a:avLst>
          </a:prstGeom>
          <a:solidFill>
            <a:srgbClr val="CFEBF9"/>
          </a:solidFill>
          <a:ln w="17145">
            <a:solidFill>
              <a:srgbClr val="85B9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nversion_dit_label"/>
          <p:cNvSpPr txBox="1"/>
          <p:nvPr/>
        </p:nvSpPr>
        <p:spPr>
          <a:xfrm>
            <a:off x="2249258" y="734843"/>
            <a:ext cx="1993660" cy="4025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8ED3"/>
                </a:solidFill>
                <a:latin typeface="DejaVu Sans Condensed"/>
              </a:rPr>
              <a:t>T2I Diffusion Transformer</a:t>
            </a:r>
          </a:p>
        </p:txBody>
      </p:sp>
      <p:cxnSp>
        <p:nvCxnSpPr>
          <p:cNvPr id="11" name="inversion_out"/>
          <p:cNvCxnSpPr/>
          <p:nvPr/>
        </p:nvCxnSpPr>
        <p:spPr>
          <a:xfrm>
            <a:off x="4383496" y="952101"/>
            <a:ext cx="460076" cy="0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verted_top_grid_0_0"/>
          <p:cNvSpPr/>
          <p:nvPr/>
        </p:nvSpPr>
        <p:spPr>
          <a:xfrm>
            <a:off x="5009710" y="72206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nverted_top_grid_0_1"/>
          <p:cNvSpPr/>
          <p:nvPr/>
        </p:nvSpPr>
        <p:spPr>
          <a:xfrm>
            <a:off x="5182239" y="72206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nverted_top_grid_0_2"/>
          <p:cNvSpPr/>
          <p:nvPr/>
        </p:nvSpPr>
        <p:spPr>
          <a:xfrm>
            <a:off x="5354767" y="72206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nverted_top_grid_1_0"/>
          <p:cNvSpPr/>
          <p:nvPr/>
        </p:nvSpPr>
        <p:spPr>
          <a:xfrm>
            <a:off x="5009710" y="894591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nverted_top_grid_1_1"/>
          <p:cNvSpPr/>
          <p:nvPr/>
        </p:nvSpPr>
        <p:spPr>
          <a:xfrm>
            <a:off x="5182239" y="894591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nverted_top_grid_1_2"/>
          <p:cNvSpPr/>
          <p:nvPr/>
        </p:nvSpPr>
        <p:spPr>
          <a:xfrm>
            <a:off x="5354767" y="894591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nverted_top_grid_2_0"/>
          <p:cNvSpPr/>
          <p:nvPr/>
        </p:nvSpPr>
        <p:spPr>
          <a:xfrm>
            <a:off x="5009710" y="1067119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nverted_top_grid_2_1"/>
          <p:cNvSpPr/>
          <p:nvPr/>
        </p:nvSpPr>
        <p:spPr>
          <a:xfrm>
            <a:off x="5182239" y="1067119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nverted_top_grid_2_2"/>
          <p:cNvSpPr/>
          <p:nvPr/>
        </p:nvSpPr>
        <p:spPr>
          <a:xfrm>
            <a:off x="5354767" y="1067119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nverted_top_grid_3_0"/>
          <p:cNvSpPr/>
          <p:nvPr/>
        </p:nvSpPr>
        <p:spPr>
          <a:xfrm>
            <a:off x="5009710" y="123964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nverted_top_grid_3_1"/>
          <p:cNvSpPr/>
          <p:nvPr/>
        </p:nvSpPr>
        <p:spPr>
          <a:xfrm>
            <a:off x="5182239" y="123964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inverted_top_grid_3_2"/>
          <p:cNvSpPr/>
          <p:nvPr/>
        </p:nvSpPr>
        <p:spPr>
          <a:xfrm>
            <a:off x="5354767" y="123964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nverted_top_label"/>
          <p:cNvSpPr txBox="1"/>
          <p:nvPr/>
        </p:nvSpPr>
        <p:spPr>
          <a:xfrm>
            <a:off x="4632704" y="1437736"/>
            <a:ext cx="1182138" cy="23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8ED3"/>
                </a:solidFill>
                <a:latin typeface="DejaVu Sans Condensed"/>
              </a:rPr>
              <a:t>Inverted Noise</a:t>
            </a:r>
          </a:p>
        </p:txBody>
      </p:sp>
      <p:cxnSp>
        <p:nvCxnSpPr>
          <p:cNvPr id="25" name="inversion_loop_left"/>
          <p:cNvCxnSpPr/>
          <p:nvPr/>
        </p:nvCxnSpPr>
        <p:spPr>
          <a:xfrm flipV="1">
            <a:off x="1955321" y="1041560"/>
            <a:ext cx="0" cy="587874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inversion_loop_horizontal"/>
          <p:cNvCxnSpPr/>
          <p:nvPr/>
        </p:nvCxnSpPr>
        <p:spPr>
          <a:xfrm>
            <a:off x="1955321" y="1629434"/>
            <a:ext cx="2555974" cy="0"/>
          </a:xfrm>
          <a:prstGeom prst="line">
            <a:avLst/>
          </a:prstGeom>
          <a:ln w="16192">
            <a:solidFill>
              <a:srgbClr val="3F8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inversion_loop_right"/>
          <p:cNvCxnSpPr/>
          <p:nvPr/>
        </p:nvCxnSpPr>
        <p:spPr>
          <a:xfrm flipV="1">
            <a:off x="4511295" y="1028780"/>
            <a:ext cx="0" cy="600654"/>
          </a:xfrm>
          <a:prstGeom prst="line">
            <a:avLst/>
          </a:prstGeom>
          <a:ln w="16192">
            <a:solidFill>
              <a:srgbClr val="3F8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nversion_formula"/>
          <p:cNvSpPr txBox="1"/>
          <p:nvPr/>
        </p:nvSpPr>
        <p:spPr>
          <a:xfrm>
            <a:off x="2453736" y="1335497"/>
            <a:ext cx="1571924" cy="2428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3F8ED3"/>
                </a:solidFill>
                <a:latin typeface="DejaVu Serif"/>
              </a:rPr>
              <a:t>Inversion × N</a:t>
            </a:r>
          </a:p>
        </p:txBody>
      </p:sp>
      <p:sp>
        <p:nvSpPr>
          <p:cNvPr id="29" name="feature_injection"/>
          <p:cNvSpPr txBox="1"/>
          <p:nvPr/>
        </p:nvSpPr>
        <p:spPr>
          <a:xfrm>
            <a:off x="2262038" y="1686943"/>
            <a:ext cx="715673" cy="370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8ED3"/>
                </a:solidFill>
                <a:latin typeface="DejaVu Sans Condensed"/>
              </a:rPr>
              <a:t>Feature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8ED3"/>
                </a:solidFill>
                <a:latin typeface="DejaVu Sans Condensed"/>
              </a:rPr>
              <a:t>Injection</a:t>
            </a:r>
          </a:p>
        </p:txBody>
      </p:sp>
      <p:cxnSp>
        <p:nvCxnSpPr>
          <p:cNvPr id="30" name="feature_down"/>
          <p:cNvCxnSpPr/>
          <p:nvPr/>
        </p:nvCxnSpPr>
        <p:spPr>
          <a:xfrm>
            <a:off x="3086339" y="1686943"/>
            <a:ext cx="0" cy="364227"/>
          </a:xfrm>
          <a:prstGeom prst="line">
            <a:avLst/>
          </a:prstGeom>
          <a:ln w="114300">
            <a:solidFill>
              <a:srgbClr val="A8CBE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eature_grid_0_0"/>
          <p:cNvSpPr/>
          <p:nvPr/>
        </p:nvSpPr>
        <p:spPr>
          <a:xfrm>
            <a:off x="3284427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eature_grid_0_1"/>
          <p:cNvSpPr/>
          <p:nvPr/>
        </p:nvSpPr>
        <p:spPr>
          <a:xfrm>
            <a:off x="3380276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eature_grid_0_2"/>
          <p:cNvSpPr/>
          <p:nvPr/>
        </p:nvSpPr>
        <p:spPr>
          <a:xfrm>
            <a:off x="3476126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eature_grid_1_0"/>
          <p:cNvSpPr/>
          <p:nvPr/>
        </p:nvSpPr>
        <p:spPr>
          <a:xfrm>
            <a:off x="3284427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eature_grid_1_1"/>
          <p:cNvSpPr/>
          <p:nvPr/>
        </p:nvSpPr>
        <p:spPr>
          <a:xfrm>
            <a:off x="3380276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eature_grid_1_2"/>
          <p:cNvSpPr/>
          <p:nvPr/>
        </p:nvSpPr>
        <p:spPr>
          <a:xfrm>
            <a:off x="3476126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eature_grid_2_0"/>
          <p:cNvSpPr/>
          <p:nvPr/>
        </p:nvSpPr>
        <p:spPr>
          <a:xfrm>
            <a:off x="3284427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eature_grid_2_1"/>
          <p:cNvSpPr/>
          <p:nvPr/>
        </p:nvSpPr>
        <p:spPr>
          <a:xfrm>
            <a:off x="3380276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eature_grid_2_2"/>
          <p:cNvSpPr/>
          <p:nvPr/>
        </p:nvSpPr>
        <p:spPr>
          <a:xfrm>
            <a:off x="3476126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eature_grid_3_0"/>
          <p:cNvSpPr/>
          <p:nvPr/>
        </p:nvSpPr>
        <p:spPr>
          <a:xfrm>
            <a:off x="3284427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eature_grid_3_1"/>
          <p:cNvSpPr/>
          <p:nvPr/>
        </p:nvSpPr>
        <p:spPr>
          <a:xfrm>
            <a:off x="3380276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eature_grid_3_2"/>
          <p:cNvSpPr/>
          <p:nvPr/>
        </p:nvSpPr>
        <p:spPr>
          <a:xfrm>
            <a:off x="3476126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3" name="feature_merge_arrow"/>
          <p:cNvCxnSpPr/>
          <p:nvPr/>
        </p:nvCxnSpPr>
        <p:spPr>
          <a:xfrm>
            <a:off x="3571975" y="1865861"/>
            <a:ext cx="185308" cy="0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eature_grid_blue_0_0"/>
          <p:cNvSpPr/>
          <p:nvPr/>
        </p:nvSpPr>
        <p:spPr>
          <a:xfrm>
            <a:off x="3814792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eature_grid_blue_0_1"/>
          <p:cNvSpPr/>
          <p:nvPr/>
        </p:nvSpPr>
        <p:spPr>
          <a:xfrm>
            <a:off x="3910641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eature_grid_blue_0_2"/>
          <p:cNvSpPr/>
          <p:nvPr/>
        </p:nvSpPr>
        <p:spPr>
          <a:xfrm>
            <a:off x="4006490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feature_grid_blue_1_0"/>
          <p:cNvSpPr/>
          <p:nvPr/>
        </p:nvSpPr>
        <p:spPr>
          <a:xfrm>
            <a:off x="3814792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eature_grid_blue_1_1"/>
          <p:cNvSpPr/>
          <p:nvPr/>
        </p:nvSpPr>
        <p:spPr>
          <a:xfrm>
            <a:off x="3910641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eature_grid_blue_1_2"/>
          <p:cNvSpPr/>
          <p:nvPr/>
        </p:nvSpPr>
        <p:spPr>
          <a:xfrm>
            <a:off x="4006490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eature_grid_blue_2_0"/>
          <p:cNvSpPr/>
          <p:nvPr/>
        </p:nvSpPr>
        <p:spPr>
          <a:xfrm>
            <a:off x="3814792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eature_grid_blue_2_1"/>
          <p:cNvSpPr/>
          <p:nvPr/>
        </p:nvSpPr>
        <p:spPr>
          <a:xfrm>
            <a:off x="3910641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eature_grid_blue_2_2"/>
          <p:cNvSpPr/>
          <p:nvPr/>
        </p:nvSpPr>
        <p:spPr>
          <a:xfrm>
            <a:off x="4006490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eature_grid_blue_3_0"/>
          <p:cNvSpPr/>
          <p:nvPr/>
        </p:nvSpPr>
        <p:spPr>
          <a:xfrm>
            <a:off x="3814792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eature_grid_blue_3_1"/>
          <p:cNvSpPr/>
          <p:nvPr/>
        </p:nvSpPr>
        <p:spPr>
          <a:xfrm>
            <a:off x="3910641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eature_grid_blue_3_2"/>
          <p:cNvSpPr/>
          <p:nvPr/>
        </p:nvSpPr>
        <p:spPr>
          <a:xfrm>
            <a:off x="4006490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eature_grid_orange_0_0"/>
          <p:cNvSpPr/>
          <p:nvPr/>
        </p:nvSpPr>
        <p:spPr>
          <a:xfrm>
            <a:off x="4102339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eature_grid_orange_0_1"/>
          <p:cNvSpPr/>
          <p:nvPr/>
        </p:nvSpPr>
        <p:spPr>
          <a:xfrm>
            <a:off x="4198188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eature_grid_orange_0_2"/>
          <p:cNvSpPr/>
          <p:nvPr/>
        </p:nvSpPr>
        <p:spPr>
          <a:xfrm>
            <a:off x="4294037" y="1693333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eature_grid_orange_1_0"/>
          <p:cNvSpPr/>
          <p:nvPr/>
        </p:nvSpPr>
        <p:spPr>
          <a:xfrm>
            <a:off x="4102339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eature_grid_orange_1_1"/>
          <p:cNvSpPr/>
          <p:nvPr/>
        </p:nvSpPr>
        <p:spPr>
          <a:xfrm>
            <a:off x="4198188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eature_grid_orange_1_2"/>
          <p:cNvSpPr/>
          <p:nvPr/>
        </p:nvSpPr>
        <p:spPr>
          <a:xfrm>
            <a:off x="4294037" y="1789182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eature_grid_orange_2_0"/>
          <p:cNvSpPr/>
          <p:nvPr/>
        </p:nvSpPr>
        <p:spPr>
          <a:xfrm>
            <a:off x="4102339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eature_grid_orange_2_1"/>
          <p:cNvSpPr/>
          <p:nvPr/>
        </p:nvSpPr>
        <p:spPr>
          <a:xfrm>
            <a:off x="4198188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eature_grid_orange_2_2"/>
          <p:cNvSpPr/>
          <p:nvPr/>
        </p:nvSpPr>
        <p:spPr>
          <a:xfrm>
            <a:off x="4294037" y="1885031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eature_grid_orange_3_0"/>
          <p:cNvSpPr/>
          <p:nvPr/>
        </p:nvSpPr>
        <p:spPr>
          <a:xfrm>
            <a:off x="4102339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eature_grid_orange_3_1"/>
          <p:cNvSpPr/>
          <p:nvPr/>
        </p:nvSpPr>
        <p:spPr>
          <a:xfrm>
            <a:off x="4198188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eature_grid_orange_3_2"/>
          <p:cNvSpPr/>
          <p:nvPr/>
        </p:nvSpPr>
        <p:spPr>
          <a:xfrm>
            <a:off x="4294037" y="1980880"/>
            <a:ext cx="76679" cy="76679"/>
          </a:xfrm>
          <a:prstGeom prst="roundRect">
            <a:avLst>
              <a:gd name="adj" fmla="val 25000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feature_focus"/>
          <p:cNvSpPr/>
          <p:nvPr/>
        </p:nvSpPr>
        <p:spPr>
          <a:xfrm>
            <a:off x="3782842" y="1661384"/>
            <a:ext cx="306717" cy="415346"/>
          </a:xfrm>
          <a:prstGeom prst="roundRect">
            <a:avLst>
              <a:gd name="adj" fmla="val 12500"/>
            </a:avLst>
          </a:prstGeom>
          <a:noFill/>
          <a:ln w="16192">
            <a:solidFill>
              <a:srgbClr val="FF557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noise_blue_grid_0_0"/>
          <p:cNvSpPr/>
          <p:nvPr/>
        </p:nvSpPr>
        <p:spPr>
          <a:xfrm>
            <a:off x="223648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noise_blue_grid_0_1"/>
          <p:cNvSpPr/>
          <p:nvPr/>
        </p:nvSpPr>
        <p:spPr>
          <a:xfrm>
            <a:off x="396176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noise_blue_grid_0_2"/>
          <p:cNvSpPr/>
          <p:nvPr/>
        </p:nvSpPr>
        <p:spPr>
          <a:xfrm>
            <a:off x="568704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noise_blue_grid_1_0"/>
          <p:cNvSpPr/>
          <p:nvPr/>
        </p:nvSpPr>
        <p:spPr>
          <a:xfrm>
            <a:off x="223648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noise_blue_grid_1_1"/>
          <p:cNvSpPr/>
          <p:nvPr/>
        </p:nvSpPr>
        <p:spPr>
          <a:xfrm>
            <a:off x="396176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noise_blue_grid_1_2"/>
          <p:cNvSpPr/>
          <p:nvPr/>
        </p:nvSpPr>
        <p:spPr>
          <a:xfrm>
            <a:off x="568704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noise_blue_grid_2_0"/>
          <p:cNvSpPr/>
          <p:nvPr/>
        </p:nvSpPr>
        <p:spPr>
          <a:xfrm>
            <a:off x="223648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oise_blue_grid_2_1"/>
          <p:cNvSpPr/>
          <p:nvPr/>
        </p:nvSpPr>
        <p:spPr>
          <a:xfrm>
            <a:off x="396176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noise_blue_grid_2_2"/>
          <p:cNvSpPr/>
          <p:nvPr/>
        </p:nvSpPr>
        <p:spPr>
          <a:xfrm>
            <a:off x="568704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noise_blue_grid_3_0"/>
          <p:cNvSpPr/>
          <p:nvPr/>
        </p:nvSpPr>
        <p:spPr>
          <a:xfrm>
            <a:off x="223648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noise_blue_grid_3_1"/>
          <p:cNvSpPr/>
          <p:nvPr/>
        </p:nvSpPr>
        <p:spPr>
          <a:xfrm>
            <a:off x="396176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noise_blue_grid_3_2"/>
          <p:cNvSpPr/>
          <p:nvPr/>
        </p:nvSpPr>
        <p:spPr>
          <a:xfrm>
            <a:off x="568704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CFEBF9"/>
          </a:solidFill>
          <a:ln w="14287">
            <a:solidFill>
              <a:srgbClr val="82B9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noise_orange_grid_0_0"/>
          <p:cNvSpPr/>
          <p:nvPr/>
        </p:nvSpPr>
        <p:spPr>
          <a:xfrm>
            <a:off x="1124629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noise_orange_grid_0_1"/>
          <p:cNvSpPr/>
          <p:nvPr/>
        </p:nvSpPr>
        <p:spPr>
          <a:xfrm>
            <a:off x="1297157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noise_orange_grid_0_2"/>
          <p:cNvSpPr/>
          <p:nvPr/>
        </p:nvSpPr>
        <p:spPr>
          <a:xfrm>
            <a:off x="1469685" y="2210918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oise_orange_grid_1_0"/>
          <p:cNvSpPr/>
          <p:nvPr/>
        </p:nvSpPr>
        <p:spPr>
          <a:xfrm>
            <a:off x="1124629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noise_orange_grid_1_1"/>
          <p:cNvSpPr/>
          <p:nvPr/>
        </p:nvSpPr>
        <p:spPr>
          <a:xfrm>
            <a:off x="1297157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oise_orange_grid_1_2"/>
          <p:cNvSpPr/>
          <p:nvPr/>
        </p:nvSpPr>
        <p:spPr>
          <a:xfrm>
            <a:off x="1469685" y="2383446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noise_orange_grid_2_0"/>
          <p:cNvSpPr/>
          <p:nvPr/>
        </p:nvSpPr>
        <p:spPr>
          <a:xfrm>
            <a:off x="1124629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noise_orange_grid_2_1"/>
          <p:cNvSpPr/>
          <p:nvPr/>
        </p:nvSpPr>
        <p:spPr>
          <a:xfrm>
            <a:off x="1297157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oise_orange_grid_2_2"/>
          <p:cNvSpPr/>
          <p:nvPr/>
        </p:nvSpPr>
        <p:spPr>
          <a:xfrm>
            <a:off x="1469685" y="2555975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noise_orange_grid_3_0"/>
          <p:cNvSpPr/>
          <p:nvPr/>
        </p:nvSpPr>
        <p:spPr>
          <a:xfrm>
            <a:off x="1124629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noise_orange_grid_3_1"/>
          <p:cNvSpPr/>
          <p:nvPr/>
        </p:nvSpPr>
        <p:spPr>
          <a:xfrm>
            <a:off x="1297157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oise_orange_grid_3_2"/>
          <p:cNvSpPr/>
          <p:nvPr/>
        </p:nvSpPr>
        <p:spPr>
          <a:xfrm>
            <a:off x="1469685" y="2728503"/>
            <a:ext cx="146969" cy="146969"/>
          </a:xfrm>
          <a:prstGeom prst="roundRect">
            <a:avLst>
              <a:gd name="adj" fmla="val 13043"/>
            </a:avLst>
          </a:prstGeom>
          <a:solidFill>
            <a:srgbClr val="FDE8CB"/>
          </a:solidFill>
          <a:ln w="14287">
            <a:solidFill>
              <a:srgbClr val="F5BB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noise_concat_plus"/>
          <p:cNvSpPr txBox="1"/>
          <p:nvPr/>
        </p:nvSpPr>
        <p:spPr>
          <a:xfrm>
            <a:off x="805132" y="2428176"/>
            <a:ext cx="204478" cy="2555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6FB8EB"/>
                </a:solidFill>
                <a:latin typeface="DejaVu Sans Condensed"/>
              </a:rPr>
              <a:t>+</a:t>
            </a:r>
          </a:p>
        </p:txBody>
      </p:sp>
      <p:sp>
        <p:nvSpPr>
          <p:cNvPr id="94" name="noise_concat_word"/>
          <p:cNvSpPr txBox="1"/>
          <p:nvPr/>
        </p:nvSpPr>
        <p:spPr>
          <a:xfrm>
            <a:off x="715673" y="2587924"/>
            <a:ext cx="402566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8ED3"/>
                </a:solidFill>
                <a:latin typeface="DejaVu Sans Condensed"/>
              </a:rPr>
              <a:t>concat</a:t>
            </a:r>
          </a:p>
        </p:txBody>
      </p:sp>
      <p:sp>
        <p:nvSpPr>
          <p:cNvPr id="95" name="inverted_noise_left"/>
          <p:cNvSpPr txBox="1"/>
          <p:nvPr/>
        </p:nvSpPr>
        <p:spPr>
          <a:xfrm>
            <a:off x="115019" y="2875471"/>
            <a:ext cx="734843" cy="370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8ED3"/>
                </a:solidFill>
                <a:latin typeface="DejaVu Sans Condensed"/>
              </a:rPr>
              <a:t>Inverted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8ED3"/>
                </a:solidFill>
                <a:latin typeface="DejaVu Sans Condensed"/>
              </a:rPr>
              <a:t>Noise</a:t>
            </a:r>
          </a:p>
        </p:txBody>
      </p:sp>
      <p:sp>
        <p:nvSpPr>
          <p:cNvPr id="96" name="random_noise_left"/>
          <p:cNvSpPr txBox="1"/>
          <p:nvPr/>
        </p:nvSpPr>
        <p:spPr>
          <a:xfrm>
            <a:off x="996830" y="2875471"/>
            <a:ext cx="760402" cy="370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9D45"/>
                </a:solidFill>
                <a:latin typeface="DejaVu Sans Condensed"/>
              </a:rPr>
              <a:t>Random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9D45"/>
                </a:solidFill>
                <a:latin typeface="DejaVu Sans Condensed"/>
              </a:rPr>
              <a:t>Noise</a:t>
            </a:r>
          </a:p>
        </p:txBody>
      </p:sp>
      <p:cxnSp>
        <p:nvCxnSpPr>
          <p:cNvPr id="97" name="noise_to_denoiser"/>
          <p:cNvCxnSpPr/>
          <p:nvPr/>
        </p:nvCxnSpPr>
        <p:spPr>
          <a:xfrm>
            <a:off x="1654994" y="2702943"/>
            <a:ext cx="453685" cy="0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denoising_loop_top"/>
          <p:cNvCxnSpPr/>
          <p:nvPr/>
        </p:nvCxnSpPr>
        <p:spPr>
          <a:xfrm>
            <a:off x="1974490" y="2095899"/>
            <a:ext cx="2555975" cy="0"/>
          </a:xfrm>
          <a:prstGeom prst="line">
            <a:avLst/>
          </a:prstGeom>
          <a:ln w="16192">
            <a:solidFill>
              <a:srgbClr val="3F8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denoising_loop_left"/>
          <p:cNvCxnSpPr/>
          <p:nvPr/>
        </p:nvCxnSpPr>
        <p:spPr>
          <a:xfrm>
            <a:off x="1974490" y="2095899"/>
            <a:ext cx="0" cy="504805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denoising_loop_right"/>
          <p:cNvCxnSpPr/>
          <p:nvPr/>
        </p:nvCxnSpPr>
        <p:spPr>
          <a:xfrm>
            <a:off x="4530465" y="2095899"/>
            <a:ext cx="0" cy="523975"/>
          </a:xfrm>
          <a:prstGeom prst="line">
            <a:avLst/>
          </a:prstGeom>
          <a:ln w="16192">
            <a:solidFill>
              <a:srgbClr val="3F8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enoising_formula"/>
          <p:cNvSpPr txBox="1"/>
          <p:nvPr/>
        </p:nvSpPr>
        <p:spPr>
          <a:xfrm>
            <a:off x="2517635" y="2083119"/>
            <a:ext cx="1418566" cy="236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3F8ED3"/>
                </a:solidFill>
                <a:latin typeface="DejaVu Serif"/>
              </a:rPr>
              <a:t>Denoising × N</a:t>
            </a:r>
          </a:p>
        </p:txBody>
      </p:sp>
      <p:sp>
        <p:nvSpPr>
          <p:cNvPr id="102" name="denoising_dit"/>
          <p:cNvSpPr/>
          <p:nvPr/>
        </p:nvSpPr>
        <p:spPr>
          <a:xfrm>
            <a:off x="2178968" y="2428176"/>
            <a:ext cx="2147019" cy="613434"/>
          </a:xfrm>
          <a:prstGeom prst="roundRect">
            <a:avLst>
              <a:gd name="adj" fmla="val 18750"/>
            </a:avLst>
          </a:prstGeom>
          <a:solidFill>
            <a:srgbClr val="CFEBF9"/>
          </a:solidFill>
          <a:ln w="17145">
            <a:solidFill>
              <a:srgbClr val="85B9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denoising_dit_label"/>
          <p:cNvSpPr txBox="1"/>
          <p:nvPr/>
        </p:nvSpPr>
        <p:spPr>
          <a:xfrm>
            <a:off x="2255648" y="2524025"/>
            <a:ext cx="2000050" cy="39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F8ED3"/>
                </a:solidFill>
                <a:latin typeface="DejaVu Sans Condensed"/>
              </a:rPr>
              <a:t>T2I Diffusion Transformer</a:t>
            </a:r>
          </a:p>
        </p:txBody>
      </p:sp>
      <p:cxnSp>
        <p:nvCxnSpPr>
          <p:cNvPr id="104" name="denoising_out"/>
          <p:cNvCxnSpPr/>
          <p:nvPr/>
        </p:nvCxnSpPr>
        <p:spPr>
          <a:xfrm>
            <a:off x="4383496" y="2702943"/>
            <a:ext cx="460076" cy="0"/>
          </a:xfrm>
          <a:prstGeom prst="line">
            <a:avLst/>
          </a:prstGeom>
          <a:ln w="16192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" name="t2i_crop_preview" descr="ma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886" y="2779622"/>
            <a:ext cx="447296" cy="338667"/>
          </a:xfrm>
          <a:prstGeom prst="rect">
            <a:avLst/>
          </a:prstGeom>
        </p:spPr>
      </p:pic>
      <p:sp>
        <p:nvSpPr>
          <p:cNvPr id="106" name="t2i_crop_preview_border"/>
          <p:cNvSpPr/>
          <p:nvPr/>
        </p:nvSpPr>
        <p:spPr>
          <a:xfrm>
            <a:off x="4389886" y="2779622"/>
            <a:ext cx="447296" cy="338667"/>
          </a:xfrm>
          <a:prstGeom prst="rect">
            <a:avLst/>
          </a:prstGeom>
          <a:noFill/>
          <a:ln w="14287">
            <a:solidFill>
              <a:srgbClr val="6FB8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2i_crop_label"/>
          <p:cNvSpPr txBox="1"/>
          <p:nvPr/>
        </p:nvSpPr>
        <p:spPr>
          <a:xfrm>
            <a:off x="4377107" y="3105509"/>
            <a:ext cx="479245" cy="1661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F8ED3"/>
                </a:solidFill>
                <a:latin typeface="DejaVu Sans Condensed"/>
              </a:rPr>
              <a:t>crop</a:t>
            </a:r>
          </a:p>
        </p:txBody>
      </p:sp>
      <p:pic>
        <p:nvPicPr>
          <p:cNvPr id="108" name="t2i_target_photo" descr="ma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421" y="2057560"/>
            <a:ext cx="1054340" cy="1571924"/>
          </a:xfrm>
          <a:prstGeom prst="rect">
            <a:avLst/>
          </a:prstGeom>
        </p:spPr>
      </p:pic>
      <p:sp>
        <p:nvSpPr>
          <p:cNvPr id="109" name="t2i_target_photo_border"/>
          <p:cNvSpPr/>
          <p:nvPr/>
        </p:nvSpPr>
        <p:spPr>
          <a:xfrm>
            <a:off x="4939421" y="2057560"/>
            <a:ext cx="1054340" cy="1571924"/>
          </a:xfrm>
          <a:prstGeom prst="roundRect">
            <a:avLst/>
          </a:prstGeom>
          <a:noFill/>
          <a:ln w="19050">
            <a:solidFill>
              <a:srgbClr val="6FB8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2i_target_label"/>
          <p:cNvSpPr txBox="1"/>
          <p:nvPr/>
        </p:nvSpPr>
        <p:spPr>
          <a:xfrm>
            <a:off x="4792452" y="3648654"/>
            <a:ext cx="1322717" cy="3194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D45"/>
                </a:solidFill>
                <a:latin typeface="DejaVu Sans Condensed"/>
              </a:rPr>
              <a:t>Generated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9D45"/>
                </a:solidFill>
                <a:latin typeface="DejaVu Sans Condensed"/>
              </a:rPr>
              <a:t>Target Image</a:t>
            </a:r>
          </a:p>
        </p:txBody>
      </p:sp>
      <p:sp>
        <p:nvSpPr>
          <p:cNvPr id="111" name="t2i_prompt_box"/>
          <p:cNvSpPr/>
          <p:nvPr/>
        </p:nvSpPr>
        <p:spPr>
          <a:xfrm>
            <a:off x="153358" y="3348327"/>
            <a:ext cx="4236528" cy="594264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17145">
            <a:solidFill>
              <a:srgbClr val="8EC7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2i_prompt_1"/>
          <p:cNvSpPr txBox="1"/>
          <p:nvPr/>
        </p:nvSpPr>
        <p:spPr>
          <a:xfrm>
            <a:off x="242818" y="3380276"/>
            <a:ext cx="4064000" cy="2044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8ED3"/>
                </a:solidFill>
                <a:latin typeface="DejaVu Sans Condensed"/>
              </a:rPr>
              <a:t>“ A diptych with two side-by-side images of the same scene.</a:t>
            </a:r>
          </a:p>
        </p:txBody>
      </p:sp>
      <p:sp>
        <p:nvSpPr>
          <p:cNvPr id="113" name="t2i_prompt_2"/>
          <p:cNvSpPr txBox="1"/>
          <p:nvPr/>
        </p:nvSpPr>
        <p:spPr>
          <a:xfrm>
            <a:off x="268377" y="3565585"/>
            <a:ext cx="3993710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F8ED3"/>
                </a:solidFill>
                <a:latin typeface="DejaVu Sans Condensed"/>
              </a:rPr>
              <a:t>On the right, the scene is the same as on the left, but</a:t>
            </a:r>
          </a:p>
        </p:txBody>
      </p:sp>
      <p:sp>
        <p:nvSpPr>
          <p:cNvPr id="114" name="t2i_prompt_3"/>
          <p:cNvSpPr txBox="1"/>
          <p:nvPr/>
        </p:nvSpPr>
        <p:spPr>
          <a:xfrm>
            <a:off x="958490" y="3738113"/>
            <a:ext cx="2747673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9D45"/>
                </a:solidFill>
                <a:latin typeface="DejaVu Sans Condensed"/>
              </a:rPr>
              <a:t>{make the man grab a basketball}. ”</a:t>
            </a:r>
          </a:p>
        </p:txBody>
      </p:sp>
      <p:cxnSp>
        <p:nvCxnSpPr>
          <p:cNvPr id="115" name="t2i_prompt_up"/>
          <p:cNvCxnSpPr/>
          <p:nvPr/>
        </p:nvCxnSpPr>
        <p:spPr>
          <a:xfrm flipV="1">
            <a:off x="1974490" y="2907421"/>
            <a:ext cx="0" cy="402566"/>
          </a:xfrm>
          <a:prstGeom prst="line">
            <a:avLst/>
          </a:prstGeom>
          <a:ln w="15240">
            <a:solidFill>
              <a:srgbClr val="3F8E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npaint_panel"/>
          <p:cNvSpPr/>
          <p:nvPr/>
        </p:nvSpPr>
        <p:spPr>
          <a:xfrm>
            <a:off x="51119" y="4185408"/>
            <a:ext cx="6070440" cy="2274817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23812">
            <a:solidFill>
              <a:srgbClr val="F78A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inpaint_title_band"/>
          <p:cNvSpPr/>
          <p:nvPr/>
        </p:nvSpPr>
        <p:spPr>
          <a:xfrm>
            <a:off x="1131019" y="4185408"/>
            <a:ext cx="4977761" cy="313107"/>
          </a:xfrm>
          <a:prstGeom prst="roundRect">
            <a:avLst>
              <a:gd name="adj" fmla="val 26530"/>
            </a:avLst>
          </a:prstGeom>
          <a:solidFill>
            <a:srgbClr val="FCE1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npaint_title"/>
          <p:cNvSpPr txBox="1"/>
          <p:nvPr/>
        </p:nvSpPr>
        <p:spPr>
          <a:xfrm>
            <a:off x="1156579" y="4191798"/>
            <a:ext cx="4926641" cy="287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4E4B"/>
                </a:solidFill>
                <a:latin typeface="DejaVu Sans Condensed"/>
              </a:rPr>
              <a:t>In-context Editing Framework based on Inpainting DiT</a:t>
            </a:r>
          </a:p>
        </p:txBody>
      </p:sp>
      <p:pic>
        <p:nvPicPr>
          <p:cNvPr id="119" name="inpaint_source_photo" descr="woman_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09" y="4511295"/>
            <a:ext cx="964880" cy="1450516"/>
          </a:xfrm>
          <a:prstGeom prst="rect">
            <a:avLst/>
          </a:prstGeom>
        </p:spPr>
      </p:pic>
      <p:sp>
        <p:nvSpPr>
          <p:cNvPr id="120" name="inpaint_source_photo_border"/>
          <p:cNvSpPr/>
          <p:nvPr/>
        </p:nvSpPr>
        <p:spPr>
          <a:xfrm>
            <a:off x="121409" y="4511295"/>
            <a:ext cx="964880" cy="1450516"/>
          </a:xfrm>
          <a:prstGeom prst="roundRect">
            <a:avLst/>
          </a:prstGeom>
          <a:noFill/>
          <a:ln w="19050">
            <a:solidFill>
              <a:srgbClr val="FF55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inpaint_source_label"/>
          <p:cNvSpPr txBox="1"/>
          <p:nvPr/>
        </p:nvSpPr>
        <p:spPr>
          <a:xfrm>
            <a:off x="25560" y="6012930"/>
            <a:ext cx="1162968" cy="2555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5570"/>
                </a:solidFill>
                <a:latin typeface="DejaVu Sans Condensed"/>
              </a:rPr>
              <a:t>Source Image</a:t>
            </a:r>
          </a:p>
        </p:txBody>
      </p:sp>
      <p:sp>
        <p:nvSpPr>
          <p:cNvPr id="122" name="mask_swatch"/>
          <p:cNvSpPr/>
          <p:nvPr/>
        </p:nvSpPr>
        <p:spPr>
          <a:xfrm>
            <a:off x="1277987" y="4830792"/>
            <a:ext cx="178918" cy="242818"/>
          </a:xfrm>
          <a:prstGeom prst="roundRect">
            <a:avLst>
              <a:gd name="adj" fmla="val 21428"/>
            </a:avLst>
          </a:prstGeom>
          <a:solidFill>
            <a:srgbClr val="F9C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ask_label"/>
          <p:cNvSpPr txBox="1"/>
          <p:nvPr/>
        </p:nvSpPr>
        <p:spPr>
          <a:xfrm>
            <a:off x="1175748" y="5086390"/>
            <a:ext cx="447296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5570"/>
                </a:solidFill>
                <a:latin typeface="DejaVu Sans Condensed"/>
              </a:rPr>
              <a:t>mask</a:t>
            </a:r>
          </a:p>
        </p:txBody>
      </p:sp>
      <p:sp>
        <p:nvSpPr>
          <p:cNvPr id="124" name="inpaint_concat"/>
          <p:cNvSpPr txBox="1"/>
          <p:nvPr/>
        </p:nvSpPr>
        <p:spPr>
          <a:xfrm>
            <a:off x="1111849" y="5354767"/>
            <a:ext cx="498415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570"/>
                </a:solidFill>
                <a:latin typeface="DejaVu Sans Condensed"/>
              </a:rPr>
              <a:t>concat</a:t>
            </a:r>
          </a:p>
        </p:txBody>
      </p:sp>
      <p:pic>
        <p:nvPicPr>
          <p:cNvPr id="125" name="mask_composite_bitmap" descr="mask_compo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314" y="4766893"/>
            <a:ext cx="1456906" cy="1060729"/>
          </a:xfrm>
          <a:prstGeom prst="rect">
            <a:avLst/>
          </a:prstGeom>
        </p:spPr>
      </p:pic>
      <p:sp>
        <p:nvSpPr>
          <p:cNvPr id="126" name="mask_composite_label"/>
          <p:cNvSpPr txBox="1"/>
          <p:nvPr/>
        </p:nvSpPr>
        <p:spPr>
          <a:xfrm>
            <a:off x="1482465" y="5846792"/>
            <a:ext cx="1571924" cy="223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5570"/>
                </a:solidFill>
                <a:latin typeface="DejaVu Sans Condensed"/>
              </a:rPr>
              <a:t>Image with Mask</a:t>
            </a:r>
          </a:p>
        </p:txBody>
      </p:sp>
      <p:sp>
        <p:nvSpPr>
          <p:cNvPr id="127" name="noise_label"/>
          <p:cNvSpPr txBox="1"/>
          <p:nvPr/>
        </p:nvSpPr>
        <p:spPr>
          <a:xfrm>
            <a:off x="2830742" y="5565635"/>
            <a:ext cx="549535" cy="217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5570"/>
                </a:solidFill>
                <a:latin typeface="DejaVu Sans Condensed"/>
              </a:rPr>
              <a:t>Noise</a:t>
            </a:r>
          </a:p>
        </p:txBody>
      </p:sp>
      <p:cxnSp>
        <p:nvCxnSpPr>
          <p:cNvPr id="128" name="inpaint_input_arrow"/>
          <p:cNvCxnSpPr/>
          <p:nvPr/>
        </p:nvCxnSpPr>
        <p:spPr>
          <a:xfrm>
            <a:off x="3060780" y="5201408"/>
            <a:ext cx="223647" cy="0"/>
          </a:xfrm>
          <a:prstGeom prst="line">
            <a:avLst/>
          </a:prstGeom>
          <a:ln w="123825">
            <a:solidFill>
              <a:srgbClr val="F8B8C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npainting_dit"/>
          <p:cNvSpPr/>
          <p:nvPr/>
        </p:nvSpPr>
        <p:spPr>
          <a:xfrm>
            <a:off x="3322767" y="4920251"/>
            <a:ext cx="1239648" cy="536755"/>
          </a:xfrm>
          <a:prstGeom prst="roundRect">
            <a:avLst>
              <a:gd name="adj" fmla="val 21428"/>
            </a:avLst>
          </a:prstGeom>
          <a:solidFill>
            <a:srgbClr val="FBE1EA"/>
          </a:solidFill>
          <a:ln w="19050">
            <a:solidFill>
              <a:srgbClr val="F7A0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inpainting_dit_label"/>
          <p:cNvSpPr txBox="1"/>
          <p:nvPr/>
        </p:nvSpPr>
        <p:spPr>
          <a:xfrm>
            <a:off x="3399446" y="5035270"/>
            <a:ext cx="1086289" cy="306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5570"/>
                </a:solidFill>
                <a:latin typeface="DejaVu Sans Condensed"/>
              </a:rPr>
              <a:t>Inpainting DiT</a:t>
            </a:r>
          </a:p>
        </p:txBody>
      </p:sp>
      <p:pic>
        <p:nvPicPr>
          <p:cNvPr id="131" name="inpaint_small_diptych" descr="small_dipty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64" y="4741333"/>
            <a:ext cx="498415" cy="364226"/>
          </a:xfrm>
          <a:prstGeom prst="rect">
            <a:avLst/>
          </a:prstGeom>
        </p:spPr>
      </p:pic>
      <p:sp>
        <p:nvSpPr>
          <p:cNvPr id="132" name="inpaint_small_diptych_border"/>
          <p:cNvSpPr/>
          <p:nvPr/>
        </p:nvSpPr>
        <p:spPr>
          <a:xfrm>
            <a:off x="4594364" y="4741333"/>
            <a:ext cx="498415" cy="364226"/>
          </a:xfrm>
          <a:prstGeom prst="rect">
            <a:avLst/>
          </a:prstGeom>
          <a:noFill/>
          <a:ln w="11429">
            <a:solidFill>
              <a:srgbClr val="F78A9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3" name="inpaint_output_arrow"/>
          <p:cNvCxnSpPr/>
          <p:nvPr/>
        </p:nvCxnSpPr>
        <p:spPr>
          <a:xfrm>
            <a:off x="4575195" y="5201408"/>
            <a:ext cx="472855" cy="0"/>
          </a:xfrm>
          <a:prstGeom prst="line">
            <a:avLst/>
          </a:prstGeom>
          <a:ln w="123825">
            <a:solidFill>
              <a:srgbClr val="F8B8C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inpaint_crop_label"/>
          <p:cNvSpPr txBox="1"/>
          <p:nvPr/>
        </p:nvSpPr>
        <p:spPr>
          <a:xfrm>
            <a:off x="4600754" y="5278088"/>
            <a:ext cx="523975" cy="1789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570"/>
                </a:solidFill>
                <a:latin typeface="DejaVu Sans Condensed"/>
              </a:rPr>
              <a:t>crop</a:t>
            </a:r>
          </a:p>
        </p:txBody>
      </p:sp>
      <p:pic>
        <p:nvPicPr>
          <p:cNvPr id="135" name="inpaint_target_photo" descr="woman_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779" y="4549635"/>
            <a:ext cx="926541" cy="1412176"/>
          </a:xfrm>
          <a:prstGeom prst="rect">
            <a:avLst/>
          </a:prstGeom>
        </p:spPr>
      </p:pic>
      <p:sp>
        <p:nvSpPr>
          <p:cNvPr id="136" name="inpaint_target_photo_border"/>
          <p:cNvSpPr/>
          <p:nvPr/>
        </p:nvSpPr>
        <p:spPr>
          <a:xfrm>
            <a:off x="5092779" y="4549635"/>
            <a:ext cx="926541" cy="1412176"/>
          </a:xfrm>
          <a:prstGeom prst="roundRect">
            <a:avLst/>
          </a:prstGeom>
          <a:noFill/>
          <a:ln w="19050">
            <a:solidFill>
              <a:srgbClr val="FF55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inpaint_target_label"/>
          <p:cNvSpPr txBox="1"/>
          <p:nvPr/>
        </p:nvSpPr>
        <p:spPr>
          <a:xfrm>
            <a:off x="5143899" y="6006540"/>
            <a:ext cx="830692" cy="3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5570"/>
                </a:solidFill>
                <a:latin typeface="DejaVu Sans Condensed"/>
              </a:rPr>
              <a:t>Target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5570"/>
                </a:solidFill>
                <a:latin typeface="DejaVu Sans Condensed"/>
              </a:rPr>
              <a:t>Image</a:t>
            </a:r>
          </a:p>
        </p:txBody>
      </p:sp>
      <p:sp>
        <p:nvSpPr>
          <p:cNvPr id="138" name="inpaint_prompt_box"/>
          <p:cNvSpPr/>
          <p:nvPr/>
        </p:nvSpPr>
        <p:spPr>
          <a:xfrm>
            <a:off x="2971321" y="5974591"/>
            <a:ext cx="2102289" cy="415346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17145">
            <a:solidFill>
              <a:srgbClr val="F4A8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inpaint_prompt_1"/>
          <p:cNvSpPr txBox="1"/>
          <p:nvPr/>
        </p:nvSpPr>
        <p:spPr>
          <a:xfrm>
            <a:off x="3060780" y="6006540"/>
            <a:ext cx="1910591" cy="172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49AAA"/>
                </a:solidFill>
                <a:latin typeface="DejaVu Sans Condensed"/>
              </a:rPr>
              <a:t>“A diptych with ... ... but</a:t>
            </a:r>
          </a:p>
        </p:txBody>
      </p:sp>
      <p:sp>
        <p:nvSpPr>
          <p:cNvPr id="140" name="inpaint_prompt_2"/>
          <p:cNvSpPr txBox="1"/>
          <p:nvPr/>
        </p:nvSpPr>
        <p:spPr>
          <a:xfrm>
            <a:off x="3035220" y="6172679"/>
            <a:ext cx="1974490" cy="1789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570"/>
                </a:solidFill>
                <a:latin typeface="DejaVu Sans Condensed"/>
              </a:rPr>
              <a:t>{make her hold a red can}. ”</a:t>
            </a:r>
          </a:p>
        </p:txBody>
      </p:sp>
      <p:cxnSp>
        <p:nvCxnSpPr>
          <p:cNvPr id="141" name="inpaint_prompt_up"/>
          <p:cNvCxnSpPr/>
          <p:nvPr/>
        </p:nvCxnSpPr>
        <p:spPr>
          <a:xfrm flipV="1">
            <a:off x="3929811" y="5533685"/>
            <a:ext cx="0" cy="434516"/>
          </a:xfrm>
          <a:prstGeom prst="line">
            <a:avLst/>
          </a:prstGeom>
          <a:ln w="114300">
            <a:solidFill>
              <a:srgbClr val="F7B9C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vertical_divider_top"/>
          <p:cNvCxnSpPr/>
          <p:nvPr/>
        </p:nvCxnSpPr>
        <p:spPr>
          <a:xfrm>
            <a:off x="6434666" y="287547"/>
            <a:ext cx="0" cy="3808402"/>
          </a:xfrm>
          <a:prstGeom prst="line">
            <a:avLst/>
          </a:prstGeom>
          <a:ln w="19050">
            <a:solidFill>
              <a:srgbClr val="8E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ertical_divider_bottom"/>
          <p:cNvCxnSpPr/>
          <p:nvPr/>
        </p:nvCxnSpPr>
        <p:spPr>
          <a:xfrm>
            <a:off x="6434666" y="4294037"/>
            <a:ext cx="0" cy="1763623"/>
          </a:xfrm>
          <a:prstGeom prst="line">
            <a:avLst/>
          </a:prstGeom>
          <a:ln w="19050">
            <a:solidFill>
              <a:srgbClr val="8EC9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4" name="edit_pair_source" descr="edit_sour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471" y="108629"/>
            <a:ext cx="779572" cy="1188528"/>
          </a:xfrm>
          <a:prstGeom prst="rect">
            <a:avLst/>
          </a:prstGeom>
        </p:spPr>
      </p:pic>
      <p:sp>
        <p:nvSpPr>
          <p:cNvPr id="145" name="edit_pair_source_border"/>
          <p:cNvSpPr/>
          <p:nvPr/>
        </p:nvSpPr>
        <p:spPr>
          <a:xfrm>
            <a:off x="6939471" y="108629"/>
            <a:ext cx="779572" cy="1188528"/>
          </a:xfrm>
          <a:prstGeom prst="roundRect">
            <a:avLst/>
          </a:prstGeom>
          <a:noFill/>
          <a:ln w="9525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edit_pair_target" descr="edit_targ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1823" y="108629"/>
            <a:ext cx="805132" cy="1188528"/>
          </a:xfrm>
          <a:prstGeom prst="rect">
            <a:avLst/>
          </a:prstGeom>
        </p:spPr>
      </p:pic>
      <p:sp>
        <p:nvSpPr>
          <p:cNvPr id="147" name="edit_pair_target_border"/>
          <p:cNvSpPr/>
          <p:nvPr/>
        </p:nvSpPr>
        <p:spPr>
          <a:xfrm>
            <a:off x="7731823" y="108629"/>
            <a:ext cx="805132" cy="1188528"/>
          </a:xfrm>
          <a:prstGeom prst="roundRect">
            <a:avLst/>
          </a:prstGeom>
          <a:noFill/>
          <a:ln w="19050">
            <a:solidFill>
              <a:srgbClr val="FF55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dit_pair_target_dashed"/>
          <p:cNvSpPr/>
          <p:nvPr/>
        </p:nvSpPr>
        <p:spPr>
          <a:xfrm>
            <a:off x="7731823" y="108629"/>
            <a:ext cx="805132" cy="1188528"/>
          </a:xfrm>
          <a:prstGeom prst="roundRect">
            <a:avLst>
              <a:gd name="adj" fmla="val 2380"/>
            </a:avLst>
          </a:prstGeom>
          <a:noFill/>
          <a:ln w="19050">
            <a:solidFill>
              <a:srgbClr val="F13B2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edit_pair_label"/>
          <p:cNvSpPr txBox="1"/>
          <p:nvPr/>
        </p:nvSpPr>
        <p:spPr>
          <a:xfrm>
            <a:off x="8626414" y="357836"/>
            <a:ext cx="894591" cy="594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Edit by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In-context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Generation</a:t>
            </a:r>
          </a:p>
        </p:txBody>
      </p:sp>
      <p:cxnSp>
        <p:nvCxnSpPr>
          <p:cNvPr id="150" name="decoder_to_result"/>
          <p:cNvCxnSpPr/>
          <p:nvPr/>
        </p:nvCxnSpPr>
        <p:spPr>
          <a:xfrm flipV="1">
            <a:off x="8121609" y="1303547"/>
            <a:ext cx="0" cy="178918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decoder"/>
          <p:cNvSpPr/>
          <p:nvPr/>
        </p:nvSpPr>
        <p:spPr>
          <a:xfrm>
            <a:off x="7667924" y="1476075"/>
            <a:ext cx="900981" cy="255597"/>
          </a:xfrm>
          <a:prstGeom prst="roundRect">
            <a:avLst>
              <a:gd name="adj" fmla="val 15000"/>
            </a:avLst>
          </a:prstGeom>
          <a:solidFill>
            <a:srgbClr val="C3E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decoder_label"/>
          <p:cNvSpPr txBox="1"/>
          <p:nvPr/>
        </p:nvSpPr>
        <p:spPr>
          <a:xfrm>
            <a:off x="7680704" y="1495245"/>
            <a:ext cx="875421" cy="217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Decoder</a:t>
            </a:r>
          </a:p>
        </p:txBody>
      </p:sp>
      <p:cxnSp>
        <p:nvCxnSpPr>
          <p:cNvPr id="153" name="transformer_to_decoder"/>
          <p:cNvCxnSpPr/>
          <p:nvPr/>
        </p:nvCxnSpPr>
        <p:spPr>
          <a:xfrm flipV="1">
            <a:off x="8121609" y="1738063"/>
            <a:ext cx="0" cy="255597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ransformer_back_3"/>
          <p:cNvSpPr/>
          <p:nvPr/>
        </p:nvSpPr>
        <p:spPr>
          <a:xfrm>
            <a:off x="6926691" y="1789182"/>
            <a:ext cx="2575144" cy="2690163"/>
          </a:xfrm>
          <a:prstGeom prst="roundRect">
            <a:avLst>
              <a:gd name="adj" fmla="val 5459"/>
            </a:avLst>
          </a:prstGeom>
          <a:solidFill>
            <a:srgbClr val="E7C1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ransformer_back_2"/>
          <p:cNvSpPr/>
          <p:nvPr/>
        </p:nvSpPr>
        <p:spPr>
          <a:xfrm>
            <a:off x="6862792" y="1853082"/>
            <a:ext cx="2575144" cy="2690163"/>
          </a:xfrm>
          <a:prstGeom prst="roundRect">
            <a:avLst>
              <a:gd name="adj" fmla="val 5459"/>
            </a:avLst>
          </a:prstGeom>
          <a:solidFill>
            <a:srgbClr val="EAD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ransformer_back_1"/>
          <p:cNvSpPr/>
          <p:nvPr/>
        </p:nvSpPr>
        <p:spPr>
          <a:xfrm>
            <a:off x="6805282" y="1916981"/>
            <a:ext cx="2575144" cy="2690163"/>
          </a:xfrm>
          <a:prstGeom prst="roundRect">
            <a:avLst>
              <a:gd name="adj" fmla="val 5459"/>
            </a:avLst>
          </a:prstGeom>
          <a:solidFill>
            <a:srgbClr val="EAD9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ransformer_front"/>
          <p:cNvSpPr/>
          <p:nvPr/>
        </p:nvSpPr>
        <p:spPr>
          <a:xfrm>
            <a:off x="6754163" y="1980880"/>
            <a:ext cx="2575144" cy="2645434"/>
          </a:xfrm>
          <a:prstGeom prst="roundRect">
            <a:avLst>
              <a:gd name="adj" fmla="val 5459"/>
            </a:avLst>
          </a:prstGeom>
          <a:solidFill>
            <a:srgbClr val="ECE0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ransformer_repeat"/>
          <p:cNvSpPr txBox="1"/>
          <p:nvPr/>
        </p:nvSpPr>
        <p:spPr>
          <a:xfrm>
            <a:off x="8894792" y="1955321"/>
            <a:ext cx="319497" cy="223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31F20"/>
                </a:solidFill>
                <a:latin typeface="DejaVu Sans Condensed"/>
              </a:rPr>
              <a:t>N×</a:t>
            </a:r>
          </a:p>
        </p:txBody>
      </p:sp>
      <p:sp>
        <p:nvSpPr>
          <p:cNvPr id="159" name="transformer_output_tokens_1"/>
          <p:cNvSpPr/>
          <p:nvPr/>
        </p:nvSpPr>
        <p:spPr>
          <a:xfrm>
            <a:off x="7591245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ransformer_output_tokens_2"/>
          <p:cNvSpPr/>
          <p:nvPr/>
        </p:nvSpPr>
        <p:spPr>
          <a:xfrm>
            <a:off x="7744603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ransformer_output_tokens_3"/>
          <p:cNvSpPr/>
          <p:nvPr/>
        </p:nvSpPr>
        <p:spPr>
          <a:xfrm>
            <a:off x="7897962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ransformer_output_tokens_4"/>
          <p:cNvSpPr/>
          <p:nvPr/>
        </p:nvSpPr>
        <p:spPr>
          <a:xfrm>
            <a:off x="8051320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ransformer_output_tokens_5"/>
          <p:cNvSpPr/>
          <p:nvPr/>
        </p:nvSpPr>
        <p:spPr>
          <a:xfrm>
            <a:off x="8204679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ransformer_output_tokens_6"/>
          <p:cNvSpPr/>
          <p:nvPr/>
        </p:nvSpPr>
        <p:spPr>
          <a:xfrm>
            <a:off x="8358037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transformer_output_tokens_7"/>
          <p:cNvSpPr/>
          <p:nvPr/>
        </p:nvSpPr>
        <p:spPr>
          <a:xfrm>
            <a:off x="8511396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ransformer_output_tokens_8"/>
          <p:cNvSpPr/>
          <p:nvPr/>
        </p:nvSpPr>
        <p:spPr>
          <a:xfrm>
            <a:off x="8664754" y="1993660"/>
            <a:ext cx="140579" cy="140579"/>
          </a:xfrm>
          <a:prstGeom prst="roundRect">
            <a:avLst>
              <a:gd name="adj" fmla="val 13636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ransformer_add_circle"/>
          <p:cNvSpPr/>
          <p:nvPr/>
        </p:nvSpPr>
        <p:spPr>
          <a:xfrm>
            <a:off x="8057710" y="2313157"/>
            <a:ext cx="127799" cy="127799"/>
          </a:xfrm>
          <a:prstGeom prst="ellipse">
            <a:avLst/>
          </a:prstGeom>
          <a:solidFill>
            <a:srgbClr val="FFFFFF"/>
          </a:solidFill>
          <a:ln w="22859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ransformer_add_symbol"/>
          <p:cNvSpPr txBox="1"/>
          <p:nvPr/>
        </p:nvSpPr>
        <p:spPr>
          <a:xfrm>
            <a:off x="8044930" y="2300377"/>
            <a:ext cx="153358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1F20"/>
                </a:solidFill>
                <a:latin typeface="DejaVu Sans"/>
              </a:rPr>
              <a:t>+</a:t>
            </a:r>
          </a:p>
        </p:txBody>
      </p:sp>
      <p:sp>
        <p:nvSpPr>
          <p:cNvPr id="169" name="transformer_mul_circle"/>
          <p:cNvSpPr/>
          <p:nvPr/>
        </p:nvSpPr>
        <p:spPr>
          <a:xfrm>
            <a:off x="8057710" y="2562365"/>
            <a:ext cx="127799" cy="127799"/>
          </a:xfrm>
          <a:prstGeom prst="ellipse">
            <a:avLst/>
          </a:prstGeom>
          <a:solidFill>
            <a:srgbClr val="FFFFFF"/>
          </a:solidFill>
          <a:ln w="22859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ransformer_mul_symbol"/>
          <p:cNvSpPr txBox="1"/>
          <p:nvPr/>
        </p:nvSpPr>
        <p:spPr>
          <a:xfrm>
            <a:off x="8044930" y="2549585"/>
            <a:ext cx="153358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1F20"/>
                </a:solidFill>
                <a:latin typeface="DejaVu Sans"/>
              </a:rPr>
              <a:t>×</a:t>
            </a:r>
          </a:p>
        </p:txBody>
      </p:sp>
      <p:cxnSp>
        <p:nvCxnSpPr>
          <p:cNvPr id="171" name="output_tokens_to_add"/>
          <p:cNvCxnSpPr/>
          <p:nvPr/>
        </p:nvCxnSpPr>
        <p:spPr>
          <a:xfrm flipV="1">
            <a:off x="8121609" y="2140629"/>
            <a:ext cx="0" cy="172528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mul_to_add"/>
          <p:cNvCxnSpPr/>
          <p:nvPr/>
        </p:nvCxnSpPr>
        <p:spPr>
          <a:xfrm flipV="1">
            <a:off x="8121609" y="2440956"/>
            <a:ext cx="0" cy="121409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ut_projection"/>
          <p:cNvSpPr/>
          <p:nvPr/>
        </p:nvSpPr>
        <p:spPr>
          <a:xfrm>
            <a:off x="7469836" y="2754063"/>
            <a:ext cx="1277987" cy="274767"/>
          </a:xfrm>
          <a:prstGeom prst="roundRect">
            <a:avLst>
              <a:gd name="adj" fmla="val 18604"/>
            </a:avLst>
          </a:prstGeom>
          <a:solidFill>
            <a:srgbClr val="E1AECF"/>
          </a:solidFill>
          <a:ln w="47625">
            <a:solidFill>
              <a:srgbClr val="F13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ut_projection_label"/>
          <p:cNvSpPr txBox="1"/>
          <p:nvPr/>
        </p:nvSpPr>
        <p:spPr>
          <a:xfrm>
            <a:off x="7527345" y="2786012"/>
            <a:ext cx="1162968" cy="210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Out Projection</a:t>
            </a:r>
          </a:p>
        </p:txBody>
      </p:sp>
      <p:cxnSp>
        <p:nvCxnSpPr>
          <p:cNvPr id="175" name="out_projection_to_mul"/>
          <p:cNvCxnSpPr/>
          <p:nvPr/>
        </p:nvCxnSpPr>
        <p:spPr>
          <a:xfrm flipV="1">
            <a:off x="8121609" y="2690163"/>
            <a:ext cx="0" cy="57510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branch_from_projection"/>
          <p:cNvCxnSpPr/>
          <p:nvPr/>
        </p:nvCxnSpPr>
        <p:spPr>
          <a:xfrm>
            <a:off x="8115219" y="3035220"/>
            <a:ext cx="0" cy="83069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projection_branch_horizontal"/>
          <p:cNvCxnSpPr/>
          <p:nvPr/>
        </p:nvCxnSpPr>
        <p:spPr>
          <a:xfrm>
            <a:off x="7297308" y="3118289"/>
            <a:ext cx="1603874" cy="0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branch_to_mlp"/>
          <p:cNvCxnSpPr/>
          <p:nvPr/>
        </p:nvCxnSpPr>
        <p:spPr>
          <a:xfrm>
            <a:off x="7297308" y="3118289"/>
            <a:ext cx="0" cy="83069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branch_to_attention"/>
          <p:cNvCxnSpPr/>
          <p:nvPr/>
        </p:nvCxnSpPr>
        <p:spPr>
          <a:xfrm>
            <a:off x="8901182" y="3118289"/>
            <a:ext cx="0" cy="83069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mlp"/>
          <p:cNvSpPr/>
          <p:nvPr/>
        </p:nvSpPr>
        <p:spPr>
          <a:xfrm>
            <a:off x="7169509" y="3201358"/>
            <a:ext cx="479245" cy="268377"/>
          </a:xfrm>
          <a:prstGeom prst="roundRect">
            <a:avLst>
              <a:gd name="adj" fmla="val 21428"/>
            </a:avLst>
          </a:prstGeom>
          <a:solidFill>
            <a:srgbClr val="E5C1DB"/>
          </a:solidFill>
          <a:ln w="19050">
            <a:solidFill>
              <a:srgbClr val="E100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lp_label"/>
          <p:cNvSpPr txBox="1"/>
          <p:nvPr/>
        </p:nvSpPr>
        <p:spPr>
          <a:xfrm>
            <a:off x="7207848" y="3233308"/>
            <a:ext cx="402566" cy="198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MLP</a:t>
            </a:r>
          </a:p>
        </p:txBody>
      </p:sp>
      <p:sp>
        <p:nvSpPr>
          <p:cNvPr id="182" name="mm_attention"/>
          <p:cNvSpPr/>
          <p:nvPr/>
        </p:nvSpPr>
        <p:spPr>
          <a:xfrm>
            <a:off x="8153559" y="3201358"/>
            <a:ext cx="1054340" cy="268377"/>
          </a:xfrm>
          <a:prstGeom prst="roundRect">
            <a:avLst>
              <a:gd name="adj" fmla="val 21428"/>
            </a:avLst>
          </a:prstGeom>
          <a:solidFill>
            <a:srgbClr val="E5C1DB"/>
          </a:solidFill>
          <a:ln w="19050">
            <a:solidFill>
              <a:srgbClr val="E100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m_attention_label"/>
          <p:cNvSpPr txBox="1"/>
          <p:nvPr/>
        </p:nvSpPr>
        <p:spPr>
          <a:xfrm>
            <a:off x="8179119" y="3233308"/>
            <a:ext cx="1003220" cy="198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MM Attention</a:t>
            </a:r>
          </a:p>
        </p:txBody>
      </p:sp>
      <p:cxnSp>
        <p:nvCxnSpPr>
          <p:cNvPr id="184" name="mlp_down"/>
          <p:cNvCxnSpPr/>
          <p:nvPr/>
        </p:nvCxnSpPr>
        <p:spPr>
          <a:xfrm>
            <a:off x="7297308" y="3469736"/>
            <a:ext cx="0" cy="140578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attention_down"/>
          <p:cNvCxnSpPr/>
          <p:nvPr/>
        </p:nvCxnSpPr>
        <p:spPr>
          <a:xfrm>
            <a:off x="8901182" y="3469736"/>
            <a:ext cx="0" cy="140578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merge_after_modules"/>
          <p:cNvCxnSpPr/>
          <p:nvPr/>
        </p:nvCxnSpPr>
        <p:spPr>
          <a:xfrm>
            <a:off x="7297308" y="3610314"/>
            <a:ext cx="1603874" cy="0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merge_to_norm"/>
          <p:cNvCxnSpPr/>
          <p:nvPr/>
        </p:nvCxnSpPr>
        <p:spPr>
          <a:xfrm>
            <a:off x="8108830" y="3610314"/>
            <a:ext cx="0" cy="83069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norm_mod"/>
          <p:cNvSpPr/>
          <p:nvPr/>
        </p:nvSpPr>
        <p:spPr>
          <a:xfrm>
            <a:off x="7469836" y="3693383"/>
            <a:ext cx="1277987" cy="268377"/>
          </a:xfrm>
          <a:prstGeom prst="roundRect">
            <a:avLst>
              <a:gd name="adj" fmla="val 21428"/>
            </a:avLst>
          </a:prstGeom>
          <a:solidFill>
            <a:srgbClr val="E1AECF"/>
          </a:solidFill>
          <a:ln w="19050">
            <a:solidFill>
              <a:srgbClr val="E100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norm_mod_label"/>
          <p:cNvSpPr txBox="1"/>
          <p:nvPr/>
        </p:nvSpPr>
        <p:spPr>
          <a:xfrm>
            <a:off x="7508175" y="3725333"/>
            <a:ext cx="1201308" cy="198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Norm &amp; Mod</a:t>
            </a:r>
          </a:p>
        </p:txBody>
      </p:sp>
      <p:cxnSp>
        <p:nvCxnSpPr>
          <p:cNvPr id="190" name="tokens_to_norm"/>
          <p:cNvCxnSpPr/>
          <p:nvPr/>
        </p:nvCxnSpPr>
        <p:spPr>
          <a:xfrm flipV="1">
            <a:off x="8108830" y="3968151"/>
            <a:ext cx="0" cy="217257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concat_tokens_box"/>
          <p:cNvSpPr/>
          <p:nvPr/>
        </p:nvSpPr>
        <p:spPr>
          <a:xfrm>
            <a:off x="7003370" y="4185408"/>
            <a:ext cx="2198138" cy="357836"/>
          </a:xfrm>
          <a:prstGeom prst="roundRect">
            <a:avLst>
              <a:gd name="adj" fmla="val 21428"/>
            </a:avLst>
          </a:prstGeom>
          <a:solidFill>
            <a:srgbClr val="F6F0F7"/>
          </a:solidFill>
          <a:ln w="17145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concat_blue_tokens_1"/>
          <p:cNvSpPr/>
          <p:nvPr/>
        </p:nvSpPr>
        <p:spPr>
          <a:xfrm>
            <a:off x="7182289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concat_blue_tokens_2"/>
          <p:cNvSpPr/>
          <p:nvPr/>
        </p:nvSpPr>
        <p:spPr>
          <a:xfrm>
            <a:off x="7373987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concat_blue_tokens_3"/>
          <p:cNvSpPr/>
          <p:nvPr/>
        </p:nvSpPr>
        <p:spPr>
          <a:xfrm>
            <a:off x="7565685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concat_plus"/>
          <p:cNvSpPr txBox="1"/>
          <p:nvPr/>
        </p:nvSpPr>
        <p:spPr>
          <a:xfrm>
            <a:off x="7827672" y="4210968"/>
            <a:ext cx="242818" cy="2044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1F20"/>
                </a:solidFill>
                <a:latin typeface="DejaVu Sans Condensed"/>
              </a:rPr>
              <a:t>+</a:t>
            </a:r>
          </a:p>
        </p:txBody>
      </p:sp>
      <p:sp>
        <p:nvSpPr>
          <p:cNvPr id="196" name="concat_word"/>
          <p:cNvSpPr txBox="1"/>
          <p:nvPr/>
        </p:nvSpPr>
        <p:spPr>
          <a:xfrm>
            <a:off x="7706264" y="4377107"/>
            <a:ext cx="485635" cy="140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31F20"/>
                </a:solidFill>
                <a:latin typeface="DejaVu Serif"/>
              </a:rPr>
              <a:t>concat</a:t>
            </a:r>
          </a:p>
        </p:txBody>
      </p:sp>
      <p:sp>
        <p:nvSpPr>
          <p:cNvPr id="197" name="concat_purple_tokens_1"/>
          <p:cNvSpPr/>
          <p:nvPr/>
        </p:nvSpPr>
        <p:spPr>
          <a:xfrm>
            <a:off x="8153559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concat_purple_tokens_2"/>
          <p:cNvSpPr/>
          <p:nvPr/>
        </p:nvSpPr>
        <p:spPr>
          <a:xfrm>
            <a:off x="8345257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concat_purple_tokens_3"/>
          <p:cNvSpPr/>
          <p:nvPr/>
        </p:nvSpPr>
        <p:spPr>
          <a:xfrm>
            <a:off x="8536955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concat_purple_tokens_4"/>
          <p:cNvSpPr/>
          <p:nvPr/>
        </p:nvSpPr>
        <p:spPr>
          <a:xfrm>
            <a:off x="8728653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concat_purple_tokens_5"/>
          <p:cNvSpPr/>
          <p:nvPr/>
        </p:nvSpPr>
        <p:spPr>
          <a:xfrm>
            <a:off x="8920351" y="4268478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2" name="residual_left_vertical"/>
          <p:cNvCxnSpPr/>
          <p:nvPr/>
        </p:nvCxnSpPr>
        <p:spPr>
          <a:xfrm>
            <a:off x="6888352" y="2370666"/>
            <a:ext cx="0" cy="2019220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residual_to_add"/>
          <p:cNvCxnSpPr/>
          <p:nvPr/>
        </p:nvCxnSpPr>
        <p:spPr>
          <a:xfrm>
            <a:off x="6888352" y="2370666"/>
            <a:ext cx="1150188" cy="0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mod_left_vertical"/>
          <p:cNvCxnSpPr/>
          <p:nvPr/>
        </p:nvCxnSpPr>
        <p:spPr>
          <a:xfrm>
            <a:off x="7080050" y="2613484"/>
            <a:ext cx="0" cy="1207698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mod_to_mul"/>
          <p:cNvCxnSpPr/>
          <p:nvPr/>
        </p:nvCxnSpPr>
        <p:spPr>
          <a:xfrm>
            <a:off x="7080050" y="2613484"/>
            <a:ext cx="958490" cy="0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mod_to_norm"/>
          <p:cNvCxnSpPr/>
          <p:nvPr/>
        </p:nvCxnSpPr>
        <p:spPr>
          <a:xfrm>
            <a:off x="7080050" y="3821182"/>
            <a:ext cx="377006" cy="0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residual_from_tokens"/>
          <p:cNvCxnSpPr/>
          <p:nvPr/>
        </p:nvCxnSpPr>
        <p:spPr>
          <a:xfrm>
            <a:off x="6888352" y="4389886"/>
            <a:ext cx="108629" cy="0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projection_to_lora"/>
          <p:cNvCxnSpPr/>
          <p:nvPr/>
        </p:nvCxnSpPr>
        <p:spPr>
          <a:xfrm>
            <a:off x="8766993" y="2888251"/>
            <a:ext cx="894591" cy="0"/>
          </a:xfrm>
          <a:prstGeom prst="line">
            <a:avLst/>
          </a:prstGeom>
          <a:ln w="161925">
            <a:solidFill>
              <a:srgbClr val="D88E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text_encoder_to_tokens"/>
          <p:cNvCxnSpPr/>
          <p:nvPr/>
        </p:nvCxnSpPr>
        <p:spPr>
          <a:xfrm flipV="1">
            <a:off x="7316477" y="4556025"/>
            <a:ext cx="0" cy="249207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image_encoder_to_tokens"/>
          <p:cNvCxnSpPr/>
          <p:nvPr/>
        </p:nvCxnSpPr>
        <p:spPr>
          <a:xfrm flipV="1">
            <a:off x="8811723" y="4556025"/>
            <a:ext cx="0" cy="249207"/>
          </a:xfrm>
          <a:prstGeom prst="line">
            <a:avLst/>
          </a:prstGeom>
          <a:ln w="1905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_encoder"/>
          <p:cNvSpPr/>
          <p:nvPr/>
        </p:nvSpPr>
        <p:spPr>
          <a:xfrm>
            <a:off x="6837232" y="4805232"/>
            <a:ext cx="958490" cy="332277"/>
          </a:xfrm>
          <a:prstGeom prst="roundRect">
            <a:avLst>
              <a:gd name="adj" fmla="val 11538"/>
            </a:avLst>
          </a:prstGeom>
          <a:solidFill>
            <a:srgbClr val="C3E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text_encoder_label"/>
          <p:cNvSpPr txBox="1"/>
          <p:nvPr/>
        </p:nvSpPr>
        <p:spPr>
          <a:xfrm>
            <a:off x="6862792" y="4849962"/>
            <a:ext cx="907371" cy="2428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Text Encoder</a:t>
            </a:r>
          </a:p>
        </p:txBody>
      </p:sp>
      <p:sp>
        <p:nvSpPr>
          <p:cNvPr id="213" name="image_encoder"/>
          <p:cNvSpPr/>
          <p:nvPr/>
        </p:nvSpPr>
        <p:spPr>
          <a:xfrm>
            <a:off x="8076880" y="4805232"/>
            <a:ext cx="1559145" cy="332277"/>
          </a:xfrm>
          <a:prstGeom prst="roundRect">
            <a:avLst>
              <a:gd name="adj" fmla="val 11538"/>
            </a:avLst>
          </a:prstGeom>
          <a:solidFill>
            <a:srgbClr val="C3E8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image_encoder_label"/>
          <p:cNvSpPr txBox="1"/>
          <p:nvPr/>
        </p:nvSpPr>
        <p:spPr>
          <a:xfrm>
            <a:off x="8102440" y="4849962"/>
            <a:ext cx="1508025" cy="2428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Image Encoder</a:t>
            </a:r>
          </a:p>
        </p:txBody>
      </p:sp>
      <p:sp>
        <p:nvSpPr>
          <p:cNvPr id="215" name="prompt_input"/>
          <p:cNvSpPr/>
          <p:nvPr/>
        </p:nvSpPr>
        <p:spPr>
          <a:xfrm>
            <a:off x="6728603" y="5552855"/>
            <a:ext cx="1188528" cy="894591"/>
          </a:xfrm>
          <a:prstGeom prst="roundRect">
            <a:avLst>
              <a:gd name="adj" fmla="val 12142"/>
            </a:avLst>
          </a:prstGeom>
          <a:solidFill>
            <a:srgbClr val="FFFFFF"/>
          </a:solidFill>
          <a:ln w="20955">
            <a:solidFill>
              <a:srgbClr val="88888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prompt_input_text"/>
          <p:cNvSpPr txBox="1"/>
          <p:nvPr/>
        </p:nvSpPr>
        <p:spPr>
          <a:xfrm>
            <a:off x="6792503" y="5648704"/>
            <a:ext cx="1060729" cy="7156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88888"/>
                </a:solidFill>
                <a:latin typeface="DejaVu Sans Condensed"/>
              </a:rPr>
              <a:t>“ A diptych with ...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88888"/>
                </a:solidFill>
                <a:latin typeface="DejaVu Sans Condensed"/>
              </a:rPr>
              <a:t>but {what if it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88888"/>
                </a:solidFill>
                <a:latin typeface="DejaVu Sans Condensed"/>
              </a:rPr>
              <a:t>looks like water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88888"/>
                </a:solidFill>
                <a:latin typeface="DejaVu Sans Condensed"/>
              </a:rPr>
              <a:t>color painting?}”</a:t>
            </a:r>
          </a:p>
        </p:txBody>
      </p:sp>
      <p:cxnSp>
        <p:nvCxnSpPr>
          <p:cNvPr id="217" name="prompt_to_encoder"/>
          <p:cNvCxnSpPr/>
          <p:nvPr/>
        </p:nvCxnSpPr>
        <p:spPr>
          <a:xfrm flipV="1">
            <a:off x="7316477" y="5156679"/>
            <a:ext cx="0" cy="389786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8" name="image_input" descr="girl_inp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8540" y="5533685"/>
            <a:ext cx="607044" cy="907371"/>
          </a:xfrm>
          <a:prstGeom prst="rect">
            <a:avLst/>
          </a:prstGeom>
        </p:spPr>
      </p:pic>
      <p:sp>
        <p:nvSpPr>
          <p:cNvPr id="219" name="image_input_border"/>
          <p:cNvSpPr/>
          <p:nvPr/>
        </p:nvSpPr>
        <p:spPr>
          <a:xfrm>
            <a:off x="8038540" y="5533685"/>
            <a:ext cx="607044" cy="907371"/>
          </a:xfrm>
          <a:prstGeom prst="rect">
            <a:avLst/>
          </a:prstGeom>
          <a:noFill/>
          <a:ln w="9525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ask_input"/>
          <p:cNvSpPr/>
          <p:nvPr/>
        </p:nvSpPr>
        <p:spPr>
          <a:xfrm>
            <a:off x="8645584" y="5559245"/>
            <a:ext cx="619824" cy="881811"/>
          </a:xfrm>
          <a:prstGeom prst="rect">
            <a:avLst/>
          </a:prstGeom>
          <a:solidFill>
            <a:srgbClr val="111111"/>
          </a:solidFill>
          <a:ln w="9525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1" name="noise_input" descr="noise_inpu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5408" y="5552855"/>
            <a:ext cx="543145" cy="894591"/>
          </a:xfrm>
          <a:prstGeom prst="rect">
            <a:avLst/>
          </a:prstGeom>
        </p:spPr>
      </p:pic>
      <p:sp>
        <p:nvSpPr>
          <p:cNvPr id="222" name="image_input_label"/>
          <p:cNvSpPr txBox="1"/>
          <p:nvPr/>
        </p:nvSpPr>
        <p:spPr>
          <a:xfrm>
            <a:off x="8051320" y="5258918"/>
            <a:ext cx="555924" cy="223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Image</a:t>
            </a:r>
          </a:p>
        </p:txBody>
      </p:sp>
      <p:sp>
        <p:nvSpPr>
          <p:cNvPr id="223" name="mask_input_label"/>
          <p:cNvSpPr txBox="1"/>
          <p:nvPr/>
        </p:nvSpPr>
        <p:spPr>
          <a:xfrm>
            <a:off x="8837282" y="5258918"/>
            <a:ext cx="447296" cy="223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Mask</a:t>
            </a:r>
          </a:p>
        </p:txBody>
      </p:sp>
      <p:sp>
        <p:nvSpPr>
          <p:cNvPr id="224" name="noise_input_label"/>
          <p:cNvSpPr txBox="1"/>
          <p:nvPr/>
        </p:nvSpPr>
        <p:spPr>
          <a:xfrm>
            <a:off x="9329307" y="5341987"/>
            <a:ext cx="479245" cy="3194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Noise</a:t>
            </a:r>
          </a:p>
        </p:txBody>
      </p:sp>
      <p:cxnSp>
        <p:nvCxnSpPr>
          <p:cNvPr id="225" name="image_to_encoder"/>
          <p:cNvCxnSpPr/>
          <p:nvPr/>
        </p:nvCxnSpPr>
        <p:spPr>
          <a:xfrm flipV="1">
            <a:off x="8294138" y="5163069"/>
            <a:ext cx="0" cy="357836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mask_to_encoder"/>
          <p:cNvCxnSpPr/>
          <p:nvPr/>
        </p:nvCxnSpPr>
        <p:spPr>
          <a:xfrm flipV="1">
            <a:off x="8913962" y="5163069"/>
            <a:ext cx="0" cy="383396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noise_to_encoder"/>
          <p:cNvCxnSpPr/>
          <p:nvPr/>
        </p:nvCxnSpPr>
        <p:spPr>
          <a:xfrm flipV="1">
            <a:off x="9572125" y="5163069"/>
            <a:ext cx="0" cy="370616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lora_panel"/>
          <p:cNvSpPr/>
          <p:nvPr/>
        </p:nvSpPr>
        <p:spPr>
          <a:xfrm>
            <a:off x="9584905" y="370616"/>
            <a:ext cx="2555975" cy="3942591"/>
          </a:xfrm>
          <a:prstGeom prst="roundRect">
            <a:avLst>
              <a:gd name="adj" fmla="val 5000"/>
            </a:avLst>
          </a:prstGeom>
          <a:solidFill>
            <a:srgbClr val="EAF4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lora_title"/>
          <p:cNvSpPr txBox="1"/>
          <p:nvPr/>
        </p:nvSpPr>
        <p:spPr>
          <a:xfrm>
            <a:off x="10735093" y="389786"/>
            <a:ext cx="1341887" cy="223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31F20"/>
                </a:solidFill>
                <a:latin typeface="DejaVu Sans Condensed"/>
              </a:rPr>
              <a:t>LoRA-MoE Module</a:t>
            </a:r>
          </a:p>
        </p:txBody>
      </p:sp>
      <p:sp>
        <p:nvSpPr>
          <p:cNvPr id="230" name="lora_top_tokens_1"/>
          <p:cNvSpPr/>
          <p:nvPr/>
        </p:nvSpPr>
        <p:spPr>
          <a:xfrm>
            <a:off x="10306968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lora_top_tokens_2"/>
          <p:cNvSpPr/>
          <p:nvPr/>
        </p:nvSpPr>
        <p:spPr>
          <a:xfrm>
            <a:off x="10453936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lora_top_tokens_3"/>
          <p:cNvSpPr/>
          <p:nvPr/>
        </p:nvSpPr>
        <p:spPr>
          <a:xfrm>
            <a:off x="10600905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lora_top_tokens_4"/>
          <p:cNvSpPr/>
          <p:nvPr/>
        </p:nvSpPr>
        <p:spPr>
          <a:xfrm>
            <a:off x="10747873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lora_top_tokens_5"/>
          <p:cNvSpPr/>
          <p:nvPr/>
        </p:nvSpPr>
        <p:spPr>
          <a:xfrm>
            <a:off x="10894842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lora_top_tokens_6"/>
          <p:cNvSpPr/>
          <p:nvPr/>
        </p:nvSpPr>
        <p:spPr>
          <a:xfrm>
            <a:off x="11041810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lora_top_tokens_7"/>
          <p:cNvSpPr/>
          <p:nvPr/>
        </p:nvSpPr>
        <p:spPr>
          <a:xfrm>
            <a:off x="11188779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lora_top_tokens_8"/>
          <p:cNvSpPr/>
          <p:nvPr/>
        </p:nvSpPr>
        <p:spPr>
          <a:xfrm>
            <a:off x="11335747" y="754013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lora_add_circle"/>
          <p:cNvSpPr/>
          <p:nvPr/>
        </p:nvSpPr>
        <p:spPr>
          <a:xfrm>
            <a:off x="10824553" y="1073509"/>
            <a:ext cx="127799" cy="127799"/>
          </a:xfrm>
          <a:prstGeom prst="ellipse">
            <a:avLst/>
          </a:prstGeom>
          <a:solidFill>
            <a:srgbClr val="FFFFFF"/>
          </a:solidFill>
          <a:ln w="22859">
            <a:solidFill>
              <a:srgbClr val="231F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lora_add_symbol"/>
          <p:cNvSpPr txBox="1"/>
          <p:nvPr/>
        </p:nvSpPr>
        <p:spPr>
          <a:xfrm>
            <a:off x="10811773" y="1060729"/>
            <a:ext cx="153358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1F20"/>
                </a:solidFill>
                <a:latin typeface="DejaVu Sans"/>
              </a:rPr>
              <a:t>+</a:t>
            </a:r>
          </a:p>
        </p:txBody>
      </p:sp>
      <p:cxnSp>
        <p:nvCxnSpPr>
          <p:cNvPr id="240" name="lora_top_to_add"/>
          <p:cNvCxnSpPr/>
          <p:nvPr/>
        </p:nvCxnSpPr>
        <p:spPr>
          <a:xfrm flipV="1">
            <a:off x="10888452" y="920151"/>
            <a:ext cx="0" cy="153358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base_layer"/>
          <p:cNvSpPr/>
          <p:nvPr/>
        </p:nvSpPr>
        <p:spPr>
          <a:xfrm>
            <a:off x="9636024" y="1386616"/>
            <a:ext cx="1067119" cy="223648"/>
          </a:xfrm>
          <a:prstGeom prst="roundRect">
            <a:avLst>
              <a:gd name="adj" fmla="val 22857"/>
            </a:avLst>
          </a:prstGeom>
          <a:solidFill>
            <a:srgbClr val="E6B6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base_layer_label"/>
          <p:cNvSpPr txBox="1"/>
          <p:nvPr/>
        </p:nvSpPr>
        <p:spPr>
          <a:xfrm>
            <a:off x="9744653" y="1399396"/>
            <a:ext cx="798742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Base Layer</a:t>
            </a:r>
          </a:p>
        </p:txBody>
      </p:sp>
      <p:sp>
        <p:nvSpPr>
          <p:cNvPr id="243" name="base_frozen_icon"/>
          <p:cNvSpPr/>
          <p:nvPr/>
        </p:nvSpPr>
        <p:spPr>
          <a:xfrm>
            <a:off x="10556175" y="1508025"/>
            <a:ext cx="178918" cy="217258"/>
          </a:xfrm>
          <a:prstGeom prst="can">
            <a:avLst/>
          </a:prstGeom>
          <a:solidFill>
            <a:srgbClr val="75C9F2"/>
          </a:solidFill>
          <a:ln w="14287">
            <a:solidFill>
              <a:srgbClr val="247D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base_frozen_icon_face"/>
          <p:cNvSpPr txBox="1"/>
          <p:nvPr/>
        </p:nvSpPr>
        <p:spPr>
          <a:xfrm>
            <a:off x="10588381" y="1584065"/>
            <a:ext cx="114508" cy="651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0">
                <a:solidFill>
                  <a:srgbClr val="247DB9"/>
                </a:solidFill>
              </a:rPr>
              <a:t>••</a:t>
            </a:r>
          </a:p>
        </p:txBody>
      </p:sp>
      <p:sp>
        <p:nvSpPr>
          <p:cNvPr id="245" name="lora_dashed_loop"/>
          <p:cNvSpPr/>
          <p:nvPr/>
        </p:nvSpPr>
        <p:spPr>
          <a:xfrm>
            <a:off x="9776603" y="830692"/>
            <a:ext cx="2236478" cy="3086339"/>
          </a:xfrm>
          <a:prstGeom prst="ellipse">
            <a:avLst/>
          </a:prstGeom>
          <a:noFill/>
          <a:ln w="17145">
            <a:solidFill>
              <a:srgbClr val="231F2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base_to_add_hint"/>
          <p:cNvCxnSpPr/>
          <p:nvPr/>
        </p:nvCxnSpPr>
        <p:spPr>
          <a:xfrm flipV="1">
            <a:off x="10268628" y="1131019"/>
            <a:ext cx="536755" cy="76679"/>
          </a:xfrm>
          <a:prstGeom prst="line">
            <a:avLst/>
          </a:prstGeom>
          <a:ln w="17145">
            <a:solidFill>
              <a:srgbClr val="231F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loop_to_base_hint"/>
          <p:cNvCxnSpPr/>
          <p:nvPr/>
        </p:nvCxnSpPr>
        <p:spPr>
          <a:xfrm flipV="1">
            <a:off x="9827722" y="1597484"/>
            <a:ext cx="108629" cy="204478"/>
          </a:xfrm>
          <a:prstGeom prst="line">
            <a:avLst/>
          </a:prstGeom>
          <a:ln w="17145">
            <a:solidFill>
              <a:srgbClr val="231F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expert_1_adapter_top"/>
          <p:cNvSpPr/>
          <p:nvPr/>
        </p:nvSpPr>
        <p:spPr>
          <a:xfrm rot="10800000">
            <a:off x="9917182" y="1948931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expert_1_adapter_bottom"/>
          <p:cNvSpPr/>
          <p:nvPr/>
        </p:nvSpPr>
        <p:spPr>
          <a:xfrm>
            <a:off x="9917182" y="2268427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expert_1_trainable_outer"/>
          <p:cNvSpPr/>
          <p:nvPr/>
        </p:nvSpPr>
        <p:spPr>
          <a:xfrm rot="18900000">
            <a:off x="10185559" y="2345107"/>
            <a:ext cx="198088" cy="25559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expert_1_trainable_inner"/>
          <p:cNvSpPr/>
          <p:nvPr/>
        </p:nvSpPr>
        <p:spPr>
          <a:xfrm rot="18900000">
            <a:off x="10256871" y="2478017"/>
            <a:ext cx="71312" cy="97127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expert_1_label"/>
          <p:cNvSpPr txBox="1"/>
          <p:nvPr/>
        </p:nvSpPr>
        <p:spPr>
          <a:xfrm>
            <a:off x="9872452" y="2581534"/>
            <a:ext cx="549535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31F20"/>
                </a:solidFill>
                <a:latin typeface="DejaVu Sans Condensed"/>
              </a:rPr>
              <a:t>Expert 1</a:t>
            </a:r>
          </a:p>
        </p:txBody>
      </p:sp>
      <p:sp>
        <p:nvSpPr>
          <p:cNvPr id="253" name="expert_2_adapter_top"/>
          <p:cNvSpPr/>
          <p:nvPr/>
        </p:nvSpPr>
        <p:spPr>
          <a:xfrm rot="10800000">
            <a:off x="10434766" y="1948931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expert_2_adapter_bottom"/>
          <p:cNvSpPr/>
          <p:nvPr/>
        </p:nvSpPr>
        <p:spPr>
          <a:xfrm>
            <a:off x="10434766" y="2268427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expert_2_trainable_outer"/>
          <p:cNvSpPr/>
          <p:nvPr/>
        </p:nvSpPr>
        <p:spPr>
          <a:xfrm rot="18900000">
            <a:off x="10703144" y="2345107"/>
            <a:ext cx="198088" cy="25559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expert_2_trainable_inner"/>
          <p:cNvSpPr/>
          <p:nvPr/>
        </p:nvSpPr>
        <p:spPr>
          <a:xfrm rot="18900000">
            <a:off x="10774455" y="2478017"/>
            <a:ext cx="71312" cy="97127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expert_2_label"/>
          <p:cNvSpPr txBox="1"/>
          <p:nvPr/>
        </p:nvSpPr>
        <p:spPr>
          <a:xfrm>
            <a:off x="10390037" y="2581534"/>
            <a:ext cx="549535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31F20"/>
                </a:solidFill>
                <a:latin typeface="DejaVu Sans Condensed"/>
              </a:rPr>
              <a:t>Expert 2</a:t>
            </a:r>
          </a:p>
        </p:txBody>
      </p:sp>
      <p:sp>
        <p:nvSpPr>
          <p:cNvPr id="258" name="expert_3_adapter_top"/>
          <p:cNvSpPr/>
          <p:nvPr/>
        </p:nvSpPr>
        <p:spPr>
          <a:xfrm rot="10800000">
            <a:off x="10952351" y="1948931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expert_3_adapter_bottom"/>
          <p:cNvSpPr/>
          <p:nvPr/>
        </p:nvSpPr>
        <p:spPr>
          <a:xfrm>
            <a:off x="10952351" y="2268427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expert_3_trainable_outer"/>
          <p:cNvSpPr/>
          <p:nvPr/>
        </p:nvSpPr>
        <p:spPr>
          <a:xfrm rot="18900000">
            <a:off x="11220729" y="2345107"/>
            <a:ext cx="198088" cy="25559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expert_3_trainable_inner"/>
          <p:cNvSpPr/>
          <p:nvPr/>
        </p:nvSpPr>
        <p:spPr>
          <a:xfrm rot="18900000">
            <a:off x="11292040" y="2478017"/>
            <a:ext cx="71312" cy="97127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expert_3_label"/>
          <p:cNvSpPr txBox="1"/>
          <p:nvPr/>
        </p:nvSpPr>
        <p:spPr>
          <a:xfrm>
            <a:off x="10907622" y="2581534"/>
            <a:ext cx="549535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31F20"/>
                </a:solidFill>
                <a:latin typeface="DejaVu Sans Condensed"/>
              </a:rPr>
              <a:t>Expert 3</a:t>
            </a:r>
          </a:p>
        </p:txBody>
      </p:sp>
      <p:sp>
        <p:nvSpPr>
          <p:cNvPr id="263" name="expert_4_adapter_top"/>
          <p:cNvSpPr/>
          <p:nvPr/>
        </p:nvSpPr>
        <p:spPr>
          <a:xfrm rot="10800000">
            <a:off x="11591345" y="1948931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expert_4_adapter_bottom"/>
          <p:cNvSpPr/>
          <p:nvPr/>
        </p:nvSpPr>
        <p:spPr>
          <a:xfrm>
            <a:off x="11591345" y="2268427"/>
            <a:ext cx="447296" cy="281157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expert_4_trainable_outer"/>
          <p:cNvSpPr/>
          <p:nvPr/>
        </p:nvSpPr>
        <p:spPr>
          <a:xfrm rot="18900000">
            <a:off x="11859722" y="2345107"/>
            <a:ext cx="198088" cy="25559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expert_4_trainable_inner"/>
          <p:cNvSpPr/>
          <p:nvPr/>
        </p:nvSpPr>
        <p:spPr>
          <a:xfrm rot="18900000">
            <a:off x="11931034" y="2478017"/>
            <a:ext cx="71312" cy="97127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expert_4_label"/>
          <p:cNvSpPr txBox="1"/>
          <p:nvPr/>
        </p:nvSpPr>
        <p:spPr>
          <a:xfrm>
            <a:off x="11546615" y="2581534"/>
            <a:ext cx="549535" cy="1916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31F20"/>
                </a:solidFill>
                <a:latin typeface="DejaVu Sans Condensed"/>
              </a:rPr>
              <a:t>Expert N</a:t>
            </a:r>
          </a:p>
        </p:txBody>
      </p:sp>
      <p:sp>
        <p:nvSpPr>
          <p:cNvPr id="268" name="expert_ellipsis"/>
          <p:cNvSpPr txBox="1"/>
          <p:nvPr/>
        </p:nvSpPr>
        <p:spPr>
          <a:xfrm>
            <a:off x="11386867" y="2032000"/>
            <a:ext cx="255597" cy="2555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DejaVu Sans Condensed"/>
              </a:rPr>
              <a:t>…</a:t>
            </a:r>
          </a:p>
        </p:txBody>
      </p:sp>
      <p:sp>
        <p:nvSpPr>
          <p:cNvPr id="269" name="topk_label"/>
          <p:cNvSpPr txBox="1"/>
          <p:nvPr/>
        </p:nvSpPr>
        <p:spPr>
          <a:xfrm>
            <a:off x="10185559" y="2952151"/>
            <a:ext cx="575094" cy="217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31F20"/>
                </a:solidFill>
                <a:latin typeface="DejaVu Sans Condensed"/>
              </a:rPr>
              <a:t>TopK=1</a:t>
            </a:r>
          </a:p>
        </p:txBody>
      </p:sp>
      <p:sp>
        <p:nvSpPr>
          <p:cNvPr id="270" name="route_bar_0"/>
          <p:cNvSpPr/>
          <p:nvPr/>
        </p:nvSpPr>
        <p:spPr>
          <a:xfrm>
            <a:off x="10696754" y="3016050"/>
            <a:ext cx="140579" cy="172528"/>
          </a:xfrm>
          <a:prstGeom prst="rect">
            <a:avLst/>
          </a:prstGeom>
          <a:solidFill>
            <a:srgbClr val="E6B6D8"/>
          </a:solidFill>
          <a:ln w="12382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oute_bar_1"/>
          <p:cNvSpPr/>
          <p:nvPr/>
        </p:nvSpPr>
        <p:spPr>
          <a:xfrm>
            <a:off x="10837332" y="2888251"/>
            <a:ext cx="140579" cy="300327"/>
          </a:xfrm>
          <a:prstGeom prst="rect">
            <a:avLst/>
          </a:prstGeom>
          <a:solidFill>
            <a:srgbClr val="E6B6D8"/>
          </a:solidFill>
          <a:ln w="12382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oute_bar_2"/>
          <p:cNvSpPr/>
          <p:nvPr/>
        </p:nvSpPr>
        <p:spPr>
          <a:xfrm>
            <a:off x="10977911" y="2702943"/>
            <a:ext cx="140579" cy="485635"/>
          </a:xfrm>
          <a:prstGeom prst="rect">
            <a:avLst/>
          </a:prstGeom>
          <a:solidFill>
            <a:srgbClr val="E6B6D8"/>
          </a:solidFill>
          <a:ln w="12382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route_bar_3"/>
          <p:cNvSpPr/>
          <p:nvPr/>
        </p:nvSpPr>
        <p:spPr>
          <a:xfrm>
            <a:off x="11118490" y="2907421"/>
            <a:ext cx="140579" cy="281157"/>
          </a:xfrm>
          <a:prstGeom prst="rect">
            <a:avLst/>
          </a:prstGeom>
          <a:solidFill>
            <a:srgbClr val="E6B6D8"/>
          </a:solidFill>
          <a:ln w="12382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oute_x_1"/>
          <p:cNvSpPr txBox="1"/>
          <p:nvPr/>
        </p:nvSpPr>
        <p:spPr>
          <a:xfrm>
            <a:off x="10715924" y="3016050"/>
            <a:ext cx="108629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13B2E"/>
                </a:solidFill>
                <a:latin typeface="DejaVu Sans Condensed"/>
              </a:rPr>
              <a:t>×</a:t>
            </a:r>
          </a:p>
        </p:txBody>
      </p:sp>
      <p:sp>
        <p:nvSpPr>
          <p:cNvPr id="275" name="route_x_2"/>
          <p:cNvSpPr txBox="1"/>
          <p:nvPr/>
        </p:nvSpPr>
        <p:spPr>
          <a:xfrm>
            <a:off x="10856502" y="2888251"/>
            <a:ext cx="108629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13B2E"/>
                </a:solidFill>
                <a:latin typeface="DejaVu Sans Condensed"/>
              </a:rPr>
              <a:t>×</a:t>
            </a:r>
          </a:p>
        </p:txBody>
      </p:sp>
      <p:sp>
        <p:nvSpPr>
          <p:cNvPr id="276" name="route_check"/>
          <p:cNvSpPr txBox="1"/>
          <p:nvPr/>
        </p:nvSpPr>
        <p:spPr>
          <a:xfrm>
            <a:off x="10984301" y="2696553"/>
            <a:ext cx="127799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8A85A"/>
                </a:solidFill>
                <a:latin typeface="DejaVu Sans Condensed"/>
              </a:rPr>
              <a:t>✓</a:t>
            </a:r>
          </a:p>
        </p:txBody>
      </p:sp>
      <p:sp>
        <p:nvSpPr>
          <p:cNvPr id="277" name="route_x_3"/>
          <p:cNvSpPr txBox="1"/>
          <p:nvPr/>
        </p:nvSpPr>
        <p:spPr>
          <a:xfrm>
            <a:off x="11131270" y="2913811"/>
            <a:ext cx="108629" cy="153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13B2E"/>
                </a:solidFill>
                <a:latin typeface="DejaVu Sans Condensed"/>
              </a:rPr>
              <a:t>×</a:t>
            </a:r>
          </a:p>
        </p:txBody>
      </p:sp>
      <p:sp>
        <p:nvSpPr>
          <p:cNvPr id="278" name="route_box"/>
          <p:cNvSpPr/>
          <p:nvPr/>
        </p:nvSpPr>
        <p:spPr>
          <a:xfrm>
            <a:off x="10543395" y="3399446"/>
            <a:ext cx="843472" cy="261987"/>
          </a:xfrm>
          <a:prstGeom prst="roundRect">
            <a:avLst>
              <a:gd name="adj" fmla="val 17073"/>
            </a:avLst>
          </a:prstGeom>
          <a:solidFill>
            <a:srgbClr val="C9E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route_label"/>
          <p:cNvSpPr txBox="1"/>
          <p:nvPr/>
        </p:nvSpPr>
        <p:spPr>
          <a:xfrm>
            <a:off x="10607295" y="3425006"/>
            <a:ext cx="575094" cy="2044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Route</a:t>
            </a:r>
          </a:p>
        </p:txBody>
      </p:sp>
      <p:sp>
        <p:nvSpPr>
          <p:cNvPr id="280" name="route_trainable_outer"/>
          <p:cNvSpPr/>
          <p:nvPr/>
        </p:nvSpPr>
        <p:spPr>
          <a:xfrm rot="18900000">
            <a:off x="11188779" y="3437786"/>
            <a:ext cx="198088" cy="25559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route_trainable_inner"/>
          <p:cNvSpPr/>
          <p:nvPr/>
        </p:nvSpPr>
        <p:spPr>
          <a:xfrm rot="18900000">
            <a:off x="11260091" y="3570697"/>
            <a:ext cx="71312" cy="97127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lora_bottom_tokens_1"/>
          <p:cNvSpPr/>
          <p:nvPr/>
        </p:nvSpPr>
        <p:spPr>
          <a:xfrm>
            <a:off x="10390037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lora_bottom_tokens_2"/>
          <p:cNvSpPr/>
          <p:nvPr/>
        </p:nvSpPr>
        <p:spPr>
          <a:xfrm>
            <a:off x="10537005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lora_bottom_tokens_3"/>
          <p:cNvSpPr/>
          <p:nvPr/>
        </p:nvSpPr>
        <p:spPr>
          <a:xfrm>
            <a:off x="10683974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9ED7F2"/>
          </a:solidFill>
          <a:ln w="19050">
            <a:solidFill>
              <a:srgbClr val="3F8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lora_bottom_tokens_4"/>
          <p:cNvSpPr/>
          <p:nvPr/>
        </p:nvSpPr>
        <p:spPr>
          <a:xfrm>
            <a:off x="10830943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lora_bottom_tokens_5"/>
          <p:cNvSpPr/>
          <p:nvPr/>
        </p:nvSpPr>
        <p:spPr>
          <a:xfrm>
            <a:off x="10977911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lora_bottom_tokens_6"/>
          <p:cNvSpPr/>
          <p:nvPr/>
        </p:nvSpPr>
        <p:spPr>
          <a:xfrm>
            <a:off x="11124880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lora_bottom_tokens_7"/>
          <p:cNvSpPr/>
          <p:nvPr/>
        </p:nvSpPr>
        <p:spPr>
          <a:xfrm>
            <a:off x="11271848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lora_bottom_tokens_8"/>
          <p:cNvSpPr/>
          <p:nvPr/>
        </p:nvSpPr>
        <p:spPr>
          <a:xfrm>
            <a:off x="11418817" y="4000100"/>
            <a:ext cx="134189" cy="146969"/>
          </a:xfrm>
          <a:prstGeom prst="roundRect">
            <a:avLst>
              <a:gd name="adj" fmla="val 14285"/>
            </a:avLst>
          </a:prstGeom>
          <a:solidFill>
            <a:srgbClr val="E1AECF"/>
          </a:solidFill>
          <a:ln w="19050">
            <a:solidFill>
              <a:srgbClr val="93489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0" name="tokens_to_route"/>
          <p:cNvCxnSpPr/>
          <p:nvPr/>
        </p:nvCxnSpPr>
        <p:spPr>
          <a:xfrm flipV="1">
            <a:off x="10971521" y="3680603"/>
            <a:ext cx="0" cy="306717"/>
          </a:xfrm>
          <a:prstGeom prst="line">
            <a:avLst/>
          </a:prstGeom>
          <a:ln w="19050">
            <a:solidFill>
              <a:srgbClr val="231F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legend_panel"/>
          <p:cNvSpPr/>
          <p:nvPr/>
        </p:nvSpPr>
        <p:spPr>
          <a:xfrm>
            <a:off x="9891622" y="4447396"/>
            <a:ext cx="2223698" cy="2025610"/>
          </a:xfrm>
          <a:prstGeom prst="roundRect">
            <a:avLst>
              <a:gd name="adj" fmla="val 5678"/>
            </a:avLst>
          </a:prstGeom>
          <a:solidFill>
            <a:srgbClr val="FFFFFF"/>
          </a:solidFill>
          <a:ln w="23812">
            <a:solidFill>
              <a:srgbClr val="7DD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legend_fire_outer"/>
          <p:cNvSpPr/>
          <p:nvPr/>
        </p:nvSpPr>
        <p:spPr>
          <a:xfrm rot="18900000">
            <a:off x="10083320" y="4543245"/>
            <a:ext cx="223648" cy="293937"/>
          </a:xfrm>
          <a:prstGeom prst="teardrop">
            <a:avLst/>
          </a:prstGeom>
          <a:solidFill>
            <a:srgbClr val="FF5A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legend_fire_inner"/>
          <p:cNvSpPr/>
          <p:nvPr/>
        </p:nvSpPr>
        <p:spPr>
          <a:xfrm rot="18900000">
            <a:off x="10163833" y="4696092"/>
            <a:ext cx="80513" cy="111696"/>
          </a:xfrm>
          <a:prstGeom prst="teardrop">
            <a:avLst/>
          </a:prstGeom>
          <a:solidFill>
            <a:srgbClr val="FFA2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legend_trainable"/>
          <p:cNvSpPr txBox="1"/>
          <p:nvPr/>
        </p:nvSpPr>
        <p:spPr>
          <a:xfrm>
            <a:off x="10402817" y="4536855"/>
            <a:ext cx="1565534" cy="2811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: Trainable Parameter</a:t>
            </a:r>
          </a:p>
        </p:txBody>
      </p:sp>
      <p:sp>
        <p:nvSpPr>
          <p:cNvPr id="295" name="legend_frozen"/>
          <p:cNvSpPr/>
          <p:nvPr/>
        </p:nvSpPr>
        <p:spPr>
          <a:xfrm>
            <a:off x="10108880" y="4907471"/>
            <a:ext cx="198088" cy="236428"/>
          </a:xfrm>
          <a:prstGeom prst="can">
            <a:avLst/>
          </a:prstGeom>
          <a:solidFill>
            <a:srgbClr val="75C9F2"/>
          </a:solidFill>
          <a:ln w="14287">
            <a:solidFill>
              <a:srgbClr val="247D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legend_frozen_face"/>
          <p:cNvSpPr txBox="1"/>
          <p:nvPr/>
        </p:nvSpPr>
        <p:spPr>
          <a:xfrm>
            <a:off x="10144536" y="4990221"/>
            <a:ext cx="126776" cy="70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0">
                <a:solidFill>
                  <a:srgbClr val="247DB9"/>
                </a:solidFill>
              </a:rPr>
              <a:t>••</a:t>
            </a:r>
          </a:p>
        </p:txBody>
      </p:sp>
      <p:sp>
        <p:nvSpPr>
          <p:cNvPr id="297" name="legend_frozen_label"/>
          <p:cNvSpPr txBox="1"/>
          <p:nvPr/>
        </p:nvSpPr>
        <p:spPr>
          <a:xfrm>
            <a:off x="10402817" y="4888301"/>
            <a:ext cx="1565534" cy="2811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31F20"/>
                </a:solidFill>
                <a:latin typeface="DejaVu Sans Condensed"/>
              </a:rPr>
              <a:t>: Frozen Parameter</a:t>
            </a:r>
          </a:p>
        </p:txBody>
      </p:sp>
      <p:sp>
        <p:nvSpPr>
          <p:cNvPr id="298" name="legend_standard_lora"/>
          <p:cNvSpPr/>
          <p:nvPr/>
        </p:nvSpPr>
        <p:spPr>
          <a:xfrm>
            <a:off x="9974691" y="5297257"/>
            <a:ext cx="472855" cy="198088"/>
          </a:xfrm>
          <a:prstGeom prst="roundRect">
            <a:avLst>
              <a:gd name="adj" fmla="val 22580"/>
            </a:avLst>
          </a:prstGeom>
          <a:solidFill>
            <a:srgbClr val="E5D7E5"/>
          </a:solidFill>
          <a:ln w="19050">
            <a:solidFill>
              <a:srgbClr val="E100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legend_standard_label"/>
          <p:cNvSpPr txBox="1"/>
          <p:nvPr/>
        </p:nvSpPr>
        <p:spPr>
          <a:xfrm>
            <a:off x="10402817" y="5233358"/>
            <a:ext cx="1629434" cy="3194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: Standard LoRA Tuning</a:t>
            </a:r>
          </a:p>
        </p:txBody>
      </p:sp>
      <p:sp>
        <p:nvSpPr>
          <p:cNvPr id="300" name="legend_moe_lora"/>
          <p:cNvSpPr/>
          <p:nvPr/>
        </p:nvSpPr>
        <p:spPr>
          <a:xfrm>
            <a:off x="9974691" y="5661484"/>
            <a:ext cx="472855" cy="198088"/>
          </a:xfrm>
          <a:prstGeom prst="roundRect">
            <a:avLst>
              <a:gd name="adj" fmla="val 22580"/>
            </a:avLst>
          </a:prstGeom>
          <a:solidFill>
            <a:srgbClr val="E1AECF"/>
          </a:solidFill>
          <a:ln w="23812">
            <a:solidFill>
              <a:srgbClr val="F13B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legend_moe_label"/>
          <p:cNvSpPr txBox="1"/>
          <p:nvPr/>
        </p:nvSpPr>
        <p:spPr>
          <a:xfrm>
            <a:off x="10402817" y="5597584"/>
            <a:ext cx="1629434" cy="3194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: LoRA-MoE Tuning</a:t>
            </a:r>
          </a:p>
        </p:txBody>
      </p:sp>
      <p:sp>
        <p:nvSpPr>
          <p:cNvPr id="302" name="legend_adapter_top"/>
          <p:cNvSpPr/>
          <p:nvPr/>
        </p:nvSpPr>
        <p:spPr>
          <a:xfrm rot="10800000">
            <a:off x="10064150" y="6000150"/>
            <a:ext cx="300327" cy="166138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legend_adapter_bottom"/>
          <p:cNvSpPr/>
          <p:nvPr/>
        </p:nvSpPr>
        <p:spPr>
          <a:xfrm>
            <a:off x="10064150" y="6204628"/>
            <a:ext cx="300327" cy="166138"/>
          </a:xfrm>
          <a:prstGeom prst="trapezoid">
            <a:avLst/>
          </a:prstGeom>
          <a:solidFill>
            <a:srgbClr val="BCE7FA"/>
          </a:solidFill>
          <a:ln w="23812">
            <a:solidFill>
              <a:srgbClr val="6F9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legend_adapter_label"/>
          <p:cNvSpPr txBox="1"/>
          <p:nvPr/>
        </p:nvSpPr>
        <p:spPr>
          <a:xfrm>
            <a:off x="10402817" y="5968201"/>
            <a:ext cx="1546365" cy="345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DejaVu Sans Condensed"/>
              </a:rPr>
              <a:t>: LoRA Adapter</a:t>
            </a:r>
          </a:p>
        </p:txBody>
      </p:sp>
      <p:sp>
        <p:nvSpPr>
          <p:cNvPr id="305" name="caption_a"/>
          <p:cNvSpPr txBox="1"/>
          <p:nvPr/>
        </p:nvSpPr>
        <p:spPr>
          <a:xfrm>
            <a:off x="485635" y="6504955"/>
            <a:ext cx="5431446" cy="338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31F20"/>
                </a:solidFill>
                <a:latin typeface="DejaVu Serif"/>
              </a:rPr>
              <a:t>(a) Training-free Structure of ICEdit</a:t>
            </a:r>
          </a:p>
        </p:txBody>
      </p:sp>
      <p:sp>
        <p:nvSpPr>
          <p:cNvPr id="306" name="caption_b"/>
          <p:cNvSpPr txBox="1"/>
          <p:nvPr/>
        </p:nvSpPr>
        <p:spPr>
          <a:xfrm>
            <a:off x="6901132" y="6504955"/>
            <a:ext cx="5239748" cy="338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31F20"/>
                </a:solidFill>
                <a:latin typeface="DejaVu Serif"/>
              </a:rPr>
              <a:t>(b) Finetuning Strategy for ICEdit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nabling Instructional Image Editing with In-Context Generation in Large Scale Diffusion Transform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43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