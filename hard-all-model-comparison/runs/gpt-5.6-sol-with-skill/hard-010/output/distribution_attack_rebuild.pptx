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514518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al_world_panel"/>
          <p:cNvSpPr/>
          <p:nvPr/>
        </p:nvSpPr>
        <p:spPr>
          <a:xfrm>
            <a:off x="95399" y="114478"/>
            <a:ext cx="6518935" cy="1475505"/>
          </a:xfrm>
          <a:prstGeom prst="roundRect">
            <a:avLst>
              <a:gd name="adj" fmla="val 3317"/>
            </a:avLst>
          </a:prstGeom>
          <a:solidFill>
            <a:srgbClr val="F5F5F5"/>
          </a:solidFill>
          <a:ln w="8382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itted_distribution_panel"/>
          <p:cNvSpPr/>
          <p:nvPr/>
        </p:nvSpPr>
        <p:spPr>
          <a:xfrm>
            <a:off x="7142209" y="101758"/>
            <a:ext cx="2702973" cy="1392826"/>
          </a:xfrm>
          <a:prstGeom prst="roundRect">
            <a:avLst>
              <a:gd name="adj" fmla="val 7529"/>
            </a:avLst>
          </a:prstGeom>
          <a:solidFill>
            <a:srgbClr val="EDEDED"/>
          </a:solidFill>
          <a:ln w="8382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ge1_panel"/>
          <p:cNvSpPr/>
          <p:nvPr/>
        </p:nvSpPr>
        <p:spPr>
          <a:xfrm>
            <a:off x="95399" y="1812582"/>
            <a:ext cx="2416776" cy="3103649"/>
          </a:xfrm>
          <a:prstGeom prst="rect">
            <a:avLst/>
          </a:prstGeom>
          <a:noFill/>
          <a:ln w="16764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2_panel"/>
          <p:cNvSpPr/>
          <p:nvPr/>
        </p:nvSpPr>
        <p:spPr>
          <a:xfrm>
            <a:off x="2607574" y="1717183"/>
            <a:ext cx="3656963" cy="3199048"/>
          </a:xfrm>
          <a:prstGeom prst="rect">
            <a:avLst/>
          </a:prstGeom>
          <a:noFill/>
          <a:ln w="16764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ge3_panel"/>
          <p:cNvSpPr/>
          <p:nvPr/>
        </p:nvSpPr>
        <p:spPr>
          <a:xfrm>
            <a:off x="6347217" y="1602704"/>
            <a:ext cx="3497965" cy="3326247"/>
          </a:xfrm>
          <a:prstGeom prst="rect">
            <a:avLst/>
          </a:prstGeom>
          <a:noFill/>
          <a:ln w="16764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bination_panel"/>
          <p:cNvSpPr/>
          <p:nvPr/>
        </p:nvSpPr>
        <p:spPr>
          <a:xfrm>
            <a:off x="9946941" y="89039"/>
            <a:ext cx="2187818" cy="2340456"/>
          </a:xfrm>
          <a:prstGeom prst="rect">
            <a:avLst/>
          </a:prstGeom>
          <a:solidFill>
            <a:srgbClr val="F6CDCB"/>
          </a:solidFill>
          <a:ln w="8382">
            <a:solidFill>
              <a:srgbClr val="C45B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ining_region"/>
          <p:cNvSpPr/>
          <p:nvPr/>
        </p:nvSpPr>
        <p:spPr>
          <a:xfrm>
            <a:off x="6404456" y="3892281"/>
            <a:ext cx="3383486" cy="960350"/>
          </a:xfrm>
          <a:prstGeom prst="rect">
            <a:avLst/>
          </a:prstGeom>
          <a:noFill/>
          <a:ln w="8382">
            <a:solidFill>
              <a:srgbClr val="D05C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al_world_title"/>
          <p:cNvSpPr txBox="1"/>
          <p:nvPr/>
        </p:nvSpPr>
        <p:spPr>
          <a:xfrm>
            <a:off x="1602704" y="127198"/>
            <a:ext cx="3466165" cy="19079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000000"/>
                </a:solidFill>
                <a:latin typeface="Liberation Sans"/>
              </a:rPr>
              <a:t>Image and Prompt Set in the Real World</a:t>
            </a:r>
          </a:p>
        </p:txBody>
      </p:sp>
      <p:sp>
        <p:nvSpPr>
          <p:cNvPr id="10" name="image_heading"/>
          <p:cNvSpPr txBox="1"/>
          <p:nvPr/>
        </p:nvSpPr>
        <p:spPr>
          <a:xfrm>
            <a:off x="1577264" y="343436"/>
            <a:ext cx="794992" cy="2035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000000"/>
                </a:solidFill>
                <a:latin typeface="Liberation Sans"/>
              </a:rPr>
              <a:t>Image</a:t>
            </a:r>
          </a:p>
        </p:txBody>
      </p:sp>
      <p:sp>
        <p:nvSpPr>
          <p:cNvPr id="11" name="prompt_heading"/>
          <p:cNvSpPr txBox="1"/>
          <p:nvPr/>
        </p:nvSpPr>
        <p:spPr>
          <a:xfrm>
            <a:off x="2696613" y="343436"/>
            <a:ext cx="858591" cy="2035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000000"/>
                </a:solidFill>
                <a:latin typeface="Liberation Sans"/>
              </a:rPr>
              <a:t>Prompt</a:t>
            </a:r>
          </a:p>
        </p:txBody>
      </p:sp>
      <p:pic>
        <p:nvPicPr>
          <p:cNvPr id="12" name="still_life_photo" descr="still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36" y="292557"/>
            <a:ext cx="394316" cy="394316"/>
          </a:xfrm>
          <a:prstGeom prst="rect">
            <a:avLst/>
          </a:prstGeom>
          <a:effectLst/>
        </p:spPr>
      </p:pic>
      <p:pic>
        <p:nvPicPr>
          <p:cNvPr id="13" name="person_photo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11" y="686873"/>
            <a:ext cx="400676" cy="400676"/>
          </a:xfrm>
          <a:prstGeom prst="rect">
            <a:avLst/>
          </a:prstGeom>
          <a:effectLst/>
        </p:spPr>
      </p:pic>
      <p:pic>
        <p:nvPicPr>
          <p:cNvPr id="14" name="plate_photo" descr="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96" y="1074829"/>
            <a:ext cx="394316" cy="400676"/>
          </a:xfrm>
          <a:prstGeom prst="rect">
            <a:avLst/>
          </a:prstGeom>
          <a:effectLst/>
        </p:spPr>
      </p:pic>
      <p:cxnSp>
        <p:nvCxnSpPr>
          <p:cNvPr id="15" name="photo_link_1"/>
          <p:cNvCxnSpPr/>
          <p:nvPr/>
        </p:nvCxnSpPr>
        <p:spPr>
          <a:xfrm>
            <a:off x="737752" y="387956"/>
            <a:ext cx="858592" cy="228957"/>
          </a:xfrm>
          <a:prstGeom prst="line">
            <a:avLst/>
          </a:prstGeom>
          <a:ln w="698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hoto_link_2"/>
          <p:cNvCxnSpPr/>
          <p:nvPr/>
        </p:nvCxnSpPr>
        <p:spPr>
          <a:xfrm>
            <a:off x="1240187" y="890391"/>
            <a:ext cx="317997" cy="19080"/>
          </a:xfrm>
          <a:prstGeom prst="line">
            <a:avLst/>
          </a:prstGeom>
          <a:ln w="698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hoto_link_3"/>
          <p:cNvCxnSpPr/>
          <p:nvPr/>
        </p:nvCxnSpPr>
        <p:spPr>
          <a:xfrm flipV="1">
            <a:off x="775912" y="1208388"/>
            <a:ext cx="820432" cy="69959"/>
          </a:xfrm>
          <a:prstGeom prst="line">
            <a:avLst/>
          </a:prstGeom>
          <a:ln w="698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op_image_samples_point_01"/>
          <p:cNvSpPr/>
          <p:nvPr/>
        </p:nvSpPr>
        <p:spPr>
          <a:xfrm>
            <a:off x="1585070" y="102558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p_image_samples_point_02"/>
          <p:cNvSpPr/>
          <p:nvPr/>
        </p:nvSpPr>
        <p:spPr>
          <a:xfrm>
            <a:off x="1744961" y="70133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_image_samples_point_03"/>
          <p:cNvSpPr/>
          <p:nvPr/>
        </p:nvSpPr>
        <p:spPr>
          <a:xfrm>
            <a:off x="1906585" y="90847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op_image_samples_point_04"/>
          <p:cNvSpPr/>
          <p:nvPr/>
        </p:nvSpPr>
        <p:spPr>
          <a:xfrm>
            <a:off x="1896423" y="88349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p_image_samples_point_05"/>
          <p:cNvSpPr/>
          <p:nvPr/>
        </p:nvSpPr>
        <p:spPr>
          <a:xfrm>
            <a:off x="1671919" y="74041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_image_samples_point_06"/>
          <p:cNvSpPr/>
          <p:nvPr/>
        </p:nvSpPr>
        <p:spPr>
          <a:xfrm>
            <a:off x="2117657" y="78982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op_image_samples_point_07"/>
          <p:cNvSpPr/>
          <p:nvPr/>
        </p:nvSpPr>
        <p:spPr>
          <a:xfrm>
            <a:off x="2099864" y="111355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_image_samples_point_08"/>
          <p:cNvSpPr/>
          <p:nvPr/>
        </p:nvSpPr>
        <p:spPr>
          <a:xfrm>
            <a:off x="1640657" y="72893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op_image_samples_point_09"/>
          <p:cNvSpPr/>
          <p:nvPr/>
        </p:nvSpPr>
        <p:spPr>
          <a:xfrm>
            <a:off x="2162451" y="96550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p_image_samples_point_10"/>
          <p:cNvSpPr/>
          <p:nvPr/>
        </p:nvSpPr>
        <p:spPr>
          <a:xfrm>
            <a:off x="1606562" y="103690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p_image_samples_point_11"/>
          <p:cNvSpPr/>
          <p:nvPr/>
        </p:nvSpPr>
        <p:spPr>
          <a:xfrm>
            <a:off x="1621400" y="77199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op_image_samples_point_12"/>
          <p:cNvSpPr/>
          <p:nvPr/>
        </p:nvSpPr>
        <p:spPr>
          <a:xfrm>
            <a:off x="1625932" y="107153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op_image_samples_point_13"/>
          <p:cNvSpPr/>
          <p:nvPr/>
        </p:nvSpPr>
        <p:spPr>
          <a:xfrm>
            <a:off x="1957049" y="97803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op_image_samples_point_14"/>
          <p:cNvSpPr/>
          <p:nvPr/>
        </p:nvSpPr>
        <p:spPr>
          <a:xfrm>
            <a:off x="1945407" y="114038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p_image_samples_point_15"/>
          <p:cNvSpPr/>
          <p:nvPr/>
        </p:nvSpPr>
        <p:spPr>
          <a:xfrm>
            <a:off x="2021751" y="774963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op_image_samples_point_16"/>
          <p:cNvSpPr/>
          <p:nvPr/>
        </p:nvSpPr>
        <p:spPr>
          <a:xfrm>
            <a:off x="1515777" y="896843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op_image_samples_point_17"/>
          <p:cNvSpPr/>
          <p:nvPr/>
        </p:nvSpPr>
        <p:spPr>
          <a:xfrm>
            <a:off x="2109369" y="100437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op_image_samples_point_18"/>
          <p:cNvSpPr/>
          <p:nvPr/>
        </p:nvSpPr>
        <p:spPr>
          <a:xfrm>
            <a:off x="1563163" y="70755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op_image_samples_point_19"/>
          <p:cNvSpPr/>
          <p:nvPr/>
        </p:nvSpPr>
        <p:spPr>
          <a:xfrm>
            <a:off x="2111781" y="86856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op_image_samples_point_20"/>
          <p:cNvSpPr/>
          <p:nvPr/>
        </p:nvSpPr>
        <p:spPr>
          <a:xfrm>
            <a:off x="1820529" y="89889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op_image_samples_point_21"/>
          <p:cNvSpPr/>
          <p:nvPr/>
        </p:nvSpPr>
        <p:spPr>
          <a:xfrm>
            <a:off x="1501583" y="105578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op_image_samples_point_22"/>
          <p:cNvSpPr/>
          <p:nvPr/>
        </p:nvSpPr>
        <p:spPr>
          <a:xfrm>
            <a:off x="2009703" y="93658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op_image_samples_point_23"/>
          <p:cNvSpPr/>
          <p:nvPr/>
        </p:nvSpPr>
        <p:spPr>
          <a:xfrm>
            <a:off x="1750255" y="1130634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op_image_samples_point_24"/>
          <p:cNvSpPr/>
          <p:nvPr/>
        </p:nvSpPr>
        <p:spPr>
          <a:xfrm>
            <a:off x="2255426" y="94403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op_image_samples_point_25"/>
          <p:cNvSpPr/>
          <p:nvPr/>
        </p:nvSpPr>
        <p:spPr>
          <a:xfrm>
            <a:off x="2072211" y="94307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op_image_samples_point_26"/>
          <p:cNvSpPr/>
          <p:nvPr/>
        </p:nvSpPr>
        <p:spPr>
          <a:xfrm>
            <a:off x="2052892" y="111704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op_image_samples_point_27"/>
          <p:cNvSpPr/>
          <p:nvPr/>
        </p:nvSpPr>
        <p:spPr>
          <a:xfrm>
            <a:off x="2249249" y="103964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op_image_samples_point_28"/>
          <p:cNvSpPr/>
          <p:nvPr/>
        </p:nvSpPr>
        <p:spPr>
          <a:xfrm>
            <a:off x="1945450" y="125176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op_image_samples_point_29"/>
          <p:cNvSpPr/>
          <p:nvPr/>
        </p:nvSpPr>
        <p:spPr>
          <a:xfrm>
            <a:off x="1534623" y="104506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op_image_samples_point_30"/>
          <p:cNvSpPr/>
          <p:nvPr/>
        </p:nvSpPr>
        <p:spPr>
          <a:xfrm>
            <a:off x="2318294" y="89753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op_image_samples_point_31"/>
          <p:cNvSpPr/>
          <p:nvPr/>
        </p:nvSpPr>
        <p:spPr>
          <a:xfrm>
            <a:off x="2248364" y="68973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op_image_samples_point_32"/>
          <p:cNvSpPr/>
          <p:nvPr/>
        </p:nvSpPr>
        <p:spPr>
          <a:xfrm>
            <a:off x="1830154" y="75236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op_image_samples_point_33"/>
          <p:cNvSpPr/>
          <p:nvPr/>
        </p:nvSpPr>
        <p:spPr>
          <a:xfrm>
            <a:off x="1810039" y="105388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op_image_samples_point_34"/>
          <p:cNvSpPr/>
          <p:nvPr/>
        </p:nvSpPr>
        <p:spPr>
          <a:xfrm>
            <a:off x="1545712" y="799643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op_image_samples_point_35"/>
          <p:cNvSpPr/>
          <p:nvPr/>
        </p:nvSpPr>
        <p:spPr>
          <a:xfrm>
            <a:off x="2278477" y="77372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op_image_samples_point_36"/>
          <p:cNvSpPr/>
          <p:nvPr/>
        </p:nvSpPr>
        <p:spPr>
          <a:xfrm>
            <a:off x="1960458" y="57553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op_image_samples_point_37"/>
          <p:cNvSpPr/>
          <p:nvPr/>
        </p:nvSpPr>
        <p:spPr>
          <a:xfrm>
            <a:off x="1991884" y="66501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p_image_samples_point_38"/>
          <p:cNvSpPr/>
          <p:nvPr/>
        </p:nvSpPr>
        <p:spPr>
          <a:xfrm>
            <a:off x="1565806" y="107968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op_image_samples_point_39"/>
          <p:cNvSpPr/>
          <p:nvPr/>
        </p:nvSpPr>
        <p:spPr>
          <a:xfrm>
            <a:off x="2076255" y="861153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op_image_samples_point_40"/>
          <p:cNvSpPr/>
          <p:nvPr/>
        </p:nvSpPr>
        <p:spPr>
          <a:xfrm>
            <a:off x="1932560" y="95368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op_image_samples_point_41"/>
          <p:cNvSpPr/>
          <p:nvPr/>
        </p:nvSpPr>
        <p:spPr>
          <a:xfrm>
            <a:off x="1874679" y="63365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op_image_samples_point_42"/>
          <p:cNvSpPr/>
          <p:nvPr/>
        </p:nvSpPr>
        <p:spPr>
          <a:xfrm>
            <a:off x="2197749" y="110178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op_image_samples_point_43"/>
          <p:cNvSpPr/>
          <p:nvPr/>
        </p:nvSpPr>
        <p:spPr>
          <a:xfrm>
            <a:off x="1836162" y="84543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op_image_samples_point_44"/>
          <p:cNvSpPr/>
          <p:nvPr/>
        </p:nvSpPr>
        <p:spPr>
          <a:xfrm>
            <a:off x="2032723" y="89305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op_image_samples_point_45"/>
          <p:cNvSpPr/>
          <p:nvPr/>
        </p:nvSpPr>
        <p:spPr>
          <a:xfrm>
            <a:off x="1829200" y="117579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op_image_samples_point_46"/>
          <p:cNvSpPr/>
          <p:nvPr/>
        </p:nvSpPr>
        <p:spPr>
          <a:xfrm>
            <a:off x="1575565" y="111170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op_image_samples_point_47"/>
          <p:cNvSpPr/>
          <p:nvPr/>
        </p:nvSpPr>
        <p:spPr>
          <a:xfrm>
            <a:off x="1705681" y="60380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op_image_samples_point_48"/>
          <p:cNvSpPr/>
          <p:nvPr/>
        </p:nvSpPr>
        <p:spPr>
          <a:xfrm>
            <a:off x="2187263" y="107772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op_image_samples_point_49"/>
          <p:cNvSpPr/>
          <p:nvPr/>
        </p:nvSpPr>
        <p:spPr>
          <a:xfrm>
            <a:off x="2410598" y="92922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op_prompt_samples_point_01"/>
          <p:cNvSpPr/>
          <p:nvPr/>
        </p:nvSpPr>
        <p:spPr>
          <a:xfrm>
            <a:off x="3103085" y="859305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op_prompt_samples_point_02"/>
          <p:cNvSpPr/>
          <p:nvPr/>
        </p:nvSpPr>
        <p:spPr>
          <a:xfrm>
            <a:off x="3054238" y="654013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op_prompt_samples_point_03"/>
          <p:cNvSpPr/>
          <p:nvPr/>
        </p:nvSpPr>
        <p:spPr>
          <a:xfrm>
            <a:off x="2787609" y="873875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op_prompt_samples_point_04"/>
          <p:cNvSpPr/>
          <p:nvPr/>
        </p:nvSpPr>
        <p:spPr>
          <a:xfrm>
            <a:off x="2810512" y="881192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op_prompt_samples_point_05"/>
          <p:cNvSpPr/>
          <p:nvPr/>
        </p:nvSpPr>
        <p:spPr>
          <a:xfrm>
            <a:off x="3196129" y="857556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op_prompt_samples_point_06"/>
          <p:cNvSpPr/>
          <p:nvPr/>
        </p:nvSpPr>
        <p:spPr>
          <a:xfrm>
            <a:off x="3040473" y="1076502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op_prompt_samples_point_07"/>
          <p:cNvSpPr/>
          <p:nvPr/>
        </p:nvSpPr>
        <p:spPr>
          <a:xfrm>
            <a:off x="2919310" y="603119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op_prompt_samples_point_08"/>
          <p:cNvSpPr/>
          <p:nvPr/>
        </p:nvSpPr>
        <p:spPr>
          <a:xfrm>
            <a:off x="3253773" y="97500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op_prompt_samples_point_09"/>
          <p:cNvSpPr/>
          <p:nvPr/>
        </p:nvSpPr>
        <p:spPr>
          <a:xfrm>
            <a:off x="3155045" y="997295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op_prompt_samples_point_10"/>
          <p:cNvSpPr/>
          <p:nvPr/>
        </p:nvSpPr>
        <p:spPr>
          <a:xfrm>
            <a:off x="3401747" y="81666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op_prompt_samples_point_11"/>
          <p:cNvSpPr/>
          <p:nvPr/>
        </p:nvSpPr>
        <p:spPr>
          <a:xfrm>
            <a:off x="3235386" y="820783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op_prompt_samples_point_12"/>
          <p:cNvSpPr/>
          <p:nvPr/>
        </p:nvSpPr>
        <p:spPr>
          <a:xfrm>
            <a:off x="3087328" y="1024958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op_prompt_samples_point_13"/>
          <p:cNvSpPr/>
          <p:nvPr/>
        </p:nvSpPr>
        <p:spPr>
          <a:xfrm>
            <a:off x="2884132" y="622834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p_prompt_samples_point_14"/>
          <p:cNvSpPr/>
          <p:nvPr/>
        </p:nvSpPr>
        <p:spPr>
          <a:xfrm>
            <a:off x="3010058" y="1065102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op_prompt_samples_point_15"/>
          <p:cNvSpPr/>
          <p:nvPr/>
        </p:nvSpPr>
        <p:spPr>
          <a:xfrm>
            <a:off x="3101967" y="875888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op_prompt_samples_point_16"/>
          <p:cNvSpPr/>
          <p:nvPr/>
        </p:nvSpPr>
        <p:spPr>
          <a:xfrm>
            <a:off x="3142794" y="690200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op_prompt_samples_point_17"/>
          <p:cNvSpPr/>
          <p:nvPr/>
        </p:nvSpPr>
        <p:spPr>
          <a:xfrm>
            <a:off x="2776996" y="78911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op_prompt_samples_point_18"/>
          <p:cNvSpPr/>
          <p:nvPr/>
        </p:nvSpPr>
        <p:spPr>
          <a:xfrm>
            <a:off x="3279618" y="699700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prompt_samples_point_19"/>
          <p:cNvSpPr/>
          <p:nvPr/>
        </p:nvSpPr>
        <p:spPr>
          <a:xfrm>
            <a:off x="3087939" y="1136984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prompt_samples_point_20"/>
          <p:cNvSpPr/>
          <p:nvPr/>
        </p:nvSpPr>
        <p:spPr>
          <a:xfrm>
            <a:off x="2897077" y="82146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prompt_samples_point_21"/>
          <p:cNvSpPr/>
          <p:nvPr/>
        </p:nvSpPr>
        <p:spPr>
          <a:xfrm>
            <a:off x="2863702" y="77608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op_prompt_samples_point_22"/>
          <p:cNvSpPr/>
          <p:nvPr/>
        </p:nvSpPr>
        <p:spPr>
          <a:xfrm>
            <a:off x="3249420" y="946926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op_prompt_samples_point_23"/>
          <p:cNvSpPr/>
          <p:nvPr/>
        </p:nvSpPr>
        <p:spPr>
          <a:xfrm>
            <a:off x="2839991" y="637799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op_prompt_samples_point_24"/>
          <p:cNvSpPr/>
          <p:nvPr/>
        </p:nvSpPr>
        <p:spPr>
          <a:xfrm>
            <a:off x="3254331" y="1057567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op_prompt_samples_point_25"/>
          <p:cNvSpPr/>
          <p:nvPr/>
        </p:nvSpPr>
        <p:spPr>
          <a:xfrm>
            <a:off x="3289627" y="729376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op_prompt_samples_point_26"/>
          <p:cNvSpPr/>
          <p:nvPr/>
        </p:nvSpPr>
        <p:spPr>
          <a:xfrm>
            <a:off x="3066376" y="1205600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op_prompt_samples_point_27"/>
          <p:cNvSpPr/>
          <p:nvPr/>
        </p:nvSpPr>
        <p:spPr>
          <a:xfrm>
            <a:off x="3103612" y="1224296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op_prompt_samples_point_28"/>
          <p:cNvSpPr/>
          <p:nvPr/>
        </p:nvSpPr>
        <p:spPr>
          <a:xfrm>
            <a:off x="2680294" y="85404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op_prompt_samples_point_29"/>
          <p:cNvSpPr/>
          <p:nvPr/>
        </p:nvSpPr>
        <p:spPr>
          <a:xfrm>
            <a:off x="3060948" y="1254204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op_prompt_samples_point_30"/>
          <p:cNvSpPr/>
          <p:nvPr/>
        </p:nvSpPr>
        <p:spPr>
          <a:xfrm>
            <a:off x="3226890" y="805013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op_prompt_samples_point_31"/>
          <p:cNvSpPr/>
          <p:nvPr/>
        </p:nvSpPr>
        <p:spPr>
          <a:xfrm>
            <a:off x="3404630" y="826600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op_prompt_samples_point_32"/>
          <p:cNvSpPr/>
          <p:nvPr/>
        </p:nvSpPr>
        <p:spPr>
          <a:xfrm>
            <a:off x="3003663" y="700425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op_prompt_samples_point_33"/>
          <p:cNvSpPr/>
          <p:nvPr/>
        </p:nvSpPr>
        <p:spPr>
          <a:xfrm>
            <a:off x="2806499" y="635264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op_prompt_samples_point_34"/>
          <p:cNvSpPr/>
          <p:nvPr/>
        </p:nvSpPr>
        <p:spPr>
          <a:xfrm>
            <a:off x="3053356" y="68156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op_prompt_samples_point_35"/>
          <p:cNvSpPr/>
          <p:nvPr/>
        </p:nvSpPr>
        <p:spPr>
          <a:xfrm>
            <a:off x="3064932" y="1131513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op_prompt_samples_point_36"/>
          <p:cNvSpPr/>
          <p:nvPr/>
        </p:nvSpPr>
        <p:spPr>
          <a:xfrm>
            <a:off x="2835767" y="857908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op_prompt_samples_point_37"/>
          <p:cNvSpPr/>
          <p:nvPr/>
        </p:nvSpPr>
        <p:spPr>
          <a:xfrm>
            <a:off x="3346649" y="873958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op_prompt_samples_point_38"/>
          <p:cNvSpPr/>
          <p:nvPr/>
        </p:nvSpPr>
        <p:spPr>
          <a:xfrm>
            <a:off x="2906518" y="118712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op_prompt_samples_point_39"/>
          <p:cNvSpPr/>
          <p:nvPr/>
        </p:nvSpPr>
        <p:spPr>
          <a:xfrm>
            <a:off x="3178571" y="851522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op_prompt_samples_point_40"/>
          <p:cNvSpPr/>
          <p:nvPr/>
        </p:nvSpPr>
        <p:spPr>
          <a:xfrm>
            <a:off x="3182734" y="1143390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op_prompt_samples_point_41"/>
          <p:cNvSpPr/>
          <p:nvPr/>
        </p:nvSpPr>
        <p:spPr>
          <a:xfrm>
            <a:off x="3140533" y="729654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op_prompt_samples_point_42"/>
          <p:cNvSpPr/>
          <p:nvPr/>
        </p:nvSpPr>
        <p:spPr>
          <a:xfrm>
            <a:off x="2869040" y="849419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op_prompt_samples_point_43"/>
          <p:cNvSpPr/>
          <p:nvPr/>
        </p:nvSpPr>
        <p:spPr>
          <a:xfrm>
            <a:off x="3244754" y="952591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op_prompt_samples_point_44"/>
          <p:cNvSpPr/>
          <p:nvPr/>
        </p:nvSpPr>
        <p:spPr>
          <a:xfrm>
            <a:off x="3069892" y="1141096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op_prompt_samples_point_45"/>
          <p:cNvSpPr/>
          <p:nvPr/>
        </p:nvSpPr>
        <p:spPr>
          <a:xfrm>
            <a:off x="2721718" y="1004464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op_prompt_samples_point_46"/>
          <p:cNvSpPr/>
          <p:nvPr/>
        </p:nvSpPr>
        <p:spPr>
          <a:xfrm>
            <a:off x="2898416" y="954175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op_prompt_samples_point_47"/>
          <p:cNvSpPr/>
          <p:nvPr/>
        </p:nvSpPr>
        <p:spPr>
          <a:xfrm>
            <a:off x="3294977" y="736599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prompt_link_1"/>
          <p:cNvCxnSpPr/>
          <p:nvPr/>
        </p:nvCxnSpPr>
        <p:spPr>
          <a:xfrm flipV="1">
            <a:off x="3351686" y="553314"/>
            <a:ext cx="705953" cy="165358"/>
          </a:xfrm>
          <a:prstGeom prst="line">
            <a:avLst/>
          </a:prstGeom>
          <a:ln w="6985">
            <a:solidFill>
              <a:srgbClr val="956C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prompt_link_2"/>
          <p:cNvCxnSpPr/>
          <p:nvPr/>
        </p:nvCxnSpPr>
        <p:spPr>
          <a:xfrm>
            <a:off x="3364406" y="922190"/>
            <a:ext cx="693233" cy="82680"/>
          </a:xfrm>
          <a:prstGeom prst="line">
            <a:avLst/>
          </a:prstGeom>
          <a:ln w="6985">
            <a:solidFill>
              <a:srgbClr val="956C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prompt_link_3"/>
          <p:cNvCxnSpPr/>
          <p:nvPr/>
        </p:nvCxnSpPr>
        <p:spPr>
          <a:xfrm>
            <a:off x="3319887" y="1265627"/>
            <a:ext cx="737752" cy="82679"/>
          </a:xfrm>
          <a:prstGeom prst="line">
            <a:avLst/>
          </a:prstGeom>
          <a:ln w="6985">
            <a:solidFill>
              <a:srgbClr val="956C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prompt_card_1"/>
          <p:cNvSpPr/>
          <p:nvPr/>
        </p:nvSpPr>
        <p:spPr>
          <a:xfrm>
            <a:off x="4057639" y="330716"/>
            <a:ext cx="2416776" cy="470635"/>
          </a:xfrm>
          <a:prstGeom prst="rect">
            <a:avLst/>
          </a:prstGeom>
          <a:solidFill>
            <a:srgbClr val="E2D5E7"/>
          </a:solidFill>
          <a:ln w="6985">
            <a:solidFill>
              <a:srgbClr val="9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rompt_card_2"/>
          <p:cNvSpPr/>
          <p:nvPr/>
        </p:nvSpPr>
        <p:spPr>
          <a:xfrm>
            <a:off x="4057639" y="845871"/>
            <a:ext cx="2416776" cy="324356"/>
          </a:xfrm>
          <a:prstGeom prst="rect">
            <a:avLst/>
          </a:prstGeom>
          <a:solidFill>
            <a:srgbClr val="E2D5E7"/>
          </a:solidFill>
          <a:ln w="6985">
            <a:solidFill>
              <a:srgbClr val="9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prompt_card_3"/>
          <p:cNvSpPr/>
          <p:nvPr/>
        </p:nvSpPr>
        <p:spPr>
          <a:xfrm>
            <a:off x="4057639" y="1208388"/>
            <a:ext cx="2416776" cy="292557"/>
          </a:xfrm>
          <a:prstGeom prst="rect">
            <a:avLst/>
          </a:prstGeom>
          <a:solidFill>
            <a:srgbClr val="E2D5E7"/>
          </a:solidFill>
          <a:ln w="6985">
            <a:solidFill>
              <a:srgbClr val="9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prompt_question_1"/>
          <p:cNvSpPr txBox="1"/>
          <p:nvPr/>
        </p:nvSpPr>
        <p:spPr>
          <a:xfrm>
            <a:off x="4095799" y="368876"/>
            <a:ext cx="2340456" cy="3943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What colors are the patterns in the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picture?</a:t>
            </a:r>
          </a:p>
        </p:txBody>
      </p:sp>
      <p:sp>
        <p:nvSpPr>
          <p:cNvPr id="121" name="prompt_question_2"/>
          <p:cNvSpPr txBox="1"/>
          <p:nvPr/>
        </p:nvSpPr>
        <p:spPr>
          <a:xfrm>
            <a:off x="4095799" y="871311"/>
            <a:ext cx="2340456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What is that person wearing?</a:t>
            </a:r>
          </a:p>
        </p:txBody>
      </p:sp>
      <p:sp>
        <p:nvSpPr>
          <p:cNvPr id="122" name="prompt_question_3"/>
          <p:cNvSpPr txBox="1"/>
          <p:nvPr/>
        </p:nvSpPr>
        <p:spPr>
          <a:xfrm>
            <a:off x="4095799" y="1227467"/>
            <a:ext cx="2340456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What's on the plate?</a:t>
            </a:r>
          </a:p>
        </p:txBody>
      </p:sp>
      <p:sp>
        <p:nvSpPr>
          <p:cNvPr id="123" name="real_image_distribution_label"/>
          <p:cNvSpPr txBox="1"/>
          <p:nvPr/>
        </p:nvSpPr>
        <p:spPr>
          <a:xfrm>
            <a:off x="750472" y="1520025"/>
            <a:ext cx="1399186" cy="2035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atin Modern Math"/>
              </a:rPr>
              <a:t>v ~ N (μ, Σ/N)</a:t>
            </a:r>
          </a:p>
        </p:txBody>
      </p:sp>
      <p:sp>
        <p:nvSpPr>
          <p:cNvPr id="124" name="real_prompt_distribution_label"/>
          <p:cNvSpPr txBox="1"/>
          <p:nvPr/>
        </p:nvSpPr>
        <p:spPr>
          <a:xfrm>
            <a:off x="3739643" y="1520025"/>
            <a:ext cx="1399186" cy="2035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atin Modern Math"/>
              </a:rPr>
              <a:t>t ~ N (μ, Σ/N)</a:t>
            </a:r>
          </a:p>
        </p:txBody>
      </p:sp>
      <p:sp>
        <p:nvSpPr>
          <p:cNvPr id="125" name="model_label"/>
          <p:cNvSpPr txBox="1"/>
          <p:nvPr/>
        </p:nvSpPr>
        <p:spPr>
          <a:xfrm>
            <a:off x="6633414" y="585114"/>
            <a:ext cx="470635" cy="19079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Model</a:t>
            </a:r>
          </a:p>
        </p:txBody>
      </p:sp>
      <p:sp>
        <p:nvSpPr>
          <p:cNvPr id="126" name="model_arrow"/>
          <p:cNvSpPr/>
          <p:nvPr/>
        </p:nvSpPr>
        <p:spPr>
          <a:xfrm>
            <a:off x="6652494" y="807712"/>
            <a:ext cx="457915" cy="241677"/>
          </a:xfrm>
          <a:prstGeom prst="rightArrow">
            <a:avLst/>
          </a:prstGeom>
          <a:solidFill>
            <a:srgbClr val="FFFFFF"/>
          </a:solidFill>
          <a:ln w="838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istribution_title"/>
          <p:cNvSpPr txBox="1"/>
          <p:nvPr/>
        </p:nvSpPr>
        <p:spPr>
          <a:xfrm>
            <a:off x="7237608" y="127198"/>
            <a:ext cx="2512175" cy="1971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Image and Prompt Set Distribution</a:t>
            </a:r>
          </a:p>
        </p:txBody>
      </p:sp>
      <p:sp>
        <p:nvSpPr>
          <p:cNvPr id="128" name="top_image_distribution_contour_1"/>
          <p:cNvSpPr/>
          <p:nvPr/>
        </p:nvSpPr>
        <p:spPr>
          <a:xfrm rot="20400000">
            <a:off x="7542885" y="394316"/>
            <a:ext cx="763192" cy="597834"/>
          </a:xfrm>
          <a:prstGeom prst="ellipse">
            <a:avLst/>
          </a:prstGeom>
          <a:solidFill>
            <a:srgbClr val="5ED9F8"/>
          </a:solidFill>
          <a:ln w="6985">
            <a:solidFill>
              <a:srgbClr val="5B6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op_image_distribution_contour_2"/>
          <p:cNvSpPr/>
          <p:nvPr/>
        </p:nvSpPr>
        <p:spPr>
          <a:xfrm rot="20400000">
            <a:off x="7626836" y="460077"/>
            <a:ext cx="595290" cy="466310"/>
          </a:xfrm>
          <a:prstGeom prst="ellipse">
            <a:avLst/>
          </a:prstGeom>
          <a:solidFill>
            <a:srgbClr val="38C3FA"/>
          </a:solidFill>
          <a:ln w="6985">
            <a:solidFill>
              <a:srgbClr val="2FB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op_image_distribution_contour_3"/>
          <p:cNvSpPr/>
          <p:nvPr/>
        </p:nvSpPr>
        <p:spPr>
          <a:xfrm rot="20400000">
            <a:off x="7710787" y="525839"/>
            <a:ext cx="427387" cy="334787"/>
          </a:xfrm>
          <a:prstGeom prst="ellipse">
            <a:avLst/>
          </a:prstGeom>
          <a:solidFill>
            <a:srgbClr val="2FB8FC"/>
          </a:solidFill>
          <a:ln w="6985">
            <a:solidFill>
              <a:srgbClr val="2FB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op_image_distribution_center"/>
          <p:cNvSpPr/>
          <p:nvPr/>
        </p:nvSpPr>
        <p:spPr>
          <a:xfrm>
            <a:off x="7902222" y="670973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op_prompt_distribution_contour_1"/>
          <p:cNvSpPr/>
          <p:nvPr/>
        </p:nvSpPr>
        <p:spPr>
          <a:xfrm rot="20280000">
            <a:off x="8611355" y="419755"/>
            <a:ext cx="750472" cy="585114"/>
          </a:xfrm>
          <a:prstGeom prst="ellipse">
            <a:avLst/>
          </a:prstGeom>
          <a:solidFill>
            <a:srgbClr val="E5DDE8"/>
          </a:solidFill>
          <a:ln w="6985">
            <a:solidFill>
              <a:srgbClr val="5B6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op_prompt_distribution_contour_2"/>
          <p:cNvSpPr/>
          <p:nvPr/>
        </p:nvSpPr>
        <p:spPr>
          <a:xfrm rot="20280000">
            <a:off x="8693907" y="484118"/>
            <a:ext cx="585368" cy="456389"/>
          </a:xfrm>
          <a:prstGeom prst="ellipse">
            <a:avLst/>
          </a:prstGeom>
          <a:solidFill>
            <a:srgbClr val="C9CFEF"/>
          </a:solidFill>
          <a:ln w="6985">
            <a:solidFill>
              <a:srgbClr val="B6B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op_prompt_distribution_contour_3"/>
          <p:cNvSpPr/>
          <p:nvPr/>
        </p:nvSpPr>
        <p:spPr>
          <a:xfrm rot="20280000">
            <a:off x="8776458" y="548480"/>
            <a:ext cx="420264" cy="327663"/>
          </a:xfrm>
          <a:prstGeom prst="ellipse">
            <a:avLst/>
          </a:prstGeom>
          <a:solidFill>
            <a:srgbClr val="B6BCEC"/>
          </a:solidFill>
          <a:ln w="6985">
            <a:solidFill>
              <a:srgbClr val="B6B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op_prompt_distribution_center"/>
          <p:cNvSpPr/>
          <p:nvPr/>
        </p:nvSpPr>
        <p:spPr>
          <a:xfrm>
            <a:off x="8964331" y="690053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itted_image_label"/>
          <p:cNvSpPr txBox="1"/>
          <p:nvPr/>
        </p:nvSpPr>
        <p:spPr>
          <a:xfrm>
            <a:off x="7301207" y="1017589"/>
            <a:ext cx="1170228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000000"/>
                </a:solidFill>
                <a:latin typeface="Latin Modern Math"/>
              </a:rPr>
              <a:t>v ~ N(v~, H_v^-1)</a:t>
            </a:r>
          </a:p>
        </p:txBody>
      </p:sp>
      <p:sp>
        <p:nvSpPr>
          <p:cNvPr id="137" name="fitted_prompt_label"/>
          <p:cNvSpPr txBox="1"/>
          <p:nvPr/>
        </p:nvSpPr>
        <p:spPr>
          <a:xfrm>
            <a:off x="8522315" y="1017589"/>
            <a:ext cx="1208388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000000"/>
                </a:solidFill>
                <a:latin typeface="Latin Modern Math"/>
              </a:rPr>
              <a:t>t ~ N(t_v, H_t^-1)</a:t>
            </a:r>
          </a:p>
        </p:txBody>
      </p:sp>
      <p:cxnSp>
        <p:nvCxnSpPr>
          <p:cNvPr id="138" name="top_to_stage1_cloud_segment_1"/>
          <p:cNvCxnSpPr/>
          <p:nvPr/>
        </p:nvCxnSpPr>
        <p:spPr>
          <a:xfrm>
            <a:off x="712312" y="1589984"/>
            <a:ext cx="0" cy="330717"/>
          </a:xfrm>
          <a:prstGeom prst="line">
            <a:avLst/>
          </a:prstGeom>
          <a:ln w="16764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top_to_stage1_distribution_segment_1"/>
          <p:cNvCxnSpPr/>
          <p:nvPr/>
        </p:nvCxnSpPr>
        <p:spPr>
          <a:xfrm>
            <a:off x="1780782" y="1589984"/>
            <a:ext cx="0" cy="343436"/>
          </a:xfrm>
          <a:prstGeom prst="line">
            <a:avLst/>
          </a:prstGeom>
          <a:ln w="16764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image_to_stage2_segment_1"/>
          <p:cNvCxnSpPr/>
          <p:nvPr/>
        </p:nvCxnSpPr>
        <p:spPr>
          <a:xfrm>
            <a:off x="2200538" y="1227467"/>
            <a:ext cx="0" cy="629634"/>
          </a:xfrm>
          <a:prstGeom prst="line">
            <a:avLst/>
          </a:prstGeom>
          <a:ln w="16764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image_to_stage2_segment_2"/>
          <p:cNvCxnSpPr/>
          <p:nvPr/>
        </p:nvCxnSpPr>
        <p:spPr>
          <a:xfrm>
            <a:off x="2200538" y="1857101"/>
            <a:ext cx="934911" cy="0"/>
          </a:xfrm>
          <a:prstGeom prst="line">
            <a:avLst/>
          </a:prstGeom>
          <a:ln w="16764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image_to_stage2_segment_3"/>
          <p:cNvCxnSpPr/>
          <p:nvPr/>
        </p:nvCxnSpPr>
        <p:spPr>
          <a:xfrm>
            <a:off x="3135449" y="1857101"/>
            <a:ext cx="0" cy="267118"/>
          </a:xfrm>
          <a:prstGeom prst="line">
            <a:avLst/>
          </a:prstGeom>
          <a:ln w="16764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prompt_to_target_center_segment_1"/>
          <p:cNvCxnSpPr/>
          <p:nvPr/>
        </p:nvCxnSpPr>
        <p:spPr>
          <a:xfrm>
            <a:off x="3135449" y="1589984"/>
            <a:ext cx="0" cy="216238"/>
          </a:xfrm>
          <a:prstGeom prst="line">
            <a:avLst/>
          </a:prstGeom>
          <a:ln w="16764">
            <a:solidFill>
              <a:srgbClr val="956C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prompt_to_target_center_segment_2"/>
          <p:cNvCxnSpPr/>
          <p:nvPr/>
        </p:nvCxnSpPr>
        <p:spPr>
          <a:xfrm>
            <a:off x="3135449" y="1806222"/>
            <a:ext cx="1863461" cy="0"/>
          </a:xfrm>
          <a:prstGeom prst="line">
            <a:avLst/>
          </a:prstGeom>
          <a:ln w="16764">
            <a:solidFill>
              <a:srgbClr val="956C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prompt_to_target_center_segment_3"/>
          <p:cNvCxnSpPr/>
          <p:nvPr/>
        </p:nvCxnSpPr>
        <p:spPr>
          <a:xfrm>
            <a:off x="4998910" y="1806222"/>
            <a:ext cx="0" cy="216238"/>
          </a:xfrm>
          <a:prstGeom prst="line">
            <a:avLst/>
          </a:prstGeom>
          <a:ln w="16764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prompt_to_sample_segment_1"/>
          <p:cNvCxnSpPr/>
          <p:nvPr/>
        </p:nvCxnSpPr>
        <p:spPr>
          <a:xfrm>
            <a:off x="3593364" y="1589984"/>
            <a:ext cx="0" cy="553314"/>
          </a:xfrm>
          <a:prstGeom prst="line">
            <a:avLst/>
          </a:prstGeom>
          <a:ln w="16764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mc_image_sample_arrow"/>
          <p:cNvCxnSpPr/>
          <p:nvPr/>
        </p:nvCxnSpPr>
        <p:spPr>
          <a:xfrm>
            <a:off x="7803642" y="1271987"/>
            <a:ext cx="0" cy="909471"/>
          </a:xfrm>
          <a:prstGeom prst="line">
            <a:avLst/>
          </a:prstGeom>
          <a:ln w="20955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mpute_distribution_arrow_segment_1"/>
          <p:cNvCxnSpPr/>
          <p:nvPr/>
        </p:nvCxnSpPr>
        <p:spPr>
          <a:xfrm flipV="1">
            <a:off x="8038960" y="1386466"/>
            <a:ext cx="0" cy="807712"/>
          </a:xfrm>
          <a:prstGeom prst="line">
            <a:avLst/>
          </a:prstGeom>
          <a:ln w="1606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mpute_distribution_arrow_segment_2"/>
          <p:cNvCxnSpPr/>
          <p:nvPr/>
        </p:nvCxnSpPr>
        <p:spPr>
          <a:xfrm>
            <a:off x="8038960" y="1386466"/>
            <a:ext cx="744113" cy="0"/>
          </a:xfrm>
          <a:prstGeom prst="line">
            <a:avLst/>
          </a:prstGeom>
          <a:ln w="1606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mpute_distribution_arrow_segment_3"/>
          <p:cNvCxnSpPr/>
          <p:nvPr/>
        </p:nvCxnSpPr>
        <p:spPr>
          <a:xfrm flipV="1">
            <a:off x="8783073" y="1233827"/>
            <a:ext cx="0" cy="152639"/>
          </a:xfrm>
          <a:prstGeom prst="line">
            <a:avLst/>
          </a:prstGeom>
          <a:ln w="16065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mc_prompt_sample_arrow"/>
          <p:cNvCxnSpPr/>
          <p:nvPr/>
        </p:nvCxnSpPr>
        <p:spPr>
          <a:xfrm>
            <a:off x="8916632" y="1240187"/>
            <a:ext cx="0" cy="947631"/>
          </a:xfrm>
          <a:prstGeom prst="line">
            <a:avLst/>
          </a:prstGeom>
          <a:ln w="20955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mean_to_mllm"/>
          <p:cNvCxnSpPr/>
          <p:nvPr/>
        </p:nvCxnSpPr>
        <p:spPr>
          <a:xfrm>
            <a:off x="712312" y="2938291"/>
            <a:ext cx="0" cy="222597"/>
          </a:xfrm>
          <a:prstGeom prst="line">
            <a:avLst/>
          </a:prstGeom>
          <a:ln w="18161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mllm_to_image_distribution"/>
          <p:cNvCxnSpPr/>
          <p:nvPr/>
        </p:nvCxnSpPr>
        <p:spPr>
          <a:xfrm flipV="1">
            <a:off x="1780782" y="2855611"/>
            <a:ext cx="0" cy="311637"/>
          </a:xfrm>
          <a:prstGeom prst="line">
            <a:avLst/>
          </a:prstGeom>
          <a:ln w="18161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ample_prompt_to_mllm"/>
          <p:cNvCxnSpPr/>
          <p:nvPr/>
        </p:nvCxnSpPr>
        <p:spPr>
          <a:xfrm>
            <a:off x="3294447" y="2734773"/>
            <a:ext cx="0" cy="413395"/>
          </a:xfrm>
          <a:prstGeom prst="line">
            <a:avLst/>
          </a:prstGeom>
          <a:ln w="19558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mllm_to_target_distribution"/>
          <p:cNvCxnSpPr/>
          <p:nvPr/>
        </p:nvCxnSpPr>
        <p:spPr>
          <a:xfrm flipV="1">
            <a:off x="4998910" y="2607574"/>
            <a:ext cx="0" cy="527875"/>
          </a:xfrm>
          <a:prstGeom prst="line">
            <a:avLst/>
          </a:prstGeom>
          <a:ln w="19558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mc_input_to_mllm"/>
          <p:cNvCxnSpPr/>
          <p:nvPr/>
        </p:nvCxnSpPr>
        <p:spPr>
          <a:xfrm>
            <a:off x="8579555" y="2639373"/>
            <a:ext cx="0" cy="508795"/>
          </a:xfrm>
          <a:prstGeom prst="line">
            <a:avLst/>
          </a:prstGeom>
          <a:ln w="20955">
            <a:solidFill>
              <a:srgbClr val="087E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perturbation_update_arrow"/>
          <p:cNvCxnSpPr/>
          <p:nvPr/>
        </p:nvCxnSpPr>
        <p:spPr>
          <a:xfrm flipV="1">
            <a:off x="6868732" y="2823812"/>
            <a:ext cx="0" cy="330716"/>
          </a:xfrm>
          <a:prstGeom prst="line">
            <a:avLst/>
          </a:prstGeom>
          <a:ln w="16764">
            <a:solidFill>
              <a:srgbClr val="C66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universal_perturbation_route_segment_1"/>
          <p:cNvCxnSpPr/>
          <p:nvPr/>
        </p:nvCxnSpPr>
        <p:spPr>
          <a:xfrm>
            <a:off x="7307567" y="2811092"/>
            <a:ext cx="0" cy="165358"/>
          </a:xfrm>
          <a:prstGeom prst="line">
            <a:avLst/>
          </a:prstGeom>
          <a:ln w="1047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universal_perturbation_route_segment_2"/>
          <p:cNvCxnSpPr/>
          <p:nvPr/>
        </p:nvCxnSpPr>
        <p:spPr>
          <a:xfrm>
            <a:off x="7307567" y="2976450"/>
            <a:ext cx="3186329" cy="0"/>
          </a:xfrm>
          <a:prstGeom prst="line">
            <a:avLst/>
          </a:prstGeom>
          <a:ln w="1047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niversal_perturbation_route_segment_3"/>
          <p:cNvCxnSpPr/>
          <p:nvPr/>
        </p:nvCxnSpPr>
        <p:spPr>
          <a:xfrm flipV="1">
            <a:off x="10493896" y="2251417"/>
            <a:ext cx="0" cy="725033"/>
          </a:xfrm>
          <a:prstGeom prst="line">
            <a:avLst/>
          </a:prstGeom>
          <a:ln w="10477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tage1_number"/>
          <p:cNvSpPr txBox="1"/>
          <p:nvPr/>
        </p:nvSpPr>
        <p:spPr>
          <a:xfrm>
            <a:off x="241677" y="1869821"/>
            <a:ext cx="254397" cy="2989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u="sng">
                <a:solidFill>
                  <a:srgbClr val="5F7EAA"/>
                </a:solidFill>
                <a:latin typeface="Liberation Sans"/>
              </a:rPr>
              <a:t>1</a:t>
            </a:r>
          </a:p>
        </p:txBody>
      </p:sp>
      <p:sp>
        <p:nvSpPr>
          <p:cNvPr id="162" name="stage1_cloud_point_01"/>
          <p:cNvSpPr/>
          <p:nvPr/>
        </p:nvSpPr>
        <p:spPr>
          <a:xfrm>
            <a:off x="897571" y="261715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tage1_cloud_point_02"/>
          <p:cNvSpPr/>
          <p:nvPr/>
        </p:nvSpPr>
        <p:spPr>
          <a:xfrm>
            <a:off x="497515" y="252150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tage1_cloud_point_03"/>
          <p:cNvSpPr/>
          <p:nvPr/>
        </p:nvSpPr>
        <p:spPr>
          <a:xfrm>
            <a:off x="633813" y="240882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tage1_cloud_point_04"/>
          <p:cNvSpPr/>
          <p:nvPr/>
        </p:nvSpPr>
        <p:spPr>
          <a:xfrm>
            <a:off x="715250" y="241945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tage1_cloud_point_05"/>
          <p:cNvSpPr/>
          <p:nvPr/>
        </p:nvSpPr>
        <p:spPr>
          <a:xfrm>
            <a:off x="569745" y="257154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tage1_cloud_point_06"/>
          <p:cNvSpPr/>
          <p:nvPr/>
        </p:nvSpPr>
        <p:spPr>
          <a:xfrm>
            <a:off x="970873" y="229768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tage1_cloud_point_07"/>
          <p:cNvSpPr/>
          <p:nvPr/>
        </p:nvSpPr>
        <p:spPr>
          <a:xfrm>
            <a:off x="405897" y="236734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tage1_cloud_point_08"/>
          <p:cNvSpPr/>
          <p:nvPr/>
        </p:nvSpPr>
        <p:spPr>
          <a:xfrm>
            <a:off x="878944" y="238508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tage1_cloud_point_09"/>
          <p:cNvSpPr/>
          <p:nvPr/>
        </p:nvSpPr>
        <p:spPr>
          <a:xfrm>
            <a:off x="450906" y="250498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tage1_cloud_point_10"/>
          <p:cNvSpPr/>
          <p:nvPr/>
        </p:nvSpPr>
        <p:spPr>
          <a:xfrm>
            <a:off x="554241" y="262454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tage1_cloud_point_11"/>
          <p:cNvSpPr/>
          <p:nvPr/>
        </p:nvSpPr>
        <p:spPr>
          <a:xfrm>
            <a:off x="439123" y="2431174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tage1_cloud_point_12"/>
          <p:cNvSpPr/>
          <p:nvPr/>
        </p:nvSpPr>
        <p:spPr>
          <a:xfrm>
            <a:off x="599196" y="268983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tage1_cloud_point_13"/>
          <p:cNvSpPr/>
          <p:nvPr/>
        </p:nvSpPr>
        <p:spPr>
          <a:xfrm>
            <a:off x="622931" y="2284337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tage1_cloud_point_14"/>
          <p:cNvSpPr/>
          <p:nvPr/>
        </p:nvSpPr>
        <p:spPr>
          <a:xfrm>
            <a:off x="468388" y="236549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tage1_cloud_point_15"/>
          <p:cNvSpPr/>
          <p:nvPr/>
        </p:nvSpPr>
        <p:spPr>
          <a:xfrm>
            <a:off x="1007995" y="244266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tage1_cloud_point_16"/>
          <p:cNvSpPr/>
          <p:nvPr/>
        </p:nvSpPr>
        <p:spPr>
          <a:xfrm>
            <a:off x="488994" y="237385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tage1_cloud_point_17"/>
          <p:cNvSpPr/>
          <p:nvPr/>
        </p:nvSpPr>
        <p:spPr>
          <a:xfrm>
            <a:off x="794159" y="223411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tage1_cloud_point_18"/>
          <p:cNvSpPr/>
          <p:nvPr/>
        </p:nvSpPr>
        <p:spPr>
          <a:xfrm>
            <a:off x="488063" y="217277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tage1_cloud_point_19"/>
          <p:cNvSpPr/>
          <p:nvPr/>
        </p:nvSpPr>
        <p:spPr>
          <a:xfrm>
            <a:off x="491600" y="228562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tage1_cloud_point_20"/>
          <p:cNvSpPr/>
          <p:nvPr/>
        </p:nvSpPr>
        <p:spPr>
          <a:xfrm>
            <a:off x="1007772" y="239880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tage1_cloud_point_21"/>
          <p:cNvSpPr/>
          <p:nvPr/>
        </p:nvSpPr>
        <p:spPr>
          <a:xfrm>
            <a:off x="775771" y="226860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tage1_cloud_point_22"/>
          <p:cNvSpPr/>
          <p:nvPr/>
        </p:nvSpPr>
        <p:spPr>
          <a:xfrm>
            <a:off x="440341" y="2411209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tage1_cloud_point_23"/>
          <p:cNvSpPr/>
          <p:nvPr/>
        </p:nvSpPr>
        <p:spPr>
          <a:xfrm>
            <a:off x="851977" y="209463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tage1_cloud_point_24"/>
          <p:cNvSpPr/>
          <p:nvPr/>
        </p:nvSpPr>
        <p:spPr>
          <a:xfrm>
            <a:off x="793873" y="217721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tage1_cloud_point_25"/>
          <p:cNvSpPr/>
          <p:nvPr/>
        </p:nvSpPr>
        <p:spPr>
          <a:xfrm>
            <a:off x="823858" y="2273394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tage1_cloud_point_26"/>
          <p:cNvSpPr/>
          <p:nvPr/>
        </p:nvSpPr>
        <p:spPr>
          <a:xfrm>
            <a:off x="899247" y="2395710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tage1_cloud_point_27"/>
          <p:cNvSpPr/>
          <p:nvPr/>
        </p:nvSpPr>
        <p:spPr>
          <a:xfrm>
            <a:off x="518913" y="222354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stage1_cloud_point_28"/>
          <p:cNvSpPr/>
          <p:nvPr/>
        </p:nvSpPr>
        <p:spPr>
          <a:xfrm>
            <a:off x="727833" y="2632222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tage1_cloud_point_29"/>
          <p:cNvSpPr/>
          <p:nvPr/>
        </p:nvSpPr>
        <p:spPr>
          <a:xfrm>
            <a:off x="535299" y="236754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stage1_cloud_point_30"/>
          <p:cNvSpPr/>
          <p:nvPr/>
        </p:nvSpPr>
        <p:spPr>
          <a:xfrm>
            <a:off x="373810" y="2492663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stage1_cloud_point_31"/>
          <p:cNvSpPr/>
          <p:nvPr/>
        </p:nvSpPr>
        <p:spPr>
          <a:xfrm>
            <a:off x="536156" y="228680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stage1_cloud_point_32"/>
          <p:cNvSpPr/>
          <p:nvPr/>
        </p:nvSpPr>
        <p:spPr>
          <a:xfrm>
            <a:off x="514597" y="257962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stage1_cloud_point_33"/>
          <p:cNvSpPr/>
          <p:nvPr/>
        </p:nvSpPr>
        <p:spPr>
          <a:xfrm>
            <a:off x="647668" y="2109061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stage1_cloud_point_34"/>
          <p:cNvSpPr/>
          <p:nvPr/>
        </p:nvSpPr>
        <p:spPr>
          <a:xfrm>
            <a:off x="868424" y="263842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tage1_cloud_point_35"/>
          <p:cNvSpPr/>
          <p:nvPr/>
        </p:nvSpPr>
        <p:spPr>
          <a:xfrm>
            <a:off x="407878" y="2489885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stage1_cloud_point_36"/>
          <p:cNvSpPr/>
          <p:nvPr/>
        </p:nvSpPr>
        <p:spPr>
          <a:xfrm>
            <a:off x="539054" y="2336088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stage1_mean_ring"/>
          <p:cNvSpPr/>
          <p:nvPr/>
        </p:nvSpPr>
        <p:spPr>
          <a:xfrm>
            <a:off x="610553" y="2295937"/>
            <a:ext cx="190798" cy="190798"/>
          </a:xfrm>
          <a:prstGeom prst="ellipse">
            <a:avLst/>
          </a:prstGeom>
          <a:solidFill>
            <a:srgbClr val="FFFFFF"/>
          </a:solidFill>
          <a:ln w="244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stage1_mean_dot"/>
          <p:cNvSpPr/>
          <p:nvPr/>
        </p:nvSpPr>
        <p:spPr>
          <a:xfrm>
            <a:off x="680513" y="2359536"/>
            <a:ext cx="50879" cy="5087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rigin_label"/>
          <p:cNvSpPr txBox="1"/>
          <p:nvPr/>
        </p:nvSpPr>
        <p:spPr>
          <a:xfrm>
            <a:off x="1112989" y="2079699"/>
            <a:ext cx="190798" cy="15263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u="none">
                <a:solidFill>
                  <a:srgbClr val="000000"/>
                </a:solidFill>
                <a:latin typeface="Latin Modern Math"/>
              </a:rPr>
              <a:t>0</a:t>
            </a:r>
          </a:p>
        </p:txBody>
      </p:sp>
      <p:cxnSp>
        <p:nvCxnSpPr>
          <p:cNvPr id="201" name="origin_to_distribution_segment_1"/>
          <p:cNvCxnSpPr/>
          <p:nvPr/>
        </p:nvCxnSpPr>
        <p:spPr>
          <a:xfrm flipH="1">
            <a:off x="1780782" y="2391336"/>
            <a:ext cx="63599" cy="38160"/>
          </a:xfrm>
          <a:prstGeom prst="line">
            <a:avLst/>
          </a:prstGeom>
          <a:ln w="698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origin_to_distribution_segment_2"/>
          <p:cNvCxnSpPr/>
          <p:nvPr/>
        </p:nvCxnSpPr>
        <p:spPr>
          <a:xfrm flipH="1" flipV="1">
            <a:off x="1322866" y="2359536"/>
            <a:ext cx="457916" cy="69960"/>
          </a:xfrm>
          <a:prstGeom prst="line">
            <a:avLst/>
          </a:prstGeom>
          <a:ln w="698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origin_to_distribution_segment_3"/>
          <p:cNvCxnSpPr/>
          <p:nvPr/>
        </p:nvCxnSpPr>
        <p:spPr>
          <a:xfrm flipH="1" flipV="1">
            <a:off x="1087549" y="2308657"/>
            <a:ext cx="235317" cy="50879"/>
          </a:xfrm>
          <a:prstGeom prst="line">
            <a:avLst/>
          </a:prstGeom>
          <a:ln w="6985">
            <a:solidFill>
              <a:srgbClr val="638F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image_laplace_distribution_contour_1"/>
          <p:cNvSpPr/>
          <p:nvPr/>
        </p:nvSpPr>
        <p:spPr>
          <a:xfrm rot="20400000">
            <a:off x="1392826" y="2111499"/>
            <a:ext cx="763192" cy="629633"/>
          </a:xfrm>
          <a:prstGeom prst="ellipse">
            <a:avLst/>
          </a:prstGeom>
          <a:solidFill>
            <a:srgbClr val="5ED9F8"/>
          </a:solidFill>
          <a:ln w="6985">
            <a:solidFill>
              <a:srgbClr val="5B6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image_laplace_distribution_contour_2"/>
          <p:cNvSpPr/>
          <p:nvPr/>
        </p:nvSpPr>
        <p:spPr>
          <a:xfrm rot="20400000">
            <a:off x="1476777" y="2180758"/>
            <a:ext cx="595290" cy="491114"/>
          </a:xfrm>
          <a:prstGeom prst="ellipse">
            <a:avLst/>
          </a:prstGeom>
          <a:solidFill>
            <a:srgbClr val="38C3FA"/>
          </a:solidFill>
          <a:ln w="6985">
            <a:solidFill>
              <a:srgbClr val="2FB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image_laplace_distribution_contour_3"/>
          <p:cNvSpPr/>
          <p:nvPr/>
        </p:nvSpPr>
        <p:spPr>
          <a:xfrm rot="20400000">
            <a:off x="1560728" y="2250018"/>
            <a:ext cx="427387" cy="352594"/>
          </a:xfrm>
          <a:prstGeom prst="ellipse">
            <a:avLst/>
          </a:prstGeom>
          <a:solidFill>
            <a:srgbClr val="2FB8FC"/>
          </a:solidFill>
          <a:ln w="6985">
            <a:solidFill>
              <a:srgbClr val="2FB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image_laplace_distribution_center"/>
          <p:cNvSpPr/>
          <p:nvPr/>
        </p:nvSpPr>
        <p:spPr>
          <a:xfrm>
            <a:off x="1752162" y="2404056"/>
            <a:ext cx="44519" cy="44519"/>
          </a:xfrm>
          <a:prstGeom prst="ellipse">
            <a:avLst/>
          </a:prstGeom>
          <a:solidFill>
            <a:srgbClr val="63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image_mean_formula"/>
          <p:cNvSpPr txBox="1"/>
          <p:nvPr/>
        </p:nvSpPr>
        <p:spPr>
          <a:xfrm>
            <a:off x="197158" y="2747492"/>
            <a:ext cx="1602704" cy="26075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atin Modern Math"/>
              </a:rPr>
              <a:t>v̂ = μ = mean(v)</a:t>
            </a:r>
          </a:p>
        </p:txBody>
      </p:sp>
      <p:sp>
        <p:nvSpPr>
          <p:cNvPr id="209" name="image_gaussian_formula"/>
          <p:cNvSpPr txBox="1"/>
          <p:nvPr/>
        </p:nvSpPr>
        <p:spPr>
          <a:xfrm>
            <a:off x="1316507" y="2575774"/>
            <a:ext cx="1144788" cy="3370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000000"/>
                </a:solidFill>
                <a:latin typeface="Latin Modern Math"/>
              </a:rPr>
              <a:t>v ~ N(v~, H_v^-1)</a:t>
            </a:r>
          </a:p>
        </p:txBody>
      </p:sp>
      <p:sp>
        <p:nvSpPr>
          <p:cNvPr id="210" name="image_hessian_box"/>
          <p:cNvSpPr/>
          <p:nvPr/>
        </p:nvSpPr>
        <p:spPr>
          <a:xfrm>
            <a:off x="305276" y="3905001"/>
            <a:ext cx="1984300" cy="712312"/>
          </a:xfrm>
          <a:prstGeom prst="rect">
            <a:avLst/>
          </a:prstGeom>
          <a:solidFill>
            <a:srgbClr val="FFFFFF"/>
          </a:solidFill>
          <a:ln w="8382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image_hessian_lhs"/>
          <p:cNvSpPr txBox="1"/>
          <p:nvPr/>
        </p:nvSpPr>
        <p:spPr>
          <a:xfrm>
            <a:off x="476995" y="4102159"/>
            <a:ext cx="750472" cy="3434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 u="none">
                <a:solidFill>
                  <a:srgbClr val="000000"/>
                </a:solidFill>
                <a:latin typeface="Latin Modern Math"/>
              </a:rPr>
              <a:t>H_v^-1 =</a:t>
            </a:r>
          </a:p>
        </p:txBody>
      </p:sp>
      <p:sp>
        <p:nvSpPr>
          <p:cNvPr id="212" name="image_hessian_numerator"/>
          <p:cNvSpPr txBox="1"/>
          <p:nvPr/>
        </p:nvSpPr>
        <p:spPr>
          <a:xfrm>
            <a:off x="1214748" y="3987680"/>
            <a:ext cx="915830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000000"/>
                </a:solidFill>
                <a:latin typeface="Latin Modern Math"/>
              </a:rPr>
              <a:t>||v−v_hat||^2</a:t>
            </a:r>
          </a:p>
        </p:txBody>
      </p:sp>
      <p:cxnSp>
        <p:nvCxnSpPr>
          <p:cNvPr id="213" name="image_hessian_bar"/>
          <p:cNvCxnSpPr/>
          <p:nvPr/>
        </p:nvCxnSpPr>
        <p:spPr>
          <a:xfrm>
            <a:off x="1214748" y="4235718"/>
            <a:ext cx="915830" cy="0"/>
          </a:xfrm>
          <a:prstGeom prst="line">
            <a:avLst/>
          </a:prstGeom>
          <a:ln w="838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image_hessian_denominator"/>
          <p:cNvSpPr txBox="1"/>
          <p:nvPr/>
        </p:nvSpPr>
        <p:spPr>
          <a:xfrm>
            <a:off x="1214748" y="4229358"/>
            <a:ext cx="915830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u="none">
                <a:solidFill>
                  <a:srgbClr val="000000"/>
                </a:solidFill>
                <a:latin typeface="Latin Modern Math"/>
              </a:rPr>
              <a:t>2·(L(v)−L(v_hat))</a:t>
            </a:r>
          </a:p>
        </p:txBody>
      </p:sp>
      <p:cxnSp>
        <p:nvCxnSpPr>
          <p:cNvPr id="215" name="mllm_to_image_hessian"/>
          <p:cNvCxnSpPr/>
          <p:nvPr/>
        </p:nvCxnSpPr>
        <p:spPr>
          <a:xfrm>
            <a:off x="712312" y="3650603"/>
            <a:ext cx="0" cy="216238"/>
          </a:xfrm>
          <a:prstGeom prst="line">
            <a:avLst/>
          </a:prstGeom>
          <a:ln w="16065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image_hessian_to_mllm"/>
          <p:cNvCxnSpPr/>
          <p:nvPr/>
        </p:nvCxnSpPr>
        <p:spPr>
          <a:xfrm flipV="1">
            <a:off x="1780782" y="3663323"/>
            <a:ext cx="0" cy="216238"/>
          </a:xfrm>
          <a:prstGeom prst="line">
            <a:avLst/>
          </a:prstGeom>
          <a:ln w="16065">
            <a:solidFill>
              <a:srgbClr val="638F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image_laplace_caption"/>
          <p:cNvSpPr txBox="1"/>
          <p:nvPr/>
        </p:nvSpPr>
        <p:spPr>
          <a:xfrm>
            <a:off x="457915" y="4680913"/>
            <a:ext cx="1698103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 u="sng">
                <a:solidFill>
                  <a:srgbClr val="000000"/>
                </a:solidFill>
                <a:latin typeface="Liberation Sans"/>
              </a:rPr>
              <a:t>Laplace approximation</a:t>
            </a:r>
          </a:p>
        </p:txBody>
      </p:sp>
      <p:sp>
        <p:nvSpPr>
          <p:cNvPr id="218" name="stage2_number"/>
          <p:cNvSpPr txBox="1"/>
          <p:nvPr/>
        </p:nvSpPr>
        <p:spPr>
          <a:xfrm>
            <a:off x="2671173" y="1818942"/>
            <a:ext cx="222597" cy="29255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u="sng">
                <a:solidFill>
                  <a:srgbClr val="956CAD"/>
                </a:solidFill>
                <a:latin typeface="Liberation Sans"/>
              </a:rPr>
              <a:t>2</a:t>
            </a:r>
          </a:p>
        </p:txBody>
      </p:sp>
      <p:sp>
        <p:nvSpPr>
          <p:cNvPr id="219" name="stage2_heading"/>
          <p:cNvSpPr txBox="1"/>
          <p:nvPr/>
        </p:nvSpPr>
        <p:spPr>
          <a:xfrm>
            <a:off x="2855611" y="1850741"/>
            <a:ext cx="1780782" cy="26075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Image-Prompt Input</a:t>
            </a:r>
          </a:p>
        </p:txBody>
      </p:sp>
      <p:sp>
        <p:nvSpPr>
          <p:cNvPr id="220" name="sampled_image_box"/>
          <p:cNvSpPr/>
          <p:nvPr/>
        </p:nvSpPr>
        <p:spPr>
          <a:xfrm>
            <a:off x="2830172" y="2225978"/>
            <a:ext cx="546954" cy="368876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6065">
            <a:solidFill>
              <a:srgbClr val="638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ampled_prompt_box"/>
          <p:cNvSpPr/>
          <p:nvPr/>
        </p:nvSpPr>
        <p:spPr>
          <a:xfrm>
            <a:off x="3377126" y="2308657"/>
            <a:ext cx="546954" cy="286197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6065">
            <a:solidFill>
              <a:srgbClr val="956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image_hatch_-15"/>
          <p:cNvCxnSpPr/>
          <p:nvPr/>
        </p:nvCxnSpPr>
        <p:spPr>
          <a:xfrm flipV="1">
            <a:off x="2830172" y="2232337"/>
            <a:ext cx="254397" cy="356157"/>
          </a:xfrm>
          <a:prstGeom prst="line">
            <a:avLst/>
          </a:prstGeom>
          <a:ln w="27940">
            <a:solidFill>
              <a:srgbClr val="C9DD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image_hatch_1"/>
          <p:cNvCxnSpPr/>
          <p:nvPr/>
        </p:nvCxnSpPr>
        <p:spPr>
          <a:xfrm flipV="1">
            <a:off x="2836532" y="2232337"/>
            <a:ext cx="349796" cy="356157"/>
          </a:xfrm>
          <a:prstGeom prst="line">
            <a:avLst/>
          </a:prstGeom>
          <a:ln w="27940">
            <a:solidFill>
              <a:srgbClr val="C9DD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image_hatch_17"/>
          <p:cNvCxnSpPr/>
          <p:nvPr/>
        </p:nvCxnSpPr>
        <p:spPr>
          <a:xfrm flipV="1">
            <a:off x="2938291" y="2232337"/>
            <a:ext cx="349796" cy="356157"/>
          </a:xfrm>
          <a:prstGeom prst="line">
            <a:avLst/>
          </a:prstGeom>
          <a:ln w="27940">
            <a:solidFill>
              <a:srgbClr val="C9DD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image_hatch_33"/>
          <p:cNvCxnSpPr/>
          <p:nvPr/>
        </p:nvCxnSpPr>
        <p:spPr>
          <a:xfrm flipV="1">
            <a:off x="3040050" y="2232337"/>
            <a:ext cx="337076" cy="356157"/>
          </a:xfrm>
          <a:prstGeom prst="line">
            <a:avLst/>
          </a:prstGeom>
          <a:ln w="27940">
            <a:solidFill>
              <a:srgbClr val="C9DD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image_hatch_49"/>
          <p:cNvCxnSpPr/>
          <p:nvPr/>
        </p:nvCxnSpPr>
        <p:spPr>
          <a:xfrm flipV="1">
            <a:off x="3141808" y="2232337"/>
            <a:ext cx="235318" cy="356157"/>
          </a:xfrm>
          <a:prstGeom prst="line">
            <a:avLst/>
          </a:prstGeom>
          <a:ln w="27940">
            <a:solidFill>
              <a:srgbClr val="C9DD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image_hatch_65"/>
          <p:cNvCxnSpPr/>
          <p:nvPr/>
        </p:nvCxnSpPr>
        <p:spPr>
          <a:xfrm flipV="1">
            <a:off x="3243567" y="2232337"/>
            <a:ext cx="133559" cy="356157"/>
          </a:xfrm>
          <a:prstGeom prst="line">
            <a:avLst/>
          </a:prstGeom>
          <a:ln w="27940">
            <a:solidFill>
              <a:srgbClr val="C9DD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image_hatch_81"/>
          <p:cNvCxnSpPr/>
          <p:nvPr/>
        </p:nvCxnSpPr>
        <p:spPr>
          <a:xfrm flipV="1">
            <a:off x="3345326" y="2232337"/>
            <a:ext cx="31800" cy="356157"/>
          </a:xfrm>
          <a:prstGeom prst="line">
            <a:avLst/>
          </a:prstGeom>
          <a:ln w="27940">
            <a:solidFill>
              <a:srgbClr val="C9DD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prompt_hatch_-10"/>
          <p:cNvCxnSpPr/>
          <p:nvPr/>
        </p:nvCxnSpPr>
        <p:spPr>
          <a:xfrm flipV="1">
            <a:off x="3377126" y="2315017"/>
            <a:ext cx="222598" cy="273477"/>
          </a:xfrm>
          <a:prstGeom prst="line">
            <a:avLst/>
          </a:prstGeom>
          <a:ln w="27940">
            <a:solidFill>
              <a:srgbClr val="DFC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prompt_hatch_6"/>
          <p:cNvCxnSpPr/>
          <p:nvPr/>
        </p:nvCxnSpPr>
        <p:spPr>
          <a:xfrm flipV="1">
            <a:off x="3415286" y="2315017"/>
            <a:ext cx="286197" cy="273477"/>
          </a:xfrm>
          <a:prstGeom prst="line">
            <a:avLst/>
          </a:prstGeom>
          <a:ln w="27940">
            <a:solidFill>
              <a:srgbClr val="DFC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prompt_hatch_22"/>
          <p:cNvCxnSpPr/>
          <p:nvPr/>
        </p:nvCxnSpPr>
        <p:spPr>
          <a:xfrm flipV="1">
            <a:off x="3517045" y="2315017"/>
            <a:ext cx="286197" cy="273477"/>
          </a:xfrm>
          <a:prstGeom prst="line">
            <a:avLst/>
          </a:prstGeom>
          <a:ln w="27940">
            <a:solidFill>
              <a:srgbClr val="DFC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prompt_hatch_38"/>
          <p:cNvCxnSpPr/>
          <p:nvPr/>
        </p:nvCxnSpPr>
        <p:spPr>
          <a:xfrm flipV="1">
            <a:off x="3618804" y="2315017"/>
            <a:ext cx="286197" cy="273477"/>
          </a:xfrm>
          <a:prstGeom prst="line">
            <a:avLst/>
          </a:prstGeom>
          <a:ln w="27940">
            <a:solidFill>
              <a:srgbClr val="DFC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prompt_hatch_54"/>
          <p:cNvCxnSpPr/>
          <p:nvPr/>
        </p:nvCxnSpPr>
        <p:spPr>
          <a:xfrm flipV="1">
            <a:off x="3720563" y="2315017"/>
            <a:ext cx="203518" cy="273477"/>
          </a:xfrm>
          <a:prstGeom prst="line">
            <a:avLst/>
          </a:prstGeom>
          <a:ln w="27940">
            <a:solidFill>
              <a:srgbClr val="DFC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prompt_hatch_70"/>
          <p:cNvCxnSpPr/>
          <p:nvPr/>
        </p:nvCxnSpPr>
        <p:spPr>
          <a:xfrm flipV="1">
            <a:off x="3822322" y="2315017"/>
            <a:ext cx="101759" cy="273477"/>
          </a:xfrm>
          <a:prstGeom prst="line">
            <a:avLst/>
          </a:prstGeom>
          <a:ln w="27940">
            <a:solidFill>
              <a:srgbClr val="DFC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prompt_hatch_86"/>
          <p:cNvCxnSpPr/>
          <p:nvPr/>
        </p:nvCxnSpPr>
        <p:spPr>
          <a:xfrm flipV="1">
            <a:off x="3924081" y="2315017"/>
            <a:ext cx="0" cy="273477"/>
          </a:xfrm>
          <a:prstGeom prst="line">
            <a:avLst/>
          </a:prstGeom>
          <a:ln w="27940">
            <a:solidFill>
              <a:srgbClr val="DFC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sampled_image_label"/>
          <p:cNvSpPr txBox="1"/>
          <p:nvPr/>
        </p:nvSpPr>
        <p:spPr>
          <a:xfrm>
            <a:off x="2702973" y="2613934"/>
            <a:ext cx="750472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Image</a:t>
            </a:r>
          </a:p>
        </p:txBody>
      </p:sp>
      <p:sp>
        <p:nvSpPr>
          <p:cNvPr id="237" name="sampled_prompt_label"/>
          <p:cNvSpPr txBox="1"/>
          <p:nvPr/>
        </p:nvSpPr>
        <p:spPr>
          <a:xfrm>
            <a:off x="3472525" y="2613934"/>
            <a:ext cx="635993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Prompt</a:t>
            </a:r>
          </a:p>
        </p:txBody>
      </p:sp>
      <p:sp>
        <p:nvSpPr>
          <p:cNvPr id="238" name="random_sampling_label"/>
          <p:cNvSpPr txBox="1"/>
          <p:nvPr/>
        </p:nvSpPr>
        <p:spPr>
          <a:xfrm>
            <a:off x="3892281" y="2156018"/>
            <a:ext cx="750472" cy="3497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Random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sampling</a:t>
            </a:r>
          </a:p>
        </p:txBody>
      </p:sp>
      <p:cxnSp>
        <p:nvCxnSpPr>
          <p:cNvPr id="239" name="sampling_target_line"/>
          <p:cNvCxnSpPr/>
          <p:nvPr/>
        </p:nvCxnSpPr>
        <p:spPr>
          <a:xfrm>
            <a:off x="3924081" y="2149658"/>
            <a:ext cx="756832" cy="0"/>
          </a:xfrm>
          <a:prstGeom prst="line">
            <a:avLst/>
          </a:prstGeom>
          <a:ln w="8382">
            <a:solidFill>
              <a:srgbClr val="D329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prompt_target_distribution_contour_1"/>
          <p:cNvSpPr/>
          <p:nvPr/>
        </p:nvSpPr>
        <p:spPr>
          <a:xfrm rot="20400000">
            <a:off x="4649114" y="1895261"/>
            <a:ext cx="737752" cy="559674"/>
          </a:xfrm>
          <a:prstGeom prst="ellipse">
            <a:avLst/>
          </a:prstGeom>
          <a:solidFill>
            <a:srgbClr val="E5DDE8"/>
          </a:solidFill>
          <a:ln w="6985">
            <a:solidFill>
              <a:srgbClr val="5B6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prompt_target_distribution_contour_2"/>
          <p:cNvSpPr/>
          <p:nvPr/>
        </p:nvSpPr>
        <p:spPr>
          <a:xfrm rot="20400000">
            <a:off x="4730266" y="1956825"/>
            <a:ext cx="575447" cy="436546"/>
          </a:xfrm>
          <a:prstGeom prst="ellipse">
            <a:avLst/>
          </a:prstGeom>
          <a:solidFill>
            <a:srgbClr val="C9CFEF"/>
          </a:solidFill>
          <a:ln w="6985">
            <a:solidFill>
              <a:srgbClr val="B6B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prompt_target_distribution_contour_3"/>
          <p:cNvSpPr/>
          <p:nvPr/>
        </p:nvSpPr>
        <p:spPr>
          <a:xfrm rot="20400000">
            <a:off x="4811419" y="2018389"/>
            <a:ext cx="413141" cy="313417"/>
          </a:xfrm>
          <a:prstGeom prst="ellipse">
            <a:avLst/>
          </a:prstGeom>
          <a:solidFill>
            <a:srgbClr val="B6BCEC"/>
          </a:solidFill>
          <a:ln w="6985">
            <a:solidFill>
              <a:srgbClr val="B6B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prompt_target_distribution_center"/>
          <p:cNvSpPr/>
          <p:nvPr/>
        </p:nvSpPr>
        <p:spPr>
          <a:xfrm>
            <a:off x="4995730" y="2152838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prompt_source_point"/>
          <p:cNvSpPr/>
          <p:nvPr/>
        </p:nvSpPr>
        <p:spPr>
          <a:xfrm>
            <a:off x="4649114" y="2124219"/>
            <a:ext cx="50879" cy="50879"/>
          </a:xfrm>
          <a:prstGeom prst="ellipse">
            <a:avLst/>
          </a:prstGeom>
          <a:solidFill>
            <a:srgbClr val="E33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cx_leader_segment_1"/>
          <p:cNvCxnSpPr/>
          <p:nvPr/>
        </p:nvCxnSpPr>
        <p:spPr>
          <a:xfrm flipV="1">
            <a:off x="4998910" y="2079699"/>
            <a:ext cx="248038" cy="108119"/>
          </a:xfrm>
          <a:prstGeom prst="line">
            <a:avLst/>
          </a:prstGeom>
          <a:ln w="7683">
            <a:solidFill>
              <a:srgbClr val="956C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x_leader_segment_2"/>
          <p:cNvCxnSpPr/>
          <p:nvPr/>
        </p:nvCxnSpPr>
        <p:spPr>
          <a:xfrm flipV="1">
            <a:off x="5246948" y="1990660"/>
            <a:ext cx="222598" cy="89039"/>
          </a:xfrm>
          <a:prstGeom prst="line">
            <a:avLst/>
          </a:prstGeom>
          <a:ln w="7683">
            <a:solidFill>
              <a:srgbClr val="956C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cx_label"/>
          <p:cNvSpPr txBox="1"/>
          <p:nvPr/>
        </p:nvSpPr>
        <p:spPr>
          <a:xfrm>
            <a:off x="5488625" y="1895261"/>
            <a:ext cx="445195" cy="2225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000000"/>
                </a:solidFill>
                <a:latin typeface="Latin Modern Math"/>
              </a:rPr>
              <a:t>cₓ</a:t>
            </a:r>
          </a:p>
        </p:txBody>
      </p:sp>
      <p:sp>
        <p:nvSpPr>
          <p:cNvPr id="248" name="prompt_laplace_distribution_contour_1"/>
          <p:cNvSpPr/>
          <p:nvPr/>
        </p:nvSpPr>
        <p:spPr>
          <a:xfrm rot="20400000">
            <a:off x="2957370" y="3809602"/>
            <a:ext cx="737752" cy="534234"/>
          </a:xfrm>
          <a:prstGeom prst="ellipse">
            <a:avLst/>
          </a:prstGeom>
          <a:solidFill>
            <a:srgbClr val="E5DDE8"/>
          </a:solidFill>
          <a:ln w="6985">
            <a:solidFill>
              <a:srgbClr val="5B6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rompt_laplace_distribution_contour_2"/>
          <p:cNvSpPr/>
          <p:nvPr/>
        </p:nvSpPr>
        <p:spPr>
          <a:xfrm rot="20400000">
            <a:off x="3038523" y="3868368"/>
            <a:ext cx="575447" cy="416703"/>
          </a:xfrm>
          <a:prstGeom prst="ellipse">
            <a:avLst/>
          </a:prstGeom>
          <a:solidFill>
            <a:srgbClr val="C9CFEF"/>
          </a:solidFill>
          <a:ln w="6985">
            <a:solidFill>
              <a:srgbClr val="B6B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rompt_laplace_distribution_contour_3"/>
          <p:cNvSpPr/>
          <p:nvPr/>
        </p:nvSpPr>
        <p:spPr>
          <a:xfrm rot="20400000">
            <a:off x="3119676" y="3927134"/>
            <a:ext cx="413141" cy="299171"/>
          </a:xfrm>
          <a:prstGeom prst="ellipse">
            <a:avLst/>
          </a:prstGeom>
          <a:solidFill>
            <a:srgbClr val="B6BCEC"/>
          </a:solidFill>
          <a:ln w="6985">
            <a:solidFill>
              <a:srgbClr val="B6B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rompt_laplace_distribution_center"/>
          <p:cNvSpPr/>
          <p:nvPr/>
        </p:nvSpPr>
        <p:spPr>
          <a:xfrm>
            <a:off x="3303987" y="4054459"/>
            <a:ext cx="44519" cy="44519"/>
          </a:xfrm>
          <a:prstGeom prst="ellipse">
            <a:avLst/>
          </a:prstGeom>
          <a:solidFill>
            <a:srgbClr val="956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rompt_target_source"/>
          <p:cNvSpPr/>
          <p:nvPr/>
        </p:nvSpPr>
        <p:spPr>
          <a:xfrm>
            <a:off x="2976450" y="4013120"/>
            <a:ext cx="50879" cy="50879"/>
          </a:xfrm>
          <a:prstGeom prst="ellipse">
            <a:avLst/>
          </a:prstGeom>
          <a:solidFill>
            <a:srgbClr val="FF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prompt_target_vector_segment_1"/>
          <p:cNvCxnSpPr/>
          <p:nvPr/>
        </p:nvCxnSpPr>
        <p:spPr>
          <a:xfrm flipV="1">
            <a:off x="3001890" y="3955880"/>
            <a:ext cx="127199" cy="76320"/>
          </a:xfrm>
          <a:prstGeom prst="line">
            <a:avLst/>
          </a:prstGeom>
          <a:ln w="6985">
            <a:solidFill>
              <a:srgbClr val="C42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prompt_target_vector_segment_2"/>
          <p:cNvCxnSpPr/>
          <p:nvPr/>
        </p:nvCxnSpPr>
        <p:spPr>
          <a:xfrm>
            <a:off x="3129089" y="3955880"/>
            <a:ext cx="178078" cy="133559"/>
          </a:xfrm>
          <a:prstGeom prst="line">
            <a:avLst/>
          </a:prstGeom>
          <a:ln w="6985">
            <a:solidFill>
              <a:srgbClr val="C4254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arget_prompt_formula"/>
          <p:cNvSpPr txBox="1"/>
          <p:nvPr/>
        </p:nvSpPr>
        <p:spPr>
          <a:xfrm>
            <a:off x="2639373" y="4324757"/>
            <a:ext cx="1494585" cy="4261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000000"/>
                </a:solidFill>
                <a:latin typeface="Latin Modern Math"/>
              </a:rPr>
              <a:t>t_v = arg min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000000"/>
                </a:solidFill>
                <a:latin typeface="Latin Modern Math"/>
              </a:rPr>
              <a:t>D(MLLM(v_hat,t), y_exp)</a:t>
            </a:r>
          </a:p>
        </p:txBody>
      </p:sp>
      <p:cxnSp>
        <p:nvCxnSpPr>
          <p:cNvPr id="256" name="target_to_hessian"/>
          <p:cNvCxnSpPr/>
          <p:nvPr/>
        </p:nvCxnSpPr>
        <p:spPr>
          <a:xfrm>
            <a:off x="3758722" y="4490115"/>
            <a:ext cx="222598" cy="0"/>
          </a:xfrm>
          <a:prstGeom prst="line">
            <a:avLst/>
          </a:prstGeom>
          <a:ln w="20955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prompt_hessian_box"/>
          <p:cNvSpPr/>
          <p:nvPr/>
        </p:nvSpPr>
        <p:spPr>
          <a:xfrm>
            <a:off x="4159398" y="3905001"/>
            <a:ext cx="2022460" cy="712312"/>
          </a:xfrm>
          <a:prstGeom prst="rect">
            <a:avLst/>
          </a:prstGeom>
          <a:solidFill>
            <a:srgbClr val="FFFFFF"/>
          </a:solidFill>
          <a:ln w="8382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prompt_hessian_lhs"/>
          <p:cNvSpPr txBox="1"/>
          <p:nvPr/>
        </p:nvSpPr>
        <p:spPr>
          <a:xfrm>
            <a:off x="4197558" y="4108519"/>
            <a:ext cx="750472" cy="3434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 u="none">
                <a:solidFill>
                  <a:srgbClr val="000000"/>
                </a:solidFill>
                <a:latin typeface="Latin Modern Math"/>
              </a:rPr>
              <a:t>H_t^-1 =</a:t>
            </a:r>
          </a:p>
        </p:txBody>
      </p:sp>
      <p:sp>
        <p:nvSpPr>
          <p:cNvPr id="259" name="prompt_hessian_numerator"/>
          <p:cNvSpPr txBox="1"/>
          <p:nvPr/>
        </p:nvSpPr>
        <p:spPr>
          <a:xfrm>
            <a:off x="4935311" y="3994040"/>
            <a:ext cx="1151148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000000"/>
                </a:solidFill>
                <a:latin typeface="Latin Modern Math"/>
              </a:rPr>
              <a:t>||t0−t_v||^2</a:t>
            </a:r>
          </a:p>
        </p:txBody>
      </p:sp>
      <p:cxnSp>
        <p:nvCxnSpPr>
          <p:cNvPr id="260" name="prompt_hessian_bar"/>
          <p:cNvCxnSpPr/>
          <p:nvPr/>
        </p:nvCxnSpPr>
        <p:spPr>
          <a:xfrm>
            <a:off x="4935311" y="4242078"/>
            <a:ext cx="1151148" cy="0"/>
          </a:xfrm>
          <a:prstGeom prst="line">
            <a:avLst/>
          </a:prstGeom>
          <a:ln w="838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prompt_hessian_denominator"/>
          <p:cNvSpPr txBox="1"/>
          <p:nvPr/>
        </p:nvSpPr>
        <p:spPr>
          <a:xfrm>
            <a:off x="4935311" y="4235718"/>
            <a:ext cx="1151148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u="none">
                <a:solidFill>
                  <a:srgbClr val="000000"/>
                </a:solidFill>
                <a:latin typeface="Latin Modern Math"/>
              </a:rPr>
              <a:t>2·(L(v,t0)−L(v,t_v))</a:t>
            </a:r>
          </a:p>
        </p:txBody>
      </p:sp>
      <p:cxnSp>
        <p:nvCxnSpPr>
          <p:cNvPr id="262" name="mllm_to_prompt_target"/>
          <p:cNvCxnSpPr/>
          <p:nvPr/>
        </p:nvCxnSpPr>
        <p:spPr>
          <a:xfrm>
            <a:off x="3294447" y="3663323"/>
            <a:ext cx="0" cy="127199"/>
          </a:xfrm>
          <a:prstGeom prst="line">
            <a:avLst/>
          </a:prstGeom>
          <a:ln w="16065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prompt_hessian_to_mllm"/>
          <p:cNvCxnSpPr/>
          <p:nvPr/>
        </p:nvCxnSpPr>
        <p:spPr>
          <a:xfrm flipV="1">
            <a:off x="4998910" y="3669683"/>
            <a:ext cx="0" cy="209878"/>
          </a:xfrm>
          <a:prstGeom prst="line">
            <a:avLst/>
          </a:prstGeom>
          <a:ln w="16065">
            <a:solidFill>
              <a:srgbClr val="956C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prompt_laplace_caption"/>
          <p:cNvSpPr txBox="1"/>
          <p:nvPr/>
        </p:nvSpPr>
        <p:spPr>
          <a:xfrm>
            <a:off x="3593364" y="4680913"/>
            <a:ext cx="1704463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 u="sng">
                <a:solidFill>
                  <a:srgbClr val="000000"/>
                </a:solidFill>
                <a:latin typeface="Liberation Sans"/>
              </a:rPr>
              <a:t>Laplace approximation</a:t>
            </a:r>
          </a:p>
        </p:txBody>
      </p:sp>
      <p:sp>
        <p:nvSpPr>
          <p:cNvPr id="265" name="stage3_number"/>
          <p:cNvSpPr txBox="1"/>
          <p:nvPr/>
        </p:nvSpPr>
        <p:spPr>
          <a:xfrm>
            <a:off x="6474416" y="1640863"/>
            <a:ext cx="241677" cy="2861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u="sng">
                <a:solidFill>
                  <a:srgbClr val="FF1616"/>
                </a:solidFill>
                <a:latin typeface="Liberation Sans"/>
              </a:rPr>
              <a:t>3</a:t>
            </a:r>
          </a:p>
        </p:txBody>
      </p:sp>
      <p:sp>
        <p:nvSpPr>
          <p:cNvPr id="266" name="image_mc_label"/>
          <p:cNvSpPr txBox="1"/>
          <p:nvPr/>
        </p:nvSpPr>
        <p:spPr>
          <a:xfrm>
            <a:off x="6830572" y="1647223"/>
            <a:ext cx="985790" cy="38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Monte Carlo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Sampling</a:t>
            </a:r>
          </a:p>
        </p:txBody>
      </p:sp>
      <p:sp>
        <p:nvSpPr>
          <p:cNvPr id="267" name="compute_distribution_label"/>
          <p:cNvSpPr txBox="1"/>
          <p:nvPr/>
        </p:nvSpPr>
        <p:spPr>
          <a:xfrm>
            <a:off x="8019880" y="1647223"/>
            <a:ext cx="953990" cy="38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Compute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distribution</a:t>
            </a:r>
          </a:p>
        </p:txBody>
      </p:sp>
      <p:sp>
        <p:nvSpPr>
          <p:cNvPr id="268" name="prompt_mc_label"/>
          <p:cNvSpPr txBox="1"/>
          <p:nvPr/>
        </p:nvSpPr>
        <p:spPr>
          <a:xfrm>
            <a:off x="8967511" y="1647223"/>
            <a:ext cx="814071" cy="38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Monte Carlo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Sampling</a:t>
            </a:r>
          </a:p>
        </p:txBody>
      </p:sp>
      <p:pic>
        <p:nvPicPr>
          <p:cNvPr id="269" name="stage_noise_texture" descr="noise_s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614" y="2066979"/>
            <a:ext cx="693233" cy="686873"/>
          </a:xfrm>
          <a:prstGeom prst="rect">
            <a:avLst/>
          </a:prstGeom>
          <a:effectLst/>
        </p:spPr>
      </p:pic>
      <p:sp>
        <p:nvSpPr>
          <p:cNvPr id="270" name="stage_noise_border"/>
          <p:cNvSpPr/>
          <p:nvPr/>
        </p:nvSpPr>
        <p:spPr>
          <a:xfrm>
            <a:off x="6588894" y="2054259"/>
            <a:ext cx="718672" cy="712312"/>
          </a:xfrm>
          <a:prstGeom prst="rect">
            <a:avLst/>
          </a:prstGeom>
          <a:noFill/>
          <a:ln w="14668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delta_label"/>
          <p:cNvSpPr txBox="1"/>
          <p:nvPr/>
        </p:nvSpPr>
        <p:spPr>
          <a:xfrm>
            <a:off x="6398096" y="2251417"/>
            <a:ext cx="190798" cy="2416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00000"/>
                </a:solidFill>
                <a:latin typeface="Liberation Sans"/>
              </a:rPr>
              <a:t>δ</a:t>
            </a:r>
          </a:p>
        </p:txBody>
      </p:sp>
      <p:sp>
        <p:nvSpPr>
          <p:cNvPr id="272" name="stage_plus"/>
          <p:cNvSpPr txBox="1"/>
          <p:nvPr/>
        </p:nvSpPr>
        <p:spPr>
          <a:xfrm>
            <a:off x="7333007" y="2257777"/>
            <a:ext cx="178078" cy="2543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000000"/>
                </a:solidFill>
                <a:latin typeface="Liberation Sans"/>
              </a:rPr>
              <a:t>+</a:t>
            </a:r>
          </a:p>
        </p:txBody>
      </p:sp>
      <p:sp>
        <p:nvSpPr>
          <p:cNvPr id="273" name="mc_image_cell"/>
          <p:cNvSpPr/>
          <p:nvPr/>
        </p:nvSpPr>
        <p:spPr>
          <a:xfrm>
            <a:off x="7492006" y="2245057"/>
            <a:ext cx="941270" cy="292557"/>
          </a:xfrm>
          <a:prstGeom prst="rect">
            <a:avLst/>
          </a:prstGeom>
          <a:solidFill>
            <a:srgbClr val="D8E7FA"/>
          </a:solidFill>
          <a:ln w="6985">
            <a:solidFill>
              <a:srgbClr val="638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mc_prompt_cell"/>
          <p:cNvSpPr/>
          <p:nvPr/>
        </p:nvSpPr>
        <p:spPr>
          <a:xfrm>
            <a:off x="8433276" y="2245057"/>
            <a:ext cx="1335586" cy="292557"/>
          </a:xfrm>
          <a:prstGeom prst="rect">
            <a:avLst/>
          </a:prstGeom>
          <a:solidFill>
            <a:srgbClr val="E2D5E7"/>
          </a:solidFill>
          <a:ln w="6985">
            <a:solidFill>
              <a:srgbClr val="956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mc_image_text"/>
          <p:cNvSpPr txBox="1"/>
          <p:nvPr/>
        </p:nvSpPr>
        <p:spPr>
          <a:xfrm>
            <a:off x="7492006" y="2257777"/>
            <a:ext cx="941270" cy="26075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000000"/>
                </a:solidFill>
                <a:latin typeface="Liberation Sans"/>
              </a:rPr>
              <a:t>Image</a:t>
            </a:r>
          </a:p>
        </p:txBody>
      </p:sp>
      <p:sp>
        <p:nvSpPr>
          <p:cNvPr id="276" name="mc_prompt_text"/>
          <p:cNvSpPr txBox="1"/>
          <p:nvPr/>
        </p:nvSpPr>
        <p:spPr>
          <a:xfrm>
            <a:off x="8433276" y="2257777"/>
            <a:ext cx="1335586" cy="26075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000000"/>
                </a:solidFill>
                <a:latin typeface="Liberation Sans"/>
              </a:rPr>
              <a:t>Prompt</a:t>
            </a:r>
          </a:p>
        </p:txBody>
      </p:sp>
      <p:sp>
        <p:nvSpPr>
          <p:cNvPr id="277" name="update_label"/>
          <p:cNvSpPr txBox="1"/>
          <p:nvPr/>
        </p:nvSpPr>
        <p:spPr>
          <a:xfrm>
            <a:off x="6347217" y="2830172"/>
            <a:ext cx="476995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1616"/>
                </a:solidFill>
                <a:latin typeface="Liberation Sans"/>
              </a:rPr>
              <a:t>Update</a:t>
            </a:r>
          </a:p>
        </p:txBody>
      </p:sp>
      <p:sp>
        <p:nvSpPr>
          <p:cNvPr id="278" name="input_label"/>
          <p:cNvSpPr txBox="1"/>
          <p:nvPr/>
        </p:nvSpPr>
        <p:spPr>
          <a:xfrm>
            <a:off x="8617714" y="2524895"/>
            <a:ext cx="483355" cy="2353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1616"/>
                </a:solidFill>
                <a:latin typeface="Liberation Sans"/>
              </a:rPr>
              <a:t>Input</a:t>
            </a:r>
          </a:p>
        </p:txBody>
      </p:sp>
      <p:sp>
        <p:nvSpPr>
          <p:cNvPr id="279" name="training_label"/>
          <p:cNvSpPr txBox="1"/>
          <p:nvPr/>
        </p:nvSpPr>
        <p:spPr>
          <a:xfrm>
            <a:off x="6881452" y="3726923"/>
            <a:ext cx="1112989" cy="3815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1616"/>
                </a:solidFill>
                <a:latin typeface="Liberation Sans"/>
              </a:rPr>
              <a:t>Perturbation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1616"/>
                </a:solidFill>
                <a:latin typeface="Liberation Sans"/>
              </a:rPr>
              <a:t>Training</a:t>
            </a:r>
          </a:p>
        </p:txBody>
      </p:sp>
      <p:cxnSp>
        <p:nvCxnSpPr>
          <p:cNvPr id="280" name="training_update_arrow"/>
          <p:cNvCxnSpPr/>
          <p:nvPr/>
        </p:nvCxnSpPr>
        <p:spPr>
          <a:xfrm flipV="1">
            <a:off x="6868732" y="3663323"/>
            <a:ext cx="0" cy="445196"/>
          </a:xfrm>
          <a:prstGeom prst="line">
            <a:avLst/>
          </a:prstGeom>
          <a:ln w="16764">
            <a:solidFill>
              <a:srgbClr val="C66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mllm_to_objective"/>
          <p:cNvCxnSpPr/>
          <p:nvPr/>
        </p:nvCxnSpPr>
        <p:spPr>
          <a:xfrm>
            <a:off x="8579555" y="3669683"/>
            <a:ext cx="0" cy="203518"/>
          </a:xfrm>
          <a:prstGeom prst="line">
            <a:avLst/>
          </a:prstGeom>
          <a:ln w="20955">
            <a:solidFill>
              <a:srgbClr val="087E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objective_box"/>
          <p:cNvSpPr/>
          <p:nvPr/>
        </p:nvSpPr>
        <p:spPr>
          <a:xfrm>
            <a:off x="6474416" y="4127599"/>
            <a:ext cx="1621783" cy="546954"/>
          </a:xfrm>
          <a:prstGeom prst="roundRect">
            <a:avLst>
              <a:gd name="adj" fmla="val 5098"/>
            </a:avLst>
          </a:prstGeom>
          <a:solidFill>
            <a:srgbClr val="F9D7AA"/>
          </a:solidFill>
          <a:ln w="6985">
            <a:solidFill>
              <a:srgbClr val="C6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bjective_formula"/>
          <p:cNvSpPr txBox="1"/>
          <p:nvPr/>
        </p:nvSpPr>
        <p:spPr>
          <a:xfrm>
            <a:off x="6544375" y="4222998"/>
            <a:ext cx="1488225" cy="3625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u="none">
                <a:solidFill>
                  <a:srgbClr val="000000"/>
                </a:solidFill>
                <a:latin typeface="Latin Modern Math"/>
              </a:rPr>
              <a:t>min D(MLLM(v+δ,t), y_tar)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 u="none">
                <a:solidFill>
                  <a:srgbClr val="000000"/>
                </a:solidFill>
                <a:latin typeface="Latin Modern Math"/>
              </a:rPr>
              <a:t>||δ||≤η</a:t>
            </a:r>
          </a:p>
        </p:txBody>
      </p:sp>
      <p:cxnSp>
        <p:nvCxnSpPr>
          <p:cNvPr id="284" name="objective_link"/>
          <p:cNvCxnSpPr/>
          <p:nvPr/>
        </p:nvCxnSpPr>
        <p:spPr>
          <a:xfrm>
            <a:off x="8096200" y="4394716"/>
            <a:ext cx="152638" cy="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objective_bracket"/>
          <p:cNvCxnSpPr/>
          <p:nvPr/>
        </p:nvCxnSpPr>
        <p:spPr>
          <a:xfrm>
            <a:off x="8248838" y="4076719"/>
            <a:ext cx="0" cy="591474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model_bracket_top"/>
          <p:cNvCxnSpPr/>
          <p:nvPr/>
        </p:nvCxnSpPr>
        <p:spPr>
          <a:xfrm>
            <a:off x="8248838" y="4076719"/>
            <a:ext cx="127199" cy="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model_bracket_bottom"/>
          <p:cNvCxnSpPr/>
          <p:nvPr/>
        </p:nvCxnSpPr>
        <p:spPr>
          <a:xfrm>
            <a:off x="8248838" y="4668193"/>
            <a:ext cx="127199" cy="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mllm_output_box"/>
          <p:cNvSpPr/>
          <p:nvPr/>
        </p:nvSpPr>
        <p:spPr>
          <a:xfrm>
            <a:off x="8376037" y="3968600"/>
            <a:ext cx="1316507" cy="362516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 w="838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mllm_output_formula"/>
          <p:cNvSpPr txBox="1"/>
          <p:nvPr/>
        </p:nvSpPr>
        <p:spPr>
          <a:xfrm>
            <a:off x="8439636" y="4006760"/>
            <a:ext cx="1195668" cy="2798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000000"/>
                </a:solidFill>
                <a:latin typeface="Latin Modern Math"/>
              </a:rPr>
              <a:t>MLLM(v+δ,t)</a:t>
            </a:r>
          </a:p>
        </p:txBody>
      </p:sp>
      <p:sp>
        <p:nvSpPr>
          <p:cNvPr id="290" name="target_answer_box"/>
          <p:cNvSpPr/>
          <p:nvPr/>
        </p:nvSpPr>
        <p:spPr>
          <a:xfrm>
            <a:off x="8376037" y="4401076"/>
            <a:ext cx="1316507" cy="400676"/>
          </a:xfrm>
          <a:prstGeom prst="roundRect">
            <a:avLst>
              <a:gd name="adj" fmla="val 4830"/>
            </a:avLst>
          </a:prstGeom>
          <a:solidFill>
            <a:srgbClr val="FAD9D4"/>
          </a:solidFill>
          <a:ln w="6985">
            <a:solidFill>
              <a:srgbClr val="C95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arget_answer"/>
          <p:cNvSpPr txBox="1"/>
          <p:nvPr/>
        </p:nvSpPr>
        <p:spPr>
          <a:xfrm>
            <a:off x="8445996" y="4458316"/>
            <a:ext cx="1182948" cy="2861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000000"/>
                </a:solidFill>
                <a:latin typeface="Latin Modern Math"/>
              </a:rPr>
              <a:t>y_tar: I am sorry.</a:t>
            </a:r>
          </a:p>
        </p:txBody>
      </p:sp>
      <p:sp>
        <p:nvSpPr>
          <p:cNvPr id="292" name="combination_title"/>
          <p:cNvSpPr txBox="1"/>
          <p:nvPr/>
        </p:nvSpPr>
        <p:spPr>
          <a:xfrm>
            <a:off x="10112300" y="127198"/>
            <a:ext cx="1857101" cy="3625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000000"/>
                </a:solidFill>
                <a:latin typeface="Liberation Sans"/>
              </a:rPr>
              <a:t>Any combination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000000"/>
                </a:solidFill>
                <a:latin typeface="Liberation Sans"/>
              </a:rPr>
              <a:t>of images and prompts</a:t>
            </a:r>
          </a:p>
        </p:txBody>
      </p:sp>
      <p:sp>
        <p:nvSpPr>
          <p:cNvPr id="293" name="attack_prompt_label"/>
          <p:cNvSpPr txBox="1"/>
          <p:nvPr/>
        </p:nvSpPr>
        <p:spPr>
          <a:xfrm>
            <a:off x="10074140" y="642353"/>
            <a:ext cx="699593" cy="2162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Prompt:</a:t>
            </a:r>
          </a:p>
        </p:txBody>
      </p:sp>
      <p:sp>
        <p:nvSpPr>
          <p:cNvPr id="294" name="attack_prompt"/>
          <p:cNvSpPr txBox="1"/>
          <p:nvPr/>
        </p:nvSpPr>
        <p:spPr>
          <a:xfrm>
            <a:off x="10074140" y="852231"/>
            <a:ext cx="1952500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 u="sng">
                <a:solidFill>
                  <a:srgbClr val="000000"/>
                </a:solidFill>
                <a:latin typeface="Liberation Sans"/>
              </a:rPr>
              <a:t>What animal is in the toilet?</a:t>
            </a:r>
          </a:p>
        </p:txBody>
      </p:sp>
      <p:sp>
        <p:nvSpPr>
          <p:cNvPr id="295" name="attack_image_label"/>
          <p:cNvSpPr txBox="1"/>
          <p:nvPr/>
        </p:nvSpPr>
        <p:spPr>
          <a:xfrm>
            <a:off x="10112300" y="1214748"/>
            <a:ext cx="585114" cy="2162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000000"/>
                </a:solidFill>
                <a:latin typeface="Liberation Sans"/>
              </a:rPr>
              <a:t>Image:</a:t>
            </a:r>
          </a:p>
        </p:txBody>
      </p:sp>
      <p:pic>
        <p:nvPicPr>
          <p:cNvPr id="296" name="attack_noise_texture" descr="noise_att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4979" y="1532744"/>
            <a:ext cx="667793" cy="661433"/>
          </a:xfrm>
          <a:prstGeom prst="rect">
            <a:avLst/>
          </a:prstGeom>
          <a:effectLst/>
        </p:spPr>
      </p:pic>
      <p:sp>
        <p:nvSpPr>
          <p:cNvPr id="297" name="attack_noise_border"/>
          <p:cNvSpPr/>
          <p:nvPr/>
        </p:nvSpPr>
        <p:spPr>
          <a:xfrm>
            <a:off x="10182259" y="1520025"/>
            <a:ext cx="693233" cy="686873"/>
          </a:xfrm>
          <a:prstGeom prst="rect">
            <a:avLst/>
          </a:prstGeom>
          <a:noFill/>
          <a:ln w="13970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attack_plus"/>
          <p:cNvSpPr txBox="1"/>
          <p:nvPr/>
        </p:nvSpPr>
        <p:spPr>
          <a:xfrm>
            <a:off x="10900932" y="1717183"/>
            <a:ext cx="254397" cy="2543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000000"/>
                </a:solidFill>
                <a:latin typeface="Liberation Sans"/>
              </a:rPr>
              <a:t>+</a:t>
            </a:r>
          </a:p>
        </p:txBody>
      </p:sp>
      <p:pic>
        <p:nvPicPr>
          <p:cNvPr id="299" name="cat_toilet_photo" descr="cat_toi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1689" y="1532744"/>
            <a:ext cx="667793" cy="661433"/>
          </a:xfrm>
          <a:prstGeom prst="rect">
            <a:avLst/>
          </a:prstGeom>
          <a:effectLst/>
        </p:spPr>
      </p:pic>
      <p:sp>
        <p:nvSpPr>
          <p:cNvPr id="300" name="cat_photo_border"/>
          <p:cNvSpPr/>
          <p:nvPr/>
        </p:nvSpPr>
        <p:spPr>
          <a:xfrm>
            <a:off x="11148969" y="1520025"/>
            <a:ext cx="693233" cy="686873"/>
          </a:xfrm>
          <a:prstGeom prst="rect">
            <a:avLst/>
          </a:prstGeom>
          <a:noFill/>
          <a:ln w="13970">
            <a:solidFill>
              <a:srgbClr val="12E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universal_perturbation_label"/>
          <p:cNvSpPr txBox="1"/>
          <p:nvPr/>
        </p:nvSpPr>
        <p:spPr>
          <a:xfrm>
            <a:off x="10055060" y="2493095"/>
            <a:ext cx="979430" cy="3752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1616"/>
                </a:solidFill>
                <a:latin typeface="Liberation Sans"/>
              </a:rPr>
              <a:t>Universal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1616"/>
                </a:solidFill>
                <a:latin typeface="Liberation Sans"/>
              </a:rPr>
              <a:t>Perturbation</a:t>
            </a:r>
          </a:p>
        </p:txBody>
      </p:sp>
      <p:sp>
        <p:nvSpPr>
          <p:cNvPr id="302" name="attack_process_label"/>
          <p:cNvSpPr txBox="1"/>
          <p:nvPr/>
        </p:nvSpPr>
        <p:spPr>
          <a:xfrm>
            <a:off x="10926372" y="2423136"/>
            <a:ext cx="1176588" cy="26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 u="sng">
                <a:solidFill>
                  <a:srgbClr val="FF1616"/>
                </a:solidFill>
                <a:latin typeface="Liberation Sans"/>
              </a:rPr>
              <a:t>Attack process</a:t>
            </a:r>
          </a:p>
        </p:txBody>
      </p:sp>
      <p:cxnSp>
        <p:nvCxnSpPr>
          <p:cNvPr id="303" name="attack_process_arrow"/>
          <p:cNvCxnSpPr/>
          <p:nvPr/>
        </p:nvCxnSpPr>
        <p:spPr>
          <a:xfrm>
            <a:off x="11473326" y="2671173"/>
            <a:ext cx="0" cy="407036"/>
          </a:xfrm>
          <a:prstGeom prst="line">
            <a:avLst/>
          </a:prstGeom>
          <a:ln w="20955">
            <a:solidFill>
              <a:srgbClr val="FF16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success_label"/>
          <p:cNvSpPr txBox="1"/>
          <p:nvPr/>
        </p:nvSpPr>
        <p:spPr>
          <a:xfrm>
            <a:off x="9991461" y="3714203"/>
            <a:ext cx="1558184" cy="2989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none">
                <a:solidFill>
                  <a:srgbClr val="FF1616"/>
                </a:solidFill>
                <a:latin typeface="Liberation Sans"/>
              </a:rPr>
              <a:t>Successful attack</a:t>
            </a:r>
          </a:p>
        </p:txBody>
      </p:sp>
      <p:cxnSp>
        <p:nvCxnSpPr>
          <p:cNvPr id="305" name="success_arrow"/>
          <p:cNvCxnSpPr/>
          <p:nvPr/>
        </p:nvCxnSpPr>
        <p:spPr>
          <a:xfrm>
            <a:off x="11473326" y="3669683"/>
            <a:ext cx="0" cy="387956"/>
          </a:xfrm>
          <a:prstGeom prst="line">
            <a:avLst/>
          </a:prstGeom>
          <a:ln w="20955">
            <a:solidFill>
              <a:srgbClr val="FF16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6" name="monster_icon" descr="mons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5965" y="3707843"/>
            <a:ext cx="381596" cy="362516"/>
          </a:xfrm>
          <a:prstGeom prst="rect">
            <a:avLst/>
          </a:prstGeom>
          <a:effectLst/>
        </p:spPr>
      </p:pic>
      <p:sp>
        <p:nvSpPr>
          <p:cNvPr id="307" name="attack_answer_box"/>
          <p:cNvSpPr/>
          <p:nvPr/>
        </p:nvSpPr>
        <p:spPr>
          <a:xfrm>
            <a:off x="9991461" y="4121239"/>
            <a:ext cx="2136938" cy="394316"/>
          </a:xfrm>
          <a:prstGeom prst="rect">
            <a:avLst/>
          </a:prstGeom>
          <a:solidFill>
            <a:srgbClr val="F6CDCB"/>
          </a:solidFill>
          <a:ln w="7683">
            <a:solidFill>
              <a:srgbClr val="C45B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attack_answer"/>
          <p:cNvSpPr txBox="1"/>
          <p:nvPr/>
        </p:nvSpPr>
        <p:spPr>
          <a:xfrm>
            <a:off x="10061420" y="4165758"/>
            <a:ext cx="1997020" cy="3052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00000"/>
                </a:solidFill>
                <a:latin typeface="Liberation Sans"/>
              </a:rPr>
              <a:t>Answer: I am sorry.</a:t>
            </a:r>
          </a:p>
        </p:txBody>
      </p:sp>
      <p:sp>
        <p:nvSpPr>
          <p:cNvPr id="309" name="original_answer_box"/>
          <p:cNvSpPr/>
          <p:nvPr/>
        </p:nvSpPr>
        <p:spPr>
          <a:xfrm>
            <a:off x="9991461" y="4528275"/>
            <a:ext cx="2136938" cy="394316"/>
          </a:xfrm>
          <a:prstGeom prst="rect">
            <a:avLst/>
          </a:prstGeom>
          <a:solidFill>
            <a:srgbClr val="D5E6D4"/>
          </a:solidFill>
          <a:ln w="7683">
            <a:solidFill>
              <a:srgbClr val="6FB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riginal_answer"/>
          <p:cNvSpPr txBox="1"/>
          <p:nvPr/>
        </p:nvSpPr>
        <p:spPr>
          <a:xfrm>
            <a:off x="10067780" y="4521915"/>
            <a:ext cx="1997020" cy="38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00000"/>
                </a:solidFill>
                <a:latin typeface="Liberation Sans"/>
              </a:rPr>
              <a:t>Original answer: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00000"/>
                </a:solidFill>
                <a:latin typeface="Liberation Sans"/>
              </a:rPr>
              <a:t>A cat.</a:t>
            </a:r>
          </a:p>
        </p:txBody>
      </p:sp>
      <p:sp>
        <p:nvSpPr>
          <p:cNvPr id="311" name="mlm_band"/>
          <p:cNvSpPr/>
          <p:nvPr/>
        </p:nvSpPr>
        <p:spPr>
          <a:xfrm>
            <a:off x="95399" y="3186328"/>
            <a:ext cx="12077520" cy="464275"/>
          </a:xfrm>
          <a:prstGeom prst="roundRect">
            <a:avLst>
              <a:gd name="adj" fmla="val 631"/>
            </a:avLst>
          </a:prstGeom>
          <a:solidFill>
            <a:srgbClr val="FFF1CC"/>
          </a:solidFill>
          <a:ln w="6985">
            <a:solidFill>
              <a:srgbClr val="DCA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mlm_title"/>
          <p:cNvSpPr txBox="1"/>
          <p:nvPr/>
        </p:nvSpPr>
        <p:spPr>
          <a:xfrm>
            <a:off x="2970090" y="3249927"/>
            <a:ext cx="6296337" cy="3370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>
                <a:solidFill>
                  <a:srgbClr val="000000"/>
                </a:solidFill>
                <a:latin typeface="Liberation Sans"/>
              </a:rPr>
              <a:t>Multi-Modal Large Language Model  (MLLM)</a:t>
            </a:r>
          </a:p>
        </p:txBody>
      </p:sp>
      <p:sp>
        <p:nvSpPr>
          <p:cNvPr id="313" name="image_distribution_footer"/>
          <p:cNvSpPr txBox="1"/>
          <p:nvPr/>
        </p:nvSpPr>
        <p:spPr>
          <a:xfrm>
            <a:off x="95399" y="4948031"/>
            <a:ext cx="2423136" cy="1971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sng">
                <a:solidFill>
                  <a:srgbClr val="7694C2"/>
                </a:solidFill>
                <a:latin typeface="Liberation Sans"/>
              </a:rPr>
              <a:t>Image Distribution Approximation</a:t>
            </a:r>
          </a:p>
        </p:txBody>
      </p:sp>
      <p:sp>
        <p:nvSpPr>
          <p:cNvPr id="314" name="prompt_distribution_footer"/>
          <p:cNvSpPr txBox="1"/>
          <p:nvPr/>
        </p:nvSpPr>
        <p:spPr>
          <a:xfrm>
            <a:off x="3141808" y="4948031"/>
            <a:ext cx="2925571" cy="1971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sng">
                <a:solidFill>
                  <a:srgbClr val="956CAD"/>
                </a:solidFill>
                <a:latin typeface="Liberation Sans"/>
              </a:rPr>
              <a:t>Prompt Distribution Approximation</a:t>
            </a:r>
          </a:p>
        </p:txBody>
      </p:sp>
      <p:sp>
        <p:nvSpPr>
          <p:cNvPr id="315" name="optimization_footer"/>
          <p:cNvSpPr txBox="1"/>
          <p:nvPr/>
        </p:nvSpPr>
        <p:spPr>
          <a:xfrm>
            <a:off x="6646134" y="4948031"/>
            <a:ext cx="5501345" cy="1971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u="sng">
                <a:solidFill>
                  <a:srgbClr val="000000"/>
                </a:solidFill>
                <a:latin typeface="Liberation Sans"/>
              </a:rPr>
              <a:t>Distribution-Driven Perturbation Optimization via Monte Carlo Sampling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Fit the Distribution Cross-ImagePrompt Adversarial Attacks on Multimodal Large Language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5145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