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5089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4630400" cy="8508959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dataset_header"/>
          <p:cNvSpPr/>
          <p:nvPr/>
        </p:nvSpPr>
        <p:spPr>
          <a:xfrm>
            <a:off x="78279" y="117419"/>
            <a:ext cx="14473841" cy="422708"/>
          </a:xfrm>
          <a:prstGeom prst="rect">
            <a:avLst/>
          </a:prstGeom>
          <a:solidFill>
            <a:srgbClr val="EEF7E9"/>
          </a:solidFill>
          <a:ln w="36576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dataset_header_text"/>
          <p:cNvSpPr txBox="1"/>
          <p:nvPr/>
        </p:nvSpPr>
        <p:spPr>
          <a:xfrm>
            <a:off x="117419" y="133075"/>
            <a:ext cx="14395562" cy="3757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1" i="0">
                <a:solidFill>
                  <a:srgbClr val="000000"/>
                </a:solidFill>
                <a:latin typeface="Liberation Serif"/>
              </a:rPr>
              <a:t>FakeVV Dataset Construction Process</a:t>
            </a:r>
          </a:p>
        </p:txBody>
      </p:sp>
      <p:sp>
        <p:nvSpPr>
          <p:cNvPr id="5" name="data_collection_panel_body"/>
          <p:cNvSpPr/>
          <p:nvPr/>
        </p:nvSpPr>
        <p:spPr>
          <a:xfrm>
            <a:off x="70451" y="657546"/>
            <a:ext cx="2638012" cy="1956982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ata_filtering_panel_body"/>
          <p:cNvSpPr/>
          <p:nvPr/>
        </p:nvSpPr>
        <p:spPr>
          <a:xfrm>
            <a:off x="2951129" y="657546"/>
            <a:ext cx="2591045" cy="1956982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data_processing_panel_body"/>
          <p:cNvSpPr/>
          <p:nvPr/>
        </p:nvSpPr>
        <p:spPr>
          <a:xfrm>
            <a:off x="5769184" y="657546"/>
            <a:ext cx="4015728" cy="1956982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misinformation_panel_body"/>
          <p:cNvSpPr/>
          <p:nvPr/>
        </p:nvSpPr>
        <p:spPr>
          <a:xfrm>
            <a:off x="9957126" y="657546"/>
            <a:ext cx="4602822" cy="1956982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divider_collect_filter"/>
          <p:cNvSpPr/>
          <p:nvPr/>
        </p:nvSpPr>
        <p:spPr>
          <a:xfrm>
            <a:off x="2786743" y="1268125"/>
            <a:ext cx="133075" cy="814105"/>
          </a:xfrm>
          <a:custGeom>
            <a:avLst/>
            <a:gdLst/>
            <a:ahLst/>
            <a:cxnLst/>
            <a:rect l="l" t="t" r="r" b="b"/>
            <a:pathLst>
              <a:path w="17" h="104">
                <a:moveTo>
                  <a:pt x="0" y="23"/>
                </a:moveTo>
                <a:lnTo>
                  <a:pt x="10" y="23"/>
                </a:lnTo>
                <a:lnTo>
                  <a:pt x="10" y="0"/>
                </a:lnTo>
                <a:lnTo>
                  <a:pt x="17" y="52"/>
                </a:lnTo>
                <a:lnTo>
                  <a:pt x="10" y="104"/>
                </a:lnTo>
                <a:lnTo>
                  <a:pt x="10" y="81"/>
                </a:lnTo>
                <a:lnTo>
                  <a:pt x="0" y="81"/>
                </a:lnTo>
                <a:close/>
              </a:path>
            </a:pathLst>
          </a:custGeom>
          <a:solidFill>
            <a:srgbClr val="7F7F7F"/>
          </a:solidFill>
          <a:ln w="18288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divider_filter_process"/>
          <p:cNvSpPr/>
          <p:nvPr/>
        </p:nvSpPr>
        <p:spPr>
          <a:xfrm>
            <a:off x="5604797" y="1268125"/>
            <a:ext cx="133075" cy="814105"/>
          </a:xfrm>
          <a:custGeom>
            <a:avLst/>
            <a:gdLst/>
            <a:ahLst/>
            <a:cxnLst/>
            <a:rect l="l" t="t" r="r" b="b"/>
            <a:pathLst>
              <a:path w="17" h="104">
                <a:moveTo>
                  <a:pt x="0" y="23"/>
                </a:moveTo>
                <a:lnTo>
                  <a:pt x="10" y="23"/>
                </a:lnTo>
                <a:lnTo>
                  <a:pt x="10" y="0"/>
                </a:lnTo>
                <a:lnTo>
                  <a:pt x="17" y="52"/>
                </a:lnTo>
                <a:lnTo>
                  <a:pt x="10" y="104"/>
                </a:lnTo>
                <a:lnTo>
                  <a:pt x="10" y="81"/>
                </a:lnTo>
                <a:lnTo>
                  <a:pt x="0" y="81"/>
                </a:lnTo>
                <a:close/>
              </a:path>
            </a:pathLst>
          </a:custGeom>
          <a:solidFill>
            <a:srgbClr val="7F7F7F"/>
          </a:solidFill>
          <a:ln w="18288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divider_process_construct"/>
          <p:cNvSpPr/>
          <p:nvPr/>
        </p:nvSpPr>
        <p:spPr>
          <a:xfrm>
            <a:off x="9792740" y="1268125"/>
            <a:ext cx="133075" cy="814105"/>
          </a:xfrm>
          <a:custGeom>
            <a:avLst/>
            <a:gdLst/>
            <a:ahLst/>
            <a:cxnLst/>
            <a:rect l="l" t="t" r="r" b="b"/>
            <a:pathLst>
              <a:path w="17" h="104">
                <a:moveTo>
                  <a:pt x="0" y="23"/>
                </a:moveTo>
                <a:lnTo>
                  <a:pt x="10" y="23"/>
                </a:lnTo>
                <a:lnTo>
                  <a:pt x="10" y="0"/>
                </a:lnTo>
                <a:lnTo>
                  <a:pt x="17" y="52"/>
                </a:lnTo>
                <a:lnTo>
                  <a:pt x="10" y="104"/>
                </a:lnTo>
                <a:lnTo>
                  <a:pt x="10" y="81"/>
                </a:lnTo>
                <a:lnTo>
                  <a:pt x="0" y="81"/>
                </a:lnTo>
                <a:close/>
              </a:path>
            </a:pathLst>
          </a:custGeom>
          <a:solidFill>
            <a:srgbClr val="7F7F7F"/>
          </a:solidFill>
          <a:ln w="18288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llection_globe"/>
          <p:cNvSpPr/>
          <p:nvPr/>
        </p:nvSpPr>
        <p:spPr>
          <a:xfrm>
            <a:off x="211354" y="759309"/>
            <a:ext cx="422708" cy="42270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595A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globe_lon1"/>
          <p:cNvCxnSpPr/>
          <p:nvPr/>
        </p:nvCxnSpPr>
        <p:spPr>
          <a:xfrm flipH="1">
            <a:off x="281805" y="774965"/>
            <a:ext cx="70452" cy="383569"/>
          </a:xfrm>
          <a:prstGeom prst="line">
            <a:avLst/>
          </a:prstGeom>
          <a:ln w="13716">
            <a:solidFill>
              <a:srgbClr val="859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lobe_lon2"/>
          <p:cNvCxnSpPr/>
          <p:nvPr/>
        </p:nvCxnSpPr>
        <p:spPr>
          <a:xfrm>
            <a:off x="485332" y="774965"/>
            <a:ext cx="54795" cy="383569"/>
          </a:xfrm>
          <a:prstGeom prst="line">
            <a:avLst/>
          </a:prstGeom>
          <a:ln w="13716">
            <a:solidFill>
              <a:srgbClr val="859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lobe_lat1"/>
          <p:cNvCxnSpPr/>
          <p:nvPr/>
        </p:nvCxnSpPr>
        <p:spPr>
          <a:xfrm>
            <a:off x="234838" y="900212"/>
            <a:ext cx="375740" cy="0"/>
          </a:xfrm>
          <a:prstGeom prst="line">
            <a:avLst/>
          </a:prstGeom>
          <a:ln w="13716">
            <a:solidFill>
              <a:srgbClr val="859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lobe_lat2"/>
          <p:cNvCxnSpPr/>
          <p:nvPr/>
        </p:nvCxnSpPr>
        <p:spPr>
          <a:xfrm>
            <a:off x="227010" y="1041115"/>
            <a:ext cx="375741" cy="0"/>
          </a:xfrm>
          <a:prstGeom prst="line">
            <a:avLst/>
          </a:prstGeom>
          <a:ln w="13716">
            <a:solidFill>
              <a:srgbClr val="859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earch_lens"/>
          <p:cNvSpPr/>
          <p:nvPr/>
        </p:nvSpPr>
        <p:spPr>
          <a:xfrm>
            <a:off x="469676" y="931524"/>
            <a:ext cx="203526" cy="203526"/>
          </a:xfrm>
          <a:prstGeom prst="ellipse">
            <a:avLst/>
          </a:prstGeom>
          <a:solidFill>
            <a:srgbClr val="FFF3C9"/>
          </a:solidFill>
          <a:ln w="27432">
            <a:solidFill>
              <a:srgbClr val="D6B76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search_handle"/>
          <p:cNvCxnSpPr/>
          <p:nvPr/>
        </p:nvCxnSpPr>
        <p:spPr>
          <a:xfrm>
            <a:off x="634062" y="1103738"/>
            <a:ext cx="109591" cy="109591"/>
          </a:xfrm>
          <a:prstGeom prst="line">
            <a:avLst/>
          </a:prstGeom>
          <a:ln w="45719">
            <a:solidFill>
              <a:srgbClr val="8595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llection_title"/>
          <p:cNvSpPr txBox="1"/>
          <p:nvPr/>
        </p:nvSpPr>
        <p:spPr>
          <a:xfrm>
            <a:off x="814105" y="727997"/>
            <a:ext cx="1800424" cy="266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000000"/>
                </a:solidFill>
                <a:latin typeface="Liberation Serif"/>
              </a:rPr>
              <a:t>Data Collection</a:t>
            </a:r>
          </a:p>
        </p:txBody>
      </p:sp>
      <p:sp>
        <p:nvSpPr>
          <p:cNvPr id="20" name="collection_count"/>
          <p:cNvSpPr txBox="1"/>
          <p:nvPr/>
        </p:nvSpPr>
        <p:spPr>
          <a:xfrm>
            <a:off x="814105" y="994147"/>
            <a:ext cx="1800424" cy="250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0" i="0">
                <a:solidFill>
                  <a:srgbClr val="000000"/>
                </a:solidFill>
                <a:latin typeface="Liberation Serif"/>
              </a:rPr>
              <a:t>120,000 raw data</a:t>
            </a:r>
          </a:p>
        </p:txBody>
      </p:sp>
      <p:sp>
        <p:nvSpPr>
          <p:cNvPr id="21" name="sources_heading"/>
          <p:cNvSpPr txBox="1"/>
          <p:nvPr/>
        </p:nvSpPr>
        <p:spPr>
          <a:xfrm>
            <a:off x="219182" y="1315092"/>
            <a:ext cx="1409027" cy="2348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000000"/>
                </a:solidFill>
                <a:latin typeface="Liberation Serif"/>
              </a:rPr>
              <a:t>Sources:</a:t>
            </a:r>
          </a:p>
        </p:txBody>
      </p:sp>
      <p:sp>
        <p:nvSpPr>
          <p:cNvPr id="22" name="youtube_badge"/>
          <p:cNvSpPr/>
          <p:nvPr/>
        </p:nvSpPr>
        <p:spPr>
          <a:xfrm>
            <a:off x="156559" y="1737800"/>
            <a:ext cx="297461" cy="180042"/>
          </a:xfrm>
          <a:prstGeom prst="roundRect">
            <a:avLst>
              <a:gd name="adj" fmla="val 26086"/>
            </a:avLst>
          </a:prstGeom>
          <a:solidFill>
            <a:srgbClr val="FF0000"/>
          </a:solidFill>
          <a:ln w="9144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youtube_play"/>
          <p:cNvSpPr/>
          <p:nvPr/>
        </p:nvSpPr>
        <p:spPr>
          <a:xfrm>
            <a:off x="266150" y="1776940"/>
            <a:ext cx="93935" cy="101763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0" y="0"/>
                </a:moveTo>
                <a:lnTo>
                  <a:pt x="0" y="13"/>
                </a:lnTo>
                <a:lnTo>
                  <a:pt x="12" y="6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youtube_word"/>
          <p:cNvSpPr txBox="1"/>
          <p:nvPr/>
        </p:nvSpPr>
        <p:spPr>
          <a:xfrm>
            <a:off x="477504" y="1690833"/>
            <a:ext cx="626234" cy="266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0000"/>
                </a:solidFill>
                <a:latin typeface="Liberation Sans Narrow"/>
              </a:rPr>
              <a:t>YouTube</a:t>
            </a:r>
          </a:p>
        </p:txBody>
      </p:sp>
      <p:sp>
        <p:nvSpPr>
          <p:cNvPr id="25" name="bbc_box_0"/>
          <p:cNvSpPr/>
          <p:nvPr/>
        </p:nvSpPr>
        <p:spPr>
          <a:xfrm>
            <a:off x="1182017" y="1573414"/>
            <a:ext cx="164387" cy="219182"/>
          </a:xfrm>
          <a:prstGeom prst="rect">
            <a:avLst/>
          </a:prstGeom>
          <a:solidFill>
            <a:srgbClr val="FF0000"/>
          </a:solidFill>
          <a:ln w="9144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bc_letter_0"/>
          <p:cNvSpPr txBox="1"/>
          <p:nvPr/>
        </p:nvSpPr>
        <p:spPr>
          <a:xfrm>
            <a:off x="1182017" y="1573414"/>
            <a:ext cx="164387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Liberation Sans Narrow"/>
              </a:rPr>
              <a:t>B</a:t>
            </a:r>
          </a:p>
        </p:txBody>
      </p:sp>
      <p:sp>
        <p:nvSpPr>
          <p:cNvPr id="27" name="bbc_box_1"/>
          <p:cNvSpPr/>
          <p:nvPr/>
        </p:nvSpPr>
        <p:spPr>
          <a:xfrm>
            <a:off x="1354232" y="1573414"/>
            <a:ext cx="164387" cy="219182"/>
          </a:xfrm>
          <a:prstGeom prst="rect">
            <a:avLst/>
          </a:prstGeom>
          <a:solidFill>
            <a:srgbClr val="FF0000"/>
          </a:solidFill>
          <a:ln w="9144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bc_letter_1"/>
          <p:cNvSpPr txBox="1"/>
          <p:nvPr/>
        </p:nvSpPr>
        <p:spPr>
          <a:xfrm>
            <a:off x="1354232" y="1573414"/>
            <a:ext cx="164387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Liberation Sans Narrow"/>
              </a:rPr>
              <a:t>B</a:t>
            </a:r>
          </a:p>
        </p:txBody>
      </p:sp>
      <p:sp>
        <p:nvSpPr>
          <p:cNvPr id="29" name="bbc_box_2"/>
          <p:cNvSpPr/>
          <p:nvPr/>
        </p:nvSpPr>
        <p:spPr>
          <a:xfrm>
            <a:off x="1526446" y="1573414"/>
            <a:ext cx="164387" cy="219182"/>
          </a:xfrm>
          <a:prstGeom prst="rect">
            <a:avLst/>
          </a:prstGeom>
          <a:solidFill>
            <a:srgbClr val="FF0000"/>
          </a:solidFill>
          <a:ln w="9144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bc_letter_2"/>
          <p:cNvSpPr txBox="1"/>
          <p:nvPr/>
        </p:nvSpPr>
        <p:spPr>
          <a:xfrm>
            <a:off x="1526446" y="1573414"/>
            <a:ext cx="164387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Liberation Sans Narrow"/>
              </a:rPr>
              <a:t>C</a:t>
            </a:r>
          </a:p>
        </p:txBody>
      </p:sp>
      <p:sp>
        <p:nvSpPr>
          <p:cNvPr id="31" name="bbc_news"/>
          <p:cNvSpPr txBox="1"/>
          <p:nvPr/>
        </p:nvSpPr>
        <p:spPr>
          <a:xfrm>
            <a:off x="1182017" y="1808252"/>
            <a:ext cx="532299" cy="1722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Liberation Sans Narrow"/>
              </a:rPr>
              <a:t>NEWS</a:t>
            </a:r>
          </a:p>
        </p:txBody>
      </p:sp>
      <p:sp>
        <p:nvSpPr>
          <p:cNvPr id="32" name="bbc_under"/>
          <p:cNvSpPr/>
          <p:nvPr/>
        </p:nvSpPr>
        <p:spPr>
          <a:xfrm>
            <a:off x="1166361" y="1557758"/>
            <a:ext cx="555783" cy="524471"/>
          </a:xfrm>
          <a:prstGeom prst="rect">
            <a:avLst/>
          </a:prstGeom>
          <a:solidFill>
            <a:srgbClr val="FF0000"/>
          </a:solidFill>
          <a:ln w="9144">
            <a:solidFill>
              <a:srgbClr val="FF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bc_letter_top_0"/>
          <p:cNvSpPr txBox="1"/>
          <p:nvPr/>
        </p:nvSpPr>
        <p:spPr>
          <a:xfrm>
            <a:off x="1197673" y="1620381"/>
            <a:ext cx="140903" cy="1565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FFFFFF"/>
                </a:solidFill>
                <a:latin typeface="Liberation Sans Narrow"/>
              </a:rPr>
              <a:t>B</a:t>
            </a:r>
          </a:p>
        </p:txBody>
      </p:sp>
      <p:sp>
        <p:nvSpPr>
          <p:cNvPr id="34" name="bbc_letter_top_1"/>
          <p:cNvSpPr txBox="1"/>
          <p:nvPr/>
        </p:nvSpPr>
        <p:spPr>
          <a:xfrm>
            <a:off x="1362060" y="1620381"/>
            <a:ext cx="140903" cy="1565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FFFFFF"/>
                </a:solidFill>
                <a:latin typeface="Liberation Sans Narrow"/>
              </a:rPr>
              <a:t>B</a:t>
            </a:r>
          </a:p>
        </p:txBody>
      </p:sp>
      <p:sp>
        <p:nvSpPr>
          <p:cNvPr id="35" name="bbc_letter_top_2"/>
          <p:cNvSpPr txBox="1"/>
          <p:nvPr/>
        </p:nvSpPr>
        <p:spPr>
          <a:xfrm>
            <a:off x="1526446" y="1620381"/>
            <a:ext cx="140903" cy="1565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9" b="1" i="0">
                <a:solidFill>
                  <a:srgbClr val="FFFFFF"/>
                </a:solidFill>
                <a:latin typeface="Liberation Sans Narrow"/>
              </a:rPr>
              <a:t>C</a:t>
            </a:r>
          </a:p>
        </p:txBody>
      </p:sp>
      <p:sp>
        <p:nvSpPr>
          <p:cNvPr id="36" name="bbc_news_top"/>
          <p:cNvSpPr txBox="1"/>
          <p:nvPr/>
        </p:nvSpPr>
        <p:spPr>
          <a:xfrm>
            <a:off x="1182017" y="1800424"/>
            <a:ext cx="524471" cy="211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Liberation Sans Narrow"/>
              </a:rPr>
              <a:t>NEWS</a:t>
            </a:r>
          </a:p>
        </p:txBody>
      </p:sp>
      <p:sp>
        <p:nvSpPr>
          <p:cNvPr id="37" name="cnn_word"/>
          <p:cNvSpPr txBox="1"/>
          <p:nvPr/>
        </p:nvSpPr>
        <p:spPr>
          <a:xfrm>
            <a:off x="1839563" y="1596898"/>
            <a:ext cx="821933" cy="3757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10" b="1" i="0">
                <a:solidFill>
                  <a:srgbClr val="D90000"/>
                </a:solidFill>
                <a:latin typeface="Liberation Sans Narrow"/>
              </a:rPr>
              <a:t>CNN</a:t>
            </a:r>
          </a:p>
        </p:txBody>
      </p:sp>
      <p:sp>
        <p:nvSpPr>
          <p:cNvPr id="38" name="guardian_word"/>
          <p:cNvSpPr txBox="1"/>
          <p:nvPr/>
        </p:nvSpPr>
        <p:spPr>
          <a:xfrm>
            <a:off x="117419" y="2121369"/>
            <a:ext cx="1056770" cy="3131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 i="0">
                <a:solidFill>
                  <a:srgbClr val="000000"/>
                </a:solidFill>
                <a:latin typeface="Liberation Serif"/>
              </a:rPr>
              <a:t>The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 i="0">
                <a:solidFill>
                  <a:srgbClr val="000000"/>
                </a:solidFill>
                <a:latin typeface="Liberation Serif"/>
              </a:rPr>
              <a:t>Guardian</a:t>
            </a:r>
          </a:p>
        </p:txBody>
      </p:sp>
      <p:sp>
        <p:nvSpPr>
          <p:cNvPr id="39" name="nyt_word"/>
          <p:cNvSpPr txBox="1"/>
          <p:nvPr/>
        </p:nvSpPr>
        <p:spPr>
          <a:xfrm>
            <a:off x="1338576" y="2113541"/>
            <a:ext cx="313117" cy="3366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29" b="1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40" name="filter_db_body"/>
          <p:cNvSpPr/>
          <p:nvPr/>
        </p:nvSpPr>
        <p:spPr>
          <a:xfrm>
            <a:off x="3099860" y="849487"/>
            <a:ext cx="360085" cy="276169"/>
          </a:xfrm>
          <a:prstGeom prst="rect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ilter_db_top"/>
          <p:cNvSpPr/>
          <p:nvPr/>
        </p:nvSpPr>
        <p:spPr>
          <a:xfrm>
            <a:off x="3099860" y="774965"/>
            <a:ext cx="360085" cy="14904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ilter_db_mid1"/>
          <p:cNvSpPr/>
          <p:nvPr/>
        </p:nvSpPr>
        <p:spPr>
          <a:xfrm>
            <a:off x="3099860" y="902091"/>
            <a:ext cx="360085" cy="131509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ilter_db_mid2"/>
          <p:cNvSpPr/>
          <p:nvPr/>
        </p:nvSpPr>
        <p:spPr>
          <a:xfrm>
            <a:off x="3099860" y="998531"/>
            <a:ext cx="360085" cy="131509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ilter_db_bottom"/>
          <p:cNvSpPr/>
          <p:nvPr/>
        </p:nvSpPr>
        <p:spPr>
          <a:xfrm>
            <a:off x="3099860" y="1068669"/>
            <a:ext cx="360085" cy="131509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ilter_funnel"/>
          <p:cNvSpPr/>
          <p:nvPr/>
        </p:nvSpPr>
        <p:spPr>
          <a:xfrm>
            <a:off x="3319042" y="1009803"/>
            <a:ext cx="227010" cy="211354"/>
          </a:xfrm>
          <a:custGeom>
            <a:avLst/>
            <a:gdLst/>
            <a:ahLst/>
            <a:cxnLst/>
            <a:rect l="l" t="t" r="r" b="b"/>
            <a:pathLst>
              <a:path w="29" h="27">
                <a:moveTo>
                  <a:pt x="0" y="0"/>
                </a:moveTo>
                <a:lnTo>
                  <a:pt x="29" y="0"/>
                </a:lnTo>
                <a:lnTo>
                  <a:pt x="20" y="14"/>
                </a:lnTo>
                <a:lnTo>
                  <a:pt x="20" y="27"/>
                </a:lnTo>
                <a:lnTo>
                  <a:pt x="11" y="22"/>
                </a:lnTo>
                <a:lnTo>
                  <a:pt x="11" y="14"/>
                </a:lnTo>
                <a:close/>
              </a:path>
            </a:pathLst>
          </a:cu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filter_title"/>
          <p:cNvSpPr txBox="1"/>
          <p:nvPr/>
        </p:nvSpPr>
        <p:spPr>
          <a:xfrm>
            <a:off x="3702611" y="743653"/>
            <a:ext cx="1761284" cy="2583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000000"/>
                </a:solidFill>
                <a:latin typeface="Liberation Serif"/>
              </a:rPr>
              <a:t>Data Filtering</a:t>
            </a:r>
          </a:p>
        </p:txBody>
      </p:sp>
      <p:sp>
        <p:nvSpPr>
          <p:cNvPr id="47" name="filter_subtitle"/>
          <p:cNvSpPr txBox="1"/>
          <p:nvPr/>
        </p:nvSpPr>
        <p:spPr>
          <a:xfrm>
            <a:off x="3702611" y="986319"/>
            <a:ext cx="1769112" cy="485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959" b="0" i="0">
                <a:solidFill>
                  <a:srgbClr val="000000"/>
                </a:solidFill>
                <a:latin typeface="Liberation Serif"/>
              </a:rPr>
              <a:t>Retain high-quality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959" b="0" i="0">
                <a:solidFill>
                  <a:srgbClr val="000000"/>
                </a:solidFill>
                <a:latin typeface="Liberation Serif"/>
              </a:rPr>
              <a:t>news samples</a:t>
            </a:r>
          </a:p>
        </p:txBody>
      </p:sp>
      <p:sp>
        <p:nvSpPr>
          <p:cNvPr id="48" name="filter_target"/>
          <p:cNvSpPr txBox="1"/>
          <p:nvPr/>
        </p:nvSpPr>
        <p:spPr>
          <a:xfrm>
            <a:off x="3037237" y="1463823"/>
            <a:ext cx="2270100" cy="2426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 i="0">
                <a:solidFill>
                  <a:srgbClr val="000000"/>
                </a:solidFill>
                <a:latin typeface="Liberation Serif"/>
              </a:rPr>
              <a:t>Filtering target:</a:t>
            </a:r>
          </a:p>
        </p:txBody>
      </p:sp>
      <p:sp>
        <p:nvSpPr>
          <p:cNvPr id="49" name="filter_bullets"/>
          <p:cNvSpPr txBox="1"/>
          <p:nvPr/>
        </p:nvSpPr>
        <p:spPr>
          <a:xfrm>
            <a:off x="3013753" y="1761284"/>
            <a:ext cx="2395346" cy="7123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9" b="0" i="0">
                <a:solidFill>
                  <a:srgbClr val="000000"/>
                </a:solidFill>
                <a:latin typeface="Liberation Serif"/>
              </a:rPr>
              <a:t>•   Noise Information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9" b="0" i="0">
                <a:solidFill>
                  <a:srgbClr val="000000"/>
                </a:solidFill>
                <a:latin typeface="Liberation Serif"/>
              </a:rPr>
              <a:t>•   Duplicate data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609" b="0" i="0">
                <a:solidFill>
                  <a:srgbClr val="000000"/>
                </a:solidFill>
                <a:latin typeface="Liberation Serif"/>
              </a:rPr>
              <a:t>•   Video length within 5 minutes</a:t>
            </a:r>
          </a:p>
        </p:txBody>
      </p:sp>
      <p:sp>
        <p:nvSpPr>
          <p:cNvPr id="50" name="processing_db_body"/>
          <p:cNvSpPr/>
          <p:nvPr/>
        </p:nvSpPr>
        <p:spPr>
          <a:xfrm>
            <a:off x="5863119" y="824672"/>
            <a:ext cx="430536" cy="271238"/>
          </a:xfrm>
          <a:prstGeom prst="rect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rocessing_db_top"/>
          <p:cNvSpPr/>
          <p:nvPr/>
        </p:nvSpPr>
        <p:spPr>
          <a:xfrm>
            <a:off x="5863119" y="751481"/>
            <a:ext cx="430536" cy="146382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rocessing_db_mid1"/>
          <p:cNvSpPr/>
          <p:nvPr/>
        </p:nvSpPr>
        <p:spPr>
          <a:xfrm>
            <a:off x="5863119" y="876337"/>
            <a:ext cx="430536" cy="129161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rocessing_db_mid2"/>
          <p:cNvSpPr/>
          <p:nvPr/>
        </p:nvSpPr>
        <p:spPr>
          <a:xfrm>
            <a:off x="5863119" y="971055"/>
            <a:ext cx="430536" cy="129161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rocessing_db_bottom"/>
          <p:cNvSpPr/>
          <p:nvPr/>
        </p:nvSpPr>
        <p:spPr>
          <a:xfrm>
            <a:off x="5863119" y="1039940"/>
            <a:ext cx="430536" cy="129161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rocessing_gear"/>
          <p:cNvSpPr/>
          <p:nvPr/>
        </p:nvSpPr>
        <p:spPr>
          <a:xfrm>
            <a:off x="5808324" y="908040"/>
            <a:ext cx="234838" cy="2348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3F9F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rocessing_title"/>
          <p:cNvSpPr txBox="1"/>
          <p:nvPr/>
        </p:nvSpPr>
        <p:spPr>
          <a:xfrm>
            <a:off x="6450214" y="743653"/>
            <a:ext cx="2035262" cy="250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000000"/>
                </a:solidFill>
                <a:latin typeface="Liberation Serif"/>
              </a:rPr>
              <a:t>Data Processing</a:t>
            </a:r>
          </a:p>
        </p:txBody>
      </p:sp>
      <p:sp>
        <p:nvSpPr>
          <p:cNvPr id="57" name="visual_input_group"/>
          <p:cNvSpPr/>
          <p:nvPr/>
        </p:nvSpPr>
        <p:spPr>
          <a:xfrm>
            <a:off x="5839635" y="1299436"/>
            <a:ext cx="1307264" cy="1213329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visual_entity_box"/>
          <p:cNvSpPr/>
          <p:nvPr/>
        </p:nvSpPr>
        <p:spPr>
          <a:xfrm>
            <a:off x="5925743" y="1385543"/>
            <a:ext cx="1135050" cy="446192"/>
          </a:xfrm>
          <a:prstGeom prst="roundRect">
            <a:avLst>
              <a:gd name="adj" fmla="val 17543"/>
            </a:avLst>
          </a:prstGeom>
          <a:solidFill>
            <a:srgbClr val="DEEAF6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visual_entity_text"/>
          <p:cNvSpPr txBox="1"/>
          <p:nvPr/>
        </p:nvSpPr>
        <p:spPr>
          <a:xfrm>
            <a:off x="6027506" y="1432511"/>
            <a:ext cx="978491" cy="3757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0">
                <a:solidFill>
                  <a:srgbClr val="000000"/>
                </a:solidFill>
                <a:latin typeface="Liberation Sans Narrow"/>
              </a:rPr>
              <a:t>News Title,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0">
                <a:solidFill>
                  <a:srgbClr val="000000"/>
                </a:solidFill>
                <a:latin typeface="Liberation Sans Narrow"/>
              </a:rPr>
              <a:t>Visual Entity</a:t>
            </a:r>
          </a:p>
        </p:txBody>
      </p:sp>
      <p:sp>
        <p:nvSpPr>
          <p:cNvPr id="60" name="frame_back"/>
          <p:cNvSpPr/>
          <p:nvPr/>
        </p:nvSpPr>
        <p:spPr>
          <a:xfrm>
            <a:off x="6184064" y="1917843"/>
            <a:ext cx="571439" cy="485332"/>
          </a:xfrm>
          <a:prstGeom prst="rect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ame_front"/>
          <p:cNvSpPr/>
          <p:nvPr/>
        </p:nvSpPr>
        <p:spPr>
          <a:xfrm>
            <a:off x="6097957" y="1980466"/>
            <a:ext cx="571439" cy="485332"/>
          </a:xfrm>
          <a:prstGeom prst="rect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ame_mountain"/>
          <p:cNvSpPr/>
          <p:nvPr/>
        </p:nvSpPr>
        <p:spPr>
          <a:xfrm>
            <a:off x="6176236" y="2160509"/>
            <a:ext cx="422708" cy="211354"/>
          </a:xfrm>
          <a:custGeom>
            <a:avLst/>
            <a:gdLst/>
            <a:ahLst/>
            <a:cxnLst/>
            <a:rect l="l" t="t" r="r" b="b"/>
            <a:pathLst>
              <a:path w="54" h="27">
                <a:moveTo>
                  <a:pt x="0" y="26"/>
                </a:moveTo>
                <a:lnTo>
                  <a:pt x="15" y="0"/>
                </a:lnTo>
                <a:lnTo>
                  <a:pt x="29" y="18"/>
                </a:lnTo>
                <a:lnTo>
                  <a:pt x="41" y="8"/>
                </a:lnTo>
                <a:lnTo>
                  <a:pt x="54" y="27"/>
                </a:lnTo>
                <a:close/>
              </a:path>
            </a:pathLst>
          </a:custGeom>
          <a:solidFill>
            <a:srgbClr val="595959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ame_sun"/>
          <p:cNvSpPr/>
          <p:nvPr/>
        </p:nvSpPr>
        <p:spPr>
          <a:xfrm>
            <a:off x="6497181" y="2090057"/>
            <a:ext cx="78279" cy="78279"/>
          </a:xfrm>
          <a:prstGeom prst="ellipse">
            <a:avLst/>
          </a:prstGeom>
          <a:solidFill>
            <a:srgbClr val="595959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ame_label"/>
          <p:cNvSpPr txBox="1"/>
          <p:nvPr/>
        </p:nvSpPr>
        <p:spPr>
          <a:xfrm>
            <a:off x="5949226" y="2356207"/>
            <a:ext cx="1119394" cy="1800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Video Frames</a:t>
            </a:r>
          </a:p>
        </p:txBody>
      </p:sp>
      <p:cxnSp>
        <p:nvCxnSpPr>
          <p:cNvPr id="65" name="process_to_gpt_shaft"/>
          <p:cNvCxnSpPr/>
          <p:nvPr/>
        </p:nvCxnSpPr>
        <p:spPr>
          <a:xfrm>
            <a:off x="7217351" y="1878703"/>
            <a:ext cx="195698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process_to_gpt_head"/>
          <p:cNvSpPr/>
          <p:nvPr/>
        </p:nvSpPr>
        <p:spPr>
          <a:xfrm>
            <a:off x="7413049" y="1823908"/>
            <a:ext cx="93935" cy="109591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4"/>
                </a:moveTo>
                <a:lnTo>
                  <a:pt x="12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process_prompt_bulb_glass"/>
          <p:cNvSpPr/>
          <p:nvPr/>
        </p:nvSpPr>
        <p:spPr>
          <a:xfrm>
            <a:off x="7248663" y="1158534"/>
            <a:ext cx="178477" cy="223096"/>
          </a:xfrm>
          <a:prstGeom prst="ellipse">
            <a:avLst/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8" name="process_prompt_bulb_stem"/>
          <p:cNvCxnSpPr/>
          <p:nvPr/>
        </p:nvCxnSpPr>
        <p:spPr>
          <a:xfrm>
            <a:off x="7308155" y="1381630"/>
            <a:ext cx="59492" cy="0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process_prompt_bulb_base"/>
          <p:cNvCxnSpPr/>
          <p:nvPr/>
        </p:nvCxnSpPr>
        <p:spPr>
          <a:xfrm>
            <a:off x="7315591" y="1411376"/>
            <a:ext cx="44620" cy="0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process_prompt_bulb_ray0"/>
          <p:cNvCxnSpPr/>
          <p:nvPr/>
        </p:nvCxnSpPr>
        <p:spPr>
          <a:xfrm flipV="1">
            <a:off x="7337901" y="1084168"/>
            <a:ext cx="0" cy="37183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rocess_prompt_bulb_ray1"/>
          <p:cNvCxnSpPr/>
          <p:nvPr/>
        </p:nvCxnSpPr>
        <p:spPr>
          <a:xfrm flipV="1">
            <a:off x="7443069" y="1138621"/>
            <a:ext cx="26293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process_prompt_bulb_ray2"/>
          <p:cNvCxnSpPr/>
          <p:nvPr/>
        </p:nvCxnSpPr>
        <p:spPr>
          <a:xfrm>
            <a:off x="7486632" y="1270082"/>
            <a:ext cx="37182" cy="0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process_prompt_bulb_ray3"/>
          <p:cNvCxnSpPr/>
          <p:nvPr/>
        </p:nvCxnSpPr>
        <p:spPr>
          <a:xfrm>
            <a:off x="7443069" y="1375250"/>
            <a:ext cx="26293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process_prompt_bulb_ray4"/>
          <p:cNvCxnSpPr/>
          <p:nvPr/>
        </p:nvCxnSpPr>
        <p:spPr>
          <a:xfrm>
            <a:off x="7337901" y="1418812"/>
            <a:ext cx="0" cy="37183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process_prompt_bulb_ray5"/>
          <p:cNvCxnSpPr/>
          <p:nvPr/>
        </p:nvCxnSpPr>
        <p:spPr>
          <a:xfrm flipH="1">
            <a:off x="7206440" y="1375250"/>
            <a:ext cx="26293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process_prompt_bulb_ray6"/>
          <p:cNvCxnSpPr/>
          <p:nvPr/>
        </p:nvCxnSpPr>
        <p:spPr>
          <a:xfrm flipH="1">
            <a:off x="7151988" y="1270082"/>
            <a:ext cx="37182" cy="0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process_prompt_bulb_ray7"/>
          <p:cNvCxnSpPr/>
          <p:nvPr/>
        </p:nvCxnSpPr>
        <p:spPr>
          <a:xfrm flipH="1" flipV="1">
            <a:off x="7206440" y="1138621"/>
            <a:ext cx="26293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process_prompt"/>
          <p:cNvSpPr txBox="1"/>
          <p:nvPr/>
        </p:nvSpPr>
        <p:spPr>
          <a:xfrm>
            <a:off x="7522640" y="1064598"/>
            <a:ext cx="782793" cy="4227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Designed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Prompt</a:t>
            </a:r>
          </a:p>
        </p:txBody>
      </p:sp>
      <p:cxnSp>
        <p:nvCxnSpPr>
          <p:cNvPr id="79" name="process_prompt_arrow_shaft"/>
          <p:cNvCxnSpPr/>
          <p:nvPr/>
        </p:nvCxnSpPr>
        <p:spPr>
          <a:xfrm>
            <a:off x="7796618" y="1487307"/>
            <a:ext cx="0" cy="117419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process_prompt_arrow_head"/>
          <p:cNvSpPr/>
          <p:nvPr/>
        </p:nvSpPr>
        <p:spPr>
          <a:xfrm>
            <a:off x="7749650" y="1604726"/>
            <a:ext cx="93935" cy="78279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6" y="10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processing_gpt"/>
          <p:cNvSpPr/>
          <p:nvPr/>
        </p:nvSpPr>
        <p:spPr>
          <a:xfrm>
            <a:off x="7522640" y="1651693"/>
            <a:ext cx="532299" cy="532299"/>
          </a:xfrm>
          <a:prstGeom prst="roundRect">
            <a:avLst>
              <a:gd name="adj" fmla="val 16176"/>
            </a:avLst>
          </a:prstGeom>
          <a:solidFill>
            <a:srgbClr val="74AA9C"/>
          </a:solidFill>
          <a:ln w="9144">
            <a:solidFill>
              <a:srgbClr val="74AA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rocessing_gpt_mark"/>
          <p:cNvSpPr txBox="1"/>
          <p:nvPr/>
        </p:nvSpPr>
        <p:spPr>
          <a:xfrm>
            <a:off x="7577436" y="1690833"/>
            <a:ext cx="422708" cy="422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FFFFF"/>
                </a:solidFill>
                <a:latin typeface="Liberation Serif"/>
              </a:rPr>
              <a:t>◎</a:t>
            </a:r>
          </a:p>
        </p:txBody>
      </p:sp>
      <p:sp>
        <p:nvSpPr>
          <p:cNvPr id="83" name="processing_gpt_label"/>
          <p:cNvSpPr txBox="1"/>
          <p:nvPr/>
        </p:nvSpPr>
        <p:spPr>
          <a:xfrm>
            <a:off x="7522640" y="2199648"/>
            <a:ext cx="547955" cy="187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GPT-4o</a:t>
            </a:r>
          </a:p>
        </p:txBody>
      </p:sp>
      <p:cxnSp>
        <p:nvCxnSpPr>
          <p:cNvPr id="84" name="gpt_to_caption_shaft"/>
          <p:cNvCxnSpPr/>
          <p:nvPr/>
        </p:nvCxnSpPr>
        <p:spPr>
          <a:xfrm>
            <a:off x="8125391" y="1878703"/>
            <a:ext cx="172214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gpt_to_caption_head"/>
          <p:cNvSpPr/>
          <p:nvPr/>
        </p:nvSpPr>
        <p:spPr>
          <a:xfrm>
            <a:off x="8297605" y="1823908"/>
            <a:ext cx="93935" cy="109591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4"/>
                </a:moveTo>
                <a:lnTo>
                  <a:pt x="12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caption_outer"/>
          <p:cNvSpPr/>
          <p:nvPr/>
        </p:nvSpPr>
        <p:spPr>
          <a:xfrm>
            <a:off x="8422852" y="1534274"/>
            <a:ext cx="1268125" cy="767137"/>
          </a:xfrm>
          <a:prstGeom prst="roundRect">
            <a:avLst>
              <a:gd name="adj" fmla="val 10204"/>
            </a:avLst>
          </a:prstGeom>
          <a:solidFill>
            <a:srgbClr val="DEEAF6"/>
          </a:solidFill>
          <a:ln w="18288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caption_inner"/>
          <p:cNvSpPr/>
          <p:nvPr/>
        </p:nvSpPr>
        <p:spPr>
          <a:xfrm>
            <a:off x="8461992" y="1573414"/>
            <a:ext cx="1189845" cy="688858"/>
          </a:xfrm>
          <a:prstGeom prst="roundRect">
            <a:avLst>
              <a:gd name="adj" fmla="val 6818"/>
            </a:avLst>
          </a:prstGeom>
          <a:solidFill>
            <a:srgbClr val="A6C8EB"/>
          </a:solidFill>
          <a:ln w="9144">
            <a:solidFill>
              <a:srgbClr val="A6C8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caption_text"/>
          <p:cNvSpPr txBox="1"/>
          <p:nvPr/>
        </p:nvSpPr>
        <p:spPr>
          <a:xfrm>
            <a:off x="8501131" y="1690833"/>
            <a:ext cx="1142878" cy="454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0000"/>
                </a:solidFill>
                <a:latin typeface="Liberation Sans Narrow"/>
              </a:rPr>
              <a:t>News-domain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0000"/>
                </a:solidFill>
                <a:latin typeface="Liberation Sans Narrow"/>
              </a:rPr>
              <a:t>Video Caption</a:t>
            </a:r>
          </a:p>
        </p:txBody>
      </p:sp>
      <p:sp>
        <p:nvSpPr>
          <p:cNvPr id="89" name="news_board"/>
          <p:cNvSpPr/>
          <p:nvPr/>
        </p:nvSpPr>
        <p:spPr>
          <a:xfrm>
            <a:off x="10090201" y="712342"/>
            <a:ext cx="485332" cy="35225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0" name="news_board_line1"/>
          <p:cNvCxnSpPr/>
          <p:nvPr/>
        </p:nvCxnSpPr>
        <p:spPr>
          <a:xfrm>
            <a:off x="10144996" y="790621"/>
            <a:ext cx="187871" cy="0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ews_board_line2"/>
          <p:cNvCxnSpPr/>
          <p:nvPr/>
        </p:nvCxnSpPr>
        <p:spPr>
          <a:xfrm>
            <a:off x="10144996" y="845416"/>
            <a:ext cx="125247" cy="0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news_board_pie"/>
          <p:cNvSpPr/>
          <p:nvPr/>
        </p:nvSpPr>
        <p:spPr>
          <a:xfrm>
            <a:off x="10411146" y="751481"/>
            <a:ext cx="109591" cy="109591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news_presenter_badge"/>
          <p:cNvSpPr/>
          <p:nvPr/>
        </p:nvSpPr>
        <p:spPr>
          <a:xfrm>
            <a:off x="10176308" y="939352"/>
            <a:ext cx="328773" cy="32877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news_presenter_head"/>
          <p:cNvSpPr/>
          <p:nvPr/>
        </p:nvSpPr>
        <p:spPr>
          <a:xfrm>
            <a:off x="10301242" y="1005106"/>
            <a:ext cx="78906" cy="75618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news_presenter_body"/>
          <p:cNvSpPr/>
          <p:nvPr/>
        </p:nvSpPr>
        <p:spPr>
          <a:xfrm>
            <a:off x="10238932" y="1095910"/>
            <a:ext cx="203526" cy="109591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14"/>
                </a:moveTo>
                <a:lnTo>
                  <a:pt x="6" y="0"/>
                </a:lnTo>
                <a:lnTo>
                  <a:pt x="13" y="4"/>
                </a:lnTo>
                <a:lnTo>
                  <a:pt x="20" y="0"/>
                </a:lnTo>
                <a:lnTo>
                  <a:pt x="26" y="14"/>
                </a:lnTo>
                <a:close/>
              </a:path>
            </a:pathLst>
          </a:custGeom>
          <a:solidFill>
            <a:srgbClr val="FFFFFF"/>
          </a:solidFill>
          <a:ln w="91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misinfo_title"/>
          <p:cNvSpPr txBox="1"/>
          <p:nvPr/>
        </p:nvSpPr>
        <p:spPr>
          <a:xfrm>
            <a:off x="10888650" y="743653"/>
            <a:ext cx="3444289" cy="2818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000000"/>
                </a:solidFill>
                <a:latin typeface="Liberation Serif"/>
              </a:rPr>
              <a:t>Misinformation Data Construction</a:t>
            </a:r>
          </a:p>
        </p:txBody>
      </p:sp>
      <p:sp>
        <p:nvSpPr>
          <p:cNvPr id="97" name="video_news_label"/>
          <p:cNvSpPr txBox="1"/>
          <p:nvPr/>
        </p:nvSpPr>
        <p:spPr>
          <a:xfrm>
            <a:off x="9996266" y="1221157"/>
            <a:ext cx="798449" cy="1722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erif"/>
              </a:rPr>
              <a:t>Video news</a:t>
            </a:r>
          </a:p>
        </p:txBody>
      </p:sp>
      <p:sp>
        <p:nvSpPr>
          <p:cNvPr id="98" name="video_news_icon_body"/>
          <p:cNvSpPr/>
          <p:nvPr/>
        </p:nvSpPr>
        <p:spPr>
          <a:xfrm>
            <a:off x="10098029" y="1385543"/>
            <a:ext cx="396876" cy="352257"/>
          </a:xfrm>
          <a:prstGeom prst="roundRect">
            <a:avLst>
              <a:gd name="adj" fmla="val 13333"/>
            </a:avLst>
          </a:prstGeom>
          <a:solidFill>
            <a:srgbClr val="8F93D2"/>
          </a:solidFill>
          <a:ln w="9144">
            <a:solidFill>
              <a:srgbClr val="8F93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video_news_icon_lens"/>
          <p:cNvSpPr/>
          <p:nvPr/>
        </p:nvSpPr>
        <p:spPr>
          <a:xfrm>
            <a:off x="10497253" y="1401199"/>
            <a:ext cx="109591" cy="320945"/>
          </a:xfrm>
          <a:custGeom>
            <a:avLst/>
            <a:gdLst/>
            <a:ahLst/>
            <a:cxnLst/>
            <a:rect l="l" t="t" r="r" b="b"/>
            <a:pathLst>
              <a:path w="14" h="41">
                <a:moveTo>
                  <a:pt x="0" y="7"/>
                </a:moveTo>
                <a:lnTo>
                  <a:pt x="14" y="0"/>
                </a:lnTo>
                <a:lnTo>
                  <a:pt x="14" y="41"/>
                </a:lnTo>
                <a:lnTo>
                  <a:pt x="0" y="34"/>
                </a:lnTo>
                <a:close/>
              </a:path>
            </a:pathLst>
          </a:custGeom>
          <a:solidFill>
            <a:srgbClr val="8F93D2"/>
          </a:solidFill>
          <a:ln w="9144">
            <a:solidFill>
              <a:srgbClr val="8F93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video_news_icon_play"/>
          <p:cNvSpPr/>
          <p:nvPr/>
        </p:nvSpPr>
        <p:spPr>
          <a:xfrm>
            <a:off x="10254587" y="1455995"/>
            <a:ext cx="172214" cy="211354"/>
          </a:xfrm>
          <a:custGeom>
            <a:avLst/>
            <a:gdLst/>
            <a:ahLst/>
            <a:cxnLst/>
            <a:rect l="l" t="t" r="r" b="b"/>
            <a:pathLst>
              <a:path w="22" h="27">
                <a:moveTo>
                  <a:pt x="0" y="0"/>
                </a:moveTo>
                <a:lnTo>
                  <a:pt x="0" y="27"/>
                </a:lnTo>
                <a:lnTo>
                  <a:pt x="22" y="14"/>
                </a:lnTo>
                <a:close/>
              </a:path>
            </a:pathLst>
          </a:custGeom>
          <a:solidFill>
            <a:srgbClr val="DEEAF6"/>
          </a:solidFill>
          <a:ln w="9144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video_to_title_shaft"/>
          <p:cNvCxnSpPr/>
          <p:nvPr/>
        </p:nvCxnSpPr>
        <p:spPr>
          <a:xfrm>
            <a:off x="10645984" y="1565586"/>
            <a:ext cx="297461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video_to_title_head"/>
          <p:cNvSpPr/>
          <p:nvPr/>
        </p:nvSpPr>
        <p:spPr>
          <a:xfrm>
            <a:off x="10943445" y="1518618"/>
            <a:ext cx="86107" cy="93935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0" y="12"/>
                </a:moveTo>
                <a:lnTo>
                  <a:pt x="11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news_database_body"/>
          <p:cNvSpPr/>
          <p:nvPr/>
        </p:nvSpPr>
        <p:spPr>
          <a:xfrm>
            <a:off x="10129341" y="2047317"/>
            <a:ext cx="422708" cy="305759"/>
          </a:xfrm>
          <a:prstGeom prst="rect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news_database_top"/>
          <p:cNvSpPr/>
          <p:nvPr/>
        </p:nvSpPr>
        <p:spPr>
          <a:xfrm>
            <a:off x="10129341" y="1964810"/>
            <a:ext cx="422708" cy="16501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news_database_mid1"/>
          <p:cNvSpPr/>
          <p:nvPr/>
        </p:nvSpPr>
        <p:spPr>
          <a:xfrm>
            <a:off x="10129341" y="2105556"/>
            <a:ext cx="422708" cy="145599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news_database_mid2"/>
          <p:cNvSpPr/>
          <p:nvPr/>
        </p:nvSpPr>
        <p:spPr>
          <a:xfrm>
            <a:off x="10129341" y="2212329"/>
            <a:ext cx="422708" cy="145599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news_database_bottom"/>
          <p:cNvSpPr/>
          <p:nvPr/>
        </p:nvSpPr>
        <p:spPr>
          <a:xfrm>
            <a:off x="10129341" y="2289982"/>
            <a:ext cx="422708" cy="145599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database_search"/>
          <p:cNvSpPr/>
          <p:nvPr/>
        </p:nvSpPr>
        <p:spPr>
          <a:xfrm>
            <a:off x="10426802" y="2277927"/>
            <a:ext cx="172214" cy="172214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database_search_handle"/>
          <p:cNvCxnSpPr/>
          <p:nvPr/>
        </p:nvCxnSpPr>
        <p:spPr>
          <a:xfrm>
            <a:off x="10552049" y="2411002"/>
            <a:ext cx="86107" cy="93935"/>
          </a:xfrm>
          <a:prstGeom prst="line">
            <a:avLst/>
          </a:prstGeom>
          <a:ln w="3657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database_label"/>
          <p:cNvSpPr txBox="1"/>
          <p:nvPr/>
        </p:nvSpPr>
        <p:spPr>
          <a:xfrm>
            <a:off x="9996266" y="2418830"/>
            <a:ext cx="821933" cy="156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00000"/>
                </a:solidFill>
                <a:latin typeface="Liberation Sans Narrow"/>
              </a:rPr>
              <a:t>News Database</a:t>
            </a:r>
          </a:p>
        </p:txBody>
      </p:sp>
      <p:cxnSp>
        <p:nvCxnSpPr>
          <p:cNvPr id="111" name="retrieve_arrow_shaft"/>
          <p:cNvCxnSpPr/>
          <p:nvPr/>
        </p:nvCxnSpPr>
        <p:spPr>
          <a:xfrm>
            <a:off x="10340695" y="1761284"/>
            <a:ext cx="0" cy="125247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trieve_arrow_head"/>
          <p:cNvSpPr/>
          <p:nvPr/>
        </p:nvSpPr>
        <p:spPr>
          <a:xfrm>
            <a:off x="10301555" y="1886531"/>
            <a:ext cx="78279" cy="70451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0"/>
                </a:moveTo>
                <a:lnTo>
                  <a:pt x="5" y="9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trieve_label"/>
          <p:cNvSpPr txBox="1"/>
          <p:nvPr/>
        </p:nvSpPr>
        <p:spPr>
          <a:xfrm>
            <a:off x="10411146" y="1769112"/>
            <a:ext cx="641890" cy="1643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00000"/>
                </a:solidFill>
                <a:latin typeface="Liberation Sans Narrow"/>
              </a:rPr>
              <a:t>Retrieve</a:t>
            </a:r>
          </a:p>
        </p:txBody>
      </p:sp>
      <p:cxnSp>
        <p:nvCxnSpPr>
          <p:cNvPr id="114" name="db_to_similar_shaft"/>
          <p:cNvCxnSpPr/>
          <p:nvPr/>
        </p:nvCxnSpPr>
        <p:spPr>
          <a:xfrm>
            <a:off x="10661640" y="2207476"/>
            <a:ext cx="281805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db_to_similar_head"/>
          <p:cNvSpPr/>
          <p:nvPr/>
        </p:nvSpPr>
        <p:spPr>
          <a:xfrm>
            <a:off x="10943445" y="2160509"/>
            <a:ext cx="78279" cy="93935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12"/>
                </a:moveTo>
                <a:lnTo>
                  <a:pt x="10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trieval_group"/>
          <p:cNvSpPr/>
          <p:nvPr/>
        </p:nvSpPr>
        <p:spPr>
          <a:xfrm>
            <a:off x="11053036" y="1315092"/>
            <a:ext cx="1041115" cy="11350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7432">
            <a:solidFill>
              <a:srgbClr val="7F7F7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trieval_title"/>
          <p:cNvSpPr/>
          <p:nvPr/>
        </p:nvSpPr>
        <p:spPr>
          <a:xfrm>
            <a:off x="11107832" y="1385543"/>
            <a:ext cx="931524" cy="367913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trieval_title_text"/>
          <p:cNvSpPr txBox="1"/>
          <p:nvPr/>
        </p:nvSpPr>
        <p:spPr>
          <a:xfrm>
            <a:off x="11170455" y="1448167"/>
            <a:ext cx="821933" cy="266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News Title</a:t>
            </a:r>
          </a:p>
        </p:txBody>
      </p:sp>
      <p:sp>
        <p:nvSpPr>
          <p:cNvPr id="119" name="retrieval_plus"/>
          <p:cNvSpPr txBox="1"/>
          <p:nvPr/>
        </p:nvSpPr>
        <p:spPr>
          <a:xfrm>
            <a:off x="11397465" y="1761284"/>
            <a:ext cx="367913" cy="2896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0" b="1" i="0">
                <a:solidFill>
                  <a:srgbClr val="000000"/>
                </a:solidFill>
                <a:latin typeface="Liberation Sans Narrow"/>
              </a:rPr>
              <a:t>+</a:t>
            </a:r>
          </a:p>
        </p:txBody>
      </p:sp>
      <p:sp>
        <p:nvSpPr>
          <p:cNvPr id="120" name="similar_titles"/>
          <p:cNvSpPr/>
          <p:nvPr/>
        </p:nvSpPr>
        <p:spPr>
          <a:xfrm>
            <a:off x="11107832" y="2003950"/>
            <a:ext cx="931524" cy="383569"/>
          </a:xfrm>
          <a:prstGeom prst="roundRect">
            <a:avLst>
              <a:gd name="adj" fmla="val 10204"/>
            </a:avLst>
          </a:prstGeom>
          <a:solidFill>
            <a:srgbClr val="FFFFEB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similar_titles_text"/>
          <p:cNvSpPr txBox="1"/>
          <p:nvPr/>
        </p:nvSpPr>
        <p:spPr>
          <a:xfrm>
            <a:off x="11154799" y="2035262"/>
            <a:ext cx="845416" cy="3287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ans Narrow"/>
              </a:rPr>
              <a:t>Top k Similar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ans Narrow"/>
              </a:rPr>
              <a:t>News Titles</a:t>
            </a:r>
          </a:p>
        </p:txBody>
      </p:sp>
      <p:cxnSp>
        <p:nvCxnSpPr>
          <p:cNvPr id="122" name="retrieval_to_gpt_shaft"/>
          <p:cNvCxnSpPr/>
          <p:nvPr/>
        </p:nvCxnSpPr>
        <p:spPr>
          <a:xfrm>
            <a:off x="12141118" y="1870875"/>
            <a:ext cx="148731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trieval_to_gpt_head"/>
          <p:cNvSpPr/>
          <p:nvPr/>
        </p:nvSpPr>
        <p:spPr>
          <a:xfrm>
            <a:off x="12289849" y="1823908"/>
            <a:ext cx="78279" cy="93935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12"/>
                </a:moveTo>
                <a:lnTo>
                  <a:pt x="10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isinfo_prompt_bulb_glass"/>
          <p:cNvSpPr/>
          <p:nvPr/>
        </p:nvSpPr>
        <p:spPr>
          <a:xfrm>
            <a:off x="12117635" y="1119394"/>
            <a:ext cx="178477" cy="223096"/>
          </a:xfrm>
          <a:prstGeom prst="ellipse">
            <a:avLst/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misinfo_prompt_bulb_stem"/>
          <p:cNvCxnSpPr/>
          <p:nvPr/>
        </p:nvCxnSpPr>
        <p:spPr>
          <a:xfrm>
            <a:off x="12177127" y="1342490"/>
            <a:ext cx="59492" cy="0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misinfo_prompt_bulb_base"/>
          <p:cNvCxnSpPr/>
          <p:nvPr/>
        </p:nvCxnSpPr>
        <p:spPr>
          <a:xfrm>
            <a:off x="12184563" y="1372236"/>
            <a:ext cx="44620" cy="0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misinfo_prompt_bulb_ray0"/>
          <p:cNvCxnSpPr/>
          <p:nvPr/>
        </p:nvCxnSpPr>
        <p:spPr>
          <a:xfrm flipV="1">
            <a:off x="12206873" y="1045029"/>
            <a:ext cx="0" cy="3718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misinfo_prompt_bulb_ray1"/>
          <p:cNvCxnSpPr/>
          <p:nvPr/>
        </p:nvCxnSpPr>
        <p:spPr>
          <a:xfrm flipV="1">
            <a:off x="12312042" y="1099481"/>
            <a:ext cx="26292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misinfo_prompt_bulb_ray2"/>
          <p:cNvCxnSpPr/>
          <p:nvPr/>
        </p:nvCxnSpPr>
        <p:spPr>
          <a:xfrm>
            <a:off x="12355604" y="1230942"/>
            <a:ext cx="37182" cy="0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misinfo_prompt_bulb_ray3"/>
          <p:cNvCxnSpPr/>
          <p:nvPr/>
        </p:nvCxnSpPr>
        <p:spPr>
          <a:xfrm>
            <a:off x="12312042" y="1336110"/>
            <a:ext cx="26292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misinfo_prompt_bulb_ray4"/>
          <p:cNvCxnSpPr/>
          <p:nvPr/>
        </p:nvCxnSpPr>
        <p:spPr>
          <a:xfrm>
            <a:off x="12206873" y="1379673"/>
            <a:ext cx="0" cy="3718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misinfo_prompt_bulb_ray5"/>
          <p:cNvCxnSpPr/>
          <p:nvPr/>
        </p:nvCxnSpPr>
        <p:spPr>
          <a:xfrm flipH="1">
            <a:off x="12075412" y="1336110"/>
            <a:ext cx="26293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misinfo_prompt_bulb_ray6"/>
          <p:cNvCxnSpPr/>
          <p:nvPr/>
        </p:nvCxnSpPr>
        <p:spPr>
          <a:xfrm flipH="1">
            <a:off x="12020960" y="1230942"/>
            <a:ext cx="37182" cy="0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misinfo_prompt_bulb_ray7"/>
          <p:cNvCxnSpPr/>
          <p:nvPr/>
        </p:nvCxnSpPr>
        <p:spPr>
          <a:xfrm flipH="1" flipV="1">
            <a:off x="12075412" y="1099481"/>
            <a:ext cx="26293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misinfo_prompt"/>
          <p:cNvSpPr txBox="1"/>
          <p:nvPr/>
        </p:nvSpPr>
        <p:spPr>
          <a:xfrm>
            <a:off x="12368128" y="1041115"/>
            <a:ext cx="782793" cy="3913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Designed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Prompt</a:t>
            </a:r>
          </a:p>
        </p:txBody>
      </p:sp>
      <p:cxnSp>
        <p:nvCxnSpPr>
          <p:cNvPr id="136" name="misinfo_prompt_arrow_shaft"/>
          <p:cNvCxnSpPr/>
          <p:nvPr/>
        </p:nvCxnSpPr>
        <p:spPr>
          <a:xfrm>
            <a:off x="12665590" y="1440339"/>
            <a:ext cx="0" cy="109591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misinfo_prompt_arrow_head"/>
          <p:cNvSpPr/>
          <p:nvPr/>
        </p:nvSpPr>
        <p:spPr>
          <a:xfrm>
            <a:off x="12626450" y="1549930"/>
            <a:ext cx="78279" cy="70451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0" y="0"/>
                </a:moveTo>
                <a:lnTo>
                  <a:pt x="5" y="9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isinfo_gpt"/>
          <p:cNvSpPr/>
          <p:nvPr/>
        </p:nvSpPr>
        <p:spPr>
          <a:xfrm>
            <a:off x="12399440" y="1589070"/>
            <a:ext cx="532299" cy="532299"/>
          </a:xfrm>
          <a:prstGeom prst="roundRect">
            <a:avLst>
              <a:gd name="adj" fmla="val 16176"/>
            </a:avLst>
          </a:prstGeom>
          <a:solidFill>
            <a:srgbClr val="74AA9C"/>
          </a:solidFill>
          <a:ln w="9144">
            <a:solidFill>
              <a:srgbClr val="74AA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isinfo_gpt_mark"/>
          <p:cNvSpPr txBox="1"/>
          <p:nvPr/>
        </p:nvSpPr>
        <p:spPr>
          <a:xfrm>
            <a:off x="12454236" y="1628209"/>
            <a:ext cx="422708" cy="4227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FFFFF"/>
                </a:solidFill>
                <a:latin typeface="Liberation Serif"/>
              </a:rPr>
              <a:t>◎</a:t>
            </a:r>
          </a:p>
        </p:txBody>
      </p:sp>
      <p:sp>
        <p:nvSpPr>
          <p:cNvPr id="140" name="misinfo_gpt_label"/>
          <p:cNvSpPr txBox="1"/>
          <p:nvPr/>
        </p:nvSpPr>
        <p:spPr>
          <a:xfrm>
            <a:off x="12375956" y="2144853"/>
            <a:ext cx="579267" cy="1722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ans Narrow"/>
              </a:rPr>
              <a:t>GPT-4o</a:t>
            </a:r>
          </a:p>
        </p:txBody>
      </p:sp>
      <p:cxnSp>
        <p:nvCxnSpPr>
          <p:cNvPr id="141" name="gpt_to_output_shaft"/>
          <p:cNvCxnSpPr/>
          <p:nvPr/>
        </p:nvCxnSpPr>
        <p:spPr>
          <a:xfrm>
            <a:off x="12970879" y="1870875"/>
            <a:ext cx="172214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gpt_to_output_head"/>
          <p:cNvSpPr/>
          <p:nvPr/>
        </p:nvSpPr>
        <p:spPr>
          <a:xfrm>
            <a:off x="13143093" y="1823908"/>
            <a:ext cx="78279" cy="93935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12"/>
                </a:moveTo>
                <a:lnTo>
                  <a:pt x="10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forged_group"/>
          <p:cNvSpPr/>
          <p:nvPr/>
        </p:nvSpPr>
        <p:spPr>
          <a:xfrm>
            <a:off x="13260512" y="1017631"/>
            <a:ext cx="1307264" cy="1448167"/>
          </a:xfrm>
          <a:prstGeom prst="roundRect">
            <a:avLst>
              <a:gd name="adj" fmla="val 3592"/>
            </a:avLst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forged_head"/>
          <p:cNvSpPr/>
          <p:nvPr/>
        </p:nvSpPr>
        <p:spPr>
          <a:xfrm>
            <a:off x="13260512" y="1017631"/>
            <a:ext cx="1307264" cy="234838"/>
          </a:xfrm>
          <a:prstGeom prst="roundRect">
            <a:avLst>
              <a:gd name="adj" fmla="val 20000"/>
            </a:avLst>
          </a:prstGeom>
          <a:solidFill>
            <a:srgbClr val="A6C8EB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forged_head_text"/>
          <p:cNvSpPr txBox="1"/>
          <p:nvPr/>
        </p:nvSpPr>
        <p:spPr>
          <a:xfrm>
            <a:off x="13283996" y="1025459"/>
            <a:ext cx="1260297" cy="211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erif"/>
              </a:rPr>
              <a:t>Forged News</a:t>
            </a:r>
          </a:p>
        </p:txBody>
      </p:sp>
      <p:sp>
        <p:nvSpPr>
          <p:cNvPr id="146" name="forged_body"/>
          <p:cNvSpPr txBox="1"/>
          <p:nvPr/>
        </p:nvSpPr>
        <p:spPr>
          <a:xfrm>
            <a:off x="13362275" y="1283780"/>
            <a:ext cx="1095910" cy="39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000000"/>
                </a:solidFill>
                <a:latin typeface="Liberation Serif"/>
              </a:rPr>
              <a:t>Four types of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000000"/>
                </a:solidFill>
                <a:latin typeface="Liberation Serif"/>
              </a:rPr>
              <a:t>entity replacing</a:t>
            </a:r>
          </a:p>
        </p:txBody>
      </p:sp>
      <p:sp>
        <p:nvSpPr>
          <p:cNvPr id="147" name="interp_head"/>
          <p:cNvSpPr/>
          <p:nvPr/>
        </p:nvSpPr>
        <p:spPr>
          <a:xfrm>
            <a:off x="13260512" y="1722144"/>
            <a:ext cx="1307264" cy="234838"/>
          </a:xfrm>
          <a:prstGeom prst="roundRect">
            <a:avLst>
              <a:gd name="adj" fmla="val 20000"/>
            </a:avLst>
          </a:prstGeom>
          <a:solidFill>
            <a:srgbClr val="E3F7DE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interp_head_text"/>
          <p:cNvSpPr txBox="1"/>
          <p:nvPr/>
        </p:nvSpPr>
        <p:spPr>
          <a:xfrm>
            <a:off x="13283996" y="1722144"/>
            <a:ext cx="1260297" cy="227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erif"/>
              </a:rPr>
              <a:t>Interpretability</a:t>
            </a:r>
          </a:p>
        </p:txBody>
      </p:sp>
      <p:sp>
        <p:nvSpPr>
          <p:cNvPr id="149" name="interp_bullets"/>
          <p:cNvSpPr txBox="1"/>
          <p:nvPr/>
        </p:nvSpPr>
        <p:spPr>
          <a:xfrm>
            <a:off x="13338792" y="2003950"/>
            <a:ext cx="1111566" cy="3679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000000"/>
                </a:solidFill>
                <a:latin typeface="Liberation Serif"/>
              </a:rPr>
              <a:t>•   Fake entity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000000"/>
                </a:solidFill>
                <a:latin typeface="Liberation Serif"/>
              </a:rPr>
              <a:t>•   Forged type</a:t>
            </a:r>
          </a:p>
        </p:txBody>
      </p:sp>
      <p:sp>
        <p:nvSpPr>
          <p:cNvPr id="150" name="pipeline_header"/>
          <p:cNvSpPr/>
          <p:nvPr/>
        </p:nvSpPr>
        <p:spPr>
          <a:xfrm>
            <a:off x="70451" y="2724119"/>
            <a:ext cx="14489497" cy="422708"/>
          </a:xfrm>
          <a:prstGeom prst="rect">
            <a:avLst/>
          </a:prstGeom>
          <a:solidFill>
            <a:srgbClr val="F2F5FC"/>
          </a:solidFill>
          <a:ln w="36576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pipeline_header_text"/>
          <p:cNvSpPr txBox="1"/>
          <p:nvPr/>
        </p:nvSpPr>
        <p:spPr>
          <a:xfrm>
            <a:off x="109591" y="2747603"/>
            <a:ext cx="14411218" cy="3757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0" b="1" i="0">
                <a:solidFill>
                  <a:srgbClr val="000000"/>
                </a:solidFill>
                <a:latin typeface="Liberation Serif"/>
              </a:rPr>
              <a:t>Fact-R1 Pipeline</a:t>
            </a:r>
          </a:p>
        </p:txBody>
      </p:sp>
      <p:sp>
        <p:nvSpPr>
          <p:cNvPr id="152" name="long_cot_panel_body"/>
          <p:cNvSpPr/>
          <p:nvPr/>
        </p:nvSpPr>
        <p:spPr>
          <a:xfrm>
            <a:off x="70451" y="3240763"/>
            <a:ext cx="4383640" cy="5244713"/>
          </a:xfrm>
          <a:prstGeom prst="roundRect">
            <a:avLst>
              <a:gd name="adj" fmla="val 2142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long_cot_panel_title_band"/>
          <p:cNvSpPr/>
          <p:nvPr/>
        </p:nvSpPr>
        <p:spPr>
          <a:xfrm>
            <a:off x="78279" y="3248591"/>
            <a:ext cx="4367985" cy="297461"/>
          </a:xfrm>
          <a:prstGeom prst="roundRect">
            <a:avLst>
              <a:gd name="adj" fmla="val 26315"/>
            </a:avLst>
          </a:prstGeom>
          <a:solidFill>
            <a:srgbClr val="FFFFEB"/>
          </a:solidFill>
          <a:ln w="18288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long_cot_panel_title"/>
          <p:cNvSpPr txBox="1"/>
          <p:nvPr/>
        </p:nvSpPr>
        <p:spPr>
          <a:xfrm>
            <a:off x="117419" y="3256419"/>
            <a:ext cx="4289705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9" b="1" i="0">
                <a:solidFill>
                  <a:srgbClr val="000000"/>
                </a:solidFill>
                <a:latin typeface="Liberation Serif"/>
              </a:rPr>
              <a:t>Long-CoT Instruction Tuning</a:t>
            </a:r>
          </a:p>
        </p:txBody>
      </p:sp>
      <p:sp>
        <p:nvSpPr>
          <p:cNvPr id="155" name="dpo_panel_body"/>
          <p:cNvSpPr/>
          <p:nvPr/>
        </p:nvSpPr>
        <p:spPr>
          <a:xfrm>
            <a:off x="5095982" y="3240763"/>
            <a:ext cx="4383640" cy="5244713"/>
          </a:xfrm>
          <a:prstGeom prst="roundRect">
            <a:avLst>
              <a:gd name="adj" fmla="val 2142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dpo_panel_title_band"/>
          <p:cNvSpPr/>
          <p:nvPr/>
        </p:nvSpPr>
        <p:spPr>
          <a:xfrm>
            <a:off x="5103810" y="3248591"/>
            <a:ext cx="4367985" cy="297461"/>
          </a:xfrm>
          <a:prstGeom prst="roundRect">
            <a:avLst>
              <a:gd name="adj" fmla="val 26315"/>
            </a:avLst>
          </a:prstGeom>
          <a:solidFill>
            <a:srgbClr val="FFFFEB"/>
          </a:solidFill>
          <a:ln w="18288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dpo_panel_title"/>
          <p:cNvSpPr txBox="1"/>
          <p:nvPr/>
        </p:nvSpPr>
        <p:spPr>
          <a:xfrm>
            <a:off x="5142950" y="3256419"/>
            <a:ext cx="4289705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9" b="1" i="0">
                <a:solidFill>
                  <a:srgbClr val="000000"/>
                </a:solidFill>
                <a:latin typeface="Liberation Serif"/>
              </a:rPr>
              <a:t>Preference Alignment via DPO</a:t>
            </a:r>
          </a:p>
        </p:txBody>
      </p:sp>
      <p:sp>
        <p:nvSpPr>
          <p:cNvPr id="158" name="grpo_panel_body"/>
          <p:cNvSpPr/>
          <p:nvPr/>
        </p:nvSpPr>
        <p:spPr>
          <a:xfrm>
            <a:off x="10137169" y="3240763"/>
            <a:ext cx="4422780" cy="5244713"/>
          </a:xfrm>
          <a:prstGeom prst="roundRect">
            <a:avLst>
              <a:gd name="adj" fmla="val 2123"/>
            </a:avLst>
          </a:prstGeom>
          <a:solidFill>
            <a:srgbClr val="FFFFFF"/>
          </a:solidFill>
          <a:ln w="27432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grpo_panel_title_band"/>
          <p:cNvSpPr/>
          <p:nvPr/>
        </p:nvSpPr>
        <p:spPr>
          <a:xfrm>
            <a:off x="10144996" y="3248591"/>
            <a:ext cx="4407124" cy="297461"/>
          </a:xfrm>
          <a:prstGeom prst="roundRect">
            <a:avLst>
              <a:gd name="adj" fmla="val 26315"/>
            </a:avLst>
          </a:prstGeom>
          <a:solidFill>
            <a:srgbClr val="FFFFEB"/>
          </a:solidFill>
          <a:ln w="18288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grpo_panel_title"/>
          <p:cNvSpPr txBox="1"/>
          <p:nvPr/>
        </p:nvSpPr>
        <p:spPr>
          <a:xfrm>
            <a:off x="10184136" y="3256419"/>
            <a:ext cx="4328845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 i="0">
                <a:solidFill>
                  <a:srgbClr val="000000"/>
                </a:solidFill>
                <a:latin typeface="Liberation Serif"/>
              </a:rPr>
              <a:t>GRPO with Verifiable Reward Function</a:t>
            </a:r>
          </a:p>
        </p:txBody>
      </p:sp>
      <p:sp>
        <p:nvSpPr>
          <p:cNvPr id="161" name="pipeline_arrow_1"/>
          <p:cNvSpPr/>
          <p:nvPr/>
        </p:nvSpPr>
        <p:spPr>
          <a:xfrm>
            <a:off x="4548027" y="5690905"/>
            <a:ext cx="469676" cy="391396"/>
          </a:xfrm>
          <a:custGeom>
            <a:avLst/>
            <a:gdLst/>
            <a:ahLst/>
            <a:cxnLst/>
            <a:rect l="l" t="t" r="r" b="b"/>
            <a:pathLst>
              <a:path w="60" h="50">
                <a:moveTo>
                  <a:pt x="0" y="11"/>
                </a:moveTo>
                <a:lnTo>
                  <a:pt x="35" y="11"/>
                </a:lnTo>
                <a:lnTo>
                  <a:pt x="35" y="0"/>
                </a:lnTo>
                <a:lnTo>
                  <a:pt x="60" y="25"/>
                </a:lnTo>
                <a:lnTo>
                  <a:pt x="35" y="50"/>
                </a:lnTo>
                <a:lnTo>
                  <a:pt x="3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7F7F7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pipeline_arrow_2"/>
          <p:cNvSpPr/>
          <p:nvPr/>
        </p:nvSpPr>
        <p:spPr>
          <a:xfrm>
            <a:off x="9581386" y="5690905"/>
            <a:ext cx="469676" cy="391396"/>
          </a:xfrm>
          <a:custGeom>
            <a:avLst/>
            <a:gdLst/>
            <a:ahLst/>
            <a:cxnLst/>
            <a:rect l="l" t="t" r="r" b="b"/>
            <a:pathLst>
              <a:path w="60" h="50">
                <a:moveTo>
                  <a:pt x="0" y="11"/>
                </a:moveTo>
                <a:lnTo>
                  <a:pt x="35" y="11"/>
                </a:lnTo>
                <a:lnTo>
                  <a:pt x="35" y="0"/>
                </a:lnTo>
                <a:lnTo>
                  <a:pt x="60" y="25"/>
                </a:lnTo>
                <a:lnTo>
                  <a:pt x="35" y="50"/>
                </a:lnTo>
                <a:lnTo>
                  <a:pt x="35" y="39"/>
                </a:lnTo>
                <a:lnTo>
                  <a:pt x="0" y="39"/>
                </a:lnTo>
                <a:close/>
              </a:path>
            </a:pathLst>
          </a:custGeom>
          <a:solidFill>
            <a:srgbClr val="7F7F7F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longcot_subtitle_a"/>
          <p:cNvSpPr txBox="1"/>
          <p:nvPr/>
        </p:nvSpPr>
        <p:spPr>
          <a:xfrm>
            <a:off x="187870" y="3639987"/>
            <a:ext cx="4070523" cy="2896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000000"/>
                </a:solidFill>
                <a:latin typeface="Liberation Serif"/>
              </a:rPr>
              <a:t>(a) Misinformation Long-cot Generation</a:t>
            </a:r>
          </a:p>
        </p:txBody>
      </p:sp>
      <p:sp>
        <p:nvSpPr>
          <p:cNvPr id="164" name="input_caption"/>
          <p:cNvSpPr/>
          <p:nvPr/>
        </p:nvSpPr>
        <p:spPr>
          <a:xfrm>
            <a:off x="211354" y="4133147"/>
            <a:ext cx="1135050" cy="587095"/>
          </a:xfrm>
          <a:prstGeom prst="roundRect">
            <a:avLst>
              <a:gd name="adj" fmla="val 9333"/>
            </a:avLst>
          </a:prstGeom>
          <a:solidFill>
            <a:srgbClr val="A6C8EB"/>
          </a:solidFill>
          <a:ln w="27432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input_caption_text"/>
          <p:cNvSpPr txBox="1"/>
          <p:nvPr/>
        </p:nvSpPr>
        <p:spPr>
          <a:xfrm>
            <a:off x="250494" y="4211426"/>
            <a:ext cx="1064598" cy="43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News-domain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Video Caption</a:t>
            </a:r>
          </a:p>
        </p:txBody>
      </p:sp>
      <p:sp>
        <p:nvSpPr>
          <p:cNvPr id="166" name="input_audio"/>
          <p:cNvSpPr/>
          <p:nvPr/>
        </p:nvSpPr>
        <p:spPr>
          <a:xfrm>
            <a:off x="211354" y="4751553"/>
            <a:ext cx="1135050" cy="328773"/>
          </a:xfrm>
          <a:prstGeom prst="roundRect">
            <a:avLst>
              <a:gd name="adj" fmla="val 11904"/>
            </a:avLst>
          </a:prstGeom>
          <a:solidFill>
            <a:srgbClr val="A6C8EB"/>
          </a:solidFill>
          <a:ln w="27432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input_audio_text"/>
          <p:cNvSpPr txBox="1"/>
          <p:nvPr/>
        </p:nvSpPr>
        <p:spPr>
          <a:xfrm>
            <a:off x="266150" y="4806349"/>
            <a:ext cx="1017631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News Audio</a:t>
            </a:r>
          </a:p>
        </p:txBody>
      </p:sp>
      <p:sp>
        <p:nvSpPr>
          <p:cNvPr id="168" name="input_title"/>
          <p:cNvSpPr/>
          <p:nvPr/>
        </p:nvSpPr>
        <p:spPr>
          <a:xfrm>
            <a:off x="211354" y="5111638"/>
            <a:ext cx="1135050" cy="328773"/>
          </a:xfrm>
          <a:prstGeom prst="roundRect">
            <a:avLst>
              <a:gd name="adj" fmla="val 11904"/>
            </a:avLst>
          </a:prstGeom>
          <a:solidFill>
            <a:srgbClr val="A6C8EB"/>
          </a:solidFill>
          <a:ln w="27432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input_title_text"/>
          <p:cNvSpPr txBox="1"/>
          <p:nvPr/>
        </p:nvSpPr>
        <p:spPr>
          <a:xfrm>
            <a:off x="266150" y="5166433"/>
            <a:ext cx="1017631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News Title</a:t>
            </a:r>
          </a:p>
        </p:txBody>
      </p:sp>
      <p:cxnSp>
        <p:nvCxnSpPr>
          <p:cNvPr id="170" name="inputs_to_reasoner_shaft"/>
          <p:cNvCxnSpPr/>
          <p:nvPr/>
        </p:nvCxnSpPr>
        <p:spPr>
          <a:xfrm>
            <a:off x="1393371" y="4775037"/>
            <a:ext cx="187871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inputs_to_reasoner_head"/>
          <p:cNvSpPr/>
          <p:nvPr/>
        </p:nvSpPr>
        <p:spPr>
          <a:xfrm>
            <a:off x="1581242" y="4728069"/>
            <a:ext cx="86107" cy="93935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0" y="12"/>
                </a:moveTo>
                <a:lnTo>
                  <a:pt x="11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longcot_prompt_bulb_glass"/>
          <p:cNvSpPr/>
          <p:nvPr/>
        </p:nvSpPr>
        <p:spPr>
          <a:xfrm>
            <a:off x="1455995" y="3968760"/>
            <a:ext cx="178477" cy="223096"/>
          </a:xfrm>
          <a:prstGeom prst="ellipse">
            <a:avLst/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3" name="longcot_prompt_bulb_stem"/>
          <p:cNvCxnSpPr/>
          <p:nvPr/>
        </p:nvCxnSpPr>
        <p:spPr>
          <a:xfrm>
            <a:off x="1515487" y="4191856"/>
            <a:ext cx="59492" cy="0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longcot_prompt_bulb_base"/>
          <p:cNvCxnSpPr/>
          <p:nvPr/>
        </p:nvCxnSpPr>
        <p:spPr>
          <a:xfrm>
            <a:off x="1522924" y="4221602"/>
            <a:ext cx="44619" cy="0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longcot_prompt_bulb_ray0"/>
          <p:cNvCxnSpPr/>
          <p:nvPr/>
        </p:nvCxnSpPr>
        <p:spPr>
          <a:xfrm flipV="1">
            <a:off x="1545233" y="3894395"/>
            <a:ext cx="0" cy="37183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longcot_prompt_bulb_ray1"/>
          <p:cNvCxnSpPr/>
          <p:nvPr/>
        </p:nvCxnSpPr>
        <p:spPr>
          <a:xfrm flipV="1">
            <a:off x="1650402" y="3948848"/>
            <a:ext cx="26292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longcot_prompt_bulb_ray2"/>
          <p:cNvCxnSpPr/>
          <p:nvPr/>
        </p:nvCxnSpPr>
        <p:spPr>
          <a:xfrm>
            <a:off x="1693964" y="4080308"/>
            <a:ext cx="37183" cy="0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longcot_prompt_bulb_ray3"/>
          <p:cNvCxnSpPr/>
          <p:nvPr/>
        </p:nvCxnSpPr>
        <p:spPr>
          <a:xfrm>
            <a:off x="1650402" y="4185477"/>
            <a:ext cx="26292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longcot_prompt_bulb_ray4"/>
          <p:cNvCxnSpPr/>
          <p:nvPr/>
        </p:nvCxnSpPr>
        <p:spPr>
          <a:xfrm>
            <a:off x="1545233" y="4229039"/>
            <a:ext cx="0" cy="37183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longcot_prompt_bulb_ray5"/>
          <p:cNvCxnSpPr/>
          <p:nvPr/>
        </p:nvCxnSpPr>
        <p:spPr>
          <a:xfrm flipH="1">
            <a:off x="1413773" y="4185477"/>
            <a:ext cx="26292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longcot_prompt_bulb_ray6"/>
          <p:cNvCxnSpPr/>
          <p:nvPr/>
        </p:nvCxnSpPr>
        <p:spPr>
          <a:xfrm flipH="1">
            <a:off x="1359320" y="4080308"/>
            <a:ext cx="37183" cy="0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longcot_prompt_bulb_ray7"/>
          <p:cNvCxnSpPr/>
          <p:nvPr/>
        </p:nvCxnSpPr>
        <p:spPr>
          <a:xfrm flipH="1" flipV="1">
            <a:off x="1413773" y="3948848"/>
            <a:ext cx="26292" cy="26292"/>
          </a:xfrm>
          <a:prstGeom prst="line">
            <a:avLst/>
          </a:prstGeom>
          <a:ln w="13716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longcot_prompt"/>
          <p:cNvSpPr txBox="1"/>
          <p:nvPr/>
        </p:nvSpPr>
        <p:spPr>
          <a:xfrm>
            <a:off x="1714317" y="3890481"/>
            <a:ext cx="821933" cy="414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Designed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Prompt</a:t>
            </a:r>
          </a:p>
        </p:txBody>
      </p:sp>
      <p:cxnSp>
        <p:nvCxnSpPr>
          <p:cNvPr id="184" name="longcot_prompt_arrow_shaft"/>
          <p:cNvCxnSpPr/>
          <p:nvPr/>
        </p:nvCxnSpPr>
        <p:spPr>
          <a:xfrm>
            <a:off x="1964810" y="4321017"/>
            <a:ext cx="0" cy="140903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longcot_prompt_arrow_head"/>
          <p:cNvSpPr/>
          <p:nvPr/>
        </p:nvSpPr>
        <p:spPr>
          <a:xfrm>
            <a:off x="1917843" y="4461920"/>
            <a:ext cx="93935" cy="78279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0"/>
                </a:moveTo>
                <a:lnTo>
                  <a:pt x="6" y="10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deepseek_body"/>
          <p:cNvSpPr/>
          <p:nvPr/>
        </p:nvSpPr>
        <p:spPr>
          <a:xfrm>
            <a:off x="1698661" y="4508887"/>
            <a:ext cx="618406" cy="454020"/>
          </a:xfrm>
          <a:prstGeom prst="ellipse">
            <a:avLst/>
          </a:prstGeom>
          <a:solidFill>
            <a:srgbClr val="4776FF"/>
          </a:solidFill>
          <a:ln w="9144">
            <a:solidFill>
              <a:srgbClr val="477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deepseek_tail"/>
          <p:cNvSpPr/>
          <p:nvPr/>
        </p:nvSpPr>
        <p:spPr>
          <a:xfrm>
            <a:off x="1589070" y="4735897"/>
            <a:ext cx="156559" cy="93935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15" y="0"/>
                </a:moveTo>
                <a:lnTo>
                  <a:pt x="0" y="10"/>
                </a:lnTo>
                <a:lnTo>
                  <a:pt x="20" y="12"/>
                </a:lnTo>
                <a:close/>
              </a:path>
            </a:pathLst>
          </a:custGeom>
          <a:solidFill>
            <a:srgbClr val="4776FF"/>
          </a:solidFill>
          <a:ln w="9144">
            <a:solidFill>
              <a:srgbClr val="477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deepseek_eye"/>
          <p:cNvSpPr/>
          <p:nvPr/>
        </p:nvSpPr>
        <p:spPr>
          <a:xfrm>
            <a:off x="2097885" y="4634134"/>
            <a:ext cx="54796" cy="54796"/>
          </a:xfrm>
          <a:prstGeom prst="ellipse">
            <a:avLst/>
          </a:prstGeom>
          <a:solidFill>
            <a:srgbClr val="FFFFFF"/>
          </a:solidFill>
          <a:ln w="91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deepseek_label"/>
          <p:cNvSpPr txBox="1"/>
          <p:nvPr/>
        </p:nvSpPr>
        <p:spPr>
          <a:xfrm>
            <a:off x="1581242" y="4986391"/>
            <a:ext cx="861072" cy="1800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9" b="1" i="0">
                <a:solidFill>
                  <a:srgbClr val="000000"/>
                </a:solidFill>
                <a:latin typeface="Liberation Serif"/>
              </a:rPr>
              <a:t>DeepSeek-R1</a:t>
            </a:r>
          </a:p>
        </p:txBody>
      </p:sp>
      <p:cxnSp>
        <p:nvCxnSpPr>
          <p:cNvPr id="190" name="reasoner_to_longcot_shaft"/>
          <p:cNvCxnSpPr/>
          <p:nvPr/>
        </p:nvCxnSpPr>
        <p:spPr>
          <a:xfrm>
            <a:off x="2332723" y="4775037"/>
            <a:ext cx="180042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easoner_to_longcot_head"/>
          <p:cNvSpPr/>
          <p:nvPr/>
        </p:nvSpPr>
        <p:spPr>
          <a:xfrm>
            <a:off x="2512765" y="4728069"/>
            <a:ext cx="86107" cy="93935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0" y="12"/>
                </a:moveTo>
                <a:lnTo>
                  <a:pt x="11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longcot_data_heading"/>
          <p:cNvSpPr txBox="1"/>
          <p:nvPr/>
        </p:nvSpPr>
        <p:spPr>
          <a:xfrm>
            <a:off x="2896334" y="3984416"/>
            <a:ext cx="1393371" cy="3757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Misinformation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Long-cot Data</a:t>
            </a:r>
          </a:p>
        </p:txBody>
      </p:sp>
      <p:sp>
        <p:nvSpPr>
          <p:cNvPr id="193" name="longcot_data_box"/>
          <p:cNvSpPr/>
          <p:nvPr/>
        </p:nvSpPr>
        <p:spPr>
          <a:xfrm>
            <a:off x="2630184" y="4430608"/>
            <a:ext cx="1683005" cy="610578"/>
          </a:xfrm>
          <a:prstGeom prst="roundRect">
            <a:avLst>
              <a:gd name="adj" fmla="val 12820"/>
            </a:avLst>
          </a:prstGeom>
          <a:solidFill>
            <a:srgbClr val="A6C8EB"/>
          </a:solidFill>
          <a:ln w="27432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longcot_syntax"/>
          <p:cNvSpPr txBox="1"/>
          <p:nvPr/>
        </p:nvSpPr>
        <p:spPr>
          <a:xfrm>
            <a:off x="2700636" y="4563683"/>
            <a:ext cx="1542102" cy="3679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&lt;think&gt;... &lt;think&gt;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&lt;answer&gt;...&lt;/answer&gt;</a:t>
            </a:r>
          </a:p>
        </p:txBody>
      </p:sp>
      <p:sp>
        <p:nvSpPr>
          <p:cNvPr id="195" name="judge_question_mark"/>
          <p:cNvSpPr txBox="1"/>
          <p:nvPr/>
        </p:nvSpPr>
        <p:spPr>
          <a:xfrm>
            <a:off x="1393371" y="5213401"/>
            <a:ext cx="219182" cy="266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0" b="1" i="0">
                <a:solidFill>
                  <a:srgbClr val="FFA51C"/>
                </a:solidFill>
                <a:latin typeface="Liberation Serif"/>
              </a:rPr>
              <a:t>?</a:t>
            </a:r>
          </a:p>
        </p:txBody>
      </p:sp>
      <p:sp>
        <p:nvSpPr>
          <p:cNvPr id="196" name="judge_prompt"/>
          <p:cNvSpPr txBox="1"/>
          <p:nvPr/>
        </p:nvSpPr>
        <p:spPr>
          <a:xfrm>
            <a:off x="1573414" y="5236885"/>
            <a:ext cx="1009803" cy="3679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FFA51C"/>
                </a:solidFill>
                <a:latin typeface="Liberation Sans Narrow"/>
              </a:rPr>
              <a:t>Judge Fake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FFA51C"/>
                </a:solidFill>
                <a:latin typeface="Liberation Sans Narrow"/>
              </a:rPr>
              <a:t>     or Real</a:t>
            </a:r>
          </a:p>
        </p:txBody>
      </p:sp>
      <p:sp>
        <p:nvSpPr>
          <p:cNvPr id="197" name="label_check_circle"/>
          <p:cNvSpPr/>
          <p:nvPr/>
        </p:nvSpPr>
        <p:spPr>
          <a:xfrm>
            <a:off x="2849366" y="5142950"/>
            <a:ext cx="172214" cy="172214"/>
          </a:xfrm>
          <a:prstGeom prst="ellipse">
            <a:avLst/>
          </a:prstGeom>
          <a:solidFill>
            <a:srgbClr val="00B26B"/>
          </a:solidFill>
          <a:ln w="9144">
            <a:solidFill>
              <a:srgbClr val="00B26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8" name="label_check_tick1"/>
          <p:cNvCxnSpPr/>
          <p:nvPr/>
        </p:nvCxnSpPr>
        <p:spPr>
          <a:xfrm>
            <a:off x="2888506" y="5232501"/>
            <a:ext cx="33190" cy="34443"/>
          </a:xfrm>
          <a:prstGeom prst="line">
            <a:avLst/>
          </a:prstGeom>
          <a:ln w="2285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label_check_tick2"/>
          <p:cNvCxnSpPr/>
          <p:nvPr/>
        </p:nvCxnSpPr>
        <p:spPr>
          <a:xfrm flipV="1">
            <a:off x="2921696" y="5192892"/>
            <a:ext cx="65442" cy="74052"/>
          </a:xfrm>
          <a:prstGeom prst="line">
            <a:avLst/>
          </a:prstGeom>
          <a:ln w="2285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abel_text"/>
          <p:cNvSpPr txBox="1"/>
          <p:nvPr/>
        </p:nvSpPr>
        <p:spPr>
          <a:xfrm>
            <a:off x="3052892" y="5119466"/>
            <a:ext cx="884556" cy="2035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B26B"/>
                </a:solidFill>
                <a:latin typeface="Liberation Sans Narrow"/>
              </a:rPr>
              <a:t>Label</a:t>
            </a:r>
          </a:p>
        </p:txBody>
      </p:sp>
      <p:sp>
        <p:nvSpPr>
          <p:cNvPr id="201" name="explain_check_circle"/>
          <p:cNvSpPr/>
          <p:nvPr/>
        </p:nvSpPr>
        <p:spPr>
          <a:xfrm>
            <a:off x="2849366" y="5354304"/>
            <a:ext cx="172214" cy="172214"/>
          </a:xfrm>
          <a:prstGeom prst="ellipse">
            <a:avLst/>
          </a:prstGeom>
          <a:solidFill>
            <a:srgbClr val="00B26B"/>
          </a:solidFill>
          <a:ln w="9144">
            <a:solidFill>
              <a:srgbClr val="00B26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2" name="explain_check_tick1"/>
          <p:cNvCxnSpPr/>
          <p:nvPr/>
        </p:nvCxnSpPr>
        <p:spPr>
          <a:xfrm>
            <a:off x="2888506" y="5443855"/>
            <a:ext cx="33190" cy="34443"/>
          </a:xfrm>
          <a:prstGeom prst="line">
            <a:avLst/>
          </a:prstGeom>
          <a:ln w="2285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explain_check_tick2"/>
          <p:cNvCxnSpPr/>
          <p:nvPr/>
        </p:nvCxnSpPr>
        <p:spPr>
          <a:xfrm flipV="1">
            <a:off x="2921696" y="5404246"/>
            <a:ext cx="65442" cy="74052"/>
          </a:xfrm>
          <a:prstGeom prst="line">
            <a:avLst/>
          </a:prstGeom>
          <a:ln w="2285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explain_text"/>
          <p:cNvSpPr txBox="1"/>
          <p:nvPr/>
        </p:nvSpPr>
        <p:spPr>
          <a:xfrm>
            <a:off x="3052892" y="5338648"/>
            <a:ext cx="1174189" cy="211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B26B"/>
                </a:solidFill>
                <a:latin typeface="Liberation Sans Narrow"/>
              </a:rPr>
              <a:t>Explainability</a:t>
            </a:r>
          </a:p>
        </p:txBody>
      </p:sp>
      <p:sp>
        <p:nvSpPr>
          <p:cNvPr id="205" name="sft_subtitle"/>
          <p:cNvSpPr txBox="1"/>
          <p:nvPr/>
        </p:nvSpPr>
        <p:spPr>
          <a:xfrm>
            <a:off x="187870" y="5722216"/>
            <a:ext cx="1722144" cy="2818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9" b="1" i="0">
                <a:solidFill>
                  <a:srgbClr val="000000"/>
                </a:solidFill>
                <a:latin typeface="Liberation Serif"/>
              </a:rPr>
              <a:t>(b) Thinking SFT</a:t>
            </a:r>
          </a:p>
        </p:txBody>
      </p:sp>
      <p:sp>
        <p:nvSpPr>
          <p:cNvPr id="206" name="generation_label"/>
          <p:cNvSpPr txBox="1"/>
          <p:nvPr/>
        </p:nvSpPr>
        <p:spPr>
          <a:xfrm>
            <a:off x="1863047" y="5996194"/>
            <a:ext cx="2504937" cy="219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erif"/>
              </a:rPr>
              <a:t>Generation: &lt;think&gt;\nThe video…</a:t>
            </a:r>
          </a:p>
        </p:txBody>
      </p:sp>
      <p:cxnSp>
        <p:nvCxnSpPr>
          <p:cNvPr id="207" name="model_to_generation_shaft"/>
          <p:cNvCxnSpPr/>
          <p:nvPr/>
        </p:nvCxnSpPr>
        <p:spPr>
          <a:xfrm flipV="1">
            <a:off x="3193795" y="6223204"/>
            <a:ext cx="0" cy="140903"/>
          </a:xfrm>
          <a:prstGeom prst="line">
            <a:avLst/>
          </a:prstGeom>
          <a:ln w="45719">
            <a:solidFill>
              <a:srgbClr val="4A9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model_to_generation_head"/>
          <p:cNvSpPr/>
          <p:nvPr/>
        </p:nvSpPr>
        <p:spPr>
          <a:xfrm>
            <a:off x="3146828" y="6137097"/>
            <a:ext cx="93935" cy="86107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12" y="11"/>
                </a:moveTo>
                <a:lnTo>
                  <a:pt x="6" y="0"/>
                </a:lnTo>
                <a:lnTo>
                  <a:pt x="0" y="11"/>
                </a:lnTo>
                <a:close/>
              </a:path>
            </a:pathLst>
          </a:custGeom>
          <a:solidFill>
            <a:srgbClr val="4A96DF"/>
          </a:solidFill>
          <a:ln w="4572">
            <a:solidFill>
              <a:srgbClr val="4A96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llm_bar"/>
          <p:cNvSpPr/>
          <p:nvPr/>
        </p:nvSpPr>
        <p:spPr>
          <a:xfrm>
            <a:off x="242666" y="6348451"/>
            <a:ext cx="4094007" cy="454020"/>
          </a:xfrm>
          <a:prstGeom prst="roundRect">
            <a:avLst>
              <a:gd name="adj" fmla="val 15517"/>
            </a:avLst>
          </a:prstGeom>
          <a:solidFill>
            <a:srgbClr val="DEEAF6"/>
          </a:solidFill>
          <a:ln w="9144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lora_badge"/>
          <p:cNvSpPr/>
          <p:nvPr/>
        </p:nvSpPr>
        <p:spPr>
          <a:xfrm>
            <a:off x="266150" y="6387590"/>
            <a:ext cx="767137" cy="375741"/>
          </a:xfrm>
          <a:prstGeom prst="roundRect">
            <a:avLst>
              <a:gd name="adj" fmla="val 16666"/>
            </a:avLst>
          </a:prstGeom>
          <a:solidFill>
            <a:srgbClr val="F8C5A7"/>
          </a:solidFill>
          <a:ln w="18288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lora_flame"/>
          <p:cNvSpPr/>
          <p:nvPr/>
        </p:nvSpPr>
        <p:spPr>
          <a:xfrm>
            <a:off x="336601" y="6473698"/>
            <a:ext cx="125247" cy="180042"/>
          </a:xfrm>
          <a:custGeom>
            <a:avLst/>
            <a:gdLst/>
            <a:ahLst/>
            <a:cxnLst/>
            <a:rect l="l" t="t" r="r" b="b"/>
            <a:pathLst>
              <a:path w="16" h="23">
                <a:moveTo>
                  <a:pt x="9" y="0"/>
                </a:moveTo>
                <a:lnTo>
                  <a:pt x="16" y="8"/>
                </a:lnTo>
                <a:lnTo>
                  <a:pt x="14" y="21"/>
                </a:lnTo>
                <a:lnTo>
                  <a:pt x="6" y="23"/>
                </a:lnTo>
                <a:lnTo>
                  <a:pt x="0" y="14"/>
                </a:lnTo>
                <a:lnTo>
                  <a:pt x="4" y="6"/>
                </a:lnTo>
                <a:lnTo>
                  <a:pt x="7" y="12"/>
                </a:lnTo>
                <a:close/>
              </a:path>
            </a:pathLst>
          </a:cu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lora_text"/>
          <p:cNvSpPr txBox="1"/>
          <p:nvPr/>
        </p:nvSpPr>
        <p:spPr>
          <a:xfrm>
            <a:off x="477504" y="6465870"/>
            <a:ext cx="477504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0">
                <a:solidFill>
                  <a:srgbClr val="000000"/>
                </a:solidFill>
                <a:latin typeface="Liberation Serif"/>
              </a:rPr>
              <a:t>LoRA</a:t>
            </a:r>
          </a:p>
        </p:txBody>
      </p:sp>
      <p:sp>
        <p:nvSpPr>
          <p:cNvPr id="213" name="llm_text"/>
          <p:cNvSpPr txBox="1"/>
          <p:nvPr/>
        </p:nvSpPr>
        <p:spPr>
          <a:xfrm>
            <a:off x="1174189" y="6434558"/>
            <a:ext cx="3021581" cy="2896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9" b="1" i="0">
                <a:solidFill>
                  <a:srgbClr val="000000"/>
                </a:solidFill>
                <a:latin typeface="Liberation Serif"/>
              </a:rPr>
              <a:t>Large Language Model</a:t>
            </a:r>
          </a:p>
        </p:txBody>
      </p:sp>
      <p:cxnSp>
        <p:nvCxnSpPr>
          <p:cNvPr id="214" name="projector_to_llm_shaft"/>
          <p:cNvCxnSpPr/>
          <p:nvPr/>
        </p:nvCxnSpPr>
        <p:spPr>
          <a:xfrm flipV="1">
            <a:off x="1228985" y="6896406"/>
            <a:ext cx="0" cy="140903"/>
          </a:xfrm>
          <a:prstGeom prst="line">
            <a:avLst/>
          </a:prstGeom>
          <a:ln w="45719">
            <a:solidFill>
              <a:srgbClr val="4A9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projector_to_llm_head"/>
          <p:cNvSpPr/>
          <p:nvPr/>
        </p:nvSpPr>
        <p:spPr>
          <a:xfrm>
            <a:off x="1174189" y="6802471"/>
            <a:ext cx="109591" cy="93935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14" y="12"/>
                </a:moveTo>
                <a:lnTo>
                  <a:pt x="7" y="0"/>
                </a:lnTo>
                <a:lnTo>
                  <a:pt x="0" y="12"/>
                </a:lnTo>
                <a:close/>
              </a:path>
            </a:pathLst>
          </a:custGeom>
          <a:solidFill>
            <a:srgbClr val="4A96DF"/>
          </a:solidFill>
          <a:ln w="4572">
            <a:solidFill>
              <a:srgbClr val="4A96D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embedding_to_llm_shaft"/>
          <p:cNvCxnSpPr/>
          <p:nvPr/>
        </p:nvCxnSpPr>
        <p:spPr>
          <a:xfrm flipV="1">
            <a:off x="3201623" y="6896406"/>
            <a:ext cx="0" cy="140903"/>
          </a:xfrm>
          <a:prstGeom prst="line">
            <a:avLst/>
          </a:prstGeom>
          <a:ln w="45719">
            <a:solidFill>
              <a:srgbClr val="4A9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embedding_to_llm_head"/>
          <p:cNvSpPr/>
          <p:nvPr/>
        </p:nvSpPr>
        <p:spPr>
          <a:xfrm>
            <a:off x="3146828" y="6802471"/>
            <a:ext cx="109591" cy="93935"/>
          </a:xfrm>
          <a:custGeom>
            <a:avLst/>
            <a:gdLst/>
            <a:ahLst/>
            <a:cxnLst/>
            <a:rect l="l" t="t" r="r" b="b"/>
            <a:pathLst>
              <a:path w="14" h="12">
                <a:moveTo>
                  <a:pt x="14" y="12"/>
                </a:moveTo>
                <a:lnTo>
                  <a:pt x="7" y="0"/>
                </a:lnTo>
                <a:lnTo>
                  <a:pt x="0" y="12"/>
                </a:lnTo>
                <a:close/>
              </a:path>
            </a:pathLst>
          </a:custGeom>
          <a:solidFill>
            <a:srgbClr val="4A96DF"/>
          </a:solidFill>
          <a:ln w="4572">
            <a:solidFill>
              <a:srgbClr val="4A96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projector_box"/>
          <p:cNvSpPr/>
          <p:nvPr/>
        </p:nvSpPr>
        <p:spPr>
          <a:xfrm>
            <a:off x="391396" y="7052964"/>
            <a:ext cx="1643865" cy="336601"/>
          </a:xfrm>
          <a:prstGeom prst="roundRect">
            <a:avLst>
              <a:gd name="adj" fmla="val 16279"/>
            </a:avLst>
          </a:prstGeom>
          <a:solidFill>
            <a:srgbClr val="D9D9D9"/>
          </a:solidFill>
          <a:ln w="9144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projector_flame"/>
          <p:cNvSpPr/>
          <p:nvPr/>
        </p:nvSpPr>
        <p:spPr>
          <a:xfrm>
            <a:off x="469676" y="7139072"/>
            <a:ext cx="117419" cy="164387"/>
          </a:xfrm>
          <a:custGeom>
            <a:avLst/>
            <a:gdLst/>
            <a:ahLst/>
            <a:cxnLst/>
            <a:rect l="l" t="t" r="r" b="b"/>
            <a:pathLst>
              <a:path w="15" h="21">
                <a:moveTo>
                  <a:pt x="8" y="0"/>
                </a:moveTo>
                <a:lnTo>
                  <a:pt x="15" y="8"/>
                </a:lnTo>
                <a:lnTo>
                  <a:pt x="12" y="19"/>
                </a:lnTo>
                <a:lnTo>
                  <a:pt x="5" y="21"/>
                </a:lnTo>
                <a:lnTo>
                  <a:pt x="0" y="13"/>
                </a:lnTo>
                <a:lnTo>
                  <a:pt x="3" y="6"/>
                </a:lnTo>
                <a:lnTo>
                  <a:pt x="6" y="11"/>
                </a:lnTo>
                <a:close/>
              </a:path>
            </a:pathLst>
          </a:cu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projector_text"/>
          <p:cNvSpPr txBox="1"/>
          <p:nvPr/>
        </p:nvSpPr>
        <p:spPr>
          <a:xfrm>
            <a:off x="626234" y="7123416"/>
            <a:ext cx="1268125" cy="211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0">
                <a:solidFill>
                  <a:srgbClr val="000000"/>
                </a:solidFill>
                <a:latin typeface="Liberation Serif"/>
              </a:rPr>
              <a:t>Projector</a:t>
            </a:r>
          </a:p>
        </p:txBody>
      </p:sp>
      <p:sp>
        <p:nvSpPr>
          <p:cNvPr id="221" name="embedding_box"/>
          <p:cNvSpPr/>
          <p:nvPr/>
        </p:nvSpPr>
        <p:spPr>
          <a:xfrm>
            <a:off x="2348379" y="7052964"/>
            <a:ext cx="1628209" cy="336601"/>
          </a:xfrm>
          <a:prstGeom prst="roundRect">
            <a:avLst>
              <a:gd name="adj" fmla="val 16279"/>
            </a:avLst>
          </a:prstGeom>
          <a:solidFill>
            <a:srgbClr val="DEEAF6"/>
          </a:solidFill>
          <a:ln w="9144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embedding_text"/>
          <p:cNvSpPr txBox="1"/>
          <p:nvPr/>
        </p:nvSpPr>
        <p:spPr>
          <a:xfrm>
            <a:off x="2426658" y="7123416"/>
            <a:ext cx="1471651" cy="2113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000000"/>
                </a:solidFill>
                <a:latin typeface="Liberation Serif"/>
              </a:rPr>
              <a:t>Embedding</a:t>
            </a:r>
          </a:p>
        </p:txBody>
      </p:sp>
      <p:sp>
        <p:nvSpPr>
          <p:cNvPr id="223" name="visual_encoder_box"/>
          <p:cNvSpPr/>
          <p:nvPr/>
        </p:nvSpPr>
        <p:spPr>
          <a:xfrm>
            <a:off x="375741" y="7467845"/>
            <a:ext cx="1643865" cy="336601"/>
          </a:xfrm>
          <a:prstGeom prst="roundRect">
            <a:avLst>
              <a:gd name="adj" fmla="val 16279"/>
            </a:avLst>
          </a:prstGeom>
          <a:solidFill>
            <a:srgbClr val="FFF0D5"/>
          </a:solidFill>
          <a:ln w="9144">
            <a:solidFill>
              <a:srgbClr val="FFF0D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visual_snowflake_0"/>
          <p:cNvCxnSpPr/>
          <p:nvPr/>
        </p:nvCxnSpPr>
        <p:spPr>
          <a:xfrm>
            <a:off x="439147" y="7624403"/>
            <a:ext cx="154993" cy="0"/>
          </a:xfrm>
          <a:prstGeom prst="line">
            <a:avLst/>
          </a:prstGeom>
          <a:ln w="22859">
            <a:solidFill>
              <a:srgbClr val="42A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visual_snowflake_1"/>
          <p:cNvCxnSpPr/>
          <p:nvPr/>
        </p:nvCxnSpPr>
        <p:spPr>
          <a:xfrm>
            <a:off x="477895" y="7557289"/>
            <a:ext cx="77497" cy="134228"/>
          </a:xfrm>
          <a:prstGeom prst="line">
            <a:avLst/>
          </a:prstGeom>
          <a:ln w="22859">
            <a:solidFill>
              <a:srgbClr val="42A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visual_snowflake_2"/>
          <p:cNvCxnSpPr/>
          <p:nvPr/>
        </p:nvCxnSpPr>
        <p:spPr>
          <a:xfrm flipH="1">
            <a:off x="477895" y="7557289"/>
            <a:ext cx="77497" cy="134228"/>
          </a:xfrm>
          <a:prstGeom prst="line">
            <a:avLst/>
          </a:prstGeom>
          <a:ln w="22859">
            <a:solidFill>
              <a:srgbClr val="42A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visual_encoder_text"/>
          <p:cNvSpPr txBox="1"/>
          <p:nvPr/>
        </p:nvSpPr>
        <p:spPr>
          <a:xfrm>
            <a:off x="610578" y="7530468"/>
            <a:ext cx="1307264" cy="219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erif"/>
              </a:rPr>
              <a:t>Visual Encoder</a:t>
            </a:r>
          </a:p>
        </p:txBody>
      </p:sp>
      <p:cxnSp>
        <p:nvCxnSpPr>
          <p:cNvPr id="228" name="visual_to_projector_shaft"/>
          <p:cNvCxnSpPr/>
          <p:nvPr/>
        </p:nvCxnSpPr>
        <p:spPr>
          <a:xfrm flipV="1">
            <a:off x="1221157" y="7460017"/>
            <a:ext cx="0" cy="7828"/>
          </a:xfrm>
          <a:prstGeom prst="line">
            <a:avLst/>
          </a:prstGeom>
          <a:ln w="45719">
            <a:solidFill>
              <a:srgbClr val="4A9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visual_to_projector_head"/>
          <p:cNvSpPr/>
          <p:nvPr/>
        </p:nvSpPr>
        <p:spPr>
          <a:xfrm>
            <a:off x="1182017" y="7389565"/>
            <a:ext cx="78279" cy="70451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10" y="9"/>
                </a:moveTo>
                <a:lnTo>
                  <a:pt x="5" y="0"/>
                </a:lnTo>
                <a:lnTo>
                  <a:pt x="0" y="9"/>
                </a:lnTo>
                <a:close/>
              </a:path>
            </a:pathLst>
          </a:custGeom>
          <a:solidFill>
            <a:srgbClr val="4A96DF"/>
          </a:solidFill>
          <a:ln w="4572">
            <a:solidFill>
              <a:srgbClr val="4A96D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title_to_embedding_shaft"/>
          <p:cNvCxnSpPr/>
          <p:nvPr/>
        </p:nvCxnSpPr>
        <p:spPr>
          <a:xfrm flipV="1">
            <a:off x="3193795" y="7460017"/>
            <a:ext cx="0" cy="7828"/>
          </a:xfrm>
          <a:prstGeom prst="line">
            <a:avLst/>
          </a:prstGeom>
          <a:ln w="45719">
            <a:solidFill>
              <a:srgbClr val="4A9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itle_to_embedding_head"/>
          <p:cNvSpPr/>
          <p:nvPr/>
        </p:nvSpPr>
        <p:spPr>
          <a:xfrm>
            <a:off x="3154656" y="7389565"/>
            <a:ext cx="78279" cy="70451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10" y="9"/>
                </a:moveTo>
                <a:lnTo>
                  <a:pt x="5" y="0"/>
                </a:lnTo>
                <a:lnTo>
                  <a:pt x="0" y="9"/>
                </a:lnTo>
                <a:close/>
              </a:path>
            </a:pathLst>
          </a:custGeom>
          <a:solidFill>
            <a:srgbClr val="4A96DF"/>
          </a:solidFill>
          <a:ln w="4572">
            <a:solidFill>
              <a:srgbClr val="4A96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2" name="left_news_frame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62" y="7859241"/>
            <a:ext cx="1033287" cy="563611"/>
          </a:xfrm>
          <a:prstGeom prst="rect">
            <a:avLst/>
          </a:prstGeom>
        </p:spPr>
      </p:pic>
      <p:sp>
        <p:nvSpPr>
          <p:cNvPr id="233" name="left_news_speaker_box"/>
          <p:cNvSpPr/>
          <p:nvPr/>
        </p:nvSpPr>
        <p:spPr>
          <a:xfrm>
            <a:off x="2152681" y="7613444"/>
            <a:ext cx="48220" cy="68886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left_news_speaker_cone"/>
          <p:cNvSpPr/>
          <p:nvPr/>
        </p:nvSpPr>
        <p:spPr>
          <a:xfrm>
            <a:off x="2199648" y="7577436"/>
            <a:ext cx="70451" cy="140903"/>
          </a:xfrm>
          <a:custGeom>
            <a:avLst/>
            <a:gdLst/>
            <a:ahLst/>
            <a:cxnLst/>
            <a:rect l="l" t="t" r="r" b="b"/>
            <a:pathLst>
              <a:path w="9" h="18">
                <a:moveTo>
                  <a:pt x="0" y="5"/>
                </a:moveTo>
                <a:lnTo>
                  <a:pt x="9" y="0"/>
                </a:lnTo>
                <a:lnTo>
                  <a:pt x="9" y="18"/>
                </a:lnTo>
                <a:lnTo>
                  <a:pt x="0" y="13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left_news_speaker_wave1"/>
          <p:cNvCxnSpPr/>
          <p:nvPr/>
        </p:nvCxnSpPr>
        <p:spPr>
          <a:xfrm>
            <a:off x="2281841" y="7616888"/>
            <a:ext cx="18944" cy="30999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left_news_speaker_wave2"/>
          <p:cNvCxnSpPr/>
          <p:nvPr/>
        </p:nvCxnSpPr>
        <p:spPr>
          <a:xfrm flipH="1">
            <a:off x="2281841" y="7647887"/>
            <a:ext cx="18944" cy="30999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news_title_body"/>
          <p:cNvSpPr txBox="1"/>
          <p:nvPr/>
        </p:nvSpPr>
        <p:spPr>
          <a:xfrm>
            <a:off x="2348379" y="7553952"/>
            <a:ext cx="1980466" cy="87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79" b="0" i="1">
                <a:solidFill>
                  <a:srgbClr val="000000"/>
                </a:solidFill>
                <a:latin typeface="Liberation Sans Narrow"/>
              </a:rPr>
              <a:t>News title: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79" b="0" i="1">
                <a:solidFill>
                  <a:srgbClr val="000000"/>
                </a:solidFill>
                <a:latin typeface="Liberation Sans Narrow"/>
              </a:rPr>
              <a:t>The news title is ‘British man captur-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79" b="0" i="1">
                <a:solidFill>
                  <a:srgbClr val="000000"/>
                </a:solidFill>
                <a:latin typeface="Liberation Sans Narrow"/>
              </a:rPr>
              <a:t>ed while fighting with Russia.’, the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79" b="0" i="1">
                <a:solidFill>
                  <a:srgbClr val="000000"/>
                </a:solidFill>
                <a:latin typeface="Liberation Sans Narrow"/>
              </a:rPr>
              <a:t>news audio is ‘British foreign..’ is this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79" b="0" i="1">
                <a:solidFill>
                  <a:srgbClr val="000000"/>
                </a:solidFill>
                <a:latin typeface="Liberation Sans Narrow"/>
              </a:rPr>
              <a:t>multimodal content manipulated?</a:t>
            </a:r>
          </a:p>
        </p:txBody>
      </p:sp>
      <p:sp>
        <p:nvSpPr>
          <p:cNvPr id="238" name="dpo_subtitle_a"/>
          <p:cNvSpPr txBox="1"/>
          <p:nvPr/>
        </p:nvSpPr>
        <p:spPr>
          <a:xfrm>
            <a:off x="5299508" y="3647815"/>
            <a:ext cx="3953104" cy="2974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0000"/>
                </a:solidFill>
                <a:latin typeface="Liberation Serif"/>
              </a:rPr>
              <a:t>(a) Human Preference Data Generation</a:t>
            </a:r>
          </a:p>
        </p:txBody>
      </p:sp>
      <p:pic>
        <p:nvPicPr>
          <p:cNvPr id="239" name="dpo_video_0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518" y="4023556"/>
            <a:ext cx="829761" cy="485332"/>
          </a:xfrm>
          <a:prstGeom prst="rect">
            <a:avLst/>
          </a:prstGeom>
        </p:spPr>
      </p:pic>
      <p:pic>
        <p:nvPicPr>
          <p:cNvPr id="240" name="dpo_video_1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314" y="3968760"/>
            <a:ext cx="829761" cy="485332"/>
          </a:xfrm>
          <a:prstGeom prst="rect">
            <a:avLst/>
          </a:prstGeom>
        </p:spPr>
      </p:pic>
      <p:pic>
        <p:nvPicPr>
          <p:cNvPr id="241" name="dpo_video_2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109" y="3913965"/>
            <a:ext cx="829761" cy="485332"/>
          </a:xfrm>
          <a:prstGeom prst="rect">
            <a:avLst/>
          </a:prstGeom>
        </p:spPr>
      </p:pic>
      <p:cxnSp>
        <p:nvCxnSpPr>
          <p:cNvPr id="242" name="dpo_video_to_robot_shaft"/>
          <p:cNvCxnSpPr/>
          <p:nvPr/>
        </p:nvCxnSpPr>
        <p:spPr>
          <a:xfrm>
            <a:off x="6403246" y="4234910"/>
            <a:ext cx="187871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dpo_video_to_robot_head"/>
          <p:cNvSpPr/>
          <p:nvPr/>
        </p:nvSpPr>
        <p:spPr>
          <a:xfrm>
            <a:off x="6591117" y="4180114"/>
            <a:ext cx="93935" cy="109591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4"/>
                </a:moveTo>
                <a:lnTo>
                  <a:pt x="12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dpo_fact_robot_badge"/>
          <p:cNvSpPr/>
          <p:nvPr/>
        </p:nvSpPr>
        <p:spPr>
          <a:xfrm>
            <a:off x="6825954" y="3859169"/>
            <a:ext cx="594923" cy="594923"/>
          </a:xfrm>
          <a:prstGeom prst="ellipse">
            <a:avLst/>
          </a:prstGeom>
          <a:solidFill>
            <a:srgbClr val="FFD56A"/>
          </a:solidFill>
          <a:ln w="9144">
            <a:solidFill>
              <a:srgbClr val="FFD5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dpo_fact_robot_head"/>
          <p:cNvSpPr/>
          <p:nvPr/>
        </p:nvSpPr>
        <p:spPr>
          <a:xfrm>
            <a:off x="6974685" y="3966255"/>
            <a:ext cx="297461" cy="178477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dpo_fact_robot_antenna"/>
          <p:cNvCxnSpPr/>
          <p:nvPr/>
        </p:nvCxnSpPr>
        <p:spPr>
          <a:xfrm>
            <a:off x="7123416" y="3918661"/>
            <a:ext cx="0" cy="47594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dpo_fact_robot_anttip"/>
          <p:cNvSpPr/>
          <p:nvPr/>
        </p:nvSpPr>
        <p:spPr>
          <a:xfrm>
            <a:off x="7105568" y="3894865"/>
            <a:ext cx="35695" cy="35695"/>
          </a:xfrm>
          <a:prstGeom prst="ellipse">
            <a:avLst/>
          </a:prstGeom>
          <a:solidFill>
            <a:srgbClr val="FFD56A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dpo_fact_robot_eye1"/>
          <p:cNvSpPr/>
          <p:nvPr/>
        </p:nvSpPr>
        <p:spPr>
          <a:xfrm>
            <a:off x="7028228" y="4025748"/>
            <a:ext cx="47594" cy="47594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dpo_fact_robot_eye2"/>
          <p:cNvSpPr/>
          <p:nvPr/>
        </p:nvSpPr>
        <p:spPr>
          <a:xfrm>
            <a:off x="7171010" y="4025748"/>
            <a:ext cx="47594" cy="47594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dpo_fact_robot_body"/>
          <p:cNvSpPr/>
          <p:nvPr/>
        </p:nvSpPr>
        <p:spPr>
          <a:xfrm>
            <a:off x="7004431" y="4174478"/>
            <a:ext cx="237969" cy="160629"/>
          </a:xfrm>
          <a:prstGeom prst="roundRect">
            <a:avLst>
              <a:gd name="adj" fmla="val 14619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dpo_fact_robot_panel"/>
          <p:cNvSpPr/>
          <p:nvPr/>
        </p:nvSpPr>
        <p:spPr>
          <a:xfrm>
            <a:off x="7063923" y="4210174"/>
            <a:ext cx="118985" cy="59492"/>
          </a:xfrm>
          <a:prstGeom prst="rect">
            <a:avLst/>
          </a:prstGeom>
          <a:solidFill>
            <a:srgbClr val="DEEAF6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2" name="dpo_fact_robot_arm1"/>
          <p:cNvCxnSpPr/>
          <p:nvPr/>
        </p:nvCxnSpPr>
        <p:spPr>
          <a:xfrm flipH="1">
            <a:off x="6927091" y="4204224"/>
            <a:ext cx="77340" cy="53543"/>
          </a:xfrm>
          <a:prstGeom prst="line">
            <a:avLst/>
          </a:prstGeom>
          <a:ln w="2743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dpo_fact_robot_arm2"/>
          <p:cNvCxnSpPr/>
          <p:nvPr/>
        </p:nvCxnSpPr>
        <p:spPr>
          <a:xfrm flipV="1">
            <a:off x="7242400" y="4156630"/>
            <a:ext cx="77340" cy="47594"/>
          </a:xfrm>
          <a:prstGeom prst="line">
            <a:avLst/>
          </a:prstGeom>
          <a:ln w="2743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dpo_fact_robot_glass"/>
          <p:cNvSpPr/>
          <p:nvPr/>
        </p:nvSpPr>
        <p:spPr>
          <a:xfrm>
            <a:off x="7278096" y="4079291"/>
            <a:ext cx="107086" cy="107086"/>
          </a:xfrm>
          <a:prstGeom prst="ellipse">
            <a:avLst/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dpo_media_plus"/>
          <p:cNvSpPr txBox="1"/>
          <p:nvPr/>
        </p:nvSpPr>
        <p:spPr>
          <a:xfrm>
            <a:off x="5690905" y="4367985"/>
            <a:ext cx="281805" cy="2348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9" b="1" i="0">
                <a:solidFill>
                  <a:srgbClr val="000000"/>
                </a:solidFill>
                <a:latin typeface="Liberation Sans Narrow"/>
              </a:rPr>
              <a:t>+</a:t>
            </a:r>
          </a:p>
        </p:txBody>
      </p:sp>
      <p:sp>
        <p:nvSpPr>
          <p:cNvPr id="256" name="dpo_news_speaker_box"/>
          <p:cNvSpPr/>
          <p:nvPr/>
        </p:nvSpPr>
        <p:spPr>
          <a:xfrm>
            <a:off x="5236885" y="4633351"/>
            <a:ext cx="50412" cy="72017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dpo_news_speaker_cone"/>
          <p:cNvSpPr/>
          <p:nvPr/>
        </p:nvSpPr>
        <p:spPr>
          <a:xfrm>
            <a:off x="5283852" y="4594995"/>
            <a:ext cx="70451" cy="148731"/>
          </a:xfrm>
          <a:custGeom>
            <a:avLst/>
            <a:gdLst/>
            <a:ahLst/>
            <a:cxnLst/>
            <a:rect l="l" t="t" r="r" b="b"/>
            <a:pathLst>
              <a:path w="9" h="19">
                <a:moveTo>
                  <a:pt x="0" y="5"/>
                </a:moveTo>
                <a:lnTo>
                  <a:pt x="9" y="0"/>
                </a:lnTo>
                <a:lnTo>
                  <a:pt x="9" y="19"/>
                </a:lnTo>
                <a:lnTo>
                  <a:pt x="0" y="14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8" name="dpo_news_speaker_wave1"/>
          <p:cNvCxnSpPr/>
          <p:nvPr/>
        </p:nvCxnSpPr>
        <p:spPr>
          <a:xfrm>
            <a:off x="5371917" y="4636952"/>
            <a:ext cx="19804" cy="32408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dpo_news_speaker_wave2"/>
          <p:cNvCxnSpPr/>
          <p:nvPr/>
        </p:nvCxnSpPr>
        <p:spPr>
          <a:xfrm flipH="1">
            <a:off x="5371917" y="4669360"/>
            <a:ext cx="19804" cy="32407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dpo_media_title"/>
          <p:cNvSpPr txBox="1"/>
          <p:nvPr/>
        </p:nvSpPr>
        <p:spPr>
          <a:xfrm>
            <a:off x="5416927" y="4555855"/>
            <a:ext cx="1033287" cy="227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News Title</a:t>
            </a:r>
          </a:p>
        </p:txBody>
      </p:sp>
      <p:sp>
        <p:nvSpPr>
          <p:cNvPr id="261" name="dpo_fact_label"/>
          <p:cNvSpPr txBox="1"/>
          <p:nvPr/>
        </p:nvSpPr>
        <p:spPr>
          <a:xfrm>
            <a:off x="6677224" y="4485404"/>
            <a:ext cx="908040" cy="195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0000"/>
                </a:solidFill>
                <a:latin typeface="Liberation Serif"/>
              </a:rPr>
              <a:t>Fact-R1</a:t>
            </a:r>
          </a:p>
        </p:txBody>
      </p:sp>
      <p:cxnSp>
        <p:nvCxnSpPr>
          <p:cNvPr id="262" name="dpo_robot_to_prediction_shaft"/>
          <p:cNvCxnSpPr/>
          <p:nvPr/>
        </p:nvCxnSpPr>
        <p:spPr>
          <a:xfrm>
            <a:off x="7530468" y="4234910"/>
            <a:ext cx="211354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dpo_robot_to_prediction_head"/>
          <p:cNvSpPr/>
          <p:nvPr/>
        </p:nvSpPr>
        <p:spPr>
          <a:xfrm>
            <a:off x="7741822" y="4180114"/>
            <a:ext cx="93935" cy="109591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4"/>
                </a:moveTo>
                <a:lnTo>
                  <a:pt x="12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prediction_box"/>
          <p:cNvSpPr/>
          <p:nvPr/>
        </p:nvSpPr>
        <p:spPr>
          <a:xfrm>
            <a:off x="7929692" y="3945276"/>
            <a:ext cx="1001975" cy="673202"/>
          </a:xfrm>
          <a:prstGeom prst="roundRect">
            <a:avLst>
              <a:gd name="adj" fmla="val 9302"/>
            </a:avLst>
          </a:prstGeom>
          <a:solidFill>
            <a:srgbClr val="A6C8EB"/>
          </a:solidFill>
          <a:ln w="27432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prediction_text"/>
          <p:cNvSpPr txBox="1"/>
          <p:nvPr/>
        </p:nvSpPr>
        <p:spPr>
          <a:xfrm>
            <a:off x="7992316" y="4062695"/>
            <a:ext cx="876728" cy="446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0">
                <a:solidFill>
                  <a:srgbClr val="000000"/>
                </a:solidFill>
                <a:latin typeface="Liberation Sans Narrow"/>
              </a:rPr>
              <a:t>Long-cot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0">
                <a:solidFill>
                  <a:srgbClr val="000000"/>
                </a:solidFill>
                <a:latin typeface="Liberation Sans Narrow"/>
              </a:rPr>
              <a:t>Prediction</a:t>
            </a:r>
          </a:p>
        </p:txBody>
      </p:sp>
      <p:cxnSp>
        <p:nvCxnSpPr>
          <p:cNvPr id="266" name="prediction_to_human_shaft"/>
          <p:cNvCxnSpPr/>
          <p:nvPr/>
        </p:nvCxnSpPr>
        <p:spPr>
          <a:xfrm>
            <a:off x="8422852" y="4626306"/>
            <a:ext cx="0" cy="133075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prediction_to_human_head"/>
          <p:cNvSpPr/>
          <p:nvPr/>
        </p:nvSpPr>
        <p:spPr>
          <a:xfrm>
            <a:off x="8375884" y="4759381"/>
            <a:ext cx="93935" cy="86107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0" y="0"/>
                </a:moveTo>
                <a:lnTo>
                  <a:pt x="6" y="11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human_correct_icon_badge"/>
          <p:cNvSpPr/>
          <p:nvPr/>
        </p:nvSpPr>
        <p:spPr>
          <a:xfrm>
            <a:off x="8141047" y="4853316"/>
            <a:ext cx="563611" cy="563611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human_correct_icon_head"/>
          <p:cNvSpPr/>
          <p:nvPr/>
        </p:nvSpPr>
        <p:spPr>
          <a:xfrm>
            <a:off x="8355219" y="4966038"/>
            <a:ext cx="135267" cy="129631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human_correct_icon_body"/>
          <p:cNvSpPr/>
          <p:nvPr/>
        </p:nvSpPr>
        <p:spPr>
          <a:xfrm>
            <a:off x="8250638" y="5119466"/>
            <a:ext cx="344429" cy="195698"/>
          </a:xfrm>
          <a:custGeom>
            <a:avLst/>
            <a:gdLst/>
            <a:ahLst/>
            <a:cxnLst/>
            <a:rect l="l" t="t" r="r" b="b"/>
            <a:pathLst>
              <a:path w="44" h="25">
                <a:moveTo>
                  <a:pt x="0" y="25"/>
                </a:moveTo>
                <a:lnTo>
                  <a:pt x="10" y="0"/>
                </a:lnTo>
                <a:lnTo>
                  <a:pt x="22" y="6"/>
                </a:lnTo>
                <a:lnTo>
                  <a:pt x="34" y="0"/>
                </a:lnTo>
                <a:lnTo>
                  <a:pt x="44" y="25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human_correct_label"/>
          <p:cNvSpPr txBox="1"/>
          <p:nvPr/>
        </p:nvSpPr>
        <p:spPr>
          <a:xfrm>
            <a:off x="7788790" y="5424755"/>
            <a:ext cx="1275952" cy="219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00000"/>
                </a:solidFill>
                <a:latin typeface="Liberation Sans Narrow"/>
              </a:rPr>
              <a:t>Human Correct</a:t>
            </a:r>
          </a:p>
        </p:txBody>
      </p:sp>
      <p:cxnSp>
        <p:nvCxnSpPr>
          <p:cNvPr id="272" name="human_to_correct_shaft"/>
          <p:cNvCxnSpPr/>
          <p:nvPr/>
        </p:nvCxnSpPr>
        <p:spPr>
          <a:xfrm flipH="1">
            <a:off x="7655715" y="5291680"/>
            <a:ext cx="430536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human_to_correct_head"/>
          <p:cNvSpPr/>
          <p:nvPr/>
        </p:nvSpPr>
        <p:spPr>
          <a:xfrm>
            <a:off x="7569608" y="5244713"/>
            <a:ext cx="86107" cy="93935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11" y="0"/>
                </a:moveTo>
                <a:lnTo>
                  <a:pt x="0" y="6"/>
                </a:lnTo>
                <a:lnTo>
                  <a:pt x="11" y="12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aw_cross_circle"/>
          <p:cNvSpPr/>
          <p:nvPr/>
        </p:nvSpPr>
        <p:spPr>
          <a:xfrm>
            <a:off x="6082301" y="4915940"/>
            <a:ext cx="172214" cy="172214"/>
          </a:xfrm>
          <a:prstGeom prst="ellipse">
            <a:avLst/>
          </a:prstGeom>
          <a:solidFill>
            <a:srgbClr val="D62728"/>
          </a:solidFill>
          <a:ln w="9144">
            <a:solidFill>
              <a:srgbClr val="D6272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5" name="raw_cross_x1"/>
          <p:cNvCxnSpPr/>
          <p:nvPr/>
        </p:nvCxnSpPr>
        <p:spPr>
          <a:xfrm>
            <a:off x="6129269" y="4962907"/>
            <a:ext cx="78279" cy="78280"/>
          </a:xfrm>
          <a:prstGeom prst="line">
            <a:avLst/>
          </a:prstGeom>
          <a:ln w="182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raw_cross_x2"/>
          <p:cNvCxnSpPr/>
          <p:nvPr/>
        </p:nvCxnSpPr>
        <p:spPr>
          <a:xfrm flipH="1">
            <a:off x="6129269" y="4962907"/>
            <a:ext cx="78279" cy="78280"/>
          </a:xfrm>
          <a:prstGeom prst="line">
            <a:avLst/>
          </a:prstGeom>
          <a:ln w="18288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aw_sheet"/>
          <p:cNvSpPr/>
          <p:nvPr/>
        </p:nvSpPr>
        <p:spPr>
          <a:xfrm>
            <a:off x="6356279" y="4767209"/>
            <a:ext cx="289633" cy="422708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raw_sheet_marks"/>
          <p:cNvSpPr txBox="1"/>
          <p:nvPr/>
        </p:nvSpPr>
        <p:spPr>
          <a:xfrm>
            <a:off x="6403246" y="4798521"/>
            <a:ext cx="187870" cy="34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ans Narrow"/>
              </a:rPr>
              <a:t>▪▪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ans Narrow"/>
              </a:rPr>
              <a:t>▪▪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ans Narrow"/>
              </a:rPr>
              <a:t>▪▪</a:t>
            </a:r>
          </a:p>
        </p:txBody>
      </p:sp>
      <p:sp>
        <p:nvSpPr>
          <p:cNvPr id="279" name="raw_prediction_label"/>
          <p:cNvSpPr txBox="1"/>
          <p:nvPr/>
        </p:nvSpPr>
        <p:spPr>
          <a:xfrm>
            <a:off x="6966857" y="4751553"/>
            <a:ext cx="798449" cy="430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Raw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Prediction</a:t>
            </a:r>
          </a:p>
        </p:txBody>
      </p:sp>
      <p:sp>
        <p:nvSpPr>
          <p:cNvPr id="280" name="correct_check_circle"/>
          <p:cNvSpPr/>
          <p:nvPr/>
        </p:nvSpPr>
        <p:spPr>
          <a:xfrm>
            <a:off x="6082301" y="5448239"/>
            <a:ext cx="172214" cy="172214"/>
          </a:xfrm>
          <a:prstGeom prst="ellipse">
            <a:avLst/>
          </a:prstGeom>
          <a:solidFill>
            <a:srgbClr val="00B26B"/>
          </a:solidFill>
          <a:ln w="9144">
            <a:solidFill>
              <a:srgbClr val="00B26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1" name="correct_check_tick1"/>
          <p:cNvCxnSpPr/>
          <p:nvPr/>
        </p:nvCxnSpPr>
        <p:spPr>
          <a:xfrm>
            <a:off x="6121441" y="5537790"/>
            <a:ext cx="33190" cy="34443"/>
          </a:xfrm>
          <a:prstGeom prst="line">
            <a:avLst/>
          </a:prstGeom>
          <a:ln w="2285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rrect_check_tick2"/>
          <p:cNvCxnSpPr/>
          <p:nvPr/>
        </p:nvCxnSpPr>
        <p:spPr>
          <a:xfrm flipV="1">
            <a:off x="6154631" y="5498181"/>
            <a:ext cx="65442" cy="74052"/>
          </a:xfrm>
          <a:prstGeom prst="line">
            <a:avLst/>
          </a:prstGeom>
          <a:ln w="2285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orrect_sheet"/>
          <p:cNvSpPr/>
          <p:nvPr/>
        </p:nvSpPr>
        <p:spPr>
          <a:xfrm>
            <a:off x="6356279" y="5299508"/>
            <a:ext cx="289633" cy="422708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correct_sheet_marks"/>
          <p:cNvSpPr txBox="1"/>
          <p:nvPr/>
        </p:nvSpPr>
        <p:spPr>
          <a:xfrm>
            <a:off x="6403246" y="5330820"/>
            <a:ext cx="187870" cy="344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ans Narrow"/>
              </a:rPr>
              <a:t>▪▪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ans Narrow"/>
              </a:rPr>
              <a:t>▪▪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ans Narrow"/>
              </a:rPr>
              <a:t>▪▪</a:t>
            </a:r>
          </a:p>
        </p:txBody>
      </p:sp>
      <p:sp>
        <p:nvSpPr>
          <p:cNvPr id="285" name="correct_prediction_label"/>
          <p:cNvSpPr txBox="1"/>
          <p:nvPr/>
        </p:nvSpPr>
        <p:spPr>
          <a:xfrm>
            <a:off x="6966857" y="5307336"/>
            <a:ext cx="923696" cy="4227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Correct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ans Narrow"/>
              </a:rPr>
              <a:t>Prediction</a:t>
            </a:r>
          </a:p>
        </p:txBody>
      </p:sp>
      <p:sp>
        <p:nvSpPr>
          <p:cNvPr id="286" name="dpo_subtitle_b"/>
          <p:cNvSpPr txBox="1"/>
          <p:nvPr/>
        </p:nvSpPr>
        <p:spPr>
          <a:xfrm>
            <a:off x="5307336" y="5847463"/>
            <a:ext cx="2035262" cy="2739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9" b="1" i="0">
                <a:solidFill>
                  <a:srgbClr val="000000"/>
                </a:solidFill>
                <a:latin typeface="Liberation Serif"/>
              </a:rPr>
              <a:t>(b) DPO Training</a:t>
            </a:r>
          </a:p>
        </p:txBody>
      </p:sp>
      <p:sp>
        <p:nvSpPr>
          <p:cNvPr id="287" name="dpo_train_robot_badge"/>
          <p:cNvSpPr/>
          <p:nvPr/>
        </p:nvSpPr>
        <p:spPr>
          <a:xfrm>
            <a:off x="5244713" y="6520665"/>
            <a:ext cx="594923" cy="594923"/>
          </a:xfrm>
          <a:prstGeom prst="ellipse">
            <a:avLst/>
          </a:prstGeom>
          <a:solidFill>
            <a:srgbClr val="FFD56A"/>
          </a:solidFill>
          <a:ln w="9144">
            <a:solidFill>
              <a:srgbClr val="FFD5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dpo_train_robot_head"/>
          <p:cNvSpPr/>
          <p:nvPr/>
        </p:nvSpPr>
        <p:spPr>
          <a:xfrm>
            <a:off x="5393443" y="6627751"/>
            <a:ext cx="297461" cy="178477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9" name="dpo_train_robot_antenna"/>
          <p:cNvCxnSpPr/>
          <p:nvPr/>
        </p:nvCxnSpPr>
        <p:spPr>
          <a:xfrm>
            <a:off x="5542174" y="6580157"/>
            <a:ext cx="0" cy="47594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dpo_train_robot_anttip"/>
          <p:cNvSpPr/>
          <p:nvPr/>
        </p:nvSpPr>
        <p:spPr>
          <a:xfrm>
            <a:off x="5524326" y="6556361"/>
            <a:ext cx="35695" cy="35695"/>
          </a:xfrm>
          <a:prstGeom prst="ellipse">
            <a:avLst/>
          </a:prstGeom>
          <a:solidFill>
            <a:srgbClr val="FFD56A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dpo_train_robot_eye1"/>
          <p:cNvSpPr/>
          <p:nvPr/>
        </p:nvSpPr>
        <p:spPr>
          <a:xfrm>
            <a:off x="5446986" y="6687244"/>
            <a:ext cx="47594" cy="47594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dpo_train_robot_eye2"/>
          <p:cNvSpPr/>
          <p:nvPr/>
        </p:nvSpPr>
        <p:spPr>
          <a:xfrm>
            <a:off x="5589768" y="6687244"/>
            <a:ext cx="47594" cy="47594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dpo_train_robot_body"/>
          <p:cNvSpPr/>
          <p:nvPr/>
        </p:nvSpPr>
        <p:spPr>
          <a:xfrm>
            <a:off x="5423189" y="6835974"/>
            <a:ext cx="237969" cy="160629"/>
          </a:xfrm>
          <a:prstGeom prst="roundRect">
            <a:avLst>
              <a:gd name="adj" fmla="val 14619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dpo_train_robot_panel"/>
          <p:cNvSpPr/>
          <p:nvPr/>
        </p:nvSpPr>
        <p:spPr>
          <a:xfrm>
            <a:off x="5482682" y="6871670"/>
            <a:ext cx="118985" cy="59492"/>
          </a:xfrm>
          <a:prstGeom prst="rect">
            <a:avLst/>
          </a:prstGeom>
          <a:solidFill>
            <a:srgbClr val="DEEAF6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5" name="dpo_train_robot_arm1"/>
          <p:cNvCxnSpPr/>
          <p:nvPr/>
        </p:nvCxnSpPr>
        <p:spPr>
          <a:xfrm flipH="1">
            <a:off x="5345850" y="6865720"/>
            <a:ext cx="77339" cy="53543"/>
          </a:xfrm>
          <a:prstGeom prst="line">
            <a:avLst/>
          </a:prstGeom>
          <a:ln w="2743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dpo_train_robot_arm2"/>
          <p:cNvCxnSpPr/>
          <p:nvPr/>
        </p:nvCxnSpPr>
        <p:spPr>
          <a:xfrm flipV="1">
            <a:off x="5661159" y="6818126"/>
            <a:ext cx="77339" cy="47594"/>
          </a:xfrm>
          <a:prstGeom prst="line">
            <a:avLst/>
          </a:prstGeom>
          <a:ln w="2743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dpo_train_robot_glass"/>
          <p:cNvSpPr/>
          <p:nvPr/>
        </p:nvSpPr>
        <p:spPr>
          <a:xfrm>
            <a:off x="5696854" y="6740787"/>
            <a:ext cx="107086" cy="107086"/>
          </a:xfrm>
          <a:prstGeom prst="ellipse">
            <a:avLst/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dpo_train_fact"/>
          <p:cNvSpPr txBox="1"/>
          <p:nvPr/>
        </p:nvSpPr>
        <p:spPr>
          <a:xfrm>
            <a:off x="5127294" y="7178211"/>
            <a:ext cx="845416" cy="2348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0000"/>
                </a:solidFill>
                <a:latin typeface="Liberation Serif"/>
              </a:rPr>
              <a:t>Fact-R1</a:t>
            </a:r>
          </a:p>
        </p:txBody>
      </p:sp>
      <p:sp>
        <p:nvSpPr>
          <p:cNvPr id="299" name="dpo_brace"/>
          <p:cNvSpPr txBox="1"/>
          <p:nvPr/>
        </p:nvSpPr>
        <p:spPr>
          <a:xfrm>
            <a:off x="5941398" y="6317139"/>
            <a:ext cx="313117" cy="14011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0" b="0" i="0">
                <a:solidFill>
                  <a:srgbClr val="333333"/>
                </a:solidFill>
                <a:latin typeface="Liberation Serif"/>
              </a:rPr>
              <a:t>{</a:t>
            </a:r>
          </a:p>
        </p:txBody>
      </p:sp>
      <p:sp>
        <p:nvSpPr>
          <p:cNvPr id="300" name="response_y0_box"/>
          <p:cNvSpPr/>
          <p:nvPr/>
        </p:nvSpPr>
        <p:spPr>
          <a:xfrm>
            <a:off x="6364107" y="6223204"/>
            <a:ext cx="2747603" cy="735825"/>
          </a:xfrm>
          <a:prstGeom prst="roundRect">
            <a:avLst>
              <a:gd name="adj" fmla="val 14893"/>
            </a:avLst>
          </a:prstGeom>
          <a:solidFill>
            <a:srgbClr val="ECF0F1"/>
          </a:solidFill>
          <a:ln w="9144">
            <a:solidFill>
              <a:srgbClr val="ECF0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sponse_y0_badge"/>
          <p:cNvSpPr/>
          <p:nvPr/>
        </p:nvSpPr>
        <p:spPr>
          <a:xfrm>
            <a:off x="6231032" y="6191892"/>
            <a:ext cx="352257" cy="352257"/>
          </a:xfrm>
          <a:prstGeom prst="ellipse">
            <a:avLst/>
          </a:prstGeom>
          <a:solidFill>
            <a:srgbClr val="8595AE"/>
          </a:solidFill>
          <a:ln w="91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sponse_y0"/>
          <p:cNvSpPr txBox="1"/>
          <p:nvPr/>
        </p:nvSpPr>
        <p:spPr>
          <a:xfrm>
            <a:off x="6270171" y="6215376"/>
            <a:ext cx="273978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1">
                <a:solidFill>
                  <a:srgbClr val="FFFFFF"/>
                </a:solidFill>
                <a:latin typeface="Liberation Serif"/>
              </a:rPr>
              <a:t>Y₀</a:t>
            </a:r>
          </a:p>
        </p:txBody>
      </p:sp>
      <p:sp>
        <p:nvSpPr>
          <p:cNvPr id="303" name="response_y0_text"/>
          <p:cNvSpPr txBox="1"/>
          <p:nvPr/>
        </p:nvSpPr>
        <p:spPr>
          <a:xfrm>
            <a:off x="6591117" y="6254516"/>
            <a:ext cx="2450142" cy="6027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&lt;think&gt; The video shows Trump supporters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storming..., The entity in question is Trump,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the event is directly linked to his supporters,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&lt;/think&gt;&lt;answer&gt; Yes. &lt;/answer&gt;</a:t>
            </a:r>
          </a:p>
        </p:txBody>
      </p:sp>
      <p:sp>
        <p:nvSpPr>
          <p:cNvPr id="304" name="response_y0_score"/>
          <p:cNvSpPr txBox="1"/>
          <p:nvPr/>
        </p:nvSpPr>
        <p:spPr>
          <a:xfrm>
            <a:off x="9143022" y="6512837"/>
            <a:ext cx="297461" cy="266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 i="1">
                <a:solidFill>
                  <a:srgbClr val="D62728"/>
                </a:solidFill>
                <a:latin typeface="Liberation Serif"/>
              </a:rPr>
              <a:t>0.3</a:t>
            </a:r>
          </a:p>
        </p:txBody>
      </p:sp>
      <p:sp>
        <p:nvSpPr>
          <p:cNvPr id="305" name="response_y1_box"/>
          <p:cNvSpPr/>
          <p:nvPr/>
        </p:nvSpPr>
        <p:spPr>
          <a:xfrm>
            <a:off x="6364107" y="7139072"/>
            <a:ext cx="2747603" cy="735825"/>
          </a:xfrm>
          <a:prstGeom prst="roundRect">
            <a:avLst>
              <a:gd name="adj" fmla="val 14893"/>
            </a:avLst>
          </a:prstGeom>
          <a:solidFill>
            <a:srgbClr val="ECF0F1"/>
          </a:solidFill>
          <a:ln w="9144">
            <a:solidFill>
              <a:srgbClr val="ECF0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sponse_y1_badge"/>
          <p:cNvSpPr/>
          <p:nvPr/>
        </p:nvSpPr>
        <p:spPr>
          <a:xfrm>
            <a:off x="6231032" y="7107760"/>
            <a:ext cx="352257" cy="352257"/>
          </a:xfrm>
          <a:prstGeom prst="ellipse">
            <a:avLst/>
          </a:prstGeom>
          <a:solidFill>
            <a:srgbClr val="8595AE"/>
          </a:solidFill>
          <a:ln w="91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sponse_y1"/>
          <p:cNvSpPr txBox="1"/>
          <p:nvPr/>
        </p:nvSpPr>
        <p:spPr>
          <a:xfrm>
            <a:off x="6270171" y="7131244"/>
            <a:ext cx="273978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1">
                <a:solidFill>
                  <a:srgbClr val="FFFFFF"/>
                </a:solidFill>
                <a:latin typeface="Liberation Serif"/>
              </a:rPr>
              <a:t>Y₁</a:t>
            </a:r>
          </a:p>
        </p:txBody>
      </p:sp>
      <p:sp>
        <p:nvSpPr>
          <p:cNvPr id="308" name="response_y1_text"/>
          <p:cNvSpPr txBox="1"/>
          <p:nvPr/>
        </p:nvSpPr>
        <p:spPr>
          <a:xfrm>
            <a:off x="6591117" y="7170383"/>
            <a:ext cx="2450142" cy="6027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&lt;think&gt; The video depicts the well-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documented event of Trump supporters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storming the Capitol in Washington,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000000"/>
                </a:solidFill>
                <a:latin typeface="Liberation Serif"/>
              </a:rPr>
              <a:t>D.C., …&lt;/think&gt;&lt;answer&gt; Yes&lt;/answer&gt;</a:t>
            </a:r>
          </a:p>
        </p:txBody>
      </p:sp>
      <p:sp>
        <p:nvSpPr>
          <p:cNvPr id="309" name="response_y1_score"/>
          <p:cNvSpPr txBox="1"/>
          <p:nvPr/>
        </p:nvSpPr>
        <p:spPr>
          <a:xfrm>
            <a:off x="9143022" y="7444361"/>
            <a:ext cx="297461" cy="266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 i="1">
                <a:solidFill>
                  <a:srgbClr val="2E8B2E"/>
                </a:solidFill>
                <a:latin typeface="Liberation Serif"/>
              </a:rPr>
              <a:t>0.8</a:t>
            </a:r>
          </a:p>
        </p:txBody>
      </p:sp>
      <p:sp>
        <p:nvSpPr>
          <p:cNvPr id="310" name="preference_trophy_cup"/>
          <p:cNvSpPr/>
          <p:nvPr/>
        </p:nvSpPr>
        <p:spPr>
          <a:xfrm>
            <a:off x="9041258" y="7099932"/>
            <a:ext cx="172214" cy="133075"/>
          </a:xfrm>
          <a:custGeom>
            <a:avLst/>
            <a:gdLst/>
            <a:ahLst/>
            <a:cxnLst/>
            <a:rect l="l" t="t" r="r" b="b"/>
            <a:pathLst>
              <a:path w="22" h="17">
                <a:moveTo>
                  <a:pt x="0" y="0"/>
                </a:moveTo>
                <a:lnTo>
                  <a:pt x="22" y="0"/>
                </a:lnTo>
                <a:lnTo>
                  <a:pt x="17" y="17"/>
                </a:lnTo>
                <a:lnTo>
                  <a:pt x="5" y="17"/>
                </a:lnTo>
                <a:close/>
              </a:path>
            </a:pathLst>
          </a:custGeom>
          <a:solidFill>
            <a:srgbClr val="FFD56A"/>
          </a:solidFill>
          <a:ln w="18288">
            <a:solidFill>
              <a:srgbClr val="E2A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reference_trophy_handle_l"/>
          <p:cNvSpPr/>
          <p:nvPr/>
        </p:nvSpPr>
        <p:spPr>
          <a:xfrm>
            <a:off x="8984584" y="7113239"/>
            <a:ext cx="89238" cy="83289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2A5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preference_trophy_handle_r"/>
          <p:cNvSpPr/>
          <p:nvPr/>
        </p:nvSpPr>
        <p:spPr>
          <a:xfrm>
            <a:off x="9180909" y="7113239"/>
            <a:ext cx="89238" cy="83289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2A53A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3" name="preference_trophy_stem"/>
          <p:cNvCxnSpPr/>
          <p:nvPr/>
        </p:nvCxnSpPr>
        <p:spPr>
          <a:xfrm>
            <a:off x="9127366" y="7232224"/>
            <a:ext cx="0" cy="68416"/>
          </a:xfrm>
          <a:prstGeom prst="line">
            <a:avLst/>
          </a:prstGeom>
          <a:ln w="27432">
            <a:solidFill>
              <a:srgbClr val="E2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preference_trophy_base"/>
          <p:cNvCxnSpPr/>
          <p:nvPr/>
        </p:nvCxnSpPr>
        <p:spPr>
          <a:xfrm>
            <a:off x="9067873" y="7312539"/>
            <a:ext cx="118985" cy="0"/>
          </a:xfrm>
          <a:prstGeom prst="line">
            <a:avLst/>
          </a:prstGeom>
          <a:ln w="36576">
            <a:solidFill>
              <a:srgbClr val="E2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max_like_bottom"/>
          <p:cNvCxnSpPr/>
          <p:nvPr/>
        </p:nvCxnSpPr>
        <p:spPr>
          <a:xfrm>
            <a:off x="5581314" y="8180186"/>
            <a:ext cx="3726094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max_like_left"/>
          <p:cNvCxnSpPr/>
          <p:nvPr/>
        </p:nvCxnSpPr>
        <p:spPr>
          <a:xfrm flipV="1">
            <a:off x="5581314" y="7733994"/>
            <a:ext cx="0" cy="446192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max_like_left_arrow_shaft"/>
          <p:cNvCxnSpPr/>
          <p:nvPr/>
        </p:nvCxnSpPr>
        <p:spPr>
          <a:xfrm flipV="1">
            <a:off x="5581314" y="7632231"/>
            <a:ext cx="0" cy="101763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max_like_left_arrow_head"/>
          <p:cNvSpPr/>
          <p:nvPr/>
        </p:nvSpPr>
        <p:spPr>
          <a:xfrm>
            <a:off x="5534346" y="7553952"/>
            <a:ext cx="93935" cy="78279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12" y="10"/>
                </a:moveTo>
                <a:lnTo>
                  <a:pt x="6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9" name="max_like_right"/>
          <p:cNvCxnSpPr/>
          <p:nvPr/>
        </p:nvCxnSpPr>
        <p:spPr>
          <a:xfrm flipV="1">
            <a:off x="9307408" y="7898381"/>
            <a:ext cx="0" cy="281805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max_like_label"/>
          <p:cNvSpPr txBox="1"/>
          <p:nvPr/>
        </p:nvSpPr>
        <p:spPr>
          <a:xfrm>
            <a:off x="6254516" y="8203670"/>
            <a:ext cx="2583217" cy="250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 i="0">
                <a:solidFill>
                  <a:srgbClr val="28A9A3"/>
                </a:solidFill>
                <a:latin typeface="Liberation Sans Narrow"/>
              </a:rPr>
              <a:t>Maximum likelihood</a:t>
            </a:r>
          </a:p>
        </p:txBody>
      </p:sp>
      <p:pic>
        <p:nvPicPr>
          <p:cNvPr id="321" name="grpo_video_0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695" y="3851341"/>
            <a:ext cx="994147" cy="579267"/>
          </a:xfrm>
          <a:prstGeom prst="rect">
            <a:avLst/>
          </a:prstGeom>
        </p:spPr>
      </p:pic>
      <p:pic>
        <p:nvPicPr>
          <p:cNvPr id="322" name="grpo_video_1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974" y="3796546"/>
            <a:ext cx="994147" cy="579267"/>
          </a:xfrm>
          <a:prstGeom prst="rect">
            <a:avLst/>
          </a:prstGeom>
        </p:spPr>
      </p:pic>
      <p:pic>
        <p:nvPicPr>
          <p:cNvPr id="323" name="grpo_video_2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253" y="3741750"/>
            <a:ext cx="994147" cy="579267"/>
          </a:xfrm>
          <a:prstGeom prst="rect">
            <a:avLst/>
          </a:prstGeom>
        </p:spPr>
      </p:pic>
      <p:pic>
        <p:nvPicPr>
          <p:cNvPr id="324" name="grpo_video_3" descr="news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533" y="3686955"/>
            <a:ext cx="994147" cy="579267"/>
          </a:xfrm>
          <a:prstGeom prst="rect">
            <a:avLst/>
          </a:prstGeom>
        </p:spPr>
      </p:pic>
      <p:sp>
        <p:nvSpPr>
          <p:cNvPr id="325" name="grpo_media_plus"/>
          <p:cNvSpPr txBox="1"/>
          <p:nvPr/>
        </p:nvSpPr>
        <p:spPr>
          <a:xfrm>
            <a:off x="10794715" y="4430608"/>
            <a:ext cx="281805" cy="2348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9" b="1" i="0">
                <a:solidFill>
                  <a:srgbClr val="000000"/>
                </a:solidFill>
                <a:latin typeface="Liberation Sans Narrow"/>
              </a:rPr>
              <a:t>+</a:t>
            </a:r>
          </a:p>
        </p:txBody>
      </p:sp>
      <p:sp>
        <p:nvSpPr>
          <p:cNvPr id="326" name="grpo_news_speaker_box"/>
          <p:cNvSpPr/>
          <p:nvPr/>
        </p:nvSpPr>
        <p:spPr>
          <a:xfrm>
            <a:off x="10364178" y="4719459"/>
            <a:ext cx="50412" cy="72017"/>
          </a:xfrm>
          <a:prstGeom prst="rect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grpo_news_speaker_cone"/>
          <p:cNvSpPr/>
          <p:nvPr/>
        </p:nvSpPr>
        <p:spPr>
          <a:xfrm>
            <a:off x="10411146" y="4681102"/>
            <a:ext cx="70451" cy="148731"/>
          </a:xfrm>
          <a:custGeom>
            <a:avLst/>
            <a:gdLst/>
            <a:ahLst/>
            <a:cxnLst/>
            <a:rect l="l" t="t" r="r" b="b"/>
            <a:pathLst>
              <a:path w="9" h="19">
                <a:moveTo>
                  <a:pt x="0" y="5"/>
                </a:moveTo>
                <a:lnTo>
                  <a:pt x="9" y="0"/>
                </a:lnTo>
                <a:lnTo>
                  <a:pt x="9" y="19"/>
                </a:lnTo>
                <a:lnTo>
                  <a:pt x="0" y="14"/>
                </a:lnTo>
                <a:close/>
              </a:path>
            </a:pathLst>
          </a:cu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8" name="grpo_news_speaker_wave1"/>
          <p:cNvCxnSpPr/>
          <p:nvPr/>
        </p:nvCxnSpPr>
        <p:spPr>
          <a:xfrm>
            <a:off x="10499210" y="4723059"/>
            <a:ext cx="19805" cy="32408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grpo_news_speaker_wave2"/>
          <p:cNvCxnSpPr/>
          <p:nvPr/>
        </p:nvCxnSpPr>
        <p:spPr>
          <a:xfrm flipH="1">
            <a:off x="10499210" y="4755467"/>
            <a:ext cx="19805" cy="32408"/>
          </a:xfrm>
          <a:prstGeom prst="line">
            <a:avLst/>
          </a:prstGeom>
          <a:ln w="1828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grpo_media_title"/>
          <p:cNvSpPr txBox="1"/>
          <p:nvPr/>
        </p:nvSpPr>
        <p:spPr>
          <a:xfrm>
            <a:off x="10544221" y="4649790"/>
            <a:ext cx="923696" cy="2113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Liberation Sans Narrow"/>
              </a:rPr>
              <a:t>News Title</a:t>
            </a:r>
          </a:p>
        </p:txBody>
      </p:sp>
      <p:cxnSp>
        <p:nvCxnSpPr>
          <p:cNvPr id="331" name="grpo_video_to_robot_shaft"/>
          <p:cNvCxnSpPr/>
          <p:nvPr/>
        </p:nvCxnSpPr>
        <p:spPr>
          <a:xfrm>
            <a:off x="11577508" y="4305361"/>
            <a:ext cx="211354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grpo_video_to_robot_head"/>
          <p:cNvSpPr/>
          <p:nvPr/>
        </p:nvSpPr>
        <p:spPr>
          <a:xfrm>
            <a:off x="11788862" y="4250566"/>
            <a:ext cx="93935" cy="109591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4"/>
                </a:moveTo>
                <a:lnTo>
                  <a:pt x="12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grpo_fact_robot_badge"/>
          <p:cNvSpPr/>
          <p:nvPr/>
        </p:nvSpPr>
        <p:spPr>
          <a:xfrm>
            <a:off x="12015872" y="3804374"/>
            <a:ext cx="610578" cy="610578"/>
          </a:xfrm>
          <a:prstGeom prst="ellipse">
            <a:avLst/>
          </a:prstGeom>
          <a:solidFill>
            <a:srgbClr val="FFD56A"/>
          </a:solidFill>
          <a:ln w="9144">
            <a:solidFill>
              <a:srgbClr val="FFD5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grpo_fact_robot_head"/>
          <p:cNvSpPr/>
          <p:nvPr/>
        </p:nvSpPr>
        <p:spPr>
          <a:xfrm>
            <a:off x="12168516" y="3914278"/>
            <a:ext cx="305289" cy="183174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5" name="grpo_fact_robot_antenna"/>
          <p:cNvCxnSpPr/>
          <p:nvPr/>
        </p:nvCxnSpPr>
        <p:spPr>
          <a:xfrm>
            <a:off x="12321161" y="3865432"/>
            <a:ext cx="0" cy="48846"/>
          </a:xfrm>
          <a:prstGeom prst="line">
            <a:avLst/>
          </a:prstGeom>
          <a:ln w="18288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grpo_fact_robot_anttip"/>
          <p:cNvSpPr/>
          <p:nvPr/>
        </p:nvSpPr>
        <p:spPr>
          <a:xfrm>
            <a:off x="12302843" y="3841008"/>
            <a:ext cx="36635" cy="36635"/>
          </a:xfrm>
          <a:prstGeom prst="ellipse">
            <a:avLst/>
          </a:prstGeom>
          <a:solidFill>
            <a:srgbClr val="FFD56A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grpo_fact_robot_eye1"/>
          <p:cNvSpPr/>
          <p:nvPr/>
        </p:nvSpPr>
        <p:spPr>
          <a:xfrm>
            <a:off x="12223468" y="3975336"/>
            <a:ext cx="48846" cy="48846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grpo_fact_robot_eye2"/>
          <p:cNvSpPr/>
          <p:nvPr/>
        </p:nvSpPr>
        <p:spPr>
          <a:xfrm>
            <a:off x="12370007" y="3975336"/>
            <a:ext cx="48846" cy="48846"/>
          </a:xfrm>
          <a:prstGeom prst="ellipse">
            <a:avLst/>
          </a:prstGeom>
          <a:solidFill>
            <a:srgbClr val="000000"/>
          </a:solidFill>
          <a:ln w="9144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grpo_fact_robot_body"/>
          <p:cNvSpPr/>
          <p:nvPr/>
        </p:nvSpPr>
        <p:spPr>
          <a:xfrm>
            <a:off x="12199045" y="4127980"/>
            <a:ext cx="244231" cy="164856"/>
          </a:xfrm>
          <a:prstGeom prst="roundRect">
            <a:avLst>
              <a:gd name="adj" fmla="val 14245"/>
            </a:avLst>
          </a:prstGeom>
          <a:solidFill>
            <a:srgbClr val="FFFFFF"/>
          </a:solidFill>
          <a:ln w="27432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grpo_fact_robot_panel"/>
          <p:cNvSpPr/>
          <p:nvPr/>
        </p:nvSpPr>
        <p:spPr>
          <a:xfrm>
            <a:off x="12260103" y="4164615"/>
            <a:ext cx="122116" cy="61058"/>
          </a:xfrm>
          <a:prstGeom prst="rect">
            <a:avLst/>
          </a:prstGeom>
          <a:solidFill>
            <a:srgbClr val="DEEAF6"/>
          </a:solidFill>
          <a:ln w="9144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1" name="grpo_fact_robot_arm1"/>
          <p:cNvCxnSpPr/>
          <p:nvPr/>
        </p:nvCxnSpPr>
        <p:spPr>
          <a:xfrm flipH="1">
            <a:off x="12119670" y="4158509"/>
            <a:ext cx="79375" cy="54952"/>
          </a:xfrm>
          <a:prstGeom prst="line">
            <a:avLst/>
          </a:prstGeom>
          <a:ln w="2743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grpo_fact_robot_arm2"/>
          <p:cNvCxnSpPr/>
          <p:nvPr/>
        </p:nvCxnSpPr>
        <p:spPr>
          <a:xfrm flipV="1">
            <a:off x="12443277" y="4109663"/>
            <a:ext cx="79375" cy="48846"/>
          </a:xfrm>
          <a:prstGeom prst="line">
            <a:avLst/>
          </a:prstGeom>
          <a:ln w="27432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grpo_fact_robot_glass"/>
          <p:cNvSpPr/>
          <p:nvPr/>
        </p:nvSpPr>
        <p:spPr>
          <a:xfrm>
            <a:off x="12479911" y="4030288"/>
            <a:ext cx="109904" cy="109904"/>
          </a:xfrm>
          <a:prstGeom prst="ellipse">
            <a:avLst/>
          </a:prstGeom>
          <a:solidFill>
            <a:srgbClr val="FFFFFF"/>
          </a:solidFill>
          <a:ln w="18288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grpo_fact_label"/>
          <p:cNvSpPr txBox="1"/>
          <p:nvPr/>
        </p:nvSpPr>
        <p:spPr>
          <a:xfrm>
            <a:off x="11882797" y="4493231"/>
            <a:ext cx="876728" cy="227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0000"/>
                </a:solidFill>
                <a:latin typeface="Liberation Serif"/>
              </a:rPr>
              <a:t>Fact-R1</a:t>
            </a:r>
          </a:p>
        </p:txBody>
      </p:sp>
      <p:cxnSp>
        <p:nvCxnSpPr>
          <p:cNvPr id="345" name="grpo_robot_to_responses_shaft"/>
          <p:cNvCxnSpPr/>
          <p:nvPr/>
        </p:nvCxnSpPr>
        <p:spPr>
          <a:xfrm>
            <a:off x="12736041" y="4305361"/>
            <a:ext cx="203526" cy="0"/>
          </a:xfrm>
          <a:prstGeom prst="line">
            <a:avLst/>
          </a:prstGeom>
          <a:ln w="2743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grpo_robot_to_responses_head"/>
          <p:cNvSpPr/>
          <p:nvPr/>
        </p:nvSpPr>
        <p:spPr>
          <a:xfrm>
            <a:off x="12939567" y="4250566"/>
            <a:ext cx="93935" cy="109591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0" y="14"/>
                </a:moveTo>
                <a:lnTo>
                  <a:pt x="12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4572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response_stack_back"/>
          <p:cNvSpPr/>
          <p:nvPr/>
        </p:nvSpPr>
        <p:spPr>
          <a:xfrm>
            <a:off x="13182233" y="3686955"/>
            <a:ext cx="1330748" cy="1377716"/>
          </a:xfrm>
          <a:prstGeom prst="roundRect">
            <a:avLst>
              <a:gd name="adj" fmla="val 10588"/>
            </a:avLst>
          </a:prstGeom>
          <a:solidFill>
            <a:srgbClr val="ECF0F1"/>
          </a:solidFill>
          <a:ln w="9144">
            <a:solidFill>
              <a:srgbClr val="ECF0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sample_response_y1_box"/>
          <p:cNvSpPr/>
          <p:nvPr/>
        </p:nvSpPr>
        <p:spPr>
          <a:xfrm>
            <a:off x="13244857" y="3741750"/>
            <a:ext cx="1142878" cy="305289"/>
          </a:xfrm>
          <a:prstGeom prst="roundRect">
            <a:avLst>
              <a:gd name="adj" fmla="val 15384"/>
            </a:avLst>
          </a:prstGeom>
          <a:solidFill>
            <a:srgbClr val="8595AE"/>
          </a:solidFill>
          <a:ln w="1371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sample_response_y1_label"/>
          <p:cNvSpPr txBox="1"/>
          <p:nvPr/>
        </p:nvSpPr>
        <p:spPr>
          <a:xfrm>
            <a:off x="13283996" y="3757406"/>
            <a:ext cx="1064598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FFFFFF"/>
                </a:solidFill>
                <a:latin typeface="Liberation Serif"/>
              </a:rPr>
              <a:t>Response Y₁</a:t>
            </a:r>
          </a:p>
        </p:txBody>
      </p:sp>
      <p:sp>
        <p:nvSpPr>
          <p:cNvPr id="350" name="sample_response_y2_box"/>
          <p:cNvSpPr/>
          <p:nvPr/>
        </p:nvSpPr>
        <p:spPr>
          <a:xfrm>
            <a:off x="13244857" y="4133147"/>
            <a:ext cx="1142878" cy="305289"/>
          </a:xfrm>
          <a:prstGeom prst="roundRect">
            <a:avLst>
              <a:gd name="adj" fmla="val 15384"/>
            </a:avLst>
          </a:prstGeom>
          <a:solidFill>
            <a:srgbClr val="8595AE"/>
          </a:solidFill>
          <a:ln w="1371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sample_response_y2_label"/>
          <p:cNvSpPr txBox="1"/>
          <p:nvPr/>
        </p:nvSpPr>
        <p:spPr>
          <a:xfrm>
            <a:off x="13283996" y="4148803"/>
            <a:ext cx="1064598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FFFFFF"/>
                </a:solidFill>
                <a:latin typeface="Liberation Serif"/>
              </a:rPr>
              <a:t>Response Y₂</a:t>
            </a:r>
          </a:p>
        </p:txBody>
      </p:sp>
      <p:sp>
        <p:nvSpPr>
          <p:cNvPr id="352" name="response_ellipsis"/>
          <p:cNvSpPr txBox="1"/>
          <p:nvPr/>
        </p:nvSpPr>
        <p:spPr>
          <a:xfrm>
            <a:off x="13526662" y="4446264"/>
            <a:ext cx="579267" cy="2035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00000"/>
                </a:solidFill>
                <a:latin typeface="Liberation Serif"/>
              </a:rPr>
              <a:t>…</a:t>
            </a:r>
          </a:p>
        </p:txBody>
      </p:sp>
      <p:sp>
        <p:nvSpPr>
          <p:cNvPr id="353" name="sample_response_yn_box"/>
          <p:cNvSpPr/>
          <p:nvPr/>
        </p:nvSpPr>
        <p:spPr>
          <a:xfrm>
            <a:off x="13244857" y="4665446"/>
            <a:ext cx="1142878" cy="305289"/>
          </a:xfrm>
          <a:prstGeom prst="roundRect">
            <a:avLst>
              <a:gd name="adj" fmla="val 15384"/>
            </a:avLst>
          </a:prstGeom>
          <a:solidFill>
            <a:srgbClr val="8595AE"/>
          </a:solidFill>
          <a:ln w="1371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sample_response_yn_label"/>
          <p:cNvSpPr txBox="1"/>
          <p:nvPr/>
        </p:nvSpPr>
        <p:spPr>
          <a:xfrm>
            <a:off x="13283996" y="4681102"/>
            <a:ext cx="1064598" cy="2739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FFFFFF"/>
                </a:solidFill>
                <a:latin typeface="Liberation Serif"/>
              </a:rPr>
              <a:t>Response Yₙ</a:t>
            </a:r>
          </a:p>
        </p:txBody>
      </p:sp>
      <p:sp>
        <p:nvSpPr>
          <p:cNvPr id="355" name="reward_container"/>
          <p:cNvSpPr/>
          <p:nvPr/>
        </p:nvSpPr>
        <p:spPr>
          <a:xfrm>
            <a:off x="10207620" y="5675249"/>
            <a:ext cx="4258394" cy="2716291"/>
          </a:xfrm>
          <a:prstGeom prst="roundRect">
            <a:avLst>
              <a:gd name="adj" fmla="val 6340"/>
            </a:avLst>
          </a:prstGeom>
          <a:solidFill>
            <a:srgbClr val="F8FAFA"/>
          </a:solidFill>
          <a:ln w="27432">
            <a:solidFill>
              <a:srgbClr val="A6A6A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reward_title"/>
          <p:cNvSpPr txBox="1"/>
          <p:nvPr/>
        </p:nvSpPr>
        <p:spPr>
          <a:xfrm>
            <a:off x="10567705" y="5753528"/>
            <a:ext cx="3499084" cy="2974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9" b="1" i="0">
                <a:solidFill>
                  <a:srgbClr val="000000"/>
                </a:solidFill>
                <a:latin typeface="Liberation Serif"/>
              </a:rPr>
              <a:t>Normalized Verifiable Reward</a:t>
            </a:r>
          </a:p>
        </p:txBody>
      </p:sp>
      <p:sp>
        <p:nvSpPr>
          <p:cNvPr id="357" name="policy_optimization"/>
          <p:cNvSpPr txBox="1"/>
          <p:nvPr/>
        </p:nvSpPr>
        <p:spPr>
          <a:xfrm>
            <a:off x="11060864" y="4955079"/>
            <a:ext cx="1283780" cy="60275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1">
                <a:solidFill>
                  <a:srgbClr val="000000"/>
                </a:solidFill>
                <a:latin typeface="Liberation Serif"/>
              </a:rPr>
              <a:t>Policy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9" b="1" i="1">
                <a:solidFill>
                  <a:srgbClr val="000000"/>
                </a:solidFill>
                <a:latin typeface="Liberation Serif"/>
              </a:rPr>
              <a:t>Optimization</a:t>
            </a:r>
          </a:p>
        </p:txBody>
      </p:sp>
      <p:cxnSp>
        <p:nvCxnSpPr>
          <p:cNvPr id="358" name="policy_curve_1"/>
          <p:cNvCxnSpPr/>
          <p:nvPr/>
        </p:nvCxnSpPr>
        <p:spPr>
          <a:xfrm flipV="1">
            <a:off x="10935617" y="5369960"/>
            <a:ext cx="0" cy="297461"/>
          </a:xfrm>
          <a:prstGeom prst="line">
            <a:avLst/>
          </a:prstGeom>
          <a:ln w="45719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policy_curve_2_shaft"/>
          <p:cNvCxnSpPr/>
          <p:nvPr/>
        </p:nvCxnSpPr>
        <p:spPr>
          <a:xfrm flipV="1">
            <a:off x="10935617" y="4782583"/>
            <a:ext cx="849220" cy="587377"/>
          </a:xfrm>
          <a:prstGeom prst="line">
            <a:avLst/>
          </a:prstGeom>
          <a:ln w="45719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0" name="policy_curve_2_head"/>
          <p:cNvSpPr/>
          <p:nvPr/>
        </p:nvSpPr>
        <p:spPr>
          <a:xfrm>
            <a:off x="11749722" y="4720241"/>
            <a:ext cx="125247" cy="117419"/>
          </a:xfrm>
          <a:custGeom>
            <a:avLst/>
            <a:gdLst/>
            <a:ahLst/>
            <a:cxnLst/>
            <a:rect l="l" t="t" r="r" b="b"/>
            <a:pathLst>
              <a:path w="16" h="15">
                <a:moveTo>
                  <a:pt x="9" y="15"/>
                </a:moveTo>
                <a:lnTo>
                  <a:pt x="16" y="0"/>
                </a:lnTo>
                <a:lnTo>
                  <a:pt x="0" y="1"/>
                </a:lnTo>
                <a:close/>
              </a:path>
            </a:pathLst>
          </a:custGeom>
          <a:solidFill>
            <a:srgbClr val="7F7F7F"/>
          </a:solidFill>
          <a:ln w="4572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1" name="reward_feedback_1"/>
          <p:cNvCxnSpPr/>
          <p:nvPr/>
        </p:nvCxnSpPr>
        <p:spPr>
          <a:xfrm>
            <a:off x="13824123" y="5064670"/>
            <a:ext cx="0" cy="164387"/>
          </a:xfrm>
          <a:prstGeom prst="line">
            <a:avLst/>
          </a:prstGeom>
          <a:ln w="45719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reward_feedback_2"/>
          <p:cNvCxnSpPr/>
          <p:nvPr/>
        </p:nvCxnSpPr>
        <p:spPr>
          <a:xfrm flipH="1">
            <a:off x="13080470" y="5229057"/>
            <a:ext cx="743653" cy="109591"/>
          </a:xfrm>
          <a:prstGeom prst="line">
            <a:avLst/>
          </a:prstGeom>
          <a:ln w="45719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reward_feedback_3_shaft"/>
          <p:cNvCxnSpPr/>
          <p:nvPr/>
        </p:nvCxnSpPr>
        <p:spPr>
          <a:xfrm flipH="1">
            <a:off x="12482894" y="5338648"/>
            <a:ext cx="597576" cy="282002"/>
          </a:xfrm>
          <a:prstGeom prst="line">
            <a:avLst/>
          </a:prstGeom>
          <a:ln w="45719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reward_feedback_3_head"/>
          <p:cNvSpPr/>
          <p:nvPr/>
        </p:nvSpPr>
        <p:spPr>
          <a:xfrm>
            <a:off x="12383784" y="5565658"/>
            <a:ext cx="125247" cy="109591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9" y="0"/>
                </a:moveTo>
                <a:lnTo>
                  <a:pt x="0" y="13"/>
                </a:lnTo>
                <a:lnTo>
                  <a:pt x="16" y="14"/>
                </a:lnTo>
                <a:close/>
              </a:path>
            </a:pathLst>
          </a:custGeom>
          <a:solidFill>
            <a:srgbClr val="7F7F7F"/>
          </a:solidFill>
          <a:ln w="4572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erall_reward_box"/>
          <p:cNvSpPr/>
          <p:nvPr/>
        </p:nvSpPr>
        <p:spPr>
          <a:xfrm>
            <a:off x="10285899" y="6027506"/>
            <a:ext cx="4101835" cy="665374"/>
          </a:xfrm>
          <a:prstGeom prst="roundRect">
            <a:avLst>
              <a:gd name="adj" fmla="val 5882"/>
            </a:avLst>
          </a:prstGeom>
          <a:solidFill>
            <a:srgbClr val="DEEAF6"/>
          </a:solidFill>
          <a:ln w="9144">
            <a:solidFill>
              <a:srgbClr val="DEEA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erall_reward_heading"/>
          <p:cNvSpPr txBox="1"/>
          <p:nvPr/>
        </p:nvSpPr>
        <p:spPr>
          <a:xfrm>
            <a:off x="10340695" y="6082301"/>
            <a:ext cx="1722144" cy="219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9" b="1" i="0">
                <a:solidFill>
                  <a:srgbClr val="000000"/>
                </a:solidFill>
                <a:latin typeface="Liberation Serif"/>
              </a:rPr>
              <a:t>Overall Reward:</a:t>
            </a:r>
          </a:p>
        </p:txBody>
      </p:sp>
      <p:sp>
        <p:nvSpPr>
          <p:cNvPr id="367" name="overall_reward_formula"/>
          <p:cNvSpPr txBox="1"/>
          <p:nvPr/>
        </p:nvSpPr>
        <p:spPr>
          <a:xfrm>
            <a:off x="10599016" y="6324967"/>
            <a:ext cx="3639987" cy="3287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1">
                <a:solidFill>
                  <a:srgbClr val="000000"/>
                </a:solidFill>
                <a:latin typeface="Liberation Serif"/>
              </a:rPr>
              <a:t>R = { 0.8·Racc + 0.1·Rformat + 0.1·Rword,                 if ylabel=real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1">
                <a:solidFill>
                  <a:srgbClr val="000000"/>
                </a:solidFill>
                <a:latin typeface="Liberation Serif"/>
              </a:rPr>
              <a:t>      0.7·Racc + 0.1·Rformat + 0.1·Rword + 0.1·Rentity,  if ylabel=fake</a:t>
            </a:r>
          </a:p>
        </p:txBody>
      </p:sp>
      <p:cxnSp>
        <p:nvCxnSpPr>
          <p:cNvPr id="368" name="reward_div_v"/>
          <p:cNvCxnSpPr/>
          <p:nvPr/>
        </p:nvCxnSpPr>
        <p:spPr>
          <a:xfrm>
            <a:off x="12399440" y="6747675"/>
            <a:ext cx="0" cy="1549930"/>
          </a:xfrm>
          <a:prstGeom prst="line">
            <a:avLst/>
          </a:prstGeom>
          <a:ln w="27432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reward_div_h"/>
          <p:cNvCxnSpPr/>
          <p:nvPr/>
        </p:nvCxnSpPr>
        <p:spPr>
          <a:xfrm>
            <a:off x="10293727" y="7248663"/>
            <a:ext cx="4086179" cy="0"/>
          </a:xfrm>
          <a:prstGeom prst="line">
            <a:avLst/>
          </a:prstGeom>
          <a:ln w="27432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accuracy_gavel_head"/>
          <p:cNvSpPr/>
          <p:nvPr/>
        </p:nvSpPr>
        <p:spPr>
          <a:xfrm>
            <a:off x="10387662" y="6857266"/>
            <a:ext cx="133231" cy="69512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accuracy_gavel_cap"/>
          <p:cNvSpPr/>
          <p:nvPr/>
        </p:nvSpPr>
        <p:spPr>
          <a:xfrm>
            <a:off x="10356351" y="6841610"/>
            <a:ext cx="37652" cy="92683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2" name="accuracy_gavel_handle"/>
          <p:cNvCxnSpPr/>
          <p:nvPr/>
        </p:nvCxnSpPr>
        <p:spPr>
          <a:xfrm>
            <a:off x="10458583" y="6903294"/>
            <a:ext cx="130335" cy="139024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accuracy_gavel_base"/>
          <p:cNvCxnSpPr/>
          <p:nvPr/>
        </p:nvCxnSpPr>
        <p:spPr>
          <a:xfrm>
            <a:off x="10363004" y="7082867"/>
            <a:ext cx="144817" cy="0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accuracy_reward"/>
          <p:cNvSpPr txBox="1"/>
          <p:nvPr/>
        </p:nvSpPr>
        <p:spPr>
          <a:xfrm>
            <a:off x="10685124" y="6810299"/>
            <a:ext cx="1667349" cy="3287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erif"/>
              </a:rPr>
              <a:t>Accuracy Reward Racc</a:t>
            </a:r>
          </a:p>
        </p:txBody>
      </p:sp>
      <p:sp>
        <p:nvSpPr>
          <p:cNvPr id="375" name="format_gavel_head"/>
          <p:cNvSpPr/>
          <p:nvPr/>
        </p:nvSpPr>
        <p:spPr>
          <a:xfrm>
            <a:off x="10387662" y="7381737"/>
            <a:ext cx="133231" cy="69512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format_gavel_cap"/>
          <p:cNvSpPr/>
          <p:nvPr/>
        </p:nvSpPr>
        <p:spPr>
          <a:xfrm>
            <a:off x="10356351" y="7366082"/>
            <a:ext cx="37652" cy="92683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7" name="format_gavel_handle"/>
          <p:cNvCxnSpPr/>
          <p:nvPr/>
        </p:nvCxnSpPr>
        <p:spPr>
          <a:xfrm>
            <a:off x="10458583" y="7427766"/>
            <a:ext cx="130335" cy="139024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format_gavel_base"/>
          <p:cNvCxnSpPr/>
          <p:nvPr/>
        </p:nvCxnSpPr>
        <p:spPr>
          <a:xfrm>
            <a:off x="10363004" y="7607338"/>
            <a:ext cx="144817" cy="0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format_reward"/>
          <p:cNvSpPr txBox="1"/>
          <p:nvPr/>
        </p:nvSpPr>
        <p:spPr>
          <a:xfrm>
            <a:off x="10685124" y="7342598"/>
            <a:ext cx="1667349" cy="3287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erif"/>
              </a:rPr>
              <a:t>Format Reward Rformat</a:t>
            </a:r>
          </a:p>
        </p:txBody>
      </p:sp>
      <p:sp>
        <p:nvSpPr>
          <p:cNvPr id="380" name="keyword_gavel_head"/>
          <p:cNvSpPr/>
          <p:nvPr/>
        </p:nvSpPr>
        <p:spPr>
          <a:xfrm>
            <a:off x="10387662" y="7898381"/>
            <a:ext cx="133231" cy="69512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keyword_gavel_cap"/>
          <p:cNvSpPr/>
          <p:nvPr/>
        </p:nvSpPr>
        <p:spPr>
          <a:xfrm>
            <a:off x="10356351" y="7882725"/>
            <a:ext cx="37652" cy="92683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keyword_gavel_handle"/>
          <p:cNvCxnSpPr/>
          <p:nvPr/>
        </p:nvCxnSpPr>
        <p:spPr>
          <a:xfrm>
            <a:off x="10458583" y="7944409"/>
            <a:ext cx="130335" cy="139024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keyword_gavel_base"/>
          <p:cNvCxnSpPr/>
          <p:nvPr/>
        </p:nvCxnSpPr>
        <p:spPr>
          <a:xfrm>
            <a:off x="10363004" y="8123982"/>
            <a:ext cx="144817" cy="0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keyword_reward"/>
          <p:cNvSpPr txBox="1"/>
          <p:nvPr/>
        </p:nvSpPr>
        <p:spPr>
          <a:xfrm>
            <a:off x="10685124" y="7827929"/>
            <a:ext cx="1667349" cy="446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erif"/>
              </a:rPr>
              <a:t>Reasoning Keywords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erif"/>
              </a:rPr>
              <a:t>Reward Rword</a:t>
            </a:r>
          </a:p>
        </p:txBody>
      </p:sp>
      <p:sp>
        <p:nvSpPr>
          <p:cNvPr id="385" name="entity_gavel_head"/>
          <p:cNvSpPr/>
          <p:nvPr/>
        </p:nvSpPr>
        <p:spPr>
          <a:xfrm>
            <a:off x="12595138" y="6857266"/>
            <a:ext cx="133231" cy="69512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entity_gavel_cap"/>
          <p:cNvSpPr/>
          <p:nvPr/>
        </p:nvSpPr>
        <p:spPr>
          <a:xfrm>
            <a:off x="12563827" y="6841610"/>
            <a:ext cx="37652" cy="92683"/>
          </a:xfrm>
          <a:prstGeom prst="rect">
            <a:avLst/>
          </a:prstGeom>
          <a:solidFill>
            <a:srgbClr val="F28C3C"/>
          </a:solidFill>
          <a:ln w="9144">
            <a:solidFill>
              <a:srgbClr val="F28C3C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7" name="entity_gavel_handle"/>
          <p:cNvCxnSpPr/>
          <p:nvPr/>
        </p:nvCxnSpPr>
        <p:spPr>
          <a:xfrm>
            <a:off x="12666059" y="6903294"/>
            <a:ext cx="130335" cy="139024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entity_gavel_base"/>
          <p:cNvCxnSpPr/>
          <p:nvPr/>
        </p:nvCxnSpPr>
        <p:spPr>
          <a:xfrm>
            <a:off x="12570480" y="7082867"/>
            <a:ext cx="144817" cy="0"/>
          </a:xfrm>
          <a:prstGeom prst="line">
            <a:avLst/>
          </a:prstGeom>
          <a:ln w="54864">
            <a:solidFill>
              <a:srgbClr val="F28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entity_reward"/>
          <p:cNvSpPr txBox="1"/>
          <p:nvPr/>
        </p:nvSpPr>
        <p:spPr>
          <a:xfrm>
            <a:off x="12900428" y="6778987"/>
            <a:ext cx="1416855" cy="430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erif"/>
              </a:rPr>
              <a:t>Entity Grounding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000000"/>
                </a:solidFill>
                <a:latin typeface="Liberation Serif"/>
              </a:rPr>
              <a:t>Reward</a:t>
            </a:r>
          </a:p>
        </p:txBody>
      </p:sp>
      <p:sp>
        <p:nvSpPr>
          <p:cNvPr id="390" name="judge_response_box"/>
          <p:cNvSpPr/>
          <p:nvPr/>
        </p:nvSpPr>
        <p:spPr>
          <a:xfrm>
            <a:off x="12462064" y="7342598"/>
            <a:ext cx="1135050" cy="313117"/>
          </a:xfrm>
          <a:prstGeom prst="roundRect">
            <a:avLst>
              <a:gd name="adj" fmla="val 15000"/>
            </a:avLst>
          </a:prstGeom>
          <a:solidFill>
            <a:srgbClr val="8595AE"/>
          </a:solidFill>
          <a:ln w="13716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judge_response_label"/>
          <p:cNvSpPr txBox="1"/>
          <p:nvPr/>
        </p:nvSpPr>
        <p:spPr>
          <a:xfrm>
            <a:off x="12501203" y="7358254"/>
            <a:ext cx="1056770" cy="2818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FFFFFF"/>
                </a:solidFill>
                <a:latin typeface="Liberation Serif"/>
              </a:rPr>
              <a:t>Response Yₙ</a:t>
            </a:r>
          </a:p>
        </p:txBody>
      </p:sp>
      <p:sp>
        <p:nvSpPr>
          <p:cNvPr id="392" name="judge_icon_badge"/>
          <p:cNvSpPr/>
          <p:nvPr/>
        </p:nvSpPr>
        <p:spPr>
          <a:xfrm>
            <a:off x="13800639" y="7319114"/>
            <a:ext cx="414880" cy="41488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judge_icon_head"/>
          <p:cNvSpPr/>
          <p:nvPr/>
        </p:nvSpPr>
        <p:spPr>
          <a:xfrm>
            <a:off x="13958294" y="7402090"/>
            <a:ext cx="99571" cy="95422"/>
          </a:xfrm>
          <a:prstGeom prst="ellipse">
            <a:avLst/>
          </a:prstGeom>
          <a:solidFill>
            <a:srgbClr val="C9D5E4"/>
          </a:solidFill>
          <a:ln w="9144">
            <a:solidFill>
              <a:srgbClr val="C9D5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judge_icon_body"/>
          <p:cNvSpPr/>
          <p:nvPr/>
        </p:nvSpPr>
        <p:spPr>
          <a:xfrm>
            <a:off x="13886747" y="7514812"/>
            <a:ext cx="242666" cy="140903"/>
          </a:xfrm>
          <a:custGeom>
            <a:avLst/>
            <a:gdLst/>
            <a:ahLst/>
            <a:cxnLst/>
            <a:rect l="l" t="t" r="r" b="b"/>
            <a:pathLst>
              <a:path w="31" h="18">
                <a:moveTo>
                  <a:pt x="0" y="18"/>
                </a:moveTo>
                <a:lnTo>
                  <a:pt x="7" y="0"/>
                </a:lnTo>
                <a:lnTo>
                  <a:pt x="16" y="5"/>
                </a:lnTo>
                <a:lnTo>
                  <a:pt x="24" y="0"/>
                </a:lnTo>
                <a:lnTo>
                  <a:pt x="31" y="18"/>
                </a:lnTo>
                <a:close/>
              </a:path>
            </a:pathLst>
          </a:custGeom>
          <a:solidFill>
            <a:srgbClr val="C9D5E4"/>
          </a:solidFill>
          <a:ln w="9144">
            <a:solidFill>
              <a:srgbClr val="C9D5E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5" name="judge_response_arrow_shaft"/>
          <p:cNvCxnSpPr/>
          <p:nvPr/>
        </p:nvCxnSpPr>
        <p:spPr>
          <a:xfrm>
            <a:off x="13620597" y="7499156"/>
            <a:ext cx="78279" cy="0"/>
          </a:xfrm>
          <a:prstGeom prst="line">
            <a:avLst/>
          </a:prstGeom>
          <a:ln w="36576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judge_response_arrow_head"/>
          <p:cNvSpPr/>
          <p:nvPr/>
        </p:nvSpPr>
        <p:spPr>
          <a:xfrm>
            <a:off x="13698876" y="7452189"/>
            <a:ext cx="78279" cy="93935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12"/>
                </a:moveTo>
                <a:lnTo>
                  <a:pt x="10" y="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4572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judge_label"/>
          <p:cNvSpPr txBox="1"/>
          <p:nvPr/>
        </p:nvSpPr>
        <p:spPr>
          <a:xfrm>
            <a:off x="13526662" y="7663543"/>
            <a:ext cx="845416" cy="219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000000"/>
                </a:solidFill>
                <a:latin typeface="Liberation Serif"/>
              </a:rPr>
              <a:t>Judge model</a:t>
            </a:r>
          </a:p>
        </p:txBody>
      </p:sp>
      <p:sp>
        <p:nvSpPr>
          <p:cNvPr id="398" name="entity_formula"/>
          <p:cNvSpPr txBox="1"/>
          <p:nvPr/>
        </p:nvSpPr>
        <p:spPr>
          <a:xfrm>
            <a:off x="12618622" y="7914037"/>
            <a:ext cx="1722144" cy="4070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9" b="1" i="1">
                <a:solidFill>
                  <a:srgbClr val="000000"/>
                </a:solidFill>
                <a:latin typeface="Liberation Serif"/>
              </a:rPr>
              <a:t>Rentity = { 1,  if Judge = True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89" b="1" i="1">
                <a:solidFill>
                  <a:srgbClr val="000000"/>
                </a:solidFill>
                <a:latin typeface="Liberation Serif"/>
              </a:rPr>
              <a:t>               0,  otherwise</a:t>
            </a:r>
          </a:p>
        </p:txBody>
      </p:sp>
      <p:cxnSp>
        <p:nvCxnSpPr>
          <p:cNvPr id="399" name="judge_to_formula_shaft"/>
          <p:cNvCxnSpPr/>
          <p:nvPr/>
        </p:nvCxnSpPr>
        <p:spPr>
          <a:xfrm flipH="1">
            <a:off x="13641510" y="7874897"/>
            <a:ext cx="417451" cy="104363"/>
          </a:xfrm>
          <a:prstGeom prst="line">
            <a:avLst/>
          </a:prstGeom>
          <a:ln w="36576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judge_to_formula_head"/>
          <p:cNvSpPr/>
          <p:nvPr/>
        </p:nvSpPr>
        <p:spPr>
          <a:xfrm>
            <a:off x="13557974" y="7929692"/>
            <a:ext cx="93935" cy="101763"/>
          </a:xfrm>
          <a:custGeom>
            <a:avLst/>
            <a:gdLst/>
            <a:ahLst/>
            <a:cxnLst/>
            <a:rect l="l" t="t" r="r" b="b"/>
            <a:pathLst>
              <a:path w="12" h="13">
                <a:moveTo>
                  <a:pt x="9" y="0"/>
                </a:moveTo>
                <a:lnTo>
                  <a:pt x="0" y="9"/>
                </a:lnTo>
                <a:lnTo>
                  <a:pt x="12" y="13"/>
                </a:lnTo>
                <a:close/>
              </a:path>
            </a:pathLst>
          </a:custGeom>
          <a:solidFill>
            <a:srgbClr val="7F7F7F"/>
          </a:solidFill>
          <a:ln w="4572">
            <a:solidFill>
              <a:srgbClr val="7F7F7F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act-R1 Towards Explainable Video Misinformation Detection with Deep Reaso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508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