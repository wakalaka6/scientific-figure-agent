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289536" cy="68552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289536" cy="6855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arning_band"/>
          <p:cNvSpPr/>
          <p:nvPr/>
        </p:nvSpPr>
        <p:spPr>
          <a:xfrm>
            <a:off x="76809" y="83210"/>
            <a:ext cx="12206325" cy="3456432"/>
          </a:xfrm>
          <a:prstGeom prst="roundRect">
            <a:avLst>
              <a:gd name="adj" fmla="val 7777"/>
            </a:avLst>
          </a:prstGeom>
          <a:solidFill>
            <a:srgbClr val="E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lanning_band"/>
          <p:cNvSpPr/>
          <p:nvPr/>
        </p:nvSpPr>
        <p:spPr>
          <a:xfrm>
            <a:off x="76809" y="3680460"/>
            <a:ext cx="12206325" cy="3117189"/>
          </a:xfrm>
          <a:prstGeom prst="roundRect">
            <a:avLst>
              <a:gd name="adj" fmla="val 8624"/>
            </a:avLst>
          </a:prstGeom>
          <a:solidFill>
            <a:srgbClr val="F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arning_label"/>
          <p:cNvSpPr txBox="1"/>
          <p:nvPr/>
        </p:nvSpPr>
        <p:spPr>
          <a:xfrm rot="16200000">
            <a:off x="-422452" y="1619402"/>
            <a:ext cx="14401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0707"/>
                </a:solidFill>
                <a:latin typeface="Liberation Sans"/>
              </a:rPr>
              <a:t>Learning</a:t>
            </a:r>
          </a:p>
        </p:txBody>
      </p:sp>
      <p:sp>
        <p:nvSpPr>
          <p:cNvPr id="6" name="planning_label"/>
          <p:cNvSpPr txBox="1"/>
          <p:nvPr/>
        </p:nvSpPr>
        <p:spPr>
          <a:xfrm rot="16200000">
            <a:off x="-371246" y="4960620"/>
            <a:ext cx="134416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0707"/>
                </a:solidFill>
                <a:latin typeface="Liberation Sans"/>
              </a:rPr>
              <a:t>Planning</a:t>
            </a:r>
          </a:p>
        </p:txBody>
      </p:sp>
      <p:cxnSp>
        <p:nvCxnSpPr>
          <p:cNvPr id="7" name="dataset_to_keyframes_mid_seg_1"/>
          <p:cNvCxnSpPr/>
          <p:nvPr/>
        </p:nvCxnSpPr>
        <p:spPr>
          <a:xfrm>
            <a:off x="1312163" y="1856231"/>
            <a:ext cx="352045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aset_to_keyframes_mid_head"/>
          <p:cNvSpPr/>
          <p:nvPr/>
        </p:nvSpPr>
        <p:spPr>
          <a:xfrm rot="5400000">
            <a:off x="1599239" y="1791263"/>
            <a:ext cx="129936" cy="129936"/>
          </a:xfrm>
          <a:prstGeom prst="triangl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dataset_keyframe_branch_seg_1"/>
          <p:cNvCxnSpPr/>
          <p:nvPr/>
        </p:nvCxnSpPr>
        <p:spPr>
          <a:xfrm>
            <a:off x="1446580" y="979322"/>
            <a:ext cx="0" cy="1971446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ataset_to_keyframes_top_seg_1"/>
          <p:cNvCxnSpPr/>
          <p:nvPr/>
        </p:nvCxnSpPr>
        <p:spPr>
          <a:xfrm>
            <a:off x="1446580" y="979322"/>
            <a:ext cx="217628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aset_to_keyframes_top_head"/>
          <p:cNvSpPr/>
          <p:nvPr/>
        </p:nvSpPr>
        <p:spPr>
          <a:xfrm rot="5400000">
            <a:off x="1599239" y="914354"/>
            <a:ext cx="129936" cy="129936"/>
          </a:xfrm>
          <a:prstGeom prst="triangl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dataset_to_keyframes_bottom_seg_1"/>
          <p:cNvCxnSpPr/>
          <p:nvPr/>
        </p:nvCxnSpPr>
        <p:spPr>
          <a:xfrm>
            <a:off x="1446580" y="2950768"/>
            <a:ext cx="217628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aset_to_keyframes_bottom_head"/>
          <p:cNvSpPr/>
          <p:nvPr/>
        </p:nvSpPr>
        <p:spPr>
          <a:xfrm rot="5400000">
            <a:off x="1599239" y="2885800"/>
            <a:ext cx="129936" cy="129936"/>
          </a:xfrm>
          <a:prstGeom prst="triangl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keyframes_to_atomic_seg_1"/>
          <p:cNvCxnSpPr/>
          <p:nvPr/>
        </p:nvCxnSpPr>
        <p:spPr>
          <a:xfrm>
            <a:off x="4589373" y="985723"/>
            <a:ext cx="595275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eyframes_to_atomic_head"/>
          <p:cNvSpPr/>
          <p:nvPr/>
        </p:nvSpPr>
        <p:spPr>
          <a:xfrm rot="5400000">
            <a:off x="5119679" y="920755"/>
            <a:ext cx="129936" cy="129936"/>
          </a:xfrm>
          <a:prstGeom prst="triangl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keyframe_merge_seg_1"/>
          <p:cNvCxnSpPr/>
          <p:nvPr/>
        </p:nvCxnSpPr>
        <p:spPr>
          <a:xfrm>
            <a:off x="4890211" y="985723"/>
            <a:ext cx="0" cy="1965045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keyframe_mid_merge_seg_1"/>
          <p:cNvCxnSpPr/>
          <p:nvPr/>
        </p:nvCxnSpPr>
        <p:spPr>
          <a:xfrm>
            <a:off x="4589373" y="1856231"/>
            <a:ext cx="300838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keyframe_bottom_merge_seg_1"/>
          <p:cNvCxnSpPr/>
          <p:nvPr/>
        </p:nvCxnSpPr>
        <p:spPr>
          <a:xfrm>
            <a:off x="4589373" y="2950768"/>
            <a:ext cx="300838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tomic_to_fusion_seg_1"/>
          <p:cNvCxnSpPr/>
          <p:nvPr/>
        </p:nvCxnSpPr>
        <p:spPr>
          <a:xfrm>
            <a:off x="8557869" y="2918764"/>
            <a:ext cx="377647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tomic_to_fusion_seg_2"/>
          <p:cNvCxnSpPr/>
          <p:nvPr/>
        </p:nvCxnSpPr>
        <p:spPr>
          <a:xfrm flipV="1">
            <a:off x="8935516" y="1126540"/>
            <a:ext cx="0" cy="1792224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tomic_to_fusion_seg_3"/>
          <p:cNvCxnSpPr/>
          <p:nvPr/>
        </p:nvCxnSpPr>
        <p:spPr>
          <a:xfrm>
            <a:off x="8935516" y="1126540"/>
            <a:ext cx="198425" cy="0"/>
          </a:xfrm>
          <a:prstGeom prst="line">
            <a:avLst/>
          </a:prstGeom>
          <a:ln w="25400">
            <a:solidFill>
              <a:srgbClr val="2F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tomic_to_fusion_head"/>
          <p:cNvSpPr/>
          <p:nvPr/>
        </p:nvSpPr>
        <p:spPr>
          <a:xfrm rot="5400000">
            <a:off x="9068973" y="1061572"/>
            <a:ext cx="129936" cy="129936"/>
          </a:xfrm>
          <a:prstGeom prst="triangle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instruction_to_filter_seg_1"/>
          <p:cNvCxnSpPr/>
          <p:nvPr/>
        </p:nvCxnSpPr>
        <p:spPr>
          <a:xfrm>
            <a:off x="2937967" y="4550968"/>
            <a:ext cx="153619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instruction_to_filter_seg_2"/>
          <p:cNvCxnSpPr/>
          <p:nvPr/>
        </p:nvCxnSpPr>
        <p:spPr>
          <a:xfrm>
            <a:off x="3091586" y="4550968"/>
            <a:ext cx="0" cy="979323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instruction_to_filter_seg_3"/>
          <p:cNvCxnSpPr/>
          <p:nvPr/>
        </p:nvCxnSpPr>
        <p:spPr>
          <a:xfrm>
            <a:off x="3091586" y="5530291"/>
            <a:ext cx="268834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nstruction_to_filter_head"/>
          <p:cNvSpPr/>
          <p:nvPr/>
        </p:nvSpPr>
        <p:spPr>
          <a:xfrm rot="5400000">
            <a:off x="3295451" y="5465323"/>
            <a:ext cx="129936" cy="129936"/>
          </a:xfrm>
          <a:prstGeom prst="triangle">
            <a:avLst/>
          </a:prstGeom>
          <a:solidFill>
            <a:srgbClr val="5B3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scene_to_filter_seg_1"/>
          <p:cNvCxnSpPr/>
          <p:nvPr/>
        </p:nvCxnSpPr>
        <p:spPr>
          <a:xfrm>
            <a:off x="2835554" y="5920740"/>
            <a:ext cx="256032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cene_to_filter_seg_2"/>
          <p:cNvCxnSpPr/>
          <p:nvPr/>
        </p:nvCxnSpPr>
        <p:spPr>
          <a:xfrm flipV="1">
            <a:off x="3091586" y="5530291"/>
            <a:ext cx="0" cy="390449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roblem_to_planning_seg_1"/>
          <p:cNvCxnSpPr/>
          <p:nvPr/>
        </p:nvCxnSpPr>
        <p:spPr>
          <a:xfrm>
            <a:off x="5658307" y="6336792"/>
            <a:ext cx="198425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roblem_to_planning_seg_2"/>
          <p:cNvCxnSpPr/>
          <p:nvPr/>
        </p:nvCxnSpPr>
        <p:spPr>
          <a:xfrm flipV="1">
            <a:off x="5856732" y="4691786"/>
            <a:ext cx="0" cy="1645006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roblem_to_planning_seg_3"/>
          <p:cNvCxnSpPr/>
          <p:nvPr/>
        </p:nvCxnSpPr>
        <p:spPr>
          <a:xfrm>
            <a:off x="5856732" y="4691786"/>
            <a:ext cx="275234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roblem_to_planning_head"/>
          <p:cNvSpPr/>
          <p:nvPr/>
        </p:nvSpPr>
        <p:spPr>
          <a:xfrm rot="5400000">
            <a:off x="6066998" y="4626818"/>
            <a:ext cx="129936" cy="129936"/>
          </a:xfrm>
          <a:prstGeom prst="triangle">
            <a:avLst/>
          </a:prstGeom>
          <a:solidFill>
            <a:srgbClr val="5B3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planning_to_execution_seg_1"/>
          <p:cNvCxnSpPr/>
          <p:nvPr/>
        </p:nvCxnSpPr>
        <p:spPr>
          <a:xfrm>
            <a:off x="7904988" y="5971946"/>
            <a:ext cx="236829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lanning_to_execution_seg_2"/>
          <p:cNvCxnSpPr/>
          <p:nvPr/>
        </p:nvCxnSpPr>
        <p:spPr>
          <a:xfrm flipV="1">
            <a:off x="8141817" y="4589373"/>
            <a:ext cx="0" cy="1382573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lanning_to_execution_seg_3"/>
          <p:cNvCxnSpPr/>
          <p:nvPr/>
        </p:nvCxnSpPr>
        <p:spPr>
          <a:xfrm>
            <a:off x="8141817" y="4589373"/>
            <a:ext cx="224028" cy="0"/>
          </a:xfrm>
          <a:prstGeom prst="line">
            <a:avLst/>
          </a:prstGeom>
          <a:ln w="25400">
            <a:solidFill>
              <a:srgbClr val="5B3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lanning_to_execution_head"/>
          <p:cNvSpPr/>
          <p:nvPr/>
        </p:nvSpPr>
        <p:spPr>
          <a:xfrm rot="5400000">
            <a:off x="8300877" y="4524405"/>
            <a:ext cx="129936" cy="129936"/>
          </a:xfrm>
          <a:prstGeom prst="triangle">
            <a:avLst/>
          </a:prstGeom>
          <a:solidFill>
            <a:srgbClr val="5B3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set_body"/>
          <p:cNvSpPr/>
          <p:nvPr/>
        </p:nvSpPr>
        <p:spPr>
          <a:xfrm>
            <a:off x="531266" y="1216151"/>
            <a:ext cx="787298" cy="1254556"/>
          </a:xfrm>
          <a:prstGeom prst="rect">
            <a:avLst/>
          </a:prstGeom>
          <a:solidFill>
            <a:srgbClr val="FAFAFA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set_top"/>
          <p:cNvSpPr/>
          <p:nvPr/>
        </p:nvSpPr>
        <p:spPr>
          <a:xfrm>
            <a:off x="531266" y="1075334"/>
            <a:ext cx="787298" cy="300837"/>
          </a:xfrm>
          <a:prstGeom prst="ellipse">
            <a:avLst/>
          </a:prstGeom>
          <a:solidFill>
            <a:srgbClr val="FAFAFA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set_bottom"/>
          <p:cNvSpPr/>
          <p:nvPr/>
        </p:nvSpPr>
        <p:spPr>
          <a:xfrm>
            <a:off x="531266" y="2329891"/>
            <a:ext cx="787298" cy="300837"/>
          </a:xfrm>
          <a:prstGeom prst="ellipse">
            <a:avLst/>
          </a:prstGeom>
          <a:solidFill>
            <a:srgbClr val="FAFAFA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set_bottom_mask"/>
          <p:cNvSpPr/>
          <p:nvPr/>
        </p:nvSpPr>
        <p:spPr>
          <a:xfrm>
            <a:off x="550468" y="2329891"/>
            <a:ext cx="748893" cy="14721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dataset_left_seg_1"/>
          <p:cNvCxnSpPr/>
          <p:nvPr/>
        </p:nvCxnSpPr>
        <p:spPr>
          <a:xfrm>
            <a:off x="531266" y="1222552"/>
            <a:ext cx="0" cy="1248156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dataset_right_seg_1"/>
          <p:cNvCxnSpPr/>
          <p:nvPr/>
        </p:nvCxnSpPr>
        <p:spPr>
          <a:xfrm>
            <a:off x="1318564" y="1222552"/>
            <a:ext cx="0" cy="1248156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ataset_text"/>
          <p:cNvSpPr txBox="1"/>
          <p:nvPr/>
        </p:nvSpPr>
        <p:spPr>
          <a:xfrm>
            <a:off x="563270" y="1568195"/>
            <a:ext cx="729691" cy="5888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DROID</a:t>
            </a:r>
          </a:p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Dataset</a:t>
            </a:r>
          </a:p>
        </p:txBody>
      </p:sp>
      <p:sp>
        <p:nvSpPr>
          <p:cNvPr id="44" name="keyframe_panel"/>
          <p:cNvSpPr/>
          <p:nvPr/>
        </p:nvSpPr>
        <p:spPr>
          <a:xfrm>
            <a:off x="1555394" y="192024"/>
            <a:ext cx="3200400" cy="3251606"/>
          </a:xfrm>
          <a:prstGeom prst="roundRect">
            <a:avLst>
              <a:gd name="adj" fmla="val 8400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eyframe_title"/>
          <p:cNvSpPr txBox="1"/>
          <p:nvPr/>
        </p:nvSpPr>
        <p:spPr>
          <a:xfrm>
            <a:off x="1830628" y="243230"/>
            <a:ext cx="2662732" cy="275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0707"/>
                </a:solidFill>
                <a:latin typeface="Liberation Sans"/>
              </a:rPr>
              <a:t>(a) Keyframe Extraction</a:t>
            </a:r>
          </a:p>
        </p:txBody>
      </p:sp>
      <p:sp>
        <p:nvSpPr>
          <p:cNvPr id="46" name="keyframe_row_1_back"/>
          <p:cNvSpPr/>
          <p:nvPr/>
        </p:nvSpPr>
        <p:spPr>
          <a:xfrm>
            <a:off x="1664208" y="531266"/>
            <a:ext cx="2925165" cy="876909"/>
          </a:xfrm>
          <a:prstGeom prst="rect">
            <a:avLst/>
          </a:prstGeom>
          <a:solidFill>
            <a:srgbClr val="D7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keyframe_photo_1_1" descr="key_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608075"/>
            <a:ext cx="857707" cy="742492"/>
          </a:xfrm>
          <a:prstGeom prst="rect">
            <a:avLst/>
          </a:prstGeom>
        </p:spPr>
      </p:pic>
      <p:sp>
        <p:nvSpPr>
          <p:cNvPr id="48" name="keyframe_caption_band_1_1"/>
          <p:cNvSpPr/>
          <p:nvPr/>
        </p:nvSpPr>
        <p:spPr>
          <a:xfrm>
            <a:off x="1728216" y="608075"/>
            <a:ext cx="857707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eyframe_caption_1_1"/>
          <p:cNvSpPr txBox="1"/>
          <p:nvPr/>
        </p:nvSpPr>
        <p:spPr>
          <a:xfrm>
            <a:off x="1741017" y="601675"/>
            <a:ext cx="8321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1</a:t>
            </a:r>
          </a:p>
        </p:txBody>
      </p:sp>
      <p:pic>
        <p:nvPicPr>
          <p:cNvPr id="50" name="keyframe_photo_1_2" descr="key_1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7" y="608075"/>
            <a:ext cx="876909" cy="742492"/>
          </a:xfrm>
          <a:prstGeom prst="rect">
            <a:avLst/>
          </a:prstGeom>
        </p:spPr>
      </p:pic>
      <p:sp>
        <p:nvSpPr>
          <p:cNvPr id="51" name="keyframe_caption_band_1_2"/>
          <p:cNvSpPr/>
          <p:nvPr/>
        </p:nvSpPr>
        <p:spPr>
          <a:xfrm>
            <a:off x="2624327" y="608075"/>
            <a:ext cx="876909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yframe_caption_1_2"/>
          <p:cNvSpPr txBox="1"/>
          <p:nvPr/>
        </p:nvSpPr>
        <p:spPr>
          <a:xfrm>
            <a:off x="2637129" y="601675"/>
            <a:ext cx="851306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2</a:t>
            </a:r>
          </a:p>
        </p:txBody>
      </p:sp>
      <p:pic>
        <p:nvPicPr>
          <p:cNvPr id="53" name="keyframe_photo_1_3" descr="key_1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654" y="608075"/>
            <a:ext cx="864108" cy="742492"/>
          </a:xfrm>
          <a:prstGeom prst="rect">
            <a:avLst/>
          </a:prstGeom>
        </p:spPr>
      </p:pic>
      <p:sp>
        <p:nvSpPr>
          <p:cNvPr id="54" name="keyframe_caption_band_1_3"/>
          <p:cNvSpPr/>
          <p:nvPr/>
        </p:nvSpPr>
        <p:spPr>
          <a:xfrm>
            <a:off x="3635654" y="608075"/>
            <a:ext cx="864108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keyframe_caption_1_3"/>
          <p:cNvSpPr txBox="1"/>
          <p:nvPr/>
        </p:nvSpPr>
        <p:spPr>
          <a:xfrm>
            <a:off x="3648456" y="601675"/>
            <a:ext cx="8385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7</a:t>
            </a:r>
          </a:p>
        </p:txBody>
      </p:sp>
      <p:sp>
        <p:nvSpPr>
          <p:cNvPr id="56" name="keyframe_ellipsis_1"/>
          <p:cNvSpPr txBox="1"/>
          <p:nvPr/>
        </p:nvSpPr>
        <p:spPr>
          <a:xfrm>
            <a:off x="3494836" y="768096"/>
            <a:ext cx="140817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…</a:t>
            </a:r>
          </a:p>
        </p:txBody>
      </p:sp>
      <p:sp>
        <p:nvSpPr>
          <p:cNvPr id="57" name="keyframe_row_2_back"/>
          <p:cNvSpPr/>
          <p:nvPr/>
        </p:nvSpPr>
        <p:spPr>
          <a:xfrm>
            <a:off x="1664208" y="1408175"/>
            <a:ext cx="2925165" cy="876909"/>
          </a:xfrm>
          <a:prstGeom prst="rect">
            <a:avLst/>
          </a:prstGeom>
          <a:solidFill>
            <a:srgbClr val="D7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keyframe_photo_2_1" descr="key_2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216" y="1484985"/>
            <a:ext cx="857707" cy="742492"/>
          </a:xfrm>
          <a:prstGeom prst="rect">
            <a:avLst/>
          </a:prstGeom>
        </p:spPr>
      </p:pic>
      <p:sp>
        <p:nvSpPr>
          <p:cNvPr id="59" name="keyframe_caption_band_2_1"/>
          <p:cNvSpPr/>
          <p:nvPr/>
        </p:nvSpPr>
        <p:spPr>
          <a:xfrm>
            <a:off x="1728216" y="1484985"/>
            <a:ext cx="857707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keyframe_caption_2_1"/>
          <p:cNvSpPr txBox="1"/>
          <p:nvPr/>
        </p:nvSpPr>
        <p:spPr>
          <a:xfrm>
            <a:off x="1741017" y="1478584"/>
            <a:ext cx="8321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1</a:t>
            </a:r>
          </a:p>
        </p:txBody>
      </p:sp>
      <p:pic>
        <p:nvPicPr>
          <p:cNvPr id="61" name="keyframe_photo_2_2" descr="key_2_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7" y="1484985"/>
            <a:ext cx="876909" cy="742492"/>
          </a:xfrm>
          <a:prstGeom prst="rect">
            <a:avLst/>
          </a:prstGeom>
        </p:spPr>
      </p:pic>
      <p:sp>
        <p:nvSpPr>
          <p:cNvPr id="62" name="keyframe_caption_band_2_2"/>
          <p:cNvSpPr/>
          <p:nvPr/>
        </p:nvSpPr>
        <p:spPr>
          <a:xfrm>
            <a:off x="2624327" y="1484985"/>
            <a:ext cx="876909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keyframe_caption_2_2"/>
          <p:cNvSpPr txBox="1"/>
          <p:nvPr/>
        </p:nvSpPr>
        <p:spPr>
          <a:xfrm>
            <a:off x="2637129" y="1478584"/>
            <a:ext cx="851306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2</a:t>
            </a:r>
          </a:p>
        </p:txBody>
      </p:sp>
      <p:pic>
        <p:nvPicPr>
          <p:cNvPr id="64" name="keyframe_photo_2_3" descr="key_2_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654" y="1484985"/>
            <a:ext cx="864108" cy="742492"/>
          </a:xfrm>
          <a:prstGeom prst="rect">
            <a:avLst/>
          </a:prstGeom>
        </p:spPr>
      </p:pic>
      <p:sp>
        <p:nvSpPr>
          <p:cNvPr id="65" name="keyframe_caption_band_2_3"/>
          <p:cNvSpPr/>
          <p:nvPr/>
        </p:nvSpPr>
        <p:spPr>
          <a:xfrm>
            <a:off x="3635654" y="1484985"/>
            <a:ext cx="864108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keyframe_caption_2_3"/>
          <p:cNvSpPr txBox="1"/>
          <p:nvPr/>
        </p:nvSpPr>
        <p:spPr>
          <a:xfrm>
            <a:off x="3648456" y="1478584"/>
            <a:ext cx="8385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9</a:t>
            </a:r>
          </a:p>
        </p:txBody>
      </p:sp>
      <p:sp>
        <p:nvSpPr>
          <p:cNvPr id="67" name="keyframe_ellipsis_2"/>
          <p:cNvSpPr txBox="1"/>
          <p:nvPr/>
        </p:nvSpPr>
        <p:spPr>
          <a:xfrm>
            <a:off x="3494836" y="1645005"/>
            <a:ext cx="140817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…</a:t>
            </a:r>
          </a:p>
        </p:txBody>
      </p:sp>
      <p:sp>
        <p:nvSpPr>
          <p:cNvPr id="68" name="keyframe_row_3_back"/>
          <p:cNvSpPr/>
          <p:nvPr/>
        </p:nvSpPr>
        <p:spPr>
          <a:xfrm>
            <a:off x="1664208" y="2502712"/>
            <a:ext cx="2925165" cy="870508"/>
          </a:xfrm>
          <a:prstGeom prst="rect">
            <a:avLst/>
          </a:prstGeom>
          <a:solidFill>
            <a:srgbClr val="D7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keyframe_photo_3_1" descr="key_3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216" y="2579522"/>
            <a:ext cx="857707" cy="736092"/>
          </a:xfrm>
          <a:prstGeom prst="rect">
            <a:avLst/>
          </a:prstGeom>
        </p:spPr>
      </p:pic>
      <p:sp>
        <p:nvSpPr>
          <p:cNvPr id="70" name="keyframe_caption_band_3_1"/>
          <p:cNvSpPr/>
          <p:nvPr/>
        </p:nvSpPr>
        <p:spPr>
          <a:xfrm>
            <a:off x="1728216" y="2579522"/>
            <a:ext cx="857707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keyframe_caption_3_1"/>
          <p:cNvSpPr txBox="1"/>
          <p:nvPr/>
        </p:nvSpPr>
        <p:spPr>
          <a:xfrm>
            <a:off x="1741017" y="2573121"/>
            <a:ext cx="8321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1</a:t>
            </a:r>
          </a:p>
        </p:txBody>
      </p:sp>
      <p:pic>
        <p:nvPicPr>
          <p:cNvPr id="72" name="keyframe_photo_3_2" descr="key_3_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4327" y="2579522"/>
            <a:ext cx="876909" cy="736092"/>
          </a:xfrm>
          <a:prstGeom prst="rect">
            <a:avLst/>
          </a:prstGeom>
        </p:spPr>
      </p:pic>
      <p:sp>
        <p:nvSpPr>
          <p:cNvPr id="73" name="keyframe_caption_band_3_2"/>
          <p:cNvSpPr/>
          <p:nvPr/>
        </p:nvSpPr>
        <p:spPr>
          <a:xfrm>
            <a:off x="2624327" y="2579522"/>
            <a:ext cx="876909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keyframe_caption_3_2"/>
          <p:cNvSpPr txBox="1"/>
          <p:nvPr/>
        </p:nvSpPr>
        <p:spPr>
          <a:xfrm>
            <a:off x="2637129" y="2573121"/>
            <a:ext cx="851306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2</a:t>
            </a:r>
          </a:p>
        </p:txBody>
      </p:sp>
      <p:pic>
        <p:nvPicPr>
          <p:cNvPr id="75" name="keyframe_photo_3_3" descr="key_3_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5654" y="2579522"/>
            <a:ext cx="864108" cy="736092"/>
          </a:xfrm>
          <a:prstGeom prst="rect">
            <a:avLst/>
          </a:prstGeom>
        </p:spPr>
      </p:pic>
      <p:sp>
        <p:nvSpPr>
          <p:cNvPr id="76" name="keyframe_caption_band_3_3"/>
          <p:cNvSpPr/>
          <p:nvPr/>
        </p:nvSpPr>
        <p:spPr>
          <a:xfrm>
            <a:off x="3635654" y="2579522"/>
            <a:ext cx="864108" cy="17922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keyframe_caption_3_3"/>
          <p:cNvSpPr txBox="1"/>
          <p:nvPr/>
        </p:nvSpPr>
        <p:spPr>
          <a:xfrm>
            <a:off x="3648456" y="2573121"/>
            <a:ext cx="83850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Liberation Sans"/>
              </a:rPr>
              <a:t>Frame 8</a:t>
            </a:r>
          </a:p>
        </p:txBody>
      </p:sp>
      <p:sp>
        <p:nvSpPr>
          <p:cNvPr id="78" name="keyframe_ellipsis_3"/>
          <p:cNvSpPr txBox="1"/>
          <p:nvPr/>
        </p:nvSpPr>
        <p:spPr>
          <a:xfrm>
            <a:off x="3494836" y="2739542"/>
            <a:ext cx="140817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…</a:t>
            </a:r>
          </a:p>
        </p:txBody>
      </p:sp>
      <p:sp>
        <p:nvSpPr>
          <p:cNvPr id="79" name="keyframe_vertical_ellipsis"/>
          <p:cNvSpPr txBox="1"/>
          <p:nvPr/>
        </p:nvSpPr>
        <p:spPr>
          <a:xfrm>
            <a:off x="2918764" y="2259482"/>
            <a:ext cx="217627" cy="275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70707"/>
                </a:solidFill>
                <a:latin typeface="Liberation Sans"/>
              </a:rPr>
              <a:t>⋮</a:t>
            </a:r>
          </a:p>
        </p:txBody>
      </p:sp>
      <p:sp>
        <p:nvSpPr>
          <p:cNvPr id="80" name="atomic_panel"/>
          <p:cNvSpPr/>
          <p:nvPr/>
        </p:nvSpPr>
        <p:spPr>
          <a:xfrm>
            <a:off x="4915814" y="192024"/>
            <a:ext cx="3955694" cy="3251606"/>
          </a:xfrm>
          <a:prstGeom prst="roundRect">
            <a:avLst>
              <a:gd name="adj" fmla="val 8267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tomic_title"/>
          <p:cNvSpPr txBox="1"/>
          <p:nvPr/>
        </p:nvSpPr>
        <p:spPr>
          <a:xfrm>
            <a:off x="5248655" y="249631"/>
            <a:ext cx="3334816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0707"/>
                </a:solidFill>
                <a:latin typeface="Liberation Sans"/>
              </a:rPr>
              <a:t>(b) Atomic Domain Generation</a:t>
            </a:r>
          </a:p>
        </p:txBody>
      </p:sp>
      <p:sp>
        <p:nvSpPr>
          <p:cNvPr id="82" name="construction_box"/>
          <p:cNvSpPr/>
          <p:nvPr/>
        </p:nvSpPr>
        <p:spPr>
          <a:xfrm>
            <a:off x="5191048" y="691286"/>
            <a:ext cx="3360420" cy="601675"/>
          </a:xfrm>
          <a:prstGeom prst="roundRect">
            <a:avLst>
              <a:gd name="adj" fmla="val 15957"/>
            </a:avLst>
          </a:prstGeom>
          <a:solidFill>
            <a:srgbClr val="BFE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struction_logo_loop_0_seg_1"/>
          <p:cNvCxnSpPr/>
          <p:nvPr/>
        </p:nvCxnSpPr>
        <p:spPr>
          <a:xfrm flipH="1" flipV="1">
            <a:off x="5351812" y="863461"/>
            <a:ext cx="41189" cy="8098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struction_logo_loop_0_seg_2"/>
          <p:cNvCxnSpPr/>
          <p:nvPr/>
        </p:nvCxnSpPr>
        <p:spPr>
          <a:xfrm flipV="1">
            <a:off x="5351812" y="833824"/>
            <a:ext cx="82467" cy="296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struction_logo_loop_0_seg_3"/>
          <p:cNvCxnSpPr/>
          <p:nvPr/>
        </p:nvCxnSpPr>
        <p:spPr>
          <a:xfrm>
            <a:off x="5434279" y="833824"/>
            <a:ext cx="82466" cy="296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struction_logo_loop_0_seg_4"/>
          <p:cNvCxnSpPr/>
          <p:nvPr/>
        </p:nvCxnSpPr>
        <p:spPr>
          <a:xfrm flipH="1">
            <a:off x="5475556" y="863461"/>
            <a:ext cx="41189" cy="8098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struction_logo_loop_1_seg_1"/>
          <p:cNvCxnSpPr/>
          <p:nvPr/>
        </p:nvCxnSpPr>
        <p:spPr>
          <a:xfrm flipV="1">
            <a:off x="5449387" y="853174"/>
            <a:ext cx="49540" cy="7616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struction_logo_loop_1_seg_2"/>
          <p:cNvCxnSpPr/>
          <p:nvPr/>
        </p:nvCxnSpPr>
        <p:spPr>
          <a:xfrm>
            <a:off x="5498927" y="853174"/>
            <a:ext cx="66900" cy="5659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struction_logo_loop_1_seg_3"/>
          <p:cNvCxnSpPr/>
          <p:nvPr/>
        </p:nvCxnSpPr>
        <p:spPr>
          <a:xfrm>
            <a:off x="5565827" y="909773"/>
            <a:ext cx="15567" cy="862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struction_logo_loop_1_seg_4"/>
          <p:cNvCxnSpPr/>
          <p:nvPr/>
        </p:nvCxnSpPr>
        <p:spPr>
          <a:xfrm flipH="1">
            <a:off x="5490665" y="996010"/>
            <a:ext cx="90729" cy="48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struction_logo_loop_2_seg_1"/>
          <p:cNvCxnSpPr/>
          <p:nvPr/>
        </p:nvCxnSpPr>
        <p:spPr>
          <a:xfrm>
            <a:off x="5490665" y="970614"/>
            <a:ext cx="90729" cy="48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struction_logo_loop_2_seg_2"/>
          <p:cNvCxnSpPr/>
          <p:nvPr/>
        </p:nvCxnSpPr>
        <p:spPr>
          <a:xfrm flipH="1">
            <a:off x="5565827" y="975435"/>
            <a:ext cx="15567" cy="862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struction_logo_loop_2_seg_3"/>
          <p:cNvCxnSpPr/>
          <p:nvPr/>
        </p:nvCxnSpPr>
        <p:spPr>
          <a:xfrm flipH="1">
            <a:off x="5498927" y="1061672"/>
            <a:ext cx="66900" cy="5660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struction_logo_loop_2_seg_4"/>
          <p:cNvCxnSpPr/>
          <p:nvPr/>
        </p:nvCxnSpPr>
        <p:spPr>
          <a:xfrm flipH="1" flipV="1">
            <a:off x="5449387" y="1042109"/>
            <a:ext cx="49540" cy="7616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struction_logo_loop_3_seg_1"/>
          <p:cNvCxnSpPr/>
          <p:nvPr/>
        </p:nvCxnSpPr>
        <p:spPr>
          <a:xfrm>
            <a:off x="5475556" y="1027000"/>
            <a:ext cx="41189" cy="80985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struction_logo_loop_3_seg_2"/>
          <p:cNvCxnSpPr/>
          <p:nvPr/>
        </p:nvCxnSpPr>
        <p:spPr>
          <a:xfrm flipH="1">
            <a:off x="5434279" y="1107985"/>
            <a:ext cx="82466" cy="2963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struction_logo_loop_3_seg_3"/>
          <p:cNvCxnSpPr/>
          <p:nvPr/>
        </p:nvCxnSpPr>
        <p:spPr>
          <a:xfrm flipH="1" flipV="1">
            <a:off x="5351812" y="1107985"/>
            <a:ext cx="82467" cy="2963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struction_logo_loop_3_seg_4"/>
          <p:cNvCxnSpPr/>
          <p:nvPr/>
        </p:nvCxnSpPr>
        <p:spPr>
          <a:xfrm flipV="1">
            <a:off x="5351812" y="1027000"/>
            <a:ext cx="41189" cy="80985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struction_logo_loop_4_seg_1"/>
          <p:cNvCxnSpPr/>
          <p:nvPr/>
        </p:nvCxnSpPr>
        <p:spPr>
          <a:xfrm flipH="1">
            <a:off x="5369630" y="1042109"/>
            <a:ext cx="49540" cy="7616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struction_logo_loop_4_seg_2"/>
          <p:cNvCxnSpPr/>
          <p:nvPr/>
        </p:nvCxnSpPr>
        <p:spPr>
          <a:xfrm flipH="1" flipV="1">
            <a:off x="5302731" y="1061672"/>
            <a:ext cx="66899" cy="5660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struction_logo_loop_4_seg_3"/>
          <p:cNvCxnSpPr/>
          <p:nvPr/>
        </p:nvCxnSpPr>
        <p:spPr>
          <a:xfrm flipH="1" flipV="1">
            <a:off x="5287164" y="975435"/>
            <a:ext cx="15567" cy="862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struction_logo_loop_4_seg_4"/>
          <p:cNvCxnSpPr/>
          <p:nvPr/>
        </p:nvCxnSpPr>
        <p:spPr>
          <a:xfrm flipV="1">
            <a:off x="5287164" y="970614"/>
            <a:ext cx="90728" cy="48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struction_logo_loop_5_seg_1"/>
          <p:cNvCxnSpPr/>
          <p:nvPr/>
        </p:nvCxnSpPr>
        <p:spPr>
          <a:xfrm flipH="1" flipV="1">
            <a:off x="5287164" y="996010"/>
            <a:ext cx="90728" cy="48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struction_logo_loop_5_seg_2"/>
          <p:cNvCxnSpPr/>
          <p:nvPr/>
        </p:nvCxnSpPr>
        <p:spPr>
          <a:xfrm flipV="1">
            <a:off x="5287164" y="909773"/>
            <a:ext cx="15567" cy="8623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struction_logo_loop_5_seg_3"/>
          <p:cNvCxnSpPr/>
          <p:nvPr/>
        </p:nvCxnSpPr>
        <p:spPr>
          <a:xfrm flipV="1">
            <a:off x="5302731" y="853174"/>
            <a:ext cx="66899" cy="5659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struction_logo_loop_5_seg_4"/>
          <p:cNvCxnSpPr/>
          <p:nvPr/>
        </p:nvCxnSpPr>
        <p:spPr>
          <a:xfrm>
            <a:off x="5369630" y="853174"/>
            <a:ext cx="49540" cy="7616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struction_logo_center_seg_1"/>
          <p:cNvCxnSpPr/>
          <p:nvPr/>
        </p:nvCxnSpPr>
        <p:spPr>
          <a:xfrm>
            <a:off x="5434279" y="927347"/>
            <a:ext cx="50554" cy="29188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struction_logo_center_seg_2"/>
          <p:cNvCxnSpPr/>
          <p:nvPr/>
        </p:nvCxnSpPr>
        <p:spPr>
          <a:xfrm>
            <a:off x="5484833" y="956535"/>
            <a:ext cx="0" cy="58375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struction_logo_center_seg_3"/>
          <p:cNvCxnSpPr/>
          <p:nvPr/>
        </p:nvCxnSpPr>
        <p:spPr>
          <a:xfrm flipH="1">
            <a:off x="5434279" y="1014910"/>
            <a:ext cx="50554" cy="29188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struction_logo_center_seg_4"/>
          <p:cNvCxnSpPr/>
          <p:nvPr/>
        </p:nvCxnSpPr>
        <p:spPr>
          <a:xfrm flipH="1" flipV="1">
            <a:off x="5383724" y="1014910"/>
            <a:ext cx="50555" cy="29188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struction_logo_center_seg_5"/>
          <p:cNvCxnSpPr/>
          <p:nvPr/>
        </p:nvCxnSpPr>
        <p:spPr>
          <a:xfrm flipV="1">
            <a:off x="5383724" y="956535"/>
            <a:ext cx="0" cy="58375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struction_logo_center_seg_6"/>
          <p:cNvCxnSpPr/>
          <p:nvPr/>
        </p:nvCxnSpPr>
        <p:spPr>
          <a:xfrm flipV="1">
            <a:off x="5383724" y="927347"/>
            <a:ext cx="50555" cy="29188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onstruction_text"/>
          <p:cNvSpPr txBox="1"/>
          <p:nvPr/>
        </p:nvSpPr>
        <p:spPr>
          <a:xfrm>
            <a:off x="5664707" y="736092"/>
            <a:ext cx="1805025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Domain Construction</a:t>
            </a:r>
          </a:p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&amp; Revision</a:t>
            </a:r>
          </a:p>
        </p:txBody>
      </p:sp>
      <p:sp>
        <p:nvSpPr>
          <p:cNvPr id="114" name="construction_doc_body"/>
          <p:cNvSpPr/>
          <p:nvPr/>
        </p:nvSpPr>
        <p:spPr>
          <a:xfrm>
            <a:off x="7488936" y="736092"/>
            <a:ext cx="953719" cy="505663"/>
          </a:xfrm>
          <a:prstGeom prst="rect">
            <a:avLst/>
          </a:prstGeom>
          <a:solidFill>
            <a:srgbClr val="F1FFFB"/>
          </a:solidFill>
          <a:ln w="952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construction_doc_corner_mask"/>
          <p:cNvSpPr/>
          <p:nvPr/>
        </p:nvSpPr>
        <p:spPr>
          <a:xfrm>
            <a:off x="8314639" y="723290"/>
            <a:ext cx="140817" cy="140817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struction_doc_fold_diag_seg_1"/>
          <p:cNvCxnSpPr/>
          <p:nvPr/>
        </p:nvCxnSpPr>
        <p:spPr>
          <a:xfrm>
            <a:off x="8327440" y="736092"/>
            <a:ext cx="115215" cy="115214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struction_doc_fold_top_seg_1"/>
          <p:cNvCxnSpPr/>
          <p:nvPr/>
        </p:nvCxnSpPr>
        <p:spPr>
          <a:xfrm>
            <a:off x="8327440" y="736092"/>
            <a:ext cx="0" cy="115214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struction_doc_fold_right_seg_1"/>
          <p:cNvCxnSpPr/>
          <p:nvPr/>
        </p:nvCxnSpPr>
        <p:spPr>
          <a:xfrm>
            <a:off x="8327440" y="851306"/>
            <a:ext cx="115215" cy="0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struction_doc_top_restore_seg_1"/>
          <p:cNvCxnSpPr/>
          <p:nvPr/>
        </p:nvCxnSpPr>
        <p:spPr>
          <a:xfrm>
            <a:off x="7488936" y="736092"/>
            <a:ext cx="838504" cy="0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struction_doc_right_restore_seg_1"/>
          <p:cNvCxnSpPr/>
          <p:nvPr/>
        </p:nvCxnSpPr>
        <p:spPr>
          <a:xfrm>
            <a:off x="8442655" y="851306"/>
            <a:ext cx="0" cy="390449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struction_doc_pred"/>
          <p:cNvSpPr txBox="1"/>
          <p:nvPr/>
        </p:nvSpPr>
        <p:spPr>
          <a:xfrm>
            <a:off x="7514539" y="761695"/>
            <a:ext cx="806500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589E"/>
                </a:solidFill>
                <a:latin typeface="Liberation Sans"/>
              </a:rPr>
              <a:t>:predicates (…) </a:t>
            </a:r>
          </a:p>
        </p:txBody>
      </p:sp>
      <p:sp>
        <p:nvSpPr>
          <p:cNvPr id="122" name="construction_doc_act"/>
          <p:cNvSpPr txBox="1"/>
          <p:nvPr/>
        </p:nvSpPr>
        <p:spPr>
          <a:xfrm>
            <a:off x="7514539" y="876909"/>
            <a:ext cx="806500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A31A"/>
                </a:solidFill>
                <a:latin typeface="Liberation Sans"/>
              </a:rPr>
              <a:t>:actions …</a:t>
            </a:r>
          </a:p>
        </p:txBody>
      </p:sp>
      <p:sp>
        <p:nvSpPr>
          <p:cNvPr id="123" name="construction_doc_pre"/>
          <p:cNvSpPr txBox="1"/>
          <p:nvPr/>
        </p:nvSpPr>
        <p:spPr>
          <a:xfrm>
            <a:off x="7552944" y="985723"/>
            <a:ext cx="844905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E08000"/>
                </a:solidFill>
                <a:latin typeface="Liberation Sans"/>
              </a:rPr>
              <a:t>:precondition (…) </a:t>
            </a:r>
          </a:p>
        </p:txBody>
      </p:sp>
      <p:sp>
        <p:nvSpPr>
          <p:cNvPr id="124" name="construction_doc_eff"/>
          <p:cNvSpPr txBox="1"/>
          <p:nvPr/>
        </p:nvSpPr>
        <p:spPr>
          <a:xfrm>
            <a:off x="7552944" y="1094536"/>
            <a:ext cx="819302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D0007E"/>
                </a:solidFill>
                <a:latin typeface="Liberation Sans"/>
              </a:rPr>
              <a:t>:effect (…) </a:t>
            </a:r>
          </a:p>
        </p:txBody>
      </p:sp>
      <p:cxnSp>
        <p:nvCxnSpPr>
          <p:cNvPr id="125" name="construction_down_seg_1"/>
          <p:cNvCxnSpPr/>
          <p:nvPr/>
        </p:nvCxnSpPr>
        <p:spPr>
          <a:xfrm>
            <a:off x="6874459" y="1292961"/>
            <a:ext cx="0" cy="185623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onstruction_down_head"/>
          <p:cNvSpPr/>
          <p:nvPr/>
        </p:nvSpPr>
        <p:spPr>
          <a:xfrm rot="10800000">
            <a:off x="6823412" y="1427538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atomic_refinement_group"/>
          <p:cNvSpPr/>
          <p:nvPr/>
        </p:nvSpPr>
        <p:spPr>
          <a:xfrm>
            <a:off x="5075834" y="1484985"/>
            <a:ext cx="3603650" cy="1837029"/>
          </a:xfrm>
          <a:prstGeom prst="roundRect">
            <a:avLst>
              <a:gd name="adj" fmla="val 10452"/>
            </a:avLst>
          </a:prstGeom>
          <a:solidFill>
            <a:srgbClr val="E3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olvability_box"/>
          <p:cNvSpPr/>
          <p:nvPr/>
        </p:nvSpPr>
        <p:spPr>
          <a:xfrm>
            <a:off x="5184648" y="1587398"/>
            <a:ext cx="1459382" cy="780897"/>
          </a:xfrm>
          <a:prstGeom prst="roundRect">
            <a:avLst>
              <a:gd name="adj" fmla="val 13934"/>
            </a:avLst>
          </a:prstGeom>
          <a:solidFill>
            <a:srgbClr val="BFE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solvability_logo_loop_0_seg_1"/>
          <p:cNvCxnSpPr/>
          <p:nvPr/>
        </p:nvCxnSpPr>
        <p:spPr>
          <a:xfrm flipH="1" flipV="1">
            <a:off x="5361649" y="1687857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olvability_logo_loop_0_seg_2"/>
          <p:cNvCxnSpPr/>
          <p:nvPr/>
        </p:nvCxnSpPr>
        <p:spPr>
          <a:xfrm flipV="1">
            <a:off x="5361649" y="1659456"/>
            <a:ext cx="79031" cy="2840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olvability_logo_loop_0_seg_3"/>
          <p:cNvCxnSpPr/>
          <p:nvPr/>
        </p:nvCxnSpPr>
        <p:spPr>
          <a:xfrm>
            <a:off x="5440680" y="1659456"/>
            <a:ext cx="79030" cy="2840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olvability_logo_loop_0_seg_4"/>
          <p:cNvCxnSpPr/>
          <p:nvPr/>
        </p:nvCxnSpPr>
        <p:spPr>
          <a:xfrm flipH="1">
            <a:off x="5480237" y="1687857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olvability_logo_loop_1_seg_1"/>
          <p:cNvCxnSpPr/>
          <p:nvPr/>
        </p:nvCxnSpPr>
        <p:spPr>
          <a:xfrm flipV="1">
            <a:off x="5455159" y="1677999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olvability_logo_loop_1_seg_2"/>
          <p:cNvCxnSpPr/>
          <p:nvPr/>
        </p:nvCxnSpPr>
        <p:spPr>
          <a:xfrm>
            <a:off x="5502634" y="1677999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olvability_logo_loop_1_seg_3"/>
          <p:cNvCxnSpPr/>
          <p:nvPr/>
        </p:nvCxnSpPr>
        <p:spPr>
          <a:xfrm>
            <a:off x="5566746" y="1732240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olvability_logo_loop_1_seg_4"/>
          <p:cNvCxnSpPr/>
          <p:nvPr/>
        </p:nvCxnSpPr>
        <p:spPr>
          <a:xfrm flipH="1">
            <a:off x="5494716" y="1814884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olvability_logo_loop_2_seg_1"/>
          <p:cNvCxnSpPr/>
          <p:nvPr/>
        </p:nvCxnSpPr>
        <p:spPr>
          <a:xfrm>
            <a:off x="5494716" y="1790546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olvability_logo_loop_2_seg_2"/>
          <p:cNvCxnSpPr/>
          <p:nvPr/>
        </p:nvCxnSpPr>
        <p:spPr>
          <a:xfrm flipH="1">
            <a:off x="5566746" y="1795166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olvability_logo_loop_2_seg_3"/>
          <p:cNvCxnSpPr/>
          <p:nvPr/>
        </p:nvCxnSpPr>
        <p:spPr>
          <a:xfrm flipH="1">
            <a:off x="5502634" y="1877810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olvability_logo_loop_2_seg_4"/>
          <p:cNvCxnSpPr/>
          <p:nvPr/>
        </p:nvCxnSpPr>
        <p:spPr>
          <a:xfrm flipH="1" flipV="1">
            <a:off x="5455159" y="1859062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olvability_logo_loop_3_seg_1"/>
          <p:cNvCxnSpPr/>
          <p:nvPr/>
        </p:nvCxnSpPr>
        <p:spPr>
          <a:xfrm>
            <a:off x="5480237" y="1844583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olvability_logo_loop_3_seg_2"/>
          <p:cNvCxnSpPr/>
          <p:nvPr/>
        </p:nvCxnSpPr>
        <p:spPr>
          <a:xfrm flipH="1">
            <a:off x="5440680" y="1922193"/>
            <a:ext cx="79030" cy="2840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olvability_logo_loop_3_seg_3"/>
          <p:cNvCxnSpPr/>
          <p:nvPr/>
        </p:nvCxnSpPr>
        <p:spPr>
          <a:xfrm flipH="1" flipV="1">
            <a:off x="5361649" y="1922193"/>
            <a:ext cx="79031" cy="2840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olvability_logo_loop_3_seg_4"/>
          <p:cNvCxnSpPr/>
          <p:nvPr/>
        </p:nvCxnSpPr>
        <p:spPr>
          <a:xfrm flipV="1">
            <a:off x="5361649" y="1844583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olvability_logo_loop_4_seg_1"/>
          <p:cNvCxnSpPr/>
          <p:nvPr/>
        </p:nvCxnSpPr>
        <p:spPr>
          <a:xfrm flipH="1">
            <a:off x="5378725" y="1859062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olvability_logo_loop_4_seg_2"/>
          <p:cNvCxnSpPr/>
          <p:nvPr/>
        </p:nvCxnSpPr>
        <p:spPr>
          <a:xfrm flipH="1" flipV="1">
            <a:off x="5314613" y="1877810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olvability_logo_loop_4_seg_3"/>
          <p:cNvCxnSpPr/>
          <p:nvPr/>
        </p:nvCxnSpPr>
        <p:spPr>
          <a:xfrm flipH="1" flipV="1">
            <a:off x="5299694" y="1795166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olvability_logo_loop_4_seg_4"/>
          <p:cNvCxnSpPr/>
          <p:nvPr/>
        </p:nvCxnSpPr>
        <p:spPr>
          <a:xfrm flipV="1">
            <a:off x="5299694" y="1790546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olvability_logo_loop_5_seg_1"/>
          <p:cNvCxnSpPr/>
          <p:nvPr/>
        </p:nvCxnSpPr>
        <p:spPr>
          <a:xfrm flipH="1" flipV="1">
            <a:off x="5299694" y="1814884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olvability_logo_loop_5_seg_2"/>
          <p:cNvCxnSpPr/>
          <p:nvPr/>
        </p:nvCxnSpPr>
        <p:spPr>
          <a:xfrm flipV="1">
            <a:off x="5299694" y="1732240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olvability_logo_loop_5_seg_3"/>
          <p:cNvCxnSpPr/>
          <p:nvPr/>
        </p:nvCxnSpPr>
        <p:spPr>
          <a:xfrm flipV="1">
            <a:off x="5314613" y="1677999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olvability_logo_loop_5_seg_4"/>
          <p:cNvCxnSpPr/>
          <p:nvPr/>
        </p:nvCxnSpPr>
        <p:spPr>
          <a:xfrm>
            <a:off x="5378725" y="1677999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olvability_logo_center_seg_1"/>
          <p:cNvCxnSpPr/>
          <p:nvPr/>
        </p:nvCxnSpPr>
        <p:spPr>
          <a:xfrm>
            <a:off x="5440680" y="1749082"/>
            <a:ext cx="48448" cy="27972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olvability_logo_center_seg_2"/>
          <p:cNvCxnSpPr/>
          <p:nvPr/>
        </p:nvCxnSpPr>
        <p:spPr>
          <a:xfrm>
            <a:off x="5489128" y="1777054"/>
            <a:ext cx="0" cy="55943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olvability_logo_center_seg_3"/>
          <p:cNvCxnSpPr/>
          <p:nvPr/>
        </p:nvCxnSpPr>
        <p:spPr>
          <a:xfrm flipH="1">
            <a:off x="5440680" y="1832997"/>
            <a:ext cx="48448" cy="2797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olvability_logo_center_seg_4"/>
          <p:cNvCxnSpPr/>
          <p:nvPr/>
        </p:nvCxnSpPr>
        <p:spPr>
          <a:xfrm flipH="1" flipV="1">
            <a:off x="5392231" y="1832997"/>
            <a:ext cx="48449" cy="2797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olvability_logo_center_seg_5"/>
          <p:cNvCxnSpPr/>
          <p:nvPr/>
        </p:nvCxnSpPr>
        <p:spPr>
          <a:xfrm flipV="1">
            <a:off x="5392231" y="1777054"/>
            <a:ext cx="0" cy="55943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olvability_logo_center_seg_6"/>
          <p:cNvCxnSpPr/>
          <p:nvPr/>
        </p:nvCxnSpPr>
        <p:spPr>
          <a:xfrm flipV="1">
            <a:off x="5392231" y="1749082"/>
            <a:ext cx="48449" cy="27972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solvability_text"/>
          <p:cNvSpPr txBox="1"/>
          <p:nvPr/>
        </p:nvSpPr>
        <p:spPr>
          <a:xfrm>
            <a:off x="5645505" y="1689811"/>
            <a:ext cx="928115" cy="524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Solvability</a:t>
            </a:r>
          </a:p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707"/>
                </a:solidFill>
                <a:latin typeface="Liberation Sans"/>
              </a:rPr>
              <a:t>Check</a:t>
            </a:r>
          </a:p>
        </p:txBody>
      </p:sp>
      <p:sp>
        <p:nvSpPr>
          <p:cNvPr id="160" name="solvability_icon_top"/>
          <p:cNvSpPr/>
          <p:nvPr/>
        </p:nvSpPr>
        <p:spPr>
          <a:xfrm>
            <a:off x="5398434" y="2041855"/>
            <a:ext cx="82954" cy="691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716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solvability_icon_stem_seg_1"/>
          <p:cNvCxnSpPr/>
          <p:nvPr/>
        </p:nvCxnSpPr>
        <p:spPr>
          <a:xfrm>
            <a:off x="5439911" y="2110983"/>
            <a:ext cx="0" cy="55303"/>
          </a:xfrm>
          <a:prstGeom prst="line">
            <a:avLst/>
          </a:prstGeom>
          <a:ln w="1371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olvability_icon_bar_seg_1"/>
          <p:cNvCxnSpPr/>
          <p:nvPr/>
        </p:nvCxnSpPr>
        <p:spPr>
          <a:xfrm>
            <a:off x="5343131" y="2166286"/>
            <a:ext cx="193561" cy="0"/>
          </a:xfrm>
          <a:prstGeom prst="line">
            <a:avLst/>
          </a:prstGeom>
          <a:ln w="1371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olvability_icon_left_drop_seg_1"/>
          <p:cNvCxnSpPr/>
          <p:nvPr/>
        </p:nvCxnSpPr>
        <p:spPr>
          <a:xfrm>
            <a:off x="5343131" y="2166286"/>
            <a:ext cx="0" cy="55303"/>
          </a:xfrm>
          <a:prstGeom prst="line">
            <a:avLst/>
          </a:prstGeom>
          <a:ln w="1371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olvability_icon_right_drop_seg_1"/>
          <p:cNvCxnSpPr/>
          <p:nvPr/>
        </p:nvCxnSpPr>
        <p:spPr>
          <a:xfrm>
            <a:off x="5536692" y="2166286"/>
            <a:ext cx="0" cy="55303"/>
          </a:xfrm>
          <a:prstGeom prst="line">
            <a:avLst/>
          </a:prstGeom>
          <a:ln w="1371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solvability_icon_left"/>
          <p:cNvSpPr/>
          <p:nvPr/>
        </p:nvSpPr>
        <p:spPr>
          <a:xfrm>
            <a:off x="5306263" y="2216981"/>
            <a:ext cx="78345" cy="6912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716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olvability_icon_right"/>
          <p:cNvSpPr/>
          <p:nvPr/>
        </p:nvSpPr>
        <p:spPr>
          <a:xfrm>
            <a:off x="5499823" y="2216981"/>
            <a:ext cx="78345" cy="6912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716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verification_box"/>
          <p:cNvSpPr/>
          <p:nvPr/>
        </p:nvSpPr>
        <p:spPr>
          <a:xfrm>
            <a:off x="5184648" y="2515514"/>
            <a:ext cx="1459382" cy="697687"/>
          </a:xfrm>
          <a:prstGeom prst="roundRect">
            <a:avLst>
              <a:gd name="adj" fmla="val 15596"/>
            </a:avLst>
          </a:prstGeom>
          <a:solidFill>
            <a:srgbClr val="BFE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verification_logo_loop_0_seg_1"/>
          <p:cNvCxnSpPr/>
          <p:nvPr/>
        </p:nvCxnSpPr>
        <p:spPr>
          <a:xfrm flipH="1" flipV="1">
            <a:off x="5361649" y="2686382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verification_logo_loop_0_seg_2"/>
          <p:cNvCxnSpPr/>
          <p:nvPr/>
        </p:nvCxnSpPr>
        <p:spPr>
          <a:xfrm flipV="1">
            <a:off x="5361649" y="2657980"/>
            <a:ext cx="79031" cy="2840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verification_logo_loop_0_seg_3"/>
          <p:cNvCxnSpPr/>
          <p:nvPr/>
        </p:nvCxnSpPr>
        <p:spPr>
          <a:xfrm>
            <a:off x="5440680" y="2657980"/>
            <a:ext cx="79030" cy="2840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erification_logo_loop_0_seg_4"/>
          <p:cNvCxnSpPr/>
          <p:nvPr/>
        </p:nvCxnSpPr>
        <p:spPr>
          <a:xfrm flipH="1">
            <a:off x="5480237" y="2686382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verification_logo_loop_1_seg_1"/>
          <p:cNvCxnSpPr/>
          <p:nvPr/>
        </p:nvCxnSpPr>
        <p:spPr>
          <a:xfrm flipV="1">
            <a:off x="5455159" y="2676524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verification_logo_loop_1_seg_2"/>
          <p:cNvCxnSpPr/>
          <p:nvPr/>
        </p:nvCxnSpPr>
        <p:spPr>
          <a:xfrm>
            <a:off x="5502634" y="2676524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verification_logo_loop_1_seg_3"/>
          <p:cNvCxnSpPr/>
          <p:nvPr/>
        </p:nvCxnSpPr>
        <p:spPr>
          <a:xfrm>
            <a:off x="5566746" y="2730765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verification_logo_loop_1_seg_4"/>
          <p:cNvCxnSpPr/>
          <p:nvPr/>
        </p:nvCxnSpPr>
        <p:spPr>
          <a:xfrm flipH="1">
            <a:off x="5494716" y="2813409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verification_logo_loop_2_seg_1"/>
          <p:cNvCxnSpPr/>
          <p:nvPr/>
        </p:nvCxnSpPr>
        <p:spPr>
          <a:xfrm>
            <a:off x="5494716" y="2789071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verification_logo_loop_2_seg_2"/>
          <p:cNvCxnSpPr/>
          <p:nvPr/>
        </p:nvCxnSpPr>
        <p:spPr>
          <a:xfrm flipH="1">
            <a:off x="5566746" y="2793691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verification_logo_loop_2_seg_3"/>
          <p:cNvCxnSpPr/>
          <p:nvPr/>
        </p:nvCxnSpPr>
        <p:spPr>
          <a:xfrm flipH="1">
            <a:off x="5502634" y="2876335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verification_logo_loop_2_seg_4"/>
          <p:cNvCxnSpPr/>
          <p:nvPr/>
        </p:nvCxnSpPr>
        <p:spPr>
          <a:xfrm flipH="1" flipV="1">
            <a:off x="5455159" y="2857587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verification_logo_loop_3_seg_1"/>
          <p:cNvCxnSpPr/>
          <p:nvPr/>
        </p:nvCxnSpPr>
        <p:spPr>
          <a:xfrm>
            <a:off x="5480237" y="2843108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verification_logo_loop_3_seg_2"/>
          <p:cNvCxnSpPr/>
          <p:nvPr/>
        </p:nvCxnSpPr>
        <p:spPr>
          <a:xfrm flipH="1">
            <a:off x="5440680" y="2920718"/>
            <a:ext cx="79030" cy="2840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verification_logo_loop_3_seg_3"/>
          <p:cNvCxnSpPr/>
          <p:nvPr/>
        </p:nvCxnSpPr>
        <p:spPr>
          <a:xfrm flipH="1" flipV="1">
            <a:off x="5361649" y="2920718"/>
            <a:ext cx="79031" cy="2840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verification_logo_loop_3_seg_4"/>
          <p:cNvCxnSpPr/>
          <p:nvPr/>
        </p:nvCxnSpPr>
        <p:spPr>
          <a:xfrm flipV="1">
            <a:off x="5361649" y="2843108"/>
            <a:ext cx="39473" cy="7761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verification_logo_loop_4_seg_1"/>
          <p:cNvCxnSpPr/>
          <p:nvPr/>
        </p:nvCxnSpPr>
        <p:spPr>
          <a:xfrm flipH="1">
            <a:off x="5378725" y="2857587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verification_logo_loop_4_seg_2"/>
          <p:cNvCxnSpPr/>
          <p:nvPr/>
        </p:nvCxnSpPr>
        <p:spPr>
          <a:xfrm flipH="1" flipV="1">
            <a:off x="5314613" y="2876335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verification_logo_loop_4_seg_3"/>
          <p:cNvCxnSpPr/>
          <p:nvPr/>
        </p:nvCxnSpPr>
        <p:spPr>
          <a:xfrm flipH="1" flipV="1">
            <a:off x="5299694" y="2793691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verification_logo_loop_4_seg_4"/>
          <p:cNvCxnSpPr/>
          <p:nvPr/>
        </p:nvCxnSpPr>
        <p:spPr>
          <a:xfrm flipV="1">
            <a:off x="5299694" y="2789071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verification_logo_loop_5_seg_1"/>
          <p:cNvCxnSpPr/>
          <p:nvPr/>
        </p:nvCxnSpPr>
        <p:spPr>
          <a:xfrm flipH="1" flipV="1">
            <a:off x="5299694" y="2813409"/>
            <a:ext cx="86949" cy="46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verification_logo_loop_5_seg_2"/>
          <p:cNvCxnSpPr/>
          <p:nvPr/>
        </p:nvCxnSpPr>
        <p:spPr>
          <a:xfrm flipV="1">
            <a:off x="5299694" y="2730765"/>
            <a:ext cx="14919" cy="8264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verification_logo_loop_5_seg_3"/>
          <p:cNvCxnSpPr/>
          <p:nvPr/>
        </p:nvCxnSpPr>
        <p:spPr>
          <a:xfrm flipV="1">
            <a:off x="5314613" y="2676524"/>
            <a:ext cx="64112" cy="5424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verification_logo_loop_5_seg_4"/>
          <p:cNvCxnSpPr/>
          <p:nvPr/>
        </p:nvCxnSpPr>
        <p:spPr>
          <a:xfrm>
            <a:off x="5378725" y="2676524"/>
            <a:ext cx="47475" cy="7298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verification_logo_center_seg_1"/>
          <p:cNvCxnSpPr/>
          <p:nvPr/>
        </p:nvCxnSpPr>
        <p:spPr>
          <a:xfrm>
            <a:off x="5440680" y="2747607"/>
            <a:ext cx="48448" cy="2797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verification_logo_center_seg_2"/>
          <p:cNvCxnSpPr/>
          <p:nvPr/>
        </p:nvCxnSpPr>
        <p:spPr>
          <a:xfrm>
            <a:off x="5489128" y="2775578"/>
            <a:ext cx="0" cy="55943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verification_logo_center_seg_3"/>
          <p:cNvCxnSpPr/>
          <p:nvPr/>
        </p:nvCxnSpPr>
        <p:spPr>
          <a:xfrm flipH="1">
            <a:off x="5440680" y="2831521"/>
            <a:ext cx="48448" cy="27972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verification_logo_center_seg_4"/>
          <p:cNvCxnSpPr/>
          <p:nvPr/>
        </p:nvCxnSpPr>
        <p:spPr>
          <a:xfrm flipH="1" flipV="1">
            <a:off x="5392231" y="2831521"/>
            <a:ext cx="48449" cy="27972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verification_logo_center_seg_5"/>
          <p:cNvCxnSpPr/>
          <p:nvPr/>
        </p:nvCxnSpPr>
        <p:spPr>
          <a:xfrm flipV="1">
            <a:off x="5392231" y="2775578"/>
            <a:ext cx="0" cy="55943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verification_logo_center_seg_6"/>
          <p:cNvCxnSpPr/>
          <p:nvPr/>
        </p:nvCxnSpPr>
        <p:spPr>
          <a:xfrm flipV="1">
            <a:off x="5392231" y="2747607"/>
            <a:ext cx="48449" cy="2797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verification_text"/>
          <p:cNvSpPr txBox="1"/>
          <p:nvPr/>
        </p:nvSpPr>
        <p:spPr>
          <a:xfrm>
            <a:off x="5645505" y="2605125"/>
            <a:ext cx="934516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Solution</a:t>
            </a:r>
          </a:p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Verification</a:t>
            </a:r>
          </a:p>
        </p:txBody>
      </p:sp>
      <p:cxnSp>
        <p:nvCxnSpPr>
          <p:cNvPr id="199" name="solvability_to_verification_seg_1"/>
          <p:cNvCxnSpPr/>
          <p:nvPr/>
        </p:nvCxnSpPr>
        <p:spPr>
          <a:xfrm>
            <a:off x="5914339" y="2368296"/>
            <a:ext cx="0" cy="140817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solvability_to_verification_head"/>
          <p:cNvSpPr/>
          <p:nvPr/>
        </p:nvSpPr>
        <p:spPr>
          <a:xfrm rot="10800000">
            <a:off x="5867933" y="2462707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finement_box"/>
          <p:cNvSpPr/>
          <p:nvPr/>
        </p:nvSpPr>
        <p:spPr>
          <a:xfrm>
            <a:off x="7354519" y="1587398"/>
            <a:ext cx="1196949" cy="1625803"/>
          </a:xfrm>
          <a:prstGeom prst="roundRect">
            <a:avLst>
              <a:gd name="adj" fmla="val 9090"/>
            </a:avLst>
          </a:prstGeom>
          <a:solidFill>
            <a:srgbClr val="BFE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refinement_logo_loop_0_seg_1"/>
          <p:cNvCxnSpPr/>
          <p:nvPr/>
        </p:nvCxnSpPr>
        <p:spPr>
          <a:xfrm flipH="1" flipV="1">
            <a:off x="7865608" y="1725022"/>
            <a:ext cx="42048" cy="8267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refinement_logo_loop_0_seg_2"/>
          <p:cNvCxnSpPr/>
          <p:nvPr/>
        </p:nvCxnSpPr>
        <p:spPr>
          <a:xfrm flipV="1">
            <a:off x="7865608" y="1694767"/>
            <a:ext cx="84185" cy="30255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refinement_logo_loop_0_seg_3"/>
          <p:cNvCxnSpPr/>
          <p:nvPr/>
        </p:nvCxnSpPr>
        <p:spPr>
          <a:xfrm>
            <a:off x="7949793" y="1694767"/>
            <a:ext cx="84185" cy="30255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refinement_logo_loop_0_seg_4"/>
          <p:cNvCxnSpPr/>
          <p:nvPr/>
        </p:nvCxnSpPr>
        <p:spPr>
          <a:xfrm flipH="1">
            <a:off x="7991931" y="1725022"/>
            <a:ext cx="42047" cy="8267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refinement_logo_loop_1_seg_1"/>
          <p:cNvCxnSpPr/>
          <p:nvPr/>
        </p:nvCxnSpPr>
        <p:spPr>
          <a:xfrm flipV="1">
            <a:off x="7965217" y="1714520"/>
            <a:ext cx="50571" cy="7775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refinement_logo_loop_1_seg_2"/>
          <p:cNvCxnSpPr/>
          <p:nvPr/>
        </p:nvCxnSpPr>
        <p:spPr>
          <a:xfrm>
            <a:off x="8015788" y="1714520"/>
            <a:ext cx="68294" cy="5777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refinement_logo_loop_1_seg_3"/>
          <p:cNvCxnSpPr/>
          <p:nvPr/>
        </p:nvCxnSpPr>
        <p:spPr>
          <a:xfrm>
            <a:off x="8084082" y="1772299"/>
            <a:ext cx="15891" cy="8803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refinement_logo_loop_1_seg_4"/>
          <p:cNvCxnSpPr/>
          <p:nvPr/>
        </p:nvCxnSpPr>
        <p:spPr>
          <a:xfrm flipH="1">
            <a:off x="8007354" y="1860332"/>
            <a:ext cx="92619" cy="492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refinement_logo_loop_2_seg_1"/>
          <p:cNvCxnSpPr/>
          <p:nvPr/>
        </p:nvCxnSpPr>
        <p:spPr>
          <a:xfrm>
            <a:off x="8007354" y="1834407"/>
            <a:ext cx="92619" cy="492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refinement_logo_loop_2_seg_2"/>
          <p:cNvCxnSpPr/>
          <p:nvPr/>
        </p:nvCxnSpPr>
        <p:spPr>
          <a:xfrm flipH="1">
            <a:off x="8084082" y="1839329"/>
            <a:ext cx="15891" cy="8803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refinement_logo_loop_2_seg_3"/>
          <p:cNvCxnSpPr/>
          <p:nvPr/>
        </p:nvCxnSpPr>
        <p:spPr>
          <a:xfrm flipH="1">
            <a:off x="8015788" y="1927362"/>
            <a:ext cx="68294" cy="5777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refinement_logo_loop_2_seg_4"/>
          <p:cNvCxnSpPr/>
          <p:nvPr/>
        </p:nvCxnSpPr>
        <p:spPr>
          <a:xfrm flipH="1" flipV="1">
            <a:off x="7965217" y="1907392"/>
            <a:ext cx="50571" cy="7774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refinement_logo_loop_3_seg_1"/>
          <p:cNvCxnSpPr/>
          <p:nvPr/>
        </p:nvCxnSpPr>
        <p:spPr>
          <a:xfrm>
            <a:off x="7991931" y="1891968"/>
            <a:ext cx="42047" cy="8267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refinement_logo_loop_3_seg_2"/>
          <p:cNvCxnSpPr/>
          <p:nvPr/>
        </p:nvCxnSpPr>
        <p:spPr>
          <a:xfrm flipH="1">
            <a:off x="7949793" y="1974640"/>
            <a:ext cx="84185" cy="3025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refinement_logo_loop_3_seg_3"/>
          <p:cNvCxnSpPr/>
          <p:nvPr/>
        </p:nvCxnSpPr>
        <p:spPr>
          <a:xfrm flipH="1" flipV="1">
            <a:off x="7865608" y="1974640"/>
            <a:ext cx="84185" cy="30254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refinement_logo_loop_3_seg_4"/>
          <p:cNvCxnSpPr/>
          <p:nvPr/>
        </p:nvCxnSpPr>
        <p:spPr>
          <a:xfrm flipV="1">
            <a:off x="7865608" y="1891968"/>
            <a:ext cx="42048" cy="8267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refinement_logo_loop_4_seg_1"/>
          <p:cNvCxnSpPr/>
          <p:nvPr/>
        </p:nvCxnSpPr>
        <p:spPr>
          <a:xfrm flipH="1">
            <a:off x="7883798" y="1907392"/>
            <a:ext cx="50572" cy="7774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refinement_logo_loop_4_seg_2"/>
          <p:cNvCxnSpPr/>
          <p:nvPr/>
        </p:nvCxnSpPr>
        <p:spPr>
          <a:xfrm flipH="1" flipV="1">
            <a:off x="7815504" y="1927362"/>
            <a:ext cx="68294" cy="5777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refinement_logo_loop_4_seg_3"/>
          <p:cNvCxnSpPr/>
          <p:nvPr/>
        </p:nvCxnSpPr>
        <p:spPr>
          <a:xfrm flipH="1" flipV="1">
            <a:off x="7799613" y="1839329"/>
            <a:ext cx="15891" cy="8803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refinement_logo_loop_4_seg_4"/>
          <p:cNvCxnSpPr/>
          <p:nvPr/>
        </p:nvCxnSpPr>
        <p:spPr>
          <a:xfrm flipV="1">
            <a:off x="7799613" y="1834407"/>
            <a:ext cx="92619" cy="492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refinement_logo_loop_5_seg_1"/>
          <p:cNvCxnSpPr/>
          <p:nvPr/>
        </p:nvCxnSpPr>
        <p:spPr>
          <a:xfrm flipH="1" flipV="1">
            <a:off x="7799613" y="1860332"/>
            <a:ext cx="92619" cy="4922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refinement_logo_loop_5_seg_2"/>
          <p:cNvCxnSpPr/>
          <p:nvPr/>
        </p:nvCxnSpPr>
        <p:spPr>
          <a:xfrm flipV="1">
            <a:off x="7799613" y="1772299"/>
            <a:ext cx="15891" cy="88033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refinement_logo_loop_5_seg_3"/>
          <p:cNvCxnSpPr/>
          <p:nvPr/>
        </p:nvCxnSpPr>
        <p:spPr>
          <a:xfrm flipV="1">
            <a:off x="7815504" y="1714520"/>
            <a:ext cx="68294" cy="5777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refinement_logo_loop_5_seg_4"/>
          <p:cNvCxnSpPr/>
          <p:nvPr/>
        </p:nvCxnSpPr>
        <p:spPr>
          <a:xfrm>
            <a:off x="7883798" y="1714520"/>
            <a:ext cx="50572" cy="7775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refinement_logo_center_seg_1"/>
          <p:cNvCxnSpPr/>
          <p:nvPr/>
        </p:nvCxnSpPr>
        <p:spPr>
          <a:xfrm>
            <a:off x="7949793" y="1790239"/>
            <a:ext cx="51608" cy="29796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refinement_logo_center_seg_2"/>
          <p:cNvCxnSpPr/>
          <p:nvPr/>
        </p:nvCxnSpPr>
        <p:spPr>
          <a:xfrm>
            <a:off x="8001401" y="1820035"/>
            <a:ext cx="0" cy="5959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refinement_logo_center_seg_3"/>
          <p:cNvCxnSpPr/>
          <p:nvPr/>
        </p:nvCxnSpPr>
        <p:spPr>
          <a:xfrm flipH="1">
            <a:off x="7949793" y="1879626"/>
            <a:ext cx="51608" cy="29796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refinement_logo_center_seg_4"/>
          <p:cNvCxnSpPr/>
          <p:nvPr/>
        </p:nvCxnSpPr>
        <p:spPr>
          <a:xfrm flipH="1" flipV="1">
            <a:off x="7898185" y="1879626"/>
            <a:ext cx="51608" cy="29796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refinement_logo_center_seg_5"/>
          <p:cNvCxnSpPr/>
          <p:nvPr/>
        </p:nvCxnSpPr>
        <p:spPr>
          <a:xfrm flipV="1">
            <a:off x="7898185" y="1820035"/>
            <a:ext cx="0" cy="59591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refinement_logo_center_seg_6"/>
          <p:cNvCxnSpPr/>
          <p:nvPr/>
        </p:nvCxnSpPr>
        <p:spPr>
          <a:xfrm flipV="1">
            <a:off x="7898185" y="1790239"/>
            <a:ext cx="51608" cy="29796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finement_text"/>
          <p:cNvSpPr txBox="1"/>
          <p:nvPr/>
        </p:nvSpPr>
        <p:spPr>
          <a:xfrm>
            <a:off x="7412126" y="2067458"/>
            <a:ext cx="1094536" cy="4608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Closed-Loop</a:t>
            </a:r>
          </a:p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Refinement</a:t>
            </a:r>
          </a:p>
        </p:txBody>
      </p:sp>
      <p:sp>
        <p:nvSpPr>
          <p:cNvPr id="233" name="refinement_doc_body"/>
          <p:cNvSpPr/>
          <p:nvPr/>
        </p:nvSpPr>
        <p:spPr>
          <a:xfrm>
            <a:off x="7476134" y="2592324"/>
            <a:ext cx="960120" cy="556869"/>
          </a:xfrm>
          <a:prstGeom prst="rect">
            <a:avLst/>
          </a:prstGeom>
          <a:solidFill>
            <a:srgbClr val="F1FFFB"/>
          </a:solidFill>
          <a:ln w="952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finement_doc_corner_mask"/>
          <p:cNvSpPr/>
          <p:nvPr/>
        </p:nvSpPr>
        <p:spPr>
          <a:xfrm>
            <a:off x="8308238" y="2579522"/>
            <a:ext cx="140817" cy="140817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refinement_doc_fold_diag_seg_1"/>
          <p:cNvCxnSpPr/>
          <p:nvPr/>
        </p:nvCxnSpPr>
        <p:spPr>
          <a:xfrm>
            <a:off x="8321040" y="2592324"/>
            <a:ext cx="115214" cy="115214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refinement_doc_fold_top_seg_1"/>
          <p:cNvCxnSpPr/>
          <p:nvPr/>
        </p:nvCxnSpPr>
        <p:spPr>
          <a:xfrm>
            <a:off x="8321040" y="2592324"/>
            <a:ext cx="0" cy="115214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refinement_doc_fold_right_seg_1"/>
          <p:cNvCxnSpPr/>
          <p:nvPr/>
        </p:nvCxnSpPr>
        <p:spPr>
          <a:xfrm>
            <a:off x="8321040" y="2707538"/>
            <a:ext cx="115214" cy="0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refinement_doc_top_restore_seg_1"/>
          <p:cNvCxnSpPr/>
          <p:nvPr/>
        </p:nvCxnSpPr>
        <p:spPr>
          <a:xfrm>
            <a:off x="7476134" y="2592324"/>
            <a:ext cx="844906" cy="0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refinement_doc_right_restore_seg_1"/>
          <p:cNvCxnSpPr/>
          <p:nvPr/>
        </p:nvCxnSpPr>
        <p:spPr>
          <a:xfrm>
            <a:off x="8436254" y="2707538"/>
            <a:ext cx="0" cy="441655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finement_doc_pred"/>
          <p:cNvSpPr txBox="1"/>
          <p:nvPr/>
        </p:nvSpPr>
        <p:spPr>
          <a:xfrm>
            <a:off x="7501737" y="2617927"/>
            <a:ext cx="800100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589E"/>
                </a:solidFill>
                <a:latin typeface="Liberation Sans"/>
              </a:rPr>
              <a:t>:predicates (…) </a:t>
            </a:r>
          </a:p>
        </p:txBody>
      </p:sp>
      <p:sp>
        <p:nvSpPr>
          <p:cNvPr id="241" name="refinement_doc_act"/>
          <p:cNvSpPr txBox="1"/>
          <p:nvPr/>
        </p:nvSpPr>
        <p:spPr>
          <a:xfrm>
            <a:off x="7501737" y="2739542"/>
            <a:ext cx="800100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A31A"/>
                </a:solidFill>
                <a:latin typeface="Liberation Sans"/>
              </a:rPr>
              <a:t>:actions …</a:t>
            </a:r>
          </a:p>
        </p:txBody>
      </p:sp>
      <p:sp>
        <p:nvSpPr>
          <p:cNvPr id="242" name="refinement_doc_pre"/>
          <p:cNvSpPr txBox="1"/>
          <p:nvPr/>
        </p:nvSpPr>
        <p:spPr>
          <a:xfrm>
            <a:off x="7604150" y="2854756"/>
            <a:ext cx="716889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E08000"/>
                </a:solidFill>
                <a:latin typeface="Liberation Sans"/>
              </a:rPr>
              <a:t>:precondition (…) </a:t>
            </a:r>
          </a:p>
        </p:txBody>
      </p:sp>
      <p:sp>
        <p:nvSpPr>
          <p:cNvPr id="243" name="refinement_doc_eff"/>
          <p:cNvSpPr txBox="1"/>
          <p:nvPr/>
        </p:nvSpPr>
        <p:spPr>
          <a:xfrm>
            <a:off x="7604150" y="2969971"/>
            <a:ext cx="672084" cy="108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D0007E"/>
                </a:solidFill>
                <a:latin typeface="Liberation Sans"/>
              </a:rPr>
              <a:t>:effect (…) </a:t>
            </a:r>
          </a:p>
        </p:txBody>
      </p:sp>
      <p:cxnSp>
        <p:nvCxnSpPr>
          <p:cNvPr id="244" name="refinement_to_solvability_seg_1"/>
          <p:cNvCxnSpPr/>
          <p:nvPr/>
        </p:nvCxnSpPr>
        <p:spPr>
          <a:xfrm flipH="1">
            <a:off x="6644030" y="1849831"/>
            <a:ext cx="710489" cy="0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finement_to_solvability_head"/>
          <p:cNvSpPr/>
          <p:nvPr/>
        </p:nvSpPr>
        <p:spPr>
          <a:xfrm rot="16200000">
            <a:off x="6592984" y="1798784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solvability_feedback_seg_1"/>
          <p:cNvCxnSpPr/>
          <p:nvPr/>
        </p:nvCxnSpPr>
        <p:spPr>
          <a:xfrm>
            <a:off x="6644030" y="2016251"/>
            <a:ext cx="710489" cy="0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solvability_feedback_head"/>
          <p:cNvSpPr/>
          <p:nvPr/>
        </p:nvSpPr>
        <p:spPr>
          <a:xfrm rot="5400000">
            <a:off x="7303472" y="1965205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olvability_feedback_label"/>
          <p:cNvSpPr txBox="1"/>
          <p:nvPr/>
        </p:nvSpPr>
        <p:spPr>
          <a:xfrm>
            <a:off x="6669633" y="2061057"/>
            <a:ext cx="67208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70707"/>
                </a:solidFill>
                <a:latin typeface="Liberation Sans"/>
              </a:rPr>
              <a:t>Feedback</a:t>
            </a:r>
          </a:p>
        </p:txBody>
      </p:sp>
      <p:cxnSp>
        <p:nvCxnSpPr>
          <p:cNvPr id="249" name="verification_feedback_seg_1"/>
          <p:cNvCxnSpPr/>
          <p:nvPr/>
        </p:nvCxnSpPr>
        <p:spPr>
          <a:xfrm>
            <a:off x="6644030" y="2918764"/>
            <a:ext cx="710489" cy="0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verification_feedback_head"/>
          <p:cNvSpPr/>
          <p:nvPr/>
        </p:nvSpPr>
        <p:spPr>
          <a:xfrm rot="5400000">
            <a:off x="7303472" y="2867718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verification_feedback_label"/>
          <p:cNvSpPr txBox="1"/>
          <p:nvPr/>
        </p:nvSpPr>
        <p:spPr>
          <a:xfrm>
            <a:off x="6669633" y="2694736"/>
            <a:ext cx="672084" cy="198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70707"/>
                </a:solidFill>
                <a:latin typeface="Liberation Sans"/>
              </a:rPr>
              <a:t>Feedback</a:t>
            </a:r>
          </a:p>
        </p:txBody>
      </p:sp>
      <p:sp>
        <p:nvSpPr>
          <p:cNvPr id="252" name="fusion_panel"/>
          <p:cNvSpPr/>
          <p:nvPr/>
        </p:nvSpPr>
        <p:spPr>
          <a:xfrm>
            <a:off x="9069933" y="192024"/>
            <a:ext cx="3142792" cy="3251606"/>
          </a:xfrm>
          <a:prstGeom prst="roundRect">
            <a:avLst>
              <a:gd name="adj" fmla="val 8553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usion_title"/>
          <p:cNvSpPr txBox="1"/>
          <p:nvPr/>
        </p:nvSpPr>
        <p:spPr>
          <a:xfrm>
            <a:off x="9575596" y="249631"/>
            <a:ext cx="2157069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0707"/>
                </a:solidFill>
                <a:latin typeface="Liberation Sans"/>
              </a:rPr>
              <a:t>(c) Domain Fusion</a:t>
            </a:r>
          </a:p>
        </p:txBody>
      </p:sp>
      <p:sp>
        <p:nvSpPr>
          <p:cNvPr id="254" name="unified_domain_body"/>
          <p:cNvSpPr/>
          <p:nvPr/>
        </p:nvSpPr>
        <p:spPr>
          <a:xfrm>
            <a:off x="9133941" y="614476"/>
            <a:ext cx="3033979" cy="793699"/>
          </a:xfrm>
          <a:prstGeom prst="rect">
            <a:avLst/>
          </a:prstGeom>
          <a:solidFill>
            <a:srgbClr val="F1FFFB"/>
          </a:solidFill>
          <a:ln w="1587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unified_domain_corner_mask"/>
          <p:cNvSpPr/>
          <p:nvPr/>
        </p:nvSpPr>
        <p:spPr>
          <a:xfrm>
            <a:off x="12033504" y="601675"/>
            <a:ext cx="147218" cy="147218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unified_domain_fold_diag_seg_1"/>
          <p:cNvCxnSpPr/>
          <p:nvPr/>
        </p:nvCxnSpPr>
        <p:spPr>
          <a:xfrm>
            <a:off x="12046305" y="614476"/>
            <a:ext cx="121615" cy="121616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unified_domain_fold_top_seg_1"/>
          <p:cNvCxnSpPr/>
          <p:nvPr/>
        </p:nvCxnSpPr>
        <p:spPr>
          <a:xfrm>
            <a:off x="12046305" y="614476"/>
            <a:ext cx="0" cy="121616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unified_domain_fold_right_seg_1"/>
          <p:cNvCxnSpPr/>
          <p:nvPr/>
        </p:nvCxnSpPr>
        <p:spPr>
          <a:xfrm>
            <a:off x="12046305" y="736092"/>
            <a:ext cx="121615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unified_domain_top_restore_seg_1"/>
          <p:cNvCxnSpPr/>
          <p:nvPr/>
        </p:nvCxnSpPr>
        <p:spPr>
          <a:xfrm>
            <a:off x="9133941" y="614476"/>
            <a:ext cx="2912364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unified_domain_right_restore_seg_1"/>
          <p:cNvCxnSpPr/>
          <p:nvPr/>
        </p:nvCxnSpPr>
        <p:spPr>
          <a:xfrm>
            <a:off x="12167920" y="736092"/>
            <a:ext cx="0" cy="672083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unified_domain_label"/>
          <p:cNvSpPr txBox="1"/>
          <p:nvPr/>
        </p:nvSpPr>
        <p:spPr>
          <a:xfrm>
            <a:off x="9671608" y="640080"/>
            <a:ext cx="1945843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Unified Domain</a:t>
            </a:r>
          </a:p>
        </p:txBody>
      </p:sp>
      <p:sp>
        <p:nvSpPr>
          <p:cNvPr id="262" name="atomic_doc_1_body"/>
          <p:cNvSpPr/>
          <p:nvPr/>
        </p:nvSpPr>
        <p:spPr>
          <a:xfrm>
            <a:off x="9178747" y="876909"/>
            <a:ext cx="659282" cy="486460"/>
          </a:xfrm>
          <a:prstGeom prst="rect">
            <a:avLst/>
          </a:prstGeom>
          <a:solidFill>
            <a:srgbClr val="F1FFFB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atomic_doc_1_corner_mask"/>
          <p:cNvSpPr/>
          <p:nvPr/>
        </p:nvSpPr>
        <p:spPr>
          <a:xfrm>
            <a:off x="9716414" y="864108"/>
            <a:ext cx="134416" cy="134416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atomic_doc_1_fold_diag_seg_1"/>
          <p:cNvCxnSpPr/>
          <p:nvPr/>
        </p:nvCxnSpPr>
        <p:spPr>
          <a:xfrm>
            <a:off x="9729215" y="876909"/>
            <a:ext cx="108814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atomic_doc_1_fold_top_seg_1"/>
          <p:cNvCxnSpPr/>
          <p:nvPr/>
        </p:nvCxnSpPr>
        <p:spPr>
          <a:xfrm>
            <a:off x="9729215" y="876909"/>
            <a:ext cx="0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atomic_doc_1_fold_right_seg_1"/>
          <p:cNvCxnSpPr/>
          <p:nvPr/>
        </p:nvCxnSpPr>
        <p:spPr>
          <a:xfrm>
            <a:off x="9729215" y="985723"/>
            <a:ext cx="108814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atomic_doc_1_top_restore_seg_1"/>
          <p:cNvCxnSpPr/>
          <p:nvPr/>
        </p:nvCxnSpPr>
        <p:spPr>
          <a:xfrm>
            <a:off x="9178747" y="876909"/>
            <a:ext cx="550468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atomic_doc_1_right_restore_seg_1"/>
          <p:cNvCxnSpPr/>
          <p:nvPr/>
        </p:nvCxnSpPr>
        <p:spPr>
          <a:xfrm>
            <a:off x="9838029" y="985723"/>
            <a:ext cx="0" cy="377647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atomic_doc_text_1"/>
          <p:cNvSpPr txBox="1"/>
          <p:nvPr/>
        </p:nvSpPr>
        <p:spPr>
          <a:xfrm>
            <a:off x="9204350" y="934516"/>
            <a:ext cx="601675" cy="3648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Atomic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270" name="atomic_doc_2_body"/>
          <p:cNvSpPr/>
          <p:nvPr/>
        </p:nvSpPr>
        <p:spPr>
          <a:xfrm>
            <a:off x="9895636" y="876909"/>
            <a:ext cx="659282" cy="486460"/>
          </a:xfrm>
          <a:prstGeom prst="rect">
            <a:avLst/>
          </a:prstGeom>
          <a:solidFill>
            <a:srgbClr val="F1FFFB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atomic_doc_2_corner_mask"/>
          <p:cNvSpPr/>
          <p:nvPr/>
        </p:nvSpPr>
        <p:spPr>
          <a:xfrm>
            <a:off x="10433304" y="864108"/>
            <a:ext cx="134416" cy="134416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atomic_doc_2_fold_diag_seg_1"/>
          <p:cNvCxnSpPr/>
          <p:nvPr/>
        </p:nvCxnSpPr>
        <p:spPr>
          <a:xfrm>
            <a:off x="10446105" y="876909"/>
            <a:ext cx="108814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atomic_doc_2_fold_top_seg_1"/>
          <p:cNvCxnSpPr/>
          <p:nvPr/>
        </p:nvCxnSpPr>
        <p:spPr>
          <a:xfrm>
            <a:off x="10446105" y="876909"/>
            <a:ext cx="0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atomic_doc_2_fold_right_seg_1"/>
          <p:cNvCxnSpPr/>
          <p:nvPr/>
        </p:nvCxnSpPr>
        <p:spPr>
          <a:xfrm>
            <a:off x="10446105" y="985723"/>
            <a:ext cx="108814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atomic_doc_2_top_restore_seg_1"/>
          <p:cNvCxnSpPr/>
          <p:nvPr/>
        </p:nvCxnSpPr>
        <p:spPr>
          <a:xfrm>
            <a:off x="9895636" y="876909"/>
            <a:ext cx="550469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atomic_doc_2_right_restore_seg_1"/>
          <p:cNvCxnSpPr/>
          <p:nvPr/>
        </p:nvCxnSpPr>
        <p:spPr>
          <a:xfrm>
            <a:off x="10554919" y="985723"/>
            <a:ext cx="0" cy="377647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atomic_doc_text_2"/>
          <p:cNvSpPr txBox="1"/>
          <p:nvPr/>
        </p:nvSpPr>
        <p:spPr>
          <a:xfrm>
            <a:off x="9921240" y="934516"/>
            <a:ext cx="601675" cy="3648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Atomic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278" name="atomic_doc_3_body"/>
          <p:cNvSpPr/>
          <p:nvPr/>
        </p:nvSpPr>
        <p:spPr>
          <a:xfrm>
            <a:off x="10772546" y="876909"/>
            <a:ext cx="659282" cy="486460"/>
          </a:xfrm>
          <a:prstGeom prst="rect">
            <a:avLst/>
          </a:prstGeom>
          <a:solidFill>
            <a:srgbClr val="F1FFFB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atomic_doc_3_corner_mask"/>
          <p:cNvSpPr/>
          <p:nvPr/>
        </p:nvSpPr>
        <p:spPr>
          <a:xfrm>
            <a:off x="11310213" y="864108"/>
            <a:ext cx="134416" cy="134416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atomic_doc_3_fold_diag_seg_1"/>
          <p:cNvCxnSpPr/>
          <p:nvPr/>
        </p:nvCxnSpPr>
        <p:spPr>
          <a:xfrm>
            <a:off x="11323015" y="876909"/>
            <a:ext cx="108813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atomic_doc_3_fold_top_seg_1"/>
          <p:cNvCxnSpPr/>
          <p:nvPr/>
        </p:nvCxnSpPr>
        <p:spPr>
          <a:xfrm>
            <a:off x="11323015" y="876909"/>
            <a:ext cx="0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atomic_doc_3_fold_right_seg_1"/>
          <p:cNvCxnSpPr/>
          <p:nvPr/>
        </p:nvCxnSpPr>
        <p:spPr>
          <a:xfrm>
            <a:off x="11323015" y="985723"/>
            <a:ext cx="108813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atomic_doc_3_top_restore_seg_1"/>
          <p:cNvCxnSpPr/>
          <p:nvPr/>
        </p:nvCxnSpPr>
        <p:spPr>
          <a:xfrm>
            <a:off x="10772546" y="876909"/>
            <a:ext cx="550469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atomic_doc_3_right_restore_seg_1"/>
          <p:cNvCxnSpPr/>
          <p:nvPr/>
        </p:nvCxnSpPr>
        <p:spPr>
          <a:xfrm>
            <a:off x="11431828" y="985723"/>
            <a:ext cx="0" cy="377647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atomic_doc_text_3"/>
          <p:cNvSpPr txBox="1"/>
          <p:nvPr/>
        </p:nvSpPr>
        <p:spPr>
          <a:xfrm>
            <a:off x="10798149" y="934516"/>
            <a:ext cx="601675" cy="3648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Atomic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286" name="atomic_doc_4_body"/>
          <p:cNvSpPr/>
          <p:nvPr/>
        </p:nvSpPr>
        <p:spPr>
          <a:xfrm>
            <a:off x="11476634" y="876909"/>
            <a:ext cx="659282" cy="486460"/>
          </a:xfrm>
          <a:prstGeom prst="rect">
            <a:avLst/>
          </a:prstGeom>
          <a:solidFill>
            <a:srgbClr val="F1FFFB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atomic_doc_4_corner_mask"/>
          <p:cNvSpPr/>
          <p:nvPr/>
        </p:nvSpPr>
        <p:spPr>
          <a:xfrm>
            <a:off x="12014301" y="864108"/>
            <a:ext cx="134416" cy="134416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atomic_doc_4_fold_diag_seg_1"/>
          <p:cNvCxnSpPr/>
          <p:nvPr/>
        </p:nvCxnSpPr>
        <p:spPr>
          <a:xfrm>
            <a:off x="12027103" y="876909"/>
            <a:ext cx="108813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atomic_doc_4_fold_top_seg_1"/>
          <p:cNvCxnSpPr/>
          <p:nvPr/>
        </p:nvCxnSpPr>
        <p:spPr>
          <a:xfrm>
            <a:off x="12027103" y="876909"/>
            <a:ext cx="0" cy="108814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atomic_doc_4_fold_right_seg_1"/>
          <p:cNvCxnSpPr/>
          <p:nvPr/>
        </p:nvCxnSpPr>
        <p:spPr>
          <a:xfrm>
            <a:off x="12027103" y="985723"/>
            <a:ext cx="108813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atomic_doc_4_top_restore_seg_1"/>
          <p:cNvCxnSpPr/>
          <p:nvPr/>
        </p:nvCxnSpPr>
        <p:spPr>
          <a:xfrm>
            <a:off x="11476634" y="876909"/>
            <a:ext cx="550469" cy="0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atomic_doc_4_right_restore_seg_1"/>
          <p:cNvCxnSpPr/>
          <p:nvPr/>
        </p:nvCxnSpPr>
        <p:spPr>
          <a:xfrm>
            <a:off x="12135916" y="985723"/>
            <a:ext cx="0" cy="377647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atomic_doc_text_4"/>
          <p:cNvSpPr txBox="1"/>
          <p:nvPr/>
        </p:nvSpPr>
        <p:spPr>
          <a:xfrm>
            <a:off x="11502237" y="934516"/>
            <a:ext cx="601675" cy="3648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Atomic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294" name="atomic_docs_ellipsis"/>
          <p:cNvSpPr txBox="1"/>
          <p:nvPr/>
        </p:nvSpPr>
        <p:spPr>
          <a:xfrm>
            <a:off x="10516514" y="960120"/>
            <a:ext cx="236829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…</a:t>
            </a:r>
          </a:p>
        </p:txBody>
      </p:sp>
      <p:cxnSp>
        <p:nvCxnSpPr>
          <p:cNvPr id="295" name="atom1_to_meta1_seg_1"/>
          <p:cNvCxnSpPr/>
          <p:nvPr/>
        </p:nvCxnSpPr>
        <p:spPr>
          <a:xfrm>
            <a:off x="9498787" y="1363370"/>
            <a:ext cx="204825" cy="409651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atom1_to_meta1_head"/>
          <p:cNvSpPr/>
          <p:nvPr/>
        </p:nvSpPr>
        <p:spPr>
          <a:xfrm rot="9206097">
            <a:off x="9657207" y="1726615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atom2_to_meta1_seg_1"/>
          <p:cNvCxnSpPr/>
          <p:nvPr/>
        </p:nvCxnSpPr>
        <p:spPr>
          <a:xfrm flipH="1">
            <a:off x="10062057" y="1363370"/>
            <a:ext cx="166421" cy="409651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atom2_to_meta1_head"/>
          <p:cNvSpPr/>
          <p:nvPr/>
        </p:nvSpPr>
        <p:spPr>
          <a:xfrm rot="12126567">
            <a:off x="10015651" y="1726615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9" name="atom3_to_meta2_seg_1"/>
          <p:cNvCxnSpPr/>
          <p:nvPr/>
        </p:nvCxnSpPr>
        <p:spPr>
          <a:xfrm>
            <a:off x="11098987" y="1363370"/>
            <a:ext cx="179222" cy="409651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atom3_to_meta2_head"/>
          <p:cNvSpPr/>
          <p:nvPr/>
        </p:nvSpPr>
        <p:spPr>
          <a:xfrm rot="9382237">
            <a:off x="11231803" y="1726615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atom4_to_meta2_seg_1"/>
          <p:cNvCxnSpPr/>
          <p:nvPr/>
        </p:nvCxnSpPr>
        <p:spPr>
          <a:xfrm flipH="1">
            <a:off x="11617452" y="1363370"/>
            <a:ext cx="185623" cy="409651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atom4_to_meta2_head"/>
          <p:cNvSpPr/>
          <p:nvPr/>
        </p:nvSpPr>
        <p:spPr>
          <a:xfrm rot="12262588">
            <a:off x="11571046" y="1726615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3" name="fusion_logo_left_loop_0_seg_1"/>
          <p:cNvCxnSpPr/>
          <p:nvPr/>
        </p:nvCxnSpPr>
        <p:spPr>
          <a:xfrm flipH="1" flipV="1">
            <a:off x="9789756" y="1477872"/>
            <a:ext cx="36898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fusion_logo_left_loop_0_seg_2"/>
          <p:cNvCxnSpPr/>
          <p:nvPr/>
        </p:nvCxnSpPr>
        <p:spPr>
          <a:xfrm flipV="1">
            <a:off x="9789756" y="1451322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fusion_logo_left_loop_0_seg_3"/>
          <p:cNvCxnSpPr/>
          <p:nvPr/>
        </p:nvCxnSpPr>
        <p:spPr>
          <a:xfrm>
            <a:off x="9863632" y="1451322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fusion_logo_left_loop_0_seg_4"/>
          <p:cNvCxnSpPr/>
          <p:nvPr/>
        </p:nvCxnSpPr>
        <p:spPr>
          <a:xfrm flipH="1">
            <a:off x="9900610" y="1477872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fusion_logo_left_loop_1_seg_1"/>
          <p:cNvCxnSpPr/>
          <p:nvPr/>
        </p:nvCxnSpPr>
        <p:spPr>
          <a:xfrm flipV="1">
            <a:off x="9877167" y="1468656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fusion_logo_left_loop_1_seg_2"/>
          <p:cNvCxnSpPr/>
          <p:nvPr/>
        </p:nvCxnSpPr>
        <p:spPr>
          <a:xfrm>
            <a:off x="9921547" y="1468656"/>
            <a:ext cx="59930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fusion_logo_left_loop_1_seg_3"/>
          <p:cNvCxnSpPr/>
          <p:nvPr/>
        </p:nvCxnSpPr>
        <p:spPr>
          <a:xfrm>
            <a:off x="9981477" y="1519360"/>
            <a:ext cx="13946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fusion_logo_left_loop_1_seg_4"/>
          <p:cNvCxnSpPr/>
          <p:nvPr/>
        </p:nvCxnSpPr>
        <p:spPr>
          <a:xfrm flipH="1">
            <a:off x="9914145" y="1596614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fusion_logo_left_loop_2_seg_1"/>
          <p:cNvCxnSpPr/>
          <p:nvPr/>
        </p:nvCxnSpPr>
        <p:spPr>
          <a:xfrm>
            <a:off x="9914145" y="1573863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fusion_logo_left_loop_2_seg_2"/>
          <p:cNvCxnSpPr/>
          <p:nvPr/>
        </p:nvCxnSpPr>
        <p:spPr>
          <a:xfrm flipH="1">
            <a:off x="9981477" y="1578182"/>
            <a:ext cx="13946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fusion_logo_left_loop_2_seg_3"/>
          <p:cNvCxnSpPr/>
          <p:nvPr/>
        </p:nvCxnSpPr>
        <p:spPr>
          <a:xfrm flipH="1">
            <a:off x="9921547" y="1655436"/>
            <a:ext cx="59930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fusion_logo_left_loop_2_seg_4"/>
          <p:cNvCxnSpPr/>
          <p:nvPr/>
        </p:nvCxnSpPr>
        <p:spPr>
          <a:xfrm flipH="1" flipV="1">
            <a:off x="9877167" y="1637911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fusion_logo_left_loop_3_seg_1"/>
          <p:cNvCxnSpPr/>
          <p:nvPr/>
        </p:nvCxnSpPr>
        <p:spPr>
          <a:xfrm>
            <a:off x="9900610" y="1624376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fusion_logo_left_loop_3_seg_2"/>
          <p:cNvCxnSpPr/>
          <p:nvPr/>
        </p:nvCxnSpPr>
        <p:spPr>
          <a:xfrm flipH="1">
            <a:off x="9863632" y="1696924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fusion_logo_left_loop_3_seg_3"/>
          <p:cNvCxnSpPr/>
          <p:nvPr/>
        </p:nvCxnSpPr>
        <p:spPr>
          <a:xfrm flipH="1" flipV="1">
            <a:off x="9789756" y="1696924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fusion_logo_left_loop_3_seg_4"/>
          <p:cNvCxnSpPr/>
          <p:nvPr/>
        </p:nvCxnSpPr>
        <p:spPr>
          <a:xfrm flipV="1">
            <a:off x="9789756" y="1624376"/>
            <a:ext cx="36898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fusion_logo_left_loop_4_seg_1"/>
          <p:cNvCxnSpPr/>
          <p:nvPr/>
        </p:nvCxnSpPr>
        <p:spPr>
          <a:xfrm flipH="1">
            <a:off x="9805718" y="1637911"/>
            <a:ext cx="44379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fusion_logo_left_loop_4_seg_2"/>
          <p:cNvCxnSpPr/>
          <p:nvPr/>
        </p:nvCxnSpPr>
        <p:spPr>
          <a:xfrm flipH="1" flipV="1">
            <a:off x="9745787" y="165543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fusion_logo_left_loop_4_seg_3"/>
          <p:cNvCxnSpPr/>
          <p:nvPr/>
        </p:nvCxnSpPr>
        <p:spPr>
          <a:xfrm flipH="1" flipV="1">
            <a:off x="9731842" y="1578182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fusion_logo_left_loop_4_seg_4"/>
          <p:cNvCxnSpPr/>
          <p:nvPr/>
        </p:nvCxnSpPr>
        <p:spPr>
          <a:xfrm flipV="1">
            <a:off x="9731842" y="1573863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fusion_logo_left_loop_5_seg_1"/>
          <p:cNvCxnSpPr/>
          <p:nvPr/>
        </p:nvCxnSpPr>
        <p:spPr>
          <a:xfrm flipH="1" flipV="1">
            <a:off x="9731842" y="1596614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fusion_logo_left_loop_5_seg_2"/>
          <p:cNvCxnSpPr/>
          <p:nvPr/>
        </p:nvCxnSpPr>
        <p:spPr>
          <a:xfrm flipV="1">
            <a:off x="9731842" y="1519360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fusion_logo_left_loop_5_seg_3"/>
          <p:cNvCxnSpPr/>
          <p:nvPr/>
        </p:nvCxnSpPr>
        <p:spPr>
          <a:xfrm flipV="1">
            <a:off x="9745787" y="146865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fusion_logo_left_loop_5_seg_4"/>
          <p:cNvCxnSpPr/>
          <p:nvPr/>
        </p:nvCxnSpPr>
        <p:spPr>
          <a:xfrm>
            <a:off x="9805718" y="1468656"/>
            <a:ext cx="44379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fusion_logo_left_center_seg_1"/>
          <p:cNvCxnSpPr/>
          <p:nvPr/>
        </p:nvCxnSpPr>
        <p:spPr>
          <a:xfrm>
            <a:off x="9863632" y="1535103"/>
            <a:ext cx="45289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fusion_logo_left_center_seg_2"/>
          <p:cNvCxnSpPr/>
          <p:nvPr/>
        </p:nvCxnSpPr>
        <p:spPr>
          <a:xfrm>
            <a:off x="9908921" y="1561251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fusion_logo_left_center_seg_3"/>
          <p:cNvCxnSpPr/>
          <p:nvPr/>
        </p:nvCxnSpPr>
        <p:spPr>
          <a:xfrm flipH="1">
            <a:off x="9863632" y="1613545"/>
            <a:ext cx="45289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fusion_logo_left_center_seg_4"/>
          <p:cNvCxnSpPr/>
          <p:nvPr/>
        </p:nvCxnSpPr>
        <p:spPr>
          <a:xfrm flipH="1" flipV="1">
            <a:off x="9818344" y="1613545"/>
            <a:ext cx="45288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fusion_logo_left_center_seg_5"/>
          <p:cNvCxnSpPr/>
          <p:nvPr/>
        </p:nvCxnSpPr>
        <p:spPr>
          <a:xfrm flipV="1">
            <a:off x="9818344" y="1561251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fusion_logo_left_center_seg_6"/>
          <p:cNvCxnSpPr/>
          <p:nvPr/>
        </p:nvCxnSpPr>
        <p:spPr>
          <a:xfrm flipV="1">
            <a:off x="9818344" y="1535103"/>
            <a:ext cx="45288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fusion_logo_right_loop_0_seg_1"/>
          <p:cNvCxnSpPr/>
          <p:nvPr/>
        </p:nvCxnSpPr>
        <p:spPr>
          <a:xfrm flipH="1" flipV="1">
            <a:off x="11383555" y="1477872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fusion_logo_right_loop_0_seg_2"/>
          <p:cNvCxnSpPr/>
          <p:nvPr/>
        </p:nvCxnSpPr>
        <p:spPr>
          <a:xfrm flipV="1">
            <a:off x="11383555" y="1451322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fusion_logo_right_loop_0_seg_3"/>
          <p:cNvCxnSpPr/>
          <p:nvPr/>
        </p:nvCxnSpPr>
        <p:spPr>
          <a:xfrm>
            <a:off x="11457432" y="1451322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fusion_logo_right_loop_0_seg_4"/>
          <p:cNvCxnSpPr/>
          <p:nvPr/>
        </p:nvCxnSpPr>
        <p:spPr>
          <a:xfrm flipH="1">
            <a:off x="11494409" y="1477872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fusion_logo_right_loop_1_seg_1"/>
          <p:cNvCxnSpPr/>
          <p:nvPr/>
        </p:nvCxnSpPr>
        <p:spPr>
          <a:xfrm flipV="1">
            <a:off x="11470966" y="1468656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fusion_logo_right_loop_1_seg_2"/>
          <p:cNvCxnSpPr/>
          <p:nvPr/>
        </p:nvCxnSpPr>
        <p:spPr>
          <a:xfrm>
            <a:off x="11515346" y="146865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fusion_logo_right_loop_1_seg_3"/>
          <p:cNvCxnSpPr/>
          <p:nvPr/>
        </p:nvCxnSpPr>
        <p:spPr>
          <a:xfrm>
            <a:off x="11575277" y="1519360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fusion_logo_right_loop_1_seg_4"/>
          <p:cNvCxnSpPr/>
          <p:nvPr/>
        </p:nvCxnSpPr>
        <p:spPr>
          <a:xfrm flipH="1">
            <a:off x="11507944" y="1596614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fusion_logo_right_loop_2_seg_1"/>
          <p:cNvCxnSpPr/>
          <p:nvPr/>
        </p:nvCxnSpPr>
        <p:spPr>
          <a:xfrm>
            <a:off x="11507944" y="1573863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fusion_logo_right_loop_2_seg_2"/>
          <p:cNvCxnSpPr/>
          <p:nvPr/>
        </p:nvCxnSpPr>
        <p:spPr>
          <a:xfrm flipH="1">
            <a:off x="11575277" y="1578182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fusion_logo_right_loop_2_seg_3"/>
          <p:cNvCxnSpPr/>
          <p:nvPr/>
        </p:nvCxnSpPr>
        <p:spPr>
          <a:xfrm flipH="1">
            <a:off x="11515346" y="165543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fusion_logo_right_loop_2_seg_4"/>
          <p:cNvCxnSpPr/>
          <p:nvPr/>
        </p:nvCxnSpPr>
        <p:spPr>
          <a:xfrm flipH="1" flipV="1">
            <a:off x="11470966" y="1637911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fusion_logo_right_loop_3_seg_1"/>
          <p:cNvCxnSpPr/>
          <p:nvPr/>
        </p:nvCxnSpPr>
        <p:spPr>
          <a:xfrm>
            <a:off x="11494409" y="1624376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fusion_logo_right_loop_3_seg_2"/>
          <p:cNvCxnSpPr/>
          <p:nvPr/>
        </p:nvCxnSpPr>
        <p:spPr>
          <a:xfrm flipH="1">
            <a:off x="11457432" y="1696924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fusion_logo_right_loop_3_seg_3"/>
          <p:cNvCxnSpPr/>
          <p:nvPr/>
        </p:nvCxnSpPr>
        <p:spPr>
          <a:xfrm flipH="1" flipV="1">
            <a:off x="11383555" y="1696924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fusion_logo_right_loop_3_seg_4"/>
          <p:cNvCxnSpPr/>
          <p:nvPr/>
        </p:nvCxnSpPr>
        <p:spPr>
          <a:xfrm flipV="1">
            <a:off x="11383555" y="1624376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fusion_logo_right_loop_4_seg_1"/>
          <p:cNvCxnSpPr/>
          <p:nvPr/>
        </p:nvCxnSpPr>
        <p:spPr>
          <a:xfrm flipH="1">
            <a:off x="11399517" y="1637911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fusion_logo_right_loop_4_seg_2"/>
          <p:cNvCxnSpPr/>
          <p:nvPr/>
        </p:nvCxnSpPr>
        <p:spPr>
          <a:xfrm flipH="1" flipV="1">
            <a:off x="11339586" y="165543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fusion_logo_right_loop_4_seg_3"/>
          <p:cNvCxnSpPr/>
          <p:nvPr/>
        </p:nvCxnSpPr>
        <p:spPr>
          <a:xfrm flipH="1" flipV="1">
            <a:off x="11325641" y="1578182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fusion_logo_right_loop_4_seg_4"/>
          <p:cNvCxnSpPr/>
          <p:nvPr/>
        </p:nvCxnSpPr>
        <p:spPr>
          <a:xfrm flipV="1">
            <a:off x="11325641" y="1573863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fusion_logo_right_loop_5_seg_1"/>
          <p:cNvCxnSpPr/>
          <p:nvPr/>
        </p:nvCxnSpPr>
        <p:spPr>
          <a:xfrm flipH="1" flipV="1">
            <a:off x="11325641" y="1596614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fusion_logo_right_loop_5_seg_2"/>
          <p:cNvCxnSpPr/>
          <p:nvPr/>
        </p:nvCxnSpPr>
        <p:spPr>
          <a:xfrm flipV="1">
            <a:off x="11325641" y="1519360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fusion_logo_right_loop_5_seg_3"/>
          <p:cNvCxnSpPr/>
          <p:nvPr/>
        </p:nvCxnSpPr>
        <p:spPr>
          <a:xfrm flipV="1">
            <a:off x="11339586" y="1468656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fusion_logo_right_loop_5_seg_4"/>
          <p:cNvCxnSpPr/>
          <p:nvPr/>
        </p:nvCxnSpPr>
        <p:spPr>
          <a:xfrm>
            <a:off x="11399517" y="1468656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fusion_logo_right_center_seg_1"/>
          <p:cNvCxnSpPr/>
          <p:nvPr/>
        </p:nvCxnSpPr>
        <p:spPr>
          <a:xfrm>
            <a:off x="11457432" y="1535103"/>
            <a:ext cx="45288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fusion_logo_right_center_seg_2"/>
          <p:cNvCxnSpPr/>
          <p:nvPr/>
        </p:nvCxnSpPr>
        <p:spPr>
          <a:xfrm>
            <a:off x="11502720" y="1561251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fusion_logo_right_center_seg_3"/>
          <p:cNvCxnSpPr/>
          <p:nvPr/>
        </p:nvCxnSpPr>
        <p:spPr>
          <a:xfrm flipH="1">
            <a:off x="11457432" y="1613545"/>
            <a:ext cx="45288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fusion_logo_right_center_seg_4"/>
          <p:cNvCxnSpPr/>
          <p:nvPr/>
        </p:nvCxnSpPr>
        <p:spPr>
          <a:xfrm flipH="1" flipV="1">
            <a:off x="11412143" y="1613545"/>
            <a:ext cx="45289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fusion_logo_right_center_seg_5"/>
          <p:cNvCxnSpPr/>
          <p:nvPr/>
        </p:nvCxnSpPr>
        <p:spPr>
          <a:xfrm flipV="1">
            <a:off x="11412143" y="1561251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fusion_logo_right_center_seg_6"/>
          <p:cNvCxnSpPr/>
          <p:nvPr/>
        </p:nvCxnSpPr>
        <p:spPr>
          <a:xfrm flipV="1">
            <a:off x="11412143" y="1535103"/>
            <a:ext cx="45289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meta_domain_left_body"/>
          <p:cNvSpPr/>
          <p:nvPr/>
        </p:nvSpPr>
        <p:spPr>
          <a:xfrm>
            <a:off x="9377172" y="1779422"/>
            <a:ext cx="1017727" cy="627278"/>
          </a:xfrm>
          <a:prstGeom prst="rect">
            <a:avLst/>
          </a:prstGeom>
          <a:solidFill>
            <a:srgbClr val="F1FFFB"/>
          </a:solidFill>
          <a:ln w="1587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meta_domain_left_corner_mask"/>
          <p:cNvSpPr/>
          <p:nvPr/>
        </p:nvSpPr>
        <p:spPr>
          <a:xfrm>
            <a:off x="10266883" y="1766620"/>
            <a:ext cx="140817" cy="140817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meta_domain_left_fold_diag_seg_1"/>
          <p:cNvCxnSpPr/>
          <p:nvPr/>
        </p:nvCxnSpPr>
        <p:spPr>
          <a:xfrm>
            <a:off x="10279684" y="1779422"/>
            <a:ext cx="115215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meta_domain_left_fold_top_seg_1"/>
          <p:cNvCxnSpPr/>
          <p:nvPr/>
        </p:nvCxnSpPr>
        <p:spPr>
          <a:xfrm>
            <a:off x="10279684" y="1779422"/>
            <a:ext cx="0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meta_domain_left_fold_right_seg_1"/>
          <p:cNvCxnSpPr/>
          <p:nvPr/>
        </p:nvCxnSpPr>
        <p:spPr>
          <a:xfrm>
            <a:off x="10279684" y="1894636"/>
            <a:ext cx="115215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meta_domain_left_top_restore_seg_1"/>
          <p:cNvCxnSpPr/>
          <p:nvPr/>
        </p:nvCxnSpPr>
        <p:spPr>
          <a:xfrm>
            <a:off x="9377172" y="1779422"/>
            <a:ext cx="902512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meta_domain_left_right_restore_seg_1"/>
          <p:cNvCxnSpPr/>
          <p:nvPr/>
        </p:nvCxnSpPr>
        <p:spPr>
          <a:xfrm>
            <a:off x="10394899" y="1894636"/>
            <a:ext cx="0" cy="51206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meta_domain_left_text"/>
          <p:cNvSpPr txBox="1"/>
          <p:nvPr/>
        </p:nvSpPr>
        <p:spPr>
          <a:xfrm>
            <a:off x="9498787" y="1881835"/>
            <a:ext cx="768096" cy="4352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Meta</a:t>
            </a:r>
          </a:p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371" name="meta_domain_right_body"/>
          <p:cNvSpPr/>
          <p:nvPr/>
        </p:nvSpPr>
        <p:spPr>
          <a:xfrm>
            <a:off x="10938967" y="1779422"/>
            <a:ext cx="1011326" cy="627278"/>
          </a:xfrm>
          <a:prstGeom prst="rect">
            <a:avLst/>
          </a:prstGeom>
          <a:solidFill>
            <a:srgbClr val="F1FFFB"/>
          </a:solidFill>
          <a:ln w="1587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meta_domain_right_corner_mask"/>
          <p:cNvSpPr/>
          <p:nvPr/>
        </p:nvSpPr>
        <p:spPr>
          <a:xfrm>
            <a:off x="11822277" y="1766620"/>
            <a:ext cx="140817" cy="140817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meta_domain_right_fold_diag_seg_1"/>
          <p:cNvCxnSpPr/>
          <p:nvPr/>
        </p:nvCxnSpPr>
        <p:spPr>
          <a:xfrm>
            <a:off x="11835079" y="1779422"/>
            <a:ext cx="115214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meta_domain_right_fold_top_seg_1"/>
          <p:cNvCxnSpPr/>
          <p:nvPr/>
        </p:nvCxnSpPr>
        <p:spPr>
          <a:xfrm>
            <a:off x="11835079" y="1779422"/>
            <a:ext cx="0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meta_domain_right_fold_right_seg_1"/>
          <p:cNvCxnSpPr/>
          <p:nvPr/>
        </p:nvCxnSpPr>
        <p:spPr>
          <a:xfrm>
            <a:off x="11835079" y="1894636"/>
            <a:ext cx="115214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meta_domain_right_top_restore_seg_1"/>
          <p:cNvCxnSpPr/>
          <p:nvPr/>
        </p:nvCxnSpPr>
        <p:spPr>
          <a:xfrm>
            <a:off x="10938967" y="1779422"/>
            <a:ext cx="896112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meta_domain_right_right_restore_seg_1"/>
          <p:cNvCxnSpPr/>
          <p:nvPr/>
        </p:nvCxnSpPr>
        <p:spPr>
          <a:xfrm>
            <a:off x="11950293" y="1894636"/>
            <a:ext cx="0" cy="51206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meta_domain_right_text"/>
          <p:cNvSpPr txBox="1"/>
          <p:nvPr/>
        </p:nvSpPr>
        <p:spPr>
          <a:xfrm>
            <a:off x="11060582" y="1881835"/>
            <a:ext cx="768096" cy="4352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Meta</a:t>
            </a:r>
          </a:p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379" name="meta_domain_ellipsis"/>
          <p:cNvSpPr txBox="1"/>
          <p:nvPr/>
        </p:nvSpPr>
        <p:spPr>
          <a:xfrm>
            <a:off x="10471708" y="2022652"/>
            <a:ext cx="3200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…</a:t>
            </a:r>
          </a:p>
        </p:txBody>
      </p:sp>
      <p:cxnSp>
        <p:nvCxnSpPr>
          <p:cNvPr id="380" name="meta1_to_final_seg_1"/>
          <p:cNvCxnSpPr/>
          <p:nvPr/>
        </p:nvCxnSpPr>
        <p:spPr>
          <a:xfrm>
            <a:off x="9889236" y="2406700"/>
            <a:ext cx="505663" cy="275235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meta1_to_final_head"/>
          <p:cNvSpPr/>
          <p:nvPr/>
        </p:nvSpPr>
        <p:spPr>
          <a:xfrm rot="7113577">
            <a:off x="10348493" y="2635529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2" name="meta2_to_final_seg_1"/>
          <p:cNvCxnSpPr/>
          <p:nvPr/>
        </p:nvCxnSpPr>
        <p:spPr>
          <a:xfrm flipH="1">
            <a:off x="10938967" y="2406700"/>
            <a:ext cx="505663" cy="275235"/>
          </a:xfrm>
          <a:prstGeom prst="line">
            <a:avLst/>
          </a:prstGeom>
          <a:ln w="127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meta2_to_final_head"/>
          <p:cNvSpPr/>
          <p:nvPr/>
        </p:nvSpPr>
        <p:spPr>
          <a:xfrm rot="14486423">
            <a:off x="10892561" y="2635529"/>
            <a:ext cx="92811" cy="92811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4" name="fusion_logo_final_loop_0_seg_1"/>
          <p:cNvCxnSpPr/>
          <p:nvPr/>
        </p:nvCxnSpPr>
        <p:spPr>
          <a:xfrm flipH="1" flipV="1">
            <a:off x="10577054" y="2399587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fusion_logo_final_loop_0_seg_2"/>
          <p:cNvCxnSpPr/>
          <p:nvPr/>
        </p:nvCxnSpPr>
        <p:spPr>
          <a:xfrm flipV="1">
            <a:off x="10577054" y="2373037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fusion_logo_final_loop_0_seg_3"/>
          <p:cNvCxnSpPr/>
          <p:nvPr/>
        </p:nvCxnSpPr>
        <p:spPr>
          <a:xfrm>
            <a:off x="10650931" y="2373037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fusion_logo_final_loop_0_seg_4"/>
          <p:cNvCxnSpPr/>
          <p:nvPr/>
        </p:nvCxnSpPr>
        <p:spPr>
          <a:xfrm flipH="1">
            <a:off x="10687909" y="2399587"/>
            <a:ext cx="36898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fusion_logo_final_loop_1_seg_1"/>
          <p:cNvCxnSpPr/>
          <p:nvPr/>
        </p:nvCxnSpPr>
        <p:spPr>
          <a:xfrm flipV="1">
            <a:off x="10664466" y="2390371"/>
            <a:ext cx="44379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fusion_logo_final_loop_1_seg_2"/>
          <p:cNvCxnSpPr/>
          <p:nvPr/>
        </p:nvCxnSpPr>
        <p:spPr>
          <a:xfrm>
            <a:off x="10708845" y="2390371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fusion_logo_final_loop_1_seg_3"/>
          <p:cNvCxnSpPr/>
          <p:nvPr/>
        </p:nvCxnSpPr>
        <p:spPr>
          <a:xfrm>
            <a:off x="10768776" y="2441075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fusion_logo_final_loop_1_seg_4"/>
          <p:cNvCxnSpPr/>
          <p:nvPr/>
        </p:nvCxnSpPr>
        <p:spPr>
          <a:xfrm flipH="1">
            <a:off x="10701443" y="2518329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fusion_logo_final_loop_2_seg_1"/>
          <p:cNvCxnSpPr/>
          <p:nvPr/>
        </p:nvCxnSpPr>
        <p:spPr>
          <a:xfrm>
            <a:off x="10701443" y="2495578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fusion_logo_final_loop_2_seg_2"/>
          <p:cNvCxnSpPr/>
          <p:nvPr/>
        </p:nvCxnSpPr>
        <p:spPr>
          <a:xfrm flipH="1">
            <a:off x="10768776" y="2499897"/>
            <a:ext cx="13945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fusion_logo_final_loop_2_seg_3"/>
          <p:cNvCxnSpPr/>
          <p:nvPr/>
        </p:nvCxnSpPr>
        <p:spPr>
          <a:xfrm flipH="1">
            <a:off x="10708845" y="2577151"/>
            <a:ext cx="59931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fusion_logo_final_loop_2_seg_4"/>
          <p:cNvCxnSpPr/>
          <p:nvPr/>
        </p:nvCxnSpPr>
        <p:spPr>
          <a:xfrm flipH="1" flipV="1">
            <a:off x="10664466" y="2559626"/>
            <a:ext cx="44379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fusion_logo_final_loop_3_seg_1"/>
          <p:cNvCxnSpPr/>
          <p:nvPr/>
        </p:nvCxnSpPr>
        <p:spPr>
          <a:xfrm>
            <a:off x="10687909" y="2546091"/>
            <a:ext cx="36898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fusion_logo_final_loop_3_seg_2"/>
          <p:cNvCxnSpPr/>
          <p:nvPr/>
        </p:nvCxnSpPr>
        <p:spPr>
          <a:xfrm flipH="1">
            <a:off x="10650931" y="2618639"/>
            <a:ext cx="73876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fusion_logo_final_loop_3_seg_3"/>
          <p:cNvCxnSpPr/>
          <p:nvPr/>
        </p:nvCxnSpPr>
        <p:spPr>
          <a:xfrm flipH="1" flipV="1">
            <a:off x="10577054" y="2618639"/>
            <a:ext cx="73877" cy="26550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fusion_logo_final_loop_3_seg_4"/>
          <p:cNvCxnSpPr/>
          <p:nvPr/>
        </p:nvCxnSpPr>
        <p:spPr>
          <a:xfrm flipV="1">
            <a:off x="10577054" y="2546091"/>
            <a:ext cx="36899" cy="72548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fusion_logo_final_loop_4_seg_1"/>
          <p:cNvCxnSpPr/>
          <p:nvPr/>
        </p:nvCxnSpPr>
        <p:spPr>
          <a:xfrm flipH="1">
            <a:off x="10593016" y="2559626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fusion_logo_final_loop_4_seg_2"/>
          <p:cNvCxnSpPr/>
          <p:nvPr/>
        </p:nvCxnSpPr>
        <p:spPr>
          <a:xfrm flipH="1" flipV="1">
            <a:off x="10533086" y="2577151"/>
            <a:ext cx="59930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fusion_logo_final_loop_4_seg_3"/>
          <p:cNvCxnSpPr/>
          <p:nvPr/>
        </p:nvCxnSpPr>
        <p:spPr>
          <a:xfrm flipH="1" flipV="1">
            <a:off x="10519140" y="2499897"/>
            <a:ext cx="13946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fusion_logo_final_loop_4_seg_4"/>
          <p:cNvCxnSpPr/>
          <p:nvPr/>
        </p:nvCxnSpPr>
        <p:spPr>
          <a:xfrm flipV="1">
            <a:off x="10519140" y="2495578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fusion_logo_final_loop_5_seg_1"/>
          <p:cNvCxnSpPr/>
          <p:nvPr/>
        </p:nvCxnSpPr>
        <p:spPr>
          <a:xfrm flipH="1" flipV="1">
            <a:off x="10519140" y="2518329"/>
            <a:ext cx="81278" cy="431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fusion_logo_final_loop_5_seg_2"/>
          <p:cNvCxnSpPr/>
          <p:nvPr/>
        </p:nvCxnSpPr>
        <p:spPr>
          <a:xfrm flipV="1">
            <a:off x="10519140" y="2441075"/>
            <a:ext cx="13946" cy="7725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fusion_logo_final_loop_5_seg_3"/>
          <p:cNvCxnSpPr/>
          <p:nvPr/>
        </p:nvCxnSpPr>
        <p:spPr>
          <a:xfrm flipV="1">
            <a:off x="10533086" y="2390371"/>
            <a:ext cx="59930" cy="50704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fusion_logo_final_loop_5_seg_4"/>
          <p:cNvCxnSpPr/>
          <p:nvPr/>
        </p:nvCxnSpPr>
        <p:spPr>
          <a:xfrm>
            <a:off x="10593016" y="2390371"/>
            <a:ext cx="44380" cy="68229"/>
          </a:xfrm>
          <a:prstGeom prst="line">
            <a:avLst/>
          </a:prstGeom>
          <a:ln w="222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fusion_logo_final_center_seg_1"/>
          <p:cNvCxnSpPr/>
          <p:nvPr/>
        </p:nvCxnSpPr>
        <p:spPr>
          <a:xfrm>
            <a:off x="10650931" y="2456819"/>
            <a:ext cx="45288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fusion_logo_final_center_seg_2"/>
          <p:cNvCxnSpPr/>
          <p:nvPr/>
        </p:nvCxnSpPr>
        <p:spPr>
          <a:xfrm>
            <a:off x="10696219" y="2482966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fusion_logo_final_center_seg_3"/>
          <p:cNvCxnSpPr/>
          <p:nvPr/>
        </p:nvCxnSpPr>
        <p:spPr>
          <a:xfrm flipH="1">
            <a:off x="10650931" y="2535260"/>
            <a:ext cx="45288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fusion_logo_final_center_seg_4"/>
          <p:cNvCxnSpPr/>
          <p:nvPr/>
        </p:nvCxnSpPr>
        <p:spPr>
          <a:xfrm flipH="1" flipV="1">
            <a:off x="10605642" y="2535260"/>
            <a:ext cx="45289" cy="26148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fusion_logo_final_center_seg_5"/>
          <p:cNvCxnSpPr/>
          <p:nvPr/>
        </p:nvCxnSpPr>
        <p:spPr>
          <a:xfrm flipV="1">
            <a:off x="10605642" y="2482966"/>
            <a:ext cx="0" cy="52294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fusion_logo_final_center_seg_6"/>
          <p:cNvCxnSpPr/>
          <p:nvPr/>
        </p:nvCxnSpPr>
        <p:spPr>
          <a:xfrm flipV="1">
            <a:off x="10605642" y="2456819"/>
            <a:ext cx="45289" cy="26147"/>
          </a:xfrm>
          <a:prstGeom prst="line">
            <a:avLst/>
          </a:prstGeom>
          <a:ln w="14446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meta_domain_final_body"/>
          <p:cNvSpPr/>
          <p:nvPr/>
        </p:nvSpPr>
        <p:spPr>
          <a:xfrm>
            <a:off x="10023652" y="2681935"/>
            <a:ext cx="1292961" cy="665683"/>
          </a:xfrm>
          <a:prstGeom prst="rect">
            <a:avLst/>
          </a:prstGeom>
          <a:solidFill>
            <a:srgbClr val="F1FFFB"/>
          </a:solidFill>
          <a:ln w="1587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meta_domain_final_corner_mask"/>
          <p:cNvSpPr/>
          <p:nvPr/>
        </p:nvSpPr>
        <p:spPr>
          <a:xfrm>
            <a:off x="11182197" y="2669133"/>
            <a:ext cx="147218" cy="147218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6" name="meta_domain_final_fold_diag_seg_1"/>
          <p:cNvCxnSpPr/>
          <p:nvPr/>
        </p:nvCxnSpPr>
        <p:spPr>
          <a:xfrm>
            <a:off x="11194999" y="2681935"/>
            <a:ext cx="121615" cy="121615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meta_domain_final_fold_top_seg_1"/>
          <p:cNvCxnSpPr/>
          <p:nvPr/>
        </p:nvCxnSpPr>
        <p:spPr>
          <a:xfrm>
            <a:off x="11194999" y="2681935"/>
            <a:ext cx="0" cy="121615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meta_domain_final_fold_right_seg_1"/>
          <p:cNvCxnSpPr/>
          <p:nvPr/>
        </p:nvCxnSpPr>
        <p:spPr>
          <a:xfrm>
            <a:off x="11194999" y="2803550"/>
            <a:ext cx="121615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meta_domain_final_top_restore_seg_1"/>
          <p:cNvCxnSpPr/>
          <p:nvPr/>
        </p:nvCxnSpPr>
        <p:spPr>
          <a:xfrm>
            <a:off x="10023652" y="2681935"/>
            <a:ext cx="1171347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meta_domain_final_right_restore_seg_1"/>
          <p:cNvCxnSpPr/>
          <p:nvPr/>
        </p:nvCxnSpPr>
        <p:spPr>
          <a:xfrm>
            <a:off x="11316614" y="2803550"/>
            <a:ext cx="0" cy="544068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" name="meta_domain_final_text"/>
          <p:cNvSpPr txBox="1"/>
          <p:nvPr/>
        </p:nvSpPr>
        <p:spPr>
          <a:xfrm>
            <a:off x="10222077" y="2790748"/>
            <a:ext cx="896112" cy="454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Meta</a:t>
            </a:r>
          </a:p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sp>
        <p:nvSpPr>
          <p:cNvPr id="422" name="instruction_box"/>
          <p:cNvSpPr/>
          <p:nvPr/>
        </p:nvSpPr>
        <p:spPr>
          <a:xfrm>
            <a:off x="524865" y="3782872"/>
            <a:ext cx="2413101" cy="1100937"/>
          </a:xfrm>
          <a:prstGeom prst="roundRect">
            <a:avLst>
              <a:gd name="adj" fmla="val 156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instruction_text"/>
          <p:cNvSpPr txBox="1"/>
          <p:nvPr/>
        </p:nvSpPr>
        <p:spPr>
          <a:xfrm>
            <a:off x="601675" y="3834079"/>
            <a:ext cx="2253081" cy="998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70707"/>
                </a:solidFill>
                <a:latin typeface="Liberation Sans"/>
              </a:rPr>
              <a:t>Move the corn from the pot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70707"/>
                </a:solidFill>
                <a:latin typeface="Liberation Sans"/>
              </a:rPr>
              <a:t>into the orange bowl, wipe the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70707"/>
                </a:solidFill>
                <a:latin typeface="Liberation Sans"/>
              </a:rPr>
              <a:t>table with the towel in the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70707"/>
                </a:solidFill>
                <a:latin typeface="Liberation Sans"/>
              </a:rPr>
              <a:t>drawer and put it back to the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070707"/>
                </a:solidFill>
                <a:latin typeface="Liberation Sans"/>
              </a:rPr>
              <a:t>closed drawer.</a:t>
            </a:r>
          </a:p>
        </p:txBody>
      </p:sp>
      <p:pic>
        <p:nvPicPr>
          <p:cNvPr id="424" name="initial_scene_photo" descr="initial_scen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" y="5031028"/>
            <a:ext cx="2201875" cy="1766620"/>
          </a:xfrm>
          <a:prstGeom prst="rect">
            <a:avLst/>
          </a:prstGeom>
        </p:spPr>
      </p:pic>
      <p:sp>
        <p:nvSpPr>
          <p:cNvPr id="425" name="problem_panel"/>
          <p:cNvSpPr/>
          <p:nvPr/>
        </p:nvSpPr>
        <p:spPr>
          <a:xfrm>
            <a:off x="3226003" y="3782872"/>
            <a:ext cx="2553919" cy="3008376"/>
          </a:xfrm>
          <a:prstGeom prst="roundRect">
            <a:avLst>
              <a:gd name="adj" fmla="val 9273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problem_title"/>
          <p:cNvSpPr txBox="1"/>
          <p:nvPr/>
        </p:nvSpPr>
        <p:spPr>
          <a:xfrm>
            <a:off x="3379622" y="3866083"/>
            <a:ext cx="2253081" cy="2944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7"/>
                </a:solidFill>
                <a:latin typeface="Liberation Sans"/>
              </a:rPr>
              <a:t>(d) Problem Generation</a:t>
            </a:r>
          </a:p>
        </p:txBody>
      </p:sp>
      <p:sp>
        <p:nvSpPr>
          <p:cNvPr id="427" name="problem_meta_doc_body"/>
          <p:cNvSpPr/>
          <p:nvPr/>
        </p:nvSpPr>
        <p:spPr>
          <a:xfrm>
            <a:off x="3360420" y="4384548"/>
            <a:ext cx="940917" cy="614476"/>
          </a:xfrm>
          <a:prstGeom prst="rect">
            <a:avLst/>
          </a:prstGeom>
          <a:solidFill>
            <a:srgbClr val="F1FFFB"/>
          </a:solidFill>
          <a:ln w="1587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problem_meta_doc_corner_mask"/>
          <p:cNvSpPr/>
          <p:nvPr/>
        </p:nvSpPr>
        <p:spPr>
          <a:xfrm>
            <a:off x="4173321" y="4371746"/>
            <a:ext cx="140817" cy="140817"/>
          </a:xfrm>
          <a:prstGeom prst="rect">
            <a:avLst/>
          </a:prstGeom>
          <a:solidFill>
            <a:srgbClr val="F1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problem_meta_doc_fold_diag_seg_1"/>
          <p:cNvCxnSpPr/>
          <p:nvPr/>
        </p:nvCxnSpPr>
        <p:spPr>
          <a:xfrm>
            <a:off x="4186123" y="4384548"/>
            <a:ext cx="115214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problem_meta_doc_fold_top_seg_1"/>
          <p:cNvCxnSpPr/>
          <p:nvPr/>
        </p:nvCxnSpPr>
        <p:spPr>
          <a:xfrm>
            <a:off x="4186123" y="4384548"/>
            <a:ext cx="0" cy="115214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problem_meta_doc_fold_right_seg_1"/>
          <p:cNvCxnSpPr/>
          <p:nvPr/>
        </p:nvCxnSpPr>
        <p:spPr>
          <a:xfrm>
            <a:off x="4186123" y="4499762"/>
            <a:ext cx="115214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problem_meta_doc_top_restore_seg_1"/>
          <p:cNvCxnSpPr/>
          <p:nvPr/>
        </p:nvCxnSpPr>
        <p:spPr>
          <a:xfrm>
            <a:off x="3360420" y="4384548"/>
            <a:ext cx="825703" cy="0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problem_meta_doc_right_restore_seg_1"/>
          <p:cNvCxnSpPr/>
          <p:nvPr/>
        </p:nvCxnSpPr>
        <p:spPr>
          <a:xfrm>
            <a:off x="4301337" y="4499762"/>
            <a:ext cx="0" cy="499262"/>
          </a:xfrm>
          <a:prstGeom prst="line">
            <a:avLst/>
          </a:prstGeom>
          <a:ln w="1587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problem_meta_text"/>
          <p:cNvSpPr txBox="1"/>
          <p:nvPr/>
        </p:nvSpPr>
        <p:spPr>
          <a:xfrm>
            <a:off x="3475634" y="4467758"/>
            <a:ext cx="716889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Meta</a:t>
            </a:r>
          </a:p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Domain</a:t>
            </a:r>
          </a:p>
        </p:txBody>
      </p:sp>
      <p:cxnSp>
        <p:nvCxnSpPr>
          <p:cNvPr id="435" name="meta_to_grouping_seg_1"/>
          <p:cNvCxnSpPr/>
          <p:nvPr/>
        </p:nvCxnSpPr>
        <p:spPr>
          <a:xfrm>
            <a:off x="4301337" y="4691786"/>
            <a:ext cx="217627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meta_to_grouping_head"/>
          <p:cNvSpPr/>
          <p:nvPr/>
        </p:nvSpPr>
        <p:spPr>
          <a:xfrm rot="5400000">
            <a:off x="4463277" y="4636099"/>
            <a:ext cx="111373" cy="111373"/>
          </a:xfrm>
          <a:prstGeom prst="triangl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predicate_grouping"/>
          <p:cNvSpPr/>
          <p:nvPr/>
        </p:nvSpPr>
        <p:spPr>
          <a:xfrm>
            <a:off x="4525365" y="4390948"/>
            <a:ext cx="1126540" cy="601675"/>
          </a:xfrm>
          <a:prstGeom prst="roundRect">
            <a:avLst>
              <a:gd name="adj" fmla="val 15957"/>
            </a:avLst>
          </a:prstGeom>
          <a:solidFill>
            <a:srgbClr val="D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predicate_grouping_text"/>
          <p:cNvSpPr txBox="1"/>
          <p:nvPr/>
        </p:nvSpPr>
        <p:spPr>
          <a:xfrm>
            <a:off x="4602175" y="4454956"/>
            <a:ext cx="972921" cy="4608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Predicate</a:t>
            </a:r>
          </a:p>
          <a:p>
            <a:pPr algn="ctr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Grouping</a:t>
            </a:r>
          </a:p>
        </p:txBody>
      </p:sp>
      <p:cxnSp>
        <p:nvCxnSpPr>
          <p:cNvPr id="439" name="grouping_to_filter_seg_1"/>
          <p:cNvCxnSpPr/>
          <p:nvPr/>
        </p:nvCxnSpPr>
        <p:spPr>
          <a:xfrm>
            <a:off x="5088636" y="4992623"/>
            <a:ext cx="0" cy="198425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grouping_to_filter_head"/>
          <p:cNvSpPr/>
          <p:nvPr/>
        </p:nvSpPr>
        <p:spPr>
          <a:xfrm rot="10800000">
            <a:off x="5037589" y="5140002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predicate_filtering"/>
          <p:cNvSpPr/>
          <p:nvPr/>
        </p:nvSpPr>
        <p:spPr>
          <a:xfrm>
            <a:off x="3360420" y="5197449"/>
            <a:ext cx="2297887" cy="665683"/>
          </a:xfrm>
          <a:prstGeom prst="roundRect">
            <a:avLst>
              <a:gd name="adj" fmla="val 14423"/>
            </a:avLst>
          </a:prstGeom>
          <a:solidFill>
            <a:srgbClr val="D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predicate_filtering_logo_loop_0_seg_1"/>
          <p:cNvCxnSpPr/>
          <p:nvPr/>
        </p:nvCxnSpPr>
        <p:spPr>
          <a:xfrm flipH="1" flipV="1">
            <a:off x="3554905" y="5410576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predicate_filtering_logo_loop_0_seg_2"/>
          <p:cNvCxnSpPr/>
          <p:nvPr/>
        </p:nvCxnSpPr>
        <p:spPr>
          <a:xfrm flipV="1">
            <a:off x="3554905" y="5381557"/>
            <a:ext cx="80749" cy="2901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predicate_filtering_logo_loop_0_seg_3"/>
          <p:cNvCxnSpPr/>
          <p:nvPr/>
        </p:nvCxnSpPr>
        <p:spPr>
          <a:xfrm>
            <a:off x="3635654" y="5381557"/>
            <a:ext cx="80749" cy="29019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predicate_filtering_logo_loop_0_seg_4"/>
          <p:cNvCxnSpPr/>
          <p:nvPr/>
        </p:nvCxnSpPr>
        <p:spPr>
          <a:xfrm flipH="1">
            <a:off x="3676072" y="5410576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predicate_filtering_logo_loop_1_seg_1"/>
          <p:cNvCxnSpPr/>
          <p:nvPr/>
        </p:nvCxnSpPr>
        <p:spPr>
          <a:xfrm flipV="1">
            <a:off x="3650448" y="5400503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predicate_filtering_logo_loop_1_seg_2"/>
          <p:cNvCxnSpPr/>
          <p:nvPr/>
        </p:nvCxnSpPr>
        <p:spPr>
          <a:xfrm>
            <a:off x="3698956" y="5400503"/>
            <a:ext cx="65505" cy="554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predicate_filtering_logo_loop_1_seg_3"/>
          <p:cNvCxnSpPr/>
          <p:nvPr/>
        </p:nvCxnSpPr>
        <p:spPr>
          <a:xfrm>
            <a:off x="3764461" y="5455924"/>
            <a:ext cx="15243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predicate_filtering_logo_loop_1_seg_4"/>
          <p:cNvCxnSpPr/>
          <p:nvPr/>
        </p:nvCxnSpPr>
        <p:spPr>
          <a:xfrm flipH="1">
            <a:off x="3690865" y="5540364"/>
            <a:ext cx="88839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predicate_filtering_logo_loop_2_seg_1"/>
          <p:cNvCxnSpPr/>
          <p:nvPr/>
        </p:nvCxnSpPr>
        <p:spPr>
          <a:xfrm>
            <a:off x="3690865" y="5515497"/>
            <a:ext cx="88839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predicate_filtering_logo_loop_2_seg_2"/>
          <p:cNvCxnSpPr/>
          <p:nvPr/>
        </p:nvCxnSpPr>
        <p:spPr>
          <a:xfrm flipH="1">
            <a:off x="3764461" y="5520218"/>
            <a:ext cx="15243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predicate_filtering_logo_loop_2_seg_3"/>
          <p:cNvCxnSpPr/>
          <p:nvPr/>
        </p:nvCxnSpPr>
        <p:spPr>
          <a:xfrm flipH="1">
            <a:off x="3698956" y="5604658"/>
            <a:ext cx="65505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predicate_filtering_logo_loop_2_seg_4"/>
          <p:cNvCxnSpPr/>
          <p:nvPr/>
        </p:nvCxnSpPr>
        <p:spPr>
          <a:xfrm flipH="1" flipV="1">
            <a:off x="3650448" y="5585502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predicate_filtering_logo_loop_3_seg_1"/>
          <p:cNvCxnSpPr/>
          <p:nvPr/>
        </p:nvCxnSpPr>
        <p:spPr>
          <a:xfrm>
            <a:off x="3676072" y="5570708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predicate_filtering_logo_loop_3_seg_2"/>
          <p:cNvCxnSpPr/>
          <p:nvPr/>
        </p:nvCxnSpPr>
        <p:spPr>
          <a:xfrm flipH="1">
            <a:off x="3635654" y="5650005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predicate_filtering_logo_loop_3_seg_3"/>
          <p:cNvCxnSpPr/>
          <p:nvPr/>
        </p:nvCxnSpPr>
        <p:spPr>
          <a:xfrm flipH="1" flipV="1">
            <a:off x="3554905" y="5650005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predicate_filtering_logo_loop_3_seg_4"/>
          <p:cNvCxnSpPr/>
          <p:nvPr/>
        </p:nvCxnSpPr>
        <p:spPr>
          <a:xfrm flipV="1">
            <a:off x="3554905" y="5570708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predicate_filtering_logo_loop_4_seg_1"/>
          <p:cNvCxnSpPr/>
          <p:nvPr/>
        </p:nvCxnSpPr>
        <p:spPr>
          <a:xfrm flipH="1">
            <a:off x="3572352" y="5585502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predicate_filtering_logo_loop_4_seg_2"/>
          <p:cNvCxnSpPr/>
          <p:nvPr/>
        </p:nvCxnSpPr>
        <p:spPr>
          <a:xfrm flipH="1" flipV="1">
            <a:off x="3506846" y="5604658"/>
            <a:ext cx="65506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predicate_filtering_logo_loop_4_seg_3"/>
          <p:cNvCxnSpPr/>
          <p:nvPr/>
        </p:nvCxnSpPr>
        <p:spPr>
          <a:xfrm flipH="1" flipV="1">
            <a:off x="3491604" y="5520218"/>
            <a:ext cx="15242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predicate_filtering_logo_loop_4_seg_4"/>
          <p:cNvCxnSpPr/>
          <p:nvPr/>
        </p:nvCxnSpPr>
        <p:spPr>
          <a:xfrm flipV="1">
            <a:off x="3491604" y="5515497"/>
            <a:ext cx="88838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predicate_filtering_logo_loop_5_seg_1"/>
          <p:cNvCxnSpPr/>
          <p:nvPr/>
        </p:nvCxnSpPr>
        <p:spPr>
          <a:xfrm flipH="1" flipV="1">
            <a:off x="3491604" y="5540364"/>
            <a:ext cx="88838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predicate_filtering_logo_loop_5_seg_2"/>
          <p:cNvCxnSpPr/>
          <p:nvPr/>
        </p:nvCxnSpPr>
        <p:spPr>
          <a:xfrm flipV="1">
            <a:off x="3491604" y="5455924"/>
            <a:ext cx="15242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predicate_filtering_logo_loop_5_seg_3"/>
          <p:cNvCxnSpPr/>
          <p:nvPr/>
        </p:nvCxnSpPr>
        <p:spPr>
          <a:xfrm flipV="1">
            <a:off x="3506846" y="5400503"/>
            <a:ext cx="65506" cy="554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predicate_filtering_logo_loop_5_seg_4"/>
          <p:cNvCxnSpPr/>
          <p:nvPr/>
        </p:nvCxnSpPr>
        <p:spPr>
          <a:xfrm>
            <a:off x="3572352" y="5400503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predicate_filtering_logo_center_seg_1"/>
          <p:cNvCxnSpPr/>
          <p:nvPr/>
        </p:nvCxnSpPr>
        <p:spPr>
          <a:xfrm>
            <a:off x="3635654" y="5473132"/>
            <a:ext cx="49501" cy="2857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predicate_filtering_logo_center_seg_2"/>
          <p:cNvCxnSpPr/>
          <p:nvPr/>
        </p:nvCxnSpPr>
        <p:spPr>
          <a:xfrm>
            <a:off x="3685155" y="5501711"/>
            <a:ext cx="0" cy="5715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predicate_filtering_logo_center_seg_3"/>
          <p:cNvCxnSpPr/>
          <p:nvPr/>
        </p:nvCxnSpPr>
        <p:spPr>
          <a:xfrm flipH="1">
            <a:off x="3635654" y="5558870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predicate_filtering_logo_center_seg_4"/>
          <p:cNvCxnSpPr/>
          <p:nvPr/>
        </p:nvCxnSpPr>
        <p:spPr>
          <a:xfrm flipH="1" flipV="1">
            <a:off x="3586153" y="5558870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predicate_filtering_logo_center_seg_5"/>
          <p:cNvCxnSpPr/>
          <p:nvPr/>
        </p:nvCxnSpPr>
        <p:spPr>
          <a:xfrm flipV="1">
            <a:off x="3586153" y="5501711"/>
            <a:ext cx="0" cy="5715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predicate_filtering_logo_center_seg_6"/>
          <p:cNvCxnSpPr/>
          <p:nvPr/>
        </p:nvCxnSpPr>
        <p:spPr>
          <a:xfrm flipV="1">
            <a:off x="3586153" y="5473132"/>
            <a:ext cx="49501" cy="2857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predicate_filtering_text"/>
          <p:cNvSpPr txBox="1"/>
          <p:nvPr/>
        </p:nvSpPr>
        <p:spPr>
          <a:xfrm>
            <a:off x="3853281" y="5274259"/>
            <a:ext cx="1709013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Predicate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&amp; Operator Filtering</a:t>
            </a:r>
          </a:p>
        </p:txBody>
      </p:sp>
      <p:cxnSp>
        <p:nvCxnSpPr>
          <p:cNvPr id="473" name="filter_to_problem_seg_1"/>
          <p:cNvCxnSpPr/>
          <p:nvPr/>
        </p:nvCxnSpPr>
        <p:spPr>
          <a:xfrm>
            <a:off x="4512564" y="5863132"/>
            <a:ext cx="0" cy="166421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filter_to_problem_head"/>
          <p:cNvSpPr/>
          <p:nvPr/>
        </p:nvSpPr>
        <p:spPr>
          <a:xfrm rot="10800000">
            <a:off x="4461517" y="5978507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problem_generation"/>
          <p:cNvSpPr/>
          <p:nvPr/>
        </p:nvSpPr>
        <p:spPr>
          <a:xfrm>
            <a:off x="3360420" y="6035954"/>
            <a:ext cx="2297887" cy="601675"/>
          </a:xfrm>
          <a:prstGeom prst="roundRect">
            <a:avLst>
              <a:gd name="adj" fmla="val 15957"/>
            </a:avLst>
          </a:prstGeom>
          <a:solidFill>
            <a:srgbClr val="D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problem_generation_logo_loop_0_seg_1"/>
          <p:cNvCxnSpPr/>
          <p:nvPr/>
        </p:nvCxnSpPr>
        <p:spPr>
          <a:xfrm flipH="1" flipV="1">
            <a:off x="3554905" y="6217077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problem_generation_logo_loop_0_seg_2"/>
          <p:cNvCxnSpPr/>
          <p:nvPr/>
        </p:nvCxnSpPr>
        <p:spPr>
          <a:xfrm flipV="1">
            <a:off x="3554905" y="6188057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problem_generation_logo_loop_0_seg_3"/>
          <p:cNvCxnSpPr/>
          <p:nvPr/>
        </p:nvCxnSpPr>
        <p:spPr>
          <a:xfrm>
            <a:off x="3635654" y="6188057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problem_generation_logo_loop_0_seg_4"/>
          <p:cNvCxnSpPr/>
          <p:nvPr/>
        </p:nvCxnSpPr>
        <p:spPr>
          <a:xfrm flipH="1">
            <a:off x="3676072" y="6217077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problem_generation_logo_loop_1_seg_1"/>
          <p:cNvCxnSpPr/>
          <p:nvPr/>
        </p:nvCxnSpPr>
        <p:spPr>
          <a:xfrm flipV="1">
            <a:off x="3650448" y="6207004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problem_generation_logo_loop_1_seg_2"/>
          <p:cNvCxnSpPr/>
          <p:nvPr/>
        </p:nvCxnSpPr>
        <p:spPr>
          <a:xfrm>
            <a:off x="3698956" y="6207004"/>
            <a:ext cx="65505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problem_generation_logo_loop_1_seg_3"/>
          <p:cNvCxnSpPr/>
          <p:nvPr/>
        </p:nvCxnSpPr>
        <p:spPr>
          <a:xfrm>
            <a:off x="3764461" y="6262424"/>
            <a:ext cx="15243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problem_generation_logo_loop_1_seg_4"/>
          <p:cNvCxnSpPr/>
          <p:nvPr/>
        </p:nvCxnSpPr>
        <p:spPr>
          <a:xfrm flipH="1">
            <a:off x="3690865" y="6346864"/>
            <a:ext cx="88839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problem_generation_logo_loop_2_seg_1"/>
          <p:cNvCxnSpPr/>
          <p:nvPr/>
        </p:nvCxnSpPr>
        <p:spPr>
          <a:xfrm>
            <a:off x="3690865" y="6321998"/>
            <a:ext cx="88839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problem_generation_logo_loop_2_seg_2"/>
          <p:cNvCxnSpPr/>
          <p:nvPr/>
        </p:nvCxnSpPr>
        <p:spPr>
          <a:xfrm flipH="1">
            <a:off x="3764461" y="6326719"/>
            <a:ext cx="15243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problem_generation_logo_loop_2_seg_3"/>
          <p:cNvCxnSpPr/>
          <p:nvPr/>
        </p:nvCxnSpPr>
        <p:spPr>
          <a:xfrm flipH="1">
            <a:off x="3698956" y="6411159"/>
            <a:ext cx="65505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problem_generation_logo_loop_2_seg_4"/>
          <p:cNvCxnSpPr/>
          <p:nvPr/>
        </p:nvCxnSpPr>
        <p:spPr>
          <a:xfrm flipH="1" flipV="1">
            <a:off x="3650448" y="6392003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problem_generation_logo_loop_3_seg_1"/>
          <p:cNvCxnSpPr/>
          <p:nvPr/>
        </p:nvCxnSpPr>
        <p:spPr>
          <a:xfrm>
            <a:off x="3676072" y="6377209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problem_generation_logo_loop_3_seg_2"/>
          <p:cNvCxnSpPr/>
          <p:nvPr/>
        </p:nvCxnSpPr>
        <p:spPr>
          <a:xfrm flipH="1">
            <a:off x="3635654" y="6456506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problem_generation_logo_loop_3_seg_3"/>
          <p:cNvCxnSpPr/>
          <p:nvPr/>
        </p:nvCxnSpPr>
        <p:spPr>
          <a:xfrm flipH="1" flipV="1">
            <a:off x="3554905" y="6456506"/>
            <a:ext cx="80749" cy="290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problem_generation_logo_loop_3_seg_4"/>
          <p:cNvCxnSpPr/>
          <p:nvPr/>
        </p:nvCxnSpPr>
        <p:spPr>
          <a:xfrm flipV="1">
            <a:off x="3554905" y="6377209"/>
            <a:ext cx="40331" cy="79297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problem_generation_logo_loop_4_seg_1"/>
          <p:cNvCxnSpPr/>
          <p:nvPr/>
        </p:nvCxnSpPr>
        <p:spPr>
          <a:xfrm flipH="1">
            <a:off x="3572352" y="6392003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problem_generation_logo_loop_4_seg_2"/>
          <p:cNvCxnSpPr/>
          <p:nvPr/>
        </p:nvCxnSpPr>
        <p:spPr>
          <a:xfrm flipH="1" flipV="1">
            <a:off x="3506846" y="6411159"/>
            <a:ext cx="65506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problem_generation_logo_loop_4_seg_3"/>
          <p:cNvCxnSpPr/>
          <p:nvPr/>
        </p:nvCxnSpPr>
        <p:spPr>
          <a:xfrm flipH="1" flipV="1">
            <a:off x="3491604" y="6326719"/>
            <a:ext cx="15242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problem_generation_logo_loop_4_seg_4"/>
          <p:cNvCxnSpPr/>
          <p:nvPr/>
        </p:nvCxnSpPr>
        <p:spPr>
          <a:xfrm flipV="1">
            <a:off x="3491604" y="6321998"/>
            <a:ext cx="88838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problem_generation_logo_loop_5_seg_1"/>
          <p:cNvCxnSpPr/>
          <p:nvPr/>
        </p:nvCxnSpPr>
        <p:spPr>
          <a:xfrm flipH="1" flipV="1">
            <a:off x="3491604" y="6346864"/>
            <a:ext cx="88838" cy="4721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problem_generation_logo_loop_5_seg_2"/>
          <p:cNvCxnSpPr/>
          <p:nvPr/>
        </p:nvCxnSpPr>
        <p:spPr>
          <a:xfrm flipV="1">
            <a:off x="3491604" y="6262424"/>
            <a:ext cx="15242" cy="8444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problem_generation_logo_loop_5_seg_3"/>
          <p:cNvCxnSpPr/>
          <p:nvPr/>
        </p:nvCxnSpPr>
        <p:spPr>
          <a:xfrm flipV="1">
            <a:off x="3506846" y="6207004"/>
            <a:ext cx="65506" cy="55420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problem_generation_logo_loop_5_seg_4"/>
          <p:cNvCxnSpPr/>
          <p:nvPr/>
        </p:nvCxnSpPr>
        <p:spPr>
          <a:xfrm>
            <a:off x="3572352" y="6207004"/>
            <a:ext cx="48508" cy="74576"/>
          </a:xfrm>
          <a:prstGeom prst="line">
            <a:avLst/>
          </a:prstGeom>
          <a:ln w="2540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problem_generation_logo_center_seg_1"/>
          <p:cNvCxnSpPr/>
          <p:nvPr/>
        </p:nvCxnSpPr>
        <p:spPr>
          <a:xfrm>
            <a:off x="3635654" y="6279632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problem_generation_logo_center_seg_2"/>
          <p:cNvCxnSpPr/>
          <p:nvPr/>
        </p:nvCxnSpPr>
        <p:spPr>
          <a:xfrm>
            <a:off x="3685155" y="6308212"/>
            <a:ext cx="0" cy="5715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problem_generation_logo_center_seg_3"/>
          <p:cNvCxnSpPr/>
          <p:nvPr/>
        </p:nvCxnSpPr>
        <p:spPr>
          <a:xfrm flipH="1">
            <a:off x="3635654" y="6365371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problem_generation_logo_center_seg_4"/>
          <p:cNvCxnSpPr/>
          <p:nvPr/>
        </p:nvCxnSpPr>
        <p:spPr>
          <a:xfrm flipH="1" flipV="1">
            <a:off x="3586153" y="6365371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problem_generation_logo_center_seg_5"/>
          <p:cNvCxnSpPr/>
          <p:nvPr/>
        </p:nvCxnSpPr>
        <p:spPr>
          <a:xfrm flipV="1">
            <a:off x="3586153" y="6308212"/>
            <a:ext cx="0" cy="57159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problem_generation_logo_center_seg_6"/>
          <p:cNvCxnSpPr/>
          <p:nvPr/>
        </p:nvCxnSpPr>
        <p:spPr>
          <a:xfrm flipV="1">
            <a:off x="3586153" y="6279632"/>
            <a:ext cx="49501" cy="28580"/>
          </a:xfrm>
          <a:prstGeom prst="line">
            <a:avLst/>
          </a:prstGeom>
          <a:ln w="1651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problem_generation_text"/>
          <p:cNvSpPr txBox="1"/>
          <p:nvPr/>
        </p:nvSpPr>
        <p:spPr>
          <a:xfrm>
            <a:off x="3853281" y="6087160"/>
            <a:ext cx="1075334" cy="486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Problem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70707"/>
                </a:solidFill>
                <a:latin typeface="Liberation Sans"/>
              </a:rPr>
              <a:t>Generation</a:t>
            </a:r>
          </a:p>
        </p:txBody>
      </p:sp>
      <p:sp>
        <p:nvSpPr>
          <p:cNvPr id="507" name="problem_pddl_doc_body"/>
          <p:cNvSpPr/>
          <p:nvPr/>
        </p:nvSpPr>
        <p:spPr>
          <a:xfrm>
            <a:off x="4877409" y="6131966"/>
            <a:ext cx="704087" cy="409651"/>
          </a:xfrm>
          <a:prstGeom prst="rect">
            <a:avLst/>
          </a:prstGeom>
          <a:solidFill>
            <a:srgbClr val="F8F7F2"/>
          </a:solidFill>
          <a:ln w="889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problem_pddl_doc_corner_mask"/>
          <p:cNvSpPr/>
          <p:nvPr/>
        </p:nvSpPr>
        <p:spPr>
          <a:xfrm>
            <a:off x="5472683" y="6119164"/>
            <a:ext cx="121615" cy="121615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problem_pddl_doc_fold_diag_seg_1"/>
          <p:cNvCxnSpPr/>
          <p:nvPr/>
        </p:nvCxnSpPr>
        <p:spPr>
          <a:xfrm>
            <a:off x="5485485" y="6131966"/>
            <a:ext cx="96012" cy="96012"/>
          </a:xfrm>
          <a:prstGeom prst="line">
            <a:avLst/>
          </a:prstGeom>
          <a:ln w="889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problem_pddl_doc_fold_top_seg_1"/>
          <p:cNvCxnSpPr/>
          <p:nvPr/>
        </p:nvCxnSpPr>
        <p:spPr>
          <a:xfrm>
            <a:off x="5485485" y="6131966"/>
            <a:ext cx="0" cy="96012"/>
          </a:xfrm>
          <a:prstGeom prst="line">
            <a:avLst/>
          </a:prstGeom>
          <a:ln w="889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problem_pddl_doc_fold_right_seg_1"/>
          <p:cNvCxnSpPr/>
          <p:nvPr/>
        </p:nvCxnSpPr>
        <p:spPr>
          <a:xfrm>
            <a:off x="5485485" y="6227978"/>
            <a:ext cx="96012" cy="0"/>
          </a:xfrm>
          <a:prstGeom prst="line">
            <a:avLst/>
          </a:prstGeom>
          <a:ln w="889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problem_pddl_doc_top_restore_seg_1"/>
          <p:cNvCxnSpPr/>
          <p:nvPr/>
        </p:nvCxnSpPr>
        <p:spPr>
          <a:xfrm>
            <a:off x="4877409" y="6131966"/>
            <a:ext cx="608076" cy="0"/>
          </a:xfrm>
          <a:prstGeom prst="line">
            <a:avLst/>
          </a:prstGeom>
          <a:ln w="889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problem_pddl_doc_right_restore_seg_1"/>
          <p:cNvCxnSpPr/>
          <p:nvPr/>
        </p:nvCxnSpPr>
        <p:spPr>
          <a:xfrm>
            <a:off x="5581497" y="6227978"/>
            <a:ext cx="0" cy="313639"/>
          </a:xfrm>
          <a:prstGeom prst="line">
            <a:avLst/>
          </a:prstGeom>
          <a:ln w="889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problem_pddl_objects"/>
          <p:cNvSpPr txBox="1"/>
          <p:nvPr/>
        </p:nvSpPr>
        <p:spPr>
          <a:xfrm>
            <a:off x="4909413" y="6157569"/>
            <a:ext cx="576072" cy="102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00589E"/>
                </a:solidFill>
                <a:latin typeface="Liberation Sans"/>
              </a:rPr>
              <a:t>:objects (…) </a:t>
            </a:r>
          </a:p>
        </p:txBody>
      </p:sp>
      <p:sp>
        <p:nvSpPr>
          <p:cNvPr id="515" name="problem_pddl_init"/>
          <p:cNvSpPr txBox="1"/>
          <p:nvPr/>
        </p:nvSpPr>
        <p:spPr>
          <a:xfrm>
            <a:off x="4909413" y="6259982"/>
            <a:ext cx="576072" cy="102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00A31A"/>
                </a:solidFill>
                <a:latin typeface="Liberation Sans"/>
              </a:rPr>
              <a:t>:init …</a:t>
            </a:r>
          </a:p>
        </p:txBody>
      </p:sp>
      <p:sp>
        <p:nvSpPr>
          <p:cNvPr id="516" name="problem_pddl_goal"/>
          <p:cNvSpPr txBox="1"/>
          <p:nvPr/>
        </p:nvSpPr>
        <p:spPr>
          <a:xfrm>
            <a:off x="4909413" y="6362395"/>
            <a:ext cx="576072" cy="102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E08000"/>
                </a:solidFill>
                <a:latin typeface="Liberation Sans"/>
              </a:rPr>
              <a:t>:goal (…) </a:t>
            </a:r>
          </a:p>
        </p:txBody>
      </p:sp>
      <p:sp>
        <p:nvSpPr>
          <p:cNvPr id="517" name="planning_panel"/>
          <p:cNvSpPr/>
          <p:nvPr/>
        </p:nvSpPr>
        <p:spPr>
          <a:xfrm>
            <a:off x="6010351" y="3782872"/>
            <a:ext cx="1977847" cy="3008376"/>
          </a:xfrm>
          <a:prstGeom prst="roundRect">
            <a:avLst>
              <a:gd name="adj" fmla="val 11974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planning_title"/>
          <p:cNvSpPr txBox="1"/>
          <p:nvPr/>
        </p:nvSpPr>
        <p:spPr>
          <a:xfrm>
            <a:off x="6247180" y="3866083"/>
            <a:ext cx="1510588" cy="2944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7"/>
                </a:solidFill>
                <a:latin typeface="Liberation Sans"/>
              </a:rPr>
              <a:t>(e) Planning</a:t>
            </a:r>
          </a:p>
        </p:txBody>
      </p:sp>
      <p:sp>
        <p:nvSpPr>
          <p:cNvPr id="519" name="solver_box"/>
          <p:cNvSpPr/>
          <p:nvPr/>
        </p:nvSpPr>
        <p:spPr>
          <a:xfrm>
            <a:off x="6131966" y="4390948"/>
            <a:ext cx="1721815" cy="595274"/>
          </a:xfrm>
          <a:prstGeom prst="roundRect">
            <a:avLst>
              <a:gd name="adj" fmla="val 16129"/>
            </a:avLst>
          </a:prstGeom>
          <a:solidFill>
            <a:srgbClr val="D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solver_icon_top"/>
          <p:cNvSpPr/>
          <p:nvPr/>
        </p:nvSpPr>
        <p:spPr>
          <a:xfrm>
            <a:off x="6560820" y="4474159"/>
            <a:ext cx="126735" cy="10561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95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solver_icon_stem_seg_1"/>
          <p:cNvCxnSpPr/>
          <p:nvPr/>
        </p:nvCxnSpPr>
        <p:spPr>
          <a:xfrm>
            <a:off x="6624187" y="4579772"/>
            <a:ext cx="0" cy="84490"/>
          </a:xfrm>
          <a:prstGeom prst="line">
            <a:avLst/>
          </a:prstGeom>
          <a:ln w="2095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olver_icon_bar_seg_1"/>
          <p:cNvCxnSpPr/>
          <p:nvPr/>
        </p:nvCxnSpPr>
        <p:spPr>
          <a:xfrm>
            <a:off x="6476329" y="4664262"/>
            <a:ext cx="295717" cy="0"/>
          </a:xfrm>
          <a:prstGeom prst="line">
            <a:avLst/>
          </a:prstGeom>
          <a:ln w="2095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olver_icon_left_drop_seg_1"/>
          <p:cNvCxnSpPr/>
          <p:nvPr/>
        </p:nvCxnSpPr>
        <p:spPr>
          <a:xfrm>
            <a:off x="6476329" y="4664262"/>
            <a:ext cx="0" cy="84491"/>
          </a:xfrm>
          <a:prstGeom prst="line">
            <a:avLst/>
          </a:prstGeom>
          <a:ln w="2095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olver_icon_right_drop_seg_1"/>
          <p:cNvCxnSpPr/>
          <p:nvPr/>
        </p:nvCxnSpPr>
        <p:spPr>
          <a:xfrm>
            <a:off x="6772046" y="4664262"/>
            <a:ext cx="0" cy="84491"/>
          </a:xfrm>
          <a:prstGeom prst="line">
            <a:avLst/>
          </a:prstGeom>
          <a:ln w="2095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solver_icon_left"/>
          <p:cNvSpPr/>
          <p:nvPr/>
        </p:nvSpPr>
        <p:spPr>
          <a:xfrm>
            <a:off x="6420002" y="4741712"/>
            <a:ext cx="119694" cy="105613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095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solver_icon_right"/>
          <p:cNvSpPr/>
          <p:nvPr/>
        </p:nvSpPr>
        <p:spPr>
          <a:xfrm>
            <a:off x="6715719" y="4741712"/>
            <a:ext cx="119694" cy="105613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0955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solver_text"/>
          <p:cNvSpPr txBox="1"/>
          <p:nvPr/>
        </p:nvSpPr>
        <p:spPr>
          <a:xfrm>
            <a:off x="6989673" y="4442155"/>
            <a:ext cx="761695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PDDL</a:t>
            </a:r>
          </a:p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70707"/>
                </a:solidFill>
                <a:latin typeface="Liberation Sans"/>
              </a:rPr>
              <a:t>Solver</a:t>
            </a:r>
          </a:p>
        </p:txBody>
      </p:sp>
      <p:cxnSp>
        <p:nvCxnSpPr>
          <p:cNvPr id="528" name="solver_to_plan_seg_1"/>
          <p:cNvCxnSpPr/>
          <p:nvPr/>
        </p:nvCxnSpPr>
        <p:spPr>
          <a:xfrm>
            <a:off x="6996074" y="4986223"/>
            <a:ext cx="0" cy="192024"/>
          </a:xfrm>
          <a:prstGeom prst="line">
            <a:avLst/>
          </a:prstGeom>
          <a:ln w="19050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solver_to_plan_head"/>
          <p:cNvSpPr/>
          <p:nvPr/>
        </p:nvSpPr>
        <p:spPr>
          <a:xfrm rot="10800000">
            <a:off x="6945028" y="5127200"/>
            <a:ext cx="102092" cy="102092"/>
          </a:xfrm>
          <a:prstGeom prst="triangle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plan_doc_body"/>
          <p:cNvSpPr/>
          <p:nvPr/>
        </p:nvSpPr>
        <p:spPr>
          <a:xfrm>
            <a:off x="6119164" y="5184648"/>
            <a:ext cx="1785823" cy="1459382"/>
          </a:xfrm>
          <a:prstGeom prst="rect">
            <a:avLst/>
          </a:prstGeom>
          <a:solidFill>
            <a:srgbClr val="F8F7F2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plan_doc_corner_mask"/>
          <p:cNvSpPr/>
          <p:nvPr/>
        </p:nvSpPr>
        <p:spPr>
          <a:xfrm>
            <a:off x="7776971" y="5171846"/>
            <a:ext cx="140817" cy="140817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plan_doc_fold_diag_seg_1"/>
          <p:cNvCxnSpPr/>
          <p:nvPr/>
        </p:nvCxnSpPr>
        <p:spPr>
          <a:xfrm>
            <a:off x="7789773" y="5184648"/>
            <a:ext cx="115215" cy="115214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plan_doc_fold_top_seg_1"/>
          <p:cNvCxnSpPr/>
          <p:nvPr/>
        </p:nvCxnSpPr>
        <p:spPr>
          <a:xfrm>
            <a:off x="7789773" y="5184648"/>
            <a:ext cx="0" cy="115214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plan_doc_fold_right_seg_1"/>
          <p:cNvCxnSpPr/>
          <p:nvPr/>
        </p:nvCxnSpPr>
        <p:spPr>
          <a:xfrm>
            <a:off x="7789773" y="5299862"/>
            <a:ext cx="115215" cy="0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plan_doc_top_restore_seg_1"/>
          <p:cNvCxnSpPr/>
          <p:nvPr/>
        </p:nvCxnSpPr>
        <p:spPr>
          <a:xfrm>
            <a:off x="6119164" y="5184648"/>
            <a:ext cx="1670609" cy="0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plan_doc_right_restore_seg_1"/>
          <p:cNvCxnSpPr/>
          <p:nvPr/>
        </p:nvCxnSpPr>
        <p:spPr>
          <a:xfrm>
            <a:off x="7904988" y="5299862"/>
            <a:ext cx="0" cy="1344168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plan_action_1"/>
          <p:cNvSpPr txBox="1"/>
          <p:nvPr/>
        </p:nvSpPr>
        <p:spPr>
          <a:xfrm>
            <a:off x="6208776" y="5267858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remove_lid</a:t>
            </a:r>
          </a:p>
        </p:txBody>
      </p:sp>
      <p:sp>
        <p:nvSpPr>
          <p:cNvPr id="538" name="plan_arg_1"/>
          <p:cNvSpPr txBox="1"/>
          <p:nvPr/>
        </p:nvSpPr>
        <p:spPr>
          <a:xfrm>
            <a:off x="6951268" y="5267858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(lid)</a:t>
            </a:r>
          </a:p>
        </p:txBody>
      </p:sp>
      <p:sp>
        <p:nvSpPr>
          <p:cNvPr id="539" name="plan_action_2"/>
          <p:cNvSpPr txBox="1"/>
          <p:nvPr/>
        </p:nvSpPr>
        <p:spPr>
          <a:xfrm>
            <a:off x="6208776" y="5453481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pick_from_rack</a:t>
            </a:r>
          </a:p>
        </p:txBody>
      </p:sp>
      <p:sp>
        <p:nvSpPr>
          <p:cNvPr id="540" name="plan_arg_2"/>
          <p:cNvSpPr txBox="1"/>
          <p:nvPr/>
        </p:nvSpPr>
        <p:spPr>
          <a:xfrm>
            <a:off x="7232903" y="5453481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(bowl)</a:t>
            </a:r>
          </a:p>
        </p:txBody>
      </p:sp>
      <p:sp>
        <p:nvSpPr>
          <p:cNvPr id="541" name="plan_action_3"/>
          <p:cNvSpPr txBox="1"/>
          <p:nvPr/>
        </p:nvSpPr>
        <p:spPr>
          <a:xfrm>
            <a:off x="6208776" y="5639104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place_on_table</a:t>
            </a:r>
          </a:p>
        </p:txBody>
      </p:sp>
      <p:sp>
        <p:nvSpPr>
          <p:cNvPr id="542" name="plan_arg_3"/>
          <p:cNvSpPr txBox="1"/>
          <p:nvPr/>
        </p:nvSpPr>
        <p:spPr>
          <a:xfrm>
            <a:off x="7303312" y="5639104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(bowl)</a:t>
            </a:r>
          </a:p>
        </p:txBody>
      </p:sp>
      <p:sp>
        <p:nvSpPr>
          <p:cNvPr id="543" name="plan_action_4"/>
          <p:cNvSpPr txBox="1"/>
          <p:nvPr/>
        </p:nvSpPr>
        <p:spPr>
          <a:xfrm>
            <a:off x="6208776" y="5824728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…</a:t>
            </a:r>
          </a:p>
        </p:txBody>
      </p:sp>
      <p:sp>
        <p:nvSpPr>
          <p:cNvPr id="544" name="plan_action_5"/>
          <p:cNvSpPr txBox="1"/>
          <p:nvPr/>
        </p:nvSpPr>
        <p:spPr>
          <a:xfrm>
            <a:off x="6208776" y="6010351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wipe_table</a:t>
            </a:r>
          </a:p>
        </p:txBody>
      </p:sp>
      <p:sp>
        <p:nvSpPr>
          <p:cNvPr id="545" name="plan_arg_5"/>
          <p:cNvSpPr txBox="1"/>
          <p:nvPr/>
        </p:nvSpPr>
        <p:spPr>
          <a:xfrm>
            <a:off x="6900062" y="6010351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(towel)</a:t>
            </a:r>
          </a:p>
        </p:txBody>
      </p:sp>
      <p:sp>
        <p:nvSpPr>
          <p:cNvPr id="546" name="plan_action_6"/>
          <p:cNvSpPr txBox="1"/>
          <p:nvPr/>
        </p:nvSpPr>
        <p:spPr>
          <a:xfrm>
            <a:off x="6208776" y="6195974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place_in_drawer</a:t>
            </a:r>
          </a:p>
        </p:txBody>
      </p:sp>
      <p:sp>
        <p:nvSpPr>
          <p:cNvPr id="547" name="plan_arg_6"/>
          <p:cNvSpPr txBox="1"/>
          <p:nvPr/>
        </p:nvSpPr>
        <p:spPr>
          <a:xfrm>
            <a:off x="7303312" y="6195974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(towel)</a:t>
            </a:r>
          </a:p>
        </p:txBody>
      </p:sp>
      <p:sp>
        <p:nvSpPr>
          <p:cNvPr id="548" name="plan_action_7"/>
          <p:cNvSpPr txBox="1"/>
          <p:nvPr/>
        </p:nvSpPr>
        <p:spPr>
          <a:xfrm>
            <a:off x="6208776" y="6381597"/>
            <a:ext cx="115854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A31A"/>
                </a:solidFill>
                <a:latin typeface="Liberation Sans"/>
              </a:rPr>
              <a:t>close_drawer</a:t>
            </a:r>
          </a:p>
        </p:txBody>
      </p:sp>
      <p:sp>
        <p:nvSpPr>
          <p:cNvPr id="549" name="plan_arg_7"/>
          <p:cNvSpPr txBox="1"/>
          <p:nvPr/>
        </p:nvSpPr>
        <p:spPr>
          <a:xfrm>
            <a:off x="7136891" y="6381597"/>
            <a:ext cx="672084" cy="1728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0589E"/>
                </a:solidFill>
                <a:latin typeface="Liberation Sans"/>
              </a:rPr>
              <a:t>(drawer)</a:t>
            </a:r>
          </a:p>
        </p:txBody>
      </p:sp>
      <p:sp>
        <p:nvSpPr>
          <p:cNvPr id="550" name="execution_panel"/>
          <p:cNvSpPr/>
          <p:nvPr/>
        </p:nvSpPr>
        <p:spPr>
          <a:xfrm>
            <a:off x="8244230" y="3782872"/>
            <a:ext cx="3968496" cy="3008376"/>
          </a:xfrm>
          <a:prstGeom prst="roundRect">
            <a:avLst>
              <a:gd name="adj" fmla="val 7872"/>
            </a:avLst>
          </a:prstGeom>
          <a:solidFill>
            <a:srgbClr val="FB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execution_title"/>
          <p:cNvSpPr txBox="1"/>
          <p:nvPr/>
        </p:nvSpPr>
        <p:spPr>
          <a:xfrm>
            <a:off x="9485985" y="3866083"/>
            <a:ext cx="1516989" cy="2944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7"/>
                </a:solidFill>
                <a:latin typeface="Liberation Sans"/>
              </a:rPr>
              <a:t>(f) Execution</a:t>
            </a:r>
          </a:p>
        </p:txBody>
      </p:sp>
      <p:pic>
        <p:nvPicPr>
          <p:cNvPr id="552" name="execution_frame_1_1" descr="exec_1_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5845" y="4211726"/>
            <a:ext cx="915314" cy="787298"/>
          </a:xfrm>
          <a:prstGeom prst="rect">
            <a:avLst/>
          </a:prstGeom>
        </p:spPr>
      </p:pic>
      <p:pic>
        <p:nvPicPr>
          <p:cNvPr id="553" name="execution_frame_1_2" descr="exec_1_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6763" y="4211726"/>
            <a:ext cx="908913" cy="787298"/>
          </a:xfrm>
          <a:prstGeom prst="rect">
            <a:avLst/>
          </a:prstGeom>
        </p:spPr>
      </p:pic>
      <p:pic>
        <p:nvPicPr>
          <p:cNvPr id="554" name="execution_frame_1_3" descr="exec_1_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4211726"/>
            <a:ext cx="902512" cy="787298"/>
          </a:xfrm>
          <a:prstGeom prst="rect">
            <a:avLst/>
          </a:prstGeom>
        </p:spPr>
      </p:pic>
      <p:pic>
        <p:nvPicPr>
          <p:cNvPr id="555" name="execution_frame_1_4" descr="exec_1_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69396" y="4211726"/>
            <a:ext cx="915314" cy="787298"/>
          </a:xfrm>
          <a:prstGeom prst="rect">
            <a:avLst/>
          </a:prstGeom>
        </p:spPr>
      </p:pic>
      <p:pic>
        <p:nvPicPr>
          <p:cNvPr id="556" name="execution_frame_2_1" descr="exec_2_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5845" y="5056632"/>
            <a:ext cx="915314" cy="787298"/>
          </a:xfrm>
          <a:prstGeom prst="rect">
            <a:avLst/>
          </a:prstGeom>
        </p:spPr>
      </p:pic>
      <p:pic>
        <p:nvPicPr>
          <p:cNvPr id="557" name="execution_frame_2_2" descr="exec_2_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06763" y="5056632"/>
            <a:ext cx="908913" cy="787298"/>
          </a:xfrm>
          <a:prstGeom prst="rect">
            <a:avLst/>
          </a:prstGeom>
        </p:spPr>
      </p:pic>
      <p:pic>
        <p:nvPicPr>
          <p:cNvPr id="558" name="execution_frame_2_3" descr="exec_2_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41280" y="5056632"/>
            <a:ext cx="902512" cy="787298"/>
          </a:xfrm>
          <a:prstGeom prst="rect">
            <a:avLst/>
          </a:prstGeom>
        </p:spPr>
      </p:pic>
      <p:pic>
        <p:nvPicPr>
          <p:cNvPr id="559" name="execution_frame_2_4" descr="exec_2_4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69396" y="5056632"/>
            <a:ext cx="915314" cy="787298"/>
          </a:xfrm>
          <a:prstGeom prst="rect">
            <a:avLst/>
          </a:prstGeom>
        </p:spPr>
      </p:pic>
      <p:pic>
        <p:nvPicPr>
          <p:cNvPr id="560" name="execution_frame_3_1" descr="exec_3_1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5845" y="5901537"/>
            <a:ext cx="915314" cy="787298"/>
          </a:xfrm>
          <a:prstGeom prst="rect">
            <a:avLst/>
          </a:prstGeom>
        </p:spPr>
      </p:pic>
      <p:pic>
        <p:nvPicPr>
          <p:cNvPr id="561" name="execution_frame_3_2" descr="exec_3_2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06763" y="5901537"/>
            <a:ext cx="908913" cy="787298"/>
          </a:xfrm>
          <a:prstGeom prst="rect">
            <a:avLst/>
          </a:prstGeom>
        </p:spPr>
      </p:pic>
      <p:pic>
        <p:nvPicPr>
          <p:cNvPr id="562" name="execution_frame_3_3" descr="exec_3_3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0" y="5901537"/>
            <a:ext cx="902512" cy="787298"/>
          </a:xfrm>
          <a:prstGeom prst="rect">
            <a:avLst/>
          </a:prstGeom>
        </p:spPr>
      </p:pic>
      <p:pic>
        <p:nvPicPr>
          <p:cNvPr id="563" name="execution_frame_3_4" descr="exec_3_4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69396" y="5901537"/>
            <a:ext cx="915314" cy="787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UniDomain Pretraining a Unified PDDL Domain from Real-World Demonstrations for Generalizable Robot Task Plan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289534" cy="6855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