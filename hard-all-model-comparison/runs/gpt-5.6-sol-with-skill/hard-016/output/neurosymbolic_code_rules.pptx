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422037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uter_board"/>
          <p:cNvSpPr/>
          <p:nvPr/>
        </p:nvSpPr>
        <p:spPr>
          <a:xfrm>
            <a:off x="25879" y="116456"/>
            <a:ext cx="12370279" cy="6793301"/>
          </a:xfrm>
          <a:prstGeom prst="roundRect">
            <a:avLst>
              <a:gd name="adj" fmla="val 3428"/>
            </a:avLst>
          </a:prstGeom>
          <a:solidFill>
            <a:srgbClr val="CCEC89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ain_title"/>
          <p:cNvSpPr txBox="1"/>
          <p:nvPr/>
        </p:nvSpPr>
        <p:spPr>
          <a:xfrm>
            <a:off x="3234905" y="181154"/>
            <a:ext cx="5952226" cy="3364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7" b="1" i="0">
                <a:solidFill>
                  <a:srgbClr val="000000"/>
                </a:solidFill>
                <a:latin typeface="Liberation Sans"/>
              </a:rPr>
              <a:t>NeuroSymbolic Learning of Code Rules</a:t>
            </a:r>
          </a:p>
        </p:txBody>
      </p:sp>
      <p:sp>
        <p:nvSpPr>
          <p:cNvPr id="4" name="stage1_panel"/>
          <p:cNvSpPr/>
          <p:nvPr/>
        </p:nvSpPr>
        <p:spPr>
          <a:xfrm>
            <a:off x="148805" y="569343"/>
            <a:ext cx="3739550" cy="2587924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ge2_panel"/>
          <p:cNvSpPr/>
          <p:nvPr/>
        </p:nvSpPr>
        <p:spPr>
          <a:xfrm>
            <a:off x="4140679" y="569343"/>
            <a:ext cx="8197250" cy="2639683"/>
          </a:xfrm>
          <a:prstGeom prst="roundRect">
            <a:avLst>
              <a:gd name="adj" fmla="val 7352"/>
            </a:avLst>
          </a:prstGeom>
          <a:solidFill>
            <a:srgbClr val="E6E6E6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ge4_panel"/>
          <p:cNvSpPr/>
          <p:nvPr/>
        </p:nvSpPr>
        <p:spPr>
          <a:xfrm>
            <a:off x="148805" y="3312543"/>
            <a:ext cx="5350533" cy="3454879"/>
          </a:xfrm>
          <a:prstGeom prst="roundRect">
            <a:avLst>
              <a:gd name="adj" fmla="val 5617"/>
            </a:avLst>
          </a:prstGeom>
          <a:solidFill>
            <a:srgbClr val="FF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ge3_panel"/>
          <p:cNvSpPr/>
          <p:nvPr/>
        </p:nvSpPr>
        <p:spPr>
          <a:xfrm>
            <a:off x="5615796" y="3312543"/>
            <a:ext cx="6722133" cy="3454879"/>
          </a:xfrm>
          <a:prstGeom prst="roundRect">
            <a:avLst>
              <a:gd name="adj" fmla="val 4681"/>
            </a:avLst>
          </a:prstGeom>
          <a:solidFill>
            <a:srgbClr val="E6E6E6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ge1_title"/>
          <p:cNvSpPr txBox="1"/>
          <p:nvPr/>
        </p:nvSpPr>
        <p:spPr>
          <a:xfrm>
            <a:off x="297611" y="659920"/>
            <a:ext cx="3429000" cy="258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6" b="1" i="0">
                <a:solidFill>
                  <a:srgbClr val="000000"/>
                </a:solidFill>
                <a:latin typeface="Liberation Sans"/>
              </a:rPr>
              <a:t>Stage 1. Exploration of Trajectory Data</a:t>
            </a:r>
          </a:p>
        </p:txBody>
      </p:sp>
      <p:sp>
        <p:nvSpPr>
          <p:cNvPr id="9" name="real_lane"/>
          <p:cNvSpPr/>
          <p:nvPr/>
        </p:nvSpPr>
        <p:spPr>
          <a:xfrm>
            <a:off x="297611" y="1067518"/>
            <a:ext cx="3416060" cy="821666"/>
          </a:xfrm>
          <a:prstGeom prst="roundRect">
            <a:avLst>
              <a:gd name="adj" fmla="val 18897"/>
            </a:avLst>
          </a:prstGeom>
          <a:noFill/>
          <a:ln w="25879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ed_lane"/>
          <p:cNvSpPr/>
          <p:nvPr/>
        </p:nvSpPr>
        <p:spPr>
          <a:xfrm>
            <a:off x="297611" y="2199735"/>
            <a:ext cx="3416060" cy="834605"/>
          </a:xfrm>
          <a:prstGeom prst="roundRect">
            <a:avLst>
              <a:gd name="adj" fmla="val 18604"/>
            </a:avLst>
          </a:prstGeom>
          <a:noFill/>
          <a:ln w="25879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al_label"/>
          <p:cNvSpPr txBox="1"/>
          <p:nvPr/>
        </p:nvSpPr>
        <p:spPr>
          <a:xfrm>
            <a:off x="1261613" y="1041639"/>
            <a:ext cx="1520405" cy="2458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000000"/>
                </a:solidFill>
                <a:latin typeface="Liberation Sans"/>
              </a:rPr>
              <a:t>Real Trajectory</a:t>
            </a:r>
          </a:p>
        </p:txBody>
      </p:sp>
      <p:sp>
        <p:nvSpPr>
          <p:cNvPr id="12" name="pred_label"/>
          <p:cNvSpPr txBox="1"/>
          <p:nvPr/>
        </p:nvSpPr>
        <p:spPr>
          <a:xfrm>
            <a:off x="1041639" y="2736730"/>
            <a:ext cx="1824486" cy="258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000000"/>
                </a:solidFill>
                <a:latin typeface="Liberation Sans"/>
              </a:rPr>
              <a:t>Predicted Trajectory</a:t>
            </a:r>
          </a:p>
        </p:txBody>
      </p:sp>
      <p:sp>
        <p:nvSpPr>
          <p:cNvPr id="13" name="real_token_0_circle"/>
          <p:cNvSpPr/>
          <p:nvPr/>
        </p:nvSpPr>
        <p:spPr>
          <a:xfrm>
            <a:off x="355839" y="1358660"/>
            <a:ext cx="465826" cy="465826"/>
          </a:xfrm>
          <a:prstGeom prst="ellipse">
            <a:avLst/>
          </a:prstGeom>
          <a:solidFill>
            <a:srgbClr val="FF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al_token_0_label"/>
          <p:cNvSpPr txBox="1"/>
          <p:nvPr/>
        </p:nvSpPr>
        <p:spPr>
          <a:xfrm>
            <a:off x="342900" y="1423358"/>
            <a:ext cx="491705" cy="3364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3" b="0" i="1">
                <a:solidFill>
                  <a:srgbClr val="000000"/>
                </a:solidFill>
                <a:latin typeface="DejaVu Serif"/>
              </a:rPr>
              <a:t>a₀</a:t>
            </a:r>
          </a:p>
        </p:txBody>
      </p:sp>
      <p:sp>
        <p:nvSpPr>
          <p:cNvPr id="15" name="real_token_1_circle"/>
          <p:cNvSpPr/>
          <p:nvPr/>
        </p:nvSpPr>
        <p:spPr>
          <a:xfrm>
            <a:off x="996350" y="1358660"/>
            <a:ext cx="465826" cy="465826"/>
          </a:xfrm>
          <a:prstGeom prst="ellipse">
            <a:avLst/>
          </a:prstGeom>
          <a:solidFill>
            <a:srgbClr val="FF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al_token_1_label"/>
          <p:cNvSpPr txBox="1"/>
          <p:nvPr/>
        </p:nvSpPr>
        <p:spPr>
          <a:xfrm>
            <a:off x="983411" y="1423358"/>
            <a:ext cx="491705" cy="3364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3" b="0" i="1">
                <a:solidFill>
                  <a:srgbClr val="000000"/>
                </a:solidFill>
                <a:latin typeface="DejaVu Serif"/>
              </a:rPr>
              <a:t>o₁</a:t>
            </a:r>
          </a:p>
        </p:txBody>
      </p:sp>
      <p:sp>
        <p:nvSpPr>
          <p:cNvPr id="17" name="real_token_2_circle"/>
          <p:cNvSpPr/>
          <p:nvPr/>
        </p:nvSpPr>
        <p:spPr>
          <a:xfrm>
            <a:off x="1643332" y="1358660"/>
            <a:ext cx="465826" cy="465826"/>
          </a:xfrm>
          <a:prstGeom prst="ellipse">
            <a:avLst/>
          </a:prstGeom>
          <a:solidFill>
            <a:srgbClr val="FF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al_token_2_label"/>
          <p:cNvSpPr txBox="1"/>
          <p:nvPr/>
        </p:nvSpPr>
        <p:spPr>
          <a:xfrm>
            <a:off x="1630392" y="1423358"/>
            <a:ext cx="491705" cy="3364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3" b="0" i="1">
                <a:solidFill>
                  <a:srgbClr val="000000"/>
                </a:solidFill>
                <a:latin typeface="DejaVu Serif"/>
              </a:rPr>
              <a:t>a₁</a:t>
            </a:r>
          </a:p>
        </p:txBody>
      </p:sp>
      <p:sp>
        <p:nvSpPr>
          <p:cNvPr id="19" name="real_token_3_circle"/>
          <p:cNvSpPr/>
          <p:nvPr/>
        </p:nvSpPr>
        <p:spPr>
          <a:xfrm>
            <a:off x="2283843" y="1358660"/>
            <a:ext cx="465826" cy="465826"/>
          </a:xfrm>
          <a:prstGeom prst="ellipse">
            <a:avLst/>
          </a:prstGeom>
          <a:solidFill>
            <a:srgbClr val="FF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al_token_3_label"/>
          <p:cNvSpPr txBox="1"/>
          <p:nvPr/>
        </p:nvSpPr>
        <p:spPr>
          <a:xfrm>
            <a:off x="2270903" y="1423358"/>
            <a:ext cx="491705" cy="3364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3" b="0" i="1">
                <a:solidFill>
                  <a:srgbClr val="000000"/>
                </a:solidFill>
                <a:latin typeface="DejaVu Serif"/>
              </a:rPr>
              <a:t>o₂</a:t>
            </a:r>
          </a:p>
        </p:txBody>
      </p:sp>
      <p:sp>
        <p:nvSpPr>
          <p:cNvPr id="21" name="real_token_4_circle"/>
          <p:cNvSpPr/>
          <p:nvPr/>
        </p:nvSpPr>
        <p:spPr>
          <a:xfrm>
            <a:off x="3183147" y="1358660"/>
            <a:ext cx="465826" cy="465826"/>
          </a:xfrm>
          <a:prstGeom prst="ellipse">
            <a:avLst/>
          </a:prstGeom>
          <a:solidFill>
            <a:srgbClr val="FF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al_token_4_label"/>
          <p:cNvSpPr txBox="1"/>
          <p:nvPr/>
        </p:nvSpPr>
        <p:spPr>
          <a:xfrm>
            <a:off x="3170207" y="1423358"/>
            <a:ext cx="491705" cy="3364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3" b="0" i="1">
                <a:solidFill>
                  <a:srgbClr val="000000"/>
                </a:solidFill>
                <a:latin typeface="DejaVu Serif"/>
              </a:rPr>
              <a:t>oₜ</a:t>
            </a:r>
          </a:p>
        </p:txBody>
      </p:sp>
      <p:sp>
        <p:nvSpPr>
          <p:cNvPr id="23" name="pred_token_0_circle"/>
          <p:cNvSpPr/>
          <p:nvPr/>
        </p:nvSpPr>
        <p:spPr>
          <a:xfrm>
            <a:off x="355839" y="2277373"/>
            <a:ext cx="465826" cy="465826"/>
          </a:xfrm>
          <a:prstGeom prst="ellipse">
            <a:avLst/>
          </a:prstGeom>
          <a:solidFill>
            <a:srgbClr val="65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ed_token_0_label"/>
          <p:cNvSpPr txBox="1"/>
          <p:nvPr/>
        </p:nvSpPr>
        <p:spPr>
          <a:xfrm>
            <a:off x="342900" y="2342071"/>
            <a:ext cx="491705" cy="3364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3" b="0" i="1">
                <a:solidFill>
                  <a:srgbClr val="000000"/>
                </a:solidFill>
                <a:latin typeface="DejaVu Serif"/>
              </a:rPr>
              <a:t>â₀</a:t>
            </a:r>
          </a:p>
        </p:txBody>
      </p:sp>
      <p:sp>
        <p:nvSpPr>
          <p:cNvPr id="25" name="pred_token_1_circle"/>
          <p:cNvSpPr/>
          <p:nvPr/>
        </p:nvSpPr>
        <p:spPr>
          <a:xfrm>
            <a:off x="996350" y="2277373"/>
            <a:ext cx="465826" cy="465826"/>
          </a:xfrm>
          <a:prstGeom prst="ellipse">
            <a:avLst/>
          </a:prstGeom>
          <a:solidFill>
            <a:srgbClr val="65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red_token_1_label"/>
          <p:cNvSpPr txBox="1"/>
          <p:nvPr/>
        </p:nvSpPr>
        <p:spPr>
          <a:xfrm>
            <a:off x="983411" y="2342071"/>
            <a:ext cx="491705" cy="3364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3" b="0" i="1">
                <a:solidFill>
                  <a:srgbClr val="000000"/>
                </a:solidFill>
                <a:latin typeface="DejaVu Serif"/>
              </a:rPr>
              <a:t>ô₁</a:t>
            </a:r>
          </a:p>
        </p:txBody>
      </p:sp>
      <p:sp>
        <p:nvSpPr>
          <p:cNvPr id="27" name="pred_token_2_circle"/>
          <p:cNvSpPr/>
          <p:nvPr/>
        </p:nvSpPr>
        <p:spPr>
          <a:xfrm>
            <a:off x="1643332" y="2277373"/>
            <a:ext cx="465826" cy="465826"/>
          </a:xfrm>
          <a:prstGeom prst="ellipse">
            <a:avLst/>
          </a:prstGeom>
          <a:solidFill>
            <a:srgbClr val="FF67B4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red_token_2_label"/>
          <p:cNvSpPr txBox="1"/>
          <p:nvPr/>
        </p:nvSpPr>
        <p:spPr>
          <a:xfrm>
            <a:off x="1630392" y="2342071"/>
            <a:ext cx="491705" cy="3364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3" b="0" i="1">
                <a:solidFill>
                  <a:srgbClr val="000000"/>
                </a:solidFill>
                <a:latin typeface="DejaVu Serif"/>
              </a:rPr>
              <a:t>â₁</a:t>
            </a:r>
          </a:p>
        </p:txBody>
      </p:sp>
      <p:sp>
        <p:nvSpPr>
          <p:cNvPr id="29" name="pred_token_3_circle"/>
          <p:cNvSpPr/>
          <p:nvPr/>
        </p:nvSpPr>
        <p:spPr>
          <a:xfrm>
            <a:off x="2283843" y="2277373"/>
            <a:ext cx="465826" cy="465826"/>
          </a:xfrm>
          <a:prstGeom prst="ellipse">
            <a:avLst/>
          </a:prstGeom>
          <a:solidFill>
            <a:srgbClr val="FF67B4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red_token_3_label"/>
          <p:cNvSpPr txBox="1"/>
          <p:nvPr/>
        </p:nvSpPr>
        <p:spPr>
          <a:xfrm>
            <a:off x="2270903" y="2342071"/>
            <a:ext cx="491705" cy="3364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3" b="0" i="1">
                <a:solidFill>
                  <a:srgbClr val="000000"/>
                </a:solidFill>
                <a:latin typeface="DejaVu Serif"/>
              </a:rPr>
              <a:t>ô₂</a:t>
            </a:r>
          </a:p>
        </p:txBody>
      </p:sp>
      <p:sp>
        <p:nvSpPr>
          <p:cNvPr id="31" name="pred_token_4_circle"/>
          <p:cNvSpPr/>
          <p:nvPr/>
        </p:nvSpPr>
        <p:spPr>
          <a:xfrm>
            <a:off x="3183147" y="2277373"/>
            <a:ext cx="465826" cy="465826"/>
          </a:xfrm>
          <a:prstGeom prst="ellipse">
            <a:avLst/>
          </a:prstGeom>
          <a:solidFill>
            <a:srgbClr val="FF67B4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red_token_4_label"/>
          <p:cNvSpPr txBox="1"/>
          <p:nvPr/>
        </p:nvSpPr>
        <p:spPr>
          <a:xfrm>
            <a:off x="3170207" y="2342071"/>
            <a:ext cx="491705" cy="33643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3" b="0" i="1">
                <a:solidFill>
                  <a:srgbClr val="000000"/>
                </a:solidFill>
                <a:latin typeface="DejaVu Serif"/>
              </a:rPr>
              <a:t>ôₜ</a:t>
            </a:r>
          </a:p>
        </p:txBody>
      </p:sp>
      <p:sp>
        <p:nvSpPr>
          <p:cNvPr id="33" name="real_ellipsis"/>
          <p:cNvSpPr txBox="1"/>
          <p:nvPr/>
        </p:nvSpPr>
        <p:spPr>
          <a:xfrm>
            <a:off x="2788488" y="1410418"/>
            <a:ext cx="329960" cy="3234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35" b="1" i="0">
                <a:solidFill>
                  <a:srgbClr val="000000"/>
                </a:solidFill>
                <a:latin typeface="Liberation Sans"/>
              </a:rPr>
              <a:t>···</a:t>
            </a:r>
          </a:p>
        </p:txBody>
      </p:sp>
      <p:sp>
        <p:nvSpPr>
          <p:cNvPr id="34" name="pred_ellipsis"/>
          <p:cNvSpPr txBox="1"/>
          <p:nvPr/>
        </p:nvSpPr>
        <p:spPr>
          <a:xfrm>
            <a:off x="2788488" y="2329132"/>
            <a:ext cx="329960" cy="3234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35" b="1" i="0">
                <a:solidFill>
                  <a:srgbClr val="000000"/>
                </a:solidFill>
                <a:latin typeface="Liberation Sans"/>
              </a:rPr>
              <a:t>···</a:t>
            </a:r>
          </a:p>
        </p:txBody>
      </p:sp>
      <p:cxnSp>
        <p:nvCxnSpPr>
          <p:cNvPr id="35" name="match_arrow_shaft"/>
          <p:cNvCxnSpPr/>
          <p:nvPr/>
        </p:nvCxnSpPr>
        <p:spPr>
          <a:xfrm>
            <a:off x="1229264" y="1830956"/>
            <a:ext cx="0" cy="427008"/>
          </a:xfrm>
          <a:prstGeom prst="line">
            <a:avLst/>
          </a:prstGeom>
          <a:ln w="32349">
            <a:solidFill>
              <a:srgbClr val="00C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36" name="match_arrow_end"/>
          <p:cNvSpPr/>
          <p:nvPr/>
        </p:nvSpPr>
        <p:spPr>
          <a:xfrm>
            <a:off x="1171036" y="2167387"/>
            <a:ext cx="116457" cy="90577"/>
          </a:xfrm>
          <a:custGeom>
            <a:avLst/>
            <a:gdLst/>
            <a:ahLst/>
            <a:cxnLst/>
            <a:rect l="l" t="t" r="r" b="b"/>
            <a:pathLst>
              <a:path w="18" h="14">
                <a:moveTo>
                  <a:pt x="9" y="14"/>
                </a:moveTo>
                <a:lnTo>
                  <a:pt x="0" y="0"/>
                </a:lnTo>
                <a:lnTo>
                  <a:pt x="18" y="0"/>
                </a:lnTo>
                <a:close/>
              </a:path>
            </a:pathLst>
          </a:custGeom>
          <a:solidFill>
            <a:srgbClr val="00C500"/>
          </a:solidFill>
          <a:ln w="6469">
            <a:solidFill>
              <a:srgbClr val="00C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match_arrow_start"/>
          <p:cNvSpPr/>
          <p:nvPr/>
        </p:nvSpPr>
        <p:spPr>
          <a:xfrm>
            <a:off x="1171036" y="1830957"/>
            <a:ext cx="116457" cy="90577"/>
          </a:xfrm>
          <a:custGeom>
            <a:avLst/>
            <a:gdLst/>
            <a:ahLst/>
            <a:cxnLst/>
            <a:rect l="l" t="t" r="r" b="b"/>
            <a:pathLst>
              <a:path w="18" h="14">
                <a:moveTo>
                  <a:pt x="9" y="0"/>
                </a:moveTo>
                <a:lnTo>
                  <a:pt x="18" y="14"/>
                </a:lnTo>
                <a:lnTo>
                  <a:pt x="0" y="14"/>
                </a:lnTo>
                <a:close/>
              </a:path>
            </a:pathLst>
          </a:custGeom>
          <a:solidFill>
            <a:srgbClr val="00C500"/>
          </a:solidFill>
          <a:ln w="6469">
            <a:solidFill>
              <a:srgbClr val="00C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atch_check_box"/>
          <p:cNvSpPr/>
          <p:nvPr/>
        </p:nvSpPr>
        <p:spPr>
          <a:xfrm>
            <a:off x="1326311" y="1934473"/>
            <a:ext cx="174684" cy="174684"/>
          </a:xfrm>
          <a:prstGeom prst="roundRect">
            <a:avLst>
              <a:gd name="adj" fmla="val 14814"/>
            </a:avLst>
          </a:prstGeom>
          <a:solidFill>
            <a:srgbClr val="00C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match_check_short"/>
          <p:cNvCxnSpPr/>
          <p:nvPr/>
        </p:nvCxnSpPr>
        <p:spPr>
          <a:xfrm>
            <a:off x="1365130" y="2018581"/>
            <a:ext cx="38819" cy="38819"/>
          </a:xfrm>
          <a:prstGeom prst="line">
            <a:avLst/>
          </a:prstGeom>
          <a:ln w="2587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40" name="match_check_long"/>
          <p:cNvCxnSpPr/>
          <p:nvPr/>
        </p:nvCxnSpPr>
        <p:spPr>
          <a:xfrm flipV="1">
            <a:off x="1403949" y="1973292"/>
            <a:ext cx="64698" cy="84108"/>
          </a:xfrm>
          <a:prstGeom prst="line">
            <a:avLst/>
          </a:prstGeom>
          <a:ln w="25879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41" name="mismatch_arrow_0_shaft"/>
          <p:cNvCxnSpPr/>
          <p:nvPr/>
        </p:nvCxnSpPr>
        <p:spPr>
          <a:xfrm>
            <a:off x="2516756" y="1830956"/>
            <a:ext cx="0" cy="427008"/>
          </a:xfrm>
          <a:prstGeom prst="line">
            <a:avLst/>
          </a:prstGeom>
          <a:ln w="32349">
            <a:solidFill>
              <a:srgbClr val="E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42" name="mismatch_arrow_0_end"/>
          <p:cNvSpPr/>
          <p:nvPr/>
        </p:nvSpPr>
        <p:spPr>
          <a:xfrm>
            <a:off x="2458528" y="2167387"/>
            <a:ext cx="116457" cy="90577"/>
          </a:xfrm>
          <a:custGeom>
            <a:avLst/>
            <a:gdLst/>
            <a:ahLst/>
            <a:cxnLst/>
            <a:rect l="l" t="t" r="r" b="b"/>
            <a:pathLst>
              <a:path w="18" h="14">
                <a:moveTo>
                  <a:pt x="9" y="14"/>
                </a:moveTo>
                <a:lnTo>
                  <a:pt x="0" y="0"/>
                </a:lnTo>
                <a:lnTo>
                  <a:pt x="18" y="0"/>
                </a:lnTo>
                <a:close/>
              </a:path>
            </a:pathLst>
          </a:custGeom>
          <a:solidFill>
            <a:srgbClr val="E00000"/>
          </a:solidFill>
          <a:ln w="6469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ismatch_arrow_0_start"/>
          <p:cNvSpPr/>
          <p:nvPr/>
        </p:nvSpPr>
        <p:spPr>
          <a:xfrm>
            <a:off x="2458528" y="1830957"/>
            <a:ext cx="116457" cy="90577"/>
          </a:xfrm>
          <a:custGeom>
            <a:avLst/>
            <a:gdLst/>
            <a:ahLst/>
            <a:cxnLst/>
            <a:rect l="l" t="t" r="r" b="b"/>
            <a:pathLst>
              <a:path w="18" h="14">
                <a:moveTo>
                  <a:pt x="9" y="0"/>
                </a:moveTo>
                <a:lnTo>
                  <a:pt x="18" y="14"/>
                </a:lnTo>
                <a:lnTo>
                  <a:pt x="0" y="14"/>
                </a:lnTo>
                <a:close/>
              </a:path>
            </a:pathLst>
          </a:custGeom>
          <a:solidFill>
            <a:srgbClr val="E00000"/>
          </a:solidFill>
          <a:ln w="6469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ismatch_cross_0"/>
          <p:cNvSpPr txBox="1"/>
          <p:nvPr/>
        </p:nvSpPr>
        <p:spPr>
          <a:xfrm>
            <a:off x="2562045" y="1889184"/>
            <a:ext cx="271732" cy="2717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7" b="1" i="0">
                <a:solidFill>
                  <a:srgbClr val="E00000"/>
                </a:solidFill>
                <a:latin typeface="Liberation Sans"/>
              </a:rPr>
              <a:t>×</a:t>
            </a:r>
          </a:p>
        </p:txBody>
      </p:sp>
      <p:cxnSp>
        <p:nvCxnSpPr>
          <p:cNvPr id="45" name="mismatch_arrow_1_shaft"/>
          <p:cNvCxnSpPr/>
          <p:nvPr/>
        </p:nvCxnSpPr>
        <p:spPr>
          <a:xfrm>
            <a:off x="3416060" y="1830956"/>
            <a:ext cx="0" cy="427008"/>
          </a:xfrm>
          <a:prstGeom prst="line">
            <a:avLst/>
          </a:prstGeom>
          <a:ln w="32349">
            <a:solidFill>
              <a:srgbClr val="E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46" name="mismatch_arrow_1_end"/>
          <p:cNvSpPr/>
          <p:nvPr/>
        </p:nvSpPr>
        <p:spPr>
          <a:xfrm>
            <a:off x="3357832" y="2167387"/>
            <a:ext cx="116457" cy="90577"/>
          </a:xfrm>
          <a:custGeom>
            <a:avLst/>
            <a:gdLst/>
            <a:ahLst/>
            <a:cxnLst/>
            <a:rect l="l" t="t" r="r" b="b"/>
            <a:pathLst>
              <a:path w="18" h="14">
                <a:moveTo>
                  <a:pt x="9" y="14"/>
                </a:moveTo>
                <a:lnTo>
                  <a:pt x="0" y="0"/>
                </a:lnTo>
                <a:lnTo>
                  <a:pt x="18" y="0"/>
                </a:lnTo>
                <a:close/>
              </a:path>
            </a:pathLst>
          </a:custGeom>
          <a:solidFill>
            <a:srgbClr val="E00000"/>
          </a:solidFill>
          <a:ln w="6469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ismatch_arrow_1_start"/>
          <p:cNvSpPr/>
          <p:nvPr/>
        </p:nvSpPr>
        <p:spPr>
          <a:xfrm>
            <a:off x="3357832" y="1830957"/>
            <a:ext cx="116457" cy="90577"/>
          </a:xfrm>
          <a:custGeom>
            <a:avLst/>
            <a:gdLst/>
            <a:ahLst/>
            <a:cxnLst/>
            <a:rect l="l" t="t" r="r" b="b"/>
            <a:pathLst>
              <a:path w="18" h="14">
                <a:moveTo>
                  <a:pt x="9" y="0"/>
                </a:moveTo>
                <a:lnTo>
                  <a:pt x="18" y="14"/>
                </a:lnTo>
                <a:lnTo>
                  <a:pt x="0" y="14"/>
                </a:lnTo>
                <a:close/>
              </a:path>
            </a:pathLst>
          </a:custGeom>
          <a:solidFill>
            <a:srgbClr val="E00000"/>
          </a:solidFill>
          <a:ln w="6469">
            <a:solidFill>
              <a:srgbClr val="E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ismatch_cross_1"/>
          <p:cNvSpPr txBox="1"/>
          <p:nvPr/>
        </p:nvSpPr>
        <p:spPr>
          <a:xfrm>
            <a:off x="3461349" y="1889184"/>
            <a:ext cx="271732" cy="2717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37" b="1" i="0">
                <a:solidFill>
                  <a:srgbClr val="E00000"/>
                </a:solidFill>
                <a:latin typeface="Liberation Sans"/>
              </a:rPr>
              <a:t>×</a:t>
            </a:r>
          </a:p>
        </p:txBody>
      </p:sp>
      <p:sp>
        <p:nvSpPr>
          <p:cNvPr id="49" name="stage2_title"/>
          <p:cNvSpPr txBox="1"/>
          <p:nvPr/>
        </p:nvSpPr>
        <p:spPr>
          <a:xfrm>
            <a:off x="5538158" y="601692"/>
            <a:ext cx="5499339" cy="252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000000"/>
                </a:solidFill>
                <a:latin typeface="Liberation Sans"/>
              </a:rPr>
              <a:t>Stage 2. Learning Symbolic Knowledge</a:t>
            </a:r>
          </a:p>
        </p:txBody>
      </p:sp>
      <p:sp>
        <p:nvSpPr>
          <p:cNvPr id="50" name="real_trajectory_input"/>
          <p:cNvSpPr/>
          <p:nvPr/>
        </p:nvSpPr>
        <p:spPr>
          <a:xfrm>
            <a:off x="4237726" y="944592"/>
            <a:ext cx="5292305" cy="219973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879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bservation_input"/>
          <p:cNvSpPr/>
          <p:nvPr/>
        </p:nvSpPr>
        <p:spPr>
          <a:xfrm>
            <a:off x="9640018" y="944592"/>
            <a:ext cx="2587924" cy="219973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879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al_trajectory_text"/>
          <p:cNvSpPr txBox="1"/>
          <p:nvPr/>
        </p:nvSpPr>
        <p:spPr>
          <a:xfrm>
            <a:off x="4425350" y="912243"/>
            <a:ext cx="4917056" cy="2782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0" i="0">
                <a:solidFill>
                  <a:srgbClr val="000000"/>
                </a:solidFill>
                <a:latin typeface="DejaVu Serif"/>
              </a:rPr>
              <a:t>Real trajectory  t − k : t</a:t>
            </a:r>
          </a:p>
        </p:txBody>
      </p:sp>
      <p:sp>
        <p:nvSpPr>
          <p:cNvPr id="53" name="observation_text"/>
          <p:cNvSpPr txBox="1"/>
          <p:nvPr/>
        </p:nvSpPr>
        <p:spPr>
          <a:xfrm>
            <a:off x="9769415" y="912243"/>
            <a:ext cx="2329132" cy="2782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0" i="0">
                <a:solidFill>
                  <a:srgbClr val="000000"/>
                </a:solidFill>
                <a:latin typeface="DejaVu Serif"/>
              </a:rPr>
              <a:t>oₜ in the real trajectory</a:t>
            </a:r>
          </a:p>
        </p:txBody>
      </p:sp>
      <p:cxnSp>
        <p:nvCxnSpPr>
          <p:cNvPr id="54" name="input_to_llm"/>
          <p:cNvCxnSpPr/>
          <p:nvPr/>
        </p:nvCxnSpPr>
        <p:spPr>
          <a:xfrm>
            <a:off x="6890349" y="1164566"/>
            <a:ext cx="0" cy="168215"/>
          </a:xfrm>
          <a:prstGeom prst="line">
            <a:avLst/>
          </a:prstGeom>
          <a:ln w="2587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55" name="input_to_program"/>
          <p:cNvCxnSpPr/>
          <p:nvPr/>
        </p:nvCxnSpPr>
        <p:spPr>
          <a:xfrm>
            <a:off x="10921041" y="1164566"/>
            <a:ext cx="0" cy="168215"/>
          </a:xfrm>
          <a:prstGeom prst="line">
            <a:avLst/>
          </a:prstGeom>
          <a:ln w="2587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56" name="llm_stage2"/>
          <p:cNvSpPr/>
          <p:nvPr/>
        </p:nvSpPr>
        <p:spPr>
          <a:xfrm>
            <a:off x="4237726" y="1332781"/>
            <a:ext cx="5292305" cy="291141"/>
          </a:xfrm>
          <a:prstGeom prst="roundRect">
            <a:avLst>
              <a:gd name="adj" fmla="val 15555"/>
            </a:avLst>
          </a:prstGeom>
          <a:solidFill>
            <a:srgbClr val="FECCCB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program_stage2"/>
          <p:cNvSpPr/>
          <p:nvPr/>
        </p:nvSpPr>
        <p:spPr>
          <a:xfrm>
            <a:off x="9640018" y="1332781"/>
            <a:ext cx="2587924" cy="291141"/>
          </a:xfrm>
          <a:prstGeom prst="roundRect">
            <a:avLst>
              <a:gd name="adj" fmla="val 15555"/>
            </a:avLst>
          </a:prstGeom>
          <a:solidFill>
            <a:srgbClr val="E2D5E7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lm_stage2_label"/>
          <p:cNvSpPr txBox="1"/>
          <p:nvPr/>
        </p:nvSpPr>
        <p:spPr>
          <a:xfrm>
            <a:off x="4237726" y="1332781"/>
            <a:ext cx="5292305" cy="2911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8" b="0" i="0">
                <a:solidFill>
                  <a:srgbClr val="000000"/>
                </a:solidFill>
                <a:latin typeface="Liberation Sans"/>
              </a:rPr>
              <a:t>LLM</a:t>
            </a:r>
          </a:p>
        </p:txBody>
      </p:sp>
      <p:sp>
        <p:nvSpPr>
          <p:cNvPr id="59" name="program_stage2_label"/>
          <p:cNvSpPr txBox="1"/>
          <p:nvPr/>
        </p:nvSpPr>
        <p:spPr>
          <a:xfrm>
            <a:off x="9640018" y="1332781"/>
            <a:ext cx="2587924" cy="2911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8" b="0" i="0">
                <a:solidFill>
                  <a:srgbClr val="000000"/>
                </a:solidFill>
                <a:latin typeface="Liberation Sans"/>
              </a:rPr>
              <a:t>Program</a:t>
            </a:r>
          </a:p>
        </p:txBody>
      </p:sp>
      <p:cxnSp>
        <p:nvCxnSpPr>
          <p:cNvPr id="60" name="llm_to_rules_shaft"/>
          <p:cNvCxnSpPr/>
          <p:nvPr/>
        </p:nvCxnSpPr>
        <p:spPr>
          <a:xfrm>
            <a:off x="5531688" y="1623922"/>
            <a:ext cx="0" cy="187625"/>
          </a:xfrm>
          <a:prstGeom prst="line">
            <a:avLst/>
          </a:prstGeom>
          <a:ln w="2587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61" name="llm_to_rules_end"/>
          <p:cNvSpPr/>
          <p:nvPr/>
        </p:nvSpPr>
        <p:spPr>
          <a:xfrm>
            <a:off x="5479930" y="1727440"/>
            <a:ext cx="103517" cy="84108"/>
          </a:xfrm>
          <a:custGeom>
            <a:avLst/>
            <a:gdLst/>
            <a:ahLst/>
            <a:cxnLst/>
            <a:rect l="l" t="t" r="r" b="b"/>
            <a:pathLst>
              <a:path w="16" h="13">
                <a:moveTo>
                  <a:pt x="8" y="13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000000"/>
          </a:solidFill>
          <a:ln w="646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llm_to_kg_shaft"/>
          <p:cNvCxnSpPr/>
          <p:nvPr/>
        </p:nvCxnSpPr>
        <p:spPr>
          <a:xfrm>
            <a:off x="8229600" y="1623922"/>
            <a:ext cx="0" cy="187625"/>
          </a:xfrm>
          <a:prstGeom prst="line">
            <a:avLst/>
          </a:prstGeom>
          <a:ln w="2587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63" name="llm_to_kg_end"/>
          <p:cNvSpPr/>
          <p:nvPr/>
        </p:nvSpPr>
        <p:spPr>
          <a:xfrm>
            <a:off x="8177842" y="1727440"/>
            <a:ext cx="103517" cy="84108"/>
          </a:xfrm>
          <a:custGeom>
            <a:avLst/>
            <a:gdLst/>
            <a:ahLst/>
            <a:cxnLst/>
            <a:rect l="l" t="t" r="r" b="b"/>
            <a:pathLst>
              <a:path w="16" h="13">
                <a:moveTo>
                  <a:pt x="8" y="13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000000"/>
          </a:solidFill>
          <a:ln w="646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program_to_scene_shaft"/>
          <p:cNvCxnSpPr/>
          <p:nvPr/>
        </p:nvCxnSpPr>
        <p:spPr>
          <a:xfrm>
            <a:off x="10933981" y="1623922"/>
            <a:ext cx="0" cy="187625"/>
          </a:xfrm>
          <a:prstGeom prst="line">
            <a:avLst/>
          </a:prstGeom>
          <a:ln w="2587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65" name="program_to_scene_end"/>
          <p:cNvSpPr/>
          <p:nvPr/>
        </p:nvSpPr>
        <p:spPr>
          <a:xfrm>
            <a:off x="10882223" y="1727440"/>
            <a:ext cx="103517" cy="84108"/>
          </a:xfrm>
          <a:custGeom>
            <a:avLst/>
            <a:gdLst/>
            <a:ahLst/>
            <a:cxnLst/>
            <a:rect l="l" t="t" r="r" b="b"/>
            <a:pathLst>
              <a:path w="16" h="13">
                <a:moveTo>
                  <a:pt x="8" y="13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000000"/>
          </a:solidFill>
          <a:ln w="646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action_rules_card"/>
          <p:cNvSpPr/>
          <p:nvPr/>
        </p:nvSpPr>
        <p:spPr>
          <a:xfrm>
            <a:off x="4237726" y="1805077"/>
            <a:ext cx="2587924" cy="1306901"/>
          </a:xfrm>
          <a:prstGeom prst="roundRect">
            <a:avLst>
              <a:gd name="adj" fmla="val 8910"/>
            </a:avLst>
          </a:prstGeom>
          <a:solidFill>
            <a:srgbClr val="FF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knowledge_graph_card"/>
          <p:cNvSpPr/>
          <p:nvPr/>
        </p:nvSpPr>
        <p:spPr>
          <a:xfrm>
            <a:off x="6929167" y="1805077"/>
            <a:ext cx="2594394" cy="1306901"/>
          </a:xfrm>
          <a:prstGeom prst="roundRect">
            <a:avLst>
              <a:gd name="adj" fmla="val 8910"/>
            </a:avLst>
          </a:prstGeom>
          <a:solidFill>
            <a:srgbClr val="FF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cene_graph_card"/>
          <p:cNvSpPr/>
          <p:nvPr/>
        </p:nvSpPr>
        <p:spPr>
          <a:xfrm>
            <a:off x="9640018" y="1805077"/>
            <a:ext cx="2587924" cy="1306901"/>
          </a:xfrm>
          <a:prstGeom prst="roundRect">
            <a:avLst>
              <a:gd name="adj" fmla="val 8910"/>
            </a:avLst>
          </a:prstGeom>
          <a:solidFill>
            <a:srgbClr val="FF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ction_rules_title"/>
          <p:cNvSpPr txBox="1"/>
          <p:nvPr/>
        </p:nvSpPr>
        <p:spPr>
          <a:xfrm>
            <a:off x="4237726" y="1830956"/>
            <a:ext cx="2587924" cy="2070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000000"/>
                </a:solidFill>
                <a:latin typeface="Liberation Sans"/>
              </a:rPr>
              <a:t>Action Rules</a:t>
            </a:r>
          </a:p>
        </p:txBody>
      </p:sp>
      <p:sp>
        <p:nvSpPr>
          <p:cNvPr id="70" name="action_rule_line_0"/>
          <p:cNvSpPr txBox="1"/>
          <p:nvPr/>
        </p:nvSpPr>
        <p:spPr>
          <a:xfrm>
            <a:off x="4302424" y="2057400"/>
            <a:ext cx="2471467" cy="2183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Liberation Mono"/>
              </a:rPr>
              <a:t>1. For action 'craft',</a:t>
            </a:r>
          </a:p>
        </p:txBody>
      </p:sp>
      <p:sp>
        <p:nvSpPr>
          <p:cNvPr id="71" name="action_rule_line_1"/>
          <p:cNvSpPr txBox="1"/>
          <p:nvPr/>
        </p:nvSpPr>
        <p:spPr>
          <a:xfrm>
            <a:off x="4302424" y="2257964"/>
            <a:ext cx="2471467" cy="2183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Liberation Mono"/>
              </a:rPr>
              <a:t>if the player does not</a:t>
            </a:r>
          </a:p>
        </p:txBody>
      </p:sp>
      <p:sp>
        <p:nvSpPr>
          <p:cNvPr id="72" name="action_rule_line_2"/>
          <p:cNvSpPr txBox="1"/>
          <p:nvPr/>
        </p:nvSpPr>
        <p:spPr>
          <a:xfrm>
            <a:off x="4302424" y="2458528"/>
            <a:ext cx="2471467" cy="2183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Liberation Mono"/>
              </a:rPr>
              <a:t>have enough materials...</a:t>
            </a:r>
          </a:p>
        </p:txBody>
      </p:sp>
      <p:sp>
        <p:nvSpPr>
          <p:cNvPr id="73" name="action_rule_line_3"/>
          <p:cNvSpPr txBox="1"/>
          <p:nvPr/>
        </p:nvSpPr>
        <p:spPr>
          <a:xfrm>
            <a:off x="4302424" y="2659092"/>
            <a:ext cx="2471467" cy="2183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Liberation Mono"/>
              </a:rPr>
              <a:t>the action will fail</a:t>
            </a:r>
          </a:p>
        </p:txBody>
      </p:sp>
      <p:sp>
        <p:nvSpPr>
          <p:cNvPr id="74" name="action_rule_line_4"/>
          <p:cNvSpPr txBox="1"/>
          <p:nvPr/>
        </p:nvSpPr>
        <p:spPr>
          <a:xfrm>
            <a:off x="4302424" y="2859656"/>
            <a:ext cx="2471467" cy="2183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Liberation Mono"/>
              </a:rPr>
              <a:t>2. For action ...</a:t>
            </a:r>
          </a:p>
        </p:txBody>
      </p:sp>
      <p:sp>
        <p:nvSpPr>
          <p:cNvPr id="75" name="knowledge_graph_title"/>
          <p:cNvSpPr txBox="1"/>
          <p:nvPr/>
        </p:nvSpPr>
        <p:spPr>
          <a:xfrm>
            <a:off x="6929167" y="1830956"/>
            <a:ext cx="2594394" cy="2070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000000"/>
                </a:solidFill>
                <a:latin typeface="Liberation Sans"/>
              </a:rPr>
              <a:t>Knowledge Graph</a:t>
            </a:r>
          </a:p>
        </p:txBody>
      </p:sp>
      <p:cxnSp>
        <p:nvCxnSpPr>
          <p:cNvPr id="76" name="kg_edge_0_shaft"/>
          <p:cNvCxnSpPr/>
          <p:nvPr/>
        </p:nvCxnSpPr>
        <p:spPr>
          <a:xfrm>
            <a:off x="8048445" y="2251494"/>
            <a:ext cx="666390" cy="0"/>
          </a:xfrm>
          <a:prstGeom prst="line">
            <a:avLst/>
          </a:prstGeom>
          <a:ln w="1293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77" name="kg_edge_0_end"/>
          <p:cNvSpPr/>
          <p:nvPr/>
        </p:nvSpPr>
        <p:spPr>
          <a:xfrm>
            <a:off x="8669547" y="2225615"/>
            <a:ext cx="45289" cy="51758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7" y="4"/>
                </a:move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646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kg_edge_1_shaft"/>
          <p:cNvCxnSpPr/>
          <p:nvPr/>
        </p:nvCxnSpPr>
        <p:spPr>
          <a:xfrm flipH="1">
            <a:off x="7686135" y="2309722"/>
            <a:ext cx="265263" cy="129396"/>
          </a:xfrm>
          <a:prstGeom prst="line">
            <a:avLst/>
          </a:prstGeom>
          <a:ln w="1293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79" name="kg_edge_1_end"/>
          <p:cNvSpPr/>
          <p:nvPr/>
        </p:nvSpPr>
        <p:spPr>
          <a:xfrm>
            <a:off x="7686136" y="2393830"/>
            <a:ext cx="51758" cy="51758"/>
          </a:xfrm>
          <a:custGeom>
            <a:avLst/>
            <a:gdLst/>
            <a:ahLst/>
            <a:cxnLst/>
            <a:rect l="l" t="t" r="r" b="b"/>
            <a:pathLst>
              <a:path w="8" h="8">
                <a:moveTo>
                  <a:pt x="0" y="7"/>
                </a:moveTo>
                <a:lnTo>
                  <a:pt x="4" y="0"/>
                </a:lnTo>
                <a:lnTo>
                  <a:pt x="8" y="8"/>
                </a:lnTo>
                <a:close/>
              </a:path>
            </a:pathLst>
          </a:custGeom>
          <a:solidFill>
            <a:srgbClr val="000000"/>
          </a:solidFill>
          <a:ln w="646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kg_edge_2_shaft"/>
          <p:cNvCxnSpPr/>
          <p:nvPr/>
        </p:nvCxnSpPr>
        <p:spPr>
          <a:xfrm>
            <a:off x="7944928" y="2348541"/>
            <a:ext cx="291141" cy="181155"/>
          </a:xfrm>
          <a:prstGeom prst="line">
            <a:avLst/>
          </a:prstGeom>
          <a:ln w="1293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81" name="kg_edge_2_end"/>
          <p:cNvSpPr/>
          <p:nvPr/>
        </p:nvSpPr>
        <p:spPr>
          <a:xfrm>
            <a:off x="8184311" y="2484408"/>
            <a:ext cx="51758" cy="45289"/>
          </a:xfrm>
          <a:custGeom>
            <a:avLst/>
            <a:gdLst/>
            <a:ahLst/>
            <a:cxnLst/>
            <a:rect l="l" t="t" r="r" b="b"/>
            <a:pathLst>
              <a:path w="8" h="7">
                <a:moveTo>
                  <a:pt x="8" y="7"/>
                </a:moveTo>
                <a:lnTo>
                  <a:pt x="0" y="7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 w="646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kg_edge_3_shaft"/>
          <p:cNvCxnSpPr/>
          <p:nvPr/>
        </p:nvCxnSpPr>
        <p:spPr>
          <a:xfrm>
            <a:off x="7731424" y="2490877"/>
            <a:ext cx="498176" cy="25879"/>
          </a:xfrm>
          <a:prstGeom prst="line">
            <a:avLst/>
          </a:prstGeom>
          <a:ln w="1293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83" name="kg_edge_3_end"/>
          <p:cNvSpPr/>
          <p:nvPr/>
        </p:nvSpPr>
        <p:spPr>
          <a:xfrm>
            <a:off x="8184311" y="2484408"/>
            <a:ext cx="45289" cy="58228"/>
          </a:xfrm>
          <a:custGeom>
            <a:avLst/>
            <a:gdLst/>
            <a:ahLst/>
            <a:cxnLst/>
            <a:rect l="l" t="t" r="r" b="b"/>
            <a:pathLst>
              <a:path w="7" h="9">
                <a:moveTo>
                  <a:pt x="7" y="5"/>
                </a:moveTo>
                <a:lnTo>
                  <a:pt x="0" y="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646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kg_edge_4_shaft"/>
          <p:cNvCxnSpPr/>
          <p:nvPr/>
        </p:nvCxnSpPr>
        <p:spPr>
          <a:xfrm flipH="1">
            <a:off x="7699075" y="2316192"/>
            <a:ext cx="1015760" cy="252323"/>
          </a:xfrm>
          <a:prstGeom prst="line">
            <a:avLst/>
          </a:prstGeom>
          <a:ln w="1293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85" name="kg_edge_4_end"/>
          <p:cNvSpPr/>
          <p:nvPr/>
        </p:nvSpPr>
        <p:spPr>
          <a:xfrm>
            <a:off x="7699075" y="2529696"/>
            <a:ext cx="51758" cy="58228"/>
          </a:xfrm>
          <a:custGeom>
            <a:avLst/>
            <a:gdLst/>
            <a:ahLst/>
            <a:cxnLst/>
            <a:rect l="l" t="t" r="r" b="b"/>
            <a:pathLst>
              <a:path w="8" h="9">
                <a:moveTo>
                  <a:pt x="0" y="6"/>
                </a:moveTo>
                <a:lnTo>
                  <a:pt x="6" y="0"/>
                </a:lnTo>
                <a:lnTo>
                  <a:pt x="8" y="9"/>
                </a:lnTo>
                <a:close/>
              </a:path>
            </a:pathLst>
          </a:custGeom>
          <a:solidFill>
            <a:srgbClr val="000000"/>
          </a:solidFill>
          <a:ln w="646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kg_wood_top"/>
          <p:cNvSpPr/>
          <p:nvPr/>
        </p:nvSpPr>
        <p:spPr>
          <a:xfrm>
            <a:off x="7912579" y="2063870"/>
            <a:ext cx="271732" cy="135866"/>
          </a:xfrm>
          <a:custGeom>
            <a:avLst/>
            <a:gdLst/>
            <a:ahLst/>
            <a:cxnLst/>
            <a:rect l="l" t="t" r="r" b="b"/>
            <a:pathLst>
              <a:path w="42" h="21">
                <a:moveTo>
                  <a:pt x="0" y="11"/>
                </a:moveTo>
                <a:lnTo>
                  <a:pt x="21" y="0"/>
                </a:lnTo>
                <a:lnTo>
                  <a:pt x="42" y="11"/>
                </a:lnTo>
                <a:lnTo>
                  <a:pt x="21" y="21"/>
                </a:lnTo>
                <a:close/>
              </a:path>
            </a:pathLst>
          </a:custGeom>
          <a:solidFill>
            <a:srgbClr val="9A7340"/>
          </a:solidFill>
          <a:ln w="9704">
            <a:solidFill>
              <a:srgbClr val="5B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kg_wood_left"/>
          <p:cNvSpPr/>
          <p:nvPr/>
        </p:nvSpPr>
        <p:spPr>
          <a:xfrm>
            <a:off x="7912579" y="2135038"/>
            <a:ext cx="135866" cy="200564"/>
          </a:xfrm>
          <a:custGeom>
            <a:avLst/>
            <a:gdLst/>
            <a:ahLst/>
            <a:cxnLst/>
            <a:rect l="l" t="t" r="r" b="b"/>
            <a:pathLst>
              <a:path w="21" h="31">
                <a:moveTo>
                  <a:pt x="0" y="0"/>
                </a:moveTo>
                <a:lnTo>
                  <a:pt x="21" y="10"/>
                </a:lnTo>
                <a:lnTo>
                  <a:pt x="21" y="31"/>
                </a:lnTo>
                <a:lnTo>
                  <a:pt x="0" y="20"/>
                </a:lnTo>
                <a:close/>
              </a:path>
            </a:pathLst>
          </a:custGeom>
          <a:solidFill>
            <a:srgbClr val="6F502B"/>
          </a:solidFill>
          <a:ln w="9704">
            <a:solidFill>
              <a:srgbClr val="5B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kg_wood_right"/>
          <p:cNvSpPr/>
          <p:nvPr/>
        </p:nvSpPr>
        <p:spPr>
          <a:xfrm>
            <a:off x="8048445" y="2135038"/>
            <a:ext cx="135866" cy="200564"/>
          </a:xfrm>
          <a:custGeom>
            <a:avLst/>
            <a:gdLst/>
            <a:ahLst/>
            <a:cxnLst/>
            <a:rect l="l" t="t" r="r" b="b"/>
            <a:pathLst>
              <a:path w="21" h="31">
                <a:moveTo>
                  <a:pt x="0" y="10"/>
                </a:moveTo>
                <a:lnTo>
                  <a:pt x="21" y="0"/>
                </a:lnTo>
                <a:lnTo>
                  <a:pt x="21" y="20"/>
                </a:lnTo>
                <a:lnTo>
                  <a:pt x="0" y="31"/>
                </a:lnTo>
                <a:close/>
              </a:path>
            </a:pathLst>
          </a:custGeom>
          <a:solidFill>
            <a:srgbClr val="8C6533"/>
          </a:solidFill>
          <a:ln w="9704">
            <a:solidFill>
              <a:srgbClr val="5B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kg_wood_grain_0.18"/>
          <p:cNvCxnSpPr/>
          <p:nvPr/>
        </p:nvCxnSpPr>
        <p:spPr>
          <a:xfrm>
            <a:off x="7961491" y="2112781"/>
            <a:ext cx="0" cy="146735"/>
          </a:xfrm>
          <a:prstGeom prst="line">
            <a:avLst/>
          </a:prstGeom>
          <a:ln w="6469">
            <a:solidFill>
              <a:srgbClr val="4F3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90" name="kg_wood_grain_0.36"/>
          <p:cNvCxnSpPr/>
          <p:nvPr/>
        </p:nvCxnSpPr>
        <p:spPr>
          <a:xfrm>
            <a:off x="8010402" y="2112781"/>
            <a:ext cx="0" cy="146735"/>
          </a:xfrm>
          <a:prstGeom prst="line">
            <a:avLst/>
          </a:prstGeom>
          <a:ln w="6469">
            <a:solidFill>
              <a:srgbClr val="4F3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91" name="kg_wood_grain_0.66"/>
          <p:cNvCxnSpPr/>
          <p:nvPr/>
        </p:nvCxnSpPr>
        <p:spPr>
          <a:xfrm>
            <a:off x="8091922" y="2112781"/>
            <a:ext cx="0" cy="146735"/>
          </a:xfrm>
          <a:prstGeom prst="line">
            <a:avLst/>
          </a:prstGeom>
          <a:ln w="6469">
            <a:solidFill>
              <a:srgbClr val="4F3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92" name="kg_wood_grain_0.82"/>
          <p:cNvCxnSpPr/>
          <p:nvPr/>
        </p:nvCxnSpPr>
        <p:spPr>
          <a:xfrm>
            <a:off x="8135399" y="2112781"/>
            <a:ext cx="0" cy="146735"/>
          </a:xfrm>
          <a:prstGeom prst="line">
            <a:avLst/>
          </a:prstGeom>
          <a:ln w="6469">
            <a:solidFill>
              <a:srgbClr val="4F3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93" name="kg_table_top"/>
          <p:cNvSpPr/>
          <p:nvPr/>
        </p:nvSpPr>
        <p:spPr>
          <a:xfrm>
            <a:off x="8714836" y="2070340"/>
            <a:ext cx="284672" cy="142336"/>
          </a:xfrm>
          <a:custGeom>
            <a:avLst/>
            <a:gdLst/>
            <a:ahLst/>
            <a:cxnLst/>
            <a:rect l="l" t="t" r="r" b="b"/>
            <a:pathLst>
              <a:path w="44" h="22">
                <a:moveTo>
                  <a:pt x="0" y="11"/>
                </a:moveTo>
                <a:lnTo>
                  <a:pt x="22" y="0"/>
                </a:lnTo>
                <a:lnTo>
                  <a:pt x="44" y="11"/>
                </a:lnTo>
                <a:lnTo>
                  <a:pt x="22" y="22"/>
                </a:lnTo>
                <a:close/>
              </a:path>
            </a:pathLst>
          </a:custGeom>
          <a:solidFill>
            <a:srgbClr val="9C572C"/>
          </a:solidFill>
          <a:ln w="9704">
            <a:solidFill>
              <a:srgbClr val="5B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kg_table_left"/>
          <p:cNvSpPr/>
          <p:nvPr/>
        </p:nvSpPr>
        <p:spPr>
          <a:xfrm>
            <a:off x="8714836" y="2141508"/>
            <a:ext cx="142336" cy="213504"/>
          </a:xfrm>
          <a:custGeom>
            <a:avLst/>
            <a:gdLst/>
            <a:ahLst/>
            <a:cxnLst/>
            <a:rect l="l" t="t" r="r" b="b"/>
            <a:pathLst>
              <a:path w="22" h="33">
                <a:moveTo>
                  <a:pt x="0" y="0"/>
                </a:moveTo>
                <a:lnTo>
                  <a:pt x="22" y="11"/>
                </a:lnTo>
                <a:lnTo>
                  <a:pt x="22" y="33"/>
                </a:lnTo>
                <a:lnTo>
                  <a:pt x="0" y="22"/>
                </a:lnTo>
                <a:close/>
              </a:path>
            </a:pathLst>
          </a:custGeom>
          <a:solidFill>
            <a:srgbClr val="7D4C27"/>
          </a:solidFill>
          <a:ln w="9704">
            <a:solidFill>
              <a:srgbClr val="5B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kg_table_right"/>
          <p:cNvSpPr/>
          <p:nvPr/>
        </p:nvSpPr>
        <p:spPr>
          <a:xfrm>
            <a:off x="8857172" y="2141508"/>
            <a:ext cx="142336" cy="213504"/>
          </a:xfrm>
          <a:custGeom>
            <a:avLst/>
            <a:gdLst/>
            <a:ahLst/>
            <a:cxnLst/>
            <a:rect l="l" t="t" r="r" b="b"/>
            <a:pathLst>
              <a:path w="22" h="33">
                <a:moveTo>
                  <a:pt x="0" y="11"/>
                </a:moveTo>
                <a:lnTo>
                  <a:pt x="22" y="0"/>
                </a:lnTo>
                <a:lnTo>
                  <a:pt x="22" y="22"/>
                </a:lnTo>
                <a:lnTo>
                  <a:pt x="0" y="33"/>
                </a:lnTo>
                <a:close/>
              </a:path>
            </a:pathLst>
          </a:custGeom>
          <a:solidFill>
            <a:srgbClr val="5F3A20"/>
          </a:solidFill>
          <a:ln w="9704">
            <a:solidFill>
              <a:srgbClr val="5B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kg_table_grain_0.18"/>
          <p:cNvCxnSpPr/>
          <p:nvPr/>
        </p:nvCxnSpPr>
        <p:spPr>
          <a:xfrm>
            <a:off x="8766076" y="2121580"/>
            <a:ext cx="0" cy="153723"/>
          </a:xfrm>
          <a:prstGeom prst="line">
            <a:avLst/>
          </a:prstGeom>
          <a:ln w="6469">
            <a:solidFill>
              <a:srgbClr val="4F3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97" name="kg_table_grain_0.36"/>
          <p:cNvCxnSpPr/>
          <p:nvPr/>
        </p:nvCxnSpPr>
        <p:spPr>
          <a:xfrm>
            <a:off x="8817317" y="2121580"/>
            <a:ext cx="0" cy="153723"/>
          </a:xfrm>
          <a:prstGeom prst="line">
            <a:avLst/>
          </a:prstGeom>
          <a:ln w="6469">
            <a:solidFill>
              <a:srgbClr val="4F3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98" name="kg_table_grain_0.66"/>
          <p:cNvCxnSpPr/>
          <p:nvPr/>
        </p:nvCxnSpPr>
        <p:spPr>
          <a:xfrm>
            <a:off x="8902719" y="2121580"/>
            <a:ext cx="0" cy="153723"/>
          </a:xfrm>
          <a:prstGeom prst="line">
            <a:avLst/>
          </a:prstGeom>
          <a:ln w="6469">
            <a:solidFill>
              <a:srgbClr val="4F3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99" name="kg_table_grain_0.82"/>
          <p:cNvCxnSpPr/>
          <p:nvPr/>
        </p:nvCxnSpPr>
        <p:spPr>
          <a:xfrm>
            <a:off x="8948266" y="2121580"/>
            <a:ext cx="0" cy="153723"/>
          </a:xfrm>
          <a:prstGeom prst="line">
            <a:avLst/>
          </a:prstGeom>
          <a:ln w="6469">
            <a:solidFill>
              <a:srgbClr val="4F3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00" name="kg_pickaxe_handle"/>
          <p:cNvCxnSpPr/>
          <p:nvPr/>
        </p:nvCxnSpPr>
        <p:spPr>
          <a:xfrm flipV="1">
            <a:off x="7614967" y="2374420"/>
            <a:ext cx="239383" cy="265263"/>
          </a:xfrm>
          <a:prstGeom prst="line">
            <a:avLst/>
          </a:prstGeom>
          <a:ln w="45288">
            <a:solidFill>
              <a:srgbClr val="7A54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01" name="kg_pickaxe_head"/>
          <p:cNvCxnSpPr/>
          <p:nvPr/>
        </p:nvCxnSpPr>
        <p:spPr>
          <a:xfrm>
            <a:off x="7673196" y="2387360"/>
            <a:ext cx="200564" cy="32349"/>
          </a:xfrm>
          <a:prstGeom prst="line">
            <a:avLst/>
          </a:prstGeom>
          <a:ln w="45288">
            <a:solidFill>
              <a:srgbClr val="6D4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02" name="kg_pickaxe_head_left"/>
          <p:cNvCxnSpPr/>
          <p:nvPr/>
        </p:nvCxnSpPr>
        <p:spPr>
          <a:xfrm flipH="1">
            <a:off x="7595558" y="2400300"/>
            <a:ext cx="64698" cy="64698"/>
          </a:xfrm>
          <a:prstGeom prst="line">
            <a:avLst/>
          </a:prstGeom>
          <a:ln w="38818">
            <a:solidFill>
              <a:srgbClr val="6D4A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03" name="kg_stone_top"/>
          <p:cNvSpPr/>
          <p:nvPr/>
        </p:nvSpPr>
        <p:spPr>
          <a:xfrm>
            <a:off x="8210191" y="2400300"/>
            <a:ext cx="271732" cy="135866"/>
          </a:xfrm>
          <a:custGeom>
            <a:avLst/>
            <a:gdLst/>
            <a:ahLst/>
            <a:cxnLst/>
            <a:rect l="l" t="t" r="r" b="b"/>
            <a:pathLst>
              <a:path w="42" h="21">
                <a:moveTo>
                  <a:pt x="0" y="11"/>
                </a:moveTo>
                <a:lnTo>
                  <a:pt x="21" y="0"/>
                </a:lnTo>
                <a:lnTo>
                  <a:pt x="42" y="11"/>
                </a:lnTo>
                <a:lnTo>
                  <a:pt x="21" y="21"/>
                </a:lnTo>
                <a:close/>
              </a:path>
            </a:pathLst>
          </a:custGeom>
          <a:solidFill>
            <a:srgbClr val="8C9296"/>
          </a:solidFill>
          <a:ln w="9704">
            <a:solidFill>
              <a:srgbClr val="5B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kg_stone_left"/>
          <p:cNvSpPr/>
          <p:nvPr/>
        </p:nvSpPr>
        <p:spPr>
          <a:xfrm>
            <a:off x="8210191" y="2471468"/>
            <a:ext cx="135866" cy="200564"/>
          </a:xfrm>
          <a:custGeom>
            <a:avLst/>
            <a:gdLst/>
            <a:ahLst/>
            <a:cxnLst/>
            <a:rect l="l" t="t" r="r" b="b"/>
            <a:pathLst>
              <a:path w="21" h="31">
                <a:moveTo>
                  <a:pt x="0" y="0"/>
                </a:moveTo>
                <a:lnTo>
                  <a:pt x="21" y="10"/>
                </a:lnTo>
                <a:lnTo>
                  <a:pt x="21" y="31"/>
                </a:lnTo>
                <a:lnTo>
                  <a:pt x="0" y="20"/>
                </a:lnTo>
                <a:close/>
              </a:path>
            </a:pathLst>
          </a:custGeom>
          <a:solidFill>
            <a:srgbClr val="6D7477"/>
          </a:solidFill>
          <a:ln w="9704">
            <a:solidFill>
              <a:srgbClr val="5B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kg_stone_right"/>
          <p:cNvSpPr/>
          <p:nvPr/>
        </p:nvSpPr>
        <p:spPr>
          <a:xfrm>
            <a:off x="8346057" y="2471468"/>
            <a:ext cx="135866" cy="200564"/>
          </a:xfrm>
          <a:custGeom>
            <a:avLst/>
            <a:gdLst/>
            <a:ahLst/>
            <a:cxnLst/>
            <a:rect l="l" t="t" r="r" b="b"/>
            <a:pathLst>
              <a:path w="21" h="31">
                <a:moveTo>
                  <a:pt x="0" y="10"/>
                </a:moveTo>
                <a:lnTo>
                  <a:pt x="21" y="0"/>
                </a:lnTo>
                <a:lnTo>
                  <a:pt x="21" y="20"/>
                </a:lnTo>
                <a:lnTo>
                  <a:pt x="0" y="31"/>
                </a:lnTo>
                <a:close/>
              </a:path>
            </a:pathLst>
          </a:custGeom>
          <a:solidFill>
            <a:srgbClr val="7F8588"/>
          </a:solidFill>
          <a:ln w="9704">
            <a:solidFill>
              <a:srgbClr val="5B5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kg_stone_grain_0.18"/>
          <p:cNvCxnSpPr/>
          <p:nvPr/>
        </p:nvCxnSpPr>
        <p:spPr>
          <a:xfrm>
            <a:off x="8259102" y="2449211"/>
            <a:ext cx="0" cy="146736"/>
          </a:xfrm>
          <a:prstGeom prst="line">
            <a:avLst/>
          </a:prstGeom>
          <a:ln w="6469">
            <a:solidFill>
              <a:srgbClr val="4F3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07" name="kg_stone_grain_0.36"/>
          <p:cNvCxnSpPr/>
          <p:nvPr/>
        </p:nvCxnSpPr>
        <p:spPr>
          <a:xfrm>
            <a:off x="8308014" y="2449211"/>
            <a:ext cx="0" cy="146736"/>
          </a:xfrm>
          <a:prstGeom prst="line">
            <a:avLst/>
          </a:prstGeom>
          <a:ln w="6469">
            <a:solidFill>
              <a:srgbClr val="4F3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08" name="kg_stone_grain_0.66"/>
          <p:cNvCxnSpPr/>
          <p:nvPr/>
        </p:nvCxnSpPr>
        <p:spPr>
          <a:xfrm>
            <a:off x="8389533" y="2449211"/>
            <a:ext cx="0" cy="146736"/>
          </a:xfrm>
          <a:prstGeom prst="line">
            <a:avLst/>
          </a:prstGeom>
          <a:ln w="6469">
            <a:solidFill>
              <a:srgbClr val="4F3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09" name="kg_stone_grain_0.82"/>
          <p:cNvCxnSpPr/>
          <p:nvPr/>
        </p:nvCxnSpPr>
        <p:spPr>
          <a:xfrm>
            <a:off x="8433010" y="2449211"/>
            <a:ext cx="0" cy="146736"/>
          </a:xfrm>
          <a:prstGeom prst="line">
            <a:avLst/>
          </a:prstGeom>
          <a:ln w="6469">
            <a:solidFill>
              <a:srgbClr val="4F382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10" name="kg_nodes"/>
          <p:cNvSpPr txBox="1"/>
          <p:nvPr/>
        </p:nvSpPr>
        <p:spPr>
          <a:xfrm>
            <a:off x="6987396" y="2659092"/>
            <a:ext cx="2471467" cy="200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Liberation Mono"/>
              </a:rPr>
              <a:t>"nodes": [{"id":1,wood}...]</a:t>
            </a:r>
          </a:p>
        </p:txBody>
      </p:sp>
      <p:sp>
        <p:nvSpPr>
          <p:cNvPr id="111" name="kg_edges_text"/>
          <p:cNvSpPr txBox="1"/>
          <p:nvPr/>
        </p:nvSpPr>
        <p:spPr>
          <a:xfrm>
            <a:off x="6987396" y="2879066"/>
            <a:ext cx="2471467" cy="200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Liberation Mono"/>
              </a:rPr>
              <a:t>"edges": [(1,2),(2,3),...]</a:t>
            </a:r>
          </a:p>
        </p:txBody>
      </p:sp>
      <p:sp>
        <p:nvSpPr>
          <p:cNvPr id="112" name="scene_graph_title"/>
          <p:cNvSpPr txBox="1"/>
          <p:nvPr/>
        </p:nvSpPr>
        <p:spPr>
          <a:xfrm>
            <a:off x="9640018" y="1830956"/>
            <a:ext cx="2587924" cy="2070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000000"/>
                </a:solidFill>
                <a:latin typeface="Liberation Sans"/>
              </a:rPr>
              <a:t>Scene Graph</a:t>
            </a:r>
          </a:p>
        </p:txBody>
      </p:sp>
      <p:cxnSp>
        <p:nvCxnSpPr>
          <p:cNvPr id="113" name="scene_edge_0"/>
          <p:cNvCxnSpPr/>
          <p:nvPr/>
        </p:nvCxnSpPr>
        <p:spPr>
          <a:xfrm>
            <a:off x="10500503" y="2154447"/>
            <a:ext cx="996351" cy="45288"/>
          </a:xfrm>
          <a:prstGeom prst="line">
            <a:avLst/>
          </a:prstGeom>
          <a:ln w="25879">
            <a:solidFill>
              <a:srgbClr val="A6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14" name="scene_edge_1"/>
          <p:cNvCxnSpPr/>
          <p:nvPr/>
        </p:nvCxnSpPr>
        <p:spPr>
          <a:xfrm flipH="1">
            <a:off x="10073496" y="2212675"/>
            <a:ext cx="427007" cy="258792"/>
          </a:xfrm>
          <a:prstGeom prst="line">
            <a:avLst/>
          </a:prstGeom>
          <a:ln w="25879">
            <a:solidFill>
              <a:srgbClr val="A7C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15" name="scene_edge_2"/>
          <p:cNvCxnSpPr/>
          <p:nvPr/>
        </p:nvCxnSpPr>
        <p:spPr>
          <a:xfrm>
            <a:off x="10500503" y="2212675"/>
            <a:ext cx="291142" cy="258792"/>
          </a:xfrm>
          <a:prstGeom prst="line">
            <a:avLst/>
          </a:prstGeom>
          <a:ln w="25879">
            <a:solidFill>
              <a:srgbClr val="A7C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16" name="scene_edge_3"/>
          <p:cNvCxnSpPr/>
          <p:nvPr/>
        </p:nvCxnSpPr>
        <p:spPr>
          <a:xfrm>
            <a:off x="11496854" y="2251494"/>
            <a:ext cx="278202" cy="219973"/>
          </a:xfrm>
          <a:prstGeom prst="line">
            <a:avLst/>
          </a:prstGeom>
          <a:ln w="25879">
            <a:solidFill>
              <a:srgbClr val="A7C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17" name="plains_pill"/>
          <p:cNvSpPr/>
          <p:nvPr/>
        </p:nvSpPr>
        <p:spPr>
          <a:xfrm>
            <a:off x="10164073" y="2044460"/>
            <a:ext cx="672860" cy="219973"/>
          </a:xfrm>
          <a:prstGeom prst="roundRect">
            <a:avLst>
              <a:gd name="adj" fmla="val 49000"/>
            </a:avLst>
          </a:prstGeom>
          <a:solidFill>
            <a:srgbClr val="A6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plains_text"/>
          <p:cNvSpPr txBox="1"/>
          <p:nvPr/>
        </p:nvSpPr>
        <p:spPr>
          <a:xfrm>
            <a:off x="10164073" y="2037990"/>
            <a:ext cx="672860" cy="23291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0" i="0">
                <a:solidFill>
                  <a:srgbClr val="FFFFFF"/>
                </a:solidFill>
                <a:latin typeface="Liberation Sans"/>
              </a:rPr>
              <a:t>plains</a:t>
            </a:r>
          </a:p>
        </p:txBody>
      </p:sp>
      <p:sp>
        <p:nvSpPr>
          <p:cNvPr id="119" name="desert_pill"/>
          <p:cNvSpPr/>
          <p:nvPr/>
        </p:nvSpPr>
        <p:spPr>
          <a:xfrm>
            <a:off x="11179833" y="2044460"/>
            <a:ext cx="640511" cy="219973"/>
          </a:xfrm>
          <a:prstGeom prst="roundRect">
            <a:avLst>
              <a:gd name="adj" fmla="val 49000"/>
            </a:avLst>
          </a:prstGeom>
          <a:solidFill>
            <a:srgbClr val="A68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desert_text"/>
          <p:cNvSpPr txBox="1"/>
          <p:nvPr/>
        </p:nvSpPr>
        <p:spPr>
          <a:xfrm>
            <a:off x="11179833" y="2037990"/>
            <a:ext cx="640511" cy="23291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0" i="0">
                <a:solidFill>
                  <a:srgbClr val="FFFFFF"/>
                </a:solidFill>
                <a:latin typeface="Liberation Sans"/>
              </a:rPr>
              <a:t>desert</a:t>
            </a:r>
          </a:p>
        </p:txBody>
      </p:sp>
      <p:sp>
        <p:nvSpPr>
          <p:cNvPr id="121" name="sheep_pill"/>
          <p:cNvSpPr/>
          <p:nvPr/>
        </p:nvSpPr>
        <p:spPr>
          <a:xfrm>
            <a:off x="9821173" y="2374420"/>
            <a:ext cx="653450" cy="219973"/>
          </a:xfrm>
          <a:prstGeom prst="roundRect">
            <a:avLst>
              <a:gd name="adj" fmla="val 49000"/>
            </a:avLst>
          </a:prstGeom>
          <a:solidFill>
            <a:srgbClr val="A7C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heep_text"/>
          <p:cNvSpPr txBox="1"/>
          <p:nvPr/>
        </p:nvSpPr>
        <p:spPr>
          <a:xfrm>
            <a:off x="9821173" y="2367950"/>
            <a:ext cx="653450" cy="23291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0" i="0">
                <a:solidFill>
                  <a:srgbClr val="FFFFFF"/>
                </a:solidFill>
                <a:latin typeface="Liberation Sans"/>
              </a:rPr>
              <a:t>sheep</a:t>
            </a:r>
          </a:p>
        </p:txBody>
      </p:sp>
      <p:sp>
        <p:nvSpPr>
          <p:cNvPr id="123" name="zombie_pill"/>
          <p:cNvSpPr/>
          <p:nvPr/>
        </p:nvSpPr>
        <p:spPr>
          <a:xfrm>
            <a:off x="10591081" y="2374420"/>
            <a:ext cx="653450" cy="219973"/>
          </a:xfrm>
          <a:prstGeom prst="roundRect">
            <a:avLst>
              <a:gd name="adj" fmla="val 49000"/>
            </a:avLst>
          </a:prstGeom>
          <a:solidFill>
            <a:srgbClr val="A7C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zombie_text"/>
          <p:cNvSpPr txBox="1"/>
          <p:nvPr/>
        </p:nvSpPr>
        <p:spPr>
          <a:xfrm>
            <a:off x="10591081" y="2367950"/>
            <a:ext cx="653450" cy="23291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0" i="0">
                <a:solidFill>
                  <a:srgbClr val="FFFFFF"/>
                </a:solidFill>
                <a:latin typeface="Liberation Sans"/>
              </a:rPr>
              <a:t>zombie</a:t>
            </a:r>
          </a:p>
        </p:txBody>
      </p:sp>
      <p:sp>
        <p:nvSpPr>
          <p:cNvPr id="125" name="sand_pill"/>
          <p:cNvSpPr/>
          <p:nvPr/>
        </p:nvSpPr>
        <p:spPr>
          <a:xfrm>
            <a:off x="11445096" y="2374420"/>
            <a:ext cx="653450" cy="219973"/>
          </a:xfrm>
          <a:prstGeom prst="roundRect">
            <a:avLst>
              <a:gd name="adj" fmla="val 49000"/>
            </a:avLst>
          </a:prstGeom>
          <a:solidFill>
            <a:srgbClr val="A7C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sand_text"/>
          <p:cNvSpPr txBox="1"/>
          <p:nvPr/>
        </p:nvSpPr>
        <p:spPr>
          <a:xfrm>
            <a:off x="11445096" y="2367950"/>
            <a:ext cx="653450" cy="23291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0" i="0">
                <a:solidFill>
                  <a:srgbClr val="FFFFFF"/>
                </a:solidFill>
                <a:latin typeface="Liberation Sans"/>
              </a:rPr>
              <a:t>sand</a:t>
            </a:r>
          </a:p>
        </p:txBody>
      </p:sp>
      <p:sp>
        <p:nvSpPr>
          <p:cNvPr id="127" name="scene_nodes"/>
          <p:cNvSpPr txBox="1"/>
          <p:nvPr/>
        </p:nvSpPr>
        <p:spPr>
          <a:xfrm>
            <a:off x="9704716" y="2665562"/>
            <a:ext cx="2471467" cy="200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Liberation Mono"/>
              </a:rPr>
              <a:t>"nodes": [{"id":1,plains}]</a:t>
            </a:r>
          </a:p>
        </p:txBody>
      </p:sp>
      <p:sp>
        <p:nvSpPr>
          <p:cNvPr id="128" name="scene_edges_text"/>
          <p:cNvSpPr txBox="1"/>
          <p:nvPr/>
        </p:nvSpPr>
        <p:spPr>
          <a:xfrm>
            <a:off x="9704716" y="2879066"/>
            <a:ext cx="2471467" cy="2008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1" b="1" i="0">
                <a:solidFill>
                  <a:srgbClr val="000000"/>
                </a:solidFill>
                <a:latin typeface="Liberation Mono"/>
              </a:rPr>
              <a:t>"edges": [(1,2),(2,3),...]</a:t>
            </a:r>
          </a:p>
        </p:txBody>
      </p:sp>
      <p:sp>
        <p:nvSpPr>
          <p:cNvPr id="129" name="stage3_title"/>
          <p:cNvSpPr txBox="1"/>
          <p:nvPr/>
        </p:nvSpPr>
        <p:spPr>
          <a:xfrm>
            <a:off x="6760952" y="3370771"/>
            <a:ext cx="4464169" cy="258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000000"/>
                </a:solidFill>
                <a:latin typeface="Liberation Sans"/>
              </a:rPr>
              <a:t>Stage 3. Translating Symbolic Knowledge to Code</a:t>
            </a:r>
          </a:p>
        </p:txBody>
      </p:sp>
      <p:sp>
        <p:nvSpPr>
          <p:cNvPr id="130" name="prompt_card"/>
          <p:cNvSpPr/>
          <p:nvPr/>
        </p:nvSpPr>
        <p:spPr>
          <a:xfrm>
            <a:off x="5900467" y="3636033"/>
            <a:ext cx="6172200" cy="957532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prompt_highlight_0"/>
          <p:cNvSpPr/>
          <p:nvPr/>
        </p:nvSpPr>
        <p:spPr>
          <a:xfrm>
            <a:off x="6165730" y="3700732"/>
            <a:ext cx="601692" cy="194094"/>
          </a:xfrm>
          <a:prstGeom prst="rect">
            <a:avLst/>
          </a:prstGeom>
          <a:solidFill>
            <a:srgbClr val="FFC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prompt_highlight_1"/>
          <p:cNvSpPr/>
          <p:nvPr/>
        </p:nvSpPr>
        <p:spPr>
          <a:xfrm>
            <a:off x="10138194" y="3700732"/>
            <a:ext cx="1520405" cy="194094"/>
          </a:xfrm>
          <a:prstGeom prst="rect">
            <a:avLst/>
          </a:prstGeom>
          <a:solidFill>
            <a:srgbClr val="FFC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prompt_highlight_2"/>
          <p:cNvSpPr/>
          <p:nvPr/>
        </p:nvSpPr>
        <p:spPr>
          <a:xfrm>
            <a:off x="6165730" y="4302424"/>
            <a:ext cx="536994" cy="194094"/>
          </a:xfrm>
          <a:prstGeom prst="rect">
            <a:avLst/>
          </a:prstGeom>
          <a:solidFill>
            <a:srgbClr val="FFC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prompt_highlight_3"/>
          <p:cNvSpPr/>
          <p:nvPr/>
        </p:nvSpPr>
        <p:spPr>
          <a:xfrm>
            <a:off x="6987396" y="4302424"/>
            <a:ext cx="1332781" cy="194094"/>
          </a:xfrm>
          <a:prstGeom prst="rect">
            <a:avLst/>
          </a:prstGeom>
          <a:solidFill>
            <a:srgbClr val="FFC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prompt_highlight_4"/>
          <p:cNvSpPr/>
          <p:nvPr/>
        </p:nvSpPr>
        <p:spPr>
          <a:xfrm>
            <a:off x="8514271" y="4302424"/>
            <a:ext cx="1526875" cy="194094"/>
          </a:xfrm>
          <a:prstGeom prst="rect">
            <a:avLst/>
          </a:prstGeom>
          <a:solidFill>
            <a:srgbClr val="FFC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prompt_highlight_5"/>
          <p:cNvSpPr/>
          <p:nvPr/>
        </p:nvSpPr>
        <p:spPr>
          <a:xfrm>
            <a:off x="10235241" y="4302424"/>
            <a:ext cx="1429828" cy="194094"/>
          </a:xfrm>
          <a:prstGeom prst="rect">
            <a:avLst/>
          </a:prstGeom>
          <a:solidFill>
            <a:srgbClr val="FFC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prompt_line_0"/>
          <p:cNvSpPr txBox="1"/>
          <p:nvPr/>
        </p:nvSpPr>
        <p:spPr>
          <a:xfrm>
            <a:off x="6165730" y="3707201"/>
            <a:ext cx="5596386" cy="2183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Liberation Mono"/>
              </a:rPr>
              <a:t>Prompt: Implement the learned rules in Python function</a:t>
            </a:r>
          </a:p>
        </p:txBody>
      </p:sp>
      <p:sp>
        <p:nvSpPr>
          <p:cNvPr id="138" name="prompt_line_1"/>
          <p:cNvSpPr txBox="1"/>
          <p:nvPr/>
        </p:nvSpPr>
        <p:spPr>
          <a:xfrm>
            <a:off x="6165730" y="3907766"/>
            <a:ext cx="5596386" cy="2183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Liberation Mono"/>
              </a:rPr>
              <a:t>to evaluate a observation and action, optionally using</a:t>
            </a:r>
          </a:p>
        </p:txBody>
      </p:sp>
      <p:sp>
        <p:nvSpPr>
          <p:cNvPr id="139" name="prompt_line_2"/>
          <p:cNvSpPr txBox="1"/>
          <p:nvPr/>
        </p:nvSpPr>
        <p:spPr>
          <a:xfrm>
            <a:off x="6165730" y="4108330"/>
            <a:ext cx="5596386" cy="2183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Liberation Mono"/>
              </a:rPr>
              <a:t>the Knowledge Graph or Scene Graph as extra arguments.</a:t>
            </a:r>
          </a:p>
        </p:txBody>
      </p:sp>
      <p:sp>
        <p:nvSpPr>
          <p:cNvPr id="140" name="prompt_line_3"/>
          <p:cNvSpPr txBox="1"/>
          <p:nvPr/>
        </p:nvSpPr>
        <p:spPr>
          <a:xfrm>
            <a:off x="6165730" y="4308894"/>
            <a:ext cx="5596386" cy="2183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Liberation Mono"/>
              </a:rPr>
              <a:t>Input: [textual rules, knowledge_graph, scene_graph]</a:t>
            </a:r>
          </a:p>
        </p:txBody>
      </p:sp>
      <p:cxnSp>
        <p:nvCxnSpPr>
          <p:cNvPr id="141" name="prompt_to_llm"/>
          <p:cNvCxnSpPr/>
          <p:nvPr/>
        </p:nvCxnSpPr>
        <p:spPr>
          <a:xfrm>
            <a:off x="8993037" y="4593566"/>
            <a:ext cx="0" cy="103517"/>
          </a:xfrm>
          <a:prstGeom prst="line">
            <a:avLst/>
          </a:prstGeom>
          <a:ln w="2587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42" name="llm_stage3"/>
          <p:cNvSpPr/>
          <p:nvPr/>
        </p:nvSpPr>
        <p:spPr>
          <a:xfrm>
            <a:off x="5900467" y="4697083"/>
            <a:ext cx="6191609" cy="304081"/>
          </a:xfrm>
          <a:prstGeom prst="roundRect">
            <a:avLst>
              <a:gd name="adj" fmla="val 14893"/>
            </a:avLst>
          </a:prstGeom>
          <a:solidFill>
            <a:srgbClr val="FECCCB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llm_stage3_label"/>
          <p:cNvSpPr txBox="1"/>
          <p:nvPr/>
        </p:nvSpPr>
        <p:spPr>
          <a:xfrm>
            <a:off x="5900467" y="4697083"/>
            <a:ext cx="6191609" cy="3040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8" b="0" i="0">
                <a:solidFill>
                  <a:srgbClr val="000000"/>
                </a:solidFill>
                <a:latin typeface="Liberation Sans"/>
              </a:rPr>
              <a:t>LLM</a:t>
            </a:r>
          </a:p>
        </p:txBody>
      </p:sp>
      <p:cxnSp>
        <p:nvCxnSpPr>
          <p:cNvPr id="144" name="llm_to_output_shaft"/>
          <p:cNvCxnSpPr/>
          <p:nvPr/>
        </p:nvCxnSpPr>
        <p:spPr>
          <a:xfrm>
            <a:off x="8993037" y="5001164"/>
            <a:ext cx="0" cy="161745"/>
          </a:xfrm>
          <a:prstGeom prst="line">
            <a:avLst/>
          </a:prstGeom>
          <a:ln w="2587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45" name="llm_to_output_end"/>
          <p:cNvSpPr/>
          <p:nvPr/>
        </p:nvSpPr>
        <p:spPr>
          <a:xfrm>
            <a:off x="8941279" y="5078802"/>
            <a:ext cx="103517" cy="84108"/>
          </a:xfrm>
          <a:custGeom>
            <a:avLst/>
            <a:gdLst/>
            <a:ahLst/>
            <a:cxnLst/>
            <a:rect l="l" t="t" r="r" b="b"/>
            <a:pathLst>
              <a:path w="16" h="13">
                <a:moveTo>
                  <a:pt x="8" y="13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000000"/>
          </a:solidFill>
          <a:ln w="646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utput_card"/>
          <p:cNvSpPr/>
          <p:nvPr/>
        </p:nvSpPr>
        <p:spPr>
          <a:xfrm>
            <a:off x="5900467" y="5162909"/>
            <a:ext cx="6191609" cy="1500996"/>
          </a:xfrm>
          <a:prstGeom prst="roundRect">
            <a:avLst>
              <a:gd name="adj" fmla="val 7758"/>
            </a:avLst>
          </a:prstGeom>
          <a:solidFill>
            <a:srgbClr val="FFFFFF"/>
          </a:solidFill>
          <a:ln w="2587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code_highlight_0"/>
          <p:cNvSpPr/>
          <p:nvPr/>
        </p:nvSpPr>
        <p:spPr>
          <a:xfrm>
            <a:off x="6165730" y="5221137"/>
            <a:ext cx="562873" cy="194094"/>
          </a:xfrm>
          <a:prstGeom prst="rect">
            <a:avLst/>
          </a:prstGeom>
          <a:solidFill>
            <a:srgbClr val="FFC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code_highlight_1"/>
          <p:cNvSpPr/>
          <p:nvPr/>
        </p:nvSpPr>
        <p:spPr>
          <a:xfrm>
            <a:off x="6974456" y="5221137"/>
            <a:ext cx="938122" cy="194094"/>
          </a:xfrm>
          <a:prstGeom prst="rect">
            <a:avLst/>
          </a:prstGeom>
          <a:solidFill>
            <a:srgbClr val="CCEC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code_highlight_2"/>
          <p:cNvSpPr/>
          <p:nvPr/>
        </p:nvSpPr>
        <p:spPr>
          <a:xfrm>
            <a:off x="6165730" y="5428171"/>
            <a:ext cx="5402292" cy="194094"/>
          </a:xfrm>
          <a:prstGeom prst="rect">
            <a:avLst/>
          </a:prstGeom>
          <a:solidFill>
            <a:srgbClr val="CCEC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code_highlight_3"/>
          <p:cNvSpPr/>
          <p:nvPr/>
        </p:nvSpPr>
        <p:spPr>
          <a:xfrm>
            <a:off x="6165730" y="6049273"/>
            <a:ext cx="4981754" cy="194094"/>
          </a:xfrm>
          <a:prstGeom prst="rect">
            <a:avLst/>
          </a:prstGeom>
          <a:solidFill>
            <a:srgbClr val="CCEC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code_line_0"/>
          <p:cNvSpPr txBox="1"/>
          <p:nvPr/>
        </p:nvSpPr>
        <p:spPr>
          <a:xfrm>
            <a:off x="6165730" y="5234077"/>
            <a:ext cx="5693433" cy="209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Liberation Mono"/>
              </a:rPr>
              <a:t>Output: [code rules]</a:t>
            </a:r>
          </a:p>
        </p:txBody>
      </p:sp>
      <p:sp>
        <p:nvSpPr>
          <p:cNvPr id="152" name="code_line_1"/>
          <p:cNvSpPr txBox="1"/>
          <p:nvPr/>
        </p:nvSpPr>
        <p:spPr>
          <a:xfrm>
            <a:off x="6165730" y="5441111"/>
            <a:ext cx="5693433" cy="209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Liberation Mono"/>
              </a:rPr>
              <a:t>def CodeRule_0(observation, action, knowledge_graph):</a:t>
            </a:r>
          </a:p>
        </p:txBody>
      </p:sp>
      <p:sp>
        <p:nvSpPr>
          <p:cNvPr id="153" name="code_line_2"/>
          <p:cNvSpPr txBox="1"/>
          <p:nvPr/>
        </p:nvSpPr>
        <p:spPr>
          <a:xfrm>
            <a:off x="6165730" y="5661084"/>
            <a:ext cx="5693433" cy="209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Liberation Mono"/>
              </a:rPr>
              <a:t>    if state["inventory"].get(material, 0) &lt; quantity:</a:t>
            </a:r>
          </a:p>
        </p:txBody>
      </p:sp>
      <p:sp>
        <p:nvSpPr>
          <p:cNvPr id="154" name="code_line_3"/>
          <p:cNvSpPr txBox="1"/>
          <p:nvPr/>
        </p:nvSpPr>
        <p:spPr>
          <a:xfrm>
            <a:off x="6922698" y="5868118"/>
            <a:ext cx="4936466" cy="209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Liberation Mono"/>
              </a:rPr>
              <a:t>···</a:t>
            </a:r>
          </a:p>
        </p:txBody>
      </p:sp>
      <p:sp>
        <p:nvSpPr>
          <p:cNvPr id="155" name="code_line_4"/>
          <p:cNvSpPr txBox="1"/>
          <p:nvPr/>
        </p:nvSpPr>
        <p:spPr>
          <a:xfrm>
            <a:off x="6165730" y="6062213"/>
            <a:ext cx="5693433" cy="209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Liberation Mono"/>
              </a:rPr>
              <a:t>def CodeRule_i(observation, action, scene_graph):</a:t>
            </a:r>
          </a:p>
        </p:txBody>
      </p:sp>
      <p:sp>
        <p:nvSpPr>
          <p:cNvPr id="156" name="code_line_5"/>
          <p:cNvSpPr txBox="1"/>
          <p:nvPr/>
        </p:nvSpPr>
        <p:spPr>
          <a:xfrm>
            <a:off x="6165730" y="6269247"/>
            <a:ext cx="5693433" cy="209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Liberation Mono"/>
              </a:rPr>
              <a:t>    if "Unexplored" not in location_items:</a:t>
            </a:r>
          </a:p>
        </p:txBody>
      </p:sp>
      <p:sp>
        <p:nvSpPr>
          <p:cNvPr id="157" name="code_line_6"/>
          <p:cNvSpPr txBox="1"/>
          <p:nvPr/>
        </p:nvSpPr>
        <p:spPr>
          <a:xfrm>
            <a:off x="6922698" y="6476281"/>
            <a:ext cx="4936466" cy="2096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1" i="0">
                <a:solidFill>
                  <a:srgbClr val="000000"/>
                </a:solidFill>
                <a:latin typeface="Liberation Mono"/>
              </a:rPr>
              <a:t>···</a:t>
            </a:r>
          </a:p>
        </p:txBody>
      </p:sp>
      <p:sp>
        <p:nvSpPr>
          <p:cNvPr id="158" name="stage4_title"/>
          <p:cNvSpPr txBox="1"/>
          <p:nvPr/>
        </p:nvSpPr>
        <p:spPr>
          <a:xfrm>
            <a:off x="271732" y="3364301"/>
            <a:ext cx="5091741" cy="258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75" b="1" i="0">
                <a:solidFill>
                  <a:srgbClr val="000000"/>
                </a:solidFill>
                <a:latin typeface="Liberation Sans"/>
              </a:rPr>
              <a:t>Stage 4. Code Rule Set Pruning via Maximum Set Coverage</a:t>
            </a:r>
          </a:p>
        </p:txBody>
      </p:sp>
      <p:sp>
        <p:nvSpPr>
          <p:cNvPr id="159" name="coverage_rule_2"/>
          <p:cNvSpPr/>
          <p:nvPr/>
        </p:nvSpPr>
        <p:spPr>
          <a:xfrm rot="900000">
            <a:off x="349369" y="3765430"/>
            <a:ext cx="1720969" cy="2044460"/>
          </a:xfrm>
          <a:prstGeom prst="ellipse">
            <a:avLst/>
          </a:prstGeom>
          <a:solidFill>
            <a:srgbClr val="FED966"/>
          </a:solidFill>
          <a:ln w="25879">
            <a:solidFill>
              <a:srgbClr val="5B5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coverage_rule_1"/>
          <p:cNvSpPr/>
          <p:nvPr/>
        </p:nvSpPr>
        <p:spPr>
          <a:xfrm>
            <a:off x="2607334" y="3720142"/>
            <a:ext cx="2723791" cy="2154447"/>
          </a:xfrm>
          <a:custGeom>
            <a:avLst/>
            <a:gdLst/>
            <a:ahLst/>
            <a:cxnLst/>
            <a:rect l="l" t="t" r="r" b="b"/>
            <a:pathLst>
              <a:path w="421" h="333">
                <a:moveTo>
                  <a:pt x="52" y="8"/>
                </a:moveTo>
                <a:lnTo>
                  <a:pt x="117" y="0"/>
                </a:lnTo>
                <a:lnTo>
                  <a:pt x="190" y="16"/>
                </a:lnTo>
                <a:lnTo>
                  <a:pt x="257" y="43"/>
                </a:lnTo>
                <a:lnTo>
                  <a:pt x="321" y="78"/>
                </a:lnTo>
                <a:lnTo>
                  <a:pt x="373" y="128"/>
                </a:lnTo>
                <a:lnTo>
                  <a:pt x="407" y="187"/>
                </a:lnTo>
                <a:lnTo>
                  <a:pt x="421" y="244"/>
                </a:lnTo>
                <a:lnTo>
                  <a:pt x="410" y="290"/>
                </a:lnTo>
                <a:lnTo>
                  <a:pt x="378" y="320"/>
                </a:lnTo>
                <a:lnTo>
                  <a:pt x="325" y="333"/>
                </a:lnTo>
                <a:lnTo>
                  <a:pt x="266" y="326"/>
                </a:lnTo>
                <a:lnTo>
                  <a:pt x="208" y="308"/>
                </a:lnTo>
                <a:lnTo>
                  <a:pt x="149" y="277"/>
                </a:lnTo>
                <a:lnTo>
                  <a:pt x="97" y="240"/>
                </a:lnTo>
                <a:lnTo>
                  <a:pt x="50" y="199"/>
                </a:lnTo>
                <a:lnTo>
                  <a:pt x="17" y="155"/>
                </a:lnTo>
                <a:lnTo>
                  <a:pt x="0" y="107"/>
                </a:lnTo>
                <a:lnTo>
                  <a:pt x="0" y="63"/>
                </a:lnTo>
                <a:lnTo>
                  <a:pt x="17" y="29"/>
                </a:lnTo>
                <a:close/>
              </a:path>
            </a:pathLst>
          </a:custGeom>
          <a:solidFill>
            <a:srgbClr val="FED966"/>
          </a:solidFill>
          <a:ln w="25879">
            <a:solidFill>
              <a:srgbClr val="5B5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dropped_rule_0"/>
          <p:cNvSpPr/>
          <p:nvPr/>
        </p:nvSpPr>
        <p:spPr>
          <a:xfrm>
            <a:off x="3299603" y="4095390"/>
            <a:ext cx="1125747" cy="1145156"/>
          </a:xfrm>
          <a:prstGeom prst="ellipse">
            <a:avLst/>
          </a:prstGeom>
          <a:solidFill>
            <a:srgbClr val="E6E6E6"/>
          </a:solidFill>
          <a:ln w="25879">
            <a:solidFill>
              <a:srgbClr val="5B5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dropped_rule_i"/>
          <p:cNvSpPr/>
          <p:nvPr/>
        </p:nvSpPr>
        <p:spPr>
          <a:xfrm>
            <a:off x="1889184" y="5014103"/>
            <a:ext cx="1093398" cy="1099867"/>
          </a:xfrm>
          <a:prstGeom prst="ellipse">
            <a:avLst/>
          </a:prstGeom>
          <a:solidFill>
            <a:srgbClr val="E6E6E6"/>
          </a:solidFill>
          <a:ln w="25879">
            <a:solidFill>
              <a:srgbClr val="5B5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ule2_transition_0"/>
          <p:cNvSpPr/>
          <p:nvPr/>
        </p:nvSpPr>
        <p:spPr>
          <a:xfrm>
            <a:off x="750498" y="4114800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ule2_transition_1"/>
          <p:cNvSpPr/>
          <p:nvPr/>
        </p:nvSpPr>
        <p:spPr>
          <a:xfrm>
            <a:off x="1138686" y="3998343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ule2_transition_2"/>
          <p:cNvSpPr/>
          <p:nvPr/>
        </p:nvSpPr>
        <p:spPr>
          <a:xfrm>
            <a:off x="1397479" y="4224786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ule2_transition_3"/>
          <p:cNvSpPr/>
          <p:nvPr/>
        </p:nvSpPr>
        <p:spPr>
          <a:xfrm>
            <a:off x="653450" y="4502988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ule2_transition_4"/>
          <p:cNvSpPr/>
          <p:nvPr/>
        </p:nvSpPr>
        <p:spPr>
          <a:xfrm>
            <a:off x="1028700" y="4431820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ule2_transition_5"/>
          <p:cNvSpPr/>
          <p:nvPr/>
        </p:nvSpPr>
        <p:spPr>
          <a:xfrm>
            <a:off x="1662741" y="4502988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ule2_transition_6"/>
          <p:cNvSpPr/>
          <p:nvPr/>
        </p:nvSpPr>
        <p:spPr>
          <a:xfrm>
            <a:off x="821666" y="4710022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ule2_transition_7"/>
          <p:cNvSpPr/>
          <p:nvPr/>
        </p:nvSpPr>
        <p:spPr>
          <a:xfrm>
            <a:off x="1695090" y="4820009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ule2_transition_8"/>
          <p:cNvSpPr/>
          <p:nvPr/>
        </p:nvSpPr>
        <p:spPr>
          <a:xfrm>
            <a:off x="1636862" y="5065862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ule2_transition_9"/>
          <p:cNvSpPr/>
          <p:nvPr/>
        </p:nvSpPr>
        <p:spPr>
          <a:xfrm>
            <a:off x="1416888" y="5402292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ule2_transition_10"/>
          <p:cNvSpPr/>
          <p:nvPr/>
        </p:nvSpPr>
        <p:spPr>
          <a:xfrm>
            <a:off x="517584" y="4949405"/>
            <a:ext cx="155275" cy="155275"/>
          </a:xfrm>
          <a:prstGeom prst="ellipse">
            <a:avLst/>
          </a:prstGeom>
          <a:solidFill>
            <a:srgbClr val="65FFFF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ule2_transition_11"/>
          <p:cNvSpPr/>
          <p:nvPr/>
        </p:nvSpPr>
        <p:spPr>
          <a:xfrm>
            <a:off x="1248673" y="4625915"/>
            <a:ext cx="155275" cy="155275"/>
          </a:xfrm>
          <a:prstGeom prst="ellipse">
            <a:avLst/>
          </a:prstGeom>
          <a:solidFill>
            <a:srgbClr val="65FFFF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ule2_transition_12"/>
          <p:cNvSpPr/>
          <p:nvPr/>
        </p:nvSpPr>
        <p:spPr>
          <a:xfrm>
            <a:off x="899303" y="5454050"/>
            <a:ext cx="155275" cy="155275"/>
          </a:xfrm>
          <a:prstGeom prst="ellipse">
            <a:avLst/>
          </a:prstGeom>
          <a:solidFill>
            <a:srgbClr val="65FFFF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ule1_transition_0"/>
          <p:cNvSpPr/>
          <p:nvPr/>
        </p:nvSpPr>
        <p:spPr>
          <a:xfrm>
            <a:off x="2872596" y="4030692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ule1_transition_1"/>
          <p:cNvSpPr/>
          <p:nvPr/>
        </p:nvSpPr>
        <p:spPr>
          <a:xfrm>
            <a:off x="3247845" y="3965994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ule1_transition_2"/>
          <p:cNvSpPr/>
          <p:nvPr/>
        </p:nvSpPr>
        <p:spPr>
          <a:xfrm>
            <a:off x="3771900" y="3927175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ule1_transition_3"/>
          <p:cNvSpPr/>
          <p:nvPr/>
        </p:nvSpPr>
        <p:spPr>
          <a:xfrm>
            <a:off x="2827307" y="4425350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ule1_transition_4"/>
          <p:cNvSpPr/>
          <p:nvPr/>
        </p:nvSpPr>
        <p:spPr>
          <a:xfrm>
            <a:off x="3215496" y="4431820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ule1_transition_5"/>
          <p:cNvSpPr/>
          <p:nvPr/>
        </p:nvSpPr>
        <p:spPr>
          <a:xfrm>
            <a:off x="4697083" y="4328303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ule1_transition_6"/>
          <p:cNvSpPr/>
          <p:nvPr/>
        </p:nvSpPr>
        <p:spPr>
          <a:xfrm>
            <a:off x="2950233" y="4962345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ule1_transition_7"/>
          <p:cNvSpPr/>
          <p:nvPr/>
        </p:nvSpPr>
        <p:spPr>
          <a:xfrm>
            <a:off x="3409590" y="5182318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ule1_transition_8"/>
          <p:cNvSpPr/>
          <p:nvPr/>
        </p:nvSpPr>
        <p:spPr>
          <a:xfrm>
            <a:off x="4373592" y="5098211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ule1_transition_9"/>
          <p:cNvSpPr/>
          <p:nvPr/>
        </p:nvSpPr>
        <p:spPr>
          <a:xfrm>
            <a:off x="4981754" y="5344064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ule0_transition_0"/>
          <p:cNvSpPr/>
          <p:nvPr/>
        </p:nvSpPr>
        <p:spPr>
          <a:xfrm>
            <a:off x="3849537" y="4276545"/>
            <a:ext cx="155275" cy="155275"/>
          </a:xfrm>
          <a:prstGeom prst="ellipse">
            <a:avLst/>
          </a:prstGeom>
          <a:solidFill>
            <a:srgbClr val="65FFFF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ule0_transition_1"/>
          <p:cNvSpPr/>
          <p:nvPr/>
        </p:nvSpPr>
        <p:spPr>
          <a:xfrm>
            <a:off x="4205377" y="4425350"/>
            <a:ext cx="155275" cy="155275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ule0_transition_2"/>
          <p:cNvSpPr/>
          <p:nvPr/>
        </p:nvSpPr>
        <p:spPr>
          <a:xfrm>
            <a:off x="3616624" y="4923526"/>
            <a:ext cx="155275" cy="155275"/>
          </a:xfrm>
          <a:prstGeom prst="ellipse">
            <a:avLst/>
          </a:prstGeom>
          <a:solidFill>
            <a:srgbClr val="65FFFF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ule0_transition_3"/>
          <p:cNvSpPr/>
          <p:nvPr/>
        </p:nvSpPr>
        <p:spPr>
          <a:xfrm>
            <a:off x="3901296" y="4962345"/>
            <a:ext cx="155275" cy="155275"/>
          </a:xfrm>
          <a:prstGeom prst="ellipse">
            <a:avLst/>
          </a:prstGeom>
          <a:solidFill>
            <a:srgbClr val="65FFFF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ulei_transition_0"/>
          <p:cNvSpPr/>
          <p:nvPr/>
        </p:nvSpPr>
        <p:spPr>
          <a:xfrm>
            <a:off x="2380890" y="5137030"/>
            <a:ext cx="155275" cy="155275"/>
          </a:xfrm>
          <a:prstGeom prst="ellipse">
            <a:avLst/>
          </a:prstGeom>
          <a:solidFill>
            <a:srgbClr val="65FFFF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ulei_transition_1"/>
          <p:cNvSpPr/>
          <p:nvPr/>
        </p:nvSpPr>
        <p:spPr>
          <a:xfrm>
            <a:off x="2083279" y="5272896"/>
            <a:ext cx="155275" cy="155275"/>
          </a:xfrm>
          <a:prstGeom prst="ellipse">
            <a:avLst/>
          </a:prstGeom>
          <a:solidFill>
            <a:srgbClr val="65FFFF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ulei_transition_2"/>
          <p:cNvSpPr/>
          <p:nvPr/>
        </p:nvSpPr>
        <p:spPr>
          <a:xfrm>
            <a:off x="2626743" y="5350533"/>
            <a:ext cx="155275" cy="155275"/>
          </a:xfrm>
          <a:prstGeom prst="ellipse">
            <a:avLst/>
          </a:prstGeom>
          <a:solidFill>
            <a:srgbClr val="65FFFF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ulei_transition_3"/>
          <p:cNvSpPr/>
          <p:nvPr/>
        </p:nvSpPr>
        <p:spPr>
          <a:xfrm>
            <a:off x="2050930" y="5796950"/>
            <a:ext cx="155275" cy="155275"/>
          </a:xfrm>
          <a:prstGeom prst="ellipse">
            <a:avLst/>
          </a:prstGeom>
          <a:solidFill>
            <a:srgbClr val="65FFFF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ulei_transition_4"/>
          <p:cNvSpPr/>
          <p:nvPr/>
        </p:nvSpPr>
        <p:spPr>
          <a:xfrm>
            <a:off x="2452058" y="5777541"/>
            <a:ext cx="155275" cy="155275"/>
          </a:xfrm>
          <a:prstGeom prst="ellipse">
            <a:avLst/>
          </a:prstGeom>
          <a:solidFill>
            <a:srgbClr val="65FFFF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ule2_label"/>
          <p:cNvSpPr txBox="1"/>
          <p:nvPr/>
        </p:nvSpPr>
        <p:spPr>
          <a:xfrm>
            <a:off x="459356" y="5085271"/>
            <a:ext cx="1229264" cy="2264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0" i="0">
                <a:solidFill>
                  <a:srgbClr val="000000"/>
                </a:solidFill>
                <a:latin typeface="Liberation Sans"/>
              </a:rPr>
              <a:t>CodeRule_2</a:t>
            </a:r>
          </a:p>
        </p:txBody>
      </p:sp>
      <p:sp>
        <p:nvSpPr>
          <p:cNvPr id="196" name="rule1_label"/>
          <p:cNvSpPr txBox="1"/>
          <p:nvPr/>
        </p:nvSpPr>
        <p:spPr>
          <a:xfrm>
            <a:off x="3817188" y="5447581"/>
            <a:ext cx="1229264" cy="2264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0" i="0">
                <a:solidFill>
                  <a:srgbClr val="000000"/>
                </a:solidFill>
                <a:latin typeface="Liberation Sans"/>
              </a:rPr>
              <a:t>CodeRule_1</a:t>
            </a:r>
          </a:p>
        </p:txBody>
      </p:sp>
      <p:sp>
        <p:nvSpPr>
          <p:cNvPr id="197" name="rule0_label"/>
          <p:cNvSpPr txBox="1"/>
          <p:nvPr/>
        </p:nvSpPr>
        <p:spPr>
          <a:xfrm>
            <a:off x="3331952" y="4554747"/>
            <a:ext cx="1099867" cy="2458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000000"/>
                </a:solidFill>
                <a:latin typeface="Liberation Sans"/>
              </a:rPr>
              <a:t>CodeRule_0</a:t>
            </a:r>
          </a:p>
        </p:txBody>
      </p:sp>
      <p:sp>
        <p:nvSpPr>
          <p:cNvPr id="198" name="rulei_label"/>
          <p:cNvSpPr txBox="1"/>
          <p:nvPr/>
        </p:nvSpPr>
        <p:spPr>
          <a:xfrm>
            <a:off x="1876245" y="5473460"/>
            <a:ext cx="1099867" cy="2458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2" b="0" i="0">
                <a:solidFill>
                  <a:srgbClr val="000000"/>
                </a:solidFill>
                <a:latin typeface="Liberation Sans"/>
              </a:rPr>
              <a:t>CodeRule_i</a:t>
            </a:r>
          </a:p>
        </p:txBody>
      </p:sp>
      <p:sp>
        <p:nvSpPr>
          <p:cNvPr id="199" name="legend_selected"/>
          <p:cNvSpPr/>
          <p:nvPr/>
        </p:nvSpPr>
        <p:spPr>
          <a:xfrm>
            <a:off x="297611" y="6243367"/>
            <a:ext cx="174684" cy="174684"/>
          </a:xfrm>
          <a:prstGeom prst="ellipse">
            <a:avLst/>
          </a:prstGeom>
          <a:solidFill>
            <a:srgbClr val="FED966"/>
          </a:solidFill>
          <a:ln w="19409">
            <a:solidFill>
              <a:srgbClr val="5B5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legend_slash_1"/>
          <p:cNvSpPr txBox="1"/>
          <p:nvPr/>
        </p:nvSpPr>
        <p:spPr>
          <a:xfrm>
            <a:off x="485235" y="6217488"/>
            <a:ext cx="129396" cy="2005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000000"/>
                </a:solidFill>
                <a:latin typeface="Liberation Sans"/>
              </a:rPr>
              <a:t>/</a:t>
            </a:r>
          </a:p>
        </p:txBody>
      </p:sp>
      <p:sp>
        <p:nvSpPr>
          <p:cNvPr id="201" name="legend_dropped"/>
          <p:cNvSpPr/>
          <p:nvPr/>
        </p:nvSpPr>
        <p:spPr>
          <a:xfrm>
            <a:off x="627571" y="6243367"/>
            <a:ext cx="174684" cy="174684"/>
          </a:xfrm>
          <a:prstGeom prst="ellipse">
            <a:avLst/>
          </a:prstGeom>
          <a:solidFill>
            <a:srgbClr val="E6E6E6"/>
          </a:solidFill>
          <a:ln w="19409">
            <a:solidFill>
              <a:srgbClr val="5B5B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legend_regions_text"/>
          <p:cNvSpPr txBox="1"/>
          <p:nvPr/>
        </p:nvSpPr>
        <p:spPr>
          <a:xfrm>
            <a:off x="886364" y="6198079"/>
            <a:ext cx="4367122" cy="2329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Liberation Sans"/>
              </a:rPr>
              <a:t>Regions covered by selected/dropped CodeRules</a:t>
            </a:r>
          </a:p>
        </p:txBody>
      </p:sp>
      <p:sp>
        <p:nvSpPr>
          <p:cNvPr id="203" name="legend_predictable"/>
          <p:cNvSpPr/>
          <p:nvPr/>
        </p:nvSpPr>
        <p:spPr>
          <a:xfrm>
            <a:off x="291141" y="6534509"/>
            <a:ext cx="181154" cy="181154"/>
          </a:xfrm>
          <a:prstGeom prst="ellipse">
            <a:avLst/>
          </a:prstGeom>
          <a:solidFill>
            <a:srgbClr val="65FFFF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legend_slash_2"/>
          <p:cNvSpPr txBox="1"/>
          <p:nvPr/>
        </p:nvSpPr>
        <p:spPr>
          <a:xfrm>
            <a:off x="491705" y="6521569"/>
            <a:ext cx="129396" cy="2070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7" b="1" i="0">
                <a:solidFill>
                  <a:srgbClr val="000000"/>
                </a:solidFill>
                <a:latin typeface="Liberation Sans"/>
              </a:rPr>
              <a:t>/</a:t>
            </a:r>
          </a:p>
        </p:txBody>
      </p:sp>
      <p:sp>
        <p:nvSpPr>
          <p:cNvPr id="205" name="legend_unpredictable"/>
          <p:cNvSpPr/>
          <p:nvPr/>
        </p:nvSpPr>
        <p:spPr>
          <a:xfrm>
            <a:off x="627571" y="6534509"/>
            <a:ext cx="181154" cy="181154"/>
          </a:xfrm>
          <a:prstGeom prst="ellipse">
            <a:avLst/>
          </a:prstGeom>
          <a:solidFill>
            <a:srgbClr val="FF67B4"/>
          </a:solidFill>
          <a:ln w="19409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legend_transitions_text"/>
          <p:cNvSpPr txBox="1"/>
          <p:nvPr/>
        </p:nvSpPr>
        <p:spPr>
          <a:xfrm>
            <a:off x="886364" y="6476281"/>
            <a:ext cx="4367122" cy="2458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3" b="1" i="0">
                <a:solidFill>
                  <a:srgbClr val="000000"/>
                </a:solidFill>
                <a:latin typeface="Liberation Sans"/>
              </a:rPr>
              <a:t>Transitions can/cannot be predicted by world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WALL-E World Alignment by NeuroSymbolic Learning improves World Model-based LLM Agent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22037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