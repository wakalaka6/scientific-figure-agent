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84580" cy="6781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tasets.dataset-panel"/>
          <p:cNvSpPr/>
          <p:nvPr/>
        </p:nvSpPr>
        <p:spPr>
          <a:xfrm>
            <a:off x="91440" y="190500"/>
            <a:ext cx="3680460" cy="6111240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datasets.dataset-separator.1"/>
          <p:cNvCxnSpPr/>
          <p:nvPr/>
        </p:nvCxnSpPr>
        <p:spPr>
          <a:xfrm>
            <a:off x="99060" y="3489960"/>
            <a:ext cx="3665219" cy="0"/>
          </a:xfrm>
          <a:prstGeom prst="line">
            <a:avLst/>
          </a:prstGeom>
          <a:ln w="22859">
            <a:solidFill>
              <a:srgbClr val="000000"/>
            </a:solidFill>
            <a:prstDash val="sysDot"/>
          </a:ln>
          <a:effectLst/>
        </p:spPr>
      </p:cxnSp>
      <p:pic>
        <p:nvPicPr>
          <p:cNvPr id="4" name="datasets.raw-heatmap-stack" descr="heatmap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975360" cy="922020"/>
          </a:xfrm>
          <a:prstGeom prst="rect">
            <a:avLst/>
          </a:prstGeom>
          <a:effectLst/>
        </p:spPr>
      </p:pic>
      <p:cxnSp>
        <p:nvCxnSpPr>
          <p:cNvPr id="5" name="datasets.heatmap-conversion.1"/>
          <p:cNvCxnSpPr/>
          <p:nvPr/>
        </p:nvCxnSpPr>
        <p:spPr>
          <a:xfrm>
            <a:off x="1150620" y="807720"/>
            <a:ext cx="274320" cy="0"/>
          </a:xfrm>
          <a:prstGeom prst="line">
            <a:avLst/>
          </a:prstGeom>
          <a:ln w="129539">
            <a:solidFill>
              <a:srgbClr val="D9D9D9"/>
            </a:solidFill>
          </a:ln>
          <a:effectLst/>
        </p:spPr>
      </p:cxnSp>
      <p:sp>
        <p:nvSpPr>
          <p:cNvPr id="6" name="datasets.heatmap-conversion.arrowhead"/>
          <p:cNvSpPr/>
          <p:nvPr/>
        </p:nvSpPr>
        <p:spPr>
          <a:xfrm rot="5400000">
            <a:off x="1242060" y="716280"/>
            <a:ext cx="182880" cy="182880"/>
          </a:xfrm>
          <a:prstGeom prst="triangle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atasets.grid-field-222"/>
          <p:cNvSpPr/>
          <p:nvPr/>
        </p:nvSpPr>
        <p:spPr>
          <a:xfrm>
            <a:off x="1455420" y="350520"/>
            <a:ext cx="472440" cy="883920"/>
          </a:xfrm>
          <a:prstGeom prst="ellipse">
            <a:avLst/>
          </a:prstGeom>
          <a:solidFill>
            <a:srgbClr val="FFDF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atasets.grid-field-264"/>
          <p:cNvSpPr/>
          <p:nvPr/>
        </p:nvSpPr>
        <p:spPr>
          <a:xfrm>
            <a:off x="1775460" y="350520"/>
            <a:ext cx="472440" cy="883920"/>
          </a:xfrm>
          <a:prstGeom prst="ellipse">
            <a:avLst/>
          </a:prstGeom>
          <a:solidFill>
            <a:srgbClr val="FFDF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atasets.grid-field-307"/>
          <p:cNvSpPr/>
          <p:nvPr/>
        </p:nvSpPr>
        <p:spPr>
          <a:xfrm>
            <a:off x="2103120" y="350520"/>
            <a:ext cx="472440" cy="883920"/>
          </a:xfrm>
          <a:prstGeom prst="ellipse">
            <a:avLst/>
          </a:prstGeom>
          <a:solidFill>
            <a:srgbClr val="FFDF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atasets.grid-field-349"/>
          <p:cNvSpPr/>
          <p:nvPr/>
        </p:nvSpPr>
        <p:spPr>
          <a:xfrm>
            <a:off x="2423160" y="350520"/>
            <a:ext cx="472440" cy="883920"/>
          </a:xfrm>
          <a:prstGeom prst="ellipse">
            <a:avLst/>
          </a:prstGeom>
          <a:solidFill>
            <a:srgbClr val="FFDF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datasets.grid-row-63.1"/>
          <p:cNvCxnSpPr/>
          <p:nvPr/>
        </p:nvCxnSpPr>
        <p:spPr>
          <a:xfrm>
            <a:off x="1524000" y="480060"/>
            <a:ext cx="1287780" cy="0"/>
          </a:xfrm>
          <a:prstGeom prst="line">
            <a:avLst/>
          </a:prstGeom>
          <a:ln w="22859">
            <a:solidFill>
              <a:srgbClr val="2394CB"/>
            </a:solidFill>
          </a:ln>
          <a:effectLst/>
        </p:spPr>
      </p:cxnSp>
      <p:cxnSp>
        <p:nvCxnSpPr>
          <p:cNvPr id="12" name="datasets.grid-row-104.1"/>
          <p:cNvCxnSpPr/>
          <p:nvPr/>
        </p:nvCxnSpPr>
        <p:spPr>
          <a:xfrm>
            <a:off x="1524000" y="792480"/>
            <a:ext cx="1287780" cy="0"/>
          </a:xfrm>
          <a:prstGeom prst="line">
            <a:avLst/>
          </a:prstGeom>
          <a:ln w="22859">
            <a:solidFill>
              <a:srgbClr val="2394CB"/>
            </a:solidFill>
          </a:ln>
          <a:effectLst/>
        </p:spPr>
      </p:cxnSp>
      <p:cxnSp>
        <p:nvCxnSpPr>
          <p:cNvPr id="13" name="datasets.grid-row-145.1"/>
          <p:cNvCxnSpPr/>
          <p:nvPr/>
        </p:nvCxnSpPr>
        <p:spPr>
          <a:xfrm>
            <a:off x="1524000" y="1104900"/>
            <a:ext cx="1287780" cy="0"/>
          </a:xfrm>
          <a:prstGeom prst="line">
            <a:avLst/>
          </a:prstGeom>
          <a:ln w="22859">
            <a:solidFill>
              <a:srgbClr val="2394CB"/>
            </a:solidFill>
          </a:ln>
          <a:effectLst/>
        </p:spPr>
      </p:cxnSp>
      <p:cxnSp>
        <p:nvCxnSpPr>
          <p:cNvPr id="14" name="datasets.grid-column-222.1"/>
          <p:cNvCxnSpPr/>
          <p:nvPr/>
        </p:nvCxnSpPr>
        <p:spPr>
          <a:xfrm>
            <a:off x="1691640" y="365760"/>
            <a:ext cx="0" cy="868680"/>
          </a:xfrm>
          <a:prstGeom prst="line">
            <a:avLst/>
          </a:prstGeom>
          <a:ln w="22859">
            <a:solidFill>
              <a:srgbClr val="2394CB"/>
            </a:solidFill>
          </a:ln>
          <a:effectLst/>
        </p:spPr>
      </p:cxnSp>
      <p:sp>
        <p:nvSpPr>
          <p:cNvPr id="15" name="datasets.grid-node-222-63"/>
          <p:cNvSpPr/>
          <p:nvPr/>
        </p:nvSpPr>
        <p:spPr>
          <a:xfrm>
            <a:off x="1642110" y="43053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atasets.grid-node-222-104"/>
          <p:cNvSpPr/>
          <p:nvPr/>
        </p:nvSpPr>
        <p:spPr>
          <a:xfrm>
            <a:off x="1642110" y="74295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atasets.grid-node-222-145"/>
          <p:cNvSpPr/>
          <p:nvPr/>
        </p:nvSpPr>
        <p:spPr>
          <a:xfrm>
            <a:off x="1642110" y="105537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datasets.grid-column-264.1"/>
          <p:cNvCxnSpPr/>
          <p:nvPr/>
        </p:nvCxnSpPr>
        <p:spPr>
          <a:xfrm>
            <a:off x="2011680" y="365760"/>
            <a:ext cx="0" cy="868680"/>
          </a:xfrm>
          <a:prstGeom prst="line">
            <a:avLst/>
          </a:prstGeom>
          <a:ln w="22859">
            <a:solidFill>
              <a:srgbClr val="2394CB"/>
            </a:solidFill>
          </a:ln>
          <a:effectLst/>
        </p:spPr>
      </p:cxnSp>
      <p:sp>
        <p:nvSpPr>
          <p:cNvPr id="19" name="datasets.grid-node-264-63"/>
          <p:cNvSpPr/>
          <p:nvPr/>
        </p:nvSpPr>
        <p:spPr>
          <a:xfrm>
            <a:off x="1962150" y="43053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atasets.grid-node-264-104"/>
          <p:cNvSpPr/>
          <p:nvPr/>
        </p:nvSpPr>
        <p:spPr>
          <a:xfrm>
            <a:off x="1962150" y="74295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atasets.grid-node-264-145"/>
          <p:cNvSpPr/>
          <p:nvPr/>
        </p:nvSpPr>
        <p:spPr>
          <a:xfrm>
            <a:off x="1962150" y="105537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datasets.grid-column-307.1"/>
          <p:cNvCxnSpPr/>
          <p:nvPr/>
        </p:nvCxnSpPr>
        <p:spPr>
          <a:xfrm>
            <a:off x="2339340" y="365760"/>
            <a:ext cx="0" cy="868680"/>
          </a:xfrm>
          <a:prstGeom prst="line">
            <a:avLst/>
          </a:prstGeom>
          <a:ln w="22859">
            <a:solidFill>
              <a:srgbClr val="2394CB"/>
            </a:solidFill>
          </a:ln>
          <a:effectLst/>
        </p:spPr>
      </p:cxnSp>
      <p:sp>
        <p:nvSpPr>
          <p:cNvPr id="23" name="datasets.grid-node-307-63"/>
          <p:cNvSpPr/>
          <p:nvPr/>
        </p:nvSpPr>
        <p:spPr>
          <a:xfrm>
            <a:off x="2289810" y="43053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atasets.grid-node-307-104"/>
          <p:cNvSpPr/>
          <p:nvPr/>
        </p:nvSpPr>
        <p:spPr>
          <a:xfrm>
            <a:off x="2289810" y="74295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datasets.grid-node-307-145"/>
          <p:cNvSpPr/>
          <p:nvPr/>
        </p:nvSpPr>
        <p:spPr>
          <a:xfrm>
            <a:off x="2289810" y="105537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datasets.grid-column-349.1"/>
          <p:cNvCxnSpPr/>
          <p:nvPr/>
        </p:nvCxnSpPr>
        <p:spPr>
          <a:xfrm>
            <a:off x="2659380" y="365760"/>
            <a:ext cx="0" cy="868680"/>
          </a:xfrm>
          <a:prstGeom prst="line">
            <a:avLst/>
          </a:prstGeom>
          <a:ln w="22859">
            <a:solidFill>
              <a:srgbClr val="2394CB"/>
            </a:solidFill>
          </a:ln>
          <a:effectLst/>
        </p:spPr>
      </p:cxnSp>
      <p:sp>
        <p:nvSpPr>
          <p:cNvPr id="27" name="datasets.grid-node-349-63"/>
          <p:cNvSpPr/>
          <p:nvPr/>
        </p:nvSpPr>
        <p:spPr>
          <a:xfrm>
            <a:off x="2609850" y="43053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atasets.grid-node-349-104"/>
          <p:cNvSpPr/>
          <p:nvPr/>
        </p:nvSpPr>
        <p:spPr>
          <a:xfrm>
            <a:off x="2609850" y="74295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atasets.grid-node-349-145"/>
          <p:cNvSpPr/>
          <p:nvPr/>
        </p:nvSpPr>
        <p:spPr>
          <a:xfrm>
            <a:off x="2609850" y="1055370"/>
            <a:ext cx="99060" cy="99060"/>
          </a:xfrm>
          <a:prstGeom prst="ellipse">
            <a:avLst/>
          </a:prstGeom>
          <a:solidFill>
            <a:srgbClr val="8196BE"/>
          </a:solidFill>
          <a:ln w="11429">
            <a:solidFill>
              <a:srgbClr val="687F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datasets.sequence-conversion.1"/>
          <p:cNvCxnSpPr/>
          <p:nvPr/>
        </p:nvCxnSpPr>
        <p:spPr>
          <a:xfrm>
            <a:off x="2849880" y="1478280"/>
            <a:ext cx="396240" cy="0"/>
          </a:xfrm>
          <a:prstGeom prst="line">
            <a:avLst/>
          </a:prstGeom>
          <a:ln w="129539">
            <a:solidFill>
              <a:srgbClr val="D9D9D9"/>
            </a:solidFill>
          </a:ln>
          <a:effectLst/>
        </p:spPr>
      </p:cxnSp>
      <p:sp>
        <p:nvSpPr>
          <p:cNvPr id="31" name="datasets.sequence-conversion.arrowhead"/>
          <p:cNvSpPr/>
          <p:nvPr/>
        </p:nvSpPr>
        <p:spPr>
          <a:xfrm rot="5400000">
            <a:off x="3063240" y="1386840"/>
            <a:ext cx="182880" cy="182880"/>
          </a:xfrm>
          <a:prstGeom prst="triangle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datasets.sequence-block-0"/>
          <p:cNvSpPr/>
          <p:nvPr/>
        </p:nvSpPr>
        <p:spPr>
          <a:xfrm>
            <a:off x="3413760" y="731520"/>
            <a:ext cx="160020" cy="182880"/>
          </a:xfrm>
          <a:prstGeom prst="roundRect">
            <a:avLst>
              <a:gd name="adj" fmla="val 9523"/>
            </a:avLst>
          </a:prstGeom>
          <a:solidFill>
            <a:srgbClr val="377FBF"/>
          </a:solidFill>
          <a:ln w="7620">
            <a:solidFill>
              <a:srgbClr val="377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atasets.sequence-block-top-0"/>
          <p:cNvSpPr/>
          <p:nvPr/>
        </p:nvSpPr>
        <p:spPr>
          <a:xfrm>
            <a:off x="3413760" y="693420"/>
            <a:ext cx="205740" cy="38100"/>
          </a:xfrm>
          <a:prstGeom prst="parallelogram">
            <a:avLst/>
          </a:prstGeom>
          <a:solidFill>
            <a:srgbClr val="5F9C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datasets.sequence-block-side-0"/>
          <p:cNvSpPr/>
          <p:nvPr/>
        </p:nvSpPr>
        <p:spPr>
          <a:xfrm>
            <a:off x="3573780" y="708660"/>
            <a:ext cx="45720" cy="205740"/>
          </a:xfrm>
          <a:prstGeom prst="parallelogram">
            <a:avLst/>
          </a:prstGeom>
          <a:solidFill>
            <a:srgbClr val="276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datasets.sequence-block-1"/>
          <p:cNvSpPr/>
          <p:nvPr/>
        </p:nvSpPr>
        <p:spPr>
          <a:xfrm>
            <a:off x="3413760" y="1028700"/>
            <a:ext cx="160020" cy="182880"/>
          </a:xfrm>
          <a:prstGeom prst="roundRect">
            <a:avLst>
              <a:gd name="adj" fmla="val 9523"/>
            </a:avLst>
          </a:prstGeom>
          <a:solidFill>
            <a:srgbClr val="377FBF"/>
          </a:solidFill>
          <a:ln w="7620">
            <a:solidFill>
              <a:srgbClr val="377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datasets.sequence-block-top-1"/>
          <p:cNvSpPr/>
          <p:nvPr/>
        </p:nvSpPr>
        <p:spPr>
          <a:xfrm>
            <a:off x="3413760" y="990599"/>
            <a:ext cx="205740" cy="38100"/>
          </a:xfrm>
          <a:prstGeom prst="parallelogram">
            <a:avLst/>
          </a:prstGeom>
          <a:solidFill>
            <a:srgbClr val="5F9C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datasets.sequence-block-side-1"/>
          <p:cNvSpPr/>
          <p:nvPr/>
        </p:nvSpPr>
        <p:spPr>
          <a:xfrm>
            <a:off x="3573780" y="1005840"/>
            <a:ext cx="45720" cy="205740"/>
          </a:xfrm>
          <a:prstGeom prst="parallelogram">
            <a:avLst/>
          </a:prstGeom>
          <a:solidFill>
            <a:srgbClr val="276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datasets.sequence-block-2"/>
          <p:cNvSpPr/>
          <p:nvPr/>
        </p:nvSpPr>
        <p:spPr>
          <a:xfrm>
            <a:off x="3413760" y="1325880"/>
            <a:ext cx="160020" cy="182880"/>
          </a:xfrm>
          <a:prstGeom prst="roundRect">
            <a:avLst>
              <a:gd name="adj" fmla="val 9523"/>
            </a:avLst>
          </a:prstGeom>
          <a:solidFill>
            <a:srgbClr val="377FBF"/>
          </a:solidFill>
          <a:ln w="7620">
            <a:solidFill>
              <a:srgbClr val="377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datasets.sequence-block-top-2"/>
          <p:cNvSpPr/>
          <p:nvPr/>
        </p:nvSpPr>
        <p:spPr>
          <a:xfrm>
            <a:off x="3413760" y="1287780"/>
            <a:ext cx="205740" cy="38100"/>
          </a:xfrm>
          <a:prstGeom prst="parallelogram">
            <a:avLst/>
          </a:prstGeom>
          <a:solidFill>
            <a:srgbClr val="5F9C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datasets.sequence-block-side-2"/>
          <p:cNvSpPr/>
          <p:nvPr/>
        </p:nvSpPr>
        <p:spPr>
          <a:xfrm>
            <a:off x="3573780" y="1303020"/>
            <a:ext cx="45720" cy="205740"/>
          </a:xfrm>
          <a:prstGeom prst="parallelogram">
            <a:avLst/>
          </a:prstGeom>
          <a:solidFill>
            <a:srgbClr val="276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datasets.sequence-block-3"/>
          <p:cNvSpPr/>
          <p:nvPr/>
        </p:nvSpPr>
        <p:spPr>
          <a:xfrm>
            <a:off x="3413760" y="1722120"/>
            <a:ext cx="160020" cy="182880"/>
          </a:xfrm>
          <a:prstGeom prst="roundRect">
            <a:avLst>
              <a:gd name="adj" fmla="val 9523"/>
            </a:avLst>
          </a:prstGeom>
          <a:solidFill>
            <a:srgbClr val="377FBF"/>
          </a:solidFill>
          <a:ln w="7620">
            <a:solidFill>
              <a:srgbClr val="377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datasets.sequence-block-top-3"/>
          <p:cNvSpPr/>
          <p:nvPr/>
        </p:nvSpPr>
        <p:spPr>
          <a:xfrm>
            <a:off x="3413760" y="1684020"/>
            <a:ext cx="205740" cy="38100"/>
          </a:xfrm>
          <a:prstGeom prst="parallelogram">
            <a:avLst/>
          </a:prstGeom>
          <a:solidFill>
            <a:srgbClr val="5F9C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datasets.sequence-block-side-3"/>
          <p:cNvSpPr/>
          <p:nvPr/>
        </p:nvSpPr>
        <p:spPr>
          <a:xfrm>
            <a:off x="3573780" y="1699260"/>
            <a:ext cx="45720" cy="205740"/>
          </a:xfrm>
          <a:prstGeom prst="parallelogram">
            <a:avLst/>
          </a:prstGeom>
          <a:solidFill>
            <a:srgbClr val="276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datasets.sequence-block-4"/>
          <p:cNvSpPr/>
          <p:nvPr/>
        </p:nvSpPr>
        <p:spPr>
          <a:xfrm>
            <a:off x="3413760" y="2019300"/>
            <a:ext cx="160020" cy="182880"/>
          </a:xfrm>
          <a:prstGeom prst="roundRect">
            <a:avLst>
              <a:gd name="adj" fmla="val 9523"/>
            </a:avLst>
          </a:prstGeom>
          <a:solidFill>
            <a:srgbClr val="377FBF"/>
          </a:solidFill>
          <a:ln w="7620">
            <a:solidFill>
              <a:srgbClr val="377F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datasets.sequence-block-top-4"/>
          <p:cNvSpPr/>
          <p:nvPr/>
        </p:nvSpPr>
        <p:spPr>
          <a:xfrm>
            <a:off x="3413760" y="1981199"/>
            <a:ext cx="205740" cy="38100"/>
          </a:xfrm>
          <a:prstGeom prst="parallelogram">
            <a:avLst/>
          </a:prstGeom>
          <a:solidFill>
            <a:srgbClr val="5F9C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datasets.sequence-block-side-4"/>
          <p:cNvSpPr/>
          <p:nvPr/>
        </p:nvSpPr>
        <p:spPr>
          <a:xfrm>
            <a:off x="3573780" y="1996439"/>
            <a:ext cx="45720" cy="205740"/>
          </a:xfrm>
          <a:prstGeom prst="parallelogram">
            <a:avLst/>
          </a:prstGeom>
          <a:solidFill>
            <a:srgbClr val="276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datasets.sequence-ellipsis"/>
          <p:cNvSpPr txBox="1"/>
          <p:nvPr/>
        </p:nvSpPr>
        <p:spPr>
          <a:xfrm>
            <a:off x="3383280" y="1531620"/>
            <a:ext cx="25908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48" name="datasets.source-graph-frame-0"/>
          <p:cNvSpPr/>
          <p:nvPr/>
        </p:nvSpPr>
        <p:spPr>
          <a:xfrm>
            <a:off x="213360" y="1798320"/>
            <a:ext cx="624840" cy="487680"/>
          </a:xfrm>
          <a:prstGeom prst="rect">
            <a:avLst/>
          </a:prstGeom>
          <a:noFill/>
          <a:ln w="38100">
            <a:solidFill>
              <a:srgbClr val="7A7A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datasets.source-graph-frame-1"/>
          <p:cNvSpPr/>
          <p:nvPr/>
        </p:nvSpPr>
        <p:spPr>
          <a:xfrm>
            <a:off x="312420" y="1684020"/>
            <a:ext cx="624840" cy="487680"/>
          </a:xfrm>
          <a:prstGeom prst="rect">
            <a:avLst/>
          </a:prstGeom>
          <a:noFill/>
          <a:ln w="38100">
            <a:solidFill>
              <a:srgbClr val="7A7A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datasets.source-graph-frame-2"/>
          <p:cNvSpPr/>
          <p:nvPr/>
        </p:nvSpPr>
        <p:spPr>
          <a:xfrm>
            <a:off x="419100" y="1577340"/>
            <a:ext cx="624840" cy="487680"/>
          </a:xfrm>
          <a:prstGeom prst="rect">
            <a:avLst/>
          </a:prstGeom>
          <a:noFill/>
          <a:ln w="38100">
            <a:solidFill>
              <a:srgbClr val="7A7A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datasets.source-graph-link-0.1"/>
          <p:cNvCxnSpPr/>
          <p:nvPr/>
        </p:nvCxnSpPr>
        <p:spPr>
          <a:xfrm>
            <a:off x="411480" y="1844040"/>
            <a:ext cx="320040" cy="762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cxnSp>
        <p:nvCxnSpPr>
          <p:cNvPr id="52" name="datasets.source-graph-link-1.1"/>
          <p:cNvCxnSpPr/>
          <p:nvPr/>
        </p:nvCxnSpPr>
        <p:spPr>
          <a:xfrm>
            <a:off x="411480" y="1844040"/>
            <a:ext cx="114300" cy="21336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cxnSp>
        <p:nvCxnSpPr>
          <p:cNvPr id="53" name="datasets.source-graph-link-2.1"/>
          <p:cNvCxnSpPr/>
          <p:nvPr/>
        </p:nvCxnSpPr>
        <p:spPr>
          <a:xfrm>
            <a:off x="525780" y="2057400"/>
            <a:ext cx="274320" cy="9906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cxnSp>
        <p:nvCxnSpPr>
          <p:cNvPr id="54" name="datasets.source-graph-link-3.1"/>
          <p:cNvCxnSpPr/>
          <p:nvPr/>
        </p:nvCxnSpPr>
        <p:spPr>
          <a:xfrm flipH="1">
            <a:off x="274320" y="2057400"/>
            <a:ext cx="251460" cy="6096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cxnSp>
        <p:nvCxnSpPr>
          <p:cNvPr id="55" name="datasets.source-graph-link-4.1"/>
          <p:cNvCxnSpPr/>
          <p:nvPr/>
        </p:nvCxnSpPr>
        <p:spPr>
          <a:xfrm>
            <a:off x="525780" y="2057400"/>
            <a:ext cx="106680" cy="21336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cxnSp>
        <p:nvCxnSpPr>
          <p:cNvPr id="56" name="datasets.source-graph-link-5.1"/>
          <p:cNvCxnSpPr/>
          <p:nvPr/>
        </p:nvCxnSpPr>
        <p:spPr>
          <a:xfrm>
            <a:off x="731520" y="1851660"/>
            <a:ext cx="243840" cy="8382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cxnSp>
        <p:nvCxnSpPr>
          <p:cNvPr id="57" name="datasets.source-graph-link-6.1"/>
          <p:cNvCxnSpPr/>
          <p:nvPr/>
        </p:nvCxnSpPr>
        <p:spPr>
          <a:xfrm flipV="1">
            <a:off x="731520" y="1706880"/>
            <a:ext cx="38100" cy="14478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cxnSp>
        <p:nvCxnSpPr>
          <p:cNvPr id="58" name="datasets.source-graph-link-7.1"/>
          <p:cNvCxnSpPr/>
          <p:nvPr/>
        </p:nvCxnSpPr>
        <p:spPr>
          <a:xfrm flipH="1">
            <a:off x="800100" y="1935480"/>
            <a:ext cx="175260" cy="22098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cxnSp>
        <p:nvCxnSpPr>
          <p:cNvPr id="59" name="datasets.source-graph-link-8.1"/>
          <p:cNvCxnSpPr/>
          <p:nvPr/>
        </p:nvCxnSpPr>
        <p:spPr>
          <a:xfrm flipV="1">
            <a:off x="632460" y="2156460"/>
            <a:ext cx="167640" cy="114300"/>
          </a:xfrm>
          <a:prstGeom prst="line">
            <a:avLst/>
          </a:prstGeom>
          <a:ln w="15240">
            <a:solidFill>
              <a:srgbClr val="777777"/>
            </a:solidFill>
          </a:ln>
          <a:effectLst/>
        </p:spPr>
      </p:cxnSp>
      <p:sp>
        <p:nvSpPr>
          <p:cNvPr id="60" name="datasets.source-graph-node-0"/>
          <p:cNvSpPr/>
          <p:nvPr/>
        </p:nvSpPr>
        <p:spPr>
          <a:xfrm>
            <a:off x="358140" y="1790700"/>
            <a:ext cx="106680" cy="106680"/>
          </a:xfrm>
          <a:prstGeom prst="ellipse">
            <a:avLst/>
          </a:prstGeom>
          <a:solidFill>
            <a:srgbClr val="9ACA83"/>
          </a:solidFill>
          <a:ln w="7620">
            <a:solidFill>
              <a:srgbClr val="9ACA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datasets.source-graph-node-1"/>
          <p:cNvSpPr/>
          <p:nvPr/>
        </p:nvSpPr>
        <p:spPr>
          <a:xfrm>
            <a:off x="678180" y="1798320"/>
            <a:ext cx="106680" cy="106680"/>
          </a:xfrm>
          <a:prstGeom prst="ellipse">
            <a:avLst/>
          </a:prstGeom>
          <a:solidFill>
            <a:srgbClr val="9ACA83"/>
          </a:solidFill>
          <a:ln w="7620">
            <a:solidFill>
              <a:srgbClr val="9ACA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datasets.source-graph-node-2"/>
          <p:cNvSpPr/>
          <p:nvPr/>
        </p:nvSpPr>
        <p:spPr>
          <a:xfrm>
            <a:off x="472440" y="2004060"/>
            <a:ext cx="106680" cy="106680"/>
          </a:xfrm>
          <a:prstGeom prst="ellipse">
            <a:avLst/>
          </a:prstGeom>
          <a:solidFill>
            <a:srgbClr val="9ACA83"/>
          </a:solidFill>
          <a:ln w="7620">
            <a:solidFill>
              <a:srgbClr val="9ACA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datasets.source-graph-node-3"/>
          <p:cNvSpPr/>
          <p:nvPr/>
        </p:nvSpPr>
        <p:spPr>
          <a:xfrm>
            <a:off x="746760" y="2103120"/>
            <a:ext cx="106680" cy="106680"/>
          </a:xfrm>
          <a:prstGeom prst="ellipse">
            <a:avLst/>
          </a:prstGeom>
          <a:solidFill>
            <a:srgbClr val="9ACA83"/>
          </a:solidFill>
          <a:ln w="7620">
            <a:solidFill>
              <a:srgbClr val="9ACA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datasets.source-graph-node-4"/>
          <p:cNvSpPr/>
          <p:nvPr/>
        </p:nvSpPr>
        <p:spPr>
          <a:xfrm>
            <a:off x="220980" y="2065020"/>
            <a:ext cx="106680" cy="106680"/>
          </a:xfrm>
          <a:prstGeom prst="ellipse">
            <a:avLst/>
          </a:prstGeom>
          <a:solidFill>
            <a:srgbClr val="9ACA83"/>
          </a:solidFill>
          <a:ln w="7620">
            <a:solidFill>
              <a:srgbClr val="9ACA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datasets.source-graph-node-5"/>
          <p:cNvSpPr/>
          <p:nvPr/>
        </p:nvSpPr>
        <p:spPr>
          <a:xfrm>
            <a:off x="579120" y="2217420"/>
            <a:ext cx="106680" cy="106680"/>
          </a:xfrm>
          <a:prstGeom prst="ellipse">
            <a:avLst/>
          </a:prstGeom>
          <a:solidFill>
            <a:srgbClr val="9ACA83"/>
          </a:solidFill>
          <a:ln w="7620">
            <a:solidFill>
              <a:srgbClr val="9ACA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datasets.source-graph-node-6"/>
          <p:cNvSpPr/>
          <p:nvPr/>
        </p:nvSpPr>
        <p:spPr>
          <a:xfrm>
            <a:off x="922020" y="1882139"/>
            <a:ext cx="106680" cy="106680"/>
          </a:xfrm>
          <a:prstGeom prst="ellipse">
            <a:avLst/>
          </a:prstGeom>
          <a:solidFill>
            <a:srgbClr val="9ACA83"/>
          </a:solidFill>
          <a:ln w="7620">
            <a:solidFill>
              <a:srgbClr val="9ACA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datasets.source-graph-node-7"/>
          <p:cNvSpPr/>
          <p:nvPr/>
        </p:nvSpPr>
        <p:spPr>
          <a:xfrm>
            <a:off x="716280" y="1653540"/>
            <a:ext cx="106680" cy="106680"/>
          </a:xfrm>
          <a:prstGeom prst="ellipse">
            <a:avLst/>
          </a:prstGeom>
          <a:solidFill>
            <a:srgbClr val="9ACA83"/>
          </a:solidFill>
          <a:ln w="7620">
            <a:solidFill>
              <a:srgbClr val="9ACA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8" name="datasets.graph-conversion.1"/>
          <p:cNvCxnSpPr/>
          <p:nvPr/>
        </p:nvCxnSpPr>
        <p:spPr>
          <a:xfrm>
            <a:off x="1135380" y="1958340"/>
            <a:ext cx="297180" cy="0"/>
          </a:xfrm>
          <a:prstGeom prst="line">
            <a:avLst/>
          </a:prstGeom>
          <a:ln w="129539">
            <a:solidFill>
              <a:srgbClr val="D9D9D9"/>
            </a:solidFill>
          </a:ln>
          <a:effectLst/>
        </p:spPr>
      </p:cxnSp>
      <p:sp>
        <p:nvSpPr>
          <p:cNvPr id="69" name="datasets.graph-conversion.arrowhead"/>
          <p:cNvSpPr/>
          <p:nvPr/>
        </p:nvSpPr>
        <p:spPr>
          <a:xfrm rot="5400000">
            <a:off x="1249680" y="1866899"/>
            <a:ext cx="182880" cy="182880"/>
          </a:xfrm>
          <a:prstGeom prst="triangle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atasets.temporal-field-0"/>
          <p:cNvSpPr/>
          <p:nvPr/>
        </p:nvSpPr>
        <p:spPr>
          <a:xfrm>
            <a:off x="1470660" y="1645920"/>
            <a:ext cx="441960" cy="853440"/>
          </a:xfrm>
          <a:prstGeom prst="ellipse">
            <a:avLst/>
          </a:prstGeom>
          <a:solidFill>
            <a:srgbClr val="D4E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atasets.temporal-field-1"/>
          <p:cNvSpPr/>
          <p:nvPr/>
        </p:nvSpPr>
        <p:spPr>
          <a:xfrm>
            <a:off x="1775460" y="1577340"/>
            <a:ext cx="518160" cy="731520"/>
          </a:xfrm>
          <a:prstGeom prst="ellipse">
            <a:avLst/>
          </a:prstGeom>
          <a:solidFill>
            <a:srgbClr val="D4E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datasets.temporal-field-2"/>
          <p:cNvSpPr/>
          <p:nvPr/>
        </p:nvSpPr>
        <p:spPr>
          <a:xfrm>
            <a:off x="2194560" y="1531620"/>
            <a:ext cx="518160" cy="746760"/>
          </a:xfrm>
          <a:prstGeom prst="ellipse">
            <a:avLst/>
          </a:prstGeom>
          <a:solidFill>
            <a:srgbClr val="D4E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datasets.temporal-field-3"/>
          <p:cNvSpPr/>
          <p:nvPr/>
        </p:nvSpPr>
        <p:spPr>
          <a:xfrm>
            <a:off x="2423160" y="1912620"/>
            <a:ext cx="457200" cy="655320"/>
          </a:xfrm>
          <a:prstGeom prst="ellipse">
            <a:avLst/>
          </a:prstGeom>
          <a:solidFill>
            <a:srgbClr val="D4E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datasets.temporal-field-4"/>
          <p:cNvSpPr/>
          <p:nvPr/>
        </p:nvSpPr>
        <p:spPr>
          <a:xfrm>
            <a:off x="1905000" y="1935480"/>
            <a:ext cx="472440" cy="701040"/>
          </a:xfrm>
          <a:prstGeom prst="ellipse">
            <a:avLst/>
          </a:prstGeom>
          <a:solidFill>
            <a:srgbClr val="D4E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5" name="datasets.temporal-link-0.1"/>
          <p:cNvCxnSpPr/>
          <p:nvPr/>
        </p:nvCxnSpPr>
        <p:spPr>
          <a:xfrm flipV="1">
            <a:off x="1615440" y="1729740"/>
            <a:ext cx="175260" cy="251459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76" name="datasets.temporal-link-1.1"/>
          <p:cNvCxnSpPr/>
          <p:nvPr/>
        </p:nvCxnSpPr>
        <p:spPr>
          <a:xfrm>
            <a:off x="1790700" y="1729740"/>
            <a:ext cx="358140" cy="6858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77" name="datasets.temporal-link-2.1"/>
          <p:cNvCxnSpPr/>
          <p:nvPr/>
        </p:nvCxnSpPr>
        <p:spPr>
          <a:xfrm>
            <a:off x="1790700" y="1729740"/>
            <a:ext cx="457200" cy="38862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78" name="datasets.temporal-link-3.1"/>
          <p:cNvCxnSpPr/>
          <p:nvPr/>
        </p:nvCxnSpPr>
        <p:spPr>
          <a:xfrm>
            <a:off x="2148840" y="1798320"/>
            <a:ext cx="99060" cy="32004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79" name="datasets.temporal-link-4.1"/>
          <p:cNvCxnSpPr/>
          <p:nvPr/>
        </p:nvCxnSpPr>
        <p:spPr>
          <a:xfrm flipV="1">
            <a:off x="2148840" y="1699260"/>
            <a:ext cx="243840" cy="9906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80" name="datasets.temporal-link-5.1"/>
          <p:cNvCxnSpPr/>
          <p:nvPr/>
        </p:nvCxnSpPr>
        <p:spPr>
          <a:xfrm flipV="1">
            <a:off x="2247900" y="2019300"/>
            <a:ext cx="304800" cy="9906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81" name="datasets.temporal-link-6.1"/>
          <p:cNvCxnSpPr/>
          <p:nvPr/>
        </p:nvCxnSpPr>
        <p:spPr>
          <a:xfrm flipH="1">
            <a:off x="2148840" y="2118360"/>
            <a:ext cx="99060" cy="28956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82" name="datasets.temporal-link-7.1"/>
          <p:cNvCxnSpPr/>
          <p:nvPr/>
        </p:nvCxnSpPr>
        <p:spPr>
          <a:xfrm>
            <a:off x="2392680" y="1699260"/>
            <a:ext cx="160020" cy="32004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83" name="datasets.temporal-link-8.1"/>
          <p:cNvCxnSpPr/>
          <p:nvPr/>
        </p:nvCxnSpPr>
        <p:spPr>
          <a:xfrm>
            <a:off x="2552700" y="2019300"/>
            <a:ext cx="220980" cy="15240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84" name="datasets.temporal-link-9.1"/>
          <p:cNvCxnSpPr/>
          <p:nvPr/>
        </p:nvCxnSpPr>
        <p:spPr>
          <a:xfrm flipH="1">
            <a:off x="2545080" y="2019300"/>
            <a:ext cx="7620" cy="42672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cxnSp>
        <p:nvCxnSpPr>
          <p:cNvPr id="85" name="datasets.temporal-link-10.1"/>
          <p:cNvCxnSpPr/>
          <p:nvPr/>
        </p:nvCxnSpPr>
        <p:spPr>
          <a:xfrm flipV="1">
            <a:off x="2148840" y="2171700"/>
            <a:ext cx="624840" cy="236220"/>
          </a:xfrm>
          <a:prstGeom prst="line">
            <a:avLst/>
          </a:prstGeom>
          <a:ln w="22859">
            <a:solidFill>
              <a:srgbClr val="4DA788"/>
            </a:solidFill>
          </a:ln>
          <a:effectLst/>
        </p:spPr>
      </p:cxnSp>
      <p:sp>
        <p:nvSpPr>
          <p:cNvPr id="86" name="datasets.temporal-node-0"/>
          <p:cNvSpPr/>
          <p:nvPr/>
        </p:nvSpPr>
        <p:spPr>
          <a:xfrm>
            <a:off x="1569720" y="193548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datasets.temporal-node-1"/>
          <p:cNvSpPr/>
          <p:nvPr/>
        </p:nvSpPr>
        <p:spPr>
          <a:xfrm>
            <a:off x="1744980" y="168402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datasets.temporal-node-2"/>
          <p:cNvSpPr/>
          <p:nvPr/>
        </p:nvSpPr>
        <p:spPr>
          <a:xfrm>
            <a:off x="1874519" y="214884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datasets.temporal-node-3"/>
          <p:cNvSpPr/>
          <p:nvPr/>
        </p:nvSpPr>
        <p:spPr>
          <a:xfrm>
            <a:off x="2103120" y="175260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datasets.temporal-node-4"/>
          <p:cNvSpPr/>
          <p:nvPr/>
        </p:nvSpPr>
        <p:spPr>
          <a:xfrm>
            <a:off x="2202180" y="207264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datasets.temporal-node-5"/>
          <p:cNvSpPr/>
          <p:nvPr/>
        </p:nvSpPr>
        <p:spPr>
          <a:xfrm>
            <a:off x="2346960" y="165354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atasets.temporal-node-6"/>
          <p:cNvSpPr/>
          <p:nvPr/>
        </p:nvSpPr>
        <p:spPr>
          <a:xfrm>
            <a:off x="2506980" y="197358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datasets.temporal-node-7"/>
          <p:cNvSpPr/>
          <p:nvPr/>
        </p:nvSpPr>
        <p:spPr>
          <a:xfrm>
            <a:off x="2499360" y="240030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datasets.temporal-node-8"/>
          <p:cNvSpPr/>
          <p:nvPr/>
        </p:nvSpPr>
        <p:spPr>
          <a:xfrm>
            <a:off x="2727960" y="212598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datasets.temporal-node-9"/>
          <p:cNvSpPr/>
          <p:nvPr/>
        </p:nvSpPr>
        <p:spPr>
          <a:xfrm>
            <a:off x="2103120" y="2362200"/>
            <a:ext cx="91440" cy="91440"/>
          </a:xfrm>
          <a:prstGeom prst="ellipse">
            <a:avLst/>
          </a:prstGeom>
          <a:solidFill>
            <a:srgbClr val="4DA788"/>
          </a:solidFill>
          <a:ln w="7620">
            <a:solidFill>
              <a:srgbClr val="3D97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datasets.different-data-types"/>
          <p:cNvSpPr txBox="1"/>
          <p:nvPr/>
        </p:nvSpPr>
        <p:spPr>
          <a:xfrm>
            <a:off x="182880" y="2667000"/>
            <a:ext cx="1257300" cy="6553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Liberation Serif"/>
              </a:rPr>
              <a:t>Different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Liberation Serif"/>
              </a:rPr>
              <a:t>data types</a:t>
            </a:r>
          </a:p>
        </p:txBody>
      </p:sp>
      <p:sp>
        <p:nvSpPr>
          <p:cNvPr id="97" name="datasets.sequential-format"/>
          <p:cNvSpPr txBox="1"/>
          <p:nvPr/>
        </p:nvSpPr>
        <p:spPr>
          <a:xfrm>
            <a:off x="2461260" y="2667000"/>
            <a:ext cx="1211580" cy="6553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Liberation Serif"/>
              </a:rPr>
              <a:t>Sequential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Liberation Serif"/>
              </a:rPr>
              <a:t>format</a:t>
            </a:r>
          </a:p>
        </p:txBody>
      </p:sp>
      <p:pic>
        <p:nvPicPr>
          <p:cNvPr id="98" name="datasets.domain_1" descr="domai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718560"/>
            <a:ext cx="937259" cy="815340"/>
          </a:xfrm>
          <a:prstGeom prst="rect">
            <a:avLst/>
          </a:prstGeom>
          <a:effectLst/>
        </p:spPr>
      </p:pic>
      <p:pic>
        <p:nvPicPr>
          <p:cNvPr id="99" name="datasets.domain_2" descr="domai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660" y="3718560"/>
            <a:ext cx="922020" cy="815340"/>
          </a:xfrm>
          <a:prstGeom prst="rect">
            <a:avLst/>
          </a:prstGeom>
          <a:effectLst/>
        </p:spPr>
      </p:pic>
      <p:pic>
        <p:nvPicPr>
          <p:cNvPr id="100" name="datasets.domain_3" descr="domai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3718560"/>
            <a:ext cx="861060" cy="815340"/>
          </a:xfrm>
          <a:prstGeom prst="rect">
            <a:avLst/>
          </a:prstGeom>
          <a:effectLst/>
        </p:spPr>
      </p:pic>
      <p:pic>
        <p:nvPicPr>
          <p:cNvPr id="101" name="datasets.domain_4" descr="domain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4709160"/>
            <a:ext cx="937259" cy="815340"/>
          </a:xfrm>
          <a:prstGeom prst="rect">
            <a:avLst/>
          </a:prstGeom>
          <a:effectLst/>
        </p:spPr>
      </p:pic>
      <p:pic>
        <p:nvPicPr>
          <p:cNvPr id="102" name="datasets.domain_5" descr="domain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0660" y="4709160"/>
            <a:ext cx="967740" cy="815340"/>
          </a:xfrm>
          <a:prstGeom prst="rect">
            <a:avLst/>
          </a:prstGeom>
          <a:effectLst/>
        </p:spPr>
      </p:pic>
      <p:pic>
        <p:nvPicPr>
          <p:cNvPr id="103" name="datasets.domain_6" descr="domain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5100" y="4709160"/>
            <a:ext cx="861060" cy="815340"/>
          </a:xfrm>
          <a:prstGeom prst="rect">
            <a:avLst/>
          </a:prstGeom>
          <a:effectLst/>
        </p:spPr>
      </p:pic>
      <p:sp>
        <p:nvSpPr>
          <p:cNvPr id="104" name="datasets.multi-domain-caption"/>
          <p:cNvSpPr txBox="1"/>
          <p:nvPr/>
        </p:nvSpPr>
        <p:spPr>
          <a:xfrm>
            <a:off x="556260" y="5570220"/>
            <a:ext cx="2743200" cy="640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0" b="0" i="0">
                <a:solidFill>
                  <a:srgbClr val="000000"/>
                </a:solidFill>
                <a:latin typeface="Liberation Serif"/>
              </a:rPr>
              <a:t>Multiple Domains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0" b="0" i="0">
                <a:solidFill>
                  <a:srgbClr val="000000"/>
                </a:solidFill>
                <a:latin typeface="Liberation Serif"/>
              </a:rPr>
              <a:t>Multiple Cities</a:t>
            </a:r>
          </a:p>
        </p:txBody>
      </p:sp>
      <p:cxnSp>
        <p:nvCxnSpPr>
          <p:cNvPr id="105" name="datasets.dataset-to-model.1"/>
          <p:cNvCxnSpPr/>
          <p:nvPr/>
        </p:nvCxnSpPr>
        <p:spPr>
          <a:xfrm>
            <a:off x="3779520" y="5753100"/>
            <a:ext cx="38100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106" name="datasets.dataset-to-model.arrowhead"/>
          <p:cNvSpPr/>
          <p:nvPr/>
        </p:nvSpPr>
        <p:spPr>
          <a:xfrm rot="5400000">
            <a:off x="4061460" y="570357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captions.datasets-caption"/>
          <p:cNvSpPr txBox="1"/>
          <p:nvPr/>
        </p:nvSpPr>
        <p:spPr>
          <a:xfrm>
            <a:off x="838200" y="6416040"/>
            <a:ext cx="2286000" cy="3352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(a) Datasets</a:t>
            </a:r>
          </a:p>
        </p:txBody>
      </p:sp>
      <p:sp>
        <p:nvSpPr>
          <p:cNvPr id="108" name="transformer.reshape-box"/>
          <p:cNvSpPr/>
          <p:nvPr/>
        </p:nvSpPr>
        <p:spPr>
          <a:xfrm>
            <a:off x="4267200" y="739140"/>
            <a:ext cx="3939540" cy="43434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ransformer.reshape-label"/>
          <p:cNvSpPr txBox="1"/>
          <p:nvPr/>
        </p:nvSpPr>
        <p:spPr>
          <a:xfrm>
            <a:off x="4724400" y="769620"/>
            <a:ext cx="3025140" cy="3733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0" i="0">
                <a:solidFill>
                  <a:srgbClr val="000000"/>
                </a:solidFill>
                <a:latin typeface="Liberation Serif"/>
              </a:rPr>
              <a:t>Reshape</a:t>
            </a:r>
          </a:p>
        </p:txBody>
      </p:sp>
      <p:cxnSp>
        <p:nvCxnSpPr>
          <p:cNvPr id="110" name="transformer.output-arrow.1"/>
          <p:cNvCxnSpPr/>
          <p:nvPr/>
        </p:nvCxnSpPr>
        <p:spPr>
          <a:xfrm flipV="1">
            <a:off x="6240780" y="419100"/>
            <a:ext cx="0" cy="32766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111" name="transformer.output-arrow.arrowhead"/>
          <p:cNvSpPr/>
          <p:nvPr/>
        </p:nvSpPr>
        <p:spPr>
          <a:xfrm>
            <a:off x="6191250" y="41910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ransformer.output-label"/>
          <p:cNvSpPr txBox="1"/>
          <p:nvPr/>
        </p:nvSpPr>
        <p:spPr>
          <a:xfrm>
            <a:off x="5562600" y="60960"/>
            <a:ext cx="13716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Liberation Serif"/>
              </a:rPr>
              <a:t>Output</a:t>
            </a:r>
          </a:p>
        </p:txBody>
      </p:sp>
      <p:pic>
        <p:nvPicPr>
          <p:cNvPr id="113" name="transformer.noisy-token-1" descr="noise_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3880" y="1402080"/>
            <a:ext cx="419100" cy="426720"/>
          </a:xfrm>
          <a:prstGeom prst="rect">
            <a:avLst/>
          </a:prstGeom>
          <a:effectLst/>
        </p:spPr>
      </p:pic>
      <p:cxnSp>
        <p:nvCxnSpPr>
          <p:cNvPr id="114" name="transformer.token-stem-1.1"/>
          <p:cNvCxnSpPr/>
          <p:nvPr/>
        </p:nvCxnSpPr>
        <p:spPr>
          <a:xfrm>
            <a:off x="4583430" y="1828800"/>
            <a:ext cx="0" cy="2209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pic>
        <p:nvPicPr>
          <p:cNvPr id="115" name="transformer.noisy-token-2" descr="noise_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0140" y="1402080"/>
            <a:ext cx="419100" cy="426720"/>
          </a:xfrm>
          <a:prstGeom prst="rect">
            <a:avLst/>
          </a:prstGeom>
          <a:effectLst/>
        </p:spPr>
      </p:pic>
      <p:cxnSp>
        <p:nvCxnSpPr>
          <p:cNvPr id="116" name="transformer.token-stem-2.1"/>
          <p:cNvCxnSpPr/>
          <p:nvPr/>
        </p:nvCxnSpPr>
        <p:spPr>
          <a:xfrm>
            <a:off x="5139690" y="1828800"/>
            <a:ext cx="0" cy="2209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pic>
        <p:nvPicPr>
          <p:cNvPr id="117" name="transformer.noisy-token-3" descr="noise_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4020" y="1402080"/>
            <a:ext cx="419100" cy="426720"/>
          </a:xfrm>
          <a:prstGeom prst="rect">
            <a:avLst/>
          </a:prstGeom>
          <a:effectLst/>
        </p:spPr>
      </p:pic>
      <p:cxnSp>
        <p:nvCxnSpPr>
          <p:cNvPr id="118" name="transformer.token-stem-3.1"/>
          <p:cNvCxnSpPr/>
          <p:nvPr/>
        </p:nvCxnSpPr>
        <p:spPr>
          <a:xfrm>
            <a:off x="5703570" y="1828800"/>
            <a:ext cx="0" cy="2209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pic>
        <p:nvPicPr>
          <p:cNvPr id="119" name="transformer.noisy-token-4" descr="noise_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0280" y="1402080"/>
            <a:ext cx="419100" cy="426720"/>
          </a:xfrm>
          <a:prstGeom prst="rect">
            <a:avLst/>
          </a:prstGeom>
          <a:effectLst/>
        </p:spPr>
      </p:pic>
      <p:cxnSp>
        <p:nvCxnSpPr>
          <p:cNvPr id="120" name="transformer.token-stem-4.1"/>
          <p:cNvCxnSpPr/>
          <p:nvPr/>
        </p:nvCxnSpPr>
        <p:spPr>
          <a:xfrm>
            <a:off x="6259830" y="1828800"/>
            <a:ext cx="0" cy="2209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pic>
        <p:nvPicPr>
          <p:cNvPr id="121" name="transformer.noisy-token-5" descr="noise_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4160" y="1402080"/>
            <a:ext cx="419100" cy="426720"/>
          </a:xfrm>
          <a:prstGeom prst="rect">
            <a:avLst/>
          </a:prstGeom>
          <a:effectLst/>
        </p:spPr>
      </p:pic>
      <p:cxnSp>
        <p:nvCxnSpPr>
          <p:cNvPr id="122" name="transformer.token-stem-5.1"/>
          <p:cNvCxnSpPr/>
          <p:nvPr/>
        </p:nvCxnSpPr>
        <p:spPr>
          <a:xfrm>
            <a:off x="6823710" y="1828800"/>
            <a:ext cx="0" cy="2209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pic>
        <p:nvPicPr>
          <p:cNvPr id="123" name="transformer.noisy-token-6" descr="noise_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0420" y="1402080"/>
            <a:ext cx="419100" cy="426720"/>
          </a:xfrm>
          <a:prstGeom prst="rect">
            <a:avLst/>
          </a:prstGeom>
          <a:effectLst/>
        </p:spPr>
      </p:pic>
      <p:cxnSp>
        <p:nvCxnSpPr>
          <p:cNvPr id="124" name="transformer.token-stem-6.1"/>
          <p:cNvCxnSpPr/>
          <p:nvPr/>
        </p:nvCxnSpPr>
        <p:spPr>
          <a:xfrm>
            <a:off x="7379970" y="1828800"/>
            <a:ext cx="0" cy="2209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pic>
        <p:nvPicPr>
          <p:cNvPr id="125" name="transformer.noisy-token-7" descr="noise_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6679" y="1402080"/>
            <a:ext cx="419100" cy="426720"/>
          </a:xfrm>
          <a:prstGeom prst="rect">
            <a:avLst/>
          </a:prstGeom>
          <a:effectLst/>
        </p:spPr>
      </p:pic>
      <p:cxnSp>
        <p:nvCxnSpPr>
          <p:cNvPr id="126" name="transformer.token-stem-7.1"/>
          <p:cNvCxnSpPr/>
          <p:nvPr/>
        </p:nvCxnSpPr>
        <p:spPr>
          <a:xfrm>
            <a:off x="7936230" y="1828800"/>
            <a:ext cx="0" cy="2209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pic>
        <p:nvPicPr>
          <p:cNvPr id="127" name="transformer.urban-transformer.gradient-fill" descr="transformer_gradien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52900" y="2049780"/>
            <a:ext cx="4274820" cy="1104900"/>
          </a:xfrm>
          <a:prstGeom prst="rect">
            <a:avLst/>
          </a:prstGeom>
          <a:effectLst/>
        </p:spPr>
      </p:pic>
      <p:sp>
        <p:nvSpPr>
          <p:cNvPr id="128" name="transformer.urban-transformer"/>
          <p:cNvSpPr/>
          <p:nvPr/>
        </p:nvSpPr>
        <p:spPr>
          <a:xfrm>
            <a:off x="4152900" y="2049780"/>
            <a:ext cx="4274820" cy="1104900"/>
          </a:xfrm>
          <a:prstGeom prst="roundRect">
            <a:avLst>
              <a:gd name="adj" fmla="val 15862"/>
            </a:avLst>
          </a:prstGeom>
          <a:noFill/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ransformer.urban-transformer-label"/>
          <p:cNvSpPr txBox="1"/>
          <p:nvPr/>
        </p:nvSpPr>
        <p:spPr>
          <a:xfrm>
            <a:off x="4251960" y="2331720"/>
            <a:ext cx="4076699" cy="487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Liberation Serif"/>
              </a:rPr>
              <a:t>Urban Diffusion Transformer</a:t>
            </a:r>
          </a:p>
        </p:txBody>
      </p:sp>
      <p:sp>
        <p:nvSpPr>
          <p:cNvPr id="130" name="transformer.concat-box"/>
          <p:cNvSpPr/>
          <p:nvPr/>
        </p:nvSpPr>
        <p:spPr>
          <a:xfrm>
            <a:off x="5875020" y="3314700"/>
            <a:ext cx="1120140" cy="3352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ransformer.concat-label"/>
          <p:cNvSpPr txBox="1"/>
          <p:nvPr/>
        </p:nvSpPr>
        <p:spPr>
          <a:xfrm>
            <a:off x="5958840" y="3329940"/>
            <a:ext cx="96012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Liberation Serif"/>
              </a:rPr>
              <a:t>Concat</a:t>
            </a:r>
          </a:p>
        </p:txBody>
      </p:sp>
      <p:sp>
        <p:nvSpPr>
          <p:cNvPr id="132" name="transformer.patching-box"/>
          <p:cNvSpPr/>
          <p:nvPr/>
        </p:nvSpPr>
        <p:spPr>
          <a:xfrm>
            <a:off x="4152900" y="3832860"/>
            <a:ext cx="2308860" cy="937259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ransformer.patching-label"/>
          <p:cNvSpPr txBox="1"/>
          <p:nvPr/>
        </p:nvSpPr>
        <p:spPr>
          <a:xfrm>
            <a:off x="4282440" y="3909060"/>
            <a:ext cx="2049780" cy="7848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Spatio-temporal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patching</a:t>
            </a:r>
          </a:p>
        </p:txBody>
      </p:sp>
      <p:sp>
        <p:nvSpPr>
          <p:cNvPr id="134" name="transformer.embedding-box"/>
          <p:cNvSpPr/>
          <p:nvPr/>
        </p:nvSpPr>
        <p:spPr>
          <a:xfrm>
            <a:off x="6644640" y="3832860"/>
            <a:ext cx="1767840" cy="937259"/>
          </a:xfrm>
          <a:prstGeom prst="roundRect">
            <a:avLst>
              <a:gd name="adj" fmla="val 14634"/>
            </a:avLst>
          </a:prstGeom>
          <a:solidFill>
            <a:srgbClr val="F2F2F2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ransformer.embedding-label"/>
          <p:cNvSpPr txBox="1"/>
          <p:nvPr/>
        </p:nvSpPr>
        <p:spPr>
          <a:xfrm>
            <a:off x="6713220" y="3909060"/>
            <a:ext cx="1630680" cy="7848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Embedding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layer</a:t>
            </a:r>
          </a:p>
        </p:txBody>
      </p:sp>
      <p:sp>
        <p:nvSpPr>
          <p:cNvPr id="136" name="transformer.noisy-data-box"/>
          <p:cNvSpPr/>
          <p:nvPr/>
        </p:nvSpPr>
        <p:spPr>
          <a:xfrm>
            <a:off x="4152900" y="5288280"/>
            <a:ext cx="2308860" cy="929640"/>
          </a:xfrm>
          <a:prstGeom prst="roundRect">
            <a:avLst>
              <a:gd name="adj" fmla="val 13934"/>
            </a:avLst>
          </a:prstGeom>
          <a:solidFill>
            <a:srgbClr val="FFFFFF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ransformer.noisy-data-label"/>
          <p:cNvSpPr txBox="1"/>
          <p:nvPr/>
        </p:nvSpPr>
        <p:spPr>
          <a:xfrm>
            <a:off x="4488180" y="5364480"/>
            <a:ext cx="1638300" cy="7772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Noisy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ST data</a:t>
            </a:r>
          </a:p>
        </p:txBody>
      </p:sp>
      <p:sp>
        <p:nvSpPr>
          <p:cNvPr id="138" name="transformer.timestep-box"/>
          <p:cNvSpPr/>
          <p:nvPr/>
        </p:nvSpPr>
        <p:spPr>
          <a:xfrm>
            <a:off x="6736080" y="5288280"/>
            <a:ext cx="1600200" cy="929640"/>
          </a:xfrm>
          <a:prstGeom prst="roundRect">
            <a:avLst>
              <a:gd name="adj" fmla="val 13934"/>
            </a:avLst>
          </a:prstGeom>
          <a:solidFill>
            <a:srgbClr val="F2F2F2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ransformer.timestep-label"/>
          <p:cNvSpPr txBox="1"/>
          <p:nvPr/>
        </p:nvSpPr>
        <p:spPr>
          <a:xfrm>
            <a:off x="6850380" y="5372100"/>
            <a:ext cx="1371600" cy="4419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Timestep</a:t>
            </a:r>
          </a:p>
        </p:txBody>
      </p:sp>
      <p:sp>
        <p:nvSpPr>
          <p:cNvPr id="140" name="transformer.timestep-symbol"/>
          <p:cNvSpPr txBox="1"/>
          <p:nvPr/>
        </p:nvSpPr>
        <p:spPr>
          <a:xfrm>
            <a:off x="7254240" y="5768340"/>
            <a:ext cx="548640" cy="3505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cxnSp>
        <p:nvCxnSpPr>
          <p:cNvPr id="141" name="connectors.transformer-to-concat-left.1"/>
          <p:cNvCxnSpPr/>
          <p:nvPr/>
        </p:nvCxnSpPr>
        <p:spPr>
          <a:xfrm>
            <a:off x="5303520" y="3154680"/>
            <a:ext cx="0" cy="32766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cxnSp>
        <p:nvCxnSpPr>
          <p:cNvPr id="142" name="connectors.transformer-to-concat-left.2"/>
          <p:cNvCxnSpPr/>
          <p:nvPr/>
        </p:nvCxnSpPr>
        <p:spPr>
          <a:xfrm>
            <a:off x="5303520" y="3482340"/>
            <a:ext cx="57150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143" name="connectors.transformer-to-concat-left.arrowhead"/>
          <p:cNvSpPr/>
          <p:nvPr/>
        </p:nvSpPr>
        <p:spPr>
          <a:xfrm rot="5400000">
            <a:off x="5775960" y="343281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4" name="connectors.patching-up.1"/>
          <p:cNvCxnSpPr/>
          <p:nvPr/>
        </p:nvCxnSpPr>
        <p:spPr>
          <a:xfrm flipV="1">
            <a:off x="5303520" y="3649980"/>
            <a:ext cx="0" cy="1828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cxnSp>
        <p:nvCxnSpPr>
          <p:cNvPr id="145" name="connectors.transformer-embedding-stem.1"/>
          <p:cNvCxnSpPr/>
          <p:nvPr/>
        </p:nvCxnSpPr>
        <p:spPr>
          <a:xfrm>
            <a:off x="7528559" y="3154680"/>
            <a:ext cx="0" cy="6781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cxnSp>
        <p:nvCxnSpPr>
          <p:cNvPr id="146" name="connectors.embedding-to-timestep.1"/>
          <p:cNvCxnSpPr/>
          <p:nvPr/>
        </p:nvCxnSpPr>
        <p:spPr>
          <a:xfrm>
            <a:off x="7528559" y="4770120"/>
            <a:ext cx="0" cy="51816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cxnSp>
        <p:nvCxnSpPr>
          <p:cNvPr id="147" name="connectors.noisy-to-patching.1"/>
          <p:cNvCxnSpPr/>
          <p:nvPr/>
        </p:nvCxnSpPr>
        <p:spPr>
          <a:xfrm flipV="1">
            <a:off x="5303520" y="4770120"/>
            <a:ext cx="0" cy="51816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148" name="prompt.prompt-outer"/>
          <p:cNvSpPr/>
          <p:nvPr/>
        </p:nvSpPr>
        <p:spPr>
          <a:xfrm>
            <a:off x="9113520" y="152400"/>
            <a:ext cx="4663440" cy="4343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prompt.data-prompt-box"/>
          <p:cNvSpPr/>
          <p:nvPr/>
        </p:nvSpPr>
        <p:spPr>
          <a:xfrm>
            <a:off x="9296400" y="281940"/>
            <a:ext cx="3444240" cy="2354580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 w="22859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prompt.data-brain-1-lobe-0"/>
          <p:cNvSpPr/>
          <p:nvPr/>
        </p:nvSpPr>
        <p:spPr>
          <a:xfrm>
            <a:off x="9494672" y="384352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prompt.data-brain-1-lobe-1"/>
          <p:cNvSpPr/>
          <p:nvPr/>
        </p:nvSpPr>
        <p:spPr>
          <a:xfrm>
            <a:off x="9461906" y="495757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prompt.data-brain-1-lobe-2"/>
          <p:cNvSpPr/>
          <p:nvPr/>
        </p:nvSpPr>
        <p:spPr>
          <a:xfrm>
            <a:off x="9501225" y="607161"/>
            <a:ext cx="170383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prompt.data-brain-1-lobe-3"/>
          <p:cNvSpPr/>
          <p:nvPr/>
        </p:nvSpPr>
        <p:spPr>
          <a:xfrm>
            <a:off x="9592970" y="345033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prompt.data-brain-1-lobe-4"/>
          <p:cNvSpPr/>
          <p:nvPr/>
        </p:nvSpPr>
        <p:spPr>
          <a:xfrm>
            <a:off x="9710928" y="345033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prompt.data-brain-1-lobe-5"/>
          <p:cNvSpPr/>
          <p:nvPr/>
        </p:nvSpPr>
        <p:spPr>
          <a:xfrm>
            <a:off x="9802672" y="397459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prompt.data-brain-1-lobe-6"/>
          <p:cNvSpPr/>
          <p:nvPr/>
        </p:nvSpPr>
        <p:spPr>
          <a:xfrm>
            <a:off x="9815779" y="521970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prompt.data-brain-1-lobe-7"/>
          <p:cNvSpPr/>
          <p:nvPr/>
        </p:nvSpPr>
        <p:spPr>
          <a:xfrm>
            <a:off x="9750247" y="626821"/>
            <a:ext cx="170383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8" name="prompt.data-brain-1-middle.1"/>
          <p:cNvCxnSpPr/>
          <p:nvPr/>
        </p:nvCxnSpPr>
        <p:spPr>
          <a:xfrm>
            <a:off x="9730587" y="371246"/>
            <a:ext cx="0" cy="419405"/>
          </a:xfrm>
          <a:prstGeom prst="line">
            <a:avLst/>
          </a:prstGeom>
          <a:ln w="26212">
            <a:solidFill>
              <a:srgbClr val="343399"/>
            </a:solidFill>
          </a:ln>
          <a:effectLst/>
        </p:spPr>
      </p:cxnSp>
      <p:cxnSp>
        <p:nvCxnSpPr>
          <p:cNvPr id="159" name="prompt.data-brain-1-signal-left.1"/>
          <p:cNvCxnSpPr/>
          <p:nvPr/>
        </p:nvCxnSpPr>
        <p:spPr>
          <a:xfrm>
            <a:off x="9573310" y="594055"/>
            <a:ext cx="5242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60" name="prompt.data-brain-1-signal-left.2"/>
          <p:cNvCxnSpPr/>
          <p:nvPr/>
        </p:nvCxnSpPr>
        <p:spPr>
          <a:xfrm flipH="1">
            <a:off x="9592970" y="633374"/>
            <a:ext cx="3276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61" name="prompt.data-brain-1-signal-right.1"/>
          <p:cNvCxnSpPr/>
          <p:nvPr/>
        </p:nvCxnSpPr>
        <p:spPr>
          <a:xfrm flipH="1">
            <a:off x="9828885" y="594055"/>
            <a:ext cx="5242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62" name="prompt.data-brain-1-signal-right.2"/>
          <p:cNvCxnSpPr/>
          <p:nvPr/>
        </p:nvCxnSpPr>
        <p:spPr>
          <a:xfrm>
            <a:off x="9828885" y="633374"/>
            <a:ext cx="3276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sp>
        <p:nvSpPr>
          <p:cNvPr id="163" name="prompt.pattern-box-1"/>
          <p:cNvSpPr/>
          <p:nvPr/>
        </p:nvSpPr>
        <p:spPr>
          <a:xfrm>
            <a:off x="10431780" y="457200"/>
            <a:ext cx="2148840" cy="32004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22859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prompt.pattern-label-1"/>
          <p:cNvSpPr txBox="1"/>
          <p:nvPr/>
        </p:nvSpPr>
        <p:spPr>
          <a:xfrm>
            <a:off x="10500360" y="472440"/>
            <a:ext cx="2011680" cy="289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Liberation Serif"/>
              </a:rPr>
              <a:t>Frequency pattern</a:t>
            </a:r>
          </a:p>
        </p:txBody>
      </p:sp>
      <p:cxnSp>
        <p:nvCxnSpPr>
          <p:cNvPr id="165" name="prompt.pattern-arrow-1.1"/>
          <p:cNvCxnSpPr/>
          <p:nvPr/>
        </p:nvCxnSpPr>
        <p:spPr>
          <a:xfrm flipH="1">
            <a:off x="10203180" y="617220"/>
            <a:ext cx="22860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166" name="prompt.pattern-arrow-1.arrowhead"/>
          <p:cNvSpPr/>
          <p:nvPr/>
        </p:nvSpPr>
        <p:spPr>
          <a:xfrm rot="16200000">
            <a:off x="10203180" y="56769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prompt.data-brain-2-lobe-0"/>
          <p:cNvSpPr/>
          <p:nvPr/>
        </p:nvSpPr>
        <p:spPr>
          <a:xfrm>
            <a:off x="9494672" y="993952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prompt.data-brain-2-lobe-1"/>
          <p:cNvSpPr/>
          <p:nvPr/>
        </p:nvSpPr>
        <p:spPr>
          <a:xfrm>
            <a:off x="9461906" y="1105357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prompt.data-brain-2-lobe-2"/>
          <p:cNvSpPr/>
          <p:nvPr/>
        </p:nvSpPr>
        <p:spPr>
          <a:xfrm>
            <a:off x="9501225" y="1216761"/>
            <a:ext cx="170383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prompt.data-brain-2-lobe-3"/>
          <p:cNvSpPr/>
          <p:nvPr/>
        </p:nvSpPr>
        <p:spPr>
          <a:xfrm>
            <a:off x="9592970" y="954633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prompt.data-brain-2-lobe-4"/>
          <p:cNvSpPr/>
          <p:nvPr/>
        </p:nvSpPr>
        <p:spPr>
          <a:xfrm>
            <a:off x="9710928" y="954633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prompt.data-brain-2-lobe-5"/>
          <p:cNvSpPr/>
          <p:nvPr/>
        </p:nvSpPr>
        <p:spPr>
          <a:xfrm>
            <a:off x="9802672" y="1007059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prompt.data-brain-2-lobe-6"/>
          <p:cNvSpPr/>
          <p:nvPr/>
        </p:nvSpPr>
        <p:spPr>
          <a:xfrm>
            <a:off x="9815779" y="1131570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prompt.data-brain-2-lobe-7"/>
          <p:cNvSpPr/>
          <p:nvPr/>
        </p:nvSpPr>
        <p:spPr>
          <a:xfrm>
            <a:off x="9750247" y="1236421"/>
            <a:ext cx="170383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5" name="prompt.data-brain-2-middle.1"/>
          <p:cNvCxnSpPr/>
          <p:nvPr/>
        </p:nvCxnSpPr>
        <p:spPr>
          <a:xfrm>
            <a:off x="9730587" y="980846"/>
            <a:ext cx="0" cy="419405"/>
          </a:xfrm>
          <a:prstGeom prst="line">
            <a:avLst/>
          </a:prstGeom>
          <a:ln w="26212">
            <a:solidFill>
              <a:srgbClr val="343399"/>
            </a:solidFill>
          </a:ln>
          <a:effectLst/>
        </p:spPr>
      </p:cxnSp>
      <p:cxnSp>
        <p:nvCxnSpPr>
          <p:cNvPr id="176" name="prompt.data-brain-2-signal-left.1"/>
          <p:cNvCxnSpPr/>
          <p:nvPr/>
        </p:nvCxnSpPr>
        <p:spPr>
          <a:xfrm>
            <a:off x="9573310" y="1203655"/>
            <a:ext cx="5242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77" name="prompt.data-brain-2-signal-left.2"/>
          <p:cNvCxnSpPr/>
          <p:nvPr/>
        </p:nvCxnSpPr>
        <p:spPr>
          <a:xfrm flipH="1">
            <a:off x="9592970" y="1242974"/>
            <a:ext cx="3276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78" name="prompt.data-brain-2-signal-right.1"/>
          <p:cNvCxnSpPr/>
          <p:nvPr/>
        </p:nvCxnSpPr>
        <p:spPr>
          <a:xfrm flipH="1">
            <a:off x="9828885" y="1203655"/>
            <a:ext cx="5242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79" name="prompt.data-brain-2-signal-right.2"/>
          <p:cNvCxnSpPr/>
          <p:nvPr/>
        </p:nvCxnSpPr>
        <p:spPr>
          <a:xfrm>
            <a:off x="9828885" y="1242974"/>
            <a:ext cx="3276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sp>
        <p:nvSpPr>
          <p:cNvPr id="180" name="prompt.pattern-box-2"/>
          <p:cNvSpPr/>
          <p:nvPr/>
        </p:nvSpPr>
        <p:spPr>
          <a:xfrm>
            <a:off x="10431780" y="1066800"/>
            <a:ext cx="2148840" cy="32004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22859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prompt.pattern-label-2"/>
          <p:cNvSpPr txBox="1"/>
          <p:nvPr/>
        </p:nvSpPr>
        <p:spPr>
          <a:xfrm>
            <a:off x="10500360" y="1082040"/>
            <a:ext cx="2011680" cy="289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Liberation Serif"/>
              </a:rPr>
              <a:t>Temporal pattern</a:t>
            </a:r>
          </a:p>
        </p:txBody>
      </p:sp>
      <p:cxnSp>
        <p:nvCxnSpPr>
          <p:cNvPr id="182" name="prompt.pattern-arrow-2.1"/>
          <p:cNvCxnSpPr/>
          <p:nvPr/>
        </p:nvCxnSpPr>
        <p:spPr>
          <a:xfrm flipH="1">
            <a:off x="10203180" y="1226820"/>
            <a:ext cx="22860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183" name="prompt.pattern-arrow-2.arrowhead"/>
          <p:cNvSpPr/>
          <p:nvPr/>
        </p:nvSpPr>
        <p:spPr>
          <a:xfrm rot="16200000">
            <a:off x="10203180" y="117729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prompt.data-brain-3-lobe-0"/>
          <p:cNvSpPr/>
          <p:nvPr/>
        </p:nvSpPr>
        <p:spPr>
          <a:xfrm>
            <a:off x="9494672" y="1603552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prompt.data-brain-3-lobe-1"/>
          <p:cNvSpPr/>
          <p:nvPr/>
        </p:nvSpPr>
        <p:spPr>
          <a:xfrm>
            <a:off x="9461906" y="1714957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prompt.data-brain-3-lobe-2"/>
          <p:cNvSpPr/>
          <p:nvPr/>
        </p:nvSpPr>
        <p:spPr>
          <a:xfrm>
            <a:off x="9501225" y="1826361"/>
            <a:ext cx="170383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prompt.data-brain-3-lobe-3"/>
          <p:cNvSpPr/>
          <p:nvPr/>
        </p:nvSpPr>
        <p:spPr>
          <a:xfrm>
            <a:off x="9592970" y="1564233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prompt.data-brain-3-lobe-4"/>
          <p:cNvSpPr/>
          <p:nvPr/>
        </p:nvSpPr>
        <p:spPr>
          <a:xfrm>
            <a:off x="9710928" y="1564233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prompt.data-brain-3-lobe-5"/>
          <p:cNvSpPr/>
          <p:nvPr/>
        </p:nvSpPr>
        <p:spPr>
          <a:xfrm>
            <a:off x="9802672" y="1616659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prompt.data-brain-3-lobe-6"/>
          <p:cNvSpPr/>
          <p:nvPr/>
        </p:nvSpPr>
        <p:spPr>
          <a:xfrm>
            <a:off x="9815779" y="1741170"/>
            <a:ext cx="157276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prompt.data-brain-3-lobe-7"/>
          <p:cNvSpPr/>
          <p:nvPr/>
        </p:nvSpPr>
        <p:spPr>
          <a:xfrm>
            <a:off x="9750247" y="1846021"/>
            <a:ext cx="170383" cy="183489"/>
          </a:xfrm>
          <a:prstGeom prst="ellipse">
            <a:avLst/>
          </a:prstGeom>
          <a:solidFill>
            <a:srgbClr val="FFFFFF"/>
          </a:solidFill>
          <a:ln w="2621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2" name="prompt.data-brain-3-middle.1"/>
          <p:cNvCxnSpPr/>
          <p:nvPr/>
        </p:nvCxnSpPr>
        <p:spPr>
          <a:xfrm>
            <a:off x="9730587" y="1590446"/>
            <a:ext cx="0" cy="419405"/>
          </a:xfrm>
          <a:prstGeom prst="line">
            <a:avLst/>
          </a:prstGeom>
          <a:ln w="26212">
            <a:solidFill>
              <a:srgbClr val="343399"/>
            </a:solidFill>
          </a:ln>
          <a:effectLst/>
        </p:spPr>
      </p:cxnSp>
      <p:cxnSp>
        <p:nvCxnSpPr>
          <p:cNvPr id="193" name="prompt.data-brain-3-signal-left.1"/>
          <p:cNvCxnSpPr/>
          <p:nvPr/>
        </p:nvCxnSpPr>
        <p:spPr>
          <a:xfrm>
            <a:off x="9573310" y="1813255"/>
            <a:ext cx="5242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94" name="prompt.data-brain-3-signal-left.2"/>
          <p:cNvCxnSpPr/>
          <p:nvPr/>
        </p:nvCxnSpPr>
        <p:spPr>
          <a:xfrm flipH="1">
            <a:off x="9592970" y="1852574"/>
            <a:ext cx="3276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95" name="prompt.data-brain-3-signal-right.1"/>
          <p:cNvCxnSpPr/>
          <p:nvPr/>
        </p:nvCxnSpPr>
        <p:spPr>
          <a:xfrm flipH="1">
            <a:off x="9828885" y="1813255"/>
            <a:ext cx="5242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cxnSp>
        <p:nvCxnSpPr>
          <p:cNvPr id="196" name="prompt.data-brain-3-signal-right.2"/>
          <p:cNvCxnSpPr/>
          <p:nvPr/>
        </p:nvCxnSpPr>
        <p:spPr>
          <a:xfrm>
            <a:off x="9828885" y="1852574"/>
            <a:ext cx="32766" cy="39319"/>
          </a:xfrm>
          <a:prstGeom prst="line">
            <a:avLst/>
          </a:prstGeom>
          <a:ln w="26212">
            <a:solidFill>
              <a:srgbClr val="F0A000"/>
            </a:solidFill>
          </a:ln>
          <a:effectLst/>
        </p:spPr>
      </p:cxnSp>
      <p:sp>
        <p:nvSpPr>
          <p:cNvPr id="197" name="prompt.pattern-box-3"/>
          <p:cNvSpPr/>
          <p:nvPr/>
        </p:nvSpPr>
        <p:spPr>
          <a:xfrm>
            <a:off x="10431780" y="1676400"/>
            <a:ext cx="2148840" cy="32004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22859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prompt.pattern-label-3"/>
          <p:cNvSpPr txBox="1"/>
          <p:nvPr/>
        </p:nvSpPr>
        <p:spPr>
          <a:xfrm>
            <a:off x="10500360" y="1691640"/>
            <a:ext cx="2011680" cy="289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Liberation Serif"/>
              </a:rPr>
              <a:t>Spatial pattern</a:t>
            </a:r>
          </a:p>
        </p:txBody>
      </p:sp>
      <p:cxnSp>
        <p:nvCxnSpPr>
          <p:cNvPr id="199" name="prompt.pattern-arrow-3.1"/>
          <p:cNvCxnSpPr/>
          <p:nvPr/>
        </p:nvCxnSpPr>
        <p:spPr>
          <a:xfrm flipH="1">
            <a:off x="10203180" y="1836420"/>
            <a:ext cx="22860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200" name="prompt.pattern-arrow-3.arrowhead"/>
          <p:cNvSpPr/>
          <p:nvPr/>
        </p:nvSpPr>
        <p:spPr>
          <a:xfrm rot="16200000">
            <a:off x="10203180" y="178689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prompt.data-memory"/>
          <p:cNvSpPr txBox="1"/>
          <p:nvPr/>
        </p:nvSpPr>
        <p:spPr>
          <a:xfrm>
            <a:off x="9372600" y="2103120"/>
            <a:ext cx="883920" cy="487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Liberation Serif"/>
              </a:rPr>
              <a:t>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Liberation Serif"/>
              </a:rPr>
              <a:t>memory</a:t>
            </a:r>
          </a:p>
        </p:txBody>
      </p:sp>
      <p:sp>
        <p:nvSpPr>
          <p:cNvPr id="202" name="prompt.data-driven-label"/>
          <p:cNvSpPr txBox="1"/>
          <p:nvPr/>
        </p:nvSpPr>
        <p:spPr>
          <a:xfrm>
            <a:off x="10309860" y="2186940"/>
            <a:ext cx="2324100" cy="3733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000000"/>
                </a:solidFill>
                <a:latin typeface="Liberation Serif"/>
              </a:rPr>
              <a:t>Data-driven prompt</a:t>
            </a:r>
          </a:p>
        </p:txBody>
      </p:sp>
      <p:cxnSp>
        <p:nvCxnSpPr>
          <p:cNvPr id="203" name="prompt.st-data-arrow.1"/>
          <p:cNvCxnSpPr/>
          <p:nvPr/>
        </p:nvCxnSpPr>
        <p:spPr>
          <a:xfrm flipH="1">
            <a:off x="12740640" y="1295400"/>
            <a:ext cx="22860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204" name="prompt.st-data-arrow.arrowhead"/>
          <p:cNvSpPr/>
          <p:nvPr/>
        </p:nvSpPr>
        <p:spPr>
          <a:xfrm rot="16200000">
            <a:off x="12740640" y="124587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prompt.st-data-label"/>
          <p:cNvSpPr txBox="1"/>
          <p:nvPr/>
        </p:nvSpPr>
        <p:spPr>
          <a:xfrm>
            <a:off x="12915900" y="967740"/>
            <a:ext cx="762000" cy="7315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0" b="0" i="0">
                <a:solidFill>
                  <a:srgbClr val="000000"/>
                </a:solidFill>
                <a:latin typeface="Liberation Serif"/>
              </a:rPr>
              <a:t>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0" b="0" i="0">
                <a:solidFill>
                  <a:srgbClr val="000000"/>
                </a:solidFill>
                <a:latin typeface="Liberation Serif"/>
              </a:rPr>
              <a:t>Data</a:t>
            </a:r>
          </a:p>
        </p:txBody>
      </p:sp>
      <p:sp>
        <p:nvSpPr>
          <p:cNvPr id="206" name="prompt.task-prompt-box"/>
          <p:cNvSpPr/>
          <p:nvPr/>
        </p:nvSpPr>
        <p:spPr>
          <a:xfrm>
            <a:off x="9296400" y="2796540"/>
            <a:ext cx="3444240" cy="1577340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22859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prompt.task-brain-lobe-0"/>
          <p:cNvSpPr/>
          <p:nvPr/>
        </p:nvSpPr>
        <p:spPr>
          <a:xfrm>
            <a:off x="9503359" y="3059582"/>
            <a:ext cx="160934" cy="187756"/>
          </a:xfrm>
          <a:prstGeom prst="ellipse">
            <a:avLst/>
          </a:prstGeom>
          <a:solidFill>
            <a:srgbClr val="FFFFFF"/>
          </a:solidFill>
          <a:ln w="2682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prompt.task-brain-lobe-1"/>
          <p:cNvSpPr/>
          <p:nvPr/>
        </p:nvSpPr>
        <p:spPr>
          <a:xfrm>
            <a:off x="9469831" y="3173577"/>
            <a:ext cx="160934" cy="187756"/>
          </a:xfrm>
          <a:prstGeom prst="ellipse">
            <a:avLst/>
          </a:prstGeom>
          <a:solidFill>
            <a:srgbClr val="FFFFFF"/>
          </a:solidFill>
          <a:ln w="2682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prompt.task-brain-lobe-2"/>
          <p:cNvSpPr/>
          <p:nvPr/>
        </p:nvSpPr>
        <p:spPr>
          <a:xfrm>
            <a:off x="9510064" y="3287572"/>
            <a:ext cx="174345" cy="187756"/>
          </a:xfrm>
          <a:prstGeom prst="ellipse">
            <a:avLst/>
          </a:prstGeom>
          <a:solidFill>
            <a:srgbClr val="FFFFFF"/>
          </a:solidFill>
          <a:ln w="2682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prompt.task-brain-lobe-3"/>
          <p:cNvSpPr/>
          <p:nvPr/>
        </p:nvSpPr>
        <p:spPr>
          <a:xfrm>
            <a:off x="9603943" y="3019348"/>
            <a:ext cx="160934" cy="187756"/>
          </a:xfrm>
          <a:prstGeom prst="ellipse">
            <a:avLst/>
          </a:prstGeom>
          <a:solidFill>
            <a:srgbClr val="FFFFFF"/>
          </a:solidFill>
          <a:ln w="2682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prompt.task-brain-lobe-4"/>
          <p:cNvSpPr/>
          <p:nvPr/>
        </p:nvSpPr>
        <p:spPr>
          <a:xfrm>
            <a:off x="9724644" y="3019348"/>
            <a:ext cx="160934" cy="187756"/>
          </a:xfrm>
          <a:prstGeom prst="ellipse">
            <a:avLst/>
          </a:prstGeom>
          <a:solidFill>
            <a:srgbClr val="FFFFFF"/>
          </a:solidFill>
          <a:ln w="2682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prompt.task-brain-lobe-5"/>
          <p:cNvSpPr/>
          <p:nvPr/>
        </p:nvSpPr>
        <p:spPr>
          <a:xfrm>
            <a:off x="9818522" y="3072993"/>
            <a:ext cx="160934" cy="187756"/>
          </a:xfrm>
          <a:prstGeom prst="ellipse">
            <a:avLst/>
          </a:prstGeom>
          <a:solidFill>
            <a:srgbClr val="FFFFFF"/>
          </a:solidFill>
          <a:ln w="2682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prompt.task-brain-lobe-6"/>
          <p:cNvSpPr/>
          <p:nvPr/>
        </p:nvSpPr>
        <p:spPr>
          <a:xfrm>
            <a:off x="9831933" y="3200400"/>
            <a:ext cx="160934" cy="187756"/>
          </a:xfrm>
          <a:prstGeom prst="ellipse">
            <a:avLst/>
          </a:prstGeom>
          <a:solidFill>
            <a:srgbClr val="FFFFFF"/>
          </a:solidFill>
          <a:ln w="2682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prompt.task-brain-lobe-7"/>
          <p:cNvSpPr/>
          <p:nvPr/>
        </p:nvSpPr>
        <p:spPr>
          <a:xfrm>
            <a:off x="9764877" y="3307689"/>
            <a:ext cx="174345" cy="187756"/>
          </a:xfrm>
          <a:prstGeom prst="ellipse">
            <a:avLst/>
          </a:prstGeom>
          <a:solidFill>
            <a:srgbClr val="FFFFFF"/>
          </a:solidFill>
          <a:ln w="26822">
            <a:solidFill>
              <a:srgbClr val="34339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5" name="prompt.task-brain-middle.1"/>
          <p:cNvCxnSpPr/>
          <p:nvPr/>
        </p:nvCxnSpPr>
        <p:spPr>
          <a:xfrm>
            <a:off x="9744760" y="3046171"/>
            <a:ext cx="0" cy="429158"/>
          </a:xfrm>
          <a:prstGeom prst="line">
            <a:avLst/>
          </a:prstGeom>
          <a:ln w="26822">
            <a:solidFill>
              <a:srgbClr val="343399"/>
            </a:solidFill>
          </a:ln>
          <a:effectLst/>
        </p:spPr>
      </p:cxnSp>
      <p:cxnSp>
        <p:nvCxnSpPr>
          <p:cNvPr id="216" name="prompt.task-brain-signal-left.1"/>
          <p:cNvCxnSpPr/>
          <p:nvPr/>
        </p:nvCxnSpPr>
        <p:spPr>
          <a:xfrm>
            <a:off x="9583826" y="3274161"/>
            <a:ext cx="53645" cy="40234"/>
          </a:xfrm>
          <a:prstGeom prst="line">
            <a:avLst/>
          </a:prstGeom>
          <a:ln w="26822">
            <a:solidFill>
              <a:srgbClr val="F0A000"/>
            </a:solidFill>
          </a:ln>
          <a:effectLst/>
        </p:spPr>
      </p:cxnSp>
      <p:cxnSp>
        <p:nvCxnSpPr>
          <p:cNvPr id="217" name="prompt.task-brain-signal-left.2"/>
          <p:cNvCxnSpPr/>
          <p:nvPr/>
        </p:nvCxnSpPr>
        <p:spPr>
          <a:xfrm flipH="1">
            <a:off x="9603943" y="3314395"/>
            <a:ext cx="33528" cy="40233"/>
          </a:xfrm>
          <a:prstGeom prst="line">
            <a:avLst/>
          </a:prstGeom>
          <a:ln w="26822">
            <a:solidFill>
              <a:srgbClr val="F0A000"/>
            </a:solidFill>
          </a:ln>
          <a:effectLst/>
        </p:spPr>
      </p:cxnSp>
      <p:cxnSp>
        <p:nvCxnSpPr>
          <p:cNvPr id="218" name="prompt.task-brain-signal-right.1"/>
          <p:cNvCxnSpPr/>
          <p:nvPr/>
        </p:nvCxnSpPr>
        <p:spPr>
          <a:xfrm flipH="1">
            <a:off x="9845344" y="3274161"/>
            <a:ext cx="53645" cy="40234"/>
          </a:xfrm>
          <a:prstGeom prst="line">
            <a:avLst/>
          </a:prstGeom>
          <a:ln w="26822">
            <a:solidFill>
              <a:srgbClr val="F0A000"/>
            </a:solidFill>
          </a:ln>
          <a:effectLst/>
        </p:spPr>
      </p:cxnSp>
      <p:cxnSp>
        <p:nvCxnSpPr>
          <p:cNvPr id="219" name="prompt.task-brain-signal-right.2"/>
          <p:cNvCxnSpPr/>
          <p:nvPr/>
        </p:nvCxnSpPr>
        <p:spPr>
          <a:xfrm>
            <a:off x="9845344" y="3314395"/>
            <a:ext cx="33528" cy="40233"/>
          </a:xfrm>
          <a:prstGeom prst="line">
            <a:avLst/>
          </a:prstGeom>
          <a:ln w="26822">
            <a:solidFill>
              <a:srgbClr val="F0A000"/>
            </a:solidFill>
          </a:ln>
          <a:effectLst/>
        </p:spPr>
      </p:cxnSp>
      <p:sp>
        <p:nvSpPr>
          <p:cNvPr id="220" name="prompt.task-memory"/>
          <p:cNvSpPr txBox="1"/>
          <p:nvPr/>
        </p:nvSpPr>
        <p:spPr>
          <a:xfrm>
            <a:off x="9387840" y="3718560"/>
            <a:ext cx="899160" cy="502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Liberation Serif"/>
              </a:rPr>
              <a:t>Task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>
                <a:solidFill>
                  <a:srgbClr val="000000"/>
                </a:solidFill>
                <a:latin typeface="Liberation Serif"/>
              </a:rPr>
              <a:t>memory</a:t>
            </a:r>
          </a:p>
        </p:txBody>
      </p:sp>
      <p:sp>
        <p:nvSpPr>
          <p:cNvPr id="221" name="prompt.attention-box"/>
          <p:cNvSpPr/>
          <p:nvPr/>
        </p:nvSpPr>
        <p:spPr>
          <a:xfrm>
            <a:off x="10523220" y="2842260"/>
            <a:ext cx="342900" cy="115062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prompt.attention-label"/>
          <p:cNvSpPr txBox="1"/>
          <p:nvPr/>
        </p:nvSpPr>
        <p:spPr>
          <a:xfrm rot="5400000">
            <a:off x="10126980" y="3238500"/>
            <a:ext cx="113538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000000"/>
                </a:solidFill>
                <a:latin typeface="Liberation Serif"/>
              </a:rPr>
              <a:t>Attention</a:t>
            </a:r>
          </a:p>
        </p:txBody>
      </p:sp>
      <p:pic>
        <p:nvPicPr>
          <p:cNvPr id="223" name="prompt.task-mask-image" descr="task_mas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09020" y="3063240"/>
            <a:ext cx="1432560" cy="624840"/>
          </a:xfrm>
          <a:prstGeom prst="rect">
            <a:avLst/>
          </a:prstGeom>
          <a:effectLst/>
        </p:spPr>
      </p:pic>
      <p:cxnSp>
        <p:nvCxnSpPr>
          <p:cNvPr id="224" name="prompt.mask-to-attention.1"/>
          <p:cNvCxnSpPr/>
          <p:nvPr/>
        </p:nvCxnSpPr>
        <p:spPr>
          <a:xfrm flipH="1">
            <a:off x="10881360" y="3406140"/>
            <a:ext cx="32766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225" name="prompt.mask-to-attention.arrowhead"/>
          <p:cNvSpPr/>
          <p:nvPr/>
        </p:nvSpPr>
        <p:spPr>
          <a:xfrm rot="16200000">
            <a:off x="10881360" y="335661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6" name="prompt.attention-to-memory.1"/>
          <p:cNvCxnSpPr/>
          <p:nvPr/>
        </p:nvCxnSpPr>
        <p:spPr>
          <a:xfrm flipH="1">
            <a:off x="10226040" y="3406140"/>
            <a:ext cx="29718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227" name="prompt.attention-to-memory.arrowhead"/>
          <p:cNvSpPr/>
          <p:nvPr/>
        </p:nvSpPr>
        <p:spPr>
          <a:xfrm rot="16200000">
            <a:off x="10226040" y="335661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8" name="prompt.mask-label-arrow.1"/>
          <p:cNvCxnSpPr/>
          <p:nvPr/>
        </p:nvCxnSpPr>
        <p:spPr>
          <a:xfrm flipH="1">
            <a:off x="12740640" y="3581400"/>
            <a:ext cx="22860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229" name="prompt.mask-label-arrow.arrowhead"/>
          <p:cNvSpPr/>
          <p:nvPr/>
        </p:nvSpPr>
        <p:spPr>
          <a:xfrm rot="16200000">
            <a:off x="12740640" y="353187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prompt.mask-label"/>
          <p:cNvSpPr txBox="1"/>
          <p:nvPr/>
        </p:nvSpPr>
        <p:spPr>
          <a:xfrm>
            <a:off x="12938760" y="3368040"/>
            <a:ext cx="784860" cy="4267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Mask</a:t>
            </a:r>
          </a:p>
        </p:txBody>
      </p:sp>
      <p:sp>
        <p:nvSpPr>
          <p:cNvPr id="231" name="prompt.task-specific-label"/>
          <p:cNvSpPr txBox="1"/>
          <p:nvPr/>
        </p:nvSpPr>
        <p:spPr>
          <a:xfrm>
            <a:off x="10317480" y="3970020"/>
            <a:ext cx="2354580" cy="3505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000000"/>
                </a:solidFill>
                <a:latin typeface="Liberation Serif"/>
              </a:rPr>
              <a:t>Task-specific prompt</a:t>
            </a:r>
          </a:p>
        </p:txBody>
      </p:sp>
      <p:sp>
        <p:nvSpPr>
          <p:cNvPr id="232" name="captions.prompt-caption"/>
          <p:cNvSpPr txBox="1"/>
          <p:nvPr/>
        </p:nvSpPr>
        <p:spPr>
          <a:xfrm>
            <a:off x="9624060" y="4541520"/>
            <a:ext cx="347472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(d) Unified Prompt Learning</a:t>
            </a:r>
          </a:p>
        </p:txBody>
      </p:sp>
      <p:cxnSp>
        <p:nvCxnSpPr>
          <p:cNvPr id="233" name="connectors.prompt-to-concat.1"/>
          <p:cNvCxnSpPr/>
          <p:nvPr/>
        </p:nvCxnSpPr>
        <p:spPr>
          <a:xfrm flipH="1">
            <a:off x="8732520" y="2324100"/>
            <a:ext cx="38100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cxnSp>
        <p:nvCxnSpPr>
          <p:cNvPr id="234" name="connectors.prompt-to-concat.2"/>
          <p:cNvCxnSpPr/>
          <p:nvPr/>
        </p:nvCxnSpPr>
        <p:spPr>
          <a:xfrm>
            <a:off x="8732520" y="2324100"/>
            <a:ext cx="0" cy="115824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cxnSp>
        <p:nvCxnSpPr>
          <p:cNvPr id="235" name="connectors.prompt-to-concat.3"/>
          <p:cNvCxnSpPr/>
          <p:nvPr/>
        </p:nvCxnSpPr>
        <p:spPr>
          <a:xfrm flipH="1">
            <a:off x="6995160" y="3482340"/>
            <a:ext cx="173736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236" name="connectors.prompt-to-concat.arrowhead"/>
          <p:cNvSpPr/>
          <p:nvPr/>
        </p:nvSpPr>
        <p:spPr>
          <a:xfrm rot="16200000">
            <a:off x="6995160" y="343281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masking.masking-panel"/>
          <p:cNvSpPr/>
          <p:nvPr/>
        </p:nvSpPr>
        <p:spPr>
          <a:xfrm>
            <a:off x="9464040" y="5013960"/>
            <a:ext cx="3947160" cy="1242060"/>
          </a:xfrm>
          <a:prstGeom prst="roundRect">
            <a:avLst>
              <a:gd name="adj" fmla="val 4907"/>
            </a:avLst>
          </a:prstGeom>
          <a:solidFill>
            <a:srgbClr val="FFFFFF"/>
          </a:solidFill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8" name="masking.mask_1" descr="mask_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24060" y="5074920"/>
            <a:ext cx="1074420" cy="533400"/>
          </a:xfrm>
          <a:prstGeom prst="rect">
            <a:avLst/>
          </a:prstGeom>
          <a:effectLst/>
        </p:spPr>
      </p:pic>
      <p:pic>
        <p:nvPicPr>
          <p:cNvPr id="239" name="masking.mask_2" descr="mask_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49940" y="5074920"/>
            <a:ext cx="1028700" cy="533400"/>
          </a:xfrm>
          <a:prstGeom prst="rect">
            <a:avLst/>
          </a:prstGeom>
          <a:effectLst/>
        </p:spPr>
      </p:pic>
      <p:pic>
        <p:nvPicPr>
          <p:cNvPr id="240" name="masking.mask_3" descr="mask_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184380" y="5074920"/>
            <a:ext cx="1028700" cy="533400"/>
          </a:xfrm>
          <a:prstGeom prst="rect">
            <a:avLst/>
          </a:prstGeom>
          <a:effectLst/>
        </p:spPr>
      </p:pic>
      <p:pic>
        <p:nvPicPr>
          <p:cNvPr id="241" name="masking.mask_4" descr="mask_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67900" y="5646420"/>
            <a:ext cx="1219200" cy="541020"/>
          </a:xfrm>
          <a:prstGeom prst="rect">
            <a:avLst/>
          </a:prstGeom>
          <a:effectLst/>
        </p:spPr>
      </p:pic>
      <p:pic>
        <p:nvPicPr>
          <p:cNvPr id="242" name="masking.mask_5" descr="mask_5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75720" y="5646420"/>
            <a:ext cx="1272540" cy="541020"/>
          </a:xfrm>
          <a:prstGeom prst="rect">
            <a:avLst/>
          </a:prstGeom>
          <a:effectLst/>
        </p:spPr>
      </p:pic>
      <p:cxnSp>
        <p:nvCxnSpPr>
          <p:cNvPr id="243" name="connectors.masking-to-input.1"/>
          <p:cNvCxnSpPr/>
          <p:nvPr/>
        </p:nvCxnSpPr>
        <p:spPr>
          <a:xfrm flipH="1">
            <a:off x="5303520" y="5090160"/>
            <a:ext cx="4160520" cy="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sp>
        <p:nvSpPr>
          <p:cNvPr id="244" name="connectors.masking-to-input.arrowhead"/>
          <p:cNvSpPr/>
          <p:nvPr/>
        </p:nvSpPr>
        <p:spPr>
          <a:xfrm rot="16200000">
            <a:off x="5303520" y="5040630"/>
            <a:ext cx="99060" cy="9906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captions.masking-caption"/>
          <p:cNvSpPr txBox="1"/>
          <p:nvPr/>
        </p:nvSpPr>
        <p:spPr>
          <a:xfrm>
            <a:off x="9433560" y="6416040"/>
            <a:ext cx="3947160" cy="3352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(c) Masking Strategies</a:t>
            </a:r>
          </a:p>
        </p:txBody>
      </p:sp>
      <p:sp>
        <p:nvSpPr>
          <p:cNvPr id="246" name="captions.transformer-caption"/>
          <p:cNvSpPr txBox="1"/>
          <p:nvPr/>
        </p:nvSpPr>
        <p:spPr>
          <a:xfrm>
            <a:off x="3962399" y="6416040"/>
            <a:ext cx="4648200" cy="3352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>
                <a:solidFill>
                  <a:srgbClr val="000000"/>
                </a:solidFill>
                <a:latin typeface="Liberation Serif"/>
              </a:rPr>
              <a:t>(b) Urban Diffusion Transformer</a:t>
            </a:r>
          </a:p>
        </p:txBody>
      </p:sp>
      <p:cxnSp>
        <p:nvCxnSpPr>
          <p:cNvPr id="247" name="connectors.embedding-lower-crossing-underlay.1"/>
          <p:cNvCxnSpPr/>
          <p:nvPr/>
        </p:nvCxnSpPr>
        <p:spPr>
          <a:xfrm>
            <a:off x="7528559" y="4960620"/>
            <a:ext cx="0" cy="251460"/>
          </a:xfrm>
          <a:prstGeom prst="line">
            <a:avLst/>
          </a:prstGeom>
          <a:ln w="68580">
            <a:solidFill>
              <a:srgbClr val="FFFFFF"/>
            </a:solidFill>
          </a:ln>
          <a:effectLst/>
        </p:spPr>
      </p:cxnSp>
      <p:cxnSp>
        <p:nvCxnSpPr>
          <p:cNvPr id="248" name="connectors.embedding-lower-crossing.1"/>
          <p:cNvCxnSpPr/>
          <p:nvPr/>
        </p:nvCxnSpPr>
        <p:spPr>
          <a:xfrm>
            <a:off x="7528559" y="4960620"/>
            <a:ext cx="0" cy="25146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cxnSp>
        <p:nvCxnSpPr>
          <p:cNvPr id="249" name="connectors.embedding-upper-crossing-underlay.1"/>
          <p:cNvCxnSpPr/>
          <p:nvPr/>
        </p:nvCxnSpPr>
        <p:spPr>
          <a:xfrm>
            <a:off x="7528559" y="3383280"/>
            <a:ext cx="0" cy="198120"/>
          </a:xfrm>
          <a:prstGeom prst="line">
            <a:avLst/>
          </a:prstGeom>
          <a:ln w="68580">
            <a:solidFill>
              <a:srgbClr val="FFFFFF"/>
            </a:solidFill>
          </a:ln>
          <a:effectLst/>
        </p:spPr>
      </p:cxnSp>
      <p:cxnSp>
        <p:nvCxnSpPr>
          <p:cNvPr id="250" name="connectors.embedding-upper-crossing.1"/>
          <p:cNvCxnSpPr/>
          <p:nvPr/>
        </p:nvCxnSpPr>
        <p:spPr>
          <a:xfrm>
            <a:off x="7528559" y="3383280"/>
            <a:ext cx="0" cy="19812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iffusion Transformers as Open-World Spatiotemporal Foundat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84580" cy="678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