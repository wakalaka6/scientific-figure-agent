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499546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-background"/>
          <p:cNvSpPr/>
          <p:nvPr/>
        </p:nvSpPr>
        <p:spPr>
          <a:xfrm>
            <a:off x="0" y="0"/>
            <a:ext cx="12191999" cy="49954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anel-a-fill"/>
          <p:cNvSpPr/>
          <p:nvPr/>
        </p:nvSpPr>
        <p:spPr>
          <a:xfrm>
            <a:off x="236056" y="140357"/>
            <a:ext cx="11719886" cy="1403579"/>
          </a:xfrm>
          <a:prstGeom prst="roundRect">
            <a:avLst>
              <a:gd name="adj" fmla="val 11363"/>
            </a:avLst>
          </a:prstGeom>
          <a:solidFill>
            <a:srgbClr val="F5FD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anel-a-gradient-0"/>
          <p:cNvSpPr/>
          <p:nvPr/>
        </p:nvSpPr>
        <p:spPr>
          <a:xfrm>
            <a:off x="287095" y="153117"/>
            <a:ext cx="1457808" cy="13652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anel-a-gradient-1"/>
          <p:cNvSpPr/>
          <p:nvPr/>
        </p:nvSpPr>
        <p:spPr>
          <a:xfrm>
            <a:off x="1738524" y="153117"/>
            <a:ext cx="1457808" cy="1365299"/>
          </a:xfrm>
          <a:prstGeom prst="rect">
            <a:avLst/>
          </a:prstGeom>
          <a:solidFill>
            <a:srgbClr val="FCFF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anel-a-gradient-2"/>
          <p:cNvSpPr/>
          <p:nvPr/>
        </p:nvSpPr>
        <p:spPr>
          <a:xfrm>
            <a:off x="3189952" y="153117"/>
            <a:ext cx="1457808" cy="1365299"/>
          </a:xfrm>
          <a:prstGeom prst="rect">
            <a:avLst/>
          </a:prstGeom>
          <a:solidFill>
            <a:srgbClr val="FAF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el-a-gradient-3"/>
          <p:cNvSpPr/>
          <p:nvPr/>
        </p:nvSpPr>
        <p:spPr>
          <a:xfrm>
            <a:off x="4641381" y="153117"/>
            <a:ext cx="1457808" cy="1365299"/>
          </a:xfrm>
          <a:prstGeom prst="rect">
            <a:avLst/>
          </a:prstGeom>
          <a:solidFill>
            <a:srgbClr val="F5FF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anel-a-gradient-4"/>
          <p:cNvSpPr/>
          <p:nvPr/>
        </p:nvSpPr>
        <p:spPr>
          <a:xfrm>
            <a:off x="6092809" y="153117"/>
            <a:ext cx="1457808" cy="1365299"/>
          </a:xfrm>
          <a:prstGeom prst="rect">
            <a:avLst/>
          </a:prstGeom>
          <a:solidFill>
            <a:srgbClr val="EEFF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el-a-gradient-5"/>
          <p:cNvSpPr/>
          <p:nvPr/>
        </p:nvSpPr>
        <p:spPr>
          <a:xfrm>
            <a:off x="7544238" y="153117"/>
            <a:ext cx="1457808" cy="1365299"/>
          </a:xfrm>
          <a:prstGeom prst="rect">
            <a:avLst/>
          </a:prstGeom>
          <a:solidFill>
            <a:srgbClr val="E8FF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el-a-gradient-6"/>
          <p:cNvSpPr/>
          <p:nvPr/>
        </p:nvSpPr>
        <p:spPr>
          <a:xfrm>
            <a:off x="8995666" y="153117"/>
            <a:ext cx="1457808" cy="1365299"/>
          </a:xfrm>
          <a:prstGeom prst="rect">
            <a:avLst/>
          </a:prstGeom>
          <a:solidFill>
            <a:srgbClr val="DDF9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nel-a-gradient-7"/>
          <p:cNvSpPr/>
          <p:nvPr/>
        </p:nvSpPr>
        <p:spPr>
          <a:xfrm>
            <a:off x="10447095" y="153117"/>
            <a:ext cx="1457808" cy="1365299"/>
          </a:xfrm>
          <a:prstGeom prst="rect">
            <a:avLst/>
          </a:prstGeom>
          <a:solidFill>
            <a:srgbClr val="D8F4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anel-a-outline"/>
          <p:cNvSpPr/>
          <p:nvPr/>
        </p:nvSpPr>
        <p:spPr>
          <a:xfrm>
            <a:off x="236056" y="140357"/>
            <a:ext cx="11719886" cy="1403579"/>
          </a:xfrm>
          <a:prstGeom prst="roundRect">
            <a:avLst>
              <a:gd name="adj" fmla="val 11363"/>
            </a:avLst>
          </a:prstGeom>
          <a:noFill/>
          <a:ln w="15240">
            <a:solidFill>
              <a:srgbClr val="8C989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nel-b"/>
          <p:cNvSpPr/>
          <p:nvPr/>
        </p:nvSpPr>
        <p:spPr>
          <a:xfrm>
            <a:off x="242436" y="1639635"/>
            <a:ext cx="11713506" cy="3304791"/>
          </a:xfrm>
          <a:prstGeom prst="roundRect">
            <a:avLst>
              <a:gd name="adj" fmla="val 3861"/>
            </a:avLst>
          </a:prstGeom>
          <a:solidFill>
            <a:srgbClr val="E6F5FC"/>
          </a:solidFill>
          <a:ln w="17145">
            <a:solidFill>
              <a:srgbClr val="75808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itle-a"/>
          <p:cNvSpPr txBox="1"/>
          <p:nvPr/>
        </p:nvSpPr>
        <p:spPr>
          <a:xfrm>
            <a:off x="580571" y="159497"/>
            <a:ext cx="4848728" cy="1977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245E"/>
                </a:solidFill>
                <a:latin typeface="Liberation Serif"/>
              </a:rPr>
              <a:t>(a) The whole process of evolutionary multi-view classification</a:t>
            </a:r>
          </a:p>
        </p:txBody>
      </p:sp>
      <p:sp>
        <p:nvSpPr>
          <p:cNvPr id="15" name="title-b"/>
          <p:cNvSpPr txBox="1"/>
          <p:nvPr/>
        </p:nvSpPr>
        <p:spPr>
          <a:xfrm>
            <a:off x="350894" y="1620496"/>
            <a:ext cx="2934756" cy="2041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245E"/>
                </a:solidFill>
                <a:latin typeface="Liberation Serif"/>
              </a:rPr>
              <a:t>(b) Unbiased fitness evaluation</a:t>
            </a:r>
          </a:p>
        </p:txBody>
      </p:sp>
      <p:sp>
        <p:nvSpPr>
          <p:cNvPr id="16" name="fusion-set"/>
          <p:cNvSpPr/>
          <p:nvPr/>
        </p:nvSpPr>
        <p:spPr>
          <a:xfrm>
            <a:off x="299855" y="491252"/>
            <a:ext cx="803868" cy="338134"/>
          </a:xfrm>
          <a:prstGeom prst="rect">
            <a:avLst/>
          </a:prstGeom>
          <a:solidFill>
            <a:srgbClr val="FAFAFA"/>
          </a:solidFill>
          <a:ln w="14287">
            <a:solidFill>
              <a:srgbClr val="00245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view-set"/>
          <p:cNvSpPr/>
          <p:nvPr/>
        </p:nvSpPr>
        <p:spPr>
          <a:xfrm>
            <a:off x="299855" y="1033544"/>
            <a:ext cx="803868" cy="350894"/>
          </a:xfrm>
          <a:prstGeom prst="rect">
            <a:avLst/>
          </a:prstGeom>
          <a:solidFill>
            <a:srgbClr val="FAFAFA"/>
          </a:solidFill>
          <a:ln w="14287">
            <a:solidFill>
              <a:srgbClr val="00245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usion-token-0-60"/>
          <p:cNvSpPr/>
          <p:nvPr/>
        </p:nvSpPr>
        <p:spPr>
          <a:xfrm>
            <a:off x="325375" y="516772"/>
            <a:ext cx="114838" cy="114838"/>
          </a:xfrm>
          <a:prstGeom prst="ellipse">
            <a:avLst/>
          </a:prstGeom>
          <a:solidFill>
            <a:srgbClr val="D8E0E8"/>
          </a:solidFill>
          <a:ln w="14287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usion-token-0-84"/>
          <p:cNvSpPr/>
          <p:nvPr/>
        </p:nvSpPr>
        <p:spPr>
          <a:xfrm>
            <a:off x="478492" y="516772"/>
            <a:ext cx="114838" cy="114838"/>
          </a:xfrm>
          <a:prstGeom prst="ellipse">
            <a:avLst/>
          </a:prstGeom>
          <a:solidFill>
            <a:srgbClr val="D8E0E8"/>
          </a:solidFill>
          <a:ln w="14287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usion-token-0-160"/>
          <p:cNvSpPr/>
          <p:nvPr/>
        </p:nvSpPr>
        <p:spPr>
          <a:xfrm>
            <a:off x="963365" y="516772"/>
            <a:ext cx="114838" cy="114838"/>
          </a:xfrm>
          <a:prstGeom prst="ellipse">
            <a:avLst/>
          </a:prstGeom>
          <a:solidFill>
            <a:srgbClr val="D8E0E8"/>
          </a:solidFill>
          <a:ln w="14287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usion-dots-0-109"/>
          <p:cNvSpPr/>
          <p:nvPr/>
        </p:nvSpPr>
        <p:spPr>
          <a:xfrm>
            <a:off x="679459" y="558241"/>
            <a:ext cx="31899" cy="3189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fusion-dots-0-123"/>
          <p:cNvSpPr/>
          <p:nvPr/>
        </p:nvSpPr>
        <p:spPr>
          <a:xfrm>
            <a:off x="768778" y="558241"/>
            <a:ext cx="31899" cy="3189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fusion-dots-0-137"/>
          <p:cNvSpPr/>
          <p:nvPr/>
        </p:nvSpPr>
        <p:spPr>
          <a:xfrm>
            <a:off x="858097" y="558241"/>
            <a:ext cx="31899" cy="3189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fusion-token-1-60"/>
          <p:cNvSpPr/>
          <p:nvPr/>
        </p:nvSpPr>
        <p:spPr>
          <a:xfrm>
            <a:off x="325375" y="695409"/>
            <a:ext cx="114838" cy="114838"/>
          </a:xfrm>
          <a:prstGeom prst="ellipse">
            <a:avLst/>
          </a:prstGeom>
          <a:solidFill>
            <a:srgbClr val="D8E0E8"/>
          </a:solidFill>
          <a:ln w="14287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usion-token-1-84"/>
          <p:cNvSpPr/>
          <p:nvPr/>
        </p:nvSpPr>
        <p:spPr>
          <a:xfrm>
            <a:off x="478492" y="695409"/>
            <a:ext cx="114838" cy="114838"/>
          </a:xfrm>
          <a:prstGeom prst="ellipse">
            <a:avLst/>
          </a:prstGeom>
          <a:solidFill>
            <a:srgbClr val="D8E0E8"/>
          </a:solidFill>
          <a:ln w="14287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fusion-token-1-160"/>
          <p:cNvSpPr/>
          <p:nvPr/>
        </p:nvSpPr>
        <p:spPr>
          <a:xfrm>
            <a:off x="963365" y="695409"/>
            <a:ext cx="114838" cy="114838"/>
          </a:xfrm>
          <a:prstGeom prst="ellipse">
            <a:avLst/>
          </a:prstGeom>
          <a:solidFill>
            <a:srgbClr val="D8E0E8"/>
          </a:solidFill>
          <a:ln w="14287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usion-dots-1-109"/>
          <p:cNvSpPr/>
          <p:nvPr/>
        </p:nvSpPr>
        <p:spPr>
          <a:xfrm>
            <a:off x="679459" y="736879"/>
            <a:ext cx="31899" cy="3189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usion-dots-1-123"/>
          <p:cNvSpPr/>
          <p:nvPr/>
        </p:nvSpPr>
        <p:spPr>
          <a:xfrm>
            <a:off x="768778" y="736879"/>
            <a:ext cx="31899" cy="3189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usion-dots-1-137"/>
          <p:cNvSpPr/>
          <p:nvPr/>
        </p:nvSpPr>
        <p:spPr>
          <a:xfrm>
            <a:off x="858097" y="736879"/>
            <a:ext cx="31899" cy="3189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view-token-0"/>
          <p:cNvSpPr/>
          <p:nvPr/>
        </p:nvSpPr>
        <p:spPr>
          <a:xfrm>
            <a:off x="325375" y="1090963"/>
            <a:ext cx="153117" cy="76558"/>
          </a:xfrm>
          <a:prstGeom prst="ellipse">
            <a:avLst/>
          </a:prstGeom>
          <a:solidFill>
            <a:srgbClr val="F4A276"/>
          </a:solidFill>
          <a:ln w="13334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view-token-1"/>
          <p:cNvSpPr/>
          <p:nvPr/>
        </p:nvSpPr>
        <p:spPr>
          <a:xfrm>
            <a:off x="510392" y="1090963"/>
            <a:ext cx="153117" cy="76558"/>
          </a:xfrm>
          <a:prstGeom prst="ellipse">
            <a:avLst/>
          </a:prstGeom>
          <a:solidFill>
            <a:srgbClr val="E97F58"/>
          </a:solidFill>
          <a:ln w="13334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view-token-2"/>
          <p:cNvSpPr/>
          <p:nvPr/>
        </p:nvSpPr>
        <p:spPr>
          <a:xfrm>
            <a:off x="918706" y="1090963"/>
            <a:ext cx="153117" cy="76558"/>
          </a:xfrm>
          <a:prstGeom prst="ellipse">
            <a:avLst/>
          </a:prstGeom>
          <a:solidFill>
            <a:srgbClr val="78AC55"/>
          </a:solidFill>
          <a:ln w="13334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view-token-3"/>
          <p:cNvSpPr/>
          <p:nvPr/>
        </p:nvSpPr>
        <p:spPr>
          <a:xfrm>
            <a:off x="325375" y="1282361"/>
            <a:ext cx="153117" cy="76558"/>
          </a:xfrm>
          <a:prstGeom prst="ellipse">
            <a:avLst/>
          </a:prstGeom>
          <a:solidFill>
            <a:srgbClr val="FFD15A"/>
          </a:solidFill>
          <a:ln w="13334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view-token-4"/>
          <p:cNvSpPr/>
          <p:nvPr/>
        </p:nvSpPr>
        <p:spPr>
          <a:xfrm>
            <a:off x="510392" y="1282361"/>
            <a:ext cx="153117" cy="76558"/>
          </a:xfrm>
          <a:prstGeom prst="ellipse">
            <a:avLst/>
          </a:prstGeom>
          <a:solidFill>
            <a:srgbClr val="4D93C8"/>
          </a:solidFill>
          <a:ln w="13334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view-token-5"/>
          <p:cNvSpPr/>
          <p:nvPr/>
        </p:nvSpPr>
        <p:spPr>
          <a:xfrm>
            <a:off x="918706" y="1282361"/>
            <a:ext cx="153117" cy="76558"/>
          </a:xfrm>
          <a:prstGeom prst="ellipse">
            <a:avLst/>
          </a:prstGeom>
          <a:solidFill>
            <a:srgbClr val="D7D9D8"/>
          </a:solidFill>
          <a:ln w="13334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view-dots-177-116"/>
          <p:cNvSpPr/>
          <p:nvPr/>
        </p:nvSpPr>
        <p:spPr>
          <a:xfrm>
            <a:off x="727309" y="1116483"/>
            <a:ext cx="25519" cy="2551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view-dots-177-128"/>
          <p:cNvSpPr/>
          <p:nvPr/>
        </p:nvSpPr>
        <p:spPr>
          <a:xfrm>
            <a:off x="803868" y="1116483"/>
            <a:ext cx="25519" cy="2551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view-dots-177-140"/>
          <p:cNvSpPr/>
          <p:nvPr/>
        </p:nvSpPr>
        <p:spPr>
          <a:xfrm>
            <a:off x="880426" y="1116483"/>
            <a:ext cx="25519" cy="2551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view-dots-207-116"/>
          <p:cNvSpPr/>
          <p:nvPr/>
        </p:nvSpPr>
        <p:spPr>
          <a:xfrm>
            <a:off x="727309" y="1307880"/>
            <a:ext cx="25519" cy="2551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view-dots-207-128"/>
          <p:cNvSpPr/>
          <p:nvPr/>
        </p:nvSpPr>
        <p:spPr>
          <a:xfrm>
            <a:off x="803868" y="1307880"/>
            <a:ext cx="25519" cy="2551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view-dots-207-140"/>
          <p:cNvSpPr/>
          <p:nvPr/>
        </p:nvSpPr>
        <p:spPr>
          <a:xfrm>
            <a:off x="880426" y="1307880"/>
            <a:ext cx="25519" cy="2551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fusion-set-label"/>
          <p:cNvSpPr txBox="1"/>
          <p:nvPr/>
        </p:nvSpPr>
        <p:spPr>
          <a:xfrm>
            <a:off x="204156" y="842147"/>
            <a:ext cx="1020784" cy="1467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Fusion operator set</a:t>
            </a:r>
          </a:p>
        </p:txBody>
      </p:sp>
      <p:sp>
        <p:nvSpPr>
          <p:cNvPr id="43" name="view-set-label"/>
          <p:cNvSpPr txBox="1"/>
          <p:nvPr/>
        </p:nvSpPr>
        <p:spPr>
          <a:xfrm>
            <a:off x="427453" y="1378059"/>
            <a:ext cx="606091" cy="1339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View set</a:t>
            </a:r>
          </a:p>
        </p:txBody>
      </p:sp>
      <p:cxnSp>
        <p:nvCxnSpPr>
          <p:cNvPr id="44" name="fusion-set-to-search-segment-1"/>
          <p:cNvCxnSpPr/>
          <p:nvPr/>
        </p:nvCxnSpPr>
        <p:spPr>
          <a:xfrm>
            <a:off x="1122863" y="657130"/>
            <a:ext cx="108458" cy="0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45" name="fusion-set-to-search-segment-2"/>
          <p:cNvCxnSpPr/>
          <p:nvPr/>
        </p:nvCxnSpPr>
        <p:spPr>
          <a:xfrm>
            <a:off x="1231321" y="657130"/>
            <a:ext cx="31900" cy="44659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46" name="fusion-set-to-search-segment-3"/>
          <p:cNvCxnSpPr/>
          <p:nvPr/>
        </p:nvCxnSpPr>
        <p:spPr>
          <a:xfrm>
            <a:off x="1263221" y="701789"/>
            <a:ext cx="0" cy="210537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47" name="fusion-set-to-search-segment-4"/>
          <p:cNvCxnSpPr/>
          <p:nvPr/>
        </p:nvCxnSpPr>
        <p:spPr>
          <a:xfrm>
            <a:off x="1263221" y="912326"/>
            <a:ext cx="146738" cy="51039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48" name="view-set-to-search-segment-1"/>
          <p:cNvCxnSpPr/>
          <p:nvPr/>
        </p:nvCxnSpPr>
        <p:spPr>
          <a:xfrm>
            <a:off x="1122863" y="1212182"/>
            <a:ext cx="95698" cy="0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49" name="view-set-to-search-segment-2"/>
          <p:cNvCxnSpPr/>
          <p:nvPr/>
        </p:nvCxnSpPr>
        <p:spPr>
          <a:xfrm flipV="1">
            <a:off x="1218561" y="1167522"/>
            <a:ext cx="44660" cy="44660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50" name="view-set-to-search-segment-3"/>
          <p:cNvCxnSpPr/>
          <p:nvPr/>
        </p:nvCxnSpPr>
        <p:spPr>
          <a:xfrm flipV="1">
            <a:off x="1263221" y="1008025"/>
            <a:ext cx="0" cy="159497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51" name="view-set-to-search-segment-4"/>
          <p:cNvCxnSpPr/>
          <p:nvPr/>
        </p:nvCxnSpPr>
        <p:spPr>
          <a:xfrm flipV="1">
            <a:off x="1263221" y="963365"/>
            <a:ext cx="146738" cy="44660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pic>
        <p:nvPicPr>
          <p:cNvPr id="52" name="surface-texture-1" descr="surface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819" y="370034"/>
            <a:ext cx="1492897" cy="937846"/>
          </a:xfrm>
          <a:prstGeom prst="rect">
            <a:avLst/>
          </a:prstGeom>
        </p:spPr>
      </p:pic>
      <p:pic>
        <p:nvPicPr>
          <p:cNvPr id="53" name="surface-texture-2" descr="surface-indiv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153" y="357274"/>
            <a:ext cx="1492897" cy="950605"/>
          </a:xfrm>
          <a:prstGeom prst="rect">
            <a:avLst/>
          </a:prstGeom>
        </p:spPr>
      </p:pic>
      <p:pic>
        <p:nvPicPr>
          <p:cNvPr id="54" name="surface-texture-3" descr="surface-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125" y="350894"/>
            <a:ext cx="1467378" cy="956985"/>
          </a:xfrm>
          <a:prstGeom prst="rect">
            <a:avLst/>
          </a:prstGeom>
        </p:spPr>
      </p:pic>
      <p:pic>
        <p:nvPicPr>
          <p:cNvPr id="55" name="surface-texture-4" descr="surface-offsp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214" y="344514"/>
            <a:ext cx="1607736" cy="963365"/>
          </a:xfrm>
          <a:prstGeom prst="rect">
            <a:avLst/>
          </a:prstGeom>
        </p:spPr>
      </p:pic>
      <p:pic>
        <p:nvPicPr>
          <p:cNvPr id="56" name="surface-texture-5" descr="surface-sco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3767" y="350894"/>
            <a:ext cx="1403579" cy="956985"/>
          </a:xfrm>
          <a:prstGeom prst="rect">
            <a:avLst/>
          </a:prstGeom>
        </p:spPr>
      </p:pic>
      <p:pic>
        <p:nvPicPr>
          <p:cNvPr id="57" name="surface-texture-6" descr="surface-new-popul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7883" y="344514"/>
            <a:ext cx="1594976" cy="963365"/>
          </a:xfrm>
          <a:prstGeom prst="rect">
            <a:avLst/>
          </a:prstGeom>
        </p:spPr>
      </p:pic>
      <p:sp>
        <p:nvSpPr>
          <p:cNvPr id="58" name="search-space-label"/>
          <p:cNvSpPr txBox="1"/>
          <p:nvPr/>
        </p:nvSpPr>
        <p:spPr>
          <a:xfrm>
            <a:off x="1575836" y="1378059"/>
            <a:ext cx="956985" cy="1467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Search space</a:t>
            </a:r>
          </a:p>
        </p:txBody>
      </p:sp>
      <p:sp>
        <p:nvSpPr>
          <p:cNvPr id="59" name="individual-label"/>
          <p:cNvSpPr txBox="1"/>
          <p:nvPr/>
        </p:nvSpPr>
        <p:spPr>
          <a:xfrm>
            <a:off x="3145293" y="1295120"/>
            <a:ext cx="765588" cy="15949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Individual</a:t>
            </a:r>
          </a:p>
        </p:txBody>
      </p:sp>
      <p:sp>
        <p:nvSpPr>
          <p:cNvPr id="60" name="population-pt-label"/>
          <p:cNvSpPr txBox="1"/>
          <p:nvPr/>
        </p:nvSpPr>
        <p:spPr>
          <a:xfrm>
            <a:off x="5493098" y="1358919"/>
            <a:ext cx="312615" cy="15311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Pₜ</a:t>
            </a:r>
          </a:p>
        </p:txBody>
      </p:sp>
      <p:sp>
        <p:nvSpPr>
          <p:cNvPr id="61" name="new-population-label"/>
          <p:cNvSpPr txBox="1"/>
          <p:nvPr/>
        </p:nvSpPr>
        <p:spPr>
          <a:xfrm>
            <a:off x="10813940" y="1358919"/>
            <a:ext cx="1212182" cy="15949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New population  Pₜ₊₁</a:t>
            </a:r>
          </a:p>
        </p:txBody>
      </p:sp>
      <p:sp>
        <p:nvSpPr>
          <p:cNvPr id="62" name="stage-number-circle-1"/>
          <p:cNvSpPr/>
          <p:nvPr/>
        </p:nvSpPr>
        <p:spPr>
          <a:xfrm>
            <a:off x="2654040" y="586951"/>
            <a:ext cx="133978" cy="133978"/>
          </a:xfrm>
          <a:prstGeom prst="ellipse">
            <a:avLst/>
          </a:prstGeom>
          <a:solidFill>
            <a:srgbClr val="FFFFFF"/>
          </a:solidFill>
          <a:ln w="13334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stage-number-1"/>
          <p:cNvSpPr txBox="1"/>
          <p:nvPr/>
        </p:nvSpPr>
        <p:spPr>
          <a:xfrm>
            <a:off x="2654040" y="586951"/>
            <a:ext cx="133978" cy="1339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E00000"/>
                </a:solidFill>
                <a:latin typeface="Liberation Serif"/>
              </a:rPr>
              <a:t>1</a:t>
            </a:r>
          </a:p>
        </p:txBody>
      </p:sp>
      <p:sp>
        <p:nvSpPr>
          <p:cNvPr id="64" name="stage-initialize"/>
          <p:cNvSpPr txBox="1"/>
          <p:nvPr/>
        </p:nvSpPr>
        <p:spPr>
          <a:xfrm>
            <a:off x="2794398" y="548671"/>
            <a:ext cx="701789" cy="38917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Initialize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population</a:t>
            </a:r>
          </a:p>
        </p:txBody>
      </p:sp>
      <p:cxnSp>
        <p:nvCxnSpPr>
          <p:cNvPr id="65" name="arrow-initialize"/>
          <p:cNvCxnSpPr/>
          <p:nvPr/>
        </p:nvCxnSpPr>
        <p:spPr>
          <a:xfrm>
            <a:off x="2807158" y="963365"/>
            <a:ext cx="421074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66" name="stage-number-circle-2"/>
          <p:cNvSpPr/>
          <p:nvPr/>
        </p:nvSpPr>
        <p:spPr>
          <a:xfrm>
            <a:off x="4478693" y="586951"/>
            <a:ext cx="133978" cy="133978"/>
          </a:xfrm>
          <a:prstGeom prst="ellipse">
            <a:avLst/>
          </a:prstGeom>
          <a:solidFill>
            <a:srgbClr val="FFFFFF"/>
          </a:solidFill>
          <a:ln w="13334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stage-number-2"/>
          <p:cNvSpPr txBox="1"/>
          <p:nvPr/>
        </p:nvSpPr>
        <p:spPr>
          <a:xfrm>
            <a:off x="4478693" y="586951"/>
            <a:ext cx="133978" cy="1339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E00000"/>
                </a:solidFill>
                <a:latin typeface="Liberation Serif"/>
              </a:rPr>
              <a:t>2</a:t>
            </a:r>
          </a:p>
        </p:txBody>
      </p:sp>
      <p:sp>
        <p:nvSpPr>
          <p:cNvPr id="68" name="stage-fitness-1"/>
          <p:cNvSpPr txBox="1"/>
          <p:nvPr/>
        </p:nvSpPr>
        <p:spPr>
          <a:xfrm>
            <a:off x="4625431" y="548671"/>
            <a:ext cx="720929" cy="37003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Fitness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evaluation</a:t>
            </a:r>
          </a:p>
        </p:txBody>
      </p:sp>
      <p:cxnSp>
        <p:nvCxnSpPr>
          <p:cNvPr id="69" name="arrow-fitness-1"/>
          <p:cNvCxnSpPr/>
          <p:nvPr/>
        </p:nvCxnSpPr>
        <p:spPr>
          <a:xfrm>
            <a:off x="4580772" y="963365"/>
            <a:ext cx="459353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70" name="stage-number-circle-3"/>
          <p:cNvSpPr/>
          <p:nvPr/>
        </p:nvSpPr>
        <p:spPr>
          <a:xfrm>
            <a:off x="6086429" y="574191"/>
            <a:ext cx="133978" cy="133978"/>
          </a:xfrm>
          <a:prstGeom prst="ellipse">
            <a:avLst/>
          </a:prstGeom>
          <a:solidFill>
            <a:srgbClr val="FFFFFF"/>
          </a:solidFill>
          <a:ln w="13334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stage-number-3"/>
          <p:cNvSpPr txBox="1"/>
          <p:nvPr/>
        </p:nvSpPr>
        <p:spPr>
          <a:xfrm>
            <a:off x="6086429" y="574191"/>
            <a:ext cx="133978" cy="1339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E00000"/>
                </a:solidFill>
                <a:latin typeface="Liberation Serif"/>
              </a:rPr>
              <a:t>3</a:t>
            </a:r>
          </a:p>
        </p:txBody>
      </p:sp>
      <p:sp>
        <p:nvSpPr>
          <p:cNvPr id="72" name="stage-offspring"/>
          <p:cNvSpPr txBox="1"/>
          <p:nvPr/>
        </p:nvSpPr>
        <p:spPr>
          <a:xfrm>
            <a:off x="6226787" y="535912"/>
            <a:ext cx="682649" cy="37641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Offspring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generation</a:t>
            </a:r>
          </a:p>
        </p:txBody>
      </p:sp>
      <p:sp>
        <p:nvSpPr>
          <p:cNvPr id="73" name="genetic-operators"/>
          <p:cNvSpPr/>
          <p:nvPr/>
        </p:nvSpPr>
        <p:spPr>
          <a:xfrm>
            <a:off x="6871158" y="510392"/>
            <a:ext cx="586951" cy="376414"/>
          </a:xfrm>
          <a:prstGeom prst="rect">
            <a:avLst/>
          </a:prstGeom>
          <a:noFill/>
          <a:ln w="13334">
            <a:solidFill>
              <a:srgbClr val="5B5B5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rossover-label"/>
          <p:cNvSpPr txBox="1"/>
          <p:nvPr/>
        </p:nvSpPr>
        <p:spPr>
          <a:xfrm>
            <a:off x="6877538" y="523152"/>
            <a:ext cx="574191" cy="1658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1" i="0">
                <a:solidFill>
                  <a:srgbClr val="6A2F9A"/>
                </a:solidFill>
                <a:latin typeface="Liberation Serif"/>
              </a:rPr>
              <a:t>Crossover</a:t>
            </a:r>
          </a:p>
        </p:txBody>
      </p:sp>
      <p:sp>
        <p:nvSpPr>
          <p:cNvPr id="75" name="mutation-label"/>
          <p:cNvSpPr txBox="1"/>
          <p:nvPr/>
        </p:nvSpPr>
        <p:spPr>
          <a:xfrm>
            <a:off x="6877538" y="765588"/>
            <a:ext cx="574191" cy="14035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1" i="0">
                <a:solidFill>
                  <a:srgbClr val="6A2F9A"/>
                </a:solidFill>
                <a:latin typeface="Liberation Serif"/>
              </a:rPr>
              <a:t>Mutation</a:t>
            </a:r>
          </a:p>
        </p:txBody>
      </p:sp>
      <p:cxnSp>
        <p:nvCxnSpPr>
          <p:cNvPr id="76" name="arrow-offspring"/>
          <p:cNvCxnSpPr/>
          <p:nvPr/>
        </p:nvCxnSpPr>
        <p:spPr>
          <a:xfrm>
            <a:off x="6513883" y="963365"/>
            <a:ext cx="644371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77" name="stage-number-circle-4"/>
          <p:cNvSpPr/>
          <p:nvPr/>
        </p:nvSpPr>
        <p:spPr>
          <a:xfrm>
            <a:off x="8370436" y="580571"/>
            <a:ext cx="133978" cy="133978"/>
          </a:xfrm>
          <a:prstGeom prst="ellipse">
            <a:avLst/>
          </a:prstGeom>
          <a:solidFill>
            <a:srgbClr val="FFFFFF"/>
          </a:solidFill>
          <a:ln w="13334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stage-number-4"/>
          <p:cNvSpPr txBox="1"/>
          <p:nvPr/>
        </p:nvSpPr>
        <p:spPr>
          <a:xfrm>
            <a:off x="8370436" y="580571"/>
            <a:ext cx="133978" cy="1339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E00000"/>
                </a:solidFill>
                <a:latin typeface="Liberation Serif"/>
              </a:rPr>
              <a:t>4</a:t>
            </a:r>
          </a:p>
        </p:txBody>
      </p:sp>
      <p:sp>
        <p:nvSpPr>
          <p:cNvPr id="79" name="stage-fitness-2"/>
          <p:cNvSpPr txBox="1"/>
          <p:nvPr/>
        </p:nvSpPr>
        <p:spPr>
          <a:xfrm>
            <a:off x="8517174" y="535912"/>
            <a:ext cx="778348" cy="38917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Fitness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evaluation</a:t>
            </a:r>
          </a:p>
        </p:txBody>
      </p:sp>
      <p:cxnSp>
        <p:nvCxnSpPr>
          <p:cNvPr id="80" name="arrow-fitness-2"/>
          <p:cNvCxnSpPr/>
          <p:nvPr/>
        </p:nvCxnSpPr>
        <p:spPr>
          <a:xfrm>
            <a:off x="8619252" y="963365"/>
            <a:ext cx="376414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81" name="stage-number-circle-5"/>
          <p:cNvSpPr/>
          <p:nvPr/>
        </p:nvSpPr>
        <p:spPr>
          <a:xfrm>
            <a:off x="10105770" y="580571"/>
            <a:ext cx="133978" cy="133978"/>
          </a:xfrm>
          <a:prstGeom prst="ellipse">
            <a:avLst/>
          </a:prstGeom>
          <a:solidFill>
            <a:srgbClr val="FFFFFF"/>
          </a:solidFill>
          <a:ln w="13334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stage-number-5"/>
          <p:cNvSpPr txBox="1"/>
          <p:nvPr/>
        </p:nvSpPr>
        <p:spPr>
          <a:xfrm>
            <a:off x="10105770" y="580571"/>
            <a:ext cx="133978" cy="13397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E00000"/>
                </a:solidFill>
                <a:latin typeface="Liberation Serif"/>
              </a:rPr>
              <a:t>5</a:t>
            </a:r>
          </a:p>
        </p:txBody>
      </p:sp>
      <p:sp>
        <p:nvSpPr>
          <p:cNvPr id="83" name="stage-selection"/>
          <p:cNvSpPr txBox="1"/>
          <p:nvPr/>
        </p:nvSpPr>
        <p:spPr>
          <a:xfrm>
            <a:off x="10252508" y="548671"/>
            <a:ext cx="561431" cy="1786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00000"/>
                </a:solidFill>
                <a:latin typeface="Liberation Serif"/>
              </a:rPr>
              <a:t>Selection</a:t>
            </a:r>
          </a:p>
        </p:txBody>
      </p:sp>
      <p:cxnSp>
        <p:nvCxnSpPr>
          <p:cNvPr id="84" name="arrow-selection"/>
          <p:cNvCxnSpPr/>
          <p:nvPr/>
        </p:nvCxnSpPr>
        <p:spPr>
          <a:xfrm>
            <a:off x="10252508" y="963365"/>
            <a:ext cx="433833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85" name="population-feedback-segment-1"/>
          <p:cNvCxnSpPr/>
          <p:nvPr/>
        </p:nvCxnSpPr>
        <p:spPr>
          <a:xfrm flipV="1">
            <a:off x="11126555" y="312615"/>
            <a:ext cx="0" cy="491253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86" name="population-feedback-segment-2"/>
          <p:cNvCxnSpPr/>
          <p:nvPr/>
        </p:nvCxnSpPr>
        <p:spPr>
          <a:xfrm flipH="1">
            <a:off x="6475604" y="312615"/>
            <a:ext cx="4650951" cy="0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87" name="population-feedback-segment-3"/>
          <p:cNvCxnSpPr/>
          <p:nvPr/>
        </p:nvCxnSpPr>
        <p:spPr>
          <a:xfrm>
            <a:off x="6475604" y="312615"/>
            <a:ext cx="0" cy="197777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88" name="new-individual-callout-segment-1"/>
          <p:cNvCxnSpPr/>
          <p:nvPr/>
        </p:nvCxnSpPr>
        <p:spPr>
          <a:xfrm>
            <a:off x="7719685" y="1154762"/>
            <a:ext cx="95699" cy="76559"/>
          </a:xfrm>
          <a:prstGeom prst="line">
            <a:avLst/>
          </a:prstGeom>
          <a:ln w="19050">
            <a:solidFill>
              <a:srgbClr val="6F7478"/>
            </a:solidFill>
            <a:prstDash val="dash"/>
          </a:ln>
          <a:effectLst/>
        </p:spPr>
      </p:cxnSp>
      <p:cxnSp>
        <p:nvCxnSpPr>
          <p:cNvPr id="89" name="new-individual-callout-segment-2"/>
          <p:cNvCxnSpPr/>
          <p:nvPr/>
        </p:nvCxnSpPr>
        <p:spPr>
          <a:xfrm>
            <a:off x="7815384" y="1231321"/>
            <a:ext cx="223297" cy="146738"/>
          </a:xfrm>
          <a:prstGeom prst="line">
            <a:avLst/>
          </a:prstGeom>
          <a:ln w="19050">
            <a:solidFill>
              <a:srgbClr val="6F7478"/>
            </a:solidFill>
            <a:prstDash val="dash"/>
            <a:tailEnd type="triangle" w="sm" len="sm"/>
          </a:ln>
          <a:effectLst/>
        </p:spPr>
      </p:cxnSp>
      <p:sp>
        <p:nvSpPr>
          <p:cNvPr id="90" name="new-individual-label"/>
          <p:cNvSpPr txBox="1"/>
          <p:nvPr/>
        </p:nvSpPr>
        <p:spPr>
          <a:xfrm>
            <a:off x="8019541" y="1320640"/>
            <a:ext cx="752828" cy="1467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New individual</a:t>
            </a:r>
          </a:p>
        </p:txBody>
      </p:sp>
      <p:sp>
        <p:nvSpPr>
          <p:cNvPr id="91" name="navigator-column"/>
          <p:cNvSpPr/>
          <p:nvPr/>
        </p:nvSpPr>
        <p:spPr>
          <a:xfrm>
            <a:off x="274335" y="1799133"/>
            <a:ext cx="1996910" cy="3100634"/>
          </a:xfrm>
          <a:prstGeom prst="rect">
            <a:avLst/>
          </a:prstGeom>
          <a:solidFill>
            <a:srgbClr val="F0F8FE"/>
          </a:solidFill>
          <a:ln w="14287">
            <a:solidFill>
              <a:srgbClr val="5F71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navigator-view-box"/>
          <p:cNvSpPr/>
          <p:nvPr/>
        </p:nvSpPr>
        <p:spPr>
          <a:xfrm>
            <a:off x="306235" y="1901211"/>
            <a:ext cx="1933111" cy="465733"/>
          </a:xfrm>
          <a:prstGeom prst="roundRect">
            <a:avLst>
              <a:gd name="adj" fmla="val 19178"/>
            </a:avLst>
          </a:prstGeom>
          <a:solidFill>
            <a:srgbClr val="F7FBFC"/>
          </a:solidFill>
          <a:ln w="17145">
            <a:solidFill>
              <a:srgbClr val="394A5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navigator-view-icon-head"/>
          <p:cNvSpPr/>
          <p:nvPr/>
        </p:nvSpPr>
        <p:spPr>
          <a:xfrm>
            <a:off x="389174" y="1971390"/>
            <a:ext cx="242436" cy="242436"/>
          </a:xfrm>
          <a:prstGeom prst="ellipse">
            <a:avLst/>
          </a:prstGeom>
          <a:solidFill>
            <a:srgbClr val="4F8A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navigator-view-icon-neck"/>
          <p:cNvSpPr/>
          <p:nvPr/>
        </p:nvSpPr>
        <p:spPr>
          <a:xfrm>
            <a:off x="395554" y="2150028"/>
            <a:ext cx="178637" cy="127598"/>
          </a:xfrm>
          <a:custGeom>
            <a:avLst/>
            <a:gdLst/>
            <a:ahLst/>
            <a:cxnLst/>
            <a:rect l="l" t="t" r="r" b="b"/>
            <a:pathLst>
              <a:path w="178637" h="127598">
                <a:moveTo>
                  <a:pt x="25519" y="6380"/>
                </a:moveTo>
                <a:lnTo>
                  <a:pt x="0" y="127598"/>
                </a:lnTo>
                <a:lnTo>
                  <a:pt x="178637" y="127598"/>
                </a:lnTo>
                <a:lnTo>
                  <a:pt x="165877" y="0"/>
                </a:lnTo>
                <a:close/>
              </a:path>
            </a:pathLst>
          </a:custGeom>
          <a:solidFill>
            <a:srgbClr val="4F8A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navigator-view-icon-thought"/>
          <p:cNvSpPr/>
          <p:nvPr/>
        </p:nvSpPr>
        <p:spPr>
          <a:xfrm>
            <a:off x="446593" y="2028809"/>
            <a:ext cx="57419" cy="574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navigator-view-icon-thought-small"/>
          <p:cNvSpPr/>
          <p:nvPr/>
        </p:nvSpPr>
        <p:spPr>
          <a:xfrm>
            <a:off x="510392" y="2003290"/>
            <a:ext cx="38279" cy="382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navigator-view-label"/>
          <p:cNvSpPr txBox="1"/>
          <p:nvPr/>
        </p:nvSpPr>
        <p:spPr>
          <a:xfrm>
            <a:off x="708169" y="1958631"/>
            <a:ext cx="1435478" cy="34451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Evolutionary navigator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of the view⁽ᵛ⁾</a:t>
            </a:r>
          </a:p>
        </p:txBody>
      </p:sp>
      <p:cxnSp>
        <p:nvCxnSpPr>
          <p:cNvPr id="98" name="pretrain-arrow"/>
          <p:cNvCxnSpPr/>
          <p:nvPr/>
        </p:nvCxnSpPr>
        <p:spPr>
          <a:xfrm>
            <a:off x="567811" y="2373324"/>
            <a:ext cx="0" cy="146738"/>
          </a:xfrm>
          <a:prstGeom prst="line">
            <a:avLst/>
          </a:prstGeom>
          <a:ln w="23812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99" name="pretraining-label"/>
          <p:cNvSpPr txBox="1"/>
          <p:nvPr/>
        </p:nvSpPr>
        <p:spPr>
          <a:xfrm>
            <a:off x="586951" y="2341425"/>
            <a:ext cx="1339780" cy="1977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Pre-training process</a:t>
            </a:r>
          </a:p>
        </p:txBody>
      </p:sp>
      <p:sp>
        <p:nvSpPr>
          <p:cNvPr id="100" name="evolutionary-navigator"/>
          <p:cNvSpPr/>
          <p:nvPr/>
        </p:nvSpPr>
        <p:spPr>
          <a:xfrm>
            <a:off x="306235" y="2520062"/>
            <a:ext cx="1933111" cy="1531177"/>
          </a:xfrm>
          <a:prstGeom prst="roundRect">
            <a:avLst>
              <a:gd name="adj" fmla="val 15000"/>
            </a:avLst>
          </a:prstGeom>
          <a:solidFill>
            <a:srgbClr val="F1F7FC"/>
          </a:solidFill>
          <a:ln w="17145">
            <a:solidFill>
              <a:srgbClr val="4E5D6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view-v"/>
          <p:cNvSpPr/>
          <p:nvPr/>
        </p:nvSpPr>
        <p:spPr>
          <a:xfrm>
            <a:off x="350894" y="2762499"/>
            <a:ext cx="599711" cy="318995"/>
          </a:xfrm>
          <a:prstGeom prst="ellipse">
            <a:avLst/>
          </a:prstGeom>
          <a:solidFill>
            <a:srgbClr val="5F8E34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view-v-label"/>
          <p:cNvSpPr txBox="1"/>
          <p:nvPr/>
        </p:nvSpPr>
        <p:spPr>
          <a:xfrm>
            <a:off x="350894" y="2762499"/>
            <a:ext cx="599711" cy="31899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8" b="1" i="0">
                <a:solidFill>
                  <a:srgbClr val="101010"/>
                </a:solidFill>
                <a:latin typeface="Liberation Serif"/>
              </a:rPr>
              <a:t>View⁽ᵛ⁾</a:t>
            </a:r>
          </a:p>
        </p:txBody>
      </p:sp>
      <p:sp>
        <p:nvSpPr>
          <p:cNvPr id="103" name="navigator-fc-view"/>
          <p:cNvSpPr/>
          <p:nvPr/>
        </p:nvSpPr>
        <p:spPr>
          <a:xfrm>
            <a:off x="1008025" y="2743359"/>
            <a:ext cx="24881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navigator-fc-view-label"/>
          <p:cNvSpPr txBox="1"/>
          <p:nvPr/>
        </p:nvSpPr>
        <p:spPr>
          <a:xfrm rot="5400000">
            <a:off x="947415" y="2803968"/>
            <a:ext cx="370034" cy="2488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sp>
        <p:nvSpPr>
          <p:cNvPr id="105" name="navigator-fc-category"/>
          <p:cNvSpPr/>
          <p:nvPr/>
        </p:nvSpPr>
        <p:spPr>
          <a:xfrm>
            <a:off x="1524797" y="2756119"/>
            <a:ext cx="242436" cy="35727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navigator-fc-category-label"/>
          <p:cNvSpPr txBox="1"/>
          <p:nvPr/>
        </p:nvSpPr>
        <p:spPr>
          <a:xfrm rot="5400000">
            <a:off x="1467378" y="2813538"/>
            <a:ext cx="35727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sp>
        <p:nvSpPr>
          <p:cNvPr id="107" name="navigator-softmax"/>
          <p:cNvSpPr/>
          <p:nvPr/>
        </p:nvSpPr>
        <p:spPr>
          <a:xfrm>
            <a:off x="1543937" y="3240992"/>
            <a:ext cx="229676" cy="612470"/>
          </a:xfrm>
          <a:prstGeom prst="roundRect">
            <a:avLst>
              <a:gd name="adj" fmla="val 13888"/>
            </a:avLst>
          </a:prstGeom>
          <a:solidFill>
            <a:srgbClr val="FFE89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navigator-softmax-label"/>
          <p:cNvSpPr txBox="1"/>
          <p:nvPr/>
        </p:nvSpPr>
        <p:spPr>
          <a:xfrm rot="5400000">
            <a:off x="1352539" y="3432389"/>
            <a:ext cx="612470" cy="2296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Softmax</a:t>
            </a:r>
          </a:p>
        </p:txBody>
      </p:sp>
      <p:sp>
        <p:nvSpPr>
          <p:cNvPr id="109" name="navigator-lce"/>
          <p:cNvSpPr/>
          <p:nvPr/>
        </p:nvSpPr>
        <p:spPr>
          <a:xfrm>
            <a:off x="1020784" y="3317550"/>
            <a:ext cx="216916" cy="427453"/>
          </a:xfrm>
          <a:prstGeom prst="rect">
            <a:avLst/>
          </a:prstGeom>
          <a:solidFill>
            <a:srgbClr val="FFE89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navigator-lce-label"/>
          <p:cNvSpPr txBox="1"/>
          <p:nvPr/>
        </p:nvSpPr>
        <p:spPr>
          <a:xfrm rot="5400000">
            <a:off x="915516" y="3422819"/>
            <a:ext cx="427453" cy="2169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LCE</a:t>
            </a:r>
          </a:p>
        </p:txBody>
      </p:sp>
      <p:cxnSp>
        <p:nvCxnSpPr>
          <p:cNvPr id="111" name="view-to-fc"/>
          <p:cNvCxnSpPr/>
          <p:nvPr/>
        </p:nvCxnSpPr>
        <p:spPr>
          <a:xfrm>
            <a:off x="956985" y="2921996"/>
            <a:ext cx="51040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112" name="fc-to-fc"/>
          <p:cNvCxnSpPr/>
          <p:nvPr/>
        </p:nvCxnSpPr>
        <p:spPr>
          <a:xfrm>
            <a:off x="1256841" y="2921996"/>
            <a:ext cx="267956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113" name="category-to-softmax-segment-1"/>
          <p:cNvCxnSpPr/>
          <p:nvPr/>
        </p:nvCxnSpPr>
        <p:spPr>
          <a:xfrm>
            <a:off x="1767233" y="2928376"/>
            <a:ext cx="18501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114" name="category-to-softmax-segment-2"/>
          <p:cNvCxnSpPr/>
          <p:nvPr/>
        </p:nvCxnSpPr>
        <p:spPr>
          <a:xfrm>
            <a:off x="1952251" y="2928376"/>
            <a:ext cx="0" cy="612471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115" name="category-to-softmax-segment-3"/>
          <p:cNvCxnSpPr/>
          <p:nvPr/>
        </p:nvCxnSpPr>
        <p:spPr>
          <a:xfrm flipH="1">
            <a:off x="1773613" y="3540847"/>
            <a:ext cx="178638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116" name="softmax-to-lce"/>
          <p:cNvCxnSpPr/>
          <p:nvPr/>
        </p:nvCxnSpPr>
        <p:spPr>
          <a:xfrm flipH="1">
            <a:off x="1237701" y="3540847"/>
            <a:ext cx="306236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17" name="evolutionary-navigator-label"/>
          <p:cNvSpPr txBox="1"/>
          <p:nvPr/>
        </p:nvSpPr>
        <p:spPr>
          <a:xfrm>
            <a:off x="478492" y="3872602"/>
            <a:ext cx="1607736" cy="15949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Evolutionary navigator</a:t>
            </a:r>
          </a:p>
        </p:txBody>
      </p:sp>
      <p:cxnSp>
        <p:nvCxnSpPr>
          <p:cNvPr id="118" name="pretraining-route-segment-1"/>
          <p:cNvCxnSpPr/>
          <p:nvPr/>
        </p:nvCxnSpPr>
        <p:spPr>
          <a:xfrm flipV="1">
            <a:off x="1129243" y="2430744"/>
            <a:ext cx="0" cy="89318"/>
          </a:xfrm>
          <a:prstGeom prst="line">
            <a:avLst/>
          </a:prstGeom>
          <a:ln w="28575">
            <a:solidFill>
              <a:srgbClr val="568D34"/>
            </a:solidFill>
          </a:ln>
          <a:effectLst/>
        </p:spPr>
      </p:cxnSp>
      <p:cxnSp>
        <p:nvCxnSpPr>
          <p:cNvPr id="119" name="pretraining-route-segment-2"/>
          <p:cNvCxnSpPr/>
          <p:nvPr/>
        </p:nvCxnSpPr>
        <p:spPr>
          <a:xfrm>
            <a:off x="1129243" y="2430744"/>
            <a:ext cx="1014405" cy="0"/>
          </a:xfrm>
          <a:prstGeom prst="line">
            <a:avLst/>
          </a:prstGeom>
          <a:ln w="28575">
            <a:solidFill>
              <a:srgbClr val="568D34"/>
            </a:solidFill>
          </a:ln>
          <a:effectLst/>
        </p:spPr>
      </p:cxnSp>
      <p:cxnSp>
        <p:nvCxnSpPr>
          <p:cNvPr id="120" name="pretraining-route-segment-3"/>
          <p:cNvCxnSpPr/>
          <p:nvPr/>
        </p:nvCxnSpPr>
        <p:spPr>
          <a:xfrm flipV="1">
            <a:off x="2143648" y="1933111"/>
            <a:ext cx="0" cy="497633"/>
          </a:xfrm>
          <a:prstGeom prst="line">
            <a:avLst/>
          </a:prstGeom>
          <a:ln w="28575">
            <a:solidFill>
              <a:srgbClr val="568D34"/>
            </a:solidFill>
          </a:ln>
          <a:effectLst/>
        </p:spPr>
      </p:cxnSp>
      <p:cxnSp>
        <p:nvCxnSpPr>
          <p:cNvPr id="121" name="pretraining-route-segment-4"/>
          <p:cNvCxnSpPr/>
          <p:nvPr/>
        </p:nvCxnSpPr>
        <p:spPr>
          <a:xfrm>
            <a:off x="2143648" y="1933111"/>
            <a:ext cx="389174" cy="0"/>
          </a:xfrm>
          <a:prstGeom prst="line">
            <a:avLst/>
          </a:prstGeom>
          <a:ln w="28575">
            <a:solidFill>
              <a:srgbClr val="568D34"/>
            </a:solidFill>
            <a:tailEnd type="triangle" w="sm" len="sm"/>
          </a:ln>
          <a:effectLst/>
        </p:spPr>
      </p:cxnSp>
      <p:sp>
        <p:nvSpPr>
          <p:cNvPr id="122" name="legend"/>
          <p:cNvSpPr/>
          <p:nvPr/>
        </p:nvSpPr>
        <p:spPr>
          <a:xfrm>
            <a:off x="312615" y="4095899"/>
            <a:ext cx="1926731" cy="778348"/>
          </a:xfrm>
          <a:prstGeom prst="roundRect">
            <a:avLst>
              <a:gd name="adj" fmla="val 20491"/>
            </a:avLst>
          </a:prstGeom>
          <a:solidFill>
            <a:srgbClr val="EDF5FD"/>
          </a:solidFill>
          <a:ln w="14287">
            <a:solidFill>
              <a:srgbClr val="64798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fused-fc"/>
          <p:cNvSpPr/>
          <p:nvPr/>
        </p:nvSpPr>
        <p:spPr>
          <a:xfrm>
            <a:off x="389174" y="4146938"/>
            <a:ext cx="248816" cy="3381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fused-fc-label"/>
          <p:cNvSpPr txBox="1"/>
          <p:nvPr/>
        </p:nvSpPr>
        <p:spPr>
          <a:xfrm rot="5400000">
            <a:off x="344514" y="4191598"/>
            <a:ext cx="338134" cy="2488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sp>
        <p:nvSpPr>
          <p:cNvPr id="125" name="legend-category-fc"/>
          <p:cNvSpPr/>
          <p:nvPr/>
        </p:nvSpPr>
        <p:spPr>
          <a:xfrm>
            <a:off x="389174" y="4510593"/>
            <a:ext cx="248816" cy="3381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legend-category-fc-label"/>
          <p:cNvSpPr txBox="1"/>
          <p:nvPr/>
        </p:nvSpPr>
        <p:spPr>
          <a:xfrm rot="5400000">
            <a:off x="344514" y="4555252"/>
            <a:ext cx="338134" cy="2488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sp>
        <p:nvSpPr>
          <p:cNvPr id="127" name="legend-fused-label"/>
          <p:cNvSpPr txBox="1"/>
          <p:nvPr/>
        </p:nvSpPr>
        <p:spPr>
          <a:xfrm>
            <a:off x="701789" y="4153318"/>
            <a:ext cx="1448238" cy="31899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Dimensions of fused views</a:t>
            </a:r>
          </a:p>
        </p:txBody>
      </p:sp>
      <p:sp>
        <p:nvSpPr>
          <p:cNvPr id="128" name="legend-category-label"/>
          <p:cNvSpPr txBox="1"/>
          <p:nvPr/>
        </p:nvSpPr>
        <p:spPr>
          <a:xfrm>
            <a:off x="701789" y="4510593"/>
            <a:ext cx="1448238" cy="34451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Dimensions of the number of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category</a:t>
            </a:r>
          </a:p>
        </p:txBody>
      </p:sp>
      <p:sp>
        <p:nvSpPr>
          <p:cNvPr id="129" name="navigator-strip"/>
          <p:cNvSpPr/>
          <p:nvPr/>
        </p:nvSpPr>
        <p:spPr>
          <a:xfrm>
            <a:off x="2500923" y="1805513"/>
            <a:ext cx="842147" cy="2947516"/>
          </a:xfrm>
          <a:prstGeom prst="rect">
            <a:avLst/>
          </a:prstGeom>
          <a:solidFill>
            <a:srgbClr val="F0F7FE"/>
          </a:solidFill>
          <a:ln w="19050">
            <a:solidFill>
              <a:srgbClr val="6478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navigator-set"/>
          <p:cNvSpPr/>
          <p:nvPr/>
        </p:nvSpPr>
        <p:spPr>
          <a:xfrm>
            <a:off x="2539202" y="1875692"/>
            <a:ext cx="765588" cy="842147"/>
          </a:xfrm>
          <a:prstGeom prst="roundRect">
            <a:avLst>
              <a:gd name="adj" fmla="val 15000"/>
            </a:avLst>
          </a:prstGeom>
          <a:solidFill>
            <a:srgbClr val="F9FCFD"/>
          </a:solidFill>
          <a:ln w="17145">
            <a:solidFill>
              <a:srgbClr val="00245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navigator-set-icon-box"/>
          <p:cNvSpPr/>
          <p:nvPr/>
        </p:nvSpPr>
        <p:spPr>
          <a:xfrm>
            <a:off x="2609381" y="1952251"/>
            <a:ext cx="625230" cy="287095"/>
          </a:xfrm>
          <a:prstGeom prst="rect">
            <a:avLst/>
          </a:prstGeom>
          <a:solidFill>
            <a:srgbClr val="FFF2C9"/>
          </a:solidFill>
          <a:ln w="11429">
            <a:solidFill>
              <a:srgbClr val="FFE89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navigator-set-green-head"/>
          <p:cNvSpPr/>
          <p:nvPr/>
        </p:nvSpPr>
        <p:spPr>
          <a:xfrm>
            <a:off x="2641280" y="1977770"/>
            <a:ext cx="242436" cy="242436"/>
          </a:xfrm>
          <a:prstGeom prst="ellipse">
            <a:avLst/>
          </a:prstGeom>
          <a:solidFill>
            <a:srgbClr val="518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navigator-set-green-neck"/>
          <p:cNvSpPr/>
          <p:nvPr/>
        </p:nvSpPr>
        <p:spPr>
          <a:xfrm>
            <a:off x="2647660" y="2156408"/>
            <a:ext cx="178638" cy="127598"/>
          </a:xfrm>
          <a:custGeom>
            <a:avLst/>
            <a:gdLst/>
            <a:ahLst/>
            <a:cxnLst/>
            <a:rect l="l" t="t" r="r" b="b"/>
            <a:pathLst>
              <a:path w="178638" h="127598">
                <a:moveTo>
                  <a:pt x="25520" y="6380"/>
                </a:moveTo>
                <a:lnTo>
                  <a:pt x="0" y="127598"/>
                </a:lnTo>
                <a:lnTo>
                  <a:pt x="178638" y="127598"/>
                </a:lnTo>
                <a:lnTo>
                  <a:pt x="165878" y="0"/>
                </a:lnTo>
                <a:close/>
              </a:path>
            </a:pathLst>
          </a:custGeom>
          <a:solidFill>
            <a:srgbClr val="518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navigator-set-green-thought"/>
          <p:cNvSpPr/>
          <p:nvPr/>
        </p:nvSpPr>
        <p:spPr>
          <a:xfrm>
            <a:off x="2698700" y="2035189"/>
            <a:ext cx="57419" cy="574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navigator-set-green-thought-small"/>
          <p:cNvSpPr/>
          <p:nvPr/>
        </p:nvSpPr>
        <p:spPr>
          <a:xfrm>
            <a:off x="2762499" y="2009670"/>
            <a:ext cx="38279" cy="382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navigator-set-blue-head"/>
          <p:cNvSpPr/>
          <p:nvPr/>
        </p:nvSpPr>
        <p:spPr>
          <a:xfrm>
            <a:off x="2819918" y="1977770"/>
            <a:ext cx="242436" cy="242436"/>
          </a:xfrm>
          <a:prstGeom prst="ellipse">
            <a:avLst/>
          </a:prstGeom>
          <a:solidFill>
            <a:srgbClr val="3F83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navigator-set-blue-neck"/>
          <p:cNvSpPr/>
          <p:nvPr/>
        </p:nvSpPr>
        <p:spPr>
          <a:xfrm>
            <a:off x="2826298" y="2156408"/>
            <a:ext cx="178637" cy="127598"/>
          </a:xfrm>
          <a:custGeom>
            <a:avLst/>
            <a:gdLst/>
            <a:ahLst/>
            <a:cxnLst/>
            <a:rect l="l" t="t" r="r" b="b"/>
            <a:pathLst>
              <a:path w="178637" h="127598">
                <a:moveTo>
                  <a:pt x="25519" y="6380"/>
                </a:moveTo>
                <a:lnTo>
                  <a:pt x="0" y="127598"/>
                </a:lnTo>
                <a:lnTo>
                  <a:pt x="178637" y="127598"/>
                </a:lnTo>
                <a:lnTo>
                  <a:pt x="165877" y="0"/>
                </a:lnTo>
                <a:close/>
              </a:path>
            </a:pathLst>
          </a:custGeom>
          <a:solidFill>
            <a:srgbClr val="3F83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navigator-set-blue-thought"/>
          <p:cNvSpPr/>
          <p:nvPr/>
        </p:nvSpPr>
        <p:spPr>
          <a:xfrm>
            <a:off x="2877337" y="2035189"/>
            <a:ext cx="57419" cy="574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navigator-set-blue-thought-small"/>
          <p:cNvSpPr/>
          <p:nvPr/>
        </p:nvSpPr>
        <p:spPr>
          <a:xfrm>
            <a:off x="2941136" y="2009670"/>
            <a:ext cx="38279" cy="382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navigator-set-dot-480"/>
          <p:cNvSpPr/>
          <p:nvPr/>
        </p:nvSpPr>
        <p:spPr>
          <a:xfrm>
            <a:off x="3043214" y="2073469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navigator-set-dot-493"/>
          <p:cNvSpPr/>
          <p:nvPr/>
        </p:nvSpPr>
        <p:spPr>
          <a:xfrm>
            <a:off x="3126153" y="2073469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navigator-set-dot-506"/>
          <p:cNvSpPr/>
          <p:nvPr/>
        </p:nvSpPr>
        <p:spPr>
          <a:xfrm>
            <a:off x="3209092" y="2073469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navigator-set-label"/>
          <p:cNvSpPr txBox="1"/>
          <p:nvPr/>
        </p:nvSpPr>
        <p:spPr>
          <a:xfrm>
            <a:off x="2577481" y="2258486"/>
            <a:ext cx="689029" cy="3827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Evolutionary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navigator set</a:t>
            </a:r>
          </a:p>
        </p:txBody>
      </p:sp>
      <p:cxnSp>
        <p:nvCxnSpPr>
          <p:cNvPr id="144" name="search-arrow"/>
          <p:cNvCxnSpPr/>
          <p:nvPr/>
        </p:nvCxnSpPr>
        <p:spPr>
          <a:xfrm>
            <a:off x="2921996" y="2717839"/>
            <a:ext cx="0" cy="210537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45" name="search-highlight"/>
          <p:cNvSpPr/>
          <p:nvPr/>
        </p:nvSpPr>
        <p:spPr>
          <a:xfrm>
            <a:off x="2947516" y="2698700"/>
            <a:ext cx="395554" cy="210536"/>
          </a:xfrm>
          <a:prstGeom prst="rect">
            <a:avLst/>
          </a:prstGeom>
          <a:solidFill>
            <a:srgbClr val="FFE8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search-label"/>
          <p:cNvSpPr txBox="1"/>
          <p:nvPr/>
        </p:nvSpPr>
        <p:spPr>
          <a:xfrm>
            <a:off x="2960276" y="2705079"/>
            <a:ext cx="370034" cy="19139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Search</a:t>
            </a:r>
          </a:p>
        </p:txBody>
      </p:sp>
      <p:sp>
        <p:nvSpPr>
          <p:cNvPr id="147" name="individual-navigator-box"/>
          <p:cNvSpPr/>
          <p:nvPr/>
        </p:nvSpPr>
        <p:spPr>
          <a:xfrm>
            <a:off x="2539202" y="2941136"/>
            <a:ext cx="765588" cy="905946"/>
          </a:xfrm>
          <a:prstGeom prst="roundRect">
            <a:avLst>
              <a:gd name="adj" fmla="val 16666"/>
            </a:avLst>
          </a:prstGeom>
          <a:solidFill>
            <a:srgbClr val="FAFCFD"/>
          </a:solidFill>
          <a:ln w="17145">
            <a:solidFill>
              <a:srgbClr val="00245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individual-nav-icons"/>
          <p:cNvSpPr/>
          <p:nvPr/>
        </p:nvSpPr>
        <p:spPr>
          <a:xfrm>
            <a:off x="2603001" y="3011315"/>
            <a:ext cx="637990" cy="306235"/>
          </a:xfrm>
          <a:prstGeom prst="rect">
            <a:avLst/>
          </a:prstGeom>
          <a:solidFill>
            <a:srgbClr val="FFF1CB"/>
          </a:solidFill>
          <a:ln w="11429">
            <a:solidFill>
              <a:srgbClr val="FFE89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individual-nav-orange-head"/>
          <p:cNvSpPr/>
          <p:nvPr/>
        </p:nvSpPr>
        <p:spPr>
          <a:xfrm>
            <a:off x="2634901" y="3043214"/>
            <a:ext cx="242436" cy="242436"/>
          </a:xfrm>
          <a:prstGeom prst="ellipse">
            <a:avLst/>
          </a:prstGeom>
          <a:solidFill>
            <a:srgbClr val="F4A2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individual-nav-orange-neck"/>
          <p:cNvSpPr/>
          <p:nvPr/>
        </p:nvSpPr>
        <p:spPr>
          <a:xfrm>
            <a:off x="2641280" y="3221852"/>
            <a:ext cx="178638" cy="127598"/>
          </a:xfrm>
          <a:custGeom>
            <a:avLst/>
            <a:gdLst/>
            <a:ahLst/>
            <a:cxnLst/>
            <a:rect l="l" t="t" r="r" b="b"/>
            <a:pathLst>
              <a:path w="178638" h="127598">
                <a:moveTo>
                  <a:pt x="25520" y="6380"/>
                </a:moveTo>
                <a:lnTo>
                  <a:pt x="0" y="127598"/>
                </a:lnTo>
                <a:lnTo>
                  <a:pt x="178638" y="127598"/>
                </a:lnTo>
                <a:lnTo>
                  <a:pt x="165878" y="0"/>
                </a:lnTo>
                <a:close/>
              </a:path>
            </a:pathLst>
          </a:custGeom>
          <a:solidFill>
            <a:srgbClr val="F4A2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individual-nav-orange-thought"/>
          <p:cNvSpPr/>
          <p:nvPr/>
        </p:nvSpPr>
        <p:spPr>
          <a:xfrm>
            <a:off x="2692320" y="3100634"/>
            <a:ext cx="57419" cy="574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individual-nav-orange-thought-small"/>
          <p:cNvSpPr/>
          <p:nvPr/>
        </p:nvSpPr>
        <p:spPr>
          <a:xfrm>
            <a:off x="2756119" y="3075114"/>
            <a:ext cx="38279" cy="382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individual-nav-green-head"/>
          <p:cNvSpPr/>
          <p:nvPr/>
        </p:nvSpPr>
        <p:spPr>
          <a:xfrm>
            <a:off x="3011315" y="3043214"/>
            <a:ext cx="242436" cy="242436"/>
          </a:xfrm>
          <a:prstGeom prst="ellipse">
            <a:avLst/>
          </a:prstGeom>
          <a:solidFill>
            <a:srgbClr val="A6D2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individual-nav-green-neck"/>
          <p:cNvSpPr/>
          <p:nvPr/>
        </p:nvSpPr>
        <p:spPr>
          <a:xfrm>
            <a:off x="3017695" y="3221852"/>
            <a:ext cx="178637" cy="127598"/>
          </a:xfrm>
          <a:custGeom>
            <a:avLst/>
            <a:gdLst/>
            <a:ahLst/>
            <a:cxnLst/>
            <a:rect l="l" t="t" r="r" b="b"/>
            <a:pathLst>
              <a:path w="178637" h="127598">
                <a:moveTo>
                  <a:pt x="25519" y="6380"/>
                </a:moveTo>
                <a:lnTo>
                  <a:pt x="0" y="127598"/>
                </a:lnTo>
                <a:lnTo>
                  <a:pt x="178637" y="127598"/>
                </a:lnTo>
                <a:lnTo>
                  <a:pt x="165877" y="0"/>
                </a:lnTo>
                <a:close/>
              </a:path>
            </a:pathLst>
          </a:custGeom>
          <a:solidFill>
            <a:srgbClr val="A6D2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individual-nav-green-thought"/>
          <p:cNvSpPr/>
          <p:nvPr/>
        </p:nvSpPr>
        <p:spPr>
          <a:xfrm>
            <a:off x="3068734" y="3100634"/>
            <a:ext cx="57419" cy="574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individual-nav-green-thought-small"/>
          <p:cNvSpPr/>
          <p:nvPr/>
        </p:nvSpPr>
        <p:spPr>
          <a:xfrm>
            <a:off x="3132533" y="3075114"/>
            <a:ext cx="38279" cy="382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individual-navigator-label"/>
          <p:cNvSpPr txBox="1"/>
          <p:nvPr/>
        </p:nvSpPr>
        <p:spPr>
          <a:xfrm>
            <a:off x="2583861" y="3355830"/>
            <a:ext cx="689029" cy="42745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Evolutionary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navigators 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individual</a:t>
            </a:r>
          </a:p>
        </p:txBody>
      </p:sp>
      <p:sp>
        <p:nvSpPr>
          <p:cNvPr id="158" name="individual-box"/>
          <p:cNvSpPr/>
          <p:nvPr/>
        </p:nvSpPr>
        <p:spPr>
          <a:xfrm>
            <a:off x="2679560" y="3955541"/>
            <a:ext cx="663510" cy="803868"/>
          </a:xfrm>
          <a:prstGeom prst="roundRect">
            <a:avLst>
              <a:gd name="adj" fmla="val 19230"/>
            </a:avLst>
          </a:prstGeom>
          <a:solidFill>
            <a:srgbClr val="F9FCFD"/>
          </a:solidFill>
          <a:ln w="17145">
            <a:solidFill>
              <a:srgbClr val="00245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9" name="individual-graph-segment-1"/>
          <p:cNvCxnSpPr/>
          <p:nvPr/>
        </p:nvCxnSpPr>
        <p:spPr>
          <a:xfrm flipV="1">
            <a:off x="2851817" y="4153318"/>
            <a:ext cx="153118" cy="261576"/>
          </a:xfrm>
          <a:prstGeom prst="line">
            <a:avLst/>
          </a:prstGeom>
          <a:ln w="22859">
            <a:solidFill>
              <a:srgbClr val="00245E"/>
            </a:solidFill>
          </a:ln>
          <a:effectLst/>
        </p:spPr>
      </p:cxnSp>
      <p:cxnSp>
        <p:nvCxnSpPr>
          <p:cNvPr id="160" name="individual-graph-segment-2"/>
          <p:cNvCxnSpPr/>
          <p:nvPr/>
        </p:nvCxnSpPr>
        <p:spPr>
          <a:xfrm>
            <a:off x="3004935" y="4153318"/>
            <a:ext cx="185017" cy="267956"/>
          </a:xfrm>
          <a:prstGeom prst="line">
            <a:avLst/>
          </a:prstGeom>
          <a:ln w="22859">
            <a:solidFill>
              <a:srgbClr val="00245E"/>
            </a:solidFill>
          </a:ln>
          <a:effectLst/>
        </p:spPr>
      </p:cxnSp>
      <p:sp>
        <p:nvSpPr>
          <p:cNvPr id="161" name="individual-center"/>
          <p:cNvSpPr/>
          <p:nvPr/>
        </p:nvSpPr>
        <p:spPr>
          <a:xfrm>
            <a:off x="2890097" y="3993820"/>
            <a:ext cx="229676" cy="229676"/>
          </a:xfrm>
          <a:prstGeom prst="ellipse">
            <a:avLst/>
          </a:prstGeom>
          <a:solidFill>
            <a:srgbClr val="CAD9EA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individual-orange"/>
          <p:cNvSpPr/>
          <p:nvPr/>
        </p:nvSpPr>
        <p:spPr>
          <a:xfrm>
            <a:off x="2705079" y="4331955"/>
            <a:ext cx="236056" cy="172257"/>
          </a:xfrm>
          <a:prstGeom prst="ellipse">
            <a:avLst/>
          </a:prstGeom>
          <a:solidFill>
            <a:srgbClr val="F4A276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individual-green"/>
          <p:cNvSpPr/>
          <p:nvPr/>
        </p:nvSpPr>
        <p:spPr>
          <a:xfrm>
            <a:off x="3075114" y="4331955"/>
            <a:ext cx="236056" cy="172257"/>
          </a:xfrm>
          <a:prstGeom prst="ellipse">
            <a:avLst/>
          </a:prstGeom>
          <a:solidFill>
            <a:srgbClr val="9EC975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individual-bottom-label"/>
          <p:cNvSpPr txBox="1"/>
          <p:nvPr/>
        </p:nvSpPr>
        <p:spPr>
          <a:xfrm>
            <a:off x="2698700" y="4536112"/>
            <a:ext cx="625230" cy="15311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Individual</a:t>
            </a:r>
          </a:p>
        </p:txBody>
      </p:sp>
      <p:cxnSp>
        <p:nvCxnSpPr>
          <p:cNvPr id="165" name="guide-path-segment-1"/>
          <p:cNvCxnSpPr/>
          <p:nvPr/>
        </p:nvCxnSpPr>
        <p:spPr>
          <a:xfrm>
            <a:off x="3304791" y="3387729"/>
            <a:ext cx="255196" cy="0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166" name="guide-path-segment-2"/>
          <p:cNvCxnSpPr/>
          <p:nvPr/>
        </p:nvCxnSpPr>
        <p:spPr>
          <a:xfrm>
            <a:off x="3559987" y="3387729"/>
            <a:ext cx="0" cy="771969"/>
          </a:xfrm>
          <a:prstGeom prst="line">
            <a:avLst/>
          </a:prstGeom>
          <a:ln w="28575">
            <a:solidFill>
              <a:srgbClr val="00245E"/>
            </a:solidFill>
          </a:ln>
          <a:effectLst/>
        </p:spPr>
      </p:cxnSp>
      <p:cxnSp>
        <p:nvCxnSpPr>
          <p:cNvPr id="167" name="guide-path-segment-3"/>
          <p:cNvCxnSpPr/>
          <p:nvPr/>
        </p:nvCxnSpPr>
        <p:spPr>
          <a:xfrm>
            <a:off x="3559987" y="4159698"/>
            <a:ext cx="510392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68" name="guide-highlight"/>
          <p:cNvSpPr/>
          <p:nvPr/>
        </p:nvSpPr>
        <p:spPr>
          <a:xfrm>
            <a:off x="3579127" y="3413249"/>
            <a:ext cx="178637" cy="350894"/>
          </a:xfrm>
          <a:prstGeom prst="rect">
            <a:avLst/>
          </a:prstGeom>
          <a:solidFill>
            <a:srgbClr val="FFE8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uide-label"/>
          <p:cNvSpPr txBox="1"/>
          <p:nvPr/>
        </p:nvSpPr>
        <p:spPr>
          <a:xfrm rot="5400000">
            <a:off x="3492998" y="3499378"/>
            <a:ext cx="350894" cy="1786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Guide</a:t>
            </a:r>
          </a:p>
        </p:txBody>
      </p:sp>
      <p:cxnSp>
        <p:nvCxnSpPr>
          <p:cNvPr id="170" name="decode-arrow"/>
          <p:cNvCxnSpPr/>
          <p:nvPr/>
        </p:nvCxnSpPr>
        <p:spPr>
          <a:xfrm>
            <a:off x="3343070" y="4159698"/>
            <a:ext cx="727309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71" name="decode-label"/>
          <p:cNvSpPr txBox="1"/>
          <p:nvPr/>
        </p:nvSpPr>
        <p:spPr>
          <a:xfrm>
            <a:off x="3387729" y="4095899"/>
            <a:ext cx="472113" cy="1658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Decode</a:t>
            </a:r>
          </a:p>
        </p:txBody>
      </p:sp>
      <p:cxnSp>
        <p:nvCxnSpPr>
          <p:cNvPr id="172" name="encode-arrow"/>
          <p:cNvCxnSpPr/>
          <p:nvPr/>
        </p:nvCxnSpPr>
        <p:spPr>
          <a:xfrm flipH="1">
            <a:off x="3343070" y="4555252"/>
            <a:ext cx="727309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73" name="encode-label"/>
          <p:cNvSpPr txBox="1"/>
          <p:nvPr/>
        </p:nvSpPr>
        <p:spPr>
          <a:xfrm>
            <a:off x="3400489" y="4485073"/>
            <a:ext cx="459353" cy="17225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Encode</a:t>
            </a:r>
          </a:p>
        </p:txBody>
      </p:sp>
      <p:sp>
        <p:nvSpPr>
          <p:cNvPr id="174" name="encoder-area"/>
          <p:cNvSpPr/>
          <p:nvPr/>
        </p:nvSpPr>
        <p:spPr>
          <a:xfrm>
            <a:off x="4063999" y="1646015"/>
            <a:ext cx="3413249" cy="3292031"/>
          </a:xfrm>
          <a:prstGeom prst="rect">
            <a:avLst/>
          </a:prstGeom>
          <a:solidFill>
            <a:srgbClr val="E4F4FC"/>
          </a:solidFill>
          <a:ln w="17145">
            <a:solidFill>
              <a:srgbClr val="56656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freeze-top"/>
          <p:cNvSpPr/>
          <p:nvPr/>
        </p:nvSpPr>
        <p:spPr>
          <a:xfrm>
            <a:off x="4121419" y="1697054"/>
            <a:ext cx="2558342" cy="644370"/>
          </a:xfrm>
          <a:prstGeom prst="roundRect">
            <a:avLst>
              <a:gd name="adj" fmla="val 19801"/>
            </a:avLst>
          </a:prstGeom>
          <a:solidFill>
            <a:srgbClr val="F1E8DF"/>
          </a:solidFill>
          <a:ln w="17145">
            <a:solidFill>
              <a:srgbClr val="F4A27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eeze-top-label"/>
          <p:cNvSpPr txBox="1"/>
          <p:nvPr/>
        </p:nvSpPr>
        <p:spPr>
          <a:xfrm>
            <a:off x="4153318" y="1703434"/>
            <a:ext cx="1588596" cy="1977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137FCA"/>
                </a:solidFill>
                <a:latin typeface="DejaVu Sans"/>
              </a:rPr>
              <a:t>❄ Parameter freeze</a:t>
            </a:r>
          </a:p>
        </p:txBody>
      </p:sp>
      <p:sp>
        <p:nvSpPr>
          <p:cNvPr id="177" name="freeze-bottom"/>
          <p:cNvSpPr/>
          <p:nvPr/>
        </p:nvSpPr>
        <p:spPr>
          <a:xfrm>
            <a:off x="4121419" y="4300056"/>
            <a:ext cx="2558342" cy="599711"/>
          </a:xfrm>
          <a:prstGeom prst="roundRect">
            <a:avLst>
              <a:gd name="adj" fmla="val 21276"/>
            </a:avLst>
          </a:prstGeom>
          <a:solidFill>
            <a:srgbClr val="DBECD9"/>
          </a:solidFill>
          <a:ln w="17145">
            <a:solidFill>
              <a:srgbClr val="9BCB7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freeze-bottom-label"/>
          <p:cNvSpPr txBox="1"/>
          <p:nvPr/>
        </p:nvSpPr>
        <p:spPr>
          <a:xfrm>
            <a:off x="4153318" y="4689230"/>
            <a:ext cx="1588596" cy="1977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137FCA"/>
                </a:solidFill>
                <a:latin typeface="DejaVu Sans"/>
              </a:rPr>
              <a:t>❄ Parameter freeze</a:t>
            </a:r>
          </a:p>
        </p:txBody>
      </p:sp>
      <p:sp>
        <p:nvSpPr>
          <p:cNvPr id="179" name="encoder-view-1"/>
          <p:cNvSpPr/>
          <p:nvPr/>
        </p:nvSpPr>
        <p:spPr>
          <a:xfrm>
            <a:off x="4153318" y="1862932"/>
            <a:ext cx="618850" cy="306235"/>
          </a:xfrm>
          <a:prstGeom prst="ellipse">
            <a:avLst/>
          </a:prstGeom>
          <a:solidFill>
            <a:srgbClr val="F4A276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encoder-view-label-1"/>
          <p:cNvSpPr txBox="1"/>
          <p:nvPr/>
        </p:nvSpPr>
        <p:spPr>
          <a:xfrm>
            <a:off x="4153318" y="1862932"/>
            <a:ext cx="618850" cy="3062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View⁽¹⁾</a:t>
            </a:r>
          </a:p>
        </p:txBody>
      </p:sp>
      <p:cxnSp>
        <p:nvCxnSpPr>
          <p:cNvPr id="181" name="view-to-fc-1"/>
          <p:cNvCxnSpPr/>
          <p:nvPr/>
        </p:nvCxnSpPr>
        <p:spPr>
          <a:xfrm>
            <a:off x="4772169" y="2016050"/>
            <a:ext cx="689030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82" name="encoder-fc-1"/>
          <p:cNvSpPr/>
          <p:nvPr/>
        </p:nvSpPr>
        <p:spPr>
          <a:xfrm>
            <a:off x="5467579" y="1831032"/>
            <a:ext cx="24243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ncoder-fc-1-label"/>
          <p:cNvSpPr txBox="1"/>
          <p:nvPr/>
        </p:nvSpPr>
        <p:spPr>
          <a:xfrm rot="5400000">
            <a:off x="5403780" y="1894831"/>
            <a:ext cx="37003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cxnSp>
        <p:nvCxnSpPr>
          <p:cNvPr id="184" name="fc-to-vector-1"/>
          <p:cNvCxnSpPr/>
          <p:nvPr/>
        </p:nvCxnSpPr>
        <p:spPr>
          <a:xfrm>
            <a:off x="5710015" y="2016050"/>
            <a:ext cx="299856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85" name="encoder-vector-1"/>
          <p:cNvSpPr/>
          <p:nvPr/>
        </p:nvSpPr>
        <p:spPr>
          <a:xfrm>
            <a:off x="6016251" y="1741714"/>
            <a:ext cx="165877" cy="548671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encoder-vector-1-node-0"/>
          <p:cNvSpPr/>
          <p:nvPr/>
        </p:nvSpPr>
        <p:spPr>
          <a:xfrm>
            <a:off x="6054530" y="1773613"/>
            <a:ext cx="89318" cy="89318"/>
          </a:xfrm>
          <a:prstGeom prst="ellipse">
            <a:avLst/>
          </a:prstGeom>
          <a:solidFill>
            <a:srgbClr val="F4A27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encoder-vector-1-node-1"/>
          <p:cNvSpPr/>
          <p:nvPr/>
        </p:nvSpPr>
        <p:spPr>
          <a:xfrm>
            <a:off x="6080050" y="1930984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encoder-vector-1-node-2"/>
          <p:cNvSpPr/>
          <p:nvPr/>
        </p:nvSpPr>
        <p:spPr>
          <a:xfrm>
            <a:off x="6080050" y="2062836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encoder-vector-1-node-3"/>
          <p:cNvSpPr/>
          <p:nvPr/>
        </p:nvSpPr>
        <p:spPr>
          <a:xfrm>
            <a:off x="6054530" y="2169167"/>
            <a:ext cx="89318" cy="89318"/>
          </a:xfrm>
          <a:prstGeom prst="ellipse">
            <a:avLst/>
          </a:prstGeom>
          <a:solidFill>
            <a:srgbClr val="F4A27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encoder-view-2"/>
          <p:cNvSpPr/>
          <p:nvPr/>
        </p:nvSpPr>
        <p:spPr>
          <a:xfrm>
            <a:off x="4153318" y="2705079"/>
            <a:ext cx="618850" cy="306235"/>
          </a:xfrm>
          <a:prstGeom prst="ellipse">
            <a:avLst/>
          </a:prstGeom>
          <a:solidFill>
            <a:srgbClr val="F4A276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encoder-view-label-2"/>
          <p:cNvSpPr txBox="1"/>
          <p:nvPr/>
        </p:nvSpPr>
        <p:spPr>
          <a:xfrm>
            <a:off x="4153318" y="2705079"/>
            <a:ext cx="618850" cy="3062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View⁽¹⁾</a:t>
            </a:r>
          </a:p>
        </p:txBody>
      </p:sp>
      <p:cxnSp>
        <p:nvCxnSpPr>
          <p:cNvPr id="192" name="view-to-fc-2"/>
          <p:cNvCxnSpPr/>
          <p:nvPr/>
        </p:nvCxnSpPr>
        <p:spPr>
          <a:xfrm>
            <a:off x="4772169" y="2858197"/>
            <a:ext cx="689030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93" name="encoder-fc-2"/>
          <p:cNvSpPr/>
          <p:nvPr/>
        </p:nvSpPr>
        <p:spPr>
          <a:xfrm>
            <a:off x="5467579" y="2673180"/>
            <a:ext cx="24243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encoder-fc-2-label"/>
          <p:cNvSpPr txBox="1"/>
          <p:nvPr/>
        </p:nvSpPr>
        <p:spPr>
          <a:xfrm rot="5400000">
            <a:off x="5403780" y="2736979"/>
            <a:ext cx="37003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cxnSp>
        <p:nvCxnSpPr>
          <p:cNvPr id="195" name="fc-to-vector-2"/>
          <p:cNvCxnSpPr/>
          <p:nvPr/>
        </p:nvCxnSpPr>
        <p:spPr>
          <a:xfrm>
            <a:off x="5710015" y="2858197"/>
            <a:ext cx="299856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196" name="encoder-vector-2"/>
          <p:cNvSpPr/>
          <p:nvPr/>
        </p:nvSpPr>
        <p:spPr>
          <a:xfrm>
            <a:off x="6016251" y="2583861"/>
            <a:ext cx="165877" cy="548671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ncoder-vector-2-node-0"/>
          <p:cNvSpPr/>
          <p:nvPr/>
        </p:nvSpPr>
        <p:spPr>
          <a:xfrm>
            <a:off x="6054530" y="2615761"/>
            <a:ext cx="89318" cy="89318"/>
          </a:xfrm>
          <a:prstGeom prst="ellipse">
            <a:avLst/>
          </a:prstGeom>
          <a:solidFill>
            <a:srgbClr val="F0D7C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encoder-vector-2-node-1"/>
          <p:cNvSpPr/>
          <p:nvPr/>
        </p:nvSpPr>
        <p:spPr>
          <a:xfrm>
            <a:off x="6080050" y="2773132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ncoder-vector-2-node-2"/>
          <p:cNvSpPr/>
          <p:nvPr/>
        </p:nvSpPr>
        <p:spPr>
          <a:xfrm>
            <a:off x="6080050" y="2904983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ncoder-vector-2-node-3"/>
          <p:cNvSpPr/>
          <p:nvPr/>
        </p:nvSpPr>
        <p:spPr>
          <a:xfrm>
            <a:off x="6054530" y="3011315"/>
            <a:ext cx="89318" cy="89318"/>
          </a:xfrm>
          <a:prstGeom prst="ellipse">
            <a:avLst/>
          </a:prstGeom>
          <a:solidFill>
            <a:srgbClr val="F0D7C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encoder-view-3"/>
          <p:cNvSpPr/>
          <p:nvPr/>
        </p:nvSpPr>
        <p:spPr>
          <a:xfrm>
            <a:off x="4153318" y="3534467"/>
            <a:ext cx="618850" cy="306235"/>
          </a:xfrm>
          <a:prstGeom prst="ellipse">
            <a:avLst/>
          </a:prstGeom>
          <a:solidFill>
            <a:srgbClr val="A2CB79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encoder-view-label-3"/>
          <p:cNvSpPr txBox="1"/>
          <p:nvPr/>
        </p:nvSpPr>
        <p:spPr>
          <a:xfrm>
            <a:off x="4153318" y="3534467"/>
            <a:ext cx="618850" cy="3062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View⁽²⁾</a:t>
            </a:r>
          </a:p>
        </p:txBody>
      </p:sp>
      <p:cxnSp>
        <p:nvCxnSpPr>
          <p:cNvPr id="203" name="view-to-fc-3"/>
          <p:cNvCxnSpPr/>
          <p:nvPr/>
        </p:nvCxnSpPr>
        <p:spPr>
          <a:xfrm>
            <a:off x="4772169" y="3687585"/>
            <a:ext cx="689030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04" name="encoder-fc-3"/>
          <p:cNvSpPr/>
          <p:nvPr/>
        </p:nvSpPr>
        <p:spPr>
          <a:xfrm>
            <a:off x="5467579" y="3502568"/>
            <a:ext cx="24243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encoder-fc-3-label"/>
          <p:cNvSpPr txBox="1"/>
          <p:nvPr/>
        </p:nvSpPr>
        <p:spPr>
          <a:xfrm rot="5400000">
            <a:off x="5403780" y="3566367"/>
            <a:ext cx="37003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cxnSp>
        <p:nvCxnSpPr>
          <p:cNvPr id="206" name="fc-to-vector-3"/>
          <p:cNvCxnSpPr/>
          <p:nvPr/>
        </p:nvCxnSpPr>
        <p:spPr>
          <a:xfrm>
            <a:off x="5710015" y="3687585"/>
            <a:ext cx="299856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07" name="encoder-vector-3"/>
          <p:cNvSpPr/>
          <p:nvPr/>
        </p:nvSpPr>
        <p:spPr>
          <a:xfrm>
            <a:off x="6016251" y="3413249"/>
            <a:ext cx="165877" cy="548671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encoder-vector-3-node-0"/>
          <p:cNvSpPr/>
          <p:nvPr/>
        </p:nvSpPr>
        <p:spPr>
          <a:xfrm>
            <a:off x="6054530" y="3445149"/>
            <a:ext cx="89318" cy="89318"/>
          </a:xfrm>
          <a:prstGeom prst="ellipse">
            <a:avLst/>
          </a:prstGeom>
          <a:solidFill>
            <a:srgbClr val="DBE8D4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encoder-vector-3-node-1"/>
          <p:cNvSpPr/>
          <p:nvPr/>
        </p:nvSpPr>
        <p:spPr>
          <a:xfrm>
            <a:off x="6080050" y="3602520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encoder-vector-3-node-2"/>
          <p:cNvSpPr/>
          <p:nvPr/>
        </p:nvSpPr>
        <p:spPr>
          <a:xfrm>
            <a:off x="6080050" y="3734371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encoder-vector-3-node-3"/>
          <p:cNvSpPr/>
          <p:nvPr/>
        </p:nvSpPr>
        <p:spPr>
          <a:xfrm>
            <a:off x="6054530" y="3840703"/>
            <a:ext cx="89318" cy="89318"/>
          </a:xfrm>
          <a:prstGeom prst="ellipse">
            <a:avLst/>
          </a:prstGeom>
          <a:solidFill>
            <a:srgbClr val="DBE8D4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encoder-view-4"/>
          <p:cNvSpPr/>
          <p:nvPr/>
        </p:nvSpPr>
        <p:spPr>
          <a:xfrm>
            <a:off x="4153318" y="4395754"/>
            <a:ext cx="618850" cy="306235"/>
          </a:xfrm>
          <a:prstGeom prst="ellipse">
            <a:avLst/>
          </a:prstGeom>
          <a:solidFill>
            <a:srgbClr val="A2CB79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encoder-view-label-4"/>
          <p:cNvSpPr txBox="1"/>
          <p:nvPr/>
        </p:nvSpPr>
        <p:spPr>
          <a:xfrm>
            <a:off x="4153318" y="4395754"/>
            <a:ext cx="618850" cy="3062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View⁽²⁾</a:t>
            </a:r>
          </a:p>
        </p:txBody>
      </p:sp>
      <p:cxnSp>
        <p:nvCxnSpPr>
          <p:cNvPr id="214" name="view-to-fc-4"/>
          <p:cNvCxnSpPr/>
          <p:nvPr/>
        </p:nvCxnSpPr>
        <p:spPr>
          <a:xfrm>
            <a:off x="4772169" y="4548872"/>
            <a:ext cx="689030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15" name="encoder-fc-4"/>
          <p:cNvSpPr/>
          <p:nvPr/>
        </p:nvSpPr>
        <p:spPr>
          <a:xfrm>
            <a:off x="5467579" y="4363855"/>
            <a:ext cx="24243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encoder-fc-4-label"/>
          <p:cNvSpPr txBox="1"/>
          <p:nvPr/>
        </p:nvSpPr>
        <p:spPr>
          <a:xfrm rot="5400000">
            <a:off x="5403780" y="4427654"/>
            <a:ext cx="37003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cxnSp>
        <p:nvCxnSpPr>
          <p:cNvPr id="217" name="fc-to-vector-4"/>
          <p:cNvCxnSpPr/>
          <p:nvPr/>
        </p:nvCxnSpPr>
        <p:spPr>
          <a:xfrm>
            <a:off x="5710015" y="4548872"/>
            <a:ext cx="299856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18" name="encoder-vector-4"/>
          <p:cNvSpPr/>
          <p:nvPr/>
        </p:nvSpPr>
        <p:spPr>
          <a:xfrm>
            <a:off x="6016251" y="4274536"/>
            <a:ext cx="165877" cy="548671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encoder-vector-4-node-0"/>
          <p:cNvSpPr/>
          <p:nvPr/>
        </p:nvSpPr>
        <p:spPr>
          <a:xfrm>
            <a:off x="6054530" y="4306436"/>
            <a:ext cx="89318" cy="89318"/>
          </a:xfrm>
          <a:prstGeom prst="ellipse">
            <a:avLst/>
          </a:prstGeom>
          <a:solidFill>
            <a:srgbClr val="A2CB79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encoder-vector-4-node-1"/>
          <p:cNvSpPr/>
          <p:nvPr/>
        </p:nvSpPr>
        <p:spPr>
          <a:xfrm>
            <a:off x="6080050" y="4463807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encoder-vector-4-node-2"/>
          <p:cNvSpPr/>
          <p:nvPr/>
        </p:nvSpPr>
        <p:spPr>
          <a:xfrm>
            <a:off x="6080050" y="4595658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encoder-vector-4-node-3"/>
          <p:cNvSpPr/>
          <p:nvPr/>
        </p:nvSpPr>
        <p:spPr>
          <a:xfrm>
            <a:off x="6054530" y="4701990"/>
            <a:ext cx="89318" cy="89318"/>
          </a:xfrm>
          <a:prstGeom prst="ellipse">
            <a:avLst/>
          </a:prstGeom>
          <a:solidFill>
            <a:srgbClr val="A2CB79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3" name="top-vector-to-fc"/>
          <p:cNvCxnSpPr/>
          <p:nvPr/>
        </p:nvCxnSpPr>
        <p:spPr>
          <a:xfrm>
            <a:off x="6182128" y="2016050"/>
            <a:ext cx="191397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24" name="top-terminal-fc"/>
          <p:cNvSpPr/>
          <p:nvPr/>
        </p:nvSpPr>
        <p:spPr>
          <a:xfrm>
            <a:off x="6373525" y="1831032"/>
            <a:ext cx="24243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top-terminal-fc-label"/>
          <p:cNvSpPr txBox="1"/>
          <p:nvPr/>
        </p:nvSpPr>
        <p:spPr>
          <a:xfrm rot="5400000">
            <a:off x="6309726" y="1894831"/>
            <a:ext cx="37003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cxnSp>
        <p:nvCxnSpPr>
          <p:cNvPr id="226" name="top-fc-to-vector"/>
          <p:cNvCxnSpPr/>
          <p:nvPr/>
        </p:nvCxnSpPr>
        <p:spPr>
          <a:xfrm>
            <a:off x="6615962" y="2016050"/>
            <a:ext cx="427453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27" name="top-terminal-vector"/>
          <p:cNvSpPr/>
          <p:nvPr/>
        </p:nvSpPr>
        <p:spPr>
          <a:xfrm>
            <a:off x="7049795" y="1741714"/>
            <a:ext cx="165877" cy="548671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op-terminal-vector-node-0"/>
          <p:cNvSpPr/>
          <p:nvPr/>
        </p:nvSpPr>
        <p:spPr>
          <a:xfrm>
            <a:off x="7088075" y="1773613"/>
            <a:ext cx="89318" cy="89318"/>
          </a:xfrm>
          <a:prstGeom prst="ellipse">
            <a:avLst/>
          </a:prstGeom>
          <a:solidFill>
            <a:srgbClr val="F4A27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top-terminal-vector-node-1"/>
          <p:cNvSpPr/>
          <p:nvPr/>
        </p:nvSpPr>
        <p:spPr>
          <a:xfrm>
            <a:off x="7113594" y="1930984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op-terminal-vector-node-2"/>
          <p:cNvSpPr/>
          <p:nvPr/>
        </p:nvSpPr>
        <p:spPr>
          <a:xfrm>
            <a:off x="7113594" y="2062836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top-terminal-vector-node-3"/>
          <p:cNvSpPr/>
          <p:nvPr/>
        </p:nvSpPr>
        <p:spPr>
          <a:xfrm>
            <a:off x="7088075" y="2169167"/>
            <a:ext cx="89318" cy="89318"/>
          </a:xfrm>
          <a:prstGeom prst="ellipse">
            <a:avLst/>
          </a:prstGeom>
          <a:solidFill>
            <a:srgbClr val="F4A27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bottom-vector-to-fc"/>
          <p:cNvCxnSpPr/>
          <p:nvPr/>
        </p:nvCxnSpPr>
        <p:spPr>
          <a:xfrm>
            <a:off x="6182128" y="4548872"/>
            <a:ext cx="191397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33" name="bottom-terminal-fc"/>
          <p:cNvSpPr/>
          <p:nvPr/>
        </p:nvSpPr>
        <p:spPr>
          <a:xfrm>
            <a:off x="6373525" y="4363855"/>
            <a:ext cx="24243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bottom-terminal-fc-label"/>
          <p:cNvSpPr txBox="1"/>
          <p:nvPr/>
        </p:nvSpPr>
        <p:spPr>
          <a:xfrm rot="5400000">
            <a:off x="6309726" y="4427654"/>
            <a:ext cx="37003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cxnSp>
        <p:nvCxnSpPr>
          <p:cNvPr id="235" name="bottom-fc-to-vector"/>
          <p:cNvCxnSpPr/>
          <p:nvPr/>
        </p:nvCxnSpPr>
        <p:spPr>
          <a:xfrm>
            <a:off x="6615962" y="4548872"/>
            <a:ext cx="427453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36" name="bottom-terminal-vector"/>
          <p:cNvSpPr/>
          <p:nvPr/>
        </p:nvSpPr>
        <p:spPr>
          <a:xfrm>
            <a:off x="7049795" y="4274536"/>
            <a:ext cx="165877" cy="548671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bottom-terminal-vector-node-0"/>
          <p:cNvSpPr/>
          <p:nvPr/>
        </p:nvSpPr>
        <p:spPr>
          <a:xfrm>
            <a:off x="7088075" y="4306436"/>
            <a:ext cx="89318" cy="89318"/>
          </a:xfrm>
          <a:prstGeom prst="ellipse">
            <a:avLst/>
          </a:prstGeom>
          <a:solidFill>
            <a:srgbClr val="78AC55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bottom-terminal-vector-node-1"/>
          <p:cNvSpPr/>
          <p:nvPr/>
        </p:nvSpPr>
        <p:spPr>
          <a:xfrm>
            <a:off x="7113594" y="4463807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bottom-terminal-vector-node-2"/>
          <p:cNvSpPr/>
          <p:nvPr/>
        </p:nvSpPr>
        <p:spPr>
          <a:xfrm>
            <a:off x="7113594" y="4595658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bottom-terminal-vector-node-3"/>
          <p:cNvSpPr/>
          <p:nvPr/>
        </p:nvSpPr>
        <p:spPr>
          <a:xfrm>
            <a:off x="7088075" y="4701990"/>
            <a:ext cx="89318" cy="89318"/>
          </a:xfrm>
          <a:prstGeom prst="ellipse">
            <a:avLst/>
          </a:prstGeom>
          <a:solidFill>
            <a:srgbClr val="78AC55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1" name="middle-top-route-segment-1"/>
          <p:cNvCxnSpPr/>
          <p:nvPr/>
        </p:nvCxnSpPr>
        <p:spPr>
          <a:xfrm>
            <a:off x="6182128" y="2858197"/>
            <a:ext cx="127598" cy="0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42" name="middle-top-route-segment-2"/>
          <p:cNvCxnSpPr/>
          <p:nvPr/>
        </p:nvCxnSpPr>
        <p:spPr>
          <a:xfrm>
            <a:off x="6309726" y="2858197"/>
            <a:ext cx="0" cy="318996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43" name="middle-top-route-segment-3"/>
          <p:cNvCxnSpPr/>
          <p:nvPr/>
        </p:nvCxnSpPr>
        <p:spPr>
          <a:xfrm>
            <a:off x="6309726" y="3177193"/>
            <a:ext cx="331755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244" name="middle-bottom-route-segment-1"/>
          <p:cNvCxnSpPr/>
          <p:nvPr/>
        </p:nvCxnSpPr>
        <p:spPr>
          <a:xfrm>
            <a:off x="6182128" y="3687585"/>
            <a:ext cx="127598" cy="0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45" name="middle-bottom-route-segment-2"/>
          <p:cNvCxnSpPr/>
          <p:nvPr/>
        </p:nvCxnSpPr>
        <p:spPr>
          <a:xfrm flipV="1">
            <a:off x="6309726" y="3457908"/>
            <a:ext cx="0" cy="229677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46" name="middle-bottom-route-segment-3"/>
          <p:cNvCxnSpPr/>
          <p:nvPr/>
        </p:nvCxnSpPr>
        <p:spPr>
          <a:xfrm>
            <a:off x="6309726" y="3457908"/>
            <a:ext cx="331755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47" name="middle-top-fusion-fc"/>
          <p:cNvSpPr/>
          <p:nvPr/>
        </p:nvSpPr>
        <p:spPr>
          <a:xfrm>
            <a:off x="6373525" y="2475403"/>
            <a:ext cx="24243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middle-top-fusion-fc-label"/>
          <p:cNvSpPr txBox="1"/>
          <p:nvPr/>
        </p:nvSpPr>
        <p:spPr>
          <a:xfrm rot="5400000">
            <a:off x="6309726" y="2539202"/>
            <a:ext cx="37003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sp>
        <p:nvSpPr>
          <p:cNvPr id="249" name="middle-bottom-fusion-fc"/>
          <p:cNvSpPr/>
          <p:nvPr/>
        </p:nvSpPr>
        <p:spPr>
          <a:xfrm>
            <a:off x="6373525" y="3668445"/>
            <a:ext cx="24243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middle-bottom-fusion-fc-label"/>
          <p:cNvSpPr txBox="1"/>
          <p:nvPr/>
        </p:nvSpPr>
        <p:spPr>
          <a:xfrm rot="5400000">
            <a:off x="6309726" y="3732244"/>
            <a:ext cx="370034" cy="2424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sp>
        <p:nvSpPr>
          <p:cNvPr id="251" name="fusion-node"/>
          <p:cNvSpPr/>
          <p:nvPr/>
        </p:nvSpPr>
        <p:spPr>
          <a:xfrm>
            <a:off x="6647861" y="3247371"/>
            <a:ext cx="210536" cy="210536"/>
          </a:xfrm>
          <a:prstGeom prst="ellipse">
            <a:avLst/>
          </a:prstGeom>
          <a:solidFill>
            <a:srgbClr val="C9D8E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2" name="fusion-callout"/>
          <p:cNvCxnSpPr/>
          <p:nvPr/>
        </p:nvCxnSpPr>
        <p:spPr>
          <a:xfrm>
            <a:off x="6494743" y="2851817"/>
            <a:ext cx="261577" cy="395554"/>
          </a:xfrm>
          <a:prstGeom prst="line">
            <a:avLst/>
          </a:prstGeom>
          <a:ln w="17145">
            <a:solidFill>
              <a:srgbClr val="6F7478"/>
            </a:solidFill>
            <a:prstDash val="dash"/>
            <a:tailEnd type="triangle" w="sm" len="sm"/>
          </a:ln>
          <a:effectLst/>
        </p:spPr>
      </p:cxnSp>
      <p:sp>
        <p:nvSpPr>
          <p:cNvPr id="253" name="fusion-label-highlight"/>
          <p:cNvSpPr/>
          <p:nvPr/>
        </p:nvSpPr>
        <p:spPr>
          <a:xfrm>
            <a:off x="6475604" y="2864577"/>
            <a:ext cx="516772" cy="331755"/>
          </a:xfrm>
          <a:prstGeom prst="rect">
            <a:avLst/>
          </a:prstGeom>
          <a:solidFill>
            <a:srgbClr val="FFE8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fusion-label"/>
          <p:cNvSpPr txBox="1"/>
          <p:nvPr/>
        </p:nvSpPr>
        <p:spPr>
          <a:xfrm>
            <a:off x="6475604" y="2864577"/>
            <a:ext cx="516772" cy="3317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Fusion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operator</a:t>
            </a:r>
          </a:p>
        </p:txBody>
      </p:sp>
      <p:cxnSp>
        <p:nvCxnSpPr>
          <p:cNvPr id="255" name="fusion-to-output-vector"/>
          <p:cNvCxnSpPr/>
          <p:nvPr/>
        </p:nvCxnSpPr>
        <p:spPr>
          <a:xfrm>
            <a:off x="6858398" y="3349450"/>
            <a:ext cx="185017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56" name="fusion-output-vector"/>
          <p:cNvSpPr/>
          <p:nvPr/>
        </p:nvSpPr>
        <p:spPr>
          <a:xfrm>
            <a:off x="7049795" y="3075114"/>
            <a:ext cx="165877" cy="548671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fusion-output-vector-node-0"/>
          <p:cNvSpPr/>
          <p:nvPr/>
        </p:nvSpPr>
        <p:spPr>
          <a:xfrm>
            <a:off x="7088075" y="3107014"/>
            <a:ext cx="89318" cy="89318"/>
          </a:xfrm>
          <a:prstGeom prst="ellipse">
            <a:avLst/>
          </a:prstGeom>
          <a:solidFill>
            <a:srgbClr val="4D83B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usion-output-vector-node-1"/>
          <p:cNvSpPr/>
          <p:nvPr/>
        </p:nvSpPr>
        <p:spPr>
          <a:xfrm>
            <a:off x="7113594" y="3264385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fusion-output-vector-node-2"/>
          <p:cNvSpPr/>
          <p:nvPr/>
        </p:nvSpPr>
        <p:spPr>
          <a:xfrm>
            <a:off x="7113594" y="3396236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fusion-output-vector-node-3"/>
          <p:cNvSpPr/>
          <p:nvPr/>
        </p:nvSpPr>
        <p:spPr>
          <a:xfrm>
            <a:off x="7088075" y="3502568"/>
            <a:ext cx="89318" cy="89318"/>
          </a:xfrm>
          <a:prstGeom prst="ellipse">
            <a:avLst/>
          </a:prstGeom>
          <a:solidFill>
            <a:srgbClr val="4D83B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1" name="orange-top-brace-segment-1"/>
          <p:cNvCxnSpPr/>
          <p:nvPr/>
        </p:nvCxnSpPr>
        <p:spPr>
          <a:xfrm>
            <a:off x="7215673" y="2016050"/>
            <a:ext cx="108458" cy="0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62" name="orange-top-brace-segment-2"/>
          <p:cNvCxnSpPr/>
          <p:nvPr/>
        </p:nvCxnSpPr>
        <p:spPr>
          <a:xfrm>
            <a:off x="7324131" y="2016050"/>
            <a:ext cx="0" cy="446593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63" name="orange-top-brace-segment-3"/>
          <p:cNvCxnSpPr/>
          <p:nvPr/>
        </p:nvCxnSpPr>
        <p:spPr>
          <a:xfrm>
            <a:off x="7324131" y="2462643"/>
            <a:ext cx="121218" cy="0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64" name="orange-bottom-brace-segment-1"/>
          <p:cNvCxnSpPr/>
          <p:nvPr/>
        </p:nvCxnSpPr>
        <p:spPr>
          <a:xfrm>
            <a:off x="7215673" y="2858197"/>
            <a:ext cx="108458" cy="0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65" name="orange-bottom-brace-segment-2"/>
          <p:cNvCxnSpPr/>
          <p:nvPr/>
        </p:nvCxnSpPr>
        <p:spPr>
          <a:xfrm flipV="1">
            <a:off x="7324131" y="2462643"/>
            <a:ext cx="0" cy="395554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66" name="green-top-brace-segment-1"/>
          <p:cNvCxnSpPr/>
          <p:nvPr/>
        </p:nvCxnSpPr>
        <p:spPr>
          <a:xfrm>
            <a:off x="7215673" y="3687585"/>
            <a:ext cx="108458" cy="0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67" name="green-top-brace-segment-2"/>
          <p:cNvCxnSpPr/>
          <p:nvPr/>
        </p:nvCxnSpPr>
        <p:spPr>
          <a:xfrm>
            <a:off x="7324131" y="3687585"/>
            <a:ext cx="0" cy="433834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68" name="green-top-brace-segment-3"/>
          <p:cNvCxnSpPr/>
          <p:nvPr/>
        </p:nvCxnSpPr>
        <p:spPr>
          <a:xfrm>
            <a:off x="7324131" y="4121419"/>
            <a:ext cx="121218" cy="0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69" name="green-bottom-brace-segment-1"/>
          <p:cNvCxnSpPr/>
          <p:nvPr/>
        </p:nvCxnSpPr>
        <p:spPr>
          <a:xfrm>
            <a:off x="7215673" y="4548872"/>
            <a:ext cx="108458" cy="0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cxnSp>
        <p:nvCxnSpPr>
          <p:cNvPr id="270" name="green-bottom-brace-segment-2"/>
          <p:cNvCxnSpPr/>
          <p:nvPr/>
        </p:nvCxnSpPr>
        <p:spPr>
          <a:xfrm flipV="1">
            <a:off x="7324131" y="4121419"/>
            <a:ext cx="0" cy="427453"/>
          </a:xfrm>
          <a:prstGeom prst="line">
            <a:avLst/>
          </a:prstGeom>
          <a:ln w="26669">
            <a:solidFill>
              <a:srgbClr val="00245E"/>
            </a:solidFill>
          </a:ln>
          <a:effectLst/>
        </p:spPr>
      </p:cxnSp>
      <p:sp>
        <p:nvSpPr>
          <p:cNvPr id="271" name="feature-orange-head"/>
          <p:cNvSpPr/>
          <p:nvPr/>
        </p:nvSpPr>
        <p:spPr>
          <a:xfrm>
            <a:off x="4893387" y="2456263"/>
            <a:ext cx="242436" cy="242436"/>
          </a:xfrm>
          <a:prstGeom prst="ellipse">
            <a:avLst/>
          </a:prstGeom>
          <a:solidFill>
            <a:srgbClr val="F4A2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feature-orange-neck"/>
          <p:cNvSpPr/>
          <p:nvPr/>
        </p:nvSpPr>
        <p:spPr>
          <a:xfrm>
            <a:off x="4899767" y="2634901"/>
            <a:ext cx="178637" cy="127598"/>
          </a:xfrm>
          <a:custGeom>
            <a:avLst/>
            <a:gdLst/>
            <a:ahLst/>
            <a:cxnLst/>
            <a:rect l="l" t="t" r="r" b="b"/>
            <a:pathLst>
              <a:path w="178637" h="127598">
                <a:moveTo>
                  <a:pt x="25520" y="6379"/>
                </a:moveTo>
                <a:lnTo>
                  <a:pt x="0" y="127598"/>
                </a:lnTo>
                <a:lnTo>
                  <a:pt x="178637" y="127598"/>
                </a:lnTo>
                <a:lnTo>
                  <a:pt x="165878" y="0"/>
                </a:lnTo>
                <a:close/>
              </a:path>
            </a:pathLst>
          </a:custGeom>
          <a:solidFill>
            <a:srgbClr val="F4A2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feature-orange-thought"/>
          <p:cNvSpPr/>
          <p:nvPr/>
        </p:nvSpPr>
        <p:spPr>
          <a:xfrm>
            <a:off x="4950806" y="2513682"/>
            <a:ext cx="57419" cy="574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feature-orange-thought-small"/>
          <p:cNvSpPr/>
          <p:nvPr/>
        </p:nvSpPr>
        <p:spPr>
          <a:xfrm>
            <a:off x="5014605" y="2488163"/>
            <a:ext cx="38279" cy="382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5" name="feature-vector-orange"/>
          <p:cNvCxnSpPr/>
          <p:nvPr/>
        </p:nvCxnSpPr>
        <p:spPr>
          <a:xfrm>
            <a:off x="5103924" y="2513682"/>
            <a:ext cx="931466" cy="510393"/>
          </a:xfrm>
          <a:prstGeom prst="line">
            <a:avLst/>
          </a:prstGeom>
          <a:ln w="16192">
            <a:solidFill>
              <a:srgbClr val="F4A276"/>
            </a:solidFill>
            <a:prstDash val="dash"/>
            <a:tailEnd type="triangle" w="sm" len="sm"/>
          </a:ln>
          <a:effectLst/>
        </p:spPr>
      </p:cxnSp>
      <p:sp>
        <p:nvSpPr>
          <p:cNvPr id="276" name="feature-vector-highlight"/>
          <p:cNvSpPr/>
          <p:nvPr/>
        </p:nvSpPr>
        <p:spPr>
          <a:xfrm>
            <a:off x="5397400" y="3145293"/>
            <a:ext cx="484872" cy="274335"/>
          </a:xfrm>
          <a:prstGeom prst="rect">
            <a:avLst/>
          </a:prstGeom>
          <a:solidFill>
            <a:srgbClr val="FFE8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feature-vector-label"/>
          <p:cNvSpPr txBox="1"/>
          <p:nvPr/>
        </p:nvSpPr>
        <p:spPr>
          <a:xfrm>
            <a:off x="5397400" y="3145293"/>
            <a:ext cx="484872" cy="2743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1" i="0">
                <a:solidFill>
                  <a:srgbClr val="101010"/>
                </a:solidFill>
                <a:latin typeface="Liberation Serif"/>
              </a:rPr>
              <a:t>Feature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1" i="0">
                <a:solidFill>
                  <a:srgbClr val="101010"/>
                </a:solidFill>
                <a:latin typeface="Liberation Serif"/>
              </a:rPr>
              <a:t>vector</a:t>
            </a:r>
          </a:p>
        </p:txBody>
      </p:sp>
      <p:sp>
        <p:nvSpPr>
          <p:cNvPr id="278" name="feature-green-head"/>
          <p:cNvSpPr/>
          <p:nvPr/>
        </p:nvSpPr>
        <p:spPr>
          <a:xfrm>
            <a:off x="4893387" y="4019340"/>
            <a:ext cx="242436" cy="242436"/>
          </a:xfrm>
          <a:prstGeom prst="ellipse">
            <a:avLst/>
          </a:prstGeom>
          <a:solidFill>
            <a:srgbClr val="9ACB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feature-green-neck"/>
          <p:cNvSpPr/>
          <p:nvPr/>
        </p:nvSpPr>
        <p:spPr>
          <a:xfrm>
            <a:off x="4899767" y="4197977"/>
            <a:ext cx="178637" cy="127599"/>
          </a:xfrm>
          <a:custGeom>
            <a:avLst/>
            <a:gdLst/>
            <a:ahLst/>
            <a:cxnLst/>
            <a:rect l="l" t="t" r="r" b="b"/>
            <a:pathLst>
              <a:path w="178637" h="127599">
                <a:moveTo>
                  <a:pt x="25520" y="6380"/>
                </a:moveTo>
                <a:lnTo>
                  <a:pt x="0" y="127599"/>
                </a:lnTo>
                <a:lnTo>
                  <a:pt x="178637" y="127599"/>
                </a:lnTo>
                <a:lnTo>
                  <a:pt x="165878" y="0"/>
                </a:lnTo>
                <a:close/>
              </a:path>
            </a:pathLst>
          </a:custGeom>
          <a:solidFill>
            <a:srgbClr val="9ACB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feature-green-thought"/>
          <p:cNvSpPr/>
          <p:nvPr/>
        </p:nvSpPr>
        <p:spPr>
          <a:xfrm>
            <a:off x="4950806" y="4076759"/>
            <a:ext cx="57419" cy="574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feature-green-thought-small"/>
          <p:cNvSpPr/>
          <p:nvPr/>
        </p:nvSpPr>
        <p:spPr>
          <a:xfrm>
            <a:off x="5014605" y="4051240"/>
            <a:ext cx="38279" cy="382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2" name="feature-vector-green"/>
          <p:cNvCxnSpPr/>
          <p:nvPr/>
        </p:nvCxnSpPr>
        <p:spPr>
          <a:xfrm flipV="1">
            <a:off x="5103924" y="3757764"/>
            <a:ext cx="925086" cy="331755"/>
          </a:xfrm>
          <a:prstGeom prst="line">
            <a:avLst/>
          </a:prstGeom>
          <a:ln w="16192">
            <a:solidFill>
              <a:srgbClr val="9ACB76"/>
            </a:solidFill>
            <a:prstDash val="dash"/>
            <a:tailEnd type="triangle" w="sm" len="sm"/>
          </a:ln>
          <a:effectLst/>
        </p:spPr>
      </p:cxnSp>
      <p:cxnSp>
        <p:nvCxnSpPr>
          <p:cNvPr id="283" name="classifier-input"/>
          <p:cNvCxnSpPr/>
          <p:nvPr/>
        </p:nvCxnSpPr>
        <p:spPr>
          <a:xfrm>
            <a:off x="7215673" y="3349450"/>
            <a:ext cx="248816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84" name="classifier-fc"/>
          <p:cNvSpPr/>
          <p:nvPr/>
        </p:nvSpPr>
        <p:spPr>
          <a:xfrm>
            <a:off x="7464489" y="3164433"/>
            <a:ext cx="248816" cy="370034"/>
          </a:xfrm>
          <a:prstGeom prst="rect">
            <a:avLst/>
          </a:prstGeom>
          <a:solidFill>
            <a:srgbClr val="CDD9E1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classifier-fc-label"/>
          <p:cNvSpPr txBox="1"/>
          <p:nvPr/>
        </p:nvSpPr>
        <p:spPr>
          <a:xfrm rot="5400000">
            <a:off x="7403880" y="3225042"/>
            <a:ext cx="370034" cy="2488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1010"/>
                </a:solidFill>
                <a:latin typeface="Liberation Serif"/>
              </a:rPr>
              <a:t>FC</a:t>
            </a:r>
          </a:p>
        </p:txBody>
      </p:sp>
      <p:cxnSp>
        <p:nvCxnSpPr>
          <p:cNvPr id="286" name="classifier-to-softmax"/>
          <p:cNvCxnSpPr/>
          <p:nvPr/>
        </p:nvCxnSpPr>
        <p:spPr>
          <a:xfrm>
            <a:off x="7713305" y="3349450"/>
            <a:ext cx="210537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87" name="classifier-softmax"/>
          <p:cNvSpPr/>
          <p:nvPr/>
        </p:nvSpPr>
        <p:spPr>
          <a:xfrm>
            <a:off x="7930222" y="3049594"/>
            <a:ext cx="229676" cy="599711"/>
          </a:xfrm>
          <a:prstGeom prst="roundRect">
            <a:avLst>
              <a:gd name="adj" fmla="val 13888"/>
            </a:avLst>
          </a:prstGeom>
          <a:solidFill>
            <a:srgbClr val="FFE89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classifier-softmax-label"/>
          <p:cNvSpPr txBox="1"/>
          <p:nvPr/>
        </p:nvSpPr>
        <p:spPr>
          <a:xfrm rot="5400000">
            <a:off x="7745205" y="3234612"/>
            <a:ext cx="599711" cy="2296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Softmax</a:t>
            </a:r>
          </a:p>
        </p:txBody>
      </p:sp>
      <p:cxnSp>
        <p:nvCxnSpPr>
          <p:cNvPr id="289" name="softmax-to-ce-pair"/>
          <p:cNvCxnSpPr/>
          <p:nvPr/>
        </p:nvCxnSpPr>
        <p:spPr>
          <a:xfrm>
            <a:off x="8159899" y="3349450"/>
            <a:ext cx="484873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90" name="upper-loss-area"/>
          <p:cNvSpPr/>
          <p:nvPr/>
        </p:nvSpPr>
        <p:spPr>
          <a:xfrm>
            <a:off x="7438969" y="1703434"/>
            <a:ext cx="3445149" cy="1499277"/>
          </a:xfrm>
          <a:prstGeom prst="roundRect">
            <a:avLst>
              <a:gd name="adj" fmla="val 12765"/>
            </a:avLst>
          </a:prstGeom>
          <a:solidFill>
            <a:srgbClr val="E6DDD7"/>
          </a:solidFill>
          <a:ln w="16192">
            <a:solidFill>
              <a:srgbClr val="F4A27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upper-corresponding-label"/>
          <p:cNvSpPr txBox="1"/>
          <p:nvPr/>
        </p:nvSpPr>
        <p:spPr>
          <a:xfrm>
            <a:off x="7566568" y="1913971"/>
            <a:ext cx="1052684" cy="3062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Corresponding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category</a:t>
            </a:r>
          </a:p>
        </p:txBody>
      </p:sp>
      <p:sp>
        <p:nvSpPr>
          <p:cNvPr id="292" name="upper-cross-label"/>
          <p:cNvSpPr txBox="1"/>
          <p:nvPr/>
        </p:nvSpPr>
        <p:spPr>
          <a:xfrm>
            <a:off x="7560188" y="2494543"/>
            <a:ext cx="1052684" cy="1977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Cross-category</a:t>
            </a:r>
          </a:p>
        </p:txBody>
      </p:sp>
      <p:cxnSp>
        <p:nvCxnSpPr>
          <p:cNvPr id="293" name="upper-corresponding-arrow"/>
          <p:cNvCxnSpPr/>
          <p:nvPr/>
        </p:nvCxnSpPr>
        <p:spPr>
          <a:xfrm>
            <a:off x="7438969" y="2201067"/>
            <a:ext cx="1205803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294" name="upper-cross-arrow"/>
          <p:cNvCxnSpPr/>
          <p:nvPr/>
        </p:nvCxnSpPr>
        <p:spPr>
          <a:xfrm>
            <a:off x="7438969" y="2743359"/>
            <a:ext cx="1205803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295" name="upper-corresponding-pair"/>
          <p:cNvSpPr/>
          <p:nvPr/>
        </p:nvSpPr>
        <p:spPr>
          <a:xfrm>
            <a:off x="8644772" y="1767233"/>
            <a:ext cx="905946" cy="580571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upper-corresponding-pair-left"/>
          <p:cNvSpPr/>
          <p:nvPr/>
        </p:nvSpPr>
        <p:spPr>
          <a:xfrm>
            <a:off x="8727710" y="1805513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upper-corresponding-pair-left-node-0"/>
          <p:cNvSpPr/>
          <p:nvPr/>
        </p:nvSpPr>
        <p:spPr>
          <a:xfrm>
            <a:off x="8765990" y="1837412"/>
            <a:ext cx="89318" cy="89318"/>
          </a:xfrm>
          <a:prstGeom prst="ellipse">
            <a:avLst/>
          </a:prstGeom>
          <a:solidFill>
            <a:srgbClr val="F4A27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upper-corresponding-pair-left-node-1"/>
          <p:cNvSpPr/>
          <p:nvPr/>
        </p:nvSpPr>
        <p:spPr>
          <a:xfrm>
            <a:off x="8791509" y="1979897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upper-corresponding-pair-left-node-2"/>
          <p:cNvSpPr/>
          <p:nvPr/>
        </p:nvSpPr>
        <p:spPr>
          <a:xfrm>
            <a:off x="8791509" y="2096862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upper-corresponding-pair-left-node-3"/>
          <p:cNvSpPr/>
          <p:nvPr/>
        </p:nvSpPr>
        <p:spPr>
          <a:xfrm>
            <a:off x="8765990" y="2188307"/>
            <a:ext cx="89318" cy="89318"/>
          </a:xfrm>
          <a:prstGeom prst="ellipse">
            <a:avLst/>
          </a:prstGeom>
          <a:solidFill>
            <a:srgbClr val="F4A27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upper-corresponding-pair-right"/>
          <p:cNvSpPr/>
          <p:nvPr/>
        </p:nvSpPr>
        <p:spPr>
          <a:xfrm>
            <a:off x="9301902" y="1805513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upper-corresponding-pair-right-node-0"/>
          <p:cNvSpPr/>
          <p:nvPr/>
        </p:nvSpPr>
        <p:spPr>
          <a:xfrm>
            <a:off x="9340181" y="1837412"/>
            <a:ext cx="89318" cy="89318"/>
          </a:xfrm>
          <a:prstGeom prst="ellipse">
            <a:avLst/>
          </a:prstGeom>
          <a:solidFill>
            <a:srgbClr val="F4E4D9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upper-corresponding-pair-right-node-1"/>
          <p:cNvSpPr/>
          <p:nvPr/>
        </p:nvSpPr>
        <p:spPr>
          <a:xfrm>
            <a:off x="9365701" y="1979897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upper-corresponding-pair-right-node-2"/>
          <p:cNvSpPr/>
          <p:nvPr/>
        </p:nvSpPr>
        <p:spPr>
          <a:xfrm>
            <a:off x="9365701" y="2096862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upper-corresponding-pair-right-node-3"/>
          <p:cNvSpPr/>
          <p:nvPr/>
        </p:nvSpPr>
        <p:spPr>
          <a:xfrm>
            <a:off x="9340181" y="2188307"/>
            <a:ext cx="89318" cy="89318"/>
          </a:xfrm>
          <a:prstGeom prst="ellipse">
            <a:avLst/>
          </a:prstGeom>
          <a:solidFill>
            <a:srgbClr val="F4E4D9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6" name="upper-corresponding-pair-map-a"/>
          <p:cNvCxnSpPr/>
          <p:nvPr/>
        </p:nvCxnSpPr>
        <p:spPr>
          <a:xfrm>
            <a:off x="8899968" y="1882072"/>
            <a:ext cx="389174" cy="0"/>
          </a:xfrm>
          <a:prstGeom prst="line">
            <a:avLst/>
          </a:prstGeom>
          <a:ln w="13334">
            <a:solidFill>
              <a:srgbClr val="111111"/>
            </a:solidFill>
            <a:prstDash val="dash"/>
            <a:tailEnd type="triangle" w="sm" len="sm"/>
          </a:ln>
          <a:effectLst/>
        </p:spPr>
      </p:cxnSp>
      <p:cxnSp>
        <p:nvCxnSpPr>
          <p:cNvPr id="307" name="upper-corresponding-pair-map-b"/>
          <p:cNvCxnSpPr/>
          <p:nvPr/>
        </p:nvCxnSpPr>
        <p:spPr>
          <a:xfrm flipH="1">
            <a:off x="8899968" y="2226587"/>
            <a:ext cx="389174" cy="0"/>
          </a:xfrm>
          <a:prstGeom prst="line">
            <a:avLst/>
          </a:prstGeom>
          <a:ln w="13334">
            <a:solidFill>
              <a:srgbClr val="111111"/>
            </a:solidFill>
            <a:prstDash val="dash"/>
            <a:tailEnd type="triangle" w="sm" len="sm"/>
          </a:ln>
          <a:effectLst/>
        </p:spPr>
      </p:cxnSp>
      <p:sp>
        <p:nvSpPr>
          <p:cNvPr id="308" name="upper-cross-pair"/>
          <p:cNvSpPr/>
          <p:nvPr/>
        </p:nvSpPr>
        <p:spPr>
          <a:xfrm>
            <a:off x="8644772" y="2411604"/>
            <a:ext cx="905946" cy="580571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upper-cross-pair-left"/>
          <p:cNvSpPr/>
          <p:nvPr/>
        </p:nvSpPr>
        <p:spPr>
          <a:xfrm>
            <a:off x="8727710" y="2449883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upper-cross-pair-left-node-0"/>
          <p:cNvSpPr/>
          <p:nvPr/>
        </p:nvSpPr>
        <p:spPr>
          <a:xfrm>
            <a:off x="8765990" y="2481783"/>
            <a:ext cx="89318" cy="89318"/>
          </a:xfrm>
          <a:prstGeom prst="ellipse">
            <a:avLst/>
          </a:prstGeom>
          <a:solidFill>
            <a:srgbClr val="F4A27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upper-cross-pair-left-node-1"/>
          <p:cNvSpPr/>
          <p:nvPr/>
        </p:nvSpPr>
        <p:spPr>
          <a:xfrm>
            <a:off x="8791509" y="2624267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upper-cross-pair-left-node-2"/>
          <p:cNvSpPr/>
          <p:nvPr/>
        </p:nvSpPr>
        <p:spPr>
          <a:xfrm>
            <a:off x="8791509" y="2741232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upper-cross-pair-left-node-3"/>
          <p:cNvSpPr/>
          <p:nvPr/>
        </p:nvSpPr>
        <p:spPr>
          <a:xfrm>
            <a:off x="8765990" y="2832678"/>
            <a:ext cx="89318" cy="89318"/>
          </a:xfrm>
          <a:prstGeom prst="ellipse">
            <a:avLst/>
          </a:prstGeom>
          <a:solidFill>
            <a:srgbClr val="F4A276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upper-cross-pair-right"/>
          <p:cNvSpPr/>
          <p:nvPr/>
        </p:nvSpPr>
        <p:spPr>
          <a:xfrm>
            <a:off x="9301902" y="2449883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upper-cross-pair-right-node-0"/>
          <p:cNvSpPr/>
          <p:nvPr/>
        </p:nvSpPr>
        <p:spPr>
          <a:xfrm>
            <a:off x="9340181" y="2481783"/>
            <a:ext cx="89318" cy="89318"/>
          </a:xfrm>
          <a:prstGeom prst="ellipse">
            <a:avLst/>
          </a:prstGeom>
          <a:solidFill>
            <a:srgbClr val="F4E4D9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upper-cross-pair-right-node-1"/>
          <p:cNvSpPr/>
          <p:nvPr/>
        </p:nvSpPr>
        <p:spPr>
          <a:xfrm>
            <a:off x="9365701" y="2624267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upper-cross-pair-right-node-2"/>
          <p:cNvSpPr/>
          <p:nvPr/>
        </p:nvSpPr>
        <p:spPr>
          <a:xfrm>
            <a:off x="9365701" y="2741232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upper-cross-pair-right-node-3"/>
          <p:cNvSpPr/>
          <p:nvPr/>
        </p:nvSpPr>
        <p:spPr>
          <a:xfrm>
            <a:off x="9340181" y="2832678"/>
            <a:ext cx="89318" cy="89318"/>
          </a:xfrm>
          <a:prstGeom prst="ellipse">
            <a:avLst/>
          </a:prstGeom>
          <a:solidFill>
            <a:srgbClr val="F4E4D9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9" name="upper-cross-pair-cross-a"/>
          <p:cNvCxnSpPr/>
          <p:nvPr/>
        </p:nvCxnSpPr>
        <p:spPr>
          <a:xfrm>
            <a:off x="8899968" y="2526442"/>
            <a:ext cx="389174" cy="344515"/>
          </a:xfrm>
          <a:prstGeom prst="line">
            <a:avLst/>
          </a:prstGeom>
          <a:ln w="11429">
            <a:solidFill>
              <a:srgbClr val="111111"/>
            </a:solidFill>
            <a:prstDash val="dash"/>
            <a:tailEnd type="triangle" w="sm" len="sm"/>
          </a:ln>
          <a:effectLst/>
        </p:spPr>
      </p:cxnSp>
      <p:cxnSp>
        <p:nvCxnSpPr>
          <p:cNvPr id="320" name="upper-cross-pair-cross-b"/>
          <p:cNvCxnSpPr/>
          <p:nvPr/>
        </p:nvCxnSpPr>
        <p:spPr>
          <a:xfrm flipV="1">
            <a:off x="8899968" y="2526442"/>
            <a:ext cx="389174" cy="344515"/>
          </a:xfrm>
          <a:prstGeom prst="line">
            <a:avLst/>
          </a:prstGeom>
          <a:ln w="11429">
            <a:solidFill>
              <a:srgbClr val="111111"/>
            </a:solidFill>
            <a:prstDash val="dash"/>
            <a:tailEnd type="triangle" w="sm" len="sm"/>
          </a:ln>
          <a:effectLst/>
        </p:spPr>
      </p:cxnSp>
      <p:cxnSp>
        <p:nvCxnSpPr>
          <p:cNvPr id="321" name="upper-pair-merge-a-segment-1"/>
          <p:cNvCxnSpPr/>
          <p:nvPr/>
        </p:nvCxnSpPr>
        <p:spPr>
          <a:xfrm>
            <a:off x="9550718" y="2054329"/>
            <a:ext cx="12759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22" name="upper-pair-merge-a-segment-2"/>
          <p:cNvCxnSpPr/>
          <p:nvPr/>
        </p:nvCxnSpPr>
        <p:spPr>
          <a:xfrm>
            <a:off x="9678316" y="2054329"/>
            <a:ext cx="0" cy="401934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23" name="upper-pair-merge-a-segment-3"/>
          <p:cNvCxnSpPr/>
          <p:nvPr/>
        </p:nvCxnSpPr>
        <p:spPr>
          <a:xfrm>
            <a:off x="9678316" y="2456263"/>
            <a:ext cx="16587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24" name="upper-pair-merge-b-segment-1"/>
          <p:cNvCxnSpPr/>
          <p:nvPr/>
        </p:nvCxnSpPr>
        <p:spPr>
          <a:xfrm>
            <a:off x="9550718" y="2698700"/>
            <a:ext cx="12759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25" name="upper-pair-merge-b-segment-2"/>
          <p:cNvCxnSpPr/>
          <p:nvPr/>
        </p:nvCxnSpPr>
        <p:spPr>
          <a:xfrm flipV="1">
            <a:off x="9678316" y="2456263"/>
            <a:ext cx="0" cy="242437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26" name="upper-loss-t-arrow"/>
          <p:cNvCxnSpPr/>
          <p:nvPr/>
        </p:nvCxnSpPr>
        <p:spPr>
          <a:xfrm flipV="1">
            <a:off x="9844194" y="2054329"/>
            <a:ext cx="299855" cy="401934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327" name="upper-loss-wd-arrow"/>
          <p:cNvCxnSpPr/>
          <p:nvPr/>
        </p:nvCxnSpPr>
        <p:spPr>
          <a:xfrm>
            <a:off x="9844194" y="2456263"/>
            <a:ext cx="299855" cy="248816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328" name="upper-lt"/>
          <p:cNvSpPr/>
          <p:nvPr/>
        </p:nvSpPr>
        <p:spPr>
          <a:xfrm>
            <a:off x="10150429" y="1926731"/>
            <a:ext cx="631610" cy="274335"/>
          </a:xfrm>
          <a:prstGeom prst="rect">
            <a:avLst/>
          </a:prstGeom>
          <a:solidFill>
            <a:srgbClr val="EFE2DC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upper-lt-label"/>
          <p:cNvSpPr txBox="1"/>
          <p:nvPr/>
        </p:nvSpPr>
        <p:spPr>
          <a:xfrm>
            <a:off x="10150429" y="1926731"/>
            <a:ext cx="631610" cy="2743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01010"/>
                </a:solidFill>
                <a:latin typeface="DejaVu Serif"/>
              </a:rPr>
              <a:t>Lₜ⁽¹⁾</a:t>
            </a:r>
          </a:p>
        </p:txBody>
      </p:sp>
      <p:sp>
        <p:nvSpPr>
          <p:cNvPr id="330" name="upper-lwd"/>
          <p:cNvSpPr/>
          <p:nvPr/>
        </p:nvSpPr>
        <p:spPr>
          <a:xfrm>
            <a:off x="10150429" y="2583861"/>
            <a:ext cx="631610" cy="274335"/>
          </a:xfrm>
          <a:prstGeom prst="rect">
            <a:avLst/>
          </a:prstGeom>
          <a:solidFill>
            <a:srgbClr val="EFE2DC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upper-lwd-label"/>
          <p:cNvSpPr txBox="1"/>
          <p:nvPr/>
        </p:nvSpPr>
        <p:spPr>
          <a:xfrm>
            <a:off x="10150429" y="2583861"/>
            <a:ext cx="631610" cy="2743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i="0">
                <a:solidFill>
                  <a:srgbClr val="101010"/>
                </a:solidFill>
                <a:latin typeface="DejaVu Serif"/>
              </a:rPr>
              <a:t>Lwd⁽¹⁾</a:t>
            </a:r>
          </a:p>
        </p:txBody>
      </p:sp>
      <p:cxnSp>
        <p:nvCxnSpPr>
          <p:cNvPr id="332" name="upper-lt-merge-segment-1"/>
          <p:cNvCxnSpPr/>
          <p:nvPr/>
        </p:nvCxnSpPr>
        <p:spPr>
          <a:xfrm>
            <a:off x="10782040" y="2060709"/>
            <a:ext cx="12759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33" name="upper-lt-merge-segment-2"/>
          <p:cNvCxnSpPr/>
          <p:nvPr/>
        </p:nvCxnSpPr>
        <p:spPr>
          <a:xfrm>
            <a:off x="10909638" y="2060709"/>
            <a:ext cx="0" cy="344515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34" name="upper-lt-merge-segment-3"/>
          <p:cNvCxnSpPr/>
          <p:nvPr/>
        </p:nvCxnSpPr>
        <p:spPr>
          <a:xfrm>
            <a:off x="10909638" y="2405224"/>
            <a:ext cx="331755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335" name="upper-lwd-merge-segment-1"/>
          <p:cNvCxnSpPr/>
          <p:nvPr/>
        </p:nvCxnSpPr>
        <p:spPr>
          <a:xfrm>
            <a:off x="10782040" y="2717839"/>
            <a:ext cx="12759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36" name="upper-lwd-merge-segment-2"/>
          <p:cNvCxnSpPr/>
          <p:nvPr/>
        </p:nvCxnSpPr>
        <p:spPr>
          <a:xfrm flipV="1">
            <a:off x="10909638" y="2405224"/>
            <a:ext cx="0" cy="312615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sp>
        <p:nvSpPr>
          <p:cNvPr id="337" name="upper-enl"/>
          <p:cNvSpPr/>
          <p:nvPr/>
        </p:nvSpPr>
        <p:spPr>
          <a:xfrm>
            <a:off x="11241393" y="2277626"/>
            <a:ext cx="631610" cy="274335"/>
          </a:xfrm>
          <a:prstGeom prst="rect">
            <a:avLst/>
          </a:prstGeom>
          <a:solidFill>
            <a:srgbClr val="C99670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upper-enl-label"/>
          <p:cNvSpPr txBox="1"/>
          <p:nvPr/>
        </p:nvSpPr>
        <p:spPr>
          <a:xfrm>
            <a:off x="11241393" y="2277626"/>
            <a:ext cx="631610" cy="2743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101010"/>
                </a:solidFill>
                <a:latin typeface="DejaVu Serif"/>
              </a:rPr>
              <a:t>LENL⁽¹⁾</a:t>
            </a:r>
          </a:p>
        </p:txBody>
      </p:sp>
      <p:sp>
        <p:nvSpPr>
          <p:cNvPr id="339" name="distill-upper-label"/>
          <p:cNvSpPr txBox="1"/>
          <p:nvPr/>
        </p:nvSpPr>
        <p:spPr>
          <a:xfrm>
            <a:off x="10890498" y="1722574"/>
            <a:ext cx="976125" cy="1786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Distillation loss</a:t>
            </a:r>
          </a:p>
        </p:txBody>
      </p:sp>
      <p:cxnSp>
        <p:nvCxnSpPr>
          <p:cNvPr id="340" name="distill-upper-arrow"/>
          <p:cNvCxnSpPr/>
          <p:nvPr/>
        </p:nvCxnSpPr>
        <p:spPr>
          <a:xfrm>
            <a:off x="11528489" y="1926731"/>
            <a:ext cx="19140" cy="325375"/>
          </a:xfrm>
          <a:prstGeom prst="line">
            <a:avLst/>
          </a:prstGeom>
          <a:ln w="17145">
            <a:solidFill>
              <a:srgbClr val="6F7478"/>
            </a:solidFill>
            <a:prstDash val="dash"/>
            <a:tailEnd type="triangle" w="sm" len="sm"/>
          </a:ln>
          <a:effectLst/>
        </p:spPr>
      </p:cxnSp>
      <p:sp>
        <p:nvSpPr>
          <p:cNvPr id="341" name="cross-entropy-area"/>
          <p:cNvSpPr/>
          <p:nvPr/>
        </p:nvSpPr>
        <p:spPr>
          <a:xfrm>
            <a:off x="8498034" y="2909236"/>
            <a:ext cx="2009670" cy="708169"/>
          </a:xfrm>
          <a:prstGeom prst="roundRect">
            <a:avLst>
              <a:gd name="adj" fmla="val 22522"/>
            </a:avLst>
          </a:prstGeom>
          <a:solidFill>
            <a:srgbClr val="F6FAEC"/>
          </a:solidFill>
          <a:ln w="16192">
            <a:solidFill>
              <a:srgbClr val="F0BF2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cross-entropy-title"/>
          <p:cNvSpPr txBox="1"/>
          <p:nvPr/>
        </p:nvSpPr>
        <p:spPr>
          <a:xfrm>
            <a:off x="9321042" y="2851817"/>
            <a:ext cx="1161142" cy="18501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Cross-entropy loss</a:t>
            </a:r>
          </a:p>
        </p:txBody>
      </p:sp>
      <p:sp>
        <p:nvSpPr>
          <p:cNvPr id="343" name="cross-entropy-pair"/>
          <p:cNvSpPr/>
          <p:nvPr/>
        </p:nvSpPr>
        <p:spPr>
          <a:xfrm>
            <a:off x="8644772" y="2979415"/>
            <a:ext cx="905946" cy="580571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cross-entropy-pair-left"/>
          <p:cNvSpPr/>
          <p:nvPr/>
        </p:nvSpPr>
        <p:spPr>
          <a:xfrm>
            <a:off x="8727710" y="3017695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cross-entropy-pair-left-node-0"/>
          <p:cNvSpPr/>
          <p:nvPr/>
        </p:nvSpPr>
        <p:spPr>
          <a:xfrm>
            <a:off x="8765990" y="3049594"/>
            <a:ext cx="89318" cy="89318"/>
          </a:xfrm>
          <a:prstGeom prst="ellipse">
            <a:avLst/>
          </a:prstGeom>
          <a:solidFill>
            <a:srgbClr val="F2BF2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cross-entropy-pair-left-node-1"/>
          <p:cNvSpPr/>
          <p:nvPr/>
        </p:nvSpPr>
        <p:spPr>
          <a:xfrm>
            <a:off x="8791509" y="3192079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cross-entropy-pair-left-node-2"/>
          <p:cNvSpPr/>
          <p:nvPr/>
        </p:nvSpPr>
        <p:spPr>
          <a:xfrm>
            <a:off x="8791509" y="3309044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cross-entropy-pair-left-node-3"/>
          <p:cNvSpPr/>
          <p:nvPr/>
        </p:nvSpPr>
        <p:spPr>
          <a:xfrm>
            <a:off x="8765990" y="3400489"/>
            <a:ext cx="89318" cy="89318"/>
          </a:xfrm>
          <a:prstGeom prst="ellipse">
            <a:avLst/>
          </a:prstGeom>
          <a:solidFill>
            <a:srgbClr val="F2BF2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cross-entropy-pair-right"/>
          <p:cNvSpPr/>
          <p:nvPr/>
        </p:nvSpPr>
        <p:spPr>
          <a:xfrm>
            <a:off x="9301902" y="3017695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cross-entropy-pair-right-node-0"/>
          <p:cNvSpPr/>
          <p:nvPr/>
        </p:nvSpPr>
        <p:spPr>
          <a:xfrm>
            <a:off x="9340181" y="3049594"/>
            <a:ext cx="89318" cy="89318"/>
          </a:xfrm>
          <a:prstGeom prst="ellipse">
            <a:avLst/>
          </a:prstGeom>
          <a:solidFill>
            <a:srgbClr val="DDEAD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cross-entropy-pair-right-node-1"/>
          <p:cNvSpPr/>
          <p:nvPr/>
        </p:nvSpPr>
        <p:spPr>
          <a:xfrm>
            <a:off x="9365701" y="3192079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cross-entropy-pair-right-node-2"/>
          <p:cNvSpPr/>
          <p:nvPr/>
        </p:nvSpPr>
        <p:spPr>
          <a:xfrm>
            <a:off x="9365701" y="3309044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cross-entropy-pair-right-node-3"/>
          <p:cNvSpPr/>
          <p:nvPr/>
        </p:nvSpPr>
        <p:spPr>
          <a:xfrm>
            <a:off x="9340181" y="3400489"/>
            <a:ext cx="89318" cy="89318"/>
          </a:xfrm>
          <a:prstGeom prst="ellipse">
            <a:avLst/>
          </a:prstGeom>
          <a:solidFill>
            <a:srgbClr val="DDEAD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ross-entropy-pair-map-a"/>
          <p:cNvCxnSpPr/>
          <p:nvPr/>
        </p:nvCxnSpPr>
        <p:spPr>
          <a:xfrm>
            <a:off x="8899968" y="3094254"/>
            <a:ext cx="389174" cy="0"/>
          </a:xfrm>
          <a:prstGeom prst="line">
            <a:avLst/>
          </a:prstGeom>
          <a:ln w="13334">
            <a:solidFill>
              <a:srgbClr val="111111"/>
            </a:solidFill>
            <a:prstDash val="dash"/>
            <a:tailEnd type="triangle" w="sm" len="sm"/>
          </a:ln>
          <a:effectLst/>
        </p:spPr>
      </p:cxnSp>
      <p:cxnSp>
        <p:nvCxnSpPr>
          <p:cNvPr id="355" name="cross-entropy-pair-map-b"/>
          <p:cNvCxnSpPr/>
          <p:nvPr/>
        </p:nvCxnSpPr>
        <p:spPr>
          <a:xfrm flipH="1">
            <a:off x="8899968" y="3438769"/>
            <a:ext cx="389174" cy="0"/>
          </a:xfrm>
          <a:prstGeom prst="line">
            <a:avLst/>
          </a:prstGeom>
          <a:ln w="13334">
            <a:solidFill>
              <a:srgbClr val="111111"/>
            </a:solidFill>
            <a:prstDash val="dash"/>
            <a:tailEnd type="triangle" w="sm" len="sm"/>
          </a:ln>
          <a:effectLst/>
        </p:spPr>
      </p:cxnSp>
      <p:sp>
        <p:nvSpPr>
          <p:cNvPr id="356" name="ce-target-top"/>
          <p:cNvSpPr/>
          <p:nvPr/>
        </p:nvSpPr>
        <p:spPr>
          <a:xfrm>
            <a:off x="9346561" y="3055974"/>
            <a:ext cx="76558" cy="76558"/>
          </a:xfrm>
          <a:prstGeom prst="ellipse">
            <a:avLst/>
          </a:prstGeom>
          <a:solidFill>
            <a:srgbClr val="E60024"/>
          </a:solidFill>
          <a:ln w="952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ce-target-bottom"/>
          <p:cNvSpPr/>
          <p:nvPr/>
        </p:nvSpPr>
        <p:spPr>
          <a:xfrm>
            <a:off x="9346561" y="3406869"/>
            <a:ext cx="76558" cy="76558"/>
          </a:xfrm>
          <a:prstGeom prst="ellipse">
            <a:avLst/>
          </a:prstGeom>
          <a:solidFill>
            <a:srgbClr val="E60024"/>
          </a:solidFill>
          <a:ln w="952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8" name="pair-to-ce"/>
          <p:cNvCxnSpPr/>
          <p:nvPr/>
        </p:nvCxnSpPr>
        <p:spPr>
          <a:xfrm>
            <a:off x="9550718" y="3266511"/>
            <a:ext cx="618851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359" name="ce-loss"/>
          <p:cNvSpPr/>
          <p:nvPr/>
        </p:nvSpPr>
        <p:spPr>
          <a:xfrm>
            <a:off x="10169569" y="3132533"/>
            <a:ext cx="472113" cy="274335"/>
          </a:xfrm>
          <a:prstGeom prst="rect">
            <a:avLst/>
          </a:prstGeom>
          <a:solidFill>
            <a:srgbClr val="FFE89A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ce-loss-label"/>
          <p:cNvSpPr txBox="1"/>
          <p:nvPr/>
        </p:nvSpPr>
        <p:spPr>
          <a:xfrm>
            <a:off x="10169569" y="3132533"/>
            <a:ext cx="472113" cy="2743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4" b="1" i="0">
                <a:solidFill>
                  <a:srgbClr val="101010"/>
                </a:solidFill>
                <a:latin typeface="DejaVu Serif"/>
              </a:rPr>
              <a:t>LCE</a:t>
            </a:r>
          </a:p>
        </p:txBody>
      </p:sp>
      <p:sp>
        <p:nvSpPr>
          <p:cNvPr id="361" name="label-label"/>
          <p:cNvSpPr txBox="1"/>
          <p:nvPr/>
        </p:nvSpPr>
        <p:spPr>
          <a:xfrm>
            <a:off x="9927133" y="3419629"/>
            <a:ext cx="657130" cy="1786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2" b="1" i="0">
                <a:solidFill>
                  <a:srgbClr val="101010"/>
                </a:solidFill>
                <a:latin typeface="Liberation Serif"/>
              </a:rPr>
              <a:t>Label</a:t>
            </a:r>
          </a:p>
        </p:txBody>
      </p:sp>
      <p:cxnSp>
        <p:nvCxnSpPr>
          <p:cNvPr id="362" name="label-callout"/>
          <p:cNvCxnSpPr/>
          <p:nvPr/>
        </p:nvCxnSpPr>
        <p:spPr>
          <a:xfrm flipH="1" flipV="1">
            <a:off x="9557098" y="3362210"/>
            <a:ext cx="759209" cy="153118"/>
          </a:xfrm>
          <a:prstGeom prst="line">
            <a:avLst/>
          </a:prstGeom>
          <a:ln w="15240">
            <a:solidFill>
              <a:srgbClr val="6F7478"/>
            </a:solidFill>
            <a:prstDash val="dash"/>
            <a:tailEnd type="triangle" w="sm" len="sm"/>
          </a:ln>
          <a:effectLst/>
        </p:spPr>
      </p:cxnSp>
      <p:cxnSp>
        <p:nvCxnSpPr>
          <p:cNvPr id="363" name="ce-to-final"/>
          <p:cNvCxnSpPr/>
          <p:nvPr/>
        </p:nvCxnSpPr>
        <p:spPr>
          <a:xfrm>
            <a:off x="10641682" y="3266511"/>
            <a:ext cx="599711" cy="0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364" name="final-loss"/>
          <p:cNvSpPr/>
          <p:nvPr/>
        </p:nvSpPr>
        <p:spPr>
          <a:xfrm>
            <a:off x="11241393" y="3100634"/>
            <a:ext cx="637990" cy="350894"/>
          </a:xfrm>
          <a:prstGeom prst="rect">
            <a:avLst/>
          </a:prstGeom>
          <a:solidFill>
            <a:srgbClr val="C95C63"/>
          </a:solidFill>
          <a:ln w="19050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final-loss-label"/>
          <p:cNvSpPr txBox="1"/>
          <p:nvPr/>
        </p:nvSpPr>
        <p:spPr>
          <a:xfrm>
            <a:off x="11241393" y="3100634"/>
            <a:ext cx="637990" cy="35089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DejaVu Serif"/>
              </a:rPr>
              <a:t>LWDOLF</a:t>
            </a:r>
          </a:p>
        </p:txBody>
      </p:sp>
      <p:cxnSp>
        <p:nvCxnSpPr>
          <p:cNvPr id="366" name="upper-enl-to-final"/>
          <p:cNvCxnSpPr/>
          <p:nvPr/>
        </p:nvCxnSpPr>
        <p:spPr>
          <a:xfrm>
            <a:off x="11560389" y="2551962"/>
            <a:ext cx="0" cy="548672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367" name="lower-loss-area"/>
          <p:cNvSpPr/>
          <p:nvPr/>
        </p:nvSpPr>
        <p:spPr>
          <a:xfrm>
            <a:off x="7438969" y="3687585"/>
            <a:ext cx="3445149" cy="1212182"/>
          </a:xfrm>
          <a:prstGeom prst="roundRect">
            <a:avLst>
              <a:gd name="adj" fmla="val 15789"/>
            </a:avLst>
          </a:prstGeom>
          <a:solidFill>
            <a:srgbClr val="C9E3D8"/>
          </a:solidFill>
          <a:ln w="16192">
            <a:solidFill>
              <a:srgbClr val="97C96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lower-corresponding-label"/>
          <p:cNvSpPr txBox="1"/>
          <p:nvPr/>
        </p:nvSpPr>
        <p:spPr>
          <a:xfrm>
            <a:off x="7566568" y="3808803"/>
            <a:ext cx="1052684" cy="31261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Corresponding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category</a:t>
            </a:r>
          </a:p>
        </p:txBody>
      </p:sp>
      <p:sp>
        <p:nvSpPr>
          <p:cNvPr id="369" name="lower-cross-label"/>
          <p:cNvSpPr txBox="1"/>
          <p:nvPr/>
        </p:nvSpPr>
        <p:spPr>
          <a:xfrm>
            <a:off x="7560188" y="4363855"/>
            <a:ext cx="1052684" cy="1977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101010"/>
                </a:solidFill>
                <a:latin typeface="Liberation Serif"/>
              </a:rPr>
              <a:t>Cross-category</a:t>
            </a:r>
          </a:p>
        </p:txBody>
      </p:sp>
      <p:cxnSp>
        <p:nvCxnSpPr>
          <p:cNvPr id="370" name="lower-corresponding-arrow"/>
          <p:cNvCxnSpPr/>
          <p:nvPr/>
        </p:nvCxnSpPr>
        <p:spPr>
          <a:xfrm>
            <a:off x="7438969" y="4083139"/>
            <a:ext cx="1205803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371" name="lower-cross-arrow"/>
          <p:cNvCxnSpPr/>
          <p:nvPr/>
        </p:nvCxnSpPr>
        <p:spPr>
          <a:xfrm>
            <a:off x="7438969" y="4619051"/>
            <a:ext cx="1205803" cy="0"/>
          </a:xfrm>
          <a:prstGeom prst="line">
            <a:avLst/>
          </a:prstGeom>
          <a:ln w="26669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372" name="lower-corresponding-pair"/>
          <p:cNvSpPr/>
          <p:nvPr/>
        </p:nvSpPr>
        <p:spPr>
          <a:xfrm>
            <a:off x="8644772" y="3757764"/>
            <a:ext cx="905946" cy="580571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lower-corresponding-pair-left"/>
          <p:cNvSpPr/>
          <p:nvPr/>
        </p:nvSpPr>
        <p:spPr>
          <a:xfrm>
            <a:off x="8727710" y="3796043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lower-corresponding-pair-left-node-0"/>
          <p:cNvSpPr/>
          <p:nvPr/>
        </p:nvSpPr>
        <p:spPr>
          <a:xfrm>
            <a:off x="8765990" y="3827943"/>
            <a:ext cx="89318" cy="89318"/>
          </a:xfrm>
          <a:prstGeom prst="ellipse">
            <a:avLst/>
          </a:prstGeom>
          <a:solidFill>
            <a:srgbClr val="78AC55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lower-corresponding-pair-left-node-1"/>
          <p:cNvSpPr/>
          <p:nvPr/>
        </p:nvSpPr>
        <p:spPr>
          <a:xfrm>
            <a:off x="8791509" y="3970427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lower-corresponding-pair-left-node-2"/>
          <p:cNvSpPr/>
          <p:nvPr/>
        </p:nvSpPr>
        <p:spPr>
          <a:xfrm>
            <a:off x="8791509" y="4087392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lower-corresponding-pair-left-node-3"/>
          <p:cNvSpPr/>
          <p:nvPr/>
        </p:nvSpPr>
        <p:spPr>
          <a:xfrm>
            <a:off x="8765990" y="4178838"/>
            <a:ext cx="89318" cy="89318"/>
          </a:xfrm>
          <a:prstGeom prst="ellipse">
            <a:avLst/>
          </a:prstGeom>
          <a:solidFill>
            <a:srgbClr val="78AC55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lower-corresponding-pair-right"/>
          <p:cNvSpPr/>
          <p:nvPr/>
        </p:nvSpPr>
        <p:spPr>
          <a:xfrm>
            <a:off x="9301902" y="3796043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lower-corresponding-pair-right-node-0"/>
          <p:cNvSpPr/>
          <p:nvPr/>
        </p:nvSpPr>
        <p:spPr>
          <a:xfrm>
            <a:off x="9340181" y="3827943"/>
            <a:ext cx="89318" cy="89318"/>
          </a:xfrm>
          <a:prstGeom prst="ellipse">
            <a:avLst/>
          </a:prstGeom>
          <a:solidFill>
            <a:srgbClr val="DDEAD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lower-corresponding-pair-right-node-1"/>
          <p:cNvSpPr/>
          <p:nvPr/>
        </p:nvSpPr>
        <p:spPr>
          <a:xfrm>
            <a:off x="9365701" y="3970427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lower-corresponding-pair-right-node-2"/>
          <p:cNvSpPr/>
          <p:nvPr/>
        </p:nvSpPr>
        <p:spPr>
          <a:xfrm>
            <a:off x="9365701" y="4087392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lower-corresponding-pair-right-node-3"/>
          <p:cNvSpPr/>
          <p:nvPr/>
        </p:nvSpPr>
        <p:spPr>
          <a:xfrm>
            <a:off x="9340181" y="4178838"/>
            <a:ext cx="89318" cy="89318"/>
          </a:xfrm>
          <a:prstGeom prst="ellipse">
            <a:avLst/>
          </a:prstGeom>
          <a:solidFill>
            <a:srgbClr val="DDEAD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3" name="lower-corresponding-pair-map-a"/>
          <p:cNvCxnSpPr/>
          <p:nvPr/>
        </p:nvCxnSpPr>
        <p:spPr>
          <a:xfrm>
            <a:off x="8899968" y="3872602"/>
            <a:ext cx="389174" cy="0"/>
          </a:xfrm>
          <a:prstGeom prst="line">
            <a:avLst/>
          </a:prstGeom>
          <a:ln w="13334">
            <a:solidFill>
              <a:srgbClr val="111111"/>
            </a:solidFill>
            <a:prstDash val="dash"/>
            <a:tailEnd type="triangle" w="sm" len="sm"/>
          </a:ln>
          <a:effectLst/>
        </p:spPr>
      </p:cxnSp>
      <p:cxnSp>
        <p:nvCxnSpPr>
          <p:cNvPr id="384" name="lower-corresponding-pair-map-b"/>
          <p:cNvCxnSpPr/>
          <p:nvPr/>
        </p:nvCxnSpPr>
        <p:spPr>
          <a:xfrm flipH="1">
            <a:off x="8899968" y="4217117"/>
            <a:ext cx="389174" cy="0"/>
          </a:xfrm>
          <a:prstGeom prst="line">
            <a:avLst/>
          </a:prstGeom>
          <a:ln w="13334">
            <a:solidFill>
              <a:srgbClr val="111111"/>
            </a:solidFill>
            <a:prstDash val="dash"/>
            <a:tailEnd type="triangle" w="sm" len="sm"/>
          </a:ln>
          <a:effectLst/>
        </p:spPr>
      </p:cxnSp>
      <p:sp>
        <p:nvSpPr>
          <p:cNvPr id="385" name="lower-cross-pair"/>
          <p:cNvSpPr/>
          <p:nvPr/>
        </p:nvSpPr>
        <p:spPr>
          <a:xfrm>
            <a:off x="8644772" y="4344715"/>
            <a:ext cx="905946" cy="580571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lower-cross-pair-left"/>
          <p:cNvSpPr/>
          <p:nvPr/>
        </p:nvSpPr>
        <p:spPr>
          <a:xfrm>
            <a:off x="8727710" y="4382995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lower-cross-pair-left-node-0"/>
          <p:cNvSpPr/>
          <p:nvPr/>
        </p:nvSpPr>
        <p:spPr>
          <a:xfrm>
            <a:off x="8765990" y="4414894"/>
            <a:ext cx="89318" cy="89318"/>
          </a:xfrm>
          <a:prstGeom prst="ellipse">
            <a:avLst/>
          </a:prstGeom>
          <a:solidFill>
            <a:srgbClr val="78AC55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lower-cross-pair-left-node-1"/>
          <p:cNvSpPr/>
          <p:nvPr/>
        </p:nvSpPr>
        <p:spPr>
          <a:xfrm>
            <a:off x="8791509" y="4557379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lower-cross-pair-left-node-2"/>
          <p:cNvSpPr/>
          <p:nvPr/>
        </p:nvSpPr>
        <p:spPr>
          <a:xfrm>
            <a:off x="8791509" y="4674344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lower-cross-pair-left-node-3"/>
          <p:cNvSpPr/>
          <p:nvPr/>
        </p:nvSpPr>
        <p:spPr>
          <a:xfrm>
            <a:off x="8765990" y="4765789"/>
            <a:ext cx="89318" cy="89318"/>
          </a:xfrm>
          <a:prstGeom prst="ellipse">
            <a:avLst/>
          </a:prstGeom>
          <a:solidFill>
            <a:srgbClr val="78AC55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lower-cross-pair-right"/>
          <p:cNvSpPr/>
          <p:nvPr/>
        </p:nvSpPr>
        <p:spPr>
          <a:xfrm>
            <a:off x="9301902" y="4382995"/>
            <a:ext cx="165877" cy="504012"/>
          </a:xfrm>
          <a:prstGeom prst="roundRect">
            <a:avLst>
              <a:gd name="adj" fmla="val 45000"/>
            </a:avLst>
          </a:prstGeom>
          <a:solidFill>
            <a:srgbClr val="FAFAFA"/>
          </a:solidFill>
          <a:ln w="17145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lower-cross-pair-right-node-0"/>
          <p:cNvSpPr/>
          <p:nvPr/>
        </p:nvSpPr>
        <p:spPr>
          <a:xfrm>
            <a:off x="9340181" y="4414894"/>
            <a:ext cx="89318" cy="89318"/>
          </a:xfrm>
          <a:prstGeom prst="ellipse">
            <a:avLst/>
          </a:prstGeom>
          <a:solidFill>
            <a:srgbClr val="DDEAD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lower-cross-pair-right-node-1"/>
          <p:cNvSpPr/>
          <p:nvPr/>
        </p:nvSpPr>
        <p:spPr>
          <a:xfrm>
            <a:off x="9365701" y="4557379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lower-cross-pair-right-node-2"/>
          <p:cNvSpPr/>
          <p:nvPr/>
        </p:nvSpPr>
        <p:spPr>
          <a:xfrm>
            <a:off x="9365701" y="4674344"/>
            <a:ext cx="38279" cy="38279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lower-cross-pair-right-node-3"/>
          <p:cNvSpPr/>
          <p:nvPr/>
        </p:nvSpPr>
        <p:spPr>
          <a:xfrm>
            <a:off x="9340181" y="4765789"/>
            <a:ext cx="89318" cy="89318"/>
          </a:xfrm>
          <a:prstGeom prst="ellipse">
            <a:avLst/>
          </a:prstGeom>
          <a:solidFill>
            <a:srgbClr val="DDEAD8"/>
          </a:solidFill>
          <a:ln w="11429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6" name="lower-cross-pair-cross-a"/>
          <p:cNvCxnSpPr/>
          <p:nvPr/>
        </p:nvCxnSpPr>
        <p:spPr>
          <a:xfrm>
            <a:off x="8899968" y="4459554"/>
            <a:ext cx="389174" cy="344514"/>
          </a:xfrm>
          <a:prstGeom prst="line">
            <a:avLst/>
          </a:prstGeom>
          <a:ln w="11429">
            <a:solidFill>
              <a:srgbClr val="111111"/>
            </a:solidFill>
            <a:prstDash val="dash"/>
            <a:tailEnd type="triangle" w="sm" len="sm"/>
          </a:ln>
          <a:effectLst/>
        </p:spPr>
      </p:cxnSp>
      <p:cxnSp>
        <p:nvCxnSpPr>
          <p:cNvPr id="397" name="lower-cross-pair-cross-b"/>
          <p:cNvCxnSpPr/>
          <p:nvPr/>
        </p:nvCxnSpPr>
        <p:spPr>
          <a:xfrm flipV="1">
            <a:off x="8899968" y="4459554"/>
            <a:ext cx="389174" cy="344514"/>
          </a:xfrm>
          <a:prstGeom prst="line">
            <a:avLst/>
          </a:prstGeom>
          <a:ln w="11429">
            <a:solidFill>
              <a:srgbClr val="111111"/>
            </a:solidFill>
            <a:prstDash val="dash"/>
            <a:tailEnd type="triangle" w="sm" len="sm"/>
          </a:ln>
          <a:effectLst/>
        </p:spPr>
      </p:cxnSp>
      <p:cxnSp>
        <p:nvCxnSpPr>
          <p:cNvPr id="398" name="lower-pair-merge-a-segment-1"/>
          <p:cNvCxnSpPr/>
          <p:nvPr/>
        </p:nvCxnSpPr>
        <p:spPr>
          <a:xfrm>
            <a:off x="9550718" y="4044860"/>
            <a:ext cx="12759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399" name="lower-pair-merge-a-segment-2"/>
          <p:cNvCxnSpPr/>
          <p:nvPr/>
        </p:nvCxnSpPr>
        <p:spPr>
          <a:xfrm>
            <a:off x="9678316" y="4044860"/>
            <a:ext cx="0" cy="325375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400" name="lower-pair-merge-a-segment-3"/>
          <p:cNvCxnSpPr/>
          <p:nvPr/>
        </p:nvCxnSpPr>
        <p:spPr>
          <a:xfrm>
            <a:off x="9678316" y="4370235"/>
            <a:ext cx="16587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401" name="lower-pair-merge-b-segment-1"/>
          <p:cNvCxnSpPr/>
          <p:nvPr/>
        </p:nvCxnSpPr>
        <p:spPr>
          <a:xfrm>
            <a:off x="9550718" y="4631811"/>
            <a:ext cx="12759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402" name="lower-pair-merge-b-segment-2"/>
          <p:cNvCxnSpPr/>
          <p:nvPr/>
        </p:nvCxnSpPr>
        <p:spPr>
          <a:xfrm flipV="1">
            <a:off x="9678316" y="4370235"/>
            <a:ext cx="0" cy="261576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403" name="lower-loss-t-arrow"/>
          <p:cNvCxnSpPr/>
          <p:nvPr/>
        </p:nvCxnSpPr>
        <p:spPr>
          <a:xfrm flipV="1">
            <a:off x="9844194" y="4044860"/>
            <a:ext cx="299855" cy="325375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404" name="lower-loss-wd-arrow"/>
          <p:cNvCxnSpPr/>
          <p:nvPr/>
        </p:nvCxnSpPr>
        <p:spPr>
          <a:xfrm>
            <a:off x="9844194" y="4370235"/>
            <a:ext cx="299855" cy="255196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405" name="lower-lt"/>
          <p:cNvSpPr/>
          <p:nvPr/>
        </p:nvSpPr>
        <p:spPr>
          <a:xfrm>
            <a:off x="10150429" y="3910882"/>
            <a:ext cx="631610" cy="274335"/>
          </a:xfrm>
          <a:prstGeom prst="rect">
            <a:avLst/>
          </a:prstGeom>
          <a:solidFill>
            <a:srgbClr val="B6D9AE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lower-lt-label"/>
          <p:cNvSpPr txBox="1"/>
          <p:nvPr/>
        </p:nvSpPr>
        <p:spPr>
          <a:xfrm>
            <a:off x="10150429" y="3910882"/>
            <a:ext cx="631610" cy="2743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01010"/>
                </a:solidFill>
                <a:latin typeface="DejaVu Serif"/>
              </a:rPr>
              <a:t>Lₜ⁽²⁾</a:t>
            </a:r>
          </a:p>
        </p:txBody>
      </p:sp>
      <p:sp>
        <p:nvSpPr>
          <p:cNvPr id="407" name="lower-lwd"/>
          <p:cNvSpPr/>
          <p:nvPr/>
        </p:nvSpPr>
        <p:spPr>
          <a:xfrm>
            <a:off x="10150429" y="4491453"/>
            <a:ext cx="631610" cy="274335"/>
          </a:xfrm>
          <a:prstGeom prst="rect">
            <a:avLst/>
          </a:prstGeom>
          <a:solidFill>
            <a:srgbClr val="B6D9AE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lower-lwd-label"/>
          <p:cNvSpPr txBox="1"/>
          <p:nvPr/>
        </p:nvSpPr>
        <p:spPr>
          <a:xfrm>
            <a:off x="10150429" y="4491453"/>
            <a:ext cx="631610" cy="2743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i="0">
                <a:solidFill>
                  <a:srgbClr val="101010"/>
                </a:solidFill>
                <a:latin typeface="DejaVu Serif"/>
              </a:rPr>
              <a:t>Lwd⁽²⁾</a:t>
            </a:r>
          </a:p>
        </p:txBody>
      </p:sp>
      <p:cxnSp>
        <p:nvCxnSpPr>
          <p:cNvPr id="409" name="lower-lt-merge-segment-1"/>
          <p:cNvCxnSpPr/>
          <p:nvPr/>
        </p:nvCxnSpPr>
        <p:spPr>
          <a:xfrm>
            <a:off x="10782040" y="4044860"/>
            <a:ext cx="12759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410" name="lower-lt-merge-segment-2"/>
          <p:cNvCxnSpPr/>
          <p:nvPr/>
        </p:nvCxnSpPr>
        <p:spPr>
          <a:xfrm>
            <a:off x="10909638" y="4044860"/>
            <a:ext cx="0" cy="306235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411" name="lower-lt-merge-segment-3"/>
          <p:cNvCxnSpPr/>
          <p:nvPr/>
        </p:nvCxnSpPr>
        <p:spPr>
          <a:xfrm>
            <a:off x="10909638" y="4351095"/>
            <a:ext cx="331755" cy="0"/>
          </a:xfrm>
          <a:prstGeom prst="line">
            <a:avLst/>
          </a:prstGeom>
          <a:ln w="25717">
            <a:solidFill>
              <a:srgbClr val="00245E"/>
            </a:solidFill>
            <a:tailEnd type="triangle" w="sm" len="sm"/>
          </a:ln>
          <a:effectLst/>
        </p:spPr>
      </p:cxnSp>
      <p:cxnSp>
        <p:nvCxnSpPr>
          <p:cNvPr id="412" name="lower-lwd-merge-segment-1"/>
          <p:cNvCxnSpPr/>
          <p:nvPr/>
        </p:nvCxnSpPr>
        <p:spPr>
          <a:xfrm>
            <a:off x="10782040" y="4625431"/>
            <a:ext cx="127598" cy="0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cxnSp>
        <p:nvCxnSpPr>
          <p:cNvPr id="413" name="lower-lwd-merge-segment-2"/>
          <p:cNvCxnSpPr/>
          <p:nvPr/>
        </p:nvCxnSpPr>
        <p:spPr>
          <a:xfrm flipV="1">
            <a:off x="10909638" y="4351095"/>
            <a:ext cx="0" cy="274336"/>
          </a:xfrm>
          <a:prstGeom prst="line">
            <a:avLst/>
          </a:prstGeom>
          <a:ln w="25717">
            <a:solidFill>
              <a:srgbClr val="00245E"/>
            </a:solidFill>
          </a:ln>
          <a:effectLst/>
        </p:spPr>
      </p:cxnSp>
      <p:sp>
        <p:nvSpPr>
          <p:cNvPr id="414" name="lower-enl"/>
          <p:cNvSpPr/>
          <p:nvPr/>
        </p:nvSpPr>
        <p:spPr>
          <a:xfrm>
            <a:off x="11241393" y="4217117"/>
            <a:ext cx="631610" cy="274335"/>
          </a:xfrm>
          <a:prstGeom prst="rect">
            <a:avLst/>
          </a:prstGeom>
          <a:solidFill>
            <a:srgbClr val="8DBF7C"/>
          </a:solidFill>
          <a:ln w="16192">
            <a:solidFill>
              <a:srgbClr val="0024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lower-enl-label"/>
          <p:cNvSpPr txBox="1"/>
          <p:nvPr/>
        </p:nvSpPr>
        <p:spPr>
          <a:xfrm>
            <a:off x="11241393" y="4217117"/>
            <a:ext cx="631610" cy="27433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101010"/>
                </a:solidFill>
                <a:latin typeface="DejaVu Serif"/>
              </a:rPr>
              <a:t>LENL⁽²⁾</a:t>
            </a:r>
          </a:p>
        </p:txBody>
      </p:sp>
      <p:cxnSp>
        <p:nvCxnSpPr>
          <p:cNvPr id="416" name="lower-enl-to-final"/>
          <p:cNvCxnSpPr/>
          <p:nvPr/>
        </p:nvCxnSpPr>
        <p:spPr>
          <a:xfrm flipV="1">
            <a:off x="11560389" y="3451528"/>
            <a:ext cx="0" cy="765589"/>
          </a:xfrm>
          <a:prstGeom prst="line">
            <a:avLst/>
          </a:prstGeom>
          <a:ln w="28575">
            <a:solidFill>
              <a:srgbClr val="00245E"/>
            </a:solidFill>
            <a:tailEnd type="triangle" w="sm" len="sm"/>
          </a:ln>
          <a:effectLst/>
        </p:spPr>
      </p:cxnSp>
      <p:sp>
        <p:nvSpPr>
          <p:cNvPr id="417" name="distill-lower-label"/>
          <p:cNvSpPr txBox="1"/>
          <p:nvPr/>
        </p:nvSpPr>
        <p:spPr>
          <a:xfrm>
            <a:off x="10743761" y="4701990"/>
            <a:ext cx="1122863" cy="1658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4" b="1" i="0">
                <a:solidFill>
                  <a:srgbClr val="101010"/>
                </a:solidFill>
                <a:latin typeface="Liberation Serif"/>
              </a:rPr>
              <a:t>Distillation loss</a:t>
            </a:r>
          </a:p>
        </p:txBody>
      </p:sp>
      <p:cxnSp>
        <p:nvCxnSpPr>
          <p:cNvPr id="418" name="distill-lower-arrow"/>
          <p:cNvCxnSpPr/>
          <p:nvPr/>
        </p:nvCxnSpPr>
        <p:spPr>
          <a:xfrm flipV="1">
            <a:off x="11292432" y="4497833"/>
            <a:ext cx="236057" cy="210537"/>
          </a:xfrm>
          <a:prstGeom prst="line">
            <a:avLst/>
          </a:prstGeom>
          <a:ln w="17145">
            <a:solidFill>
              <a:srgbClr val="6F7478"/>
            </a:solidFill>
            <a:prstDash val="dash"/>
            <a:tailEnd type="triangle" w="sm" len="sm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volutionary Multi-View Classification via Eliminating Individual Fitness Bia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49954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