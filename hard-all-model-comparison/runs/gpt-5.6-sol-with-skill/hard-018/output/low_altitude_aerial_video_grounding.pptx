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830300" cy="70789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-background"/>
          <p:cNvSpPr/>
          <p:nvPr/>
        </p:nvSpPr>
        <p:spPr>
          <a:xfrm>
            <a:off x="0" y="0"/>
            <a:ext cx="13830300" cy="7078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-a-shadow"/>
          <p:cNvSpPr/>
          <p:nvPr/>
        </p:nvSpPr>
        <p:spPr>
          <a:xfrm>
            <a:off x="45720" y="160020"/>
            <a:ext cx="4655820" cy="3192780"/>
          </a:xfrm>
          <a:prstGeom prst="roundRect">
            <a:avLst>
              <a:gd name="adj" fmla="val 4534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-a"/>
          <p:cNvSpPr/>
          <p:nvPr/>
        </p:nvSpPr>
        <p:spPr>
          <a:xfrm>
            <a:off x="0" y="114300"/>
            <a:ext cx="4655820" cy="3192780"/>
          </a:xfrm>
          <a:prstGeom prst="roundRect">
            <a:avLst>
              <a:gd name="adj" fmla="val 4534"/>
            </a:avLst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nel-b-shadow"/>
          <p:cNvSpPr/>
          <p:nvPr/>
        </p:nvSpPr>
        <p:spPr>
          <a:xfrm>
            <a:off x="4808220" y="160020"/>
            <a:ext cx="2735580" cy="3192780"/>
          </a:xfrm>
          <a:prstGeom prst="roundRect">
            <a:avLst>
              <a:gd name="adj" fmla="val 4735"/>
            </a:avLst>
          </a:prstGeom>
          <a:solidFill>
            <a:srgbClr val="E9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nel-b"/>
          <p:cNvSpPr/>
          <p:nvPr/>
        </p:nvSpPr>
        <p:spPr>
          <a:xfrm>
            <a:off x="4762500" y="114300"/>
            <a:ext cx="2735580" cy="3192780"/>
          </a:xfrm>
          <a:prstGeom prst="roundRect">
            <a:avLst>
              <a:gd name="adj" fmla="val 4735"/>
            </a:avLst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nel-c-shadow"/>
          <p:cNvSpPr/>
          <p:nvPr/>
        </p:nvSpPr>
        <p:spPr>
          <a:xfrm>
            <a:off x="7703820" y="160020"/>
            <a:ext cx="6126480" cy="3192780"/>
          </a:xfrm>
          <a:prstGeom prst="roundRect">
            <a:avLst>
              <a:gd name="adj" fmla="val 5250"/>
            </a:avLst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-c"/>
          <p:cNvSpPr/>
          <p:nvPr/>
        </p:nvSpPr>
        <p:spPr>
          <a:xfrm>
            <a:off x="7658100" y="114300"/>
            <a:ext cx="6172200" cy="3192780"/>
          </a:xfrm>
          <a:prstGeom prst="roundRect">
            <a:avLst>
              <a:gd name="adj" fmla="val 5250"/>
            </a:avLst>
          </a:prstGeom>
          <a:solidFill>
            <a:srgbClr val="ED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nput-frame-1" descr="aerial-in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27660"/>
            <a:ext cx="1752600" cy="1082040"/>
          </a:xfrm>
          <a:prstGeom prst="rect">
            <a:avLst/>
          </a:prstGeom>
        </p:spPr>
      </p:pic>
      <p:sp>
        <p:nvSpPr>
          <p:cNvPr id="10" name="input-frame-1-border"/>
          <p:cNvSpPr/>
          <p:nvPr/>
        </p:nvSpPr>
        <p:spPr>
          <a:xfrm>
            <a:off x="167640" y="327660"/>
            <a:ext cx="1752600" cy="1082040"/>
          </a:xfrm>
          <a:prstGeom prst="rect">
            <a:avLst/>
          </a:prstGeom>
          <a:noFill/>
          <a:ln w="22859">
            <a:solidFill>
              <a:srgbClr val="317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nput-frame-2" descr="aerial-in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510540"/>
            <a:ext cx="1752600" cy="1082040"/>
          </a:xfrm>
          <a:prstGeom prst="rect">
            <a:avLst/>
          </a:prstGeom>
        </p:spPr>
      </p:pic>
      <p:sp>
        <p:nvSpPr>
          <p:cNvPr id="12" name="input-frame-2-border"/>
          <p:cNvSpPr/>
          <p:nvPr/>
        </p:nvSpPr>
        <p:spPr>
          <a:xfrm>
            <a:off x="289560" y="510540"/>
            <a:ext cx="1752600" cy="1082040"/>
          </a:xfrm>
          <a:prstGeom prst="rect">
            <a:avLst/>
          </a:prstGeom>
          <a:noFill/>
          <a:ln w="22859">
            <a:solidFill>
              <a:srgbClr val="317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nput-frame-3" descr="aerial-in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716280"/>
            <a:ext cx="1752600" cy="1082040"/>
          </a:xfrm>
          <a:prstGeom prst="rect">
            <a:avLst/>
          </a:prstGeom>
        </p:spPr>
      </p:pic>
      <p:sp>
        <p:nvSpPr>
          <p:cNvPr id="14" name="input-frame-3-border"/>
          <p:cNvSpPr/>
          <p:nvPr/>
        </p:nvSpPr>
        <p:spPr>
          <a:xfrm>
            <a:off x="495299" y="716280"/>
            <a:ext cx="1752600" cy="1082040"/>
          </a:xfrm>
          <a:prstGeom prst="rect">
            <a:avLst/>
          </a:prstGeom>
          <a:noFill/>
          <a:ln w="22859">
            <a:solidFill>
              <a:srgbClr val="317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ounding-query"/>
          <p:cNvSpPr txBox="1"/>
          <p:nvPr/>
        </p:nvSpPr>
        <p:spPr>
          <a:xfrm>
            <a:off x="137160" y="1920240"/>
            <a:ext cx="2171700" cy="11658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The green bus that is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heading to the upper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right, from the lower left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corner of the Bell Tower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roundabout</a:t>
            </a:r>
          </a:p>
        </p:txBody>
      </p:sp>
      <p:sp>
        <p:nvSpPr>
          <p:cNvPr id="16" name="visual-encoder-wedge"/>
          <p:cNvSpPr/>
          <p:nvPr/>
        </p:nvSpPr>
        <p:spPr>
          <a:xfrm>
            <a:off x="2377440" y="365760"/>
            <a:ext cx="960120" cy="1203960"/>
          </a:xfrm>
          <a:custGeom>
            <a:avLst/>
            <a:gdLst/>
            <a:ahLst/>
            <a:cxnLst/>
            <a:rect l="l" t="t" r="r" b="b"/>
            <a:pathLst>
              <a:path w="126" h="158">
                <a:moveTo>
                  <a:pt x="0" y="0"/>
                </a:moveTo>
                <a:lnTo>
                  <a:pt x="126" y="40"/>
                </a:lnTo>
                <a:lnTo>
                  <a:pt x="126" y="119"/>
                </a:lnTo>
                <a:lnTo>
                  <a:pt x="0" y="158"/>
                </a:lnTo>
                <a:close/>
              </a:path>
            </a:pathLst>
          </a:custGeom>
          <a:solidFill>
            <a:srgbClr val="B3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sual-encoder-text"/>
          <p:cNvSpPr txBox="1"/>
          <p:nvPr/>
        </p:nvSpPr>
        <p:spPr>
          <a:xfrm>
            <a:off x="2438400" y="640080"/>
            <a:ext cx="853440" cy="6705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739" b="1" i="0">
                <a:solidFill>
                  <a:srgbClr val="000000"/>
                </a:solidFill>
                <a:latin typeface="Liberation Serif"/>
              </a:defRPr>
            </a:pPr>
            <a:r>
              <a:t>Visual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739" b="1" i="0">
                <a:solidFill>
                  <a:srgbClr val="000000"/>
                </a:solidFill>
                <a:latin typeface="Liberation Serif"/>
              </a:defRPr>
            </a:pPr>
            <a:r>
              <a:t>Encoder</a:t>
            </a:r>
          </a:p>
        </p:txBody>
      </p:sp>
      <p:cxnSp>
        <p:nvCxnSpPr>
          <p:cNvPr id="18" name="visual-to-pyramid"/>
          <p:cNvCxnSpPr/>
          <p:nvPr/>
        </p:nvCxnSpPr>
        <p:spPr>
          <a:xfrm>
            <a:off x="3337560" y="967740"/>
            <a:ext cx="342900" cy="0"/>
          </a:xfrm>
          <a:prstGeom prst="line">
            <a:avLst/>
          </a:prstGeom>
          <a:ln w="16764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eature-s3-shadow"/>
          <p:cNvSpPr/>
          <p:nvPr/>
        </p:nvSpPr>
        <p:spPr>
          <a:xfrm>
            <a:off x="3520440" y="952500"/>
            <a:ext cx="1066800" cy="342900"/>
          </a:xfrm>
          <a:custGeom>
            <a:avLst/>
            <a:gdLst/>
            <a:ahLst/>
            <a:cxnLst/>
            <a:rect l="l" t="t" r="r" b="b"/>
            <a:pathLst>
              <a:path w="140" h="45">
                <a:moveTo>
                  <a:pt x="20" y="0"/>
                </a:moveTo>
                <a:lnTo>
                  <a:pt x="140" y="0"/>
                </a:lnTo>
                <a:lnTo>
                  <a:pt x="120" y="45"/>
                </a:lnTo>
                <a:lnTo>
                  <a:pt x="0" y="4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eature-s3"/>
          <p:cNvSpPr/>
          <p:nvPr/>
        </p:nvSpPr>
        <p:spPr>
          <a:xfrm>
            <a:off x="3505200" y="914400"/>
            <a:ext cx="1066800" cy="342900"/>
          </a:xfrm>
          <a:custGeom>
            <a:avLst/>
            <a:gdLst/>
            <a:ahLst/>
            <a:cxnLst/>
            <a:rect l="l" t="t" r="r" b="b"/>
            <a:pathLst>
              <a:path w="140" h="45">
                <a:moveTo>
                  <a:pt x="18" y="0"/>
                </a:moveTo>
                <a:lnTo>
                  <a:pt x="140" y="0"/>
                </a:lnTo>
                <a:lnTo>
                  <a:pt x="120" y="45"/>
                </a:lnTo>
                <a:lnTo>
                  <a:pt x="0" y="45"/>
                </a:lnTo>
                <a:close/>
              </a:path>
            </a:pathLst>
          </a:custGeom>
          <a:solidFill>
            <a:srgbClr val="5B82C5"/>
          </a:solidFill>
          <a:ln w="9144">
            <a:solidFill>
              <a:srgbClr val="1F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eature-s3-text"/>
          <p:cNvSpPr txBox="1"/>
          <p:nvPr/>
        </p:nvSpPr>
        <p:spPr>
          <a:xfrm>
            <a:off x="3581400" y="883920"/>
            <a:ext cx="9144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1">
                <a:solidFill>
                  <a:srgbClr val="000000"/>
                </a:solidFill>
                <a:latin typeface="Liberation Serif"/>
              </a:defRPr>
            </a:pPr>
            <a:r>
              <a:t>S₃</a:t>
            </a:r>
          </a:p>
        </p:txBody>
      </p:sp>
      <p:sp>
        <p:nvSpPr>
          <p:cNvPr id="22" name="feature-s4-shadow"/>
          <p:cNvSpPr/>
          <p:nvPr/>
        </p:nvSpPr>
        <p:spPr>
          <a:xfrm>
            <a:off x="3688080" y="754380"/>
            <a:ext cx="769620" cy="259080"/>
          </a:xfrm>
          <a:custGeom>
            <a:avLst/>
            <a:gdLst/>
            <a:ahLst/>
            <a:cxnLst/>
            <a:rect l="l" t="t" r="r" b="b"/>
            <a:pathLst>
              <a:path w="101" h="34">
                <a:moveTo>
                  <a:pt x="20" y="0"/>
                </a:moveTo>
                <a:lnTo>
                  <a:pt x="101" y="0"/>
                </a:lnTo>
                <a:lnTo>
                  <a:pt x="81" y="34"/>
                </a:lnTo>
                <a:lnTo>
                  <a:pt x="0" y="3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eature-s4"/>
          <p:cNvSpPr/>
          <p:nvPr/>
        </p:nvSpPr>
        <p:spPr>
          <a:xfrm>
            <a:off x="3672840" y="716280"/>
            <a:ext cx="769620" cy="259080"/>
          </a:xfrm>
          <a:custGeom>
            <a:avLst/>
            <a:gdLst/>
            <a:ahLst/>
            <a:cxnLst/>
            <a:rect l="l" t="t" r="r" b="b"/>
            <a:pathLst>
              <a:path w="101" h="34">
                <a:moveTo>
                  <a:pt x="18" y="0"/>
                </a:moveTo>
                <a:lnTo>
                  <a:pt x="101" y="0"/>
                </a:lnTo>
                <a:lnTo>
                  <a:pt x="81" y="34"/>
                </a:lnTo>
                <a:lnTo>
                  <a:pt x="0" y="34"/>
                </a:lnTo>
                <a:close/>
              </a:path>
            </a:pathLst>
          </a:custGeom>
          <a:solidFill>
            <a:srgbClr val="7798D2"/>
          </a:solidFill>
          <a:ln w="9144">
            <a:solidFill>
              <a:srgbClr val="1F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eature-s4-text"/>
          <p:cNvSpPr txBox="1"/>
          <p:nvPr/>
        </p:nvSpPr>
        <p:spPr>
          <a:xfrm>
            <a:off x="3749039" y="685800"/>
            <a:ext cx="61722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1">
                <a:solidFill>
                  <a:srgbClr val="000000"/>
                </a:solidFill>
                <a:latin typeface="Liberation Serif"/>
              </a:defRPr>
            </a:pPr>
            <a:r>
              <a:t>S₄</a:t>
            </a:r>
          </a:p>
        </p:txBody>
      </p:sp>
      <p:sp>
        <p:nvSpPr>
          <p:cNvPr id="25" name="feature-s5-shadow"/>
          <p:cNvSpPr/>
          <p:nvPr/>
        </p:nvSpPr>
        <p:spPr>
          <a:xfrm>
            <a:off x="3810000" y="579120"/>
            <a:ext cx="495300" cy="175260"/>
          </a:xfrm>
          <a:custGeom>
            <a:avLst/>
            <a:gdLst/>
            <a:ahLst/>
            <a:cxnLst/>
            <a:rect l="l" t="t" r="r" b="b"/>
            <a:pathLst>
              <a:path w="65" h="23">
                <a:moveTo>
                  <a:pt x="20" y="0"/>
                </a:moveTo>
                <a:lnTo>
                  <a:pt x="65" y="0"/>
                </a:lnTo>
                <a:lnTo>
                  <a:pt x="45" y="23"/>
                </a:lnTo>
                <a:lnTo>
                  <a:pt x="0" y="23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eature-s5"/>
          <p:cNvSpPr/>
          <p:nvPr/>
        </p:nvSpPr>
        <p:spPr>
          <a:xfrm>
            <a:off x="3794760" y="541020"/>
            <a:ext cx="495300" cy="175260"/>
          </a:xfrm>
          <a:custGeom>
            <a:avLst/>
            <a:gdLst/>
            <a:ahLst/>
            <a:cxnLst/>
            <a:rect l="l" t="t" r="r" b="b"/>
            <a:pathLst>
              <a:path w="65" h="23">
                <a:moveTo>
                  <a:pt x="18" y="0"/>
                </a:moveTo>
                <a:lnTo>
                  <a:pt x="65" y="0"/>
                </a:lnTo>
                <a:lnTo>
                  <a:pt x="45" y="23"/>
                </a:lnTo>
                <a:lnTo>
                  <a:pt x="0" y="23"/>
                </a:lnTo>
                <a:close/>
              </a:path>
            </a:pathLst>
          </a:custGeom>
          <a:solidFill>
            <a:srgbClr val="A9BEE4"/>
          </a:solidFill>
          <a:ln w="9144">
            <a:solidFill>
              <a:srgbClr val="1F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eature-s5-text"/>
          <p:cNvSpPr txBox="1"/>
          <p:nvPr/>
        </p:nvSpPr>
        <p:spPr>
          <a:xfrm>
            <a:off x="3870960" y="510540"/>
            <a:ext cx="342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1">
                <a:solidFill>
                  <a:srgbClr val="000000"/>
                </a:solidFill>
                <a:latin typeface="Liberation Serif"/>
              </a:defRPr>
            </a:pPr>
            <a:r>
              <a:t>S₅</a:t>
            </a:r>
          </a:p>
        </p:txBody>
      </p:sp>
      <p:cxnSp>
        <p:nvCxnSpPr>
          <p:cNvPr id="28" name="s4-to-visual-branch"/>
          <p:cNvCxnSpPr/>
          <p:nvPr/>
        </p:nvCxnSpPr>
        <p:spPr>
          <a:xfrm>
            <a:off x="4480560" y="838200"/>
            <a:ext cx="518160" cy="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3-to-visual-branch"/>
          <p:cNvCxnSpPr/>
          <p:nvPr/>
        </p:nvCxnSpPr>
        <p:spPr>
          <a:xfrm>
            <a:off x="4434840" y="1066800"/>
            <a:ext cx="563880" cy="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anguage-encoder-wedge"/>
          <p:cNvSpPr/>
          <p:nvPr/>
        </p:nvSpPr>
        <p:spPr>
          <a:xfrm>
            <a:off x="2377440" y="1927860"/>
            <a:ext cx="960120" cy="1165860"/>
          </a:xfrm>
          <a:custGeom>
            <a:avLst/>
            <a:gdLst/>
            <a:ahLst/>
            <a:cxnLst/>
            <a:rect l="l" t="t" r="r" b="b"/>
            <a:pathLst>
              <a:path w="126" h="153">
                <a:moveTo>
                  <a:pt x="0" y="0"/>
                </a:moveTo>
                <a:lnTo>
                  <a:pt x="126" y="40"/>
                </a:lnTo>
                <a:lnTo>
                  <a:pt x="126" y="113"/>
                </a:lnTo>
                <a:lnTo>
                  <a:pt x="0" y="153"/>
                </a:lnTo>
                <a:close/>
              </a:path>
            </a:pathLst>
          </a:custGeom>
          <a:solidFill>
            <a:srgbClr val="A8D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anguage-encoder-text"/>
          <p:cNvSpPr txBox="1"/>
          <p:nvPr/>
        </p:nvSpPr>
        <p:spPr>
          <a:xfrm>
            <a:off x="2400300" y="2186940"/>
            <a:ext cx="906780" cy="6705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Language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Encoder</a:t>
            </a:r>
          </a:p>
        </p:txBody>
      </p:sp>
      <p:cxnSp>
        <p:nvCxnSpPr>
          <p:cNvPr id="32" name="language-to-linear"/>
          <p:cNvCxnSpPr/>
          <p:nvPr/>
        </p:nvCxnSpPr>
        <p:spPr>
          <a:xfrm>
            <a:off x="3337560" y="2506980"/>
            <a:ext cx="342900" cy="0"/>
          </a:xfrm>
          <a:prstGeom prst="line">
            <a:avLst/>
          </a:prstGeom>
          <a:ln w="16764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linear-block-shadow"/>
          <p:cNvSpPr/>
          <p:nvPr/>
        </p:nvSpPr>
        <p:spPr>
          <a:xfrm>
            <a:off x="3733799" y="2095499"/>
            <a:ext cx="320040" cy="914400"/>
          </a:xfrm>
          <a:prstGeom prst="roundRect">
            <a:avLst>
              <a:gd name="adj" fmla="val 14285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inear-block"/>
          <p:cNvSpPr/>
          <p:nvPr/>
        </p:nvSpPr>
        <p:spPr>
          <a:xfrm>
            <a:off x="3688080" y="2049780"/>
            <a:ext cx="320040" cy="914400"/>
          </a:xfrm>
          <a:prstGeom prst="roundRect">
            <a:avLst>
              <a:gd name="adj" fmla="val 14285"/>
            </a:avLst>
          </a:prstGeom>
          <a:solidFill>
            <a:srgbClr val="A8D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inear-text"/>
          <p:cNvSpPr txBox="1"/>
          <p:nvPr/>
        </p:nvSpPr>
        <p:spPr>
          <a:xfrm rot="5400000">
            <a:off x="3642360" y="235458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60" b="1" i="0">
                <a:solidFill>
                  <a:srgbClr val="000000"/>
                </a:solidFill>
                <a:latin typeface="Liberation Serif"/>
              </a:defRPr>
            </a:pPr>
            <a:r>
              <a:t>Linear</a:t>
            </a:r>
          </a:p>
        </p:txBody>
      </p:sp>
      <p:cxnSp>
        <p:nvCxnSpPr>
          <p:cNvPr id="36" name="linear-to-language-tokens"/>
          <p:cNvCxnSpPr/>
          <p:nvPr/>
        </p:nvCxnSpPr>
        <p:spPr>
          <a:xfrm>
            <a:off x="4008120" y="2506980"/>
            <a:ext cx="312420" cy="0"/>
          </a:xfrm>
          <a:prstGeom prst="line">
            <a:avLst/>
          </a:prstGeom>
          <a:ln w="16764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language-output-token-1"/>
          <p:cNvSpPr/>
          <p:nvPr/>
        </p:nvSpPr>
        <p:spPr>
          <a:xfrm>
            <a:off x="4373880" y="2080260"/>
            <a:ext cx="114300" cy="11430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anguage-output-token-2"/>
          <p:cNvSpPr/>
          <p:nvPr/>
        </p:nvSpPr>
        <p:spPr>
          <a:xfrm>
            <a:off x="4373880" y="2263140"/>
            <a:ext cx="114300" cy="11430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anguage-output-token-3"/>
          <p:cNvSpPr/>
          <p:nvPr/>
        </p:nvSpPr>
        <p:spPr>
          <a:xfrm>
            <a:off x="4373880" y="2446020"/>
            <a:ext cx="114300" cy="11430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anguage-output-token-4"/>
          <p:cNvSpPr/>
          <p:nvPr/>
        </p:nvSpPr>
        <p:spPr>
          <a:xfrm>
            <a:off x="4373880" y="2811780"/>
            <a:ext cx="114300" cy="11430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anguage-output-dots"/>
          <p:cNvSpPr txBox="1"/>
          <p:nvPr/>
        </p:nvSpPr>
        <p:spPr>
          <a:xfrm>
            <a:off x="4328160" y="2583180"/>
            <a:ext cx="213360" cy="167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000000"/>
                </a:solidFill>
                <a:latin typeface="DejaVu Sans"/>
              </a:defRPr>
            </a:pPr>
            <a:r>
              <a:t>⋮</a:t>
            </a:r>
          </a:p>
        </p:txBody>
      </p:sp>
      <p:cxnSp>
        <p:nvCxnSpPr>
          <p:cNvPr id="42" name="language-to-branch"/>
          <p:cNvCxnSpPr/>
          <p:nvPr/>
        </p:nvCxnSpPr>
        <p:spPr>
          <a:xfrm>
            <a:off x="4541520" y="2506980"/>
            <a:ext cx="411480" cy="0"/>
          </a:xfrm>
          <a:prstGeom prst="line">
            <a:avLst/>
          </a:prstGeom>
          <a:ln w="16764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visual-only-branch-shadow"/>
          <p:cNvSpPr/>
          <p:nvPr/>
        </p:nvSpPr>
        <p:spPr>
          <a:xfrm>
            <a:off x="5052060" y="678180"/>
            <a:ext cx="2354580" cy="662940"/>
          </a:xfrm>
          <a:prstGeom prst="roundRect">
            <a:avLst>
              <a:gd name="adj" fmla="val 11494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sual-only-branch"/>
          <p:cNvSpPr/>
          <p:nvPr/>
        </p:nvSpPr>
        <p:spPr>
          <a:xfrm>
            <a:off x="5006340" y="632460"/>
            <a:ext cx="2354580" cy="662940"/>
          </a:xfrm>
          <a:prstGeom prst="roundRect">
            <a:avLst>
              <a:gd name="adj" fmla="val 11494"/>
            </a:avLst>
          </a:prstGeom>
          <a:solidFill>
            <a:srgbClr val="E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sual-only-branch-title"/>
          <p:cNvSpPr txBox="1"/>
          <p:nvPr/>
        </p:nvSpPr>
        <p:spPr>
          <a:xfrm>
            <a:off x="5052060" y="716280"/>
            <a:ext cx="2263140" cy="4876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Cross-scale Visual-only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Fusion Branch</a:t>
            </a:r>
          </a:p>
        </p:txBody>
      </p:sp>
      <p:sp>
        <p:nvSpPr>
          <p:cNvPr id="46" name="visual-output-tokens-outline"/>
          <p:cNvSpPr/>
          <p:nvPr/>
        </p:nvSpPr>
        <p:spPr>
          <a:xfrm>
            <a:off x="5143500" y="251460"/>
            <a:ext cx="1775460" cy="220980"/>
          </a:xfrm>
          <a:prstGeom prst="rect">
            <a:avLst/>
          </a:prstGeom>
          <a:solidFill>
            <a:srgbClr val="FFFDF7"/>
          </a:solidFill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sual-output-tokens-token-1"/>
          <p:cNvSpPr/>
          <p:nvPr/>
        </p:nvSpPr>
        <p:spPr>
          <a:xfrm>
            <a:off x="5189220" y="28956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sual-output-tokens-dots-1"/>
          <p:cNvSpPr txBox="1"/>
          <p:nvPr/>
        </p:nvSpPr>
        <p:spPr>
          <a:xfrm>
            <a:off x="5326380" y="28194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49" name="visual-output-tokens-token-2"/>
          <p:cNvSpPr/>
          <p:nvPr/>
        </p:nvSpPr>
        <p:spPr>
          <a:xfrm>
            <a:off x="5501640" y="28956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sual-output-tokens-dots-2"/>
          <p:cNvSpPr txBox="1"/>
          <p:nvPr/>
        </p:nvSpPr>
        <p:spPr>
          <a:xfrm>
            <a:off x="5638800" y="28194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51" name="visual-output-tokens-token-3"/>
          <p:cNvSpPr/>
          <p:nvPr/>
        </p:nvSpPr>
        <p:spPr>
          <a:xfrm>
            <a:off x="5814060" y="28956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sual-output-tokens-dots-3"/>
          <p:cNvSpPr txBox="1"/>
          <p:nvPr/>
        </p:nvSpPr>
        <p:spPr>
          <a:xfrm>
            <a:off x="5951220" y="28194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53" name="visual-output-tokens-token-4"/>
          <p:cNvSpPr/>
          <p:nvPr/>
        </p:nvSpPr>
        <p:spPr>
          <a:xfrm>
            <a:off x="6126480" y="28956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sual-output-tokens-dots-4"/>
          <p:cNvSpPr txBox="1"/>
          <p:nvPr/>
        </p:nvSpPr>
        <p:spPr>
          <a:xfrm>
            <a:off x="6263640" y="28194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55" name="visual-output-tokens-token-5"/>
          <p:cNvSpPr/>
          <p:nvPr/>
        </p:nvSpPr>
        <p:spPr>
          <a:xfrm>
            <a:off x="6438900" y="28956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sual-output-tokens-dots-5"/>
          <p:cNvSpPr txBox="1"/>
          <p:nvPr/>
        </p:nvSpPr>
        <p:spPr>
          <a:xfrm>
            <a:off x="6576060" y="28194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57" name="visual-output-tokens-token-6"/>
          <p:cNvSpPr/>
          <p:nvPr/>
        </p:nvSpPr>
        <p:spPr>
          <a:xfrm>
            <a:off x="6751320" y="28956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visual-output-up-690"/>
          <p:cNvCxnSpPr/>
          <p:nvPr/>
        </p:nvCxnSpPr>
        <p:spPr>
          <a:xfrm flipV="1">
            <a:off x="5257800" y="434340"/>
            <a:ext cx="0" cy="1981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visual-output-up-731"/>
          <p:cNvCxnSpPr/>
          <p:nvPr/>
        </p:nvCxnSpPr>
        <p:spPr>
          <a:xfrm flipV="1">
            <a:off x="5570220" y="434340"/>
            <a:ext cx="0" cy="1981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visual-output-up-772"/>
          <p:cNvCxnSpPr/>
          <p:nvPr/>
        </p:nvCxnSpPr>
        <p:spPr>
          <a:xfrm flipV="1">
            <a:off x="5882640" y="434340"/>
            <a:ext cx="0" cy="1981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visual-output-up-813"/>
          <p:cNvCxnSpPr/>
          <p:nvPr/>
        </p:nvCxnSpPr>
        <p:spPr>
          <a:xfrm flipV="1">
            <a:off x="6195060" y="434340"/>
            <a:ext cx="0" cy="1981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visual-output-up-854"/>
          <p:cNvCxnSpPr/>
          <p:nvPr/>
        </p:nvCxnSpPr>
        <p:spPr>
          <a:xfrm flipV="1">
            <a:off x="6507480" y="434340"/>
            <a:ext cx="0" cy="1981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visual-output-up-895"/>
          <p:cNvCxnSpPr/>
          <p:nvPr/>
        </p:nvCxnSpPr>
        <p:spPr>
          <a:xfrm flipV="1">
            <a:off x="6819900" y="434340"/>
            <a:ext cx="0" cy="1981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visual-branch-to-modulation-segment-1"/>
          <p:cNvCxnSpPr/>
          <p:nvPr/>
        </p:nvCxnSpPr>
        <p:spPr>
          <a:xfrm>
            <a:off x="7040880" y="289560"/>
            <a:ext cx="1828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visual-branch-to-modulation-segment-2"/>
          <p:cNvCxnSpPr/>
          <p:nvPr/>
        </p:nvCxnSpPr>
        <p:spPr>
          <a:xfrm>
            <a:off x="7223760" y="289560"/>
            <a:ext cx="0" cy="67056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visual-branch-to-modulation"/>
          <p:cNvCxnSpPr/>
          <p:nvPr/>
        </p:nvCxnSpPr>
        <p:spPr>
          <a:xfrm>
            <a:off x="7223760" y="960120"/>
            <a:ext cx="647699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visual-branch-detail-feature-shadow"/>
          <p:cNvSpPr/>
          <p:nvPr/>
        </p:nvSpPr>
        <p:spPr>
          <a:xfrm>
            <a:off x="5135880" y="1432560"/>
            <a:ext cx="381000" cy="137160"/>
          </a:xfrm>
          <a:custGeom>
            <a:avLst/>
            <a:gdLst/>
            <a:ahLst/>
            <a:cxnLst/>
            <a:rect l="l" t="t" r="r" b="b"/>
            <a:pathLst>
              <a:path w="50" h="18">
                <a:moveTo>
                  <a:pt x="20" y="0"/>
                </a:moveTo>
                <a:lnTo>
                  <a:pt x="50" y="0"/>
                </a:lnTo>
                <a:lnTo>
                  <a:pt x="30" y="18"/>
                </a:lnTo>
                <a:lnTo>
                  <a:pt x="0" y="18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sual-branch-detail-feature"/>
          <p:cNvSpPr/>
          <p:nvPr/>
        </p:nvSpPr>
        <p:spPr>
          <a:xfrm>
            <a:off x="5120640" y="1394460"/>
            <a:ext cx="381000" cy="137160"/>
          </a:xfrm>
          <a:custGeom>
            <a:avLst/>
            <a:gdLst/>
            <a:ahLst/>
            <a:cxnLst/>
            <a:rect l="l" t="t" r="r" b="b"/>
            <a:pathLst>
              <a:path w="50" h="18">
                <a:moveTo>
                  <a:pt x="18" y="0"/>
                </a:moveTo>
                <a:lnTo>
                  <a:pt x="50" y="0"/>
                </a:lnTo>
                <a:lnTo>
                  <a:pt x="30" y="18"/>
                </a:lnTo>
                <a:lnTo>
                  <a:pt x="0" y="18"/>
                </a:lnTo>
                <a:close/>
              </a:path>
            </a:pathLst>
          </a:custGeom>
          <a:solidFill>
            <a:srgbClr val="7899D0"/>
          </a:solidFill>
          <a:ln w="9144">
            <a:solidFill>
              <a:srgbClr val="1F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sual-branch-detail-feature-text"/>
          <p:cNvSpPr txBox="1"/>
          <p:nvPr/>
        </p:nvSpPr>
        <p:spPr>
          <a:xfrm>
            <a:off x="5196840" y="1363980"/>
            <a:ext cx="228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1">
                <a:solidFill>
                  <a:srgbClr val="000000"/>
                </a:solidFill>
                <a:latin typeface="Liberation Serif"/>
              </a:defRPr>
            </a:pPr>
          </a:p>
        </p:txBody>
      </p:sp>
      <p:cxnSp>
        <p:nvCxnSpPr>
          <p:cNvPr id="70" name="detail-feature-to-visual-branch"/>
          <p:cNvCxnSpPr/>
          <p:nvPr/>
        </p:nvCxnSpPr>
        <p:spPr>
          <a:xfrm flipV="1">
            <a:off x="5326380" y="1295400"/>
            <a:ext cx="0" cy="1295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visual-route-to-modulation-segment-1"/>
          <p:cNvCxnSpPr/>
          <p:nvPr/>
        </p:nvCxnSpPr>
        <p:spPr>
          <a:xfrm>
            <a:off x="5516880" y="1402080"/>
            <a:ext cx="502920" cy="0"/>
          </a:xfrm>
          <a:prstGeom prst="line">
            <a:avLst/>
          </a:prstGeom>
          <a:ln w="1676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visual-route-to-modulation-segment-2"/>
          <p:cNvCxnSpPr/>
          <p:nvPr/>
        </p:nvCxnSpPr>
        <p:spPr>
          <a:xfrm>
            <a:off x="6019800" y="1402080"/>
            <a:ext cx="0" cy="0"/>
          </a:xfrm>
          <a:prstGeom prst="line">
            <a:avLst/>
          </a:prstGeom>
          <a:ln w="1676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visual-route-to-modulation"/>
          <p:cNvCxnSpPr/>
          <p:nvPr/>
        </p:nvCxnSpPr>
        <p:spPr>
          <a:xfrm>
            <a:off x="6019800" y="1402080"/>
            <a:ext cx="1851659" cy="0"/>
          </a:xfrm>
          <a:prstGeom prst="line">
            <a:avLst/>
          </a:prstGeom>
          <a:ln w="16764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intra-visual-group-outline"/>
          <p:cNvSpPr/>
          <p:nvPr/>
        </p:nvSpPr>
        <p:spPr>
          <a:xfrm>
            <a:off x="5059680" y="1714500"/>
            <a:ext cx="525780" cy="220980"/>
          </a:xfrm>
          <a:prstGeom prst="rect">
            <a:avLst/>
          </a:prstGeom>
          <a:solidFill>
            <a:srgbClr val="FFFDF7"/>
          </a:solidFill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intra-visual-group-token-1"/>
          <p:cNvSpPr/>
          <p:nvPr/>
        </p:nvSpPr>
        <p:spPr>
          <a:xfrm>
            <a:off x="5105400" y="175260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ntra-visual-group-dots-1"/>
          <p:cNvSpPr txBox="1"/>
          <p:nvPr/>
        </p:nvSpPr>
        <p:spPr>
          <a:xfrm>
            <a:off x="5242560" y="174498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77" name="intra-visual-group-token-2"/>
          <p:cNvSpPr/>
          <p:nvPr/>
        </p:nvSpPr>
        <p:spPr>
          <a:xfrm>
            <a:off x="5417820" y="175260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ntra-language-group-outline"/>
          <p:cNvSpPr/>
          <p:nvPr/>
        </p:nvSpPr>
        <p:spPr>
          <a:xfrm>
            <a:off x="5753100" y="1714500"/>
            <a:ext cx="525780" cy="220980"/>
          </a:xfrm>
          <a:prstGeom prst="rect">
            <a:avLst/>
          </a:prstGeom>
          <a:solidFill>
            <a:srgbClr val="FFFDF7"/>
          </a:solidFill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intra-language-group-token-1"/>
          <p:cNvSpPr/>
          <p:nvPr/>
        </p:nvSpPr>
        <p:spPr>
          <a:xfrm>
            <a:off x="5798820" y="175260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intra-language-group-dots-1"/>
          <p:cNvSpPr txBox="1"/>
          <p:nvPr/>
        </p:nvSpPr>
        <p:spPr>
          <a:xfrm>
            <a:off x="5935980" y="174498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81" name="intra-language-group-token-2"/>
          <p:cNvSpPr/>
          <p:nvPr/>
        </p:nvSpPr>
        <p:spPr>
          <a:xfrm>
            <a:off x="6111240" y="175260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ntra-frame-group-outline"/>
          <p:cNvSpPr/>
          <p:nvPr/>
        </p:nvSpPr>
        <p:spPr>
          <a:xfrm>
            <a:off x="6469380" y="1714500"/>
            <a:ext cx="838200" cy="220980"/>
          </a:xfrm>
          <a:prstGeom prst="rect">
            <a:avLst/>
          </a:prstGeom>
          <a:solidFill>
            <a:srgbClr val="FFFDF7"/>
          </a:solidFill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intra-frame-group-token-1"/>
          <p:cNvSpPr/>
          <p:nvPr/>
        </p:nvSpPr>
        <p:spPr>
          <a:xfrm>
            <a:off x="6515100" y="175260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intra-frame-group-dots-1"/>
          <p:cNvSpPr txBox="1"/>
          <p:nvPr/>
        </p:nvSpPr>
        <p:spPr>
          <a:xfrm>
            <a:off x="6652260" y="174498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85" name="intra-frame-group-token-2"/>
          <p:cNvSpPr/>
          <p:nvPr/>
        </p:nvSpPr>
        <p:spPr>
          <a:xfrm>
            <a:off x="6827520" y="175260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ntra-frame-group-dots-2"/>
          <p:cNvSpPr txBox="1"/>
          <p:nvPr/>
        </p:nvSpPr>
        <p:spPr>
          <a:xfrm>
            <a:off x="6964680" y="1744980"/>
            <a:ext cx="17526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87" name="intra-frame-group-token-3"/>
          <p:cNvSpPr/>
          <p:nvPr/>
        </p:nvSpPr>
        <p:spPr>
          <a:xfrm>
            <a:off x="7139940" y="1752600"/>
            <a:ext cx="137160" cy="13716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intra-group-up-679"/>
          <p:cNvCxnSpPr/>
          <p:nvPr/>
        </p:nvCxnSpPr>
        <p:spPr>
          <a:xfrm flipV="1">
            <a:off x="5173980" y="1905000"/>
            <a:ext cx="0" cy="1752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intra-group-up-720"/>
          <p:cNvCxnSpPr/>
          <p:nvPr/>
        </p:nvCxnSpPr>
        <p:spPr>
          <a:xfrm flipV="1">
            <a:off x="5486400" y="1905000"/>
            <a:ext cx="0" cy="1752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intra-group-up-770"/>
          <p:cNvCxnSpPr/>
          <p:nvPr/>
        </p:nvCxnSpPr>
        <p:spPr>
          <a:xfrm flipV="1">
            <a:off x="5867400" y="1905000"/>
            <a:ext cx="0" cy="1752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intra-group-up-811"/>
          <p:cNvCxnSpPr/>
          <p:nvPr/>
        </p:nvCxnSpPr>
        <p:spPr>
          <a:xfrm flipV="1">
            <a:off x="6179820" y="1905000"/>
            <a:ext cx="0" cy="1752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intra-group-up-864"/>
          <p:cNvCxnSpPr/>
          <p:nvPr/>
        </p:nvCxnSpPr>
        <p:spPr>
          <a:xfrm flipV="1">
            <a:off x="6583680" y="1905000"/>
            <a:ext cx="0" cy="1752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intra-group-up-905"/>
          <p:cNvCxnSpPr/>
          <p:nvPr/>
        </p:nvCxnSpPr>
        <p:spPr>
          <a:xfrm flipV="1">
            <a:off x="6896100" y="1905000"/>
            <a:ext cx="0" cy="1752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intra-group-up-946"/>
          <p:cNvCxnSpPr/>
          <p:nvPr/>
        </p:nvCxnSpPr>
        <p:spPr>
          <a:xfrm flipV="1">
            <a:off x="7208520" y="1905000"/>
            <a:ext cx="0" cy="1752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multimodality-branch-shadow"/>
          <p:cNvSpPr/>
          <p:nvPr/>
        </p:nvSpPr>
        <p:spPr>
          <a:xfrm>
            <a:off x="5052060" y="2125980"/>
            <a:ext cx="2354580" cy="838200"/>
          </a:xfrm>
          <a:prstGeom prst="roundRect">
            <a:avLst>
              <a:gd name="adj" fmla="val 9090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multimodality-branch"/>
          <p:cNvSpPr/>
          <p:nvPr/>
        </p:nvSpPr>
        <p:spPr>
          <a:xfrm>
            <a:off x="5006340" y="2080260"/>
            <a:ext cx="2354580" cy="838200"/>
          </a:xfrm>
          <a:prstGeom prst="roundRect">
            <a:avLst>
              <a:gd name="adj" fmla="val 9090"/>
            </a:avLst>
          </a:prstGeom>
          <a:solidFill>
            <a:srgbClr val="E8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multimodality-title"/>
          <p:cNvSpPr txBox="1"/>
          <p:nvPr/>
        </p:nvSpPr>
        <p:spPr>
          <a:xfrm>
            <a:off x="5074920" y="2148840"/>
            <a:ext cx="2209800" cy="6934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000000"/>
                </a:solidFill>
                <a:latin typeface="Liberation Serif"/>
              </a:defRPr>
            </a:pPr>
            <a:r>
              <a:t>Intra-scale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000000"/>
                </a:solidFill>
                <a:latin typeface="Liberation Serif"/>
              </a:defRPr>
            </a:pPr>
            <a:r>
              <a:t>Multi-modality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20" b="1" i="0">
                <a:solidFill>
                  <a:srgbClr val="000000"/>
                </a:solidFill>
                <a:latin typeface="Liberation Serif"/>
              </a:defRPr>
            </a:pPr>
            <a:r>
              <a:t>Interaction Branch</a:t>
            </a:r>
          </a:p>
        </p:txBody>
      </p:sp>
      <p:sp>
        <p:nvSpPr>
          <p:cNvPr id="98" name="intra-input-token-1"/>
          <p:cNvSpPr/>
          <p:nvPr/>
        </p:nvSpPr>
        <p:spPr>
          <a:xfrm>
            <a:off x="5067300" y="310896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intra-input-token-2"/>
          <p:cNvSpPr/>
          <p:nvPr/>
        </p:nvSpPr>
        <p:spPr>
          <a:xfrm>
            <a:off x="5417820" y="310896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intra-input-token-3"/>
          <p:cNvSpPr/>
          <p:nvPr/>
        </p:nvSpPr>
        <p:spPr>
          <a:xfrm>
            <a:off x="5753100" y="310896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intra-input-token-4"/>
          <p:cNvSpPr/>
          <p:nvPr/>
        </p:nvSpPr>
        <p:spPr>
          <a:xfrm>
            <a:off x="6118860" y="310896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intra-input-token-5"/>
          <p:cNvSpPr/>
          <p:nvPr/>
        </p:nvSpPr>
        <p:spPr>
          <a:xfrm>
            <a:off x="6477000" y="310896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intra-input-token-6"/>
          <p:cNvSpPr/>
          <p:nvPr/>
        </p:nvSpPr>
        <p:spPr>
          <a:xfrm>
            <a:off x="6850380" y="310896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intra-input-token-7"/>
          <p:cNvSpPr/>
          <p:nvPr/>
        </p:nvSpPr>
        <p:spPr>
          <a:xfrm>
            <a:off x="7200900" y="310896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intra-input-arrow-673"/>
          <p:cNvCxnSpPr/>
          <p:nvPr/>
        </p:nvCxnSpPr>
        <p:spPr>
          <a:xfrm flipV="1">
            <a:off x="5128260" y="29184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intra-input-arrow-719"/>
          <p:cNvCxnSpPr/>
          <p:nvPr/>
        </p:nvCxnSpPr>
        <p:spPr>
          <a:xfrm flipV="1">
            <a:off x="5478780" y="29184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intra-input-arrow-763"/>
          <p:cNvCxnSpPr/>
          <p:nvPr/>
        </p:nvCxnSpPr>
        <p:spPr>
          <a:xfrm flipV="1">
            <a:off x="5814060" y="29184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intra-input-arrow-811"/>
          <p:cNvCxnSpPr/>
          <p:nvPr/>
        </p:nvCxnSpPr>
        <p:spPr>
          <a:xfrm flipV="1">
            <a:off x="6179820" y="29184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intra-input-arrow-858"/>
          <p:cNvCxnSpPr/>
          <p:nvPr/>
        </p:nvCxnSpPr>
        <p:spPr>
          <a:xfrm flipV="1">
            <a:off x="6537960" y="29184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intra-input-arrow-907"/>
          <p:cNvCxnSpPr/>
          <p:nvPr/>
        </p:nvCxnSpPr>
        <p:spPr>
          <a:xfrm flipV="1">
            <a:off x="6911340" y="29184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intra-input-arrow-953"/>
          <p:cNvCxnSpPr/>
          <p:nvPr/>
        </p:nvCxnSpPr>
        <p:spPr>
          <a:xfrm flipV="1">
            <a:off x="7261860" y="29184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intra-input-blue-dots"/>
          <p:cNvSpPr txBox="1"/>
          <p:nvPr/>
        </p:nvSpPr>
        <p:spPr>
          <a:xfrm>
            <a:off x="5189220" y="3101340"/>
            <a:ext cx="19050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13" name="intra-input-green-dots"/>
          <p:cNvSpPr txBox="1"/>
          <p:nvPr/>
        </p:nvSpPr>
        <p:spPr>
          <a:xfrm>
            <a:off x="5897880" y="3101340"/>
            <a:ext cx="19050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14" name="intra-input-red-dots"/>
          <p:cNvSpPr txBox="1"/>
          <p:nvPr/>
        </p:nvSpPr>
        <p:spPr>
          <a:xfrm>
            <a:off x="6995160" y="3101340"/>
            <a:ext cx="17526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cxnSp>
        <p:nvCxnSpPr>
          <p:cNvPr id="115" name="multimodality-to-query-generator-segment-1"/>
          <p:cNvCxnSpPr/>
          <p:nvPr/>
        </p:nvCxnSpPr>
        <p:spPr>
          <a:xfrm>
            <a:off x="7239000" y="1813560"/>
            <a:ext cx="23622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multimodality-to-query-generator-segment-2"/>
          <p:cNvCxnSpPr/>
          <p:nvPr/>
        </p:nvCxnSpPr>
        <p:spPr>
          <a:xfrm>
            <a:off x="7475220" y="1813560"/>
            <a:ext cx="0" cy="68580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multimodality-to-query-generator"/>
          <p:cNvCxnSpPr/>
          <p:nvPr/>
        </p:nvCxnSpPr>
        <p:spPr>
          <a:xfrm>
            <a:off x="7475220" y="2499360"/>
            <a:ext cx="396239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language-modulation-shadow"/>
          <p:cNvSpPr/>
          <p:nvPr/>
        </p:nvSpPr>
        <p:spPr>
          <a:xfrm>
            <a:off x="7924799" y="480060"/>
            <a:ext cx="1249680" cy="1059180"/>
          </a:xfrm>
          <a:prstGeom prst="roundRect">
            <a:avLst>
              <a:gd name="adj" fmla="val 8633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language-modulation"/>
          <p:cNvSpPr/>
          <p:nvPr/>
        </p:nvSpPr>
        <p:spPr>
          <a:xfrm>
            <a:off x="7879080" y="434340"/>
            <a:ext cx="1249680" cy="1059180"/>
          </a:xfrm>
          <a:prstGeom prst="roundRect">
            <a:avLst>
              <a:gd name="adj" fmla="val 8633"/>
            </a:avLst>
          </a:prstGeom>
          <a:solidFill>
            <a:srgbClr val="D0E4DB"/>
          </a:solidFill>
          <a:ln w="9906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language-modulation-title"/>
          <p:cNvSpPr txBox="1"/>
          <p:nvPr/>
        </p:nvSpPr>
        <p:spPr>
          <a:xfrm>
            <a:off x="7947660" y="601980"/>
            <a:ext cx="1112520" cy="723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739" b="1" i="0">
                <a:solidFill>
                  <a:srgbClr val="000000"/>
                </a:solidFill>
                <a:latin typeface="Liberation Serif"/>
              </a:defRPr>
            </a:pPr>
            <a:r>
              <a:t>Multilevel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739" b="1" i="0">
                <a:solidFill>
                  <a:srgbClr val="000000"/>
                </a:solidFill>
                <a:latin typeface="Liberation Serif"/>
              </a:defRPr>
            </a:pPr>
            <a:r>
              <a:t>Language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739" b="1" i="0">
                <a:solidFill>
                  <a:srgbClr val="000000"/>
                </a:solidFill>
                <a:latin typeface="Liberation Serif"/>
              </a:defRPr>
            </a:pPr>
            <a:r>
              <a:t>Modulation</a:t>
            </a:r>
          </a:p>
        </p:txBody>
      </p:sp>
      <p:sp>
        <p:nvSpPr>
          <p:cNvPr id="121" name="query-position-generator-shadow"/>
          <p:cNvSpPr/>
          <p:nvPr/>
        </p:nvSpPr>
        <p:spPr>
          <a:xfrm>
            <a:off x="7924799" y="2080260"/>
            <a:ext cx="1249680" cy="937259"/>
          </a:xfrm>
          <a:prstGeom prst="roundRect">
            <a:avLst>
              <a:gd name="adj" fmla="val 8943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query-position-generator"/>
          <p:cNvSpPr/>
          <p:nvPr/>
        </p:nvSpPr>
        <p:spPr>
          <a:xfrm>
            <a:off x="7879080" y="2034540"/>
            <a:ext cx="1249680" cy="937259"/>
          </a:xfrm>
          <a:prstGeom prst="roundRect">
            <a:avLst>
              <a:gd name="adj" fmla="val 8943"/>
            </a:avLst>
          </a:prstGeom>
          <a:solidFill>
            <a:srgbClr val="F8C59A"/>
          </a:solidFill>
          <a:ln w="9906">
            <a:solidFill>
              <a:srgbClr val="C3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query-generator-title"/>
          <p:cNvSpPr txBox="1"/>
          <p:nvPr/>
        </p:nvSpPr>
        <p:spPr>
          <a:xfrm>
            <a:off x="7924799" y="2133600"/>
            <a:ext cx="1150620" cy="716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Query and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Position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Generator</a:t>
            </a:r>
          </a:p>
        </p:txBody>
      </p:sp>
      <p:sp>
        <p:nvSpPr>
          <p:cNvPr id="124" name="high-level-label"/>
          <p:cNvSpPr txBox="1"/>
          <p:nvPr/>
        </p:nvSpPr>
        <p:spPr>
          <a:xfrm>
            <a:off x="9997440" y="243840"/>
            <a:ext cx="792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0000"/>
                </a:solidFill>
                <a:latin typeface="Liberation Serif"/>
              </a:defRPr>
            </a:pPr>
            <a:r>
              <a:t>high-level</a:t>
            </a:r>
          </a:p>
        </p:txBody>
      </p:sp>
      <p:sp>
        <p:nvSpPr>
          <p:cNvPr id="125" name="high-level-green-1"/>
          <p:cNvSpPr/>
          <p:nvPr/>
        </p:nvSpPr>
        <p:spPr>
          <a:xfrm>
            <a:off x="10104120" y="495299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C4D59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high-level-green-dots"/>
          <p:cNvSpPr txBox="1"/>
          <p:nvPr/>
        </p:nvSpPr>
        <p:spPr>
          <a:xfrm>
            <a:off x="10233660" y="495299"/>
            <a:ext cx="21336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27" name="high-level-green-2"/>
          <p:cNvSpPr/>
          <p:nvPr/>
        </p:nvSpPr>
        <p:spPr>
          <a:xfrm>
            <a:off x="10454640" y="495299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C4D59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high-level-blue-1"/>
          <p:cNvSpPr/>
          <p:nvPr/>
        </p:nvSpPr>
        <p:spPr>
          <a:xfrm>
            <a:off x="10104120" y="70104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high-level-blue-dots"/>
          <p:cNvSpPr txBox="1"/>
          <p:nvPr/>
        </p:nvSpPr>
        <p:spPr>
          <a:xfrm>
            <a:off x="10233660" y="701040"/>
            <a:ext cx="21336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30" name="high-level-blue-2"/>
          <p:cNvSpPr/>
          <p:nvPr/>
        </p:nvSpPr>
        <p:spPr>
          <a:xfrm>
            <a:off x="10454640" y="70104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mid-level-label"/>
          <p:cNvSpPr txBox="1"/>
          <p:nvPr/>
        </p:nvSpPr>
        <p:spPr>
          <a:xfrm>
            <a:off x="10759440" y="243840"/>
            <a:ext cx="792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0000"/>
                </a:solidFill>
                <a:latin typeface="Liberation Serif"/>
              </a:defRPr>
            </a:pPr>
            <a:r>
              <a:t>mid-level</a:t>
            </a:r>
          </a:p>
        </p:txBody>
      </p:sp>
      <p:sp>
        <p:nvSpPr>
          <p:cNvPr id="132" name="mid-level-green-1"/>
          <p:cNvSpPr/>
          <p:nvPr/>
        </p:nvSpPr>
        <p:spPr>
          <a:xfrm>
            <a:off x="10866120" y="495299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C4D59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mid-level-green-dots"/>
          <p:cNvSpPr txBox="1"/>
          <p:nvPr/>
        </p:nvSpPr>
        <p:spPr>
          <a:xfrm>
            <a:off x="10995660" y="495299"/>
            <a:ext cx="21336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34" name="mid-level-green-2"/>
          <p:cNvSpPr/>
          <p:nvPr/>
        </p:nvSpPr>
        <p:spPr>
          <a:xfrm>
            <a:off x="11216640" y="495299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C4D59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mid-level-blue-1"/>
          <p:cNvSpPr/>
          <p:nvPr/>
        </p:nvSpPr>
        <p:spPr>
          <a:xfrm>
            <a:off x="10866120" y="70104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mid-level-blue-dots"/>
          <p:cNvSpPr txBox="1"/>
          <p:nvPr/>
        </p:nvSpPr>
        <p:spPr>
          <a:xfrm>
            <a:off x="10995660" y="701040"/>
            <a:ext cx="21336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37" name="mid-level-blue-2"/>
          <p:cNvSpPr/>
          <p:nvPr/>
        </p:nvSpPr>
        <p:spPr>
          <a:xfrm>
            <a:off x="11216640" y="70104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low-level-label"/>
          <p:cNvSpPr txBox="1"/>
          <p:nvPr/>
        </p:nvSpPr>
        <p:spPr>
          <a:xfrm>
            <a:off x="11513820" y="243840"/>
            <a:ext cx="792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0000"/>
                </a:solidFill>
                <a:latin typeface="Liberation Serif"/>
              </a:defRPr>
            </a:pPr>
            <a:r>
              <a:t>low-level</a:t>
            </a:r>
          </a:p>
        </p:txBody>
      </p:sp>
      <p:sp>
        <p:nvSpPr>
          <p:cNvPr id="139" name="low-level-green-1"/>
          <p:cNvSpPr/>
          <p:nvPr/>
        </p:nvSpPr>
        <p:spPr>
          <a:xfrm>
            <a:off x="11620500" y="495299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C4D59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low-level-green-dots"/>
          <p:cNvSpPr txBox="1"/>
          <p:nvPr/>
        </p:nvSpPr>
        <p:spPr>
          <a:xfrm>
            <a:off x="11750040" y="495299"/>
            <a:ext cx="21336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41" name="low-level-green-2"/>
          <p:cNvSpPr/>
          <p:nvPr/>
        </p:nvSpPr>
        <p:spPr>
          <a:xfrm>
            <a:off x="11971020" y="495299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C4D59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low-level-blue-1"/>
          <p:cNvSpPr/>
          <p:nvPr/>
        </p:nvSpPr>
        <p:spPr>
          <a:xfrm>
            <a:off x="11620500" y="70104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low-level-blue-dots"/>
          <p:cNvSpPr txBox="1"/>
          <p:nvPr/>
        </p:nvSpPr>
        <p:spPr>
          <a:xfrm>
            <a:off x="11750040" y="701040"/>
            <a:ext cx="213360" cy="121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44" name="low-level-blue-2"/>
          <p:cNvSpPr/>
          <p:nvPr/>
        </p:nvSpPr>
        <p:spPr>
          <a:xfrm>
            <a:off x="11971020" y="701040"/>
            <a:ext cx="121920" cy="1219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modulation-to-levels-segment-1"/>
          <p:cNvCxnSpPr/>
          <p:nvPr/>
        </p:nvCxnSpPr>
        <p:spPr>
          <a:xfrm>
            <a:off x="9128760" y="960120"/>
            <a:ext cx="373380" cy="0"/>
          </a:xfrm>
          <a:prstGeom prst="line">
            <a:avLst/>
          </a:prstGeom>
          <a:ln w="1600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modulation-to-levels-segment-2"/>
          <p:cNvCxnSpPr/>
          <p:nvPr/>
        </p:nvCxnSpPr>
        <p:spPr>
          <a:xfrm flipV="1">
            <a:off x="9502140" y="556260"/>
            <a:ext cx="0" cy="403860"/>
          </a:xfrm>
          <a:prstGeom prst="line">
            <a:avLst/>
          </a:prstGeom>
          <a:ln w="1600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modulation-to-levels"/>
          <p:cNvCxnSpPr/>
          <p:nvPr/>
        </p:nvCxnSpPr>
        <p:spPr>
          <a:xfrm>
            <a:off x="9502140" y="556260"/>
            <a:ext cx="571500" cy="0"/>
          </a:xfrm>
          <a:prstGeom prst="line">
            <a:avLst/>
          </a:prstGeom>
          <a:ln w="16002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progressive-decoder-enclosure"/>
          <p:cNvSpPr/>
          <p:nvPr/>
        </p:nvSpPr>
        <p:spPr>
          <a:xfrm>
            <a:off x="9944100" y="990599"/>
            <a:ext cx="230886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3716">
            <a:solidFill>
              <a:srgbClr val="7F2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decoder-stage-1-shadow"/>
          <p:cNvSpPr/>
          <p:nvPr/>
        </p:nvSpPr>
        <p:spPr>
          <a:xfrm>
            <a:off x="10134600" y="1173480"/>
            <a:ext cx="518160" cy="1257300"/>
          </a:xfrm>
          <a:prstGeom prst="roundRect">
            <a:avLst>
              <a:gd name="adj" fmla="val 13235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decoder-stage-1"/>
          <p:cNvSpPr/>
          <p:nvPr/>
        </p:nvSpPr>
        <p:spPr>
          <a:xfrm>
            <a:off x="10088880" y="1127760"/>
            <a:ext cx="518160" cy="1257300"/>
          </a:xfrm>
          <a:prstGeom prst="roundRect">
            <a:avLst>
              <a:gd name="adj" fmla="val 13235"/>
            </a:avLst>
          </a:prstGeom>
          <a:solidFill>
            <a:srgbClr val="EEDCF6"/>
          </a:solidFill>
          <a:ln w="9144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decoder-stage-1-text"/>
          <p:cNvSpPr txBox="1"/>
          <p:nvPr/>
        </p:nvSpPr>
        <p:spPr>
          <a:xfrm rot="5400000">
            <a:off x="9753600" y="1562100"/>
            <a:ext cx="1188720" cy="3962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High-level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Decoder</a:t>
            </a:r>
          </a:p>
        </p:txBody>
      </p:sp>
      <p:sp>
        <p:nvSpPr>
          <p:cNvPr id="152" name="decoder-stage-2-shadow"/>
          <p:cNvSpPr/>
          <p:nvPr/>
        </p:nvSpPr>
        <p:spPr>
          <a:xfrm>
            <a:off x="10896600" y="1173480"/>
            <a:ext cx="518160" cy="1257300"/>
          </a:xfrm>
          <a:prstGeom prst="roundRect">
            <a:avLst>
              <a:gd name="adj" fmla="val 13235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decoder-stage-2"/>
          <p:cNvSpPr/>
          <p:nvPr/>
        </p:nvSpPr>
        <p:spPr>
          <a:xfrm>
            <a:off x="10850880" y="1127760"/>
            <a:ext cx="518160" cy="1257300"/>
          </a:xfrm>
          <a:prstGeom prst="roundRect">
            <a:avLst>
              <a:gd name="adj" fmla="val 13235"/>
            </a:avLst>
          </a:prstGeom>
          <a:solidFill>
            <a:srgbClr val="EEDCF6"/>
          </a:solidFill>
          <a:ln w="9144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decoder-stage-2-text"/>
          <p:cNvSpPr txBox="1"/>
          <p:nvPr/>
        </p:nvSpPr>
        <p:spPr>
          <a:xfrm rot="5400000">
            <a:off x="10515600" y="1562100"/>
            <a:ext cx="1188720" cy="3962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Mid-level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Decoder</a:t>
            </a:r>
          </a:p>
        </p:txBody>
      </p:sp>
      <p:sp>
        <p:nvSpPr>
          <p:cNvPr id="155" name="decoder-stage-3-shadow"/>
          <p:cNvSpPr/>
          <p:nvPr/>
        </p:nvSpPr>
        <p:spPr>
          <a:xfrm>
            <a:off x="11650980" y="1173480"/>
            <a:ext cx="518160" cy="1257300"/>
          </a:xfrm>
          <a:prstGeom prst="roundRect">
            <a:avLst>
              <a:gd name="adj" fmla="val 13235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decoder-stage-3"/>
          <p:cNvSpPr/>
          <p:nvPr/>
        </p:nvSpPr>
        <p:spPr>
          <a:xfrm>
            <a:off x="11605260" y="1127760"/>
            <a:ext cx="518160" cy="1257300"/>
          </a:xfrm>
          <a:prstGeom prst="roundRect">
            <a:avLst>
              <a:gd name="adj" fmla="val 13235"/>
            </a:avLst>
          </a:prstGeom>
          <a:solidFill>
            <a:srgbClr val="EEDCF6"/>
          </a:solidFill>
          <a:ln w="9144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decoder-stage-3-text"/>
          <p:cNvSpPr txBox="1"/>
          <p:nvPr/>
        </p:nvSpPr>
        <p:spPr>
          <a:xfrm rot="5400000">
            <a:off x="11269980" y="1562100"/>
            <a:ext cx="1188720" cy="3962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Low-level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Decoder</a:t>
            </a:r>
          </a:p>
        </p:txBody>
      </p:sp>
      <p:cxnSp>
        <p:nvCxnSpPr>
          <p:cNvPr id="158" name="level-to-decoder-1358"/>
          <p:cNvCxnSpPr/>
          <p:nvPr/>
        </p:nvCxnSpPr>
        <p:spPr>
          <a:xfrm>
            <a:off x="10347960" y="830580"/>
            <a:ext cx="0" cy="28194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level-to-decoder-1458"/>
          <p:cNvCxnSpPr/>
          <p:nvPr/>
        </p:nvCxnSpPr>
        <p:spPr>
          <a:xfrm>
            <a:off x="11109960" y="830580"/>
            <a:ext cx="0" cy="28194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level-to-decoder-1557"/>
          <p:cNvCxnSpPr/>
          <p:nvPr/>
        </p:nvCxnSpPr>
        <p:spPr>
          <a:xfrm>
            <a:off x="11864340" y="830580"/>
            <a:ext cx="0" cy="28194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decoder-1-to-2"/>
          <p:cNvCxnSpPr/>
          <p:nvPr/>
        </p:nvCxnSpPr>
        <p:spPr>
          <a:xfrm>
            <a:off x="10607040" y="1760220"/>
            <a:ext cx="24384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decoder-2-to-3"/>
          <p:cNvCxnSpPr/>
          <p:nvPr/>
        </p:nvCxnSpPr>
        <p:spPr>
          <a:xfrm>
            <a:off x="11369040" y="1760220"/>
            <a:ext cx="23622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progressive-decoder-title"/>
          <p:cNvSpPr txBox="1"/>
          <p:nvPr/>
        </p:nvSpPr>
        <p:spPr>
          <a:xfrm>
            <a:off x="9974580" y="2560320"/>
            <a:ext cx="232410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Multilevel Progressive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680" b="1" i="0">
                <a:solidFill>
                  <a:srgbClr val="000000"/>
                </a:solidFill>
                <a:latin typeface="Liberation Serif"/>
              </a:defRPr>
            </a:pPr>
            <a:r>
              <a:t>Spatial Decoder</a:t>
            </a:r>
          </a:p>
        </p:txBody>
      </p:sp>
      <p:sp>
        <p:nvSpPr>
          <p:cNvPr id="164" name="object-query-token-1"/>
          <p:cNvSpPr/>
          <p:nvPr/>
        </p:nvSpPr>
        <p:spPr>
          <a:xfrm>
            <a:off x="9509760" y="109728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F8C59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bject-query-token-2"/>
          <p:cNvSpPr/>
          <p:nvPr/>
        </p:nvSpPr>
        <p:spPr>
          <a:xfrm>
            <a:off x="9509760" y="147066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F8C59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bject-query-token-3"/>
          <p:cNvSpPr/>
          <p:nvPr/>
        </p:nvSpPr>
        <p:spPr>
          <a:xfrm>
            <a:off x="9509760" y="1874519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F8C59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bject-query-token-4"/>
          <p:cNvSpPr/>
          <p:nvPr/>
        </p:nvSpPr>
        <p:spPr>
          <a:xfrm>
            <a:off x="9509760" y="22479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F8C59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bject-query-dots"/>
          <p:cNvSpPr txBox="1"/>
          <p:nvPr/>
        </p:nvSpPr>
        <p:spPr>
          <a:xfrm>
            <a:off x="9471660" y="16535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DejaVu Sans"/>
              </a:defRPr>
            </a:pPr>
            <a:r>
              <a:t>⋮</a:t>
            </a:r>
          </a:p>
        </p:txBody>
      </p:sp>
      <p:cxnSp>
        <p:nvCxnSpPr>
          <p:cNvPr id="169" name="generator-to-object-query-segment-1"/>
          <p:cNvCxnSpPr/>
          <p:nvPr/>
        </p:nvCxnSpPr>
        <p:spPr>
          <a:xfrm>
            <a:off x="9128760" y="2499360"/>
            <a:ext cx="144780" cy="0"/>
          </a:xfrm>
          <a:prstGeom prst="line">
            <a:avLst/>
          </a:prstGeom>
          <a:ln w="1676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generator-to-object-query-segment-2"/>
          <p:cNvCxnSpPr/>
          <p:nvPr/>
        </p:nvCxnSpPr>
        <p:spPr>
          <a:xfrm flipV="1">
            <a:off x="9273540" y="1760220"/>
            <a:ext cx="0" cy="739140"/>
          </a:xfrm>
          <a:prstGeom prst="line">
            <a:avLst/>
          </a:prstGeom>
          <a:ln w="1676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generator-to-object-query"/>
          <p:cNvCxnSpPr/>
          <p:nvPr/>
        </p:nvCxnSpPr>
        <p:spPr>
          <a:xfrm>
            <a:off x="9273540" y="1760220"/>
            <a:ext cx="190500" cy="0"/>
          </a:xfrm>
          <a:prstGeom prst="line">
            <a:avLst/>
          </a:prstGeom>
          <a:ln w="16764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object-query-to-decoder"/>
          <p:cNvCxnSpPr/>
          <p:nvPr/>
        </p:nvCxnSpPr>
        <p:spPr>
          <a:xfrm>
            <a:off x="9692640" y="1760220"/>
            <a:ext cx="381000" cy="0"/>
          </a:xfrm>
          <a:prstGeom prst="line">
            <a:avLst/>
          </a:prstGeom>
          <a:ln w="16002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bject-query-label"/>
          <p:cNvSpPr txBox="1"/>
          <p:nvPr/>
        </p:nvSpPr>
        <p:spPr>
          <a:xfrm>
            <a:off x="9296400" y="2560320"/>
            <a:ext cx="716280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0" i="0">
                <a:solidFill>
                  <a:srgbClr val="000000"/>
                </a:solidFill>
                <a:latin typeface="Liberation Serif"/>
              </a:defRPr>
            </a:pPr>
            <a:r>
              <a:t>Object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0" i="0">
                <a:solidFill>
                  <a:srgbClr val="000000"/>
                </a:solidFill>
                <a:latin typeface="Liberation Serif"/>
              </a:defRPr>
            </a:pPr>
            <a:r>
              <a:t>query</a:t>
            </a:r>
          </a:p>
        </p:txBody>
      </p:sp>
      <p:sp>
        <p:nvSpPr>
          <p:cNvPr id="174" name="predicted-tube-title"/>
          <p:cNvSpPr txBox="1"/>
          <p:nvPr/>
        </p:nvSpPr>
        <p:spPr>
          <a:xfrm>
            <a:off x="12420600" y="152400"/>
            <a:ext cx="134112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Predicted Tube</a:t>
            </a:r>
          </a:p>
        </p:txBody>
      </p:sp>
      <p:sp>
        <p:nvSpPr>
          <p:cNvPr id="175" name="predicted-tube-filmstrip"/>
          <p:cNvSpPr/>
          <p:nvPr/>
        </p:nvSpPr>
        <p:spPr>
          <a:xfrm>
            <a:off x="12473940" y="381000"/>
            <a:ext cx="1280160" cy="2712720"/>
          </a:xfrm>
          <a:prstGeom prst="rect">
            <a:avLst/>
          </a:prstGeom>
          <a:solidFill>
            <a:srgbClr val="303030"/>
          </a:solidFill>
          <a:ln w="1142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tube-frame-1" descr="aerial-tu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2520" y="403860"/>
            <a:ext cx="1143000" cy="716280"/>
          </a:xfrm>
          <a:prstGeom prst="rect">
            <a:avLst/>
          </a:prstGeom>
        </p:spPr>
      </p:pic>
      <p:sp>
        <p:nvSpPr>
          <p:cNvPr id="177" name="tube-frame-1-border"/>
          <p:cNvSpPr/>
          <p:nvPr/>
        </p:nvSpPr>
        <p:spPr>
          <a:xfrm>
            <a:off x="12542520" y="403860"/>
            <a:ext cx="1143000" cy="716280"/>
          </a:xfrm>
          <a:prstGeom prst="rect">
            <a:avLst/>
          </a:prstGeom>
          <a:noFill/>
          <a:ln w="7620">
            <a:solidFill>
              <a:srgbClr val="95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tube-frame-2" descr="aerial-tu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2520" y="1524000"/>
            <a:ext cx="1143000" cy="716280"/>
          </a:xfrm>
          <a:prstGeom prst="rect">
            <a:avLst/>
          </a:prstGeom>
        </p:spPr>
      </p:pic>
      <p:sp>
        <p:nvSpPr>
          <p:cNvPr id="179" name="tube-frame-2-border"/>
          <p:cNvSpPr/>
          <p:nvPr/>
        </p:nvSpPr>
        <p:spPr>
          <a:xfrm>
            <a:off x="12542520" y="1524000"/>
            <a:ext cx="1143000" cy="716280"/>
          </a:xfrm>
          <a:prstGeom prst="rect">
            <a:avLst/>
          </a:prstGeom>
          <a:noFill/>
          <a:ln w="7620">
            <a:solidFill>
              <a:srgbClr val="95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tube-frame-3" descr="aerial-tu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2520" y="2377440"/>
            <a:ext cx="1143000" cy="716280"/>
          </a:xfrm>
          <a:prstGeom prst="rect">
            <a:avLst/>
          </a:prstGeom>
        </p:spPr>
      </p:pic>
      <p:sp>
        <p:nvSpPr>
          <p:cNvPr id="181" name="tube-frame-3-border"/>
          <p:cNvSpPr/>
          <p:nvPr/>
        </p:nvSpPr>
        <p:spPr>
          <a:xfrm>
            <a:off x="12542520" y="2377440"/>
            <a:ext cx="1143000" cy="716280"/>
          </a:xfrm>
          <a:prstGeom prst="rect">
            <a:avLst/>
          </a:prstGeom>
          <a:noFill/>
          <a:ln w="7620">
            <a:solidFill>
              <a:srgbClr val="95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ube-gap-151"/>
          <p:cNvSpPr/>
          <p:nvPr/>
        </p:nvSpPr>
        <p:spPr>
          <a:xfrm>
            <a:off x="12542520" y="1150620"/>
            <a:ext cx="1143000" cy="243840"/>
          </a:xfrm>
          <a:prstGeom prst="rect">
            <a:avLst/>
          </a:prstGeom>
          <a:solidFill>
            <a:srgbClr val="FFFFFF"/>
          </a:solidFill>
          <a:ln w="5334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ube-gap-dots-151"/>
          <p:cNvSpPr txBox="1"/>
          <p:nvPr/>
        </p:nvSpPr>
        <p:spPr>
          <a:xfrm>
            <a:off x="12931140" y="1165860"/>
            <a:ext cx="365760" cy="167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84" name="tube-gap-175"/>
          <p:cNvSpPr/>
          <p:nvPr/>
        </p:nvSpPr>
        <p:spPr>
          <a:xfrm>
            <a:off x="12542520" y="1333500"/>
            <a:ext cx="1143000" cy="243840"/>
          </a:xfrm>
          <a:prstGeom prst="rect">
            <a:avLst/>
          </a:prstGeom>
          <a:solidFill>
            <a:srgbClr val="FFFFFF"/>
          </a:solidFill>
          <a:ln w="5334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ube-gap-dots-175"/>
          <p:cNvSpPr txBox="1"/>
          <p:nvPr/>
        </p:nvSpPr>
        <p:spPr>
          <a:xfrm>
            <a:off x="12931140" y="1348740"/>
            <a:ext cx="365760" cy="167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86" name="tube-gap-285"/>
          <p:cNvSpPr/>
          <p:nvPr/>
        </p:nvSpPr>
        <p:spPr>
          <a:xfrm>
            <a:off x="12542520" y="2171700"/>
            <a:ext cx="1143000" cy="205740"/>
          </a:xfrm>
          <a:prstGeom prst="rect">
            <a:avLst/>
          </a:prstGeom>
          <a:solidFill>
            <a:srgbClr val="FFFFFF"/>
          </a:solidFill>
          <a:ln w="5334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ube-gap-dots-285"/>
          <p:cNvSpPr txBox="1"/>
          <p:nvPr/>
        </p:nvSpPr>
        <p:spPr>
          <a:xfrm>
            <a:off x="12931140" y="2186940"/>
            <a:ext cx="365760" cy="167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188" name="film-left-hole-55"/>
          <p:cNvSpPr/>
          <p:nvPr/>
        </p:nvSpPr>
        <p:spPr>
          <a:xfrm>
            <a:off x="12489180" y="4191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ilm-right-hole-55"/>
          <p:cNvSpPr/>
          <p:nvPr/>
        </p:nvSpPr>
        <p:spPr>
          <a:xfrm>
            <a:off x="13700760" y="4191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ilm-left-hole-71"/>
          <p:cNvSpPr/>
          <p:nvPr/>
        </p:nvSpPr>
        <p:spPr>
          <a:xfrm>
            <a:off x="12489180" y="5410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ilm-right-hole-71"/>
          <p:cNvSpPr/>
          <p:nvPr/>
        </p:nvSpPr>
        <p:spPr>
          <a:xfrm>
            <a:off x="13700760" y="5410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ilm-left-hole-87"/>
          <p:cNvSpPr/>
          <p:nvPr/>
        </p:nvSpPr>
        <p:spPr>
          <a:xfrm>
            <a:off x="12489180" y="66294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ilm-right-hole-87"/>
          <p:cNvSpPr/>
          <p:nvPr/>
        </p:nvSpPr>
        <p:spPr>
          <a:xfrm>
            <a:off x="13700760" y="66294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ilm-left-hole-103"/>
          <p:cNvSpPr/>
          <p:nvPr/>
        </p:nvSpPr>
        <p:spPr>
          <a:xfrm>
            <a:off x="12489180" y="78486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ilm-right-hole-103"/>
          <p:cNvSpPr/>
          <p:nvPr/>
        </p:nvSpPr>
        <p:spPr>
          <a:xfrm>
            <a:off x="13700760" y="78486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ilm-left-hole-119"/>
          <p:cNvSpPr/>
          <p:nvPr/>
        </p:nvSpPr>
        <p:spPr>
          <a:xfrm>
            <a:off x="12489180" y="90678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ilm-right-hole-119"/>
          <p:cNvSpPr/>
          <p:nvPr/>
        </p:nvSpPr>
        <p:spPr>
          <a:xfrm>
            <a:off x="13700760" y="90678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ilm-left-hole-135"/>
          <p:cNvSpPr/>
          <p:nvPr/>
        </p:nvSpPr>
        <p:spPr>
          <a:xfrm>
            <a:off x="12489180" y="10287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ilm-right-hole-135"/>
          <p:cNvSpPr/>
          <p:nvPr/>
        </p:nvSpPr>
        <p:spPr>
          <a:xfrm>
            <a:off x="13700760" y="10287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ilm-left-hole-151"/>
          <p:cNvSpPr/>
          <p:nvPr/>
        </p:nvSpPr>
        <p:spPr>
          <a:xfrm>
            <a:off x="12489180" y="11506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ilm-right-hole-151"/>
          <p:cNvSpPr/>
          <p:nvPr/>
        </p:nvSpPr>
        <p:spPr>
          <a:xfrm>
            <a:off x="13700760" y="11506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ilm-left-hole-167"/>
          <p:cNvSpPr/>
          <p:nvPr/>
        </p:nvSpPr>
        <p:spPr>
          <a:xfrm>
            <a:off x="12489180" y="127254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ilm-right-hole-167"/>
          <p:cNvSpPr/>
          <p:nvPr/>
        </p:nvSpPr>
        <p:spPr>
          <a:xfrm>
            <a:off x="13700760" y="127254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ilm-left-hole-183"/>
          <p:cNvSpPr/>
          <p:nvPr/>
        </p:nvSpPr>
        <p:spPr>
          <a:xfrm>
            <a:off x="12489180" y="139446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ilm-right-hole-183"/>
          <p:cNvSpPr/>
          <p:nvPr/>
        </p:nvSpPr>
        <p:spPr>
          <a:xfrm>
            <a:off x="13700760" y="139446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ilm-left-hole-199"/>
          <p:cNvSpPr/>
          <p:nvPr/>
        </p:nvSpPr>
        <p:spPr>
          <a:xfrm>
            <a:off x="12489180" y="151638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ilm-right-hole-199"/>
          <p:cNvSpPr/>
          <p:nvPr/>
        </p:nvSpPr>
        <p:spPr>
          <a:xfrm>
            <a:off x="13700760" y="151638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ilm-left-hole-215"/>
          <p:cNvSpPr/>
          <p:nvPr/>
        </p:nvSpPr>
        <p:spPr>
          <a:xfrm>
            <a:off x="12489180" y="16383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ilm-right-hole-215"/>
          <p:cNvSpPr/>
          <p:nvPr/>
        </p:nvSpPr>
        <p:spPr>
          <a:xfrm>
            <a:off x="13700760" y="16383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ilm-left-hole-231"/>
          <p:cNvSpPr/>
          <p:nvPr/>
        </p:nvSpPr>
        <p:spPr>
          <a:xfrm>
            <a:off x="12489180" y="17602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ilm-right-hole-231"/>
          <p:cNvSpPr/>
          <p:nvPr/>
        </p:nvSpPr>
        <p:spPr>
          <a:xfrm>
            <a:off x="13700760" y="17602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ilm-left-hole-247"/>
          <p:cNvSpPr/>
          <p:nvPr/>
        </p:nvSpPr>
        <p:spPr>
          <a:xfrm>
            <a:off x="12489180" y="1882139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ilm-right-hole-247"/>
          <p:cNvSpPr/>
          <p:nvPr/>
        </p:nvSpPr>
        <p:spPr>
          <a:xfrm>
            <a:off x="13700760" y="1882139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ilm-left-hole-263"/>
          <p:cNvSpPr/>
          <p:nvPr/>
        </p:nvSpPr>
        <p:spPr>
          <a:xfrm>
            <a:off x="12489180" y="200406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ilm-right-hole-263"/>
          <p:cNvSpPr/>
          <p:nvPr/>
        </p:nvSpPr>
        <p:spPr>
          <a:xfrm>
            <a:off x="13700760" y="200406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ilm-left-hole-279"/>
          <p:cNvSpPr/>
          <p:nvPr/>
        </p:nvSpPr>
        <p:spPr>
          <a:xfrm>
            <a:off x="12489180" y="212598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ilm-right-hole-279"/>
          <p:cNvSpPr/>
          <p:nvPr/>
        </p:nvSpPr>
        <p:spPr>
          <a:xfrm>
            <a:off x="13700760" y="212598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ilm-left-hole-295"/>
          <p:cNvSpPr/>
          <p:nvPr/>
        </p:nvSpPr>
        <p:spPr>
          <a:xfrm>
            <a:off x="12489180" y="22479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ilm-right-hole-295"/>
          <p:cNvSpPr/>
          <p:nvPr/>
        </p:nvSpPr>
        <p:spPr>
          <a:xfrm>
            <a:off x="13700760" y="22479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ilm-left-hole-311"/>
          <p:cNvSpPr/>
          <p:nvPr/>
        </p:nvSpPr>
        <p:spPr>
          <a:xfrm>
            <a:off x="12489180" y="23698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ilm-right-hole-311"/>
          <p:cNvSpPr/>
          <p:nvPr/>
        </p:nvSpPr>
        <p:spPr>
          <a:xfrm>
            <a:off x="13700760" y="23698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ilm-left-hole-327"/>
          <p:cNvSpPr/>
          <p:nvPr/>
        </p:nvSpPr>
        <p:spPr>
          <a:xfrm>
            <a:off x="12489180" y="249174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ilm-right-hole-327"/>
          <p:cNvSpPr/>
          <p:nvPr/>
        </p:nvSpPr>
        <p:spPr>
          <a:xfrm>
            <a:off x="13700760" y="249174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ilm-left-hole-343"/>
          <p:cNvSpPr/>
          <p:nvPr/>
        </p:nvSpPr>
        <p:spPr>
          <a:xfrm>
            <a:off x="12489180" y="261366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ilm-right-hole-343"/>
          <p:cNvSpPr/>
          <p:nvPr/>
        </p:nvSpPr>
        <p:spPr>
          <a:xfrm>
            <a:off x="13700760" y="261366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ilm-left-hole-359"/>
          <p:cNvSpPr/>
          <p:nvPr/>
        </p:nvSpPr>
        <p:spPr>
          <a:xfrm>
            <a:off x="12489180" y="273558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ilm-right-hole-359"/>
          <p:cNvSpPr/>
          <p:nvPr/>
        </p:nvSpPr>
        <p:spPr>
          <a:xfrm>
            <a:off x="13700760" y="273558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ilm-left-hole-375"/>
          <p:cNvSpPr/>
          <p:nvPr/>
        </p:nvSpPr>
        <p:spPr>
          <a:xfrm>
            <a:off x="12489180" y="28575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ilm-right-hole-375"/>
          <p:cNvSpPr/>
          <p:nvPr/>
        </p:nvSpPr>
        <p:spPr>
          <a:xfrm>
            <a:off x="13700760" y="285750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ilm-left-hole-391"/>
          <p:cNvSpPr/>
          <p:nvPr/>
        </p:nvSpPr>
        <p:spPr>
          <a:xfrm>
            <a:off x="12489180" y="29794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ilm-right-hole-391"/>
          <p:cNvSpPr/>
          <p:nvPr/>
        </p:nvSpPr>
        <p:spPr>
          <a:xfrm>
            <a:off x="13700760" y="2979420"/>
            <a:ext cx="38100" cy="685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decoder-to-tube"/>
          <p:cNvCxnSpPr/>
          <p:nvPr/>
        </p:nvCxnSpPr>
        <p:spPr>
          <a:xfrm>
            <a:off x="12123420" y="1760220"/>
            <a:ext cx="33528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panel-a-label"/>
          <p:cNvSpPr txBox="1"/>
          <p:nvPr/>
        </p:nvSpPr>
        <p:spPr>
          <a:xfrm>
            <a:off x="2095499" y="3314700"/>
            <a:ext cx="44196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(a)</a:t>
            </a:r>
          </a:p>
        </p:txBody>
      </p:sp>
      <p:sp>
        <p:nvSpPr>
          <p:cNvPr id="234" name="panel-b-label"/>
          <p:cNvSpPr txBox="1"/>
          <p:nvPr/>
        </p:nvSpPr>
        <p:spPr>
          <a:xfrm>
            <a:off x="5943600" y="3314700"/>
            <a:ext cx="44196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(b)</a:t>
            </a:r>
          </a:p>
        </p:txBody>
      </p:sp>
      <p:sp>
        <p:nvSpPr>
          <p:cNvPr id="235" name="panel-c-label"/>
          <p:cNvSpPr txBox="1"/>
          <p:nvPr/>
        </p:nvSpPr>
        <p:spPr>
          <a:xfrm>
            <a:off x="10477500" y="3314700"/>
            <a:ext cx="44196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(c)</a:t>
            </a:r>
          </a:p>
        </p:txBody>
      </p:sp>
      <p:sp>
        <p:nvSpPr>
          <p:cNvPr id="236" name="detail-panel-shadow"/>
          <p:cNvSpPr/>
          <p:nvPr/>
        </p:nvSpPr>
        <p:spPr>
          <a:xfrm>
            <a:off x="662940" y="3596640"/>
            <a:ext cx="12192000" cy="3581400"/>
          </a:xfrm>
          <a:prstGeom prst="roundRect">
            <a:avLst>
              <a:gd name="adj" fmla="val 3829"/>
            </a:avLst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detail-panel"/>
          <p:cNvSpPr/>
          <p:nvPr/>
        </p:nvSpPr>
        <p:spPr>
          <a:xfrm>
            <a:off x="617220" y="3550920"/>
            <a:ext cx="1219200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2859">
            <a:solidFill>
              <a:srgbClr val="EFE8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detail-output-route-segment-1"/>
          <p:cNvCxnSpPr/>
          <p:nvPr/>
        </p:nvCxnSpPr>
        <p:spPr>
          <a:xfrm flipV="1">
            <a:off x="1760220" y="3649980"/>
            <a:ext cx="0" cy="205740"/>
          </a:xfrm>
          <a:prstGeom prst="line">
            <a:avLst/>
          </a:prstGeom>
          <a:ln w="1371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detail-output-route-segment-2"/>
          <p:cNvCxnSpPr/>
          <p:nvPr/>
        </p:nvCxnSpPr>
        <p:spPr>
          <a:xfrm>
            <a:off x="1760220" y="3649980"/>
            <a:ext cx="5768339" cy="0"/>
          </a:xfrm>
          <a:prstGeom prst="line">
            <a:avLst/>
          </a:prstGeom>
          <a:ln w="1371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detail-output-route"/>
          <p:cNvCxnSpPr/>
          <p:nvPr/>
        </p:nvCxnSpPr>
        <p:spPr>
          <a:xfrm>
            <a:off x="7528559" y="3649980"/>
            <a:ext cx="0" cy="7848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interaction-card-shadow"/>
          <p:cNvSpPr/>
          <p:nvPr/>
        </p:nvSpPr>
        <p:spPr>
          <a:xfrm>
            <a:off x="1066800" y="4267200"/>
            <a:ext cx="4091939" cy="2118360"/>
          </a:xfrm>
          <a:prstGeom prst="roundRect">
            <a:avLst>
              <a:gd name="adj" fmla="val 5035"/>
            </a:avLst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interaction-card"/>
          <p:cNvSpPr/>
          <p:nvPr/>
        </p:nvSpPr>
        <p:spPr>
          <a:xfrm>
            <a:off x="1013460" y="4213860"/>
            <a:ext cx="4091939" cy="2118360"/>
          </a:xfrm>
          <a:prstGeom prst="roundRect">
            <a:avLst>
              <a:gd name="adj" fmla="val 5035"/>
            </a:avLst>
          </a:prstGeom>
          <a:solidFill>
            <a:srgbClr val="E8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detail-output-visual-1"/>
          <p:cNvSpPr/>
          <p:nvPr/>
        </p:nvSpPr>
        <p:spPr>
          <a:xfrm>
            <a:off x="137160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detail-output-visual-2"/>
          <p:cNvSpPr/>
          <p:nvPr/>
        </p:nvSpPr>
        <p:spPr>
          <a:xfrm>
            <a:off x="169164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detail-output-visual-3"/>
          <p:cNvSpPr/>
          <p:nvPr/>
        </p:nvSpPr>
        <p:spPr>
          <a:xfrm>
            <a:off x="205740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detail-output-visual-dots"/>
          <p:cNvSpPr txBox="1"/>
          <p:nvPr/>
        </p:nvSpPr>
        <p:spPr>
          <a:xfrm>
            <a:off x="1790700" y="385572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247" name="detail-output-language-1"/>
          <p:cNvSpPr/>
          <p:nvPr/>
        </p:nvSpPr>
        <p:spPr>
          <a:xfrm>
            <a:off x="244602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detail-output-language-2"/>
          <p:cNvSpPr/>
          <p:nvPr/>
        </p:nvSpPr>
        <p:spPr>
          <a:xfrm>
            <a:off x="275844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detail-output-language-3"/>
          <p:cNvSpPr/>
          <p:nvPr/>
        </p:nvSpPr>
        <p:spPr>
          <a:xfrm>
            <a:off x="312420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detail-output-language-dots"/>
          <p:cNvSpPr txBox="1"/>
          <p:nvPr/>
        </p:nvSpPr>
        <p:spPr>
          <a:xfrm>
            <a:off x="2857500" y="385572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251" name="detail-output-frame-1"/>
          <p:cNvSpPr/>
          <p:nvPr/>
        </p:nvSpPr>
        <p:spPr>
          <a:xfrm>
            <a:off x="353568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detail-output-frame-2"/>
          <p:cNvSpPr/>
          <p:nvPr/>
        </p:nvSpPr>
        <p:spPr>
          <a:xfrm>
            <a:off x="3992879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detail-output-frame-3"/>
          <p:cNvSpPr/>
          <p:nvPr/>
        </p:nvSpPr>
        <p:spPr>
          <a:xfrm>
            <a:off x="429768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detail-output-frame-4"/>
          <p:cNvSpPr/>
          <p:nvPr/>
        </p:nvSpPr>
        <p:spPr>
          <a:xfrm>
            <a:off x="4678680" y="3855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detail-output-frame-dots"/>
          <p:cNvSpPr txBox="1"/>
          <p:nvPr/>
        </p:nvSpPr>
        <p:spPr>
          <a:xfrm>
            <a:off x="4396740" y="3855720"/>
            <a:ext cx="1981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cxnSp>
        <p:nvCxnSpPr>
          <p:cNvPr id="256" name="detail-output-arrow-190"/>
          <p:cNvCxnSpPr/>
          <p:nvPr/>
        </p:nvCxnSpPr>
        <p:spPr>
          <a:xfrm flipV="1">
            <a:off x="1447800" y="40233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detail-output-arrow-232"/>
          <p:cNvCxnSpPr/>
          <p:nvPr/>
        </p:nvCxnSpPr>
        <p:spPr>
          <a:xfrm flipV="1">
            <a:off x="1767840" y="40233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detail-output-arrow-331"/>
          <p:cNvCxnSpPr/>
          <p:nvPr/>
        </p:nvCxnSpPr>
        <p:spPr>
          <a:xfrm flipV="1">
            <a:off x="2522220" y="40233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detail-output-arrow-372"/>
          <p:cNvCxnSpPr/>
          <p:nvPr/>
        </p:nvCxnSpPr>
        <p:spPr>
          <a:xfrm flipV="1">
            <a:off x="2834640" y="40233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detail-output-arrow-474"/>
          <p:cNvCxnSpPr/>
          <p:nvPr/>
        </p:nvCxnSpPr>
        <p:spPr>
          <a:xfrm flipV="1">
            <a:off x="3611880" y="40233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detail-output-arrow-574"/>
          <p:cNvCxnSpPr/>
          <p:nvPr/>
        </p:nvCxnSpPr>
        <p:spPr>
          <a:xfrm flipV="1">
            <a:off x="4373880" y="4023360"/>
            <a:ext cx="0" cy="19050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spatial-layer-1-shadow"/>
          <p:cNvSpPr/>
          <p:nvPr/>
        </p:nvSpPr>
        <p:spPr>
          <a:xfrm>
            <a:off x="1912620" y="5334000"/>
            <a:ext cx="2407920" cy="441960"/>
          </a:xfrm>
          <a:prstGeom prst="roundRect">
            <a:avLst>
              <a:gd name="adj" fmla="val 15517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patial-layer-1"/>
          <p:cNvSpPr/>
          <p:nvPr/>
        </p:nvSpPr>
        <p:spPr>
          <a:xfrm>
            <a:off x="1874519" y="5295900"/>
            <a:ext cx="2407920" cy="441960"/>
          </a:xfrm>
          <a:prstGeom prst="roundRect">
            <a:avLst>
              <a:gd name="adj" fmla="val 15517"/>
            </a:avLst>
          </a:prstGeom>
          <a:solidFill>
            <a:srgbClr val="FFF8DE"/>
          </a:solidFill>
          <a:ln w="10668">
            <a:solidFill>
              <a:srgbClr val="782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patial-layer-1-title"/>
          <p:cNvSpPr txBox="1"/>
          <p:nvPr/>
        </p:nvSpPr>
        <p:spPr>
          <a:xfrm>
            <a:off x="1965960" y="5394960"/>
            <a:ext cx="220980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spatial interaction layer</a:t>
            </a:r>
          </a:p>
        </p:txBody>
      </p:sp>
      <p:sp>
        <p:nvSpPr>
          <p:cNvPr id="265" name="spatial-layer-1-caption"/>
          <p:cNvSpPr txBox="1"/>
          <p:nvPr/>
        </p:nvSpPr>
        <p:spPr>
          <a:xfrm>
            <a:off x="4198620" y="5638800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0000"/>
                </a:solidFill>
                <a:latin typeface="Liberation Serif"/>
              </a:defRPr>
            </a:pPr>
            <a:r>
              <a:t>frame T</a:t>
            </a:r>
          </a:p>
        </p:txBody>
      </p:sp>
      <p:sp>
        <p:nvSpPr>
          <p:cNvPr id="266" name="spatial-layer-2-shadow"/>
          <p:cNvSpPr/>
          <p:nvPr/>
        </p:nvSpPr>
        <p:spPr>
          <a:xfrm>
            <a:off x="1691640" y="5547360"/>
            <a:ext cx="2407920" cy="441960"/>
          </a:xfrm>
          <a:prstGeom prst="roundRect">
            <a:avLst>
              <a:gd name="adj" fmla="val 15517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patial-layer-2"/>
          <p:cNvSpPr/>
          <p:nvPr/>
        </p:nvSpPr>
        <p:spPr>
          <a:xfrm>
            <a:off x="1653540" y="5509260"/>
            <a:ext cx="2407920" cy="441960"/>
          </a:xfrm>
          <a:prstGeom prst="roundRect">
            <a:avLst>
              <a:gd name="adj" fmla="val 15517"/>
            </a:avLst>
          </a:prstGeom>
          <a:solidFill>
            <a:srgbClr val="FFF8DE"/>
          </a:solidFill>
          <a:ln w="10668">
            <a:solidFill>
              <a:srgbClr val="782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patial-layer-2-title"/>
          <p:cNvSpPr txBox="1"/>
          <p:nvPr/>
        </p:nvSpPr>
        <p:spPr>
          <a:xfrm>
            <a:off x="1744980" y="5608320"/>
            <a:ext cx="220980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spatial interaction layer</a:t>
            </a:r>
          </a:p>
        </p:txBody>
      </p:sp>
      <p:sp>
        <p:nvSpPr>
          <p:cNvPr id="269" name="spatial-layer-2-caption"/>
          <p:cNvSpPr txBox="1"/>
          <p:nvPr/>
        </p:nvSpPr>
        <p:spPr>
          <a:xfrm>
            <a:off x="3977639" y="5852160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0000"/>
                </a:solidFill>
                <a:latin typeface="Liberation Serif"/>
              </a:defRPr>
            </a:pPr>
            <a:r>
              <a:t>frame 2</a:t>
            </a:r>
          </a:p>
        </p:txBody>
      </p:sp>
      <p:sp>
        <p:nvSpPr>
          <p:cNvPr id="270" name="spatial-layer-3-shadow"/>
          <p:cNvSpPr/>
          <p:nvPr/>
        </p:nvSpPr>
        <p:spPr>
          <a:xfrm>
            <a:off x="1470660" y="5753100"/>
            <a:ext cx="2407920" cy="441960"/>
          </a:xfrm>
          <a:prstGeom prst="roundRect">
            <a:avLst>
              <a:gd name="adj" fmla="val 15517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patial-layer-3"/>
          <p:cNvSpPr/>
          <p:nvPr/>
        </p:nvSpPr>
        <p:spPr>
          <a:xfrm>
            <a:off x="1432560" y="5715000"/>
            <a:ext cx="2407920" cy="441960"/>
          </a:xfrm>
          <a:prstGeom prst="roundRect">
            <a:avLst>
              <a:gd name="adj" fmla="val 15517"/>
            </a:avLst>
          </a:prstGeom>
          <a:solidFill>
            <a:srgbClr val="FFF8DE"/>
          </a:solidFill>
          <a:ln w="10668">
            <a:solidFill>
              <a:srgbClr val="782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patial-layer-3-title"/>
          <p:cNvSpPr txBox="1"/>
          <p:nvPr/>
        </p:nvSpPr>
        <p:spPr>
          <a:xfrm>
            <a:off x="1524000" y="5814060"/>
            <a:ext cx="220980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Liberation Serif"/>
              </a:defRPr>
            </a:pPr>
            <a:r>
              <a:t>spatial interaction layer</a:t>
            </a:r>
          </a:p>
        </p:txBody>
      </p:sp>
      <p:sp>
        <p:nvSpPr>
          <p:cNvPr id="273" name="spatial-layer-3-caption"/>
          <p:cNvSpPr txBox="1"/>
          <p:nvPr/>
        </p:nvSpPr>
        <p:spPr>
          <a:xfrm>
            <a:off x="3756660" y="6057900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0000"/>
                </a:solidFill>
                <a:latin typeface="Liberation Serif"/>
              </a:defRPr>
            </a:pPr>
            <a:r>
              <a:t>frame 1</a:t>
            </a:r>
          </a:p>
        </p:txBody>
      </p:sp>
      <p:cxnSp>
        <p:nvCxnSpPr>
          <p:cNvPr id="274" name="spatial-stack-guide-left"/>
          <p:cNvCxnSpPr/>
          <p:nvPr/>
        </p:nvCxnSpPr>
        <p:spPr>
          <a:xfrm flipV="1">
            <a:off x="1432560" y="5295900"/>
            <a:ext cx="441959" cy="419100"/>
          </a:xfrm>
          <a:prstGeom prst="line">
            <a:avLst/>
          </a:prstGeom>
          <a:ln w="9144">
            <a:solidFill>
              <a:srgbClr val="854B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patial-stack-guide-right"/>
          <p:cNvCxnSpPr/>
          <p:nvPr/>
        </p:nvCxnSpPr>
        <p:spPr>
          <a:xfrm flipV="1">
            <a:off x="3840480" y="5737860"/>
            <a:ext cx="441960" cy="419100"/>
          </a:xfrm>
          <a:prstGeom prst="line">
            <a:avLst/>
          </a:prstGeom>
          <a:ln w="9144">
            <a:solidFill>
              <a:srgbClr val="854B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detail-input-visual-1"/>
          <p:cNvSpPr/>
          <p:nvPr/>
        </p:nvSpPr>
        <p:spPr>
          <a:xfrm>
            <a:off x="1249680" y="64008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detail-input-visual-2"/>
          <p:cNvSpPr/>
          <p:nvPr/>
        </p:nvSpPr>
        <p:spPr>
          <a:xfrm>
            <a:off x="1562100" y="64008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detail-input-visual-3"/>
          <p:cNvSpPr/>
          <p:nvPr/>
        </p:nvSpPr>
        <p:spPr>
          <a:xfrm>
            <a:off x="1927860" y="64008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DCE6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detail-input-visual-dots"/>
          <p:cNvSpPr txBox="1"/>
          <p:nvPr/>
        </p:nvSpPr>
        <p:spPr>
          <a:xfrm>
            <a:off x="1661160" y="6400800"/>
            <a:ext cx="2362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280" name="detail-input-language-1"/>
          <p:cNvSpPr/>
          <p:nvPr/>
        </p:nvSpPr>
        <p:spPr>
          <a:xfrm>
            <a:off x="2133600" y="64008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detail-input-language-2"/>
          <p:cNvSpPr/>
          <p:nvPr/>
        </p:nvSpPr>
        <p:spPr>
          <a:xfrm>
            <a:off x="2453640" y="64008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detail-input-language-3"/>
          <p:cNvSpPr/>
          <p:nvPr/>
        </p:nvSpPr>
        <p:spPr>
          <a:xfrm>
            <a:off x="2827020" y="64008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A8D18D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detail-input-language-dots"/>
          <p:cNvSpPr txBox="1"/>
          <p:nvPr/>
        </p:nvSpPr>
        <p:spPr>
          <a:xfrm>
            <a:off x="2545080" y="6400800"/>
            <a:ext cx="2362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sp>
        <p:nvSpPr>
          <p:cNvPr id="284" name="detail-input-frame"/>
          <p:cNvSpPr/>
          <p:nvPr/>
        </p:nvSpPr>
        <p:spPr>
          <a:xfrm>
            <a:off x="3261360" y="64008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detail-input-arrow-174"/>
          <p:cNvCxnSpPr/>
          <p:nvPr/>
        </p:nvCxnSpPr>
        <p:spPr>
          <a:xfrm flipV="1">
            <a:off x="1325880" y="615696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detail-input-arrow-215"/>
          <p:cNvCxnSpPr/>
          <p:nvPr/>
        </p:nvCxnSpPr>
        <p:spPr>
          <a:xfrm flipV="1">
            <a:off x="1638300" y="615696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detail-input-arrow-290"/>
          <p:cNvCxnSpPr/>
          <p:nvPr/>
        </p:nvCxnSpPr>
        <p:spPr>
          <a:xfrm flipV="1">
            <a:off x="2209800" y="615696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detail-input-arrow-332"/>
          <p:cNvCxnSpPr/>
          <p:nvPr/>
        </p:nvCxnSpPr>
        <p:spPr>
          <a:xfrm flipV="1">
            <a:off x="2529840" y="615696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detail-input-arrow-438"/>
          <p:cNvCxnSpPr/>
          <p:nvPr/>
        </p:nvCxnSpPr>
        <p:spPr>
          <a:xfrm flipV="1">
            <a:off x="3337560" y="615696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visual-token-legend"/>
          <p:cNvSpPr txBox="1"/>
          <p:nvPr/>
        </p:nvSpPr>
        <p:spPr>
          <a:xfrm>
            <a:off x="1219200" y="6614160"/>
            <a:ext cx="777240" cy="4038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00000"/>
                </a:solidFill>
                <a:latin typeface="Liberation Serif"/>
              </a:defRPr>
            </a:pPr>
            <a:r>
              <a:t>visual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00000"/>
                </a:solidFill>
                <a:latin typeface="Liberation Serif"/>
              </a:defRPr>
            </a:pPr>
            <a:r>
              <a:t>token</a:t>
            </a:r>
          </a:p>
        </p:txBody>
      </p:sp>
      <p:sp>
        <p:nvSpPr>
          <p:cNvPr id="291" name="language-token-legend"/>
          <p:cNvSpPr txBox="1"/>
          <p:nvPr/>
        </p:nvSpPr>
        <p:spPr>
          <a:xfrm>
            <a:off x="2118360" y="6614160"/>
            <a:ext cx="853440" cy="4038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00000"/>
                </a:solidFill>
                <a:latin typeface="Liberation Serif"/>
              </a:defRPr>
            </a:pPr>
            <a:r>
              <a:t>language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00000"/>
                </a:solidFill>
                <a:latin typeface="Liberation Serif"/>
              </a:defRPr>
            </a:pPr>
            <a:r>
              <a:t>token</a:t>
            </a:r>
          </a:p>
        </p:txBody>
      </p:sp>
      <p:sp>
        <p:nvSpPr>
          <p:cNvPr id="292" name="frame-token-legend"/>
          <p:cNvSpPr txBox="1"/>
          <p:nvPr/>
        </p:nvSpPr>
        <p:spPr>
          <a:xfrm>
            <a:off x="3002280" y="6606540"/>
            <a:ext cx="1242060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00000"/>
                </a:solidFill>
                <a:latin typeface="Liberation Serif"/>
              </a:defRPr>
            </a:pPr>
            <a:r>
              <a:t>learnable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00000"/>
                </a:solidFill>
                <a:latin typeface="Liberation Serif"/>
              </a:defRPr>
            </a:pPr>
            <a:r>
              <a:t>frame token</a:t>
            </a:r>
          </a:p>
        </p:txBody>
      </p:sp>
      <p:sp>
        <p:nvSpPr>
          <p:cNvPr id="293" name="learnable-video-token-270"/>
          <p:cNvSpPr/>
          <p:nvPr/>
        </p:nvSpPr>
        <p:spPr>
          <a:xfrm>
            <a:off x="2057400" y="489204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learnable-video-token-417"/>
          <p:cNvSpPr/>
          <p:nvPr/>
        </p:nvSpPr>
        <p:spPr>
          <a:xfrm>
            <a:off x="3177540" y="489204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learnable-video-token-460"/>
          <p:cNvSpPr/>
          <p:nvPr/>
        </p:nvSpPr>
        <p:spPr>
          <a:xfrm>
            <a:off x="3505200" y="489204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learnable-video-token-508"/>
          <p:cNvSpPr/>
          <p:nvPr/>
        </p:nvSpPr>
        <p:spPr>
          <a:xfrm>
            <a:off x="3870960" y="489204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6F91D0"/>
          </a:solidFill>
          <a:ln w="15240">
            <a:solidFill>
              <a:srgbClr val="F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learnable-video-dots"/>
          <p:cNvSpPr txBox="1"/>
          <p:nvPr/>
        </p:nvSpPr>
        <p:spPr>
          <a:xfrm>
            <a:off x="3611880" y="4892040"/>
            <a:ext cx="21336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DejaVu Sans"/>
              </a:defRPr>
            </a:pPr>
            <a:r>
              <a:t>⋯</a:t>
            </a:r>
          </a:p>
        </p:txBody>
      </p:sp>
      <p:cxnSp>
        <p:nvCxnSpPr>
          <p:cNvPr id="298" name="temporal-input-arrow-280"/>
          <p:cNvCxnSpPr/>
          <p:nvPr/>
        </p:nvCxnSpPr>
        <p:spPr>
          <a:xfrm flipV="1">
            <a:off x="2133600" y="464820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temporal-input-arrow-427"/>
          <p:cNvCxnSpPr/>
          <p:nvPr/>
        </p:nvCxnSpPr>
        <p:spPr>
          <a:xfrm flipV="1">
            <a:off x="3253740" y="464820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temporal-input-arrow-470"/>
          <p:cNvCxnSpPr/>
          <p:nvPr/>
        </p:nvCxnSpPr>
        <p:spPr>
          <a:xfrm flipV="1">
            <a:off x="3581400" y="464820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temporal-input-arrow-518"/>
          <p:cNvCxnSpPr/>
          <p:nvPr/>
        </p:nvCxnSpPr>
        <p:spPr>
          <a:xfrm flipV="1">
            <a:off x="3947160" y="4648200"/>
            <a:ext cx="0" cy="24384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learnable-video-label"/>
          <p:cNvSpPr txBox="1"/>
          <p:nvPr/>
        </p:nvSpPr>
        <p:spPr>
          <a:xfrm>
            <a:off x="556260" y="47244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00000"/>
                </a:solidFill>
                <a:latin typeface="Liberation Serif"/>
              </a:defRPr>
            </a:pPr>
            <a:r>
              <a:t>learnable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00000"/>
                </a:solidFill>
                <a:latin typeface="Liberation Serif"/>
              </a:defRPr>
            </a:pPr>
            <a:r>
              <a:t>video token</a:t>
            </a:r>
          </a:p>
        </p:txBody>
      </p:sp>
      <p:sp>
        <p:nvSpPr>
          <p:cNvPr id="303" name="temporal-layer-shadow"/>
          <p:cNvSpPr/>
          <p:nvPr/>
        </p:nvSpPr>
        <p:spPr>
          <a:xfrm>
            <a:off x="1790700" y="4312920"/>
            <a:ext cx="2880360" cy="381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mporal-layer"/>
          <p:cNvSpPr/>
          <p:nvPr/>
        </p:nvSpPr>
        <p:spPr>
          <a:xfrm>
            <a:off x="1744980" y="4267200"/>
            <a:ext cx="2880360" cy="381000"/>
          </a:xfrm>
          <a:prstGeom prst="roundRect">
            <a:avLst>
              <a:gd name="adj" fmla="val 18000"/>
            </a:avLst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mporal-layer-title"/>
          <p:cNvSpPr txBox="1"/>
          <p:nvPr/>
        </p:nvSpPr>
        <p:spPr>
          <a:xfrm>
            <a:off x="1859280" y="4343400"/>
            <a:ext cx="264414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temporal interaction layer</a:t>
            </a:r>
          </a:p>
        </p:txBody>
      </p:sp>
      <p:sp>
        <p:nvSpPr>
          <p:cNvPr id="306" name="repeat-label"/>
          <p:cNvSpPr txBox="1"/>
          <p:nvPr/>
        </p:nvSpPr>
        <p:spPr>
          <a:xfrm>
            <a:off x="4693920" y="4290060"/>
            <a:ext cx="342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1">
                <a:solidFill>
                  <a:srgbClr val="000000"/>
                </a:solidFill>
                <a:latin typeface="Liberation Serif"/>
              </a:defRPr>
            </a:pPr>
            <a:r>
              <a:t>×N</a:t>
            </a:r>
          </a:p>
        </p:txBody>
      </p:sp>
      <p:cxnSp>
        <p:nvCxnSpPr>
          <p:cNvPr id="307" name="spatial-up-322"/>
          <p:cNvCxnSpPr/>
          <p:nvPr/>
        </p:nvCxnSpPr>
        <p:spPr>
          <a:xfrm flipV="1">
            <a:off x="2453640" y="5273040"/>
            <a:ext cx="0" cy="441960"/>
          </a:xfrm>
          <a:prstGeom prst="line">
            <a:avLst/>
          </a:prstGeom>
          <a:ln w="10668">
            <a:solidFill>
              <a:srgbClr val="B9E8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patial-up-360"/>
          <p:cNvCxnSpPr/>
          <p:nvPr/>
        </p:nvCxnSpPr>
        <p:spPr>
          <a:xfrm flipV="1">
            <a:off x="2743200" y="5273040"/>
            <a:ext cx="0" cy="441960"/>
          </a:xfrm>
          <a:prstGeom prst="line">
            <a:avLst/>
          </a:prstGeom>
          <a:ln w="10668">
            <a:solidFill>
              <a:srgbClr val="B9E8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patial-up-399"/>
          <p:cNvCxnSpPr/>
          <p:nvPr/>
        </p:nvCxnSpPr>
        <p:spPr>
          <a:xfrm flipV="1">
            <a:off x="3040380" y="5273040"/>
            <a:ext cx="0" cy="441960"/>
          </a:xfrm>
          <a:prstGeom prst="line">
            <a:avLst/>
          </a:prstGeom>
          <a:ln w="10668">
            <a:solidFill>
              <a:srgbClr val="B7D9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patial-up-468"/>
          <p:cNvCxnSpPr/>
          <p:nvPr/>
        </p:nvCxnSpPr>
        <p:spPr>
          <a:xfrm flipV="1">
            <a:off x="3566160" y="5273040"/>
            <a:ext cx="0" cy="441960"/>
          </a:xfrm>
          <a:prstGeom prst="line">
            <a:avLst/>
          </a:prstGeom>
          <a:ln w="10668">
            <a:solidFill>
              <a:srgbClr val="B7D9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b1-vertical-title"/>
          <p:cNvSpPr txBox="1"/>
          <p:nvPr/>
        </p:nvSpPr>
        <p:spPr>
          <a:xfrm rot="5400000">
            <a:off x="4457700" y="5036820"/>
            <a:ext cx="2362200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Intra-scale Multi-modality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Interaction Branch</a:t>
            </a:r>
          </a:p>
        </p:txBody>
      </p:sp>
      <p:sp>
        <p:nvSpPr>
          <p:cNvPr id="312" name="b1-label"/>
          <p:cNvSpPr txBox="1"/>
          <p:nvPr/>
        </p:nvSpPr>
        <p:spPr>
          <a:xfrm>
            <a:off x="5280660" y="6637020"/>
            <a:ext cx="57912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(b.1)</a:t>
            </a:r>
          </a:p>
        </p:txBody>
      </p:sp>
      <p:cxnSp>
        <p:nvCxnSpPr>
          <p:cNvPr id="313" name="detail-divider"/>
          <p:cNvCxnSpPr/>
          <p:nvPr/>
        </p:nvCxnSpPr>
        <p:spPr>
          <a:xfrm>
            <a:off x="6210300" y="3810000"/>
            <a:ext cx="0" cy="3070860"/>
          </a:xfrm>
          <a:prstGeom prst="line">
            <a:avLst/>
          </a:prstGeom>
          <a:ln w="38100">
            <a:solidFill>
              <a:srgbClr val="EDE5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b2-vertical-title"/>
          <p:cNvSpPr txBox="1"/>
          <p:nvPr/>
        </p:nvSpPr>
        <p:spPr>
          <a:xfrm rot="16200000">
            <a:off x="5783580" y="5029200"/>
            <a:ext cx="1981199" cy="419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Cross-scale Visual-only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Fusion Branch</a:t>
            </a:r>
          </a:p>
        </p:txBody>
      </p:sp>
      <p:sp>
        <p:nvSpPr>
          <p:cNvPr id="315" name="b2-label"/>
          <p:cNvSpPr txBox="1"/>
          <p:nvPr/>
        </p:nvSpPr>
        <p:spPr>
          <a:xfrm>
            <a:off x="6400800" y="6659880"/>
            <a:ext cx="59436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(b.2)</a:t>
            </a:r>
          </a:p>
        </p:txBody>
      </p:sp>
      <p:sp>
        <p:nvSpPr>
          <p:cNvPr id="316" name="detail-fv5-plane-shadow"/>
          <p:cNvSpPr/>
          <p:nvPr/>
        </p:nvSpPr>
        <p:spPr>
          <a:xfrm>
            <a:off x="7200900" y="4351020"/>
            <a:ext cx="464820" cy="152400"/>
          </a:xfrm>
          <a:custGeom>
            <a:avLst/>
            <a:gdLst/>
            <a:ahLst/>
            <a:cxnLst/>
            <a:rect l="l" t="t" r="r" b="b"/>
            <a:pathLst>
              <a:path w="61" h="20">
                <a:moveTo>
                  <a:pt x="20" y="0"/>
                </a:moveTo>
                <a:lnTo>
                  <a:pt x="61" y="0"/>
                </a:lnTo>
                <a:lnTo>
                  <a:pt x="41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detail-fv5-plane"/>
          <p:cNvSpPr/>
          <p:nvPr/>
        </p:nvSpPr>
        <p:spPr>
          <a:xfrm>
            <a:off x="7185660" y="4312920"/>
            <a:ext cx="464820" cy="152400"/>
          </a:xfrm>
          <a:custGeom>
            <a:avLst/>
            <a:gdLst/>
            <a:ahLst/>
            <a:cxnLst/>
            <a:rect l="l" t="t" r="r" b="b"/>
            <a:pathLst>
              <a:path w="61" h="20">
                <a:moveTo>
                  <a:pt x="18" y="0"/>
                </a:moveTo>
                <a:lnTo>
                  <a:pt x="61" y="0"/>
                </a:lnTo>
                <a:lnTo>
                  <a:pt x="41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9BEE4"/>
          </a:solidFill>
          <a:ln w="9144">
            <a:solidFill>
              <a:srgbClr val="1F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detail-fv5-plane-text"/>
          <p:cNvSpPr txBox="1"/>
          <p:nvPr/>
        </p:nvSpPr>
        <p:spPr>
          <a:xfrm>
            <a:off x="7261860" y="4282440"/>
            <a:ext cx="31242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1">
                <a:solidFill>
                  <a:srgbClr val="000000"/>
                </a:solidFill>
                <a:latin typeface="Liberation Serif"/>
              </a:defRPr>
            </a:pPr>
          </a:p>
        </p:txBody>
      </p:sp>
      <p:sp>
        <p:nvSpPr>
          <p:cNvPr id="319" name="detail-fv4-plane-shadow"/>
          <p:cNvSpPr/>
          <p:nvPr/>
        </p:nvSpPr>
        <p:spPr>
          <a:xfrm>
            <a:off x="7200900" y="5227320"/>
            <a:ext cx="464820" cy="152400"/>
          </a:xfrm>
          <a:custGeom>
            <a:avLst/>
            <a:gdLst/>
            <a:ahLst/>
            <a:cxnLst/>
            <a:rect l="l" t="t" r="r" b="b"/>
            <a:pathLst>
              <a:path w="61" h="20">
                <a:moveTo>
                  <a:pt x="20" y="0"/>
                </a:moveTo>
                <a:lnTo>
                  <a:pt x="61" y="0"/>
                </a:lnTo>
                <a:lnTo>
                  <a:pt x="41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detail-fv4-plane"/>
          <p:cNvSpPr/>
          <p:nvPr/>
        </p:nvSpPr>
        <p:spPr>
          <a:xfrm>
            <a:off x="7185660" y="5189220"/>
            <a:ext cx="464820" cy="152400"/>
          </a:xfrm>
          <a:custGeom>
            <a:avLst/>
            <a:gdLst/>
            <a:ahLst/>
            <a:cxnLst/>
            <a:rect l="l" t="t" r="r" b="b"/>
            <a:pathLst>
              <a:path w="61" h="20">
                <a:moveTo>
                  <a:pt x="18" y="0"/>
                </a:moveTo>
                <a:lnTo>
                  <a:pt x="61" y="0"/>
                </a:lnTo>
                <a:lnTo>
                  <a:pt x="41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6A5D9"/>
          </a:solidFill>
          <a:ln w="9144">
            <a:solidFill>
              <a:srgbClr val="1F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detail-fv4-plane-text"/>
          <p:cNvSpPr txBox="1"/>
          <p:nvPr/>
        </p:nvSpPr>
        <p:spPr>
          <a:xfrm>
            <a:off x="7261860" y="5158740"/>
            <a:ext cx="31242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1">
                <a:solidFill>
                  <a:srgbClr val="000000"/>
                </a:solidFill>
                <a:latin typeface="Liberation Serif"/>
              </a:defRPr>
            </a:pPr>
          </a:p>
        </p:txBody>
      </p:sp>
      <p:sp>
        <p:nvSpPr>
          <p:cNvPr id="322" name="detail-fv3-plane-shadow"/>
          <p:cNvSpPr/>
          <p:nvPr/>
        </p:nvSpPr>
        <p:spPr>
          <a:xfrm>
            <a:off x="7185660" y="6591300"/>
            <a:ext cx="533400" cy="167640"/>
          </a:xfrm>
          <a:custGeom>
            <a:avLst/>
            <a:gdLst/>
            <a:ahLst/>
            <a:cxnLst/>
            <a:rect l="l" t="t" r="r" b="b"/>
            <a:pathLst>
              <a:path w="70" h="22">
                <a:moveTo>
                  <a:pt x="20" y="0"/>
                </a:moveTo>
                <a:lnTo>
                  <a:pt x="70" y="0"/>
                </a:lnTo>
                <a:lnTo>
                  <a:pt x="50" y="22"/>
                </a:lnTo>
                <a:lnTo>
                  <a:pt x="0" y="22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detail-fv3-plane"/>
          <p:cNvSpPr/>
          <p:nvPr/>
        </p:nvSpPr>
        <p:spPr>
          <a:xfrm>
            <a:off x="7170420" y="6553200"/>
            <a:ext cx="533400" cy="167640"/>
          </a:xfrm>
          <a:custGeom>
            <a:avLst/>
            <a:gdLst/>
            <a:ahLst/>
            <a:cxnLst/>
            <a:rect l="l" t="t" r="r" b="b"/>
            <a:pathLst>
              <a:path w="70" h="22">
                <a:moveTo>
                  <a:pt x="18" y="0"/>
                </a:moveTo>
                <a:lnTo>
                  <a:pt x="70" y="0"/>
                </a:lnTo>
                <a:lnTo>
                  <a:pt x="50" y="22"/>
                </a:lnTo>
                <a:lnTo>
                  <a:pt x="0" y="22"/>
                </a:lnTo>
                <a:close/>
              </a:path>
            </a:pathLst>
          </a:custGeom>
          <a:solidFill>
            <a:srgbClr val="5B82C5"/>
          </a:solidFill>
          <a:ln w="9144">
            <a:solidFill>
              <a:srgbClr val="1F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detail-fv3-plane-text"/>
          <p:cNvSpPr txBox="1"/>
          <p:nvPr/>
        </p:nvSpPr>
        <p:spPr>
          <a:xfrm>
            <a:off x="7246620" y="6522720"/>
            <a:ext cx="381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1">
                <a:solidFill>
                  <a:srgbClr val="000000"/>
                </a:solidFill>
                <a:latin typeface="Liberation Serif"/>
              </a:defRPr>
            </a:pPr>
          </a:p>
        </p:txBody>
      </p:sp>
      <p:sp>
        <p:nvSpPr>
          <p:cNvPr id="325" name="fv5-label"/>
          <p:cNvSpPr txBox="1"/>
          <p:nvPr/>
        </p:nvSpPr>
        <p:spPr>
          <a:xfrm>
            <a:off x="7345680" y="4213860"/>
            <a:ext cx="51054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1">
                <a:solidFill>
                  <a:srgbClr val="000000"/>
                </a:solidFill>
                <a:latin typeface="Liberation Serif"/>
              </a:defRPr>
            </a:pPr>
            <a:r>
              <a:t>Fᵥ₅ᴺ</a:t>
            </a:r>
          </a:p>
        </p:txBody>
      </p:sp>
      <p:sp>
        <p:nvSpPr>
          <p:cNvPr id="326" name="fv4-label"/>
          <p:cNvSpPr txBox="1"/>
          <p:nvPr/>
        </p:nvSpPr>
        <p:spPr>
          <a:xfrm>
            <a:off x="7345680" y="5090160"/>
            <a:ext cx="51054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1">
                <a:solidFill>
                  <a:srgbClr val="000000"/>
                </a:solidFill>
                <a:latin typeface="Liberation Serif"/>
              </a:defRPr>
            </a:pPr>
            <a:r>
              <a:t>Fᵥ₄</a:t>
            </a:r>
          </a:p>
        </p:txBody>
      </p:sp>
      <p:sp>
        <p:nvSpPr>
          <p:cNvPr id="327" name="fv3-label"/>
          <p:cNvSpPr txBox="1"/>
          <p:nvPr/>
        </p:nvSpPr>
        <p:spPr>
          <a:xfrm>
            <a:off x="7330440" y="6438900"/>
            <a:ext cx="51054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1">
                <a:solidFill>
                  <a:srgbClr val="000000"/>
                </a:solidFill>
                <a:latin typeface="Liberation Serif"/>
              </a:defRPr>
            </a:pPr>
            <a:r>
              <a:t>Fᵥ₃</a:t>
            </a:r>
          </a:p>
        </p:txBody>
      </p:sp>
      <p:cxnSp>
        <p:nvCxnSpPr>
          <p:cNvPr id="328" name="feature-input-arrow-581"/>
          <p:cNvCxnSpPr/>
          <p:nvPr/>
        </p:nvCxnSpPr>
        <p:spPr>
          <a:xfrm>
            <a:off x="7658100" y="4427220"/>
            <a:ext cx="182879" cy="0"/>
          </a:xfrm>
          <a:prstGeom prst="line">
            <a:avLst/>
          </a:prstGeom>
          <a:ln w="15240">
            <a:solidFill>
              <a:srgbClr val="F47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feature-input-arrow-696"/>
          <p:cNvCxnSpPr/>
          <p:nvPr/>
        </p:nvCxnSpPr>
        <p:spPr>
          <a:xfrm>
            <a:off x="7658100" y="5303520"/>
            <a:ext cx="182879" cy="0"/>
          </a:xfrm>
          <a:prstGeom prst="line">
            <a:avLst/>
          </a:prstGeom>
          <a:ln w="15240">
            <a:solidFill>
              <a:srgbClr val="F47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feature-input-arrow-876"/>
          <p:cNvCxnSpPr/>
          <p:nvPr/>
        </p:nvCxnSpPr>
        <p:spPr>
          <a:xfrm>
            <a:off x="7658100" y="6675120"/>
            <a:ext cx="182879" cy="0"/>
          </a:xfrm>
          <a:prstGeom prst="line">
            <a:avLst/>
          </a:prstGeom>
          <a:ln w="15240">
            <a:solidFill>
              <a:srgbClr val="F47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cross-scale-card-shadow"/>
          <p:cNvSpPr/>
          <p:nvPr/>
        </p:nvSpPr>
        <p:spPr>
          <a:xfrm>
            <a:off x="7871459" y="3726180"/>
            <a:ext cx="1813560" cy="3276600"/>
          </a:xfrm>
          <a:prstGeom prst="roundRect">
            <a:avLst>
              <a:gd name="adj" fmla="val 5462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cross-scale-card"/>
          <p:cNvSpPr/>
          <p:nvPr/>
        </p:nvSpPr>
        <p:spPr>
          <a:xfrm>
            <a:off x="7825740" y="3680460"/>
            <a:ext cx="1813560" cy="3276600"/>
          </a:xfrm>
          <a:prstGeom prst="roundRect">
            <a:avLst>
              <a:gd name="adj" fmla="val 5462"/>
            </a:avLst>
          </a:prstGeom>
          <a:solidFill>
            <a:srgbClr val="E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usion-top-shadow"/>
          <p:cNvSpPr/>
          <p:nvPr/>
        </p:nvSpPr>
        <p:spPr>
          <a:xfrm>
            <a:off x="8054340" y="3817620"/>
            <a:ext cx="1028700" cy="335280"/>
          </a:xfrm>
          <a:prstGeom prst="roundRect">
            <a:avLst>
              <a:gd name="adj" fmla="val 11363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usion-top"/>
          <p:cNvSpPr/>
          <p:nvPr/>
        </p:nvSpPr>
        <p:spPr>
          <a:xfrm>
            <a:off x="8008620" y="3771900"/>
            <a:ext cx="1028700" cy="335280"/>
          </a:xfrm>
          <a:prstGeom prst="roundRect">
            <a:avLst>
              <a:gd name="adj" fmla="val 11363"/>
            </a:avLst>
          </a:prstGeom>
          <a:solidFill>
            <a:srgbClr val="FB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usion-top-title"/>
          <p:cNvSpPr txBox="1"/>
          <p:nvPr/>
        </p:nvSpPr>
        <p:spPr>
          <a:xfrm>
            <a:off x="8130540" y="3840480"/>
            <a:ext cx="78486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Fusion</a:t>
            </a:r>
          </a:p>
        </p:txBody>
      </p:sp>
      <p:sp>
        <p:nvSpPr>
          <p:cNvPr id="336" name="fusion-yellow-top"/>
          <p:cNvSpPr/>
          <p:nvPr/>
        </p:nvSpPr>
        <p:spPr>
          <a:xfrm>
            <a:off x="8008620" y="4396740"/>
            <a:ext cx="327660" cy="327660"/>
          </a:xfrm>
          <a:prstGeom prst="roundRect">
            <a:avLst>
              <a:gd name="adj" fmla="val 13953"/>
            </a:avLst>
          </a:prstGeom>
          <a:solidFill>
            <a:srgbClr val="FFE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usion-middle-shadow"/>
          <p:cNvSpPr/>
          <p:nvPr/>
        </p:nvSpPr>
        <p:spPr>
          <a:xfrm>
            <a:off x="8054340" y="5105400"/>
            <a:ext cx="1028700" cy="335280"/>
          </a:xfrm>
          <a:prstGeom prst="roundRect">
            <a:avLst>
              <a:gd name="adj" fmla="val 11363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usion-middle"/>
          <p:cNvSpPr/>
          <p:nvPr/>
        </p:nvSpPr>
        <p:spPr>
          <a:xfrm>
            <a:off x="8008620" y="5059680"/>
            <a:ext cx="1028700" cy="335280"/>
          </a:xfrm>
          <a:prstGeom prst="roundRect">
            <a:avLst>
              <a:gd name="adj" fmla="val 11363"/>
            </a:avLst>
          </a:prstGeom>
          <a:solidFill>
            <a:srgbClr val="FB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usion-middle-title"/>
          <p:cNvSpPr txBox="1"/>
          <p:nvPr/>
        </p:nvSpPr>
        <p:spPr>
          <a:xfrm>
            <a:off x="8130540" y="5128260"/>
            <a:ext cx="78486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Liberation Serif"/>
              </a:defRPr>
            </a:pPr>
            <a:r>
              <a:t>Fusion</a:t>
            </a:r>
          </a:p>
        </p:txBody>
      </p:sp>
      <p:sp>
        <p:nvSpPr>
          <p:cNvPr id="340" name="fusion-yellow-bottom"/>
          <p:cNvSpPr/>
          <p:nvPr/>
        </p:nvSpPr>
        <p:spPr>
          <a:xfrm>
            <a:off x="8008620" y="5745480"/>
            <a:ext cx="327660" cy="327660"/>
          </a:xfrm>
          <a:prstGeom prst="roundRect">
            <a:avLst>
              <a:gd name="adj" fmla="val 13953"/>
            </a:avLst>
          </a:prstGeom>
          <a:solidFill>
            <a:srgbClr val="FFE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d-top-shadow"/>
          <p:cNvSpPr/>
          <p:nvPr/>
        </p:nvSpPr>
        <p:spPr>
          <a:xfrm>
            <a:off x="8557260" y="4450080"/>
            <a:ext cx="320040" cy="342900"/>
          </a:xfrm>
          <a:prstGeom prst="roundRect">
            <a:avLst>
              <a:gd name="adj" fmla="val 11904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d-top"/>
          <p:cNvSpPr/>
          <p:nvPr/>
        </p:nvSpPr>
        <p:spPr>
          <a:xfrm>
            <a:off x="8511540" y="4404360"/>
            <a:ext cx="320040" cy="342900"/>
          </a:xfrm>
          <a:prstGeom prst="roundRect">
            <a:avLst>
              <a:gd name="adj" fmla="val 11904"/>
            </a:avLst>
          </a:prstGeom>
          <a:solidFill>
            <a:srgbClr val="B3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d-top-title"/>
          <p:cNvSpPr txBox="1"/>
          <p:nvPr/>
        </p:nvSpPr>
        <p:spPr>
          <a:xfrm>
            <a:off x="8526780" y="4465320"/>
            <a:ext cx="289560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Liberation Serif"/>
              </a:defRPr>
            </a:pPr>
            <a:r>
              <a:t>FD</a:t>
            </a:r>
          </a:p>
        </p:txBody>
      </p:sp>
      <p:sp>
        <p:nvSpPr>
          <p:cNvPr id="344" name="fd-bottom-shadow"/>
          <p:cNvSpPr/>
          <p:nvPr/>
        </p:nvSpPr>
        <p:spPr>
          <a:xfrm>
            <a:off x="8557260" y="5798820"/>
            <a:ext cx="320040" cy="342900"/>
          </a:xfrm>
          <a:prstGeom prst="roundRect">
            <a:avLst>
              <a:gd name="adj" fmla="val 11904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d-bottom"/>
          <p:cNvSpPr/>
          <p:nvPr/>
        </p:nvSpPr>
        <p:spPr>
          <a:xfrm>
            <a:off x="8511540" y="5753100"/>
            <a:ext cx="320040" cy="342900"/>
          </a:xfrm>
          <a:prstGeom prst="roundRect">
            <a:avLst>
              <a:gd name="adj" fmla="val 11904"/>
            </a:avLst>
          </a:prstGeom>
          <a:solidFill>
            <a:srgbClr val="B3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d-bottom-title"/>
          <p:cNvSpPr txBox="1"/>
          <p:nvPr/>
        </p:nvSpPr>
        <p:spPr>
          <a:xfrm>
            <a:off x="8526780" y="5814060"/>
            <a:ext cx="289560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Liberation Serif"/>
              </a:defRPr>
            </a:pPr>
            <a:r>
              <a:t>FD</a:t>
            </a:r>
          </a:p>
        </p:txBody>
      </p:sp>
      <p:sp>
        <p:nvSpPr>
          <p:cNvPr id="347" name="sac-shadow"/>
          <p:cNvSpPr/>
          <p:nvPr/>
        </p:nvSpPr>
        <p:spPr>
          <a:xfrm>
            <a:off x="9037320" y="5798820"/>
            <a:ext cx="365760" cy="342900"/>
          </a:xfrm>
          <a:prstGeom prst="roundRect">
            <a:avLst>
              <a:gd name="adj" fmla="val 11111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sac"/>
          <p:cNvSpPr/>
          <p:nvPr/>
        </p:nvSpPr>
        <p:spPr>
          <a:xfrm>
            <a:off x="8991600" y="5753100"/>
            <a:ext cx="365760" cy="342900"/>
          </a:xfrm>
          <a:prstGeom prst="roundRect">
            <a:avLst>
              <a:gd name="adj" fmla="val 11111"/>
            </a:avLst>
          </a:prstGeom>
          <a:solidFill>
            <a:srgbClr val="C7B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sac-title"/>
          <p:cNvSpPr txBox="1"/>
          <p:nvPr/>
        </p:nvSpPr>
        <p:spPr>
          <a:xfrm>
            <a:off x="9006840" y="5814060"/>
            <a:ext cx="335280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140" b="1" i="0">
                <a:solidFill>
                  <a:srgbClr val="000000"/>
                </a:solidFill>
                <a:latin typeface="Liberation Serif"/>
              </a:defRPr>
            </a:pPr>
            <a:r>
              <a:t>SAC</a:t>
            </a:r>
          </a:p>
        </p:txBody>
      </p:sp>
      <p:sp>
        <p:nvSpPr>
          <p:cNvPr id="350" name="msff-fe-shadow"/>
          <p:cNvSpPr/>
          <p:nvPr/>
        </p:nvSpPr>
        <p:spPr>
          <a:xfrm>
            <a:off x="8054340" y="6499860"/>
            <a:ext cx="922020" cy="342900"/>
          </a:xfrm>
          <a:prstGeom prst="roundRect">
            <a:avLst>
              <a:gd name="adj" fmla="val 11111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msff-fe"/>
          <p:cNvSpPr/>
          <p:nvPr/>
        </p:nvSpPr>
        <p:spPr>
          <a:xfrm>
            <a:off x="8008620" y="6454140"/>
            <a:ext cx="922020" cy="342900"/>
          </a:xfrm>
          <a:prstGeom prst="roundRect">
            <a:avLst>
              <a:gd name="adj" fmla="val 11111"/>
            </a:avLst>
          </a:prstGeom>
          <a:solidFill>
            <a:srgbClr val="C4D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msff-title"/>
          <p:cNvSpPr txBox="1"/>
          <p:nvPr/>
        </p:nvSpPr>
        <p:spPr>
          <a:xfrm>
            <a:off x="8054340" y="6530340"/>
            <a:ext cx="83058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000000"/>
                </a:solidFill>
                <a:latin typeface="Liberation Serif"/>
              </a:defRPr>
            </a:pPr>
            <a:r>
              <a:t>MSFF-FE</a:t>
            </a:r>
          </a:p>
        </p:txBody>
      </p:sp>
      <p:cxnSp>
        <p:nvCxnSpPr>
          <p:cNvPr id="353" name="orange-down-top"/>
          <p:cNvCxnSpPr/>
          <p:nvPr/>
        </p:nvCxnSpPr>
        <p:spPr>
          <a:xfrm>
            <a:off x="8168640" y="4724400"/>
            <a:ext cx="0" cy="320040"/>
          </a:xfrm>
          <a:prstGeom prst="line">
            <a:avLst/>
          </a:prstGeom>
          <a:ln w="15240">
            <a:solidFill>
              <a:srgbClr val="F47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orange-down-middle"/>
          <p:cNvCxnSpPr/>
          <p:nvPr/>
        </p:nvCxnSpPr>
        <p:spPr>
          <a:xfrm>
            <a:off x="8168640" y="5394960"/>
            <a:ext cx="0" cy="335280"/>
          </a:xfrm>
          <a:prstGeom prst="line">
            <a:avLst/>
          </a:prstGeom>
          <a:ln w="15240">
            <a:solidFill>
              <a:srgbClr val="F47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blue-up-bottom-fd"/>
          <p:cNvCxnSpPr/>
          <p:nvPr/>
        </p:nvCxnSpPr>
        <p:spPr>
          <a:xfrm flipV="1">
            <a:off x="8671560" y="6103620"/>
            <a:ext cx="0" cy="342900"/>
          </a:xfrm>
          <a:prstGeom prst="line">
            <a:avLst/>
          </a:prstGeom>
          <a:ln w="15240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blue-up-mid-fd"/>
          <p:cNvCxnSpPr/>
          <p:nvPr/>
        </p:nvCxnSpPr>
        <p:spPr>
          <a:xfrm flipV="1">
            <a:off x="8671560" y="4754880"/>
            <a:ext cx="0" cy="990600"/>
          </a:xfrm>
          <a:prstGeom prst="line">
            <a:avLst/>
          </a:prstGeom>
          <a:ln w="15240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blue-up-left"/>
          <p:cNvCxnSpPr/>
          <p:nvPr/>
        </p:nvCxnSpPr>
        <p:spPr>
          <a:xfrm flipV="1">
            <a:off x="8442960" y="4114800"/>
            <a:ext cx="0" cy="937260"/>
          </a:xfrm>
          <a:prstGeom prst="line">
            <a:avLst/>
          </a:prstGeom>
          <a:ln w="15240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blue-up-right"/>
          <p:cNvCxnSpPr/>
          <p:nvPr/>
        </p:nvCxnSpPr>
        <p:spPr>
          <a:xfrm flipV="1">
            <a:off x="8671560" y="4114800"/>
            <a:ext cx="0" cy="281940"/>
          </a:xfrm>
          <a:prstGeom prst="line">
            <a:avLst/>
          </a:prstGeom>
          <a:ln w="15240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purple-msff-to-sac-segment-1"/>
          <p:cNvCxnSpPr/>
          <p:nvPr/>
        </p:nvCxnSpPr>
        <p:spPr>
          <a:xfrm>
            <a:off x="8930640" y="6629400"/>
            <a:ext cx="365760" cy="0"/>
          </a:xfrm>
          <a:prstGeom prst="line">
            <a:avLst/>
          </a:prstGeom>
          <a:ln w="15240">
            <a:solidFill>
              <a:srgbClr val="7F2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purple-msff-to-sac"/>
          <p:cNvCxnSpPr/>
          <p:nvPr/>
        </p:nvCxnSpPr>
        <p:spPr>
          <a:xfrm flipV="1">
            <a:off x="9296400" y="6103620"/>
            <a:ext cx="0" cy="525780"/>
          </a:xfrm>
          <a:prstGeom prst="line">
            <a:avLst/>
          </a:prstGeom>
          <a:ln w="15240">
            <a:solidFill>
              <a:srgbClr val="7F27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purple-sac-to-top"/>
          <p:cNvCxnSpPr/>
          <p:nvPr/>
        </p:nvCxnSpPr>
        <p:spPr>
          <a:xfrm flipV="1">
            <a:off x="9174480" y="4114800"/>
            <a:ext cx="0" cy="1630680"/>
          </a:xfrm>
          <a:prstGeom prst="line">
            <a:avLst/>
          </a:prstGeom>
          <a:ln w="15240">
            <a:solidFill>
              <a:srgbClr val="7F27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output-token-516-1"/>
          <p:cNvSpPr/>
          <p:nvPr/>
        </p:nvSpPr>
        <p:spPr>
          <a:xfrm>
            <a:off x="9913620" y="39319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utput-token-516-2"/>
          <p:cNvSpPr/>
          <p:nvPr/>
        </p:nvSpPr>
        <p:spPr>
          <a:xfrm>
            <a:off x="9913620" y="42291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utput-token-516-3"/>
          <p:cNvSpPr/>
          <p:nvPr/>
        </p:nvSpPr>
        <p:spPr>
          <a:xfrm>
            <a:off x="9913620" y="456438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utput-dots-516"/>
          <p:cNvSpPr txBox="1"/>
          <p:nvPr/>
        </p:nvSpPr>
        <p:spPr>
          <a:xfrm>
            <a:off x="9883140" y="4381500"/>
            <a:ext cx="2286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0">
                <a:solidFill>
                  <a:srgbClr val="000000"/>
                </a:solidFill>
                <a:latin typeface="DejaVu Sans"/>
              </a:defRPr>
            </a:pPr>
            <a:r>
              <a:t>⋮</a:t>
            </a:r>
          </a:p>
        </p:txBody>
      </p:sp>
      <p:sp>
        <p:nvSpPr>
          <p:cNvPr id="366" name="output-formula-516"/>
          <p:cNvSpPr txBox="1"/>
          <p:nvPr/>
        </p:nvSpPr>
        <p:spPr>
          <a:xfrm>
            <a:off x="10149840" y="3992879"/>
            <a:ext cx="5943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1">
                <a:solidFill>
                  <a:srgbClr val="000000"/>
                </a:solidFill>
                <a:latin typeface="Liberation Serif"/>
              </a:defRPr>
            </a:pPr>
            <a:r>
              <a:t>Fᵥ₅ᶠ</a:t>
            </a:r>
          </a:p>
        </p:txBody>
      </p:sp>
      <p:sp>
        <p:nvSpPr>
          <p:cNvPr id="367" name="output-token-666-1"/>
          <p:cNvSpPr/>
          <p:nvPr/>
        </p:nvSpPr>
        <p:spPr>
          <a:xfrm>
            <a:off x="9913620" y="50749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utput-token-666-2"/>
          <p:cNvSpPr/>
          <p:nvPr/>
        </p:nvSpPr>
        <p:spPr>
          <a:xfrm>
            <a:off x="9913620" y="53721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utput-token-666-3"/>
          <p:cNvSpPr/>
          <p:nvPr/>
        </p:nvSpPr>
        <p:spPr>
          <a:xfrm>
            <a:off x="9913620" y="570738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utput-dots-666"/>
          <p:cNvSpPr txBox="1"/>
          <p:nvPr/>
        </p:nvSpPr>
        <p:spPr>
          <a:xfrm>
            <a:off x="9883140" y="5524500"/>
            <a:ext cx="2286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0">
                <a:solidFill>
                  <a:srgbClr val="000000"/>
                </a:solidFill>
                <a:latin typeface="DejaVu Sans"/>
              </a:defRPr>
            </a:pPr>
            <a:r>
              <a:t>⋮</a:t>
            </a:r>
          </a:p>
        </p:txBody>
      </p:sp>
      <p:sp>
        <p:nvSpPr>
          <p:cNvPr id="371" name="output-formula-666"/>
          <p:cNvSpPr txBox="1"/>
          <p:nvPr/>
        </p:nvSpPr>
        <p:spPr>
          <a:xfrm>
            <a:off x="10149840" y="5135880"/>
            <a:ext cx="5943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1">
                <a:solidFill>
                  <a:srgbClr val="000000"/>
                </a:solidFill>
                <a:latin typeface="Liberation Serif"/>
              </a:defRPr>
            </a:pPr>
            <a:r>
              <a:t>Fᵥ₄ᶠ</a:t>
            </a:r>
          </a:p>
        </p:txBody>
      </p:sp>
      <p:sp>
        <p:nvSpPr>
          <p:cNvPr id="372" name="output-token-817-1"/>
          <p:cNvSpPr/>
          <p:nvPr/>
        </p:nvSpPr>
        <p:spPr>
          <a:xfrm>
            <a:off x="9913620" y="622554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utput-token-817-2"/>
          <p:cNvSpPr/>
          <p:nvPr/>
        </p:nvSpPr>
        <p:spPr>
          <a:xfrm>
            <a:off x="9913620" y="652272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utput-token-817-3"/>
          <p:cNvSpPr/>
          <p:nvPr/>
        </p:nvSpPr>
        <p:spPr>
          <a:xfrm>
            <a:off x="9913620" y="6858000"/>
            <a:ext cx="160020" cy="160020"/>
          </a:xfrm>
          <a:prstGeom prst="roundRect">
            <a:avLst>
              <a:gd name="adj" fmla="val 18000"/>
            </a:avLst>
          </a:prstGeom>
          <a:solidFill>
            <a:srgbClr val="B3C6E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utput-dots-817"/>
          <p:cNvSpPr txBox="1"/>
          <p:nvPr/>
        </p:nvSpPr>
        <p:spPr>
          <a:xfrm>
            <a:off x="9883140" y="6675120"/>
            <a:ext cx="2286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80" b="1" i="0">
                <a:solidFill>
                  <a:srgbClr val="000000"/>
                </a:solidFill>
                <a:latin typeface="DejaVu Sans"/>
              </a:defRPr>
            </a:pPr>
            <a:r>
              <a:t>⋮</a:t>
            </a:r>
          </a:p>
        </p:txBody>
      </p:sp>
      <p:sp>
        <p:nvSpPr>
          <p:cNvPr id="376" name="output-formula-817"/>
          <p:cNvSpPr txBox="1"/>
          <p:nvPr/>
        </p:nvSpPr>
        <p:spPr>
          <a:xfrm>
            <a:off x="10149840" y="6286500"/>
            <a:ext cx="5943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1">
                <a:solidFill>
                  <a:srgbClr val="000000"/>
                </a:solidFill>
                <a:latin typeface="Liberation Serif"/>
              </a:defRPr>
            </a:pPr>
            <a:r>
              <a:t>Fᵥ₃ᶠ</a:t>
            </a:r>
          </a:p>
        </p:txBody>
      </p:sp>
      <p:cxnSp>
        <p:nvCxnSpPr>
          <p:cNvPr id="377" name="fusion-top-output"/>
          <p:cNvCxnSpPr/>
          <p:nvPr/>
        </p:nvCxnSpPr>
        <p:spPr>
          <a:xfrm>
            <a:off x="9037320" y="3939540"/>
            <a:ext cx="82296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fusion-middle-output-segment-1"/>
          <p:cNvCxnSpPr/>
          <p:nvPr/>
        </p:nvCxnSpPr>
        <p:spPr>
          <a:xfrm>
            <a:off x="8831580" y="5234940"/>
            <a:ext cx="4495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fusion-middle-output-segment-2"/>
          <p:cNvCxnSpPr/>
          <p:nvPr/>
        </p:nvCxnSpPr>
        <p:spPr>
          <a:xfrm flipV="1">
            <a:off x="9281160" y="5074920"/>
            <a:ext cx="0" cy="16002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fusion-middle-output"/>
          <p:cNvCxnSpPr/>
          <p:nvPr/>
        </p:nvCxnSpPr>
        <p:spPr>
          <a:xfrm>
            <a:off x="9281160" y="5074920"/>
            <a:ext cx="57912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fusion-bottom-output"/>
          <p:cNvCxnSpPr/>
          <p:nvPr/>
        </p:nvCxnSpPr>
        <p:spPr>
          <a:xfrm>
            <a:off x="9357360" y="5928360"/>
            <a:ext cx="502920" cy="29718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fusion-inset-top"/>
          <p:cNvSpPr/>
          <p:nvPr/>
        </p:nvSpPr>
        <p:spPr>
          <a:xfrm>
            <a:off x="10744200" y="3703320"/>
            <a:ext cx="1630680" cy="103632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144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p-stack-shadow"/>
          <p:cNvSpPr/>
          <p:nvPr/>
        </p:nvSpPr>
        <p:spPr>
          <a:xfrm>
            <a:off x="11369040" y="3756660"/>
            <a:ext cx="1036320" cy="944880"/>
          </a:xfrm>
          <a:prstGeom prst="roundRect">
            <a:avLst>
              <a:gd name="adj" fmla="val 6451"/>
            </a:avLst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p-stack"/>
          <p:cNvSpPr/>
          <p:nvPr/>
        </p:nvSpPr>
        <p:spPr>
          <a:xfrm>
            <a:off x="11323320" y="3710940"/>
            <a:ext cx="1036320" cy="944880"/>
          </a:xfrm>
          <a:prstGeom prst="roundRect">
            <a:avLst>
              <a:gd name="adj" fmla="val 6451"/>
            </a:avLst>
          </a:prstGeom>
          <a:solidFill>
            <a:srgbClr val="FFF2CC"/>
          </a:solidFill>
          <a:ln w="9144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usion-inset-input"/>
          <p:cNvSpPr/>
          <p:nvPr/>
        </p:nvSpPr>
        <p:spPr>
          <a:xfrm>
            <a:off x="10805160" y="4008120"/>
            <a:ext cx="327660" cy="327660"/>
          </a:xfrm>
          <a:prstGeom prst="roundRect">
            <a:avLst>
              <a:gd name="adj" fmla="val 13953"/>
            </a:avLst>
          </a:prstGeom>
          <a:solidFill>
            <a:srgbClr val="FFE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6" name="fusion-inset-input-arrow"/>
          <p:cNvCxnSpPr/>
          <p:nvPr/>
        </p:nvCxnSpPr>
        <p:spPr>
          <a:xfrm>
            <a:off x="11132820" y="4175760"/>
            <a:ext cx="16002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op-stack-row-1"/>
          <p:cNvSpPr/>
          <p:nvPr/>
        </p:nvSpPr>
        <p:spPr>
          <a:xfrm>
            <a:off x="11376660" y="3802380"/>
            <a:ext cx="906780" cy="228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144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p-stack-row-1-text"/>
          <p:cNvSpPr txBox="1"/>
          <p:nvPr/>
        </p:nvSpPr>
        <p:spPr>
          <a:xfrm>
            <a:off x="11407140" y="3825240"/>
            <a:ext cx="8458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140" b="1" i="0">
                <a:solidFill>
                  <a:srgbClr val="000000"/>
                </a:solidFill>
                <a:latin typeface="Liberation Serif"/>
              </a:defRPr>
            </a:pPr>
            <a:r>
              <a:t>Conv1×1 s1</a:t>
            </a:r>
          </a:p>
        </p:txBody>
      </p:sp>
      <p:sp>
        <p:nvSpPr>
          <p:cNvPr id="389" name="op-stack-row-2"/>
          <p:cNvSpPr/>
          <p:nvPr/>
        </p:nvSpPr>
        <p:spPr>
          <a:xfrm>
            <a:off x="11376660" y="4084320"/>
            <a:ext cx="906780" cy="228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144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p-stack-row-2-text"/>
          <p:cNvSpPr txBox="1"/>
          <p:nvPr/>
        </p:nvSpPr>
        <p:spPr>
          <a:xfrm>
            <a:off x="11407140" y="4107179"/>
            <a:ext cx="8458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140" b="1" i="0">
                <a:solidFill>
                  <a:srgbClr val="000000"/>
                </a:solidFill>
                <a:latin typeface="Liberation Serif"/>
              </a:defRPr>
            </a:pPr>
            <a:r>
              <a:t>BN</a:t>
            </a:r>
          </a:p>
        </p:txBody>
      </p:sp>
      <p:sp>
        <p:nvSpPr>
          <p:cNvPr id="391" name="op-stack-row-3"/>
          <p:cNvSpPr/>
          <p:nvPr/>
        </p:nvSpPr>
        <p:spPr>
          <a:xfrm>
            <a:off x="11376660" y="4366260"/>
            <a:ext cx="906780" cy="228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144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p-stack-row-3-text"/>
          <p:cNvSpPr txBox="1"/>
          <p:nvPr/>
        </p:nvSpPr>
        <p:spPr>
          <a:xfrm>
            <a:off x="11407140" y="4389120"/>
            <a:ext cx="8458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140" b="1" i="0">
                <a:solidFill>
                  <a:srgbClr val="000000"/>
                </a:solidFill>
                <a:latin typeface="Liberation Serif"/>
              </a:defRPr>
            </a:pPr>
            <a:r>
              <a:t>SiLU</a:t>
            </a:r>
          </a:p>
        </p:txBody>
      </p:sp>
      <p:sp>
        <p:nvSpPr>
          <p:cNvPr id="393" name="fusion-inset-bottom-shadow"/>
          <p:cNvSpPr/>
          <p:nvPr/>
        </p:nvSpPr>
        <p:spPr>
          <a:xfrm>
            <a:off x="10835640" y="4907280"/>
            <a:ext cx="1562100" cy="2049780"/>
          </a:xfrm>
          <a:prstGeom prst="roundRect">
            <a:avLst>
              <a:gd name="adj" fmla="val 3414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usion-inset-bottom"/>
          <p:cNvSpPr/>
          <p:nvPr/>
        </p:nvSpPr>
        <p:spPr>
          <a:xfrm>
            <a:off x="10789920" y="4861560"/>
            <a:ext cx="1562100" cy="2049780"/>
          </a:xfrm>
          <a:prstGeom prst="roundRect">
            <a:avLst>
              <a:gd name="adj" fmla="val 3414"/>
            </a:avLst>
          </a:prstGeom>
          <a:solidFill>
            <a:srgbClr val="FB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5" name="fusion-concat-left-segment-1"/>
          <p:cNvCxnSpPr/>
          <p:nvPr/>
        </p:nvCxnSpPr>
        <p:spPr>
          <a:xfrm>
            <a:off x="11262360" y="4785360"/>
            <a:ext cx="0" cy="175260"/>
          </a:xfrm>
          <a:prstGeom prst="line">
            <a:avLst/>
          </a:prstGeom>
          <a:ln w="1371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fusion-concat-left"/>
          <p:cNvCxnSpPr/>
          <p:nvPr/>
        </p:nvCxnSpPr>
        <p:spPr>
          <a:xfrm>
            <a:off x="11262360" y="4960620"/>
            <a:ext cx="274320" cy="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fusion-concat-right-segment-1"/>
          <p:cNvCxnSpPr/>
          <p:nvPr/>
        </p:nvCxnSpPr>
        <p:spPr>
          <a:xfrm>
            <a:off x="11887200" y="4785360"/>
            <a:ext cx="0" cy="175260"/>
          </a:xfrm>
          <a:prstGeom prst="line">
            <a:avLst/>
          </a:prstGeom>
          <a:ln w="1371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fusion-concat-right"/>
          <p:cNvCxnSpPr/>
          <p:nvPr/>
        </p:nvCxnSpPr>
        <p:spPr>
          <a:xfrm flipH="1">
            <a:off x="11643360" y="4960620"/>
            <a:ext cx="243840" cy="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concat-circle"/>
          <p:cNvSpPr/>
          <p:nvPr/>
        </p:nvSpPr>
        <p:spPr>
          <a:xfrm>
            <a:off x="11475720" y="4861560"/>
            <a:ext cx="236220" cy="236220"/>
          </a:xfrm>
          <a:prstGeom prst="ellipse">
            <a:avLst/>
          </a:prstGeom>
          <a:solidFill>
            <a:srgbClr val="FFFDF9"/>
          </a:solidFill>
          <a:ln w="1142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concat-letter"/>
          <p:cNvSpPr txBox="1"/>
          <p:nvPr/>
        </p:nvSpPr>
        <p:spPr>
          <a:xfrm>
            <a:off x="11490960" y="4884420"/>
            <a:ext cx="205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000000"/>
                </a:solidFill>
                <a:latin typeface="Liberation Serif"/>
              </a:defRPr>
            </a:pPr>
            <a:r>
              <a:t>C</a:t>
            </a:r>
          </a:p>
        </p:txBody>
      </p:sp>
      <p:cxnSp>
        <p:nvCxnSpPr>
          <p:cNvPr id="401" name="concat-down"/>
          <p:cNvCxnSpPr/>
          <p:nvPr/>
        </p:nvCxnSpPr>
        <p:spPr>
          <a:xfrm>
            <a:off x="11590020" y="5097780"/>
            <a:ext cx="0" cy="14478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cat-to-left-conv-segment-1"/>
          <p:cNvCxnSpPr/>
          <p:nvPr/>
        </p:nvCxnSpPr>
        <p:spPr>
          <a:xfrm flipH="1">
            <a:off x="11231880" y="5242560"/>
            <a:ext cx="358140" cy="0"/>
          </a:xfrm>
          <a:prstGeom prst="line">
            <a:avLst/>
          </a:prstGeom>
          <a:ln w="1371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cat-to-left-conv"/>
          <p:cNvCxnSpPr/>
          <p:nvPr/>
        </p:nvCxnSpPr>
        <p:spPr>
          <a:xfrm>
            <a:off x="11231880" y="5242560"/>
            <a:ext cx="0" cy="1219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cat-to-right-conv-segment-1"/>
          <p:cNvCxnSpPr/>
          <p:nvPr/>
        </p:nvCxnSpPr>
        <p:spPr>
          <a:xfrm>
            <a:off x="11590020" y="5242560"/>
            <a:ext cx="342900" cy="0"/>
          </a:xfrm>
          <a:prstGeom prst="line">
            <a:avLst/>
          </a:prstGeom>
          <a:ln w="1371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cat-to-right-conv"/>
          <p:cNvCxnSpPr/>
          <p:nvPr/>
        </p:nvCxnSpPr>
        <p:spPr>
          <a:xfrm>
            <a:off x="11932920" y="5242560"/>
            <a:ext cx="0" cy="1219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6" name="left-conv-shadow"/>
          <p:cNvSpPr/>
          <p:nvPr/>
        </p:nvSpPr>
        <p:spPr>
          <a:xfrm>
            <a:off x="11049000" y="5417820"/>
            <a:ext cx="487680" cy="365760"/>
          </a:xfrm>
          <a:prstGeom prst="roundRect">
            <a:avLst>
              <a:gd name="adj" fmla="val 14583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left-conv"/>
          <p:cNvSpPr/>
          <p:nvPr/>
        </p:nvSpPr>
        <p:spPr>
          <a:xfrm>
            <a:off x="11003280" y="5372100"/>
            <a:ext cx="487680" cy="365760"/>
          </a:xfrm>
          <a:prstGeom prst="roundRect">
            <a:avLst>
              <a:gd name="adj" fmla="val 14583"/>
            </a:avLst>
          </a:prstGeom>
          <a:solidFill>
            <a:srgbClr val="A9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left-conv-title"/>
          <p:cNvSpPr txBox="1"/>
          <p:nvPr/>
        </p:nvSpPr>
        <p:spPr>
          <a:xfrm>
            <a:off x="11033760" y="5394960"/>
            <a:ext cx="426720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Liberation Serif"/>
              </a:defRPr>
            </a:pPr>
            <a:r>
              <a:t>1×1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Liberation Serif"/>
              </a:defRPr>
            </a:pPr>
            <a:r>
              <a:t>Conv</a:t>
            </a:r>
          </a:p>
        </p:txBody>
      </p:sp>
      <p:sp>
        <p:nvSpPr>
          <p:cNvPr id="409" name="right-conv-shadow"/>
          <p:cNvSpPr/>
          <p:nvPr/>
        </p:nvSpPr>
        <p:spPr>
          <a:xfrm>
            <a:off x="11750040" y="5417820"/>
            <a:ext cx="487680" cy="365760"/>
          </a:xfrm>
          <a:prstGeom prst="roundRect">
            <a:avLst>
              <a:gd name="adj" fmla="val 14583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ight-conv"/>
          <p:cNvSpPr/>
          <p:nvPr/>
        </p:nvSpPr>
        <p:spPr>
          <a:xfrm>
            <a:off x="11704320" y="5372100"/>
            <a:ext cx="487680" cy="365760"/>
          </a:xfrm>
          <a:prstGeom prst="roundRect">
            <a:avLst>
              <a:gd name="adj" fmla="val 14583"/>
            </a:avLst>
          </a:prstGeom>
          <a:solidFill>
            <a:srgbClr val="A9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ight-conv-title"/>
          <p:cNvSpPr txBox="1"/>
          <p:nvPr/>
        </p:nvSpPr>
        <p:spPr>
          <a:xfrm>
            <a:off x="11734800" y="5394960"/>
            <a:ext cx="426720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Liberation Serif"/>
              </a:defRPr>
            </a:pPr>
            <a:r>
              <a:t>1×1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000000"/>
                </a:solidFill>
                <a:latin typeface="Liberation Serif"/>
              </a:defRPr>
            </a:pPr>
            <a:r>
              <a:t>Conv</a:t>
            </a:r>
          </a:p>
        </p:txBody>
      </p:sp>
      <p:cxnSp>
        <p:nvCxnSpPr>
          <p:cNvPr id="412" name="left-conv-down"/>
          <p:cNvCxnSpPr/>
          <p:nvPr/>
        </p:nvCxnSpPr>
        <p:spPr>
          <a:xfrm>
            <a:off x="11247120" y="5737860"/>
            <a:ext cx="0" cy="14478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repblock-shadow"/>
          <p:cNvSpPr/>
          <p:nvPr/>
        </p:nvSpPr>
        <p:spPr>
          <a:xfrm>
            <a:off x="10988040" y="5928360"/>
            <a:ext cx="701040" cy="320040"/>
          </a:xfrm>
          <a:prstGeom prst="roundRect">
            <a:avLst>
              <a:gd name="adj" fmla="val 16666"/>
            </a:avLst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pblock"/>
          <p:cNvSpPr/>
          <p:nvPr/>
        </p:nvSpPr>
        <p:spPr>
          <a:xfrm>
            <a:off x="10942320" y="5882640"/>
            <a:ext cx="701040" cy="320040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pblock-title"/>
          <p:cNvSpPr txBox="1"/>
          <p:nvPr/>
        </p:nvSpPr>
        <p:spPr>
          <a:xfrm>
            <a:off x="10972800" y="5935980"/>
            <a:ext cx="64008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140" b="1" i="0">
                <a:solidFill>
                  <a:srgbClr val="000000"/>
                </a:solidFill>
                <a:latin typeface="Liberation Serif"/>
              </a:defRPr>
            </a:pPr>
            <a:r>
              <a:t>RepBlock</a:t>
            </a:r>
          </a:p>
        </p:txBody>
      </p:sp>
      <p:sp>
        <p:nvSpPr>
          <p:cNvPr id="416" name="repblock-times"/>
          <p:cNvSpPr txBox="1"/>
          <p:nvPr/>
        </p:nvSpPr>
        <p:spPr>
          <a:xfrm>
            <a:off x="11658600" y="5920740"/>
            <a:ext cx="32004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000000"/>
                </a:solidFill>
                <a:latin typeface="Liberation Serif"/>
              </a:defRPr>
            </a:pPr>
            <a:r>
              <a:t>×3</a:t>
            </a:r>
          </a:p>
        </p:txBody>
      </p:sp>
      <p:cxnSp>
        <p:nvCxnSpPr>
          <p:cNvPr id="417" name="residual-route-segment-1"/>
          <p:cNvCxnSpPr/>
          <p:nvPr/>
        </p:nvCxnSpPr>
        <p:spPr>
          <a:xfrm>
            <a:off x="11948160" y="5737860"/>
            <a:ext cx="0" cy="609600"/>
          </a:xfrm>
          <a:prstGeom prst="line">
            <a:avLst/>
          </a:prstGeom>
          <a:ln w="1371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residual-route"/>
          <p:cNvCxnSpPr/>
          <p:nvPr/>
        </p:nvCxnSpPr>
        <p:spPr>
          <a:xfrm flipH="1">
            <a:off x="11719560" y="6347460"/>
            <a:ext cx="228600" cy="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repblock-to-add-segment-1"/>
          <p:cNvCxnSpPr/>
          <p:nvPr/>
        </p:nvCxnSpPr>
        <p:spPr>
          <a:xfrm>
            <a:off x="11292840" y="6202680"/>
            <a:ext cx="0" cy="144780"/>
          </a:xfrm>
          <a:prstGeom prst="line">
            <a:avLst/>
          </a:prstGeom>
          <a:ln w="1371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repblock-to-add"/>
          <p:cNvCxnSpPr/>
          <p:nvPr/>
        </p:nvCxnSpPr>
        <p:spPr>
          <a:xfrm>
            <a:off x="11292840" y="6347460"/>
            <a:ext cx="182880" cy="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add-circle"/>
          <p:cNvSpPr/>
          <p:nvPr/>
        </p:nvSpPr>
        <p:spPr>
          <a:xfrm>
            <a:off x="11475720" y="6225540"/>
            <a:ext cx="243840" cy="243840"/>
          </a:xfrm>
          <a:prstGeom prst="ellipse">
            <a:avLst/>
          </a:prstGeom>
          <a:solidFill>
            <a:srgbClr val="FFFDF9"/>
          </a:solidFill>
          <a:ln w="1142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2" name="add-horizontal"/>
          <p:cNvCxnSpPr/>
          <p:nvPr/>
        </p:nvCxnSpPr>
        <p:spPr>
          <a:xfrm>
            <a:off x="11513820" y="6347460"/>
            <a:ext cx="167640" cy="0"/>
          </a:xfrm>
          <a:prstGeom prst="line">
            <a:avLst/>
          </a:prstGeom>
          <a:ln w="1142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add-vertical"/>
          <p:cNvCxnSpPr/>
          <p:nvPr/>
        </p:nvCxnSpPr>
        <p:spPr>
          <a:xfrm>
            <a:off x="11597640" y="6263640"/>
            <a:ext cx="0" cy="167640"/>
          </a:xfrm>
          <a:prstGeom prst="line">
            <a:avLst/>
          </a:prstGeom>
          <a:ln w="1142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add-down"/>
          <p:cNvCxnSpPr/>
          <p:nvPr/>
        </p:nvCxnSpPr>
        <p:spPr>
          <a:xfrm>
            <a:off x="11597640" y="6469380"/>
            <a:ext cx="0" cy="13716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fusion-circle"/>
          <p:cNvSpPr/>
          <p:nvPr/>
        </p:nvSpPr>
        <p:spPr>
          <a:xfrm>
            <a:off x="11475720" y="6606540"/>
            <a:ext cx="243840" cy="243840"/>
          </a:xfrm>
          <a:prstGeom prst="ellipse">
            <a:avLst/>
          </a:prstGeom>
          <a:solidFill>
            <a:srgbClr val="FFFDF9"/>
          </a:solidFill>
          <a:ln w="1142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usion-letter"/>
          <p:cNvSpPr txBox="1"/>
          <p:nvPr/>
        </p:nvSpPr>
        <p:spPr>
          <a:xfrm>
            <a:off x="11490960" y="6629400"/>
            <a:ext cx="205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000000"/>
                </a:solidFill>
                <a:latin typeface="Liberation Serif"/>
              </a:defRPr>
            </a:pPr>
            <a:r>
              <a:t>F</a:t>
            </a:r>
          </a:p>
        </p:txBody>
      </p:sp>
      <p:cxnSp>
        <p:nvCxnSpPr>
          <p:cNvPr id="427" name="fusion-output-arrow"/>
          <p:cNvCxnSpPr/>
          <p:nvPr/>
        </p:nvCxnSpPr>
        <p:spPr>
          <a:xfrm>
            <a:off x="11597640" y="6850380"/>
            <a:ext cx="0" cy="198120"/>
          </a:xfrm>
          <a:prstGeom prst="line">
            <a:avLst/>
          </a:prstGeom>
          <a:ln w="1371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fusion-inset-label"/>
          <p:cNvSpPr txBox="1"/>
          <p:nvPr/>
        </p:nvSpPr>
        <p:spPr>
          <a:xfrm>
            <a:off x="10805160" y="6583680"/>
            <a:ext cx="66294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000000"/>
                </a:solidFill>
                <a:latin typeface="Liberation Serif"/>
              </a:defRPr>
            </a:pPr>
            <a:r>
              <a:t>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here Does It Exist from the Low-Altitude Spatial Aerial Video Ground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830300" cy="7078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