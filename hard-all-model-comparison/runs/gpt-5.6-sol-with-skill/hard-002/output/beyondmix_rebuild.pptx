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194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_background"/>
          <p:cNvSpPr/>
          <p:nvPr/>
        </p:nvSpPr>
        <p:spPr>
          <a:xfrm>
            <a:off x="0" y="0"/>
            <a:ext cx="12191999" cy="6194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urce_domain_background"/>
          <p:cNvSpPr/>
          <p:nvPr/>
        </p:nvSpPr>
        <p:spPr>
          <a:xfrm>
            <a:off x="6379" y="140357"/>
            <a:ext cx="7706926" cy="1882072"/>
          </a:xfrm>
          <a:prstGeom prst="roundRect">
            <a:avLst>
              <a:gd name="adj" fmla="val 1655"/>
            </a:avLst>
          </a:prstGeom>
          <a:solidFill>
            <a:srgbClr val="FBF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mixed_domain_background"/>
          <p:cNvSpPr/>
          <p:nvPr/>
        </p:nvSpPr>
        <p:spPr>
          <a:xfrm>
            <a:off x="6379" y="2022430"/>
            <a:ext cx="7706926" cy="2328665"/>
          </a:xfrm>
          <a:prstGeom prst="rect">
            <a:avLst/>
          </a:prstGeom>
          <a:solidFill>
            <a:srgbClr val="F7F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arget_domain_background"/>
          <p:cNvSpPr/>
          <p:nvPr/>
        </p:nvSpPr>
        <p:spPr>
          <a:xfrm>
            <a:off x="6379" y="4351095"/>
            <a:ext cx="7706926" cy="1837412"/>
          </a:xfrm>
          <a:prstGeom prst="roundRect">
            <a:avLst>
              <a:gd name="adj" fmla="val 1490"/>
            </a:avLst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ft_panel_outline"/>
          <p:cNvSpPr/>
          <p:nvPr/>
        </p:nvSpPr>
        <p:spPr>
          <a:xfrm>
            <a:off x="9569" y="137167"/>
            <a:ext cx="7706926" cy="6054530"/>
          </a:xfrm>
          <a:prstGeom prst="roundRect">
            <a:avLst>
              <a:gd name="adj" fmla="val 1738"/>
            </a:avLst>
          </a:prstGeom>
          <a:noFill/>
          <a:ln w="20415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structural_priors_background"/>
          <p:cNvSpPr/>
          <p:nvPr/>
        </p:nvSpPr>
        <p:spPr>
          <a:xfrm>
            <a:off x="7713305" y="146737"/>
            <a:ext cx="4446794" cy="6041770"/>
          </a:xfrm>
          <a:prstGeom prst="roundRect">
            <a:avLst>
              <a:gd name="adj" fmla="val 2006"/>
            </a:avLst>
          </a:prstGeom>
          <a:solidFill>
            <a:srgbClr val="FFF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structural_priors_outline"/>
          <p:cNvSpPr/>
          <p:nvPr/>
        </p:nvSpPr>
        <p:spPr>
          <a:xfrm>
            <a:off x="7713305" y="146737"/>
            <a:ext cx="4446794" cy="6041770"/>
          </a:xfrm>
          <a:prstGeom prst="roundRect">
            <a:avLst>
              <a:gd name="adj" fmla="val 2006"/>
            </a:avLst>
          </a:prstGeom>
          <a:noFill/>
          <a:ln w="20415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ource_title"/>
          <p:cNvSpPr txBox="1"/>
          <p:nvPr/>
        </p:nvSpPr>
        <p:spPr>
          <a:xfrm>
            <a:off x="210536" y="197777"/>
            <a:ext cx="1658775" cy="2551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 i="0">
                <a:solidFill>
                  <a:srgbClr val="000000"/>
                </a:solidFill>
                <a:latin typeface="Liberation Sans"/>
              </a:rPr>
              <a:t>Source Domain</a:t>
            </a:r>
          </a:p>
        </p:txBody>
      </p:sp>
      <p:sp>
        <p:nvSpPr>
          <p:cNvPr id="10" name="mixed_title"/>
          <p:cNvSpPr txBox="1"/>
          <p:nvPr/>
        </p:nvSpPr>
        <p:spPr>
          <a:xfrm>
            <a:off x="210536" y="2060709"/>
            <a:ext cx="1722574" cy="26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 i="0">
                <a:solidFill>
                  <a:srgbClr val="000000"/>
                </a:solidFill>
                <a:latin typeface="Liberation Sans"/>
              </a:rPr>
              <a:t>Mixed Domain</a:t>
            </a:r>
          </a:p>
        </p:txBody>
      </p:sp>
      <p:sp>
        <p:nvSpPr>
          <p:cNvPr id="11" name="target_title"/>
          <p:cNvSpPr txBox="1"/>
          <p:nvPr/>
        </p:nvSpPr>
        <p:spPr>
          <a:xfrm>
            <a:off x="210536" y="4382995"/>
            <a:ext cx="1786373" cy="26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 i="0">
                <a:solidFill>
                  <a:srgbClr val="000000"/>
                </a:solidFill>
                <a:latin typeface="Liberation Sans"/>
              </a:rPr>
              <a:t>Target Domain</a:t>
            </a:r>
          </a:p>
        </p:txBody>
      </p:sp>
      <p:sp>
        <p:nvSpPr>
          <p:cNvPr id="12" name="priors_title"/>
          <p:cNvSpPr txBox="1"/>
          <p:nvPr/>
        </p:nvSpPr>
        <p:spPr>
          <a:xfrm>
            <a:off x="8485274" y="197777"/>
            <a:ext cx="2902857" cy="274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 i="0">
                <a:solidFill>
                  <a:srgbClr val="000000"/>
                </a:solidFill>
                <a:latin typeface="Liberation Sans"/>
              </a:rPr>
              <a:t>Additional Structural Priors</a:t>
            </a:r>
          </a:p>
        </p:txBody>
      </p:sp>
      <p:sp>
        <p:nvSpPr>
          <p:cNvPr id="13" name="source_input_white_frame"/>
          <p:cNvSpPr/>
          <p:nvPr/>
        </p:nvSpPr>
        <p:spPr>
          <a:xfrm>
            <a:off x="153117" y="446593"/>
            <a:ext cx="1358919" cy="91870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source_input_raster" descr="sourc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57" y="465733"/>
            <a:ext cx="1320640" cy="880426"/>
          </a:xfrm>
          <a:prstGeom prst="rect">
            <a:avLst/>
          </a:prstGeom>
          <a:effectLst/>
        </p:spPr>
      </p:pic>
      <p:sp>
        <p:nvSpPr>
          <p:cNvPr id="15" name="source_input_border"/>
          <p:cNvSpPr/>
          <p:nvPr/>
        </p:nvSpPr>
        <p:spPr>
          <a:xfrm>
            <a:off x="153117" y="446593"/>
            <a:ext cx="1358919" cy="91870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source_prediction_white_frame"/>
          <p:cNvSpPr/>
          <p:nvPr/>
        </p:nvSpPr>
        <p:spPr>
          <a:xfrm>
            <a:off x="3955541" y="446593"/>
            <a:ext cx="1365299" cy="91870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source_prediction_raster" descr="source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681" y="465733"/>
            <a:ext cx="1327020" cy="880426"/>
          </a:xfrm>
          <a:prstGeom prst="rect">
            <a:avLst/>
          </a:prstGeom>
          <a:effectLst/>
        </p:spPr>
      </p:pic>
      <p:sp>
        <p:nvSpPr>
          <p:cNvPr id="18" name="source_prediction_border"/>
          <p:cNvSpPr/>
          <p:nvPr/>
        </p:nvSpPr>
        <p:spPr>
          <a:xfrm>
            <a:off x="3955541" y="446593"/>
            <a:ext cx="1365299" cy="91870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source_label_white_frame"/>
          <p:cNvSpPr/>
          <p:nvPr/>
        </p:nvSpPr>
        <p:spPr>
          <a:xfrm>
            <a:off x="6080050" y="446593"/>
            <a:ext cx="1371679" cy="91870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source_label_raster" descr="source_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189" y="465733"/>
            <a:ext cx="1333400" cy="880426"/>
          </a:xfrm>
          <a:prstGeom prst="rect">
            <a:avLst/>
          </a:prstGeom>
          <a:effectLst/>
        </p:spPr>
      </p:pic>
      <p:sp>
        <p:nvSpPr>
          <p:cNvPr id="21" name="source_label_border"/>
          <p:cNvSpPr/>
          <p:nvPr/>
        </p:nvSpPr>
        <p:spPr>
          <a:xfrm>
            <a:off x="6080050" y="446593"/>
            <a:ext cx="1371679" cy="91870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xed_input_white_frame"/>
          <p:cNvSpPr/>
          <p:nvPr/>
        </p:nvSpPr>
        <p:spPr>
          <a:xfrm>
            <a:off x="165877" y="2711459"/>
            <a:ext cx="1365299" cy="91870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mixed_input_raster" descr="mixed_in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17" y="2730599"/>
            <a:ext cx="1327020" cy="880426"/>
          </a:xfrm>
          <a:prstGeom prst="rect">
            <a:avLst/>
          </a:prstGeom>
          <a:effectLst/>
        </p:spPr>
      </p:pic>
      <p:sp>
        <p:nvSpPr>
          <p:cNvPr id="24" name="mixed_input_border"/>
          <p:cNvSpPr/>
          <p:nvPr/>
        </p:nvSpPr>
        <p:spPr>
          <a:xfrm>
            <a:off x="165877" y="2711459"/>
            <a:ext cx="1365299" cy="91870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ixed_prediction_white_frame"/>
          <p:cNvSpPr/>
          <p:nvPr/>
        </p:nvSpPr>
        <p:spPr>
          <a:xfrm>
            <a:off x="3968301" y="2711459"/>
            <a:ext cx="1365299" cy="91870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mixed_prediction_raster" descr="mixed_p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441" y="2730599"/>
            <a:ext cx="1327020" cy="880426"/>
          </a:xfrm>
          <a:prstGeom prst="rect">
            <a:avLst/>
          </a:prstGeom>
          <a:effectLst/>
        </p:spPr>
      </p:pic>
      <p:sp>
        <p:nvSpPr>
          <p:cNvPr id="27" name="mixed_prediction_border"/>
          <p:cNvSpPr/>
          <p:nvPr/>
        </p:nvSpPr>
        <p:spPr>
          <a:xfrm>
            <a:off x="3968301" y="2711459"/>
            <a:ext cx="1365299" cy="91870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ixed_label_white_frame"/>
          <p:cNvSpPr/>
          <p:nvPr/>
        </p:nvSpPr>
        <p:spPr>
          <a:xfrm>
            <a:off x="6105569" y="2711459"/>
            <a:ext cx="1358919" cy="91870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mixed_label_raster" descr="mixed_lab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709" y="2730599"/>
            <a:ext cx="1320640" cy="880426"/>
          </a:xfrm>
          <a:prstGeom prst="rect">
            <a:avLst/>
          </a:prstGeom>
          <a:effectLst/>
        </p:spPr>
      </p:pic>
      <p:sp>
        <p:nvSpPr>
          <p:cNvPr id="30" name="mixed_label_border"/>
          <p:cNvSpPr/>
          <p:nvPr/>
        </p:nvSpPr>
        <p:spPr>
          <a:xfrm>
            <a:off x="6105569" y="2711459"/>
            <a:ext cx="1358919" cy="91870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arget_input_white_frame"/>
          <p:cNvSpPr/>
          <p:nvPr/>
        </p:nvSpPr>
        <p:spPr>
          <a:xfrm>
            <a:off x="172257" y="4746649"/>
            <a:ext cx="1358919" cy="91870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target_input_raster" descr="target_inp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397" y="4765789"/>
            <a:ext cx="1320640" cy="880426"/>
          </a:xfrm>
          <a:prstGeom prst="rect">
            <a:avLst/>
          </a:prstGeom>
          <a:effectLst/>
        </p:spPr>
      </p:pic>
      <p:sp>
        <p:nvSpPr>
          <p:cNvPr id="33" name="target_input_border"/>
          <p:cNvSpPr/>
          <p:nvPr/>
        </p:nvSpPr>
        <p:spPr>
          <a:xfrm>
            <a:off x="172257" y="4746649"/>
            <a:ext cx="1358919" cy="91870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_prediction_white_frame"/>
          <p:cNvSpPr/>
          <p:nvPr/>
        </p:nvSpPr>
        <p:spPr>
          <a:xfrm>
            <a:off x="3968301" y="4746649"/>
            <a:ext cx="1365299" cy="91232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target_prediction_raster" descr="target_p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87441" y="4765789"/>
            <a:ext cx="1327020" cy="874047"/>
          </a:xfrm>
          <a:prstGeom prst="rect">
            <a:avLst/>
          </a:prstGeom>
          <a:effectLst/>
        </p:spPr>
      </p:pic>
      <p:sp>
        <p:nvSpPr>
          <p:cNvPr id="36" name="target_prediction_border"/>
          <p:cNvSpPr/>
          <p:nvPr/>
        </p:nvSpPr>
        <p:spPr>
          <a:xfrm>
            <a:off x="3968301" y="4746649"/>
            <a:ext cx="1365299" cy="91232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_label_white_frame"/>
          <p:cNvSpPr/>
          <p:nvPr/>
        </p:nvSpPr>
        <p:spPr>
          <a:xfrm>
            <a:off x="6105569" y="4746649"/>
            <a:ext cx="1358919" cy="912326"/>
          </a:xfrm>
          <a:prstGeom prst="rect">
            <a:avLst/>
          </a:prstGeom>
          <a:solidFill>
            <a:srgbClr val="FFFFFF"/>
          </a:solidFill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target_label_raster" descr="target_labe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709" y="4765789"/>
            <a:ext cx="1320640" cy="874047"/>
          </a:xfrm>
          <a:prstGeom prst="rect">
            <a:avLst/>
          </a:prstGeom>
          <a:effectLst/>
        </p:spPr>
      </p:pic>
      <p:sp>
        <p:nvSpPr>
          <p:cNvPr id="39" name="target_label_border"/>
          <p:cNvSpPr/>
          <p:nvPr/>
        </p:nvSpPr>
        <p:spPr>
          <a:xfrm>
            <a:off x="6105569" y="4746649"/>
            <a:ext cx="1358919" cy="912326"/>
          </a:xfrm>
          <a:prstGeom prst="rect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source_student_encoder_shape"/>
          <p:cNvSpPr/>
          <p:nvPr/>
        </p:nvSpPr>
        <p:spPr>
          <a:xfrm>
            <a:off x="1843792" y="452973"/>
            <a:ext cx="535912" cy="899566"/>
          </a:xfrm>
          <a:custGeom>
            <a:avLst/>
            <a:gdLst/>
            <a:ahLst/>
            <a:cxnLst/>
            <a:rect l="l" t="t" r="r" b="b"/>
            <a:pathLst>
              <a:path w="535912" h="899566">
                <a:moveTo>
                  <a:pt x="0" y="0"/>
                </a:moveTo>
                <a:lnTo>
                  <a:pt x="535912" y="127598"/>
                </a:lnTo>
                <a:lnTo>
                  <a:pt x="535912" y="771968"/>
                </a:lnTo>
                <a:lnTo>
                  <a:pt x="0" y="899566"/>
                </a:lnTo>
                <a:close/>
              </a:path>
            </a:pathLst>
          </a:custGeom>
          <a:solidFill>
            <a:srgbClr val="FFE6CD"/>
          </a:solidFill>
          <a:ln w="31899">
            <a:solidFill>
              <a:srgbClr val="D75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source_student_encoder_label"/>
          <p:cNvSpPr txBox="1"/>
          <p:nvPr/>
        </p:nvSpPr>
        <p:spPr>
          <a:xfrm>
            <a:off x="1856552" y="637990"/>
            <a:ext cx="510392" cy="529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9" b="0" i="1">
                <a:solidFill>
                  <a:srgbClr val="000000"/>
                </a:solidFill>
                <a:latin typeface="Latin Modern Math"/>
              </a:rPr>
              <a:t>ℰ</a:t>
            </a:r>
          </a:p>
        </p:txBody>
      </p:sp>
      <p:sp>
        <p:nvSpPr>
          <p:cNvPr id="42" name="source_student_encoder_subscript"/>
          <p:cNvSpPr txBox="1"/>
          <p:nvPr/>
        </p:nvSpPr>
        <p:spPr>
          <a:xfrm>
            <a:off x="2111748" y="912326"/>
            <a:ext cx="267956" cy="1850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1">
                <a:solidFill>
                  <a:srgbClr val="000000"/>
                </a:solidFill>
                <a:latin typeface="Liberation Serif"/>
              </a:rPr>
              <a:t>stu</a:t>
            </a:r>
          </a:p>
        </p:txBody>
      </p:sp>
      <p:sp>
        <p:nvSpPr>
          <p:cNvPr id="43" name="source_student_decoder_shape"/>
          <p:cNvSpPr/>
          <p:nvPr/>
        </p:nvSpPr>
        <p:spPr>
          <a:xfrm>
            <a:off x="2979415" y="452973"/>
            <a:ext cx="535913" cy="899566"/>
          </a:xfrm>
          <a:custGeom>
            <a:avLst/>
            <a:gdLst/>
            <a:ahLst/>
            <a:cxnLst/>
            <a:rect l="l" t="t" r="r" b="b"/>
            <a:pathLst>
              <a:path w="535913" h="899566">
                <a:moveTo>
                  <a:pt x="0" y="127598"/>
                </a:moveTo>
                <a:lnTo>
                  <a:pt x="535913" y="0"/>
                </a:lnTo>
                <a:lnTo>
                  <a:pt x="535913" y="899566"/>
                </a:lnTo>
                <a:lnTo>
                  <a:pt x="0" y="771968"/>
                </a:lnTo>
                <a:close/>
              </a:path>
            </a:pathLst>
          </a:custGeom>
          <a:solidFill>
            <a:srgbClr val="FFE6CD"/>
          </a:solidFill>
          <a:ln w="31899">
            <a:solidFill>
              <a:srgbClr val="D75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source_student_decoder_label"/>
          <p:cNvSpPr txBox="1"/>
          <p:nvPr/>
        </p:nvSpPr>
        <p:spPr>
          <a:xfrm>
            <a:off x="2992175" y="637990"/>
            <a:ext cx="510392" cy="5295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9" b="0" i="1">
                <a:solidFill>
                  <a:srgbClr val="000000"/>
                </a:solidFill>
                <a:latin typeface="Latin Modern Math"/>
              </a:rPr>
              <a:t>𝒟</a:t>
            </a:r>
          </a:p>
        </p:txBody>
      </p:sp>
      <p:sp>
        <p:nvSpPr>
          <p:cNvPr id="45" name="source_student_decoder_subscript"/>
          <p:cNvSpPr txBox="1"/>
          <p:nvPr/>
        </p:nvSpPr>
        <p:spPr>
          <a:xfrm>
            <a:off x="3247371" y="912326"/>
            <a:ext cx="267956" cy="1850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1">
                <a:solidFill>
                  <a:srgbClr val="000000"/>
                </a:solidFill>
                <a:latin typeface="Liberation Serif"/>
              </a:rPr>
              <a:t>stu</a:t>
            </a:r>
          </a:p>
        </p:txBody>
      </p:sp>
      <p:sp>
        <p:nvSpPr>
          <p:cNvPr id="46" name="source_feature_cell_1"/>
          <p:cNvSpPr/>
          <p:nvPr/>
        </p:nvSpPr>
        <p:spPr>
          <a:xfrm>
            <a:off x="2596621" y="599711"/>
            <a:ext cx="153117" cy="153117"/>
          </a:xfrm>
          <a:prstGeom prst="rect">
            <a:avLst/>
          </a:prstGeom>
          <a:solidFill>
            <a:srgbClr val="FFF3D7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source_feature_cell_2"/>
          <p:cNvSpPr/>
          <p:nvPr/>
        </p:nvSpPr>
        <p:spPr>
          <a:xfrm>
            <a:off x="2596621" y="829387"/>
            <a:ext cx="153117" cy="153117"/>
          </a:xfrm>
          <a:prstGeom prst="rect">
            <a:avLst/>
          </a:prstGeom>
          <a:solidFill>
            <a:srgbClr val="FFF3D7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source_feature_cell_3"/>
          <p:cNvSpPr/>
          <p:nvPr/>
        </p:nvSpPr>
        <p:spPr>
          <a:xfrm>
            <a:off x="2596621" y="1059064"/>
            <a:ext cx="153117" cy="153117"/>
          </a:xfrm>
          <a:prstGeom prst="rect">
            <a:avLst/>
          </a:prstGeom>
          <a:solidFill>
            <a:srgbClr val="FFF3D7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ixed_student_encoder_shape"/>
          <p:cNvSpPr/>
          <p:nvPr/>
        </p:nvSpPr>
        <p:spPr>
          <a:xfrm>
            <a:off x="1862932" y="2711459"/>
            <a:ext cx="535912" cy="905947"/>
          </a:xfrm>
          <a:custGeom>
            <a:avLst/>
            <a:gdLst/>
            <a:ahLst/>
            <a:cxnLst/>
            <a:rect l="l" t="t" r="r" b="b"/>
            <a:pathLst>
              <a:path w="535912" h="905947">
                <a:moveTo>
                  <a:pt x="0" y="0"/>
                </a:moveTo>
                <a:lnTo>
                  <a:pt x="535912" y="127599"/>
                </a:lnTo>
                <a:lnTo>
                  <a:pt x="535912" y="778349"/>
                </a:lnTo>
                <a:lnTo>
                  <a:pt x="0" y="905947"/>
                </a:lnTo>
                <a:close/>
              </a:path>
            </a:pathLst>
          </a:custGeom>
          <a:solidFill>
            <a:srgbClr val="FFE6CD"/>
          </a:solidFill>
          <a:ln w="31899">
            <a:solidFill>
              <a:srgbClr val="D75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mixed_student_encoder_label"/>
          <p:cNvSpPr txBox="1"/>
          <p:nvPr/>
        </p:nvSpPr>
        <p:spPr>
          <a:xfrm>
            <a:off x="1875692" y="2896477"/>
            <a:ext cx="510392" cy="535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9" b="0" i="1">
                <a:solidFill>
                  <a:srgbClr val="000000"/>
                </a:solidFill>
                <a:latin typeface="Latin Modern Math"/>
              </a:rPr>
              <a:t>ℰ</a:t>
            </a:r>
          </a:p>
        </p:txBody>
      </p:sp>
      <p:sp>
        <p:nvSpPr>
          <p:cNvPr id="51" name="mixed_student_encoder_subscript"/>
          <p:cNvSpPr txBox="1"/>
          <p:nvPr/>
        </p:nvSpPr>
        <p:spPr>
          <a:xfrm>
            <a:off x="2130888" y="3170813"/>
            <a:ext cx="267956" cy="1850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1">
                <a:solidFill>
                  <a:srgbClr val="000000"/>
                </a:solidFill>
                <a:latin typeface="Liberation Serif"/>
              </a:rPr>
              <a:t>stu</a:t>
            </a:r>
          </a:p>
        </p:txBody>
      </p:sp>
      <p:sp>
        <p:nvSpPr>
          <p:cNvPr id="52" name="mixed_student_decoder_shape"/>
          <p:cNvSpPr/>
          <p:nvPr/>
        </p:nvSpPr>
        <p:spPr>
          <a:xfrm>
            <a:off x="2998555" y="2711459"/>
            <a:ext cx="535912" cy="905947"/>
          </a:xfrm>
          <a:custGeom>
            <a:avLst/>
            <a:gdLst/>
            <a:ahLst/>
            <a:cxnLst/>
            <a:rect l="l" t="t" r="r" b="b"/>
            <a:pathLst>
              <a:path w="535912" h="905947">
                <a:moveTo>
                  <a:pt x="0" y="127599"/>
                </a:moveTo>
                <a:lnTo>
                  <a:pt x="535912" y="0"/>
                </a:lnTo>
                <a:lnTo>
                  <a:pt x="535912" y="905947"/>
                </a:lnTo>
                <a:lnTo>
                  <a:pt x="0" y="778349"/>
                </a:lnTo>
                <a:close/>
              </a:path>
            </a:pathLst>
          </a:custGeom>
          <a:solidFill>
            <a:srgbClr val="FFE6CD"/>
          </a:solidFill>
          <a:ln w="31899">
            <a:solidFill>
              <a:srgbClr val="D75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ixed_student_decoder_label"/>
          <p:cNvSpPr txBox="1"/>
          <p:nvPr/>
        </p:nvSpPr>
        <p:spPr>
          <a:xfrm>
            <a:off x="3011315" y="2896477"/>
            <a:ext cx="510392" cy="535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9" b="0" i="1">
                <a:solidFill>
                  <a:srgbClr val="000000"/>
                </a:solidFill>
                <a:latin typeface="Latin Modern Math"/>
              </a:rPr>
              <a:t>𝒟</a:t>
            </a:r>
          </a:p>
        </p:txBody>
      </p:sp>
      <p:sp>
        <p:nvSpPr>
          <p:cNvPr id="54" name="mixed_student_decoder_subscript"/>
          <p:cNvSpPr txBox="1"/>
          <p:nvPr/>
        </p:nvSpPr>
        <p:spPr>
          <a:xfrm>
            <a:off x="3266511" y="3170813"/>
            <a:ext cx="267956" cy="1850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1">
                <a:solidFill>
                  <a:srgbClr val="000000"/>
                </a:solidFill>
                <a:latin typeface="Liberation Serif"/>
              </a:rPr>
              <a:t>stu</a:t>
            </a:r>
          </a:p>
        </p:txBody>
      </p:sp>
      <p:sp>
        <p:nvSpPr>
          <p:cNvPr id="55" name="mixed_feature_cell_1"/>
          <p:cNvSpPr/>
          <p:nvPr/>
        </p:nvSpPr>
        <p:spPr>
          <a:xfrm>
            <a:off x="2615761" y="2858197"/>
            <a:ext cx="153117" cy="153117"/>
          </a:xfrm>
          <a:prstGeom prst="rect">
            <a:avLst/>
          </a:prstGeom>
          <a:solidFill>
            <a:srgbClr val="FFF3D7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mixed_feature_cell_2"/>
          <p:cNvSpPr/>
          <p:nvPr/>
        </p:nvSpPr>
        <p:spPr>
          <a:xfrm>
            <a:off x="2615761" y="3087874"/>
            <a:ext cx="153117" cy="153117"/>
          </a:xfrm>
          <a:prstGeom prst="rect">
            <a:avLst/>
          </a:prstGeom>
          <a:solidFill>
            <a:srgbClr val="D9F1DE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ixed_feature_cell_3"/>
          <p:cNvSpPr/>
          <p:nvPr/>
        </p:nvSpPr>
        <p:spPr>
          <a:xfrm>
            <a:off x="2615761" y="3317550"/>
            <a:ext cx="153117" cy="153117"/>
          </a:xfrm>
          <a:prstGeom prst="rect">
            <a:avLst/>
          </a:prstGeom>
          <a:solidFill>
            <a:srgbClr val="D8F4F3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arget_teacher_encoder_shape"/>
          <p:cNvSpPr/>
          <p:nvPr/>
        </p:nvSpPr>
        <p:spPr>
          <a:xfrm>
            <a:off x="1862932" y="4746649"/>
            <a:ext cx="542292" cy="905947"/>
          </a:xfrm>
          <a:custGeom>
            <a:avLst/>
            <a:gdLst/>
            <a:ahLst/>
            <a:cxnLst/>
            <a:rect l="l" t="t" r="r" b="b"/>
            <a:pathLst>
              <a:path w="542292" h="905947">
                <a:moveTo>
                  <a:pt x="0" y="0"/>
                </a:moveTo>
                <a:lnTo>
                  <a:pt x="542292" y="127598"/>
                </a:lnTo>
                <a:lnTo>
                  <a:pt x="542292" y="778349"/>
                </a:lnTo>
                <a:lnTo>
                  <a:pt x="0" y="905947"/>
                </a:lnTo>
                <a:close/>
              </a:path>
            </a:pathLst>
          </a:custGeom>
          <a:solidFill>
            <a:srgbClr val="CDDAED"/>
          </a:solidFill>
          <a:ln w="31899">
            <a:solidFill>
              <a:srgbClr val="5C82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arget_teacher_encoder_label"/>
          <p:cNvSpPr txBox="1"/>
          <p:nvPr/>
        </p:nvSpPr>
        <p:spPr>
          <a:xfrm>
            <a:off x="1875692" y="4931667"/>
            <a:ext cx="516772" cy="535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9" b="0" i="1">
                <a:solidFill>
                  <a:srgbClr val="000000"/>
                </a:solidFill>
                <a:latin typeface="Latin Modern Math"/>
              </a:rPr>
              <a:t>ℰ</a:t>
            </a:r>
          </a:p>
        </p:txBody>
      </p:sp>
      <p:sp>
        <p:nvSpPr>
          <p:cNvPr id="60" name="target_teacher_encoder_subscript"/>
          <p:cNvSpPr txBox="1"/>
          <p:nvPr/>
        </p:nvSpPr>
        <p:spPr>
          <a:xfrm>
            <a:off x="2130888" y="5206003"/>
            <a:ext cx="267956" cy="1850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1">
                <a:solidFill>
                  <a:srgbClr val="000000"/>
                </a:solidFill>
                <a:latin typeface="Liberation Serif"/>
              </a:rPr>
              <a:t>tea</a:t>
            </a:r>
          </a:p>
        </p:txBody>
      </p:sp>
      <p:sp>
        <p:nvSpPr>
          <p:cNvPr id="61" name="target_teacher_decoder_shape"/>
          <p:cNvSpPr/>
          <p:nvPr/>
        </p:nvSpPr>
        <p:spPr>
          <a:xfrm>
            <a:off x="2998555" y="4746649"/>
            <a:ext cx="535912" cy="905947"/>
          </a:xfrm>
          <a:custGeom>
            <a:avLst/>
            <a:gdLst/>
            <a:ahLst/>
            <a:cxnLst/>
            <a:rect l="l" t="t" r="r" b="b"/>
            <a:pathLst>
              <a:path w="535912" h="905947">
                <a:moveTo>
                  <a:pt x="0" y="127598"/>
                </a:moveTo>
                <a:lnTo>
                  <a:pt x="535912" y="0"/>
                </a:lnTo>
                <a:lnTo>
                  <a:pt x="535912" y="905947"/>
                </a:lnTo>
                <a:lnTo>
                  <a:pt x="0" y="778349"/>
                </a:lnTo>
                <a:close/>
              </a:path>
            </a:pathLst>
          </a:custGeom>
          <a:solidFill>
            <a:srgbClr val="CDDAED"/>
          </a:solidFill>
          <a:ln w="31899">
            <a:solidFill>
              <a:srgbClr val="5C82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arget_teacher_decoder_label"/>
          <p:cNvSpPr txBox="1"/>
          <p:nvPr/>
        </p:nvSpPr>
        <p:spPr>
          <a:xfrm>
            <a:off x="3011315" y="4931667"/>
            <a:ext cx="510392" cy="535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9" b="0" i="1">
                <a:solidFill>
                  <a:srgbClr val="000000"/>
                </a:solidFill>
                <a:latin typeface="Latin Modern Math"/>
              </a:rPr>
              <a:t>𝒟</a:t>
            </a:r>
          </a:p>
        </p:txBody>
      </p:sp>
      <p:sp>
        <p:nvSpPr>
          <p:cNvPr id="63" name="target_teacher_decoder_subscript"/>
          <p:cNvSpPr txBox="1"/>
          <p:nvPr/>
        </p:nvSpPr>
        <p:spPr>
          <a:xfrm>
            <a:off x="3266511" y="5206003"/>
            <a:ext cx="267956" cy="1850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1">
                <a:solidFill>
                  <a:srgbClr val="000000"/>
                </a:solidFill>
                <a:latin typeface="Liberation Serif"/>
              </a:rPr>
              <a:t>tea</a:t>
            </a:r>
          </a:p>
        </p:txBody>
      </p:sp>
      <p:sp>
        <p:nvSpPr>
          <p:cNvPr id="64" name="target_feature_cell_1"/>
          <p:cNvSpPr/>
          <p:nvPr/>
        </p:nvSpPr>
        <p:spPr>
          <a:xfrm>
            <a:off x="2615761" y="4887007"/>
            <a:ext cx="153117" cy="153117"/>
          </a:xfrm>
          <a:prstGeom prst="rect">
            <a:avLst/>
          </a:prstGeom>
          <a:solidFill>
            <a:srgbClr val="D8F4F3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arget_feature_cell_2"/>
          <p:cNvSpPr/>
          <p:nvPr/>
        </p:nvSpPr>
        <p:spPr>
          <a:xfrm>
            <a:off x="2615761" y="5116684"/>
            <a:ext cx="153117" cy="153117"/>
          </a:xfrm>
          <a:prstGeom prst="rect">
            <a:avLst/>
          </a:prstGeom>
          <a:solidFill>
            <a:srgbClr val="D8F4F3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arget_feature_cell_3"/>
          <p:cNvSpPr/>
          <p:nvPr/>
        </p:nvSpPr>
        <p:spPr>
          <a:xfrm>
            <a:off x="2615761" y="5346360"/>
            <a:ext cx="153117" cy="153117"/>
          </a:xfrm>
          <a:prstGeom prst="rect">
            <a:avLst/>
          </a:prstGeom>
          <a:solidFill>
            <a:srgbClr val="D8F4F3"/>
          </a:solidFill>
          <a:ln w="1913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source_flow_1"/>
          <p:cNvCxnSpPr/>
          <p:nvPr/>
        </p:nvCxnSpPr>
        <p:spPr>
          <a:xfrm>
            <a:off x="1512037" y="899566"/>
            <a:ext cx="331755" cy="0"/>
          </a:xfrm>
          <a:prstGeom prst="line">
            <a:avLst/>
          </a:prstGeom>
          <a:ln w="17225">
            <a:solidFill>
              <a:srgbClr val="C81D38"/>
            </a:solidFill>
            <a:tailEnd type="triangle" w="sm" len="sm"/>
          </a:ln>
          <a:effectLst/>
        </p:spPr>
      </p:cxnSp>
      <p:cxnSp>
        <p:nvCxnSpPr>
          <p:cNvPr id="68" name="source_flow_2"/>
          <p:cNvCxnSpPr/>
          <p:nvPr/>
        </p:nvCxnSpPr>
        <p:spPr>
          <a:xfrm>
            <a:off x="2379704" y="899566"/>
            <a:ext cx="216917" cy="0"/>
          </a:xfrm>
          <a:prstGeom prst="line">
            <a:avLst/>
          </a:prstGeom>
          <a:ln w="17225">
            <a:solidFill>
              <a:srgbClr val="C81D38"/>
            </a:solidFill>
            <a:tailEnd type="triangle" w="sm" len="sm"/>
          </a:ln>
          <a:effectLst/>
        </p:spPr>
      </p:cxnSp>
      <p:cxnSp>
        <p:nvCxnSpPr>
          <p:cNvPr id="69" name="source_flow_3"/>
          <p:cNvCxnSpPr/>
          <p:nvPr/>
        </p:nvCxnSpPr>
        <p:spPr>
          <a:xfrm>
            <a:off x="2749739" y="899566"/>
            <a:ext cx="229676" cy="0"/>
          </a:xfrm>
          <a:prstGeom prst="line">
            <a:avLst/>
          </a:prstGeom>
          <a:ln w="17225">
            <a:solidFill>
              <a:srgbClr val="C81D38"/>
            </a:solidFill>
            <a:tailEnd type="triangle" w="sm" len="sm"/>
          </a:ln>
          <a:effectLst/>
        </p:spPr>
      </p:cxnSp>
      <p:cxnSp>
        <p:nvCxnSpPr>
          <p:cNvPr id="70" name="source_flow_4"/>
          <p:cNvCxnSpPr/>
          <p:nvPr/>
        </p:nvCxnSpPr>
        <p:spPr>
          <a:xfrm>
            <a:off x="3515328" y="899566"/>
            <a:ext cx="440213" cy="0"/>
          </a:xfrm>
          <a:prstGeom prst="line">
            <a:avLst/>
          </a:prstGeom>
          <a:ln w="17225">
            <a:solidFill>
              <a:srgbClr val="C81D38"/>
            </a:solidFill>
            <a:tailEnd type="triangle" w="sm" len="sm"/>
          </a:ln>
          <a:effectLst/>
        </p:spPr>
      </p:cxnSp>
      <p:cxnSp>
        <p:nvCxnSpPr>
          <p:cNvPr id="71" name="mixed_flow_1"/>
          <p:cNvCxnSpPr/>
          <p:nvPr/>
        </p:nvCxnSpPr>
        <p:spPr>
          <a:xfrm>
            <a:off x="1531177" y="3164433"/>
            <a:ext cx="331755" cy="0"/>
          </a:xfrm>
          <a:prstGeom prst="line">
            <a:avLst/>
          </a:prstGeom>
          <a:ln w="17225">
            <a:solidFill>
              <a:srgbClr val="548E3C"/>
            </a:solidFill>
            <a:tailEnd type="triangle" w="sm" len="sm"/>
          </a:ln>
          <a:effectLst/>
        </p:spPr>
      </p:cxnSp>
      <p:cxnSp>
        <p:nvCxnSpPr>
          <p:cNvPr id="72" name="mixed_flow_2"/>
          <p:cNvCxnSpPr/>
          <p:nvPr/>
        </p:nvCxnSpPr>
        <p:spPr>
          <a:xfrm>
            <a:off x="2398844" y="3164433"/>
            <a:ext cx="216917" cy="0"/>
          </a:xfrm>
          <a:prstGeom prst="line">
            <a:avLst/>
          </a:prstGeom>
          <a:ln w="17225">
            <a:solidFill>
              <a:srgbClr val="548E3C"/>
            </a:solidFill>
            <a:tailEnd type="triangle" w="sm" len="sm"/>
          </a:ln>
          <a:effectLst/>
        </p:spPr>
      </p:cxnSp>
      <p:cxnSp>
        <p:nvCxnSpPr>
          <p:cNvPr id="73" name="mixed_flow_3"/>
          <p:cNvCxnSpPr/>
          <p:nvPr/>
        </p:nvCxnSpPr>
        <p:spPr>
          <a:xfrm>
            <a:off x="2768879" y="3164433"/>
            <a:ext cx="229676" cy="0"/>
          </a:xfrm>
          <a:prstGeom prst="line">
            <a:avLst/>
          </a:prstGeom>
          <a:ln w="17225">
            <a:solidFill>
              <a:srgbClr val="548E3C"/>
            </a:solidFill>
            <a:tailEnd type="triangle" w="sm" len="sm"/>
          </a:ln>
          <a:effectLst/>
        </p:spPr>
      </p:cxnSp>
      <p:cxnSp>
        <p:nvCxnSpPr>
          <p:cNvPr id="74" name="mixed_flow_4"/>
          <p:cNvCxnSpPr/>
          <p:nvPr/>
        </p:nvCxnSpPr>
        <p:spPr>
          <a:xfrm>
            <a:off x="3534467" y="3164433"/>
            <a:ext cx="433834" cy="0"/>
          </a:xfrm>
          <a:prstGeom prst="line">
            <a:avLst/>
          </a:prstGeom>
          <a:ln w="17225">
            <a:solidFill>
              <a:srgbClr val="548E3C"/>
            </a:solidFill>
            <a:tailEnd type="triangle" w="sm" len="sm"/>
          </a:ln>
          <a:effectLst/>
        </p:spPr>
      </p:cxnSp>
      <p:cxnSp>
        <p:nvCxnSpPr>
          <p:cNvPr id="75" name="target_flow_1"/>
          <p:cNvCxnSpPr/>
          <p:nvPr/>
        </p:nvCxnSpPr>
        <p:spPr>
          <a:xfrm>
            <a:off x="1531177" y="5199623"/>
            <a:ext cx="331755" cy="0"/>
          </a:xfrm>
          <a:prstGeom prst="line">
            <a:avLst/>
          </a:prstGeom>
          <a:ln w="17225">
            <a:solidFill>
              <a:srgbClr val="17766F"/>
            </a:solidFill>
            <a:tailEnd type="triangle" w="sm" len="sm"/>
          </a:ln>
          <a:effectLst/>
        </p:spPr>
      </p:cxnSp>
      <p:cxnSp>
        <p:nvCxnSpPr>
          <p:cNvPr id="76" name="target_flow_2"/>
          <p:cNvCxnSpPr/>
          <p:nvPr/>
        </p:nvCxnSpPr>
        <p:spPr>
          <a:xfrm>
            <a:off x="2405224" y="5199623"/>
            <a:ext cx="210537" cy="0"/>
          </a:xfrm>
          <a:prstGeom prst="line">
            <a:avLst/>
          </a:prstGeom>
          <a:ln w="17225">
            <a:solidFill>
              <a:srgbClr val="17766F"/>
            </a:solidFill>
            <a:tailEnd type="triangle" w="sm" len="sm"/>
          </a:ln>
          <a:effectLst/>
        </p:spPr>
      </p:cxnSp>
      <p:cxnSp>
        <p:nvCxnSpPr>
          <p:cNvPr id="77" name="target_flow_3"/>
          <p:cNvCxnSpPr/>
          <p:nvPr/>
        </p:nvCxnSpPr>
        <p:spPr>
          <a:xfrm>
            <a:off x="2768879" y="5199623"/>
            <a:ext cx="229676" cy="0"/>
          </a:xfrm>
          <a:prstGeom prst="line">
            <a:avLst/>
          </a:prstGeom>
          <a:ln w="17225">
            <a:solidFill>
              <a:srgbClr val="17766F"/>
            </a:solidFill>
            <a:tailEnd type="triangle" w="sm" len="sm"/>
          </a:ln>
          <a:effectLst/>
        </p:spPr>
      </p:cxnSp>
      <p:cxnSp>
        <p:nvCxnSpPr>
          <p:cNvPr id="78" name="target_flow_4"/>
          <p:cNvCxnSpPr/>
          <p:nvPr/>
        </p:nvCxnSpPr>
        <p:spPr>
          <a:xfrm>
            <a:off x="3534467" y="5199623"/>
            <a:ext cx="433834" cy="0"/>
          </a:xfrm>
          <a:prstGeom prst="line">
            <a:avLst/>
          </a:prstGeom>
          <a:ln w="17225">
            <a:solidFill>
              <a:srgbClr val="17766F"/>
            </a:solidFill>
            <a:tailEnd type="triangle" w="sm" len="sm"/>
          </a:ln>
          <a:effectLst/>
        </p:spPr>
      </p:cxnSp>
      <p:cxnSp>
        <p:nvCxnSpPr>
          <p:cNvPr id="79" name="target_flow_5"/>
          <p:cNvCxnSpPr/>
          <p:nvPr/>
        </p:nvCxnSpPr>
        <p:spPr>
          <a:xfrm>
            <a:off x="5333601" y="5199623"/>
            <a:ext cx="771968" cy="0"/>
          </a:xfrm>
          <a:prstGeom prst="line">
            <a:avLst/>
          </a:prstGeom>
          <a:ln w="17225">
            <a:solidFill>
              <a:srgbClr val="17766F"/>
            </a:solidFill>
            <a:tailEnd type="triangle" w="sm" len="sm"/>
          </a:ln>
          <a:effectLst/>
        </p:spPr>
      </p:cxnSp>
      <p:cxnSp>
        <p:nvCxnSpPr>
          <p:cNvPr id="80" name="source_supervised_loss"/>
          <p:cNvCxnSpPr/>
          <p:nvPr/>
        </p:nvCxnSpPr>
        <p:spPr>
          <a:xfrm>
            <a:off x="5320841" y="899566"/>
            <a:ext cx="759209" cy="0"/>
          </a:xfrm>
          <a:prstGeom prst="line">
            <a:avLst/>
          </a:prstGeom>
          <a:ln w="17225">
            <a:solidFill>
              <a:srgbClr val="C81D38"/>
            </a:solidFill>
            <a:headEnd type="triangle" w="sm" len="sm"/>
            <a:tailEnd type="triangle" w="sm" len="sm"/>
          </a:ln>
          <a:effectLst/>
        </p:spPr>
      </p:cxnSp>
      <p:sp>
        <p:nvSpPr>
          <p:cNvPr id="81" name="source_loss"/>
          <p:cNvSpPr txBox="1"/>
          <p:nvPr/>
        </p:nvSpPr>
        <p:spPr>
          <a:xfrm>
            <a:off x="5524998" y="580571"/>
            <a:ext cx="363654" cy="2488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06" b="0" i="1">
                <a:solidFill>
                  <a:srgbClr val="000000"/>
                </a:solidFill>
                <a:latin typeface="Liberation Serif"/>
              </a:rPr>
              <a:t>L</a:t>
            </a:r>
            <a:r>
              <a:rPr sz="942" b="0" i="1" baseline="30000">
                <a:solidFill>
                  <a:srgbClr val="000000"/>
                </a:solidFill>
                <a:latin typeface="Liberation Serif"/>
              </a:rPr>
              <a:t>s</a:t>
            </a:r>
          </a:p>
        </p:txBody>
      </p:sp>
      <p:cxnSp>
        <p:nvCxnSpPr>
          <p:cNvPr id="82" name="mixed_loss"/>
          <p:cNvCxnSpPr/>
          <p:nvPr/>
        </p:nvCxnSpPr>
        <p:spPr>
          <a:xfrm>
            <a:off x="5333601" y="3164433"/>
            <a:ext cx="771968" cy="0"/>
          </a:xfrm>
          <a:prstGeom prst="line">
            <a:avLst/>
          </a:prstGeom>
          <a:ln w="17225">
            <a:solidFill>
              <a:srgbClr val="548E3C"/>
            </a:solidFill>
            <a:headEnd type="triangle" w="sm" len="sm"/>
            <a:tailEnd type="triangle" w="sm" len="sm"/>
          </a:ln>
          <a:effectLst/>
        </p:spPr>
      </p:cxnSp>
      <p:sp>
        <p:nvSpPr>
          <p:cNvPr id="83" name="mixed_loss_label"/>
          <p:cNvSpPr txBox="1"/>
          <p:nvPr/>
        </p:nvSpPr>
        <p:spPr>
          <a:xfrm>
            <a:off x="5461199" y="2819918"/>
            <a:ext cx="510392" cy="274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06" b="0" i="1">
                <a:solidFill>
                  <a:srgbClr val="000000"/>
                </a:solidFill>
                <a:latin typeface="Liberation Serif"/>
              </a:rPr>
              <a:t>L</a:t>
            </a:r>
            <a:r>
              <a:rPr sz="942" b="0" i="1" baseline="-25000">
                <a:solidFill>
                  <a:srgbClr val="000000"/>
                </a:solidFill>
                <a:latin typeface="Liberation Serif"/>
              </a:rPr>
              <a:t>mix</a:t>
            </a:r>
          </a:p>
        </p:txBody>
      </p:sp>
      <p:sp>
        <p:nvSpPr>
          <p:cNvPr id="84" name="target_loss"/>
          <p:cNvSpPr txBox="1"/>
          <p:nvPr/>
        </p:nvSpPr>
        <p:spPr>
          <a:xfrm>
            <a:off x="5537758" y="4880627"/>
            <a:ext cx="306235" cy="2424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06" b="0" i="1">
                <a:solidFill>
                  <a:srgbClr val="000000"/>
                </a:solidFill>
                <a:latin typeface="Liberation Serif"/>
              </a:rPr>
              <a:t>L</a:t>
            </a:r>
            <a:r>
              <a:rPr sz="942" b="0" i="1" baseline="30000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85" name="target_tau"/>
          <p:cNvSpPr txBox="1"/>
          <p:nvPr/>
        </p:nvSpPr>
        <p:spPr>
          <a:xfrm>
            <a:off x="5550517" y="5186863"/>
            <a:ext cx="267956" cy="2169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1">
                <a:solidFill>
                  <a:srgbClr val="000000"/>
                </a:solidFill>
                <a:latin typeface="Liberation Serif"/>
              </a:rPr>
              <a:t>τ</a:t>
            </a:r>
          </a:p>
        </p:txBody>
      </p:sp>
      <p:cxnSp>
        <p:nvCxnSpPr>
          <p:cNvPr id="86" name="source_to_mixed_input"/>
          <p:cNvCxnSpPr/>
          <p:nvPr/>
        </p:nvCxnSpPr>
        <p:spPr>
          <a:xfrm>
            <a:off x="778348" y="1365299"/>
            <a:ext cx="0" cy="1346160"/>
          </a:xfrm>
          <a:prstGeom prst="line">
            <a:avLst/>
          </a:prstGeom>
          <a:ln w="1594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87" name="target_to_mixed_input"/>
          <p:cNvCxnSpPr/>
          <p:nvPr/>
        </p:nvCxnSpPr>
        <p:spPr>
          <a:xfrm flipV="1">
            <a:off x="778348" y="3630166"/>
            <a:ext cx="0" cy="1116483"/>
          </a:xfrm>
          <a:prstGeom prst="line">
            <a:avLst/>
          </a:prstGeom>
          <a:ln w="1594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88" name="source_label_to_mixed_label"/>
          <p:cNvCxnSpPr/>
          <p:nvPr/>
        </p:nvCxnSpPr>
        <p:spPr>
          <a:xfrm>
            <a:off x="6775459" y="1365299"/>
            <a:ext cx="0" cy="1346160"/>
          </a:xfrm>
          <a:prstGeom prst="line">
            <a:avLst/>
          </a:prstGeom>
          <a:ln w="1594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89" name="target_label_to_mixed_label"/>
          <p:cNvCxnSpPr/>
          <p:nvPr/>
        </p:nvCxnSpPr>
        <p:spPr>
          <a:xfrm flipV="1">
            <a:off x="6775459" y="3630166"/>
            <a:ext cx="0" cy="1116483"/>
          </a:xfrm>
          <a:prstGeom prst="line">
            <a:avLst/>
          </a:prstGeom>
          <a:ln w="1594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90" name="shared_encoder"/>
          <p:cNvCxnSpPr/>
          <p:nvPr/>
        </p:nvCxnSpPr>
        <p:spPr>
          <a:xfrm>
            <a:off x="2118128" y="1314260"/>
            <a:ext cx="12760" cy="1499278"/>
          </a:xfrm>
          <a:prstGeom prst="line">
            <a:avLst/>
          </a:prstGeom>
          <a:ln w="15949">
            <a:solidFill>
              <a:srgbClr val="000000"/>
            </a:solidFill>
            <a:prstDash val="dash"/>
            <a:headEnd type="triangle" w="sm" len="sm"/>
            <a:tailEnd type="triangle" w="sm" len="sm"/>
          </a:ln>
          <a:effectLst/>
        </p:spPr>
      </p:cxnSp>
      <p:cxnSp>
        <p:nvCxnSpPr>
          <p:cNvPr id="91" name="shared_decoder"/>
          <p:cNvCxnSpPr/>
          <p:nvPr/>
        </p:nvCxnSpPr>
        <p:spPr>
          <a:xfrm>
            <a:off x="3240992" y="1314260"/>
            <a:ext cx="25519" cy="1499278"/>
          </a:xfrm>
          <a:prstGeom prst="line">
            <a:avLst/>
          </a:prstGeom>
          <a:ln w="15949">
            <a:solidFill>
              <a:srgbClr val="000000"/>
            </a:solidFill>
            <a:prstDash val="dash"/>
            <a:headEnd type="triangle" w="sm" len="sm"/>
            <a:tailEnd type="triangle" w="sm" len="sm"/>
          </a:ln>
          <a:effectLst/>
        </p:spPr>
      </p:cxnSp>
      <p:cxnSp>
        <p:nvCxnSpPr>
          <p:cNvPr id="92" name="ema_encoder"/>
          <p:cNvCxnSpPr/>
          <p:nvPr/>
        </p:nvCxnSpPr>
        <p:spPr>
          <a:xfrm>
            <a:off x="2130888" y="3553607"/>
            <a:ext cx="0" cy="1282361"/>
          </a:xfrm>
          <a:prstGeom prst="line">
            <a:avLst/>
          </a:prstGeom>
          <a:ln w="15949">
            <a:solidFill>
              <a:srgbClr val="000000"/>
            </a:solidFill>
            <a:prstDash val="dash"/>
            <a:tailEnd type="triangle" w="sm" len="sm"/>
          </a:ln>
          <a:effectLst/>
        </p:spPr>
      </p:cxnSp>
      <p:cxnSp>
        <p:nvCxnSpPr>
          <p:cNvPr id="93" name="ema_decoder"/>
          <p:cNvCxnSpPr/>
          <p:nvPr/>
        </p:nvCxnSpPr>
        <p:spPr>
          <a:xfrm>
            <a:off x="3266511" y="3553607"/>
            <a:ext cx="0" cy="1282361"/>
          </a:xfrm>
          <a:prstGeom prst="line">
            <a:avLst/>
          </a:prstGeom>
          <a:ln w="15949">
            <a:solidFill>
              <a:srgbClr val="000000"/>
            </a:solidFill>
            <a:prstDash val="dash"/>
            <a:tailEnd type="triangle" w="sm" len="sm"/>
          </a:ln>
          <a:effectLst/>
        </p:spPr>
      </p:cxnSp>
      <p:sp>
        <p:nvSpPr>
          <p:cNvPr id="94" name="shared_encoder_label"/>
          <p:cNvSpPr txBox="1"/>
          <p:nvPr/>
        </p:nvSpPr>
        <p:spPr>
          <a:xfrm>
            <a:off x="1505657" y="1703434"/>
            <a:ext cx="663510" cy="26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ans"/>
              </a:rPr>
              <a:t>Shared</a:t>
            </a:r>
          </a:p>
        </p:txBody>
      </p:sp>
      <p:sp>
        <p:nvSpPr>
          <p:cNvPr id="95" name="shared_decoder_label"/>
          <p:cNvSpPr txBox="1"/>
          <p:nvPr/>
        </p:nvSpPr>
        <p:spPr>
          <a:xfrm>
            <a:off x="3285651" y="1703434"/>
            <a:ext cx="599711" cy="26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ans"/>
              </a:rPr>
              <a:t>Shared</a:t>
            </a:r>
          </a:p>
        </p:txBody>
      </p:sp>
      <p:sp>
        <p:nvSpPr>
          <p:cNvPr id="96" name="ema_encoder_label"/>
          <p:cNvSpPr txBox="1"/>
          <p:nvPr/>
        </p:nvSpPr>
        <p:spPr>
          <a:xfrm>
            <a:off x="1448238" y="3898122"/>
            <a:ext cx="701789" cy="4593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ans"/>
              </a:rPr>
              <a:t>EMA</a:t>
            </a:r>
          </a:p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ans"/>
              </a:rPr>
              <a:t>update</a:t>
            </a:r>
          </a:p>
        </p:txBody>
      </p:sp>
      <p:sp>
        <p:nvSpPr>
          <p:cNvPr id="97" name="ema_decoder_label"/>
          <p:cNvSpPr txBox="1"/>
          <p:nvPr/>
        </p:nvSpPr>
        <p:spPr>
          <a:xfrm>
            <a:off x="3292031" y="3898122"/>
            <a:ext cx="701789" cy="4593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ans"/>
              </a:rPr>
              <a:t>EMA</a:t>
            </a:r>
          </a:p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ans"/>
              </a:rPr>
              <a:t>update</a:t>
            </a:r>
          </a:p>
        </p:txBody>
      </p:sp>
      <p:cxnSp>
        <p:nvCxnSpPr>
          <p:cNvPr id="98" name="feature_to_priors_1"/>
          <p:cNvCxnSpPr/>
          <p:nvPr/>
        </p:nvCxnSpPr>
        <p:spPr>
          <a:xfrm flipV="1">
            <a:off x="2692320" y="2124508"/>
            <a:ext cx="0" cy="733689"/>
          </a:xfrm>
          <a:prstGeom prst="line">
            <a:avLst/>
          </a:prstGeom>
          <a:ln w="16587">
            <a:solidFill>
              <a:srgbClr val="000000"/>
            </a:solidFill>
          </a:ln>
          <a:effectLst/>
        </p:spPr>
      </p:cxnSp>
      <p:cxnSp>
        <p:nvCxnSpPr>
          <p:cNvPr id="99" name="feature_to_priors_2"/>
          <p:cNvCxnSpPr/>
          <p:nvPr/>
        </p:nvCxnSpPr>
        <p:spPr>
          <a:xfrm>
            <a:off x="2692320" y="2124508"/>
            <a:ext cx="5020985" cy="0"/>
          </a:xfrm>
          <a:prstGeom prst="line">
            <a:avLst/>
          </a:prstGeom>
          <a:ln w="16587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100" name="source_input_x"/>
          <p:cNvSpPr txBox="1"/>
          <p:nvPr/>
        </p:nvSpPr>
        <p:spPr>
          <a:xfrm>
            <a:off x="829387" y="1441858"/>
            <a:ext cx="414693" cy="2488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507" b="0" i="1">
                <a:solidFill>
                  <a:srgbClr val="000000"/>
                </a:solidFill>
                <a:latin typeface="Liberation Serif"/>
              </a:rPr>
              <a:t>x</a:t>
            </a:r>
            <a:r>
              <a:rPr sz="1009" b="0" i="1" baseline="30000">
                <a:solidFill>
                  <a:srgbClr val="000000"/>
                </a:solidFill>
                <a:latin typeface="Liberation Serif"/>
              </a:rPr>
              <a:t>s</a:t>
            </a:r>
          </a:p>
        </p:txBody>
      </p:sp>
      <p:sp>
        <p:nvSpPr>
          <p:cNvPr id="101" name="mixed_input_x"/>
          <p:cNvSpPr txBox="1"/>
          <p:nvPr/>
        </p:nvSpPr>
        <p:spPr>
          <a:xfrm>
            <a:off x="797488" y="3662065"/>
            <a:ext cx="637990" cy="26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56" b="0" i="1">
                <a:solidFill>
                  <a:srgbClr val="000000"/>
                </a:solidFill>
                <a:latin typeface="Liberation Serif"/>
              </a:rPr>
              <a:t>x</a:t>
            </a:r>
            <a:r>
              <a:rPr sz="976" b="0" i="1" baseline="30000">
                <a:solidFill>
                  <a:srgbClr val="000000"/>
                </a:solidFill>
                <a:latin typeface="Liberation Serif"/>
              </a:rPr>
              <a:t>mix</a:t>
            </a:r>
          </a:p>
        </p:txBody>
      </p:sp>
      <p:sp>
        <p:nvSpPr>
          <p:cNvPr id="102" name="source_prediction_label"/>
          <p:cNvSpPr txBox="1"/>
          <p:nvPr/>
        </p:nvSpPr>
        <p:spPr>
          <a:xfrm>
            <a:off x="4121419" y="1429098"/>
            <a:ext cx="1116483" cy="3062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06" b="0" i="1">
                <a:solidFill>
                  <a:srgbClr val="000000"/>
                </a:solidFill>
                <a:latin typeface="Liberation Serif"/>
              </a:rPr>
              <a:t>f</a:t>
            </a:r>
            <a:r>
              <a:rPr sz="942" b="0" i="1" baseline="-25000">
                <a:solidFill>
                  <a:srgbClr val="000000"/>
                </a:solidFill>
                <a:latin typeface="Liberation Serif"/>
              </a:rPr>
              <a:t>stu</a:t>
            </a:r>
            <a:r>
              <a:rPr sz="1406" b="0" i="1">
                <a:solidFill>
                  <a:srgbClr val="000000"/>
                </a:solidFill>
                <a:latin typeface="Liberation Serif"/>
              </a:rPr>
              <a:t>(x</a:t>
            </a:r>
            <a:r>
              <a:rPr sz="942" b="0" i="1" baseline="30000">
                <a:solidFill>
                  <a:srgbClr val="000000"/>
                </a:solidFill>
                <a:latin typeface="Liberation Serif"/>
              </a:rPr>
              <a:t>s</a:t>
            </a:r>
            <a:r>
              <a:rPr sz="1406" b="0" i="1">
                <a:solidFill>
                  <a:srgbClr val="000000"/>
                </a:solidFill>
                <a:latin typeface="Liberation Serif"/>
              </a:rPr>
              <a:t>)</a:t>
            </a:r>
          </a:p>
        </p:txBody>
      </p:sp>
      <p:sp>
        <p:nvSpPr>
          <p:cNvPr id="103" name="mixed_prediction_label"/>
          <p:cNvSpPr txBox="1"/>
          <p:nvPr/>
        </p:nvSpPr>
        <p:spPr>
          <a:xfrm>
            <a:off x="4146938" y="3687585"/>
            <a:ext cx="1173902" cy="2807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06" b="0" i="1">
                <a:solidFill>
                  <a:srgbClr val="000000"/>
                </a:solidFill>
                <a:latin typeface="Liberation Serif"/>
              </a:rPr>
              <a:t>f</a:t>
            </a:r>
            <a:r>
              <a:rPr sz="942" b="0" i="1" baseline="-25000">
                <a:solidFill>
                  <a:srgbClr val="000000"/>
                </a:solidFill>
                <a:latin typeface="Liberation Serif"/>
              </a:rPr>
              <a:t>stu</a:t>
            </a:r>
            <a:r>
              <a:rPr sz="1406" b="0" i="1">
                <a:solidFill>
                  <a:srgbClr val="000000"/>
                </a:solidFill>
                <a:latin typeface="Liberation Serif"/>
              </a:rPr>
              <a:t>(x</a:t>
            </a:r>
            <a:r>
              <a:rPr sz="942" b="0" i="1" baseline="30000">
                <a:solidFill>
                  <a:srgbClr val="000000"/>
                </a:solidFill>
                <a:latin typeface="Liberation Serif"/>
              </a:rPr>
              <a:t>mix</a:t>
            </a:r>
            <a:r>
              <a:rPr sz="1406" b="0" i="1">
                <a:solidFill>
                  <a:srgbClr val="000000"/>
                </a:solidFill>
                <a:latin typeface="Liberation Serif"/>
              </a:rPr>
              <a:t>)</a:t>
            </a:r>
          </a:p>
        </p:txBody>
      </p:sp>
      <p:sp>
        <p:nvSpPr>
          <p:cNvPr id="104" name="source_y"/>
          <p:cNvSpPr txBox="1"/>
          <p:nvPr/>
        </p:nvSpPr>
        <p:spPr>
          <a:xfrm>
            <a:off x="6826499" y="1429098"/>
            <a:ext cx="414693" cy="26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507" b="0" i="1">
                <a:solidFill>
                  <a:srgbClr val="000000"/>
                </a:solidFill>
                <a:latin typeface="Liberation Serif"/>
              </a:rPr>
              <a:t>y</a:t>
            </a:r>
            <a:r>
              <a:rPr sz="1009" b="0" i="1" baseline="30000">
                <a:solidFill>
                  <a:srgbClr val="000000"/>
                </a:solidFill>
                <a:latin typeface="Liberation Serif"/>
              </a:rPr>
              <a:t>s</a:t>
            </a:r>
          </a:p>
        </p:txBody>
      </p:sp>
      <p:sp>
        <p:nvSpPr>
          <p:cNvPr id="105" name="mixed_y"/>
          <p:cNvSpPr txBox="1"/>
          <p:nvPr/>
        </p:nvSpPr>
        <p:spPr>
          <a:xfrm>
            <a:off x="6813739" y="3687585"/>
            <a:ext cx="599711" cy="2679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56" b="0" i="1">
                <a:solidFill>
                  <a:srgbClr val="000000"/>
                </a:solidFill>
                <a:latin typeface="Liberation Serif"/>
              </a:rPr>
              <a:t>y</a:t>
            </a:r>
            <a:r>
              <a:rPr sz="976" b="0" i="1" baseline="30000">
                <a:solidFill>
                  <a:srgbClr val="000000"/>
                </a:solidFill>
                <a:latin typeface="Liberation Serif"/>
              </a:rPr>
              <a:t>mix</a:t>
            </a:r>
          </a:p>
        </p:txBody>
      </p:sp>
      <p:sp>
        <p:nvSpPr>
          <p:cNvPr id="106" name="feature_label"/>
          <p:cNvSpPr txBox="1"/>
          <p:nvPr/>
        </p:nvSpPr>
        <p:spPr>
          <a:xfrm>
            <a:off x="2284006" y="3662065"/>
            <a:ext cx="842147" cy="293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000000"/>
                </a:solidFill>
                <a:latin typeface="Liberation Sans"/>
              </a:rPr>
              <a:t>Feature  F</a:t>
            </a:r>
          </a:p>
        </p:txBody>
      </p:sp>
      <p:sp>
        <p:nvSpPr>
          <p:cNvPr id="107" name="target_input_caption"/>
          <p:cNvSpPr txBox="1"/>
          <p:nvPr/>
        </p:nvSpPr>
        <p:spPr>
          <a:xfrm>
            <a:off x="389174" y="5722775"/>
            <a:ext cx="669890" cy="3636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00000"/>
                </a:solidFill>
                <a:latin typeface="Liberation Sans"/>
              </a:rPr>
              <a:t>Input</a:t>
            </a:r>
          </a:p>
        </p:txBody>
      </p:sp>
      <p:sp>
        <p:nvSpPr>
          <p:cNvPr id="108" name="target_input_math"/>
          <p:cNvSpPr txBox="1"/>
          <p:nvPr/>
        </p:nvSpPr>
        <p:spPr>
          <a:xfrm>
            <a:off x="861287" y="5722775"/>
            <a:ext cx="459353" cy="3636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56" b="0" i="1">
                <a:solidFill>
                  <a:srgbClr val="000000"/>
                </a:solidFill>
                <a:latin typeface="Liberation Serif"/>
              </a:rPr>
              <a:t>x</a:t>
            </a:r>
            <a:r>
              <a:rPr sz="976" b="0" i="1" baseline="30000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09" name="target_prediction_caption"/>
          <p:cNvSpPr txBox="1"/>
          <p:nvPr/>
        </p:nvSpPr>
        <p:spPr>
          <a:xfrm>
            <a:off x="3847083" y="5710015"/>
            <a:ext cx="944226" cy="3827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 i="0">
                <a:solidFill>
                  <a:srgbClr val="000000"/>
                </a:solidFill>
                <a:latin typeface="Liberation Sans"/>
              </a:rPr>
              <a:t>Prediction</a:t>
            </a:r>
          </a:p>
        </p:txBody>
      </p:sp>
      <p:sp>
        <p:nvSpPr>
          <p:cNvPr id="110" name="target_prediction_math"/>
          <p:cNvSpPr txBox="1"/>
          <p:nvPr/>
        </p:nvSpPr>
        <p:spPr>
          <a:xfrm>
            <a:off x="4465933" y="5710015"/>
            <a:ext cx="1116483" cy="3827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356" b="0" i="1">
                <a:solidFill>
                  <a:srgbClr val="000000"/>
                </a:solidFill>
                <a:latin typeface="Liberation Serif"/>
              </a:rPr>
              <a:t>f</a:t>
            </a:r>
            <a:r>
              <a:rPr sz="908" b="0" i="1" baseline="-25000">
                <a:solidFill>
                  <a:srgbClr val="000000"/>
                </a:solidFill>
                <a:latin typeface="Liberation Serif"/>
              </a:rPr>
              <a:t>tea</a:t>
            </a:r>
            <a:r>
              <a:rPr sz="1356" b="0" i="1">
                <a:solidFill>
                  <a:srgbClr val="000000"/>
                </a:solidFill>
                <a:latin typeface="Liberation Serif"/>
              </a:rPr>
              <a:t>(x</a:t>
            </a:r>
            <a:r>
              <a:rPr sz="908" b="0" i="1" baseline="30000">
                <a:solidFill>
                  <a:srgbClr val="000000"/>
                </a:solidFill>
                <a:latin typeface="Liberation Serif"/>
              </a:rPr>
              <a:t>t</a:t>
            </a:r>
            <a:r>
              <a:rPr sz="1356" b="0" i="1">
                <a:solidFill>
                  <a:srgbClr val="000000"/>
                </a:solidFill>
                <a:latin typeface="Liberation Serif"/>
              </a:rPr>
              <a:t>)</a:t>
            </a:r>
          </a:p>
        </p:txBody>
      </p:sp>
      <p:sp>
        <p:nvSpPr>
          <p:cNvPr id="111" name="target_label_caption"/>
          <p:cNvSpPr txBox="1"/>
          <p:nvPr/>
        </p:nvSpPr>
        <p:spPr>
          <a:xfrm>
            <a:off x="5914172" y="5703635"/>
            <a:ext cx="1180282" cy="40193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 i="0">
                <a:solidFill>
                  <a:srgbClr val="000000"/>
                </a:solidFill>
                <a:latin typeface="Liberation Sans"/>
              </a:rPr>
              <a:t>(Pseudo) Label</a:t>
            </a:r>
          </a:p>
        </p:txBody>
      </p:sp>
      <p:sp>
        <p:nvSpPr>
          <p:cNvPr id="112" name="target_label_math"/>
          <p:cNvSpPr txBox="1"/>
          <p:nvPr/>
        </p:nvSpPr>
        <p:spPr>
          <a:xfrm>
            <a:off x="6890298" y="5703635"/>
            <a:ext cx="701789" cy="40193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56" b="0" i="1">
                <a:solidFill>
                  <a:srgbClr val="000000"/>
                </a:solidFill>
                <a:latin typeface="Liberation Serif"/>
              </a:rPr>
              <a:t>ŷ</a:t>
            </a:r>
            <a:r>
              <a:rPr sz="976" b="0" i="1" baseline="30000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13" name="hilbert_boundary"/>
          <p:cNvSpPr/>
          <p:nvPr/>
        </p:nvSpPr>
        <p:spPr>
          <a:xfrm>
            <a:off x="7923842" y="523152"/>
            <a:ext cx="1250461" cy="1173902"/>
          </a:xfrm>
          <a:prstGeom prst="roundRect">
            <a:avLst>
              <a:gd name="adj" fmla="val 6632"/>
            </a:avLst>
          </a:prstGeom>
          <a:noFill/>
          <a:ln w="14035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4" name="hilbert_path_1"/>
          <p:cNvCxnSpPr/>
          <p:nvPr/>
        </p:nvCxnSpPr>
        <p:spPr>
          <a:xfrm>
            <a:off x="8271547" y="724119"/>
            <a:ext cx="15949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15" name="hilbert_path_2"/>
          <p:cNvCxnSpPr/>
          <p:nvPr/>
        </p:nvCxnSpPr>
        <p:spPr>
          <a:xfrm flipH="1">
            <a:off x="8239933" y="803249"/>
            <a:ext cx="222726" cy="211774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16" name="hilbert_path_3"/>
          <p:cNvCxnSpPr/>
          <p:nvPr/>
        </p:nvCxnSpPr>
        <p:spPr>
          <a:xfrm flipV="1">
            <a:off x="8260578" y="773098"/>
            <a:ext cx="576990" cy="272076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17" name="hilbert_path_4"/>
          <p:cNvCxnSpPr/>
          <p:nvPr/>
        </p:nvCxnSpPr>
        <p:spPr>
          <a:xfrm flipH="1">
            <a:off x="8629746" y="802571"/>
            <a:ext cx="227828" cy="21313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18" name="hilbert_path_5"/>
          <p:cNvCxnSpPr/>
          <p:nvPr/>
        </p:nvCxnSpPr>
        <p:spPr>
          <a:xfrm flipH="1">
            <a:off x="8240616" y="1172559"/>
            <a:ext cx="221360" cy="206844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19" name="hilbert_path_6"/>
          <p:cNvCxnSpPr/>
          <p:nvPr/>
        </p:nvCxnSpPr>
        <p:spPr>
          <a:xfrm flipV="1">
            <a:off x="8260903" y="1142438"/>
            <a:ext cx="576340" cy="267085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20" name="hilbert_path_7"/>
          <p:cNvCxnSpPr/>
          <p:nvPr/>
        </p:nvCxnSpPr>
        <p:spPr>
          <a:xfrm flipH="1">
            <a:off x="8630423" y="1171876"/>
            <a:ext cx="226474" cy="208209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21" name="hilbert_path_8"/>
          <p:cNvCxnSpPr/>
          <p:nvPr/>
        </p:nvCxnSpPr>
        <p:spPr>
          <a:xfrm>
            <a:off x="8660721" y="1457808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122" name="hilbert_cell_1_box"/>
          <p:cNvSpPr/>
          <p:nvPr/>
        </p:nvSpPr>
        <p:spPr>
          <a:xfrm>
            <a:off x="8051440" y="618850"/>
            <a:ext cx="210536" cy="21053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hilbert_cell_1_number"/>
          <p:cNvSpPr txBox="1"/>
          <p:nvPr/>
        </p:nvSpPr>
        <p:spPr>
          <a:xfrm>
            <a:off x="8051440" y="61247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124" name="hilbert_cell_2_box"/>
          <p:cNvSpPr/>
          <p:nvPr/>
        </p:nvSpPr>
        <p:spPr>
          <a:xfrm>
            <a:off x="8440615" y="618850"/>
            <a:ext cx="210536" cy="21053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hilbert_cell_2_number"/>
          <p:cNvSpPr txBox="1"/>
          <p:nvPr/>
        </p:nvSpPr>
        <p:spPr>
          <a:xfrm>
            <a:off x="8440615" y="61247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126" name="hilbert_cell_3_box"/>
          <p:cNvSpPr/>
          <p:nvPr/>
        </p:nvSpPr>
        <p:spPr>
          <a:xfrm>
            <a:off x="8836169" y="618850"/>
            <a:ext cx="210536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hilbert_cell_3_number"/>
          <p:cNvSpPr txBox="1"/>
          <p:nvPr/>
        </p:nvSpPr>
        <p:spPr>
          <a:xfrm>
            <a:off x="8836169" y="61247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128" name="hilbert_cell_4_box"/>
          <p:cNvSpPr/>
          <p:nvPr/>
        </p:nvSpPr>
        <p:spPr>
          <a:xfrm>
            <a:off x="8051440" y="988885"/>
            <a:ext cx="210536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hilbert_cell_4_number"/>
          <p:cNvSpPr txBox="1"/>
          <p:nvPr/>
        </p:nvSpPr>
        <p:spPr>
          <a:xfrm>
            <a:off x="8051440" y="982505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130" name="hilbert_cell_5_box"/>
          <p:cNvSpPr/>
          <p:nvPr/>
        </p:nvSpPr>
        <p:spPr>
          <a:xfrm>
            <a:off x="8440615" y="988885"/>
            <a:ext cx="210536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hilbert_cell_5_number"/>
          <p:cNvSpPr txBox="1"/>
          <p:nvPr/>
        </p:nvSpPr>
        <p:spPr>
          <a:xfrm>
            <a:off x="8440615" y="982505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132" name="hilbert_cell_6_box"/>
          <p:cNvSpPr/>
          <p:nvPr/>
        </p:nvSpPr>
        <p:spPr>
          <a:xfrm>
            <a:off x="8836169" y="988885"/>
            <a:ext cx="210536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hilbert_cell_6_number"/>
          <p:cNvSpPr txBox="1"/>
          <p:nvPr/>
        </p:nvSpPr>
        <p:spPr>
          <a:xfrm>
            <a:off x="8836169" y="982505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134" name="hilbert_cell_7_box"/>
          <p:cNvSpPr/>
          <p:nvPr/>
        </p:nvSpPr>
        <p:spPr>
          <a:xfrm>
            <a:off x="8051440" y="1352539"/>
            <a:ext cx="210536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hilbert_cell_7_number"/>
          <p:cNvSpPr txBox="1"/>
          <p:nvPr/>
        </p:nvSpPr>
        <p:spPr>
          <a:xfrm>
            <a:off x="8051440" y="134616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136" name="hilbert_cell_8_box"/>
          <p:cNvSpPr/>
          <p:nvPr/>
        </p:nvSpPr>
        <p:spPr>
          <a:xfrm>
            <a:off x="8440615" y="1352539"/>
            <a:ext cx="210536" cy="21053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hilbert_cell_8_number"/>
          <p:cNvSpPr txBox="1"/>
          <p:nvPr/>
        </p:nvSpPr>
        <p:spPr>
          <a:xfrm>
            <a:off x="8440615" y="134616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138" name="hilbert_cell_9_box"/>
          <p:cNvSpPr/>
          <p:nvPr/>
        </p:nvSpPr>
        <p:spPr>
          <a:xfrm>
            <a:off x="8836169" y="1352539"/>
            <a:ext cx="210536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hilbert_cell_9_number"/>
          <p:cNvSpPr txBox="1"/>
          <p:nvPr/>
        </p:nvSpPr>
        <p:spPr>
          <a:xfrm>
            <a:off x="8836169" y="134616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sp>
        <p:nvSpPr>
          <p:cNvPr id="140" name="zorder_boundary"/>
          <p:cNvSpPr/>
          <p:nvPr/>
        </p:nvSpPr>
        <p:spPr>
          <a:xfrm>
            <a:off x="10731001" y="523152"/>
            <a:ext cx="1250461" cy="1173902"/>
          </a:xfrm>
          <a:prstGeom prst="roundRect">
            <a:avLst>
              <a:gd name="adj" fmla="val 6632"/>
            </a:avLst>
          </a:prstGeom>
          <a:noFill/>
          <a:ln w="14035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zorder_path_1"/>
          <p:cNvCxnSpPr/>
          <p:nvPr/>
        </p:nvCxnSpPr>
        <p:spPr>
          <a:xfrm>
            <a:off x="10963867" y="838957"/>
            <a:ext cx="0" cy="140358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2" name="zorder_path_2"/>
          <p:cNvCxnSpPr/>
          <p:nvPr/>
        </p:nvCxnSpPr>
        <p:spPr>
          <a:xfrm>
            <a:off x="10963867" y="1208992"/>
            <a:ext cx="0" cy="133978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3" name="zorder_path_3"/>
          <p:cNvCxnSpPr/>
          <p:nvPr/>
        </p:nvCxnSpPr>
        <p:spPr>
          <a:xfrm flipV="1">
            <a:off x="11017680" y="825569"/>
            <a:ext cx="281549" cy="530789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4" name="zorder_path_4"/>
          <p:cNvCxnSpPr/>
          <p:nvPr/>
        </p:nvCxnSpPr>
        <p:spPr>
          <a:xfrm>
            <a:off x="11353042" y="838957"/>
            <a:ext cx="0" cy="140358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5" name="zorder_path_5"/>
          <p:cNvCxnSpPr/>
          <p:nvPr/>
        </p:nvCxnSpPr>
        <p:spPr>
          <a:xfrm>
            <a:off x="11353042" y="1208992"/>
            <a:ext cx="0" cy="133978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6" name="zorder_path_6"/>
          <p:cNvCxnSpPr/>
          <p:nvPr/>
        </p:nvCxnSpPr>
        <p:spPr>
          <a:xfrm flipV="1">
            <a:off x="11407539" y="825202"/>
            <a:ext cx="286560" cy="531522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7" name="zorder_path_7"/>
          <p:cNvCxnSpPr/>
          <p:nvPr/>
        </p:nvCxnSpPr>
        <p:spPr>
          <a:xfrm>
            <a:off x="11748596" y="838957"/>
            <a:ext cx="0" cy="140358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148" name="zorder_path_8"/>
          <p:cNvCxnSpPr/>
          <p:nvPr/>
        </p:nvCxnSpPr>
        <p:spPr>
          <a:xfrm>
            <a:off x="11748596" y="1208992"/>
            <a:ext cx="0" cy="133978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149" name="zorder_cell_1_box"/>
          <p:cNvSpPr/>
          <p:nvPr/>
        </p:nvSpPr>
        <p:spPr>
          <a:xfrm>
            <a:off x="10858599" y="618850"/>
            <a:ext cx="210536" cy="21053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zorder_cell_1_number"/>
          <p:cNvSpPr txBox="1"/>
          <p:nvPr/>
        </p:nvSpPr>
        <p:spPr>
          <a:xfrm>
            <a:off x="10858599" y="61247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151" name="zorder_cell_2_box"/>
          <p:cNvSpPr/>
          <p:nvPr/>
        </p:nvSpPr>
        <p:spPr>
          <a:xfrm>
            <a:off x="11247773" y="618850"/>
            <a:ext cx="210536" cy="21053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zorder_cell_2_number"/>
          <p:cNvSpPr txBox="1"/>
          <p:nvPr/>
        </p:nvSpPr>
        <p:spPr>
          <a:xfrm>
            <a:off x="11247773" y="61247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153" name="zorder_cell_3_box"/>
          <p:cNvSpPr/>
          <p:nvPr/>
        </p:nvSpPr>
        <p:spPr>
          <a:xfrm>
            <a:off x="11643327" y="618850"/>
            <a:ext cx="210536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zorder_cell_3_number"/>
          <p:cNvSpPr txBox="1"/>
          <p:nvPr/>
        </p:nvSpPr>
        <p:spPr>
          <a:xfrm>
            <a:off x="11643327" y="61247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155" name="zorder_cell_4_box"/>
          <p:cNvSpPr/>
          <p:nvPr/>
        </p:nvSpPr>
        <p:spPr>
          <a:xfrm>
            <a:off x="10858599" y="988885"/>
            <a:ext cx="210536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zorder_cell_4_number"/>
          <p:cNvSpPr txBox="1"/>
          <p:nvPr/>
        </p:nvSpPr>
        <p:spPr>
          <a:xfrm>
            <a:off x="10858599" y="982505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157" name="zorder_cell_5_box"/>
          <p:cNvSpPr/>
          <p:nvPr/>
        </p:nvSpPr>
        <p:spPr>
          <a:xfrm>
            <a:off x="11247773" y="988885"/>
            <a:ext cx="210536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zorder_cell_5_number"/>
          <p:cNvSpPr txBox="1"/>
          <p:nvPr/>
        </p:nvSpPr>
        <p:spPr>
          <a:xfrm>
            <a:off x="11247773" y="982505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159" name="zorder_cell_6_box"/>
          <p:cNvSpPr/>
          <p:nvPr/>
        </p:nvSpPr>
        <p:spPr>
          <a:xfrm>
            <a:off x="11643327" y="988885"/>
            <a:ext cx="210536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zorder_cell_6_number"/>
          <p:cNvSpPr txBox="1"/>
          <p:nvPr/>
        </p:nvSpPr>
        <p:spPr>
          <a:xfrm>
            <a:off x="11643327" y="982505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161" name="zorder_cell_7_box"/>
          <p:cNvSpPr/>
          <p:nvPr/>
        </p:nvSpPr>
        <p:spPr>
          <a:xfrm>
            <a:off x="10858599" y="1352539"/>
            <a:ext cx="210536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zorder_cell_7_number"/>
          <p:cNvSpPr txBox="1"/>
          <p:nvPr/>
        </p:nvSpPr>
        <p:spPr>
          <a:xfrm>
            <a:off x="10858599" y="134616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163" name="zorder_cell_8_box"/>
          <p:cNvSpPr/>
          <p:nvPr/>
        </p:nvSpPr>
        <p:spPr>
          <a:xfrm>
            <a:off x="11247773" y="1352539"/>
            <a:ext cx="210536" cy="21053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zorder_cell_8_number"/>
          <p:cNvSpPr txBox="1"/>
          <p:nvPr/>
        </p:nvSpPr>
        <p:spPr>
          <a:xfrm>
            <a:off x="11247773" y="134616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165" name="zorder_cell_9_box"/>
          <p:cNvSpPr/>
          <p:nvPr/>
        </p:nvSpPr>
        <p:spPr>
          <a:xfrm>
            <a:off x="11643327" y="1352539"/>
            <a:ext cx="210536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zorder_cell_9_number"/>
          <p:cNvSpPr txBox="1"/>
          <p:nvPr/>
        </p:nvSpPr>
        <p:spPr>
          <a:xfrm>
            <a:off x="11643327" y="1346160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cxnSp>
        <p:nvCxnSpPr>
          <p:cNvPr id="167" name="permutation_compare"/>
          <p:cNvCxnSpPr/>
          <p:nvPr/>
        </p:nvCxnSpPr>
        <p:spPr>
          <a:xfrm>
            <a:off x="9174304" y="1116483"/>
            <a:ext cx="1556697" cy="0"/>
          </a:xfrm>
          <a:prstGeom prst="line">
            <a:avLst/>
          </a:prstGeom>
          <a:ln w="15949">
            <a:solidFill>
              <a:srgbClr val="000000"/>
            </a:solidFill>
            <a:headEnd type="triangle" w="sm" len="sm"/>
            <a:tailEnd type="triangle" w="sm" len="sm"/>
          </a:ln>
          <a:effectLst/>
        </p:spPr>
      </p:cxnSp>
      <p:sp>
        <p:nvSpPr>
          <p:cNvPr id="168" name="permutation_text_back"/>
          <p:cNvSpPr/>
          <p:nvPr/>
        </p:nvSpPr>
        <p:spPr>
          <a:xfrm>
            <a:off x="9378461" y="720929"/>
            <a:ext cx="1148383" cy="810248"/>
          </a:xfrm>
          <a:prstGeom prst="rect">
            <a:avLst/>
          </a:prstGeom>
          <a:solidFill>
            <a:srgbClr val="FFF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permutation_loss"/>
          <p:cNvSpPr txBox="1"/>
          <p:nvPr/>
        </p:nvSpPr>
        <p:spPr>
          <a:xfrm>
            <a:off x="9327422" y="708169"/>
            <a:ext cx="1288740" cy="3317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06" b="0" i="1">
                <a:solidFill>
                  <a:srgbClr val="000000"/>
                </a:solidFill>
                <a:latin typeface="Liberation Serif"/>
              </a:rPr>
              <a:t>L</a:t>
            </a:r>
            <a:r>
              <a:rPr sz="942" b="0" i="1" baseline="-25000">
                <a:solidFill>
                  <a:srgbClr val="000000"/>
                </a:solidFill>
                <a:latin typeface="Liberation Serif"/>
              </a:rPr>
              <a:t>permutation</a:t>
            </a:r>
          </a:p>
        </p:txBody>
      </p:sp>
      <p:sp>
        <p:nvSpPr>
          <p:cNvPr id="170" name="permutation_caption"/>
          <p:cNvSpPr txBox="1"/>
          <p:nvPr/>
        </p:nvSpPr>
        <p:spPr>
          <a:xfrm>
            <a:off x="9314662" y="1173902"/>
            <a:ext cx="1327020" cy="3827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Permutation</a:t>
            </a:r>
          </a:p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Invariance Prior</a:t>
            </a:r>
          </a:p>
        </p:txBody>
      </p:sp>
      <p:sp>
        <p:nvSpPr>
          <p:cNvPr id="171" name="hilbert_caption"/>
          <p:cNvSpPr txBox="1"/>
          <p:nvPr/>
        </p:nvSpPr>
        <p:spPr>
          <a:xfrm>
            <a:off x="7853663" y="1703434"/>
            <a:ext cx="1403579" cy="2424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Hilbert curves</a:t>
            </a:r>
          </a:p>
        </p:txBody>
      </p:sp>
      <p:sp>
        <p:nvSpPr>
          <p:cNvPr id="172" name="zorder_caption"/>
          <p:cNvSpPr txBox="1"/>
          <p:nvPr/>
        </p:nvSpPr>
        <p:spPr>
          <a:xfrm>
            <a:off x="10667202" y="1703434"/>
            <a:ext cx="1416339" cy="2424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Z-order curves</a:t>
            </a:r>
          </a:p>
        </p:txBody>
      </p:sp>
      <p:sp>
        <p:nvSpPr>
          <p:cNvPr id="173" name="hilbert_sequence_1_box"/>
          <p:cNvSpPr/>
          <p:nvPr/>
        </p:nvSpPr>
        <p:spPr>
          <a:xfrm>
            <a:off x="7757965" y="1971390"/>
            <a:ext cx="220461" cy="21053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hilbert_sequence_1_number"/>
          <p:cNvSpPr txBox="1"/>
          <p:nvPr/>
        </p:nvSpPr>
        <p:spPr>
          <a:xfrm>
            <a:off x="7757965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175" name="hilbert_sequence_2_box"/>
          <p:cNvSpPr/>
          <p:nvPr/>
        </p:nvSpPr>
        <p:spPr>
          <a:xfrm>
            <a:off x="7978426" y="1971390"/>
            <a:ext cx="220461" cy="21053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hilbert_sequence_2_number"/>
          <p:cNvSpPr txBox="1"/>
          <p:nvPr/>
        </p:nvSpPr>
        <p:spPr>
          <a:xfrm>
            <a:off x="7978426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177" name="hilbert_sequence_3_box"/>
          <p:cNvSpPr/>
          <p:nvPr/>
        </p:nvSpPr>
        <p:spPr>
          <a:xfrm>
            <a:off x="8198887" y="1971390"/>
            <a:ext cx="220461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hilbert_sequence_3_number"/>
          <p:cNvSpPr txBox="1"/>
          <p:nvPr/>
        </p:nvSpPr>
        <p:spPr>
          <a:xfrm>
            <a:off x="8198887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179" name="hilbert_sequence_4_box"/>
          <p:cNvSpPr/>
          <p:nvPr/>
        </p:nvSpPr>
        <p:spPr>
          <a:xfrm>
            <a:off x="8419348" y="1971390"/>
            <a:ext cx="220461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hilbert_sequence_4_number"/>
          <p:cNvSpPr txBox="1"/>
          <p:nvPr/>
        </p:nvSpPr>
        <p:spPr>
          <a:xfrm>
            <a:off x="8419348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181" name="hilbert_sequence_5_box"/>
          <p:cNvSpPr/>
          <p:nvPr/>
        </p:nvSpPr>
        <p:spPr>
          <a:xfrm>
            <a:off x="8639810" y="1971390"/>
            <a:ext cx="220461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hilbert_sequence_5_number"/>
          <p:cNvSpPr txBox="1"/>
          <p:nvPr/>
        </p:nvSpPr>
        <p:spPr>
          <a:xfrm>
            <a:off x="8639810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183" name="hilbert_sequence_6_box"/>
          <p:cNvSpPr/>
          <p:nvPr/>
        </p:nvSpPr>
        <p:spPr>
          <a:xfrm>
            <a:off x="8860271" y="1971390"/>
            <a:ext cx="220461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hilbert_sequence_6_number"/>
          <p:cNvSpPr txBox="1"/>
          <p:nvPr/>
        </p:nvSpPr>
        <p:spPr>
          <a:xfrm>
            <a:off x="8860271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185" name="hilbert_sequence_7_box"/>
          <p:cNvSpPr/>
          <p:nvPr/>
        </p:nvSpPr>
        <p:spPr>
          <a:xfrm>
            <a:off x="9080732" y="1971390"/>
            <a:ext cx="220461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hilbert_sequence_7_number"/>
          <p:cNvSpPr txBox="1"/>
          <p:nvPr/>
        </p:nvSpPr>
        <p:spPr>
          <a:xfrm>
            <a:off x="9080732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187" name="hilbert_sequence_8_box"/>
          <p:cNvSpPr/>
          <p:nvPr/>
        </p:nvSpPr>
        <p:spPr>
          <a:xfrm>
            <a:off x="9301193" y="1971390"/>
            <a:ext cx="220461" cy="21053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hilbert_sequence_8_number"/>
          <p:cNvSpPr txBox="1"/>
          <p:nvPr/>
        </p:nvSpPr>
        <p:spPr>
          <a:xfrm>
            <a:off x="9301193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189" name="hilbert_sequence_9_box"/>
          <p:cNvSpPr/>
          <p:nvPr/>
        </p:nvSpPr>
        <p:spPr>
          <a:xfrm>
            <a:off x="9521654" y="1971390"/>
            <a:ext cx="220461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hilbert_sequence_9_number"/>
          <p:cNvSpPr txBox="1"/>
          <p:nvPr/>
        </p:nvSpPr>
        <p:spPr>
          <a:xfrm>
            <a:off x="9521654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sp>
        <p:nvSpPr>
          <p:cNvPr id="191" name="zorder_sequence_1_box"/>
          <p:cNvSpPr/>
          <p:nvPr/>
        </p:nvSpPr>
        <p:spPr>
          <a:xfrm>
            <a:off x="10124910" y="1971390"/>
            <a:ext cx="220461" cy="21053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zorder_sequence_1_number"/>
          <p:cNvSpPr txBox="1"/>
          <p:nvPr/>
        </p:nvSpPr>
        <p:spPr>
          <a:xfrm>
            <a:off x="10124910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193" name="zorder_sequence_2_box"/>
          <p:cNvSpPr/>
          <p:nvPr/>
        </p:nvSpPr>
        <p:spPr>
          <a:xfrm>
            <a:off x="10345371" y="1971390"/>
            <a:ext cx="220461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zorder_sequence_2_number"/>
          <p:cNvSpPr txBox="1"/>
          <p:nvPr/>
        </p:nvSpPr>
        <p:spPr>
          <a:xfrm>
            <a:off x="10345371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195" name="zorder_sequence_3_box"/>
          <p:cNvSpPr/>
          <p:nvPr/>
        </p:nvSpPr>
        <p:spPr>
          <a:xfrm>
            <a:off x="10565832" y="1971390"/>
            <a:ext cx="220461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zorder_sequence_3_number"/>
          <p:cNvSpPr txBox="1"/>
          <p:nvPr/>
        </p:nvSpPr>
        <p:spPr>
          <a:xfrm>
            <a:off x="10565832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197" name="zorder_sequence_4_box"/>
          <p:cNvSpPr/>
          <p:nvPr/>
        </p:nvSpPr>
        <p:spPr>
          <a:xfrm>
            <a:off x="10786293" y="1971390"/>
            <a:ext cx="220461" cy="21053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zorder_sequence_4_number"/>
          <p:cNvSpPr txBox="1"/>
          <p:nvPr/>
        </p:nvSpPr>
        <p:spPr>
          <a:xfrm>
            <a:off x="10786293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199" name="zorder_sequence_5_box"/>
          <p:cNvSpPr/>
          <p:nvPr/>
        </p:nvSpPr>
        <p:spPr>
          <a:xfrm>
            <a:off x="11006755" y="1971390"/>
            <a:ext cx="220461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zorder_sequence_5_number"/>
          <p:cNvSpPr txBox="1"/>
          <p:nvPr/>
        </p:nvSpPr>
        <p:spPr>
          <a:xfrm>
            <a:off x="11006755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201" name="zorder_sequence_6_box"/>
          <p:cNvSpPr/>
          <p:nvPr/>
        </p:nvSpPr>
        <p:spPr>
          <a:xfrm>
            <a:off x="11227216" y="1971390"/>
            <a:ext cx="220461" cy="21053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zorder_sequence_6_number"/>
          <p:cNvSpPr txBox="1"/>
          <p:nvPr/>
        </p:nvSpPr>
        <p:spPr>
          <a:xfrm>
            <a:off x="11227216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203" name="zorder_sequence_7_box"/>
          <p:cNvSpPr/>
          <p:nvPr/>
        </p:nvSpPr>
        <p:spPr>
          <a:xfrm>
            <a:off x="11447677" y="1971390"/>
            <a:ext cx="220461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zorder_sequence_7_number"/>
          <p:cNvSpPr txBox="1"/>
          <p:nvPr/>
        </p:nvSpPr>
        <p:spPr>
          <a:xfrm>
            <a:off x="11447677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205" name="zorder_sequence_8_box"/>
          <p:cNvSpPr/>
          <p:nvPr/>
        </p:nvSpPr>
        <p:spPr>
          <a:xfrm>
            <a:off x="11668138" y="1971390"/>
            <a:ext cx="220461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zorder_sequence_8_number"/>
          <p:cNvSpPr txBox="1"/>
          <p:nvPr/>
        </p:nvSpPr>
        <p:spPr>
          <a:xfrm>
            <a:off x="11668138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207" name="zorder_sequence_9_box"/>
          <p:cNvSpPr/>
          <p:nvPr/>
        </p:nvSpPr>
        <p:spPr>
          <a:xfrm>
            <a:off x="11888599" y="1971390"/>
            <a:ext cx="220461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zorder_sequence_9_number"/>
          <p:cNvSpPr txBox="1"/>
          <p:nvPr/>
        </p:nvSpPr>
        <p:spPr>
          <a:xfrm>
            <a:off x="11888599" y="196501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cxnSp>
        <p:nvCxnSpPr>
          <p:cNvPr id="209" name="permutation_sequence_compare"/>
          <p:cNvCxnSpPr/>
          <p:nvPr/>
        </p:nvCxnSpPr>
        <p:spPr>
          <a:xfrm>
            <a:off x="9748495" y="2079849"/>
            <a:ext cx="376415" cy="0"/>
          </a:xfrm>
          <a:prstGeom prst="line">
            <a:avLst/>
          </a:prstGeom>
          <a:ln w="15311">
            <a:solidFill>
              <a:srgbClr val="000000"/>
            </a:solidFill>
            <a:headEnd type="triangle" w="sm" len="sm"/>
            <a:tailEnd type="triangle" w="sm" len="sm"/>
          </a:ln>
          <a:effectLst/>
        </p:spPr>
      </p:cxnSp>
      <p:cxnSp>
        <p:nvCxnSpPr>
          <p:cNvPr id="210" name="rect_axis_z"/>
          <p:cNvCxnSpPr/>
          <p:nvPr/>
        </p:nvCxnSpPr>
        <p:spPr>
          <a:xfrm flipV="1">
            <a:off x="8019541" y="2347805"/>
            <a:ext cx="0" cy="274336"/>
          </a:xfrm>
          <a:prstGeom prst="line">
            <a:avLst/>
          </a:prstGeom>
          <a:ln w="14673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11" name="rect_axis_x"/>
          <p:cNvCxnSpPr/>
          <p:nvPr/>
        </p:nvCxnSpPr>
        <p:spPr>
          <a:xfrm>
            <a:off x="7962122" y="3304791"/>
            <a:ext cx="1397199" cy="0"/>
          </a:xfrm>
          <a:prstGeom prst="line">
            <a:avLst/>
          </a:prstGeom>
          <a:ln w="14673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12" name="rect_axis_y"/>
          <p:cNvCxnSpPr/>
          <p:nvPr/>
        </p:nvCxnSpPr>
        <p:spPr>
          <a:xfrm flipH="1">
            <a:off x="7885563" y="3272891"/>
            <a:ext cx="114838" cy="510393"/>
          </a:xfrm>
          <a:prstGeom prst="line">
            <a:avLst/>
          </a:prstGeom>
          <a:ln w="14673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213" name="rect_axis_z_label"/>
          <p:cNvSpPr txBox="1"/>
          <p:nvPr/>
        </p:nvSpPr>
        <p:spPr>
          <a:xfrm>
            <a:off x="8064200" y="2341425"/>
            <a:ext cx="140357" cy="2041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Liberation Sans"/>
              </a:rPr>
              <a:t>z</a:t>
            </a:r>
          </a:p>
        </p:txBody>
      </p:sp>
      <p:sp>
        <p:nvSpPr>
          <p:cNvPr id="214" name="rect_axis_x_label"/>
          <p:cNvSpPr txBox="1"/>
          <p:nvPr/>
        </p:nvSpPr>
        <p:spPr>
          <a:xfrm>
            <a:off x="9206203" y="3075114"/>
            <a:ext cx="178637" cy="2169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Liberation Sans"/>
              </a:rPr>
              <a:t>x</a:t>
            </a:r>
          </a:p>
        </p:txBody>
      </p:sp>
      <p:sp>
        <p:nvSpPr>
          <p:cNvPr id="215" name="rect_axis_y_label"/>
          <p:cNvSpPr txBox="1"/>
          <p:nvPr/>
        </p:nvSpPr>
        <p:spPr>
          <a:xfrm>
            <a:off x="7732445" y="3445149"/>
            <a:ext cx="159497" cy="2169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Liberation Sans"/>
              </a:rPr>
              <a:t>y</a:t>
            </a:r>
          </a:p>
        </p:txBody>
      </p:sp>
      <p:sp>
        <p:nvSpPr>
          <p:cNvPr id="216" name="rect_partition_band_1"/>
          <p:cNvSpPr/>
          <p:nvPr/>
        </p:nvSpPr>
        <p:spPr>
          <a:xfrm>
            <a:off x="7923842" y="2628521"/>
            <a:ext cx="1250462" cy="350894"/>
          </a:xfrm>
          <a:custGeom>
            <a:avLst/>
            <a:gdLst/>
            <a:ahLst/>
            <a:cxnLst/>
            <a:rect l="l" t="t" r="r" b="b"/>
            <a:pathLst>
              <a:path w="1250462" h="350894">
                <a:moveTo>
                  <a:pt x="82939" y="0"/>
                </a:moveTo>
                <a:lnTo>
                  <a:pt x="1250462" y="0"/>
                </a:lnTo>
                <a:lnTo>
                  <a:pt x="1180283" y="350894"/>
                </a:lnTo>
                <a:lnTo>
                  <a:pt x="0" y="350894"/>
                </a:lnTo>
                <a:close/>
              </a:path>
            </a:pathLst>
          </a:custGeom>
          <a:solidFill>
            <a:srgbClr val="EEF0ED"/>
          </a:solidFill>
          <a:ln w="13397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7" name="rect_partition_path_0_0"/>
          <p:cNvCxnSpPr/>
          <p:nvPr/>
        </p:nvCxnSpPr>
        <p:spPr>
          <a:xfrm>
            <a:off x="8217318" y="2756119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18" name="rect_partition_path_0_1"/>
          <p:cNvCxnSpPr/>
          <p:nvPr/>
        </p:nvCxnSpPr>
        <p:spPr>
          <a:xfrm>
            <a:off x="8612872" y="2756119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219" name="rect_partition_cell_1_box"/>
          <p:cNvSpPr/>
          <p:nvPr/>
        </p:nvSpPr>
        <p:spPr>
          <a:xfrm>
            <a:off x="8000401" y="2654040"/>
            <a:ext cx="204156" cy="22329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_partition_cell_1_number"/>
          <p:cNvSpPr txBox="1"/>
          <p:nvPr/>
        </p:nvSpPr>
        <p:spPr>
          <a:xfrm>
            <a:off x="8000401" y="2647660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221" name="rect_partition_cell_2_box"/>
          <p:cNvSpPr/>
          <p:nvPr/>
        </p:nvSpPr>
        <p:spPr>
          <a:xfrm>
            <a:off x="8395955" y="2654040"/>
            <a:ext cx="204156" cy="22329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_partition_cell_2_number"/>
          <p:cNvSpPr txBox="1"/>
          <p:nvPr/>
        </p:nvSpPr>
        <p:spPr>
          <a:xfrm>
            <a:off x="8395955" y="2647660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2</a:t>
            </a:r>
          </a:p>
        </p:txBody>
      </p:sp>
      <p:sp>
        <p:nvSpPr>
          <p:cNvPr id="223" name="rect_partition_cell_3_box"/>
          <p:cNvSpPr/>
          <p:nvPr/>
        </p:nvSpPr>
        <p:spPr>
          <a:xfrm>
            <a:off x="8791509" y="2654040"/>
            <a:ext cx="204156" cy="22329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_partition_cell_3_number"/>
          <p:cNvSpPr txBox="1"/>
          <p:nvPr/>
        </p:nvSpPr>
        <p:spPr>
          <a:xfrm>
            <a:off x="8791509" y="2647660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3</a:t>
            </a:r>
          </a:p>
        </p:txBody>
      </p:sp>
      <p:sp>
        <p:nvSpPr>
          <p:cNvPr id="225" name="rect_partition_band_2"/>
          <p:cNvSpPr/>
          <p:nvPr/>
        </p:nvSpPr>
        <p:spPr>
          <a:xfrm>
            <a:off x="7847283" y="2998555"/>
            <a:ext cx="1256842" cy="344515"/>
          </a:xfrm>
          <a:custGeom>
            <a:avLst/>
            <a:gdLst/>
            <a:ahLst/>
            <a:cxnLst/>
            <a:rect l="l" t="t" r="r" b="b"/>
            <a:pathLst>
              <a:path w="1256842" h="344515">
                <a:moveTo>
                  <a:pt x="76559" y="0"/>
                </a:moveTo>
                <a:lnTo>
                  <a:pt x="1256842" y="0"/>
                </a:lnTo>
                <a:lnTo>
                  <a:pt x="1193043" y="344515"/>
                </a:lnTo>
                <a:lnTo>
                  <a:pt x="0" y="344515"/>
                </a:lnTo>
                <a:close/>
              </a:path>
            </a:pathLst>
          </a:custGeom>
          <a:solidFill>
            <a:srgbClr val="FFF3D7"/>
          </a:solidFill>
          <a:ln w="13397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6" name="rect_partition_path_1_0"/>
          <p:cNvCxnSpPr/>
          <p:nvPr/>
        </p:nvCxnSpPr>
        <p:spPr>
          <a:xfrm>
            <a:off x="8140759" y="3126153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27" name="rect_partition_path_1_1"/>
          <p:cNvCxnSpPr/>
          <p:nvPr/>
        </p:nvCxnSpPr>
        <p:spPr>
          <a:xfrm>
            <a:off x="8536313" y="3126153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228" name="rect_partition_cell_4_box"/>
          <p:cNvSpPr/>
          <p:nvPr/>
        </p:nvSpPr>
        <p:spPr>
          <a:xfrm>
            <a:off x="7923842" y="3024075"/>
            <a:ext cx="204156" cy="22329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_partition_cell_4_number"/>
          <p:cNvSpPr txBox="1"/>
          <p:nvPr/>
        </p:nvSpPr>
        <p:spPr>
          <a:xfrm>
            <a:off x="7923842" y="3017695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4</a:t>
            </a:r>
          </a:p>
        </p:txBody>
      </p:sp>
      <p:sp>
        <p:nvSpPr>
          <p:cNvPr id="230" name="rect_partition_cell_5_box"/>
          <p:cNvSpPr/>
          <p:nvPr/>
        </p:nvSpPr>
        <p:spPr>
          <a:xfrm>
            <a:off x="8319396" y="3024075"/>
            <a:ext cx="204156" cy="22329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_partition_cell_5_number"/>
          <p:cNvSpPr txBox="1"/>
          <p:nvPr/>
        </p:nvSpPr>
        <p:spPr>
          <a:xfrm>
            <a:off x="8319396" y="3017695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5</a:t>
            </a:r>
          </a:p>
        </p:txBody>
      </p:sp>
      <p:sp>
        <p:nvSpPr>
          <p:cNvPr id="232" name="rect_partition_cell_6_box"/>
          <p:cNvSpPr/>
          <p:nvPr/>
        </p:nvSpPr>
        <p:spPr>
          <a:xfrm>
            <a:off x="8714951" y="3024075"/>
            <a:ext cx="204156" cy="22329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_partition_cell_6_number"/>
          <p:cNvSpPr txBox="1"/>
          <p:nvPr/>
        </p:nvSpPr>
        <p:spPr>
          <a:xfrm>
            <a:off x="8714951" y="3017695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6</a:t>
            </a:r>
          </a:p>
        </p:txBody>
      </p:sp>
      <p:sp>
        <p:nvSpPr>
          <p:cNvPr id="234" name="rect_partition_band_3"/>
          <p:cNvSpPr/>
          <p:nvPr/>
        </p:nvSpPr>
        <p:spPr>
          <a:xfrm>
            <a:off x="7770725" y="3368590"/>
            <a:ext cx="1269601" cy="344515"/>
          </a:xfrm>
          <a:custGeom>
            <a:avLst/>
            <a:gdLst/>
            <a:ahLst/>
            <a:cxnLst/>
            <a:rect l="l" t="t" r="r" b="b"/>
            <a:pathLst>
              <a:path w="1269601" h="344515">
                <a:moveTo>
                  <a:pt x="76558" y="0"/>
                </a:moveTo>
                <a:lnTo>
                  <a:pt x="1269601" y="0"/>
                </a:lnTo>
                <a:lnTo>
                  <a:pt x="1205802" y="344515"/>
                </a:lnTo>
                <a:lnTo>
                  <a:pt x="0" y="344515"/>
                </a:lnTo>
                <a:close/>
              </a:path>
            </a:pathLst>
          </a:custGeom>
          <a:solidFill>
            <a:srgbClr val="DDE8F1"/>
          </a:solidFill>
          <a:ln w="13397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5" name="rect_partition_path_2_0"/>
          <p:cNvCxnSpPr/>
          <p:nvPr/>
        </p:nvCxnSpPr>
        <p:spPr>
          <a:xfrm>
            <a:off x="8064200" y="3496188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36" name="rect_partition_path_2_1"/>
          <p:cNvCxnSpPr/>
          <p:nvPr/>
        </p:nvCxnSpPr>
        <p:spPr>
          <a:xfrm>
            <a:off x="8459754" y="3496188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237" name="rect_partition_cell_7_box"/>
          <p:cNvSpPr/>
          <p:nvPr/>
        </p:nvSpPr>
        <p:spPr>
          <a:xfrm>
            <a:off x="7847283" y="3394109"/>
            <a:ext cx="204156" cy="22329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_partition_cell_7_number"/>
          <p:cNvSpPr txBox="1"/>
          <p:nvPr/>
        </p:nvSpPr>
        <p:spPr>
          <a:xfrm>
            <a:off x="7847283" y="3387729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7</a:t>
            </a:r>
          </a:p>
        </p:txBody>
      </p:sp>
      <p:sp>
        <p:nvSpPr>
          <p:cNvPr id="239" name="rect_partition_cell_8_box"/>
          <p:cNvSpPr/>
          <p:nvPr/>
        </p:nvSpPr>
        <p:spPr>
          <a:xfrm>
            <a:off x="8242838" y="3394109"/>
            <a:ext cx="204156" cy="22329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_partition_cell_8_number"/>
          <p:cNvSpPr txBox="1"/>
          <p:nvPr/>
        </p:nvSpPr>
        <p:spPr>
          <a:xfrm>
            <a:off x="8242838" y="3387729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8</a:t>
            </a:r>
          </a:p>
        </p:txBody>
      </p:sp>
      <p:sp>
        <p:nvSpPr>
          <p:cNvPr id="241" name="rect_partition_cell_9_box"/>
          <p:cNvSpPr/>
          <p:nvPr/>
        </p:nvSpPr>
        <p:spPr>
          <a:xfrm>
            <a:off x="8638392" y="3394109"/>
            <a:ext cx="204156" cy="22329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_partition_cell_9_number"/>
          <p:cNvSpPr txBox="1"/>
          <p:nvPr/>
        </p:nvSpPr>
        <p:spPr>
          <a:xfrm>
            <a:off x="8638392" y="3387729"/>
            <a:ext cx="204156" cy="2360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0" i="1">
                <a:solidFill>
                  <a:srgbClr val="000000"/>
                </a:solidFill>
                <a:latin typeface="Liberation Serif"/>
              </a:rPr>
              <a:t>9</a:t>
            </a:r>
          </a:p>
        </p:txBody>
      </p:sp>
      <p:cxnSp>
        <p:nvCxnSpPr>
          <p:cNvPr id="243" name="cyl_axis_y"/>
          <p:cNvCxnSpPr/>
          <p:nvPr/>
        </p:nvCxnSpPr>
        <p:spPr>
          <a:xfrm flipV="1">
            <a:off x="10443905" y="2354185"/>
            <a:ext cx="0" cy="1512037"/>
          </a:xfrm>
          <a:prstGeom prst="line">
            <a:avLst/>
          </a:prstGeom>
          <a:ln w="15311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44" name="cyl_axis_x"/>
          <p:cNvCxnSpPr/>
          <p:nvPr/>
        </p:nvCxnSpPr>
        <p:spPr>
          <a:xfrm>
            <a:off x="10443905" y="3859842"/>
            <a:ext cx="1550317" cy="0"/>
          </a:xfrm>
          <a:prstGeom prst="line">
            <a:avLst/>
          </a:prstGeom>
          <a:ln w="15311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245" name="cyl_axis_y_label"/>
          <p:cNvSpPr txBox="1"/>
          <p:nvPr/>
        </p:nvSpPr>
        <p:spPr>
          <a:xfrm>
            <a:off x="10233368" y="2341425"/>
            <a:ext cx="178637" cy="2169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Liberation Sans"/>
              </a:rPr>
              <a:t>y</a:t>
            </a:r>
          </a:p>
        </p:txBody>
      </p:sp>
      <p:sp>
        <p:nvSpPr>
          <p:cNvPr id="246" name="cyl_axis_z_label"/>
          <p:cNvSpPr txBox="1"/>
          <p:nvPr/>
        </p:nvSpPr>
        <p:spPr>
          <a:xfrm>
            <a:off x="10220608" y="3713105"/>
            <a:ext cx="178637" cy="2169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Liberation Sans"/>
              </a:rPr>
              <a:t>z</a:t>
            </a:r>
          </a:p>
        </p:txBody>
      </p:sp>
      <p:sp>
        <p:nvSpPr>
          <p:cNvPr id="247" name="cyl_axis_x_label"/>
          <p:cNvSpPr txBox="1"/>
          <p:nvPr/>
        </p:nvSpPr>
        <p:spPr>
          <a:xfrm>
            <a:off x="11955943" y="3693965"/>
            <a:ext cx="178637" cy="2169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Liberation Sans"/>
              </a:rPr>
              <a:t>x</a:t>
            </a:r>
          </a:p>
        </p:txBody>
      </p:sp>
      <p:sp>
        <p:nvSpPr>
          <p:cNvPr id="248" name="cyl_outer"/>
          <p:cNvSpPr/>
          <p:nvPr/>
        </p:nvSpPr>
        <p:spPr>
          <a:xfrm>
            <a:off x="10456665" y="2239346"/>
            <a:ext cx="1633255" cy="1773613"/>
          </a:xfrm>
          <a:prstGeom prst="ellipse">
            <a:avLst/>
          </a:prstGeom>
          <a:solidFill>
            <a:srgbClr val="F2F2F2"/>
          </a:solidFill>
          <a:ln w="14673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cyl_mid"/>
          <p:cNvSpPr/>
          <p:nvPr/>
        </p:nvSpPr>
        <p:spPr>
          <a:xfrm>
            <a:off x="10673582" y="2462643"/>
            <a:ext cx="1199422" cy="1327020"/>
          </a:xfrm>
          <a:prstGeom prst="ellipse">
            <a:avLst/>
          </a:prstGeom>
          <a:noFill/>
          <a:ln w="127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yl_inner"/>
          <p:cNvSpPr/>
          <p:nvPr/>
        </p:nvSpPr>
        <p:spPr>
          <a:xfrm>
            <a:off x="10935158" y="2756119"/>
            <a:ext cx="676269" cy="740069"/>
          </a:xfrm>
          <a:prstGeom prst="ellipse">
            <a:avLst/>
          </a:prstGeom>
          <a:solidFill>
            <a:srgbClr val="FFF0C8"/>
          </a:solidFill>
          <a:ln w="12759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1" name="cyl_path_1"/>
          <p:cNvCxnSpPr/>
          <p:nvPr/>
        </p:nvCxnSpPr>
        <p:spPr>
          <a:xfrm flipV="1">
            <a:off x="10756469" y="2714903"/>
            <a:ext cx="408417" cy="12253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2" name="cyl_path_2"/>
          <p:cNvCxnSpPr/>
          <p:nvPr/>
        </p:nvCxnSpPr>
        <p:spPr>
          <a:xfrm>
            <a:off x="11394511" y="2711459"/>
            <a:ext cx="331755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3" name="cyl_path_3"/>
          <p:cNvCxnSpPr/>
          <p:nvPr/>
        </p:nvCxnSpPr>
        <p:spPr>
          <a:xfrm>
            <a:off x="11094655" y="3068734"/>
            <a:ext cx="63799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4" name="cyl_path_4"/>
          <p:cNvCxnSpPr/>
          <p:nvPr/>
        </p:nvCxnSpPr>
        <p:spPr>
          <a:xfrm>
            <a:off x="11388131" y="3068734"/>
            <a:ext cx="70179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5" name="cyl_path_5"/>
          <p:cNvCxnSpPr/>
          <p:nvPr/>
        </p:nvCxnSpPr>
        <p:spPr>
          <a:xfrm>
            <a:off x="10743761" y="3374970"/>
            <a:ext cx="421073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6" name="cyl_path_6"/>
          <p:cNvCxnSpPr/>
          <p:nvPr/>
        </p:nvCxnSpPr>
        <p:spPr>
          <a:xfrm>
            <a:off x="11394511" y="3374970"/>
            <a:ext cx="331755" cy="0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7" name="cyl_path_7"/>
          <p:cNvCxnSpPr/>
          <p:nvPr/>
        </p:nvCxnSpPr>
        <p:spPr>
          <a:xfrm flipV="1">
            <a:off x="11053643" y="2799423"/>
            <a:ext cx="152203" cy="181348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8" name="cyl_path_8"/>
          <p:cNvCxnSpPr/>
          <p:nvPr/>
        </p:nvCxnSpPr>
        <p:spPr>
          <a:xfrm>
            <a:off x="11352565" y="2800198"/>
            <a:ext cx="147691" cy="179798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59" name="cyl_path_9"/>
          <p:cNvCxnSpPr/>
          <p:nvPr/>
        </p:nvCxnSpPr>
        <p:spPr>
          <a:xfrm flipH="1">
            <a:off x="11359130" y="3151646"/>
            <a:ext cx="134561" cy="140412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260" name="cyl_path_10"/>
          <p:cNvCxnSpPr/>
          <p:nvPr/>
        </p:nvCxnSpPr>
        <p:spPr>
          <a:xfrm flipH="1" flipV="1">
            <a:off x="11060161" y="3150787"/>
            <a:ext cx="139168" cy="142129"/>
          </a:xfrm>
          <a:prstGeom prst="line">
            <a:avLst/>
          </a:prstGeom>
          <a:ln w="12759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261" name="cyl_cell_1_box"/>
          <p:cNvSpPr/>
          <p:nvPr/>
        </p:nvSpPr>
        <p:spPr>
          <a:xfrm>
            <a:off x="10539604" y="2628521"/>
            <a:ext cx="210536" cy="21691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yl_cell_1_number"/>
          <p:cNvSpPr txBox="1"/>
          <p:nvPr/>
        </p:nvSpPr>
        <p:spPr>
          <a:xfrm>
            <a:off x="10539604" y="2622141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263" name="cyl_cell_2_box"/>
          <p:cNvSpPr/>
          <p:nvPr/>
        </p:nvSpPr>
        <p:spPr>
          <a:xfrm>
            <a:off x="11177594" y="2609381"/>
            <a:ext cx="210536" cy="21691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yl_cell_2_number"/>
          <p:cNvSpPr txBox="1"/>
          <p:nvPr/>
        </p:nvSpPr>
        <p:spPr>
          <a:xfrm>
            <a:off x="11177594" y="2603001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265" name="cyl_cell_3_box"/>
          <p:cNvSpPr/>
          <p:nvPr/>
        </p:nvSpPr>
        <p:spPr>
          <a:xfrm>
            <a:off x="11739026" y="2609381"/>
            <a:ext cx="210536" cy="21691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yl_cell_3_number"/>
          <p:cNvSpPr txBox="1"/>
          <p:nvPr/>
        </p:nvSpPr>
        <p:spPr>
          <a:xfrm>
            <a:off x="11739026" y="2603001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267" name="cyl_cell_4_box"/>
          <p:cNvSpPr/>
          <p:nvPr/>
        </p:nvSpPr>
        <p:spPr>
          <a:xfrm>
            <a:off x="10877739" y="2966656"/>
            <a:ext cx="210536" cy="21691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yl_cell_4_number"/>
          <p:cNvSpPr txBox="1"/>
          <p:nvPr/>
        </p:nvSpPr>
        <p:spPr>
          <a:xfrm>
            <a:off x="10877739" y="2960276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269" name="cyl_cell_5_box"/>
          <p:cNvSpPr/>
          <p:nvPr/>
        </p:nvSpPr>
        <p:spPr>
          <a:xfrm>
            <a:off x="11171214" y="2966656"/>
            <a:ext cx="210536" cy="21691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yl_cell_5_number"/>
          <p:cNvSpPr txBox="1"/>
          <p:nvPr/>
        </p:nvSpPr>
        <p:spPr>
          <a:xfrm>
            <a:off x="11171214" y="2960276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271" name="cyl_cell_6_box"/>
          <p:cNvSpPr/>
          <p:nvPr/>
        </p:nvSpPr>
        <p:spPr>
          <a:xfrm>
            <a:off x="11471070" y="2966656"/>
            <a:ext cx="210536" cy="21691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yl_cell_6_number"/>
          <p:cNvSpPr txBox="1"/>
          <p:nvPr/>
        </p:nvSpPr>
        <p:spPr>
          <a:xfrm>
            <a:off x="11471070" y="2960276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273" name="cyl_cell_7_box"/>
          <p:cNvSpPr/>
          <p:nvPr/>
        </p:nvSpPr>
        <p:spPr>
          <a:xfrm>
            <a:off x="10526844" y="3272891"/>
            <a:ext cx="210536" cy="21691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yl_cell_7_number"/>
          <p:cNvSpPr txBox="1"/>
          <p:nvPr/>
        </p:nvSpPr>
        <p:spPr>
          <a:xfrm>
            <a:off x="10526844" y="3266511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275" name="cyl_cell_8_box"/>
          <p:cNvSpPr/>
          <p:nvPr/>
        </p:nvSpPr>
        <p:spPr>
          <a:xfrm>
            <a:off x="11177594" y="3272891"/>
            <a:ext cx="210536" cy="21691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yl_cell_8_number"/>
          <p:cNvSpPr txBox="1"/>
          <p:nvPr/>
        </p:nvSpPr>
        <p:spPr>
          <a:xfrm>
            <a:off x="11177594" y="3266511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277" name="cyl_cell_9_box"/>
          <p:cNvSpPr/>
          <p:nvPr/>
        </p:nvSpPr>
        <p:spPr>
          <a:xfrm>
            <a:off x="11739026" y="3272891"/>
            <a:ext cx="210536" cy="21691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yl_cell_9_number"/>
          <p:cNvSpPr txBox="1"/>
          <p:nvPr/>
        </p:nvSpPr>
        <p:spPr>
          <a:xfrm>
            <a:off x="11739026" y="3266511"/>
            <a:ext cx="210536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cxnSp>
        <p:nvCxnSpPr>
          <p:cNvPr id="279" name="local_compare"/>
          <p:cNvCxnSpPr/>
          <p:nvPr/>
        </p:nvCxnSpPr>
        <p:spPr>
          <a:xfrm>
            <a:off x="9180684" y="3087874"/>
            <a:ext cx="1167522" cy="0"/>
          </a:xfrm>
          <a:prstGeom prst="line">
            <a:avLst/>
          </a:prstGeom>
          <a:ln w="15949">
            <a:solidFill>
              <a:srgbClr val="000000"/>
            </a:solidFill>
            <a:headEnd type="triangle" w="sm" len="sm"/>
            <a:tailEnd type="triangle" w="sm" len="sm"/>
          </a:ln>
          <a:effectLst/>
        </p:spPr>
      </p:cxnSp>
      <p:sp>
        <p:nvSpPr>
          <p:cNvPr id="280" name="local_text_back"/>
          <p:cNvSpPr/>
          <p:nvPr/>
        </p:nvSpPr>
        <p:spPr>
          <a:xfrm>
            <a:off x="9327422" y="2711459"/>
            <a:ext cx="912326" cy="752828"/>
          </a:xfrm>
          <a:prstGeom prst="rect">
            <a:avLst/>
          </a:prstGeom>
          <a:solidFill>
            <a:srgbClr val="FFF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local_loss"/>
          <p:cNvSpPr txBox="1"/>
          <p:nvPr/>
        </p:nvSpPr>
        <p:spPr>
          <a:xfrm>
            <a:off x="9314662" y="2679560"/>
            <a:ext cx="956985" cy="33175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06" b="0" i="1">
                <a:solidFill>
                  <a:srgbClr val="000000"/>
                </a:solidFill>
                <a:latin typeface="Liberation Serif"/>
              </a:rPr>
              <a:t>L</a:t>
            </a:r>
            <a:r>
              <a:rPr sz="942" b="0" i="1" baseline="-25000">
                <a:solidFill>
                  <a:srgbClr val="000000"/>
                </a:solidFill>
                <a:latin typeface="Liberation Serif"/>
              </a:rPr>
              <a:t>local</a:t>
            </a:r>
          </a:p>
        </p:txBody>
      </p:sp>
      <p:sp>
        <p:nvSpPr>
          <p:cNvPr id="282" name="local_caption"/>
          <p:cNvSpPr txBox="1"/>
          <p:nvPr/>
        </p:nvSpPr>
        <p:spPr>
          <a:xfrm>
            <a:off x="9257243" y="3138913"/>
            <a:ext cx="1084583" cy="4465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Local</a:t>
            </a:r>
          </a:p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Consistency Prior</a:t>
            </a:r>
          </a:p>
        </p:txBody>
      </p:sp>
      <p:sp>
        <p:nvSpPr>
          <p:cNvPr id="283" name="rect_caption"/>
          <p:cNvSpPr txBox="1"/>
          <p:nvPr/>
        </p:nvSpPr>
        <p:spPr>
          <a:xfrm>
            <a:off x="7802624" y="3764144"/>
            <a:ext cx="1480138" cy="2551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5" b="1" i="0">
                <a:solidFill>
                  <a:srgbClr val="000000"/>
                </a:solidFill>
                <a:latin typeface="Liberation Sans"/>
              </a:rPr>
              <a:t>Rectangular Partition</a:t>
            </a:r>
          </a:p>
        </p:txBody>
      </p:sp>
      <p:sp>
        <p:nvSpPr>
          <p:cNvPr id="284" name="cyl_caption"/>
          <p:cNvSpPr txBox="1"/>
          <p:nvPr/>
        </p:nvSpPr>
        <p:spPr>
          <a:xfrm>
            <a:off x="10488564" y="3853463"/>
            <a:ext cx="1601356" cy="19777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4" b="1" i="0">
                <a:solidFill>
                  <a:srgbClr val="000000"/>
                </a:solidFill>
                <a:latin typeface="Liberation Sans"/>
              </a:rPr>
              <a:t>Cylindrical Partition</a:t>
            </a:r>
          </a:p>
        </p:txBody>
      </p:sp>
      <p:sp>
        <p:nvSpPr>
          <p:cNvPr id="285" name="rect_sequence_1_box"/>
          <p:cNvSpPr/>
          <p:nvPr/>
        </p:nvSpPr>
        <p:spPr>
          <a:xfrm>
            <a:off x="7757965" y="4044860"/>
            <a:ext cx="220461" cy="21053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_sequence_1_number"/>
          <p:cNvSpPr txBox="1"/>
          <p:nvPr/>
        </p:nvSpPr>
        <p:spPr>
          <a:xfrm>
            <a:off x="7757965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287" name="rect_sequence_2_box"/>
          <p:cNvSpPr/>
          <p:nvPr/>
        </p:nvSpPr>
        <p:spPr>
          <a:xfrm>
            <a:off x="7978426" y="4044860"/>
            <a:ext cx="220461" cy="21053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_sequence_2_number"/>
          <p:cNvSpPr txBox="1"/>
          <p:nvPr/>
        </p:nvSpPr>
        <p:spPr>
          <a:xfrm>
            <a:off x="7978426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289" name="rect_sequence_3_box"/>
          <p:cNvSpPr/>
          <p:nvPr/>
        </p:nvSpPr>
        <p:spPr>
          <a:xfrm>
            <a:off x="8198887" y="4044860"/>
            <a:ext cx="220461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_sequence_3_number"/>
          <p:cNvSpPr txBox="1"/>
          <p:nvPr/>
        </p:nvSpPr>
        <p:spPr>
          <a:xfrm>
            <a:off x="8198887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291" name="rect_sequence_4_box"/>
          <p:cNvSpPr/>
          <p:nvPr/>
        </p:nvSpPr>
        <p:spPr>
          <a:xfrm>
            <a:off x="8419348" y="4044860"/>
            <a:ext cx="220461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_sequence_4_number"/>
          <p:cNvSpPr txBox="1"/>
          <p:nvPr/>
        </p:nvSpPr>
        <p:spPr>
          <a:xfrm>
            <a:off x="8419348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293" name="rect_sequence_5_box"/>
          <p:cNvSpPr/>
          <p:nvPr/>
        </p:nvSpPr>
        <p:spPr>
          <a:xfrm>
            <a:off x="8639810" y="4044860"/>
            <a:ext cx="220461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_sequence_5_number"/>
          <p:cNvSpPr txBox="1"/>
          <p:nvPr/>
        </p:nvSpPr>
        <p:spPr>
          <a:xfrm>
            <a:off x="8639810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295" name="rect_sequence_6_box"/>
          <p:cNvSpPr/>
          <p:nvPr/>
        </p:nvSpPr>
        <p:spPr>
          <a:xfrm>
            <a:off x="8860271" y="4044860"/>
            <a:ext cx="220461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_sequence_6_number"/>
          <p:cNvSpPr txBox="1"/>
          <p:nvPr/>
        </p:nvSpPr>
        <p:spPr>
          <a:xfrm>
            <a:off x="8860271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297" name="rect_sequence_7_box"/>
          <p:cNvSpPr/>
          <p:nvPr/>
        </p:nvSpPr>
        <p:spPr>
          <a:xfrm>
            <a:off x="9080732" y="4044860"/>
            <a:ext cx="220461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_sequence_7_number"/>
          <p:cNvSpPr txBox="1"/>
          <p:nvPr/>
        </p:nvSpPr>
        <p:spPr>
          <a:xfrm>
            <a:off x="9080732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299" name="rect_sequence_8_box"/>
          <p:cNvSpPr/>
          <p:nvPr/>
        </p:nvSpPr>
        <p:spPr>
          <a:xfrm>
            <a:off x="9301193" y="4044860"/>
            <a:ext cx="220461" cy="21053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_sequence_8_number"/>
          <p:cNvSpPr txBox="1"/>
          <p:nvPr/>
        </p:nvSpPr>
        <p:spPr>
          <a:xfrm>
            <a:off x="9301193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301" name="rect_sequence_9_box"/>
          <p:cNvSpPr/>
          <p:nvPr/>
        </p:nvSpPr>
        <p:spPr>
          <a:xfrm>
            <a:off x="9521654" y="4044860"/>
            <a:ext cx="220461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_sequence_9_number"/>
          <p:cNvSpPr txBox="1"/>
          <p:nvPr/>
        </p:nvSpPr>
        <p:spPr>
          <a:xfrm>
            <a:off x="9521654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sp>
        <p:nvSpPr>
          <p:cNvPr id="303" name="cyl_sequence_1_box"/>
          <p:cNvSpPr/>
          <p:nvPr/>
        </p:nvSpPr>
        <p:spPr>
          <a:xfrm>
            <a:off x="10124910" y="4044860"/>
            <a:ext cx="220461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cyl_sequence_1_number"/>
          <p:cNvSpPr txBox="1"/>
          <p:nvPr/>
        </p:nvSpPr>
        <p:spPr>
          <a:xfrm>
            <a:off x="10124910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305" name="cyl_sequence_2_box"/>
          <p:cNvSpPr/>
          <p:nvPr/>
        </p:nvSpPr>
        <p:spPr>
          <a:xfrm>
            <a:off x="10345371" y="4044860"/>
            <a:ext cx="220461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cyl_sequence_2_number"/>
          <p:cNvSpPr txBox="1"/>
          <p:nvPr/>
        </p:nvSpPr>
        <p:spPr>
          <a:xfrm>
            <a:off x="10345371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307" name="cyl_sequence_3_box"/>
          <p:cNvSpPr/>
          <p:nvPr/>
        </p:nvSpPr>
        <p:spPr>
          <a:xfrm>
            <a:off x="10565832" y="4044860"/>
            <a:ext cx="220461" cy="21053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cyl_sequence_3_number"/>
          <p:cNvSpPr txBox="1"/>
          <p:nvPr/>
        </p:nvSpPr>
        <p:spPr>
          <a:xfrm>
            <a:off x="10565832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309" name="cyl_sequence_4_box"/>
          <p:cNvSpPr/>
          <p:nvPr/>
        </p:nvSpPr>
        <p:spPr>
          <a:xfrm>
            <a:off x="10786293" y="4044860"/>
            <a:ext cx="220461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cyl_sequence_4_number"/>
          <p:cNvSpPr txBox="1"/>
          <p:nvPr/>
        </p:nvSpPr>
        <p:spPr>
          <a:xfrm>
            <a:off x="10786293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311" name="cyl_sequence_5_box"/>
          <p:cNvSpPr/>
          <p:nvPr/>
        </p:nvSpPr>
        <p:spPr>
          <a:xfrm>
            <a:off x="11006755" y="4044860"/>
            <a:ext cx="220461" cy="21053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cyl_sequence_5_number"/>
          <p:cNvSpPr txBox="1"/>
          <p:nvPr/>
        </p:nvSpPr>
        <p:spPr>
          <a:xfrm>
            <a:off x="11006755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313" name="cyl_sequence_6_box"/>
          <p:cNvSpPr/>
          <p:nvPr/>
        </p:nvSpPr>
        <p:spPr>
          <a:xfrm>
            <a:off x="11227216" y="4044860"/>
            <a:ext cx="220461" cy="21053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cyl_sequence_6_number"/>
          <p:cNvSpPr txBox="1"/>
          <p:nvPr/>
        </p:nvSpPr>
        <p:spPr>
          <a:xfrm>
            <a:off x="11227216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315" name="cyl_sequence_7_box"/>
          <p:cNvSpPr/>
          <p:nvPr/>
        </p:nvSpPr>
        <p:spPr>
          <a:xfrm>
            <a:off x="11447677" y="4044860"/>
            <a:ext cx="220461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cyl_sequence_7_number"/>
          <p:cNvSpPr txBox="1"/>
          <p:nvPr/>
        </p:nvSpPr>
        <p:spPr>
          <a:xfrm>
            <a:off x="11447677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317" name="cyl_sequence_8_box"/>
          <p:cNvSpPr/>
          <p:nvPr/>
        </p:nvSpPr>
        <p:spPr>
          <a:xfrm>
            <a:off x="11668138" y="4044860"/>
            <a:ext cx="220461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cyl_sequence_8_number"/>
          <p:cNvSpPr txBox="1"/>
          <p:nvPr/>
        </p:nvSpPr>
        <p:spPr>
          <a:xfrm>
            <a:off x="11668138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sp>
        <p:nvSpPr>
          <p:cNvPr id="319" name="cyl_sequence_9_box"/>
          <p:cNvSpPr/>
          <p:nvPr/>
        </p:nvSpPr>
        <p:spPr>
          <a:xfrm>
            <a:off x="11888599" y="4044860"/>
            <a:ext cx="220461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cyl_sequence_9_number"/>
          <p:cNvSpPr txBox="1"/>
          <p:nvPr/>
        </p:nvSpPr>
        <p:spPr>
          <a:xfrm>
            <a:off x="11888599" y="4038480"/>
            <a:ext cx="2204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cxnSp>
        <p:nvCxnSpPr>
          <p:cNvPr id="321" name="local_sequence_compare"/>
          <p:cNvCxnSpPr/>
          <p:nvPr/>
        </p:nvCxnSpPr>
        <p:spPr>
          <a:xfrm>
            <a:off x="9748495" y="4146938"/>
            <a:ext cx="376415" cy="0"/>
          </a:xfrm>
          <a:prstGeom prst="line">
            <a:avLst/>
          </a:prstGeom>
          <a:ln w="15311">
            <a:solidFill>
              <a:srgbClr val="000000"/>
            </a:solidFill>
            <a:headEnd type="triangle" w="sm" len="sm"/>
            <a:tailEnd type="triangle" w="sm" len="sm"/>
          </a:ln>
          <a:effectLst/>
        </p:spPr>
      </p:cxnSp>
      <p:sp>
        <p:nvSpPr>
          <p:cNvPr id="322" name="high_density_boundary"/>
          <p:cNvSpPr/>
          <p:nvPr/>
        </p:nvSpPr>
        <p:spPr>
          <a:xfrm>
            <a:off x="7923842" y="4376615"/>
            <a:ext cx="1250461" cy="1173902"/>
          </a:xfrm>
          <a:prstGeom prst="roundRect">
            <a:avLst>
              <a:gd name="adj" fmla="val 6632"/>
            </a:avLst>
          </a:prstGeom>
          <a:noFill/>
          <a:ln w="14035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3" name="high_density_path_1"/>
          <p:cNvCxnSpPr/>
          <p:nvPr/>
        </p:nvCxnSpPr>
        <p:spPr>
          <a:xfrm>
            <a:off x="8271547" y="4577582"/>
            <a:ext cx="15949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24" name="high_density_path_2"/>
          <p:cNvCxnSpPr/>
          <p:nvPr/>
        </p:nvCxnSpPr>
        <p:spPr>
          <a:xfrm>
            <a:off x="8660721" y="4577582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25" name="high_density_path_3"/>
          <p:cNvCxnSpPr/>
          <p:nvPr/>
        </p:nvCxnSpPr>
        <p:spPr>
          <a:xfrm>
            <a:off x="8271547" y="4947616"/>
            <a:ext cx="15949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26" name="high_density_path_4"/>
          <p:cNvCxnSpPr/>
          <p:nvPr/>
        </p:nvCxnSpPr>
        <p:spPr>
          <a:xfrm>
            <a:off x="8660721" y="4947616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27" name="high_density_path_5"/>
          <p:cNvCxnSpPr/>
          <p:nvPr/>
        </p:nvCxnSpPr>
        <p:spPr>
          <a:xfrm>
            <a:off x="8271547" y="5311271"/>
            <a:ext cx="15949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28" name="high_density_path_6"/>
          <p:cNvCxnSpPr/>
          <p:nvPr/>
        </p:nvCxnSpPr>
        <p:spPr>
          <a:xfrm>
            <a:off x="8660721" y="5311271"/>
            <a:ext cx="165878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29" name="high_density_path_7"/>
          <p:cNvCxnSpPr/>
          <p:nvPr/>
        </p:nvCxnSpPr>
        <p:spPr>
          <a:xfrm flipV="1">
            <a:off x="8260578" y="4626561"/>
            <a:ext cx="576990" cy="272076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30" name="high_density_path_8"/>
          <p:cNvCxnSpPr/>
          <p:nvPr/>
        </p:nvCxnSpPr>
        <p:spPr>
          <a:xfrm flipV="1">
            <a:off x="8260903" y="4995901"/>
            <a:ext cx="576340" cy="267085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331" name="high_density_cell_1_box"/>
          <p:cNvSpPr/>
          <p:nvPr/>
        </p:nvSpPr>
        <p:spPr>
          <a:xfrm>
            <a:off x="8051440" y="4472313"/>
            <a:ext cx="210536" cy="21053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high_density_cell_1_number"/>
          <p:cNvSpPr txBox="1"/>
          <p:nvPr/>
        </p:nvSpPr>
        <p:spPr>
          <a:xfrm>
            <a:off x="8051440" y="446593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333" name="high_density_cell_2_box"/>
          <p:cNvSpPr/>
          <p:nvPr/>
        </p:nvSpPr>
        <p:spPr>
          <a:xfrm>
            <a:off x="8440615" y="4472313"/>
            <a:ext cx="210536" cy="21053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high_density_cell_2_number"/>
          <p:cNvSpPr txBox="1"/>
          <p:nvPr/>
        </p:nvSpPr>
        <p:spPr>
          <a:xfrm>
            <a:off x="8440615" y="446593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335" name="high_density_cell_3_box"/>
          <p:cNvSpPr/>
          <p:nvPr/>
        </p:nvSpPr>
        <p:spPr>
          <a:xfrm>
            <a:off x="8836169" y="4472313"/>
            <a:ext cx="210536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high_density_cell_3_number"/>
          <p:cNvSpPr txBox="1"/>
          <p:nvPr/>
        </p:nvSpPr>
        <p:spPr>
          <a:xfrm>
            <a:off x="8836169" y="446593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337" name="high_density_cell_4_box"/>
          <p:cNvSpPr/>
          <p:nvPr/>
        </p:nvSpPr>
        <p:spPr>
          <a:xfrm>
            <a:off x="8051440" y="4842348"/>
            <a:ext cx="210536" cy="21053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high_density_cell_4_number"/>
          <p:cNvSpPr txBox="1"/>
          <p:nvPr/>
        </p:nvSpPr>
        <p:spPr>
          <a:xfrm>
            <a:off x="8051440" y="4835968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339" name="high_density_cell_5_box"/>
          <p:cNvSpPr/>
          <p:nvPr/>
        </p:nvSpPr>
        <p:spPr>
          <a:xfrm>
            <a:off x="8440615" y="4842348"/>
            <a:ext cx="210536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high_density_cell_5_number"/>
          <p:cNvSpPr txBox="1"/>
          <p:nvPr/>
        </p:nvSpPr>
        <p:spPr>
          <a:xfrm>
            <a:off x="8440615" y="4835968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341" name="high_density_cell_6_box"/>
          <p:cNvSpPr/>
          <p:nvPr/>
        </p:nvSpPr>
        <p:spPr>
          <a:xfrm>
            <a:off x="8836169" y="4842348"/>
            <a:ext cx="210536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high_density_cell_6_number"/>
          <p:cNvSpPr txBox="1"/>
          <p:nvPr/>
        </p:nvSpPr>
        <p:spPr>
          <a:xfrm>
            <a:off x="8836169" y="4835968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343" name="high_density_cell_7_box"/>
          <p:cNvSpPr/>
          <p:nvPr/>
        </p:nvSpPr>
        <p:spPr>
          <a:xfrm>
            <a:off x="8051440" y="5206003"/>
            <a:ext cx="210536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high_density_cell_7_number"/>
          <p:cNvSpPr txBox="1"/>
          <p:nvPr/>
        </p:nvSpPr>
        <p:spPr>
          <a:xfrm>
            <a:off x="8051440" y="519962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345" name="high_density_cell_8_box"/>
          <p:cNvSpPr/>
          <p:nvPr/>
        </p:nvSpPr>
        <p:spPr>
          <a:xfrm>
            <a:off x="8440615" y="5206003"/>
            <a:ext cx="210536" cy="21053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high_density_cell_8_number"/>
          <p:cNvSpPr txBox="1"/>
          <p:nvPr/>
        </p:nvSpPr>
        <p:spPr>
          <a:xfrm>
            <a:off x="8440615" y="519962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347" name="high_density_cell_9_box"/>
          <p:cNvSpPr/>
          <p:nvPr/>
        </p:nvSpPr>
        <p:spPr>
          <a:xfrm>
            <a:off x="8836169" y="5206003"/>
            <a:ext cx="210536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high_density_cell_9_number"/>
          <p:cNvSpPr txBox="1"/>
          <p:nvPr/>
        </p:nvSpPr>
        <p:spPr>
          <a:xfrm>
            <a:off x="8836169" y="519962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sp>
        <p:nvSpPr>
          <p:cNvPr id="349" name="low_density_boundary"/>
          <p:cNvSpPr/>
          <p:nvPr/>
        </p:nvSpPr>
        <p:spPr>
          <a:xfrm>
            <a:off x="10731001" y="4376615"/>
            <a:ext cx="1250461" cy="1173902"/>
          </a:xfrm>
          <a:prstGeom prst="roundRect">
            <a:avLst>
              <a:gd name="adj" fmla="val 6632"/>
            </a:avLst>
          </a:prstGeom>
          <a:noFill/>
          <a:ln w="14035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0" name="low_density_path_1"/>
          <p:cNvCxnSpPr/>
          <p:nvPr/>
        </p:nvCxnSpPr>
        <p:spPr>
          <a:xfrm>
            <a:off x="11078706" y="4577582"/>
            <a:ext cx="159497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51" name="low_density_path_2"/>
          <p:cNvCxnSpPr/>
          <p:nvPr/>
        </p:nvCxnSpPr>
        <p:spPr>
          <a:xfrm>
            <a:off x="11353042" y="4692420"/>
            <a:ext cx="0" cy="140358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52" name="low_density_path_3"/>
          <p:cNvCxnSpPr/>
          <p:nvPr/>
        </p:nvCxnSpPr>
        <p:spPr>
          <a:xfrm>
            <a:off x="11467880" y="4947616"/>
            <a:ext cx="165877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53" name="low_density_path_4"/>
          <p:cNvCxnSpPr/>
          <p:nvPr/>
        </p:nvCxnSpPr>
        <p:spPr>
          <a:xfrm>
            <a:off x="11078706" y="5311271"/>
            <a:ext cx="555051" cy="0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cxnSp>
        <p:nvCxnSpPr>
          <p:cNvPr id="354" name="low_density_path_5"/>
          <p:cNvCxnSpPr/>
          <p:nvPr/>
        </p:nvCxnSpPr>
        <p:spPr>
          <a:xfrm flipV="1">
            <a:off x="11068061" y="4995901"/>
            <a:ext cx="576341" cy="267085"/>
          </a:xfrm>
          <a:prstGeom prst="line">
            <a:avLst/>
          </a:prstGeom>
          <a:ln w="14035">
            <a:solidFill>
              <a:srgbClr val="000000"/>
            </a:solidFill>
            <a:tailEnd type="triangle" w="sm" len="sm"/>
          </a:ln>
          <a:effectLst/>
        </p:spPr>
      </p:cxnSp>
      <p:sp>
        <p:nvSpPr>
          <p:cNvPr id="355" name="low_density_cell_1_box"/>
          <p:cNvSpPr/>
          <p:nvPr/>
        </p:nvSpPr>
        <p:spPr>
          <a:xfrm>
            <a:off x="10858599" y="4472313"/>
            <a:ext cx="210536" cy="21053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low_density_cell_1_number"/>
          <p:cNvSpPr txBox="1"/>
          <p:nvPr/>
        </p:nvSpPr>
        <p:spPr>
          <a:xfrm>
            <a:off x="10858599" y="446593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357" name="low_density_cell_2_box"/>
          <p:cNvSpPr/>
          <p:nvPr/>
        </p:nvSpPr>
        <p:spPr>
          <a:xfrm>
            <a:off x="11247773" y="4472313"/>
            <a:ext cx="210536" cy="21053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low_density_cell_2_number"/>
          <p:cNvSpPr txBox="1"/>
          <p:nvPr/>
        </p:nvSpPr>
        <p:spPr>
          <a:xfrm>
            <a:off x="11247773" y="446593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359" name="low_density_cell_3_box"/>
          <p:cNvSpPr/>
          <p:nvPr/>
        </p:nvSpPr>
        <p:spPr>
          <a:xfrm>
            <a:off x="11643327" y="4472313"/>
            <a:ext cx="210536" cy="210536"/>
          </a:xfrm>
          <a:prstGeom prst="rect">
            <a:avLst/>
          </a:prstGeom>
          <a:noFill/>
          <a:ln w="17863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low_density_cell_4_box"/>
          <p:cNvSpPr/>
          <p:nvPr/>
        </p:nvSpPr>
        <p:spPr>
          <a:xfrm>
            <a:off x="10858599" y="4842348"/>
            <a:ext cx="210536" cy="210536"/>
          </a:xfrm>
          <a:prstGeom prst="rect">
            <a:avLst/>
          </a:prstGeom>
          <a:noFill/>
          <a:ln w="17863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low_density_cell_5_box"/>
          <p:cNvSpPr/>
          <p:nvPr/>
        </p:nvSpPr>
        <p:spPr>
          <a:xfrm>
            <a:off x="11247773" y="4842348"/>
            <a:ext cx="210536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low_density_cell_5_number"/>
          <p:cNvSpPr txBox="1"/>
          <p:nvPr/>
        </p:nvSpPr>
        <p:spPr>
          <a:xfrm>
            <a:off x="11247773" y="4835968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363" name="low_density_cell_6_box"/>
          <p:cNvSpPr/>
          <p:nvPr/>
        </p:nvSpPr>
        <p:spPr>
          <a:xfrm>
            <a:off x="11643327" y="4842348"/>
            <a:ext cx="210536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low_density_cell_6_number"/>
          <p:cNvSpPr txBox="1"/>
          <p:nvPr/>
        </p:nvSpPr>
        <p:spPr>
          <a:xfrm>
            <a:off x="11643327" y="4835968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365" name="low_density_cell_7_box"/>
          <p:cNvSpPr/>
          <p:nvPr/>
        </p:nvSpPr>
        <p:spPr>
          <a:xfrm>
            <a:off x="10858599" y="5206003"/>
            <a:ext cx="210536" cy="21053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low_density_cell_7_number"/>
          <p:cNvSpPr txBox="1"/>
          <p:nvPr/>
        </p:nvSpPr>
        <p:spPr>
          <a:xfrm>
            <a:off x="10858599" y="519962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367" name="low_density_cell_8_box"/>
          <p:cNvSpPr/>
          <p:nvPr/>
        </p:nvSpPr>
        <p:spPr>
          <a:xfrm>
            <a:off x="11247773" y="5206003"/>
            <a:ext cx="210536" cy="210536"/>
          </a:xfrm>
          <a:prstGeom prst="rect">
            <a:avLst/>
          </a:prstGeom>
          <a:noFill/>
          <a:ln w="17863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low_density_cell_9_box"/>
          <p:cNvSpPr/>
          <p:nvPr/>
        </p:nvSpPr>
        <p:spPr>
          <a:xfrm>
            <a:off x="11643327" y="5206003"/>
            <a:ext cx="210536" cy="21053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low_density_cell_9_number"/>
          <p:cNvSpPr txBox="1"/>
          <p:nvPr/>
        </p:nvSpPr>
        <p:spPr>
          <a:xfrm>
            <a:off x="11643327" y="5199623"/>
            <a:ext cx="210536" cy="2232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cxnSp>
        <p:nvCxnSpPr>
          <p:cNvPr id="370" name="geometric_compare"/>
          <p:cNvCxnSpPr/>
          <p:nvPr/>
        </p:nvCxnSpPr>
        <p:spPr>
          <a:xfrm>
            <a:off x="9174304" y="4969946"/>
            <a:ext cx="1556697" cy="0"/>
          </a:xfrm>
          <a:prstGeom prst="line">
            <a:avLst/>
          </a:prstGeom>
          <a:ln w="15949">
            <a:solidFill>
              <a:srgbClr val="000000"/>
            </a:solidFill>
            <a:headEnd type="triangle" w="sm" len="sm"/>
            <a:tailEnd type="triangle" w="sm" len="sm"/>
          </a:ln>
          <a:effectLst/>
        </p:spPr>
      </p:cxnSp>
      <p:sp>
        <p:nvSpPr>
          <p:cNvPr id="371" name="geometric_text_back"/>
          <p:cNvSpPr/>
          <p:nvPr/>
        </p:nvSpPr>
        <p:spPr>
          <a:xfrm>
            <a:off x="9321042" y="4599911"/>
            <a:ext cx="1250461" cy="778348"/>
          </a:xfrm>
          <a:prstGeom prst="rect">
            <a:avLst/>
          </a:prstGeom>
          <a:solidFill>
            <a:srgbClr val="FFF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geometric_loss"/>
          <p:cNvSpPr txBox="1"/>
          <p:nvPr/>
        </p:nvSpPr>
        <p:spPr>
          <a:xfrm>
            <a:off x="9276382" y="4555252"/>
            <a:ext cx="1358919" cy="36365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</a:pPr>
            <a:r>
              <a:rPr sz="1406" b="0" i="1">
                <a:solidFill>
                  <a:srgbClr val="000000"/>
                </a:solidFill>
                <a:latin typeface="Liberation Serif"/>
              </a:rPr>
              <a:t>L</a:t>
            </a:r>
            <a:r>
              <a:rPr sz="942" b="0" i="1" baseline="-25000">
                <a:solidFill>
                  <a:srgbClr val="000000"/>
                </a:solidFill>
                <a:latin typeface="Liberation Serif"/>
              </a:rPr>
              <a:t>geometric</a:t>
            </a:r>
          </a:p>
        </p:txBody>
      </p:sp>
      <p:sp>
        <p:nvSpPr>
          <p:cNvPr id="373" name="geometric_caption"/>
          <p:cNvSpPr txBox="1"/>
          <p:nvPr/>
        </p:nvSpPr>
        <p:spPr>
          <a:xfrm>
            <a:off x="9314662" y="5040125"/>
            <a:ext cx="1307880" cy="4146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Geometric</a:t>
            </a:r>
          </a:p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Consistency Prior</a:t>
            </a:r>
          </a:p>
        </p:txBody>
      </p:sp>
      <p:sp>
        <p:nvSpPr>
          <p:cNvPr id="374" name="high_density_caption"/>
          <p:cNvSpPr txBox="1"/>
          <p:nvPr/>
        </p:nvSpPr>
        <p:spPr>
          <a:xfrm>
            <a:off x="7860043" y="5563277"/>
            <a:ext cx="1365299" cy="2488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High Density</a:t>
            </a:r>
          </a:p>
        </p:txBody>
      </p:sp>
      <p:sp>
        <p:nvSpPr>
          <p:cNvPr id="375" name="low_density_caption"/>
          <p:cNvSpPr txBox="1"/>
          <p:nvPr/>
        </p:nvSpPr>
        <p:spPr>
          <a:xfrm>
            <a:off x="10724621" y="5563277"/>
            <a:ext cx="1263221" cy="2488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 i="0">
                <a:solidFill>
                  <a:srgbClr val="000000"/>
                </a:solidFill>
                <a:latin typeface="Liberation Sans"/>
              </a:rPr>
              <a:t>Low Density</a:t>
            </a:r>
          </a:p>
        </p:txBody>
      </p:sp>
      <p:sp>
        <p:nvSpPr>
          <p:cNvPr id="376" name="high_density_sequence_1_box"/>
          <p:cNvSpPr/>
          <p:nvPr/>
        </p:nvSpPr>
        <p:spPr>
          <a:xfrm>
            <a:off x="7757965" y="5850373"/>
            <a:ext cx="220461" cy="21691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high_density_sequence_1_number"/>
          <p:cNvSpPr txBox="1"/>
          <p:nvPr/>
        </p:nvSpPr>
        <p:spPr>
          <a:xfrm>
            <a:off x="7757965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378" name="high_density_sequence_2_box"/>
          <p:cNvSpPr/>
          <p:nvPr/>
        </p:nvSpPr>
        <p:spPr>
          <a:xfrm>
            <a:off x="7978426" y="5850373"/>
            <a:ext cx="220461" cy="21691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high_density_sequence_2_number"/>
          <p:cNvSpPr txBox="1"/>
          <p:nvPr/>
        </p:nvSpPr>
        <p:spPr>
          <a:xfrm>
            <a:off x="7978426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380" name="high_density_sequence_3_box"/>
          <p:cNvSpPr/>
          <p:nvPr/>
        </p:nvSpPr>
        <p:spPr>
          <a:xfrm>
            <a:off x="8198887" y="5850373"/>
            <a:ext cx="220461" cy="21691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high_density_sequence_3_number"/>
          <p:cNvSpPr txBox="1"/>
          <p:nvPr/>
        </p:nvSpPr>
        <p:spPr>
          <a:xfrm>
            <a:off x="8198887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382" name="high_density_sequence_4_box"/>
          <p:cNvSpPr/>
          <p:nvPr/>
        </p:nvSpPr>
        <p:spPr>
          <a:xfrm>
            <a:off x="8419348" y="5850373"/>
            <a:ext cx="220461" cy="216916"/>
          </a:xfrm>
          <a:prstGeom prst="rect">
            <a:avLst/>
          </a:prstGeom>
          <a:solidFill>
            <a:srgbClr val="D9F1DE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high_density_sequence_4_number"/>
          <p:cNvSpPr txBox="1"/>
          <p:nvPr/>
        </p:nvSpPr>
        <p:spPr>
          <a:xfrm>
            <a:off x="8419348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384" name="high_density_sequence_5_box"/>
          <p:cNvSpPr/>
          <p:nvPr/>
        </p:nvSpPr>
        <p:spPr>
          <a:xfrm>
            <a:off x="8639810" y="5850373"/>
            <a:ext cx="220461" cy="21691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high_density_sequence_5_number"/>
          <p:cNvSpPr txBox="1"/>
          <p:nvPr/>
        </p:nvSpPr>
        <p:spPr>
          <a:xfrm>
            <a:off x="8639810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386" name="high_density_sequence_6_box"/>
          <p:cNvSpPr/>
          <p:nvPr/>
        </p:nvSpPr>
        <p:spPr>
          <a:xfrm>
            <a:off x="8860271" y="5850373"/>
            <a:ext cx="220461" cy="21691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high_density_sequence_6_number"/>
          <p:cNvSpPr txBox="1"/>
          <p:nvPr/>
        </p:nvSpPr>
        <p:spPr>
          <a:xfrm>
            <a:off x="8860271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388" name="high_density_sequence_7_box"/>
          <p:cNvSpPr/>
          <p:nvPr/>
        </p:nvSpPr>
        <p:spPr>
          <a:xfrm>
            <a:off x="9080732" y="5850373"/>
            <a:ext cx="220461" cy="21691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high_density_sequence_7_number"/>
          <p:cNvSpPr txBox="1"/>
          <p:nvPr/>
        </p:nvSpPr>
        <p:spPr>
          <a:xfrm>
            <a:off x="9080732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390" name="high_density_sequence_8_box"/>
          <p:cNvSpPr/>
          <p:nvPr/>
        </p:nvSpPr>
        <p:spPr>
          <a:xfrm>
            <a:off x="9301193" y="5850373"/>
            <a:ext cx="220461" cy="216916"/>
          </a:xfrm>
          <a:prstGeom prst="rect">
            <a:avLst/>
          </a:prstGeom>
          <a:solidFill>
            <a:srgbClr val="DDE8F1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high_density_sequence_8_number"/>
          <p:cNvSpPr txBox="1"/>
          <p:nvPr/>
        </p:nvSpPr>
        <p:spPr>
          <a:xfrm>
            <a:off x="9301193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8</a:t>
            </a:r>
          </a:p>
        </p:txBody>
      </p:sp>
      <p:sp>
        <p:nvSpPr>
          <p:cNvPr id="392" name="high_density_sequence_9_box"/>
          <p:cNvSpPr/>
          <p:nvPr/>
        </p:nvSpPr>
        <p:spPr>
          <a:xfrm>
            <a:off x="9521654" y="5850373"/>
            <a:ext cx="220461" cy="21691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high_density_sequence_9_number"/>
          <p:cNvSpPr txBox="1"/>
          <p:nvPr/>
        </p:nvSpPr>
        <p:spPr>
          <a:xfrm>
            <a:off x="9521654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sp>
        <p:nvSpPr>
          <p:cNvPr id="394" name="low_density_sequence_1_box"/>
          <p:cNvSpPr/>
          <p:nvPr/>
        </p:nvSpPr>
        <p:spPr>
          <a:xfrm>
            <a:off x="10124910" y="5850373"/>
            <a:ext cx="220461" cy="216916"/>
          </a:xfrm>
          <a:prstGeom prst="rect">
            <a:avLst/>
          </a:prstGeom>
          <a:solidFill>
            <a:srgbClr val="FFF3D7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low_density_sequence_1_number"/>
          <p:cNvSpPr txBox="1"/>
          <p:nvPr/>
        </p:nvSpPr>
        <p:spPr>
          <a:xfrm>
            <a:off x="10124910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396" name="low_density_sequence_2_box"/>
          <p:cNvSpPr/>
          <p:nvPr/>
        </p:nvSpPr>
        <p:spPr>
          <a:xfrm>
            <a:off x="10345371" y="5850373"/>
            <a:ext cx="220461" cy="216916"/>
          </a:xfrm>
          <a:prstGeom prst="rect">
            <a:avLst/>
          </a:prstGeom>
          <a:solidFill>
            <a:srgbClr val="E7EAEC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low_density_sequence_2_number"/>
          <p:cNvSpPr txBox="1"/>
          <p:nvPr/>
        </p:nvSpPr>
        <p:spPr>
          <a:xfrm>
            <a:off x="10345371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398" name="low_density_sequence_3_box"/>
          <p:cNvSpPr/>
          <p:nvPr/>
        </p:nvSpPr>
        <p:spPr>
          <a:xfrm>
            <a:off x="10565832" y="5850373"/>
            <a:ext cx="220461" cy="216916"/>
          </a:xfrm>
          <a:prstGeom prst="rect">
            <a:avLst/>
          </a:prstGeom>
          <a:noFill/>
          <a:ln w="17863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low_density_sequence_4_box"/>
          <p:cNvSpPr/>
          <p:nvPr/>
        </p:nvSpPr>
        <p:spPr>
          <a:xfrm>
            <a:off x="10786293" y="5850373"/>
            <a:ext cx="220461" cy="216916"/>
          </a:xfrm>
          <a:prstGeom prst="rect">
            <a:avLst/>
          </a:prstGeom>
          <a:noFill/>
          <a:ln w="17863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low_density_sequence_5_box"/>
          <p:cNvSpPr/>
          <p:nvPr/>
        </p:nvSpPr>
        <p:spPr>
          <a:xfrm>
            <a:off x="11006755" y="5850373"/>
            <a:ext cx="220461" cy="21691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low_density_sequence_5_number"/>
          <p:cNvSpPr txBox="1"/>
          <p:nvPr/>
        </p:nvSpPr>
        <p:spPr>
          <a:xfrm>
            <a:off x="11006755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5</a:t>
            </a:r>
          </a:p>
        </p:txBody>
      </p:sp>
      <p:sp>
        <p:nvSpPr>
          <p:cNvPr id="402" name="low_density_sequence_6_box"/>
          <p:cNvSpPr/>
          <p:nvPr/>
        </p:nvSpPr>
        <p:spPr>
          <a:xfrm>
            <a:off x="11227216" y="5850373"/>
            <a:ext cx="220461" cy="21691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low_density_sequence_6_number"/>
          <p:cNvSpPr txBox="1"/>
          <p:nvPr/>
        </p:nvSpPr>
        <p:spPr>
          <a:xfrm>
            <a:off x="11227216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6</a:t>
            </a:r>
          </a:p>
        </p:txBody>
      </p:sp>
      <p:sp>
        <p:nvSpPr>
          <p:cNvPr id="404" name="low_density_sequence_7_box"/>
          <p:cNvSpPr/>
          <p:nvPr/>
        </p:nvSpPr>
        <p:spPr>
          <a:xfrm>
            <a:off x="11447677" y="5850373"/>
            <a:ext cx="220461" cy="216916"/>
          </a:xfrm>
          <a:prstGeom prst="rect">
            <a:avLst/>
          </a:prstGeom>
          <a:solidFill>
            <a:srgbClr val="D8F4F3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low_density_sequence_7_number"/>
          <p:cNvSpPr txBox="1"/>
          <p:nvPr/>
        </p:nvSpPr>
        <p:spPr>
          <a:xfrm>
            <a:off x="11447677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7</a:t>
            </a:r>
          </a:p>
        </p:txBody>
      </p:sp>
      <p:sp>
        <p:nvSpPr>
          <p:cNvPr id="406" name="low_density_sequence_8_box"/>
          <p:cNvSpPr/>
          <p:nvPr/>
        </p:nvSpPr>
        <p:spPr>
          <a:xfrm>
            <a:off x="11668138" y="5850373"/>
            <a:ext cx="220461" cy="216916"/>
          </a:xfrm>
          <a:prstGeom prst="rect">
            <a:avLst/>
          </a:prstGeom>
          <a:noFill/>
          <a:ln w="17863">
            <a:solidFill>
              <a:srgbClr val="000000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low_density_sequence_9_box"/>
          <p:cNvSpPr/>
          <p:nvPr/>
        </p:nvSpPr>
        <p:spPr>
          <a:xfrm>
            <a:off x="11888599" y="5850373"/>
            <a:ext cx="220461" cy="216916"/>
          </a:xfrm>
          <a:prstGeom prst="rect">
            <a:avLst/>
          </a:prstGeom>
          <a:solidFill>
            <a:srgbClr val="EFCFD5"/>
          </a:solidFill>
          <a:ln w="17863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low_density_sequence_9_number"/>
          <p:cNvSpPr txBox="1"/>
          <p:nvPr/>
        </p:nvSpPr>
        <p:spPr>
          <a:xfrm>
            <a:off x="11888599" y="5843993"/>
            <a:ext cx="220461" cy="229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5" b="1" i="0">
                <a:solidFill>
                  <a:srgbClr val="000000"/>
                </a:solidFill>
                <a:latin typeface="Liberation Sans"/>
              </a:rPr>
              <a:t>9</a:t>
            </a:r>
          </a:p>
        </p:txBody>
      </p:sp>
      <p:cxnSp>
        <p:nvCxnSpPr>
          <p:cNvPr id="409" name="geometric_sequence_compare"/>
          <p:cNvCxnSpPr/>
          <p:nvPr/>
        </p:nvCxnSpPr>
        <p:spPr>
          <a:xfrm>
            <a:off x="9748495" y="5958831"/>
            <a:ext cx="376415" cy="0"/>
          </a:xfrm>
          <a:prstGeom prst="line">
            <a:avLst/>
          </a:prstGeom>
          <a:ln w="15311">
            <a:solidFill>
              <a:srgbClr val="000000"/>
            </a:solidFill>
            <a:headEnd type="triangle" w="sm" len="sm"/>
            <a:tailEnd type="triangle" w="sm" len="sm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BeyondMix Leveraging Structural Priors and Long-Range Dependencies for Domain-Invariant LiDAR Segment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194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