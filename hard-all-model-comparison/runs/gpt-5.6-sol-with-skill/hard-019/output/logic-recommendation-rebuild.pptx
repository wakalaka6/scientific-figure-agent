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44400" cy="569540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344400" cy="5695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anel-extraction"/>
          <p:cNvSpPr/>
          <p:nvPr/>
        </p:nvSpPr>
        <p:spPr>
          <a:xfrm>
            <a:off x="65314" y="130629"/>
            <a:ext cx="4147457" cy="5114109"/>
          </a:xfrm>
          <a:prstGeom prst="roundRect">
            <a:avLst>
              <a:gd name="adj" fmla="val 3779"/>
            </a:avLst>
          </a:prstGeom>
          <a:noFill/>
          <a:ln w="26125">
            <a:solidFill>
              <a:srgbClr val="595959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anel-reasoning"/>
          <p:cNvSpPr/>
          <p:nvPr/>
        </p:nvSpPr>
        <p:spPr>
          <a:xfrm>
            <a:off x="4408714" y="130629"/>
            <a:ext cx="3788229" cy="5114109"/>
          </a:xfrm>
          <a:prstGeom prst="roundRect">
            <a:avLst>
              <a:gd name="adj" fmla="val 4137"/>
            </a:avLst>
          </a:prstGeom>
          <a:noFill/>
          <a:ln w="26125">
            <a:solidFill>
              <a:srgbClr val="595959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anel-integration"/>
          <p:cNvSpPr/>
          <p:nvPr/>
        </p:nvSpPr>
        <p:spPr>
          <a:xfrm>
            <a:off x="8392886" y="130629"/>
            <a:ext cx="3938451" cy="5114109"/>
          </a:xfrm>
          <a:prstGeom prst="roundRect">
            <a:avLst>
              <a:gd name="adj" fmla="val 3980"/>
            </a:avLst>
          </a:prstGeom>
          <a:noFill/>
          <a:ln w="26125">
            <a:solidFill>
              <a:srgbClr val="595959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tem-i"/>
          <p:cNvSpPr txBox="1"/>
          <p:nvPr/>
        </p:nvSpPr>
        <p:spPr>
          <a:xfrm>
            <a:off x="404949" y="209006"/>
            <a:ext cx="613954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 i="1">
                <a:solidFill>
                  <a:srgbClr val="000000"/>
                </a:solidFill>
                <a:latin typeface="Times New Roman"/>
              </a:rPr>
              <a:t>Itemᵢ</a:t>
            </a:r>
          </a:p>
        </p:txBody>
      </p:sp>
      <p:cxnSp>
        <p:nvCxnSpPr>
          <p:cNvPr id="7" name="item-to-raw-shaft-1"/>
          <p:cNvCxnSpPr/>
          <p:nvPr/>
        </p:nvCxnSpPr>
        <p:spPr>
          <a:xfrm>
            <a:off x="711926" y="424543"/>
            <a:ext cx="0" cy="176348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sp>
        <p:nvSpPr>
          <p:cNvPr id="8" name="item-to-raw-head"/>
          <p:cNvSpPr/>
          <p:nvPr/>
        </p:nvSpPr>
        <p:spPr>
          <a:xfrm rot="10800000">
            <a:off x="679269" y="535577"/>
            <a:ext cx="65314" cy="65314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w-information"/>
          <p:cNvSpPr/>
          <p:nvPr/>
        </p:nvSpPr>
        <p:spPr>
          <a:xfrm>
            <a:off x="143691" y="600891"/>
            <a:ext cx="1123406" cy="535577"/>
          </a:xfrm>
          <a:prstGeom prst="roundRect">
            <a:avLst>
              <a:gd name="adj" fmla="val 17073"/>
            </a:avLst>
          </a:prstGeom>
          <a:solidFill>
            <a:srgbClr val="EAEAEA"/>
          </a:solidFill>
          <a:ln w="22859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aw-information-text"/>
          <p:cNvSpPr txBox="1"/>
          <p:nvPr/>
        </p:nvSpPr>
        <p:spPr>
          <a:xfrm>
            <a:off x="222069" y="672737"/>
            <a:ext cx="966651" cy="3918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94" b="0" i="0">
                <a:solidFill>
                  <a:srgbClr val="000000"/>
                </a:solidFill>
                <a:latin typeface="Times New Roman"/>
              </a:rPr>
              <a:t>Raw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94" b="0" i="0">
                <a:solidFill>
                  <a:srgbClr val="000000"/>
                </a:solidFill>
                <a:latin typeface="Times New Roman"/>
              </a:rPr>
              <a:t>Information</a:t>
            </a:r>
          </a:p>
        </p:txBody>
      </p:sp>
      <p:cxnSp>
        <p:nvCxnSpPr>
          <p:cNvPr id="11" name="raw-to-mllm-shaft-1"/>
          <p:cNvCxnSpPr/>
          <p:nvPr/>
        </p:nvCxnSpPr>
        <p:spPr>
          <a:xfrm>
            <a:off x="1267097" y="868680"/>
            <a:ext cx="280852" cy="0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sp>
        <p:nvSpPr>
          <p:cNvPr id="12" name="raw-to-mllm-head"/>
          <p:cNvSpPr/>
          <p:nvPr/>
        </p:nvSpPr>
        <p:spPr>
          <a:xfrm rot="5400000">
            <a:off x="1476103" y="832757"/>
            <a:ext cx="71846" cy="71846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mllm-input-antenna-1"/>
          <p:cNvCxnSpPr/>
          <p:nvPr/>
        </p:nvCxnSpPr>
        <p:spPr>
          <a:xfrm flipV="1">
            <a:off x="1761134" y="456678"/>
            <a:ext cx="0" cy="60089"/>
          </a:xfrm>
          <a:prstGeom prst="line">
            <a:avLst/>
          </a:prstGeom>
          <a:ln w="24035">
            <a:solidFill>
              <a:srgbClr val="000000"/>
            </a:solidFill>
          </a:ln>
          <a:effectLst/>
        </p:spPr>
      </p:cxnSp>
      <p:sp>
        <p:nvSpPr>
          <p:cNvPr id="14" name="mllm-input-antenna-dot"/>
          <p:cNvSpPr/>
          <p:nvPr/>
        </p:nvSpPr>
        <p:spPr>
          <a:xfrm>
            <a:off x="1737099" y="432642"/>
            <a:ext cx="48071" cy="4807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mllm-input-head"/>
          <p:cNvSpPr/>
          <p:nvPr/>
        </p:nvSpPr>
        <p:spPr>
          <a:xfrm>
            <a:off x="1646965" y="510758"/>
            <a:ext cx="228339" cy="162241"/>
          </a:xfrm>
          <a:prstGeom prst="roundRect">
            <a:avLst>
              <a:gd name="adj" fmla="val 1851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llm-input-eye-left"/>
          <p:cNvSpPr/>
          <p:nvPr/>
        </p:nvSpPr>
        <p:spPr>
          <a:xfrm>
            <a:off x="1695036" y="564838"/>
            <a:ext cx="30045" cy="3004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llm-input-eye-right"/>
          <p:cNvSpPr/>
          <p:nvPr/>
        </p:nvSpPr>
        <p:spPr>
          <a:xfrm>
            <a:off x="1797188" y="564838"/>
            <a:ext cx="30045" cy="3004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mllm-input-body"/>
          <p:cNvSpPr/>
          <p:nvPr/>
        </p:nvSpPr>
        <p:spPr>
          <a:xfrm>
            <a:off x="1598894" y="703043"/>
            <a:ext cx="336499" cy="22233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mllm-input-screen"/>
          <p:cNvSpPr/>
          <p:nvPr/>
        </p:nvSpPr>
        <p:spPr>
          <a:xfrm>
            <a:off x="1658983" y="739096"/>
            <a:ext cx="216321" cy="13219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mllm-input-pulse-1"/>
          <p:cNvCxnSpPr/>
          <p:nvPr/>
        </p:nvCxnSpPr>
        <p:spPr>
          <a:xfrm>
            <a:off x="1671001" y="817212"/>
            <a:ext cx="42062" cy="0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1" name="mllm-input-pulse-2"/>
          <p:cNvCxnSpPr/>
          <p:nvPr/>
        </p:nvCxnSpPr>
        <p:spPr>
          <a:xfrm flipV="1">
            <a:off x="1713063" y="757123"/>
            <a:ext cx="24036" cy="60089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2" name="mllm-input-pulse-3"/>
          <p:cNvCxnSpPr/>
          <p:nvPr/>
        </p:nvCxnSpPr>
        <p:spPr>
          <a:xfrm>
            <a:off x="1737099" y="757123"/>
            <a:ext cx="30044" cy="102152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3" name="mllm-input-pulse-4"/>
          <p:cNvCxnSpPr/>
          <p:nvPr/>
        </p:nvCxnSpPr>
        <p:spPr>
          <a:xfrm flipV="1">
            <a:off x="1767143" y="793177"/>
            <a:ext cx="30045" cy="66098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4" name="mllm-input-pulse-5"/>
          <p:cNvCxnSpPr/>
          <p:nvPr/>
        </p:nvCxnSpPr>
        <p:spPr>
          <a:xfrm>
            <a:off x="1797188" y="793177"/>
            <a:ext cx="36053" cy="24035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5" name="mllm-input-pulse-6"/>
          <p:cNvCxnSpPr/>
          <p:nvPr/>
        </p:nvCxnSpPr>
        <p:spPr>
          <a:xfrm>
            <a:off x="1833241" y="817212"/>
            <a:ext cx="36054" cy="0"/>
          </a:xfrm>
          <a:prstGeom prst="line">
            <a:avLst/>
          </a:prstGeom>
          <a:ln w="13219">
            <a:solidFill>
              <a:srgbClr val="000000"/>
            </a:solidFill>
          </a:ln>
          <a:effectLst/>
        </p:spPr>
      </p:cxnSp>
      <p:cxnSp>
        <p:nvCxnSpPr>
          <p:cNvPr id="26" name="mllm-input-arm-left-1"/>
          <p:cNvCxnSpPr/>
          <p:nvPr/>
        </p:nvCxnSpPr>
        <p:spPr>
          <a:xfrm flipH="1">
            <a:off x="1550822" y="751114"/>
            <a:ext cx="48072" cy="0"/>
          </a:xfrm>
          <a:prstGeom prst="line">
            <a:avLst/>
          </a:prstGeom>
          <a:ln w="24035">
            <a:solidFill>
              <a:srgbClr val="000000"/>
            </a:solidFill>
          </a:ln>
          <a:effectLst/>
        </p:spPr>
      </p:cxnSp>
      <p:cxnSp>
        <p:nvCxnSpPr>
          <p:cNvPr id="27" name="mllm-input-arm-left-2"/>
          <p:cNvCxnSpPr/>
          <p:nvPr/>
        </p:nvCxnSpPr>
        <p:spPr>
          <a:xfrm flipV="1">
            <a:off x="1550822" y="703043"/>
            <a:ext cx="0" cy="48071"/>
          </a:xfrm>
          <a:prstGeom prst="line">
            <a:avLst/>
          </a:prstGeom>
          <a:ln w="24035">
            <a:solidFill>
              <a:srgbClr val="000000"/>
            </a:solidFill>
          </a:ln>
          <a:effectLst/>
        </p:spPr>
      </p:cxnSp>
      <p:cxnSp>
        <p:nvCxnSpPr>
          <p:cNvPr id="28" name="mllm-input-arm-right-1"/>
          <p:cNvCxnSpPr/>
          <p:nvPr/>
        </p:nvCxnSpPr>
        <p:spPr>
          <a:xfrm>
            <a:off x="1935393" y="751114"/>
            <a:ext cx="42062" cy="0"/>
          </a:xfrm>
          <a:prstGeom prst="line">
            <a:avLst/>
          </a:prstGeom>
          <a:ln w="24035">
            <a:solidFill>
              <a:srgbClr val="000000"/>
            </a:solidFill>
          </a:ln>
          <a:effectLst/>
        </p:spPr>
      </p:cxnSp>
      <p:cxnSp>
        <p:nvCxnSpPr>
          <p:cNvPr id="29" name="mllm-input-arm-right-2"/>
          <p:cNvCxnSpPr/>
          <p:nvPr/>
        </p:nvCxnSpPr>
        <p:spPr>
          <a:xfrm>
            <a:off x="1977455" y="751114"/>
            <a:ext cx="0" cy="66098"/>
          </a:xfrm>
          <a:prstGeom prst="line">
            <a:avLst/>
          </a:prstGeom>
          <a:ln w="24035">
            <a:solidFill>
              <a:srgbClr val="000000"/>
            </a:solidFill>
          </a:ln>
          <a:effectLst/>
        </p:spPr>
      </p:cxnSp>
      <p:sp>
        <p:nvSpPr>
          <p:cNvPr id="30" name="mllm-input-hand-left"/>
          <p:cNvSpPr/>
          <p:nvPr/>
        </p:nvSpPr>
        <p:spPr>
          <a:xfrm>
            <a:off x="1526787" y="666990"/>
            <a:ext cx="48071" cy="4807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mllm-input-hand-right"/>
          <p:cNvSpPr/>
          <p:nvPr/>
        </p:nvSpPr>
        <p:spPr>
          <a:xfrm>
            <a:off x="1953420" y="805195"/>
            <a:ext cx="48071" cy="4807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llm-input-base"/>
          <p:cNvSpPr/>
          <p:nvPr/>
        </p:nvSpPr>
        <p:spPr>
          <a:xfrm>
            <a:off x="1568849" y="949409"/>
            <a:ext cx="396588" cy="102152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llm-input-base-light-0"/>
          <p:cNvSpPr/>
          <p:nvPr/>
        </p:nvSpPr>
        <p:spPr>
          <a:xfrm>
            <a:off x="1616920" y="973444"/>
            <a:ext cx="48071" cy="480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mllm-input-base-light-1"/>
          <p:cNvSpPr/>
          <p:nvPr/>
        </p:nvSpPr>
        <p:spPr>
          <a:xfrm>
            <a:off x="1737099" y="973444"/>
            <a:ext cx="48071" cy="480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llm-input-base-light-2"/>
          <p:cNvSpPr/>
          <p:nvPr/>
        </p:nvSpPr>
        <p:spPr>
          <a:xfrm>
            <a:off x="1857277" y="973444"/>
            <a:ext cx="48071" cy="480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llm-input-label"/>
          <p:cNvSpPr txBox="1"/>
          <p:nvPr/>
        </p:nvSpPr>
        <p:spPr>
          <a:xfrm>
            <a:off x="1436914" y="1097280"/>
            <a:ext cx="679269" cy="2351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MLLM</a:t>
            </a:r>
          </a:p>
        </p:txBody>
      </p:sp>
      <p:cxnSp>
        <p:nvCxnSpPr>
          <p:cNvPr id="37" name="mllm-to-modal-shaft-1"/>
          <p:cNvCxnSpPr/>
          <p:nvPr/>
        </p:nvCxnSpPr>
        <p:spPr>
          <a:xfrm>
            <a:off x="2044337" y="868680"/>
            <a:ext cx="267789" cy="0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sp>
        <p:nvSpPr>
          <p:cNvPr id="38" name="mllm-to-modal-head"/>
          <p:cNvSpPr/>
          <p:nvPr/>
        </p:nvSpPr>
        <p:spPr>
          <a:xfrm rot="5400000">
            <a:off x="2240280" y="832757"/>
            <a:ext cx="71846" cy="71846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raw-route-to-embedding-shaft-1"/>
          <p:cNvCxnSpPr/>
          <p:nvPr/>
        </p:nvCxnSpPr>
        <p:spPr>
          <a:xfrm flipV="1">
            <a:off x="2161903" y="254726"/>
            <a:ext cx="0" cy="613954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cxnSp>
        <p:nvCxnSpPr>
          <p:cNvPr id="40" name="raw-route-to-embedding-shaft-2"/>
          <p:cNvCxnSpPr/>
          <p:nvPr/>
        </p:nvCxnSpPr>
        <p:spPr>
          <a:xfrm>
            <a:off x="2161903" y="254726"/>
            <a:ext cx="1547948" cy="0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cxnSp>
        <p:nvCxnSpPr>
          <p:cNvPr id="41" name="raw-route-to-embedding-shaft-3"/>
          <p:cNvCxnSpPr/>
          <p:nvPr/>
        </p:nvCxnSpPr>
        <p:spPr>
          <a:xfrm>
            <a:off x="3709851" y="254726"/>
            <a:ext cx="0" cy="124097"/>
          </a:xfrm>
          <a:prstGeom prst="line">
            <a:avLst/>
          </a:prstGeom>
          <a:ln w="19594">
            <a:solidFill>
              <a:srgbClr val="595959"/>
            </a:solidFill>
          </a:ln>
          <a:effectLst/>
        </p:spPr>
      </p:cxnSp>
      <p:sp>
        <p:nvSpPr>
          <p:cNvPr id="42" name="raw-route-to-embedding-head"/>
          <p:cNvSpPr/>
          <p:nvPr/>
        </p:nvSpPr>
        <p:spPr>
          <a:xfrm rot="10800000">
            <a:off x="3677194" y="313509"/>
            <a:ext cx="65314" cy="65314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modal-input-group"/>
          <p:cNvSpPr/>
          <p:nvPr/>
        </p:nvSpPr>
        <p:spPr>
          <a:xfrm>
            <a:off x="2312126" y="333103"/>
            <a:ext cx="816429" cy="1254034"/>
          </a:xfrm>
          <a:prstGeom prst="rect">
            <a:avLst/>
          </a:prstGeom>
          <a:noFill/>
          <a:ln w="18287">
            <a:solidFill>
              <a:srgbClr val="595959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sr"/>
          <p:cNvSpPr/>
          <p:nvPr/>
        </p:nvSpPr>
        <p:spPr>
          <a:xfrm>
            <a:off x="2410097" y="385354"/>
            <a:ext cx="613954" cy="326571"/>
          </a:xfrm>
          <a:prstGeom prst="roundRect">
            <a:avLst>
              <a:gd name="adj" fmla="val 24000"/>
            </a:avLst>
          </a:prstGeom>
          <a:solidFill>
            <a:srgbClr val="CDD9EF"/>
          </a:solidFill>
          <a:ln w="19594">
            <a:solidFill>
              <a:srgbClr val="59595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cr"/>
          <p:cNvSpPr/>
          <p:nvPr/>
        </p:nvSpPr>
        <p:spPr>
          <a:xfrm>
            <a:off x="2410097" y="770709"/>
            <a:ext cx="613954" cy="326571"/>
          </a:xfrm>
          <a:prstGeom prst="roundRect">
            <a:avLst>
              <a:gd name="adj" fmla="val 24000"/>
            </a:avLst>
          </a:prstGeom>
          <a:solidFill>
            <a:srgbClr val="E3E5FE"/>
          </a:solidFill>
          <a:ln w="19594">
            <a:solidFill>
              <a:srgbClr val="59595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mode"/>
          <p:cNvSpPr/>
          <p:nvPr/>
        </p:nvSpPr>
        <p:spPr>
          <a:xfrm>
            <a:off x="2410097" y="1156063"/>
            <a:ext cx="613954" cy="339634"/>
          </a:xfrm>
          <a:prstGeom prst="roundRect">
            <a:avLst>
              <a:gd name="adj" fmla="val 23076"/>
            </a:avLst>
          </a:prstGeom>
          <a:solidFill>
            <a:srgbClr val="FFF1CC"/>
          </a:solidFill>
          <a:ln w="19594">
            <a:solidFill>
              <a:srgbClr val="59595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asr-text"/>
          <p:cNvSpPr txBox="1"/>
          <p:nvPr/>
        </p:nvSpPr>
        <p:spPr>
          <a:xfrm>
            <a:off x="2442754" y="437606"/>
            <a:ext cx="548640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1" i="0">
                <a:solidFill>
                  <a:srgbClr val="000000"/>
                </a:solidFill>
                <a:latin typeface="Times New Roman"/>
              </a:rPr>
              <a:t>ASR</a:t>
            </a:r>
          </a:p>
        </p:txBody>
      </p:sp>
      <p:sp>
        <p:nvSpPr>
          <p:cNvPr id="48" name="ocr-text"/>
          <p:cNvSpPr txBox="1"/>
          <p:nvPr/>
        </p:nvSpPr>
        <p:spPr>
          <a:xfrm>
            <a:off x="2442754" y="822960"/>
            <a:ext cx="548640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1" i="0">
                <a:solidFill>
                  <a:srgbClr val="000000"/>
                </a:solidFill>
                <a:latin typeface="Times New Roman"/>
              </a:rPr>
              <a:t>OCR</a:t>
            </a:r>
          </a:p>
        </p:txBody>
      </p:sp>
      <p:sp>
        <p:nvSpPr>
          <p:cNvPr id="49" name="text-mode-text"/>
          <p:cNvSpPr txBox="1"/>
          <p:nvPr/>
        </p:nvSpPr>
        <p:spPr>
          <a:xfrm>
            <a:off x="2442754" y="1208314"/>
            <a:ext cx="548640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1" i="0">
                <a:solidFill>
                  <a:srgbClr val="000000"/>
                </a:solidFill>
                <a:latin typeface="Times New Roman"/>
              </a:rPr>
              <a:t>Text</a:t>
            </a:r>
          </a:p>
        </p:txBody>
      </p:sp>
      <p:sp>
        <p:nvSpPr>
          <p:cNvPr id="50" name="mllm-embedding"/>
          <p:cNvSpPr/>
          <p:nvPr/>
        </p:nvSpPr>
        <p:spPr>
          <a:xfrm>
            <a:off x="3376749" y="378823"/>
            <a:ext cx="764177" cy="1129937"/>
          </a:xfrm>
          <a:prstGeom prst="roundRect">
            <a:avLst>
              <a:gd name="adj" fmla="val 16239"/>
            </a:avLst>
          </a:prstGeom>
          <a:solidFill>
            <a:srgbClr val="FCEBF5"/>
          </a:solidFill>
          <a:ln w="22859">
            <a:solidFill>
              <a:srgbClr val="59595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llm-embedding-text"/>
          <p:cNvSpPr txBox="1"/>
          <p:nvPr/>
        </p:nvSpPr>
        <p:spPr>
          <a:xfrm>
            <a:off x="3442063" y="659674"/>
            <a:ext cx="633549" cy="470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 i="0">
                <a:solidFill>
                  <a:srgbClr val="000000"/>
                </a:solidFill>
                <a:latin typeface="Times New Roman"/>
              </a:rPr>
              <a:t>MLLM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 i="0">
                <a:solidFill>
                  <a:srgbClr val="000000"/>
                </a:solidFill>
                <a:latin typeface="Times New Roman"/>
              </a:rPr>
              <a:t>Emb Eᵢ</a:t>
            </a:r>
          </a:p>
        </p:txBody>
      </p:sp>
      <p:cxnSp>
        <p:nvCxnSpPr>
          <p:cNvPr id="52" name="modal-to-item-prompt-shaft-1"/>
          <p:cNvCxnSpPr/>
          <p:nvPr/>
        </p:nvCxnSpPr>
        <p:spPr>
          <a:xfrm>
            <a:off x="2318657" y="1580606"/>
            <a:ext cx="0" cy="222068"/>
          </a:xfrm>
          <a:prstGeom prst="line">
            <a:avLst/>
          </a:prstGeom>
          <a:ln w="18287">
            <a:solidFill>
              <a:srgbClr val="595959"/>
            </a:solidFill>
            <a:prstDash val="sysDot"/>
          </a:ln>
          <a:effectLst/>
        </p:spPr>
      </p:cxnSp>
      <p:cxnSp>
        <p:nvCxnSpPr>
          <p:cNvPr id="53" name="modal-to-item-prompt-shaft-2"/>
          <p:cNvCxnSpPr/>
          <p:nvPr/>
        </p:nvCxnSpPr>
        <p:spPr>
          <a:xfrm flipH="1">
            <a:off x="1045029" y="1802674"/>
            <a:ext cx="1273628" cy="0"/>
          </a:xfrm>
          <a:prstGeom prst="line">
            <a:avLst/>
          </a:prstGeom>
          <a:ln w="18287">
            <a:solidFill>
              <a:srgbClr val="595959"/>
            </a:solidFill>
            <a:prstDash val="sysDot"/>
          </a:ln>
          <a:effectLst/>
        </p:spPr>
      </p:cxnSp>
      <p:cxnSp>
        <p:nvCxnSpPr>
          <p:cNvPr id="54" name="modal-to-item-prompt-shaft-3"/>
          <p:cNvCxnSpPr/>
          <p:nvPr/>
        </p:nvCxnSpPr>
        <p:spPr>
          <a:xfrm>
            <a:off x="1045029" y="1802674"/>
            <a:ext cx="0" cy="404949"/>
          </a:xfrm>
          <a:prstGeom prst="line">
            <a:avLst/>
          </a:prstGeom>
          <a:ln w="18287">
            <a:solidFill>
              <a:srgbClr val="595959"/>
            </a:solidFill>
            <a:prstDash val="sysDot"/>
          </a:ln>
          <a:effectLst/>
        </p:spPr>
      </p:cxnSp>
      <p:sp>
        <p:nvSpPr>
          <p:cNvPr id="55" name="modal-to-item-prompt-head"/>
          <p:cNvSpPr/>
          <p:nvPr/>
        </p:nvSpPr>
        <p:spPr>
          <a:xfrm rot="10800000">
            <a:off x="1012371" y="2142309"/>
            <a:ext cx="65314" cy="65314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" name="modal-to-user-prompt-shaft-1"/>
          <p:cNvCxnSpPr/>
          <p:nvPr/>
        </p:nvCxnSpPr>
        <p:spPr>
          <a:xfrm>
            <a:off x="3128554" y="933994"/>
            <a:ext cx="137160" cy="0"/>
          </a:xfrm>
          <a:prstGeom prst="line">
            <a:avLst/>
          </a:prstGeom>
          <a:ln w="18287">
            <a:solidFill>
              <a:srgbClr val="595959"/>
            </a:solidFill>
            <a:prstDash val="sysDot"/>
          </a:ln>
          <a:effectLst/>
        </p:spPr>
      </p:cxnSp>
      <p:cxnSp>
        <p:nvCxnSpPr>
          <p:cNvPr id="57" name="modal-to-user-prompt-shaft-2"/>
          <p:cNvCxnSpPr/>
          <p:nvPr/>
        </p:nvCxnSpPr>
        <p:spPr>
          <a:xfrm>
            <a:off x="3265714" y="933994"/>
            <a:ext cx="0" cy="1273629"/>
          </a:xfrm>
          <a:prstGeom prst="line">
            <a:avLst/>
          </a:prstGeom>
          <a:ln w="18287">
            <a:solidFill>
              <a:srgbClr val="595959"/>
            </a:solidFill>
            <a:prstDash val="sysDot"/>
          </a:ln>
          <a:effectLst/>
        </p:spPr>
      </p:cxnSp>
      <p:sp>
        <p:nvSpPr>
          <p:cNvPr id="58" name="modal-to-user-prompt-head"/>
          <p:cNvSpPr/>
          <p:nvPr/>
        </p:nvSpPr>
        <p:spPr>
          <a:xfrm rot="10800000">
            <a:off x="3233057" y="2142309"/>
            <a:ext cx="65314" cy="65314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9" name="embedding-to-center-mllm-shaft-1"/>
          <p:cNvCxnSpPr/>
          <p:nvPr/>
        </p:nvCxnSpPr>
        <p:spPr>
          <a:xfrm>
            <a:off x="3749040" y="1508760"/>
            <a:ext cx="0" cy="463732"/>
          </a:xfrm>
          <a:prstGeom prst="line">
            <a:avLst/>
          </a:prstGeom>
          <a:ln w="20900">
            <a:solidFill>
              <a:srgbClr val="FFB3B3"/>
            </a:solidFill>
          </a:ln>
          <a:effectLst/>
        </p:spPr>
      </p:cxnSp>
      <p:cxnSp>
        <p:nvCxnSpPr>
          <p:cNvPr id="60" name="embedding-to-center-mllm-shaft-2"/>
          <p:cNvCxnSpPr/>
          <p:nvPr/>
        </p:nvCxnSpPr>
        <p:spPr>
          <a:xfrm flipH="1">
            <a:off x="2096589" y="1972492"/>
            <a:ext cx="1652451" cy="0"/>
          </a:xfrm>
          <a:prstGeom prst="line">
            <a:avLst/>
          </a:prstGeom>
          <a:ln w="20900">
            <a:solidFill>
              <a:srgbClr val="FFB3B3"/>
            </a:solidFill>
          </a:ln>
          <a:effectLst/>
        </p:spPr>
      </p:cxnSp>
      <p:cxnSp>
        <p:nvCxnSpPr>
          <p:cNvPr id="61" name="embedding-to-center-mllm-shaft-3"/>
          <p:cNvCxnSpPr/>
          <p:nvPr/>
        </p:nvCxnSpPr>
        <p:spPr>
          <a:xfrm>
            <a:off x="2096589" y="1972492"/>
            <a:ext cx="0" cy="881742"/>
          </a:xfrm>
          <a:prstGeom prst="line">
            <a:avLst/>
          </a:prstGeom>
          <a:ln w="20900">
            <a:solidFill>
              <a:srgbClr val="FFB3B3"/>
            </a:solidFill>
          </a:ln>
          <a:effectLst/>
        </p:spPr>
      </p:cxnSp>
      <p:sp>
        <p:nvSpPr>
          <p:cNvPr id="62" name="embedding-to-center-mllm-head"/>
          <p:cNvSpPr/>
          <p:nvPr/>
        </p:nvSpPr>
        <p:spPr>
          <a:xfrm rot="10800000">
            <a:off x="2057400" y="2775857"/>
            <a:ext cx="78377" cy="78377"/>
          </a:xfrm>
          <a:prstGeom prst="triangle">
            <a:avLst/>
          </a:prstGeom>
          <a:solidFill>
            <a:srgbClr val="FF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item-prompt"/>
          <p:cNvSpPr/>
          <p:nvPr/>
        </p:nvSpPr>
        <p:spPr>
          <a:xfrm>
            <a:off x="143691" y="2207623"/>
            <a:ext cx="1815737" cy="600891"/>
          </a:xfrm>
          <a:prstGeom prst="roundRect">
            <a:avLst>
              <a:gd name="adj" fmla="val 16304"/>
            </a:avLst>
          </a:prstGeom>
          <a:solidFill>
            <a:srgbClr val="E1EFD8"/>
          </a:solidFill>
          <a:ln w="20900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tem-prompt-text"/>
          <p:cNvSpPr txBox="1"/>
          <p:nvPr/>
        </p:nvSpPr>
        <p:spPr>
          <a:xfrm>
            <a:off x="228600" y="2259874"/>
            <a:ext cx="1645920" cy="4702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ItemTag Extraction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Prompt Xᶜᵢ</a:t>
            </a:r>
          </a:p>
        </p:txBody>
      </p:sp>
      <p:sp>
        <p:nvSpPr>
          <p:cNvPr id="65" name="user-prompt"/>
          <p:cNvSpPr/>
          <p:nvPr/>
        </p:nvSpPr>
        <p:spPr>
          <a:xfrm>
            <a:off x="2338251" y="2214154"/>
            <a:ext cx="1770017" cy="594360"/>
          </a:xfrm>
          <a:prstGeom prst="roundRect">
            <a:avLst>
              <a:gd name="adj" fmla="val 16483"/>
            </a:avLst>
          </a:prstGeom>
          <a:solidFill>
            <a:srgbClr val="FAE4D6"/>
          </a:solidFill>
          <a:ln w="20900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user-prompt-text"/>
          <p:cNvSpPr txBox="1"/>
          <p:nvPr/>
        </p:nvSpPr>
        <p:spPr>
          <a:xfrm>
            <a:off x="2403566" y="2266406"/>
            <a:ext cx="1632857" cy="4637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UserTag Extraction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Prompt Xᵀᵢ</a:t>
            </a:r>
          </a:p>
        </p:txBody>
      </p:sp>
      <p:cxnSp>
        <p:nvCxnSpPr>
          <p:cNvPr id="67" name="item-prompt-to-mllm-shaft-1"/>
          <p:cNvCxnSpPr/>
          <p:nvPr/>
        </p:nvCxnSpPr>
        <p:spPr>
          <a:xfrm>
            <a:off x="1005840" y="2808514"/>
            <a:ext cx="0" cy="300446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68" name="item-prompt-to-mllm-shaft-2"/>
          <p:cNvCxnSpPr/>
          <p:nvPr/>
        </p:nvCxnSpPr>
        <p:spPr>
          <a:xfrm>
            <a:off x="1005840" y="3108960"/>
            <a:ext cx="738051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69" name="item-prompt-to-mllm-head"/>
          <p:cNvSpPr/>
          <p:nvPr/>
        </p:nvSpPr>
        <p:spPr>
          <a:xfrm rot="5400000">
            <a:off x="1678577" y="3076303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" name="item-prompt-to-tags-shaft-1"/>
          <p:cNvCxnSpPr/>
          <p:nvPr/>
        </p:nvCxnSpPr>
        <p:spPr>
          <a:xfrm>
            <a:off x="986246" y="2808514"/>
            <a:ext cx="0" cy="738052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71" name="item-prompt-to-tags-head"/>
          <p:cNvSpPr/>
          <p:nvPr/>
        </p:nvSpPr>
        <p:spPr>
          <a:xfrm rot="10800000">
            <a:off x="953589" y="3481252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2" name="user-prompt-to-mllm-shaft-1"/>
          <p:cNvCxnSpPr/>
          <p:nvPr/>
        </p:nvCxnSpPr>
        <p:spPr>
          <a:xfrm>
            <a:off x="3193869" y="2808514"/>
            <a:ext cx="0" cy="267789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73" name="user-prompt-to-mllm-shaft-2"/>
          <p:cNvCxnSpPr/>
          <p:nvPr/>
        </p:nvCxnSpPr>
        <p:spPr>
          <a:xfrm flipH="1">
            <a:off x="2423160" y="3076303"/>
            <a:ext cx="770709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74" name="user-prompt-to-mllm-head"/>
          <p:cNvSpPr/>
          <p:nvPr/>
        </p:nvSpPr>
        <p:spPr>
          <a:xfrm rot="16200000">
            <a:off x="2423160" y="3043646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5" name="user-prompt-to-tags-shaft-1"/>
          <p:cNvCxnSpPr/>
          <p:nvPr/>
        </p:nvCxnSpPr>
        <p:spPr>
          <a:xfrm>
            <a:off x="3200400" y="2808514"/>
            <a:ext cx="0" cy="744583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76" name="user-prompt-to-tags-head"/>
          <p:cNvSpPr/>
          <p:nvPr/>
        </p:nvSpPr>
        <p:spPr>
          <a:xfrm rot="10800000">
            <a:off x="3167743" y="3487783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" name="mllm-extract-antenna-1"/>
          <p:cNvCxnSpPr/>
          <p:nvPr/>
        </p:nvCxnSpPr>
        <p:spPr>
          <a:xfrm flipV="1">
            <a:off x="2073598" y="2925688"/>
            <a:ext cx="0" cy="61396"/>
          </a:xfrm>
          <a:prstGeom prst="line">
            <a:avLst/>
          </a:prstGeom>
          <a:ln w="24558">
            <a:solidFill>
              <a:srgbClr val="000000"/>
            </a:solidFill>
          </a:ln>
          <a:effectLst/>
        </p:spPr>
      </p:cxnSp>
      <p:sp>
        <p:nvSpPr>
          <p:cNvPr id="78" name="mllm-extract-antenna-dot"/>
          <p:cNvSpPr/>
          <p:nvPr/>
        </p:nvSpPr>
        <p:spPr>
          <a:xfrm>
            <a:off x="2049040" y="2901130"/>
            <a:ext cx="49116" cy="4911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mllm-extract-head"/>
          <p:cNvSpPr/>
          <p:nvPr/>
        </p:nvSpPr>
        <p:spPr>
          <a:xfrm>
            <a:off x="1956947" y="2980944"/>
            <a:ext cx="233303" cy="165768"/>
          </a:xfrm>
          <a:prstGeom prst="roundRect">
            <a:avLst>
              <a:gd name="adj" fmla="val 1851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mllm-extract-eye-left"/>
          <p:cNvSpPr/>
          <p:nvPr/>
        </p:nvSpPr>
        <p:spPr>
          <a:xfrm>
            <a:off x="2006063" y="3036200"/>
            <a:ext cx="30698" cy="3069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mllm-extract-eye-right"/>
          <p:cNvSpPr/>
          <p:nvPr/>
        </p:nvSpPr>
        <p:spPr>
          <a:xfrm>
            <a:off x="2110435" y="3036200"/>
            <a:ext cx="30698" cy="3069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mllm-extract-body"/>
          <p:cNvSpPr/>
          <p:nvPr/>
        </p:nvSpPr>
        <p:spPr>
          <a:xfrm>
            <a:off x="1907830" y="3177410"/>
            <a:ext cx="343814" cy="227163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mllm-extract-screen"/>
          <p:cNvSpPr/>
          <p:nvPr/>
        </p:nvSpPr>
        <p:spPr>
          <a:xfrm>
            <a:off x="1969226" y="3214247"/>
            <a:ext cx="221024" cy="13507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4" name="mllm-extract-pulse-1"/>
          <p:cNvCxnSpPr/>
          <p:nvPr/>
        </p:nvCxnSpPr>
        <p:spPr>
          <a:xfrm>
            <a:off x="1981505" y="3294061"/>
            <a:ext cx="42977" cy="0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85" name="mllm-extract-pulse-2"/>
          <p:cNvCxnSpPr/>
          <p:nvPr/>
        </p:nvCxnSpPr>
        <p:spPr>
          <a:xfrm flipV="1">
            <a:off x="2024482" y="3232665"/>
            <a:ext cx="24558" cy="61396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86" name="mllm-extract-pulse-3"/>
          <p:cNvCxnSpPr/>
          <p:nvPr/>
        </p:nvCxnSpPr>
        <p:spPr>
          <a:xfrm>
            <a:off x="2049040" y="3232665"/>
            <a:ext cx="30697" cy="104373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87" name="mllm-extract-pulse-4"/>
          <p:cNvCxnSpPr/>
          <p:nvPr/>
        </p:nvCxnSpPr>
        <p:spPr>
          <a:xfrm flipV="1">
            <a:off x="2079737" y="3269503"/>
            <a:ext cx="30698" cy="67535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88" name="mllm-extract-pulse-5"/>
          <p:cNvCxnSpPr/>
          <p:nvPr/>
        </p:nvCxnSpPr>
        <p:spPr>
          <a:xfrm>
            <a:off x="2110435" y="3269503"/>
            <a:ext cx="36837" cy="24558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89" name="mllm-extract-pulse-6"/>
          <p:cNvCxnSpPr/>
          <p:nvPr/>
        </p:nvCxnSpPr>
        <p:spPr>
          <a:xfrm>
            <a:off x="2147272" y="3294061"/>
            <a:ext cx="36838" cy="0"/>
          </a:xfrm>
          <a:prstGeom prst="line">
            <a:avLst/>
          </a:prstGeom>
          <a:ln w="13506">
            <a:solidFill>
              <a:srgbClr val="000000"/>
            </a:solidFill>
          </a:ln>
          <a:effectLst/>
        </p:spPr>
      </p:cxnSp>
      <p:cxnSp>
        <p:nvCxnSpPr>
          <p:cNvPr id="90" name="mllm-extract-arm-left-1"/>
          <p:cNvCxnSpPr/>
          <p:nvPr/>
        </p:nvCxnSpPr>
        <p:spPr>
          <a:xfrm flipH="1">
            <a:off x="1858714" y="3226526"/>
            <a:ext cx="49116" cy="0"/>
          </a:xfrm>
          <a:prstGeom prst="line">
            <a:avLst/>
          </a:prstGeom>
          <a:ln w="24558">
            <a:solidFill>
              <a:srgbClr val="000000"/>
            </a:solidFill>
          </a:ln>
          <a:effectLst/>
        </p:spPr>
      </p:cxnSp>
      <p:cxnSp>
        <p:nvCxnSpPr>
          <p:cNvPr id="91" name="mllm-extract-arm-left-2"/>
          <p:cNvCxnSpPr/>
          <p:nvPr/>
        </p:nvCxnSpPr>
        <p:spPr>
          <a:xfrm flipV="1">
            <a:off x="1858714" y="3177410"/>
            <a:ext cx="0" cy="49116"/>
          </a:xfrm>
          <a:prstGeom prst="line">
            <a:avLst/>
          </a:prstGeom>
          <a:ln w="24558">
            <a:solidFill>
              <a:srgbClr val="000000"/>
            </a:solidFill>
          </a:ln>
          <a:effectLst/>
        </p:spPr>
      </p:cxnSp>
      <p:cxnSp>
        <p:nvCxnSpPr>
          <p:cNvPr id="92" name="mllm-extract-arm-right-1"/>
          <p:cNvCxnSpPr/>
          <p:nvPr/>
        </p:nvCxnSpPr>
        <p:spPr>
          <a:xfrm>
            <a:off x="2251645" y="3226526"/>
            <a:ext cx="42976" cy="0"/>
          </a:xfrm>
          <a:prstGeom prst="line">
            <a:avLst/>
          </a:prstGeom>
          <a:ln w="24558">
            <a:solidFill>
              <a:srgbClr val="000000"/>
            </a:solidFill>
          </a:ln>
          <a:effectLst/>
        </p:spPr>
      </p:cxnSp>
      <p:cxnSp>
        <p:nvCxnSpPr>
          <p:cNvPr id="93" name="mllm-extract-arm-right-2"/>
          <p:cNvCxnSpPr/>
          <p:nvPr/>
        </p:nvCxnSpPr>
        <p:spPr>
          <a:xfrm>
            <a:off x="2294621" y="3226526"/>
            <a:ext cx="0" cy="67535"/>
          </a:xfrm>
          <a:prstGeom prst="line">
            <a:avLst/>
          </a:prstGeom>
          <a:ln w="24558">
            <a:solidFill>
              <a:srgbClr val="000000"/>
            </a:solidFill>
          </a:ln>
          <a:effectLst/>
        </p:spPr>
      </p:cxnSp>
      <p:sp>
        <p:nvSpPr>
          <p:cNvPr id="94" name="mllm-extract-hand-left"/>
          <p:cNvSpPr/>
          <p:nvPr/>
        </p:nvSpPr>
        <p:spPr>
          <a:xfrm>
            <a:off x="1834156" y="3140572"/>
            <a:ext cx="49116" cy="4911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mllm-extract-hand-right"/>
          <p:cNvSpPr/>
          <p:nvPr/>
        </p:nvSpPr>
        <p:spPr>
          <a:xfrm>
            <a:off x="2270063" y="3281782"/>
            <a:ext cx="49116" cy="4911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mllm-extract-base"/>
          <p:cNvSpPr/>
          <p:nvPr/>
        </p:nvSpPr>
        <p:spPr>
          <a:xfrm>
            <a:off x="1877133" y="3429131"/>
            <a:ext cx="405210" cy="104372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mllm-extract-base-light-0"/>
          <p:cNvSpPr/>
          <p:nvPr/>
        </p:nvSpPr>
        <p:spPr>
          <a:xfrm>
            <a:off x="1926249" y="3453689"/>
            <a:ext cx="49116" cy="49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mllm-extract-base-light-1"/>
          <p:cNvSpPr/>
          <p:nvPr/>
        </p:nvSpPr>
        <p:spPr>
          <a:xfrm>
            <a:off x="2049040" y="3453689"/>
            <a:ext cx="49116" cy="49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mllm-extract-base-light-2"/>
          <p:cNvSpPr/>
          <p:nvPr/>
        </p:nvSpPr>
        <p:spPr>
          <a:xfrm>
            <a:off x="2171831" y="3453689"/>
            <a:ext cx="49116" cy="491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mllm-extract-label"/>
          <p:cNvSpPr txBox="1"/>
          <p:nvPr/>
        </p:nvSpPr>
        <p:spPr>
          <a:xfrm>
            <a:off x="1743891" y="3566160"/>
            <a:ext cx="731520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000000"/>
                </a:solidFill>
                <a:latin typeface="Times New Roman"/>
              </a:rPr>
              <a:t>MLLM</a:t>
            </a:r>
          </a:p>
        </p:txBody>
      </p:sp>
      <p:sp>
        <p:nvSpPr>
          <p:cNvPr id="101" name="item-tag-back"/>
          <p:cNvSpPr/>
          <p:nvPr/>
        </p:nvSpPr>
        <p:spPr>
          <a:xfrm>
            <a:off x="450669" y="3553097"/>
            <a:ext cx="1143000" cy="365760"/>
          </a:xfrm>
          <a:prstGeom prst="roundRect">
            <a:avLst>
              <a:gd name="adj" fmla="val 17857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item-tag-back-text"/>
          <p:cNvSpPr txBox="1"/>
          <p:nvPr/>
        </p:nvSpPr>
        <p:spPr>
          <a:xfrm>
            <a:off x="476794" y="3566160"/>
            <a:ext cx="1090749" cy="3396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0">
                <a:solidFill>
                  <a:srgbClr val="000000"/>
                </a:solidFill>
                <a:latin typeface="Times New Roman"/>
              </a:rPr>
              <a:t>Live Music</a:t>
            </a:r>
          </a:p>
        </p:txBody>
      </p:sp>
      <p:sp>
        <p:nvSpPr>
          <p:cNvPr id="103" name="item-tag-mid"/>
          <p:cNvSpPr/>
          <p:nvPr/>
        </p:nvSpPr>
        <p:spPr>
          <a:xfrm>
            <a:off x="346166" y="3781697"/>
            <a:ext cx="1149531" cy="365760"/>
          </a:xfrm>
          <a:prstGeom prst="roundRect">
            <a:avLst>
              <a:gd name="adj" fmla="val 17857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item-tag-front"/>
          <p:cNvSpPr/>
          <p:nvPr/>
        </p:nvSpPr>
        <p:spPr>
          <a:xfrm>
            <a:off x="267789" y="3958046"/>
            <a:ext cx="1097280" cy="372291"/>
          </a:xfrm>
          <a:prstGeom prst="roundRect">
            <a:avLst>
              <a:gd name="adj" fmla="val 17543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item-tag-front-text"/>
          <p:cNvSpPr txBox="1"/>
          <p:nvPr/>
        </p:nvSpPr>
        <p:spPr>
          <a:xfrm>
            <a:off x="293914" y="3971109"/>
            <a:ext cx="1045029" cy="3461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Instrument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Shows</a:t>
            </a:r>
          </a:p>
        </p:txBody>
      </p:sp>
      <p:sp>
        <p:nvSpPr>
          <p:cNvPr id="106" name="item-tag-set-label"/>
          <p:cNvSpPr txBox="1"/>
          <p:nvPr/>
        </p:nvSpPr>
        <p:spPr>
          <a:xfrm>
            <a:off x="274320" y="4376057"/>
            <a:ext cx="1397726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ItemTag Set C*</a:t>
            </a:r>
          </a:p>
        </p:txBody>
      </p:sp>
      <p:sp>
        <p:nvSpPr>
          <p:cNvPr id="107" name="user-tag-back"/>
          <p:cNvSpPr/>
          <p:nvPr/>
        </p:nvSpPr>
        <p:spPr>
          <a:xfrm>
            <a:off x="2704011" y="3611880"/>
            <a:ext cx="1156063" cy="372291"/>
          </a:xfrm>
          <a:prstGeom prst="roundRect">
            <a:avLst>
              <a:gd name="adj" fmla="val 17543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user-tag-back-text"/>
          <p:cNvSpPr txBox="1"/>
          <p:nvPr/>
        </p:nvSpPr>
        <p:spPr>
          <a:xfrm>
            <a:off x="2730137" y="3624943"/>
            <a:ext cx="1103811" cy="1763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 i="0">
                <a:solidFill>
                  <a:srgbClr val="000000"/>
                </a:solidFill>
                <a:latin typeface="Times New Roman"/>
              </a:rPr>
              <a:t>Folk Music</a:t>
            </a:r>
          </a:p>
        </p:txBody>
      </p:sp>
      <p:sp>
        <p:nvSpPr>
          <p:cNvPr id="109" name="user-tag-mid"/>
          <p:cNvSpPr/>
          <p:nvPr/>
        </p:nvSpPr>
        <p:spPr>
          <a:xfrm>
            <a:off x="2586446" y="3794760"/>
            <a:ext cx="1110343" cy="385354"/>
          </a:xfrm>
          <a:prstGeom prst="roundRect">
            <a:avLst>
              <a:gd name="adj" fmla="val 16949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user-tag-front"/>
          <p:cNvSpPr/>
          <p:nvPr/>
        </p:nvSpPr>
        <p:spPr>
          <a:xfrm>
            <a:off x="2508069" y="3951514"/>
            <a:ext cx="1097280" cy="378823"/>
          </a:xfrm>
          <a:prstGeom prst="roundRect">
            <a:avLst>
              <a:gd name="adj" fmla="val 17241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user-tag-front-text"/>
          <p:cNvSpPr txBox="1"/>
          <p:nvPr/>
        </p:nvSpPr>
        <p:spPr>
          <a:xfrm>
            <a:off x="2534194" y="3964577"/>
            <a:ext cx="1045029" cy="3526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Music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Enthusiast</a:t>
            </a:r>
          </a:p>
        </p:txBody>
      </p:sp>
      <p:sp>
        <p:nvSpPr>
          <p:cNvPr id="112" name="user-tag-set-label"/>
          <p:cNvSpPr txBox="1"/>
          <p:nvPr/>
        </p:nvSpPr>
        <p:spPr>
          <a:xfrm>
            <a:off x="2527663" y="4376057"/>
            <a:ext cx="1463040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UserTag Set T*</a:t>
            </a:r>
          </a:p>
        </p:txBody>
      </p:sp>
      <p:cxnSp>
        <p:nvCxnSpPr>
          <p:cNvPr id="113" name="item-set-bottom-route-1"/>
          <p:cNvCxnSpPr/>
          <p:nvPr/>
        </p:nvCxnSpPr>
        <p:spPr>
          <a:xfrm>
            <a:off x="744583" y="4630783"/>
            <a:ext cx="0" cy="372292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14" name="item-set-bottom-route-2"/>
          <p:cNvCxnSpPr/>
          <p:nvPr/>
        </p:nvCxnSpPr>
        <p:spPr>
          <a:xfrm>
            <a:off x="744583" y="5003075"/>
            <a:ext cx="4878977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15" name="user-set-bottom-route-1"/>
          <p:cNvCxnSpPr/>
          <p:nvPr/>
        </p:nvCxnSpPr>
        <p:spPr>
          <a:xfrm>
            <a:off x="3174274" y="4630783"/>
            <a:ext cx="0" cy="50292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116" name="user-set-bottom-route-2"/>
          <p:cNvCxnSpPr/>
          <p:nvPr/>
        </p:nvCxnSpPr>
        <p:spPr>
          <a:xfrm>
            <a:off x="3174274" y="5133703"/>
            <a:ext cx="3925389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17" name="logic-graph-field"/>
          <p:cNvSpPr/>
          <p:nvPr/>
        </p:nvSpPr>
        <p:spPr>
          <a:xfrm>
            <a:off x="4807131" y="228600"/>
            <a:ext cx="3154680" cy="2475412"/>
          </a:xfrm>
          <a:prstGeom prst="roundRect">
            <a:avLst>
              <a:gd name="adj" fmla="val 8970"/>
            </a:avLst>
          </a:prstGeom>
          <a:solidFill>
            <a:srgbClr val="EDF4FA"/>
          </a:solidFill>
          <a:ln w="11756">
            <a:solidFill>
              <a:srgbClr val="595959"/>
            </a:solidFill>
            <a:prstDash val="dash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ogic-graph-title"/>
          <p:cNvSpPr txBox="1"/>
          <p:nvPr/>
        </p:nvSpPr>
        <p:spPr>
          <a:xfrm>
            <a:off x="4944291" y="287383"/>
            <a:ext cx="1162594" cy="2547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1" i="1">
                <a:solidFill>
                  <a:srgbClr val="000000"/>
                </a:solidFill>
                <a:latin typeface="Times New Roman"/>
              </a:rPr>
              <a:t>Logic Graph</a:t>
            </a:r>
          </a:p>
        </p:txBody>
      </p:sp>
      <p:cxnSp>
        <p:nvCxnSpPr>
          <p:cNvPr id="119" name="graph-u2i-a-shaft-1"/>
          <p:cNvCxnSpPr/>
          <p:nvPr/>
        </p:nvCxnSpPr>
        <p:spPr>
          <a:xfrm>
            <a:off x="5479869" y="679269"/>
            <a:ext cx="0" cy="1162594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120" name="graph-u2i-a-shaft-2"/>
          <p:cNvCxnSpPr/>
          <p:nvPr/>
        </p:nvCxnSpPr>
        <p:spPr>
          <a:xfrm>
            <a:off x="5479869" y="1841863"/>
            <a:ext cx="378822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21" name="graph-u2i-a-head"/>
          <p:cNvSpPr/>
          <p:nvPr/>
        </p:nvSpPr>
        <p:spPr>
          <a:xfrm rot="5400000">
            <a:off x="5793377" y="1809206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graph-u2i-b-shaft-1"/>
          <p:cNvCxnSpPr/>
          <p:nvPr/>
        </p:nvCxnSpPr>
        <p:spPr>
          <a:xfrm>
            <a:off x="5388429" y="849086"/>
            <a:ext cx="0" cy="123444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123" name="graph-u2i-b-shaft-2"/>
          <p:cNvCxnSpPr/>
          <p:nvPr/>
        </p:nvCxnSpPr>
        <p:spPr>
          <a:xfrm>
            <a:off x="5388429" y="2083526"/>
            <a:ext cx="326571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24" name="graph-u2i-b-head"/>
          <p:cNvSpPr/>
          <p:nvPr/>
        </p:nvSpPr>
        <p:spPr>
          <a:xfrm rot="5400000">
            <a:off x="5649686" y="2050869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graph-u2i-c-shaft-1"/>
          <p:cNvCxnSpPr/>
          <p:nvPr/>
        </p:nvCxnSpPr>
        <p:spPr>
          <a:xfrm>
            <a:off x="5290457" y="1005840"/>
            <a:ext cx="0" cy="1254034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126" name="graph-u2i-c-shaft-2"/>
          <p:cNvCxnSpPr/>
          <p:nvPr/>
        </p:nvCxnSpPr>
        <p:spPr>
          <a:xfrm>
            <a:off x="5290457" y="2259874"/>
            <a:ext cx="339634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27" name="graph-u2i-c-head"/>
          <p:cNvSpPr/>
          <p:nvPr/>
        </p:nvSpPr>
        <p:spPr>
          <a:xfrm rot="5400000">
            <a:off x="5564777" y="2227217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graph-i2u-a-shaft-1"/>
          <p:cNvCxnSpPr/>
          <p:nvPr/>
        </p:nvCxnSpPr>
        <p:spPr>
          <a:xfrm flipV="1">
            <a:off x="7321731" y="679269"/>
            <a:ext cx="0" cy="1384663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29" name="graph-i2u-a-shaft-2"/>
          <p:cNvCxnSpPr/>
          <p:nvPr/>
        </p:nvCxnSpPr>
        <p:spPr>
          <a:xfrm flipH="1">
            <a:off x="7086600" y="679269"/>
            <a:ext cx="235131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130" name="graph-i2u-a-head"/>
          <p:cNvSpPr/>
          <p:nvPr/>
        </p:nvSpPr>
        <p:spPr>
          <a:xfrm rot="16200000">
            <a:off x="7086600" y="646611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1" name="graph-i2u-b-shaft-1"/>
          <p:cNvCxnSpPr/>
          <p:nvPr/>
        </p:nvCxnSpPr>
        <p:spPr>
          <a:xfrm flipV="1">
            <a:off x="7184571" y="849086"/>
            <a:ext cx="0" cy="1410788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32" name="graph-i2u-b-shaft-2"/>
          <p:cNvCxnSpPr/>
          <p:nvPr/>
        </p:nvCxnSpPr>
        <p:spPr>
          <a:xfrm flipH="1">
            <a:off x="6942909" y="849086"/>
            <a:ext cx="241662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133" name="graph-i2u-b-head"/>
          <p:cNvSpPr/>
          <p:nvPr/>
        </p:nvSpPr>
        <p:spPr>
          <a:xfrm rot="16200000">
            <a:off x="6942909" y="816429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4" name="graph-i2u-c-shaft-1"/>
          <p:cNvCxnSpPr/>
          <p:nvPr/>
        </p:nvCxnSpPr>
        <p:spPr>
          <a:xfrm flipV="1">
            <a:off x="7040880" y="1012371"/>
            <a:ext cx="0" cy="1430383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35" name="graph-i2u-c-shaft-2"/>
          <p:cNvCxnSpPr/>
          <p:nvPr/>
        </p:nvCxnSpPr>
        <p:spPr>
          <a:xfrm flipH="1">
            <a:off x="6799217" y="1012371"/>
            <a:ext cx="241663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136" name="graph-i2u-c-head"/>
          <p:cNvSpPr/>
          <p:nvPr/>
        </p:nvSpPr>
        <p:spPr>
          <a:xfrm rot="16200000">
            <a:off x="6799217" y="979714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graph-u2i-label"/>
          <p:cNvSpPr txBox="1"/>
          <p:nvPr/>
        </p:nvSpPr>
        <p:spPr>
          <a:xfrm>
            <a:off x="4944291" y="1227909"/>
            <a:ext cx="489857" cy="26125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37" b="0" i="1">
                <a:solidFill>
                  <a:srgbClr val="C55400"/>
                </a:solidFill>
                <a:latin typeface="Times New Roman"/>
              </a:rPr>
              <a:t>G U2I*</a:t>
            </a:r>
          </a:p>
        </p:txBody>
      </p:sp>
      <p:sp>
        <p:nvSpPr>
          <p:cNvPr id="138" name="graph-i2u-label"/>
          <p:cNvSpPr txBox="1"/>
          <p:nvPr/>
        </p:nvSpPr>
        <p:spPr>
          <a:xfrm>
            <a:off x="7406640" y="1293223"/>
            <a:ext cx="522514" cy="26125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37" b="0" i="1">
                <a:solidFill>
                  <a:srgbClr val="355F22"/>
                </a:solidFill>
                <a:latin typeface="Times New Roman"/>
              </a:rPr>
              <a:t>G I2U*</a:t>
            </a:r>
          </a:p>
        </p:txBody>
      </p:sp>
      <p:sp>
        <p:nvSpPr>
          <p:cNvPr id="139" name="graph-user-back"/>
          <p:cNvSpPr/>
          <p:nvPr/>
        </p:nvSpPr>
        <p:spPr>
          <a:xfrm>
            <a:off x="5937069" y="489857"/>
            <a:ext cx="1149531" cy="378823"/>
          </a:xfrm>
          <a:prstGeom prst="roundRect">
            <a:avLst>
              <a:gd name="adj" fmla="val 17241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graph-user-back-text"/>
          <p:cNvSpPr txBox="1"/>
          <p:nvPr/>
        </p:nvSpPr>
        <p:spPr>
          <a:xfrm>
            <a:off x="5963194" y="502920"/>
            <a:ext cx="1097280" cy="1632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Folk Music</a:t>
            </a:r>
          </a:p>
        </p:txBody>
      </p:sp>
      <p:sp>
        <p:nvSpPr>
          <p:cNvPr id="141" name="graph-user-mid"/>
          <p:cNvSpPr/>
          <p:nvPr/>
        </p:nvSpPr>
        <p:spPr>
          <a:xfrm>
            <a:off x="5819503" y="659674"/>
            <a:ext cx="1123406" cy="385354"/>
          </a:xfrm>
          <a:prstGeom prst="roundRect">
            <a:avLst>
              <a:gd name="adj" fmla="val 16949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graph-user-front"/>
          <p:cNvSpPr/>
          <p:nvPr/>
        </p:nvSpPr>
        <p:spPr>
          <a:xfrm>
            <a:off x="5701937" y="816429"/>
            <a:ext cx="1097280" cy="391886"/>
          </a:xfrm>
          <a:prstGeom prst="roundRect">
            <a:avLst>
              <a:gd name="adj" fmla="val 16666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raph-user-front-text"/>
          <p:cNvSpPr txBox="1"/>
          <p:nvPr/>
        </p:nvSpPr>
        <p:spPr>
          <a:xfrm>
            <a:off x="5728063" y="829491"/>
            <a:ext cx="1045029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Music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Enthusiast</a:t>
            </a:r>
          </a:p>
        </p:txBody>
      </p:sp>
      <p:sp>
        <p:nvSpPr>
          <p:cNvPr id="144" name="graph-user-set-label"/>
          <p:cNvSpPr txBox="1"/>
          <p:nvPr/>
        </p:nvSpPr>
        <p:spPr>
          <a:xfrm>
            <a:off x="5780314" y="1208314"/>
            <a:ext cx="1436914" cy="26125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UserTag Set C*</a:t>
            </a:r>
          </a:p>
        </p:txBody>
      </p:sp>
      <p:sp>
        <p:nvSpPr>
          <p:cNvPr id="145" name="graph-item-back"/>
          <p:cNvSpPr/>
          <p:nvPr/>
        </p:nvSpPr>
        <p:spPr>
          <a:xfrm>
            <a:off x="5858691" y="1665514"/>
            <a:ext cx="1129937" cy="365760"/>
          </a:xfrm>
          <a:prstGeom prst="roundRect">
            <a:avLst>
              <a:gd name="adj" fmla="val 17857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graph-item-back-text"/>
          <p:cNvSpPr txBox="1"/>
          <p:nvPr/>
        </p:nvSpPr>
        <p:spPr>
          <a:xfrm>
            <a:off x="5884817" y="1678577"/>
            <a:ext cx="1077686" cy="3396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Live Music</a:t>
            </a:r>
          </a:p>
        </p:txBody>
      </p:sp>
      <p:sp>
        <p:nvSpPr>
          <p:cNvPr id="147" name="graph-item-mid"/>
          <p:cNvSpPr/>
          <p:nvPr/>
        </p:nvSpPr>
        <p:spPr>
          <a:xfrm>
            <a:off x="5715000" y="1900646"/>
            <a:ext cx="1136469" cy="372291"/>
          </a:xfrm>
          <a:prstGeom prst="roundRect">
            <a:avLst>
              <a:gd name="adj" fmla="val 17543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graph-item-front"/>
          <p:cNvSpPr/>
          <p:nvPr/>
        </p:nvSpPr>
        <p:spPr>
          <a:xfrm>
            <a:off x="5630091" y="2063932"/>
            <a:ext cx="1103811" cy="391886"/>
          </a:xfrm>
          <a:prstGeom prst="roundRect">
            <a:avLst>
              <a:gd name="adj" fmla="val 16666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graph-item-front-text"/>
          <p:cNvSpPr txBox="1"/>
          <p:nvPr/>
        </p:nvSpPr>
        <p:spPr>
          <a:xfrm>
            <a:off x="5656217" y="2076994"/>
            <a:ext cx="10515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Instrument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Shows</a:t>
            </a:r>
          </a:p>
        </p:txBody>
      </p:sp>
      <p:sp>
        <p:nvSpPr>
          <p:cNvPr id="150" name="graph-item-set-label"/>
          <p:cNvSpPr txBox="1"/>
          <p:nvPr/>
        </p:nvSpPr>
        <p:spPr>
          <a:xfrm>
            <a:off x="5584371" y="2468880"/>
            <a:ext cx="1541417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ItemTag Set T*</a:t>
            </a:r>
          </a:p>
        </p:txBody>
      </p:sp>
      <p:cxnSp>
        <p:nvCxnSpPr>
          <p:cNvPr id="151" name="llm-to-logic-graph-shaft-1"/>
          <p:cNvCxnSpPr/>
          <p:nvPr/>
        </p:nvCxnSpPr>
        <p:spPr>
          <a:xfrm flipV="1">
            <a:off x="6361611" y="2717074"/>
            <a:ext cx="0" cy="385355"/>
          </a:xfrm>
          <a:prstGeom prst="line">
            <a:avLst/>
          </a:prstGeom>
          <a:ln w="20900">
            <a:solidFill>
              <a:srgbClr val="595959"/>
            </a:solidFill>
          </a:ln>
          <a:effectLst/>
        </p:spPr>
      </p:cxnSp>
      <p:sp>
        <p:nvSpPr>
          <p:cNvPr id="152" name="llm-to-logic-graph-head"/>
          <p:cNvSpPr/>
          <p:nvPr/>
        </p:nvSpPr>
        <p:spPr>
          <a:xfrm>
            <a:off x="6325689" y="2717074"/>
            <a:ext cx="71846" cy="71846"/>
          </a:xfrm>
          <a:prstGeom prst="triangl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3" name="llm-reason-antenna-1"/>
          <p:cNvCxnSpPr/>
          <p:nvPr/>
        </p:nvCxnSpPr>
        <p:spPr>
          <a:xfrm flipV="1">
            <a:off x="6350639" y="3062979"/>
            <a:ext cx="0" cy="62702"/>
          </a:xfrm>
          <a:prstGeom prst="line">
            <a:avLst/>
          </a:prstGeom>
          <a:ln w="25080">
            <a:solidFill>
              <a:srgbClr val="000000"/>
            </a:solidFill>
          </a:ln>
          <a:effectLst/>
        </p:spPr>
      </p:cxnSp>
      <p:sp>
        <p:nvSpPr>
          <p:cNvPr id="154" name="llm-reason-antenna-dot"/>
          <p:cNvSpPr/>
          <p:nvPr/>
        </p:nvSpPr>
        <p:spPr>
          <a:xfrm>
            <a:off x="6325558" y="3037898"/>
            <a:ext cx="50161" cy="5016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llm-reason-head"/>
          <p:cNvSpPr/>
          <p:nvPr/>
        </p:nvSpPr>
        <p:spPr>
          <a:xfrm>
            <a:off x="6231505" y="3119410"/>
            <a:ext cx="238267" cy="169295"/>
          </a:xfrm>
          <a:prstGeom prst="roundRect">
            <a:avLst>
              <a:gd name="adj" fmla="val 1851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llm-reason-eye-left"/>
          <p:cNvSpPr/>
          <p:nvPr/>
        </p:nvSpPr>
        <p:spPr>
          <a:xfrm>
            <a:off x="6281667" y="3175842"/>
            <a:ext cx="31351" cy="313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llm-reason-eye-right"/>
          <p:cNvSpPr/>
          <p:nvPr/>
        </p:nvSpPr>
        <p:spPr>
          <a:xfrm>
            <a:off x="6388260" y="3175842"/>
            <a:ext cx="31351" cy="313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llm-reason-body"/>
          <p:cNvSpPr/>
          <p:nvPr/>
        </p:nvSpPr>
        <p:spPr>
          <a:xfrm>
            <a:off x="6181344" y="3320056"/>
            <a:ext cx="351130" cy="231996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llm-reason-screen"/>
          <p:cNvSpPr/>
          <p:nvPr/>
        </p:nvSpPr>
        <p:spPr>
          <a:xfrm>
            <a:off x="6244046" y="3357677"/>
            <a:ext cx="225726" cy="1379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llm-reason-pulse-1"/>
          <p:cNvCxnSpPr/>
          <p:nvPr/>
        </p:nvCxnSpPr>
        <p:spPr>
          <a:xfrm>
            <a:off x="6256586" y="3439189"/>
            <a:ext cx="43891" cy="0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1" name="llm-reason-pulse-2"/>
          <p:cNvCxnSpPr/>
          <p:nvPr/>
        </p:nvCxnSpPr>
        <p:spPr>
          <a:xfrm flipV="1">
            <a:off x="6300477" y="3376487"/>
            <a:ext cx="25081" cy="62702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2" name="llm-reason-pulse-3"/>
          <p:cNvCxnSpPr/>
          <p:nvPr/>
        </p:nvCxnSpPr>
        <p:spPr>
          <a:xfrm>
            <a:off x="6325558" y="3376487"/>
            <a:ext cx="31351" cy="106593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3" name="llm-reason-pulse-4"/>
          <p:cNvCxnSpPr/>
          <p:nvPr/>
        </p:nvCxnSpPr>
        <p:spPr>
          <a:xfrm flipV="1">
            <a:off x="6356909" y="3414109"/>
            <a:ext cx="31351" cy="68971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4" name="llm-reason-pulse-5"/>
          <p:cNvCxnSpPr/>
          <p:nvPr/>
        </p:nvCxnSpPr>
        <p:spPr>
          <a:xfrm>
            <a:off x="6388260" y="3414109"/>
            <a:ext cx="37621" cy="25080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5" name="llm-reason-pulse-6"/>
          <p:cNvCxnSpPr/>
          <p:nvPr/>
        </p:nvCxnSpPr>
        <p:spPr>
          <a:xfrm>
            <a:off x="6425881" y="3439189"/>
            <a:ext cx="37621" cy="0"/>
          </a:xfrm>
          <a:prstGeom prst="line">
            <a:avLst/>
          </a:prstGeom>
          <a:ln w="13794">
            <a:solidFill>
              <a:srgbClr val="000000"/>
            </a:solidFill>
          </a:ln>
          <a:effectLst/>
        </p:spPr>
      </p:cxnSp>
      <p:cxnSp>
        <p:nvCxnSpPr>
          <p:cNvPr id="166" name="llm-reason-arm-left-1"/>
          <p:cNvCxnSpPr/>
          <p:nvPr/>
        </p:nvCxnSpPr>
        <p:spPr>
          <a:xfrm flipH="1">
            <a:off x="6131183" y="3370217"/>
            <a:ext cx="50161" cy="0"/>
          </a:xfrm>
          <a:prstGeom prst="line">
            <a:avLst/>
          </a:prstGeom>
          <a:ln w="25080">
            <a:solidFill>
              <a:srgbClr val="000000"/>
            </a:solidFill>
          </a:ln>
          <a:effectLst/>
        </p:spPr>
      </p:cxnSp>
      <p:cxnSp>
        <p:nvCxnSpPr>
          <p:cNvPr id="167" name="llm-reason-arm-left-2"/>
          <p:cNvCxnSpPr/>
          <p:nvPr/>
        </p:nvCxnSpPr>
        <p:spPr>
          <a:xfrm flipV="1">
            <a:off x="6131183" y="3320056"/>
            <a:ext cx="0" cy="50161"/>
          </a:xfrm>
          <a:prstGeom prst="line">
            <a:avLst/>
          </a:prstGeom>
          <a:ln w="25080">
            <a:solidFill>
              <a:srgbClr val="000000"/>
            </a:solidFill>
          </a:ln>
          <a:effectLst/>
        </p:spPr>
      </p:cxnSp>
      <p:cxnSp>
        <p:nvCxnSpPr>
          <p:cNvPr id="168" name="llm-reason-arm-right-1"/>
          <p:cNvCxnSpPr/>
          <p:nvPr/>
        </p:nvCxnSpPr>
        <p:spPr>
          <a:xfrm>
            <a:off x="6532474" y="3370217"/>
            <a:ext cx="43891" cy="0"/>
          </a:xfrm>
          <a:prstGeom prst="line">
            <a:avLst/>
          </a:prstGeom>
          <a:ln w="25080">
            <a:solidFill>
              <a:srgbClr val="000000"/>
            </a:solidFill>
          </a:ln>
          <a:effectLst/>
        </p:spPr>
      </p:cxnSp>
      <p:cxnSp>
        <p:nvCxnSpPr>
          <p:cNvPr id="169" name="llm-reason-arm-right-2"/>
          <p:cNvCxnSpPr/>
          <p:nvPr/>
        </p:nvCxnSpPr>
        <p:spPr>
          <a:xfrm>
            <a:off x="6576365" y="3370217"/>
            <a:ext cx="0" cy="68972"/>
          </a:xfrm>
          <a:prstGeom prst="line">
            <a:avLst/>
          </a:prstGeom>
          <a:ln w="25080">
            <a:solidFill>
              <a:srgbClr val="000000"/>
            </a:solidFill>
          </a:ln>
          <a:effectLst/>
        </p:spPr>
      </p:cxnSp>
      <p:sp>
        <p:nvSpPr>
          <p:cNvPr id="170" name="llm-reason-hand-left"/>
          <p:cNvSpPr/>
          <p:nvPr/>
        </p:nvSpPr>
        <p:spPr>
          <a:xfrm>
            <a:off x="6106102" y="3282435"/>
            <a:ext cx="50161" cy="5016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llm-reason-hand-right"/>
          <p:cNvSpPr/>
          <p:nvPr/>
        </p:nvSpPr>
        <p:spPr>
          <a:xfrm>
            <a:off x="6551284" y="3426649"/>
            <a:ext cx="50161" cy="5016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llm-reason-base"/>
          <p:cNvSpPr/>
          <p:nvPr/>
        </p:nvSpPr>
        <p:spPr>
          <a:xfrm>
            <a:off x="6149993" y="3577133"/>
            <a:ext cx="413831" cy="106593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llm-reason-base-light-0"/>
          <p:cNvSpPr/>
          <p:nvPr/>
        </p:nvSpPr>
        <p:spPr>
          <a:xfrm>
            <a:off x="6200155" y="3602214"/>
            <a:ext cx="50161" cy="5016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llm-reason-base-light-1"/>
          <p:cNvSpPr/>
          <p:nvPr/>
        </p:nvSpPr>
        <p:spPr>
          <a:xfrm>
            <a:off x="6325558" y="3602214"/>
            <a:ext cx="50161" cy="5016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llm-reason-base-light-2"/>
          <p:cNvSpPr/>
          <p:nvPr/>
        </p:nvSpPr>
        <p:spPr>
          <a:xfrm>
            <a:off x="6450961" y="3602214"/>
            <a:ext cx="50161" cy="5016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llm-reason-label"/>
          <p:cNvSpPr txBox="1"/>
          <p:nvPr/>
        </p:nvSpPr>
        <p:spPr>
          <a:xfrm>
            <a:off x="6054634" y="3670663"/>
            <a:ext cx="640080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 i="0">
                <a:solidFill>
                  <a:srgbClr val="000000"/>
                </a:solidFill>
                <a:latin typeface="Times New Roman"/>
              </a:rPr>
              <a:t>LLM</a:t>
            </a:r>
          </a:p>
        </p:txBody>
      </p:sp>
      <p:sp>
        <p:nvSpPr>
          <p:cNvPr id="177" name="i2u-prompt"/>
          <p:cNvSpPr/>
          <p:nvPr/>
        </p:nvSpPr>
        <p:spPr>
          <a:xfrm>
            <a:off x="4892040" y="4265023"/>
            <a:ext cx="1495697" cy="496389"/>
          </a:xfrm>
          <a:prstGeom prst="roundRect">
            <a:avLst>
              <a:gd name="adj" fmla="val 18421"/>
            </a:avLst>
          </a:prstGeom>
          <a:solidFill>
            <a:srgbClr val="E1EFD8"/>
          </a:solidFill>
          <a:ln w="20900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i2u-prompt-text"/>
          <p:cNvSpPr txBox="1"/>
          <p:nvPr/>
        </p:nvSpPr>
        <p:spPr>
          <a:xfrm>
            <a:off x="4963886" y="4304212"/>
            <a:ext cx="1352006" cy="4049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I2U Logic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Prompt X꜀</a:t>
            </a:r>
          </a:p>
        </p:txBody>
      </p:sp>
      <p:sp>
        <p:nvSpPr>
          <p:cNvPr id="179" name="u2i-prompt"/>
          <p:cNvSpPr/>
          <p:nvPr/>
        </p:nvSpPr>
        <p:spPr>
          <a:xfrm>
            <a:off x="6433457" y="4258492"/>
            <a:ext cx="1436914" cy="496389"/>
          </a:xfrm>
          <a:prstGeom prst="roundRect">
            <a:avLst>
              <a:gd name="adj" fmla="val 18421"/>
            </a:avLst>
          </a:prstGeom>
          <a:solidFill>
            <a:srgbClr val="FAE4D6"/>
          </a:solidFill>
          <a:ln w="20900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u2i-prompt-text"/>
          <p:cNvSpPr txBox="1"/>
          <p:nvPr/>
        </p:nvSpPr>
        <p:spPr>
          <a:xfrm>
            <a:off x="6505303" y="4297680"/>
            <a:ext cx="1293223" cy="4049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U2I Logic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Times New Roman"/>
              </a:rPr>
              <a:t>Prompt Xₜ</a:t>
            </a:r>
          </a:p>
        </p:txBody>
      </p:sp>
      <p:cxnSp>
        <p:nvCxnSpPr>
          <p:cNvPr id="181" name="i2u-prompt-to-llm-shaft-1"/>
          <p:cNvCxnSpPr/>
          <p:nvPr/>
        </p:nvCxnSpPr>
        <p:spPr>
          <a:xfrm flipV="1">
            <a:off x="5643154" y="3350623"/>
            <a:ext cx="0" cy="91440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cxnSp>
        <p:nvCxnSpPr>
          <p:cNvPr id="182" name="i2u-prompt-to-llm-shaft-2"/>
          <p:cNvCxnSpPr/>
          <p:nvPr/>
        </p:nvCxnSpPr>
        <p:spPr>
          <a:xfrm>
            <a:off x="5643154" y="3350623"/>
            <a:ext cx="339635" cy="0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183" name="i2u-prompt-to-llm-head"/>
          <p:cNvSpPr/>
          <p:nvPr/>
        </p:nvSpPr>
        <p:spPr>
          <a:xfrm rot="5400000">
            <a:off x="5917474" y="3317966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4" name="u2i-prompt-to-llm-shaft-1"/>
          <p:cNvCxnSpPr/>
          <p:nvPr/>
        </p:nvCxnSpPr>
        <p:spPr>
          <a:xfrm flipV="1">
            <a:off x="7151914" y="3350623"/>
            <a:ext cx="0" cy="907869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cxnSp>
        <p:nvCxnSpPr>
          <p:cNvPr id="185" name="u2i-prompt-to-llm-shaft-2"/>
          <p:cNvCxnSpPr/>
          <p:nvPr/>
        </p:nvCxnSpPr>
        <p:spPr>
          <a:xfrm flipH="1">
            <a:off x="6792686" y="3350623"/>
            <a:ext cx="359228" cy="0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86" name="u2i-prompt-to-llm-head"/>
          <p:cNvSpPr/>
          <p:nvPr/>
        </p:nvSpPr>
        <p:spPr>
          <a:xfrm rot="16200000">
            <a:off x="6792686" y="3317966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7" name="item-bottom-route-to-i2u-shaft-1"/>
          <p:cNvCxnSpPr/>
          <p:nvPr/>
        </p:nvCxnSpPr>
        <p:spPr>
          <a:xfrm flipV="1">
            <a:off x="5623560" y="4761412"/>
            <a:ext cx="0" cy="241663"/>
          </a:xfrm>
          <a:prstGeom prst="line">
            <a:avLst/>
          </a:prstGeom>
          <a:ln w="19594">
            <a:solidFill>
              <a:srgbClr val="9CCF82"/>
            </a:solidFill>
          </a:ln>
          <a:effectLst/>
        </p:spPr>
      </p:cxnSp>
      <p:sp>
        <p:nvSpPr>
          <p:cNvPr id="188" name="item-bottom-route-to-i2u-head"/>
          <p:cNvSpPr/>
          <p:nvPr/>
        </p:nvSpPr>
        <p:spPr>
          <a:xfrm>
            <a:off x="5590903" y="4761412"/>
            <a:ext cx="65314" cy="65314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user-bottom-route-to-u2i-shaft-1"/>
          <p:cNvCxnSpPr/>
          <p:nvPr/>
        </p:nvCxnSpPr>
        <p:spPr>
          <a:xfrm flipV="1">
            <a:off x="7099663" y="4754880"/>
            <a:ext cx="0" cy="378823"/>
          </a:xfrm>
          <a:prstGeom prst="line">
            <a:avLst/>
          </a:prstGeom>
          <a:ln w="19594">
            <a:solidFill>
              <a:srgbClr val="FFAD7D"/>
            </a:solidFill>
          </a:ln>
          <a:effectLst/>
        </p:spPr>
      </p:cxnSp>
      <p:sp>
        <p:nvSpPr>
          <p:cNvPr id="190" name="user-bottom-route-to-u2i-head"/>
          <p:cNvSpPr/>
          <p:nvPr/>
        </p:nvSpPr>
        <p:spPr>
          <a:xfrm>
            <a:off x="7067006" y="4754880"/>
            <a:ext cx="65314" cy="65314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reasoning-to-integration-shaft-1"/>
          <p:cNvCxnSpPr/>
          <p:nvPr/>
        </p:nvCxnSpPr>
        <p:spPr>
          <a:xfrm>
            <a:off x="7961811" y="1456509"/>
            <a:ext cx="261258" cy="0"/>
          </a:xfrm>
          <a:prstGeom prst="line">
            <a:avLst/>
          </a:prstGeom>
          <a:ln w="20900">
            <a:solidFill>
              <a:srgbClr val="75ADD4"/>
            </a:solidFill>
          </a:ln>
          <a:effectLst/>
        </p:spPr>
      </p:cxnSp>
      <p:cxnSp>
        <p:nvCxnSpPr>
          <p:cNvPr id="192" name="reasoning-to-integration-shaft-2"/>
          <p:cNvCxnSpPr/>
          <p:nvPr/>
        </p:nvCxnSpPr>
        <p:spPr>
          <a:xfrm>
            <a:off x="8223069" y="1456509"/>
            <a:ext cx="0" cy="2063931"/>
          </a:xfrm>
          <a:prstGeom prst="line">
            <a:avLst/>
          </a:prstGeom>
          <a:ln w="20900">
            <a:solidFill>
              <a:srgbClr val="75ADD4"/>
            </a:solidFill>
          </a:ln>
          <a:effectLst/>
        </p:spPr>
      </p:cxnSp>
      <p:cxnSp>
        <p:nvCxnSpPr>
          <p:cNvPr id="193" name="reasoning-to-integration-shaft-3"/>
          <p:cNvCxnSpPr/>
          <p:nvPr/>
        </p:nvCxnSpPr>
        <p:spPr>
          <a:xfrm>
            <a:off x="8223069" y="3520440"/>
            <a:ext cx="320040" cy="0"/>
          </a:xfrm>
          <a:prstGeom prst="line">
            <a:avLst/>
          </a:prstGeom>
          <a:ln w="20900">
            <a:solidFill>
              <a:srgbClr val="75ADD4"/>
            </a:solidFill>
          </a:ln>
          <a:effectLst/>
        </p:spPr>
      </p:cxnSp>
      <p:sp>
        <p:nvSpPr>
          <p:cNvPr id="194" name="reasoning-to-integration-head"/>
          <p:cNvSpPr/>
          <p:nvPr/>
        </p:nvSpPr>
        <p:spPr>
          <a:xfrm rot="5400000">
            <a:off x="8471263" y="3484517"/>
            <a:ext cx="71846" cy="71846"/>
          </a:xfrm>
          <a:prstGeom prst="triangle">
            <a:avLst/>
          </a:prstGeom>
          <a:solidFill>
            <a:srgbClr val="75A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history-user-head"/>
          <p:cNvSpPr/>
          <p:nvPr/>
        </p:nvSpPr>
        <p:spPr>
          <a:xfrm>
            <a:off x="8714493" y="1084217"/>
            <a:ext cx="117566" cy="11756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6" name="history-user-hair-1"/>
          <p:cNvCxnSpPr/>
          <p:nvPr/>
        </p:nvCxnSpPr>
        <p:spPr>
          <a:xfrm flipV="1">
            <a:off x="8709791" y="1103028"/>
            <a:ext cx="56431" cy="23513"/>
          </a:xfrm>
          <a:prstGeom prst="line">
            <a:avLst/>
          </a:prstGeom>
          <a:ln w="9405">
            <a:solidFill>
              <a:srgbClr val="FFFFFF"/>
            </a:solidFill>
          </a:ln>
          <a:effectLst/>
        </p:spPr>
      </p:cxnSp>
      <p:cxnSp>
        <p:nvCxnSpPr>
          <p:cNvPr id="197" name="history-user-hair-2"/>
          <p:cNvCxnSpPr/>
          <p:nvPr/>
        </p:nvCxnSpPr>
        <p:spPr>
          <a:xfrm>
            <a:off x="8766222" y="1103028"/>
            <a:ext cx="65837" cy="28215"/>
          </a:xfrm>
          <a:prstGeom prst="line">
            <a:avLst/>
          </a:prstGeom>
          <a:ln w="9405">
            <a:solidFill>
              <a:srgbClr val="FFFFFF"/>
            </a:solidFill>
          </a:ln>
          <a:effectLst/>
        </p:spPr>
      </p:cxnSp>
      <p:sp>
        <p:nvSpPr>
          <p:cNvPr id="198" name="history-user-torso"/>
          <p:cNvSpPr/>
          <p:nvPr/>
        </p:nvSpPr>
        <p:spPr>
          <a:xfrm>
            <a:off x="8634549" y="1220593"/>
            <a:ext cx="272752" cy="164592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history-user-label"/>
          <p:cNvSpPr txBox="1"/>
          <p:nvPr/>
        </p:nvSpPr>
        <p:spPr>
          <a:xfrm>
            <a:off x="8549640" y="1378131"/>
            <a:ext cx="568234" cy="2939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000000"/>
                </a:solidFill>
                <a:latin typeface="Times New Roman"/>
              </a:rPr>
              <a:t>user</a:t>
            </a:r>
          </a:p>
        </p:txBody>
      </p:sp>
      <p:cxnSp>
        <p:nvCxnSpPr>
          <p:cNvPr id="200" name="history-bracket-1"/>
          <p:cNvCxnSpPr/>
          <p:nvPr/>
        </p:nvCxnSpPr>
        <p:spPr>
          <a:xfrm flipH="1">
            <a:off x="9150531" y="620486"/>
            <a:ext cx="71846" cy="0"/>
          </a:xfrm>
          <a:prstGeom prst="line">
            <a:avLst/>
          </a:prstGeom>
          <a:ln w="20900">
            <a:solidFill>
              <a:srgbClr val="595959"/>
            </a:solidFill>
          </a:ln>
          <a:effectLst/>
        </p:spPr>
      </p:cxnSp>
      <p:cxnSp>
        <p:nvCxnSpPr>
          <p:cNvPr id="201" name="history-bracket-2"/>
          <p:cNvCxnSpPr/>
          <p:nvPr/>
        </p:nvCxnSpPr>
        <p:spPr>
          <a:xfrm>
            <a:off x="9150531" y="620486"/>
            <a:ext cx="0" cy="1352006"/>
          </a:xfrm>
          <a:prstGeom prst="line">
            <a:avLst/>
          </a:prstGeom>
          <a:ln w="20900">
            <a:solidFill>
              <a:srgbClr val="595959"/>
            </a:solidFill>
          </a:ln>
          <a:effectLst/>
        </p:spPr>
      </p:cxnSp>
      <p:cxnSp>
        <p:nvCxnSpPr>
          <p:cNvPr id="202" name="history-bracket-3"/>
          <p:cNvCxnSpPr/>
          <p:nvPr/>
        </p:nvCxnSpPr>
        <p:spPr>
          <a:xfrm>
            <a:off x="9150531" y="1972492"/>
            <a:ext cx="71846" cy="0"/>
          </a:xfrm>
          <a:prstGeom prst="line">
            <a:avLst/>
          </a:prstGeom>
          <a:ln w="20900">
            <a:solidFill>
              <a:srgbClr val="595959"/>
            </a:solidFill>
          </a:ln>
          <a:effectLst/>
        </p:spPr>
      </p:cxnSp>
      <p:cxnSp>
        <p:nvCxnSpPr>
          <p:cNvPr id="203" name="history-bracket-mid-1"/>
          <p:cNvCxnSpPr/>
          <p:nvPr/>
        </p:nvCxnSpPr>
        <p:spPr>
          <a:xfrm flipH="1">
            <a:off x="9072154" y="1293223"/>
            <a:ext cx="78377" cy="0"/>
          </a:xfrm>
          <a:prstGeom prst="line">
            <a:avLst/>
          </a:prstGeom>
          <a:ln w="20900">
            <a:solidFill>
              <a:srgbClr val="595959"/>
            </a:solidFill>
          </a:ln>
          <a:effectLst/>
        </p:spPr>
      </p:cxnSp>
      <p:sp>
        <p:nvSpPr>
          <p:cNvPr id="204" name="history-camera-body"/>
          <p:cNvSpPr/>
          <p:nvPr/>
        </p:nvSpPr>
        <p:spPr>
          <a:xfrm>
            <a:off x="9398726" y="515460"/>
            <a:ext cx="327616" cy="224159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history-camera-prism"/>
          <p:cNvSpPr/>
          <p:nvPr/>
        </p:nvSpPr>
        <p:spPr>
          <a:xfrm>
            <a:off x="9467698" y="480974"/>
            <a:ext cx="126448" cy="57477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history-camera-lens-outer"/>
          <p:cNvSpPr/>
          <p:nvPr/>
        </p:nvSpPr>
        <p:spPr>
          <a:xfrm>
            <a:off x="9513679" y="555694"/>
            <a:ext cx="132196" cy="132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history-camera-lens-inner"/>
          <p:cNvSpPr/>
          <p:nvPr/>
        </p:nvSpPr>
        <p:spPr>
          <a:xfrm>
            <a:off x="9536669" y="578685"/>
            <a:ext cx="86215" cy="8621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history-camera-flash"/>
          <p:cNvSpPr/>
          <p:nvPr/>
        </p:nvSpPr>
        <p:spPr>
          <a:xfrm>
            <a:off x="9415969" y="544199"/>
            <a:ext cx="51729" cy="28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history-i1"/>
          <p:cNvSpPr txBox="1"/>
          <p:nvPr/>
        </p:nvSpPr>
        <p:spPr>
          <a:xfrm>
            <a:off x="9385663" y="757646"/>
            <a:ext cx="418011" cy="209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1">
                <a:solidFill>
                  <a:srgbClr val="000000"/>
                </a:solidFill>
                <a:latin typeface="Times New Roman"/>
              </a:rPr>
              <a:t>i₁</a:t>
            </a:r>
          </a:p>
        </p:txBody>
      </p:sp>
      <p:sp>
        <p:nvSpPr>
          <p:cNvPr id="210" name="history-video-body"/>
          <p:cNvSpPr/>
          <p:nvPr/>
        </p:nvSpPr>
        <p:spPr>
          <a:xfrm>
            <a:off x="9432689" y="1063317"/>
            <a:ext cx="230429" cy="164592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history-video-reel-left"/>
          <p:cNvSpPr/>
          <p:nvPr/>
        </p:nvSpPr>
        <p:spPr>
          <a:xfrm>
            <a:off x="9454635" y="964561"/>
            <a:ext cx="120701" cy="1207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history-video-reel-right"/>
          <p:cNvSpPr/>
          <p:nvPr/>
        </p:nvSpPr>
        <p:spPr>
          <a:xfrm>
            <a:off x="9553390" y="953589"/>
            <a:ext cx="126187" cy="12618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history-video-reel-hole-0"/>
          <p:cNvSpPr/>
          <p:nvPr/>
        </p:nvSpPr>
        <p:spPr>
          <a:xfrm>
            <a:off x="9498526" y="1008453"/>
            <a:ext cx="21946" cy="219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history-video-reel-hole-1"/>
          <p:cNvSpPr/>
          <p:nvPr/>
        </p:nvSpPr>
        <p:spPr>
          <a:xfrm>
            <a:off x="9525958" y="1041371"/>
            <a:ext cx="21946" cy="219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history-video-reel-hole-2"/>
          <p:cNvSpPr/>
          <p:nvPr/>
        </p:nvSpPr>
        <p:spPr>
          <a:xfrm>
            <a:off x="9602768" y="997480"/>
            <a:ext cx="21946" cy="219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history-video-reel-hole-3"/>
          <p:cNvSpPr/>
          <p:nvPr/>
        </p:nvSpPr>
        <p:spPr>
          <a:xfrm>
            <a:off x="9630200" y="1035885"/>
            <a:ext cx="21946" cy="219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history-video-lens"/>
          <p:cNvSpPr/>
          <p:nvPr/>
        </p:nvSpPr>
        <p:spPr>
          <a:xfrm>
            <a:off x="9663118" y="1090749"/>
            <a:ext cx="8778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history-i2"/>
          <p:cNvSpPr txBox="1"/>
          <p:nvPr/>
        </p:nvSpPr>
        <p:spPr>
          <a:xfrm>
            <a:off x="9385663" y="1273629"/>
            <a:ext cx="418011" cy="209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1">
                <a:solidFill>
                  <a:srgbClr val="000000"/>
                </a:solidFill>
                <a:latin typeface="Times New Roman"/>
              </a:rPr>
              <a:t>i₂</a:t>
            </a:r>
          </a:p>
        </p:txBody>
      </p:sp>
      <p:sp>
        <p:nvSpPr>
          <p:cNvPr id="219" name="history-dots-items"/>
          <p:cNvSpPr txBox="1"/>
          <p:nvPr/>
        </p:nvSpPr>
        <p:spPr>
          <a:xfrm>
            <a:off x="9366069" y="1456509"/>
            <a:ext cx="483326" cy="2416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94" b="1" i="0">
                <a:solidFill>
                  <a:srgbClr val="000000"/>
                </a:solidFill>
                <a:latin typeface="Times New Roman"/>
              </a:rPr>
              <a:t>⋯</a:t>
            </a:r>
          </a:p>
        </p:txBody>
      </p:sp>
      <p:sp>
        <p:nvSpPr>
          <p:cNvPr id="220" name="history-game-body"/>
          <p:cNvSpPr/>
          <p:nvPr/>
        </p:nvSpPr>
        <p:spPr>
          <a:xfrm>
            <a:off x="9392194" y="1825926"/>
            <a:ext cx="353481" cy="187452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1" name="history-game-cross-h-1"/>
          <p:cNvCxnSpPr/>
          <p:nvPr/>
        </p:nvCxnSpPr>
        <p:spPr>
          <a:xfrm>
            <a:off x="9461819" y="1911619"/>
            <a:ext cx="74981" cy="0"/>
          </a:xfrm>
          <a:prstGeom prst="line">
            <a:avLst/>
          </a:prstGeom>
          <a:ln w="16067">
            <a:solidFill>
              <a:srgbClr val="FFFFFF"/>
            </a:solidFill>
          </a:ln>
          <a:effectLst/>
        </p:spPr>
      </p:cxnSp>
      <p:cxnSp>
        <p:nvCxnSpPr>
          <p:cNvPr id="222" name="history-game-cross-v-1"/>
          <p:cNvCxnSpPr/>
          <p:nvPr/>
        </p:nvCxnSpPr>
        <p:spPr>
          <a:xfrm>
            <a:off x="9499310" y="1874128"/>
            <a:ext cx="0" cy="74981"/>
          </a:xfrm>
          <a:prstGeom prst="line">
            <a:avLst/>
          </a:prstGeom>
          <a:ln w="16067">
            <a:solidFill>
              <a:srgbClr val="FFFFFF"/>
            </a:solidFill>
          </a:ln>
          <a:effectLst/>
        </p:spPr>
      </p:cxnSp>
      <p:sp>
        <p:nvSpPr>
          <p:cNvPr id="223" name="history-game-button-0"/>
          <p:cNvSpPr/>
          <p:nvPr/>
        </p:nvSpPr>
        <p:spPr>
          <a:xfrm>
            <a:off x="9649271" y="1884840"/>
            <a:ext cx="26779" cy="267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history-game-button-1"/>
          <p:cNvSpPr/>
          <p:nvPr/>
        </p:nvSpPr>
        <p:spPr>
          <a:xfrm>
            <a:off x="9686762" y="1916974"/>
            <a:ext cx="26779" cy="267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history-game-button-2"/>
          <p:cNvSpPr/>
          <p:nvPr/>
        </p:nvSpPr>
        <p:spPr>
          <a:xfrm>
            <a:off x="9638560" y="1938397"/>
            <a:ext cx="26779" cy="267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history-in"/>
          <p:cNvSpPr txBox="1"/>
          <p:nvPr/>
        </p:nvSpPr>
        <p:spPr>
          <a:xfrm>
            <a:off x="9385663" y="2044337"/>
            <a:ext cx="418011" cy="209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1">
                <a:solidFill>
                  <a:srgbClr val="000000"/>
                </a:solidFill>
                <a:latin typeface="Times New Roman"/>
              </a:rPr>
              <a:t>iₙ</a:t>
            </a:r>
          </a:p>
        </p:txBody>
      </p:sp>
      <p:sp>
        <p:nvSpPr>
          <p:cNvPr id="227" name="history-t1"/>
          <p:cNvSpPr/>
          <p:nvPr/>
        </p:nvSpPr>
        <p:spPr>
          <a:xfrm>
            <a:off x="10012680" y="359229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history-t1-text"/>
          <p:cNvSpPr txBox="1"/>
          <p:nvPr/>
        </p:nvSpPr>
        <p:spPr>
          <a:xfrm>
            <a:off x="10038806" y="372291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T₁ = {t₁,₁, ···, t₁,k}</a:t>
            </a:r>
          </a:p>
        </p:txBody>
      </p:sp>
      <p:sp>
        <p:nvSpPr>
          <p:cNvPr id="229" name="history-c1"/>
          <p:cNvSpPr/>
          <p:nvPr/>
        </p:nvSpPr>
        <p:spPr>
          <a:xfrm>
            <a:off x="9953897" y="574766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history-c1-text"/>
          <p:cNvSpPr txBox="1"/>
          <p:nvPr/>
        </p:nvSpPr>
        <p:spPr>
          <a:xfrm>
            <a:off x="9980023" y="587829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C₁ = {c₁,₁, ···, c₁,l}</a:t>
            </a:r>
          </a:p>
        </p:txBody>
      </p:sp>
      <p:sp>
        <p:nvSpPr>
          <p:cNvPr id="231" name="history-t2"/>
          <p:cNvSpPr/>
          <p:nvPr/>
        </p:nvSpPr>
        <p:spPr>
          <a:xfrm>
            <a:off x="10025743" y="914400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history-t2-text"/>
          <p:cNvSpPr txBox="1"/>
          <p:nvPr/>
        </p:nvSpPr>
        <p:spPr>
          <a:xfrm>
            <a:off x="10051869" y="927463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T₂ = {t₂,₁, ···, t₂,k}</a:t>
            </a:r>
          </a:p>
        </p:txBody>
      </p:sp>
      <p:sp>
        <p:nvSpPr>
          <p:cNvPr id="233" name="history-c2"/>
          <p:cNvSpPr/>
          <p:nvPr/>
        </p:nvSpPr>
        <p:spPr>
          <a:xfrm>
            <a:off x="9973491" y="1136469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history-c2-text"/>
          <p:cNvSpPr txBox="1"/>
          <p:nvPr/>
        </p:nvSpPr>
        <p:spPr>
          <a:xfrm>
            <a:off x="9999617" y="1149531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C₂ = {c₂,₁, ···, c₂,l}</a:t>
            </a:r>
          </a:p>
        </p:txBody>
      </p:sp>
      <p:sp>
        <p:nvSpPr>
          <p:cNvPr id="235" name="history-dots-tc"/>
          <p:cNvSpPr txBox="1"/>
          <p:nvPr/>
        </p:nvSpPr>
        <p:spPr>
          <a:xfrm>
            <a:off x="10437223" y="1463040"/>
            <a:ext cx="705394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94" b="1" i="0">
                <a:solidFill>
                  <a:srgbClr val="000000"/>
                </a:solidFill>
                <a:latin typeface="Times New Roman"/>
              </a:rPr>
              <a:t>⋯</a:t>
            </a:r>
          </a:p>
        </p:txBody>
      </p:sp>
      <p:sp>
        <p:nvSpPr>
          <p:cNvPr id="236" name="history-tn"/>
          <p:cNvSpPr/>
          <p:nvPr/>
        </p:nvSpPr>
        <p:spPr>
          <a:xfrm>
            <a:off x="10025743" y="1737360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FAE4D6"/>
          </a:solidFill>
          <a:ln w="11756">
            <a:solidFill>
              <a:srgbClr val="C58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history-tn-text"/>
          <p:cNvSpPr txBox="1"/>
          <p:nvPr/>
        </p:nvSpPr>
        <p:spPr>
          <a:xfrm>
            <a:off x="10051869" y="1750423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0">
                <a:solidFill>
                  <a:srgbClr val="000000"/>
                </a:solidFill>
                <a:latin typeface="Times New Roman"/>
              </a:rPr>
              <a:t>Tₙ = {tₙ,₁, ···, tₙ,k}</a:t>
            </a:r>
          </a:p>
        </p:txBody>
      </p:sp>
      <p:sp>
        <p:nvSpPr>
          <p:cNvPr id="238" name="history-cn"/>
          <p:cNvSpPr/>
          <p:nvPr/>
        </p:nvSpPr>
        <p:spPr>
          <a:xfrm>
            <a:off x="9973491" y="1946366"/>
            <a:ext cx="1894114" cy="274320"/>
          </a:xfrm>
          <a:prstGeom prst="roundRect">
            <a:avLst>
              <a:gd name="adj" fmla="val 23809"/>
            </a:avLst>
          </a:prstGeom>
          <a:solidFill>
            <a:srgbClr val="E1EFD8"/>
          </a:solidFill>
          <a:ln w="11756">
            <a:solidFill>
              <a:srgbClr val="5483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history-cn-text"/>
          <p:cNvSpPr txBox="1"/>
          <p:nvPr/>
        </p:nvSpPr>
        <p:spPr>
          <a:xfrm>
            <a:off x="9999617" y="1959429"/>
            <a:ext cx="1841863" cy="2481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Cₙ = {cₙ,₁, ···, cₙ,l}</a:t>
            </a:r>
          </a:p>
        </p:txBody>
      </p:sp>
      <p:sp>
        <p:nvSpPr>
          <p:cNvPr id="240" name="input-label"/>
          <p:cNvSpPr txBox="1"/>
          <p:nvPr/>
        </p:nvSpPr>
        <p:spPr>
          <a:xfrm>
            <a:off x="10371909" y="2410097"/>
            <a:ext cx="607423" cy="2547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cxnSp>
        <p:nvCxnSpPr>
          <p:cNvPr id="241" name="input-to-recsys-shaft-1"/>
          <p:cNvCxnSpPr/>
          <p:nvPr/>
        </p:nvCxnSpPr>
        <p:spPr>
          <a:xfrm>
            <a:off x="10907486" y="2351314"/>
            <a:ext cx="0" cy="470263"/>
          </a:xfrm>
          <a:prstGeom prst="line">
            <a:avLst/>
          </a:prstGeom>
          <a:ln w="18287">
            <a:solidFill>
              <a:srgbClr val="000000"/>
            </a:solidFill>
          </a:ln>
          <a:effectLst/>
        </p:spPr>
      </p:cxnSp>
      <p:sp>
        <p:nvSpPr>
          <p:cNvPr id="242" name="input-to-recsys-head"/>
          <p:cNvSpPr/>
          <p:nvPr/>
        </p:nvSpPr>
        <p:spPr>
          <a:xfrm rot="10800000">
            <a:off x="10874829" y="2756263"/>
            <a:ext cx="65314" cy="6531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ini-logic-title"/>
          <p:cNvSpPr txBox="1"/>
          <p:nvPr/>
        </p:nvSpPr>
        <p:spPr>
          <a:xfrm>
            <a:off x="8608423" y="2788920"/>
            <a:ext cx="947057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1">
                <a:solidFill>
                  <a:srgbClr val="000000"/>
                </a:solidFill>
                <a:latin typeface="Times New Roman"/>
              </a:rPr>
              <a:t>Logic Graph</a:t>
            </a:r>
          </a:p>
        </p:txBody>
      </p:sp>
      <p:sp>
        <p:nvSpPr>
          <p:cNvPr id="244" name="mini-logic-field"/>
          <p:cNvSpPr/>
          <p:nvPr/>
        </p:nvSpPr>
        <p:spPr>
          <a:xfrm>
            <a:off x="8556171" y="2984863"/>
            <a:ext cx="894806" cy="1110343"/>
          </a:xfrm>
          <a:prstGeom prst="roundRect">
            <a:avLst>
              <a:gd name="adj" fmla="val 17518"/>
            </a:avLst>
          </a:prstGeom>
          <a:solidFill>
            <a:srgbClr val="EDF4FA"/>
          </a:solidFill>
          <a:ln w="19594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5" name="mini-edge-0-shaft-1"/>
          <p:cNvCxnSpPr/>
          <p:nvPr/>
        </p:nvCxnSpPr>
        <p:spPr>
          <a:xfrm>
            <a:off x="8758646" y="3180806"/>
            <a:ext cx="418011" cy="0"/>
          </a:xfrm>
          <a:prstGeom prst="line">
            <a:avLst/>
          </a:prstGeom>
          <a:ln w="15675">
            <a:solidFill>
              <a:srgbClr val="FFAD7D"/>
            </a:solidFill>
          </a:ln>
          <a:effectLst/>
        </p:spPr>
      </p:cxnSp>
      <p:sp>
        <p:nvSpPr>
          <p:cNvPr id="246" name="mini-edge-0-head"/>
          <p:cNvSpPr/>
          <p:nvPr/>
        </p:nvSpPr>
        <p:spPr>
          <a:xfrm rot="5400000">
            <a:off x="9124406" y="3154680"/>
            <a:ext cx="52251" cy="52251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7" name="mini-edge-1-shaft-1"/>
          <p:cNvCxnSpPr/>
          <p:nvPr/>
        </p:nvCxnSpPr>
        <p:spPr>
          <a:xfrm>
            <a:off x="8758646" y="3180806"/>
            <a:ext cx="418011" cy="274320"/>
          </a:xfrm>
          <a:prstGeom prst="line">
            <a:avLst/>
          </a:prstGeom>
          <a:ln w="15675">
            <a:solidFill>
              <a:srgbClr val="9CCF82"/>
            </a:solidFill>
          </a:ln>
          <a:effectLst/>
        </p:spPr>
      </p:cxnSp>
      <p:sp>
        <p:nvSpPr>
          <p:cNvPr id="248" name="mini-edge-1-head"/>
          <p:cNvSpPr/>
          <p:nvPr/>
        </p:nvSpPr>
        <p:spPr>
          <a:xfrm rot="5400000">
            <a:off x="9124406" y="3429000"/>
            <a:ext cx="52251" cy="52251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9" name="mini-edge-2-shaft-1"/>
          <p:cNvCxnSpPr/>
          <p:nvPr/>
        </p:nvCxnSpPr>
        <p:spPr>
          <a:xfrm flipV="1">
            <a:off x="8758646" y="3180806"/>
            <a:ext cx="418011" cy="274320"/>
          </a:xfrm>
          <a:prstGeom prst="line">
            <a:avLst/>
          </a:prstGeom>
          <a:ln w="15675">
            <a:solidFill>
              <a:srgbClr val="9CCF82"/>
            </a:solidFill>
          </a:ln>
          <a:effectLst/>
        </p:spPr>
      </p:cxnSp>
      <p:sp>
        <p:nvSpPr>
          <p:cNvPr id="250" name="mini-edge-2-head"/>
          <p:cNvSpPr/>
          <p:nvPr/>
        </p:nvSpPr>
        <p:spPr>
          <a:xfrm rot="5400000">
            <a:off x="9124406" y="3154680"/>
            <a:ext cx="52251" cy="52251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1" name="mini-edge-3-shaft-1"/>
          <p:cNvCxnSpPr/>
          <p:nvPr/>
        </p:nvCxnSpPr>
        <p:spPr>
          <a:xfrm>
            <a:off x="8758646" y="3455126"/>
            <a:ext cx="418011" cy="280851"/>
          </a:xfrm>
          <a:prstGeom prst="line">
            <a:avLst/>
          </a:prstGeom>
          <a:ln w="15675">
            <a:solidFill>
              <a:srgbClr val="FFAD7D"/>
            </a:solidFill>
          </a:ln>
          <a:effectLst/>
        </p:spPr>
      </p:cxnSp>
      <p:sp>
        <p:nvSpPr>
          <p:cNvPr id="252" name="mini-edge-3-head"/>
          <p:cNvSpPr/>
          <p:nvPr/>
        </p:nvSpPr>
        <p:spPr>
          <a:xfrm rot="5400000">
            <a:off x="9124406" y="3709852"/>
            <a:ext cx="52251" cy="52251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mini-edge-4-shaft-1"/>
          <p:cNvCxnSpPr/>
          <p:nvPr/>
        </p:nvCxnSpPr>
        <p:spPr>
          <a:xfrm flipV="1">
            <a:off x="8758646" y="3455126"/>
            <a:ext cx="418011" cy="280851"/>
          </a:xfrm>
          <a:prstGeom prst="line">
            <a:avLst/>
          </a:prstGeom>
          <a:ln w="15675">
            <a:solidFill>
              <a:srgbClr val="9CCF82"/>
            </a:solidFill>
          </a:ln>
          <a:effectLst/>
        </p:spPr>
      </p:cxnSp>
      <p:sp>
        <p:nvSpPr>
          <p:cNvPr id="254" name="mini-edge-4-head"/>
          <p:cNvSpPr/>
          <p:nvPr/>
        </p:nvSpPr>
        <p:spPr>
          <a:xfrm rot="5400000">
            <a:off x="9124406" y="3429000"/>
            <a:ext cx="52251" cy="52251"/>
          </a:xfrm>
          <a:prstGeom prst="triangle">
            <a:avLst/>
          </a:prstGeom>
          <a:solidFill>
            <a:srgbClr val="9CC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5" name="mini-edge-5-shaft-1"/>
          <p:cNvCxnSpPr/>
          <p:nvPr/>
        </p:nvCxnSpPr>
        <p:spPr>
          <a:xfrm>
            <a:off x="8758646" y="3735977"/>
            <a:ext cx="418011" cy="0"/>
          </a:xfrm>
          <a:prstGeom prst="line">
            <a:avLst/>
          </a:prstGeom>
          <a:ln w="15675">
            <a:solidFill>
              <a:srgbClr val="FFAD7D"/>
            </a:solidFill>
          </a:ln>
          <a:effectLst/>
        </p:spPr>
      </p:cxnSp>
      <p:sp>
        <p:nvSpPr>
          <p:cNvPr id="256" name="mini-edge-5-head"/>
          <p:cNvSpPr/>
          <p:nvPr/>
        </p:nvSpPr>
        <p:spPr>
          <a:xfrm rot="5400000">
            <a:off x="9124406" y="3709852"/>
            <a:ext cx="52251" cy="52251"/>
          </a:xfrm>
          <a:prstGeom prst="triangle">
            <a:avLst/>
          </a:prstGeom>
          <a:solidFill>
            <a:srgbClr val="FFA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ini-left-node-0"/>
          <p:cNvSpPr/>
          <p:nvPr/>
        </p:nvSpPr>
        <p:spPr>
          <a:xfrm>
            <a:off x="8667206" y="3089366"/>
            <a:ext cx="189411" cy="189411"/>
          </a:xfrm>
          <a:prstGeom prst="ellipse">
            <a:avLst/>
          </a:prstGeom>
          <a:solidFill>
            <a:srgbClr val="FAE4D6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mini-left-node-1"/>
          <p:cNvSpPr/>
          <p:nvPr/>
        </p:nvSpPr>
        <p:spPr>
          <a:xfrm>
            <a:off x="8667206" y="3363686"/>
            <a:ext cx="189411" cy="189411"/>
          </a:xfrm>
          <a:prstGeom prst="ellipse">
            <a:avLst/>
          </a:prstGeom>
          <a:solidFill>
            <a:srgbClr val="FAE4D6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mini-left-node-2"/>
          <p:cNvSpPr/>
          <p:nvPr/>
        </p:nvSpPr>
        <p:spPr>
          <a:xfrm>
            <a:off x="8667206" y="3644537"/>
            <a:ext cx="189411" cy="189411"/>
          </a:xfrm>
          <a:prstGeom prst="ellipse">
            <a:avLst/>
          </a:prstGeom>
          <a:solidFill>
            <a:srgbClr val="FAE4D6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mini-right-node-0"/>
          <p:cNvSpPr/>
          <p:nvPr/>
        </p:nvSpPr>
        <p:spPr>
          <a:xfrm>
            <a:off x="9170126" y="3089366"/>
            <a:ext cx="189411" cy="189411"/>
          </a:xfrm>
          <a:prstGeom prst="ellipse">
            <a:avLst/>
          </a:prstGeom>
          <a:solidFill>
            <a:srgbClr val="D9EBD1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mini-right-node-1"/>
          <p:cNvSpPr/>
          <p:nvPr/>
        </p:nvSpPr>
        <p:spPr>
          <a:xfrm>
            <a:off x="9170126" y="3363686"/>
            <a:ext cx="189411" cy="189411"/>
          </a:xfrm>
          <a:prstGeom prst="ellipse">
            <a:avLst/>
          </a:prstGeom>
          <a:solidFill>
            <a:srgbClr val="D9EBD1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mini-right-node-2"/>
          <p:cNvSpPr/>
          <p:nvPr/>
        </p:nvSpPr>
        <p:spPr>
          <a:xfrm>
            <a:off x="9170126" y="3644537"/>
            <a:ext cx="189411" cy="189411"/>
          </a:xfrm>
          <a:prstGeom prst="ellipse">
            <a:avLst/>
          </a:prstGeom>
          <a:solidFill>
            <a:srgbClr val="D9EBD1"/>
          </a:solidFill>
          <a:ln w="13062">
            <a:solidFill>
              <a:srgbClr val="2336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mini-c-label"/>
          <p:cNvSpPr txBox="1"/>
          <p:nvPr/>
        </p:nvSpPr>
        <p:spPr>
          <a:xfrm>
            <a:off x="8621486" y="3833949"/>
            <a:ext cx="274320" cy="1959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1">
                <a:solidFill>
                  <a:srgbClr val="000000"/>
                </a:solidFill>
                <a:latin typeface="Times New Roman"/>
              </a:rPr>
              <a:t>C*</a:t>
            </a:r>
          </a:p>
        </p:txBody>
      </p:sp>
      <p:sp>
        <p:nvSpPr>
          <p:cNvPr id="264" name="mini-t-label"/>
          <p:cNvSpPr txBox="1"/>
          <p:nvPr/>
        </p:nvSpPr>
        <p:spPr>
          <a:xfrm>
            <a:off x="9091749" y="3833949"/>
            <a:ext cx="274320" cy="1959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1">
                <a:solidFill>
                  <a:srgbClr val="000000"/>
                </a:solidFill>
                <a:latin typeface="Times New Roman"/>
              </a:rPr>
              <a:t>T*</a:t>
            </a:r>
          </a:p>
        </p:txBody>
      </p:sp>
      <p:cxnSp>
        <p:nvCxnSpPr>
          <p:cNvPr id="265" name="mini-logic-to-recsys-i2u-shaft-1"/>
          <p:cNvCxnSpPr/>
          <p:nvPr/>
        </p:nvCxnSpPr>
        <p:spPr>
          <a:xfrm>
            <a:off x="9450977" y="3272246"/>
            <a:ext cx="457200" cy="0"/>
          </a:xfrm>
          <a:prstGeom prst="line">
            <a:avLst/>
          </a:prstGeom>
          <a:ln w="16981">
            <a:solidFill>
              <a:srgbClr val="000000"/>
            </a:solidFill>
          </a:ln>
          <a:effectLst/>
        </p:spPr>
      </p:cxnSp>
      <p:sp>
        <p:nvSpPr>
          <p:cNvPr id="266" name="mini-logic-to-recsys-i2u-head"/>
          <p:cNvSpPr/>
          <p:nvPr/>
        </p:nvSpPr>
        <p:spPr>
          <a:xfrm rot="5400000">
            <a:off x="9849394" y="3242854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ini-i2u-label"/>
          <p:cNvSpPr txBox="1"/>
          <p:nvPr/>
        </p:nvSpPr>
        <p:spPr>
          <a:xfrm>
            <a:off x="9470571" y="3030583"/>
            <a:ext cx="437606" cy="2024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31" b="0" i="1">
                <a:solidFill>
                  <a:srgbClr val="355F22"/>
                </a:solidFill>
                <a:latin typeface="Times New Roman"/>
              </a:rPr>
              <a:t>G I2U*</a:t>
            </a:r>
          </a:p>
        </p:txBody>
      </p:sp>
      <p:cxnSp>
        <p:nvCxnSpPr>
          <p:cNvPr id="268" name="mini-logic-to-recsys-u2i-shaft-1"/>
          <p:cNvCxnSpPr/>
          <p:nvPr/>
        </p:nvCxnSpPr>
        <p:spPr>
          <a:xfrm>
            <a:off x="9450977" y="3742509"/>
            <a:ext cx="457200" cy="0"/>
          </a:xfrm>
          <a:prstGeom prst="line">
            <a:avLst/>
          </a:prstGeom>
          <a:ln w="16981">
            <a:solidFill>
              <a:srgbClr val="000000"/>
            </a:solidFill>
          </a:ln>
          <a:effectLst/>
        </p:spPr>
      </p:cxnSp>
      <p:sp>
        <p:nvSpPr>
          <p:cNvPr id="269" name="mini-logic-to-recsys-u2i-head"/>
          <p:cNvSpPr/>
          <p:nvPr/>
        </p:nvSpPr>
        <p:spPr>
          <a:xfrm rot="5400000">
            <a:off x="9849394" y="3713117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mini-u2i-label"/>
          <p:cNvSpPr txBox="1"/>
          <p:nvPr/>
        </p:nvSpPr>
        <p:spPr>
          <a:xfrm>
            <a:off x="9470571" y="3507377"/>
            <a:ext cx="437606" cy="2024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31" b="0" i="1">
                <a:solidFill>
                  <a:srgbClr val="C55400"/>
                </a:solidFill>
                <a:latin typeface="Times New Roman"/>
              </a:rPr>
              <a:t>G U2I*</a:t>
            </a:r>
          </a:p>
        </p:txBody>
      </p:sp>
      <p:sp>
        <p:nvSpPr>
          <p:cNvPr id="271" name="recsys-container"/>
          <p:cNvSpPr/>
          <p:nvPr/>
        </p:nvSpPr>
        <p:spPr>
          <a:xfrm>
            <a:off x="9908177" y="2828109"/>
            <a:ext cx="1959429" cy="1188720"/>
          </a:xfrm>
          <a:prstGeom prst="rect">
            <a:avLst/>
          </a:prstGeom>
          <a:solidFill>
            <a:srgbClr val="FFFFFF"/>
          </a:solidFill>
          <a:ln w="21553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sys-label"/>
          <p:cNvSpPr txBox="1"/>
          <p:nvPr/>
        </p:nvSpPr>
        <p:spPr>
          <a:xfrm>
            <a:off x="9973491" y="3043646"/>
            <a:ext cx="535577" cy="2351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1" i="0">
                <a:solidFill>
                  <a:srgbClr val="000000"/>
                </a:solidFill>
                <a:latin typeface="Times New Roman"/>
              </a:rPr>
              <a:t>RecSys</a:t>
            </a:r>
          </a:p>
        </p:txBody>
      </p:sp>
      <p:cxnSp>
        <p:nvCxnSpPr>
          <p:cNvPr id="273" name="recsys-network-edge-0-2-1"/>
          <p:cNvCxnSpPr/>
          <p:nvPr/>
        </p:nvCxnSpPr>
        <p:spPr>
          <a:xfrm>
            <a:off x="10040635" y="3413063"/>
            <a:ext cx="128538" cy="91049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4" name="recsys-network-edge-1-2-1"/>
          <p:cNvCxnSpPr/>
          <p:nvPr/>
        </p:nvCxnSpPr>
        <p:spPr>
          <a:xfrm flipV="1">
            <a:off x="10040635" y="3504112"/>
            <a:ext cx="128538" cy="91048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5" name="recsys-network-edge-2-3-1"/>
          <p:cNvCxnSpPr/>
          <p:nvPr/>
        </p:nvCxnSpPr>
        <p:spPr>
          <a:xfrm flipV="1">
            <a:off x="10169173" y="3413063"/>
            <a:ext cx="117827" cy="91049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6" name="recsys-network-edge-2-4-1"/>
          <p:cNvCxnSpPr/>
          <p:nvPr/>
        </p:nvCxnSpPr>
        <p:spPr>
          <a:xfrm>
            <a:off x="10169173" y="3504112"/>
            <a:ext cx="117827" cy="91048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7" name="recsys-network-edge-3-5-1"/>
          <p:cNvCxnSpPr/>
          <p:nvPr/>
        </p:nvCxnSpPr>
        <p:spPr>
          <a:xfrm>
            <a:off x="10287000" y="3413063"/>
            <a:ext cx="91048" cy="91049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8" name="recsys-network-edge-4-5-1"/>
          <p:cNvCxnSpPr/>
          <p:nvPr/>
        </p:nvCxnSpPr>
        <p:spPr>
          <a:xfrm flipV="1">
            <a:off x="10287000" y="3504112"/>
            <a:ext cx="91048" cy="91048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79" name="recsys-network-edge-0-4-1"/>
          <p:cNvCxnSpPr/>
          <p:nvPr/>
        </p:nvCxnSpPr>
        <p:spPr>
          <a:xfrm>
            <a:off x="10040635" y="3413063"/>
            <a:ext cx="246365" cy="182097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cxnSp>
        <p:nvCxnSpPr>
          <p:cNvPr id="280" name="recsys-network-edge-1-3-1"/>
          <p:cNvCxnSpPr/>
          <p:nvPr/>
        </p:nvCxnSpPr>
        <p:spPr>
          <a:xfrm flipV="1">
            <a:off x="10040635" y="3413063"/>
            <a:ext cx="246365" cy="182097"/>
          </a:xfrm>
          <a:prstGeom prst="line">
            <a:avLst/>
          </a:prstGeom>
          <a:ln w="16067">
            <a:solidFill>
              <a:srgbClr val="000000"/>
            </a:solidFill>
          </a:ln>
          <a:effectLst/>
        </p:spPr>
      </p:cxnSp>
      <p:sp>
        <p:nvSpPr>
          <p:cNvPr id="281" name="recsys-network-node-0"/>
          <p:cNvSpPr/>
          <p:nvPr/>
        </p:nvSpPr>
        <p:spPr>
          <a:xfrm>
            <a:off x="10019211" y="3391640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sys-network-node-1"/>
          <p:cNvSpPr/>
          <p:nvPr/>
        </p:nvSpPr>
        <p:spPr>
          <a:xfrm>
            <a:off x="10019211" y="3573737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sys-network-node-2"/>
          <p:cNvSpPr/>
          <p:nvPr/>
        </p:nvSpPr>
        <p:spPr>
          <a:xfrm>
            <a:off x="10147750" y="3482689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sys-network-node-3"/>
          <p:cNvSpPr/>
          <p:nvPr/>
        </p:nvSpPr>
        <p:spPr>
          <a:xfrm>
            <a:off x="10265577" y="3391640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sys-network-node-4"/>
          <p:cNvSpPr/>
          <p:nvPr/>
        </p:nvSpPr>
        <p:spPr>
          <a:xfrm>
            <a:off x="10265577" y="3573737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sys-network-node-5"/>
          <p:cNvSpPr/>
          <p:nvPr/>
        </p:nvSpPr>
        <p:spPr>
          <a:xfrm>
            <a:off x="10356625" y="3482689"/>
            <a:ext cx="42846" cy="42846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ag-encoder"/>
          <p:cNvSpPr/>
          <p:nvPr/>
        </p:nvSpPr>
        <p:spPr>
          <a:xfrm>
            <a:off x="10450286" y="2991394"/>
            <a:ext cx="1358537" cy="457200"/>
          </a:xfrm>
          <a:prstGeom prst="roundRect">
            <a:avLst>
              <a:gd name="adj" fmla="val 18571"/>
            </a:avLst>
          </a:prstGeom>
          <a:solidFill>
            <a:srgbClr val="D3FCF4"/>
          </a:solidFill>
          <a:ln w="104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ag-encoder-text"/>
          <p:cNvSpPr txBox="1"/>
          <p:nvPr/>
        </p:nvSpPr>
        <p:spPr>
          <a:xfrm>
            <a:off x="10522131" y="3043646"/>
            <a:ext cx="1214846" cy="3526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Tag-based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Item/User Encoder</a:t>
            </a:r>
          </a:p>
        </p:txBody>
      </p:sp>
      <p:sp>
        <p:nvSpPr>
          <p:cNvPr id="289" name="logic-extension"/>
          <p:cNvSpPr/>
          <p:nvPr/>
        </p:nvSpPr>
        <p:spPr>
          <a:xfrm>
            <a:off x="10437223" y="3468189"/>
            <a:ext cx="1371600" cy="450669"/>
          </a:xfrm>
          <a:prstGeom prst="roundRect">
            <a:avLst>
              <a:gd name="adj" fmla="val 18840"/>
            </a:avLst>
          </a:prstGeom>
          <a:solidFill>
            <a:srgbClr val="FFF3D3"/>
          </a:solidFill>
          <a:ln w="104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logic-extension-text"/>
          <p:cNvSpPr txBox="1"/>
          <p:nvPr/>
        </p:nvSpPr>
        <p:spPr>
          <a:xfrm>
            <a:off x="10496006" y="3513909"/>
            <a:ext cx="1254034" cy="3526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Tag-logic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82" b="0" i="0">
                <a:solidFill>
                  <a:srgbClr val="000000"/>
                </a:solidFill>
                <a:latin typeface="Times New Roman"/>
              </a:rPr>
              <a:t>Inference Extension</a:t>
            </a:r>
          </a:p>
        </p:txBody>
      </p:sp>
      <p:sp>
        <p:nvSpPr>
          <p:cNvPr id="291" name="candidate-label"/>
          <p:cNvSpPr txBox="1"/>
          <p:nvPr/>
        </p:nvSpPr>
        <p:spPr>
          <a:xfrm>
            <a:off x="11704320" y="2527663"/>
            <a:ext cx="61395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000000"/>
                </a:solidFill>
                <a:latin typeface="Times New Roman"/>
              </a:rPr>
              <a:t>Candidate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000000"/>
                </a:solidFill>
                <a:latin typeface="Times New Roman"/>
              </a:rPr>
              <a:t>item</a:t>
            </a:r>
          </a:p>
        </p:txBody>
      </p:sp>
      <p:sp>
        <p:nvSpPr>
          <p:cNvPr id="292" name="candidate-clock-face"/>
          <p:cNvSpPr/>
          <p:nvPr/>
        </p:nvSpPr>
        <p:spPr>
          <a:xfrm>
            <a:off x="11926389" y="2927909"/>
            <a:ext cx="160673" cy="160673"/>
          </a:xfrm>
          <a:prstGeom prst="ellipse">
            <a:avLst/>
          </a:prstGeom>
          <a:solidFill>
            <a:srgbClr val="FFFFFF"/>
          </a:solidFill>
          <a:ln w="16067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3" name="candidate-clock-hand1-1"/>
          <p:cNvCxnSpPr/>
          <p:nvPr/>
        </p:nvCxnSpPr>
        <p:spPr>
          <a:xfrm flipV="1">
            <a:off x="12006725" y="2954688"/>
            <a:ext cx="0" cy="48202"/>
          </a:xfrm>
          <a:prstGeom prst="line">
            <a:avLst/>
          </a:prstGeom>
          <a:ln w="10711">
            <a:solidFill>
              <a:srgbClr val="000000"/>
            </a:solidFill>
          </a:ln>
          <a:effectLst/>
        </p:spPr>
      </p:cxnSp>
      <p:cxnSp>
        <p:nvCxnSpPr>
          <p:cNvPr id="294" name="candidate-clock-hand2-1"/>
          <p:cNvCxnSpPr/>
          <p:nvPr/>
        </p:nvCxnSpPr>
        <p:spPr>
          <a:xfrm>
            <a:off x="12006725" y="3002890"/>
            <a:ext cx="42846" cy="21423"/>
          </a:xfrm>
          <a:prstGeom prst="line">
            <a:avLst/>
          </a:prstGeom>
          <a:ln w="10711">
            <a:solidFill>
              <a:srgbClr val="000000"/>
            </a:solidFill>
          </a:ln>
          <a:effectLst/>
        </p:spPr>
      </p:cxnSp>
      <p:sp>
        <p:nvSpPr>
          <p:cNvPr id="295" name="candidate-clock-bell"/>
          <p:cNvSpPr/>
          <p:nvPr/>
        </p:nvSpPr>
        <p:spPr>
          <a:xfrm>
            <a:off x="11958523" y="2906486"/>
            <a:ext cx="96404" cy="26779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candidate-clock-base"/>
          <p:cNvSpPr/>
          <p:nvPr/>
        </p:nvSpPr>
        <p:spPr>
          <a:xfrm>
            <a:off x="11958523" y="3093938"/>
            <a:ext cx="107115" cy="21423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candidate-vi"/>
          <p:cNvSpPr txBox="1"/>
          <p:nvPr/>
        </p:nvSpPr>
        <p:spPr>
          <a:xfrm>
            <a:off x="12122331" y="2899954"/>
            <a:ext cx="215537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37" b="1" i="1">
                <a:solidFill>
                  <a:srgbClr val="000000"/>
                </a:solidFill>
                <a:latin typeface="Times New Roman"/>
              </a:rPr>
              <a:t>vᵢ</a:t>
            </a:r>
          </a:p>
        </p:txBody>
      </p:sp>
      <p:cxnSp>
        <p:nvCxnSpPr>
          <p:cNvPr id="298" name="candidate-to-recsys-shaft-1"/>
          <p:cNvCxnSpPr/>
          <p:nvPr/>
        </p:nvCxnSpPr>
        <p:spPr>
          <a:xfrm>
            <a:off x="12194177" y="3167743"/>
            <a:ext cx="0" cy="476794"/>
          </a:xfrm>
          <a:prstGeom prst="line">
            <a:avLst/>
          </a:prstGeom>
          <a:ln w="18287">
            <a:solidFill>
              <a:srgbClr val="000000"/>
            </a:solidFill>
          </a:ln>
          <a:effectLst/>
        </p:spPr>
      </p:cxnSp>
      <p:cxnSp>
        <p:nvCxnSpPr>
          <p:cNvPr id="299" name="candidate-to-recsys-shaft-2"/>
          <p:cNvCxnSpPr/>
          <p:nvPr/>
        </p:nvCxnSpPr>
        <p:spPr>
          <a:xfrm flipH="1">
            <a:off x="11867606" y="3644537"/>
            <a:ext cx="326571" cy="0"/>
          </a:xfrm>
          <a:prstGeom prst="line">
            <a:avLst/>
          </a:prstGeom>
          <a:ln w="18287">
            <a:solidFill>
              <a:srgbClr val="000000"/>
            </a:solidFill>
          </a:ln>
          <a:effectLst/>
        </p:spPr>
      </p:cxnSp>
      <p:sp>
        <p:nvSpPr>
          <p:cNvPr id="300" name="candidate-to-recsys-head"/>
          <p:cNvSpPr/>
          <p:nvPr/>
        </p:nvSpPr>
        <p:spPr>
          <a:xfrm rot="16200000">
            <a:off x="11867606" y="3615146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1" name="recsys-to-raw-shaft-1"/>
          <p:cNvCxnSpPr/>
          <p:nvPr/>
        </p:nvCxnSpPr>
        <p:spPr>
          <a:xfrm>
            <a:off x="10940143" y="4016829"/>
            <a:ext cx="0" cy="352697"/>
          </a:xfrm>
          <a:prstGeom prst="line">
            <a:avLst/>
          </a:prstGeom>
          <a:ln w="16328">
            <a:solidFill>
              <a:srgbClr val="000000"/>
            </a:solidFill>
          </a:ln>
          <a:effectLst/>
        </p:spPr>
      </p:cxnSp>
      <p:sp>
        <p:nvSpPr>
          <p:cNvPr id="302" name="recsys-to-raw-head"/>
          <p:cNvSpPr/>
          <p:nvPr/>
        </p:nvSpPr>
        <p:spPr>
          <a:xfrm rot="10800000">
            <a:off x="10910751" y="4310743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3" name="recsys-to-tag-shaft-1"/>
          <p:cNvCxnSpPr/>
          <p:nvPr/>
        </p:nvCxnSpPr>
        <p:spPr>
          <a:xfrm>
            <a:off x="11606349" y="4016829"/>
            <a:ext cx="0" cy="352697"/>
          </a:xfrm>
          <a:prstGeom prst="line">
            <a:avLst/>
          </a:prstGeom>
          <a:ln w="16328">
            <a:solidFill>
              <a:srgbClr val="000000"/>
            </a:solidFill>
          </a:ln>
          <a:effectLst/>
        </p:spPr>
      </p:cxnSp>
      <p:sp>
        <p:nvSpPr>
          <p:cNvPr id="304" name="recsys-to-tag-head"/>
          <p:cNvSpPr/>
          <p:nvPr/>
        </p:nvSpPr>
        <p:spPr>
          <a:xfrm rot="10800000">
            <a:off x="11576957" y="4310743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y-raw"/>
          <p:cNvSpPr txBox="1"/>
          <p:nvPr/>
        </p:nvSpPr>
        <p:spPr>
          <a:xfrm>
            <a:off x="10731137" y="4395652"/>
            <a:ext cx="424543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1">
                <a:solidFill>
                  <a:srgbClr val="000000"/>
                </a:solidFill>
                <a:latin typeface="Times New Roman"/>
              </a:rPr>
              <a:t>ŷraw</a:t>
            </a:r>
          </a:p>
        </p:txBody>
      </p:sp>
      <p:sp>
        <p:nvSpPr>
          <p:cNvPr id="306" name="y-tag"/>
          <p:cNvSpPr txBox="1"/>
          <p:nvPr/>
        </p:nvSpPr>
        <p:spPr>
          <a:xfrm>
            <a:off x="11390811" y="4395652"/>
            <a:ext cx="424543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i="1">
                <a:solidFill>
                  <a:srgbClr val="000000"/>
                </a:solidFill>
                <a:latin typeface="Times New Roman"/>
              </a:rPr>
              <a:t>ŷtag</a:t>
            </a:r>
          </a:p>
        </p:txBody>
      </p:sp>
      <p:cxnSp>
        <p:nvCxnSpPr>
          <p:cNvPr id="307" name="raw-to-y-shaft-1"/>
          <p:cNvCxnSpPr/>
          <p:nvPr/>
        </p:nvCxnSpPr>
        <p:spPr>
          <a:xfrm>
            <a:off x="10940143" y="4624252"/>
            <a:ext cx="326571" cy="215537"/>
          </a:xfrm>
          <a:prstGeom prst="line">
            <a:avLst/>
          </a:prstGeom>
          <a:ln w="16328">
            <a:solidFill>
              <a:srgbClr val="000000"/>
            </a:solidFill>
          </a:ln>
          <a:effectLst/>
        </p:spPr>
      </p:cxnSp>
      <p:sp>
        <p:nvSpPr>
          <p:cNvPr id="308" name="raw-to-y-head"/>
          <p:cNvSpPr/>
          <p:nvPr/>
        </p:nvSpPr>
        <p:spPr>
          <a:xfrm rot="5400000">
            <a:off x="11207931" y="4810397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9" name="tag-to-y-shaft-1"/>
          <p:cNvCxnSpPr/>
          <p:nvPr/>
        </p:nvCxnSpPr>
        <p:spPr>
          <a:xfrm flipH="1">
            <a:off x="11345091" y="4624252"/>
            <a:ext cx="261258" cy="215537"/>
          </a:xfrm>
          <a:prstGeom prst="line">
            <a:avLst/>
          </a:prstGeom>
          <a:ln w="16328">
            <a:solidFill>
              <a:srgbClr val="000000"/>
            </a:solidFill>
          </a:ln>
          <a:effectLst/>
        </p:spPr>
      </p:cxnSp>
      <p:sp>
        <p:nvSpPr>
          <p:cNvPr id="310" name="tag-to-y-head"/>
          <p:cNvSpPr/>
          <p:nvPr/>
        </p:nvSpPr>
        <p:spPr>
          <a:xfrm rot="16200000">
            <a:off x="11345091" y="4810397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y-final"/>
          <p:cNvSpPr txBox="1"/>
          <p:nvPr/>
        </p:nvSpPr>
        <p:spPr>
          <a:xfrm>
            <a:off x="11188337" y="4787537"/>
            <a:ext cx="274320" cy="2351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1">
                <a:solidFill>
                  <a:srgbClr val="000000"/>
                </a:solidFill>
                <a:latin typeface="Times New Roman"/>
              </a:rPr>
              <a:t>ŷ</a:t>
            </a:r>
          </a:p>
        </p:txBody>
      </p:sp>
      <p:sp>
        <p:nvSpPr>
          <p:cNvPr id="312" name="loss-box"/>
          <p:cNvSpPr/>
          <p:nvPr/>
        </p:nvSpPr>
        <p:spPr>
          <a:xfrm>
            <a:off x="8556171" y="4389120"/>
            <a:ext cx="2161903" cy="594360"/>
          </a:xfrm>
          <a:prstGeom prst="roundRect">
            <a:avLst>
              <a:gd name="adj" fmla="val 15384"/>
            </a:avLst>
          </a:prstGeom>
          <a:solidFill>
            <a:srgbClr val="D3EEFF"/>
          </a:solidFill>
          <a:ln w="1045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loss-formula"/>
          <p:cNvSpPr txBox="1"/>
          <p:nvPr/>
        </p:nvSpPr>
        <p:spPr>
          <a:xfrm>
            <a:off x="8641080" y="4447903"/>
            <a:ext cx="1992086" cy="2416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31" b="0" i="1">
                <a:solidFill>
                  <a:srgbClr val="000000"/>
                </a:solidFill>
                <a:latin typeface="Times New Roman"/>
              </a:rPr>
              <a:t>L = λ(Lut + Lit) + (1 − λ)Lui</a:t>
            </a:r>
          </a:p>
        </p:txBody>
      </p:sp>
      <p:sp>
        <p:nvSpPr>
          <p:cNvPr id="314" name="loss-caption"/>
          <p:cNvSpPr txBox="1"/>
          <p:nvPr/>
        </p:nvSpPr>
        <p:spPr>
          <a:xfrm>
            <a:off x="8634549" y="4709160"/>
            <a:ext cx="2005149" cy="2220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31" b="0" i="0">
                <a:solidFill>
                  <a:srgbClr val="000000"/>
                </a:solidFill>
                <a:latin typeface="Times New Roman"/>
              </a:rPr>
              <a:t>Tag-based Learning Augmentation</a:t>
            </a:r>
          </a:p>
        </p:txBody>
      </p:sp>
      <p:sp>
        <p:nvSpPr>
          <p:cNvPr id="315" name="backprop-label"/>
          <p:cNvSpPr txBox="1"/>
          <p:nvPr/>
        </p:nvSpPr>
        <p:spPr>
          <a:xfrm>
            <a:off x="9176657" y="4121332"/>
            <a:ext cx="947057" cy="209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000000"/>
                </a:solidFill>
                <a:latin typeface="Times New Roman"/>
              </a:rPr>
              <a:t>Backpropagation</a:t>
            </a:r>
          </a:p>
        </p:txBody>
      </p:sp>
      <p:cxnSp>
        <p:nvCxnSpPr>
          <p:cNvPr id="316" name="loss-feedback-shaft-1"/>
          <p:cNvCxnSpPr/>
          <p:nvPr/>
        </p:nvCxnSpPr>
        <p:spPr>
          <a:xfrm flipV="1">
            <a:off x="10123714" y="4016829"/>
            <a:ext cx="0" cy="372291"/>
          </a:xfrm>
          <a:prstGeom prst="line">
            <a:avLst/>
          </a:prstGeom>
          <a:ln w="16328">
            <a:solidFill>
              <a:srgbClr val="000000"/>
            </a:solidFill>
            <a:prstDash val="dash"/>
          </a:ln>
          <a:effectLst/>
        </p:spPr>
      </p:cxnSp>
      <p:sp>
        <p:nvSpPr>
          <p:cNvPr id="317" name="loss-feedback-head"/>
          <p:cNvSpPr/>
          <p:nvPr/>
        </p:nvSpPr>
        <p:spPr>
          <a:xfrm>
            <a:off x="10094323" y="4016829"/>
            <a:ext cx="58783" cy="58783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caption-one"/>
          <p:cNvSpPr txBox="1"/>
          <p:nvPr/>
        </p:nvSpPr>
        <p:spPr>
          <a:xfrm>
            <a:off x="346166" y="5368835"/>
            <a:ext cx="3579223" cy="3135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 i="0">
                <a:solidFill>
                  <a:srgbClr val="000000"/>
                </a:solidFill>
                <a:latin typeface="Times New Roman"/>
              </a:rPr>
              <a:t>(1) MLLM-based Tag Extraction</a:t>
            </a:r>
          </a:p>
        </p:txBody>
      </p:sp>
      <p:sp>
        <p:nvSpPr>
          <p:cNvPr id="319" name="caption-two"/>
          <p:cNvSpPr txBox="1"/>
          <p:nvPr/>
        </p:nvSpPr>
        <p:spPr>
          <a:xfrm>
            <a:off x="4317274" y="5368835"/>
            <a:ext cx="4023360" cy="3135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 i="0">
                <a:solidFill>
                  <a:srgbClr val="000000"/>
                </a:solidFill>
                <a:latin typeface="Times New Roman"/>
              </a:rPr>
              <a:t>(2) LLM-based Collaborative Logic Reasoning</a:t>
            </a:r>
          </a:p>
        </p:txBody>
      </p:sp>
      <p:sp>
        <p:nvSpPr>
          <p:cNvPr id="320" name="caption-three"/>
          <p:cNvSpPr txBox="1"/>
          <p:nvPr/>
        </p:nvSpPr>
        <p:spPr>
          <a:xfrm>
            <a:off x="8915400" y="5368835"/>
            <a:ext cx="2913017" cy="3135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42" b="1" i="0">
                <a:solidFill>
                  <a:srgbClr val="000000"/>
                </a:solidFill>
                <a:latin typeface="Times New Roman"/>
              </a:rPr>
              <a:t>(3) Tag Logic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o You Are Matters Bridging Interests and Social Roles via LLM-Enhanced Logic Recommend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400" cy="5695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