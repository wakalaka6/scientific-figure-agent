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999" cy="6783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anvas"/>
          <p:cNvSpPr/>
          <p:nvPr/>
        </p:nvSpPr>
        <p:spPr>
          <a:xfrm>
            <a:off x="0" y="0"/>
            <a:ext cx="12191999" cy="6783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connector_boundary"/>
          <p:cNvSpPr/>
          <p:nvPr/>
        </p:nvSpPr>
        <p:spPr>
          <a:xfrm>
            <a:off x="108800" y="1030400"/>
            <a:ext cx="9465599" cy="2636800"/>
          </a:xfrm>
          <a:prstGeom prst="rect">
            <a:avLst/>
          </a:prstGeom>
          <a:noFill/>
          <a:ln w="17919">
            <a:solidFill>
              <a:srgbClr val="2167A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legend_boundary"/>
          <p:cNvSpPr/>
          <p:nvPr/>
        </p:nvSpPr>
        <p:spPr>
          <a:xfrm>
            <a:off x="9695999" y="1030400"/>
            <a:ext cx="2374400" cy="1292800"/>
          </a:xfrm>
          <a:prstGeom prst="rect">
            <a:avLst/>
          </a:prstGeom>
          <a:noFill/>
          <a:ln w="16639">
            <a:solidFill>
              <a:srgbClr val="0C2F3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selected_time_span"/>
          <p:cNvSpPr/>
          <p:nvPr/>
        </p:nvSpPr>
        <p:spPr>
          <a:xfrm>
            <a:off x="0" y="6585599"/>
            <a:ext cx="9075199" cy="198400"/>
          </a:xfrm>
          <a:prstGeom prst="rect">
            <a:avLst/>
          </a:prstGeom>
          <a:noFill/>
          <a:ln w="17279">
            <a:solidFill>
              <a:srgbClr val="E3BB7E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" name="time_feature_route_1"/>
          <p:cNvCxnSpPr/>
          <p:nvPr/>
        </p:nvCxnSpPr>
        <p:spPr>
          <a:xfrm flipV="1">
            <a:off x="9017599" y="1728000"/>
            <a:ext cx="0" cy="4863999"/>
          </a:xfrm>
          <a:prstGeom prst="line">
            <a:avLst/>
          </a:prstGeom>
          <a:ln w="17919">
            <a:solidFill>
              <a:srgbClr val="E3BB7E"/>
            </a:solidFill>
          </a:ln>
          <a:effectLst/>
        </p:spPr>
      </p:cxnSp>
      <p:cxnSp>
        <p:nvCxnSpPr>
          <p:cNvPr id="7" name="time_feature_route_2"/>
          <p:cNvCxnSpPr/>
          <p:nvPr/>
        </p:nvCxnSpPr>
        <p:spPr>
          <a:xfrm flipH="1">
            <a:off x="6489599" y="1728000"/>
            <a:ext cx="2528000" cy="0"/>
          </a:xfrm>
          <a:prstGeom prst="line">
            <a:avLst/>
          </a:prstGeom>
          <a:ln w="17919">
            <a:solidFill>
              <a:srgbClr val="E3BB7E"/>
            </a:solidFill>
          </a:ln>
          <a:effectLst/>
        </p:spPr>
      </p:cxnSp>
      <p:sp>
        <p:nvSpPr>
          <p:cNvPr id="8" name="time_feature_route_arrow"/>
          <p:cNvSpPr/>
          <p:nvPr/>
        </p:nvSpPr>
        <p:spPr>
          <a:xfrm>
            <a:off x="6489599" y="1689600"/>
            <a:ext cx="76800" cy="76800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0" y="6"/>
                </a:moveTo>
                <a:lnTo>
                  <a:pt x="12" y="0"/>
                </a:lnTo>
                <a:lnTo>
                  <a:pt x="12" y="12"/>
                </a:lnTo>
                <a:close/>
              </a:path>
            </a:pathLst>
          </a:custGeom>
          <a:solidFill>
            <a:srgbClr val="E3BB7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" name="query_feature_spine_1"/>
          <p:cNvCxnSpPr/>
          <p:nvPr/>
        </p:nvCxnSpPr>
        <p:spPr>
          <a:xfrm flipV="1">
            <a:off x="11148799" y="3635199"/>
            <a:ext cx="0" cy="819200"/>
          </a:xfrm>
          <a:prstGeom prst="line">
            <a:avLst/>
          </a:prstGeom>
          <a:ln w="17919">
            <a:solidFill>
              <a:srgbClr val="8B65A0"/>
            </a:solidFill>
          </a:ln>
          <a:effectLst/>
        </p:spPr>
      </p:cxnSp>
      <p:cxnSp>
        <p:nvCxnSpPr>
          <p:cNvPr id="10" name="query_feature_spine_2"/>
          <p:cNvCxnSpPr/>
          <p:nvPr/>
        </p:nvCxnSpPr>
        <p:spPr>
          <a:xfrm flipH="1">
            <a:off x="2406400" y="3635199"/>
            <a:ext cx="8742399" cy="0"/>
          </a:xfrm>
          <a:prstGeom prst="line">
            <a:avLst/>
          </a:prstGeom>
          <a:ln w="17919">
            <a:solidFill>
              <a:srgbClr val="8B65A0"/>
            </a:solidFill>
          </a:ln>
          <a:effectLst/>
        </p:spPr>
      </p:cxnSp>
      <p:cxnSp>
        <p:nvCxnSpPr>
          <p:cNvPr id="11" name="query_to_vision_1"/>
          <p:cNvCxnSpPr/>
          <p:nvPr/>
        </p:nvCxnSpPr>
        <p:spPr>
          <a:xfrm flipV="1">
            <a:off x="2406400" y="3129600"/>
            <a:ext cx="0" cy="505599"/>
          </a:xfrm>
          <a:prstGeom prst="line">
            <a:avLst/>
          </a:prstGeom>
          <a:ln w="17919">
            <a:solidFill>
              <a:srgbClr val="8B65A0"/>
            </a:solidFill>
          </a:ln>
          <a:effectLst/>
        </p:spPr>
      </p:cxnSp>
      <p:sp>
        <p:nvSpPr>
          <p:cNvPr id="12" name="query_to_vision_arrow"/>
          <p:cNvSpPr/>
          <p:nvPr/>
        </p:nvSpPr>
        <p:spPr>
          <a:xfrm>
            <a:off x="2368000" y="3129600"/>
            <a:ext cx="76800" cy="76800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6" y="0"/>
                </a:moveTo>
                <a:lnTo>
                  <a:pt x="12" y="12"/>
                </a:lnTo>
                <a:lnTo>
                  <a:pt x="0" y="12"/>
                </a:lnTo>
                <a:close/>
              </a:path>
            </a:pathLst>
          </a:custGeom>
          <a:solidFill>
            <a:srgbClr val="8B65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" name="query_to_audio_1"/>
          <p:cNvCxnSpPr/>
          <p:nvPr/>
        </p:nvCxnSpPr>
        <p:spPr>
          <a:xfrm flipV="1">
            <a:off x="5024000" y="3104000"/>
            <a:ext cx="0" cy="531199"/>
          </a:xfrm>
          <a:prstGeom prst="line">
            <a:avLst/>
          </a:prstGeom>
          <a:ln w="17919">
            <a:solidFill>
              <a:srgbClr val="8B65A0"/>
            </a:solidFill>
          </a:ln>
          <a:effectLst/>
        </p:spPr>
      </p:cxnSp>
      <p:sp>
        <p:nvSpPr>
          <p:cNvPr id="14" name="query_to_audio_arrow"/>
          <p:cNvSpPr/>
          <p:nvPr/>
        </p:nvSpPr>
        <p:spPr>
          <a:xfrm>
            <a:off x="4992000" y="3104000"/>
            <a:ext cx="64000" cy="76800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5" y="0"/>
                </a:moveTo>
                <a:lnTo>
                  <a:pt x="10" y="12"/>
                </a:lnTo>
                <a:lnTo>
                  <a:pt x="0" y="12"/>
                </a:lnTo>
                <a:close/>
              </a:path>
            </a:pathLst>
          </a:custGeom>
          <a:solidFill>
            <a:srgbClr val="8B65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" name="query_to_speech_1"/>
          <p:cNvCxnSpPr/>
          <p:nvPr/>
        </p:nvCxnSpPr>
        <p:spPr>
          <a:xfrm flipV="1">
            <a:off x="7903999" y="3078400"/>
            <a:ext cx="0" cy="556799"/>
          </a:xfrm>
          <a:prstGeom prst="line">
            <a:avLst/>
          </a:prstGeom>
          <a:ln w="17919">
            <a:solidFill>
              <a:srgbClr val="8B65A0"/>
            </a:solidFill>
          </a:ln>
          <a:effectLst/>
        </p:spPr>
      </p:cxnSp>
      <p:sp>
        <p:nvSpPr>
          <p:cNvPr id="16" name="query_to_speech_arrow"/>
          <p:cNvSpPr/>
          <p:nvPr/>
        </p:nvSpPr>
        <p:spPr>
          <a:xfrm>
            <a:off x="7871999" y="3078400"/>
            <a:ext cx="64000" cy="76800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5" y="0"/>
                </a:moveTo>
                <a:lnTo>
                  <a:pt x="10" y="12"/>
                </a:lnTo>
                <a:lnTo>
                  <a:pt x="0" y="12"/>
                </a:lnTo>
                <a:close/>
              </a:path>
            </a:pathLst>
          </a:custGeom>
          <a:solidFill>
            <a:srgbClr val="8B65A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" name="vision_input_to_encoder_1"/>
          <p:cNvCxnSpPr/>
          <p:nvPr/>
        </p:nvCxnSpPr>
        <p:spPr>
          <a:xfrm flipV="1">
            <a:off x="1657600" y="4678399"/>
            <a:ext cx="0" cy="160000"/>
          </a:xfrm>
          <a:prstGeom prst="line">
            <a:avLst/>
          </a:prstGeom>
          <a:ln w="19199">
            <a:solidFill>
              <a:srgbClr val="155982"/>
            </a:solidFill>
          </a:ln>
          <a:effectLst/>
        </p:spPr>
      </p:cxnSp>
      <p:sp>
        <p:nvSpPr>
          <p:cNvPr id="18" name="vision_input_to_encoder_arrow"/>
          <p:cNvSpPr/>
          <p:nvPr/>
        </p:nvSpPr>
        <p:spPr>
          <a:xfrm>
            <a:off x="1625600" y="4678399"/>
            <a:ext cx="64000" cy="76800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5" y="0"/>
                </a:moveTo>
                <a:lnTo>
                  <a:pt x="10" y="12"/>
                </a:lnTo>
                <a:lnTo>
                  <a:pt x="0" y="12"/>
                </a:lnTo>
                <a:close/>
              </a:path>
            </a:pathLst>
          </a:custGeom>
          <a:solidFill>
            <a:srgbClr val="1559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" name="vision_encoder_to_projector_1"/>
          <p:cNvCxnSpPr/>
          <p:nvPr/>
        </p:nvCxnSpPr>
        <p:spPr>
          <a:xfrm flipV="1">
            <a:off x="1657600" y="4140799"/>
            <a:ext cx="0" cy="134400"/>
          </a:xfrm>
          <a:prstGeom prst="line">
            <a:avLst/>
          </a:prstGeom>
          <a:ln w="19199">
            <a:solidFill>
              <a:srgbClr val="155982"/>
            </a:solidFill>
          </a:ln>
          <a:effectLst/>
        </p:spPr>
      </p:cxnSp>
      <p:sp>
        <p:nvSpPr>
          <p:cNvPr id="20" name="vision_encoder_to_projector_arrow"/>
          <p:cNvSpPr/>
          <p:nvPr/>
        </p:nvSpPr>
        <p:spPr>
          <a:xfrm>
            <a:off x="1625600" y="4140799"/>
            <a:ext cx="64000" cy="76800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5" y="0"/>
                </a:moveTo>
                <a:lnTo>
                  <a:pt x="10" y="12"/>
                </a:lnTo>
                <a:lnTo>
                  <a:pt x="0" y="12"/>
                </a:lnTo>
                <a:close/>
              </a:path>
            </a:pathLst>
          </a:custGeom>
          <a:solidFill>
            <a:srgbClr val="1559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1" name="vision_projector_to_tokens_1"/>
          <p:cNvCxnSpPr/>
          <p:nvPr/>
        </p:nvCxnSpPr>
        <p:spPr>
          <a:xfrm flipV="1">
            <a:off x="1657600" y="3571199"/>
            <a:ext cx="0" cy="166400"/>
          </a:xfrm>
          <a:prstGeom prst="line">
            <a:avLst/>
          </a:prstGeom>
          <a:ln w="19199">
            <a:solidFill>
              <a:srgbClr val="155982"/>
            </a:solidFill>
          </a:ln>
          <a:effectLst/>
        </p:spPr>
      </p:cxnSp>
      <p:sp>
        <p:nvSpPr>
          <p:cNvPr id="22" name="vision_projector_to_tokens_arrow"/>
          <p:cNvSpPr/>
          <p:nvPr/>
        </p:nvSpPr>
        <p:spPr>
          <a:xfrm>
            <a:off x="1625600" y="3571199"/>
            <a:ext cx="64000" cy="76800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5" y="0"/>
                </a:moveTo>
                <a:lnTo>
                  <a:pt x="10" y="12"/>
                </a:lnTo>
                <a:lnTo>
                  <a:pt x="0" y="12"/>
                </a:lnTo>
                <a:close/>
              </a:path>
            </a:pathLst>
          </a:custGeom>
          <a:solidFill>
            <a:srgbClr val="1559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" name="vision_tokens_to_cross_1"/>
          <p:cNvCxnSpPr/>
          <p:nvPr/>
        </p:nvCxnSpPr>
        <p:spPr>
          <a:xfrm flipV="1">
            <a:off x="1657600" y="3129600"/>
            <a:ext cx="0" cy="134400"/>
          </a:xfrm>
          <a:prstGeom prst="line">
            <a:avLst/>
          </a:prstGeom>
          <a:ln w="19199">
            <a:solidFill>
              <a:srgbClr val="155982"/>
            </a:solidFill>
          </a:ln>
          <a:effectLst/>
        </p:spPr>
      </p:cxnSp>
      <p:sp>
        <p:nvSpPr>
          <p:cNvPr id="24" name="vision_tokens_to_cross_arrow"/>
          <p:cNvSpPr/>
          <p:nvPr/>
        </p:nvSpPr>
        <p:spPr>
          <a:xfrm>
            <a:off x="1625600" y="3129600"/>
            <a:ext cx="64000" cy="76800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5" y="0"/>
                </a:moveTo>
                <a:lnTo>
                  <a:pt x="10" y="12"/>
                </a:lnTo>
                <a:lnTo>
                  <a:pt x="0" y="12"/>
                </a:lnTo>
                <a:close/>
              </a:path>
            </a:pathLst>
          </a:custGeom>
          <a:solidFill>
            <a:srgbClr val="1559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5" name="audio_input_to_encoder_1"/>
          <p:cNvCxnSpPr/>
          <p:nvPr/>
        </p:nvCxnSpPr>
        <p:spPr>
          <a:xfrm flipV="1">
            <a:off x="4563200" y="4678399"/>
            <a:ext cx="0" cy="160000"/>
          </a:xfrm>
          <a:prstGeom prst="line">
            <a:avLst/>
          </a:prstGeom>
          <a:ln w="19199">
            <a:solidFill>
              <a:srgbClr val="82C846"/>
            </a:solidFill>
          </a:ln>
          <a:effectLst/>
        </p:spPr>
      </p:cxnSp>
      <p:sp>
        <p:nvSpPr>
          <p:cNvPr id="26" name="audio_input_to_encoder_arrow"/>
          <p:cNvSpPr/>
          <p:nvPr/>
        </p:nvSpPr>
        <p:spPr>
          <a:xfrm>
            <a:off x="4531200" y="4678399"/>
            <a:ext cx="64000" cy="76800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5" y="0"/>
                </a:moveTo>
                <a:lnTo>
                  <a:pt x="10" y="12"/>
                </a:lnTo>
                <a:lnTo>
                  <a:pt x="0" y="12"/>
                </a:lnTo>
                <a:close/>
              </a:path>
            </a:pathLst>
          </a:custGeom>
          <a:solidFill>
            <a:srgbClr val="82C84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audio_encoder_to_projector_1"/>
          <p:cNvCxnSpPr/>
          <p:nvPr/>
        </p:nvCxnSpPr>
        <p:spPr>
          <a:xfrm flipV="1">
            <a:off x="4563200" y="4153599"/>
            <a:ext cx="0" cy="121600"/>
          </a:xfrm>
          <a:prstGeom prst="line">
            <a:avLst/>
          </a:prstGeom>
          <a:ln w="19199">
            <a:solidFill>
              <a:srgbClr val="82C846"/>
            </a:solidFill>
          </a:ln>
          <a:effectLst/>
        </p:spPr>
      </p:cxnSp>
      <p:sp>
        <p:nvSpPr>
          <p:cNvPr id="28" name="audio_encoder_to_projector_arrow"/>
          <p:cNvSpPr/>
          <p:nvPr/>
        </p:nvSpPr>
        <p:spPr>
          <a:xfrm>
            <a:off x="4531200" y="4153599"/>
            <a:ext cx="64000" cy="76800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5" y="0"/>
                </a:moveTo>
                <a:lnTo>
                  <a:pt x="10" y="12"/>
                </a:lnTo>
                <a:lnTo>
                  <a:pt x="0" y="12"/>
                </a:lnTo>
                <a:close/>
              </a:path>
            </a:pathLst>
          </a:custGeom>
          <a:solidFill>
            <a:srgbClr val="82C84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9" name="audio_projector_to_tokens_1"/>
          <p:cNvCxnSpPr/>
          <p:nvPr/>
        </p:nvCxnSpPr>
        <p:spPr>
          <a:xfrm flipV="1">
            <a:off x="4563200" y="3571199"/>
            <a:ext cx="0" cy="185600"/>
          </a:xfrm>
          <a:prstGeom prst="line">
            <a:avLst/>
          </a:prstGeom>
          <a:ln w="19199">
            <a:solidFill>
              <a:srgbClr val="82C846"/>
            </a:solidFill>
          </a:ln>
          <a:effectLst/>
        </p:spPr>
      </p:cxnSp>
      <p:sp>
        <p:nvSpPr>
          <p:cNvPr id="30" name="audio_projector_to_tokens_arrow"/>
          <p:cNvSpPr/>
          <p:nvPr/>
        </p:nvSpPr>
        <p:spPr>
          <a:xfrm>
            <a:off x="4531200" y="3571199"/>
            <a:ext cx="64000" cy="76800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5" y="0"/>
                </a:moveTo>
                <a:lnTo>
                  <a:pt x="10" y="12"/>
                </a:lnTo>
                <a:lnTo>
                  <a:pt x="0" y="12"/>
                </a:lnTo>
                <a:close/>
              </a:path>
            </a:pathLst>
          </a:custGeom>
          <a:solidFill>
            <a:srgbClr val="82C84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1" name="audio_tokens_to_cross_1"/>
          <p:cNvCxnSpPr/>
          <p:nvPr/>
        </p:nvCxnSpPr>
        <p:spPr>
          <a:xfrm flipV="1">
            <a:off x="4563200" y="3104000"/>
            <a:ext cx="0" cy="160000"/>
          </a:xfrm>
          <a:prstGeom prst="line">
            <a:avLst/>
          </a:prstGeom>
          <a:ln w="19199">
            <a:solidFill>
              <a:srgbClr val="82C846"/>
            </a:solidFill>
          </a:ln>
          <a:effectLst/>
        </p:spPr>
      </p:cxnSp>
      <p:sp>
        <p:nvSpPr>
          <p:cNvPr id="32" name="audio_tokens_to_cross_arrow"/>
          <p:cNvSpPr/>
          <p:nvPr/>
        </p:nvSpPr>
        <p:spPr>
          <a:xfrm>
            <a:off x="4531200" y="3104000"/>
            <a:ext cx="64000" cy="76800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5" y="0"/>
                </a:moveTo>
                <a:lnTo>
                  <a:pt x="10" y="12"/>
                </a:lnTo>
                <a:lnTo>
                  <a:pt x="0" y="12"/>
                </a:lnTo>
                <a:close/>
              </a:path>
            </a:pathLst>
          </a:custGeom>
          <a:solidFill>
            <a:srgbClr val="82C84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3" name="speech_input_to_encoder_1"/>
          <p:cNvCxnSpPr/>
          <p:nvPr/>
        </p:nvCxnSpPr>
        <p:spPr>
          <a:xfrm flipV="1">
            <a:off x="7391999" y="4678399"/>
            <a:ext cx="0" cy="160000"/>
          </a:xfrm>
          <a:prstGeom prst="line">
            <a:avLst/>
          </a:prstGeom>
          <a:ln w="19199">
            <a:solidFill>
              <a:srgbClr val="EB7F32"/>
            </a:solidFill>
          </a:ln>
          <a:effectLst/>
        </p:spPr>
      </p:cxnSp>
      <p:sp>
        <p:nvSpPr>
          <p:cNvPr id="34" name="speech_input_to_encoder_arrow"/>
          <p:cNvSpPr/>
          <p:nvPr/>
        </p:nvSpPr>
        <p:spPr>
          <a:xfrm>
            <a:off x="7359999" y="4678399"/>
            <a:ext cx="64000" cy="76800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5" y="0"/>
                </a:moveTo>
                <a:lnTo>
                  <a:pt x="10" y="12"/>
                </a:lnTo>
                <a:lnTo>
                  <a:pt x="0" y="12"/>
                </a:lnTo>
                <a:close/>
              </a:path>
            </a:pathLst>
          </a:custGeom>
          <a:solidFill>
            <a:srgbClr val="EB7F3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5" name="speech_encoder_to_projector_1"/>
          <p:cNvCxnSpPr/>
          <p:nvPr/>
        </p:nvCxnSpPr>
        <p:spPr>
          <a:xfrm flipV="1">
            <a:off x="7391999" y="4159999"/>
            <a:ext cx="0" cy="115200"/>
          </a:xfrm>
          <a:prstGeom prst="line">
            <a:avLst/>
          </a:prstGeom>
          <a:ln w="19199">
            <a:solidFill>
              <a:srgbClr val="EB7F32"/>
            </a:solidFill>
          </a:ln>
          <a:effectLst/>
        </p:spPr>
      </p:cxnSp>
      <p:sp>
        <p:nvSpPr>
          <p:cNvPr id="36" name="speech_encoder_to_projector_arrow"/>
          <p:cNvSpPr/>
          <p:nvPr/>
        </p:nvSpPr>
        <p:spPr>
          <a:xfrm>
            <a:off x="7359999" y="4159999"/>
            <a:ext cx="64000" cy="76800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5" y="0"/>
                </a:moveTo>
                <a:lnTo>
                  <a:pt x="10" y="12"/>
                </a:lnTo>
                <a:lnTo>
                  <a:pt x="0" y="12"/>
                </a:lnTo>
                <a:close/>
              </a:path>
            </a:pathLst>
          </a:custGeom>
          <a:solidFill>
            <a:srgbClr val="EB7F3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" name="speech_projector_to_tokens_1"/>
          <p:cNvCxnSpPr/>
          <p:nvPr/>
        </p:nvCxnSpPr>
        <p:spPr>
          <a:xfrm flipV="1">
            <a:off x="7391999" y="3571199"/>
            <a:ext cx="0" cy="179200"/>
          </a:xfrm>
          <a:prstGeom prst="line">
            <a:avLst/>
          </a:prstGeom>
          <a:ln w="19199">
            <a:solidFill>
              <a:srgbClr val="EB7F32"/>
            </a:solidFill>
          </a:ln>
          <a:effectLst/>
        </p:spPr>
      </p:cxnSp>
      <p:sp>
        <p:nvSpPr>
          <p:cNvPr id="38" name="speech_projector_to_tokens_arrow"/>
          <p:cNvSpPr/>
          <p:nvPr/>
        </p:nvSpPr>
        <p:spPr>
          <a:xfrm>
            <a:off x="7359999" y="3571199"/>
            <a:ext cx="64000" cy="76800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5" y="0"/>
                </a:moveTo>
                <a:lnTo>
                  <a:pt x="10" y="12"/>
                </a:lnTo>
                <a:lnTo>
                  <a:pt x="0" y="12"/>
                </a:lnTo>
                <a:close/>
              </a:path>
            </a:pathLst>
          </a:custGeom>
          <a:solidFill>
            <a:srgbClr val="EB7F3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9" name="speech_tokens_to_cross_1"/>
          <p:cNvCxnSpPr/>
          <p:nvPr/>
        </p:nvCxnSpPr>
        <p:spPr>
          <a:xfrm flipV="1">
            <a:off x="7391999" y="3078400"/>
            <a:ext cx="0" cy="185600"/>
          </a:xfrm>
          <a:prstGeom prst="line">
            <a:avLst/>
          </a:prstGeom>
          <a:ln w="19199">
            <a:solidFill>
              <a:srgbClr val="EB7F32"/>
            </a:solidFill>
          </a:ln>
          <a:effectLst/>
        </p:spPr>
      </p:cxnSp>
      <p:sp>
        <p:nvSpPr>
          <p:cNvPr id="40" name="speech_tokens_to_cross_arrow"/>
          <p:cNvSpPr/>
          <p:nvPr/>
        </p:nvSpPr>
        <p:spPr>
          <a:xfrm>
            <a:off x="7359999" y="3078400"/>
            <a:ext cx="64000" cy="76800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5" y="0"/>
                </a:moveTo>
                <a:lnTo>
                  <a:pt x="10" y="12"/>
                </a:lnTo>
                <a:lnTo>
                  <a:pt x="0" y="12"/>
                </a:lnTo>
                <a:close/>
              </a:path>
            </a:pathLst>
          </a:custGeom>
          <a:solidFill>
            <a:srgbClr val="EB7F3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1" name="vision_cross_to_wv_1"/>
          <p:cNvCxnSpPr/>
          <p:nvPr/>
        </p:nvCxnSpPr>
        <p:spPr>
          <a:xfrm flipV="1">
            <a:off x="1657600" y="2105600"/>
            <a:ext cx="0" cy="614400"/>
          </a:xfrm>
          <a:prstGeom prst="line">
            <a:avLst/>
          </a:prstGeom>
          <a:ln w="17919">
            <a:solidFill>
              <a:srgbClr val="155982"/>
            </a:solidFill>
          </a:ln>
          <a:effectLst/>
        </p:spPr>
      </p:cxnSp>
      <p:cxnSp>
        <p:nvCxnSpPr>
          <p:cNvPr id="42" name="vision_cross_to_wv_2"/>
          <p:cNvCxnSpPr/>
          <p:nvPr/>
        </p:nvCxnSpPr>
        <p:spPr>
          <a:xfrm>
            <a:off x="1657600" y="2105600"/>
            <a:ext cx="499200" cy="0"/>
          </a:xfrm>
          <a:prstGeom prst="line">
            <a:avLst/>
          </a:prstGeom>
          <a:ln w="17919">
            <a:solidFill>
              <a:srgbClr val="155982"/>
            </a:solidFill>
          </a:ln>
          <a:effectLst/>
        </p:spPr>
      </p:cxnSp>
      <p:cxnSp>
        <p:nvCxnSpPr>
          <p:cNvPr id="43" name="wv_to_addition_1"/>
          <p:cNvCxnSpPr/>
          <p:nvPr/>
        </p:nvCxnSpPr>
        <p:spPr>
          <a:xfrm>
            <a:off x="2867200" y="2105600"/>
            <a:ext cx="1548800" cy="0"/>
          </a:xfrm>
          <a:prstGeom prst="line">
            <a:avLst/>
          </a:prstGeom>
          <a:ln w="17919">
            <a:solidFill>
              <a:srgbClr val="155982"/>
            </a:solidFill>
          </a:ln>
          <a:effectLst/>
        </p:spPr>
      </p:cxnSp>
      <p:sp>
        <p:nvSpPr>
          <p:cNvPr id="44" name="wv_to_addition_arrow"/>
          <p:cNvSpPr/>
          <p:nvPr/>
        </p:nvSpPr>
        <p:spPr>
          <a:xfrm>
            <a:off x="4339200" y="2073600"/>
            <a:ext cx="76800" cy="64000"/>
          </a:xfrm>
          <a:custGeom>
            <a:avLst/>
            <a:gdLst/>
            <a:ahLst/>
            <a:cxnLst/>
            <a:rect l="l" t="t" r="r" b="b"/>
            <a:pathLst>
              <a:path w="12" h="10">
                <a:moveTo>
                  <a:pt x="12" y="5"/>
                </a:moveTo>
                <a:lnTo>
                  <a:pt x="0" y="10"/>
                </a:lnTo>
                <a:lnTo>
                  <a:pt x="0" y="0"/>
                </a:lnTo>
                <a:close/>
              </a:path>
            </a:pathLst>
          </a:custGeom>
          <a:solidFill>
            <a:srgbClr val="15598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5" name="audio_cross_to_wa_1"/>
          <p:cNvCxnSpPr/>
          <p:nvPr/>
        </p:nvCxnSpPr>
        <p:spPr>
          <a:xfrm flipV="1">
            <a:off x="4563200" y="2604800"/>
            <a:ext cx="0" cy="89600"/>
          </a:xfrm>
          <a:prstGeom prst="line">
            <a:avLst/>
          </a:prstGeom>
          <a:ln w="19199">
            <a:solidFill>
              <a:srgbClr val="82C846"/>
            </a:solidFill>
          </a:ln>
          <a:effectLst/>
        </p:spPr>
      </p:cxnSp>
      <p:sp>
        <p:nvSpPr>
          <p:cNvPr id="46" name="audio_cross_to_wa_arrow"/>
          <p:cNvSpPr/>
          <p:nvPr/>
        </p:nvSpPr>
        <p:spPr>
          <a:xfrm>
            <a:off x="4531200" y="2604800"/>
            <a:ext cx="64000" cy="76800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5" y="0"/>
                </a:moveTo>
                <a:lnTo>
                  <a:pt x="10" y="12"/>
                </a:lnTo>
                <a:lnTo>
                  <a:pt x="0" y="12"/>
                </a:lnTo>
                <a:close/>
              </a:path>
            </a:pathLst>
          </a:custGeom>
          <a:solidFill>
            <a:srgbClr val="82C84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7" name="wa_to_addition_1"/>
          <p:cNvCxnSpPr/>
          <p:nvPr/>
        </p:nvCxnSpPr>
        <p:spPr>
          <a:xfrm flipV="1">
            <a:off x="4563200" y="2252800"/>
            <a:ext cx="0" cy="121600"/>
          </a:xfrm>
          <a:prstGeom prst="line">
            <a:avLst/>
          </a:prstGeom>
          <a:ln w="19199">
            <a:solidFill>
              <a:srgbClr val="82C846"/>
            </a:solidFill>
          </a:ln>
          <a:effectLst/>
        </p:spPr>
      </p:cxnSp>
      <p:sp>
        <p:nvSpPr>
          <p:cNvPr id="48" name="wa_to_addition_arrow"/>
          <p:cNvSpPr/>
          <p:nvPr/>
        </p:nvSpPr>
        <p:spPr>
          <a:xfrm>
            <a:off x="4531200" y="2252800"/>
            <a:ext cx="64000" cy="76800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5" y="0"/>
                </a:moveTo>
                <a:lnTo>
                  <a:pt x="10" y="12"/>
                </a:lnTo>
                <a:lnTo>
                  <a:pt x="0" y="12"/>
                </a:lnTo>
                <a:close/>
              </a:path>
            </a:pathLst>
          </a:custGeom>
          <a:solidFill>
            <a:srgbClr val="82C84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9" name="speech_cross_to_ws_1"/>
          <p:cNvCxnSpPr/>
          <p:nvPr/>
        </p:nvCxnSpPr>
        <p:spPr>
          <a:xfrm flipV="1">
            <a:off x="7391999" y="2105600"/>
            <a:ext cx="0" cy="569600"/>
          </a:xfrm>
          <a:prstGeom prst="line">
            <a:avLst/>
          </a:prstGeom>
          <a:ln w="17919">
            <a:solidFill>
              <a:srgbClr val="EB7F32"/>
            </a:solidFill>
          </a:ln>
          <a:effectLst/>
        </p:spPr>
      </p:cxnSp>
      <p:cxnSp>
        <p:nvCxnSpPr>
          <p:cNvPr id="50" name="speech_cross_to_ws_2"/>
          <p:cNvCxnSpPr/>
          <p:nvPr/>
        </p:nvCxnSpPr>
        <p:spPr>
          <a:xfrm flipH="1">
            <a:off x="7046399" y="2105600"/>
            <a:ext cx="345600" cy="0"/>
          </a:xfrm>
          <a:prstGeom prst="line">
            <a:avLst/>
          </a:prstGeom>
          <a:ln w="17919">
            <a:solidFill>
              <a:srgbClr val="EB7F32"/>
            </a:solidFill>
          </a:ln>
          <a:effectLst/>
        </p:spPr>
      </p:cxnSp>
      <p:cxnSp>
        <p:nvCxnSpPr>
          <p:cNvPr id="51" name="ws_to_addition_1"/>
          <p:cNvCxnSpPr/>
          <p:nvPr/>
        </p:nvCxnSpPr>
        <p:spPr>
          <a:xfrm flipH="1">
            <a:off x="4716800" y="2105600"/>
            <a:ext cx="1689599" cy="0"/>
          </a:xfrm>
          <a:prstGeom prst="line">
            <a:avLst/>
          </a:prstGeom>
          <a:ln w="17919">
            <a:solidFill>
              <a:srgbClr val="EB7F32"/>
            </a:solidFill>
          </a:ln>
          <a:effectLst/>
        </p:spPr>
      </p:cxnSp>
      <p:sp>
        <p:nvSpPr>
          <p:cNvPr id="52" name="ws_to_addition_arrow"/>
          <p:cNvSpPr/>
          <p:nvPr/>
        </p:nvSpPr>
        <p:spPr>
          <a:xfrm>
            <a:off x="4716800" y="2073600"/>
            <a:ext cx="76800" cy="64000"/>
          </a:xfrm>
          <a:custGeom>
            <a:avLst/>
            <a:gdLst/>
            <a:ahLst/>
            <a:cxnLst/>
            <a:rect l="l" t="t" r="r" b="b"/>
            <a:pathLst>
              <a:path w="12" h="10">
                <a:moveTo>
                  <a:pt x="0" y="5"/>
                </a:moveTo>
                <a:lnTo>
                  <a:pt x="12" y="0"/>
                </a:lnTo>
                <a:lnTo>
                  <a:pt x="12" y="10"/>
                </a:lnTo>
                <a:close/>
              </a:path>
            </a:pathLst>
          </a:custGeom>
          <a:solidFill>
            <a:srgbClr val="EB7F3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3" name="addition_to_concat_1"/>
          <p:cNvCxnSpPr/>
          <p:nvPr/>
        </p:nvCxnSpPr>
        <p:spPr>
          <a:xfrm flipV="1">
            <a:off x="4563200" y="1830400"/>
            <a:ext cx="0" cy="128000"/>
          </a:xfrm>
          <a:prstGeom prst="line">
            <a:avLst/>
          </a:prstGeom>
          <a:ln w="19199">
            <a:solidFill>
              <a:srgbClr val="82C846"/>
            </a:solidFill>
          </a:ln>
          <a:effectLst/>
        </p:spPr>
      </p:cxnSp>
      <p:sp>
        <p:nvSpPr>
          <p:cNvPr id="54" name="addition_to_concat_arrow"/>
          <p:cNvSpPr/>
          <p:nvPr/>
        </p:nvSpPr>
        <p:spPr>
          <a:xfrm>
            <a:off x="4531200" y="1830400"/>
            <a:ext cx="64000" cy="76800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5" y="0"/>
                </a:moveTo>
                <a:lnTo>
                  <a:pt x="10" y="12"/>
                </a:lnTo>
                <a:lnTo>
                  <a:pt x="0" y="12"/>
                </a:lnTo>
                <a:close/>
              </a:path>
            </a:pathLst>
          </a:custGeom>
          <a:solidFill>
            <a:srgbClr val="82C84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5" name="concat_to_mlp_1"/>
          <p:cNvCxnSpPr/>
          <p:nvPr/>
        </p:nvCxnSpPr>
        <p:spPr>
          <a:xfrm flipV="1">
            <a:off x="4563200" y="1452800"/>
            <a:ext cx="0" cy="147200"/>
          </a:xfrm>
          <a:prstGeom prst="line">
            <a:avLst/>
          </a:prstGeom>
          <a:ln w="19199">
            <a:solidFill>
              <a:srgbClr val="000000"/>
            </a:solidFill>
          </a:ln>
          <a:effectLst/>
        </p:spPr>
      </p:cxnSp>
      <p:sp>
        <p:nvSpPr>
          <p:cNvPr id="56" name="concat_to_mlp_arrow"/>
          <p:cNvSpPr/>
          <p:nvPr/>
        </p:nvSpPr>
        <p:spPr>
          <a:xfrm>
            <a:off x="4531200" y="1452800"/>
            <a:ext cx="64000" cy="76800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5" y="0"/>
                </a:moveTo>
                <a:lnTo>
                  <a:pt x="10" y="12"/>
                </a:lnTo>
                <a:lnTo>
                  <a:pt x="0" y="1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7" name="mlp_to_llm_1"/>
          <p:cNvCxnSpPr/>
          <p:nvPr/>
        </p:nvCxnSpPr>
        <p:spPr>
          <a:xfrm flipV="1">
            <a:off x="4563200" y="940800"/>
            <a:ext cx="0" cy="179200"/>
          </a:xfrm>
          <a:prstGeom prst="line">
            <a:avLst/>
          </a:prstGeom>
          <a:ln w="19199">
            <a:solidFill>
              <a:srgbClr val="000000"/>
            </a:solidFill>
          </a:ln>
          <a:effectLst/>
        </p:spPr>
      </p:cxnSp>
      <p:sp>
        <p:nvSpPr>
          <p:cNvPr id="58" name="mlp_to_llm_arrow"/>
          <p:cNvSpPr/>
          <p:nvPr/>
        </p:nvSpPr>
        <p:spPr>
          <a:xfrm>
            <a:off x="4531200" y="940800"/>
            <a:ext cx="64000" cy="76800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5" y="0"/>
                </a:moveTo>
                <a:lnTo>
                  <a:pt x="10" y="12"/>
                </a:lnTo>
                <a:lnTo>
                  <a:pt x="0" y="1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9" name="llm_to_time_head_1"/>
          <p:cNvCxnSpPr/>
          <p:nvPr/>
        </p:nvCxnSpPr>
        <p:spPr>
          <a:xfrm flipV="1">
            <a:off x="5817600" y="377600"/>
            <a:ext cx="0" cy="121600"/>
          </a:xfrm>
          <a:prstGeom prst="line">
            <a:avLst/>
          </a:prstGeom>
          <a:ln w="19199">
            <a:solidFill>
              <a:srgbClr val="000000"/>
            </a:solidFill>
          </a:ln>
          <a:effectLst/>
        </p:spPr>
      </p:cxnSp>
      <p:sp>
        <p:nvSpPr>
          <p:cNvPr id="60" name="llm_to_time_head_arrow"/>
          <p:cNvSpPr/>
          <p:nvPr/>
        </p:nvSpPr>
        <p:spPr>
          <a:xfrm>
            <a:off x="5785600" y="377600"/>
            <a:ext cx="64000" cy="76800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5" y="0"/>
                </a:moveTo>
                <a:lnTo>
                  <a:pt x="10" y="12"/>
                </a:lnTo>
                <a:lnTo>
                  <a:pt x="0" y="1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1" name="llm_to_lm_head_1"/>
          <p:cNvCxnSpPr/>
          <p:nvPr/>
        </p:nvCxnSpPr>
        <p:spPr>
          <a:xfrm flipV="1">
            <a:off x="7769599" y="377600"/>
            <a:ext cx="0" cy="121600"/>
          </a:xfrm>
          <a:prstGeom prst="line">
            <a:avLst/>
          </a:prstGeom>
          <a:ln w="19199">
            <a:solidFill>
              <a:srgbClr val="000000"/>
            </a:solidFill>
          </a:ln>
          <a:effectLst/>
        </p:spPr>
      </p:cxnSp>
      <p:sp>
        <p:nvSpPr>
          <p:cNvPr id="62" name="llm_to_lm_head_arrow"/>
          <p:cNvSpPr/>
          <p:nvPr/>
        </p:nvSpPr>
        <p:spPr>
          <a:xfrm>
            <a:off x="7731199" y="377600"/>
            <a:ext cx="76800" cy="76800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6" y="0"/>
                </a:moveTo>
                <a:lnTo>
                  <a:pt x="12" y="12"/>
                </a:lnTo>
                <a:lnTo>
                  <a:pt x="0" y="1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3" name="head_sync_1"/>
          <p:cNvCxnSpPr/>
          <p:nvPr/>
        </p:nvCxnSpPr>
        <p:spPr>
          <a:xfrm>
            <a:off x="6457599" y="249600"/>
            <a:ext cx="697600" cy="0"/>
          </a:xfrm>
          <a:prstGeom prst="line">
            <a:avLst/>
          </a:prstGeom>
          <a:ln w="15999">
            <a:solidFill>
              <a:srgbClr val="64155B"/>
            </a:solidFill>
            <a:prstDash val="dash"/>
          </a:ln>
          <a:effectLst/>
        </p:spPr>
      </p:cxnSp>
      <p:sp>
        <p:nvSpPr>
          <p:cNvPr id="64" name="head_sync_arrow"/>
          <p:cNvSpPr/>
          <p:nvPr/>
        </p:nvSpPr>
        <p:spPr>
          <a:xfrm>
            <a:off x="7078399" y="217600"/>
            <a:ext cx="76800" cy="64000"/>
          </a:xfrm>
          <a:custGeom>
            <a:avLst/>
            <a:gdLst/>
            <a:ahLst/>
            <a:cxnLst/>
            <a:rect l="l" t="t" r="r" b="b"/>
            <a:pathLst>
              <a:path w="12" h="10">
                <a:moveTo>
                  <a:pt x="12" y="5"/>
                </a:moveTo>
                <a:lnTo>
                  <a:pt x="0" y="10"/>
                </a:lnTo>
                <a:lnTo>
                  <a:pt x="0" y="0"/>
                </a:lnTo>
                <a:close/>
              </a:path>
            </a:pathLst>
          </a:custGeom>
          <a:solidFill>
            <a:srgbClr val="64155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5" name="query_to_tokenizer_1"/>
          <p:cNvCxnSpPr/>
          <p:nvPr/>
        </p:nvCxnSpPr>
        <p:spPr>
          <a:xfrm flipV="1">
            <a:off x="11155199" y="5439999"/>
            <a:ext cx="0" cy="268800"/>
          </a:xfrm>
          <a:prstGeom prst="line">
            <a:avLst/>
          </a:prstGeom>
          <a:ln w="19199">
            <a:solidFill>
              <a:srgbClr val="000000"/>
            </a:solidFill>
          </a:ln>
          <a:effectLst/>
        </p:spPr>
      </p:cxnSp>
      <p:sp>
        <p:nvSpPr>
          <p:cNvPr id="66" name="query_to_tokenizer_arrow"/>
          <p:cNvSpPr/>
          <p:nvPr/>
        </p:nvSpPr>
        <p:spPr>
          <a:xfrm>
            <a:off x="11123199" y="5439999"/>
            <a:ext cx="64000" cy="76800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5" y="0"/>
                </a:moveTo>
                <a:lnTo>
                  <a:pt x="10" y="12"/>
                </a:lnTo>
                <a:lnTo>
                  <a:pt x="0" y="1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7" name="tokenizer_to_text_tokens_1"/>
          <p:cNvCxnSpPr/>
          <p:nvPr/>
        </p:nvCxnSpPr>
        <p:spPr>
          <a:xfrm flipV="1">
            <a:off x="11155199" y="4748799"/>
            <a:ext cx="0" cy="275200"/>
          </a:xfrm>
          <a:prstGeom prst="line">
            <a:avLst/>
          </a:prstGeom>
          <a:ln w="19199">
            <a:solidFill>
              <a:srgbClr val="000000"/>
            </a:solidFill>
          </a:ln>
          <a:effectLst/>
        </p:spPr>
      </p:cxnSp>
      <p:sp>
        <p:nvSpPr>
          <p:cNvPr id="68" name="tokenizer_to_text_tokens_arrow"/>
          <p:cNvSpPr/>
          <p:nvPr/>
        </p:nvSpPr>
        <p:spPr>
          <a:xfrm>
            <a:off x="11123199" y="4748799"/>
            <a:ext cx="64000" cy="76800"/>
          </a:xfrm>
          <a:custGeom>
            <a:avLst/>
            <a:gdLst/>
            <a:ahLst/>
            <a:cxnLst/>
            <a:rect l="l" t="t" r="r" b="b"/>
            <a:pathLst>
              <a:path w="10" h="12">
                <a:moveTo>
                  <a:pt x="5" y="0"/>
                </a:moveTo>
                <a:lnTo>
                  <a:pt x="10" y="12"/>
                </a:lnTo>
                <a:lnTo>
                  <a:pt x="0" y="12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vision_media_boundary"/>
          <p:cNvSpPr/>
          <p:nvPr/>
        </p:nvSpPr>
        <p:spPr>
          <a:xfrm>
            <a:off x="179200" y="4838399"/>
            <a:ext cx="2880000" cy="569600"/>
          </a:xfrm>
          <a:prstGeom prst="rect">
            <a:avLst/>
          </a:prstGeom>
          <a:noFill/>
          <a:ln w="17919">
            <a:solidFill>
              <a:srgbClr val="155982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70" name="vision_still_1" descr="vision_still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600" y="4902399"/>
            <a:ext cx="857600" cy="441600"/>
          </a:xfrm>
          <a:prstGeom prst="rect">
            <a:avLst/>
          </a:prstGeom>
          <a:effectLst/>
        </p:spPr>
      </p:pic>
      <p:pic>
        <p:nvPicPr>
          <p:cNvPr id="71" name="vision_still_2" descr="vision_still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6400" y="4902399"/>
            <a:ext cx="812800" cy="441600"/>
          </a:xfrm>
          <a:prstGeom prst="rect">
            <a:avLst/>
          </a:prstGeom>
          <a:effectLst/>
        </p:spPr>
      </p:pic>
      <p:pic>
        <p:nvPicPr>
          <p:cNvPr id="72" name="vision_still_3" descr="vision_still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7600" y="4902399"/>
            <a:ext cx="844800" cy="441600"/>
          </a:xfrm>
          <a:prstGeom prst="rect">
            <a:avLst/>
          </a:prstGeom>
          <a:effectLst/>
        </p:spPr>
      </p:pic>
      <p:sp>
        <p:nvSpPr>
          <p:cNvPr id="73" name="vision_still_ellipsis"/>
          <p:cNvSpPr txBox="1"/>
          <p:nvPr/>
        </p:nvSpPr>
        <p:spPr>
          <a:xfrm>
            <a:off x="1920000" y="5011199"/>
            <a:ext cx="230400" cy="224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11" b="0" i="0">
                <a:solidFill>
                  <a:srgbClr val="000000"/>
                </a:solidFill>
                <a:latin typeface="URW Gothic"/>
              </a:rPr>
              <a:t>…</a:t>
            </a:r>
          </a:p>
        </p:txBody>
      </p:sp>
      <p:sp>
        <p:nvSpPr>
          <p:cNvPr id="74" name="audio_wave_boundary"/>
          <p:cNvSpPr/>
          <p:nvPr/>
        </p:nvSpPr>
        <p:spPr>
          <a:xfrm>
            <a:off x="3564800" y="4838399"/>
            <a:ext cx="2041600" cy="563200"/>
          </a:xfrm>
          <a:prstGeom prst="rect">
            <a:avLst/>
          </a:prstGeom>
          <a:solidFill>
            <a:srgbClr val="D9F1D1"/>
          </a:solidFill>
          <a:ln w="17919">
            <a:solidFill>
              <a:srgbClr val="2B6B20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speech_wave_boundary"/>
          <p:cNvSpPr/>
          <p:nvPr/>
        </p:nvSpPr>
        <p:spPr>
          <a:xfrm>
            <a:off x="6367999" y="4838399"/>
            <a:ext cx="2048000" cy="556800"/>
          </a:xfrm>
          <a:prstGeom prst="rect">
            <a:avLst/>
          </a:prstGeom>
          <a:solidFill>
            <a:srgbClr val="F7C5AC"/>
          </a:solidFill>
          <a:ln w="17919">
            <a:solidFill>
              <a:srgbClr val="9A3F16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6" name="audio_waveform_1"/>
          <p:cNvCxnSpPr/>
          <p:nvPr/>
        </p:nvCxnSpPr>
        <p:spPr>
          <a:xfrm>
            <a:off x="3641600" y="5073535"/>
            <a:ext cx="0" cy="92928"/>
          </a:xfrm>
          <a:prstGeom prst="line">
            <a:avLst/>
          </a:prstGeom>
          <a:ln w="26879">
            <a:solidFill>
              <a:srgbClr val="2B6B20"/>
            </a:solidFill>
          </a:ln>
          <a:effectLst/>
        </p:spPr>
      </p:cxnSp>
      <p:cxnSp>
        <p:nvCxnSpPr>
          <p:cNvPr id="77" name="audio_waveform_2"/>
          <p:cNvCxnSpPr/>
          <p:nvPr/>
        </p:nvCxnSpPr>
        <p:spPr>
          <a:xfrm>
            <a:off x="3691115" y="5046079"/>
            <a:ext cx="0" cy="147840"/>
          </a:xfrm>
          <a:prstGeom prst="line">
            <a:avLst/>
          </a:prstGeom>
          <a:ln w="26879">
            <a:solidFill>
              <a:srgbClr val="2B6B20"/>
            </a:solidFill>
          </a:ln>
          <a:effectLst/>
        </p:spPr>
      </p:cxnSp>
      <p:cxnSp>
        <p:nvCxnSpPr>
          <p:cNvPr id="78" name="audio_waveform_3"/>
          <p:cNvCxnSpPr/>
          <p:nvPr/>
        </p:nvCxnSpPr>
        <p:spPr>
          <a:xfrm>
            <a:off x="3740631" y="5016511"/>
            <a:ext cx="0" cy="206976"/>
          </a:xfrm>
          <a:prstGeom prst="line">
            <a:avLst/>
          </a:prstGeom>
          <a:ln w="26879">
            <a:solidFill>
              <a:srgbClr val="2B6B20"/>
            </a:solidFill>
          </a:ln>
          <a:effectLst/>
        </p:spPr>
      </p:cxnSp>
      <p:cxnSp>
        <p:nvCxnSpPr>
          <p:cNvPr id="79" name="audio_waveform_4"/>
          <p:cNvCxnSpPr/>
          <p:nvPr/>
        </p:nvCxnSpPr>
        <p:spPr>
          <a:xfrm>
            <a:off x="3790147" y="5060863"/>
            <a:ext cx="0" cy="118272"/>
          </a:xfrm>
          <a:prstGeom prst="line">
            <a:avLst/>
          </a:prstGeom>
          <a:ln w="26879">
            <a:solidFill>
              <a:srgbClr val="2B6B20"/>
            </a:solidFill>
          </a:ln>
          <a:effectLst/>
        </p:spPr>
      </p:cxnSp>
      <p:cxnSp>
        <p:nvCxnSpPr>
          <p:cNvPr id="80" name="audio_waveform_5"/>
          <p:cNvCxnSpPr/>
          <p:nvPr/>
        </p:nvCxnSpPr>
        <p:spPr>
          <a:xfrm>
            <a:off x="3839663" y="5005951"/>
            <a:ext cx="0" cy="228096"/>
          </a:xfrm>
          <a:prstGeom prst="line">
            <a:avLst/>
          </a:prstGeom>
          <a:ln w="26879">
            <a:solidFill>
              <a:srgbClr val="2B6B20"/>
            </a:solidFill>
          </a:ln>
          <a:effectLst/>
        </p:spPr>
      </p:cxnSp>
      <p:cxnSp>
        <p:nvCxnSpPr>
          <p:cNvPr id="81" name="audio_waveform_6"/>
          <p:cNvCxnSpPr/>
          <p:nvPr/>
        </p:nvCxnSpPr>
        <p:spPr>
          <a:xfrm>
            <a:off x="3889179" y="5039743"/>
            <a:ext cx="0" cy="160512"/>
          </a:xfrm>
          <a:prstGeom prst="line">
            <a:avLst/>
          </a:prstGeom>
          <a:ln w="26879">
            <a:solidFill>
              <a:srgbClr val="2B6B20"/>
            </a:solidFill>
          </a:ln>
          <a:effectLst/>
        </p:spPr>
      </p:cxnSp>
      <p:cxnSp>
        <p:nvCxnSpPr>
          <p:cNvPr id="82" name="audio_waveform_7"/>
          <p:cNvCxnSpPr/>
          <p:nvPr/>
        </p:nvCxnSpPr>
        <p:spPr>
          <a:xfrm>
            <a:off x="3938694" y="4980607"/>
            <a:ext cx="0" cy="278784"/>
          </a:xfrm>
          <a:prstGeom prst="line">
            <a:avLst/>
          </a:prstGeom>
          <a:ln w="26879">
            <a:solidFill>
              <a:srgbClr val="2B6B20"/>
            </a:solidFill>
          </a:ln>
          <a:effectLst/>
        </p:spPr>
      </p:cxnSp>
      <p:cxnSp>
        <p:nvCxnSpPr>
          <p:cNvPr id="83" name="audio_waveform_8"/>
          <p:cNvCxnSpPr/>
          <p:nvPr/>
        </p:nvCxnSpPr>
        <p:spPr>
          <a:xfrm>
            <a:off x="3988210" y="5031295"/>
            <a:ext cx="0" cy="177408"/>
          </a:xfrm>
          <a:prstGeom prst="line">
            <a:avLst/>
          </a:prstGeom>
          <a:ln w="26879">
            <a:solidFill>
              <a:srgbClr val="2B6B20"/>
            </a:solidFill>
          </a:ln>
          <a:effectLst/>
        </p:spPr>
      </p:cxnSp>
      <p:cxnSp>
        <p:nvCxnSpPr>
          <p:cNvPr id="84" name="audio_waveform_9"/>
          <p:cNvCxnSpPr/>
          <p:nvPr/>
        </p:nvCxnSpPr>
        <p:spPr>
          <a:xfrm>
            <a:off x="4037726" y="5069311"/>
            <a:ext cx="0" cy="101376"/>
          </a:xfrm>
          <a:prstGeom prst="line">
            <a:avLst/>
          </a:prstGeom>
          <a:ln w="26879">
            <a:solidFill>
              <a:srgbClr val="2B6B20"/>
            </a:solidFill>
          </a:ln>
          <a:effectLst/>
        </p:spPr>
      </p:cxnSp>
      <p:cxnSp>
        <p:nvCxnSpPr>
          <p:cNvPr id="85" name="audio_waveform_10"/>
          <p:cNvCxnSpPr/>
          <p:nvPr/>
        </p:nvCxnSpPr>
        <p:spPr>
          <a:xfrm>
            <a:off x="4087242" y="5012287"/>
            <a:ext cx="0" cy="215424"/>
          </a:xfrm>
          <a:prstGeom prst="line">
            <a:avLst/>
          </a:prstGeom>
          <a:ln w="26879">
            <a:solidFill>
              <a:srgbClr val="2B6B20"/>
            </a:solidFill>
          </a:ln>
          <a:effectLst/>
        </p:spPr>
      </p:cxnSp>
      <p:cxnSp>
        <p:nvCxnSpPr>
          <p:cNvPr id="86" name="audio_waveform_11"/>
          <p:cNvCxnSpPr/>
          <p:nvPr/>
        </p:nvCxnSpPr>
        <p:spPr>
          <a:xfrm>
            <a:off x="4136758" y="5043967"/>
            <a:ext cx="0" cy="152064"/>
          </a:xfrm>
          <a:prstGeom prst="line">
            <a:avLst/>
          </a:prstGeom>
          <a:ln w="26879">
            <a:solidFill>
              <a:srgbClr val="2B6B20"/>
            </a:solidFill>
          </a:ln>
          <a:effectLst/>
        </p:spPr>
      </p:cxnSp>
      <p:cxnSp>
        <p:nvCxnSpPr>
          <p:cNvPr id="87" name="audio_waveform_12"/>
          <p:cNvCxnSpPr/>
          <p:nvPr/>
        </p:nvCxnSpPr>
        <p:spPr>
          <a:xfrm>
            <a:off x="4186273" y="4991167"/>
            <a:ext cx="0" cy="257664"/>
          </a:xfrm>
          <a:prstGeom prst="line">
            <a:avLst/>
          </a:prstGeom>
          <a:ln w="26879">
            <a:solidFill>
              <a:srgbClr val="2B6B20"/>
            </a:solidFill>
          </a:ln>
          <a:effectLst/>
        </p:spPr>
      </p:cxnSp>
      <p:cxnSp>
        <p:nvCxnSpPr>
          <p:cNvPr id="88" name="audio_waveform_13"/>
          <p:cNvCxnSpPr/>
          <p:nvPr/>
        </p:nvCxnSpPr>
        <p:spPr>
          <a:xfrm>
            <a:off x="4235789" y="5027071"/>
            <a:ext cx="0" cy="185856"/>
          </a:xfrm>
          <a:prstGeom prst="line">
            <a:avLst/>
          </a:prstGeom>
          <a:ln w="26879">
            <a:solidFill>
              <a:srgbClr val="2B6B20"/>
            </a:solidFill>
          </a:ln>
          <a:effectLst/>
        </p:spPr>
      </p:cxnSp>
      <p:cxnSp>
        <p:nvCxnSpPr>
          <p:cNvPr id="89" name="audio_waveform_14"/>
          <p:cNvCxnSpPr/>
          <p:nvPr/>
        </p:nvCxnSpPr>
        <p:spPr>
          <a:xfrm>
            <a:off x="4285305" y="5062975"/>
            <a:ext cx="0" cy="114048"/>
          </a:xfrm>
          <a:prstGeom prst="line">
            <a:avLst/>
          </a:prstGeom>
          <a:ln w="26879">
            <a:solidFill>
              <a:srgbClr val="2B6B20"/>
            </a:solidFill>
          </a:ln>
          <a:effectLst/>
        </p:spPr>
      </p:cxnSp>
      <p:cxnSp>
        <p:nvCxnSpPr>
          <p:cNvPr id="90" name="audio_waveform_15"/>
          <p:cNvCxnSpPr/>
          <p:nvPr/>
        </p:nvCxnSpPr>
        <p:spPr>
          <a:xfrm>
            <a:off x="4334821" y="4997503"/>
            <a:ext cx="0" cy="244992"/>
          </a:xfrm>
          <a:prstGeom prst="line">
            <a:avLst/>
          </a:prstGeom>
          <a:ln w="26879">
            <a:solidFill>
              <a:srgbClr val="2B6B20"/>
            </a:solidFill>
          </a:ln>
          <a:effectLst/>
        </p:spPr>
      </p:cxnSp>
      <p:cxnSp>
        <p:nvCxnSpPr>
          <p:cNvPr id="91" name="audio_waveform_16"/>
          <p:cNvCxnSpPr/>
          <p:nvPr/>
        </p:nvCxnSpPr>
        <p:spPr>
          <a:xfrm>
            <a:off x="4384336" y="5037631"/>
            <a:ext cx="0" cy="164736"/>
          </a:xfrm>
          <a:prstGeom prst="line">
            <a:avLst/>
          </a:prstGeom>
          <a:ln w="26879">
            <a:solidFill>
              <a:srgbClr val="2B6B20"/>
            </a:solidFill>
          </a:ln>
          <a:effectLst/>
        </p:spPr>
      </p:cxnSp>
      <p:cxnSp>
        <p:nvCxnSpPr>
          <p:cNvPr id="92" name="audio_waveform_17"/>
          <p:cNvCxnSpPr/>
          <p:nvPr/>
        </p:nvCxnSpPr>
        <p:spPr>
          <a:xfrm>
            <a:off x="4433852" y="4976383"/>
            <a:ext cx="0" cy="287232"/>
          </a:xfrm>
          <a:prstGeom prst="line">
            <a:avLst/>
          </a:prstGeom>
          <a:ln w="26879">
            <a:solidFill>
              <a:srgbClr val="2B6B20"/>
            </a:solidFill>
          </a:ln>
          <a:effectLst/>
        </p:spPr>
      </p:cxnSp>
      <p:cxnSp>
        <p:nvCxnSpPr>
          <p:cNvPr id="93" name="audio_waveform_18"/>
          <p:cNvCxnSpPr/>
          <p:nvPr/>
        </p:nvCxnSpPr>
        <p:spPr>
          <a:xfrm>
            <a:off x="4483368" y="5020735"/>
            <a:ext cx="0" cy="198528"/>
          </a:xfrm>
          <a:prstGeom prst="line">
            <a:avLst/>
          </a:prstGeom>
          <a:ln w="26879">
            <a:solidFill>
              <a:srgbClr val="2B6B20"/>
            </a:solidFill>
          </a:ln>
          <a:effectLst/>
        </p:spPr>
      </p:cxnSp>
      <p:cxnSp>
        <p:nvCxnSpPr>
          <p:cNvPr id="94" name="audio_waveform_19"/>
          <p:cNvCxnSpPr/>
          <p:nvPr/>
        </p:nvCxnSpPr>
        <p:spPr>
          <a:xfrm>
            <a:off x="4532884" y="5067199"/>
            <a:ext cx="0" cy="105600"/>
          </a:xfrm>
          <a:prstGeom prst="line">
            <a:avLst/>
          </a:prstGeom>
          <a:ln w="26879">
            <a:solidFill>
              <a:srgbClr val="2B6B20"/>
            </a:solidFill>
          </a:ln>
          <a:effectLst/>
        </p:spPr>
      </p:cxnSp>
      <p:cxnSp>
        <p:nvCxnSpPr>
          <p:cNvPr id="95" name="audio_waveform_20"/>
          <p:cNvCxnSpPr/>
          <p:nvPr/>
        </p:nvCxnSpPr>
        <p:spPr>
          <a:xfrm>
            <a:off x="4582400" y="5008063"/>
            <a:ext cx="0" cy="223872"/>
          </a:xfrm>
          <a:prstGeom prst="line">
            <a:avLst/>
          </a:prstGeom>
          <a:ln w="26879">
            <a:solidFill>
              <a:srgbClr val="2B6B20"/>
            </a:solidFill>
          </a:ln>
          <a:effectLst/>
        </p:spPr>
      </p:cxnSp>
      <p:cxnSp>
        <p:nvCxnSpPr>
          <p:cNvPr id="96" name="audio_waveform_21"/>
          <p:cNvCxnSpPr/>
          <p:nvPr/>
        </p:nvCxnSpPr>
        <p:spPr>
          <a:xfrm>
            <a:off x="4631915" y="5041855"/>
            <a:ext cx="0" cy="156288"/>
          </a:xfrm>
          <a:prstGeom prst="line">
            <a:avLst/>
          </a:prstGeom>
          <a:ln w="26879">
            <a:solidFill>
              <a:srgbClr val="2B6B20"/>
            </a:solidFill>
          </a:ln>
          <a:effectLst/>
        </p:spPr>
      </p:cxnSp>
      <p:cxnSp>
        <p:nvCxnSpPr>
          <p:cNvPr id="97" name="audio_waveform_22"/>
          <p:cNvCxnSpPr/>
          <p:nvPr/>
        </p:nvCxnSpPr>
        <p:spPr>
          <a:xfrm>
            <a:off x="4681431" y="4986943"/>
            <a:ext cx="0" cy="266112"/>
          </a:xfrm>
          <a:prstGeom prst="line">
            <a:avLst/>
          </a:prstGeom>
          <a:ln w="26879">
            <a:solidFill>
              <a:srgbClr val="2B6B20"/>
            </a:solidFill>
          </a:ln>
          <a:effectLst/>
        </p:spPr>
      </p:cxnSp>
      <p:cxnSp>
        <p:nvCxnSpPr>
          <p:cNvPr id="98" name="audio_waveform_23"/>
          <p:cNvCxnSpPr/>
          <p:nvPr/>
        </p:nvCxnSpPr>
        <p:spPr>
          <a:xfrm>
            <a:off x="4730947" y="5033407"/>
            <a:ext cx="0" cy="173184"/>
          </a:xfrm>
          <a:prstGeom prst="line">
            <a:avLst/>
          </a:prstGeom>
          <a:ln w="26879">
            <a:solidFill>
              <a:srgbClr val="2B6B20"/>
            </a:solidFill>
          </a:ln>
          <a:effectLst/>
        </p:spPr>
      </p:cxnSp>
      <p:cxnSp>
        <p:nvCxnSpPr>
          <p:cNvPr id="99" name="audio_waveform_24"/>
          <p:cNvCxnSpPr/>
          <p:nvPr/>
        </p:nvCxnSpPr>
        <p:spPr>
          <a:xfrm>
            <a:off x="4780463" y="5058751"/>
            <a:ext cx="0" cy="122496"/>
          </a:xfrm>
          <a:prstGeom prst="line">
            <a:avLst/>
          </a:prstGeom>
          <a:ln w="26879">
            <a:solidFill>
              <a:srgbClr val="2B6B20"/>
            </a:solidFill>
          </a:ln>
          <a:effectLst/>
        </p:spPr>
      </p:cxnSp>
      <p:cxnSp>
        <p:nvCxnSpPr>
          <p:cNvPr id="100" name="audio_waveform_25"/>
          <p:cNvCxnSpPr/>
          <p:nvPr/>
        </p:nvCxnSpPr>
        <p:spPr>
          <a:xfrm>
            <a:off x="4829979" y="5001727"/>
            <a:ext cx="0" cy="236544"/>
          </a:xfrm>
          <a:prstGeom prst="line">
            <a:avLst/>
          </a:prstGeom>
          <a:ln w="26879">
            <a:solidFill>
              <a:srgbClr val="2B6B20"/>
            </a:solidFill>
          </a:ln>
          <a:effectLst/>
        </p:spPr>
      </p:cxnSp>
      <p:cxnSp>
        <p:nvCxnSpPr>
          <p:cNvPr id="101" name="audio_waveform_26"/>
          <p:cNvCxnSpPr/>
          <p:nvPr/>
        </p:nvCxnSpPr>
        <p:spPr>
          <a:xfrm>
            <a:off x="4879494" y="5048191"/>
            <a:ext cx="0" cy="143616"/>
          </a:xfrm>
          <a:prstGeom prst="line">
            <a:avLst/>
          </a:prstGeom>
          <a:ln w="26879">
            <a:solidFill>
              <a:srgbClr val="2B6B20"/>
            </a:solidFill>
          </a:ln>
          <a:effectLst/>
        </p:spPr>
      </p:cxnSp>
      <p:cxnSp>
        <p:nvCxnSpPr>
          <p:cNvPr id="102" name="audio_waveform_27"/>
          <p:cNvCxnSpPr/>
          <p:nvPr/>
        </p:nvCxnSpPr>
        <p:spPr>
          <a:xfrm>
            <a:off x="4929010" y="4982719"/>
            <a:ext cx="0" cy="274560"/>
          </a:xfrm>
          <a:prstGeom prst="line">
            <a:avLst/>
          </a:prstGeom>
          <a:ln w="26879">
            <a:solidFill>
              <a:srgbClr val="2B6B20"/>
            </a:solidFill>
          </a:ln>
          <a:effectLst/>
        </p:spPr>
      </p:cxnSp>
      <p:cxnSp>
        <p:nvCxnSpPr>
          <p:cNvPr id="103" name="audio_waveform_28"/>
          <p:cNvCxnSpPr/>
          <p:nvPr/>
        </p:nvCxnSpPr>
        <p:spPr>
          <a:xfrm>
            <a:off x="4978526" y="5024959"/>
            <a:ext cx="0" cy="190080"/>
          </a:xfrm>
          <a:prstGeom prst="line">
            <a:avLst/>
          </a:prstGeom>
          <a:ln w="26879">
            <a:solidFill>
              <a:srgbClr val="2B6B20"/>
            </a:solidFill>
          </a:ln>
          <a:effectLst/>
        </p:spPr>
      </p:cxnSp>
      <p:cxnSp>
        <p:nvCxnSpPr>
          <p:cNvPr id="104" name="audio_waveform_29"/>
          <p:cNvCxnSpPr/>
          <p:nvPr/>
        </p:nvCxnSpPr>
        <p:spPr>
          <a:xfrm>
            <a:off x="5028042" y="5065087"/>
            <a:ext cx="0" cy="109824"/>
          </a:xfrm>
          <a:prstGeom prst="line">
            <a:avLst/>
          </a:prstGeom>
          <a:ln w="26879">
            <a:solidFill>
              <a:srgbClr val="2B6B20"/>
            </a:solidFill>
          </a:ln>
          <a:effectLst/>
        </p:spPr>
      </p:cxnSp>
      <p:cxnSp>
        <p:nvCxnSpPr>
          <p:cNvPr id="105" name="audio_waveform_30"/>
          <p:cNvCxnSpPr/>
          <p:nvPr/>
        </p:nvCxnSpPr>
        <p:spPr>
          <a:xfrm>
            <a:off x="5077557" y="5010175"/>
            <a:ext cx="0" cy="219648"/>
          </a:xfrm>
          <a:prstGeom prst="line">
            <a:avLst/>
          </a:prstGeom>
          <a:ln w="26879">
            <a:solidFill>
              <a:srgbClr val="2B6B20"/>
            </a:solidFill>
          </a:ln>
          <a:effectLst/>
        </p:spPr>
      </p:cxnSp>
      <p:cxnSp>
        <p:nvCxnSpPr>
          <p:cNvPr id="106" name="audio_waveform_31"/>
          <p:cNvCxnSpPr/>
          <p:nvPr/>
        </p:nvCxnSpPr>
        <p:spPr>
          <a:xfrm>
            <a:off x="5127073" y="5039743"/>
            <a:ext cx="0" cy="160512"/>
          </a:xfrm>
          <a:prstGeom prst="line">
            <a:avLst/>
          </a:prstGeom>
          <a:ln w="26879">
            <a:solidFill>
              <a:srgbClr val="2B6B20"/>
            </a:solidFill>
          </a:ln>
          <a:effectLst/>
        </p:spPr>
      </p:cxnSp>
      <p:cxnSp>
        <p:nvCxnSpPr>
          <p:cNvPr id="107" name="audio_waveform_32"/>
          <p:cNvCxnSpPr/>
          <p:nvPr/>
        </p:nvCxnSpPr>
        <p:spPr>
          <a:xfrm>
            <a:off x="5176589" y="4993279"/>
            <a:ext cx="0" cy="253440"/>
          </a:xfrm>
          <a:prstGeom prst="line">
            <a:avLst/>
          </a:prstGeom>
          <a:ln w="26879">
            <a:solidFill>
              <a:srgbClr val="2B6B20"/>
            </a:solidFill>
          </a:ln>
          <a:effectLst/>
        </p:spPr>
      </p:cxnSp>
      <p:cxnSp>
        <p:nvCxnSpPr>
          <p:cNvPr id="108" name="audio_waveform_33"/>
          <p:cNvCxnSpPr/>
          <p:nvPr/>
        </p:nvCxnSpPr>
        <p:spPr>
          <a:xfrm>
            <a:off x="5226105" y="5029183"/>
            <a:ext cx="0" cy="181632"/>
          </a:xfrm>
          <a:prstGeom prst="line">
            <a:avLst/>
          </a:prstGeom>
          <a:ln w="26879">
            <a:solidFill>
              <a:srgbClr val="2B6B20"/>
            </a:solidFill>
          </a:ln>
          <a:effectLst/>
        </p:spPr>
      </p:cxnSp>
      <p:cxnSp>
        <p:nvCxnSpPr>
          <p:cNvPr id="109" name="audio_waveform_34"/>
          <p:cNvCxnSpPr/>
          <p:nvPr/>
        </p:nvCxnSpPr>
        <p:spPr>
          <a:xfrm>
            <a:off x="5275621" y="5054527"/>
            <a:ext cx="0" cy="130944"/>
          </a:xfrm>
          <a:prstGeom prst="line">
            <a:avLst/>
          </a:prstGeom>
          <a:ln w="26879">
            <a:solidFill>
              <a:srgbClr val="2B6B20"/>
            </a:solidFill>
          </a:ln>
          <a:effectLst/>
        </p:spPr>
      </p:cxnSp>
      <p:cxnSp>
        <p:nvCxnSpPr>
          <p:cNvPr id="110" name="audio_waveform_35"/>
          <p:cNvCxnSpPr/>
          <p:nvPr/>
        </p:nvCxnSpPr>
        <p:spPr>
          <a:xfrm>
            <a:off x="5325136" y="5003839"/>
            <a:ext cx="0" cy="232320"/>
          </a:xfrm>
          <a:prstGeom prst="line">
            <a:avLst/>
          </a:prstGeom>
          <a:ln w="26879">
            <a:solidFill>
              <a:srgbClr val="2B6B20"/>
            </a:solidFill>
          </a:ln>
          <a:effectLst/>
        </p:spPr>
      </p:cxnSp>
      <p:cxnSp>
        <p:nvCxnSpPr>
          <p:cNvPr id="111" name="audio_waveform_36"/>
          <p:cNvCxnSpPr/>
          <p:nvPr/>
        </p:nvCxnSpPr>
        <p:spPr>
          <a:xfrm>
            <a:off x="5374652" y="5046079"/>
            <a:ext cx="0" cy="147840"/>
          </a:xfrm>
          <a:prstGeom prst="line">
            <a:avLst/>
          </a:prstGeom>
          <a:ln w="26879">
            <a:solidFill>
              <a:srgbClr val="2B6B20"/>
            </a:solidFill>
          </a:ln>
          <a:effectLst/>
        </p:spPr>
      </p:cxnSp>
      <p:cxnSp>
        <p:nvCxnSpPr>
          <p:cNvPr id="112" name="audio_waveform_37"/>
          <p:cNvCxnSpPr/>
          <p:nvPr/>
        </p:nvCxnSpPr>
        <p:spPr>
          <a:xfrm>
            <a:off x="5424168" y="5018623"/>
            <a:ext cx="0" cy="202752"/>
          </a:xfrm>
          <a:prstGeom prst="line">
            <a:avLst/>
          </a:prstGeom>
          <a:ln w="26879">
            <a:solidFill>
              <a:srgbClr val="2B6B20"/>
            </a:solidFill>
          </a:ln>
          <a:effectLst/>
        </p:spPr>
      </p:cxnSp>
      <p:cxnSp>
        <p:nvCxnSpPr>
          <p:cNvPr id="113" name="audio_waveform_38"/>
          <p:cNvCxnSpPr/>
          <p:nvPr/>
        </p:nvCxnSpPr>
        <p:spPr>
          <a:xfrm>
            <a:off x="5473684" y="5065087"/>
            <a:ext cx="0" cy="109824"/>
          </a:xfrm>
          <a:prstGeom prst="line">
            <a:avLst/>
          </a:prstGeom>
          <a:ln w="26879">
            <a:solidFill>
              <a:srgbClr val="2B6B20"/>
            </a:solidFill>
          </a:ln>
          <a:effectLst/>
        </p:spPr>
      </p:cxnSp>
      <p:cxnSp>
        <p:nvCxnSpPr>
          <p:cNvPr id="114" name="audio_waveform_39"/>
          <p:cNvCxnSpPr/>
          <p:nvPr/>
        </p:nvCxnSpPr>
        <p:spPr>
          <a:xfrm>
            <a:off x="5523200" y="5033407"/>
            <a:ext cx="0" cy="173184"/>
          </a:xfrm>
          <a:prstGeom prst="line">
            <a:avLst/>
          </a:prstGeom>
          <a:ln w="26879">
            <a:solidFill>
              <a:srgbClr val="2B6B20"/>
            </a:solidFill>
          </a:ln>
          <a:effectLst/>
        </p:spPr>
      </p:cxnSp>
      <p:cxnSp>
        <p:nvCxnSpPr>
          <p:cNvPr id="115" name="speech_waveform_1"/>
          <p:cNvCxnSpPr/>
          <p:nvPr/>
        </p:nvCxnSpPr>
        <p:spPr>
          <a:xfrm>
            <a:off x="6444799" y="5048127"/>
            <a:ext cx="0" cy="130944"/>
          </a:xfrm>
          <a:prstGeom prst="line">
            <a:avLst/>
          </a:prstGeom>
          <a:ln w="26879">
            <a:solidFill>
              <a:srgbClr val="9A3F16"/>
            </a:solidFill>
          </a:ln>
          <a:effectLst/>
        </p:spPr>
      </p:cxnSp>
      <p:cxnSp>
        <p:nvCxnSpPr>
          <p:cNvPr id="116" name="speech_waveform_2"/>
          <p:cNvCxnSpPr/>
          <p:nvPr/>
        </p:nvCxnSpPr>
        <p:spPr>
          <a:xfrm>
            <a:off x="6494652" y="5003775"/>
            <a:ext cx="0" cy="219648"/>
          </a:xfrm>
          <a:prstGeom prst="line">
            <a:avLst/>
          </a:prstGeom>
          <a:ln w="26879">
            <a:solidFill>
              <a:srgbClr val="9A3F16"/>
            </a:solidFill>
          </a:ln>
          <a:effectLst/>
        </p:spPr>
      </p:cxnSp>
      <p:cxnSp>
        <p:nvCxnSpPr>
          <p:cNvPr id="117" name="speech_waveform_3"/>
          <p:cNvCxnSpPr/>
          <p:nvPr/>
        </p:nvCxnSpPr>
        <p:spPr>
          <a:xfrm>
            <a:off x="6544505" y="4972095"/>
            <a:ext cx="0" cy="283008"/>
          </a:xfrm>
          <a:prstGeom prst="line">
            <a:avLst/>
          </a:prstGeom>
          <a:ln w="26879">
            <a:solidFill>
              <a:srgbClr val="9A3F16"/>
            </a:solidFill>
          </a:ln>
          <a:effectLst/>
        </p:spPr>
      </p:cxnSp>
      <p:cxnSp>
        <p:nvCxnSpPr>
          <p:cNvPr id="118" name="speech_waveform_4"/>
          <p:cNvCxnSpPr/>
          <p:nvPr/>
        </p:nvCxnSpPr>
        <p:spPr>
          <a:xfrm>
            <a:off x="6594357" y="5033343"/>
            <a:ext cx="0" cy="160512"/>
          </a:xfrm>
          <a:prstGeom prst="line">
            <a:avLst/>
          </a:prstGeom>
          <a:ln w="26879">
            <a:solidFill>
              <a:srgbClr val="9A3F16"/>
            </a:solidFill>
          </a:ln>
          <a:effectLst/>
        </p:spPr>
      </p:cxnSp>
      <p:cxnSp>
        <p:nvCxnSpPr>
          <p:cNvPr id="119" name="speech_waveform_5"/>
          <p:cNvCxnSpPr/>
          <p:nvPr/>
        </p:nvCxnSpPr>
        <p:spPr>
          <a:xfrm>
            <a:off x="6644210" y="4991103"/>
            <a:ext cx="0" cy="244992"/>
          </a:xfrm>
          <a:prstGeom prst="line">
            <a:avLst/>
          </a:prstGeom>
          <a:ln w="26879">
            <a:solidFill>
              <a:srgbClr val="9A3F16"/>
            </a:solidFill>
          </a:ln>
          <a:effectLst/>
        </p:spPr>
      </p:cxnSp>
      <p:cxnSp>
        <p:nvCxnSpPr>
          <p:cNvPr id="120" name="speech_waveform_6"/>
          <p:cNvCxnSpPr/>
          <p:nvPr/>
        </p:nvCxnSpPr>
        <p:spPr>
          <a:xfrm>
            <a:off x="6694063" y="5022783"/>
            <a:ext cx="0" cy="181632"/>
          </a:xfrm>
          <a:prstGeom prst="line">
            <a:avLst/>
          </a:prstGeom>
          <a:ln w="26879">
            <a:solidFill>
              <a:srgbClr val="9A3F16"/>
            </a:solidFill>
          </a:ln>
          <a:effectLst/>
        </p:spPr>
      </p:cxnSp>
      <p:cxnSp>
        <p:nvCxnSpPr>
          <p:cNvPr id="121" name="speech_waveform_7"/>
          <p:cNvCxnSpPr/>
          <p:nvPr/>
        </p:nvCxnSpPr>
        <p:spPr>
          <a:xfrm>
            <a:off x="6743915" y="4959423"/>
            <a:ext cx="0" cy="308352"/>
          </a:xfrm>
          <a:prstGeom prst="line">
            <a:avLst/>
          </a:prstGeom>
          <a:ln w="26879">
            <a:solidFill>
              <a:srgbClr val="9A3F16"/>
            </a:solidFill>
          </a:ln>
          <a:effectLst/>
        </p:spPr>
      </p:cxnSp>
      <p:cxnSp>
        <p:nvCxnSpPr>
          <p:cNvPr id="122" name="speech_waveform_8"/>
          <p:cNvCxnSpPr/>
          <p:nvPr/>
        </p:nvCxnSpPr>
        <p:spPr>
          <a:xfrm>
            <a:off x="6793768" y="5010111"/>
            <a:ext cx="0" cy="206976"/>
          </a:xfrm>
          <a:prstGeom prst="line">
            <a:avLst/>
          </a:prstGeom>
          <a:ln w="26879">
            <a:solidFill>
              <a:srgbClr val="9A3F16"/>
            </a:solidFill>
          </a:ln>
          <a:effectLst/>
        </p:spPr>
      </p:cxnSp>
      <p:cxnSp>
        <p:nvCxnSpPr>
          <p:cNvPr id="123" name="speech_waveform_9"/>
          <p:cNvCxnSpPr/>
          <p:nvPr/>
        </p:nvCxnSpPr>
        <p:spPr>
          <a:xfrm>
            <a:off x="6843620" y="5052351"/>
            <a:ext cx="0" cy="122496"/>
          </a:xfrm>
          <a:prstGeom prst="line">
            <a:avLst/>
          </a:prstGeom>
          <a:ln w="26879">
            <a:solidFill>
              <a:srgbClr val="9A3F16"/>
            </a:solidFill>
          </a:ln>
          <a:effectLst/>
        </p:spPr>
      </p:cxnSp>
      <p:cxnSp>
        <p:nvCxnSpPr>
          <p:cNvPr id="124" name="speech_waveform_10"/>
          <p:cNvCxnSpPr/>
          <p:nvPr/>
        </p:nvCxnSpPr>
        <p:spPr>
          <a:xfrm>
            <a:off x="6893473" y="4982655"/>
            <a:ext cx="0" cy="261888"/>
          </a:xfrm>
          <a:prstGeom prst="line">
            <a:avLst/>
          </a:prstGeom>
          <a:ln w="26879">
            <a:solidFill>
              <a:srgbClr val="9A3F16"/>
            </a:solidFill>
          </a:ln>
          <a:effectLst/>
        </p:spPr>
      </p:cxnSp>
      <p:cxnSp>
        <p:nvCxnSpPr>
          <p:cNvPr id="125" name="speech_waveform_11"/>
          <p:cNvCxnSpPr/>
          <p:nvPr/>
        </p:nvCxnSpPr>
        <p:spPr>
          <a:xfrm>
            <a:off x="6943326" y="5037567"/>
            <a:ext cx="0" cy="152064"/>
          </a:xfrm>
          <a:prstGeom prst="line">
            <a:avLst/>
          </a:prstGeom>
          <a:ln w="26879">
            <a:solidFill>
              <a:srgbClr val="9A3F16"/>
            </a:solidFill>
          </a:ln>
          <a:effectLst/>
        </p:spPr>
      </p:cxnSp>
      <p:cxnSp>
        <p:nvCxnSpPr>
          <p:cNvPr id="126" name="speech_waveform_12"/>
          <p:cNvCxnSpPr/>
          <p:nvPr/>
        </p:nvCxnSpPr>
        <p:spPr>
          <a:xfrm>
            <a:off x="6993178" y="4963647"/>
            <a:ext cx="0" cy="299904"/>
          </a:xfrm>
          <a:prstGeom prst="line">
            <a:avLst/>
          </a:prstGeom>
          <a:ln w="26879">
            <a:solidFill>
              <a:srgbClr val="9A3F16"/>
            </a:solidFill>
          </a:ln>
          <a:effectLst/>
        </p:spPr>
      </p:cxnSp>
      <p:cxnSp>
        <p:nvCxnSpPr>
          <p:cNvPr id="127" name="speech_waveform_13"/>
          <p:cNvCxnSpPr/>
          <p:nvPr/>
        </p:nvCxnSpPr>
        <p:spPr>
          <a:xfrm>
            <a:off x="7043031" y="5016447"/>
            <a:ext cx="0" cy="194304"/>
          </a:xfrm>
          <a:prstGeom prst="line">
            <a:avLst/>
          </a:prstGeom>
          <a:ln w="26879">
            <a:solidFill>
              <a:srgbClr val="9A3F16"/>
            </a:solidFill>
          </a:ln>
          <a:effectLst/>
        </p:spPr>
      </p:cxnSp>
      <p:cxnSp>
        <p:nvCxnSpPr>
          <p:cNvPr id="128" name="speech_waveform_14"/>
          <p:cNvCxnSpPr/>
          <p:nvPr/>
        </p:nvCxnSpPr>
        <p:spPr>
          <a:xfrm>
            <a:off x="7092884" y="5054463"/>
            <a:ext cx="0" cy="118272"/>
          </a:xfrm>
          <a:prstGeom prst="line">
            <a:avLst/>
          </a:prstGeom>
          <a:ln w="26879">
            <a:solidFill>
              <a:srgbClr val="9A3F16"/>
            </a:solidFill>
          </a:ln>
          <a:effectLst/>
        </p:spPr>
      </p:cxnSp>
      <p:cxnSp>
        <p:nvCxnSpPr>
          <p:cNvPr id="129" name="speech_waveform_15"/>
          <p:cNvCxnSpPr/>
          <p:nvPr/>
        </p:nvCxnSpPr>
        <p:spPr>
          <a:xfrm>
            <a:off x="7142736" y="4978431"/>
            <a:ext cx="0" cy="270336"/>
          </a:xfrm>
          <a:prstGeom prst="line">
            <a:avLst/>
          </a:prstGeom>
          <a:ln w="26879">
            <a:solidFill>
              <a:srgbClr val="9A3F16"/>
            </a:solidFill>
          </a:ln>
          <a:effectLst/>
        </p:spPr>
      </p:cxnSp>
      <p:cxnSp>
        <p:nvCxnSpPr>
          <p:cNvPr id="130" name="speech_waveform_16"/>
          <p:cNvCxnSpPr/>
          <p:nvPr/>
        </p:nvCxnSpPr>
        <p:spPr>
          <a:xfrm>
            <a:off x="7192589" y="5027007"/>
            <a:ext cx="0" cy="173184"/>
          </a:xfrm>
          <a:prstGeom prst="line">
            <a:avLst/>
          </a:prstGeom>
          <a:ln w="26879">
            <a:solidFill>
              <a:srgbClr val="9A3F16"/>
            </a:solidFill>
          </a:ln>
          <a:effectLst/>
        </p:spPr>
      </p:cxnSp>
      <p:cxnSp>
        <p:nvCxnSpPr>
          <p:cNvPr id="131" name="speech_waveform_17"/>
          <p:cNvCxnSpPr/>
          <p:nvPr/>
        </p:nvCxnSpPr>
        <p:spPr>
          <a:xfrm>
            <a:off x="7242442" y="4953087"/>
            <a:ext cx="0" cy="321024"/>
          </a:xfrm>
          <a:prstGeom prst="line">
            <a:avLst/>
          </a:prstGeom>
          <a:ln w="26879">
            <a:solidFill>
              <a:srgbClr val="9A3F16"/>
            </a:solidFill>
          </a:ln>
          <a:effectLst/>
        </p:spPr>
      </p:cxnSp>
      <p:cxnSp>
        <p:nvCxnSpPr>
          <p:cNvPr id="132" name="speech_waveform_18"/>
          <p:cNvCxnSpPr/>
          <p:nvPr/>
        </p:nvCxnSpPr>
        <p:spPr>
          <a:xfrm>
            <a:off x="7292294" y="4999551"/>
            <a:ext cx="0" cy="228096"/>
          </a:xfrm>
          <a:prstGeom prst="line">
            <a:avLst/>
          </a:prstGeom>
          <a:ln w="26879">
            <a:solidFill>
              <a:srgbClr val="9A3F16"/>
            </a:solidFill>
          </a:ln>
          <a:effectLst/>
        </p:spPr>
      </p:cxnSp>
      <p:cxnSp>
        <p:nvCxnSpPr>
          <p:cNvPr id="133" name="speech_waveform_19"/>
          <p:cNvCxnSpPr/>
          <p:nvPr/>
        </p:nvCxnSpPr>
        <p:spPr>
          <a:xfrm>
            <a:off x="7342147" y="5043903"/>
            <a:ext cx="0" cy="139392"/>
          </a:xfrm>
          <a:prstGeom prst="line">
            <a:avLst/>
          </a:prstGeom>
          <a:ln w="26879">
            <a:solidFill>
              <a:srgbClr val="9A3F16"/>
            </a:solidFill>
          </a:ln>
          <a:effectLst/>
        </p:spPr>
      </p:cxnSp>
      <p:cxnSp>
        <p:nvCxnSpPr>
          <p:cNvPr id="134" name="speech_waveform_20"/>
          <p:cNvCxnSpPr/>
          <p:nvPr/>
        </p:nvCxnSpPr>
        <p:spPr>
          <a:xfrm>
            <a:off x="7391999" y="4969983"/>
            <a:ext cx="0" cy="287232"/>
          </a:xfrm>
          <a:prstGeom prst="line">
            <a:avLst/>
          </a:prstGeom>
          <a:ln w="26879">
            <a:solidFill>
              <a:srgbClr val="9A3F16"/>
            </a:solidFill>
          </a:ln>
          <a:effectLst/>
        </p:spPr>
      </p:cxnSp>
      <p:cxnSp>
        <p:nvCxnSpPr>
          <p:cNvPr id="135" name="speech_waveform_21"/>
          <p:cNvCxnSpPr/>
          <p:nvPr/>
        </p:nvCxnSpPr>
        <p:spPr>
          <a:xfrm>
            <a:off x="7441852" y="5031231"/>
            <a:ext cx="0" cy="164736"/>
          </a:xfrm>
          <a:prstGeom prst="line">
            <a:avLst/>
          </a:prstGeom>
          <a:ln w="26879">
            <a:solidFill>
              <a:srgbClr val="9A3F16"/>
            </a:solidFill>
          </a:ln>
          <a:effectLst/>
        </p:spPr>
      </p:cxnSp>
      <p:cxnSp>
        <p:nvCxnSpPr>
          <p:cNvPr id="136" name="speech_waveform_22"/>
          <p:cNvCxnSpPr/>
          <p:nvPr/>
        </p:nvCxnSpPr>
        <p:spPr>
          <a:xfrm>
            <a:off x="7491705" y="4961535"/>
            <a:ext cx="0" cy="304128"/>
          </a:xfrm>
          <a:prstGeom prst="line">
            <a:avLst/>
          </a:prstGeom>
          <a:ln w="26879">
            <a:solidFill>
              <a:srgbClr val="9A3F16"/>
            </a:solidFill>
          </a:ln>
          <a:effectLst/>
        </p:spPr>
      </p:cxnSp>
      <p:cxnSp>
        <p:nvCxnSpPr>
          <p:cNvPr id="137" name="speech_waveform_23"/>
          <p:cNvCxnSpPr/>
          <p:nvPr/>
        </p:nvCxnSpPr>
        <p:spPr>
          <a:xfrm>
            <a:off x="7541557" y="5005887"/>
            <a:ext cx="0" cy="215424"/>
          </a:xfrm>
          <a:prstGeom prst="line">
            <a:avLst/>
          </a:prstGeom>
          <a:ln w="26879">
            <a:solidFill>
              <a:srgbClr val="9A3F16"/>
            </a:solidFill>
          </a:ln>
          <a:effectLst/>
        </p:spPr>
      </p:cxnSp>
      <p:cxnSp>
        <p:nvCxnSpPr>
          <p:cNvPr id="138" name="speech_waveform_24"/>
          <p:cNvCxnSpPr/>
          <p:nvPr/>
        </p:nvCxnSpPr>
        <p:spPr>
          <a:xfrm>
            <a:off x="7591410" y="5050239"/>
            <a:ext cx="0" cy="126720"/>
          </a:xfrm>
          <a:prstGeom prst="line">
            <a:avLst/>
          </a:prstGeom>
          <a:ln w="26879">
            <a:solidFill>
              <a:srgbClr val="9A3F16"/>
            </a:solidFill>
          </a:ln>
          <a:effectLst/>
        </p:spPr>
      </p:cxnSp>
      <p:cxnSp>
        <p:nvCxnSpPr>
          <p:cNvPr id="139" name="speech_waveform_25"/>
          <p:cNvCxnSpPr/>
          <p:nvPr/>
        </p:nvCxnSpPr>
        <p:spPr>
          <a:xfrm>
            <a:off x="7641263" y="4984767"/>
            <a:ext cx="0" cy="257664"/>
          </a:xfrm>
          <a:prstGeom prst="line">
            <a:avLst/>
          </a:prstGeom>
          <a:ln w="26879">
            <a:solidFill>
              <a:srgbClr val="9A3F16"/>
            </a:solidFill>
          </a:ln>
          <a:effectLst/>
        </p:spPr>
      </p:cxnSp>
      <p:cxnSp>
        <p:nvCxnSpPr>
          <p:cNvPr id="140" name="speech_waveform_26"/>
          <p:cNvCxnSpPr/>
          <p:nvPr/>
        </p:nvCxnSpPr>
        <p:spPr>
          <a:xfrm>
            <a:off x="7691115" y="5035455"/>
            <a:ext cx="0" cy="156288"/>
          </a:xfrm>
          <a:prstGeom prst="line">
            <a:avLst/>
          </a:prstGeom>
          <a:ln w="26879">
            <a:solidFill>
              <a:srgbClr val="9A3F16"/>
            </a:solidFill>
          </a:ln>
          <a:effectLst/>
        </p:spPr>
      </p:cxnSp>
      <p:cxnSp>
        <p:nvCxnSpPr>
          <p:cNvPr id="141" name="speech_waveform_27"/>
          <p:cNvCxnSpPr/>
          <p:nvPr/>
        </p:nvCxnSpPr>
        <p:spPr>
          <a:xfrm>
            <a:off x="7740968" y="4965759"/>
            <a:ext cx="0" cy="295680"/>
          </a:xfrm>
          <a:prstGeom prst="line">
            <a:avLst/>
          </a:prstGeom>
          <a:ln w="26879">
            <a:solidFill>
              <a:srgbClr val="9A3F16"/>
            </a:solidFill>
          </a:ln>
          <a:effectLst/>
        </p:spPr>
      </p:cxnSp>
      <p:cxnSp>
        <p:nvCxnSpPr>
          <p:cNvPr id="142" name="speech_waveform_28"/>
          <p:cNvCxnSpPr/>
          <p:nvPr/>
        </p:nvCxnSpPr>
        <p:spPr>
          <a:xfrm>
            <a:off x="7790820" y="5018559"/>
            <a:ext cx="0" cy="190080"/>
          </a:xfrm>
          <a:prstGeom prst="line">
            <a:avLst/>
          </a:prstGeom>
          <a:ln w="26879">
            <a:solidFill>
              <a:srgbClr val="9A3F16"/>
            </a:solidFill>
          </a:ln>
          <a:effectLst/>
        </p:spPr>
      </p:cxnSp>
      <p:cxnSp>
        <p:nvCxnSpPr>
          <p:cNvPr id="143" name="speech_waveform_29"/>
          <p:cNvCxnSpPr/>
          <p:nvPr/>
        </p:nvCxnSpPr>
        <p:spPr>
          <a:xfrm>
            <a:off x="7840673" y="5046015"/>
            <a:ext cx="0" cy="135168"/>
          </a:xfrm>
          <a:prstGeom prst="line">
            <a:avLst/>
          </a:prstGeom>
          <a:ln w="26879">
            <a:solidFill>
              <a:srgbClr val="9A3F16"/>
            </a:solidFill>
          </a:ln>
          <a:effectLst/>
        </p:spPr>
      </p:cxnSp>
      <p:cxnSp>
        <p:nvCxnSpPr>
          <p:cNvPr id="144" name="speech_waveform_30"/>
          <p:cNvCxnSpPr/>
          <p:nvPr/>
        </p:nvCxnSpPr>
        <p:spPr>
          <a:xfrm>
            <a:off x="7890526" y="4980543"/>
            <a:ext cx="0" cy="266112"/>
          </a:xfrm>
          <a:prstGeom prst="line">
            <a:avLst/>
          </a:prstGeom>
          <a:ln w="26879">
            <a:solidFill>
              <a:srgbClr val="9A3F16"/>
            </a:solidFill>
          </a:ln>
          <a:effectLst/>
        </p:spPr>
      </p:cxnSp>
      <p:cxnSp>
        <p:nvCxnSpPr>
          <p:cNvPr id="145" name="speech_waveform_31"/>
          <p:cNvCxnSpPr/>
          <p:nvPr/>
        </p:nvCxnSpPr>
        <p:spPr>
          <a:xfrm>
            <a:off x="7940378" y="5029119"/>
            <a:ext cx="0" cy="168960"/>
          </a:xfrm>
          <a:prstGeom prst="line">
            <a:avLst/>
          </a:prstGeom>
          <a:ln w="26879">
            <a:solidFill>
              <a:srgbClr val="9A3F16"/>
            </a:solidFill>
          </a:ln>
          <a:effectLst/>
        </p:spPr>
      </p:cxnSp>
      <p:cxnSp>
        <p:nvCxnSpPr>
          <p:cNvPr id="146" name="speech_waveform_32"/>
          <p:cNvCxnSpPr/>
          <p:nvPr/>
        </p:nvCxnSpPr>
        <p:spPr>
          <a:xfrm>
            <a:off x="7990231" y="4957311"/>
            <a:ext cx="0" cy="312576"/>
          </a:xfrm>
          <a:prstGeom prst="line">
            <a:avLst/>
          </a:prstGeom>
          <a:ln w="26879">
            <a:solidFill>
              <a:srgbClr val="9A3F16"/>
            </a:solidFill>
          </a:ln>
          <a:effectLst/>
        </p:spPr>
      </p:cxnSp>
      <p:cxnSp>
        <p:nvCxnSpPr>
          <p:cNvPr id="147" name="speech_waveform_33"/>
          <p:cNvCxnSpPr/>
          <p:nvPr/>
        </p:nvCxnSpPr>
        <p:spPr>
          <a:xfrm>
            <a:off x="8040084" y="5012223"/>
            <a:ext cx="0" cy="202752"/>
          </a:xfrm>
          <a:prstGeom prst="line">
            <a:avLst/>
          </a:prstGeom>
          <a:ln w="26879">
            <a:solidFill>
              <a:srgbClr val="9A3F16"/>
            </a:solidFill>
          </a:ln>
          <a:effectLst/>
        </p:spPr>
      </p:cxnSp>
      <p:cxnSp>
        <p:nvCxnSpPr>
          <p:cNvPr id="148" name="speech_waveform_34"/>
          <p:cNvCxnSpPr/>
          <p:nvPr/>
        </p:nvCxnSpPr>
        <p:spPr>
          <a:xfrm>
            <a:off x="8089936" y="5041791"/>
            <a:ext cx="0" cy="143616"/>
          </a:xfrm>
          <a:prstGeom prst="line">
            <a:avLst/>
          </a:prstGeom>
          <a:ln w="26879">
            <a:solidFill>
              <a:srgbClr val="9A3F16"/>
            </a:solidFill>
          </a:ln>
          <a:effectLst/>
        </p:spPr>
      </p:cxnSp>
      <p:cxnSp>
        <p:nvCxnSpPr>
          <p:cNvPr id="149" name="speech_waveform_35"/>
          <p:cNvCxnSpPr/>
          <p:nvPr/>
        </p:nvCxnSpPr>
        <p:spPr>
          <a:xfrm>
            <a:off x="8139789" y="4974207"/>
            <a:ext cx="0" cy="278784"/>
          </a:xfrm>
          <a:prstGeom prst="line">
            <a:avLst/>
          </a:prstGeom>
          <a:ln w="26879">
            <a:solidFill>
              <a:srgbClr val="9A3F16"/>
            </a:solidFill>
          </a:ln>
          <a:effectLst/>
        </p:spPr>
      </p:cxnSp>
      <p:cxnSp>
        <p:nvCxnSpPr>
          <p:cNvPr id="150" name="speech_waveform_36"/>
          <p:cNvCxnSpPr/>
          <p:nvPr/>
        </p:nvCxnSpPr>
        <p:spPr>
          <a:xfrm>
            <a:off x="8189641" y="5024895"/>
            <a:ext cx="0" cy="177408"/>
          </a:xfrm>
          <a:prstGeom prst="line">
            <a:avLst/>
          </a:prstGeom>
          <a:ln w="26879">
            <a:solidFill>
              <a:srgbClr val="9A3F16"/>
            </a:solidFill>
          </a:ln>
          <a:effectLst/>
        </p:spPr>
      </p:cxnSp>
      <p:cxnSp>
        <p:nvCxnSpPr>
          <p:cNvPr id="151" name="speech_waveform_37"/>
          <p:cNvCxnSpPr/>
          <p:nvPr/>
        </p:nvCxnSpPr>
        <p:spPr>
          <a:xfrm>
            <a:off x="8239494" y="4993215"/>
            <a:ext cx="0" cy="240768"/>
          </a:xfrm>
          <a:prstGeom prst="line">
            <a:avLst/>
          </a:prstGeom>
          <a:ln w="26879">
            <a:solidFill>
              <a:srgbClr val="9A3F16"/>
            </a:solidFill>
          </a:ln>
          <a:effectLst/>
        </p:spPr>
      </p:cxnSp>
      <p:cxnSp>
        <p:nvCxnSpPr>
          <p:cNvPr id="152" name="speech_waveform_38"/>
          <p:cNvCxnSpPr/>
          <p:nvPr/>
        </p:nvCxnSpPr>
        <p:spPr>
          <a:xfrm>
            <a:off x="8289347" y="5050239"/>
            <a:ext cx="0" cy="126720"/>
          </a:xfrm>
          <a:prstGeom prst="line">
            <a:avLst/>
          </a:prstGeom>
          <a:ln w="26879">
            <a:solidFill>
              <a:srgbClr val="9A3F16"/>
            </a:solidFill>
          </a:ln>
          <a:effectLst/>
        </p:spPr>
      </p:cxnSp>
      <p:cxnSp>
        <p:nvCxnSpPr>
          <p:cNvPr id="153" name="speech_waveform_39"/>
          <p:cNvCxnSpPr/>
          <p:nvPr/>
        </p:nvCxnSpPr>
        <p:spPr>
          <a:xfrm>
            <a:off x="8339199" y="5010111"/>
            <a:ext cx="0" cy="206976"/>
          </a:xfrm>
          <a:prstGeom prst="line">
            <a:avLst/>
          </a:prstGeom>
          <a:ln w="26879">
            <a:solidFill>
              <a:srgbClr val="9A3F16"/>
            </a:solidFill>
          </a:ln>
          <a:effectLst/>
        </p:spPr>
      </p:cxnSp>
      <p:pic>
        <p:nvPicPr>
          <p:cNvPr id="154" name="film_1" descr="film_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00" y="5676799"/>
            <a:ext cx="864000" cy="659200"/>
          </a:xfrm>
          <a:prstGeom prst="rect">
            <a:avLst/>
          </a:prstGeom>
          <a:effectLst/>
        </p:spPr>
      </p:pic>
      <p:pic>
        <p:nvPicPr>
          <p:cNvPr id="155" name="film_2" descr="film_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2800" y="5676799"/>
            <a:ext cx="1676800" cy="659200"/>
          </a:xfrm>
          <a:prstGeom prst="rect">
            <a:avLst/>
          </a:prstGeom>
          <a:effectLst/>
        </p:spPr>
      </p:pic>
      <p:pic>
        <p:nvPicPr>
          <p:cNvPr id="156" name="film_3" descr="film_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4000" y="5676799"/>
            <a:ext cx="1689600" cy="659200"/>
          </a:xfrm>
          <a:prstGeom prst="rect">
            <a:avLst/>
          </a:prstGeom>
          <a:effectLst/>
        </p:spPr>
      </p:pic>
      <p:pic>
        <p:nvPicPr>
          <p:cNvPr id="157" name="film_4" descr="film_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03200" y="5676799"/>
            <a:ext cx="1676800" cy="659200"/>
          </a:xfrm>
          <a:prstGeom prst="rect">
            <a:avLst/>
          </a:prstGeom>
          <a:effectLst/>
        </p:spPr>
      </p:pic>
      <p:pic>
        <p:nvPicPr>
          <p:cNvPr id="158" name="film_5" descr="film_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12799" y="5676799"/>
            <a:ext cx="1683200" cy="659200"/>
          </a:xfrm>
          <a:prstGeom prst="rect">
            <a:avLst/>
          </a:prstGeom>
          <a:effectLst/>
        </p:spPr>
      </p:pic>
      <p:sp>
        <p:nvSpPr>
          <p:cNvPr id="159" name="gap_1"/>
          <p:cNvSpPr txBox="1"/>
          <p:nvPr/>
        </p:nvSpPr>
        <p:spPr>
          <a:xfrm>
            <a:off x="1043200" y="5919999"/>
            <a:ext cx="230400" cy="2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000000"/>
                </a:solidFill>
                <a:latin typeface="URW Gothic"/>
              </a:rPr>
              <a:t>…</a:t>
            </a:r>
          </a:p>
        </p:txBody>
      </p:sp>
      <p:sp>
        <p:nvSpPr>
          <p:cNvPr id="160" name="gap_2"/>
          <p:cNvSpPr txBox="1"/>
          <p:nvPr/>
        </p:nvSpPr>
        <p:spPr>
          <a:xfrm>
            <a:off x="3072000" y="5919999"/>
            <a:ext cx="230400" cy="2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000000"/>
                </a:solidFill>
                <a:latin typeface="URW Gothic"/>
              </a:rPr>
              <a:t>…</a:t>
            </a:r>
          </a:p>
        </p:txBody>
      </p:sp>
      <p:sp>
        <p:nvSpPr>
          <p:cNvPr id="161" name="gap_3"/>
          <p:cNvSpPr txBox="1"/>
          <p:nvPr/>
        </p:nvSpPr>
        <p:spPr>
          <a:xfrm>
            <a:off x="5030400" y="5919999"/>
            <a:ext cx="230400" cy="2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000000"/>
                </a:solidFill>
                <a:latin typeface="URW Gothic"/>
              </a:rPr>
              <a:t>…</a:t>
            </a:r>
          </a:p>
        </p:txBody>
      </p:sp>
      <p:sp>
        <p:nvSpPr>
          <p:cNvPr id="162" name="gap_4"/>
          <p:cNvSpPr txBox="1"/>
          <p:nvPr/>
        </p:nvSpPr>
        <p:spPr>
          <a:xfrm>
            <a:off x="6995199" y="5919999"/>
            <a:ext cx="230400" cy="2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000000"/>
                </a:solidFill>
                <a:latin typeface="URW Gothic"/>
              </a:rPr>
              <a:t>…</a:t>
            </a:r>
          </a:p>
        </p:txBody>
      </p:sp>
      <p:cxnSp>
        <p:nvCxnSpPr>
          <p:cNvPr id="163" name="timeline_1"/>
          <p:cNvCxnSpPr/>
          <p:nvPr/>
        </p:nvCxnSpPr>
        <p:spPr>
          <a:xfrm>
            <a:off x="64000" y="6470399"/>
            <a:ext cx="8831999" cy="0"/>
          </a:xfrm>
          <a:prstGeom prst="line">
            <a:avLst/>
          </a:prstGeom>
          <a:ln w="31999">
            <a:solidFill>
              <a:srgbClr val="000000"/>
            </a:solidFill>
          </a:ln>
          <a:effectLst/>
        </p:spPr>
      </p:cxnSp>
      <p:sp>
        <p:nvSpPr>
          <p:cNvPr id="164" name="time_node_1"/>
          <p:cNvSpPr/>
          <p:nvPr/>
        </p:nvSpPr>
        <p:spPr>
          <a:xfrm>
            <a:off x="9600" y="6415999"/>
            <a:ext cx="108800" cy="1088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time_node_2"/>
          <p:cNvSpPr/>
          <p:nvPr/>
        </p:nvSpPr>
        <p:spPr>
          <a:xfrm>
            <a:off x="918400" y="6415999"/>
            <a:ext cx="108800" cy="1088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time_node_3"/>
          <p:cNvSpPr/>
          <p:nvPr/>
        </p:nvSpPr>
        <p:spPr>
          <a:xfrm>
            <a:off x="1180800" y="6415999"/>
            <a:ext cx="108800" cy="1088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time_node_4"/>
          <p:cNvSpPr/>
          <p:nvPr/>
        </p:nvSpPr>
        <p:spPr>
          <a:xfrm>
            <a:off x="2915200" y="6415999"/>
            <a:ext cx="108800" cy="1088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time_node_5"/>
          <p:cNvSpPr/>
          <p:nvPr/>
        </p:nvSpPr>
        <p:spPr>
          <a:xfrm>
            <a:off x="3203200" y="6415999"/>
            <a:ext cx="108800" cy="1088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time_node_6"/>
          <p:cNvSpPr/>
          <p:nvPr/>
        </p:nvSpPr>
        <p:spPr>
          <a:xfrm>
            <a:off x="4880000" y="6415999"/>
            <a:ext cx="108800" cy="1088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time_node_7"/>
          <p:cNvSpPr/>
          <p:nvPr/>
        </p:nvSpPr>
        <p:spPr>
          <a:xfrm>
            <a:off x="5148800" y="6415999"/>
            <a:ext cx="108800" cy="1088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time_node_8"/>
          <p:cNvSpPr/>
          <p:nvPr/>
        </p:nvSpPr>
        <p:spPr>
          <a:xfrm>
            <a:off x="6825599" y="6415999"/>
            <a:ext cx="108800" cy="1088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time_node_9"/>
          <p:cNvSpPr/>
          <p:nvPr/>
        </p:nvSpPr>
        <p:spPr>
          <a:xfrm>
            <a:off x="7158399" y="6415999"/>
            <a:ext cx="108800" cy="1088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time_node_10"/>
          <p:cNvSpPr/>
          <p:nvPr/>
        </p:nvSpPr>
        <p:spPr>
          <a:xfrm>
            <a:off x="8841599" y="6415999"/>
            <a:ext cx="108800" cy="108800"/>
          </a:xfrm>
          <a:prstGeom prst="ellipse">
            <a:avLst/>
          </a:pr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timestamp_1"/>
          <p:cNvSpPr txBox="1"/>
          <p:nvPr/>
        </p:nvSpPr>
        <p:spPr>
          <a:xfrm>
            <a:off x="12800" y="6579199"/>
            <a:ext cx="307200" cy="198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9" b="0" i="0">
                <a:solidFill>
                  <a:srgbClr val="000000"/>
                </a:solidFill>
                <a:latin typeface="URW Gothic"/>
              </a:rPr>
              <a:t>0s</a:t>
            </a:r>
          </a:p>
        </p:txBody>
      </p:sp>
      <p:sp>
        <p:nvSpPr>
          <p:cNvPr id="175" name="timestamp_2"/>
          <p:cNvSpPr txBox="1"/>
          <p:nvPr/>
        </p:nvSpPr>
        <p:spPr>
          <a:xfrm>
            <a:off x="819200" y="6579199"/>
            <a:ext cx="320000" cy="198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9" b="0" i="0">
                <a:solidFill>
                  <a:srgbClr val="000000"/>
                </a:solidFill>
                <a:latin typeface="URW Gothic"/>
              </a:rPr>
              <a:t>6s</a:t>
            </a:r>
          </a:p>
        </p:txBody>
      </p:sp>
      <p:sp>
        <p:nvSpPr>
          <p:cNvPr id="176" name="timestamp_3"/>
          <p:cNvSpPr txBox="1"/>
          <p:nvPr/>
        </p:nvSpPr>
        <p:spPr>
          <a:xfrm>
            <a:off x="1312000" y="6579199"/>
            <a:ext cx="422400" cy="198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9" b="0" i="0">
                <a:solidFill>
                  <a:srgbClr val="000000"/>
                </a:solidFill>
                <a:latin typeface="URW Gothic"/>
              </a:rPr>
              <a:t>50s</a:t>
            </a:r>
          </a:p>
        </p:txBody>
      </p:sp>
      <p:sp>
        <p:nvSpPr>
          <p:cNvPr id="177" name="timestamp_4"/>
          <p:cNvSpPr txBox="1"/>
          <p:nvPr/>
        </p:nvSpPr>
        <p:spPr>
          <a:xfrm>
            <a:off x="2796800" y="6579199"/>
            <a:ext cx="396800" cy="198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9" b="0" i="0">
                <a:solidFill>
                  <a:srgbClr val="000000"/>
                </a:solidFill>
                <a:latin typeface="URW Gothic"/>
              </a:rPr>
              <a:t>60s</a:t>
            </a:r>
          </a:p>
        </p:txBody>
      </p:sp>
      <p:sp>
        <p:nvSpPr>
          <p:cNvPr id="178" name="timestamp_5"/>
          <p:cNvSpPr txBox="1"/>
          <p:nvPr/>
        </p:nvSpPr>
        <p:spPr>
          <a:xfrm>
            <a:off x="3155200" y="6579199"/>
            <a:ext cx="396800" cy="198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9" b="0" i="0">
                <a:solidFill>
                  <a:srgbClr val="000000"/>
                </a:solidFill>
                <a:latin typeface="URW Gothic"/>
              </a:rPr>
              <a:t>97s</a:t>
            </a:r>
          </a:p>
        </p:txBody>
      </p:sp>
      <p:sp>
        <p:nvSpPr>
          <p:cNvPr id="179" name="timestamp_6"/>
          <p:cNvSpPr txBox="1"/>
          <p:nvPr/>
        </p:nvSpPr>
        <p:spPr>
          <a:xfrm>
            <a:off x="4716800" y="6579199"/>
            <a:ext cx="460800" cy="198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9" b="0" i="0">
                <a:solidFill>
                  <a:srgbClr val="000000"/>
                </a:solidFill>
                <a:latin typeface="URW Gothic"/>
              </a:rPr>
              <a:t>106s</a:t>
            </a:r>
          </a:p>
        </p:txBody>
      </p:sp>
      <p:sp>
        <p:nvSpPr>
          <p:cNvPr id="180" name="timestamp_7"/>
          <p:cNvSpPr txBox="1"/>
          <p:nvPr/>
        </p:nvSpPr>
        <p:spPr>
          <a:xfrm>
            <a:off x="5126400" y="6579199"/>
            <a:ext cx="480000" cy="198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9" b="0" i="0">
                <a:solidFill>
                  <a:srgbClr val="000000"/>
                </a:solidFill>
                <a:latin typeface="URW Gothic"/>
              </a:rPr>
              <a:t>256s</a:t>
            </a:r>
          </a:p>
        </p:txBody>
      </p:sp>
      <p:sp>
        <p:nvSpPr>
          <p:cNvPr id="181" name="timestamp_8"/>
          <p:cNvSpPr txBox="1"/>
          <p:nvPr/>
        </p:nvSpPr>
        <p:spPr>
          <a:xfrm>
            <a:off x="6668799" y="6579199"/>
            <a:ext cx="486400" cy="198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9" b="0" i="0">
                <a:solidFill>
                  <a:srgbClr val="000000"/>
                </a:solidFill>
                <a:latin typeface="URW Gothic"/>
              </a:rPr>
              <a:t>267s</a:t>
            </a:r>
          </a:p>
        </p:txBody>
      </p:sp>
      <p:sp>
        <p:nvSpPr>
          <p:cNvPr id="182" name="timestamp_9"/>
          <p:cNvSpPr txBox="1"/>
          <p:nvPr/>
        </p:nvSpPr>
        <p:spPr>
          <a:xfrm>
            <a:off x="7078399" y="6579199"/>
            <a:ext cx="576000" cy="198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9" b="0" i="0">
                <a:solidFill>
                  <a:srgbClr val="000000"/>
                </a:solidFill>
                <a:latin typeface="URW Gothic"/>
              </a:rPr>
              <a:t>1747s</a:t>
            </a:r>
          </a:p>
        </p:txBody>
      </p:sp>
      <p:sp>
        <p:nvSpPr>
          <p:cNvPr id="183" name="timestamp_10"/>
          <p:cNvSpPr txBox="1"/>
          <p:nvPr/>
        </p:nvSpPr>
        <p:spPr>
          <a:xfrm>
            <a:off x="8550399" y="6579199"/>
            <a:ext cx="595200" cy="198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9" b="0" i="0">
                <a:solidFill>
                  <a:srgbClr val="000000"/>
                </a:solidFill>
                <a:latin typeface="URW Gothic"/>
              </a:rPr>
              <a:t>1759s</a:t>
            </a:r>
          </a:p>
        </p:txBody>
      </p:sp>
      <p:sp>
        <p:nvSpPr>
          <p:cNvPr id="184" name="vision_encoder"/>
          <p:cNvSpPr/>
          <p:nvPr/>
        </p:nvSpPr>
        <p:spPr>
          <a:xfrm>
            <a:off x="768000" y="4275199"/>
            <a:ext cx="1785600" cy="403200"/>
          </a:xfrm>
          <a:prstGeom prst="rect">
            <a:avLst/>
          </a:prstGeom>
          <a:solidFill>
            <a:srgbClr val="DCEAF7"/>
          </a:solidFill>
          <a:ln w="17279">
            <a:solidFill>
              <a:srgbClr val="174E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vision_encoder_label"/>
          <p:cNvSpPr txBox="1"/>
          <p:nvPr/>
        </p:nvSpPr>
        <p:spPr>
          <a:xfrm>
            <a:off x="819200" y="4300799"/>
            <a:ext cx="1427200" cy="352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174E78"/>
                </a:solidFill>
                <a:latin typeface="URW Gothic"/>
              </a:rPr>
              <a:t>Vision Encoder</a:t>
            </a:r>
          </a:p>
        </p:txBody>
      </p:sp>
      <p:sp>
        <p:nvSpPr>
          <p:cNvPr id="186" name="vision_encoder_frozen"/>
          <p:cNvSpPr txBox="1"/>
          <p:nvPr/>
        </p:nvSpPr>
        <p:spPr>
          <a:xfrm>
            <a:off x="2329600" y="4300799"/>
            <a:ext cx="198400" cy="230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63" b="0" i="0">
                <a:solidFill>
                  <a:srgbClr val="2C78AA"/>
                </a:solidFill>
                <a:latin typeface="DejaVu Sans"/>
              </a:rPr>
              <a:t>❄</a:t>
            </a:r>
          </a:p>
        </p:txBody>
      </p:sp>
      <p:sp>
        <p:nvSpPr>
          <p:cNvPr id="187" name="vision_projector"/>
          <p:cNvSpPr/>
          <p:nvPr/>
        </p:nvSpPr>
        <p:spPr>
          <a:xfrm>
            <a:off x="768000" y="3737599"/>
            <a:ext cx="1785600" cy="403200"/>
          </a:xfrm>
          <a:prstGeom prst="rect">
            <a:avLst/>
          </a:prstGeom>
          <a:solidFill>
            <a:srgbClr val="DCEAF7"/>
          </a:solidFill>
          <a:ln w="17279">
            <a:solidFill>
              <a:srgbClr val="174E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vision_projector_label"/>
          <p:cNvSpPr txBox="1"/>
          <p:nvPr/>
        </p:nvSpPr>
        <p:spPr>
          <a:xfrm>
            <a:off x="819200" y="3763199"/>
            <a:ext cx="1427200" cy="352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174E78"/>
                </a:solidFill>
                <a:latin typeface="URW Gothic"/>
              </a:rPr>
              <a:t>Vision Projector</a:t>
            </a:r>
          </a:p>
        </p:txBody>
      </p:sp>
      <p:sp>
        <p:nvSpPr>
          <p:cNvPr id="189" name="vision_projector_trainable"/>
          <p:cNvSpPr/>
          <p:nvPr/>
        </p:nvSpPr>
        <p:spPr>
          <a:xfrm>
            <a:off x="2368000" y="3769599"/>
            <a:ext cx="121600" cy="243200"/>
          </a:xfrm>
          <a:custGeom>
            <a:avLst/>
            <a:gdLst/>
            <a:ahLst/>
            <a:cxnLst/>
            <a:rect l="l" t="t" r="r" b="b"/>
            <a:pathLst>
              <a:path w="19" h="38">
                <a:moveTo>
                  <a:pt x="10" y="0"/>
                </a:moveTo>
                <a:lnTo>
                  <a:pt x="12" y="10"/>
                </a:lnTo>
                <a:lnTo>
                  <a:pt x="15" y="5"/>
                </a:lnTo>
                <a:lnTo>
                  <a:pt x="15" y="16"/>
                </a:lnTo>
                <a:lnTo>
                  <a:pt x="19" y="11"/>
                </a:lnTo>
                <a:lnTo>
                  <a:pt x="19" y="23"/>
                </a:lnTo>
                <a:lnTo>
                  <a:pt x="16" y="32"/>
                </a:lnTo>
                <a:lnTo>
                  <a:pt x="11" y="38"/>
                </a:lnTo>
                <a:lnTo>
                  <a:pt x="6" y="33"/>
                </a:lnTo>
                <a:lnTo>
                  <a:pt x="3" y="38"/>
                </a:lnTo>
                <a:lnTo>
                  <a:pt x="0" y="27"/>
                </a:lnTo>
                <a:lnTo>
                  <a:pt x="1" y="17"/>
                </a:lnTo>
                <a:lnTo>
                  <a:pt x="4" y="9"/>
                </a:lnTo>
                <a:lnTo>
                  <a:pt x="5" y="21"/>
                </a:lnTo>
                <a:lnTo>
                  <a:pt x="8" y="14"/>
                </a:lnTo>
                <a:close/>
              </a:path>
            </a:pathLst>
          </a:custGeom>
          <a:solidFill>
            <a:srgbClr val="D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vision_projector_trainable_cutout"/>
          <p:cNvSpPr/>
          <p:nvPr/>
        </p:nvSpPr>
        <p:spPr>
          <a:xfrm>
            <a:off x="2412800" y="3871999"/>
            <a:ext cx="51200" cy="128000"/>
          </a:xfrm>
          <a:custGeom>
            <a:avLst/>
            <a:gdLst/>
            <a:ahLst/>
            <a:cxnLst/>
            <a:rect l="l" t="t" r="r" b="b"/>
            <a:pathLst>
              <a:path w="8" h="20">
                <a:moveTo>
                  <a:pt x="3" y="0"/>
                </a:moveTo>
                <a:lnTo>
                  <a:pt x="5" y="6"/>
                </a:lnTo>
                <a:lnTo>
                  <a:pt x="7" y="2"/>
                </a:lnTo>
                <a:lnTo>
                  <a:pt x="8" y="10"/>
                </a:lnTo>
                <a:lnTo>
                  <a:pt x="6" y="16"/>
                </a:lnTo>
                <a:lnTo>
                  <a:pt x="3" y="20"/>
                </a:lnTo>
                <a:lnTo>
                  <a:pt x="0" y="16"/>
                </a:lnTo>
                <a:lnTo>
                  <a:pt x="0" y="9"/>
                </a:lnTo>
                <a:close/>
              </a:path>
            </a:pathLst>
          </a:custGeom>
          <a:solidFill>
            <a:srgbClr val="DCEA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audio_encoder"/>
          <p:cNvSpPr/>
          <p:nvPr/>
        </p:nvSpPr>
        <p:spPr>
          <a:xfrm>
            <a:off x="3680000" y="4275199"/>
            <a:ext cx="1785600" cy="403200"/>
          </a:xfrm>
          <a:prstGeom prst="rect">
            <a:avLst/>
          </a:prstGeom>
          <a:solidFill>
            <a:srgbClr val="D9F1D1"/>
          </a:solidFill>
          <a:ln w="17279">
            <a:solidFill>
              <a:srgbClr val="2B6B2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audio_encoder_label"/>
          <p:cNvSpPr txBox="1"/>
          <p:nvPr/>
        </p:nvSpPr>
        <p:spPr>
          <a:xfrm>
            <a:off x="3731200" y="4300799"/>
            <a:ext cx="1427200" cy="352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B6B20"/>
                </a:solidFill>
                <a:latin typeface="URW Gothic"/>
              </a:rPr>
              <a:t>Audio Encoder</a:t>
            </a:r>
          </a:p>
        </p:txBody>
      </p:sp>
      <p:sp>
        <p:nvSpPr>
          <p:cNvPr id="193" name="audio_encoder_frozen"/>
          <p:cNvSpPr txBox="1"/>
          <p:nvPr/>
        </p:nvSpPr>
        <p:spPr>
          <a:xfrm>
            <a:off x="5241600" y="4300799"/>
            <a:ext cx="198400" cy="230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63" b="0" i="0">
                <a:solidFill>
                  <a:srgbClr val="2C78AA"/>
                </a:solidFill>
                <a:latin typeface="DejaVu Sans"/>
              </a:rPr>
              <a:t>❄</a:t>
            </a:r>
          </a:p>
        </p:txBody>
      </p:sp>
      <p:sp>
        <p:nvSpPr>
          <p:cNvPr id="194" name="audio_projector"/>
          <p:cNvSpPr/>
          <p:nvPr/>
        </p:nvSpPr>
        <p:spPr>
          <a:xfrm>
            <a:off x="3680000" y="3756799"/>
            <a:ext cx="1785600" cy="396800"/>
          </a:xfrm>
          <a:prstGeom prst="rect">
            <a:avLst/>
          </a:prstGeom>
          <a:solidFill>
            <a:srgbClr val="D9F1D1"/>
          </a:solidFill>
          <a:ln w="17279">
            <a:solidFill>
              <a:srgbClr val="2B6B2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audio_projector_label"/>
          <p:cNvSpPr txBox="1"/>
          <p:nvPr/>
        </p:nvSpPr>
        <p:spPr>
          <a:xfrm>
            <a:off x="3731200" y="3782399"/>
            <a:ext cx="1427200" cy="345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B6B20"/>
                </a:solidFill>
                <a:latin typeface="URW Gothic"/>
              </a:rPr>
              <a:t>Audio Projector</a:t>
            </a:r>
          </a:p>
        </p:txBody>
      </p:sp>
      <p:sp>
        <p:nvSpPr>
          <p:cNvPr id="196" name="audio_projector_trainable"/>
          <p:cNvSpPr/>
          <p:nvPr/>
        </p:nvSpPr>
        <p:spPr>
          <a:xfrm>
            <a:off x="5280000" y="3788799"/>
            <a:ext cx="121600" cy="243200"/>
          </a:xfrm>
          <a:custGeom>
            <a:avLst/>
            <a:gdLst/>
            <a:ahLst/>
            <a:cxnLst/>
            <a:rect l="l" t="t" r="r" b="b"/>
            <a:pathLst>
              <a:path w="19" h="38">
                <a:moveTo>
                  <a:pt x="9" y="0"/>
                </a:moveTo>
                <a:lnTo>
                  <a:pt x="12" y="10"/>
                </a:lnTo>
                <a:lnTo>
                  <a:pt x="15" y="5"/>
                </a:lnTo>
                <a:lnTo>
                  <a:pt x="15" y="16"/>
                </a:lnTo>
                <a:lnTo>
                  <a:pt x="19" y="11"/>
                </a:lnTo>
                <a:lnTo>
                  <a:pt x="19" y="23"/>
                </a:lnTo>
                <a:lnTo>
                  <a:pt x="16" y="32"/>
                </a:lnTo>
                <a:lnTo>
                  <a:pt x="11" y="38"/>
                </a:lnTo>
                <a:lnTo>
                  <a:pt x="6" y="33"/>
                </a:lnTo>
                <a:lnTo>
                  <a:pt x="3" y="38"/>
                </a:lnTo>
                <a:lnTo>
                  <a:pt x="0" y="27"/>
                </a:lnTo>
                <a:lnTo>
                  <a:pt x="1" y="17"/>
                </a:lnTo>
                <a:lnTo>
                  <a:pt x="4" y="9"/>
                </a:lnTo>
                <a:lnTo>
                  <a:pt x="5" y="21"/>
                </a:lnTo>
                <a:lnTo>
                  <a:pt x="8" y="14"/>
                </a:lnTo>
                <a:close/>
              </a:path>
            </a:pathLst>
          </a:custGeom>
          <a:solidFill>
            <a:srgbClr val="D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audio_projector_trainable_cutout"/>
          <p:cNvSpPr/>
          <p:nvPr/>
        </p:nvSpPr>
        <p:spPr>
          <a:xfrm>
            <a:off x="5324800" y="3891199"/>
            <a:ext cx="51200" cy="128000"/>
          </a:xfrm>
          <a:custGeom>
            <a:avLst/>
            <a:gdLst/>
            <a:ahLst/>
            <a:cxnLst/>
            <a:rect l="l" t="t" r="r" b="b"/>
            <a:pathLst>
              <a:path w="8" h="20">
                <a:moveTo>
                  <a:pt x="3" y="0"/>
                </a:moveTo>
                <a:lnTo>
                  <a:pt x="5" y="6"/>
                </a:lnTo>
                <a:lnTo>
                  <a:pt x="7" y="2"/>
                </a:lnTo>
                <a:lnTo>
                  <a:pt x="8" y="10"/>
                </a:lnTo>
                <a:lnTo>
                  <a:pt x="6" y="16"/>
                </a:lnTo>
                <a:lnTo>
                  <a:pt x="3" y="20"/>
                </a:lnTo>
                <a:lnTo>
                  <a:pt x="0" y="16"/>
                </a:lnTo>
                <a:lnTo>
                  <a:pt x="0" y="9"/>
                </a:lnTo>
                <a:close/>
              </a:path>
            </a:pathLst>
          </a:custGeom>
          <a:solidFill>
            <a:srgbClr val="D9F1D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speech_encoder"/>
          <p:cNvSpPr/>
          <p:nvPr/>
        </p:nvSpPr>
        <p:spPr>
          <a:xfrm>
            <a:off x="6495999" y="4275199"/>
            <a:ext cx="1785600" cy="403200"/>
          </a:xfrm>
          <a:prstGeom prst="rect">
            <a:avLst/>
          </a:prstGeom>
          <a:solidFill>
            <a:srgbClr val="F7C5AC"/>
          </a:solidFill>
          <a:ln w="17279">
            <a:solidFill>
              <a:srgbClr val="9A3F1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speech_encoder_label"/>
          <p:cNvSpPr txBox="1"/>
          <p:nvPr/>
        </p:nvSpPr>
        <p:spPr>
          <a:xfrm>
            <a:off x="6547199" y="4300799"/>
            <a:ext cx="1427200" cy="352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9A3F16"/>
                </a:solidFill>
                <a:latin typeface="URW Gothic"/>
              </a:rPr>
              <a:t>Speech Encoder</a:t>
            </a:r>
          </a:p>
        </p:txBody>
      </p:sp>
      <p:sp>
        <p:nvSpPr>
          <p:cNvPr id="200" name="speech_encoder_frozen"/>
          <p:cNvSpPr txBox="1"/>
          <p:nvPr/>
        </p:nvSpPr>
        <p:spPr>
          <a:xfrm>
            <a:off x="8057599" y="4300799"/>
            <a:ext cx="198400" cy="230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63" b="0" i="0">
                <a:solidFill>
                  <a:srgbClr val="2C78AA"/>
                </a:solidFill>
                <a:latin typeface="DejaVu Sans"/>
              </a:rPr>
              <a:t>❄</a:t>
            </a:r>
          </a:p>
        </p:txBody>
      </p:sp>
      <p:sp>
        <p:nvSpPr>
          <p:cNvPr id="201" name="speech_projector"/>
          <p:cNvSpPr/>
          <p:nvPr/>
        </p:nvSpPr>
        <p:spPr>
          <a:xfrm>
            <a:off x="6495999" y="3750399"/>
            <a:ext cx="1785600" cy="409600"/>
          </a:xfrm>
          <a:prstGeom prst="rect">
            <a:avLst/>
          </a:prstGeom>
          <a:solidFill>
            <a:srgbClr val="F7C5AC"/>
          </a:solidFill>
          <a:ln w="17279">
            <a:solidFill>
              <a:srgbClr val="9A3F1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speech_projector_label"/>
          <p:cNvSpPr txBox="1"/>
          <p:nvPr/>
        </p:nvSpPr>
        <p:spPr>
          <a:xfrm>
            <a:off x="6547199" y="3775999"/>
            <a:ext cx="1427200" cy="358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35" b="0" i="0">
                <a:solidFill>
                  <a:srgbClr val="9A3F16"/>
                </a:solidFill>
                <a:latin typeface="URW Gothic"/>
              </a:rPr>
              <a:t>Speech Projector</a:t>
            </a:r>
          </a:p>
        </p:txBody>
      </p:sp>
      <p:sp>
        <p:nvSpPr>
          <p:cNvPr id="203" name="speech_projector_trainable"/>
          <p:cNvSpPr/>
          <p:nvPr/>
        </p:nvSpPr>
        <p:spPr>
          <a:xfrm>
            <a:off x="8095999" y="3782399"/>
            <a:ext cx="121600" cy="243200"/>
          </a:xfrm>
          <a:custGeom>
            <a:avLst/>
            <a:gdLst/>
            <a:ahLst/>
            <a:cxnLst/>
            <a:rect l="l" t="t" r="r" b="b"/>
            <a:pathLst>
              <a:path w="19" h="38">
                <a:moveTo>
                  <a:pt x="9" y="0"/>
                </a:moveTo>
                <a:lnTo>
                  <a:pt x="12" y="10"/>
                </a:lnTo>
                <a:lnTo>
                  <a:pt x="15" y="5"/>
                </a:lnTo>
                <a:lnTo>
                  <a:pt x="15" y="16"/>
                </a:lnTo>
                <a:lnTo>
                  <a:pt x="19" y="11"/>
                </a:lnTo>
                <a:lnTo>
                  <a:pt x="19" y="23"/>
                </a:lnTo>
                <a:lnTo>
                  <a:pt x="16" y="32"/>
                </a:lnTo>
                <a:lnTo>
                  <a:pt x="11" y="38"/>
                </a:lnTo>
                <a:lnTo>
                  <a:pt x="6" y="33"/>
                </a:lnTo>
                <a:lnTo>
                  <a:pt x="3" y="38"/>
                </a:lnTo>
                <a:lnTo>
                  <a:pt x="0" y="27"/>
                </a:lnTo>
                <a:lnTo>
                  <a:pt x="1" y="17"/>
                </a:lnTo>
                <a:lnTo>
                  <a:pt x="4" y="9"/>
                </a:lnTo>
                <a:lnTo>
                  <a:pt x="5" y="21"/>
                </a:lnTo>
                <a:lnTo>
                  <a:pt x="8" y="14"/>
                </a:lnTo>
                <a:close/>
              </a:path>
            </a:pathLst>
          </a:custGeom>
          <a:solidFill>
            <a:srgbClr val="D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speech_projector_trainable_cutout"/>
          <p:cNvSpPr/>
          <p:nvPr/>
        </p:nvSpPr>
        <p:spPr>
          <a:xfrm>
            <a:off x="8140799" y="3884799"/>
            <a:ext cx="51200" cy="128000"/>
          </a:xfrm>
          <a:custGeom>
            <a:avLst/>
            <a:gdLst/>
            <a:ahLst/>
            <a:cxnLst/>
            <a:rect l="l" t="t" r="r" b="b"/>
            <a:pathLst>
              <a:path w="8" h="20">
                <a:moveTo>
                  <a:pt x="3" y="0"/>
                </a:moveTo>
                <a:lnTo>
                  <a:pt x="5" y="6"/>
                </a:lnTo>
                <a:lnTo>
                  <a:pt x="7" y="2"/>
                </a:lnTo>
                <a:lnTo>
                  <a:pt x="8" y="10"/>
                </a:lnTo>
                <a:lnTo>
                  <a:pt x="6" y="16"/>
                </a:lnTo>
                <a:lnTo>
                  <a:pt x="3" y="20"/>
                </a:lnTo>
                <a:lnTo>
                  <a:pt x="0" y="16"/>
                </a:lnTo>
                <a:lnTo>
                  <a:pt x="0" y="9"/>
                </a:lnTo>
                <a:close/>
              </a:path>
            </a:pathLst>
          </a:custGeom>
          <a:solidFill>
            <a:srgbClr val="F7C5A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time_encoder"/>
          <p:cNvSpPr/>
          <p:nvPr/>
        </p:nvSpPr>
        <p:spPr>
          <a:xfrm>
            <a:off x="8556799" y="3833599"/>
            <a:ext cx="1043200" cy="448000"/>
          </a:xfrm>
          <a:prstGeom prst="rect">
            <a:avLst/>
          </a:prstGeom>
          <a:solidFill>
            <a:srgbClr val="E3BB7E"/>
          </a:solidFill>
          <a:ln w="17279">
            <a:solidFill>
              <a:srgbClr val="8234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time_encoder_label"/>
          <p:cNvSpPr txBox="1"/>
          <p:nvPr/>
        </p:nvSpPr>
        <p:spPr>
          <a:xfrm>
            <a:off x="8607999" y="3859199"/>
            <a:ext cx="876800" cy="396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823410"/>
                </a:solidFill>
                <a:latin typeface="URW Gothic"/>
              </a:rPr>
              <a:t/>
            </a:r>
          </a:p>
        </p:txBody>
      </p:sp>
      <p:sp>
        <p:nvSpPr>
          <p:cNvPr id="207" name="time_encoder_line_1"/>
          <p:cNvSpPr txBox="1"/>
          <p:nvPr/>
        </p:nvSpPr>
        <p:spPr>
          <a:xfrm>
            <a:off x="8588799" y="3852799"/>
            <a:ext cx="800000" cy="192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11" b="0" i="0">
                <a:solidFill>
                  <a:srgbClr val="823410"/>
                </a:solidFill>
                <a:latin typeface="URW Gothic"/>
              </a:rPr>
              <a:t>Time</a:t>
            </a:r>
          </a:p>
        </p:txBody>
      </p:sp>
      <p:sp>
        <p:nvSpPr>
          <p:cNvPr id="208" name="time_encoder_line_2"/>
          <p:cNvSpPr txBox="1"/>
          <p:nvPr/>
        </p:nvSpPr>
        <p:spPr>
          <a:xfrm>
            <a:off x="8588799" y="4044799"/>
            <a:ext cx="800000" cy="192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11" b="0" i="0">
                <a:solidFill>
                  <a:srgbClr val="823410"/>
                </a:solidFill>
                <a:latin typeface="URW Gothic"/>
              </a:rPr>
              <a:t>Encoder</a:t>
            </a:r>
          </a:p>
        </p:txBody>
      </p:sp>
      <p:sp>
        <p:nvSpPr>
          <p:cNvPr id="209" name="time_encoder_flame_1"/>
          <p:cNvSpPr/>
          <p:nvPr/>
        </p:nvSpPr>
        <p:spPr>
          <a:xfrm>
            <a:off x="9433599" y="3859199"/>
            <a:ext cx="102400" cy="192000"/>
          </a:xfrm>
          <a:custGeom>
            <a:avLst/>
            <a:gdLst/>
            <a:ahLst/>
            <a:cxnLst/>
            <a:rect l="l" t="t" r="r" b="b"/>
            <a:pathLst>
              <a:path w="16" h="30">
                <a:moveTo>
                  <a:pt x="8" y="0"/>
                </a:moveTo>
                <a:lnTo>
                  <a:pt x="10" y="8"/>
                </a:lnTo>
                <a:lnTo>
                  <a:pt x="12" y="4"/>
                </a:lnTo>
                <a:lnTo>
                  <a:pt x="12" y="13"/>
                </a:lnTo>
                <a:lnTo>
                  <a:pt x="16" y="9"/>
                </a:lnTo>
                <a:lnTo>
                  <a:pt x="15" y="18"/>
                </a:lnTo>
                <a:lnTo>
                  <a:pt x="13" y="25"/>
                </a:lnTo>
                <a:lnTo>
                  <a:pt x="9" y="30"/>
                </a:lnTo>
                <a:lnTo>
                  <a:pt x="5" y="26"/>
                </a:lnTo>
                <a:lnTo>
                  <a:pt x="3" y="30"/>
                </a:lnTo>
                <a:lnTo>
                  <a:pt x="0" y="22"/>
                </a:lnTo>
                <a:lnTo>
                  <a:pt x="2" y="13"/>
                </a:lnTo>
                <a:lnTo>
                  <a:pt x="4" y="7"/>
                </a:lnTo>
                <a:lnTo>
                  <a:pt x="4" y="17"/>
                </a:lnTo>
                <a:lnTo>
                  <a:pt x="7" y="11"/>
                </a:lnTo>
                <a:close/>
              </a:path>
            </a:pathLst>
          </a:custGeom>
          <a:solidFill>
            <a:srgbClr val="D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time_encoder_flame_1_cutout"/>
          <p:cNvSpPr/>
          <p:nvPr/>
        </p:nvSpPr>
        <p:spPr>
          <a:xfrm>
            <a:off x="9471999" y="3942399"/>
            <a:ext cx="38400" cy="102400"/>
          </a:xfrm>
          <a:custGeom>
            <a:avLst/>
            <a:gdLst/>
            <a:ahLst/>
            <a:cxnLst/>
            <a:rect l="l" t="t" r="r" b="b"/>
            <a:pathLst>
              <a:path w="6" h="16">
                <a:moveTo>
                  <a:pt x="2" y="0"/>
                </a:moveTo>
                <a:lnTo>
                  <a:pt x="4" y="4"/>
                </a:lnTo>
                <a:lnTo>
                  <a:pt x="5" y="1"/>
                </a:lnTo>
                <a:lnTo>
                  <a:pt x="6" y="7"/>
                </a:lnTo>
                <a:lnTo>
                  <a:pt x="5" y="12"/>
                </a:lnTo>
                <a:lnTo>
                  <a:pt x="2" y="16"/>
                </a:lnTo>
                <a:lnTo>
                  <a:pt x="0" y="12"/>
                </a:lnTo>
                <a:lnTo>
                  <a:pt x="0" y="7"/>
                </a:lnTo>
                <a:close/>
              </a:path>
            </a:pathLst>
          </a:custGeom>
          <a:solidFill>
            <a:srgbClr val="E3BB7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time_encoder_flame_2"/>
          <p:cNvSpPr/>
          <p:nvPr/>
        </p:nvSpPr>
        <p:spPr>
          <a:xfrm>
            <a:off x="9433599" y="4057599"/>
            <a:ext cx="102400" cy="192000"/>
          </a:xfrm>
          <a:custGeom>
            <a:avLst/>
            <a:gdLst/>
            <a:ahLst/>
            <a:cxnLst/>
            <a:rect l="l" t="t" r="r" b="b"/>
            <a:pathLst>
              <a:path w="16" h="30">
                <a:moveTo>
                  <a:pt x="8" y="0"/>
                </a:moveTo>
                <a:lnTo>
                  <a:pt x="10" y="8"/>
                </a:lnTo>
                <a:lnTo>
                  <a:pt x="12" y="4"/>
                </a:lnTo>
                <a:lnTo>
                  <a:pt x="12" y="13"/>
                </a:lnTo>
                <a:lnTo>
                  <a:pt x="16" y="9"/>
                </a:lnTo>
                <a:lnTo>
                  <a:pt x="15" y="18"/>
                </a:lnTo>
                <a:lnTo>
                  <a:pt x="13" y="26"/>
                </a:lnTo>
                <a:lnTo>
                  <a:pt x="9" y="30"/>
                </a:lnTo>
                <a:lnTo>
                  <a:pt x="5" y="26"/>
                </a:lnTo>
                <a:lnTo>
                  <a:pt x="3" y="30"/>
                </a:lnTo>
                <a:lnTo>
                  <a:pt x="0" y="22"/>
                </a:lnTo>
                <a:lnTo>
                  <a:pt x="2" y="14"/>
                </a:lnTo>
                <a:lnTo>
                  <a:pt x="4" y="7"/>
                </a:lnTo>
                <a:lnTo>
                  <a:pt x="4" y="17"/>
                </a:lnTo>
                <a:lnTo>
                  <a:pt x="7" y="11"/>
                </a:lnTo>
                <a:close/>
              </a:path>
            </a:pathLst>
          </a:custGeom>
          <a:solidFill>
            <a:srgbClr val="D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time_encoder_flame_2_cutout"/>
          <p:cNvSpPr/>
          <p:nvPr/>
        </p:nvSpPr>
        <p:spPr>
          <a:xfrm>
            <a:off x="9471999" y="4140799"/>
            <a:ext cx="38400" cy="96000"/>
          </a:xfrm>
          <a:custGeom>
            <a:avLst/>
            <a:gdLst/>
            <a:ahLst/>
            <a:cxnLst/>
            <a:rect l="l" t="t" r="r" b="b"/>
            <a:pathLst>
              <a:path w="6" h="15">
                <a:moveTo>
                  <a:pt x="2" y="0"/>
                </a:moveTo>
                <a:lnTo>
                  <a:pt x="4" y="4"/>
                </a:lnTo>
                <a:lnTo>
                  <a:pt x="5" y="1"/>
                </a:lnTo>
                <a:lnTo>
                  <a:pt x="6" y="7"/>
                </a:lnTo>
                <a:lnTo>
                  <a:pt x="5" y="13"/>
                </a:lnTo>
                <a:lnTo>
                  <a:pt x="2" y="15"/>
                </a:lnTo>
                <a:lnTo>
                  <a:pt x="0" y="12"/>
                </a:lnTo>
                <a:lnTo>
                  <a:pt x="0" y="7"/>
                </a:lnTo>
                <a:close/>
              </a:path>
            </a:pathLst>
          </a:custGeom>
          <a:solidFill>
            <a:srgbClr val="E3BB7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vision_cross_attention"/>
          <p:cNvSpPr/>
          <p:nvPr/>
        </p:nvSpPr>
        <p:spPr>
          <a:xfrm>
            <a:off x="768000" y="2720000"/>
            <a:ext cx="1785600" cy="409600"/>
          </a:xfrm>
          <a:prstGeom prst="rect">
            <a:avLst/>
          </a:prstGeom>
          <a:solidFill>
            <a:srgbClr val="DCEAF7"/>
          </a:solidFill>
          <a:ln w="17279">
            <a:solidFill>
              <a:srgbClr val="174E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vision_cross_attention_label"/>
          <p:cNvSpPr txBox="1"/>
          <p:nvPr/>
        </p:nvSpPr>
        <p:spPr>
          <a:xfrm>
            <a:off x="819200" y="2745600"/>
            <a:ext cx="1619200" cy="358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174E78"/>
                </a:solidFill>
                <a:latin typeface="URW Gothic"/>
              </a:rPr>
              <a:t>Cross Attention</a:t>
            </a:r>
          </a:p>
        </p:txBody>
      </p:sp>
      <p:sp>
        <p:nvSpPr>
          <p:cNvPr id="215" name="audio_cross_attention"/>
          <p:cNvSpPr/>
          <p:nvPr/>
        </p:nvSpPr>
        <p:spPr>
          <a:xfrm>
            <a:off x="3680000" y="2694400"/>
            <a:ext cx="1779200" cy="409600"/>
          </a:xfrm>
          <a:prstGeom prst="rect">
            <a:avLst/>
          </a:prstGeom>
          <a:solidFill>
            <a:srgbClr val="D9F1D1"/>
          </a:solidFill>
          <a:ln w="17279">
            <a:solidFill>
              <a:srgbClr val="2B6B2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audio_cross_attention_label"/>
          <p:cNvSpPr txBox="1"/>
          <p:nvPr/>
        </p:nvSpPr>
        <p:spPr>
          <a:xfrm>
            <a:off x="3731200" y="2720000"/>
            <a:ext cx="1612800" cy="358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B6B20"/>
                </a:solidFill>
                <a:latin typeface="URW Gothic"/>
              </a:rPr>
              <a:t>Cross Attention</a:t>
            </a:r>
          </a:p>
        </p:txBody>
      </p:sp>
      <p:sp>
        <p:nvSpPr>
          <p:cNvPr id="217" name="speech_cross_attention"/>
          <p:cNvSpPr/>
          <p:nvPr/>
        </p:nvSpPr>
        <p:spPr>
          <a:xfrm>
            <a:off x="6495999" y="2675200"/>
            <a:ext cx="1785600" cy="403200"/>
          </a:xfrm>
          <a:prstGeom prst="rect">
            <a:avLst/>
          </a:prstGeom>
          <a:solidFill>
            <a:srgbClr val="F7C5AC"/>
          </a:solidFill>
          <a:ln w="17279">
            <a:solidFill>
              <a:srgbClr val="9A3F1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speech_cross_attention_label"/>
          <p:cNvSpPr txBox="1"/>
          <p:nvPr/>
        </p:nvSpPr>
        <p:spPr>
          <a:xfrm>
            <a:off x="6547199" y="2700800"/>
            <a:ext cx="1619200" cy="352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9A3F16"/>
                </a:solidFill>
                <a:latin typeface="URW Gothic"/>
              </a:rPr>
              <a:t>Cross Attention</a:t>
            </a:r>
          </a:p>
        </p:txBody>
      </p:sp>
      <p:sp>
        <p:nvSpPr>
          <p:cNvPr id="219" name="vision_tokens_tray"/>
          <p:cNvSpPr/>
          <p:nvPr/>
        </p:nvSpPr>
        <p:spPr>
          <a:xfrm>
            <a:off x="1203200" y="3264000"/>
            <a:ext cx="928000" cy="313600"/>
          </a:xfrm>
          <a:prstGeom prst="roundRect">
            <a:avLst/>
          </a:prstGeom>
          <a:solidFill>
            <a:srgbClr val="EAEF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vision_tokens_1"/>
          <p:cNvSpPr/>
          <p:nvPr/>
        </p:nvSpPr>
        <p:spPr>
          <a:xfrm>
            <a:off x="1273600" y="3321600"/>
            <a:ext cx="198400" cy="198400"/>
          </a:xfrm>
          <a:prstGeom prst="rect">
            <a:avLst/>
          </a:prstGeom>
          <a:solidFill>
            <a:srgbClr val="A6C8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vision_tokens_2"/>
          <p:cNvSpPr/>
          <p:nvPr/>
        </p:nvSpPr>
        <p:spPr>
          <a:xfrm>
            <a:off x="1568000" y="3321600"/>
            <a:ext cx="198400" cy="198400"/>
          </a:xfrm>
          <a:prstGeom prst="rect">
            <a:avLst/>
          </a:prstGeom>
          <a:solidFill>
            <a:srgbClr val="A6C8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vision_tokens_3"/>
          <p:cNvSpPr/>
          <p:nvPr/>
        </p:nvSpPr>
        <p:spPr>
          <a:xfrm>
            <a:off x="1862400" y="3321600"/>
            <a:ext cx="198400" cy="198400"/>
          </a:xfrm>
          <a:prstGeom prst="rect">
            <a:avLst/>
          </a:prstGeom>
          <a:solidFill>
            <a:srgbClr val="A6C8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audio_tokens_tray"/>
          <p:cNvSpPr/>
          <p:nvPr/>
        </p:nvSpPr>
        <p:spPr>
          <a:xfrm>
            <a:off x="4032000" y="3264000"/>
            <a:ext cx="928000" cy="313600"/>
          </a:xfrm>
          <a:prstGeom prst="roundRect">
            <a:avLst/>
          </a:prstGeom>
          <a:solidFill>
            <a:srgbClr val="EAEF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audio_tokens_1"/>
          <p:cNvSpPr/>
          <p:nvPr/>
        </p:nvSpPr>
        <p:spPr>
          <a:xfrm>
            <a:off x="4102400" y="3321600"/>
            <a:ext cx="198400" cy="198400"/>
          </a:xfrm>
          <a:prstGeom prst="rect">
            <a:avLst/>
          </a:prstGeom>
          <a:solidFill>
            <a:srgbClr val="A8D1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audio_tokens_2"/>
          <p:cNvSpPr/>
          <p:nvPr/>
        </p:nvSpPr>
        <p:spPr>
          <a:xfrm>
            <a:off x="4396800" y="3321600"/>
            <a:ext cx="198400" cy="198400"/>
          </a:xfrm>
          <a:prstGeom prst="rect">
            <a:avLst/>
          </a:prstGeom>
          <a:solidFill>
            <a:srgbClr val="A8D1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audio_tokens_3"/>
          <p:cNvSpPr/>
          <p:nvPr/>
        </p:nvSpPr>
        <p:spPr>
          <a:xfrm>
            <a:off x="4691200" y="3321600"/>
            <a:ext cx="198400" cy="198400"/>
          </a:xfrm>
          <a:prstGeom prst="rect">
            <a:avLst/>
          </a:prstGeom>
          <a:solidFill>
            <a:srgbClr val="A8D1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speech_tokens_tray"/>
          <p:cNvSpPr/>
          <p:nvPr/>
        </p:nvSpPr>
        <p:spPr>
          <a:xfrm>
            <a:off x="6847999" y="3264000"/>
            <a:ext cx="928000" cy="313600"/>
          </a:xfrm>
          <a:prstGeom prst="roundRect">
            <a:avLst/>
          </a:prstGeom>
          <a:solidFill>
            <a:srgbClr val="EAEF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speech_tokens_1"/>
          <p:cNvSpPr/>
          <p:nvPr/>
        </p:nvSpPr>
        <p:spPr>
          <a:xfrm>
            <a:off x="6918399" y="3321600"/>
            <a:ext cx="198400" cy="198400"/>
          </a:xfrm>
          <a:prstGeom prst="rect">
            <a:avLst/>
          </a:prstGeom>
          <a:solidFill>
            <a:srgbClr val="EB86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speech_tokens_2"/>
          <p:cNvSpPr/>
          <p:nvPr/>
        </p:nvSpPr>
        <p:spPr>
          <a:xfrm>
            <a:off x="7212799" y="3321600"/>
            <a:ext cx="198400" cy="198400"/>
          </a:xfrm>
          <a:prstGeom prst="rect">
            <a:avLst/>
          </a:prstGeom>
          <a:solidFill>
            <a:srgbClr val="EB86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speech_tokens_3"/>
          <p:cNvSpPr/>
          <p:nvPr/>
        </p:nvSpPr>
        <p:spPr>
          <a:xfrm>
            <a:off x="7507199" y="3321600"/>
            <a:ext cx="198400" cy="198400"/>
          </a:xfrm>
          <a:prstGeom prst="rect">
            <a:avLst/>
          </a:prstGeom>
          <a:solidFill>
            <a:srgbClr val="EB864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vision_tokens_label"/>
          <p:cNvSpPr txBox="1"/>
          <p:nvPr/>
        </p:nvSpPr>
        <p:spPr>
          <a:xfrm>
            <a:off x="179200" y="3200000"/>
            <a:ext cx="1011200" cy="288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9" b="0" i="0">
                <a:solidFill>
                  <a:srgbClr val="155982"/>
                </a:solidFill>
                <a:latin typeface="URW Gothic"/>
              </a:rPr>
              <a:t>Vision Tokens</a:t>
            </a:r>
          </a:p>
        </p:txBody>
      </p:sp>
      <p:sp>
        <p:nvSpPr>
          <p:cNvPr id="232" name="audio_tokens_label"/>
          <p:cNvSpPr txBox="1"/>
          <p:nvPr/>
        </p:nvSpPr>
        <p:spPr>
          <a:xfrm>
            <a:off x="3040000" y="3200000"/>
            <a:ext cx="1011200" cy="288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9" b="0" i="0">
                <a:solidFill>
                  <a:srgbClr val="2B6B20"/>
                </a:solidFill>
                <a:latin typeface="URW Gothic"/>
              </a:rPr>
              <a:t>Audio Tokens</a:t>
            </a:r>
          </a:p>
        </p:txBody>
      </p:sp>
      <p:sp>
        <p:nvSpPr>
          <p:cNvPr id="233" name="speech_tokens_label"/>
          <p:cNvSpPr txBox="1"/>
          <p:nvPr/>
        </p:nvSpPr>
        <p:spPr>
          <a:xfrm>
            <a:off x="5702400" y="3200000"/>
            <a:ext cx="1152000" cy="288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9" b="0" i="0">
                <a:solidFill>
                  <a:srgbClr val="9A3F16"/>
                </a:solidFill>
                <a:latin typeface="URW Gothic"/>
              </a:rPr>
              <a:t>Speech Tokens</a:t>
            </a:r>
          </a:p>
        </p:txBody>
      </p:sp>
      <p:sp>
        <p:nvSpPr>
          <p:cNvPr id="234" name="weight_vision"/>
          <p:cNvSpPr/>
          <p:nvPr/>
        </p:nvSpPr>
        <p:spPr>
          <a:xfrm>
            <a:off x="2156800" y="1990400"/>
            <a:ext cx="710400" cy="236800"/>
          </a:xfrm>
          <a:prstGeom prst="ellipse">
            <a:avLst/>
          </a:prstGeom>
          <a:solidFill>
            <a:srgbClr val="DCEAF7"/>
          </a:solidFill>
          <a:ln w="17279">
            <a:solidFill>
              <a:srgbClr val="174E7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weight_vision_label"/>
          <p:cNvSpPr txBox="1"/>
          <p:nvPr/>
        </p:nvSpPr>
        <p:spPr>
          <a:xfrm>
            <a:off x="2188800" y="1984000"/>
            <a:ext cx="646400" cy="243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11" b="0" i="1">
                <a:solidFill>
                  <a:srgbClr val="174E78"/>
                </a:solidFill>
                <a:latin typeface="DejaVu Sans"/>
              </a:rPr>
              <a:t>Wᵥ</a:t>
            </a:r>
          </a:p>
        </p:txBody>
      </p:sp>
      <p:sp>
        <p:nvSpPr>
          <p:cNvPr id="236" name="weight_audio"/>
          <p:cNvSpPr/>
          <p:nvPr/>
        </p:nvSpPr>
        <p:spPr>
          <a:xfrm>
            <a:off x="4211200" y="2368000"/>
            <a:ext cx="704000" cy="243200"/>
          </a:xfrm>
          <a:prstGeom prst="ellipse">
            <a:avLst/>
          </a:prstGeom>
          <a:solidFill>
            <a:srgbClr val="D9F1D1"/>
          </a:solidFill>
          <a:ln w="17279">
            <a:solidFill>
              <a:srgbClr val="2B6B2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weight_audio_label"/>
          <p:cNvSpPr txBox="1"/>
          <p:nvPr/>
        </p:nvSpPr>
        <p:spPr>
          <a:xfrm>
            <a:off x="4243200" y="2361600"/>
            <a:ext cx="640000" cy="24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11" b="0" i="0">
                <a:solidFill>
                  <a:srgbClr val="2B6B20"/>
                </a:solidFill>
                <a:latin typeface="DejaVu Sans"/>
              </a:rPr>
              <a:t>Wₐ</a:t>
            </a:r>
          </a:p>
        </p:txBody>
      </p:sp>
      <p:sp>
        <p:nvSpPr>
          <p:cNvPr id="238" name="weight_speech"/>
          <p:cNvSpPr/>
          <p:nvPr/>
        </p:nvSpPr>
        <p:spPr>
          <a:xfrm>
            <a:off x="6406399" y="1990400"/>
            <a:ext cx="640000" cy="243200"/>
          </a:xfrm>
          <a:prstGeom prst="ellipse">
            <a:avLst/>
          </a:prstGeom>
          <a:solidFill>
            <a:srgbClr val="F7C5AC"/>
          </a:solidFill>
          <a:ln w="17279">
            <a:solidFill>
              <a:srgbClr val="9A3F1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weight_speech_label"/>
          <p:cNvSpPr txBox="1"/>
          <p:nvPr/>
        </p:nvSpPr>
        <p:spPr>
          <a:xfrm>
            <a:off x="6438399" y="1984000"/>
            <a:ext cx="576000" cy="249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11" b="0" i="1">
                <a:solidFill>
                  <a:srgbClr val="9A3F16"/>
                </a:solidFill>
                <a:latin typeface="DejaVu Sans"/>
              </a:rPr>
              <a:t>Wₛ</a:t>
            </a:r>
          </a:p>
        </p:txBody>
      </p:sp>
      <p:sp>
        <p:nvSpPr>
          <p:cNvPr id="240" name="pointwise_addition"/>
          <p:cNvSpPr/>
          <p:nvPr/>
        </p:nvSpPr>
        <p:spPr>
          <a:xfrm>
            <a:off x="4416000" y="1958400"/>
            <a:ext cx="294400" cy="294400"/>
          </a:xfrm>
          <a:prstGeom prst="ellipse">
            <a:avLst/>
          </a:prstGeom>
          <a:solidFill>
            <a:srgbClr val="FFFFFF"/>
          </a:solidFill>
          <a:ln w="1791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1" name="pointwise_addition_h"/>
          <p:cNvCxnSpPr/>
          <p:nvPr/>
        </p:nvCxnSpPr>
        <p:spPr>
          <a:xfrm>
            <a:off x="4435200" y="2105600"/>
            <a:ext cx="256000" cy="0"/>
          </a:xfrm>
          <a:prstGeom prst="line">
            <a:avLst/>
          </a:prstGeom>
          <a:ln w="17919">
            <a:solidFill>
              <a:srgbClr val="000000"/>
            </a:solidFill>
          </a:ln>
          <a:effectLst/>
        </p:spPr>
      </p:cxnSp>
      <p:cxnSp>
        <p:nvCxnSpPr>
          <p:cNvPr id="242" name="pointwise_addition_v"/>
          <p:cNvCxnSpPr/>
          <p:nvPr/>
        </p:nvCxnSpPr>
        <p:spPr>
          <a:xfrm>
            <a:off x="4563200" y="1977600"/>
            <a:ext cx="0" cy="256000"/>
          </a:xfrm>
          <a:prstGeom prst="line">
            <a:avLst/>
          </a:prstGeom>
          <a:ln w="17919">
            <a:solidFill>
              <a:srgbClr val="000000"/>
            </a:solidFill>
          </a:ln>
          <a:effectLst/>
        </p:spPr>
      </p:cxnSp>
      <p:sp>
        <p:nvSpPr>
          <p:cNvPr id="243" name="feature_vq"/>
          <p:cNvSpPr txBox="1"/>
          <p:nvPr/>
        </p:nvSpPr>
        <p:spPr>
          <a:xfrm>
            <a:off x="2969600" y="2144000"/>
            <a:ext cx="640000" cy="256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9" b="0" i="1">
                <a:solidFill>
                  <a:srgbClr val="174E78"/>
                </a:solidFill>
                <a:latin typeface="DejaVu Sans"/>
              </a:rPr>
              <a:t>fᵢᵛ,ᑫ</a:t>
            </a:r>
          </a:p>
        </p:txBody>
      </p:sp>
      <p:sp>
        <p:nvSpPr>
          <p:cNvPr id="244" name="feature_aq"/>
          <p:cNvSpPr txBox="1"/>
          <p:nvPr/>
        </p:nvSpPr>
        <p:spPr>
          <a:xfrm>
            <a:off x="4704000" y="2195200"/>
            <a:ext cx="640000" cy="256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9" b="0" i="1">
                <a:solidFill>
                  <a:srgbClr val="2B6B20"/>
                </a:solidFill>
                <a:latin typeface="DejaVu Sans"/>
              </a:rPr>
              <a:t>fᵢᵃ,ᑫ</a:t>
            </a:r>
          </a:p>
        </p:txBody>
      </p:sp>
      <p:sp>
        <p:nvSpPr>
          <p:cNvPr id="245" name="feature_sq"/>
          <p:cNvSpPr txBox="1"/>
          <p:nvPr/>
        </p:nvSpPr>
        <p:spPr>
          <a:xfrm>
            <a:off x="6111999" y="2144000"/>
            <a:ext cx="608000" cy="256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9" b="0" i="1">
                <a:solidFill>
                  <a:srgbClr val="EB7F32"/>
                </a:solidFill>
                <a:latin typeface="DejaVu Sans"/>
              </a:rPr>
              <a:t>fᵢˢ,ᑫ</a:t>
            </a:r>
          </a:p>
        </p:txBody>
      </p:sp>
      <p:sp>
        <p:nvSpPr>
          <p:cNvPr id="246" name="multimodal_tokens_label"/>
          <p:cNvSpPr txBox="1"/>
          <p:nvPr/>
        </p:nvSpPr>
        <p:spPr>
          <a:xfrm>
            <a:off x="1542400" y="1568000"/>
            <a:ext cx="1376000" cy="30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9" b="0" i="0">
                <a:solidFill>
                  <a:srgbClr val="155982"/>
                </a:solidFill>
                <a:latin typeface="URW Gothic"/>
              </a:rPr>
              <a:t>Multimodal </a:t>
            </a:r>
            <a:r>
              <a:rPr sz="1209" b="0" i="0">
                <a:solidFill>
                  <a:srgbClr val="EB7F32"/>
                </a:solidFill>
                <a:latin typeface="URW Gothic"/>
              </a:rPr>
              <a:t>tokens</a:t>
            </a:r>
          </a:p>
        </p:txBody>
      </p:sp>
      <p:sp>
        <p:nvSpPr>
          <p:cNvPr id="247" name="concat_tray"/>
          <p:cNvSpPr/>
          <p:nvPr/>
        </p:nvSpPr>
        <p:spPr>
          <a:xfrm>
            <a:off x="2937600" y="1593600"/>
            <a:ext cx="3635200" cy="249600"/>
          </a:xfrm>
          <a:prstGeom prst="roundRect">
            <a:avLst/>
          </a:prstGeom>
          <a:solidFill>
            <a:srgbClr val="EAEF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concat_prefix"/>
          <p:cNvSpPr txBox="1"/>
          <p:nvPr/>
        </p:nvSpPr>
        <p:spPr>
          <a:xfrm>
            <a:off x="3008000" y="1580800"/>
            <a:ext cx="1024000" cy="268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9" b="0" i="0">
                <a:solidFill>
                  <a:srgbClr val="174E78"/>
                </a:solidFill>
                <a:latin typeface="DejaVu Sans"/>
              </a:rPr>
              <a:t>Concat( Wᵥ∗</a:t>
            </a:r>
          </a:p>
        </p:txBody>
      </p:sp>
      <p:sp>
        <p:nvSpPr>
          <p:cNvPr id="249" name="concat_blue_1"/>
          <p:cNvSpPr/>
          <p:nvPr/>
        </p:nvSpPr>
        <p:spPr>
          <a:xfrm>
            <a:off x="4044800" y="1644800"/>
            <a:ext cx="198400" cy="179200"/>
          </a:xfrm>
          <a:prstGeom prst="rect">
            <a:avLst/>
          </a:prstGeom>
          <a:solidFill>
            <a:srgbClr val="A6C8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concat_blue_2"/>
          <p:cNvSpPr/>
          <p:nvPr/>
        </p:nvSpPr>
        <p:spPr>
          <a:xfrm>
            <a:off x="4275200" y="1644800"/>
            <a:ext cx="198400" cy="179200"/>
          </a:xfrm>
          <a:prstGeom prst="rect">
            <a:avLst/>
          </a:prstGeom>
          <a:solidFill>
            <a:srgbClr val="A6C8E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concat_audio_label"/>
          <p:cNvSpPr txBox="1"/>
          <p:nvPr/>
        </p:nvSpPr>
        <p:spPr>
          <a:xfrm>
            <a:off x="4518400" y="1580800"/>
            <a:ext cx="409600" cy="268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9" b="0" i="0">
                <a:solidFill>
                  <a:srgbClr val="2B6B20"/>
                </a:solidFill>
                <a:latin typeface="DejaVu Sans"/>
              </a:rPr>
              <a:t>Wₐ∗</a:t>
            </a:r>
          </a:p>
        </p:txBody>
      </p:sp>
      <p:sp>
        <p:nvSpPr>
          <p:cNvPr id="252" name="concat_green_1"/>
          <p:cNvSpPr/>
          <p:nvPr/>
        </p:nvSpPr>
        <p:spPr>
          <a:xfrm>
            <a:off x="4921600" y="1644800"/>
            <a:ext cx="198400" cy="179200"/>
          </a:xfrm>
          <a:prstGeom prst="rect">
            <a:avLst/>
          </a:prstGeom>
          <a:solidFill>
            <a:srgbClr val="82CB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concat_green_2"/>
          <p:cNvSpPr/>
          <p:nvPr/>
        </p:nvSpPr>
        <p:spPr>
          <a:xfrm>
            <a:off x="5152000" y="1644800"/>
            <a:ext cx="198400" cy="179200"/>
          </a:xfrm>
          <a:prstGeom prst="rect">
            <a:avLst/>
          </a:prstGeom>
          <a:solidFill>
            <a:srgbClr val="82CB4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concat_speech_label"/>
          <p:cNvSpPr txBox="1"/>
          <p:nvPr/>
        </p:nvSpPr>
        <p:spPr>
          <a:xfrm>
            <a:off x="5388800" y="1580800"/>
            <a:ext cx="377600" cy="268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9" b="0" i="0">
                <a:solidFill>
                  <a:srgbClr val="9A3F16"/>
                </a:solidFill>
                <a:latin typeface="DejaVu Sans"/>
              </a:rPr>
              <a:t>Wₛ∗</a:t>
            </a:r>
          </a:p>
        </p:txBody>
      </p:sp>
      <p:sp>
        <p:nvSpPr>
          <p:cNvPr id="255" name="concat_orange_1"/>
          <p:cNvSpPr/>
          <p:nvPr/>
        </p:nvSpPr>
        <p:spPr>
          <a:xfrm>
            <a:off x="5747200" y="1644800"/>
            <a:ext cx="198400" cy="179200"/>
          </a:xfrm>
          <a:prstGeom prst="rect">
            <a:avLst/>
          </a:prstGeom>
          <a:solidFill>
            <a:srgbClr val="F6C5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concat_orange_2"/>
          <p:cNvSpPr/>
          <p:nvPr/>
        </p:nvSpPr>
        <p:spPr>
          <a:xfrm>
            <a:off x="5977600" y="1644800"/>
            <a:ext cx="198400" cy="179200"/>
          </a:xfrm>
          <a:prstGeom prst="rect">
            <a:avLst/>
          </a:prstGeom>
          <a:solidFill>
            <a:srgbClr val="F6C5A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concat_close"/>
          <p:cNvSpPr txBox="1"/>
          <p:nvPr/>
        </p:nvSpPr>
        <p:spPr>
          <a:xfrm>
            <a:off x="6182399" y="1580800"/>
            <a:ext cx="153600" cy="268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9" b="0" i="0">
                <a:solidFill>
                  <a:srgbClr val="174E78"/>
                </a:solidFill>
                <a:latin typeface="URW Gothic"/>
              </a:rPr>
              <a:t>)</a:t>
            </a:r>
          </a:p>
        </p:txBody>
      </p:sp>
      <p:sp>
        <p:nvSpPr>
          <p:cNvPr id="258" name="concat_time_token"/>
          <p:cNvSpPr/>
          <p:nvPr/>
        </p:nvSpPr>
        <p:spPr>
          <a:xfrm>
            <a:off x="6291199" y="1625600"/>
            <a:ext cx="198400" cy="204800"/>
          </a:xfrm>
          <a:prstGeom prst="rect">
            <a:avLst/>
          </a:prstGeom>
          <a:solidFill>
            <a:srgbClr val="E3BB7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compress_mlp"/>
          <p:cNvSpPr/>
          <p:nvPr/>
        </p:nvSpPr>
        <p:spPr>
          <a:xfrm>
            <a:off x="3276800" y="1120000"/>
            <a:ext cx="2688000" cy="332800"/>
          </a:xfrm>
          <a:prstGeom prst="rect">
            <a:avLst/>
          </a:prstGeom>
          <a:solidFill>
            <a:srgbClr val="FAE3D5"/>
          </a:solidFill>
          <a:ln w="17279">
            <a:solidFill>
              <a:srgbClr val="8234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compress_mlp_label"/>
          <p:cNvSpPr txBox="1"/>
          <p:nvPr/>
        </p:nvSpPr>
        <p:spPr>
          <a:xfrm>
            <a:off x="3328000" y="1145600"/>
            <a:ext cx="2521600" cy="281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823410"/>
                </a:solidFill>
                <a:latin typeface="URW Gothic"/>
              </a:rPr>
              <a:t>Compress &amp; Two-layer MLP</a:t>
            </a:r>
          </a:p>
        </p:txBody>
      </p:sp>
      <p:sp>
        <p:nvSpPr>
          <p:cNvPr id="261" name="llm"/>
          <p:cNvSpPr/>
          <p:nvPr/>
        </p:nvSpPr>
        <p:spPr>
          <a:xfrm>
            <a:off x="768000" y="499200"/>
            <a:ext cx="7583999" cy="441600"/>
          </a:xfrm>
          <a:prstGeom prst="rect">
            <a:avLst/>
          </a:prstGeom>
          <a:solidFill>
            <a:srgbClr val="FAE3D5"/>
          </a:solidFill>
          <a:ln w="17279">
            <a:solidFill>
              <a:srgbClr val="8234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llm_label"/>
          <p:cNvSpPr txBox="1"/>
          <p:nvPr/>
        </p:nvSpPr>
        <p:spPr>
          <a:xfrm>
            <a:off x="819200" y="524800"/>
            <a:ext cx="7417599" cy="3904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823410"/>
                </a:solidFill>
                <a:latin typeface="URW Gothic"/>
              </a:rPr>
              <a:t/>
            </a:r>
          </a:p>
        </p:txBody>
      </p:sp>
      <p:sp>
        <p:nvSpPr>
          <p:cNvPr id="263" name="llm_trainable"/>
          <p:cNvSpPr/>
          <p:nvPr/>
        </p:nvSpPr>
        <p:spPr>
          <a:xfrm>
            <a:off x="832000" y="537600"/>
            <a:ext cx="243200" cy="358400"/>
          </a:xfrm>
          <a:custGeom>
            <a:avLst/>
            <a:gdLst/>
            <a:ahLst/>
            <a:cxnLst/>
            <a:rect l="l" t="t" r="r" b="b"/>
            <a:pathLst>
              <a:path w="38" h="56">
                <a:moveTo>
                  <a:pt x="18" y="0"/>
                </a:moveTo>
                <a:lnTo>
                  <a:pt x="24" y="15"/>
                </a:lnTo>
                <a:lnTo>
                  <a:pt x="30" y="7"/>
                </a:lnTo>
                <a:lnTo>
                  <a:pt x="30" y="24"/>
                </a:lnTo>
                <a:lnTo>
                  <a:pt x="38" y="17"/>
                </a:lnTo>
                <a:lnTo>
                  <a:pt x="36" y="34"/>
                </a:lnTo>
                <a:lnTo>
                  <a:pt x="31" y="48"/>
                </a:lnTo>
                <a:lnTo>
                  <a:pt x="22" y="56"/>
                </a:lnTo>
                <a:lnTo>
                  <a:pt x="12" y="48"/>
                </a:lnTo>
                <a:lnTo>
                  <a:pt x="5" y="56"/>
                </a:lnTo>
                <a:lnTo>
                  <a:pt x="0" y="40"/>
                </a:lnTo>
                <a:lnTo>
                  <a:pt x="2" y="25"/>
                </a:lnTo>
                <a:lnTo>
                  <a:pt x="8" y="13"/>
                </a:lnTo>
                <a:lnTo>
                  <a:pt x="10" y="31"/>
                </a:lnTo>
                <a:lnTo>
                  <a:pt x="15" y="20"/>
                </a:lnTo>
                <a:close/>
              </a:path>
            </a:pathLst>
          </a:custGeom>
          <a:solidFill>
            <a:srgbClr val="D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llm_trainable_cutout"/>
          <p:cNvSpPr/>
          <p:nvPr/>
        </p:nvSpPr>
        <p:spPr>
          <a:xfrm>
            <a:off x="915200" y="691200"/>
            <a:ext cx="102400" cy="185600"/>
          </a:xfrm>
          <a:custGeom>
            <a:avLst/>
            <a:gdLst/>
            <a:ahLst/>
            <a:cxnLst/>
            <a:rect l="l" t="t" r="r" b="b"/>
            <a:pathLst>
              <a:path w="16" h="29">
                <a:moveTo>
                  <a:pt x="6" y="0"/>
                </a:moveTo>
                <a:lnTo>
                  <a:pt x="11" y="8"/>
                </a:lnTo>
                <a:lnTo>
                  <a:pt x="14" y="3"/>
                </a:lnTo>
                <a:lnTo>
                  <a:pt x="16" y="14"/>
                </a:lnTo>
                <a:lnTo>
                  <a:pt x="13" y="24"/>
                </a:lnTo>
                <a:lnTo>
                  <a:pt x="6" y="29"/>
                </a:lnTo>
                <a:lnTo>
                  <a:pt x="1" y="23"/>
                </a:lnTo>
                <a:lnTo>
                  <a:pt x="0" y="14"/>
                </a:lnTo>
                <a:close/>
              </a:path>
            </a:pathLst>
          </a:custGeom>
          <a:solidFill>
            <a:srgbClr val="FAE3D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llm_label"/>
          <p:cNvSpPr txBox="1"/>
          <p:nvPr/>
        </p:nvSpPr>
        <p:spPr>
          <a:xfrm>
            <a:off x="1312000" y="550400"/>
            <a:ext cx="6495999" cy="332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13" b="0" i="0">
                <a:solidFill>
                  <a:srgbClr val="823410"/>
                </a:solidFill>
                <a:latin typeface="URW Gothic"/>
              </a:rPr>
              <a:t>Large Language Model</a:t>
            </a:r>
          </a:p>
        </p:txBody>
      </p:sp>
      <p:sp>
        <p:nvSpPr>
          <p:cNvPr id="266" name="time_head"/>
          <p:cNvSpPr/>
          <p:nvPr/>
        </p:nvSpPr>
        <p:spPr>
          <a:xfrm>
            <a:off x="5171200" y="121600"/>
            <a:ext cx="1286400" cy="256000"/>
          </a:xfrm>
          <a:prstGeom prst="rect">
            <a:avLst/>
          </a:prstGeom>
          <a:solidFill>
            <a:srgbClr val="F2CFED"/>
          </a:solidFill>
          <a:ln w="17279">
            <a:solidFill>
              <a:srgbClr val="64155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time_head_label"/>
          <p:cNvSpPr txBox="1"/>
          <p:nvPr/>
        </p:nvSpPr>
        <p:spPr>
          <a:xfrm>
            <a:off x="5222400" y="147200"/>
            <a:ext cx="1120000" cy="2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64155B"/>
                </a:solidFill>
                <a:latin typeface="URW Gothic"/>
              </a:rPr>
              <a:t/>
            </a:r>
          </a:p>
        </p:txBody>
      </p:sp>
      <p:sp>
        <p:nvSpPr>
          <p:cNvPr id="268" name="time_head_left"/>
          <p:cNvSpPr/>
          <p:nvPr/>
        </p:nvSpPr>
        <p:spPr>
          <a:xfrm>
            <a:off x="5216000" y="147200"/>
            <a:ext cx="115200" cy="198400"/>
          </a:xfrm>
          <a:custGeom>
            <a:avLst/>
            <a:gdLst/>
            <a:ahLst/>
            <a:cxnLst/>
            <a:rect l="l" t="t" r="r" b="b"/>
            <a:pathLst>
              <a:path w="18" h="31">
                <a:moveTo>
                  <a:pt x="9" y="0"/>
                </a:moveTo>
                <a:lnTo>
                  <a:pt x="11" y="8"/>
                </a:lnTo>
                <a:lnTo>
                  <a:pt x="14" y="4"/>
                </a:lnTo>
                <a:lnTo>
                  <a:pt x="14" y="13"/>
                </a:lnTo>
                <a:lnTo>
                  <a:pt x="18" y="9"/>
                </a:lnTo>
                <a:lnTo>
                  <a:pt x="17" y="19"/>
                </a:lnTo>
                <a:lnTo>
                  <a:pt x="14" y="26"/>
                </a:lnTo>
                <a:lnTo>
                  <a:pt x="10" y="31"/>
                </a:lnTo>
                <a:lnTo>
                  <a:pt x="6" y="27"/>
                </a:lnTo>
                <a:lnTo>
                  <a:pt x="2" y="31"/>
                </a:lnTo>
                <a:lnTo>
                  <a:pt x="0" y="22"/>
                </a:lnTo>
                <a:lnTo>
                  <a:pt x="1" y="14"/>
                </a:lnTo>
                <a:lnTo>
                  <a:pt x="4" y="7"/>
                </a:lnTo>
                <a:lnTo>
                  <a:pt x="4" y="17"/>
                </a:lnTo>
                <a:lnTo>
                  <a:pt x="7" y="11"/>
                </a:lnTo>
                <a:close/>
              </a:path>
            </a:pathLst>
          </a:custGeom>
          <a:solidFill>
            <a:srgbClr val="D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time_head_left_cutout"/>
          <p:cNvSpPr/>
          <p:nvPr/>
        </p:nvSpPr>
        <p:spPr>
          <a:xfrm>
            <a:off x="5254400" y="230400"/>
            <a:ext cx="44800" cy="102400"/>
          </a:xfrm>
          <a:custGeom>
            <a:avLst/>
            <a:gdLst/>
            <a:ahLst/>
            <a:cxnLst/>
            <a:rect l="l" t="t" r="r" b="b"/>
            <a:pathLst>
              <a:path w="7" h="16">
                <a:moveTo>
                  <a:pt x="3" y="0"/>
                </a:moveTo>
                <a:lnTo>
                  <a:pt x="5" y="5"/>
                </a:lnTo>
                <a:lnTo>
                  <a:pt x="6" y="2"/>
                </a:lnTo>
                <a:lnTo>
                  <a:pt x="7" y="8"/>
                </a:lnTo>
                <a:lnTo>
                  <a:pt x="6" y="13"/>
                </a:lnTo>
                <a:lnTo>
                  <a:pt x="3" y="16"/>
                </a:lnTo>
                <a:lnTo>
                  <a:pt x="0" y="13"/>
                </a:lnTo>
                <a:lnTo>
                  <a:pt x="0" y="8"/>
                </a:lnTo>
                <a:close/>
              </a:path>
            </a:pathLst>
          </a:custGeom>
          <a:solidFill>
            <a:srgbClr val="F2CF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time_head_right"/>
          <p:cNvSpPr/>
          <p:nvPr/>
        </p:nvSpPr>
        <p:spPr>
          <a:xfrm>
            <a:off x="6310399" y="147200"/>
            <a:ext cx="115200" cy="198400"/>
          </a:xfrm>
          <a:custGeom>
            <a:avLst/>
            <a:gdLst/>
            <a:ahLst/>
            <a:cxnLst/>
            <a:rect l="l" t="t" r="r" b="b"/>
            <a:pathLst>
              <a:path w="18" h="31">
                <a:moveTo>
                  <a:pt x="8" y="0"/>
                </a:moveTo>
                <a:lnTo>
                  <a:pt x="11" y="8"/>
                </a:lnTo>
                <a:lnTo>
                  <a:pt x="14" y="4"/>
                </a:lnTo>
                <a:lnTo>
                  <a:pt x="14" y="13"/>
                </a:lnTo>
                <a:lnTo>
                  <a:pt x="18" y="9"/>
                </a:lnTo>
                <a:lnTo>
                  <a:pt x="17" y="19"/>
                </a:lnTo>
                <a:lnTo>
                  <a:pt x="14" y="26"/>
                </a:lnTo>
                <a:lnTo>
                  <a:pt x="10" y="31"/>
                </a:lnTo>
                <a:lnTo>
                  <a:pt x="6" y="27"/>
                </a:lnTo>
                <a:lnTo>
                  <a:pt x="2" y="31"/>
                </a:lnTo>
                <a:lnTo>
                  <a:pt x="0" y="22"/>
                </a:lnTo>
                <a:lnTo>
                  <a:pt x="1" y="14"/>
                </a:lnTo>
                <a:lnTo>
                  <a:pt x="4" y="7"/>
                </a:lnTo>
                <a:lnTo>
                  <a:pt x="4" y="17"/>
                </a:lnTo>
                <a:lnTo>
                  <a:pt x="7" y="11"/>
                </a:lnTo>
                <a:close/>
              </a:path>
            </a:pathLst>
          </a:custGeom>
          <a:solidFill>
            <a:srgbClr val="D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time_head_right_cutout"/>
          <p:cNvSpPr/>
          <p:nvPr/>
        </p:nvSpPr>
        <p:spPr>
          <a:xfrm>
            <a:off x="6348799" y="230400"/>
            <a:ext cx="44800" cy="102400"/>
          </a:xfrm>
          <a:custGeom>
            <a:avLst/>
            <a:gdLst/>
            <a:ahLst/>
            <a:cxnLst/>
            <a:rect l="l" t="t" r="r" b="b"/>
            <a:pathLst>
              <a:path w="7" h="16">
                <a:moveTo>
                  <a:pt x="3" y="0"/>
                </a:moveTo>
                <a:lnTo>
                  <a:pt x="5" y="5"/>
                </a:lnTo>
                <a:lnTo>
                  <a:pt x="6" y="2"/>
                </a:lnTo>
                <a:lnTo>
                  <a:pt x="7" y="8"/>
                </a:lnTo>
                <a:lnTo>
                  <a:pt x="6" y="13"/>
                </a:lnTo>
                <a:lnTo>
                  <a:pt x="3" y="16"/>
                </a:lnTo>
                <a:lnTo>
                  <a:pt x="0" y="13"/>
                </a:lnTo>
                <a:lnTo>
                  <a:pt x="0" y="8"/>
                </a:lnTo>
                <a:close/>
              </a:path>
            </a:pathLst>
          </a:custGeom>
          <a:solidFill>
            <a:srgbClr val="F2CF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time_head_label"/>
          <p:cNvSpPr txBox="1"/>
          <p:nvPr/>
        </p:nvSpPr>
        <p:spPr>
          <a:xfrm>
            <a:off x="5337600" y="128000"/>
            <a:ext cx="960000" cy="243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0" b="0" i="0">
                <a:solidFill>
                  <a:srgbClr val="64155B"/>
                </a:solidFill>
                <a:latin typeface="URW Gothic"/>
              </a:rPr>
              <a:t>Time Head</a:t>
            </a:r>
          </a:p>
        </p:txBody>
      </p:sp>
      <p:sp>
        <p:nvSpPr>
          <p:cNvPr id="273" name="lm_head"/>
          <p:cNvSpPr/>
          <p:nvPr/>
        </p:nvSpPr>
        <p:spPr>
          <a:xfrm>
            <a:off x="7155199" y="121600"/>
            <a:ext cx="1222400" cy="256000"/>
          </a:xfrm>
          <a:prstGeom prst="rect">
            <a:avLst/>
          </a:prstGeom>
          <a:solidFill>
            <a:srgbClr val="F2CFED"/>
          </a:solidFill>
          <a:ln w="17279">
            <a:solidFill>
              <a:srgbClr val="64155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lm_head_label"/>
          <p:cNvSpPr txBox="1"/>
          <p:nvPr/>
        </p:nvSpPr>
        <p:spPr>
          <a:xfrm>
            <a:off x="7206399" y="147200"/>
            <a:ext cx="1056000" cy="20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64155B"/>
                </a:solidFill>
                <a:latin typeface="URW Gothic"/>
              </a:rPr>
              <a:t/>
            </a:r>
          </a:p>
        </p:txBody>
      </p:sp>
      <p:sp>
        <p:nvSpPr>
          <p:cNvPr id="275" name="lm_head_left"/>
          <p:cNvSpPr/>
          <p:nvPr/>
        </p:nvSpPr>
        <p:spPr>
          <a:xfrm>
            <a:off x="7206399" y="147200"/>
            <a:ext cx="115200" cy="198400"/>
          </a:xfrm>
          <a:custGeom>
            <a:avLst/>
            <a:gdLst/>
            <a:ahLst/>
            <a:cxnLst/>
            <a:rect l="l" t="t" r="r" b="b"/>
            <a:pathLst>
              <a:path w="18" h="31">
                <a:moveTo>
                  <a:pt x="8" y="0"/>
                </a:moveTo>
                <a:lnTo>
                  <a:pt x="11" y="8"/>
                </a:lnTo>
                <a:lnTo>
                  <a:pt x="14" y="4"/>
                </a:lnTo>
                <a:lnTo>
                  <a:pt x="14" y="13"/>
                </a:lnTo>
                <a:lnTo>
                  <a:pt x="18" y="9"/>
                </a:lnTo>
                <a:lnTo>
                  <a:pt x="17" y="19"/>
                </a:lnTo>
                <a:lnTo>
                  <a:pt x="14" y="26"/>
                </a:lnTo>
                <a:lnTo>
                  <a:pt x="10" y="31"/>
                </a:lnTo>
                <a:lnTo>
                  <a:pt x="6" y="27"/>
                </a:lnTo>
                <a:lnTo>
                  <a:pt x="2" y="31"/>
                </a:lnTo>
                <a:lnTo>
                  <a:pt x="0" y="22"/>
                </a:lnTo>
                <a:lnTo>
                  <a:pt x="1" y="14"/>
                </a:lnTo>
                <a:lnTo>
                  <a:pt x="4" y="7"/>
                </a:lnTo>
                <a:lnTo>
                  <a:pt x="4" y="17"/>
                </a:lnTo>
                <a:lnTo>
                  <a:pt x="7" y="11"/>
                </a:lnTo>
                <a:close/>
              </a:path>
            </a:pathLst>
          </a:custGeom>
          <a:solidFill>
            <a:srgbClr val="D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lm_head_left_cutout"/>
          <p:cNvSpPr/>
          <p:nvPr/>
        </p:nvSpPr>
        <p:spPr>
          <a:xfrm>
            <a:off x="7244799" y="230400"/>
            <a:ext cx="44800" cy="102400"/>
          </a:xfrm>
          <a:custGeom>
            <a:avLst/>
            <a:gdLst/>
            <a:ahLst/>
            <a:cxnLst/>
            <a:rect l="l" t="t" r="r" b="b"/>
            <a:pathLst>
              <a:path w="7" h="16">
                <a:moveTo>
                  <a:pt x="3" y="0"/>
                </a:moveTo>
                <a:lnTo>
                  <a:pt x="5" y="5"/>
                </a:lnTo>
                <a:lnTo>
                  <a:pt x="6" y="2"/>
                </a:lnTo>
                <a:lnTo>
                  <a:pt x="7" y="8"/>
                </a:lnTo>
                <a:lnTo>
                  <a:pt x="6" y="13"/>
                </a:lnTo>
                <a:lnTo>
                  <a:pt x="3" y="16"/>
                </a:lnTo>
                <a:lnTo>
                  <a:pt x="0" y="13"/>
                </a:lnTo>
                <a:lnTo>
                  <a:pt x="0" y="8"/>
                </a:lnTo>
                <a:close/>
              </a:path>
            </a:pathLst>
          </a:custGeom>
          <a:solidFill>
            <a:srgbClr val="F2CF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lm_head_right"/>
          <p:cNvSpPr/>
          <p:nvPr/>
        </p:nvSpPr>
        <p:spPr>
          <a:xfrm>
            <a:off x="8223999" y="147200"/>
            <a:ext cx="115200" cy="198400"/>
          </a:xfrm>
          <a:custGeom>
            <a:avLst/>
            <a:gdLst/>
            <a:ahLst/>
            <a:cxnLst/>
            <a:rect l="l" t="t" r="r" b="b"/>
            <a:pathLst>
              <a:path w="18" h="31">
                <a:moveTo>
                  <a:pt x="9" y="0"/>
                </a:moveTo>
                <a:lnTo>
                  <a:pt x="11" y="8"/>
                </a:lnTo>
                <a:lnTo>
                  <a:pt x="14" y="4"/>
                </a:lnTo>
                <a:lnTo>
                  <a:pt x="14" y="13"/>
                </a:lnTo>
                <a:lnTo>
                  <a:pt x="18" y="9"/>
                </a:lnTo>
                <a:lnTo>
                  <a:pt x="17" y="19"/>
                </a:lnTo>
                <a:lnTo>
                  <a:pt x="14" y="26"/>
                </a:lnTo>
                <a:lnTo>
                  <a:pt x="10" y="31"/>
                </a:lnTo>
                <a:lnTo>
                  <a:pt x="6" y="27"/>
                </a:lnTo>
                <a:lnTo>
                  <a:pt x="2" y="31"/>
                </a:lnTo>
                <a:lnTo>
                  <a:pt x="0" y="22"/>
                </a:lnTo>
                <a:lnTo>
                  <a:pt x="1" y="14"/>
                </a:lnTo>
                <a:lnTo>
                  <a:pt x="4" y="7"/>
                </a:lnTo>
                <a:lnTo>
                  <a:pt x="4" y="17"/>
                </a:lnTo>
                <a:lnTo>
                  <a:pt x="7" y="11"/>
                </a:lnTo>
                <a:close/>
              </a:path>
            </a:pathLst>
          </a:custGeom>
          <a:solidFill>
            <a:srgbClr val="D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lm_head_right_cutout"/>
          <p:cNvSpPr/>
          <p:nvPr/>
        </p:nvSpPr>
        <p:spPr>
          <a:xfrm>
            <a:off x="8262399" y="230400"/>
            <a:ext cx="44800" cy="102400"/>
          </a:xfrm>
          <a:custGeom>
            <a:avLst/>
            <a:gdLst/>
            <a:ahLst/>
            <a:cxnLst/>
            <a:rect l="l" t="t" r="r" b="b"/>
            <a:pathLst>
              <a:path w="7" h="16">
                <a:moveTo>
                  <a:pt x="3" y="0"/>
                </a:moveTo>
                <a:lnTo>
                  <a:pt x="5" y="5"/>
                </a:lnTo>
                <a:lnTo>
                  <a:pt x="6" y="2"/>
                </a:lnTo>
                <a:lnTo>
                  <a:pt x="7" y="8"/>
                </a:lnTo>
                <a:lnTo>
                  <a:pt x="6" y="13"/>
                </a:lnTo>
                <a:lnTo>
                  <a:pt x="3" y="16"/>
                </a:lnTo>
                <a:lnTo>
                  <a:pt x="0" y="13"/>
                </a:lnTo>
                <a:lnTo>
                  <a:pt x="0" y="8"/>
                </a:lnTo>
                <a:close/>
              </a:path>
            </a:pathLst>
          </a:custGeom>
          <a:solidFill>
            <a:srgbClr val="F2CFE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lm_head_label"/>
          <p:cNvSpPr txBox="1"/>
          <p:nvPr/>
        </p:nvSpPr>
        <p:spPr>
          <a:xfrm>
            <a:off x="7321599" y="128000"/>
            <a:ext cx="876800" cy="243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60" b="0" i="0">
                <a:solidFill>
                  <a:srgbClr val="64155B"/>
                </a:solidFill>
                <a:latin typeface="URW Gothic"/>
              </a:rPr>
              <a:t>LM Head</a:t>
            </a:r>
          </a:p>
        </p:txBody>
      </p:sp>
      <p:sp>
        <p:nvSpPr>
          <p:cNvPr id="280" name="sync_label"/>
          <p:cNvSpPr txBox="1"/>
          <p:nvPr/>
        </p:nvSpPr>
        <p:spPr>
          <a:xfrm>
            <a:off x="6521599" y="44800"/>
            <a:ext cx="588800" cy="185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8" b="0" i="0">
                <a:solidFill>
                  <a:srgbClr val="64155B"/>
                </a:solidFill>
                <a:latin typeface="URW Gothic"/>
              </a:rPr>
              <a:t>&lt;sync&gt;</a:t>
            </a:r>
          </a:p>
        </p:txBody>
      </p:sp>
      <p:sp>
        <p:nvSpPr>
          <p:cNvPr id="281" name="connector_trainable"/>
          <p:cNvSpPr/>
          <p:nvPr/>
        </p:nvSpPr>
        <p:spPr>
          <a:xfrm>
            <a:off x="7161599" y="1062400"/>
            <a:ext cx="160000" cy="249600"/>
          </a:xfrm>
          <a:custGeom>
            <a:avLst/>
            <a:gdLst/>
            <a:ahLst/>
            <a:cxnLst/>
            <a:rect l="l" t="t" r="r" b="b"/>
            <a:pathLst>
              <a:path w="25" h="39">
                <a:moveTo>
                  <a:pt x="13" y="0"/>
                </a:moveTo>
                <a:lnTo>
                  <a:pt x="16" y="11"/>
                </a:lnTo>
                <a:lnTo>
                  <a:pt x="20" y="5"/>
                </a:lnTo>
                <a:lnTo>
                  <a:pt x="20" y="16"/>
                </a:lnTo>
                <a:lnTo>
                  <a:pt x="25" y="12"/>
                </a:lnTo>
                <a:lnTo>
                  <a:pt x="24" y="24"/>
                </a:lnTo>
                <a:lnTo>
                  <a:pt x="20" y="33"/>
                </a:lnTo>
                <a:lnTo>
                  <a:pt x="15" y="39"/>
                </a:lnTo>
                <a:lnTo>
                  <a:pt x="8" y="34"/>
                </a:lnTo>
                <a:lnTo>
                  <a:pt x="4" y="39"/>
                </a:lnTo>
                <a:lnTo>
                  <a:pt x="0" y="28"/>
                </a:lnTo>
                <a:lnTo>
                  <a:pt x="2" y="18"/>
                </a:lnTo>
                <a:lnTo>
                  <a:pt x="6" y="9"/>
                </a:lnTo>
                <a:lnTo>
                  <a:pt x="7" y="22"/>
                </a:lnTo>
                <a:lnTo>
                  <a:pt x="10" y="14"/>
                </a:lnTo>
                <a:close/>
              </a:path>
            </a:pathLst>
          </a:custGeom>
          <a:solidFill>
            <a:srgbClr val="D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connector_trainable_cutout"/>
          <p:cNvSpPr/>
          <p:nvPr/>
        </p:nvSpPr>
        <p:spPr>
          <a:xfrm>
            <a:off x="7219199" y="1171200"/>
            <a:ext cx="64000" cy="128000"/>
          </a:xfrm>
          <a:custGeom>
            <a:avLst/>
            <a:gdLst/>
            <a:ahLst/>
            <a:cxnLst/>
            <a:rect l="l" t="t" r="r" b="b"/>
            <a:pathLst>
              <a:path w="10" h="20">
                <a:moveTo>
                  <a:pt x="4" y="0"/>
                </a:moveTo>
                <a:lnTo>
                  <a:pt x="7" y="5"/>
                </a:lnTo>
                <a:lnTo>
                  <a:pt x="9" y="2"/>
                </a:lnTo>
                <a:lnTo>
                  <a:pt x="10" y="10"/>
                </a:lnTo>
                <a:lnTo>
                  <a:pt x="8" y="16"/>
                </a:lnTo>
                <a:lnTo>
                  <a:pt x="4" y="20"/>
                </a:lnTo>
                <a:lnTo>
                  <a:pt x="0" y="16"/>
                </a:lnTo>
                <a:lnTo>
                  <a:pt x="0" y="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connector_title"/>
          <p:cNvSpPr txBox="1"/>
          <p:nvPr/>
        </p:nvSpPr>
        <p:spPr>
          <a:xfrm>
            <a:off x="7366399" y="1036800"/>
            <a:ext cx="2163200" cy="288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11" b="1" i="0">
                <a:solidFill>
                  <a:srgbClr val="2167A0"/>
                </a:solidFill>
                <a:latin typeface="URW Gothic"/>
              </a:rPr>
              <a:t>Query-Based Connector</a:t>
            </a:r>
          </a:p>
        </p:txBody>
      </p:sp>
      <p:sp>
        <p:nvSpPr>
          <p:cNvPr id="284" name="legend_plus"/>
          <p:cNvSpPr/>
          <p:nvPr/>
        </p:nvSpPr>
        <p:spPr>
          <a:xfrm>
            <a:off x="9759999" y="1081600"/>
            <a:ext cx="243200" cy="243200"/>
          </a:xfrm>
          <a:prstGeom prst="ellipse">
            <a:avLst/>
          </a:prstGeom>
          <a:solidFill>
            <a:srgbClr val="FFFFFF"/>
          </a:solidFill>
          <a:ln w="17919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85" name="legend_plus_h"/>
          <p:cNvCxnSpPr/>
          <p:nvPr/>
        </p:nvCxnSpPr>
        <p:spPr>
          <a:xfrm>
            <a:off x="9779199" y="1203200"/>
            <a:ext cx="204800" cy="0"/>
          </a:xfrm>
          <a:prstGeom prst="line">
            <a:avLst/>
          </a:prstGeom>
          <a:ln w="17919">
            <a:solidFill>
              <a:srgbClr val="000000"/>
            </a:solidFill>
          </a:ln>
          <a:effectLst/>
        </p:spPr>
      </p:cxnSp>
      <p:cxnSp>
        <p:nvCxnSpPr>
          <p:cNvPr id="286" name="legend_plus_v"/>
          <p:cNvCxnSpPr/>
          <p:nvPr/>
        </p:nvCxnSpPr>
        <p:spPr>
          <a:xfrm>
            <a:off x="9881599" y="1100800"/>
            <a:ext cx="0" cy="204800"/>
          </a:xfrm>
          <a:prstGeom prst="line">
            <a:avLst/>
          </a:prstGeom>
          <a:ln w="17919">
            <a:solidFill>
              <a:srgbClr val="000000"/>
            </a:solidFill>
          </a:ln>
          <a:effectLst/>
        </p:spPr>
      </p:cxnSp>
      <p:sp>
        <p:nvSpPr>
          <p:cNvPr id="287" name="legend_plus_label"/>
          <p:cNvSpPr txBox="1"/>
          <p:nvPr/>
        </p:nvSpPr>
        <p:spPr>
          <a:xfrm>
            <a:off x="10047999" y="1062400"/>
            <a:ext cx="1900800" cy="288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9" b="0" i="0">
                <a:solidFill>
                  <a:srgbClr val="222222"/>
                </a:solidFill>
                <a:latin typeface="URW Gothic"/>
              </a:rPr>
              <a:t>Point-wise Addition</a:t>
            </a:r>
          </a:p>
        </p:txBody>
      </p:sp>
      <p:sp>
        <p:nvSpPr>
          <p:cNvPr id="288" name="legend_stage2"/>
          <p:cNvSpPr/>
          <p:nvPr/>
        </p:nvSpPr>
        <p:spPr>
          <a:xfrm>
            <a:off x="9766399" y="1401600"/>
            <a:ext cx="147200" cy="256000"/>
          </a:xfrm>
          <a:custGeom>
            <a:avLst/>
            <a:gdLst/>
            <a:ahLst/>
            <a:cxnLst/>
            <a:rect l="l" t="t" r="r" b="b"/>
            <a:pathLst>
              <a:path w="23" h="40">
                <a:moveTo>
                  <a:pt x="12" y="0"/>
                </a:moveTo>
                <a:lnTo>
                  <a:pt x="15" y="11"/>
                </a:lnTo>
                <a:lnTo>
                  <a:pt x="18" y="5"/>
                </a:lnTo>
                <a:lnTo>
                  <a:pt x="18" y="17"/>
                </a:lnTo>
                <a:lnTo>
                  <a:pt x="23" y="12"/>
                </a:lnTo>
                <a:lnTo>
                  <a:pt x="22" y="24"/>
                </a:lnTo>
                <a:lnTo>
                  <a:pt x="19" y="34"/>
                </a:lnTo>
                <a:lnTo>
                  <a:pt x="14" y="40"/>
                </a:lnTo>
                <a:lnTo>
                  <a:pt x="8" y="34"/>
                </a:lnTo>
                <a:lnTo>
                  <a:pt x="3" y="40"/>
                </a:lnTo>
                <a:lnTo>
                  <a:pt x="0" y="29"/>
                </a:lnTo>
                <a:lnTo>
                  <a:pt x="2" y="18"/>
                </a:lnTo>
                <a:lnTo>
                  <a:pt x="5" y="10"/>
                </a:lnTo>
                <a:lnTo>
                  <a:pt x="6" y="22"/>
                </a:lnTo>
                <a:lnTo>
                  <a:pt x="10" y="14"/>
                </a:lnTo>
                <a:close/>
              </a:path>
            </a:pathLst>
          </a:custGeom>
          <a:solidFill>
            <a:srgbClr val="D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legend_stage2_cutout"/>
          <p:cNvSpPr/>
          <p:nvPr/>
        </p:nvSpPr>
        <p:spPr>
          <a:xfrm>
            <a:off x="9817599" y="1510400"/>
            <a:ext cx="64000" cy="134400"/>
          </a:xfrm>
          <a:custGeom>
            <a:avLst/>
            <a:gdLst/>
            <a:ahLst/>
            <a:cxnLst/>
            <a:rect l="l" t="t" r="r" b="b"/>
            <a:pathLst>
              <a:path w="10" h="21">
                <a:moveTo>
                  <a:pt x="4" y="0"/>
                </a:moveTo>
                <a:lnTo>
                  <a:pt x="7" y="6"/>
                </a:lnTo>
                <a:lnTo>
                  <a:pt x="9" y="2"/>
                </a:lnTo>
                <a:lnTo>
                  <a:pt x="10" y="10"/>
                </a:lnTo>
                <a:lnTo>
                  <a:pt x="8" y="17"/>
                </a:lnTo>
                <a:lnTo>
                  <a:pt x="4" y="21"/>
                </a:lnTo>
                <a:lnTo>
                  <a:pt x="1" y="17"/>
                </a:lnTo>
                <a:lnTo>
                  <a:pt x="0" y="1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legend_stage2_label"/>
          <p:cNvSpPr txBox="1"/>
          <p:nvPr/>
        </p:nvSpPr>
        <p:spPr>
          <a:xfrm>
            <a:off x="10047999" y="1376000"/>
            <a:ext cx="1920000" cy="300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9" b="0" i="0">
                <a:solidFill>
                  <a:srgbClr val="222222"/>
                </a:solidFill>
                <a:latin typeface="URW Gothic"/>
              </a:rPr>
              <a:t>Stage2 Trainable Modules</a:t>
            </a:r>
          </a:p>
        </p:txBody>
      </p:sp>
      <p:sp>
        <p:nvSpPr>
          <p:cNvPr id="291" name="legend_stage3_a"/>
          <p:cNvSpPr/>
          <p:nvPr/>
        </p:nvSpPr>
        <p:spPr>
          <a:xfrm>
            <a:off x="9759999" y="1721600"/>
            <a:ext cx="121600" cy="249600"/>
          </a:xfrm>
          <a:custGeom>
            <a:avLst/>
            <a:gdLst/>
            <a:ahLst/>
            <a:cxnLst/>
            <a:rect l="l" t="t" r="r" b="b"/>
            <a:pathLst>
              <a:path w="19" h="39">
                <a:moveTo>
                  <a:pt x="9" y="0"/>
                </a:moveTo>
                <a:lnTo>
                  <a:pt x="12" y="11"/>
                </a:lnTo>
                <a:lnTo>
                  <a:pt x="15" y="5"/>
                </a:lnTo>
                <a:lnTo>
                  <a:pt x="15" y="16"/>
                </a:lnTo>
                <a:lnTo>
                  <a:pt x="19" y="12"/>
                </a:lnTo>
                <a:lnTo>
                  <a:pt x="19" y="24"/>
                </a:lnTo>
                <a:lnTo>
                  <a:pt x="16" y="33"/>
                </a:lnTo>
                <a:lnTo>
                  <a:pt x="11" y="39"/>
                </a:lnTo>
                <a:lnTo>
                  <a:pt x="6" y="34"/>
                </a:lnTo>
                <a:lnTo>
                  <a:pt x="3" y="39"/>
                </a:lnTo>
                <a:lnTo>
                  <a:pt x="0" y="28"/>
                </a:lnTo>
                <a:lnTo>
                  <a:pt x="1" y="18"/>
                </a:lnTo>
                <a:lnTo>
                  <a:pt x="4" y="9"/>
                </a:lnTo>
                <a:lnTo>
                  <a:pt x="5" y="22"/>
                </a:lnTo>
                <a:lnTo>
                  <a:pt x="8" y="14"/>
                </a:lnTo>
                <a:close/>
              </a:path>
            </a:pathLst>
          </a:custGeom>
          <a:solidFill>
            <a:srgbClr val="D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legend_stage3_a_cutout"/>
          <p:cNvSpPr/>
          <p:nvPr/>
        </p:nvSpPr>
        <p:spPr>
          <a:xfrm>
            <a:off x="9804799" y="1830400"/>
            <a:ext cx="51200" cy="128000"/>
          </a:xfrm>
          <a:custGeom>
            <a:avLst/>
            <a:gdLst/>
            <a:ahLst/>
            <a:cxnLst/>
            <a:rect l="l" t="t" r="r" b="b"/>
            <a:pathLst>
              <a:path w="8" h="20">
                <a:moveTo>
                  <a:pt x="3" y="0"/>
                </a:moveTo>
                <a:lnTo>
                  <a:pt x="5" y="5"/>
                </a:lnTo>
                <a:lnTo>
                  <a:pt x="7" y="2"/>
                </a:lnTo>
                <a:lnTo>
                  <a:pt x="8" y="10"/>
                </a:lnTo>
                <a:lnTo>
                  <a:pt x="6" y="16"/>
                </a:lnTo>
                <a:lnTo>
                  <a:pt x="3" y="20"/>
                </a:lnTo>
                <a:lnTo>
                  <a:pt x="0" y="16"/>
                </a:lnTo>
                <a:lnTo>
                  <a:pt x="0" y="9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legend_stage3_b"/>
          <p:cNvSpPr/>
          <p:nvPr/>
        </p:nvSpPr>
        <p:spPr>
          <a:xfrm>
            <a:off x="9836799" y="1740800"/>
            <a:ext cx="115200" cy="224000"/>
          </a:xfrm>
          <a:custGeom>
            <a:avLst/>
            <a:gdLst/>
            <a:ahLst/>
            <a:cxnLst/>
            <a:rect l="l" t="t" r="r" b="b"/>
            <a:pathLst>
              <a:path w="18" h="35">
                <a:moveTo>
                  <a:pt x="9" y="0"/>
                </a:moveTo>
                <a:lnTo>
                  <a:pt x="11" y="9"/>
                </a:lnTo>
                <a:lnTo>
                  <a:pt x="14" y="5"/>
                </a:lnTo>
                <a:lnTo>
                  <a:pt x="14" y="15"/>
                </a:lnTo>
                <a:lnTo>
                  <a:pt x="18" y="10"/>
                </a:lnTo>
                <a:lnTo>
                  <a:pt x="17" y="21"/>
                </a:lnTo>
                <a:lnTo>
                  <a:pt x="14" y="30"/>
                </a:lnTo>
                <a:lnTo>
                  <a:pt x="10" y="35"/>
                </a:lnTo>
                <a:lnTo>
                  <a:pt x="6" y="30"/>
                </a:lnTo>
                <a:lnTo>
                  <a:pt x="2" y="35"/>
                </a:lnTo>
                <a:lnTo>
                  <a:pt x="0" y="25"/>
                </a:lnTo>
                <a:lnTo>
                  <a:pt x="1" y="16"/>
                </a:lnTo>
                <a:lnTo>
                  <a:pt x="4" y="8"/>
                </a:lnTo>
                <a:lnTo>
                  <a:pt x="4" y="20"/>
                </a:lnTo>
                <a:lnTo>
                  <a:pt x="7" y="13"/>
                </a:lnTo>
                <a:close/>
              </a:path>
            </a:pathLst>
          </a:custGeom>
          <a:solidFill>
            <a:srgbClr val="D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legend_stage3_b_cutout"/>
          <p:cNvSpPr/>
          <p:nvPr/>
        </p:nvSpPr>
        <p:spPr>
          <a:xfrm>
            <a:off x="9875199" y="1836800"/>
            <a:ext cx="44800" cy="115200"/>
          </a:xfrm>
          <a:custGeom>
            <a:avLst/>
            <a:gdLst/>
            <a:ahLst/>
            <a:cxnLst/>
            <a:rect l="l" t="t" r="r" b="b"/>
            <a:pathLst>
              <a:path w="7" h="18">
                <a:moveTo>
                  <a:pt x="3" y="0"/>
                </a:moveTo>
                <a:lnTo>
                  <a:pt x="5" y="5"/>
                </a:lnTo>
                <a:lnTo>
                  <a:pt x="6" y="2"/>
                </a:lnTo>
                <a:lnTo>
                  <a:pt x="7" y="9"/>
                </a:lnTo>
                <a:lnTo>
                  <a:pt x="6" y="15"/>
                </a:lnTo>
                <a:lnTo>
                  <a:pt x="3" y="18"/>
                </a:lnTo>
                <a:lnTo>
                  <a:pt x="0" y="14"/>
                </a:lnTo>
                <a:lnTo>
                  <a:pt x="0" y="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legend_stage3_label"/>
          <p:cNvSpPr txBox="1"/>
          <p:nvPr/>
        </p:nvSpPr>
        <p:spPr>
          <a:xfrm>
            <a:off x="10047999" y="1689600"/>
            <a:ext cx="1952000" cy="30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9" b="0" i="0">
                <a:solidFill>
                  <a:srgbClr val="222222"/>
                </a:solidFill>
                <a:latin typeface="URW Gothic"/>
              </a:rPr>
              <a:t>Stage3 Trainable Modules</a:t>
            </a:r>
          </a:p>
        </p:txBody>
      </p:sp>
      <p:sp>
        <p:nvSpPr>
          <p:cNvPr id="296" name="legend_frozen"/>
          <p:cNvSpPr txBox="1"/>
          <p:nvPr/>
        </p:nvSpPr>
        <p:spPr>
          <a:xfrm>
            <a:off x="9747199" y="2022400"/>
            <a:ext cx="243200" cy="243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61" b="0" i="0">
                <a:solidFill>
                  <a:srgbClr val="2C78AA"/>
                </a:solidFill>
                <a:latin typeface="DejaVu Sans"/>
              </a:rPr>
              <a:t>❄</a:t>
            </a:r>
          </a:p>
        </p:txBody>
      </p:sp>
      <p:sp>
        <p:nvSpPr>
          <p:cNvPr id="297" name="legend_frozen_label"/>
          <p:cNvSpPr txBox="1"/>
          <p:nvPr/>
        </p:nvSpPr>
        <p:spPr>
          <a:xfrm>
            <a:off x="10047999" y="1996800"/>
            <a:ext cx="1792000" cy="3072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9" b="0" i="0">
                <a:solidFill>
                  <a:srgbClr val="222222"/>
                </a:solidFill>
                <a:latin typeface="URW Gothic"/>
              </a:rPr>
              <a:t>Frozen Components</a:t>
            </a:r>
          </a:p>
        </p:txBody>
      </p:sp>
      <p:sp>
        <p:nvSpPr>
          <p:cNvPr id="298" name="vision_projected_feature"/>
          <p:cNvSpPr txBox="1"/>
          <p:nvPr/>
        </p:nvSpPr>
        <p:spPr>
          <a:xfrm>
            <a:off x="2585600" y="3763199"/>
            <a:ext cx="665600" cy="288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9" b="0" i="1">
                <a:solidFill>
                  <a:srgbClr val="174E78"/>
                </a:solidFill>
                <a:latin typeface="DejaVu Sans"/>
              </a:rPr>
              <a:t>fᵢ′ᵛ</a:t>
            </a:r>
          </a:p>
        </p:txBody>
      </p:sp>
      <p:sp>
        <p:nvSpPr>
          <p:cNvPr id="299" name="vision_encoded_feature"/>
          <p:cNvSpPr txBox="1"/>
          <p:nvPr/>
        </p:nvSpPr>
        <p:spPr>
          <a:xfrm>
            <a:off x="2585600" y="4307199"/>
            <a:ext cx="665600" cy="288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9" b="0" i="1">
                <a:solidFill>
                  <a:srgbClr val="174E78"/>
                </a:solidFill>
                <a:latin typeface="DejaVu Sans"/>
              </a:rPr>
              <a:t>fᵢᵛ</a:t>
            </a:r>
          </a:p>
        </p:txBody>
      </p:sp>
      <p:sp>
        <p:nvSpPr>
          <p:cNvPr id="300" name="audio_projected_feature"/>
          <p:cNvSpPr txBox="1"/>
          <p:nvPr/>
        </p:nvSpPr>
        <p:spPr>
          <a:xfrm>
            <a:off x="5504000" y="3775999"/>
            <a:ext cx="659200" cy="288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9" b="0" i="1">
                <a:solidFill>
                  <a:srgbClr val="2B6B20"/>
                </a:solidFill>
                <a:latin typeface="DejaVu Sans"/>
              </a:rPr>
              <a:t>fᵢ′ᵃ</a:t>
            </a:r>
          </a:p>
        </p:txBody>
      </p:sp>
      <p:sp>
        <p:nvSpPr>
          <p:cNvPr id="301" name="audio_encoded_feature"/>
          <p:cNvSpPr txBox="1"/>
          <p:nvPr/>
        </p:nvSpPr>
        <p:spPr>
          <a:xfrm>
            <a:off x="5504000" y="4307199"/>
            <a:ext cx="659200" cy="288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9" b="0" i="1">
                <a:solidFill>
                  <a:srgbClr val="2B6B20"/>
                </a:solidFill>
                <a:latin typeface="DejaVu Sans"/>
              </a:rPr>
              <a:t>fᵢᵃ</a:t>
            </a:r>
          </a:p>
        </p:txBody>
      </p:sp>
      <p:sp>
        <p:nvSpPr>
          <p:cNvPr id="302" name="speech_projected_feature"/>
          <p:cNvSpPr txBox="1"/>
          <p:nvPr/>
        </p:nvSpPr>
        <p:spPr>
          <a:xfrm>
            <a:off x="8319999" y="3775999"/>
            <a:ext cx="480000" cy="288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9" b="0" i="1">
                <a:solidFill>
                  <a:srgbClr val="9A3F16"/>
                </a:solidFill>
                <a:latin typeface="DejaVu Sans"/>
              </a:rPr>
              <a:t>fᵢ′ˢ</a:t>
            </a:r>
          </a:p>
        </p:txBody>
      </p:sp>
      <p:sp>
        <p:nvSpPr>
          <p:cNvPr id="303" name="speech_encoded_feature"/>
          <p:cNvSpPr txBox="1"/>
          <p:nvPr/>
        </p:nvSpPr>
        <p:spPr>
          <a:xfrm>
            <a:off x="8319999" y="4307199"/>
            <a:ext cx="480000" cy="2880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9" b="0" i="1">
                <a:solidFill>
                  <a:srgbClr val="9A3F16"/>
                </a:solidFill>
                <a:latin typeface="DejaVu Sans"/>
              </a:rPr>
              <a:t>fᵢˢ</a:t>
            </a:r>
          </a:p>
        </p:txBody>
      </p:sp>
      <p:sp>
        <p:nvSpPr>
          <p:cNvPr id="304" name="text_tokens_tray"/>
          <p:cNvSpPr/>
          <p:nvPr/>
        </p:nvSpPr>
        <p:spPr>
          <a:xfrm>
            <a:off x="10707199" y="4454399"/>
            <a:ext cx="928000" cy="313600"/>
          </a:xfrm>
          <a:prstGeom prst="roundRect">
            <a:avLst/>
          </a:prstGeom>
          <a:solidFill>
            <a:srgbClr val="EAEF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5" name="text_tokens_1"/>
          <p:cNvSpPr/>
          <p:nvPr/>
        </p:nvSpPr>
        <p:spPr>
          <a:xfrm>
            <a:off x="10777599" y="4511999"/>
            <a:ext cx="198400" cy="198400"/>
          </a:xfrm>
          <a:prstGeom prst="rect">
            <a:avLst/>
          </a:prstGeom>
          <a:solidFill>
            <a:srgbClr val="8D6CA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6" name="text_tokens_2"/>
          <p:cNvSpPr/>
          <p:nvPr/>
        </p:nvSpPr>
        <p:spPr>
          <a:xfrm>
            <a:off x="11071999" y="4511999"/>
            <a:ext cx="198400" cy="198400"/>
          </a:xfrm>
          <a:prstGeom prst="rect">
            <a:avLst/>
          </a:prstGeom>
          <a:solidFill>
            <a:srgbClr val="8D6CA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7" name="text_tokens_3"/>
          <p:cNvSpPr/>
          <p:nvPr/>
        </p:nvSpPr>
        <p:spPr>
          <a:xfrm>
            <a:off x="11366399" y="4511999"/>
            <a:ext cx="198400" cy="198400"/>
          </a:xfrm>
          <a:prstGeom prst="rect">
            <a:avLst/>
          </a:prstGeom>
          <a:solidFill>
            <a:srgbClr val="8D6CA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8" name="text_tokens_label"/>
          <p:cNvSpPr txBox="1"/>
          <p:nvPr/>
        </p:nvSpPr>
        <p:spPr>
          <a:xfrm>
            <a:off x="9823999" y="4403199"/>
            <a:ext cx="864000" cy="300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9" b="0" i="0">
                <a:solidFill>
                  <a:srgbClr val="78206E"/>
                </a:solidFill>
                <a:latin typeface="URW Gothic"/>
              </a:rPr>
              <a:t>Text Tokens</a:t>
            </a:r>
          </a:p>
        </p:txBody>
      </p:sp>
      <p:sp>
        <p:nvSpPr>
          <p:cNvPr id="309" name="text_tokenizer"/>
          <p:cNvSpPr/>
          <p:nvPr/>
        </p:nvSpPr>
        <p:spPr>
          <a:xfrm>
            <a:off x="10419199" y="5023999"/>
            <a:ext cx="1478400" cy="416000"/>
          </a:xfrm>
          <a:prstGeom prst="rect">
            <a:avLst/>
          </a:prstGeom>
          <a:solidFill>
            <a:srgbClr val="E0D5E6"/>
          </a:solidFill>
          <a:ln w="17279">
            <a:solidFill>
              <a:srgbClr val="78206E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0" name="text_tokenizer_label"/>
          <p:cNvSpPr txBox="1"/>
          <p:nvPr/>
        </p:nvSpPr>
        <p:spPr>
          <a:xfrm>
            <a:off x="10470399" y="5049599"/>
            <a:ext cx="1312000" cy="364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11" b="0" i="0">
                <a:solidFill>
                  <a:srgbClr val="78206E"/>
                </a:solidFill>
                <a:latin typeface="URW Gothic"/>
              </a:rPr>
              <a:t>Text Tokenizer</a:t>
            </a:r>
          </a:p>
        </p:txBody>
      </p:sp>
      <p:sp>
        <p:nvSpPr>
          <p:cNvPr id="311" name="query_feature_label"/>
          <p:cNvSpPr txBox="1"/>
          <p:nvPr/>
        </p:nvSpPr>
        <p:spPr>
          <a:xfrm>
            <a:off x="10771199" y="3283200"/>
            <a:ext cx="576000" cy="2688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9" b="0" i="1">
                <a:solidFill>
                  <a:srgbClr val="8B65A0"/>
                </a:solidFill>
                <a:latin typeface="DejaVu Sans"/>
              </a:rPr>
              <a:t>fᵢᑫ</a:t>
            </a:r>
          </a:p>
        </p:txBody>
      </p:sp>
      <p:sp>
        <p:nvSpPr>
          <p:cNvPr id="312" name="query_box"/>
          <p:cNvSpPr/>
          <p:nvPr/>
        </p:nvSpPr>
        <p:spPr>
          <a:xfrm>
            <a:off x="9132799" y="5708799"/>
            <a:ext cx="3059200" cy="1075200"/>
          </a:xfrm>
          <a:prstGeom prst="rect">
            <a:avLst/>
          </a:prstGeom>
          <a:solidFill>
            <a:srgbClr val="FFC000"/>
          </a:solidFill>
          <a:ln w="17919">
            <a:solidFill>
              <a:srgbClr val="82341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query_line_1"/>
          <p:cNvSpPr txBox="1"/>
          <p:nvPr/>
        </p:nvSpPr>
        <p:spPr>
          <a:xfrm>
            <a:off x="9203199" y="5727999"/>
            <a:ext cx="3968000" cy="217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9" b="1" i="0">
                <a:solidFill>
                  <a:srgbClr val="000000"/>
                </a:solidFill>
                <a:latin typeface="URW Gothic"/>
              </a:rPr>
              <a:t>Query:</a:t>
            </a:r>
            <a:r>
              <a:rPr sz="1209" b="0" i="0">
                <a:solidFill>
                  <a:srgbClr val="000000"/>
                </a:solidFill>
                <a:latin typeface="URW Gothic"/>
              </a:rPr>
              <a:t> Locate the moment where “</a:t>
            </a:r>
            <a:r>
              <a:rPr sz="1209" b="0" i="0">
                <a:solidFill>
                  <a:srgbClr val="0070C0"/>
                </a:solidFill>
                <a:latin typeface="URW Gothic"/>
              </a:rPr>
              <a:t>A</a:t>
            </a:r>
          </a:p>
        </p:txBody>
      </p:sp>
      <p:sp>
        <p:nvSpPr>
          <p:cNvPr id="314" name="query_line_2"/>
          <p:cNvSpPr txBox="1"/>
          <p:nvPr/>
        </p:nvSpPr>
        <p:spPr>
          <a:xfrm>
            <a:off x="9235199" y="5932799"/>
            <a:ext cx="3968000" cy="217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9" b="0" i="0">
                <a:solidFill>
                  <a:srgbClr val="0070C0"/>
                </a:solidFill>
                <a:latin typeface="URW Gothic"/>
              </a:rPr>
              <a:t>man wearing a white mask</a:t>
            </a:r>
            <a:r>
              <a:rPr sz="1209" b="0" i="0">
                <a:solidFill>
                  <a:srgbClr val="000000"/>
                </a:solidFill>
                <a:latin typeface="URW Gothic"/>
              </a:rPr>
              <a:t> is talking</a:t>
            </a:r>
          </a:p>
        </p:txBody>
      </p:sp>
      <p:sp>
        <p:nvSpPr>
          <p:cNvPr id="315" name="query_line_3"/>
          <p:cNvSpPr txBox="1"/>
          <p:nvPr/>
        </p:nvSpPr>
        <p:spPr>
          <a:xfrm>
            <a:off x="9235199" y="6137599"/>
            <a:ext cx="3968000" cy="217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9" b="0" i="0">
                <a:solidFill>
                  <a:srgbClr val="000000"/>
                </a:solidFill>
                <a:latin typeface="URW Gothic"/>
              </a:rPr>
              <a:t>about the </a:t>
            </a:r>
            <a:r>
              <a:rPr sz="1209" b="0" i="0">
                <a:solidFill>
                  <a:srgbClr val="EB7F32"/>
                </a:solidFill>
                <a:latin typeface="URW Gothic"/>
              </a:rPr>
              <a:t>sponsor</a:t>
            </a:r>
            <a:r>
              <a:rPr sz="1209" b="0" i="0">
                <a:solidFill>
                  <a:srgbClr val="000000"/>
                </a:solidFill>
                <a:latin typeface="URW Gothic"/>
              </a:rPr>
              <a:t> under noisy </a:t>
            </a:r>
            <a:r>
              <a:rPr sz="1209" b="0" i="0">
                <a:solidFill>
                  <a:srgbClr val="00A050"/>
                </a:solidFill>
                <a:latin typeface="URW Gothic"/>
              </a:rPr>
              <a:t>street</a:t>
            </a:r>
          </a:p>
        </p:txBody>
      </p:sp>
      <p:sp>
        <p:nvSpPr>
          <p:cNvPr id="316" name="query_line_4"/>
          <p:cNvSpPr txBox="1"/>
          <p:nvPr/>
        </p:nvSpPr>
        <p:spPr>
          <a:xfrm>
            <a:off x="9235199" y="6342399"/>
            <a:ext cx="3968000" cy="217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9" b="0" i="0">
                <a:solidFill>
                  <a:srgbClr val="00A050"/>
                </a:solidFill>
                <a:latin typeface="URW Gothic"/>
              </a:rPr>
              <a:t>sound</a:t>
            </a:r>
            <a:r>
              <a:rPr sz="1209" b="0" i="0">
                <a:solidFill>
                  <a:srgbClr val="000000"/>
                </a:solidFill>
                <a:latin typeface="URW Gothic"/>
              </a:rPr>
              <a:t>, which they have been </a:t>
            </a:r>
            <a:r>
              <a:rPr sz="1209" b="0" i="0">
                <a:solidFill>
                  <a:srgbClr val="EB7F32"/>
                </a:solidFill>
                <a:latin typeface="URW Gothic"/>
              </a:rPr>
              <a:t>trying for</a:t>
            </a:r>
          </a:p>
        </p:txBody>
      </p:sp>
      <p:sp>
        <p:nvSpPr>
          <p:cNvPr id="317" name="query_line_5"/>
          <p:cNvSpPr txBox="1"/>
          <p:nvPr/>
        </p:nvSpPr>
        <p:spPr>
          <a:xfrm>
            <a:off x="9235199" y="6547199"/>
            <a:ext cx="3968000" cy="2176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9" b="0" i="0">
                <a:solidFill>
                  <a:srgbClr val="EB7F32"/>
                </a:solidFill>
                <a:latin typeface="URW Gothic"/>
              </a:rPr>
              <a:t>over a year”</a:t>
            </a:r>
            <a:r>
              <a:rPr sz="1209" b="0" i="0">
                <a:solidFill>
                  <a:srgbClr val="000000"/>
                </a:solidFill>
                <a:latin typeface="URW Gothic"/>
              </a:rPr>
              <a:t>, return precise timestamps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Watch and Listen Understanding Audio-Visual-Speech Moments with Multimodal LLM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8" cy="6783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