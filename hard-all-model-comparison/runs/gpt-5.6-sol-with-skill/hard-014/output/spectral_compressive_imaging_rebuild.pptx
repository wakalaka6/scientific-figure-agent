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7322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2192000" cy="67322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anel_a"/>
          <p:cNvSpPr/>
          <p:nvPr/>
        </p:nvSpPr>
        <p:spPr>
          <a:xfrm>
            <a:off x="51936" y="103872"/>
            <a:ext cx="10484600" cy="2486440"/>
          </a:xfrm>
          <a:prstGeom prst="roundRect">
            <a:avLst>
              <a:gd name="adj" fmla="val 5744"/>
            </a:avLst>
          </a:prstGeom>
          <a:solidFill>
            <a:srgbClr val="F2F7FB"/>
          </a:solidFill>
          <a:ln w="12984">
            <a:solidFill>
              <a:srgbClr val="8FDDF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anel_c"/>
          <p:cNvSpPr/>
          <p:nvPr/>
        </p:nvSpPr>
        <p:spPr>
          <a:xfrm>
            <a:off x="51936" y="2629265"/>
            <a:ext cx="4356140" cy="4102952"/>
          </a:xfrm>
          <a:prstGeom prst="roundRect">
            <a:avLst>
              <a:gd name="adj" fmla="val 2848"/>
            </a:avLst>
          </a:prstGeom>
          <a:solidFill>
            <a:srgbClr val="EBF4E3"/>
          </a:solidFill>
          <a:ln w="12984">
            <a:solidFill>
              <a:srgbClr val="CDE3B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anel_b"/>
          <p:cNvSpPr/>
          <p:nvPr/>
        </p:nvSpPr>
        <p:spPr>
          <a:xfrm>
            <a:off x="4460012" y="2622773"/>
            <a:ext cx="6076523" cy="1785303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9476">
            <a:solidFill>
              <a:srgbClr val="11111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anel_d"/>
          <p:cNvSpPr/>
          <p:nvPr/>
        </p:nvSpPr>
        <p:spPr>
          <a:xfrm>
            <a:off x="4466504" y="4453520"/>
            <a:ext cx="7725495" cy="2278696"/>
          </a:xfrm>
          <a:prstGeom prst="roundRect">
            <a:avLst>
              <a:gd name="adj" fmla="val 5128"/>
            </a:avLst>
          </a:prstGeom>
          <a:solidFill>
            <a:srgbClr val="FBF2E9"/>
          </a:solidFill>
          <a:ln w="12984">
            <a:solidFill>
              <a:srgbClr val="F1CE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egend_panel"/>
          <p:cNvSpPr/>
          <p:nvPr/>
        </p:nvSpPr>
        <p:spPr>
          <a:xfrm>
            <a:off x="10601456" y="110364"/>
            <a:ext cx="1545099" cy="4297712"/>
          </a:xfrm>
          <a:prstGeom prst="roundRect">
            <a:avLst>
              <a:gd name="adj" fmla="val 5882"/>
            </a:avLst>
          </a:prstGeom>
          <a:solidFill>
            <a:srgbClr val="F7F7F7"/>
          </a:solidFill>
          <a:ln w="12984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nel_(a)_label"/>
          <p:cNvSpPr txBox="1"/>
          <p:nvPr/>
        </p:nvSpPr>
        <p:spPr>
          <a:xfrm>
            <a:off x="90888" y="181776"/>
            <a:ext cx="357060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1" i="0">
                <a:solidFill>
                  <a:srgbClr val="111111"/>
                </a:solidFill>
                <a:latin typeface="Liberation Sans"/>
              </a:rPr>
              <a:t>(a)</a:t>
            </a:r>
          </a:p>
        </p:txBody>
      </p:sp>
      <p:sp>
        <p:nvSpPr>
          <p:cNvPr id="9" name="panel_(c)_label"/>
          <p:cNvSpPr txBox="1"/>
          <p:nvPr/>
        </p:nvSpPr>
        <p:spPr>
          <a:xfrm>
            <a:off x="90888" y="2694185"/>
            <a:ext cx="357060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1" i="0">
                <a:solidFill>
                  <a:srgbClr val="111111"/>
                </a:solidFill>
                <a:latin typeface="Liberation Sans"/>
              </a:rPr>
              <a:t>(c)</a:t>
            </a:r>
          </a:p>
        </p:txBody>
      </p:sp>
      <p:sp>
        <p:nvSpPr>
          <p:cNvPr id="10" name="panel_(b)_label"/>
          <p:cNvSpPr txBox="1"/>
          <p:nvPr/>
        </p:nvSpPr>
        <p:spPr>
          <a:xfrm>
            <a:off x="4505456" y="2687693"/>
            <a:ext cx="357060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1" i="0">
                <a:solidFill>
                  <a:srgbClr val="111111"/>
                </a:solidFill>
                <a:latin typeface="Liberation Sans"/>
              </a:rPr>
              <a:t>(b)</a:t>
            </a:r>
          </a:p>
        </p:txBody>
      </p:sp>
      <p:sp>
        <p:nvSpPr>
          <p:cNvPr id="11" name="panel_(d)_label"/>
          <p:cNvSpPr txBox="1"/>
          <p:nvPr/>
        </p:nvSpPr>
        <p:spPr>
          <a:xfrm>
            <a:off x="4518440" y="4537916"/>
            <a:ext cx="357060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1" i="0">
                <a:solidFill>
                  <a:srgbClr val="111111"/>
                </a:solidFill>
                <a:latin typeface="Liberation Sans"/>
              </a:rPr>
              <a:t>(d)</a:t>
            </a:r>
          </a:p>
        </p:txBody>
      </p:sp>
      <p:cxnSp>
        <p:nvCxnSpPr>
          <p:cNvPr id="12" name="a_top_bus_seg1"/>
          <p:cNvCxnSpPr/>
          <p:nvPr/>
        </p:nvCxnSpPr>
        <p:spPr>
          <a:xfrm>
            <a:off x="551821" y="201252"/>
            <a:ext cx="7589163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3" name="a_top_bus_seg2"/>
          <p:cNvCxnSpPr/>
          <p:nvPr/>
        </p:nvCxnSpPr>
        <p:spPr>
          <a:xfrm>
            <a:off x="8140984" y="201252"/>
            <a:ext cx="0" cy="441457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4" name="a_bottom_bus_seg1"/>
          <p:cNvCxnSpPr/>
          <p:nvPr/>
        </p:nvCxnSpPr>
        <p:spPr>
          <a:xfrm>
            <a:off x="551821" y="1850223"/>
            <a:ext cx="0" cy="603757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5" name="a_bottom_bus_seg2"/>
          <p:cNvCxnSpPr/>
          <p:nvPr/>
        </p:nvCxnSpPr>
        <p:spPr>
          <a:xfrm>
            <a:off x="551821" y="2453980"/>
            <a:ext cx="7589163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6" name="a_bottom_bus_seg3"/>
          <p:cNvCxnSpPr/>
          <p:nvPr/>
        </p:nvCxnSpPr>
        <p:spPr>
          <a:xfrm flipV="1">
            <a:off x="8140984" y="1798287"/>
            <a:ext cx="0" cy="655693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7" name="a_input_to_product_seg1"/>
          <p:cNvCxnSpPr/>
          <p:nvPr/>
        </p:nvCxnSpPr>
        <p:spPr>
          <a:xfrm>
            <a:off x="1051706" y="1843731"/>
            <a:ext cx="0" cy="259681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8" name="a_input_to_product_seg2"/>
          <p:cNvCxnSpPr/>
          <p:nvPr/>
        </p:nvCxnSpPr>
        <p:spPr>
          <a:xfrm>
            <a:off x="1051706" y="2103412"/>
            <a:ext cx="493393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9" name="a_object_to_product_seg1"/>
          <p:cNvCxnSpPr/>
          <p:nvPr/>
        </p:nvCxnSpPr>
        <p:spPr>
          <a:xfrm>
            <a:off x="1558083" y="1817763"/>
            <a:ext cx="0" cy="201252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0" name="a_product_down_seg1"/>
          <p:cNvCxnSpPr/>
          <p:nvPr/>
        </p:nvCxnSpPr>
        <p:spPr>
          <a:xfrm>
            <a:off x="1545099" y="2194300"/>
            <a:ext cx="0" cy="25968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" name="a_input_to_init_seg1"/>
          <p:cNvCxnSpPr/>
          <p:nvPr/>
        </p:nvCxnSpPr>
        <p:spPr>
          <a:xfrm>
            <a:off x="1856715" y="1272434"/>
            <a:ext cx="421981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2" name="a_init_out_seg1"/>
          <p:cNvCxnSpPr/>
          <p:nvPr/>
        </p:nvCxnSpPr>
        <p:spPr>
          <a:xfrm>
            <a:off x="2538376" y="1603527"/>
            <a:ext cx="305125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sp>
        <p:nvSpPr>
          <p:cNvPr id="23" name="a_y_left"/>
          <p:cNvSpPr txBox="1"/>
          <p:nvPr/>
        </p:nvSpPr>
        <p:spPr>
          <a:xfrm>
            <a:off x="590773" y="2148856"/>
            <a:ext cx="155808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1">
                <a:solidFill>
                  <a:srgbClr val="111111"/>
                </a:solidFill>
                <a:latin typeface="Latin Modern Math"/>
              </a:rPr>
              <a:t>y</a:t>
            </a:r>
          </a:p>
        </p:txBody>
      </p:sp>
      <p:sp>
        <p:nvSpPr>
          <p:cNvPr id="24" name="a_H"/>
          <p:cNvSpPr txBox="1"/>
          <p:nvPr/>
        </p:nvSpPr>
        <p:spPr>
          <a:xfrm>
            <a:off x="1707399" y="2174824"/>
            <a:ext cx="181776" cy="2077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erif"/>
              </a:rPr>
              <a:t>H</a:t>
            </a:r>
          </a:p>
        </p:txBody>
      </p:sp>
      <p:sp>
        <p:nvSpPr>
          <p:cNvPr id="25" name="a_input_group"/>
          <p:cNvSpPr/>
          <p:nvPr/>
        </p:nvSpPr>
        <p:spPr>
          <a:xfrm>
            <a:off x="188268" y="649201"/>
            <a:ext cx="1720383" cy="1330862"/>
          </a:xfrm>
          <a:prstGeom prst="roundRect">
            <a:avLst>
              <a:gd name="adj" fmla="val 13658"/>
            </a:avLst>
          </a:prstGeom>
          <a:noFill/>
          <a:ln w="12984">
            <a:solidFill>
              <a:srgbClr val="88888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a_measurement_texture" descr="top_meas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40" y="720613"/>
            <a:ext cx="499884" cy="1136102"/>
          </a:xfrm>
          <a:prstGeom prst="rect">
            <a:avLst/>
          </a:prstGeom>
        </p:spPr>
      </p:pic>
      <p:pic>
        <p:nvPicPr>
          <p:cNvPr id="27" name="a_mask_texture" descr="top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9" y="701137"/>
            <a:ext cx="486900" cy="1155578"/>
          </a:xfrm>
          <a:prstGeom prst="rect">
            <a:avLst/>
          </a:prstGeom>
        </p:spPr>
      </p:pic>
      <p:pic>
        <p:nvPicPr>
          <p:cNvPr id="28" name="a_object_texture" descr="top_ob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878" y="701137"/>
            <a:ext cx="506376" cy="1129610"/>
          </a:xfrm>
          <a:prstGeom prst="rect">
            <a:avLst/>
          </a:prstGeom>
        </p:spPr>
      </p:pic>
      <p:sp>
        <p:nvSpPr>
          <p:cNvPr id="29" name="a_elementwise_circle"/>
          <p:cNvSpPr/>
          <p:nvPr/>
        </p:nvSpPr>
        <p:spPr>
          <a:xfrm>
            <a:off x="1457456" y="2022261"/>
            <a:ext cx="175284" cy="175284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a_elementwise_symbol"/>
          <p:cNvSpPr txBox="1"/>
          <p:nvPr/>
        </p:nvSpPr>
        <p:spPr>
          <a:xfrm>
            <a:off x="1457456" y="2015769"/>
            <a:ext cx="175284" cy="1882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0" i="0">
                <a:solidFill>
                  <a:srgbClr val="111111"/>
                </a:solidFill>
                <a:latin typeface="Liberation Serif"/>
              </a:rPr>
              <a:t>·</a:t>
            </a:r>
          </a:p>
        </p:txBody>
      </p:sp>
      <p:sp>
        <p:nvSpPr>
          <p:cNvPr id="31" name="a_initialization_box"/>
          <p:cNvSpPr/>
          <p:nvPr/>
        </p:nvSpPr>
        <p:spPr>
          <a:xfrm>
            <a:off x="2285188" y="649201"/>
            <a:ext cx="253188" cy="1285418"/>
          </a:xfrm>
          <a:prstGeom prst="roundRect">
            <a:avLst>
              <a:gd name="adj" fmla="val 15384"/>
            </a:avLst>
          </a:prstGeom>
          <a:solidFill>
            <a:srgbClr val="F9FCFD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a_initialization_label"/>
          <p:cNvSpPr txBox="1"/>
          <p:nvPr/>
        </p:nvSpPr>
        <p:spPr>
          <a:xfrm rot="5400000">
            <a:off x="1782057" y="1178300"/>
            <a:ext cx="1259450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0">
                <a:solidFill>
                  <a:srgbClr val="111111"/>
                </a:solidFill>
                <a:latin typeface="Liberation Sans"/>
              </a:rPr>
              <a:t>Initialization</a:t>
            </a:r>
          </a:p>
        </p:txBody>
      </p:sp>
      <p:sp>
        <p:nvSpPr>
          <p:cNvPr id="33" name="stage_1_card"/>
          <p:cNvSpPr/>
          <p:nvPr/>
        </p:nvSpPr>
        <p:spPr>
          <a:xfrm>
            <a:off x="2713661" y="642709"/>
            <a:ext cx="2142364" cy="1330862"/>
          </a:xfrm>
          <a:prstGeom prst="roundRect">
            <a:avLst>
              <a:gd name="adj" fmla="val 15609"/>
            </a:avLst>
          </a:prstGeom>
          <a:solidFill>
            <a:srgbClr val="FCFAFF"/>
          </a:solidFill>
          <a:ln w="9738">
            <a:solidFill>
              <a:srgbClr val="F5F0F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stage_1_baseline_seg1"/>
          <p:cNvCxnSpPr/>
          <p:nvPr/>
        </p:nvCxnSpPr>
        <p:spPr>
          <a:xfrm>
            <a:off x="2843501" y="1603527"/>
            <a:ext cx="240205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35" name="stage_1_e_input_seg1"/>
          <p:cNvCxnSpPr/>
          <p:nvPr/>
        </p:nvCxnSpPr>
        <p:spPr>
          <a:xfrm flipV="1">
            <a:off x="2843501" y="967309"/>
            <a:ext cx="0" cy="636218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36" name="stage_1_e_input_seg2"/>
          <p:cNvCxnSpPr/>
          <p:nvPr/>
        </p:nvCxnSpPr>
        <p:spPr>
          <a:xfrm>
            <a:off x="2843501" y="967309"/>
            <a:ext cx="240205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37" name="stage_1_sigma_seg1"/>
          <p:cNvCxnSpPr/>
          <p:nvPr/>
        </p:nvCxnSpPr>
        <p:spPr>
          <a:xfrm>
            <a:off x="3447258" y="1162070"/>
            <a:ext cx="0" cy="246696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38" name="stage_1_weight_seg1"/>
          <p:cNvCxnSpPr/>
          <p:nvPr/>
        </p:nvCxnSpPr>
        <p:spPr>
          <a:xfrm>
            <a:off x="3810811" y="967309"/>
            <a:ext cx="571297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39" name="stage_1_weight_seg2"/>
          <p:cNvCxnSpPr/>
          <p:nvPr/>
        </p:nvCxnSpPr>
        <p:spPr>
          <a:xfrm>
            <a:off x="4382108" y="967309"/>
            <a:ext cx="0" cy="441457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40" name="stage_1_proj_out_seg1"/>
          <p:cNvCxnSpPr/>
          <p:nvPr/>
        </p:nvCxnSpPr>
        <p:spPr>
          <a:xfrm>
            <a:off x="3810811" y="1603527"/>
            <a:ext cx="168792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41" name="stage_1_proj_obs_seg1"/>
          <p:cNvCxnSpPr/>
          <p:nvPr/>
        </p:nvCxnSpPr>
        <p:spPr>
          <a:xfrm flipV="1">
            <a:off x="3447258" y="1798287"/>
            <a:ext cx="0" cy="655693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42" name="stage_1_y_feed_seg1"/>
          <p:cNvCxnSpPr/>
          <p:nvPr/>
        </p:nvCxnSpPr>
        <p:spPr>
          <a:xfrm>
            <a:off x="3447258" y="201252"/>
            <a:ext cx="0" cy="564805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43" name="stage_1_est_box"/>
          <p:cNvSpPr/>
          <p:nvPr/>
        </p:nvSpPr>
        <p:spPr>
          <a:xfrm>
            <a:off x="3083706" y="766057"/>
            <a:ext cx="727105" cy="396012"/>
          </a:xfrm>
          <a:prstGeom prst="roundRect">
            <a:avLst>
              <a:gd name="adj" fmla="val 16393"/>
            </a:avLst>
          </a:prstGeom>
          <a:solidFill>
            <a:srgbClr val="CAEEFC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stage_1_est_label"/>
          <p:cNvSpPr txBox="1"/>
          <p:nvPr/>
        </p:nvSpPr>
        <p:spPr>
          <a:xfrm>
            <a:off x="3109674" y="779041"/>
            <a:ext cx="675169" cy="3700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1" b="0" i="0">
                <a:solidFill>
                  <a:srgbClr val="111111"/>
                </a:solidFill>
                <a:latin typeface="Latin Modern Math"/>
              </a:rPr>
              <a:t>ℰ(·)</a:t>
            </a:r>
          </a:p>
        </p:txBody>
      </p:sp>
      <p:sp>
        <p:nvSpPr>
          <p:cNvPr id="45" name="stage_1_proj_box"/>
          <p:cNvSpPr/>
          <p:nvPr/>
        </p:nvSpPr>
        <p:spPr>
          <a:xfrm>
            <a:off x="3083706" y="1408766"/>
            <a:ext cx="727105" cy="389520"/>
          </a:xfrm>
          <a:prstGeom prst="roundRect">
            <a:avLst>
              <a:gd name="adj" fmla="val 16666"/>
            </a:avLst>
          </a:prstGeom>
          <a:solidFill>
            <a:srgbClr val="F7F0D6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stage_1_proj_label"/>
          <p:cNvSpPr txBox="1"/>
          <p:nvPr/>
        </p:nvSpPr>
        <p:spPr>
          <a:xfrm>
            <a:off x="3109674" y="1421750"/>
            <a:ext cx="675169" cy="363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0" i="0">
                <a:solidFill>
                  <a:srgbClr val="111111"/>
                </a:solidFill>
                <a:latin typeface="Liberation Serif"/>
              </a:rPr>
              <a:t>proj(·)</a:t>
            </a:r>
          </a:p>
        </p:txBody>
      </p:sp>
      <p:sp>
        <p:nvSpPr>
          <p:cNvPr id="47" name="stage_1_prox_box"/>
          <p:cNvSpPr/>
          <p:nvPr/>
        </p:nvSpPr>
        <p:spPr>
          <a:xfrm>
            <a:off x="3979603" y="1408766"/>
            <a:ext cx="779041" cy="389520"/>
          </a:xfrm>
          <a:prstGeom prst="roundRect">
            <a:avLst>
              <a:gd name="adj" fmla="val 16666"/>
            </a:avLst>
          </a:prstGeom>
          <a:solidFill>
            <a:srgbClr val="E3EFD9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stage_1_prox_label"/>
          <p:cNvSpPr txBox="1"/>
          <p:nvPr/>
        </p:nvSpPr>
        <p:spPr>
          <a:xfrm>
            <a:off x="4005571" y="1421750"/>
            <a:ext cx="727105" cy="363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26" b="0" i="0">
                <a:solidFill>
                  <a:srgbClr val="111111"/>
                </a:solidFill>
                <a:latin typeface="Liberation Serif"/>
              </a:rPr>
              <a:t>proxᴿ(·)</a:t>
            </a:r>
          </a:p>
        </p:txBody>
      </p:sp>
      <p:sp>
        <p:nvSpPr>
          <p:cNvPr id="49" name="stage_1_sigma_label"/>
          <p:cNvSpPr txBox="1"/>
          <p:nvPr/>
        </p:nvSpPr>
        <p:spPr>
          <a:xfrm>
            <a:off x="3486210" y="1175054"/>
            <a:ext cx="415488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Σ⁽1⁾</a:t>
            </a:r>
          </a:p>
        </p:txBody>
      </p:sp>
      <p:sp>
        <p:nvSpPr>
          <p:cNvPr id="50" name="stage_1_w_label"/>
          <p:cNvSpPr txBox="1"/>
          <p:nvPr/>
        </p:nvSpPr>
        <p:spPr>
          <a:xfrm>
            <a:off x="4382108" y="973801"/>
            <a:ext cx="421980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w⁽1⁾</a:t>
            </a:r>
          </a:p>
        </p:txBody>
      </p:sp>
      <p:sp>
        <p:nvSpPr>
          <p:cNvPr id="51" name="stage_1_z_label"/>
          <p:cNvSpPr txBox="1"/>
          <p:nvPr/>
        </p:nvSpPr>
        <p:spPr>
          <a:xfrm>
            <a:off x="4706709" y="1681431"/>
            <a:ext cx="454440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z⁽1⁾</a:t>
            </a:r>
          </a:p>
        </p:txBody>
      </p:sp>
      <p:sp>
        <p:nvSpPr>
          <p:cNvPr id="52" name="stage_1_obs_label"/>
          <p:cNvSpPr txBox="1"/>
          <p:nvPr/>
        </p:nvSpPr>
        <p:spPr>
          <a:xfrm>
            <a:off x="3505686" y="2155348"/>
            <a:ext cx="649201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(y, H)</a:t>
            </a:r>
          </a:p>
        </p:txBody>
      </p:sp>
      <p:sp>
        <p:nvSpPr>
          <p:cNvPr id="53" name="stage_1_y_label"/>
          <p:cNvSpPr txBox="1"/>
          <p:nvPr/>
        </p:nvSpPr>
        <p:spPr>
          <a:xfrm>
            <a:off x="3518670" y="292140"/>
            <a:ext cx="259680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1">
                <a:solidFill>
                  <a:srgbClr val="111111"/>
                </a:solidFill>
                <a:latin typeface="Latin Modern Math"/>
              </a:rPr>
              <a:t>y</a:t>
            </a:r>
          </a:p>
        </p:txBody>
      </p:sp>
      <p:cxnSp>
        <p:nvCxnSpPr>
          <p:cNvPr id="54" name="stage_1_out_seg1"/>
          <p:cNvCxnSpPr/>
          <p:nvPr/>
        </p:nvCxnSpPr>
        <p:spPr>
          <a:xfrm>
            <a:off x="4758645" y="1603527"/>
            <a:ext cx="32460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sp>
        <p:nvSpPr>
          <p:cNvPr id="55" name="stage_2_card"/>
          <p:cNvSpPr/>
          <p:nvPr/>
        </p:nvSpPr>
        <p:spPr>
          <a:xfrm>
            <a:off x="4966389" y="642709"/>
            <a:ext cx="2142364" cy="1330862"/>
          </a:xfrm>
          <a:prstGeom prst="roundRect">
            <a:avLst>
              <a:gd name="adj" fmla="val 15609"/>
            </a:avLst>
          </a:prstGeom>
          <a:solidFill>
            <a:srgbClr val="FCFAFF"/>
          </a:solidFill>
          <a:ln w="9738">
            <a:solidFill>
              <a:srgbClr val="F5F0F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stage_2_baseline_seg1"/>
          <p:cNvCxnSpPr/>
          <p:nvPr/>
        </p:nvCxnSpPr>
        <p:spPr>
          <a:xfrm>
            <a:off x="5096230" y="1603527"/>
            <a:ext cx="233712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57" name="stage_2_e_input_seg1"/>
          <p:cNvCxnSpPr/>
          <p:nvPr/>
        </p:nvCxnSpPr>
        <p:spPr>
          <a:xfrm flipV="1">
            <a:off x="5096230" y="967309"/>
            <a:ext cx="0" cy="636218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58" name="stage_2_e_input_seg2"/>
          <p:cNvCxnSpPr/>
          <p:nvPr/>
        </p:nvCxnSpPr>
        <p:spPr>
          <a:xfrm>
            <a:off x="5096230" y="967309"/>
            <a:ext cx="233712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9" name="stage_2_sigma_seg1"/>
          <p:cNvCxnSpPr/>
          <p:nvPr/>
        </p:nvCxnSpPr>
        <p:spPr>
          <a:xfrm>
            <a:off x="5693495" y="1162070"/>
            <a:ext cx="0" cy="246696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0" name="stage_2_weight_seg1"/>
          <p:cNvCxnSpPr/>
          <p:nvPr/>
        </p:nvCxnSpPr>
        <p:spPr>
          <a:xfrm>
            <a:off x="6057047" y="967309"/>
            <a:ext cx="519361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61" name="stage_2_weight_seg2"/>
          <p:cNvCxnSpPr/>
          <p:nvPr/>
        </p:nvCxnSpPr>
        <p:spPr>
          <a:xfrm>
            <a:off x="6576408" y="967309"/>
            <a:ext cx="0" cy="441457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2" name="stage_2_proj_out_seg1"/>
          <p:cNvCxnSpPr/>
          <p:nvPr/>
        </p:nvCxnSpPr>
        <p:spPr>
          <a:xfrm>
            <a:off x="6057047" y="1603527"/>
            <a:ext cx="116857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3" name="stage_2_proj_obs_seg1"/>
          <p:cNvCxnSpPr/>
          <p:nvPr/>
        </p:nvCxnSpPr>
        <p:spPr>
          <a:xfrm flipV="1">
            <a:off x="5693495" y="1798287"/>
            <a:ext cx="0" cy="655693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4" name="stage_2_y_feed_seg1"/>
          <p:cNvCxnSpPr/>
          <p:nvPr/>
        </p:nvCxnSpPr>
        <p:spPr>
          <a:xfrm>
            <a:off x="5693495" y="201252"/>
            <a:ext cx="0" cy="564805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65" name="stage_2_est_box"/>
          <p:cNvSpPr/>
          <p:nvPr/>
        </p:nvSpPr>
        <p:spPr>
          <a:xfrm>
            <a:off x="5329942" y="766057"/>
            <a:ext cx="727105" cy="396012"/>
          </a:xfrm>
          <a:prstGeom prst="roundRect">
            <a:avLst>
              <a:gd name="adj" fmla="val 16393"/>
            </a:avLst>
          </a:prstGeom>
          <a:solidFill>
            <a:srgbClr val="CAEEFC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stage_2_est_label"/>
          <p:cNvSpPr txBox="1"/>
          <p:nvPr/>
        </p:nvSpPr>
        <p:spPr>
          <a:xfrm>
            <a:off x="5355910" y="779041"/>
            <a:ext cx="675169" cy="3700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1" b="0" i="0">
                <a:solidFill>
                  <a:srgbClr val="111111"/>
                </a:solidFill>
                <a:latin typeface="Latin Modern Math"/>
              </a:rPr>
              <a:t>ℰ(·)</a:t>
            </a:r>
          </a:p>
        </p:txBody>
      </p:sp>
      <p:sp>
        <p:nvSpPr>
          <p:cNvPr id="67" name="stage_2_proj_box"/>
          <p:cNvSpPr/>
          <p:nvPr/>
        </p:nvSpPr>
        <p:spPr>
          <a:xfrm>
            <a:off x="5329942" y="1408766"/>
            <a:ext cx="727105" cy="389520"/>
          </a:xfrm>
          <a:prstGeom prst="roundRect">
            <a:avLst>
              <a:gd name="adj" fmla="val 16666"/>
            </a:avLst>
          </a:prstGeom>
          <a:solidFill>
            <a:srgbClr val="F7F0D6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stage_2_proj_label"/>
          <p:cNvSpPr txBox="1"/>
          <p:nvPr/>
        </p:nvSpPr>
        <p:spPr>
          <a:xfrm>
            <a:off x="5355910" y="1421750"/>
            <a:ext cx="675169" cy="363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0" i="0">
                <a:solidFill>
                  <a:srgbClr val="111111"/>
                </a:solidFill>
                <a:latin typeface="Liberation Serif"/>
              </a:rPr>
              <a:t>proj(·)</a:t>
            </a:r>
          </a:p>
        </p:txBody>
      </p:sp>
      <p:sp>
        <p:nvSpPr>
          <p:cNvPr id="69" name="stage_2_prox_box"/>
          <p:cNvSpPr/>
          <p:nvPr/>
        </p:nvSpPr>
        <p:spPr>
          <a:xfrm>
            <a:off x="6173904" y="1408766"/>
            <a:ext cx="779041" cy="389520"/>
          </a:xfrm>
          <a:prstGeom prst="roundRect">
            <a:avLst>
              <a:gd name="adj" fmla="val 16666"/>
            </a:avLst>
          </a:prstGeom>
          <a:solidFill>
            <a:srgbClr val="E3EFD9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stage_2_prox_label"/>
          <p:cNvSpPr txBox="1"/>
          <p:nvPr/>
        </p:nvSpPr>
        <p:spPr>
          <a:xfrm>
            <a:off x="6199872" y="1421750"/>
            <a:ext cx="727105" cy="363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26" b="0" i="0">
                <a:solidFill>
                  <a:srgbClr val="111111"/>
                </a:solidFill>
                <a:latin typeface="Liberation Serif"/>
              </a:rPr>
              <a:t>proxᴿ(·)</a:t>
            </a:r>
          </a:p>
        </p:txBody>
      </p:sp>
      <p:sp>
        <p:nvSpPr>
          <p:cNvPr id="71" name="stage_2_sigma_label"/>
          <p:cNvSpPr txBox="1"/>
          <p:nvPr/>
        </p:nvSpPr>
        <p:spPr>
          <a:xfrm>
            <a:off x="5732447" y="1175054"/>
            <a:ext cx="415488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Σ⁽2⁾</a:t>
            </a:r>
          </a:p>
        </p:txBody>
      </p:sp>
      <p:sp>
        <p:nvSpPr>
          <p:cNvPr id="72" name="stage_2_w_label"/>
          <p:cNvSpPr txBox="1"/>
          <p:nvPr/>
        </p:nvSpPr>
        <p:spPr>
          <a:xfrm>
            <a:off x="6576408" y="973801"/>
            <a:ext cx="421980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w⁽2⁾</a:t>
            </a:r>
          </a:p>
        </p:txBody>
      </p:sp>
      <p:sp>
        <p:nvSpPr>
          <p:cNvPr id="73" name="stage_2_z_label"/>
          <p:cNvSpPr txBox="1"/>
          <p:nvPr/>
        </p:nvSpPr>
        <p:spPr>
          <a:xfrm>
            <a:off x="6901009" y="1681431"/>
            <a:ext cx="454440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z⁽2⁾</a:t>
            </a:r>
          </a:p>
        </p:txBody>
      </p:sp>
      <p:sp>
        <p:nvSpPr>
          <p:cNvPr id="74" name="stage_2_obs_label"/>
          <p:cNvSpPr txBox="1"/>
          <p:nvPr/>
        </p:nvSpPr>
        <p:spPr>
          <a:xfrm>
            <a:off x="5751923" y="2155348"/>
            <a:ext cx="649201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(y, H)</a:t>
            </a:r>
          </a:p>
        </p:txBody>
      </p:sp>
      <p:sp>
        <p:nvSpPr>
          <p:cNvPr id="75" name="stage_2_y_label"/>
          <p:cNvSpPr txBox="1"/>
          <p:nvPr/>
        </p:nvSpPr>
        <p:spPr>
          <a:xfrm>
            <a:off x="5764907" y="292140"/>
            <a:ext cx="259680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1">
                <a:solidFill>
                  <a:srgbClr val="111111"/>
                </a:solidFill>
                <a:latin typeface="Latin Modern Math"/>
              </a:rPr>
              <a:t>y</a:t>
            </a:r>
          </a:p>
        </p:txBody>
      </p:sp>
      <p:cxnSp>
        <p:nvCxnSpPr>
          <p:cNvPr id="76" name="stage_2_out_seg1"/>
          <p:cNvCxnSpPr/>
          <p:nvPr/>
        </p:nvCxnSpPr>
        <p:spPr>
          <a:xfrm>
            <a:off x="6952945" y="1603527"/>
            <a:ext cx="90888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sp>
        <p:nvSpPr>
          <p:cNvPr id="77" name="stage_K_card"/>
          <p:cNvSpPr/>
          <p:nvPr/>
        </p:nvSpPr>
        <p:spPr>
          <a:xfrm>
            <a:off x="7452830" y="642709"/>
            <a:ext cx="2044984" cy="1330862"/>
          </a:xfrm>
          <a:prstGeom prst="roundRect">
            <a:avLst>
              <a:gd name="adj" fmla="val 15609"/>
            </a:avLst>
          </a:prstGeom>
          <a:solidFill>
            <a:srgbClr val="FCFAFF"/>
          </a:solidFill>
          <a:ln w="9738">
            <a:solidFill>
              <a:srgbClr val="F5F0F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8" name="stage_K_baseline_seg1"/>
          <p:cNvCxnSpPr/>
          <p:nvPr/>
        </p:nvCxnSpPr>
        <p:spPr>
          <a:xfrm>
            <a:off x="7582670" y="1603527"/>
            <a:ext cx="188269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79" name="stage_K_e_input_seg1"/>
          <p:cNvCxnSpPr/>
          <p:nvPr/>
        </p:nvCxnSpPr>
        <p:spPr>
          <a:xfrm flipV="1">
            <a:off x="7582670" y="967309"/>
            <a:ext cx="0" cy="636218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80" name="stage_K_e_input_seg2"/>
          <p:cNvCxnSpPr/>
          <p:nvPr/>
        </p:nvCxnSpPr>
        <p:spPr>
          <a:xfrm>
            <a:off x="7582670" y="967309"/>
            <a:ext cx="188269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1" name="stage_K_sigma_seg1"/>
          <p:cNvCxnSpPr/>
          <p:nvPr/>
        </p:nvCxnSpPr>
        <p:spPr>
          <a:xfrm>
            <a:off x="8134492" y="1162070"/>
            <a:ext cx="0" cy="246696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2" name="stage_K_weight_seg1"/>
          <p:cNvCxnSpPr/>
          <p:nvPr/>
        </p:nvCxnSpPr>
        <p:spPr>
          <a:xfrm>
            <a:off x="8498044" y="967309"/>
            <a:ext cx="571297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83" name="stage_K_weight_seg2"/>
          <p:cNvCxnSpPr/>
          <p:nvPr/>
        </p:nvCxnSpPr>
        <p:spPr>
          <a:xfrm>
            <a:off x="9069341" y="967309"/>
            <a:ext cx="0" cy="441457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4" name="stage_K_proj_out_seg1"/>
          <p:cNvCxnSpPr/>
          <p:nvPr/>
        </p:nvCxnSpPr>
        <p:spPr>
          <a:xfrm>
            <a:off x="8498044" y="1603527"/>
            <a:ext cx="168793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5" name="stage_K_proj_obs_seg1"/>
          <p:cNvCxnSpPr/>
          <p:nvPr/>
        </p:nvCxnSpPr>
        <p:spPr>
          <a:xfrm flipV="1">
            <a:off x="8134492" y="1798287"/>
            <a:ext cx="0" cy="655693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6" name="stage_K_y_feed_seg1"/>
          <p:cNvCxnSpPr/>
          <p:nvPr/>
        </p:nvCxnSpPr>
        <p:spPr>
          <a:xfrm>
            <a:off x="8134492" y="201252"/>
            <a:ext cx="0" cy="564805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87" name="stage_K_est_box"/>
          <p:cNvSpPr/>
          <p:nvPr/>
        </p:nvSpPr>
        <p:spPr>
          <a:xfrm>
            <a:off x="7770939" y="766057"/>
            <a:ext cx="727105" cy="396012"/>
          </a:xfrm>
          <a:prstGeom prst="roundRect">
            <a:avLst>
              <a:gd name="adj" fmla="val 16393"/>
            </a:avLst>
          </a:prstGeom>
          <a:solidFill>
            <a:srgbClr val="CAEEFC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stage_K_est_label"/>
          <p:cNvSpPr txBox="1"/>
          <p:nvPr/>
        </p:nvSpPr>
        <p:spPr>
          <a:xfrm>
            <a:off x="7796907" y="779041"/>
            <a:ext cx="675169" cy="3700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1" b="0" i="0">
                <a:solidFill>
                  <a:srgbClr val="111111"/>
                </a:solidFill>
                <a:latin typeface="Latin Modern Math"/>
              </a:rPr>
              <a:t>ℰ(·)</a:t>
            </a:r>
          </a:p>
        </p:txBody>
      </p:sp>
      <p:sp>
        <p:nvSpPr>
          <p:cNvPr id="89" name="stage_K_proj_box"/>
          <p:cNvSpPr/>
          <p:nvPr/>
        </p:nvSpPr>
        <p:spPr>
          <a:xfrm>
            <a:off x="7770939" y="1408766"/>
            <a:ext cx="727105" cy="389520"/>
          </a:xfrm>
          <a:prstGeom prst="roundRect">
            <a:avLst>
              <a:gd name="adj" fmla="val 16666"/>
            </a:avLst>
          </a:prstGeom>
          <a:solidFill>
            <a:srgbClr val="F7F0D6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stage_K_proj_label"/>
          <p:cNvSpPr txBox="1"/>
          <p:nvPr/>
        </p:nvSpPr>
        <p:spPr>
          <a:xfrm>
            <a:off x="7796907" y="1421750"/>
            <a:ext cx="675169" cy="363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0" i="0">
                <a:solidFill>
                  <a:srgbClr val="111111"/>
                </a:solidFill>
                <a:latin typeface="Liberation Serif"/>
              </a:rPr>
              <a:t>proj(·)</a:t>
            </a:r>
          </a:p>
        </p:txBody>
      </p:sp>
      <p:sp>
        <p:nvSpPr>
          <p:cNvPr id="91" name="stage_K_prox_box"/>
          <p:cNvSpPr/>
          <p:nvPr/>
        </p:nvSpPr>
        <p:spPr>
          <a:xfrm>
            <a:off x="8666837" y="1408766"/>
            <a:ext cx="779041" cy="389520"/>
          </a:xfrm>
          <a:prstGeom prst="roundRect">
            <a:avLst>
              <a:gd name="adj" fmla="val 16666"/>
            </a:avLst>
          </a:prstGeom>
          <a:solidFill>
            <a:srgbClr val="E3EFD9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tage_K_prox_label"/>
          <p:cNvSpPr txBox="1"/>
          <p:nvPr/>
        </p:nvSpPr>
        <p:spPr>
          <a:xfrm>
            <a:off x="8692805" y="1421750"/>
            <a:ext cx="727105" cy="363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26" b="0" i="0">
                <a:solidFill>
                  <a:srgbClr val="111111"/>
                </a:solidFill>
                <a:latin typeface="Liberation Serif"/>
              </a:rPr>
              <a:t>proxᴿ(·)</a:t>
            </a:r>
          </a:p>
        </p:txBody>
      </p:sp>
      <p:sp>
        <p:nvSpPr>
          <p:cNvPr id="93" name="stage_K_sigma_label"/>
          <p:cNvSpPr txBox="1"/>
          <p:nvPr/>
        </p:nvSpPr>
        <p:spPr>
          <a:xfrm>
            <a:off x="8173444" y="1175054"/>
            <a:ext cx="415488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Σ⁽K⁾</a:t>
            </a:r>
          </a:p>
        </p:txBody>
      </p:sp>
      <p:sp>
        <p:nvSpPr>
          <p:cNvPr id="94" name="stage_K_w_label"/>
          <p:cNvSpPr txBox="1"/>
          <p:nvPr/>
        </p:nvSpPr>
        <p:spPr>
          <a:xfrm>
            <a:off x="9069341" y="973801"/>
            <a:ext cx="421980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w⁽K⁾</a:t>
            </a:r>
          </a:p>
        </p:txBody>
      </p:sp>
      <p:sp>
        <p:nvSpPr>
          <p:cNvPr id="95" name="stage_K_z_label"/>
          <p:cNvSpPr txBox="1"/>
          <p:nvPr/>
        </p:nvSpPr>
        <p:spPr>
          <a:xfrm>
            <a:off x="9393942" y="1681431"/>
            <a:ext cx="454440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z⁽K⁾</a:t>
            </a:r>
          </a:p>
        </p:txBody>
      </p:sp>
      <p:sp>
        <p:nvSpPr>
          <p:cNvPr id="96" name="stage_K_obs_label"/>
          <p:cNvSpPr txBox="1"/>
          <p:nvPr/>
        </p:nvSpPr>
        <p:spPr>
          <a:xfrm>
            <a:off x="8192920" y="2155348"/>
            <a:ext cx="649201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1">
                <a:solidFill>
                  <a:srgbClr val="111111"/>
                </a:solidFill>
                <a:latin typeface="Latin Modern Math"/>
              </a:rPr>
              <a:t>(y, H)</a:t>
            </a:r>
          </a:p>
        </p:txBody>
      </p:sp>
      <p:sp>
        <p:nvSpPr>
          <p:cNvPr id="97" name="stage_K_y_label"/>
          <p:cNvSpPr txBox="1"/>
          <p:nvPr/>
        </p:nvSpPr>
        <p:spPr>
          <a:xfrm>
            <a:off x="8205904" y="292140"/>
            <a:ext cx="259680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1">
                <a:solidFill>
                  <a:srgbClr val="111111"/>
                </a:solidFill>
                <a:latin typeface="Latin Modern Math"/>
              </a:rPr>
              <a:t>y</a:t>
            </a:r>
          </a:p>
        </p:txBody>
      </p:sp>
      <p:cxnSp>
        <p:nvCxnSpPr>
          <p:cNvPr id="98" name="stage_K_out_seg1"/>
          <p:cNvCxnSpPr/>
          <p:nvPr/>
        </p:nvCxnSpPr>
        <p:spPr>
          <a:xfrm>
            <a:off x="9445878" y="1603527"/>
            <a:ext cx="32460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99" name="stage1_to_stage2_seg1"/>
          <p:cNvCxnSpPr/>
          <p:nvPr/>
        </p:nvCxnSpPr>
        <p:spPr>
          <a:xfrm>
            <a:off x="4758645" y="1603527"/>
            <a:ext cx="571297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00" name="stage2_to_ellipsis_seg1"/>
          <p:cNvCxnSpPr/>
          <p:nvPr/>
        </p:nvCxnSpPr>
        <p:spPr>
          <a:xfrm>
            <a:off x="6952945" y="1603527"/>
            <a:ext cx="266173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101" name="a_ellipsis"/>
          <p:cNvSpPr txBox="1"/>
          <p:nvPr/>
        </p:nvSpPr>
        <p:spPr>
          <a:xfrm>
            <a:off x="7219118" y="1447718"/>
            <a:ext cx="259680" cy="2337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77" b="0" i="0">
                <a:solidFill>
                  <a:srgbClr val="111111"/>
                </a:solidFill>
                <a:latin typeface="Liberation Sans"/>
              </a:rPr>
              <a:t>· · ·</a:t>
            </a:r>
          </a:p>
        </p:txBody>
      </p:sp>
      <p:cxnSp>
        <p:nvCxnSpPr>
          <p:cNvPr id="102" name="ellipsis_to_stagek_seg1"/>
          <p:cNvCxnSpPr/>
          <p:nvPr/>
        </p:nvCxnSpPr>
        <p:spPr>
          <a:xfrm>
            <a:off x="7472306" y="1603527"/>
            <a:ext cx="298633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03" name="stagek_to_output_seg1"/>
          <p:cNvCxnSpPr/>
          <p:nvPr/>
        </p:nvCxnSpPr>
        <p:spPr>
          <a:xfrm>
            <a:off x="9445878" y="1603527"/>
            <a:ext cx="227221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pic>
        <p:nvPicPr>
          <p:cNvPr id="104" name="a_spectral_output" descr="top_out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987" y="675169"/>
            <a:ext cx="675169" cy="1272434"/>
          </a:xfrm>
          <a:prstGeom prst="rect">
            <a:avLst/>
          </a:prstGeom>
        </p:spPr>
      </p:pic>
      <p:cxnSp>
        <p:nvCxnSpPr>
          <p:cNvPr id="105" name="c_input_seg1"/>
          <p:cNvCxnSpPr/>
          <p:nvPr/>
        </p:nvCxnSpPr>
        <p:spPr>
          <a:xfrm>
            <a:off x="746581" y="2752613"/>
            <a:ext cx="0" cy="447949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06" name="c_residual_top_seg1"/>
          <p:cNvCxnSpPr/>
          <p:nvPr/>
        </p:nvCxnSpPr>
        <p:spPr>
          <a:xfrm>
            <a:off x="746581" y="2752613"/>
            <a:ext cx="2882454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07" name="c_residual_top_seg2"/>
          <p:cNvCxnSpPr/>
          <p:nvPr/>
        </p:nvCxnSpPr>
        <p:spPr>
          <a:xfrm>
            <a:off x="3629035" y="2752613"/>
            <a:ext cx="0" cy="142824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08" name="c_residual_sum_seg1"/>
          <p:cNvCxnSpPr/>
          <p:nvPr/>
        </p:nvCxnSpPr>
        <p:spPr>
          <a:xfrm>
            <a:off x="3629035" y="2895437"/>
            <a:ext cx="0" cy="71412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09" name="c_conv_to_spa1_seg1"/>
          <p:cNvCxnSpPr/>
          <p:nvPr/>
        </p:nvCxnSpPr>
        <p:spPr>
          <a:xfrm>
            <a:off x="746581" y="3577099"/>
            <a:ext cx="0" cy="220728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0" name="c_spa1_to_down1_seg1"/>
          <p:cNvCxnSpPr/>
          <p:nvPr/>
        </p:nvCxnSpPr>
        <p:spPr>
          <a:xfrm>
            <a:off x="746581" y="4161380"/>
            <a:ext cx="0" cy="22722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1" name="c_down1_to_spa2_seg1"/>
          <p:cNvCxnSpPr/>
          <p:nvPr/>
        </p:nvCxnSpPr>
        <p:spPr>
          <a:xfrm>
            <a:off x="746581" y="4765137"/>
            <a:ext cx="0" cy="22722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2" name="c_spa2_to_down2_seg1"/>
          <p:cNvCxnSpPr/>
          <p:nvPr/>
        </p:nvCxnSpPr>
        <p:spPr>
          <a:xfrm>
            <a:off x="746581" y="5368894"/>
            <a:ext cx="0" cy="227221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3" name="c_down2_to_bottleneck_seg1"/>
          <p:cNvCxnSpPr/>
          <p:nvPr/>
        </p:nvCxnSpPr>
        <p:spPr>
          <a:xfrm>
            <a:off x="746581" y="5972651"/>
            <a:ext cx="0" cy="506377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14" name="c_down2_to_bottleneck_seg2"/>
          <p:cNvCxnSpPr/>
          <p:nvPr/>
        </p:nvCxnSpPr>
        <p:spPr>
          <a:xfrm>
            <a:off x="746581" y="6479028"/>
            <a:ext cx="947834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5" name="c_bottleneck_to_up2_seg1"/>
          <p:cNvCxnSpPr/>
          <p:nvPr/>
        </p:nvCxnSpPr>
        <p:spPr>
          <a:xfrm>
            <a:off x="2765597" y="6479028"/>
            <a:ext cx="863438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16" name="c_bottleneck_to_up2_seg2"/>
          <p:cNvCxnSpPr/>
          <p:nvPr/>
        </p:nvCxnSpPr>
        <p:spPr>
          <a:xfrm flipV="1">
            <a:off x="3629035" y="5985635"/>
            <a:ext cx="0" cy="493393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7" name="c_up2_to_spec2_seg1"/>
          <p:cNvCxnSpPr/>
          <p:nvPr/>
        </p:nvCxnSpPr>
        <p:spPr>
          <a:xfrm flipV="1">
            <a:off x="3629035" y="5375386"/>
            <a:ext cx="0" cy="220729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8" name="c_spec2_to_up1_seg1"/>
          <p:cNvCxnSpPr/>
          <p:nvPr/>
        </p:nvCxnSpPr>
        <p:spPr>
          <a:xfrm flipV="1">
            <a:off x="3629035" y="4765137"/>
            <a:ext cx="0" cy="22722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19" name="c_up1_to_spec1_seg1"/>
          <p:cNvCxnSpPr/>
          <p:nvPr/>
        </p:nvCxnSpPr>
        <p:spPr>
          <a:xfrm flipV="1">
            <a:off x="3629035" y="4167872"/>
            <a:ext cx="0" cy="220728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0" name="c_spec1_to_conv_seg1"/>
          <p:cNvCxnSpPr/>
          <p:nvPr/>
        </p:nvCxnSpPr>
        <p:spPr>
          <a:xfrm flipV="1">
            <a:off x="3629035" y="3583591"/>
            <a:ext cx="0" cy="214236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1" name="c_spa1_skip_seg1"/>
          <p:cNvCxnSpPr/>
          <p:nvPr/>
        </p:nvCxnSpPr>
        <p:spPr>
          <a:xfrm>
            <a:off x="1369814" y="3979603"/>
            <a:ext cx="266173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2" name="c_concat1_fusion_seg1"/>
          <p:cNvCxnSpPr/>
          <p:nvPr/>
        </p:nvCxnSpPr>
        <p:spPr>
          <a:xfrm>
            <a:off x="1876191" y="3979603"/>
            <a:ext cx="272665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3" name="c_fusion1_spec_seg1"/>
          <p:cNvCxnSpPr/>
          <p:nvPr/>
        </p:nvCxnSpPr>
        <p:spPr>
          <a:xfrm>
            <a:off x="2739629" y="3979603"/>
            <a:ext cx="272664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4" name="c_spa2_skip_seg1"/>
          <p:cNvCxnSpPr/>
          <p:nvPr/>
        </p:nvCxnSpPr>
        <p:spPr>
          <a:xfrm>
            <a:off x="1369814" y="5180626"/>
            <a:ext cx="266173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5" name="c_concat2_fusion_seg1"/>
          <p:cNvCxnSpPr/>
          <p:nvPr/>
        </p:nvCxnSpPr>
        <p:spPr>
          <a:xfrm>
            <a:off x="1876191" y="5180626"/>
            <a:ext cx="272665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6" name="c_fusion2_spec_seg1"/>
          <p:cNvCxnSpPr/>
          <p:nvPr/>
        </p:nvCxnSpPr>
        <p:spPr>
          <a:xfrm>
            <a:off x="2739629" y="5180626"/>
            <a:ext cx="272664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27" name="c_up1_skip_seg1"/>
          <p:cNvCxnSpPr/>
          <p:nvPr/>
        </p:nvCxnSpPr>
        <p:spPr>
          <a:xfrm flipH="1">
            <a:off x="1765827" y="4583361"/>
            <a:ext cx="1246466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28" name="c_up1_skip_seg2"/>
          <p:cNvCxnSpPr/>
          <p:nvPr/>
        </p:nvCxnSpPr>
        <p:spPr>
          <a:xfrm flipV="1">
            <a:off x="1765827" y="4076984"/>
            <a:ext cx="0" cy="506377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29" name="c_up1_skip_end_seg1"/>
          <p:cNvCxnSpPr/>
          <p:nvPr/>
        </p:nvCxnSpPr>
        <p:spPr>
          <a:xfrm>
            <a:off x="1765827" y="4076984"/>
            <a:ext cx="0" cy="6492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130" name="c_up2_skip_seg1"/>
          <p:cNvCxnSpPr/>
          <p:nvPr/>
        </p:nvCxnSpPr>
        <p:spPr>
          <a:xfrm flipH="1">
            <a:off x="1765827" y="5777891"/>
            <a:ext cx="1246466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31" name="c_up2_skip_seg2"/>
          <p:cNvCxnSpPr/>
          <p:nvPr/>
        </p:nvCxnSpPr>
        <p:spPr>
          <a:xfrm flipV="1">
            <a:off x="1765827" y="5278006"/>
            <a:ext cx="0" cy="499885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132" name="c_up2_skip_end_seg1"/>
          <p:cNvCxnSpPr/>
          <p:nvPr/>
        </p:nvCxnSpPr>
        <p:spPr>
          <a:xfrm>
            <a:off x="1765827" y="5278006"/>
            <a:ext cx="0" cy="6492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133" name="c_sum_circle"/>
          <p:cNvSpPr/>
          <p:nvPr/>
        </p:nvSpPr>
        <p:spPr>
          <a:xfrm>
            <a:off x="3525162" y="2869469"/>
            <a:ext cx="207744" cy="207744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4" name="c_sum_h_seg1"/>
          <p:cNvCxnSpPr/>
          <p:nvPr/>
        </p:nvCxnSpPr>
        <p:spPr>
          <a:xfrm>
            <a:off x="3551130" y="2973341"/>
            <a:ext cx="155809" cy="0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cxnSp>
        <p:nvCxnSpPr>
          <p:cNvPr id="135" name="c_sum_v_seg1"/>
          <p:cNvCxnSpPr/>
          <p:nvPr/>
        </p:nvCxnSpPr>
        <p:spPr>
          <a:xfrm>
            <a:off x="3629035" y="2895437"/>
            <a:ext cx="0" cy="155809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sp>
        <p:nvSpPr>
          <p:cNvPr id="136" name="c_concat1_circle"/>
          <p:cNvSpPr/>
          <p:nvPr/>
        </p:nvSpPr>
        <p:spPr>
          <a:xfrm>
            <a:off x="1645725" y="3859501"/>
            <a:ext cx="240204" cy="240204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c_concat1_symbol"/>
          <p:cNvSpPr txBox="1"/>
          <p:nvPr/>
        </p:nvSpPr>
        <p:spPr>
          <a:xfrm>
            <a:off x="1645725" y="3853009"/>
            <a:ext cx="240204" cy="2531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0">
                <a:solidFill>
                  <a:srgbClr val="111111"/>
                </a:solidFill>
                <a:latin typeface="Liberation Sans"/>
              </a:rPr>
              <a:t>C</a:t>
            </a:r>
          </a:p>
        </p:txBody>
      </p:sp>
      <p:sp>
        <p:nvSpPr>
          <p:cNvPr id="138" name="c_concat2_circle"/>
          <p:cNvSpPr/>
          <p:nvPr/>
        </p:nvSpPr>
        <p:spPr>
          <a:xfrm>
            <a:off x="1645725" y="5060523"/>
            <a:ext cx="240204" cy="240204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c_concat2_symbol"/>
          <p:cNvSpPr txBox="1"/>
          <p:nvPr/>
        </p:nvSpPr>
        <p:spPr>
          <a:xfrm>
            <a:off x="1645725" y="5054031"/>
            <a:ext cx="240204" cy="2531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0">
                <a:solidFill>
                  <a:srgbClr val="111111"/>
                </a:solidFill>
                <a:latin typeface="Liberation Sans"/>
              </a:rPr>
              <a:t>C</a:t>
            </a:r>
          </a:p>
        </p:txBody>
      </p:sp>
      <p:sp>
        <p:nvSpPr>
          <p:cNvPr id="140" name="c_conv_left_box"/>
          <p:cNvSpPr/>
          <p:nvPr/>
        </p:nvSpPr>
        <p:spPr>
          <a:xfrm>
            <a:off x="129840" y="3200562"/>
            <a:ext cx="1239974" cy="376536"/>
          </a:xfrm>
          <a:prstGeom prst="roundRect">
            <a:avLst>
              <a:gd name="adj" fmla="val 17241"/>
            </a:avLst>
          </a:prstGeom>
          <a:solidFill>
            <a:srgbClr val="FEFAE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c_conv_left_label"/>
          <p:cNvSpPr txBox="1"/>
          <p:nvPr/>
        </p:nvSpPr>
        <p:spPr>
          <a:xfrm>
            <a:off x="155808" y="3213546"/>
            <a:ext cx="1188038" cy="3505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Conv3x3</a:t>
            </a:r>
          </a:p>
        </p:txBody>
      </p:sp>
      <p:sp>
        <p:nvSpPr>
          <p:cNvPr id="142" name="c_spa1_box"/>
          <p:cNvSpPr/>
          <p:nvPr/>
        </p:nvSpPr>
        <p:spPr>
          <a:xfrm>
            <a:off x="129840" y="3797827"/>
            <a:ext cx="1239974" cy="363552"/>
          </a:xfrm>
          <a:prstGeom prst="roundRect">
            <a:avLst>
              <a:gd name="adj" fmla="val 17857"/>
            </a:avLst>
          </a:prstGeom>
          <a:solidFill>
            <a:srgbClr val="E2ECF6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c_spa1_label"/>
          <p:cNvSpPr txBox="1"/>
          <p:nvPr/>
        </p:nvSpPr>
        <p:spPr>
          <a:xfrm>
            <a:off x="155808" y="3810811"/>
            <a:ext cx="1188038" cy="3375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Spa-LWSA</a:t>
            </a:r>
          </a:p>
        </p:txBody>
      </p:sp>
      <p:sp>
        <p:nvSpPr>
          <p:cNvPr id="144" name="c_down1_box"/>
          <p:cNvSpPr/>
          <p:nvPr/>
        </p:nvSpPr>
        <p:spPr>
          <a:xfrm>
            <a:off x="129840" y="4388600"/>
            <a:ext cx="1239974" cy="376536"/>
          </a:xfrm>
          <a:prstGeom prst="roundRect">
            <a:avLst>
              <a:gd name="adj" fmla="val 17241"/>
            </a:avLst>
          </a:prstGeom>
          <a:solidFill>
            <a:srgbClr val="DEE1DA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c_down1_label"/>
          <p:cNvSpPr txBox="1"/>
          <p:nvPr/>
        </p:nvSpPr>
        <p:spPr>
          <a:xfrm>
            <a:off x="155808" y="4401584"/>
            <a:ext cx="1188038" cy="3505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Down</a:t>
            </a:r>
          </a:p>
        </p:txBody>
      </p:sp>
      <p:sp>
        <p:nvSpPr>
          <p:cNvPr id="146" name="c_spa2_box"/>
          <p:cNvSpPr/>
          <p:nvPr/>
        </p:nvSpPr>
        <p:spPr>
          <a:xfrm>
            <a:off x="129840" y="4992357"/>
            <a:ext cx="1239974" cy="376536"/>
          </a:xfrm>
          <a:prstGeom prst="roundRect">
            <a:avLst>
              <a:gd name="adj" fmla="val 17241"/>
            </a:avLst>
          </a:prstGeom>
          <a:solidFill>
            <a:srgbClr val="E2ECF6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c_spa2_label"/>
          <p:cNvSpPr txBox="1"/>
          <p:nvPr/>
        </p:nvSpPr>
        <p:spPr>
          <a:xfrm>
            <a:off x="155808" y="5005341"/>
            <a:ext cx="1188038" cy="3505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Spa-LWSA</a:t>
            </a:r>
          </a:p>
        </p:txBody>
      </p:sp>
      <p:sp>
        <p:nvSpPr>
          <p:cNvPr id="148" name="c_down2_box"/>
          <p:cNvSpPr/>
          <p:nvPr/>
        </p:nvSpPr>
        <p:spPr>
          <a:xfrm>
            <a:off x="129840" y="5596115"/>
            <a:ext cx="1239974" cy="376536"/>
          </a:xfrm>
          <a:prstGeom prst="roundRect">
            <a:avLst>
              <a:gd name="adj" fmla="val 17241"/>
            </a:avLst>
          </a:prstGeom>
          <a:solidFill>
            <a:srgbClr val="DEE1DA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c_down2_label"/>
          <p:cNvSpPr txBox="1"/>
          <p:nvPr/>
        </p:nvSpPr>
        <p:spPr>
          <a:xfrm>
            <a:off x="155808" y="5609099"/>
            <a:ext cx="1188038" cy="3505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Down</a:t>
            </a:r>
          </a:p>
        </p:txBody>
      </p:sp>
      <p:sp>
        <p:nvSpPr>
          <p:cNvPr id="150" name="c_bottleneck_box"/>
          <p:cNvSpPr/>
          <p:nvPr/>
        </p:nvSpPr>
        <p:spPr>
          <a:xfrm>
            <a:off x="1694415" y="6245316"/>
            <a:ext cx="1071182" cy="454440"/>
          </a:xfrm>
          <a:prstGeom prst="roundRect">
            <a:avLst>
              <a:gd name="adj" fmla="val 14285"/>
            </a:avLst>
          </a:prstGeom>
          <a:solidFill>
            <a:srgbClr val="E2ECF6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c_bottleneck_label"/>
          <p:cNvSpPr txBox="1"/>
          <p:nvPr/>
        </p:nvSpPr>
        <p:spPr>
          <a:xfrm>
            <a:off x="1720383" y="6258300"/>
            <a:ext cx="1019246" cy="428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29" b="0" i="0">
                <a:solidFill>
                  <a:srgbClr val="111111"/>
                </a:solidFill>
                <a:latin typeface="Liberation Sans"/>
              </a:rPr>
              <a:t>Spa-LWSA</a:t>
            </a:r>
          </a:p>
        </p:txBody>
      </p:sp>
      <p:sp>
        <p:nvSpPr>
          <p:cNvPr id="152" name="c_fusion1_box"/>
          <p:cNvSpPr/>
          <p:nvPr/>
        </p:nvSpPr>
        <p:spPr>
          <a:xfrm>
            <a:off x="2148856" y="3804319"/>
            <a:ext cx="590773" cy="344076"/>
          </a:xfrm>
          <a:prstGeom prst="roundRect">
            <a:avLst>
              <a:gd name="adj" fmla="val 18867"/>
            </a:avLst>
          </a:prstGeom>
          <a:solidFill>
            <a:srgbClr val="FEFAE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c_fusion1_label"/>
          <p:cNvSpPr txBox="1"/>
          <p:nvPr/>
        </p:nvSpPr>
        <p:spPr>
          <a:xfrm>
            <a:off x="2174824" y="3817303"/>
            <a:ext cx="538837" cy="3181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0">
                <a:solidFill>
                  <a:srgbClr val="111111"/>
                </a:solidFill>
                <a:latin typeface="Liberation Sans"/>
              </a:rPr>
              <a:t>Fusion</a:t>
            </a:r>
          </a:p>
        </p:txBody>
      </p:sp>
      <p:sp>
        <p:nvSpPr>
          <p:cNvPr id="154" name="c_spec1_box"/>
          <p:cNvSpPr/>
          <p:nvPr/>
        </p:nvSpPr>
        <p:spPr>
          <a:xfrm>
            <a:off x="3012293" y="3797827"/>
            <a:ext cx="1239974" cy="370044"/>
          </a:xfrm>
          <a:prstGeom prst="roundRect">
            <a:avLst>
              <a:gd name="adj" fmla="val 17543"/>
            </a:avLst>
          </a:prstGeom>
          <a:solidFill>
            <a:srgbClr val="F9E6D7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c_spec1_label"/>
          <p:cNvSpPr txBox="1"/>
          <p:nvPr/>
        </p:nvSpPr>
        <p:spPr>
          <a:xfrm>
            <a:off x="3038261" y="3810811"/>
            <a:ext cx="1188038" cy="3440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Spec-TKSA</a:t>
            </a:r>
          </a:p>
        </p:txBody>
      </p:sp>
      <p:sp>
        <p:nvSpPr>
          <p:cNvPr id="156" name="c_up1_box"/>
          <p:cNvSpPr/>
          <p:nvPr/>
        </p:nvSpPr>
        <p:spPr>
          <a:xfrm>
            <a:off x="3012293" y="4388600"/>
            <a:ext cx="1239974" cy="376536"/>
          </a:xfrm>
          <a:prstGeom prst="roundRect">
            <a:avLst>
              <a:gd name="adj" fmla="val 17241"/>
            </a:avLst>
          </a:prstGeom>
          <a:solidFill>
            <a:srgbClr val="DEE1DA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c_up1_label"/>
          <p:cNvSpPr txBox="1"/>
          <p:nvPr/>
        </p:nvSpPr>
        <p:spPr>
          <a:xfrm>
            <a:off x="3038261" y="4401584"/>
            <a:ext cx="1188038" cy="3505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Up</a:t>
            </a:r>
          </a:p>
        </p:txBody>
      </p:sp>
      <p:sp>
        <p:nvSpPr>
          <p:cNvPr id="158" name="c_fusion2_box"/>
          <p:cNvSpPr/>
          <p:nvPr/>
        </p:nvSpPr>
        <p:spPr>
          <a:xfrm>
            <a:off x="2148856" y="5005341"/>
            <a:ext cx="590773" cy="344076"/>
          </a:xfrm>
          <a:prstGeom prst="roundRect">
            <a:avLst>
              <a:gd name="adj" fmla="val 18867"/>
            </a:avLst>
          </a:prstGeom>
          <a:solidFill>
            <a:srgbClr val="FEFAE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c_fusion2_label"/>
          <p:cNvSpPr txBox="1"/>
          <p:nvPr/>
        </p:nvSpPr>
        <p:spPr>
          <a:xfrm>
            <a:off x="2174824" y="5018325"/>
            <a:ext cx="538837" cy="31810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0">
                <a:solidFill>
                  <a:srgbClr val="111111"/>
                </a:solidFill>
                <a:latin typeface="Liberation Sans"/>
              </a:rPr>
              <a:t>Fusion</a:t>
            </a:r>
          </a:p>
        </p:txBody>
      </p:sp>
      <p:sp>
        <p:nvSpPr>
          <p:cNvPr id="160" name="c_spec2_box"/>
          <p:cNvSpPr/>
          <p:nvPr/>
        </p:nvSpPr>
        <p:spPr>
          <a:xfrm>
            <a:off x="3012293" y="4992357"/>
            <a:ext cx="1239974" cy="383028"/>
          </a:xfrm>
          <a:prstGeom prst="roundRect">
            <a:avLst>
              <a:gd name="adj" fmla="val 16949"/>
            </a:avLst>
          </a:prstGeom>
          <a:solidFill>
            <a:srgbClr val="F9E6D7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c_spec2_label"/>
          <p:cNvSpPr txBox="1"/>
          <p:nvPr/>
        </p:nvSpPr>
        <p:spPr>
          <a:xfrm>
            <a:off x="3038261" y="5005341"/>
            <a:ext cx="1188038" cy="3570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Spec-TKSA</a:t>
            </a:r>
          </a:p>
        </p:txBody>
      </p:sp>
      <p:sp>
        <p:nvSpPr>
          <p:cNvPr id="162" name="c_up2_box"/>
          <p:cNvSpPr/>
          <p:nvPr/>
        </p:nvSpPr>
        <p:spPr>
          <a:xfrm>
            <a:off x="3012293" y="5596115"/>
            <a:ext cx="1239974" cy="389520"/>
          </a:xfrm>
          <a:prstGeom prst="roundRect">
            <a:avLst>
              <a:gd name="adj" fmla="val 16666"/>
            </a:avLst>
          </a:prstGeom>
          <a:solidFill>
            <a:srgbClr val="DEE1DA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c_up2_label"/>
          <p:cNvSpPr txBox="1"/>
          <p:nvPr/>
        </p:nvSpPr>
        <p:spPr>
          <a:xfrm>
            <a:off x="3038261" y="5609099"/>
            <a:ext cx="1188038" cy="3635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Up</a:t>
            </a:r>
          </a:p>
        </p:txBody>
      </p:sp>
      <p:sp>
        <p:nvSpPr>
          <p:cNvPr id="164" name="c_conv_right_box"/>
          <p:cNvSpPr/>
          <p:nvPr/>
        </p:nvSpPr>
        <p:spPr>
          <a:xfrm>
            <a:off x="3012293" y="3207054"/>
            <a:ext cx="1239974" cy="376536"/>
          </a:xfrm>
          <a:prstGeom prst="roundRect">
            <a:avLst>
              <a:gd name="adj" fmla="val 17241"/>
            </a:avLst>
          </a:prstGeom>
          <a:solidFill>
            <a:srgbClr val="FEFAE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c_conv_right_label"/>
          <p:cNvSpPr txBox="1"/>
          <p:nvPr/>
        </p:nvSpPr>
        <p:spPr>
          <a:xfrm>
            <a:off x="3038261" y="3220038"/>
            <a:ext cx="1188038" cy="35056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11111"/>
                </a:solidFill>
                <a:latin typeface="Liberation Sans"/>
              </a:rPr>
              <a:t>Conv3x3</a:t>
            </a:r>
          </a:p>
        </p:txBody>
      </p:sp>
      <p:sp>
        <p:nvSpPr>
          <p:cNvPr id="166" name="c_dim0"/>
          <p:cNvSpPr txBox="1"/>
          <p:nvPr/>
        </p:nvSpPr>
        <p:spPr>
          <a:xfrm>
            <a:off x="843961" y="2960357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167" name="c_dim1"/>
          <p:cNvSpPr txBox="1"/>
          <p:nvPr/>
        </p:nvSpPr>
        <p:spPr>
          <a:xfrm>
            <a:off x="843961" y="3590083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168" name="c_dim2"/>
          <p:cNvSpPr txBox="1"/>
          <p:nvPr/>
        </p:nvSpPr>
        <p:spPr>
          <a:xfrm>
            <a:off x="843961" y="4193840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169" name="c_dim3"/>
          <p:cNvSpPr txBox="1"/>
          <p:nvPr/>
        </p:nvSpPr>
        <p:spPr>
          <a:xfrm>
            <a:off x="779041" y="4778121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2C×H⁄2×W⁄2</a:t>
            </a:r>
          </a:p>
        </p:txBody>
      </p:sp>
      <p:sp>
        <p:nvSpPr>
          <p:cNvPr id="170" name="c_dim4"/>
          <p:cNvSpPr txBox="1"/>
          <p:nvPr/>
        </p:nvSpPr>
        <p:spPr>
          <a:xfrm>
            <a:off x="779041" y="5388370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2C×H⁄2×W⁄2</a:t>
            </a:r>
          </a:p>
        </p:txBody>
      </p:sp>
      <p:sp>
        <p:nvSpPr>
          <p:cNvPr id="171" name="c_dim5"/>
          <p:cNvSpPr txBox="1"/>
          <p:nvPr/>
        </p:nvSpPr>
        <p:spPr>
          <a:xfrm>
            <a:off x="779041" y="5998619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4C×H⁄4×W⁄4</a:t>
            </a:r>
          </a:p>
        </p:txBody>
      </p:sp>
      <p:sp>
        <p:nvSpPr>
          <p:cNvPr id="172" name="c_dim6"/>
          <p:cNvSpPr txBox="1"/>
          <p:nvPr/>
        </p:nvSpPr>
        <p:spPr>
          <a:xfrm>
            <a:off x="2492932" y="5596115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2C×H⁄2×W⁄2</a:t>
            </a:r>
          </a:p>
        </p:txBody>
      </p:sp>
      <p:sp>
        <p:nvSpPr>
          <p:cNvPr id="173" name="c_dim7"/>
          <p:cNvSpPr txBox="1"/>
          <p:nvPr/>
        </p:nvSpPr>
        <p:spPr>
          <a:xfrm>
            <a:off x="2492932" y="4401584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174" name="c_dim8"/>
          <p:cNvSpPr txBox="1"/>
          <p:nvPr/>
        </p:nvSpPr>
        <p:spPr>
          <a:xfrm>
            <a:off x="3797827" y="4193840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175" name="c_dim9"/>
          <p:cNvSpPr txBox="1"/>
          <p:nvPr/>
        </p:nvSpPr>
        <p:spPr>
          <a:xfrm>
            <a:off x="3797827" y="3590083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176" name="c_dim10"/>
          <p:cNvSpPr txBox="1"/>
          <p:nvPr/>
        </p:nvSpPr>
        <p:spPr>
          <a:xfrm>
            <a:off x="3797827" y="2960357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177" name="c_dim11"/>
          <p:cNvSpPr txBox="1"/>
          <p:nvPr/>
        </p:nvSpPr>
        <p:spPr>
          <a:xfrm>
            <a:off x="3765367" y="4778121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2C×H⁄2×W⁄2</a:t>
            </a:r>
          </a:p>
        </p:txBody>
      </p:sp>
      <p:sp>
        <p:nvSpPr>
          <p:cNvPr id="178" name="c_dim12"/>
          <p:cNvSpPr txBox="1"/>
          <p:nvPr/>
        </p:nvSpPr>
        <p:spPr>
          <a:xfrm>
            <a:off x="3765367" y="5998619"/>
            <a:ext cx="779041" cy="18177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7" b="0" i="1">
                <a:solidFill>
                  <a:srgbClr val="777777"/>
                </a:solidFill>
                <a:latin typeface="Latin Modern Math"/>
              </a:rPr>
              <a:t>4C×H⁄4×W⁄4</a:t>
            </a:r>
          </a:p>
        </p:txBody>
      </p:sp>
      <p:pic>
        <p:nvPicPr>
          <p:cNvPr id="179" name="b_chroma" descr="b_chro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424" y="2869469"/>
            <a:ext cx="766057" cy="1291910"/>
          </a:xfrm>
          <a:prstGeom prst="rect">
            <a:avLst/>
          </a:prstGeom>
        </p:spPr>
      </p:pic>
      <p:pic>
        <p:nvPicPr>
          <p:cNvPr id="180" name="b_mask" descr="b_m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670" y="2921405"/>
            <a:ext cx="766057" cy="1285418"/>
          </a:xfrm>
          <a:prstGeom prst="rect">
            <a:avLst/>
          </a:prstGeom>
        </p:spPr>
      </p:pic>
      <p:pic>
        <p:nvPicPr>
          <p:cNvPr id="181" name="b_modulated" descr="b_modula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1329" y="2869469"/>
            <a:ext cx="850453" cy="1363322"/>
          </a:xfrm>
          <a:prstGeom prst="rect">
            <a:avLst/>
          </a:prstGeom>
        </p:spPr>
      </p:pic>
      <p:pic>
        <p:nvPicPr>
          <p:cNvPr id="182" name="b_dispersed" descr="b_dispers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0095" y="2862977"/>
            <a:ext cx="1149086" cy="1330862"/>
          </a:xfrm>
          <a:prstGeom prst="rect">
            <a:avLst/>
          </a:prstGeom>
        </p:spPr>
      </p:pic>
      <p:pic>
        <p:nvPicPr>
          <p:cNvPr id="183" name="b_measurement" descr="b_measurem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0638" y="2901929"/>
            <a:ext cx="805009" cy="1304894"/>
          </a:xfrm>
          <a:prstGeom prst="rect">
            <a:avLst/>
          </a:prstGeom>
        </p:spPr>
      </p:pic>
      <p:sp>
        <p:nvSpPr>
          <p:cNvPr id="184" name="b_top_c"/>
          <p:cNvSpPr txBox="1"/>
          <p:nvPr/>
        </p:nvSpPr>
        <p:spPr>
          <a:xfrm>
            <a:off x="4596345" y="2752613"/>
            <a:ext cx="454440" cy="2012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erif"/>
              </a:rPr>
              <a:t>C</a:t>
            </a:r>
          </a:p>
        </p:txBody>
      </p:sp>
      <p:sp>
        <p:nvSpPr>
          <p:cNvPr id="185" name="b_top_m"/>
          <p:cNvSpPr txBox="1"/>
          <p:nvPr/>
        </p:nvSpPr>
        <p:spPr>
          <a:xfrm>
            <a:off x="5661035" y="2752613"/>
            <a:ext cx="454440" cy="2012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erif"/>
              </a:rPr>
              <a:t>M′</a:t>
            </a:r>
          </a:p>
        </p:txBody>
      </p:sp>
      <p:sp>
        <p:nvSpPr>
          <p:cNvPr id="186" name="b_top_x1"/>
          <p:cNvSpPr txBox="1"/>
          <p:nvPr/>
        </p:nvSpPr>
        <p:spPr>
          <a:xfrm>
            <a:off x="6693265" y="2752613"/>
            <a:ext cx="454440" cy="2012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erif"/>
              </a:rPr>
              <a:t>X′</a:t>
            </a:r>
          </a:p>
        </p:txBody>
      </p:sp>
      <p:sp>
        <p:nvSpPr>
          <p:cNvPr id="187" name="b_top_x2"/>
          <p:cNvSpPr txBox="1"/>
          <p:nvPr/>
        </p:nvSpPr>
        <p:spPr>
          <a:xfrm>
            <a:off x="8309776" y="2752613"/>
            <a:ext cx="454440" cy="2012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erif"/>
              </a:rPr>
              <a:t>X″</a:t>
            </a:r>
          </a:p>
        </p:txBody>
      </p:sp>
      <p:sp>
        <p:nvSpPr>
          <p:cNvPr id="188" name="b_top_y"/>
          <p:cNvSpPr txBox="1"/>
          <p:nvPr/>
        </p:nvSpPr>
        <p:spPr>
          <a:xfrm>
            <a:off x="9945763" y="2752613"/>
            <a:ext cx="454440" cy="2012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erif"/>
              </a:rPr>
              <a:t>Y</a:t>
            </a:r>
          </a:p>
        </p:txBody>
      </p:sp>
      <p:cxnSp>
        <p:nvCxnSpPr>
          <p:cNvPr id="189" name="b_arrow1_seg1"/>
          <p:cNvCxnSpPr/>
          <p:nvPr/>
        </p:nvCxnSpPr>
        <p:spPr>
          <a:xfrm>
            <a:off x="5310466" y="3505686"/>
            <a:ext cx="240204" cy="0"/>
          </a:xfrm>
          <a:prstGeom prst="line">
            <a:avLst/>
          </a:prstGeom>
          <a:ln w="19476">
            <a:solidFill>
              <a:srgbClr val="AFAFAF"/>
            </a:solidFill>
            <a:tailEnd type="triangle" w="sm" len="sm"/>
          </a:ln>
          <a:effectLst/>
        </p:spPr>
      </p:cxnSp>
      <p:cxnSp>
        <p:nvCxnSpPr>
          <p:cNvPr id="190" name="b_arrow2_seg1"/>
          <p:cNvCxnSpPr/>
          <p:nvPr/>
        </p:nvCxnSpPr>
        <p:spPr>
          <a:xfrm>
            <a:off x="6349188" y="3505686"/>
            <a:ext cx="279157" cy="0"/>
          </a:xfrm>
          <a:prstGeom prst="line">
            <a:avLst/>
          </a:prstGeom>
          <a:ln w="19476">
            <a:solidFill>
              <a:srgbClr val="AFAFAF"/>
            </a:solidFill>
            <a:tailEnd type="triangle" w="sm" len="sm"/>
          </a:ln>
          <a:effectLst/>
        </p:spPr>
      </p:cxnSp>
      <p:cxnSp>
        <p:nvCxnSpPr>
          <p:cNvPr id="191" name="b_arrow3_seg1"/>
          <p:cNvCxnSpPr/>
          <p:nvPr/>
        </p:nvCxnSpPr>
        <p:spPr>
          <a:xfrm>
            <a:off x="7498274" y="3505686"/>
            <a:ext cx="519361" cy="0"/>
          </a:xfrm>
          <a:prstGeom prst="line">
            <a:avLst/>
          </a:prstGeom>
          <a:ln w="19476">
            <a:solidFill>
              <a:srgbClr val="AFAFAF"/>
            </a:solidFill>
            <a:tailEnd type="triangle" w="sm" len="sm"/>
          </a:ln>
          <a:effectLst/>
        </p:spPr>
      </p:cxnSp>
      <p:cxnSp>
        <p:nvCxnSpPr>
          <p:cNvPr id="192" name="b_arrow4_seg1"/>
          <p:cNvCxnSpPr/>
          <p:nvPr/>
        </p:nvCxnSpPr>
        <p:spPr>
          <a:xfrm>
            <a:off x="9218658" y="3505686"/>
            <a:ext cx="389520" cy="0"/>
          </a:xfrm>
          <a:prstGeom prst="line">
            <a:avLst/>
          </a:prstGeom>
          <a:ln w="19476">
            <a:solidFill>
              <a:srgbClr val="AFAFAF"/>
            </a:solidFill>
            <a:tailEnd type="triangle" w="sm" len="sm"/>
          </a:ln>
          <a:effectLst/>
        </p:spPr>
      </p:cxnSp>
      <p:sp>
        <p:nvSpPr>
          <p:cNvPr id="193" name="b_dispersion"/>
          <p:cNvSpPr txBox="1"/>
          <p:nvPr/>
        </p:nvSpPr>
        <p:spPr>
          <a:xfrm>
            <a:off x="7452830" y="3252498"/>
            <a:ext cx="590773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ans"/>
              </a:rPr>
              <a:t>Dispersion</a:t>
            </a:r>
          </a:p>
        </p:txBody>
      </p:sp>
      <p:sp>
        <p:nvSpPr>
          <p:cNvPr id="194" name="b_imaging"/>
          <p:cNvSpPr txBox="1"/>
          <p:nvPr/>
        </p:nvSpPr>
        <p:spPr>
          <a:xfrm>
            <a:off x="9199182" y="3252498"/>
            <a:ext cx="467424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ans"/>
              </a:rPr>
              <a:t>Imaging</a:t>
            </a:r>
          </a:p>
        </p:txBody>
      </p:sp>
      <p:sp>
        <p:nvSpPr>
          <p:cNvPr id="195" name="b_cap1"/>
          <p:cNvSpPr txBox="1"/>
          <p:nvPr/>
        </p:nvSpPr>
        <p:spPr>
          <a:xfrm rot="19680000">
            <a:off x="4583361" y="3895207"/>
            <a:ext cx="876421" cy="324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ans"/>
              </a:rPr>
              <a:t>Chromaticity</a:t>
            </a:r>
          </a:p>
        </p:txBody>
      </p:sp>
      <p:sp>
        <p:nvSpPr>
          <p:cNvPr id="196" name="b_cap2"/>
          <p:cNvSpPr txBox="1"/>
          <p:nvPr/>
        </p:nvSpPr>
        <p:spPr>
          <a:xfrm rot="19740000">
            <a:off x="5622083" y="3940651"/>
            <a:ext cx="681661" cy="272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ans"/>
              </a:rPr>
              <a:t>Mask</a:t>
            </a:r>
          </a:p>
        </p:txBody>
      </p:sp>
      <p:sp>
        <p:nvSpPr>
          <p:cNvPr id="197" name="b_cap3"/>
          <p:cNvSpPr txBox="1"/>
          <p:nvPr/>
        </p:nvSpPr>
        <p:spPr>
          <a:xfrm rot="19800000">
            <a:off x="6686773" y="3901699"/>
            <a:ext cx="960817" cy="3051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ans"/>
              </a:rPr>
              <a:t>Modulated HSI</a:t>
            </a:r>
          </a:p>
        </p:txBody>
      </p:sp>
      <p:sp>
        <p:nvSpPr>
          <p:cNvPr id="198" name="b_cap4"/>
          <p:cNvSpPr txBox="1"/>
          <p:nvPr/>
        </p:nvSpPr>
        <p:spPr>
          <a:xfrm rot="19860000">
            <a:off x="8108523" y="3882223"/>
            <a:ext cx="1084166" cy="3116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ans"/>
              </a:rPr>
              <a:t>Dispersed HSI</a:t>
            </a:r>
          </a:p>
        </p:txBody>
      </p:sp>
      <p:sp>
        <p:nvSpPr>
          <p:cNvPr id="199" name="b_cap5"/>
          <p:cNvSpPr txBox="1"/>
          <p:nvPr/>
        </p:nvSpPr>
        <p:spPr>
          <a:xfrm rot="19740000">
            <a:off x="9673099" y="3888715"/>
            <a:ext cx="876421" cy="2986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ans"/>
              </a:rPr>
              <a:t>Measurement</a:t>
            </a:r>
          </a:p>
        </p:txBody>
      </p:sp>
      <p:cxnSp>
        <p:nvCxnSpPr>
          <p:cNvPr id="200" name="d_input_seg1"/>
          <p:cNvCxnSpPr/>
          <p:nvPr/>
        </p:nvCxnSpPr>
        <p:spPr>
          <a:xfrm>
            <a:off x="4648281" y="5706479"/>
            <a:ext cx="370044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01" name="d_residual_seg1"/>
          <p:cNvCxnSpPr/>
          <p:nvPr/>
        </p:nvCxnSpPr>
        <p:spPr>
          <a:xfrm flipV="1">
            <a:off x="4791105" y="4667757"/>
            <a:ext cx="0" cy="1038722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02" name="d_residual_seg2"/>
          <p:cNvCxnSpPr/>
          <p:nvPr/>
        </p:nvCxnSpPr>
        <p:spPr>
          <a:xfrm>
            <a:off x="4791105" y="4667757"/>
            <a:ext cx="6933470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03" name="d_residual_seg3"/>
          <p:cNvCxnSpPr/>
          <p:nvPr/>
        </p:nvCxnSpPr>
        <p:spPr>
          <a:xfrm>
            <a:off x="11724575" y="4667757"/>
            <a:ext cx="0" cy="1746351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04" name="d_residual_into_sum_seg1"/>
          <p:cNvCxnSpPr/>
          <p:nvPr/>
        </p:nvCxnSpPr>
        <p:spPr>
          <a:xfrm>
            <a:off x="11724575" y="6414108"/>
            <a:ext cx="0" cy="12984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05" name="d_ln_bus_seg1"/>
          <p:cNvCxnSpPr/>
          <p:nvPr/>
        </p:nvCxnSpPr>
        <p:spPr>
          <a:xfrm>
            <a:off x="5303974" y="5706479"/>
            <a:ext cx="181776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06" name="d_q_branch_seg1"/>
          <p:cNvCxnSpPr/>
          <p:nvPr/>
        </p:nvCxnSpPr>
        <p:spPr>
          <a:xfrm flipV="1">
            <a:off x="5485750" y="5083246"/>
            <a:ext cx="0" cy="623233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07" name="d_q_branch_seg2"/>
          <p:cNvCxnSpPr/>
          <p:nvPr/>
        </p:nvCxnSpPr>
        <p:spPr>
          <a:xfrm>
            <a:off x="5485750" y="5083246"/>
            <a:ext cx="240205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08" name="d_k_branch_seg1"/>
          <p:cNvCxnSpPr/>
          <p:nvPr/>
        </p:nvCxnSpPr>
        <p:spPr>
          <a:xfrm>
            <a:off x="5485750" y="5706479"/>
            <a:ext cx="240205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09" name="d_v_branch_seg1"/>
          <p:cNvCxnSpPr/>
          <p:nvPr/>
        </p:nvCxnSpPr>
        <p:spPr>
          <a:xfrm>
            <a:off x="5485750" y="5706479"/>
            <a:ext cx="0" cy="694645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10" name="d_v_branch_seg2"/>
          <p:cNvCxnSpPr/>
          <p:nvPr/>
        </p:nvCxnSpPr>
        <p:spPr>
          <a:xfrm>
            <a:off x="5485750" y="6401124"/>
            <a:ext cx="240205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1" name="d_q_to_product_seg1"/>
          <p:cNvCxnSpPr/>
          <p:nvPr/>
        </p:nvCxnSpPr>
        <p:spPr>
          <a:xfrm>
            <a:off x="6011603" y="5083246"/>
            <a:ext cx="519361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12" name="d_q_to_product_seg2"/>
          <p:cNvCxnSpPr/>
          <p:nvPr/>
        </p:nvCxnSpPr>
        <p:spPr>
          <a:xfrm>
            <a:off x="6530964" y="5083246"/>
            <a:ext cx="0" cy="350568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3" name="d_k_to_product_seg1"/>
          <p:cNvCxnSpPr/>
          <p:nvPr/>
        </p:nvCxnSpPr>
        <p:spPr>
          <a:xfrm>
            <a:off x="6011603" y="5706479"/>
            <a:ext cx="519361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14" name="d_k_to_product_seg2"/>
          <p:cNvCxnSpPr/>
          <p:nvPr/>
        </p:nvCxnSpPr>
        <p:spPr>
          <a:xfrm flipV="1">
            <a:off x="6530964" y="5537686"/>
            <a:ext cx="0" cy="168793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5" name="d_product_to_corr_seg1"/>
          <p:cNvCxnSpPr/>
          <p:nvPr/>
        </p:nvCxnSpPr>
        <p:spPr>
          <a:xfrm>
            <a:off x="6628345" y="5485750"/>
            <a:ext cx="214236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6" name="d_corr_to_mask_seg1"/>
          <p:cNvCxnSpPr/>
          <p:nvPr/>
        </p:nvCxnSpPr>
        <p:spPr>
          <a:xfrm>
            <a:off x="7485290" y="5485750"/>
            <a:ext cx="214237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7" name="d_mask_to_maps_seg1"/>
          <p:cNvCxnSpPr/>
          <p:nvPr/>
        </p:nvCxnSpPr>
        <p:spPr>
          <a:xfrm>
            <a:off x="7985175" y="5485750"/>
            <a:ext cx="207745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8" name="d_maps_to_softmax_seg1"/>
          <p:cNvCxnSpPr/>
          <p:nvPr/>
        </p:nvCxnSpPr>
        <p:spPr>
          <a:xfrm>
            <a:off x="9127769" y="5485750"/>
            <a:ext cx="266173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19" name="d_softmax_to_mul_seg1"/>
          <p:cNvCxnSpPr/>
          <p:nvPr/>
        </p:nvCxnSpPr>
        <p:spPr>
          <a:xfrm>
            <a:off x="9679591" y="5485750"/>
            <a:ext cx="460932" cy="0"/>
          </a:xfrm>
          <a:prstGeom prst="line">
            <a:avLst/>
          </a:prstGeom>
          <a:ln w="12984">
            <a:solidFill>
              <a:srgbClr val="111111"/>
            </a:solidFill>
          </a:ln>
          <a:effectLst/>
        </p:spPr>
      </p:cxnSp>
      <p:cxnSp>
        <p:nvCxnSpPr>
          <p:cNvPr id="220" name="d_softmax_to_mul_seg2"/>
          <p:cNvCxnSpPr/>
          <p:nvPr/>
        </p:nvCxnSpPr>
        <p:spPr>
          <a:xfrm>
            <a:off x="10140523" y="5485750"/>
            <a:ext cx="0" cy="921866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21" name="d_v_to_mul_seg1"/>
          <p:cNvCxnSpPr/>
          <p:nvPr/>
        </p:nvCxnSpPr>
        <p:spPr>
          <a:xfrm>
            <a:off x="6011603" y="6401124"/>
            <a:ext cx="4038032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22" name="d_mul_to_sum_seg1"/>
          <p:cNvCxnSpPr/>
          <p:nvPr/>
        </p:nvCxnSpPr>
        <p:spPr>
          <a:xfrm>
            <a:off x="10237904" y="6401124"/>
            <a:ext cx="370044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23" name="d_sum_to_conv_seg1"/>
          <p:cNvCxnSpPr/>
          <p:nvPr/>
        </p:nvCxnSpPr>
        <p:spPr>
          <a:xfrm>
            <a:off x="10809201" y="6401124"/>
            <a:ext cx="305124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24" name="d_conv_to_add_seg1"/>
          <p:cNvCxnSpPr/>
          <p:nvPr/>
        </p:nvCxnSpPr>
        <p:spPr>
          <a:xfrm>
            <a:off x="11412958" y="6401124"/>
            <a:ext cx="214236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25" name="d_output_seg1"/>
          <p:cNvCxnSpPr/>
          <p:nvPr/>
        </p:nvCxnSpPr>
        <p:spPr>
          <a:xfrm>
            <a:off x="11821955" y="6401124"/>
            <a:ext cx="318108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226" name="d_ln_box"/>
          <p:cNvSpPr/>
          <p:nvPr/>
        </p:nvSpPr>
        <p:spPr>
          <a:xfrm>
            <a:off x="5018325" y="5433814"/>
            <a:ext cx="285648" cy="545329"/>
          </a:xfrm>
          <a:prstGeom prst="roundRect">
            <a:avLst>
              <a:gd name="adj" fmla="val 15909"/>
            </a:avLst>
          </a:prstGeom>
          <a:solidFill>
            <a:srgbClr val="F8F8F8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d_ln_label"/>
          <p:cNvSpPr txBox="1"/>
          <p:nvPr/>
        </p:nvSpPr>
        <p:spPr>
          <a:xfrm rot="5400000">
            <a:off x="4901469" y="5576638"/>
            <a:ext cx="519361" cy="2596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0">
                <a:solidFill>
                  <a:srgbClr val="111111"/>
                </a:solidFill>
                <a:latin typeface="Liberation Sans"/>
              </a:rPr>
              <a:t>LN</a:t>
            </a:r>
          </a:p>
        </p:txBody>
      </p:sp>
      <p:sp>
        <p:nvSpPr>
          <p:cNvPr id="228" name="d_q_box"/>
          <p:cNvSpPr/>
          <p:nvPr/>
        </p:nvSpPr>
        <p:spPr>
          <a:xfrm>
            <a:off x="5725955" y="4830057"/>
            <a:ext cx="285648" cy="519361"/>
          </a:xfrm>
          <a:prstGeom prst="roundRect">
            <a:avLst>
              <a:gd name="adj" fmla="val 15909"/>
            </a:avLst>
          </a:prstGeom>
          <a:solidFill>
            <a:srgbClr val="F8F8F8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d_q_label"/>
          <p:cNvSpPr txBox="1"/>
          <p:nvPr/>
        </p:nvSpPr>
        <p:spPr>
          <a:xfrm rot="5400000">
            <a:off x="5622083" y="4959897"/>
            <a:ext cx="493392" cy="2596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ans"/>
              </a:rPr>
              <a:t>1x1</a:t>
            </a:r>
          </a:p>
        </p:txBody>
      </p:sp>
      <p:sp>
        <p:nvSpPr>
          <p:cNvPr id="230" name="d_q_letter"/>
          <p:cNvSpPr txBox="1"/>
          <p:nvPr/>
        </p:nvSpPr>
        <p:spPr>
          <a:xfrm>
            <a:off x="6121968" y="4920945"/>
            <a:ext cx="259680" cy="272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1" b="0" i="0">
                <a:solidFill>
                  <a:srgbClr val="111111"/>
                </a:solidFill>
                <a:latin typeface="Liberation Sans"/>
              </a:rPr>
              <a:t>Q</a:t>
            </a:r>
          </a:p>
        </p:txBody>
      </p:sp>
      <p:sp>
        <p:nvSpPr>
          <p:cNvPr id="231" name="d_k_box"/>
          <p:cNvSpPr/>
          <p:nvPr/>
        </p:nvSpPr>
        <p:spPr>
          <a:xfrm>
            <a:off x="5725955" y="5453290"/>
            <a:ext cx="285648" cy="519361"/>
          </a:xfrm>
          <a:prstGeom prst="roundRect">
            <a:avLst>
              <a:gd name="adj" fmla="val 15909"/>
            </a:avLst>
          </a:prstGeom>
          <a:solidFill>
            <a:srgbClr val="F8F8F8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d_k_label"/>
          <p:cNvSpPr txBox="1"/>
          <p:nvPr/>
        </p:nvSpPr>
        <p:spPr>
          <a:xfrm rot="5400000">
            <a:off x="5622083" y="5583130"/>
            <a:ext cx="493392" cy="2596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ans"/>
              </a:rPr>
              <a:t>1x1</a:t>
            </a:r>
          </a:p>
        </p:txBody>
      </p:sp>
      <p:sp>
        <p:nvSpPr>
          <p:cNvPr id="233" name="d_k_letter"/>
          <p:cNvSpPr txBox="1"/>
          <p:nvPr/>
        </p:nvSpPr>
        <p:spPr>
          <a:xfrm>
            <a:off x="6121968" y="5544178"/>
            <a:ext cx="259680" cy="272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1" b="0" i="0">
                <a:solidFill>
                  <a:srgbClr val="111111"/>
                </a:solidFill>
                <a:latin typeface="Liberation Sans"/>
              </a:rPr>
              <a:t>K</a:t>
            </a:r>
          </a:p>
        </p:txBody>
      </p:sp>
      <p:sp>
        <p:nvSpPr>
          <p:cNvPr id="234" name="d_v_box"/>
          <p:cNvSpPr/>
          <p:nvPr/>
        </p:nvSpPr>
        <p:spPr>
          <a:xfrm>
            <a:off x="5725955" y="6141444"/>
            <a:ext cx="285648" cy="519361"/>
          </a:xfrm>
          <a:prstGeom prst="roundRect">
            <a:avLst>
              <a:gd name="adj" fmla="val 15909"/>
            </a:avLst>
          </a:prstGeom>
          <a:solidFill>
            <a:srgbClr val="F8F8F8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d_v_label"/>
          <p:cNvSpPr txBox="1"/>
          <p:nvPr/>
        </p:nvSpPr>
        <p:spPr>
          <a:xfrm rot="5400000">
            <a:off x="5622083" y="6271284"/>
            <a:ext cx="493392" cy="2596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ans"/>
              </a:rPr>
              <a:t>1x1</a:t>
            </a:r>
          </a:p>
        </p:txBody>
      </p:sp>
      <p:sp>
        <p:nvSpPr>
          <p:cNvPr id="236" name="d_v_letter"/>
          <p:cNvSpPr txBox="1"/>
          <p:nvPr/>
        </p:nvSpPr>
        <p:spPr>
          <a:xfrm>
            <a:off x="6121968" y="6232332"/>
            <a:ext cx="259680" cy="272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31" b="0" i="0">
                <a:solidFill>
                  <a:srgbClr val="111111"/>
                </a:solidFill>
                <a:latin typeface="Liberation Sans"/>
              </a:rPr>
              <a:t>V</a:t>
            </a:r>
          </a:p>
        </p:txBody>
      </p:sp>
      <p:sp>
        <p:nvSpPr>
          <p:cNvPr id="237" name="d_matmul_circle"/>
          <p:cNvSpPr/>
          <p:nvPr/>
        </p:nvSpPr>
        <p:spPr>
          <a:xfrm>
            <a:off x="6430338" y="5385124"/>
            <a:ext cx="201252" cy="201252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d_matmul_diag1_seg1"/>
          <p:cNvCxnSpPr/>
          <p:nvPr/>
        </p:nvCxnSpPr>
        <p:spPr>
          <a:xfrm>
            <a:off x="6478639" y="5433425"/>
            <a:ext cx="104651" cy="104651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cxnSp>
        <p:nvCxnSpPr>
          <p:cNvPr id="239" name="d_matmul_diag2_seg1"/>
          <p:cNvCxnSpPr/>
          <p:nvPr/>
        </p:nvCxnSpPr>
        <p:spPr>
          <a:xfrm flipH="1">
            <a:off x="6478639" y="5433425"/>
            <a:ext cx="104651" cy="104651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pic>
        <p:nvPicPr>
          <p:cNvPr id="240" name="d_corr_texture" descr="cor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2581" y="5167642"/>
            <a:ext cx="642709" cy="642709"/>
          </a:xfrm>
          <a:prstGeom prst="rect">
            <a:avLst/>
          </a:prstGeom>
        </p:spPr>
      </p:pic>
      <p:sp>
        <p:nvSpPr>
          <p:cNvPr id="241" name="d_mask_box"/>
          <p:cNvSpPr/>
          <p:nvPr/>
        </p:nvSpPr>
        <p:spPr>
          <a:xfrm>
            <a:off x="7699527" y="5213086"/>
            <a:ext cx="285648" cy="545329"/>
          </a:xfrm>
          <a:prstGeom prst="roundRect">
            <a:avLst>
              <a:gd name="adj" fmla="val 15909"/>
            </a:avLst>
          </a:prstGeom>
          <a:solidFill>
            <a:srgbClr val="F8F8F8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_mask_label"/>
          <p:cNvSpPr txBox="1"/>
          <p:nvPr/>
        </p:nvSpPr>
        <p:spPr>
          <a:xfrm rot="5400000">
            <a:off x="7582670" y="5355910"/>
            <a:ext cx="519361" cy="2596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ans"/>
              </a:rPr>
              <a:t>Mask</a:t>
            </a:r>
          </a:p>
        </p:txBody>
      </p:sp>
      <p:pic>
        <p:nvPicPr>
          <p:cNvPr id="243" name="d_sparse1" descr="sparse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904" y="4888485"/>
            <a:ext cx="623233" cy="623233"/>
          </a:xfrm>
          <a:prstGeom prst="rect">
            <a:avLst/>
          </a:prstGeom>
        </p:spPr>
      </p:pic>
      <p:pic>
        <p:nvPicPr>
          <p:cNvPr id="244" name="d_sparse2" descr="sparse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9252" y="5024817"/>
            <a:ext cx="623233" cy="623233"/>
          </a:xfrm>
          <a:prstGeom prst="rect">
            <a:avLst/>
          </a:prstGeom>
        </p:spPr>
      </p:pic>
      <p:pic>
        <p:nvPicPr>
          <p:cNvPr id="245" name="d_sparse3" descr="sparse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2600" y="5161150"/>
            <a:ext cx="623233" cy="623233"/>
          </a:xfrm>
          <a:prstGeom prst="rect">
            <a:avLst/>
          </a:prstGeom>
        </p:spPr>
      </p:pic>
      <p:cxnSp>
        <p:nvCxnSpPr>
          <p:cNvPr id="246" name="d_sparse_arrow_0_seg1"/>
          <p:cNvCxnSpPr/>
          <p:nvPr/>
        </p:nvCxnSpPr>
        <p:spPr>
          <a:xfrm>
            <a:off x="9082325" y="5011833"/>
            <a:ext cx="220729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47" name="d_sparse_arrow_1_seg1"/>
          <p:cNvCxnSpPr/>
          <p:nvPr/>
        </p:nvCxnSpPr>
        <p:spPr>
          <a:xfrm>
            <a:off x="9082325" y="5303974"/>
            <a:ext cx="220729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248" name="d_sparse_arrow_2_seg1"/>
          <p:cNvCxnSpPr/>
          <p:nvPr/>
        </p:nvCxnSpPr>
        <p:spPr>
          <a:xfrm>
            <a:off x="9082325" y="5609099"/>
            <a:ext cx="220729" cy="0"/>
          </a:xfrm>
          <a:prstGeom prst="line">
            <a:avLst/>
          </a:prstGeom>
          <a:ln w="12984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249" name="d_sparse_dots"/>
          <p:cNvSpPr txBox="1"/>
          <p:nvPr/>
        </p:nvSpPr>
        <p:spPr>
          <a:xfrm>
            <a:off x="8933009" y="5674019"/>
            <a:ext cx="142824" cy="2531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111111"/>
                </a:solidFill>
                <a:latin typeface="Liberation Sans"/>
              </a:rPr>
              <a:t>·</a:t>
            </a:r>
            <a:br/>
            <a:r>
              <a:rPr sz="920" b="0" i="0">
                <a:solidFill>
                  <a:srgbClr val="111111"/>
                </a:solidFill>
                <a:latin typeface="Liberation Sans"/>
              </a:rPr>
              <a:t>·</a:t>
            </a:r>
            <a:br/>
            <a:r>
              <a:rPr sz="920" b="0" i="0">
                <a:solidFill>
                  <a:srgbClr val="111111"/>
                </a:solidFill>
                <a:latin typeface="Liberation Sans"/>
              </a:rPr>
              <a:t>·</a:t>
            </a:r>
          </a:p>
        </p:txBody>
      </p:sp>
      <p:sp>
        <p:nvSpPr>
          <p:cNvPr id="250" name="d_softmax_box"/>
          <p:cNvSpPr/>
          <p:nvPr/>
        </p:nvSpPr>
        <p:spPr>
          <a:xfrm>
            <a:off x="9393942" y="5174134"/>
            <a:ext cx="285648" cy="623233"/>
          </a:xfrm>
          <a:prstGeom prst="roundRect">
            <a:avLst>
              <a:gd name="adj" fmla="val 15909"/>
            </a:avLst>
          </a:prstGeom>
          <a:solidFill>
            <a:srgbClr val="F8F8F8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d_softmax_label"/>
          <p:cNvSpPr txBox="1"/>
          <p:nvPr/>
        </p:nvSpPr>
        <p:spPr>
          <a:xfrm rot="5400000">
            <a:off x="9238134" y="5355910"/>
            <a:ext cx="597265" cy="2596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22" b="0" i="0">
                <a:solidFill>
                  <a:srgbClr val="111111"/>
                </a:solidFill>
                <a:latin typeface="Liberation Sans"/>
              </a:rPr>
              <a:t>Softmax</a:t>
            </a:r>
          </a:p>
        </p:txBody>
      </p:sp>
      <p:sp>
        <p:nvSpPr>
          <p:cNvPr id="252" name="d_elemwise_circle"/>
          <p:cNvSpPr/>
          <p:nvPr/>
        </p:nvSpPr>
        <p:spPr>
          <a:xfrm>
            <a:off x="10039897" y="6300498"/>
            <a:ext cx="201252" cy="201252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3" name="d_elemwise_diag1_seg1"/>
          <p:cNvCxnSpPr/>
          <p:nvPr/>
        </p:nvCxnSpPr>
        <p:spPr>
          <a:xfrm>
            <a:off x="10088198" y="6348798"/>
            <a:ext cx="104651" cy="104652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cxnSp>
        <p:nvCxnSpPr>
          <p:cNvPr id="254" name="d_elemwise_diag2_seg1"/>
          <p:cNvCxnSpPr/>
          <p:nvPr/>
        </p:nvCxnSpPr>
        <p:spPr>
          <a:xfrm flipH="1">
            <a:off x="10088198" y="6348798"/>
            <a:ext cx="104651" cy="104652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sp>
        <p:nvSpPr>
          <p:cNvPr id="255" name="d_weighted_sum_circle"/>
          <p:cNvSpPr/>
          <p:nvPr/>
        </p:nvSpPr>
        <p:spPr>
          <a:xfrm>
            <a:off x="10607948" y="6297252"/>
            <a:ext cx="207744" cy="207744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d_weighted_sum_symbol"/>
          <p:cNvSpPr txBox="1"/>
          <p:nvPr/>
        </p:nvSpPr>
        <p:spPr>
          <a:xfrm>
            <a:off x="10607948" y="6290760"/>
            <a:ext cx="207744" cy="2207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24" b="0" i="0">
                <a:solidFill>
                  <a:srgbClr val="111111"/>
                </a:solidFill>
                <a:latin typeface="Liberation Serif"/>
              </a:rPr>
              <a:t>Σ</a:t>
            </a:r>
          </a:p>
        </p:txBody>
      </p:sp>
      <p:sp>
        <p:nvSpPr>
          <p:cNvPr id="257" name="d_out_conv_box"/>
          <p:cNvSpPr/>
          <p:nvPr/>
        </p:nvSpPr>
        <p:spPr>
          <a:xfrm>
            <a:off x="11114325" y="6141444"/>
            <a:ext cx="298632" cy="519361"/>
          </a:xfrm>
          <a:prstGeom prst="roundRect">
            <a:avLst>
              <a:gd name="adj" fmla="val 15217"/>
            </a:avLst>
          </a:prstGeom>
          <a:solidFill>
            <a:srgbClr val="F8F8F8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d_out_conv_label"/>
          <p:cNvSpPr txBox="1"/>
          <p:nvPr/>
        </p:nvSpPr>
        <p:spPr>
          <a:xfrm rot="5400000">
            <a:off x="11016945" y="6264792"/>
            <a:ext cx="493392" cy="272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ans"/>
              </a:rPr>
              <a:t>1x1</a:t>
            </a:r>
          </a:p>
        </p:txBody>
      </p:sp>
      <p:sp>
        <p:nvSpPr>
          <p:cNvPr id="259" name="d_residual_add_circle"/>
          <p:cNvSpPr/>
          <p:nvPr/>
        </p:nvSpPr>
        <p:spPr>
          <a:xfrm>
            <a:off x="11627194" y="6303744"/>
            <a:ext cx="194760" cy="194760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0" name="d_residual_add_h_seg1"/>
          <p:cNvCxnSpPr/>
          <p:nvPr/>
        </p:nvCxnSpPr>
        <p:spPr>
          <a:xfrm>
            <a:off x="11653162" y="6401124"/>
            <a:ext cx="142825" cy="0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cxnSp>
        <p:nvCxnSpPr>
          <p:cNvPr id="261" name="d_residual_add_v_seg1"/>
          <p:cNvCxnSpPr/>
          <p:nvPr/>
        </p:nvCxnSpPr>
        <p:spPr>
          <a:xfrm>
            <a:off x="11724575" y="6329712"/>
            <a:ext cx="0" cy="142824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sp>
        <p:nvSpPr>
          <p:cNvPr id="262" name="d_input_dim"/>
          <p:cNvSpPr txBox="1"/>
          <p:nvPr/>
        </p:nvSpPr>
        <p:spPr>
          <a:xfrm>
            <a:off x="4505456" y="5790875"/>
            <a:ext cx="597265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263" name="d_q_dim"/>
          <p:cNvSpPr txBox="1"/>
          <p:nvPr/>
        </p:nvSpPr>
        <p:spPr>
          <a:xfrm>
            <a:off x="6297252" y="4726185"/>
            <a:ext cx="616741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1">
                <a:solidFill>
                  <a:srgbClr val="777777"/>
                </a:solidFill>
                <a:latin typeface="Latin Modern Math"/>
              </a:rPr>
              <a:t>C×HW</a:t>
            </a:r>
          </a:p>
        </p:txBody>
      </p:sp>
      <p:sp>
        <p:nvSpPr>
          <p:cNvPr id="264" name="d_k_dim"/>
          <p:cNvSpPr txBox="1"/>
          <p:nvPr/>
        </p:nvSpPr>
        <p:spPr>
          <a:xfrm>
            <a:off x="6297252" y="5674019"/>
            <a:ext cx="616741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1">
                <a:solidFill>
                  <a:srgbClr val="777777"/>
                </a:solidFill>
                <a:latin typeface="Latin Modern Math"/>
              </a:rPr>
              <a:t>C×HW</a:t>
            </a:r>
          </a:p>
        </p:txBody>
      </p:sp>
      <p:sp>
        <p:nvSpPr>
          <p:cNvPr id="265" name="d_v_dim"/>
          <p:cNvSpPr txBox="1"/>
          <p:nvPr/>
        </p:nvSpPr>
        <p:spPr>
          <a:xfrm>
            <a:off x="6297252" y="6115476"/>
            <a:ext cx="616741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1">
                <a:solidFill>
                  <a:srgbClr val="777777"/>
                </a:solidFill>
                <a:latin typeface="Latin Modern Math"/>
              </a:rPr>
              <a:t>C×HW</a:t>
            </a:r>
          </a:p>
        </p:txBody>
      </p:sp>
      <p:sp>
        <p:nvSpPr>
          <p:cNvPr id="266" name="d_corr_dim"/>
          <p:cNvSpPr txBox="1"/>
          <p:nvPr/>
        </p:nvSpPr>
        <p:spPr>
          <a:xfrm>
            <a:off x="6978913" y="4856025"/>
            <a:ext cx="486900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1">
                <a:solidFill>
                  <a:srgbClr val="777777"/>
                </a:solidFill>
                <a:latin typeface="Latin Modern Math"/>
              </a:rPr>
              <a:t>C×C</a:t>
            </a:r>
          </a:p>
        </p:txBody>
      </p:sp>
      <p:sp>
        <p:nvSpPr>
          <p:cNvPr id="267" name="d_output_dim"/>
          <p:cNvSpPr txBox="1"/>
          <p:nvPr/>
        </p:nvSpPr>
        <p:spPr>
          <a:xfrm>
            <a:off x="11646670" y="6498504"/>
            <a:ext cx="532345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1">
                <a:solidFill>
                  <a:srgbClr val="777777"/>
                </a:solidFill>
                <a:latin typeface="Latin Modern Math"/>
              </a:rPr>
              <a:t>C×H×W</a:t>
            </a:r>
          </a:p>
        </p:txBody>
      </p:sp>
      <p:sp>
        <p:nvSpPr>
          <p:cNvPr id="268" name="legend_concat_circle"/>
          <p:cNvSpPr/>
          <p:nvPr/>
        </p:nvSpPr>
        <p:spPr>
          <a:xfrm>
            <a:off x="10682607" y="386274"/>
            <a:ext cx="188268" cy="188268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legend_concat_symbol"/>
          <p:cNvSpPr txBox="1"/>
          <p:nvPr/>
        </p:nvSpPr>
        <p:spPr>
          <a:xfrm>
            <a:off x="10682607" y="379782"/>
            <a:ext cx="188268" cy="2012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22" b="0" i="0">
                <a:solidFill>
                  <a:srgbClr val="111111"/>
                </a:solidFill>
                <a:latin typeface="Liberation Sans"/>
              </a:rPr>
              <a:t>C</a:t>
            </a:r>
          </a:p>
        </p:txBody>
      </p:sp>
      <p:sp>
        <p:nvSpPr>
          <p:cNvPr id="270" name="legend_concat_text"/>
          <p:cNvSpPr txBox="1"/>
          <p:nvPr/>
        </p:nvSpPr>
        <p:spPr>
          <a:xfrm>
            <a:off x="10984485" y="318108"/>
            <a:ext cx="1103642" cy="324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26" b="0" i="0">
                <a:solidFill>
                  <a:srgbClr val="111111"/>
                </a:solidFill>
                <a:latin typeface="Liberation Sans"/>
              </a:rPr>
              <a:t>Concatenate</a:t>
            </a:r>
          </a:p>
        </p:txBody>
      </p:sp>
      <p:sp>
        <p:nvSpPr>
          <p:cNvPr id="271" name="legend_elem_circle"/>
          <p:cNvSpPr/>
          <p:nvPr/>
        </p:nvSpPr>
        <p:spPr>
          <a:xfrm>
            <a:off x="10685853" y="902389"/>
            <a:ext cx="181776" cy="181776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legend_elem_symbol"/>
          <p:cNvSpPr txBox="1"/>
          <p:nvPr/>
        </p:nvSpPr>
        <p:spPr>
          <a:xfrm>
            <a:off x="10685853" y="895897"/>
            <a:ext cx="181776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26" b="0" i="0">
                <a:solidFill>
                  <a:srgbClr val="111111"/>
                </a:solidFill>
                <a:latin typeface="Liberation Serif"/>
              </a:rPr>
              <a:t>·</a:t>
            </a:r>
          </a:p>
        </p:txBody>
      </p:sp>
      <p:sp>
        <p:nvSpPr>
          <p:cNvPr id="273" name="legend_elem_text"/>
          <p:cNvSpPr txBox="1"/>
          <p:nvPr/>
        </p:nvSpPr>
        <p:spPr>
          <a:xfrm>
            <a:off x="10984485" y="772549"/>
            <a:ext cx="1103642" cy="4414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11111"/>
                </a:solidFill>
                <a:latin typeface="Liberation Sans"/>
              </a:rPr>
              <a:t>Element-wise</a:t>
            </a:r>
            <a:br/>
            <a:r>
              <a:rPr sz="1175" b="0" i="0">
                <a:solidFill>
                  <a:srgbClr val="111111"/>
                </a:solidFill>
                <a:latin typeface="Liberation Sans"/>
              </a:rPr>
              <a:t>multiplication</a:t>
            </a:r>
          </a:p>
        </p:txBody>
      </p:sp>
      <p:sp>
        <p:nvSpPr>
          <p:cNvPr id="274" name="legend_matrix_circle"/>
          <p:cNvSpPr/>
          <p:nvPr/>
        </p:nvSpPr>
        <p:spPr>
          <a:xfrm>
            <a:off x="10685853" y="1441226"/>
            <a:ext cx="181776" cy="181776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5" name="legend_matrix_diag1_seg1"/>
          <p:cNvCxnSpPr/>
          <p:nvPr/>
        </p:nvCxnSpPr>
        <p:spPr>
          <a:xfrm>
            <a:off x="10729479" y="1484853"/>
            <a:ext cx="94524" cy="94523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cxnSp>
        <p:nvCxnSpPr>
          <p:cNvPr id="276" name="legend_matrix_diag2_seg1"/>
          <p:cNvCxnSpPr/>
          <p:nvPr/>
        </p:nvCxnSpPr>
        <p:spPr>
          <a:xfrm flipH="1">
            <a:off x="10729479" y="1484853"/>
            <a:ext cx="94524" cy="94523"/>
          </a:xfrm>
          <a:prstGeom prst="line">
            <a:avLst/>
          </a:prstGeom>
          <a:ln w="11685">
            <a:solidFill>
              <a:srgbClr val="111111"/>
            </a:solidFill>
          </a:ln>
          <a:effectLst/>
        </p:spPr>
      </p:cxnSp>
      <p:sp>
        <p:nvSpPr>
          <p:cNvPr id="277" name="legend_matrix_text"/>
          <p:cNvSpPr txBox="1"/>
          <p:nvPr/>
        </p:nvSpPr>
        <p:spPr>
          <a:xfrm>
            <a:off x="10984485" y="1311386"/>
            <a:ext cx="1103642" cy="4414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11111"/>
                </a:solidFill>
                <a:latin typeface="Liberation Sans"/>
              </a:rPr>
              <a:t>Matrix</a:t>
            </a:r>
            <a:br/>
            <a:r>
              <a:rPr sz="1175" b="0" i="0">
                <a:solidFill>
                  <a:srgbClr val="111111"/>
                </a:solidFill>
                <a:latin typeface="Liberation Sans"/>
              </a:rPr>
              <a:t>multiplication</a:t>
            </a:r>
          </a:p>
        </p:txBody>
      </p:sp>
      <p:sp>
        <p:nvSpPr>
          <p:cNvPr id="278" name="legend_sum_circle"/>
          <p:cNvSpPr/>
          <p:nvPr/>
        </p:nvSpPr>
        <p:spPr>
          <a:xfrm>
            <a:off x="10685853" y="1915143"/>
            <a:ext cx="181776" cy="181776"/>
          </a:xfrm>
          <a:prstGeom prst="ellipse">
            <a:avLst/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legend_sum_symbol"/>
          <p:cNvSpPr txBox="1"/>
          <p:nvPr/>
        </p:nvSpPr>
        <p:spPr>
          <a:xfrm>
            <a:off x="10685853" y="1908651"/>
            <a:ext cx="181776" cy="194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71" b="0" i="0">
                <a:solidFill>
                  <a:srgbClr val="111111"/>
                </a:solidFill>
                <a:latin typeface="Liberation Serif"/>
              </a:rPr>
              <a:t>Σ</a:t>
            </a:r>
          </a:p>
        </p:txBody>
      </p:sp>
      <p:sp>
        <p:nvSpPr>
          <p:cNvPr id="280" name="legend_sum_text"/>
          <p:cNvSpPr txBox="1"/>
          <p:nvPr/>
        </p:nvSpPr>
        <p:spPr>
          <a:xfrm>
            <a:off x="10984485" y="1837239"/>
            <a:ext cx="1103642" cy="33758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11111"/>
                </a:solidFill>
                <a:latin typeface="Liberation Sans"/>
              </a:rPr>
              <a:t>Weighted-Sum</a:t>
            </a:r>
          </a:p>
        </p:txBody>
      </p:sp>
      <p:sp>
        <p:nvSpPr>
          <p:cNvPr id="281" name="legend_down_box"/>
          <p:cNvSpPr/>
          <p:nvPr/>
        </p:nvSpPr>
        <p:spPr>
          <a:xfrm>
            <a:off x="10679361" y="2376076"/>
            <a:ext cx="597265" cy="2531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legend_down_label"/>
          <p:cNvSpPr txBox="1"/>
          <p:nvPr/>
        </p:nvSpPr>
        <p:spPr>
          <a:xfrm>
            <a:off x="10705329" y="2389060"/>
            <a:ext cx="545329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22" b="0" i="0">
                <a:solidFill>
                  <a:srgbClr val="111111"/>
                </a:solidFill>
                <a:latin typeface="Liberation Sans"/>
              </a:rPr>
              <a:t>Down</a:t>
            </a:r>
          </a:p>
        </p:txBody>
      </p:sp>
      <p:sp>
        <p:nvSpPr>
          <p:cNvPr id="283" name="legend_down_text"/>
          <p:cNvSpPr txBox="1"/>
          <p:nvPr/>
        </p:nvSpPr>
        <p:spPr>
          <a:xfrm>
            <a:off x="11361022" y="2272204"/>
            <a:ext cx="714121" cy="4609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11111"/>
                </a:solidFill>
                <a:latin typeface="Liberation Sans"/>
              </a:rPr>
              <a:t>Down-</a:t>
            </a:r>
            <a:br/>
            <a:r>
              <a:rPr sz="1175" b="0" i="0">
                <a:solidFill>
                  <a:srgbClr val="111111"/>
                </a:solidFill>
                <a:latin typeface="Liberation Sans"/>
              </a:rPr>
              <a:t>sample</a:t>
            </a:r>
          </a:p>
        </p:txBody>
      </p:sp>
      <p:sp>
        <p:nvSpPr>
          <p:cNvPr id="284" name="legend_up_box"/>
          <p:cNvSpPr/>
          <p:nvPr/>
        </p:nvSpPr>
        <p:spPr>
          <a:xfrm>
            <a:off x="10679361" y="2895437"/>
            <a:ext cx="597265" cy="25318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legend_up_label"/>
          <p:cNvSpPr txBox="1"/>
          <p:nvPr/>
        </p:nvSpPr>
        <p:spPr>
          <a:xfrm>
            <a:off x="10705329" y="2908421"/>
            <a:ext cx="545329" cy="227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22" b="0" i="0">
                <a:solidFill>
                  <a:srgbClr val="111111"/>
                </a:solidFill>
                <a:latin typeface="Liberation Sans"/>
              </a:rPr>
              <a:t>Up</a:t>
            </a:r>
          </a:p>
        </p:txBody>
      </p:sp>
      <p:sp>
        <p:nvSpPr>
          <p:cNvPr id="286" name="legend_up_text"/>
          <p:cNvSpPr txBox="1"/>
          <p:nvPr/>
        </p:nvSpPr>
        <p:spPr>
          <a:xfrm>
            <a:off x="11361022" y="2791565"/>
            <a:ext cx="714121" cy="4609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11111"/>
                </a:solidFill>
                <a:latin typeface="Liberation Sans"/>
              </a:rPr>
              <a:t>Up-</a:t>
            </a:r>
            <a:br/>
            <a:r>
              <a:rPr sz="1175" b="0" i="0">
                <a:solidFill>
                  <a:srgbClr val="111111"/>
                </a:solidFill>
                <a:latin typeface="Liberation Sans"/>
              </a:rPr>
              <a:t>sample</a:t>
            </a:r>
          </a:p>
        </p:txBody>
      </p:sp>
      <p:sp>
        <p:nvSpPr>
          <p:cNvPr id="287" name="legend_ln_box"/>
          <p:cNvSpPr/>
          <p:nvPr/>
        </p:nvSpPr>
        <p:spPr>
          <a:xfrm>
            <a:off x="10679361" y="3414798"/>
            <a:ext cx="454440" cy="259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legend_ln_label"/>
          <p:cNvSpPr txBox="1"/>
          <p:nvPr/>
        </p:nvSpPr>
        <p:spPr>
          <a:xfrm>
            <a:off x="10705329" y="3427782"/>
            <a:ext cx="402504" cy="2337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22" b="0" i="0">
                <a:solidFill>
                  <a:srgbClr val="111111"/>
                </a:solidFill>
                <a:latin typeface="Liberation Sans"/>
              </a:rPr>
              <a:t>LN</a:t>
            </a:r>
          </a:p>
        </p:txBody>
      </p:sp>
      <p:sp>
        <p:nvSpPr>
          <p:cNvPr id="289" name="legend_ln_text"/>
          <p:cNvSpPr txBox="1"/>
          <p:nvPr/>
        </p:nvSpPr>
        <p:spPr>
          <a:xfrm>
            <a:off x="11231182" y="3343386"/>
            <a:ext cx="843961" cy="41548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11111"/>
                </a:solidFill>
                <a:latin typeface="Liberation Sans"/>
              </a:rPr>
              <a:t>LayerNorm</a:t>
            </a:r>
          </a:p>
        </p:txBody>
      </p:sp>
      <p:sp>
        <p:nvSpPr>
          <p:cNvPr id="290" name="legend_conv_box"/>
          <p:cNvSpPr/>
          <p:nvPr/>
        </p:nvSpPr>
        <p:spPr>
          <a:xfrm>
            <a:off x="10679361" y="3934159"/>
            <a:ext cx="597265" cy="259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98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legend_conv_label"/>
          <p:cNvSpPr txBox="1"/>
          <p:nvPr/>
        </p:nvSpPr>
        <p:spPr>
          <a:xfrm>
            <a:off x="10705329" y="3947143"/>
            <a:ext cx="545329" cy="2337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22" b="0" i="0">
                <a:solidFill>
                  <a:srgbClr val="111111"/>
                </a:solidFill>
                <a:latin typeface="Liberation Sans"/>
              </a:rPr>
              <a:t>1x1</a:t>
            </a:r>
          </a:p>
        </p:txBody>
      </p:sp>
      <p:sp>
        <p:nvSpPr>
          <p:cNvPr id="292" name="legend_conv_text"/>
          <p:cNvSpPr txBox="1"/>
          <p:nvPr/>
        </p:nvSpPr>
        <p:spPr>
          <a:xfrm>
            <a:off x="11335054" y="3817303"/>
            <a:ext cx="805009" cy="4933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3" b="0" i="0">
                <a:solidFill>
                  <a:srgbClr val="111111"/>
                </a:solidFill>
                <a:latin typeface="Liberation Sans"/>
              </a:rPr>
              <a:t>Convolution</a:t>
            </a:r>
            <a:br/>
            <a:r>
              <a:rPr sz="1073" b="0" i="0">
                <a:solidFill>
                  <a:srgbClr val="111111"/>
                </a:solidFill>
                <a:latin typeface="Liberation Sans"/>
              </a:rPr>
              <a:t>1×1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pectral Compressive Imaging via Chromaticity-Intensity Decomposi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732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