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79641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-canvas"/>
          <p:cNvSpPr/>
          <p:nvPr/>
        </p:nvSpPr>
        <p:spPr>
          <a:xfrm>
            <a:off x="0" y="0"/>
            <a:ext cx="12191999" cy="67964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etwork-backgrounds-reference-left"/>
          <p:cNvSpPr/>
          <p:nvPr/>
        </p:nvSpPr>
        <p:spPr>
          <a:xfrm>
            <a:off x="3458533" y="160862"/>
            <a:ext cx="2801680" cy="2479956"/>
          </a:xfrm>
          <a:custGeom>
            <a:avLst/>
            <a:gdLst/>
            <a:ahLst/>
            <a:cxnLst/>
            <a:rect l="l" t="t" r="r" b="b"/>
            <a:pathLst>
              <a:path w="418" h="370">
                <a:moveTo>
                  <a:pt x="0" y="0"/>
                </a:moveTo>
                <a:lnTo>
                  <a:pt x="418" y="99"/>
                </a:lnTo>
                <a:lnTo>
                  <a:pt x="418" y="270"/>
                </a:lnTo>
                <a:lnTo>
                  <a:pt x="0" y="370"/>
                </a:lnTo>
                <a:close/>
              </a:path>
            </a:pathLst>
          </a:custGeom>
          <a:solidFill>
            <a:srgbClr val="DAE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etwork-backgrounds-reference-right"/>
          <p:cNvSpPr/>
          <p:nvPr/>
        </p:nvSpPr>
        <p:spPr>
          <a:xfrm>
            <a:off x="6260213" y="160862"/>
            <a:ext cx="2801680" cy="2479956"/>
          </a:xfrm>
          <a:custGeom>
            <a:avLst/>
            <a:gdLst/>
            <a:ahLst/>
            <a:cxnLst/>
            <a:rect l="l" t="t" r="r" b="b"/>
            <a:pathLst>
              <a:path w="418" h="370">
                <a:moveTo>
                  <a:pt x="0" y="99"/>
                </a:moveTo>
                <a:lnTo>
                  <a:pt x="418" y="0"/>
                </a:lnTo>
                <a:lnTo>
                  <a:pt x="418" y="370"/>
                </a:lnTo>
                <a:lnTo>
                  <a:pt x="0" y="270"/>
                </a:lnTo>
                <a:close/>
              </a:path>
            </a:pathLst>
          </a:custGeom>
          <a:solidFill>
            <a:srgbClr val="DAE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etwork-backgrounds-denoise-left"/>
          <p:cNvSpPr/>
          <p:nvPr/>
        </p:nvSpPr>
        <p:spPr>
          <a:xfrm>
            <a:off x="3458533" y="3230645"/>
            <a:ext cx="2801680" cy="2473253"/>
          </a:xfrm>
          <a:custGeom>
            <a:avLst/>
            <a:gdLst/>
            <a:ahLst/>
            <a:cxnLst/>
            <a:rect l="l" t="t" r="r" b="b"/>
            <a:pathLst>
              <a:path w="418" h="369">
                <a:moveTo>
                  <a:pt x="0" y="0"/>
                </a:moveTo>
                <a:lnTo>
                  <a:pt x="418" y="97"/>
                </a:lnTo>
                <a:lnTo>
                  <a:pt x="418" y="271"/>
                </a:lnTo>
                <a:lnTo>
                  <a:pt x="0" y="369"/>
                </a:lnTo>
                <a:close/>
              </a:path>
            </a:pathLst>
          </a:custGeom>
          <a:solidFill>
            <a:srgbClr val="FDF2EC"/>
          </a:solidFill>
          <a:ln w="9525">
            <a:solidFill>
              <a:srgbClr val="F4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etwork-backgrounds-denoise-right"/>
          <p:cNvSpPr/>
          <p:nvPr/>
        </p:nvSpPr>
        <p:spPr>
          <a:xfrm>
            <a:off x="6260213" y="3230645"/>
            <a:ext cx="2801680" cy="2473253"/>
          </a:xfrm>
          <a:custGeom>
            <a:avLst/>
            <a:gdLst/>
            <a:ahLst/>
            <a:cxnLst/>
            <a:rect l="l" t="t" r="r" b="b"/>
            <a:pathLst>
              <a:path w="418" h="369">
                <a:moveTo>
                  <a:pt x="0" y="97"/>
                </a:moveTo>
                <a:lnTo>
                  <a:pt x="418" y="0"/>
                </a:lnTo>
                <a:lnTo>
                  <a:pt x="418" y="369"/>
                </a:lnTo>
                <a:lnTo>
                  <a:pt x="0" y="271"/>
                </a:lnTo>
                <a:close/>
              </a:path>
            </a:pathLst>
          </a:custGeom>
          <a:solidFill>
            <a:srgbClr val="FDF2EC"/>
          </a:solidFill>
          <a:ln w="9525">
            <a:solidFill>
              <a:srgbClr val="F4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etwork-labels-reference-title"/>
          <p:cNvSpPr txBox="1"/>
          <p:nvPr/>
        </p:nvSpPr>
        <p:spPr>
          <a:xfrm>
            <a:off x="4825859" y="281508"/>
            <a:ext cx="2882110" cy="3016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30" b="1" i="0">
                <a:solidFill>
                  <a:srgbClr val="222222"/>
                </a:solidFill>
                <a:latin typeface="DejaVu Sans Mono"/>
              </a:defRPr>
            </a:pPr>
            <a:r>
              <a:t>ReferenceNet</a:t>
            </a:r>
          </a:p>
        </p:txBody>
      </p:sp>
      <p:sp>
        <p:nvSpPr>
          <p:cNvPr id="8" name="network-labels-denoising-title"/>
          <p:cNvSpPr txBox="1"/>
          <p:nvPr/>
        </p:nvSpPr>
        <p:spPr>
          <a:xfrm>
            <a:off x="4892885" y="3384804"/>
            <a:ext cx="2781572" cy="3083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30" b="1" i="0">
                <a:solidFill>
                  <a:srgbClr val="222222"/>
                </a:solidFill>
                <a:latin typeface="DejaVu Sans Mono"/>
              </a:defRPr>
            </a:pPr>
            <a:r>
              <a:t>DenoisingNet</a:t>
            </a:r>
          </a:p>
        </p:txBody>
      </p:sp>
      <p:cxnSp>
        <p:nvCxnSpPr>
          <p:cNvPr id="9" name="ref-pose-to-encoder-segment-1"/>
          <p:cNvCxnSpPr/>
          <p:nvPr/>
        </p:nvCxnSpPr>
        <p:spPr>
          <a:xfrm>
            <a:off x="1420947" y="851228"/>
            <a:ext cx="489289" cy="0"/>
          </a:xfrm>
          <a:prstGeom prst="line">
            <a:avLst/>
          </a:prstGeom>
          <a:ln w="28575">
            <a:solidFill>
              <a:srgbClr val="3E3E3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f-image-branch-segment-1"/>
          <p:cNvCxnSpPr/>
          <p:nvPr/>
        </p:nvCxnSpPr>
        <p:spPr>
          <a:xfrm>
            <a:off x="1427650" y="2493360"/>
            <a:ext cx="234590" cy="0"/>
          </a:xfrm>
          <a:prstGeom prst="line">
            <a:avLst/>
          </a:prstGeom>
          <a:ln w="28575">
            <a:solidFill>
              <a:srgbClr val="3E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f-image-branch-segment-2"/>
          <p:cNvCxnSpPr/>
          <p:nvPr/>
        </p:nvCxnSpPr>
        <p:spPr>
          <a:xfrm flipV="1">
            <a:off x="1662240" y="1950451"/>
            <a:ext cx="0" cy="542909"/>
          </a:xfrm>
          <a:prstGeom prst="line">
            <a:avLst/>
          </a:prstGeom>
          <a:ln w="28575">
            <a:solidFill>
              <a:srgbClr val="3E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ef-image-branch-segment-3"/>
          <p:cNvCxnSpPr/>
          <p:nvPr/>
        </p:nvCxnSpPr>
        <p:spPr>
          <a:xfrm>
            <a:off x="1662240" y="1950451"/>
            <a:ext cx="247996" cy="0"/>
          </a:xfrm>
          <a:prstGeom prst="line">
            <a:avLst/>
          </a:prstGeom>
          <a:ln w="28575">
            <a:solidFill>
              <a:srgbClr val="3E3E3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ef-image-to-clip-segment-1"/>
          <p:cNvCxnSpPr/>
          <p:nvPr/>
        </p:nvCxnSpPr>
        <p:spPr>
          <a:xfrm>
            <a:off x="1662240" y="2493360"/>
            <a:ext cx="0" cy="549612"/>
          </a:xfrm>
          <a:prstGeom prst="line">
            <a:avLst/>
          </a:prstGeom>
          <a:ln w="28575">
            <a:solidFill>
              <a:srgbClr val="3E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f-image-to-clip-segment-2"/>
          <p:cNvCxnSpPr/>
          <p:nvPr/>
        </p:nvCxnSpPr>
        <p:spPr>
          <a:xfrm>
            <a:off x="1662240" y="3042972"/>
            <a:ext cx="247996" cy="0"/>
          </a:xfrm>
          <a:prstGeom prst="line">
            <a:avLst/>
          </a:prstGeom>
          <a:ln w="28575">
            <a:solidFill>
              <a:srgbClr val="3E3E3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pose-enc-to-sum-segment-1"/>
          <p:cNvCxnSpPr/>
          <p:nvPr/>
        </p:nvCxnSpPr>
        <p:spPr>
          <a:xfrm>
            <a:off x="2513468" y="844525"/>
            <a:ext cx="442371" cy="0"/>
          </a:xfrm>
          <a:prstGeom prst="line">
            <a:avLst/>
          </a:prstGeom>
          <a:ln w="28575">
            <a:solidFill>
              <a:srgbClr val="3E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pose-enc-to-sum-segment-2"/>
          <p:cNvCxnSpPr/>
          <p:nvPr/>
        </p:nvCxnSpPr>
        <p:spPr>
          <a:xfrm>
            <a:off x="2955839" y="844525"/>
            <a:ext cx="0" cy="428965"/>
          </a:xfrm>
          <a:prstGeom prst="line">
            <a:avLst/>
          </a:prstGeom>
          <a:ln w="28575">
            <a:solidFill>
              <a:srgbClr val="3E3E3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vae-enc-to-sum-segment-1"/>
          <p:cNvCxnSpPr/>
          <p:nvPr/>
        </p:nvCxnSpPr>
        <p:spPr>
          <a:xfrm>
            <a:off x="2513468" y="1950451"/>
            <a:ext cx="442371" cy="0"/>
          </a:xfrm>
          <a:prstGeom prst="line">
            <a:avLst/>
          </a:prstGeom>
          <a:ln w="28575">
            <a:solidFill>
              <a:srgbClr val="3E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ae-enc-to-sum-segment-2"/>
          <p:cNvCxnSpPr/>
          <p:nvPr/>
        </p:nvCxnSpPr>
        <p:spPr>
          <a:xfrm flipV="1">
            <a:off x="2955839" y="1528188"/>
            <a:ext cx="0" cy="422263"/>
          </a:xfrm>
          <a:prstGeom prst="line">
            <a:avLst/>
          </a:prstGeom>
          <a:ln w="28575">
            <a:solidFill>
              <a:srgbClr val="3E3E3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ref-sum-to-net-segment-1"/>
          <p:cNvCxnSpPr/>
          <p:nvPr/>
        </p:nvCxnSpPr>
        <p:spPr>
          <a:xfrm>
            <a:off x="3089890" y="1400839"/>
            <a:ext cx="368642" cy="0"/>
          </a:xfrm>
          <a:prstGeom prst="line">
            <a:avLst/>
          </a:prstGeom>
          <a:ln w="28575">
            <a:solidFill>
              <a:srgbClr val="3E3E3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target-pose-to-encoder-segment-1"/>
          <p:cNvCxnSpPr/>
          <p:nvPr/>
        </p:nvCxnSpPr>
        <p:spPr>
          <a:xfrm>
            <a:off x="1420947" y="4477325"/>
            <a:ext cx="489289" cy="0"/>
          </a:xfrm>
          <a:prstGeom prst="line">
            <a:avLst/>
          </a:prstGeom>
          <a:ln w="28575">
            <a:solidFill>
              <a:srgbClr val="3E3E3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arget-encoder-to-sum-segment-1"/>
          <p:cNvCxnSpPr/>
          <p:nvPr/>
        </p:nvCxnSpPr>
        <p:spPr>
          <a:xfrm>
            <a:off x="2513468" y="4477325"/>
            <a:ext cx="321724" cy="0"/>
          </a:xfrm>
          <a:prstGeom prst="line">
            <a:avLst/>
          </a:prstGeom>
          <a:ln w="28575">
            <a:solidFill>
              <a:srgbClr val="3E3E3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oise-to-sum-segment-1"/>
          <p:cNvCxnSpPr/>
          <p:nvPr/>
        </p:nvCxnSpPr>
        <p:spPr>
          <a:xfrm>
            <a:off x="2198447" y="6132863"/>
            <a:ext cx="757392" cy="0"/>
          </a:xfrm>
          <a:prstGeom prst="line">
            <a:avLst/>
          </a:prstGeom>
          <a:ln w="28575">
            <a:solidFill>
              <a:srgbClr val="3E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oise-to-sum-segment-2"/>
          <p:cNvCxnSpPr/>
          <p:nvPr/>
        </p:nvCxnSpPr>
        <p:spPr>
          <a:xfrm flipV="1">
            <a:off x="2955839" y="4604674"/>
            <a:ext cx="0" cy="1528189"/>
          </a:xfrm>
          <a:prstGeom prst="line">
            <a:avLst/>
          </a:prstGeom>
          <a:ln w="28575">
            <a:solidFill>
              <a:srgbClr val="3E3E3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arget-sum-to-net-segment-1"/>
          <p:cNvCxnSpPr/>
          <p:nvPr/>
        </p:nvCxnSpPr>
        <p:spPr>
          <a:xfrm>
            <a:off x="3089890" y="4477325"/>
            <a:ext cx="368642" cy="0"/>
          </a:xfrm>
          <a:prstGeom prst="line">
            <a:avLst/>
          </a:prstGeom>
          <a:ln w="28575">
            <a:solidFill>
              <a:srgbClr val="3E3E3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lip-condition-bus-segment-1"/>
          <p:cNvCxnSpPr/>
          <p:nvPr/>
        </p:nvCxnSpPr>
        <p:spPr>
          <a:xfrm>
            <a:off x="2513468" y="3036270"/>
            <a:ext cx="6039028" cy="0"/>
          </a:xfrm>
          <a:prstGeom prst="line">
            <a:avLst/>
          </a:prstGeom>
          <a:ln w="28575">
            <a:solidFill>
              <a:srgbClr val="2C8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patial-transfer-1-segment-1"/>
          <p:cNvCxnSpPr/>
          <p:nvPr/>
        </p:nvCxnSpPr>
        <p:spPr>
          <a:xfrm>
            <a:off x="3786959" y="2124718"/>
            <a:ext cx="0" cy="844526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patial-transfer-1-segment-2"/>
          <p:cNvCxnSpPr/>
          <p:nvPr/>
        </p:nvCxnSpPr>
        <p:spPr>
          <a:xfrm>
            <a:off x="3786959" y="2969244"/>
            <a:ext cx="60323" cy="67026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patial-transfer-1-segment-3"/>
          <p:cNvCxnSpPr/>
          <p:nvPr/>
        </p:nvCxnSpPr>
        <p:spPr>
          <a:xfrm flipH="1">
            <a:off x="3786959" y="3036270"/>
            <a:ext cx="60323" cy="67025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patial-transfer-1-segment-4"/>
          <p:cNvCxnSpPr/>
          <p:nvPr/>
        </p:nvCxnSpPr>
        <p:spPr>
          <a:xfrm>
            <a:off x="3786959" y="3103295"/>
            <a:ext cx="0" cy="636746"/>
          </a:xfrm>
          <a:prstGeom prst="line">
            <a:avLst/>
          </a:prstGeom>
          <a:ln w="28575">
            <a:solidFill>
              <a:srgbClr val="5376B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dition-up-1-segment-1"/>
          <p:cNvCxnSpPr/>
          <p:nvPr/>
        </p:nvCxnSpPr>
        <p:spPr>
          <a:xfrm flipV="1">
            <a:off x="4048360" y="2124718"/>
            <a:ext cx="0" cy="911552"/>
          </a:xfrm>
          <a:prstGeom prst="line">
            <a:avLst/>
          </a:prstGeom>
          <a:ln w="28575">
            <a:solidFill>
              <a:srgbClr val="2C81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dition-down-1-segment-1"/>
          <p:cNvCxnSpPr/>
          <p:nvPr/>
        </p:nvCxnSpPr>
        <p:spPr>
          <a:xfrm>
            <a:off x="4048360" y="3036270"/>
            <a:ext cx="0" cy="703771"/>
          </a:xfrm>
          <a:prstGeom prst="line">
            <a:avLst/>
          </a:prstGeom>
          <a:ln w="28575">
            <a:solidFill>
              <a:srgbClr val="2C81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patial-transfer-2-segment-1"/>
          <p:cNvCxnSpPr/>
          <p:nvPr/>
        </p:nvCxnSpPr>
        <p:spPr>
          <a:xfrm>
            <a:off x="5140881" y="1823102"/>
            <a:ext cx="0" cy="1146142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patial-transfer-2-segment-2"/>
          <p:cNvCxnSpPr/>
          <p:nvPr/>
        </p:nvCxnSpPr>
        <p:spPr>
          <a:xfrm>
            <a:off x="5140881" y="2969244"/>
            <a:ext cx="60323" cy="67026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patial-transfer-2-segment-3"/>
          <p:cNvCxnSpPr/>
          <p:nvPr/>
        </p:nvCxnSpPr>
        <p:spPr>
          <a:xfrm flipH="1">
            <a:off x="5140881" y="3036270"/>
            <a:ext cx="60323" cy="67025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patial-transfer-2-segment-4"/>
          <p:cNvCxnSpPr/>
          <p:nvPr/>
        </p:nvCxnSpPr>
        <p:spPr>
          <a:xfrm>
            <a:off x="5140881" y="3103295"/>
            <a:ext cx="0" cy="951767"/>
          </a:xfrm>
          <a:prstGeom prst="line">
            <a:avLst/>
          </a:prstGeom>
          <a:ln w="28575">
            <a:solidFill>
              <a:srgbClr val="5376B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dition-up-2-segment-1"/>
          <p:cNvCxnSpPr/>
          <p:nvPr/>
        </p:nvCxnSpPr>
        <p:spPr>
          <a:xfrm flipV="1">
            <a:off x="5402282" y="1823102"/>
            <a:ext cx="0" cy="1213168"/>
          </a:xfrm>
          <a:prstGeom prst="line">
            <a:avLst/>
          </a:prstGeom>
          <a:ln w="28575">
            <a:solidFill>
              <a:srgbClr val="2C81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dition-down-2-segment-1"/>
          <p:cNvCxnSpPr/>
          <p:nvPr/>
        </p:nvCxnSpPr>
        <p:spPr>
          <a:xfrm>
            <a:off x="5402282" y="3036270"/>
            <a:ext cx="0" cy="1018792"/>
          </a:xfrm>
          <a:prstGeom prst="line">
            <a:avLst/>
          </a:prstGeom>
          <a:ln w="28575">
            <a:solidFill>
              <a:srgbClr val="2C81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patial-transfer-3-segment-1"/>
          <p:cNvCxnSpPr/>
          <p:nvPr/>
        </p:nvCxnSpPr>
        <p:spPr>
          <a:xfrm>
            <a:off x="6930471" y="1823102"/>
            <a:ext cx="0" cy="1146142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patial-transfer-3-segment-2"/>
          <p:cNvCxnSpPr/>
          <p:nvPr/>
        </p:nvCxnSpPr>
        <p:spPr>
          <a:xfrm>
            <a:off x="6930471" y="2969244"/>
            <a:ext cx="60323" cy="67026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patial-transfer-3-segment-3"/>
          <p:cNvCxnSpPr/>
          <p:nvPr/>
        </p:nvCxnSpPr>
        <p:spPr>
          <a:xfrm flipH="1">
            <a:off x="6930471" y="3036270"/>
            <a:ext cx="60323" cy="67025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patial-transfer-3-segment-4"/>
          <p:cNvCxnSpPr/>
          <p:nvPr/>
        </p:nvCxnSpPr>
        <p:spPr>
          <a:xfrm>
            <a:off x="6930471" y="3103295"/>
            <a:ext cx="0" cy="951767"/>
          </a:xfrm>
          <a:prstGeom prst="line">
            <a:avLst/>
          </a:prstGeom>
          <a:ln w="28575">
            <a:solidFill>
              <a:srgbClr val="5376B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dition-up-3-segment-1"/>
          <p:cNvCxnSpPr/>
          <p:nvPr/>
        </p:nvCxnSpPr>
        <p:spPr>
          <a:xfrm flipV="1">
            <a:off x="7191871" y="1823102"/>
            <a:ext cx="0" cy="1213168"/>
          </a:xfrm>
          <a:prstGeom prst="line">
            <a:avLst/>
          </a:prstGeom>
          <a:ln w="28575">
            <a:solidFill>
              <a:srgbClr val="2C81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dition-down-3-segment-1"/>
          <p:cNvCxnSpPr/>
          <p:nvPr/>
        </p:nvCxnSpPr>
        <p:spPr>
          <a:xfrm>
            <a:off x="7191871" y="3036270"/>
            <a:ext cx="0" cy="1018792"/>
          </a:xfrm>
          <a:prstGeom prst="line">
            <a:avLst/>
          </a:prstGeom>
          <a:ln w="28575">
            <a:solidFill>
              <a:srgbClr val="2C81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patial-transfer-4-segment-1"/>
          <p:cNvCxnSpPr/>
          <p:nvPr/>
        </p:nvCxnSpPr>
        <p:spPr>
          <a:xfrm>
            <a:off x="8284392" y="2124718"/>
            <a:ext cx="0" cy="844526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patial-transfer-4-segment-2"/>
          <p:cNvCxnSpPr/>
          <p:nvPr/>
        </p:nvCxnSpPr>
        <p:spPr>
          <a:xfrm>
            <a:off x="8284392" y="2969244"/>
            <a:ext cx="60324" cy="67026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patial-transfer-4-segment-3"/>
          <p:cNvCxnSpPr/>
          <p:nvPr/>
        </p:nvCxnSpPr>
        <p:spPr>
          <a:xfrm flipH="1">
            <a:off x="8284392" y="3036270"/>
            <a:ext cx="60324" cy="67025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patial-transfer-4-segment-4"/>
          <p:cNvCxnSpPr/>
          <p:nvPr/>
        </p:nvCxnSpPr>
        <p:spPr>
          <a:xfrm>
            <a:off x="8284392" y="3103295"/>
            <a:ext cx="0" cy="636746"/>
          </a:xfrm>
          <a:prstGeom prst="line">
            <a:avLst/>
          </a:prstGeom>
          <a:ln w="28575">
            <a:solidFill>
              <a:srgbClr val="5376B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dition-up-4-segment-1"/>
          <p:cNvCxnSpPr/>
          <p:nvPr/>
        </p:nvCxnSpPr>
        <p:spPr>
          <a:xfrm flipV="1">
            <a:off x="8545793" y="2124718"/>
            <a:ext cx="0" cy="911552"/>
          </a:xfrm>
          <a:prstGeom prst="line">
            <a:avLst/>
          </a:prstGeom>
          <a:ln w="28575">
            <a:solidFill>
              <a:srgbClr val="2C81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dition-down-4-segment-1"/>
          <p:cNvCxnSpPr/>
          <p:nvPr/>
        </p:nvCxnSpPr>
        <p:spPr>
          <a:xfrm>
            <a:off x="8545793" y="3036270"/>
            <a:ext cx="0" cy="703771"/>
          </a:xfrm>
          <a:prstGeom prst="line">
            <a:avLst/>
          </a:prstGeom>
          <a:ln w="28575">
            <a:solidFill>
              <a:srgbClr val="2C81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ference-inputs-ref-pose-panel"/>
          <p:cNvSpPr/>
          <p:nvPr/>
        </p:nvSpPr>
        <p:spPr>
          <a:xfrm>
            <a:off x="67025" y="187672"/>
            <a:ext cx="1353921" cy="1353921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ference-inputs-ref-pose-panel-green-head"/>
          <p:cNvSpPr/>
          <p:nvPr/>
        </p:nvSpPr>
        <p:spPr>
          <a:xfrm>
            <a:off x="487787" y="575456"/>
            <a:ext cx="56623" cy="56623"/>
          </a:xfrm>
          <a:prstGeom prst="ellipse">
            <a:avLst/>
          </a:prstGeom>
          <a:noFill/>
          <a:ln w="14287">
            <a:solidFill>
              <a:srgbClr val="00E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ref-pose-panel-green-bone-0-segment-1"/>
          <p:cNvCxnSpPr/>
          <p:nvPr/>
        </p:nvCxnSpPr>
        <p:spPr>
          <a:xfrm>
            <a:off x="516098" y="603768"/>
            <a:ext cx="0" cy="79627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ref-pose-panel-green-bone-1-segment-1"/>
          <p:cNvCxnSpPr/>
          <p:nvPr/>
        </p:nvCxnSpPr>
        <p:spPr>
          <a:xfrm>
            <a:off x="418777" y="701090"/>
            <a:ext cx="194643" cy="0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ref-pose-panel-green-bone-2-segment-1"/>
          <p:cNvCxnSpPr/>
          <p:nvPr/>
        </p:nvCxnSpPr>
        <p:spPr>
          <a:xfrm>
            <a:off x="516098" y="683395"/>
            <a:ext cx="0" cy="230032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ref-pose-panel-green-bone-3-segment-1"/>
          <p:cNvCxnSpPr/>
          <p:nvPr/>
        </p:nvCxnSpPr>
        <p:spPr>
          <a:xfrm flipH="1">
            <a:off x="383387" y="701090"/>
            <a:ext cx="35390" cy="132711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ref-pose-panel-green-bone-4-segment-1"/>
          <p:cNvCxnSpPr/>
          <p:nvPr/>
        </p:nvCxnSpPr>
        <p:spPr>
          <a:xfrm flipH="1">
            <a:off x="356845" y="833801"/>
            <a:ext cx="26542" cy="150406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ref-pose-panel-green-bone-5-segment-1"/>
          <p:cNvCxnSpPr/>
          <p:nvPr/>
        </p:nvCxnSpPr>
        <p:spPr>
          <a:xfrm>
            <a:off x="613420" y="701090"/>
            <a:ext cx="44237" cy="132711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ref-pose-panel-green-bone-6-segment-1"/>
          <p:cNvCxnSpPr/>
          <p:nvPr/>
        </p:nvCxnSpPr>
        <p:spPr>
          <a:xfrm>
            <a:off x="657657" y="833801"/>
            <a:ext cx="35390" cy="150406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ref-pose-panel-green-bone-7-segment-1"/>
          <p:cNvCxnSpPr/>
          <p:nvPr/>
        </p:nvCxnSpPr>
        <p:spPr>
          <a:xfrm>
            <a:off x="454167" y="922275"/>
            <a:ext cx="123863" cy="0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ref-pose-panel-green-bone-8-segment-1"/>
          <p:cNvCxnSpPr/>
          <p:nvPr/>
        </p:nvCxnSpPr>
        <p:spPr>
          <a:xfrm>
            <a:off x="454167" y="922275"/>
            <a:ext cx="0" cy="168101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ref-pose-panel-green-bone-9-segment-1"/>
          <p:cNvCxnSpPr/>
          <p:nvPr/>
        </p:nvCxnSpPr>
        <p:spPr>
          <a:xfrm flipH="1">
            <a:off x="436472" y="1090376"/>
            <a:ext cx="17695" cy="168100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ref-pose-panel-green-bone-10-segment-1"/>
          <p:cNvCxnSpPr/>
          <p:nvPr/>
        </p:nvCxnSpPr>
        <p:spPr>
          <a:xfrm>
            <a:off x="578030" y="922275"/>
            <a:ext cx="8848" cy="159253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ref-pose-panel-green-bone-11-segment-1"/>
          <p:cNvCxnSpPr/>
          <p:nvPr/>
        </p:nvCxnSpPr>
        <p:spPr>
          <a:xfrm>
            <a:off x="586878" y="1081528"/>
            <a:ext cx="8847" cy="176948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ref-pose-panel-green-bone-12-segment-1"/>
          <p:cNvCxnSpPr/>
          <p:nvPr/>
        </p:nvCxnSpPr>
        <p:spPr>
          <a:xfrm flipH="1">
            <a:off x="418777" y="683395"/>
            <a:ext cx="97321" cy="17695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ref-pose-panel-green-bone-13-segment-1"/>
          <p:cNvCxnSpPr/>
          <p:nvPr/>
        </p:nvCxnSpPr>
        <p:spPr>
          <a:xfrm>
            <a:off x="516098" y="683395"/>
            <a:ext cx="97322" cy="17695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ference-inputs-ref-pose-panel-red-head"/>
          <p:cNvSpPr/>
          <p:nvPr/>
        </p:nvSpPr>
        <p:spPr>
          <a:xfrm>
            <a:off x="991338" y="584626"/>
            <a:ext cx="54907" cy="54907"/>
          </a:xfrm>
          <a:prstGeom prst="ellipse">
            <a:avLst/>
          </a:prstGeom>
          <a:noFill/>
          <a:ln w="14287">
            <a:solidFill>
              <a:srgbClr val="FF3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ref-pose-panel-red-bone-0-segment-1"/>
          <p:cNvCxnSpPr/>
          <p:nvPr/>
        </p:nvCxnSpPr>
        <p:spPr>
          <a:xfrm>
            <a:off x="1018792" y="612079"/>
            <a:ext cx="0" cy="77214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ref-pose-panel-red-bone-1-segment-1"/>
          <p:cNvCxnSpPr/>
          <p:nvPr/>
        </p:nvCxnSpPr>
        <p:spPr>
          <a:xfrm>
            <a:off x="924420" y="706452"/>
            <a:ext cx="188745" cy="0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ref-pose-panel-red-bone-2-segment-1"/>
          <p:cNvCxnSpPr/>
          <p:nvPr/>
        </p:nvCxnSpPr>
        <p:spPr>
          <a:xfrm>
            <a:off x="1018792" y="689293"/>
            <a:ext cx="0" cy="223062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ref-pose-panel-red-bone-3-segment-1"/>
          <p:cNvCxnSpPr/>
          <p:nvPr/>
        </p:nvCxnSpPr>
        <p:spPr>
          <a:xfrm flipH="1">
            <a:off x="890103" y="706452"/>
            <a:ext cx="34317" cy="128689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ref-pose-panel-red-bone-4-segment-1"/>
          <p:cNvCxnSpPr/>
          <p:nvPr/>
        </p:nvCxnSpPr>
        <p:spPr>
          <a:xfrm flipH="1">
            <a:off x="864365" y="835141"/>
            <a:ext cx="25738" cy="145849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ref-pose-panel-red-bone-5-segment-1"/>
          <p:cNvCxnSpPr/>
          <p:nvPr/>
        </p:nvCxnSpPr>
        <p:spPr>
          <a:xfrm>
            <a:off x="1113165" y="706452"/>
            <a:ext cx="42896" cy="128689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ref-pose-panel-red-bone-6-segment-1"/>
          <p:cNvCxnSpPr/>
          <p:nvPr/>
        </p:nvCxnSpPr>
        <p:spPr>
          <a:xfrm>
            <a:off x="1156061" y="835141"/>
            <a:ext cx="34317" cy="145849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ref-pose-panel-red-bone-7-segment-1"/>
          <p:cNvCxnSpPr/>
          <p:nvPr/>
        </p:nvCxnSpPr>
        <p:spPr>
          <a:xfrm>
            <a:off x="958737" y="920934"/>
            <a:ext cx="120110" cy="0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ref-pose-panel-red-bone-8-segment-1"/>
          <p:cNvCxnSpPr/>
          <p:nvPr/>
        </p:nvCxnSpPr>
        <p:spPr>
          <a:xfrm>
            <a:off x="958737" y="920934"/>
            <a:ext cx="0" cy="163007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ref-pose-panel-red-bone-9-segment-1"/>
          <p:cNvCxnSpPr/>
          <p:nvPr/>
        </p:nvCxnSpPr>
        <p:spPr>
          <a:xfrm flipH="1">
            <a:off x="941578" y="1083941"/>
            <a:ext cx="17159" cy="163007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ref-pose-panel-red-bone-10-segment-1"/>
          <p:cNvCxnSpPr/>
          <p:nvPr/>
        </p:nvCxnSpPr>
        <p:spPr>
          <a:xfrm>
            <a:off x="1078847" y="920934"/>
            <a:ext cx="8580" cy="154428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ref-pose-panel-red-bone-11-segment-1"/>
          <p:cNvCxnSpPr/>
          <p:nvPr/>
        </p:nvCxnSpPr>
        <p:spPr>
          <a:xfrm>
            <a:off x="1087427" y="1075362"/>
            <a:ext cx="8579" cy="171586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ref-pose-panel-red-bone-12-segment-1"/>
          <p:cNvCxnSpPr/>
          <p:nvPr/>
        </p:nvCxnSpPr>
        <p:spPr>
          <a:xfrm flipH="1">
            <a:off x="924420" y="689293"/>
            <a:ext cx="94372" cy="17159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ref-pose-panel-red-bone-13-segment-1"/>
          <p:cNvCxnSpPr/>
          <p:nvPr/>
        </p:nvCxnSpPr>
        <p:spPr>
          <a:xfrm>
            <a:off x="1018792" y="689293"/>
            <a:ext cx="94373" cy="17159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ference-inputs-ref-pose-label"/>
          <p:cNvSpPr txBox="1"/>
          <p:nvPr/>
        </p:nvSpPr>
        <p:spPr>
          <a:xfrm>
            <a:off x="100538" y="1568404"/>
            <a:ext cx="1307003" cy="2412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77" b="1" i="0">
                <a:solidFill>
                  <a:srgbClr val="222222"/>
                </a:solidFill>
                <a:latin typeface="DejaVu Sans Mono"/>
              </a:defRPr>
            </a:pPr>
            <a:r>
              <a:t>Ref Pose</a:t>
            </a:r>
          </a:p>
        </p:txBody>
      </p:sp>
      <p:sp>
        <p:nvSpPr>
          <p:cNvPr id="82" name="reference-inputs-ref-photo-shadow"/>
          <p:cNvSpPr/>
          <p:nvPr/>
        </p:nvSpPr>
        <p:spPr>
          <a:xfrm>
            <a:off x="87133" y="1863318"/>
            <a:ext cx="1360624" cy="1353921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reference-inputs-ref-photo" descr="ref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" y="1843210"/>
            <a:ext cx="1360624" cy="1353921"/>
          </a:xfrm>
          <a:prstGeom prst="rect">
            <a:avLst/>
          </a:prstGeom>
        </p:spPr>
      </p:pic>
      <p:sp>
        <p:nvSpPr>
          <p:cNvPr id="84" name="reference-inputs-ref-image-label"/>
          <p:cNvSpPr txBox="1"/>
          <p:nvPr/>
        </p:nvSpPr>
        <p:spPr>
          <a:xfrm>
            <a:off x="100538" y="3223942"/>
            <a:ext cx="1307003" cy="25469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77" b="1" i="0">
                <a:solidFill>
                  <a:srgbClr val="222222"/>
                </a:solidFill>
                <a:latin typeface="DejaVu Sans Mono"/>
              </a:defRPr>
            </a:pPr>
            <a:r>
              <a:t>Ref Img</a:t>
            </a:r>
          </a:p>
        </p:txBody>
      </p:sp>
      <p:sp>
        <p:nvSpPr>
          <p:cNvPr id="85" name="encoders-reference-pose-encoder"/>
          <p:cNvSpPr/>
          <p:nvPr/>
        </p:nvSpPr>
        <p:spPr>
          <a:xfrm>
            <a:off x="1910236" y="375345"/>
            <a:ext cx="603232" cy="971875"/>
          </a:xfrm>
          <a:custGeom>
            <a:avLst/>
            <a:gdLst/>
            <a:ahLst/>
            <a:cxnLst/>
            <a:rect l="l" t="t" r="r" b="b"/>
            <a:pathLst>
              <a:path w="90" h="145">
                <a:moveTo>
                  <a:pt x="0" y="0"/>
                </a:moveTo>
                <a:lnTo>
                  <a:pt x="90" y="36"/>
                </a:lnTo>
                <a:lnTo>
                  <a:pt x="90" y="109"/>
                </a:lnTo>
                <a:lnTo>
                  <a:pt x="0" y="145"/>
                </a:lnTo>
                <a:close/>
              </a:path>
            </a:pathLst>
          </a:custGeom>
          <a:solidFill>
            <a:srgbClr val="F7F7F7"/>
          </a:solidFill>
          <a:ln w="21907">
            <a:solidFill>
              <a:srgbClr val="5D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ncoders-reference-pose-encoder-label"/>
          <p:cNvSpPr txBox="1"/>
          <p:nvPr/>
        </p:nvSpPr>
        <p:spPr>
          <a:xfrm>
            <a:off x="1923641" y="540563"/>
            <a:ext cx="576422" cy="6414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36" b="1" i="0">
                <a:solidFill>
                  <a:srgbClr val="222222"/>
                </a:solidFill>
                <a:latin typeface="DejaVu Sans Mono"/>
              </a:defRPr>
            </a:pPr>
            <a:r>
              <a:t>Pose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36" b="1" i="0">
                <a:solidFill>
                  <a:srgbClr val="222222"/>
                </a:solidFill>
                <a:latin typeface="DejaVu Sans Mono"/>
              </a:defRPr>
            </a:pPr>
            <a:r>
              <a:t>Enc</a:t>
            </a:r>
          </a:p>
        </p:txBody>
      </p:sp>
      <p:sp>
        <p:nvSpPr>
          <p:cNvPr id="87" name="encoders-vae-encoder"/>
          <p:cNvSpPr/>
          <p:nvPr/>
        </p:nvSpPr>
        <p:spPr>
          <a:xfrm>
            <a:off x="1910236" y="1461163"/>
            <a:ext cx="603232" cy="971875"/>
          </a:xfrm>
          <a:custGeom>
            <a:avLst/>
            <a:gdLst/>
            <a:ahLst/>
            <a:cxnLst/>
            <a:rect l="l" t="t" r="r" b="b"/>
            <a:pathLst>
              <a:path w="90" h="145">
                <a:moveTo>
                  <a:pt x="0" y="0"/>
                </a:moveTo>
                <a:lnTo>
                  <a:pt x="90" y="36"/>
                </a:lnTo>
                <a:lnTo>
                  <a:pt x="90" y="109"/>
                </a:lnTo>
                <a:lnTo>
                  <a:pt x="0" y="145"/>
                </a:lnTo>
                <a:close/>
              </a:path>
            </a:pathLst>
          </a:custGeom>
          <a:solidFill>
            <a:srgbClr val="F7F7F7"/>
          </a:solidFill>
          <a:ln w="21907">
            <a:solidFill>
              <a:srgbClr val="5D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ncoders-vae-encoder-label"/>
          <p:cNvSpPr txBox="1"/>
          <p:nvPr/>
        </p:nvSpPr>
        <p:spPr>
          <a:xfrm>
            <a:off x="1923641" y="1626381"/>
            <a:ext cx="576422" cy="6414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36" b="1" i="0">
                <a:solidFill>
                  <a:srgbClr val="222222"/>
                </a:solidFill>
                <a:latin typeface="DejaVu Sans Mono"/>
              </a:defRPr>
            </a:pPr>
            <a:r>
              <a:t>VAE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36" b="1" i="0">
                <a:solidFill>
                  <a:srgbClr val="222222"/>
                </a:solidFill>
                <a:latin typeface="DejaVu Sans Mono"/>
              </a:defRPr>
            </a:pPr>
            <a:r>
              <a:t>Enc</a:t>
            </a:r>
          </a:p>
        </p:txBody>
      </p:sp>
      <p:sp>
        <p:nvSpPr>
          <p:cNvPr id="89" name="encoders-clip-encoder"/>
          <p:cNvSpPr/>
          <p:nvPr/>
        </p:nvSpPr>
        <p:spPr>
          <a:xfrm>
            <a:off x="1910236" y="2553684"/>
            <a:ext cx="603232" cy="978577"/>
          </a:xfrm>
          <a:custGeom>
            <a:avLst/>
            <a:gdLst/>
            <a:ahLst/>
            <a:cxnLst/>
            <a:rect l="l" t="t" r="r" b="b"/>
            <a:pathLst>
              <a:path w="90" h="146">
                <a:moveTo>
                  <a:pt x="0" y="0"/>
                </a:moveTo>
                <a:lnTo>
                  <a:pt x="90" y="37"/>
                </a:lnTo>
                <a:lnTo>
                  <a:pt x="90" y="109"/>
                </a:lnTo>
                <a:lnTo>
                  <a:pt x="0" y="146"/>
                </a:lnTo>
                <a:close/>
              </a:path>
            </a:pathLst>
          </a:custGeom>
          <a:solidFill>
            <a:srgbClr val="F7F7F7"/>
          </a:solidFill>
          <a:ln w="21907">
            <a:solidFill>
              <a:srgbClr val="5D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ncoders-clip-encoder-label"/>
          <p:cNvSpPr txBox="1"/>
          <p:nvPr/>
        </p:nvSpPr>
        <p:spPr>
          <a:xfrm>
            <a:off x="1923641" y="2720042"/>
            <a:ext cx="576422" cy="6458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36" b="1" i="0">
                <a:solidFill>
                  <a:srgbClr val="222222"/>
                </a:solidFill>
                <a:latin typeface="DejaVu Sans Mono"/>
              </a:defRPr>
            </a:pPr>
            <a:r>
              <a:t>CLIP</a:t>
            </a:r>
          </a:p>
        </p:txBody>
      </p:sp>
      <p:sp>
        <p:nvSpPr>
          <p:cNvPr id="91" name="encoders-reference-sum-circle"/>
          <p:cNvSpPr/>
          <p:nvPr/>
        </p:nvSpPr>
        <p:spPr>
          <a:xfrm>
            <a:off x="2835192" y="1273490"/>
            <a:ext cx="254698" cy="254698"/>
          </a:xfrm>
          <a:prstGeom prst="ellipse">
            <a:avLst/>
          </a:prstGeom>
          <a:solidFill>
            <a:srgbClr val="FFFFFF"/>
          </a:solidFill>
          <a:ln w="25717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reference-sum-h-segment-1"/>
          <p:cNvCxnSpPr/>
          <p:nvPr/>
        </p:nvCxnSpPr>
        <p:spPr>
          <a:xfrm>
            <a:off x="2841895" y="1400839"/>
            <a:ext cx="241293" cy="0"/>
          </a:xfrm>
          <a:prstGeom prst="line">
            <a:avLst/>
          </a:prstGeom>
          <a:ln w="25717">
            <a:solidFill>
              <a:srgbClr val="3E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reference-sum-v-segment-1"/>
          <p:cNvCxnSpPr/>
          <p:nvPr/>
        </p:nvCxnSpPr>
        <p:spPr>
          <a:xfrm>
            <a:off x="2962541" y="1280193"/>
            <a:ext cx="0" cy="241293"/>
          </a:xfrm>
          <a:prstGeom prst="line">
            <a:avLst/>
          </a:prstGeom>
          <a:ln w="25717">
            <a:solidFill>
              <a:srgbClr val="3E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arget-inputs-target-pose-panel-stack-0"/>
          <p:cNvSpPr/>
          <p:nvPr/>
        </p:nvSpPr>
        <p:spPr>
          <a:xfrm>
            <a:off x="160861" y="3740041"/>
            <a:ext cx="1273490" cy="1260085"/>
          </a:xfrm>
          <a:prstGeom prst="rect">
            <a:avLst/>
          </a:prstGeom>
          <a:solidFill>
            <a:srgbClr val="000000"/>
          </a:solidFill>
          <a:ln w="14287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arget-inputs-target-pose-panel-stack-1"/>
          <p:cNvSpPr/>
          <p:nvPr/>
        </p:nvSpPr>
        <p:spPr>
          <a:xfrm>
            <a:off x="113943" y="3786959"/>
            <a:ext cx="1273490" cy="1260085"/>
          </a:xfrm>
          <a:prstGeom prst="rect">
            <a:avLst/>
          </a:prstGeom>
          <a:solidFill>
            <a:srgbClr val="000000"/>
          </a:solidFill>
          <a:ln w="14287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arget-inputs-target-pose-panel-stack-2"/>
          <p:cNvSpPr/>
          <p:nvPr/>
        </p:nvSpPr>
        <p:spPr>
          <a:xfrm>
            <a:off x="67025" y="3833877"/>
            <a:ext cx="1273490" cy="1260085"/>
          </a:xfrm>
          <a:prstGeom prst="rect">
            <a:avLst/>
          </a:prstGeom>
          <a:solidFill>
            <a:srgbClr val="000000"/>
          </a:solidFill>
          <a:ln w="14287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arget-inputs-target-pose-panel-orange-head"/>
          <p:cNvSpPr/>
          <p:nvPr/>
        </p:nvSpPr>
        <p:spPr>
          <a:xfrm>
            <a:off x="458161" y="4127825"/>
            <a:ext cx="60913" cy="60913"/>
          </a:xfrm>
          <a:prstGeom prst="ellipse">
            <a:avLst/>
          </a:prstGeom>
          <a:noFill/>
          <a:ln w="14287">
            <a:solidFill>
              <a:srgbClr val="FF3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target-pose-panel-orange-bone-0-segment-1"/>
          <p:cNvCxnSpPr/>
          <p:nvPr/>
        </p:nvCxnSpPr>
        <p:spPr>
          <a:xfrm>
            <a:off x="488618" y="4158282"/>
            <a:ext cx="28553" cy="95177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target-pose-panel-orange-bone-1-segment-1"/>
          <p:cNvCxnSpPr/>
          <p:nvPr/>
        </p:nvCxnSpPr>
        <p:spPr>
          <a:xfrm>
            <a:off x="393441" y="4272494"/>
            <a:ext cx="237942" cy="28553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target-pose-panel-orange-bone-2-segment-1"/>
          <p:cNvCxnSpPr/>
          <p:nvPr/>
        </p:nvCxnSpPr>
        <p:spPr>
          <a:xfrm>
            <a:off x="517171" y="4253459"/>
            <a:ext cx="19035" cy="228424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target-pose-panel-orange-bone-3-segment-1"/>
          <p:cNvCxnSpPr/>
          <p:nvPr/>
        </p:nvCxnSpPr>
        <p:spPr>
          <a:xfrm flipH="1" flipV="1">
            <a:off x="241158" y="4262976"/>
            <a:ext cx="152283" cy="9518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target-pose-panel-orange-bone-4-segment-1"/>
          <p:cNvCxnSpPr/>
          <p:nvPr/>
        </p:nvCxnSpPr>
        <p:spPr>
          <a:xfrm flipH="1" flipV="1">
            <a:off x="126946" y="4224906"/>
            <a:ext cx="114212" cy="38070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target-pose-panel-orange-bone-5-segment-1"/>
          <p:cNvCxnSpPr/>
          <p:nvPr/>
        </p:nvCxnSpPr>
        <p:spPr>
          <a:xfrm>
            <a:off x="631383" y="4301047"/>
            <a:ext cx="123730" cy="76141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target-pose-panel-orange-bone-6-segment-1"/>
          <p:cNvCxnSpPr/>
          <p:nvPr/>
        </p:nvCxnSpPr>
        <p:spPr>
          <a:xfrm>
            <a:off x="755113" y="4377188"/>
            <a:ext cx="142765" cy="85659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target-pose-panel-orange-bone-7-segment-1"/>
          <p:cNvCxnSpPr/>
          <p:nvPr/>
        </p:nvCxnSpPr>
        <p:spPr>
          <a:xfrm>
            <a:off x="460065" y="4491400"/>
            <a:ext cx="152283" cy="0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target-pose-panel-orange-bone-8-segment-1"/>
          <p:cNvCxnSpPr/>
          <p:nvPr/>
        </p:nvCxnSpPr>
        <p:spPr>
          <a:xfrm flipH="1">
            <a:off x="355370" y="4491400"/>
            <a:ext cx="104695" cy="152283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target-pose-panel-orange-bone-9-segment-1"/>
          <p:cNvCxnSpPr/>
          <p:nvPr/>
        </p:nvCxnSpPr>
        <p:spPr>
          <a:xfrm flipH="1">
            <a:off x="250676" y="4643683"/>
            <a:ext cx="104694" cy="161800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target-pose-panel-orange-bone-10-segment-1"/>
          <p:cNvCxnSpPr/>
          <p:nvPr/>
        </p:nvCxnSpPr>
        <p:spPr>
          <a:xfrm flipH="1">
            <a:off x="602830" y="4491400"/>
            <a:ext cx="9518" cy="190354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target-pose-panel-orange-bone-11-segment-1"/>
          <p:cNvCxnSpPr/>
          <p:nvPr/>
        </p:nvCxnSpPr>
        <p:spPr>
          <a:xfrm>
            <a:off x="602830" y="4681754"/>
            <a:ext cx="57106" cy="171318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target-pose-panel-orange-bone-12-segment-1"/>
          <p:cNvCxnSpPr/>
          <p:nvPr/>
        </p:nvCxnSpPr>
        <p:spPr>
          <a:xfrm flipH="1">
            <a:off x="393441" y="4253459"/>
            <a:ext cx="123730" cy="19035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target-pose-panel-orange-bone-13-segment-1"/>
          <p:cNvCxnSpPr/>
          <p:nvPr/>
        </p:nvCxnSpPr>
        <p:spPr>
          <a:xfrm>
            <a:off x="517171" y="4253459"/>
            <a:ext cx="114212" cy="47588"/>
          </a:xfrm>
          <a:prstGeom prst="line">
            <a:avLst/>
          </a:prstGeom>
          <a:ln w="14287">
            <a:solidFill>
              <a:srgbClr val="FF3B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arget-inputs-target-pose-panel-green-head"/>
          <p:cNvSpPr/>
          <p:nvPr/>
        </p:nvSpPr>
        <p:spPr>
          <a:xfrm>
            <a:off x="975788" y="4136726"/>
            <a:ext cx="59197" cy="59197"/>
          </a:xfrm>
          <a:prstGeom prst="ellipse">
            <a:avLst/>
          </a:prstGeom>
          <a:noFill/>
          <a:ln w="14287">
            <a:solidFill>
              <a:srgbClr val="00E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target-pose-panel-green-bone-0-segment-1"/>
          <p:cNvCxnSpPr/>
          <p:nvPr/>
        </p:nvCxnSpPr>
        <p:spPr>
          <a:xfrm>
            <a:off x="1005387" y="4166325"/>
            <a:ext cx="9250" cy="101745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target-pose-panel-green-bone-1-segment-1"/>
          <p:cNvCxnSpPr/>
          <p:nvPr/>
        </p:nvCxnSpPr>
        <p:spPr>
          <a:xfrm>
            <a:off x="903642" y="4286569"/>
            <a:ext cx="212740" cy="9250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target-pose-panel-green-bone-2-segment-1"/>
          <p:cNvCxnSpPr/>
          <p:nvPr/>
        </p:nvCxnSpPr>
        <p:spPr>
          <a:xfrm flipH="1">
            <a:off x="1005387" y="4268070"/>
            <a:ext cx="9250" cy="221990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target-pose-panel-green-bone-3-segment-1"/>
          <p:cNvCxnSpPr/>
          <p:nvPr/>
        </p:nvCxnSpPr>
        <p:spPr>
          <a:xfrm flipH="1">
            <a:off x="792647" y="4286569"/>
            <a:ext cx="110995" cy="73997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target-pose-panel-green-bone-4-segment-1"/>
          <p:cNvCxnSpPr/>
          <p:nvPr/>
        </p:nvCxnSpPr>
        <p:spPr>
          <a:xfrm flipH="1" flipV="1">
            <a:off x="681652" y="4323568"/>
            <a:ext cx="110995" cy="36998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target-pose-panel-green-bone-5-segment-1"/>
          <p:cNvCxnSpPr/>
          <p:nvPr/>
        </p:nvCxnSpPr>
        <p:spPr>
          <a:xfrm>
            <a:off x="1116382" y="4295819"/>
            <a:ext cx="110995" cy="101745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target-pose-panel-green-bone-6-segment-1"/>
          <p:cNvCxnSpPr/>
          <p:nvPr/>
        </p:nvCxnSpPr>
        <p:spPr>
          <a:xfrm>
            <a:off x="1227377" y="4397564"/>
            <a:ext cx="138743" cy="36998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target-pose-panel-green-bone-7-segment-1"/>
          <p:cNvCxnSpPr/>
          <p:nvPr/>
        </p:nvCxnSpPr>
        <p:spPr>
          <a:xfrm>
            <a:off x="940640" y="4490060"/>
            <a:ext cx="129494" cy="0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target-pose-panel-green-bone-8-segment-1"/>
          <p:cNvCxnSpPr/>
          <p:nvPr/>
        </p:nvCxnSpPr>
        <p:spPr>
          <a:xfrm>
            <a:off x="940640" y="4490060"/>
            <a:ext cx="46248" cy="184991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target-pose-panel-green-bone-9-segment-1"/>
          <p:cNvCxnSpPr/>
          <p:nvPr/>
        </p:nvCxnSpPr>
        <p:spPr>
          <a:xfrm flipH="1">
            <a:off x="912891" y="4675051"/>
            <a:ext cx="73997" cy="157243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target-pose-panel-green-bone-10-segment-1"/>
          <p:cNvCxnSpPr/>
          <p:nvPr/>
        </p:nvCxnSpPr>
        <p:spPr>
          <a:xfrm>
            <a:off x="1070134" y="4490060"/>
            <a:ext cx="101745" cy="157242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target-pose-panel-green-bone-11-segment-1"/>
          <p:cNvCxnSpPr/>
          <p:nvPr/>
        </p:nvCxnSpPr>
        <p:spPr>
          <a:xfrm>
            <a:off x="1171879" y="4647302"/>
            <a:ext cx="110995" cy="147993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target-pose-panel-green-bone-12-segment-1"/>
          <p:cNvCxnSpPr/>
          <p:nvPr/>
        </p:nvCxnSpPr>
        <p:spPr>
          <a:xfrm flipH="1">
            <a:off x="903642" y="4268070"/>
            <a:ext cx="110995" cy="18499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target-pose-panel-green-bone-13-segment-1"/>
          <p:cNvCxnSpPr/>
          <p:nvPr/>
        </p:nvCxnSpPr>
        <p:spPr>
          <a:xfrm>
            <a:off x="1014637" y="4268070"/>
            <a:ext cx="101745" cy="27749"/>
          </a:xfrm>
          <a:prstGeom prst="line">
            <a:avLst/>
          </a:prstGeom>
          <a:ln w="14287">
            <a:solidFill>
              <a:srgbClr val="00E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arget-inputs-target-pose-label"/>
          <p:cNvSpPr txBox="1"/>
          <p:nvPr/>
        </p:nvSpPr>
        <p:spPr>
          <a:xfrm>
            <a:off x="67025" y="5134178"/>
            <a:ext cx="1387434" cy="2748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77" b="1" i="0">
                <a:solidFill>
                  <a:srgbClr val="222222"/>
                </a:solidFill>
                <a:latin typeface="DejaVu Sans Mono"/>
              </a:defRPr>
            </a:pPr>
            <a:r>
              <a:t>Tgt Pose</a:t>
            </a:r>
          </a:p>
        </p:txBody>
      </p:sp>
      <p:cxnSp>
        <p:nvCxnSpPr>
          <p:cNvPr id="128" name="target-motion-mark-1-segment-1"/>
          <p:cNvCxnSpPr/>
          <p:nvPr/>
        </p:nvCxnSpPr>
        <p:spPr>
          <a:xfrm flipV="1">
            <a:off x="1327111" y="4959911"/>
            <a:ext cx="194375" cy="227888"/>
          </a:xfrm>
          <a:prstGeom prst="line">
            <a:avLst/>
          </a:prstGeom>
          <a:ln w="28575">
            <a:solidFill>
              <a:srgbClr val="3E3E3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target-motion-mark-2-segment-1"/>
          <p:cNvCxnSpPr/>
          <p:nvPr/>
        </p:nvCxnSpPr>
        <p:spPr>
          <a:xfrm flipV="1">
            <a:off x="1461163" y="5187799"/>
            <a:ext cx="67025" cy="60323"/>
          </a:xfrm>
          <a:prstGeom prst="line">
            <a:avLst/>
          </a:prstGeom>
          <a:ln w="28575">
            <a:solidFill>
              <a:srgbClr val="3E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target-motion-mark-3-segment-1"/>
          <p:cNvCxnSpPr/>
          <p:nvPr/>
        </p:nvCxnSpPr>
        <p:spPr>
          <a:xfrm>
            <a:off x="1528188" y="5187799"/>
            <a:ext cx="67026" cy="46918"/>
          </a:xfrm>
          <a:prstGeom prst="line">
            <a:avLst/>
          </a:prstGeom>
          <a:ln w="28575">
            <a:solidFill>
              <a:srgbClr val="3E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encoders-target-pose-encoder"/>
          <p:cNvSpPr/>
          <p:nvPr/>
        </p:nvSpPr>
        <p:spPr>
          <a:xfrm>
            <a:off x="1910236" y="3994739"/>
            <a:ext cx="603232" cy="971875"/>
          </a:xfrm>
          <a:custGeom>
            <a:avLst/>
            <a:gdLst/>
            <a:ahLst/>
            <a:cxnLst/>
            <a:rect l="l" t="t" r="r" b="b"/>
            <a:pathLst>
              <a:path w="90" h="145">
                <a:moveTo>
                  <a:pt x="0" y="0"/>
                </a:moveTo>
                <a:lnTo>
                  <a:pt x="90" y="36"/>
                </a:lnTo>
                <a:lnTo>
                  <a:pt x="90" y="109"/>
                </a:lnTo>
                <a:lnTo>
                  <a:pt x="0" y="145"/>
                </a:lnTo>
                <a:close/>
              </a:path>
            </a:pathLst>
          </a:custGeom>
          <a:solidFill>
            <a:srgbClr val="F7F7F7"/>
          </a:solidFill>
          <a:ln w="21907">
            <a:solidFill>
              <a:srgbClr val="5D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encoders-target-pose-encoder-label"/>
          <p:cNvSpPr txBox="1"/>
          <p:nvPr/>
        </p:nvSpPr>
        <p:spPr>
          <a:xfrm>
            <a:off x="1923641" y="4159958"/>
            <a:ext cx="576422" cy="6414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36" b="1" i="0">
                <a:solidFill>
                  <a:srgbClr val="222222"/>
                </a:solidFill>
                <a:latin typeface="DejaVu Sans Mono"/>
              </a:defRPr>
            </a:pPr>
            <a:r>
              <a:t>Pose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36" b="1" i="0">
                <a:solidFill>
                  <a:srgbClr val="222222"/>
                </a:solidFill>
                <a:latin typeface="DejaVu Sans Mono"/>
              </a:defRPr>
            </a:pPr>
            <a:r>
              <a:t>Enc</a:t>
            </a:r>
          </a:p>
        </p:txBody>
      </p:sp>
      <p:sp>
        <p:nvSpPr>
          <p:cNvPr id="133" name="encoders-target-sum-circle"/>
          <p:cNvSpPr/>
          <p:nvPr/>
        </p:nvSpPr>
        <p:spPr>
          <a:xfrm>
            <a:off x="2835192" y="4349976"/>
            <a:ext cx="254698" cy="254698"/>
          </a:xfrm>
          <a:prstGeom prst="ellipse">
            <a:avLst/>
          </a:prstGeom>
          <a:solidFill>
            <a:srgbClr val="FFFFFF"/>
          </a:solidFill>
          <a:ln w="25717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target-sum-h-segment-1"/>
          <p:cNvCxnSpPr/>
          <p:nvPr/>
        </p:nvCxnSpPr>
        <p:spPr>
          <a:xfrm>
            <a:off x="2841895" y="4477325"/>
            <a:ext cx="241293" cy="0"/>
          </a:xfrm>
          <a:prstGeom prst="line">
            <a:avLst/>
          </a:prstGeom>
          <a:ln w="25717">
            <a:solidFill>
              <a:srgbClr val="3E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target-sum-v-segment-1"/>
          <p:cNvCxnSpPr/>
          <p:nvPr/>
        </p:nvCxnSpPr>
        <p:spPr>
          <a:xfrm>
            <a:off x="2962541" y="4356678"/>
            <a:ext cx="0" cy="241293"/>
          </a:xfrm>
          <a:prstGeom prst="line">
            <a:avLst/>
          </a:prstGeom>
          <a:ln w="25717">
            <a:solidFill>
              <a:srgbClr val="3E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arget-inputs-noise-label"/>
          <p:cNvSpPr txBox="1"/>
          <p:nvPr/>
        </p:nvSpPr>
        <p:spPr>
          <a:xfrm>
            <a:off x="1139439" y="5408984"/>
            <a:ext cx="1239977" cy="2815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77" b="1" i="0">
                <a:solidFill>
                  <a:srgbClr val="222222"/>
                </a:solidFill>
                <a:latin typeface="DejaVu Sans Mono"/>
              </a:defRPr>
            </a:pPr>
            <a:r>
              <a:t>Noise</a:t>
            </a:r>
          </a:p>
        </p:txBody>
      </p:sp>
      <p:sp>
        <p:nvSpPr>
          <p:cNvPr id="137" name="target-inputs-noise-stack-2"/>
          <p:cNvSpPr/>
          <p:nvPr/>
        </p:nvSpPr>
        <p:spPr>
          <a:xfrm>
            <a:off x="1206464" y="5710600"/>
            <a:ext cx="857930" cy="857930"/>
          </a:xfrm>
          <a:prstGeom prst="rect">
            <a:avLst/>
          </a:prstGeom>
          <a:solidFill>
            <a:srgbClr val="A8A8A8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arget-inputs-noise-stack-1"/>
          <p:cNvSpPr/>
          <p:nvPr/>
        </p:nvSpPr>
        <p:spPr>
          <a:xfrm>
            <a:off x="1273490" y="5777626"/>
            <a:ext cx="857930" cy="857930"/>
          </a:xfrm>
          <a:prstGeom prst="rect">
            <a:avLst/>
          </a:prstGeom>
          <a:solidFill>
            <a:srgbClr val="B3B3B3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9" name="target-inputs-noise-front" descr="noi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516" y="5844652"/>
            <a:ext cx="857930" cy="857930"/>
          </a:xfrm>
          <a:prstGeom prst="rect">
            <a:avLst/>
          </a:prstGeom>
        </p:spPr>
      </p:pic>
      <p:sp>
        <p:nvSpPr>
          <p:cNvPr id="140" name="reference-attention-reference-stage-1-spatial-shadow"/>
          <p:cNvSpPr/>
          <p:nvPr/>
        </p:nvSpPr>
        <p:spPr>
          <a:xfrm>
            <a:off x="3699825" y="697068"/>
            <a:ext cx="214482" cy="1447757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ference-attention-reference-stage-1-spatial"/>
          <p:cNvSpPr/>
          <p:nvPr/>
        </p:nvSpPr>
        <p:spPr>
          <a:xfrm>
            <a:off x="3679718" y="676960"/>
            <a:ext cx="214482" cy="1447757"/>
          </a:xfrm>
          <a:prstGeom prst="roundRect">
            <a:avLst/>
          </a:prstGeom>
          <a:solidFill>
            <a:srgbClr val="91A7D0"/>
          </a:solidFill>
          <a:ln w="2095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ference-attention-reference-stage-1-cross-shadow"/>
          <p:cNvSpPr/>
          <p:nvPr/>
        </p:nvSpPr>
        <p:spPr>
          <a:xfrm>
            <a:off x="3961226" y="697068"/>
            <a:ext cx="214482" cy="1447757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ference-attention-reference-stage-1-cross"/>
          <p:cNvSpPr/>
          <p:nvPr/>
        </p:nvSpPr>
        <p:spPr>
          <a:xfrm>
            <a:off x="3941118" y="676960"/>
            <a:ext cx="214482" cy="1447757"/>
          </a:xfrm>
          <a:prstGeom prst="roundRect">
            <a:avLst/>
          </a:prstGeom>
          <a:solidFill>
            <a:srgbClr val="CBE3D3"/>
          </a:solidFill>
          <a:ln w="2095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ference-attention-reference-stage-2-spatial-shadow"/>
          <p:cNvSpPr/>
          <p:nvPr/>
        </p:nvSpPr>
        <p:spPr>
          <a:xfrm>
            <a:off x="5053747" y="1018792"/>
            <a:ext cx="214482" cy="824417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ference-attention-reference-stage-2-spatial"/>
          <p:cNvSpPr/>
          <p:nvPr/>
        </p:nvSpPr>
        <p:spPr>
          <a:xfrm>
            <a:off x="5033640" y="998684"/>
            <a:ext cx="214482" cy="824417"/>
          </a:xfrm>
          <a:prstGeom prst="roundRect">
            <a:avLst/>
          </a:prstGeom>
          <a:solidFill>
            <a:srgbClr val="91A7D0"/>
          </a:solidFill>
          <a:ln w="2095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ference-attention-reference-stage-2-cross-shadow"/>
          <p:cNvSpPr/>
          <p:nvPr/>
        </p:nvSpPr>
        <p:spPr>
          <a:xfrm>
            <a:off x="5315148" y="1018792"/>
            <a:ext cx="214482" cy="824417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ference-attention-reference-stage-2-cross"/>
          <p:cNvSpPr/>
          <p:nvPr/>
        </p:nvSpPr>
        <p:spPr>
          <a:xfrm>
            <a:off x="5295040" y="998684"/>
            <a:ext cx="214482" cy="824417"/>
          </a:xfrm>
          <a:prstGeom prst="roundRect">
            <a:avLst/>
          </a:prstGeom>
          <a:solidFill>
            <a:srgbClr val="CBE3D3"/>
          </a:solidFill>
          <a:ln w="2095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ference-attention-reference-stage-3-spatial-shadow"/>
          <p:cNvSpPr/>
          <p:nvPr/>
        </p:nvSpPr>
        <p:spPr>
          <a:xfrm>
            <a:off x="6843337" y="1018792"/>
            <a:ext cx="214482" cy="824417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ference-attention-reference-stage-3-spatial"/>
          <p:cNvSpPr/>
          <p:nvPr/>
        </p:nvSpPr>
        <p:spPr>
          <a:xfrm>
            <a:off x="6823229" y="998684"/>
            <a:ext cx="214482" cy="824417"/>
          </a:xfrm>
          <a:prstGeom prst="roundRect">
            <a:avLst/>
          </a:prstGeom>
          <a:solidFill>
            <a:srgbClr val="91A7D0"/>
          </a:solidFill>
          <a:ln w="2095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ference-attention-reference-stage-3-cross-shadow"/>
          <p:cNvSpPr/>
          <p:nvPr/>
        </p:nvSpPr>
        <p:spPr>
          <a:xfrm>
            <a:off x="7104738" y="1018792"/>
            <a:ext cx="214482" cy="824417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ference-attention-reference-stage-3-cross"/>
          <p:cNvSpPr/>
          <p:nvPr/>
        </p:nvSpPr>
        <p:spPr>
          <a:xfrm>
            <a:off x="7084630" y="998684"/>
            <a:ext cx="214482" cy="824417"/>
          </a:xfrm>
          <a:prstGeom prst="roundRect">
            <a:avLst/>
          </a:prstGeom>
          <a:solidFill>
            <a:srgbClr val="CBE3D3"/>
          </a:solidFill>
          <a:ln w="2095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ference-attention-reference-stage-4-spatial-shadow"/>
          <p:cNvSpPr/>
          <p:nvPr/>
        </p:nvSpPr>
        <p:spPr>
          <a:xfrm>
            <a:off x="8197259" y="703771"/>
            <a:ext cx="214482" cy="1441055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ference-attention-reference-stage-4-spatial"/>
          <p:cNvSpPr/>
          <p:nvPr/>
        </p:nvSpPr>
        <p:spPr>
          <a:xfrm>
            <a:off x="8177151" y="683663"/>
            <a:ext cx="214482" cy="1441055"/>
          </a:xfrm>
          <a:prstGeom prst="roundRect">
            <a:avLst/>
          </a:prstGeom>
          <a:solidFill>
            <a:srgbClr val="91A7D0"/>
          </a:solidFill>
          <a:ln w="2095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ference-attention-reference-stage-4-cross-shadow"/>
          <p:cNvSpPr/>
          <p:nvPr/>
        </p:nvSpPr>
        <p:spPr>
          <a:xfrm>
            <a:off x="8458660" y="703771"/>
            <a:ext cx="214482" cy="1441055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ference-attention-reference-stage-4-cross"/>
          <p:cNvSpPr/>
          <p:nvPr/>
        </p:nvSpPr>
        <p:spPr>
          <a:xfrm>
            <a:off x="8438552" y="683663"/>
            <a:ext cx="214482" cy="1441055"/>
          </a:xfrm>
          <a:prstGeom prst="roundRect">
            <a:avLst/>
          </a:prstGeom>
          <a:solidFill>
            <a:srgbClr val="CBE3D3"/>
          </a:solidFill>
          <a:ln w="2095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ference-attention-reference-ellipsis-1-0"/>
          <p:cNvSpPr/>
          <p:nvPr/>
        </p:nvSpPr>
        <p:spPr>
          <a:xfrm>
            <a:off x="4465931" y="1402850"/>
            <a:ext cx="36193" cy="36193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ference-attention-reference-ellipsis-1-1"/>
          <p:cNvSpPr/>
          <p:nvPr/>
        </p:nvSpPr>
        <p:spPr>
          <a:xfrm>
            <a:off x="4573172" y="1402850"/>
            <a:ext cx="36193" cy="36193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ference-attention-reference-ellipsis-1-2"/>
          <p:cNvSpPr/>
          <p:nvPr/>
        </p:nvSpPr>
        <p:spPr>
          <a:xfrm>
            <a:off x="4680413" y="1402850"/>
            <a:ext cx="36193" cy="36193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ference-attention-reference-ellipsis-2-0"/>
          <p:cNvSpPr/>
          <p:nvPr/>
        </p:nvSpPr>
        <p:spPr>
          <a:xfrm>
            <a:off x="6134874" y="1402850"/>
            <a:ext cx="36193" cy="36193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ference-attention-reference-ellipsis-2-1"/>
          <p:cNvSpPr/>
          <p:nvPr/>
        </p:nvSpPr>
        <p:spPr>
          <a:xfrm>
            <a:off x="6242115" y="1402850"/>
            <a:ext cx="36193" cy="36193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ference-attention-reference-ellipsis-2-2"/>
          <p:cNvSpPr/>
          <p:nvPr/>
        </p:nvSpPr>
        <p:spPr>
          <a:xfrm>
            <a:off x="6349357" y="1402850"/>
            <a:ext cx="36193" cy="36193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ference-attention-reference-ellipsis-3-0"/>
          <p:cNvSpPr/>
          <p:nvPr/>
        </p:nvSpPr>
        <p:spPr>
          <a:xfrm>
            <a:off x="7736791" y="1402850"/>
            <a:ext cx="36193" cy="36193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ference-attention-reference-ellipsis-3-1"/>
          <p:cNvSpPr/>
          <p:nvPr/>
        </p:nvSpPr>
        <p:spPr>
          <a:xfrm>
            <a:off x="7844033" y="1402850"/>
            <a:ext cx="36193" cy="36193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ference-attention-reference-ellipsis-3-2"/>
          <p:cNvSpPr/>
          <p:nvPr/>
        </p:nvSpPr>
        <p:spPr>
          <a:xfrm>
            <a:off x="7951274" y="1402850"/>
            <a:ext cx="36193" cy="36193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denoising-attention-denoise-stage-1-spatial-shadow"/>
          <p:cNvSpPr/>
          <p:nvPr/>
        </p:nvSpPr>
        <p:spPr>
          <a:xfrm>
            <a:off x="3706528" y="3760148"/>
            <a:ext cx="214482" cy="1441055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denoising-attention-denoise-stage-1-spatial"/>
          <p:cNvSpPr/>
          <p:nvPr/>
        </p:nvSpPr>
        <p:spPr>
          <a:xfrm>
            <a:off x="3686420" y="3740041"/>
            <a:ext cx="214482" cy="1441055"/>
          </a:xfrm>
          <a:prstGeom prst="roundRect">
            <a:avLst/>
          </a:prstGeom>
          <a:solidFill>
            <a:srgbClr val="91A7D0"/>
          </a:solidFill>
          <a:ln w="2095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denoising-attention-denoise-stage-1-cross-shadow"/>
          <p:cNvSpPr/>
          <p:nvPr/>
        </p:nvSpPr>
        <p:spPr>
          <a:xfrm>
            <a:off x="3967929" y="3760148"/>
            <a:ext cx="214482" cy="1441055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denoising-attention-denoise-stage-1-cross"/>
          <p:cNvSpPr/>
          <p:nvPr/>
        </p:nvSpPr>
        <p:spPr>
          <a:xfrm>
            <a:off x="3947821" y="3740041"/>
            <a:ext cx="214482" cy="1441055"/>
          </a:xfrm>
          <a:prstGeom prst="roundRect">
            <a:avLst/>
          </a:prstGeom>
          <a:solidFill>
            <a:srgbClr val="CBE3D3"/>
          </a:solidFill>
          <a:ln w="2095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denoising-attention-denoise-stage-1-temporal-shadow"/>
          <p:cNvSpPr/>
          <p:nvPr/>
        </p:nvSpPr>
        <p:spPr>
          <a:xfrm>
            <a:off x="4229330" y="3760148"/>
            <a:ext cx="214482" cy="1441055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denoising-attention-denoise-stage-1-temporal"/>
          <p:cNvSpPr/>
          <p:nvPr/>
        </p:nvSpPr>
        <p:spPr>
          <a:xfrm>
            <a:off x="4209222" y="3740041"/>
            <a:ext cx="214482" cy="1441055"/>
          </a:xfrm>
          <a:prstGeom prst="roundRect">
            <a:avLst/>
          </a:prstGeom>
          <a:solidFill>
            <a:srgbClr val="F8C49D"/>
          </a:solidFill>
          <a:ln w="2095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denoising-attention-denoise-stage-2-spatial-shadow"/>
          <p:cNvSpPr/>
          <p:nvPr/>
        </p:nvSpPr>
        <p:spPr>
          <a:xfrm>
            <a:off x="5053747" y="4075170"/>
            <a:ext cx="214482" cy="824417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denoising-attention-denoise-stage-2-spatial"/>
          <p:cNvSpPr/>
          <p:nvPr/>
        </p:nvSpPr>
        <p:spPr>
          <a:xfrm>
            <a:off x="5033640" y="4055062"/>
            <a:ext cx="214482" cy="824417"/>
          </a:xfrm>
          <a:prstGeom prst="roundRect">
            <a:avLst/>
          </a:prstGeom>
          <a:solidFill>
            <a:srgbClr val="91A7D0"/>
          </a:solidFill>
          <a:ln w="2095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denoising-attention-denoise-stage-2-cross-shadow"/>
          <p:cNvSpPr/>
          <p:nvPr/>
        </p:nvSpPr>
        <p:spPr>
          <a:xfrm>
            <a:off x="5315148" y="4075170"/>
            <a:ext cx="214482" cy="824417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denoising-attention-denoise-stage-2-cross"/>
          <p:cNvSpPr/>
          <p:nvPr/>
        </p:nvSpPr>
        <p:spPr>
          <a:xfrm>
            <a:off x="5295040" y="4055062"/>
            <a:ext cx="214482" cy="824417"/>
          </a:xfrm>
          <a:prstGeom prst="roundRect">
            <a:avLst/>
          </a:prstGeom>
          <a:solidFill>
            <a:srgbClr val="CBE3D3"/>
          </a:solidFill>
          <a:ln w="2095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denoising-attention-denoise-stage-2-temporal-shadow"/>
          <p:cNvSpPr/>
          <p:nvPr/>
        </p:nvSpPr>
        <p:spPr>
          <a:xfrm>
            <a:off x="5576549" y="4075170"/>
            <a:ext cx="214482" cy="824417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denoising-attention-denoise-stage-2-temporal"/>
          <p:cNvSpPr/>
          <p:nvPr/>
        </p:nvSpPr>
        <p:spPr>
          <a:xfrm>
            <a:off x="5556441" y="4055062"/>
            <a:ext cx="214482" cy="824417"/>
          </a:xfrm>
          <a:prstGeom prst="roundRect">
            <a:avLst/>
          </a:prstGeom>
          <a:solidFill>
            <a:srgbClr val="F8C49D"/>
          </a:solidFill>
          <a:ln w="2095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denoising-attention-denoise-stage-3-spatial-shadow"/>
          <p:cNvSpPr/>
          <p:nvPr/>
        </p:nvSpPr>
        <p:spPr>
          <a:xfrm>
            <a:off x="6843337" y="4075170"/>
            <a:ext cx="214482" cy="824417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denoising-attention-denoise-stage-3-spatial"/>
          <p:cNvSpPr/>
          <p:nvPr/>
        </p:nvSpPr>
        <p:spPr>
          <a:xfrm>
            <a:off x="6823229" y="4055062"/>
            <a:ext cx="214482" cy="824417"/>
          </a:xfrm>
          <a:prstGeom prst="roundRect">
            <a:avLst/>
          </a:prstGeom>
          <a:solidFill>
            <a:srgbClr val="91A7D0"/>
          </a:solidFill>
          <a:ln w="20955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denoising-attention-denoise-stage-3-cross-shadow"/>
          <p:cNvSpPr/>
          <p:nvPr/>
        </p:nvSpPr>
        <p:spPr>
          <a:xfrm>
            <a:off x="7104738" y="4075170"/>
            <a:ext cx="214482" cy="824417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denoising-attention-denoise-stage-3-cross"/>
          <p:cNvSpPr/>
          <p:nvPr/>
        </p:nvSpPr>
        <p:spPr>
          <a:xfrm>
            <a:off x="7084630" y="4055062"/>
            <a:ext cx="214482" cy="824417"/>
          </a:xfrm>
          <a:prstGeom prst="roundRect">
            <a:avLst/>
          </a:prstGeom>
          <a:solidFill>
            <a:srgbClr val="CBE3D3"/>
          </a:solidFill>
          <a:ln w="2095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denoising-attention-denoise-stage-3-temporal-shadow"/>
          <p:cNvSpPr/>
          <p:nvPr/>
        </p:nvSpPr>
        <p:spPr>
          <a:xfrm>
            <a:off x="7366139" y="4075170"/>
            <a:ext cx="214482" cy="824417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denoising-attention-denoise-stage-3-temporal"/>
          <p:cNvSpPr/>
          <p:nvPr/>
        </p:nvSpPr>
        <p:spPr>
          <a:xfrm>
            <a:off x="7346031" y="4055062"/>
            <a:ext cx="214482" cy="824417"/>
          </a:xfrm>
          <a:prstGeom prst="roundRect">
            <a:avLst/>
          </a:prstGeom>
          <a:solidFill>
            <a:srgbClr val="F8C49D"/>
          </a:solidFill>
          <a:ln w="2095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denoising-attention-denoise-stage-4-spatial-shadow"/>
          <p:cNvSpPr/>
          <p:nvPr/>
        </p:nvSpPr>
        <p:spPr>
          <a:xfrm>
            <a:off x="8197259" y="3760148"/>
            <a:ext cx="214482" cy="1441055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denoising-attention-denoise-stage-4-spatial"/>
          <p:cNvSpPr/>
          <p:nvPr/>
        </p:nvSpPr>
        <p:spPr>
          <a:xfrm>
            <a:off x="8177151" y="3740041"/>
            <a:ext cx="214482" cy="1441055"/>
          </a:xfrm>
          <a:prstGeom prst="roundRect">
            <a:avLst/>
          </a:prstGeom>
          <a:solidFill>
            <a:srgbClr val="91A7D0"/>
          </a:solidFill>
          <a:ln w="20955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denoising-attention-denoise-stage-4-cross-shadow"/>
          <p:cNvSpPr/>
          <p:nvPr/>
        </p:nvSpPr>
        <p:spPr>
          <a:xfrm>
            <a:off x="8458660" y="3760148"/>
            <a:ext cx="214482" cy="1441055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denoising-attention-denoise-stage-4-cross"/>
          <p:cNvSpPr/>
          <p:nvPr/>
        </p:nvSpPr>
        <p:spPr>
          <a:xfrm>
            <a:off x="8438552" y="3740041"/>
            <a:ext cx="214482" cy="1441055"/>
          </a:xfrm>
          <a:prstGeom prst="roundRect">
            <a:avLst/>
          </a:prstGeom>
          <a:solidFill>
            <a:srgbClr val="CBE3D3"/>
          </a:solidFill>
          <a:ln w="2095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denoising-attention-denoise-stage-4-temporal-shadow"/>
          <p:cNvSpPr/>
          <p:nvPr/>
        </p:nvSpPr>
        <p:spPr>
          <a:xfrm>
            <a:off x="8720060" y="3760148"/>
            <a:ext cx="214482" cy="1441055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denoising-attention-denoise-stage-4-temporal"/>
          <p:cNvSpPr/>
          <p:nvPr/>
        </p:nvSpPr>
        <p:spPr>
          <a:xfrm>
            <a:off x="8699953" y="3740041"/>
            <a:ext cx="214482" cy="1441055"/>
          </a:xfrm>
          <a:prstGeom prst="roundRect">
            <a:avLst/>
          </a:prstGeom>
          <a:solidFill>
            <a:srgbClr val="F8C49D"/>
          </a:solidFill>
          <a:ln w="2095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denoising-attention-denoise-ellipsis-1-0"/>
          <p:cNvSpPr/>
          <p:nvPr/>
        </p:nvSpPr>
        <p:spPr>
          <a:xfrm>
            <a:off x="4465931" y="4452525"/>
            <a:ext cx="36193" cy="36193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denoising-attention-denoise-ellipsis-1-1"/>
          <p:cNvSpPr/>
          <p:nvPr/>
        </p:nvSpPr>
        <p:spPr>
          <a:xfrm>
            <a:off x="4573172" y="4452525"/>
            <a:ext cx="36193" cy="36193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denoising-attention-denoise-ellipsis-1-2"/>
          <p:cNvSpPr/>
          <p:nvPr/>
        </p:nvSpPr>
        <p:spPr>
          <a:xfrm>
            <a:off x="4680413" y="4452525"/>
            <a:ext cx="36193" cy="36193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denoising-attention-denoise-ellipsis-2-0"/>
          <p:cNvSpPr/>
          <p:nvPr/>
        </p:nvSpPr>
        <p:spPr>
          <a:xfrm>
            <a:off x="6134874" y="4452525"/>
            <a:ext cx="36193" cy="36193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denoising-attention-denoise-ellipsis-2-1"/>
          <p:cNvSpPr/>
          <p:nvPr/>
        </p:nvSpPr>
        <p:spPr>
          <a:xfrm>
            <a:off x="6242115" y="4452525"/>
            <a:ext cx="36193" cy="36193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denoising-attention-denoise-ellipsis-2-2"/>
          <p:cNvSpPr/>
          <p:nvPr/>
        </p:nvSpPr>
        <p:spPr>
          <a:xfrm>
            <a:off x="6349357" y="4452525"/>
            <a:ext cx="36193" cy="36193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denoising-attention-denoise-ellipsis-3-0"/>
          <p:cNvSpPr/>
          <p:nvPr/>
        </p:nvSpPr>
        <p:spPr>
          <a:xfrm>
            <a:off x="7736791" y="4452525"/>
            <a:ext cx="36193" cy="36193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denoising-attention-denoise-ellipsis-3-1"/>
          <p:cNvSpPr/>
          <p:nvPr/>
        </p:nvSpPr>
        <p:spPr>
          <a:xfrm>
            <a:off x="7844033" y="4452525"/>
            <a:ext cx="36193" cy="36193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denoising-attention-denoise-ellipsis-3-2"/>
          <p:cNvSpPr/>
          <p:nvPr/>
        </p:nvSpPr>
        <p:spPr>
          <a:xfrm>
            <a:off x="7951274" y="4452525"/>
            <a:ext cx="36193" cy="36193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masks-mask-label"/>
          <p:cNvSpPr txBox="1"/>
          <p:nvPr/>
        </p:nvSpPr>
        <p:spPr>
          <a:xfrm>
            <a:off x="4155601" y="5442497"/>
            <a:ext cx="1172952" cy="2815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77" b="1" i="0">
                <a:solidFill>
                  <a:srgbClr val="222222"/>
                </a:solidFill>
                <a:latin typeface="DejaVu Sans Mono"/>
              </a:defRPr>
            </a:pPr>
            <a:r>
              <a:t>Mask</a:t>
            </a:r>
          </a:p>
        </p:txBody>
      </p:sp>
      <p:sp>
        <p:nvSpPr>
          <p:cNvPr id="199" name="masks-mask-reference-back-2"/>
          <p:cNvSpPr/>
          <p:nvPr/>
        </p:nvSpPr>
        <p:spPr>
          <a:xfrm>
            <a:off x="3733338" y="5710600"/>
            <a:ext cx="971874" cy="924956"/>
          </a:xfrm>
          <a:prstGeom prst="rect">
            <a:avLst/>
          </a:prstGeom>
          <a:solidFill>
            <a:srgbClr val="080808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masks-mask-reference-back-1"/>
          <p:cNvSpPr/>
          <p:nvPr/>
        </p:nvSpPr>
        <p:spPr>
          <a:xfrm>
            <a:off x="3699825" y="5744113"/>
            <a:ext cx="971874" cy="924956"/>
          </a:xfrm>
          <a:prstGeom prst="rect">
            <a:avLst/>
          </a:prstGeom>
          <a:solidFill>
            <a:srgbClr val="080808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masks-mask-reference"/>
          <p:cNvSpPr/>
          <p:nvPr/>
        </p:nvSpPr>
        <p:spPr>
          <a:xfrm>
            <a:off x="3666313" y="5777626"/>
            <a:ext cx="971874" cy="924956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masks-mask-reference-orange-head"/>
          <p:cNvSpPr/>
          <p:nvPr/>
        </p:nvSpPr>
        <p:spPr>
          <a:xfrm>
            <a:off x="3949162" y="6025621"/>
            <a:ext cx="104560" cy="104560"/>
          </a:xfrm>
          <a:prstGeom prst="ellipse">
            <a:avLst/>
          </a:prstGeom>
          <a:solidFill>
            <a:srgbClr val="FF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masks-mask-reference-orange-torso"/>
          <p:cNvSpPr/>
          <p:nvPr/>
        </p:nvSpPr>
        <p:spPr>
          <a:xfrm>
            <a:off x="3914309" y="6166376"/>
            <a:ext cx="174267" cy="201077"/>
          </a:xfrm>
          <a:custGeom>
            <a:avLst/>
            <a:gdLst/>
            <a:ahLst/>
            <a:cxnLst/>
            <a:rect l="l" t="t" r="r" b="b"/>
            <a:pathLst>
              <a:path w="26" h="30">
                <a:moveTo>
                  <a:pt x="0" y="0"/>
                </a:moveTo>
                <a:lnTo>
                  <a:pt x="26" y="0"/>
                </a:lnTo>
                <a:lnTo>
                  <a:pt x="21" y="30"/>
                </a:lnTo>
                <a:lnTo>
                  <a:pt x="5" y="30"/>
                </a:lnTo>
                <a:close/>
              </a:path>
            </a:pathLst>
          </a:custGeom>
          <a:solidFill>
            <a:srgbClr val="FF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4" name="mask-reference-orange-limb-0-segment-1"/>
          <p:cNvCxnSpPr/>
          <p:nvPr/>
        </p:nvCxnSpPr>
        <p:spPr>
          <a:xfrm flipH="1">
            <a:off x="3880795" y="6166376"/>
            <a:ext cx="32173" cy="120646"/>
          </a:xfrm>
          <a:prstGeom prst="line">
            <a:avLst/>
          </a:prstGeom>
          <a:ln w="97155" cap="rnd">
            <a:solidFill>
              <a:srgbClr val="FF8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mask-reference-orange-limb-0-segment-2"/>
          <p:cNvCxnSpPr/>
          <p:nvPr/>
        </p:nvCxnSpPr>
        <p:spPr>
          <a:xfrm flipH="1">
            <a:off x="3856666" y="6287022"/>
            <a:ext cx="24129" cy="136733"/>
          </a:xfrm>
          <a:prstGeom prst="line">
            <a:avLst/>
          </a:prstGeom>
          <a:ln w="97155" cap="rnd">
            <a:solidFill>
              <a:srgbClr val="FF8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mask-reference-orange-limb-1-segment-1"/>
          <p:cNvCxnSpPr/>
          <p:nvPr/>
        </p:nvCxnSpPr>
        <p:spPr>
          <a:xfrm>
            <a:off x="4089916" y="6166376"/>
            <a:ext cx="40215" cy="120646"/>
          </a:xfrm>
          <a:prstGeom prst="line">
            <a:avLst/>
          </a:prstGeom>
          <a:ln w="97155" cap="rnd">
            <a:solidFill>
              <a:srgbClr val="FF8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mask-reference-orange-limb-1-segment-2"/>
          <p:cNvCxnSpPr/>
          <p:nvPr/>
        </p:nvCxnSpPr>
        <p:spPr>
          <a:xfrm>
            <a:off x="4130131" y="6287022"/>
            <a:ext cx="32173" cy="136733"/>
          </a:xfrm>
          <a:prstGeom prst="line">
            <a:avLst/>
          </a:prstGeom>
          <a:ln w="97155" cap="rnd">
            <a:solidFill>
              <a:srgbClr val="FF8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mask-reference-orange-limb-2-segment-1"/>
          <p:cNvCxnSpPr/>
          <p:nvPr/>
        </p:nvCxnSpPr>
        <p:spPr>
          <a:xfrm>
            <a:off x="3945140" y="6367453"/>
            <a:ext cx="0" cy="152819"/>
          </a:xfrm>
          <a:prstGeom prst="line">
            <a:avLst/>
          </a:prstGeom>
          <a:ln w="97155" cap="rnd">
            <a:solidFill>
              <a:srgbClr val="FF8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mask-reference-orange-limb-2-segment-2"/>
          <p:cNvCxnSpPr/>
          <p:nvPr/>
        </p:nvCxnSpPr>
        <p:spPr>
          <a:xfrm flipH="1">
            <a:off x="3929054" y="6520272"/>
            <a:ext cx="16086" cy="152819"/>
          </a:xfrm>
          <a:prstGeom prst="line">
            <a:avLst/>
          </a:prstGeom>
          <a:ln w="97155" cap="rnd">
            <a:solidFill>
              <a:srgbClr val="FF8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mask-reference-orange-limb-3-segment-1"/>
          <p:cNvCxnSpPr/>
          <p:nvPr/>
        </p:nvCxnSpPr>
        <p:spPr>
          <a:xfrm>
            <a:off x="4057743" y="6367453"/>
            <a:ext cx="8044" cy="144776"/>
          </a:xfrm>
          <a:prstGeom prst="line">
            <a:avLst/>
          </a:prstGeom>
          <a:ln w="97155" cap="rnd">
            <a:solidFill>
              <a:srgbClr val="FF8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mask-reference-orange-limb-3-segment-2"/>
          <p:cNvCxnSpPr/>
          <p:nvPr/>
        </p:nvCxnSpPr>
        <p:spPr>
          <a:xfrm>
            <a:off x="4065787" y="6512229"/>
            <a:ext cx="8043" cy="160862"/>
          </a:xfrm>
          <a:prstGeom prst="line">
            <a:avLst/>
          </a:prstGeom>
          <a:ln w="97155" cap="rnd">
            <a:solidFill>
              <a:srgbClr val="FF8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masks-mask-reference-blue-head"/>
          <p:cNvSpPr/>
          <p:nvPr/>
        </p:nvSpPr>
        <p:spPr>
          <a:xfrm>
            <a:off x="4290993" y="6025621"/>
            <a:ext cx="104560" cy="104560"/>
          </a:xfrm>
          <a:prstGeom prst="ellipse">
            <a:avLst/>
          </a:prstGeom>
          <a:solidFill>
            <a:srgbClr val="12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masks-mask-reference-blue-torso"/>
          <p:cNvSpPr/>
          <p:nvPr/>
        </p:nvSpPr>
        <p:spPr>
          <a:xfrm>
            <a:off x="4256140" y="6166376"/>
            <a:ext cx="174267" cy="201077"/>
          </a:xfrm>
          <a:custGeom>
            <a:avLst/>
            <a:gdLst/>
            <a:ahLst/>
            <a:cxnLst/>
            <a:rect l="l" t="t" r="r" b="b"/>
            <a:pathLst>
              <a:path w="26" h="30">
                <a:moveTo>
                  <a:pt x="0" y="0"/>
                </a:moveTo>
                <a:lnTo>
                  <a:pt x="26" y="0"/>
                </a:lnTo>
                <a:lnTo>
                  <a:pt x="21" y="30"/>
                </a:lnTo>
                <a:lnTo>
                  <a:pt x="5" y="30"/>
                </a:lnTo>
                <a:close/>
              </a:path>
            </a:pathLst>
          </a:custGeom>
          <a:solidFill>
            <a:srgbClr val="12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mask-reference-blue-limb-0-segment-1"/>
          <p:cNvCxnSpPr/>
          <p:nvPr/>
        </p:nvCxnSpPr>
        <p:spPr>
          <a:xfrm flipH="1">
            <a:off x="4222627" y="6166376"/>
            <a:ext cx="32172" cy="120646"/>
          </a:xfrm>
          <a:prstGeom prst="line">
            <a:avLst/>
          </a:prstGeom>
          <a:ln w="97155" cap="rnd">
            <a:solidFill>
              <a:srgbClr val="126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mask-reference-blue-limb-0-segment-2"/>
          <p:cNvCxnSpPr/>
          <p:nvPr/>
        </p:nvCxnSpPr>
        <p:spPr>
          <a:xfrm flipH="1">
            <a:off x="4198498" y="6287022"/>
            <a:ext cx="24129" cy="136733"/>
          </a:xfrm>
          <a:prstGeom prst="line">
            <a:avLst/>
          </a:prstGeom>
          <a:ln w="97155" cap="rnd">
            <a:solidFill>
              <a:srgbClr val="126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mask-reference-blue-limb-1-segment-1"/>
          <p:cNvCxnSpPr/>
          <p:nvPr/>
        </p:nvCxnSpPr>
        <p:spPr>
          <a:xfrm>
            <a:off x="4431748" y="6166376"/>
            <a:ext cx="40215" cy="120646"/>
          </a:xfrm>
          <a:prstGeom prst="line">
            <a:avLst/>
          </a:prstGeom>
          <a:ln w="97155" cap="rnd">
            <a:solidFill>
              <a:srgbClr val="126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mask-reference-blue-limb-1-segment-2"/>
          <p:cNvCxnSpPr/>
          <p:nvPr/>
        </p:nvCxnSpPr>
        <p:spPr>
          <a:xfrm>
            <a:off x="4471963" y="6287022"/>
            <a:ext cx="32172" cy="136733"/>
          </a:xfrm>
          <a:prstGeom prst="line">
            <a:avLst/>
          </a:prstGeom>
          <a:ln w="97155" cap="rnd">
            <a:solidFill>
              <a:srgbClr val="126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mask-reference-blue-limb-2-segment-1"/>
          <p:cNvCxnSpPr/>
          <p:nvPr/>
        </p:nvCxnSpPr>
        <p:spPr>
          <a:xfrm>
            <a:off x="4286972" y="6367453"/>
            <a:ext cx="0" cy="152819"/>
          </a:xfrm>
          <a:prstGeom prst="line">
            <a:avLst/>
          </a:prstGeom>
          <a:ln w="97155" cap="rnd">
            <a:solidFill>
              <a:srgbClr val="126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mask-reference-blue-limb-2-segment-2"/>
          <p:cNvCxnSpPr/>
          <p:nvPr/>
        </p:nvCxnSpPr>
        <p:spPr>
          <a:xfrm flipH="1">
            <a:off x="4270886" y="6520272"/>
            <a:ext cx="16086" cy="152819"/>
          </a:xfrm>
          <a:prstGeom prst="line">
            <a:avLst/>
          </a:prstGeom>
          <a:ln w="97155" cap="rnd">
            <a:solidFill>
              <a:srgbClr val="126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mask-reference-blue-limb-3-segment-1"/>
          <p:cNvCxnSpPr/>
          <p:nvPr/>
        </p:nvCxnSpPr>
        <p:spPr>
          <a:xfrm>
            <a:off x="4399575" y="6367453"/>
            <a:ext cx="8043" cy="144776"/>
          </a:xfrm>
          <a:prstGeom prst="line">
            <a:avLst/>
          </a:prstGeom>
          <a:ln w="97155" cap="rnd">
            <a:solidFill>
              <a:srgbClr val="126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mask-reference-blue-limb-3-segment-2"/>
          <p:cNvCxnSpPr/>
          <p:nvPr/>
        </p:nvCxnSpPr>
        <p:spPr>
          <a:xfrm>
            <a:off x="4407618" y="6512229"/>
            <a:ext cx="8043" cy="160862"/>
          </a:xfrm>
          <a:prstGeom prst="line">
            <a:avLst/>
          </a:prstGeom>
          <a:ln w="97155" cap="rnd">
            <a:solidFill>
              <a:srgbClr val="126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masks-mask-target-back-2"/>
          <p:cNvSpPr/>
          <p:nvPr/>
        </p:nvSpPr>
        <p:spPr>
          <a:xfrm>
            <a:off x="4819157" y="5710600"/>
            <a:ext cx="971874" cy="924956"/>
          </a:xfrm>
          <a:prstGeom prst="rect">
            <a:avLst/>
          </a:prstGeom>
          <a:solidFill>
            <a:srgbClr val="080808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masks-mask-target-back-1"/>
          <p:cNvSpPr/>
          <p:nvPr/>
        </p:nvSpPr>
        <p:spPr>
          <a:xfrm>
            <a:off x="4785644" y="5744113"/>
            <a:ext cx="971874" cy="924956"/>
          </a:xfrm>
          <a:prstGeom prst="rect">
            <a:avLst/>
          </a:prstGeom>
          <a:solidFill>
            <a:srgbClr val="080808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masks-mask-target"/>
          <p:cNvSpPr/>
          <p:nvPr/>
        </p:nvSpPr>
        <p:spPr>
          <a:xfrm>
            <a:off x="4752131" y="5777626"/>
            <a:ext cx="971874" cy="924956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masks-mask-target-blue-head"/>
          <p:cNvSpPr/>
          <p:nvPr/>
        </p:nvSpPr>
        <p:spPr>
          <a:xfrm>
            <a:off x="4975662" y="6058129"/>
            <a:ext cx="95846" cy="95846"/>
          </a:xfrm>
          <a:prstGeom prst="ellipse">
            <a:avLst/>
          </a:prstGeom>
          <a:solidFill>
            <a:srgbClr val="12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masks-mask-target-blue-torso"/>
          <p:cNvSpPr/>
          <p:nvPr/>
        </p:nvSpPr>
        <p:spPr>
          <a:xfrm>
            <a:off x="4946506" y="6193187"/>
            <a:ext cx="187672" cy="174267"/>
          </a:xfrm>
          <a:custGeom>
            <a:avLst/>
            <a:gdLst/>
            <a:ahLst/>
            <a:cxnLst/>
            <a:rect l="l" t="t" r="r" b="b"/>
            <a:pathLst>
              <a:path w="28" h="26">
                <a:moveTo>
                  <a:pt x="0" y="0"/>
                </a:moveTo>
                <a:lnTo>
                  <a:pt x="28" y="4"/>
                </a:lnTo>
                <a:lnTo>
                  <a:pt x="26" y="26"/>
                </a:lnTo>
                <a:lnTo>
                  <a:pt x="8" y="26"/>
                </a:lnTo>
                <a:close/>
              </a:path>
            </a:pathLst>
          </a:custGeom>
          <a:solidFill>
            <a:srgbClr val="12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7" name="mask-target-blue-limb-0-segment-1"/>
          <p:cNvCxnSpPr/>
          <p:nvPr/>
        </p:nvCxnSpPr>
        <p:spPr>
          <a:xfrm flipH="1" flipV="1">
            <a:off x="4831892" y="6187154"/>
            <a:ext cx="117965" cy="7373"/>
          </a:xfrm>
          <a:prstGeom prst="line">
            <a:avLst/>
          </a:prstGeom>
          <a:ln w="89058" cap="rnd">
            <a:solidFill>
              <a:srgbClr val="126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mask-target-blue-limb-0-segment-2"/>
          <p:cNvCxnSpPr/>
          <p:nvPr/>
        </p:nvCxnSpPr>
        <p:spPr>
          <a:xfrm flipH="1" flipV="1">
            <a:off x="4743418" y="6157662"/>
            <a:ext cx="88474" cy="29492"/>
          </a:xfrm>
          <a:prstGeom prst="line">
            <a:avLst/>
          </a:prstGeom>
          <a:ln w="89058" cap="rnd">
            <a:solidFill>
              <a:srgbClr val="126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mask-target-blue-limb-1-segment-1"/>
          <p:cNvCxnSpPr/>
          <p:nvPr/>
        </p:nvCxnSpPr>
        <p:spPr>
          <a:xfrm>
            <a:off x="5134178" y="6216645"/>
            <a:ext cx="95847" cy="58983"/>
          </a:xfrm>
          <a:prstGeom prst="line">
            <a:avLst/>
          </a:prstGeom>
          <a:ln w="89058" cap="rnd">
            <a:solidFill>
              <a:srgbClr val="126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mask-target-blue-limb-1-segment-2"/>
          <p:cNvCxnSpPr/>
          <p:nvPr/>
        </p:nvCxnSpPr>
        <p:spPr>
          <a:xfrm>
            <a:off x="5230025" y="6275628"/>
            <a:ext cx="110593" cy="66355"/>
          </a:xfrm>
          <a:prstGeom prst="line">
            <a:avLst/>
          </a:prstGeom>
          <a:ln w="89058" cap="rnd">
            <a:solidFill>
              <a:srgbClr val="126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mask-target-blue-limb-2-segment-1"/>
          <p:cNvCxnSpPr/>
          <p:nvPr/>
        </p:nvCxnSpPr>
        <p:spPr>
          <a:xfrm flipH="1">
            <a:off x="4920366" y="6364102"/>
            <a:ext cx="81101" cy="117965"/>
          </a:xfrm>
          <a:prstGeom prst="line">
            <a:avLst/>
          </a:prstGeom>
          <a:ln w="89058" cap="rnd">
            <a:solidFill>
              <a:srgbClr val="126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mask-target-blue-limb-2-segment-2"/>
          <p:cNvCxnSpPr/>
          <p:nvPr/>
        </p:nvCxnSpPr>
        <p:spPr>
          <a:xfrm flipH="1">
            <a:off x="4839265" y="6482067"/>
            <a:ext cx="81101" cy="125339"/>
          </a:xfrm>
          <a:prstGeom prst="line">
            <a:avLst/>
          </a:prstGeom>
          <a:ln w="89058" cap="rnd">
            <a:solidFill>
              <a:srgbClr val="126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mask-target-blue-limb-3-segment-1"/>
          <p:cNvCxnSpPr/>
          <p:nvPr/>
        </p:nvCxnSpPr>
        <p:spPr>
          <a:xfrm flipH="1">
            <a:off x="5112060" y="6364102"/>
            <a:ext cx="7373" cy="147457"/>
          </a:xfrm>
          <a:prstGeom prst="line">
            <a:avLst/>
          </a:prstGeom>
          <a:ln w="89058" cap="rnd">
            <a:solidFill>
              <a:srgbClr val="126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mask-target-blue-limb-3-segment-2"/>
          <p:cNvCxnSpPr/>
          <p:nvPr/>
        </p:nvCxnSpPr>
        <p:spPr>
          <a:xfrm>
            <a:off x="5112060" y="6511559"/>
            <a:ext cx="44237" cy="132711"/>
          </a:xfrm>
          <a:prstGeom prst="line">
            <a:avLst/>
          </a:prstGeom>
          <a:ln w="89058" cap="rnd">
            <a:solidFill>
              <a:srgbClr val="126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masks-mask-target-orange-head"/>
          <p:cNvSpPr/>
          <p:nvPr/>
        </p:nvSpPr>
        <p:spPr>
          <a:xfrm>
            <a:off x="5367763" y="6051426"/>
            <a:ext cx="95846" cy="95846"/>
          </a:xfrm>
          <a:prstGeom prst="ellipse">
            <a:avLst/>
          </a:prstGeom>
          <a:solidFill>
            <a:srgbClr val="FF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masks-mask-target-orange-torso"/>
          <p:cNvSpPr/>
          <p:nvPr/>
        </p:nvSpPr>
        <p:spPr>
          <a:xfrm>
            <a:off x="5335256" y="6193187"/>
            <a:ext cx="167565" cy="160862"/>
          </a:xfrm>
          <a:custGeom>
            <a:avLst/>
            <a:gdLst/>
            <a:ahLst/>
            <a:cxnLst/>
            <a:rect l="l" t="t" r="r" b="b"/>
            <a:pathLst>
              <a:path w="25" h="24">
                <a:moveTo>
                  <a:pt x="0" y="0"/>
                </a:moveTo>
                <a:lnTo>
                  <a:pt x="25" y="1"/>
                </a:lnTo>
                <a:lnTo>
                  <a:pt x="20" y="24"/>
                </a:lnTo>
                <a:lnTo>
                  <a:pt x="4" y="24"/>
                </a:lnTo>
                <a:close/>
              </a:path>
            </a:pathLst>
          </a:custGeom>
          <a:solidFill>
            <a:srgbClr val="FF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7" name="mask-target-orange-limb-0-segment-1"/>
          <p:cNvCxnSpPr/>
          <p:nvPr/>
        </p:nvCxnSpPr>
        <p:spPr>
          <a:xfrm flipH="1">
            <a:off x="5246111" y="6195197"/>
            <a:ext cx="88475" cy="58983"/>
          </a:xfrm>
          <a:prstGeom prst="line">
            <a:avLst/>
          </a:prstGeom>
          <a:ln w="89058" cap="rnd">
            <a:solidFill>
              <a:srgbClr val="FF8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mask-target-orange-limb-0-segment-2"/>
          <p:cNvCxnSpPr/>
          <p:nvPr/>
        </p:nvCxnSpPr>
        <p:spPr>
          <a:xfrm flipH="1" flipV="1">
            <a:off x="5157637" y="6224688"/>
            <a:ext cx="88474" cy="29492"/>
          </a:xfrm>
          <a:prstGeom prst="line">
            <a:avLst/>
          </a:prstGeom>
          <a:ln w="89058" cap="rnd">
            <a:solidFill>
              <a:srgbClr val="FF8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mask-target-orange-limb-1-segment-1"/>
          <p:cNvCxnSpPr/>
          <p:nvPr/>
        </p:nvCxnSpPr>
        <p:spPr>
          <a:xfrm>
            <a:off x="5504161" y="6202570"/>
            <a:ext cx="88474" cy="81101"/>
          </a:xfrm>
          <a:prstGeom prst="line">
            <a:avLst/>
          </a:prstGeom>
          <a:ln w="89058" cap="rnd">
            <a:solidFill>
              <a:srgbClr val="FF8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mask-target-orange-limb-1-segment-2"/>
          <p:cNvCxnSpPr/>
          <p:nvPr/>
        </p:nvCxnSpPr>
        <p:spPr>
          <a:xfrm>
            <a:off x="5592635" y="6283671"/>
            <a:ext cx="110593" cy="29491"/>
          </a:xfrm>
          <a:prstGeom prst="line">
            <a:avLst/>
          </a:prstGeom>
          <a:ln w="89058" cap="rnd">
            <a:solidFill>
              <a:srgbClr val="FF8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mask-target-orange-limb-2-segment-1"/>
          <p:cNvCxnSpPr/>
          <p:nvPr/>
        </p:nvCxnSpPr>
        <p:spPr>
          <a:xfrm>
            <a:off x="5364077" y="6357399"/>
            <a:ext cx="36864" cy="147457"/>
          </a:xfrm>
          <a:prstGeom prst="line">
            <a:avLst/>
          </a:prstGeom>
          <a:ln w="89058" cap="rnd">
            <a:solidFill>
              <a:srgbClr val="FF8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mask-target-orange-limb-2-segment-2"/>
          <p:cNvCxnSpPr/>
          <p:nvPr/>
        </p:nvCxnSpPr>
        <p:spPr>
          <a:xfrm flipH="1">
            <a:off x="5341958" y="6504856"/>
            <a:ext cx="58983" cy="125338"/>
          </a:xfrm>
          <a:prstGeom prst="line">
            <a:avLst/>
          </a:prstGeom>
          <a:ln w="89058" cap="rnd">
            <a:solidFill>
              <a:srgbClr val="FF8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mask-target-orange-limb-3-segment-1"/>
          <p:cNvCxnSpPr/>
          <p:nvPr/>
        </p:nvCxnSpPr>
        <p:spPr>
          <a:xfrm>
            <a:off x="5467297" y="6357399"/>
            <a:ext cx="81101" cy="125339"/>
          </a:xfrm>
          <a:prstGeom prst="line">
            <a:avLst/>
          </a:prstGeom>
          <a:ln w="89058" cap="rnd">
            <a:solidFill>
              <a:srgbClr val="FF8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mask-target-orange-limb-3-segment-2"/>
          <p:cNvCxnSpPr/>
          <p:nvPr/>
        </p:nvCxnSpPr>
        <p:spPr>
          <a:xfrm>
            <a:off x="5548398" y="6482738"/>
            <a:ext cx="88474" cy="117965"/>
          </a:xfrm>
          <a:prstGeom prst="line">
            <a:avLst/>
          </a:prstGeom>
          <a:ln w="89058" cap="rnd">
            <a:solidFill>
              <a:srgbClr val="FF8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mask-to-construction-segment-1"/>
          <p:cNvCxnSpPr/>
          <p:nvPr/>
        </p:nvCxnSpPr>
        <p:spPr>
          <a:xfrm>
            <a:off x="5871462" y="6193186"/>
            <a:ext cx="174268" cy="0"/>
          </a:xfrm>
          <a:prstGeom prst="line">
            <a:avLst/>
          </a:prstGeom>
          <a:ln w="28575">
            <a:solidFill>
              <a:srgbClr val="77777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construction-construction-container"/>
          <p:cNvSpPr/>
          <p:nvPr/>
        </p:nvSpPr>
        <p:spPr>
          <a:xfrm>
            <a:off x="6260213" y="5214609"/>
            <a:ext cx="2808382" cy="1548297"/>
          </a:xfrm>
          <a:custGeom>
            <a:avLst/>
            <a:gdLst/>
            <a:ahLst/>
            <a:cxnLst/>
            <a:rect l="l" t="t" r="r" b="b"/>
            <a:pathLst>
              <a:path w="419" h="231">
                <a:moveTo>
                  <a:pt x="0" y="0"/>
                </a:moveTo>
                <a:lnTo>
                  <a:pt x="419" y="66"/>
                </a:lnTo>
                <a:lnTo>
                  <a:pt x="419" y="231"/>
                </a:lnTo>
                <a:lnTo>
                  <a:pt x="0" y="231"/>
                </a:lnTo>
                <a:close/>
              </a:path>
            </a:pathLst>
          </a:custGeom>
          <a:solidFill>
            <a:srgbClr val="FAFAFA"/>
          </a:solidFill>
          <a:ln w="23812">
            <a:solidFill>
              <a:srgbClr val="77777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construction-graph-first-card"/>
          <p:cNvSpPr/>
          <p:nvPr/>
        </p:nvSpPr>
        <p:spPr>
          <a:xfrm>
            <a:off x="6313833" y="5476010"/>
            <a:ext cx="723878" cy="971874"/>
          </a:xfrm>
          <a:prstGeom prst="rect">
            <a:avLst/>
          </a:prstGeom>
          <a:solidFill>
            <a:srgbClr val="E3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8" name="graph-first-blue-vertical-segment-1"/>
          <p:cNvCxnSpPr/>
          <p:nvPr/>
        </p:nvCxnSpPr>
        <p:spPr>
          <a:xfrm flipV="1">
            <a:off x="6481398" y="5683790"/>
            <a:ext cx="0" cy="603232"/>
          </a:xfrm>
          <a:prstGeom prst="line">
            <a:avLst/>
          </a:prstGeom>
          <a:ln w="20002">
            <a:solidFill>
              <a:srgbClr val="5376B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graph-first-peach-vertical-segment-1"/>
          <p:cNvCxnSpPr/>
          <p:nvPr/>
        </p:nvCxnSpPr>
        <p:spPr>
          <a:xfrm flipV="1">
            <a:off x="6923768" y="5683790"/>
            <a:ext cx="0" cy="603232"/>
          </a:xfrm>
          <a:prstGeom prst="line">
            <a:avLst/>
          </a:prstGeom>
          <a:ln w="20002">
            <a:solidFill>
              <a:srgbClr val="F08A4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graph-first-blue-cross-segment-1"/>
          <p:cNvCxnSpPr/>
          <p:nvPr/>
        </p:nvCxnSpPr>
        <p:spPr>
          <a:xfrm flipV="1">
            <a:off x="6481398" y="5683790"/>
            <a:ext cx="442370" cy="603232"/>
          </a:xfrm>
          <a:prstGeom prst="line">
            <a:avLst/>
          </a:prstGeom>
          <a:ln w="11429">
            <a:solidFill>
              <a:srgbClr val="8CA5D4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graph-first-peach-cross-segment-1"/>
          <p:cNvCxnSpPr/>
          <p:nvPr/>
        </p:nvCxnSpPr>
        <p:spPr>
          <a:xfrm flipH="1" flipV="1">
            <a:off x="6481398" y="5683790"/>
            <a:ext cx="442370" cy="603232"/>
          </a:xfrm>
          <a:prstGeom prst="line">
            <a:avLst/>
          </a:prstGeom>
          <a:ln w="11429">
            <a:solidFill>
              <a:srgbClr val="F2A26D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construction-graph-first-blue-top"/>
          <p:cNvSpPr/>
          <p:nvPr/>
        </p:nvSpPr>
        <p:spPr>
          <a:xfrm>
            <a:off x="6354048" y="5556441"/>
            <a:ext cx="254698" cy="254698"/>
          </a:xfrm>
          <a:prstGeom prst="ellipse">
            <a:avLst/>
          </a:prstGeom>
          <a:solidFill>
            <a:srgbClr val="5376B6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construction-graph-first-peach-top"/>
          <p:cNvSpPr/>
          <p:nvPr/>
        </p:nvSpPr>
        <p:spPr>
          <a:xfrm>
            <a:off x="6796419" y="5556441"/>
            <a:ext cx="254698" cy="254698"/>
          </a:xfrm>
          <a:prstGeom prst="ellipse">
            <a:avLst/>
          </a:prstGeom>
          <a:solidFill>
            <a:srgbClr val="F8C49D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construction-graph-first-blue-bottom-fill"/>
          <p:cNvSpPr/>
          <p:nvPr/>
        </p:nvSpPr>
        <p:spPr>
          <a:xfrm>
            <a:off x="6360751" y="6166376"/>
            <a:ext cx="241292" cy="241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5" name="graph-first-blue-bottom-stripe-0-segment-1"/>
          <p:cNvCxnSpPr/>
          <p:nvPr/>
        </p:nvCxnSpPr>
        <p:spPr>
          <a:xfrm flipV="1">
            <a:off x="6364370" y="6200157"/>
            <a:ext cx="173731" cy="173731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graph-first-blue-bottom-stripe-1-segment-1"/>
          <p:cNvCxnSpPr/>
          <p:nvPr/>
        </p:nvCxnSpPr>
        <p:spPr>
          <a:xfrm flipV="1">
            <a:off x="6377776" y="6200157"/>
            <a:ext cx="173731" cy="173731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graph-first-blue-bottom-stripe-2-segment-1"/>
          <p:cNvCxnSpPr/>
          <p:nvPr/>
        </p:nvCxnSpPr>
        <p:spPr>
          <a:xfrm flipV="1">
            <a:off x="6391181" y="6200157"/>
            <a:ext cx="173731" cy="173731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graph-first-blue-bottom-stripe-3-segment-1"/>
          <p:cNvCxnSpPr/>
          <p:nvPr/>
        </p:nvCxnSpPr>
        <p:spPr>
          <a:xfrm flipV="1">
            <a:off x="6404586" y="6200157"/>
            <a:ext cx="173731" cy="173731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graph-first-blue-bottom-stripe-4-segment-1"/>
          <p:cNvCxnSpPr/>
          <p:nvPr/>
        </p:nvCxnSpPr>
        <p:spPr>
          <a:xfrm flipV="1">
            <a:off x="6417991" y="6200157"/>
            <a:ext cx="173731" cy="173731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graph-first-blue-bottom-stripe-5-segment-1"/>
          <p:cNvCxnSpPr/>
          <p:nvPr/>
        </p:nvCxnSpPr>
        <p:spPr>
          <a:xfrm flipV="1">
            <a:off x="6431396" y="6200157"/>
            <a:ext cx="173731" cy="173731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construction-graph-first-blue-bottom-outline"/>
          <p:cNvSpPr/>
          <p:nvPr/>
        </p:nvSpPr>
        <p:spPr>
          <a:xfrm>
            <a:off x="6360751" y="6166376"/>
            <a:ext cx="241292" cy="241292"/>
          </a:xfrm>
          <a:prstGeom prst="ellipse">
            <a:avLst/>
          </a:prstGeom>
          <a:noFill/>
          <a:ln w="20002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construction-graph-first-peach-bottom-fill"/>
          <p:cNvSpPr/>
          <p:nvPr/>
        </p:nvSpPr>
        <p:spPr>
          <a:xfrm>
            <a:off x="6803122" y="6166376"/>
            <a:ext cx="241292" cy="241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graph-first-peach-bottom-stripe-0-segment-1"/>
          <p:cNvCxnSpPr/>
          <p:nvPr/>
        </p:nvCxnSpPr>
        <p:spPr>
          <a:xfrm flipV="1">
            <a:off x="6806741" y="6200157"/>
            <a:ext cx="173731" cy="173731"/>
          </a:xfrm>
          <a:prstGeom prst="line">
            <a:avLst/>
          </a:prstGeom>
          <a:ln w="28575">
            <a:solidFill>
              <a:srgbClr val="E99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graph-first-peach-bottom-stripe-1-segment-1"/>
          <p:cNvCxnSpPr/>
          <p:nvPr/>
        </p:nvCxnSpPr>
        <p:spPr>
          <a:xfrm flipV="1">
            <a:off x="6820146" y="6200157"/>
            <a:ext cx="173731" cy="173731"/>
          </a:xfrm>
          <a:prstGeom prst="line">
            <a:avLst/>
          </a:prstGeom>
          <a:ln w="28575">
            <a:solidFill>
              <a:srgbClr val="E99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graph-first-peach-bottom-stripe-2-segment-1"/>
          <p:cNvCxnSpPr/>
          <p:nvPr/>
        </p:nvCxnSpPr>
        <p:spPr>
          <a:xfrm flipV="1">
            <a:off x="6833551" y="6200157"/>
            <a:ext cx="173731" cy="173731"/>
          </a:xfrm>
          <a:prstGeom prst="line">
            <a:avLst/>
          </a:prstGeom>
          <a:ln w="28575">
            <a:solidFill>
              <a:srgbClr val="E99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graph-first-peach-bottom-stripe-3-segment-1"/>
          <p:cNvCxnSpPr/>
          <p:nvPr/>
        </p:nvCxnSpPr>
        <p:spPr>
          <a:xfrm flipV="1">
            <a:off x="6846956" y="6200157"/>
            <a:ext cx="173731" cy="173731"/>
          </a:xfrm>
          <a:prstGeom prst="line">
            <a:avLst/>
          </a:prstGeom>
          <a:ln w="28575">
            <a:solidFill>
              <a:srgbClr val="E99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graph-first-peach-bottom-stripe-4-segment-1"/>
          <p:cNvCxnSpPr/>
          <p:nvPr/>
        </p:nvCxnSpPr>
        <p:spPr>
          <a:xfrm flipV="1">
            <a:off x="6860362" y="6200157"/>
            <a:ext cx="173731" cy="173731"/>
          </a:xfrm>
          <a:prstGeom prst="line">
            <a:avLst/>
          </a:prstGeom>
          <a:ln w="28575">
            <a:solidFill>
              <a:srgbClr val="E99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graph-first-peach-bottom-stripe-5-segment-1"/>
          <p:cNvCxnSpPr/>
          <p:nvPr/>
        </p:nvCxnSpPr>
        <p:spPr>
          <a:xfrm flipV="1">
            <a:off x="6873767" y="6200157"/>
            <a:ext cx="173731" cy="173731"/>
          </a:xfrm>
          <a:prstGeom prst="line">
            <a:avLst/>
          </a:prstGeom>
          <a:ln w="28575">
            <a:solidFill>
              <a:srgbClr val="E99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construction-graph-first-peach-bottom-outline"/>
          <p:cNvSpPr/>
          <p:nvPr/>
        </p:nvSpPr>
        <p:spPr>
          <a:xfrm>
            <a:off x="6803122" y="6166376"/>
            <a:ext cx="241292" cy="241292"/>
          </a:xfrm>
          <a:prstGeom prst="ellipse">
            <a:avLst/>
          </a:prstGeom>
          <a:noFill/>
          <a:ln w="20002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construction-graph-last-card"/>
          <p:cNvSpPr/>
          <p:nvPr/>
        </p:nvSpPr>
        <p:spPr>
          <a:xfrm>
            <a:off x="7661052" y="5737410"/>
            <a:ext cx="723878" cy="971874"/>
          </a:xfrm>
          <a:prstGeom prst="rect">
            <a:avLst/>
          </a:prstGeom>
          <a:solidFill>
            <a:srgbClr val="E3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1" name="graph-last-blue-vertical-segment-1"/>
          <p:cNvCxnSpPr/>
          <p:nvPr/>
        </p:nvCxnSpPr>
        <p:spPr>
          <a:xfrm flipV="1">
            <a:off x="7828617" y="5945190"/>
            <a:ext cx="0" cy="603233"/>
          </a:xfrm>
          <a:prstGeom prst="line">
            <a:avLst/>
          </a:prstGeom>
          <a:ln w="20002">
            <a:solidFill>
              <a:srgbClr val="5376B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graph-last-peach-vertical-segment-1"/>
          <p:cNvCxnSpPr/>
          <p:nvPr/>
        </p:nvCxnSpPr>
        <p:spPr>
          <a:xfrm flipV="1">
            <a:off x="8270987" y="5945190"/>
            <a:ext cx="0" cy="603233"/>
          </a:xfrm>
          <a:prstGeom prst="line">
            <a:avLst/>
          </a:prstGeom>
          <a:ln w="20002">
            <a:solidFill>
              <a:srgbClr val="F08A4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graph-last-blue-cross-segment-1"/>
          <p:cNvCxnSpPr/>
          <p:nvPr/>
        </p:nvCxnSpPr>
        <p:spPr>
          <a:xfrm flipV="1">
            <a:off x="7828617" y="5945190"/>
            <a:ext cx="442370" cy="603233"/>
          </a:xfrm>
          <a:prstGeom prst="line">
            <a:avLst/>
          </a:prstGeom>
          <a:ln w="11429">
            <a:solidFill>
              <a:srgbClr val="8CA5D4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graph-last-peach-cross-segment-1"/>
          <p:cNvCxnSpPr/>
          <p:nvPr/>
        </p:nvCxnSpPr>
        <p:spPr>
          <a:xfrm flipH="1" flipV="1">
            <a:off x="7828617" y="5945190"/>
            <a:ext cx="442370" cy="603233"/>
          </a:xfrm>
          <a:prstGeom prst="line">
            <a:avLst/>
          </a:prstGeom>
          <a:ln w="11429">
            <a:solidFill>
              <a:srgbClr val="F2A26D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construction-graph-last-blue-top"/>
          <p:cNvSpPr/>
          <p:nvPr/>
        </p:nvSpPr>
        <p:spPr>
          <a:xfrm>
            <a:off x="7701268" y="5817841"/>
            <a:ext cx="254698" cy="254698"/>
          </a:xfrm>
          <a:prstGeom prst="ellipse">
            <a:avLst/>
          </a:prstGeom>
          <a:solidFill>
            <a:srgbClr val="5376B6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construction-graph-last-peach-top"/>
          <p:cNvSpPr/>
          <p:nvPr/>
        </p:nvSpPr>
        <p:spPr>
          <a:xfrm>
            <a:off x="8143638" y="5817841"/>
            <a:ext cx="254698" cy="254698"/>
          </a:xfrm>
          <a:prstGeom prst="ellipse">
            <a:avLst/>
          </a:prstGeom>
          <a:solidFill>
            <a:srgbClr val="F8C49D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construction-graph-last-blue-bottom-fill"/>
          <p:cNvSpPr/>
          <p:nvPr/>
        </p:nvSpPr>
        <p:spPr>
          <a:xfrm>
            <a:off x="7707970" y="6427776"/>
            <a:ext cx="241292" cy="241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8" name="graph-last-blue-bottom-stripe-0-segment-1"/>
          <p:cNvCxnSpPr/>
          <p:nvPr/>
        </p:nvCxnSpPr>
        <p:spPr>
          <a:xfrm flipV="1">
            <a:off x="7711590" y="6461557"/>
            <a:ext cx="173731" cy="173731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graph-last-blue-bottom-stripe-1-segment-1"/>
          <p:cNvCxnSpPr/>
          <p:nvPr/>
        </p:nvCxnSpPr>
        <p:spPr>
          <a:xfrm flipV="1">
            <a:off x="7724995" y="6461557"/>
            <a:ext cx="173731" cy="173731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graph-last-blue-bottom-stripe-2-segment-1"/>
          <p:cNvCxnSpPr/>
          <p:nvPr/>
        </p:nvCxnSpPr>
        <p:spPr>
          <a:xfrm flipV="1">
            <a:off x="7738400" y="6461557"/>
            <a:ext cx="173731" cy="173731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graph-last-blue-bottom-stripe-3-segment-1"/>
          <p:cNvCxnSpPr/>
          <p:nvPr/>
        </p:nvCxnSpPr>
        <p:spPr>
          <a:xfrm flipV="1">
            <a:off x="7751805" y="6461557"/>
            <a:ext cx="173731" cy="173731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graph-last-blue-bottom-stripe-4-segment-1"/>
          <p:cNvCxnSpPr/>
          <p:nvPr/>
        </p:nvCxnSpPr>
        <p:spPr>
          <a:xfrm flipV="1">
            <a:off x="7765210" y="6461557"/>
            <a:ext cx="173731" cy="173731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graph-last-blue-bottom-stripe-5-segment-1"/>
          <p:cNvCxnSpPr/>
          <p:nvPr/>
        </p:nvCxnSpPr>
        <p:spPr>
          <a:xfrm flipV="1">
            <a:off x="7778616" y="6461557"/>
            <a:ext cx="173730" cy="173731"/>
          </a:xfrm>
          <a:prstGeom prst="line">
            <a:avLst/>
          </a:prstGeom>
          <a:ln w="28575">
            <a:solidFill>
              <a:srgbClr val="537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construction-graph-last-blue-bottom-outline"/>
          <p:cNvSpPr/>
          <p:nvPr/>
        </p:nvSpPr>
        <p:spPr>
          <a:xfrm>
            <a:off x="7707970" y="6427776"/>
            <a:ext cx="241292" cy="241292"/>
          </a:xfrm>
          <a:prstGeom prst="ellipse">
            <a:avLst/>
          </a:prstGeom>
          <a:noFill/>
          <a:ln w="20002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construction-graph-last-peach-bottom-fill"/>
          <p:cNvSpPr/>
          <p:nvPr/>
        </p:nvSpPr>
        <p:spPr>
          <a:xfrm>
            <a:off x="8150341" y="6427776"/>
            <a:ext cx="241292" cy="2412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6" name="graph-last-peach-bottom-stripe-0-segment-1"/>
          <p:cNvCxnSpPr/>
          <p:nvPr/>
        </p:nvCxnSpPr>
        <p:spPr>
          <a:xfrm flipV="1">
            <a:off x="8153960" y="6461557"/>
            <a:ext cx="173731" cy="173731"/>
          </a:xfrm>
          <a:prstGeom prst="line">
            <a:avLst/>
          </a:prstGeom>
          <a:ln w="28575">
            <a:solidFill>
              <a:srgbClr val="E99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graph-last-peach-bottom-stripe-1-segment-1"/>
          <p:cNvCxnSpPr/>
          <p:nvPr/>
        </p:nvCxnSpPr>
        <p:spPr>
          <a:xfrm flipV="1">
            <a:off x="8167365" y="6461557"/>
            <a:ext cx="173731" cy="173731"/>
          </a:xfrm>
          <a:prstGeom prst="line">
            <a:avLst/>
          </a:prstGeom>
          <a:ln w="28575">
            <a:solidFill>
              <a:srgbClr val="E99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graph-last-peach-bottom-stripe-2-segment-1"/>
          <p:cNvCxnSpPr/>
          <p:nvPr/>
        </p:nvCxnSpPr>
        <p:spPr>
          <a:xfrm flipV="1">
            <a:off x="8180771" y="6461557"/>
            <a:ext cx="173730" cy="173731"/>
          </a:xfrm>
          <a:prstGeom prst="line">
            <a:avLst/>
          </a:prstGeom>
          <a:ln w="28575">
            <a:solidFill>
              <a:srgbClr val="E99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graph-last-peach-bottom-stripe-3-segment-1"/>
          <p:cNvCxnSpPr/>
          <p:nvPr/>
        </p:nvCxnSpPr>
        <p:spPr>
          <a:xfrm flipV="1">
            <a:off x="8194176" y="6461557"/>
            <a:ext cx="173731" cy="173731"/>
          </a:xfrm>
          <a:prstGeom prst="line">
            <a:avLst/>
          </a:prstGeom>
          <a:ln w="28575">
            <a:solidFill>
              <a:srgbClr val="E99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graph-last-peach-bottom-stripe-4-segment-1"/>
          <p:cNvCxnSpPr/>
          <p:nvPr/>
        </p:nvCxnSpPr>
        <p:spPr>
          <a:xfrm flipV="1">
            <a:off x="8207581" y="6461557"/>
            <a:ext cx="173731" cy="173731"/>
          </a:xfrm>
          <a:prstGeom prst="line">
            <a:avLst/>
          </a:prstGeom>
          <a:ln w="28575">
            <a:solidFill>
              <a:srgbClr val="E99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graph-last-peach-bottom-stripe-5-segment-1"/>
          <p:cNvCxnSpPr/>
          <p:nvPr/>
        </p:nvCxnSpPr>
        <p:spPr>
          <a:xfrm flipV="1">
            <a:off x="8220986" y="6461557"/>
            <a:ext cx="173731" cy="173731"/>
          </a:xfrm>
          <a:prstGeom prst="line">
            <a:avLst/>
          </a:prstGeom>
          <a:ln w="28575">
            <a:solidFill>
              <a:srgbClr val="E99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2" name="construction-graph-last-peach-bottom-outline"/>
          <p:cNvSpPr/>
          <p:nvPr/>
        </p:nvSpPr>
        <p:spPr>
          <a:xfrm>
            <a:off x="8150341" y="6427776"/>
            <a:ext cx="241292" cy="241292"/>
          </a:xfrm>
          <a:prstGeom prst="ellipse">
            <a:avLst/>
          </a:prstGeom>
          <a:noFill/>
          <a:ln w="20002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3" name="graph-step-arrow-segment-1"/>
          <p:cNvCxnSpPr/>
          <p:nvPr/>
        </p:nvCxnSpPr>
        <p:spPr>
          <a:xfrm>
            <a:off x="7084630" y="5958596"/>
            <a:ext cx="154159" cy="0"/>
          </a:xfrm>
          <a:prstGeom prst="line">
            <a:avLst/>
          </a:prstGeom>
          <a:ln w="28575">
            <a:solidFill>
              <a:srgbClr val="77777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construction-graph-c1"/>
          <p:cNvSpPr txBox="1"/>
          <p:nvPr/>
        </p:nvSpPr>
        <p:spPr>
          <a:xfrm>
            <a:off x="7245492" y="5770923"/>
            <a:ext cx="502693" cy="3485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3" b="0" i="1">
                <a:solidFill>
                  <a:srgbClr val="222222"/>
                </a:solidFill>
                <a:latin typeface="DejaVu Serif"/>
              </a:defRPr>
            </a:pPr>
            <a:r>
              <a:t>C⁽¹⁾</a:t>
            </a:r>
          </a:p>
        </p:txBody>
      </p:sp>
      <p:sp>
        <p:nvSpPr>
          <p:cNvPr id="295" name="construction-graph-c1-time"/>
          <p:cNvSpPr txBox="1"/>
          <p:nvPr/>
        </p:nvSpPr>
        <p:spPr>
          <a:xfrm>
            <a:off x="7077927" y="6233402"/>
            <a:ext cx="435667" cy="2412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6" b="1" i="0">
                <a:solidFill>
                  <a:srgbClr val="222222"/>
                </a:solidFill>
                <a:latin typeface="DejaVu Sans Mono"/>
              </a:defRPr>
            </a:pPr>
            <a:r>
              <a:t>xT</a:t>
            </a:r>
          </a:p>
        </p:txBody>
      </p:sp>
      <p:cxnSp>
        <p:nvCxnSpPr>
          <p:cNvPr id="296" name="graph-last-step-arrow-segment-1"/>
          <p:cNvCxnSpPr/>
          <p:nvPr/>
        </p:nvCxnSpPr>
        <p:spPr>
          <a:xfrm>
            <a:off x="8418444" y="6233402"/>
            <a:ext cx="147457" cy="0"/>
          </a:xfrm>
          <a:prstGeom prst="line">
            <a:avLst/>
          </a:prstGeom>
          <a:ln w="28575">
            <a:solidFill>
              <a:srgbClr val="77777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construction-graph-cn"/>
          <p:cNvSpPr txBox="1"/>
          <p:nvPr/>
        </p:nvSpPr>
        <p:spPr>
          <a:xfrm>
            <a:off x="8545793" y="6039027"/>
            <a:ext cx="516098" cy="3485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3" b="0" i="1">
                <a:solidFill>
                  <a:srgbClr val="222222"/>
                </a:solidFill>
                <a:latin typeface="DejaVu Serif"/>
              </a:defRPr>
            </a:pPr>
            <a:r>
              <a:t>C⁽ᴺ⁾</a:t>
            </a:r>
          </a:p>
        </p:txBody>
      </p:sp>
      <p:sp>
        <p:nvSpPr>
          <p:cNvPr id="298" name="construction-graph-cn-time"/>
          <p:cNvSpPr txBox="1"/>
          <p:nvPr/>
        </p:nvSpPr>
        <p:spPr>
          <a:xfrm>
            <a:off x="8458660" y="6481397"/>
            <a:ext cx="402154" cy="2278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66" b="1" i="0">
                <a:solidFill>
                  <a:srgbClr val="222222"/>
                </a:solidFill>
                <a:latin typeface="DejaVu Sans Mono"/>
              </a:defRPr>
            </a:pPr>
            <a:r>
              <a:t>xT</a:t>
            </a:r>
          </a:p>
        </p:txBody>
      </p:sp>
      <p:cxnSp>
        <p:nvCxnSpPr>
          <p:cNvPr id="299" name="intermediate-to-first-segment-1"/>
          <p:cNvCxnSpPr/>
          <p:nvPr/>
        </p:nvCxnSpPr>
        <p:spPr>
          <a:xfrm flipH="1">
            <a:off x="6776311" y="4899588"/>
            <a:ext cx="160862" cy="113943"/>
          </a:xfrm>
          <a:prstGeom prst="line">
            <a:avLst/>
          </a:prstGeom>
          <a:ln w="28575">
            <a:solidFill>
              <a:srgbClr val="C21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intermediate-to-first-segment-2"/>
          <p:cNvCxnSpPr/>
          <p:nvPr/>
        </p:nvCxnSpPr>
        <p:spPr>
          <a:xfrm flipH="1">
            <a:off x="6669070" y="5013531"/>
            <a:ext cx="107241" cy="160862"/>
          </a:xfrm>
          <a:prstGeom prst="line">
            <a:avLst/>
          </a:prstGeom>
          <a:ln w="28575">
            <a:solidFill>
              <a:srgbClr val="C21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intermediate-to-first-segment-3"/>
          <p:cNvCxnSpPr/>
          <p:nvPr/>
        </p:nvCxnSpPr>
        <p:spPr>
          <a:xfrm flipH="1">
            <a:off x="6662367" y="5174393"/>
            <a:ext cx="6703" cy="174268"/>
          </a:xfrm>
          <a:prstGeom prst="line">
            <a:avLst/>
          </a:prstGeom>
          <a:ln w="28575">
            <a:solidFill>
              <a:srgbClr val="C21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intermediate-to-first-segment-4"/>
          <p:cNvCxnSpPr/>
          <p:nvPr/>
        </p:nvCxnSpPr>
        <p:spPr>
          <a:xfrm>
            <a:off x="6662367" y="5348661"/>
            <a:ext cx="53621" cy="107241"/>
          </a:xfrm>
          <a:prstGeom prst="line">
            <a:avLst/>
          </a:prstGeom>
          <a:ln w="28575">
            <a:solidFill>
              <a:srgbClr val="C2183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gradient-from-first-segment-1"/>
          <p:cNvCxnSpPr/>
          <p:nvPr/>
        </p:nvCxnSpPr>
        <p:spPr>
          <a:xfrm flipV="1">
            <a:off x="7305815" y="5596656"/>
            <a:ext cx="100539" cy="167565"/>
          </a:xfrm>
          <a:prstGeom prst="line">
            <a:avLst/>
          </a:prstGeom>
          <a:ln w="28575">
            <a:solidFill>
              <a:srgbClr val="F4A3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gradient-from-first-segment-2"/>
          <p:cNvCxnSpPr/>
          <p:nvPr/>
        </p:nvCxnSpPr>
        <p:spPr>
          <a:xfrm flipV="1">
            <a:off x="7406354" y="5402281"/>
            <a:ext cx="33513" cy="194375"/>
          </a:xfrm>
          <a:prstGeom prst="line">
            <a:avLst/>
          </a:prstGeom>
          <a:ln w="28575">
            <a:solidFill>
              <a:srgbClr val="F4A3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gradient-from-first-segment-3"/>
          <p:cNvCxnSpPr/>
          <p:nvPr/>
        </p:nvCxnSpPr>
        <p:spPr>
          <a:xfrm flipH="1" flipV="1">
            <a:off x="7359436" y="5221312"/>
            <a:ext cx="80431" cy="180969"/>
          </a:xfrm>
          <a:prstGeom prst="line">
            <a:avLst/>
          </a:prstGeom>
          <a:ln w="28575">
            <a:solidFill>
              <a:srgbClr val="F4A3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gradient-from-first-segment-4"/>
          <p:cNvCxnSpPr/>
          <p:nvPr/>
        </p:nvCxnSpPr>
        <p:spPr>
          <a:xfrm flipH="1" flipV="1">
            <a:off x="7191871" y="5053747"/>
            <a:ext cx="167565" cy="167565"/>
          </a:xfrm>
          <a:prstGeom prst="line">
            <a:avLst/>
          </a:prstGeom>
          <a:ln w="28575">
            <a:solidFill>
              <a:srgbClr val="F4A3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gradient-from-first-segment-5"/>
          <p:cNvCxnSpPr/>
          <p:nvPr/>
        </p:nvCxnSpPr>
        <p:spPr>
          <a:xfrm flipH="1" flipV="1">
            <a:off x="7004199" y="4953208"/>
            <a:ext cx="187672" cy="100539"/>
          </a:xfrm>
          <a:prstGeom prst="line">
            <a:avLst/>
          </a:prstGeom>
          <a:ln w="28575">
            <a:solidFill>
              <a:srgbClr val="F4A30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intermediate-to-last-segment-1"/>
          <p:cNvCxnSpPr/>
          <p:nvPr/>
        </p:nvCxnSpPr>
        <p:spPr>
          <a:xfrm flipH="1">
            <a:off x="8150341" y="5181096"/>
            <a:ext cx="134051" cy="93836"/>
          </a:xfrm>
          <a:prstGeom prst="line">
            <a:avLst/>
          </a:prstGeom>
          <a:ln w="28575">
            <a:solidFill>
              <a:srgbClr val="C21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intermediate-to-last-segment-2"/>
          <p:cNvCxnSpPr/>
          <p:nvPr/>
        </p:nvCxnSpPr>
        <p:spPr>
          <a:xfrm flipH="1">
            <a:off x="8063207" y="5274932"/>
            <a:ext cx="87134" cy="147457"/>
          </a:xfrm>
          <a:prstGeom prst="line">
            <a:avLst/>
          </a:prstGeom>
          <a:ln w="28575">
            <a:solidFill>
              <a:srgbClr val="C21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intermediate-to-last-segment-3"/>
          <p:cNvCxnSpPr/>
          <p:nvPr/>
        </p:nvCxnSpPr>
        <p:spPr>
          <a:xfrm>
            <a:off x="8063207" y="5422389"/>
            <a:ext cx="6703" cy="160862"/>
          </a:xfrm>
          <a:prstGeom prst="line">
            <a:avLst/>
          </a:prstGeom>
          <a:ln w="28575">
            <a:solidFill>
              <a:srgbClr val="C21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intermediate-to-last-segment-4"/>
          <p:cNvCxnSpPr/>
          <p:nvPr/>
        </p:nvCxnSpPr>
        <p:spPr>
          <a:xfrm>
            <a:off x="8069910" y="5583251"/>
            <a:ext cx="60323" cy="80431"/>
          </a:xfrm>
          <a:prstGeom prst="line">
            <a:avLst/>
          </a:prstGeom>
          <a:ln w="28575">
            <a:solidFill>
              <a:srgbClr val="C2183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gradient-from-last-segment-1"/>
          <p:cNvCxnSpPr/>
          <p:nvPr/>
        </p:nvCxnSpPr>
        <p:spPr>
          <a:xfrm flipV="1">
            <a:off x="8659737" y="5898272"/>
            <a:ext cx="134052" cy="147457"/>
          </a:xfrm>
          <a:prstGeom prst="line">
            <a:avLst/>
          </a:prstGeom>
          <a:ln w="28575">
            <a:solidFill>
              <a:srgbClr val="F4A3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gradient-from-last-segment-2"/>
          <p:cNvCxnSpPr/>
          <p:nvPr/>
        </p:nvCxnSpPr>
        <p:spPr>
          <a:xfrm flipV="1">
            <a:off x="8793789" y="5697195"/>
            <a:ext cx="33513" cy="201077"/>
          </a:xfrm>
          <a:prstGeom prst="line">
            <a:avLst/>
          </a:prstGeom>
          <a:ln w="28575">
            <a:solidFill>
              <a:srgbClr val="F4A3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gradient-from-last-segment-3"/>
          <p:cNvCxnSpPr/>
          <p:nvPr/>
        </p:nvCxnSpPr>
        <p:spPr>
          <a:xfrm flipH="1" flipV="1">
            <a:off x="8766978" y="5522928"/>
            <a:ext cx="60324" cy="174267"/>
          </a:xfrm>
          <a:prstGeom prst="line">
            <a:avLst/>
          </a:prstGeom>
          <a:ln w="28575">
            <a:solidFill>
              <a:srgbClr val="F4A3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gradient-from-last-segment-4"/>
          <p:cNvCxnSpPr/>
          <p:nvPr/>
        </p:nvCxnSpPr>
        <p:spPr>
          <a:xfrm flipH="1" flipV="1">
            <a:off x="8606116" y="5348661"/>
            <a:ext cx="160862" cy="174267"/>
          </a:xfrm>
          <a:prstGeom prst="line">
            <a:avLst/>
          </a:prstGeom>
          <a:ln w="28575">
            <a:solidFill>
              <a:srgbClr val="F4A3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gradient-from-last-segment-5"/>
          <p:cNvCxnSpPr/>
          <p:nvPr/>
        </p:nvCxnSpPr>
        <p:spPr>
          <a:xfrm flipH="1" flipV="1">
            <a:off x="8364823" y="5228014"/>
            <a:ext cx="241293" cy="120647"/>
          </a:xfrm>
          <a:prstGeom prst="line">
            <a:avLst/>
          </a:prstGeom>
          <a:ln w="28575">
            <a:solidFill>
              <a:srgbClr val="F4A30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denoise-to-decoder-segment-1"/>
          <p:cNvCxnSpPr/>
          <p:nvPr/>
        </p:nvCxnSpPr>
        <p:spPr>
          <a:xfrm>
            <a:off x="9061892" y="4477325"/>
            <a:ext cx="442371" cy="0"/>
          </a:xfrm>
          <a:prstGeom prst="line">
            <a:avLst/>
          </a:prstGeom>
          <a:ln w="28575">
            <a:solidFill>
              <a:srgbClr val="3E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output-vae-decoder"/>
          <p:cNvSpPr/>
          <p:nvPr/>
        </p:nvSpPr>
        <p:spPr>
          <a:xfrm>
            <a:off x="9504263" y="3994739"/>
            <a:ext cx="616638" cy="965172"/>
          </a:xfrm>
          <a:custGeom>
            <a:avLst/>
            <a:gdLst/>
            <a:ahLst/>
            <a:cxnLst/>
            <a:rect l="l" t="t" r="r" b="b"/>
            <a:pathLst>
              <a:path w="92" h="144">
                <a:moveTo>
                  <a:pt x="0" y="0"/>
                </a:moveTo>
                <a:lnTo>
                  <a:pt x="92" y="36"/>
                </a:lnTo>
                <a:lnTo>
                  <a:pt x="92" y="108"/>
                </a:lnTo>
                <a:lnTo>
                  <a:pt x="0" y="144"/>
                </a:lnTo>
                <a:close/>
              </a:path>
            </a:pathLst>
          </a:custGeom>
          <a:solidFill>
            <a:srgbClr val="F7F7F7"/>
          </a:solidFill>
          <a:ln w="21907">
            <a:solidFill>
              <a:srgbClr val="5D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utput-vae-decoder-label"/>
          <p:cNvSpPr txBox="1"/>
          <p:nvPr/>
        </p:nvSpPr>
        <p:spPr>
          <a:xfrm>
            <a:off x="9517668" y="4158818"/>
            <a:ext cx="589827" cy="63701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36" b="1" i="0">
                <a:solidFill>
                  <a:srgbClr val="222222"/>
                </a:solidFill>
                <a:latin typeface="DejaVu Sans Mono"/>
              </a:defRPr>
            </a:pPr>
            <a:r>
              <a:t>VAE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36" b="1" i="0">
                <a:solidFill>
                  <a:srgbClr val="222222"/>
                </a:solidFill>
                <a:latin typeface="DejaVu Sans Mono"/>
              </a:defRPr>
            </a:pPr>
            <a:r>
              <a:t>Dec</a:t>
            </a:r>
          </a:p>
        </p:txBody>
      </p:sp>
      <p:cxnSp>
        <p:nvCxnSpPr>
          <p:cNvPr id="320" name="decoder-to-frames-segment-1"/>
          <p:cNvCxnSpPr/>
          <p:nvPr/>
        </p:nvCxnSpPr>
        <p:spPr>
          <a:xfrm>
            <a:off x="10120900" y="4477325"/>
            <a:ext cx="435668" cy="0"/>
          </a:xfrm>
          <a:prstGeom prst="line">
            <a:avLst/>
          </a:prstGeom>
          <a:ln w="28575">
            <a:solidFill>
              <a:srgbClr val="3E3E3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1" name="output-generated-frame-back-2" descr="gen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7322" y="3753446"/>
            <a:ext cx="1353921" cy="1273490"/>
          </a:xfrm>
          <a:prstGeom prst="rect">
            <a:avLst/>
          </a:prstGeom>
        </p:spPr>
      </p:pic>
      <p:sp>
        <p:nvSpPr>
          <p:cNvPr id="322" name="generated-frame-back-2-lighten"/>
          <p:cNvSpPr/>
          <p:nvPr/>
        </p:nvSpPr>
        <p:spPr>
          <a:xfrm>
            <a:off x="10697322" y="3753446"/>
            <a:ext cx="1353921" cy="12734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3" name="output-generated-frame-back-1" descr="gen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0297" y="3807067"/>
            <a:ext cx="1353921" cy="1273490"/>
          </a:xfrm>
          <a:prstGeom prst="rect">
            <a:avLst/>
          </a:prstGeom>
        </p:spPr>
      </p:pic>
      <p:sp>
        <p:nvSpPr>
          <p:cNvPr id="324" name="generated-frame-back-1-lighten"/>
          <p:cNvSpPr/>
          <p:nvPr/>
        </p:nvSpPr>
        <p:spPr>
          <a:xfrm>
            <a:off x="10630297" y="3807067"/>
            <a:ext cx="1353921" cy="12734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5" name="output-generated-frame-front" descr="gen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3271" y="3867390"/>
            <a:ext cx="1353921" cy="1273490"/>
          </a:xfrm>
          <a:prstGeom prst="rect">
            <a:avLst/>
          </a:prstGeom>
        </p:spPr>
      </p:pic>
      <p:sp>
        <p:nvSpPr>
          <p:cNvPr id="326" name="output-generated-frames-label"/>
          <p:cNvSpPr txBox="1"/>
          <p:nvPr/>
        </p:nvSpPr>
        <p:spPr>
          <a:xfrm>
            <a:off x="10355491" y="5274932"/>
            <a:ext cx="1742671" cy="2815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77" b="1" i="0">
                <a:solidFill>
                  <a:srgbClr val="222222"/>
                </a:solidFill>
                <a:latin typeface="DejaVu Sans Mono"/>
              </a:defRPr>
            </a:pPr>
            <a:r>
              <a:t>Gen Frames</a:t>
            </a:r>
          </a:p>
        </p:txBody>
      </p:sp>
      <p:sp>
        <p:nvSpPr>
          <p:cNvPr id="327" name="legend-legend-spatial-shadow"/>
          <p:cNvSpPr/>
          <p:nvPr/>
        </p:nvSpPr>
        <p:spPr>
          <a:xfrm>
            <a:off x="9356806" y="583124"/>
            <a:ext cx="241292" cy="241292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legend-legend-spatial"/>
          <p:cNvSpPr/>
          <p:nvPr/>
        </p:nvSpPr>
        <p:spPr>
          <a:xfrm>
            <a:off x="9336698" y="563016"/>
            <a:ext cx="241292" cy="241292"/>
          </a:xfrm>
          <a:prstGeom prst="roundRect">
            <a:avLst/>
          </a:prstGeom>
          <a:solidFill>
            <a:srgbClr val="91A7D0"/>
          </a:solidFill>
          <a:ln w="2095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legend-legend-cross-shadow"/>
          <p:cNvSpPr/>
          <p:nvPr/>
        </p:nvSpPr>
        <p:spPr>
          <a:xfrm>
            <a:off x="9356806" y="978577"/>
            <a:ext cx="241292" cy="241292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legend-legend-cross"/>
          <p:cNvSpPr/>
          <p:nvPr/>
        </p:nvSpPr>
        <p:spPr>
          <a:xfrm>
            <a:off x="9336698" y="958469"/>
            <a:ext cx="241292" cy="241292"/>
          </a:xfrm>
          <a:prstGeom prst="roundRect">
            <a:avLst/>
          </a:prstGeom>
          <a:solidFill>
            <a:srgbClr val="D1E8D6"/>
          </a:solidFill>
          <a:ln w="2095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legend-legend-temporal-shadow"/>
          <p:cNvSpPr/>
          <p:nvPr/>
        </p:nvSpPr>
        <p:spPr>
          <a:xfrm>
            <a:off x="9356806" y="1367326"/>
            <a:ext cx="241292" cy="241292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legend-legend-temporal"/>
          <p:cNvSpPr/>
          <p:nvPr/>
        </p:nvSpPr>
        <p:spPr>
          <a:xfrm>
            <a:off x="9336698" y="1347219"/>
            <a:ext cx="241292" cy="241292"/>
          </a:xfrm>
          <a:prstGeom prst="roundRect">
            <a:avLst/>
          </a:prstGeom>
          <a:solidFill>
            <a:srgbClr val="F8C49D"/>
          </a:solidFill>
          <a:ln w="2095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legend-legend-spatial-label"/>
          <p:cNvSpPr txBox="1"/>
          <p:nvPr/>
        </p:nvSpPr>
        <p:spPr>
          <a:xfrm>
            <a:off x="9953336" y="542909"/>
            <a:ext cx="2144826" cy="2815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4" b="1" i="0">
                <a:solidFill>
                  <a:srgbClr val="222222"/>
                </a:solidFill>
                <a:latin typeface="DejaVu Sans Mono"/>
              </a:defRPr>
            </a:pPr>
            <a:r>
              <a:t>Spatial-Attn</a:t>
            </a:r>
          </a:p>
        </p:txBody>
      </p:sp>
      <p:sp>
        <p:nvSpPr>
          <p:cNvPr id="334" name="legend-legend-cross-label"/>
          <p:cNvSpPr txBox="1"/>
          <p:nvPr/>
        </p:nvSpPr>
        <p:spPr>
          <a:xfrm>
            <a:off x="9953336" y="938361"/>
            <a:ext cx="2144826" cy="2815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4" b="1" i="0">
                <a:solidFill>
                  <a:srgbClr val="222222"/>
                </a:solidFill>
                <a:latin typeface="DejaVu Sans Mono"/>
              </a:defRPr>
            </a:pPr>
            <a:r>
              <a:t>Cross-Attn</a:t>
            </a:r>
          </a:p>
        </p:txBody>
      </p:sp>
      <p:sp>
        <p:nvSpPr>
          <p:cNvPr id="335" name="legend-legend-temporal-label"/>
          <p:cNvSpPr txBox="1"/>
          <p:nvPr/>
        </p:nvSpPr>
        <p:spPr>
          <a:xfrm>
            <a:off x="9953336" y="1327111"/>
            <a:ext cx="2211852" cy="2815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4" b="1" i="0">
                <a:solidFill>
                  <a:srgbClr val="222222"/>
                </a:solidFill>
                <a:latin typeface="DejaVu Sans Mono"/>
              </a:defRPr>
            </a:pPr>
            <a:r>
              <a:t>Temporal-Attn</a:t>
            </a:r>
          </a:p>
        </p:txBody>
      </p:sp>
      <p:cxnSp>
        <p:nvCxnSpPr>
          <p:cNvPr id="336" name="legend-intermediate-arrow-segment-1"/>
          <p:cNvCxnSpPr/>
          <p:nvPr/>
        </p:nvCxnSpPr>
        <p:spPr>
          <a:xfrm>
            <a:off x="9242862" y="1756076"/>
            <a:ext cx="100539" cy="46918"/>
          </a:xfrm>
          <a:prstGeom prst="line">
            <a:avLst/>
          </a:prstGeom>
          <a:ln w="28575">
            <a:solidFill>
              <a:srgbClr val="C21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legend-intermediate-arrow-segment-2"/>
          <p:cNvCxnSpPr/>
          <p:nvPr/>
        </p:nvCxnSpPr>
        <p:spPr>
          <a:xfrm>
            <a:off x="9343401" y="1802994"/>
            <a:ext cx="113944" cy="26811"/>
          </a:xfrm>
          <a:prstGeom prst="line">
            <a:avLst/>
          </a:prstGeom>
          <a:ln w="28575">
            <a:solidFill>
              <a:srgbClr val="C21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legend-intermediate-arrow-segment-3"/>
          <p:cNvCxnSpPr/>
          <p:nvPr/>
        </p:nvCxnSpPr>
        <p:spPr>
          <a:xfrm>
            <a:off x="9457345" y="1829805"/>
            <a:ext cx="120646" cy="0"/>
          </a:xfrm>
          <a:prstGeom prst="line">
            <a:avLst/>
          </a:prstGeom>
          <a:ln w="28575">
            <a:solidFill>
              <a:srgbClr val="C21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legend-intermediate-arrow-segment-4"/>
          <p:cNvCxnSpPr/>
          <p:nvPr/>
        </p:nvCxnSpPr>
        <p:spPr>
          <a:xfrm flipV="1">
            <a:off x="9577991" y="1802994"/>
            <a:ext cx="113944" cy="26811"/>
          </a:xfrm>
          <a:prstGeom prst="line">
            <a:avLst/>
          </a:prstGeom>
          <a:ln w="28575">
            <a:solidFill>
              <a:srgbClr val="C218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legend-intermediate-arrow-segment-5"/>
          <p:cNvCxnSpPr/>
          <p:nvPr/>
        </p:nvCxnSpPr>
        <p:spPr>
          <a:xfrm flipV="1">
            <a:off x="9691935" y="1769481"/>
            <a:ext cx="53621" cy="33513"/>
          </a:xfrm>
          <a:prstGeom prst="line">
            <a:avLst/>
          </a:prstGeom>
          <a:ln w="28575">
            <a:solidFill>
              <a:srgbClr val="C2183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1" name="legend-legend-intermediate-label"/>
          <p:cNvSpPr txBox="1"/>
          <p:nvPr/>
        </p:nvSpPr>
        <p:spPr>
          <a:xfrm>
            <a:off x="9953336" y="1675645"/>
            <a:ext cx="2238662" cy="3016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4" b="1" i="0">
                <a:solidFill>
                  <a:srgbClr val="222222"/>
                </a:solidFill>
                <a:latin typeface="DejaVu Sans Mono"/>
              </a:defRPr>
            </a:pPr>
            <a:r>
              <a:t>Intermediate Feature</a:t>
            </a:r>
          </a:p>
        </p:txBody>
      </p:sp>
      <p:cxnSp>
        <p:nvCxnSpPr>
          <p:cNvPr id="342" name="legend-gradient-arrow-segment-1"/>
          <p:cNvCxnSpPr/>
          <p:nvPr/>
        </p:nvCxnSpPr>
        <p:spPr>
          <a:xfrm>
            <a:off x="9242862" y="2138123"/>
            <a:ext cx="107241" cy="53621"/>
          </a:xfrm>
          <a:prstGeom prst="line">
            <a:avLst/>
          </a:prstGeom>
          <a:ln w="28575">
            <a:solidFill>
              <a:srgbClr val="F4A3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legend-gradient-arrow-segment-2"/>
          <p:cNvCxnSpPr/>
          <p:nvPr/>
        </p:nvCxnSpPr>
        <p:spPr>
          <a:xfrm>
            <a:off x="9350103" y="2191744"/>
            <a:ext cx="120647" cy="20108"/>
          </a:xfrm>
          <a:prstGeom prst="line">
            <a:avLst/>
          </a:prstGeom>
          <a:ln w="28575">
            <a:solidFill>
              <a:srgbClr val="F4A3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legend-gradient-arrow-segment-3"/>
          <p:cNvCxnSpPr/>
          <p:nvPr/>
        </p:nvCxnSpPr>
        <p:spPr>
          <a:xfrm flipV="1">
            <a:off x="9470750" y="2198447"/>
            <a:ext cx="120646" cy="13405"/>
          </a:xfrm>
          <a:prstGeom prst="line">
            <a:avLst/>
          </a:prstGeom>
          <a:ln w="28575">
            <a:solidFill>
              <a:srgbClr val="F4A3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legend-gradient-arrow-segment-4"/>
          <p:cNvCxnSpPr/>
          <p:nvPr/>
        </p:nvCxnSpPr>
        <p:spPr>
          <a:xfrm flipV="1">
            <a:off x="9591396" y="2151529"/>
            <a:ext cx="120647" cy="46918"/>
          </a:xfrm>
          <a:prstGeom prst="line">
            <a:avLst/>
          </a:prstGeom>
          <a:ln w="28575">
            <a:solidFill>
              <a:srgbClr val="F4A3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legend-gradient-arrow-segment-5"/>
          <p:cNvCxnSpPr/>
          <p:nvPr/>
        </p:nvCxnSpPr>
        <p:spPr>
          <a:xfrm flipV="1">
            <a:off x="9712043" y="2118016"/>
            <a:ext cx="46918" cy="33513"/>
          </a:xfrm>
          <a:prstGeom prst="line">
            <a:avLst/>
          </a:prstGeom>
          <a:ln w="28575">
            <a:solidFill>
              <a:srgbClr val="F4A30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7" name="legend-legend-gradient-label"/>
          <p:cNvSpPr txBox="1"/>
          <p:nvPr/>
        </p:nvSpPr>
        <p:spPr>
          <a:xfrm>
            <a:off x="9953336" y="2064395"/>
            <a:ext cx="2238662" cy="3016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4" b="1" i="0">
                <a:solidFill>
                  <a:srgbClr val="222222"/>
                </a:solidFill>
                <a:latin typeface="DejaVu Sans Mono"/>
              </a:defRPr>
            </a:pPr>
            <a:r>
              <a:t>Gradient from C⁽ˡ⁾</a:t>
            </a:r>
          </a:p>
        </p:txBody>
      </p:sp>
      <p:sp>
        <p:nvSpPr>
          <p:cNvPr id="348" name="legend-legend-construction-swatch"/>
          <p:cNvSpPr/>
          <p:nvPr/>
        </p:nvSpPr>
        <p:spPr>
          <a:xfrm>
            <a:off x="9256268" y="2426335"/>
            <a:ext cx="449073" cy="368642"/>
          </a:xfrm>
          <a:custGeom>
            <a:avLst/>
            <a:gdLst/>
            <a:ahLst/>
            <a:cxnLst/>
            <a:rect l="l" t="t" r="r" b="b"/>
            <a:pathLst>
              <a:path w="67" h="55">
                <a:moveTo>
                  <a:pt x="0" y="0"/>
                </a:moveTo>
                <a:lnTo>
                  <a:pt x="67" y="17"/>
                </a:lnTo>
                <a:lnTo>
                  <a:pt x="67" y="55"/>
                </a:lnTo>
                <a:lnTo>
                  <a:pt x="0" y="55"/>
                </a:lnTo>
                <a:close/>
              </a:path>
            </a:pathLst>
          </a:custGeom>
          <a:solidFill>
            <a:srgbClr val="FAFAFA"/>
          </a:solidFill>
          <a:ln w="21907">
            <a:solidFill>
              <a:srgbClr val="77777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legend-legend-construction-label"/>
          <p:cNvSpPr txBox="1"/>
          <p:nvPr/>
        </p:nvSpPr>
        <p:spPr>
          <a:xfrm>
            <a:off x="9953336" y="2406227"/>
            <a:ext cx="2211852" cy="522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4" b="1" i="0">
                <a:solidFill>
                  <a:srgbClr val="222222"/>
                </a:solidFill>
                <a:latin typeface="DejaVu Sans Mono"/>
              </a:defRPr>
            </a:pPr>
            <a:r>
              <a:t>IMG Construction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24" b="1" i="0">
                <a:solidFill>
                  <a:srgbClr val="222222"/>
                </a:solidFill>
                <a:latin typeface="DejaVu Sans Mono"/>
              </a:defRPr>
            </a:pPr>
            <a:r>
              <a:t>(Training only)</a:t>
            </a:r>
          </a:p>
        </p:txBody>
      </p:sp>
      <p:sp>
        <p:nvSpPr>
          <p:cNvPr id="350" name="legend-legend-selected-shadow"/>
          <p:cNvSpPr/>
          <p:nvPr/>
        </p:nvSpPr>
        <p:spPr>
          <a:xfrm>
            <a:off x="9316590" y="3177024"/>
            <a:ext cx="375344" cy="247995"/>
          </a:xfrm>
          <a:prstGeom prst="round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legend-legend-selected"/>
          <p:cNvSpPr/>
          <p:nvPr/>
        </p:nvSpPr>
        <p:spPr>
          <a:xfrm>
            <a:off x="9296483" y="3156916"/>
            <a:ext cx="375344" cy="247995"/>
          </a:xfrm>
          <a:prstGeom prst="roundRect">
            <a:avLst/>
          </a:prstGeom>
          <a:solidFill>
            <a:srgbClr val="91A7D0"/>
          </a:solidFill>
          <a:ln w="20955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legend-legend-selected-label"/>
          <p:cNvSpPr txBox="1"/>
          <p:nvPr/>
        </p:nvSpPr>
        <p:spPr>
          <a:xfrm>
            <a:off x="9953336" y="3109998"/>
            <a:ext cx="2178339" cy="36193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4" b="1" i="0">
                <a:solidFill>
                  <a:srgbClr val="222222"/>
                </a:solidFill>
                <a:latin typeface="DejaVu Sans Mono"/>
              </a:defRPr>
            </a:pPr>
            <a:r>
              <a:t>Selected for MSM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EverybodyDance Bipartite Graphâ€“Based Identity Correspondence for Multi-Character Anima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7964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