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</p:sldIdLst>
  <p:sldSz cx="12306300" cy="724535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Relationship Id="rId4" Type="http://schemas.openxmlformats.org/officeDocument/2006/relationships/image" Target="../media/image3.png"/><Relationship Id="rId5" Type="http://schemas.openxmlformats.org/officeDocument/2006/relationships/image" Target="../media/image4.png"/><Relationship Id="rId6" Type="http://schemas.openxmlformats.org/officeDocument/2006/relationships/image" Target="../media/image5.png"/><Relationship Id="rId7" Type="http://schemas.openxmlformats.org/officeDocument/2006/relationships/image" Target="../media/image6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jp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EFDF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001_canvas"/>
          <p:cNvSpPr/>
          <p:nvPr/>
        </p:nvSpPr>
        <p:spPr>
          <a:xfrm>
            <a:off x="0" y="0"/>
            <a:ext cx="12306300" cy="7245350"/>
          </a:xfrm>
          <a:prstGeom prst="rect">
            <a:avLst/>
          </a:prstGeom>
          <a:solidFill>
            <a:srgbClr val="FEFDF9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" name="002_svimo_outer"/>
          <p:cNvSpPr/>
          <p:nvPr/>
        </p:nvSpPr>
        <p:spPr>
          <a:xfrm>
            <a:off x="76200" y="114300"/>
            <a:ext cx="12179300" cy="4070350"/>
          </a:xfrm>
          <a:prstGeom prst="roundRect">
            <a:avLst>
              <a:gd name="adj" fmla="val 4368"/>
            </a:avLst>
          </a:prstGeom>
          <a:solidFill>
            <a:srgbClr val="FEFDF9"/>
          </a:solidFill>
          <a:ln w="15875">
            <a:solidFill>
              <a:srgbClr val="111111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4" name="003_vid_outer"/>
          <p:cNvSpPr/>
          <p:nvPr/>
        </p:nvSpPr>
        <p:spPr>
          <a:xfrm>
            <a:off x="76200" y="4298950"/>
            <a:ext cx="9620250" cy="3048000"/>
          </a:xfrm>
          <a:prstGeom prst="roundRect">
            <a:avLst>
              <a:gd name="adj" fmla="val 5208"/>
            </a:avLst>
          </a:prstGeom>
          <a:solidFill>
            <a:srgbClr val="FDFBFE"/>
          </a:solidFill>
          <a:ln w="15875">
            <a:solidFill>
              <a:srgbClr val="111111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5" name="004_legend_outer"/>
          <p:cNvSpPr/>
          <p:nvPr/>
        </p:nvSpPr>
        <p:spPr>
          <a:xfrm>
            <a:off x="9753600" y="4298950"/>
            <a:ext cx="2501900" cy="3048000"/>
          </a:xfrm>
          <a:prstGeom prst="roundRect">
            <a:avLst>
              <a:gd name="adj" fmla="val 5583"/>
            </a:avLst>
          </a:prstGeom>
          <a:solidFill>
            <a:srgbClr val="F2F2F2"/>
          </a:solidFill>
          <a:ln w="15875">
            <a:solidFill>
              <a:srgbClr val="111111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6" name="005_svimo_core"/>
          <p:cNvSpPr/>
          <p:nvPr/>
        </p:nvSpPr>
        <p:spPr>
          <a:xfrm>
            <a:off x="4419600" y="673100"/>
            <a:ext cx="3606800" cy="3117850"/>
          </a:xfrm>
          <a:prstGeom prst="roundRect">
            <a:avLst>
              <a:gd name="adj" fmla="val 4887"/>
            </a:avLst>
          </a:prstGeom>
          <a:solidFill>
            <a:srgbClr val="FFF6DD"/>
          </a:solidFill>
          <a:ln w="15875">
            <a:solidFill>
              <a:srgbClr val="111111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7" name="006_vid_unet"/>
          <p:cNvSpPr/>
          <p:nvPr/>
        </p:nvSpPr>
        <p:spPr>
          <a:xfrm>
            <a:off x="4425950" y="4711700"/>
            <a:ext cx="3600450" cy="2495550"/>
          </a:xfrm>
          <a:prstGeom prst="roundRect">
            <a:avLst>
              <a:gd name="adj" fmla="val 4580"/>
            </a:avLst>
          </a:prstGeom>
          <a:solidFill>
            <a:srgbClr val="F9E3E5"/>
          </a:solidFill>
          <a:ln w="15875">
            <a:solidFill>
              <a:srgbClr val="111111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cxnSp>
        <p:nvCxnSpPr>
          <p:cNvPr id="8" name="007_interaction_guidance_route_0"/>
          <p:cNvCxnSpPr/>
          <p:nvPr/>
        </p:nvCxnSpPr>
        <p:spPr>
          <a:xfrm flipV="1">
            <a:off x="1028700" y="3067050"/>
            <a:ext cx="0" cy="2444750"/>
          </a:xfrm>
          <a:prstGeom prst="line">
            <a:avLst/>
          </a:prstGeom>
          <a:ln w="38100">
            <a:solidFill>
              <a:srgbClr val="00A8AA"/>
            </a:solidFill>
          </a:ln>
          <a:effectLst/>
        </p:spPr>
      </p:cxnSp>
      <p:cxnSp>
        <p:nvCxnSpPr>
          <p:cNvPr id="9" name="007_interaction_guidance_route_1"/>
          <p:cNvCxnSpPr/>
          <p:nvPr/>
        </p:nvCxnSpPr>
        <p:spPr>
          <a:xfrm>
            <a:off x="1028700" y="3067050"/>
            <a:ext cx="781050" cy="0"/>
          </a:xfrm>
          <a:prstGeom prst="line">
            <a:avLst/>
          </a:prstGeom>
          <a:ln w="38100">
            <a:solidFill>
              <a:srgbClr val="00A8AA"/>
            </a:solidFill>
          </a:ln>
          <a:effectLst/>
        </p:spPr>
      </p:cxnSp>
      <p:sp>
        <p:nvSpPr>
          <p:cNvPr id="10" name="007_interaction_guidance_route_arrowhead"/>
          <p:cNvSpPr/>
          <p:nvPr/>
        </p:nvSpPr>
        <p:spPr>
          <a:xfrm>
            <a:off x="1718310" y="3019425"/>
            <a:ext cx="91440" cy="95250"/>
          </a:xfrm>
          <a:custGeom>
            <a:avLst/>
            <a:gdLst/>
            <a:ahLst/>
            <a:cxnLst/>
            <a:rect l="l" t="t" r="r" b="b"/>
            <a:pathLst>
              <a:path w="91440" h="95250">
                <a:moveTo>
                  <a:pt x="91440" y="47625"/>
                </a:moveTo>
                <a:lnTo>
                  <a:pt x="0" y="95250"/>
                </a:lnTo>
                <a:lnTo>
                  <a:pt x="0" y="0"/>
                </a:lnTo>
                <a:close/>
              </a:path>
            </a:pathLst>
          </a:custGeom>
          <a:solidFill>
            <a:srgbClr val="00A8AA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cxnSp>
        <p:nvCxnSpPr>
          <p:cNvPr id="11" name="008_blue_feedback_top_0"/>
          <p:cNvCxnSpPr/>
          <p:nvPr/>
        </p:nvCxnSpPr>
        <p:spPr>
          <a:xfrm>
            <a:off x="9169400" y="1778000"/>
            <a:ext cx="254000" cy="0"/>
          </a:xfrm>
          <a:prstGeom prst="line">
            <a:avLst/>
          </a:prstGeom>
          <a:ln w="31750">
            <a:solidFill>
              <a:srgbClr val="087FB9"/>
            </a:solidFill>
          </a:ln>
          <a:effectLst/>
        </p:spPr>
      </p:cxnSp>
      <p:cxnSp>
        <p:nvCxnSpPr>
          <p:cNvPr id="12" name="008_blue_feedback_top_1"/>
          <p:cNvCxnSpPr/>
          <p:nvPr/>
        </p:nvCxnSpPr>
        <p:spPr>
          <a:xfrm>
            <a:off x="9423400" y="1778000"/>
            <a:ext cx="0" cy="3333750"/>
          </a:xfrm>
          <a:prstGeom prst="line">
            <a:avLst/>
          </a:prstGeom>
          <a:ln w="31750">
            <a:solidFill>
              <a:srgbClr val="087FB9"/>
            </a:solidFill>
          </a:ln>
          <a:effectLst/>
        </p:spPr>
      </p:cxnSp>
      <p:cxnSp>
        <p:nvCxnSpPr>
          <p:cNvPr id="13" name="008_blue_feedback_top_2"/>
          <p:cNvCxnSpPr/>
          <p:nvPr/>
        </p:nvCxnSpPr>
        <p:spPr>
          <a:xfrm flipH="1">
            <a:off x="7778750" y="5111750"/>
            <a:ext cx="1644650" cy="0"/>
          </a:xfrm>
          <a:prstGeom prst="line">
            <a:avLst/>
          </a:prstGeom>
          <a:ln w="31750">
            <a:solidFill>
              <a:srgbClr val="087FB9"/>
            </a:solidFill>
          </a:ln>
          <a:effectLst/>
        </p:spPr>
      </p:cxnSp>
      <p:sp>
        <p:nvSpPr>
          <p:cNvPr id="14" name="008_blue_feedback_top_arrowhead"/>
          <p:cNvSpPr/>
          <p:nvPr/>
        </p:nvSpPr>
        <p:spPr>
          <a:xfrm>
            <a:off x="7778750" y="5072062"/>
            <a:ext cx="76200" cy="79375"/>
          </a:xfrm>
          <a:custGeom>
            <a:avLst/>
            <a:gdLst/>
            <a:ahLst/>
            <a:cxnLst/>
            <a:rect l="l" t="t" r="r" b="b"/>
            <a:pathLst>
              <a:path w="76200" h="79375">
                <a:moveTo>
                  <a:pt x="0" y="39688"/>
                </a:moveTo>
                <a:lnTo>
                  <a:pt x="76200" y="0"/>
                </a:lnTo>
                <a:lnTo>
                  <a:pt x="76200" y="79375"/>
                </a:lnTo>
                <a:close/>
              </a:path>
            </a:pathLst>
          </a:custGeom>
          <a:solidFill>
            <a:srgbClr val="087FB9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cxnSp>
        <p:nvCxnSpPr>
          <p:cNvPr id="15" name="009_blue_feedback_bottom_0"/>
          <p:cNvCxnSpPr/>
          <p:nvPr/>
        </p:nvCxnSpPr>
        <p:spPr>
          <a:xfrm>
            <a:off x="9169400" y="2787650"/>
            <a:ext cx="254000" cy="0"/>
          </a:xfrm>
          <a:prstGeom prst="line">
            <a:avLst/>
          </a:prstGeom>
          <a:ln w="31750">
            <a:solidFill>
              <a:srgbClr val="087FB9"/>
            </a:solidFill>
          </a:ln>
          <a:effectLst/>
        </p:spPr>
      </p:cxnSp>
      <p:cxnSp>
        <p:nvCxnSpPr>
          <p:cNvPr id="16" name="009_blue_feedback_bottom_1"/>
          <p:cNvCxnSpPr/>
          <p:nvPr/>
        </p:nvCxnSpPr>
        <p:spPr>
          <a:xfrm>
            <a:off x="9423400" y="2787650"/>
            <a:ext cx="0" cy="3117850"/>
          </a:xfrm>
          <a:prstGeom prst="line">
            <a:avLst/>
          </a:prstGeom>
          <a:ln w="31750">
            <a:solidFill>
              <a:srgbClr val="087FB9"/>
            </a:solidFill>
          </a:ln>
          <a:effectLst/>
        </p:spPr>
      </p:cxnSp>
      <p:cxnSp>
        <p:nvCxnSpPr>
          <p:cNvPr id="17" name="009_blue_feedback_bottom_2"/>
          <p:cNvCxnSpPr/>
          <p:nvPr/>
        </p:nvCxnSpPr>
        <p:spPr>
          <a:xfrm flipH="1">
            <a:off x="7778750" y="5905500"/>
            <a:ext cx="1644650" cy="0"/>
          </a:xfrm>
          <a:prstGeom prst="line">
            <a:avLst/>
          </a:prstGeom>
          <a:ln w="31750">
            <a:solidFill>
              <a:srgbClr val="087FB9"/>
            </a:solidFill>
          </a:ln>
          <a:effectLst/>
        </p:spPr>
      </p:cxnSp>
      <p:sp>
        <p:nvSpPr>
          <p:cNvPr id="18" name="009_blue_feedback_bottom_arrowhead"/>
          <p:cNvSpPr/>
          <p:nvPr/>
        </p:nvSpPr>
        <p:spPr>
          <a:xfrm>
            <a:off x="7778750" y="5865812"/>
            <a:ext cx="76200" cy="79375"/>
          </a:xfrm>
          <a:custGeom>
            <a:avLst/>
            <a:gdLst/>
            <a:ahLst/>
            <a:cxnLst/>
            <a:rect l="l" t="t" r="r" b="b"/>
            <a:pathLst>
              <a:path w="76200" h="79375">
                <a:moveTo>
                  <a:pt x="0" y="39688"/>
                </a:moveTo>
                <a:lnTo>
                  <a:pt x="76200" y="0"/>
                </a:lnTo>
                <a:lnTo>
                  <a:pt x="76200" y="79375"/>
                </a:lnTo>
                <a:close/>
              </a:path>
            </a:pathLst>
          </a:custGeom>
          <a:solidFill>
            <a:srgbClr val="087FB9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cxnSp>
        <p:nvCxnSpPr>
          <p:cNvPr id="19" name="010_grad_video_prediction_0"/>
          <p:cNvCxnSpPr/>
          <p:nvPr/>
        </p:nvCxnSpPr>
        <p:spPr>
          <a:xfrm flipV="1">
            <a:off x="9512300" y="1943100"/>
            <a:ext cx="0" cy="3308350"/>
          </a:xfrm>
          <a:prstGeom prst="line">
            <a:avLst/>
          </a:prstGeom>
          <a:ln w="28575">
            <a:solidFill>
              <a:srgbClr val="EF7332"/>
            </a:solidFill>
            <a:prstDash val="dash"/>
          </a:ln>
          <a:effectLst/>
        </p:spPr>
      </p:cxnSp>
      <p:cxnSp>
        <p:nvCxnSpPr>
          <p:cNvPr id="20" name="010_grad_video_prediction_1"/>
          <p:cNvCxnSpPr/>
          <p:nvPr/>
        </p:nvCxnSpPr>
        <p:spPr>
          <a:xfrm flipH="1">
            <a:off x="9194800" y="1943100"/>
            <a:ext cx="317500" cy="0"/>
          </a:xfrm>
          <a:prstGeom prst="line">
            <a:avLst/>
          </a:prstGeom>
          <a:ln w="28575">
            <a:solidFill>
              <a:srgbClr val="EF7332"/>
            </a:solidFill>
            <a:prstDash val="dash"/>
          </a:ln>
          <a:effectLst/>
        </p:spPr>
      </p:cxnSp>
      <p:sp>
        <p:nvSpPr>
          <p:cNvPr id="21" name="010_grad_video_prediction_arrowhead"/>
          <p:cNvSpPr/>
          <p:nvPr/>
        </p:nvSpPr>
        <p:spPr>
          <a:xfrm>
            <a:off x="9194800" y="1907381"/>
            <a:ext cx="68580" cy="71437"/>
          </a:xfrm>
          <a:custGeom>
            <a:avLst/>
            <a:gdLst/>
            <a:ahLst/>
            <a:cxnLst/>
            <a:rect l="l" t="t" r="r" b="b"/>
            <a:pathLst>
              <a:path w="68580" h="71437">
                <a:moveTo>
                  <a:pt x="0" y="35719"/>
                </a:moveTo>
                <a:lnTo>
                  <a:pt x="68580" y="0"/>
                </a:lnTo>
                <a:lnTo>
                  <a:pt x="68580" y="71437"/>
                </a:lnTo>
                <a:close/>
              </a:path>
            </a:pathLst>
          </a:custGeom>
          <a:solidFill>
            <a:srgbClr val="EF7332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cxnSp>
        <p:nvCxnSpPr>
          <p:cNvPr id="22" name="011_grad_motion_prediction_0"/>
          <p:cNvCxnSpPr/>
          <p:nvPr/>
        </p:nvCxnSpPr>
        <p:spPr>
          <a:xfrm flipV="1">
            <a:off x="9512300" y="2959100"/>
            <a:ext cx="0" cy="2813050"/>
          </a:xfrm>
          <a:prstGeom prst="line">
            <a:avLst/>
          </a:prstGeom>
          <a:ln w="28575">
            <a:solidFill>
              <a:srgbClr val="EF7332"/>
            </a:solidFill>
            <a:prstDash val="dash"/>
          </a:ln>
          <a:effectLst/>
        </p:spPr>
      </p:cxnSp>
      <p:cxnSp>
        <p:nvCxnSpPr>
          <p:cNvPr id="23" name="011_grad_motion_prediction_1"/>
          <p:cNvCxnSpPr/>
          <p:nvPr/>
        </p:nvCxnSpPr>
        <p:spPr>
          <a:xfrm flipH="1">
            <a:off x="9194800" y="2959100"/>
            <a:ext cx="317500" cy="0"/>
          </a:xfrm>
          <a:prstGeom prst="line">
            <a:avLst/>
          </a:prstGeom>
          <a:ln w="28575">
            <a:solidFill>
              <a:srgbClr val="EF7332"/>
            </a:solidFill>
            <a:prstDash val="dash"/>
          </a:ln>
          <a:effectLst/>
        </p:spPr>
      </p:cxnSp>
      <p:sp>
        <p:nvSpPr>
          <p:cNvPr id="24" name="011_grad_motion_prediction_arrowhead"/>
          <p:cNvSpPr/>
          <p:nvPr/>
        </p:nvSpPr>
        <p:spPr>
          <a:xfrm>
            <a:off x="9194800" y="2923381"/>
            <a:ext cx="68580" cy="71437"/>
          </a:xfrm>
          <a:custGeom>
            <a:avLst/>
            <a:gdLst/>
            <a:ahLst/>
            <a:cxnLst/>
            <a:rect l="l" t="t" r="r" b="b"/>
            <a:pathLst>
              <a:path w="68580" h="71437">
                <a:moveTo>
                  <a:pt x="0" y="35719"/>
                </a:moveTo>
                <a:lnTo>
                  <a:pt x="68580" y="0"/>
                </a:lnTo>
                <a:lnTo>
                  <a:pt x="68580" y="71437"/>
                </a:lnTo>
                <a:close/>
              </a:path>
            </a:pathLst>
          </a:custGeom>
          <a:solidFill>
            <a:srgbClr val="EF7332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cxnSp>
        <p:nvCxnSpPr>
          <p:cNvPr id="25" name="012_grad_mid_0"/>
          <p:cNvCxnSpPr/>
          <p:nvPr/>
        </p:nvCxnSpPr>
        <p:spPr>
          <a:xfrm flipH="1">
            <a:off x="7734300" y="5251450"/>
            <a:ext cx="1778000" cy="0"/>
          </a:xfrm>
          <a:prstGeom prst="line">
            <a:avLst/>
          </a:prstGeom>
          <a:ln w="28575">
            <a:solidFill>
              <a:srgbClr val="EF7332"/>
            </a:solidFill>
            <a:prstDash val="dash"/>
          </a:ln>
          <a:effectLst/>
        </p:spPr>
      </p:cxnSp>
      <p:sp>
        <p:nvSpPr>
          <p:cNvPr id="26" name="012_grad_mid_arrowhead"/>
          <p:cNvSpPr/>
          <p:nvPr/>
        </p:nvSpPr>
        <p:spPr>
          <a:xfrm>
            <a:off x="7734300" y="5215731"/>
            <a:ext cx="68580" cy="71437"/>
          </a:xfrm>
          <a:custGeom>
            <a:avLst/>
            <a:gdLst/>
            <a:ahLst/>
            <a:cxnLst/>
            <a:rect l="l" t="t" r="r" b="b"/>
            <a:pathLst>
              <a:path w="68580" h="71437">
                <a:moveTo>
                  <a:pt x="0" y="35719"/>
                </a:moveTo>
                <a:lnTo>
                  <a:pt x="68580" y="0"/>
                </a:lnTo>
                <a:lnTo>
                  <a:pt x="68580" y="71437"/>
                </a:lnTo>
                <a:close/>
              </a:path>
            </a:pathLst>
          </a:custGeom>
          <a:solidFill>
            <a:srgbClr val="EF7332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cxnSp>
        <p:nvCxnSpPr>
          <p:cNvPr id="27" name="013_grad_low_0"/>
          <p:cNvCxnSpPr/>
          <p:nvPr/>
        </p:nvCxnSpPr>
        <p:spPr>
          <a:xfrm flipH="1">
            <a:off x="7734300" y="5772150"/>
            <a:ext cx="1778000" cy="0"/>
          </a:xfrm>
          <a:prstGeom prst="line">
            <a:avLst/>
          </a:prstGeom>
          <a:ln w="28575">
            <a:solidFill>
              <a:srgbClr val="EF7332"/>
            </a:solidFill>
            <a:prstDash val="dash"/>
          </a:ln>
          <a:effectLst/>
        </p:spPr>
      </p:cxnSp>
      <p:sp>
        <p:nvSpPr>
          <p:cNvPr id="28" name="013_grad_low_arrowhead"/>
          <p:cNvSpPr/>
          <p:nvPr/>
        </p:nvSpPr>
        <p:spPr>
          <a:xfrm>
            <a:off x="7734300" y="5736431"/>
            <a:ext cx="68580" cy="71437"/>
          </a:xfrm>
          <a:custGeom>
            <a:avLst/>
            <a:gdLst/>
            <a:ahLst/>
            <a:cxnLst/>
            <a:rect l="l" t="t" r="r" b="b"/>
            <a:pathLst>
              <a:path w="68580" h="71437">
                <a:moveTo>
                  <a:pt x="0" y="35719"/>
                </a:moveTo>
                <a:lnTo>
                  <a:pt x="68580" y="0"/>
                </a:lnTo>
                <a:lnTo>
                  <a:pt x="68580" y="71437"/>
                </a:lnTo>
                <a:close/>
              </a:path>
            </a:pathLst>
          </a:custGeom>
          <a:solidFill>
            <a:srgbClr val="EF7332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cxnSp>
        <p:nvCxnSpPr>
          <p:cNvPr id="29" name="014_grad_unet_input_0"/>
          <p:cNvCxnSpPr/>
          <p:nvPr/>
        </p:nvCxnSpPr>
        <p:spPr>
          <a:xfrm>
            <a:off x="4140200" y="5829300"/>
            <a:ext cx="279400" cy="0"/>
          </a:xfrm>
          <a:prstGeom prst="line">
            <a:avLst/>
          </a:prstGeom>
          <a:ln w="28575">
            <a:solidFill>
              <a:srgbClr val="EF7332"/>
            </a:solidFill>
            <a:prstDash val="dash"/>
          </a:ln>
          <a:effectLst/>
        </p:spPr>
      </p:cxnSp>
      <p:sp>
        <p:nvSpPr>
          <p:cNvPr id="30" name="014_grad_unet_input_arrowhead"/>
          <p:cNvSpPr/>
          <p:nvPr/>
        </p:nvSpPr>
        <p:spPr>
          <a:xfrm>
            <a:off x="4351020" y="5793581"/>
            <a:ext cx="68580" cy="71437"/>
          </a:xfrm>
          <a:custGeom>
            <a:avLst/>
            <a:gdLst/>
            <a:ahLst/>
            <a:cxnLst/>
            <a:rect l="l" t="t" r="r" b="b"/>
            <a:pathLst>
              <a:path w="68580" h="71437">
                <a:moveTo>
                  <a:pt x="68580" y="35719"/>
                </a:moveTo>
                <a:lnTo>
                  <a:pt x="0" y="71437"/>
                </a:lnTo>
                <a:lnTo>
                  <a:pt x="0" y="0"/>
                </a:lnTo>
                <a:close/>
              </a:path>
            </a:pathLst>
          </a:custGeom>
          <a:solidFill>
            <a:srgbClr val="EF7332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1" name="015_sample_t_box"/>
          <p:cNvSpPr/>
          <p:nvPr/>
        </p:nvSpPr>
        <p:spPr>
          <a:xfrm>
            <a:off x="368300" y="177800"/>
            <a:ext cx="1828800" cy="304800"/>
          </a:xfrm>
          <a:prstGeom prst="roundRect">
            <a:avLst>
              <a:gd name="adj" fmla="val 18750"/>
            </a:avLst>
          </a:prstGeom>
          <a:solidFill>
            <a:srgbClr val="F2F2F2"/>
          </a:solidFill>
          <a:ln w="19050">
            <a:solidFill>
              <a:srgbClr val="A6A6A6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2" name="016_sample_t_label"/>
          <p:cNvSpPr txBox="1"/>
          <p:nvPr/>
        </p:nvSpPr>
        <p:spPr>
          <a:xfrm>
            <a:off x="400050" y="184150"/>
            <a:ext cx="1765300" cy="292100"/>
          </a:xfrm>
          <a:prstGeom prst="rect">
            <a:avLst/>
          </a:prstGeom>
          <a:noFill/>
          <a:effectLst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</a:pPr>
            <a:r>
              <a:rPr sz="1200" b="1" i="0">
                <a:solidFill>
                  <a:srgbClr val="000000"/>
                </a:solidFill>
                <a:latin typeface="Liberation Serif"/>
              </a:rPr>
              <a:t>Sample t ∈ U(1, T)</a:t>
            </a:r>
          </a:p>
        </p:txBody>
      </p:sp>
      <p:sp>
        <p:nvSpPr>
          <p:cNvPr id="33" name="017_timestep_caption"/>
          <p:cNvSpPr txBox="1"/>
          <p:nvPr/>
        </p:nvSpPr>
        <p:spPr>
          <a:xfrm>
            <a:off x="508000" y="501650"/>
            <a:ext cx="1555750" cy="171450"/>
          </a:xfrm>
          <a:prstGeom prst="rect">
            <a:avLst/>
          </a:prstGeom>
          <a:noFill/>
          <a:effectLst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000000"/>
                </a:solidFill>
                <a:latin typeface="Liberation Serif"/>
              </a:rPr>
              <a:t>Timestep t</a:t>
            </a:r>
          </a:p>
        </p:txBody>
      </p:sp>
      <p:sp>
        <p:nvSpPr>
          <p:cNvPr id="34" name="018_sinusoidal_pe_box"/>
          <p:cNvSpPr/>
          <p:nvPr/>
        </p:nvSpPr>
        <p:spPr>
          <a:xfrm>
            <a:off x="2470150" y="177800"/>
            <a:ext cx="1244600" cy="304800"/>
          </a:xfrm>
          <a:prstGeom prst="roundRect">
            <a:avLst>
              <a:gd name="adj" fmla="val 18750"/>
            </a:avLst>
          </a:prstGeom>
          <a:solidFill>
            <a:srgbClr val="F2F2F2"/>
          </a:solidFill>
          <a:ln w="19050">
            <a:solidFill>
              <a:srgbClr val="A6A6A6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5" name="019_sinusoidal_pe_label"/>
          <p:cNvSpPr txBox="1"/>
          <p:nvPr/>
        </p:nvSpPr>
        <p:spPr>
          <a:xfrm>
            <a:off x="2501900" y="184150"/>
            <a:ext cx="1181100" cy="292100"/>
          </a:xfrm>
          <a:prstGeom prst="rect">
            <a:avLst/>
          </a:prstGeom>
          <a:noFill/>
          <a:effectLst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</a:pPr>
            <a:r>
              <a:rPr sz="1150" b="1" i="0">
                <a:solidFill>
                  <a:srgbClr val="000000"/>
                </a:solidFill>
                <a:latin typeface="Liberation Serif"/>
              </a:rPr>
              <a:t>Sinusoidal PE</a:t>
            </a:r>
          </a:p>
        </p:txBody>
      </p:sp>
      <p:cxnSp>
        <p:nvCxnSpPr>
          <p:cNvPr id="36" name="020_sample_to_pe_0"/>
          <p:cNvCxnSpPr/>
          <p:nvPr/>
        </p:nvCxnSpPr>
        <p:spPr>
          <a:xfrm>
            <a:off x="2197100" y="323850"/>
            <a:ext cx="273050" cy="0"/>
          </a:xfrm>
          <a:prstGeom prst="line">
            <a:avLst/>
          </a:prstGeom>
          <a:ln w="15875">
            <a:solidFill>
              <a:srgbClr val="000000"/>
            </a:solidFill>
          </a:ln>
          <a:effectLst/>
        </p:spPr>
      </p:cxnSp>
      <p:sp>
        <p:nvSpPr>
          <p:cNvPr id="37" name="020_sample_to_pe_arrowhead"/>
          <p:cNvSpPr/>
          <p:nvPr/>
        </p:nvSpPr>
        <p:spPr>
          <a:xfrm>
            <a:off x="2419350" y="298450"/>
            <a:ext cx="50800" cy="50800"/>
          </a:xfrm>
          <a:custGeom>
            <a:avLst/>
            <a:gdLst/>
            <a:ahLst/>
            <a:cxnLst/>
            <a:rect l="l" t="t" r="r" b="b"/>
            <a:pathLst>
              <a:path w="50800" h="50800">
                <a:moveTo>
                  <a:pt x="50800" y="25400"/>
                </a:moveTo>
                <a:lnTo>
                  <a:pt x="0" y="50800"/>
                </a:lnTo>
                <a:lnTo>
                  <a:pt x="0" y="0"/>
                </a:lnTo>
                <a:close/>
              </a:path>
            </a:pathLst>
          </a:custGeom>
          <a:solidFill>
            <a:srgbClr val="000000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cxnSp>
        <p:nvCxnSpPr>
          <p:cNvPr id="38" name="021_pe_to_core_0"/>
          <p:cNvCxnSpPr/>
          <p:nvPr/>
        </p:nvCxnSpPr>
        <p:spPr>
          <a:xfrm>
            <a:off x="3714750" y="323850"/>
            <a:ext cx="2508250" cy="0"/>
          </a:xfrm>
          <a:prstGeom prst="line">
            <a:avLst/>
          </a:prstGeom>
          <a:ln w="15875">
            <a:solidFill>
              <a:srgbClr val="000000"/>
            </a:solidFill>
          </a:ln>
          <a:effectLst/>
        </p:spPr>
      </p:cxnSp>
      <p:cxnSp>
        <p:nvCxnSpPr>
          <p:cNvPr id="39" name="021_pe_to_core_1"/>
          <p:cNvCxnSpPr/>
          <p:nvPr/>
        </p:nvCxnSpPr>
        <p:spPr>
          <a:xfrm>
            <a:off x="6223000" y="323850"/>
            <a:ext cx="0" cy="514350"/>
          </a:xfrm>
          <a:prstGeom prst="line">
            <a:avLst/>
          </a:prstGeom>
          <a:ln w="15875">
            <a:solidFill>
              <a:srgbClr val="000000"/>
            </a:solidFill>
          </a:ln>
          <a:effectLst/>
        </p:spPr>
      </p:cxnSp>
      <p:sp>
        <p:nvSpPr>
          <p:cNvPr id="40" name="021_pe_to_core_arrowhead"/>
          <p:cNvSpPr/>
          <p:nvPr/>
        </p:nvSpPr>
        <p:spPr>
          <a:xfrm>
            <a:off x="6197600" y="787400"/>
            <a:ext cx="50800" cy="50800"/>
          </a:xfrm>
          <a:custGeom>
            <a:avLst/>
            <a:gdLst/>
            <a:ahLst/>
            <a:cxnLst/>
            <a:rect l="l" t="t" r="r" b="b"/>
            <a:pathLst>
              <a:path w="50800" h="50800">
                <a:moveTo>
                  <a:pt x="25400" y="50800"/>
                </a:moveTo>
                <a:lnTo>
                  <a:pt x="0" y="0"/>
                </a:lnTo>
                <a:lnTo>
                  <a:pt x="50800" y="0"/>
                </a:lnTo>
                <a:close/>
              </a:path>
            </a:pathLst>
          </a:custGeom>
          <a:solidFill>
            <a:srgbClr val="000000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41" name="022_et_label"/>
          <p:cNvSpPr txBox="1"/>
          <p:nvPr/>
        </p:nvSpPr>
        <p:spPr>
          <a:xfrm>
            <a:off x="6292850" y="374650"/>
            <a:ext cx="266700" cy="215900"/>
          </a:xfrm>
          <a:prstGeom prst="rect">
            <a:avLst/>
          </a:prstGeom>
          <a:noFill/>
          <a:effectLst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</a:pPr>
            <a:r>
              <a:rPr sz="1250" b="1" i="1">
                <a:solidFill>
                  <a:srgbClr val="000000"/>
                </a:solidFill>
                <a:latin typeface="Latin Modern Math"/>
              </a:rPr>
              <a:t>e_t</a:t>
            </a:r>
          </a:p>
        </p:txBody>
      </p:sp>
      <p:sp>
        <p:nvSpPr>
          <p:cNvPr id="42" name="023_prompt_box"/>
          <p:cNvSpPr/>
          <p:nvPr/>
        </p:nvSpPr>
        <p:spPr>
          <a:xfrm>
            <a:off x="368300" y="711200"/>
            <a:ext cx="1828800" cy="298450"/>
          </a:xfrm>
          <a:prstGeom prst="roundRect">
            <a:avLst>
              <a:gd name="adj" fmla="val 19148"/>
            </a:avLst>
          </a:prstGeom>
          <a:solidFill>
            <a:srgbClr val="F2F2F2"/>
          </a:solidFill>
          <a:ln w="19050">
            <a:solidFill>
              <a:srgbClr val="A6A6A6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43" name="024_prompt_label"/>
          <p:cNvSpPr txBox="1"/>
          <p:nvPr/>
        </p:nvSpPr>
        <p:spPr>
          <a:xfrm>
            <a:off x="400050" y="717550"/>
            <a:ext cx="1765300" cy="285750"/>
          </a:xfrm>
          <a:prstGeom prst="rect">
            <a:avLst/>
          </a:prstGeom>
          <a:noFill/>
          <a:effectLst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000000"/>
                </a:solidFill>
                <a:latin typeface="Liberation Serif"/>
              </a:rPr>
              <a:t>&lt;spatula, scrape, plate&gt;</a:t>
            </a:r>
          </a:p>
        </p:txBody>
      </p:sp>
      <p:sp>
        <p:nvSpPr>
          <p:cNvPr id="44" name="025_prompt_caption"/>
          <p:cNvSpPr txBox="1"/>
          <p:nvPr/>
        </p:nvSpPr>
        <p:spPr>
          <a:xfrm>
            <a:off x="635000" y="1047749"/>
            <a:ext cx="1333500" cy="177800"/>
          </a:xfrm>
          <a:prstGeom prst="rect">
            <a:avLst/>
          </a:prstGeom>
          <a:noFill/>
          <a:effectLst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000000"/>
                </a:solidFill>
                <a:latin typeface="Liberation Serif"/>
              </a:rPr>
              <a:t>Prompts P</a:t>
            </a:r>
          </a:p>
        </p:txBody>
      </p:sp>
      <p:sp>
        <p:nvSpPr>
          <p:cNvPr id="45" name="026_t5_encoder_box"/>
          <p:cNvSpPr/>
          <p:nvPr/>
        </p:nvSpPr>
        <p:spPr>
          <a:xfrm>
            <a:off x="2463800" y="711200"/>
            <a:ext cx="1250950" cy="298450"/>
          </a:xfrm>
          <a:prstGeom prst="roundRect">
            <a:avLst>
              <a:gd name="adj" fmla="val 19148"/>
            </a:avLst>
          </a:prstGeom>
          <a:solidFill>
            <a:srgbClr val="97BAFE"/>
          </a:solidFill>
          <a:ln w="19050">
            <a:solidFill>
              <a:srgbClr val="2C6CA2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46" name="027_t5_encoder_label"/>
          <p:cNvSpPr txBox="1"/>
          <p:nvPr/>
        </p:nvSpPr>
        <p:spPr>
          <a:xfrm>
            <a:off x="2495550" y="717550"/>
            <a:ext cx="1187450" cy="285750"/>
          </a:xfrm>
          <a:prstGeom prst="rect">
            <a:avLst/>
          </a:prstGeom>
          <a:noFill/>
          <a:effectLst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</a:pPr>
            <a:r>
              <a:rPr sz="1250" b="1" i="0">
                <a:solidFill>
                  <a:srgbClr val="000000"/>
                </a:solidFill>
                <a:latin typeface="Liberation Serif"/>
              </a:rPr>
              <a:t>T5 Encoder</a:t>
            </a:r>
          </a:p>
        </p:txBody>
      </p:sp>
      <p:sp>
        <p:nvSpPr>
          <p:cNvPr id="47" name="028_t5_snow"/>
          <p:cNvSpPr txBox="1"/>
          <p:nvPr/>
        </p:nvSpPr>
        <p:spPr>
          <a:xfrm>
            <a:off x="3517900" y="717550"/>
            <a:ext cx="165100" cy="152400"/>
          </a:xfrm>
          <a:prstGeom prst="rect">
            <a:avLst/>
          </a:prstGeom>
          <a:noFill/>
          <a:effectLst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</a:pPr>
            <a:r>
              <a:rPr sz="900" b="1" i="0">
                <a:solidFill>
                  <a:srgbClr val="00AEF0"/>
                </a:solidFill>
                <a:latin typeface="Liberation Serif"/>
              </a:rPr>
              <a:t>❄</a:t>
            </a:r>
          </a:p>
        </p:txBody>
      </p:sp>
      <p:cxnSp>
        <p:nvCxnSpPr>
          <p:cNvPr id="48" name="029_prompt_to_t5_0"/>
          <p:cNvCxnSpPr/>
          <p:nvPr/>
        </p:nvCxnSpPr>
        <p:spPr>
          <a:xfrm>
            <a:off x="2197100" y="863600"/>
            <a:ext cx="266700" cy="0"/>
          </a:xfrm>
          <a:prstGeom prst="line">
            <a:avLst/>
          </a:prstGeom>
          <a:ln w="15875">
            <a:solidFill>
              <a:srgbClr val="000000"/>
            </a:solidFill>
          </a:ln>
          <a:effectLst/>
        </p:spPr>
      </p:cxnSp>
      <p:sp>
        <p:nvSpPr>
          <p:cNvPr id="49" name="029_prompt_to_t5_arrowhead"/>
          <p:cNvSpPr/>
          <p:nvPr/>
        </p:nvSpPr>
        <p:spPr>
          <a:xfrm>
            <a:off x="2413000" y="838200"/>
            <a:ext cx="50800" cy="50800"/>
          </a:xfrm>
          <a:custGeom>
            <a:avLst/>
            <a:gdLst/>
            <a:ahLst/>
            <a:cxnLst/>
            <a:rect l="l" t="t" r="r" b="b"/>
            <a:pathLst>
              <a:path w="50800" h="50800">
                <a:moveTo>
                  <a:pt x="50800" y="25400"/>
                </a:moveTo>
                <a:lnTo>
                  <a:pt x="0" y="50800"/>
                </a:lnTo>
                <a:lnTo>
                  <a:pt x="0" y="0"/>
                </a:lnTo>
                <a:close/>
              </a:path>
            </a:pathLst>
          </a:custGeom>
          <a:solidFill>
            <a:srgbClr val="000000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cxnSp>
        <p:nvCxnSpPr>
          <p:cNvPr id="50" name="030_t5_to_strip_0"/>
          <p:cNvCxnSpPr/>
          <p:nvPr/>
        </p:nvCxnSpPr>
        <p:spPr>
          <a:xfrm>
            <a:off x="3714750" y="863600"/>
            <a:ext cx="463550" cy="0"/>
          </a:xfrm>
          <a:prstGeom prst="line">
            <a:avLst/>
          </a:prstGeom>
          <a:ln w="15875">
            <a:solidFill>
              <a:srgbClr val="000000"/>
            </a:solidFill>
          </a:ln>
          <a:effectLst/>
        </p:spPr>
      </p:cxnSp>
      <p:cxnSp>
        <p:nvCxnSpPr>
          <p:cNvPr id="51" name="030_t5_to_strip_1"/>
          <p:cNvCxnSpPr/>
          <p:nvPr/>
        </p:nvCxnSpPr>
        <p:spPr>
          <a:xfrm>
            <a:off x="4178300" y="863600"/>
            <a:ext cx="0" cy="196850"/>
          </a:xfrm>
          <a:prstGeom prst="line">
            <a:avLst/>
          </a:prstGeom>
          <a:ln w="15875">
            <a:solidFill>
              <a:srgbClr val="000000"/>
            </a:solidFill>
          </a:ln>
          <a:effectLst/>
        </p:spPr>
      </p:cxnSp>
      <p:sp>
        <p:nvSpPr>
          <p:cNvPr id="52" name="030_t5_to_strip_arrowhead"/>
          <p:cNvSpPr/>
          <p:nvPr/>
        </p:nvSpPr>
        <p:spPr>
          <a:xfrm>
            <a:off x="4152900" y="1009650"/>
            <a:ext cx="50800" cy="50800"/>
          </a:xfrm>
          <a:custGeom>
            <a:avLst/>
            <a:gdLst/>
            <a:ahLst/>
            <a:cxnLst/>
            <a:rect l="l" t="t" r="r" b="b"/>
            <a:pathLst>
              <a:path w="50800" h="50800">
                <a:moveTo>
                  <a:pt x="25400" y="50800"/>
                </a:moveTo>
                <a:lnTo>
                  <a:pt x="0" y="0"/>
                </a:lnTo>
                <a:lnTo>
                  <a:pt x="50800" y="0"/>
                </a:lnTo>
                <a:close/>
              </a:path>
            </a:pathLst>
          </a:custGeom>
          <a:solidFill>
            <a:srgbClr val="000000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53" name="031_etext_label"/>
          <p:cNvSpPr txBox="1"/>
          <p:nvPr/>
        </p:nvSpPr>
        <p:spPr>
          <a:xfrm>
            <a:off x="3778250" y="584200"/>
            <a:ext cx="482600" cy="215900"/>
          </a:xfrm>
          <a:prstGeom prst="rect">
            <a:avLst/>
          </a:prstGeom>
          <a:noFill/>
          <a:effectLst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1">
                <a:solidFill>
                  <a:srgbClr val="000000"/>
                </a:solidFill>
                <a:latin typeface="Latin Modern Math"/>
              </a:rPr>
              <a:t>e_text</a:t>
            </a:r>
          </a:p>
        </p:txBody>
      </p:sp>
      <p:pic>
        <p:nvPicPr>
          <p:cNvPr id="54" name="032_reference_photo" descr="reference_phot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74650" y="1587500"/>
            <a:ext cx="1308100" cy="844550"/>
          </a:xfrm>
          <a:prstGeom prst="rect">
            <a:avLst/>
          </a:prstGeom>
          <a:effectLst/>
        </p:spPr>
      </p:pic>
      <p:sp>
        <p:nvSpPr>
          <p:cNvPr id="55" name="033_reference_caption"/>
          <p:cNvSpPr txBox="1"/>
          <p:nvPr/>
        </p:nvSpPr>
        <p:spPr>
          <a:xfrm>
            <a:off x="584200" y="2495550"/>
            <a:ext cx="901700" cy="215900"/>
          </a:xfrm>
          <a:prstGeom prst="rect">
            <a:avLst/>
          </a:prstGeom>
          <a:noFill/>
          <a:effectLst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000000"/>
                </a:solidFill>
                <a:latin typeface="Liberation Serif"/>
              </a:rPr>
              <a:t>Ref Img I</a:t>
            </a:r>
          </a:p>
        </p:txBody>
      </p:sp>
      <p:cxnSp>
        <p:nvCxnSpPr>
          <p:cNvPr id="56" name="034_ref_to_venc_0"/>
          <p:cNvCxnSpPr/>
          <p:nvPr/>
        </p:nvCxnSpPr>
        <p:spPr>
          <a:xfrm>
            <a:off x="1682750" y="2006600"/>
            <a:ext cx="127000" cy="0"/>
          </a:xfrm>
          <a:prstGeom prst="line">
            <a:avLst/>
          </a:prstGeom>
          <a:ln w="15875">
            <a:solidFill>
              <a:srgbClr val="000000"/>
            </a:solidFill>
          </a:ln>
          <a:effectLst/>
        </p:spPr>
      </p:cxnSp>
      <p:sp>
        <p:nvSpPr>
          <p:cNvPr id="57" name="034_ref_to_venc_arrowhead"/>
          <p:cNvSpPr/>
          <p:nvPr/>
        </p:nvSpPr>
        <p:spPr>
          <a:xfrm>
            <a:off x="1758950" y="1981199"/>
            <a:ext cx="50800" cy="50801"/>
          </a:xfrm>
          <a:custGeom>
            <a:avLst/>
            <a:gdLst/>
            <a:ahLst/>
            <a:cxnLst/>
            <a:rect l="l" t="t" r="r" b="b"/>
            <a:pathLst>
              <a:path w="50800" h="50801">
                <a:moveTo>
                  <a:pt x="50800" y="25401"/>
                </a:moveTo>
                <a:lnTo>
                  <a:pt x="0" y="50801"/>
                </a:lnTo>
                <a:lnTo>
                  <a:pt x="0" y="0"/>
                </a:lnTo>
                <a:close/>
              </a:path>
            </a:pathLst>
          </a:custGeom>
          <a:solidFill>
            <a:srgbClr val="000000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58" name="035_video_encoder_shape"/>
          <p:cNvSpPr/>
          <p:nvPr/>
        </p:nvSpPr>
        <p:spPr>
          <a:xfrm>
            <a:off x="1809750" y="1587500"/>
            <a:ext cx="558800" cy="850900"/>
          </a:xfrm>
          <a:custGeom>
            <a:avLst/>
            <a:gdLst/>
            <a:ahLst/>
            <a:cxnLst/>
            <a:rect l="l" t="t" r="r" b="b"/>
            <a:pathLst>
              <a:path w="558800" h="850900">
                <a:moveTo>
                  <a:pt x="0" y="0"/>
                </a:moveTo>
                <a:lnTo>
                  <a:pt x="558800" y="114300"/>
                </a:lnTo>
                <a:lnTo>
                  <a:pt x="558800" y="736600"/>
                </a:lnTo>
                <a:lnTo>
                  <a:pt x="0" y="850900"/>
                </a:lnTo>
                <a:close/>
              </a:path>
            </a:pathLst>
          </a:custGeom>
          <a:solidFill>
            <a:srgbClr val="C2DAF6"/>
          </a:solidFill>
          <a:ln w="19050">
            <a:solidFill>
              <a:srgbClr val="2C6CA2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59" name="036_video_encoder_snow"/>
          <p:cNvSpPr txBox="1"/>
          <p:nvPr/>
        </p:nvSpPr>
        <p:spPr>
          <a:xfrm>
            <a:off x="1841500" y="1644650"/>
            <a:ext cx="177800" cy="177800"/>
          </a:xfrm>
          <a:prstGeom prst="rect">
            <a:avLst/>
          </a:prstGeom>
          <a:noFill/>
          <a:effectLst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00AEF0"/>
                </a:solidFill>
                <a:latin typeface="Liberation Serif"/>
              </a:rPr>
              <a:t>❄</a:t>
            </a:r>
          </a:p>
        </p:txBody>
      </p:sp>
      <p:sp>
        <p:nvSpPr>
          <p:cNvPr id="60" name="037_video_encoder_label"/>
          <p:cNvSpPr txBox="1"/>
          <p:nvPr/>
        </p:nvSpPr>
        <p:spPr>
          <a:xfrm rot="5400000">
            <a:off x="1771650" y="1771650"/>
            <a:ext cx="749300" cy="482600"/>
          </a:xfrm>
          <a:prstGeom prst="rect">
            <a:avLst/>
          </a:prstGeom>
          <a:noFill/>
          <a:effectLst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</a:pPr>
            <a:r>
              <a:rPr sz="1150" b="1" i="0">
                <a:solidFill>
                  <a:srgbClr val="000000"/>
                </a:solidFill>
                <a:latin typeface="Liberation Serif"/>
              </a:rPr>
              <a:t>3D VAE</a:t>
            </a:r>
          </a:p>
          <a:p>
            <a:pPr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</a:pPr>
            <a:r>
              <a:rPr sz="1150" b="1" i="0">
                <a:solidFill>
                  <a:srgbClr val="000000"/>
                </a:solidFill>
                <a:latin typeface="Liberation Serif"/>
              </a:rPr>
              <a:t>Enc</a:t>
            </a:r>
          </a:p>
        </p:txBody>
      </p:sp>
      <p:cxnSp>
        <p:nvCxnSpPr>
          <p:cNvPr id="61" name="038_venc_to_zl_0"/>
          <p:cNvCxnSpPr/>
          <p:nvPr/>
        </p:nvCxnSpPr>
        <p:spPr>
          <a:xfrm>
            <a:off x="2368550" y="2012950"/>
            <a:ext cx="298450" cy="0"/>
          </a:xfrm>
          <a:prstGeom prst="line">
            <a:avLst/>
          </a:prstGeom>
          <a:ln w="15875">
            <a:solidFill>
              <a:srgbClr val="000000"/>
            </a:solidFill>
          </a:ln>
          <a:effectLst/>
        </p:spPr>
      </p:cxnSp>
      <p:sp>
        <p:nvSpPr>
          <p:cNvPr id="62" name="039_zI_box"/>
          <p:cNvSpPr/>
          <p:nvPr/>
        </p:nvSpPr>
        <p:spPr>
          <a:xfrm>
            <a:off x="2667000" y="1822450"/>
            <a:ext cx="406400" cy="406400"/>
          </a:xfrm>
          <a:prstGeom prst="rect">
            <a:avLst/>
          </a:prstGeom>
          <a:solidFill>
            <a:srgbClr val="FECCCB"/>
          </a:solidFill>
          <a:ln w="19050">
            <a:solidFill>
              <a:srgbClr val="FF7176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63" name="040_zI_text"/>
          <p:cNvSpPr txBox="1"/>
          <p:nvPr/>
        </p:nvSpPr>
        <p:spPr>
          <a:xfrm>
            <a:off x="2667000" y="1841500"/>
            <a:ext cx="406400" cy="361950"/>
          </a:xfrm>
          <a:prstGeom prst="rect">
            <a:avLst/>
          </a:prstGeom>
          <a:noFill/>
          <a:effectLst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</a:pPr>
            <a:r>
              <a:rPr sz="1250" b="1" i="1">
                <a:solidFill>
                  <a:srgbClr val="000000"/>
                </a:solidFill>
                <a:latin typeface="Latin Modern Math"/>
              </a:rPr>
              <a:t>z^I</a:t>
            </a:r>
          </a:p>
        </p:txBody>
      </p:sp>
      <p:cxnSp>
        <p:nvCxnSpPr>
          <p:cNvPr id="64" name="041_zI_to_concat_0"/>
          <p:cNvCxnSpPr/>
          <p:nvPr/>
        </p:nvCxnSpPr>
        <p:spPr>
          <a:xfrm>
            <a:off x="3073400" y="2012950"/>
            <a:ext cx="273050" cy="0"/>
          </a:xfrm>
          <a:prstGeom prst="line">
            <a:avLst/>
          </a:prstGeom>
          <a:ln w="15875">
            <a:solidFill>
              <a:srgbClr val="000000"/>
            </a:solidFill>
          </a:ln>
          <a:effectLst/>
        </p:spPr>
      </p:cxnSp>
      <p:sp>
        <p:nvSpPr>
          <p:cNvPr id="65" name="042_video_noise_cube_top"/>
          <p:cNvSpPr/>
          <p:nvPr/>
        </p:nvSpPr>
        <p:spPr>
          <a:xfrm>
            <a:off x="3213100" y="1181100"/>
            <a:ext cx="533400" cy="127000"/>
          </a:xfrm>
          <a:custGeom>
            <a:avLst/>
            <a:gdLst/>
            <a:ahLst/>
            <a:cxnLst/>
            <a:rect l="l" t="t" r="r" b="b"/>
            <a:pathLst>
              <a:path w="533400" h="127000">
                <a:moveTo>
                  <a:pt x="0" y="127000"/>
                </a:moveTo>
                <a:lnTo>
                  <a:pt x="127000" y="0"/>
                </a:lnTo>
                <a:lnTo>
                  <a:pt x="533400" y="0"/>
                </a:lnTo>
                <a:lnTo>
                  <a:pt x="406400" y="127000"/>
                </a:lnTo>
                <a:close/>
              </a:path>
            </a:pathLst>
          </a:custGeom>
          <a:solidFill>
            <a:srgbClr val="FAE6F9"/>
          </a:solidFill>
          <a:ln w="19050">
            <a:solidFill>
              <a:srgbClr val="AA2FA5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66" name="043_video_noise_cube_side"/>
          <p:cNvSpPr/>
          <p:nvPr/>
        </p:nvSpPr>
        <p:spPr>
          <a:xfrm>
            <a:off x="3619500" y="1181100"/>
            <a:ext cx="127000" cy="533400"/>
          </a:xfrm>
          <a:custGeom>
            <a:avLst/>
            <a:gdLst/>
            <a:ahLst/>
            <a:cxnLst/>
            <a:rect l="l" t="t" r="r" b="b"/>
            <a:pathLst>
              <a:path w="127000" h="533400">
                <a:moveTo>
                  <a:pt x="0" y="127000"/>
                </a:moveTo>
                <a:lnTo>
                  <a:pt x="127000" y="0"/>
                </a:lnTo>
                <a:lnTo>
                  <a:pt x="127000" y="406400"/>
                </a:lnTo>
                <a:lnTo>
                  <a:pt x="0" y="533400"/>
                </a:lnTo>
                <a:close/>
              </a:path>
            </a:pathLst>
          </a:custGeom>
          <a:solidFill>
            <a:srgbClr val="E49EDD"/>
          </a:solidFill>
          <a:ln w="19050">
            <a:solidFill>
              <a:srgbClr val="AA2FA5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67" name="044_video_noise_cube_front"/>
          <p:cNvSpPr/>
          <p:nvPr/>
        </p:nvSpPr>
        <p:spPr>
          <a:xfrm>
            <a:off x="3213100" y="1308100"/>
            <a:ext cx="406400" cy="406400"/>
          </a:xfrm>
          <a:prstGeom prst="rect">
            <a:avLst/>
          </a:prstGeom>
          <a:solidFill>
            <a:srgbClr val="FBF1FA"/>
          </a:solidFill>
          <a:ln w="19050">
            <a:solidFill>
              <a:srgbClr val="AA2FA5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68" name="045_video_noise_cube_grain_0"/>
          <p:cNvSpPr/>
          <p:nvPr/>
        </p:nvSpPr>
        <p:spPr>
          <a:xfrm>
            <a:off x="3251200" y="1346200"/>
            <a:ext cx="22225" cy="22225"/>
          </a:xfrm>
          <a:prstGeom prst="ellipse">
            <a:avLst/>
          </a:prstGeom>
          <a:solidFill>
            <a:srgbClr val="AA2FA5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69" name="046_video_noise_cube_grain_1"/>
          <p:cNvSpPr/>
          <p:nvPr/>
        </p:nvSpPr>
        <p:spPr>
          <a:xfrm>
            <a:off x="3359150" y="1530350"/>
            <a:ext cx="22225" cy="22225"/>
          </a:xfrm>
          <a:prstGeom prst="ellipse">
            <a:avLst/>
          </a:prstGeom>
          <a:solidFill>
            <a:srgbClr val="AA2FA5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70" name="047_video_noise_cube_grain_2"/>
          <p:cNvSpPr/>
          <p:nvPr/>
        </p:nvSpPr>
        <p:spPr>
          <a:xfrm>
            <a:off x="3467100" y="1384300"/>
            <a:ext cx="22225" cy="22225"/>
          </a:xfrm>
          <a:prstGeom prst="ellipse">
            <a:avLst/>
          </a:prstGeom>
          <a:solidFill>
            <a:srgbClr val="AA2FA5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71" name="048_video_noise_cube_grain_3"/>
          <p:cNvSpPr/>
          <p:nvPr/>
        </p:nvSpPr>
        <p:spPr>
          <a:xfrm>
            <a:off x="3575050" y="1568450"/>
            <a:ext cx="22225" cy="22225"/>
          </a:xfrm>
          <a:prstGeom prst="ellipse">
            <a:avLst/>
          </a:prstGeom>
          <a:solidFill>
            <a:srgbClr val="AA2FA5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72" name="049_video_noise_cube_grain_4"/>
          <p:cNvSpPr/>
          <p:nvPr/>
        </p:nvSpPr>
        <p:spPr>
          <a:xfrm>
            <a:off x="3352800" y="1422400"/>
            <a:ext cx="22225" cy="22225"/>
          </a:xfrm>
          <a:prstGeom prst="ellipse">
            <a:avLst/>
          </a:prstGeom>
          <a:solidFill>
            <a:srgbClr val="AA2FA5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73" name="050_video_noise_cube_grain_5"/>
          <p:cNvSpPr/>
          <p:nvPr/>
        </p:nvSpPr>
        <p:spPr>
          <a:xfrm>
            <a:off x="3460750" y="1606550"/>
            <a:ext cx="22225" cy="22225"/>
          </a:xfrm>
          <a:prstGeom prst="ellipse">
            <a:avLst/>
          </a:prstGeom>
          <a:solidFill>
            <a:srgbClr val="AA2FA5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74" name="051_video_noise_cube_grain_6"/>
          <p:cNvSpPr/>
          <p:nvPr/>
        </p:nvSpPr>
        <p:spPr>
          <a:xfrm>
            <a:off x="3568700" y="1460500"/>
            <a:ext cx="22225" cy="22225"/>
          </a:xfrm>
          <a:prstGeom prst="ellipse">
            <a:avLst/>
          </a:prstGeom>
          <a:solidFill>
            <a:srgbClr val="AA2FA5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75" name="052_video_noise_cube_grain_7"/>
          <p:cNvSpPr/>
          <p:nvPr/>
        </p:nvSpPr>
        <p:spPr>
          <a:xfrm>
            <a:off x="3346450" y="1644650"/>
            <a:ext cx="22225" cy="22225"/>
          </a:xfrm>
          <a:prstGeom prst="ellipse">
            <a:avLst/>
          </a:prstGeom>
          <a:solidFill>
            <a:srgbClr val="AA2FA5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76" name="053_video_noise_cube_grain_8"/>
          <p:cNvSpPr/>
          <p:nvPr/>
        </p:nvSpPr>
        <p:spPr>
          <a:xfrm>
            <a:off x="3454400" y="1498600"/>
            <a:ext cx="22225" cy="22225"/>
          </a:xfrm>
          <a:prstGeom prst="ellipse">
            <a:avLst/>
          </a:prstGeom>
          <a:solidFill>
            <a:srgbClr val="AA2FA5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77" name="054_video_noise_cube_grain_9"/>
          <p:cNvSpPr/>
          <p:nvPr/>
        </p:nvSpPr>
        <p:spPr>
          <a:xfrm>
            <a:off x="3562350" y="1352550"/>
            <a:ext cx="22225" cy="22225"/>
          </a:xfrm>
          <a:prstGeom prst="ellipse">
            <a:avLst/>
          </a:prstGeom>
          <a:solidFill>
            <a:srgbClr val="AA2FA5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78" name="055_video_noise_cube_grain_10"/>
          <p:cNvSpPr/>
          <p:nvPr/>
        </p:nvSpPr>
        <p:spPr>
          <a:xfrm>
            <a:off x="3340100" y="1536700"/>
            <a:ext cx="22225" cy="22225"/>
          </a:xfrm>
          <a:prstGeom prst="ellipse">
            <a:avLst/>
          </a:prstGeom>
          <a:solidFill>
            <a:srgbClr val="AA2FA5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79" name="056_video_noise_cube_grain_11"/>
          <p:cNvSpPr/>
          <p:nvPr/>
        </p:nvSpPr>
        <p:spPr>
          <a:xfrm>
            <a:off x="3448050" y="1390650"/>
            <a:ext cx="22225" cy="22225"/>
          </a:xfrm>
          <a:prstGeom prst="ellipse">
            <a:avLst/>
          </a:prstGeom>
          <a:solidFill>
            <a:srgbClr val="AA2FA5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80" name="057_video_noise_cube_grain_12"/>
          <p:cNvSpPr/>
          <p:nvPr/>
        </p:nvSpPr>
        <p:spPr>
          <a:xfrm>
            <a:off x="3556000" y="1574800"/>
            <a:ext cx="22225" cy="22225"/>
          </a:xfrm>
          <a:prstGeom prst="ellipse">
            <a:avLst/>
          </a:prstGeom>
          <a:solidFill>
            <a:srgbClr val="AA2FA5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81" name="058_video_noise_cube_grain_13"/>
          <p:cNvSpPr/>
          <p:nvPr/>
        </p:nvSpPr>
        <p:spPr>
          <a:xfrm>
            <a:off x="3333750" y="1428750"/>
            <a:ext cx="22225" cy="22225"/>
          </a:xfrm>
          <a:prstGeom prst="ellipse">
            <a:avLst/>
          </a:prstGeom>
          <a:solidFill>
            <a:srgbClr val="AA2FA5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82" name="059_video_noise_cube_grain_14"/>
          <p:cNvSpPr/>
          <p:nvPr/>
        </p:nvSpPr>
        <p:spPr>
          <a:xfrm>
            <a:off x="3441700" y="1612900"/>
            <a:ext cx="22225" cy="22225"/>
          </a:xfrm>
          <a:prstGeom prst="ellipse">
            <a:avLst/>
          </a:prstGeom>
          <a:solidFill>
            <a:srgbClr val="AA2FA5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83" name="060_video_noise_cube_grain_15"/>
          <p:cNvSpPr/>
          <p:nvPr/>
        </p:nvSpPr>
        <p:spPr>
          <a:xfrm>
            <a:off x="3549650" y="1466850"/>
            <a:ext cx="22225" cy="22225"/>
          </a:xfrm>
          <a:prstGeom prst="ellipse">
            <a:avLst/>
          </a:prstGeom>
          <a:solidFill>
            <a:srgbClr val="AA2FA5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84" name="061_video_noise_cube_grain_16"/>
          <p:cNvSpPr/>
          <p:nvPr/>
        </p:nvSpPr>
        <p:spPr>
          <a:xfrm>
            <a:off x="3327400" y="1651000"/>
            <a:ext cx="22225" cy="22225"/>
          </a:xfrm>
          <a:prstGeom prst="ellipse">
            <a:avLst/>
          </a:prstGeom>
          <a:solidFill>
            <a:srgbClr val="AA2FA5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85" name="062_video_noise_cube_grain_17"/>
          <p:cNvSpPr/>
          <p:nvPr/>
        </p:nvSpPr>
        <p:spPr>
          <a:xfrm>
            <a:off x="3435350" y="1504950"/>
            <a:ext cx="22225" cy="22225"/>
          </a:xfrm>
          <a:prstGeom prst="ellipse">
            <a:avLst/>
          </a:prstGeom>
          <a:solidFill>
            <a:srgbClr val="AA2FA5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86" name="063_ztv_label"/>
          <p:cNvSpPr txBox="1"/>
          <p:nvPr/>
        </p:nvSpPr>
        <p:spPr>
          <a:xfrm>
            <a:off x="2787650" y="1390650"/>
            <a:ext cx="412750" cy="215900"/>
          </a:xfrm>
          <a:prstGeom prst="rect">
            <a:avLst/>
          </a:prstGeom>
          <a:noFill/>
          <a:effectLst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 i="1">
                <a:solidFill>
                  <a:srgbClr val="000000"/>
                </a:solidFill>
                <a:latin typeface="Latin Modern Math"/>
              </a:rPr>
              <a:t>z_t^V</a:t>
            </a:r>
          </a:p>
        </p:txBody>
      </p:sp>
      <p:cxnSp>
        <p:nvCxnSpPr>
          <p:cNvPr id="87" name="064_zv_to_concat_0"/>
          <p:cNvCxnSpPr/>
          <p:nvPr/>
        </p:nvCxnSpPr>
        <p:spPr>
          <a:xfrm>
            <a:off x="3479800" y="1714500"/>
            <a:ext cx="0" cy="171450"/>
          </a:xfrm>
          <a:prstGeom prst="line">
            <a:avLst/>
          </a:prstGeom>
          <a:ln w="15875">
            <a:solidFill>
              <a:srgbClr val="000000"/>
            </a:solidFill>
          </a:ln>
          <a:effectLst/>
        </p:spPr>
      </p:cxnSp>
      <p:sp>
        <p:nvSpPr>
          <p:cNvPr id="88" name="064_zv_to_concat_arrowhead"/>
          <p:cNvSpPr/>
          <p:nvPr/>
        </p:nvSpPr>
        <p:spPr>
          <a:xfrm>
            <a:off x="3454400" y="1835150"/>
            <a:ext cx="50800" cy="50800"/>
          </a:xfrm>
          <a:custGeom>
            <a:avLst/>
            <a:gdLst/>
            <a:ahLst/>
            <a:cxnLst/>
            <a:rect l="l" t="t" r="r" b="b"/>
            <a:pathLst>
              <a:path w="50800" h="50800">
                <a:moveTo>
                  <a:pt x="25400" y="50800"/>
                </a:moveTo>
                <a:lnTo>
                  <a:pt x="0" y="0"/>
                </a:lnTo>
                <a:lnTo>
                  <a:pt x="50800" y="0"/>
                </a:lnTo>
                <a:close/>
              </a:path>
            </a:pathLst>
          </a:custGeom>
          <a:solidFill>
            <a:srgbClr val="000000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89" name="065_video_concat_circle"/>
          <p:cNvSpPr/>
          <p:nvPr/>
        </p:nvSpPr>
        <p:spPr>
          <a:xfrm>
            <a:off x="3346450" y="1879599"/>
            <a:ext cx="266700" cy="266700"/>
          </a:xfrm>
          <a:prstGeom prst="ellipse">
            <a:avLst/>
          </a:prstGeom>
          <a:solidFill>
            <a:srgbClr val="FEFDF9"/>
          </a:solidFill>
          <a:ln w="19050">
            <a:solidFill>
              <a:srgbClr val="000000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cxnSp>
        <p:nvCxnSpPr>
          <p:cNvPr id="90" name="066_video_concat_vert_0"/>
          <p:cNvCxnSpPr/>
          <p:nvPr/>
        </p:nvCxnSpPr>
        <p:spPr>
          <a:xfrm>
            <a:off x="3479800" y="1892300"/>
            <a:ext cx="0" cy="241300"/>
          </a:xfrm>
          <a:prstGeom prst="line">
            <a:avLst/>
          </a:prstGeom>
          <a:ln w="19050">
            <a:solidFill>
              <a:srgbClr val="000000"/>
            </a:solidFill>
          </a:ln>
          <a:effectLst/>
        </p:spPr>
      </p:cxnSp>
      <p:cxnSp>
        <p:nvCxnSpPr>
          <p:cNvPr id="91" name="067_video_concat_horiz_0"/>
          <p:cNvCxnSpPr/>
          <p:nvPr/>
        </p:nvCxnSpPr>
        <p:spPr>
          <a:xfrm>
            <a:off x="3359150" y="2012950"/>
            <a:ext cx="241300" cy="0"/>
          </a:xfrm>
          <a:prstGeom prst="line">
            <a:avLst/>
          </a:prstGeom>
          <a:ln w="19050">
            <a:solidFill>
              <a:srgbClr val="000000"/>
            </a:solidFill>
          </a:ln>
          <a:effectLst/>
        </p:spPr>
      </p:cxnSp>
      <p:cxnSp>
        <p:nvCxnSpPr>
          <p:cNvPr id="92" name="068_video_concat_to_strip_0"/>
          <p:cNvCxnSpPr/>
          <p:nvPr/>
        </p:nvCxnSpPr>
        <p:spPr>
          <a:xfrm>
            <a:off x="3613150" y="2012950"/>
            <a:ext cx="457200" cy="0"/>
          </a:xfrm>
          <a:prstGeom prst="line">
            <a:avLst/>
          </a:prstGeom>
          <a:ln w="15875">
            <a:solidFill>
              <a:srgbClr val="000000"/>
            </a:solidFill>
          </a:ln>
          <a:effectLst/>
        </p:spPr>
      </p:cxnSp>
      <p:sp>
        <p:nvSpPr>
          <p:cNvPr id="93" name="068_video_concat_to_strip_arrowhead"/>
          <p:cNvSpPr/>
          <p:nvPr/>
        </p:nvSpPr>
        <p:spPr>
          <a:xfrm>
            <a:off x="4019549" y="1987550"/>
            <a:ext cx="50801" cy="50799"/>
          </a:xfrm>
          <a:custGeom>
            <a:avLst/>
            <a:gdLst/>
            <a:ahLst/>
            <a:cxnLst/>
            <a:rect l="l" t="t" r="r" b="b"/>
            <a:pathLst>
              <a:path w="50801" h="50799">
                <a:moveTo>
                  <a:pt x="50801" y="25400"/>
                </a:moveTo>
                <a:lnTo>
                  <a:pt x="0" y="50799"/>
                </a:lnTo>
                <a:lnTo>
                  <a:pt x="0" y="0"/>
                </a:lnTo>
                <a:close/>
              </a:path>
            </a:pathLst>
          </a:custGeom>
          <a:solidFill>
            <a:srgbClr val="000000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94" name="069_ev_label"/>
          <p:cNvSpPr txBox="1"/>
          <p:nvPr/>
        </p:nvSpPr>
        <p:spPr>
          <a:xfrm>
            <a:off x="3740150" y="2070100"/>
            <a:ext cx="292100" cy="203200"/>
          </a:xfrm>
          <a:prstGeom prst="rect">
            <a:avLst/>
          </a:prstGeom>
          <a:noFill/>
          <a:effectLst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1">
                <a:solidFill>
                  <a:srgbClr val="000000"/>
                </a:solidFill>
                <a:latin typeface="Latin Modern Math"/>
              </a:rPr>
              <a:t>e_V</a:t>
            </a:r>
          </a:p>
        </p:txBody>
      </p:sp>
      <p:sp>
        <p:nvSpPr>
          <p:cNvPr id="95" name="070_motion_encoder_shape"/>
          <p:cNvSpPr/>
          <p:nvPr/>
        </p:nvSpPr>
        <p:spPr>
          <a:xfrm>
            <a:off x="1809750" y="2641600"/>
            <a:ext cx="558800" cy="838200"/>
          </a:xfrm>
          <a:custGeom>
            <a:avLst/>
            <a:gdLst/>
            <a:ahLst/>
            <a:cxnLst/>
            <a:rect l="l" t="t" r="r" b="b"/>
            <a:pathLst>
              <a:path w="558800" h="838200">
                <a:moveTo>
                  <a:pt x="0" y="0"/>
                </a:moveTo>
                <a:lnTo>
                  <a:pt x="558800" y="114300"/>
                </a:lnTo>
                <a:lnTo>
                  <a:pt x="558800" y="723900"/>
                </a:lnTo>
                <a:lnTo>
                  <a:pt x="0" y="838200"/>
                </a:lnTo>
                <a:close/>
              </a:path>
            </a:pathLst>
          </a:custGeom>
          <a:solidFill>
            <a:srgbClr val="C2DAF6"/>
          </a:solidFill>
          <a:ln w="19050">
            <a:solidFill>
              <a:srgbClr val="2C6CA2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96" name="071_motion_encoder_snow"/>
          <p:cNvSpPr txBox="1"/>
          <p:nvPr/>
        </p:nvSpPr>
        <p:spPr>
          <a:xfrm>
            <a:off x="1841500" y="2698750"/>
            <a:ext cx="177800" cy="177800"/>
          </a:xfrm>
          <a:prstGeom prst="rect">
            <a:avLst/>
          </a:prstGeom>
          <a:noFill/>
          <a:effectLst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00AEF0"/>
                </a:solidFill>
                <a:latin typeface="Liberation Serif"/>
              </a:rPr>
              <a:t>❄</a:t>
            </a:r>
          </a:p>
        </p:txBody>
      </p:sp>
      <p:sp>
        <p:nvSpPr>
          <p:cNvPr id="97" name="072_motion_encoder_label"/>
          <p:cNvSpPr txBox="1"/>
          <p:nvPr/>
        </p:nvSpPr>
        <p:spPr>
          <a:xfrm rot="5400000">
            <a:off x="1778000" y="2819400"/>
            <a:ext cx="736600" cy="482600"/>
          </a:xfrm>
          <a:prstGeom prst="rect">
            <a:avLst/>
          </a:prstGeom>
          <a:noFill/>
          <a:effectLst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</a:pPr>
            <a:r>
              <a:rPr sz="1150" b="1" i="0">
                <a:solidFill>
                  <a:srgbClr val="000000"/>
                </a:solidFill>
                <a:latin typeface="Liberation Serif"/>
              </a:rPr>
              <a:t>3D VAE</a:t>
            </a:r>
          </a:p>
          <a:p>
            <a:pPr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</a:pPr>
            <a:r>
              <a:rPr sz="1150" b="1" i="0">
                <a:solidFill>
                  <a:srgbClr val="000000"/>
                </a:solidFill>
                <a:latin typeface="Liberation Serif"/>
              </a:rPr>
              <a:t>Enc</a:t>
            </a:r>
          </a:p>
        </p:txBody>
      </p:sp>
      <p:cxnSp>
        <p:nvCxnSpPr>
          <p:cNvPr id="98" name="073_motion_enc_out_0"/>
          <p:cNvCxnSpPr/>
          <p:nvPr/>
        </p:nvCxnSpPr>
        <p:spPr>
          <a:xfrm>
            <a:off x="2368550" y="3067050"/>
            <a:ext cx="234950" cy="0"/>
          </a:xfrm>
          <a:prstGeom prst="line">
            <a:avLst/>
          </a:prstGeom>
          <a:ln w="15875">
            <a:solidFill>
              <a:srgbClr val="000000"/>
            </a:solidFill>
          </a:ln>
          <a:effectLst/>
        </p:spPr>
      </p:cxnSp>
      <p:sp>
        <p:nvSpPr>
          <p:cNvPr id="99" name="074_motion_clean_cube_top"/>
          <p:cNvSpPr/>
          <p:nvPr/>
        </p:nvSpPr>
        <p:spPr>
          <a:xfrm>
            <a:off x="2603500" y="2800350"/>
            <a:ext cx="546100" cy="133350"/>
          </a:xfrm>
          <a:custGeom>
            <a:avLst/>
            <a:gdLst/>
            <a:ahLst/>
            <a:cxnLst/>
            <a:rect l="l" t="t" r="r" b="b"/>
            <a:pathLst>
              <a:path w="546100" h="133350">
                <a:moveTo>
                  <a:pt x="0" y="133350"/>
                </a:moveTo>
                <a:lnTo>
                  <a:pt x="133350" y="0"/>
                </a:lnTo>
                <a:lnTo>
                  <a:pt x="546100" y="0"/>
                </a:lnTo>
                <a:lnTo>
                  <a:pt x="412750" y="133350"/>
                </a:lnTo>
                <a:close/>
              </a:path>
            </a:pathLst>
          </a:custGeom>
          <a:solidFill>
            <a:srgbClr val="74DCFF"/>
          </a:solidFill>
          <a:ln w="19050">
            <a:solidFill>
              <a:srgbClr val="087FB9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00" name="075_motion_clean_cube_side"/>
          <p:cNvSpPr/>
          <p:nvPr/>
        </p:nvSpPr>
        <p:spPr>
          <a:xfrm>
            <a:off x="3016250" y="2800350"/>
            <a:ext cx="133350" cy="546100"/>
          </a:xfrm>
          <a:custGeom>
            <a:avLst/>
            <a:gdLst/>
            <a:ahLst/>
            <a:cxnLst/>
            <a:rect l="l" t="t" r="r" b="b"/>
            <a:pathLst>
              <a:path w="133350" h="546100">
                <a:moveTo>
                  <a:pt x="0" y="133350"/>
                </a:moveTo>
                <a:lnTo>
                  <a:pt x="133350" y="0"/>
                </a:lnTo>
                <a:lnTo>
                  <a:pt x="133350" y="412750"/>
                </a:lnTo>
                <a:lnTo>
                  <a:pt x="0" y="546100"/>
                </a:lnTo>
                <a:close/>
              </a:path>
            </a:pathLst>
          </a:custGeom>
          <a:solidFill>
            <a:srgbClr val="178CCB"/>
          </a:solidFill>
          <a:ln w="19050">
            <a:solidFill>
              <a:srgbClr val="087FB9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01" name="076_motion_clean_cube_front"/>
          <p:cNvSpPr/>
          <p:nvPr/>
        </p:nvSpPr>
        <p:spPr>
          <a:xfrm>
            <a:off x="2603500" y="2933700"/>
            <a:ext cx="412750" cy="412750"/>
          </a:xfrm>
          <a:prstGeom prst="rect">
            <a:avLst/>
          </a:prstGeom>
          <a:solidFill>
            <a:srgbClr val="25C5FF"/>
          </a:solidFill>
          <a:ln w="19050">
            <a:solidFill>
              <a:srgbClr val="087FB9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02" name="077_motion_clean_cube_label"/>
          <p:cNvSpPr txBox="1"/>
          <p:nvPr/>
        </p:nvSpPr>
        <p:spPr>
          <a:xfrm>
            <a:off x="2603500" y="2946400"/>
            <a:ext cx="412750" cy="387350"/>
          </a:xfrm>
          <a:prstGeom prst="rect">
            <a:avLst/>
          </a:prstGeom>
          <a:noFill/>
          <a:effectLst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</a:pPr>
            <a:r>
              <a:rPr sz="1150" b="1" i="1">
                <a:solidFill>
                  <a:srgbClr val="000000"/>
                </a:solidFill>
                <a:latin typeface="Latin Modern Math"/>
              </a:rPr>
              <a:t>z0^M</a:t>
            </a:r>
          </a:p>
        </p:txBody>
      </p:sp>
      <p:cxnSp>
        <p:nvCxnSpPr>
          <p:cNvPr id="103" name="078_motion_clean_to_concat_0"/>
          <p:cNvCxnSpPr/>
          <p:nvPr/>
        </p:nvCxnSpPr>
        <p:spPr>
          <a:xfrm>
            <a:off x="3149600" y="3067050"/>
            <a:ext cx="196850" cy="0"/>
          </a:xfrm>
          <a:prstGeom prst="line">
            <a:avLst/>
          </a:prstGeom>
          <a:ln w="15875">
            <a:solidFill>
              <a:srgbClr val="000000"/>
            </a:solidFill>
          </a:ln>
          <a:effectLst/>
        </p:spPr>
      </p:cxnSp>
      <p:sp>
        <p:nvSpPr>
          <p:cNvPr id="104" name="079_motion_noise_cube_top"/>
          <p:cNvSpPr/>
          <p:nvPr/>
        </p:nvSpPr>
        <p:spPr>
          <a:xfrm>
            <a:off x="3213100" y="3403600"/>
            <a:ext cx="533400" cy="127000"/>
          </a:xfrm>
          <a:custGeom>
            <a:avLst/>
            <a:gdLst/>
            <a:ahLst/>
            <a:cxnLst/>
            <a:rect l="l" t="t" r="r" b="b"/>
            <a:pathLst>
              <a:path w="533400" h="127000">
                <a:moveTo>
                  <a:pt x="0" y="127000"/>
                </a:moveTo>
                <a:lnTo>
                  <a:pt x="127000" y="0"/>
                </a:lnTo>
                <a:lnTo>
                  <a:pt x="533400" y="0"/>
                </a:lnTo>
                <a:lnTo>
                  <a:pt x="406400" y="127000"/>
                </a:lnTo>
                <a:close/>
              </a:path>
            </a:pathLst>
          </a:custGeom>
          <a:solidFill>
            <a:srgbClr val="EAF8E7"/>
          </a:solidFill>
          <a:ln w="19050">
            <a:solidFill>
              <a:srgbClr val="48A93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05" name="080_motion_noise_cube_side"/>
          <p:cNvSpPr/>
          <p:nvPr/>
        </p:nvSpPr>
        <p:spPr>
          <a:xfrm>
            <a:off x="3619500" y="3403600"/>
            <a:ext cx="127000" cy="533400"/>
          </a:xfrm>
          <a:custGeom>
            <a:avLst/>
            <a:gdLst/>
            <a:ahLst/>
            <a:cxnLst/>
            <a:rect l="l" t="t" r="r" b="b"/>
            <a:pathLst>
              <a:path w="127000" h="533400">
                <a:moveTo>
                  <a:pt x="0" y="127000"/>
                </a:moveTo>
                <a:lnTo>
                  <a:pt x="127000" y="0"/>
                </a:lnTo>
                <a:lnTo>
                  <a:pt x="127000" y="406400"/>
                </a:lnTo>
                <a:lnTo>
                  <a:pt x="0" y="533400"/>
                </a:lnTo>
                <a:close/>
              </a:path>
            </a:pathLst>
          </a:custGeom>
          <a:solidFill>
            <a:srgbClr val="B8E9B2"/>
          </a:solidFill>
          <a:ln w="19050">
            <a:solidFill>
              <a:srgbClr val="48A93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06" name="081_motion_noise_cube_front"/>
          <p:cNvSpPr/>
          <p:nvPr/>
        </p:nvSpPr>
        <p:spPr>
          <a:xfrm>
            <a:off x="3213100" y="3530600"/>
            <a:ext cx="406400" cy="406400"/>
          </a:xfrm>
          <a:prstGeom prst="rect">
            <a:avLst/>
          </a:prstGeom>
          <a:solidFill>
            <a:srgbClr val="F2FAF1"/>
          </a:solidFill>
          <a:ln w="19050">
            <a:solidFill>
              <a:srgbClr val="48A93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07" name="082_motion_noise_cube_grain_0"/>
          <p:cNvSpPr/>
          <p:nvPr/>
        </p:nvSpPr>
        <p:spPr>
          <a:xfrm>
            <a:off x="3251200" y="3568700"/>
            <a:ext cx="22225" cy="22225"/>
          </a:xfrm>
          <a:prstGeom prst="ellipse">
            <a:avLst/>
          </a:prstGeom>
          <a:solidFill>
            <a:srgbClr val="48A93D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08" name="083_motion_noise_cube_grain_1"/>
          <p:cNvSpPr/>
          <p:nvPr/>
        </p:nvSpPr>
        <p:spPr>
          <a:xfrm>
            <a:off x="3359150" y="3752850"/>
            <a:ext cx="22225" cy="22225"/>
          </a:xfrm>
          <a:prstGeom prst="ellipse">
            <a:avLst/>
          </a:prstGeom>
          <a:solidFill>
            <a:srgbClr val="48A93D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09" name="084_motion_noise_cube_grain_2"/>
          <p:cNvSpPr/>
          <p:nvPr/>
        </p:nvSpPr>
        <p:spPr>
          <a:xfrm>
            <a:off x="3467100" y="3606800"/>
            <a:ext cx="22225" cy="22225"/>
          </a:xfrm>
          <a:prstGeom prst="ellipse">
            <a:avLst/>
          </a:prstGeom>
          <a:solidFill>
            <a:srgbClr val="48A93D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10" name="085_motion_noise_cube_grain_3"/>
          <p:cNvSpPr/>
          <p:nvPr/>
        </p:nvSpPr>
        <p:spPr>
          <a:xfrm>
            <a:off x="3575050" y="3790949"/>
            <a:ext cx="22225" cy="22225"/>
          </a:xfrm>
          <a:prstGeom prst="ellipse">
            <a:avLst/>
          </a:prstGeom>
          <a:solidFill>
            <a:srgbClr val="48A93D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11" name="086_motion_noise_cube_grain_4"/>
          <p:cNvSpPr/>
          <p:nvPr/>
        </p:nvSpPr>
        <p:spPr>
          <a:xfrm>
            <a:off x="3352800" y="3644900"/>
            <a:ext cx="22225" cy="22225"/>
          </a:xfrm>
          <a:prstGeom prst="ellipse">
            <a:avLst/>
          </a:prstGeom>
          <a:solidFill>
            <a:srgbClr val="48A93D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12" name="087_motion_noise_cube_grain_5"/>
          <p:cNvSpPr/>
          <p:nvPr/>
        </p:nvSpPr>
        <p:spPr>
          <a:xfrm>
            <a:off x="3460750" y="3829050"/>
            <a:ext cx="22225" cy="22225"/>
          </a:xfrm>
          <a:prstGeom prst="ellipse">
            <a:avLst/>
          </a:prstGeom>
          <a:solidFill>
            <a:srgbClr val="48A93D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13" name="088_motion_noise_cube_grain_6"/>
          <p:cNvSpPr/>
          <p:nvPr/>
        </p:nvSpPr>
        <p:spPr>
          <a:xfrm>
            <a:off x="3568700" y="3683000"/>
            <a:ext cx="22225" cy="22225"/>
          </a:xfrm>
          <a:prstGeom prst="ellipse">
            <a:avLst/>
          </a:prstGeom>
          <a:solidFill>
            <a:srgbClr val="48A93D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14" name="089_motion_noise_cube_grain_7"/>
          <p:cNvSpPr/>
          <p:nvPr/>
        </p:nvSpPr>
        <p:spPr>
          <a:xfrm>
            <a:off x="3346450" y="3867150"/>
            <a:ext cx="22225" cy="22225"/>
          </a:xfrm>
          <a:prstGeom prst="ellipse">
            <a:avLst/>
          </a:prstGeom>
          <a:solidFill>
            <a:srgbClr val="48A93D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15" name="090_motion_noise_cube_grain_8"/>
          <p:cNvSpPr/>
          <p:nvPr/>
        </p:nvSpPr>
        <p:spPr>
          <a:xfrm>
            <a:off x="3454400" y="3721100"/>
            <a:ext cx="22225" cy="22225"/>
          </a:xfrm>
          <a:prstGeom prst="ellipse">
            <a:avLst/>
          </a:prstGeom>
          <a:solidFill>
            <a:srgbClr val="48A93D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16" name="091_motion_noise_cube_grain_9"/>
          <p:cNvSpPr/>
          <p:nvPr/>
        </p:nvSpPr>
        <p:spPr>
          <a:xfrm>
            <a:off x="3562350" y="3575050"/>
            <a:ext cx="22225" cy="22225"/>
          </a:xfrm>
          <a:prstGeom prst="ellipse">
            <a:avLst/>
          </a:prstGeom>
          <a:solidFill>
            <a:srgbClr val="48A93D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17" name="092_motion_noise_cube_grain_10"/>
          <p:cNvSpPr/>
          <p:nvPr/>
        </p:nvSpPr>
        <p:spPr>
          <a:xfrm>
            <a:off x="3340100" y="3759199"/>
            <a:ext cx="22225" cy="22225"/>
          </a:xfrm>
          <a:prstGeom prst="ellipse">
            <a:avLst/>
          </a:prstGeom>
          <a:solidFill>
            <a:srgbClr val="48A93D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18" name="093_motion_noise_cube_grain_11"/>
          <p:cNvSpPr/>
          <p:nvPr/>
        </p:nvSpPr>
        <p:spPr>
          <a:xfrm>
            <a:off x="3448050" y="3613150"/>
            <a:ext cx="22225" cy="22225"/>
          </a:xfrm>
          <a:prstGeom prst="ellipse">
            <a:avLst/>
          </a:prstGeom>
          <a:solidFill>
            <a:srgbClr val="48A93D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19" name="094_motion_noise_cube_grain_12"/>
          <p:cNvSpPr/>
          <p:nvPr/>
        </p:nvSpPr>
        <p:spPr>
          <a:xfrm>
            <a:off x="3556000" y="3797300"/>
            <a:ext cx="22225" cy="22225"/>
          </a:xfrm>
          <a:prstGeom prst="ellipse">
            <a:avLst/>
          </a:prstGeom>
          <a:solidFill>
            <a:srgbClr val="48A93D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20" name="095_motion_noise_cube_grain_13"/>
          <p:cNvSpPr/>
          <p:nvPr/>
        </p:nvSpPr>
        <p:spPr>
          <a:xfrm>
            <a:off x="3333750" y="3651250"/>
            <a:ext cx="22225" cy="22225"/>
          </a:xfrm>
          <a:prstGeom prst="ellipse">
            <a:avLst/>
          </a:prstGeom>
          <a:solidFill>
            <a:srgbClr val="48A93D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21" name="096_motion_noise_cube_grain_14"/>
          <p:cNvSpPr/>
          <p:nvPr/>
        </p:nvSpPr>
        <p:spPr>
          <a:xfrm>
            <a:off x="3441700" y="3835400"/>
            <a:ext cx="22225" cy="22225"/>
          </a:xfrm>
          <a:prstGeom prst="ellipse">
            <a:avLst/>
          </a:prstGeom>
          <a:solidFill>
            <a:srgbClr val="48A93D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22" name="097_motion_noise_cube_grain_15"/>
          <p:cNvSpPr/>
          <p:nvPr/>
        </p:nvSpPr>
        <p:spPr>
          <a:xfrm>
            <a:off x="3549650" y="3689350"/>
            <a:ext cx="22225" cy="22225"/>
          </a:xfrm>
          <a:prstGeom prst="ellipse">
            <a:avLst/>
          </a:prstGeom>
          <a:solidFill>
            <a:srgbClr val="48A93D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23" name="098_motion_noise_cube_grain_16"/>
          <p:cNvSpPr/>
          <p:nvPr/>
        </p:nvSpPr>
        <p:spPr>
          <a:xfrm>
            <a:off x="3327400" y="3873499"/>
            <a:ext cx="22225" cy="22225"/>
          </a:xfrm>
          <a:prstGeom prst="ellipse">
            <a:avLst/>
          </a:prstGeom>
          <a:solidFill>
            <a:srgbClr val="48A93D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24" name="099_motion_noise_cube_grain_17"/>
          <p:cNvSpPr/>
          <p:nvPr/>
        </p:nvSpPr>
        <p:spPr>
          <a:xfrm>
            <a:off x="3435350" y="3727450"/>
            <a:ext cx="22225" cy="22225"/>
          </a:xfrm>
          <a:prstGeom prst="ellipse">
            <a:avLst/>
          </a:prstGeom>
          <a:solidFill>
            <a:srgbClr val="48A93D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25" name="100_ztm_label"/>
          <p:cNvSpPr txBox="1"/>
          <p:nvPr/>
        </p:nvSpPr>
        <p:spPr>
          <a:xfrm>
            <a:off x="2787650" y="3632200"/>
            <a:ext cx="419100" cy="215900"/>
          </a:xfrm>
          <a:prstGeom prst="rect">
            <a:avLst/>
          </a:prstGeom>
          <a:noFill/>
          <a:effectLst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 i="1">
                <a:solidFill>
                  <a:srgbClr val="000000"/>
                </a:solidFill>
                <a:latin typeface="Latin Modern Math"/>
              </a:rPr>
              <a:t>z_t^M</a:t>
            </a:r>
          </a:p>
        </p:txBody>
      </p:sp>
      <p:cxnSp>
        <p:nvCxnSpPr>
          <p:cNvPr id="126" name="101_zm_to_concat_0"/>
          <p:cNvCxnSpPr/>
          <p:nvPr/>
        </p:nvCxnSpPr>
        <p:spPr>
          <a:xfrm flipV="1">
            <a:off x="3479800" y="3200400"/>
            <a:ext cx="0" cy="330200"/>
          </a:xfrm>
          <a:prstGeom prst="line">
            <a:avLst/>
          </a:prstGeom>
          <a:ln w="15875">
            <a:solidFill>
              <a:srgbClr val="000000"/>
            </a:solidFill>
          </a:ln>
          <a:effectLst/>
        </p:spPr>
      </p:cxnSp>
      <p:sp>
        <p:nvSpPr>
          <p:cNvPr id="127" name="101_zm_to_concat_arrowhead"/>
          <p:cNvSpPr/>
          <p:nvPr/>
        </p:nvSpPr>
        <p:spPr>
          <a:xfrm>
            <a:off x="3454400" y="3200400"/>
            <a:ext cx="50800" cy="50800"/>
          </a:xfrm>
          <a:custGeom>
            <a:avLst/>
            <a:gdLst/>
            <a:ahLst/>
            <a:cxnLst/>
            <a:rect l="l" t="t" r="r" b="b"/>
            <a:pathLst>
              <a:path w="50800" h="50800">
                <a:moveTo>
                  <a:pt x="25400" y="0"/>
                </a:moveTo>
                <a:lnTo>
                  <a:pt x="50800" y="50800"/>
                </a:lnTo>
                <a:lnTo>
                  <a:pt x="0" y="50800"/>
                </a:lnTo>
                <a:close/>
              </a:path>
            </a:pathLst>
          </a:custGeom>
          <a:solidFill>
            <a:srgbClr val="000000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28" name="102_motion_concat_circle"/>
          <p:cNvSpPr/>
          <p:nvPr/>
        </p:nvSpPr>
        <p:spPr>
          <a:xfrm>
            <a:off x="3346450" y="2933700"/>
            <a:ext cx="266700" cy="266700"/>
          </a:xfrm>
          <a:prstGeom prst="ellipse">
            <a:avLst/>
          </a:prstGeom>
          <a:solidFill>
            <a:srgbClr val="FEFDF9"/>
          </a:solidFill>
          <a:ln w="19050">
            <a:solidFill>
              <a:srgbClr val="000000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cxnSp>
        <p:nvCxnSpPr>
          <p:cNvPr id="129" name="103_motion_concat_vert_0"/>
          <p:cNvCxnSpPr/>
          <p:nvPr/>
        </p:nvCxnSpPr>
        <p:spPr>
          <a:xfrm>
            <a:off x="3479800" y="2946400"/>
            <a:ext cx="0" cy="241300"/>
          </a:xfrm>
          <a:prstGeom prst="line">
            <a:avLst/>
          </a:prstGeom>
          <a:ln w="19050">
            <a:solidFill>
              <a:srgbClr val="000000"/>
            </a:solidFill>
          </a:ln>
          <a:effectLst/>
        </p:spPr>
      </p:cxnSp>
      <p:cxnSp>
        <p:nvCxnSpPr>
          <p:cNvPr id="130" name="104_motion_concat_horiz_0"/>
          <p:cNvCxnSpPr/>
          <p:nvPr/>
        </p:nvCxnSpPr>
        <p:spPr>
          <a:xfrm>
            <a:off x="3359150" y="3067050"/>
            <a:ext cx="241300" cy="0"/>
          </a:xfrm>
          <a:prstGeom prst="line">
            <a:avLst/>
          </a:prstGeom>
          <a:ln w="19050">
            <a:solidFill>
              <a:srgbClr val="000000"/>
            </a:solidFill>
          </a:ln>
          <a:effectLst/>
        </p:spPr>
      </p:cxnSp>
      <p:cxnSp>
        <p:nvCxnSpPr>
          <p:cNvPr id="131" name="105_motion_concat_to_strip_0"/>
          <p:cNvCxnSpPr/>
          <p:nvPr/>
        </p:nvCxnSpPr>
        <p:spPr>
          <a:xfrm>
            <a:off x="3613150" y="3067050"/>
            <a:ext cx="457200" cy="0"/>
          </a:xfrm>
          <a:prstGeom prst="line">
            <a:avLst/>
          </a:prstGeom>
          <a:ln w="15875">
            <a:solidFill>
              <a:srgbClr val="000000"/>
            </a:solidFill>
          </a:ln>
          <a:effectLst/>
        </p:spPr>
      </p:cxnSp>
      <p:sp>
        <p:nvSpPr>
          <p:cNvPr id="132" name="105_motion_concat_to_strip_arrowhead"/>
          <p:cNvSpPr/>
          <p:nvPr/>
        </p:nvSpPr>
        <p:spPr>
          <a:xfrm>
            <a:off x="4019549" y="3041650"/>
            <a:ext cx="50801" cy="50800"/>
          </a:xfrm>
          <a:custGeom>
            <a:avLst/>
            <a:gdLst/>
            <a:ahLst/>
            <a:cxnLst/>
            <a:rect l="l" t="t" r="r" b="b"/>
            <a:pathLst>
              <a:path w="50801" h="50800">
                <a:moveTo>
                  <a:pt x="50801" y="25400"/>
                </a:moveTo>
                <a:lnTo>
                  <a:pt x="0" y="50800"/>
                </a:lnTo>
                <a:lnTo>
                  <a:pt x="0" y="0"/>
                </a:lnTo>
                <a:close/>
              </a:path>
            </a:pathLst>
          </a:custGeom>
          <a:solidFill>
            <a:srgbClr val="000000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33" name="106_em_label"/>
          <p:cNvSpPr txBox="1"/>
          <p:nvPr/>
        </p:nvSpPr>
        <p:spPr>
          <a:xfrm>
            <a:off x="3746500" y="3124200"/>
            <a:ext cx="292100" cy="203200"/>
          </a:xfrm>
          <a:prstGeom prst="rect">
            <a:avLst/>
          </a:prstGeom>
          <a:noFill/>
          <a:effectLst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1">
                <a:solidFill>
                  <a:srgbClr val="000000"/>
                </a:solidFill>
                <a:latin typeface="Latin Modern Math"/>
              </a:rPr>
              <a:t>e_M</a:t>
            </a:r>
          </a:p>
        </p:txBody>
      </p:sp>
      <p:sp>
        <p:nvSpPr>
          <p:cNvPr id="134" name="107_interaction_guidance"/>
          <p:cNvSpPr txBox="1"/>
          <p:nvPr/>
        </p:nvSpPr>
        <p:spPr>
          <a:xfrm>
            <a:off x="1104900" y="3556000"/>
            <a:ext cx="1270000" cy="508000"/>
          </a:xfrm>
          <a:prstGeom prst="rect">
            <a:avLst/>
          </a:prstGeom>
          <a:noFill/>
          <a:effectLst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</a:pPr>
            <a:r>
              <a:rPr sz="1500" b="1" i="0">
                <a:solidFill>
                  <a:srgbClr val="00A8AA"/>
                </a:solidFill>
                <a:latin typeface="Liberation Serif"/>
              </a:rPr>
              <a:t>Interaction</a:t>
            </a:r>
          </a:p>
          <a:p>
            <a:pPr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</a:pPr>
            <a:r>
              <a:rPr sz="1500" b="1" i="0">
                <a:solidFill>
                  <a:srgbClr val="00A8AA"/>
                </a:solidFill>
                <a:latin typeface="Liberation Serif"/>
              </a:rPr>
              <a:t>Guidance</a:t>
            </a:r>
          </a:p>
        </p:txBody>
      </p:sp>
      <p:sp>
        <p:nvSpPr>
          <p:cNvPr id="135" name="108_input_feature_strip_cell_0"/>
          <p:cNvSpPr/>
          <p:nvPr/>
        </p:nvSpPr>
        <p:spPr>
          <a:xfrm>
            <a:off x="4070350" y="1060450"/>
            <a:ext cx="222250" cy="284127"/>
          </a:xfrm>
          <a:prstGeom prst="rect">
            <a:avLst/>
          </a:prstGeom>
          <a:solidFill>
            <a:srgbClr val="F6C7AD"/>
          </a:solidFill>
          <a:ln w="12700">
            <a:solidFill>
              <a:srgbClr val="12202B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36" name="109_input_feature_strip_cell_1"/>
          <p:cNvSpPr/>
          <p:nvPr/>
        </p:nvSpPr>
        <p:spPr>
          <a:xfrm>
            <a:off x="4070350" y="1342672"/>
            <a:ext cx="222250" cy="284127"/>
          </a:xfrm>
          <a:prstGeom prst="rect">
            <a:avLst/>
          </a:prstGeom>
          <a:solidFill>
            <a:srgbClr val="F6C7AD"/>
          </a:solidFill>
          <a:ln w="12700">
            <a:solidFill>
              <a:srgbClr val="12202B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37" name="110_input_feature_strip_cell_2"/>
          <p:cNvSpPr/>
          <p:nvPr/>
        </p:nvSpPr>
        <p:spPr>
          <a:xfrm>
            <a:off x="4070350" y="1624894"/>
            <a:ext cx="222250" cy="284127"/>
          </a:xfrm>
          <a:prstGeom prst="rect">
            <a:avLst/>
          </a:prstGeom>
          <a:solidFill>
            <a:srgbClr val="E49EDD"/>
          </a:solidFill>
          <a:ln w="12700">
            <a:solidFill>
              <a:srgbClr val="12202B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38" name="111_input_feature_strip_cell_3"/>
          <p:cNvSpPr/>
          <p:nvPr/>
        </p:nvSpPr>
        <p:spPr>
          <a:xfrm>
            <a:off x="4070350" y="1907116"/>
            <a:ext cx="222250" cy="284127"/>
          </a:xfrm>
          <a:prstGeom prst="rect">
            <a:avLst/>
          </a:prstGeom>
          <a:solidFill>
            <a:srgbClr val="E49EDD"/>
          </a:solidFill>
          <a:ln w="12700">
            <a:solidFill>
              <a:srgbClr val="12202B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39" name="112_input_feature_strip_cell_4"/>
          <p:cNvSpPr/>
          <p:nvPr/>
        </p:nvSpPr>
        <p:spPr>
          <a:xfrm>
            <a:off x="4070350" y="2189338"/>
            <a:ext cx="222250" cy="284127"/>
          </a:xfrm>
          <a:prstGeom prst="rect">
            <a:avLst/>
          </a:prstGeom>
          <a:solidFill>
            <a:srgbClr val="E49EDD"/>
          </a:solidFill>
          <a:ln w="12700">
            <a:solidFill>
              <a:srgbClr val="12202B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40" name="113_input_feature_strip_cell_5"/>
          <p:cNvSpPr/>
          <p:nvPr/>
        </p:nvSpPr>
        <p:spPr>
          <a:xfrm>
            <a:off x="4070350" y="2471561"/>
            <a:ext cx="222250" cy="284127"/>
          </a:xfrm>
          <a:prstGeom prst="rect">
            <a:avLst/>
          </a:prstGeom>
          <a:solidFill>
            <a:srgbClr val="E49EDD"/>
          </a:solidFill>
          <a:ln w="12700">
            <a:solidFill>
              <a:srgbClr val="12202B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41" name="114_input_feature_strip_cell_6"/>
          <p:cNvSpPr/>
          <p:nvPr/>
        </p:nvSpPr>
        <p:spPr>
          <a:xfrm>
            <a:off x="4070350" y="2753783"/>
            <a:ext cx="222250" cy="284127"/>
          </a:xfrm>
          <a:prstGeom prst="rect">
            <a:avLst/>
          </a:prstGeom>
          <a:solidFill>
            <a:srgbClr val="85E291"/>
          </a:solidFill>
          <a:ln w="12700">
            <a:solidFill>
              <a:srgbClr val="12202B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42" name="115_input_feature_strip_cell_7"/>
          <p:cNvSpPr/>
          <p:nvPr/>
        </p:nvSpPr>
        <p:spPr>
          <a:xfrm>
            <a:off x="4070350" y="3036005"/>
            <a:ext cx="222250" cy="284127"/>
          </a:xfrm>
          <a:prstGeom prst="rect">
            <a:avLst/>
          </a:prstGeom>
          <a:solidFill>
            <a:srgbClr val="85E291"/>
          </a:solidFill>
          <a:ln w="12700">
            <a:solidFill>
              <a:srgbClr val="12202B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43" name="116_input_feature_strip_cell_8"/>
          <p:cNvSpPr/>
          <p:nvPr/>
        </p:nvSpPr>
        <p:spPr>
          <a:xfrm>
            <a:off x="4070350" y="3318227"/>
            <a:ext cx="222250" cy="284127"/>
          </a:xfrm>
          <a:prstGeom prst="rect">
            <a:avLst/>
          </a:prstGeom>
          <a:solidFill>
            <a:srgbClr val="85E291"/>
          </a:solidFill>
          <a:ln w="12700">
            <a:solidFill>
              <a:srgbClr val="12202B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44" name="117_input_feature_strip_outline"/>
          <p:cNvSpPr/>
          <p:nvPr/>
        </p:nvSpPr>
        <p:spPr>
          <a:xfrm>
            <a:off x="4070350" y="1060450"/>
            <a:ext cx="222250" cy="2540000"/>
          </a:xfrm>
          <a:prstGeom prst="rect">
            <a:avLst/>
          </a:prstGeom>
          <a:noFill/>
          <a:ln w="19050">
            <a:solidFill>
              <a:srgbClr val="12202B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cxnSp>
        <p:nvCxnSpPr>
          <p:cNvPr id="145" name="118_strip_text_lane_0"/>
          <p:cNvCxnSpPr/>
          <p:nvPr/>
        </p:nvCxnSpPr>
        <p:spPr>
          <a:xfrm>
            <a:off x="4292600" y="1797050"/>
            <a:ext cx="3695700" cy="0"/>
          </a:xfrm>
          <a:prstGeom prst="line">
            <a:avLst/>
          </a:prstGeom>
          <a:ln w="15875">
            <a:solidFill>
              <a:srgbClr val="000000"/>
            </a:solidFill>
          </a:ln>
          <a:effectLst/>
        </p:spPr>
      </p:cxnSp>
      <p:sp>
        <p:nvSpPr>
          <p:cNvPr id="146" name="118_strip_text_lane_arrowhead"/>
          <p:cNvSpPr/>
          <p:nvPr/>
        </p:nvSpPr>
        <p:spPr>
          <a:xfrm>
            <a:off x="7937500" y="1771650"/>
            <a:ext cx="50800" cy="50800"/>
          </a:xfrm>
          <a:custGeom>
            <a:avLst/>
            <a:gdLst/>
            <a:ahLst/>
            <a:cxnLst/>
            <a:rect l="l" t="t" r="r" b="b"/>
            <a:pathLst>
              <a:path w="50800" h="50800">
                <a:moveTo>
                  <a:pt x="50800" y="25400"/>
                </a:moveTo>
                <a:lnTo>
                  <a:pt x="0" y="50800"/>
                </a:lnTo>
                <a:lnTo>
                  <a:pt x="0" y="0"/>
                </a:lnTo>
                <a:close/>
              </a:path>
            </a:pathLst>
          </a:custGeom>
          <a:solidFill>
            <a:srgbClr val="000000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cxnSp>
        <p:nvCxnSpPr>
          <p:cNvPr id="147" name="119_strip_video_lane_0"/>
          <p:cNvCxnSpPr/>
          <p:nvPr/>
        </p:nvCxnSpPr>
        <p:spPr>
          <a:xfrm>
            <a:off x="4292600" y="2552700"/>
            <a:ext cx="3695700" cy="0"/>
          </a:xfrm>
          <a:prstGeom prst="line">
            <a:avLst/>
          </a:prstGeom>
          <a:ln w="15875">
            <a:solidFill>
              <a:srgbClr val="000000"/>
            </a:solidFill>
          </a:ln>
          <a:effectLst/>
        </p:spPr>
      </p:cxnSp>
      <p:sp>
        <p:nvSpPr>
          <p:cNvPr id="148" name="119_strip_video_lane_arrowhead"/>
          <p:cNvSpPr/>
          <p:nvPr/>
        </p:nvSpPr>
        <p:spPr>
          <a:xfrm>
            <a:off x="7937500" y="2527300"/>
            <a:ext cx="50800" cy="50800"/>
          </a:xfrm>
          <a:custGeom>
            <a:avLst/>
            <a:gdLst/>
            <a:ahLst/>
            <a:cxnLst/>
            <a:rect l="l" t="t" r="r" b="b"/>
            <a:pathLst>
              <a:path w="50800" h="50800">
                <a:moveTo>
                  <a:pt x="50800" y="25400"/>
                </a:moveTo>
                <a:lnTo>
                  <a:pt x="0" y="50800"/>
                </a:lnTo>
                <a:lnTo>
                  <a:pt x="0" y="0"/>
                </a:lnTo>
                <a:close/>
              </a:path>
            </a:pathLst>
          </a:custGeom>
          <a:solidFill>
            <a:srgbClr val="000000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cxnSp>
        <p:nvCxnSpPr>
          <p:cNvPr id="149" name="120_strip_motion_lane_0"/>
          <p:cNvCxnSpPr/>
          <p:nvPr/>
        </p:nvCxnSpPr>
        <p:spPr>
          <a:xfrm>
            <a:off x="4292600" y="3321050"/>
            <a:ext cx="3695700" cy="0"/>
          </a:xfrm>
          <a:prstGeom prst="line">
            <a:avLst/>
          </a:prstGeom>
          <a:ln w="15875">
            <a:solidFill>
              <a:srgbClr val="000000"/>
            </a:solidFill>
          </a:ln>
          <a:effectLst/>
        </p:spPr>
      </p:cxnSp>
      <p:sp>
        <p:nvSpPr>
          <p:cNvPr id="150" name="120_strip_motion_lane_arrowhead"/>
          <p:cNvSpPr/>
          <p:nvPr/>
        </p:nvSpPr>
        <p:spPr>
          <a:xfrm>
            <a:off x="7937500" y="3295650"/>
            <a:ext cx="50800" cy="50800"/>
          </a:xfrm>
          <a:custGeom>
            <a:avLst/>
            <a:gdLst/>
            <a:ahLst/>
            <a:cxnLst/>
            <a:rect l="l" t="t" r="r" b="b"/>
            <a:pathLst>
              <a:path w="50800" h="50800">
                <a:moveTo>
                  <a:pt x="50800" y="25400"/>
                </a:moveTo>
                <a:lnTo>
                  <a:pt x="0" y="50800"/>
                </a:lnTo>
                <a:lnTo>
                  <a:pt x="0" y="0"/>
                </a:lnTo>
                <a:close/>
              </a:path>
            </a:pathLst>
          </a:custGeom>
          <a:solidFill>
            <a:srgbClr val="000000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51" name="121_modulation_title_box"/>
          <p:cNvSpPr/>
          <p:nvPr/>
        </p:nvSpPr>
        <p:spPr>
          <a:xfrm>
            <a:off x="4705350" y="844550"/>
            <a:ext cx="3098800" cy="304800"/>
          </a:xfrm>
          <a:prstGeom prst="roundRect">
            <a:avLst>
              <a:gd name="adj" fmla="val 18750"/>
            </a:avLst>
          </a:prstGeom>
          <a:solidFill>
            <a:srgbClr val="FABE7F"/>
          </a:solidFill>
          <a:ln w="15875">
            <a:solidFill>
              <a:srgbClr val="E9780B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52" name="122_modulation_title"/>
          <p:cNvSpPr txBox="1"/>
          <p:nvPr/>
        </p:nvSpPr>
        <p:spPr>
          <a:xfrm>
            <a:off x="4749800" y="850900"/>
            <a:ext cx="3009900" cy="292100"/>
          </a:xfrm>
          <a:prstGeom prst="rect">
            <a:avLst/>
          </a:prstGeom>
          <a:noFill/>
          <a:effectLst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</a:pPr>
            <a:r>
              <a:rPr sz="1250" b="1" i="0">
                <a:solidFill>
                  <a:srgbClr val="000000"/>
                </a:solidFill>
                <a:latin typeface="Liberation Serif"/>
              </a:rPr>
              <a:t>Triple Modality Adaptive Modulation</a:t>
            </a:r>
          </a:p>
        </p:txBody>
      </p:sp>
      <p:sp>
        <p:nvSpPr>
          <p:cNvPr id="153" name="123_repeat_n"/>
          <p:cNvSpPr txBox="1"/>
          <p:nvPr/>
        </p:nvSpPr>
        <p:spPr>
          <a:xfrm>
            <a:off x="7607300" y="425450"/>
            <a:ext cx="349250" cy="215900"/>
          </a:xfrm>
          <a:prstGeom prst="rect">
            <a:avLst/>
          </a:prstGeom>
          <a:noFill/>
          <a:effectLst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</a:pPr>
            <a:r>
              <a:rPr sz="1300" b="1" i="1">
                <a:solidFill>
                  <a:srgbClr val="000000"/>
                </a:solidFill>
                <a:latin typeface="Latin Modern Math"/>
              </a:rPr>
              <a:t>× N</a:t>
            </a:r>
          </a:p>
        </p:txBody>
      </p:sp>
      <p:sp>
        <p:nvSpPr>
          <p:cNvPr id="154" name="124_flame_outer"/>
          <p:cNvSpPr/>
          <p:nvPr/>
        </p:nvSpPr>
        <p:spPr>
          <a:xfrm>
            <a:off x="7816850" y="685800"/>
            <a:ext cx="190500" cy="304799"/>
          </a:xfrm>
          <a:custGeom>
            <a:avLst/>
            <a:gdLst/>
            <a:ahLst/>
            <a:cxnLst/>
            <a:rect l="l" t="t" r="r" b="b"/>
            <a:pathLst>
              <a:path w="190500" h="304799">
                <a:moveTo>
                  <a:pt x="57150" y="222250"/>
                </a:moveTo>
                <a:lnTo>
                  <a:pt x="0" y="139700"/>
                </a:lnTo>
                <a:lnTo>
                  <a:pt x="25400" y="50800"/>
                </a:lnTo>
                <a:lnTo>
                  <a:pt x="69850" y="101600"/>
                </a:lnTo>
                <a:lnTo>
                  <a:pt x="107949" y="0"/>
                </a:lnTo>
                <a:lnTo>
                  <a:pt x="165099" y="88900"/>
                </a:lnTo>
                <a:lnTo>
                  <a:pt x="146050" y="196850"/>
                </a:lnTo>
                <a:lnTo>
                  <a:pt x="190500" y="152400"/>
                </a:lnTo>
                <a:lnTo>
                  <a:pt x="171450" y="260350"/>
                </a:lnTo>
                <a:lnTo>
                  <a:pt x="114300" y="304799"/>
                </a:lnTo>
                <a:close/>
              </a:path>
            </a:pathLst>
          </a:custGeom>
          <a:solidFill>
            <a:srgbClr val="FF3B00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55" name="125_flame_inner"/>
          <p:cNvSpPr/>
          <p:nvPr/>
        </p:nvSpPr>
        <p:spPr>
          <a:xfrm>
            <a:off x="7886700" y="800100"/>
            <a:ext cx="82550" cy="133349"/>
          </a:xfrm>
          <a:custGeom>
            <a:avLst/>
            <a:gdLst/>
            <a:ahLst/>
            <a:cxnLst/>
            <a:rect l="l" t="t" r="r" b="b"/>
            <a:pathLst>
              <a:path w="82550" h="133349">
                <a:moveTo>
                  <a:pt x="25400" y="133349"/>
                </a:moveTo>
                <a:lnTo>
                  <a:pt x="0" y="69850"/>
                </a:lnTo>
                <a:lnTo>
                  <a:pt x="38099" y="0"/>
                </a:lnTo>
                <a:lnTo>
                  <a:pt x="57150" y="63500"/>
                </a:lnTo>
                <a:lnTo>
                  <a:pt x="82550" y="38100"/>
                </a:lnTo>
                <a:lnTo>
                  <a:pt x="76200" y="120650"/>
                </a:lnTo>
                <a:close/>
              </a:path>
            </a:pathLst>
          </a:custGeom>
          <a:solidFill>
            <a:srgbClr val="FFD21A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56" name="126_lane_text_label"/>
          <p:cNvSpPr txBox="1"/>
          <p:nvPr/>
        </p:nvSpPr>
        <p:spPr>
          <a:xfrm>
            <a:off x="4470400" y="1809750"/>
            <a:ext cx="412750" cy="241300"/>
          </a:xfrm>
          <a:prstGeom prst="rect">
            <a:avLst/>
          </a:prstGeom>
          <a:noFill/>
          <a:effectLst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1">
                <a:solidFill>
                  <a:srgbClr val="000000"/>
                </a:solidFill>
                <a:latin typeface="Latin Modern Math"/>
              </a:rPr>
              <a:t>f_text</a:t>
            </a:r>
          </a:p>
        </p:txBody>
      </p:sp>
      <p:sp>
        <p:nvSpPr>
          <p:cNvPr id="157" name="127_lane_video_label"/>
          <p:cNvSpPr txBox="1"/>
          <p:nvPr/>
        </p:nvSpPr>
        <p:spPr>
          <a:xfrm>
            <a:off x="4470400" y="2571750"/>
            <a:ext cx="349250" cy="222250"/>
          </a:xfrm>
          <a:prstGeom prst="rect">
            <a:avLst/>
          </a:prstGeom>
          <a:noFill/>
          <a:effectLst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</a:pPr>
            <a:r>
              <a:rPr sz="1150" b="1" i="1">
                <a:solidFill>
                  <a:srgbClr val="000000"/>
                </a:solidFill>
                <a:latin typeface="Latin Modern Math"/>
              </a:rPr>
              <a:t>f_V</a:t>
            </a:r>
          </a:p>
        </p:txBody>
      </p:sp>
      <p:sp>
        <p:nvSpPr>
          <p:cNvPr id="158" name="128_lane_motion_label"/>
          <p:cNvSpPr txBox="1"/>
          <p:nvPr/>
        </p:nvSpPr>
        <p:spPr>
          <a:xfrm>
            <a:off x="4470400" y="3327400"/>
            <a:ext cx="349250" cy="222250"/>
          </a:xfrm>
          <a:prstGeom prst="rect">
            <a:avLst/>
          </a:prstGeom>
          <a:noFill/>
          <a:effectLst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</a:pPr>
            <a:r>
              <a:rPr sz="1150" b="1" i="1">
                <a:solidFill>
                  <a:srgbClr val="000000"/>
                </a:solidFill>
                <a:latin typeface="Latin Modern Math"/>
              </a:rPr>
              <a:t>f_M</a:t>
            </a:r>
          </a:p>
        </p:txBody>
      </p:sp>
      <p:sp>
        <p:nvSpPr>
          <p:cNvPr id="159" name="129_left_ss_0"/>
          <p:cNvSpPr/>
          <p:nvPr/>
        </p:nvSpPr>
        <p:spPr>
          <a:xfrm>
            <a:off x="4870450" y="1504950"/>
            <a:ext cx="304800" cy="609600"/>
          </a:xfrm>
          <a:prstGeom prst="roundRect">
            <a:avLst>
              <a:gd name="adj" fmla="val 16666"/>
            </a:avLst>
          </a:prstGeom>
          <a:solidFill>
            <a:srgbClr val="F6C7AD"/>
          </a:solidFill>
          <a:ln w="15875">
            <a:solidFill>
              <a:srgbClr val="EF7332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60" name="130_left_ss_text_0"/>
          <p:cNvSpPr txBox="1"/>
          <p:nvPr/>
        </p:nvSpPr>
        <p:spPr>
          <a:xfrm rot="5400000">
            <a:off x="4743450" y="1657350"/>
            <a:ext cx="558800" cy="304800"/>
          </a:xfrm>
          <a:prstGeom prst="rect">
            <a:avLst/>
          </a:prstGeom>
          <a:noFill/>
          <a:effectLst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</a:pPr>
            <a:r>
              <a:rPr sz="1050" b="1" i="0">
                <a:solidFill>
                  <a:srgbClr val="000000"/>
                </a:solidFill>
                <a:latin typeface="Liberation Serif"/>
              </a:rPr>
              <a:t>S&amp;S</a:t>
            </a:r>
          </a:p>
        </p:txBody>
      </p:sp>
      <p:sp>
        <p:nvSpPr>
          <p:cNvPr id="161" name="131_left_gate_0"/>
          <p:cNvSpPr/>
          <p:nvPr/>
        </p:nvSpPr>
        <p:spPr>
          <a:xfrm>
            <a:off x="5791200" y="1504950"/>
            <a:ext cx="304800" cy="609600"/>
          </a:xfrm>
          <a:prstGeom prst="roundRect">
            <a:avLst>
              <a:gd name="adj" fmla="val 16666"/>
            </a:avLst>
          </a:prstGeom>
          <a:solidFill>
            <a:srgbClr val="F6C7AD"/>
          </a:solidFill>
          <a:ln w="15875">
            <a:solidFill>
              <a:srgbClr val="EF7332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62" name="132_left_gate_text_0"/>
          <p:cNvSpPr txBox="1"/>
          <p:nvPr/>
        </p:nvSpPr>
        <p:spPr>
          <a:xfrm rot="5400000">
            <a:off x="5664200" y="1657350"/>
            <a:ext cx="558800" cy="304800"/>
          </a:xfrm>
          <a:prstGeom prst="rect">
            <a:avLst/>
          </a:prstGeom>
          <a:noFill/>
          <a:effectLst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</a:pPr>
            <a:r>
              <a:rPr sz="1050" b="1" i="0">
                <a:solidFill>
                  <a:srgbClr val="000000"/>
                </a:solidFill>
                <a:latin typeface="Liberation Serif"/>
              </a:rPr>
              <a:t>Gate</a:t>
            </a:r>
          </a:p>
        </p:txBody>
      </p:sp>
      <p:sp>
        <p:nvSpPr>
          <p:cNvPr id="163" name="133_right_ss_0"/>
          <p:cNvSpPr/>
          <p:nvPr/>
        </p:nvSpPr>
        <p:spPr>
          <a:xfrm>
            <a:off x="6451600" y="1504950"/>
            <a:ext cx="304800" cy="609600"/>
          </a:xfrm>
          <a:prstGeom prst="roundRect">
            <a:avLst>
              <a:gd name="adj" fmla="val 16666"/>
            </a:avLst>
          </a:prstGeom>
          <a:solidFill>
            <a:srgbClr val="F6C7AD"/>
          </a:solidFill>
          <a:ln w="15875">
            <a:solidFill>
              <a:srgbClr val="EF7332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64" name="134_right_ss_text_0"/>
          <p:cNvSpPr txBox="1"/>
          <p:nvPr/>
        </p:nvSpPr>
        <p:spPr>
          <a:xfrm rot="5400000">
            <a:off x="6324600" y="1657350"/>
            <a:ext cx="558800" cy="304800"/>
          </a:xfrm>
          <a:prstGeom prst="rect">
            <a:avLst/>
          </a:prstGeom>
          <a:noFill/>
          <a:effectLst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</a:pPr>
            <a:r>
              <a:rPr sz="1050" b="1" i="0">
                <a:solidFill>
                  <a:srgbClr val="000000"/>
                </a:solidFill>
                <a:latin typeface="Liberation Serif"/>
              </a:rPr>
              <a:t>S&amp;S</a:t>
            </a:r>
          </a:p>
        </p:txBody>
      </p:sp>
      <p:sp>
        <p:nvSpPr>
          <p:cNvPr id="165" name="135_right_gate_0"/>
          <p:cNvSpPr/>
          <p:nvPr/>
        </p:nvSpPr>
        <p:spPr>
          <a:xfrm>
            <a:off x="7385050" y="1504950"/>
            <a:ext cx="304800" cy="609600"/>
          </a:xfrm>
          <a:prstGeom prst="roundRect">
            <a:avLst>
              <a:gd name="adj" fmla="val 16666"/>
            </a:avLst>
          </a:prstGeom>
          <a:solidFill>
            <a:srgbClr val="F6C7AD"/>
          </a:solidFill>
          <a:ln w="15875">
            <a:solidFill>
              <a:srgbClr val="EF7332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66" name="136_right_gate_text_0"/>
          <p:cNvSpPr txBox="1"/>
          <p:nvPr/>
        </p:nvSpPr>
        <p:spPr>
          <a:xfrm rot="5400000">
            <a:off x="7258050" y="1657350"/>
            <a:ext cx="558800" cy="304800"/>
          </a:xfrm>
          <a:prstGeom prst="rect">
            <a:avLst/>
          </a:prstGeom>
          <a:noFill/>
          <a:effectLst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</a:pPr>
            <a:r>
              <a:rPr sz="1050" b="1" i="0">
                <a:solidFill>
                  <a:srgbClr val="000000"/>
                </a:solidFill>
                <a:latin typeface="Liberation Serif"/>
              </a:rPr>
              <a:t>Gate</a:t>
            </a:r>
          </a:p>
        </p:txBody>
      </p:sp>
      <p:sp>
        <p:nvSpPr>
          <p:cNvPr id="167" name="137_residual_left_0"/>
          <p:cNvSpPr/>
          <p:nvPr/>
        </p:nvSpPr>
        <p:spPr>
          <a:xfrm>
            <a:off x="4775200" y="1435100"/>
            <a:ext cx="1422400" cy="749300"/>
          </a:xfrm>
          <a:prstGeom prst="rect">
            <a:avLst/>
          </a:prstGeom>
          <a:noFill/>
          <a:ln w="19050">
            <a:solidFill>
              <a:srgbClr val="A6A6A6"/>
            </a:solidFill>
            <a:prstDash val="sysDot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68" name="138_residual_right_0"/>
          <p:cNvSpPr/>
          <p:nvPr/>
        </p:nvSpPr>
        <p:spPr>
          <a:xfrm>
            <a:off x="6356350" y="1435100"/>
            <a:ext cx="1435100" cy="749300"/>
          </a:xfrm>
          <a:prstGeom prst="rect">
            <a:avLst/>
          </a:prstGeom>
          <a:noFill/>
          <a:ln w="19050">
            <a:solidFill>
              <a:srgbClr val="A6A6A6"/>
            </a:solidFill>
            <a:prstDash val="sysDot"/>
          </a:ln>
          <a:effectLst/>
        </p:spPr>
        <p:txBody>
          <a:bodyPr rtlCol="0" anchor="ctr"/>
          <a:lstStyle/>
          <a:p>
            <a:pPr algn="ctr"/>
          </a:p>
        </p:txBody>
      </p:sp>
      <p:cxnSp>
        <p:nvCxnSpPr>
          <p:cNvPr id="169" name="139_residual_drop_left_0_0"/>
          <p:cNvCxnSpPr/>
          <p:nvPr/>
        </p:nvCxnSpPr>
        <p:spPr>
          <a:xfrm>
            <a:off x="6197600" y="1435100"/>
            <a:ext cx="0" cy="374650"/>
          </a:xfrm>
          <a:prstGeom prst="line">
            <a:avLst/>
          </a:prstGeom>
          <a:ln w="15875">
            <a:solidFill>
              <a:srgbClr val="A6A6A6"/>
            </a:solidFill>
            <a:prstDash val="dash"/>
          </a:ln>
          <a:effectLst/>
        </p:spPr>
      </p:cxnSp>
      <p:sp>
        <p:nvSpPr>
          <p:cNvPr id="170" name="139_residual_drop_left_0_arrowhead"/>
          <p:cNvSpPr/>
          <p:nvPr/>
        </p:nvSpPr>
        <p:spPr>
          <a:xfrm>
            <a:off x="6172200" y="1758950"/>
            <a:ext cx="50800" cy="50800"/>
          </a:xfrm>
          <a:custGeom>
            <a:avLst/>
            <a:gdLst/>
            <a:ahLst/>
            <a:cxnLst/>
            <a:rect l="l" t="t" r="r" b="b"/>
            <a:pathLst>
              <a:path w="50800" h="50800">
                <a:moveTo>
                  <a:pt x="25400" y="50800"/>
                </a:moveTo>
                <a:lnTo>
                  <a:pt x="0" y="0"/>
                </a:lnTo>
                <a:lnTo>
                  <a:pt x="50800" y="0"/>
                </a:lnTo>
                <a:close/>
              </a:path>
            </a:pathLst>
          </a:custGeom>
          <a:solidFill>
            <a:srgbClr val="A6A6A6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cxnSp>
        <p:nvCxnSpPr>
          <p:cNvPr id="171" name="140_residual_drop_right_0_0"/>
          <p:cNvCxnSpPr/>
          <p:nvPr/>
        </p:nvCxnSpPr>
        <p:spPr>
          <a:xfrm>
            <a:off x="7791450" y="1435100"/>
            <a:ext cx="0" cy="374650"/>
          </a:xfrm>
          <a:prstGeom prst="line">
            <a:avLst/>
          </a:prstGeom>
          <a:ln w="15875">
            <a:solidFill>
              <a:srgbClr val="A6A6A6"/>
            </a:solidFill>
            <a:prstDash val="dash"/>
          </a:ln>
          <a:effectLst/>
        </p:spPr>
      </p:cxnSp>
      <p:sp>
        <p:nvSpPr>
          <p:cNvPr id="172" name="140_residual_drop_right_0_arrowhead"/>
          <p:cNvSpPr/>
          <p:nvPr/>
        </p:nvSpPr>
        <p:spPr>
          <a:xfrm>
            <a:off x="7766050" y="1758950"/>
            <a:ext cx="50800" cy="50800"/>
          </a:xfrm>
          <a:custGeom>
            <a:avLst/>
            <a:gdLst/>
            <a:ahLst/>
            <a:cxnLst/>
            <a:rect l="l" t="t" r="r" b="b"/>
            <a:pathLst>
              <a:path w="50800" h="50800">
                <a:moveTo>
                  <a:pt x="25400" y="50800"/>
                </a:moveTo>
                <a:lnTo>
                  <a:pt x="0" y="0"/>
                </a:lnTo>
                <a:lnTo>
                  <a:pt x="50800" y="0"/>
                </a:lnTo>
                <a:close/>
              </a:path>
            </a:pathLst>
          </a:custGeom>
          <a:solidFill>
            <a:srgbClr val="A6A6A6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73" name="141_left_ss_1"/>
          <p:cNvSpPr/>
          <p:nvPr/>
        </p:nvSpPr>
        <p:spPr>
          <a:xfrm>
            <a:off x="4870450" y="2260600"/>
            <a:ext cx="304800" cy="609600"/>
          </a:xfrm>
          <a:prstGeom prst="roundRect">
            <a:avLst>
              <a:gd name="adj" fmla="val 16666"/>
            </a:avLst>
          </a:prstGeom>
          <a:solidFill>
            <a:srgbClr val="E49EDD"/>
          </a:solidFill>
          <a:ln w="15875">
            <a:solidFill>
              <a:srgbClr val="AA2FA5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74" name="142_left_ss_text_1"/>
          <p:cNvSpPr txBox="1"/>
          <p:nvPr/>
        </p:nvSpPr>
        <p:spPr>
          <a:xfrm rot="5400000">
            <a:off x="4743450" y="2413000"/>
            <a:ext cx="558800" cy="304800"/>
          </a:xfrm>
          <a:prstGeom prst="rect">
            <a:avLst/>
          </a:prstGeom>
          <a:noFill/>
          <a:effectLst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</a:pPr>
            <a:r>
              <a:rPr sz="1050" b="1" i="0">
                <a:solidFill>
                  <a:srgbClr val="000000"/>
                </a:solidFill>
                <a:latin typeface="Liberation Serif"/>
              </a:rPr>
              <a:t>S&amp;S</a:t>
            </a:r>
          </a:p>
        </p:txBody>
      </p:sp>
      <p:sp>
        <p:nvSpPr>
          <p:cNvPr id="175" name="143_left_gate_1"/>
          <p:cNvSpPr/>
          <p:nvPr/>
        </p:nvSpPr>
        <p:spPr>
          <a:xfrm>
            <a:off x="5791200" y="2260600"/>
            <a:ext cx="304800" cy="609600"/>
          </a:xfrm>
          <a:prstGeom prst="roundRect">
            <a:avLst>
              <a:gd name="adj" fmla="val 16666"/>
            </a:avLst>
          </a:prstGeom>
          <a:solidFill>
            <a:srgbClr val="E49EDD"/>
          </a:solidFill>
          <a:ln w="15875">
            <a:solidFill>
              <a:srgbClr val="AA2FA5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76" name="144_left_gate_text_1"/>
          <p:cNvSpPr txBox="1"/>
          <p:nvPr/>
        </p:nvSpPr>
        <p:spPr>
          <a:xfrm rot="5400000">
            <a:off x="5664200" y="2413000"/>
            <a:ext cx="558800" cy="304800"/>
          </a:xfrm>
          <a:prstGeom prst="rect">
            <a:avLst/>
          </a:prstGeom>
          <a:noFill/>
          <a:effectLst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</a:pPr>
            <a:r>
              <a:rPr sz="1050" b="1" i="0">
                <a:solidFill>
                  <a:srgbClr val="000000"/>
                </a:solidFill>
                <a:latin typeface="Liberation Serif"/>
              </a:rPr>
              <a:t>Gate</a:t>
            </a:r>
          </a:p>
        </p:txBody>
      </p:sp>
      <p:sp>
        <p:nvSpPr>
          <p:cNvPr id="177" name="145_right_ss_1"/>
          <p:cNvSpPr/>
          <p:nvPr/>
        </p:nvSpPr>
        <p:spPr>
          <a:xfrm>
            <a:off x="6451600" y="2260600"/>
            <a:ext cx="304800" cy="609600"/>
          </a:xfrm>
          <a:prstGeom prst="roundRect">
            <a:avLst>
              <a:gd name="adj" fmla="val 16666"/>
            </a:avLst>
          </a:prstGeom>
          <a:solidFill>
            <a:srgbClr val="E49EDD"/>
          </a:solidFill>
          <a:ln w="15875">
            <a:solidFill>
              <a:srgbClr val="AA2FA5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78" name="146_right_ss_text_1"/>
          <p:cNvSpPr txBox="1"/>
          <p:nvPr/>
        </p:nvSpPr>
        <p:spPr>
          <a:xfrm rot="5400000">
            <a:off x="6324600" y="2413000"/>
            <a:ext cx="558800" cy="304800"/>
          </a:xfrm>
          <a:prstGeom prst="rect">
            <a:avLst/>
          </a:prstGeom>
          <a:noFill/>
          <a:effectLst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</a:pPr>
            <a:r>
              <a:rPr sz="1050" b="1" i="0">
                <a:solidFill>
                  <a:srgbClr val="000000"/>
                </a:solidFill>
                <a:latin typeface="Liberation Serif"/>
              </a:rPr>
              <a:t>S&amp;S</a:t>
            </a:r>
          </a:p>
        </p:txBody>
      </p:sp>
      <p:sp>
        <p:nvSpPr>
          <p:cNvPr id="179" name="147_right_gate_1"/>
          <p:cNvSpPr/>
          <p:nvPr/>
        </p:nvSpPr>
        <p:spPr>
          <a:xfrm>
            <a:off x="7385050" y="2260600"/>
            <a:ext cx="304800" cy="609600"/>
          </a:xfrm>
          <a:prstGeom prst="roundRect">
            <a:avLst>
              <a:gd name="adj" fmla="val 16666"/>
            </a:avLst>
          </a:prstGeom>
          <a:solidFill>
            <a:srgbClr val="E49EDD"/>
          </a:solidFill>
          <a:ln w="15875">
            <a:solidFill>
              <a:srgbClr val="AA2FA5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80" name="148_right_gate_text_1"/>
          <p:cNvSpPr txBox="1"/>
          <p:nvPr/>
        </p:nvSpPr>
        <p:spPr>
          <a:xfrm rot="5400000">
            <a:off x="7258050" y="2413000"/>
            <a:ext cx="558800" cy="304800"/>
          </a:xfrm>
          <a:prstGeom prst="rect">
            <a:avLst/>
          </a:prstGeom>
          <a:noFill/>
          <a:effectLst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</a:pPr>
            <a:r>
              <a:rPr sz="1050" b="1" i="0">
                <a:solidFill>
                  <a:srgbClr val="000000"/>
                </a:solidFill>
                <a:latin typeface="Liberation Serif"/>
              </a:rPr>
              <a:t>Gate</a:t>
            </a:r>
          </a:p>
        </p:txBody>
      </p:sp>
      <p:sp>
        <p:nvSpPr>
          <p:cNvPr id="181" name="149_residual_left_1"/>
          <p:cNvSpPr/>
          <p:nvPr/>
        </p:nvSpPr>
        <p:spPr>
          <a:xfrm>
            <a:off x="4775200" y="2190750"/>
            <a:ext cx="1422400" cy="749300"/>
          </a:xfrm>
          <a:prstGeom prst="rect">
            <a:avLst/>
          </a:prstGeom>
          <a:noFill/>
          <a:ln w="19050">
            <a:solidFill>
              <a:srgbClr val="A6A6A6"/>
            </a:solidFill>
            <a:prstDash val="sysDot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82" name="150_residual_right_1"/>
          <p:cNvSpPr/>
          <p:nvPr/>
        </p:nvSpPr>
        <p:spPr>
          <a:xfrm>
            <a:off x="6356350" y="2190750"/>
            <a:ext cx="1435100" cy="749300"/>
          </a:xfrm>
          <a:prstGeom prst="rect">
            <a:avLst/>
          </a:prstGeom>
          <a:noFill/>
          <a:ln w="19050">
            <a:solidFill>
              <a:srgbClr val="A6A6A6"/>
            </a:solidFill>
            <a:prstDash val="sysDot"/>
          </a:ln>
          <a:effectLst/>
        </p:spPr>
        <p:txBody>
          <a:bodyPr rtlCol="0" anchor="ctr"/>
          <a:lstStyle/>
          <a:p>
            <a:pPr algn="ctr"/>
          </a:p>
        </p:txBody>
      </p:sp>
      <p:cxnSp>
        <p:nvCxnSpPr>
          <p:cNvPr id="183" name="151_residual_drop_left_1_0"/>
          <p:cNvCxnSpPr/>
          <p:nvPr/>
        </p:nvCxnSpPr>
        <p:spPr>
          <a:xfrm>
            <a:off x="6197600" y="2190750"/>
            <a:ext cx="0" cy="374650"/>
          </a:xfrm>
          <a:prstGeom prst="line">
            <a:avLst/>
          </a:prstGeom>
          <a:ln w="15875">
            <a:solidFill>
              <a:srgbClr val="A6A6A6"/>
            </a:solidFill>
            <a:prstDash val="dash"/>
          </a:ln>
          <a:effectLst/>
        </p:spPr>
      </p:cxnSp>
      <p:sp>
        <p:nvSpPr>
          <p:cNvPr id="184" name="151_residual_drop_left_1_arrowhead"/>
          <p:cNvSpPr/>
          <p:nvPr/>
        </p:nvSpPr>
        <p:spPr>
          <a:xfrm>
            <a:off x="6172200" y="2514600"/>
            <a:ext cx="50800" cy="50800"/>
          </a:xfrm>
          <a:custGeom>
            <a:avLst/>
            <a:gdLst/>
            <a:ahLst/>
            <a:cxnLst/>
            <a:rect l="l" t="t" r="r" b="b"/>
            <a:pathLst>
              <a:path w="50800" h="50800">
                <a:moveTo>
                  <a:pt x="25400" y="50800"/>
                </a:moveTo>
                <a:lnTo>
                  <a:pt x="0" y="0"/>
                </a:lnTo>
                <a:lnTo>
                  <a:pt x="50800" y="0"/>
                </a:lnTo>
                <a:close/>
              </a:path>
            </a:pathLst>
          </a:custGeom>
          <a:solidFill>
            <a:srgbClr val="A6A6A6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cxnSp>
        <p:nvCxnSpPr>
          <p:cNvPr id="185" name="152_residual_drop_right_1_0"/>
          <p:cNvCxnSpPr/>
          <p:nvPr/>
        </p:nvCxnSpPr>
        <p:spPr>
          <a:xfrm>
            <a:off x="7791450" y="2190750"/>
            <a:ext cx="0" cy="374650"/>
          </a:xfrm>
          <a:prstGeom prst="line">
            <a:avLst/>
          </a:prstGeom>
          <a:ln w="15875">
            <a:solidFill>
              <a:srgbClr val="A6A6A6"/>
            </a:solidFill>
            <a:prstDash val="dash"/>
          </a:ln>
          <a:effectLst/>
        </p:spPr>
      </p:cxnSp>
      <p:sp>
        <p:nvSpPr>
          <p:cNvPr id="186" name="152_residual_drop_right_1_arrowhead"/>
          <p:cNvSpPr/>
          <p:nvPr/>
        </p:nvSpPr>
        <p:spPr>
          <a:xfrm>
            <a:off x="7766050" y="2514600"/>
            <a:ext cx="50800" cy="50800"/>
          </a:xfrm>
          <a:custGeom>
            <a:avLst/>
            <a:gdLst/>
            <a:ahLst/>
            <a:cxnLst/>
            <a:rect l="l" t="t" r="r" b="b"/>
            <a:pathLst>
              <a:path w="50800" h="50800">
                <a:moveTo>
                  <a:pt x="25400" y="50800"/>
                </a:moveTo>
                <a:lnTo>
                  <a:pt x="0" y="0"/>
                </a:lnTo>
                <a:lnTo>
                  <a:pt x="50800" y="0"/>
                </a:lnTo>
                <a:close/>
              </a:path>
            </a:pathLst>
          </a:custGeom>
          <a:solidFill>
            <a:srgbClr val="A6A6A6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87" name="153_left_ss_2"/>
          <p:cNvSpPr/>
          <p:nvPr/>
        </p:nvSpPr>
        <p:spPr>
          <a:xfrm>
            <a:off x="4870450" y="3022600"/>
            <a:ext cx="304800" cy="609600"/>
          </a:xfrm>
          <a:prstGeom prst="roundRect">
            <a:avLst>
              <a:gd name="adj" fmla="val 16666"/>
            </a:avLst>
          </a:prstGeom>
          <a:solidFill>
            <a:srgbClr val="85E291"/>
          </a:solidFill>
          <a:ln w="15875">
            <a:solidFill>
              <a:srgbClr val="48A93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88" name="154_left_ss_text_2"/>
          <p:cNvSpPr txBox="1"/>
          <p:nvPr/>
        </p:nvSpPr>
        <p:spPr>
          <a:xfrm rot="5400000">
            <a:off x="4743450" y="3175000"/>
            <a:ext cx="558800" cy="304800"/>
          </a:xfrm>
          <a:prstGeom prst="rect">
            <a:avLst/>
          </a:prstGeom>
          <a:noFill/>
          <a:effectLst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</a:pPr>
            <a:r>
              <a:rPr sz="1050" b="1" i="0">
                <a:solidFill>
                  <a:srgbClr val="000000"/>
                </a:solidFill>
                <a:latin typeface="Liberation Serif"/>
              </a:rPr>
              <a:t>S&amp;S</a:t>
            </a:r>
          </a:p>
        </p:txBody>
      </p:sp>
      <p:sp>
        <p:nvSpPr>
          <p:cNvPr id="189" name="155_left_gate_2"/>
          <p:cNvSpPr/>
          <p:nvPr/>
        </p:nvSpPr>
        <p:spPr>
          <a:xfrm>
            <a:off x="5791200" y="3022600"/>
            <a:ext cx="304800" cy="609600"/>
          </a:xfrm>
          <a:prstGeom prst="roundRect">
            <a:avLst>
              <a:gd name="adj" fmla="val 16666"/>
            </a:avLst>
          </a:prstGeom>
          <a:solidFill>
            <a:srgbClr val="85E291"/>
          </a:solidFill>
          <a:ln w="15875">
            <a:solidFill>
              <a:srgbClr val="48A93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90" name="156_left_gate_text_2"/>
          <p:cNvSpPr txBox="1"/>
          <p:nvPr/>
        </p:nvSpPr>
        <p:spPr>
          <a:xfrm rot="5400000">
            <a:off x="5664200" y="3175000"/>
            <a:ext cx="558800" cy="304800"/>
          </a:xfrm>
          <a:prstGeom prst="rect">
            <a:avLst/>
          </a:prstGeom>
          <a:noFill/>
          <a:effectLst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</a:pPr>
            <a:r>
              <a:rPr sz="1050" b="1" i="0">
                <a:solidFill>
                  <a:srgbClr val="000000"/>
                </a:solidFill>
                <a:latin typeface="Liberation Serif"/>
              </a:rPr>
              <a:t>Gate</a:t>
            </a:r>
          </a:p>
        </p:txBody>
      </p:sp>
      <p:sp>
        <p:nvSpPr>
          <p:cNvPr id="191" name="157_right_ss_2"/>
          <p:cNvSpPr/>
          <p:nvPr/>
        </p:nvSpPr>
        <p:spPr>
          <a:xfrm>
            <a:off x="6451600" y="3022600"/>
            <a:ext cx="304800" cy="609600"/>
          </a:xfrm>
          <a:prstGeom prst="roundRect">
            <a:avLst>
              <a:gd name="adj" fmla="val 16666"/>
            </a:avLst>
          </a:prstGeom>
          <a:solidFill>
            <a:srgbClr val="85E291"/>
          </a:solidFill>
          <a:ln w="15875">
            <a:solidFill>
              <a:srgbClr val="48A93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92" name="158_right_ss_text_2"/>
          <p:cNvSpPr txBox="1"/>
          <p:nvPr/>
        </p:nvSpPr>
        <p:spPr>
          <a:xfrm rot="5400000">
            <a:off x="6324600" y="3175000"/>
            <a:ext cx="558800" cy="304800"/>
          </a:xfrm>
          <a:prstGeom prst="rect">
            <a:avLst/>
          </a:prstGeom>
          <a:noFill/>
          <a:effectLst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</a:pPr>
            <a:r>
              <a:rPr sz="1050" b="1" i="0">
                <a:solidFill>
                  <a:srgbClr val="000000"/>
                </a:solidFill>
                <a:latin typeface="Liberation Serif"/>
              </a:rPr>
              <a:t>S&amp;S</a:t>
            </a:r>
          </a:p>
        </p:txBody>
      </p:sp>
      <p:sp>
        <p:nvSpPr>
          <p:cNvPr id="193" name="159_right_gate_2"/>
          <p:cNvSpPr/>
          <p:nvPr/>
        </p:nvSpPr>
        <p:spPr>
          <a:xfrm>
            <a:off x="7385050" y="3022600"/>
            <a:ext cx="304800" cy="609600"/>
          </a:xfrm>
          <a:prstGeom prst="roundRect">
            <a:avLst>
              <a:gd name="adj" fmla="val 16666"/>
            </a:avLst>
          </a:prstGeom>
          <a:solidFill>
            <a:srgbClr val="85E291"/>
          </a:solidFill>
          <a:ln w="15875">
            <a:solidFill>
              <a:srgbClr val="48A93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94" name="160_right_gate_text_2"/>
          <p:cNvSpPr txBox="1"/>
          <p:nvPr/>
        </p:nvSpPr>
        <p:spPr>
          <a:xfrm rot="5400000">
            <a:off x="7258050" y="3175000"/>
            <a:ext cx="558800" cy="304800"/>
          </a:xfrm>
          <a:prstGeom prst="rect">
            <a:avLst/>
          </a:prstGeom>
          <a:noFill/>
          <a:effectLst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</a:pPr>
            <a:r>
              <a:rPr sz="1050" b="1" i="0">
                <a:solidFill>
                  <a:srgbClr val="000000"/>
                </a:solidFill>
                <a:latin typeface="Liberation Serif"/>
              </a:rPr>
              <a:t>Gate</a:t>
            </a:r>
          </a:p>
        </p:txBody>
      </p:sp>
      <p:sp>
        <p:nvSpPr>
          <p:cNvPr id="195" name="161_residual_left_2"/>
          <p:cNvSpPr/>
          <p:nvPr/>
        </p:nvSpPr>
        <p:spPr>
          <a:xfrm>
            <a:off x="4775200" y="2952750"/>
            <a:ext cx="1422400" cy="749300"/>
          </a:xfrm>
          <a:prstGeom prst="rect">
            <a:avLst/>
          </a:prstGeom>
          <a:noFill/>
          <a:ln w="19050">
            <a:solidFill>
              <a:srgbClr val="A6A6A6"/>
            </a:solidFill>
            <a:prstDash val="sysDot"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96" name="162_residual_right_2"/>
          <p:cNvSpPr/>
          <p:nvPr/>
        </p:nvSpPr>
        <p:spPr>
          <a:xfrm>
            <a:off x="6356350" y="2952750"/>
            <a:ext cx="1435100" cy="749300"/>
          </a:xfrm>
          <a:prstGeom prst="rect">
            <a:avLst/>
          </a:prstGeom>
          <a:noFill/>
          <a:ln w="19050">
            <a:solidFill>
              <a:srgbClr val="A6A6A6"/>
            </a:solidFill>
            <a:prstDash val="sysDot"/>
          </a:ln>
          <a:effectLst/>
        </p:spPr>
        <p:txBody>
          <a:bodyPr rtlCol="0" anchor="ctr"/>
          <a:lstStyle/>
          <a:p>
            <a:pPr algn="ctr"/>
          </a:p>
        </p:txBody>
      </p:sp>
      <p:cxnSp>
        <p:nvCxnSpPr>
          <p:cNvPr id="197" name="163_residual_drop_left_2_0"/>
          <p:cNvCxnSpPr/>
          <p:nvPr/>
        </p:nvCxnSpPr>
        <p:spPr>
          <a:xfrm>
            <a:off x="6197600" y="2952750"/>
            <a:ext cx="0" cy="374650"/>
          </a:xfrm>
          <a:prstGeom prst="line">
            <a:avLst/>
          </a:prstGeom>
          <a:ln w="15875">
            <a:solidFill>
              <a:srgbClr val="A6A6A6"/>
            </a:solidFill>
            <a:prstDash val="dash"/>
          </a:ln>
          <a:effectLst/>
        </p:spPr>
      </p:cxnSp>
      <p:sp>
        <p:nvSpPr>
          <p:cNvPr id="198" name="163_residual_drop_left_2_arrowhead"/>
          <p:cNvSpPr/>
          <p:nvPr/>
        </p:nvSpPr>
        <p:spPr>
          <a:xfrm>
            <a:off x="6172200" y="3276600"/>
            <a:ext cx="50800" cy="50800"/>
          </a:xfrm>
          <a:custGeom>
            <a:avLst/>
            <a:gdLst/>
            <a:ahLst/>
            <a:cxnLst/>
            <a:rect l="l" t="t" r="r" b="b"/>
            <a:pathLst>
              <a:path w="50800" h="50800">
                <a:moveTo>
                  <a:pt x="25400" y="50800"/>
                </a:moveTo>
                <a:lnTo>
                  <a:pt x="0" y="0"/>
                </a:lnTo>
                <a:lnTo>
                  <a:pt x="50800" y="0"/>
                </a:lnTo>
                <a:close/>
              </a:path>
            </a:pathLst>
          </a:custGeom>
          <a:solidFill>
            <a:srgbClr val="A6A6A6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cxnSp>
        <p:nvCxnSpPr>
          <p:cNvPr id="199" name="164_residual_drop_right_2_0"/>
          <p:cNvCxnSpPr/>
          <p:nvPr/>
        </p:nvCxnSpPr>
        <p:spPr>
          <a:xfrm>
            <a:off x="7791450" y="2952750"/>
            <a:ext cx="0" cy="374650"/>
          </a:xfrm>
          <a:prstGeom prst="line">
            <a:avLst/>
          </a:prstGeom>
          <a:ln w="15875">
            <a:solidFill>
              <a:srgbClr val="A6A6A6"/>
            </a:solidFill>
            <a:prstDash val="dash"/>
          </a:ln>
          <a:effectLst/>
        </p:spPr>
      </p:cxnSp>
      <p:sp>
        <p:nvSpPr>
          <p:cNvPr id="200" name="164_residual_drop_right_2_arrowhead"/>
          <p:cNvSpPr/>
          <p:nvPr/>
        </p:nvSpPr>
        <p:spPr>
          <a:xfrm>
            <a:off x="7766050" y="3276600"/>
            <a:ext cx="50800" cy="50800"/>
          </a:xfrm>
          <a:custGeom>
            <a:avLst/>
            <a:gdLst/>
            <a:ahLst/>
            <a:cxnLst/>
            <a:rect l="l" t="t" r="r" b="b"/>
            <a:pathLst>
              <a:path w="50800" h="50800">
                <a:moveTo>
                  <a:pt x="25400" y="50800"/>
                </a:moveTo>
                <a:lnTo>
                  <a:pt x="0" y="0"/>
                </a:lnTo>
                <a:lnTo>
                  <a:pt x="50800" y="0"/>
                </a:lnTo>
                <a:close/>
              </a:path>
            </a:pathLst>
          </a:custGeom>
          <a:solidFill>
            <a:srgbClr val="A6A6A6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01" name="165_full_attention"/>
          <p:cNvSpPr/>
          <p:nvPr/>
        </p:nvSpPr>
        <p:spPr>
          <a:xfrm>
            <a:off x="5334000" y="1504950"/>
            <a:ext cx="304800" cy="2120900"/>
          </a:xfrm>
          <a:prstGeom prst="roundRect">
            <a:avLst>
              <a:gd name="adj" fmla="val 16666"/>
            </a:avLst>
          </a:prstGeom>
          <a:solidFill>
            <a:srgbClr val="A6CAEC"/>
          </a:solidFill>
          <a:ln w="15875">
            <a:solidFill>
              <a:srgbClr val="2C6CA2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02" name="166_full_attention_text"/>
          <p:cNvSpPr txBox="1"/>
          <p:nvPr/>
        </p:nvSpPr>
        <p:spPr>
          <a:xfrm rot="5400000">
            <a:off x="4451350" y="2413000"/>
            <a:ext cx="2070100" cy="304800"/>
          </a:xfrm>
          <a:prstGeom prst="rect">
            <a:avLst/>
          </a:prstGeom>
          <a:noFill/>
          <a:effectLst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000000"/>
                </a:solidFill>
                <a:latin typeface="Liberation Serif"/>
              </a:rPr>
              <a:t>3D Full Attention</a:t>
            </a:r>
          </a:p>
        </p:txBody>
      </p:sp>
      <p:sp>
        <p:nvSpPr>
          <p:cNvPr id="203" name="167_point_ffn"/>
          <p:cNvSpPr/>
          <p:nvPr/>
        </p:nvSpPr>
        <p:spPr>
          <a:xfrm>
            <a:off x="6921500" y="1504950"/>
            <a:ext cx="304800" cy="2120900"/>
          </a:xfrm>
          <a:prstGeom prst="roundRect">
            <a:avLst>
              <a:gd name="adj" fmla="val 16666"/>
            </a:avLst>
          </a:prstGeom>
          <a:solidFill>
            <a:srgbClr val="A6CAEC"/>
          </a:solidFill>
          <a:ln w="15875">
            <a:solidFill>
              <a:srgbClr val="2C6CA2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04" name="168_point_ffn_text"/>
          <p:cNvSpPr txBox="1"/>
          <p:nvPr/>
        </p:nvSpPr>
        <p:spPr>
          <a:xfrm rot="5400000">
            <a:off x="6038850" y="2413000"/>
            <a:ext cx="2070100" cy="304800"/>
          </a:xfrm>
          <a:prstGeom prst="rect">
            <a:avLst/>
          </a:prstGeom>
          <a:noFill/>
          <a:effectLst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</a:pPr>
            <a:r>
              <a:rPr sz="1050" b="1" i="0">
                <a:solidFill>
                  <a:srgbClr val="000000"/>
                </a:solidFill>
                <a:latin typeface="Liberation Serif"/>
              </a:rPr>
              <a:t>Point-wise Feedforward</a:t>
            </a:r>
          </a:p>
        </p:txBody>
      </p:sp>
      <p:sp>
        <p:nvSpPr>
          <p:cNvPr id="205" name="169_mod_param_0"/>
          <p:cNvSpPr txBox="1"/>
          <p:nvPr/>
        </p:nvSpPr>
        <p:spPr>
          <a:xfrm>
            <a:off x="4616450" y="1168400"/>
            <a:ext cx="825500" cy="266700"/>
          </a:xfrm>
          <a:prstGeom prst="rect">
            <a:avLst/>
          </a:prstGeom>
          <a:noFill/>
          <a:effectLst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 i="1">
                <a:solidFill>
                  <a:srgbClr val="000000"/>
                </a:solidFill>
                <a:latin typeface="Latin Modern Math"/>
              </a:rPr>
              <a:t>αm1, βm1</a:t>
            </a:r>
          </a:p>
        </p:txBody>
      </p:sp>
      <p:cxnSp>
        <p:nvCxnSpPr>
          <p:cNvPr id="206" name="170_mod_param_arrow_0_0"/>
          <p:cNvCxnSpPr/>
          <p:nvPr/>
        </p:nvCxnSpPr>
        <p:spPr>
          <a:xfrm>
            <a:off x="5029200" y="1377950"/>
            <a:ext cx="0" cy="127000"/>
          </a:xfrm>
          <a:prstGeom prst="line">
            <a:avLst/>
          </a:prstGeom>
          <a:ln w="13970">
            <a:solidFill>
              <a:srgbClr val="000000"/>
            </a:solidFill>
          </a:ln>
          <a:effectLst/>
        </p:spPr>
      </p:cxnSp>
      <p:sp>
        <p:nvSpPr>
          <p:cNvPr id="207" name="170_mod_param_arrow_0_arrowhead"/>
          <p:cNvSpPr/>
          <p:nvPr/>
        </p:nvSpPr>
        <p:spPr>
          <a:xfrm>
            <a:off x="5003800" y="1454150"/>
            <a:ext cx="50800" cy="50800"/>
          </a:xfrm>
          <a:custGeom>
            <a:avLst/>
            <a:gdLst/>
            <a:ahLst/>
            <a:cxnLst/>
            <a:rect l="l" t="t" r="r" b="b"/>
            <a:pathLst>
              <a:path w="50800" h="50800">
                <a:moveTo>
                  <a:pt x="25400" y="50800"/>
                </a:moveTo>
                <a:lnTo>
                  <a:pt x="0" y="0"/>
                </a:lnTo>
                <a:lnTo>
                  <a:pt x="50800" y="0"/>
                </a:lnTo>
                <a:close/>
              </a:path>
            </a:pathLst>
          </a:custGeom>
          <a:solidFill>
            <a:srgbClr val="000000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08" name="171_mod_param_1"/>
          <p:cNvSpPr txBox="1"/>
          <p:nvPr/>
        </p:nvSpPr>
        <p:spPr>
          <a:xfrm>
            <a:off x="5530850" y="1168400"/>
            <a:ext cx="825500" cy="266700"/>
          </a:xfrm>
          <a:prstGeom prst="rect">
            <a:avLst/>
          </a:prstGeom>
          <a:noFill/>
          <a:effectLst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 i="1">
                <a:solidFill>
                  <a:srgbClr val="000000"/>
                </a:solidFill>
                <a:latin typeface="Latin Modern Math"/>
              </a:rPr>
              <a:t>γm1</a:t>
            </a:r>
          </a:p>
        </p:txBody>
      </p:sp>
      <p:cxnSp>
        <p:nvCxnSpPr>
          <p:cNvPr id="209" name="172_mod_param_arrow_1_0"/>
          <p:cNvCxnSpPr/>
          <p:nvPr/>
        </p:nvCxnSpPr>
        <p:spPr>
          <a:xfrm>
            <a:off x="5943600" y="1377950"/>
            <a:ext cx="0" cy="127000"/>
          </a:xfrm>
          <a:prstGeom prst="line">
            <a:avLst/>
          </a:prstGeom>
          <a:ln w="13970">
            <a:solidFill>
              <a:srgbClr val="000000"/>
            </a:solidFill>
          </a:ln>
          <a:effectLst/>
        </p:spPr>
      </p:cxnSp>
      <p:sp>
        <p:nvSpPr>
          <p:cNvPr id="210" name="172_mod_param_arrow_1_arrowhead"/>
          <p:cNvSpPr/>
          <p:nvPr/>
        </p:nvSpPr>
        <p:spPr>
          <a:xfrm>
            <a:off x="5918200" y="1454150"/>
            <a:ext cx="50800" cy="50800"/>
          </a:xfrm>
          <a:custGeom>
            <a:avLst/>
            <a:gdLst/>
            <a:ahLst/>
            <a:cxnLst/>
            <a:rect l="l" t="t" r="r" b="b"/>
            <a:pathLst>
              <a:path w="50800" h="50800">
                <a:moveTo>
                  <a:pt x="25400" y="50800"/>
                </a:moveTo>
                <a:lnTo>
                  <a:pt x="0" y="0"/>
                </a:lnTo>
                <a:lnTo>
                  <a:pt x="50800" y="0"/>
                </a:lnTo>
                <a:close/>
              </a:path>
            </a:pathLst>
          </a:custGeom>
          <a:solidFill>
            <a:srgbClr val="000000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11" name="173_mod_param_2"/>
          <p:cNvSpPr txBox="1"/>
          <p:nvPr/>
        </p:nvSpPr>
        <p:spPr>
          <a:xfrm>
            <a:off x="6191250" y="1168400"/>
            <a:ext cx="825500" cy="266700"/>
          </a:xfrm>
          <a:prstGeom prst="rect">
            <a:avLst/>
          </a:prstGeom>
          <a:noFill/>
          <a:effectLst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 i="1">
                <a:solidFill>
                  <a:srgbClr val="000000"/>
                </a:solidFill>
                <a:latin typeface="Latin Modern Math"/>
              </a:rPr>
              <a:t>αm2, βm2</a:t>
            </a:r>
          </a:p>
        </p:txBody>
      </p:sp>
      <p:cxnSp>
        <p:nvCxnSpPr>
          <p:cNvPr id="212" name="174_mod_param_arrow_2_0"/>
          <p:cNvCxnSpPr/>
          <p:nvPr/>
        </p:nvCxnSpPr>
        <p:spPr>
          <a:xfrm>
            <a:off x="6604000" y="1377950"/>
            <a:ext cx="0" cy="127000"/>
          </a:xfrm>
          <a:prstGeom prst="line">
            <a:avLst/>
          </a:prstGeom>
          <a:ln w="13970">
            <a:solidFill>
              <a:srgbClr val="000000"/>
            </a:solidFill>
          </a:ln>
          <a:effectLst/>
        </p:spPr>
      </p:cxnSp>
      <p:sp>
        <p:nvSpPr>
          <p:cNvPr id="213" name="174_mod_param_arrow_2_arrowhead"/>
          <p:cNvSpPr/>
          <p:nvPr/>
        </p:nvSpPr>
        <p:spPr>
          <a:xfrm>
            <a:off x="6578600" y="1454150"/>
            <a:ext cx="50800" cy="50800"/>
          </a:xfrm>
          <a:custGeom>
            <a:avLst/>
            <a:gdLst/>
            <a:ahLst/>
            <a:cxnLst/>
            <a:rect l="l" t="t" r="r" b="b"/>
            <a:pathLst>
              <a:path w="50800" h="50800">
                <a:moveTo>
                  <a:pt x="25400" y="50800"/>
                </a:moveTo>
                <a:lnTo>
                  <a:pt x="0" y="0"/>
                </a:lnTo>
                <a:lnTo>
                  <a:pt x="50800" y="0"/>
                </a:lnTo>
                <a:close/>
              </a:path>
            </a:pathLst>
          </a:custGeom>
          <a:solidFill>
            <a:srgbClr val="000000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14" name="175_mod_param_3"/>
          <p:cNvSpPr txBox="1"/>
          <p:nvPr/>
        </p:nvSpPr>
        <p:spPr>
          <a:xfrm>
            <a:off x="7124700" y="1168400"/>
            <a:ext cx="825500" cy="266700"/>
          </a:xfrm>
          <a:prstGeom prst="rect">
            <a:avLst/>
          </a:prstGeom>
          <a:noFill/>
          <a:effectLst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 i="1">
                <a:solidFill>
                  <a:srgbClr val="000000"/>
                </a:solidFill>
                <a:latin typeface="Latin Modern Math"/>
              </a:rPr>
              <a:t>γm2</a:t>
            </a:r>
          </a:p>
        </p:txBody>
      </p:sp>
      <p:cxnSp>
        <p:nvCxnSpPr>
          <p:cNvPr id="215" name="176_mod_param_arrow_3_0"/>
          <p:cNvCxnSpPr/>
          <p:nvPr/>
        </p:nvCxnSpPr>
        <p:spPr>
          <a:xfrm>
            <a:off x="7537450" y="1377950"/>
            <a:ext cx="0" cy="127000"/>
          </a:xfrm>
          <a:prstGeom prst="line">
            <a:avLst/>
          </a:prstGeom>
          <a:ln w="13970">
            <a:solidFill>
              <a:srgbClr val="000000"/>
            </a:solidFill>
          </a:ln>
          <a:effectLst/>
        </p:spPr>
      </p:cxnSp>
      <p:sp>
        <p:nvSpPr>
          <p:cNvPr id="216" name="176_mod_param_arrow_3_arrowhead"/>
          <p:cNvSpPr/>
          <p:nvPr/>
        </p:nvSpPr>
        <p:spPr>
          <a:xfrm>
            <a:off x="7512050" y="1454150"/>
            <a:ext cx="50800" cy="50800"/>
          </a:xfrm>
          <a:custGeom>
            <a:avLst/>
            <a:gdLst/>
            <a:ahLst/>
            <a:cxnLst/>
            <a:rect l="l" t="t" r="r" b="b"/>
            <a:pathLst>
              <a:path w="50800" h="50800">
                <a:moveTo>
                  <a:pt x="25400" y="50800"/>
                </a:moveTo>
                <a:lnTo>
                  <a:pt x="0" y="0"/>
                </a:lnTo>
                <a:lnTo>
                  <a:pt x="50800" y="0"/>
                </a:lnTo>
                <a:close/>
              </a:path>
            </a:pathLst>
          </a:custGeom>
          <a:solidFill>
            <a:srgbClr val="000000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17" name="177_svimo_title"/>
          <p:cNvSpPr txBox="1"/>
          <p:nvPr/>
        </p:nvSpPr>
        <p:spPr>
          <a:xfrm>
            <a:off x="3829050" y="3867150"/>
            <a:ext cx="4476750" cy="292100"/>
          </a:xfrm>
          <a:prstGeom prst="rect">
            <a:avLst/>
          </a:prstGeom>
          <a:noFill/>
          <a:effectLst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</a:pPr>
            <a:r>
              <a:rPr sz="1550" b="1" i="0">
                <a:solidFill>
                  <a:srgbClr val="000000"/>
                </a:solidFill>
                <a:latin typeface="Liberation Serif"/>
              </a:rPr>
              <a:t>Synchronized Video-Motion Diffusion (SViMo)</a:t>
            </a:r>
          </a:p>
        </p:txBody>
      </p:sp>
      <p:sp>
        <p:nvSpPr>
          <p:cNvPr id="218" name="178_output_feature_strip_cell_0"/>
          <p:cNvSpPr/>
          <p:nvPr/>
        </p:nvSpPr>
        <p:spPr>
          <a:xfrm>
            <a:off x="8204199" y="1181100"/>
            <a:ext cx="222250" cy="266223"/>
          </a:xfrm>
          <a:prstGeom prst="rect">
            <a:avLst/>
          </a:prstGeom>
          <a:solidFill>
            <a:srgbClr val="E49EDD"/>
          </a:solidFill>
          <a:ln w="12700">
            <a:solidFill>
              <a:srgbClr val="12202B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19" name="179_output_feature_strip_cell_1"/>
          <p:cNvSpPr/>
          <p:nvPr/>
        </p:nvSpPr>
        <p:spPr>
          <a:xfrm>
            <a:off x="8204199" y="1445418"/>
            <a:ext cx="222250" cy="266223"/>
          </a:xfrm>
          <a:prstGeom prst="rect">
            <a:avLst/>
          </a:prstGeom>
          <a:solidFill>
            <a:srgbClr val="E49EDD"/>
          </a:solidFill>
          <a:ln w="12700">
            <a:solidFill>
              <a:srgbClr val="12202B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20" name="180_output_feature_strip_cell_2"/>
          <p:cNvSpPr/>
          <p:nvPr/>
        </p:nvSpPr>
        <p:spPr>
          <a:xfrm>
            <a:off x="8204199" y="1709737"/>
            <a:ext cx="222250" cy="266223"/>
          </a:xfrm>
          <a:prstGeom prst="rect">
            <a:avLst/>
          </a:prstGeom>
          <a:solidFill>
            <a:srgbClr val="E49EDD"/>
          </a:solidFill>
          <a:ln w="12700">
            <a:solidFill>
              <a:srgbClr val="12202B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21" name="181_output_feature_strip_cell_3"/>
          <p:cNvSpPr/>
          <p:nvPr/>
        </p:nvSpPr>
        <p:spPr>
          <a:xfrm>
            <a:off x="8204199" y="1974056"/>
            <a:ext cx="222250" cy="266223"/>
          </a:xfrm>
          <a:prstGeom prst="rect">
            <a:avLst/>
          </a:prstGeom>
          <a:solidFill>
            <a:srgbClr val="E49EDD"/>
          </a:solidFill>
          <a:ln w="12700">
            <a:solidFill>
              <a:srgbClr val="12202B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22" name="182_output_feature_strip_cell_4"/>
          <p:cNvSpPr/>
          <p:nvPr/>
        </p:nvSpPr>
        <p:spPr>
          <a:xfrm>
            <a:off x="8204199" y="2238375"/>
            <a:ext cx="222250" cy="266223"/>
          </a:xfrm>
          <a:prstGeom prst="rect">
            <a:avLst/>
          </a:prstGeom>
          <a:solidFill>
            <a:srgbClr val="85E291"/>
          </a:solidFill>
          <a:ln w="12700">
            <a:solidFill>
              <a:srgbClr val="12202B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23" name="183_output_feature_strip_cell_5"/>
          <p:cNvSpPr/>
          <p:nvPr/>
        </p:nvSpPr>
        <p:spPr>
          <a:xfrm>
            <a:off x="8204199" y="2502693"/>
            <a:ext cx="222250" cy="266223"/>
          </a:xfrm>
          <a:prstGeom prst="rect">
            <a:avLst/>
          </a:prstGeom>
          <a:solidFill>
            <a:srgbClr val="85E291"/>
          </a:solidFill>
          <a:ln w="12700">
            <a:solidFill>
              <a:srgbClr val="12202B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24" name="184_output_feature_strip_cell_6"/>
          <p:cNvSpPr/>
          <p:nvPr/>
        </p:nvSpPr>
        <p:spPr>
          <a:xfrm>
            <a:off x="8204199" y="2767012"/>
            <a:ext cx="222250" cy="266223"/>
          </a:xfrm>
          <a:prstGeom prst="rect">
            <a:avLst/>
          </a:prstGeom>
          <a:solidFill>
            <a:srgbClr val="85E291"/>
          </a:solidFill>
          <a:ln w="12700">
            <a:solidFill>
              <a:srgbClr val="12202B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25" name="185_output_feature_strip_cell_7"/>
          <p:cNvSpPr/>
          <p:nvPr/>
        </p:nvSpPr>
        <p:spPr>
          <a:xfrm>
            <a:off x="8204199" y="3031331"/>
            <a:ext cx="222250" cy="266223"/>
          </a:xfrm>
          <a:prstGeom prst="rect">
            <a:avLst/>
          </a:prstGeom>
          <a:solidFill>
            <a:srgbClr val="85E291"/>
          </a:solidFill>
          <a:ln w="12700">
            <a:solidFill>
              <a:srgbClr val="12202B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26" name="186_output_feature_strip_outline"/>
          <p:cNvSpPr/>
          <p:nvPr/>
        </p:nvSpPr>
        <p:spPr>
          <a:xfrm>
            <a:off x="8204199" y="1181100"/>
            <a:ext cx="222250" cy="2114550"/>
          </a:xfrm>
          <a:prstGeom prst="rect">
            <a:avLst/>
          </a:prstGeom>
          <a:noFill/>
          <a:ln w="19050">
            <a:solidFill>
              <a:srgbClr val="12202B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cxnSp>
        <p:nvCxnSpPr>
          <p:cNvPr id="227" name="187_core_to_output_strip_top_0"/>
          <p:cNvCxnSpPr/>
          <p:nvPr/>
        </p:nvCxnSpPr>
        <p:spPr>
          <a:xfrm>
            <a:off x="8026400" y="1695450"/>
            <a:ext cx="177799" cy="0"/>
          </a:xfrm>
          <a:prstGeom prst="line">
            <a:avLst/>
          </a:prstGeom>
          <a:ln w="15875">
            <a:solidFill>
              <a:srgbClr val="000000"/>
            </a:solidFill>
          </a:ln>
          <a:effectLst/>
        </p:spPr>
      </p:cxnSp>
      <p:cxnSp>
        <p:nvCxnSpPr>
          <p:cNvPr id="228" name="188_core_to_output_strip_bottom_0"/>
          <p:cNvCxnSpPr/>
          <p:nvPr/>
        </p:nvCxnSpPr>
        <p:spPr>
          <a:xfrm>
            <a:off x="8026400" y="2768600"/>
            <a:ext cx="177799" cy="0"/>
          </a:xfrm>
          <a:prstGeom prst="line">
            <a:avLst/>
          </a:prstGeom>
          <a:ln w="15875">
            <a:solidFill>
              <a:srgbClr val="000000"/>
            </a:solidFill>
          </a:ln>
          <a:effectLst/>
        </p:spPr>
      </p:cxnSp>
      <p:cxnSp>
        <p:nvCxnSpPr>
          <p:cNvPr id="229" name="189_output_strip_to_zv_0"/>
          <p:cNvCxnSpPr/>
          <p:nvPr/>
        </p:nvCxnSpPr>
        <p:spPr>
          <a:xfrm>
            <a:off x="8426450" y="1695450"/>
            <a:ext cx="209550" cy="0"/>
          </a:xfrm>
          <a:prstGeom prst="line">
            <a:avLst/>
          </a:prstGeom>
          <a:ln w="15875">
            <a:solidFill>
              <a:srgbClr val="000000"/>
            </a:solidFill>
          </a:ln>
          <a:effectLst/>
        </p:spPr>
      </p:cxnSp>
      <p:sp>
        <p:nvSpPr>
          <p:cNvPr id="230" name="189_output_strip_to_zv_arrowhead"/>
          <p:cNvSpPr/>
          <p:nvPr/>
        </p:nvSpPr>
        <p:spPr>
          <a:xfrm>
            <a:off x="8585200" y="1670050"/>
            <a:ext cx="50800" cy="50800"/>
          </a:xfrm>
          <a:custGeom>
            <a:avLst/>
            <a:gdLst/>
            <a:ahLst/>
            <a:cxnLst/>
            <a:rect l="l" t="t" r="r" b="b"/>
            <a:pathLst>
              <a:path w="50800" h="50800">
                <a:moveTo>
                  <a:pt x="50800" y="25400"/>
                </a:moveTo>
                <a:lnTo>
                  <a:pt x="0" y="50800"/>
                </a:lnTo>
                <a:lnTo>
                  <a:pt x="0" y="0"/>
                </a:lnTo>
                <a:close/>
              </a:path>
            </a:pathLst>
          </a:custGeom>
          <a:solidFill>
            <a:srgbClr val="000000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cxnSp>
        <p:nvCxnSpPr>
          <p:cNvPr id="231" name="190_output_strip_to_zm_0"/>
          <p:cNvCxnSpPr/>
          <p:nvPr/>
        </p:nvCxnSpPr>
        <p:spPr>
          <a:xfrm>
            <a:off x="8426450" y="2762250"/>
            <a:ext cx="209550" cy="0"/>
          </a:xfrm>
          <a:prstGeom prst="line">
            <a:avLst/>
          </a:prstGeom>
          <a:ln w="15875">
            <a:solidFill>
              <a:srgbClr val="000000"/>
            </a:solidFill>
          </a:ln>
          <a:effectLst/>
        </p:spPr>
      </p:cxnSp>
      <p:sp>
        <p:nvSpPr>
          <p:cNvPr id="232" name="190_output_strip_to_zm_arrowhead"/>
          <p:cNvSpPr/>
          <p:nvPr/>
        </p:nvSpPr>
        <p:spPr>
          <a:xfrm>
            <a:off x="8585200" y="2736850"/>
            <a:ext cx="50800" cy="50800"/>
          </a:xfrm>
          <a:custGeom>
            <a:avLst/>
            <a:gdLst/>
            <a:ahLst/>
            <a:cxnLst/>
            <a:rect l="l" t="t" r="r" b="b"/>
            <a:pathLst>
              <a:path w="50800" h="50800">
                <a:moveTo>
                  <a:pt x="50800" y="25400"/>
                </a:moveTo>
                <a:lnTo>
                  <a:pt x="0" y="50800"/>
                </a:lnTo>
                <a:lnTo>
                  <a:pt x="0" y="0"/>
                </a:lnTo>
                <a:close/>
              </a:path>
            </a:pathLst>
          </a:custGeom>
          <a:solidFill>
            <a:srgbClr val="000000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33" name="191_predicted_video_latent_top"/>
          <p:cNvSpPr/>
          <p:nvPr/>
        </p:nvSpPr>
        <p:spPr>
          <a:xfrm>
            <a:off x="8636000" y="1524000"/>
            <a:ext cx="533400" cy="127000"/>
          </a:xfrm>
          <a:custGeom>
            <a:avLst/>
            <a:gdLst/>
            <a:ahLst/>
            <a:cxnLst/>
            <a:rect l="l" t="t" r="r" b="b"/>
            <a:pathLst>
              <a:path w="533400" h="127000">
                <a:moveTo>
                  <a:pt x="0" y="127000"/>
                </a:moveTo>
                <a:lnTo>
                  <a:pt x="127000" y="0"/>
                </a:lnTo>
                <a:lnTo>
                  <a:pt x="533400" y="0"/>
                </a:lnTo>
                <a:lnTo>
                  <a:pt x="406400" y="127000"/>
                </a:lnTo>
                <a:close/>
              </a:path>
            </a:pathLst>
          </a:custGeom>
          <a:solidFill>
            <a:srgbClr val="EFB5E9"/>
          </a:solidFill>
          <a:ln w="19050">
            <a:solidFill>
              <a:srgbClr val="AA2FA5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34" name="192_predicted_video_latent_side"/>
          <p:cNvSpPr/>
          <p:nvPr/>
        </p:nvSpPr>
        <p:spPr>
          <a:xfrm>
            <a:off x="9042400" y="1524000"/>
            <a:ext cx="127000" cy="533400"/>
          </a:xfrm>
          <a:custGeom>
            <a:avLst/>
            <a:gdLst/>
            <a:ahLst/>
            <a:cxnLst/>
            <a:rect l="l" t="t" r="r" b="b"/>
            <a:pathLst>
              <a:path w="127000" h="533400">
                <a:moveTo>
                  <a:pt x="0" y="127000"/>
                </a:moveTo>
                <a:lnTo>
                  <a:pt x="127000" y="0"/>
                </a:lnTo>
                <a:lnTo>
                  <a:pt x="127000" y="406400"/>
                </a:lnTo>
                <a:lnTo>
                  <a:pt x="0" y="533400"/>
                </a:lnTo>
                <a:close/>
              </a:path>
            </a:pathLst>
          </a:custGeom>
          <a:solidFill>
            <a:srgbClr val="C05BBB"/>
          </a:solidFill>
          <a:ln w="19050">
            <a:solidFill>
              <a:srgbClr val="AA2FA5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35" name="193_predicted_video_latent_front"/>
          <p:cNvSpPr/>
          <p:nvPr/>
        </p:nvSpPr>
        <p:spPr>
          <a:xfrm>
            <a:off x="8636000" y="1651000"/>
            <a:ext cx="406400" cy="406400"/>
          </a:xfrm>
          <a:prstGeom prst="rect">
            <a:avLst/>
          </a:prstGeom>
          <a:solidFill>
            <a:srgbClr val="E49EDD"/>
          </a:solidFill>
          <a:ln w="19050">
            <a:solidFill>
              <a:srgbClr val="AA2FA5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36" name="194_predicted_video_latent_label"/>
          <p:cNvSpPr txBox="1"/>
          <p:nvPr/>
        </p:nvSpPr>
        <p:spPr>
          <a:xfrm>
            <a:off x="8636000" y="1663700"/>
            <a:ext cx="406400" cy="381000"/>
          </a:xfrm>
          <a:prstGeom prst="rect">
            <a:avLst/>
          </a:prstGeom>
          <a:noFill/>
          <a:effectLst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</a:pPr>
            <a:r>
              <a:rPr sz="1150" b="1" i="1">
                <a:solidFill>
                  <a:srgbClr val="000000"/>
                </a:solidFill>
                <a:latin typeface="Latin Modern Math"/>
              </a:rPr>
              <a:t>z0^V</a:t>
            </a:r>
          </a:p>
        </p:txBody>
      </p:sp>
      <p:sp>
        <p:nvSpPr>
          <p:cNvPr id="237" name="195_predicted_motion_latent_top"/>
          <p:cNvSpPr/>
          <p:nvPr/>
        </p:nvSpPr>
        <p:spPr>
          <a:xfrm>
            <a:off x="8636000" y="2540000"/>
            <a:ext cx="533400" cy="127000"/>
          </a:xfrm>
          <a:custGeom>
            <a:avLst/>
            <a:gdLst/>
            <a:ahLst/>
            <a:cxnLst/>
            <a:rect l="l" t="t" r="r" b="b"/>
            <a:pathLst>
              <a:path w="533400" h="127000">
                <a:moveTo>
                  <a:pt x="0" y="127000"/>
                </a:moveTo>
                <a:lnTo>
                  <a:pt x="127000" y="0"/>
                </a:lnTo>
                <a:lnTo>
                  <a:pt x="533400" y="0"/>
                </a:lnTo>
                <a:lnTo>
                  <a:pt x="406400" y="127000"/>
                </a:lnTo>
                <a:close/>
              </a:path>
            </a:pathLst>
          </a:custGeom>
          <a:solidFill>
            <a:srgbClr val="A8EDB0"/>
          </a:solidFill>
          <a:ln w="19050">
            <a:solidFill>
              <a:srgbClr val="348E3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38" name="196_predicted_motion_latent_side"/>
          <p:cNvSpPr/>
          <p:nvPr/>
        </p:nvSpPr>
        <p:spPr>
          <a:xfrm>
            <a:off x="9042400" y="2540000"/>
            <a:ext cx="127000" cy="533400"/>
          </a:xfrm>
          <a:custGeom>
            <a:avLst/>
            <a:gdLst/>
            <a:ahLst/>
            <a:cxnLst/>
            <a:rect l="l" t="t" r="r" b="b"/>
            <a:pathLst>
              <a:path w="127000" h="533400">
                <a:moveTo>
                  <a:pt x="0" y="127000"/>
                </a:moveTo>
                <a:lnTo>
                  <a:pt x="127000" y="0"/>
                </a:lnTo>
                <a:lnTo>
                  <a:pt x="127000" y="406400"/>
                </a:lnTo>
                <a:lnTo>
                  <a:pt x="0" y="533400"/>
                </a:lnTo>
                <a:close/>
              </a:path>
            </a:pathLst>
          </a:custGeom>
          <a:solidFill>
            <a:srgbClr val="5DC66A"/>
          </a:solidFill>
          <a:ln w="19050">
            <a:solidFill>
              <a:srgbClr val="348E3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39" name="197_predicted_motion_latent_front"/>
          <p:cNvSpPr/>
          <p:nvPr/>
        </p:nvSpPr>
        <p:spPr>
          <a:xfrm>
            <a:off x="8636000" y="2667000"/>
            <a:ext cx="406400" cy="406400"/>
          </a:xfrm>
          <a:prstGeom prst="rect">
            <a:avLst/>
          </a:prstGeom>
          <a:solidFill>
            <a:srgbClr val="85E291"/>
          </a:solidFill>
          <a:ln w="19050">
            <a:solidFill>
              <a:srgbClr val="348E3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40" name="198_predicted_motion_latent_label"/>
          <p:cNvSpPr txBox="1"/>
          <p:nvPr/>
        </p:nvSpPr>
        <p:spPr>
          <a:xfrm>
            <a:off x="8636000" y="2679700"/>
            <a:ext cx="406400" cy="381000"/>
          </a:xfrm>
          <a:prstGeom prst="rect">
            <a:avLst/>
          </a:prstGeom>
          <a:noFill/>
          <a:effectLst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</a:pPr>
            <a:r>
              <a:rPr sz="1150" b="1" i="1">
                <a:solidFill>
                  <a:srgbClr val="000000"/>
                </a:solidFill>
                <a:latin typeface="Latin Modern Math"/>
              </a:rPr>
              <a:t>z0^M</a:t>
            </a:r>
          </a:p>
        </p:txBody>
      </p:sp>
      <p:cxnSp>
        <p:nvCxnSpPr>
          <p:cNvPr id="241" name="199_pred_video_to_dec_0"/>
          <p:cNvCxnSpPr/>
          <p:nvPr/>
        </p:nvCxnSpPr>
        <p:spPr>
          <a:xfrm>
            <a:off x="9169400" y="1778000"/>
            <a:ext cx="520700" cy="0"/>
          </a:xfrm>
          <a:prstGeom prst="line">
            <a:avLst/>
          </a:prstGeom>
          <a:ln w="15875">
            <a:solidFill>
              <a:srgbClr val="000000"/>
            </a:solidFill>
          </a:ln>
          <a:effectLst/>
        </p:spPr>
      </p:cxnSp>
      <p:sp>
        <p:nvSpPr>
          <p:cNvPr id="242" name="199_pred_video_to_dec_arrowhead"/>
          <p:cNvSpPr/>
          <p:nvPr/>
        </p:nvSpPr>
        <p:spPr>
          <a:xfrm>
            <a:off x="9639300" y="1752600"/>
            <a:ext cx="50800" cy="50800"/>
          </a:xfrm>
          <a:custGeom>
            <a:avLst/>
            <a:gdLst/>
            <a:ahLst/>
            <a:cxnLst/>
            <a:rect l="l" t="t" r="r" b="b"/>
            <a:pathLst>
              <a:path w="50800" h="50800">
                <a:moveTo>
                  <a:pt x="50800" y="25400"/>
                </a:moveTo>
                <a:lnTo>
                  <a:pt x="0" y="50800"/>
                </a:lnTo>
                <a:lnTo>
                  <a:pt x="0" y="0"/>
                </a:lnTo>
                <a:close/>
              </a:path>
            </a:pathLst>
          </a:custGeom>
          <a:solidFill>
            <a:srgbClr val="000000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cxnSp>
        <p:nvCxnSpPr>
          <p:cNvPr id="243" name="200_pred_motion_to_dec_0"/>
          <p:cNvCxnSpPr/>
          <p:nvPr/>
        </p:nvCxnSpPr>
        <p:spPr>
          <a:xfrm>
            <a:off x="9169400" y="2787650"/>
            <a:ext cx="520700" cy="0"/>
          </a:xfrm>
          <a:prstGeom prst="line">
            <a:avLst/>
          </a:prstGeom>
          <a:ln w="15875">
            <a:solidFill>
              <a:srgbClr val="000000"/>
            </a:solidFill>
          </a:ln>
          <a:effectLst/>
        </p:spPr>
      </p:cxnSp>
      <p:sp>
        <p:nvSpPr>
          <p:cNvPr id="244" name="200_pred_motion_to_dec_arrowhead"/>
          <p:cNvSpPr/>
          <p:nvPr/>
        </p:nvSpPr>
        <p:spPr>
          <a:xfrm>
            <a:off x="9639300" y="2762250"/>
            <a:ext cx="50800" cy="50800"/>
          </a:xfrm>
          <a:custGeom>
            <a:avLst/>
            <a:gdLst/>
            <a:ahLst/>
            <a:cxnLst/>
            <a:rect l="l" t="t" r="r" b="b"/>
            <a:pathLst>
              <a:path w="50800" h="50800">
                <a:moveTo>
                  <a:pt x="50800" y="25400"/>
                </a:moveTo>
                <a:lnTo>
                  <a:pt x="0" y="50800"/>
                </a:lnTo>
                <a:lnTo>
                  <a:pt x="0" y="0"/>
                </a:lnTo>
                <a:close/>
              </a:path>
            </a:pathLst>
          </a:custGeom>
          <a:solidFill>
            <a:srgbClr val="000000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45" name="201_video_decoder_shape"/>
          <p:cNvSpPr/>
          <p:nvPr/>
        </p:nvSpPr>
        <p:spPr>
          <a:xfrm>
            <a:off x="9690100" y="1257300"/>
            <a:ext cx="558800" cy="838199"/>
          </a:xfrm>
          <a:custGeom>
            <a:avLst/>
            <a:gdLst/>
            <a:ahLst/>
            <a:cxnLst/>
            <a:rect l="l" t="t" r="r" b="b"/>
            <a:pathLst>
              <a:path w="558800" h="838199">
                <a:moveTo>
                  <a:pt x="0" y="0"/>
                </a:moveTo>
                <a:lnTo>
                  <a:pt x="558800" y="114300"/>
                </a:lnTo>
                <a:lnTo>
                  <a:pt x="558800" y="723899"/>
                </a:lnTo>
                <a:lnTo>
                  <a:pt x="0" y="838199"/>
                </a:lnTo>
                <a:close/>
              </a:path>
            </a:pathLst>
          </a:custGeom>
          <a:solidFill>
            <a:srgbClr val="C2DAF6"/>
          </a:solidFill>
          <a:ln w="19050">
            <a:solidFill>
              <a:srgbClr val="2C6CA2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46" name="202_video_decoder_snow"/>
          <p:cNvSpPr txBox="1"/>
          <p:nvPr/>
        </p:nvSpPr>
        <p:spPr>
          <a:xfrm>
            <a:off x="9721850" y="1314450"/>
            <a:ext cx="177800" cy="177800"/>
          </a:xfrm>
          <a:prstGeom prst="rect">
            <a:avLst/>
          </a:prstGeom>
          <a:noFill/>
          <a:effectLst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00AEF0"/>
                </a:solidFill>
                <a:latin typeface="Liberation Serif"/>
              </a:rPr>
              <a:t>❄</a:t>
            </a:r>
          </a:p>
        </p:txBody>
      </p:sp>
      <p:sp>
        <p:nvSpPr>
          <p:cNvPr id="247" name="203_video_decoder_label"/>
          <p:cNvSpPr txBox="1"/>
          <p:nvPr/>
        </p:nvSpPr>
        <p:spPr>
          <a:xfrm rot="5400000">
            <a:off x="9658350" y="1435100"/>
            <a:ext cx="736600" cy="482600"/>
          </a:xfrm>
          <a:prstGeom prst="rect">
            <a:avLst/>
          </a:prstGeom>
          <a:noFill/>
          <a:effectLst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</a:pPr>
            <a:r>
              <a:rPr sz="1150" b="1" i="0">
                <a:solidFill>
                  <a:srgbClr val="000000"/>
                </a:solidFill>
                <a:latin typeface="Liberation Serif"/>
              </a:rPr>
              <a:t>3D VAE</a:t>
            </a:r>
          </a:p>
          <a:p>
            <a:pPr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</a:pPr>
            <a:r>
              <a:rPr sz="1150" b="1" i="0">
                <a:solidFill>
                  <a:srgbClr val="000000"/>
                </a:solidFill>
                <a:latin typeface="Liberation Serif"/>
              </a:rPr>
              <a:t>Dec</a:t>
            </a:r>
          </a:p>
        </p:txBody>
      </p:sp>
      <p:sp>
        <p:nvSpPr>
          <p:cNvPr id="248" name="204_motion_decoder_shape"/>
          <p:cNvSpPr/>
          <p:nvPr/>
        </p:nvSpPr>
        <p:spPr>
          <a:xfrm>
            <a:off x="9690100" y="2343150"/>
            <a:ext cx="558800" cy="838200"/>
          </a:xfrm>
          <a:custGeom>
            <a:avLst/>
            <a:gdLst/>
            <a:ahLst/>
            <a:cxnLst/>
            <a:rect l="l" t="t" r="r" b="b"/>
            <a:pathLst>
              <a:path w="558800" h="838200">
                <a:moveTo>
                  <a:pt x="0" y="0"/>
                </a:moveTo>
                <a:lnTo>
                  <a:pt x="558800" y="114300"/>
                </a:lnTo>
                <a:lnTo>
                  <a:pt x="558800" y="723900"/>
                </a:lnTo>
                <a:lnTo>
                  <a:pt x="0" y="838200"/>
                </a:lnTo>
                <a:close/>
              </a:path>
            </a:pathLst>
          </a:custGeom>
          <a:solidFill>
            <a:srgbClr val="C2DAF6"/>
          </a:solidFill>
          <a:ln w="19050">
            <a:solidFill>
              <a:srgbClr val="2C6CA2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49" name="205_motion_decoder_snow"/>
          <p:cNvSpPr txBox="1"/>
          <p:nvPr/>
        </p:nvSpPr>
        <p:spPr>
          <a:xfrm>
            <a:off x="9721850" y="2400300"/>
            <a:ext cx="177800" cy="177800"/>
          </a:xfrm>
          <a:prstGeom prst="rect">
            <a:avLst/>
          </a:prstGeom>
          <a:noFill/>
          <a:effectLst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00AEF0"/>
                </a:solidFill>
                <a:latin typeface="Liberation Serif"/>
              </a:rPr>
              <a:t>❄</a:t>
            </a:r>
          </a:p>
        </p:txBody>
      </p:sp>
      <p:sp>
        <p:nvSpPr>
          <p:cNvPr id="250" name="206_motion_decoder_label"/>
          <p:cNvSpPr txBox="1"/>
          <p:nvPr/>
        </p:nvSpPr>
        <p:spPr>
          <a:xfrm rot="5400000">
            <a:off x="9658350" y="2520950"/>
            <a:ext cx="736600" cy="482600"/>
          </a:xfrm>
          <a:prstGeom prst="rect">
            <a:avLst/>
          </a:prstGeom>
          <a:noFill/>
          <a:effectLst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</a:pPr>
            <a:r>
              <a:rPr sz="1150" b="1" i="0">
                <a:solidFill>
                  <a:srgbClr val="000000"/>
                </a:solidFill>
                <a:latin typeface="Liberation Serif"/>
              </a:rPr>
              <a:t>3D VAE</a:t>
            </a:r>
          </a:p>
          <a:p>
            <a:pPr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</a:pPr>
            <a:r>
              <a:rPr sz="1150" b="1" i="0">
                <a:solidFill>
                  <a:srgbClr val="000000"/>
                </a:solidFill>
                <a:latin typeface="Liberation Serif"/>
              </a:rPr>
              <a:t>Dec</a:t>
            </a:r>
          </a:p>
        </p:txBody>
      </p:sp>
      <p:cxnSp>
        <p:nvCxnSpPr>
          <p:cNvPr id="251" name="207_video_dec_to_film_0"/>
          <p:cNvCxnSpPr/>
          <p:nvPr/>
        </p:nvCxnSpPr>
        <p:spPr>
          <a:xfrm>
            <a:off x="10248900" y="1695450"/>
            <a:ext cx="260350" cy="0"/>
          </a:xfrm>
          <a:prstGeom prst="line">
            <a:avLst/>
          </a:prstGeom>
          <a:ln w="15875">
            <a:solidFill>
              <a:srgbClr val="000000"/>
            </a:solidFill>
          </a:ln>
          <a:effectLst/>
        </p:spPr>
      </p:cxnSp>
      <p:sp>
        <p:nvSpPr>
          <p:cNvPr id="252" name="207_video_dec_to_film_arrowhead"/>
          <p:cNvSpPr/>
          <p:nvPr/>
        </p:nvSpPr>
        <p:spPr>
          <a:xfrm>
            <a:off x="10458450" y="1670050"/>
            <a:ext cx="50800" cy="50800"/>
          </a:xfrm>
          <a:custGeom>
            <a:avLst/>
            <a:gdLst/>
            <a:ahLst/>
            <a:cxnLst/>
            <a:rect l="l" t="t" r="r" b="b"/>
            <a:pathLst>
              <a:path w="50800" h="50800">
                <a:moveTo>
                  <a:pt x="50800" y="25400"/>
                </a:moveTo>
                <a:lnTo>
                  <a:pt x="0" y="50800"/>
                </a:lnTo>
                <a:lnTo>
                  <a:pt x="0" y="0"/>
                </a:lnTo>
                <a:close/>
              </a:path>
            </a:pathLst>
          </a:custGeom>
          <a:solidFill>
            <a:srgbClr val="000000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cxnSp>
        <p:nvCxnSpPr>
          <p:cNvPr id="253" name="208_motion_dec_to_film_0"/>
          <p:cNvCxnSpPr/>
          <p:nvPr/>
        </p:nvCxnSpPr>
        <p:spPr>
          <a:xfrm>
            <a:off x="10248900" y="2768600"/>
            <a:ext cx="260350" cy="0"/>
          </a:xfrm>
          <a:prstGeom prst="line">
            <a:avLst/>
          </a:prstGeom>
          <a:ln w="15875">
            <a:solidFill>
              <a:srgbClr val="000000"/>
            </a:solidFill>
          </a:ln>
          <a:effectLst/>
        </p:spPr>
      </p:cxnSp>
      <p:sp>
        <p:nvSpPr>
          <p:cNvPr id="254" name="208_motion_dec_to_film_arrowhead"/>
          <p:cNvSpPr/>
          <p:nvPr/>
        </p:nvSpPr>
        <p:spPr>
          <a:xfrm>
            <a:off x="10458450" y="2743200"/>
            <a:ext cx="50800" cy="50800"/>
          </a:xfrm>
          <a:custGeom>
            <a:avLst/>
            <a:gdLst/>
            <a:ahLst/>
            <a:cxnLst/>
            <a:rect l="l" t="t" r="r" b="b"/>
            <a:pathLst>
              <a:path w="50800" h="50800">
                <a:moveTo>
                  <a:pt x="50800" y="25400"/>
                </a:moveTo>
                <a:lnTo>
                  <a:pt x="0" y="50800"/>
                </a:lnTo>
                <a:lnTo>
                  <a:pt x="0" y="0"/>
                </a:lnTo>
                <a:close/>
              </a:path>
            </a:pathLst>
          </a:custGeom>
          <a:solidFill>
            <a:srgbClr val="000000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55" name="209_video_output_film_black"/>
          <p:cNvSpPr/>
          <p:nvPr/>
        </p:nvSpPr>
        <p:spPr>
          <a:xfrm>
            <a:off x="10509250" y="1270000"/>
            <a:ext cx="1301750" cy="857250"/>
          </a:xfrm>
          <a:prstGeom prst="rect">
            <a:avLst/>
          </a:prstGeom>
          <a:solidFill>
            <a:srgbClr val="000000"/>
          </a:solidFill>
          <a:ln w="12700">
            <a:solidFill>
              <a:srgbClr val="000000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pic>
        <p:nvPicPr>
          <p:cNvPr id="256" name="210_video_output_film_image" descr="generated_vide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528300" y="1390650"/>
            <a:ext cx="1263650" cy="615950"/>
          </a:xfrm>
          <a:prstGeom prst="rect">
            <a:avLst/>
          </a:prstGeom>
          <a:effectLst/>
        </p:spPr>
      </p:pic>
      <p:sp>
        <p:nvSpPr>
          <p:cNvPr id="257" name="211_video_output_film_hole_204_0"/>
          <p:cNvSpPr/>
          <p:nvPr/>
        </p:nvSpPr>
        <p:spPr>
          <a:xfrm>
            <a:off x="10594975" y="1295400"/>
            <a:ext cx="107950" cy="63500"/>
          </a:xfrm>
          <a:prstGeom prst="rect">
            <a:avLst/>
          </a:prstGeom>
          <a:solidFill>
            <a:srgbClr val="FEFDF9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58" name="212_video_output_film_hole_204_1"/>
          <p:cNvSpPr/>
          <p:nvPr/>
        </p:nvSpPr>
        <p:spPr>
          <a:xfrm>
            <a:off x="10741025" y="1295400"/>
            <a:ext cx="107950" cy="63500"/>
          </a:xfrm>
          <a:prstGeom prst="rect">
            <a:avLst/>
          </a:prstGeom>
          <a:solidFill>
            <a:srgbClr val="FEFDF9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59" name="213_video_output_film_hole_204_2"/>
          <p:cNvSpPr/>
          <p:nvPr/>
        </p:nvSpPr>
        <p:spPr>
          <a:xfrm>
            <a:off x="10887075" y="1295400"/>
            <a:ext cx="107950" cy="63500"/>
          </a:xfrm>
          <a:prstGeom prst="rect">
            <a:avLst/>
          </a:prstGeom>
          <a:solidFill>
            <a:srgbClr val="FEFDF9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60" name="214_video_output_film_hole_204_3"/>
          <p:cNvSpPr/>
          <p:nvPr/>
        </p:nvSpPr>
        <p:spPr>
          <a:xfrm>
            <a:off x="11033125" y="1295400"/>
            <a:ext cx="107950" cy="63500"/>
          </a:xfrm>
          <a:prstGeom prst="rect">
            <a:avLst/>
          </a:prstGeom>
          <a:solidFill>
            <a:srgbClr val="FEFDF9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61" name="215_video_output_film_hole_204_4"/>
          <p:cNvSpPr/>
          <p:nvPr/>
        </p:nvSpPr>
        <p:spPr>
          <a:xfrm>
            <a:off x="11179175" y="1295400"/>
            <a:ext cx="107950" cy="63500"/>
          </a:xfrm>
          <a:prstGeom prst="rect">
            <a:avLst/>
          </a:prstGeom>
          <a:solidFill>
            <a:srgbClr val="FEFDF9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62" name="216_video_output_film_hole_204_5"/>
          <p:cNvSpPr/>
          <p:nvPr/>
        </p:nvSpPr>
        <p:spPr>
          <a:xfrm>
            <a:off x="11325225" y="1295400"/>
            <a:ext cx="107950" cy="63500"/>
          </a:xfrm>
          <a:prstGeom prst="rect">
            <a:avLst/>
          </a:prstGeom>
          <a:solidFill>
            <a:srgbClr val="FEFDF9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63" name="217_video_output_film_hole_204_6"/>
          <p:cNvSpPr/>
          <p:nvPr/>
        </p:nvSpPr>
        <p:spPr>
          <a:xfrm>
            <a:off x="11471275" y="1295400"/>
            <a:ext cx="107950" cy="63500"/>
          </a:xfrm>
          <a:prstGeom prst="rect">
            <a:avLst/>
          </a:prstGeom>
          <a:solidFill>
            <a:srgbClr val="FEFDF9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64" name="218_video_output_film_hole_204_7"/>
          <p:cNvSpPr/>
          <p:nvPr/>
        </p:nvSpPr>
        <p:spPr>
          <a:xfrm>
            <a:off x="11617325" y="1295400"/>
            <a:ext cx="107950" cy="63500"/>
          </a:xfrm>
          <a:prstGeom prst="rect">
            <a:avLst/>
          </a:prstGeom>
          <a:solidFill>
            <a:srgbClr val="FEFDF9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65" name="219_video_output_film_hole_320_0"/>
          <p:cNvSpPr/>
          <p:nvPr/>
        </p:nvSpPr>
        <p:spPr>
          <a:xfrm>
            <a:off x="10594975" y="2032000"/>
            <a:ext cx="107950" cy="63500"/>
          </a:xfrm>
          <a:prstGeom prst="rect">
            <a:avLst/>
          </a:prstGeom>
          <a:solidFill>
            <a:srgbClr val="FEFDF9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66" name="220_video_output_film_hole_320_1"/>
          <p:cNvSpPr/>
          <p:nvPr/>
        </p:nvSpPr>
        <p:spPr>
          <a:xfrm>
            <a:off x="10741025" y="2032000"/>
            <a:ext cx="107950" cy="63500"/>
          </a:xfrm>
          <a:prstGeom prst="rect">
            <a:avLst/>
          </a:prstGeom>
          <a:solidFill>
            <a:srgbClr val="FEFDF9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67" name="221_video_output_film_hole_320_2"/>
          <p:cNvSpPr/>
          <p:nvPr/>
        </p:nvSpPr>
        <p:spPr>
          <a:xfrm>
            <a:off x="10887075" y="2032000"/>
            <a:ext cx="107950" cy="63500"/>
          </a:xfrm>
          <a:prstGeom prst="rect">
            <a:avLst/>
          </a:prstGeom>
          <a:solidFill>
            <a:srgbClr val="FEFDF9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68" name="222_video_output_film_hole_320_3"/>
          <p:cNvSpPr/>
          <p:nvPr/>
        </p:nvSpPr>
        <p:spPr>
          <a:xfrm>
            <a:off x="11033125" y="2032000"/>
            <a:ext cx="107950" cy="63500"/>
          </a:xfrm>
          <a:prstGeom prst="rect">
            <a:avLst/>
          </a:prstGeom>
          <a:solidFill>
            <a:srgbClr val="FEFDF9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69" name="223_video_output_film_hole_320_4"/>
          <p:cNvSpPr/>
          <p:nvPr/>
        </p:nvSpPr>
        <p:spPr>
          <a:xfrm>
            <a:off x="11179175" y="2032000"/>
            <a:ext cx="107950" cy="63500"/>
          </a:xfrm>
          <a:prstGeom prst="rect">
            <a:avLst/>
          </a:prstGeom>
          <a:solidFill>
            <a:srgbClr val="FEFDF9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70" name="224_video_output_film_hole_320_5"/>
          <p:cNvSpPr/>
          <p:nvPr/>
        </p:nvSpPr>
        <p:spPr>
          <a:xfrm>
            <a:off x="11325225" y="2032000"/>
            <a:ext cx="107950" cy="63500"/>
          </a:xfrm>
          <a:prstGeom prst="rect">
            <a:avLst/>
          </a:prstGeom>
          <a:solidFill>
            <a:srgbClr val="FEFDF9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71" name="225_video_output_film_hole_320_6"/>
          <p:cNvSpPr/>
          <p:nvPr/>
        </p:nvSpPr>
        <p:spPr>
          <a:xfrm>
            <a:off x="11471275" y="2032000"/>
            <a:ext cx="107950" cy="63500"/>
          </a:xfrm>
          <a:prstGeom prst="rect">
            <a:avLst/>
          </a:prstGeom>
          <a:solidFill>
            <a:srgbClr val="FEFDF9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72" name="226_video_output_film_hole_320_7"/>
          <p:cNvSpPr/>
          <p:nvPr/>
        </p:nvSpPr>
        <p:spPr>
          <a:xfrm>
            <a:off x="11617325" y="2032000"/>
            <a:ext cx="107950" cy="63500"/>
          </a:xfrm>
          <a:prstGeom prst="rect">
            <a:avLst/>
          </a:prstGeom>
          <a:solidFill>
            <a:srgbClr val="FEFDF9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73" name="227_motion_output_film_black"/>
          <p:cNvSpPr/>
          <p:nvPr/>
        </p:nvSpPr>
        <p:spPr>
          <a:xfrm>
            <a:off x="10509250" y="2247900"/>
            <a:ext cx="1301750" cy="850900"/>
          </a:xfrm>
          <a:prstGeom prst="rect">
            <a:avLst/>
          </a:prstGeom>
          <a:solidFill>
            <a:srgbClr val="000000"/>
          </a:solidFill>
          <a:ln w="12700">
            <a:solidFill>
              <a:srgbClr val="000000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pic>
        <p:nvPicPr>
          <p:cNvPr id="274" name="228_motion_output_film_image" descr="upper_motion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528300" y="2368550"/>
            <a:ext cx="1263650" cy="609600"/>
          </a:xfrm>
          <a:prstGeom prst="rect">
            <a:avLst/>
          </a:prstGeom>
          <a:effectLst/>
        </p:spPr>
      </p:pic>
      <p:sp>
        <p:nvSpPr>
          <p:cNvPr id="275" name="229_motion_output_film_hole_358_0"/>
          <p:cNvSpPr/>
          <p:nvPr/>
        </p:nvSpPr>
        <p:spPr>
          <a:xfrm>
            <a:off x="10594975" y="2273300"/>
            <a:ext cx="107950" cy="63500"/>
          </a:xfrm>
          <a:prstGeom prst="rect">
            <a:avLst/>
          </a:prstGeom>
          <a:solidFill>
            <a:srgbClr val="FEFDF9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76" name="230_motion_output_film_hole_358_1"/>
          <p:cNvSpPr/>
          <p:nvPr/>
        </p:nvSpPr>
        <p:spPr>
          <a:xfrm>
            <a:off x="10741025" y="2273300"/>
            <a:ext cx="107950" cy="63500"/>
          </a:xfrm>
          <a:prstGeom prst="rect">
            <a:avLst/>
          </a:prstGeom>
          <a:solidFill>
            <a:srgbClr val="FEFDF9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77" name="231_motion_output_film_hole_358_2"/>
          <p:cNvSpPr/>
          <p:nvPr/>
        </p:nvSpPr>
        <p:spPr>
          <a:xfrm>
            <a:off x="10887075" y="2273300"/>
            <a:ext cx="107950" cy="63500"/>
          </a:xfrm>
          <a:prstGeom prst="rect">
            <a:avLst/>
          </a:prstGeom>
          <a:solidFill>
            <a:srgbClr val="FEFDF9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78" name="232_motion_output_film_hole_358_3"/>
          <p:cNvSpPr/>
          <p:nvPr/>
        </p:nvSpPr>
        <p:spPr>
          <a:xfrm>
            <a:off x="11033125" y="2273300"/>
            <a:ext cx="107950" cy="63500"/>
          </a:xfrm>
          <a:prstGeom prst="rect">
            <a:avLst/>
          </a:prstGeom>
          <a:solidFill>
            <a:srgbClr val="FEFDF9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79" name="233_motion_output_film_hole_358_4"/>
          <p:cNvSpPr/>
          <p:nvPr/>
        </p:nvSpPr>
        <p:spPr>
          <a:xfrm>
            <a:off x="11179175" y="2273300"/>
            <a:ext cx="107950" cy="63500"/>
          </a:xfrm>
          <a:prstGeom prst="rect">
            <a:avLst/>
          </a:prstGeom>
          <a:solidFill>
            <a:srgbClr val="FEFDF9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80" name="234_motion_output_film_hole_358_5"/>
          <p:cNvSpPr/>
          <p:nvPr/>
        </p:nvSpPr>
        <p:spPr>
          <a:xfrm>
            <a:off x="11325225" y="2273300"/>
            <a:ext cx="107950" cy="63500"/>
          </a:xfrm>
          <a:prstGeom prst="rect">
            <a:avLst/>
          </a:prstGeom>
          <a:solidFill>
            <a:srgbClr val="FEFDF9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81" name="235_motion_output_film_hole_358_6"/>
          <p:cNvSpPr/>
          <p:nvPr/>
        </p:nvSpPr>
        <p:spPr>
          <a:xfrm>
            <a:off x="11471275" y="2273300"/>
            <a:ext cx="107950" cy="63500"/>
          </a:xfrm>
          <a:prstGeom prst="rect">
            <a:avLst/>
          </a:prstGeom>
          <a:solidFill>
            <a:srgbClr val="FEFDF9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82" name="236_motion_output_film_hole_358_7"/>
          <p:cNvSpPr/>
          <p:nvPr/>
        </p:nvSpPr>
        <p:spPr>
          <a:xfrm>
            <a:off x="11617325" y="2273300"/>
            <a:ext cx="107950" cy="63500"/>
          </a:xfrm>
          <a:prstGeom prst="rect">
            <a:avLst/>
          </a:prstGeom>
          <a:solidFill>
            <a:srgbClr val="FEFDF9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83" name="237_motion_output_film_hole_473_0"/>
          <p:cNvSpPr/>
          <p:nvPr/>
        </p:nvSpPr>
        <p:spPr>
          <a:xfrm>
            <a:off x="10594975" y="3003550"/>
            <a:ext cx="107950" cy="63500"/>
          </a:xfrm>
          <a:prstGeom prst="rect">
            <a:avLst/>
          </a:prstGeom>
          <a:solidFill>
            <a:srgbClr val="FEFDF9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84" name="238_motion_output_film_hole_473_1"/>
          <p:cNvSpPr/>
          <p:nvPr/>
        </p:nvSpPr>
        <p:spPr>
          <a:xfrm>
            <a:off x="10741025" y="3003550"/>
            <a:ext cx="107950" cy="63500"/>
          </a:xfrm>
          <a:prstGeom prst="rect">
            <a:avLst/>
          </a:prstGeom>
          <a:solidFill>
            <a:srgbClr val="FEFDF9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85" name="239_motion_output_film_hole_473_2"/>
          <p:cNvSpPr/>
          <p:nvPr/>
        </p:nvSpPr>
        <p:spPr>
          <a:xfrm>
            <a:off x="10887075" y="3003550"/>
            <a:ext cx="107950" cy="63500"/>
          </a:xfrm>
          <a:prstGeom prst="rect">
            <a:avLst/>
          </a:prstGeom>
          <a:solidFill>
            <a:srgbClr val="FEFDF9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86" name="240_motion_output_film_hole_473_3"/>
          <p:cNvSpPr/>
          <p:nvPr/>
        </p:nvSpPr>
        <p:spPr>
          <a:xfrm>
            <a:off x="11033125" y="3003550"/>
            <a:ext cx="107950" cy="63500"/>
          </a:xfrm>
          <a:prstGeom prst="rect">
            <a:avLst/>
          </a:prstGeom>
          <a:solidFill>
            <a:srgbClr val="FEFDF9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87" name="241_motion_output_film_hole_473_4"/>
          <p:cNvSpPr/>
          <p:nvPr/>
        </p:nvSpPr>
        <p:spPr>
          <a:xfrm>
            <a:off x="11179175" y="3003550"/>
            <a:ext cx="107950" cy="63500"/>
          </a:xfrm>
          <a:prstGeom prst="rect">
            <a:avLst/>
          </a:prstGeom>
          <a:solidFill>
            <a:srgbClr val="FEFDF9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88" name="242_motion_output_film_hole_473_5"/>
          <p:cNvSpPr/>
          <p:nvPr/>
        </p:nvSpPr>
        <p:spPr>
          <a:xfrm>
            <a:off x="11325225" y="3003550"/>
            <a:ext cx="107950" cy="63500"/>
          </a:xfrm>
          <a:prstGeom prst="rect">
            <a:avLst/>
          </a:prstGeom>
          <a:solidFill>
            <a:srgbClr val="FEFDF9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89" name="243_motion_output_film_hole_473_6"/>
          <p:cNvSpPr/>
          <p:nvPr/>
        </p:nvSpPr>
        <p:spPr>
          <a:xfrm>
            <a:off x="11471275" y="3003550"/>
            <a:ext cx="107950" cy="63500"/>
          </a:xfrm>
          <a:prstGeom prst="rect">
            <a:avLst/>
          </a:prstGeom>
          <a:solidFill>
            <a:srgbClr val="FEFDF9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90" name="244_motion_output_film_hole_473_7"/>
          <p:cNvSpPr/>
          <p:nvPr/>
        </p:nvSpPr>
        <p:spPr>
          <a:xfrm>
            <a:off x="11617325" y="3003550"/>
            <a:ext cx="107950" cy="63500"/>
          </a:xfrm>
          <a:prstGeom prst="rect">
            <a:avLst/>
          </a:prstGeom>
          <a:solidFill>
            <a:srgbClr val="FEFDF9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91" name="245_video_output_label"/>
          <p:cNvSpPr txBox="1"/>
          <p:nvPr/>
        </p:nvSpPr>
        <p:spPr>
          <a:xfrm rot="5400000">
            <a:off x="11585575" y="1565275"/>
            <a:ext cx="838200" cy="285750"/>
          </a:xfrm>
          <a:prstGeom prst="rect">
            <a:avLst/>
          </a:prstGeom>
          <a:noFill/>
          <a:effectLst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000000"/>
                </a:solidFill>
                <a:latin typeface="Liberation Serif"/>
              </a:rPr>
              <a:t>Video V̂</a:t>
            </a:r>
          </a:p>
        </p:txBody>
      </p:sp>
      <p:sp>
        <p:nvSpPr>
          <p:cNvPr id="292" name="246_motion_output_label"/>
          <p:cNvSpPr txBox="1"/>
          <p:nvPr/>
        </p:nvSpPr>
        <p:spPr>
          <a:xfrm rot="5400000">
            <a:off x="11515725" y="2466975"/>
            <a:ext cx="1009650" cy="444500"/>
          </a:xfrm>
          <a:prstGeom prst="rect">
            <a:avLst/>
          </a:prstGeom>
          <a:noFill/>
          <a:effectLst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000000"/>
                </a:solidFill>
                <a:latin typeface="Liberation Serif"/>
              </a:rPr>
              <a:t>Rendered</a:t>
            </a:r>
          </a:p>
          <a:p>
            <a:pPr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000000"/>
                </a:solidFill>
                <a:latin typeface="Liberation Serif"/>
              </a:rPr>
              <a:t>Motion Video M̃</a:t>
            </a:r>
          </a:p>
        </p:txBody>
      </p:sp>
      <p:sp>
        <p:nvSpPr>
          <p:cNvPr id="293" name="247_svimo_loss_box"/>
          <p:cNvSpPr/>
          <p:nvPr/>
        </p:nvSpPr>
        <p:spPr>
          <a:xfrm>
            <a:off x="8299450" y="400050"/>
            <a:ext cx="3848099" cy="482600"/>
          </a:xfrm>
          <a:prstGeom prst="roundRect">
            <a:avLst>
              <a:gd name="adj" fmla="val 17105"/>
            </a:avLst>
          </a:prstGeom>
          <a:solidFill>
            <a:srgbClr val="F1FDF3"/>
          </a:solidFill>
          <a:ln w="19050">
            <a:solidFill>
              <a:srgbClr val="A5DFB7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94" name="248_svimo_loss"/>
          <p:cNvSpPr txBox="1"/>
          <p:nvPr/>
        </p:nvSpPr>
        <p:spPr>
          <a:xfrm>
            <a:off x="8388350" y="444500"/>
            <a:ext cx="3670300" cy="374650"/>
          </a:xfrm>
          <a:prstGeom prst="rect">
            <a:avLst/>
          </a:prstGeom>
          <a:noFill/>
          <a:effectLst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1">
                <a:solidFill>
                  <a:srgbClr val="000000"/>
                </a:solidFill>
                <a:latin typeface="Liberation Serif"/>
              </a:rPr>
              <a:t>L_SViMo = E [||z0V - zhat0V||2^2 + ||z0M - zhat0M||2^2]</a:t>
            </a:r>
          </a:p>
        </p:txBody>
      </p:sp>
      <p:sp>
        <p:nvSpPr>
          <p:cNvPr id="295" name="249_gradient_label"/>
          <p:cNvSpPr txBox="1"/>
          <p:nvPr/>
        </p:nvSpPr>
        <p:spPr>
          <a:xfrm>
            <a:off x="9632950" y="3549650"/>
            <a:ext cx="1397000" cy="495299"/>
          </a:xfrm>
          <a:prstGeom prst="rect">
            <a:avLst/>
          </a:prstGeom>
          <a:noFill/>
          <a:effectLst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</a:pPr>
            <a:r>
              <a:rPr sz="1500" b="1" i="0">
                <a:solidFill>
                  <a:srgbClr val="EF7332"/>
                </a:solidFill>
                <a:latin typeface="Liberation Serif"/>
              </a:rPr>
              <a:t>Gradient</a:t>
            </a:r>
          </a:p>
          <a:p>
            <a:pPr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</a:pPr>
            <a:r>
              <a:rPr sz="1500" b="1" i="0">
                <a:solidFill>
                  <a:srgbClr val="EF7332"/>
                </a:solidFill>
                <a:latin typeface="Liberation Serif"/>
              </a:rPr>
              <a:t>Constrain</a:t>
            </a:r>
          </a:p>
        </p:txBody>
      </p:sp>
      <p:sp>
        <p:nvSpPr>
          <p:cNvPr id="296" name="250_vid_title"/>
          <p:cNvSpPr txBox="1"/>
          <p:nvPr/>
        </p:nvSpPr>
        <p:spPr>
          <a:xfrm>
            <a:off x="3689350" y="4356100"/>
            <a:ext cx="4838700" cy="279400"/>
          </a:xfrm>
          <a:prstGeom prst="rect">
            <a:avLst/>
          </a:prstGeom>
          <a:noFill/>
          <a:effectLst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</a:pPr>
            <a:r>
              <a:rPr sz="1550" b="1" i="0">
                <a:solidFill>
                  <a:srgbClr val="000000"/>
                </a:solidFill>
                <a:latin typeface="Liberation Serif"/>
              </a:rPr>
              <a:t>Vision-aware 3D Interaction Diffusion (VID)</a:t>
            </a:r>
          </a:p>
        </p:txBody>
      </p:sp>
      <p:sp>
        <p:nvSpPr>
          <p:cNvPr id="297" name="251_vid_loss_box"/>
          <p:cNvSpPr/>
          <p:nvPr/>
        </p:nvSpPr>
        <p:spPr>
          <a:xfrm>
            <a:off x="1339850" y="4832350"/>
            <a:ext cx="4019549" cy="488950"/>
          </a:xfrm>
          <a:prstGeom prst="roundRect">
            <a:avLst>
              <a:gd name="adj" fmla="val 16883"/>
            </a:avLst>
          </a:prstGeom>
          <a:solidFill>
            <a:srgbClr val="F1FDF3"/>
          </a:solidFill>
          <a:ln w="19050">
            <a:solidFill>
              <a:srgbClr val="A5DFB7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98" name="252_vid_loss"/>
          <p:cNvSpPr txBox="1"/>
          <p:nvPr/>
        </p:nvSpPr>
        <p:spPr>
          <a:xfrm>
            <a:off x="1428750" y="4889500"/>
            <a:ext cx="3848099" cy="368300"/>
          </a:xfrm>
          <a:prstGeom prst="rect">
            <a:avLst/>
          </a:prstGeom>
          <a:noFill/>
          <a:effectLst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1">
                <a:solidFill>
                  <a:srgbClr val="000000"/>
                </a:solidFill>
                <a:latin typeface="Liberation Serif"/>
              </a:rPr>
              <a:t>L_VID = E [||h0 - hhat0,phi||2^2 + D_Chamfer(o0, ohat0,phi)]</a:t>
            </a:r>
          </a:p>
        </p:txBody>
      </p:sp>
      <p:sp>
        <p:nvSpPr>
          <p:cNvPr id="299" name="253_rendered_motion_film_black"/>
          <p:cNvSpPr/>
          <p:nvPr/>
        </p:nvSpPr>
        <p:spPr>
          <a:xfrm>
            <a:off x="374650" y="5511800"/>
            <a:ext cx="1308100" cy="850900"/>
          </a:xfrm>
          <a:prstGeom prst="rect">
            <a:avLst/>
          </a:prstGeom>
          <a:solidFill>
            <a:srgbClr val="000000"/>
          </a:solidFill>
          <a:ln w="12700">
            <a:solidFill>
              <a:srgbClr val="000000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pic>
        <p:nvPicPr>
          <p:cNvPr id="300" name="254_rendered_motion_film_image" descr="lower_motion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93700" y="5632450"/>
            <a:ext cx="1270000" cy="609600"/>
          </a:xfrm>
          <a:prstGeom prst="rect">
            <a:avLst/>
          </a:prstGeom>
          <a:effectLst/>
        </p:spPr>
      </p:pic>
      <p:sp>
        <p:nvSpPr>
          <p:cNvPr id="301" name="255_rendered_motion_film_hole_872_0"/>
          <p:cNvSpPr/>
          <p:nvPr/>
        </p:nvSpPr>
        <p:spPr>
          <a:xfrm>
            <a:off x="463550" y="5537200"/>
            <a:ext cx="107950" cy="63500"/>
          </a:xfrm>
          <a:prstGeom prst="rect">
            <a:avLst/>
          </a:prstGeom>
          <a:solidFill>
            <a:srgbClr val="FEFDF9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02" name="256_rendered_motion_film_hole_872_1"/>
          <p:cNvSpPr/>
          <p:nvPr/>
        </p:nvSpPr>
        <p:spPr>
          <a:xfrm>
            <a:off x="609600" y="5537200"/>
            <a:ext cx="107950" cy="63500"/>
          </a:xfrm>
          <a:prstGeom prst="rect">
            <a:avLst/>
          </a:prstGeom>
          <a:solidFill>
            <a:srgbClr val="FEFDF9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03" name="257_rendered_motion_film_hole_872_2"/>
          <p:cNvSpPr/>
          <p:nvPr/>
        </p:nvSpPr>
        <p:spPr>
          <a:xfrm>
            <a:off x="755650" y="5537200"/>
            <a:ext cx="107950" cy="63500"/>
          </a:xfrm>
          <a:prstGeom prst="rect">
            <a:avLst/>
          </a:prstGeom>
          <a:solidFill>
            <a:srgbClr val="FEFDF9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04" name="258_rendered_motion_film_hole_872_3"/>
          <p:cNvSpPr/>
          <p:nvPr/>
        </p:nvSpPr>
        <p:spPr>
          <a:xfrm>
            <a:off x="901700" y="5537200"/>
            <a:ext cx="107950" cy="63500"/>
          </a:xfrm>
          <a:prstGeom prst="rect">
            <a:avLst/>
          </a:prstGeom>
          <a:solidFill>
            <a:srgbClr val="FEFDF9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05" name="259_rendered_motion_film_hole_872_4"/>
          <p:cNvSpPr/>
          <p:nvPr/>
        </p:nvSpPr>
        <p:spPr>
          <a:xfrm>
            <a:off x="1047749" y="5537200"/>
            <a:ext cx="107950" cy="63500"/>
          </a:xfrm>
          <a:prstGeom prst="rect">
            <a:avLst/>
          </a:prstGeom>
          <a:solidFill>
            <a:srgbClr val="FEFDF9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06" name="260_rendered_motion_film_hole_872_5"/>
          <p:cNvSpPr/>
          <p:nvPr/>
        </p:nvSpPr>
        <p:spPr>
          <a:xfrm>
            <a:off x="1193800" y="5537200"/>
            <a:ext cx="107950" cy="63500"/>
          </a:xfrm>
          <a:prstGeom prst="rect">
            <a:avLst/>
          </a:prstGeom>
          <a:solidFill>
            <a:srgbClr val="FEFDF9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07" name="261_rendered_motion_film_hole_872_6"/>
          <p:cNvSpPr/>
          <p:nvPr/>
        </p:nvSpPr>
        <p:spPr>
          <a:xfrm>
            <a:off x="1339850" y="5537200"/>
            <a:ext cx="107950" cy="63500"/>
          </a:xfrm>
          <a:prstGeom prst="rect">
            <a:avLst/>
          </a:prstGeom>
          <a:solidFill>
            <a:srgbClr val="FEFDF9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08" name="262_rendered_motion_film_hole_872_7"/>
          <p:cNvSpPr/>
          <p:nvPr/>
        </p:nvSpPr>
        <p:spPr>
          <a:xfrm>
            <a:off x="1485900" y="5537200"/>
            <a:ext cx="107950" cy="63500"/>
          </a:xfrm>
          <a:prstGeom prst="rect">
            <a:avLst/>
          </a:prstGeom>
          <a:solidFill>
            <a:srgbClr val="FEFDF9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09" name="263_rendered_motion_film_hole_987_0"/>
          <p:cNvSpPr/>
          <p:nvPr/>
        </p:nvSpPr>
        <p:spPr>
          <a:xfrm>
            <a:off x="463550" y="6267450"/>
            <a:ext cx="107950" cy="63500"/>
          </a:xfrm>
          <a:prstGeom prst="rect">
            <a:avLst/>
          </a:prstGeom>
          <a:solidFill>
            <a:srgbClr val="FEFDF9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10" name="264_rendered_motion_film_hole_987_1"/>
          <p:cNvSpPr/>
          <p:nvPr/>
        </p:nvSpPr>
        <p:spPr>
          <a:xfrm>
            <a:off x="609600" y="6267450"/>
            <a:ext cx="107950" cy="63500"/>
          </a:xfrm>
          <a:prstGeom prst="rect">
            <a:avLst/>
          </a:prstGeom>
          <a:solidFill>
            <a:srgbClr val="FEFDF9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11" name="265_rendered_motion_film_hole_987_2"/>
          <p:cNvSpPr/>
          <p:nvPr/>
        </p:nvSpPr>
        <p:spPr>
          <a:xfrm>
            <a:off x="755650" y="6267450"/>
            <a:ext cx="107950" cy="63500"/>
          </a:xfrm>
          <a:prstGeom prst="rect">
            <a:avLst/>
          </a:prstGeom>
          <a:solidFill>
            <a:srgbClr val="FEFDF9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12" name="266_rendered_motion_film_hole_987_3"/>
          <p:cNvSpPr/>
          <p:nvPr/>
        </p:nvSpPr>
        <p:spPr>
          <a:xfrm>
            <a:off x="901700" y="6267450"/>
            <a:ext cx="107950" cy="63500"/>
          </a:xfrm>
          <a:prstGeom prst="rect">
            <a:avLst/>
          </a:prstGeom>
          <a:solidFill>
            <a:srgbClr val="FEFDF9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13" name="267_rendered_motion_film_hole_987_4"/>
          <p:cNvSpPr/>
          <p:nvPr/>
        </p:nvSpPr>
        <p:spPr>
          <a:xfrm>
            <a:off x="1047749" y="6267450"/>
            <a:ext cx="107950" cy="63500"/>
          </a:xfrm>
          <a:prstGeom prst="rect">
            <a:avLst/>
          </a:prstGeom>
          <a:solidFill>
            <a:srgbClr val="FEFDF9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14" name="268_rendered_motion_film_hole_987_5"/>
          <p:cNvSpPr/>
          <p:nvPr/>
        </p:nvSpPr>
        <p:spPr>
          <a:xfrm>
            <a:off x="1193800" y="6267450"/>
            <a:ext cx="107950" cy="63500"/>
          </a:xfrm>
          <a:prstGeom prst="rect">
            <a:avLst/>
          </a:prstGeom>
          <a:solidFill>
            <a:srgbClr val="FEFDF9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15" name="269_rendered_motion_film_hole_987_6"/>
          <p:cNvSpPr/>
          <p:nvPr/>
        </p:nvSpPr>
        <p:spPr>
          <a:xfrm>
            <a:off x="1339850" y="6267450"/>
            <a:ext cx="107950" cy="63500"/>
          </a:xfrm>
          <a:prstGeom prst="rect">
            <a:avLst/>
          </a:prstGeom>
          <a:solidFill>
            <a:srgbClr val="FEFDF9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16" name="270_rendered_motion_film_hole_987_7"/>
          <p:cNvSpPr/>
          <p:nvPr/>
        </p:nvSpPr>
        <p:spPr>
          <a:xfrm>
            <a:off x="1485900" y="6267450"/>
            <a:ext cx="107950" cy="63500"/>
          </a:xfrm>
          <a:prstGeom prst="rect">
            <a:avLst/>
          </a:prstGeom>
          <a:solidFill>
            <a:srgbClr val="FEFDF9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17" name="271_rendered_motion_caption"/>
          <p:cNvSpPr txBox="1"/>
          <p:nvPr/>
        </p:nvSpPr>
        <p:spPr>
          <a:xfrm>
            <a:off x="431800" y="6540500"/>
            <a:ext cx="1206500" cy="438150"/>
          </a:xfrm>
          <a:prstGeom prst="rect">
            <a:avLst/>
          </a:prstGeom>
          <a:noFill/>
          <a:effectLst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000000"/>
                </a:solidFill>
                <a:latin typeface="Liberation Serif"/>
              </a:rPr>
              <a:t>Rendered</a:t>
            </a:r>
          </a:p>
          <a:p>
            <a:pPr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000000"/>
                </a:solidFill>
                <a:latin typeface="Liberation Serif"/>
              </a:rPr>
              <a:t>Motion Video M̃</a:t>
            </a:r>
          </a:p>
        </p:txBody>
      </p:sp>
      <p:cxnSp>
        <p:nvCxnSpPr>
          <p:cNvPr id="318" name="272_projection_to_film_0"/>
          <p:cNvCxnSpPr/>
          <p:nvPr/>
        </p:nvCxnSpPr>
        <p:spPr>
          <a:xfrm flipH="1">
            <a:off x="1682750" y="5937250"/>
            <a:ext cx="1270000" cy="0"/>
          </a:xfrm>
          <a:prstGeom prst="line">
            <a:avLst/>
          </a:prstGeom>
          <a:ln w="25400">
            <a:solidFill>
              <a:srgbClr val="00A8AA"/>
            </a:solidFill>
          </a:ln>
          <a:effectLst/>
        </p:spPr>
      </p:cxnSp>
      <p:sp>
        <p:nvSpPr>
          <p:cNvPr id="319" name="272_projection_to_film_arrowhead"/>
          <p:cNvSpPr/>
          <p:nvPr/>
        </p:nvSpPr>
        <p:spPr>
          <a:xfrm>
            <a:off x="1682750" y="5905500"/>
            <a:ext cx="60960" cy="63500"/>
          </a:xfrm>
          <a:custGeom>
            <a:avLst/>
            <a:gdLst/>
            <a:ahLst/>
            <a:cxnLst/>
            <a:rect l="l" t="t" r="r" b="b"/>
            <a:pathLst>
              <a:path w="60960" h="63500">
                <a:moveTo>
                  <a:pt x="0" y="31750"/>
                </a:moveTo>
                <a:lnTo>
                  <a:pt x="60960" y="0"/>
                </a:lnTo>
                <a:lnTo>
                  <a:pt x="60960" y="63500"/>
                </a:lnTo>
                <a:close/>
              </a:path>
            </a:pathLst>
          </a:custGeom>
          <a:solidFill>
            <a:srgbClr val="00A8AA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20" name="273_projection_box"/>
          <p:cNvSpPr/>
          <p:nvPr/>
        </p:nvSpPr>
        <p:spPr>
          <a:xfrm>
            <a:off x="1898650" y="5784850"/>
            <a:ext cx="825500" cy="311150"/>
          </a:xfrm>
          <a:prstGeom prst="roundRect">
            <a:avLst>
              <a:gd name="adj" fmla="val 18367"/>
            </a:avLst>
          </a:prstGeom>
          <a:solidFill>
            <a:srgbClr val="F2F2F2"/>
          </a:solidFill>
          <a:ln w="19050">
            <a:solidFill>
              <a:srgbClr val="A6A6A6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21" name="274_projection_label"/>
          <p:cNvSpPr txBox="1"/>
          <p:nvPr/>
        </p:nvSpPr>
        <p:spPr>
          <a:xfrm>
            <a:off x="1930400" y="5791200"/>
            <a:ext cx="762000" cy="298450"/>
          </a:xfrm>
          <a:prstGeom prst="rect">
            <a:avLst/>
          </a:prstGeom>
          <a:noFill/>
          <a:effectLst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000000"/>
                </a:solidFill>
                <a:latin typeface="Liberation Serif"/>
              </a:rPr>
              <a:t>Projection</a:t>
            </a:r>
          </a:p>
        </p:txBody>
      </p:sp>
      <p:pic>
        <p:nvPicPr>
          <p:cNvPr id="322" name="275_generated_interaction" descr="generated_interaction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2952750" y="5651500"/>
            <a:ext cx="1079500" cy="571500"/>
          </a:xfrm>
          <a:prstGeom prst="rect">
            <a:avLst/>
          </a:prstGeom>
          <a:effectLst/>
        </p:spPr>
      </p:pic>
      <p:cxnSp>
        <p:nvCxnSpPr>
          <p:cNvPr id="323" name="276_gen_axis_up_0"/>
          <p:cNvCxnSpPr/>
          <p:nvPr/>
        </p:nvCxnSpPr>
        <p:spPr>
          <a:xfrm flipV="1">
            <a:off x="3009900" y="5486400"/>
            <a:ext cx="0" cy="635000"/>
          </a:xfrm>
          <a:prstGeom prst="line">
            <a:avLst/>
          </a:prstGeom>
          <a:ln w="19050">
            <a:solidFill>
              <a:srgbClr val="8D8D8D"/>
            </a:solidFill>
            <a:prstDash val="dash"/>
          </a:ln>
          <a:effectLst/>
        </p:spPr>
      </p:cxnSp>
      <p:sp>
        <p:nvSpPr>
          <p:cNvPr id="324" name="276_gen_axis_up_arrowhead"/>
          <p:cNvSpPr/>
          <p:nvPr/>
        </p:nvSpPr>
        <p:spPr>
          <a:xfrm>
            <a:off x="2984500" y="5486400"/>
            <a:ext cx="50800" cy="50800"/>
          </a:xfrm>
          <a:custGeom>
            <a:avLst/>
            <a:gdLst/>
            <a:ahLst/>
            <a:cxnLst/>
            <a:rect l="l" t="t" r="r" b="b"/>
            <a:pathLst>
              <a:path w="50800" h="50800">
                <a:moveTo>
                  <a:pt x="25400" y="0"/>
                </a:moveTo>
                <a:lnTo>
                  <a:pt x="50800" y="50800"/>
                </a:lnTo>
                <a:lnTo>
                  <a:pt x="0" y="50800"/>
                </a:lnTo>
                <a:close/>
              </a:path>
            </a:pathLst>
          </a:custGeom>
          <a:solidFill>
            <a:srgbClr val="8D8D8D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cxnSp>
        <p:nvCxnSpPr>
          <p:cNvPr id="325" name="277_gen_axis_right_0"/>
          <p:cNvCxnSpPr/>
          <p:nvPr/>
        </p:nvCxnSpPr>
        <p:spPr>
          <a:xfrm>
            <a:off x="3009900" y="6121400"/>
            <a:ext cx="1022350" cy="0"/>
          </a:xfrm>
          <a:prstGeom prst="line">
            <a:avLst/>
          </a:prstGeom>
          <a:ln w="19050">
            <a:solidFill>
              <a:srgbClr val="8D8D8D"/>
            </a:solidFill>
            <a:prstDash val="dash"/>
          </a:ln>
          <a:effectLst/>
        </p:spPr>
      </p:cxnSp>
      <p:sp>
        <p:nvSpPr>
          <p:cNvPr id="326" name="277_gen_axis_right_arrowhead"/>
          <p:cNvSpPr/>
          <p:nvPr/>
        </p:nvSpPr>
        <p:spPr>
          <a:xfrm>
            <a:off x="3981450" y="6096000"/>
            <a:ext cx="50800" cy="50800"/>
          </a:xfrm>
          <a:custGeom>
            <a:avLst/>
            <a:gdLst/>
            <a:ahLst/>
            <a:cxnLst/>
            <a:rect l="l" t="t" r="r" b="b"/>
            <a:pathLst>
              <a:path w="50800" h="50800">
                <a:moveTo>
                  <a:pt x="50800" y="25400"/>
                </a:moveTo>
                <a:lnTo>
                  <a:pt x="0" y="50800"/>
                </a:lnTo>
                <a:lnTo>
                  <a:pt x="0" y="0"/>
                </a:lnTo>
                <a:close/>
              </a:path>
            </a:pathLst>
          </a:custGeom>
          <a:solidFill>
            <a:srgbClr val="8D8D8D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cxnSp>
        <p:nvCxnSpPr>
          <p:cNvPr id="327" name="278_gen_axis_diag_0"/>
          <p:cNvCxnSpPr/>
          <p:nvPr/>
        </p:nvCxnSpPr>
        <p:spPr>
          <a:xfrm flipH="1">
            <a:off x="2781300" y="6121400"/>
            <a:ext cx="228600" cy="260350"/>
          </a:xfrm>
          <a:prstGeom prst="line">
            <a:avLst/>
          </a:prstGeom>
          <a:ln w="19050">
            <a:solidFill>
              <a:srgbClr val="8D8D8D"/>
            </a:solidFill>
            <a:prstDash val="dash"/>
          </a:ln>
          <a:effectLst/>
        </p:spPr>
      </p:cxnSp>
      <p:sp>
        <p:nvSpPr>
          <p:cNvPr id="328" name="278_gen_axis_diag_arrowhead"/>
          <p:cNvSpPr/>
          <p:nvPr/>
        </p:nvSpPr>
        <p:spPr>
          <a:xfrm>
            <a:off x="2781300" y="6326817"/>
            <a:ext cx="52604" cy="54933"/>
          </a:xfrm>
          <a:custGeom>
            <a:avLst/>
            <a:gdLst/>
            <a:ahLst/>
            <a:cxnLst/>
            <a:rect l="l" t="t" r="r" b="b"/>
            <a:pathLst>
              <a:path w="52604" h="54933">
                <a:moveTo>
                  <a:pt x="0" y="54933"/>
                </a:moveTo>
                <a:lnTo>
                  <a:pt x="14431" y="0"/>
                </a:lnTo>
                <a:lnTo>
                  <a:pt x="52604" y="33518"/>
                </a:lnTo>
                <a:close/>
              </a:path>
            </a:pathLst>
          </a:custGeom>
          <a:solidFill>
            <a:srgbClr val="8D8D8D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29" name="279_generated_caption"/>
          <p:cNvSpPr txBox="1"/>
          <p:nvPr/>
        </p:nvSpPr>
        <p:spPr>
          <a:xfrm>
            <a:off x="2762250" y="6400800"/>
            <a:ext cx="1460500" cy="641350"/>
          </a:xfrm>
          <a:prstGeom prst="rect">
            <a:avLst/>
          </a:prstGeom>
          <a:noFill/>
          <a:effectLst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 i="0">
                <a:solidFill>
                  <a:srgbClr val="000000"/>
                </a:solidFill>
                <a:latin typeface="Liberation Serif"/>
              </a:rPr>
              <a:t>Generated</a:t>
            </a:r>
          </a:p>
          <a:p>
            <a:pPr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 i="0">
                <a:solidFill>
                  <a:srgbClr val="000000"/>
                </a:solidFill>
                <a:latin typeface="Liberation Serif"/>
              </a:rPr>
              <a:t>3D Interaction</a:t>
            </a:r>
          </a:p>
          <a:p>
            <a:pPr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 i="0">
                <a:solidFill>
                  <a:srgbClr val="000000"/>
                </a:solidFill>
                <a:latin typeface="Liberation Serif"/>
              </a:rPr>
              <a:t>(hhat0, ohat0)</a:t>
            </a:r>
          </a:p>
        </p:txBody>
      </p:sp>
      <p:sp>
        <p:nvSpPr>
          <p:cNvPr id="330" name="280_unet_bottom_bar_0"/>
          <p:cNvSpPr/>
          <p:nvPr/>
        </p:nvSpPr>
        <p:spPr>
          <a:xfrm>
            <a:off x="4718050" y="6457950"/>
            <a:ext cx="95250" cy="571500"/>
          </a:xfrm>
          <a:prstGeom prst="roundRect">
            <a:avLst>
              <a:gd name="adj" fmla="val 20000"/>
            </a:avLst>
          </a:prstGeom>
          <a:solidFill>
            <a:srgbClr val="DA8E90"/>
          </a:solidFill>
          <a:ln w="12700">
            <a:solidFill>
              <a:srgbClr val="AA3C40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31" name="281_unet_bottom_bar_1"/>
          <p:cNvSpPr/>
          <p:nvPr/>
        </p:nvSpPr>
        <p:spPr>
          <a:xfrm>
            <a:off x="4851400" y="6445250"/>
            <a:ext cx="95250" cy="596900"/>
          </a:xfrm>
          <a:prstGeom prst="roundRect">
            <a:avLst>
              <a:gd name="adj" fmla="val 20000"/>
            </a:avLst>
          </a:prstGeom>
          <a:solidFill>
            <a:srgbClr val="889DDC"/>
          </a:solidFill>
          <a:ln w="12700">
            <a:solidFill>
              <a:srgbClr val="AA3C40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32" name="282_unet_bottom_bar_2"/>
          <p:cNvSpPr/>
          <p:nvPr/>
        </p:nvSpPr>
        <p:spPr>
          <a:xfrm>
            <a:off x="4984750" y="6477000"/>
            <a:ext cx="95250" cy="533400"/>
          </a:xfrm>
          <a:prstGeom prst="roundRect">
            <a:avLst>
              <a:gd name="adj" fmla="val 20000"/>
            </a:avLst>
          </a:prstGeom>
          <a:solidFill>
            <a:srgbClr val="DA8E90"/>
          </a:solidFill>
          <a:ln w="12700">
            <a:solidFill>
              <a:srgbClr val="AA3C40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33" name="283_unet_bottom_bar_3"/>
          <p:cNvSpPr/>
          <p:nvPr/>
        </p:nvSpPr>
        <p:spPr>
          <a:xfrm>
            <a:off x="5118100" y="6502400"/>
            <a:ext cx="95250" cy="482600"/>
          </a:xfrm>
          <a:prstGeom prst="roundRect">
            <a:avLst>
              <a:gd name="adj" fmla="val 20000"/>
            </a:avLst>
          </a:prstGeom>
          <a:solidFill>
            <a:srgbClr val="889DDC"/>
          </a:solidFill>
          <a:ln w="12700">
            <a:solidFill>
              <a:srgbClr val="AA3C40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34" name="284_unet_bottom_bar_4"/>
          <p:cNvSpPr/>
          <p:nvPr/>
        </p:nvSpPr>
        <p:spPr>
          <a:xfrm>
            <a:off x="5251450" y="6546850"/>
            <a:ext cx="95250" cy="393700"/>
          </a:xfrm>
          <a:prstGeom prst="roundRect">
            <a:avLst>
              <a:gd name="adj" fmla="val 20000"/>
            </a:avLst>
          </a:prstGeom>
          <a:solidFill>
            <a:srgbClr val="DA8E90"/>
          </a:solidFill>
          <a:ln w="12700">
            <a:solidFill>
              <a:srgbClr val="AA3C40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35" name="285_unet_bottom_bar_5"/>
          <p:cNvSpPr/>
          <p:nvPr/>
        </p:nvSpPr>
        <p:spPr>
          <a:xfrm>
            <a:off x="5384800" y="6578600"/>
            <a:ext cx="95250" cy="330200"/>
          </a:xfrm>
          <a:prstGeom prst="roundRect">
            <a:avLst>
              <a:gd name="adj" fmla="val 20000"/>
            </a:avLst>
          </a:prstGeom>
          <a:solidFill>
            <a:srgbClr val="889DDC"/>
          </a:solidFill>
          <a:ln w="12700">
            <a:solidFill>
              <a:srgbClr val="AA3C40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36" name="286_unet_bottom_bar_6"/>
          <p:cNvSpPr/>
          <p:nvPr/>
        </p:nvSpPr>
        <p:spPr>
          <a:xfrm>
            <a:off x="5518150" y="6604000"/>
            <a:ext cx="95250" cy="279400"/>
          </a:xfrm>
          <a:prstGeom prst="roundRect">
            <a:avLst>
              <a:gd name="adj" fmla="val 20000"/>
            </a:avLst>
          </a:prstGeom>
          <a:solidFill>
            <a:srgbClr val="DA8E90"/>
          </a:solidFill>
          <a:ln w="12700">
            <a:solidFill>
              <a:srgbClr val="AA3C40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37" name="287_unet_bottom_bar_7"/>
          <p:cNvSpPr/>
          <p:nvPr/>
        </p:nvSpPr>
        <p:spPr>
          <a:xfrm>
            <a:off x="5651500" y="6623050"/>
            <a:ext cx="95250" cy="241300"/>
          </a:xfrm>
          <a:prstGeom prst="roundRect">
            <a:avLst>
              <a:gd name="adj" fmla="val 20000"/>
            </a:avLst>
          </a:prstGeom>
          <a:solidFill>
            <a:srgbClr val="889DDC"/>
          </a:solidFill>
          <a:ln w="12700">
            <a:solidFill>
              <a:srgbClr val="AA3C40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38" name="288_unet_bottom_bar_8"/>
          <p:cNvSpPr/>
          <p:nvPr/>
        </p:nvSpPr>
        <p:spPr>
          <a:xfrm>
            <a:off x="5784850" y="6635750"/>
            <a:ext cx="95250" cy="215900"/>
          </a:xfrm>
          <a:prstGeom prst="roundRect">
            <a:avLst>
              <a:gd name="adj" fmla="val 20000"/>
            </a:avLst>
          </a:prstGeom>
          <a:solidFill>
            <a:srgbClr val="DA8E90"/>
          </a:solidFill>
          <a:ln w="12700">
            <a:solidFill>
              <a:srgbClr val="AA3C40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39" name="289_unet_bottom_bar_9"/>
          <p:cNvSpPr/>
          <p:nvPr/>
        </p:nvSpPr>
        <p:spPr>
          <a:xfrm>
            <a:off x="5918200" y="6635750"/>
            <a:ext cx="95250" cy="215900"/>
          </a:xfrm>
          <a:prstGeom prst="roundRect">
            <a:avLst>
              <a:gd name="adj" fmla="val 20000"/>
            </a:avLst>
          </a:prstGeom>
          <a:solidFill>
            <a:srgbClr val="889DDC"/>
          </a:solidFill>
          <a:ln w="12700">
            <a:solidFill>
              <a:srgbClr val="AA3C40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40" name="290_unet_bottom_bar_10"/>
          <p:cNvSpPr/>
          <p:nvPr/>
        </p:nvSpPr>
        <p:spPr>
          <a:xfrm>
            <a:off x="6051550" y="6623050"/>
            <a:ext cx="95250" cy="241300"/>
          </a:xfrm>
          <a:prstGeom prst="roundRect">
            <a:avLst>
              <a:gd name="adj" fmla="val 20000"/>
            </a:avLst>
          </a:prstGeom>
          <a:solidFill>
            <a:srgbClr val="DA8E90"/>
          </a:solidFill>
          <a:ln w="12700">
            <a:solidFill>
              <a:srgbClr val="AA3C40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41" name="291_unet_bottom_bar_11"/>
          <p:cNvSpPr/>
          <p:nvPr/>
        </p:nvSpPr>
        <p:spPr>
          <a:xfrm>
            <a:off x="6184900" y="6604000"/>
            <a:ext cx="95250" cy="279400"/>
          </a:xfrm>
          <a:prstGeom prst="roundRect">
            <a:avLst>
              <a:gd name="adj" fmla="val 20000"/>
            </a:avLst>
          </a:prstGeom>
          <a:solidFill>
            <a:srgbClr val="889DDC"/>
          </a:solidFill>
          <a:ln w="12700">
            <a:solidFill>
              <a:srgbClr val="AA3C40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42" name="292_unet_bottom_bar_12"/>
          <p:cNvSpPr/>
          <p:nvPr/>
        </p:nvSpPr>
        <p:spPr>
          <a:xfrm>
            <a:off x="6318250" y="6578600"/>
            <a:ext cx="95250" cy="330200"/>
          </a:xfrm>
          <a:prstGeom prst="roundRect">
            <a:avLst>
              <a:gd name="adj" fmla="val 20000"/>
            </a:avLst>
          </a:prstGeom>
          <a:solidFill>
            <a:srgbClr val="DA8E90"/>
          </a:solidFill>
          <a:ln w="12700">
            <a:solidFill>
              <a:srgbClr val="AA3C40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43" name="293_unet_bottom_bar_13"/>
          <p:cNvSpPr/>
          <p:nvPr/>
        </p:nvSpPr>
        <p:spPr>
          <a:xfrm>
            <a:off x="6451600" y="6546850"/>
            <a:ext cx="95250" cy="393700"/>
          </a:xfrm>
          <a:prstGeom prst="roundRect">
            <a:avLst>
              <a:gd name="adj" fmla="val 20000"/>
            </a:avLst>
          </a:prstGeom>
          <a:solidFill>
            <a:srgbClr val="889DDC"/>
          </a:solidFill>
          <a:ln w="12700">
            <a:solidFill>
              <a:srgbClr val="AA3C40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44" name="294_unet_bottom_bar_14"/>
          <p:cNvSpPr/>
          <p:nvPr/>
        </p:nvSpPr>
        <p:spPr>
          <a:xfrm>
            <a:off x="6584950" y="6502400"/>
            <a:ext cx="95250" cy="482600"/>
          </a:xfrm>
          <a:prstGeom prst="roundRect">
            <a:avLst>
              <a:gd name="adj" fmla="val 20000"/>
            </a:avLst>
          </a:prstGeom>
          <a:solidFill>
            <a:srgbClr val="DA8E90"/>
          </a:solidFill>
          <a:ln w="12700">
            <a:solidFill>
              <a:srgbClr val="AA3C40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45" name="295_unet_bottom_bar_15"/>
          <p:cNvSpPr/>
          <p:nvPr/>
        </p:nvSpPr>
        <p:spPr>
          <a:xfrm>
            <a:off x="6718300" y="6477000"/>
            <a:ext cx="95250" cy="533400"/>
          </a:xfrm>
          <a:prstGeom prst="roundRect">
            <a:avLst>
              <a:gd name="adj" fmla="val 20000"/>
            </a:avLst>
          </a:prstGeom>
          <a:solidFill>
            <a:srgbClr val="889DDC"/>
          </a:solidFill>
          <a:ln w="12700">
            <a:solidFill>
              <a:srgbClr val="AA3C40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46" name="296_unet_bottom_bar_16"/>
          <p:cNvSpPr/>
          <p:nvPr/>
        </p:nvSpPr>
        <p:spPr>
          <a:xfrm>
            <a:off x="6851650" y="6445250"/>
            <a:ext cx="95250" cy="596900"/>
          </a:xfrm>
          <a:prstGeom prst="roundRect">
            <a:avLst>
              <a:gd name="adj" fmla="val 20000"/>
            </a:avLst>
          </a:prstGeom>
          <a:solidFill>
            <a:srgbClr val="DA8E90"/>
          </a:solidFill>
          <a:ln w="12700">
            <a:solidFill>
              <a:srgbClr val="AA3C40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47" name="297_unet_label"/>
          <p:cNvSpPr txBox="1"/>
          <p:nvPr/>
        </p:nvSpPr>
        <p:spPr>
          <a:xfrm>
            <a:off x="5175250" y="7004050"/>
            <a:ext cx="1206500" cy="184150"/>
          </a:xfrm>
          <a:prstGeom prst="rect">
            <a:avLst/>
          </a:prstGeom>
          <a:noFill/>
          <a:effectLst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000000"/>
                </a:solidFill>
                <a:latin typeface="Liberation Serif"/>
              </a:rPr>
              <a:t>Denoising UNet</a:t>
            </a:r>
          </a:p>
        </p:txBody>
      </p:sp>
      <p:sp>
        <p:nvSpPr>
          <p:cNvPr id="348" name="298_cross_attention_box"/>
          <p:cNvSpPr/>
          <p:nvPr/>
        </p:nvSpPr>
        <p:spPr>
          <a:xfrm>
            <a:off x="5162550" y="6032500"/>
            <a:ext cx="1206500" cy="317500"/>
          </a:xfrm>
          <a:prstGeom prst="roundRect">
            <a:avLst>
              <a:gd name="adj" fmla="val 18000"/>
            </a:avLst>
          </a:prstGeom>
          <a:solidFill>
            <a:srgbClr val="F2F2F2"/>
          </a:solidFill>
          <a:ln w="19050">
            <a:solidFill>
              <a:srgbClr val="A6A6A6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49" name="299_cross_attention_label"/>
          <p:cNvSpPr txBox="1"/>
          <p:nvPr/>
        </p:nvSpPr>
        <p:spPr>
          <a:xfrm>
            <a:off x="5194300" y="6038850"/>
            <a:ext cx="1143000" cy="304800"/>
          </a:xfrm>
          <a:prstGeom prst="rect">
            <a:avLst/>
          </a:prstGeom>
          <a:noFill/>
          <a:effectLst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000000"/>
                </a:solidFill>
                <a:latin typeface="Liberation Serif"/>
              </a:rPr>
              <a:t>Cross Attention</a:t>
            </a:r>
          </a:p>
        </p:txBody>
      </p:sp>
      <p:cxnSp>
        <p:nvCxnSpPr>
          <p:cNvPr id="350" name="300_cross_attention_down_0"/>
          <p:cNvCxnSpPr/>
          <p:nvPr/>
        </p:nvCxnSpPr>
        <p:spPr>
          <a:xfrm>
            <a:off x="5759450" y="6350000"/>
            <a:ext cx="0" cy="158750"/>
          </a:xfrm>
          <a:prstGeom prst="line">
            <a:avLst/>
          </a:prstGeom>
          <a:ln w="15875">
            <a:solidFill>
              <a:srgbClr val="000000"/>
            </a:solidFill>
          </a:ln>
          <a:effectLst/>
        </p:spPr>
      </p:cxnSp>
      <p:sp>
        <p:nvSpPr>
          <p:cNvPr id="351" name="300_cross_attention_down_arrowhead"/>
          <p:cNvSpPr/>
          <p:nvPr/>
        </p:nvSpPr>
        <p:spPr>
          <a:xfrm>
            <a:off x="5734050" y="6457950"/>
            <a:ext cx="50800" cy="50800"/>
          </a:xfrm>
          <a:custGeom>
            <a:avLst/>
            <a:gdLst/>
            <a:ahLst/>
            <a:cxnLst/>
            <a:rect l="l" t="t" r="r" b="b"/>
            <a:pathLst>
              <a:path w="50800" h="50800">
                <a:moveTo>
                  <a:pt x="25400" y="50800"/>
                </a:moveTo>
                <a:lnTo>
                  <a:pt x="0" y="0"/>
                </a:lnTo>
                <a:lnTo>
                  <a:pt x="50800" y="0"/>
                </a:lnTo>
                <a:close/>
              </a:path>
            </a:pathLst>
          </a:custGeom>
          <a:solidFill>
            <a:srgbClr val="000000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52" name="301_fusion_left_stack_bar_0"/>
          <p:cNvSpPr/>
          <p:nvPr/>
        </p:nvSpPr>
        <p:spPr>
          <a:xfrm>
            <a:off x="5461000" y="5441950"/>
            <a:ext cx="101600" cy="266700"/>
          </a:xfrm>
          <a:prstGeom prst="roundRect">
            <a:avLst>
              <a:gd name="adj" fmla="val 18750"/>
            </a:avLst>
          </a:prstGeom>
          <a:solidFill>
            <a:srgbClr val="DA8E90"/>
          </a:solidFill>
          <a:ln w="12700">
            <a:solidFill>
              <a:srgbClr val="AA3C40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53" name="302_fusion_left_stack_bar_1"/>
          <p:cNvSpPr/>
          <p:nvPr/>
        </p:nvSpPr>
        <p:spPr>
          <a:xfrm>
            <a:off x="5613400" y="5391150"/>
            <a:ext cx="101600" cy="368300"/>
          </a:xfrm>
          <a:prstGeom prst="roundRect">
            <a:avLst>
              <a:gd name="adj" fmla="val 18750"/>
            </a:avLst>
          </a:prstGeom>
          <a:solidFill>
            <a:srgbClr val="DA8E90"/>
          </a:solidFill>
          <a:ln w="12700">
            <a:solidFill>
              <a:srgbClr val="AA3C40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54" name="303_fusion_left_stack_bar_2"/>
          <p:cNvSpPr/>
          <p:nvPr/>
        </p:nvSpPr>
        <p:spPr>
          <a:xfrm>
            <a:off x="5765800" y="5334000"/>
            <a:ext cx="101600" cy="482600"/>
          </a:xfrm>
          <a:prstGeom prst="roundRect">
            <a:avLst>
              <a:gd name="adj" fmla="val 18750"/>
            </a:avLst>
          </a:prstGeom>
          <a:solidFill>
            <a:srgbClr val="DA8E90"/>
          </a:solidFill>
          <a:ln w="12700">
            <a:solidFill>
              <a:srgbClr val="AA3C40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55" name="304_fusion_left_stack_bar_3"/>
          <p:cNvSpPr/>
          <p:nvPr/>
        </p:nvSpPr>
        <p:spPr>
          <a:xfrm>
            <a:off x="5918200" y="5270500"/>
            <a:ext cx="101600" cy="609600"/>
          </a:xfrm>
          <a:prstGeom prst="roundRect">
            <a:avLst>
              <a:gd name="adj" fmla="val 18750"/>
            </a:avLst>
          </a:prstGeom>
          <a:solidFill>
            <a:srgbClr val="DA8E90"/>
          </a:solidFill>
          <a:ln w="12700">
            <a:solidFill>
              <a:srgbClr val="AA3C40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56" name="305_fusion_box"/>
          <p:cNvSpPr/>
          <p:nvPr/>
        </p:nvSpPr>
        <p:spPr>
          <a:xfrm>
            <a:off x="6280150" y="5416550"/>
            <a:ext cx="685800" cy="304800"/>
          </a:xfrm>
          <a:prstGeom prst="roundRect">
            <a:avLst>
              <a:gd name="adj" fmla="val 18750"/>
            </a:avLst>
          </a:prstGeom>
          <a:solidFill>
            <a:srgbClr val="F2F2F2"/>
          </a:solidFill>
          <a:ln w="19050">
            <a:solidFill>
              <a:srgbClr val="A6A6A6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57" name="306_fusion_label"/>
          <p:cNvSpPr txBox="1"/>
          <p:nvPr/>
        </p:nvSpPr>
        <p:spPr>
          <a:xfrm>
            <a:off x="6311900" y="5422900"/>
            <a:ext cx="622300" cy="292100"/>
          </a:xfrm>
          <a:prstGeom prst="rect">
            <a:avLst/>
          </a:prstGeom>
          <a:noFill/>
          <a:effectLst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000000"/>
                </a:solidFill>
                <a:latin typeface="Liberation Serif"/>
              </a:rPr>
              <a:t>Fusion</a:t>
            </a:r>
          </a:p>
        </p:txBody>
      </p:sp>
      <p:cxnSp>
        <p:nvCxnSpPr>
          <p:cNvPr id="358" name="307_fusion_from_left_0"/>
          <p:cNvCxnSpPr/>
          <p:nvPr/>
        </p:nvCxnSpPr>
        <p:spPr>
          <a:xfrm flipH="1">
            <a:off x="6083300" y="5568950"/>
            <a:ext cx="196850" cy="0"/>
          </a:xfrm>
          <a:prstGeom prst="line">
            <a:avLst/>
          </a:prstGeom>
          <a:ln w="15875">
            <a:solidFill>
              <a:srgbClr val="000000"/>
            </a:solidFill>
          </a:ln>
          <a:effectLst/>
        </p:spPr>
      </p:cxnSp>
      <p:sp>
        <p:nvSpPr>
          <p:cNvPr id="359" name="307_fusion_from_left_arrowhead"/>
          <p:cNvSpPr/>
          <p:nvPr/>
        </p:nvSpPr>
        <p:spPr>
          <a:xfrm>
            <a:off x="6083300" y="5543550"/>
            <a:ext cx="50800" cy="50800"/>
          </a:xfrm>
          <a:custGeom>
            <a:avLst/>
            <a:gdLst/>
            <a:ahLst/>
            <a:cxnLst/>
            <a:rect l="l" t="t" r="r" b="b"/>
            <a:pathLst>
              <a:path w="50800" h="50800">
                <a:moveTo>
                  <a:pt x="0" y="25400"/>
                </a:moveTo>
                <a:lnTo>
                  <a:pt x="50800" y="0"/>
                </a:lnTo>
                <a:lnTo>
                  <a:pt x="50800" y="50800"/>
                </a:lnTo>
                <a:close/>
              </a:path>
            </a:pathLst>
          </a:custGeom>
          <a:solidFill>
            <a:srgbClr val="000000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cxnSp>
        <p:nvCxnSpPr>
          <p:cNvPr id="360" name="308_fusion_to_cross_0"/>
          <p:cNvCxnSpPr/>
          <p:nvPr/>
        </p:nvCxnSpPr>
        <p:spPr>
          <a:xfrm>
            <a:off x="5746750" y="5880100"/>
            <a:ext cx="0" cy="152400"/>
          </a:xfrm>
          <a:prstGeom prst="line">
            <a:avLst/>
          </a:prstGeom>
          <a:ln w="15875">
            <a:solidFill>
              <a:srgbClr val="000000"/>
            </a:solidFill>
          </a:ln>
          <a:effectLst/>
        </p:spPr>
      </p:cxnSp>
      <p:sp>
        <p:nvSpPr>
          <p:cNvPr id="361" name="308_fusion_to_cross_arrowhead"/>
          <p:cNvSpPr/>
          <p:nvPr/>
        </p:nvSpPr>
        <p:spPr>
          <a:xfrm>
            <a:off x="5721350" y="5981700"/>
            <a:ext cx="50800" cy="50800"/>
          </a:xfrm>
          <a:custGeom>
            <a:avLst/>
            <a:gdLst/>
            <a:ahLst/>
            <a:cxnLst/>
            <a:rect l="l" t="t" r="r" b="b"/>
            <a:pathLst>
              <a:path w="50800" h="50800">
                <a:moveTo>
                  <a:pt x="25400" y="50800"/>
                </a:moveTo>
                <a:lnTo>
                  <a:pt x="0" y="0"/>
                </a:lnTo>
                <a:lnTo>
                  <a:pt x="50800" y="0"/>
                </a:lnTo>
                <a:close/>
              </a:path>
            </a:pathLst>
          </a:custGeom>
          <a:solidFill>
            <a:srgbClr val="000000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62" name="309_right_top_stack_bar_0"/>
          <p:cNvSpPr/>
          <p:nvPr/>
        </p:nvSpPr>
        <p:spPr>
          <a:xfrm>
            <a:off x="7207250" y="5041900"/>
            <a:ext cx="101600" cy="241300"/>
          </a:xfrm>
          <a:prstGeom prst="roundRect">
            <a:avLst>
              <a:gd name="adj" fmla="val 18750"/>
            </a:avLst>
          </a:prstGeom>
          <a:solidFill>
            <a:srgbClr val="DA8E90"/>
          </a:solidFill>
          <a:ln w="12700">
            <a:solidFill>
              <a:srgbClr val="AA3C40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63" name="310_right_top_stack_bar_1"/>
          <p:cNvSpPr/>
          <p:nvPr/>
        </p:nvSpPr>
        <p:spPr>
          <a:xfrm>
            <a:off x="7359650" y="4940300"/>
            <a:ext cx="101600" cy="444500"/>
          </a:xfrm>
          <a:prstGeom prst="roundRect">
            <a:avLst>
              <a:gd name="adj" fmla="val 18750"/>
            </a:avLst>
          </a:prstGeom>
          <a:solidFill>
            <a:srgbClr val="DA8E90"/>
          </a:solidFill>
          <a:ln w="12700">
            <a:solidFill>
              <a:srgbClr val="AA3C40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64" name="311_right_top_stack_bar_2"/>
          <p:cNvSpPr/>
          <p:nvPr/>
        </p:nvSpPr>
        <p:spPr>
          <a:xfrm>
            <a:off x="7512050" y="4876800"/>
            <a:ext cx="101600" cy="571500"/>
          </a:xfrm>
          <a:prstGeom prst="roundRect">
            <a:avLst>
              <a:gd name="adj" fmla="val 18750"/>
            </a:avLst>
          </a:prstGeom>
          <a:solidFill>
            <a:srgbClr val="DA8E90"/>
          </a:solidFill>
          <a:ln w="12700">
            <a:solidFill>
              <a:srgbClr val="AA3C40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65" name="312_right_top_stack_bar_3"/>
          <p:cNvSpPr/>
          <p:nvPr/>
        </p:nvSpPr>
        <p:spPr>
          <a:xfrm>
            <a:off x="7664450" y="4806950"/>
            <a:ext cx="101600" cy="711200"/>
          </a:xfrm>
          <a:prstGeom prst="roundRect">
            <a:avLst>
              <a:gd name="adj" fmla="val 18750"/>
            </a:avLst>
          </a:prstGeom>
          <a:solidFill>
            <a:srgbClr val="DA8E90"/>
          </a:solidFill>
          <a:ln w="12700">
            <a:solidFill>
              <a:srgbClr val="AA3C40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66" name="313_right_bottom_stack_bar_0"/>
          <p:cNvSpPr/>
          <p:nvPr/>
        </p:nvSpPr>
        <p:spPr>
          <a:xfrm>
            <a:off x="7207250" y="5822950"/>
            <a:ext cx="101600" cy="241300"/>
          </a:xfrm>
          <a:prstGeom prst="roundRect">
            <a:avLst>
              <a:gd name="adj" fmla="val 18750"/>
            </a:avLst>
          </a:prstGeom>
          <a:solidFill>
            <a:srgbClr val="DA8E90"/>
          </a:solidFill>
          <a:ln w="12700">
            <a:solidFill>
              <a:srgbClr val="AA3C40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67" name="314_right_bottom_stack_bar_1"/>
          <p:cNvSpPr/>
          <p:nvPr/>
        </p:nvSpPr>
        <p:spPr>
          <a:xfrm>
            <a:off x="7359650" y="5721350"/>
            <a:ext cx="101600" cy="444500"/>
          </a:xfrm>
          <a:prstGeom prst="roundRect">
            <a:avLst>
              <a:gd name="adj" fmla="val 18750"/>
            </a:avLst>
          </a:prstGeom>
          <a:solidFill>
            <a:srgbClr val="DA8E90"/>
          </a:solidFill>
          <a:ln w="12700">
            <a:solidFill>
              <a:srgbClr val="AA3C40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68" name="315_right_bottom_stack_bar_2"/>
          <p:cNvSpPr/>
          <p:nvPr/>
        </p:nvSpPr>
        <p:spPr>
          <a:xfrm>
            <a:off x="7512050" y="5657850"/>
            <a:ext cx="101600" cy="571500"/>
          </a:xfrm>
          <a:prstGeom prst="roundRect">
            <a:avLst>
              <a:gd name="adj" fmla="val 18750"/>
            </a:avLst>
          </a:prstGeom>
          <a:solidFill>
            <a:srgbClr val="DA8E90"/>
          </a:solidFill>
          <a:ln w="12700">
            <a:solidFill>
              <a:srgbClr val="AA3C40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69" name="316_right_bottom_stack_bar_3"/>
          <p:cNvSpPr/>
          <p:nvPr/>
        </p:nvSpPr>
        <p:spPr>
          <a:xfrm>
            <a:off x="7664450" y="5588000"/>
            <a:ext cx="101600" cy="711200"/>
          </a:xfrm>
          <a:prstGeom prst="roundRect">
            <a:avLst>
              <a:gd name="adj" fmla="val 18750"/>
            </a:avLst>
          </a:prstGeom>
          <a:solidFill>
            <a:srgbClr val="DA8E90"/>
          </a:solidFill>
          <a:ln w="12700">
            <a:solidFill>
              <a:srgbClr val="AA3C40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cxnSp>
        <p:nvCxnSpPr>
          <p:cNvPr id="370" name="317_top_stack_to_fusion_0"/>
          <p:cNvCxnSpPr/>
          <p:nvPr/>
        </p:nvCxnSpPr>
        <p:spPr>
          <a:xfrm flipH="1">
            <a:off x="6965950" y="5162550"/>
            <a:ext cx="241300" cy="0"/>
          </a:xfrm>
          <a:prstGeom prst="line">
            <a:avLst/>
          </a:prstGeom>
          <a:ln w="15875">
            <a:solidFill>
              <a:srgbClr val="000000"/>
            </a:solidFill>
          </a:ln>
          <a:effectLst/>
        </p:spPr>
      </p:cxnSp>
      <p:cxnSp>
        <p:nvCxnSpPr>
          <p:cNvPr id="371" name="317_top_stack_to_fusion_1"/>
          <p:cNvCxnSpPr/>
          <p:nvPr/>
        </p:nvCxnSpPr>
        <p:spPr>
          <a:xfrm>
            <a:off x="6965950" y="5162550"/>
            <a:ext cx="0" cy="406400"/>
          </a:xfrm>
          <a:prstGeom prst="line">
            <a:avLst/>
          </a:prstGeom>
          <a:ln w="15875">
            <a:solidFill>
              <a:srgbClr val="000000"/>
            </a:solidFill>
          </a:ln>
          <a:effectLst/>
        </p:spPr>
      </p:cxnSp>
      <p:sp>
        <p:nvSpPr>
          <p:cNvPr id="372" name="317_top_stack_to_fusion_arrowhead"/>
          <p:cNvSpPr/>
          <p:nvPr/>
        </p:nvSpPr>
        <p:spPr>
          <a:xfrm>
            <a:off x="6940550" y="5518150"/>
            <a:ext cx="50800" cy="50800"/>
          </a:xfrm>
          <a:custGeom>
            <a:avLst/>
            <a:gdLst/>
            <a:ahLst/>
            <a:cxnLst/>
            <a:rect l="l" t="t" r="r" b="b"/>
            <a:pathLst>
              <a:path w="50800" h="50800">
                <a:moveTo>
                  <a:pt x="25400" y="50800"/>
                </a:moveTo>
                <a:lnTo>
                  <a:pt x="0" y="0"/>
                </a:lnTo>
                <a:lnTo>
                  <a:pt x="50800" y="0"/>
                </a:lnTo>
                <a:close/>
              </a:path>
            </a:pathLst>
          </a:custGeom>
          <a:solidFill>
            <a:srgbClr val="000000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cxnSp>
        <p:nvCxnSpPr>
          <p:cNvPr id="373" name="318_scale_link_0_0"/>
          <p:cNvCxnSpPr/>
          <p:nvPr/>
        </p:nvCxnSpPr>
        <p:spPr>
          <a:xfrm>
            <a:off x="7258050" y="5283200"/>
            <a:ext cx="0" cy="539750"/>
          </a:xfrm>
          <a:prstGeom prst="line">
            <a:avLst/>
          </a:prstGeom>
          <a:ln w="15875">
            <a:solidFill>
              <a:srgbClr val="4DB83F"/>
            </a:solidFill>
            <a:prstDash val="dash"/>
          </a:ln>
          <a:effectLst/>
        </p:spPr>
      </p:cxnSp>
      <p:cxnSp>
        <p:nvCxnSpPr>
          <p:cNvPr id="374" name="319_scale_link_1_0"/>
          <p:cNvCxnSpPr/>
          <p:nvPr/>
        </p:nvCxnSpPr>
        <p:spPr>
          <a:xfrm>
            <a:off x="7410449" y="5283200"/>
            <a:ext cx="0" cy="539750"/>
          </a:xfrm>
          <a:prstGeom prst="line">
            <a:avLst/>
          </a:prstGeom>
          <a:ln w="15875">
            <a:solidFill>
              <a:srgbClr val="4DB83F"/>
            </a:solidFill>
            <a:prstDash val="dash"/>
          </a:ln>
          <a:effectLst/>
        </p:spPr>
      </p:cxnSp>
      <p:cxnSp>
        <p:nvCxnSpPr>
          <p:cNvPr id="375" name="320_scale_link_2_0"/>
          <p:cNvCxnSpPr/>
          <p:nvPr/>
        </p:nvCxnSpPr>
        <p:spPr>
          <a:xfrm>
            <a:off x="7562850" y="5283200"/>
            <a:ext cx="0" cy="539750"/>
          </a:xfrm>
          <a:prstGeom prst="line">
            <a:avLst/>
          </a:prstGeom>
          <a:ln w="15875">
            <a:solidFill>
              <a:srgbClr val="4DB83F"/>
            </a:solidFill>
            <a:prstDash val="dash"/>
          </a:ln>
          <a:effectLst/>
        </p:spPr>
      </p:cxnSp>
      <p:cxnSp>
        <p:nvCxnSpPr>
          <p:cNvPr id="376" name="321_scale_link_3_0"/>
          <p:cNvCxnSpPr/>
          <p:nvPr/>
        </p:nvCxnSpPr>
        <p:spPr>
          <a:xfrm>
            <a:off x="7715250" y="5283200"/>
            <a:ext cx="0" cy="539750"/>
          </a:xfrm>
          <a:prstGeom prst="line">
            <a:avLst/>
          </a:prstGeom>
          <a:ln w="15875">
            <a:solidFill>
              <a:srgbClr val="4DB83F"/>
            </a:solidFill>
            <a:prstDash val="dash"/>
          </a:ln>
          <a:effectLst/>
        </p:spPr>
      </p:cxnSp>
      <p:pic>
        <p:nvPicPr>
          <p:cNvPr id="377" name="322_noisy_interaction" descr="noisy_interaction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8242300" y="6318250"/>
            <a:ext cx="1079500" cy="622300"/>
          </a:xfrm>
          <a:prstGeom prst="rect">
            <a:avLst/>
          </a:prstGeom>
          <a:effectLst/>
        </p:spPr>
      </p:pic>
      <p:cxnSp>
        <p:nvCxnSpPr>
          <p:cNvPr id="378" name="323_noisy_axis_up_0"/>
          <p:cNvCxnSpPr/>
          <p:nvPr/>
        </p:nvCxnSpPr>
        <p:spPr>
          <a:xfrm flipV="1">
            <a:off x="8305800" y="6267450"/>
            <a:ext cx="0" cy="609600"/>
          </a:xfrm>
          <a:prstGeom prst="line">
            <a:avLst/>
          </a:prstGeom>
          <a:ln w="19050">
            <a:solidFill>
              <a:srgbClr val="8D8D8D"/>
            </a:solidFill>
            <a:prstDash val="dash"/>
          </a:ln>
          <a:effectLst/>
        </p:spPr>
      </p:cxnSp>
      <p:sp>
        <p:nvSpPr>
          <p:cNvPr id="379" name="323_noisy_axis_up_arrowhead"/>
          <p:cNvSpPr/>
          <p:nvPr/>
        </p:nvSpPr>
        <p:spPr>
          <a:xfrm>
            <a:off x="8280400" y="6267450"/>
            <a:ext cx="50800" cy="50800"/>
          </a:xfrm>
          <a:custGeom>
            <a:avLst/>
            <a:gdLst/>
            <a:ahLst/>
            <a:cxnLst/>
            <a:rect l="l" t="t" r="r" b="b"/>
            <a:pathLst>
              <a:path w="50800" h="50800">
                <a:moveTo>
                  <a:pt x="25400" y="0"/>
                </a:moveTo>
                <a:lnTo>
                  <a:pt x="50800" y="50800"/>
                </a:lnTo>
                <a:lnTo>
                  <a:pt x="0" y="50800"/>
                </a:lnTo>
                <a:close/>
              </a:path>
            </a:pathLst>
          </a:custGeom>
          <a:solidFill>
            <a:srgbClr val="8D8D8D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cxnSp>
        <p:nvCxnSpPr>
          <p:cNvPr id="380" name="324_noisy_axis_right_0"/>
          <p:cNvCxnSpPr/>
          <p:nvPr/>
        </p:nvCxnSpPr>
        <p:spPr>
          <a:xfrm>
            <a:off x="8305800" y="6877050"/>
            <a:ext cx="1041400" cy="0"/>
          </a:xfrm>
          <a:prstGeom prst="line">
            <a:avLst/>
          </a:prstGeom>
          <a:ln w="19050">
            <a:solidFill>
              <a:srgbClr val="8D8D8D"/>
            </a:solidFill>
            <a:prstDash val="dash"/>
          </a:ln>
          <a:effectLst/>
        </p:spPr>
      </p:cxnSp>
      <p:sp>
        <p:nvSpPr>
          <p:cNvPr id="381" name="324_noisy_axis_right_arrowhead"/>
          <p:cNvSpPr/>
          <p:nvPr/>
        </p:nvSpPr>
        <p:spPr>
          <a:xfrm>
            <a:off x="9296400" y="6851650"/>
            <a:ext cx="50800" cy="50800"/>
          </a:xfrm>
          <a:custGeom>
            <a:avLst/>
            <a:gdLst/>
            <a:ahLst/>
            <a:cxnLst/>
            <a:rect l="l" t="t" r="r" b="b"/>
            <a:pathLst>
              <a:path w="50800" h="50800">
                <a:moveTo>
                  <a:pt x="50800" y="25400"/>
                </a:moveTo>
                <a:lnTo>
                  <a:pt x="0" y="50800"/>
                </a:lnTo>
                <a:lnTo>
                  <a:pt x="0" y="0"/>
                </a:lnTo>
                <a:close/>
              </a:path>
            </a:pathLst>
          </a:custGeom>
          <a:solidFill>
            <a:srgbClr val="8D8D8D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cxnSp>
        <p:nvCxnSpPr>
          <p:cNvPr id="382" name="325_noisy_axis_diag_0"/>
          <p:cNvCxnSpPr/>
          <p:nvPr/>
        </p:nvCxnSpPr>
        <p:spPr>
          <a:xfrm flipH="1">
            <a:off x="8089899" y="6877050"/>
            <a:ext cx="215901" cy="247650"/>
          </a:xfrm>
          <a:prstGeom prst="line">
            <a:avLst/>
          </a:prstGeom>
          <a:ln w="19050">
            <a:solidFill>
              <a:srgbClr val="8D8D8D"/>
            </a:solidFill>
            <a:prstDash val="dash"/>
          </a:ln>
          <a:effectLst/>
        </p:spPr>
      </p:cxnSp>
      <p:sp>
        <p:nvSpPr>
          <p:cNvPr id="383" name="325_noisy_axis_diag_arrowhead"/>
          <p:cNvSpPr/>
          <p:nvPr/>
        </p:nvSpPr>
        <p:spPr>
          <a:xfrm>
            <a:off x="8089899" y="7069717"/>
            <a:ext cx="52529" cy="54983"/>
          </a:xfrm>
          <a:custGeom>
            <a:avLst/>
            <a:gdLst/>
            <a:ahLst/>
            <a:cxnLst/>
            <a:rect l="l" t="t" r="r" b="b"/>
            <a:pathLst>
              <a:path w="52529" h="54983">
                <a:moveTo>
                  <a:pt x="0" y="54983"/>
                </a:moveTo>
                <a:lnTo>
                  <a:pt x="14237" y="0"/>
                </a:lnTo>
                <a:lnTo>
                  <a:pt x="52529" y="33382"/>
                </a:lnTo>
                <a:close/>
              </a:path>
            </a:pathLst>
          </a:custGeom>
          <a:solidFill>
            <a:srgbClr val="8D8D8D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cxnSp>
        <p:nvCxnSpPr>
          <p:cNvPr id="384" name="326_noisy_to_unet_0"/>
          <p:cNvCxnSpPr/>
          <p:nvPr/>
        </p:nvCxnSpPr>
        <p:spPr>
          <a:xfrm flipH="1">
            <a:off x="6762750" y="6724650"/>
            <a:ext cx="1479550" cy="0"/>
          </a:xfrm>
          <a:prstGeom prst="line">
            <a:avLst/>
          </a:prstGeom>
          <a:ln w="15875">
            <a:solidFill>
              <a:srgbClr val="000000"/>
            </a:solidFill>
          </a:ln>
          <a:effectLst/>
        </p:spPr>
      </p:cxnSp>
      <p:sp>
        <p:nvSpPr>
          <p:cNvPr id="385" name="326_noisy_to_unet_arrowhead"/>
          <p:cNvSpPr/>
          <p:nvPr/>
        </p:nvSpPr>
        <p:spPr>
          <a:xfrm>
            <a:off x="6762750" y="6699250"/>
            <a:ext cx="50800" cy="50800"/>
          </a:xfrm>
          <a:custGeom>
            <a:avLst/>
            <a:gdLst/>
            <a:ahLst/>
            <a:cxnLst/>
            <a:rect l="l" t="t" r="r" b="b"/>
            <a:pathLst>
              <a:path w="50800" h="50800">
                <a:moveTo>
                  <a:pt x="0" y="25400"/>
                </a:moveTo>
                <a:lnTo>
                  <a:pt x="50800" y="0"/>
                </a:lnTo>
                <a:lnTo>
                  <a:pt x="50800" y="50800"/>
                </a:lnTo>
                <a:close/>
              </a:path>
            </a:pathLst>
          </a:custGeom>
          <a:solidFill>
            <a:srgbClr val="000000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86" name="327_noisy_caption"/>
          <p:cNvSpPr txBox="1"/>
          <p:nvPr/>
        </p:nvSpPr>
        <p:spPr>
          <a:xfrm>
            <a:off x="8369300" y="6959600"/>
            <a:ext cx="825500" cy="241300"/>
          </a:xfrm>
          <a:prstGeom prst="rect">
            <a:avLst/>
          </a:prstGeom>
          <a:noFill/>
          <a:effectLst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1">
                <a:solidFill>
                  <a:srgbClr val="000000"/>
                </a:solidFill>
                <a:latin typeface="Latin Modern Math"/>
              </a:rPr>
              <a:t>(h_t, o_t)</a:t>
            </a:r>
          </a:p>
        </p:txBody>
      </p:sp>
      <p:sp>
        <p:nvSpPr>
          <p:cNvPr id="387" name="328_legend_concat_circle"/>
          <p:cNvSpPr/>
          <p:nvPr/>
        </p:nvSpPr>
        <p:spPr>
          <a:xfrm>
            <a:off x="10052050" y="4451350"/>
            <a:ext cx="254000" cy="254000"/>
          </a:xfrm>
          <a:prstGeom prst="ellipse">
            <a:avLst/>
          </a:prstGeom>
          <a:solidFill>
            <a:srgbClr val="FEFDF9"/>
          </a:solidFill>
          <a:ln w="19050">
            <a:solidFill>
              <a:srgbClr val="000000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cxnSp>
        <p:nvCxnSpPr>
          <p:cNvPr id="388" name="329_legend_concat_vert_0"/>
          <p:cNvCxnSpPr/>
          <p:nvPr/>
        </p:nvCxnSpPr>
        <p:spPr>
          <a:xfrm>
            <a:off x="10179050" y="4464050"/>
            <a:ext cx="0" cy="228600"/>
          </a:xfrm>
          <a:prstGeom prst="line">
            <a:avLst/>
          </a:prstGeom>
          <a:ln w="19050">
            <a:solidFill>
              <a:srgbClr val="000000"/>
            </a:solidFill>
          </a:ln>
          <a:effectLst/>
        </p:spPr>
      </p:cxnSp>
      <p:cxnSp>
        <p:nvCxnSpPr>
          <p:cNvPr id="389" name="330_legend_concat_horiz_0"/>
          <p:cNvCxnSpPr/>
          <p:nvPr/>
        </p:nvCxnSpPr>
        <p:spPr>
          <a:xfrm>
            <a:off x="10064750" y="4578350"/>
            <a:ext cx="228600" cy="0"/>
          </a:xfrm>
          <a:prstGeom prst="line">
            <a:avLst/>
          </a:prstGeom>
          <a:ln w="19050">
            <a:solidFill>
              <a:srgbClr val="000000"/>
            </a:solidFill>
          </a:ln>
          <a:effectLst/>
        </p:spPr>
      </p:cxnSp>
      <p:sp>
        <p:nvSpPr>
          <p:cNvPr id="390" name="331_legend_concat_text"/>
          <p:cNvSpPr txBox="1"/>
          <p:nvPr/>
        </p:nvSpPr>
        <p:spPr>
          <a:xfrm>
            <a:off x="10604500" y="4419600"/>
            <a:ext cx="1511300" cy="311150"/>
          </a:xfrm>
          <a:prstGeom prst="rect">
            <a:avLst/>
          </a:prstGeom>
          <a:noFill/>
          <a:effectLst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</a:pPr>
            <a:r>
              <a:rPr sz="1150" b="1" i="0">
                <a:solidFill>
                  <a:srgbClr val="000000"/>
                </a:solidFill>
                <a:latin typeface="Liberation Serif"/>
              </a:rPr>
              <a:t>Channel-wise Concat</a:t>
            </a:r>
          </a:p>
        </p:txBody>
      </p:sp>
      <p:cxnSp>
        <p:nvCxnSpPr>
          <p:cNvPr id="391" name="332_legend_gradient_0"/>
          <p:cNvCxnSpPr/>
          <p:nvPr/>
        </p:nvCxnSpPr>
        <p:spPr>
          <a:xfrm>
            <a:off x="9950450" y="4991100"/>
            <a:ext cx="463550" cy="0"/>
          </a:xfrm>
          <a:prstGeom prst="line">
            <a:avLst/>
          </a:prstGeom>
          <a:ln w="28575">
            <a:solidFill>
              <a:srgbClr val="EF7332"/>
            </a:solidFill>
            <a:prstDash val="dash"/>
          </a:ln>
          <a:effectLst/>
        </p:spPr>
      </p:cxnSp>
      <p:sp>
        <p:nvSpPr>
          <p:cNvPr id="392" name="332_legend_gradient_arrowhead"/>
          <p:cNvSpPr/>
          <p:nvPr/>
        </p:nvSpPr>
        <p:spPr>
          <a:xfrm>
            <a:off x="10345420" y="4955381"/>
            <a:ext cx="68580" cy="71437"/>
          </a:xfrm>
          <a:custGeom>
            <a:avLst/>
            <a:gdLst/>
            <a:ahLst/>
            <a:cxnLst/>
            <a:rect l="l" t="t" r="r" b="b"/>
            <a:pathLst>
              <a:path w="68580" h="71437">
                <a:moveTo>
                  <a:pt x="68580" y="35719"/>
                </a:moveTo>
                <a:lnTo>
                  <a:pt x="0" y="71437"/>
                </a:lnTo>
                <a:lnTo>
                  <a:pt x="0" y="0"/>
                </a:lnTo>
                <a:close/>
              </a:path>
            </a:pathLst>
          </a:custGeom>
          <a:solidFill>
            <a:srgbClr val="EF7332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93" name="333_legend_gradient_text"/>
          <p:cNvSpPr txBox="1"/>
          <p:nvPr/>
        </p:nvSpPr>
        <p:spPr>
          <a:xfrm>
            <a:off x="10604500" y="4832350"/>
            <a:ext cx="1511300" cy="317500"/>
          </a:xfrm>
          <a:prstGeom prst="rect">
            <a:avLst/>
          </a:prstGeom>
          <a:noFill/>
          <a:effectLst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</a:pPr>
            <a:r>
              <a:rPr sz="1150" b="1" i="0">
                <a:solidFill>
                  <a:srgbClr val="000000"/>
                </a:solidFill>
                <a:latin typeface="Liberation Serif"/>
              </a:rPr>
              <a:t>Grad. Backpropagate</a:t>
            </a:r>
          </a:p>
        </p:txBody>
      </p:sp>
      <p:sp>
        <p:nvSpPr>
          <p:cNvPr id="394" name="334_legend_latent_cube_top"/>
          <p:cNvSpPr/>
          <p:nvPr/>
        </p:nvSpPr>
        <p:spPr>
          <a:xfrm>
            <a:off x="10001250" y="5283200"/>
            <a:ext cx="317500" cy="95250"/>
          </a:xfrm>
          <a:custGeom>
            <a:avLst/>
            <a:gdLst/>
            <a:ahLst/>
            <a:cxnLst/>
            <a:rect l="l" t="t" r="r" b="b"/>
            <a:pathLst>
              <a:path w="317500" h="95250">
                <a:moveTo>
                  <a:pt x="0" y="95250"/>
                </a:moveTo>
                <a:lnTo>
                  <a:pt x="95250" y="0"/>
                </a:lnTo>
                <a:lnTo>
                  <a:pt x="317500" y="0"/>
                </a:lnTo>
                <a:lnTo>
                  <a:pt x="222250" y="95250"/>
                </a:lnTo>
                <a:close/>
              </a:path>
            </a:pathLst>
          </a:custGeom>
          <a:solidFill>
            <a:srgbClr val="EDEDED"/>
          </a:solidFill>
          <a:ln w="19050">
            <a:solidFill>
              <a:srgbClr val="8F8F8F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95" name="335_legend_latent_cube_side"/>
          <p:cNvSpPr/>
          <p:nvPr/>
        </p:nvSpPr>
        <p:spPr>
          <a:xfrm>
            <a:off x="10223500" y="5283200"/>
            <a:ext cx="95250" cy="381000"/>
          </a:xfrm>
          <a:custGeom>
            <a:avLst/>
            <a:gdLst/>
            <a:ahLst/>
            <a:cxnLst/>
            <a:rect l="l" t="t" r="r" b="b"/>
            <a:pathLst>
              <a:path w="95250" h="381000">
                <a:moveTo>
                  <a:pt x="0" y="95250"/>
                </a:moveTo>
                <a:lnTo>
                  <a:pt x="95250" y="0"/>
                </a:lnTo>
                <a:lnTo>
                  <a:pt x="95250" y="285750"/>
                </a:lnTo>
                <a:lnTo>
                  <a:pt x="0" y="381000"/>
                </a:lnTo>
                <a:close/>
              </a:path>
            </a:pathLst>
          </a:custGeom>
          <a:solidFill>
            <a:srgbClr val="BFBFBF"/>
          </a:solidFill>
          <a:ln w="19050">
            <a:solidFill>
              <a:srgbClr val="8F8F8F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96" name="336_legend_latent_cube_front"/>
          <p:cNvSpPr/>
          <p:nvPr/>
        </p:nvSpPr>
        <p:spPr>
          <a:xfrm>
            <a:off x="10001250" y="5378450"/>
            <a:ext cx="222250" cy="285750"/>
          </a:xfrm>
          <a:prstGeom prst="rect">
            <a:avLst/>
          </a:prstGeom>
          <a:solidFill>
            <a:srgbClr val="D5D5D5"/>
          </a:solidFill>
          <a:ln w="19050">
            <a:solidFill>
              <a:srgbClr val="8F8F8F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97" name="337_legend_latent_cube_grain_0"/>
          <p:cNvSpPr/>
          <p:nvPr/>
        </p:nvSpPr>
        <p:spPr>
          <a:xfrm>
            <a:off x="10039350" y="5416550"/>
            <a:ext cx="22225" cy="22225"/>
          </a:xfrm>
          <a:prstGeom prst="ellipse">
            <a:avLst/>
          </a:prstGeom>
          <a:solidFill>
            <a:srgbClr val="8F8F8F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98" name="338_legend_latent_cube_grain_1"/>
          <p:cNvSpPr/>
          <p:nvPr/>
        </p:nvSpPr>
        <p:spPr>
          <a:xfrm>
            <a:off x="10147300" y="5600700"/>
            <a:ext cx="22225" cy="22225"/>
          </a:xfrm>
          <a:prstGeom prst="ellipse">
            <a:avLst/>
          </a:prstGeom>
          <a:solidFill>
            <a:srgbClr val="8F8F8F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99" name="339_legend_latent_cube_grain_2"/>
          <p:cNvSpPr/>
          <p:nvPr/>
        </p:nvSpPr>
        <p:spPr>
          <a:xfrm>
            <a:off x="10109200" y="5575300"/>
            <a:ext cx="22225" cy="22225"/>
          </a:xfrm>
          <a:prstGeom prst="ellipse">
            <a:avLst/>
          </a:prstGeom>
          <a:solidFill>
            <a:srgbClr val="8F8F8F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400" name="340_legend_latent_cube_grain_3"/>
          <p:cNvSpPr/>
          <p:nvPr/>
        </p:nvSpPr>
        <p:spPr>
          <a:xfrm>
            <a:off x="10071100" y="5549900"/>
            <a:ext cx="22225" cy="22225"/>
          </a:xfrm>
          <a:prstGeom prst="ellipse">
            <a:avLst/>
          </a:prstGeom>
          <a:solidFill>
            <a:srgbClr val="8F8F8F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401" name="341_legend_latent_cube_grain_4"/>
          <p:cNvSpPr/>
          <p:nvPr/>
        </p:nvSpPr>
        <p:spPr>
          <a:xfrm>
            <a:off x="10179050" y="5524500"/>
            <a:ext cx="22225" cy="22225"/>
          </a:xfrm>
          <a:prstGeom prst="ellipse">
            <a:avLst/>
          </a:prstGeom>
          <a:solidFill>
            <a:srgbClr val="8F8F8F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402" name="342_legend_latent_cube_grain_5"/>
          <p:cNvSpPr/>
          <p:nvPr/>
        </p:nvSpPr>
        <p:spPr>
          <a:xfrm>
            <a:off x="10140950" y="5499100"/>
            <a:ext cx="22225" cy="22225"/>
          </a:xfrm>
          <a:prstGeom prst="ellipse">
            <a:avLst/>
          </a:prstGeom>
          <a:solidFill>
            <a:srgbClr val="8F8F8F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403" name="343_legend_latent_cube_grain_6"/>
          <p:cNvSpPr/>
          <p:nvPr/>
        </p:nvSpPr>
        <p:spPr>
          <a:xfrm>
            <a:off x="10102850" y="5473700"/>
            <a:ext cx="22225" cy="22225"/>
          </a:xfrm>
          <a:prstGeom prst="ellipse">
            <a:avLst/>
          </a:prstGeom>
          <a:solidFill>
            <a:srgbClr val="8F8F8F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404" name="344_legend_latent_cube_grain_7"/>
          <p:cNvSpPr/>
          <p:nvPr/>
        </p:nvSpPr>
        <p:spPr>
          <a:xfrm>
            <a:off x="10064750" y="5448300"/>
            <a:ext cx="22225" cy="22225"/>
          </a:xfrm>
          <a:prstGeom prst="ellipse">
            <a:avLst/>
          </a:prstGeom>
          <a:solidFill>
            <a:srgbClr val="8F8F8F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405" name="345_legend_latent_cube_grain_8"/>
          <p:cNvSpPr/>
          <p:nvPr/>
        </p:nvSpPr>
        <p:spPr>
          <a:xfrm>
            <a:off x="10172700" y="5422900"/>
            <a:ext cx="22225" cy="22225"/>
          </a:xfrm>
          <a:prstGeom prst="ellipse">
            <a:avLst/>
          </a:prstGeom>
          <a:solidFill>
            <a:srgbClr val="8F8F8F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406" name="346_legend_latent_cube_grain_9"/>
          <p:cNvSpPr/>
          <p:nvPr/>
        </p:nvSpPr>
        <p:spPr>
          <a:xfrm>
            <a:off x="10134600" y="5607050"/>
            <a:ext cx="22225" cy="22225"/>
          </a:xfrm>
          <a:prstGeom prst="ellipse">
            <a:avLst/>
          </a:prstGeom>
          <a:solidFill>
            <a:srgbClr val="8F8F8F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407" name="347_legend_latent_cube_grain_10"/>
          <p:cNvSpPr/>
          <p:nvPr/>
        </p:nvSpPr>
        <p:spPr>
          <a:xfrm>
            <a:off x="10096500" y="5581650"/>
            <a:ext cx="22225" cy="22225"/>
          </a:xfrm>
          <a:prstGeom prst="ellipse">
            <a:avLst/>
          </a:prstGeom>
          <a:solidFill>
            <a:srgbClr val="8F8F8F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408" name="348_legend_latent_cube_grain_11"/>
          <p:cNvSpPr/>
          <p:nvPr/>
        </p:nvSpPr>
        <p:spPr>
          <a:xfrm>
            <a:off x="10058400" y="5556250"/>
            <a:ext cx="22225" cy="22225"/>
          </a:xfrm>
          <a:prstGeom prst="ellipse">
            <a:avLst/>
          </a:prstGeom>
          <a:solidFill>
            <a:srgbClr val="8F8F8F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409" name="349_legend_latent_cube_grain_12"/>
          <p:cNvSpPr/>
          <p:nvPr/>
        </p:nvSpPr>
        <p:spPr>
          <a:xfrm>
            <a:off x="10166350" y="5530850"/>
            <a:ext cx="22225" cy="22225"/>
          </a:xfrm>
          <a:prstGeom prst="ellipse">
            <a:avLst/>
          </a:prstGeom>
          <a:solidFill>
            <a:srgbClr val="8F8F8F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410" name="350_legend_latent_cube_grain_13"/>
          <p:cNvSpPr/>
          <p:nvPr/>
        </p:nvSpPr>
        <p:spPr>
          <a:xfrm>
            <a:off x="10128250" y="5505450"/>
            <a:ext cx="22225" cy="22225"/>
          </a:xfrm>
          <a:prstGeom prst="ellipse">
            <a:avLst/>
          </a:prstGeom>
          <a:solidFill>
            <a:srgbClr val="8F8F8F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411" name="351_legend_latent_cube_grain_14"/>
          <p:cNvSpPr/>
          <p:nvPr/>
        </p:nvSpPr>
        <p:spPr>
          <a:xfrm>
            <a:off x="10090150" y="5480050"/>
            <a:ext cx="22225" cy="22225"/>
          </a:xfrm>
          <a:prstGeom prst="ellipse">
            <a:avLst/>
          </a:prstGeom>
          <a:solidFill>
            <a:srgbClr val="8F8F8F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412" name="352_legend_latent_cube_grain_15"/>
          <p:cNvSpPr/>
          <p:nvPr/>
        </p:nvSpPr>
        <p:spPr>
          <a:xfrm>
            <a:off x="10052050" y="5454650"/>
            <a:ext cx="22225" cy="22225"/>
          </a:xfrm>
          <a:prstGeom prst="ellipse">
            <a:avLst/>
          </a:prstGeom>
          <a:solidFill>
            <a:srgbClr val="8F8F8F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413" name="353_legend_latent_cube_grain_16"/>
          <p:cNvSpPr/>
          <p:nvPr/>
        </p:nvSpPr>
        <p:spPr>
          <a:xfrm>
            <a:off x="10160000" y="5429250"/>
            <a:ext cx="22225" cy="22225"/>
          </a:xfrm>
          <a:prstGeom prst="ellipse">
            <a:avLst/>
          </a:prstGeom>
          <a:solidFill>
            <a:srgbClr val="8F8F8F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414" name="354_legend_latent_cube_grain_17"/>
          <p:cNvSpPr/>
          <p:nvPr/>
        </p:nvSpPr>
        <p:spPr>
          <a:xfrm>
            <a:off x="10121900" y="5613400"/>
            <a:ext cx="22225" cy="22225"/>
          </a:xfrm>
          <a:prstGeom prst="ellipse">
            <a:avLst/>
          </a:prstGeom>
          <a:solidFill>
            <a:srgbClr val="8F8F8F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415" name="355_legend_latent_text"/>
          <p:cNvSpPr txBox="1"/>
          <p:nvPr/>
        </p:nvSpPr>
        <p:spPr>
          <a:xfrm>
            <a:off x="10477500" y="5232400"/>
            <a:ext cx="1619250" cy="330200"/>
          </a:xfrm>
          <a:prstGeom prst="rect">
            <a:avLst/>
          </a:prstGeom>
          <a:noFill/>
          <a:effectLst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</a:pPr>
            <a:r>
              <a:rPr sz="1150" b="1" i="0">
                <a:solidFill>
                  <a:srgbClr val="000000"/>
                </a:solidFill>
                <a:latin typeface="Liberation Serif"/>
              </a:rPr>
              <a:t>Diffused Latent Code</a:t>
            </a:r>
          </a:p>
        </p:txBody>
      </p:sp>
      <p:sp>
        <p:nvSpPr>
          <p:cNvPr id="416" name="356_legend_conv_bar_0"/>
          <p:cNvSpPr/>
          <p:nvPr/>
        </p:nvSpPr>
        <p:spPr>
          <a:xfrm>
            <a:off x="9956800" y="5813425"/>
            <a:ext cx="82550" cy="285750"/>
          </a:xfrm>
          <a:prstGeom prst="roundRect">
            <a:avLst>
              <a:gd name="adj" fmla="val 23076"/>
            </a:avLst>
          </a:prstGeom>
          <a:solidFill>
            <a:srgbClr val="DA8E90"/>
          </a:solidFill>
          <a:ln w="12700">
            <a:solidFill>
              <a:srgbClr val="AA3C40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417" name="357_legend_conv_bar_1"/>
          <p:cNvSpPr/>
          <p:nvPr/>
        </p:nvSpPr>
        <p:spPr>
          <a:xfrm>
            <a:off x="10083800" y="5772150"/>
            <a:ext cx="82550" cy="368300"/>
          </a:xfrm>
          <a:prstGeom prst="roundRect">
            <a:avLst>
              <a:gd name="adj" fmla="val 23076"/>
            </a:avLst>
          </a:prstGeom>
          <a:solidFill>
            <a:srgbClr val="DA8E90"/>
          </a:solidFill>
          <a:ln w="12700">
            <a:solidFill>
              <a:srgbClr val="AA3C40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418" name="358_legend_conv_bar_2"/>
          <p:cNvSpPr/>
          <p:nvPr/>
        </p:nvSpPr>
        <p:spPr>
          <a:xfrm>
            <a:off x="10210800" y="5715000"/>
            <a:ext cx="82550" cy="482600"/>
          </a:xfrm>
          <a:prstGeom prst="roundRect">
            <a:avLst>
              <a:gd name="adj" fmla="val 23076"/>
            </a:avLst>
          </a:prstGeom>
          <a:solidFill>
            <a:srgbClr val="DA8E90"/>
          </a:solidFill>
          <a:ln w="12700">
            <a:solidFill>
              <a:srgbClr val="AA3C40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419" name="359_legend_conv_bar_3"/>
          <p:cNvSpPr/>
          <p:nvPr/>
        </p:nvSpPr>
        <p:spPr>
          <a:xfrm>
            <a:off x="10337800" y="5664200"/>
            <a:ext cx="82550" cy="584200"/>
          </a:xfrm>
          <a:prstGeom prst="roundRect">
            <a:avLst>
              <a:gd name="adj" fmla="val 23076"/>
            </a:avLst>
          </a:prstGeom>
          <a:solidFill>
            <a:srgbClr val="DA8E90"/>
          </a:solidFill>
          <a:ln w="12700">
            <a:solidFill>
              <a:srgbClr val="AA3C40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420" name="360_legend_conv_text"/>
          <p:cNvSpPr txBox="1"/>
          <p:nvPr/>
        </p:nvSpPr>
        <p:spPr>
          <a:xfrm>
            <a:off x="10477500" y="5791200"/>
            <a:ext cx="1619250" cy="330200"/>
          </a:xfrm>
          <a:prstGeom prst="rect">
            <a:avLst/>
          </a:prstGeom>
          <a:noFill/>
          <a:effectLst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</a:pPr>
            <a:r>
              <a:rPr sz="1150" b="1" i="0">
                <a:solidFill>
                  <a:srgbClr val="000000"/>
                </a:solidFill>
                <a:latin typeface="Liberation Serif"/>
              </a:rPr>
              <a:t>Multiscale 3D Conv</a:t>
            </a:r>
          </a:p>
        </p:txBody>
      </p:sp>
      <p:sp>
        <p:nvSpPr>
          <p:cNvPr id="421" name="361_legend_ss_box"/>
          <p:cNvSpPr/>
          <p:nvPr/>
        </p:nvSpPr>
        <p:spPr>
          <a:xfrm>
            <a:off x="9848850" y="6394450"/>
            <a:ext cx="622300" cy="304800"/>
          </a:xfrm>
          <a:prstGeom prst="roundRect">
            <a:avLst>
              <a:gd name="adj" fmla="val 18750"/>
            </a:avLst>
          </a:prstGeom>
          <a:solidFill>
            <a:srgbClr val="F2F2F2"/>
          </a:solidFill>
          <a:ln w="19050">
            <a:solidFill>
              <a:srgbClr val="A6A6A6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422" name="362_legend_ss_label"/>
          <p:cNvSpPr txBox="1"/>
          <p:nvPr/>
        </p:nvSpPr>
        <p:spPr>
          <a:xfrm>
            <a:off x="9880600" y="6400800"/>
            <a:ext cx="558800" cy="292100"/>
          </a:xfrm>
          <a:prstGeom prst="rect">
            <a:avLst/>
          </a:prstGeom>
          <a:noFill/>
          <a:effectLst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000000"/>
                </a:solidFill>
                <a:latin typeface="Liberation Serif"/>
              </a:rPr>
              <a:t>S&amp;S</a:t>
            </a:r>
          </a:p>
        </p:txBody>
      </p:sp>
      <p:sp>
        <p:nvSpPr>
          <p:cNvPr id="423" name="363_legend_ss_text"/>
          <p:cNvSpPr txBox="1"/>
          <p:nvPr/>
        </p:nvSpPr>
        <p:spPr>
          <a:xfrm>
            <a:off x="10731500" y="6375400"/>
            <a:ext cx="1346200" cy="330200"/>
          </a:xfrm>
          <a:prstGeom prst="rect">
            <a:avLst/>
          </a:prstGeom>
          <a:noFill/>
          <a:effectLst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</a:pPr>
            <a:r>
              <a:rPr sz="1150" b="1" i="0">
                <a:solidFill>
                  <a:srgbClr val="000000"/>
                </a:solidFill>
                <a:latin typeface="Liberation Serif"/>
              </a:rPr>
              <a:t>Scale &amp; Shift</a:t>
            </a:r>
          </a:p>
        </p:txBody>
      </p:sp>
      <p:sp>
        <p:nvSpPr>
          <p:cNvPr id="424" name="364_legend_loss_box"/>
          <p:cNvSpPr/>
          <p:nvPr/>
        </p:nvSpPr>
        <p:spPr>
          <a:xfrm>
            <a:off x="9855200" y="6858000"/>
            <a:ext cx="622300" cy="298450"/>
          </a:xfrm>
          <a:prstGeom prst="roundRect">
            <a:avLst>
              <a:gd name="adj" fmla="val 19148"/>
            </a:avLst>
          </a:prstGeom>
          <a:solidFill>
            <a:srgbClr val="F1FDF3"/>
          </a:solidFill>
          <a:ln w="19050">
            <a:solidFill>
              <a:srgbClr val="A5DFB7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425" name="365_legend_loss_symbol"/>
          <p:cNvSpPr txBox="1"/>
          <p:nvPr/>
        </p:nvSpPr>
        <p:spPr>
          <a:xfrm>
            <a:off x="9855200" y="6858000"/>
            <a:ext cx="622300" cy="298450"/>
          </a:xfrm>
          <a:prstGeom prst="rect">
            <a:avLst/>
          </a:prstGeom>
          <a:noFill/>
          <a:effectLst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</a:pPr>
            <a:r>
              <a:rPr sz="1200" b="1" i="1">
                <a:solidFill>
                  <a:srgbClr val="000000"/>
                </a:solidFill>
                <a:latin typeface="Latin Modern Math"/>
              </a:rPr>
              <a:t>L</a:t>
            </a:r>
          </a:p>
        </p:txBody>
      </p:sp>
      <p:sp>
        <p:nvSpPr>
          <p:cNvPr id="426" name="366_legend_loss_text"/>
          <p:cNvSpPr txBox="1"/>
          <p:nvPr/>
        </p:nvSpPr>
        <p:spPr>
          <a:xfrm>
            <a:off x="10541000" y="6832600"/>
            <a:ext cx="1619250" cy="349250"/>
          </a:xfrm>
          <a:prstGeom prst="rect">
            <a:avLst/>
          </a:prstGeom>
          <a:noFill/>
          <a:effectLst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000000"/>
                </a:solidFill>
                <a:latin typeface="Liberation Serif"/>
              </a:rPr>
              <a:t>Training Loss Function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__ORIGINAL_REFERENCE_IMAGE__" descr="SViMo Synchronized Diffusion for Video and Motion Generation in Hand-object Interaction Scenarios_diagram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306300" cy="724535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Editable reconstruction of SViMo architecture diagram</dc:title>
  <dc:subject>Synchronized Video-Motion Diffusion and VID</dc:subject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