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282776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4282776" cy="9144000"/>
          </a:xfrm>
          <a:prstGeom prst="rect">
            <a:avLst/>
          </a:prstGeom>
          <a:solidFill>
            <a:srgbClr val="F4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aining_panel_shadow"/>
          <p:cNvSpPr/>
          <p:nvPr/>
        </p:nvSpPr>
        <p:spPr>
          <a:xfrm>
            <a:off x="37785" y="113355"/>
            <a:ext cx="14252547" cy="6272330"/>
          </a:xfrm>
          <a:prstGeom prst="roundRect">
            <a:avLst>
              <a:gd name="adj" fmla="val 5000"/>
            </a:avLst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ining_panel"/>
          <p:cNvSpPr/>
          <p:nvPr/>
        </p:nvSpPr>
        <p:spPr>
          <a:xfrm>
            <a:off x="15114" y="75570"/>
            <a:ext cx="14252547" cy="62723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ference_panel_shadow"/>
          <p:cNvSpPr/>
          <p:nvPr/>
        </p:nvSpPr>
        <p:spPr>
          <a:xfrm>
            <a:off x="37785" y="6582168"/>
            <a:ext cx="14252547" cy="2584502"/>
          </a:xfrm>
          <a:prstGeom prst="roundRect">
            <a:avLst>
              <a:gd name="adj" fmla="val 5263"/>
            </a:avLst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nference_panel"/>
          <p:cNvSpPr/>
          <p:nvPr/>
        </p:nvSpPr>
        <p:spPr>
          <a:xfrm>
            <a:off x="15114" y="6544383"/>
            <a:ext cx="14252547" cy="258450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D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ubject_field"/>
          <p:cNvSpPr/>
          <p:nvPr/>
        </p:nvSpPr>
        <p:spPr>
          <a:xfrm>
            <a:off x="30228" y="151140"/>
            <a:ext cx="3551801" cy="324952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nvariant_field"/>
          <p:cNvSpPr/>
          <p:nvPr/>
        </p:nvSpPr>
        <p:spPr>
          <a:xfrm>
            <a:off x="3551801" y="151140"/>
            <a:ext cx="4284832" cy="612119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mantic_field"/>
          <p:cNvSpPr/>
          <p:nvPr/>
        </p:nvSpPr>
        <p:spPr>
          <a:xfrm>
            <a:off x="7836634" y="151140"/>
            <a:ext cx="4194148" cy="6121190"/>
          </a:xfrm>
          <a:prstGeom prst="roundRect">
            <a:avLst>
              <a:gd name="adj" fmla="val 5000"/>
            </a:avLst>
          </a:prstGeom>
          <a:solidFill>
            <a:srgbClr val="FF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ining_tab"/>
          <p:cNvSpPr/>
          <p:nvPr/>
        </p:nvSpPr>
        <p:spPr>
          <a:xfrm>
            <a:off x="37785" y="151140"/>
            <a:ext cx="2614730" cy="566776"/>
          </a:xfrm>
          <a:prstGeom prst="roundRect">
            <a:avLst>
              <a:gd name="adj" fmla="val 16000"/>
            </a:avLst>
          </a:prstGeom>
          <a:solidFill>
            <a:srgbClr val="DF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nference_tab"/>
          <p:cNvSpPr/>
          <p:nvPr/>
        </p:nvSpPr>
        <p:spPr>
          <a:xfrm>
            <a:off x="37785" y="6619953"/>
            <a:ext cx="2614730" cy="544105"/>
          </a:xfrm>
          <a:prstGeom prst="roundRect">
            <a:avLst>
              <a:gd name="adj" fmla="val 16666"/>
            </a:avLst>
          </a:prstGeom>
          <a:solidFill>
            <a:srgbClr val="E1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ining_title"/>
          <p:cNvSpPr txBox="1"/>
          <p:nvPr/>
        </p:nvSpPr>
        <p:spPr>
          <a:xfrm>
            <a:off x="211596" y="151140"/>
            <a:ext cx="2267107" cy="5289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213" b="1" i="1">
                <a:solidFill>
                  <a:srgbClr val="000000"/>
                </a:solidFill>
                <a:latin typeface="Liberation Serif"/>
              </a:rPr>
              <a:t>Training</a:t>
            </a:r>
          </a:p>
        </p:txBody>
      </p:sp>
      <p:sp>
        <p:nvSpPr>
          <p:cNvPr id="13" name="inference_title"/>
          <p:cNvSpPr txBox="1"/>
          <p:nvPr/>
        </p:nvSpPr>
        <p:spPr>
          <a:xfrm>
            <a:off x="211596" y="6612396"/>
            <a:ext cx="2267107" cy="5289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94" b="1" i="1">
                <a:solidFill>
                  <a:srgbClr val="000000"/>
                </a:solidFill>
                <a:latin typeface="Liberation Serif"/>
              </a:rPr>
              <a:t>Inference</a:t>
            </a:r>
          </a:p>
        </p:txBody>
      </p:sp>
      <p:sp>
        <p:nvSpPr>
          <p:cNvPr id="14" name="invariant_title"/>
          <p:cNvSpPr txBox="1"/>
          <p:nvPr/>
        </p:nvSpPr>
        <p:spPr>
          <a:xfrm>
            <a:off x="2871669" y="181368"/>
            <a:ext cx="4987636" cy="4685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6C9BC3"/>
                </a:solidFill>
                <a:latin typeface="Liberation Serif"/>
              </a:rPr>
              <a:t>Subject-Invariant Feature Extraction</a:t>
            </a:r>
          </a:p>
        </p:txBody>
      </p:sp>
      <p:sp>
        <p:nvSpPr>
          <p:cNvPr id="15" name="semantic_title"/>
          <p:cNvSpPr txBox="1"/>
          <p:nvPr/>
        </p:nvSpPr>
        <p:spPr>
          <a:xfrm>
            <a:off x="7972660" y="181368"/>
            <a:ext cx="4987636" cy="4685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20" b="1" i="1">
                <a:solidFill>
                  <a:srgbClr val="F77A24"/>
                </a:solidFill>
                <a:latin typeface="Liberation Serif"/>
              </a:rPr>
              <a:t>Semantic-Specific Feature Extraction</a:t>
            </a:r>
          </a:p>
        </p:txBody>
      </p:sp>
      <p:sp>
        <p:nvSpPr>
          <p:cNvPr id="16" name="subject_questions"/>
          <p:cNvSpPr txBox="1"/>
          <p:nvPr/>
        </p:nvSpPr>
        <p:spPr>
          <a:xfrm>
            <a:off x="770816" y="1133553"/>
            <a:ext cx="1020198" cy="5289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915" b="1" i="0">
                <a:solidFill>
                  <a:srgbClr val="000000"/>
                </a:solidFill>
                <a:latin typeface="Liberation Serif"/>
              </a:rPr>
              <a:t>?  ?  ?</a:t>
            </a:r>
          </a:p>
        </p:txBody>
      </p:sp>
      <p:sp>
        <p:nvSpPr>
          <p:cNvPr id="17" name="subject_question_focus"/>
          <p:cNvSpPr txBox="1"/>
          <p:nvPr/>
        </p:nvSpPr>
        <p:spPr>
          <a:xfrm>
            <a:off x="1035312" y="1042869"/>
            <a:ext cx="415636" cy="5289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213" b="1" i="0">
                <a:solidFill>
                  <a:srgbClr val="E85B7C"/>
                </a:solidFill>
                <a:latin typeface="Liberation Serif"/>
              </a:rPr>
              <a:t>?</a:t>
            </a:r>
          </a:p>
        </p:txBody>
      </p:sp>
      <p:sp>
        <p:nvSpPr>
          <p:cNvPr id="18" name="subject_head_1_hair"/>
          <p:cNvSpPr/>
          <p:nvPr/>
        </p:nvSpPr>
        <p:spPr>
          <a:xfrm>
            <a:off x="816158" y="1768343"/>
            <a:ext cx="272052" cy="256938"/>
          </a:xfrm>
          <a:prstGeom prst="ellipse">
            <a:avLst/>
          </a:prstGeom>
          <a:solidFill>
            <a:srgbClr val="6D3D26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ubject_head_1_face"/>
          <p:cNvSpPr/>
          <p:nvPr/>
        </p:nvSpPr>
        <p:spPr>
          <a:xfrm>
            <a:off x="838829" y="1821242"/>
            <a:ext cx="226710" cy="241824"/>
          </a:xfrm>
          <a:prstGeom prst="ellipse">
            <a:avLst/>
          </a:prstGeom>
          <a:solidFill>
            <a:srgbClr val="DE936B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ubject_head_2_hair"/>
          <p:cNvSpPr/>
          <p:nvPr/>
        </p:nvSpPr>
        <p:spPr>
          <a:xfrm>
            <a:off x="1148667" y="1753229"/>
            <a:ext cx="272052" cy="256938"/>
          </a:xfrm>
          <a:prstGeom prst="ellipse">
            <a:avLst/>
          </a:prstGeom>
          <a:solidFill>
            <a:srgbClr val="171717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ubject_head_2_face"/>
          <p:cNvSpPr/>
          <p:nvPr/>
        </p:nvSpPr>
        <p:spPr>
          <a:xfrm>
            <a:off x="1171338" y="1806128"/>
            <a:ext cx="226710" cy="241824"/>
          </a:xfrm>
          <a:prstGeom prst="ellipse">
            <a:avLst/>
          </a:prstGeom>
          <a:solidFill>
            <a:srgbClr val="FFD18A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ubject_head_3_hair"/>
          <p:cNvSpPr/>
          <p:nvPr/>
        </p:nvSpPr>
        <p:spPr>
          <a:xfrm>
            <a:off x="1466062" y="1775900"/>
            <a:ext cx="272052" cy="256938"/>
          </a:xfrm>
          <a:prstGeom prst="ellipse">
            <a:avLst/>
          </a:prstGeom>
          <a:solidFill>
            <a:srgbClr val="263746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ubject_head_3_face"/>
          <p:cNvSpPr/>
          <p:nvPr/>
        </p:nvSpPr>
        <p:spPr>
          <a:xfrm>
            <a:off x="1488733" y="1828800"/>
            <a:ext cx="226710" cy="241824"/>
          </a:xfrm>
          <a:prstGeom prst="ellipse">
            <a:avLst/>
          </a:prstGeom>
          <a:solidFill>
            <a:srgbClr val="F0A383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ubject_label"/>
          <p:cNvSpPr txBox="1"/>
          <p:nvPr/>
        </p:nvSpPr>
        <p:spPr>
          <a:xfrm>
            <a:off x="778373" y="2191537"/>
            <a:ext cx="1133553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23" b="1" i="1">
                <a:solidFill>
                  <a:srgbClr val="000000"/>
                </a:solidFill>
                <a:latin typeface="Liberation Serif"/>
              </a:rPr>
              <a:t>Subject</a:t>
            </a:r>
          </a:p>
        </p:txBody>
      </p:sp>
      <p:sp>
        <p:nvSpPr>
          <p:cNvPr id="25" name="subject_cls_arrow"/>
          <p:cNvSpPr/>
          <p:nvPr/>
        </p:nvSpPr>
        <p:spPr>
          <a:xfrm>
            <a:off x="1806129" y="1375379"/>
            <a:ext cx="597005" cy="211597"/>
          </a:xfrm>
          <a:custGeom>
            <a:avLst/>
            <a:gdLst/>
            <a:ahLst/>
            <a:cxnLst/>
            <a:rect l="l" t="t" r="r" b="b"/>
            <a:pathLst>
              <a:path w="79" h="28">
                <a:moveTo>
                  <a:pt x="0" y="14"/>
                </a:moveTo>
                <a:lnTo>
                  <a:pt x="24" y="0"/>
                </a:lnTo>
                <a:lnTo>
                  <a:pt x="24" y="6"/>
                </a:lnTo>
                <a:lnTo>
                  <a:pt x="55" y="6"/>
                </a:lnTo>
                <a:lnTo>
                  <a:pt x="55" y="0"/>
                </a:lnTo>
                <a:lnTo>
                  <a:pt x="79" y="14"/>
                </a:lnTo>
                <a:lnTo>
                  <a:pt x="55" y="28"/>
                </a:lnTo>
                <a:lnTo>
                  <a:pt x="55" y="22"/>
                </a:lnTo>
                <a:lnTo>
                  <a:pt x="24" y="22"/>
                </a:lnTo>
                <a:lnTo>
                  <a:pt x="24" y="28"/>
                </a:lnTo>
                <a:close/>
              </a:path>
            </a:pathLst>
          </a:custGeom>
          <a:solidFill>
            <a:srgbClr val="A9DDEB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ubject_dis_arrow"/>
          <p:cNvSpPr/>
          <p:nvPr/>
        </p:nvSpPr>
        <p:spPr>
          <a:xfrm>
            <a:off x="1813686" y="2327564"/>
            <a:ext cx="589448" cy="196483"/>
          </a:xfrm>
          <a:custGeom>
            <a:avLst/>
            <a:gdLst/>
            <a:ahLst/>
            <a:cxnLst/>
            <a:rect l="l" t="t" r="r" b="b"/>
            <a:pathLst>
              <a:path w="78" h="26">
                <a:moveTo>
                  <a:pt x="0" y="13"/>
                </a:moveTo>
                <a:lnTo>
                  <a:pt x="24" y="0"/>
                </a:lnTo>
                <a:lnTo>
                  <a:pt x="24" y="5"/>
                </a:lnTo>
                <a:lnTo>
                  <a:pt x="54" y="5"/>
                </a:lnTo>
                <a:lnTo>
                  <a:pt x="54" y="0"/>
                </a:lnTo>
                <a:lnTo>
                  <a:pt x="78" y="13"/>
                </a:lnTo>
                <a:lnTo>
                  <a:pt x="54" y="26"/>
                </a:lnTo>
                <a:lnTo>
                  <a:pt x="54" y="21"/>
                </a:lnTo>
                <a:lnTo>
                  <a:pt x="24" y="21"/>
                </a:lnTo>
                <a:lnTo>
                  <a:pt x="24" y="26"/>
                </a:lnTo>
                <a:close/>
              </a:path>
            </a:pathLst>
          </a:custGeom>
          <a:solidFill>
            <a:srgbClr val="A9DDEB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oss_cls_base"/>
          <p:cNvSpPr txBox="1"/>
          <p:nvPr/>
        </p:nvSpPr>
        <p:spPr>
          <a:xfrm>
            <a:off x="1662545" y="710360"/>
            <a:ext cx="247568" cy="3745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99" b="0" i="1">
                <a:solidFill>
                  <a:srgbClr val="6C9BC3"/>
                </a:solidFill>
                <a:latin typeface="Latin Modern Math"/>
              </a:rPr>
              <a:t>ℒ</a:t>
            </a:r>
          </a:p>
        </p:txBody>
      </p:sp>
      <p:sp>
        <p:nvSpPr>
          <p:cNvPr id="28" name="loss_cls_sup"/>
          <p:cNvSpPr txBox="1"/>
          <p:nvPr/>
        </p:nvSpPr>
        <p:spPr>
          <a:xfrm>
            <a:off x="1845745" y="694490"/>
            <a:ext cx="319934" cy="18408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99" b="0" i="1">
                <a:solidFill>
                  <a:srgbClr val="6C9BC3"/>
                </a:solidFill>
                <a:latin typeface="Liberation Serif"/>
              </a:rPr>
              <a:t>E</a:t>
            </a:r>
          </a:p>
        </p:txBody>
      </p:sp>
      <p:sp>
        <p:nvSpPr>
          <p:cNvPr id="29" name="loss_cls_sub"/>
          <p:cNvSpPr txBox="1"/>
          <p:nvPr/>
        </p:nvSpPr>
        <p:spPr>
          <a:xfrm>
            <a:off x="1845745" y="862709"/>
            <a:ext cx="319934" cy="18408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99" b="0" i="1">
                <a:solidFill>
                  <a:srgbClr val="6C9BC3"/>
                </a:solidFill>
                <a:latin typeface="Liberation Serif"/>
              </a:rPr>
              <a:t>cls</a:t>
            </a:r>
          </a:p>
        </p:txBody>
      </p:sp>
      <p:sp>
        <p:nvSpPr>
          <p:cNvPr id="30" name="loss_dis_base"/>
          <p:cNvSpPr txBox="1"/>
          <p:nvPr/>
        </p:nvSpPr>
        <p:spPr>
          <a:xfrm>
            <a:off x="1662545" y="2644958"/>
            <a:ext cx="247568" cy="37452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99" b="0" i="1">
                <a:solidFill>
                  <a:srgbClr val="6C9BC3"/>
                </a:solidFill>
                <a:latin typeface="Latin Modern Math"/>
              </a:rPr>
              <a:t>ℒ</a:t>
            </a:r>
          </a:p>
        </p:txBody>
      </p:sp>
      <p:sp>
        <p:nvSpPr>
          <p:cNvPr id="31" name="loss_dis_sup"/>
          <p:cNvSpPr txBox="1"/>
          <p:nvPr/>
        </p:nvSpPr>
        <p:spPr>
          <a:xfrm>
            <a:off x="1845745" y="2629088"/>
            <a:ext cx="319934" cy="18408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99" b="0" i="1">
                <a:solidFill>
                  <a:srgbClr val="6C9BC3"/>
                </a:solidFill>
                <a:latin typeface="Liberation Serif"/>
              </a:rPr>
              <a:t>E</a:t>
            </a:r>
          </a:p>
        </p:txBody>
      </p:sp>
      <p:sp>
        <p:nvSpPr>
          <p:cNvPr id="32" name="loss_dis_sub"/>
          <p:cNvSpPr txBox="1"/>
          <p:nvPr/>
        </p:nvSpPr>
        <p:spPr>
          <a:xfrm>
            <a:off x="1845745" y="2797308"/>
            <a:ext cx="319934" cy="18408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99" b="0" i="1">
                <a:solidFill>
                  <a:srgbClr val="6C9BC3"/>
                </a:solidFill>
                <a:latin typeface="Liberation Serif"/>
              </a:rPr>
              <a:t>dis</a:t>
            </a:r>
          </a:p>
        </p:txBody>
      </p:sp>
      <p:sp>
        <p:nvSpPr>
          <p:cNvPr id="33" name="cls_shadow"/>
          <p:cNvSpPr/>
          <p:nvPr/>
        </p:nvSpPr>
        <p:spPr>
          <a:xfrm>
            <a:off x="2660072" y="1012641"/>
            <a:ext cx="831272" cy="408079"/>
          </a:xfrm>
          <a:prstGeom prst="roundRect">
            <a:avLst>
              <a:gd name="adj" fmla="val 18518"/>
            </a:avLst>
          </a:prstGeom>
          <a:solidFill>
            <a:srgbClr val="8B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ls_box"/>
          <p:cNvSpPr/>
          <p:nvPr/>
        </p:nvSpPr>
        <p:spPr>
          <a:xfrm>
            <a:off x="2607173" y="959742"/>
            <a:ext cx="755702" cy="392965"/>
          </a:xfrm>
          <a:prstGeom prst="roundRect">
            <a:avLst>
              <a:gd name="adj" fmla="val 19230"/>
            </a:avLst>
          </a:prstGeom>
          <a:solidFill>
            <a:srgbClr val="E8F2F4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ls_text"/>
          <p:cNvSpPr txBox="1"/>
          <p:nvPr/>
        </p:nvSpPr>
        <p:spPr>
          <a:xfrm>
            <a:off x="2607173" y="967299"/>
            <a:ext cx="755702" cy="37785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000000"/>
                </a:solidFill>
                <a:latin typeface="Liberation Serif"/>
              </a:rPr>
              <a:t>CLS</a:t>
            </a:r>
          </a:p>
        </p:txBody>
      </p:sp>
      <p:sp>
        <p:nvSpPr>
          <p:cNvPr id="36" name="grl_subject_box"/>
          <p:cNvSpPr/>
          <p:nvPr/>
        </p:nvSpPr>
        <p:spPr>
          <a:xfrm>
            <a:off x="2486261" y="2365348"/>
            <a:ext cx="785930" cy="392965"/>
          </a:xfrm>
          <a:prstGeom prst="roundRect">
            <a:avLst>
              <a:gd name="adj" fmla="val 17307"/>
            </a:avLst>
          </a:prstGeom>
          <a:solidFill>
            <a:srgbClr val="F4CCCC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rl_subject_text"/>
          <p:cNvSpPr txBox="1"/>
          <p:nvPr/>
        </p:nvSpPr>
        <p:spPr>
          <a:xfrm>
            <a:off x="2486261" y="2372905"/>
            <a:ext cx="785930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000000"/>
                </a:solidFill>
                <a:latin typeface="Liberation Serif"/>
              </a:rPr>
              <a:t>GRL</a:t>
            </a:r>
          </a:p>
        </p:txBody>
      </p:sp>
      <p:sp>
        <p:nvSpPr>
          <p:cNvPr id="38" name="dis_shadow"/>
          <p:cNvSpPr/>
          <p:nvPr/>
        </p:nvSpPr>
        <p:spPr>
          <a:xfrm>
            <a:off x="2667629" y="2682743"/>
            <a:ext cx="831272" cy="408079"/>
          </a:xfrm>
          <a:prstGeom prst="roundRect">
            <a:avLst>
              <a:gd name="adj" fmla="val 18518"/>
            </a:avLst>
          </a:prstGeom>
          <a:solidFill>
            <a:srgbClr val="8BC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s_box"/>
          <p:cNvSpPr/>
          <p:nvPr/>
        </p:nvSpPr>
        <p:spPr>
          <a:xfrm>
            <a:off x="2614730" y="2622287"/>
            <a:ext cx="755702" cy="400522"/>
          </a:xfrm>
          <a:prstGeom prst="roundRect">
            <a:avLst>
              <a:gd name="adj" fmla="val 16981"/>
            </a:avLst>
          </a:prstGeom>
          <a:solidFill>
            <a:srgbClr val="E8F2F4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is_text"/>
          <p:cNvSpPr txBox="1"/>
          <p:nvPr/>
        </p:nvSpPr>
        <p:spPr>
          <a:xfrm>
            <a:off x="2614730" y="2629844"/>
            <a:ext cx="755702" cy="37785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000000"/>
                </a:solidFill>
                <a:latin typeface="Liberation Serif"/>
              </a:rPr>
              <a:t>DIS</a:t>
            </a:r>
          </a:p>
        </p:txBody>
      </p:sp>
      <p:sp>
        <p:nvSpPr>
          <p:cNvPr id="41" name="cls_to_es"/>
          <p:cNvSpPr/>
          <p:nvPr/>
        </p:nvSpPr>
        <p:spPr>
          <a:xfrm>
            <a:off x="3521573" y="1057983"/>
            <a:ext cx="408079" cy="181369"/>
          </a:xfrm>
          <a:custGeom>
            <a:avLst/>
            <a:gdLst/>
            <a:ahLst/>
            <a:cxnLst/>
            <a:rect l="l" t="t" r="r" b="b"/>
            <a:pathLst>
              <a:path w="54" h="24">
                <a:moveTo>
                  <a:pt x="0" y="5"/>
                </a:moveTo>
                <a:lnTo>
                  <a:pt x="32" y="5"/>
                </a:lnTo>
                <a:lnTo>
                  <a:pt x="32" y="0"/>
                </a:lnTo>
                <a:lnTo>
                  <a:pt x="54" y="12"/>
                </a:lnTo>
                <a:lnTo>
                  <a:pt x="32" y="24"/>
                </a:lnTo>
                <a:lnTo>
                  <a:pt x="32" y="19"/>
                </a:lnTo>
                <a:lnTo>
                  <a:pt x="0" y="19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is_to_ei"/>
          <p:cNvSpPr/>
          <p:nvPr/>
        </p:nvSpPr>
        <p:spPr>
          <a:xfrm>
            <a:off x="3521573" y="2660073"/>
            <a:ext cx="408079" cy="181369"/>
          </a:xfrm>
          <a:custGeom>
            <a:avLst/>
            <a:gdLst/>
            <a:ahLst/>
            <a:cxnLst/>
            <a:rect l="l" t="t" r="r" b="b"/>
            <a:pathLst>
              <a:path w="54" h="24">
                <a:moveTo>
                  <a:pt x="0" y="5"/>
                </a:moveTo>
                <a:lnTo>
                  <a:pt x="32" y="5"/>
                </a:lnTo>
                <a:lnTo>
                  <a:pt x="32" y="0"/>
                </a:lnTo>
                <a:lnTo>
                  <a:pt x="54" y="12"/>
                </a:lnTo>
                <a:lnTo>
                  <a:pt x="32" y="24"/>
                </a:lnTo>
                <a:lnTo>
                  <a:pt x="32" y="19"/>
                </a:lnTo>
                <a:lnTo>
                  <a:pt x="0" y="19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ining_fmri_back"/>
          <p:cNvSpPr/>
          <p:nvPr/>
        </p:nvSpPr>
        <p:spPr>
          <a:xfrm>
            <a:off x="778373" y="3778512"/>
            <a:ext cx="846386" cy="748145"/>
          </a:xfrm>
          <a:prstGeom prst="roundRect">
            <a:avLst>
              <a:gd name="adj" fmla="val 5000"/>
            </a:avLst>
          </a:prstGeom>
          <a:solidFill>
            <a:srgbClr val="C0B4BD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ining_fmri_screen"/>
          <p:cNvSpPr/>
          <p:nvPr/>
        </p:nvSpPr>
        <p:spPr>
          <a:xfrm>
            <a:off x="816158" y="3725613"/>
            <a:ext cx="846386" cy="748145"/>
          </a:xfrm>
          <a:prstGeom prst="roundRect">
            <a:avLst>
              <a:gd name="adj" fmla="val 5050"/>
            </a:avLst>
          </a:prstGeom>
          <a:solidFill>
            <a:srgbClr val="EAF4F6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raining_fmri_inner"/>
          <p:cNvSpPr/>
          <p:nvPr/>
        </p:nvSpPr>
        <p:spPr>
          <a:xfrm>
            <a:off x="891728" y="3801183"/>
            <a:ext cx="687689" cy="52899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95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raining_fmri_brain"/>
          <p:cNvSpPr/>
          <p:nvPr/>
        </p:nvSpPr>
        <p:spPr>
          <a:xfrm>
            <a:off x="1027755" y="3876753"/>
            <a:ext cx="408079" cy="377851"/>
          </a:xfrm>
          <a:prstGeom prst="ellipse">
            <a:avLst/>
          </a:prstGeom>
          <a:solidFill>
            <a:srgbClr val="F5B39C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training_fmri_brain_v"/>
          <p:cNvCxnSpPr/>
          <p:nvPr/>
        </p:nvCxnSpPr>
        <p:spPr>
          <a:xfrm>
            <a:off x="1231794" y="3891867"/>
            <a:ext cx="0" cy="34006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training_fmri_brain_h1"/>
          <p:cNvCxnSpPr/>
          <p:nvPr/>
        </p:nvCxnSpPr>
        <p:spPr>
          <a:xfrm>
            <a:off x="1073097" y="4012780"/>
            <a:ext cx="90684" cy="60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training_fmri_brain_h2"/>
          <p:cNvCxnSpPr/>
          <p:nvPr/>
        </p:nvCxnSpPr>
        <p:spPr>
          <a:xfrm flipV="1">
            <a:off x="1307365" y="3967438"/>
            <a:ext cx="98241" cy="52899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training_fmri_brain_h3"/>
          <p:cNvCxnSpPr/>
          <p:nvPr/>
        </p:nvCxnSpPr>
        <p:spPr>
          <a:xfrm flipV="1">
            <a:off x="1088211" y="4103464"/>
            <a:ext cx="90684" cy="3778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training_fmri_brain_h4"/>
          <p:cNvCxnSpPr/>
          <p:nvPr/>
        </p:nvCxnSpPr>
        <p:spPr>
          <a:xfrm>
            <a:off x="1307365" y="4118578"/>
            <a:ext cx="98241" cy="68013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raining_fmri_stand"/>
          <p:cNvSpPr/>
          <p:nvPr/>
        </p:nvSpPr>
        <p:spPr>
          <a:xfrm>
            <a:off x="1118439" y="4481315"/>
            <a:ext cx="234267" cy="90684"/>
          </a:xfrm>
          <a:prstGeom prst="roundRect">
            <a:avLst>
              <a:gd name="adj" fmla="val 8333"/>
            </a:avLst>
          </a:prstGeom>
          <a:solidFill>
            <a:srgbClr val="91868E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training_fmri_wave1"/>
          <p:cNvCxnSpPr/>
          <p:nvPr/>
        </p:nvCxnSpPr>
        <p:spPr>
          <a:xfrm>
            <a:off x="1662545" y="4088350"/>
            <a:ext cx="90684" cy="0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training_fmri_wave2"/>
          <p:cNvCxnSpPr/>
          <p:nvPr/>
        </p:nvCxnSpPr>
        <p:spPr>
          <a:xfrm flipV="1">
            <a:off x="1753229" y="3937209"/>
            <a:ext cx="45342" cy="151141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training_fmri_wave3"/>
          <p:cNvCxnSpPr/>
          <p:nvPr/>
        </p:nvCxnSpPr>
        <p:spPr>
          <a:xfrm>
            <a:off x="1798571" y="3937209"/>
            <a:ext cx="52899" cy="287167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training_fmri_wave4"/>
          <p:cNvCxnSpPr/>
          <p:nvPr/>
        </p:nvCxnSpPr>
        <p:spPr>
          <a:xfrm flipV="1">
            <a:off x="1851470" y="4088350"/>
            <a:ext cx="60457" cy="136026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training_fmri_wave5"/>
          <p:cNvCxnSpPr/>
          <p:nvPr/>
        </p:nvCxnSpPr>
        <p:spPr>
          <a:xfrm>
            <a:off x="1911927" y="4088350"/>
            <a:ext cx="68013" cy="0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raining_fmri_label"/>
          <p:cNvSpPr txBox="1"/>
          <p:nvPr/>
        </p:nvSpPr>
        <p:spPr>
          <a:xfrm>
            <a:off x="838829" y="3408218"/>
            <a:ext cx="1020198" cy="31739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23" b="1" i="0">
                <a:solidFill>
                  <a:srgbClr val="737373"/>
                </a:solidFill>
                <a:latin typeface="Liberation Serif"/>
              </a:rPr>
              <a:t>fMRI</a:t>
            </a:r>
          </a:p>
        </p:txBody>
      </p:sp>
      <p:sp>
        <p:nvSpPr>
          <p:cNvPr id="59" name="train_person_back_l_hair"/>
          <p:cNvSpPr/>
          <p:nvPr/>
        </p:nvSpPr>
        <p:spPr>
          <a:xfrm>
            <a:off x="855833" y="4668352"/>
            <a:ext cx="283388" cy="306059"/>
          </a:xfrm>
          <a:prstGeom prst="ellipse">
            <a:avLst/>
          </a:prstGeom>
          <a:solidFill>
            <a:srgbClr val="31313B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rain_person_back_l_head"/>
          <p:cNvSpPr/>
          <p:nvPr/>
        </p:nvSpPr>
        <p:spPr>
          <a:xfrm>
            <a:off x="889839" y="4730697"/>
            <a:ext cx="215375" cy="249381"/>
          </a:xfrm>
          <a:prstGeom prst="ellipse">
            <a:avLst/>
          </a:prstGeom>
          <a:solidFill>
            <a:srgbClr val="B67055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rain_person_back_l_body"/>
          <p:cNvSpPr/>
          <p:nvPr/>
        </p:nvSpPr>
        <p:spPr>
          <a:xfrm>
            <a:off x="846387" y="4957408"/>
            <a:ext cx="302281" cy="151140"/>
          </a:xfrm>
          <a:custGeom>
            <a:avLst/>
            <a:gdLst/>
            <a:ahLst/>
            <a:cxnLst/>
            <a:rect l="l" t="t" r="r" b="b"/>
            <a:pathLst>
              <a:path w="40" h="20">
                <a:moveTo>
                  <a:pt x="0" y="20"/>
                </a:moveTo>
                <a:lnTo>
                  <a:pt x="6" y="4"/>
                </a:lnTo>
                <a:lnTo>
                  <a:pt x="20" y="0"/>
                </a:lnTo>
                <a:lnTo>
                  <a:pt x="34" y="4"/>
                </a:lnTo>
                <a:lnTo>
                  <a:pt x="40" y="20"/>
                </a:lnTo>
                <a:close/>
              </a:path>
            </a:pathLst>
          </a:custGeom>
          <a:solidFill>
            <a:srgbClr val="E99A45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rain_person_back_l_eye_l"/>
          <p:cNvSpPr/>
          <p:nvPr/>
        </p:nvSpPr>
        <p:spPr>
          <a:xfrm>
            <a:off x="947650" y="4831583"/>
            <a:ext cx="20403" cy="24938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rain_person_back_l_eye_r"/>
          <p:cNvSpPr/>
          <p:nvPr/>
        </p:nvSpPr>
        <p:spPr>
          <a:xfrm>
            <a:off x="1026999" y="4831583"/>
            <a:ext cx="20403" cy="24938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train_person_back_l_smile"/>
          <p:cNvCxnSpPr/>
          <p:nvPr/>
        </p:nvCxnSpPr>
        <p:spPr>
          <a:xfrm>
            <a:off x="957852" y="4900730"/>
            <a:ext cx="79349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rain_person_back_r_hair"/>
          <p:cNvSpPr/>
          <p:nvPr/>
        </p:nvSpPr>
        <p:spPr>
          <a:xfrm>
            <a:off x="1407495" y="4653238"/>
            <a:ext cx="283388" cy="306059"/>
          </a:xfrm>
          <a:prstGeom prst="ellipse">
            <a:avLst/>
          </a:prstGeom>
          <a:solidFill>
            <a:srgbClr val="F4C542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rain_person_back_r_head"/>
          <p:cNvSpPr/>
          <p:nvPr/>
        </p:nvSpPr>
        <p:spPr>
          <a:xfrm>
            <a:off x="1441502" y="4715583"/>
            <a:ext cx="215375" cy="249381"/>
          </a:xfrm>
          <a:prstGeom prst="ellipse">
            <a:avLst/>
          </a:prstGeom>
          <a:solidFill>
            <a:srgbClr val="F7C4A4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rain_person_back_r_body"/>
          <p:cNvSpPr/>
          <p:nvPr/>
        </p:nvSpPr>
        <p:spPr>
          <a:xfrm>
            <a:off x="1398050" y="4942294"/>
            <a:ext cx="302281" cy="151140"/>
          </a:xfrm>
          <a:custGeom>
            <a:avLst/>
            <a:gdLst/>
            <a:ahLst/>
            <a:cxnLst/>
            <a:rect l="l" t="t" r="r" b="b"/>
            <a:pathLst>
              <a:path w="40" h="20">
                <a:moveTo>
                  <a:pt x="0" y="20"/>
                </a:moveTo>
                <a:lnTo>
                  <a:pt x="7" y="4"/>
                </a:lnTo>
                <a:lnTo>
                  <a:pt x="20" y="0"/>
                </a:lnTo>
                <a:lnTo>
                  <a:pt x="33" y="4"/>
                </a:lnTo>
                <a:lnTo>
                  <a:pt x="40" y="20"/>
                </a:lnTo>
                <a:close/>
              </a:path>
            </a:pathLst>
          </a:custGeom>
          <a:solidFill>
            <a:srgbClr val="A8663C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rain_person_back_r_eye_l"/>
          <p:cNvSpPr/>
          <p:nvPr/>
        </p:nvSpPr>
        <p:spPr>
          <a:xfrm>
            <a:off x="1499313" y="4816469"/>
            <a:ext cx="20403" cy="24938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rain_person_back_r_eye_r"/>
          <p:cNvSpPr/>
          <p:nvPr/>
        </p:nvSpPr>
        <p:spPr>
          <a:xfrm>
            <a:off x="1578662" y="4816469"/>
            <a:ext cx="20403" cy="24938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train_person_back_r_smile"/>
          <p:cNvCxnSpPr/>
          <p:nvPr/>
        </p:nvCxnSpPr>
        <p:spPr>
          <a:xfrm>
            <a:off x="1509515" y="4885616"/>
            <a:ext cx="79349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rain_person_front_l_hair"/>
          <p:cNvSpPr/>
          <p:nvPr/>
        </p:nvSpPr>
        <p:spPr>
          <a:xfrm>
            <a:off x="831272" y="5070159"/>
            <a:ext cx="256938" cy="277493"/>
          </a:xfrm>
          <a:prstGeom prst="ellipse">
            <a:avLst/>
          </a:prstGeom>
          <a:solidFill>
            <a:srgbClr val="5B392E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rain_person_front_l_head"/>
          <p:cNvSpPr/>
          <p:nvPr/>
        </p:nvSpPr>
        <p:spPr>
          <a:xfrm>
            <a:off x="862105" y="5126685"/>
            <a:ext cx="195273" cy="226106"/>
          </a:xfrm>
          <a:prstGeom prst="ellipse">
            <a:avLst/>
          </a:prstGeom>
          <a:solidFill>
            <a:srgbClr val="DFA381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rain_person_front_l_body"/>
          <p:cNvSpPr/>
          <p:nvPr/>
        </p:nvSpPr>
        <p:spPr>
          <a:xfrm>
            <a:off x="823716" y="5335260"/>
            <a:ext cx="272053" cy="128469"/>
          </a:xfrm>
          <a:custGeom>
            <a:avLst/>
            <a:gdLst/>
            <a:ahLst/>
            <a:cxnLst/>
            <a:rect l="l" t="t" r="r" b="b"/>
            <a:pathLst>
              <a:path w="36" h="17">
                <a:moveTo>
                  <a:pt x="0" y="17"/>
                </a:moveTo>
                <a:lnTo>
                  <a:pt x="6" y="3"/>
                </a:lnTo>
                <a:lnTo>
                  <a:pt x="18" y="0"/>
                </a:lnTo>
                <a:lnTo>
                  <a:pt x="30" y="3"/>
                </a:lnTo>
                <a:lnTo>
                  <a:pt x="36" y="17"/>
                </a:lnTo>
                <a:close/>
              </a:path>
            </a:pathLst>
          </a:custGeom>
          <a:solidFill>
            <a:srgbClr val="F0C65A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rain_person_front_l_eye_l"/>
          <p:cNvSpPr/>
          <p:nvPr/>
        </p:nvSpPr>
        <p:spPr>
          <a:xfrm>
            <a:off x="914520" y="5218155"/>
            <a:ext cx="18499" cy="22610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rain_person_front_l_eye_r"/>
          <p:cNvSpPr/>
          <p:nvPr/>
        </p:nvSpPr>
        <p:spPr>
          <a:xfrm>
            <a:off x="986463" y="5218155"/>
            <a:ext cx="18499" cy="22610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train_person_front_l_smile"/>
          <p:cNvCxnSpPr/>
          <p:nvPr/>
        </p:nvCxnSpPr>
        <p:spPr>
          <a:xfrm>
            <a:off x="923770" y="5280848"/>
            <a:ext cx="71943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rain_person_front_m_hair"/>
          <p:cNvSpPr/>
          <p:nvPr/>
        </p:nvSpPr>
        <p:spPr>
          <a:xfrm>
            <a:off x="1194009" y="5092830"/>
            <a:ext cx="256938" cy="277493"/>
          </a:xfrm>
          <a:prstGeom prst="ellipse">
            <a:avLst/>
          </a:prstGeom>
          <a:solidFill>
            <a:srgbClr val="34343A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rain_person_front_m_head"/>
          <p:cNvSpPr/>
          <p:nvPr/>
        </p:nvSpPr>
        <p:spPr>
          <a:xfrm>
            <a:off x="1224842" y="5149356"/>
            <a:ext cx="195273" cy="226106"/>
          </a:xfrm>
          <a:prstGeom prst="ellipse">
            <a:avLst/>
          </a:prstGeom>
          <a:solidFill>
            <a:srgbClr val="F1B995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rain_person_front_m_body"/>
          <p:cNvSpPr/>
          <p:nvPr/>
        </p:nvSpPr>
        <p:spPr>
          <a:xfrm>
            <a:off x="1186453" y="5357931"/>
            <a:ext cx="272053" cy="128469"/>
          </a:xfrm>
          <a:custGeom>
            <a:avLst/>
            <a:gdLst/>
            <a:ahLst/>
            <a:cxnLst/>
            <a:rect l="l" t="t" r="r" b="b"/>
            <a:pathLst>
              <a:path w="36" h="17">
                <a:moveTo>
                  <a:pt x="0" y="17"/>
                </a:moveTo>
                <a:lnTo>
                  <a:pt x="6" y="3"/>
                </a:lnTo>
                <a:lnTo>
                  <a:pt x="18" y="0"/>
                </a:lnTo>
                <a:lnTo>
                  <a:pt x="30" y="3"/>
                </a:lnTo>
                <a:lnTo>
                  <a:pt x="36" y="17"/>
                </a:lnTo>
                <a:close/>
              </a:path>
            </a:pathLst>
          </a:custGeom>
          <a:solidFill>
            <a:srgbClr val="8993A7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rain_person_front_m_eye_l"/>
          <p:cNvSpPr/>
          <p:nvPr/>
        </p:nvSpPr>
        <p:spPr>
          <a:xfrm>
            <a:off x="1277258" y="5240826"/>
            <a:ext cx="18499" cy="22610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rain_person_front_m_eye_r"/>
          <p:cNvSpPr/>
          <p:nvPr/>
        </p:nvSpPr>
        <p:spPr>
          <a:xfrm>
            <a:off x="1349200" y="5240826"/>
            <a:ext cx="18499" cy="22610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train_person_front_m_smile"/>
          <p:cNvCxnSpPr/>
          <p:nvPr/>
        </p:nvCxnSpPr>
        <p:spPr>
          <a:xfrm>
            <a:off x="1286507" y="5303520"/>
            <a:ext cx="71943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rain_person_front_r_hair"/>
          <p:cNvSpPr/>
          <p:nvPr/>
        </p:nvSpPr>
        <p:spPr>
          <a:xfrm>
            <a:off x="1541632" y="5070159"/>
            <a:ext cx="256938" cy="277493"/>
          </a:xfrm>
          <a:prstGeom prst="ellipse">
            <a:avLst/>
          </a:prstGeom>
          <a:solidFill>
            <a:srgbClr val="3A2A26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rain_person_front_r_head"/>
          <p:cNvSpPr/>
          <p:nvPr/>
        </p:nvSpPr>
        <p:spPr>
          <a:xfrm>
            <a:off x="1572465" y="5126685"/>
            <a:ext cx="195273" cy="226106"/>
          </a:xfrm>
          <a:prstGeom prst="ellipse">
            <a:avLst/>
          </a:prstGeom>
          <a:solidFill>
            <a:srgbClr val="EFC0A3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rain_person_front_r_body"/>
          <p:cNvSpPr/>
          <p:nvPr/>
        </p:nvSpPr>
        <p:spPr>
          <a:xfrm>
            <a:off x="1534076" y="5335260"/>
            <a:ext cx="272053" cy="128469"/>
          </a:xfrm>
          <a:custGeom>
            <a:avLst/>
            <a:gdLst/>
            <a:ahLst/>
            <a:cxnLst/>
            <a:rect l="l" t="t" r="r" b="b"/>
            <a:pathLst>
              <a:path w="36" h="17">
                <a:moveTo>
                  <a:pt x="0" y="17"/>
                </a:moveTo>
                <a:lnTo>
                  <a:pt x="6" y="3"/>
                </a:lnTo>
                <a:lnTo>
                  <a:pt x="18" y="0"/>
                </a:lnTo>
                <a:lnTo>
                  <a:pt x="30" y="3"/>
                </a:lnTo>
                <a:lnTo>
                  <a:pt x="36" y="17"/>
                </a:lnTo>
                <a:close/>
              </a:path>
            </a:pathLst>
          </a:custGeom>
          <a:solidFill>
            <a:srgbClr val="5DA7E0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rain_person_front_r_eye_l"/>
          <p:cNvSpPr/>
          <p:nvPr/>
        </p:nvSpPr>
        <p:spPr>
          <a:xfrm>
            <a:off x="1624881" y="5218155"/>
            <a:ext cx="18499" cy="22610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rain_person_front_r_eye_r"/>
          <p:cNvSpPr/>
          <p:nvPr/>
        </p:nvSpPr>
        <p:spPr>
          <a:xfrm>
            <a:off x="1696824" y="5218155"/>
            <a:ext cx="18499" cy="22610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train_person_front_r_smile"/>
          <p:cNvCxnSpPr/>
          <p:nvPr/>
        </p:nvCxnSpPr>
        <p:spPr>
          <a:xfrm>
            <a:off x="1634130" y="5280848"/>
            <a:ext cx="71943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rain_subjects_label"/>
          <p:cNvSpPr txBox="1"/>
          <p:nvPr/>
        </p:nvSpPr>
        <p:spPr>
          <a:xfrm>
            <a:off x="392965" y="5750895"/>
            <a:ext cx="1813685" cy="3929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1" b="0" i="0">
                <a:solidFill>
                  <a:srgbClr val="000000"/>
                </a:solidFill>
                <a:latin typeface="Liberation Serif"/>
              </a:rPr>
              <a:t>Train Subjects</a:t>
            </a:r>
          </a:p>
        </p:txBody>
      </p:sp>
      <p:sp>
        <p:nvSpPr>
          <p:cNvPr id="90" name="fmri_to_vit"/>
          <p:cNvSpPr/>
          <p:nvPr/>
        </p:nvSpPr>
        <p:spPr>
          <a:xfrm>
            <a:off x="1715445" y="4292390"/>
            <a:ext cx="717917" cy="302281"/>
          </a:xfrm>
          <a:custGeom>
            <a:avLst/>
            <a:gdLst/>
            <a:ahLst/>
            <a:cxnLst/>
            <a:rect l="l" t="t" r="r" b="b"/>
            <a:pathLst>
              <a:path w="95" h="40">
                <a:moveTo>
                  <a:pt x="0" y="9"/>
                </a:moveTo>
                <a:lnTo>
                  <a:pt x="66" y="9"/>
                </a:lnTo>
                <a:lnTo>
                  <a:pt x="66" y="0"/>
                </a:lnTo>
                <a:lnTo>
                  <a:pt x="95" y="20"/>
                </a:lnTo>
                <a:lnTo>
                  <a:pt x="66" y="40"/>
                </a:lnTo>
                <a:lnTo>
                  <a:pt x="66" y="31"/>
                </a:lnTo>
                <a:lnTo>
                  <a:pt x="0" y="31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2C6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t_train"/>
          <p:cNvSpPr/>
          <p:nvPr/>
        </p:nvSpPr>
        <p:spPr>
          <a:xfrm>
            <a:off x="2342678" y="3748284"/>
            <a:ext cx="1012641" cy="1352707"/>
          </a:xfrm>
          <a:custGeom>
            <a:avLst/>
            <a:gdLst/>
            <a:ahLst/>
            <a:cxnLst/>
            <a:rect l="l" t="t" r="r" b="b"/>
            <a:pathLst>
              <a:path w="134" h="179">
                <a:moveTo>
                  <a:pt x="0" y="0"/>
                </a:moveTo>
                <a:lnTo>
                  <a:pt x="134" y="39"/>
                </a:lnTo>
                <a:lnTo>
                  <a:pt x="134" y="139"/>
                </a:lnTo>
                <a:lnTo>
                  <a:pt x="0" y="179"/>
                </a:lnTo>
                <a:close/>
              </a:path>
            </a:pathLst>
          </a:custGeom>
          <a:solidFill>
            <a:srgbClr val="E1E9EC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t_train_label"/>
          <p:cNvSpPr txBox="1"/>
          <p:nvPr/>
        </p:nvSpPr>
        <p:spPr>
          <a:xfrm>
            <a:off x="2493818" y="4065679"/>
            <a:ext cx="717917" cy="4912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61" b="1" i="0">
                <a:solidFill>
                  <a:srgbClr val="000000"/>
                </a:solidFill>
                <a:latin typeface="Liberation Serif"/>
              </a:rPr>
              <a:t>ViT</a:t>
            </a:r>
          </a:p>
        </p:txBody>
      </p:sp>
      <p:sp>
        <p:nvSpPr>
          <p:cNvPr id="93" name="vit_to_e"/>
          <p:cNvSpPr/>
          <p:nvPr/>
        </p:nvSpPr>
        <p:spPr>
          <a:xfrm>
            <a:off x="3234406" y="4292390"/>
            <a:ext cx="695246" cy="302281"/>
          </a:xfrm>
          <a:custGeom>
            <a:avLst/>
            <a:gdLst/>
            <a:ahLst/>
            <a:cxnLst/>
            <a:rect l="l" t="t" r="r" b="b"/>
            <a:pathLst>
              <a:path w="92" h="40">
                <a:moveTo>
                  <a:pt x="0" y="9"/>
                </a:moveTo>
                <a:lnTo>
                  <a:pt x="63" y="9"/>
                </a:lnTo>
                <a:lnTo>
                  <a:pt x="63" y="0"/>
                </a:lnTo>
                <a:lnTo>
                  <a:pt x="92" y="20"/>
                </a:lnTo>
                <a:lnTo>
                  <a:pt x="63" y="40"/>
                </a:lnTo>
                <a:lnTo>
                  <a:pt x="63" y="31"/>
                </a:lnTo>
                <a:lnTo>
                  <a:pt x="0" y="31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2C6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mbedding_e_shadow_0"/>
          <p:cNvSpPr/>
          <p:nvPr/>
        </p:nvSpPr>
        <p:spPr>
          <a:xfrm>
            <a:off x="4080793" y="4179035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0"/>
                </a:moveTo>
                <a:lnTo>
                  <a:pt x="18" y="0"/>
                </a:lnTo>
                <a:lnTo>
                  <a:pt x="18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mbedding_e_bar_0"/>
          <p:cNvSpPr/>
          <p:nvPr/>
        </p:nvSpPr>
        <p:spPr>
          <a:xfrm>
            <a:off x="4043008" y="4141250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8"/>
                </a:lnTo>
                <a:lnTo>
                  <a:pt x="11" y="86"/>
                </a:lnTo>
                <a:lnTo>
                  <a:pt x="0" y="86"/>
                </a:lnTo>
                <a:close/>
              </a:path>
            </a:pathLst>
          </a:custGeom>
          <a:solidFill>
            <a:srgbClr val="6F94B8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embedding_e_shine_0"/>
          <p:cNvCxnSpPr/>
          <p:nvPr/>
        </p:nvCxnSpPr>
        <p:spPr>
          <a:xfrm>
            <a:off x="4088350" y="420170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embedding_e_shadow_1"/>
          <p:cNvSpPr/>
          <p:nvPr/>
        </p:nvSpPr>
        <p:spPr>
          <a:xfrm>
            <a:off x="4269719" y="4179035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0"/>
                </a:moveTo>
                <a:lnTo>
                  <a:pt x="18" y="0"/>
                </a:lnTo>
                <a:lnTo>
                  <a:pt x="18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mbedding_e_bar_1"/>
          <p:cNvSpPr/>
          <p:nvPr/>
        </p:nvSpPr>
        <p:spPr>
          <a:xfrm>
            <a:off x="4231934" y="4141250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8"/>
                </a:lnTo>
                <a:lnTo>
                  <a:pt x="11" y="86"/>
                </a:lnTo>
                <a:lnTo>
                  <a:pt x="0" y="86"/>
                </a:lnTo>
                <a:close/>
              </a:path>
            </a:pathLst>
          </a:custGeom>
          <a:solidFill>
            <a:srgbClr val="6F94B8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embedding_e_shine_1"/>
          <p:cNvCxnSpPr/>
          <p:nvPr/>
        </p:nvCxnSpPr>
        <p:spPr>
          <a:xfrm>
            <a:off x="4277275" y="420170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embedding_e_shadow_2"/>
          <p:cNvSpPr/>
          <p:nvPr/>
        </p:nvSpPr>
        <p:spPr>
          <a:xfrm>
            <a:off x="4458644" y="4179035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0"/>
                </a:moveTo>
                <a:lnTo>
                  <a:pt x="18" y="0"/>
                </a:lnTo>
                <a:lnTo>
                  <a:pt x="18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mbedding_e_bar_2"/>
          <p:cNvSpPr/>
          <p:nvPr/>
        </p:nvSpPr>
        <p:spPr>
          <a:xfrm>
            <a:off x="4420859" y="4141250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8"/>
                </a:lnTo>
                <a:lnTo>
                  <a:pt x="11" y="86"/>
                </a:lnTo>
                <a:lnTo>
                  <a:pt x="0" y="86"/>
                </a:lnTo>
                <a:close/>
              </a:path>
            </a:pathLst>
          </a:custGeom>
          <a:solidFill>
            <a:srgbClr val="6F94B8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embedding_e_shine_2"/>
          <p:cNvCxnSpPr/>
          <p:nvPr/>
        </p:nvCxnSpPr>
        <p:spPr>
          <a:xfrm>
            <a:off x="4466201" y="420170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embedding_e_shadow_3"/>
          <p:cNvSpPr/>
          <p:nvPr/>
        </p:nvSpPr>
        <p:spPr>
          <a:xfrm>
            <a:off x="4647570" y="4179035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0"/>
                </a:moveTo>
                <a:lnTo>
                  <a:pt x="18" y="0"/>
                </a:lnTo>
                <a:lnTo>
                  <a:pt x="18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mbedding_e_bar_3"/>
          <p:cNvSpPr/>
          <p:nvPr/>
        </p:nvSpPr>
        <p:spPr>
          <a:xfrm>
            <a:off x="4609785" y="4141250"/>
            <a:ext cx="136026" cy="649904"/>
          </a:xfrm>
          <a:custGeom>
            <a:avLst/>
            <a:gdLst/>
            <a:ahLst/>
            <a:cxnLst/>
            <a:rect l="l" t="t" r="r" b="b"/>
            <a:pathLst>
              <a:path w="18" h="86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8"/>
                </a:lnTo>
                <a:lnTo>
                  <a:pt x="11" y="86"/>
                </a:lnTo>
                <a:lnTo>
                  <a:pt x="0" y="86"/>
                </a:lnTo>
                <a:close/>
              </a:path>
            </a:pathLst>
          </a:custGeom>
          <a:solidFill>
            <a:srgbClr val="6F94B8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embedding_e_shine_3"/>
          <p:cNvCxnSpPr/>
          <p:nvPr/>
        </p:nvCxnSpPr>
        <p:spPr>
          <a:xfrm>
            <a:off x="4655126" y="420170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embedding_e_label"/>
          <p:cNvSpPr txBox="1"/>
          <p:nvPr/>
        </p:nvSpPr>
        <p:spPr>
          <a:xfrm>
            <a:off x="4095907" y="4836495"/>
            <a:ext cx="793487" cy="3400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000000"/>
                </a:solidFill>
                <a:latin typeface="Liberation Serif"/>
              </a:rPr>
              <a:t>E</a:t>
            </a:r>
          </a:p>
        </p:txBody>
      </p:sp>
      <p:sp>
        <p:nvSpPr>
          <p:cNvPr id="107" name="e_to_ei"/>
          <p:cNvSpPr/>
          <p:nvPr/>
        </p:nvSpPr>
        <p:spPr>
          <a:xfrm>
            <a:off x="4299947" y="3151279"/>
            <a:ext cx="211597" cy="891729"/>
          </a:xfrm>
          <a:custGeom>
            <a:avLst/>
            <a:gdLst/>
            <a:ahLst/>
            <a:cxnLst/>
            <a:rect l="l" t="t" r="r" b="b"/>
            <a:pathLst>
              <a:path w="28" h="118">
                <a:moveTo>
                  <a:pt x="14" y="0"/>
                </a:moveTo>
                <a:lnTo>
                  <a:pt x="28" y="27"/>
                </a:lnTo>
                <a:lnTo>
                  <a:pt x="22" y="27"/>
                </a:lnTo>
                <a:lnTo>
                  <a:pt x="22" y="118"/>
                </a:lnTo>
                <a:lnTo>
                  <a:pt x="6" y="118"/>
                </a:lnTo>
                <a:lnTo>
                  <a:pt x="6" y="27"/>
                </a:lnTo>
                <a:lnTo>
                  <a:pt x="0" y="27"/>
                </a:lnTo>
                <a:close/>
              </a:path>
            </a:pathLst>
          </a:custGeom>
          <a:solidFill>
            <a:srgbClr val="A9DDEB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_function_base"/>
          <p:cNvSpPr txBox="1"/>
          <p:nvPr/>
        </p:nvSpPr>
        <p:spPr>
          <a:xfrm>
            <a:off x="3551801" y="3461117"/>
            <a:ext cx="241673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ℱ</a:t>
            </a:r>
          </a:p>
        </p:txBody>
      </p:sp>
      <p:sp>
        <p:nvSpPr>
          <p:cNvPr id="109" name="fi_function_sub"/>
          <p:cNvSpPr txBox="1"/>
          <p:nvPr/>
        </p:nvSpPr>
        <p:spPr>
          <a:xfrm>
            <a:off x="3730639" y="3609839"/>
            <a:ext cx="139427" cy="1797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1">
                <a:solidFill>
                  <a:srgbClr val="000000"/>
                </a:solidFill>
                <a:latin typeface="Liberation Serif"/>
              </a:rPr>
              <a:t>i</a:t>
            </a:r>
          </a:p>
        </p:txBody>
      </p:sp>
      <p:sp>
        <p:nvSpPr>
          <p:cNvPr id="110" name="fi_function_suffix"/>
          <p:cNvSpPr txBox="1"/>
          <p:nvPr/>
        </p:nvSpPr>
        <p:spPr>
          <a:xfrm>
            <a:off x="3948016" y="3461117"/>
            <a:ext cx="387297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(·)</a:t>
            </a:r>
          </a:p>
        </p:txBody>
      </p:sp>
      <p:sp>
        <p:nvSpPr>
          <p:cNvPr id="111" name="difference_up"/>
          <p:cNvSpPr/>
          <p:nvPr/>
        </p:nvSpPr>
        <p:spPr>
          <a:xfrm>
            <a:off x="4299947" y="1035312"/>
            <a:ext cx="196483" cy="1314922"/>
          </a:xfrm>
          <a:custGeom>
            <a:avLst/>
            <a:gdLst/>
            <a:ahLst/>
            <a:cxnLst/>
            <a:rect l="l" t="t" r="r" b="b"/>
            <a:pathLst>
              <a:path w="26" h="174">
                <a:moveTo>
                  <a:pt x="13" y="0"/>
                </a:moveTo>
                <a:lnTo>
                  <a:pt x="26" y="26"/>
                </a:lnTo>
                <a:lnTo>
                  <a:pt x="20" y="26"/>
                </a:lnTo>
                <a:lnTo>
                  <a:pt x="20" y="174"/>
                </a:lnTo>
                <a:lnTo>
                  <a:pt x="6" y="174"/>
                </a:lnTo>
                <a:lnTo>
                  <a:pt x="6" y="26"/>
                </a:lnTo>
                <a:lnTo>
                  <a:pt x="0" y="26"/>
                </a:lnTo>
                <a:close/>
              </a:path>
            </a:pathLst>
          </a:custGeom>
          <a:solidFill>
            <a:srgbClr val="C7C7C7"/>
          </a:solidFill>
          <a:ln w="1397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ifference_symbol"/>
          <p:cNvSpPr/>
          <p:nvPr/>
        </p:nvSpPr>
        <p:spPr>
          <a:xfrm>
            <a:off x="4254604" y="1859028"/>
            <a:ext cx="287166" cy="28716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difference_bar"/>
          <p:cNvCxnSpPr/>
          <p:nvPr/>
        </p:nvCxnSpPr>
        <p:spPr>
          <a:xfrm>
            <a:off x="4262161" y="2002611"/>
            <a:ext cx="272053" cy="0"/>
          </a:xfrm>
          <a:prstGeom prst="line">
            <a:avLst/>
          </a:prstGeom>
          <a:ln w="34925">
            <a:solidFill>
              <a:srgbClr val="172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difference_label"/>
          <p:cNvSpPr txBox="1"/>
          <p:nvPr/>
        </p:nvSpPr>
        <p:spPr>
          <a:xfrm>
            <a:off x="4685355" y="1851471"/>
            <a:ext cx="1246909" cy="37785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1">
                <a:solidFill>
                  <a:srgbClr val="000000"/>
                </a:solidFill>
                <a:latin typeface="Liberation Serif"/>
              </a:rPr>
              <a:t>Difference</a:t>
            </a:r>
          </a:p>
        </p:txBody>
      </p:sp>
      <p:sp>
        <p:nvSpPr>
          <p:cNvPr id="115" name="embedding_ei_shadow_0"/>
          <p:cNvSpPr/>
          <p:nvPr/>
        </p:nvSpPr>
        <p:spPr>
          <a:xfrm>
            <a:off x="4027894" y="2478704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0"/>
                </a:moveTo>
                <a:lnTo>
                  <a:pt x="19" y="0"/>
                </a:lnTo>
                <a:lnTo>
                  <a:pt x="19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mbedding_ei_bar_0"/>
          <p:cNvSpPr/>
          <p:nvPr/>
        </p:nvSpPr>
        <p:spPr>
          <a:xfrm>
            <a:off x="3990109" y="2440919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8"/>
                </a:lnTo>
                <a:lnTo>
                  <a:pt x="12" y="86"/>
                </a:lnTo>
                <a:lnTo>
                  <a:pt x="0" y="86"/>
                </a:lnTo>
                <a:close/>
              </a:path>
            </a:pathLst>
          </a:custGeom>
          <a:solidFill>
            <a:srgbClr val="7795B2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embedding_ei_shine_0"/>
          <p:cNvCxnSpPr/>
          <p:nvPr/>
        </p:nvCxnSpPr>
        <p:spPr>
          <a:xfrm>
            <a:off x="4035450" y="250137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embedding_ei_shadow_1"/>
          <p:cNvSpPr/>
          <p:nvPr/>
        </p:nvSpPr>
        <p:spPr>
          <a:xfrm>
            <a:off x="4224377" y="2478704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0"/>
                </a:moveTo>
                <a:lnTo>
                  <a:pt x="19" y="0"/>
                </a:lnTo>
                <a:lnTo>
                  <a:pt x="19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mbedding_ei_bar_1"/>
          <p:cNvSpPr/>
          <p:nvPr/>
        </p:nvSpPr>
        <p:spPr>
          <a:xfrm>
            <a:off x="4186591" y="2440919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8"/>
                </a:lnTo>
                <a:lnTo>
                  <a:pt x="12" y="86"/>
                </a:lnTo>
                <a:lnTo>
                  <a:pt x="0" y="86"/>
                </a:lnTo>
                <a:close/>
              </a:path>
            </a:pathLst>
          </a:custGeom>
          <a:solidFill>
            <a:srgbClr val="7795B2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embedding_ei_shine_1"/>
          <p:cNvCxnSpPr/>
          <p:nvPr/>
        </p:nvCxnSpPr>
        <p:spPr>
          <a:xfrm>
            <a:off x="4231933" y="250137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embedding_ei_shadow_2"/>
          <p:cNvSpPr/>
          <p:nvPr/>
        </p:nvSpPr>
        <p:spPr>
          <a:xfrm>
            <a:off x="4420859" y="2478704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0"/>
                </a:moveTo>
                <a:lnTo>
                  <a:pt x="19" y="0"/>
                </a:lnTo>
                <a:lnTo>
                  <a:pt x="19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mbedding_ei_bar_2"/>
          <p:cNvSpPr/>
          <p:nvPr/>
        </p:nvSpPr>
        <p:spPr>
          <a:xfrm>
            <a:off x="4383074" y="2440919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8"/>
                </a:lnTo>
                <a:lnTo>
                  <a:pt x="12" y="86"/>
                </a:lnTo>
                <a:lnTo>
                  <a:pt x="0" y="86"/>
                </a:lnTo>
                <a:close/>
              </a:path>
            </a:pathLst>
          </a:custGeom>
          <a:solidFill>
            <a:srgbClr val="7795B2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embedding_ei_shine_2"/>
          <p:cNvCxnSpPr/>
          <p:nvPr/>
        </p:nvCxnSpPr>
        <p:spPr>
          <a:xfrm>
            <a:off x="4428416" y="250137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embedding_ei_shadow_3"/>
          <p:cNvSpPr/>
          <p:nvPr/>
        </p:nvSpPr>
        <p:spPr>
          <a:xfrm>
            <a:off x="4617342" y="2478704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0"/>
                </a:moveTo>
                <a:lnTo>
                  <a:pt x="19" y="0"/>
                </a:lnTo>
                <a:lnTo>
                  <a:pt x="19" y="86"/>
                </a:lnTo>
                <a:lnTo>
                  <a:pt x="0" y="86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mbedding_ei_bar_3"/>
          <p:cNvSpPr/>
          <p:nvPr/>
        </p:nvSpPr>
        <p:spPr>
          <a:xfrm>
            <a:off x="4579557" y="2440919"/>
            <a:ext cx="143583" cy="649904"/>
          </a:xfrm>
          <a:custGeom>
            <a:avLst/>
            <a:gdLst/>
            <a:ahLst/>
            <a:cxnLst/>
            <a:rect l="l" t="t" r="r" b="b"/>
            <a:pathLst>
              <a:path w="19" h="86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8"/>
                </a:lnTo>
                <a:lnTo>
                  <a:pt x="12" y="86"/>
                </a:lnTo>
                <a:lnTo>
                  <a:pt x="0" y="86"/>
                </a:lnTo>
                <a:close/>
              </a:path>
            </a:pathLst>
          </a:custGeom>
          <a:solidFill>
            <a:srgbClr val="7795B2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embedding_ei_shine_3"/>
          <p:cNvCxnSpPr/>
          <p:nvPr/>
        </p:nvCxnSpPr>
        <p:spPr>
          <a:xfrm>
            <a:off x="4624898" y="2501375"/>
            <a:ext cx="0" cy="551663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embedding_ei_label"/>
          <p:cNvSpPr txBox="1"/>
          <p:nvPr/>
        </p:nvSpPr>
        <p:spPr>
          <a:xfrm>
            <a:off x="4760925" y="3007695"/>
            <a:ext cx="528991" cy="37785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80" b="1" i="1">
                <a:solidFill>
                  <a:srgbClr val="000000"/>
                </a:solidFill>
                <a:latin typeface="Liberation Serif"/>
              </a:rPr>
              <a:t>Eᵢ</a:t>
            </a:r>
          </a:p>
        </p:txBody>
      </p:sp>
      <p:sp>
        <p:nvSpPr>
          <p:cNvPr id="128" name="embedding_es_shadow_0"/>
          <p:cNvSpPr/>
          <p:nvPr/>
        </p:nvSpPr>
        <p:spPr>
          <a:xfrm>
            <a:off x="4012780" y="861501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0"/>
                </a:moveTo>
                <a:lnTo>
                  <a:pt x="19" y="0"/>
                </a:lnTo>
                <a:lnTo>
                  <a:pt x="19" y="85"/>
                </a:lnTo>
                <a:lnTo>
                  <a:pt x="0" y="85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mbedding_es_bar_0"/>
          <p:cNvSpPr/>
          <p:nvPr/>
        </p:nvSpPr>
        <p:spPr>
          <a:xfrm>
            <a:off x="3974995" y="823716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7"/>
                </a:lnTo>
                <a:lnTo>
                  <a:pt x="12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EEF4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embedding_es_shine_0"/>
          <p:cNvCxnSpPr/>
          <p:nvPr/>
        </p:nvCxnSpPr>
        <p:spPr>
          <a:xfrm>
            <a:off x="4020336" y="884171"/>
            <a:ext cx="0" cy="544106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embedding_es_shadow_1"/>
          <p:cNvSpPr/>
          <p:nvPr/>
        </p:nvSpPr>
        <p:spPr>
          <a:xfrm>
            <a:off x="4209263" y="861501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0"/>
                </a:moveTo>
                <a:lnTo>
                  <a:pt x="19" y="0"/>
                </a:lnTo>
                <a:lnTo>
                  <a:pt x="19" y="85"/>
                </a:lnTo>
                <a:lnTo>
                  <a:pt x="0" y="85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mbedding_es_bar_1"/>
          <p:cNvSpPr/>
          <p:nvPr/>
        </p:nvSpPr>
        <p:spPr>
          <a:xfrm>
            <a:off x="4171477" y="823716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7"/>
                </a:lnTo>
                <a:lnTo>
                  <a:pt x="12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EEF4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embedding_es_shine_1"/>
          <p:cNvCxnSpPr/>
          <p:nvPr/>
        </p:nvCxnSpPr>
        <p:spPr>
          <a:xfrm>
            <a:off x="4216819" y="884171"/>
            <a:ext cx="0" cy="544106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embedding_es_shadow_2"/>
          <p:cNvSpPr/>
          <p:nvPr/>
        </p:nvSpPr>
        <p:spPr>
          <a:xfrm>
            <a:off x="4405745" y="861501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0"/>
                </a:moveTo>
                <a:lnTo>
                  <a:pt x="19" y="0"/>
                </a:lnTo>
                <a:lnTo>
                  <a:pt x="19" y="85"/>
                </a:lnTo>
                <a:lnTo>
                  <a:pt x="0" y="85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mbedding_es_bar_2"/>
          <p:cNvSpPr/>
          <p:nvPr/>
        </p:nvSpPr>
        <p:spPr>
          <a:xfrm>
            <a:off x="4367960" y="823716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7"/>
                </a:lnTo>
                <a:lnTo>
                  <a:pt x="12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EEF4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embedding_es_shine_2"/>
          <p:cNvCxnSpPr/>
          <p:nvPr/>
        </p:nvCxnSpPr>
        <p:spPr>
          <a:xfrm>
            <a:off x="4413302" y="884171"/>
            <a:ext cx="0" cy="544106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embedding_es_shadow_3"/>
          <p:cNvSpPr/>
          <p:nvPr/>
        </p:nvSpPr>
        <p:spPr>
          <a:xfrm>
            <a:off x="4602228" y="861501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0"/>
                </a:moveTo>
                <a:lnTo>
                  <a:pt x="19" y="0"/>
                </a:lnTo>
                <a:lnTo>
                  <a:pt x="19" y="85"/>
                </a:lnTo>
                <a:lnTo>
                  <a:pt x="0" y="85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mbedding_es_bar_3"/>
          <p:cNvSpPr/>
          <p:nvPr/>
        </p:nvSpPr>
        <p:spPr>
          <a:xfrm>
            <a:off x="4564443" y="823716"/>
            <a:ext cx="143583" cy="642347"/>
          </a:xfrm>
          <a:custGeom>
            <a:avLst/>
            <a:gdLst/>
            <a:ahLst/>
            <a:cxnLst/>
            <a:rect l="l" t="t" r="r" b="b"/>
            <a:pathLst>
              <a:path w="19" h="85">
                <a:moveTo>
                  <a:pt x="0" y="8"/>
                </a:moveTo>
                <a:lnTo>
                  <a:pt x="7" y="0"/>
                </a:lnTo>
                <a:lnTo>
                  <a:pt x="19" y="0"/>
                </a:lnTo>
                <a:lnTo>
                  <a:pt x="19" y="77"/>
                </a:lnTo>
                <a:lnTo>
                  <a:pt x="12" y="85"/>
                </a:lnTo>
                <a:lnTo>
                  <a:pt x="0" y="85"/>
                </a:lnTo>
                <a:close/>
              </a:path>
            </a:pathLst>
          </a:custGeom>
          <a:solidFill>
            <a:srgbClr val="E8EEF4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embedding_es_shine_3"/>
          <p:cNvCxnSpPr/>
          <p:nvPr/>
        </p:nvCxnSpPr>
        <p:spPr>
          <a:xfrm>
            <a:off x="4609784" y="884171"/>
            <a:ext cx="0" cy="544106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embedding_es_label"/>
          <p:cNvSpPr txBox="1"/>
          <p:nvPr/>
        </p:nvSpPr>
        <p:spPr>
          <a:xfrm>
            <a:off x="4745811" y="1367821"/>
            <a:ext cx="566776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80" b="1" i="1">
                <a:solidFill>
                  <a:srgbClr val="000000"/>
                </a:solidFill>
                <a:latin typeface="Liberation Serif"/>
              </a:rPr>
              <a:t>Eₛ</a:t>
            </a:r>
          </a:p>
        </p:txBody>
      </p:sp>
      <p:sp>
        <p:nvSpPr>
          <p:cNvPr id="141" name="projector_in_arrow_0"/>
          <p:cNvSpPr/>
          <p:nvPr/>
        </p:nvSpPr>
        <p:spPr>
          <a:xfrm>
            <a:off x="5093434" y="1012641"/>
            <a:ext cx="1896813" cy="256939"/>
          </a:xfrm>
          <a:custGeom>
            <a:avLst/>
            <a:gdLst/>
            <a:ahLst/>
            <a:cxnLst/>
            <a:rect l="l" t="t" r="r" b="b"/>
            <a:pathLst>
              <a:path w="251" h="34">
                <a:moveTo>
                  <a:pt x="0" y="7"/>
                </a:moveTo>
                <a:lnTo>
                  <a:pt x="217" y="7"/>
                </a:lnTo>
                <a:lnTo>
                  <a:pt x="217" y="0"/>
                </a:lnTo>
                <a:lnTo>
                  <a:pt x="251" y="17"/>
                </a:lnTo>
                <a:lnTo>
                  <a:pt x="217" y="34"/>
                </a:lnTo>
                <a:lnTo>
                  <a:pt x="217" y="27"/>
                </a:lnTo>
                <a:lnTo>
                  <a:pt x="0" y="27"/>
                </a:lnTo>
                <a:close/>
              </a:path>
            </a:pathLst>
          </a:custGeom>
          <a:solidFill>
            <a:srgbClr val="A9DDEB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projector_0_shadow"/>
          <p:cNvSpPr/>
          <p:nvPr/>
        </p:nvSpPr>
        <p:spPr>
          <a:xfrm>
            <a:off x="7148945" y="831272"/>
            <a:ext cx="1398049" cy="725474"/>
          </a:xfrm>
          <a:prstGeom prst="roundRect">
            <a:avLst>
              <a:gd name="adj" fmla="val 16666"/>
            </a:avLst>
          </a:prstGeom>
          <a:solidFill>
            <a:srgbClr val="E4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projector_0"/>
          <p:cNvSpPr/>
          <p:nvPr/>
        </p:nvSpPr>
        <p:spPr>
          <a:xfrm>
            <a:off x="7103602" y="778373"/>
            <a:ext cx="1398049" cy="725474"/>
          </a:xfrm>
          <a:prstGeom prst="roundRect">
            <a:avLst>
              <a:gd name="adj" fmla="val 16666"/>
            </a:avLst>
          </a:prstGeom>
          <a:solidFill>
            <a:srgbClr val="FBEABE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projector_0_label"/>
          <p:cNvSpPr txBox="1"/>
          <p:nvPr/>
        </p:nvSpPr>
        <p:spPr>
          <a:xfrm>
            <a:off x="7141388" y="801044"/>
            <a:ext cx="1322479" cy="6801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erif"/>
              </a:rPr>
              <a:t>Vision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erif"/>
              </a:rPr>
              <a:t>Projector</a:t>
            </a:r>
          </a:p>
        </p:txBody>
      </p:sp>
      <p:sp>
        <p:nvSpPr>
          <p:cNvPr id="145" name="projector_formula_0_base"/>
          <p:cNvSpPr txBox="1"/>
          <p:nvPr/>
        </p:nvSpPr>
        <p:spPr>
          <a:xfrm>
            <a:off x="7489011" y="1511404"/>
            <a:ext cx="241673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P</a:t>
            </a:r>
          </a:p>
        </p:txBody>
      </p:sp>
      <p:sp>
        <p:nvSpPr>
          <p:cNvPr id="146" name="projector_formula_0_sub"/>
          <p:cNvSpPr txBox="1"/>
          <p:nvPr/>
        </p:nvSpPr>
        <p:spPr>
          <a:xfrm>
            <a:off x="7667849" y="1660127"/>
            <a:ext cx="139427" cy="1797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1">
                <a:solidFill>
                  <a:srgbClr val="000000"/>
                </a:solidFill>
                <a:latin typeface="Liberation Serif"/>
              </a:rPr>
              <a:t>i</a:t>
            </a:r>
          </a:p>
        </p:txBody>
      </p:sp>
      <p:sp>
        <p:nvSpPr>
          <p:cNvPr id="147" name="projector_formula_0_suffix"/>
          <p:cNvSpPr txBox="1"/>
          <p:nvPr/>
        </p:nvSpPr>
        <p:spPr>
          <a:xfrm>
            <a:off x="7885225" y="1511404"/>
            <a:ext cx="387297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(·)</a:t>
            </a:r>
          </a:p>
        </p:txBody>
      </p:sp>
      <p:sp>
        <p:nvSpPr>
          <p:cNvPr id="148" name="projector_out_arrow_0"/>
          <p:cNvSpPr/>
          <p:nvPr/>
        </p:nvSpPr>
        <p:spPr>
          <a:xfrm>
            <a:off x="8751034" y="1012641"/>
            <a:ext cx="1889256" cy="256939"/>
          </a:xfrm>
          <a:custGeom>
            <a:avLst/>
            <a:gdLst/>
            <a:ahLst/>
            <a:cxnLst/>
            <a:rect l="l" t="t" r="r" b="b"/>
            <a:pathLst>
              <a:path w="250" h="34">
                <a:moveTo>
                  <a:pt x="0" y="7"/>
                </a:moveTo>
                <a:lnTo>
                  <a:pt x="216" y="7"/>
                </a:lnTo>
                <a:lnTo>
                  <a:pt x="216" y="0"/>
                </a:lnTo>
                <a:lnTo>
                  <a:pt x="250" y="17"/>
                </a:lnTo>
                <a:lnTo>
                  <a:pt x="216" y="34"/>
                </a:lnTo>
                <a:lnTo>
                  <a:pt x="216" y="27"/>
                </a:lnTo>
                <a:lnTo>
                  <a:pt x="0" y="27"/>
                </a:lnTo>
                <a:close/>
              </a:path>
            </a:pathLst>
          </a:custGeom>
          <a:solidFill>
            <a:srgbClr val="FFE7A7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semantic_grl_box"/>
          <p:cNvSpPr/>
          <p:nvPr/>
        </p:nvSpPr>
        <p:spPr>
          <a:xfrm>
            <a:off x="9317811" y="1224238"/>
            <a:ext cx="748145" cy="370294"/>
          </a:xfrm>
          <a:prstGeom prst="roundRect">
            <a:avLst>
              <a:gd name="adj" fmla="val 16326"/>
            </a:avLst>
          </a:prstGeom>
          <a:solidFill>
            <a:srgbClr val="F4CCCC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semantic_grl_text"/>
          <p:cNvSpPr txBox="1"/>
          <p:nvPr/>
        </p:nvSpPr>
        <p:spPr>
          <a:xfrm>
            <a:off x="9317811" y="1231795"/>
            <a:ext cx="748145" cy="3400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000000"/>
                </a:solidFill>
                <a:latin typeface="Liberation Serif"/>
              </a:rPr>
              <a:t>GRL</a:t>
            </a:r>
          </a:p>
        </p:txBody>
      </p:sp>
      <p:sp>
        <p:nvSpPr>
          <p:cNvPr id="151" name="feature_f_0_shadow_0"/>
          <p:cNvSpPr/>
          <p:nvPr/>
        </p:nvSpPr>
        <p:spPr>
          <a:xfrm>
            <a:off x="10814102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eature_f_0_bar_0"/>
          <p:cNvSpPr/>
          <p:nvPr/>
        </p:nvSpPr>
        <p:spPr>
          <a:xfrm>
            <a:off x="10776317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feature_f_0_shine_0"/>
          <p:cNvCxnSpPr/>
          <p:nvPr/>
        </p:nvCxnSpPr>
        <p:spPr>
          <a:xfrm>
            <a:off x="10821658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feature_f_0_shadow_1"/>
          <p:cNvSpPr/>
          <p:nvPr/>
        </p:nvSpPr>
        <p:spPr>
          <a:xfrm>
            <a:off x="11003027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eature_f_0_bar_1"/>
          <p:cNvSpPr/>
          <p:nvPr/>
        </p:nvSpPr>
        <p:spPr>
          <a:xfrm>
            <a:off x="10965242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feature_f_0_shine_1"/>
          <p:cNvCxnSpPr/>
          <p:nvPr/>
        </p:nvCxnSpPr>
        <p:spPr>
          <a:xfrm>
            <a:off x="11010584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feature_f_0_shadow_2"/>
          <p:cNvSpPr/>
          <p:nvPr/>
        </p:nvSpPr>
        <p:spPr>
          <a:xfrm>
            <a:off x="11191953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eature_f_0_bar_2"/>
          <p:cNvSpPr/>
          <p:nvPr/>
        </p:nvSpPr>
        <p:spPr>
          <a:xfrm>
            <a:off x="11154168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feature_f_0_shine_2"/>
          <p:cNvCxnSpPr/>
          <p:nvPr/>
        </p:nvCxnSpPr>
        <p:spPr>
          <a:xfrm>
            <a:off x="11199510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feature_f_0_shadow_3"/>
          <p:cNvSpPr/>
          <p:nvPr/>
        </p:nvSpPr>
        <p:spPr>
          <a:xfrm>
            <a:off x="11380879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eature_f_0_bar_3"/>
          <p:cNvSpPr/>
          <p:nvPr/>
        </p:nvSpPr>
        <p:spPr>
          <a:xfrm>
            <a:off x="11343094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feature_f_0_shine_3"/>
          <p:cNvCxnSpPr/>
          <p:nvPr/>
        </p:nvCxnSpPr>
        <p:spPr>
          <a:xfrm>
            <a:off x="11388435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feature_f_label_0"/>
          <p:cNvSpPr txBox="1"/>
          <p:nvPr/>
        </p:nvSpPr>
        <p:spPr>
          <a:xfrm>
            <a:off x="10504263" y="1428277"/>
            <a:ext cx="891728" cy="4156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000000"/>
                </a:solidFill>
                <a:latin typeface="Liberation Serif"/>
              </a:rPr>
              <a:t>Fᵢ</a:t>
            </a:r>
          </a:p>
        </p:txBody>
      </p:sp>
      <p:sp>
        <p:nvSpPr>
          <p:cNvPr id="164" name="projector_in_arrow_1"/>
          <p:cNvSpPr/>
          <p:nvPr/>
        </p:nvSpPr>
        <p:spPr>
          <a:xfrm>
            <a:off x="5093434" y="2637402"/>
            <a:ext cx="1896813" cy="256939"/>
          </a:xfrm>
          <a:custGeom>
            <a:avLst/>
            <a:gdLst/>
            <a:ahLst/>
            <a:cxnLst/>
            <a:rect l="l" t="t" r="r" b="b"/>
            <a:pathLst>
              <a:path w="251" h="34">
                <a:moveTo>
                  <a:pt x="0" y="7"/>
                </a:moveTo>
                <a:lnTo>
                  <a:pt x="217" y="7"/>
                </a:lnTo>
                <a:lnTo>
                  <a:pt x="217" y="0"/>
                </a:lnTo>
                <a:lnTo>
                  <a:pt x="251" y="17"/>
                </a:lnTo>
                <a:lnTo>
                  <a:pt x="217" y="34"/>
                </a:lnTo>
                <a:lnTo>
                  <a:pt x="217" y="27"/>
                </a:lnTo>
                <a:lnTo>
                  <a:pt x="0" y="27"/>
                </a:lnTo>
                <a:close/>
              </a:path>
            </a:pathLst>
          </a:custGeom>
          <a:solidFill>
            <a:srgbClr val="A9DDEB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or_1_shadow"/>
          <p:cNvSpPr/>
          <p:nvPr/>
        </p:nvSpPr>
        <p:spPr>
          <a:xfrm>
            <a:off x="7148945" y="2456033"/>
            <a:ext cx="1398049" cy="725474"/>
          </a:xfrm>
          <a:prstGeom prst="roundRect">
            <a:avLst>
              <a:gd name="adj" fmla="val 16666"/>
            </a:avLst>
          </a:prstGeom>
          <a:solidFill>
            <a:srgbClr val="E4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projector_1"/>
          <p:cNvSpPr/>
          <p:nvPr/>
        </p:nvSpPr>
        <p:spPr>
          <a:xfrm>
            <a:off x="7103602" y="2403133"/>
            <a:ext cx="1398049" cy="725474"/>
          </a:xfrm>
          <a:prstGeom prst="roundRect">
            <a:avLst>
              <a:gd name="adj" fmla="val 16666"/>
            </a:avLst>
          </a:prstGeom>
          <a:solidFill>
            <a:srgbClr val="FBEABE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projector_1_label"/>
          <p:cNvSpPr txBox="1"/>
          <p:nvPr/>
        </p:nvSpPr>
        <p:spPr>
          <a:xfrm>
            <a:off x="7141388" y="2425804"/>
            <a:ext cx="1322479" cy="6801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erif"/>
              </a:rPr>
              <a:t>Vision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erif"/>
              </a:rPr>
              <a:t>Projector</a:t>
            </a:r>
          </a:p>
        </p:txBody>
      </p:sp>
      <p:sp>
        <p:nvSpPr>
          <p:cNvPr id="168" name="projector_formula_1_base"/>
          <p:cNvSpPr txBox="1"/>
          <p:nvPr/>
        </p:nvSpPr>
        <p:spPr>
          <a:xfrm>
            <a:off x="7489011" y="3136165"/>
            <a:ext cx="241673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P</a:t>
            </a:r>
          </a:p>
        </p:txBody>
      </p:sp>
      <p:sp>
        <p:nvSpPr>
          <p:cNvPr id="169" name="projector_formula_1_sub"/>
          <p:cNvSpPr txBox="1"/>
          <p:nvPr/>
        </p:nvSpPr>
        <p:spPr>
          <a:xfrm>
            <a:off x="7667849" y="3284887"/>
            <a:ext cx="139427" cy="1797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1">
                <a:solidFill>
                  <a:srgbClr val="000000"/>
                </a:solidFill>
                <a:latin typeface="Liberation Serif"/>
              </a:rPr>
              <a:t>s</a:t>
            </a:r>
          </a:p>
        </p:txBody>
      </p:sp>
      <p:sp>
        <p:nvSpPr>
          <p:cNvPr id="170" name="projector_formula_1_suffix"/>
          <p:cNvSpPr txBox="1"/>
          <p:nvPr/>
        </p:nvSpPr>
        <p:spPr>
          <a:xfrm>
            <a:off x="7885225" y="3136165"/>
            <a:ext cx="387297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(·)</a:t>
            </a:r>
          </a:p>
        </p:txBody>
      </p:sp>
      <p:sp>
        <p:nvSpPr>
          <p:cNvPr id="171" name="projector_out_arrow_1"/>
          <p:cNvSpPr/>
          <p:nvPr/>
        </p:nvSpPr>
        <p:spPr>
          <a:xfrm>
            <a:off x="8751034" y="2637402"/>
            <a:ext cx="1889256" cy="256939"/>
          </a:xfrm>
          <a:custGeom>
            <a:avLst/>
            <a:gdLst/>
            <a:ahLst/>
            <a:cxnLst/>
            <a:rect l="l" t="t" r="r" b="b"/>
            <a:pathLst>
              <a:path w="250" h="34">
                <a:moveTo>
                  <a:pt x="0" y="7"/>
                </a:moveTo>
                <a:lnTo>
                  <a:pt x="216" y="7"/>
                </a:lnTo>
                <a:lnTo>
                  <a:pt x="216" y="0"/>
                </a:lnTo>
                <a:lnTo>
                  <a:pt x="250" y="17"/>
                </a:lnTo>
                <a:lnTo>
                  <a:pt x="216" y="34"/>
                </a:lnTo>
                <a:lnTo>
                  <a:pt x="216" y="27"/>
                </a:lnTo>
                <a:lnTo>
                  <a:pt x="0" y="27"/>
                </a:lnTo>
                <a:close/>
              </a:path>
            </a:pathLst>
          </a:custGeom>
          <a:solidFill>
            <a:srgbClr val="FFE7A7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eature_f_1_shadow_0"/>
          <p:cNvSpPr/>
          <p:nvPr/>
        </p:nvSpPr>
        <p:spPr>
          <a:xfrm>
            <a:off x="10814102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eature_f_1_bar_0"/>
          <p:cNvSpPr/>
          <p:nvPr/>
        </p:nvSpPr>
        <p:spPr>
          <a:xfrm>
            <a:off x="10776317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feature_f_1_shine_0"/>
          <p:cNvCxnSpPr/>
          <p:nvPr/>
        </p:nvCxnSpPr>
        <p:spPr>
          <a:xfrm>
            <a:off x="10821658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feature_f_1_shadow_1"/>
          <p:cNvSpPr/>
          <p:nvPr/>
        </p:nvSpPr>
        <p:spPr>
          <a:xfrm>
            <a:off x="11003027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eature_f_1_bar_1"/>
          <p:cNvSpPr/>
          <p:nvPr/>
        </p:nvSpPr>
        <p:spPr>
          <a:xfrm>
            <a:off x="10965242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feature_f_1_shine_1"/>
          <p:cNvCxnSpPr/>
          <p:nvPr/>
        </p:nvCxnSpPr>
        <p:spPr>
          <a:xfrm>
            <a:off x="11010584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feature_f_1_shadow_2"/>
          <p:cNvSpPr/>
          <p:nvPr/>
        </p:nvSpPr>
        <p:spPr>
          <a:xfrm>
            <a:off x="11191953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eature_f_1_bar_2"/>
          <p:cNvSpPr/>
          <p:nvPr/>
        </p:nvSpPr>
        <p:spPr>
          <a:xfrm>
            <a:off x="11154168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feature_f_1_shine_2"/>
          <p:cNvCxnSpPr/>
          <p:nvPr/>
        </p:nvCxnSpPr>
        <p:spPr>
          <a:xfrm>
            <a:off x="11199510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eature_f_1_shadow_3"/>
          <p:cNvSpPr/>
          <p:nvPr/>
        </p:nvSpPr>
        <p:spPr>
          <a:xfrm>
            <a:off x="11380879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eature_f_1_bar_3"/>
          <p:cNvSpPr/>
          <p:nvPr/>
        </p:nvSpPr>
        <p:spPr>
          <a:xfrm>
            <a:off x="11343094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feature_f_1_shine_3"/>
          <p:cNvCxnSpPr/>
          <p:nvPr/>
        </p:nvCxnSpPr>
        <p:spPr>
          <a:xfrm>
            <a:off x="11388435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feature_f_label_1"/>
          <p:cNvSpPr txBox="1"/>
          <p:nvPr/>
        </p:nvSpPr>
        <p:spPr>
          <a:xfrm>
            <a:off x="10504263" y="3053038"/>
            <a:ext cx="891728" cy="4156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000000"/>
                </a:solidFill>
                <a:latin typeface="Liberation Serif"/>
              </a:rPr>
              <a:t>Fₛ</a:t>
            </a:r>
          </a:p>
        </p:txBody>
      </p:sp>
      <p:sp>
        <p:nvSpPr>
          <p:cNvPr id="185" name="projector_in_arrow_2"/>
          <p:cNvSpPr/>
          <p:nvPr/>
        </p:nvSpPr>
        <p:spPr>
          <a:xfrm>
            <a:off x="5093434" y="4315061"/>
            <a:ext cx="1896813" cy="256939"/>
          </a:xfrm>
          <a:custGeom>
            <a:avLst/>
            <a:gdLst/>
            <a:ahLst/>
            <a:cxnLst/>
            <a:rect l="l" t="t" r="r" b="b"/>
            <a:pathLst>
              <a:path w="251" h="34">
                <a:moveTo>
                  <a:pt x="0" y="7"/>
                </a:moveTo>
                <a:lnTo>
                  <a:pt x="217" y="7"/>
                </a:lnTo>
                <a:lnTo>
                  <a:pt x="217" y="0"/>
                </a:lnTo>
                <a:lnTo>
                  <a:pt x="251" y="17"/>
                </a:lnTo>
                <a:lnTo>
                  <a:pt x="217" y="34"/>
                </a:lnTo>
                <a:lnTo>
                  <a:pt x="217" y="27"/>
                </a:lnTo>
                <a:lnTo>
                  <a:pt x="0" y="27"/>
                </a:lnTo>
                <a:close/>
              </a:path>
            </a:pathLst>
          </a:custGeom>
          <a:solidFill>
            <a:srgbClr val="A9DDEB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projector_2_shadow"/>
          <p:cNvSpPr/>
          <p:nvPr/>
        </p:nvSpPr>
        <p:spPr>
          <a:xfrm>
            <a:off x="7148945" y="4133692"/>
            <a:ext cx="1398049" cy="725474"/>
          </a:xfrm>
          <a:prstGeom prst="roundRect">
            <a:avLst>
              <a:gd name="adj" fmla="val 16666"/>
            </a:avLst>
          </a:prstGeom>
          <a:solidFill>
            <a:srgbClr val="E4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projector_2"/>
          <p:cNvSpPr/>
          <p:nvPr/>
        </p:nvSpPr>
        <p:spPr>
          <a:xfrm>
            <a:off x="7103602" y="4080793"/>
            <a:ext cx="1398049" cy="725474"/>
          </a:xfrm>
          <a:prstGeom prst="roundRect">
            <a:avLst>
              <a:gd name="adj" fmla="val 16666"/>
            </a:avLst>
          </a:prstGeom>
          <a:solidFill>
            <a:srgbClr val="FBEABE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projector_2_label"/>
          <p:cNvSpPr txBox="1"/>
          <p:nvPr/>
        </p:nvSpPr>
        <p:spPr>
          <a:xfrm>
            <a:off x="7141388" y="4103464"/>
            <a:ext cx="1322479" cy="6801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erif"/>
              </a:rPr>
              <a:t>Vision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000000"/>
                </a:solidFill>
                <a:latin typeface="Liberation Serif"/>
              </a:rPr>
              <a:t>Projector</a:t>
            </a:r>
          </a:p>
        </p:txBody>
      </p:sp>
      <p:sp>
        <p:nvSpPr>
          <p:cNvPr id="189" name="projector_formula_2_base"/>
          <p:cNvSpPr txBox="1"/>
          <p:nvPr/>
        </p:nvSpPr>
        <p:spPr>
          <a:xfrm>
            <a:off x="7489011" y="4813824"/>
            <a:ext cx="241673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P</a:t>
            </a:r>
          </a:p>
        </p:txBody>
      </p:sp>
      <p:sp>
        <p:nvSpPr>
          <p:cNvPr id="190" name="projector_formula_2_suffix"/>
          <p:cNvSpPr txBox="1"/>
          <p:nvPr/>
        </p:nvSpPr>
        <p:spPr>
          <a:xfrm>
            <a:off x="7885225" y="4813824"/>
            <a:ext cx="387297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000000"/>
                </a:solidFill>
                <a:latin typeface="Latin Modern Math"/>
              </a:rPr>
              <a:t>(·)</a:t>
            </a:r>
          </a:p>
        </p:txBody>
      </p:sp>
      <p:sp>
        <p:nvSpPr>
          <p:cNvPr id="191" name="projector_out_arrow_2"/>
          <p:cNvSpPr/>
          <p:nvPr/>
        </p:nvSpPr>
        <p:spPr>
          <a:xfrm>
            <a:off x="8751034" y="4315061"/>
            <a:ext cx="1889256" cy="256939"/>
          </a:xfrm>
          <a:custGeom>
            <a:avLst/>
            <a:gdLst/>
            <a:ahLst/>
            <a:cxnLst/>
            <a:rect l="l" t="t" r="r" b="b"/>
            <a:pathLst>
              <a:path w="250" h="34">
                <a:moveTo>
                  <a:pt x="0" y="7"/>
                </a:moveTo>
                <a:lnTo>
                  <a:pt x="216" y="7"/>
                </a:lnTo>
                <a:lnTo>
                  <a:pt x="216" y="0"/>
                </a:lnTo>
                <a:lnTo>
                  <a:pt x="250" y="17"/>
                </a:lnTo>
                <a:lnTo>
                  <a:pt x="216" y="34"/>
                </a:lnTo>
                <a:lnTo>
                  <a:pt x="216" y="27"/>
                </a:lnTo>
                <a:lnTo>
                  <a:pt x="0" y="27"/>
                </a:lnTo>
                <a:close/>
              </a:path>
            </a:pathLst>
          </a:custGeom>
          <a:solidFill>
            <a:srgbClr val="FFE7A7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eature_f_2_shadow_0"/>
          <p:cNvSpPr/>
          <p:nvPr/>
        </p:nvSpPr>
        <p:spPr>
          <a:xfrm>
            <a:off x="10814102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eature_f_2_bar_0"/>
          <p:cNvSpPr/>
          <p:nvPr/>
        </p:nvSpPr>
        <p:spPr>
          <a:xfrm>
            <a:off x="10776317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feature_f_2_shine_0"/>
          <p:cNvCxnSpPr/>
          <p:nvPr/>
        </p:nvCxnSpPr>
        <p:spPr>
          <a:xfrm>
            <a:off x="10821658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feature_f_2_shadow_1"/>
          <p:cNvSpPr/>
          <p:nvPr/>
        </p:nvSpPr>
        <p:spPr>
          <a:xfrm>
            <a:off x="11003027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eature_f_2_bar_1"/>
          <p:cNvSpPr/>
          <p:nvPr/>
        </p:nvSpPr>
        <p:spPr>
          <a:xfrm>
            <a:off x="10965242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feature_f_2_shine_1"/>
          <p:cNvCxnSpPr/>
          <p:nvPr/>
        </p:nvCxnSpPr>
        <p:spPr>
          <a:xfrm>
            <a:off x="11010584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feature_f_2_shadow_2"/>
          <p:cNvSpPr/>
          <p:nvPr/>
        </p:nvSpPr>
        <p:spPr>
          <a:xfrm>
            <a:off x="11191953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eature_f_2_bar_2"/>
          <p:cNvSpPr/>
          <p:nvPr/>
        </p:nvSpPr>
        <p:spPr>
          <a:xfrm>
            <a:off x="11154168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feature_f_2_shine_2"/>
          <p:cNvCxnSpPr/>
          <p:nvPr/>
        </p:nvCxnSpPr>
        <p:spPr>
          <a:xfrm>
            <a:off x="11199510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feature_f_2_shadow_3"/>
          <p:cNvSpPr/>
          <p:nvPr/>
        </p:nvSpPr>
        <p:spPr>
          <a:xfrm>
            <a:off x="11380879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eature_f_2_bar_3"/>
          <p:cNvSpPr/>
          <p:nvPr/>
        </p:nvSpPr>
        <p:spPr>
          <a:xfrm>
            <a:off x="11343094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feature_f_2_shine_3"/>
          <p:cNvCxnSpPr/>
          <p:nvPr/>
        </p:nvCxnSpPr>
        <p:spPr>
          <a:xfrm>
            <a:off x="11388435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feature_f_label_2"/>
          <p:cNvSpPr txBox="1"/>
          <p:nvPr/>
        </p:nvSpPr>
        <p:spPr>
          <a:xfrm>
            <a:off x="10504263" y="4730697"/>
            <a:ext cx="891728" cy="4156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000000"/>
                </a:solidFill>
                <a:latin typeface="Liberation Serif"/>
              </a:rPr>
              <a:t>F</a:t>
            </a:r>
          </a:p>
        </p:txBody>
      </p:sp>
      <p:sp>
        <p:nvSpPr>
          <p:cNvPr id="205" name="decoder_pipe"/>
          <p:cNvSpPr/>
          <p:nvPr/>
        </p:nvSpPr>
        <p:spPr>
          <a:xfrm>
            <a:off x="4345289" y="5146334"/>
            <a:ext cx="566777" cy="680132"/>
          </a:xfrm>
          <a:custGeom>
            <a:avLst/>
            <a:gdLst/>
            <a:ahLst/>
            <a:cxnLst/>
            <a:rect l="l" t="t" r="r" b="b"/>
            <a:pathLst>
              <a:path w="75" h="90">
                <a:moveTo>
                  <a:pt x="0" y="0"/>
                </a:moveTo>
                <a:lnTo>
                  <a:pt x="14" y="0"/>
                </a:lnTo>
                <a:lnTo>
                  <a:pt x="14" y="49"/>
                </a:lnTo>
                <a:lnTo>
                  <a:pt x="53" y="49"/>
                </a:lnTo>
                <a:lnTo>
                  <a:pt x="53" y="33"/>
                </a:lnTo>
                <a:lnTo>
                  <a:pt x="75" y="62"/>
                </a:lnTo>
                <a:lnTo>
                  <a:pt x="53" y="90"/>
                </a:lnTo>
                <a:lnTo>
                  <a:pt x="53" y="74"/>
                </a:lnTo>
                <a:lnTo>
                  <a:pt x="16" y="74"/>
                </a:lnTo>
                <a:lnTo>
                  <a:pt x="0" y="60"/>
                </a:lnTo>
                <a:close/>
              </a:path>
            </a:pathLst>
          </a:custGeom>
          <a:solidFill>
            <a:srgbClr val="7B9DB7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ecoder_box"/>
          <p:cNvSpPr/>
          <p:nvPr/>
        </p:nvSpPr>
        <p:spPr>
          <a:xfrm>
            <a:off x="4851610" y="5153891"/>
            <a:ext cx="1110883" cy="929514"/>
          </a:xfrm>
          <a:custGeom>
            <a:avLst/>
            <a:gdLst/>
            <a:ahLst/>
            <a:cxnLst/>
            <a:rect l="l" t="t" r="r" b="b"/>
            <a:pathLst>
              <a:path w="147" h="123">
                <a:moveTo>
                  <a:pt x="0" y="27"/>
                </a:moveTo>
                <a:lnTo>
                  <a:pt x="147" y="0"/>
                </a:lnTo>
                <a:lnTo>
                  <a:pt x="147" y="123"/>
                </a:lnTo>
                <a:lnTo>
                  <a:pt x="0" y="97"/>
                </a:lnTo>
                <a:close/>
              </a:path>
            </a:pathLst>
          </a:custGeom>
          <a:solidFill>
            <a:srgbClr val="E1E9EC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ecoder_label"/>
          <p:cNvSpPr txBox="1"/>
          <p:nvPr/>
        </p:nvSpPr>
        <p:spPr>
          <a:xfrm>
            <a:off x="4949850" y="5410829"/>
            <a:ext cx="929513" cy="4685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000000"/>
                </a:solidFill>
                <a:latin typeface="Liberation Serif"/>
              </a:rPr>
              <a:t>Decoder</a:t>
            </a:r>
          </a:p>
        </p:txBody>
      </p:sp>
      <p:sp>
        <p:nvSpPr>
          <p:cNvPr id="208" name="decoder_recon_arrow"/>
          <p:cNvSpPr/>
          <p:nvPr/>
        </p:nvSpPr>
        <p:spPr>
          <a:xfrm>
            <a:off x="5962492" y="5501514"/>
            <a:ext cx="521435" cy="241825"/>
          </a:xfrm>
          <a:custGeom>
            <a:avLst/>
            <a:gdLst/>
            <a:ahLst/>
            <a:cxnLst/>
            <a:rect l="l" t="t" r="r" b="b"/>
            <a:pathLst>
              <a:path w="69" h="32">
                <a:moveTo>
                  <a:pt x="0" y="16"/>
                </a:moveTo>
                <a:lnTo>
                  <a:pt x="26" y="0"/>
                </a:lnTo>
                <a:lnTo>
                  <a:pt x="26" y="7"/>
                </a:lnTo>
                <a:lnTo>
                  <a:pt x="43" y="7"/>
                </a:lnTo>
                <a:lnTo>
                  <a:pt x="43" y="0"/>
                </a:lnTo>
                <a:lnTo>
                  <a:pt x="69" y="16"/>
                </a:lnTo>
                <a:lnTo>
                  <a:pt x="43" y="32"/>
                </a:lnTo>
                <a:lnTo>
                  <a:pt x="43" y="25"/>
                </a:lnTo>
                <a:lnTo>
                  <a:pt x="26" y="25"/>
                </a:lnTo>
                <a:lnTo>
                  <a:pt x="26" y="32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on_loss_base"/>
          <p:cNvSpPr txBox="1"/>
          <p:nvPr/>
        </p:nvSpPr>
        <p:spPr>
          <a:xfrm>
            <a:off x="6030505" y="5743338"/>
            <a:ext cx="200412" cy="3031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23" b="0" i="1">
                <a:solidFill>
                  <a:srgbClr val="3263A1"/>
                </a:solidFill>
                <a:latin typeface="Latin Modern Math"/>
              </a:rPr>
              <a:t>ℒ</a:t>
            </a:r>
          </a:p>
        </p:txBody>
      </p:sp>
      <p:sp>
        <p:nvSpPr>
          <p:cNvPr id="210" name="recon_loss_sub"/>
          <p:cNvSpPr txBox="1"/>
          <p:nvPr/>
        </p:nvSpPr>
        <p:spPr>
          <a:xfrm>
            <a:off x="6178810" y="5866669"/>
            <a:ext cx="258994" cy="1490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13" b="0" i="1">
                <a:solidFill>
                  <a:srgbClr val="3263A1"/>
                </a:solidFill>
                <a:latin typeface="Liberation Serif"/>
              </a:rPr>
              <a:t>rec</a:t>
            </a:r>
          </a:p>
        </p:txBody>
      </p:sp>
      <p:sp>
        <p:nvSpPr>
          <p:cNvPr id="211" name="decoded_fmri_back"/>
          <p:cNvSpPr/>
          <p:nvPr/>
        </p:nvSpPr>
        <p:spPr>
          <a:xfrm>
            <a:off x="6583301" y="5368434"/>
            <a:ext cx="651717" cy="576072"/>
          </a:xfrm>
          <a:prstGeom prst="roundRect">
            <a:avLst>
              <a:gd name="adj" fmla="val 5247"/>
            </a:avLst>
          </a:prstGeom>
          <a:solidFill>
            <a:srgbClr val="C0B4BD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decoded_fmri_screen"/>
          <p:cNvSpPr/>
          <p:nvPr/>
        </p:nvSpPr>
        <p:spPr>
          <a:xfrm>
            <a:off x="6612396" y="5327702"/>
            <a:ext cx="651717" cy="576072"/>
          </a:xfrm>
          <a:prstGeom prst="roundRect">
            <a:avLst>
              <a:gd name="adj" fmla="val 6559"/>
            </a:avLst>
          </a:prstGeom>
          <a:solidFill>
            <a:srgbClr val="EAF4F6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decoded_fmri_inner"/>
          <p:cNvSpPr/>
          <p:nvPr/>
        </p:nvSpPr>
        <p:spPr>
          <a:xfrm>
            <a:off x="6670585" y="5385891"/>
            <a:ext cx="529520" cy="40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95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decoded_fmri_brain"/>
          <p:cNvSpPr/>
          <p:nvPr/>
        </p:nvSpPr>
        <p:spPr>
          <a:xfrm>
            <a:off x="6775325" y="5444080"/>
            <a:ext cx="314221" cy="290945"/>
          </a:xfrm>
          <a:prstGeom prst="ellipse">
            <a:avLst/>
          </a:prstGeom>
          <a:solidFill>
            <a:srgbClr val="F5B39C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5" name="decoded_fmri_brain_v"/>
          <p:cNvCxnSpPr/>
          <p:nvPr/>
        </p:nvCxnSpPr>
        <p:spPr>
          <a:xfrm>
            <a:off x="6932436" y="5455718"/>
            <a:ext cx="0" cy="26185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decoded_fmri_brain_h1"/>
          <p:cNvCxnSpPr/>
          <p:nvPr/>
        </p:nvCxnSpPr>
        <p:spPr>
          <a:xfrm>
            <a:off x="6810239" y="5548821"/>
            <a:ext cx="69827" cy="4655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decoded_fmri_brain_h2"/>
          <p:cNvCxnSpPr/>
          <p:nvPr/>
        </p:nvCxnSpPr>
        <p:spPr>
          <a:xfrm flipV="1">
            <a:off x="6990625" y="5513907"/>
            <a:ext cx="75646" cy="4073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decoded_fmri_brain_h3"/>
          <p:cNvCxnSpPr/>
          <p:nvPr/>
        </p:nvCxnSpPr>
        <p:spPr>
          <a:xfrm flipV="1">
            <a:off x="6821877" y="5618647"/>
            <a:ext cx="69826" cy="2909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decoded_fmri_brain_h4"/>
          <p:cNvCxnSpPr/>
          <p:nvPr/>
        </p:nvCxnSpPr>
        <p:spPr>
          <a:xfrm>
            <a:off x="6990625" y="5630285"/>
            <a:ext cx="75646" cy="5237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decoded_fmri_stand"/>
          <p:cNvSpPr/>
          <p:nvPr/>
        </p:nvSpPr>
        <p:spPr>
          <a:xfrm>
            <a:off x="6845152" y="5909593"/>
            <a:ext cx="180386" cy="69826"/>
          </a:xfrm>
          <a:prstGeom prst="roundRect">
            <a:avLst>
              <a:gd name="adj" fmla="val 10822"/>
            </a:avLst>
          </a:prstGeom>
          <a:solidFill>
            <a:srgbClr val="91868E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decoded_fmri_wave1"/>
          <p:cNvCxnSpPr/>
          <p:nvPr/>
        </p:nvCxnSpPr>
        <p:spPr>
          <a:xfrm>
            <a:off x="7264114" y="5607010"/>
            <a:ext cx="69826" cy="0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decoded_fmri_wave2"/>
          <p:cNvCxnSpPr/>
          <p:nvPr/>
        </p:nvCxnSpPr>
        <p:spPr>
          <a:xfrm flipV="1">
            <a:off x="7333940" y="5490631"/>
            <a:ext cx="34914" cy="116379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decoded_fmri_wave3"/>
          <p:cNvCxnSpPr/>
          <p:nvPr/>
        </p:nvCxnSpPr>
        <p:spPr>
          <a:xfrm>
            <a:off x="7368854" y="5490631"/>
            <a:ext cx="40732" cy="221119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decoded_fmri_wave4"/>
          <p:cNvCxnSpPr/>
          <p:nvPr/>
        </p:nvCxnSpPr>
        <p:spPr>
          <a:xfrm flipV="1">
            <a:off x="7409586" y="5607010"/>
            <a:ext cx="46552" cy="104740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decoded_fmri_wave5"/>
          <p:cNvCxnSpPr/>
          <p:nvPr/>
        </p:nvCxnSpPr>
        <p:spPr>
          <a:xfrm>
            <a:off x="7456138" y="5607010"/>
            <a:ext cx="52370" cy="0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decoded_fmri_label"/>
          <p:cNvSpPr txBox="1"/>
          <p:nvPr/>
        </p:nvSpPr>
        <p:spPr>
          <a:xfrm>
            <a:off x="6604839" y="6068290"/>
            <a:ext cx="906842" cy="3022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737373"/>
                </a:solidFill>
                <a:latin typeface="Liberation Serif"/>
              </a:rPr>
              <a:t>fMRI</a:t>
            </a:r>
          </a:p>
        </p:txBody>
      </p:sp>
      <p:sp>
        <p:nvSpPr>
          <p:cNvPr id="227" name="f_difference"/>
          <p:cNvSpPr/>
          <p:nvPr/>
        </p:nvSpPr>
        <p:spPr>
          <a:xfrm>
            <a:off x="11123940" y="1360264"/>
            <a:ext cx="181369" cy="2758314"/>
          </a:xfrm>
          <a:custGeom>
            <a:avLst/>
            <a:gdLst/>
            <a:ahLst/>
            <a:cxnLst/>
            <a:rect l="l" t="t" r="r" b="b"/>
            <a:pathLst>
              <a:path w="24" h="365">
                <a:moveTo>
                  <a:pt x="12" y="0"/>
                </a:moveTo>
                <a:lnTo>
                  <a:pt x="24" y="24"/>
                </a:lnTo>
                <a:lnTo>
                  <a:pt x="19" y="24"/>
                </a:lnTo>
                <a:lnTo>
                  <a:pt x="19" y="365"/>
                </a:lnTo>
                <a:lnTo>
                  <a:pt x="5" y="365"/>
                </a:lnTo>
                <a:lnTo>
                  <a:pt x="5" y="24"/>
                </a:lnTo>
                <a:lnTo>
                  <a:pt x="0" y="24"/>
                </a:lnTo>
                <a:close/>
              </a:path>
            </a:pathLst>
          </a:custGeom>
          <a:solidFill>
            <a:srgbClr val="C7C7C7"/>
          </a:solidFill>
          <a:ln w="13970">
            <a:solidFill>
              <a:srgbClr val="C7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_difference_symbol"/>
          <p:cNvSpPr/>
          <p:nvPr/>
        </p:nvSpPr>
        <p:spPr>
          <a:xfrm>
            <a:off x="11071040" y="1866585"/>
            <a:ext cx="287166" cy="287166"/>
          </a:xfrm>
          <a:prstGeom prst="ellipse">
            <a:avLst/>
          </a:prstGeom>
          <a:solidFill>
            <a:srgbClr val="FFFFFF"/>
          </a:solidFill>
          <a:ln w="34925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f_difference_bar"/>
          <p:cNvCxnSpPr/>
          <p:nvPr/>
        </p:nvCxnSpPr>
        <p:spPr>
          <a:xfrm>
            <a:off x="11078597" y="2010168"/>
            <a:ext cx="272053" cy="0"/>
          </a:xfrm>
          <a:prstGeom prst="line">
            <a:avLst/>
          </a:prstGeom>
          <a:ln w="34925">
            <a:solidFill>
              <a:srgbClr val="172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feature_f_front_0_shadow_0"/>
          <p:cNvSpPr/>
          <p:nvPr/>
        </p:nvSpPr>
        <p:spPr>
          <a:xfrm>
            <a:off x="10814102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eature_f_front_0_bar_0"/>
          <p:cNvSpPr/>
          <p:nvPr/>
        </p:nvSpPr>
        <p:spPr>
          <a:xfrm>
            <a:off x="10776317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feature_f_front_0_shine_0"/>
          <p:cNvCxnSpPr/>
          <p:nvPr/>
        </p:nvCxnSpPr>
        <p:spPr>
          <a:xfrm>
            <a:off x="10821658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feature_f_front_0_shadow_1"/>
          <p:cNvSpPr/>
          <p:nvPr/>
        </p:nvSpPr>
        <p:spPr>
          <a:xfrm>
            <a:off x="11003027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eature_f_front_0_bar_1"/>
          <p:cNvSpPr/>
          <p:nvPr/>
        </p:nvSpPr>
        <p:spPr>
          <a:xfrm>
            <a:off x="10965242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feature_f_front_0_shine_1"/>
          <p:cNvCxnSpPr/>
          <p:nvPr/>
        </p:nvCxnSpPr>
        <p:spPr>
          <a:xfrm>
            <a:off x="11010584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feature_f_front_0_shadow_2"/>
          <p:cNvSpPr/>
          <p:nvPr/>
        </p:nvSpPr>
        <p:spPr>
          <a:xfrm>
            <a:off x="11191953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eature_f_front_0_bar_2"/>
          <p:cNvSpPr/>
          <p:nvPr/>
        </p:nvSpPr>
        <p:spPr>
          <a:xfrm>
            <a:off x="11154168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feature_f_front_0_shine_2"/>
          <p:cNvCxnSpPr/>
          <p:nvPr/>
        </p:nvCxnSpPr>
        <p:spPr>
          <a:xfrm>
            <a:off x="11199510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feature_f_front_0_shadow_3"/>
          <p:cNvSpPr/>
          <p:nvPr/>
        </p:nvSpPr>
        <p:spPr>
          <a:xfrm>
            <a:off x="11380879" y="85394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eature_f_front_0_bar_3"/>
          <p:cNvSpPr/>
          <p:nvPr/>
        </p:nvSpPr>
        <p:spPr>
          <a:xfrm>
            <a:off x="11343094" y="81615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feature_f_front_0_shine_3"/>
          <p:cNvCxnSpPr/>
          <p:nvPr/>
        </p:nvCxnSpPr>
        <p:spPr>
          <a:xfrm>
            <a:off x="11388435" y="87661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feature_f_label_front_0"/>
          <p:cNvSpPr txBox="1"/>
          <p:nvPr/>
        </p:nvSpPr>
        <p:spPr>
          <a:xfrm>
            <a:off x="10504263" y="1428277"/>
            <a:ext cx="891728" cy="4156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000000"/>
                </a:solidFill>
                <a:latin typeface="Liberation Serif"/>
              </a:rPr>
              <a:t>Fᵢ</a:t>
            </a:r>
          </a:p>
        </p:txBody>
      </p:sp>
      <p:sp>
        <p:nvSpPr>
          <p:cNvPr id="243" name="feature_f_front_1_shadow_0"/>
          <p:cNvSpPr/>
          <p:nvPr/>
        </p:nvSpPr>
        <p:spPr>
          <a:xfrm>
            <a:off x="10814102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eature_f_front_1_bar_0"/>
          <p:cNvSpPr/>
          <p:nvPr/>
        </p:nvSpPr>
        <p:spPr>
          <a:xfrm>
            <a:off x="10776317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feature_f_front_1_shine_0"/>
          <p:cNvCxnSpPr/>
          <p:nvPr/>
        </p:nvCxnSpPr>
        <p:spPr>
          <a:xfrm>
            <a:off x="10821658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feature_f_front_1_shadow_1"/>
          <p:cNvSpPr/>
          <p:nvPr/>
        </p:nvSpPr>
        <p:spPr>
          <a:xfrm>
            <a:off x="11003027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eature_f_front_1_bar_1"/>
          <p:cNvSpPr/>
          <p:nvPr/>
        </p:nvSpPr>
        <p:spPr>
          <a:xfrm>
            <a:off x="10965242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feature_f_front_1_shine_1"/>
          <p:cNvCxnSpPr/>
          <p:nvPr/>
        </p:nvCxnSpPr>
        <p:spPr>
          <a:xfrm>
            <a:off x="11010584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feature_f_front_1_shadow_2"/>
          <p:cNvSpPr/>
          <p:nvPr/>
        </p:nvSpPr>
        <p:spPr>
          <a:xfrm>
            <a:off x="11191953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eature_f_front_1_bar_2"/>
          <p:cNvSpPr/>
          <p:nvPr/>
        </p:nvSpPr>
        <p:spPr>
          <a:xfrm>
            <a:off x="11154168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feature_f_front_1_shine_2"/>
          <p:cNvCxnSpPr/>
          <p:nvPr/>
        </p:nvCxnSpPr>
        <p:spPr>
          <a:xfrm>
            <a:off x="11199510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feature_f_front_1_shadow_3"/>
          <p:cNvSpPr/>
          <p:nvPr/>
        </p:nvSpPr>
        <p:spPr>
          <a:xfrm>
            <a:off x="11380879" y="247870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eature_f_front_1_bar_3"/>
          <p:cNvSpPr/>
          <p:nvPr/>
        </p:nvSpPr>
        <p:spPr>
          <a:xfrm>
            <a:off x="11343094" y="244091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feature_f_front_1_shine_3"/>
          <p:cNvCxnSpPr/>
          <p:nvPr/>
        </p:nvCxnSpPr>
        <p:spPr>
          <a:xfrm>
            <a:off x="11388435" y="2501375"/>
            <a:ext cx="0" cy="536548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feature_f_label_front_1"/>
          <p:cNvSpPr txBox="1"/>
          <p:nvPr/>
        </p:nvSpPr>
        <p:spPr>
          <a:xfrm>
            <a:off x="10504263" y="3053038"/>
            <a:ext cx="891728" cy="4156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000000"/>
                </a:solidFill>
                <a:latin typeface="Liberation Serif"/>
              </a:rPr>
              <a:t>Fₛ</a:t>
            </a:r>
          </a:p>
        </p:txBody>
      </p:sp>
      <p:sp>
        <p:nvSpPr>
          <p:cNvPr id="256" name="feature_f_front_2_shadow_0"/>
          <p:cNvSpPr/>
          <p:nvPr/>
        </p:nvSpPr>
        <p:spPr>
          <a:xfrm>
            <a:off x="10814102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eature_f_front_2_bar_0"/>
          <p:cNvSpPr/>
          <p:nvPr/>
        </p:nvSpPr>
        <p:spPr>
          <a:xfrm>
            <a:off x="10776317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feature_f_front_2_shine_0"/>
          <p:cNvCxnSpPr/>
          <p:nvPr/>
        </p:nvCxnSpPr>
        <p:spPr>
          <a:xfrm>
            <a:off x="10821658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feature_f_front_2_shadow_1"/>
          <p:cNvSpPr/>
          <p:nvPr/>
        </p:nvSpPr>
        <p:spPr>
          <a:xfrm>
            <a:off x="11003027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eature_f_front_2_bar_1"/>
          <p:cNvSpPr/>
          <p:nvPr/>
        </p:nvSpPr>
        <p:spPr>
          <a:xfrm>
            <a:off x="10965242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feature_f_front_2_shine_1"/>
          <p:cNvCxnSpPr/>
          <p:nvPr/>
        </p:nvCxnSpPr>
        <p:spPr>
          <a:xfrm>
            <a:off x="11010584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feature_f_front_2_shadow_2"/>
          <p:cNvSpPr/>
          <p:nvPr/>
        </p:nvSpPr>
        <p:spPr>
          <a:xfrm>
            <a:off x="11191953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eature_f_front_2_bar_2"/>
          <p:cNvSpPr/>
          <p:nvPr/>
        </p:nvSpPr>
        <p:spPr>
          <a:xfrm>
            <a:off x="11154168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feature_f_front_2_shine_2"/>
          <p:cNvCxnSpPr/>
          <p:nvPr/>
        </p:nvCxnSpPr>
        <p:spPr>
          <a:xfrm>
            <a:off x="11199510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feature_f_front_2_shadow_3"/>
          <p:cNvSpPr/>
          <p:nvPr/>
        </p:nvSpPr>
        <p:spPr>
          <a:xfrm>
            <a:off x="11380879" y="4156364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0"/>
                </a:moveTo>
                <a:lnTo>
                  <a:pt x="18" y="0"/>
                </a:lnTo>
                <a:lnTo>
                  <a:pt x="18" y="84"/>
                </a:lnTo>
                <a:lnTo>
                  <a:pt x="0" y="84"/>
                </a:lnTo>
                <a:close/>
              </a:path>
            </a:pathLst>
          </a:custGeom>
          <a:solidFill>
            <a:srgbClr val="CBD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eature_f_front_2_bar_3"/>
          <p:cNvSpPr/>
          <p:nvPr/>
        </p:nvSpPr>
        <p:spPr>
          <a:xfrm>
            <a:off x="11343094" y="4118579"/>
            <a:ext cx="136026" cy="634790"/>
          </a:xfrm>
          <a:custGeom>
            <a:avLst/>
            <a:gdLst/>
            <a:ahLst/>
            <a:cxnLst/>
            <a:rect l="l" t="t" r="r" b="b"/>
            <a:pathLst>
              <a:path w="18" h="84">
                <a:moveTo>
                  <a:pt x="0" y="8"/>
                </a:moveTo>
                <a:lnTo>
                  <a:pt x="7" y="0"/>
                </a:lnTo>
                <a:lnTo>
                  <a:pt x="18" y="0"/>
                </a:lnTo>
                <a:lnTo>
                  <a:pt x="18" y="76"/>
                </a:lnTo>
                <a:lnTo>
                  <a:pt x="11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feature_f_front_2_shine_3"/>
          <p:cNvCxnSpPr/>
          <p:nvPr/>
        </p:nvCxnSpPr>
        <p:spPr>
          <a:xfrm>
            <a:off x="11388435" y="4179034"/>
            <a:ext cx="0" cy="536549"/>
          </a:xfrm>
          <a:prstGeom prst="line">
            <a:avLst/>
          </a:prstGeom>
          <a:ln w="13970">
            <a:solidFill>
              <a:srgbClr val="EAF1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feature_f_label_front_2"/>
          <p:cNvSpPr txBox="1"/>
          <p:nvPr/>
        </p:nvSpPr>
        <p:spPr>
          <a:xfrm>
            <a:off x="10504263" y="4730697"/>
            <a:ext cx="891728" cy="4156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1" i="1">
                <a:solidFill>
                  <a:srgbClr val="000000"/>
                </a:solidFill>
                <a:latin typeface="Liberation Serif"/>
              </a:rPr>
              <a:t>F</a:t>
            </a:r>
          </a:p>
        </p:txBody>
      </p:sp>
      <p:sp>
        <p:nvSpPr>
          <p:cNvPr id="269" name="semantic_questions"/>
          <p:cNvSpPr txBox="1"/>
          <p:nvPr/>
        </p:nvSpPr>
        <p:spPr>
          <a:xfrm>
            <a:off x="12846941" y="1133553"/>
            <a:ext cx="1133553" cy="5289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796" b="1" i="0">
                <a:solidFill>
                  <a:srgbClr val="000000"/>
                </a:solidFill>
                <a:latin typeface="Liberation Serif"/>
              </a:rPr>
              <a:t>?  ?  ?</a:t>
            </a:r>
          </a:p>
        </p:txBody>
      </p:sp>
      <p:sp>
        <p:nvSpPr>
          <p:cNvPr id="270" name="semantic_question_focus"/>
          <p:cNvSpPr txBox="1"/>
          <p:nvPr/>
        </p:nvSpPr>
        <p:spPr>
          <a:xfrm>
            <a:off x="13164336" y="1042869"/>
            <a:ext cx="415636" cy="5289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094" b="1" i="0">
                <a:solidFill>
                  <a:srgbClr val="E85B7C"/>
                </a:solidFill>
                <a:latin typeface="Liberation Serif"/>
              </a:rPr>
              <a:t>?</a:t>
            </a:r>
          </a:p>
        </p:txBody>
      </p:sp>
      <p:sp>
        <p:nvSpPr>
          <p:cNvPr id="271" name="semantic_dog_head"/>
          <p:cNvSpPr/>
          <p:nvPr/>
        </p:nvSpPr>
        <p:spPr>
          <a:xfrm>
            <a:off x="12801599" y="1775900"/>
            <a:ext cx="241824" cy="272052"/>
          </a:xfrm>
          <a:prstGeom prst="ellipse">
            <a:avLst/>
          </a:prstGeom>
          <a:solidFill>
            <a:srgbClr val="D68A52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emantic_dog_ears"/>
          <p:cNvSpPr/>
          <p:nvPr/>
        </p:nvSpPr>
        <p:spPr>
          <a:xfrm>
            <a:off x="12748700" y="1798572"/>
            <a:ext cx="324952" cy="158698"/>
          </a:xfrm>
          <a:custGeom>
            <a:avLst/>
            <a:gdLst/>
            <a:ahLst/>
            <a:cxnLst/>
            <a:rect l="l" t="t" r="r" b="b"/>
            <a:pathLst>
              <a:path w="43" h="21">
                <a:moveTo>
                  <a:pt x="12" y="4"/>
                </a:moveTo>
                <a:lnTo>
                  <a:pt x="0" y="0"/>
                </a:lnTo>
                <a:lnTo>
                  <a:pt x="7" y="21"/>
                </a:lnTo>
                <a:lnTo>
                  <a:pt x="15" y="12"/>
                </a:lnTo>
                <a:lnTo>
                  <a:pt x="32" y="4"/>
                </a:lnTo>
                <a:lnTo>
                  <a:pt x="43" y="0"/>
                </a:lnTo>
                <a:lnTo>
                  <a:pt x="38" y="21"/>
                </a:lnTo>
                <a:lnTo>
                  <a:pt x="30" y="12"/>
                </a:lnTo>
                <a:close/>
              </a:path>
            </a:pathLst>
          </a:custGeom>
          <a:solidFill>
            <a:srgbClr val="D68A52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emantic_human_head"/>
          <p:cNvSpPr/>
          <p:nvPr/>
        </p:nvSpPr>
        <p:spPr>
          <a:xfrm>
            <a:off x="13232349" y="1768343"/>
            <a:ext cx="211596" cy="256938"/>
          </a:xfrm>
          <a:prstGeom prst="ellipse">
            <a:avLst/>
          </a:prstGeom>
          <a:solidFill>
            <a:srgbClr val="F2B899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emantic_human_body"/>
          <p:cNvSpPr/>
          <p:nvPr/>
        </p:nvSpPr>
        <p:spPr>
          <a:xfrm>
            <a:off x="13187007" y="1957269"/>
            <a:ext cx="302281" cy="249382"/>
          </a:xfrm>
          <a:custGeom>
            <a:avLst/>
            <a:gdLst/>
            <a:ahLst/>
            <a:cxnLst/>
            <a:rect l="l" t="t" r="r" b="b"/>
            <a:pathLst>
              <a:path w="40" h="33">
                <a:moveTo>
                  <a:pt x="0" y="33"/>
                </a:moveTo>
                <a:lnTo>
                  <a:pt x="5" y="8"/>
                </a:lnTo>
                <a:lnTo>
                  <a:pt x="20" y="0"/>
                </a:lnTo>
                <a:lnTo>
                  <a:pt x="35" y="8"/>
                </a:lnTo>
                <a:lnTo>
                  <a:pt x="40" y="33"/>
                </a:lnTo>
                <a:close/>
              </a:path>
            </a:pathLst>
          </a:custGeom>
          <a:solidFill>
            <a:srgbClr val="D9794C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emantic_cat_head"/>
          <p:cNvSpPr/>
          <p:nvPr/>
        </p:nvSpPr>
        <p:spPr>
          <a:xfrm>
            <a:off x="13557301" y="1783457"/>
            <a:ext cx="241824" cy="256938"/>
          </a:xfrm>
          <a:prstGeom prst="ellipse">
            <a:avLst/>
          </a:prstGeom>
          <a:solidFill>
            <a:srgbClr val="CEDDE0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emantic_cat_ears"/>
          <p:cNvSpPr/>
          <p:nvPr/>
        </p:nvSpPr>
        <p:spPr>
          <a:xfrm>
            <a:off x="13579973" y="1738116"/>
            <a:ext cx="196483" cy="105798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11"/>
                </a:moveTo>
                <a:lnTo>
                  <a:pt x="1" y="0"/>
                </a:lnTo>
                <a:lnTo>
                  <a:pt x="9" y="9"/>
                </a:lnTo>
                <a:lnTo>
                  <a:pt x="18" y="9"/>
                </a:lnTo>
                <a:lnTo>
                  <a:pt x="26" y="0"/>
                </a:lnTo>
                <a:lnTo>
                  <a:pt x="26" y="14"/>
                </a:lnTo>
                <a:close/>
              </a:path>
            </a:pathLst>
          </a:custGeom>
          <a:solidFill>
            <a:srgbClr val="CEDDE0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emantic_label"/>
          <p:cNvSpPr txBox="1"/>
          <p:nvPr/>
        </p:nvSpPr>
        <p:spPr>
          <a:xfrm>
            <a:off x="12650458" y="2206651"/>
            <a:ext cx="1435834" cy="37785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63" b="1" i="1">
                <a:solidFill>
                  <a:srgbClr val="000000"/>
                </a:solidFill>
                <a:latin typeface="Liberation Serif"/>
              </a:rPr>
              <a:t>Semantic</a:t>
            </a:r>
          </a:p>
        </p:txBody>
      </p:sp>
      <p:sp>
        <p:nvSpPr>
          <p:cNvPr id="278" name="semantic_inv_arrow"/>
          <p:cNvSpPr/>
          <p:nvPr/>
        </p:nvSpPr>
        <p:spPr>
          <a:xfrm>
            <a:off x="12053454" y="1375379"/>
            <a:ext cx="657461" cy="226711"/>
          </a:xfrm>
          <a:custGeom>
            <a:avLst/>
            <a:gdLst/>
            <a:ahLst/>
            <a:cxnLst/>
            <a:rect l="l" t="t" r="r" b="b"/>
            <a:pathLst>
              <a:path w="87" h="30">
                <a:moveTo>
                  <a:pt x="0" y="15"/>
                </a:moveTo>
                <a:lnTo>
                  <a:pt x="25" y="0"/>
                </a:lnTo>
                <a:lnTo>
                  <a:pt x="25" y="7"/>
                </a:lnTo>
                <a:lnTo>
                  <a:pt x="62" y="7"/>
                </a:lnTo>
                <a:lnTo>
                  <a:pt x="62" y="0"/>
                </a:lnTo>
                <a:lnTo>
                  <a:pt x="87" y="15"/>
                </a:lnTo>
                <a:lnTo>
                  <a:pt x="62" y="30"/>
                </a:lnTo>
                <a:lnTo>
                  <a:pt x="62" y="23"/>
                </a:lnTo>
                <a:lnTo>
                  <a:pt x="25" y="23"/>
                </a:lnTo>
                <a:lnTo>
                  <a:pt x="25" y="30"/>
                </a:lnTo>
                <a:close/>
              </a:path>
            </a:pathLst>
          </a:custGeom>
          <a:solidFill>
            <a:srgbClr val="FFE7A7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emantic_spe_arrow"/>
          <p:cNvSpPr/>
          <p:nvPr/>
        </p:nvSpPr>
        <p:spPr>
          <a:xfrm>
            <a:off x="12053454" y="2372906"/>
            <a:ext cx="657461" cy="226711"/>
          </a:xfrm>
          <a:custGeom>
            <a:avLst/>
            <a:gdLst/>
            <a:ahLst/>
            <a:cxnLst/>
            <a:rect l="l" t="t" r="r" b="b"/>
            <a:pathLst>
              <a:path w="87" h="30">
                <a:moveTo>
                  <a:pt x="0" y="15"/>
                </a:moveTo>
                <a:lnTo>
                  <a:pt x="25" y="0"/>
                </a:lnTo>
                <a:lnTo>
                  <a:pt x="25" y="7"/>
                </a:lnTo>
                <a:lnTo>
                  <a:pt x="62" y="7"/>
                </a:lnTo>
                <a:lnTo>
                  <a:pt x="62" y="0"/>
                </a:lnTo>
                <a:lnTo>
                  <a:pt x="87" y="15"/>
                </a:lnTo>
                <a:lnTo>
                  <a:pt x="62" y="30"/>
                </a:lnTo>
                <a:lnTo>
                  <a:pt x="62" y="23"/>
                </a:lnTo>
                <a:lnTo>
                  <a:pt x="25" y="23"/>
                </a:lnTo>
                <a:lnTo>
                  <a:pt x="25" y="30"/>
                </a:lnTo>
                <a:close/>
              </a:path>
            </a:pathLst>
          </a:custGeom>
          <a:solidFill>
            <a:srgbClr val="FFE7A7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loss_inv_base"/>
          <p:cNvSpPr txBox="1"/>
          <p:nvPr/>
        </p:nvSpPr>
        <p:spPr>
          <a:xfrm>
            <a:off x="12280164" y="665018"/>
            <a:ext cx="241673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E4A900"/>
                </a:solidFill>
                <a:latin typeface="Latin Modern Math"/>
              </a:rPr>
              <a:t>ℒ</a:t>
            </a:r>
          </a:p>
        </p:txBody>
      </p:sp>
      <p:sp>
        <p:nvSpPr>
          <p:cNvPr id="281" name="loss_inv_sup"/>
          <p:cNvSpPr txBox="1"/>
          <p:nvPr/>
        </p:nvSpPr>
        <p:spPr>
          <a:xfrm>
            <a:off x="12459003" y="649526"/>
            <a:ext cx="312316" cy="1797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1">
                <a:solidFill>
                  <a:srgbClr val="E4A900"/>
                </a:solidFill>
                <a:latin typeface="Liberation Serif"/>
              </a:rPr>
              <a:t>F</a:t>
            </a:r>
          </a:p>
        </p:txBody>
      </p:sp>
      <p:sp>
        <p:nvSpPr>
          <p:cNvPr id="282" name="loss_inv_sub"/>
          <p:cNvSpPr txBox="1"/>
          <p:nvPr/>
        </p:nvSpPr>
        <p:spPr>
          <a:xfrm>
            <a:off x="12459003" y="813740"/>
            <a:ext cx="312316" cy="1797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1">
                <a:solidFill>
                  <a:srgbClr val="E4A900"/>
                </a:solidFill>
                <a:latin typeface="Liberation Serif"/>
              </a:rPr>
              <a:t>inv</a:t>
            </a:r>
          </a:p>
        </p:txBody>
      </p:sp>
      <p:sp>
        <p:nvSpPr>
          <p:cNvPr id="283" name="loss_spe_base"/>
          <p:cNvSpPr txBox="1"/>
          <p:nvPr/>
        </p:nvSpPr>
        <p:spPr>
          <a:xfrm>
            <a:off x="12280164" y="2637401"/>
            <a:ext cx="241673" cy="36560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39" b="0" i="1">
                <a:solidFill>
                  <a:srgbClr val="E4A900"/>
                </a:solidFill>
                <a:latin typeface="Latin Modern Math"/>
              </a:rPr>
              <a:t>ℒ</a:t>
            </a:r>
          </a:p>
        </p:txBody>
      </p:sp>
      <p:sp>
        <p:nvSpPr>
          <p:cNvPr id="284" name="loss_spe_sup"/>
          <p:cNvSpPr txBox="1"/>
          <p:nvPr/>
        </p:nvSpPr>
        <p:spPr>
          <a:xfrm>
            <a:off x="12459003" y="2621909"/>
            <a:ext cx="312316" cy="1797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1">
                <a:solidFill>
                  <a:srgbClr val="E4A900"/>
                </a:solidFill>
                <a:latin typeface="Liberation Serif"/>
              </a:rPr>
              <a:t>F</a:t>
            </a:r>
          </a:p>
        </p:txBody>
      </p:sp>
      <p:sp>
        <p:nvSpPr>
          <p:cNvPr id="285" name="loss_spe_sub"/>
          <p:cNvSpPr txBox="1"/>
          <p:nvPr/>
        </p:nvSpPr>
        <p:spPr>
          <a:xfrm>
            <a:off x="12459003" y="2786123"/>
            <a:ext cx="312316" cy="1797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1">
                <a:solidFill>
                  <a:srgbClr val="E4A900"/>
                </a:solidFill>
                <a:latin typeface="Liberation Serif"/>
              </a:rPr>
              <a:t>spe</a:t>
            </a:r>
          </a:p>
        </p:txBody>
      </p:sp>
      <p:sp>
        <p:nvSpPr>
          <p:cNvPr id="286" name="prior_flow"/>
          <p:cNvSpPr/>
          <p:nvPr/>
        </p:nvSpPr>
        <p:spPr>
          <a:xfrm>
            <a:off x="11380879" y="3158836"/>
            <a:ext cx="733031" cy="808602"/>
          </a:xfrm>
          <a:custGeom>
            <a:avLst/>
            <a:gdLst/>
            <a:ahLst/>
            <a:cxnLst/>
            <a:rect l="l" t="t" r="r" b="b"/>
            <a:pathLst>
              <a:path w="97" h="107">
                <a:moveTo>
                  <a:pt x="0" y="0"/>
                </a:moveTo>
                <a:lnTo>
                  <a:pt x="15" y="0"/>
                </a:lnTo>
                <a:lnTo>
                  <a:pt x="15" y="50"/>
                </a:lnTo>
                <a:lnTo>
                  <a:pt x="58" y="50"/>
                </a:lnTo>
                <a:lnTo>
                  <a:pt x="58" y="31"/>
                </a:lnTo>
                <a:lnTo>
                  <a:pt x="97" y="69"/>
                </a:lnTo>
                <a:lnTo>
                  <a:pt x="58" y="107"/>
                </a:lnTo>
                <a:lnTo>
                  <a:pt x="58" y="88"/>
                </a:lnTo>
                <a:lnTo>
                  <a:pt x="30" y="88"/>
                </a:lnTo>
                <a:lnTo>
                  <a:pt x="12" y="71"/>
                </a:lnTo>
                <a:lnTo>
                  <a:pt x="0" y="55"/>
                </a:lnTo>
                <a:close/>
              </a:path>
            </a:pathLst>
          </a:custGeom>
          <a:solidFill>
            <a:srgbClr val="F4A37E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prior_box"/>
          <p:cNvSpPr/>
          <p:nvPr/>
        </p:nvSpPr>
        <p:spPr>
          <a:xfrm>
            <a:off x="12204594" y="3506459"/>
            <a:ext cx="1624760" cy="528991"/>
          </a:xfrm>
          <a:prstGeom prst="roundRect">
            <a:avLst>
              <a:gd name="adj" fmla="val 17142"/>
            </a:avLst>
          </a:prstGeom>
          <a:solidFill>
            <a:srgbClr val="FFF0E8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prior_node_0"/>
          <p:cNvSpPr/>
          <p:nvPr/>
        </p:nvSpPr>
        <p:spPr>
          <a:xfrm>
            <a:off x="12348177" y="3634928"/>
            <a:ext cx="272052" cy="272052"/>
          </a:xfrm>
          <a:prstGeom prst="ellipse">
            <a:avLst/>
          </a:pr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prior_node_1"/>
          <p:cNvSpPr/>
          <p:nvPr/>
        </p:nvSpPr>
        <p:spPr>
          <a:xfrm>
            <a:off x="12877169" y="3634928"/>
            <a:ext cx="272052" cy="272052"/>
          </a:xfrm>
          <a:prstGeom prst="ellipse">
            <a:avLst/>
          </a:prstGeom>
          <a:solidFill>
            <a:srgbClr val="F6B38B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prior_node_2"/>
          <p:cNvSpPr/>
          <p:nvPr/>
        </p:nvSpPr>
        <p:spPr>
          <a:xfrm>
            <a:off x="13406161" y="3634928"/>
            <a:ext cx="272052" cy="272052"/>
          </a:xfrm>
          <a:prstGeom prst="ellipse">
            <a:avLst/>
          </a:prstGeom>
          <a:solidFill>
            <a:srgbClr val="F77A24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prior_link_1"/>
          <p:cNvSpPr/>
          <p:nvPr/>
        </p:nvSpPr>
        <p:spPr>
          <a:xfrm>
            <a:off x="12627788" y="3702942"/>
            <a:ext cx="234268" cy="136026"/>
          </a:xfrm>
          <a:custGeom>
            <a:avLst/>
            <a:gdLst/>
            <a:ahLst/>
            <a:cxnLst/>
            <a:rect l="l" t="t" r="r" b="b"/>
            <a:pathLst>
              <a:path w="31" h="18">
                <a:moveTo>
                  <a:pt x="0" y="4"/>
                </a:moveTo>
                <a:lnTo>
                  <a:pt x="13" y="4"/>
                </a:lnTo>
                <a:lnTo>
                  <a:pt x="13" y="0"/>
                </a:lnTo>
                <a:lnTo>
                  <a:pt x="31" y="9"/>
                </a:lnTo>
                <a:lnTo>
                  <a:pt x="13" y="18"/>
                </a:lnTo>
                <a:lnTo>
                  <a:pt x="1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F4A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prior_link_2"/>
          <p:cNvSpPr/>
          <p:nvPr/>
        </p:nvSpPr>
        <p:spPr>
          <a:xfrm>
            <a:off x="13156779" y="3702942"/>
            <a:ext cx="234268" cy="136026"/>
          </a:xfrm>
          <a:custGeom>
            <a:avLst/>
            <a:gdLst/>
            <a:ahLst/>
            <a:cxnLst/>
            <a:rect l="l" t="t" r="r" b="b"/>
            <a:pathLst>
              <a:path w="31" h="18">
                <a:moveTo>
                  <a:pt x="0" y="4"/>
                </a:moveTo>
                <a:lnTo>
                  <a:pt x="13" y="4"/>
                </a:lnTo>
                <a:lnTo>
                  <a:pt x="13" y="0"/>
                </a:lnTo>
                <a:lnTo>
                  <a:pt x="31" y="9"/>
                </a:lnTo>
                <a:lnTo>
                  <a:pt x="13" y="18"/>
                </a:lnTo>
                <a:lnTo>
                  <a:pt x="1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F7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prior_loss_base"/>
          <p:cNvSpPr txBox="1"/>
          <p:nvPr/>
        </p:nvSpPr>
        <p:spPr>
          <a:xfrm>
            <a:off x="12582445" y="4027894"/>
            <a:ext cx="235779" cy="356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80" b="0" i="1">
                <a:solidFill>
                  <a:srgbClr val="F77A24"/>
                </a:solidFill>
                <a:latin typeface="Latin Modern Math"/>
              </a:rPr>
              <a:t>ℒ</a:t>
            </a:r>
          </a:p>
        </p:txBody>
      </p:sp>
      <p:sp>
        <p:nvSpPr>
          <p:cNvPr id="294" name="prior_loss_sub"/>
          <p:cNvSpPr txBox="1"/>
          <p:nvPr/>
        </p:nvSpPr>
        <p:spPr>
          <a:xfrm>
            <a:off x="12756922" y="4172989"/>
            <a:ext cx="507832" cy="17532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1">
                <a:solidFill>
                  <a:srgbClr val="F77A24"/>
                </a:solidFill>
                <a:latin typeface="Liberation Serif"/>
              </a:rPr>
              <a:t>prior</a:t>
            </a:r>
          </a:p>
        </p:txBody>
      </p:sp>
      <p:sp>
        <p:nvSpPr>
          <p:cNvPr id="295" name="prior_to_images"/>
          <p:cNvSpPr/>
          <p:nvPr/>
        </p:nvSpPr>
        <p:spPr>
          <a:xfrm>
            <a:off x="13436389" y="4080793"/>
            <a:ext cx="241825" cy="528992"/>
          </a:xfrm>
          <a:custGeom>
            <a:avLst/>
            <a:gdLst/>
            <a:ahLst/>
            <a:cxnLst/>
            <a:rect l="l" t="t" r="r" b="b"/>
            <a:pathLst>
              <a:path w="32" h="70">
                <a:moveTo>
                  <a:pt x="16" y="0"/>
                </a:moveTo>
                <a:lnTo>
                  <a:pt x="32" y="25"/>
                </a:lnTo>
                <a:lnTo>
                  <a:pt x="25" y="25"/>
                </a:lnTo>
                <a:lnTo>
                  <a:pt x="25" y="45"/>
                </a:lnTo>
                <a:lnTo>
                  <a:pt x="32" y="45"/>
                </a:lnTo>
                <a:lnTo>
                  <a:pt x="16" y="70"/>
                </a:lnTo>
                <a:lnTo>
                  <a:pt x="0" y="45"/>
                </a:lnTo>
                <a:lnTo>
                  <a:pt x="7" y="45"/>
                </a:lnTo>
                <a:lnTo>
                  <a:pt x="7" y="25"/>
                </a:lnTo>
                <a:lnTo>
                  <a:pt x="0" y="25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visual_stimuli_18_-22"/>
          <p:cNvSpPr/>
          <p:nvPr/>
        </p:nvSpPr>
        <p:spPr>
          <a:xfrm>
            <a:off x="13035866" y="4692912"/>
            <a:ext cx="891728" cy="627233"/>
          </a:xfrm>
          <a:prstGeom prst="roundRect">
            <a:avLst>
              <a:gd name="adj" fmla="val 6024"/>
            </a:avLst>
          </a:prstGeom>
          <a:solidFill>
            <a:srgbClr val="FFE0B2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visual_stimuli_8_-10"/>
          <p:cNvSpPr/>
          <p:nvPr/>
        </p:nvSpPr>
        <p:spPr>
          <a:xfrm>
            <a:off x="12960296" y="4783596"/>
            <a:ext cx="891728" cy="627233"/>
          </a:xfrm>
          <a:prstGeom prst="roundRect">
            <a:avLst>
              <a:gd name="adj" fmla="val 6024"/>
            </a:avLst>
          </a:prstGeom>
          <a:solidFill>
            <a:srgbClr val="75C7DB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visual_stimuli_0_0"/>
          <p:cNvSpPr/>
          <p:nvPr/>
        </p:nvSpPr>
        <p:spPr>
          <a:xfrm>
            <a:off x="12899840" y="4859166"/>
            <a:ext cx="891728" cy="627233"/>
          </a:xfrm>
          <a:prstGeom prst="roundRect">
            <a:avLst>
              <a:gd name="adj" fmla="val 6024"/>
            </a:avLst>
          </a:prstGeom>
          <a:solidFill>
            <a:srgbClr val="D9EEF2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visual_stimuli_mountain1"/>
          <p:cNvSpPr/>
          <p:nvPr/>
        </p:nvSpPr>
        <p:spPr>
          <a:xfrm>
            <a:off x="12937626" y="5161448"/>
            <a:ext cx="423193" cy="241825"/>
          </a:xfrm>
          <a:custGeom>
            <a:avLst/>
            <a:gdLst/>
            <a:ahLst/>
            <a:cxnLst/>
            <a:rect l="l" t="t" r="r" b="b"/>
            <a:pathLst>
              <a:path w="56" h="32">
                <a:moveTo>
                  <a:pt x="0" y="32"/>
                </a:moveTo>
                <a:lnTo>
                  <a:pt x="30" y="0"/>
                </a:lnTo>
                <a:lnTo>
                  <a:pt x="56" y="32"/>
                </a:lnTo>
                <a:close/>
              </a:path>
            </a:pathLst>
          </a:custGeom>
          <a:solidFill>
            <a:srgbClr val="6E9845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visual_stimuli_mountain2"/>
          <p:cNvSpPr/>
          <p:nvPr/>
        </p:nvSpPr>
        <p:spPr>
          <a:xfrm>
            <a:off x="13255021" y="5085878"/>
            <a:ext cx="491207" cy="317395"/>
          </a:xfrm>
          <a:custGeom>
            <a:avLst/>
            <a:gdLst/>
            <a:ahLst/>
            <a:cxnLst/>
            <a:rect l="l" t="t" r="r" b="b"/>
            <a:pathLst>
              <a:path w="65" h="42">
                <a:moveTo>
                  <a:pt x="0" y="42"/>
                </a:moveTo>
                <a:lnTo>
                  <a:pt x="34" y="0"/>
                </a:lnTo>
                <a:lnTo>
                  <a:pt x="65" y="42"/>
                </a:lnTo>
                <a:close/>
              </a:path>
            </a:pathLst>
          </a:custGeom>
          <a:solidFill>
            <a:srgbClr val="9FC65D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visual_stimuli_sun"/>
          <p:cNvSpPr/>
          <p:nvPr/>
        </p:nvSpPr>
        <p:spPr>
          <a:xfrm>
            <a:off x="13307919" y="4972522"/>
            <a:ext cx="120912" cy="120912"/>
          </a:xfrm>
          <a:prstGeom prst="ellipse">
            <a:avLst/>
          </a:prstGeom>
          <a:solidFill>
            <a:srgbClr val="FED966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visual_stimuli_label"/>
          <p:cNvSpPr txBox="1"/>
          <p:nvPr/>
        </p:nvSpPr>
        <p:spPr>
          <a:xfrm>
            <a:off x="12340620" y="5743338"/>
            <a:ext cx="1798571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23" b="1" i="0">
                <a:solidFill>
                  <a:srgbClr val="737373"/>
                </a:solidFill>
                <a:latin typeface="Liberation Serif"/>
              </a:rPr>
              <a:t>Visual Stimuli</a:t>
            </a:r>
          </a:p>
        </p:txBody>
      </p:sp>
      <p:cxnSp>
        <p:nvCxnSpPr>
          <p:cNvPr id="303" name="legend_link_0"/>
          <p:cNvCxnSpPr/>
          <p:nvPr/>
        </p:nvCxnSpPr>
        <p:spPr>
          <a:xfrm flipV="1">
            <a:off x="10186868" y="5116105"/>
            <a:ext cx="581891" cy="60456"/>
          </a:xfrm>
          <a:prstGeom prst="line">
            <a:avLst/>
          </a:prstGeom>
          <a:ln w="349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legend_link_1"/>
          <p:cNvCxnSpPr/>
          <p:nvPr/>
        </p:nvCxnSpPr>
        <p:spPr>
          <a:xfrm flipV="1">
            <a:off x="10368237" y="5116105"/>
            <a:ext cx="400522" cy="491207"/>
          </a:xfrm>
          <a:prstGeom prst="line">
            <a:avLst/>
          </a:prstGeom>
          <a:ln w="349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legend_link_2"/>
          <p:cNvCxnSpPr/>
          <p:nvPr/>
        </p:nvCxnSpPr>
        <p:spPr>
          <a:xfrm>
            <a:off x="10186868" y="5176561"/>
            <a:ext cx="181369" cy="430751"/>
          </a:xfrm>
          <a:prstGeom prst="line">
            <a:avLst/>
          </a:prstGeom>
          <a:ln w="349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legend_link_3"/>
          <p:cNvCxnSpPr/>
          <p:nvPr/>
        </p:nvCxnSpPr>
        <p:spPr>
          <a:xfrm>
            <a:off x="10186868" y="5176561"/>
            <a:ext cx="559220" cy="604562"/>
          </a:xfrm>
          <a:prstGeom prst="line">
            <a:avLst/>
          </a:prstGeom>
          <a:ln w="349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legend_link_4"/>
          <p:cNvCxnSpPr/>
          <p:nvPr/>
        </p:nvCxnSpPr>
        <p:spPr>
          <a:xfrm>
            <a:off x="10368237" y="5607312"/>
            <a:ext cx="377851" cy="173811"/>
          </a:xfrm>
          <a:prstGeom prst="line">
            <a:avLst/>
          </a:prstGeom>
          <a:ln w="349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legend_link_5"/>
          <p:cNvCxnSpPr/>
          <p:nvPr/>
        </p:nvCxnSpPr>
        <p:spPr>
          <a:xfrm flipH="1">
            <a:off x="10746088" y="5116105"/>
            <a:ext cx="22671" cy="665018"/>
          </a:xfrm>
          <a:prstGeom prst="line">
            <a:avLst/>
          </a:prstGeom>
          <a:ln w="34925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legend_node_0"/>
          <p:cNvSpPr/>
          <p:nvPr/>
        </p:nvSpPr>
        <p:spPr>
          <a:xfrm>
            <a:off x="10081070" y="5070763"/>
            <a:ext cx="211596" cy="211596"/>
          </a:xfrm>
          <a:prstGeom prst="ellipse">
            <a:avLst/>
          </a:prstGeom>
          <a:solidFill>
            <a:srgbClr val="A9D18E"/>
          </a:solidFill>
          <a:ln w="34925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legend_node_1"/>
          <p:cNvSpPr/>
          <p:nvPr/>
        </p:nvSpPr>
        <p:spPr>
          <a:xfrm>
            <a:off x="10262439" y="5501514"/>
            <a:ext cx="211596" cy="211596"/>
          </a:xfrm>
          <a:prstGeom prst="ellipse">
            <a:avLst/>
          </a:prstGeom>
          <a:solidFill>
            <a:srgbClr val="A9D18E"/>
          </a:solidFill>
          <a:ln w="34925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legend_node_2"/>
          <p:cNvSpPr/>
          <p:nvPr/>
        </p:nvSpPr>
        <p:spPr>
          <a:xfrm>
            <a:off x="10662961" y="5010307"/>
            <a:ext cx="211596" cy="211596"/>
          </a:xfrm>
          <a:prstGeom prst="ellipse">
            <a:avLst/>
          </a:prstGeom>
          <a:solidFill>
            <a:srgbClr val="FED966"/>
          </a:solidFill>
          <a:ln w="34925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legend_node_3"/>
          <p:cNvSpPr/>
          <p:nvPr/>
        </p:nvSpPr>
        <p:spPr>
          <a:xfrm>
            <a:off x="10640290" y="5675325"/>
            <a:ext cx="211596" cy="211596"/>
          </a:xfrm>
          <a:prstGeom prst="ellipse">
            <a:avLst/>
          </a:prstGeom>
          <a:solidFill>
            <a:srgbClr val="F77A24"/>
          </a:solidFill>
          <a:ln w="34925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legend_visual"/>
          <p:cNvSpPr txBox="1"/>
          <p:nvPr/>
        </p:nvSpPr>
        <p:spPr>
          <a:xfrm>
            <a:off x="8569665" y="4980079"/>
            <a:ext cx="1473619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erif"/>
              </a:rPr>
              <a:t>Visual stimuli</a:t>
            </a:r>
          </a:p>
        </p:txBody>
      </p:sp>
      <p:sp>
        <p:nvSpPr>
          <p:cNvPr id="314" name="legend_labels"/>
          <p:cNvSpPr txBox="1"/>
          <p:nvPr/>
        </p:nvSpPr>
        <p:spPr>
          <a:xfrm>
            <a:off x="8728363" y="5425943"/>
            <a:ext cx="1314922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erif"/>
              </a:rPr>
              <a:t>Image labels</a:t>
            </a:r>
          </a:p>
        </p:txBody>
      </p:sp>
      <p:sp>
        <p:nvSpPr>
          <p:cNvPr id="315" name="legend_captions"/>
          <p:cNvSpPr txBox="1"/>
          <p:nvPr/>
        </p:nvSpPr>
        <p:spPr>
          <a:xfrm>
            <a:off x="8781262" y="5871808"/>
            <a:ext cx="1262023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66" b="0" i="0">
                <a:solidFill>
                  <a:srgbClr val="000000"/>
                </a:solidFill>
                <a:latin typeface="Liberation Serif"/>
              </a:rPr>
              <a:t>Image captions</a:t>
            </a:r>
          </a:p>
        </p:txBody>
      </p:sp>
      <p:sp>
        <p:nvSpPr>
          <p:cNvPr id="316" name="test_subject_hair"/>
          <p:cNvSpPr/>
          <p:nvPr/>
        </p:nvSpPr>
        <p:spPr>
          <a:xfrm>
            <a:off x="886061" y="7361675"/>
            <a:ext cx="510099" cy="550907"/>
          </a:xfrm>
          <a:prstGeom prst="ellipse">
            <a:avLst/>
          </a:prstGeom>
          <a:solidFill>
            <a:srgbClr val="8A788C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st_subject_head"/>
          <p:cNvSpPr/>
          <p:nvPr/>
        </p:nvSpPr>
        <p:spPr>
          <a:xfrm>
            <a:off x="947273" y="7473897"/>
            <a:ext cx="387675" cy="448887"/>
          </a:xfrm>
          <a:prstGeom prst="ellipse">
            <a:avLst/>
          </a:prstGeom>
          <a:solidFill>
            <a:srgbClr val="F2B89C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st_subject_body"/>
          <p:cNvSpPr/>
          <p:nvPr/>
        </p:nvSpPr>
        <p:spPr>
          <a:xfrm>
            <a:off x="869058" y="7881977"/>
            <a:ext cx="544106" cy="264496"/>
          </a:xfrm>
          <a:custGeom>
            <a:avLst/>
            <a:gdLst/>
            <a:ahLst/>
            <a:cxnLst/>
            <a:rect l="l" t="t" r="r" b="b"/>
            <a:pathLst>
              <a:path w="72" h="35">
                <a:moveTo>
                  <a:pt x="0" y="35"/>
                </a:moveTo>
                <a:lnTo>
                  <a:pt x="12" y="7"/>
                </a:lnTo>
                <a:lnTo>
                  <a:pt x="36" y="0"/>
                </a:lnTo>
                <a:lnTo>
                  <a:pt x="60" y="7"/>
                </a:lnTo>
                <a:lnTo>
                  <a:pt x="72" y="35"/>
                </a:lnTo>
                <a:close/>
              </a:path>
            </a:pathLst>
          </a:custGeom>
          <a:solidFill>
            <a:srgbClr val="5CB5DB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st_subject_eye_l"/>
          <p:cNvSpPr/>
          <p:nvPr/>
        </p:nvSpPr>
        <p:spPr>
          <a:xfrm>
            <a:off x="1051333" y="7655492"/>
            <a:ext cx="36727" cy="44888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st_subject_eye_r"/>
          <p:cNvSpPr/>
          <p:nvPr/>
        </p:nvSpPr>
        <p:spPr>
          <a:xfrm>
            <a:off x="1194160" y="7655492"/>
            <a:ext cx="36727" cy="44888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test_subject_smile"/>
          <p:cNvCxnSpPr/>
          <p:nvPr/>
        </p:nvCxnSpPr>
        <p:spPr>
          <a:xfrm>
            <a:off x="1069696" y="7779957"/>
            <a:ext cx="142828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test_subject_label"/>
          <p:cNvSpPr txBox="1"/>
          <p:nvPr/>
        </p:nvSpPr>
        <p:spPr>
          <a:xfrm>
            <a:off x="377851" y="8660350"/>
            <a:ext cx="2569388" cy="4231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20" b="0" i="0">
                <a:solidFill>
                  <a:srgbClr val="000000"/>
                </a:solidFill>
                <a:latin typeface="Liberation Serif"/>
              </a:rPr>
              <a:t>Test Unseen Subject</a:t>
            </a:r>
          </a:p>
        </p:txBody>
      </p:sp>
      <p:sp>
        <p:nvSpPr>
          <p:cNvPr id="323" name="test_fmri_back"/>
          <p:cNvSpPr/>
          <p:nvPr/>
        </p:nvSpPr>
        <p:spPr>
          <a:xfrm>
            <a:off x="1699574" y="7403919"/>
            <a:ext cx="694037" cy="613479"/>
          </a:xfrm>
          <a:prstGeom prst="roundRect">
            <a:avLst>
              <a:gd name="adj" fmla="val 5000"/>
            </a:avLst>
          </a:prstGeom>
          <a:solidFill>
            <a:srgbClr val="C0B4BD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st_fmri_screen"/>
          <p:cNvSpPr/>
          <p:nvPr/>
        </p:nvSpPr>
        <p:spPr>
          <a:xfrm>
            <a:off x="1730558" y="7360542"/>
            <a:ext cx="694037" cy="613479"/>
          </a:xfrm>
          <a:prstGeom prst="roundRect">
            <a:avLst>
              <a:gd name="adj" fmla="val 6159"/>
            </a:avLst>
          </a:prstGeom>
          <a:solidFill>
            <a:srgbClr val="EAF4F6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st_fmri_inner"/>
          <p:cNvSpPr/>
          <p:nvPr/>
        </p:nvSpPr>
        <p:spPr>
          <a:xfrm>
            <a:off x="1792526" y="7422509"/>
            <a:ext cx="563905" cy="43377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95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st_fmri_brain"/>
          <p:cNvSpPr/>
          <p:nvPr/>
        </p:nvSpPr>
        <p:spPr>
          <a:xfrm>
            <a:off x="1904067" y="7484477"/>
            <a:ext cx="334625" cy="309838"/>
          </a:xfrm>
          <a:prstGeom prst="ellipse">
            <a:avLst/>
          </a:prstGeom>
          <a:solidFill>
            <a:srgbClr val="F5B39C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test_fmri_brain_v"/>
          <p:cNvCxnSpPr/>
          <p:nvPr/>
        </p:nvCxnSpPr>
        <p:spPr>
          <a:xfrm>
            <a:off x="2071380" y="7496870"/>
            <a:ext cx="0" cy="27885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test_fmri_brain_h1"/>
          <p:cNvCxnSpPr/>
          <p:nvPr/>
        </p:nvCxnSpPr>
        <p:spPr>
          <a:xfrm>
            <a:off x="1941248" y="7596019"/>
            <a:ext cx="74361" cy="4957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test_fmri_brain_h2"/>
          <p:cNvCxnSpPr/>
          <p:nvPr/>
        </p:nvCxnSpPr>
        <p:spPr>
          <a:xfrm flipV="1">
            <a:off x="2133347" y="7558838"/>
            <a:ext cx="80558" cy="4337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test_fmri_brain_h3"/>
          <p:cNvCxnSpPr/>
          <p:nvPr/>
        </p:nvCxnSpPr>
        <p:spPr>
          <a:xfrm flipV="1">
            <a:off x="1953641" y="7670380"/>
            <a:ext cx="74362" cy="30983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test_fmri_brain_h4"/>
          <p:cNvCxnSpPr/>
          <p:nvPr/>
        </p:nvCxnSpPr>
        <p:spPr>
          <a:xfrm>
            <a:off x="2133347" y="7682773"/>
            <a:ext cx="80558" cy="5577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st_fmri_stand"/>
          <p:cNvSpPr/>
          <p:nvPr/>
        </p:nvSpPr>
        <p:spPr>
          <a:xfrm>
            <a:off x="1978428" y="7980218"/>
            <a:ext cx="192099" cy="74361"/>
          </a:xfrm>
          <a:prstGeom prst="roundRect">
            <a:avLst>
              <a:gd name="adj" fmla="val 10162"/>
            </a:avLst>
          </a:prstGeom>
          <a:solidFill>
            <a:srgbClr val="91868E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test_fmri_wave1"/>
          <p:cNvCxnSpPr/>
          <p:nvPr/>
        </p:nvCxnSpPr>
        <p:spPr>
          <a:xfrm>
            <a:off x="2424595" y="7657986"/>
            <a:ext cx="74361" cy="0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test_fmri_wave2"/>
          <p:cNvCxnSpPr/>
          <p:nvPr/>
        </p:nvCxnSpPr>
        <p:spPr>
          <a:xfrm flipV="1">
            <a:off x="2498956" y="7534051"/>
            <a:ext cx="37181" cy="123935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test_fmri_wave3"/>
          <p:cNvCxnSpPr/>
          <p:nvPr/>
        </p:nvCxnSpPr>
        <p:spPr>
          <a:xfrm>
            <a:off x="2536137" y="7534051"/>
            <a:ext cx="43377" cy="235477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test_fmri_wave4"/>
          <p:cNvCxnSpPr/>
          <p:nvPr/>
        </p:nvCxnSpPr>
        <p:spPr>
          <a:xfrm flipV="1">
            <a:off x="2579514" y="7657986"/>
            <a:ext cx="49574" cy="111542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test_fmri_wave5"/>
          <p:cNvCxnSpPr/>
          <p:nvPr/>
        </p:nvCxnSpPr>
        <p:spPr>
          <a:xfrm>
            <a:off x="2629088" y="7657986"/>
            <a:ext cx="55771" cy="0"/>
          </a:xfrm>
          <a:prstGeom prst="line">
            <a:avLst/>
          </a:prstGeom>
          <a:ln w="2095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test_fmri_label"/>
          <p:cNvSpPr txBox="1"/>
          <p:nvPr/>
        </p:nvSpPr>
        <p:spPr>
          <a:xfrm>
            <a:off x="1783457" y="8184257"/>
            <a:ext cx="846386" cy="287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737373"/>
                </a:solidFill>
                <a:latin typeface="Liberation Serif"/>
              </a:rPr>
              <a:t>fMRI</a:t>
            </a:r>
          </a:p>
        </p:txBody>
      </p:sp>
      <p:sp>
        <p:nvSpPr>
          <p:cNvPr id="339" name="infer_arrow_1"/>
          <p:cNvSpPr/>
          <p:nvPr/>
        </p:nvSpPr>
        <p:spPr>
          <a:xfrm>
            <a:off x="2546717" y="7776179"/>
            <a:ext cx="665018" cy="287167"/>
          </a:xfrm>
          <a:custGeom>
            <a:avLst/>
            <a:gdLst/>
            <a:ahLst/>
            <a:cxnLst/>
            <a:rect l="l" t="t" r="r" b="b"/>
            <a:pathLst>
              <a:path w="88" h="38">
                <a:moveTo>
                  <a:pt x="0" y="8"/>
                </a:moveTo>
                <a:lnTo>
                  <a:pt x="60" y="8"/>
                </a:lnTo>
                <a:lnTo>
                  <a:pt x="60" y="0"/>
                </a:lnTo>
                <a:lnTo>
                  <a:pt x="88" y="19"/>
                </a:lnTo>
                <a:lnTo>
                  <a:pt x="60" y="38"/>
                </a:lnTo>
                <a:lnTo>
                  <a:pt x="60" y="30"/>
                </a:lnTo>
                <a:lnTo>
                  <a:pt x="0" y="30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vit_infer"/>
          <p:cNvSpPr/>
          <p:nvPr/>
        </p:nvSpPr>
        <p:spPr>
          <a:xfrm>
            <a:off x="3325091" y="7284972"/>
            <a:ext cx="1057983" cy="1360264"/>
          </a:xfrm>
          <a:custGeom>
            <a:avLst/>
            <a:gdLst/>
            <a:ahLst/>
            <a:cxnLst/>
            <a:rect l="l" t="t" r="r" b="b"/>
            <a:pathLst>
              <a:path w="140" h="180">
                <a:moveTo>
                  <a:pt x="0" y="0"/>
                </a:moveTo>
                <a:lnTo>
                  <a:pt x="140" y="37"/>
                </a:lnTo>
                <a:lnTo>
                  <a:pt x="140" y="142"/>
                </a:lnTo>
                <a:lnTo>
                  <a:pt x="0" y="180"/>
                </a:lnTo>
                <a:close/>
              </a:path>
            </a:pathLst>
          </a:custGeom>
          <a:solidFill>
            <a:srgbClr val="E1E9EC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vit_infer_label"/>
          <p:cNvSpPr txBox="1"/>
          <p:nvPr/>
        </p:nvSpPr>
        <p:spPr>
          <a:xfrm>
            <a:off x="3536687" y="7708165"/>
            <a:ext cx="649904" cy="4156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82" b="1" i="0">
                <a:solidFill>
                  <a:srgbClr val="000000"/>
                </a:solidFill>
                <a:latin typeface="Liberation Serif"/>
              </a:rPr>
              <a:t>ViT</a:t>
            </a:r>
          </a:p>
        </p:txBody>
      </p:sp>
      <p:sp>
        <p:nvSpPr>
          <p:cNvPr id="342" name="vit_snow"/>
          <p:cNvSpPr txBox="1"/>
          <p:nvPr/>
        </p:nvSpPr>
        <p:spPr>
          <a:xfrm>
            <a:off x="3309976" y="7179173"/>
            <a:ext cx="468535" cy="4685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58B6C4"/>
                </a:solidFill>
                <a:latin typeface="DejaVu Sans"/>
              </a:rPr>
              <a:t>❄</a:t>
            </a:r>
          </a:p>
        </p:txBody>
      </p:sp>
      <p:sp>
        <p:nvSpPr>
          <p:cNvPr id="343" name="infer_fi_base"/>
          <p:cNvSpPr txBox="1"/>
          <p:nvPr/>
        </p:nvSpPr>
        <p:spPr>
          <a:xfrm>
            <a:off x="4594670" y="7201844"/>
            <a:ext cx="235779" cy="356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80" b="0" i="1">
                <a:solidFill>
                  <a:srgbClr val="000000"/>
                </a:solidFill>
                <a:latin typeface="Latin Modern Math"/>
              </a:rPr>
              <a:t>ℱ</a:t>
            </a:r>
          </a:p>
        </p:txBody>
      </p:sp>
      <p:sp>
        <p:nvSpPr>
          <p:cNvPr id="344" name="infer_fi_sub"/>
          <p:cNvSpPr txBox="1"/>
          <p:nvPr/>
        </p:nvSpPr>
        <p:spPr>
          <a:xfrm>
            <a:off x="4769147" y="7346939"/>
            <a:ext cx="136026" cy="17532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1">
                <a:solidFill>
                  <a:srgbClr val="000000"/>
                </a:solidFill>
                <a:latin typeface="Liberation Serif"/>
              </a:rPr>
              <a:t>i</a:t>
            </a:r>
          </a:p>
        </p:txBody>
      </p:sp>
      <p:sp>
        <p:nvSpPr>
          <p:cNvPr id="345" name="infer_fi_suffix"/>
          <p:cNvSpPr txBox="1"/>
          <p:nvPr/>
        </p:nvSpPr>
        <p:spPr>
          <a:xfrm>
            <a:off x="4981590" y="7201844"/>
            <a:ext cx="377851" cy="356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80" b="0" i="1">
                <a:solidFill>
                  <a:srgbClr val="000000"/>
                </a:solidFill>
                <a:latin typeface="Latin Modern Math"/>
              </a:rPr>
              <a:t>(·)</a:t>
            </a:r>
          </a:p>
        </p:txBody>
      </p:sp>
      <p:sp>
        <p:nvSpPr>
          <p:cNvPr id="346" name="infer_arrow_2"/>
          <p:cNvSpPr/>
          <p:nvPr/>
        </p:nvSpPr>
        <p:spPr>
          <a:xfrm>
            <a:off x="4503987" y="7776179"/>
            <a:ext cx="816159" cy="287167"/>
          </a:xfrm>
          <a:custGeom>
            <a:avLst/>
            <a:gdLst/>
            <a:ahLst/>
            <a:cxnLst/>
            <a:rect l="l" t="t" r="r" b="b"/>
            <a:pathLst>
              <a:path w="108" h="38">
                <a:moveTo>
                  <a:pt x="0" y="8"/>
                </a:moveTo>
                <a:lnTo>
                  <a:pt x="80" y="8"/>
                </a:lnTo>
                <a:lnTo>
                  <a:pt x="80" y="0"/>
                </a:lnTo>
                <a:lnTo>
                  <a:pt x="108" y="19"/>
                </a:lnTo>
                <a:lnTo>
                  <a:pt x="80" y="38"/>
                </a:lnTo>
                <a:lnTo>
                  <a:pt x="80" y="30"/>
                </a:lnTo>
                <a:lnTo>
                  <a:pt x="0" y="30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infer_projector_shadow"/>
          <p:cNvSpPr/>
          <p:nvPr/>
        </p:nvSpPr>
        <p:spPr>
          <a:xfrm>
            <a:off x="5471285" y="7640152"/>
            <a:ext cx="1813685" cy="785930"/>
          </a:xfrm>
          <a:prstGeom prst="roundRect">
            <a:avLst>
              <a:gd name="adj" fmla="val 15384"/>
            </a:avLst>
          </a:prstGeom>
          <a:solidFill>
            <a:srgbClr val="E4D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infer_projector"/>
          <p:cNvSpPr/>
          <p:nvPr/>
        </p:nvSpPr>
        <p:spPr>
          <a:xfrm>
            <a:off x="5425943" y="7587252"/>
            <a:ext cx="1813685" cy="785930"/>
          </a:xfrm>
          <a:prstGeom prst="roundRect">
            <a:avLst>
              <a:gd name="adj" fmla="val 15384"/>
            </a:avLst>
          </a:prstGeom>
          <a:solidFill>
            <a:srgbClr val="FBEABE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infer_projector_label"/>
          <p:cNvSpPr txBox="1"/>
          <p:nvPr/>
        </p:nvSpPr>
        <p:spPr>
          <a:xfrm>
            <a:off x="5463728" y="7609923"/>
            <a:ext cx="1738115" cy="7405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000000"/>
                </a:solidFill>
                <a:latin typeface="Liberation Serif"/>
              </a:rPr>
              <a:t>Vision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000000"/>
                </a:solidFill>
                <a:latin typeface="Liberation Serif"/>
              </a:rPr>
              <a:t>Projector</a:t>
            </a:r>
          </a:p>
        </p:txBody>
      </p:sp>
      <p:sp>
        <p:nvSpPr>
          <p:cNvPr id="350" name="infer_ps_base"/>
          <p:cNvSpPr txBox="1"/>
          <p:nvPr/>
        </p:nvSpPr>
        <p:spPr>
          <a:xfrm>
            <a:off x="5970049" y="6967576"/>
            <a:ext cx="235779" cy="356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80" b="0" i="1">
                <a:solidFill>
                  <a:srgbClr val="000000"/>
                </a:solidFill>
                <a:latin typeface="Latin Modern Math"/>
              </a:rPr>
              <a:t>P</a:t>
            </a:r>
          </a:p>
        </p:txBody>
      </p:sp>
      <p:sp>
        <p:nvSpPr>
          <p:cNvPr id="351" name="infer_ps_sub"/>
          <p:cNvSpPr txBox="1"/>
          <p:nvPr/>
        </p:nvSpPr>
        <p:spPr>
          <a:xfrm>
            <a:off x="6144525" y="7112671"/>
            <a:ext cx="136026" cy="17532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1">
                <a:solidFill>
                  <a:srgbClr val="000000"/>
                </a:solidFill>
                <a:latin typeface="Liberation Serif"/>
              </a:rPr>
              <a:t>s</a:t>
            </a:r>
          </a:p>
        </p:txBody>
      </p:sp>
      <p:sp>
        <p:nvSpPr>
          <p:cNvPr id="352" name="infer_ps_suffix"/>
          <p:cNvSpPr txBox="1"/>
          <p:nvPr/>
        </p:nvSpPr>
        <p:spPr>
          <a:xfrm>
            <a:off x="6356968" y="6967576"/>
            <a:ext cx="377851" cy="35669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80" b="0" i="1">
                <a:solidFill>
                  <a:srgbClr val="000000"/>
                </a:solidFill>
                <a:latin typeface="Latin Modern Math"/>
              </a:rPr>
              <a:t>(·)</a:t>
            </a:r>
          </a:p>
        </p:txBody>
      </p:sp>
      <p:sp>
        <p:nvSpPr>
          <p:cNvPr id="353" name="projector_snow"/>
          <p:cNvSpPr txBox="1"/>
          <p:nvPr/>
        </p:nvSpPr>
        <p:spPr>
          <a:xfrm>
            <a:off x="6710637" y="7186730"/>
            <a:ext cx="468535" cy="4685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58B6C4"/>
                </a:solidFill>
                <a:latin typeface="DejaVu Sans"/>
              </a:rPr>
              <a:t>❄</a:t>
            </a:r>
          </a:p>
        </p:txBody>
      </p:sp>
      <p:sp>
        <p:nvSpPr>
          <p:cNvPr id="354" name="infer_arrow_3"/>
          <p:cNvSpPr/>
          <p:nvPr/>
        </p:nvSpPr>
        <p:spPr>
          <a:xfrm>
            <a:off x="7330314" y="7776179"/>
            <a:ext cx="740588" cy="287167"/>
          </a:xfrm>
          <a:custGeom>
            <a:avLst/>
            <a:gdLst/>
            <a:ahLst/>
            <a:cxnLst/>
            <a:rect l="l" t="t" r="r" b="b"/>
            <a:pathLst>
              <a:path w="98" h="38">
                <a:moveTo>
                  <a:pt x="0" y="8"/>
                </a:moveTo>
                <a:lnTo>
                  <a:pt x="70" y="8"/>
                </a:lnTo>
                <a:lnTo>
                  <a:pt x="70" y="0"/>
                </a:lnTo>
                <a:lnTo>
                  <a:pt x="98" y="19"/>
                </a:lnTo>
                <a:lnTo>
                  <a:pt x="70" y="38"/>
                </a:lnTo>
                <a:lnTo>
                  <a:pt x="70" y="30"/>
                </a:lnTo>
                <a:lnTo>
                  <a:pt x="0" y="30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infer_prior"/>
          <p:cNvSpPr/>
          <p:nvPr/>
        </p:nvSpPr>
        <p:spPr>
          <a:xfrm>
            <a:off x="8123801" y="7587252"/>
            <a:ext cx="1624760" cy="528991"/>
          </a:xfrm>
          <a:prstGeom prst="roundRect">
            <a:avLst>
              <a:gd name="adj" fmla="val 17142"/>
            </a:avLst>
          </a:prstGeom>
          <a:solidFill>
            <a:srgbClr val="FFF0E8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infer_prior_node_0"/>
          <p:cNvSpPr/>
          <p:nvPr/>
        </p:nvSpPr>
        <p:spPr>
          <a:xfrm>
            <a:off x="8252270" y="7715722"/>
            <a:ext cx="272052" cy="272052"/>
          </a:xfrm>
          <a:prstGeom prst="ellipse">
            <a:avLst/>
          </a:prstGeom>
          <a:solidFill>
            <a:srgbClr val="FED966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infer_prior_node_1"/>
          <p:cNvSpPr/>
          <p:nvPr/>
        </p:nvSpPr>
        <p:spPr>
          <a:xfrm>
            <a:off x="8781262" y="7715722"/>
            <a:ext cx="272052" cy="272052"/>
          </a:xfrm>
          <a:prstGeom prst="ellipse">
            <a:avLst/>
          </a:prstGeom>
          <a:solidFill>
            <a:srgbClr val="F6B38B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infer_prior_node_2"/>
          <p:cNvSpPr/>
          <p:nvPr/>
        </p:nvSpPr>
        <p:spPr>
          <a:xfrm>
            <a:off x="9310253" y="7715722"/>
            <a:ext cx="272052" cy="272052"/>
          </a:xfrm>
          <a:prstGeom prst="ellipse">
            <a:avLst/>
          </a:prstGeom>
          <a:solidFill>
            <a:srgbClr val="F77A24"/>
          </a:solidFill>
          <a:ln w="27940">
            <a:solidFill>
              <a:srgbClr val="172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infer_prior_link_1"/>
          <p:cNvSpPr/>
          <p:nvPr/>
        </p:nvSpPr>
        <p:spPr>
          <a:xfrm>
            <a:off x="8531880" y="7783736"/>
            <a:ext cx="234268" cy="136026"/>
          </a:xfrm>
          <a:custGeom>
            <a:avLst/>
            <a:gdLst/>
            <a:ahLst/>
            <a:cxnLst/>
            <a:rect l="l" t="t" r="r" b="b"/>
            <a:pathLst>
              <a:path w="31" h="18">
                <a:moveTo>
                  <a:pt x="0" y="4"/>
                </a:moveTo>
                <a:lnTo>
                  <a:pt x="13" y="4"/>
                </a:lnTo>
                <a:lnTo>
                  <a:pt x="13" y="0"/>
                </a:lnTo>
                <a:lnTo>
                  <a:pt x="31" y="9"/>
                </a:lnTo>
                <a:lnTo>
                  <a:pt x="13" y="18"/>
                </a:lnTo>
                <a:lnTo>
                  <a:pt x="1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F4A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infer_prior_link_2"/>
          <p:cNvSpPr/>
          <p:nvPr/>
        </p:nvSpPr>
        <p:spPr>
          <a:xfrm>
            <a:off x="9060872" y="7783736"/>
            <a:ext cx="234268" cy="136026"/>
          </a:xfrm>
          <a:custGeom>
            <a:avLst/>
            <a:gdLst/>
            <a:ahLst/>
            <a:cxnLst/>
            <a:rect l="l" t="t" r="r" b="b"/>
            <a:pathLst>
              <a:path w="31" h="18">
                <a:moveTo>
                  <a:pt x="0" y="4"/>
                </a:moveTo>
                <a:lnTo>
                  <a:pt x="13" y="4"/>
                </a:lnTo>
                <a:lnTo>
                  <a:pt x="13" y="0"/>
                </a:lnTo>
                <a:lnTo>
                  <a:pt x="31" y="9"/>
                </a:lnTo>
                <a:lnTo>
                  <a:pt x="13" y="18"/>
                </a:lnTo>
                <a:lnTo>
                  <a:pt x="1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F7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prior_snow"/>
          <p:cNvSpPr txBox="1"/>
          <p:nvPr/>
        </p:nvSpPr>
        <p:spPr>
          <a:xfrm>
            <a:off x="9431166" y="7247186"/>
            <a:ext cx="468535" cy="4685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58B6C4"/>
                </a:solidFill>
                <a:latin typeface="DejaVu Sans"/>
              </a:rPr>
              <a:t>❄</a:t>
            </a:r>
          </a:p>
        </p:txBody>
      </p:sp>
      <p:sp>
        <p:nvSpPr>
          <p:cNvPr id="362" name="infer_prior_label"/>
          <p:cNvSpPr txBox="1"/>
          <p:nvPr/>
        </p:nvSpPr>
        <p:spPr>
          <a:xfrm>
            <a:off x="7965103" y="8176700"/>
            <a:ext cx="2040396" cy="3627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23" b="1" i="0">
                <a:solidFill>
                  <a:srgbClr val="000000"/>
                </a:solidFill>
                <a:latin typeface="Liberation Serif"/>
              </a:rPr>
              <a:t>Diffusion Prior</a:t>
            </a:r>
          </a:p>
        </p:txBody>
      </p:sp>
      <p:sp>
        <p:nvSpPr>
          <p:cNvPr id="363" name="infer_arrow_4"/>
          <p:cNvSpPr/>
          <p:nvPr/>
        </p:nvSpPr>
        <p:spPr>
          <a:xfrm>
            <a:off x="9899702" y="7776179"/>
            <a:ext cx="717917" cy="287167"/>
          </a:xfrm>
          <a:custGeom>
            <a:avLst/>
            <a:gdLst/>
            <a:ahLst/>
            <a:cxnLst/>
            <a:rect l="l" t="t" r="r" b="b"/>
            <a:pathLst>
              <a:path w="95" h="38">
                <a:moveTo>
                  <a:pt x="0" y="8"/>
                </a:moveTo>
                <a:lnTo>
                  <a:pt x="67" y="8"/>
                </a:lnTo>
                <a:lnTo>
                  <a:pt x="67" y="0"/>
                </a:lnTo>
                <a:lnTo>
                  <a:pt x="95" y="19"/>
                </a:lnTo>
                <a:lnTo>
                  <a:pt x="67" y="38"/>
                </a:lnTo>
                <a:lnTo>
                  <a:pt x="67" y="30"/>
                </a:lnTo>
                <a:lnTo>
                  <a:pt x="0" y="30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sdxl"/>
          <p:cNvSpPr/>
          <p:nvPr/>
        </p:nvSpPr>
        <p:spPr>
          <a:xfrm>
            <a:off x="10761203" y="7277415"/>
            <a:ext cx="967299" cy="1360264"/>
          </a:xfrm>
          <a:custGeom>
            <a:avLst/>
            <a:gdLst/>
            <a:ahLst/>
            <a:cxnLst/>
            <a:rect l="l" t="t" r="r" b="b"/>
            <a:pathLst>
              <a:path w="128" h="180">
                <a:moveTo>
                  <a:pt x="0" y="37"/>
                </a:moveTo>
                <a:lnTo>
                  <a:pt x="128" y="0"/>
                </a:lnTo>
                <a:lnTo>
                  <a:pt x="128" y="180"/>
                </a:lnTo>
                <a:lnTo>
                  <a:pt x="0" y="144"/>
                </a:lnTo>
                <a:close/>
              </a:path>
            </a:pathLst>
          </a:custGeom>
          <a:solidFill>
            <a:srgbClr val="FAE7D9"/>
          </a:solidFill>
          <a:ln w="34925">
            <a:solidFill>
              <a:srgbClr val="06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sdxl_label"/>
          <p:cNvSpPr txBox="1"/>
          <p:nvPr/>
        </p:nvSpPr>
        <p:spPr>
          <a:xfrm>
            <a:off x="10867000" y="7708165"/>
            <a:ext cx="755702" cy="4534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1" i="0">
                <a:solidFill>
                  <a:srgbClr val="000000"/>
                </a:solidFill>
                <a:latin typeface="Liberation Serif"/>
              </a:rPr>
              <a:t>SDXL</a:t>
            </a:r>
          </a:p>
        </p:txBody>
      </p:sp>
      <p:sp>
        <p:nvSpPr>
          <p:cNvPr id="366" name="sdxl_snow"/>
          <p:cNvSpPr txBox="1"/>
          <p:nvPr/>
        </p:nvSpPr>
        <p:spPr>
          <a:xfrm>
            <a:off x="11207067" y="7171616"/>
            <a:ext cx="468535" cy="4685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44" b="0" i="0">
                <a:solidFill>
                  <a:srgbClr val="58B6C4"/>
                </a:solidFill>
                <a:latin typeface="DejaVu Sans"/>
              </a:rPr>
              <a:t>❄</a:t>
            </a:r>
          </a:p>
        </p:txBody>
      </p:sp>
      <p:sp>
        <p:nvSpPr>
          <p:cNvPr id="367" name="infer_arrow_5"/>
          <p:cNvSpPr/>
          <p:nvPr/>
        </p:nvSpPr>
        <p:spPr>
          <a:xfrm>
            <a:off x="11879642" y="7776179"/>
            <a:ext cx="695246" cy="287167"/>
          </a:xfrm>
          <a:custGeom>
            <a:avLst/>
            <a:gdLst/>
            <a:ahLst/>
            <a:cxnLst/>
            <a:rect l="l" t="t" r="r" b="b"/>
            <a:pathLst>
              <a:path w="92" h="38">
                <a:moveTo>
                  <a:pt x="0" y="8"/>
                </a:moveTo>
                <a:lnTo>
                  <a:pt x="64" y="8"/>
                </a:lnTo>
                <a:lnTo>
                  <a:pt x="64" y="0"/>
                </a:lnTo>
                <a:lnTo>
                  <a:pt x="92" y="19"/>
                </a:lnTo>
                <a:lnTo>
                  <a:pt x="64" y="38"/>
                </a:lnTo>
                <a:lnTo>
                  <a:pt x="64" y="30"/>
                </a:lnTo>
                <a:lnTo>
                  <a:pt x="0" y="30"/>
                </a:lnTo>
                <a:close/>
              </a:path>
            </a:pathLst>
          </a:custGeom>
          <a:solidFill>
            <a:srgbClr val="FFFFFF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onstructed_label"/>
          <p:cNvSpPr txBox="1"/>
          <p:nvPr/>
        </p:nvSpPr>
        <p:spPr>
          <a:xfrm>
            <a:off x="12076124" y="6718195"/>
            <a:ext cx="1964826" cy="6801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23" b="0" i="0">
                <a:solidFill>
                  <a:srgbClr val="000000"/>
                </a:solidFill>
                <a:latin typeface="Liberation Serif"/>
              </a:rPr>
              <a:t>Reconstructed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23" b="0" i="0">
                <a:solidFill>
                  <a:srgbClr val="000000"/>
                </a:solidFill>
                <a:latin typeface="Liberation Serif"/>
              </a:rPr>
              <a:t>Images</a:t>
            </a:r>
          </a:p>
        </p:txBody>
      </p:sp>
      <p:sp>
        <p:nvSpPr>
          <p:cNvPr id="369" name="reconstructed_images_18_-22"/>
          <p:cNvSpPr/>
          <p:nvPr/>
        </p:nvSpPr>
        <p:spPr>
          <a:xfrm>
            <a:off x="12838628" y="7412685"/>
            <a:ext cx="936315" cy="658594"/>
          </a:xfrm>
          <a:prstGeom prst="roundRect">
            <a:avLst>
              <a:gd name="adj" fmla="val 5737"/>
            </a:avLst>
          </a:prstGeom>
          <a:solidFill>
            <a:srgbClr val="FFE0B2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onstructed_images_8_-10"/>
          <p:cNvSpPr/>
          <p:nvPr/>
        </p:nvSpPr>
        <p:spPr>
          <a:xfrm>
            <a:off x="12759279" y="7507904"/>
            <a:ext cx="936315" cy="658594"/>
          </a:xfrm>
          <a:prstGeom prst="roundRect">
            <a:avLst>
              <a:gd name="adj" fmla="val 5737"/>
            </a:avLst>
          </a:prstGeom>
          <a:solidFill>
            <a:srgbClr val="75C7DB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onstructed_images_0_0"/>
          <p:cNvSpPr/>
          <p:nvPr/>
        </p:nvSpPr>
        <p:spPr>
          <a:xfrm>
            <a:off x="12695800" y="7587252"/>
            <a:ext cx="936315" cy="658594"/>
          </a:xfrm>
          <a:prstGeom prst="roundRect">
            <a:avLst>
              <a:gd name="adj" fmla="val 5737"/>
            </a:avLst>
          </a:prstGeom>
          <a:solidFill>
            <a:srgbClr val="D9EEF2"/>
          </a:solidFill>
          <a:ln w="349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onstructed_images_dog_head"/>
          <p:cNvSpPr/>
          <p:nvPr/>
        </p:nvSpPr>
        <p:spPr>
          <a:xfrm>
            <a:off x="12965586" y="7698341"/>
            <a:ext cx="396743" cy="380874"/>
          </a:xfrm>
          <a:prstGeom prst="ellipse">
            <a:avLst/>
          </a:prstGeom>
          <a:solidFill>
            <a:srgbClr val="F2B84B"/>
          </a:solidFill>
          <a:ln w="279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onstructed_images_dog_l"/>
          <p:cNvSpPr/>
          <p:nvPr/>
        </p:nvSpPr>
        <p:spPr>
          <a:xfrm>
            <a:off x="12922512" y="7723279"/>
            <a:ext cx="128469" cy="272053"/>
          </a:xfrm>
          <a:custGeom>
            <a:avLst/>
            <a:gdLst/>
            <a:ahLst/>
            <a:cxnLst/>
            <a:rect l="l" t="t" r="r" b="b"/>
            <a:pathLst>
              <a:path w="17" h="36">
                <a:moveTo>
                  <a:pt x="12" y="6"/>
                </a:moveTo>
                <a:lnTo>
                  <a:pt x="0" y="0"/>
                </a:lnTo>
                <a:lnTo>
                  <a:pt x="4" y="36"/>
                </a:lnTo>
                <a:lnTo>
                  <a:pt x="17" y="30"/>
                </a:lnTo>
                <a:close/>
              </a:path>
            </a:pathLst>
          </a:custGeom>
          <a:solidFill>
            <a:srgbClr val="E2A23F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onstructed_images_dog_r"/>
          <p:cNvSpPr/>
          <p:nvPr/>
        </p:nvSpPr>
        <p:spPr>
          <a:xfrm>
            <a:off x="13277692" y="7723279"/>
            <a:ext cx="120912" cy="272053"/>
          </a:xfrm>
          <a:custGeom>
            <a:avLst/>
            <a:gdLst/>
            <a:ahLst/>
            <a:cxnLst/>
            <a:rect l="l" t="t" r="r" b="b"/>
            <a:pathLst>
              <a:path w="16" h="36">
                <a:moveTo>
                  <a:pt x="5" y="6"/>
                </a:moveTo>
                <a:lnTo>
                  <a:pt x="16" y="0"/>
                </a:lnTo>
                <a:lnTo>
                  <a:pt x="13" y="36"/>
                </a:lnTo>
                <a:lnTo>
                  <a:pt x="0" y="30"/>
                </a:lnTo>
                <a:close/>
              </a:path>
            </a:pathLst>
          </a:custGeom>
          <a:solidFill>
            <a:srgbClr val="E2A23F"/>
          </a:solidFill>
          <a:ln w="2095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onstructed_images_dog_nose"/>
          <p:cNvSpPr/>
          <p:nvPr/>
        </p:nvSpPr>
        <p:spPr>
          <a:xfrm>
            <a:off x="13132219" y="7888778"/>
            <a:ext cx="63479" cy="79348"/>
          </a:xfrm>
          <a:prstGeom prst="ellipse">
            <a:avLst/>
          </a:prstGeom>
          <a:solidFill>
            <a:srgbClr val="000000"/>
          </a:solidFill>
          <a:ln w="698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ZEBRA Towards Zero-Shot Cross-Subject Generalization for Universal Brain Visual Decod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2776" cy="914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