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70865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9" y="76199"/>
            <a:ext cx="12070079" cy="358139"/>
          </a:xfrm>
          <a:prstGeom prst="roundRect">
            <a:avLst>
              <a:gd name="adj" fmla="val 2127"/>
            </a:avLst>
          </a:prstGeom>
          <a:solidFill>
            <a:srgbClr val="F0F8EA"/>
          </a:solidFill>
          <a:ln w="1904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9" y="68579"/>
            <a:ext cx="12039599" cy="3733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799" b="1" i="0">
                <a:solidFill>
                  <a:srgbClr val="111111"/>
                </a:solidFill>
                <a:latin typeface="Liberation Serif"/>
              </a:defRPr>
            </a:pPr>
            <a:r>
              <a:t>FakeVV Dataset Construction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9" y="533399"/>
            <a:ext cx="2194559" cy="1623059"/>
          </a:xfrm>
          <a:prstGeom prst="roundRect">
            <a:avLst>
              <a:gd name="adj" fmla="val 4694"/>
            </a:avLst>
          </a:prstGeom>
          <a:solidFill>
            <a:srgbClr val="FFFFFF"/>
          </a:solidFill>
          <a:ln w="1904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5259" y="624839"/>
            <a:ext cx="365759" cy="365759"/>
          </a:xfrm>
          <a:prstGeom prst="ellipse">
            <a:avLst/>
          </a:prstGeom>
          <a:solidFill>
            <a:srgbClr val="F8FBFF"/>
          </a:solidFill>
          <a:ln w="15239">
            <a:solidFill>
              <a:srgbClr val="63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1939" y="624839"/>
            <a:ext cx="152399" cy="365759"/>
          </a:xfrm>
          <a:prstGeom prst="ellipse">
            <a:avLst/>
          </a:prstGeom>
          <a:solidFill>
            <a:srgbClr val="F8FBFF"/>
          </a:solidFill>
          <a:ln w="11429">
            <a:solidFill>
              <a:srgbClr val="637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90499" y="746759"/>
            <a:ext cx="335280" cy="0"/>
          </a:xfrm>
          <a:prstGeom prst="line">
            <a:avLst/>
          </a:prstGeom>
          <a:ln w="11429">
            <a:solidFill>
              <a:srgbClr val="6371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0499" y="868679"/>
            <a:ext cx="335280" cy="0"/>
          </a:xfrm>
          <a:prstGeom prst="line">
            <a:avLst/>
          </a:prstGeom>
          <a:ln w="11429">
            <a:solidFill>
              <a:srgbClr val="6371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8139" y="624839"/>
            <a:ext cx="0" cy="365760"/>
          </a:xfrm>
          <a:prstGeom prst="line">
            <a:avLst/>
          </a:prstGeom>
          <a:ln w="11429">
            <a:solidFill>
              <a:srgbClr val="6371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19099" y="815339"/>
            <a:ext cx="160019" cy="160019"/>
          </a:xfrm>
          <a:prstGeom prst="ellipse">
            <a:avLst/>
          </a:prstGeom>
          <a:solidFill>
            <a:srgbClr val="FFF4BE">
              <a:alpha val="85000"/>
            </a:srgbClr>
          </a:solidFill>
          <a:ln w="15239">
            <a:solidFill>
              <a:srgbClr val="D1A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1019" y="952499"/>
            <a:ext cx="83820" cy="83820"/>
          </a:xfrm>
          <a:prstGeom prst="line">
            <a:avLst/>
          </a:prstGeom>
          <a:ln w="30479">
            <a:solidFill>
              <a:srgbClr val="6371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0559" y="571499"/>
            <a:ext cx="1447799" cy="2743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59" y="822959"/>
            <a:ext cx="1485899" cy="2438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379" b="0" i="0">
                <a:solidFill>
                  <a:srgbClr val="111111"/>
                </a:solidFill>
                <a:latin typeface="Liberation Serif"/>
              </a:defRPr>
            </a:pPr>
            <a:r>
              <a:t>120,000 raw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259" y="1089659"/>
            <a:ext cx="1828799" cy="2590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Sources: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9539" y="1440179"/>
            <a:ext cx="259079" cy="144779"/>
          </a:xfrm>
          <a:prstGeom prst="roundRect">
            <a:avLst>
              <a:gd name="adj" fmla="val 18000"/>
            </a:avLst>
          </a:prstGeom>
          <a:solidFill>
            <a:srgbClr val="F10D19"/>
          </a:solidFill>
          <a:ln w="7619">
            <a:solidFill>
              <a:srgbClr val="F10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0979" y="1470659"/>
            <a:ext cx="76200" cy="83820"/>
          </a:xfrm>
          <a:custGeom>
            <a:avLst/>
            <a:gdLst/>
            <a:ahLst/>
            <a:cxnLst/>
            <a:rect l="l" t="t" r="r" b="b"/>
            <a:pathLst>
              <a:path w="76200" h="83820">
                <a:moveTo>
                  <a:pt x="0" y="0"/>
                </a:moveTo>
                <a:lnTo>
                  <a:pt x="0" y="83820"/>
                </a:lnTo>
                <a:lnTo>
                  <a:pt x="76200" y="41910"/>
                </a:lnTo>
                <a:close/>
              </a:path>
            </a:pathLst>
          </a:custGeom>
          <a:solidFill>
            <a:srgbClr val="FFFFFF"/>
          </a:solidFill>
          <a:ln w="761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379219"/>
            <a:ext cx="670559" cy="2666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79" b="1" i="0">
                <a:solidFill>
                  <a:srgbClr val="111111"/>
                </a:solidFill>
                <a:latin typeface="Arial"/>
              </a:defRPr>
            </a:pPr>
            <a:r>
              <a:t>YouTube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5359" y="1303019"/>
            <a:ext cx="137159" cy="190499"/>
          </a:xfrm>
          <a:prstGeom prst="rect">
            <a:avLst/>
          </a:prstGeom>
          <a:solidFill>
            <a:srgbClr val="C81019"/>
          </a:solidFill>
          <a:ln w="5080">
            <a:solidFill>
              <a:srgbClr val="C81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359" y="1303019"/>
            <a:ext cx="137159" cy="1904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779" b="1" i="0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7759" y="1303019"/>
            <a:ext cx="137159" cy="190499"/>
          </a:xfrm>
          <a:prstGeom prst="rect">
            <a:avLst/>
          </a:prstGeom>
          <a:solidFill>
            <a:srgbClr val="C81019"/>
          </a:solidFill>
          <a:ln w="5080">
            <a:solidFill>
              <a:srgbClr val="C81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7759" y="1303019"/>
            <a:ext cx="137159" cy="1904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779" b="1" i="0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59" y="1303019"/>
            <a:ext cx="137159" cy="190499"/>
          </a:xfrm>
          <a:prstGeom prst="rect">
            <a:avLst/>
          </a:prstGeom>
          <a:solidFill>
            <a:srgbClr val="C81019"/>
          </a:solidFill>
          <a:ln w="5080">
            <a:solidFill>
              <a:srgbClr val="C81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59" y="1303019"/>
            <a:ext cx="137159" cy="1904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779" b="1" i="0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" y="1485899"/>
            <a:ext cx="457199" cy="1371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899" b="1" i="0">
                <a:solidFill>
                  <a:srgbClr val="C81019"/>
                </a:solidFill>
                <a:latin typeface="Arial"/>
              </a:defRPr>
            </a:pPr>
            <a:r>
              <a:t>NEWS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59" y="1303019"/>
            <a:ext cx="647699" cy="2743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2099" b="1" i="0">
                <a:solidFill>
                  <a:srgbClr val="E51519"/>
                </a:solidFill>
                <a:latin typeface="Arial"/>
              </a:defRPr>
            </a:pPr>
            <a:r>
              <a:t>CNN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299" y="1722119"/>
            <a:ext cx="929639" cy="3200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99" b="1" i="0">
                <a:solidFill>
                  <a:srgbClr val="111111"/>
                </a:solidFill>
                <a:latin typeface="Liberation Serif"/>
              </a:defRPr>
            </a:pPr>
            <a:r>
              <a:t>The</a:t>
            </a:r>
            <a:br/>
            <a:r>
              <a:t>Guardian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2999" y="1706879"/>
            <a:ext cx="380999" cy="3581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2639" b="1" i="1">
                <a:solidFill>
                  <a:srgbClr val="111111"/>
                </a:solidFill>
                <a:latin typeface="Liberation Serif"/>
              </a:defRPr>
            </a:pPr>
            <a:r>
              <a:t>T</a:t>
            </a:r>
          </a:p>
        </p:txBody>
      </p:sp>
      <p:sp>
        <p:nvSpPr>
          <p:cNvPr id="28" name="Freeform 27"/>
          <p:cNvSpPr/>
          <p:nvPr/>
        </p:nvSpPr>
        <p:spPr>
          <a:xfrm>
            <a:off x="2339339" y="1036319"/>
            <a:ext cx="106680" cy="609600"/>
          </a:xfrm>
          <a:custGeom>
            <a:avLst/>
            <a:gdLst/>
            <a:ahLst/>
            <a:cxnLst/>
            <a:rect l="l" t="t" r="r" b="b"/>
            <a:pathLst>
              <a:path w="106680" h="609600">
                <a:moveTo>
                  <a:pt x="0" y="0"/>
                </a:moveTo>
                <a:lnTo>
                  <a:pt x="53340" y="0"/>
                </a:lnTo>
                <a:lnTo>
                  <a:pt x="106680" y="304800"/>
                </a:lnTo>
                <a:lnTo>
                  <a:pt x="53340" y="609600"/>
                </a:lnTo>
                <a:lnTo>
                  <a:pt x="0" y="609600"/>
                </a:lnTo>
                <a:lnTo>
                  <a:pt x="45720" y="304800"/>
                </a:lnTo>
                <a:close/>
              </a:path>
            </a:pathLst>
          </a:custGeom>
          <a:solidFill>
            <a:srgbClr val="858585"/>
          </a:solidFill>
          <a:ln w="7619">
            <a:solidFill>
              <a:srgbClr val="85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53639" y="533399"/>
            <a:ext cx="2164079" cy="1623059"/>
          </a:xfrm>
          <a:prstGeom prst="roundRect">
            <a:avLst>
              <a:gd name="adj" fmla="val 4694"/>
            </a:avLst>
          </a:prstGeom>
          <a:solidFill>
            <a:srgbClr val="FFFFFF"/>
          </a:solidFill>
          <a:ln w="1904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75559" y="678179"/>
            <a:ext cx="304799" cy="281939"/>
          </a:xfrm>
          <a:prstGeom prst="rect">
            <a:avLst/>
          </a:pr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75559" y="624839"/>
            <a:ext cx="304799" cy="106679"/>
          </a:xfrm>
          <a:prstGeom prst="ellipse">
            <a:avLst/>
          </a:pr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75559" y="906779"/>
            <a:ext cx="304799" cy="106679"/>
          </a:xfrm>
          <a:prstGeom prst="ellipse">
            <a:avLst/>
          </a:pr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575559" y="792479"/>
            <a:ext cx="304800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766059" y="845819"/>
            <a:ext cx="182880" cy="198120"/>
          </a:xfrm>
          <a:custGeom>
            <a:avLst/>
            <a:gdLst/>
            <a:ahLst/>
            <a:cxnLst/>
            <a:rect l="l" t="t" r="r" b="b"/>
            <a:pathLst>
              <a:path w="182880" h="198120">
                <a:moveTo>
                  <a:pt x="0" y="0"/>
                </a:moveTo>
                <a:lnTo>
                  <a:pt x="182880" y="0"/>
                </a:lnTo>
                <a:lnTo>
                  <a:pt x="121920" y="76200"/>
                </a:lnTo>
                <a:lnTo>
                  <a:pt x="121920" y="198120"/>
                </a:lnTo>
                <a:lnTo>
                  <a:pt x="68580" y="160020"/>
                </a:lnTo>
                <a:lnTo>
                  <a:pt x="68580" y="76200"/>
                </a:lnTo>
                <a:close/>
              </a:path>
            </a:pathLst>
          </a:cu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78479" y="579119"/>
            <a:ext cx="1432559" cy="2743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Data Filtering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8479" y="800099"/>
            <a:ext cx="1447799" cy="3276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259" b="0" i="0">
                <a:solidFill>
                  <a:srgbClr val="111111"/>
                </a:solidFill>
                <a:latin typeface="Liberation Serif"/>
              </a:defRPr>
            </a:pPr>
            <a:r>
              <a:t>Retain high-quality</a:t>
            </a:r>
            <a:br/>
            <a:r>
              <a:t>news samples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599" y="1142999"/>
            <a:ext cx="1866899" cy="2438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379" b="1" i="0">
                <a:solidFill>
                  <a:srgbClr val="111111"/>
                </a:solidFill>
                <a:latin typeface="Liberation Serif"/>
              </a:defRPr>
            </a:pPr>
            <a:r>
              <a:t>Filtering target: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06979" y="1394459"/>
            <a:ext cx="1965959" cy="6324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139" b="0" i="0">
                <a:solidFill>
                  <a:srgbClr val="111111"/>
                </a:solidFill>
                <a:latin typeface="Liberation Serif"/>
              </a:defRPr>
            </a:pPr>
            <a:r>
              <a:t>•   Noise Information</a:t>
            </a:r>
            <a:br/>
            <a:r>
              <a:t>•   Duplicate data</a:t>
            </a:r>
            <a:br/>
            <a:r>
              <a:t>•   Video length within 5 minutes</a:t>
            </a:r>
          </a:p>
        </p:txBody>
      </p:sp>
      <p:sp>
        <p:nvSpPr>
          <p:cNvPr id="39" name="Freeform 38"/>
          <p:cNvSpPr/>
          <p:nvPr/>
        </p:nvSpPr>
        <p:spPr>
          <a:xfrm>
            <a:off x="4686299" y="1036319"/>
            <a:ext cx="106680" cy="609600"/>
          </a:xfrm>
          <a:custGeom>
            <a:avLst/>
            <a:gdLst/>
            <a:ahLst/>
            <a:cxnLst/>
            <a:rect l="l" t="t" r="r" b="b"/>
            <a:pathLst>
              <a:path w="106680" h="609600">
                <a:moveTo>
                  <a:pt x="0" y="0"/>
                </a:moveTo>
                <a:lnTo>
                  <a:pt x="53340" y="0"/>
                </a:lnTo>
                <a:lnTo>
                  <a:pt x="106680" y="304800"/>
                </a:lnTo>
                <a:lnTo>
                  <a:pt x="53340" y="609600"/>
                </a:lnTo>
                <a:lnTo>
                  <a:pt x="0" y="609600"/>
                </a:lnTo>
                <a:lnTo>
                  <a:pt x="45720" y="304800"/>
                </a:lnTo>
                <a:close/>
              </a:path>
            </a:pathLst>
          </a:custGeom>
          <a:solidFill>
            <a:srgbClr val="858585"/>
          </a:solidFill>
          <a:ln w="7619">
            <a:solidFill>
              <a:srgbClr val="85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00599" y="533399"/>
            <a:ext cx="3329939" cy="1623059"/>
          </a:xfrm>
          <a:prstGeom prst="roundRect">
            <a:avLst>
              <a:gd name="adj" fmla="val 4694"/>
            </a:avLst>
          </a:prstGeom>
          <a:solidFill>
            <a:srgbClr val="FFFFFF"/>
          </a:solidFill>
          <a:ln w="1904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76799" y="662939"/>
            <a:ext cx="365759" cy="327659"/>
          </a:xfrm>
          <a:prstGeom prst="rect">
            <a:avLst/>
          </a:pr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76799" y="609599"/>
            <a:ext cx="365759" cy="106679"/>
          </a:xfrm>
          <a:prstGeom prst="ellipse">
            <a:avLst/>
          </a:pr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876799" y="937259"/>
            <a:ext cx="365759" cy="106679"/>
          </a:xfrm>
          <a:prstGeom prst="ellipse">
            <a:avLst/>
          </a:pr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4876799" y="777239"/>
            <a:ext cx="365760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18759" y="579119"/>
            <a:ext cx="1257299" cy="2743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319" b="1" i="0">
                <a:solidFill>
                  <a:srgbClr val="111111"/>
                </a:solidFill>
                <a:latin typeface="Liberation Serif"/>
              </a:defRPr>
            </a:pPr>
            <a:r>
              <a:t>Data Processing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61559" y="1059179"/>
            <a:ext cx="1074419" cy="1005839"/>
          </a:xfrm>
          <a:prstGeom prst="roundRect">
            <a:avLst>
              <a:gd name="adj" fmla="val 7575"/>
            </a:avLst>
          </a:prstGeom>
          <a:solidFill>
            <a:srgbClr val="F9FBFD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937759" y="1135379"/>
            <a:ext cx="937259" cy="396239"/>
          </a:xfrm>
          <a:prstGeom prst="roundRect">
            <a:avLst>
              <a:gd name="adj" fmla="val 9615"/>
            </a:avLst>
          </a:prstGeom>
          <a:solidFill>
            <a:srgbClr val="EEF2F5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199" y="1142999"/>
            <a:ext cx="769619" cy="3809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News Title,</a:t>
            </a:r>
            <a:br/>
            <a:r>
              <a:t>Visual 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58739" y="1569719"/>
            <a:ext cx="510539" cy="365759"/>
          </a:xfrm>
          <a:prstGeom prst="rect">
            <a:avLst/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204459" y="1638299"/>
            <a:ext cx="419100" cy="243840"/>
          </a:xfrm>
          <a:custGeom>
            <a:avLst/>
            <a:gdLst/>
            <a:ahLst/>
            <a:cxnLst/>
            <a:rect l="l" t="t" r="r" b="b"/>
            <a:pathLst>
              <a:path w="419100" h="243840">
                <a:moveTo>
                  <a:pt x="0" y="243840"/>
                </a:moveTo>
                <a:lnTo>
                  <a:pt x="91440" y="68580"/>
                </a:lnTo>
                <a:lnTo>
                  <a:pt x="167640" y="160020"/>
                </a:lnTo>
                <a:lnTo>
                  <a:pt x="251460" y="0"/>
                </a:lnTo>
                <a:lnTo>
                  <a:pt x="419100" y="243840"/>
                </a:lnTo>
                <a:close/>
              </a:path>
            </a:pathLst>
          </a:custGeom>
          <a:solidFill>
            <a:srgbClr val="2D2D3A"/>
          </a:solidFill>
          <a:ln w="7619">
            <a:solidFill>
              <a:srgbClr val="2D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60619" y="1882139"/>
            <a:ext cx="876299" cy="1828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59" b="1" i="0">
                <a:solidFill>
                  <a:srgbClr val="111111"/>
                </a:solidFill>
                <a:latin typeface="Liberation Serif"/>
              </a:defRPr>
            </a:pPr>
            <a:r>
              <a:t>Video Frames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89319" y="1554479"/>
            <a:ext cx="24384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537959" y="693419"/>
            <a:ext cx="146303" cy="164591"/>
          </a:xfrm>
          <a:prstGeom prst="ellipse">
            <a:avLst/>
          </a:pr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6580631" y="858011"/>
            <a:ext cx="60960" cy="0"/>
          </a:xfrm>
          <a:prstGeom prst="line">
            <a:avLst/>
          </a:prstGeom>
          <a:ln w="1523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586727" y="882395"/>
            <a:ext cx="48768" cy="0"/>
          </a:xfrm>
          <a:prstGeom prst="line">
            <a:avLst/>
          </a:prstGeom>
          <a:ln w="1523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733031" y="772667"/>
            <a:ext cx="36576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697322" y="858878"/>
            <a:ext cx="25863" cy="25863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611111" y="894587"/>
            <a:ext cx="0" cy="36576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499038" y="858878"/>
            <a:ext cx="25863" cy="25863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6452615" y="772667"/>
            <a:ext cx="36576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6499038" y="660594"/>
            <a:ext cx="25863" cy="25863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11111" y="614171"/>
            <a:ext cx="0" cy="36576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697322" y="660594"/>
            <a:ext cx="25863" cy="25863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728459" y="670559"/>
            <a:ext cx="640079" cy="3581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Designed</a:t>
            </a:r>
            <a:br/>
            <a:r>
              <a:t>Prompt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598919" y="1112519"/>
            <a:ext cx="0" cy="19812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385559" y="1348739"/>
            <a:ext cx="349910" cy="349910"/>
          </a:xfrm>
          <a:prstGeom prst="roundRect">
            <a:avLst>
              <a:gd name="adj" fmla="val 12500"/>
            </a:avLst>
          </a:prstGeom>
          <a:solidFill>
            <a:srgbClr val="65A99C"/>
          </a:solidFill>
          <a:ln w="7619">
            <a:solidFill>
              <a:srgbClr val="65A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566763" y="1479956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32397" y="1539480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463664" y="1539480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429298" y="1479956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463664" y="1420432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32397" y="1420432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35521" y="1498701"/>
            <a:ext cx="49987" cy="49987"/>
          </a:xfrm>
          <a:prstGeom prst="ellipse">
            <a:avLst/>
          </a:prstGeom>
          <a:solidFill>
            <a:srgbClr val="FFFFFF"/>
          </a:solidFill>
          <a:ln w="761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0319" y="1698650"/>
            <a:ext cx="374903" cy="137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737" b="1" i="0">
                <a:solidFill>
                  <a:srgbClr val="111111"/>
                </a:solidFill>
                <a:latin typeface="Arial"/>
              </a:defRPr>
            </a:pPr>
            <a:r>
              <a:t>GPT-4o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667499" y="1562099"/>
            <a:ext cx="31242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002779" y="1264919"/>
            <a:ext cx="1051559" cy="632459"/>
          </a:xfrm>
          <a:prstGeom prst="roundRect">
            <a:avLst>
              <a:gd name="adj" fmla="val 12048"/>
            </a:avLst>
          </a:prstGeom>
          <a:solidFill>
            <a:srgbClr val="A8CBE9"/>
          </a:solidFill>
          <a:ln w="22859">
            <a:solidFill>
              <a:srgbClr val="D8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63739" y="1295399"/>
            <a:ext cx="929639" cy="5714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139" b="1" i="0">
                <a:solidFill>
                  <a:srgbClr val="111111"/>
                </a:solidFill>
                <a:latin typeface="Arial"/>
              </a:defRPr>
            </a:pPr>
            <a:r>
              <a:t>News-domain</a:t>
            </a:r>
            <a:br/>
            <a:r>
              <a:t>Video Caption</a:t>
            </a:r>
          </a:p>
        </p:txBody>
      </p:sp>
      <p:sp>
        <p:nvSpPr>
          <p:cNvPr id="78" name="Freeform 77"/>
          <p:cNvSpPr/>
          <p:nvPr/>
        </p:nvSpPr>
        <p:spPr>
          <a:xfrm>
            <a:off x="8168639" y="1066799"/>
            <a:ext cx="106680" cy="548640"/>
          </a:xfrm>
          <a:custGeom>
            <a:avLst/>
            <a:gdLst/>
            <a:ahLst/>
            <a:cxnLst/>
            <a:rect l="l" t="t" r="r" b="b"/>
            <a:pathLst>
              <a:path w="106680" h="548640">
                <a:moveTo>
                  <a:pt x="0" y="0"/>
                </a:moveTo>
                <a:lnTo>
                  <a:pt x="53340" y="0"/>
                </a:lnTo>
                <a:lnTo>
                  <a:pt x="106680" y="274320"/>
                </a:lnTo>
                <a:lnTo>
                  <a:pt x="53340" y="548640"/>
                </a:lnTo>
                <a:lnTo>
                  <a:pt x="0" y="548640"/>
                </a:lnTo>
                <a:lnTo>
                  <a:pt x="45720" y="274320"/>
                </a:lnTo>
                <a:close/>
              </a:path>
            </a:pathLst>
          </a:custGeom>
          <a:solidFill>
            <a:srgbClr val="858585"/>
          </a:solidFill>
          <a:ln w="7619">
            <a:solidFill>
              <a:srgbClr val="85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282939" y="533399"/>
            <a:ext cx="3848099" cy="1623059"/>
          </a:xfrm>
          <a:prstGeom prst="roundRect">
            <a:avLst>
              <a:gd name="adj" fmla="val 4694"/>
            </a:avLst>
          </a:prstGeom>
          <a:solidFill>
            <a:srgbClr val="FFFFFF"/>
          </a:solidFill>
          <a:ln w="1904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74379" y="579119"/>
            <a:ext cx="411479" cy="259079"/>
          </a:xfrm>
          <a:prstGeom prst="rect">
            <a:avLst/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97239" y="586739"/>
            <a:ext cx="243839" cy="2209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19" b="1" i="0">
                <a:solidFill>
                  <a:srgbClr val="111111"/>
                </a:solidFill>
                <a:latin typeface="Arial"/>
              </a:defRPr>
            </a:pPr>
            <a:r>
              <a:t>▥</a:t>
            </a:r>
          </a:p>
        </p:txBody>
      </p:sp>
      <p:sp>
        <p:nvSpPr>
          <p:cNvPr id="82" name="Oval 81"/>
          <p:cNvSpPr/>
          <p:nvPr/>
        </p:nvSpPr>
        <p:spPr>
          <a:xfrm>
            <a:off x="8633459" y="624839"/>
            <a:ext cx="106679" cy="106679"/>
          </a:xfrm>
          <a:prstGeom prst="ellipse">
            <a:avLst/>
          </a:prstGeom>
          <a:solidFill>
            <a:srgbClr val="FFFFFF"/>
          </a:solidFill>
          <a:ln w="114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00159" y="586739"/>
            <a:ext cx="3139439" cy="2743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379" b="1" i="0">
                <a:solidFill>
                  <a:srgbClr val="111111"/>
                </a:solidFill>
                <a:latin typeface="Liberation Serif"/>
              </a:defRPr>
            </a:pPr>
            <a:r>
              <a:t>Misinformation Data Construction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05799" y="975359"/>
            <a:ext cx="624839" cy="1752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839" b="1" i="0">
                <a:solidFill>
                  <a:srgbClr val="111111"/>
                </a:solidFill>
                <a:latin typeface="Liberation Serif"/>
              </a:defRPr>
            </a:pPr>
            <a:r>
              <a:t>Video news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381999" y="1174241"/>
            <a:ext cx="291464" cy="194309"/>
          </a:xfrm>
          <a:prstGeom prst="roundRect">
            <a:avLst>
              <a:gd name="adj" fmla="val 18000"/>
            </a:avLst>
          </a:prstGeom>
          <a:solidFill>
            <a:srgbClr val="7F78CF"/>
          </a:solidFill>
          <a:ln w="7619">
            <a:solidFill>
              <a:srgbClr val="7F7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8673464" y="1167764"/>
            <a:ext cx="103632" cy="207264"/>
          </a:xfrm>
          <a:custGeom>
            <a:avLst/>
            <a:gdLst/>
            <a:ahLst/>
            <a:cxnLst/>
            <a:rect l="l" t="t" r="r" b="b"/>
            <a:pathLst>
              <a:path w="103632" h="207264">
                <a:moveTo>
                  <a:pt x="0" y="45339"/>
                </a:moveTo>
                <a:lnTo>
                  <a:pt x="103632" y="0"/>
                </a:lnTo>
                <a:lnTo>
                  <a:pt x="103632" y="207264"/>
                </a:lnTo>
                <a:lnTo>
                  <a:pt x="0" y="161925"/>
                </a:lnTo>
                <a:close/>
              </a:path>
            </a:pathLst>
          </a:custGeom>
          <a:solidFill>
            <a:srgbClr val="7F78CF"/>
          </a:solidFill>
          <a:ln w="7619">
            <a:solidFill>
              <a:srgbClr val="7F7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8498585" y="1219580"/>
            <a:ext cx="90678" cy="103632"/>
          </a:xfrm>
          <a:custGeom>
            <a:avLst/>
            <a:gdLst/>
            <a:ahLst/>
            <a:cxnLst/>
            <a:rect l="l" t="t" r="r" b="b"/>
            <a:pathLst>
              <a:path w="90678" h="103632">
                <a:moveTo>
                  <a:pt x="0" y="0"/>
                </a:moveTo>
                <a:lnTo>
                  <a:pt x="0" y="103632"/>
                </a:lnTo>
                <a:lnTo>
                  <a:pt x="90678" y="51816"/>
                </a:lnTo>
                <a:close/>
              </a:path>
            </a:pathLst>
          </a:custGeom>
          <a:solidFill>
            <a:srgbClr val="C7C5EF"/>
          </a:solidFill>
          <a:ln w="7619">
            <a:solidFill>
              <a:srgbClr val="C7C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8862059" y="1310639"/>
            <a:ext cx="28956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19159" y="1440179"/>
            <a:ext cx="0" cy="182880"/>
          </a:xfrm>
          <a:prstGeom prst="line">
            <a:avLst/>
          </a:prstGeom>
          <a:ln w="1523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549639" y="1432559"/>
            <a:ext cx="548639" cy="1981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839" b="1" i="0">
                <a:solidFill>
                  <a:srgbClr val="111111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51519" y="1699259"/>
            <a:ext cx="320039" cy="274319"/>
          </a:xfrm>
          <a:prstGeom prst="rect">
            <a:avLst/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351519" y="1645919"/>
            <a:ext cx="320039" cy="106679"/>
          </a:xfrm>
          <a:prstGeom prst="ellipse">
            <a:avLst/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351519" y="1920239"/>
            <a:ext cx="320039" cy="106679"/>
          </a:xfrm>
          <a:prstGeom prst="ellipse">
            <a:avLst/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8351519" y="1813559"/>
            <a:ext cx="320040" cy="0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252459" y="1996439"/>
            <a:ext cx="655319" cy="1219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599" b="1" i="0">
                <a:solidFill>
                  <a:srgbClr val="111111"/>
                </a:solidFill>
                <a:latin typeface="Arial"/>
              </a:defRPr>
            </a:pPr>
            <a:r>
              <a:t>News Database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8702039" y="1836419"/>
            <a:ext cx="44196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9197339" y="1089659"/>
            <a:ext cx="868679" cy="380999"/>
          </a:xfrm>
          <a:prstGeom prst="roundRect">
            <a:avLst>
              <a:gd name="adj" fmla="val 16000"/>
            </a:avLst>
          </a:prstGeom>
          <a:solidFill>
            <a:srgbClr val="F3F5F6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50679" y="1120139"/>
            <a:ext cx="761999" cy="3124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79" b="1" i="0">
                <a:solidFill>
                  <a:srgbClr val="111111"/>
                </a:solidFill>
                <a:latin typeface="Arial"/>
              </a:defRPr>
            </a:pPr>
            <a:r>
              <a:t>News Title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464039" y="1455419"/>
            <a:ext cx="342899" cy="2743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979" b="1" i="0">
                <a:solidFill>
                  <a:srgbClr val="111111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197339" y="1661159"/>
            <a:ext cx="868679" cy="380999"/>
          </a:xfrm>
          <a:prstGeom prst="roundRect">
            <a:avLst>
              <a:gd name="adj" fmla="val 16000"/>
            </a:avLst>
          </a:prstGeom>
          <a:solidFill>
            <a:srgbClr val="F5FAEA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35439" y="1676399"/>
            <a:ext cx="792479" cy="3428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899" b="1" i="0">
                <a:solidFill>
                  <a:srgbClr val="111111"/>
                </a:solidFill>
                <a:latin typeface="Arial"/>
              </a:defRPr>
            </a:pPr>
            <a:r>
              <a:t>Top k Similar</a:t>
            </a:r>
            <a:br/>
            <a:r>
              <a:t>News Titles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088879" y="1592579"/>
            <a:ext cx="22098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10058399" y="800099"/>
            <a:ext cx="131673" cy="148132"/>
          </a:xfrm>
          <a:prstGeom prst="ellipse">
            <a:avLst/>
          </a:pr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10096804" y="948232"/>
            <a:ext cx="54864" cy="0"/>
          </a:xfrm>
          <a:prstGeom prst="line">
            <a:avLst/>
          </a:prstGeom>
          <a:ln w="1523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0102290" y="970178"/>
            <a:ext cx="43892" cy="0"/>
          </a:xfrm>
          <a:prstGeom prst="line">
            <a:avLst/>
          </a:prstGeom>
          <a:ln w="1523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233964" y="871423"/>
            <a:ext cx="32918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201825" y="949012"/>
            <a:ext cx="23277" cy="23277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124236" y="981151"/>
            <a:ext cx="0" cy="32918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10023370" y="949012"/>
            <a:ext cx="23277" cy="23277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9981590" y="871423"/>
            <a:ext cx="32918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10023370" y="770556"/>
            <a:ext cx="23277" cy="23277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124236" y="728776"/>
            <a:ext cx="0" cy="32919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201825" y="770556"/>
            <a:ext cx="23277" cy="23277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0286999" y="822959"/>
            <a:ext cx="685799" cy="3352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899" b="1" i="0">
                <a:solidFill>
                  <a:srgbClr val="111111"/>
                </a:solidFill>
                <a:latin typeface="Arial"/>
              </a:defRPr>
            </a:pPr>
            <a:r>
              <a:t>Designed</a:t>
            </a:r>
            <a:br/>
            <a:r>
              <a:t>Prompt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0515599" y="1181099"/>
            <a:ext cx="0" cy="17526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10332719" y="1371599"/>
            <a:ext cx="349910" cy="349910"/>
          </a:xfrm>
          <a:prstGeom prst="roundRect">
            <a:avLst>
              <a:gd name="adj" fmla="val 12500"/>
            </a:avLst>
          </a:prstGeom>
          <a:solidFill>
            <a:srgbClr val="65A99C"/>
          </a:solidFill>
          <a:ln w="7619">
            <a:solidFill>
              <a:srgbClr val="65A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513923" y="1502816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479557" y="1562340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410824" y="1562340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376458" y="1502816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410824" y="1443292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479557" y="1443292"/>
            <a:ext cx="124967" cy="87477"/>
          </a:xfrm>
          <a:prstGeom prst="ellipse">
            <a:avLst/>
          </a:prstGeom>
          <a:solidFill>
            <a:srgbClr val="65A99C"/>
          </a:solidFill>
          <a:ln w="1249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482681" y="1521561"/>
            <a:ext cx="49987" cy="49987"/>
          </a:xfrm>
          <a:prstGeom prst="ellipse">
            <a:avLst/>
          </a:prstGeom>
          <a:solidFill>
            <a:srgbClr val="FFFFFF"/>
          </a:solidFill>
          <a:ln w="761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317479" y="1721510"/>
            <a:ext cx="374903" cy="137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737" b="1" i="0">
                <a:solidFill>
                  <a:srgbClr val="111111"/>
                </a:solidFill>
                <a:latin typeface="Arial"/>
              </a:defRPr>
            </a:pPr>
            <a:r>
              <a:t>GPT-4o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0728959" y="1584959"/>
            <a:ext cx="20574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11010899" y="838199"/>
            <a:ext cx="1089659" cy="541019"/>
          </a:xfrm>
          <a:prstGeom prst="roundRect">
            <a:avLst>
              <a:gd name="adj" fmla="val 9859"/>
            </a:avLst>
          </a:prstGeom>
          <a:solidFill>
            <a:srgbClr val="FFFDF4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1010899" y="838199"/>
            <a:ext cx="1089659" cy="190499"/>
          </a:xfrm>
          <a:prstGeom prst="roundRect">
            <a:avLst>
              <a:gd name="adj" fmla="val 18000"/>
            </a:avLst>
          </a:prstGeom>
          <a:solidFill>
            <a:srgbClr val="A9CCEB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048999" y="830579"/>
            <a:ext cx="1013459" cy="2057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19" b="1" i="0">
                <a:solidFill>
                  <a:srgbClr val="111111"/>
                </a:solidFill>
                <a:latin typeface="Liberation Serif"/>
              </a:defRPr>
            </a:pPr>
            <a:r>
              <a:t>Forged News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087099" y="1043939"/>
            <a:ext cx="952499" cy="3200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59" b="0" i="0">
                <a:solidFill>
                  <a:srgbClr val="111111"/>
                </a:solidFill>
                <a:latin typeface="Liberation Serif"/>
              </a:defRPr>
            </a:pPr>
            <a:r>
              <a:t>Four types of</a:t>
            </a:r>
            <a:br/>
            <a:r>
              <a:t>entity replacing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1010899" y="1424939"/>
            <a:ext cx="1089659" cy="571499"/>
          </a:xfrm>
          <a:prstGeom prst="roundRect">
            <a:avLst>
              <a:gd name="adj" fmla="val 9333"/>
            </a:avLst>
          </a:prstGeom>
          <a:solidFill>
            <a:srgbClr val="FFFDF4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11010899" y="1424939"/>
            <a:ext cx="1089659" cy="205739"/>
          </a:xfrm>
          <a:prstGeom prst="roundRect">
            <a:avLst>
              <a:gd name="adj" fmla="val 18000"/>
            </a:avLst>
          </a:prstGeom>
          <a:solidFill>
            <a:srgbClr val="DFF1D6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048999" y="1417319"/>
            <a:ext cx="1013459" cy="2133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59" b="1" i="0">
                <a:solidFill>
                  <a:srgbClr val="111111"/>
                </a:solidFill>
                <a:latin typeface="Liberation Serif"/>
              </a:defRPr>
            </a:pPr>
            <a:r>
              <a:t>Interpretability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094719" y="1645919"/>
            <a:ext cx="914399" cy="3352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899" b="0" i="0">
                <a:solidFill>
                  <a:srgbClr val="111111"/>
                </a:solidFill>
                <a:latin typeface="Liberation Serif"/>
              </a:defRPr>
            </a:pPr>
            <a:r>
              <a:t>•   Fake entity</a:t>
            </a:r>
            <a:br/>
            <a:r>
              <a:t>•   Forged type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0959" y="2255519"/>
            <a:ext cx="12070079" cy="342899"/>
          </a:xfrm>
          <a:prstGeom prst="roundRect">
            <a:avLst>
              <a:gd name="adj" fmla="val 2222"/>
            </a:avLst>
          </a:prstGeom>
          <a:solidFill>
            <a:srgbClr val="EEF1F9"/>
          </a:solidFill>
          <a:ln w="1904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6199" y="2255519"/>
            <a:ext cx="12039599" cy="3428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799" b="1" i="0">
                <a:solidFill>
                  <a:srgbClr val="111111"/>
                </a:solidFill>
                <a:latin typeface="Liberation Serif"/>
              </a:defRPr>
            </a:pPr>
            <a:r>
              <a:t>Fact-R1 Pipeline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0959" y="2682239"/>
            <a:ext cx="3642359" cy="4343399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904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60959" y="2682239"/>
            <a:ext cx="3642359" cy="259079"/>
          </a:xfrm>
          <a:prstGeom prst="roundRect">
            <a:avLst>
              <a:gd name="adj" fmla="val 18000"/>
            </a:avLst>
          </a:prstGeom>
          <a:solidFill>
            <a:srgbClr val="FFFEF0"/>
          </a:solidFill>
          <a:ln w="1523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9059" y="2682239"/>
            <a:ext cx="3566159" cy="2590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Long-CoT Instruction Tuning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52399" y="3002279"/>
            <a:ext cx="3428999" cy="2362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319" b="1" i="0">
                <a:solidFill>
                  <a:srgbClr val="111111"/>
                </a:solidFill>
                <a:latin typeface="Liberation Serif"/>
              </a:defRPr>
            </a:pPr>
            <a:r>
              <a:t>(a) Misinformation Long-cot Generation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67639" y="3436619"/>
            <a:ext cx="960119" cy="472439"/>
          </a:xfrm>
          <a:prstGeom prst="roundRect">
            <a:avLst>
              <a:gd name="adj" fmla="val 11290"/>
            </a:avLst>
          </a:prstGeom>
          <a:solidFill>
            <a:srgbClr val="B9D7EF"/>
          </a:solidFill>
          <a:ln w="22859">
            <a:solidFill>
              <a:srgbClr val="DC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05739" y="3459479"/>
            <a:ext cx="883919" cy="4190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News-domain</a:t>
            </a:r>
            <a:br/>
            <a:r>
              <a:t>Video Caption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67639" y="3947159"/>
            <a:ext cx="960119" cy="281939"/>
          </a:xfrm>
          <a:prstGeom prst="roundRect">
            <a:avLst>
              <a:gd name="adj" fmla="val 18000"/>
            </a:avLst>
          </a:prstGeom>
          <a:solidFill>
            <a:srgbClr val="B9D7EF"/>
          </a:solidFill>
          <a:ln w="22859">
            <a:solidFill>
              <a:srgbClr val="DC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13359" y="3954779"/>
            <a:ext cx="868679" cy="2666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News Audio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67639" y="4267199"/>
            <a:ext cx="960119" cy="281939"/>
          </a:xfrm>
          <a:prstGeom prst="roundRect">
            <a:avLst>
              <a:gd name="adj" fmla="val 18000"/>
            </a:avLst>
          </a:prstGeom>
          <a:solidFill>
            <a:srgbClr val="B9D7EF"/>
          </a:solidFill>
          <a:ln w="22859">
            <a:solidFill>
              <a:srgbClr val="DC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13359" y="4274819"/>
            <a:ext cx="868679" cy="2666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News Title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142999" y="3985259"/>
            <a:ext cx="24384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1188719" y="3268979"/>
            <a:ext cx="124358" cy="139903"/>
          </a:xfrm>
          <a:prstGeom prst="ellipse">
            <a:avLst/>
          </a:prstGeom>
          <a:solidFill>
            <a:srgbClr val="FFFFFF"/>
          </a:solidFill>
          <a:ln w="1523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1224991" y="3408883"/>
            <a:ext cx="51816" cy="0"/>
          </a:xfrm>
          <a:prstGeom prst="line">
            <a:avLst/>
          </a:prstGeom>
          <a:ln w="1523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230172" y="3429609"/>
            <a:ext cx="41453" cy="0"/>
          </a:xfrm>
          <a:prstGeom prst="line">
            <a:avLst/>
          </a:prstGeom>
          <a:ln w="1523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354531" y="3336340"/>
            <a:ext cx="31089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324178" y="3409619"/>
            <a:ext cx="21983" cy="21984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250899" y="3439972"/>
            <a:ext cx="0" cy="3109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1155636" y="3409619"/>
            <a:ext cx="21984" cy="21984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1116177" y="3336340"/>
            <a:ext cx="31090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 flipV="1">
            <a:off x="1155636" y="3241078"/>
            <a:ext cx="21984" cy="21983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250899" y="3201619"/>
            <a:ext cx="0" cy="31089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324178" y="3241078"/>
            <a:ext cx="21983" cy="21983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1424939" y="3238499"/>
            <a:ext cx="594359" cy="3352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Designed</a:t>
            </a:r>
            <a:br/>
            <a:r>
              <a:t>Prompt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1630679" y="3604259"/>
            <a:ext cx="0" cy="15240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1402079" y="3787139"/>
            <a:ext cx="472439" cy="312419"/>
          </a:xfrm>
          <a:prstGeom prst="ellipse">
            <a:avLst/>
          </a:prstGeom>
          <a:solidFill>
            <a:srgbClr val="476FE9"/>
          </a:solidFill>
          <a:ln w="7619">
            <a:solidFill>
              <a:srgbClr val="476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287779" y="3832859"/>
            <a:ext cx="160020" cy="213360"/>
          </a:xfrm>
          <a:custGeom>
            <a:avLst/>
            <a:gdLst/>
            <a:ahLst/>
            <a:cxnLst/>
            <a:rect l="l" t="t" r="r" b="b"/>
            <a:pathLst>
              <a:path w="160020" h="213360">
                <a:moveTo>
                  <a:pt x="114300" y="68580"/>
                </a:moveTo>
                <a:lnTo>
                  <a:pt x="7620" y="0"/>
                </a:lnTo>
                <a:lnTo>
                  <a:pt x="53340" y="129540"/>
                </a:lnTo>
                <a:lnTo>
                  <a:pt x="0" y="213360"/>
                </a:lnTo>
                <a:lnTo>
                  <a:pt x="160020" y="182880"/>
                </a:lnTo>
                <a:close/>
              </a:path>
            </a:pathLst>
          </a:custGeom>
          <a:solidFill>
            <a:srgbClr val="476FE9"/>
          </a:solidFill>
          <a:ln w="7619">
            <a:solidFill>
              <a:srgbClr val="476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752599" y="3825239"/>
            <a:ext cx="60959" cy="60959"/>
          </a:xfrm>
          <a:prstGeom prst="ellipse">
            <a:avLst/>
          </a:prstGeom>
          <a:solidFill>
            <a:srgbClr val="FFFFFF"/>
          </a:solidFill>
          <a:ln w="761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775459" y="3840479"/>
            <a:ext cx="22859" cy="22859"/>
          </a:xfrm>
          <a:prstGeom prst="ellipse">
            <a:avLst/>
          </a:pr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287779" y="4084319"/>
            <a:ext cx="701039" cy="1676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719" b="1" i="0">
                <a:solidFill>
                  <a:srgbClr val="111111"/>
                </a:solidFill>
                <a:latin typeface="Arial"/>
              </a:defRPr>
            </a:pPr>
            <a:r>
              <a:t>DeepSeek-R1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1897379" y="3962399"/>
            <a:ext cx="22860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2392679" y="3223259"/>
            <a:ext cx="1036319" cy="3886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79" b="1" i="0">
                <a:solidFill>
                  <a:srgbClr val="111111"/>
                </a:solidFill>
                <a:latin typeface="Arial"/>
              </a:defRPr>
            </a:pPr>
            <a:r>
              <a:t>Misinformation</a:t>
            </a:r>
            <a:br/>
            <a:r>
              <a:t>Long-cot Data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156459" y="3672839"/>
            <a:ext cx="1402079" cy="510539"/>
          </a:xfrm>
          <a:prstGeom prst="roundRect">
            <a:avLst>
              <a:gd name="adj" fmla="val 11940"/>
            </a:avLst>
          </a:prstGeom>
          <a:solidFill>
            <a:srgbClr val="B7D6EE"/>
          </a:solidFill>
          <a:ln w="22859">
            <a:solidFill>
              <a:srgbClr val="DCE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202179" y="3710939"/>
            <a:ext cx="1310639" cy="434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&lt;think&gt;... &lt;think&gt;</a:t>
            </a:r>
            <a:br/>
            <a:r>
              <a:t>&lt;answer&gt;...&lt;/answer&gt;</a:t>
            </a:r>
          </a:p>
        </p:txBody>
      </p:sp>
      <p:sp>
        <p:nvSpPr>
          <p:cNvPr id="169" name="Oval 168"/>
          <p:cNvSpPr/>
          <p:nvPr/>
        </p:nvSpPr>
        <p:spPr>
          <a:xfrm>
            <a:off x="2362199" y="4221479"/>
            <a:ext cx="137159" cy="137159"/>
          </a:xfrm>
          <a:prstGeom prst="ellipse">
            <a:avLst/>
          </a:prstGeom>
          <a:solidFill>
            <a:srgbClr val="09A868"/>
          </a:solidFill>
          <a:ln w="7619">
            <a:solidFill>
              <a:srgbClr val="09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>
            <a:off x="2392679" y="4290059"/>
            <a:ext cx="30480" cy="30480"/>
          </a:xfrm>
          <a:prstGeom prst="line">
            <a:avLst/>
          </a:prstGeom>
          <a:ln w="1523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2423159" y="4259579"/>
            <a:ext cx="53340" cy="60960"/>
          </a:xfrm>
          <a:prstGeom prst="line">
            <a:avLst/>
          </a:prstGeom>
          <a:ln w="1523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2545079" y="4190999"/>
            <a:ext cx="853439" cy="1904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00AA63"/>
                </a:solidFill>
                <a:latin typeface="Arial"/>
              </a:defRPr>
            </a:pPr>
            <a:r>
              <a:t>Label</a:t>
            </a:r>
          </a:p>
        </p:txBody>
      </p:sp>
      <p:sp>
        <p:nvSpPr>
          <p:cNvPr id="173" name="Oval 172"/>
          <p:cNvSpPr/>
          <p:nvPr/>
        </p:nvSpPr>
        <p:spPr>
          <a:xfrm>
            <a:off x="2362199" y="4427219"/>
            <a:ext cx="137159" cy="137159"/>
          </a:xfrm>
          <a:prstGeom prst="ellipse">
            <a:avLst/>
          </a:prstGeom>
          <a:solidFill>
            <a:srgbClr val="09A868"/>
          </a:solidFill>
          <a:ln w="7619">
            <a:solidFill>
              <a:srgbClr val="09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2392679" y="4495799"/>
            <a:ext cx="30480" cy="30480"/>
          </a:xfrm>
          <a:prstGeom prst="line">
            <a:avLst/>
          </a:prstGeom>
          <a:ln w="1523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423159" y="4465319"/>
            <a:ext cx="53340" cy="60960"/>
          </a:xfrm>
          <a:prstGeom prst="line">
            <a:avLst/>
          </a:prstGeom>
          <a:ln w="1523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545079" y="4389119"/>
            <a:ext cx="990599" cy="2057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00AA63"/>
                </a:solidFill>
                <a:latin typeface="Arial"/>
              </a:defRPr>
            </a:pPr>
            <a:r>
              <a:t>Explainability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52399" y="4709159"/>
            <a:ext cx="1904999" cy="2362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379" b="1" i="0">
                <a:solidFill>
                  <a:srgbClr val="111111"/>
                </a:solidFill>
                <a:latin typeface="Liberation Serif"/>
              </a:defRPr>
            </a:pPr>
            <a:r>
              <a:t>(b) Thinking SFT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554479" y="4930139"/>
            <a:ext cx="1965959" cy="2133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899" b="0" i="0">
                <a:solidFill>
                  <a:srgbClr val="111111"/>
                </a:solidFill>
                <a:latin typeface="Liberation Serif"/>
              </a:defRPr>
            </a:pPr>
            <a:r>
              <a:t>Generation: &lt;think&gt;\nThe video…</a:t>
            </a:r>
          </a:p>
        </p:txBody>
      </p:sp>
      <p:cxnSp>
        <p:nvCxnSpPr>
          <p:cNvPr id="179" name="Connector 178"/>
          <p:cNvCxnSpPr/>
          <p:nvPr/>
        </p:nvCxnSpPr>
        <p:spPr>
          <a:xfrm flipV="1">
            <a:off x="2666999" y="5097779"/>
            <a:ext cx="0" cy="160020"/>
          </a:xfrm>
          <a:prstGeom prst="line">
            <a:avLst/>
          </a:prstGeom>
          <a:ln w="22859">
            <a:solidFill>
              <a:srgbClr val="3A92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unded Rectangle 179"/>
          <p:cNvSpPr/>
          <p:nvPr/>
        </p:nvSpPr>
        <p:spPr>
          <a:xfrm>
            <a:off x="198119" y="5273039"/>
            <a:ext cx="3390899" cy="380999"/>
          </a:xfrm>
          <a:prstGeom prst="roundRect">
            <a:avLst>
              <a:gd name="adj" fmla="val 16000"/>
            </a:avLst>
          </a:prstGeom>
          <a:solidFill>
            <a:srgbClr val="D9E9F7"/>
          </a:solidFill>
          <a:ln w="15239"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213359" y="5303519"/>
            <a:ext cx="594359" cy="266699"/>
          </a:xfrm>
          <a:prstGeom prst="roundRect">
            <a:avLst>
              <a:gd name="adj" fmla="val 18000"/>
            </a:avLst>
          </a:prstGeom>
          <a:solidFill>
            <a:srgbClr val="F4BEA0"/>
          </a:solidFill>
          <a:ln w="1142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266699" y="5333999"/>
            <a:ext cx="152400" cy="182880"/>
          </a:xfrm>
          <a:custGeom>
            <a:avLst/>
            <a:gdLst/>
            <a:ahLst/>
            <a:cxnLst/>
            <a:rect l="l" t="t" r="r" b="b"/>
            <a:pathLst>
              <a:path w="152400" h="182880">
                <a:moveTo>
                  <a:pt x="0" y="167640"/>
                </a:moveTo>
                <a:lnTo>
                  <a:pt x="38100" y="60960"/>
                </a:lnTo>
                <a:lnTo>
                  <a:pt x="76200" y="106680"/>
                </a:lnTo>
                <a:lnTo>
                  <a:pt x="106680" y="0"/>
                </a:lnTo>
                <a:lnTo>
                  <a:pt x="152400" y="99060"/>
                </a:lnTo>
                <a:lnTo>
                  <a:pt x="129540" y="182880"/>
                </a:lnTo>
                <a:close/>
              </a:path>
            </a:pathLst>
          </a:cu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88619" y="5311139"/>
            <a:ext cx="388619" cy="2438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59" b="1" i="0">
                <a:solidFill>
                  <a:srgbClr val="111111"/>
                </a:solidFill>
                <a:latin typeface="Arial"/>
              </a:defRPr>
            </a:pPr>
            <a:r>
              <a:t>LoRA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99159" y="5288279"/>
            <a:ext cx="2590799" cy="3428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379" b="1" i="0">
                <a:solidFill>
                  <a:srgbClr val="111111"/>
                </a:solidFill>
                <a:latin typeface="Liberation Serif"/>
              </a:defRPr>
            </a:pPr>
            <a:r>
              <a:t>Large Language Model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975359" y="5669279"/>
            <a:ext cx="0" cy="350520"/>
          </a:xfrm>
          <a:prstGeom prst="line">
            <a:avLst/>
          </a:prstGeom>
          <a:ln w="30479">
            <a:solidFill>
              <a:srgbClr val="3A92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2636519" y="5669279"/>
            <a:ext cx="0" cy="350520"/>
          </a:xfrm>
          <a:prstGeom prst="line">
            <a:avLst/>
          </a:prstGeom>
          <a:ln w="30479">
            <a:solidFill>
              <a:srgbClr val="3A92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320039" y="5867399"/>
            <a:ext cx="1356359" cy="281939"/>
          </a:xfrm>
          <a:prstGeom prst="roundRect">
            <a:avLst>
              <a:gd name="adj" fmla="val 16216"/>
            </a:avLst>
          </a:prstGeom>
          <a:solidFill>
            <a:srgbClr val="DEDEDE"/>
          </a:solidFill>
          <a:ln w="7619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96239" y="5867399"/>
            <a:ext cx="1203959" cy="2666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139" b="1" i="0">
                <a:solidFill>
                  <a:srgbClr val="111111"/>
                </a:solidFill>
                <a:latin typeface="Liberation Serif"/>
              </a:defRPr>
            </a:pPr>
            <a:r>
              <a:t>🔥  Projector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943099" y="5867399"/>
            <a:ext cx="1303019" cy="281939"/>
          </a:xfrm>
          <a:prstGeom prst="roundRect">
            <a:avLst>
              <a:gd name="adj" fmla="val 16216"/>
            </a:avLst>
          </a:prstGeom>
          <a:solidFill>
            <a:srgbClr val="D6E5F3"/>
          </a:solidFill>
          <a:ln w="7619">
            <a:solidFill>
              <a:srgbClr val="D6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004059" y="5867399"/>
            <a:ext cx="1181099" cy="2666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199" b="1" i="0">
                <a:solidFill>
                  <a:srgbClr val="111111"/>
                </a:solidFill>
                <a:latin typeface="Liberation Serif"/>
              </a:defRPr>
            </a:pPr>
            <a:r>
              <a:t>Embedding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20039" y="6202679"/>
            <a:ext cx="1356359" cy="274319"/>
          </a:xfrm>
          <a:prstGeom prst="roundRect">
            <a:avLst>
              <a:gd name="adj" fmla="val 16666"/>
            </a:avLst>
          </a:prstGeom>
          <a:solidFill>
            <a:srgbClr val="F5F5F5"/>
          </a:solidFill>
          <a:ln w="7619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73379" y="6202679"/>
            <a:ext cx="1249679" cy="2590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79" b="1" i="0">
                <a:solidFill>
                  <a:srgbClr val="111111"/>
                </a:solidFill>
                <a:latin typeface="Liberation Serif"/>
              </a:defRPr>
            </a:pPr>
            <a:r>
              <a:t>❄ Visual Encoder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33399" y="6530339"/>
            <a:ext cx="822959" cy="419099"/>
          </a:xfrm>
          <a:prstGeom prst="roundRect">
            <a:avLst>
              <a:gd name="adj" fmla="val 1818"/>
            </a:avLst>
          </a:prstGeom>
          <a:solidFill>
            <a:srgbClr val="132033"/>
          </a:solidFill>
          <a:ln w="7619">
            <a:solidFill>
              <a:srgbClr val="17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33399" y="6530339"/>
            <a:ext cx="822959" cy="6857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33399" y="6842759"/>
            <a:ext cx="822959" cy="106679"/>
          </a:xfrm>
          <a:prstGeom prst="rect">
            <a:avLst/>
          </a:prstGeom>
          <a:solidFill>
            <a:srgbClr val="BE1720"/>
          </a:solidFill>
          <a:ln w="5080">
            <a:solidFill>
              <a:srgbClr val="BE1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54354" y="6644639"/>
            <a:ext cx="205739" cy="184403"/>
          </a:xfrm>
          <a:prstGeom prst="ellipse">
            <a:avLst/>
          </a:prstGeom>
          <a:solidFill>
            <a:srgbClr val="E7B8A4"/>
          </a:solidFill>
          <a:ln w="7619">
            <a:solidFill>
              <a:srgbClr val="C9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32155" y="6659879"/>
            <a:ext cx="148132" cy="104774"/>
          </a:xfrm>
          <a:prstGeom prst="rect">
            <a:avLst/>
          </a:prstGeom>
          <a:solidFill>
            <a:srgbClr val="273C57"/>
          </a:solidFill>
          <a:ln w="5080">
            <a:solidFill>
              <a:srgbClr val="273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101242" y="6644639"/>
            <a:ext cx="164591" cy="121538"/>
          </a:xfrm>
          <a:prstGeom prst="rect">
            <a:avLst/>
          </a:prstGeom>
          <a:solidFill>
            <a:srgbClr val="344B65"/>
          </a:solidFill>
          <a:ln w="5080">
            <a:solidFill>
              <a:srgbClr val="34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563879" y="6835139"/>
            <a:ext cx="761999" cy="914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419" b="1" i="0">
                <a:solidFill>
                  <a:srgbClr val="FFFFFF"/>
                </a:solidFill>
                <a:latin typeface="Arial"/>
              </a:defRPr>
            </a:pPr>
            <a:r>
              <a:t>BREAKING NEWS</a:t>
            </a:r>
          </a:p>
        </p:txBody>
      </p:sp>
      <p:sp>
        <p:nvSpPr>
          <p:cNvPr id="200" name="Freeform 199"/>
          <p:cNvSpPr/>
          <p:nvPr/>
        </p:nvSpPr>
        <p:spPr>
          <a:xfrm>
            <a:off x="1798319" y="6248399"/>
            <a:ext cx="91440" cy="137160"/>
          </a:xfrm>
          <a:custGeom>
            <a:avLst/>
            <a:gdLst/>
            <a:ahLst/>
            <a:cxnLst/>
            <a:rect l="l" t="t" r="r" b="b"/>
            <a:pathLst>
              <a:path w="91440" h="137160">
                <a:moveTo>
                  <a:pt x="0" y="45720"/>
                </a:moveTo>
                <a:lnTo>
                  <a:pt x="45720" y="45720"/>
                </a:lnTo>
                <a:lnTo>
                  <a:pt x="91440" y="0"/>
                </a:lnTo>
                <a:lnTo>
                  <a:pt x="91440" y="137160"/>
                </a:lnTo>
                <a:lnTo>
                  <a:pt x="4572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>
            <a:off x="1912619" y="6282689"/>
            <a:ext cx="22860" cy="34290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H="1">
            <a:off x="1912619" y="6316979"/>
            <a:ext cx="22860" cy="34290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1958339" y="6134099"/>
            <a:ext cx="1562099" cy="815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19" b="0" i="1">
                <a:solidFill>
                  <a:srgbClr val="111111"/>
                </a:solidFill>
                <a:latin typeface="Arial"/>
              </a:defRPr>
            </a:pPr>
            <a:r>
              <a:t>News title:</a:t>
            </a:r>
            <a:br/>
            <a:r>
              <a:t>The news title is 'British man captur-</a:t>
            </a:r>
            <a:br/>
            <a:r>
              <a:t>ed while fighting with Russia.', the</a:t>
            </a:r>
            <a:br/>
            <a:r>
              <a:t>news audio is 'British foreign..' is this</a:t>
            </a:r>
            <a:br/>
            <a:r>
              <a:t>multimodal content manipulated?</a:t>
            </a:r>
          </a:p>
        </p:txBody>
      </p:sp>
      <p:sp>
        <p:nvSpPr>
          <p:cNvPr id="204" name="Freeform 203"/>
          <p:cNvSpPr/>
          <p:nvPr/>
        </p:nvSpPr>
        <p:spPr>
          <a:xfrm>
            <a:off x="3779519" y="4686299"/>
            <a:ext cx="358140" cy="274320"/>
          </a:xfrm>
          <a:custGeom>
            <a:avLst/>
            <a:gdLst/>
            <a:ahLst/>
            <a:cxnLst/>
            <a:rect l="l" t="t" r="r" b="b"/>
            <a:pathLst>
              <a:path w="358140" h="274320">
                <a:moveTo>
                  <a:pt x="0" y="76200"/>
                </a:moveTo>
                <a:lnTo>
                  <a:pt x="190500" y="76200"/>
                </a:lnTo>
                <a:lnTo>
                  <a:pt x="190500" y="0"/>
                </a:lnTo>
                <a:lnTo>
                  <a:pt x="358140" y="137160"/>
                </a:lnTo>
                <a:lnTo>
                  <a:pt x="190500" y="274320"/>
                </a:lnTo>
                <a:lnTo>
                  <a:pt x="190500" y="198120"/>
                </a:lnTo>
                <a:lnTo>
                  <a:pt x="0" y="198120"/>
                </a:lnTo>
                <a:close/>
              </a:path>
            </a:pathLst>
          </a:custGeom>
          <a:solidFill>
            <a:srgbClr val="7F7F7F"/>
          </a:solidFill>
          <a:ln w="114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4244339" y="2682239"/>
            <a:ext cx="3657599" cy="4343399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4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4244339" y="2682239"/>
            <a:ext cx="3657599" cy="259079"/>
          </a:xfrm>
          <a:prstGeom prst="roundRect">
            <a:avLst>
              <a:gd name="adj" fmla="val 18000"/>
            </a:avLst>
          </a:prstGeom>
          <a:solidFill>
            <a:srgbClr val="FFFEF0"/>
          </a:solidFill>
          <a:ln w="1523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282439" y="2682239"/>
            <a:ext cx="3581399" cy="2590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Preference Alignment via DPO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389119" y="2994659"/>
            <a:ext cx="3276599" cy="2362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259" b="1" i="0">
                <a:solidFill>
                  <a:srgbClr val="111111"/>
                </a:solidFill>
                <a:latin typeface="Liberation Serif"/>
              </a:defRPr>
            </a:pPr>
            <a:r>
              <a:t>(a) Human Preference Data Generation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762499" y="3139439"/>
            <a:ext cx="678179" cy="396239"/>
          </a:xfrm>
          <a:prstGeom prst="rect">
            <a:avLst/>
          </a:prstGeom>
          <a:solidFill>
            <a:srgbClr val="501017"/>
          </a:solidFill>
          <a:ln w="7619">
            <a:solidFill>
              <a:srgbClr val="791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762499" y="3139439"/>
            <a:ext cx="678179" cy="5333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716779" y="3177539"/>
            <a:ext cx="678179" cy="396239"/>
          </a:xfrm>
          <a:prstGeom prst="rect">
            <a:avLst/>
          </a:prstGeom>
          <a:solidFill>
            <a:srgbClr val="501017"/>
          </a:solidFill>
          <a:ln w="7619">
            <a:solidFill>
              <a:srgbClr val="791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716779" y="3177539"/>
            <a:ext cx="678179" cy="5333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671059" y="3215639"/>
            <a:ext cx="678179" cy="396239"/>
          </a:xfrm>
          <a:prstGeom prst="rect">
            <a:avLst/>
          </a:prstGeom>
          <a:solidFill>
            <a:srgbClr val="501017"/>
          </a:solidFill>
          <a:ln w="7619">
            <a:solidFill>
              <a:srgbClr val="791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671059" y="3215639"/>
            <a:ext cx="678179" cy="5333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4625339" y="3253739"/>
            <a:ext cx="678179" cy="396239"/>
          </a:xfrm>
          <a:prstGeom prst="roundRect">
            <a:avLst>
              <a:gd name="adj" fmla="val 1923"/>
            </a:avLst>
          </a:prstGeom>
          <a:solidFill>
            <a:srgbClr val="132033"/>
          </a:solidFill>
          <a:ln w="7619">
            <a:solidFill>
              <a:srgbClr val="17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625339" y="3253739"/>
            <a:ext cx="678179" cy="6857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625339" y="3543299"/>
            <a:ext cx="678179" cy="106679"/>
          </a:xfrm>
          <a:prstGeom prst="rect">
            <a:avLst/>
          </a:prstGeom>
          <a:solidFill>
            <a:srgbClr val="BE1720"/>
          </a:solidFill>
          <a:ln w="5080">
            <a:solidFill>
              <a:srgbClr val="BE1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889830" y="3368039"/>
            <a:ext cx="169544" cy="174345"/>
          </a:xfrm>
          <a:prstGeom prst="ellipse">
            <a:avLst/>
          </a:prstGeom>
          <a:solidFill>
            <a:srgbClr val="E7B8A4"/>
          </a:solidFill>
          <a:ln w="7619">
            <a:solidFill>
              <a:srgbClr val="C9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706721" y="3383279"/>
            <a:ext cx="122072" cy="99059"/>
          </a:xfrm>
          <a:prstGeom prst="rect">
            <a:avLst/>
          </a:prstGeom>
          <a:solidFill>
            <a:srgbClr val="273C57"/>
          </a:solidFill>
          <a:ln w="5080">
            <a:solidFill>
              <a:srgbClr val="273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093284" y="3368039"/>
            <a:ext cx="135635" cy="114909"/>
          </a:xfrm>
          <a:prstGeom prst="rect">
            <a:avLst/>
          </a:prstGeom>
          <a:solidFill>
            <a:srgbClr val="344B65"/>
          </a:solidFill>
          <a:ln w="5080">
            <a:solidFill>
              <a:srgbClr val="34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655819" y="3535679"/>
            <a:ext cx="617219" cy="914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419" b="1" i="0">
                <a:solidFill>
                  <a:srgbClr val="FFFFFF"/>
                </a:solidFill>
                <a:latin typeface="Arial"/>
              </a:defRPr>
            </a:pPr>
            <a:r>
              <a:t>BREAKING NEWS</a:t>
            </a:r>
          </a:p>
        </p:txBody>
      </p:sp>
      <p:sp>
        <p:nvSpPr>
          <p:cNvPr id="222" name="Freeform 221"/>
          <p:cNvSpPr/>
          <p:nvPr/>
        </p:nvSpPr>
        <p:spPr>
          <a:xfrm>
            <a:off x="4351019" y="3832859"/>
            <a:ext cx="103632" cy="155448"/>
          </a:xfrm>
          <a:custGeom>
            <a:avLst/>
            <a:gdLst/>
            <a:ahLst/>
            <a:cxnLst/>
            <a:rect l="l" t="t" r="r" b="b"/>
            <a:pathLst>
              <a:path w="103632" h="155448">
                <a:moveTo>
                  <a:pt x="0" y="51816"/>
                </a:moveTo>
                <a:lnTo>
                  <a:pt x="51816" y="51816"/>
                </a:lnTo>
                <a:lnTo>
                  <a:pt x="103632" y="0"/>
                </a:lnTo>
                <a:lnTo>
                  <a:pt x="103632" y="155448"/>
                </a:lnTo>
                <a:lnTo>
                  <a:pt x="51816" y="103632"/>
                </a:lnTo>
                <a:lnTo>
                  <a:pt x="0" y="103632"/>
                </a:lnTo>
                <a:close/>
              </a:path>
            </a:pathLst>
          </a:cu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Connector 222"/>
          <p:cNvCxnSpPr/>
          <p:nvPr/>
        </p:nvCxnSpPr>
        <p:spPr>
          <a:xfrm>
            <a:off x="4480559" y="3871721"/>
            <a:ext cx="25908" cy="38862"/>
          </a:xfrm>
          <a:prstGeom prst="line">
            <a:avLst/>
          </a:prstGeom>
          <a:ln w="12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>
            <a:off x="4480559" y="3910583"/>
            <a:ext cx="25908" cy="38862"/>
          </a:xfrm>
          <a:prstGeom prst="line">
            <a:avLst/>
          </a:prstGeom>
          <a:ln w="12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4549139" y="3771899"/>
            <a:ext cx="609599" cy="2133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959" b="1" i="0">
                <a:solidFill>
                  <a:srgbClr val="111111"/>
                </a:solidFill>
                <a:latin typeface="Liberation Serif"/>
              </a:defRPr>
            </a:pPr>
            <a:r>
              <a:t>News Title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709159" y="3642359"/>
            <a:ext cx="335279" cy="2819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859" b="1" i="0">
                <a:solidFill>
                  <a:srgbClr val="111111"/>
                </a:solidFill>
                <a:latin typeface="Arial"/>
              </a:defRPr>
            </a:pPr>
            <a:r>
              <a:t>+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5387339" y="3566159"/>
            <a:ext cx="23622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Oval 227"/>
          <p:cNvSpPr/>
          <p:nvPr/>
        </p:nvSpPr>
        <p:spPr>
          <a:xfrm>
            <a:off x="5692139" y="3154679"/>
            <a:ext cx="455980" cy="455980"/>
          </a:xfrm>
          <a:prstGeom prst="ellipse">
            <a:avLst/>
          </a:prstGeom>
          <a:solidFill>
            <a:srgbClr val="FFCF57"/>
          </a:solidFill>
          <a:ln w="11429">
            <a:solidFill>
              <a:srgbClr val="FFB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Connector 228"/>
          <p:cNvCxnSpPr/>
          <p:nvPr/>
        </p:nvCxnSpPr>
        <p:spPr>
          <a:xfrm>
            <a:off x="5920130" y="3215030"/>
            <a:ext cx="0" cy="40233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Oval 229"/>
          <p:cNvSpPr/>
          <p:nvPr/>
        </p:nvSpPr>
        <p:spPr>
          <a:xfrm>
            <a:off x="5900013" y="3188207"/>
            <a:ext cx="40233" cy="40233"/>
          </a:xfrm>
          <a:prstGeom prst="ellipse">
            <a:avLst/>
          </a:prstGeom>
          <a:solidFill>
            <a:srgbClr val="FFFFFF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5812840" y="3261969"/>
            <a:ext cx="227990" cy="16093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859779" y="3315614"/>
            <a:ext cx="33527" cy="33527"/>
          </a:xfrm>
          <a:prstGeom prst="ellipse">
            <a:avLst/>
          </a:pr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960363" y="3315614"/>
            <a:ext cx="33527" cy="33527"/>
          </a:xfrm>
          <a:prstGeom prst="ellipse">
            <a:avLst/>
          </a:pr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Connector 233"/>
          <p:cNvCxnSpPr/>
          <p:nvPr/>
        </p:nvCxnSpPr>
        <p:spPr>
          <a:xfrm>
            <a:off x="5879896" y="3382670"/>
            <a:ext cx="93879" cy="0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ounded Rectangle 234"/>
          <p:cNvSpPr/>
          <p:nvPr/>
        </p:nvSpPr>
        <p:spPr>
          <a:xfrm>
            <a:off x="5846368" y="3443020"/>
            <a:ext cx="160934" cy="10728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Connector 235"/>
          <p:cNvCxnSpPr/>
          <p:nvPr/>
        </p:nvCxnSpPr>
        <p:spPr>
          <a:xfrm>
            <a:off x="5786018" y="3456431"/>
            <a:ext cx="60350" cy="26823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6007303" y="3449726"/>
            <a:ext cx="67056" cy="33528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>
            <a:off x="5853074" y="3550310"/>
            <a:ext cx="26822" cy="40233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5973775" y="3550310"/>
            <a:ext cx="26822" cy="40233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5651906" y="3617366"/>
            <a:ext cx="536447" cy="14081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897" b="1" i="0">
                <a:solidFill>
                  <a:srgbClr val="111111"/>
                </a:solidFill>
                <a:latin typeface="Liberation Serif"/>
              </a:defRPr>
            </a:pPr>
            <a:r>
              <a:t>Fact-R1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6195059" y="3566159"/>
            <a:ext cx="28194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ounded Rectangle 241"/>
          <p:cNvSpPr/>
          <p:nvPr/>
        </p:nvSpPr>
        <p:spPr>
          <a:xfrm>
            <a:off x="6576059" y="3238499"/>
            <a:ext cx="777239" cy="487679"/>
          </a:xfrm>
          <a:prstGeom prst="roundRect">
            <a:avLst>
              <a:gd name="adj" fmla="val 10937"/>
            </a:avLst>
          </a:prstGeom>
          <a:solidFill>
            <a:srgbClr val="A9CBE9"/>
          </a:solidFill>
          <a:ln w="22859">
            <a:solidFill>
              <a:srgbClr val="D7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621779" y="3261359"/>
            <a:ext cx="693419" cy="434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Long-cot</a:t>
            </a:r>
            <a:br/>
            <a:r>
              <a:t>Prediction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6964679" y="3741419"/>
            <a:ext cx="0" cy="24384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6751319" y="4023359"/>
            <a:ext cx="356234" cy="356234"/>
          </a:xfrm>
          <a:prstGeom prst="ellipse">
            <a:avLst/>
          </a:prstGeom>
          <a:solidFill>
            <a:srgbClr val="FFFFFF"/>
          </a:solidFill>
          <a:ln w="22859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6887336" y="4088129"/>
            <a:ext cx="90677" cy="103631"/>
          </a:xfrm>
          <a:prstGeom prst="ellipse">
            <a:avLst/>
          </a:prstGeom>
          <a:solidFill>
            <a:srgbClr val="222222"/>
          </a:solidFill>
          <a:ln w="7619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6835520" y="4185284"/>
            <a:ext cx="194310" cy="142494"/>
          </a:xfrm>
          <a:custGeom>
            <a:avLst/>
            <a:gdLst/>
            <a:ahLst/>
            <a:cxnLst/>
            <a:rect l="l" t="t" r="r" b="b"/>
            <a:pathLst>
              <a:path w="194310" h="142494">
                <a:moveTo>
                  <a:pt x="0" y="142494"/>
                </a:moveTo>
                <a:lnTo>
                  <a:pt x="32385" y="25908"/>
                </a:lnTo>
                <a:lnTo>
                  <a:pt x="90678" y="0"/>
                </a:lnTo>
                <a:lnTo>
                  <a:pt x="155448" y="25908"/>
                </a:lnTo>
                <a:lnTo>
                  <a:pt x="194310" y="142494"/>
                </a:lnTo>
                <a:close/>
              </a:path>
            </a:pathLst>
          </a:custGeom>
          <a:solidFill>
            <a:srgbClr val="222222"/>
          </a:solidFill>
          <a:ln w="7619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568439" y="4396739"/>
            <a:ext cx="807719" cy="1904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19" b="1" i="0">
                <a:solidFill>
                  <a:srgbClr val="111111"/>
                </a:solidFill>
                <a:latin typeface="Liberation Serif"/>
              </a:defRPr>
            </a:pPr>
            <a:r>
              <a:t>Human Correct</a:t>
            </a:r>
          </a:p>
        </p:txBody>
      </p:sp>
      <p:cxnSp>
        <p:nvCxnSpPr>
          <p:cNvPr id="249" name="Connector 248"/>
          <p:cNvCxnSpPr/>
          <p:nvPr/>
        </p:nvCxnSpPr>
        <p:spPr>
          <a:xfrm flipH="1">
            <a:off x="6362699" y="4251959"/>
            <a:ext cx="373380" cy="0"/>
          </a:xfrm>
          <a:prstGeom prst="line">
            <a:avLst/>
          </a:prstGeom>
          <a:ln w="1904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Oval 249"/>
          <p:cNvSpPr/>
          <p:nvPr/>
        </p:nvSpPr>
        <p:spPr>
          <a:xfrm>
            <a:off x="5059679" y="4046219"/>
            <a:ext cx="137159" cy="137159"/>
          </a:xfrm>
          <a:prstGeom prst="ellipse">
            <a:avLst/>
          </a:prstGeom>
          <a:solidFill>
            <a:srgbClr val="E72E27"/>
          </a:solidFill>
          <a:ln w="7619">
            <a:solidFill>
              <a:srgbClr val="E72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Connector 250"/>
          <p:cNvCxnSpPr/>
          <p:nvPr/>
        </p:nvCxnSpPr>
        <p:spPr>
          <a:xfrm>
            <a:off x="5097779" y="4084319"/>
            <a:ext cx="60960" cy="60960"/>
          </a:xfrm>
          <a:prstGeom prst="line">
            <a:avLst/>
          </a:prstGeom>
          <a:ln w="1523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>
            <a:off x="5097779" y="4084319"/>
            <a:ext cx="60960" cy="60960"/>
          </a:xfrm>
          <a:prstGeom prst="line">
            <a:avLst/>
          </a:prstGeom>
          <a:ln w="1523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Rounded Rectangle 252"/>
          <p:cNvSpPr/>
          <p:nvPr/>
        </p:nvSpPr>
        <p:spPr>
          <a:xfrm>
            <a:off x="5288279" y="3886199"/>
            <a:ext cx="192023" cy="246887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5336285" y="3954779"/>
            <a:ext cx="96012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5336285" y="4002785"/>
            <a:ext cx="96012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5336285" y="4050791"/>
            <a:ext cx="96012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TextBox 256"/>
          <p:cNvSpPr txBox="1"/>
          <p:nvPr/>
        </p:nvSpPr>
        <p:spPr>
          <a:xfrm>
            <a:off x="5661659" y="3870959"/>
            <a:ext cx="800099" cy="3581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Raw</a:t>
            </a:r>
            <a:br/>
            <a:r>
              <a:t>Prediction</a:t>
            </a:r>
          </a:p>
        </p:txBody>
      </p:sp>
      <p:sp>
        <p:nvSpPr>
          <p:cNvPr id="258" name="Oval 257"/>
          <p:cNvSpPr/>
          <p:nvPr/>
        </p:nvSpPr>
        <p:spPr>
          <a:xfrm>
            <a:off x="5059679" y="4495799"/>
            <a:ext cx="137159" cy="137159"/>
          </a:xfrm>
          <a:prstGeom prst="ellipse">
            <a:avLst/>
          </a:prstGeom>
          <a:solidFill>
            <a:srgbClr val="09A868"/>
          </a:solidFill>
          <a:ln w="7619">
            <a:solidFill>
              <a:srgbClr val="09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>
            <a:off x="5090159" y="4564379"/>
            <a:ext cx="30480" cy="30480"/>
          </a:xfrm>
          <a:prstGeom prst="line">
            <a:avLst/>
          </a:prstGeom>
          <a:ln w="1523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5120639" y="4533899"/>
            <a:ext cx="53340" cy="60960"/>
          </a:xfrm>
          <a:prstGeom prst="line">
            <a:avLst/>
          </a:prstGeom>
          <a:ln w="1523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Rounded Rectangle 260"/>
          <p:cNvSpPr/>
          <p:nvPr/>
        </p:nvSpPr>
        <p:spPr>
          <a:xfrm>
            <a:off x="5288279" y="4343399"/>
            <a:ext cx="192023" cy="246887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2" name="Connector 261"/>
          <p:cNvCxnSpPr/>
          <p:nvPr/>
        </p:nvCxnSpPr>
        <p:spPr>
          <a:xfrm>
            <a:off x="5336285" y="4411979"/>
            <a:ext cx="96012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5336285" y="4459985"/>
            <a:ext cx="96012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5336285" y="4507991"/>
            <a:ext cx="96012" cy="0"/>
          </a:xfrm>
          <a:prstGeom prst="line">
            <a:avLst/>
          </a:prstGeom>
          <a:ln w="1142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/>
          <p:cNvSpPr txBox="1"/>
          <p:nvPr/>
        </p:nvSpPr>
        <p:spPr>
          <a:xfrm>
            <a:off x="5661659" y="4328159"/>
            <a:ext cx="853439" cy="3581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Arial"/>
              </a:defRPr>
            </a:pPr>
            <a:r>
              <a:t>Correct</a:t>
            </a:r>
            <a:br/>
            <a:r>
              <a:t>Prediction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389119" y="4815839"/>
            <a:ext cx="1828799" cy="2362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319" b="1" i="0">
                <a:solidFill>
                  <a:srgbClr val="111111"/>
                </a:solidFill>
                <a:latin typeface="Liberation Serif"/>
              </a:defRPr>
            </a:pPr>
            <a:r>
              <a:t>(b) DPO Training</a:t>
            </a:r>
          </a:p>
        </p:txBody>
      </p:sp>
      <p:sp>
        <p:nvSpPr>
          <p:cNvPr id="267" name="Oval 266"/>
          <p:cNvSpPr/>
          <p:nvPr/>
        </p:nvSpPr>
        <p:spPr>
          <a:xfrm>
            <a:off x="4427219" y="5349239"/>
            <a:ext cx="487070" cy="487070"/>
          </a:xfrm>
          <a:prstGeom prst="ellipse">
            <a:avLst/>
          </a:prstGeom>
          <a:solidFill>
            <a:srgbClr val="FFCF57"/>
          </a:solidFill>
          <a:ln w="11429">
            <a:solidFill>
              <a:srgbClr val="FFB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>
            <a:off x="4670755" y="5413705"/>
            <a:ext cx="0" cy="42976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Oval 268"/>
          <p:cNvSpPr/>
          <p:nvPr/>
        </p:nvSpPr>
        <p:spPr>
          <a:xfrm>
            <a:off x="4649266" y="5385053"/>
            <a:ext cx="42976" cy="42976"/>
          </a:xfrm>
          <a:prstGeom prst="ellipse">
            <a:avLst/>
          </a:prstGeom>
          <a:solidFill>
            <a:srgbClr val="FFFFFF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ounded Rectangle 269"/>
          <p:cNvSpPr/>
          <p:nvPr/>
        </p:nvSpPr>
        <p:spPr>
          <a:xfrm>
            <a:off x="4556150" y="5463844"/>
            <a:ext cx="243535" cy="171907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606289" y="5521147"/>
            <a:ext cx="35813" cy="35813"/>
          </a:xfrm>
          <a:prstGeom prst="ellipse">
            <a:avLst/>
          </a:pr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4713731" y="5521147"/>
            <a:ext cx="35813" cy="35813"/>
          </a:xfrm>
          <a:prstGeom prst="ellipse">
            <a:avLst/>
          </a:pr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3" name="Connector 272"/>
          <p:cNvCxnSpPr/>
          <p:nvPr/>
        </p:nvCxnSpPr>
        <p:spPr>
          <a:xfrm>
            <a:off x="4627778" y="5592775"/>
            <a:ext cx="100279" cy="0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Rounded Rectangle 273"/>
          <p:cNvSpPr/>
          <p:nvPr/>
        </p:nvSpPr>
        <p:spPr>
          <a:xfrm>
            <a:off x="4591964" y="5657240"/>
            <a:ext cx="171907" cy="1146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4527499" y="5671565"/>
            <a:ext cx="64465" cy="28652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4763871" y="5664403"/>
            <a:ext cx="71628" cy="35814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H="1">
            <a:off x="4599127" y="5771845"/>
            <a:ext cx="28651" cy="42976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4728057" y="5771845"/>
            <a:ext cx="28651" cy="42976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4384243" y="5843473"/>
            <a:ext cx="573023" cy="15041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58" b="1" i="0">
                <a:solidFill>
                  <a:srgbClr val="111111"/>
                </a:solidFill>
                <a:latin typeface="Liberation Serif"/>
              </a:defRPr>
            </a:pPr>
            <a:r>
              <a:t>Fact-R1</a:t>
            </a:r>
          </a:p>
        </p:txBody>
      </p:sp>
      <p:cxnSp>
        <p:nvCxnSpPr>
          <p:cNvPr id="280" name="Connector 279"/>
          <p:cNvCxnSpPr/>
          <p:nvPr/>
        </p:nvCxnSpPr>
        <p:spPr>
          <a:xfrm flipV="1">
            <a:off x="5029199" y="5356859"/>
            <a:ext cx="0" cy="31242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Oval 280"/>
          <p:cNvSpPr/>
          <p:nvPr/>
        </p:nvSpPr>
        <p:spPr>
          <a:xfrm>
            <a:off x="5189219" y="5128259"/>
            <a:ext cx="289559" cy="289559"/>
          </a:xfrm>
          <a:prstGeom prst="ellipse">
            <a:avLst/>
          </a:prstGeom>
          <a:solidFill>
            <a:srgbClr val="8A98AD"/>
          </a:solidFill>
          <a:ln w="7619">
            <a:solidFill>
              <a:srgbClr val="8A9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204459" y="5128259"/>
            <a:ext cx="259079" cy="2819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79" b="0" i="1">
                <a:solidFill>
                  <a:srgbClr val="FFFFFF"/>
                </a:solidFill>
                <a:latin typeface="Liberation Serif"/>
              </a:defRPr>
            </a:pPr>
            <a:r>
              <a:t>Y₀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5356859" y="5105399"/>
            <a:ext cx="2171699" cy="533399"/>
          </a:xfrm>
          <a:prstGeom prst="roundRect">
            <a:avLst>
              <a:gd name="adj" fmla="val 14285"/>
            </a:avLst>
          </a:prstGeom>
          <a:solidFill>
            <a:srgbClr val="F1F4F5"/>
          </a:solidFill>
          <a:ln w="7619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5410199" y="5105399"/>
            <a:ext cx="2042159" cy="525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19" b="0" i="0">
                <a:solidFill>
                  <a:srgbClr val="111111"/>
                </a:solidFill>
                <a:latin typeface="Liberation Serif"/>
              </a:defRPr>
            </a:pPr>
            <a:r>
              <a:t>&lt;think&gt; The video shows Trump supporters</a:t>
            </a:r>
            <a:br/>
            <a:r>
              <a:t>storming.... The entity in question is Trump,</a:t>
            </a:r>
            <a:br/>
            <a:r>
              <a:t>the event is directly linked to his supporters,</a:t>
            </a:r>
            <a:br/>
            <a:r>
              <a:t>&lt;/think&gt;&lt;answer&gt; Yes. &lt;/answer&gt;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7528559" y="5280659"/>
            <a:ext cx="281939" cy="2590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199" b="1" i="1">
                <a:solidFill>
                  <a:srgbClr val="EF332A"/>
                </a:solidFill>
                <a:latin typeface="Liberation Serif"/>
              </a:defRPr>
            </a:pPr>
            <a:r>
              <a:t>0.3</a:t>
            </a:r>
          </a:p>
        </p:txBody>
      </p:sp>
      <p:sp>
        <p:nvSpPr>
          <p:cNvPr id="286" name="Oval 285"/>
          <p:cNvSpPr/>
          <p:nvPr/>
        </p:nvSpPr>
        <p:spPr>
          <a:xfrm>
            <a:off x="5189219" y="5890259"/>
            <a:ext cx="289559" cy="289559"/>
          </a:xfrm>
          <a:prstGeom prst="ellipse">
            <a:avLst/>
          </a:prstGeom>
          <a:solidFill>
            <a:srgbClr val="8A98AD"/>
          </a:solidFill>
          <a:ln w="7619">
            <a:solidFill>
              <a:srgbClr val="8A9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5204459" y="5890259"/>
            <a:ext cx="259079" cy="2819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79" b="0" i="1">
                <a:solidFill>
                  <a:srgbClr val="FFFFFF"/>
                </a:solidFill>
                <a:latin typeface="Liberation Serif"/>
              </a:defRPr>
            </a:pPr>
            <a:r>
              <a:t>Y₁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5356859" y="5753099"/>
            <a:ext cx="2171699" cy="670559"/>
          </a:xfrm>
          <a:prstGeom prst="roundRect">
            <a:avLst>
              <a:gd name="adj" fmla="val 11363"/>
            </a:avLst>
          </a:prstGeom>
          <a:solidFill>
            <a:srgbClr val="F1F4F5"/>
          </a:solidFill>
          <a:ln w="7619">
            <a:solidFill>
              <a:srgbClr val="F1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5410199" y="5753099"/>
            <a:ext cx="2057399" cy="65531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19" b="0" i="0">
                <a:solidFill>
                  <a:srgbClr val="111111"/>
                </a:solidFill>
                <a:latin typeface="Liberation Serif"/>
              </a:defRPr>
            </a:pPr>
            <a:r>
              <a:t>&lt;think&gt; The video depicts the well-</a:t>
            </a:r>
            <a:br/>
            <a:r>
              <a:t>documented event of Trump supporters</a:t>
            </a:r>
            <a:br/>
            <a:r>
              <a:t>storming the Capitol in Washington,</a:t>
            </a:r>
            <a:br/>
            <a:r>
              <a:t>D.C., …&lt;/think&gt;&lt;answer&gt; Yes&lt;/answer&gt;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528559" y="5943599"/>
            <a:ext cx="281939" cy="2590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199" b="1" i="1">
                <a:solidFill>
                  <a:srgbClr val="239B28"/>
                </a:solidFill>
                <a:latin typeface="Liberation Serif"/>
              </a:defRPr>
            </a:pPr>
            <a:r>
              <a:t>0.8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7442834" y="5568314"/>
            <a:ext cx="97154" cy="85724"/>
          </a:xfrm>
          <a:prstGeom prst="roundRect">
            <a:avLst>
              <a:gd name="adj" fmla="val 17777"/>
            </a:avLst>
          </a:prstGeom>
          <a:solidFill>
            <a:srgbClr val="D6A23A"/>
          </a:solidFill>
          <a:ln w="7619">
            <a:solidFill>
              <a:srgbClr val="AA7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>
            <a:off x="7414259" y="5585459"/>
            <a:ext cx="28575" cy="40005"/>
          </a:xfrm>
          <a:prstGeom prst="line">
            <a:avLst/>
          </a:prstGeom>
          <a:ln w="15239">
            <a:solidFill>
              <a:srgbClr val="AA76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H="1">
            <a:off x="7539989" y="5585459"/>
            <a:ext cx="28575" cy="40005"/>
          </a:xfrm>
          <a:prstGeom prst="line">
            <a:avLst/>
          </a:prstGeom>
          <a:ln w="15239">
            <a:solidFill>
              <a:srgbClr val="AA76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488554" y="5654039"/>
            <a:ext cx="0" cy="51435"/>
          </a:xfrm>
          <a:prstGeom prst="line">
            <a:avLst/>
          </a:prstGeom>
          <a:ln w="15239">
            <a:solidFill>
              <a:srgbClr val="AA76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Rectangle 294"/>
          <p:cNvSpPr/>
          <p:nvPr/>
        </p:nvSpPr>
        <p:spPr>
          <a:xfrm>
            <a:off x="7448549" y="5705474"/>
            <a:ext cx="85724" cy="22859"/>
          </a:xfrm>
          <a:prstGeom prst="rect">
            <a:avLst/>
          </a:prstGeom>
          <a:solidFill>
            <a:srgbClr val="D6A23A"/>
          </a:solidFill>
          <a:ln w="7619">
            <a:solidFill>
              <a:srgbClr val="AA7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6" name="Connector 295"/>
          <p:cNvCxnSpPr/>
          <p:nvPr/>
        </p:nvCxnSpPr>
        <p:spPr>
          <a:xfrm flipV="1">
            <a:off x="4655819" y="6446519"/>
            <a:ext cx="0" cy="175260"/>
          </a:xfrm>
          <a:prstGeom prst="line">
            <a:avLst/>
          </a:prstGeom>
          <a:ln w="1904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4655819" y="6621779"/>
            <a:ext cx="3070860" cy="0"/>
          </a:xfrm>
          <a:prstGeom prst="line">
            <a:avLst/>
          </a:prstGeom>
          <a:ln w="1904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7726679" y="6408419"/>
            <a:ext cx="0" cy="213360"/>
          </a:xfrm>
          <a:prstGeom prst="line">
            <a:avLst/>
          </a:prstGeom>
          <a:ln w="1904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/>
          <p:cNvSpPr txBox="1"/>
          <p:nvPr/>
        </p:nvSpPr>
        <p:spPr>
          <a:xfrm>
            <a:off x="5219699" y="6652259"/>
            <a:ext cx="1920239" cy="2057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259" b="1" i="0">
                <a:solidFill>
                  <a:srgbClr val="2AA99D"/>
                </a:solidFill>
                <a:latin typeface="Arial"/>
              </a:defRPr>
            </a:pPr>
            <a:r>
              <a:t>Maximum likelihood</a:t>
            </a:r>
          </a:p>
        </p:txBody>
      </p:sp>
      <p:sp>
        <p:nvSpPr>
          <p:cNvPr id="300" name="Freeform 299"/>
          <p:cNvSpPr/>
          <p:nvPr/>
        </p:nvSpPr>
        <p:spPr>
          <a:xfrm>
            <a:off x="7970519" y="4686299"/>
            <a:ext cx="358140" cy="274320"/>
          </a:xfrm>
          <a:custGeom>
            <a:avLst/>
            <a:gdLst/>
            <a:ahLst/>
            <a:cxnLst/>
            <a:rect l="l" t="t" r="r" b="b"/>
            <a:pathLst>
              <a:path w="358140" h="274320">
                <a:moveTo>
                  <a:pt x="0" y="76200"/>
                </a:moveTo>
                <a:lnTo>
                  <a:pt x="190500" y="76200"/>
                </a:lnTo>
                <a:lnTo>
                  <a:pt x="190500" y="0"/>
                </a:lnTo>
                <a:lnTo>
                  <a:pt x="358140" y="137160"/>
                </a:lnTo>
                <a:lnTo>
                  <a:pt x="190500" y="274320"/>
                </a:lnTo>
                <a:lnTo>
                  <a:pt x="190500" y="198120"/>
                </a:lnTo>
                <a:lnTo>
                  <a:pt x="0" y="198120"/>
                </a:lnTo>
                <a:close/>
              </a:path>
            </a:pathLst>
          </a:custGeom>
          <a:solidFill>
            <a:srgbClr val="7F7F7F"/>
          </a:solidFill>
          <a:ln w="114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ounded Rectangle 300"/>
          <p:cNvSpPr/>
          <p:nvPr/>
        </p:nvSpPr>
        <p:spPr>
          <a:xfrm>
            <a:off x="8442959" y="2682239"/>
            <a:ext cx="3688079" cy="4343399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904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ounded Rectangle 301"/>
          <p:cNvSpPr/>
          <p:nvPr/>
        </p:nvSpPr>
        <p:spPr>
          <a:xfrm>
            <a:off x="8442959" y="2682239"/>
            <a:ext cx="3688079" cy="259079"/>
          </a:xfrm>
          <a:prstGeom prst="roundRect">
            <a:avLst>
              <a:gd name="adj" fmla="val 18000"/>
            </a:avLst>
          </a:prstGeom>
          <a:solidFill>
            <a:srgbClr val="FFFEF0"/>
          </a:solidFill>
          <a:ln w="15239">
            <a:solidFill>
              <a:srgbClr val="9D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8481059" y="2682239"/>
            <a:ext cx="3611879" cy="2590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79" b="1" i="0">
                <a:solidFill>
                  <a:srgbClr val="111111"/>
                </a:solidFill>
                <a:latin typeface="Liberation Serif"/>
              </a:defRPr>
            </a:pPr>
            <a:r>
              <a:t>GRPO with Verifiable Reward Function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8778239" y="3047999"/>
            <a:ext cx="883919" cy="487679"/>
          </a:xfrm>
          <a:prstGeom prst="rect">
            <a:avLst/>
          </a:prstGeom>
          <a:solidFill>
            <a:srgbClr val="501017"/>
          </a:solidFill>
          <a:ln w="7619">
            <a:solidFill>
              <a:srgbClr val="791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8778239" y="3047999"/>
            <a:ext cx="883919" cy="5333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8732519" y="3086099"/>
            <a:ext cx="883919" cy="487679"/>
          </a:xfrm>
          <a:prstGeom prst="rect">
            <a:avLst/>
          </a:prstGeom>
          <a:solidFill>
            <a:srgbClr val="501017"/>
          </a:solidFill>
          <a:ln w="7619">
            <a:solidFill>
              <a:srgbClr val="791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8732519" y="3086099"/>
            <a:ext cx="883919" cy="5333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8686799" y="3124199"/>
            <a:ext cx="883919" cy="487679"/>
          </a:xfrm>
          <a:prstGeom prst="rect">
            <a:avLst/>
          </a:prstGeom>
          <a:solidFill>
            <a:srgbClr val="501017"/>
          </a:solidFill>
          <a:ln w="7619">
            <a:solidFill>
              <a:srgbClr val="791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8686799" y="3124199"/>
            <a:ext cx="883919" cy="5333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8641079" y="3162299"/>
            <a:ext cx="883919" cy="487679"/>
          </a:xfrm>
          <a:prstGeom prst="rect">
            <a:avLst/>
          </a:prstGeom>
          <a:solidFill>
            <a:srgbClr val="501017"/>
          </a:solidFill>
          <a:ln w="7619">
            <a:solidFill>
              <a:srgbClr val="791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8641079" y="3162299"/>
            <a:ext cx="883919" cy="5333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8595359" y="3200399"/>
            <a:ext cx="883919" cy="487679"/>
          </a:xfrm>
          <a:prstGeom prst="roundRect">
            <a:avLst>
              <a:gd name="adj" fmla="val 1562"/>
            </a:avLst>
          </a:prstGeom>
          <a:solidFill>
            <a:srgbClr val="132033"/>
          </a:solidFill>
          <a:ln w="7619">
            <a:solidFill>
              <a:srgbClr val="17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8595359" y="3200399"/>
            <a:ext cx="883919" cy="68579"/>
          </a:xfrm>
          <a:prstGeom prst="rect">
            <a:avLst/>
          </a:prstGeom>
          <a:solidFill>
            <a:srgbClr val="D71920"/>
          </a:solidFill>
          <a:ln w="5080">
            <a:solidFill>
              <a:srgbClr val="D7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595359" y="3581399"/>
            <a:ext cx="883919" cy="106679"/>
          </a:xfrm>
          <a:prstGeom prst="rect">
            <a:avLst/>
          </a:prstGeom>
          <a:solidFill>
            <a:srgbClr val="BE1720"/>
          </a:solidFill>
          <a:ln w="5080">
            <a:solidFill>
              <a:srgbClr val="BE1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940088" y="3314699"/>
            <a:ext cx="220979" cy="214579"/>
          </a:xfrm>
          <a:prstGeom prst="ellipse">
            <a:avLst/>
          </a:prstGeom>
          <a:solidFill>
            <a:srgbClr val="E7B8A4"/>
          </a:solidFill>
          <a:ln w="7619">
            <a:solidFill>
              <a:srgbClr val="C9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8701430" y="3329939"/>
            <a:ext cx="159105" cy="121919"/>
          </a:xfrm>
          <a:prstGeom prst="rect">
            <a:avLst/>
          </a:prstGeom>
          <a:solidFill>
            <a:srgbClr val="273C57"/>
          </a:solidFill>
          <a:ln w="5080">
            <a:solidFill>
              <a:srgbClr val="273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9205264" y="3314699"/>
            <a:ext cx="176783" cy="141427"/>
          </a:xfrm>
          <a:prstGeom prst="rect">
            <a:avLst/>
          </a:prstGeom>
          <a:solidFill>
            <a:srgbClr val="344B65"/>
          </a:solidFill>
          <a:ln w="5080">
            <a:solidFill>
              <a:srgbClr val="34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8625839" y="3573779"/>
            <a:ext cx="822959" cy="914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419" b="1" i="0">
                <a:solidFill>
                  <a:srgbClr val="FFFFFF"/>
                </a:solidFill>
                <a:latin typeface="Arial"/>
              </a:defRPr>
            </a:pPr>
            <a:r>
              <a:t>BREAKING NEWS</a:t>
            </a:r>
          </a:p>
        </p:txBody>
      </p:sp>
      <p:sp>
        <p:nvSpPr>
          <p:cNvPr id="319" name="Freeform 318"/>
          <p:cNvSpPr/>
          <p:nvPr/>
        </p:nvSpPr>
        <p:spPr>
          <a:xfrm>
            <a:off x="8686799" y="3817619"/>
            <a:ext cx="91440" cy="137160"/>
          </a:xfrm>
          <a:custGeom>
            <a:avLst/>
            <a:gdLst/>
            <a:ahLst/>
            <a:cxnLst/>
            <a:rect l="l" t="t" r="r" b="b"/>
            <a:pathLst>
              <a:path w="91440" h="137160">
                <a:moveTo>
                  <a:pt x="0" y="45720"/>
                </a:moveTo>
                <a:lnTo>
                  <a:pt x="45720" y="45720"/>
                </a:lnTo>
                <a:lnTo>
                  <a:pt x="91440" y="0"/>
                </a:lnTo>
                <a:lnTo>
                  <a:pt x="91440" y="137160"/>
                </a:lnTo>
                <a:lnTo>
                  <a:pt x="4572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8801099" y="3851909"/>
            <a:ext cx="22860" cy="34290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>
            <a:off x="8801099" y="3886199"/>
            <a:ext cx="22860" cy="34290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TextBox 321"/>
          <p:cNvSpPr txBox="1"/>
          <p:nvPr/>
        </p:nvSpPr>
        <p:spPr>
          <a:xfrm>
            <a:off x="8854439" y="3749039"/>
            <a:ext cx="716279" cy="1904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959" b="1" i="0">
                <a:solidFill>
                  <a:srgbClr val="111111"/>
                </a:solidFill>
                <a:latin typeface="Liberation Serif"/>
              </a:defRPr>
            </a:pPr>
            <a:r>
              <a:t>News Title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06839" y="3627119"/>
            <a:ext cx="289559" cy="2514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799" b="1" i="0">
                <a:solidFill>
                  <a:srgbClr val="111111"/>
                </a:solidFill>
                <a:latin typeface="Arial"/>
              </a:defRPr>
            </a:pPr>
            <a:r>
              <a:t>+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9646919" y="3566159"/>
            <a:ext cx="24384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Oval 324"/>
          <p:cNvSpPr/>
          <p:nvPr/>
        </p:nvSpPr>
        <p:spPr>
          <a:xfrm>
            <a:off x="9966959" y="3169919"/>
            <a:ext cx="476707" cy="476707"/>
          </a:xfrm>
          <a:prstGeom prst="ellipse">
            <a:avLst/>
          </a:prstGeom>
          <a:solidFill>
            <a:srgbClr val="FFCF57"/>
          </a:solidFill>
          <a:ln w="11429">
            <a:solidFill>
              <a:srgbClr val="FFB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0205313" y="3233013"/>
            <a:ext cx="0" cy="42062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Oval 326"/>
          <p:cNvSpPr/>
          <p:nvPr/>
        </p:nvSpPr>
        <p:spPr>
          <a:xfrm>
            <a:off x="10184282" y="3204971"/>
            <a:ext cx="42062" cy="42062"/>
          </a:xfrm>
          <a:prstGeom prst="ellipse">
            <a:avLst/>
          </a:prstGeom>
          <a:solidFill>
            <a:srgbClr val="FFFFFF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ounded Rectangle 327"/>
          <p:cNvSpPr/>
          <p:nvPr/>
        </p:nvSpPr>
        <p:spPr>
          <a:xfrm>
            <a:off x="10093146" y="3282086"/>
            <a:ext cx="238353" cy="1682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10142219" y="3338169"/>
            <a:ext cx="35051" cy="35051"/>
          </a:xfrm>
          <a:prstGeom prst="ellipse">
            <a:avLst/>
          </a:pr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0247375" y="3338169"/>
            <a:ext cx="35051" cy="35051"/>
          </a:xfrm>
          <a:prstGeom prst="ellipse">
            <a:avLst/>
          </a:prstGeom>
          <a:solidFill>
            <a:srgbClr val="111111"/>
          </a:solidFill>
          <a:ln w="761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10163250" y="3408273"/>
            <a:ext cx="98146" cy="0"/>
          </a:xfrm>
          <a:prstGeom prst="line">
            <a:avLst/>
          </a:prstGeom>
          <a:ln w="1142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Rounded Rectangle 331"/>
          <p:cNvSpPr/>
          <p:nvPr/>
        </p:nvSpPr>
        <p:spPr>
          <a:xfrm>
            <a:off x="10128198" y="3471367"/>
            <a:ext cx="168249" cy="11216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3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Connector 332"/>
          <p:cNvCxnSpPr/>
          <p:nvPr/>
        </p:nvCxnSpPr>
        <p:spPr>
          <a:xfrm>
            <a:off x="10065105" y="3485387"/>
            <a:ext cx="63093" cy="28042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10296448" y="3478377"/>
            <a:ext cx="70104" cy="35052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H="1">
            <a:off x="10135209" y="3583533"/>
            <a:ext cx="28041" cy="42062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261396" y="3583533"/>
            <a:ext cx="28042" cy="42062"/>
          </a:xfrm>
          <a:prstGeom prst="line">
            <a:avLst/>
          </a:prstGeom>
          <a:ln w="1523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/>
          <p:cNvSpPr txBox="1"/>
          <p:nvPr/>
        </p:nvSpPr>
        <p:spPr>
          <a:xfrm>
            <a:off x="9924897" y="3653637"/>
            <a:ext cx="560831" cy="14721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38" b="1" i="0">
                <a:solidFill>
                  <a:srgbClr val="111111"/>
                </a:solidFill>
                <a:latin typeface="Liberation Serif"/>
              </a:defRPr>
            </a:pPr>
            <a:r>
              <a:t>Fact-R1</a:t>
            </a:r>
          </a:p>
        </p:txBody>
      </p:sp>
      <p:cxnSp>
        <p:nvCxnSpPr>
          <p:cNvPr id="338" name="Connector 337"/>
          <p:cNvCxnSpPr/>
          <p:nvPr/>
        </p:nvCxnSpPr>
        <p:spPr>
          <a:xfrm>
            <a:off x="10469879" y="3566159"/>
            <a:ext cx="289560" cy="0"/>
          </a:xfrm>
          <a:prstGeom prst="line">
            <a:avLst/>
          </a:prstGeom>
          <a:ln w="22859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Rounded Rectangle 338"/>
          <p:cNvSpPr/>
          <p:nvPr/>
        </p:nvSpPr>
        <p:spPr>
          <a:xfrm>
            <a:off x="10934699" y="3078479"/>
            <a:ext cx="1036319" cy="1501139"/>
          </a:xfrm>
          <a:prstGeom prst="roundRect">
            <a:avLst>
              <a:gd name="adj" fmla="val 13235"/>
            </a:avLst>
          </a:prstGeom>
          <a:solidFill>
            <a:srgbClr val="EDF2F5"/>
          </a:solidFill>
          <a:ln w="7619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ounded Rectangle 339"/>
          <p:cNvSpPr/>
          <p:nvPr/>
        </p:nvSpPr>
        <p:spPr>
          <a:xfrm>
            <a:off x="11003279" y="3139439"/>
            <a:ext cx="899159" cy="251459"/>
          </a:xfrm>
          <a:prstGeom prst="roundRect">
            <a:avLst>
              <a:gd name="adj" fmla="val 18000"/>
            </a:avLst>
          </a:prstGeom>
          <a:solidFill>
            <a:srgbClr val="8496B1"/>
          </a:solidFill>
          <a:ln w="114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11033759" y="3139439"/>
            <a:ext cx="838199" cy="2514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79" b="1" i="1">
                <a:solidFill>
                  <a:srgbClr val="FFFFFF"/>
                </a:solidFill>
                <a:latin typeface="Liberation Serif"/>
              </a:defRPr>
            </a:pPr>
            <a:r>
              <a:t>Response Y₁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11003279" y="3436619"/>
            <a:ext cx="899159" cy="251459"/>
          </a:xfrm>
          <a:prstGeom prst="roundRect">
            <a:avLst>
              <a:gd name="adj" fmla="val 18000"/>
            </a:avLst>
          </a:prstGeom>
          <a:solidFill>
            <a:srgbClr val="8496B1"/>
          </a:solidFill>
          <a:ln w="114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11033759" y="3436619"/>
            <a:ext cx="838199" cy="2514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79" b="1" i="1">
                <a:solidFill>
                  <a:srgbClr val="FFFFFF"/>
                </a:solidFill>
                <a:latin typeface="Liberation Serif"/>
              </a:defRPr>
            </a:pPr>
            <a:r>
              <a:t>Response Y₂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1003279" y="3863339"/>
            <a:ext cx="899159" cy="2514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439" b="1" i="0">
                <a:solidFill>
                  <a:srgbClr val="111111"/>
                </a:solidFill>
                <a:latin typeface="Liberation Serif"/>
              </a:defRPr>
            </a:pPr>
            <a:r>
              <a:t>…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11003279" y="4168139"/>
            <a:ext cx="899159" cy="251459"/>
          </a:xfrm>
          <a:prstGeom prst="roundRect">
            <a:avLst>
              <a:gd name="adj" fmla="val 18000"/>
            </a:avLst>
          </a:prstGeom>
          <a:solidFill>
            <a:srgbClr val="8496B1"/>
          </a:solidFill>
          <a:ln w="114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11033759" y="4168139"/>
            <a:ext cx="838199" cy="2514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79" b="1" i="1">
                <a:solidFill>
                  <a:srgbClr val="FFFFFF"/>
                </a:solidFill>
                <a:latin typeface="Liberation Serif"/>
              </a:defRPr>
            </a:pPr>
            <a:r>
              <a:t>Response Yₙ</a:t>
            </a:r>
          </a:p>
        </p:txBody>
      </p:sp>
      <p:cxnSp>
        <p:nvCxnSpPr>
          <p:cNvPr id="347" name="Connector 346"/>
          <p:cNvCxnSpPr/>
          <p:nvPr/>
        </p:nvCxnSpPr>
        <p:spPr>
          <a:xfrm>
            <a:off x="11506199" y="4602479"/>
            <a:ext cx="0" cy="106680"/>
          </a:xfrm>
          <a:prstGeom prst="line">
            <a:avLst/>
          </a:prstGeom>
          <a:ln w="2285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H="1">
            <a:off x="10820399" y="4709159"/>
            <a:ext cx="685800" cy="60960"/>
          </a:xfrm>
          <a:prstGeom prst="line">
            <a:avLst/>
          </a:prstGeom>
          <a:ln w="2285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H="1">
            <a:off x="10195559" y="4770119"/>
            <a:ext cx="624840" cy="167640"/>
          </a:xfrm>
          <a:prstGeom prst="line">
            <a:avLst/>
          </a:prstGeom>
          <a:ln w="22859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9105899" y="4678679"/>
            <a:ext cx="45720" cy="266700"/>
          </a:xfrm>
          <a:prstGeom prst="line">
            <a:avLst/>
          </a:prstGeom>
          <a:ln w="2285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9151619" y="4457699"/>
            <a:ext cx="266700" cy="220980"/>
          </a:xfrm>
          <a:prstGeom prst="line">
            <a:avLst/>
          </a:prstGeom>
          <a:ln w="22859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9418319" y="4251959"/>
            <a:ext cx="449580" cy="205740"/>
          </a:xfrm>
          <a:prstGeom prst="line">
            <a:avLst/>
          </a:prstGeom>
          <a:ln w="22859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TextBox 352"/>
          <p:cNvSpPr txBox="1"/>
          <p:nvPr/>
        </p:nvSpPr>
        <p:spPr>
          <a:xfrm>
            <a:off x="9235439" y="4152899"/>
            <a:ext cx="914399" cy="5333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139" b="1" i="1">
                <a:solidFill>
                  <a:srgbClr val="111111"/>
                </a:solidFill>
                <a:latin typeface="Liberation Serif"/>
              </a:defRPr>
            </a:pPr>
            <a:r>
              <a:t>Policy</a:t>
            </a:r>
            <a:br/>
            <a:r>
              <a:t>Optimization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8503919" y="4876799"/>
            <a:ext cx="3566159" cy="2034539"/>
          </a:xfrm>
          <a:prstGeom prst="roundRect">
            <a:avLst>
              <a:gd name="adj" fmla="val 7490"/>
            </a:avLst>
          </a:prstGeom>
          <a:solidFill>
            <a:srgbClr val="FFFFFF"/>
          </a:solidFill>
          <a:ln w="15239">
            <a:solidFill>
              <a:srgbClr val="9D9D9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8580119" y="4892039"/>
            <a:ext cx="3413759" cy="2590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379" b="1" i="0">
                <a:solidFill>
                  <a:srgbClr val="111111"/>
                </a:solidFill>
                <a:latin typeface="Liberation Serif"/>
              </a:defRPr>
            </a:pPr>
            <a:r>
              <a:t>Normalized Verifiable Reward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8549639" y="5166359"/>
            <a:ext cx="3474719" cy="586739"/>
          </a:xfrm>
          <a:prstGeom prst="roundRect">
            <a:avLst>
              <a:gd name="adj" fmla="val 6493"/>
            </a:avLst>
          </a:prstGeom>
          <a:solidFill>
            <a:srgbClr val="D9E8F6"/>
          </a:solidFill>
          <a:ln w="7619">
            <a:solidFill>
              <a:srgbClr val="D9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8602979" y="5189219"/>
            <a:ext cx="1508759" cy="1828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79" b="1" i="0">
                <a:solidFill>
                  <a:srgbClr val="111111"/>
                </a:solidFill>
                <a:latin typeface="Liberation Serif"/>
              </a:defRPr>
            </a:pPr>
            <a:r>
              <a:t>Overall Reward: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8762999" y="5364479"/>
            <a:ext cx="3108959" cy="3657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19" b="0" i="1">
                <a:solidFill>
                  <a:srgbClr val="111111"/>
                </a:solidFill>
                <a:latin typeface="Liberation Serif"/>
              </a:defRPr>
            </a:pPr>
            <a:r>
              <a:t>R = { 0.8·Racc + 0.1·Rformat + 0.1·Rword,                 if ylabel = real</a:t>
            </a:r>
            <a:br/>
            <a:r>
              <a:t>       0.7·Racc + 0.1·Rformat + 0.1·Rword + 0.1·Rentity,  if ylabel = fake</a:t>
            </a:r>
          </a:p>
        </p:txBody>
      </p:sp>
      <p:cxnSp>
        <p:nvCxnSpPr>
          <p:cNvPr id="359" name="Connector 358"/>
          <p:cNvCxnSpPr/>
          <p:nvPr/>
        </p:nvCxnSpPr>
        <p:spPr>
          <a:xfrm>
            <a:off x="10317479" y="5791199"/>
            <a:ext cx="0" cy="1043940"/>
          </a:xfrm>
          <a:prstGeom prst="line">
            <a:avLst/>
          </a:prstGeom>
          <a:ln w="11429">
            <a:solidFill>
              <a:srgbClr val="9D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Rounded Rectangle 359"/>
          <p:cNvSpPr/>
          <p:nvPr/>
        </p:nvSpPr>
        <p:spPr>
          <a:xfrm>
            <a:off x="8634221" y="5915024"/>
            <a:ext cx="129539" cy="45338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ounded Rectangle 360"/>
          <p:cNvSpPr/>
          <p:nvPr/>
        </p:nvSpPr>
        <p:spPr>
          <a:xfrm>
            <a:off x="8601836" y="5960363"/>
            <a:ext cx="129539" cy="45338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ounded Rectangle 361"/>
          <p:cNvSpPr/>
          <p:nvPr/>
        </p:nvSpPr>
        <p:spPr>
          <a:xfrm rot="19200000">
            <a:off x="8692514" y="5973317"/>
            <a:ext cx="32384" cy="123062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3" name="Connector 362"/>
          <p:cNvCxnSpPr/>
          <p:nvPr/>
        </p:nvCxnSpPr>
        <p:spPr>
          <a:xfrm>
            <a:off x="8614790" y="6096380"/>
            <a:ext cx="136017" cy="0"/>
          </a:xfrm>
          <a:prstGeom prst="line">
            <a:avLst/>
          </a:prstGeom>
          <a:ln w="19430">
            <a:solidFill>
              <a:srgbClr val="EE8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TextBox 363"/>
          <p:cNvSpPr txBox="1"/>
          <p:nvPr/>
        </p:nvSpPr>
        <p:spPr>
          <a:xfrm>
            <a:off x="8869679" y="5844539"/>
            <a:ext cx="1356359" cy="2971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Liberation Serif"/>
              </a:defRPr>
            </a:pPr>
            <a:r>
              <a:t>Accuracy Reward Racc</a:t>
            </a:r>
          </a:p>
        </p:txBody>
      </p:sp>
      <p:sp>
        <p:nvSpPr>
          <p:cNvPr id="365" name="Rounded Rectangle 364"/>
          <p:cNvSpPr/>
          <p:nvPr/>
        </p:nvSpPr>
        <p:spPr>
          <a:xfrm>
            <a:off x="8634221" y="6265544"/>
            <a:ext cx="129539" cy="45338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ounded Rectangle 365"/>
          <p:cNvSpPr/>
          <p:nvPr/>
        </p:nvSpPr>
        <p:spPr>
          <a:xfrm>
            <a:off x="8601836" y="6310883"/>
            <a:ext cx="129539" cy="45338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ounded Rectangle 366"/>
          <p:cNvSpPr/>
          <p:nvPr/>
        </p:nvSpPr>
        <p:spPr>
          <a:xfrm rot="19200000">
            <a:off x="8692514" y="6323837"/>
            <a:ext cx="32384" cy="123062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8614790" y="6446900"/>
            <a:ext cx="136017" cy="0"/>
          </a:xfrm>
          <a:prstGeom prst="line">
            <a:avLst/>
          </a:prstGeom>
          <a:ln w="19430">
            <a:solidFill>
              <a:srgbClr val="EE8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TextBox 368"/>
          <p:cNvSpPr txBox="1"/>
          <p:nvPr/>
        </p:nvSpPr>
        <p:spPr>
          <a:xfrm>
            <a:off x="8869679" y="6195059"/>
            <a:ext cx="1379219" cy="2971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1019" b="1" i="0">
                <a:solidFill>
                  <a:srgbClr val="111111"/>
                </a:solidFill>
                <a:latin typeface="Liberation Serif"/>
              </a:defRPr>
            </a:pPr>
            <a:r>
              <a:t>Format Reward Rformat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8634221" y="6616064"/>
            <a:ext cx="129539" cy="45338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ounded Rectangle 370"/>
          <p:cNvSpPr/>
          <p:nvPr/>
        </p:nvSpPr>
        <p:spPr>
          <a:xfrm>
            <a:off x="8601836" y="6661403"/>
            <a:ext cx="129539" cy="45338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ounded Rectangle 371"/>
          <p:cNvSpPr/>
          <p:nvPr/>
        </p:nvSpPr>
        <p:spPr>
          <a:xfrm rot="19200000">
            <a:off x="8692514" y="6674357"/>
            <a:ext cx="32384" cy="123062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8614790" y="6797420"/>
            <a:ext cx="136017" cy="0"/>
          </a:xfrm>
          <a:prstGeom prst="line">
            <a:avLst/>
          </a:prstGeom>
          <a:ln w="19430">
            <a:solidFill>
              <a:srgbClr val="EE8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TextBox 373"/>
          <p:cNvSpPr txBox="1"/>
          <p:nvPr/>
        </p:nvSpPr>
        <p:spPr>
          <a:xfrm>
            <a:off x="8869679" y="6499859"/>
            <a:ext cx="1402079" cy="3962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959" b="1" i="0">
                <a:solidFill>
                  <a:srgbClr val="111111"/>
                </a:solidFill>
                <a:latin typeface="Liberation Serif"/>
              </a:defRPr>
            </a:pPr>
            <a:r>
              <a:t>Reasoning Keywords</a:t>
            </a:r>
            <a:br/>
            <a:r>
              <a:t>Reward Rword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10478261" y="5915024"/>
            <a:ext cx="129539" cy="45338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ounded Rectangle 375"/>
          <p:cNvSpPr/>
          <p:nvPr/>
        </p:nvSpPr>
        <p:spPr>
          <a:xfrm>
            <a:off x="10445876" y="5960363"/>
            <a:ext cx="129539" cy="45338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ounded Rectangle 376"/>
          <p:cNvSpPr/>
          <p:nvPr/>
        </p:nvSpPr>
        <p:spPr>
          <a:xfrm rot="19200000">
            <a:off x="10536554" y="5973317"/>
            <a:ext cx="32384" cy="123062"/>
          </a:xfrm>
          <a:prstGeom prst="roundRect">
            <a:avLst>
              <a:gd name="adj" fmla="val 18000"/>
            </a:avLst>
          </a:prstGeom>
          <a:solidFill>
            <a:srgbClr val="EE8B2B"/>
          </a:solidFill>
          <a:ln w="7619">
            <a:solidFill>
              <a:srgbClr val="EE8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>
            <a:off x="10458830" y="6096380"/>
            <a:ext cx="136017" cy="0"/>
          </a:xfrm>
          <a:prstGeom prst="line">
            <a:avLst/>
          </a:prstGeom>
          <a:ln w="19430">
            <a:solidFill>
              <a:srgbClr val="EE8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TextBox 378"/>
          <p:cNvSpPr txBox="1"/>
          <p:nvPr/>
        </p:nvSpPr>
        <p:spPr>
          <a:xfrm>
            <a:off x="10713719" y="5814059"/>
            <a:ext cx="1249679" cy="41909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1019" b="1" i="0">
                <a:solidFill>
                  <a:srgbClr val="111111"/>
                </a:solidFill>
                <a:latin typeface="Liberation Serif"/>
              </a:defRPr>
            </a:pPr>
            <a:r>
              <a:t>Entity Grounding</a:t>
            </a:r>
            <a:br/>
            <a:r>
              <a:t>Reward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10431779" y="6278879"/>
            <a:ext cx="800099" cy="259079"/>
          </a:xfrm>
          <a:prstGeom prst="roundRect">
            <a:avLst>
              <a:gd name="adj" fmla="val 17647"/>
            </a:avLst>
          </a:prstGeom>
          <a:solidFill>
            <a:srgbClr val="8496B1"/>
          </a:solidFill>
          <a:ln w="11429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10454639" y="6278879"/>
            <a:ext cx="754379" cy="2590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959" b="1" i="1">
                <a:solidFill>
                  <a:srgbClr val="FFFFFF"/>
                </a:solidFill>
                <a:latin typeface="Liberation Serif"/>
              </a:defRPr>
            </a:pPr>
            <a:r>
              <a:t>Response Yₙ</a:t>
            </a:r>
          </a:p>
        </p:txBody>
      </p:sp>
      <p:cxnSp>
        <p:nvCxnSpPr>
          <p:cNvPr id="382" name="Connector 381"/>
          <p:cNvCxnSpPr/>
          <p:nvPr/>
        </p:nvCxnSpPr>
        <p:spPr>
          <a:xfrm>
            <a:off x="11247119" y="6408419"/>
            <a:ext cx="297180" cy="0"/>
          </a:xfrm>
          <a:prstGeom prst="line">
            <a:avLst/>
          </a:prstGeom>
          <a:ln w="19049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Oval 382"/>
          <p:cNvSpPr/>
          <p:nvPr/>
        </p:nvSpPr>
        <p:spPr>
          <a:xfrm>
            <a:off x="11620499" y="6263639"/>
            <a:ext cx="205739" cy="205739"/>
          </a:xfrm>
          <a:prstGeom prst="ellipse">
            <a:avLst/>
          </a:prstGeom>
          <a:solidFill>
            <a:srgbClr val="E8EDF1"/>
          </a:solidFill>
          <a:ln w="7619">
            <a:solidFill>
              <a:srgbClr val="E8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1689079" y="6294119"/>
            <a:ext cx="68579" cy="76199"/>
          </a:xfrm>
          <a:prstGeom prst="ellipse">
            <a:avLst/>
          </a:prstGeom>
          <a:solidFill>
            <a:srgbClr val="F1C0AB"/>
          </a:solidFill>
          <a:ln w="7619">
            <a:solidFill>
              <a:srgbClr val="F1C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1635739" y="6385559"/>
            <a:ext cx="182880" cy="76200"/>
          </a:xfrm>
          <a:custGeom>
            <a:avLst/>
            <a:gdLst/>
            <a:ahLst/>
            <a:cxnLst/>
            <a:rect l="l" t="t" r="r" b="b"/>
            <a:pathLst>
              <a:path w="182880" h="76200">
                <a:moveTo>
                  <a:pt x="0" y="76200"/>
                </a:moveTo>
                <a:lnTo>
                  <a:pt x="38100" y="0"/>
                </a:lnTo>
                <a:lnTo>
                  <a:pt x="121920" y="0"/>
                </a:lnTo>
                <a:lnTo>
                  <a:pt x="182880" y="76200"/>
                </a:lnTo>
                <a:close/>
              </a:path>
            </a:pathLst>
          </a:custGeom>
          <a:solidFill>
            <a:srgbClr val="7A8D9D"/>
          </a:solidFill>
          <a:ln w="7619">
            <a:solidFill>
              <a:srgbClr val="7A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1346179" y="6476999"/>
            <a:ext cx="632459" cy="1752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defRPr sz="839" b="1" i="1">
                <a:solidFill>
                  <a:srgbClr val="111111"/>
                </a:solidFill>
                <a:latin typeface="Liberation Serif"/>
              </a:defRPr>
            </a:pPr>
            <a:r>
              <a:t>Judge model</a:t>
            </a:r>
          </a:p>
        </p:txBody>
      </p:sp>
      <p:cxnSp>
        <p:nvCxnSpPr>
          <p:cNvPr id="387" name="Connector 386"/>
          <p:cNvCxnSpPr/>
          <p:nvPr/>
        </p:nvCxnSpPr>
        <p:spPr>
          <a:xfrm flipH="1">
            <a:off x="11506199" y="6682739"/>
            <a:ext cx="228600" cy="53340"/>
          </a:xfrm>
          <a:prstGeom prst="line">
            <a:avLst/>
          </a:prstGeom>
          <a:ln w="15239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TextBox 387"/>
          <p:cNvSpPr txBox="1"/>
          <p:nvPr/>
        </p:nvSpPr>
        <p:spPr>
          <a:xfrm>
            <a:off x="10485119" y="6644639"/>
            <a:ext cx="1447799" cy="25145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defRPr sz="779" b="0" i="1">
                <a:solidFill>
                  <a:srgbClr val="111111"/>
                </a:solidFill>
                <a:latin typeface="Liberation Serif"/>
              </a:defRPr>
            </a:pPr>
            <a:r>
              <a:t>Rentity = { 1,  if Judge = True</a:t>
            </a:r>
            <a:br/>
            <a:r>
              <a:t>             0,  otherwise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Fact-R1 Towards Explainable Video Misinformation Detection with Deep Reaso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" y="0"/>
            <a:ext cx="12184777" cy="70865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