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4630400" cy="691384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581" y="121162"/>
            <a:ext cx="14509237" cy="2991204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96889" y="136308"/>
            <a:ext cx="6209590" cy="31805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2039" b="1" i="0">
                <a:solidFill>
                  <a:srgbClr val="111111"/>
                </a:solidFill>
                <a:latin typeface="Liberation Serif"/>
              </a:rPr>
              <a:t>Measure Difficulty based on Relative Reward Statistics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821346" y="189316"/>
            <a:ext cx="3680318" cy="2870042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AAAAA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65227" y="189316"/>
            <a:ext cx="3407701" cy="31805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2039" b="1" i="0">
                <a:solidFill>
                  <a:srgbClr val="111111"/>
                </a:solidFill>
                <a:latin typeface="Liberation Serif"/>
              </a:rPr>
              <a:t>Dynamic Global Reward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1453" y="923865"/>
            <a:ext cx="2233937" cy="1635696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top_fram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043" y="984447"/>
            <a:ext cx="2014330" cy="81027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42325" y="1809868"/>
            <a:ext cx="840566" cy="23475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439" b="1" i="0">
                <a:solidFill>
                  <a:srgbClr val="111111"/>
                </a:solidFill>
                <a:latin typeface="TeX Gyre Heros"/>
              </a:rPr>
              <a:t>Question: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473" y="1809868"/>
            <a:ext cx="1113182" cy="23475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439" b="0" i="0">
                <a:solidFill>
                  <a:srgbClr val="B46A24"/>
                </a:solidFill>
                <a:latin typeface="TeX Gyre Heros"/>
              </a:rPr>
              <a:t>What 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2325" y="2029475"/>
            <a:ext cx="2044621" cy="23475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439" b="0" i="0">
                <a:solidFill>
                  <a:srgbClr val="B46A24"/>
                </a:solidFill>
                <a:latin typeface="TeX Gyre Heros"/>
              </a:rPr>
              <a:t>should I take next 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2325" y="2249083"/>
            <a:ext cx="2044621" cy="23475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439" b="0" i="0">
                <a:solidFill>
                  <a:srgbClr val="B46A24"/>
                </a:solidFill>
                <a:latin typeface="TeX Gyre Heros"/>
              </a:rPr>
              <a:t>order to eat the celery?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392963" y="1741714"/>
            <a:ext cx="242326" cy="0"/>
          </a:xfrm>
          <a:prstGeom prst="line">
            <a:avLst/>
          </a:prstGeom>
          <a:ln w="27940">
            <a:solidFill>
              <a:srgbClr val="5F5F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Isosceles Triangle 12"/>
          <p:cNvSpPr/>
          <p:nvPr/>
        </p:nvSpPr>
        <p:spPr>
          <a:xfrm rot="5400000">
            <a:off x="2586067" y="1692491"/>
            <a:ext cx="98444" cy="98444"/>
          </a:xfrm>
          <a:prstGeom prst="triangle">
            <a:avLst/>
          </a:prstGeom>
          <a:solidFill>
            <a:srgbClr val="5F5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650434" y="1317644"/>
            <a:ext cx="1045028" cy="848139"/>
          </a:xfrm>
          <a:prstGeom prst="roundRect">
            <a:avLst/>
          </a:prstGeom>
          <a:solidFill>
            <a:srgbClr val="FFF8E7"/>
          </a:solidFill>
          <a:ln w="31750">
            <a:solidFill>
              <a:srgbClr val="F8DC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64024" y="1469098"/>
            <a:ext cx="817848" cy="28776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859" b="0" i="0">
                <a:solidFill>
                  <a:srgbClr val="111111"/>
                </a:solidFill>
                <a:latin typeface="TeX Gyre Heros"/>
              </a:rPr>
              <a:t>Video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64024" y="1734141"/>
            <a:ext cx="817848" cy="28776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859" b="0" i="0">
                <a:solidFill>
                  <a:srgbClr val="111111"/>
                </a:solidFill>
                <a:latin typeface="TeX Gyre Heros"/>
              </a:rPr>
              <a:t>LLM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695463" y="1741714"/>
            <a:ext cx="181744" cy="0"/>
          </a:xfrm>
          <a:prstGeom prst="line">
            <a:avLst/>
          </a:prstGeom>
          <a:ln w="25400">
            <a:solidFill>
              <a:srgbClr val="5F5F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3877207" y="1098037"/>
            <a:ext cx="0" cy="643677"/>
          </a:xfrm>
          <a:prstGeom prst="line">
            <a:avLst/>
          </a:prstGeom>
          <a:ln w="25400">
            <a:solidFill>
              <a:srgbClr val="5F5F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877207" y="1098037"/>
            <a:ext cx="227180" cy="0"/>
          </a:xfrm>
          <a:prstGeom prst="line">
            <a:avLst/>
          </a:prstGeom>
          <a:ln w="25400">
            <a:solidFill>
              <a:srgbClr val="5F5F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3877207" y="1098037"/>
            <a:ext cx="227180" cy="0"/>
          </a:xfrm>
          <a:prstGeom prst="line">
            <a:avLst/>
          </a:prstGeom>
          <a:ln w="25400">
            <a:solidFill>
              <a:srgbClr val="5F5F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Isosceles Triangle 20"/>
          <p:cNvSpPr/>
          <p:nvPr/>
        </p:nvSpPr>
        <p:spPr>
          <a:xfrm rot="5400000">
            <a:off x="4055165" y="1048814"/>
            <a:ext cx="98444" cy="98444"/>
          </a:xfrm>
          <a:prstGeom prst="triangle">
            <a:avLst/>
          </a:prstGeom>
          <a:solidFill>
            <a:srgbClr val="5F5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>
            <a:off x="3695463" y="1741714"/>
            <a:ext cx="181744" cy="0"/>
          </a:xfrm>
          <a:prstGeom prst="line">
            <a:avLst/>
          </a:prstGeom>
          <a:ln w="25400">
            <a:solidFill>
              <a:srgbClr val="5F5F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3877207" y="1605406"/>
            <a:ext cx="0" cy="136308"/>
          </a:xfrm>
          <a:prstGeom prst="line">
            <a:avLst/>
          </a:prstGeom>
          <a:ln w="25400">
            <a:solidFill>
              <a:srgbClr val="5F5F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877207" y="1605406"/>
            <a:ext cx="227180" cy="0"/>
          </a:xfrm>
          <a:prstGeom prst="line">
            <a:avLst/>
          </a:prstGeom>
          <a:ln w="25400">
            <a:solidFill>
              <a:srgbClr val="5F5F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877207" y="1605406"/>
            <a:ext cx="227180" cy="0"/>
          </a:xfrm>
          <a:prstGeom prst="line">
            <a:avLst/>
          </a:prstGeom>
          <a:ln w="25400">
            <a:solidFill>
              <a:srgbClr val="5F5F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Isosceles Triangle 25"/>
          <p:cNvSpPr/>
          <p:nvPr/>
        </p:nvSpPr>
        <p:spPr>
          <a:xfrm rot="5400000">
            <a:off x="4055165" y="1556183"/>
            <a:ext cx="98444" cy="98444"/>
          </a:xfrm>
          <a:prstGeom prst="triangle">
            <a:avLst/>
          </a:prstGeom>
          <a:solidFill>
            <a:srgbClr val="5F5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>
            <a:off x="3695463" y="1741714"/>
            <a:ext cx="181744" cy="0"/>
          </a:xfrm>
          <a:prstGeom prst="line">
            <a:avLst/>
          </a:prstGeom>
          <a:ln w="25400">
            <a:solidFill>
              <a:srgbClr val="5F5F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3877207" y="1741714"/>
            <a:ext cx="0" cy="628531"/>
          </a:xfrm>
          <a:prstGeom prst="line">
            <a:avLst/>
          </a:prstGeom>
          <a:ln w="25400">
            <a:solidFill>
              <a:srgbClr val="5F5F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3877207" y="2370245"/>
            <a:ext cx="227180" cy="0"/>
          </a:xfrm>
          <a:prstGeom prst="line">
            <a:avLst/>
          </a:prstGeom>
          <a:ln w="25400">
            <a:solidFill>
              <a:srgbClr val="5F5F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3877207" y="2370245"/>
            <a:ext cx="227180" cy="0"/>
          </a:xfrm>
          <a:prstGeom prst="line">
            <a:avLst/>
          </a:prstGeom>
          <a:ln w="25400">
            <a:solidFill>
              <a:srgbClr val="5F5F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Isosceles Triangle 30"/>
          <p:cNvSpPr/>
          <p:nvPr/>
        </p:nvSpPr>
        <p:spPr>
          <a:xfrm rot="5400000">
            <a:off x="4055165" y="2321023"/>
            <a:ext cx="98444" cy="98444"/>
          </a:xfrm>
          <a:prstGeom prst="triangle">
            <a:avLst/>
          </a:prstGeom>
          <a:solidFill>
            <a:srgbClr val="5F5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111960" y="886002"/>
            <a:ext cx="1628124" cy="424069"/>
          </a:xfrm>
          <a:prstGeom prst="rect">
            <a:avLst/>
          </a:prstGeom>
          <a:solidFill>
            <a:srgbClr val="FFFFFF"/>
          </a:solidFill>
          <a:ln w="25400">
            <a:solidFill>
              <a:srgbClr val="3D6F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78559" y="939011"/>
            <a:ext cx="1060173" cy="32562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739" b="0" i="0">
                <a:solidFill>
                  <a:srgbClr val="111111"/>
                </a:solidFill>
                <a:latin typeface="TeX Gyre Heros"/>
              </a:rPr>
              <a:t>Response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93296" y="923865"/>
            <a:ext cx="378633" cy="31805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560" b="0" i="1">
                <a:solidFill>
                  <a:srgbClr val="111111"/>
                </a:solidFill>
                <a:latin typeface="DejaVu Serif"/>
              </a:rPr>
              <a:t>y¹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5740084" y="1098037"/>
            <a:ext cx="416497" cy="0"/>
          </a:xfrm>
          <a:prstGeom prst="line">
            <a:avLst/>
          </a:prstGeom>
          <a:ln w="25400">
            <a:solidFill>
              <a:srgbClr val="5F5F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Isosceles Triangle 35"/>
          <p:cNvSpPr/>
          <p:nvPr/>
        </p:nvSpPr>
        <p:spPr>
          <a:xfrm rot="5400000">
            <a:off x="6107359" y="1048814"/>
            <a:ext cx="98444" cy="98444"/>
          </a:xfrm>
          <a:prstGeom prst="triangle">
            <a:avLst/>
          </a:prstGeom>
          <a:solidFill>
            <a:srgbClr val="5F5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111960" y="1393371"/>
            <a:ext cx="1628124" cy="424069"/>
          </a:xfrm>
          <a:prstGeom prst="rect">
            <a:avLst/>
          </a:prstGeom>
          <a:solidFill>
            <a:srgbClr val="FFFFFF"/>
          </a:solidFill>
          <a:ln w="25400">
            <a:solidFill>
              <a:srgbClr val="3D6F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78559" y="1446380"/>
            <a:ext cx="1060173" cy="32562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739" b="0" i="0">
                <a:solidFill>
                  <a:srgbClr val="111111"/>
                </a:solidFill>
                <a:latin typeface="TeX Gyre Heros"/>
              </a:rPr>
              <a:t>Response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93296" y="1431234"/>
            <a:ext cx="378633" cy="31805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560" b="0" i="1">
                <a:solidFill>
                  <a:srgbClr val="111111"/>
                </a:solidFill>
                <a:latin typeface="DejaVu Serif"/>
              </a:rPr>
              <a:t>y²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5740084" y="1605406"/>
            <a:ext cx="416497" cy="0"/>
          </a:xfrm>
          <a:prstGeom prst="line">
            <a:avLst/>
          </a:prstGeom>
          <a:ln w="25400">
            <a:solidFill>
              <a:srgbClr val="5F5F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Isosceles Triangle 40"/>
          <p:cNvSpPr/>
          <p:nvPr/>
        </p:nvSpPr>
        <p:spPr>
          <a:xfrm rot="5400000">
            <a:off x="6107359" y="1556183"/>
            <a:ext cx="98444" cy="98444"/>
          </a:xfrm>
          <a:prstGeom prst="triangle">
            <a:avLst/>
          </a:prstGeom>
          <a:solidFill>
            <a:srgbClr val="5F5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111960" y="2165783"/>
            <a:ext cx="1628124" cy="424069"/>
          </a:xfrm>
          <a:prstGeom prst="rect">
            <a:avLst/>
          </a:prstGeom>
          <a:solidFill>
            <a:srgbClr val="FFFFFF"/>
          </a:solidFill>
          <a:ln w="25400">
            <a:solidFill>
              <a:srgbClr val="3D6F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278559" y="2218792"/>
            <a:ext cx="1060173" cy="32562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739" b="0" i="0">
                <a:solidFill>
                  <a:srgbClr val="111111"/>
                </a:solidFill>
                <a:latin typeface="TeX Gyre Heros"/>
              </a:rPr>
              <a:t>Response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293296" y="2203647"/>
            <a:ext cx="378633" cy="31805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560" b="0" i="1">
                <a:solidFill>
                  <a:srgbClr val="111111"/>
                </a:solidFill>
                <a:latin typeface="DejaVu Serif"/>
              </a:rPr>
              <a:t>yᴳ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5740084" y="2377818"/>
            <a:ext cx="416497" cy="0"/>
          </a:xfrm>
          <a:prstGeom prst="line">
            <a:avLst/>
          </a:prstGeom>
          <a:ln w="25400">
            <a:solidFill>
              <a:srgbClr val="5F5F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Isosceles Triangle 45"/>
          <p:cNvSpPr/>
          <p:nvPr/>
        </p:nvSpPr>
        <p:spPr>
          <a:xfrm rot="5400000">
            <a:off x="6107359" y="2328596"/>
            <a:ext cx="98444" cy="98444"/>
          </a:xfrm>
          <a:prstGeom prst="triangle">
            <a:avLst/>
          </a:prstGeom>
          <a:solidFill>
            <a:srgbClr val="5F5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808645" y="1809868"/>
            <a:ext cx="605813" cy="31805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2280" b="1" i="0">
                <a:solidFill>
                  <a:srgbClr val="111111"/>
                </a:solidFill>
                <a:latin typeface="TeX Gyre Heros"/>
              </a:rPr>
              <a:t>⋯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164154" y="817848"/>
            <a:ext cx="1272208" cy="1809868"/>
          </a:xfrm>
          <a:prstGeom prst="roundRect">
            <a:avLst/>
          </a:prstGeom>
          <a:solidFill>
            <a:srgbClr val="DFF3D8"/>
          </a:solidFill>
          <a:ln w="31750">
            <a:solidFill>
              <a:srgbClr val="75D98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255026" y="461932"/>
            <a:ext cx="1098037" cy="38620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2280" b="0" i="1">
                <a:solidFill>
                  <a:srgbClr val="111111"/>
                </a:solidFill>
                <a:latin typeface="DejaVu Serif"/>
              </a:rPr>
              <a:t>ℛgroup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24735" y="946583"/>
            <a:ext cx="1151045" cy="33319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920" b="0" i="1">
                <a:solidFill>
                  <a:srgbClr val="111111"/>
                </a:solidFill>
                <a:latin typeface="DejaVu Serif"/>
              </a:rPr>
              <a:t>ℛ(x, y¹)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24735" y="1453952"/>
            <a:ext cx="1151045" cy="33319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920" b="0" i="1">
                <a:solidFill>
                  <a:srgbClr val="111111"/>
                </a:solidFill>
                <a:latin typeface="DejaVu Serif"/>
              </a:rPr>
              <a:t>ℛ(x, y²)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24735" y="2211219"/>
            <a:ext cx="1151045" cy="33319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920" b="0" i="1">
                <a:solidFill>
                  <a:srgbClr val="111111"/>
                </a:solidFill>
                <a:latin typeface="DejaVu Serif"/>
              </a:rPr>
              <a:t>ℛ(x, yᴳ)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36770" y="1817440"/>
            <a:ext cx="719403" cy="31805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2280" b="1" i="0">
                <a:solidFill>
                  <a:srgbClr val="111111"/>
                </a:solidFill>
                <a:latin typeface="TeX Gyre Heros"/>
              </a:rPr>
              <a:t>⋯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708978" y="295334"/>
            <a:ext cx="2877614" cy="3710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2100" b="0" i="1">
                <a:solidFill>
                  <a:srgbClr val="111111"/>
                </a:solidFill>
                <a:latin typeface="DejaVu Serif"/>
              </a:rPr>
              <a:t>Â⁽ⁱ⁾ =  ℛ(x, y⁽ⁱ⁾) − μᵣ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8708571" y="787557"/>
            <a:ext cx="1688706" cy="0"/>
          </a:xfrm>
          <a:prstGeom prst="line">
            <a:avLst/>
          </a:prstGeom>
          <a:ln w="15240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9200795" y="772412"/>
            <a:ext cx="681540" cy="27261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980" b="0" i="1">
                <a:solidFill>
                  <a:srgbClr val="111111"/>
                </a:solidFill>
                <a:latin typeface="DejaVu Serif"/>
              </a:rPr>
              <a:t>σᵣ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580243" y="1158618"/>
            <a:ext cx="3089649" cy="439214"/>
          </a:xfrm>
          <a:prstGeom prst="roundRect">
            <a:avLst/>
          </a:prstGeom>
          <a:solidFill>
            <a:srgbClr val="FFFFFF"/>
          </a:solidFill>
          <a:ln w="35560">
            <a:solidFill>
              <a:srgbClr val="FF70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648397" y="1196481"/>
            <a:ext cx="2953341" cy="3407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500" b="0" i="0">
                <a:solidFill>
                  <a:srgbClr val="111111"/>
                </a:solidFill>
                <a:latin typeface="DejaVu Serif"/>
              </a:rPr>
              <a:t>ℛgroup = {0.0, 0.0, ..., 0.0, 0.0}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580243" y="1809868"/>
            <a:ext cx="3089649" cy="439214"/>
          </a:xfrm>
          <a:prstGeom prst="roundRect">
            <a:avLst/>
          </a:prstGeom>
          <a:solidFill>
            <a:srgbClr val="FFFFFF"/>
          </a:solidFill>
          <a:ln w="35560">
            <a:solidFill>
              <a:srgbClr val="5F5F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648397" y="1847731"/>
            <a:ext cx="2953341" cy="3407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500" b="0" i="0">
                <a:solidFill>
                  <a:srgbClr val="111111"/>
                </a:solidFill>
                <a:latin typeface="DejaVu Serif"/>
              </a:rPr>
              <a:t>ℛgroup = {1.1, 0.3, ..., 1.9, 0.8}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7580243" y="2438400"/>
            <a:ext cx="3089649" cy="439214"/>
          </a:xfrm>
          <a:prstGeom prst="roundRect">
            <a:avLst/>
          </a:prstGeom>
          <a:solidFill>
            <a:srgbClr val="FFFFFF"/>
          </a:solidFill>
          <a:ln w="35560">
            <a:solidFill>
              <a:srgbClr val="00B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648397" y="2476263"/>
            <a:ext cx="2953341" cy="3407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500" b="0" i="0">
                <a:solidFill>
                  <a:srgbClr val="111111"/>
                </a:solidFill>
                <a:latin typeface="DejaVu Serif"/>
              </a:rPr>
              <a:t>ℛgroup = {2.0, 2.0, ..., 2.0, 2.0}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1003090" y="681540"/>
            <a:ext cx="681540" cy="24232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320" b="0" i="0">
                <a:solidFill>
                  <a:srgbClr val="111111"/>
                </a:solidFill>
                <a:latin typeface="TeX Gyre Heros"/>
              </a:rPr>
              <a:t>Reward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2449470" y="1241918"/>
            <a:ext cx="711831" cy="1310072"/>
          </a:xfrm>
          <a:prstGeom prst="rect">
            <a:avLst/>
          </a:prstGeom>
          <a:solidFill>
            <a:srgbClr val="FFFEC8"/>
          </a:solidFill>
          <a:ln>
            <a:solidFill>
              <a:srgbClr val="FFFE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" name="Connector 64"/>
          <p:cNvCxnSpPr/>
          <p:nvPr/>
        </p:nvCxnSpPr>
        <p:spPr>
          <a:xfrm>
            <a:off x="11283279" y="1226772"/>
            <a:ext cx="2196075" cy="0"/>
          </a:xfrm>
          <a:prstGeom prst="line">
            <a:avLst/>
          </a:prstGeom>
          <a:ln w="10160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11283279" y="1484243"/>
            <a:ext cx="2196075" cy="0"/>
          </a:xfrm>
          <a:prstGeom prst="line">
            <a:avLst/>
          </a:prstGeom>
          <a:ln w="10160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11283279" y="1749286"/>
            <a:ext cx="2196075" cy="0"/>
          </a:xfrm>
          <a:prstGeom prst="line">
            <a:avLst/>
          </a:prstGeom>
          <a:ln w="10160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11283279" y="2021903"/>
            <a:ext cx="2196075" cy="0"/>
          </a:xfrm>
          <a:prstGeom prst="line">
            <a:avLst/>
          </a:prstGeom>
          <a:ln w="10160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11283279" y="2294519"/>
            <a:ext cx="2196075" cy="0"/>
          </a:xfrm>
          <a:prstGeom prst="line">
            <a:avLst/>
          </a:prstGeom>
          <a:ln w="10160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11283279" y="954156"/>
            <a:ext cx="0" cy="1605406"/>
          </a:xfrm>
          <a:prstGeom prst="line">
            <a:avLst/>
          </a:prstGeom>
          <a:ln w="21590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Isosceles Triangle 70"/>
          <p:cNvSpPr/>
          <p:nvPr/>
        </p:nvSpPr>
        <p:spPr>
          <a:xfrm>
            <a:off x="11234057" y="904934"/>
            <a:ext cx="98444" cy="98444"/>
          </a:xfrm>
          <a:prstGeom prst="triangl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2" name="Connector 71"/>
          <p:cNvCxnSpPr/>
          <p:nvPr/>
        </p:nvCxnSpPr>
        <p:spPr>
          <a:xfrm>
            <a:off x="11283279" y="2559562"/>
            <a:ext cx="2309665" cy="0"/>
          </a:xfrm>
          <a:prstGeom prst="line">
            <a:avLst/>
          </a:prstGeom>
          <a:ln w="21590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Isosceles Triangle 72"/>
          <p:cNvSpPr/>
          <p:nvPr/>
        </p:nvSpPr>
        <p:spPr>
          <a:xfrm rot="5400000">
            <a:off x="13543721" y="2510340"/>
            <a:ext cx="98444" cy="98444"/>
          </a:xfrm>
          <a:prstGeom prst="triangl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4" name="Connector 73"/>
          <p:cNvCxnSpPr/>
          <p:nvPr/>
        </p:nvCxnSpPr>
        <p:spPr>
          <a:xfrm>
            <a:off x="11290852" y="2408109"/>
            <a:ext cx="227180" cy="30291"/>
          </a:xfrm>
          <a:prstGeom prst="line">
            <a:avLst/>
          </a:prstGeom>
          <a:ln w="17780">
            <a:solidFill>
              <a:srgbClr val="2775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11518032" y="1893167"/>
            <a:ext cx="484651" cy="545233"/>
          </a:xfrm>
          <a:prstGeom prst="line">
            <a:avLst/>
          </a:prstGeom>
          <a:ln w="17780">
            <a:solidFill>
              <a:srgbClr val="2775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12002683" y="1628124"/>
            <a:ext cx="514941" cy="265043"/>
          </a:xfrm>
          <a:prstGeom prst="line">
            <a:avLst/>
          </a:prstGeom>
          <a:ln w="17780">
            <a:solidFill>
              <a:srgbClr val="2775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12517624" y="1628124"/>
            <a:ext cx="242326" cy="53008"/>
          </a:xfrm>
          <a:prstGeom prst="line">
            <a:avLst/>
          </a:prstGeom>
          <a:ln w="17780">
            <a:solidFill>
              <a:srgbClr val="2775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12759950" y="1469098"/>
            <a:ext cx="280189" cy="212034"/>
          </a:xfrm>
          <a:prstGeom prst="line">
            <a:avLst/>
          </a:prstGeom>
          <a:ln w="17780">
            <a:solidFill>
              <a:srgbClr val="2775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13040139" y="1446380"/>
            <a:ext cx="121162" cy="22718"/>
          </a:xfrm>
          <a:prstGeom prst="line">
            <a:avLst/>
          </a:prstGeom>
          <a:ln w="17780">
            <a:solidFill>
              <a:srgbClr val="27759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TextBox 79"/>
          <p:cNvSpPr txBox="1"/>
          <p:nvPr/>
        </p:nvSpPr>
        <p:spPr>
          <a:xfrm>
            <a:off x="12441898" y="2044621"/>
            <a:ext cx="719403" cy="30290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2160" b="0" i="1">
                <a:solidFill>
                  <a:srgbClr val="111111"/>
                </a:solidFill>
                <a:latin typeface="DejaVu Serif"/>
              </a:rPr>
              <a:t>𝔹ᵂ</a:t>
            </a:r>
          </a:p>
        </p:txBody>
      </p:sp>
      <p:cxnSp>
        <p:nvCxnSpPr>
          <p:cNvPr id="81" name="Connector 80"/>
          <p:cNvCxnSpPr/>
          <p:nvPr/>
        </p:nvCxnSpPr>
        <p:spPr>
          <a:xfrm>
            <a:off x="12812959" y="2400536"/>
            <a:ext cx="340770" cy="0"/>
          </a:xfrm>
          <a:prstGeom prst="line">
            <a:avLst/>
          </a:prstGeom>
          <a:ln w="21590">
            <a:solidFill>
              <a:srgbClr val="FF5F6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Isosceles Triangle 81"/>
          <p:cNvSpPr/>
          <p:nvPr/>
        </p:nvSpPr>
        <p:spPr>
          <a:xfrm rot="5400000">
            <a:off x="13104506" y="2351314"/>
            <a:ext cx="98444" cy="98444"/>
          </a:xfrm>
          <a:prstGeom prst="triangle">
            <a:avLst/>
          </a:prstGeom>
          <a:solidFill>
            <a:srgbClr val="FF5F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3" name="Connector 82"/>
          <p:cNvCxnSpPr/>
          <p:nvPr/>
        </p:nvCxnSpPr>
        <p:spPr>
          <a:xfrm flipH="1">
            <a:off x="12479761" y="2400536"/>
            <a:ext cx="333198" cy="0"/>
          </a:xfrm>
          <a:prstGeom prst="line">
            <a:avLst/>
          </a:prstGeom>
          <a:ln w="21590">
            <a:solidFill>
              <a:srgbClr val="FF5F6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Isosceles Triangle 83"/>
          <p:cNvSpPr/>
          <p:nvPr/>
        </p:nvSpPr>
        <p:spPr>
          <a:xfrm rot="16200000">
            <a:off x="12430539" y="2351314"/>
            <a:ext cx="98444" cy="98444"/>
          </a:xfrm>
          <a:prstGeom prst="triangle">
            <a:avLst/>
          </a:prstGeom>
          <a:solidFill>
            <a:srgbClr val="FF5F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13691388" y="2438400"/>
            <a:ext cx="757267" cy="24232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320" b="0" i="0">
                <a:solidFill>
                  <a:srgbClr val="111111"/>
                </a:solidFill>
                <a:latin typeface="TeX Gyre Heros"/>
              </a:rPr>
              <a:t>Iteration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3827696" y="1431234"/>
            <a:ext cx="287761" cy="265043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13827696" y="1393371"/>
            <a:ext cx="287761" cy="106017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13827696" y="1650842"/>
            <a:ext cx="287761" cy="106017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9" name="Connector 88"/>
          <p:cNvCxnSpPr/>
          <p:nvPr/>
        </p:nvCxnSpPr>
        <p:spPr>
          <a:xfrm>
            <a:off x="13842842" y="1506961"/>
            <a:ext cx="257471" cy="0"/>
          </a:xfrm>
          <a:prstGeom prst="line">
            <a:avLst/>
          </a:prstGeom>
          <a:ln w="1270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13842842" y="1575115"/>
            <a:ext cx="257471" cy="0"/>
          </a:xfrm>
          <a:prstGeom prst="line">
            <a:avLst/>
          </a:prstGeom>
          <a:ln w="1270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13842842" y="1643269"/>
            <a:ext cx="257471" cy="0"/>
          </a:xfrm>
          <a:prstGeom prst="line">
            <a:avLst/>
          </a:prstGeom>
          <a:ln w="1270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TextBox 91"/>
          <p:cNvSpPr txBox="1"/>
          <p:nvPr/>
        </p:nvSpPr>
        <p:spPr>
          <a:xfrm>
            <a:off x="13592944" y="1832586"/>
            <a:ext cx="757267" cy="21203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439" b="0" i="0">
                <a:solidFill>
                  <a:srgbClr val="111111"/>
                </a:solidFill>
                <a:latin typeface="TeX Gyre Heros"/>
              </a:rPr>
              <a:t>Replay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3592944" y="2044621"/>
            <a:ext cx="757267" cy="21203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439" b="0" i="0">
                <a:solidFill>
                  <a:srgbClr val="111111"/>
                </a:solidFill>
                <a:latin typeface="TeX Gyre Heros"/>
              </a:rPr>
              <a:t>Buffer</a:t>
            </a:r>
          </a:p>
        </p:txBody>
      </p:sp>
      <p:sp>
        <p:nvSpPr>
          <p:cNvPr id="94" name="Freeform 93"/>
          <p:cNvSpPr/>
          <p:nvPr/>
        </p:nvSpPr>
        <p:spPr>
          <a:xfrm>
            <a:off x="3786335" y="2862469"/>
            <a:ext cx="5065668" cy="931356"/>
          </a:xfrm>
          <a:custGeom>
            <a:avLst/>
            <a:gdLst/>
            <a:ahLst/>
            <a:cxnLst/>
            <a:rect l="l" t="t" r="r" b="b"/>
            <a:pathLst>
              <a:path w="669" h="123">
                <a:moveTo>
                  <a:pt x="627" y="0"/>
                </a:moveTo>
                <a:lnTo>
                  <a:pt x="669" y="0"/>
                </a:lnTo>
                <a:lnTo>
                  <a:pt x="669" y="30"/>
                </a:lnTo>
                <a:lnTo>
                  <a:pt x="610" y="67"/>
                </a:lnTo>
                <a:lnTo>
                  <a:pt x="75" y="67"/>
                </a:lnTo>
                <a:lnTo>
                  <a:pt x="48" y="83"/>
                </a:lnTo>
                <a:lnTo>
                  <a:pt x="48" y="98"/>
                </a:lnTo>
                <a:lnTo>
                  <a:pt x="69" y="98"/>
                </a:lnTo>
                <a:lnTo>
                  <a:pt x="26" y="123"/>
                </a:lnTo>
                <a:lnTo>
                  <a:pt x="0" y="98"/>
                </a:lnTo>
                <a:lnTo>
                  <a:pt x="22" y="98"/>
                </a:lnTo>
                <a:lnTo>
                  <a:pt x="22" y="72"/>
                </a:lnTo>
                <a:lnTo>
                  <a:pt x="60" y="42"/>
                </a:lnTo>
                <a:lnTo>
                  <a:pt x="595" y="42"/>
                </a:lnTo>
                <a:lnTo>
                  <a:pt x="627" y="23"/>
                </a:lnTo>
                <a:close/>
              </a:path>
            </a:pathLst>
          </a:custGeom>
          <a:solidFill>
            <a:srgbClr val="FFAAA4"/>
          </a:solidFill>
          <a:ln w="57150">
            <a:solidFill>
              <a:srgbClr val="FF70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Freeform 94"/>
          <p:cNvSpPr/>
          <p:nvPr/>
        </p:nvSpPr>
        <p:spPr>
          <a:xfrm>
            <a:off x="9299239" y="2862469"/>
            <a:ext cx="2074728" cy="931356"/>
          </a:xfrm>
          <a:custGeom>
            <a:avLst/>
            <a:gdLst/>
            <a:ahLst/>
            <a:cxnLst/>
            <a:rect l="l" t="t" r="r" b="b"/>
            <a:pathLst>
              <a:path w="274" h="123">
                <a:moveTo>
                  <a:pt x="0" y="0"/>
                </a:moveTo>
                <a:lnTo>
                  <a:pt x="42" y="0"/>
                </a:lnTo>
                <a:lnTo>
                  <a:pt x="42" y="24"/>
                </a:lnTo>
                <a:lnTo>
                  <a:pt x="93" y="42"/>
                </a:lnTo>
                <a:lnTo>
                  <a:pt x="212" y="42"/>
                </a:lnTo>
                <a:lnTo>
                  <a:pt x="252" y="73"/>
                </a:lnTo>
                <a:lnTo>
                  <a:pt x="252" y="98"/>
                </a:lnTo>
                <a:lnTo>
                  <a:pt x="274" y="98"/>
                </a:lnTo>
                <a:lnTo>
                  <a:pt x="239" y="123"/>
                </a:lnTo>
                <a:lnTo>
                  <a:pt x="204" y="98"/>
                </a:lnTo>
                <a:lnTo>
                  <a:pt x="226" y="98"/>
                </a:lnTo>
                <a:lnTo>
                  <a:pt x="226" y="83"/>
                </a:lnTo>
                <a:lnTo>
                  <a:pt x="204" y="67"/>
                </a:lnTo>
                <a:lnTo>
                  <a:pt x="87" y="67"/>
                </a:lnTo>
                <a:lnTo>
                  <a:pt x="0" y="38"/>
                </a:lnTo>
                <a:close/>
              </a:path>
            </a:pathLst>
          </a:custGeom>
          <a:solidFill>
            <a:srgbClr val="6ED78A"/>
          </a:solidFill>
          <a:ln w="57150">
            <a:solidFill>
              <a:srgbClr val="00A9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ounded Rectangle 95"/>
          <p:cNvSpPr/>
          <p:nvPr/>
        </p:nvSpPr>
        <p:spPr>
          <a:xfrm>
            <a:off x="60581" y="3786335"/>
            <a:ext cx="14509237" cy="3127513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7" name="Connector 96"/>
          <p:cNvCxnSpPr/>
          <p:nvPr/>
        </p:nvCxnSpPr>
        <p:spPr>
          <a:xfrm>
            <a:off x="7799850" y="3793908"/>
            <a:ext cx="0" cy="3119940"/>
          </a:xfrm>
          <a:prstGeom prst="line">
            <a:avLst/>
          </a:prstGeom>
          <a:ln w="15240">
            <a:solidFill>
              <a:srgbClr val="777777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TextBox 97"/>
          <p:cNvSpPr txBox="1"/>
          <p:nvPr/>
        </p:nvSpPr>
        <p:spPr>
          <a:xfrm>
            <a:off x="196889" y="3786335"/>
            <a:ext cx="5300869" cy="31805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2039" b="1" i="0">
                <a:solidFill>
                  <a:srgbClr val="111111"/>
                </a:solidFill>
                <a:latin typeface="Liberation Serif"/>
              </a:rPr>
              <a:t>Difficulty Decreasement Augmentation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890722" y="3786335"/>
            <a:ext cx="5679503" cy="31805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2039" b="1" i="0">
                <a:solidFill>
                  <a:srgbClr val="111111"/>
                </a:solidFill>
                <a:latin typeface="Liberation Serif"/>
              </a:rPr>
              <a:t>Difficulty Increasement Augmentation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151453" y="4142250"/>
            <a:ext cx="2249083" cy="1885595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1" name="Picture 100" descr="bottom_fram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043" y="4172541"/>
            <a:ext cx="2021903" cy="855711"/>
          </a:xfrm>
          <a:prstGeom prst="rect">
            <a:avLst/>
          </a:prstGeom>
        </p:spPr>
      </p:pic>
      <p:sp>
        <p:nvSpPr>
          <p:cNvPr id="102" name="TextBox 101"/>
          <p:cNvSpPr txBox="1"/>
          <p:nvPr/>
        </p:nvSpPr>
        <p:spPr>
          <a:xfrm>
            <a:off x="272616" y="5066116"/>
            <a:ext cx="832993" cy="2271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380" b="1" i="0">
                <a:solidFill>
                  <a:srgbClr val="111111"/>
                </a:solidFill>
                <a:latin typeface="TeX Gyre Heros"/>
              </a:rPr>
              <a:t>Question: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166191" y="5066116"/>
            <a:ext cx="1075319" cy="2271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380" b="0" i="0">
                <a:solidFill>
                  <a:srgbClr val="B46A24"/>
                </a:solidFill>
                <a:latin typeface="TeX Gyre Heros"/>
              </a:rPr>
              <a:t>What action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272616" y="5278151"/>
            <a:ext cx="2044621" cy="2271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380" b="0" i="0">
                <a:solidFill>
                  <a:srgbClr val="B46A24"/>
                </a:solidFill>
                <a:latin typeface="TeX Gyre Heros"/>
              </a:rPr>
              <a:t>should I take next in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272616" y="5490186"/>
            <a:ext cx="2044621" cy="2271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380" b="0" i="0">
                <a:solidFill>
                  <a:srgbClr val="B46A24"/>
                </a:solidFill>
                <a:latin typeface="TeX Gyre Heros"/>
              </a:rPr>
              <a:t>order to eat the celery?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272616" y="5740084"/>
            <a:ext cx="363488" cy="2271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380" b="1" i="0">
                <a:solidFill>
                  <a:srgbClr val="111111"/>
                </a:solidFill>
                <a:latin typeface="TeX Gyre Heros"/>
              </a:rPr>
              <a:t>GT: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620959" y="5740084"/>
            <a:ext cx="1552397" cy="2271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380" b="0" i="0">
                <a:solidFill>
                  <a:srgbClr val="00B34B"/>
                </a:solidFill>
                <a:latin typeface="TeX Gyre Heros"/>
              </a:rPr>
              <a:t>B. pick up celery</a:t>
            </a:r>
          </a:p>
        </p:txBody>
      </p:sp>
      <p:cxnSp>
        <p:nvCxnSpPr>
          <p:cNvPr id="108" name="Connector 107"/>
          <p:cNvCxnSpPr/>
          <p:nvPr/>
        </p:nvCxnSpPr>
        <p:spPr>
          <a:xfrm>
            <a:off x="2400536" y="5126698"/>
            <a:ext cx="234753" cy="0"/>
          </a:xfrm>
          <a:prstGeom prst="line">
            <a:avLst/>
          </a:prstGeom>
          <a:ln w="27940">
            <a:solidFill>
              <a:srgbClr val="5F5F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Isosceles Triangle 108"/>
          <p:cNvSpPr/>
          <p:nvPr/>
        </p:nvSpPr>
        <p:spPr>
          <a:xfrm rot="5400000">
            <a:off x="2586067" y="5077475"/>
            <a:ext cx="98444" cy="98444"/>
          </a:xfrm>
          <a:prstGeom prst="triangle">
            <a:avLst/>
          </a:prstGeom>
          <a:solidFill>
            <a:srgbClr val="5F5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ounded Rectangle 109"/>
          <p:cNvSpPr/>
          <p:nvPr/>
        </p:nvSpPr>
        <p:spPr>
          <a:xfrm>
            <a:off x="2650434" y="4695055"/>
            <a:ext cx="1045028" cy="848139"/>
          </a:xfrm>
          <a:prstGeom prst="roundRect">
            <a:avLst/>
          </a:prstGeom>
          <a:solidFill>
            <a:srgbClr val="FFF8E7"/>
          </a:solidFill>
          <a:ln w="31750">
            <a:solidFill>
              <a:srgbClr val="F8DC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2764024" y="4846509"/>
            <a:ext cx="817848" cy="28776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859" b="0" i="0">
                <a:solidFill>
                  <a:srgbClr val="111111"/>
                </a:solidFill>
                <a:latin typeface="TeX Gyre Heros"/>
              </a:rPr>
              <a:t>Video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2764024" y="5119125"/>
            <a:ext cx="817848" cy="28776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859" b="0" i="0">
                <a:solidFill>
                  <a:srgbClr val="111111"/>
                </a:solidFill>
                <a:latin typeface="TeX Gyre Heros"/>
              </a:rPr>
              <a:t>LLM</a:t>
            </a:r>
          </a:p>
        </p:txBody>
      </p:sp>
      <p:cxnSp>
        <p:nvCxnSpPr>
          <p:cNvPr id="113" name="Connector 112"/>
          <p:cNvCxnSpPr/>
          <p:nvPr/>
        </p:nvCxnSpPr>
        <p:spPr>
          <a:xfrm>
            <a:off x="3695463" y="5126698"/>
            <a:ext cx="181744" cy="0"/>
          </a:xfrm>
          <a:prstGeom prst="line">
            <a:avLst/>
          </a:prstGeom>
          <a:ln w="25400">
            <a:solidFill>
              <a:srgbClr val="5F5F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 flipV="1">
            <a:off x="3877207" y="4475448"/>
            <a:ext cx="0" cy="651250"/>
          </a:xfrm>
          <a:prstGeom prst="line">
            <a:avLst/>
          </a:prstGeom>
          <a:ln w="25400">
            <a:solidFill>
              <a:srgbClr val="5F5F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>
            <a:off x="3877207" y="4475448"/>
            <a:ext cx="227180" cy="0"/>
          </a:xfrm>
          <a:prstGeom prst="line">
            <a:avLst/>
          </a:prstGeom>
          <a:ln w="25400">
            <a:solidFill>
              <a:srgbClr val="5F5F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>
            <a:off x="3877207" y="4475448"/>
            <a:ext cx="227180" cy="0"/>
          </a:xfrm>
          <a:prstGeom prst="line">
            <a:avLst/>
          </a:prstGeom>
          <a:ln w="25400">
            <a:solidFill>
              <a:srgbClr val="5F5F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" name="Isosceles Triangle 116"/>
          <p:cNvSpPr/>
          <p:nvPr/>
        </p:nvSpPr>
        <p:spPr>
          <a:xfrm rot="5400000">
            <a:off x="4055165" y="4426226"/>
            <a:ext cx="98444" cy="98444"/>
          </a:xfrm>
          <a:prstGeom prst="triangle">
            <a:avLst/>
          </a:prstGeom>
          <a:solidFill>
            <a:srgbClr val="5F5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8" name="Connector 117"/>
          <p:cNvCxnSpPr/>
          <p:nvPr/>
        </p:nvCxnSpPr>
        <p:spPr>
          <a:xfrm>
            <a:off x="3695463" y="5126698"/>
            <a:ext cx="181744" cy="0"/>
          </a:xfrm>
          <a:prstGeom prst="line">
            <a:avLst/>
          </a:prstGeom>
          <a:ln w="25400">
            <a:solidFill>
              <a:srgbClr val="5F5F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 flipV="1">
            <a:off x="3877207" y="4982817"/>
            <a:ext cx="0" cy="143881"/>
          </a:xfrm>
          <a:prstGeom prst="line">
            <a:avLst/>
          </a:prstGeom>
          <a:ln w="25400">
            <a:solidFill>
              <a:srgbClr val="5F5F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>
            <a:off x="3877207" y="4982817"/>
            <a:ext cx="227180" cy="0"/>
          </a:xfrm>
          <a:prstGeom prst="line">
            <a:avLst/>
          </a:prstGeom>
          <a:ln w="25400">
            <a:solidFill>
              <a:srgbClr val="5F5F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>
            <a:off x="3877207" y="4982817"/>
            <a:ext cx="227180" cy="0"/>
          </a:xfrm>
          <a:prstGeom prst="line">
            <a:avLst/>
          </a:prstGeom>
          <a:ln w="25400">
            <a:solidFill>
              <a:srgbClr val="5F5F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Isosceles Triangle 121"/>
          <p:cNvSpPr/>
          <p:nvPr/>
        </p:nvSpPr>
        <p:spPr>
          <a:xfrm rot="5400000">
            <a:off x="4055165" y="4933595"/>
            <a:ext cx="98444" cy="98444"/>
          </a:xfrm>
          <a:prstGeom prst="triangle">
            <a:avLst/>
          </a:prstGeom>
          <a:solidFill>
            <a:srgbClr val="5F5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3" name="Connector 122"/>
          <p:cNvCxnSpPr/>
          <p:nvPr/>
        </p:nvCxnSpPr>
        <p:spPr>
          <a:xfrm>
            <a:off x="3695463" y="5126698"/>
            <a:ext cx="181744" cy="0"/>
          </a:xfrm>
          <a:prstGeom prst="line">
            <a:avLst/>
          </a:prstGeom>
          <a:ln w="25400">
            <a:solidFill>
              <a:srgbClr val="5F5F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>
            <a:off x="3877207" y="5126698"/>
            <a:ext cx="0" cy="620959"/>
          </a:xfrm>
          <a:prstGeom prst="line">
            <a:avLst/>
          </a:prstGeom>
          <a:ln w="25400">
            <a:solidFill>
              <a:srgbClr val="5F5F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>
            <a:off x="3877207" y="5747657"/>
            <a:ext cx="227180" cy="0"/>
          </a:xfrm>
          <a:prstGeom prst="line">
            <a:avLst/>
          </a:prstGeom>
          <a:ln w="25400">
            <a:solidFill>
              <a:srgbClr val="5F5F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>
            <a:off x="3877207" y="5747657"/>
            <a:ext cx="227180" cy="0"/>
          </a:xfrm>
          <a:prstGeom prst="line">
            <a:avLst/>
          </a:prstGeom>
          <a:ln w="25400">
            <a:solidFill>
              <a:srgbClr val="5F5F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7" name="Isosceles Triangle 126"/>
          <p:cNvSpPr/>
          <p:nvPr/>
        </p:nvSpPr>
        <p:spPr>
          <a:xfrm rot="5400000">
            <a:off x="4055165" y="5698434"/>
            <a:ext cx="98444" cy="98444"/>
          </a:xfrm>
          <a:prstGeom prst="triangle">
            <a:avLst/>
          </a:prstGeom>
          <a:solidFill>
            <a:srgbClr val="5F5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4111960" y="4263413"/>
            <a:ext cx="1628124" cy="424069"/>
          </a:xfrm>
          <a:prstGeom prst="rect">
            <a:avLst/>
          </a:prstGeom>
          <a:solidFill>
            <a:srgbClr val="FFFFFF"/>
          </a:solidFill>
          <a:ln w="25400">
            <a:solidFill>
              <a:srgbClr val="3D6F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4278559" y="4316422"/>
            <a:ext cx="1060173" cy="32562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739" b="0" i="0">
                <a:solidFill>
                  <a:srgbClr val="111111"/>
                </a:solidFill>
                <a:latin typeface="TeX Gyre Heros"/>
              </a:rPr>
              <a:t>Response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5232715" y="4301277"/>
            <a:ext cx="454360" cy="31805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500" b="0" i="1">
                <a:solidFill>
                  <a:srgbClr val="111111"/>
                </a:solidFill>
                <a:latin typeface="DejaVu Serif"/>
              </a:rPr>
              <a:t>y¹gt</a:t>
            </a:r>
          </a:p>
        </p:txBody>
      </p:sp>
      <p:cxnSp>
        <p:nvCxnSpPr>
          <p:cNvPr id="131" name="Connector 130"/>
          <p:cNvCxnSpPr/>
          <p:nvPr/>
        </p:nvCxnSpPr>
        <p:spPr>
          <a:xfrm>
            <a:off x="5740084" y="4475448"/>
            <a:ext cx="416497" cy="0"/>
          </a:xfrm>
          <a:prstGeom prst="line">
            <a:avLst/>
          </a:prstGeom>
          <a:ln w="25400">
            <a:solidFill>
              <a:srgbClr val="5F5F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2" name="Isosceles Triangle 131"/>
          <p:cNvSpPr/>
          <p:nvPr/>
        </p:nvSpPr>
        <p:spPr>
          <a:xfrm rot="5400000">
            <a:off x="6107359" y="4426226"/>
            <a:ext cx="98444" cy="98444"/>
          </a:xfrm>
          <a:prstGeom prst="triangle">
            <a:avLst/>
          </a:prstGeom>
          <a:solidFill>
            <a:srgbClr val="5F5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4111960" y="4770782"/>
            <a:ext cx="1628124" cy="424069"/>
          </a:xfrm>
          <a:prstGeom prst="rect">
            <a:avLst/>
          </a:prstGeom>
          <a:solidFill>
            <a:srgbClr val="FFFFFF"/>
          </a:solidFill>
          <a:ln w="25400">
            <a:solidFill>
              <a:srgbClr val="3D6F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4278559" y="4823791"/>
            <a:ext cx="1060173" cy="32562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739" b="0" i="0">
                <a:solidFill>
                  <a:srgbClr val="111111"/>
                </a:solidFill>
                <a:latin typeface="TeX Gyre Heros"/>
              </a:rPr>
              <a:t>Response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5232715" y="4808645"/>
            <a:ext cx="454360" cy="31805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500" b="0" i="1">
                <a:solidFill>
                  <a:srgbClr val="111111"/>
                </a:solidFill>
                <a:latin typeface="DejaVu Serif"/>
              </a:rPr>
              <a:t>y²gt</a:t>
            </a:r>
          </a:p>
        </p:txBody>
      </p:sp>
      <p:cxnSp>
        <p:nvCxnSpPr>
          <p:cNvPr id="136" name="Connector 135"/>
          <p:cNvCxnSpPr/>
          <p:nvPr/>
        </p:nvCxnSpPr>
        <p:spPr>
          <a:xfrm>
            <a:off x="5740084" y="4982817"/>
            <a:ext cx="416497" cy="0"/>
          </a:xfrm>
          <a:prstGeom prst="line">
            <a:avLst/>
          </a:prstGeom>
          <a:ln w="25400">
            <a:solidFill>
              <a:srgbClr val="5F5F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7" name="Isosceles Triangle 136"/>
          <p:cNvSpPr/>
          <p:nvPr/>
        </p:nvSpPr>
        <p:spPr>
          <a:xfrm rot="5400000">
            <a:off x="6107359" y="4933595"/>
            <a:ext cx="98444" cy="98444"/>
          </a:xfrm>
          <a:prstGeom prst="triangle">
            <a:avLst/>
          </a:prstGeom>
          <a:solidFill>
            <a:srgbClr val="5F5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4111960" y="5535622"/>
            <a:ext cx="1628124" cy="424069"/>
          </a:xfrm>
          <a:prstGeom prst="rect">
            <a:avLst/>
          </a:prstGeom>
          <a:solidFill>
            <a:srgbClr val="FFFFFF"/>
          </a:solidFill>
          <a:ln w="25400">
            <a:solidFill>
              <a:srgbClr val="3D6F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4278559" y="5588631"/>
            <a:ext cx="1060173" cy="32562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739" b="0" i="0">
                <a:solidFill>
                  <a:srgbClr val="111111"/>
                </a:solidFill>
                <a:latin typeface="TeX Gyre Heros"/>
              </a:rPr>
              <a:t>Response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232715" y="5573485"/>
            <a:ext cx="454360" cy="31805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500" b="0" i="1">
                <a:solidFill>
                  <a:srgbClr val="111111"/>
                </a:solidFill>
                <a:latin typeface="DejaVu Serif"/>
              </a:rPr>
              <a:t>yᴳgt</a:t>
            </a:r>
          </a:p>
        </p:txBody>
      </p:sp>
      <p:cxnSp>
        <p:nvCxnSpPr>
          <p:cNvPr id="141" name="Connector 140"/>
          <p:cNvCxnSpPr/>
          <p:nvPr/>
        </p:nvCxnSpPr>
        <p:spPr>
          <a:xfrm>
            <a:off x="5740084" y="5747657"/>
            <a:ext cx="416497" cy="0"/>
          </a:xfrm>
          <a:prstGeom prst="line">
            <a:avLst/>
          </a:prstGeom>
          <a:ln w="25400">
            <a:solidFill>
              <a:srgbClr val="5F5F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2" name="Isosceles Triangle 141"/>
          <p:cNvSpPr/>
          <p:nvPr/>
        </p:nvSpPr>
        <p:spPr>
          <a:xfrm rot="5400000">
            <a:off x="6107359" y="5698434"/>
            <a:ext cx="98444" cy="98444"/>
          </a:xfrm>
          <a:prstGeom prst="triangle">
            <a:avLst/>
          </a:prstGeom>
          <a:solidFill>
            <a:srgbClr val="5F5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4808645" y="5194852"/>
            <a:ext cx="605813" cy="31805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2280" b="1" i="0">
                <a:solidFill>
                  <a:srgbClr val="111111"/>
                </a:solidFill>
                <a:latin typeface="TeX Gyre Heros"/>
              </a:rPr>
              <a:t>⋯</a:t>
            </a:r>
          </a:p>
        </p:txBody>
      </p:sp>
      <p:sp>
        <p:nvSpPr>
          <p:cNvPr id="144" name="Rounded Rectangle 143"/>
          <p:cNvSpPr/>
          <p:nvPr/>
        </p:nvSpPr>
        <p:spPr>
          <a:xfrm>
            <a:off x="6164154" y="4180114"/>
            <a:ext cx="1272208" cy="1840159"/>
          </a:xfrm>
          <a:prstGeom prst="roundRect">
            <a:avLst/>
          </a:prstGeom>
          <a:solidFill>
            <a:srgbClr val="DFF3D8"/>
          </a:solidFill>
          <a:ln w="31750">
            <a:solidFill>
              <a:srgbClr val="75D98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6255026" y="3831771"/>
            <a:ext cx="1098037" cy="38620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2280" b="0" i="1">
                <a:solidFill>
                  <a:srgbClr val="111111"/>
                </a:solidFill>
                <a:latin typeface="DejaVu Serif"/>
              </a:rPr>
              <a:t>ℛgroup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6217162" y="4331567"/>
            <a:ext cx="1173763" cy="33319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859" b="0" i="1">
                <a:solidFill>
                  <a:srgbClr val="111111"/>
                </a:solidFill>
                <a:latin typeface="DejaVu Serif"/>
              </a:rPr>
              <a:t>ℛ(x, y¹gt)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6217162" y="4838936"/>
            <a:ext cx="1173763" cy="33319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859" b="0" i="1">
                <a:solidFill>
                  <a:srgbClr val="111111"/>
                </a:solidFill>
                <a:latin typeface="DejaVu Serif"/>
              </a:rPr>
              <a:t>ℛ(x, y²gt)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6217162" y="5618921"/>
            <a:ext cx="1173763" cy="33319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859" b="0" i="1">
                <a:solidFill>
                  <a:srgbClr val="111111"/>
                </a:solidFill>
                <a:latin typeface="DejaVu Serif"/>
              </a:rPr>
              <a:t>ℛ(x, yᴳgt)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6436770" y="5209997"/>
            <a:ext cx="719403" cy="31805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2280" b="1" i="0">
                <a:solidFill>
                  <a:srgbClr val="111111"/>
                </a:solidFill>
                <a:latin typeface="TeX Gyre Heros"/>
              </a:rPr>
              <a:t>⋯</a:t>
            </a:r>
          </a:p>
        </p:txBody>
      </p:sp>
      <p:sp>
        <p:nvSpPr>
          <p:cNvPr id="150" name="Oval 149"/>
          <p:cNvSpPr/>
          <p:nvPr/>
        </p:nvSpPr>
        <p:spPr>
          <a:xfrm>
            <a:off x="7360636" y="4876800"/>
            <a:ext cx="166598" cy="189316"/>
          </a:xfrm>
          <a:prstGeom prst="ellipse">
            <a:avLst/>
          </a:prstGeom>
          <a:noFill/>
          <a:ln w="25400">
            <a:solidFill>
              <a:srgbClr val="D18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Oval 150"/>
          <p:cNvSpPr/>
          <p:nvPr/>
        </p:nvSpPr>
        <p:spPr>
          <a:xfrm>
            <a:off x="7587816" y="4876800"/>
            <a:ext cx="166598" cy="189316"/>
          </a:xfrm>
          <a:prstGeom prst="ellipse">
            <a:avLst/>
          </a:prstGeom>
          <a:noFill/>
          <a:ln w="25400">
            <a:solidFill>
              <a:srgbClr val="D18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rapezoid 151"/>
          <p:cNvSpPr/>
          <p:nvPr/>
        </p:nvSpPr>
        <p:spPr>
          <a:xfrm rot="10800000">
            <a:off x="7428790" y="4823791"/>
            <a:ext cx="257470" cy="204462"/>
          </a:xfrm>
          <a:prstGeom prst="trapezoid">
            <a:avLst/>
          </a:prstGeom>
          <a:solidFill>
            <a:srgbClr val="F5B51B"/>
          </a:solidFill>
          <a:ln w="19050">
            <a:solidFill>
              <a:srgbClr val="D18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7534807" y="5005535"/>
            <a:ext cx="53008" cy="121162"/>
          </a:xfrm>
          <a:prstGeom prst="rect">
            <a:avLst/>
          </a:prstGeom>
          <a:solidFill>
            <a:srgbClr val="F5B51B"/>
          </a:solidFill>
          <a:ln w="12700">
            <a:solidFill>
              <a:srgbClr val="D18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7474226" y="5111552"/>
            <a:ext cx="174171" cy="45436"/>
          </a:xfrm>
          <a:prstGeom prst="rect">
            <a:avLst/>
          </a:prstGeom>
          <a:solidFill>
            <a:srgbClr val="F5B51B"/>
          </a:solidFill>
          <a:ln w="12700">
            <a:solidFill>
              <a:srgbClr val="D18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189316" y="6149008"/>
            <a:ext cx="469505" cy="36348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920" b="0" i="1">
                <a:solidFill>
                  <a:srgbClr val="111111"/>
                </a:solidFill>
                <a:latin typeface="DejaVu Serif"/>
              </a:rPr>
              <a:t>y²gt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696685" y="6111145"/>
            <a:ext cx="4240695" cy="28776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439" b="0" i="0">
                <a:solidFill>
                  <a:srgbClr val="111111"/>
                </a:solidFill>
                <a:latin typeface="TeX Gyre Heros"/>
              </a:rPr>
              <a:t>&lt;think&gt; The video shows a person preparing ... .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5005535" y="6111145"/>
            <a:ext cx="2650434" cy="28776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439" b="0" i="0">
                <a:solidFill>
                  <a:srgbClr val="00B34B"/>
                </a:solidFill>
                <a:latin typeface="TeX Gyre Heros"/>
              </a:rPr>
              <a:t>To make a slice of celery, you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696685" y="6345898"/>
            <a:ext cx="2536844" cy="28776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439" b="0" i="0">
                <a:solidFill>
                  <a:srgbClr val="00B34B"/>
                </a:solidFill>
                <a:latin typeface="TeX Gyre Heros"/>
              </a:rPr>
              <a:t>should bring it from the bag.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3271393" y="6345898"/>
            <a:ext cx="4392149" cy="28776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320" b="1" i="0">
                <a:solidFill>
                  <a:srgbClr val="111111"/>
                </a:solidFill>
                <a:latin typeface="TeX Gyre Heros"/>
              </a:rPr>
              <a:t>&lt;/think&gt;&lt;answer&gt;B. pick up celery&lt;/answer&gt;</a:t>
            </a:r>
          </a:p>
        </p:txBody>
      </p:sp>
      <p:cxnSp>
        <p:nvCxnSpPr>
          <p:cNvPr id="160" name="Connector 159"/>
          <p:cNvCxnSpPr/>
          <p:nvPr/>
        </p:nvCxnSpPr>
        <p:spPr>
          <a:xfrm>
            <a:off x="1211627" y="6769967"/>
            <a:ext cx="4657192" cy="0"/>
          </a:xfrm>
          <a:prstGeom prst="line">
            <a:avLst/>
          </a:prstGeom>
          <a:ln w="88900">
            <a:solidFill>
              <a:srgbClr val="00B3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1" name="TextBox 160"/>
          <p:cNvSpPr txBox="1"/>
          <p:nvPr/>
        </p:nvSpPr>
        <p:spPr>
          <a:xfrm>
            <a:off x="2688298" y="6633659"/>
            <a:ext cx="2271801" cy="26504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680" b="1" i="0">
                <a:solidFill>
                  <a:srgbClr val="111111"/>
                </a:solidFill>
                <a:latin typeface="DejaVu Serif"/>
              </a:rPr>
              <a:t>Guidance Level</a:t>
            </a:r>
          </a:p>
        </p:txBody>
      </p:sp>
      <p:pic>
        <p:nvPicPr>
          <p:cNvPr id="162" name="Picture 161" descr="aug_sour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3048" y="4164968"/>
            <a:ext cx="1991612" cy="893575"/>
          </a:xfrm>
          <a:prstGeom prst="rect">
            <a:avLst/>
          </a:prstGeom>
        </p:spPr>
      </p:pic>
      <p:cxnSp>
        <p:nvCxnSpPr>
          <p:cNvPr id="163" name="Connector 162"/>
          <p:cNvCxnSpPr/>
          <p:nvPr/>
        </p:nvCxnSpPr>
        <p:spPr>
          <a:xfrm>
            <a:off x="10124660" y="4596611"/>
            <a:ext cx="704259" cy="0"/>
          </a:xfrm>
          <a:prstGeom prst="line">
            <a:avLst/>
          </a:prstGeom>
          <a:ln w="25400">
            <a:solidFill>
              <a:srgbClr val="5F5F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 flipV="1">
            <a:off x="10828919" y="4513311"/>
            <a:ext cx="53008" cy="83300"/>
          </a:xfrm>
          <a:prstGeom prst="line">
            <a:avLst/>
          </a:prstGeom>
          <a:ln w="25400">
            <a:solidFill>
              <a:srgbClr val="5F5F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>
            <a:off x="10881927" y="4513311"/>
            <a:ext cx="1029884" cy="0"/>
          </a:xfrm>
          <a:prstGeom prst="line">
            <a:avLst/>
          </a:prstGeom>
          <a:ln w="25400">
            <a:solidFill>
              <a:srgbClr val="5F5F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>
            <a:off x="10881927" y="4513311"/>
            <a:ext cx="1029884" cy="0"/>
          </a:xfrm>
          <a:prstGeom prst="line">
            <a:avLst/>
          </a:prstGeom>
          <a:ln w="25400">
            <a:solidFill>
              <a:srgbClr val="5F5F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7" name="Isosceles Triangle 166"/>
          <p:cNvSpPr/>
          <p:nvPr/>
        </p:nvSpPr>
        <p:spPr>
          <a:xfrm rot="5400000">
            <a:off x="11862588" y="4464089"/>
            <a:ext cx="98444" cy="98444"/>
          </a:xfrm>
          <a:prstGeom prst="triangle">
            <a:avLst/>
          </a:prstGeom>
          <a:solidFill>
            <a:srgbClr val="5F5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8" name="Connector 167"/>
          <p:cNvCxnSpPr/>
          <p:nvPr/>
        </p:nvCxnSpPr>
        <p:spPr>
          <a:xfrm>
            <a:off x="10124660" y="4619329"/>
            <a:ext cx="704259" cy="227180"/>
          </a:xfrm>
          <a:prstGeom prst="line">
            <a:avLst/>
          </a:prstGeom>
          <a:ln w="25400">
            <a:solidFill>
              <a:srgbClr val="5F5F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>
            <a:off x="10828919" y="4846509"/>
            <a:ext cx="53008" cy="469505"/>
          </a:xfrm>
          <a:prstGeom prst="line">
            <a:avLst/>
          </a:prstGeom>
          <a:ln w="25400">
            <a:solidFill>
              <a:srgbClr val="5F5F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>
            <a:off x="10881927" y="5316014"/>
            <a:ext cx="1029884" cy="0"/>
          </a:xfrm>
          <a:prstGeom prst="line">
            <a:avLst/>
          </a:prstGeom>
          <a:ln w="25400">
            <a:solidFill>
              <a:srgbClr val="5F5F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>
            <a:off x="10881927" y="5316014"/>
            <a:ext cx="1029884" cy="0"/>
          </a:xfrm>
          <a:prstGeom prst="line">
            <a:avLst/>
          </a:prstGeom>
          <a:ln w="25400">
            <a:solidFill>
              <a:srgbClr val="5F5F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2" name="Isosceles Triangle 171"/>
          <p:cNvSpPr/>
          <p:nvPr/>
        </p:nvSpPr>
        <p:spPr>
          <a:xfrm rot="5400000">
            <a:off x="11862588" y="5266792"/>
            <a:ext cx="98444" cy="98444"/>
          </a:xfrm>
          <a:prstGeom prst="triangle">
            <a:avLst/>
          </a:prstGeom>
          <a:solidFill>
            <a:srgbClr val="5F5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3" name="Connector 172"/>
          <p:cNvCxnSpPr/>
          <p:nvPr/>
        </p:nvCxnSpPr>
        <p:spPr>
          <a:xfrm>
            <a:off x="10124660" y="4649619"/>
            <a:ext cx="704259" cy="499797"/>
          </a:xfrm>
          <a:prstGeom prst="line">
            <a:avLst/>
          </a:prstGeom>
          <a:ln w="25400">
            <a:solidFill>
              <a:srgbClr val="5F5F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>
            <a:off x="10828919" y="5149416"/>
            <a:ext cx="53008" cy="969302"/>
          </a:xfrm>
          <a:prstGeom prst="line">
            <a:avLst/>
          </a:prstGeom>
          <a:ln w="25400">
            <a:solidFill>
              <a:srgbClr val="5F5F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>
            <a:off x="10881927" y="6118718"/>
            <a:ext cx="1029884" cy="0"/>
          </a:xfrm>
          <a:prstGeom prst="line">
            <a:avLst/>
          </a:prstGeom>
          <a:ln w="25400">
            <a:solidFill>
              <a:srgbClr val="5F5F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>
            <a:off x="10881927" y="6118718"/>
            <a:ext cx="1029884" cy="0"/>
          </a:xfrm>
          <a:prstGeom prst="line">
            <a:avLst/>
          </a:prstGeom>
          <a:ln w="25400">
            <a:solidFill>
              <a:srgbClr val="5F5F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7" name="Isosceles Triangle 176"/>
          <p:cNvSpPr/>
          <p:nvPr/>
        </p:nvSpPr>
        <p:spPr>
          <a:xfrm rot="5400000">
            <a:off x="11862588" y="6069495"/>
            <a:ext cx="98444" cy="98444"/>
          </a:xfrm>
          <a:prstGeom prst="triangle">
            <a:avLst/>
          </a:prstGeom>
          <a:solidFill>
            <a:srgbClr val="5F5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8" name="Picture 177" descr="aug_target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36084" y="4149823"/>
            <a:ext cx="2044621" cy="2408109"/>
          </a:xfrm>
          <a:prstGeom prst="rect">
            <a:avLst/>
          </a:prstGeom>
        </p:spPr>
      </p:pic>
      <p:sp>
        <p:nvSpPr>
          <p:cNvPr id="179" name="TextBox 178"/>
          <p:cNvSpPr txBox="1"/>
          <p:nvPr/>
        </p:nvSpPr>
        <p:spPr>
          <a:xfrm>
            <a:off x="8405664" y="5369023"/>
            <a:ext cx="1226772" cy="36348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2580" b="0" i="0">
                <a:solidFill>
                  <a:srgbClr val="111111"/>
                </a:solidFill>
                <a:latin typeface="DejaVu Serif"/>
              </a:rPr>
              <a:t>Δℛ &lt; 0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8405664" y="5785520"/>
            <a:ext cx="1226772" cy="36348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2580" b="0" i="0">
                <a:solidFill>
                  <a:srgbClr val="111111"/>
                </a:solidFill>
                <a:latin typeface="DejaVu Serif"/>
              </a:rPr>
              <a:t>Δℛ ≈ 0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8405664" y="6202017"/>
            <a:ext cx="1226772" cy="36348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2580" b="0" i="0">
                <a:solidFill>
                  <a:srgbClr val="111111"/>
                </a:solidFill>
                <a:latin typeface="DejaVu Serif"/>
              </a:rPr>
              <a:t>Δℛ &gt; 0</a:t>
            </a:r>
          </a:p>
        </p:txBody>
      </p:sp>
      <p:sp>
        <p:nvSpPr>
          <p:cNvPr id="182" name="Down Arrow 181"/>
          <p:cNvSpPr/>
          <p:nvPr/>
        </p:nvSpPr>
        <p:spPr>
          <a:xfrm>
            <a:off x="10162524" y="5399314"/>
            <a:ext cx="348342" cy="1378226"/>
          </a:xfrm>
          <a:prstGeom prst="downArrow">
            <a:avLst/>
          </a:prstGeom>
          <a:solidFill>
            <a:srgbClr val="FF3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Up Arrow 182"/>
          <p:cNvSpPr/>
          <p:nvPr/>
        </p:nvSpPr>
        <p:spPr>
          <a:xfrm>
            <a:off x="10412422" y="5399314"/>
            <a:ext cx="348342" cy="1378226"/>
          </a:xfrm>
          <a:prstGeom prst="upArrow">
            <a:avLst/>
          </a:prstGeom>
          <a:solidFill>
            <a:srgbClr val="09BD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13971577" y="4286131"/>
            <a:ext cx="136308" cy="2226365"/>
          </a:xfrm>
          <a:prstGeom prst="rect">
            <a:avLst/>
          </a:prstGeom>
          <a:solidFill>
            <a:srgbClr val="FFDCE2"/>
          </a:solidFill>
          <a:ln>
            <a:solidFill>
              <a:srgbClr val="FF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Isosceles Triangle 184"/>
          <p:cNvSpPr/>
          <p:nvPr/>
        </p:nvSpPr>
        <p:spPr>
          <a:xfrm rot="10800000">
            <a:off x="13922355" y="6379975"/>
            <a:ext cx="234752" cy="234752"/>
          </a:xfrm>
          <a:prstGeom prst="triangle">
            <a:avLst/>
          </a:prstGeom>
          <a:solidFill>
            <a:srgbClr val="FF2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TextBox 185"/>
          <p:cNvSpPr txBox="1"/>
          <p:nvPr/>
        </p:nvSpPr>
        <p:spPr>
          <a:xfrm rot="5400000">
            <a:off x="13933714" y="4536029"/>
            <a:ext cx="636104" cy="196889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620" b="1" i="0">
                <a:solidFill>
                  <a:srgbClr val="111111"/>
                </a:solidFill>
                <a:latin typeface="DejaVu Serif"/>
              </a:rPr>
              <a:t>Perturbation Level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__ORIGINAL_REFERENCE_IMAGE__" descr="DeepVideo-R1 Video Reinforcement Fine-Tuning via Difficulty-aware Regressive GRPO_diagr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399" cy="691384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DeepVideo-R1 difficulty-aware regressive GRPO diagram (editable rebuild)</dc:title>
  <dc:subject>Editable vector reconstruction from supplied reference</dc:subject>
  <dc:creator>OpenAI Codex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