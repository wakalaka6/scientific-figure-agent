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78383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5817454" y="390390"/>
            <a:ext cx="0" cy="108797"/>
          </a:xfrm>
          <a:prstGeom prst="line">
            <a:avLst/>
          </a:prstGeom>
          <a:ln w="2794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7769405" y="390390"/>
            <a:ext cx="0" cy="108797"/>
          </a:xfrm>
          <a:prstGeom prst="line">
            <a:avLst/>
          </a:prstGeom>
          <a:ln w="2794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4563085" y="940776"/>
            <a:ext cx="0" cy="179196"/>
          </a:xfrm>
          <a:prstGeom prst="line">
            <a:avLst/>
          </a:prstGeom>
          <a:ln w="2794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563085" y="1459163"/>
            <a:ext cx="0" cy="140797"/>
          </a:xfrm>
          <a:prstGeom prst="line">
            <a:avLst/>
          </a:prstGeom>
          <a:ln w="2794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663958" y="2105547"/>
            <a:ext cx="0" cy="614385"/>
          </a:xfrm>
          <a:prstGeom prst="line">
            <a:avLst/>
          </a:prstGeom>
          <a:ln w="2794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63958" y="2105547"/>
            <a:ext cx="2745531" cy="0"/>
          </a:xfrm>
          <a:prstGeom prst="line">
            <a:avLst/>
          </a:prstGeom>
          <a:ln w="27940">
            <a:solidFill>
              <a:srgbClr val="145E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563085" y="2227144"/>
            <a:ext cx="0" cy="467188"/>
          </a:xfrm>
          <a:prstGeom prst="line">
            <a:avLst/>
          </a:prstGeom>
          <a:ln w="27940">
            <a:solidFill>
              <a:srgbClr val="61B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563085" y="1855953"/>
            <a:ext cx="0" cy="511987"/>
          </a:xfrm>
          <a:prstGeom prst="line">
            <a:avLst/>
          </a:prstGeom>
          <a:ln w="27940">
            <a:solidFill>
              <a:srgbClr val="61B83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391815" y="2105547"/>
            <a:ext cx="0" cy="569586"/>
          </a:xfrm>
          <a:prstGeom prst="line">
            <a:avLst/>
          </a:prstGeom>
          <a:ln w="27940">
            <a:solidFill>
              <a:srgbClr val="F37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723081" y="2105547"/>
            <a:ext cx="2668734" cy="0"/>
          </a:xfrm>
          <a:prstGeom prst="line">
            <a:avLst/>
          </a:prstGeom>
          <a:ln w="27940">
            <a:solidFill>
              <a:srgbClr val="F37B2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495837" y="1734356"/>
            <a:ext cx="2527937" cy="0"/>
          </a:xfrm>
          <a:prstGeom prst="line">
            <a:avLst/>
          </a:prstGeom>
          <a:ln w="27940">
            <a:solidFill>
              <a:srgbClr val="E1B66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23774" y="1734356"/>
            <a:ext cx="0" cy="2099148"/>
          </a:xfrm>
          <a:prstGeom prst="line">
            <a:avLst/>
          </a:prstGeom>
          <a:ln w="27940">
            <a:solidFill>
              <a:srgbClr val="E1B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63958" y="3142321"/>
            <a:ext cx="0" cy="172796"/>
          </a:xfrm>
          <a:prstGeom prst="line">
            <a:avLst/>
          </a:prstGeom>
          <a:ln w="27940">
            <a:solidFill>
              <a:srgbClr val="145E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563085" y="3123121"/>
            <a:ext cx="0" cy="191996"/>
          </a:xfrm>
          <a:prstGeom prst="line">
            <a:avLst/>
          </a:prstGeom>
          <a:ln w="27940">
            <a:solidFill>
              <a:srgbClr val="61B83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91815" y="3084722"/>
            <a:ext cx="0" cy="230395"/>
          </a:xfrm>
          <a:prstGeom prst="line">
            <a:avLst/>
          </a:prstGeom>
          <a:ln w="27940">
            <a:solidFill>
              <a:srgbClr val="F37B2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154921" y="3622309"/>
            <a:ext cx="0" cy="844779"/>
          </a:xfrm>
          <a:prstGeom prst="line">
            <a:avLst/>
          </a:prstGeom>
          <a:ln w="27940">
            <a:solidFill>
              <a:srgbClr val="8E5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406339" y="3596710"/>
            <a:ext cx="8748582" cy="25599"/>
          </a:xfrm>
          <a:prstGeom prst="line">
            <a:avLst/>
          </a:prstGeom>
          <a:ln w="27940">
            <a:solidFill>
              <a:srgbClr val="8E5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06339" y="3142321"/>
            <a:ext cx="0" cy="454389"/>
          </a:xfrm>
          <a:prstGeom prst="line">
            <a:avLst/>
          </a:prstGeom>
          <a:ln w="27940">
            <a:solidFill>
              <a:srgbClr val="8E58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30274" y="3129521"/>
            <a:ext cx="0" cy="467189"/>
          </a:xfrm>
          <a:prstGeom prst="line">
            <a:avLst/>
          </a:prstGeom>
          <a:ln w="27940">
            <a:solidFill>
              <a:srgbClr val="8E58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903802" y="3091122"/>
            <a:ext cx="0" cy="518387"/>
          </a:xfrm>
          <a:prstGeom prst="line">
            <a:avLst/>
          </a:prstGeom>
          <a:ln w="27940">
            <a:solidFill>
              <a:srgbClr val="8E58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63958" y="4153496"/>
            <a:ext cx="0" cy="127996"/>
          </a:xfrm>
          <a:prstGeom prst="line">
            <a:avLst/>
          </a:prstGeom>
          <a:ln w="27940">
            <a:solidFill>
              <a:srgbClr val="145E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63958" y="4697482"/>
            <a:ext cx="0" cy="140797"/>
          </a:xfrm>
          <a:prstGeom prst="line">
            <a:avLst/>
          </a:prstGeom>
          <a:ln w="27940">
            <a:solidFill>
              <a:srgbClr val="145E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563085" y="4166295"/>
            <a:ext cx="0" cy="115197"/>
          </a:xfrm>
          <a:prstGeom prst="line">
            <a:avLst/>
          </a:prstGeom>
          <a:ln w="27940">
            <a:solidFill>
              <a:srgbClr val="61B83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563085" y="4697482"/>
            <a:ext cx="0" cy="140797"/>
          </a:xfrm>
          <a:prstGeom prst="line">
            <a:avLst/>
          </a:prstGeom>
          <a:ln w="27940">
            <a:solidFill>
              <a:srgbClr val="61B83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391815" y="4166295"/>
            <a:ext cx="0" cy="115197"/>
          </a:xfrm>
          <a:prstGeom prst="line">
            <a:avLst/>
          </a:prstGeom>
          <a:ln w="27940">
            <a:solidFill>
              <a:srgbClr val="F37B2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391815" y="4697482"/>
            <a:ext cx="0" cy="140797"/>
          </a:xfrm>
          <a:prstGeom prst="line">
            <a:avLst/>
          </a:prstGeom>
          <a:ln w="27940">
            <a:solidFill>
              <a:srgbClr val="F37B2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154921" y="4761480"/>
            <a:ext cx="0" cy="268794"/>
          </a:xfrm>
          <a:prstGeom prst="line">
            <a:avLst/>
          </a:prstGeom>
          <a:ln w="2794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154921" y="5446263"/>
            <a:ext cx="0" cy="268794"/>
          </a:xfrm>
          <a:prstGeom prst="line">
            <a:avLst/>
          </a:prstGeom>
          <a:ln w="2794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71070" y="127996"/>
            <a:ext cx="1286367" cy="255993"/>
          </a:xfrm>
          <a:prstGeom prst="roundRect">
            <a:avLst/>
          </a:prstGeom>
          <a:solidFill>
            <a:srgbClr val="F4D8E9"/>
          </a:solidFill>
          <a:ln w="27940">
            <a:solidFill>
              <a:srgbClr val="7723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98714" y="138107"/>
            <a:ext cx="141018" cy="181839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267487" y="138107"/>
            <a:ext cx="141018" cy="181839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56666" y="127996"/>
            <a:ext cx="927976" cy="2559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772375"/>
                </a:solidFill>
                <a:latin typeface="Noto Sans"/>
              </a:rPr>
              <a:t>Time Head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55021" y="127996"/>
            <a:ext cx="1215969" cy="255993"/>
          </a:xfrm>
          <a:prstGeom prst="roundRect">
            <a:avLst/>
          </a:prstGeom>
          <a:solidFill>
            <a:srgbClr val="F4D8E9"/>
          </a:solidFill>
          <a:ln w="27940">
            <a:solidFill>
              <a:srgbClr val="7723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7182664" y="138107"/>
            <a:ext cx="141018" cy="181839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8187439" y="138107"/>
            <a:ext cx="141018" cy="181839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21416" y="127996"/>
            <a:ext cx="863978" cy="2559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772375"/>
                </a:solidFill>
                <a:latin typeface="Noto Sans"/>
              </a:rPr>
              <a:t>LM 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8637" y="51198"/>
            <a:ext cx="582385" cy="1791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772375"/>
                </a:solidFill>
                <a:latin typeface="Noto Sans"/>
              </a:rPr>
              <a:t>&lt;sync&gt;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63838" y="249593"/>
            <a:ext cx="678383" cy="0"/>
          </a:xfrm>
          <a:prstGeom prst="line">
            <a:avLst/>
          </a:prstGeom>
          <a:ln w="20320">
            <a:solidFill>
              <a:srgbClr val="772375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7980" y="499187"/>
            <a:ext cx="7583810" cy="441588"/>
          </a:xfrm>
          <a:prstGeom prst="roundRect">
            <a:avLst/>
          </a:prstGeom>
          <a:solidFill>
            <a:srgbClr val="F9E2D2"/>
          </a:solidFill>
          <a:ln w="29209">
            <a:solidFill>
              <a:srgbClr val="8B3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822248" y="538353"/>
            <a:ext cx="272346" cy="351183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39944" y="499187"/>
            <a:ext cx="4639884" cy="4415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2" b="0" i="0">
                <a:solidFill>
                  <a:srgbClr val="8B360F"/>
                </a:solidFill>
                <a:latin typeface="Noto Sans"/>
              </a:rPr>
              <a:t>Large Language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797" y="1030374"/>
            <a:ext cx="9471763" cy="2643133"/>
          </a:xfrm>
          <a:prstGeom prst="rect">
            <a:avLst/>
          </a:prstGeom>
          <a:noFill/>
          <a:ln w="27940">
            <a:solidFill>
              <a:srgbClr val="145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154249" y="1028581"/>
            <a:ext cx="175066" cy="225743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40616" y="1030374"/>
            <a:ext cx="2163145" cy="2559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45E8A"/>
                </a:solidFill>
                <a:latin typeface="Noto Sans"/>
              </a:rPr>
              <a:t>Query-Based Connector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82957" y="1030374"/>
            <a:ext cx="2393540" cy="1286367"/>
          </a:xfrm>
          <a:prstGeom prst="rect">
            <a:avLst/>
          </a:prstGeom>
          <a:solidFill>
            <a:srgbClr val="FFFFFF"/>
          </a:solidFill>
          <a:ln w="27940">
            <a:solidFill>
              <a:srgbClr val="0D31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759756" y="1081572"/>
            <a:ext cx="243193" cy="243193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9785355" y="1203169"/>
            <a:ext cx="191995" cy="0"/>
          </a:xfrm>
          <a:prstGeom prst="line">
            <a:avLst/>
          </a:prstGeom>
          <a:ln w="203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881352" y="1107172"/>
            <a:ext cx="0" cy="191995"/>
          </a:xfrm>
          <a:prstGeom prst="line">
            <a:avLst/>
          </a:prstGeom>
          <a:ln w="203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047748" y="1062373"/>
            <a:ext cx="1919952" cy="2879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000000"/>
                </a:solidFill>
                <a:latin typeface="Noto Sans"/>
              </a:rPr>
              <a:t>Point-wise Addition</a:t>
            </a:r>
          </a:p>
        </p:txBody>
      </p:sp>
      <p:sp>
        <p:nvSpPr>
          <p:cNvPr id="51" name="Freeform 50"/>
          <p:cNvSpPr/>
          <p:nvPr/>
        </p:nvSpPr>
        <p:spPr>
          <a:xfrm>
            <a:off x="9806599" y="1386076"/>
            <a:ext cx="141018" cy="181839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47748" y="1350366"/>
            <a:ext cx="1919952" cy="3135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000000"/>
                </a:solidFill>
                <a:latin typeface="Noto Sans"/>
              </a:rPr>
              <a:t>Stage2 Trainable Modules</a:t>
            </a:r>
          </a:p>
        </p:txBody>
      </p:sp>
      <p:sp>
        <p:nvSpPr>
          <p:cNvPr id="53" name="Freeform 52"/>
          <p:cNvSpPr/>
          <p:nvPr/>
        </p:nvSpPr>
        <p:spPr>
          <a:xfrm>
            <a:off x="9797383" y="1687764"/>
            <a:ext cx="175066" cy="225743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7748" y="1663958"/>
            <a:ext cx="1919952" cy="3135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000000"/>
                </a:solidFill>
                <a:latin typeface="Noto Sans"/>
              </a:rPr>
              <a:t>Stage3 Trainable Modules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798155" y="2163145"/>
            <a:ext cx="179195" cy="0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842953" y="2085551"/>
            <a:ext cx="89598" cy="155188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9842953" y="2085551"/>
            <a:ext cx="89598" cy="155188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47748" y="1977550"/>
            <a:ext cx="1919952" cy="3135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000000"/>
                </a:solidFill>
                <a:latin typeface="Noto Sans"/>
              </a:rPr>
              <a:t>Frozen Components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83117" y="1119972"/>
            <a:ext cx="2681532" cy="332791"/>
          </a:xfrm>
          <a:prstGeom prst="roundRect">
            <a:avLst/>
          </a:prstGeom>
          <a:solidFill>
            <a:srgbClr val="F9E2D2"/>
          </a:solidFill>
          <a:ln w="27940">
            <a:solidFill>
              <a:srgbClr val="8B3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83117" y="1119972"/>
            <a:ext cx="2681532" cy="3327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8B360F"/>
                </a:solidFill>
                <a:latin typeface="Noto Sans"/>
              </a:rPr>
              <a:t>Compress &amp; Two-layer MLP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42361" y="1593560"/>
            <a:ext cx="927976" cy="2751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45E8A"/>
                </a:solidFill>
                <a:latin typeface="Noto Sans"/>
              </a:rPr>
              <a:t>Multimodal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95937" y="1593560"/>
            <a:ext cx="415989" cy="2751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8B360F"/>
                </a:solidFill>
                <a:latin typeface="Noto Sans"/>
              </a:rPr>
              <a:t>tokens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931126" y="1593560"/>
            <a:ext cx="3635109" cy="281592"/>
          </a:xfrm>
          <a:prstGeom prst="roundRect">
            <a:avLst/>
          </a:prstGeom>
          <a:solidFill>
            <a:srgbClr val="EFF2F5"/>
          </a:solidFill>
          <a:ln>
            <a:solidFill>
              <a:srgbClr val="EFF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07924" y="1593560"/>
            <a:ext cx="1023974" cy="2815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145E8A"/>
                </a:solidFill>
                <a:latin typeface="Noto Sans"/>
              </a:rPr>
              <a:t>Concat( Wv *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44698" y="1644758"/>
            <a:ext cx="204794" cy="204794"/>
          </a:xfrm>
          <a:prstGeom prst="roundRect">
            <a:avLst/>
          </a:prstGeom>
          <a:solidFill>
            <a:srgbClr val="9EC6EB"/>
          </a:solidFill>
          <a:ln>
            <a:solidFill>
              <a:srgbClr val="9EC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281492" y="1644758"/>
            <a:ext cx="204794" cy="204794"/>
          </a:xfrm>
          <a:prstGeom prst="roundRect">
            <a:avLst/>
          </a:prstGeom>
          <a:solidFill>
            <a:srgbClr val="9EC6EB"/>
          </a:solidFill>
          <a:ln>
            <a:solidFill>
              <a:srgbClr val="9EC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18287" y="1593560"/>
            <a:ext cx="435189" cy="2815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275F1F"/>
                </a:solidFill>
                <a:latin typeface="Noto Sans"/>
              </a:rPr>
              <a:t>Wa *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21476" y="1644758"/>
            <a:ext cx="204794" cy="204794"/>
          </a:xfrm>
          <a:prstGeom prst="roundRect">
            <a:avLst/>
          </a:prstGeom>
          <a:solidFill>
            <a:srgbClr val="7CCB35"/>
          </a:solidFill>
          <a:ln>
            <a:solidFill>
              <a:srgbClr val="7CC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158271" y="1644758"/>
            <a:ext cx="204794" cy="204794"/>
          </a:xfrm>
          <a:prstGeom prst="roundRect">
            <a:avLst/>
          </a:prstGeom>
          <a:solidFill>
            <a:srgbClr val="7CCB35"/>
          </a:solidFill>
          <a:ln>
            <a:solidFill>
              <a:srgbClr val="7CC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95065" y="1593560"/>
            <a:ext cx="351991" cy="2815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8B360F"/>
                </a:solidFill>
                <a:latin typeface="Noto Sans"/>
              </a:rPr>
              <a:t>Ws *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40656" y="1644758"/>
            <a:ext cx="204794" cy="204794"/>
          </a:xfrm>
          <a:prstGeom prst="roundRect">
            <a:avLst/>
          </a:prstGeom>
          <a:solidFill>
            <a:srgbClr val="F7B28C"/>
          </a:solidFill>
          <a:ln>
            <a:solidFill>
              <a:srgbClr val="F7B2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977450" y="1644758"/>
            <a:ext cx="204794" cy="204794"/>
          </a:xfrm>
          <a:prstGeom prst="roundRect">
            <a:avLst/>
          </a:prstGeom>
          <a:solidFill>
            <a:srgbClr val="F7B28C"/>
          </a:solidFill>
          <a:ln>
            <a:solidFill>
              <a:srgbClr val="F7B2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07844" y="1593560"/>
            <a:ext cx="115197" cy="2815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145E8A"/>
                </a:solidFill>
                <a:latin typeface="Noto Sans"/>
              </a:rPr>
              <a:t>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84642" y="1625559"/>
            <a:ext cx="198395" cy="217594"/>
          </a:xfrm>
          <a:prstGeom prst="roundRect">
            <a:avLst/>
          </a:prstGeom>
          <a:solidFill>
            <a:srgbClr val="E1B66F"/>
          </a:solidFill>
          <a:ln>
            <a:solidFill>
              <a:srgbClr val="E1B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156746" y="1996750"/>
            <a:ext cx="703982" cy="217594"/>
          </a:xfrm>
          <a:prstGeom prst="ellipse">
            <a:avLst/>
          </a:prstGeom>
          <a:solidFill>
            <a:srgbClr val="DDEBF8"/>
          </a:solidFill>
          <a:ln w="26670">
            <a:solidFill>
              <a:srgbClr val="123F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56746" y="1977550"/>
            <a:ext cx="703982" cy="2559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123F64"/>
                </a:solidFill>
                <a:latin typeface="Noto Sans"/>
              </a:rPr>
              <a:t>Wv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88725" y="2169545"/>
            <a:ext cx="671983" cy="2047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1">
                <a:solidFill>
                  <a:srgbClr val="123F64"/>
                </a:solidFill>
                <a:latin typeface="Noto Sans"/>
              </a:rPr>
              <a:t>fᵢᵛ,q</a:t>
            </a:r>
          </a:p>
        </p:txBody>
      </p:sp>
      <p:sp>
        <p:nvSpPr>
          <p:cNvPr id="78" name="Oval 77"/>
          <p:cNvSpPr/>
          <p:nvPr/>
        </p:nvSpPr>
        <p:spPr>
          <a:xfrm>
            <a:off x="4211094" y="2374340"/>
            <a:ext cx="703982" cy="217594"/>
          </a:xfrm>
          <a:prstGeom prst="ellipse">
            <a:avLst/>
          </a:prstGeom>
          <a:solidFill>
            <a:srgbClr val="DDF2D1"/>
          </a:solidFill>
          <a:ln w="26670">
            <a:solidFill>
              <a:srgbClr val="275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11094" y="2355141"/>
            <a:ext cx="703982" cy="2559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275F1F"/>
                </a:solidFill>
                <a:latin typeface="Noto Sans"/>
              </a:rPr>
              <a:t>Wa</a:t>
            </a:r>
          </a:p>
        </p:txBody>
      </p:sp>
      <p:sp>
        <p:nvSpPr>
          <p:cNvPr id="80" name="Oval 79"/>
          <p:cNvSpPr/>
          <p:nvPr/>
        </p:nvSpPr>
        <p:spPr>
          <a:xfrm>
            <a:off x="4422289" y="1964750"/>
            <a:ext cx="281592" cy="28159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4441488" y="2105547"/>
            <a:ext cx="243194" cy="0"/>
          </a:xfrm>
          <a:prstGeom prst="line">
            <a:avLst/>
          </a:prstGeom>
          <a:ln w="2286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563085" y="1983950"/>
            <a:ext cx="0" cy="243194"/>
          </a:xfrm>
          <a:prstGeom prst="line">
            <a:avLst/>
          </a:prstGeom>
          <a:ln w="2286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729481" y="2188745"/>
            <a:ext cx="639984" cy="2175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1">
                <a:solidFill>
                  <a:srgbClr val="275F1F"/>
                </a:solidFill>
                <a:latin typeface="Noto Sans"/>
              </a:rPr>
              <a:t>fᵢᵃ,q</a:t>
            </a:r>
          </a:p>
        </p:txBody>
      </p:sp>
      <p:sp>
        <p:nvSpPr>
          <p:cNvPr id="84" name="Oval 83"/>
          <p:cNvSpPr/>
          <p:nvPr/>
        </p:nvSpPr>
        <p:spPr>
          <a:xfrm>
            <a:off x="6399840" y="1996750"/>
            <a:ext cx="639984" cy="217594"/>
          </a:xfrm>
          <a:prstGeom prst="ellipse">
            <a:avLst/>
          </a:prstGeom>
          <a:solidFill>
            <a:srgbClr val="F7CCB4"/>
          </a:solidFill>
          <a:ln w="26670">
            <a:solidFill>
              <a:srgbClr val="8B3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99840" y="1977550"/>
            <a:ext cx="639984" cy="2559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8B360F"/>
                </a:solidFill>
                <a:latin typeface="Noto Sans"/>
              </a:rPr>
              <a:t>Ws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18247" y="2169545"/>
            <a:ext cx="575985" cy="2047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1">
                <a:solidFill>
                  <a:srgbClr val="8B360F"/>
                </a:solidFill>
                <a:latin typeface="Noto Sans"/>
              </a:rPr>
              <a:t>fₗˢ,q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67980" y="2726331"/>
            <a:ext cx="1785555" cy="403189"/>
          </a:xfrm>
          <a:prstGeom prst="roundRect">
            <a:avLst/>
          </a:prstGeom>
          <a:solidFill>
            <a:srgbClr val="DDEBF8"/>
          </a:solidFill>
          <a:ln w="29209">
            <a:solidFill>
              <a:srgbClr val="123F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7980" y="2726331"/>
            <a:ext cx="1785555" cy="4031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123F64"/>
                </a:solidFill>
                <a:latin typeface="Noto Sans"/>
              </a:rPr>
              <a:t>Cross Attention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679908" y="2694332"/>
            <a:ext cx="1779155" cy="409589"/>
          </a:xfrm>
          <a:prstGeom prst="roundRect">
            <a:avLst/>
          </a:prstGeom>
          <a:solidFill>
            <a:srgbClr val="DDF2D1"/>
          </a:solidFill>
          <a:ln w="29209">
            <a:solidFill>
              <a:srgbClr val="275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79908" y="2694332"/>
            <a:ext cx="1779155" cy="4095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75F1F"/>
                </a:solidFill>
                <a:latin typeface="Noto Sans"/>
              </a:rPr>
              <a:t>Cross Attention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495837" y="2675133"/>
            <a:ext cx="1785555" cy="396790"/>
          </a:xfrm>
          <a:prstGeom prst="roundRect">
            <a:avLst/>
          </a:prstGeom>
          <a:solidFill>
            <a:srgbClr val="F7CCB4"/>
          </a:solidFill>
          <a:ln w="29209">
            <a:solidFill>
              <a:srgbClr val="8B3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95837" y="2675133"/>
            <a:ext cx="1785555" cy="3967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8B360F"/>
                </a:solidFill>
                <a:latin typeface="Noto Sans"/>
              </a:rPr>
              <a:t>Cross Attention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5595" y="3219119"/>
            <a:ext cx="1062373" cy="3071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45E8A"/>
                </a:solidFill>
                <a:latin typeface="Noto Sans"/>
              </a:rPr>
              <a:t>Vision Tokens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209569" y="3263918"/>
            <a:ext cx="895977" cy="307192"/>
          </a:xfrm>
          <a:prstGeom prst="roundRect">
            <a:avLst/>
          </a:prstGeom>
          <a:solidFill>
            <a:srgbClr val="EFF2F5"/>
          </a:solidFill>
          <a:ln>
            <a:solidFill>
              <a:srgbClr val="EFF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267168" y="3315117"/>
            <a:ext cx="204794" cy="204794"/>
          </a:xfrm>
          <a:prstGeom prst="roundRect">
            <a:avLst/>
          </a:prstGeom>
          <a:solidFill>
            <a:srgbClr val="9EC6EB"/>
          </a:solidFill>
          <a:ln>
            <a:solidFill>
              <a:srgbClr val="9EC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555161" y="3315117"/>
            <a:ext cx="204794" cy="204794"/>
          </a:xfrm>
          <a:prstGeom prst="roundRect">
            <a:avLst/>
          </a:prstGeom>
          <a:solidFill>
            <a:srgbClr val="9EC6EB"/>
          </a:solidFill>
          <a:ln>
            <a:solidFill>
              <a:srgbClr val="9EC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843153" y="3315117"/>
            <a:ext cx="204794" cy="204794"/>
          </a:xfrm>
          <a:prstGeom prst="roundRect">
            <a:avLst/>
          </a:prstGeom>
          <a:solidFill>
            <a:srgbClr val="9EC6EB"/>
          </a:solidFill>
          <a:ln>
            <a:solidFill>
              <a:srgbClr val="9EC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039924" y="3219119"/>
            <a:ext cx="1043173" cy="3071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275F1F"/>
                </a:solidFill>
                <a:latin typeface="Noto Sans"/>
              </a:rPr>
              <a:t>Audio Tokens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038299" y="3263918"/>
            <a:ext cx="895977" cy="307192"/>
          </a:xfrm>
          <a:prstGeom prst="roundRect">
            <a:avLst/>
          </a:prstGeom>
          <a:solidFill>
            <a:srgbClr val="EFF2F5"/>
          </a:solidFill>
          <a:ln>
            <a:solidFill>
              <a:srgbClr val="EFF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095897" y="3315117"/>
            <a:ext cx="204794" cy="204794"/>
          </a:xfrm>
          <a:prstGeom prst="roundRect">
            <a:avLst/>
          </a:prstGeom>
          <a:solidFill>
            <a:srgbClr val="9ED082"/>
          </a:solidFill>
          <a:ln>
            <a:solidFill>
              <a:srgbClr val="9ED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4383890" y="3315117"/>
            <a:ext cx="204794" cy="204794"/>
          </a:xfrm>
          <a:prstGeom prst="roundRect">
            <a:avLst/>
          </a:prstGeom>
          <a:solidFill>
            <a:srgbClr val="9ED082"/>
          </a:solidFill>
          <a:ln>
            <a:solidFill>
              <a:srgbClr val="9ED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671883" y="3315117"/>
            <a:ext cx="204794" cy="204794"/>
          </a:xfrm>
          <a:prstGeom prst="roundRect">
            <a:avLst/>
          </a:prstGeom>
          <a:solidFill>
            <a:srgbClr val="9ED082"/>
          </a:solidFill>
          <a:ln>
            <a:solidFill>
              <a:srgbClr val="9ED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702257" y="3219119"/>
            <a:ext cx="1215969" cy="3071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8B360F"/>
                </a:solidFill>
                <a:latin typeface="Noto Sans"/>
              </a:rPr>
              <a:t>Speech Tokens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873428" y="3263918"/>
            <a:ext cx="895977" cy="307192"/>
          </a:xfrm>
          <a:prstGeom prst="roundRect">
            <a:avLst/>
          </a:prstGeom>
          <a:solidFill>
            <a:srgbClr val="EFF2F5"/>
          </a:solidFill>
          <a:ln>
            <a:solidFill>
              <a:srgbClr val="EFF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931026" y="3315117"/>
            <a:ext cx="204794" cy="204794"/>
          </a:xfrm>
          <a:prstGeom prst="roundRect">
            <a:avLst/>
          </a:prstGeom>
          <a:solidFill>
            <a:srgbClr val="F07B31"/>
          </a:solidFill>
          <a:ln>
            <a:solidFill>
              <a:srgbClr val="F07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219019" y="3315117"/>
            <a:ext cx="204794" cy="204794"/>
          </a:xfrm>
          <a:prstGeom prst="roundRect">
            <a:avLst/>
          </a:prstGeom>
          <a:solidFill>
            <a:srgbClr val="F07B31"/>
          </a:solidFill>
          <a:ln>
            <a:solidFill>
              <a:srgbClr val="F07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507012" y="3315117"/>
            <a:ext cx="204794" cy="204794"/>
          </a:xfrm>
          <a:prstGeom prst="roundRect">
            <a:avLst/>
          </a:prstGeom>
          <a:solidFill>
            <a:srgbClr val="F07B31"/>
          </a:solidFill>
          <a:ln>
            <a:solidFill>
              <a:srgbClr val="F07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847728" y="3379115"/>
            <a:ext cx="499187" cy="2175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1">
                <a:solidFill>
                  <a:srgbClr val="8E58A8"/>
                </a:solidFill>
                <a:latin typeface="Noto Sans"/>
              </a:rPr>
              <a:t>fᵢ,q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7980" y="3737506"/>
            <a:ext cx="1791955" cy="403189"/>
          </a:xfrm>
          <a:prstGeom prst="roundRect">
            <a:avLst/>
          </a:prstGeom>
          <a:solidFill>
            <a:srgbClr val="DDEBF8"/>
          </a:solidFill>
          <a:ln w="29209">
            <a:solidFill>
              <a:srgbClr val="123F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19179" y="3737506"/>
            <a:ext cx="1689557" cy="4031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123F64"/>
                </a:solidFill>
                <a:latin typeface="Noto Sans"/>
              </a:rPr>
              <a:t>Vision Projector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2388416" y="3773024"/>
            <a:ext cx="133722" cy="172431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67980" y="4281492"/>
            <a:ext cx="1791955" cy="403189"/>
          </a:xfrm>
          <a:prstGeom prst="roundRect">
            <a:avLst/>
          </a:prstGeom>
          <a:solidFill>
            <a:srgbClr val="DDEBF8"/>
          </a:solidFill>
          <a:ln w="29209">
            <a:solidFill>
              <a:srgbClr val="123F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19179" y="4281492"/>
            <a:ext cx="1689557" cy="4031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123F64"/>
                </a:solidFill>
                <a:latin typeface="Noto Sans"/>
              </a:rPr>
              <a:t>Vision Encoder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2393540" y="4435089"/>
            <a:ext cx="115197" cy="0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422339" y="4385207"/>
            <a:ext cx="57599" cy="99763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2422339" y="4385207"/>
            <a:ext cx="57599" cy="99763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3679908" y="3750306"/>
            <a:ext cx="1779155" cy="403189"/>
          </a:xfrm>
          <a:prstGeom prst="roundRect">
            <a:avLst/>
          </a:prstGeom>
          <a:solidFill>
            <a:srgbClr val="DDF2D1"/>
          </a:solidFill>
          <a:ln w="29209">
            <a:solidFill>
              <a:srgbClr val="275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731106" y="3750306"/>
            <a:ext cx="1676758" cy="4031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275F1F"/>
                </a:solidFill>
                <a:latin typeface="Noto Sans"/>
              </a:rPr>
              <a:t>Audio Projector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5287544" y="3785824"/>
            <a:ext cx="133722" cy="172431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3679908" y="4281492"/>
            <a:ext cx="1779155" cy="403189"/>
          </a:xfrm>
          <a:prstGeom prst="roundRect">
            <a:avLst/>
          </a:prstGeom>
          <a:solidFill>
            <a:srgbClr val="DDF2D1"/>
          </a:solidFill>
          <a:ln w="29209">
            <a:solidFill>
              <a:srgbClr val="275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731106" y="4281492"/>
            <a:ext cx="1676758" cy="4031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275F1F"/>
                </a:solidFill>
                <a:latin typeface="Noto Sans"/>
              </a:rPr>
              <a:t>Audio Encoder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5292667" y="4435089"/>
            <a:ext cx="115197" cy="0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321466" y="4385207"/>
            <a:ext cx="57599" cy="99763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5321466" y="4385207"/>
            <a:ext cx="57599" cy="99763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6502237" y="3750306"/>
            <a:ext cx="1779155" cy="403189"/>
          </a:xfrm>
          <a:prstGeom prst="roundRect">
            <a:avLst/>
          </a:prstGeom>
          <a:solidFill>
            <a:srgbClr val="F7CCB4"/>
          </a:solidFill>
          <a:ln w="29209">
            <a:solidFill>
              <a:srgbClr val="8B3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553436" y="3750306"/>
            <a:ext cx="1676758" cy="4031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8B360F"/>
                </a:solidFill>
                <a:latin typeface="Noto Sans"/>
              </a:rPr>
              <a:t>Speech Projector</a:t>
            </a:r>
          </a:p>
        </p:txBody>
      </p:sp>
      <p:sp>
        <p:nvSpPr>
          <p:cNvPr id="127" name="Freeform 126"/>
          <p:cNvSpPr/>
          <p:nvPr/>
        </p:nvSpPr>
        <p:spPr>
          <a:xfrm>
            <a:off x="8109873" y="3785824"/>
            <a:ext cx="133722" cy="172431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502237" y="4281492"/>
            <a:ext cx="1779155" cy="403189"/>
          </a:xfrm>
          <a:prstGeom prst="roundRect">
            <a:avLst/>
          </a:prstGeom>
          <a:solidFill>
            <a:srgbClr val="F7CCB4"/>
          </a:solidFill>
          <a:ln w="29209">
            <a:solidFill>
              <a:srgbClr val="8B3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553436" y="4281492"/>
            <a:ext cx="1676758" cy="4031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8B360F"/>
                </a:solidFill>
                <a:latin typeface="Noto Sans"/>
              </a:rPr>
              <a:t>Speech Encoder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8114997" y="4435089"/>
            <a:ext cx="115197" cy="0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143796" y="4385207"/>
            <a:ext cx="57598" cy="99763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8143796" y="4385207"/>
            <a:ext cx="57598" cy="99763"/>
          </a:xfrm>
          <a:prstGeom prst="line">
            <a:avLst/>
          </a:prstGeom>
          <a:ln w="19050">
            <a:solidFill>
              <a:srgbClr val="145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8550186" y="3833504"/>
            <a:ext cx="1036774" cy="447988"/>
          </a:xfrm>
          <a:prstGeom prst="roundRect">
            <a:avLst/>
          </a:prstGeom>
          <a:solidFill>
            <a:srgbClr val="EAC594"/>
          </a:solidFill>
          <a:ln w="29209">
            <a:solidFill>
              <a:srgbClr val="8B3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01384" y="3833504"/>
            <a:ext cx="934376" cy="4479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8B360F"/>
                </a:solidFill>
                <a:latin typeface="Noto Sans"/>
              </a:rPr>
              <a:t>Time</a:t>
            </a:r>
            <a:br/>
            <a:r>
              <a:rPr sz="1360" b="0" i="0">
                <a:solidFill>
                  <a:srgbClr val="8B360F"/>
                </a:solidFill>
                <a:latin typeface="Noto Sans"/>
              </a:rPr>
              <a:t>Encoder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9415440" y="3869022"/>
            <a:ext cx="133722" cy="172431"/>
          </a:xfrm>
          <a:custGeom>
            <a:avLst/>
            <a:gdLst/>
            <a:ahLst/>
            <a:cxnLst/>
            <a:rect l="l" t="t" r="r" b="b"/>
            <a:pathLst>
              <a:path w="38" h="49">
                <a:moveTo>
                  <a:pt x="8" y="43"/>
                </a:moveTo>
                <a:lnTo>
                  <a:pt x="0" y="31"/>
                </a:lnTo>
                <a:lnTo>
                  <a:pt x="3" y="18"/>
                </a:lnTo>
                <a:lnTo>
                  <a:pt x="10" y="5"/>
                </a:lnTo>
                <a:lnTo>
                  <a:pt x="11" y="22"/>
                </a:lnTo>
                <a:lnTo>
                  <a:pt x="20" y="10"/>
                </a:lnTo>
                <a:lnTo>
                  <a:pt x="25" y="0"/>
                </a:lnTo>
                <a:lnTo>
                  <a:pt x="29" y="16"/>
                </a:lnTo>
                <a:lnTo>
                  <a:pt x="38" y="26"/>
                </a:lnTo>
                <a:lnTo>
                  <a:pt x="36" y="38"/>
                </a:lnTo>
                <a:lnTo>
                  <a:pt x="27" y="48"/>
                </a:lnTo>
                <a:lnTo>
                  <a:pt x="28" y="36"/>
                </a:lnTo>
                <a:lnTo>
                  <a:pt x="23" y="27"/>
                </a:lnTo>
                <a:lnTo>
                  <a:pt x="20" y="41"/>
                </a:lnTo>
                <a:lnTo>
                  <a:pt x="15" y="49"/>
                </a:lnTo>
                <a:close/>
              </a:path>
            </a:pathLst>
          </a:custGeom>
          <a:solidFill>
            <a:srgbClr val="D31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0418939" y="5030274"/>
            <a:ext cx="1478363" cy="403189"/>
          </a:xfrm>
          <a:prstGeom prst="roundRect">
            <a:avLst/>
          </a:prstGeom>
          <a:solidFill>
            <a:srgbClr val="EEE0EE"/>
          </a:solidFill>
          <a:ln w="29209">
            <a:solidFill>
              <a:srgbClr val="7723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470138" y="5030274"/>
            <a:ext cx="1375965" cy="4031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772375"/>
                </a:solidFill>
                <a:latin typeface="Noto Sans"/>
              </a:rPr>
              <a:t>Text Tokenizer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04734" y="3827104"/>
            <a:ext cx="460788" cy="223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1">
                <a:solidFill>
                  <a:srgbClr val="123F64"/>
                </a:solidFill>
                <a:latin typeface="Noto Sans"/>
              </a:rPr>
              <a:t>fᵢ′ᵛ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604734" y="4390290"/>
            <a:ext cx="460788" cy="223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1">
                <a:solidFill>
                  <a:srgbClr val="123F64"/>
                </a:solidFill>
                <a:latin typeface="Noto Sans"/>
              </a:rPr>
              <a:t>fᵢᵛ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91062" y="3827104"/>
            <a:ext cx="460788" cy="223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1">
                <a:solidFill>
                  <a:srgbClr val="275F1F"/>
                </a:solidFill>
                <a:latin typeface="Noto Sans"/>
              </a:rPr>
              <a:t>fᵢ′ᵃ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91062" y="4390290"/>
            <a:ext cx="460788" cy="223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1">
                <a:solidFill>
                  <a:srgbClr val="275F1F"/>
                </a:solidFill>
                <a:latin typeface="Noto Sans"/>
              </a:rPr>
              <a:t>fᵢᵃ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332591" y="3827104"/>
            <a:ext cx="460788" cy="223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1">
                <a:solidFill>
                  <a:srgbClr val="8B360F"/>
                </a:solidFill>
                <a:latin typeface="Noto Sans"/>
              </a:rPr>
              <a:t>fᵢ′ˢ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32591" y="4390290"/>
            <a:ext cx="460788" cy="223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1">
                <a:solidFill>
                  <a:srgbClr val="8B360F"/>
                </a:solidFill>
                <a:latin typeface="Noto Sans"/>
              </a:rPr>
              <a:t>fᵢˢ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79195" y="4838279"/>
            <a:ext cx="2803129" cy="563185"/>
          </a:xfrm>
          <a:prstGeom prst="rect">
            <a:avLst/>
          </a:prstGeom>
          <a:solidFill>
            <a:srgbClr val="FFFFFF"/>
          </a:solidFill>
          <a:ln w="27940">
            <a:solidFill>
              <a:srgbClr val="123F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fac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4" y="4902277"/>
            <a:ext cx="819179" cy="435189"/>
          </a:xfrm>
          <a:prstGeom prst="rect">
            <a:avLst/>
          </a:prstGeom>
        </p:spPr>
      </p:pic>
      <p:pic>
        <p:nvPicPr>
          <p:cNvPr id="146" name="Picture 145" descr="street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71" y="4902277"/>
            <a:ext cx="819179" cy="435189"/>
          </a:xfrm>
          <a:prstGeom prst="rect">
            <a:avLst/>
          </a:prstGeom>
        </p:spPr>
      </p:pic>
      <p:pic>
        <p:nvPicPr>
          <p:cNvPr id="147" name="Picture 146" descr="fac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145" y="4902277"/>
            <a:ext cx="819179" cy="435189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964750" y="4972675"/>
            <a:ext cx="223994" cy="3199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00000"/>
                </a:solidFill>
                <a:latin typeface="Noto Sans"/>
              </a:rPr>
              <a:t>…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571110" y="4838279"/>
            <a:ext cx="2035149" cy="563185"/>
          </a:xfrm>
          <a:prstGeom prst="rect">
            <a:avLst/>
          </a:prstGeom>
          <a:solidFill>
            <a:srgbClr val="F4FAF0"/>
          </a:solidFill>
          <a:ln w="29209">
            <a:solidFill>
              <a:srgbClr val="275F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3647908" y="5052289"/>
            <a:ext cx="0" cy="135165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710627" y="4888193"/>
            <a:ext cx="0" cy="463357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73345" y="5022165"/>
            <a:ext cx="0" cy="195413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36064" y="5025091"/>
            <a:ext cx="0" cy="189561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898782" y="5022401"/>
            <a:ext cx="0" cy="194941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3961500" y="4952066"/>
            <a:ext cx="0" cy="335611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024219" y="4921555"/>
            <a:ext cx="0" cy="396633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086937" y="4949054"/>
            <a:ext cx="0" cy="341635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149656" y="4916408"/>
            <a:ext cx="0" cy="406927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212374" y="5025335"/>
            <a:ext cx="0" cy="189073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275093" y="5050023"/>
            <a:ext cx="0" cy="139697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337811" y="5049042"/>
            <a:ext cx="0" cy="141659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400529" y="4904311"/>
            <a:ext cx="0" cy="431121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463248" y="5008977"/>
            <a:ext cx="0" cy="221789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525966" y="4887115"/>
            <a:ext cx="0" cy="465513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4588685" y="4986107"/>
            <a:ext cx="0" cy="267529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4651403" y="5004028"/>
            <a:ext cx="0" cy="231687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4714122" y="5034287"/>
            <a:ext cx="0" cy="171169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4776840" y="4989416"/>
            <a:ext cx="0" cy="260911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4839559" y="4908493"/>
            <a:ext cx="0" cy="422757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4902277" y="4987270"/>
            <a:ext cx="0" cy="265203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4964995" y="4888537"/>
            <a:ext cx="0" cy="462669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5027714" y="5043335"/>
            <a:ext cx="0" cy="153073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5090432" y="5018059"/>
            <a:ext cx="0" cy="203625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5153151" y="5041964"/>
            <a:ext cx="0" cy="155815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5215869" y="4932228"/>
            <a:ext cx="0" cy="375287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5278588" y="4971920"/>
            <a:ext cx="0" cy="295903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5341306" y="4901852"/>
            <a:ext cx="0" cy="436039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5404024" y="4946592"/>
            <a:ext cx="0" cy="346559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466743" y="4995847"/>
            <a:ext cx="0" cy="248049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5529461" y="5046353"/>
            <a:ext cx="0" cy="147037"/>
          </a:xfrm>
          <a:prstGeom prst="line">
            <a:avLst/>
          </a:prstGeom>
          <a:ln w="22860">
            <a:solidFill>
              <a:srgbClr val="275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ectangle 180"/>
          <p:cNvSpPr/>
          <p:nvPr/>
        </p:nvSpPr>
        <p:spPr>
          <a:xfrm>
            <a:off x="6374240" y="4838279"/>
            <a:ext cx="2035149" cy="563185"/>
          </a:xfrm>
          <a:prstGeom prst="rect">
            <a:avLst/>
          </a:prstGeom>
          <a:solidFill>
            <a:srgbClr val="FFF0E7"/>
          </a:solidFill>
          <a:ln w="29209">
            <a:solidFill>
              <a:srgbClr val="8B360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>
            <a:off x="6451038" y="5052289"/>
            <a:ext cx="0" cy="135165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6513757" y="4888193"/>
            <a:ext cx="0" cy="463357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6576475" y="5022165"/>
            <a:ext cx="0" cy="195413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6639194" y="5025091"/>
            <a:ext cx="0" cy="189561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6701912" y="5022401"/>
            <a:ext cx="0" cy="194941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6764630" y="4952066"/>
            <a:ext cx="0" cy="335611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827349" y="4921555"/>
            <a:ext cx="0" cy="396633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6890067" y="4949054"/>
            <a:ext cx="0" cy="341635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6952786" y="4916408"/>
            <a:ext cx="0" cy="406927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015504" y="5025335"/>
            <a:ext cx="0" cy="189073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078223" y="5050023"/>
            <a:ext cx="0" cy="139697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140941" y="5049042"/>
            <a:ext cx="0" cy="141659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203659" y="4904311"/>
            <a:ext cx="0" cy="431121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266378" y="5008977"/>
            <a:ext cx="0" cy="221789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329096" y="4887115"/>
            <a:ext cx="0" cy="465513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391815" y="4986107"/>
            <a:ext cx="0" cy="267529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454533" y="5004028"/>
            <a:ext cx="0" cy="231687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517252" y="5034287"/>
            <a:ext cx="0" cy="171169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579970" y="4989416"/>
            <a:ext cx="0" cy="260911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642688" y="4908493"/>
            <a:ext cx="0" cy="422757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705407" y="4987270"/>
            <a:ext cx="0" cy="265203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768125" y="4888537"/>
            <a:ext cx="0" cy="462669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7830844" y="5043335"/>
            <a:ext cx="0" cy="153073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7893562" y="5018059"/>
            <a:ext cx="0" cy="203625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956281" y="5041964"/>
            <a:ext cx="0" cy="155815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018999" y="4932228"/>
            <a:ext cx="0" cy="375287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081717" y="4971920"/>
            <a:ext cx="0" cy="295903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144436" y="4901852"/>
            <a:ext cx="0" cy="436039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8207154" y="4946592"/>
            <a:ext cx="0" cy="346559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269873" y="4995847"/>
            <a:ext cx="0" cy="248049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8332591" y="5046353"/>
            <a:ext cx="0" cy="147037"/>
          </a:xfrm>
          <a:prstGeom prst="line">
            <a:avLst/>
          </a:prstGeom>
          <a:ln w="22860">
            <a:solidFill>
              <a:srgbClr val="8B360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9817354" y="4383890"/>
            <a:ext cx="927976" cy="2879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772375"/>
                </a:solidFill>
                <a:latin typeface="Noto Sans"/>
              </a:rPr>
              <a:t>Text Tokens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0713332" y="4454288"/>
            <a:ext cx="895977" cy="307192"/>
          </a:xfrm>
          <a:prstGeom prst="roundRect">
            <a:avLst/>
          </a:prstGeom>
          <a:solidFill>
            <a:srgbClr val="EFF2F5"/>
          </a:solidFill>
          <a:ln>
            <a:solidFill>
              <a:srgbClr val="EFF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10770930" y="4505487"/>
            <a:ext cx="204794" cy="204794"/>
          </a:xfrm>
          <a:prstGeom prst="roundRect">
            <a:avLst/>
          </a:prstGeom>
          <a:solidFill>
            <a:srgbClr val="8E58A8"/>
          </a:solidFill>
          <a:ln>
            <a:solidFill>
              <a:srgbClr val="8E5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1058923" y="4505487"/>
            <a:ext cx="204794" cy="204794"/>
          </a:xfrm>
          <a:prstGeom prst="roundRect">
            <a:avLst/>
          </a:prstGeom>
          <a:solidFill>
            <a:srgbClr val="8E58A8"/>
          </a:solidFill>
          <a:ln>
            <a:solidFill>
              <a:srgbClr val="8E5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11346916" y="4505487"/>
            <a:ext cx="204794" cy="204794"/>
          </a:xfrm>
          <a:prstGeom prst="roundRect">
            <a:avLst/>
          </a:prstGeom>
          <a:solidFill>
            <a:srgbClr val="8E58A8"/>
          </a:solidFill>
          <a:ln>
            <a:solidFill>
              <a:srgbClr val="8E5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126171" y="5715057"/>
            <a:ext cx="3065523" cy="1068773"/>
          </a:xfrm>
          <a:prstGeom prst="rect">
            <a:avLst/>
          </a:prstGeom>
          <a:solidFill>
            <a:srgbClr val="FFD000"/>
          </a:solidFill>
          <a:ln w="30480">
            <a:solidFill>
              <a:srgbClr val="A26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234969" y="5747056"/>
            <a:ext cx="2879928" cy="198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>
                <a:solidFill>
                  <a:srgbClr val="000000"/>
                </a:solidFill>
                <a:latin typeface="Noto Sans"/>
              </a:rPr>
              <a:t>Query: </a:t>
            </a:r>
            <a:r>
              <a:rPr sz="1209" b="0">
                <a:solidFill>
                  <a:srgbClr val="000000"/>
                </a:solidFill>
                <a:latin typeface="Noto Sans"/>
              </a:rPr>
              <a:t>Locate the moment where “</a:t>
            </a:r>
            <a:r>
              <a:rPr sz="1209" b="0">
                <a:solidFill>
                  <a:srgbClr val="145E8A"/>
                </a:solidFill>
                <a:latin typeface="Noto Sans"/>
              </a:rPr>
              <a:t>A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234969" y="5939051"/>
            <a:ext cx="2879928" cy="198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>
                <a:solidFill>
                  <a:srgbClr val="145E8A"/>
                </a:solidFill>
                <a:latin typeface="Noto Sans"/>
              </a:rPr>
              <a:t>man wearing a white mask</a:t>
            </a:r>
            <a:r>
              <a:rPr sz="1209" b="0">
                <a:solidFill>
                  <a:srgbClr val="000000"/>
                </a:solidFill>
                <a:latin typeface="Noto Sans"/>
              </a:rPr>
              <a:t> is talking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234969" y="6131046"/>
            <a:ext cx="2879928" cy="198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>
                <a:solidFill>
                  <a:srgbClr val="000000"/>
                </a:solidFill>
                <a:latin typeface="Noto Sans"/>
              </a:rPr>
              <a:t>about </a:t>
            </a:r>
            <a:r>
              <a:rPr sz="1209" b="0">
                <a:solidFill>
                  <a:srgbClr val="E27D13"/>
                </a:solidFill>
                <a:latin typeface="Noto Sans"/>
              </a:rPr>
              <a:t>the sponsor</a:t>
            </a:r>
            <a:r>
              <a:rPr sz="1209" b="0">
                <a:solidFill>
                  <a:srgbClr val="000000"/>
                </a:solidFill>
                <a:latin typeface="Noto Sans"/>
              </a:rPr>
              <a:t> under </a:t>
            </a:r>
            <a:r>
              <a:rPr sz="1209" b="0">
                <a:solidFill>
                  <a:srgbClr val="61B833"/>
                </a:solidFill>
                <a:latin typeface="Noto Sans"/>
              </a:rPr>
              <a:t>noisy street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9234969" y="6323041"/>
            <a:ext cx="2879928" cy="198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>
                <a:solidFill>
                  <a:srgbClr val="61B833"/>
                </a:solidFill>
                <a:latin typeface="Noto Sans"/>
              </a:rPr>
              <a:t>sound</a:t>
            </a:r>
            <a:r>
              <a:rPr sz="1209" b="0">
                <a:solidFill>
                  <a:srgbClr val="000000"/>
                </a:solidFill>
                <a:latin typeface="Noto Sans"/>
              </a:rPr>
              <a:t>, which they have been </a:t>
            </a:r>
            <a:r>
              <a:rPr sz="1209" b="0">
                <a:solidFill>
                  <a:srgbClr val="E27D13"/>
                </a:solidFill>
                <a:latin typeface="Noto Sans"/>
              </a:rPr>
              <a:t>trying for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9234969" y="6515037"/>
            <a:ext cx="2879928" cy="198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>
                <a:solidFill>
                  <a:srgbClr val="E27D13"/>
                </a:solidFill>
                <a:latin typeface="Noto Sans"/>
              </a:rPr>
              <a:t>over a year</a:t>
            </a:r>
            <a:r>
              <a:rPr sz="1209" b="0">
                <a:solidFill>
                  <a:srgbClr val="000000"/>
                </a:solidFill>
                <a:latin typeface="Noto Sans"/>
              </a:rPr>
              <a:t>”, return precise timestamps.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27996" y="5683057"/>
            <a:ext cx="863978" cy="652783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5" name="Picture 224" descr="film_fa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395" y="5759856"/>
            <a:ext cx="787180" cy="499187"/>
          </a:xfrm>
          <a:prstGeom prst="rect">
            <a:avLst/>
          </a:prstGeom>
        </p:spPr>
      </p:pic>
      <p:sp>
        <p:nvSpPr>
          <p:cNvPr id="226" name="Rectangle 225"/>
          <p:cNvSpPr/>
          <p:nvPr/>
        </p:nvSpPr>
        <p:spPr>
          <a:xfrm>
            <a:off x="172795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268793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64790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60788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678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52783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48781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44778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72795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268793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64790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60788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5678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52783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48781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844778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299167" y="5683057"/>
            <a:ext cx="1663958" cy="652783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3" name="Picture 242" descr="film_tal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7566" y="5759856"/>
            <a:ext cx="1587160" cy="499187"/>
          </a:xfrm>
          <a:prstGeom prst="rect">
            <a:avLst/>
          </a:prstGeom>
        </p:spPr>
      </p:pic>
      <p:sp>
        <p:nvSpPr>
          <p:cNvPr id="244" name="Rectangle 243"/>
          <p:cNvSpPr/>
          <p:nvPr/>
        </p:nvSpPr>
        <p:spPr>
          <a:xfrm>
            <a:off x="134396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43996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535961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631959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72795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82395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919952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015949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2111947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220794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2303942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399940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495937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591935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2687932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2783930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2879928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34396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43996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535961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631959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72795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82395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919952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015949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2111947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220794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2303942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2399940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2495937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2591935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2687932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2783930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2879928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3276718" y="5683057"/>
            <a:ext cx="831979" cy="652783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9" name="Picture 278" descr="film_han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5117" y="5759856"/>
            <a:ext cx="755181" cy="499187"/>
          </a:xfrm>
          <a:prstGeom prst="rect">
            <a:avLst/>
          </a:prstGeom>
        </p:spPr>
      </p:pic>
      <p:sp>
        <p:nvSpPr>
          <p:cNvPr id="280" name="Rectangle 279"/>
          <p:cNvSpPr/>
          <p:nvPr/>
        </p:nvSpPr>
        <p:spPr>
          <a:xfrm>
            <a:off x="332151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341751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3513512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3609509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3705507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380150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3897502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3993500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332151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341751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3513512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609509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3705507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80150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897502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993500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4108697" y="5683057"/>
            <a:ext cx="831979" cy="652783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7" name="Picture 296" descr="film_car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7096" y="5759856"/>
            <a:ext cx="755181" cy="499187"/>
          </a:xfrm>
          <a:prstGeom prst="rect">
            <a:avLst/>
          </a:prstGeom>
        </p:spPr>
      </p:pic>
      <p:sp>
        <p:nvSpPr>
          <p:cNvPr id="298" name="Rectangle 297"/>
          <p:cNvSpPr/>
          <p:nvPr/>
        </p:nvSpPr>
        <p:spPr>
          <a:xfrm>
            <a:off x="415349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4249493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4345491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4441488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453748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463348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4729481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4825479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415349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4249493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4345491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4441488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453748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463348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4729481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4825479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196670" y="5683057"/>
            <a:ext cx="1676758" cy="652783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5" name="Picture 314" descr="film_stree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5069" y="5759856"/>
            <a:ext cx="1599960" cy="499187"/>
          </a:xfrm>
          <a:prstGeom prst="rect">
            <a:avLst/>
          </a:prstGeom>
        </p:spPr>
      </p:pic>
      <p:sp>
        <p:nvSpPr>
          <p:cNvPr id="316" name="Rectangle 315"/>
          <p:cNvSpPr/>
          <p:nvPr/>
        </p:nvSpPr>
        <p:spPr>
          <a:xfrm>
            <a:off x="5241468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533746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543346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5529461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5625459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572145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581745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5913452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6009449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6105447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620144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6297442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6393440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6489437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6585435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6681432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6777430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5241468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533746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543346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5529461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5625459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572145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581745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5913452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6009449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6105447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620144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6297442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6393440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6489437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6585435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6681432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6777430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7212619" y="5683057"/>
            <a:ext cx="1670358" cy="652783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1" name="Picture 350" descr="film_walk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1018" y="5759856"/>
            <a:ext cx="1593560" cy="499187"/>
          </a:xfrm>
          <a:prstGeom prst="rect">
            <a:avLst/>
          </a:prstGeom>
        </p:spPr>
      </p:pic>
      <p:sp>
        <p:nvSpPr>
          <p:cNvPr id="352" name="Rectangle 351"/>
          <p:cNvSpPr/>
          <p:nvPr/>
        </p:nvSpPr>
        <p:spPr>
          <a:xfrm>
            <a:off x="7257418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735341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7449413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7545411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7641408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773740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783340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7929401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8025399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8121396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821739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313392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8409389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8505387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8601384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8697382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8793380" y="5695857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7257418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735341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7449413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7545411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7641408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773740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783340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7929401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8025399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8121396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821739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8313392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409389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505387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8601384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8697382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8793380" y="6271843"/>
            <a:ext cx="57598" cy="447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1055973" y="5830254"/>
            <a:ext cx="223994" cy="3519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00000"/>
                </a:solidFill>
                <a:latin typeface="Noto Sans"/>
              </a:rPr>
              <a:t>…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3033524" y="5830254"/>
            <a:ext cx="223994" cy="3519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00000"/>
                </a:solidFill>
                <a:latin typeface="Noto Sans"/>
              </a:rPr>
              <a:t>…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4991875" y="5830254"/>
            <a:ext cx="223994" cy="3519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00000"/>
                </a:solidFill>
                <a:latin typeface="Noto Sans"/>
              </a:rPr>
              <a:t>…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6918227" y="5830254"/>
            <a:ext cx="223994" cy="3519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00000"/>
                </a:solidFill>
                <a:latin typeface="Noto Sans"/>
              </a:rPr>
              <a:t>…</a:t>
            </a:r>
          </a:p>
        </p:txBody>
      </p:sp>
      <p:cxnSp>
        <p:nvCxnSpPr>
          <p:cNvPr id="390" name="Connector 389"/>
          <p:cNvCxnSpPr/>
          <p:nvPr/>
        </p:nvCxnSpPr>
        <p:spPr>
          <a:xfrm>
            <a:off x="63998" y="6470238"/>
            <a:ext cx="8831779" cy="0"/>
          </a:xfrm>
          <a:prstGeom prst="line">
            <a:avLst/>
          </a:prstGeom>
          <a:ln w="381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Oval 390"/>
          <p:cNvSpPr/>
          <p:nvPr/>
        </p:nvSpPr>
        <p:spPr>
          <a:xfrm>
            <a:off x="19199" y="6425439"/>
            <a:ext cx="89597" cy="89597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12799" y="6559836"/>
            <a:ext cx="511987" cy="2111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000000"/>
                </a:solidFill>
                <a:latin typeface="Noto Sans"/>
              </a:rPr>
              <a:t>0s</a:t>
            </a:r>
          </a:p>
        </p:txBody>
      </p:sp>
      <p:sp>
        <p:nvSpPr>
          <p:cNvPr id="393" name="Oval 392"/>
          <p:cNvSpPr/>
          <p:nvPr/>
        </p:nvSpPr>
        <p:spPr>
          <a:xfrm>
            <a:off x="934376" y="6425439"/>
            <a:ext cx="89597" cy="89597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895977" y="6559836"/>
            <a:ext cx="511987" cy="2111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000000"/>
                </a:solidFill>
                <a:latin typeface="Noto Sans"/>
              </a:rPr>
              <a:t>6s</a:t>
            </a:r>
          </a:p>
        </p:txBody>
      </p:sp>
      <p:sp>
        <p:nvSpPr>
          <p:cNvPr id="395" name="Oval 394"/>
          <p:cNvSpPr/>
          <p:nvPr/>
        </p:nvSpPr>
        <p:spPr>
          <a:xfrm>
            <a:off x="1190370" y="6425439"/>
            <a:ext cx="89597" cy="89597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1292767" y="6559836"/>
            <a:ext cx="511987" cy="2111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000000"/>
                </a:solidFill>
                <a:latin typeface="Noto Sans"/>
              </a:rPr>
              <a:t>50s</a:t>
            </a:r>
          </a:p>
        </p:txBody>
      </p:sp>
      <p:sp>
        <p:nvSpPr>
          <p:cNvPr id="397" name="Oval 396"/>
          <p:cNvSpPr/>
          <p:nvPr/>
        </p:nvSpPr>
        <p:spPr>
          <a:xfrm>
            <a:off x="3123121" y="6425439"/>
            <a:ext cx="89597" cy="89597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2828729" y="6559836"/>
            <a:ext cx="511987" cy="2111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000000"/>
                </a:solidFill>
                <a:latin typeface="Noto Sans"/>
              </a:rPr>
              <a:t>60s</a:t>
            </a:r>
          </a:p>
        </p:txBody>
      </p:sp>
      <p:sp>
        <p:nvSpPr>
          <p:cNvPr id="399" name="Oval 398"/>
          <p:cNvSpPr/>
          <p:nvPr/>
        </p:nvSpPr>
        <p:spPr>
          <a:xfrm>
            <a:off x="3193520" y="6425439"/>
            <a:ext cx="89597" cy="89597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3155121" y="6559836"/>
            <a:ext cx="511987" cy="2111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000000"/>
                </a:solidFill>
                <a:latin typeface="Noto Sans"/>
              </a:rPr>
              <a:t>97s</a:t>
            </a:r>
          </a:p>
        </p:txBody>
      </p:sp>
      <p:sp>
        <p:nvSpPr>
          <p:cNvPr id="401" name="Oval 400"/>
          <p:cNvSpPr/>
          <p:nvPr/>
        </p:nvSpPr>
        <p:spPr>
          <a:xfrm>
            <a:off x="4889477" y="6425439"/>
            <a:ext cx="89597" cy="89597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4703882" y="6559836"/>
            <a:ext cx="511987" cy="2111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000000"/>
                </a:solidFill>
                <a:latin typeface="Noto Sans"/>
              </a:rPr>
              <a:t>106s</a:t>
            </a:r>
          </a:p>
        </p:txBody>
      </p:sp>
      <p:sp>
        <p:nvSpPr>
          <p:cNvPr id="403" name="Oval 402"/>
          <p:cNvSpPr/>
          <p:nvPr/>
        </p:nvSpPr>
        <p:spPr>
          <a:xfrm>
            <a:off x="5151871" y="6425439"/>
            <a:ext cx="89597" cy="89597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5017474" y="6559836"/>
            <a:ext cx="511987" cy="2111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000000"/>
                </a:solidFill>
                <a:latin typeface="Noto Sans"/>
              </a:rPr>
              <a:t>256s</a:t>
            </a:r>
          </a:p>
        </p:txBody>
      </p:sp>
      <p:sp>
        <p:nvSpPr>
          <p:cNvPr id="405" name="Oval 404"/>
          <p:cNvSpPr/>
          <p:nvPr/>
        </p:nvSpPr>
        <p:spPr>
          <a:xfrm>
            <a:off x="7161420" y="6425439"/>
            <a:ext cx="89597" cy="89597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6591835" y="6559836"/>
            <a:ext cx="511987" cy="2111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000000"/>
                </a:solidFill>
                <a:latin typeface="Noto Sans"/>
              </a:rPr>
              <a:t>267s</a:t>
            </a:r>
          </a:p>
        </p:txBody>
      </p:sp>
      <p:sp>
        <p:nvSpPr>
          <p:cNvPr id="407" name="Oval 406"/>
          <p:cNvSpPr/>
          <p:nvPr/>
        </p:nvSpPr>
        <p:spPr>
          <a:xfrm>
            <a:off x="8850978" y="6425439"/>
            <a:ext cx="89597" cy="89597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7071823" y="6559836"/>
            <a:ext cx="511987" cy="2111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000000"/>
                </a:solidFill>
                <a:latin typeface="Noto Sans"/>
              </a:rPr>
              <a:t>1747s</a:t>
            </a:r>
          </a:p>
        </p:txBody>
      </p:sp>
      <p:sp>
        <p:nvSpPr>
          <p:cNvPr id="409" name="Oval 408"/>
          <p:cNvSpPr/>
          <p:nvPr/>
        </p:nvSpPr>
        <p:spPr>
          <a:xfrm>
            <a:off x="8844578" y="6425439"/>
            <a:ext cx="89597" cy="89597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8479787" y="6559836"/>
            <a:ext cx="511987" cy="2111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000000"/>
                </a:solidFill>
                <a:latin typeface="Noto Sans"/>
              </a:rPr>
              <a:t>1759s</a:t>
            </a:r>
          </a:p>
        </p:txBody>
      </p:sp>
      <p:cxnSp>
        <p:nvCxnSpPr>
          <p:cNvPr id="411" name="Connector 410"/>
          <p:cNvCxnSpPr/>
          <p:nvPr/>
        </p:nvCxnSpPr>
        <p:spPr>
          <a:xfrm>
            <a:off x="12799" y="6585435"/>
            <a:ext cx="9055774" cy="0"/>
          </a:xfrm>
          <a:prstGeom prst="line">
            <a:avLst/>
          </a:prstGeom>
          <a:ln w="17780">
            <a:solidFill>
              <a:srgbClr val="E1B66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12799" y="6771030"/>
            <a:ext cx="9055774" cy="0"/>
          </a:xfrm>
          <a:prstGeom prst="line">
            <a:avLst/>
          </a:prstGeom>
          <a:ln w="17780">
            <a:solidFill>
              <a:srgbClr val="E1B66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12799" y="6585435"/>
            <a:ext cx="0" cy="185595"/>
          </a:xfrm>
          <a:prstGeom prst="line">
            <a:avLst/>
          </a:prstGeom>
          <a:ln w="17780">
            <a:solidFill>
              <a:srgbClr val="E1B66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9068573" y="6585435"/>
            <a:ext cx="0" cy="185595"/>
          </a:xfrm>
          <a:prstGeom prst="line">
            <a:avLst/>
          </a:prstGeom>
          <a:ln w="17780">
            <a:solidFill>
              <a:srgbClr val="E1B66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atch and Listen Understanding Audio-Visual-Speech Moments with Multimodal LLM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4" cy="6783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Watch and Listen: Audio-Visual-Speech Moments with Multimodal LLM</dc:title>
  <dc:subject>Editable reconstruction of the supplied architecture diagram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