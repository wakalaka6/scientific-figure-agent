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4362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4729" y="127798"/>
            <a:ext cx="6076830" cy="3948981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15335">
            <a:solidFill>
              <a:srgbClr val="66B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05786" y="127798"/>
            <a:ext cx="4702993" cy="313106"/>
          </a:xfrm>
          <a:prstGeom prst="roundRect">
            <a:avLst>
              <a:gd name="adj" fmla="val 24489"/>
            </a:avLst>
          </a:prstGeom>
          <a:solidFill>
            <a:srgbClr val="DD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76075" y="134188"/>
            <a:ext cx="4562414" cy="29393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9" b="1" i="0">
                <a:solidFill>
                  <a:srgbClr val="2F83C6"/>
                </a:solidFill>
                <a:latin typeface="Liberation Sans"/>
              </a:rPr>
              <a:t>In-context Editing Framework based on T2I DiT</a:t>
            </a:r>
          </a:p>
        </p:txBody>
      </p:sp>
      <p:pic>
        <p:nvPicPr>
          <p:cNvPr id="5" name="Picture 4" descr="man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4" y="466465"/>
            <a:ext cx="875421" cy="1309937"/>
          </a:xfrm>
          <a:prstGeom prst="rect">
            <a:avLst/>
          </a:prstGeom>
          <a:effectLst/>
        </p:spPr>
      </p:pic>
      <p:sp>
        <p:nvSpPr>
          <p:cNvPr id="6" name="Rounded Rectangle 5"/>
          <p:cNvSpPr/>
          <p:nvPr/>
        </p:nvSpPr>
        <p:spPr>
          <a:xfrm>
            <a:off x="536754" y="466465"/>
            <a:ext cx="875421" cy="1309937"/>
          </a:xfrm>
          <a:prstGeom prst="roundRect">
            <a:avLst>
              <a:gd name="adj" fmla="val 4379"/>
            </a:avLst>
          </a:prstGeom>
          <a:noFill/>
          <a:ln w="12779">
            <a:solidFill>
              <a:srgbClr val="66B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056" y="1801962"/>
            <a:ext cx="1233257" cy="1980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8" b="1" i="0">
                <a:solidFill>
                  <a:srgbClr val="2F83C6"/>
                </a:solidFill>
                <a:latin typeface="Arial"/>
              </a:rPr>
              <a:t>Source Image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2754" y="952100"/>
            <a:ext cx="549535" cy="0"/>
          </a:xfrm>
          <a:prstGeom prst="line">
            <a:avLst/>
          </a:prstGeom>
          <a:ln w="11501">
            <a:solidFill>
              <a:srgbClr val="3D93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2073534" y="923345"/>
            <a:ext cx="57509" cy="57509"/>
          </a:xfrm>
          <a:prstGeom prst="triangle">
            <a:avLst/>
          </a:prstGeom>
          <a:solidFill>
            <a:srgbClr val="3D9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66188" y="645383"/>
            <a:ext cx="2153408" cy="613433"/>
          </a:xfrm>
          <a:prstGeom prst="roundRect">
            <a:avLst>
              <a:gd name="adj" fmla="val 17708"/>
            </a:avLst>
          </a:prstGeom>
          <a:solidFill>
            <a:srgbClr val="CFEAF8"/>
          </a:solidFill>
          <a:ln w="11501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8427" y="785962"/>
            <a:ext cx="1936150" cy="32588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F83C6"/>
                </a:solidFill>
                <a:latin typeface="Liberation Sans"/>
              </a:rPr>
              <a:t>T2I Diffusion Transformer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89886" y="952100"/>
            <a:ext cx="453686" cy="0"/>
          </a:xfrm>
          <a:prstGeom prst="line">
            <a:avLst/>
          </a:prstGeom>
          <a:ln w="11501">
            <a:solidFill>
              <a:srgbClr val="3D93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4814817" y="923345"/>
            <a:ext cx="57509" cy="57509"/>
          </a:xfrm>
          <a:prstGeom prst="triangle">
            <a:avLst/>
          </a:prstGeom>
          <a:solidFill>
            <a:srgbClr val="3D9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09710" y="722062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75848" y="722062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1987" y="722062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09710" y="888201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75848" y="888201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41987" y="888201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09710" y="1054339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75848" y="1054339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41987" y="1054339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09710" y="1220477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75848" y="1220477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41987" y="1220477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484" y="1418566"/>
            <a:ext cx="1015999" cy="21725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8" b="1" i="0">
                <a:solidFill>
                  <a:srgbClr val="2F83C6"/>
                </a:solidFill>
                <a:latin typeface="Arial"/>
              </a:rPr>
              <a:t>Inverted Noise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17685" y="1028779"/>
            <a:ext cx="0" cy="607044"/>
          </a:xfrm>
          <a:prstGeom prst="line">
            <a:avLst/>
          </a:prstGeom>
          <a:ln w="10862">
            <a:solidFill>
              <a:srgbClr val="3D93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955320" y="1635823"/>
            <a:ext cx="2562365" cy="0"/>
          </a:xfrm>
          <a:prstGeom prst="line">
            <a:avLst/>
          </a:prstGeom>
          <a:ln w="10862">
            <a:solidFill>
              <a:srgbClr val="3D93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955320" y="1047949"/>
            <a:ext cx="0" cy="587874"/>
          </a:xfrm>
          <a:prstGeom prst="line">
            <a:avLst/>
          </a:prstGeom>
          <a:ln w="10862">
            <a:solidFill>
              <a:srgbClr val="3D93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>
            <a:off x="1923371" y="1015999"/>
            <a:ext cx="63899" cy="63899"/>
          </a:xfrm>
          <a:prstGeom prst="triangle">
            <a:avLst/>
          </a:prstGeom>
          <a:solidFill>
            <a:srgbClr val="3D9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39043" y="1354666"/>
            <a:ext cx="1233257" cy="23003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1" i="1">
                <a:solidFill>
                  <a:srgbClr val="2F83C6"/>
                </a:solidFill>
                <a:latin typeface="Liberation Serif"/>
              </a:rPr>
              <a:t>Inversion × 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74817" y="1718893"/>
            <a:ext cx="741232" cy="28115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157" b="1" i="0">
                <a:solidFill>
                  <a:srgbClr val="2F83C6"/>
                </a:solidFill>
                <a:latin typeface="Arial"/>
              </a:rPr>
              <a:t>Feature</a:t>
            </a:r>
          </a:p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157" b="1" i="0">
                <a:solidFill>
                  <a:srgbClr val="2F83C6"/>
                </a:solidFill>
                <a:latin typeface="Arial"/>
              </a:rPr>
              <a:t>Injection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092729" y="1706113"/>
            <a:ext cx="0" cy="332276"/>
          </a:xfrm>
          <a:prstGeom prst="line">
            <a:avLst/>
          </a:prstGeom>
          <a:ln w="51119">
            <a:solidFill>
              <a:srgbClr val="90BD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10800000">
            <a:off x="3044804" y="1990465"/>
            <a:ext cx="95849" cy="95849"/>
          </a:xfrm>
          <a:prstGeom prst="triangle">
            <a:avLst/>
          </a:prstGeom>
          <a:solidFill>
            <a:srgbClr val="90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284427" y="1699723"/>
            <a:ext cx="70289" cy="70289"/>
          </a:xfrm>
          <a:prstGeom prst="roundRect">
            <a:avLst>
              <a:gd name="adj" fmla="val 18181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373886" y="1699723"/>
            <a:ext cx="70289" cy="70289"/>
          </a:xfrm>
          <a:prstGeom prst="roundRect">
            <a:avLst>
              <a:gd name="adj" fmla="val 18181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63345" y="1699723"/>
            <a:ext cx="70289" cy="70289"/>
          </a:xfrm>
          <a:prstGeom prst="roundRect">
            <a:avLst>
              <a:gd name="adj" fmla="val 18181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284427" y="1789182"/>
            <a:ext cx="70289" cy="70289"/>
          </a:xfrm>
          <a:prstGeom prst="roundRect">
            <a:avLst>
              <a:gd name="adj" fmla="val 18181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373886" y="1789182"/>
            <a:ext cx="70289" cy="70289"/>
          </a:xfrm>
          <a:prstGeom prst="roundRect">
            <a:avLst>
              <a:gd name="adj" fmla="val 18181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463345" y="1789182"/>
            <a:ext cx="70289" cy="70289"/>
          </a:xfrm>
          <a:prstGeom prst="roundRect">
            <a:avLst>
              <a:gd name="adj" fmla="val 18181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84427" y="1878641"/>
            <a:ext cx="70289" cy="70289"/>
          </a:xfrm>
          <a:prstGeom prst="roundRect">
            <a:avLst>
              <a:gd name="adj" fmla="val 18181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373886" y="1878641"/>
            <a:ext cx="70289" cy="70289"/>
          </a:xfrm>
          <a:prstGeom prst="roundRect">
            <a:avLst>
              <a:gd name="adj" fmla="val 18181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463345" y="1878641"/>
            <a:ext cx="70289" cy="70289"/>
          </a:xfrm>
          <a:prstGeom prst="roundRect">
            <a:avLst>
              <a:gd name="adj" fmla="val 18181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571974" y="1859471"/>
            <a:ext cx="198088" cy="0"/>
          </a:xfrm>
          <a:prstGeom prst="line">
            <a:avLst/>
          </a:prstGeom>
          <a:ln w="11501">
            <a:solidFill>
              <a:srgbClr val="3D93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3747698" y="1837106"/>
            <a:ext cx="44729" cy="44729"/>
          </a:xfrm>
          <a:prstGeom prst="triangle">
            <a:avLst/>
          </a:prstGeom>
          <a:solidFill>
            <a:srgbClr val="3D9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795622" y="1680553"/>
            <a:ext cx="300327" cy="37700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84">
            <a:solidFill>
              <a:srgbClr val="F04D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840352" y="1706113"/>
            <a:ext cx="76679" cy="76679"/>
          </a:xfrm>
          <a:prstGeom prst="roundRect">
            <a:avLst>
              <a:gd name="adj" fmla="val 16666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929811" y="1706113"/>
            <a:ext cx="76679" cy="76679"/>
          </a:xfrm>
          <a:prstGeom prst="roundRect">
            <a:avLst>
              <a:gd name="adj" fmla="val 16666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019270" y="1706113"/>
            <a:ext cx="76679" cy="76679"/>
          </a:xfrm>
          <a:prstGeom prst="roundRect">
            <a:avLst>
              <a:gd name="adj" fmla="val 16666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840352" y="1795572"/>
            <a:ext cx="76679" cy="76679"/>
          </a:xfrm>
          <a:prstGeom prst="roundRect">
            <a:avLst>
              <a:gd name="adj" fmla="val 16666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929811" y="1795572"/>
            <a:ext cx="76679" cy="76679"/>
          </a:xfrm>
          <a:prstGeom prst="roundRect">
            <a:avLst>
              <a:gd name="adj" fmla="val 16666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019270" y="1795572"/>
            <a:ext cx="76679" cy="76679"/>
          </a:xfrm>
          <a:prstGeom prst="roundRect">
            <a:avLst>
              <a:gd name="adj" fmla="val 16666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840352" y="1885031"/>
            <a:ext cx="76679" cy="76679"/>
          </a:xfrm>
          <a:prstGeom prst="roundRect">
            <a:avLst>
              <a:gd name="adj" fmla="val 16666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929811" y="1885031"/>
            <a:ext cx="76679" cy="76679"/>
          </a:xfrm>
          <a:prstGeom prst="roundRect">
            <a:avLst>
              <a:gd name="adj" fmla="val 16666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019270" y="1885031"/>
            <a:ext cx="76679" cy="76679"/>
          </a:xfrm>
          <a:prstGeom prst="roundRect">
            <a:avLst>
              <a:gd name="adj" fmla="val 16666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115119" y="1706113"/>
            <a:ext cx="76679" cy="76679"/>
          </a:xfrm>
          <a:prstGeom prst="roundRect">
            <a:avLst>
              <a:gd name="adj" fmla="val 16666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204578" y="1706113"/>
            <a:ext cx="76679" cy="76679"/>
          </a:xfrm>
          <a:prstGeom prst="roundRect">
            <a:avLst>
              <a:gd name="adj" fmla="val 16666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294037" y="1706113"/>
            <a:ext cx="76679" cy="76679"/>
          </a:xfrm>
          <a:prstGeom prst="roundRect">
            <a:avLst>
              <a:gd name="adj" fmla="val 16666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115119" y="1795572"/>
            <a:ext cx="76679" cy="76679"/>
          </a:xfrm>
          <a:prstGeom prst="roundRect">
            <a:avLst>
              <a:gd name="adj" fmla="val 16666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204578" y="1795572"/>
            <a:ext cx="76679" cy="76679"/>
          </a:xfrm>
          <a:prstGeom prst="roundRect">
            <a:avLst>
              <a:gd name="adj" fmla="val 16666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294037" y="1795572"/>
            <a:ext cx="76679" cy="76679"/>
          </a:xfrm>
          <a:prstGeom prst="roundRect">
            <a:avLst>
              <a:gd name="adj" fmla="val 16666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115119" y="1885031"/>
            <a:ext cx="76679" cy="76679"/>
          </a:xfrm>
          <a:prstGeom prst="roundRect">
            <a:avLst>
              <a:gd name="adj" fmla="val 16666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204578" y="1885031"/>
            <a:ext cx="76679" cy="76679"/>
          </a:xfrm>
          <a:prstGeom prst="roundRect">
            <a:avLst>
              <a:gd name="adj" fmla="val 16666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294037" y="1885031"/>
            <a:ext cx="76679" cy="76679"/>
          </a:xfrm>
          <a:prstGeom prst="roundRect">
            <a:avLst>
              <a:gd name="adj" fmla="val 16666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70993" y="2102289"/>
            <a:ext cx="1207698" cy="2364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1" i="1">
                <a:solidFill>
                  <a:srgbClr val="2F83C6"/>
                </a:solidFill>
                <a:latin typeface="Liberation Serif"/>
              </a:rPr>
              <a:t>Denoising × 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178968" y="2421786"/>
            <a:ext cx="2153408" cy="619823"/>
          </a:xfrm>
          <a:prstGeom prst="roundRect">
            <a:avLst>
              <a:gd name="adj" fmla="val 17525"/>
            </a:avLst>
          </a:prstGeom>
          <a:solidFill>
            <a:srgbClr val="CFEAF8"/>
          </a:solidFill>
          <a:ln w="11501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274817" y="2568754"/>
            <a:ext cx="1942540" cy="3194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F83C6"/>
                </a:solidFill>
                <a:latin typeface="Liberation Sans"/>
              </a:rPr>
              <a:t>T2I Diffusion Transformer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402666" y="2715723"/>
            <a:ext cx="440906" cy="0"/>
          </a:xfrm>
          <a:prstGeom prst="line">
            <a:avLst/>
          </a:prstGeom>
          <a:ln w="11501">
            <a:solidFill>
              <a:srgbClr val="3D93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Isosceles Triangle 68"/>
          <p:cNvSpPr/>
          <p:nvPr/>
        </p:nvSpPr>
        <p:spPr>
          <a:xfrm rot="5400000">
            <a:off x="4818012" y="2690163"/>
            <a:ext cx="51119" cy="51119"/>
          </a:xfrm>
          <a:prstGeom prst="triangle">
            <a:avLst/>
          </a:prstGeom>
          <a:solidFill>
            <a:srgbClr val="3D9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1955320" y="2095899"/>
            <a:ext cx="0" cy="293937"/>
          </a:xfrm>
          <a:prstGeom prst="line">
            <a:avLst/>
          </a:prstGeom>
          <a:ln w="10223">
            <a:solidFill>
              <a:srgbClr val="3D93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955320" y="2095899"/>
            <a:ext cx="2575145" cy="0"/>
          </a:xfrm>
          <a:prstGeom prst="line">
            <a:avLst/>
          </a:prstGeom>
          <a:ln w="10223">
            <a:solidFill>
              <a:srgbClr val="3D93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530465" y="2095899"/>
            <a:ext cx="0" cy="575094"/>
          </a:xfrm>
          <a:prstGeom prst="line">
            <a:avLst/>
          </a:prstGeom>
          <a:ln w="10223">
            <a:solidFill>
              <a:srgbClr val="3D93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/>
          <p:cNvSpPr/>
          <p:nvPr/>
        </p:nvSpPr>
        <p:spPr>
          <a:xfrm rot="10800000">
            <a:off x="4498515" y="2639043"/>
            <a:ext cx="63899" cy="63899"/>
          </a:xfrm>
          <a:prstGeom prst="triangle">
            <a:avLst/>
          </a:prstGeom>
          <a:solidFill>
            <a:srgbClr val="3D9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1955320" y="1629433"/>
            <a:ext cx="0" cy="1060730"/>
          </a:xfrm>
          <a:prstGeom prst="line">
            <a:avLst/>
          </a:prstGeom>
          <a:ln w="9584">
            <a:solidFill>
              <a:srgbClr val="3D93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955320" y="2690163"/>
            <a:ext cx="166139" cy="0"/>
          </a:xfrm>
          <a:prstGeom prst="line">
            <a:avLst/>
          </a:prstGeom>
          <a:ln w="9584">
            <a:solidFill>
              <a:srgbClr val="3D93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Isosceles Triangle 75"/>
          <p:cNvSpPr/>
          <p:nvPr/>
        </p:nvSpPr>
        <p:spPr>
          <a:xfrm rot="5400000">
            <a:off x="2089509" y="2658213"/>
            <a:ext cx="63899" cy="63899"/>
          </a:xfrm>
          <a:prstGeom prst="triangle">
            <a:avLst/>
          </a:prstGeom>
          <a:solidFill>
            <a:srgbClr val="3D9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ma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106" y="2766842"/>
            <a:ext cx="396176" cy="332276"/>
          </a:xfrm>
          <a:prstGeom prst="rect">
            <a:avLst/>
          </a:prstGeom>
          <a:effectLst/>
        </p:spPr>
      </p:pic>
      <p:sp>
        <p:nvSpPr>
          <p:cNvPr id="78" name="Rounded Rectangle 77"/>
          <p:cNvSpPr/>
          <p:nvPr/>
        </p:nvSpPr>
        <p:spPr>
          <a:xfrm>
            <a:off x="4377106" y="2766842"/>
            <a:ext cx="396176" cy="332276"/>
          </a:xfrm>
          <a:prstGeom prst="roundRect">
            <a:avLst>
              <a:gd name="adj" fmla="val 3846"/>
            </a:avLst>
          </a:prstGeom>
          <a:noFill/>
          <a:ln w="6389">
            <a:solidFill>
              <a:srgbClr val="66B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41006" y="3092729"/>
            <a:ext cx="370616" cy="16613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5" b="1" i="0">
                <a:solidFill>
                  <a:srgbClr val="2F83C6"/>
                </a:solidFill>
                <a:latin typeface="Arial"/>
              </a:rPr>
              <a:t>crop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4786062" y="2932981"/>
            <a:ext cx="159749" cy="0"/>
          </a:xfrm>
          <a:prstGeom prst="line">
            <a:avLst/>
          </a:prstGeom>
          <a:ln w="10223">
            <a:solidFill>
              <a:srgbClr val="3D93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Isosceles Triangle 80"/>
          <p:cNvSpPr/>
          <p:nvPr/>
        </p:nvSpPr>
        <p:spPr>
          <a:xfrm rot="5400000">
            <a:off x="4923446" y="2910616"/>
            <a:ext cx="44729" cy="44729"/>
          </a:xfrm>
          <a:prstGeom prst="triangle">
            <a:avLst/>
          </a:prstGeom>
          <a:solidFill>
            <a:srgbClr val="3D9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ma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421" y="2057559"/>
            <a:ext cx="1054339" cy="1565534"/>
          </a:xfrm>
          <a:prstGeom prst="rect">
            <a:avLst/>
          </a:prstGeom>
          <a:effectLst/>
        </p:spPr>
      </p:pic>
      <p:sp>
        <p:nvSpPr>
          <p:cNvPr id="83" name="Rounded Rectangle 82"/>
          <p:cNvSpPr/>
          <p:nvPr/>
        </p:nvSpPr>
        <p:spPr>
          <a:xfrm>
            <a:off x="4939421" y="2057559"/>
            <a:ext cx="1054339" cy="1565534"/>
          </a:xfrm>
          <a:prstGeom prst="roundRect">
            <a:avLst>
              <a:gd name="adj" fmla="val 3636"/>
            </a:avLst>
          </a:prstGeom>
          <a:noFill/>
          <a:ln w="12779">
            <a:solidFill>
              <a:srgbClr val="67B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13861" y="3667823"/>
            <a:ext cx="1086289" cy="3067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0">
                <a:solidFill>
                  <a:srgbClr val="FF9D33"/>
                </a:solidFill>
                <a:latin typeface="Arial"/>
              </a:rPr>
              <a:t>Generated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0">
                <a:solidFill>
                  <a:srgbClr val="FF9D33"/>
                </a:solidFill>
                <a:latin typeface="Arial"/>
              </a:rPr>
              <a:t>Target Image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23647" y="2204528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89786" y="2204528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555924" y="2204528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223647" y="2370666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389786" y="2370666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55924" y="2370666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223647" y="2536804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389786" y="2536804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555924" y="2536804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223647" y="2702943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389786" y="2702943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555924" y="2702943"/>
            <a:ext cx="146968" cy="146968"/>
          </a:xfrm>
          <a:prstGeom prst="roundRect">
            <a:avLst>
              <a:gd name="adj" fmla="val 8695"/>
            </a:avLst>
          </a:prstGeom>
          <a:solidFill>
            <a:srgbClr val="D9F0FC"/>
          </a:solidFill>
          <a:ln w="9584">
            <a:solidFill>
              <a:srgbClr val="83B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5018" y="2862691"/>
            <a:ext cx="690113" cy="3450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0">
                <a:solidFill>
                  <a:srgbClr val="2F83C6"/>
                </a:solidFill>
                <a:latin typeface="Arial"/>
              </a:rPr>
              <a:t>Inverted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0">
                <a:solidFill>
                  <a:srgbClr val="2F83C6"/>
                </a:solidFill>
                <a:latin typeface="Arial"/>
              </a:rPr>
              <a:t>Noise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7911" y="2428176"/>
            <a:ext cx="178918" cy="22364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0" b="1" i="0">
                <a:solidFill>
                  <a:srgbClr val="2F83C6"/>
                </a:solidFill>
                <a:latin typeface="Arial"/>
              </a:rPr>
              <a:t>+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8452" y="2626264"/>
            <a:ext cx="370616" cy="1597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4" b="1" i="0">
                <a:solidFill>
                  <a:srgbClr val="2F83C6"/>
                </a:solidFill>
                <a:latin typeface="Arial"/>
              </a:rPr>
              <a:t>concat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124628" y="2204528"/>
            <a:ext cx="146968" cy="146968"/>
          </a:xfrm>
          <a:prstGeom prst="roundRect">
            <a:avLst>
              <a:gd name="adj" fmla="val 8695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290767" y="2204528"/>
            <a:ext cx="146968" cy="146968"/>
          </a:xfrm>
          <a:prstGeom prst="roundRect">
            <a:avLst>
              <a:gd name="adj" fmla="val 8695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456905" y="2204528"/>
            <a:ext cx="146968" cy="146968"/>
          </a:xfrm>
          <a:prstGeom prst="roundRect">
            <a:avLst>
              <a:gd name="adj" fmla="val 8695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124628" y="2370666"/>
            <a:ext cx="146968" cy="146968"/>
          </a:xfrm>
          <a:prstGeom prst="roundRect">
            <a:avLst>
              <a:gd name="adj" fmla="val 8695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1290767" y="2370666"/>
            <a:ext cx="146968" cy="146968"/>
          </a:xfrm>
          <a:prstGeom prst="roundRect">
            <a:avLst>
              <a:gd name="adj" fmla="val 8695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456905" y="2370666"/>
            <a:ext cx="146968" cy="146968"/>
          </a:xfrm>
          <a:prstGeom prst="roundRect">
            <a:avLst>
              <a:gd name="adj" fmla="val 8695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1124628" y="2536804"/>
            <a:ext cx="146968" cy="146968"/>
          </a:xfrm>
          <a:prstGeom prst="roundRect">
            <a:avLst>
              <a:gd name="adj" fmla="val 8695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1290767" y="2536804"/>
            <a:ext cx="146968" cy="146968"/>
          </a:xfrm>
          <a:prstGeom prst="roundRect">
            <a:avLst>
              <a:gd name="adj" fmla="val 8695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1456905" y="2536804"/>
            <a:ext cx="146968" cy="146968"/>
          </a:xfrm>
          <a:prstGeom prst="roundRect">
            <a:avLst>
              <a:gd name="adj" fmla="val 8695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124628" y="2702943"/>
            <a:ext cx="146968" cy="146968"/>
          </a:xfrm>
          <a:prstGeom prst="roundRect">
            <a:avLst>
              <a:gd name="adj" fmla="val 8695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1290767" y="2702943"/>
            <a:ext cx="146968" cy="146968"/>
          </a:xfrm>
          <a:prstGeom prst="roundRect">
            <a:avLst>
              <a:gd name="adj" fmla="val 8695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456905" y="2702943"/>
            <a:ext cx="146968" cy="146968"/>
          </a:xfrm>
          <a:prstGeom prst="roundRect">
            <a:avLst>
              <a:gd name="adj" fmla="val 8695"/>
            </a:avLst>
          </a:prstGeom>
          <a:solidFill>
            <a:srgbClr val="FFE5BD"/>
          </a:solidFill>
          <a:ln w="9584">
            <a:solidFill>
              <a:srgbClr val="F6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41559" y="2862691"/>
            <a:ext cx="658163" cy="3450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0">
                <a:solidFill>
                  <a:srgbClr val="FF9D33"/>
                </a:solidFill>
                <a:latin typeface="Arial"/>
              </a:rPr>
              <a:t>Random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0">
                <a:solidFill>
                  <a:srgbClr val="FF9D33"/>
                </a:solidFill>
                <a:latin typeface="Arial"/>
              </a:rPr>
              <a:t>Noise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648603" y="2709333"/>
            <a:ext cx="466466" cy="0"/>
          </a:xfrm>
          <a:prstGeom prst="line">
            <a:avLst/>
          </a:prstGeom>
          <a:ln w="11501">
            <a:solidFill>
              <a:srgbClr val="3D93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Isosceles Triangle 113"/>
          <p:cNvSpPr/>
          <p:nvPr/>
        </p:nvSpPr>
        <p:spPr>
          <a:xfrm rot="5400000">
            <a:off x="2089509" y="2683773"/>
            <a:ext cx="51119" cy="51119"/>
          </a:xfrm>
          <a:prstGeom prst="triangle">
            <a:avLst/>
          </a:prstGeom>
          <a:solidFill>
            <a:srgbClr val="3D9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153358" y="3348326"/>
            <a:ext cx="4236528" cy="594264"/>
          </a:xfrm>
          <a:prstGeom prst="roundRect">
            <a:avLst>
              <a:gd name="adj" fmla="val 13978"/>
            </a:avLst>
          </a:prstGeom>
          <a:solidFill>
            <a:srgbClr val="FFFFFF"/>
          </a:solidFill>
          <a:ln w="11501">
            <a:solidFill>
              <a:srgbClr val="82BD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19496" y="3393056"/>
            <a:ext cx="3891471" cy="16613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2F83C6"/>
                </a:solidFill>
                <a:latin typeface="Liberation Sans"/>
              </a:rPr>
              <a:t>“ A diptych with two side-by-side images of the same scene.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25886" y="3559194"/>
            <a:ext cx="3878691" cy="1725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2F83C6"/>
                </a:solidFill>
                <a:latin typeface="Liberation Sans"/>
              </a:rPr>
              <a:t>On the right, the scene is the same as on the left, but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54339" y="3725333"/>
            <a:ext cx="2492075" cy="1725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6" b="1" i="0">
                <a:solidFill>
                  <a:srgbClr val="FF9D33"/>
                </a:solidFill>
                <a:latin typeface="Liberation Sans"/>
              </a:rPr>
              <a:t>make the man grab a basketball.”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4729" y="4191798"/>
            <a:ext cx="6076830" cy="2268427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4696">
            <a:solidFill>
              <a:srgbClr val="FF7C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1131018" y="4191798"/>
            <a:ext cx="4977760" cy="300327"/>
          </a:xfrm>
          <a:prstGeom prst="roundRect">
            <a:avLst>
              <a:gd name="adj" fmla="val 21276"/>
            </a:avLst>
          </a:prstGeom>
          <a:solidFill>
            <a:srgbClr val="FF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50188" y="4210968"/>
            <a:ext cx="4926641" cy="24920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9" b="1" i="0">
                <a:solidFill>
                  <a:srgbClr val="F54A50"/>
                </a:solidFill>
                <a:latin typeface="Liberation Sans"/>
              </a:rPr>
              <a:t>In-context Editing Framework based on Inpainting DiT</a:t>
            </a:r>
          </a:p>
        </p:txBody>
      </p:sp>
      <p:pic>
        <p:nvPicPr>
          <p:cNvPr id="122" name="Picture 121" descr="woman_sour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18" y="4511295"/>
            <a:ext cx="971270" cy="1444125"/>
          </a:xfrm>
          <a:prstGeom prst="rect">
            <a:avLst/>
          </a:prstGeom>
          <a:effectLst/>
        </p:spPr>
      </p:pic>
      <p:sp>
        <p:nvSpPr>
          <p:cNvPr id="123" name="Rounded Rectangle 122"/>
          <p:cNvSpPr/>
          <p:nvPr/>
        </p:nvSpPr>
        <p:spPr>
          <a:xfrm>
            <a:off x="115018" y="4511295"/>
            <a:ext cx="971270" cy="1444125"/>
          </a:xfrm>
          <a:prstGeom prst="roundRect">
            <a:avLst>
              <a:gd name="adj" fmla="val 3289"/>
            </a:avLst>
          </a:prstGeom>
          <a:noFill/>
          <a:ln w="10862">
            <a:solidFill>
              <a:srgbClr val="F768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3899" y="6038490"/>
            <a:ext cx="1073509" cy="1853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0">
                <a:solidFill>
                  <a:srgbClr val="F04D73"/>
                </a:solidFill>
                <a:latin typeface="Liberation Sans"/>
              </a:rPr>
              <a:t>Source Image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277987" y="4843572"/>
            <a:ext cx="185308" cy="236427"/>
          </a:xfrm>
          <a:prstGeom prst="roundRect">
            <a:avLst>
              <a:gd name="adj" fmla="val 17241"/>
            </a:avLst>
          </a:prstGeom>
          <a:solidFill>
            <a:srgbClr val="FB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56578" y="5124729"/>
            <a:ext cx="440905" cy="1853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04D73"/>
                </a:solidFill>
                <a:latin typeface="Arial"/>
              </a:rPr>
              <a:t>mask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05459" y="5373936"/>
            <a:ext cx="523974" cy="1853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04D73"/>
                </a:solidFill>
                <a:latin typeface="Arial"/>
              </a:rPr>
              <a:t>concat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571924" y="4913861"/>
            <a:ext cx="1252427" cy="926540"/>
          </a:xfrm>
          <a:prstGeom prst="roundRect">
            <a:avLst>
              <a:gd name="adj" fmla="val 1379"/>
            </a:avLst>
          </a:prstGeom>
          <a:solidFill>
            <a:srgbClr val="F3C7D3"/>
          </a:solidFill>
          <a:ln w="6389">
            <a:solidFill>
              <a:srgbClr val="F04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9" name="Picture 128" descr="woman_mask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9433" y="4996930"/>
            <a:ext cx="555924" cy="805132"/>
          </a:xfrm>
          <a:prstGeom prst="rect">
            <a:avLst/>
          </a:prstGeom>
          <a:effectLst/>
        </p:spPr>
      </p:pic>
      <p:sp>
        <p:nvSpPr>
          <p:cNvPr id="130" name="Rectangle 129"/>
          <p:cNvSpPr/>
          <p:nvPr/>
        </p:nvSpPr>
        <p:spPr>
          <a:xfrm>
            <a:off x="2185358" y="4913861"/>
            <a:ext cx="638993" cy="926540"/>
          </a:xfrm>
          <a:prstGeom prst="rect">
            <a:avLst/>
          </a:prstGeom>
          <a:solidFill>
            <a:srgbClr val="F2B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1" name="Picture 130" descr="noi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9182" y="4773282"/>
            <a:ext cx="1246037" cy="178918"/>
          </a:xfrm>
          <a:prstGeom prst="rect">
            <a:avLst/>
          </a:prstGeom>
          <a:effectLst/>
        </p:spPr>
      </p:pic>
      <p:sp>
        <p:nvSpPr>
          <p:cNvPr id="132" name="TextBox 131"/>
          <p:cNvSpPr txBox="1"/>
          <p:nvPr/>
        </p:nvSpPr>
        <p:spPr>
          <a:xfrm>
            <a:off x="2875471" y="5578414"/>
            <a:ext cx="492025" cy="1853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0">
                <a:solidFill>
                  <a:srgbClr val="F04D73"/>
                </a:solidFill>
                <a:latin typeface="Arial"/>
              </a:rPr>
              <a:t>Noise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520804" y="5872352"/>
            <a:ext cx="1367446" cy="1853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0">
                <a:solidFill>
                  <a:srgbClr val="F04D73"/>
                </a:solidFill>
                <a:latin typeface="Arial"/>
              </a:rPr>
              <a:t>Image with Mask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3047999" y="5220578"/>
            <a:ext cx="242818" cy="0"/>
          </a:xfrm>
          <a:prstGeom prst="line">
            <a:avLst/>
          </a:prstGeom>
          <a:ln w="51119">
            <a:solidFill>
              <a:srgbClr val="FF9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Isosceles Triangle 134"/>
          <p:cNvSpPr/>
          <p:nvPr/>
        </p:nvSpPr>
        <p:spPr>
          <a:xfrm rot="5400000">
            <a:off x="3246087" y="5175848"/>
            <a:ext cx="89459" cy="89459"/>
          </a:xfrm>
          <a:prstGeom prst="triangle">
            <a:avLst/>
          </a:prstGeom>
          <a:solidFill>
            <a:srgbClr val="FF9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3322767" y="4958591"/>
            <a:ext cx="1239647" cy="536754"/>
          </a:xfrm>
          <a:prstGeom prst="roundRect">
            <a:avLst>
              <a:gd name="adj" fmla="val 22619"/>
            </a:avLst>
          </a:prstGeom>
          <a:solidFill>
            <a:srgbClr val="FFE5EC"/>
          </a:solidFill>
          <a:ln w="14057">
            <a:solidFill>
              <a:srgbClr val="FF98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418616" y="5079999"/>
            <a:ext cx="1067119" cy="28754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0">
                <a:solidFill>
                  <a:srgbClr val="F04D73"/>
                </a:solidFill>
                <a:latin typeface="Arial"/>
              </a:rPr>
              <a:t>Inpainting DiT</a:t>
            </a:r>
          </a:p>
        </p:txBody>
      </p:sp>
      <p:cxnSp>
        <p:nvCxnSpPr>
          <p:cNvPr id="138" name="Connector 137"/>
          <p:cNvCxnSpPr/>
          <p:nvPr/>
        </p:nvCxnSpPr>
        <p:spPr>
          <a:xfrm flipV="1">
            <a:off x="3936201" y="5559245"/>
            <a:ext cx="0" cy="198088"/>
          </a:xfrm>
          <a:prstGeom prst="line">
            <a:avLst/>
          </a:prstGeom>
          <a:ln w="51119">
            <a:solidFill>
              <a:srgbClr val="FF9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Isosceles Triangle 138"/>
          <p:cNvSpPr/>
          <p:nvPr/>
        </p:nvSpPr>
        <p:spPr>
          <a:xfrm>
            <a:off x="3894666" y="5517710"/>
            <a:ext cx="83069" cy="83069"/>
          </a:xfrm>
          <a:prstGeom prst="triangle">
            <a:avLst/>
          </a:prstGeom>
          <a:solidFill>
            <a:srgbClr val="FF9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2971320" y="5987370"/>
            <a:ext cx="2127849" cy="408955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223">
            <a:solidFill>
              <a:srgbClr val="FF8F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099119" y="6019320"/>
            <a:ext cx="1865861" cy="1597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6" b="0" i="0">
                <a:solidFill>
                  <a:srgbClr val="F59BAD"/>
                </a:solidFill>
                <a:latin typeface="Arial"/>
              </a:rPr>
              <a:t>“A diptych with ... but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060779" y="6172679"/>
            <a:ext cx="1942540" cy="16613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7" b="1" i="0">
                <a:solidFill>
                  <a:srgbClr val="F04D73"/>
                </a:solidFill>
                <a:latin typeface="Arial"/>
              </a:rPr>
              <a:t>make her hold a red can.”</a:t>
            </a:r>
          </a:p>
        </p:txBody>
      </p:sp>
      <p:pic>
        <p:nvPicPr>
          <p:cNvPr id="143" name="Picture 142" descr="woman_targ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0754" y="4760503"/>
            <a:ext cx="453685" cy="325886"/>
          </a:xfrm>
          <a:prstGeom prst="rect">
            <a:avLst/>
          </a:prstGeom>
          <a:effectLst/>
        </p:spPr>
      </p:pic>
      <p:sp>
        <p:nvSpPr>
          <p:cNvPr id="144" name="Rounded Rectangle 143"/>
          <p:cNvSpPr/>
          <p:nvPr/>
        </p:nvSpPr>
        <p:spPr>
          <a:xfrm>
            <a:off x="4600754" y="4760503"/>
            <a:ext cx="453685" cy="325886"/>
          </a:xfrm>
          <a:prstGeom prst="roundRect">
            <a:avLst>
              <a:gd name="adj" fmla="val 3921"/>
            </a:avLst>
          </a:prstGeom>
          <a:noFill/>
          <a:ln w="6389">
            <a:solidFill>
              <a:srgbClr val="F04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613534" y="5143899"/>
            <a:ext cx="447295" cy="1725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6" b="1" i="0">
                <a:solidFill>
                  <a:srgbClr val="F04D73"/>
                </a:solidFill>
                <a:latin typeface="Arial"/>
              </a:rPr>
              <a:t>crop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4587974" y="5226968"/>
            <a:ext cx="479245" cy="0"/>
          </a:xfrm>
          <a:prstGeom prst="line">
            <a:avLst/>
          </a:prstGeom>
          <a:ln w="51119">
            <a:solidFill>
              <a:srgbClr val="FF9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Isosceles Triangle 146"/>
          <p:cNvSpPr/>
          <p:nvPr/>
        </p:nvSpPr>
        <p:spPr>
          <a:xfrm rot="5400000">
            <a:off x="5022490" y="5182238"/>
            <a:ext cx="89459" cy="89459"/>
          </a:xfrm>
          <a:prstGeom prst="triangle">
            <a:avLst/>
          </a:prstGeom>
          <a:solidFill>
            <a:srgbClr val="FF9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8" name="Picture 147" descr="woman_targ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2779" y="4511295"/>
            <a:ext cx="932930" cy="1444125"/>
          </a:xfrm>
          <a:prstGeom prst="rect">
            <a:avLst/>
          </a:prstGeom>
          <a:effectLst/>
        </p:spPr>
      </p:pic>
      <p:sp>
        <p:nvSpPr>
          <p:cNvPr id="149" name="Rounded Rectangle 148"/>
          <p:cNvSpPr/>
          <p:nvPr/>
        </p:nvSpPr>
        <p:spPr>
          <a:xfrm>
            <a:off x="5092779" y="4511295"/>
            <a:ext cx="932930" cy="1444125"/>
          </a:xfrm>
          <a:prstGeom prst="roundRect">
            <a:avLst>
              <a:gd name="adj" fmla="val 3424"/>
            </a:avLst>
          </a:prstGeom>
          <a:noFill/>
          <a:ln w="10862">
            <a:solidFill>
              <a:srgbClr val="F768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182238" y="6038490"/>
            <a:ext cx="766792" cy="3578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308" b="1" i="0">
                <a:solidFill>
                  <a:srgbClr val="F04D73"/>
                </a:solidFill>
                <a:latin typeface="Arial"/>
              </a:rPr>
              <a:t>Target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308" b="1" i="0">
                <a:solidFill>
                  <a:srgbClr val="F04D73"/>
                </a:solidFill>
                <a:latin typeface="Arial"/>
              </a:rPr>
              <a:t>Image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6434666" y="293937"/>
            <a:ext cx="0" cy="5770113"/>
          </a:xfrm>
          <a:prstGeom prst="line">
            <a:avLst/>
          </a:prstGeom>
          <a:ln w="12779">
            <a:solidFill>
              <a:srgbClr val="80C6F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2" name="Picture 151" descr="girl_source_to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9471" y="102238"/>
            <a:ext cx="792352" cy="1188528"/>
          </a:xfrm>
          <a:prstGeom prst="rect">
            <a:avLst/>
          </a:prstGeom>
          <a:effectLst/>
        </p:spPr>
      </p:pic>
      <p:sp>
        <p:nvSpPr>
          <p:cNvPr id="153" name="Rounded Rectangle 152"/>
          <p:cNvSpPr/>
          <p:nvPr/>
        </p:nvSpPr>
        <p:spPr>
          <a:xfrm>
            <a:off x="6939471" y="102238"/>
            <a:ext cx="792352" cy="1188528"/>
          </a:xfrm>
          <a:prstGeom prst="roundRect">
            <a:avLst>
              <a:gd name="adj" fmla="val 2419"/>
            </a:avLst>
          </a:prstGeom>
          <a:noFill/>
          <a:ln w="6389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girl_target_t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1823" y="102238"/>
            <a:ext cx="798742" cy="1188528"/>
          </a:xfrm>
          <a:prstGeom prst="rect">
            <a:avLst/>
          </a:prstGeom>
          <a:effectLst/>
        </p:spPr>
      </p:pic>
      <p:sp>
        <p:nvSpPr>
          <p:cNvPr id="155" name="Rounded Rectangle 154"/>
          <p:cNvSpPr/>
          <p:nvPr/>
        </p:nvSpPr>
        <p:spPr>
          <a:xfrm>
            <a:off x="7731823" y="102238"/>
            <a:ext cx="798742" cy="1188528"/>
          </a:xfrm>
          <a:prstGeom prst="roundRect">
            <a:avLst>
              <a:gd name="adj" fmla="val 2400"/>
            </a:avLst>
          </a:prstGeom>
          <a:noFill/>
          <a:ln w="12779">
            <a:solidFill>
              <a:srgbClr val="F04D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7731823" y="102238"/>
            <a:ext cx="798742" cy="1188528"/>
          </a:xfrm>
          <a:prstGeom prst="roundRect">
            <a:avLst>
              <a:gd name="adj" fmla="val 2400"/>
            </a:avLst>
          </a:prstGeom>
          <a:noFill/>
          <a:ln w="12779">
            <a:solidFill>
              <a:srgbClr val="F04D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607245" y="402566"/>
            <a:ext cx="849861" cy="50480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6" b="1" i="0">
                <a:solidFill>
                  <a:srgbClr val="222222"/>
                </a:solidFill>
                <a:latin typeface="Arial"/>
              </a:rPr>
              <a:t>Edit by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6" b="1" i="0">
                <a:solidFill>
                  <a:srgbClr val="222222"/>
                </a:solidFill>
                <a:latin typeface="Arial"/>
              </a:rPr>
              <a:t>In-context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6" b="1" i="0">
                <a:solidFill>
                  <a:srgbClr val="222222"/>
                </a:solidFill>
                <a:latin typeface="Arial"/>
              </a:rPr>
              <a:t>Generation</a:t>
            </a:r>
          </a:p>
        </p:txBody>
      </p:sp>
      <p:cxnSp>
        <p:nvCxnSpPr>
          <p:cNvPr id="158" name="Connector 157"/>
          <p:cNvCxnSpPr/>
          <p:nvPr/>
        </p:nvCxnSpPr>
        <p:spPr>
          <a:xfrm flipV="1">
            <a:off x="8127999" y="1303547"/>
            <a:ext cx="0" cy="159748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Isosceles Triangle 158"/>
          <p:cNvSpPr/>
          <p:nvPr/>
        </p:nvSpPr>
        <p:spPr>
          <a:xfrm>
            <a:off x="8102440" y="1277987"/>
            <a:ext cx="51119" cy="51119"/>
          </a:xfrm>
          <a:prstGeom prst="triangl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7667924" y="1469685"/>
            <a:ext cx="907371" cy="268377"/>
          </a:xfrm>
          <a:prstGeom prst="roundRect">
            <a:avLst>
              <a:gd name="adj" fmla="val 11904"/>
            </a:avLst>
          </a:prstGeom>
          <a:solidFill>
            <a:srgbClr val="C9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763773" y="1501635"/>
            <a:ext cx="722062" cy="20447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7" b="1" i="0">
                <a:solidFill>
                  <a:srgbClr val="222222"/>
                </a:solidFill>
                <a:latin typeface="Arial"/>
              </a:rPr>
              <a:t>Decoder</a:t>
            </a:r>
          </a:p>
        </p:txBody>
      </p:sp>
      <p:cxnSp>
        <p:nvCxnSpPr>
          <p:cNvPr id="162" name="Connector 161"/>
          <p:cNvCxnSpPr/>
          <p:nvPr/>
        </p:nvCxnSpPr>
        <p:spPr>
          <a:xfrm flipV="1">
            <a:off x="8121609" y="1744452"/>
            <a:ext cx="0" cy="249208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Isosceles Triangle 162"/>
          <p:cNvSpPr/>
          <p:nvPr/>
        </p:nvSpPr>
        <p:spPr>
          <a:xfrm>
            <a:off x="8096050" y="1718893"/>
            <a:ext cx="51119" cy="51119"/>
          </a:xfrm>
          <a:prstGeom prst="triangl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6977811" y="1795572"/>
            <a:ext cx="2619874" cy="2722113"/>
          </a:xfrm>
          <a:prstGeom prst="roundRect">
            <a:avLst>
              <a:gd name="adj" fmla="val 4390"/>
            </a:avLst>
          </a:prstGeom>
          <a:solidFill>
            <a:srgbClr val="E5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6907521" y="1833911"/>
            <a:ext cx="2619874" cy="2722113"/>
          </a:xfrm>
          <a:prstGeom prst="roundRect">
            <a:avLst>
              <a:gd name="adj" fmla="val 4390"/>
            </a:avLst>
          </a:prstGeom>
          <a:solidFill>
            <a:srgbClr val="E7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6830842" y="1872251"/>
            <a:ext cx="2619874" cy="2722113"/>
          </a:xfrm>
          <a:prstGeom prst="roundRect">
            <a:avLst>
              <a:gd name="adj" fmla="val 4390"/>
            </a:avLst>
          </a:prstGeom>
          <a:solidFill>
            <a:srgbClr val="EBD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6754163" y="1910591"/>
            <a:ext cx="2619874" cy="2722113"/>
          </a:xfrm>
          <a:prstGeom prst="roundRect">
            <a:avLst>
              <a:gd name="adj" fmla="val 4390"/>
            </a:avLst>
          </a:prstGeom>
          <a:solidFill>
            <a:srgbClr val="F0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7597635" y="2000050"/>
            <a:ext cx="134188" cy="140578"/>
          </a:xfrm>
          <a:prstGeom prst="roundRect">
            <a:avLst>
              <a:gd name="adj" fmla="val 14285"/>
            </a:avLst>
          </a:prstGeom>
          <a:solidFill>
            <a:srgbClr val="9BD1EE"/>
          </a:solidFill>
          <a:ln w="9584">
            <a:solidFill>
              <a:srgbClr val="2F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7741408" y="2000050"/>
            <a:ext cx="134188" cy="140578"/>
          </a:xfrm>
          <a:prstGeom prst="roundRect">
            <a:avLst>
              <a:gd name="adj" fmla="val 14285"/>
            </a:avLst>
          </a:prstGeom>
          <a:solidFill>
            <a:srgbClr val="9BD1EE"/>
          </a:solidFill>
          <a:ln w="9584">
            <a:solidFill>
              <a:srgbClr val="2F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7885182" y="2000050"/>
            <a:ext cx="134188" cy="140578"/>
          </a:xfrm>
          <a:prstGeom prst="roundRect">
            <a:avLst>
              <a:gd name="adj" fmla="val 14285"/>
            </a:avLst>
          </a:prstGeom>
          <a:solidFill>
            <a:srgbClr val="9BD1EE"/>
          </a:solidFill>
          <a:ln w="9584">
            <a:solidFill>
              <a:srgbClr val="2F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8028955" y="2000050"/>
            <a:ext cx="134188" cy="140578"/>
          </a:xfrm>
          <a:prstGeom prst="roundRect">
            <a:avLst>
              <a:gd name="adj" fmla="val 14285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8172729" y="2000050"/>
            <a:ext cx="134188" cy="140578"/>
          </a:xfrm>
          <a:prstGeom prst="roundRect">
            <a:avLst>
              <a:gd name="adj" fmla="val 14285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8316502" y="2000050"/>
            <a:ext cx="134188" cy="140578"/>
          </a:xfrm>
          <a:prstGeom prst="roundRect">
            <a:avLst>
              <a:gd name="adj" fmla="val 14285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8460276" y="2000050"/>
            <a:ext cx="134188" cy="140578"/>
          </a:xfrm>
          <a:prstGeom prst="roundRect">
            <a:avLst>
              <a:gd name="adj" fmla="val 14285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8604050" y="2000050"/>
            <a:ext cx="134188" cy="140578"/>
          </a:xfrm>
          <a:prstGeom prst="roundRect">
            <a:avLst>
              <a:gd name="adj" fmla="val 14285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952301" y="1974490"/>
            <a:ext cx="268377" cy="19169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6" b="1" i="0">
                <a:solidFill>
                  <a:srgbClr val="222222"/>
                </a:solidFill>
                <a:latin typeface="Arial"/>
              </a:rPr>
              <a:t>N×</a:t>
            </a:r>
          </a:p>
        </p:txBody>
      </p:sp>
      <p:sp>
        <p:nvSpPr>
          <p:cNvPr id="177" name="Oval 176"/>
          <p:cNvSpPr/>
          <p:nvPr/>
        </p:nvSpPr>
        <p:spPr>
          <a:xfrm>
            <a:off x="8051320" y="2306767"/>
            <a:ext cx="140578" cy="140578"/>
          </a:xfrm>
          <a:prstGeom prst="ellipse">
            <a:avLst/>
          </a:prstGeom>
          <a:solidFill>
            <a:srgbClr val="FFFFFF"/>
          </a:solidFill>
          <a:ln w="12779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064100" y="2313157"/>
            <a:ext cx="115018" cy="12779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22222"/>
                </a:solidFill>
                <a:latin typeface="Arial"/>
              </a:rPr>
              <a:t>+</a:t>
            </a:r>
          </a:p>
        </p:txBody>
      </p:sp>
      <p:sp>
        <p:nvSpPr>
          <p:cNvPr id="179" name="Oval 178"/>
          <p:cNvSpPr/>
          <p:nvPr/>
        </p:nvSpPr>
        <p:spPr>
          <a:xfrm>
            <a:off x="8051320" y="2549584"/>
            <a:ext cx="140578" cy="140578"/>
          </a:xfrm>
          <a:prstGeom prst="ellipse">
            <a:avLst/>
          </a:prstGeom>
          <a:solidFill>
            <a:srgbClr val="FFFFFF"/>
          </a:solidFill>
          <a:ln w="12779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064100" y="2555974"/>
            <a:ext cx="115018" cy="12779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22222"/>
                </a:solidFill>
                <a:latin typeface="Arial"/>
              </a:rPr>
              <a:t>×</a:t>
            </a:r>
          </a:p>
        </p:txBody>
      </p:sp>
      <p:cxnSp>
        <p:nvCxnSpPr>
          <p:cNvPr id="181" name="Connector 180"/>
          <p:cNvCxnSpPr/>
          <p:nvPr/>
        </p:nvCxnSpPr>
        <p:spPr>
          <a:xfrm flipV="1">
            <a:off x="6881962" y="2377056"/>
            <a:ext cx="0" cy="2012830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6881962" y="2377056"/>
            <a:ext cx="1156578" cy="0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Isosceles Triangle 182"/>
          <p:cNvSpPr/>
          <p:nvPr/>
        </p:nvSpPr>
        <p:spPr>
          <a:xfrm rot="5400000">
            <a:off x="8006590" y="2345106"/>
            <a:ext cx="63899" cy="63899"/>
          </a:xfrm>
          <a:prstGeom prst="triangl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 flipV="1">
            <a:off x="6881962" y="2619874"/>
            <a:ext cx="0" cy="1770012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6881962" y="2619874"/>
            <a:ext cx="1156578" cy="0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Isosceles Triangle 185"/>
          <p:cNvSpPr/>
          <p:nvPr/>
        </p:nvSpPr>
        <p:spPr>
          <a:xfrm rot="5400000">
            <a:off x="8006590" y="2587924"/>
            <a:ext cx="63899" cy="63899"/>
          </a:xfrm>
          <a:prstGeom prst="triangl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7469836" y="2760452"/>
            <a:ext cx="1284377" cy="274767"/>
          </a:xfrm>
          <a:prstGeom prst="roundRect">
            <a:avLst>
              <a:gd name="adj" fmla="val 16279"/>
            </a:avLst>
          </a:prstGeom>
          <a:solidFill>
            <a:srgbClr val="D59ACA"/>
          </a:solidFill>
          <a:ln w="31949">
            <a:solidFill>
              <a:srgbClr val="F03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7572075" y="2798792"/>
            <a:ext cx="1086289" cy="1980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6" b="1" i="0">
                <a:solidFill>
                  <a:srgbClr val="222222"/>
                </a:solidFill>
                <a:latin typeface="Arial"/>
              </a:rPr>
              <a:t>Out Projection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7175899" y="3226918"/>
            <a:ext cx="472855" cy="268377"/>
          </a:xfrm>
          <a:prstGeom prst="roundRect">
            <a:avLst>
              <a:gd name="adj" fmla="val 11904"/>
            </a:avLst>
          </a:prstGeom>
          <a:solidFill>
            <a:srgbClr val="F0DCEC"/>
          </a:solidFill>
          <a:ln w="12779">
            <a:solidFill>
              <a:srgbClr val="F000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252578" y="3271647"/>
            <a:ext cx="319496" cy="1853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6" b="1" i="0">
                <a:solidFill>
                  <a:srgbClr val="222222"/>
                </a:solidFill>
                <a:latin typeface="Arial"/>
              </a:rPr>
              <a:t>MLP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8159949" y="3226918"/>
            <a:ext cx="1067119" cy="268377"/>
          </a:xfrm>
          <a:prstGeom prst="roundRect">
            <a:avLst>
              <a:gd name="adj" fmla="val 11904"/>
            </a:avLst>
          </a:prstGeom>
          <a:solidFill>
            <a:srgbClr val="F0DCEC"/>
          </a:solidFill>
          <a:ln w="12779">
            <a:solidFill>
              <a:srgbClr val="F000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8217458" y="3271647"/>
            <a:ext cx="952100" cy="1853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222222"/>
                </a:solidFill>
                <a:latin typeface="Arial"/>
              </a:rPr>
              <a:t>MM Attention</a:t>
            </a:r>
          </a:p>
        </p:txBody>
      </p:sp>
      <p:cxnSp>
        <p:nvCxnSpPr>
          <p:cNvPr id="193" name="Connector 192"/>
          <p:cNvCxnSpPr/>
          <p:nvPr/>
        </p:nvCxnSpPr>
        <p:spPr>
          <a:xfrm flipV="1">
            <a:off x="7412326" y="3111899"/>
            <a:ext cx="0" cy="115019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412326" y="3111899"/>
            <a:ext cx="1476076" cy="0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8888402" y="3111899"/>
            <a:ext cx="0" cy="115019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8121609" y="3035220"/>
            <a:ext cx="0" cy="76679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412326" y="3495295"/>
            <a:ext cx="0" cy="95849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412326" y="3591144"/>
            <a:ext cx="1476076" cy="0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888402" y="3495295"/>
            <a:ext cx="0" cy="95849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Rounded Rectangle 199"/>
          <p:cNvSpPr/>
          <p:nvPr/>
        </p:nvSpPr>
        <p:spPr>
          <a:xfrm>
            <a:off x="7476226" y="3686993"/>
            <a:ext cx="1290767" cy="268377"/>
          </a:xfrm>
          <a:prstGeom prst="roundRect">
            <a:avLst>
              <a:gd name="adj" fmla="val 14285"/>
            </a:avLst>
          </a:prstGeom>
          <a:solidFill>
            <a:srgbClr val="D59ACA"/>
          </a:solidFill>
          <a:ln w="12779">
            <a:solidFill>
              <a:srgbClr val="F000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7604024" y="3731723"/>
            <a:ext cx="1041559" cy="1853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222222"/>
                </a:solidFill>
                <a:latin typeface="Arial"/>
              </a:rPr>
              <a:t>Norm &amp; Mod</a:t>
            </a:r>
          </a:p>
        </p:txBody>
      </p:sp>
      <p:cxnSp>
        <p:nvCxnSpPr>
          <p:cNvPr id="202" name="Connector 201"/>
          <p:cNvCxnSpPr/>
          <p:nvPr/>
        </p:nvCxnSpPr>
        <p:spPr>
          <a:xfrm flipV="1">
            <a:off x="8121609" y="3968150"/>
            <a:ext cx="0" cy="230038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Isosceles Triangle 202"/>
          <p:cNvSpPr/>
          <p:nvPr/>
        </p:nvSpPr>
        <p:spPr>
          <a:xfrm>
            <a:off x="8096050" y="3942591"/>
            <a:ext cx="51119" cy="51119"/>
          </a:xfrm>
          <a:prstGeom prst="triangl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6990591" y="4185408"/>
            <a:ext cx="2223698" cy="351446"/>
          </a:xfrm>
          <a:prstGeom prst="roundRect">
            <a:avLst>
              <a:gd name="adj" fmla="val 23636"/>
            </a:avLst>
          </a:prstGeom>
          <a:solidFill>
            <a:srgbClr val="F5EDF4"/>
          </a:solidFill>
          <a:ln w="10862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7188679" y="4268477"/>
            <a:ext cx="178918" cy="185308"/>
          </a:xfrm>
          <a:prstGeom prst="roundRect">
            <a:avLst>
              <a:gd name="adj" fmla="val 10714"/>
            </a:avLst>
          </a:prstGeom>
          <a:solidFill>
            <a:srgbClr val="9BD1EE"/>
          </a:solidFill>
          <a:ln w="9584">
            <a:solidFill>
              <a:srgbClr val="2F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7380377" y="4268477"/>
            <a:ext cx="178918" cy="185308"/>
          </a:xfrm>
          <a:prstGeom prst="roundRect">
            <a:avLst>
              <a:gd name="adj" fmla="val 10714"/>
            </a:avLst>
          </a:prstGeom>
          <a:solidFill>
            <a:srgbClr val="9BD1EE"/>
          </a:solidFill>
          <a:ln w="9584">
            <a:solidFill>
              <a:srgbClr val="2F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7572075" y="4268477"/>
            <a:ext cx="178918" cy="185308"/>
          </a:xfrm>
          <a:prstGeom prst="roundRect">
            <a:avLst>
              <a:gd name="adj" fmla="val 10714"/>
            </a:avLst>
          </a:prstGeom>
          <a:solidFill>
            <a:srgbClr val="9BD1EE"/>
          </a:solidFill>
          <a:ln w="9584">
            <a:solidFill>
              <a:srgbClr val="2F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7840452" y="4198188"/>
            <a:ext cx="217257" cy="20447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1" i="0">
                <a:solidFill>
                  <a:srgbClr val="222222"/>
                </a:solidFill>
                <a:latin typeface="Arial"/>
              </a:rPr>
              <a:t>+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770163" y="4377106"/>
            <a:ext cx="351446" cy="1469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4" b="0" i="0">
                <a:solidFill>
                  <a:srgbClr val="222222"/>
                </a:solidFill>
                <a:latin typeface="Arial"/>
              </a:rPr>
              <a:t>concat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147169" y="4268477"/>
            <a:ext cx="178918" cy="185308"/>
          </a:xfrm>
          <a:prstGeom prst="roundRect">
            <a:avLst>
              <a:gd name="adj" fmla="val 10714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8338867" y="4268477"/>
            <a:ext cx="178918" cy="185308"/>
          </a:xfrm>
          <a:prstGeom prst="roundRect">
            <a:avLst>
              <a:gd name="adj" fmla="val 10714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8530565" y="4268477"/>
            <a:ext cx="178918" cy="185308"/>
          </a:xfrm>
          <a:prstGeom prst="roundRect">
            <a:avLst>
              <a:gd name="adj" fmla="val 10714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8722263" y="4268477"/>
            <a:ext cx="178918" cy="185308"/>
          </a:xfrm>
          <a:prstGeom prst="roundRect">
            <a:avLst>
              <a:gd name="adj" fmla="val 10714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8913962" y="4268477"/>
            <a:ext cx="178918" cy="185308"/>
          </a:xfrm>
          <a:prstGeom prst="roundRect">
            <a:avLst>
              <a:gd name="adj" fmla="val 10714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5" name="Connector 214"/>
          <p:cNvCxnSpPr/>
          <p:nvPr/>
        </p:nvCxnSpPr>
        <p:spPr>
          <a:xfrm>
            <a:off x="7316477" y="4536855"/>
            <a:ext cx="0" cy="210868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8805333" y="4536855"/>
            <a:ext cx="0" cy="210868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Rounded Rectangle 216"/>
          <p:cNvSpPr/>
          <p:nvPr/>
        </p:nvSpPr>
        <p:spPr>
          <a:xfrm>
            <a:off x="6824452" y="4754113"/>
            <a:ext cx="990440" cy="325886"/>
          </a:xfrm>
          <a:prstGeom prst="roundRect">
            <a:avLst>
              <a:gd name="adj" fmla="val 13725"/>
            </a:avLst>
          </a:prstGeom>
          <a:solidFill>
            <a:srgbClr val="C9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862792" y="4805232"/>
            <a:ext cx="913760" cy="23003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6" b="1" i="0">
                <a:solidFill>
                  <a:srgbClr val="222222"/>
                </a:solidFill>
                <a:latin typeface="Arial"/>
              </a:rPr>
              <a:t>Text Encoder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8070490" y="4754113"/>
            <a:ext cx="1559144" cy="325886"/>
          </a:xfrm>
          <a:prstGeom prst="roundRect">
            <a:avLst>
              <a:gd name="adj" fmla="val 13725"/>
            </a:avLst>
          </a:prstGeom>
          <a:solidFill>
            <a:srgbClr val="C9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179119" y="4805232"/>
            <a:ext cx="1361056" cy="23003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6" b="1" i="0">
                <a:solidFill>
                  <a:srgbClr val="222222"/>
                </a:solidFill>
                <a:latin typeface="Arial"/>
              </a:rPr>
              <a:t>Image Encoder</a:t>
            </a:r>
          </a:p>
        </p:txBody>
      </p:sp>
      <p:cxnSp>
        <p:nvCxnSpPr>
          <p:cNvPr id="221" name="Connector 220"/>
          <p:cNvCxnSpPr/>
          <p:nvPr/>
        </p:nvCxnSpPr>
        <p:spPr>
          <a:xfrm flipV="1">
            <a:off x="7316477" y="5099169"/>
            <a:ext cx="0" cy="434516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Isosceles Triangle 221"/>
          <p:cNvSpPr/>
          <p:nvPr/>
        </p:nvSpPr>
        <p:spPr>
          <a:xfrm>
            <a:off x="7287723" y="5070414"/>
            <a:ext cx="57509" cy="57509"/>
          </a:xfrm>
          <a:prstGeom prst="triangl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ounded Rectangle 222"/>
          <p:cNvSpPr/>
          <p:nvPr/>
        </p:nvSpPr>
        <p:spPr>
          <a:xfrm>
            <a:off x="6709433" y="5559245"/>
            <a:ext cx="1201308" cy="894591"/>
          </a:xfrm>
          <a:prstGeom prst="roundRect">
            <a:avLst>
              <a:gd name="adj" fmla="val 12142"/>
            </a:avLst>
          </a:prstGeom>
          <a:solidFill>
            <a:srgbClr val="FFFFFF"/>
          </a:solidFill>
          <a:ln w="12779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792502" y="5667874"/>
            <a:ext cx="1028779" cy="1853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5" b="1" i="0">
                <a:solidFill>
                  <a:srgbClr val="777777"/>
                </a:solidFill>
                <a:latin typeface="Arial"/>
              </a:rPr>
              <a:t>“ A diptych with ...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6773333" y="5859572"/>
            <a:ext cx="1079899" cy="36422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905" b="1" i="0">
                <a:solidFill>
                  <a:srgbClr val="222222"/>
                </a:solidFill>
                <a:latin typeface="Arial"/>
              </a:rPr>
              <a:t>but ‘what if it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905" b="1" i="0">
                <a:solidFill>
                  <a:srgbClr val="222222"/>
                </a:solidFill>
                <a:latin typeface="Arial"/>
              </a:rPr>
              <a:t>looks like water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905" b="1" i="0">
                <a:solidFill>
                  <a:srgbClr val="222222"/>
                </a:solidFill>
                <a:latin typeface="Arial"/>
              </a:rPr>
              <a:t>color painting?’ ”</a:t>
            </a:r>
          </a:p>
        </p:txBody>
      </p:sp>
      <p:pic>
        <p:nvPicPr>
          <p:cNvPr id="226" name="Picture 225" descr="girl_source_botto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8540" y="5520905"/>
            <a:ext cx="607044" cy="894591"/>
          </a:xfrm>
          <a:prstGeom prst="rect">
            <a:avLst/>
          </a:prstGeom>
          <a:effectLst/>
        </p:spPr>
      </p:pic>
      <p:sp>
        <p:nvSpPr>
          <p:cNvPr id="227" name="Rounded Rectangle 226"/>
          <p:cNvSpPr/>
          <p:nvPr/>
        </p:nvSpPr>
        <p:spPr>
          <a:xfrm>
            <a:off x="8038540" y="5520905"/>
            <a:ext cx="607044" cy="894591"/>
          </a:xfrm>
          <a:prstGeom prst="roundRect">
            <a:avLst>
              <a:gd name="adj" fmla="val 2105"/>
            </a:avLst>
          </a:prstGeom>
          <a:noFill/>
          <a:ln w="6389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217458" y="5265308"/>
            <a:ext cx="377006" cy="1853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5" b="1" i="0">
                <a:solidFill>
                  <a:srgbClr val="222222"/>
                </a:solidFill>
                <a:latin typeface="Arial"/>
              </a:rPr>
              <a:t>Image</a:t>
            </a:r>
          </a:p>
        </p:txBody>
      </p:sp>
      <p:cxnSp>
        <p:nvCxnSpPr>
          <p:cNvPr id="229" name="Connector 228"/>
          <p:cNvCxnSpPr/>
          <p:nvPr/>
        </p:nvCxnSpPr>
        <p:spPr>
          <a:xfrm flipV="1">
            <a:off x="8294138" y="5124729"/>
            <a:ext cx="0" cy="370616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Isosceles Triangle 229"/>
          <p:cNvSpPr/>
          <p:nvPr/>
        </p:nvSpPr>
        <p:spPr>
          <a:xfrm>
            <a:off x="8268578" y="5099169"/>
            <a:ext cx="51119" cy="51119"/>
          </a:xfrm>
          <a:prstGeom prst="triangl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8645584" y="5520905"/>
            <a:ext cx="543144" cy="894591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8818112" y="5265308"/>
            <a:ext cx="377006" cy="1853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5" b="1" i="0">
                <a:solidFill>
                  <a:srgbClr val="222222"/>
                </a:solidFill>
                <a:latin typeface="Arial"/>
              </a:rPr>
              <a:t>Mask</a:t>
            </a:r>
          </a:p>
        </p:txBody>
      </p:sp>
      <p:cxnSp>
        <p:nvCxnSpPr>
          <p:cNvPr id="233" name="Connector 232"/>
          <p:cNvCxnSpPr/>
          <p:nvPr/>
        </p:nvCxnSpPr>
        <p:spPr>
          <a:xfrm flipV="1">
            <a:off x="8907572" y="5124729"/>
            <a:ext cx="0" cy="370616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Isosceles Triangle 233"/>
          <p:cNvSpPr/>
          <p:nvPr/>
        </p:nvSpPr>
        <p:spPr>
          <a:xfrm>
            <a:off x="8882012" y="5099169"/>
            <a:ext cx="51119" cy="51119"/>
          </a:xfrm>
          <a:prstGeom prst="triangl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5" name="Picture 234" descr="noi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8729" y="5520905"/>
            <a:ext cx="607044" cy="894591"/>
          </a:xfrm>
          <a:prstGeom prst="rect">
            <a:avLst/>
          </a:prstGeom>
          <a:effectLst/>
        </p:spPr>
      </p:pic>
      <p:sp>
        <p:nvSpPr>
          <p:cNvPr id="236" name="TextBox 235"/>
          <p:cNvSpPr txBox="1"/>
          <p:nvPr/>
        </p:nvSpPr>
        <p:spPr>
          <a:xfrm>
            <a:off x="9329307" y="5265308"/>
            <a:ext cx="408955" cy="1853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5" b="1" i="0">
                <a:solidFill>
                  <a:srgbClr val="222222"/>
                </a:solidFill>
                <a:latin typeface="Arial"/>
              </a:rPr>
              <a:t>Noise</a:t>
            </a:r>
          </a:p>
        </p:txBody>
      </p:sp>
      <p:cxnSp>
        <p:nvCxnSpPr>
          <p:cNvPr id="237" name="Connector 236"/>
          <p:cNvCxnSpPr/>
          <p:nvPr/>
        </p:nvCxnSpPr>
        <p:spPr>
          <a:xfrm flipV="1">
            <a:off x="9572125" y="5124729"/>
            <a:ext cx="0" cy="370616"/>
          </a:xfrm>
          <a:prstGeom prst="line">
            <a:avLst/>
          </a:prstGeom>
          <a:ln w="12779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Isosceles Triangle 237"/>
          <p:cNvSpPr/>
          <p:nvPr/>
        </p:nvSpPr>
        <p:spPr>
          <a:xfrm>
            <a:off x="9546565" y="5099169"/>
            <a:ext cx="51119" cy="51119"/>
          </a:xfrm>
          <a:prstGeom prst="triangl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ounded Rectangle 238"/>
          <p:cNvSpPr/>
          <p:nvPr/>
        </p:nvSpPr>
        <p:spPr>
          <a:xfrm>
            <a:off x="9584905" y="370616"/>
            <a:ext cx="2562364" cy="3936201"/>
          </a:xfrm>
          <a:prstGeom prst="roundRect">
            <a:avLst>
              <a:gd name="adj" fmla="val 5486"/>
            </a:avLst>
          </a:prstGeom>
          <a:solidFill>
            <a:srgbClr val="EA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0658414" y="402566"/>
            <a:ext cx="1463295" cy="1980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7" b="1" i="0">
                <a:solidFill>
                  <a:srgbClr val="222222"/>
                </a:solidFill>
                <a:latin typeface="Arial"/>
              </a:rPr>
              <a:t>LoRA-MoE Module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10306968" y="747622"/>
            <a:ext cx="134188" cy="146968"/>
          </a:xfrm>
          <a:prstGeom prst="roundRect">
            <a:avLst>
              <a:gd name="adj" fmla="val 14285"/>
            </a:avLst>
          </a:prstGeom>
          <a:solidFill>
            <a:srgbClr val="9BD1EE"/>
          </a:solidFill>
          <a:ln w="9584">
            <a:solidFill>
              <a:srgbClr val="2F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ounded Rectangle 241"/>
          <p:cNvSpPr/>
          <p:nvPr/>
        </p:nvSpPr>
        <p:spPr>
          <a:xfrm>
            <a:off x="10450741" y="747622"/>
            <a:ext cx="134188" cy="146968"/>
          </a:xfrm>
          <a:prstGeom prst="roundRect">
            <a:avLst>
              <a:gd name="adj" fmla="val 14285"/>
            </a:avLst>
          </a:prstGeom>
          <a:solidFill>
            <a:srgbClr val="9BD1EE"/>
          </a:solidFill>
          <a:ln w="9584">
            <a:solidFill>
              <a:srgbClr val="2F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ounded Rectangle 242"/>
          <p:cNvSpPr/>
          <p:nvPr/>
        </p:nvSpPr>
        <p:spPr>
          <a:xfrm>
            <a:off x="10594515" y="747622"/>
            <a:ext cx="134188" cy="146968"/>
          </a:xfrm>
          <a:prstGeom prst="roundRect">
            <a:avLst>
              <a:gd name="adj" fmla="val 14285"/>
            </a:avLst>
          </a:prstGeom>
          <a:solidFill>
            <a:srgbClr val="9BD1EE"/>
          </a:solidFill>
          <a:ln w="9584">
            <a:solidFill>
              <a:srgbClr val="2F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ounded Rectangle 243"/>
          <p:cNvSpPr/>
          <p:nvPr/>
        </p:nvSpPr>
        <p:spPr>
          <a:xfrm>
            <a:off x="10738289" y="747622"/>
            <a:ext cx="134188" cy="146968"/>
          </a:xfrm>
          <a:prstGeom prst="roundRect">
            <a:avLst>
              <a:gd name="adj" fmla="val 14285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ounded Rectangle 244"/>
          <p:cNvSpPr/>
          <p:nvPr/>
        </p:nvSpPr>
        <p:spPr>
          <a:xfrm>
            <a:off x="10882062" y="747622"/>
            <a:ext cx="134188" cy="146968"/>
          </a:xfrm>
          <a:prstGeom prst="roundRect">
            <a:avLst>
              <a:gd name="adj" fmla="val 14285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ounded Rectangle 245"/>
          <p:cNvSpPr/>
          <p:nvPr/>
        </p:nvSpPr>
        <p:spPr>
          <a:xfrm>
            <a:off x="11025836" y="747622"/>
            <a:ext cx="134188" cy="146968"/>
          </a:xfrm>
          <a:prstGeom prst="roundRect">
            <a:avLst>
              <a:gd name="adj" fmla="val 14285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ounded Rectangle 246"/>
          <p:cNvSpPr/>
          <p:nvPr/>
        </p:nvSpPr>
        <p:spPr>
          <a:xfrm>
            <a:off x="11169609" y="747622"/>
            <a:ext cx="134188" cy="146968"/>
          </a:xfrm>
          <a:prstGeom prst="roundRect">
            <a:avLst>
              <a:gd name="adj" fmla="val 14285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ounded Rectangle 247"/>
          <p:cNvSpPr/>
          <p:nvPr/>
        </p:nvSpPr>
        <p:spPr>
          <a:xfrm>
            <a:off x="11313383" y="747622"/>
            <a:ext cx="134188" cy="146968"/>
          </a:xfrm>
          <a:prstGeom prst="roundRect">
            <a:avLst>
              <a:gd name="adj" fmla="val 14285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824553" y="1060729"/>
            <a:ext cx="140578" cy="140578"/>
          </a:xfrm>
          <a:prstGeom prst="ellipse">
            <a:avLst/>
          </a:prstGeom>
          <a:solidFill>
            <a:srgbClr val="FFFFFF"/>
          </a:solidFill>
          <a:ln w="12779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10837333" y="1067119"/>
            <a:ext cx="115018" cy="12779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7" b="0" i="0">
                <a:solidFill>
                  <a:srgbClr val="222222"/>
                </a:solidFill>
                <a:latin typeface="Arial"/>
              </a:rPr>
              <a:t>+</a:t>
            </a:r>
          </a:p>
        </p:txBody>
      </p:sp>
      <p:cxnSp>
        <p:nvCxnSpPr>
          <p:cNvPr id="251" name="Connector 250"/>
          <p:cNvCxnSpPr/>
          <p:nvPr/>
        </p:nvCxnSpPr>
        <p:spPr>
          <a:xfrm flipV="1">
            <a:off x="10894842" y="913760"/>
            <a:ext cx="0" cy="153359"/>
          </a:xfrm>
          <a:prstGeom prst="line">
            <a:avLst/>
          </a:prstGeom>
          <a:ln w="11501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Isosceles Triangle 251"/>
          <p:cNvSpPr/>
          <p:nvPr/>
        </p:nvSpPr>
        <p:spPr>
          <a:xfrm>
            <a:off x="10869282" y="888201"/>
            <a:ext cx="51119" cy="51119"/>
          </a:xfrm>
          <a:prstGeom prst="triangl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ounded Rectangle 252"/>
          <p:cNvSpPr/>
          <p:nvPr/>
        </p:nvSpPr>
        <p:spPr>
          <a:xfrm>
            <a:off x="9636024" y="1386616"/>
            <a:ext cx="1067119" cy="217257"/>
          </a:xfrm>
          <a:prstGeom prst="roundRect">
            <a:avLst>
              <a:gd name="adj" fmla="val 20588"/>
            </a:avLst>
          </a:prstGeom>
          <a:solidFill>
            <a:srgbClr val="EBC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9751043" y="1412176"/>
            <a:ext cx="843471" cy="16613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6" b="1" i="0">
                <a:solidFill>
                  <a:srgbClr val="222222"/>
                </a:solidFill>
                <a:latin typeface="Arial"/>
              </a:rPr>
              <a:t>Base Layer</a:t>
            </a:r>
          </a:p>
        </p:txBody>
      </p:sp>
      <p:sp>
        <p:nvSpPr>
          <p:cNvPr id="255" name="Can 254"/>
          <p:cNvSpPr/>
          <p:nvPr/>
        </p:nvSpPr>
        <p:spPr>
          <a:xfrm>
            <a:off x="10568955" y="1514415"/>
            <a:ext cx="119619" cy="156425"/>
          </a:xfrm>
          <a:prstGeom prst="can">
            <a:avLst/>
          </a:prstGeom>
          <a:solidFill>
            <a:srgbClr val="9DD9F4"/>
          </a:solidFill>
          <a:ln w="8306">
            <a:solidFill>
              <a:srgbClr val="2F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9744653" y="1111849"/>
            <a:ext cx="2313157" cy="2798792"/>
          </a:xfrm>
          <a:prstGeom prst="ellipse">
            <a:avLst/>
          </a:prstGeom>
          <a:noFill/>
          <a:ln w="11501">
            <a:solidFill>
              <a:srgbClr val="2222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7" name="Connector 256"/>
          <p:cNvCxnSpPr/>
          <p:nvPr/>
        </p:nvCxnSpPr>
        <p:spPr>
          <a:xfrm flipH="1" flipV="1">
            <a:off x="9891622" y="1648603"/>
            <a:ext cx="89459" cy="472856"/>
          </a:xfrm>
          <a:prstGeom prst="line">
            <a:avLst/>
          </a:prstGeom>
          <a:ln w="9584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Isosceles Triangle 257"/>
          <p:cNvSpPr/>
          <p:nvPr/>
        </p:nvSpPr>
        <p:spPr>
          <a:xfrm rot="20957213">
            <a:off x="9869257" y="1626238"/>
            <a:ext cx="44729" cy="44729"/>
          </a:xfrm>
          <a:prstGeom prst="triangl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9" name="Connector 258"/>
          <p:cNvCxnSpPr/>
          <p:nvPr/>
        </p:nvCxnSpPr>
        <p:spPr>
          <a:xfrm flipH="1" flipV="1">
            <a:off x="11744704" y="1699723"/>
            <a:ext cx="31949" cy="428126"/>
          </a:xfrm>
          <a:prstGeom prst="line">
            <a:avLst/>
          </a:prstGeom>
          <a:ln w="9584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Isosceles Triangle 259"/>
          <p:cNvSpPr/>
          <p:nvPr/>
        </p:nvSpPr>
        <p:spPr>
          <a:xfrm rot="21343926">
            <a:off x="11722339" y="1677358"/>
            <a:ext cx="44729" cy="44729"/>
          </a:xfrm>
          <a:prstGeom prst="triangl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1" name="Connector 260"/>
          <p:cNvCxnSpPr/>
          <p:nvPr/>
        </p:nvCxnSpPr>
        <p:spPr>
          <a:xfrm flipV="1">
            <a:off x="10319748" y="1303547"/>
            <a:ext cx="460075" cy="121408"/>
          </a:xfrm>
          <a:prstGeom prst="line">
            <a:avLst/>
          </a:prstGeom>
          <a:ln w="9584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Isosceles Triangle 261"/>
          <p:cNvSpPr/>
          <p:nvPr/>
        </p:nvSpPr>
        <p:spPr>
          <a:xfrm rot="4513036">
            <a:off x="10757458" y="1281182"/>
            <a:ext cx="44729" cy="44729"/>
          </a:xfrm>
          <a:prstGeom prst="triangl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 flipH="1" flipV="1">
            <a:off x="11022641" y="1258817"/>
            <a:ext cx="453685" cy="159749"/>
          </a:xfrm>
          <a:prstGeom prst="line">
            <a:avLst/>
          </a:prstGeom>
          <a:ln w="9584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Isosceles Triangle 263"/>
          <p:cNvSpPr/>
          <p:nvPr/>
        </p:nvSpPr>
        <p:spPr>
          <a:xfrm rot="17363869">
            <a:off x="11000276" y="1236452"/>
            <a:ext cx="44729" cy="44729"/>
          </a:xfrm>
          <a:prstGeom prst="triangl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rapezoid 264"/>
          <p:cNvSpPr/>
          <p:nvPr/>
        </p:nvSpPr>
        <p:spPr>
          <a:xfrm rot="10800000">
            <a:off x="9872452" y="1955320"/>
            <a:ext cx="396176" cy="274767"/>
          </a:xfrm>
          <a:prstGeom prst="trapezoid">
            <a:avLst/>
          </a:prstGeom>
          <a:solidFill>
            <a:srgbClr val="CFEAF8"/>
          </a:solidFill>
          <a:ln w="12779">
            <a:solidFill>
              <a:srgbClr val="6E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rapezoid 265"/>
          <p:cNvSpPr/>
          <p:nvPr/>
        </p:nvSpPr>
        <p:spPr>
          <a:xfrm>
            <a:off x="9872452" y="2268427"/>
            <a:ext cx="396176" cy="274767"/>
          </a:xfrm>
          <a:prstGeom prst="trapezoid">
            <a:avLst/>
          </a:prstGeom>
          <a:solidFill>
            <a:srgbClr val="CFEAF8"/>
          </a:solidFill>
          <a:ln w="12779">
            <a:solidFill>
              <a:srgbClr val="6E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ardrop 266"/>
          <p:cNvSpPr/>
          <p:nvPr/>
        </p:nvSpPr>
        <p:spPr>
          <a:xfrm rot="13500000">
            <a:off x="10186070" y="2339228"/>
            <a:ext cx="133421" cy="174828"/>
          </a:xfrm>
          <a:prstGeom prst="teardrop">
            <a:avLst/>
          </a:prstGeom>
          <a:solidFill>
            <a:srgbClr val="F04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ardrop 267"/>
          <p:cNvSpPr/>
          <p:nvPr/>
        </p:nvSpPr>
        <p:spPr>
          <a:xfrm rot="13500000">
            <a:off x="10227477" y="2412840"/>
            <a:ext cx="59809" cy="92015"/>
          </a:xfrm>
          <a:prstGeom prst="teardrop">
            <a:avLst/>
          </a:prstGeom>
          <a:solidFill>
            <a:srgbClr val="FF9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9821333" y="2562364"/>
            <a:ext cx="511194" cy="1469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5" b="1" i="0">
                <a:solidFill>
                  <a:srgbClr val="222222"/>
                </a:solidFill>
                <a:latin typeface="Arial"/>
              </a:rPr>
              <a:t>Expert 1</a:t>
            </a:r>
          </a:p>
        </p:txBody>
      </p:sp>
      <p:sp>
        <p:nvSpPr>
          <p:cNvPr id="270" name="Trapezoid 269"/>
          <p:cNvSpPr/>
          <p:nvPr/>
        </p:nvSpPr>
        <p:spPr>
          <a:xfrm rot="10800000">
            <a:off x="10396427" y="1955320"/>
            <a:ext cx="396176" cy="274767"/>
          </a:xfrm>
          <a:prstGeom prst="trapezoid">
            <a:avLst/>
          </a:prstGeom>
          <a:solidFill>
            <a:srgbClr val="CFEAF8"/>
          </a:solidFill>
          <a:ln w="12779">
            <a:solidFill>
              <a:srgbClr val="6E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rapezoid 270"/>
          <p:cNvSpPr/>
          <p:nvPr/>
        </p:nvSpPr>
        <p:spPr>
          <a:xfrm>
            <a:off x="10396427" y="2268427"/>
            <a:ext cx="396176" cy="274767"/>
          </a:xfrm>
          <a:prstGeom prst="trapezoid">
            <a:avLst/>
          </a:prstGeom>
          <a:solidFill>
            <a:srgbClr val="CFEAF8"/>
          </a:solidFill>
          <a:ln w="12779">
            <a:solidFill>
              <a:srgbClr val="6E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ardrop 271"/>
          <p:cNvSpPr/>
          <p:nvPr/>
        </p:nvSpPr>
        <p:spPr>
          <a:xfrm rot="13500000">
            <a:off x="10710045" y="2339228"/>
            <a:ext cx="133421" cy="174828"/>
          </a:xfrm>
          <a:prstGeom prst="teardrop">
            <a:avLst/>
          </a:prstGeom>
          <a:solidFill>
            <a:srgbClr val="F04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ardrop 272"/>
          <p:cNvSpPr/>
          <p:nvPr/>
        </p:nvSpPr>
        <p:spPr>
          <a:xfrm rot="13500000">
            <a:off x="10751452" y="2412840"/>
            <a:ext cx="59809" cy="92015"/>
          </a:xfrm>
          <a:prstGeom prst="teardrop">
            <a:avLst/>
          </a:prstGeom>
          <a:solidFill>
            <a:srgbClr val="FF9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0345307" y="2562364"/>
            <a:ext cx="511194" cy="1469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5" b="1" i="0">
                <a:solidFill>
                  <a:srgbClr val="222222"/>
                </a:solidFill>
                <a:latin typeface="Arial"/>
              </a:rPr>
              <a:t>Expert 2</a:t>
            </a:r>
          </a:p>
        </p:txBody>
      </p:sp>
      <p:sp>
        <p:nvSpPr>
          <p:cNvPr id="275" name="Trapezoid 274"/>
          <p:cNvSpPr/>
          <p:nvPr/>
        </p:nvSpPr>
        <p:spPr>
          <a:xfrm rot="10800000">
            <a:off x="10926792" y="1955320"/>
            <a:ext cx="396176" cy="274767"/>
          </a:xfrm>
          <a:prstGeom prst="trapezoid">
            <a:avLst/>
          </a:prstGeom>
          <a:solidFill>
            <a:srgbClr val="CFEAF8"/>
          </a:solidFill>
          <a:ln w="12779">
            <a:solidFill>
              <a:srgbClr val="6E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rapezoid 275"/>
          <p:cNvSpPr/>
          <p:nvPr/>
        </p:nvSpPr>
        <p:spPr>
          <a:xfrm>
            <a:off x="10926792" y="2268427"/>
            <a:ext cx="396176" cy="274767"/>
          </a:xfrm>
          <a:prstGeom prst="trapezoid">
            <a:avLst/>
          </a:prstGeom>
          <a:solidFill>
            <a:srgbClr val="CFEAF8"/>
          </a:solidFill>
          <a:ln w="12779">
            <a:solidFill>
              <a:srgbClr val="6E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ardrop 276"/>
          <p:cNvSpPr/>
          <p:nvPr/>
        </p:nvSpPr>
        <p:spPr>
          <a:xfrm rot="13500000">
            <a:off x="11240410" y="2339228"/>
            <a:ext cx="133421" cy="174828"/>
          </a:xfrm>
          <a:prstGeom prst="teardrop">
            <a:avLst/>
          </a:prstGeom>
          <a:solidFill>
            <a:srgbClr val="F04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ardrop 277"/>
          <p:cNvSpPr/>
          <p:nvPr/>
        </p:nvSpPr>
        <p:spPr>
          <a:xfrm rot="13500000">
            <a:off x="11281817" y="2412840"/>
            <a:ext cx="59809" cy="92015"/>
          </a:xfrm>
          <a:prstGeom prst="teardrop">
            <a:avLst/>
          </a:prstGeom>
          <a:solidFill>
            <a:srgbClr val="FF9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10875672" y="2562364"/>
            <a:ext cx="511194" cy="1469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5" b="1" i="0">
                <a:solidFill>
                  <a:srgbClr val="222222"/>
                </a:solidFill>
                <a:latin typeface="Arial"/>
              </a:rPr>
              <a:t>Expert 3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1437987" y="2242867"/>
            <a:ext cx="198088" cy="1853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1" i="0">
                <a:solidFill>
                  <a:srgbClr val="222222"/>
                </a:solidFill>
                <a:latin typeface="Arial"/>
              </a:rPr>
              <a:t>…</a:t>
            </a:r>
          </a:p>
        </p:txBody>
      </p:sp>
      <p:sp>
        <p:nvSpPr>
          <p:cNvPr id="281" name="Trapezoid 280"/>
          <p:cNvSpPr/>
          <p:nvPr/>
        </p:nvSpPr>
        <p:spPr>
          <a:xfrm rot="10800000">
            <a:off x="11591345" y="1955320"/>
            <a:ext cx="396176" cy="274767"/>
          </a:xfrm>
          <a:prstGeom prst="trapezoid">
            <a:avLst/>
          </a:prstGeom>
          <a:solidFill>
            <a:srgbClr val="CFEAF8"/>
          </a:solidFill>
          <a:ln w="12779">
            <a:solidFill>
              <a:srgbClr val="6E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rapezoid 281"/>
          <p:cNvSpPr/>
          <p:nvPr/>
        </p:nvSpPr>
        <p:spPr>
          <a:xfrm>
            <a:off x="11591345" y="2268427"/>
            <a:ext cx="396176" cy="274767"/>
          </a:xfrm>
          <a:prstGeom prst="trapezoid">
            <a:avLst/>
          </a:prstGeom>
          <a:solidFill>
            <a:srgbClr val="CFEAF8"/>
          </a:solidFill>
          <a:ln w="12779">
            <a:solidFill>
              <a:srgbClr val="6E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ardrop 282"/>
          <p:cNvSpPr/>
          <p:nvPr/>
        </p:nvSpPr>
        <p:spPr>
          <a:xfrm rot="13500000">
            <a:off x="11904963" y="2339228"/>
            <a:ext cx="133421" cy="174828"/>
          </a:xfrm>
          <a:prstGeom prst="teardrop">
            <a:avLst/>
          </a:prstGeom>
          <a:solidFill>
            <a:srgbClr val="F04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ardrop 283"/>
          <p:cNvSpPr/>
          <p:nvPr/>
        </p:nvSpPr>
        <p:spPr>
          <a:xfrm rot="13500000">
            <a:off x="11946370" y="2412840"/>
            <a:ext cx="59809" cy="92015"/>
          </a:xfrm>
          <a:prstGeom prst="teardrop">
            <a:avLst/>
          </a:prstGeom>
          <a:solidFill>
            <a:srgbClr val="FF9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11540226" y="2562364"/>
            <a:ext cx="511194" cy="1469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5" b="1" i="0">
                <a:solidFill>
                  <a:srgbClr val="222222"/>
                </a:solidFill>
                <a:latin typeface="Arial"/>
              </a:rPr>
              <a:t>Expert N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0191949" y="3041609"/>
            <a:ext cx="702893" cy="1853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5" b="1" i="0">
                <a:solidFill>
                  <a:srgbClr val="222222"/>
                </a:solidFill>
                <a:latin typeface="Arial"/>
              </a:rPr>
              <a:t>TopK=1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10690364" y="3086339"/>
            <a:ext cx="146968" cy="268377"/>
          </a:xfrm>
          <a:prstGeom prst="rect">
            <a:avLst/>
          </a:prstGeom>
          <a:solidFill>
            <a:srgbClr val="E3B5D6"/>
          </a:solidFill>
          <a:ln w="7667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0850112" y="2977710"/>
            <a:ext cx="146968" cy="377006"/>
          </a:xfrm>
          <a:prstGeom prst="rect">
            <a:avLst/>
          </a:prstGeom>
          <a:solidFill>
            <a:srgbClr val="E3B5D6"/>
          </a:solidFill>
          <a:ln w="7667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1009861" y="3086339"/>
            <a:ext cx="146968" cy="268377"/>
          </a:xfrm>
          <a:prstGeom prst="rect">
            <a:avLst/>
          </a:prstGeom>
          <a:solidFill>
            <a:srgbClr val="E3B5D6"/>
          </a:solidFill>
          <a:ln w="7667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0715924" y="3124679"/>
            <a:ext cx="95849" cy="1725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03429"/>
                </a:solidFill>
                <a:latin typeface="Arial"/>
              </a:rPr>
              <a:t>×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0875672" y="2984100"/>
            <a:ext cx="95849" cy="1725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6" b="1" i="0">
                <a:solidFill>
                  <a:srgbClr val="3AAA57"/>
                </a:solidFill>
                <a:latin typeface="Arial"/>
              </a:rPr>
              <a:t>✓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1035421" y="3124679"/>
            <a:ext cx="95849" cy="1725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03429"/>
                </a:solidFill>
                <a:latin typeface="Arial"/>
              </a:rPr>
              <a:t>×</a:t>
            </a:r>
          </a:p>
        </p:txBody>
      </p:sp>
      <p:sp>
        <p:nvSpPr>
          <p:cNvPr id="293" name="Rounded Rectangle 292"/>
          <p:cNvSpPr/>
          <p:nvPr/>
        </p:nvSpPr>
        <p:spPr>
          <a:xfrm>
            <a:off x="10543395" y="3399446"/>
            <a:ext cx="830691" cy="255597"/>
          </a:xfrm>
          <a:prstGeom prst="roundRect">
            <a:avLst>
              <a:gd name="adj" fmla="val 20000"/>
            </a:avLst>
          </a:prstGeom>
          <a:solidFill>
            <a:srgbClr val="C9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10741484" y="3437786"/>
            <a:ext cx="428125" cy="18530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6" b="1" i="0">
                <a:solidFill>
                  <a:srgbClr val="222222"/>
                </a:solidFill>
                <a:latin typeface="Arial"/>
              </a:rPr>
              <a:t>Route</a:t>
            </a:r>
          </a:p>
        </p:txBody>
      </p:sp>
      <p:sp>
        <p:nvSpPr>
          <p:cNvPr id="295" name="Teardrop 294"/>
          <p:cNvSpPr/>
          <p:nvPr/>
        </p:nvSpPr>
        <p:spPr>
          <a:xfrm rot="13500000">
            <a:off x="11238301" y="3436188"/>
            <a:ext cx="138981" cy="182113"/>
          </a:xfrm>
          <a:prstGeom prst="teardrop">
            <a:avLst/>
          </a:prstGeom>
          <a:solidFill>
            <a:srgbClr val="F04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ardrop 295"/>
          <p:cNvSpPr/>
          <p:nvPr/>
        </p:nvSpPr>
        <p:spPr>
          <a:xfrm rot="13500000">
            <a:off x="11281433" y="3512867"/>
            <a:ext cx="62301" cy="95849"/>
          </a:xfrm>
          <a:prstGeom prst="teardrop">
            <a:avLst/>
          </a:prstGeom>
          <a:solidFill>
            <a:srgbClr val="FF9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7" name="Connector 296"/>
          <p:cNvCxnSpPr/>
          <p:nvPr/>
        </p:nvCxnSpPr>
        <p:spPr>
          <a:xfrm flipV="1">
            <a:off x="10958741" y="3686993"/>
            <a:ext cx="0" cy="300327"/>
          </a:xfrm>
          <a:prstGeom prst="line">
            <a:avLst/>
          </a:prstGeom>
          <a:ln w="11501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Isosceles Triangle 297"/>
          <p:cNvSpPr/>
          <p:nvPr/>
        </p:nvSpPr>
        <p:spPr>
          <a:xfrm>
            <a:off x="10933182" y="3661433"/>
            <a:ext cx="51119" cy="51119"/>
          </a:xfrm>
          <a:prstGeom prst="triangl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ounded Rectangle 298"/>
          <p:cNvSpPr/>
          <p:nvPr/>
        </p:nvSpPr>
        <p:spPr>
          <a:xfrm>
            <a:off x="10390037" y="3993710"/>
            <a:ext cx="134188" cy="140578"/>
          </a:xfrm>
          <a:prstGeom prst="roundRect">
            <a:avLst>
              <a:gd name="adj" fmla="val 14285"/>
            </a:avLst>
          </a:prstGeom>
          <a:solidFill>
            <a:srgbClr val="9BD1EE"/>
          </a:solidFill>
          <a:ln w="9584">
            <a:solidFill>
              <a:srgbClr val="2F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0533811" y="3993710"/>
            <a:ext cx="134188" cy="140578"/>
          </a:xfrm>
          <a:prstGeom prst="roundRect">
            <a:avLst>
              <a:gd name="adj" fmla="val 14285"/>
            </a:avLst>
          </a:prstGeom>
          <a:solidFill>
            <a:srgbClr val="9BD1EE"/>
          </a:solidFill>
          <a:ln w="9584">
            <a:solidFill>
              <a:srgbClr val="2F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ounded Rectangle 300"/>
          <p:cNvSpPr/>
          <p:nvPr/>
        </p:nvSpPr>
        <p:spPr>
          <a:xfrm>
            <a:off x="10677584" y="3993710"/>
            <a:ext cx="134188" cy="140578"/>
          </a:xfrm>
          <a:prstGeom prst="roundRect">
            <a:avLst>
              <a:gd name="adj" fmla="val 14285"/>
            </a:avLst>
          </a:prstGeom>
          <a:solidFill>
            <a:srgbClr val="9BD1EE"/>
          </a:solidFill>
          <a:ln w="9584">
            <a:solidFill>
              <a:srgbClr val="2F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ounded Rectangle 301"/>
          <p:cNvSpPr/>
          <p:nvPr/>
        </p:nvSpPr>
        <p:spPr>
          <a:xfrm>
            <a:off x="10821358" y="3993710"/>
            <a:ext cx="134188" cy="140578"/>
          </a:xfrm>
          <a:prstGeom prst="roundRect">
            <a:avLst>
              <a:gd name="adj" fmla="val 14285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10965131" y="3993710"/>
            <a:ext cx="134188" cy="140578"/>
          </a:xfrm>
          <a:prstGeom prst="roundRect">
            <a:avLst>
              <a:gd name="adj" fmla="val 14285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ounded Rectangle 303"/>
          <p:cNvSpPr/>
          <p:nvPr/>
        </p:nvSpPr>
        <p:spPr>
          <a:xfrm>
            <a:off x="11108905" y="3993710"/>
            <a:ext cx="134188" cy="140578"/>
          </a:xfrm>
          <a:prstGeom prst="roundRect">
            <a:avLst>
              <a:gd name="adj" fmla="val 14285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ounded Rectangle 304"/>
          <p:cNvSpPr/>
          <p:nvPr/>
        </p:nvSpPr>
        <p:spPr>
          <a:xfrm>
            <a:off x="11252678" y="3993710"/>
            <a:ext cx="134188" cy="140578"/>
          </a:xfrm>
          <a:prstGeom prst="roundRect">
            <a:avLst>
              <a:gd name="adj" fmla="val 14285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1396452" y="3993710"/>
            <a:ext cx="134188" cy="140578"/>
          </a:xfrm>
          <a:prstGeom prst="roundRect">
            <a:avLst>
              <a:gd name="adj" fmla="val 14285"/>
            </a:avLst>
          </a:prstGeom>
          <a:solidFill>
            <a:srgbClr val="D59ACA"/>
          </a:solidFill>
          <a:ln w="9584">
            <a:solidFill>
              <a:srgbClr val="913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ounded Rectangle 306"/>
          <p:cNvSpPr/>
          <p:nvPr/>
        </p:nvSpPr>
        <p:spPr>
          <a:xfrm>
            <a:off x="9885232" y="4453786"/>
            <a:ext cx="2236477" cy="201283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4057">
            <a:solidFill>
              <a:srgbClr val="70C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ardrop 307"/>
          <p:cNvSpPr/>
          <p:nvPr/>
        </p:nvSpPr>
        <p:spPr>
          <a:xfrm rot="13500000">
            <a:off x="10141468" y="4505544"/>
            <a:ext cx="166777" cy="218535"/>
          </a:xfrm>
          <a:prstGeom prst="teardrop">
            <a:avLst/>
          </a:prstGeom>
          <a:solidFill>
            <a:srgbClr val="F04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ardrop 308"/>
          <p:cNvSpPr/>
          <p:nvPr/>
        </p:nvSpPr>
        <p:spPr>
          <a:xfrm rot="13500000">
            <a:off x="10193227" y="4597559"/>
            <a:ext cx="74762" cy="115018"/>
          </a:xfrm>
          <a:prstGeom prst="teardrop">
            <a:avLst/>
          </a:prstGeom>
          <a:solidFill>
            <a:srgbClr val="FF9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10441156" y="4530465"/>
            <a:ext cx="1508025" cy="26837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6" b="1" i="0">
                <a:solidFill>
                  <a:srgbClr val="222222"/>
                </a:solidFill>
                <a:latin typeface="Arial"/>
              </a:rPr>
              <a:t>: Trainabe Parameter</a:t>
            </a:r>
          </a:p>
        </p:txBody>
      </p:sp>
      <p:sp>
        <p:nvSpPr>
          <p:cNvPr id="311" name="Can 310"/>
          <p:cNvSpPr/>
          <p:nvPr/>
        </p:nvSpPr>
        <p:spPr>
          <a:xfrm>
            <a:off x="10108880" y="4907471"/>
            <a:ext cx="166138" cy="217257"/>
          </a:xfrm>
          <a:prstGeom prst="can">
            <a:avLst/>
          </a:prstGeom>
          <a:solidFill>
            <a:srgbClr val="9DD9F4"/>
          </a:solidFill>
          <a:ln w="8306">
            <a:solidFill>
              <a:srgbClr val="2F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10434767" y="4939421"/>
            <a:ext cx="1514415" cy="26837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6" b="1" i="0">
                <a:solidFill>
                  <a:srgbClr val="222222"/>
                </a:solidFill>
                <a:latin typeface="Arial"/>
              </a:rPr>
              <a:t>: Frozen Parameter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9974691" y="5297257"/>
            <a:ext cx="460075" cy="198088"/>
          </a:xfrm>
          <a:prstGeom prst="roundRect">
            <a:avLst>
              <a:gd name="adj" fmla="val 16129"/>
            </a:avLst>
          </a:prstGeom>
          <a:solidFill>
            <a:srgbClr val="F0DCEC"/>
          </a:solidFill>
          <a:ln w="12779">
            <a:solidFill>
              <a:srgbClr val="F000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0505056" y="5258918"/>
            <a:ext cx="1482465" cy="3067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222222"/>
                </a:solidFill>
                <a:latin typeface="Arial"/>
              </a:rPr>
              <a:t>: Standard LoRA Tuning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9974691" y="5674264"/>
            <a:ext cx="460075" cy="268377"/>
          </a:xfrm>
          <a:prstGeom prst="roundRect">
            <a:avLst>
              <a:gd name="adj" fmla="val 11904"/>
            </a:avLst>
          </a:prstGeom>
          <a:solidFill>
            <a:srgbClr val="D59ACA"/>
          </a:solidFill>
          <a:ln w="14696">
            <a:solidFill>
              <a:srgbClr val="F03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10505056" y="5655094"/>
            <a:ext cx="1463295" cy="3067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222222"/>
                </a:solidFill>
                <a:latin typeface="Arial"/>
              </a:rPr>
              <a:t>: LoRA-MoE Tuning</a:t>
            </a:r>
          </a:p>
        </p:txBody>
      </p:sp>
      <p:sp>
        <p:nvSpPr>
          <p:cNvPr id="317" name="Trapezoid 316"/>
          <p:cNvSpPr/>
          <p:nvPr/>
        </p:nvSpPr>
        <p:spPr>
          <a:xfrm rot="10800000">
            <a:off x="10064150" y="6006540"/>
            <a:ext cx="370616" cy="178918"/>
          </a:xfrm>
          <a:prstGeom prst="trapezoid">
            <a:avLst/>
          </a:prstGeom>
          <a:solidFill>
            <a:srgbClr val="CFEAF8"/>
          </a:solidFill>
          <a:ln w="12779">
            <a:solidFill>
              <a:srgbClr val="6E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rapezoid 317"/>
          <p:cNvSpPr/>
          <p:nvPr/>
        </p:nvSpPr>
        <p:spPr>
          <a:xfrm>
            <a:off x="10064150" y="6223798"/>
            <a:ext cx="370616" cy="178918"/>
          </a:xfrm>
          <a:prstGeom prst="trapezoid">
            <a:avLst/>
          </a:prstGeom>
          <a:solidFill>
            <a:srgbClr val="CFEAF8"/>
          </a:solidFill>
          <a:ln w="12779">
            <a:solidFill>
              <a:srgbClr val="6E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10511446" y="6051270"/>
            <a:ext cx="1418566" cy="3067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222222"/>
                </a:solidFill>
                <a:latin typeface="Arial"/>
              </a:rPr>
              <a:t>: LoRA Adapter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562314" y="6517735"/>
            <a:ext cx="5258918" cy="32588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1" b="1" i="0">
                <a:solidFill>
                  <a:srgbClr val="222222"/>
                </a:solidFill>
                <a:latin typeface="Liberation Serif"/>
              </a:rPr>
              <a:t>(a) Training-free Structure of ICEdit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7111999" y="6517735"/>
            <a:ext cx="4357936" cy="32588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1" b="1" i="0">
                <a:solidFill>
                  <a:srgbClr val="222222"/>
                </a:solidFill>
                <a:latin typeface="Liberation Serif"/>
              </a:rPr>
              <a:t>(b) Finetuning Strategy for ICEdit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Enabling Instructional Image Editing with In-Context Generation in Large Scale Diffusion Transformer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436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ICEdit Framework — Editable Reconstruction</dc:title>
  <dc:subject>Editable vector reconstruction from the supplied reference diagram</dc:subject>
  <dc:creator>OpenAI Codex</dc:creator>
  <cp:keywords/>
  <dc:description>All diagram elements are editable; photographs and noise swatches are replaceable images.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