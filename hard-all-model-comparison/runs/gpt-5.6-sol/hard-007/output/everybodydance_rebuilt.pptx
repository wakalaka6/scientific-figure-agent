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24" y="187890"/>
            <a:ext cx="1353888" cy="13487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6595" y="487172"/>
            <a:ext cx="58981" cy="59051"/>
          </a:xfrm>
          <a:prstGeom prst="ellipse">
            <a:avLst/>
          </a:prstGeom>
          <a:solidFill>
            <a:srgbClr val="00E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474799" y="563939"/>
            <a:ext cx="41287" cy="141723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445308" y="705662"/>
            <a:ext cx="29491" cy="171249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45308" y="876911"/>
            <a:ext cx="29491" cy="206679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68901" y="1083590"/>
            <a:ext cx="5898" cy="188964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6086" y="563939"/>
            <a:ext cx="47185" cy="141723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271" y="705662"/>
            <a:ext cx="47185" cy="159439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86863" y="865101"/>
            <a:ext cx="23593" cy="224394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6863" y="1089495"/>
            <a:ext cx="11796" cy="183059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4799" y="705662"/>
            <a:ext cx="0" cy="11810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62734" y="717472"/>
            <a:ext cx="112065" cy="200775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3271" y="705662"/>
            <a:ext cx="0" cy="11810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3271" y="717472"/>
            <a:ext cx="129758" cy="194870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4799" y="705662"/>
            <a:ext cx="88472" cy="0"/>
          </a:xfrm>
          <a:prstGeom prst="line">
            <a:avLst/>
          </a:prstGeom>
          <a:ln w="25704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6877" y="508310"/>
            <a:ext cx="56970" cy="57038"/>
          </a:xfrm>
          <a:prstGeom prst="ellipse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965483" y="582460"/>
            <a:ext cx="39879" cy="136891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36997" y="719351"/>
            <a:ext cx="28486" cy="165411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6997" y="884762"/>
            <a:ext cx="28486" cy="199634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59786" y="1084396"/>
            <a:ext cx="5697" cy="182522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362" y="582460"/>
            <a:ext cx="45576" cy="136891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0938" y="719351"/>
            <a:ext cx="45577" cy="154003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73727" y="873354"/>
            <a:ext cx="22788" cy="216745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3727" y="1090099"/>
            <a:ext cx="11394" cy="176819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5483" y="719351"/>
            <a:ext cx="0" cy="11408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57239" y="730759"/>
            <a:ext cx="108244" cy="193930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0938" y="719351"/>
            <a:ext cx="0" cy="11408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50938" y="730759"/>
            <a:ext cx="125336" cy="188226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5483" y="719351"/>
            <a:ext cx="85455" cy="0"/>
          </a:xfrm>
          <a:prstGeom prst="line">
            <a:avLst/>
          </a:prstGeom>
          <a:ln w="24828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024" y="1543385"/>
            <a:ext cx="1353888" cy="2952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B2B2B"/>
                </a:solidFill>
                <a:latin typeface="DejaVu Sans Mono"/>
              </a:rPr>
              <a:t>Ref Pose</a:t>
            </a:r>
          </a:p>
        </p:txBody>
      </p:sp>
      <p:pic>
        <p:nvPicPr>
          <p:cNvPr id="32" name="Picture 31" descr="ref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6" y="1845352"/>
            <a:ext cx="1353888" cy="13554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024" y="3200847"/>
            <a:ext cx="1353888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B2B2B"/>
                </a:solidFill>
                <a:latin typeface="DejaVu Sans Mono"/>
              </a:rPr>
              <a:t>Ref Img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7453" y="3663863"/>
            <a:ext cx="1353888" cy="1355495"/>
          </a:xfrm>
          <a:prstGeom prst="rect">
            <a:avLst/>
          </a:prstGeom>
          <a:solidFill>
            <a:srgbClr val="050505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238" y="3704125"/>
            <a:ext cx="1353888" cy="1355495"/>
          </a:xfrm>
          <a:prstGeom prst="rect">
            <a:avLst/>
          </a:prstGeom>
          <a:solidFill>
            <a:srgbClr val="050505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24" y="3744387"/>
            <a:ext cx="1353888" cy="1355495"/>
          </a:xfrm>
          <a:prstGeom prst="rect">
            <a:avLst/>
          </a:prstGeom>
          <a:solidFill>
            <a:srgbClr val="050505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3968" y="4098024"/>
            <a:ext cx="57640" cy="57709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>
            <a:off x="505496" y="4173046"/>
            <a:ext cx="17292" cy="144273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78686" y="4317319"/>
            <a:ext cx="126810" cy="144273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92225" y="4357715"/>
            <a:ext cx="86461" cy="103877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2788" y="4173046"/>
            <a:ext cx="0" cy="150043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2788" y="4323089"/>
            <a:ext cx="144102" cy="103877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66890" y="4357715"/>
            <a:ext cx="97989" cy="69251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5496" y="4317319"/>
            <a:ext cx="0" cy="5770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19035" y="4323089"/>
            <a:ext cx="86461" cy="230837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78686" y="4553926"/>
            <a:ext cx="40349" cy="236608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2788" y="4323089"/>
            <a:ext cx="0" cy="0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22788" y="4323089"/>
            <a:ext cx="103753" cy="219295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26541" y="4542384"/>
            <a:ext cx="97990" cy="190441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05496" y="4317319"/>
            <a:ext cx="17292" cy="5770"/>
          </a:xfrm>
          <a:prstGeom prst="line">
            <a:avLst/>
          </a:prstGeom>
          <a:ln w="25120">
            <a:solidFill>
              <a:srgbClr val="FF4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44370" y="4159759"/>
            <a:ext cx="54959" cy="55025"/>
          </a:xfrm>
          <a:prstGeom prst="ellipse">
            <a:avLst/>
          </a:prstGeom>
          <a:solidFill>
            <a:srgbClr val="00E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>
            <a:off x="955362" y="4231292"/>
            <a:ext cx="16488" cy="137562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834450" y="4368854"/>
            <a:ext cx="120912" cy="137563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752011" y="4407372"/>
            <a:ext cx="82439" cy="99045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71850" y="4231292"/>
            <a:ext cx="0" cy="143065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71850" y="4374357"/>
            <a:ext cx="137399" cy="99045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09249" y="4407372"/>
            <a:ext cx="93432" cy="66030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5362" y="4368854"/>
            <a:ext cx="0" cy="5503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72922" y="4374357"/>
            <a:ext cx="82440" cy="220100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834450" y="4594457"/>
            <a:ext cx="38472" cy="225603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1850" y="4374357"/>
            <a:ext cx="0" cy="0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1850" y="4374357"/>
            <a:ext cx="98928" cy="209095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70778" y="4583452"/>
            <a:ext cx="93431" cy="181583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55362" y="4368854"/>
            <a:ext cx="16488" cy="5503"/>
          </a:xfrm>
          <a:prstGeom prst="line">
            <a:avLst/>
          </a:prstGeom>
          <a:ln w="23952">
            <a:solidFill>
              <a:srgbClr val="00E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7024" y="5113303"/>
            <a:ext cx="1353888" cy="3086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B2B2B"/>
                </a:solidFill>
                <a:latin typeface="DejaVu Sans Mono"/>
              </a:rPr>
              <a:t>Tgt Pose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1347185" y="4945544"/>
            <a:ext cx="241287" cy="268414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87400" y="5126724"/>
            <a:ext cx="140750" cy="154338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903486" y="375780"/>
            <a:ext cx="609920" cy="966294"/>
          </a:xfrm>
          <a:custGeom>
            <a:avLst/>
            <a:gdLst/>
            <a:ahLst/>
            <a:cxnLst/>
            <a:rect l="l" t="t" r="r" b="b"/>
            <a:pathLst>
              <a:path w="609920" h="966294">
                <a:moveTo>
                  <a:pt x="0" y="0"/>
                </a:moveTo>
                <a:lnTo>
                  <a:pt x="609920" y="241574"/>
                </a:lnTo>
                <a:lnTo>
                  <a:pt x="609920" y="724720"/>
                </a:lnTo>
                <a:lnTo>
                  <a:pt x="0" y="966294"/>
                </a:lnTo>
                <a:close/>
              </a:path>
            </a:pathLst>
          </a:custGeom>
          <a:solidFill>
            <a:srgbClr val="FBFBFB"/>
          </a:solidFill>
          <a:ln w="1778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10188" y="556960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Pose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10188" y="838796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Enc</a:t>
            </a:r>
          </a:p>
        </p:txBody>
      </p:sp>
      <p:sp>
        <p:nvSpPr>
          <p:cNvPr id="71" name="Freeform 70"/>
          <p:cNvSpPr/>
          <p:nvPr/>
        </p:nvSpPr>
        <p:spPr>
          <a:xfrm>
            <a:off x="1903486" y="1449440"/>
            <a:ext cx="609920" cy="973004"/>
          </a:xfrm>
          <a:custGeom>
            <a:avLst/>
            <a:gdLst/>
            <a:ahLst/>
            <a:cxnLst/>
            <a:rect l="l" t="t" r="r" b="b"/>
            <a:pathLst>
              <a:path w="609920" h="973004">
                <a:moveTo>
                  <a:pt x="0" y="0"/>
                </a:moveTo>
                <a:lnTo>
                  <a:pt x="609920" y="241573"/>
                </a:lnTo>
                <a:lnTo>
                  <a:pt x="609920" y="731430"/>
                </a:lnTo>
                <a:lnTo>
                  <a:pt x="0" y="973004"/>
                </a:lnTo>
                <a:close/>
              </a:path>
            </a:pathLst>
          </a:custGeom>
          <a:solidFill>
            <a:srgbClr val="FBFBFB"/>
          </a:solidFill>
          <a:ln w="1778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10188" y="1633975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VAE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10188" y="1915811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Enc</a:t>
            </a:r>
          </a:p>
        </p:txBody>
      </p:sp>
      <p:sp>
        <p:nvSpPr>
          <p:cNvPr id="74" name="Freeform 73"/>
          <p:cNvSpPr/>
          <p:nvPr/>
        </p:nvSpPr>
        <p:spPr>
          <a:xfrm>
            <a:off x="1903486" y="2543230"/>
            <a:ext cx="609920" cy="993135"/>
          </a:xfrm>
          <a:custGeom>
            <a:avLst/>
            <a:gdLst/>
            <a:ahLst/>
            <a:cxnLst/>
            <a:rect l="l" t="t" r="r" b="b"/>
            <a:pathLst>
              <a:path w="609920" h="993135">
                <a:moveTo>
                  <a:pt x="0" y="0"/>
                </a:moveTo>
                <a:lnTo>
                  <a:pt x="609920" y="241574"/>
                </a:lnTo>
                <a:lnTo>
                  <a:pt x="609920" y="751562"/>
                </a:lnTo>
                <a:lnTo>
                  <a:pt x="0" y="993135"/>
                </a:lnTo>
                <a:close/>
              </a:path>
            </a:pathLst>
          </a:custGeom>
          <a:solidFill>
            <a:srgbClr val="FBFBFB"/>
          </a:solidFill>
          <a:ln w="1778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10188" y="2872039"/>
            <a:ext cx="603217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CLIP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420912" y="852217"/>
            <a:ext cx="482574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427614" y="2502968"/>
            <a:ext cx="234585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662199" y="1952718"/>
            <a:ext cx="0" cy="109379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662199" y="1952718"/>
            <a:ext cx="241287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662199" y="3046508"/>
            <a:ext cx="241287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513406" y="832086"/>
            <a:ext cx="442359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955765" y="832086"/>
            <a:ext cx="0" cy="442884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513406" y="1952718"/>
            <a:ext cx="442359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955765" y="1523254"/>
            <a:ext cx="0" cy="429464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828419" y="1268260"/>
            <a:ext cx="254691" cy="25499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828419" y="1395757"/>
            <a:ext cx="254692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55765" y="1268260"/>
            <a:ext cx="0" cy="254994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083111" y="1395757"/>
            <a:ext cx="375335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458446" y="161048"/>
            <a:ext cx="2808313" cy="2489548"/>
          </a:xfrm>
          <a:custGeom>
            <a:avLst/>
            <a:gdLst/>
            <a:ahLst/>
            <a:cxnLst/>
            <a:rect l="l" t="t" r="r" b="b"/>
            <a:pathLst>
              <a:path w="2808313" h="2489548">
                <a:moveTo>
                  <a:pt x="0" y="0"/>
                </a:moveTo>
                <a:lnTo>
                  <a:pt x="2808313" y="657617"/>
                </a:lnTo>
                <a:lnTo>
                  <a:pt x="2808313" y="1818511"/>
                </a:lnTo>
                <a:lnTo>
                  <a:pt x="0" y="2489548"/>
                </a:lnTo>
                <a:close/>
              </a:path>
            </a:pathLst>
          </a:custGeom>
          <a:solidFill>
            <a:srgbClr val="DC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6266759" y="161048"/>
            <a:ext cx="2801610" cy="2489548"/>
          </a:xfrm>
          <a:custGeom>
            <a:avLst/>
            <a:gdLst/>
            <a:ahLst/>
            <a:cxnLst/>
            <a:rect l="l" t="t" r="r" b="b"/>
            <a:pathLst>
              <a:path w="2801610" h="2489548">
                <a:moveTo>
                  <a:pt x="0" y="657617"/>
                </a:moveTo>
                <a:lnTo>
                  <a:pt x="2801610" y="0"/>
                </a:lnTo>
                <a:lnTo>
                  <a:pt x="2801610" y="2489548"/>
                </a:lnTo>
                <a:lnTo>
                  <a:pt x="0" y="1818511"/>
                </a:lnTo>
                <a:close/>
              </a:path>
            </a:pathLst>
          </a:custGeom>
          <a:solidFill>
            <a:srgbClr val="DC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54694" y="261704"/>
            <a:ext cx="202412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B2B2B"/>
                </a:solidFill>
                <a:latin typeface="DejaVu Sans"/>
              </a:rPr>
              <a:t>ReferenceNet</a:t>
            </a:r>
          </a:p>
        </p:txBody>
      </p:sp>
      <p:sp>
        <p:nvSpPr>
          <p:cNvPr id="92" name="Freeform 91"/>
          <p:cNvSpPr/>
          <p:nvPr/>
        </p:nvSpPr>
        <p:spPr>
          <a:xfrm>
            <a:off x="3458446" y="3234399"/>
            <a:ext cx="2808313" cy="2476127"/>
          </a:xfrm>
          <a:custGeom>
            <a:avLst/>
            <a:gdLst/>
            <a:ahLst/>
            <a:cxnLst/>
            <a:rect l="l" t="t" r="r" b="b"/>
            <a:pathLst>
              <a:path w="2808313" h="2476127">
                <a:moveTo>
                  <a:pt x="0" y="0"/>
                </a:moveTo>
                <a:lnTo>
                  <a:pt x="2808313" y="650906"/>
                </a:lnTo>
                <a:lnTo>
                  <a:pt x="2808313" y="1818510"/>
                </a:lnTo>
                <a:lnTo>
                  <a:pt x="0" y="2476127"/>
                </a:lnTo>
                <a:close/>
              </a:path>
            </a:pathLst>
          </a:custGeom>
          <a:solidFill>
            <a:srgbClr val="FF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266759" y="3234399"/>
            <a:ext cx="2801610" cy="2476127"/>
          </a:xfrm>
          <a:custGeom>
            <a:avLst/>
            <a:gdLst/>
            <a:ahLst/>
            <a:cxnLst/>
            <a:rect l="l" t="t" r="r" b="b"/>
            <a:pathLst>
              <a:path w="2801610" h="2476127">
                <a:moveTo>
                  <a:pt x="0" y="650906"/>
                </a:moveTo>
                <a:lnTo>
                  <a:pt x="2801610" y="0"/>
                </a:lnTo>
                <a:lnTo>
                  <a:pt x="2801610" y="2476127"/>
                </a:lnTo>
                <a:lnTo>
                  <a:pt x="0" y="1818510"/>
                </a:lnTo>
                <a:close/>
              </a:path>
            </a:pathLst>
          </a:custGeom>
          <a:solidFill>
            <a:srgbClr val="FF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34587" y="3368606"/>
            <a:ext cx="2077749" cy="362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B2B2B"/>
                </a:solidFill>
                <a:latin typeface="DejaVu Sans"/>
              </a:rPr>
              <a:t>DenoisingNet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79626" y="677747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947723" y="677747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026812" y="993135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294908" y="993135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823059" y="999845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091156" y="999845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176947" y="691168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445044" y="691168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679626" y="3744387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947723" y="3744387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215819" y="3744387"/>
            <a:ext cx="214477" cy="1127342"/>
          </a:xfrm>
          <a:prstGeom prst="roundRect">
            <a:avLst/>
          </a:prstGeom>
          <a:solidFill>
            <a:srgbClr val="F2BC96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026812" y="4053064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294908" y="4053064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563005" y="4053064"/>
            <a:ext cx="214477" cy="1127342"/>
          </a:xfrm>
          <a:prstGeom prst="roundRect">
            <a:avLst/>
          </a:prstGeom>
          <a:solidFill>
            <a:srgbClr val="F2BC96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823059" y="4053064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809654" y="4039643"/>
            <a:ext cx="241286" cy="1154183"/>
          </a:xfrm>
          <a:prstGeom prst="roundRect">
            <a:avLst/>
          </a:prstGeom>
          <a:solidFill>
            <a:srgbClr val="7895C5"/>
          </a:solidFill>
          <a:ln w="2032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091156" y="4053064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359253" y="4053064"/>
            <a:ext cx="214477" cy="1127342"/>
          </a:xfrm>
          <a:prstGeom prst="roundRect">
            <a:avLst/>
          </a:prstGeom>
          <a:solidFill>
            <a:srgbClr val="F2BC96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176947" y="3744387"/>
            <a:ext cx="214477" cy="1127342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163543" y="3730966"/>
            <a:ext cx="241286" cy="1154183"/>
          </a:xfrm>
          <a:prstGeom prst="roundRect">
            <a:avLst/>
          </a:prstGeom>
          <a:solidFill>
            <a:srgbClr val="7895C5"/>
          </a:solidFill>
          <a:ln w="2032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445044" y="3744387"/>
            <a:ext cx="214477" cy="1127342"/>
          </a:xfrm>
          <a:prstGeom prst="roundRect">
            <a:avLst/>
          </a:prstGeom>
          <a:solidFill>
            <a:srgbClr val="C2DDC9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713141" y="3744387"/>
            <a:ext cx="214477" cy="1127342"/>
          </a:xfrm>
          <a:prstGeom prst="roundRect">
            <a:avLst/>
          </a:prstGeom>
          <a:solidFill>
            <a:srgbClr val="F2BC96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09653" y="1207866"/>
            <a:ext cx="41554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666666"/>
                </a:solidFill>
                <a:latin typeface="DejaVu Sans Mono"/>
              </a:rPr>
              <a:t>···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58448" y="1207866"/>
            <a:ext cx="41554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666666"/>
                </a:solidFill>
                <a:latin typeface="DejaVu Sans Mono"/>
              </a:rPr>
              <a:t>···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39682" y="1207866"/>
            <a:ext cx="41554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666666"/>
                </a:solidFill>
                <a:latin typeface="DejaVu Sans Mono"/>
              </a:rPr>
              <a:t>···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36999" y="4274506"/>
            <a:ext cx="41554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666666"/>
                </a:solidFill>
                <a:latin typeface="DejaVu Sans Mono"/>
              </a:rPr>
              <a:t>···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91960" y="4274506"/>
            <a:ext cx="41554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666666"/>
                </a:solidFill>
                <a:latin typeface="DejaVu Sans Mono"/>
              </a:rPr>
              <a:t>···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93837" y="4274506"/>
            <a:ext cx="415549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666666"/>
                </a:solidFill>
                <a:latin typeface="DejaVu Sans Mono"/>
              </a:rPr>
              <a:t>···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786865" y="1805090"/>
            <a:ext cx="0" cy="116760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786865" y="2972694"/>
            <a:ext cx="67024" cy="6039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853889" y="3033088"/>
            <a:ext cx="0" cy="590512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3786865" y="3623600"/>
            <a:ext cx="67024" cy="120787"/>
          </a:xfrm>
          <a:prstGeom prst="line">
            <a:avLst/>
          </a:prstGeom>
          <a:ln w="19050">
            <a:solidFill>
              <a:srgbClr val="4C78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134050" y="2120477"/>
            <a:ext cx="0" cy="116089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134050" y="3281371"/>
            <a:ext cx="67025" cy="6039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201075" y="3341765"/>
            <a:ext cx="0" cy="590512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5134050" y="3932277"/>
            <a:ext cx="67025" cy="120787"/>
          </a:xfrm>
          <a:prstGeom prst="line">
            <a:avLst/>
          </a:prstGeom>
          <a:ln w="19050">
            <a:solidFill>
              <a:srgbClr val="4C78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930298" y="2127187"/>
            <a:ext cx="0" cy="115418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930298" y="3281371"/>
            <a:ext cx="67024" cy="6039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997322" y="3341765"/>
            <a:ext cx="0" cy="590512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6930298" y="3932277"/>
            <a:ext cx="67024" cy="120787"/>
          </a:xfrm>
          <a:prstGeom prst="line">
            <a:avLst/>
          </a:prstGeom>
          <a:ln w="19050">
            <a:solidFill>
              <a:srgbClr val="4C78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284186" y="1818510"/>
            <a:ext cx="0" cy="115418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284186" y="2972694"/>
            <a:ext cx="67024" cy="60394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351210" y="3033088"/>
            <a:ext cx="0" cy="590512"/>
          </a:xfrm>
          <a:prstGeom prst="line">
            <a:avLst/>
          </a:prstGeom>
          <a:ln w="1905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8284186" y="3623600"/>
            <a:ext cx="67024" cy="120787"/>
          </a:xfrm>
          <a:prstGeom prst="line">
            <a:avLst/>
          </a:prstGeom>
          <a:ln w="19050">
            <a:solidFill>
              <a:srgbClr val="4C78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054961" y="1805090"/>
            <a:ext cx="0" cy="1939297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5402147" y="2120477"/>
            <a:ext cx="0" cy="1932587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198395" y="2127187"/>
            <a:ext cx="0" cy="1925877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552283" y="1818510"/>
            <a:ext cx="0" cy="1925877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513406" y="3046508"/>
            <a:ext cx="6038877" cy="0"/>
          </a:xfrm>
          <a:prstGeom prst="line">
            <a:avLst/>
          </a:prstGeom>
          <a:ln w="19050">
            <a:solidFill>
              <a:srgbClr val="238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054961" y="3046508"/>
            <a:ext cx="0" cy="697879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5402147" y="3046508"/>
            <a:ext cx="0" cy="1006556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198395" y="3046508"/>
            <a:ext cx="0" cy="1006556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552283" y="3046508"/>
            <a:ext cx="0" cy="697879"/>
          </a:xfrm>
          <a:prstGeom prst="line">
            <a:avLst/>
          </a:prstGeom>
          <a:ln w="19050">
            <a:solidFill>
              <a:srgbClr val="2382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Freeform 147"/>
          <p:cNvSpPr/>
          <p:nvPr/>
        </p:nvSpPr>
        <p:spPr>
          <a:xfrm>
            <a:off x="1903486" y="3985960"/>
            <a:ext cx="609920" cy="993135"/>
          </a:xfrm>
          <a:custGeom>
            <a:avLst/>
            <a:gdLst/>
            <a:ahLst/>
            <a:cxnLst/>
            <a:rect l="l" t="t" r="r" b="b"/>
            <a:pathLst>
              <a:path w="609920" h="993135">
                <a:moveTo>
                  <a:pt x="0" y="0"/>
                </a:moveTo>
                <a:lnTo>
                  <a:pt x="609920" y="241574"/>
                </a:lnTo>
                <a:lnTo>
                  <a:pt x="609920" y="751562"/>
                </a:lnTo>
                <a:lnTo>
                  <a:pt x="0" y="993135"/>
                </a:lnTo>
                <a:close/>
              </a:path>
            </a:pathLst>
          </a:custGeom>
          <a:solidFill>
            <a:srgbClr val="FBFBFB"/>
          </a:solidFill>
          <a:ln w="1778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910188" y="4180561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Pose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910188" y="4462397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Enc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420912" y="4482528"/>
            <a:ext cx="482574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513406" y="4482528"/>
            <a:ext cx="315013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2828419" y="4355031"/>
            <a:ext cx="254691" cy="25499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2828419" y="4482528"/>
            <a:ext cx="254692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955765" y="4355031"/>
            <a:ext cx="0" cy="254994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083111" y="4482528"/>
            <a:ext cx="375335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80161" y="5375007"/>
            <a:ext cx="898123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B2B2B"/>
                </a:solidFill>
                <a:latin typeface="DejaVu Sans Mono"/>
              </a:rPr>
              <a:t>Noise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394102" y="5650133"/>
            <a:ext cx="938338" cy="993135"/>
          </a:xfrm>
          <a:prstGeom prst="rect">
            <a:avLst/>
          </a:prstGeom>
          <a:solidFill>
            <a:srgbClr val="BDBDBD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327078" y="5717236"/>
            <a:ext cx="938338" cy="993135"/>
          </a:xfrm>
          <a:prstGeom prst="rect">
            <a:avLst/>
          </a:prstGeom>
          <a:solidFill>
            <a:srgbClr val="BDBDBD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266756" y="5777630"/>
            <a:ext cx="938338" cy="993135"/>
          </a:xfrm>
          <a:prstGeom prst="rect">
            <a:avLst/>
          </a:prstGeom>
          <a:solidFill>
            <a:srgbClr val="BDBDBD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206434" y="5838023"/>
            <a:ext cx="938338" cy="993135"/>
          </a:xfrm>
          <a:prstGeom prst="rect">
            <a:avLst/>
          </a:prstGeom>
          <a:solidFill>
            <a:srgbClr val="BDBDBD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434" y="5838023"/>
            <a:ext cx="938338" cy="993135"/>
          </a:xfrm>
          <a:prstGeom prst="rect">
            <a:avLst/>
          </a:prstGeom>
        </p:spPr>
      </p:pic>
      <p:cxnSp>
        <p:nvCxnSpPr>
          <p:cNvPr id="163" name="Connector 162"/>
          <p:cNvCxnSpPr/>
          <p:nvPr/>
        </p:nvCxnSpPr>
        <p:spPr>
          <a:xfrm>
            <a:off x="2144773" y="6146700"/>
            <a:ext cx="810992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955765" y="4610025"/>
            <a:ext cx="0" cy="1536675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4356570" y="5421980"/>
            <a:ext cx="764075" cy="3220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B2B2B"/>
                </a:solidFill>
                <a:latin typeface="DejaVu Sans Mono"/>
              </a:rPr>
              <a:t>Mask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672924" y="5737367"/>
            <a:ext cx="978552" cy="97300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956034" y="5913448"/>
            <a:ext cx="77211" cy="77303"/>
          </a:xfrm>
          <a:prstGeom prst="ellipse">
            <a:avLst/>
          </a:prstGeom>
          <a:solidFill>
            <a:srgbClr val="FF8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3994640" y="5990751"/>
            <a:ext cx="0" cy="260899"/>
          </a:xfrm>
          <a:prstGeom prst="line">
            <a:avLst/>
          </a:prstGeom>
          <a:ln w="82296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3854693" y="6068055"/>
            <a:ext cx="139947" cy="173932"/>
          </a:xfrm>
          <a:prstGeom prst="line">
            <a:avLst/>
          </a:prstGeom>
          <a:ln w="64008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3927079" y="6251650"/>
            <a:ext cx="67561" cy="207753"/>
          </a:xfrm>
          <a:prstGeom prst="line">
            <a:avLst/>
          </a:prstGeom>
          <a:ln w="73152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994640" y="6251650"/>
            <a:ext cx="62734" cy="207753"/>
          </a:xfrm>
          <a:prstGeom prst="line">
            <a:avLst/>
          </a:prstGeom>
          <a:ln w="73152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4303219" y="5952368"/>
            <a:ext cx="66487" cy="66566"/>
          </a:xfrm>
          <a:prstGeom prst="ellipse">
            <a:avLst/>
          </a:prstGeom>
          <a:solidFill>
            <a:srgbClr val="176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4336463" y="6018935"/>
            <a:ext cx="0" cy="224663"/>
          </a:xfrm>
          <a:prstGeom prst="line">
            <a:avLst/>
          </a:prstGeom>
          <a:ln w="70866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4215953" y="6085501"/>
            <a:ext cx="120510" cy="149776"/>
          </a:xfrm>
          <a:prstGeom prst="line">
            <a:avLst/>
          </a:prstGeom>
          <a:ln w="55118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4278286" y="6243598"/>
            <a:ext cx="58177" cy="178898"/>
          </a:xfrm>
          <a:prstGeom prst="line">
            <a:avLst/>
          </a:prstGeom>
          <a:ln w="62992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4336463" y="6243598"/>
            <a:ext cx="54021" cy="178898"/>
          </a:xfrm>
          <a:prstGeom prst="line">
            <a:avLst/>
          </a:prstGeom>
          <a:ln w="62992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4752013" y="5737367"/>
            <a:ext cx="978552" cy="973003"/>
          </a:xfrm>
          <a:prstGeom prst="rect">
            <a:avLst/>
          </a:prstGeom>
          <a:solidFill>
            <a:srgbClr val="05050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129761" y="5981357"/>
            <a:ext cx="62198" cy="62272"/>
          </a:xfrm>
          <a:prstGeom prst="ellipse">
            <a:avLst/>
          </a:prstGeom>
          <a:solidFill>
            <a:srgbClr val="176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5160860" y="6043629"/>
            <a:ext cx="0" cy="210169"/>
          </a:xfrm>
          <a:prstGeom prst="line">
            <a:avLst/>
          </a:prstGeom>
          <a:ln w="66294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 flipV="1">
            <a:off x="5013139" y="6035845"/>
            <a:ext cx="147721" cy="70056"/>
          </a:xfrm>
          <a:prstGeom prst="line">
            <a:avLst/>
          </a:prstGeom>
          <a:ln w="51561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5160860" y="6043629"/>
            <a:ext cx="147721" cy="62272"/>
          </a:xfrm>
          <a:prstGeom prst="line">
            <a:avLst/>
          </a:prstGeom>
          <a:ln w="51561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5040351" y="6253798"/>
            <a:ext cx="120509" cy="124544"/>
          </a:xfrm>
          <a:prstGeom prst="line">
            <a:avLst/>
          </a:prstGeom>
          <a:ln w="58927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5160860" y="6253798"/>
            <a:ext cx="104960" cy="132328"/>
          </a:xfrm>
          <a:prstGeom prst="line">
            <a:avLst/>
          </a:prstGeom>
          <a:ln w="58927">
            <a:solidFill>
              <a:srgbClr val="176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5363809" y="5974109"/>
            <a:ext cx="63270" cy="63345"/>
          </a:xfrm>
          <a:prstGeom prst="ellipse">
            <a:avLst/>
          </a:prstGeom>
          <a:solidFill>
            <a:srgbClr val="FF8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5395445" y="6037455"/>
            <a:ext cx="0" cy="213793"/>
          </a:xfrm>
          <a:prstGeom prst="line">
            <a:avLst/>
          </a:prstGeom>
          <a:ln w="67437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5245176" y="6029537"/>
            <a:ext cx="150269" cy="71264"/>
          </a:xfrm>
          <a:prstGeom prst="line">
            <a:avLst/>
          </a:prstGeom>
          <a:ln w="52451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395445" y="6037455"/>
            <a:ext cx="150268" cy="63346"/>
          </a:xfrm>
          <a:prstGeom prst="line">
            <a:avLst/>
          </a:prstGeom>
          <a:ln w="52451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5272857" y="6251248"/>
            <a:ext cx="122588" cy="126692"/>
          </a:xfrm>
          <a:prstGeom prst="line">
            <a:avLst/>
          </a:prstGeom>
          <a:ln w="59944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5395445" y="6251248"/>
            <a:ext cx="106769" cy="134610"/>
          </a:xfrm>
          <a:prstGeom prst="line">
            <a:avLst/>
          </a:prstGeom>
          <a:ln w="59944">
            <a:solidFill>
              <a:srgbClr val="FF8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4651476" y="6220514"/>
            <a:ext cx="93834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6260056" y="5227379"/>
            <a:ext cx="2815015" cy="1630621"/>
          </a:xfrm>
          <a:custGeom>
            <a:avLst/>
            <a:gdLst/>
            <a:ahLst/>
            <a:cxnLst/>
            <a:rect l="l" t="t" r="r" b="b"/>
            <a:pathLst>
              <a:path w="2815015" h="1630621">
                <a:moveTo>
                  <a:pt x="0" y="0"/>
                </a:moveTo>
                <a:lnTo>
                  <a:pt x="2815015" y="550251"/>
                </a:lnTo>
                <a:lnTo>
                  <a:pt x="2815015" y="1630621"/>
                </a:lnTo>
                <a:lnTo>
                  <a:pt x="0" y="1543386"/>
                </a:lnTo>
                <a:close/>
              </a:path>
            </a:pathLst>
          </a:custGeom>
          <a:solidFill>
            <a:srgbClr val="FBFBFB"/>
          </a:solidFill>
          <a:ln w="1651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340485" y="5509215"/>
            <a:ext cx="723860" cy="973003"/>
          </a:xfrm>
          <a:prstGeom prst="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6474534" y="5764209"/>
            <a:ext cx="0" cy="496567"/>
          </a:xfrm>
          <a:prstGeom prst="line">
            <a:avLst/>
          </a:prstGeom>
          <a:ln w="15240">
            <a:solidFill>
              <a:srgbClr val="4C78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930298" y="5764209"/>
            <a:ext cx="0" cy="496567"/>
          </a:xfrm>
          <a:prstGeom prst="line">
            <a:avLst/>
          </a:prstGeom>
          <a:ln w="15240">
            <a:solidFill>
              <a:srgbClr val="E77A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474534" y="5764209"/>
            <a:ext cx="455764" cy="496567"/>
          </a:xfrm>
          <a:prstGeom prst="line">
            <a:avLst/>
          </a:prstGeom>
          <a:ln w="11430">
            <a:solidFill>
              <a:srgbClr val="E77A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 flipV="1">
            <a:off x="6474534" y="5764209"/>
            <a:ext cx="455764" cy="496567"/>
          </a:xfrm>
          <a:prstGeom prst="line">
            <a:avLst/>
          </a:prstGeom>
          <a:ln w="11430">
            <a:solidFill>
              <a:srgbClr val="4C78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6353890" y="5569608"/>
            <a:ext cx="241286" cy="241573"/>
          </a:xfrm>
          <a:prstGeom prst="ellipse">
            <a:avLst/>
          </a:prstGeom>
          <a:solidFill>
            <a:srgbClr val="7895C5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809654" y="5569608"/>
            <a:ext cx="241286" cy="241573"/>
          </a:xfrm>
          <a:prstGeom prst="ellipse">
            <a:avLst/>
          </a:prstGeom>
          <a:solidFill>
            <a:srgbClr val="F2BC96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353890" y="6166831"/>
            <a:ext cx="241286" cy="2415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6809654" y="6166831"/>
            <a:ext cx="241286" cy="2415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6380700" y="6200383"/>
            <a:ext cx="134048" cy="134207"/>
          </a:xfrm>
          <a:prstGeom prst="line">
            <a:avLst/>
          </a:prstGeom>
          <a:ln w="1270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836464" y="6200383"/>
            <a:ext cx="134048" cy="134207"/>
          </a:xfrm>
          <a:prstGeom prst="line">
            <a:avLst/>
          </a:prstGeom>
          <a:ln w="12700">
            <a:solidFill>
              <a:srgbClr val="E77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400807" y="6220514"/>
            <a:ext cx="134048" cy="134208"/>
          </a:xfrm>
          <a:prstGeom prst="line">
            <a:avLst/>
          </a:prstGeom>
          <a:ln w="1270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856571" y="6220514"/>
            <a:ext cx="134049" cy="134208"/>
          </a:xfrm>
          <a:prstGeom prst="line">
            <a:avLst/>
          </a:prstGeom>
          <a:ln w="12700">
            <a:solidFill>
              <a:srgbClr val="E77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420914" y="6240645"/>
            <a:ext cx="134049" cy="134208"/>
          </a:xfrm>
          <a:prstGeom prst="line">
            <a:avLst/>
          </a:prstGeom>
          <a:ln w="1270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876679" y="6240645"/>
            <a:ext cx="134048" cy="134208"/>
          </a:xfrm>
          <a:prstGeom prst="line">
            <a:avLst/>
          </a:prstGeom>
          <a:ln w="12700">
            <a:solidFill>
              <a:srgbClr val="E77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ectangle 206"/>
          <p:cNvSpPr/>
          <p:nvPr/>
        </p:nvSpPr>
        <p:spPr>
          <a:xfrm>
            <a:off x="7701076" y="5764209"/>
            <a:ext cx="723860" cy="973003"/>
          </a:xfrm>
          <a:prstGeom prst="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V="1">
            <a:off x="7835124" y="6019203"/>
            <a:ext cx="0" cy="496568"/>
          </a:xfrm>
          <a:prstGeom prst="line">
            <a:avLst/>
          </a:prstGeom>
          <a:ln w="15240">
            <a:solidFill>
              <a:srgbClr val="4C78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8290888" y="6019203"/>
            <a:ext cx="0" cy="496568"/>
          </a:xfrm>
          <a:prstGeom prst="line">
            <a:avLst/>
          </a:prstGeom>
          <a:ln w="15240">
            <a:solidFill>
              <a:srgbClr val="E77A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835124" y="6019203"/>
            <a:ext cx="455764" cy="496568"/>
          </a:xfrm>
          <a:prstGeom prst="line">
            <a:avLst/>
          </a:prstGeom>
          <a:ln w="11430">
            <a:solidFill>
              <a:srgbClr val="E77A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 flipV="1">
            <a:off x="7835124" y="6019203"/>
            <a:ext cx="455764" cy="496568"/>
          </a:xfrm>
          <a:prstGeom prst="line">
            <a:avLst/>
          </a:prstGeom>
          <a:ln w="11430">
            <a:solidFill>
              <a:srgbClr val="4C78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Oval 211"/>
          <p:cNvSpPr/>
          <p:nvPr/>
        </p:nvSpPr>
        <p:spPr>
          <a:xfrm>
            <a:off x="7714481" y="5824602"/>
            <a:ext cx="241286" cy="241573"/>
          </a:xfrm>
          <a:prstGeom prst="ellipse">
            <a:avLst/>
          </a:prstGeom>
          <a:solidFill>
            <a:srgbClr val="7895C5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170245" y="5824602"/>
            <a:ext cx="241286" cy="241573"/>
          </a:xfrm>
          <a:prstGeom prst="ellipse">
            <a:avLst/>
          </a:prstGeom>
          <a:solidFill>
            <a:srgbClr val="F2BC96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714481" y="6421825"/>
            <a:ext cx="241286" cy="2415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170245" y="6421825"/>
            <a:ext cx="241286" cy="2415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 flipV="1">
            <a:off x="7741290" y="6455377"/>
            <a:ext cx="134049" cy="134208"/>
          </a:xfrm>
          <a:prstGeom prst="line">
            <a:avLst/>
          </a:prstGeom>
          <a:ln w="1270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197055" y="6455377"/>
            <a:ext cx="134048" cy="134208"/>
          </a:xfrm>
          <a:prstGeom prst="line">
            <a:avLst/>
          </a:prstGeom>
          <a:ln w="12700">
            <a:solidFill>
              <a:srgbClr val="E77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7761398" y="6475508"/>
            <a:ext cx="134048" cy="134208"/>
          </a:xfrm>
          <a:prstGeom prst="line">
            <a:avLst/>
          </a:prstGeom>
          <a:ln w="1270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217162" y="6475508"/>
            <a:ext cx="134048" cy="134208"/>
          </a:xfrm>
          <a:prstGeom prst="line">
            <a:avLst/>
          </a:prstGeom>
          <a:ln w="12700">
            <a:solidFill>
              <a:srgbClr val="E77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7781505" y="6495639"/>
            <a:ext cx="134048" cy="134208"/>
          </a:xfrm>
          <a:prstGeom prst="line">
            <a:avLst/>
          </a:prstGeom>
          <a:ln w="12700">
            <a:solidFill>
              <a:srgbClr val="4C78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237269" y="6495639"/>
            <a:ext cx="134048" cy="134208"/>
          </a:xfrm>
          <a:prstGeom prst="line">
            <a:avLst/>
          </a:prstGeom>
          <a:ln w="12700">
            <a:solidFill>
              <a:srgbClr val="E77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7064346" y="5999072"/>
            <a:ext cx="180965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7211799" y="5864864"/>
            <a:ext cx="482573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1">
                <a:solidFill>
                  <a:srgbClr val="2B2B2B"/>
                </a:solidFill>
                <a:latin typeface="DejaVu Sans Mono"/>
              </a:rPr>
              <a:t>C⁽¹⁾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8418234" y="6260776"/>
            <a:ext cx="160858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532175" y="6133279"/>
            <a:ext cx="576407" cy="335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1">
                <a:solidFill>
                  <a:srgbClr val="2B2B2B"/>
                </a:solidFill>
                <a:latin typeface="DejaVu Sans Mono"/>
              </a:rPr>
              <a:t>C⁽ᴺ⁾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983917" y="6274197"/>
            <a:ext cx="335120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xT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357913" y="6515771"/>
            <a:ext cx="335120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xT</a:t>
            </a:r>
          </a:p>
        </p:txBody>
      </p:sp>
      <p:cxnSp>
        <p:nvCxnSpPr>
          <p:cNvPr id="228" name="Connector 227"/>
          <p:cNvCxnSpPr/>
          <p:nvPr/>
        </p:nvCxnSpPr>
        <p:spPr>
          <a:xfrm flipH="1">
            <a:off x="6742630" y="4053064"/>
            <a:ext cx="187668" cy="221442"/>
          </a:xfrm>
          <a:prstGeom prst="line">
            <a:avLst/>
          </a:prstGeom>
          <a:ln w="19050">
            <a:solidFill>
              <a:srgbClr val="C6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H="1">
            <a:off x="6682309" y="4274506"/>
            <a:ext cx="60321" cy="657617"/>
          </a:xfrm>
          <a:prstGeom prst="line">
            <a:avLst/>
          </a:prstGeom>
          <a:ln w="19050">
            <a:solidFill>
              <a:srgbClr val="C61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8029494" y="3744387"/>
            <a:ext cx="147453" cy="342229"/>
          </a:xfrm>
          <a:prstGeom prst="line">
            <a:avLst/>
          </a:prstGeom>
          <a:ln w="19050">
            <a:solidFill>
              <a:srgbClr val="C6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8029494" y="4086616"/>
            <a:ext cx="93834" cy="617354"/>
          </a:xfrm>
          <a:prstGeom prst="line">
            <a:avLst/>
          </a:prstGeom>
          <a:ln w="19050">
            <a:solidFill>
              <a:srgbClr val="C61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7144775" y="5321324"/>
            <a:ext cx="315014" cy="181180"/>
          </a:xfrm>
          <a:prstGeom prst="line">
            <a:avLst/>
          </a:prstGeom>
          <a:ln w="19050">
            <a:solidFill>
              <a:srgbClr val="F1A7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H="1" flipV="1">
            <a:off x="7339145" y="5066330"/>
            <a:ext cx="120644" cy="254994"/>
          </a:xfrm>
          <a:prstGeom prst="line">
            <a:avLst/>
          </a:prstGeom>
          <a:ln w="19050">
            <a:solidFill>
              <a:srgbClr val="F1A7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 flipV="1">
            <a:off x="7017429" y="4972385"/>
            <a:ext cx="321716" cy="93945"/>
          </a:xfrm>
          <a:prstGeom prst="line">
            <a:avLst/>
          </a:prstGeom>
          <a:ln w="19050">
            <a:solidFill>
              <a:srgbClr val="F1A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8626009" y="5589739"/>
            <a:ext cx="221180" cy="167760"/>
          </a:xfrm>
          <a:prstGeom prst="line">
            <a:avLst/>
          </a:prstGeom>
          <a:ln w="19050">
            <a:solidFill>
              <a:srgbClr val="F1A7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 flipV="1">
            <a:off x="8699736" y="5321324"/>
            <a:ext cx="147453" cy="268415"/>
          </a:xfrm>
          <a:prstGeom prst="line">
            <a:avLst/>
          </a:prstGeom>
          <a:ln w="19050">
            <a:solidFill>
              <a:srgbClr val="F1A7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 flipV="1">
            <a:off x="8337805" y="5234090"/>
            <a:ext cx="361931" cy="87234"/>
          </a:xfrm>
          <a:prstGeom prst="line">
            <a:avLst/>
          </a:prstGeom>
          <a:ln w="19050">
            <a:solidFill>
              <a:srgbClr val="F1A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068369" y="4482528"/>
            <a:ext cx="435657" cy="0"/>
          </a:xfrm>
          <a:prstGeom prst="line">
            <a:avLst/>
          </a:prstGeom>
          <a:ln w="25400">
            <a:solidFill>
              <a:srgbClr val="3B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Freeform 238"/>
          <p:cNvSpPr/>
          <p:nvPr/>
        </p:nvSpPr>
        <p:spPr>
          <a:xfrm>
            <a:off x="9504026" y="3985960"/>
            <a:ext cx="609920" cy="993135"/>
          </a:xfrm>
          <a:custGeom>
            <a:avLst/>
            <a:gdLst/>
            <a:ahLst/>
            <a:cxnLst/>
            <a:rect l="l" t="t" r="r" b="b"/>
            <a:pathLst>
              <a:path w="609920" h="993135">
                <a:moveTo>
                  <a:pt x="0" y="0"/>
                </a:moveTo>
                <a:lnTo>
                  <a:pt x="609920" y="241574"/>
                </a:lnTo>
                <a:lnTo>
                  <a:pt x="609920" y="751562"/>
                </a:lnTo>
                <a:lnTo>
                  <a:pt x="0" y="993135"/>
                </a:lnTo>
                <a:close/>
              </a:path>
            </a:pathLst>
          </a:custGeom>
          <a:solidFill>
            <a:srgbClr val="FBFBFB"/>
          </a:solidFill>
          <a:ln w="1778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510728" y="4180561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VAE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510728" y="4462397"/>
            <a:ext cx="603217" cy="3019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B2B2B"/>
                </a:solidFill>
                <a:latin typeface="DejaVu Sans Mono"/>
              </a:rPr>
              <a:t>Dec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10113946" y="4482528"/>
            <a:ext cx="435657" cy="0"/>
          </a:xfrm>
          <a:prstGeom prst="line">
            <a:avLst/>
          </a:prstGeom>
          <a:ln w="25400">
            <a:solidFill>
              <a:srgbClr val="3B3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ectangle 242"/>
          <p:cNvSpPr/>
          <p:nvPr/>
        </p:nvSpPr>
        <p:spPr>
          <a:xfrm>
            <a:off x="10670246" y="3771228"/>
            <a:ext cx="1233244" cy="1274970"/>
          </a:xfrm>
          <a:prstGeom prst="rect">
            <a:avLst/>
          </a:prstGeom>
          <a:solidFill>
            <a:srgbClr val="D8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616627" y="3824911"/>
            <a:ext cx="1233244" cy="1274970"/>
          </a:xfrm>
          <a:prstGeom prst="rect">
            <a:avLst/>
          </a:prstGeom>
          <a:solidFill>
            <a:srgbClr val="D8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5" name="Picture 244" descr="gen_fram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305" y="3878594"/>
            <a:ext cx="1353888" cy="1234708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395447" y="5207248"/>
            <a:ext cx="1648794" cy="355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B2B2B"/>
                </a:solidFill>
                <a:latin typeface="DejaVu Sans Mono"/>
              </a:rPr>
              <a:t>Gen Frames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9336465" y="563671"/>
            <a:ext cx="241286" cy="241573"/>
          </a:xfrm>
          <a:prstGeom prst="roundRect">
            <a:avLst/>
          </a:prstGeom>
          <a:solidFill>
            <a:srgbClr val="7895C5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9336465" y="952872"/>
            <a:ext cx="241286" cy="241573"/>
          </a:xfrm>
          <a:prstGeom prst="roundRect">
            <a:avLst/>
          </a:prstGeom>
          <a:solidFill>
            <a:srgbClr val="C2DDC9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9336465" y="1348784"/>
            <a:ext cx="241286" cy="241573"/>
          </a:xfrm>
          <a:prstGeom prst="roundRect">
            <a:avLst/>
          </a:prstGeom>
          <a:solidFill>
            <a:srgbClr val="F2BC96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966492" y="530119"/>
            <a:ext cx="2077749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B2B2B"/>
                </a:solidFill>
                <a:latin typeface="DejaVu Sans Mono"/>
              </a:rPr>
              <a:t>Spatial-Attn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966492" y="926031"/>
            <a:ext cx="2077749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B2B2B"/>
                </a:solidFill>
                <a:latin typeface="DejaVu Sans Mono"/>
              </a:rPr>
              <a:t>Cross-Attn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966492" y="1321943"/>
            <a:ext cx="2077749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B2B2B"/>
                </a:solidFill>
                <a:latin typeface="DejaVu Sans Mono"/>
              </a:rPr>
              <a:t>Temporal-Attn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9249334" y="1791669"/>
            <a:ext cx="227882" cy="93945"/>
          </a:xfrm>
          <a:prstGeom prst="line">
            <a:avLst/>
          </a:prstGeom>
          <a:ln w="20320">
            <a:solidFill>
              <a:srgbClr val="C6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477216" y="1771538"/>
            <a:ext cx="227882" cy="114076"/>
          </a:xfrm>
          <a:prstGeom prst="line">
            <a:avLst/>
          </a:prstGeom>
          <a:ln w="20320">
            <a:solidFill>
              <a:srgbClr val="C61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9966492" y="1650751"/>
            <a:ext cx="2184987" cy="328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Intermediate Feature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9249334" y="2154029"/>
            <a:ext cx="227882" cy="93945"/>
          </a:xfrm>
          <a:prstGeom prst="line">
            <a:avLst/>
          </a:prstGeom>
          <a:ln w="20320">
            <a:solidFill>
              <a:srgbClr val="F1A7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477216" y="2133898"/>
            <a:ext cx="227882" cy="114076"/>
          </a:xfrm>
          <a:prstGeom prst="line">
            <a:avLst/>
          </a:prstGeom>
          <a:ln w="20320">
            <a:solidFill>
              <a:srgbClr val="F1A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9966492" y="2053373"/>
            <a:ext cx="2184987" cy="328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Gradient from C⁽ˡ⁾</a:t>
            </a:r>
          </a:p>
        </p:txBody>
      </p:sp>
      <p:sp>
        <p:nvSpPr>
          <p:cNvPr id="259" name="Freeform 258"/>
          <p:cNvSpPr/>
          <p:nvPr/>
        </p:nvSpPr>
        <p:spPr>
          <a:xfrm>
            <a:off x="9256036" y="2422444"/>
            <a:ext cx="435657" cy="375781"/>
          </a:xfrm>
          <a:custGeom>
            <a:avLst/>
            <a:gdLst/>
            <a:ahLst/>
            <a:cxnLst/>
            <a:rect l="l" t="t" r="r" b="b"/>
            <a:pathLst>
              <a:path w="435657" h="375781">
                <a:moveTo>
                  <a:pt x="0" y="0"/>
                </a:moveTo>
                <a:lnTo>
                  <a:pt x="435657" y="114076"/>
                </a:lnTo>
                <a:lnTo>
                  <a:pt x="435657" y="375781"/>
                </a:lnTo>
                <a:lnTo>
                  <a:pt x="0" y="369070"/>
                </a:lnTo>
                <a:close/>
              </a:path>
            </a:pathLst>
          </a:custGeom>
          <a:solidFill>
            <a:srgbClr val="FBFBFB"/>
          </a:solidFill>
          <a:ln w="1524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966492" y="2422444"/>
            <a:ext cx="2178285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IMG Construction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966492" y="2664017"/>
            <a:ext cx="2178285" cy="2885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(Training only)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9289548" y="3174005"/>
            <a:ext cx="368632" cy="241573"/>
          </a:xfrm>
          <a:prstGeom prst="roundRect">
            <a:avLst/>
          </a:prstGeom>
          <a:solidFill>
            <a:srgbClr val="7895C5"/>
          </a:solidFill>
          <a:ln w="1524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966492" y="3133743"/>
            <a:ext cx="2144773" cy="328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2B2B2B"/>
                </a:solidFill>
                <a:latin typeface="DejaVu Sans Mono"/>
              </a:rPr>
              <a:t>Selected for MSM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erybodyDance Bipartite Graphâ€“Based Identity Correspondence for Multi-Character Ani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75"/>
            <a:ext cx="12191695" cy="6796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EverybodyDance architecture — editable reconstruction</dc:title>
  <dc:subject>ReferenceNet and DenoisingNet bipartite correspondence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