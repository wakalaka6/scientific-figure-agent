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84647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45139" y="107276"/>
            <a:ext cx="4903181" cy="1729049"/>
          </a:xfrm>
          <a:prstGeom prst="roundRect">
            <a:avLst/>
          </a:prstGeom>
          <a:solidFill>
            <a:srgbClr val="F6F4FA"/>
          </a:solidFill>
          <a:ln w="25241">
            <a:solidFill>
              <a:srgbClr val="8582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9209" y="195622"/>
            <a:ext cx="1344115" cy="1464013"/>
          </a:xfrm>
          <a:prstGeom prst="rect">
            <a:avLst/>
          </a:prstGeom>
          <a:solidFill>
            <a:srgbClr val="F4F7EF"/>
          </a:solidFill>
          <a:ln w="31552">
            <a:solidFill>
              <a:srgbClr val="B8DBAA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32972" y="347072"/>
            <a:ext cx="239795" cy="239795"/>
          </a:xfrm>
          <a:prstGeom prst="ellipse">
            <a:avLst/>
          </a:prstGeom>
          <a:solidFill>
            <a:srgbClr val="66A2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1830" y="656281"/>
            <a:ext cx="1325184" cy="22086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42" b="1" i="0">
                <a:solidFill>
                  <a:srgbClr val="000000"/>
                </a:solidFill>
                <a:latin typeface="Times New Roman"/>
              </a:defRPr>
            </a:pPr>
            <a:r>
              <a:t>Station Location(P)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4348" y="965491"/>
            <a:ext cx="1003353" cy="340761"/>
          </a:xfrm>
          <a:prstGeom prst="roundRect">
            <a:avLst/>
          </a:prstGeom>
          <a:solidFill>
            <a:srgbClr val="B9C2CE"/>
          </a:solidFill>
          <a:ln w="63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542694" y="1098009"/>
            <a:ext cx="63104" cy="82036"/>
          </a:xfrm>
          <a:prstGeom prst="line">
            <a:avLst/>
          </a:prstGeom>
          <a:ln w="12620">
            <a:solidFill>
              <a:srgbClr val="2D5C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605798" y="1066457"/>
            <a:ext cx="69414" cy="31552"/>
          </a:xfrm>
          <a:prstGeom prst="line">
            <a:avLst/>
          </a:prstGeom>
          <a:ln w="12620">
            <a:solidFill>
              <a:srgbClr val="2D5C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75212" y="1066457"/>
            <a:ext cx="69415" cy="44173"/>
          </a:xfrm>
          <a:prstGeom prst="line">
            <a:avLst/>
          </a:prstGeom>
          <a:ln w="12620">
            <a:solidFill>
              <a:srgbClr val="2D5C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44627" y="1110630"/>
            <a:ext cx="75725" cy="88346"/>
          </a:xfrm>
          <a:prstGeom prst="line">
            <a:avLst/>
          </a:prstGeom>
          <a:ln w="12620">
            <a:solidFill>
              <a:srgbClr val="2D5C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20352" y="1198976"/>
            <a:ext cx="69414" cy="6310"/>
          </a:xfrm>
          <a:prstGeom prst="line">
            <a:avLst/>
          </a:prstGeom>
          <a:ln w="12620">
            <a:solidFill>
              <a:srgbClr val="2D5C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889766" y="1129561"/>
            <a:ext cx="75725" cy="75725"/>
          </a:xfrm>
          <a:prstGeom prst="line">
            <a:avLst/>
          </a:prstGeom>
          <a:ln w="12620">
            <a:solidFill>
              <a:srgbClr val="2D5C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965491" y="1098009"/>
            <a:ext cx="75725" cy="31552"/>
          </a:xfrm>
          <a:prstGeom prst="line">
            <a:avLst/>
          </a:prstGeom>
          <a:ln w="12620">
            <a:solidFill>
              <a:srgbClr val="2D5C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041216" y="1098009"/>
            <a:ext cx="75725" cy="25242"/>
          </a:xfrm>
          <a:prstGeom prst="line">
            <a:avLst/>
          </a:prstGeom>
          <a:ln w="12620">
            <a:solidFill>
              <a:srgbClr val="2D5C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116941" y="1123251"/>
            <a:ext cx="75724" cy="75725"/>
          </a:xfrm>
          <a:prstGeom prst="line">
            <a:avLst/>
          </a:prstGeom>
          <a:ln w="12620">
            <a:solidFill>
              <a:srgbClr val="2D5C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192665" y="1198976"/>
            <a:ext cx="75725" cy="0"/>
          </a:xfrm>
          <a:prstGeom prst="line">
            <a:avLst/>
          </a:prstGeom>
          <a:ln w="12620">
            <a:solidFill>
              <a:srgbClr val="2D5C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268390" y="1066457"/>
            <a:ext cx="113587" cy="132519"/>
          </a:xfrm>
          <a:prstGeom prst="line">
            <a:avLst/>
          </a:prstGeom>
          <a:ln w="12620">
            <a:solidFill>
              <a:srgbClr val="2D5C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334451" y="1381977"/>
            <a:ext cx="1287321" cy="20824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42" b="1" i="0">
                <a:solidFill>
                  <a:srgbClr val="000000"/>
                </a:solidFill>
                <a:latin typeface="Times New Roman"/>
              </a:defRPr>
            </a:pPr>
            <a:r>
              <a:t>Historical Data(H)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659635" y="902387"/>
            <a:ext cx="429107" cy="0"/>
          </a:xfrm>
          <a:prstGeom prst="line">
            <a:avLst/>
          </a:prstGeom>
          <a:ln w="113587">
            <a:solidFill>
              <a:srgbClr val="3F3A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Freeform 19"/>
          <p:cNvSpPr/>
          <p:nvPr/>
        </p:nvSpPr>
        <p:spPr>
          <a:xfrm>
            <a:off x="1962534" y="824138"/>
            <a:ext cx="126208" cy="156498"/>
          </a:xfrm>
          <a:custGeom>
            <a:avLst/>
            <a:gdLst/>
            <a:ahLst/>
            <a:cxnLst/>
            <a:rect l="l" t="t" r="r" b="b"/>
            <a:pathLst>
              <a:path w="126208" h="156498">
                <a:moveTo>
                  <a:pt x="126208" y="78249"/>
                </a:moveTo>
                <a:lnTo>
                  <a:pt x="0" y="0"/>
                </a:lnTo>
                <a:close/>
                <a:lnTo>
                  <a:pt x="0" y="156498"/>
                </a:lnTo>
                <a:close/>
                <a:lnTo>
                  <a:pt x="126208" y="78249"/>
                </a:lnTo>
                <a:close/>
              </a:path>
            </a:pathLst>
          </a:custGeom>
          <a:solidFill>
            <a:srgbClr val="3F3A9B"/>
          </a:solidFill>
          <a:ln w="3175">
            <a:solidFill>
              <a:srgbClr val="3F3A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271744" y="271347"/>
            <a:ext cx="1482944" cy="2839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41" b="0" i="1">
                <a:solidFill>
                  <a:srgbClr val="000000"/>
                </a:solidFill>
                <a:latin typeface="Times New Roman"/>
              </a:defRPr>
            </a:pPr>
            <a:r>
              <a:t>Δh = dt · f (h, x)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360090" y="599488"/>
            <a:ext cx="1375667" cy="0"/>
          </a:xfrm>
          <a:prstGeom prst="line">
            <a:avLst/>
          </a:prstGeom>
          <a:ln w="25241">
            <a:solidFill>
              <a:srgbClr val="3D4A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Freeform 22"/>
          <p:cNvSpPr/>
          <p:nvPr/>
        </p:nvSpPr>
        <p:spPr>
          <a:xfrm>
            <a:off x="3647411" y="544713"/>
            <a:ext cx="88346" cy="109549"/>
          </a:xfrm>
          <a:custGeom>
            <a:avLst/>
            <a:gdLst/>
            <a:ahLst/>
            <a:cxnLst/>
            <a:rect l="l" t="t" r="r" b="b"/>
            <a:pathLst>
              <a:path w="88346" h="109549">
                <a:moveTo>
                  <a:pt x="88346" y="54775"/>
                </a:moveTo>
                <a:lnTo>
                  <a:pt x="0" y="0"/>
                </a:lnTo>
                <a:close/>
                <a:lnTo>
                  <a:pt x="0" y="109549"/>
                </a:lnTo>
                <a:close/>
                <a:lnTo>
                  <a:pt x="88346" y="54775"/>
                </a:lnTo>
                <a:close/>
              </a:path>
            </a:pathLst>
          </a:custGeom>
          <a:solidFill>
            <a:srgbClr val="3D4A64"/>
          </a:solidFill>
          <a:ln w="3175">
            <a:solidFill>
              <a:srgbClr val="3D4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101363" y="719385"/>
            <a:ext cx="1886809" cy="410176"/>
          </a:xfrm>
          <a:prstGeom prst="rect">
            <a:avLst/>
          </a:prstGeom>
          <a:solidFill>
            <a:srgbClr val="E5D9E9"/>
          </a:solidFill>
          <a:ln w="25241">
            <a:solidFill>
              <a:srgbClr val="BAA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2177088" y="807731"/>
            <a:ext cx="239795" cy="239795"/>
          </a:xfrm>
          <a:prstGeom prst="ellipse">
            <a:avLst/>
          </a:prstGeom>
          <a:solidFill>
            <a:srgbClr val="66A2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587264" y="807731"/>
            <a:ext cx="239795" cy="239795"/>
          </a:xfrm>
          <a:prstGeom prst="ellipse">
            <a:avLst/>
          </a:prstGeom>
          <a:solidFill>
            <a:srgbClr val="3976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972198" y="886611"/>
            <a:ext cx="31552" cy="31552"/>
          </a:xfrm>
          <a:prstGeom prst="ellipse">
            <a:avLst/>
          </a:prstGeom>
          <a:solidFill>
            <a:srgbClr val="4882C2"/>
          </a:solidFill>
          <a:ln w="6310">
            <a:solidFill>
              <a:srgbClr val="98B2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060544" y="883456"/>
            <a:ext cx="37862" cy="37862"/>
          </a:xfrm>
          <a:prstGeom prst="ellipse">
            <a:avLst/>
          </a:prstGeom>
          <a:solidFill>
            <a:srgbClr val="4882C2"/>
          </a:solidFill>
          <a:ln w="6310">
            <a:solidFill>
              <a:srgbClr val="98B2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3148890" y="880300"/>
            <a:ext cx="44172" cy="44172"/>
          </a:xfrm>
          <a:prstGeom prst="ellipse">
            <a:avLst/>
          </a:prstGeom>
          <a:solidFill>
            <a:srgbClr val="4882C2"/>
          </a:solidFill>
          <a:ln w="6310">
            <a:solidFill>
              <a:srgbClr val="98B2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237235" y="883456"/>
            <a:ext cx="37862" cy="37862"/>
          </a:xfrm>
          <a:prstGeom prst="ellipse">
            <a:avLst/>
          </a:prstGeom>
          <a:solidFill>
            <a:srgbClr val="4882C2"/>
          </a:solidFill>
          <a:ln w="6310">
            <a:solidFill>
              <a:srgbClr val="98B2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3325581" y="886611"/>
            <a:ext cx="31552" cy="31552"/>
          </a:xfrm>
          <a:prstGeom prst="ellipse">
            <a:avLst/>
          </a:prstGeom>
          <a:solidFill>
            <a:srgbClr val="4882C2"/>
          </a:solidFill>
          <a:ln w="6310">
            <a:solidFill>
              <a:srgbClr val="98B2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413927" y="889766"/>
            <a:ext cx="25241" cy="25241"/>
          </a:xfrm>
          <a:prstGeom prst="ellipse">
            <a:avLst/>
          </a:prstGeom>
          <a:solidFill>
            <a:srgbClr val="4882C2"/>
          </a:solidFill>
          <a:ln w="6310">
            <a:solidFill>
              <a:srgbClr val="98B2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3628480" y="807731"/>
            <a:ext cx="239795" cy="239795"/>
          </a:xfrm>
          <a:prstGeom prst="ellipse">
            <a:avLst/>
          </a:prstGeom>
          <a:solidFill>
            <a:srgbClr val="2D5C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214950" y="1198976"/>
            <a:ext cx="1665945" cy="3281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89" b="1" i="0">
                <a:solidFill>
                  <a:srgbClr val="000000"/>
                </a:solidFill>
                <a:latin typeface="Times New Roman"/>
              </a:defRPr>
            </a:pPr>
            <a:r>
              <a:t>GeoLiquidNet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3994483" y="908697"/>
            <a:ext cx="359693" cy="0"/>
          </a:xfrm>
          <a:prstGeom prst="line">
            <a:avLst/>
          </a:prstGeom>
          <a:ln w="113587">
            <a:solidFill>
              <a:srgbClr val="3F3A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Freeform 35"/>
          <p:cNvSpPr/>
          <p:nvPr/>
        </p:nvSpPr>
        <p:spPr>
          <a:xfrm>
            <a:off x="4227968" y="830448"/>
            <a:ext cx="126208" cy="156498"/>
          </a:xfrm>
          <a:custGeom>
            <a:avLst/>
            <a:gdLst/>
            <a:ahLst/>
            <a:cxnLst/>
            <a:rect l="l" t="t" r="r" b="b"/>
            <a:pathLst>
              <a:path w="126208" h="156498">
                <a:moveTo>
                  <a:pt x="126208" y="78249"/>
                </a:moveTo>
                <a:lnTo>
                  <a:pt x="0" y="0"/>
                </a:lnTo>
                <a:close/>
                <a:lnTo>
                  <a:pt x="0" y="156498"/>
                </a:lnTo>
                <a:close/>
                <a:lnTo>
                  <a:pt x="126208" y="78249"/>
                </a:lnTo>
                <a:close/>
              </a:path>
            </a:pathLst>
          </a:custGeom>
          <a:solidFill>
            <a:srgbClr val="3F3A9B"/>
          </a:solidFill>
          <a:ln w="3175">
            <a:solidFill>
              <a:srgbClr val="3F3A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4354176" y="214553"/>
            <a:ext cx="460659" cy="1388288"/>
          </a:xfrm>
          <a:prstGeom prst="roundRect">
            <a:avLst/>
          </a:prstGeom>
          <a:solidFill>
            <a:srgbClr val="B8B6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4410970" y="321830"/>
            <a:ext cx="138828" cy="151449"/>
          </a:xfrm>
          <a:prstGeom prst="roundRect">
            <a:avLst/>
          </a:prstGeom>
          <a:solidFill>
            <a:srgbClr val="8392CB"/>
          </a:solidFill>
          <a:ln w="25241">
            <a:solidFill>
              <a:srgbClr val="555A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4625524" y="321830"/>
            <a:ext cx="138828" cy="151449"/>
          </a:xfrm>
          <a:prstGeom prst="roundRect">
            <a:avLst/>
          </a:prstGeom>
          <a:solidFill>
            <a:srgbClr val="8392CB"/>
          </a:solidFill>
          <a:ln w="25241">
            <a:solidFill>
              <a:srgbClr val="555A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4410970" y="536384"/>
            <a:ext cx="138828" cy="151449"/>
          </a:xfrm>
          <a:prstGeom prst="roundRect">
            <a:avLst/>
          </a:prstGeom>
          <a:solidFill>
            <a:srgbClr val="8392CB"/>
          </a:solidFill>
          <a:ln w="25241">
            <a:solidFill>
              <a:srgbClr val="555A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4625524" y="536384"/>
            <a:ext cx="138828" cy="151449"/>
          </a:xfrm>
          <a:prstGeom prst="roundRect">
            <a:avLst/>
          </a:prstGeom>
          <a:solidFill>
            <a:srgbClr val="8392CB"/>
          </a:solidFill>
          <a:ln w="25241">
            <a:solidFill>
              <a:srgbClr val="555A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4410970" y="750937"/>
            <a:ext cx="138828" cy="151449"/>
          </a:xfrm>
          <a:prstGeom prst="roundRect">
            <a:avLst/>
          </a:prstGeom>
          <a:solidFill>
            <a:srgbClr val="8392CB"/>
          </a:solidFill>
          <a:ln w="25241">
            <a:solidFill>
              <a:srgbClr val="555A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4625524" y="750937"/>
            <a:ext cx="138828" cy="151449"/>
          </a:xfrm>
          <a:prstGeom prst="roundRect">
            <a:avLst/>
          </a:prstGeom>
          <a:solidFill>
            <a:srgbClr val="8392CB"/>
          </a:solidFill>
          <a:ln w="25241">
            <a:solidFill>
              <a:srgbClr val="555A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4410970" y="965491"/>
            <a:ext cx="138828" cy="151449"/>
          </a:xfrm>
          <a:prstGeom prst="roundRect">
            <a:avLst/>
          </a:prstGeom>
          <a:solidFill>
            <a:srgbClr val="8392CB"/>
          </a:solidFill>
          <a:ln w="25241">
            <a:solidFill>
              <a:srgbClr val="555A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4625524" y="965491"/>
            <a:ext cx="138828" cy="151449"/>
          </a:xfrm>
          <a:prstGeom prst="roundRect">
            <a:avLst/>
          </a:prstGeom>
          <a:solidFill>
            <a:srgbClr val="8392CB"/>
          </a:solidFill>
          <a:ln w="25241">
            <a:solidFill>
              <a:srgbClr val="555A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4410970" y="1180045"/>
            <a:ext cx="138828" cy="151449"/>
          </a:xfrm>
          <a:prstGeom prst="roundRect">
            <a:avLst/>
          </a:prstGeom>
          <a:solidFill>
            <a:srgbClr val="8392CB"/>
          </a:solidFill>
          <a:ln w="25241">
            <a:solidFill>
              <a:srgbClr val="555A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4625524" y="1180045"/>
            <a:ext cx="138828" cy="151449"/>
          </a:xfrm>
          <a:prstGeom prst="roundRect">
            <a:avLst/>
          </a:prstGeom>
          <a:solidFill>
            <a:srgbClr val="8392CB"/>
          </a:solidFill>
          <a:ln w="25241">
            <a:solidFill>
              <a:srgbClr val="555A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4410970" y="1394598"/>
            <a:ext cx="138828" cy="151449"/>
          </a:xfrm>
          <a:prstGeom prst="roundRect">
            <a:avLst/>
          </a:prstGeom>
          <a:solidFill>
            <a:srgbClr val="8392CB"/>
          </a:solidFill>
          <a:ln w="25241">
            <a:solidFill>
              <a:srgbClr val="555A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4625524" y="1394598"/>
            <a:ext cx="138828" cy="151449"/>
          </a:xfrm>
          <a:prstGeom prst="roundRect">
            <a:avLst/>
          </a:prstGeom>
          <a:solidFill>
            <a:srgbClr val="8392CB"/>
          </a:solidFill>
          <a:ln w="25241">
            <a:solidFill>
              <a:srgbClr val="555A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145139" y="1975155"/>
            <a:ext cx="4903181" cy="1792153"/>
          </a:xfrm>
          <a:prstGeom prst="roundRect">
            <a:avLst/>
          </a:prstGeom>
          <a:solidFill>
            <a:srgbClr val="F6F4FA"/>
          </a:solidFill>
          <a:ln w="25241">
            <a:solidFill>
              <a:srgbClr val="8582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23763" y="2196019"/>
            <a:ext cx="908697" cy="801420"/>
          </a:xfrm>
          <a:prstGeom prst="rect">
            <a:avLst/>
          </a:prstGeom>
          <a:solidFill>
            <a:srgbClr val="C9E2DF"/>
          </a:solidFill>
          <a:ln w="31552">
            <a:solidFill>
              <a:srgbClr val="56A6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41728" y="2278054"/>
            <a:ext cx="908697" cy="801420"/>
          </a:xfrm>
          <a:prstGeom prst="rect">
            <a:avLst/>
          </a:prstGeom>
          <a:solidFill>
            <a:srgbClr val="C9E2DF"/>
          </a:solidFill>
          <a:ln w="31552">
            <a:solidFill>
              <a:srgbClr val="56A6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359692" y="2360090"/>
            <a:ext cx="908697" cy="801420"/>
          </a:xfrm>
          <a:prstGeom prst="rect">
            <a:avLst/>
          </a:prstGeom>
          <a:solidFill>
            <a:srgbClr val="C9E2DF"/>
          </a:solidFill>
          <a:ln w="31552">
            <a:solidFill>
              <a:srgbClr val="56A6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277657" y="2442125"/>
            <a:ext cx="908697" cy="801420"/>
          </a:xfrm>
          <a:prstGeom prst="rect">
            <a:avLst/>
          </a:prstGeom>
          <a:solidFill>
            <a:srgbClr val="C9E2DF"/>
          </a:solidFill>
          <a:ln w="31552">
            <a:solidFill>
              <a:srgbClr val="56A6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277657" y="2454746"/>
            <a:ext cx="915008" cy="927628"/>
          </a:xfrm>
          <a:prstGeom prst="rect">
            <a:avLst/>
          </a:prstGeom>
          <a:solidFill>
            <a:srgbClr val="56A6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460659" y="2593574"/>
            <a:ext cx="574246" cy="580556"/>
          </a:xfrm>
          <a:prstGeom prst="ellipse">
            <a:avLst/>
          </a:prstGeom>
          <a:solidFill>
            <a:srgbClr val="4174C1"/>
          </a:solidFill>
          <a:ln w="12620">
            <a:solidFill>
              <a:srgbClr val="2E55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530073" y="2662989"/>
            <a:ext cx="435417" cy="435417"/>
          </a:xfrm>
          <a:prstGeom prst="ellipse">
            <a:avLst/>
          </a:prstGeom>
          <a:noFill/>
          <a:ln w="18931">
            <a:solidFill>
              <a:srgbClr val="2FB0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8" name="Connector 57"/>
          <p:cNvCxnSpPr/>
          <p:nvPr/>
        </p:nvCxnSpPr>
        <p:spPr>
          <a:xfrm flipV="1">
            <a:off x="555315" y="2732403"/>
            <a:ext cx="82035" cy="63104"/>
          </a:xfrm>
          <a:prstGeom prst="line">
            <a:avLst/>
          </a:prstGeom>
          <a:ln w="25241">
            <a:solidFill>
              <a:srgbClr val="2FB0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637350" y="2732403"/>
            <a:ext cx="69414" cy="18931"/>
          </a:xfrm>
          <a:prstGeom prst="line">
            <a:avLst/>
          </a:prstGeom>
          <a:ln w="25241">
            <a:solidFill>
              <a:srgbClr val="2FB0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706764" y="2751334"/>
            <a:ext cx="31552" cy="69415"/>
          </a:xfrm>
          <a:prstGeom prst="line">
            <a:avLst/>
          </a:prstGeom>
          <a:ln w="25241">
            <a:solidFill>
              <a:srgbClr val="2FB0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738316" y="2820749"/>
            <a:ext cx="56794" cy="18931"/>
          </a:xfrm>
          <a:prstGeom prst="line">
            <a:avLst/>
          </a:prstGeom>
          <a:ln w="25241">
            <a:solidFill>
              <a:srgbClr val="2FB0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795110" y="2770266"/>
            <a:ext cx="94656" cy="69414"/>
          </a:xfrm>
          <a:prstGeom prst="line">
            <a:avLst/>
          </a:prstGeom>
          <a:ln w="25241">
            <a:solidFill>
              <a:srgbClr val="2FB0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889766" y="2770266"/>
            <a:ext cx="44173" cy="56793"/>
          </a:xfrm>
          <a:prstGeom prst="line">
            <a:avLst/>
          </a:prstGeom>
          <a:ln w="25241">
            <a:solidFill>
              <a:srgbClr val="2FB0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580556" y="2909094"/>
            <a:ext cx="63104" cy="56794"/>
          </a:xfrm>
          <a:prstGeom prst="line">
            <a:avLst/>
          </a:prstGeom>
          <a:ln w="25241">
            <a:solidFill>
              <a:srgbClr val="2FB0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643660" y="2909094"/>
            <a:ext cx="63104" cy="31552"/>
          </a:xfrm>
          <a:prstGeom prst="line">
            <a:avLst/>
          </a:prstGeom>
          <a:ln w="25241">
            <a:solidFill>
              <a:srgbClr val="2FB0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706764" y="2940646"/>
            <a:ext cx="25242" cy="94656"/>
          </a:xfrm>
          <a:prstGeom prst="line">
            <a:avLst/>
          </a:prstGeom>
          <a:ln w="25241">
            <a:solidFill>
              <a:srgbClr val="2FB0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732006" y="3035302"/>
            <a:ext cx="75725" cy="25242"/>
          </a:xfrm>
          <a:prstGeom prst="line">
            <a:avLst/>
          </a:prstGeom>
          <a:ln w="25241">
            <a:solidFill>
              <a:srgbClr val="2FB0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807731" y="2991130"/>
            <a:ext cx="56793" cy="69414"/>
          </a:xfrm>
          <a:prstGeom prst="line">
            <a:avLst/>
          </a:prstGeom>
          <a:ln w="25241">
            <a:solidFill>
              <a:srgbClr val="2FB0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864524" y="2978509"/>
            <a:ext cx="82036" cy="12621"/>
          </a:xfrm>
          <a:prstGeom prst="line">
            <a:avLst/>
          </a:prstGeom>
          <a:ln w="25241">
            <a:solidFill>
              <a:srgbClr val="2FB0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176691" y="3477031"/>
            <a:ext cx="1438771" cy="24610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42" b="1" i="0">
                <a:solidFill>
                  <a:srgbClr val="000000"/>
                </a:solidFill>
                <a:latin typeface="Times New Roman"/>
              </a:defRPr>
            </a:pPr>
            <a:r>
              <a:t>Gridded Forecast(X)</a:t>
            </a:r>
          </a:p>
        </p:txBody>
      </p:sp>
      <p:sp>
        <p:nvSpPr>
          <p:cNvPr id="71" name="Oval 70"/>
          <p:cNvSpPr/>
          <p:nvPr/>
        </p:nvSpPr>
        <p:spPr>
          <a:xfrm>
            <a:off x="1703808" y="2120294"/>
            <a:ext cx="50483" cy="50483"/>
          </a:xfrm>
          <a:prstGeom prst="ellipse">
            <a:avLst/>
          </a:prstGeom>
          <a:solidFill>
            <a:srgbClr val="2F86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1766912" y="2057190"/>
            <a:ext cx="50483" cy="50483"/>
          </a:xfrm>
          <a:prstGeom prst="ellipse">
            <a:avLst/>
          </a:prstGeom>
          <a:solidFill>
            <a:srgbClr val="2F86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1798464" y="2170778"/>
            <a:ext cx="50483" cy="50483"/>
          </a:xfrm>
          <a:prstGeom prst="ellipse">
            <a:avLst/>
          </a:prstGeom>
          <a:solidFill>
            <a:srgbClr val="2F86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1703808" y="2214950"/>
            <a:ext cx="50483" cy="50483"/>
          </a:xfrm>
          <a:prstGeom prst="ellipse">
            <a:avLst/>
          </a:prstGeom>
          <a:solidFill>
            <a:srgbClr val="2F86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1855257" y="2240192"/>
            <a:ext cx="50483" cy="50483"/>
          </a:xfrm>
          <a:prstGeom prst="ellipse">
            <a:avLst/>
          </a:prstGeom>
          <a:solidFill>
            <a:srgbClr val="2F86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6" name="Connector 75"/>
          <p:cNvCxnSpPr/>
          <p:nvPr/>
        </p:nvCxnSpPr>
        <p:spPr>
          <a:xfrm flipV="1">
            <a:off x="1729049" y="2082432"/>
            <a:ext cx="63104" cy="63104"/>
          </a:xfrm>
          <a:prstGeom prst="line">
            <a:avLst/>
          </a:prstGeom>
          <a:ln w="6310">
            <a:solidFill>
              <a:srgbClr val="335B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1792153" y="2082432"/>
            <a:ext cx="31552" cy="113587"/>
          </a:xfrm>
          <a:prstGeom prst="line">
            <a:avLst/>
          </a:prstGeom>
          <a:ln w="6310">
            <a:solidFill>
              <a:srgbClr val="335B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1729049" y="2196019"/>
            <a:ext cx="94656" cy="44173"/>
          </a:xfrm>
          <a:prstGeom prst="line">
            <a:avLst/>
          </a:prstGeom>
          <a:ln w="6310">
            <a:solidFill>
              <a:srgbClr val="335B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TextBox 78"/>
          <p:cNvSpPr txBox="1"/>
          <p:nvPr/>
        </p:nvSpPr>
        <p:spPr>
          <a:xfrm>
            <a:off x="1956224" y="2107674"/>
            <a:ext cx="1975155" cy="2965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92" b="1" i="0">
                <a:solidFill>
                  <a:srgbClr val="000000"/>
                </a:solidFill>
                <a:latin typeface="Times New Roman"/>
              </a:defRPr>
            </a:pPr>
            <a:r>
              <a:t>Temporal Attention MLP</a:t>
            </a:r>
          </a:p>
        </p:txBody>
      </p:sp>
      <p:cxnSp>
        <p:nvCxnSpPr>
          <p:cNvPr id="80" name="Connector 79"/>
          <p:cNvCxnSpPr/>
          <p:nvPr/>
        </p:nvCxnSpPr>
        <p:spPr>
          <a:xfrm>
            <a:off x="1419840" y="2448435"/>
            <a:ext cx="984422" cy="0"/>
          </a:xfrm>
          <a:prstGeom prst="line">
            <a:avLst/>
          </a:prstGeom>
          <a:ln w="75724">
            <a:solidFill>
              <a:srgbClr val="3F3A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2404262" y="2448435"/>
            <a:ext cx="0" cy="214554"/>
          </a:xfrm>
          <a:prstGeom prst="line">
            <a:avLst/>
          </a:prstGeom>
          <a:ln w="75724">
            <a:solidFill>
              <a:srgbClr val="3F3A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Freeform 81"/>
          <p:cNvSpPr/>
          <p:nvPr/>
        </p:nvSpPr>
        <p:spPr>
          <a:xfrm>
            <a:off x="2341663" y="2562022"/>
            <a:ext cx="125199" cy="100967"/>
          </a:xfrm>
          <a:custGeom>
            <a:avLst/>
            <a:gdLst/>
            <a:ahLst/>
            <a:cxnLst/>
            <a:rect l="l" t="t" r="r" b="b"/>
            <a:pathLst>
              <a:path w="125199" h="100967">
                <a:moveTo>
                  <a:pt x="62599" y="100967"/>
                </a:moveTo>
                <a:lnTo>
                  <a:pt x="125199" y="0"/>
                </a:lnTo>
                <a:close/>
                <a:lnTo>
                  <a:pt x="0" y="0"/>
                </a:lnTo>
                <a:close/>
                <a:lnTo>
                  <a:pt x="62599" y="100967"/>
                </a:lnTo>
                <a:close/>
              </a:path>
            </a:pathLst>
          </a:custGeom>
          <a:solidFill>
            <a:srgbClr val="3F3A9B"/>
          </a:solidFill>
          <a:ln w="3175">
            <a:solidFill>
              <a:srgbClr val="3F3A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514496" y="2625126"/>
            <a:ext cx="321830" cy="3912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385" b="1" i="0">
                <a:solidFill>
                  <a:srgbClr val="3F3A9B"/>
                </a:solidFill>
                <a:latin typeface="Times New Roman"/>
              </a:defRPr>
            </a:pPr>
            <a:r>
              <a:t>×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930982" y="2675610"/>
            <a:ext cx="952870" cy="258726"/>
          </a:xfrm>
          <a:prstGeom prst="rect">
            <a:avLst/>
          </a:prstGeom>
          <a:solidFill>
            <a:srgbClr val="EE8E93"/>
          </a:solidFill>
          <a:ln w="31552">
            <a:solidFill>
              <a:srgbClr val="EEB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1975155" y="2713472"/>
            <a:ext cx="220864" cy="183001"/>
          </a:xfrm>
          <a:prstGeom prst="rect">
            <a:avLst/>
          </a:prstGeom>
          <a:solidFill>
            <a:srgbClr val="F5B7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2196019" y="2713472"/>
            <a:ext cx="220864" cy="183001"/>
          </a:xfrm>
          <a:prstGeom prst="rect">
            <a:avLst/>
          </a:prstGeom>
          <a:solidFill>
            <a:srgbClr val="F5D1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2416883" y="2713472"/>
            <a:ext cx="220864" cy="183001"/>
          </a:xfrm>
          <a:prstGeom prst="rect">
            <a:avLst/>
          </a:prstGeom>
          <a:solidFill>
            <a:srgbClr val="EE87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2637747" y="2713472"/>
            <a:ext cx="220864" cy="183001"/>
          </a:xfrm>
          <a:prstGeom prst="rect">
            <a:avLst/>
          </a:prstGeom>
          <a:solidFill>
            <a:srgbClr val="E57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1703808" y="3016371"/>
            <a:ext cx="1419840" cy="46065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92" b="1" i="0">
                <a:solidFill>
                  <a:srgbClr val="000000"/>
                </a:solidFill>
                <a:latin typeface="Times New Roman"/>
              </a:defRPr>
            </a:pPr>
            <a:r>
              <a:t>Temporal Attention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192" b="1" i="0">
                <a:solidFill>
                  <a:srgbClr val="000000"/>
                </a:solidFill>
                <a:latin typeface="Times New Roman"/>
              </a:defRPr>
            </a:pPr>
            <a:r>
              <a:t>Weights</a:t>
            </a:r>
          </a:p>
        </p:txBody>
      </p:sp>
      <p:cxnSp>
        <p:nvCxnSpPr>
          <p:cNvPr id="90" name="Connector 89"/>
          <p:cNvCxnSpPr/>
          <p:nvPr/>
        </p:nvCxnSpPr>
        <p:spPr>
          <a:xfrm>
            <a:off x="3155200" y="2795507"/>
            <a:ext cx="366003" cy="0"/>
          </a:xfrm>
          <a:prstGeom prst="line">
            <a:avLst/>
          </a:prstGeom>
          <a:ln w="82035">
            <a:solidFill>
              <a:srgbClr val="3F3A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Freeform 90"/>
          <p:cNvSpPr/>
          <p:nvPr/>
        </p:nvSpPr>
        <p:spPr>
          <a:xfrm>
            <a:off x="3407616" y="2725083"/>
            <a:ext cx="113587" cy="140848"/>
          </a:xfrm>
          <a:custGeom>
            <a:avLst/>
            <a:gdLst/>
            <a:ahLst/>
            <a:cxnLst/>
            <a:rect l="l" t="t" r="r" b="b"/>
            <a:pathLst>
              <a:path w="113587" h="140848">
                <a:moveTo>
                  <a:pt x="113587" y="70424"/>
                </a:moveTo>
                <a:lnTo>
                  <a:pt x="0" y="0"/>
                </a:lnTo>
                <a:close/>
                <a:lnTo>
                  <a:pt x="0" y="140848"/>
                </a:lnTo>
                <a:close/>
                <a:lnTo>
                  <a:pt x="113587" y="70424"/>
                </a:lnTo>
                <a:close/>
              </a:path>
            </a:pathLst>
          </a:custGeom>
          <a:solidFill>
            <a:srgbClr val="3F3A9B"/>
          </a:solidFill>
          <a:ln w="3175">
            <a:solidFill>
              <a:srgbClr val="3F3A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Freeform 91"/>
          <p:cNvSpPr/>
          <p:nvPr/>
        </p:nvSpPr>
        <p:spPr>
          <a:xfrm>
            <a:off x="3596928" y="2372710"/>
            <a:ext cx="523764" cy="744628"/>
          </a:xfrm>
          <a:custGeom>
            <a:avLst/>
            <a:gdLst/>
            <a:ahLst/>
            <a:cxnLst/>
            <a:rect l="l" t="t" r="r" b="b"/>
            <a:pathLst>
              <a:path w="523764" h="744628">
                <a:moveTo>
                  <a:pt x="0" y="157760"/>
                </a:moveTo>
                <a:lnTo>
                  <a:pt x="523764" y="0"/>
                </a:lnTo>
                <a:close/>
                <a:lnTo>
                  <a:pt x="523764" y="744628"/>
                </a:lnTo>
                <a:close/>
                <a:lnTo>
                  <a:pt x="0" y="580557"/>
                </a:lnTo>
                <a:close/>
                <a:lnTo>
                  <a:pt x="0" y="157760"/>
                </a:lnTo>
                <a:close/>
              </a:path>
            </a:pathLst>
          </a:custGeom>
          <a:solidFill>
            <a:srgbClr val="E1D7E5"/>
          </a:solidFill>
          <a:ln w="25241">
            <a:solidFill>
              <a:srgbClr val="C2AF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3407616" y="3161511"/>
            <a:ext cx="946560" cy="36600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92" b="1" i="0">
                <a:solidFill>
                  <a:srgbClr val="000000"/>
                </a:solidFill>
                <a:latin typeface="Times New Roman"/>
              </a:defRPr>
            </a:pPr>
            <a:r>
              <a:t>Embedding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192" b="1" i="0">
                <a:solidFill>
                  <a:srgbClr val="000000"/>
                </a:solidFill>
                <a:latin typeface="Times New Roman"/>
              </a:defRPr>
            </a:pPr>
            <a:r>
              <a:t>MLP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4328935" y="2082432"/>
            <a:ext cx="454348" cy="1394598"/>
          </a:xfrm>
          <a:prstGeom prst="roundRect">
            <a:avLst/>
          </a:prstGeom>
          <a:solidFill>
            <a:srgbClr val="B8B6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ounded Rectangle 94"/>
          <p:cNvSpPr/>
          <p:nvPr/>
        </p:nvSpPr>
        <p:spPr>
          <a:xfrm>
            <a:off x="4385728" y="2189709"/>
            <a:ext cx="138828" cy="151449"/>
          </a:xfrm>
          <a:prstGeom prst="roundRect">
            <a:avLst/>
          </a:prstGeom>
          <a:solidFill>
            <a:srgbClr val="8392CB"/>
          </a:solidFill>
          <a:ln w="25241">
            <a:solidFill>
              <a:srgbClr val="555A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ounded Rectangle 95"/>
          <p:cNvSpPr/>
          <p:nvPr/>
        </p:nvSpPr>
        <p:spPr>
          <a:xfrm>
            <a:off x="4600282" y="2189709"/>
            <a:ext cx="138828" cy="151449"/>
          </a:xfrm>
          <a:prstGeom prst="roundRect">
            <a:avLst/>
          </a:prstGeom>
          <a:solidFill>
            <a:srgbClr val="8392CB"/>
          </a:solidFill>
          <a:ln w="25241">
            <a:solidFill>
              <a:srgbClr val="555A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ounded Rectangle 96"/>
          <p:cNvSpPr/>
          <p:nvPr/>
        </p:nvSpPr>
        <p:spPr>
          <a:xfrm>
            <a:off x="4385728" y="2404262"/>
            <a:ext cx="138828" cy="151449"/>
          </a:xfrm>
          <a:prstGeom prst="roundRect">
            <a:avLst/>
          </a:prstGeom>
          <a:solidFill>
            <a:srgbClr val="8392CB"/>
          </a:solidFill>
          <a:ln w="25241">
            <a:solidFill>
              <a:srgbClr val="555A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ounded Rectangle 97"/>
          <p:cNvSpPr/>
          <p:nvPr/>
        </p:nvSpPr>
        <p:spPr>
          <a:xfrm>
            <a:off x="4600282" y="2404262"/>
            <a:ext cx="138828" cy="151449"/>
          </a:xfrm>
          <a:prstGeom prst="roundRect">
            <a:avLst/>
          </a:prstGeom>
          <a:solidFill>
            <a:srgbClr val="8392CB"/>
          </a:solidFill>
          <a:ln w="25241">
            <a:solidFill>
              <a:srgbClr val="555A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ounded Rectangle 98"/>
          <p:cNvSpPr/>
          <p:nvPr/>
        </p:nvSpPr>
        <p:spPr>
          <a:xfrm>
            <a:off x="4385728" y="2618816"/>
            <a:ext cx="138828" cy="151449"/>
          </a:xfrm>
          <a:prstGeom prst="roundRect">
            <a:avLst/>
          </a:prstGeom>
          <a:solidFill>
            <a:srgbClr val="8392CB"/>
          </a:solidFill>
          <a:ln w="25241">
            <a:solidFill>
              <a:srgbClr val="555A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ounded Rectangle 99"/>
          <p:cNvSpPr/>
          <p:nvPr/>
        </p:nvSpPr>
        <p:spPr>
          <a:xfrm>
            <a:off x="4600282" y="2618816"/>
            <a:ext cx="138828" cy="151449"/>
          </a:xfrm>
          <a:prstGeom prst="roundRect">
            <a:avLst/>
          </a:prstGeom>
          <a:solidFill>
            <a:srgbClr val="8392CB"/>
          </a:solidFill>
          <a:ln w="25241">
            <a:solidFill>
              <a:srgbClr val="555A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ounded Rectangle 100"/>
          <p:cNvSpPr/>
          <p:nvPr/>
        </p:nvSpPr>
        <p:spPr>
          <a:xfrm>
            <a:off x="4385728" y="2833370"/>
            <a:ext cx="138828" cy="151449"/>
          </a:xfrm>
          <a:prstGeom prst="roundRect">
            <a:avLst/>
          </a:prstGeom>
          <a:solidFill>
            <a:srgbClr val="8392CB"/>
          </a:solidFill>
          <a:ln w="25241">
            <a:solidFill>
              <a:srgbClr val="555A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ounded Rectangle 101"/>
          <p:cNvSpPr/>
          <p:nvPr/>
        </p:nvSpPr>
        <p:spPr>
          <a:xfrm>
            <a:off x="4600282" y="2833370"/>
            <a:ext cx="138828" cy="151449"/>
          </a:xfrm>
          <a:prstGeom prst="roundRect">
            <a:avLst/>
          </a:prstGeom>
          <a:solidFill>
            <a:srgbClr val="8392CB"/>
          </a:solidFill>
          <a:ln w="25241">
            <a:solidFill>
              <a:srgbClr val="555A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ounded Rectangle 102"/>
          <p:cNvSpPr/>
          <p:nvPr/>
        </p:nvSpPr>
        <p:spPr>
          <a:xfrm>
            <a:off x="4385728" y="3047923"/>
            <a:ext cx="138828" cy="151449"/>
          </a:xfrm>
          <a:prstGeom prst="roundRect">
            <a:avLst/>
          </a:prstGeom>
          <a:solidFill>
            <a:srgbClr val="8392CB"/>
          </a:solidFill>
          <a:ln w="25241">
            <a:solidFill>
              <a:srgbClr val="555A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ounded Rectangle 103"/>
          <p:cNvSpPr/>
          <p:nvPr/>
        </p:nvSpPr>
        <p:spPr>
          <a:xfrm>
            <a:off x="4600282" y="3047923"/>
            <a:ext cx="138828" cy="151449"/>
          </a:xfrm>
          <a:prstGeom prst="roundRect">
            <a:avLst/>
          </a:prstGeom>
          <a:solidFill>
            <a:srgbClr val="8392CB"/>
          </a:solidFill>
          <a:ln w="25241">
            <a:solidFill>
              <a:srgbClr val="555A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ounded Rectangle 104"/>
          <p:cNvSpPr/>
          <p:nvPr/>
        </p:nvSpPr>
        <p:spPr>
          <a:xfrm>
            <a:off x="4385728" y="3262477"/>
            <a:ext cx="138828" cy="151449"/>
          </a:xfrm>
          <a:prstGeom prst="roundRect">
            <a:avLst/>
          </a:prstGeom>
          <a:solidFill>
            <a:srgbClr val="8392CB"/>
          </a:solidFill>
          <a:ln w="25241">
            <a:solidFill>
              <a:srgbClr val="555A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ounded Rectangle 105"/>
          <p:cNvSpPr/>
          <p:nvPr/>
        </p:nvSpPr>
        <p:spPr>
          <a:xfrm>
            <a:off x="4600282" y="3262477"/>
            <a:ext cx="138828" cy="151449"/>
          </a:xfrm>
          <a:prstGeom prst="roundRect">
            <a:avLst/>
          </a:prstGeom>
          <a:solidFill>
            <a:srgbClr val="8392CB"/>
          </a:solidFill>
          <a:ln w="25241">
            <a:solidFill>
              <a:srgbClr val="555A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7" name="Connector 106"/>
          <p:cNvCxnSpPr/>
          <p:nvPr/>
        </p:nvCxnSpPr>
        <p:spPr>
          <a:xfrm>
            <a:off x="5029389" y="965491"/>
            <a:ext cx="631040" cy="0"/>
          </a:xfrm>
          <a:prstGeom prst="line">
            <a:avLst/>
          </a:prstGeom>
          <a:ln w="37862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>
            <a:off x="5660429" y="965491"/>
            <a:ext cx="0" cy="239795"/>
          </a:xfrm>
          <a:prstGeom prst="line">
            <a:avLst/>
          </a:prstGeom>
          <a:ln w="37862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Freeform 108"/>
          <p:cNvSpPr/>
          <p:nvPr/>
        </p:nvSpPr>
        <p:spPr>
          <a:xfrm>
            <a:off x="5593918" y="1098009"/>
            <a:ext cx="133023" cy="107277"/>
          </a:xfrm>
          <a:custGeom>
            <a:avLst/>
            <a:gdLst/>
            <a:ahLst/>
            <a:cxnLst/>
            <a:rect l="l" t="t" r="r" b="b"/>
            <a:pathLst>
              <a:path w="133023" h="107277">
                <a:moveTo>
                  <a:pt x="66511" y="107277"/>
                </a:moveTo>
                <a:lnTo>
                  <a:pt x="133023" y="0"/>
                </a:lnTo>
                <a:close/>
                <a:lnTo>
                  <a:pt x="0" y="0"/>
                </a:lnTo>
                <a:close/>
                <a:lnTo>
                  <a:pt x="66511" y="107277"/>
                </a:lnTo>
                <a:close/>
              </a:path>
            </a:pathLst>
          </a:custGeom>
          <a:solidFill>
            <a:srgbClr val="000000"/>
          </a:solidFill>
          <a:ln w="317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0" name="Connector 109"/>
          <p:cNvCxnSpPr/>
          <p:nvPr/>
        </p:nvCxnSpPr>
        <p:spPr>
          <a:xfrm>
            <a:off x="5029389" y="2864922"/>
            <a:ext cx="618420" cy="0"/>
          </a:xfrm>
          <a:prstGeom prst="line">
            <a:avLst/>
          </a:prstGeom>
          <a:ln w="37862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 flipV="1">
            <a:off x="5647809" y="2637747"/>
            <a:ext cx="0" cy="227175"/>
          </a:xfrm>
          <a:prstGeom prst="line">
            <a:avLst/>
          </a:prstGeom>
          <a:ln w="37862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Freeform 111"/>
          <p:cNvSpPr/>
          <p:nvPr/>
        </p:nvSpPr>
        <p:spPr>
          <a:xfrm>
            <a:off x="5581297" y="2637747"/>
            <a:ext cx="133023" cy="107277"/>
          </a:xfrm>
          <a:custGeom>
            <a:avLst/>
            <a:gdLst/>
            <a:ahLst/>
            <a:cxnLst/>
            <a:rect l="l" t="t" r="r" b="b"/>
            <a:pathLst>
              <a:path w="133023" h="107277">
                <a:moveTo>
                  <a:pt x="66512" y="0"/>
                </a:moveTo>
                <a:lnTo>
                  <a:pt x="0" y="107277"/>
                </a:lnTo>
                <a:close/>
                <a:lnTo>
                  <a:pt x="133023" y="107277"/>
                </a:lnTo>
                <a:close/>
                <a:lnTo>
                  <a:pt x="66512" y="0"/>
                </a:lnTo>
                <a:close/>
              </a:path>
            </a:pathLst>
          </a:custGeom>
          <a:solidFill>
            <a:srgbClr val="000000"/>
          </a:solidFill>
          <a:ln w="317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5376461" y="1211597"/>
            <a:ext cx="530073" cy="1426150"/>
          </a:xfrm>
          <a:prstGeom prst="rect">
            <a:avLst/>
          </a:prstGeom>
          <a:solidFill>
            <a:srgbClr val="DAE5F2"/>
          </a:solidFill>
          <a:ln w="25241">
            <a:solidFill>
              <a:srgbClr val="2D5CA5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 rot="5400000">
            <a:off x="5414324" y="1255769"/>
            <a:ext cx="441728" cy="134411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42" b="1" i="0">
                <a:solidFill>
                  <a:srgbClr val="2D5CA5"/>
                </a:solidFill>
                <a:latin typeface="Times New Roman"/>
              </a:defRPr>
            </a:pPr>
            <a:r>
              <a:t>Dynamic Edge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42" b="1" i="0">
                <a:solidFill>
                  <a:srgbClr val="2D5CA5"/>
                </a:solidFill>
                <a:latin typeface="Times New Roman"/>
              </a:defRPr>
            </a:pPr>
            <a:r>
              <a:t>Modulator</a:t>
            </a:r>
          </a:p>
        </p:txBody>
      </p:sp>
      <p:cxnSp>
        <p:nvCxnSpPr>
          <p:cNvPr id="115" name="Connector 114"/>
          <p:cNvCxnSpPr/>
          <p:nvPr/>
        </p:nvCxnSpPr>
        <p:spPr>
          <a:xfrm>
            <a:off x="5906535" y="1912051"/>
            <a:ext cx="315520" cy="0"/>
          </a:xfrm>
          <a:prstGeom prst="line">
            <a:avLst/>
          </a:prstGeom>
          <a:ln w="37862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 flipV="1">
            <a:off x="6222055" y="1053837"/>
            <a:ext cx="0" cy="858214"/>
          </a:xfrm>
          <a:prstGeom prst="line">
            <a:avLst/>
          </a:prstGeom>
          <a:ln w="37862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>
            <a:off x="6222055" y="1053837"/>
            <a:ext cx="347072" cy="0"/>
          </a:xfrm>
          <a:prstGeom prst="line">
            <a:avLst/>
          </a:prstGeom>
          <a:ln w="37862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" name="Freeform 117"/>
          <p:cNvSpPr/>
          <p:nvPr/>
        </p:nvSpPr>
        <p:spPr>
          <a:xfrm>
            <a:off x="6461850" y="987325"/>
            <a:ext cx="107277" cy="133023"/>
          </a:xfrm>
          <a:custGeom>
            <a:avLst/>
            <a:gdLst/>
            <a:ahLst/>
            <a:cxnLst/>
            <a:rect l="l" t="t" r="r" b="b"/>
            <a:pathLst>
              <a:path w="107277" h="133023">
                <a:moveTo>
                  <a:pt x="107277" y="66512"/>
                </a:moveTo>
                <a:lnTo>
                  <a:pt x="0" y="0"/>
                </a:lnTo>
                <a:close/>
                <a:lnTo>
                  <a:pt x="0" y="133023"/>
                </a:lnTo>
                <a:close/>
                <a:lnTo>
                  <a:pt x="107277" y="66512"/>
                </a:lnTo>
                <a:close/>
              </a:path>
            </a:pathLst>
          </a:custGeom>
          <a:solidFill>
            <a:srgbClr val="000000"/>
          </a:solidFill>
          <a:ln w="317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ounded Rectangle 118"/>
          <p:cNvSpPr/>
          <p:nvPr/>
        </p:nvSpPr>
        <p:spPr>
          <a:xfrm>
            <a:off x="6562817" y="290278"/>
            <a:ext cx="1236838" cy="1533427"/>
          </a:xfrm>
          <a:prstGeom prst="roundRect">
            <a:avLst/>
          </a:prstGeom>
          <a:solidFill>
            <a:srgbClr val="D6DEE8"/>
          </a:solidFill>
          <a:ln w="25241">
            <a:solidFill>
              <a:srgbClr val="A6B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0" name="Connector 119"/>
          <p:cNvCxnSpPr/>
          <p:nvPr/>
        </p:nvCxnSpPr>
        <p:spPr>
          <a:xfrm>
            <a:off x="6928820" y="915008"/>
            <a:ext cx="189312" cy="119897"/>
          </a:xfrm>
          <a:prstGeom prst="line">
            <a:avLst/>
          </a:prstGeom>
          <a:ln w="25241">
            <a:solidFill>
              <a:srgbClr val="675A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 flipH="1">
            <a:off x="7181236" y="915008"/>
            <a:ext cx="132519" cy="113587"/>
          </a:xfrm>
          <a:prstGeom prst="line">
            <a:avLst/>
          </a:prstGeom>
          <a:ln w="25241">
            <a:solidFill>
              <a:srgbClr val="675A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 flipV="1">
            <a:off x="6928820" y="1104320"/>
            <a:ext cx="164070" cy="145139"/>
          </a:xfrm>
          <a:prstGeom prst="line">
            <a:avLst/>
          </a:prstGeom>
          <a:ln w="25241">
            <a:solidFill>
              <a:srgbClr val="8B62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 flipH="1" flipV="1">
            <a:off x="7187547" y="1104320"/>
            <a:ext cx="119897" cy="145139"/>
          </a:xfrm>
          <a:prstGeom prst="line">
            <a:avLst/>
          </a:prstGeom>
          <a:ln w="25241">
            <a:solidFill>
              <a:srgbClr val="8B62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 flipV="1">
            <a:off x="6745818" y="1060147"/>
            <a:ext cx="328141" cy="31552"/>
          </a:xfrm>
          <a:prstGeom prst="line">
            <a:avLst/>
          </a:prstGeom>
          <a:ln w="25241">
            <a:solidFill>
              <a:srgbClr val="6D5B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>
            <a:off x="7155995" y="1110630"/>
            <a:ext cx="151449" cy="485901"/>
          </a:xfrm>
          <a:prstGeom prst="line">
            <a:avLst/>
          </a:prstGeom>
          <a:ln w="25241">
            <a:solidFill>
              <a:srgbClr val="A873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 flipV="1">
            <a:off x="7174926" y="561625"/>
            <a:ext cx="56793" cy="448039"/>
          </a:xfrm>
          <a:prstGeom prst="line">
            <a:avLst/>
          </a:prstGeom>
          <a:ln w="25241">
            <a:solidFill>
              <a:srgbClr val="9B899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 flipV="1">
            <a:off x="7275892" y="384934"/>
            <a:ext cx="252416" cy="119898"/>
          </a:xfrm>
          <a:prstGeom prst="line">
            <a:avLst/>
          </a:prstGeom>
          <a:ln w="25241">
            <a:solidFill>
              <a:srgbClr val="8A76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8" name="Oval 127"/>
          <p:cNvSpPr/>
          <p:nvPr/>
        </p:nvSpPr>
        <p:spPr>
          <a:xfrm>
            <a:off x="7067649" y="997043"/>
            <a:ext cx="126208" cy="126208"/>
          </a:xfrm>
          <a:prstGeom prst="ellipse">
            <a:avLst/>
          </a:prstGeom>
          <a:solidFill>
            <a:srgbClr val="4B62A8"/>
          </a:solidFill>
          <a:ln w="12620">
            <a:solidFill>
              <a:srgbClr val="1F2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Oval 128"/>
          <p:cNvSpPr/>
          <p:nvPr/>
        </p:nvSpPr>
        <p:spPr>
          <a:xfrm>
            <a:off x="6812078" y="773024"/>
            <a:ext cx="157760" cy="157760"/>
          </a:xfrm>
          <a:prstGeom prst="ellipse">
            <a:avLst/>
          </a:prstGeom>
          <a:solidFill>
            <a:srgbClr val="2F8693"/>
          </a:solidFill>
          <a:ln w="12620">
            <a:solidFill>
              <a:srgbClr val="1F2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Oval 129"/>
          <p:cNvSpPr/>
          <p:nvPr/>
        </p:nvSpPr>
        <p:spPr>
          <a:xfrm>
            <a:off x="7285358" y="773024"/>
            <a:ext cx="157760" cy="157760"/>
          </a:xfrm>
          <a:prstGeom prst="ellipse">
            <a:avLst/>
          </a:prstGeom>
          <a:solidFill>
            <a:srgbClr val="2F8693"/>
          </a:solidFill>
          <a:ln w="12620">
            <a:solidFill>
              <a:srgbClr val="1F2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Oval 130"/>
          <p:cNvSpPr/>
          <p:nvPr/>
        </p:nvSpPr>
        <p:spPr>
          <a:xfrm>
            <a:off x="6812078" y="1145337"/>
            <a:ext cx="157760" cy="157760"/>
          </a:xfrm>
          <a:prstGeom prst="ellipse">
            <a:avLst/>
          </a:prstGeom>
          <a:solidFill>
            <a:srgbClr val="75AEC3"/>
          </a:solidFill>
          <a:ln w="12620">
            <a:solidFill>
              <a:srgbClr val="1F2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Oval 131"/>
          <p:cNvSpPr/>
          <p:nvPr/>
        </p:nvSpPr>
        <p:spPr>
          <a:xfrm>
            <a:off x="7285358" y="1145337"/>
            <a:ext cx="157760" cy="157760"/>
          </a:xfrm>
          <a:prstGeom prst="ellipse">
            <a:avLst/>
          </a:prstGeom>
          <a:solidFill>
            <a:srgbClr val="75AEC3"/>
          </a:solidFill>
          <a:ln w="12620">
            <a:solidFill>
              <a:srgbClr val="1F2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Oval 132"/>
          <p:cNvSpPr/>
          <p:nvPr/>
        </p:nvSpPr>
        <p:spPr>
          <a:xfrm>
            <a:off x="7174926" y="448038"/>
            <a:ext cx="113587" cy="113587"/>
          </a:xfrm>
          <a:prstGeom prst="ellipse">
            <a:avLst/>
          </a:prstGeom>
          <a:solidFill>
            <a:srgbClr val="7F9FD0"/>
          </a:solidFill>
          <a:ln w="12620">
            <a:solidFill>
              <a:srgbClr val="1F2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Oval 133"/>
          <p:cNvSpPr/>
          <p:nvPr/>
        </p:nvSpPr>
        <p:spPr>
          <a:xfrm>
            <a:off x="7528308" y="296588"/>
            <a:ext cx="113587" cy="113587"/>
          </a:xfrm>
          <a:prstGeom prst="ellipse">
            <a:avLst/>
          </a:prstGeom>
          <a:solidFill>
            <a:srgbClr val="A8BCE4"/>
          </a:solidFill>
          <a:ln w="12620">
            <a:solidFill>
              <a:srgbClr val="1F2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Oval 134"/>
          <p:cNvSpPr/>
          <p:nvPr/>
        </p:nvSpPr>
        <p:spPr>
          <a:xfrm>
            <a:off x="6644852" y="1009664"/>
            <a:ext cx="113587" cy="113587"/>
          </a:xfrm>
          <a:prstGeom prst="ellipse">
            <a:avLst/>
          </a:prstGeom>
          <a:solidFill>
            <a:srgbClr val="DBE4F2"/>
          </a:solidFill>
          <a:ln w="12620">
            <a:solidFill>
              <a:srgbClr val="1F2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Oval 135"/>
          <p:cNvSpPr/>
          <p:nvPr/>
        </p:nvSpPr>
        <p:spPr>
          <a:xfrm>
            <a:off x="7269582" y="1571289"/>
            <a:ext cx="113587" cy="113587"/>
          </a:xfrm>
          <a:prstGeom prst="ellipse">
            <a:avLst/>
          </a:prstGeom>
          <a:solidFill>
            <a:srgbClr val="DBE4F2"/>
          </a:solidFill>
          <a:ln w="12620">
            <a:solidFill>
              <a:srgbClr val="1F2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7" name="Connector 136"/>
          <p:cNvCxnSpPr/>
          <p:nvPr/>
        </p:nvCxnSpPr>
        <p:spPr>
          <a:xfrm>
            <a:off x="7805966" y="1060147"/>
            <a:ext cx="429107" cy="0"/>
          </a:xfrm>
          <a:prstGeom prst="line">
            <a:avLst/>
          </a:prstGeom>
          <a:ln w="37862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8" name="Freeform 137"/>
          <p:cNvSpPr/>
          <p:nvPr/>
        </p:nvSpPr>
        <p:spPr>
          <a:xfrm>
            <a:off x="8127796" y="993635"/>
            <a:ext cx="107277" cy="133024"/>
          </a:xfrm>
          <a:custGeom>
            <a:avLst/>
            <a:gdLst/>
            <a:ahLst/>
            <a:cxnLst/>
            <a:rect l="l" t="t" r="r" b="b"/>
            <a:pathLst>
              <a:path w="107277" h="133024">
                <a:moveTo>
                  <a:pt x="107277" y="66512"/>
                </a:moveTo>
                <a:lnTo>
                  <a:pt x="0" y="0"/>
                </a:lnTo>
                <a:close/>
                <a:lnTo>
                  <a:pt x="0" y="133024"/>
                </a:lnTo>
                <a:close/>
                <a:lnTo>
                  <a:pt x="107277" y="66512"/>
                </a:lnTo>
                <a:close/>
              </a:path>
            </a:pathLst>
          </a:custGeom>
          <a:solidFill>
            <a:srgbClr val="000000"/>
          </a:solidFill>
          <a:ln w="317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ounded Rectangle 138"/>
          <p:cNvSpPr/>
          <p:nvPr/>
        </p:nvSpPr>
        <p:spPr>
          <a:xfrm>
            <a:off x="8247694" y="145139"/>
            <a:ext cx="530073" cy="1855257"/>
          </a:xfrm>
          <a:prstGeom prst="roundRect">
            <a:avLst/>
          </a:prstGeom>
          <a:solidFill>
            <a:srgbClr val="FFF1DF"/>
          </a:solidFill>
          <a:ln w="25241">
            <a:solidFill>
              <a:srgbClr val="EF9B6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 rot="5400000">
            <a:off x="8285556" y="233484"/>
            <a:ext cx="454348" cy="16722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91" b="1" i="0">
                <a:solidFill>
                  <a:srgbClr val="D65E17"/>
                </a:solidFill>
                <a:latin typeface="Times New Roman"/>
              </a:defRPr>
            </a:pPr>
            <a:r>
              <a:t>Probabilistic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391" b="1" i="0">
                <a:solidFill>
                  <a:srgbClr val="D65E17"/>
                </a:solidFill>
                <a:latin typeface="Times New Roman"/>
              </a:defRPr>
            </a:pPr>
            <a:r>
              <a:t>Forecast Diffuser</a:t>
            </a:r>
          </a:p>
        </p:txBody>
      </p:sp>
      <p:cxnSp>
        <p:nvCxnSpPr>
          <p:cNvPr id="141" name="Connector 140"/>
          <p:cNvCxnSpPr/>
          <p:nvPr/>
        </p:nvCxnSpPr>
        <p:spPr>
          <a:xfrm>
            <a:off x="8784078" y="1060147"/>
            <a:ext cx="353382" cy="0"/>
          </a:xfrm>
          <a:prstGeom prst="line">
            <a:avLst/>
          </a:prstGeom>
          <a:ln w="37862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2" name="Freeform 141"/>
          <p:cNvSpPr/>
          <p:nvPr/>
        </p:nvSpPr>
        <p:spPr>
          <a:xfrm>
            <a:off x="9030184" y="993635"/>
            <a:ext cx="107276" cy="133024"/>
          </a:xfrm>
          <a:custGeom>
            <a:avLst/>
            <a:gdLst/>
            <a:ahLst/>
            <a:cxnLst/>
            <a:rect l="l" t="t" r="r" b="b"/>
            <a:pathLst>
              <a:path w="107276" h="133024">
                <a:moveTo>
                  <a:pt x="107276" y="66512"/>
                </a:moveTo>
                <a:lnTo>
                  <a:pt x="0" y="0"/>
                </a:lnTo>
                <a:close/>
                <a:lnTo>
                  <a:pt x="0" y="133024"/>
                </a:lnTo>
                <a:close/>
                <a:lnTo>
                  <a:pt x="107276" y="66512"/>
                </a:lnTo>
                <a:close/>
              </a:path>
            </a:pathLst>
          </a:custGeom>
          <a:solidFill>
            <a:srgbClr val="000000"/>
          </a:solidFill>
          <a:ln w="317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ounded Rectangle 142"/>
          <p:cNvSpPr/>
          <p:nvPr/>
        </p:nvSpPr>
        <p:spPr>
          <a:xfrm>
            <a:off x="9143771" y="145139"/>
            <a:ext cx="3003750" cy="1855257"/>
          </a:xfrm>
          <a:prstGeom prst="roundRect">
            <a:avLst/>
          </a:prstGeom>
          <a:solidFill>
            <a:srgbClr val="D5E7E4"/>
          </a:solidFill>
          <a:ln w="31552">
            <a:solidFill>
              <a:srgbClr val="679C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4" name="Connector 143"/>
          <p:cNvCxnSpPr/>
          <p:nvPr/>
        </p:nvCxnSpPr>
        <p:spPr>
          <a:xfrm>
            <a:off x="9509774" y="473280"/>
            <a:ext cx="637351" cy="0"/>
          </a:xfrm>
          <a:prstGeom prst="line">
            <a:avLst/>
          </a:prstGeom>
          <a:ln w="25241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>
            <a:off x="9509774" y="473280"/>
            <a:ext cx="0" cy="1205286"/>
          </a:xfrm>
          <a:prstGeom prst="line">
            <a:avLst/>
          </a:prstGeom>
          <a:ln w="25241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>
            <a:off x="9509774" y="1066457"/>
            <a:ext cx="637351" cy="0"/>
          </a:xfrm>
          <a:prstGeom prst="line">
            <a:avLst/>
          </a:prstGeom>
          <a:ln w="25241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>
            <a:off x="9509774" y="1678566"/>
            <a:ext cx="637351" cy="0"/>
          </a:xfrm>
          <a:prstGeom prst="line">
            <a:avLst/>
          </a:prstGeom>
          <a:ln w="25241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8" name="TextBox 147"/>
          <p:cNvSpPr txBox="1"/>
          <p:nvPr/>
        </p:nvSpPr>
        <p:spPr>
          <a:xfrm>
            <a:off x="9560257" y="258726"/>
            <a:ext cx="580556" cy="21455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42" b="1" i="0">
                <a:solidFill>
                  <a:srgbClr val="000000"/>
                </a:solidFill>
                <a:latin typeface="Times New Roman"/>
              </a:defRPr>
            </a:pPr>
            <a:r>
              <a:t>Attention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9579189" y="820352"/>
            <a:ext cx="536384" cy="2650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42" b="1" i="0">
                <a:solidFill>
                  <a:srgbClr val="000000"/>
                </a:solidFill>
                <a:latin typeface="Times New Roman"/>
              </a:defRPr>
            </a:pPr>
            <a:r>
              <a:t>GCN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9579189" y="1438771"/>
            <a:ext cx="536384" cy="2650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42" b="1" i="0">
                <a:solidFill>
                  <a:srgbClr val="000000"/>
                </a:solidFill>
                <a:latin typeface="Times New Roman"/>
              </a:defRPr>
            </a:pPr>
            <a:r>
              <a:t>MLP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10159746" y="214553"/>
            <a:ext cx="1060147" cy="517452"/>
          </a:xfrm>
          <a:prstGeom prst="rect">
            <a:avLst/>
          </a:prstGeom>
          <a:solidFill>
            <a:srgbClr val="B8E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ounded Rectangle 151"/>
          <p:cNvSpPr/>
          <p:nvPr/>
        </p:nvSpPr>
        <p:spPr>
          <a:xfrm>
            <a:off x="10367989" y="283968"/>
            <a:ext cx="88345" cy="119897"/>
          </a:xfrm>
          <a:prstGeom prst="roundRect">
            <a:avLst/>
          </a:prstGeom>
          <a:solidFill>
            <a:srgbClr val="FFD49B"/>
          </a:solidFill>
          <a:ln w="6310">
            <a:solidFill>
              <a:srgbClr val="E9A3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3" name="Connector 152"/>
          <p:cNvCxnSpPr/>
          <p:nvPr/>
        </p:nvCxnSpPr>
        <p:spPr>
          <a:xfrm>
            <a:off x="10456334" y="340761"/>
            <a:ext cx="132519" cy="0"/>
          </a:xfrm>
          <a:prstGeom prst="line">
            <a:avLst/>
          </a:prstGeom>
          <a:ln w="6310">
            <a:solidFill>
              <a:srgbClr val="3765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4" name="Rounded Rectangle 153"/>
          <p:cNvSpPr/>
          <p:nvPr/>
        </p:nvSpPr>
        <p:spPr>
          <a:xfrm>
            <a:off x="10367989" y="435417"/>
            <a:ext cx="88345" cy="119897"/>
          </a:xfrm>
          <a:prstGeom prst="roundRect">
            <a:avLst/>
          </a:prstGeom>
          <a:solidFill>
            <a:srgbClr val="FFD49B"/>
          </a:solidFill>
          <a:ln w="6310">
            <a:solidFill>
              <a:srgbClr val="E9A3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5" name="Connector 154"/>
          <p:cNvCxnSpPr/>
          <p:nvPr/>
        </p:nvCxnSpPr>
        <p:spPr>
          <a:xfrm>
            <a:off x="10456334" y="492211"/>
            <a:ext cx="132519" cy="0"/>
          </a:xfrm>
          <a:prstGeom prst="line">
            <a:avLst/>
          </a:prstGeom>
          <a:ln w="6310">
            <a:solidFill>
              <a:srgbClr val="3765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6" name="Rounded Rectangle 155"/>
          <p:cNvSpPr/>
          <p:nvPr/>
        </p:nvSpPr>
        <p:spPr>
          <a:xfrm>
            <a:off x="10367989" y="580556"/>
            <a:ext cx="88345" cy="119897"/>
          </a:xfrm>
          <a:prstGeom prst="roundRect">
            <a:avLst/>
          </a:prstGeom>
          <a:solidFill>
            <a:srgbClr val="FFD49B"/>
          </a:solidFill>
          <a:ln w="6310">
            <a:solidFill>
              <a:srgbClr val="E9A3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7" name="Connector 156"/>
          <p:cNvCxnSpPr/>
          <p:nvPr/>
        </p:nvCxnSpPr>
        <p:spPr>
          <a:xfrm>
            <a:off x="10456334" y="637350"/>
            <a:ext cx="132519" cy="0"/>
          </a:xfrm>
          <a:prstGeom prst="line">
            <a:avLst/>
          </a:prstGeom>
          <a:ln w="6310">
            <a:solidFill>
              <a:srgbClr val="3765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8" name="Rounded Rectangle 157"/>
          <p:cNvSpPr/>
          <p:nvPr/>
        </p:nvSpPr>
        <p:spPr>
          <a:xfrm>
            <a:off x="10588853" y="246105"/>
            <a:ext cx="138828" cy="441728"/>
          </a:xfrm>
          <a:prstGeom prst="roundRect">
            <a:avLst/>
          </a:prstGeom>
          <a:solidFill>
            <a:srgbClr val="E8ADB1"/>
          </a:solidFill>
          <a:ln w="6310">
            <a:solidFill>
              <a:srgbClr val="C77C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ounded Rectangle 158"/>
          <p:cNvSpPr/>
          <p:nvPr/>
        </p:nvSpPr>
        <p:spPr>
          <a:xfrm>
            <a:off x="10803406" y="384934"/>
            <a:ext cx="126208" cy="239795"/>
          </a:xfrm>
          <a:prstGeom prst="roundRect">
            <a:avLst/>
          </a:prstGeom>
          <a:solidFill>
            <a:srgbClr val="FFF7DF"/>
          </a:solidFill>
          <a:ln w="6310">
            <a:solidFill>
              <a:srgbClr val="DDC6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0" name="Connector 159"/>
          <p:cNvCxnSpPr/>
          <p:nvPr/>
        </p:nvCxnSpPr>
        <p:spPr>
          <a:xfrm>
            <a:off x="10935925" y="498521"/>
            <a:ext cx="157760" cy="0"/>
          </a:xfrm>
          <a:prstGeom prst="line">
            <a:avLst/>
          </a:prstGeom>
          <a:ln w="18931">
            <a:solidFill>
              <a:srgbClr val="66A2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1" name="Freeform 160"/>
          <p:cNvSpPr/>
          <p:nvPr/>
        </p:nvSpPr>
        <p:spPr>
          <a:xfrm>
            <a:off x="11036891" y="463309"/>
            <a:ext cx="56794" cy="70424"/>
          </a:xfrm>
          <a:custGeom>
            <a:avLst/>
            <a:gdLst/>
            <a:ahLst/>
            <a:cxnLst/>
            <a:rect l="l" t="t" r="r" b="b"/>
            <a:pathLst>
              <a:path w="56794" h="70424">
                <a:moveTo>
                  <a:pt x="56794" y="35212"/>
                </a:moveTo>
                <a:lnTo>
                  <a:pt x="0" y="0"/>
                </a:lnTo>
                <a:close/>
                <a:lnTo>
                  <a:pt x="0" y="70424"/>
                </a:lnTo>
                <a:close/>
                <a:lnTo>
                  <a:pt x="56794" y="35212"/>
                </a:lnTo>
                <a:close/>
              </a:path>
            </a:pathLst>
          </a:custGeom>
          <a:solidFill>
            <a:srgbClr val="66A2D8"/>
          </a:solidFill>
          <a:ln w="3175">
            <a:solidFill>
              <a:srgbClr val="66A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10159746" y="795110"/>
            <a:ext cx="1060147" cy="517452"/>
          </a:xfrm>
          <a:prstGeom prst="rect">
            <a:avLst/>
          </a:prstGeom>
          <a:solidFill>
            <a:srgbClr val="B6C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ounded Rectangle 162"/>
          <p:cNvSpPr/>
          <p:nvPr/>
        </p:nvSpPr>
        <p:spPr>
          <a:xfrm>
            <a:off x="10229160" y="877145"/>
            <a:ext cx="302899" cy="391244"/>
          </a:xfrm>
          <a:prstGeom prst="roundRect">
            <a:avLst/>
          </a:prstGeom>
          <a:solidFill>
            <a:srgbClr val="ADBAE0"/>
          </a:solidFill>
          <a:ln w="12620">
            <a:solidFill>
              <a:srgbClr val="7A8D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Oval 163"/>
          <p:cNvSpPr/>
          <p:nvPr/>
        </p:nvSpPr>
        <p:spPr>
          <a:xfrm>
            <a:off x="10279643" y="940249"/>
            <a:ext cx="50483" cy="50483"/>
          </a:xfrm>
          <a:prstGeom prst="ellipse">
            <a:avLst/>
          </a:prstGeom>
          <a:solidFill>
            <a:srgbClr val="FF5A50"/>
          </a:solidFill>
          <a:ln w="6310">
            <a:solidFill>
              <a:srgbClr val="2D5C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Oval 164"/>
          <p:cNvSpPr/>
          <p:nvPr/>
        </p:nvSpPr>
        <p:spPr>
          <a:xfrm>
            <a:off x="10279643" y="1104320"/>
            <a:ext cx="50483" cy="50483"/>
          </a:xfrm>
          <a:prstGeom prst="ellipse">
            <a:avLst/>
          </a:prstGeom>
          <a:solidFill>
            <a:srgbClr val="FF5A50"/>
          </a:solidFill>
          <a:ln w="6310">
            <a:solidFill>
              <a:srgbClr val="2D5C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Oval 165"/>
          <p:cNvSpPr/>
          <p:nvPr/>
        </p:nvSpPr>
        <p:spPr>
          <a:xfrm>
            <a:off x="10418472" y="1022285"/>
            <a:ext cx="50483" cy="50483"/>
          </a:xfrm>
          <a:prstGeom prst="ellipse">
            <a:avLst/>
          </a:prstGeom>
          <a:solidFill>
            <a:srgbClr val="FF5A50"/>
          </a:solidFill>
          <a:ln w="6310">
            <a:solidFill>
              <a:srgbClr val="2D5C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7" name="Connector 166"/>
          <p:cNvCxnSpPr/>
          <p:nvPr/>
        </p:nvCxnSpPr>
        <p:spPr>
          <a:xfrm>
            <a:off x="10304885" y="965491"/>
            <a:ext cx="138829" cy="82035"/>
          </a:xfrm>
          <a:prstGeom prst="line">
            <a:avLst/>
          </a:prstGeom>
          <a:ln w="12620">
            <a:solidFill>
              <a:srgbClr val="E947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 flipV="1">
            <a:off x="10304885" y="1047526"/>
            <a:ext cx="138829" cy="82035"/>
          </a:xfrm>
          <a:prstGeom prst="line">
            <a:avLst/>
          </a:prstGeom>
          <a:ln w="12620">
            <a:solidFill>
              <a:srgbClr val="E947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9" name="Rounded Rectangle 168"/>
          <p:cNvSpPr/>
          <p:nvPr/>
        </p:nvSpPr>
        <p:spPr>
          <a:xfrm>
            <a:off x="10860200" y="877145"/>
            <a:ext cx="302899" cy="391244"/>
          </a:xfrm>
          <a:prstGeom prst="roundRect">
            <a:avLst/>
          </a:prstGeom>
          <a:solidFill>
            <a:srgbClr val="ADBAE0"/>
          </a:solidFill>
          <a:ln w="12620">
            <a:solidFill>
              <a:srgbClr val="7A8D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Oval 169"/>
          <p:cNvSpPr/>
          <p:nvPr/>
        </p:nvSpPr>
        <p:spPr>
          <a:xfrm>
            <a:off x="10910683" y="940249"/>
            <a:ext cx="50483" cy="50483"/>
          </a:xfrm>
          <a:prstGeom prst="ellipse">
            <a:avLst/>
          </a:prstGeom>
          <a:solidFill>
            <a:srgbClr val="FF5A50"/>
          </a:solidFill>
          <a:ln w="6310">
            <a:solidFill>
              <a:srgbClr val="2D5C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Oval 170"/>
          <p:cNvSpPr/>
          <p:nvPr/>
        </p:nvSpPr>
        <p:spPr>
          <a:xfrm>
            <a:off x="10910683" y="1104320"/>
            <a:ext cx="50483" cy="50483"/>
          </a:xfrm>
          <a:prstGeom prst="ellipse">
            <a:avLst/>
          </a:prstGeom>
          <a:solidFill>
            <a:srgbClr val="FF5A50"/>
          </a:solidFill>
          <a:ln w="6310">
            <a:solidFill>
              <a:srgbClr val="2D5C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Oval 171"/>
          <p:cNvSpPr/>
          <p:nvPr/>
        </p:nvSpPr>
        <p:spPr>
          <a:xfrm>
            <a:off x="11049512" y="1022285"/>
            <a:ext cx="50483" cy="50483"/>
          </a:xfrm>
          <a:prstGeom prst="ellipse">
            <a:avLst/>
          </a:prstGeom>
          <a:solidFill>
            <a:srgbClr val="FF5A50"/>
          </a:solidFill>
          <a:ln w="6310">
            <a:solidFill>
              <a:srgbClr val="2D5C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3" name="Connector 172"/>
          <p:cNvCxnSpPr/>
          <p:nvPr/>
        </p:nvCxnSpPr>
        <p:spPr>
          <a:xfrm>
            <a:off x="10935925" y="965491"/>
            <a:ext cx="138829" cy="82035"/>
          </a:xfrm>
          <a:prstGeom prst="line">
            <a:avLst/>
          </a:prstGeom>
          <a:ln w="12620">
            <a:solidFill>
              <a:srgbClr val="E947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 flipV="1">
            <a:off x="10935925" y="1047526"/>
            <a:ext cx="138829" cy="82035"/>
          </a:xfrm>
          <a:prstGeom prst="line">
            <a:avLst/>
          </a:prstGeom>
          <a:ln w="12620">
            <a:solidFill>
              <a:srgbClr val="E947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>
            <a:off x="10532059" y="1066457"/>
            <a:ext cx="321831" cy="0"/>
          </a:xfrm>
          <a:prstGeom prst="line">
            <a:avLst/>
          </a:prstGeom>
          <a:ln w="12620">
            <a:solidFill>
              <a:srgbClr val="2D5CA5"/>
            </a:solidFill>
            <a:prstDash val="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6" name="Rectangle 175"/>
          <p:cNvSpPr/>
          <p:nvPr/>
        </p:nvSpPr>
        <p:spPr>
          <a:xfrm>
            <a:off x="10159746" y="1381977"/>
            <a:ext cx="1060147" cy="448038"/>
          </a:xfrm>
          <a:prstGeom prst="rect">
            <a:avLst/>
          </a:prstGeom>
          <a:solidFill>
            <a:srgbClr val="BFE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Oval 176"/>
          <p:cNvSpPr/>
          <p:nvPr/>
        </p:nvSpPr>
        <p:spPr>
          <a:xfrm>
            <a:off x="10279643" y="1482944"/>
            <a:ext cx="138828" cy="138828"/>
          </a:xfrm>
          <a:prstGeom prst="ellipse">
            <a:avLst/>
          </a:prstGeom>
          <a:solidFill>
            <a:srgbClr val="2F86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Oval 177"/>
          <p:cNvSpPr/>
          <p:nvPr/>
        </p:nvSpPr>
        <p:spPr>
          <a:xfrm>
            <a:off x="10279643" y="1634393"/>
            <a:ext cx="138828" cy="138828"/>
          </a:xfrm>
          <a:prstGeom prst="ellipse">
            <a:avLst/>
          </a:prstGeom>
          <a:solidFill>
            <a:srgbClr val="2F86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Oval 178"/>
          <p:cNvSpPr/>
          <p:nvPr/>
        </p:nvSpPr>
        <p:spPr>
          <a:xfrm>
            <a:off x="10658267" y="1407219"/>
            <a:ext cx="138828" cy="138828"/>
          </a:xfrm>
          <a:prstGeom prst="ellipse">
            <a:avLst/>
          </a:prstGeom>
          <a:solidFill>
            <a:srgbClr val="2F86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Oval 179"/>
          <p:cNvSpPr/>
          <p:nvPr/>
        </p:nvSpPr>
        <p:spPr>
          <a:xfrm>
            <a:off x="10658267" y="1527117"/>
            <a:ext cx="138828" cy="138828"/>
          </a:xfrm>
          <a:prstGeom prst="ellipse">
            <a:avLst/>
          </a:prstGeom>
          <a:solidFill>
            <a:srgbClr val="2F86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Oval 180"/>
          <p:cNvSpPr/>
          <p:nvPr/>
        </p:nvSpPr>
        <p:spPr>
          <a:xfrm>
            <a:off x="10658267" y="1647014"/>
            <a:ext cx="138828" cy="138828"/>
          </a:xfrm>
          <a:prstGeom prst="ellipse">
            <a:avLst/>
          </a:prstGeom>
          <a:solidFill>
            <a:srgbClr val="2F86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Oval 181"/>
          <p:cNvSpPr/>
          <p:nvPr/>
        </p:nvSpPr>
        <p:spPr>
          <a:xfrm>
            <a:off x="10954856" y="1558669"/>
            <a:ext cx="138828" cy="138828"/>
          </a:xfrm>
          <a:prstGeom prst="ellipse">
            <a:avLst/>
          </a:prstGeom>
          <a:solidFill>
            <a:srgbClr val="2F86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3" name="Connector 182"/>
          <p:cNvCxnSpPr/>
          <p:nvPr/>
        </p:nvCxnSpPr>
        <p:spPr>
          <a:xfrm flipV="1">
            <a:off x="10399541" y="1476633"/>
            <a:ext cx="258726" cy="75725"/>
          </a:xfrm>
          <a:prstGeom prst="line">
            <a:avLst/>
          </a:prstGeom>
          <a:ln w="12620">
            <a:solidFill>
              <a:srgbClr val="174F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Connector 183"/>
          <p:cNvCxnSpPr/>
          <p:nvPr/>
        </p:nvCxnSpPr>
        <p:spPr>
          <a:xfrm>
            <a:off x="10399541" y="1552358"/>
            <a:ext cx="258726" cy="44173"/>
          </a:xfrm>
          <a:prstGeom prst="line">
            <a:avLst/>
          </a:prstGeom>
          <a:ln w="12620">
            <a:solidFill>
              <a:srgbClr val="174F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Connector 184"/>
          <p:cNvCxnSpPr/>
          <p:nvPr/>
        </p:nvCxnSpPr>
        <p:spPr>
          <a:xfrm>
            <a:off x="10399541" y="1552358"/>
            <a:ext cx="258726" cy="164071"/>
          </a:xfrm>
          <a:prstGeom prst="line">
            <a:avLst/>
          </a:prstGeom>
          <a:ln w="12620">
            <a:solidFill>
              <a:srgbClr val="174F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Connector 185"/>
          <p:cNvCxnSpPr/>
          <p:nvPr/>
        </p:nvCxnSpPr>
        <p:spPr>
          <a:xfrm flipV="1">
            <a:off x="10399541" y="1476633"/>
            <a:ext cx="258726" cy="227175"/>
          </a:xfrm>
          <a:prstGeom prst="line">
            <a:avLst/>
          </a:prstGeom>
          <a:ln w="12620">
            <a:solidFill>
              <a:srgbClr val="174F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Connector 186"/>
          <p:cNvCxnSpPr/>
          <p:nvPr/>
        </p:nvCxnSpPr>
        <p:spPr>
          <a:xfrm flipV="1">
            <a:off x="10399541" y="1596531"/>
            <a:ext cx="258726" cy="107277"/>
          </a:xfrm>
          <a:prstGeom prst="line">
            <a:avLst/>
          </a:prstGeom>
          <a:ln w="12620">
            <a:solidFill>
              <a:srgbClr val="174F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Connector 187"/>
          <p:cNvCxnSpPr/>
          <p:nvPr/>
        </p:nvCxnSpPr>
        <p:spPr>
          <a:xfrm>
            <a:off x="10399541" y="1703808"/>
            <a:ext cx="258726" cy="12621"/>
          </a:xfrm>
          <a:prstGeom prst="line">
            <a:avLst/>
          </a:prstGeom>
          <a:ln w="12620">
            <a:solidFill>
              <a:srgbClr val="174F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Connector 188"/>
          <p:cNvCxnSpPr/>
          <p:nvPr/>
        </p:nvCxnSpPr>
        <p:spPr>
          <a:xfrm>
            <a:off x="10797096" y="1476633"/>
            <a:ext cx="157760" cy="151450"/>
          </a:xfrm>
          <a:prstGeom prst="line">
            <a:avLst/>
          </a:prstGeom>
          <a:ln w="12620">
            <a:solidFill>
              <a:srgbClr val="174F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Connector 189"/>
          <p:cNvCxnSpPr/>
          <p:nvPr/>
        </p:nvCxnSpPr>
        <p:spPr>
          <a:xfrm>
            <a:off x="10797096" y="1596531"/>
            <a:ext cx="157760" cy="31552"/>
          </a:xfrm>
          <a:prstGeom prst="line">
            <a:avLst/>
          </a:prstGeom>
          <a:ln w="12620">
            <a:solidFill>
              <a:srgbClr val="174F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Connector 190"/>
          <p:cNvCxnSpPr/>
          <p:nvPr/>
        </p:nvCxnSpPr>
        <p:spPr>
          <a:xfrm flipV="1">
            <a:off x="10797096" y="1628083"/>
            <a:ext cx="157760" cy="88346"/>
          </a:xfrm>
          <a:prstGeom prst="line">
            <a:avLst/>
          </a:prstGeom>
          <a:ln w="12620">
            <a:solidFill>
              <a:srgbClr val="174F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Connector 191"/>
          <p:cNvCxnSpPr/>
          <p:nvPr/>
        </p:nvCxnSpPr>
        <p:spPr>
          <a:xfrm>
            <a:off x="11226203" y="479590"/>
            <a:ext cx="258727" cy="0"/>
          </a:xfrm>
          <a:prstGeom prst="line">
            <a:avLst/>
          </a:prstGeom>
          <a:ln w="25241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3" name="Freeform 192"/>
          <p:cNvSpPr/>
          <p:nvPr/>
        </p:nvSpPr>
        <p:spPr>
          <a:xfrm>
            <a:off x="11402895" y="428728"/>
            <a:ext cx="82035" cy="101724"/>
          </a:xfrm>
          <a:custGeom>
            <a:avLst/>
            <a:gdLst/>
            <a:ahLst/>
            <a:cxnLst/>
            <a:rect l="l" t="t" r="r" b="b"/>
            <a:pathLst>
              <a:path w="82035" h="101724">
                <a:moveTo>
                  <a:pt x="82035" y="50862"/>
                </a:moveTo>
                <a:lnTo>
                  <a:pt x="0" y="0"/>
                </a:lnTo>
                <a:close/>
                <a:lnTo>
                  <a:pt x="0" y="101724"/>
                </a:lnTo>
                <a:close/>
                <a:lnTo>
                  <a:pt x="82035" y="50862"/>
                </a:lnTo>
                <a:close/>
              </a:path>
            </a:pathLst>
          </a:custGeom>
          <a:solidFill>
            <a:srgbClr val="000000"/>
          </a:solidFill>
          <a:ln w="317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4" name="Connector 193"/>
          <p:cNvCxnSpPr/>
          <p:nvPr/>
        </p:nvCxnSpPr>
        <p:spPr>
          <a:xfrm>
            <a:off x="11226203" y="1066457"/>
            <a:ext cx="258727" cy="0"/>
          </a:xfrm>
          <a:prstGeom prst="line">
            <a:avLst/>
          </a:prstGeom>
          <a:ln w="25241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5" name="Freeform 194"/>
          <p:cNvSpPr/>
          <p:nvPr/>
        </p:nvSpPr>
        <p:spPr>
          <a:xfrm>
            <a:off x="11402895" y="1015595"/>
            <a:ext cx="82035" cy="101724"/>
          </a:xfrm>
          <a:custGeom>
            <a:avLst/>
            <a:gdLst/>
            <a:ahLst/>
            <a:cxnLst/>
            <a:rect l="l" t="t" r="r" b="b"/>
            <a:pathLst>
              <a:path w="82035" h="101724">
                <a:moveTo>
                  <a:pt x="82035" y="50862"/>
                </a:moveTo>
                <a:lnTo>
                  <a:pt x="0" y="0"/>
                </a:lnTo>
                <a:close/>
                <a:lnTo>
                  <a:pt x="0" y="101724"/>
                </a:lnTo>
                <a:close/>
                <a:lnTo>
                  <a:pt x="82035" y="50862"/>
                </a:lnTo>
                <a:close/>
              </a:path>
            </a:pathLst>
          </a:custGeom>
          <a:solidFill>
            <a:srgbClr val="000000"/>
          </a:solidFill>
          <a:ln w="317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6" name="Connector 195"/>
          <p:cNvCxnSpPr/>
          <p:nvPr/>
        </p:nvCxnSpPr>
        <p:spPr>
          <a:xfrm>
            <a:off x="11226203" y="1647014"/>
            <a:ext cx="258727" cy="0"/>
          </a:xfrm>
          <a:prstGeom prst="line">
            <a:avLst/>
          </a:prstGeom>
          <a:ln w="25241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7" name="Freeform 196"/>
          <p:cNvSpPr/>
          <p:nvPr/>
        </p:nvSpPr>
        <p:spPr>
          <a:xfrm>
            <a:off x="11402895" y="1596152"/>
            <a:ext cx="82035" cy="101724"/>
          </a:xfrm>
          <a:custGeom>
            <a:avLst/>
            <a:gdLst/>
            <a:ahLst/>
            <a:cxnLst/>
            <a:rect l="l" t="t" r="r" b="b"/>
            <a:pathLst>
              <a:path w="82035" h="101724">
                <a:moveTo>
                  <a:pt x="82035" y="50862"/>
                </a:moveTo>
                <a:lnTo>
                  <a:pt x="0" y="0"/>
                </a:lnTo>
                <a:close/>
                <a:lnTo>
                  <a:pt x="0" y="101724"/>
                </a:lnTo>
                <a:close/>
                <a:lnTo>
                  <a:pt x="82035" y="50862"/>
                </a:lnTo>
                <a:close/>
              </a:path>
            </a:pathLst>
          </a:custGeom>
          <a:solidFill>
            <a:srgbClr val="000000"/>
          </a:solidFill>
          <a:ln w="317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11484930" y="252416"/>
            <a:ext cx="384934" cy="1628083"/>
          </a:xfrm>
          <a:prstGeom prst="rect">
            <a:avLst/>
          </a:prstGeom>
          <a:solidFill>
            <a:srgbClr val="56A6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TextBox 198"/>
          <p:cNvSpPr txBox="1"/>
          <p:nvPr/>
        </p:nvSpPr>
        <p:spPr>
          <a:xfrm rot="5400000">
            <a:off x="11510171" y="302899"/>
            <a:ext cx="321830" cy="153342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92" b="1" i="0">
                <a:solidFill>
                  <a:srgbClr val="000000"/>
                </a:solidFill>
                <a:latin typeface="Times New Roman"/>
              </a:defRPr>
            </a:pPr>
            <a:r>
              <a:t>Multi-Criteria Score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192" b="1" i="0">
                <a:solidFill>
                  <a:srgbClr val="000000"/>
                </a:solidFill>
                <a:latin typeface="Times New Roman"/>
              </a:defRPr>
            </a:pPr>
            <a:r>
              <a:t>Aggregator</a:t>
            </a:r>
          </a:p>
        </p:txBody>
      </p:sp>
      <p:cxnSp>
        <p:nvCxnSpPr>
          <p:cNvPr id="200" name="Connector 199"/>
          <p:cNvCxnSpPr/>
          <p:nvPr/>
        </p:nvCxnSpPr>
        <p:spPr>
          <a:xfrm>
            <a:off x="11674242" y="1880499"/>
            <a:ext cx="0" cy="984423"/>
          </a:xfrm>
          <a:prstGeom prst="line">
            <a:avLst/>
          </a:prstGeom>
          <a:ln w="113587">
            <a:solidFill>
              <a:srgbClr val="4D89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Connector 200"/>
          <p:cNvCxnSpPr/>
          <p:nvPr/>
        </p:nvCxnSpPr>
        <p:spPr>
          <a:xfrm flipH="1">
            <a:off x="11301928" y="2864922"/>
            <a:ext cx="372314" cy="0"/>
          </a:xfrm>
          <a:prstGeom prst="line">
            <a:avLst/>
          </a:prstGeom>
          <a:ln w="113587">
            <a:solidFill>
              <a:srgbClr val="4D89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2" name="Freeform 201"/>
          <p:cNvSpPr/>
          <p:nvPr/>
        </p:nvSpPr>
        <p:spPr>
          <a:xfrm>
            <a:off x="11301928" y="2778848"/>
            <a:ext cx="138829" cy="172148"/>
          </a:xfrm>
          <a:custGeom>
            <a:avLst/>
            <a:gdLst/>
            <a:ahLst/>
            <a:cxnLst/>
            <a:rect l="l" t="t" r="r" b="b"/>
            <a:pathLst>
              <a:path w="138829" h="172148">
                <a:moveTo>
                  <a:pt x="0" y="86074"/>
                </a:moveTo>
                <a:lnTo>
                  <a:pt x="138829" y="172148"/>
                </a:lnTo>
                <a:close/>
                <a:lnTo>
                  <a:pt x="138829" y="0"/>
                </a:lnTo>
                <a:close/>
                <a:lnTo>
                  <a:pt x="0" y="86074"/>
                </a:lnTo>
                <a:close/>
              </a:path>
            </a:pathLst>
          </a:custGeom>
          <a:solidFill>
            <a:srgbClr val="4D8987"/>
          </a:solidFill>
          <a:ln w="3175">
            <a:solidFill>
              <a:srgbClr val="4D89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9718017" y="2196019"/>
            <a:ext cx="1539737" cy="1457702"/>
          </a:xfrm>
          <a:prstGeom prst="rect">
            <a:avLst/>
          </a:prstGeom>
          <a:solidFill>
            <a:srgbClr val="F3FAEF"/>
          </a:solidFill>
          <a:ln w="31552">
            <a:solidFill>
              <a:srgbClr val="B8DBAA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ounded Rectangle 203"/>
          <p:cNvSpPr/>
          <p:nvPr/>
        </p:nvSpPr>
        <p:spPr>
          <a:xfrm>
            <a:off x="10311195" y="2278054"/>
            <a:ext cx="309209" cy="1230528"/>
          </a:xfrm>
          <a:prstGeom prst="roundRect">
            <a:avLst/>
          </a:prstGeom>
          <a:solidFill>
            <a:srgbClr val="EFBF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ounded Rectangle 204"/>
          <p:cNvSpPr/>
          <p:nvPr/>
        </p:nvSpPr>
        <p:spPr>
          <a:xfrm>
            <a:off x="10361678" y="2353779"/>
            <a:ext cx="88345" cy="113587"/>
          </a:xfrm>
          <a:prstGeom prst="roundRect">
            <a:avLst/>
          </a:prstGeom>
          <a:solidFill>
            <a:srgbClr val="DA8EAC"/>
          </a:solidFill>
          <a:ln w="18931">
            <a:solidFill>
              <a:srgbClr val="AD54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ounded Rectangle 205"/>
          <p:cNvSpPr/>
          <p:nvPr/>
        </p:nvSpPr>
        <p:spPr>
          <a:xfrm>
            <a:off x="10506818" y="2353779"/>
            <a:ext cx="88345" cy="113587"/>
          </a:xfrm>
          <a:prstGeom prst="roundRect">
            <a:avLst/>
          </a:prstGeom>
          <a:solidFill>
            <a:srgbClr val="DA8EAC"/>
          </a:solidFill>
          <a:ln w="18931">
            <a:solidFill>
              <a:srgbClr val="AD54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ounded Rectangle 206"/>
          <p:cNvSpPr/>
          <p:nvPr/>
        </p:nvSpPr>
        <p:spPr>
          <a:xfrm>
            <a:off x="10361678" y="2530470"/>
            <a:ext cx="88345" cy="113587"/>
          </a:xfrm>
          <a:prstGeom prst="roundRect">
            <a:avLst/>
          </a:prstGeom>
          <a:solidFill>
            <a:srgbClr val="DA8EAC"/>
          </a:solidFill>
          <a:ln w="18931">
            <a:solidFill>
              <a:srgbClr val="AD54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ounded Rectangle 207"/>
          <p:cNvSpPr/>
          <p:nvPr/>
        </p:nvSpPr>
        <p:spPr>
          <a:xfrm>
            <a:off x="10506818" y="2530470"/>
            <a:ext cx="88345" cy="113587"/>
          </a:xfrm>
          <a:prstGeom prst="roundRect">
            <a:avLst/>
          </a:prstGeom>
          <a:solidFill>
            <a:srgbClr val="DA8EAC"/>
          </a:solidFill>
          <a:ln w="18931">
            <a:solidFill>
              <a:srgbClr val="AD54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ounded Rectangle 208"/>
          <p:cNvSpPr/>
          <p:nvPr/>
        </p:nvSpPr>
        <p:spPr>
          <a:xfrm>
            <a:off x="10361678" y="2707162"/>
            <a:ext cx="88345" cy="113587"/>
          </a:xfrm>
          <a:prstGeom prst="roundRect">
            <a:avLst/>
          </a:prstGeom>
          <a:solidFill>
            <a:srgbClr val="DA8EAC"/>
          </a:solidFill>
          <a:ln w="18931">
            <a:solidFill>
              <a:srgbClr val="AD54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ounded Rectangle 209"/>
          <p:cNvSpPr/>
          <p:nvPr/>
        </p:nvSpPr>
        <p:spPr>
          <a:xfrm>
            <a:off x="10506818" y="2707162"/>
            <a:ext cx="88345" cy="113587"/>
          </a:xfrm>
          <a:prstGeom prst="roundRect">
            <a:avLst/>
          </a:prstGeom>
          <a:solidFill>
            <a:srgbClr val="DA8EAC"/>
          </a:solidFill>
          <a:ln w="18931">
            <a:solidFill>
              <a:srgbClr val="AD54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ounded Rectangle 210"/>
          <p:cNvSpPr/>
          <p:nvPr/>
        </p:nvSpPr>
        <p:spPr>
          <a:xfrm>
            <a:off x="10361678" y="2883853"/>
            <a:ext cx="88345" cy="113587"/>
          </a:xfrm>
          <a:prstGeom prst="roundRect">
            <a:avLst/>
          </a:prstGeom>
          <a:solidFill>
            <a:srgbClr val="DA8EAC"/>
          </a:solidFill>
          <a:ln w="18931">
            <a:solidFill>
              <a:srgbClr val="AD54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ounded Rectangle 211"/>
          <p:cNvSpPr/>
          <p:nvPr/>
        </p:nvSpPr>
        <p:spPr>
          <a:xfrm>
            <a:off x="10506818" y="2883853"/>
            <a:ext cx="88345" cy="113587"/>
          </a:xfrm>
          <a:prstGeom prst="roundRect">
            <a:avLst/>
          </a:prstGeom>
          <a:solidFill>
            <a:srgbClr val="DA8EAC"/>
          </a:solidFill>
          <a:ln w="18931">
            <a:solidFill>
              <a:srgbClr val="AD54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ounded Rectangle 212"/>
          <p:cNvSpPr/>
          <p:nvPr/>
        </p:nvSpPr>
        <p:spPr>
          <a:xfrm>
            <a:off x="10361678" y="3060544"/>
            <a:ext cx="88345" cy="113587"/>
          </a:xfrm>
          <a:prstGeom prst="roundRect">
            <a:avLst/>
          </a:prstGeom>
          <a:solidFill>
            <a:srgbClr val="DA8EAC"/>
          </a:solidFill>
          <a:ln w="18931">
            <a:solidFill>
              <a:srgbClr val="AD54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ounded Rectangle 213"/>
          <p:cNvSpPr/>
          <p:nvPr/>
        </p:nvSpPr>
        <p:spPr>
          <a:xfrm>
            <a:off x="10506818" y="3060544"/>
            <a:ext cx="88345" cy="113587"/>
          </a:xfrm>
          <a:prstGeom prst="roundRect">
            <a:avLst/>
          </a:prstGeom>
          <a:solidFill>
            <a:srgbClr val="DA8EAC"/>
          </a:solidFill>
          <a:ln w="18931">
            <a:solidFill>
              <a:srgbClr val="AD54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ounded Rectangle 214"/>
          <p:cNvSpPr/>
          <p:nvPr/>
        </p:nvSpPr>
        <p:spPr>
          <a:xfrm>
            <a:off x="10361678" y="3237235"/>
            <a:ext cx="88345" cy="113587"/>
          </a:xfrm>
          <a:prstGeom prst="roundRect">
            <a:avLst/>
          </a:prstGeom>
          <a:solidFill>
            <a:srgbClr val="DA8EAC"/>
          </a:solidFill>
          <a:ln w="18931">
            <a:solidFill>
              <a:srgbClr val="AD54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ounded Rectangle 215"/>
          <p:cNvSpPr/>
          <p:nvPr/>
        </p:nvSpPr>
        <p:spPr>
          <a:xfrm>
            <a:off x="10506818" y="3237235"/>
            <a:ext cx="88345" cy="113587"/>
          </a:xfrm>
          <a:prstGeom prst="roundRect">
            <a:avLst/>
          </a:prstGeom>
          <a:solidFill>
            <a:srgbClr val="DA8EAC"/>
          </a:solidFill>
          <a:ln w="18931">
            <a:solidFill>
              <a:srgbClr val="AD54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TextBox 216"/>
          <p:cNvSpPr txBox="1"/>
          <p:nvPr/>
        </p:nvSpPr>
        <p:spPr>
          <a:xfrm>
            <a:off x="9825294" y="3388685"/>
            <a:ext cx="1331494" cy="2650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91" b="1" i="0">
                <a:solidFill>
                  <a:srgbClr val="000000"/>
                </a:solidFill>
                <a:latin typeface="Times New Roman"/>
              </a:defRPr>
            </a:pPr>
            <a:r>
              <a:t>Station Features</a:t>
            </a:r>
          </a:p>
        </p:txBody>
      </p:sp>
      <p:cxnSp>
        <p:nvCxnSpPr>
          <p:cNvPr id="218" name="Connector 217"/>
          <p:cNvCxnSpPr/>
          <p:nvPr/>
        </p:nvCxnSpPr>
        <p:spPr>
          <a:xfrm flipH="1">
            <a:off x="9175323" y="2940646"/>
            <a:ext cx="536384" cy="0"/>
          </a:xfrm>
          <a:prstGeom prst="line">
            <a:avLst/>
          </a:prstGeom>
          <a:ln w="37862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9" name="Freeform 218"/>
          <p:cNvSpPr/>
          <p:nvPr/>
        </p:nvSpPr>
        <p:spPr>
          <a:xfrm>
            <a:off x="9175323" y="2870222"/>
            <a:ext cx="113587" cy="140849"/>
          </a:xfrm>
          <a:custGeom>
            <a:avLst/>
            <a:gdLst/>
            <a:ahLst/>
            <a:cxnLst/>
            <a:rect l="l" t="t" r="r" b="b"/>
            <a:pathLst>
              <a:path w="113587" h="140849">
                <a:moveTo>
                  <a:pt x="0" y="70424"/>
                </a:moveTo>
                <a:lnTo>
                  <a:pt x="113587" y="140849"/>
                </a:lnTo>
                <a:close/>
                <a:lnTo>
                  <a:pt x="113587" y="0"/>
                </a:lnTo>
                <a:close/>
                <a:lnTo>
                  <a:pt x="0" y="70424"/>
                </a:lnTo>
                <a:close/>
              </a:path>
            </a:pathLst>
          </a:custGeom>
          <a:solidFill>
            <a:srgbClr val="000000"/>
          </a:solidFill>
          <a:ln w="317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ounded Rectangle 219"/>
          <p:cNvSpPr/>
          <p:nvPr/>
        </p:nvSpPr>
        <p:spPr>
          <a:xfrm>
            <a:off x="8481179" y="2214950"/>
            <a:ext cx="694144" cy="1609152"/>
          </a:xfrm>
          <a:prstGeom prst="roundRect">
            <a:avLst/>
          </a:prstGeom>
          <a:solidFill>
            <a:srgbClr val="D8F0F3"/>
          </a:solidFill>
          <a:ln w="25241">
            <a:solidFill>
              <a:srgbClr val="2F86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8544283" y="2025638"/>
            <a:ext cx="574246" cy="328140"/>
          </a:xfrm>
          <a:prstGeom prst="rect">
            <a:avLst/>
          </a:prstGeom>
          <a:solidFill>
            <a:srgbClr val="A6D6DD"/>
          </a:solidFill>
          <a:ln w="18931">
            <a:solidFill>
              <a:srgbClr val="2F86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TextBox 221"/>
          <p:cNvSpPr txBox="1"/>
          <p:nvPr/>
        </p:nvSpPr>
        <p:spPr>
          <a:xfrm>
            <a:off x="8569524" y="2044570"/>
            <a:ext cx="523763" cy="29027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42" b="1" i="0">
                <a:solidFill>
                  <a:srgbClr val="000000"/>
                </a:solidFill>
                <a:latin typeface="Times New Roman"/>
              </a:defRPr>
            </a:pPr>
            <a:r>
              <a:t>Station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142" b="1" i="0">
                <a:solidFill>
                  <a:srgbClr val="000000"/>
                </a:solidFill>
                <a:latin typeface="Times New Roman"/>
              </a:defRPr>
            </a:pPr>
            <a:r>
              <a:t>Bias</a:t>
            </a:r>
          </a:p>
        </p:txBody>
      </p:sp>
      <p:sp>
        <p:nvSpPr>
          <p:cNvPr id="223" name="Rounded Rectangle 222"/>
          <p:cNvSpPr/>
          <p:nvPr/>
        </p:nvSpPr>
        <p:spPr>
          <a:xfrm>
            <a:off x="8531662" y="2959578"/>
            <a:ext cx="126208" cy="220864"/>
          </a:xfrm>
          <a:prstGeom prst="roundRect">
            <a:avLst/>
          </a:prstGeom>
          <a:solidFill>
            <a:srgbClr val="56A6AD"/>
          </a:solidFill>
          <a:ln w="12620">
            <a:solidFill>
              <a:srgbClr val="5CB3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ounded Rectangle 223"/>
          <p:cNvSpPr/>
          <p:nvPr/>
        </p:nvSpPr>
        <p:spPr>
          <a:xfrm>
            <a:off x="8733595" y="2637747"/>
            <a:ext cx="145139" cy="536384"/>
          </a:xfrm>
          <a:prstGeom prst="roundRect">
            <a:avLst/>
          </a:prstGeom>
          <a:solidFill>
            <a:srgbClr val="56A6AD"/>
          </a:solidFill>
          <a:ln w="12620">
            <a:solidFill>
              <a:srgbClr val="5CB3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ounded Rectangle 224"/>
          <p:cNvSpPr/>
          <p:nvPr/>
        </p:nvSpPr>
        <p:spPr>
          <a:xfrm>
            <a:off x="8960769" y="2341158"/>
            <a:ext cx="138828" cy="839283"/>
          </a:xfrm>
          <a:prstGeom prst="roundRect">
            <a:avLst/>
          </a:prstGeom>
          <a:solidFill>
            <a:srgbClr val="56A6AD"/>
          </a:solidFill>
          <a:ln w="12620">
            <a:solidFill>
              <a:srgbClr val="5CB3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6" name="Connector 225"/>
          <p:cNvCxnSpPr/>
          <p:nvPr/>
        </p:nvCxnSpPr>
        <p:spPr>
          <a:xfrm flipH="1">
            <a:off x="7768103" y="2940646"/>
            <a:ext cx="713076" cy="0"/>
          </a:xfrm>
          <a:prstGeom prst="line">
            <a:avLst/>
          </a:prstGeom>
          <a:ln w="37862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7" name="Freeform 226"/>
          <p:cNvSpPr/>
          <p:nvPr/>
        </p:nvSpPr>
        <p:spPr>
          <a:xfrm>
            <a:off x="7768103" y="2870222"/>
            <a:ext cx="113588" cy="140849"/>
          </a:xfrm>
          <a:custGeom>
            <a:avLst/>
            <a:gdLst/>
            <a:ahLst/>
            <a:cxnLst/>
            <a:rect l="l" t="t" r="r" b="b"/>
            <a:pathLst>
              <a:path w="113588" h="140849">
                <a:moveTo>
                  <a:pt x="0" y="70424"/>
                </a:moveTo>
                <a:lnTo>
                  <a:pt x="113588" y="140849"/>
                </a:lnTo>
                <a:close/>
                <a:lnTo>
                  <a:pt x="113588" y="0"/>
                </a:lnTo>
                <a:close/>
                <a:lnTo>
                  <a:pt x="0" y="70424"/>
                </a:lnTo>
                <a:close/>
              </a:path>
            </a:pathLst>
          </a:custGeom>
          <a:solidFill>
            <a:srgbClr val="000000"/>
          </a:solidFill>
          <a:ln w="317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6228366" y="2202330"/>
            <a:ext cx="1539737" cy="1457702"/>
          </a:xfrm>
          <a:prstGeom prst="rect">
            <a:avLst/>
          </a:prstGeom>
          <a:solidFill>
            <a:srgbClr val="F3FAEF"/>
          </a:solidFill>
          <a:ln w="31552">
            <a:solidFill>
              <a:srgbClr val="B8DBAA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ounded Rectangle 228"/>
          <p:cNvSpPr/>
          <p:nvPr/>
        </p:nvSpPr>
        <p:spPr>
          <a:xfrm>
            <a:off x="6777370" y="2625126"/>
            <a:ext cx="384934" cy="372313"/>
          </a:xfrm>
          <a:prstGeom prst="roundRect">
            <a:avLst/>
          </a:prstGeom>
          <a:solidFill>
            <a:srgbClr val="DBA3BB"/>
          </a:solidFill>
          <a:ln w="25241">
            <a:solidFill>
              <a:srgbClr val="B75E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TextBox 229"/>
          <p:cNvSpPr txBox="1"/>
          <p:nvPr/>
        </p:nvSpPr>
        <p:spPr>
          <a:xfrm>
            <a:off x="6373505" y="3092096"/>
            <a:ext cx="1249459" cy="4227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42" b="1" i="0">
                <a:solidFill>
                  <a:srgbClr val="000000"/>
                </a:solidFill>
                <a:latin typeface="Times New Roman"/>
              </a:defRPr>
            </a:pPr>
            <a:r>
              <a:t>Station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42" b="1" i="0">
                <a:solidFill>
                  <a:srgbClr val="000000"/>
                </a:solidFill>
                <a:latin typeface="Times New Roman"/>
              </a:defRPr>
            </a:pPr>
            <a:r>
              <a:t>Precipitation Value</a:t>
            </a:r>
          </a:p>
        </p:txBody>
      </p:sp>
      <p:cxnSp>
        <p:nvCxnSpPr>
          <p:cNvPr id="231" name="Connector 230"/>
          <p:cNvCxnSpPr/>
          <p:nvPr/>
        </p:nvCxnSpPr>
        <p:spPr>
          <a:xfrm>
            <a:off x="50483" y="3931379"/>
            <a:ext cx="12090728" cy="0"/>
          </a:xfrm>
          <a:prstGeom prst="line">
            <a:avLst/>
          </a:prstGeom>
          <a:ln w="37862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2" name="Connector 231"/>
          <p:cNvCxnSpPr/>
          <p:nvPr/>
        </p:nvCxnSpPr>
        <p:spPr>
          <a:xfrm>
            <a:off x="6070605" y="3931379"/>
            <a:ext cx="0" cy="2946958"/>
          </a:xfrm>
          <a:prstGeom prst="line">
            <a:avLst/>
          </a:prstGeom>
          <a:ln w="37862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3" name="Rounded Rectangle 232"/>
          <p:cNvSpPr/>
          <p:nvPr/>
        </p:nvSpPr>
        <p:spPr>
          <a:xfrm>
            <a:off x="378624" y="4070208"/>
            <a:ext cx="5490049" cy="2719782"/>
          </a:xfrm>
          <a:prstGeom prst="roundRect">
            <a:avLst/>
          </a:prstGeom>
          <a:solidFill>
            <a:srgbClr val="CFE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3685274" y="3975552"/>
            <a:ext cx="2013017" cy="511142"/>
          </a:xfrm>
          <a:prstGeom prst="rect">
            <a:avLst/>
          </a:prstGeom>
          <a:solidFill>
            <a:srgbClr val="BFD4EB"/>
          </a:solidFill>
          <a:ln w="25241">
            <a:solidFill>
              <a:srgbClr val="2D5C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TextBox 234"/>
          <p:cNvSpPr txBox="1"/>
          <p:nvPr/>
        </p:nvSpPr>
        <p:spPr>
          <a:xfrm>
            <a:off x="3754688" y="3969242"/>
            <a:ext cx="1874189" cy="5048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89" b="1" i="0">
                <a:solidFill>
                  <a:srgbClr val="2D5CA5"/>
                </a:solidFill>
                <a:latin typeface="Times New Roman"/>
              </a:defRPr>
            </a:pPr>
            <a:r>
              <a:t>Dynamic Edge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689" b="1" i="0">
                <a:solidFill>
                  <a:srgbClr val="2D5CA5"/>
                </a:solidFill>
                <a:latin typeface="Times New Roman"/>
              </a:defRPr>
            </a:pPr>
            <a:r>
              <a:t>Modulator</a:t>
            </a:r>
          </a:p>
        </p:txBody>
      </p:sp>
      <p:sp>
        <p:nvSpPr>
          <p:cNvPr id="236" name="Rounded Rectangle 235"/>
          <p:cNvSpPr/>
          <p:nvPr/>
        </p:nvSpPr>
        <p:spPr>
          <a:xfrm>
            <a:off x="536384" y="4871629"/>
            <a:ext cx="814041" cy="750937"/>
          </a:xfrm>
          <a:prstGeom prst="roundRect">
            <a:avLst/>
          </a:prstGeom>
          <a:solidFill>
            <a:srgbClr val="B7C9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Oval 236"/>
          <p:cNvSpPr/>
          <p:nvPr/>
        </p:nvSpPr>
        <p:spPr>
          <a:xfrm>
            <a:off x="656281" y="5054631"/>
            <a:ext cx="176691" cy="176691"/>
          </a:xfrm>
          <a:prstGeom prst="ellipse">
            <a:avLst/>
          </a:prstGeom>
          <a:solidFill>
            <a:srgbClr val="4E82CF"/>
          </a:solidFill>
          <a:ln w="1262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Oval 237"/>
          <p:cNvSpPr/>
          <p:nvPr/>
        </p:nvSpPr>
        <p:spPr>
          <a:xfrm>
            <a:off x="1047526" y="5401703"/>
            <a:ext cx="176691" cy="176691"/>
          </a:xfrm>
          <a:prstGeom prst="ellipse">
            <a:avLst/>
          </a:prstGeom>
          <a:solidFill>
            <a:srgbClr val="C4CBD7"/>
          </a:solidFill>
          <a:ln w="1262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9" name="Connector 238"/>
          <p:cNvCxnSpPr/>
          <p:nvPr/>
        </p:nvCxnSpPr>
        <p:spPr>
          <a:xfrm>
            <a:off x="801420" y="5199770"/>
            <a:ext cx="271348" cy="220864"/>
          </a:xfrm>
          <a:prstGeom prst="line">
            <a:avLst/>
          </a:prstGeom>
          <a:ln w="25241">
            <a:solidFill>
              <a:srgbClr val="2D5CA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0" name="Connector 239"/>
          <p:cNvCxnSpPr/>
          <p:nvPr/>
        </p:nvCxnSpPr>
        <p:spPr>
          <a:xfrm>
            <a:off x="1350425" y="5243943"/>
            <a:ext cx="353383" cy="0"/>
          </a:xfrm>
          <a:prstGeom prst="line">
            <a:avLst/>
          </a:prstGeom>
          <a:ln w="37862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1" name="Freeform 240"/>
          <p:cNvSpPr/>
          <p:nvPr/>
        </p:nvSpPr>
        <p:spPr>
          <a:xfrm>
            <a:off x="1590221" y="5173519"/>
            <a:ext cx="113587" cy="140848"/>
          </a:xfrm>
          <a:custGeom>
            <a:avLst/>
            <a:gdLst/>
            <a:ahLst/>
            <a:cxnLst/>
            <a:rect l="l" t="t" r="r" b="b"/>
            <a:pathLst>
              <a:path w="113587" h="140848">
                <a:moveTo>
                  <a:pt x="113587" y="70424"/>
                </a:moveTo>
                <a:lnTo>
                  <a:pt x="0" y="0"/>
                </a:lnTo>
                <a:close/>
                <a:lnTo>
                  <a:pt x="0" y="140848"/>
                </a:lnTo>
                <a:close/>
                <a:lnTo>
                  <a:pt x="113587" y="70424"/>
                </a:lnTo>
                <a:close/>
              </a:path>
            </a:pathLst>
          </a:custGeom>
          <a:solidFill>
            <a:srgbClr val="000000"/>
          </a:solidFill>
          <a:ln w="317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ounded Rectangle 241"/>
          <p:cNvSpPr/>
          <p:nvPr/>
        </p:nvSpPr>
        <p:spPr>
          <a:xfrm>
            <a:off x="1703808" y="4385728"/>
            <a:ext cx="454348" cy="1842637"/>
          </a:xfrm>
          <a:prstGeom prst="roundRect">
            <a:avLst/>
          </a:prstGeom>
          <a:solidFill>
            <a:srgbClr val="F6B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TextBox 242"/>
          <p:cNvSpPr txBox="1"/>
          <p:nvPr/>
        </p:nvSpPr>
        <p:spPr>
          <a:xfrm rot="5400000">
            <a:off x="1741670" y="4499316"/>
            <a:ext cx="378624" cy="159653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40" b="1" i="0">
                <a:solidFill>
                  <a:srgbClr val="000000"/>
                </a:solidFill>
                <a:latin typeface="Times New Roman"/>
              </a:defRPr>
            </a:pPr>
            <a:r>
              <a:t>Edge Gating</a:t>
            </a:r>
          </a:p>
        </p:txBody>
      </p:sp>
      <p:cxnSp>
        <p:nvCxnSpPr>
          <p:cNvPr id="244" name="Connector 243"/>
          <p:cNvCxnSpPr/>
          <p:nvPr/>
        </p:nvCxnSpPr>
        <p:spPr>
          <a:xfrm>
            <a:off x="2158157" y="4612903"/>
            <a:ext cx="441728" cy="0"/>
          </a:xfrm>
          <a:prstGeom prst="line">
            <a:avLst/>
          </a:prstGeom>
          <a:ln w="37862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5" name="Freeform 244"/>
          <p:cNvSpPr/>
          <p:nvPr/>
        </p:nvSpPr>
        <p:spPr>
          <a:xfrm>
            <a:off x="2486298" y="4542479"/>
            <a:ext cx="113587" cy="140848"/>
          </a:xfrm>
          <a:custGeom>
            <a:avLst/>
            <a:gdLst/>
            <a:ahLst/>
            <a:cxnLst/>
            <a:rect l="l" t="t" r="r" b="b"/>
            <a:pathLst>
              <a:path w="113587" h="140848">
                <a:moveTo>
                  <a:pt x="113587" y="70424"/>
                </a:moveTo>
                <a:lnTo>
                  <a:pt x="0" y="0"/>
                </a:lnTo>
                <a:close/>
                <a:lnTo>
                  <a:pt x="0" y="140848"/>
                </a:lnTo>
                <a:close/>
                <a:lnTo>
                  <a:pt x="113587" y="70424"/>
                </a:lnTo>
                <a:close/>
              </a:path>
            </a:pathLst>
          </a:custGeom>
          <a:solidFill>
            <a:srgbClr val="000000"/>
          </a:solidFill>
          <a:ln w="317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6" name="Connector 245"/>
          <p:cNvCxnSpPr/>
          <p:nvPr/>
        </p:nvCxnSpPr>
        <p:spPr>
          <a:xfrm>
            <a:off x="2158157" y="5963329"/>
            <a:ext cx="441728" cy="0"/>
          </a:xfrm>
          <a:prstGeom prst="line">
            <a:avLst/>
          </a:prstGeom>
          <a:ln w="37862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7" name="Freeform 246"/>
          <p:cNvSpPr/>
          <p:nvPr/>
        </p:nvSpPr>
        <p:spPr>
          <a:xfrm>
            <a:off x="2486298" y="5892905"/>
            <a:ext cx="113587" cy="140848"/>
          </a:xfrm>
          <a:custGeom>
            <a:avLst/>
            <a:gdLst/>
            <a:ahLst/>
            <a:cxnLst/>
            <a:rect l="l" t="t" r="r" b="b"/>
            <a:pathLst>
              <a:path w="113587" h="140848">
                <a:moveTo>
                  <a:pt x="113587" y="70424"/>
                </a:moveTo>
                <a:lnTo>
                  <a:pt x="0" y="0"/>
                </a:lnTo>
                <a:close/>
                <a:lnTo>
                  <a:pt x="0" y="140848"/>
                </a:lnTo>
                <a:close/>
                <a:lnTo>
                  <a:pt x="113587" y="70424"/>
                </a:lnTo>
                <a:close/>
              </a:path>
            </a:pathLst>
          </a:custGeom>
          <a:solidFill>
            <a:srgbClr val="000000"/>
          </a:solidFill>
          <a:ln w="317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ounded Rectangle 247"/>
          <p:cNvSpPr/>
          <p:nvPr/>
        </p:nvSpPr>
        <p:spPr>
          <a:xfrm>
            <a:off x="2599885" y="4246900"/>
            <a:ext cx="668902" cy="719385"/>
          </a:xfrm>
          <a:prstGeom prst="roundRect">
            <a:avLst/>
          </a:prstGeom>
          <a:solidFill>
            <a:srgbClr val="B7C9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Rounded Rectangle 248"/>
          <p:cNvSpPr/>
          <p:nvPr/>
        </p:nvSpPr>
        <p:spPr>
          <a:xfrm>
            <a:off x="2599885" y="5433255"/>
            <a:ext cx="668902" cy="719385"/>
          </a:xfrm>
          <a:prstGeom prst="roundRect">
            <a:avLst/>
          </a:prstGeom>
          <a:solidFill>
            <a:srgbClr val="B7C9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Oval 249"/>
          <p:cNvSpPr/>
          <p:nvPr/>
        </p:nvSpPr>
        <p:spPr>
          <a:xfrm>
            <a:off x="2694541" y="4392039"/>
            <a:ext cx="151449" cy="151449"/>
          </a:xfrm>
          <a:prstGeom prst="ellipse">
            <a:avLst/>
          </a:prstGeom>
          <a:solidFill>
            <a:srgbClr val="4E82CF"/>
          </a:solidFill>
          <a:ln w="1262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Oval 250"/>
          <p:cNvSpPr/>
          <p:nvPr/>
        </p:nvSpPr>
        <p:spPr>
          <a:xfrm>
            <a:off x="3016371" y="4663386"/>
            <a:ext cx="151449" cy="151449"/>
          </a:xfrm>
          <a:prstGeom prst="ellipse">
            <a:avLst/>
          </a:prstGeom>
          <a:solidFill>
            <a:srgbClr val="C4CBD7"/>
          </a:solidFill>
          <a:ln w="1262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Oval 251"/>
          <p:cNvSpPr/>
          <p:nvPr/>
        </p:nvSpPr>
        <p:spPr>
          <a:xfrm>
            <a:off x="2694541" y="5572084"/>
            <a:ext cx="151449" cy="151449"/>
          </a:xfrm>
          <a:prstGeom prst="ellipse">
            <a:avLst/>
          </a:prstGeom>
          <a:solidFill>
            <a:srgbClr val="4E82CF"/>
          </a:solidFill>
          <a:ln w="1262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Oval 252"/>
          <p:cNvSpPr/>
          <p:nvPr/>
        </p:nvSpPr>
        <p:spPr>
          <a:xfrm>
            <a:off x="3016371" y="5849741"/>
            <a:ext cx="151449" cy="151449"/>
          </a:xfrm>
          <a:prstGeom prst="ellipse">
            <a:avLst/>
          </a:prstGeom>
          <a:solidFill>
            <a:srgbClr val="C4CBD7"/>
          </a:solidFill>
          <a:ln w="1262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4" name="Connector 253"/>
          <p:cNvCxnSpPr/>
          <p:nvPr/>
        </p:nvCxnSpPr>
        <p:spPr>
          <a:xfrm>
            <a:off x="2820749" y="5654119"/>
            <a:ext cx="220864" cy="252416"/>
          </a:xfrm>
          <a:prstGeom prst="line">
            <a:avLst/>
          </a:prstGeom>
          <a:ln w="18931">
            <a:solidFill>
              <a:srgbClr val="2D5C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5" name="Connector 254"/>
          <p:cNvCxnSpPr/>
          <p:nvPr/>
        </p:nvCxnSpPr>
        <p:spPr>
          <a:xfrm>
            <a:off x="3268787" y="5963329"/>
            <a:ext cx="252416" cy="0"/>
          </a:xfrm>
          <a:prstGeom prst="line">
            <a:avLst/>
          </a:prstGeom>
          <a:ln w="37862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6" name="Freeform 255"/>
          <p:cNvSpPr/>
          <p:nvPr/>
        </p:nvSpPr>
        <p:spPr>
          <a:xfrm>
            <a:off x="3407616" y="5892905"/>
            <a:ext cx="113587" cy="140848"/>
          </a:xfrm>
          <a:custGeom>
            <a:avLst/>
            <a:gdLst/>
            <a:ahLst/>
            <a:cxnLst/>
            <a:rect l="l" t="t" r="r" b="b"/>
            <a:pathLst>
              <a:path w="113587" h="140848">
                <a:moveTo>
                  <a:pt x="113587" y="70424"/>
                </a:moveTo>
                <a:lnTo>
                  <a:pt x="0" y="0"/>
                </a:lnTo>
                <a:close/>
                <a:lnTo>
                  <a:pt x="0" y="140848"/>
                </a:lnTo>
                <a:close/>
                <a:lnTo>
                  <a:pt x="113587" y="70424"/>
                </a:lnTo>
                <a:close/>
              </a:path>
            </a:pathLst>
          </a:custGeom>
          <a:solidFill>
            <a:srgbClr val="000000"/>
          </a:solidFill>
          <a:ln w="317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Rectangle 256"/>
          <p:cNvSpPr/>
          <p:nvPr/>
        </p:nvSpPr>
        <p:spPr>
          <a:xfrm>
            <a:off x="3521203" y="4928423"/>
            <a:ext cx="410176" cy="1754291"/>
          </a:xfrm>
          <a:prstGeom prst="rect">
            <a:avLst/>
          </a:prstGeom>
          <a:solidFill>
            <a:srgbClr val="DC8E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TextBox 257"/>
          <p:cNvSpPr txBox="1"/>
          <p:nvPr/>
        </p:nvSpPr>
        <p:spPr>
          <a:xfrm rot="5400000">
            <a:off x="3571687" y="5048320"/>
            <a:ext cx="309209" cy="152080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90" b="1" i="0">
                <a:solidFill>
                  <a:srgbClr val="000000"/>
                </a:solidFill>
                <a:latin typeface="Times New Roman"/>
              </a:defRPr>
            </a:pPr>
            <a:r>
              <a:t>Attention Net</a:t>
            </a:r>
          </a:p>
        </p:txBody>
      </p:sp>
      <p:cxnSp>
        <p:nvCxnSpPr>
          <p:cNvPr id="259" name="Connector 258"/>
          <p:cNvCxnSpPr/>
          <p:nvPr/>
        </p:nvCxnSpPr>
        <p:spPr>
          <a:xfrm>
            <a:off x="3931379" y="5805569"/>
            <a:ext cx="328141" cy="0"/>
          </a:xfrm>
          <a:prstGeom prst="line">
            <a:avLst/>
          </a:prstGeom>
          <a:ln w="37862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0" name="Freeform 259"/>
          <p:cNvSpPr/>
          <p:nvPr/>
        </p:nvSpPr>
        <p:spPr>
          <a:xfrm>
            <a:off x="4145933" y="5735145"/>
            <a:ext cx="113587" cy="140848"/>
          </a:xfrm>
          <a:custGeom>
            <a:avLst/>
            <a:gdLst/>
            <a:ahLst/>
            <a:cxnLst/>
            <a:rect l="l" t="t" r="r" b="b"/>
            <a:pathLst>
              <a:path w="113587" h="140848">
                <a:moveTo>
                  <a:pt x="113587" y="70424"/>
                </a:moveTo>
                <a:lnTo>
                  <a:pt x="0" y="0"/>
                </a:lnTo>
                <a:close/>
                <a:lnTo>
                  <a:pt x="0" y="140848"/>
                </a:lnTo>
                <a:close/>
                <a:lnTo>
                  <a:pt x="113587" y="70424"/>
                </a:lnTo>
                <a:close/>
              </a:path>
            </a:pathLst>
          </a:custGeom>
          <a:solidFill>
            <a:srgbClr val="000000"/>
          </a:solidFill>
          <a:ln w="317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Rectangle 260"/>
          <p:cNvSpPr/>
          <p:nvPr/>
        </p:nvSpPr>
        <p:spPr>
          <a:xfrm>
            <a:off x="4259520" y="4928423"/>
            <a:ext cx="410176" cy="1754291"/>
          </a:xfrm>
          <a:prstGeom prst="rect">
            <a:avLst/>
          </a:prstGeom>
          <a:solidFill>
            <a:srgbClr val="8DA2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TextBox 261"/>
          <p:cNvSpPr txBox="1"/>
          <p:nvPr/>
        </p:nvSpPr>
        <p:spPr>
          <a:xfrm rot="5400000">
            <a:off x="4310004" y="5048320"/>
            <a:ext cx="309209" cy="152080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40" b="1" i="0">
                <a:solidFill>
                  <a:srgbClr val="000000"/>
                </a:solidFill>
                <a:latin typeface="Times New Roman"/>
              </a:defRPr>
            </a:pPr>
            <a:r>
              <a:t>Geographic Decay</a:t>
            </a:r>
          </a:p>
        </p:txBody>
      </p:sp>
      <p:cxnSp>
        <p:nvCxnSpPr>
          <p:cNvPr id="263" name="Connector 262"/>
          <p:cNvCxnSpPr/>
          <p:nvPr/>
        </p:nvCxnSpPr>
        <p:spPr>
          <a:xfrm>
            <a:off x="4669696" y="5805569"/>
            <a:ext cx="429108" cy="0"/>
          </a:xfrm>
          <a:prstGeom prst="line">
            <a:avLst/>
          </a:prstGeom>
          <a:ln w="37862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4" name="Freeform 263"/>
          <p:cNvSpPr/>
          <p:nvPr/>
        </p:nvSpPr>
        <p:spPr>
          <a:xfrm>
            <a:off x="4985216" y="5735145"/>
            <a:ext cx="113588" cy="140848"/>
          </a:xfrm>
          <a:custGeom>
            <a:avLst/>
            <a:gdLst/>
            <a:ahLst/>
            <a:cxnLst/>
            <a:rect l="l" t="t" r="r" b="b"/>
            <a:pathLst>
              <a:path w="113588" h="140848">
                <a:moveTo>
                  <a:pt x="113588" y="70424"/>
                </a:moveTo>
                <a:lnTo>
                  <a:pt x="0" y="0"/>
                </a:lnTo>
                <a:close/>
                <a:lnTo>
                  <a:pt x="0" y="140848"/>
                </a:lnTo>
                <a:close/>
                <a:lnTo>
                  <a:pt x="113588" y="70424"/>
                </a:lnTo>
                <a:close/>
              </a:path>
            </a:pathLst>
          </a:custGeom>
          <a:solidFill>
            <a:srgbClr val="000000"/>
          </a:solidFill>
          <a:ln w="317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Rounded Rectangle 264"/>
          <p:cNvSpPr/>
          <p:nvPr/>
        </p:nvSpPr>
        <p:spPr>
          <a:xfrm>
            <a:off x="5105114" y="5433255"/>
            <a:ext cx="668902" cy="719385"/>
          </a:xfrm>
          <a:prstGeom prst="roundRect">
            <a:avLst/>
          </a:prstGeom>
          <a:solidFill>
            <a:srgbClr val="B7C9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Oval 265"/>
          <p:cNvSpPr/>
          <p:nvPr/>
        </p:nvSpPr>
        <p:spPr>
          <a:xfrm>
            <a:off x="5199770" y="5572084"/>
            <a:ext cx="151449" cy="151449"/>
          </a:xfrm>
          <a:prstGeom prst="ellipse">
            <a:avLst/>
          </a:prstGeom>
          <a:solidFill>
            <a:srgbClr val="4E82CF"/>
          </a:solidFill>
          <a:ln w="1262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Oval 266"/>
          <p:cNvSpPr/>
          <p:nvPr/>
        </p:nvSpPr>
        <p:spPr>
          <a:xfrm>
            <a:off x="5527911" y="5849741"/>
            <a:ext cx="151449" cy="151449"/>
          </a:xfrm>
          <a:prstGeom prst="ellipse">
            <a:avLst/>
          </a:prstGeom>
          <a:solidFill>
            <a:srgbClr val="C4CBD7"/>
          </a:solidFill>
          <a:ln w="1262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8" name="Connector 267"/>
          <p:cNvCxnSpPr/>
          <p:nvPr/>
        </p:nvCxnSpPr>
        <p:spPr>
          <a:xfrm>
            <a:off x="5332289" y="5666740"/>
            <a:ext cx="227174" cy="233485"/>
          </a:xfrm>
          <a:prstGeom prst="line">
            <a:avLst/>
          </a:prstGeom>
          <a:ln w="18931">
            <a:solidFill>
              <a:srgbClr val="1118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9" name="Rounded Rectangle 268"/>
          <p:cNvSpPr/>
          <p:nvPr/>
        </p:nvSpPr>
        <p:spPr>
          <a:xfrm>
            <a:off x="6259918" y="4183796"/>
            <a:ext cx="5679361" cy="2606195"/>
          </a:xfrm>
          <a:prstGeom prst="roundRect">
            <a:avLst/>
          </a:prstGeom>
          <a:solidFill>
            <a:srgbClr val="FFE8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Rectangle 269"/>
          <p:cNvSpPr/>
          <p:nvPr/>
        </p:nvSpPr>
        <p:spPr>
          <a:xfrm>
            <a:off x="6423988" y="3969242"/>
            <a:ext cx="2044570" cy="517452"/>
          </a:xfrm>
          <a:prstGeom prst="rect">
            <a:avLst/>
          </a:prstGeom>
          <a:solidFill>
            <a:srgbClr val="FFF0DD"/>
          </a:solidFill>
          <a:ln w="25241">
            <a:solidFill>
              <a:srgbClr val="EF9B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TextBox 270"/>
          <p:cNvSpPr txBox="1"/>
          <p:nvPr/>
        </p:nvSpPr>
        <p:spPr>
          <a:xfrm>
            <a:off x="6493402" y="3969242"/>
            <a:ext cx="1912051" cy="49852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39" b="1" i="0">
                <a:solidFill>
                  <a:srgbClr val="D65E17"/>
                </a:solidFill>
                <a:latin typeface="Times New Roman"/>
              </a:defRPr>
            </a:pPr>
            <a:r>
              <a:t>Probabilistic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639" b="1" i="0">
                <a:solidFill>
                  <a:srgbClr val="D65E17"/>
                </a:solidFill>
                <a:latin typeface="Times New Roman"/>
              </a:defRPr>
            </a:pPr>
            <a:r>
              <a:t>Forecast Diffuser</a:t>
            </a:r>
          </a:p>
        </p:txBody>
      </p:sp>
      <p:sp>
        <p:nvSpPr>
          <p:cNvPr id="272" name="TextBox 271"/>
          <p:cNvSpPr txBox="1"/>
          <p:nvPr/>
        </p:nvSpPr>
        <p:spPr>
          <a:xfrm>
            <a:off x="6291470" y="4840077"/>
            <a:ext cx="555315" cy="4732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40" b="1" i="0">
                <a:solidFill>
                  <a:srgbClr val="000000"/>
                </a:solidFill>
                <a:latin typeface="Times New Roman"/>
              </a:defRPr>
            </a:pPr>
            <a:r>
              <a:t>Add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540" b="1" i="0">
                <a:solidFill>
                  <a:srgbClr val="000000"/>
                </a:solidFill>
                <a:latin typeface="Times New Roman"/>
              </a:defRPr>
            </a:pPr>
            <a:r>
              <a:t>Noise</a:t>
            </a:r>
          </a:p>
        </p:txBody>
      </p:sp>
      <p:cxnSp>
        <p:nvCxnSpPr>
          <p:cNvPr id="273" name="Connector 272"/>
          <p:cNvCxnSpPr/>
          <p:nvPr/>
        </p:nvCxnSpPr>
        <p:spPr>
          <a:xfrm>
            <a:off x="6253607" y="5458497"/>
            <a:ext cx="605799" cy="0"/>
          </a:xfrm>
          <a:prstGeom prst="line">
            <a:avLst/>
          </a:prstGeom>
          <a:ln w="37862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4" name="Freeform 273"/>
          <p:cNvSpPr/>
          <p:nvPr/>
        </p:nvSpPr>
        <p:spPr>
          <a:xfrm>
            <a:off x="6745818" y="5388072"/>
            <a:ext cx="113588" cy="140849"/>
          </a:xfrm>
          <a:custGeom>
            <a:avLst/>
            <a:gdLst/>
            <a:ahLst/>
            <a:cxnLst/>
            <a:rect l="l" t="t" r="r" b="b"/>
            <a:pathLst>
              <a:path w="113588" h="140849">
                <a:moveTo>
                  <a:pt x="113588" y="70425"/>
                </a:moveTo>
                <a:lnTo>
                  <a:pt x="0" y="0"/>
                </a:lnTo>
                <a:close/>
                <a:lnTo>
                  <a:pt x="0" y="140849"/>
                </a:lnTo>
                <a:close/>
                <a:lnTo>
                  <a:pt x="113588" y="70425"/>
                </a:lnTo>
                <a:close/>
              </a:path>
            </a:pathLst>
          </a:custGeom>
          <a:solidFill>
            <a:srgbClr val="000000"/>
          </a:solidFill>
          <a:ln w="317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Rectangle 274"/>
          <p:cNvSpPr/>
          <p:nvPr/>
        </p:nvSpPr>
        <p:spPr>
          <a:xfrm>
            <a:off x="6859406" y="5010458"/>
            <a:ext cx="713075" cy="883456"/>
          </a:xfrm>
          <a:prstGeom prst="rect">
            <a:avLst/>
          </a:prstGeom>
          <a:solidFill>
            <a:srgbClr val="9F9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Oval 275"/>
          <p:cNvSpPr/>
          <p:nvPr/>
        </p:nvSpPr>
        <p:spPr>
          <a:xfrm>
            <a:off x="6890958" y="5048320"/>
            <a:ext cx="15776" cy="15776"/>
          </a:xfrm>
          <a:prstGeom prst="ellipse">
            <a:avLst/>
          </a:prstGeom>
          <a:solidFill>
            <a:srgbClr val="777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Oval 276"/>
          <p:cNvSpPr/>
          <p:nvPr/>
        </p:nvSpPr>
        <p:spPr>
          <a:xfrm>
            <a:off x="7124443" y="5382772"/>
            <a:ext cx="15776" cy="15776"/>
          </a:xfrm>
          <a:prstGeom prst="ellipse">
            <a:avLst/>
          </a:prstGeom>
          <a:solidFill>
            <a:srgbClr val="B9B9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Oval 277"/>
          <p:cNvSpPr/>
          <p:nvPr/>
        </p:nvSpPr>
        <p:spPr>
          <a:xfrm>
            <a:off x="7357927" y="5717223"/>
            <a:ext cx="15776" cy="15776"/>
          </a:xfrm>
          <a:prstGeom prst="ellipse">
            <a:avLst/>
          </a:prstGeom>
          <a:solidFill>
            <a:srgbClr val="8C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Oval 278"/>
          <p:cNvSpPr/>
          <p:nvPr/>
        </p:nvSpPr>
        <p:spPr>
          <a:xfrm>
            <a:off x="6941441" y="5243943"/>
            <a:ext cx="15776" cy="15776"/>
          </a:xfrm>
          <a:prstGeom prst="ellipse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Oval 279"/>
          <p:cNvSpPr/>
          <p:nvPr/>
        </p:nvSpPr>
        <p:spPr>
          <a:xfrm>
            <a:off x="7174926" y="5578394"/>
            <a:ext cx="15776" cy="15776"/>
          </a:xfrm>
          <a:prstGeom prst="ellipse">
            <a:avLst/>
          </a:prstGeom>
          <a:solidFill>
            <a:srgbClr val="777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Oval 280"/>
          <p:cNvSpPr/>
          <p:nvPr/>
        </p:nvSpPr>
        <p:spPr>
          <a:xfrm>
            <a:off x="7408411" y="5105114"/>
            <a:ext cx="15776" cy="15776"/>
          </a:xfrm>
          <a:prstGeom prst="ellipse">
            <a:avLst/>
          </a:prstGeom>
          <a:solidFill>
            <a:srgbClr val="B9B9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Oval 281"/>
          <p:cNvSpPr/>
          <p:nvPr/>
        </p:nvSpPr>
        <p:spPr>
          <a:xfrm>
            <a:off x="6991924" y="5439565"/>
            <a:ext cx="15776" cy="15776"/>
          </a:xfrm>
          <a:prstGeom prst="ellipse">
            <a:avLst/>
          </a:prstGeom>
          <a:solidFill>
            <a:srgbClr val="8C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Oval 282"/>
          <p:cNvSpPr/>
          <p:nvPr/>
        </p:nvSpPr>
        <p:spPr>
          <a:xfrm>
            <a:off x="7225409" y="5774017"/>
            <a:ext cx="15776" cy="15776"/>
          </a:xfrm>
          <a:prstGeom prst="ellipse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Oval 283"/>
          <p:cNvSpPr/>
          <p:nvPr/>
        </p:nvSpPr>
        <p:spPr>
          <a:xfrm>
            <a:off x="7458894" y="5300737"/>
            <a:ext cx="15776" cy="15776"/>
          </a:xfrm>
          <a:prstGeom prst="ellipse">
            <a:avLst/>
          </a:prstGeom>
          <a:solidFill>
            <a:srgbClr val="777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Oval 284"/>
          <p:cNvSpPr/>
          <p:nvPr/>
        </p:nvSpPr>
        <p:spPr>
          <a:xfrm>
            <a:off x="7042407" y="5635188"/>
            <a:ext cx="15776" cy="15776"/>
          </a:xfrm>
          <a:prstGeom prst="ellipse">
            <a:avLst/>
          </a:prstGeom>
          <a:solidFill>
            <a:srgbClr val="B9B9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Oval 285"/>
          <p:cNvSpPr/>
          <p:nvPr/>
        </p:nvSpPr>
        <p:spPr>
          <a:xfrm>
            <a:off x="7275892" y="5161908"/>
            <a:ext cx="15776" cy="15776"/>
          </a:xfrm>
          <a:prstGeom prst="ellipse">
            <a:avLst/>
          </a:prstGeom>
          <a:solidFill>
            <a:srgbClr val="8C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Oval 286"/>
          <p:cNvSpPr/>
          <p:nvPr/>
        </p:nvSpPr>
        <p:spPr>
          <a:xfrm>
            <a:off x="7509377" y="5496359"/>
            <a:ext cx="15776" cy="15776"/>
          </a:xfrm>
          <a:prstGeom prst="ellipse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Oval 287"/>
          <p:cNvSpPr/>
          <p:nvPr/>
        </p:nvSpPr>
        <p:spPr>
          <a:xfrm>
            <a:off x="7092890" y="5830810"/>
            <a:ext cx="15776" cy="15776"/>
          </a:xfrm>
          <a:prstGeom prst="ellipse">
            <a:avLst/>
          </a:prstGeom>
          <a:solidFill>
            <a:srgbClr val="777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Oval 288"/>
          <p:cNvSpPr/>
          <p:nvPr/>
        </p:nvSpPr>
        <p:spPr>
          <a:xfrm>
            <a:off x="7326375" y="5357530"/>
            <a:ext cx="15776" cy="15776"/>
          </a:xfrm>
          <a:prstGeom prst="ellipse">
            <a:avLst/>
          </a:prstGeom>
          <a:solidFill>
            <a:srgbClr val="B9B9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Oval 289"/>
          <p:cNvSpPr/>
          <p:nvPr/>
        </p:nvSpPr>
        <p:spPr>
          <a:xfrm>
            <a:off x="6909889" y="5691981"/>
            <a:ext cx="15776" cy="15776"/>
          </a:xfrm>
          <a:prstGeom prst="ellipse">
            <a:avLst/>
          </a:prstGeom>
          <a:solidFill>
            <a:srgbClr val="8C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Oval 290"/>
          <p:cNvSpPr/>
          <p:nvPr/>
        </p:nvSpPr>
        <p:spPr>
          <a:xfrm>
            <a:off x="7143374" y="5218701"/>
            <a:ext cx="15776" cy="15776"/>
          </a:xfrm>
          <a:prstGeom prst="ellipse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Oval 291"/>
          <p:cNvSpPr/>
          <p:nvPr/>
        </p:nvSpPr>
        <p:spPr>
          <a:xfrm>
            <a:off x="7376859" y="5553153"/>
            <a:ext cx="15776" cy="15776"/>
          </a:xfrm>
          <a:prstGeom prst="ellipse">
            <a:avLst/>
          </a:prstGeom>
          <a:solidFill>
            <a:srgbClr val="777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Oval 292"/>
          <p:cNvSpPr/>
          <p:nvPr/>
        </p:nvSpPr>
        <p:spPr>
          <a:xfrm>
            <a:off x="6960372" y="5079873"/>
            <a:ext cx="15776" cy="15776"/>
          </a:xfrm>
          <a:prstGeom prst="ellipse">
            <a:avLst/>
          </a:prstGeom>
          <a:solidFill>
            <a:srgbClr val="B9B9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Oval 293"/>
          <p:cNvSpPr/>
          <p:nvPr/>
        </p:nvSpPr>
        <p:spPr>
          <a:xfrm>
            <a:off x="7193857" y="5414324"/>
            <a:ext cx="15776" cy="15776"/>
          </a:xfrm>
          <a:prstGeom prst="ellipse">
            <a:avLst/>
          </a:prstGeom>
          <a:solidFill>
            <a:srgbClr val="8C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" name="Oval 294"/>
          <p:cNvSpPr/>
          <p:nvPr/>
        </p:nvSpPr>
        <p:spPr>
          <a:xfrm>
            <a:off x="7427342" y="5748775"/>
            <a:ext cx="15776" cy="15776"/>
          </a:xfrm>
          <a:prstGeom prst="ellipse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Oval 295"/>
          <p:cNvSpPr/>
          <p:nvPr/>
        </p:nvSpPr>
        <p:spPr>
          <a:xfrm>
            <a:off x="7010855" y="5275495"/>
            <a:ext cx="15776" cy="15776"/>
          </a:xfrm>
          <a:prstGeom prst="ellipse">
            <a:avLst/>
          </a:prstGeom>
          <a:solidFill>
            <a:srgbClr val="777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Oval 296"/>
          <p:cNvSpPr/>
          <p:nvPr/>
        </p:nvSpPr>
        <p:spPr>
          <a:xfrm>
            <a:off x="7244340" y="5609946"/>
            <a:ext cx="15776" cy="15776"/>
          </a:xfrm>
          <a:prstGeom prst="ellipse">
            <a:avLst/>
          </a:prstGeom>
          <a:solidFill>
            <a:srgbClr val="B9B9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" name="Oval 297"/>
          <p:cNvSpPr/>
          <p:nvPr/>
        </p:nvSpPr>
        <p:spPr>
          <a:xfrm>
            <a:off x="7477825" y="5136666"/>
            <a:ext cx="15776" cy="15776"/>
          </a:xfrm>
          <a:prstGeom prst="ellipse">
            <a:avLst/>
          </a:prstGeom>
          <a:solidFill>
            <a:srgbClr val="8C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" name="Oval 298"/>
          <p:cNvSpPr/>
          <p:nvPr/>
        </p:nvSpPr>
        <p:spPr>
          <a:xfrm>
            <a:off x="7061338" y="5471117"/>
            <a:ext cx="15776" cy="15776"/>
          </a:xfrm>
          <a:prstGeom prst="ellipse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Oval 299"/>
          <p:cNvSpPr/>
          <p:nvPr/>
        </p:nvSpPr>
        <p:spPr>
          <a:xfrm>
            <a:off x="7294823" y="5805569"/>
            <a:ext cx="15776" cy="15776"/>
          </a:xfrm>
          <a:prstGeom prst="ellipse">
            <a:avLst/>
          </a:prstGeom>
          <a:solidFill>
            <a:srgbClr val="777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Oval 300"/>
          <p:cNvSpPr/>
          <p:nvPr/>
        </p:nvSpPr>
        <p:spPr>
          <a:xfrm>
            <a:off x="7528308" y="5332289"/>
            <a:ext cx="15776" cy="15776"/>
          </a:xfrm>
          <a:prstGeom prst="ellipse">
            <a:avLst/>
          </a:prstGeom>
          <a:solidFill>
            <a:srgbClr val="B9B9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" name="Oval 301"/>
          <p:cNvSpPr/>
          <p:nvPr/>
        </p:nvSpPr>
        <p:spPr>
          <a:xfrm>
            <a:off x="7111822" y="5666740"/>
            <a:ext cx="15776" cy="15776"/>
          </a:xfrm>
          <a:prstGeom prst="ellipse">
            <a:avLst/>
          </a:prstGeom>
          <a:solidFill>
            <a:srgbClr val="8C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Oval 302"/>
          <p:cNvSpPr/>
          <p:nvPr/>
        </p:nvSpPr>
        <p:spPr>
          <a:xfrm>
            <a:off x="7345307" y="5193460"/>
            <a:ext cx="15776" cy="15776"/>
          </a:xfrm>
          <a:prstGeom prst="ellipse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" name="Oval 303"/>
          <p:cNvSpPr/>
          <p:nvPr/>
        </p:nvSpPr>
        <p:spPr>
          <a:xfrm>
            <a:off x="6928820" y="5527911"/>
            <a:ext cx="15776" cy="15776"/>
          </a:xfrm>
          <a:prstGeom prst="ellipse">
            <a:avLst/>
          </a:prstGeom>
          <a:solidFill>
            <a:srgbClr val="777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" name="Oval 304"/>
          <p:cNvSpPr/>
          <p:nvPr/>
        </p:nvSpPr>
        <p:spPr>
          <a:xfrm>
            <a:off x="7162305" y="5054631"/>
            <a:ext cx="15776" cy="15776"/>
          </a:xfrm>
          <a:prstGeom prst="ellipse">
            <a:avLst/>
          </a:prstGeom>
          <a:solidFill>
            <a:srgbClr val="B9B9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Oval 305"/>
          <p:cNvSpPr/>
          <p:nvPr/>
        </p:nvSpPr>
        <p:spPr>
          <a:xfrm>
            <a:off x="7395790" y="5389082"/>
            <a:ext cx="15776" cy="15776"/>
          </a:xfrm>
          <a:prstGeom prst="ellipse">
            <a:avLst/>
          </a:prstGeom>
          <a:solidFill>
            <a:srgbClr val="8C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" name="Oval 306"/>
          <p:cNvSpPr/>
          <p:nvPr/>
        </p:nvSpPr>
        <p:spPr>
          <a:xfrm>
            <a:off x="6979303" y="5723533"/>
            <a:ext cx="15776" cy="15776"/>
          </a:xfrm>
          <a:prstGeom prst="ellipse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" name="Oval 307"/>
          <p:cNvSpPr/>
          <p:nvPr/>
        </p:nvSpPr>
        <p:spPr>
          <a:xfrm>
            <a:off x="7212788" y="5250253"/>
            <a:ext cx="15776" cy="15776"/>
          </a:xfrm>
          <a:prstGeom prst="ellipse">
            <a:avLst/>
          </a:prstGeom>
          <a:solidFill>
            <a:srgbClr val="777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Oval 308"/>
          <p:cNvSpPr/>
          <p:nvPr/>
        </p:nvSpPr>
        <p:spPr>
          <a:xfrm>
            <a:off x="7446273" y="5584705"/>
            <a:ext cx="15776" cy="15776"/>
          </a:xfrm>
          <a:prstGeom prst="ellipse">
            <a:avLst/>
          </a:prstGeom>
          <a:solidFill>
            <a:srgbClr val="B9B9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" name="Oval 309"/>
          <p:cNvSpPr/>
          <p:nvPr/>
        </p:nvSpPr>
        <p:spPr>
          <a:xfrm>
            <a:off x="7029786" y="5111425"/>
            <a:ext cx="15776" cy="15776"/>
          </a:xfrm>
          <a:prstGeom prst="ellipse">
            <a:avLst/>
          </a:prstGeom>
          <a:solidFill>
            <a:srgbClr val="8C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" name="Oval 310"/>
          <p:cNvSpPr/>
          <p:nvPr/>
        </p:nvSpPr>
        <p:spPr>
          <a:xfrm>
            <a:off x="7263271" y="5445876"/>
            <a:ext cx="15776" cy="15776"/>
          </a:xfrm>
          <a:prstGeom prst="ellipse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Oval 311"/>
          <p:cNvSpPr/>
          <p:nvPr/>
        </p:nvSpPr>
        <p:spPr>
          <a:xfrm>
            <a:off x="7496756" y="5780327"/>
            <a:ext cx="15776" cy="15776"/>
          </a:xfrm>
          <a:prstGeom prst="ellipse">
            <a:avLst/>
          </a:prstGeom>
          <a:solidFill>
            <a:srgbClr val="777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" name="Oval 312"/>
          <p:cNvSpPr/>
          <p:nvPr/>
        </p:nvSpPr>
        <p:spPr>
          <a:xfrm>
            <a:off x="7080270" y="5307047"/>
            <a:ext cx="15776" cy="15776"/>
          </a:xfrm>
          <a:prstGeom prst="ellipse">
            <a:avLst/>
          </a:prstGeom>
          <a:solidFill>
            <a:srgbClr val="B9B9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" name="Oval 313"/>
          <p:cNvSpPr/>
          <p:nvPr/>
        </p:nvSpPr>
        <p:spPr>
          <a:xfrm>
            <a:off x="7313755" y="5641498"/>
            <a:ext cx="15776" cy="15776"/>
          </a:xfrm>
          <a:prstGeom prst="ellipse">
            <a:avLst/>
          </a:prstGeom>
          <a:solidFill>
            <a:srgbClr val="8C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Oval 314"/>
          <p:cNvSpPr/>
          <p:nvPr/>
        </p:nvSpPr>
        <p:spPr>
          <a:xfrm>
            <a:off x="6897268" y="5168218"/>
            <a:ext cx="15776" cy="15776"/>
          </a:xfrm>
          <a:prstGeom prst="ellipse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" name="Oval 315"/>
          <p:cNvSpPr/>
          <p:nvPr/>
        </p:nvSpPr>
        <p:spPr>
          <a:xfrm>
            <a:off x="7130753" y="5502669"/>
            <a:ext cx="15776" cy="15776"/>
          </a:xfrm>
          <a:prstGeom prst="ellipse">
            <a:avLst/>
          </a:prstGeom>
          <a:solidFill>
            <a:srgbClr val="777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" name="Oval 316"/>
          <p:cNvSpPr/>
          <p:nvPr/>
        </p:nvSpPr>
        <p:spPr>
          <a:xfrm>
            <a:off x="7364238" y="5837121"/>
            <a:ext cx="15776" cy="15776"/>
          </a:xfrm>
          <a:prstGeom prst="ellipse">
            <a:avLst/>
          </a:prstGeom>
          <a:solidFill>
            <a:srgbClr val="B9B9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" name="Oval 317"/>
          <p:cNvSpPr/>
          <p:nvPr/>
        </p:nvSpPr>
        <p:spPr>
          <a:xfrm>
            <a:off x="6947751" y="5363841"/>
            <a:ext cx="15776" cy="15776"/>
          </a:xfrm>
          <a:prstGeom prst="ellipse">
            <a:avLst/>
          </a:prstGeom>
          <a:solidFill>
            <a:srgbClr val="8C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" name="Oval 318"/>
          <p:cNvSpPr/>
          <p:nvPr/>
        </p:nvSpPr>
        <p:spPr>
          <a:xfrm>
            <a:off x="7181236" y="5698292"/>
            <a:ext cx="15776" cy="15776"/>
          </a:xfrm>
          <a:prstGeom prst="ellipse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" name="Oval 319"/>
          <p:cNvSpPr/>
          <p:nvPr/>
        </p:nvSpPr>
        <p:spPr>
          <a:xfrm>
            <a:off x="7414721" y="5225012"/>
            <a:ext cx="15776" cy="15776"/>
          </a:xfrm>
          <a:prstGeom prst="ellipse">
            <a:avLst/>
          </a:prstGeom>
          <a:solidFill>
            <a:srgbClr val="777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" name="Oval 320"/>
          <p:cNvSpPr/>
          <p:nvPr/>
        </p:nvSpPr>
        <p:spPr>
          <a:xfrm>
            <a:off x="6998234" y="5559463"/>
            <a:ext cx="15776" cy="15776"/>
          </a:xfrm>
          <a:prstGeom prst="ellipse">
            <a:avLst/>
          </a:prstGeom>
          <a:solidFill>
            <a:srgbClr val="B9B9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" name="Oval 321"/>
          <p:cNvSpPr/>
          <p:nvPr/>
        </p:nvSpPr>
        <p:spPr>
          <a:xfrm>
            <a:off x="7231719" y="5086183"/>
            <a:ext cx="15776" cy="15776"/>
          </a:xfrm>
          <a:prstGeom prst="ellipse">
            <a:avLst/>
          </a:prstGeom>
          <a:solidFill>
            <a:srgbClr val="8C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" name="Oval 322"/>
          <p:cNvSpPr/>
          <p:nvPr/>
        </p:nvSpPr>
        <p:spPr>
          <a:xfrm>
            <a:off x="7465204" y="5420634"/>
            <a:ext cx="15776" cy="15776"/>
          </a:xfrm>
          <a:prstGeom prst="ellipse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" name="Oval 323"/>
          <p:cNvSpPr/>
          <p:nvPr/>
        </p:nvSpPr>
        <p:spPr>
          <a:xfrm>
            <a:off x="7048718" y="5755085"/>
            <a:ext cx="15776" cy="15776"/>
          </a:xfrm>
          <a:prstGeom prst="ellipse">
            <a:avLst/>
          </a:prstGeom>
          <a:solidFill>
            <a:srgbClr val="777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" name="Oval 324"/>
          <p:cNvSpPr/>
          <p:nvPr/>
        </p:nvSpPr>
        <p:spPr>
          <a:xfrm>
            <a:off x="7282203" y="5281805"/>
            <a:ext cx="15776" cy="15776"/>
          </a:xfrm>
          <a:prstGeom prst="ellipse">
            <a:avLst/>
          </a:prstGeom>
          <a:solidFill>
            <a:srgbClr val="B9B9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" name="Oval 325"/>
          <p:cNvSpPr/>
          <p:nvPr/>
        </p:nvSpPr>
        <p:spPr>
          <a:xfrm>
            <a:off x="7515687" y="5616257"/>
            <a:ext cx="15776" cy="15776"/>
          </a:xfrm>
          <a:prstGeom prst="ellipse">
            <a:avLst/>
          </a:prstGeom>
          <a:solidFill>
            <a:srgbClr val="8C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" name="Oval 326"/>
          <p:cNvSpPr/>
          <p:nvPr/>
        </p:nvSpPr>
        <p:spPr>
          <a:xfrm>
            <a:off x="7099201" y="5142977"/>
            <a:ext cx="15776" cy="15776"/>
          </a:xfrm>
          <a:prstGeom prst="ellipse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" name="Oval 327"/>
          <p:cNvSpPr/>
          <p:nvPr/>
        </p:nvSpPr>
        <p:spPr>
          <a:xfrm>
            <a:off x="7332686" y="5477428"/>
            <a:ext cx="15776" cy="15776"/>
          </a:xfrm>
          <a:prstGeom prst="ellipse">
            <a:avLst/>
          </a:prstGeom>
          <a:solidFill>
            <a:srgbClr val="777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" name="Oval 328"/>
          <p:cNvSpPr/>
          <p:nvPr/>
        </p:nvSpPr>
        <p:spPr>
          <a:xfrm>
            <a:off x="6916199" y="5811879"/>
            <a:ext cx="15776" cy="15776"/>
          </a:xfrm>
          <a:prstGeom prst="ellipse">
            <a:avLst/>
          </a:prstGeom>
          <a:solidFill>
            <a:srgbClr val="B9B9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" name="Oval 329"/>
          <p:cNvSpPr/>
          <p:nvPr/>
        </p:nvSpPr>
        <p:spPr>
          <a:xfrm>
            <a:off x="7149684" y="5338599"/>
            <a:ext cx="15776" cy="15776"/>
          </a:xfrm>
          <a:prstGeom prst="ellipse">
            <a:avLst/>
          </a:prstGeom>
          <a:solidFill>
            <a:srgbClr val="8C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" name="Oval 330"/>
          <p:cNvSpPr/>
          <p:nvPr/>
        </p:nvSpPr>
        <p:spPr>
          <a:xfrm>
            <a:off x="7383169" y="5673050"/>
            <a:ext cx="15776" cy="15776"/>
          </a:xfrm>
          <a:prstGeom prst="ellipse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" name="Oval 331"/>
          <p:cNvSpPr/>
          <p:nvPr/>
        </p:nvSpPr>
        <p:spPr>
          <a:xfrm>
            <a:off x="6966682" y="5199770"/>
            <a:ext cx="15776" cy="15776"/>
          </a:xfrm>
          <a:prstGeom prst="ellipse">
            <a:avLst/>
          </a:prstGeom>
          <a:solidFill>
            <a:srgbClr val="777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" name="Oval 332"/>
          <p:cNvSpPr/>
          <p:nvPr/>
        </p:nvSpPr>
        <p:spPr>
          <a:xfrm>
            <a:off x="7200167" y="5534221"/>
            <a:ext cx="15776" cy="15776"/>
          </a:xfrm>
          <a:prstGeom prst="ellipse">
            <a:avLst/>
          </a:prstGeom>
          <a:solidFill>
            <a:srgbClr val="B9B9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" name="Oval 333"/>
          <p:cNvSpPr/>
          <p:nvPr/>
        </p:nvSpPr>
        <p:spPr>
          <a:xfrm>
            <a:off x="7433652" y="5060941"/>
            <a:ext cx="15776" cy="15776"/>
          </a:xfrm>
          <a:prstGeom prst="ellipse">
            <a:avLst/>
          </a:prstGeom>
          <a:solidFill>
            <a:srgbClr val="8C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" name="Oval 334"/>
          <p:cNvSpPr/>
          <p:nvPr/>
        </p:nvSpPr>
        <p:spPr>
          <a:xfrm>
            <a:off x="7017166" y="5395393"/>
            <a:ext cx="15776" cy="15776"/>
          </a:xfrm>
          <a:prstGeom prst="ellipse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" name="Oval 335"/>
          <p:cNvSpPr/>
          <p:nvPr/>
        </p:nvSpPr>
        <p:spPr>
          <a:xfrm>
            <a:off x="7250651" y="5729844"/>
            <a:ext cx="15776" cy="15776"/>
          </a:xfrm>
          <a:prstGeom prst="ellipse">
            <a:avLst/>
          </a:prstGeom>
          <a:solidFill>
            <a:srgbClr val="777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" name="Oval 336"/>
          <p:cNvSpPr/>
          <p:nvPr/>
        </p:nvSpPr>
        <p:spPr>
          <a:xfrm>
            <a:off x="7484135" y="5256564"/>
            <a:ext cx="15776" cy="15776"/>
          </a:xfrm>
          <a:prstGeom prst="ellipse">
            <a:avLst/>
          </a:prstGeom>
          <a:solidFill>
            <a:srgbClr val="B9B9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8" name="Oval 337"/>
          <p:cNvSpPr/>
          <p:nvPr/>
        </p:nvSpPr>
        <p:spPr>
          <a:xfrm>
            <a:off x="7067649" y="5591015"/>
            <a:ext cx="15776" cy="15776"/>
          </a:xfrm>
          <a:prstGeom prst="ellipse">
            <a:avLst/>
          </a:prstGeom>
          <a:solidFill>
            <a:srgbClr val="8C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9" name="Oval 338"/>
          <p:cNvSpPr/>
          <p:nvPr/>
        </p:nvSpPr>
        <p:spPr>
          <a:xfrm>
            <a:off x="7301134" y="5117735"/>
            <a:ext cx="15776" cy="15776"/>
          </a:xfrm>
          <a:prstGeom prst="ellipse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0" name="Oval 339"/>
          <p:cNvSpPr/>
          <p:nvPr/>
        </p:nvSpPr>
        <p:spPr>
          <a:xfrm>
            <a:off x="7534619" y="5452186"/>
            <a:ext cx="15776" cy="15776"/>
          </a:xfrm>
          <a:prstGeom prst="ellipse">
            <a:avLst/>
          </a:prstGeom>
          <a:solidFill>
            <a:srgbClr val="777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1" name="Oval 340"/>
          <p:cNvSpPr/>
          <p:nvPr/>
        </p:nvSpPr>
        <p:spPr>
          <a:xfrm>
            <a:off x="7118132" y="5786637"/>
            <a:ext cx="15776" cy="15776"/>
          </a:xfrm>
          <a:prstGeom prst="ellipse">
            <a:avLst/>
          </a:prstGeom>
          <a:solidFill>
            <a:srgbClr val="B9B9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" name="Oval 341"/>
          <p:cNvSpPr/>
          <p:nvPr/>
        </p:nvSpPr>
        <p:spPr>
          <a:xfrm>
            <a:off x="7351617" y="5313357"/>
            <a:ext cx="15776" cy="15776"/>
          </a:xfrm>
          <a:prstGeom prst="ellipse">
            <a:avLst/>
          </a:prstGeom>
          <a:solidFill>
            <a:srgbClr val="8C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" name="Oval 342"/>
          <p:cNvSpPr/>
          <p:nvPr/>
        </p:nvSpPr>
        <p:spPr>
          <a:xfrm>
            <a:off x="6935130" y="5647809"/>
            <a:ext cx="15776" cy="15776"/>
          </a:xfrm>
          <a:prstGeom prst="ellipse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" name="Oval 343"/>
          <p:cNvSpPr/>
          <p:nvPr/>
        </p:nvSpPr>
        <p:spPr>
          <a:xfrm>
            <a:off x="7168615" y="5174529"/>
            <a:ext cx="15776" cy="15776"/>
          </a:xfrm>
          <a:prstGeom prst="ellipse">
            <a:avLst/>
          </a:prstGeom>
          <a:solidFill>
            <a:srgbClr val="777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" name="Oval 344"/>
          <p:cNvSpPr/>
          <p:nvPr/>
        </p:nvSpPr>
        <p:spPr>
          <a:xfrm>
            <a:off x="7402100" y="5508980"/>
            <a:ext cx="15776" cy="15776"/>
          </a:xfrm>
          <a:prstGeom prst="ellipse">
            <a:avLst/>
          </a:prstGeom>
          <a:solidFill>
            <a:srgbClr val="B9B9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46" name="Connector 345"/>
          <p:cNvCxnSpPr/>
          <p:nvPr/>
        </p:nvCxnSpPr>
        <p:spPr>
          <a:xfrm>
            <a:off x="7572481" y="5458497"/>
            <a:ext cx="366003" cy="0"/>
          </a:xfrm>
          <a:prstGeom prst="line">
            <a:avLst/>
          </a:prstGeom>
          <a:ln w="37862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7" name="Freeform 346"/>
          <p:cNvSpPr/>
          <p:nvPr/>
        </p:nvSpPr>
        <p:spPr>
          <a:xfrm>
            <a:off x="7824897" y="5388072"/>
            <a:ext cx="113587" cy="140849"/>
          </a:xfrm>
          <a:custGeom>
            <a:avLst/>
            <a:gdLst/>
            <a:ahLst/>
            <a:cxnLst/>
            <a:rect l="l" t="t" r="r" b="b"/>
            <a:pathLst>
              <a:path w="113587" h="140849">
                <a:moveTo>
                  <a:pt x="113587" y="70425"/>
                </a:moveTo>
                <a:lnTo>
                  <a:pt x="0" y="0"/>
                </a:lnTo>
                <a:close/>
                <a:lnTo>
                  <a:pt x="0" y="140849"/>
                </a:lnTo>
                <a:close/>
                <a:lnTo>
                  <a:pt x="113587" y="70425"/>
                </a:lnTo>
                <a:close/>
              </a:path>
            </a:pathLst>
          </a:custGeom>
          <a:solidFill>
            <a:srgbClr val="000000"/>
          </a:solidFill>
          <a:ln w="317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48" name="Connector 347"/>
          <p:cNvCxnSpPr/>
          <p:nvPr/>
        </p:nvCxnSpPr>
        <p:spPr>
          <a:xfrm>
            <a:off x="6606990" y="5458497"/>
            <a:ext cx="0" cy="965491"/>
          </a:xfrm>
          <a:prstGeom prst="line">
            <a:avLst/>
          </a:prstGeom>
          <a:ln w="25241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9" name="Connector 348"/>
          <p:cNvCxnSpPr/>
          <p:nvPr/>
        </p:nvCxnSpPr>
        <p:spPr>
          <a:xfrm>
            <a:off x="6606990" y="6423988"/>
            <a:ext cx="3552756" cy="0"/>
          </a:xfrm>
          <a:prstGeom prst="line">
            <a:avLst/>
          </a:prstGeom>
          <a:ln w="25241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0" name="Connector 349"/>
          <p:cNvCxnSpPr/>
          <p:nvPr/>
        </p:nvCxnSpPr>
        <p:spPr>
          <a:xfrm flipV="1">
            <a:off x="10159746" y="5458497"/>
            <a:ext cx="0" cy="965491"/>
          </a:xfrm>
          <a:prstGeom prst="line">
            <a:avLst/>
          </a:prstGeom>
          <a:ln w="25241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1" name="Connector 350"/>
          <p:cNvCxnSpPr/>
          <p:nvPr/>
        </p:nvCxnSpPr>
        <p:spPr>
          <a:xfrm flipV="1">
            <a:off x="7572481" y="4587661"/>
            <a:ext cx="0" cy="870836"/>
          </a:xfrm>
          <a:prstGeom prst="line">
            <a:avLst/>
          </a:prstGeom>
          <a:ln w="25241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2" name="Connector 351"/>
          <p:cNvCxnSpPr/>
          <p:nvPr/>
        </p:nvCxnSpPr>
        <p:spPr>
          <a:xfrm>
            <a:off x="7572481" y="4587661"/>
            <a:ext cx="2404263" cy="0"/>
          </a:xfrm>
          <a:prstGeom prst="line">
            <a:avLst/>
          </a:prstGeom>
          <a:ln w="25241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3" name="Connector 352"/>
          <p:cNvCxnSpPr/>
          <p:nvPr/>
        </p:nvCxnSpPr>
        <p:spPr>
          <a:xfrm>
            <a:off x="9976744" y="4587661"/>
            <a:ext cx="0" cy="422797"/>
          </a:xfrm>
          <a:prstGeom prst="line">
            <a:avLst/>
          </a:prstGeom>
          <a:ln w="25241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4" name="Freeform 353"/>
          <p:cNvSpPr/>
          <p:nvPr/>
        </p:nvSpPr>
        <p:spPr>
          <a:xfrm>
            <a:off x="7976347" y="4682317"/>
            <a:ext cx="858214" cy="1489255"/>
          </a:xfrm>
          <a:custGeom>
            <a:avLst/>
            <a:gdLst/>
            <a:ahLst/>
            <a:cxnLst/>
            <a:rect l="l" t="t" r="r" b="b"/>
            <a:pathLst>
              <a:path w="858214" h="1489255">
                <a:moveTo>
                  <a:pt x="0" y="0"/>
                </a:moveTo>
                <a:lnTo>
                  <a:pt x="858214" y="347072"/>
                </a:lnTo>
                <a:close/>
                <a:lnTo>
                  <a:pt x="858214" y="1224218"/>
                </a:lnTo>
                <a:close/>
                <a:lnTo>
                  <a:pt x="0" y="1489255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B9C9E6"/>
          </a:solidFill>
          <a:ln w="18931">
            <a:solidFill>
              <a:srgbClr val="9AA5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" name="Freeform 354"/>
          <p:cNvSpPr/>
          <p:nvPr/>
        </p:nvSpPr>
        <p:spPr>
          <a:xfrm>
            <a:off x="8834561" y="4682317"/>
            <a:ext cx="851904" cy="1489255"/>
          </a:xfrm>
          <a:custGeom>
            <a:avLst/>
            <a:gdLst/>
            <a:ahLst/>
            <a:cxnLst/>
            <a:rect l="l" t="t" r="r" b="b"/>
            <a:pathLst>
              <a:path w="851904" h="1489255">
                <a:moveTo>
                  <a:pt x="0" y="347072"/>
                </a:moveTo>
                <a:lnTo>
                  <a:pt x="851904" y="0"/>
                </a:lnTo>
                <a:close/>
                <a:lnTo>
                  <a:pt x="851904" y="1489255"/>
                </a:lnTo>
                <a:close/>
                <a:lnTo>
                  <a:pt x="0" y="1224218"/>
                </a:lnTo>
                <a:close/>
                <a:lnTo>
                  <a:pt x="0" y="347072"/>
                </a:lnTo>
                <a:close/>
              </a:path>
            </a:pathLst>
          </a:custGeom>
          <a:solidFill>
            <a:srgbClr val="D3DCEB"/>
          </a:solidFill>
          <a:ln w="18931">
            <a:solidFill>
              <a:srgbClr val="9AA5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6" name="Rounded Rectangle 355"/>
          <p:cNvSpPr/>
          <p:nvPr/>
        </p:nvSpPr>
        <p:spPr>
          <a:xfrm>
            <a:off x="8089934" y="4953664"/>
            <a:ext cx="170380" cy="908697"/>
          </a:xfrm>
          <a:prstGeom prst="roundRect">
            <a:avLst/>
          </a:prstGeom>
          <a:solidFill>
            <a:srgbClr val="638FCE"/>
          </a:solidFill>
          <a:ln w="12620">
            <a:solidFill>
              <a:srgbClr val="5278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7" name="Rounded Rectangle 356"/>
          <p:cNvSpPr/>
          <p:nvPr/>
        </p:nvSpPr>
        <p:spPr>
          <a:xfrm>
            <a:off x="8354971" y="5042010"/>
            <a:ext cx="170380" cy="738316"/>
          </a:xfrm>
          <a:prstGeom prst="roundRect">
            <a:avLst/>
          </a:prstGeom>
          <a:solidFill>
            <a:srgbClr val="638FCE"/>
          </a:solidFill>
          <a:ln w="12620">
            <a:solidFill>
              <a:srgbClr val="5278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8" name="Rounded Rectangle 357"/>
          <p:cNvSpPr/>
          <p:nvPr/>
        </p:nvSpPr>
        <p:spPr>
          <a:xfrm>
            <a:off x="8607387" y="5149287"/>
            <a:ext cx="170380" cy="511142"/>
          </a:xfrm>
          <a:prstGeom prst="roundRect">
            <a:avLst/>
          </a:prstGeom>
          <a:solidFill>
            <a:srgbClr val="638FCE"/>
          </a:solidFill>
          <a:ln w="12620">
            <a:solidFill>
              <a:srgbClr val="5278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9" name="Rounded Rectangle 358"/>
          <p:cNvSpPr/>
          <p:nvPr/>
        </p:nvSpPr>
        <p:spPr>
          <a:xfrm>
            <a:off x="9036494" y="5149287"/>
            <a:ext cx="170380" cy="511142"/>
          </a:xfrm>
          <a:prstGeom prst="roundRect">
            <a:avLst/>
          </a:prstGeom>
          <a:solidFill>
            <a:srgbClr val="638FCE"/>
          </a:solidFill>
          <a:ln w="12620">
            <a:solidFill>
              <a:srgbClr val="5278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0" name="Rounded Rectangle 359"/>
          <p:cNvSpPr/>
          <p:nvPr/>
        </p:nvSpPr>
        <p:spPr>
          <a:xfrm>
            <a:off x="9282600" y="5042010"/>
            <a:ext cx="170380" cy="738316"/>
          </a:xfrm>
          <a:prstGeom prst="roundRect">
            <a:avLst/>
          </a:prstGeom>
          <a:solidFill>
            <a:srgbClr val="638FCE"/>
          </a:solidFill>
          <a:ln w="12620">
            <a:solidFill>
              <a:srgbClr val="5278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1" name="Rounded Rectangle 360"/>
          <p:cNvSpPr/>
          <p:nvPr/>
        </p:nvSpPr>
        <p:spPr>
          <a:xfrm>
            <a:off x="9528705" y="4953664"/>
            <a:ext cx="170380" cy="908697"/>
          </a:xfrm>
          <a:prstGeom prst="roundRect">
            <a:avLst/>
          </a:prstGeom>
          <a:solidFill>
            <a:srgbClr val="638FCE"/>
          </a:solidFill>
          <a:ln w="12620">
            <a:solidFill>
              <a:srgbClr val="5278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2" name="Oval 361"/>
          <p:cNvSpPr/>
          <p:nvPr/>
        </p:nvSpPr>
        <p:spPr>
          <a:xfrm>
            <a:off x="10027227" y="4783284"/>
            <a:ext cx="220864" cy="220864"/>
          </a:xfrm>
          <a:prstGeom prst="ellipse">
            <a:avLst/>
          </a:prstGeom>
          <a:solidFill>
            <a:srgbClr val="FFECC6"/>
          </a:solidFill>
          <a:ln w="18931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" name="TextBox 362"/>
          <p:cNvSpPr txBox="1"/>
          <p:nvPr/>
        </p:nvSpPr>
        <p:spPr>
          <a:xfrm>
            <a:off x="10046158" y="4783284"/>
            <a:ext cx="183001" cy="21455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42" b="1" i="0">
                <a:solidFill>
                  <a:srgbClr val="000000"/>
                </a:solidFill>
                <a:latin typeface="Times New Roman"/>
              </a:defRPr>
            </a:pPr>
            <a:r>
              <a:t>−</a:t>
            </a:r>
          </a:p>
        </p:txBody>
      </p:sp>
      <p:sp>
        <p:nvSpPr>
          <p:cNvPr id="364" name="Oval 363"/>
          <p:cNvSpPr/>
          <p:nvPr/>
        </p:nvSpPr>
        <p:spPr>
          <a:xfrm>
            <a:off x="9774811" y="5679361"/>
            <a:ext cx="220864" cy="220864"/>
          </a:xfrm>
          <a:prstGeom prst="ellipse">
            <a:avLst/>
          </a:prstGeom>
          <a:solidFill>
            <a:srgbClr val="FFECC6"/>
          </a:solidFill>
          <a:ln w="18931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5" name="TextBox 364"/>
          <p:cNvSpPr txBox="1"/>
          <p:nvPr/>
        </p:nvSpPr>
        <p:spPr>
          <a:xfrm>
            <a:off x="9787432" y="5679361"/>
            <a:ext cx="195622" cy="21455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42" b="1" i="0">
                <a:solidFill>
                  <a:srgbClr val="000000"/>
                </a:solidFill>
                <a:latin typeface="Times New Roman"/>
              </a:defRPr>
            </a:pPr>
            <a:r>
              <a:t>+</a:t>
            </a:r>
          </a:p>
        </p:txBody>
      </p:sp>
      <p:cxnSp>
        <p:nvCxnSpPr>
          <p:cNvPr id="366" name="Connector 365"/>
          <p:cNvCxnSpPr/>
          <p:nvPr/>
        </p:nvCxnSpPr>
        <p:spPr>
          <a:xfrm>
            <a:off x="10134504" y="5004148"/>
            <a:ext cx="0" cy="454349"/>
          </a:xfrm>
          <a:prstGeom prst="line">
            <a:avLst/>
          </a:prstGeom>
          <a:ln w="25241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7" name="Connector 366"/>
          <p:cNvCxnSpPr/>
          <p:nvPr/>
        </p:nvCxnSpPr>
        <p:spPr>
          <a:xfrm>
            <a:off x="10134504" y="5458497"/>
            <a:ext cx="328141" cy="0"/>
          </a:xfrm>
          <a:prstGeom prst="line">
            <a:avLst/>
          </a:prstGeom>
          <a:ln w="25241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8" name="Freeform 367"/>
          <p:cNvSpPr/>
          <p:nvPr/>
        </p:nvSpPr>
        <p:spPr>
          <a:xfrm>
            <a:off x="10374299" y="5403722"/>
            <a:ext cx="88346" cy="109549"/>
          </a:xfrm>
          <a:custGeom>
            <a:avLst/>
            <a:gdLst/>
            <a:ahLst/>
            <a:cxnLst/>
            <a:rect l="l" t="t" r="r" b="b"/>
            <a:pathLst>
              <a:path w="88346" h="109549">
                <a:moveTo>
                  <a:pt x="88346" y="54775"/>
                </a:moveTo>
                <a:lnTo>
                  <a:pt x="0" y="0"/>
                </a:lnTo>
                <a:close/>
                <a:lnTo>
                  <a:pt x="0" y="109549"/>
                </a:lnTo>
                <a:close/>
                <a:lnTo>
                  <a:pt x="88346" y="54775"/>
                </a:lnTo>
                <a:close/>
              </a:path>
            </a:pathLst>
          </a:custGeom>
          <a:solidFill>
            <a:srgbClr val="000000"/>
          </a:solidFill>
          <a:ln w="317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69" name="Connector 368"/>
          <p:cNvCxnSpPr/>
          <p:nvPr/>
        </p:nvCxnSpPr>
        <p:spPr>
          <a:xfrm flipV="1">
            <a:off x="10462645" y="4770663"/>
            <a:ext cx="410176" cy="687834"/>
          </a:xfrm>
          <a:prstGeom prst="line">
            <a:avLst/>
          </a:prstGeom>
          <a:ln w="31552">
            <a:solidFill>
              <a:srgbClr val="2D5C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0" name="Connector 369"/>
          <p:cNvCxnSpPr/>
          <p:nvPr/>
        </p:nvCxnSpPr>
        <p:spPr>
          <a:xfrm>
            <a:off x="10462645" y="5458497"/>
            <a:ext cx="410176" cy="719385"/>
          </a:xfrm>
          <a:prstGeom prst="line">
            <a:avLst/>
          </a:prstGeom>
          <a:ln w="31552">
            <a:solidFill>
              <a:srgbClr val="2D5C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1" name="TextBox 370"/>
          <p:cNvSpPr txBox="1"/>
          <p:nvPr/>
        </p:nvSpPr>
        <p:spPr>
          <a:xfrm rot="17880000">
            <a:off x="10525749" y="4713869"/>
            <a:ext cx="416486" cy="34707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91" b="1" i="0">
                <a:solidFill>
                  <a:srgbClr val="000000"/>
                </a:solidFill>
                <a:latin typeface="Times New Roman"/>
              </a:defRPr>
            </a:pPr>
            <a:r>
              <a:t>60%</a:t>
            </a:r>
          </a:p>
        </p:txBody>
      </p:sp>
      <p:sp>
        <p:nvSpPr>
          <p:cNvPr id="372" name="TextBox 371"/>
          <p:cNvSpPr txBox="1"/>
          <p:nvPr/>
        </p:nvSpPr>
        <p:spPr>
          <a:xfrm rot="3720000">
            <a:off x="10513128" y="5761396"/>
            <a:ext cx="416486" cy="34707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91" b="1" i="0">
                <a:solidFill>
                  <a:srgbClr val="000000"/>
                </a:solidFill>
                <a:latin typeface="Times New Roman"/>
              </a:defRPr>
            </a:pPr>
            <a:r>
              <a:t>10%</a:t>
            </a:r>
          </a:p>
        </p:txBody>
      </p:sp>
      <p:sp>
        <p:nvSpPr>
          <p:cNvPr id="373" name="Rounded Rectangle 372"/>
          <p:cNvSpPr/>
          <p:nvPr/>
        </p:nvSpPr>
        <p:spPr>
          <a:xfrm>
            <a:off x="10866510" y="4423591"/>
            <a:ext cx="580556" cy="1981465"/>
          </a:xfrm>
          <a:prstGeom prst="roundRect">
            <a:avLst/>
          </a:prstGeom>
          <a:solidFill>
            <a:srgbClr val="F8EBC8"/>
          </a:solidFill>
          <a:ln w="25241">
            <a:solidFill>
              <a:srgbClr val="2D5C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4" name="Rectangle 373"/>
          <p:cNvSpPr/>
          <p:nvPr/>
        </p:nvSpPr>
        <p:spPr>
          <a:xfrm>
            <a:off x="10980098" y="4511936"/>
            <a:ext cx="347072" cy="321830"/>
          </a:xfrm>
          <a:prstGeom prst="rect">
            <a:avLst/>
          </a:prstGeom>
          <a:noFill/>
          <a:ln w="25241">
            <a:solidFill>
              <a:srgbClr val="2D5CA5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5" name="Oval 374"/>
          <p:cNvSpPr/>
          <p:nvPr/>
        </p:nvSpPr>
        <p:spPr>
          <a:xfrm>
            <a:off x="11074754" y="4581351"/>
            <a:ext cx="170380" cy="170380"/>
          </a:xfrm>
          <a:prstGeom prst="ellipse">
            <a:avLst/>
          </a:prstGeom>
          <a:solidFill>
            <a:srgbClr val="48AF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6" name="Rectangle 375"/>
          <p:cNvSpPr/>
          <p:nvPr/>
        </p:nvSpPr>
        <p:spPr>
          <a:xfrm>
            <a:off x="10980098" y="4966285"/>
            <a:ext cx="347072" cy="321830"/>
          </a:xfrm>
          <a:prstGeom prst="rect">
            <a:avLst/>
          </a:prstGeom>
          <a:noFill/>
          <a:ln w="25241">
            <a:solidFill>
              <a:srgbClr val="2D5CA5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7" name="Oval 376"/>
          <p:cNvSpPr/>
          <p:nvPr/>
        </p:nvSpPr>
        <p:spPr>
          <a:xfrm>
            <a:off x="11074754" y="5035700"/>
            <a:ext cx="170380" cy="170380"/>
          </a:xfrm>
          <a:prstGeom prst="ellipse">
            <a:avLst/>
          </a:prstGeom>
          <a:solidFill>
            <a:srgbClr val="2997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8" name="Rectangle 377"/>
          <p:cNvSpPr/>
          <p:nvPr/>
        </p:nvSpPr>
        <p:spPr>
          <a:xfrm>
            <a:off x="10980098" y="5925466"/>
            <a:ext cx="347072" cy="321830"/>
          </a:xfrm>
          <a:prstGeom prst="rect">
            <a:avLst/>
          </a:prstGeom>
          <a:noFill/>
          <a:ln w="25241">
            <a:solidFill>
              <a:srgbClr val="2D5CA5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9" name="Oval 378"/>
          <p:cNvSpPr/>
          <p:nvPr/>
        </p:nvSpPr>
        <p:spPr>
          <a:xfrm>
            <a:off x="11074754" y="5994881"/>
            <a:ext cx="170380" cy="170380"/>
          </a:xfrm>
          <a:prstGeom prst="ellipse">
            <a:avLst/>
          </a:prstGeom>
          <a:solidFill>
            <a:srgbClr val="86C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0" name="Oval 379"/>
          <p:cNvSpPr/>
          <p:nvPr/>
        </p:nvSpPr>
        <p:spPr>
          <a:xfrm>
            <a:off x="11131547" y="5370151"/>
            <a:ext cx="63104" cy="63104"/>
          </a:xfrm>
          <a:prstGeom prst="ellipse">
            <a:avLst/>
          </a:prstGeom>
          <a:solidFill>
            <a:srgbClr val="59B2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1" name="Oval 380"/>
          <p:cNvSpPr/>
          <p:nvPr/>
        </p:nvSpPr>
        <p:spPr>
          <a:xfrm>
            <a:off x="11131547" y="5477428"/>
            <a:ext cx="63104" cy="63104"/>
          </a:xfrm>
          <a:prstGeom prst="ellipse">
            <a:avLst/>
          </a:prstGeom>
          <a:solidFill>
            <a:srgbClr val="59B2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2" name="Oval 381"/>
          <p:cNvSpPr/>
          <p:nvPr/>
        </p:nvSpPr>
        <p:spPr>
          <a:xfrm>
            <a:off x="11131547" y="5584705"/>
            <a:ext cx="63104" cy="63104"/>
          </a:xfrm>
          <a:prstGeom prst="ellipse">
            <a:avLst/>
          </a:prstGeom>
          <a:solidFill>
            <a:srgbClr val="59B2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3" name="Oval 382"/>
          <p:cNvSpPr/>
          <p:nvPr/>
        </p:nvSpPr>
        <p:spPr>
          <a:xfrm>
            <a:off x="11131547" y="5691981"/>
            <a:ext cx="63104" cy="63104"/>
          </a:xfrm>
          <a:prstGeom prst="ellipse">
            <a:avLst/>
          </a:prstGeom>
          <a:solidFill>
            <a:srgbClr val="59B2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4" name="Oval 383"/>
          <p:cNvSpPr/>
          <p:nvPr/>
        </p:nvSpPr>
        <p:spPr>
          <a:xfrm>
            <a:off x="11131547" y="5799258"/>
            <a:ext cx="63104" cy="63104"/>
          </a:xfrm>
          <a:prstGeom prst="ellipse">
            <a:avLst/>
          </a:prstGeom>
          <a:solidFill>
            <a:srgbClr val="59B2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5" name="Oval 384"/>
          <p:cNvSpPr/>
          <p:nvPr/>
        </p:nvSpPr>
        <p:spPr>
          <a:xfrm>
            <a:off x="10746613" y="5294426"/>
            <a:ext cx="63104" cy="63104"/>
          </a:xfrm>
          <a:prstGeom prst="ellipse">
            <a:avLst/>
          </a:prstGeom>
          <a:solidFill>
            <a:srgbClr val="7CBD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6" name="Oval 385"/>
          <p:cNvSpPr/>
          <p:nvPr/>
        </p:nvSpPr>
        <p:spPr>
          <a:xfrm>
            <a:off x="10746613" y="5559463"/>
            <a:ext cx="63104" cy="63104"/>
          </a:xfrm>
          <a:prstGeom prst="ellipse">
            <a:avLst/>
          </a:prstGeom>
          <a:solidFill>
            <a:srgbClr val="7CBD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7" name="Oval 386"/>
          <p:cNvSpPr/>
          <p:nvPr/>
        </p:nvSpPr>
        <p:spPr>
          <a:xfrm>
            <a:off x="11516482" y="5357530"/>
            <a:ext cx="63104" cy="63104"/>
          </a:xfrm>
          <a:prstGeom prst="ellipse">
            <a:avLst/>
          </a:prstGeom>
          <a:solidFill>
            <a:srgbClr val="7CBD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8" name="Oval 387"/>
          <p:cNvSpPr/>
          <p:nvPr/>
        </p:nvSpPr>
        <p:spPr>
          <a:xfrm>
            <a:off x="11516482" y="5647809"/>
            <a:ext cx="63104" cy="63104"/>
          </a:xfrm>
          <a:prstGeom prst="ellipse">
            <a:avLst/>
          </a:prstGeom>
          <a:solidFill>
            <a:srgbClr val="7CBD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89" name="Connector 388"/>
          <p:cNvCxnSpPr/>
          <p:nvPr/>
        </p:nvCxnSpPr>
        <p:spPr>
          <a:xfrm>
            <a:off x="11447067" y="4669696"/>
            <a:ext cx="258727" cy="0"/>
          </a:xfrm>
          <a:prstGeom prst="line">
            <a:avLst/>
          </a:prstGeom>
          <a:ln w="37862">
            <a:solidFill>
              <a:srgbClr val="2D5C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0" name="Freeform 389"/>
          <p:cNvSpPr/>
          <p:nvPr/>
        </p:nvSpPr>
        <p:spPr>
          <a:xfrm>
            <a:off x="11598517" y="4603185"/>
            <a:ext cx="107277" cy="133023"/>
          </a:xfrm>
          <a:custGeom>
            <a:avLst/>
            <a:gdLst/>
            <a:ahLst/>
            <a:cxnLst/>
            <a:rect l="l" t="t" r="r" b="b"/>
            <a:pathLst>
              <a:path w="107277" h="133023">
                <a:moveTo>
                  <a:pt x="107277" y="66511"/>
                </a:moveTo>
                <a:lnTo>
                  <a:pt x="0" y="0"/>
                </a:lnTo>
                <a:close/>
                <a:lnTo>
                  <a:pt x="0" y="133023"/>
                </a:lnTo>
                <a:close/>
                <a:lnTo>
                  <a:pt x="107277" y="66511"/>
                </a:lnTo>
                <a:close/>
              </a:path>
            </a:pathLst>
          </a:custGeom>
          <a:solidFill>
            <a:srgbClr val="2D5CA5"/>
          </a:solidFill>
          <a:ln w="3175">
            <a:solidFill>
              <a:srgbClr val="2D5C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91" name="Connector 390"/>
          <p:cNvCxnSpPr/>
          <p:nvPr/>
        </p:nvCxnSpPr>
        <p:spPr>
          <a:xfrm>
            <a:off x="11447067" y="5130356"/>
            <a:ext cx="258727" cy="0"/>
          </a:xfrm>
          <a:prstGeom prst="line">
            <a:avLst/>
          </a:prstGeom>
          <a:ln w="37862">
            <a:solidFill>
              <a:srgbClr val="2D5C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2" name="Freeform 391"/>
          <p:cNvSpPr/>
          <p:nvPr/>
        </p:nvSpPr>
        <p:spPr>
          <a:xfrm>
            <a:off x="11598517" y="5063844"/>
            <a:ext cx="107277" cy="133023"/>
          </a:xfrm>
          <a:custGeom>
            <a:avLst/>
            <a:gdLst/>
            <a:ahLst/>
            <a:cxnLst/>
            <a:rect l="l" t="t" r="r" b="b"/>
            <a:pathLst>
              <a:path w="107277" h="133023">
                <a:moveTo>
                  <a:pt x="107277" y="66512"/>
                </a:moveTo>
                <a:lnTo>
                  <a:pt x="0" y="0"/>
                </a:lnTo>
                <a:close/>
                <a:lnTo>
                  <a:pt x="0" y="133023"/>
                </a:lnTo>
                <a:close/>
                <a:lnTo>
                  <a:pt x="107277" y="66512"/>
                </a:lnTo>
                <a:close/>
              </a:path>
            </a:pathLst>
          </a:custGeom>
          <a:solidFill>
            <a:srgbClr val="2D5CA5"/>
          </a:solidFill>
          <a:ln w="3175">
            <a:solidFill>
              <a:srgbClr val="2D5C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93" name="Connector 392"/>
          <p:cNvCxnSpPr/>
          <p:nvPr/>
        </p:nvCxnSpPr>
        <p:spPr>
          <a:xfrm>
            <a:off x="11447067" y="6089537"/>
            <a:ext cx="258727" cy="0"/>
          </a:xfrm>
          <a:prstGeom prst="line">
            <a:avLst/>
          </a:prstGeom>
          <a:ln w="37862">
            <a:solidFill>
              <a:srgbClr val="2D5C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4" name="Freeform 393"/>
          <p:cNvSpPr/>
          <p:nvPr/>
        </p:nvSpPr>
        <p:spPr>
          <a:xfrm>
            <a:off x="11598517" y="6023025"/>
            <a:ext cx="107277" cy="133023"/>
          </a:xfrm>
          <a:custGeom>
            <a:avLst/>
            <a:gdLst/>
            <a:ahLst/>
            <a:cxnLst/>
            <a:rect l="l" t="t" r="r" b="b"/>
            <a:pathLst>
              <a:path w="107277" h="133023">
                <a:moveTo>
                  <a:pt x="107277" y="66512"/>
                </a:moveTo>
                <a:lnTo>
                  <a:pt x="0" y="0"/>
                </a:lnTo>
                <a:close/>
                <a:lnTo>
                  <a:pt x="0" y="133023"/>
                </a:lnTo>
                <a:close/>
                <a:lnTo>
                  <a:pt x="107277" y="66512"/>
                </a:lnTo>
                <a:close/>
              </a:path>
            </a:pathLst>
          </a:custGeom>
          <a:solidFill>
            <a:srgbClr val="2D5CA5"/>
          </a:solidFill>
          <a:ln w="3175">
            <a:solidFill>
              <a:srgbClr val="2D5C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__ORIGINAL_REFERENCE_IMAGE__" descr="DiffLiG Diffusion-enhanced Liquid Graph with Attention Propagation for Grid-to-Station Precipitation Correction_diagr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2191693" cy="688464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