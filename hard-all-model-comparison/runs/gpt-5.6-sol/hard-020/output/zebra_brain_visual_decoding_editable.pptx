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401800" cy="9220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1800" cy="922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480" y="91440"/>
            <a:ext cx="14340840" cy="6324600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" y="152400"/>
            <a:ext cx="7833360" cy="6156960"/>
          </a:xfrm>
          <a:prstGeom prst="roundRect">
            <a:avLst>
              <a:gd name="adj" fmla="val 2103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01940" y="152400"/>
            <a:ext cx="4221480" cy="6156960"/>
          </a:xfrm>
          <a:prstGeom prst="roundRect">
            <a:avLst>
              <a:gd name="adj" fmla="val 3068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00" y="152400"/>
            <a:ext cx="2644140" cy="571500"/>
          </a:xfrm>
          <a:prstGeom prst="roundRect">
            <a:avLst>
              <a:gd name="adj" fmla="val 16000"/>
            </a:avLst>
          </a:prstGeom>
          <a:solidFill>
            <a:srgbClr val="DF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149161"/>
            <a:ext cx="2514600" cy="5855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79" b="1" i="1">
                <a:solidFill>
                  <a:srgbClr val="050505"/>
                </a:solidFill>
                <a:latin typeface="Georgia"/>
              </a:defRPr>
            </a:pPr>
            <a: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6540" y="270700"/>
            <a:ext cx="50292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1">
                <a:solidFill>
                  <a:srgbClr val="6F9DC3"/>
                </a:solidFill>
                <a:latin typeface="Georgia"/>
              </a:defRPr>
            </a:pPr>
            <a:r>
              <a:t>Subject-Invariant Feature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76225"/>
            <a:ext cx="51816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1">
                <a:solidFill>
                  <a:srgbClr val="F27A22"/>
                </a:solidFill>
                <a:latin typeface="Georgia"/>
              </a:defRPr>
            </a:pPr>
            <a:r>
              <a:t>Semantic-Specific 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276" y="1297686"/>
            <a:ext cx="475488" cy="5745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20" b="1" i="0">
                <a:solidFill>
                  <a:srgbClr val="050505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312" y="1109472"/>
            <a:ext cx="585216" cy="7071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840" b="1" i="0">
                <a:solidFill>
                  <a:srgbClr val="ED6C82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0076" y="1297686"/>
            <a:ext cx="475488" cy="5745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20" b="1" i="0">
                <a:solidFill>
                  <a:srgbClr val="050505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1885569"/>
            <a:ext cx="167640" cy="192786"/>
          </a:xfrm>
          <a:prstGeom prst="ellipse">
            <a:avLst/>
          </a:prstGeom>
          <a:solidFill>
            <a:srgbClr val="392B2A"/>
          </a:solidFill>
          <a:ln w="10058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9635" y="1927479"/>
            <a:ext cx="125730" cy="150876"/>
          </a:xfrm>
          <a:prstGeom prst="ellipse">
            <a:avLst/>
          </a:prstGeom>
          <a:solidFill>
            <a:srgbClr val="FFD2B6"/>
          </a:solidFill>
          <a:ln w="838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552" y="1984476"/>
            <a:ext cx="17602" cy="20116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844" y="1984476"/>
            <a:ext cx="17602" cy="20116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30580" y="2087880"/>
            <a:ext cx="243840" cy="137160"/>
          </a:xfrm>
          <a:custGeom>
            <a:avLst/>
            <a:gdLst/>
            <a:ahLst/>
            <a:cxnLst/>
            <a:rect l="l" t="t" r="r" b="b"/>
            <a:pathLst>
              <a:path w="32" h="18">
                <a:moveTo>
                  <a:pt x="4" y="0"/>
                </a:moveTo>
                <a:lnTo>
                  <a:pt x="28" y="0"/>
                </a:lnTo>
                <a:lnTo>
                  <a:pt x="32" y="18"/>
                </a:lnTo>
                <a:lnTo>
                  <a:pt x="0" y="18"/>
                </a:lnTo>
                <a:close/>
              </a:path>
            </a:pathLst>
          </a:custGeom>
          <a:solidFill>
            <a:srgbClr val="EFAA62"/>
          </a:solidFill>
          <a:ln w="10477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612" y="1902333"/>
            <a:ext cx="167640" cy="192786"/>
          </a:xfrm>
          <a:prstGeom prst="ellipse">
            <a:avLst/>
          </a:prstGeom>
          <a:solidFill>
            <a:srgbClr val="402F2B"/>
          </a:solidFill>
          <a:ln w="10058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7567" y="1944243"/>
            <a:ext cx="125730" cy="150876"/>
          </a:xfrm>
          <a:prstGeom prst="ellipse">
            <a:avLst/>
          </a:prstGeom>
          <a:solidFill>
            <a:srgbClr val="FFD2B6"/>
          </a:solidFill>
          <a:ln w="838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6484" y="2001240"/>
            <a:ext cx="17602" cy="20116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6776" y="2001240"/>
            <a:ext cx="17602" cy="20116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051560" y="2110740"/>
            <a:ext cx="243840" cy="129540"/>
          </a:xfrm>
          <a:custGeom>
            <a:avLst/>
            <a:gdLst/>
            <a:ahLst/>
            <a:cxnLst/>
            <a:rect l="l" t="t" r="r" b="b"/>
            <a:pathLst>
              <a:path w="32" h="17">
                <a:moveTo>
                  <a:pt x="4" y="0"/>
                </a:moveTo>
                <a:lnTo>
                  <a:pt x="28" y="0"/>
                </a:lnTo>
                <a:lnTo>
                  <a:pt x="32" y="17"/>
                </a:lnTo>
                <a:lnTo>
                  <a:pt x="0" y="17"/>
                </a:lnTo>
                <a:close/>
              </a:path>
            </a:pathLst>
          </a:custGeom>
          <a:solidFill>
            <a:srgbClr val="F7D46B"/>
          </a:solidFill>
          <a:ln w="10477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04544" y="1885569"/>
            <a:ext cx="167640" cy="192786"/>
          </a:xfrm>
          <a:prstGeom prst="ellipse">
            <a:avLst/>
          </a:prstGeom>
          <a:solidFill>
            <a:srgbClr val="3B3030"/>
          </a:solidFill>
          <a:ln w="10058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25499" y="1927479"/>
            <a:ext cx="125730" cy="150876"/>
          </a:xfrm>
          <a:prstGeom prst="ellipse">
            <a:avLst/>
          </a:prstGeom>
          <a:solidFill>
            <a:srgbClr val="FFD2B6"/>
          </a:solidFill>
          <a:ln w="838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416" y="1984476"/>
            <a:ext cx="17602" cy="20116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04708" y="1984476"/>
            <a:ext cx="17602" cy="20116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264920" y="2087880"/>
            <a:ext cx="243840" cy="137160"/>
          </a:xfrm>
          <a:custGeom>
            <a:avLst/>
            <a:gdLst/>
            <a:ahLst/>
            <a:cxnLst/>
            <a:rect l="l" t="t" r="r" b="b"/>
            <a:pathLst>
              <a:path w="32" h="18">
                <a:moveTo>
                  <a:pt x="4" y="0"/>
                </a:moveTo>
                <a:lnTo>
                  <a:pt x="28" y="0"/>
                </a:lnTo>
                <a:lnTo>
                  <a:pt x="32" y="18"/>
                </a:lnTo>
                <a:lnTo>
                  <a:pt x="0" y="18"/>
                </a:lnTo>
                <a:close/>
              </a:path>
            </a:pathLst>
          </a:custGeom>
          <a:solidFill>
            <a:srgbClr val="E8916B"/>
          </a:solidFill>
          <a:ln w="10477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890" y="2242947"/>
            <a:ext cx="1257300" cy="3756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039" b="1" i="0">
                <a:solidFill>
                  <a:srgbClr val="050505"/>
                </a:solidFill>
                <a:latin typeface="Georgia"/>
              </a:defRPr>
            </a:pPr>
            <a:r>
              <a:t>Subject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4620" y="1028700"/>
            <a:ext cx="746760" cy="381000"/>
          </a:xfrm>
          <a:prstGeom prst="roundRect">
            <a:avLst>
              <a:gd name="adj" fmla="val 24000"/>
            </a:avLst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21280" y="975360"/>
            <a:ext cx="746760" cy="381000"/>
          </a:xfrm>
          <a:prstGeom prst="roundRect">
            <a:avLst>
              <a:gd name="adj" fmla="val 24000"/>
            </a:avLst>
          </a:prstGeom>
          <a:solidFill>
            <a:srgbClr val="E7EEF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1002220"/>
            <a:ext cx="6858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0">
                <a:solidFill>
                  <a:srgbClr val="050505"/>
                </a:solidFill>
                <a:latin typeface="Georgia"/>
              </a:defRPr>
            </a:pPr>
            <a:r>
              <a:t>CLS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82240" y="2750820"/>
            <a:ext cx="746760" cy="381000"/>
          </a:xfrm>
          <a:prstGeom prst="roundRect">
            <a:avLst>
              <a:gd name="adj" fmla="val 24000"/>
            </a:avLst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28900" y="2697480"/>
            <a:ext cx="746760" cy="381000"/>
          </a:xfrm>
          <a:prstGeom prst="roundRect">
            <a:avLst>
              <a:gd name="adj" fmla="val 24000"/>
            </a:avLst>
          </a:prstGeom>
          <a:solidFill>
            <a:srgbClr val="E7EEF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9380" y="2724340"/>
            <a:ext cx="6858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0">
                <a:solidFill>
                  <a:srgbClr val="050505"/>
                </a:solidFill>
                <a:latin typeface="Georgia"/>
              </a:defRPr>
            </a:pPr>
            <a:r>
              <a:t>DIS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2430780"/>
            <a:ext cx="716280" cy="381000"/>
          </a:xfrm>
          <a:prstGeom prst="roundRect">
            <a:avLst>
              <a:gd name="adj" fmla="val 24000"/>
            </a:avLst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06980" y="2377440"/>
            <a:ext cx="716280" cy="381000"/>
          </a:xfrm>
          <a:prstGeom prst="roundRect">
            <a:avLst>
              <a:gd name="adj" fmla="val 24000"/>
            </a:avLst>
          </a:prstGeom>
          <a:solidFill>
            <a:srgbClr val="FFD7D5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37460" y="2420874"/>
            <a:ext cx="655320" cy="3093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80" b="1" i="0">
                <a:solidFill>
                  <a:srgbClr val="050505"/>
                </a:solidFill>
                <a:latin typeface="Georgia"/>
              </a:defRPr>
            </a:pPr>
            <a:r>
              <a:t>GRL</a:t>
            </a:r>
          </a:p>
        </p:txBody>
      </p:sp>
      <p:sp>
        <p:nvSpPr>
          <p:cNvPr id="38" name="Freeform 37"/>
          <p:cNvSpPr/>
          <p:nvPr/>
        </p:nvSpPr>
        <p:spPr>
          <a:xfrm>
            <a:off x="1821180" y="1211580"/>
            <a:ext cx="609600" cy="571500"/>
          </a:xfrm>
          <a:custGeom>
            <a:avLst/>
            <a:gdLst/>
            <a:ahLst/>
            <a:cxnLst/>
            <a:rect l="l" t="t" r="r" b="b"/>
            <a:pathLst>
              <a:path w="80" h="75">
                <a:moveTo>
                  <a:pt x="0" y="37"/>
                </a:moveTo>
                <a:lnTo>
                  <a:pt x="18" y="0"/>
                </a:lnTo>
                <a:lnTo>
                  <a:pt x="18" y="21"/>
                </a:lnTo>
                <a:lnTo>
                  <a:pt x="62" y="21"/>
                </a:lnTo>
                <a:lnTo>
                  <a:pt x="62" y="0"/>
                </a:lnTo>
                <a:lnTo>
                  <a:pt x="80" y="37"/>
                </a:lnTo>
                <a:lnTo>
                  <a:pt x="62" y="75"/>
                </a:lnTo>
                <a:lnTo>
                  <a:pt x="62" y="54"/>
                </a:lnTo>
                <a:lnTo>
                  <a:pt x="18" y="54"/>
                </a:lnTo>
                <a:lnTo>
                  <a:pt x="18" y="75"/>
                </a:lnTo>
                <a:close/>
              </a:path>
            </a:pathLst>
          </a:custGeom>
          <a:solidFill>
            <a:srgbClr val="C7EEF5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813560" y="2286000"/>
            <a:ext cx="609600" cy="563880"/>
          </a:xfrm>
          <a:custGeom>
            <a:avLst/>
            <a:gdLst/>
            <a:ahLst/>
            <a:cxnLst/>
            <a:rect l="l" t="t" r="r" b="b"/>
            <a:pathLst>
              <a:path w="80" h="74">
                <a:moveTo>
                  <a:pt x="0" y="37"/>
                </a:moveTo>
                <a:lnTo>
                  <a:pt x="18" y="0"/>
                </a:lnTo>
                <a:lnTo>
                  <a:pt x="18" y="21"/>
                </a:lnTo>
                <a:lnTo>
                  <a:pt x="62" y="21"/>
                </a:lnTo>
                <a:lnTo>
                  <a:pt x="62" y="0"/>
                </a:lnTo>
                <a:lnTo>
                  <a:pt x="80" y="37"/>
                </a:lnTo>
                <a:lnTo>
                  <a:pt x="62" y="74"/>
                </a:lnTo>
                <a:lnTo>
                  <a:pt x="62" y="53"/>
                </a:lnTo>
                <a:lnTo>
                  <a:pt x="18" y="53"/>
                </a:lnTo>
                <a:lnTo>
                  <a:pt x="18" y="74"/>
                </a:lnTo>
                <a:close/>
              </a:path>
            </a:pathLst>
          </a:custGeom>
          <a:solidFill>
            <a:srgbClr val="C7EEF5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011680" y="2392680"/>
            <a:ext cx="205740" cy="198120"/>
          </a:xfrm>
          <a:prstGeom prst="line">
            <a:avLst/>
          </a:prstGeom>
          <a:ln w="38100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577340" y="712851"/>
            <a:ext cx="7620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0" i="1">
                <a:solidFill>
                  <a:srgbClr val="6F9DC3"/>
                </a:solidFill>
                <a:latin typeface="Georgia"/>
              </a:defRPr>
            </a:pPr>
            <a:r>
              <a:t>Lᴱ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3060" y="978598"/>
            <a:ext cx="685800" cy="298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20" b="0" i="1">
                <a:solidFill>
                  <a:srgbClr val="6F9DC3"/>
                </a:solidFill>
                <a:latin typeface="Georgia"/>
              </a:defRPr>
            </a:pPr>
            <a:r>
              <a:t>cls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77340" y="2671191"/>
            <a:ext cx="7620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0" i="1">
                <a:solidFill>
                  <a:srgbClr val="6F9DC3"/>
                </a:solidFill>
                <a:latin typeface="Georgia"/>
              </a:defRPr>
            </a:pPr>
            <a:r>
              <a:t>Lᴱ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0680" y="2944558"/>
            <a:ext cx="685800" cy="298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20" b="0" i="1">
                <a:solidFill>
                  <a:srgbClr val="6F9DC3"/>
                </a:solidFill>
                <a:latin typeface="Georgia"/>
              </a:defRPr>
            </a:pPr>
            <a:r>
              <a:t>dis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7720" y="3749040"/>
            <a:ext cx="892454" cy="643737"/>
          </a:xfrm>
          <a:prstGeom prst="roundRect">
            <a:avLst>
              <a:gd name="adj" fmla="val 8285"/>
            </a:avLst>
          </a:prstGeom>
          <a:solidFill>
            <a:srgbClr val="D8DDE1"/>
          </a:solidFill>
          <a:ln w="2926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3556" y="3814876"/>
            <a:ext cx="760780" cy="468172"/>
          </a:xfrm>
          <a:prstGeom prst="roundRect">
            <a:avLst>
              <a:gd name="adj" fmla="val 4882"/>
            </a:avLst>
          </a:prstGeom>
          <a:solidFill>
            <a:srgbClr val="F7FBFA"/>
          </a:solidFill>
          <a:ln w="21945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983284" y="4392777"/>
            <a:ext cx="541325" cy="0"/>
          </a:xfrm>
          <a:prstGeom prst="line">
            <a:avLst/>
          </a:prstGeom>
          <a:ln w="36576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100328" y="4392777"/>
            <a:ext cx="29260" cy="95098"/>
          </a:xfrm>
          <a:prstGeom prst="line">
            <a:avLst/>
          </a:prstGeom>
          <a:ln w="36576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92936" y="4392777"/>
            <a:ext cx="29260" cy="95098"/>
          </a:xfrm>
          <a:prstGeom prst="line">
            <a:avLst/>
          </a:prstGeom>
          <a:ln w="36576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12545" y="4487875"/>
            <a:ext cx="497434" cy="0"/>
          </a:xfrm>
          <a:prstGeom prst="line">
            <a:avLst/>
          </a:prstGeom>
          <a:ln w="36576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041806" y="3888028"/>
            <a:ext cx="321868" cy="351129"/>
          </a:xfrm>
          <a:prstGeom prst="ellipse">
            <a:avLst/>
          </a:prstGeom>
          <a:solidFill>
            <a:srgbClr val="FFC9B4"/>
          </a:solidFill>
          <a:ln w="1755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58849" y="3873398"/>
            <a:ext cx="321868" cy="365760"/>
          </a:xfrm>
          <a:prstGeom prst="ellipse">
            <a:avLst/>
          </a:prstGeom>
          <a:solidFill>
            <a:srgbClr val="FFC9B4"/>
          </a:solidFill>
          <a:ln w="1755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3752" y="3983126"/>
            <a:ext cx="395020" cy="307238"/>
          </a:xfrm>
          <a:prstGeom prst="ellipse">
            <a:avLst/>
          </a:prstGeom>
          <a:solidFill>
            <a:srgbClr val="FFC9B4"/>
          </a:solidFill>
          <a:ln w="1755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261262" y="3909974"/>
            <a:ext cx="0" cy="307238"/>
          </a:xfrm>
          <a:prstGeom prst="line">
            <a:avLst/>
          </a:prstGeom>
          <a:ln w="14630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100328" y="3946550"/>
            <a:ext cx="43891" cy="43891"/>
          </a:xfrm>
          <a:prstGeom prst="line">
            <a:avLst/>
          </a:prstGeom>
          <a:ln w="1243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378305" y="3939235"/>
            <a:ext cx="43891" cy="43891"/>
          </a:xfrm>
          <a:prstGeom prst="line">
            <a:avLst/>
          </a:prstGeom>
          <a:ln w="1243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085697" y="4056278"/>
            <a:ext cx="43891" cy="43891"/>
          </a:xfrm>
          <a:prstGeom prst="line">
            <a:avLst/>
          </a:prstGeom>
          <a:ln w="1243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92936" y="4063593"/>
            <a:ext cx="43891" cy="43891"/>
          </a:xfrm>
          <a:prstGeom prst="line">
            <a:avLst/>
          </a:prstGeom>
          <a:ln w="1243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151534" y="4122115"/>
            <a:ext cx="43891" cy="43891"/>
          </a:xfrm>
          <a:prstGeom prst="line">
            <a:avLst/>
          </a:prstGeom>
          <a:ln w="1243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327099" y="4129430"/>
            <a:ext cx="43891" cy="43891"/>
          </a:xfrm>
          <a:prstGeom prst="line">
            <a:avLst/>
          </a:prstGeom>
          <a:ln w="1243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00174" y="4063593"/>
            <a:ext cx="87782" cy="0"/>
          </a:xfrm>
          <a:prstGeom prst="line">
            <a:avLst/>
          </a:prstGeom>
          <a:ln w="219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787956" y="3873398"/>
            <a:ext cx="29261" cy="190195"/>
          </a:xfrm>
          <a:prstGeom prst="line">
            <a:avLst/>
          </a:prstGeom>
          <a:ln w="219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817217" y="3873398"/>
            <a:ext cx="36576" cy="402336"/>
          </a:xfrm>
          <a:prstGeom prst="line">
            <a:avLst/>
          </a:prstGeom>
          <a:ln w="219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853793" y="4019702"/>
            <a:ext cx="51207" cy="256032"/>
          </a:xfrm>
          <a:prstGeom prst="line">
            <a:avLst/>
          </a:prstGeom>
          <a:ln w="219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905000" y="4019702"/>
            <a:ext cx="58521" cy="58522"/>
          </a:xfrm>
          <a:prstGeom prst="line">
            <a:avLst/>
          </a:prstGeom>
          <a:ln w="219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963521" y="4078224"/>
            <a:ext cx="117043" cy="0"/>
          </a:xfrm>
          <a:prstGeom prst="line">
            <a:avLst/>
          </a:prstGeom>
          <a:ln w="219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15340" y="3455860"/>
            <a:ext cx="9144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0">
                <a:solidFill>
                  <a:srgbClr val="666666"/>
                </a:solidFill>
                <a:latin typeface="Georgia"/>
              </a:defRPr>
            </a:pPr>
            <a:r>
              <a:t>fMRI</a:t>
            </a:r>
          </a:p>
        </p:txBody>
      </p:sp>
      <p:sp>
        <p:nvSpPr>
          <p:cNvPr id="68" name="Freeform 67"/>
          <p:cNvSpPr/>
          <p:nvPr/>
        </p:nvSpPr>
        <p:spPr>
          <a:xfrm>
            <a:off x="1691640" y="4152900"/>
            <a:ext cx="754380" cy="388620"/>
          </a:xfrm>
          <a:custGeom>
            <a:avLst/>
            <a:gdLst/>
            <a:ahLst/>
            <a:cxnLst/>
            <a:rect l="l" t="t" r="r" b="b"/>
            <a:pathLst>
              <a:path w="99" h="51">
                <a:moveTo>
                  <a:pt x="0" y="13"/>
                </a:moveTo>
                <a:lnTo>
                  <a:pt x="73" y="13"/>
                </a:lnTo>
                <a:lnTo>
                  <a:pt x="73" y="0"/>
                </a:lnTo>
                <a:lnTo>
                  <a:pt x="99" y="25"/>
                </a:lnTo>
                <a:lnTo>
                  <a:pt x="73" y="51"/>
                </a:lnTo>
                <a:lnTo>
                  <a:pt x="73" y="38"/>
                </a:lnTo>
                <a:lnTo>
                  <a:pt x="0" y="38"/>
                </a:lnTo>
                <a:close/>
              </a:path>
            </a:pathLst>
          </a:custGeom>
          <a:solidFill>
            <a:srgbClr val="E7EDFF"/>
          </a:solidFill>
          <a:ln w="30480">
            <a:solidFill>
              <a:srgbClr val="31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354580" y="3779520"/>
            <a:ext cx="1028700" cy="1379220"/>
          </a:xfrm>
          <a:custGeom>
            <a:avLst/>
            <a:gdLst/>
            <a:ahLst/>
            <a:cxnLst/>
            <a:rect l="l" t="t" r="r" b="b"/>
            <a:pathLst>
              <a:path w="135" h="181">
                <a:moveTo>
                  <a:pt x="0" y="0"/>
                </a:moveTo>
                <a:lnTo>
                  <a:pt x="135" y="35"/>
                </a:lnTo>
                <a:lnTo>
                  <a:pt x="135" y="146"/>
                </a:lnTo>
                <a:lnTo>
                  <a:pt x="0" y="181"/>
                </a:lnTo>
                <a:close/>
              </a:path>
            </a:pathLst>
          </a:custGeom>
          <a:solidFill>
            <a:srgbClr val="DCEFF4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87930" y="4257484"/>
            <a:ext cx="800100" cy="430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340" b="1" i="0">
                <a:solidFill>
                  <a:srgbClr val="050505"/>
                </a:solidFill>
                <a:latin typeface="Georgia"/>
              </a:defRPr>
            </a:pPr>
            <a:r>
              <a:t>ViT</a:t>
            </a:r>
          </a:p>
        </p:txBody>
      </p:sp>
      <p:sp>
        <p:nvSpPr>
          <p:cNvPr id="71" name="Freeform 70"/>
          <p:cNvSpPr/>
          <p:nvPr/>
        </p:nvSpPr>
        <p:spPr>
          <a:xfrm>
            <a:off x="3268980" y="4168140"/>
            <a:ext cx="731520" cy="381000"/>
          </a:xfrm>
          <a:custGeom>
            <a:avLst/>
            <a:gdLst/>
            <a:ahLst/>
            <a:cxnLst/>
            <a:rect l="l" t="t" r="r" b="b"/>
            <a:pathLst>
              <a:path w="96" h="50">
                <a:moveTo>
                  <a:pt x="0" y="13"/>
                </a:moveTo>
                <a:lnTo>
                  <a:pt x="71" y="13"/>
                </a:lnTo>
                <a:lnTo>
                  <a:pt x="71" y="0"/>
                </a:lnTo>
                <a:lnTo>
                  <a:pt x="96" y="25"/>
                </a:lnTo>
                <a:lnTo>
                  <a:pt x="71" y="50"/>
                </a:lnTo>
                <a:lnTo>
                  <a:pt x="71" y="37"/>
                </a:lnTo>
                <a:lnTo>
                  <a:pt x="0" y="37"/>
                </a:lnTo>
                <a:close/>
              </a:path>
            </a:pathLst>
          </a:custGeom>
          <a:solidFill>
            <a:srgbClr val="E7EDFF"/>
          </a:solidFill>
          <a:ln w="30480">
            <a:solidFill>
              <a:srgbClr val="31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3732" y="4773015"/>
            <a:ext cx="249935" cy="287426"/>
          </a:xfrm>
          <a:prstGeom prst="ellipse">
            <a:avLst/>
          </a:prstGeom>
          <a:solidFill>
            <a:srgbClr val="392828"/>
          </a:solidFill>
          <a:ln w="1499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974" y="4835499"/>
            <a:ext cx="187451" cy="224942"/>
          </a:xfrm>
          <a:prstGeom prst="ellipse">
            <a:avLst/>
          </a:prstGeom>
          <a:solidFill>
            <a:srgbClr val="FFD2B6"/>
          </a:solidFill>
          <a:ln w="1249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78087" y="4920477"/>
            <a:ext cx="26243" cy="29992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53068" y="4920477"/>
            <a:ext cx="26243" cy="29992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45820" y="5082540"/>
            <a:ext cx="365760" cy="198120"/>
          </a:xfrm>
          <a:custGeom>
            <a:avLst/>
            <a:gdLst/>
            <a:ahLst/>
            <a:cxnLst/>
            <a:rect l="l" t="t" r="r" b="b"/>
            <a:pathLst>
              <a:path w="48" h="26">
                <a:moveTo>
                  <a:pt x="6" y="0"/>
                </a:moveTo>
                <a:lnTo>
                  <a:pt x="42" y="0"/>
                </a:lnTo>
                <a:lnTo>
                  <a:pt x="4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08E58"/>
          </a:solidFill>
          <a:ln w="15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414272" y="4811115"/>
            <a:ext cx="249935" cy="287426"/>
          </a:xfrm>
          <a:prstGeom prst="ellipse">
            <a:avLst/>
          </a:prstGeom>
          <a:solidFill>
            <a:srgbClr val="332727"/>
          </a:solidFill>
          <a:ln w="1499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445514" y="4873599"/>
            <a:ext cx="187451" cy="224942"/>
          </a:xfrm>
          <a:prstGeom prst="ellipse">
            <a:avLst/>
          </a:prstGeom>
          <a:solidFill>
            <a:srgbClr val="FFD2B6"/>
          </a:solidFill>
          <a:ln w="1249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488627" y="4958577"/>
            <a:ext cx="26243" cy="29992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563608" y="4958577"/>
            <a:ext cx="26243" cy="29992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356360" y="5120640"/>
            <a:ext cx="365760" cy="198120"/>
          </a:xfrm>
          <a:custGeom>
            <a:avLst/>
            <a:gdLst/>
            <a:ahLst/>
            <a:cxnLst/>
            <a:rect l="l" t="t" r="r" b="b"/>
            <a:pathLst>
              <a:path w="48" h="26">
                <a:moveTo>
                  <a:pt x="6" y="0"/>
                </a:moveTo>
                <a:lnTo>
                  <a:pt x="42" y="0"/>
                </a:lnTo>
                <a:lnTo>
                  <a:pt x="4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4D268"/>
          </a:solidFill>
          <a:ln w="15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2772" y="5261457"/>
            <a:ext cx="219455" cy="252374"/>
          </a:xfrm>
          <a:prstGeom prst="ellipse">
            <a:avLst/>
          </a:prstGeom>
          <a:solidFill>
            <a:srgbClr val="2C2422"/>
          </a:solidFill>
          <a:ln w="13167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70204" y="5316321"/>
            <a:ext cx="164591" cy="197510"/>
          </a:xfrm>
          <a:prstGeom prst="ellipse">
            <a:avLst/>
          </a:prstGeom>
          <a:solidFill>
            <a:srgbClr val="FFD2B6"/>
          </a:solidFill>
          <a:ln w="1097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08060" y="5390936"/>
            <a:ext cx="23042" cy="26334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73896" y="5390936"/>
            <a:ext cx="23042" cy="26334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792480" y="5532120"/>
            <a:ext cx="320040" cy="175260"/>
          </a:xfrm>
          <a:custGeom>
            <a:avLst/>
            <a:gdLst/>
            <a:ahLst/>
            <a:cxnLst/>
            <a:rect l="l" t="t" r="r" b="b"/>
            <a:pathLst>
              <a:path w="42" h="23">
                <a:moveTo>
                  <a:pt x="5" y="0"/>
                </a:moveTo>
                <a:lnTo>
                  <a:pt x="37" y="0"/>
                </a:lnTo>
                <a:lnTo>
                  <a:pt x="42" y="23"/>
                </a:lnTo>
                <a:lnTo>
                  <a:pt x="0" y="23"/>
                </a:lnTo>
                <a:close/>
              </a:path>
            </a:pathLst>
          </a:custGeom>
          <a:solidFill>
            <a:srgbClr val="E6A260"/>
          </a:solidFill>
          <a:ln w="13715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223772" y="5299557"/>
            <a:ext cx="219455" cy="252374"/>
          </a:xfrm>
          <a:prstGeom prst="ellipse">
            <a:avLst/>
          </a:prstGeom>
          <a:solidFill>
            <a:srgbClr val="302725"/>
          </a:solidFill>
          <a:ln w="13167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251204" y="5354421"/>
            <a:ext cx="164591" cy="197510"/>
          </a:xfrm>
          <a:prstGeom prst="ellipse">
            <a:avLst/>
          </a:prstGeom>
          <a:solidFill>
            <a:srgbClr val="FFD2B6"/>
          </a:solidFill>
          <a:ln w="1097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289060" y="5429036"/>
            <a:ext cx="23042" cy="26334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354896" y="5429036"/>
            <a:ext cx="23042" cy="26334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173480" y="5570220"/>
            <a:ext cx="320040" cy="175260"/>
          </a:xfrm>
          <a:custGeom>
            <a:avLst/>
            <a:gdLst/>
            <a:ahLst/>
            <a:cxnLst/>
            <a:rect l="l" t="t" r="r" b="b"/>
            <a:pathLst>
              <a:path w="42" h="23">
                <a:moveTo>
                  <a:pt x="5" y="0"/>
                </a:moveTo>
                <a:lnTo>
                  <a:pt x="37" y="0"/>
                </a:lnTo>
                <a:lnTo>
                  <a:pt x="42" y="23"/>
                </a:lnTo>
                <a:lnTo>
                  <a:pt x="0" y="23"/>
                </a:lnTo>
                <a:close/>
              </a:path>
            </a:pathLst>
          </a:custGeom>
          <a:solidFill>
            <a:srgbClr val="D96C56"/>
          </a:solidFill>
          <a:ln w="13715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604772" y="5253837"/>
            <a:ext cx="219455" cy="252374"/>
          </a:xfrm>
          <a:prstGeom prst="ellipse">
            <a:avLst/>
          </a:prstGeom>
          <a:solidFill>
            <a:srgbClr val="242323"/>
          </a:solidFill>
          <a:ln w="13167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632204" y="5308701"/>
            <a:ext cx="164591" cy="197510"/>
          </a:xfrm>
          <a:prstGeom prst="ellipse">
            <a:avLst/>
          </a:prstGeom>
          <a:solidFill>
            <a:srgbClr val="FFD2B6"/>
          </a:solidFill>
          <a:ln w="1097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670060" y="5383316"/>
            <a:ext cx="23042" cy="26334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735896" y="5383316"/>
            <a:ext cx="23042" cy="26334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554480" y="5524500"/>
            <a:ext cx="320040" cy="175260"/>
          </a:xfrm>
          <a:custGeom>
            <a:avLst/>
            <a:gdLst/>
            <a:ahLst/>
            <a:cxnLst/>
            <a:rect l="l" t="t" r="r" b="b"/>
            <a:pathLst>
              <a:path w="42" h="23">
                <a:moveTo>
                  <a:pt x="5" y="0"/>
                </a:moveTo>
                <a:lnTo>
                  <a:pt x="37" y="0"/>
                </a:lnTo>
                <a:lnTo>
                  <a:pt x="42" y="23"/>
                </a:lnTo>
                <a:lnTo>
                  <a:pt x="0" y="23"/>
                </a:lnTo>
                <a:close/>
              </a:path>
            </a:pathLst>
          </a:custGeom>
          <a:solidFill>
            <a:srgbClr val="5EA7D7"/>
          </a:solidFill>
          <a:ln w="13715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2900" y="5881878"/>
            <a:ext cx="1905000" cy="3977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160" b="0" i="0">
                <a:solidFill>
                  <a:srgbClr val="050505"/>
                </a:solidFill>
                <a:latin typeface="Georgia"/>
              </a:defRPr>
            </a:pPr>
            <a:r>
              <a:t>Train Subjects</a:t>
            </a:r>
          </a:p>
        </p:txBody>
      </p:sp>
      <p:sp>
        <p:nvSpPr>
          <p:cNvPr id="98" name="Freeform 97"/>
          <p:cNvSpPr/>
          <p:nvPr/>
        </p:nvSpPr>
        <p:spPr>
          <a:xfrm>
            <a:off x="402336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06908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22910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27482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43484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48056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64058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68630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71060" y="1330071"/>
            <a:ext cx="6858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1" i="1">
                <a:solidFill>
                  <a:srgbClr val="050505"/>
                </a:solidFill>
                <a:latin typeface="Georgia"/>
              </a:defRPr>
            </a:pPr>
            <a:r>
              <a:t>Eₛ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4023360" y="245364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069080" y="251460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4229100" y="245364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274820" y="251460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4434840" y="245364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4480560" y="251460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640580" y="245364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686300" y="251460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678680" y="3006471"/>
            <a:ext cx="6858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1" i="1">
                <a:solidFill>
                  <a:srgbClr val="050505"/>
                </a:solidFill>
                <a:latin typeface="Georgia"/>
              </a:defRPr>
            </a:pPr>
            <a:r>
              <a:t>Eᵢ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4076700" y="41910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4122420" y="42519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282440" y="41910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328160" y="42519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4488180" y="41910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533900" y="42519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4693920" y="41910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73E73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739640" y="42519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DB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015740" y="4812411"/>
            <a:ext cx="5334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1" i="1">
                <a:solidFill>
                  <a:srgbClr val="050505"/>
                </a:solidFill>
                <a:latin typeface="Georgia"/>
              </a:defRPr>
            </a:pPr>
            <a:r>
              <a:t>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99460" y="3505200"/>
            <a:ext cx="1143000" cy="441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0" i="1">
                <a:solidFill>
                  <a:srgbClr val="050505"/>
                </a:solidFill>
                <a:latin typeface="Georgia"/>
              </a:defRPr>
            </a:pPr>
            <a:r>
              <a:t>Fᵢ(·)</a:t>
            </a:r>
          </a:p>
        </p:txBody>
      </p:sp>
      <p:sp>
        <p:nvSpPr>
          <p:cNvPr id="126" name="Freeform 125"/>
          <p:cNvSpPr/>
          <p:nvPr/>
        </p:nvSpPr>
        <p:spPr>
          <a:xfrm>
            <a:off x="4381500" y="3916680"/>
            <a:ext cx="152400" cy="716280"/>
          </a:xfrm>
          <a:custGeom>
            <a:avLst/>
            <a:gdLst/>
            <a:ahLst/>
            <a:cxnLst/>
            <a:rect l="l" t="t" r="r" b="b"/>
            <a:pathLst>
              <a:path w="20" h="94">
                <a:moveTo>
                  <a:pt x="0" y="21"/>
                </a:moveTo>
                <a:lnTo>
                  <a:pt x="10" y="0"/>
                </a:lnTo>
                <a:lnTo>
                  <a:pt x="20" y="21"/>
                </a:lnTo>
                <a:lnTo>
                  <a:pt x="15" y="21"/>
                </a:lnTo>
                <a:lnTo>
                  <a:pt x="15" y="94"/>
                </a:lnTo>
                <a:lnTo>
                  <a:pt x="5" y="94"/>
                </a:lnTo>
                <a:lnTo>
                  <a:pt x="5" y="21"/>
                </a:lnTo>
                <a:close/>
              </a:path>
            </a:pathLst>
          </a:custGeom>
          <a:solidFill>
            <a:srgbClr val="C7EEF5"/>
          </a:solidFill>
          <a:ln w="22859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 flipV="1">
            <a:off x="4434840" y="1653540"/>
            <a:ext cx="0" cy="792480"/>
          </a:xfrm>
          <a:prstGeom prst="line">
            <a:avLst/>
          </a:prstGeom>
          <a:ln w="38100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4290060" y="1882140"/>
            <a:ext cx="289560" cy="289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4297680" y="2026920"/>
            <a:ext cx="274320" cy="0"/>
          </a:xfrm>
          <a:prstGeom prst="line">
            <a:avLst/>
          </a:prstGeom>
          <a:ln w="38100">
            <a:solidFill>
              <a:srgbClr val="22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3611880" y="2796540"/>
            <a:ext cx="579120" cy="0"/>
          </a:xfrm>
          <a:prstGeom prst="line">
            <a:avLst/>
          </a:prstGeom>
          <a:ln w="38100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3581400" y="1165860"/>
            <a:ext cx="609600" cy="0"/>
          </a:xfrm>
          <a:prstGeom prst="line">
            <a:avLst/>
          </a:prstGeom>
          <a:ln w="38100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610100" y="1901380"/>
            <a:ext cx="13716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1">
                <a:solidFill>
                  <a:srgbClr val="050505"/>
                </a:solidFill>
                <a:latin typeface="Georgia"/>
              </a:defRPr>
            </a:pPr>
            <a:r>
              <a:t>Difference</a:t>
            </a:r>
          </a:p>
        </p:txBody>
      </p:sp>
      <p:cxnSp>
        <p:nvCxnSpPr>
          <p:cNvPr id="133" name="Connector 132"/>
          <p:cNvCxnSpPr/>
          <p:nvPr/>
        </p:nvCxnSpPr>
        <p:spPr>
          <a:xfrm flipH="1" flipV="1">
            <a:off x="4625340" y="2026920"/>
            <a:ext cx="251460" cy="83820"/>
          </a:xfrm>
          <a:prstGeom prst="line">
            <a:avLst/>
          </a:prstGeom>
          <a:ln w="30480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4838700" y="3985260"/>
            <a:ext cx="190500" cy="22860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029200" y="3657600"/>
            <a:ext cx="76200" cy="32766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5105400" y="2628900"/>
            <a:ext cx="0" cy="102870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4953000" y="2247900"/>
            <a:ext cx="152400" cy="38100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4678680" y="2072640"/>
            <a:ext cx="274320" cy="175260"/>
          </a:xfrm>
          <a:prstGeom prst="line">
            <a:avLst/>
          </a:prstGeom>
          <a:ln w="38100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4701540" y="1882140"/>
            <a:ext cx="1356360" cy="335280"/>
          </a:xfrm>
          <a:prstGeom prst="roundRect">
            <a:avLst>
              <a:gd name="adj" fmla="val 9090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709160" y="1891665"/>
            <a:ext cx="134112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1">
                <a:solidFill>
                  <a:srgbClr val="050505"/>
                </a:solidFill>
                <a:latin typeface="Georgia"/>
              </a:defRPr>
            </a:pPr>
            <a:r>
              <a:t>Difference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4419600" y="5189220"/>
            <a:ext cx="0" cy="350520"/>
          </a:xfrm>
          <a:prstGeom prst="line">
            <a:avLst/>
          </a:prstGeom>
          <a:ln w="30480">
            <a:solidFill>
              <a:srgbClr val="082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419600" y="5539740"/>
            <a:ext cx="449580" cy="0"/>
          </a:xfrm>
          <a:prstGeom prst="line">
            <a:avLst/>
          </a:prstGeom>
          <a:ln w="30480">
            <a:solidFill>
              <a:srgbClr val="082D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4899660" y="5189220"/>
            <a:ext cx="1112520" cy="937260"/>
          </a:xfrm>
          <a:custGeom>
            <a:avLst/>
            <a:gdLst/>
            <a:ahLst/>
            <a:cxnLst/>
            <a:rect l="l" t="t" r="r" b="b"/>
            <a:pathLst>
              <a:path w="146" h="123">
                <a:moveTo>
                  <a:pt x="0" y="23"/>
                </a:moveTo>
                <a:lnTo>
                  <a:pt x="146" y="0"/>
                </a:lnTo>
                <a:lnTo>
                  <a:pt x="146" y="123"/>
                </a:lnTo>
                <a:lnTo>
                  <a:pt x="0" y="99"/>
                </a:lnTo>
                <a:close/>
              </a:path>
            </a:pathLst>
          </a:custGeom>
          <a:solidFill>
            <a:srgbClr val="DCEFF4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941570" y="5505640"/>
            <a:ext cx="10287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0">
                <a:solidFill>
                  <a:srgbClr val="050505"/>
                </a:solidFill>
                <a:latin typeface="Georgia"/>
              </a:defRPr>
            </a:pPr>
            <a:r>
              <a:t>Decoder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6035040" y="5516880"/>
            <a:ext cx="571500" cy="335280"/>
          </a:xfrm>
          <a:custGeom>
            <a:avLst/>
            <a:gdLst/>
            <a:ahLst/>
            <a:cxnLst/>
            <a:rect l="l" t="t" r="r" b="b"/>
            <a:pathLst>
              <a:path w="75" h="44">
                <a:moveTo>
                  <a:pt x="0" y="22"/>
                </a:moveTo>
                <a:lnTo>
                  <a:pt x="16" y="0"/>
                </a:lnTo>
                <a:lnTo>
                  <a:pt x="16" y="12"/>
                </a:lnTo>
                <a:lnTo>
                  <a:pt x="58" y="12"/>
                </a:lnTo>
                <a:lnTo>
                  <a:pt x="58" y="0"/>
                </a:lnTo>
                <a:lnTo>
                  <a:pt x="75" y="22"/>
                </a:lnTo>
                <a:lnTo>
                  <a:pt x="58" y="44"/>
                </a:lnTo>
                <a:lnTo>
                  <a:pt x="58" y="32"/>
                </a:lnTo>
                <a:lnTo>
                  <a:pt x="16" y="32"/>
                </a:lnTo>
                <a:lnTo>
                  <a:pt x="16" y="44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644640" y="5387340"/>
            <a:ext cx="697230" cy="502920"/>
          </a:xfrm>
          <a:prstGeom prst="roundRect">
            <a:avLst>
              <a:gd name="adj" fmla="val 10606"/>
            </a:avLst>
          </a:prstGeom>
          <a:solidFill>
            <a:srgbClr val="D8DDE1"/>
          </a:solidFill>
          <a:ln w="22859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696075" y="5438775"/>
            <a:ext cx="594360" cy="365760"/>
          </a:xfrm>
          <a:prstGeom prst="roundRect">
            <a:avLst>
              <a:gd name="adj" fmla="val 6250"/>
            </a:avLst>
          </a:prstGeom>
          <a:solidFill>
            <a:srgbClr val="F7FBFA"/>
          </a:solidFill>
          <a:ln w="17145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6781800" y="5890260"/>
            <a:ext cx="422910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6873240" y="5890260"/>
            <a:ext cx="22860" cy="74295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101840" y="5890260"/>
            <a:ext cx="22860" cy="74295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804660" y="5964555"/>
            <a:ext cx="388620" cy="0"/>
          </a:xfrm>
          <a:prstGeom prst="line">
            <a:avLst/>
          </a:prstGeom>
          <a:ln w="2857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6827520" y="5495925"/>
            <a:ext cx="251460" cy="274320"/>
          </a:xfrm>
          <a:prstGeom prst="ellipse">
            <a:avLst/>
          </a:prstGeom>
          <a:solidFill>
            <a:srgbClr val="FFC9B4"/>
          </a:solidFill>
          <a:ln w="13715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918960" y="5484495"/>
            <a:ext cx="251460" cy="285750"/>
          </a:xfrm>
          <a:prstGeom prst="ellipse">
            <a:avLst/>
          </a:prstGeom>
          <a:solidFill>
            <a:srgbClr val="FFC9B4"/>
          </a:solidFill>
          <a:ln w="13715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44665" y="5570220"/>
            <a:ext cx="308610" cy="240030"/>
          </a:xfrm>
          <a:prstGeom prst="ellipse">
            <a:avLst/>
          </a:prstGeom>
          <a:solidFill>
            <a:srgbClr val="FFC9B4"/>
          </a:solidFill>
          <a:ln w="13715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6998970" y="5513070"/>
            <a:ext cx="0" cy="240030"/>
          </a:xfrm>
          <a:prstGeom prst="line">
            <a:avLst/>
          </a:prstGeom>
          <a:ln w="11429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6873240" y="5541645"/>
            <a:ext cx="34290" cy="34290"/>
          </a:xfrm>
          <a:prstGeom prst="line">
            <a:avLst/>
          </a:prstGeom>
          <a:ln w="971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090410" y="5535930"/>
            <a:ext cx="34290" cy="34290"/>
          </a:xfrm>
          <a:prstGeom prst="line">
            <a:avLst/>
          </a:prstGeom>
          <a:ln w="971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6861810" y="5627370"/>
            <a:ext cx="34290" cy="34290"/>
          </a:xfrm>
          <a:prstGeom prst="line">
            <a:avLst/>
          </a:prstGeom>
          <a:ln w="971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101840" y="5633085"/>
            <a:ext cx="34290" cy="34290"/>
          </a:xfrm>
          <a:prstGeom prst="line">
            <a:avLst/>
          </a:prstGeom>
          <a:ln w="971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6913245" y="5678805"/>
            <a:ext cx="34290" cy="34290"/>
          </a:xfrm>
          <a:prstGeom prst="line">
            <a:avLst/>
          </a:prstGeom>
          <a:ln w="971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050405" y="5684520"/>
            <a:ext cx="34290" cy="34290"/>
          </a:xfrm>
          <a:prstGeom prst="line">
            <a:avLst/>
          </a:prstGeom>
          <a:ln w="971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341870" y="5633085"/>
            <a:ext cx="68580" cy="0"/>
          </a:xfrm>
          <a:prstGeom prst="line">
            <a:avLst/>
          </a:prstGeom>
          <a:ln w="171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410450" y="5484495"/>
            <a:ext cx="22860" cy="148590"/>
          </a:xfrm>
          <a:prstGeom prst="line">
            <a:avLst/>
          </a:prstGeom>
          <a:ln w="171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433310" y="5484495"/>
            <a:ext cx="28575" cy="314325"/>
          </a:xfrm>
          <a:prstGeom prst="line">
            <a:avLst/>
          </a:prstGeom>
          <a:ln w="171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461885" y="5598795"/>
            <a:ext cx="40005" cy="200025"/>
          </a:xfrm>
          <a:prstGeom prst="line">
            <a:avLst/>
          </a:prstGeom>
          <a:ln w="171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501890" y="5598795"/>
            <a:ext cx="45720" cy="45720"/>
          </a:xfrm>
          <a:prstGeom prst="line">
            <a:avLst/>
          </a:prstGeom>
          <a:ln w="171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547610" y="5644515"/>
            <a:ext cx="91440" cy="0"/>
          </a:xfrm>
          <a:prstGeom prst="line">
            <a:avLst/>
          </a:prstGeom>
          <a:ln w="17145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6522720" y="6061900"/>
            <a:ext cx="9144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0">
                <a:solidFill>
                  <a:srgbClr val="666666"/>
                </a:solidFill>
                <a:latin typeface="Georgia"/>
              </a:defRPr>
            </a:pPr>
            <a:r>
              <a:t>fMRI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974080" y="5755767"/>
            <a:ext cx="762000" cy="3756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039" b="0" i="1">
                <a:solidFill>
                  <a:srgbClr val="3159AA"/>
                </a:solidFill>
                <a:latin typeface="Georgia"/>
              </a:defRPr>
            </a:pPr>
            <a:r>
              <a:t>Lrec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5135880" y="998220"/>
            <a:ext cx="1897380" cy="266700"/>
          </a:xfrm>
          <a:custGeom>
            <a:avLst/>
            <a:gdLst/>
            <a:ahLst/>
            <a:cxnLst/>
            <a:rect l="l" t="t" r="r" b="b"/>
            <a:pathLst>
              <a:path w="249" h="35">
                <a:moveTo>
                  <a:pt x="0" y="9"/>
                </a:moveTo>
                <a:lnTo>
                  <a:pt x="218" y="9"/>
                </a:lnTo>
                <a:lnTo>
                  <a:pt x="218" y="0"/>
                </a:lnTo>
                <a:lnTo>
                  <a:pt x="249" y="17"/>
                </a:lnTo>
                <a:lnTo>
                  <a:pt x="218" y="35"/>
                </a:lnTo>
                <a:lnTo>
                  <a:pt x="21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C7EEF5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7216140" y="838200"/>
            <a:ext cx="1409700" cy="731520"/>
          </a:xfrm>
          <a:prstGeom prst="roundRect">
            <a:avLst>
              <a:gd name="adj" fmla="val 16666"/>
            </a:avLst>
          </a:prstGeom>
          <a:solidFill>
            <a:srgbClr val="DFC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7162800" y="792480"/>
            <a:ext cx="1409700" cy="731520"/>
          </a:xfrm>
          <a:prstGeom prst="roundRect">
            <a:avLst>
              <a:gd name="adj" fmla="val 16666"/>
            </a:avLst>
          </a:prstGeom>
          <a:solidFill>
            <a:srgbClr val="FFF0BF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216140" y="872490"/>
            <a:ext cx="12954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Vision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216140" y="1112520"/>
            <a:ext cx="12954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Projector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5135880" y="2644140"/>
            <a:ext cx="1897380" cy="266700"/>
          </a:xfrm>
          <a:custGeom>
            <a:avLst/>
            <a:gdLst/>
            <a:ahLst/>
            <a:cxnLst/>
            <a:rect l="l" t="t" r="r" b="b"/>
            <a:pathLst>
              <a:path w="249" h="35">
                <a:moveTo>
                  <a:pt x="0" y="9"/>
                </a:moveTo>
                <a:lnTo>
                  <a:pt x="218" y="9"/>
                </a:lnTo>
                <a:lnTo>
                  <a:pt x="218" y="0"/>
                </a:lnTo>
                <a:lnTo>
                  <a:pt x="249" y="17"/>
                </a:lnTo>
                <a:lnTo>
                  <a:pt x="218" y="35"/>
                </a:lnTo>
                <a:lnTo>
                  <a:pt x="21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C7EEF5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7216140" y="2476500"/>
            <a:ext cx="1409700" cy="731520"/>
          </a:xfrm>
          <a:prstGeom prst="roundRect">
            <a:avLst>
              <a:gd name="adj" fmla="val 16666"/>
            </a:avLst>
          </a:prstGeom>
          <a:solidFill>
            <a:srgbClr val="DFC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7162800" y="2430780"/>
            <a:ext cx="1409700" cy="731520"/>
          </a:xfrm>
          <a:prstGeom prst="roundRect">
            <a:avLst>
              <a:gd name="adj" fmla="val 16666"/>
            </a:avLst>
          </a:prstGeom>
          <a:solidFill>
            <a:srgbClr val="FFF0BF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216140" y="2510790"/>
            <a:ext cx="12954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Vision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216140" y="2750820"/>
            <a:ext cx="12954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Projector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5135880" y="4343400"/>
            <a:ext cx="1897380" cy="266700"/>
          </a:xfrm>
          <a:custGeom>
            <a:avLst/>
            <a:gdLst/>
            <a:ahLst/>
            <a:cxnLst/>
            <a:rect l="l" t="t" r="r" b="b"/>
            <a:pathLst>
              <a:path w="249" h="35">
                <a:moveTo>
                  <a:pt x="0" y="9"/>
                </a:moveTo>
                <a:lnTo>
                  <a:pt x="218" y="9"/>
                </a:lnTo>
                <a:lnTo>
                  <a:pt x="218" y="0"/>
                </a:lnTo>
                <a:lnTo>
                  <a:pt x="249" y="18"/>
                </a:lnTo>
                <a:lnTo>
                  <a:pt x="218" y="35"/>
                </a:lnTo>
                <a:lnTo>
                  <a:pt x="21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C7EEF5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7216140" y="4175760"/>
            <a:ext cx="1409700" cy="731520"/>
          </a:xfrm>
          <a:prstGeom prst="roundRect">
            <a:avLst>
              <a:gd name="adj" fmla="val 16666"/>
            </a:avLst>
          </a:prstGeom>
          <a:solidFill>
            <a:srgbClr val="DFC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7162800" y="4130040"/>
            <a:ext cx="1409700" cy="731520"/>
          </a:xfrm>
          <a:prstGeom prst="roundRect">
            <a:avLst>
              <a:gd name="adj" fmla="val 16666"/>
            </a:avLst>
          </a:prstGeom>
          <a:solidFill>
            <a:srgbClr val="FFF0BF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216140" y="4210050"/>
            <a:ext cx="12954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Vision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216140" y="4450080"/>
            <a:ext cx="12954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Projector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296150" y="1516380"/>
            <a:ext cx="1104900" cy="441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0" i="1">
                <a:solidFill>
                  <a:srgbClr val="050505"/>
                </a:solidFill>
                <a:latin typeface="Georgia"/>
              </a:defRPr>
            </a:pPr>
            <a:r>
              <a:t>Pᵢ(·)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296150" y="3139440"/>
            <a:ext cx="1104900" cy="441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0" i="1">
                <a:solidFill>
                  <a:srgbClr val="050505"/>
                </a:solidFill>
                <a:latin typeface="Georgia"/>
              </a:defRPr>
            </a:pPr>
            <a:r>
              <a:t>Pₛ(·)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296150" y="4838700"/>
            <a:ext cx="1104900" cy="441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0" i="1">
                <a:solidFill>
                  <a:srgbClr val="050505"/>
                </a:solidFill>
                <a:latin typeface="Georgia"/>
              </a:defRPr>
            </a:pPr>
            <a:r>
              <a:t>P(·)</a:t>
            </a:r>
          </a:p>
        </p:txBody>
      </p:sp>
      <p:sp>
        <p:nvSpPr>
          <p:cNvPr id="188" name="Freeform 187"/>
          <p:cNvSpPr/>
          <p:nvPr/>
        </p:nvSpPr>
        <p:spPr>
          <a:xfrm>
            <a:off x="8823960" y="982980"/>
            <a:ext cx="1897380" cy="266700"/>
          </a:xfrm>
          <a:custGeom>
            <a:avLst/>
            <a:gdLst/>
            <a:ahLst/>
            <a:cxnLst/>
            <a:rect l="l" t="t" r="r" b="b"/>
            <a:pathLst>
              <a:path w="249" h="35">
                <a:moveTo>
                  <a:pt x="0" y="9"/>
                </a:moveTo>
                <a:lnTo>
                  <a:pt x="218" y="9"/>
                </a:lnTo>
                <a:lnTo>
                  <a:pt x="218" y="0"/>
                </a:lnTo>
                <a:lnTo>
                  <a:pt x="249" y="17"/>
                </a:lnTo>
                <a:lnTo>
                  <a:pt x="218" y="35"/>
                </a:lnTo>
                <a:lnTo>
                  <a:pt x="21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FEDB7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8823960" y="2697480"/>
            <a:ext cx="1897380" cy="266700"/>
          </a:xfrm>
          <a:custGeom>
            <a:avLst/>
            <a:gdLst/>
            <a:ahLst/>
            <a:cxnLst/>
            <a:rect l="l" t="t" r="r" b="b"/>
            <a:pathLst>
              <a:path w="249" h="35">
                <a:moveTo>
                  <a:pt x="0" y="9"/>
                </a:moveTo>
                <a:lnTo>
                  <a:pt x="218" y="9"/>
                </a:lnTo>
                <a:lnTo>
                  <a:pt x="218" y="0"/>
                </a:lnTo>
                <a:lnTo>
                  <a:pt x="249" y="18"/>
                </a:lnTo>
                <a:lnTo>
                  <a:pt x="218" y="35"/>
                </a:lnTo>
                <a:lnTo>
                  <a:pt x="21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FEDB7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8823960" y="4396740"/>
            <a:ext cx="1897380" cy="266700"/>
          </a:xfrm>
          <a:custGeom>
            <a:avLst/>
            <a:gdLst/>
            <a:ahLst/>
            <a:cxnLst/>
            <a:rect l="l" t="t" r="r" b="b"/>
            <a:pathLst>
              <a:path w="249" h="35">
                <a:moveTo>
                  <a:pt x="0" y="9"/>
                </a:moveTo>
                <a:lnTo>
                  <a:pt x="218" y="9"/>
                </a:lnTo>
                <a:lnTo>
                  <a:pt x="218" y="0"/>
                </a:lnTo>
                <a:lnTo>
                  <a:pt x="249" y="17"/>
                </a:lnTo>
                <a:lnTo>
                  <a:pt x="218" y="35"/>
                </a:lnTo>
                <a:lnTo>
                  <a:pt x="218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FEDB7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9456420" y="1303020"/>
            <a:ext cx="754380" cy="381000"/>
          </a:xfrm>
          <a:prstGeom prst="roundRect">
            <a:avLst>
              <a:gd name="adj" fmla="val 24000"/>
            </a:avLst>
          </a:prstGeom>
          <a:solidFill>
            <a:srgbClr val="C8D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9403080" y="1249680"/>
            <a:ext cx="754380" cy="381000"/>
          </a:xfrm>
          <a:prstGeom prst="roundRect">
            <a:avLst>
              <a:gd name="adj" fmla="val 24000"/>
            </a:avLst>
          </a:prstGeom>
          <a:solidFill>
            <a:srgbClr val="FFD6D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433560" y="1293114"/>
            <a:ext cx="693420" cy="3093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80" b="1" i="0">
                <a:solidFill>
                  <a:srgbClr val="050505"/>
                </a:solidFill>
                <a:latin typeface="Georgia"/>
              </a:defRPr>
            </a:pPr>
            <a:r>
              <a:t>GRL</a:t>
            </a:r>
          </a:p>
        </p:txBody>
      </p:sp>
      <p:sp>
        <p:nvSpPr>
          <p:cNvPr id="194" name="Freeform 193"/>
          <p:cNvSpPr/>
          <p:nvPr/>
        </p:nvSpPr>
        <p:spPr>
          <a:xfrm>
            <a:off x="1085850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1090422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106424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1110996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126998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131570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1475720" y="82296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1521440" y="88392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0858500" y="24384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0904220" y="24993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1064240" y="24384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1109960" y="24993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1269980" y="24384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11315700" y="24993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1475720" y="243840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1521440" y="249936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0858500" y="419862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0904220" y="425958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1064240" y="419862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1109960" y="425958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11269980" y="419862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1315700" y="425958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11475720" y="4198620"/>
            <a:ext cx="152400" cy="655320"/>
          </a:xfrm>
          <a:custGeom>
            <a:avLst/>
            <a:gdLst/>
            <a:ahLst/>
            <a:cxnLst/>
            <a:rect l="l" t="t" r="r" b="b"/>
            <a:pathLst>
              <a:path w="20" h="86">
                <a:moveTo>
                  <a:pt x="0" y="7"/>
                </a:moveTo>
                <a:lnTo>
                  <a:pt x="7" y="0"/>
                </a:lnTo>
                <a:lnTo>
                  <a:pt x="20" y="0"/>
                </a:lnTo>
                <a:lnTo>
                  <a:pt x="20" y="81"/>
                </a:lnTo>
                <a:lnTo>
                  <a:pt x="14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63B71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11521440" y="4259580"/>
            <a:ext cx="76200" cy="525780"/>
          </a:xfrm>
          <a:prstGeom prst="roundRect">
            <a:avLst>
              <a:gd name="adj" fmla="val 10000"/>
            </a:avLst>
          </a:prstGeom>
          <a:solidFill>
            <a:srgbClr val="FFE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389870" y="1330071"/>
            <a:ext cx="5715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1" i="1">
                <a:solidFill>
                  <a:srgbClr val="050505"/>
                </a:solidFill>
                <a:latin typeface="Georgia"/>
              </a:defRPr>
            </a:pPr>
            <a:r>
              <a:t>Fᵢ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389870" y="3036951"/>
            <a:ext cx="5715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1" i="1">
                <a:solidFill>
                  <a:srgbClr val="050505"/>
                </a:solidFill>
                <a:latin typeface="Georgia"/>
              </a:defRPr>
            </a:pPr>
            <a:r>
              <a:t>Fₛ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1071860" y="4804791"/>
            <a:ext cx="5334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1" i="1">
                <a:solidFill>
                  <a:srgbClr val="050505"/>
                </a:solidFill>
                <a:latin typeface="Georgia"/>
              </a:defRPr>
            </a:pPr>
            <a:r>
              <a:t>F</a:t>
            </a:r>
          </a:p>
        </p:txBody>
      </p:sp>
      <p:cxnSp>
        <p:nvCxnSpPr>
          <p:cNvPr id="221" name="Connector 220"/>
          <p:cNvCxnSpPr/>
          <p:nvPr/>
        </p:nvCxnSpPr>
        <p:spPr>
          <a:xfrm flipV="1">
            <a:off x="11292840" y="1653540"/>
            <a:ext cx="0" cy="784860"/>
          </a:xfrm>
          <a:prstGeom prst="line">
            <a:avLst/>
          </a:prstGeom>
          <a:ln w="38100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Oval 221"/>
          <p:cNvSpPr/>
          <p:nvPr/>
        </p:nvSpPr>
        <p:spPr>
          <a:xfrm>
            <a:off x="11148060" y="1874520"/>
            <a:ext cx="289560" cy="289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>
            <a:off x="11155680" y="2019300"/>
            <a:ext cx="274320" cy="0"/>
          </a:xfrm>
          <a:prstGeom prst="line">
            <a:avLst/>
          </a:prstGeom>
          <a:ln w="38100">
            <a:solidFill>
              <a:srgbClr val="22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1544300" y="4023360"/>
            <a:ext cx="205740" cy="19812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1750040" y="3642360"/>
            <a:ext cx="91440" cy="38100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1841480" y="2712720"/>
            <a:ext cx="0" cy="92964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H="1" flipV="1">
            <a:off x="11734800" y="2301240"/>
            <a:ext cx="106680" cy="411480"/>
          </a:xfrm>
          <a:prstGeom prst="line">
            <a:avLst/>
          </a:prstGeom>
          <a:ln w="381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H="1" flipV="1">
            <a:off x="11521440" y="2065020"/>
            <a:ext cx="213360" cy="236220"/>
          </a:xfrm>
          <a:prstGeom prst="line">
            <a:avLst/>
          </a:prstGeom>
          <a:ln w="38100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12830556" y="1297686"/>
            <a:ext cx="475488" cy="5745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20" b="1" i="0">
                <a:solidFill>
                  <a:srgbClr val="050505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3118592" y="1109472"/>
            <a:ext cx="585216" cy="7071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840" b="1" i="0">
                <a:solidFill>
                  <a:srgbClr val="ED6C82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3516356" y="1297686"/>
            <a:ext cx="475488" cy="5745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20" b="1" i="0">
                <a:solidFill>
                  <a:srgbClr val="050505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232" name="Oval 231"/>
          <p:cNvSpPr/>
          <p:nvPr/>
        </p:nvSpPr>
        <p:spPr>
          <a:xfrm>
            <a:off x="12925044" y="1911705"/>
            <a:ext cx="256032" cy="230428"/>
          </a:xfrm>
          <a:prstGeom prst="ellipse">
            <a:avLst/>
          </a:prstGeom>
          <a:solidFill>
            <a:srgbClr val="DF7E42"/>
          </a:solidFill>
          <a:ln w="12801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2873837" y="1930908"/>
            <a:ext cx="102412" cy="166420"/>
          </a:xfrm>
          <a:prstGeom prst="ellipse">
            <a:avLst/>
          </a:prstGeom>
          <a:solidFill>
            <a:srgbClr val="B95D33"/>
          </a:solidFill>
          <a:ln w="12801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3129869" y="1930908"/>
            <a:ext cx="102412" cy="166420"/>
          </a:xfrm>
          <a:prstGeom prst="ellipse">
            <a:avLst/>
          </a:prstGeom>
          <a:solidFill>
            <a:srgbClr val="B95D33"/>
          </a:solidFill>
          <a:ln w="12801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3033857" y="2039721"/>
            <a:ext cx="38404" cy="38404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3282269" y="1929688"/>
            <a:ext cx="207264" cy="238353"/>
          </a:xfrm>
          <a:prstGeom prst="ellipse">
            <a:avLst/>
          </a:prstGeom>
          <a:solidFill>
            <a:srgbClr val="7A3934"/>
          </a:solidFill>
          <a:ln w="12435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3308177" y="1981504"/>
            <a:ext cx="155448" cy="186537"/>
          </a:xfrm>
          <a:prstGeom prst="ellipse">
            <a:avLst/>
          </a:prstGeom>
          <a:solidFill>
            <a:srgbClr val="FFD2B6"/>
          </a:solidFill>
          <a:ln w="10363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3343930" y="2051974"/>
            <a:ext cx="21762" cy="24871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3406109" y="2051974"/>
            <a:ext cx="21762" cy="24871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13235940" y="2186940"/>
            <a:ext cx="297180" cy="160020"/>
          </a:xfrm>
          <a:custGeom>
            <a:avLst/>
            <a:gdLst/>
            <a:ahLst/>
            <a:cxnLst/>
            <a:rect l="l" t="t" r="r" b="b"/>
            <a:pathLst>
              <a:path w="39" h="21">
                <a:moveTo>
                  <a:pt x="5" y="0"/>
                </a:moveTo>
                <a:lnTo>
                  <a:pt x="35" y="0"/>
                </a:lnTo>
                <a:lnTo>
                  <a:pt x="39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08F66"/>
          </a:solidFill>
          <a:ln w="12954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13632180" y="1844040"/>
            <a:ext cx="289560" cy="266700"/>
          </a:xfrm>
          <a:custGeom>
            <a:avLst/>
            <a:gdLst/>
            <a:ahLst/>
            <a:cxnLst/>
            <a:rect l="l" t="t" r="r" b="b"/>
            <a:pathLst>
              <a:path w="38" h="35">
                <a:moveTo>
                  <a:pt x="0" y="11"/>
                </a:moveTo>
                <a:lnTo>
                  <a:pt x="7" y="0"/>
                </a:lnTo>
                <a:lnTo>
                  <a:pt x="11" y="13"/>
                </a:lnTo>
                <a:lnTo>
                  <a:pt x="28" y="13"/>
                </a:lnTo>
                <a:lnTo>
                  <a:pt x="35" y="0"/>
                </a:lnTo>
                <a:lnTo>
                  <a:pt x="38" y="18"/>
                </a:lnTo>
                <a:lnTo>
                  <a:pt x="35" y="35"/>
                </a:lnTo>
                <a:lnTo>
                  <a:pt x="7" y="35"/>
                </a:lnTo>
                <a:lnTo>
                  <a:pt x="3" y="21"/>
                </a:lnTo>
                <a:close/>
              </a:path>
            </a:pathLst>
          </a:custGeom>
          <a:solidFill>
            <a:srgbClr val="BBC8CD"/>
          </a:solidFill>
          <a:ln w="12801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3737945" y="2014118"/>
            <a:ext cx="25603" cy="25603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3821156" y="2014118"/>
            <a:ext cx="25603" cy="25603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2687300" y="2242947"/>
            <a:ext cx="1447800" cy="3756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039" b="1" i="0">
                <a:solidFill>
                  <a:srgbClr val="050505"/>
                </a:solidFill>
                <a:latin typeface="Georgia"/>
              </a:defRPr>
            </a:pPr>
            <a:r>
              <a:t>Semantic</a:t>
            </a:r>
          </a:p>
        </p:txBody>
      </p:sp>
      <p:sp>
        <p:nvSpPr>
          <p:cNvPr id="245" name="Freeform 244"/>
          <p:cNvSpPr/>
          <p:nvPr/>
        </p:nvSpPr>
        <p:spPr>
          <a:xfrm>
            <a:off x="12131040" y="1203960"/>
            <a:ext cx="617220" cy="579120"/>
          </a:xfrm>
          <a:custGeom>
            <a:avLst/>
            <a:gdLst/>
            <a:ahLst/>
            <a:cxnLst/>
            <a:rect l="l" t="t" r="r" b="b"/>
            <a:pathLst>
              <a:path w="81" h="76">
                <a:moveTo>
                  <a:pt x="0" y="38"/>
                </a:moveTo>
                <a:lnTo>
                  <a:pt x="18" y="0"/>
                </a:lnTo>
                <a:lnTo>
                  <a:pt x="18" y="21"/>
                </a:lnTo>
                <a:lnTo>
                  <a:pt x="63" y="21"/>
                </a:lnTo>
                <a:lnTo>
                  <a:pt x="63" y="0"/>
                </a:lnTo>
                <a:lnTo>
                  <a:pt x="81" y="38"/>
                </a:lnTo>
                <a:lnTo>
                  <a:pt x="63" y="76"/>
                </a:lnTo>
                <a:lnTo>
                  <a:pt x="63" y="55"/>
                </a:lnTo>
                <a:lnTo>
                  <a:pt x="18" y="55"/>
                </a:lnTo>
                <a:lnTo>
                  <a:pt x="18" y="76"/>
                </a:lnTo>
                <a:close/>
              </a:path>
            </a:pathLst>
          </a:custGeom>
          <a:solidFill>
            <a:srgbClr val="FFF0B8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12138660" y="2286000"/>
            <a:ext cx="609600" cy="556260"/>
          </a:xfrm>
          <a:custGeom>
            <a:avLst/>
            <a:gdLst/>
            <a:ahLst/>
            <a:cxnLst/>
            <a:rect l="l" t="t" r="r" b="b"/>
            <a:pathLst>
              <a:path w="80" h="73">
                <a:moveTo>
                  <a:pt x="0" y="36"/>
                </a:moveTo>
                <a:lnTo>
                  <a:pt x="18" y="0"/>
                </a:lnTo>
                <a:lnTo>
                  <a:pt x="18" y="20"/>
                </a:lnTo>
                <a:lnTo>
                  <a:pt x="62" y="20"/>
                </a:lnTo>
                <a:lnTo>
                  <a:pt x="62" y="0"/>
                </a:lnTo>
                <a:lnTo>
                  <a:pt x="80" y="36"/>
                </a:lnTo>
                <a:lnTo>
                  <a:pt x="62" y="73"/>
                </a:lnTo>
                <a:lnTo>
                  <a:pt x="62" y="53"/>
                </a:lnTo>
                <a:lnTo>
                  <a:pt x="18" y="53"/>
                </a:lnTo>
                <a:lnTo>
                  <a:pt x="18" y="73"/>
                </a:lnTo>
                <a:close/>
              </a:path>
            </a:pathLst>
          </a:custGeom>
          <a:solidFill>
            <a:srgbClr val="FFF0B8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Connector 246"/>
          <p:cNvCxnSpPr/>
          <p:nvPr/>
        </p:nvCxnSpPr>
        <p:spPr>
          <a:xfrm>
            <a:off x="12329160" y="1303020"/>
            <a:ext cx="243840" cy="251460"/>
          </a:xfrm>
          <a:prstGeom prst="line">
            <a:avLst/>
          </a:prstGeom>
          <a:ln w="38100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12211050" y="712851"/>
            <a:ext cx="7239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0" i="1">
                <a:solidFill>
                  <a:srgbClr val="EFAA00"/>
                </a:solidFill>
                <a:latin typeface="Georgia"/>
              </a:defRPr>
            </a:pPr>
            <a:r>
              <a:t>Lᶠ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2325350" y="978598"/>
            <a:ext cx="647700" cy="298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20" b="0" i="1">
                <a:solidFill>
                  <a:srgbClr val="EFAA00"/>
                </a:solidFill>
                <a:latin typeface="Georgia"/>
              </a:defRPr>
            </a:pPr>
            <a:r>
              <a:t>inv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2211050" y="2671191"/>
            <a:ext cx="723900" cy="464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520" b="0" i="1">
                <a:solidFill>
                  <a:srgbClr val="EFAA00"/>
                </a:solidFill>
                <a:latin typeface="Georgia"/>
              </a:defRPr>
            </a:pPr>
            <a:r>
              <a:t>Lᶠ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2306300" y="2944558"/>
            <a:ext cx="685800" cy="298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20" b="0" i="1">
                <a:solidFill>
                  <a:srgbClr val="EFAA00"/>
                </a:solidFill>
                <a:latin typeface="Georgia"/>
              </a:defRPr>
            </a:pPr>
            <a:r>
              <a:t>spe</a:t>
            </a:r>
          </a:p>
        </p:txBody>
      </p:sp>
      <p:sp>
        <p:nvSpPr>
          <p:cNvPr id="252" name="Freeform 251"/>
          <p:cNvSpPr/>
          <p:nvPr/>
        </p:nvSpPr>
        <p:spPr>
          <a:xfrm>
            <a:off x="11430000" y="3200400"/>
            <a:ext cx="792480" cy="822960"/>
          </a:xfrm>
          <a:custGeom>
            <a:avLst/>
            <a:gdLst/>
            <a:ahLst/>
            <a:cxnLst/>
            <a:rect l="l" t="t" r="r" b="b"/>
            <a:pathLst>
              <a:path w="104" h="108">
                <a:moveTo>
                  <a:pt x="0" y="0"/>
                </a:moveTo>
                <a:lnTo>
                  <a:pt x="18" y="0"/>
                </a:lnTo>
                <a:lnTo>
                  <a:pt x="18" y="62"/>
                </a:lnTo>
                <a:lnTo>
                  <a:pt x="67" y="62"/>
                </a:lnTo>
                <a:lnTo>
                  <a:pt x="67" y="38"/>
                </a:lnTo>
                <a:lnTo>
                  <a:pt x="104" y="73"/>
                </a:lnTo>
                <a:lnTo>
                  <a:pt x="67" y="108"/>
                </a:lnTo>
                <a:lnTo>
                  <a:pt x="67" y="85"/>
                </a:lnTo>
                <a:lnTo>
                  <a:pt x="33" y="85"/>
                </a:lnTo>
                <a:lnTo>
                  <a:pt x="19" y="73"/>
                </a:lnTo>
                <a:lnTo>
                  <a:pt x="0" y="73"/>
                </a:lnTo>
                <a:close/>
              </a:path>
            </a:pathLst>
          </a:custGeom>
          <a:solidFill>
            <a:srgbClr val="FFAD82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12291060" y="3535680"/>
            <a:ext cx="1661160" cy="533400"/>
          </a:xfrm>
          <a:prstGeom prst="roundRect">
            <a:avLst>
              <a:gd name="adj" fmla="val 15714"/>
            </a:avLst>
          </a:prstGeom>
          <a:solidFill>
            <a:srgbClr val="FFF9EF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2733020" y="3726180"/>
            <a:ext cx="236220" cy="152400"/>
          </a:xfrm>
          <a:custGeom>
            <a:avLst/>
            <a:gdLst/>
            <a:ahLst/>
            <a:cxnLst/>
            <a:rect l="l" t="t" r="r" b="b"/>
            <a:pathLst>
              <a:path w="31" h="20">
                <a:moveTo>
                  <a:pt x="0" y="5"/>
                </a:moveTo>
                <a:lnTo>
                  <a:pt x="23" y="5"/>
                </a:lnTo>
                <a:lnTo>
                  <a:pt x="23" y="0"/>
                </a:lnTo>
                <a:lnTo>
                  <a:pt x="31" y="10"/>
                </a:lnTo>
                <a:lnTo>
                  <a:pt x="23" y="20"/>
                </a:lnTo>
                <a:lnTo>
                  <a:pt x="23" y="15"/>
                </a:lnTo>
                <a:lnTo>
                  <a:pt x="0" y="15"/>
                </a:lnTo>
                <a:close/>
              </a:path>
            </a:pathLst>
          </a:custGeom>
          <a:solidFill>
            <a:srgbClr val="FFAD82"/>
          </a:solidFill>
          <a:ln w="7620">
            <a:solidFill>
              <a:srgbClr val="FFA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3274040" y="3726180"/>
            <a:ext cx="236220" cy="152400"/>
          </a:xfrm>
          <a:custGeom>
            <a:avLst/>
            <a:gdLst/>
            <a:ahLst/>
            <a:cxnLst/>
            <a:rect l="l" t="t" r="r" b="b"/>
            <a:pathLst>
              <a:path w="31" h="20">
                <a:moveTo>
                  <a:pt x="0" y="5"/>
                </a:moveTo>
                <a:lnTo>
                  <a:pt x="23" y="5"/>
                </a:lnTo>
                <a:lnTo>
                  <a:pt x="23" y="0"/>
                </a:lnTo>
                <a:lnTo>
                  <a:pt x="31" y="10"/>
                </a:lnTo>
                <a:lnTo>
                  <a:pt x="23" y="20"/>
                </a:lnTo>
                <a:lnTo>
                  <a:pt x="23" y="15"/>
                </a:lnTo>
                <a:lnTo>
                  <a:pt x="0" y="15"/>
                </a:lnTo>
                <a:close/>
              </a:path>
            </a:pathLst>
          </a:custGeom>
          <a:solidFill>
            <a:srgbClr val="FFAD82"/>
          </a:solidFill>
          <a:ln w="7620">
            <a:solidFill>
              <a:srgbClr val="FFA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2435840" y="3657600"/>
            <a:ext cx="289560" cy="289560"/>
          </a:xfrm>
          <a:prstGeom prst="ellipse">
            <a:avLst/>
          </a:prstGeom>
          <a:solidFill>
            <a:srgbClr val="FFE36A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2976860" y="3657600"/>
            <a:ext cx="289560" cy="289560"/>
          </a:xfrm>
          <a:prstGeom prst="ellipse">
            <a:avLst/>
          </a:prstGeom>
          <a:solidFill>
            <a:srgbClr val="FFB58D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3517880" y="3657600"/>
            <a:ext cx="289560" cy="289560"/>
          </a:xfrm>
          <a:prstGeom prst="ellipse">
            <a:avLst/>
          </a:prstGeom>
          <a:solidFill>
            <a:srgbClr val="F27A22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2481560" y="4066984"/>
            <a:ext cx="1219200" cy="430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340" b="0" i="1">
                <a:solidFill>
                  <a:srgbClr val="F27A22"/>
                </a:solidFill>
                <a:latin typeface="Georgia"/>
              </a:defRPr>
            </a:pPr>
            <a:r>
              <a:t>Lprior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13670280" y="4053840"/>
            <a:ext cx="0" cy="594360"/>
          </a:xfrm>
          <a:prstGeom prst="line">
            <a:avLst/>
          </a:prstGeom>
          <a:ln w="30480">
            <a:solidFill>
              <a:srgbClr val="082D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Rounded Rectangle 260"/>
          <p:cNvSpPr/>
          <p:nvPr/>
        </p:nvSpPr>
        <p:spPr>
          <a:xfrm>
            <a:off x="12951256" y="4533900"/>
            <a:ext cx="751027" cy="549859"/>
          </a:xfrm>
          <a:prstGeom prst="roundRect">
            <a:avLst>
              <a:gd name="adj" fmla="val 5543"/>
            </a:avLst>
          </a:prstGeom>
          <a:solidFill>
            <a:srgbClr val="F49E4B"/>
          </a:solidFill>
          <a:ln w="33528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ounded Rectangle 261"/>
          <p:cNvSpPr/>
          <p:nvPr/>
        </p:nvSpPr>
        <p:spPr>
          <a:xfrm>
            <a:off x="12763500" y="4701540"/>
            <a:ext cx="751027" cy="549859"/>
          </a:xfrm>
          <a:prstGeom prst="roundRect">
            <a:avLst>
              <a:gd name="adj" fmla="val 5543"/>
            </a:avLst>
          </a:prstGeom>
          <a:solidFill>
            <a:srgbClr val="0EA2D4"/>
          </a:solidFill>
          <a:ln w="33528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13132308" y="4889296"/>
            <a:ext cx="751027" cy="549859"/>
          </a:xfrm>
          <a:prstGeom prst="roundRect">
            <a:avLst>
              <a:gd name="adj" fmla="val 5543"/>
            </a:avLst>
          </a:prstGeom>
          <a:solidFill>
            <a:srgbClr val="E8F2E7"/>
          </a:solidFill>
          <a:ln w="33528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3346887" y="4976469"/>
            <a:ext cx="93878" cy="93878"/>
          </a:xfrm>
          <a:prstGeom prst="ellipse">
            <a:avLst/>
          </a:prstGeom>
          <a:solidFill>
            <a:srgbClr val="FFD841"/>
          </a:solidFill>
          <a:ln w="13411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13190220" y="5113020"/>
            <a:ext cx="647700" cy="251460"/>
          </a:xfrm>
          <a:custGeom>
            <a:avLst/>
            <a:gdLst/>
            <a:ahLst/>
            <a:cxnLst/>
            <a:rect l="l" t="t" r="r" b="b"/>
            <a:pathLst>
              <a:path w="85" h="33">
                <a:moveTo>
                  <a:pt x="0" y="33"/>
                </a:moveTo>
                <a:lnTo>
                  <a:pt x="25" y="8"/>
                </a:lnTo>
                <a:lnTo>
                  <a:pt x="42" y="25"/>
                </a:lnTo>
                <a:lnTo>
                  <a:pt x="65" y="0"/>
                </a:lnTo>
                <a:lnTo>
                  <a:pt x="85" y="32"/>
                </a:lnTo>
                <a:close/>
              </a:path>
            </a:pathLst>
          </a:custGeom>
          <a:solidFill>
            <a:srgbClr val="94B659"/>
          </a:solidFill>
          <a:ln w="2011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2348210" y="5774436"/>
            <a:ext cx="186690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920" b="1" i="0">
                <a:solidFill>
                  <a:srgbClr val="666666"/>
                </a:solidFill>
                <a:latin typeface="Georgia"/>
              </a:defRPr>
            </a:pPr>
            <a:r>
              <a:t>Visual Stimuli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839200" y="5040058"/>
            <a:ext cx="1447800" cy="298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20" b="0" i="0">
                <a:solidFill>
                  <a:srgbClr val="050505"/>
                </a:solidFill>
                <a:latin typeface="Arial"/>
              </a:defRPr>
            </a:pPr>
            <a:r>
              <a:t>Visual stimuli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923020" y="5474398"/>
            <a:ext cx="1295400" cy="298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20" b="0" i="0">
                <a:solidFill>
                  <a:srgbClr val="050505"/>
                </a:solidFill>
                <a:latin typeface="Arial"/>
              </a:defRPr>
            </a:pPr>
            <a:r>
              <a:t>Image labels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8930640" y="5870638"/>
            <a:ext cx="1447800" cy="298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620" b="0" i="0">
                <a:solidFill>
                  <a:srgbClr val="050505"/>
                </a:solidFill>
                <a:latin typeface="Arial"/>
              </a:defRPr>
            </a:pPr>
            <a:r>
              <a:t>Image captions</a:t>
            </a:r>
          </a:p>
        </p:txBody>
      </p:sp>
      <p:cxnSp>
        <p:nvCxnSpPr>
          <p:cNvPr id="270" name="Connector 269"/>
          <p:cNvCxnSpPr/>
          <p:nvPr/>
        </p:nvCxnSpPr>
        <p:spPr>
          <a:xfrm flipV="1">
            <a:off x="10264140" y="5196840"/>
            <a:ext cx="594360" cy="15240"/>
          </a:xfrm>
          <a:prstGeom prst="line">
            <a:avLst/>
          </a:prstGeom>
          <a:ln w="22859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0454640" y="5196840"/>
            <a:ext cx="403860" cy="434340"/>
          </a:xfrm>
          <a:prstGeom prst="line">
            <a:avLst/>
          </a:prstGeom>
          <a:ln w="22859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0820400" y="5196840"/>
            <a:ext cx="38100" cy="815340"/>
          </a:xfrm>
          <a:prstGeom prst="line">
            <a:avLst/>
          </a:prstGeom>
          <a:ln w="22859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264140" y="5212080"/>
            <a:ext cx="556260" cy="800100"/>
          </a:xfrm>
          <a:prstGeom prst="line">
            <a:avLst/>
          </a:prstGeom>
          <a:ln w="22859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0454640" y="5631180"/>
            <a:ext cx="365760" cy="381000"/>
          </a:xfrm>
          <a:prstGeom prst="line">
            <a:avLst/>
          </a:prstGeom>
          <a:ln w="22859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>
            <a:off x="10820400" y="5196840"/>
            <a:ext cx="38100" cy="815340"/>
          </a:xfrm>
          <a:prstGeom prst="line">
            <a:avLst/>
          </a:prstGeom>
          <a:ln w="22859">
            <a:solidFill>
              <a:srgbClr val="BCBCB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Oval 275"/>
          <p:cNvSpPr/>
          <p:nvPr/>
        </p:nvSpPr>
        <p:spPr>
          <a:xfrm>
            <a:off x="10165080" y="5113020"/>
            <a:ext cx="198120" cy="198120"/>
          </a:xfrm>
          <a:prstGeom prst="ellipse">
            <a:avLst/>
          </a:prstGeom>
          <a:solidFill>
            <a:srgbClr val="83C960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759440" y="5097780"/>
            <a:ext cx="198120" cy="198120"/>
          </a:xfrm>
          <a:prstGeom prst="ellipse">
            <a:avLst/>
          </a:prstGeom>
          <a:solidFill>
            <a:srgbClr val="FFE36A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355580" y="5532120"/>
            <a:ext cx="198120" cy="198120"/>
          </a:xfrm>
          <a:prstGeom prst="ellipse">
            <a:avLst/>
          </a:prstGeom>
          <a:solidFill>
            <a:srgbClr val="83C960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721340" y="5913120"/>
            <a:ext cx="198120" cy="198120"/>
          </a:xfrm>
          <a:prstGeom prst="ellipse">
            <a:avLst/>
          </a:prstGeom>
          <a:solidFill>
            <a:srgbClr val="F27A22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ounded Rectangle 279"/>
          <p:cNvSpPr/>
          <p:nvPr/>
        </p:nvSpPr>
        <p:spPr>
          <a:xfrm>
            <a:off x="30480" y="6598920"/>
            <a:ext cx="14340840" cy="2529840"/>
          </a:xfrm>
          <a:prstGeom prst="roundRect">
            <a:avLst>
              <a:gd name="adj" fmla="val 5421"/>
            </a:avLst>
          </a:prstGeom>
          <a:solidFill>
            <a:srgbClr val="FFFFFF"/>
          </a:solidFill>
          <a:ln w="1524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38100" y="6667500"/>
            <a:ext cx="2644140" cy="571500"/>
          </a:xfrm>
          <a:prstGeom prst="roundRect">
            <a:avLst>
              <a:gd name="adj" fmla="val 16000"/>
            </a:avLst>
          </a:prstGeom>
          <a:solidFill>
            <a:srgbClr val="E6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1440" y="6669786"/>
            <a:ext cx="2514600" cy="5745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3120" b="1" i="1">
                <a:solidFill>
                  <a:srgbClr val="050505"/>
                </a:solidFill>
                <a:latin typeface="Georgia"/>
              </a:defRPr>
            </a:pPr>
            <a:r>
              <a:t>Inference</a:t>
            </a:r>
          </a:p>
        </p:txBody>
      </p:sp>
      <p:sp>
        <p:nvSpPr>
          <p:cNvPr id="283" name="Oval 282"/>
          <p:cNvSpPr/>
          <p:nvPr/>
        </p:nvSpPr>
        <p:spPr>
          <a:xfrm>
            <a:off x="868680" y="7501509"/>
            <a:ext cx="472440" cy="543306"/>
          </a:xfrm>
          <a:prstGeom prst="ellipse">
            <a:avLst/>
          </a:prstGeom>
          <a:solidFill>
            <a:srgbClr val="7F6D7F"/>
          </a:solidFill>
          <a:ln w="28346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27735" y="7619618"/>
            <a:ext cx="354330" cy="425196"/>
          </a:xfrm>
          <a:prstGeom prst="ellipse">
            <a:avLst/>
          </a:prstGeom>
          <a:solidFill>
            <a:srgbClr val="FFD2B6"/>
          </a:solidFill>
          <a:ln w="2362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009230" y="7780248"/>
            <a:ext cx="49606" cy="56692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150962" y="7780248"/>
            <a:ext cx="49606" cy="56692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762000" y="8077200"/>
            <a:ext cx="685800" cy="381000"/>
          </a:xfrm>
          <a:custGeom>
            <a:avLst/>
            <a:gdLst/>
            <a:ahLst/>
            <a:cxnLst/>
            <a:rect l="l" t="t" r="r" b="b"/>
            <a:pathLst>
              <a:path w="90" h="50">
                <a:moveTo>
                  <a:pt x="11" y="0"/>
                </a:moveTo>
                <a:lnTo>
                  <a:pt x="79" y="0"/>
                </a:lnTo>
                <a:lnTo>
                  <a:pt x="9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71C4D0"/>
          </a:solidFill>
          <a:ln w="29527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unded Rectangle 287"/>
          <p:cNvSpPr/>
          <p:nvPr/>
        </p:nvSpPr>
        <p:spPr>
          <a:xfrm>
            <a:off x="1744980" y="7429500"/>
            <a:ext cx="836676" cy="603504"/>
          </a:xfrm>
          <a:prstGeom prst="roundRect">
            <a:avLst>
              <a:gd name="adj" fmla="val 8838"/>
            </a:avLst>
          </a:prstGeom>
          <a:solidFill>
            <a:srgbClr val="D8DDE1"/>
          </a:solidFill>
          <a:ln w="27432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1806702" y="7491222"/>
            <a:ext cx="713232" cy="438912"/>
          </a:xfrm>
          <a:prstGeom prst="roundRect">
            <a:avLst>
              <a:gd name="adj" fmla="val 5208"/>
            </a:avLst>
          </a:prstGeom>
          <a:solidFill>
            <a:srgbClr val="F7FBFA"/>
          </a:solidFill>
          <a:ln w="20574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>
            <a:off x="1909572" y="8033004"/>
            <a:ext cx="507492" cy="0"/>
          </a:xfrm>
          <a:prstGeom prst="line">
            <a:avLst/>
          </a:prstGeom>
          <a:ln w="34290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H="1">
            <a:off x="2019300" y="8033004"/>
            <a:ext cx="27432" cy="89154"/>
          </a:xfrm>
          <a:prstGeom prst="line">
            <a:avLst/>
          </a:prstGeom>
          <a:ln w="34290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2293620" y="8033004"/>
            <a:ext cx="27432" cy="89154"/>
          </a:xfrm>
          <a:prstGeom prst="line">
            <a:avLst/>
          </a:prstGeom>
          <a:ln w="34290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937004" y="8122158"/>
            <a:ext cx="466344" cy="0"/>
          </a:xfrm>
          <a:prstGeom prst="line">
            <a:avLst/>
          </a:prstGeom>
          <a:ln w="34290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Oval 293"/>
          <p:cNvSpPr/>
          <p:nvPr/>
        </p:nvSpPr>
        <p:spPr>
          <a:xfrm>
            <a:off x="1964436" y="7559802"/>
            <a:ext cx="301752" cy="329184"/>
          </a:xfrm>
          <a:prstGeom prst="ellipse">
            <a:avLst/>
          </a:prstGeom>
          <a:solidFill>
            <a:srgbClr val="FFC9B4"/>
          </a:solidFill>
          <a:ln w="16459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74164" y="7546086"/>
            <a:ext cx="301752" cy="342900"/>
          </a:xfrm>
          <a:prstGeom prst="ellipse">
            <a:avLst/>
          </a:prstGeom>
          <a:solidFill>
            <a:srgbClr val="FFC9B4"/>
          </a:solidFill>
          <a:ln w="16459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985010" y="7648956"/>
            <a:ext cx="370332" cy="288036"/>
          </a:xfrm>
          <a:prstGeom prst="ellipse">
            <a:avLst/>
          </a:prstGeom>
          <a:solidFill>
            <a:srgbClr val="FFC9B4"/>
          </a:solidFill>
          <a:ln w="16459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>
            <a:off x="2170176" y="7580376"/>
            <a:ext cx="0" cy="288035"/>
          </a:xfrm>
          <a:prstGeom prst="line">
            <a:avLst/>
          </a:prstGeom>
          <a:ln w="13716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H="1">
            <a:off x="2019300" y="7614666"/>
            <a:ext cx="41147" cy="41148"/>
          </a:xfrm>
          <a:prstGeom prst="line">
            <a:avLst/>
          </a:prstGeom>
          <a:ln w="11658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2279904" y="7607808"/>
            <a:ext cx="41148" cy="41148"/>
          </a:xfrm>
          <a:prstGeom prst="line">
            <a:avLst/>
          </a:prstGeom>
          <a:ln w="11658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>
            <a:off x="2005584" y="7717536"/>
            <a:ext cx="41148" cy="41148"/>
          </a:xfrm>
          <a:prstGeom prst="line">
            <a:avLst/>
          </a:prstGeom>
          <a:ln w="11658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2293620" y="7724394"/>
            <a:ext cx="41148" cy="41148"/>
          </a:xfrm>
          <a:prstGeom prst="line">
            <a:avLst/>
          </a:prstGeom>
          <a:ln w="11658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2067306" y="7779258"/>
            <a:ext cx="41148" cy="41148"/>
          </a:xfrm>
          <a:prstGeom prst="line">
            <a:avLst/>
          </a:prstGeom>
          <a:ln w="11658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2231898" y="7786116"/>
            <a:ext cx="41148" cy="41148"/>
          </a:xfrm>
          <a:prstGeom prst="line">
            <a:avLst/>
          </a:prstGeom>
          <a:ln w="11658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2581656" y="7724394"/>
            <a:ext cx="82296" cy="0"/>
          </a:xfrm>
          <a:prstGeom prst="line">
            <a:avLst/>
          </a:prstGeom>
          <a:ln w="20574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2663952" y="7546086"/>
            <a:ext cx="27432" cy="178308"/>
          </a:xfrm>
          <a:prstGeom prst="line">
            <a:avLst/>
          </a:prstGeom>
          <a:ln w="20574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2691384" y="7546086"/>
            <a:ext cx="34290" cy="377190"/>
          </a:xfrm>
          <a:prstGeom prst="line">
            <a:avLst/>
          </a:prstGeom>
          <a:ln w="20574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2725674" y="7683246"/>
            <a:ext cx="48006" cy="240030"/>
          </a:xfrm>
          <a:prstGeom prst="line">
            <a:avLst/>
          </a:prstGeom>
          <a:ln w="20574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2773680" y="7683246"/>
            <a:ext cx="54864" cy="54864"/>
          </a:xfrm>
          <a:prstGeom prst="line">
            <a:avLst/>
          </a:prstGeom>
          <a:ln w="20574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2828544" y="7738110"/>
            <a:ext cx="109728" cy="0"/>
          </a:xfrm>
          <a:prstGeom prst="line">
            <a:avLst/>
          </a:prstGeom>
          <a:ln w="20574">
            <a:solidFill>
              <a:srgbClr val="05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1744980" y="8180260"/>
            <a:ext cx="9144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0">
                <a:solidFill>
                  <a:srgbClr val="666666"/>
                </a:solidFill>
                <a:latin typeface="Georgia"/>
              </a:defRPr>
            </a:pPr>
            <a:r>
              <a:t>fMRI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05740" y="8711565"/>
            <a:ext cx="26670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0" i="0">
                <a:solidFill>
                  <a:srgbClr val="050505"/>
                </a:solidFill>
                <a:latin typeface="Georgia"/>
              </a:defRPr>
            </a:pPr>
            <a:r>
              <a:t>Test Unseen Subject</a:t>
            </a:r>
          </a:p>
        </p:txBody>
      </p:sp>
      <p:sp>
        <p:nvSpPr>
          <p:cNvPr id="312" name="Freeform 311"/>
          <p:cNvSpPr/>
          <p:nvPr/>
        </p:nvSpPr>
        <p:spPr>
          <a:xfrm>
            <a:off x="2583180" y="7802880"/>
            <a:ext cx="693420" cy="381000"/>
          </a:xfrm>
          <a:custGeom>
            <a:avLst/>
            <a:gdLst/>
            <a:ahLst/>
            <a:cxnLst/>
            <a:rect l="l" t="t" r="r" b="b"/>
            <a:pathLst>
              <a:path w="91" h="50">
                <a:moveTo>
                  <a:pt x="0" y="13"/>
                </a:moveTo>
                <a:lnTo>
                  <a:pt x="67" y="13"/>
                </a:lnTo>
                <a:lnTo>
                  <a:pt x="67" y="0"/>
                </a:lnTo>
                <a:lnTo>
                  <a:pt x="91" y="25"/>
                </a:lnTo>
                <a:lnTo>
                  <a:pt x="67" y="50"/>
                </a:lnTo>
                <a:lnTo>
                  <a:pt x="67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3352800" y="7338060"/>
            <a:ext cx="1043940" cy="1386840"/>
          </a:xfrm>
          <a:custGeom>
            <a:avLst/>
            <a:gdLst/>
            <a:ahLst/>
            <a:cxnLst/>
            <a:rect l="l" t="t" r="r" b="b"/>
            <a:pathLst>
              <a:path w="137" h="182">
                <a:moveTo>
                  <a:pt x="0" y="0"/>
                </a:moveTo>
                <a:lnTo>
                  <a:pt x="137" y="35"/>
                </a:lnTo>
                <a:lnTo>
                  <a:pt x="137" y="147"/>
                </a:lnTo>
                <a:lnTo>
                  <a:pt x="0" y="182"/>
                </a:lnTo>
                <a:close/>
              </a:path>
            </a:pathLst>
          </a:custGeom>
          <a:solidFill>
            <a:srgbClr val="DCEFF4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3505200" y="7829169"/>
            <a:ext cx="762000" cy="41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280" b="1" i="0">
                <a:solidFill>
                  <a:srgbClr val="050505"/>
                </a:solidFill>
                <a:latin typeface="Georgia"/>
              </a:defRPr>
            </a:pPr>
            <a:r>
              <a:t>ViT</a:t>
            </a:r>
          </a:p>
        </p:txBody>
      </p:sp>
      <p:cxnSp>
        <p:nvCxnSpPr>
          <p:cNvPr id="315" name="Connector 314"/>
          <p:cNvCxnSpPr/>
          <p:nvPr/>
        </p:nvCxnSpPr>
        <p:spPr>
          <a:xfrm>
            <a:off x="3572560" y="7528560"/>
            <a:ext cx="261519" cy="0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3637940" y="7415319"/>
            <a:ext cx="130759" cy="226481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>
            <a:off x="3637940" y="7415319"/>
            <a:ext cx="130759" cy="226481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TextBox 317"/>
          <p:cNvSpPr txBox="1"/>
          <p:nvPr/>
        </p:nvSpPr>
        <p:spPr>
          <a:xfrm>
            <a:off x="4267200" y="7248715"/>
            <a:ext cx="1143000" cy="4530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60" b="0" i="1">
                <a:solidFill>
                  <a:srgbClr val="050505"/>
                </a:solidFill>
                <a:latin typeface="Georgia"/>
              </a:defRPr>
            </a:pPr>
            <a:r>
              <a:t>Fᵢ(·)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4556760" y="7802880"/>
            <a:ext cx="739140" cy="381000"/>
          </a:xfrm>
          <a:custGeom>
            <a:avLst/>
            <a:gdLst/>
            <a:ahLst/>
            <a:cxnLst/>
            <a:rect l="l" t="t" r="r" b="b"/>
            <a:pathLst>
              <a:path w="97" h="50">
                <a:moveTo>
                  <a:pt x="0" y="13"/>
                </a:moveTo>
                <a:lnTo>
                  <a:pt x="72" y="13"/>
                </a:lnTo>
                <a:lnTo>
                  <a:pt x="72" y="0"/>
                </a:lnTo>
                <a:lnTo>
                  <a:pt x="97" y="25"/>
                </a:lnTo>
                <a:lnTo>
                  <a:pt x="72" y="50"/>
                </a:lnTo>
                <a:lnTo>
                  <a:pt x="72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730240" y="7078980"/>
            <a:ext cx="1143000" cy="441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400" b="0" i="1">
                <a:solidFill>
                  <a:srgbClr val="050505"/>
                </a:solidFill>
                <a:latin typeface="Georgia"/>
              </a:defRPr>
            </a:pPr>
            <a:r>
              <a:t>Pₛ(·)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5471160" y="7665720"/>
            <a:ext cx="1691640" cy="792480"/>
          </a:xfrm>
          <a:prstGeom prst="roundRect">
            <a:avLst>
              <a:gd name="adj" fmla="val 17307"/>
            </a:avLst>
          </a:prstGeom>
          <a:solidFill>
            <a:srgbClr val="FFF0BF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5554980" y="7765161"/>
            <a:ext cx="15240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Vision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554980" y="8012049"/>
            <a:ext cx="1524000" cy="3314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00" b="1" i="0">
                <a:solidFill>
                  <a:srgbClr val="050505"/>
                </a:solidFill>
                <a:latin typeface="Georgia"/>
              </a:defRPr>
            </a:pPr>
            <a:r>
              <a:t>Projector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6887260" y="7650480"/>
            <a:ext cx="261519" cy="0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6952640" y="7537239"/>
            <a:ext cx="130759" cy="226481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6952640" y="7537239"/>
            <a:ext cx="130759" cy="226481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Freeform 326"/>
          <p:cNvSpPr/>
          <p:nvPr/>
        </p:nvSpPr>
        <p:spPr>
          <a:xfrm>
            <a:off x="7292340" y="7818120"/>
            <a:ext cx="731520" cy="381000"/>
          </a:xfrm>
          <a:custGeom>
            <a:avLst/>
            <a:gdLst/>
            <a:ahLst/>
            <a:cxnLst/>
            <a:rect l="l" t="t" r="r" b="b"/>
            <a:pathLst>
              <a:path w="96" h="50">
                <a:moveTo>
                  <a:pt x="0" y="13"/>
                </a:moveTo>
                <a:lnTo>
                  <a:pt x="71" y="13"/>
                </a:lnTo>
                <a:lnTo>
                  <a:pt x="71" y="0"/>
                </a:lnTo>
                <a:lnTo>
                  <a:pt x="96" y="25"/>
                </a:lnTo>
                <a:lnTo>
                  <a:pt x="71" y="50"/>
                </a:lnTo>
                <a:lnTo>
                  <a:pt x="71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ounded Rectangle 327"/>
          <p:cNvSpPr/>
          <p:nvPr/>
        </p:nvSpPr>
        <p:spPr>
          <a:xfrm>
            <a:off x="8183880" y="7673340"/>
            <a:ext cx="1699260" cy="548640"/>
          </a:xfrm>
          <a:prstGeom prst="roundRect">
            <a:avLst>
              <a:gd name="adj" fmla="val 15277"/>
            </a:avLst>
          </a:prstGeom>
          <a:solidFill>
            <a:srgbClr val="FFF9EF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8625840" y="7863840"/>
            <a:ext cx="259080" cy="152400"/>
          </a:xfrm>
          <a:custGeom>
            <a:avLst/>
            <a:gdLst/>
            <a:ahLst/>
            <a:cxnLst/>
            <a:rect l="l" t="t" r="r" b="b"/>
            <a:pathLst>
              <a:path w="34" h="20">
                <a:moveTo>
                  <a:pt x="0" y="5"/>
                </a:moveTo>
                <a:lnTo>
                  <a:pt x="25" y="5"/>
                </a:lnTo>
                <a:lnTo>
                  <a:pt x="25" y="0"/>
                </a:lnTo>
                <a:lnTo>
                  <a:pt x="34" y="10"/>
                </a:lnTo>
                <a:lnTo>
                  <a:pt x="25" y="20"/>
                </a:lnTo>
                <a:lnTo>
                  <a:pt x="25" y="15"/>
                </a:lnTo>
                <a:lnTo>
                  <a:pt x="0" y="15"/>
                </a:lnTo>
                <a:close/>
              </a:path>
            </a:pathLst>
          </a:custGeom>
          <a:solidFill>
            <a:srgbClr val="FFAD82"/>
          </a:solidFill>
          <a:ln w="7620">
            <a:solidFill>
              <a:srgbClr val="FFA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9189720" y="7863840"/>
            <a:ext cx="251460" cy="152400"/>
          </a:xfrm>
          <a:custGeom>
            <a:avLst/>
            <a:gdLst/>
            <a:ahLst/>
            <a:cxnLst/>
            <a:rect l="l" t="t" r="r" b="b"/>
            <a:pathLst>
              <a:path w="33" h="20">
                <a:moveTo>
                  <a:pt x="0" y="5"/>
                </a:moveTo>
                <a:lnTo>
                  <a:pt x="24" y="5"/>
                </a:lnTo>
                <a:lnTo>
                  <a:pt x="24" y="0"/>
                </a:lnTo>
                <a:lnTo>
                  <a:pt x="33" y="10"/>
                </a:lnTo>
                <a:lnTo>
                  <a:pt x="24" y="20"/>
                </a:lnTo>
                <a:lnTo>
                  <a:pt x="24" y="15"/>
                </a:lnTo>
                <a:lnTo>
                  <a:pt x="0" y="15"/>
                </a:lnTo>
                <a:close/>
              </a:path>
            </a:pathLst>
          </a:custGeom>
          <a:solidFill>
            <a:srgbClr val="FFAD82"/>
          </a:solidFill>
          <a:ln w="7620">
            <a:solidFill>
              <a:srgbClr val="FFA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328660" y="7802880"/>
            <a:ext cx="289560" cy="289560"/>
          </a:xfrm>
          <a:prstGeom prst="ellipse">
            <a:avLst/>
          </a:prstGeom>
          <a:solidFill>
            <a:srgbClr val="FFE36A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8888730" y="7802880"/>
            <a:ext cx="289560" cy="289560"/>
          </a:xfrm>
          <a:prstGeom prst="ellipse">
            <a:avLst/>
          </a:prstGeom>
          <a:solidFill>
            <a:srgbClr val="FFB58D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448800" y="7802880"/>
            <a:ext cx="289560" cy="289560"/>
          </a:xfrm>
          <a:prstGeom prst="ellipse">
            <a:avLst/>
          </a:prstGeom>
          <a:solidFill>
            <a:srgbClr val="F27A22"/>
          </a:solidFill>
          <a:ln w="30480">
            <a:solidFill>
              <a:srgbClr val="223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9651492" y="7734300"/>
            <a:ext cx="234696" cy="0"/>
          </a:xfrm>
          <a:prstGeom prst="line">
            <a:avLst/>
          </a:prstGeom>
          <a:ln w="16001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9710166" y="7632673"/>
            <a:ext cx="117348" cy="203253"/>
          </a:xfrm>
          <a:prstGeom prst="line">
            <a:avLst/>
          </a:prstGeom>
          <a:ln w="16001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H="1">
            <a:off x="9710166" y="7632673"/>
            <a:ext cx="117348" cy="203253"/>
          </a:xfrm>
          <a:prstGeom prst="line">
            <a:avLst/>
          </a:prstGeom>
          <a:ln w="16001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/>
          <p:cNvSpPr txBox="1"/>
          <p:nvPr/>
        </p:nvSpPr>
        <p:spPr>
          <a:xfrm>
            <a:off x="8134350" y="8365236"/>
            <a:ext cx="1790700" cy="353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920" b="1" i="0">
                <a:solidFill>
                  <a:srgbClr val="050505"/>
                </a:solidFill>
                <a:latin typeface="Georgia"/>
              </a:defRPr>
            </a:pPr>
            <a:r>
              <a:t>Diffusion Prior</a:t>
            </a:r>
          </a:p>
        </p:txBody>
      </p:sp>
      <p:sp>
        <p:nvSpPr>
          <p:cNvPr id="338" name="Freeform 337"/>
          <p:cNvSpPr/>
          <p:nvPr/>
        </p:nvSpPr>
        <p:spPr>
          <a:xfrm>
            <a:off x="9997440" y="7810500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92" h="50">
                <a:moveTo>
                  <a:pt x="0" y="13"/>
                </a:moveTo>
                <a:lnTo>
                  <a:pt x="68" y="13"/>
                </a:lnTo>
                <a:lnTo>
                  <a:pt x="68" y="0"/>
                </a:lnTo>
                <a:lnTo>
                  <a:pt x="92" y="25"/>
                </a:lnTo>
                <a:lnTo>
                  <a:pt x="68" y="50"/>
                </a:lnTo>
                <a:lnTo>
                  <a:pt x="68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0858500" y="7338060"/>
            <a:ext cx="975360" cy="1386840"/>
          </a:xfrm>
          <a:custGeom>
            <a:avLst/>
            <a:gdLst/>
            <a:ahLst/>
            <a:cxnLst/>
            <a:rect l="l" t="t" r="r" b="b"/>
            <a:pathLst>
              <a:path w="128" h="182">
                <a:moveTo>
                  <a:pt x="0" y="32"/>
                </a:moveTo>
                <a:lnTo>
                  <a:pt x="128" y="0"/>
                </a:lnTo>
                <a:lnTo>
                  <a:pt x="128" y="182"/>
                </a:lnTo>
                <a:lnTo>
                  <a:pt x="0" y="147"/>
                </a:lnTo>
                <a:close/>
              </a:path>
            </a:pathLst>
          </a:custGeom>
          <a:solidFill>
            <a:srgbClr val="FFE6D8"/>
          </a:solidFill>
          <a:ln w="30480">
            <a:solidFill>
              <a:srgbClr val="08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0953750" y="7867840"/>
            <a:ext cx="800100" cy="34251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859" b="1" i="0">
                <a:solidFill>
                  <a:srgbClr val="050505"/>
                </a:solidFill>
                <a:latin typeface="Georgia"/>
              </a:defRPr>
            </a:pPr>
            <a:r>
              <a:t>SDXL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11527840" y="7505700"/>
            <a:ext cx="261519" cy="0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1593220" y="7392459"/>
            <a:ext cx="130759" cy="226481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H="1">
            <a:off x="11593220" y="7392459"/>
            <a:ext cx="130759" cy="226481"/>
          </a:xfrm>
          <a:prstGeom prst="line">
            <a:avLst/>
          </a:prstGeom>
          <a:ln w="17830">
            <a:solidFill>
              <a:srgbClr val="52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Freeform 343"/>
          <p:cNvSpPr/>
          <p:nvPr/>
        </p:nvSpPr>
        <p:spPr>
          <a:xfrm>
            <a:off x="11993880" y="7810500"/>
            <a:ext cx="701040" cy="381000"/>
          </a:xfrm>
          <a:custGeom>
            <a:avLst/>
            <a:gdLst/>
            <a:ahLst/>
            <a:cxnLst/>
            <a:rect l="l" t="t" r="r" b="b"/>
            <a:pathLst>
              <a:path w="92" h="50">
                <a:moveTo>
                  <a:pt x="0" y="13"/>
                </a:moveTo>
                <a:lnTo>
                  <a:pt x="68" y="13"/>
                </a:lnTo>
                <a:lnTo>
                  <a:pt x="68" y="0"/>
                </a:lnTo>
                <a:lnTo>
                  <a:pt x="92" y="25"/>
                </a:lnTo>
                <a:lnTo>
                  <a:pt x="68" y="50"/>
                </a:lnTo>
                <a:lnTo>
                  <a:pt x="68" y="37"/>
                </a:lnTo>
                <a:lnTo>
                  <a:pt x="0" y="37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11982450" y="6811518"/>
            <a:ext cx="2095500" cy="3977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160" b="0" i="0">
                <a:solidFill>
                  <a:srgbClr val="050505"/>
                </a:solidFill>
                <a:latin typeface="Georgia"/>
              </a:defRPr>
            </a:pPr>
            <a:r>
              <a:t>Reconstructed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2115800" y="7139178"/>
            <a:ext cx="1524000" cy="3977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2160" b="0" i="0">
                <a:solidFill>
                  <a:srgbClr val="050505"/>
                </a:solidFill>
                <a:latin typeface="Georgia"/>
              </a:defRPr>
            </a:pPr>
            <a:r>
              <a:t>Images</a:t>
            </a:r>
          </a:p>
        </p:txBody>
      </p:sp>
      <p:sp>
        <p:nvSpPr>
          <p:cNvPr id="347" name="Rounded Rectangle 346"/>
          <p:cNvSpPr/>
          <p:nvPr/>
        </p:nvSpPr>
        <p:spPr>
          <a:xfrm>
            <a:off x="13037820" y="7444740"/>
            <a:ext cx="1089660" cy="807720"/>
          </a:xfrm>
          <a:prstGeom prst="roundRect">
            <a:avLst>
              <a:gd name="adj" fmla="val 4716"/>
            </a:avLst>
          </a:prstGeom>
          <a:solidFill>
            <a:srgbClr val="74CAD9"/>
          </a:solidFill>
          <a:ln w="3810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ounded Rectangle 347"/>
          <p:cNvSpPr/>
          <p:nvPr/>
        </p:nvSpPr>
        <p:spPr>
          <a:xfrm>
            <a:off x="12847320" y="7627620"/>
            <a:ext cx="1089660" cy="807720"/>
          </a:xfrm>
          <a:prstGeom prst="roundRect">
            <a:avLst>
              <a:gd name="adj" fmla="val 4716"/>
            </a:avLst>
          </a:prstGeom>
          <a:solidFill>
            <a:srgbClr val="BFEAF0"/>
          </a:solidFill>
          <a:ln w="3810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ounded Rectangle 348"/>
          <p:cNvSpPr/>
          <p:nvPr/>
        </p:nvSpPr>
        <p:spPr>
          <a:xfrm>
            <a:off x="12649200" y="7810500"/>
            <a:ext cx="1089660" cy="807720"/>
          </a:xfrm>
          <a:prstGeom prst="roundRect">
            <a:avLst>
              <a:gd name="adj" fmla="val 4716"/>
            </a:avLst>
          </a:prstGeom>
          <a:solidFill>
            <a:srgbClr val="F7EFE2"/>
          </a:solidFill>
          <a:ln w="3810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2946380" y="7924800"/>
            <a:ext cx="487680" cy="426720"/>
          </a:xfrm>
          <a:prstGeom prst="ellipse">
            <a:avLst/>
          </a:prstGeom>
          <a:solidFill>
            <a:srgbClr val="EEA23C"/>
          </a:solidFill>
          <a:ln w="304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12839700" y="7940040"/>
            <a:ext cx="198120" cy="365760"/>
          </a:xfrm>
          <a:prstGeom prst="ellipse">
            <a:avLst/>
          </a:prstGeom>
          <a:solidFill>
            <a:srgbClr val="CE7431"/>
          </a:solidFill>
          <a:ln w="22859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3342620" y="7940040"/>
            <a:ext cx="198120" cy="365760"/>
          </a:xfrm>
          <a:prstGeom prst="ellipse">
            <a:avLst/>
          </a:prstGeom>
          <a:solidFill>
            <a:srgbClr val="CE7431"/>
          </a:solidFill>
          <a:ln w="22859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13144500" y="8145780"/>
            <a:ext cx="91440" cy="91440"/>
          </a:xfrm>
          <a:prstGeom prst="ellipse">
            <a:avLst/>
          </a:prstGeom>
          <a:solidFill>
            <a:srgbClr val="050505"/>
          </a:solidFill>
          <a:ln w="762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ZEBRA Towards Zero-Shot Cross-Subject Generalization for Universal Brain Visual Decod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01800" cy="922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