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" y="82550"/>
            <a:ext cx="12109450" cy="3429000"/>
          </a:xfrm>
          <a:prstGeom prst="roundRect">
            <a:avLst>
              <a:gd name="adj" fmla="val 16000"/>
            </a:avLst>
          </a:prstGeom>
          <a:solidFill>
            <a:srgbClr val="E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550" y="3651250"/>
            <a:ext cx="12103100" cy="3092450"/>
          </a:xfrm>
          <a:prstGeom prst="roundRect">
            <a:avLst>
              <a:gd name="adj" fmla="val 16000"/>
            </a:avLst>
          </a:prstGeom>
          <a:solidFill>
            <a:srgbClr val="F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49400" y="196850"/>
            <a:ext cx="3149600" cy="322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76800" y="196850"/>
            <a:ext cx="3917950" cy="322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4300" y="196850"/>
            <a:ext cx="3111500" cy="322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0700" y="3752850"/>
            <a:ext cx="2393950" cy="1104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3752850"/>
            <a:ext cx="2508250" cy="29908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9950" y="3752850"/>
            <a:ext cx="1981199" cy="29908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78800" y="3752850"/>
            <a:ext cx="3937000" cy="29908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4500" y="241300"/>
            <a:ext cx="282575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A0A0A"/>
                </a:solidFill>
                <a:latin typeface="Arial"/>
              </a:rPr>
              <a:t>(a) Keyframe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600" y="254000"/>
            <a:ext cx="330200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A0A0A"/>
                </a:solidFill>
                <a:latin typeface="Arial"/>
              </a:rPr>
              <a:t>(b) Atomic Domain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8450" y="254000"/>
            <a:ext cx="276860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A0A0A"/>
                </a:solidFill>
                <a:latin typeface="Arial"/>
              </a:rPr>
              <a:t>(c) Domain 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3750" y="3854450"/>
            <a:ext cx="223520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Arial"/>
              </a:rPr>
              <a:t>(d) Problem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9500" y="3854450"/>
            <a:ext cx="158115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Arial"/>
              </a:rPr>
              <a:t>(e)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7500" y="3854450"/>
            <a:ext cx="190500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Arial"/>
              </a:rPr>
              <a:t>(f) Execution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-266700" y="1651000"/>
            <a:ext cx="123825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A0A0A"/>
                </a:solidFill>
                <a:latin typeface="Arial"/>
              </a:rPr>
              <a:t>Learning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-241300" y="5219700"/>
            <a:ext cx="123825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A0A0A"/>
                </a:solidFill>
                <a:latin typeface="Arial"/>
              </a:rPr>
              <a:t>Planning</a:t>
            </a:r>
          </a:p>
        </p:txBody>
      </p:sp>
      <p:sp>
        <p:nvSpPr>
          <p:cNvPr id="19" name="Can 18"/>
          <p:cNvSpPr/>
          <p:nvPr/>
        </p:nvSpPr>
        <p:spPr>
          <a:xfrm>
            <a:off x="520700" y="1079500"/>
            <a:ext cx="787400" cy="1492250"/>
          </a:xfrm>
          <a:prstGeom prst="can">
            <a:avLst/>
          </a:prstGeom>
          <a:solidFill>
            <a:srgbClr val="F9F9F9"/>
          </a:solidFill>
          <a:ln w="2540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700" y="1600200"/>
            <a:ext cx="787400" cy="55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DROID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Dataset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08100" y="1828800"/>
            <a:ext cx="323850" cy="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1555750" y="178435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76200" y="44450"/>
                </a:move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2F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435100" y="971550"/>
            <a:ext cx="0" cy="85090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35100" y="971550"/>
            <a:ext cx="196850" cy="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1555750" y="927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76200" y="44450"/>
                </a:move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2F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435100" y="1828800"/>
            <a:ext cx="0" cy="108585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435100" y="2914650"/>
            <a:ext cx="196850" cy="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1555750" y="2870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76200" y="44450"/>
                </a:move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2F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4650" y="533400"/>
            <a:ext cx="2908300" cy="863600"/>
          </a:xfrm>
          <a:prstGeom prst="rect">
            <a:avLst/>
          </a:prstGeom>
          <a:solidFill>
            <a:srgbClr val="DC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kf_r1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603250"/>
            <a:ext cx="850900" cy="742950"/>
          </a:xfrm>
          <a:prstGeom prst="rect">
            <a:avLst/>
          </a:prstGeom>
          <a:effectLst/>
        </p:spPr>
      </p:pic>
      <p:sp>
        <p:nvSpPr>
          <p:cNvPr id="31" name="Rectangle 30"/>
          <p:cNvSpPr/>
          <p:nvPr/>
        </p:nvSpPr>
        <p:spPr>
          <a:xfrm>
            <a:off x="1714500" y="603250"/>
            <a:ext cx="850900" cy="196850"/>
          </a:xfrm>
          <a:prstGeom prst="rect">
            <a:avLst/>
          </a:prstGeom>
          <a:solidFill>
            <a:srgbClr val="21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9900" y="609600"/>
            <a:ext cx="8128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Frame 1</a:t>
            </a:r>
          </a:p>
        </p:txBody>
      </p:sp>
      <p:pic>
        <p:nvPicPr>
          <p:cNvPr id="33" name="Picture 32" descr="kf_r1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603250"/>
            <a:ext cx="863600" cy="742950"/>
          </a:xfrm>
          <a:prstGeom prst="rect">
            <a:avLst/>
          </a:prstGeom>
          <a:effectLst/>
        </p:spPr>
      </p:pic>
      <p:sp>
        <p:nvSpPr>
          <p:cNvPr id="34" name="Rectangle 33"/>
          <p:cNvSpPr/>
          <p:nvPr/>
        </p:nvSpPr>
        <p:spPr>
          <a:xfrm>
            <a:off x="2603500" y="603250"/>
            <a:ext cx="863600" cy="196850"/>
          </a:xfrm>
          <a:prstGeom prst="rect">
            <a:avLst/>
          </a:prstGeom>
          <a:solidFill>
            <a:srgbClr val="21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28900" y="609600"/>
            <a:ext cx="825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Frame 2</a:t>
            </a:r>
          </a:p>
        </p:txBody>
      </p:sp>
      <p:pic>
        <p:nvPicPr>
          <p:cNvPr id="36" name="Picture 35" descr="kf_r1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50" y="603250"/>
            <a:ext cx="863600" cy="742950"/>
          </a:xfrm>
          <a:prstGeom prst="rect">
            <a:avLst/>
          </a:prstGeom>
          <a:effectLst/>
        </p:spPr>
      </p:pic>
      <p:sp>
        <p:nvSpPr>
          <p:cNvPr id="37" name="Rectangle 36"/>
          <p:cNvSpPr/>
          <p:nvPr/>
        </p:nvSpPr>
        <p:spPr>
          <a:xfrm>
            <a:off x="3600450" y="603250"/>
            <a:ext cx="863600" cy="196850"/>
          </a:xfrm>
          <a:prstGeom prst="rect">
            <a:avLst/>
          </a:prstGeom>
          <a:solidFill>
            <a:srgbClr val="21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25850" y="609600"/>
            <a:ext cx="825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Frame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60750" y="628650"/>
            <a:ext cx="1397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A0A0A"/>
                </a:solidFill>
                <a:latin typeface="Arial"/>
              </a:rPr>
              <a:t>...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4650" y="1409700"/>
            <a:ext cx="2908300" cy="863600"/>
          </a:xfrm>
          <a:prstGeom prst="rect">
            <a:avLst/>
          </a:prstGeom>
          <a:solidFill>
            <a:srgbClr val="DC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kf_r2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1479550"/>
            <a:ext cx="850900" cy="730250"/>
          </a:xfrm>
          <a:prstGeom prst="rect">
            <a:avLst/>
          </a:prstGeom>
          <a:effectLst/>
        </p:spPr>
      </p:pic>
      <p:sp>
        <p:nvSpPr>
          <p:cNvPr id="42" name="Rectangle 41"/>
          <p:cNvSpPr/>
          <p:nvPr/>
        </p:nvSpPr>
        <p:spPr>
          <a:xfrm>
            <a:off x="1714500" y="1479550"/>
            <a:ext cx="850900" cy="196850"/>
          </a:xfrm>
          <a:prstGeom prst="rect">
            <a:avLst/>
          </a:prstGeom>
          <a:solidFill>
            <a:srgbClr val="21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39900" y="1485900"/>
            <a:ext cx="8128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Frame 1</a:t>
            </a:r>
          </a:p>
        </p:txBody>
      </p:sp>
      <p:pic>
        <p:nvPicPr>
          <p:cNvPr id="44" name="Picture 43" descr="kf_r2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500" y="1479550"/>
            <a:ext cx="863600" cy="730250"/>
          </a:xfrm>
          <a:prstGeom prst="rect">
            <a:avLst/>
          </a:prstGeom>
          <a:effectLst/>
        </p:spPr>
      </p:pic>
      <p:sp>
        <p:nvSpPr>
          <p:cNvPr id="45" name="Rectangle 44"/>
          <p:cNvSpPr/>
          <p:nvPr/>
        </p:nvSpPr>
        <p:spPr>
          <a:xfrm>
            <a:off x="2603500" y="1479550"/>
            <a:ext cx="863600" cy="196850"/>
          </a:xfrm>
          <a:prstGeom prst="rect">
            <a:avLst/>
          </a:prstGeom>
          <a:solidFill>
            <a:srgbClr val="21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28900" y="1485900"/>
            <a:ext cx="825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Frame 2</a:t>
            </a:r>
          </a:p>
        </p:txBody>
      </p:sp>
      <p:pic>
        <p:nvPicPr>
          <p:cNvPr id="47" name="Picture 46" descr="kf_r2c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450" y="1479550"/>
            <a:ext cx="863600" cy="730250"/>
          </a:xfrm>
          <a:prstGeom prst="rect">
            <a:avLst/>
          </a:prstGeom>
          <a:effectLst/>
        </p:spPr>
      </p:pic>
      <p:sp>
        <p:nvSpPr>
          <p:cNvPr id="48" name="Rectangle 47"/>
          <p:cNvSpPr/>
          <p:nvPr/>
        </p:nvSpPr>
        <p:spPr>
          <a:xfrm>
            <a:off x="3600450" y="1479550"/>
            <a:ext cx="863600" cy="196850"/>
          </a:xfrm>
          <a:prstGeom prst="rect">
            <a:avLst/>
          </a:prstGeom>
          <a:solidFill>
            <a:srgbClr val="21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25850" y="1485900"/>
            <a:ext cx="825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Frame 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60750" y="1504950"/>
            <a:ext cx="1397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A0A0A"/>
                </a:solidFill>
                <a:latin typeface="Arial"/>
              </a:rPr>
              <a:t>...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4650" y="2482850"/>
            <a:ext cx="2908300" cy="876300"/>
          </a:xfrm>
          <a:prstGeom prst="rect">
            <a:avLst/>
          </a:prstGeom>
          <a:solidFill>
            <a:srgbClr val="DC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kf_r3c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2559050"/>
            <a:ext cx="850900" cy="730250"/>
          </a:xfrm>
          <a:prstGeom prst="rect">
            <a:avLst/>
          </a:prstGeom>
          <a:effectLst/>
        </p:spPr>
      </p:pic>
      <p:sp>
        <p:nvSpPr>
          <p:cNvPr id="53" name="Rectangle 52"/>
          <p:cNvSpPr/>
          <p:nvPr/>
        </p:nvSpPr>
        <p:spPr>
          <a:xfrm>
            <a:off x="1714500" y="2559050"/>
            <a:ext cx="850900" cy="196850"/>
          </a:xfrm>
          <a:prstGeom prst="rect">
            <a:avLst/>
          </a:prstGeom>
          <a:solidFill>
            <a:srgbClr val="21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39900" y="2565400"/>
            <a:ext cx="8128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Frame 1</a:t>
            </a:r>
          </a:p>
        </p:txBody>
      </p:sp>
      <p:pic>
        <p:nvPicPr>
          <p:cNvPr id="55" name="Picture 54" descr="kf_r3c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3500" y="2559050"/>
            <a:ext cx="863600" cy="730250"/>
          </a:xfrm>
          <a:prstGeom prst="rect">
            <a:avLst/>
          </a:prstGeom>
          <a:effectLst/>
        </p:spPr>
      </p:pic>
      <p:sp>
        <p:nvSpPr>
          <p:cNvPr id="56" name="Rectangle 55"/>
          <p:cNvSpPr/>
          <p:nvPr/>
        </p:nvSpPr>
        <p:spPr>
          <a:xfrm>
            <a:off x="2603500" y="2559050"/>
            <a:ext cx="863600" cy="196850"/>
          </a:xfrm>
          <a:prstGeom prst="rect">
            <a:avLst/>
          </a:prstGeom>
          <a:solidFill>
            <a:srgbClr val="21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28900" y="2565400"/>
            <a:ext cx="825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Frame 2</a:t>
            </a:r>
          </a:p>
        </p:txBody>
      </p:sp>
      <p:pic>
        <p:nvPicPr>
          <p:cNvPr id="58" name="Picture 57" descr="kf_r3c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0450" y="2559050"/>
            <a:ext cx="863600" cy="730250"/>
          </a:xfrm>
          <a:prstGeom prst="rect">
            <a:avLst/>
          </a:prstGeom>
          <a:effectLst/>
        </p:spPr>
      </p:pic>
      <p:sp>
        <p:nvSpPr>
          <p:cNvPr id="59" name="Rectangle 58"/>
          <p:cNvSpPr/>
          <p:nvPr/>
        </p:nvSpPr>
        <p:spPr>
          <a:xfrm>
            <a:off x="3600450" y="2559050"/>
            <a:ext cx="863600" cy="196850"/>
          </a:xfrm>
          <a:prstGeom prst="rect">
            <a:avLst/>
          </a:prstGeom>
          <a:solidFill>
            <a:srgbClr val="21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25850" y="2565400"/>
            <a:ext cx="825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Frame 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60750" y="2584450"/>
            <a:ext cx="1397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A0A0A"/>
                </a:solidFill>
                <a:latin typeface="Arial"/>
              </a:rPr>
              <a:t>...</a:t>
            </a:r>
          </a:p>
        </p:txBody>
      </p:sp>
      <p:sp>
        <p:nvSpPr>
          <p:cNvPr id="62" name="Oval 61"/>
          <p:cNvSpPr/>
          <p:nvPr/>
        </p:nvSpPr>
        <p:spPr>
          <a:xfrm>
            <a:off x="2981960" y="2327910"/>
            <a:ext cx="30480" cy="3048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981960" y="2385060"/>
            <a:ext cx="30480" cy="3048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81960" y="2442210"/>
            <a:ext cx="30480" cy="3048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552950" y="971550"/>
            <a:ext cx="584200" cy="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5060950" y="927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76200" y="44450"/>
                </a:move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2F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4552950" y="1841500"/>
            <a:ext cx="285750" cy="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838700" y="971550"/>
            <a:ext cx="0" cy="86995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52950" y="2914650"/>
            <a:ext cx="285750" cy="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838700" y="971550"/>
            <a:ext cx="0" cy="194310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149850" y="685800"/>
            <a:ext cx="3340100" cy="596900"/>
          </a:xfrm>
          <a:prstGeom prst="roundRect">
            <a:avLst>
              <a:gd name="adj" fmla="val 16000"/>
            </a:avLst>
          </a:prstGeom>
          <a:solidFill>
            <a:srgbClr val="BD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llm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400" y="800100"/>
            <a:ext cx="342900" cy="349250"/>
          </a:xfrm>
          <a:prstGeom prst="rect">
            <a:avLst/>
          </a:prstGeom>
          <a:effectLst/>
        </p:spPr>
      </p:pic>
      <p:sp>
        <p:nvSpPr>
          <p:cNvPr id="73" name="TextBox 72"/>
          <p:cNvSpPr txBox="1"/>
          <p:nvPr/>
        </p:nvSpPr>
        <p:spPr>
          <a:xfrm>
            <a:off x="5613400" y="749300"/>
            <a:ext cx="1778000" cy="4698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Domain Construction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&amp; Revision</a:t>
            </a:r>
          </a:p>
        </p:txBody>
      </p:sp>
      <p:sp>
        <p:nvSpPr>
          <p:cNvPr id="74" name="Freeform 73"/>
          <p:cNvSpPr/>
          <p:nvPr/>
        </p:nvSpPr>
        <p:spPr>
          <a:xfrm>
            <a:off x="7429500" y="730250"/>
            <a:ext cx="946149" cy="501650"/>
          </a:xfrm>
          <a:custGeom>
            <a:avLst/>
            <a:gdLst/>
            <a:ahLst/>
            <a:cxnLst/>
            <a:rect l="l" t="t" r="r" b="b"/>
            <a:pathLst>
              <a:path w="946149" h="501650">
                <a:moveTo>
                  <a:pt x="0" y="0"/>
                </a:moveTo>
                <a:lnTo>
                  <a:pt x="831849" y="0"/>
                </a:lnTo>
                <a:lnTo>
                  <a:pt x="946149" y="114300"/>
                </a:lnTo>
                <a:lnTo>
                  <a:pt x="946149" y="501650"/>
                </a:lnTo>
                <a:lnTo>
                  <a:pt x="0" y="501650"/>
                </a:lnTo>
                <a:close/>
              </a:path>
            </a:pathLst>
          </a:custGeom>
          <a:solidFill>
            <a:srgbClr val="FAFFFD"/>
          </a:solidFill>
          <a:ln w="1079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8261349" y="730250"/>
            <a:ext cx="0" cy="114300"/>
          </a:xfrm>
          <a:prstGeom prst="line">
            <a:avLst/>
          </a:prstGeom>
          <a:ln w="10795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261349" y="844550"/>
            <a:ext cx="114300" cy="0"/>
          </a:xfrm>
          <a:prstGeom prst="line">
            <a:avLst/>
          </a:prstGeom>
          <a:ln w="10795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467599" y="749300"/>
            <a:ext cx="8636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ct val="72000"/>
              </a:lnSpc>
              <a:spcBef>
                <a:spcPts val="0"/>
              </a:spcBef>
              <a:spcAft>
                <a:spcPts val="0"/>
              </a:spcAft>
            </a:pPr>
            <a:r>
              <a:rPr sz="750" i="1">
                <a:solidFill>
                  <a:srgbClr val="1266A0"/>
                </a:solidFill>
                <a:latin typeface="Arial"/>
              </a:rPr>
              <a:t>:predicates</a:t>
            </a:r>
            <a:r>
              <a:rPr sz="750" i="1">
                <a:solidFill>
                  <a:srgbClr val="0A0A0A"/>
                </a:solidFill>
                <a:latin typeface="Arial"/>
              </a:rPr>
              <a:t> (...)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0"/>
              </a:spcAft>
            </a:pPr>
            <a:r>
              <a:rPr sz="750" i="1">
                <a:solidFill>
                  <a:srgbClr val="159936"/>
                </a:solidFill>
                <a:latin typeface="Arial"/>
              </a:rPr>
              <a:t>:actions ...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0"/>
              </a:spcAft>
            </a:pPr>
            <a:r>
              <a:rPr sz="750" i="1">
                <a:solidFill>
                  <a:srgbClr val="D19300"/>
                </a:solidFill>
                <a:latin typeface="Arial"/>
              </a:rPr>
              <a:t>   :precondition</a:t>
            </a:r>
            <a:r>
              <a:rPr sz="750" i="1">
                <a:solidFill>
                  <a:srgbClr val="0A0A0A"/>
                </a:solidFill>
                <a:latin typeface="Arial"/>
              </a:rPr>
              <a:t> (...)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0"/>
              </a:spcAft>
            </a:pPr>
            <a:r>
              <a:rPr sz="750" i="1">
                <a:solidFill>
                  <a:srgbClr val="E3004F"/>
                </a:solidFill>
                <a:latin typeface="Arial"/>
              </a:rPr>
              <a:t>   :effect</a:t>
            </a:r>
            <a:r>
              <a:rPr sz="750" i="1">
                <a:solidFill>
                  <a:srgbClr val="0A0A0A"/>
                </a:solidFill>
                <a:latin typeface="Arial"/>
              </a:rPr>
              <a:t> (...)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819900" y="1282700"/>
            <a:ext cx="0" cy="177800"/>
          </a:xfrm>
          <a:prstGeom prst="line">
            <a:avLst/>
          </a:prstGeom>
          <a:ln w="190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6775450" y="13843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88900" h="76200">
                <a:moveTo>
                  <a:pt x="44450" y="76200"/>
                </a:moveTo>
                <a:lnTo>
                  <a:pt x="0" y="0"/>
                </a:lnTo>
                <a:lnTo>
                  <a:pt x="88900" y="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041900" y="1479550"/>
            <a:ext cx="3562350" cy="1803400"/>
          </a:xfrm>
          <a:prstGeom prst="roundRect">
            <a:avLst>
              <a:gd name="adj" fmla="val 1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143500" y="1574800"/>
            <a:ext cx="1447800" cy="768350"/>
          </a:xfrm>
          <a:prstGeom prst="roundRect">
            <a:avLst>
              <a:gd name="adj" fmla="val 16000"/>
            </a:avLst>
          </a:prstGeom>
          <a:solidFill>
            <a:srgbClr val="BD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llm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400" y="1657350"/>
            <a:ext cx="304800" cy="311150"/>
          </a:xfrm>
          <a:prstGeom prst="rect">
            <a:avLst/>
          </a:prstGeom>
          <a:effectLst/>
        </p:spPr>
      </p:pic>
      <p:sp>
        <p:nvSpPr>
          <p:cNvPr id="83" name="Rounded Rectangle 82"/>
          <p:cNvSpPr/>
          <p:nvPr/>
        </p:nvSpPr>
        <p:spPr>
          <a:xfrm>
            <a:off x="5321808" y="2000250"/>
            <a:ext cx="105155" cy="960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8288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374386" y="2096262"/>
            <a:ext cx="0" cy="54864"/>
          </a:xfrm>
          <a:prstGeom prst="line">
            <a:avLst/>
          </a:prstGeom>
          <a:ln w="1828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5289804" y="2151126"/>
            <a:ext cx="84582" cy="0"/>
          </a:xfrm>
          <a:prstGeom prst="line">
            <a:avLst/>
          </a:prstGeom>
          <a:ln w="1828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289804" y="2151126"/>
            <a:ext cx="0" cy="50292"/>
          </a:xfrm>
          <a:prstGeom prst="line">
            <a:avLst/>
          </a:prstGeom>
          <a:ln w="1828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374386" y="2151126"/>
            <a:ext cx="84582" cy="0"/>
          </a:xfrm>
          <a:prstGeom prst="line">
            <a:avLst/>
          </a:prstGeom>
          <a:ln w="1828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458968" y="2151126"/>
            <a:ext cx="0" cy="50292"/>
          </a:xfrm>
          <a:prstGeom prst="line">
            <a:avLst/>
          </a:prstGeom>
          <a:ln w="1828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257800" y="2201418"/>
            <a:ext cx="64008" cy="594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8288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426964" y="2201418"/>
            <a:ext cx="64008" cy="594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8288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13400" y="1638300"/>
            <a:ext cx="889000" cy="596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Solvability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Check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137150" y="2489200"/>
            <a:ext cx="1454150" cy="679450"/>
          </a:xfrm>
          <a:prstGeom prst="roundRect">
            <a:avLst>
              <a:gd name="adj" fmla="val 16000"/>
            </a:avLst>
          </a:prstGeom>
          <a:solidFill>
            <a:srgbClr val="BD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llm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400" y="2667000"/>
            <a:ext cx="304800" cy="311150"/>
          </a:xfrm>
          <a:prstGeom prst="rect">
            <a:avLst/>
          </a:prstGeom>
          <a:effectLst/>
        </p:spPr>
      </p:pic>
      <p:sp>
        <p:nvSpPr>
          <p:cNvPr id="94" name="TextBox 93"/>
          <p:cNvSpPr txBox="1"/>
          <p:nvPr/>
        </p:nvSpPr>
        <p:spPr>
          <a:xfrm>
            <a:off x="5613400" y="2565400"/>
            <a:ext cx="933449" cy="520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Solution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Verification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289800" y="1574800"/>
            <a:ext cx="1200150" cy="1593850"/>
          </a:xfrm>
          <a:prstGeom prst="roundRect">
            <a:avLst>
              <a:gd name="adj" fmla="val 16000"/>
            </a:avLst>
          </a:prstGeom>
          <a:solidFill>
            <a:srgbClr val="BD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llm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0" y="1682750"/>
            <a:ext cx="349250" cy="355600"/>
          </a:xfrm>
          <a:prstGeom prst="rect">
            <a:avLst/>
          </a:prstGeom>
          <a:effectLst/>
        </p:spPr>
      </p:pic>
      <p:sp>
        <p:nvSpPr>
          <p:cNvPr id="97" name="TextBox 96"/>
          <p:cNvSpPr txBox="1"/>
          <p:nvPr/>
        </p:nvSpPr>
        <p:spPr>
          <a:xfrm>
            <a:off x="7321550" y="2038349"/>
            <a:ext cx="1136650" cy="482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Closed-Loop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Refinement</a:t>
            </a:r>
          </a:p>
        </p:txBody>
      </p:sp>
      <p:sp>
        <p:nvSpPr>
          <p:cNvPr id="98" name="Freeform 97"/>
          <p:cNvSpPr/>
          <p:nvPr/>
        </p:nvSpPr>
        <p:spPr>
          <a:xfrm>
            <a:off x="7416800" y="2571750"/>
            <a:ext cx="952500" cy="546100"/>
          </a:xfrm>
          <a:custGeom>
            <a:avLst/>
            <a:gdLst/>
            <a:ahLst/>
            <a:cxnLst/>
            <a:rect l="l" t="t" r="r" b="b"/>
            <a:pathLst>
              <a:path w="952500" h="546100">
                <a:moveTo>
                  <a:pt x="0" y="0"/>
                </a:moveTo>
                <a:lnTo>
                  <a:pt x="850899" y="0"/>
                </a:lnTo>
                <a:lnTo>
                  <a:pt x="952500" y="101600"/>
                </a:lnTo>
                <a:lnTo>
                  <a:pt x="952500" y="546100"/>
                </a:lnTo>
                <a:lnTo>
                  <a:pt x="0" y="546100"/>
                </a:lnTo>
                <a:close/>
              </a:path>
            </a:pathLst>
          </a:custGeom>
          <a:solidFill>
            <a:srgbClr val="FAFFFD"/>
          </a:solidFill>
          <a:ln w="1079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8267699" y="2571750"/>
            <a:ext cx="0" cy="101600"/>
          </a:xfrm>
          <a:prstGeom prst="line">
            <a:avLst/>
          </a:prstGeom>
          <a:ln w="10795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267699" y="2673350"/>
            <a:ext cx="101601" cy="0"/>
          </a:xfrm>
          <a:prstGeom prst="line">
            <a:avLst/>
          </a:prstGeom>
          <a:ln w="10795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7448550" y="2597150"/>
            <a:ext cx="882650" cy="49529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1266A0"/>
                </a:solidFill>
                <a:latin typeface="Arial"/>
              </a:rPr>
              <a:t>:predicates</a:t>
            </a:r>
            <a:r>
              <a:rPr sz="700" i="1">
                <a:solidFill>
                  <a:srgbClr val="0A0A0A"/>
                </a:solidFill>
                <a:latin typeface="Arial"/>
              </a:rPr>
              <a:t> (...)</a:t>
            </a:r>
          </a:p>
          <a:p>
            <a: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159936"/>
                </a:solidFill>
                <a:latin typeface="Arial"/>
              </a:rPr>
              <a:t>:actions ...</a:t>
            </a:r>
          </a:p>
          <a:p>
            <a: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D19300"/>
                </a:solidFill>
                <a:latin typeface="Arial"/>
              </a:rPr>
              <a:t>   :precondition</a:t>
            </a:r>
            <a:r>
              <a:rPr sz="700" i="1">
                <a:solidFill>
                  <a:srgbClr val="0A0A0A"/>
                </a:solidFill>
                <a:latin typeface="Arial"/>
              </a:rPr>
              <a:t> (...)</a:t>
            </a:r>
          </a:p>
          <a:p>
            <a: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E3004F"/>
                </a:solidFill>
                <a:latin typeface="Arial"/>
              </a:rPr>
              <a:t>   :effect</a:t>
            </a:r>
            <a:r>
              <a:rPr sz="700" i="1">
                <a:solidFill>
                  <a:srgbClr val="0A0A0A"/>
                </a:solidFill>
                <a:latin typeface="Arial"/>
              </a:rPr>
              <a:t> (...)</a:t>
            </a:r>
          </a:p>
        </p:txBody>
      </p:sp>
      <p:cxnSp>
        <p:nvCxnSpPr>
          <p:cNvPr id="102" name="Connector 101"/>
          <p:cNvCxnSpPr/>
          <p:nvPr/>
        </p:nvCxnSpPr>
        <p:spPr>
          <a:xfrm flipH="1">
            <a:off x="6604000" y="1835150"/>
            <a:ext cx="685800" cy="0"/>
          </a:xfrm>
          <a:prstGeom prst="line">
            <a:avLst/>
          </a:prstGeom>
          <a:ln w="190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6604000" y="1790700"/>
            <a:ext cx="76200" cy="88899"/>
          </a:xfrm>
          <a:custGeom>
            <a:avLst/>
            <a:gdLst/>
            <a:ahLst/>
            <a:cxnLst/>
            <a:rect l="l" t="t" r="r" b="b"/>
            <a:pathLst>
              <a:path w="76200" h="88899">
                <a:moveTo>
                  <a:pt x="0" y="44450"/>
                </a:moveTo>
                <a:lnTo>
                  <a:pt x="76200" y="0"/>
                </a:lnTo>
                <a:lnTo>
                  <a:pt x="76200" y="88899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6604000" y="2000250"/>
            <a:ext cx="679450" cy="0"/>
          </a:xfrm>
          <a:prstGeom prst="line">
            <a:avLst/>
          </a:prstGeom>
          <a:ln w="190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7207250" y="1955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76200" y="44450"/>
                </a:move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604000" y="2044700"/>
            <a:ext cx="685800" cy="177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A0A0A"/>
                </a:solidFill>
                <a:latin typeface="Arial"/>
              </a:rPr>
              <a:t>Feedback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867400" y="2343150"/>
            <a:ext cx="0" cy="133350"/>
          </a:xfrm>
          <a:prstGeom prst="line">
            <a:avLst/>
          </a:prstGeom>
          <a:ln w="190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Freeform 107"/>
          <p:cNvSpPr/>
          <p:nvPr/>
        </p:nvSpPr>
        <p:spPr>
          <a:xfrm>
            <a:off x="5822950" y="24003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88900" h="76200">
                <a:moveTo>
                  <a:pt x="44450" y="76200"/>
                </a:moveTo>
                <a:lnTo>
                  <a:pt x="0" y="0"/>
                </a:lnTo>
                <a:lnTo>
                  <a:pt x="88900" y="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6591300" y="2901950"/>
            <a:ext cx="685800" cy="0"/>
          </a:xfrm>
          <a:prstGeom prst="line">
            <a:avLst/>
          </a:prstGeom>
          <a:ln w="190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7200900" y="2857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76200" y="44450"/>
                </a:move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604000" y="2692400"/>
            <a:ext cx="685800" cy="184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A0A0A"/>
                </a:solidFill>
                <a:latin typeface="Arial"/>
              </a:rPr>
              <a:t>Feedback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8489950" y="2895600"/>
            <a:ext cx="374650" cy="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864600" y="1104900"/>
            <a:ext cx="0" cy="179070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8864600" y="1104900"/>
            <a:ext cx="196850" cy="0"/>
          </a:xfrm>
          <a:prstGeom prst="line">
            <a:avLst/>
          </a:prstGeom>
          <a:ln w="25400">
            <a:solidFill>
              <a:srgbClr val="2F6C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Freeform 114"/>
          <p:cNvSpPr/>
          <p:nvPr/>
        </p:nvSpPr>
        <p:spPr>
          <a:xfrm>
            <a:off x="8985250" y="106045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76200" y="44450"/>
                </a:move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2F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9061450" y="609600"/>
            <a:ext cx="3003550" cy="781050"/>
          </a:xfrm>
          <a:custGeom>
            <a:avLst/>
            <a:gdLst/>
            <a:ahLst/>
            <a:cxnLst/>
            <a:rect l="l" t="t" r="r" b="b"/>
            <a:pathLst>
              <a:path w="3003550" h="781050">
                <a:moveTo>
                  <a:pt x="0" y="0"/>
                </a:moveTo>
                <a:lnTo>
                  <a:pt x="2889250" y="0"/>
                </a:lnTo>
                <a:lnTo>
                  <a:pt x="3003550" y="114300"/>
                </a:lnTo>
                <a:lnTo>
                  <a:pt x="3003550" y="781050"/>
                </a:lnTo>
                <a:lnTo>
                  <a:pt x="0" y="781050"/>
                </a:lnTo>
                <a:close/>
              </a:path>
            </a:pathLst>
          </a:custGeom>
          <a:solidFill>
            <a:srgbClr val="F7FFFC"/>
          </a:solidFill>
          <a:ln w="1778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11950700" y="609600"/>
            <a:ext cx="0" cy="114300"/>
          </a:xfrm>
          <a:prstGeom prst="line">
            <a:avLst/>
          </a:prstGeom>
          <a:ln w="1778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1950700" y="723900"/>
            <a:ext cx="114300" cy="0"/>
          </a:xfrm>
          <a:prstGeom prst="line">
            <a:avLst/>
          </a:prstGeom>
          <a:ln w="1778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271000" y="654050"/>
            <a:ext cx="2571750" cy="21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Unified Domain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9112250" y="876300"/>
            <a:ext cx="647700" cy="476250"/>
          </a:xfrm>
          <a:custGeom>
            <a:avLst/>
            <a:gdLst/>
            <a:ahLst/>
            <a:cxnLst/>
            <a:rect l="l" t="t" r="r" b="b"/>
            <a:pathLst>
              <a:path w="647700" h="476250">
                <a:moveTo>
                  <a:pt x="0" y="0"/>
                </a:moveTo>
                <a:lnTo>
                  <a:pt x="546100" y="0"/>
                </a:lnTo>
                <a:lnTo>
                  <a:pt x="647700" y="101600"/>
                </a:lnTo>
                <a:lnTo>
                  <a:pt x="647700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F7FFFC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9658350" y="876300"/>
            <a:ext cx="0" cy="10160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658350" y="977900"/>
            <a:ext cx="101600" cy="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9144000" y="933449"/>
            <a:ext cx="5842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A0A0A"/>
                </a:solidFill>
                <a:latin typeface="Arial"/>
              </a:rPr>
              <a:t>Atomic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A0A0A"/>
                </a:solidFill>
                <a:latin typeface="Arial"/>
              </a:rPr>
              <a:t>Domain</a:t>
            </a:r>
          </a:p>
        </p:txBody>
      </p:sp>
      <p:sp>
        <p:nvSpPr>
          <p:cNvPr id="124" name="Freeform 123"/>
          <p:cNvSpPr/>
          <p:nvPr/>
        </p:nvSpPr>
        <p:spPr>
          <a:xfrm>
            <a:off x="9810750" y="876300"/>
            <a:ext cx="647700" cy="476250"/>
          </a:xfrm>
          <a:custGeom>
            <a:avLst/>
            <a:gdLst/>
            <a:ahLst/>
            <a:cxnLst/>
            <a:rect l="l" t="t" r="r" b="b"/>
            <a:pathLst>
              <a:path w="647700" h="476250">
                <a:moveTo>
                  <a:pt x="0" y="0"/>
                </a:moveTo>
                <a:lnTo>
                  <a:pt x="546100" y="0"/>
                </a:lnTo>
                <a:lnTo>
                  <a:pt x="647700" y="101600"/>
                </a:lnTo>
                <a:lnTo>
                  <a:pt x="647700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F7FFFC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10356850" y="876300"/>
            <a:ext cx="0" cy="10160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356850" y="977900"/>
            <a:ext cx="101600" cy="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9842500" y="933449"/>
            <a:ext cx="5842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A0A0A"/>
                </a:solidFill>
                <a:latin typeface="Arial"/>
              </a:rPr>
              <a:t>Atomic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A0A0A"/>
                </a:solidFill>
                <a:latin typeface="Arial"/>
              </a:rPr>
              <a:t>Domain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10687050" y="876300"/>
            <a:ext cx="654050" cy="476250"/>
          </a:xfrm>
          <a:custGeom>
            <a:avLst/>
            <a:gdLst/>
            <a:ahLst/>
            <a:cxnLst/>
            <a:rect l="l" t="t" r="r" b="b"/>
            <a:pathLst>
              <a:path w="654050" h="476250">
                <a:moveTo>
                  <a:pt x="0" y="0"/>
                </a:moveTo>
                <a:lnTo>
                  <a:pt x="552450" y="0"/>
                </a:lnTo>
                <a:lnTo>
                  <a:pt x="654050" y="101600"/>
                </a:lnTo>
                <a:lnTo>
                  <a:pt x="654050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F7FFFC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11239500" y="876300"/>
            <a:ext cx="0" cy="10160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1239500" y="977900"/>
            <a:ext cx="101600" cy="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10718800" y="933449"/>
            <a:ext cx="5905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A0A0A"/>
                </a:solidFill>
                <a:latin typeface="Arial"/>
              </a:rPr>
              <a:t>Atomic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A0A0A"/>
                </a:solidFill>
                <a:latin typeface="Arial"/>
              </a:rPr>
              <a:t>Domain</a:t>
            </a:r>
          </a:p>
        </p:txBody>
      </p:sp>
      <p:sp>
        <p:nvSpPr>
          <p:cNvPr id="132" name="Freeform 131"/>
          <p:cNvSpPr/>
          <p:nvPr/>
        </p:nvSpPr>
        <p:spPr>
          <a:xfrm>
            <a:off x="11398250" y="876300"/>
            <a:ext cx="647700" cy="476250"/>
          </a:xfrm>
          <a:custGeom>
            <a:avLst/>
            <a:gdLst/>
            <a:ahLst/>
            <a:cxnLst/>
            <a:rect l="l" t="t" r="r" b="b"/>
            <a:pathLst>
              <a:path w="647700" h="476250">
                <a:moveTo>
                  <a:pt x="0" y="0"/>
                </a:moveTo>
                <a:lnTo>
                  <a:pt x="546100" y="0"/>
                </a:lnTo>
                <a:lnTo>
                  <a:pt x="647700" y="101600"/>
                </a:lnTo>
                <a:lnTo>
                  <a:pt x="647700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F7FFFC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11944350" y="876300"/>
            <a:ext cx="0" cy="10160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1944350" y="977900"/>
            <a:ext cx="101600" cy="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1430000" y="933449"/>
            <a:ext cx="5842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A0A0A"/>
                </a:solidFill>
                <a:latin typeface="Arial"/>
              </a:rPr>
              <a:t>Atomic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A0A0A"/>
                </a:solidFill>
                <a:latin typeface="Arial"/>
              </a:rPr>
              <a:t>Domain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439400" y="996949"/>
            <a:ext cx="1587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0A0A"/>
                </a:solidFill>
                <a:latin typeface="Arial"/>
              </a:rPr>
              <a:t>...</a:t>
            </a:r>
          </a:p>
        </p:txBody>
      </p:sp>
      <p:pic>
        <p:nvPicPr>
          <p:cNvPr id="137" name="Picture 136" descr="llm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5650" y="1435100"/>
            <a:ext cx="330200" cy="342900"/>
          </a:xfrm>
          <a:prstGeom prst="rect">
            <a:avLst/>
          </a:prstGeom>
          <a:effectLst/>
        </p:spPr>
      </p:pic>
      <p:pic>
        <p:nvPicPr>
          <p:cNvPr id="138" name="Picture 137" descr="llm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14100" y="1435100"/>
            <a:ext cx="330200" cy="342900"/>
          </a:xfrm>
          <a:prstGeom prst="rect">
            <a:avLst/>
          </a:prstGeom>
          <a:effectLst/>
        </p:spPr>
      </p:pic>
      <p:cxnSp>
        <p:nvCxnSpPr>
          <p:cNvPr id="139" name="Connector 138"/>
          <p:cNvCxnSpPr/>
          <p:nvPr/>
        </p:nvCxnSpPr>
        <p:spPr>
          <a:xfrm>
            <a:off x="9410700" y="1365250"/>
            <a:ext cx="222250" cy="393700"/>
          </a:xfrm>
          <a:prstGeom prst="line">
            <a:avLst/>
          </a:prstGeom>
          <a:ln w="1397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Freeform 139"/>
          <p:cNvSpPr/>
          <p:nvPr/>
        </p:nvSpPr>
        <p:spPr>
          <a:xfrm>
            <a:off x="9556782" y="1670741"/>
            <a:ext cx="77416" cy="88209"/>
          </a:xfrm>
          <a:custGeom>
            <a:avLst/>
            <a:gdLst/>
            <a:ahLst/>
            <a:cxnLst/>
            <a:rect l="l" t="t" r="r" b="b"/>
            <a:pathLst>
              <a:path w="77416" h="88209">
                <a:moveTo>
                  <a:pt x="76168" y="88209"/>
                </a:moveTo>
                <a:lnTo>
                  <a:pt x="0" y="43703"/>
                </a:lnTo>
                <a:lnTo>
                  <a:pt x="77416" y="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 flipH="1">
            <a:off x="9950450" y="1365250"/>
            <a:ext cx="177800" cy="400050"/>
          </a:xfrm>
          <a:prstGeom prst="line">
            <a:avLst/>
          </a:prstGeom>
          <a:ln w="1397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Freeform 141"/>
          <p:cNvSpPr/>
          <p:nvPr/>
        </p:nvSpPr>
        <p:spPr>
          <a:xfrm>
            <a:off x="9940778" y="1677614"/>
            <a:ext cx="81238" cy="87686"/>
          </a:xfrm>
          <a:custGeom>
            <a:avLst/>
            <a:gdLst/>
            <a:ahLst/>
            <a:cxnLst/>
            <a:rect l="l" t="t" r="r" b="b"/>
            <a:pathLst>
              <a:path w="81238" h="87686">
                <a:moveTo>
                  <a:pt x="9672" y="87686"/>
                </a:moveTo>
                <a:lnTo>
                  <a:pt x="0" y="0"/>
                </a:lnTo>
                <a:lnTo>
                  <a:pt x="81238" y="36106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11017250" y="1365250"/>
            <a:ext cx="158750" cy="400050"/>
          </a:xfrm>
          <a:prstGeom prst="line">
            <a:avLst/>
          </a:prstGeom>
          <a:ln w="1397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reeform 143"/>
          <p:cNvSpPr/>
          <p:nvPr/>
        </p:nvSpPr>
        <p:spPr>
          <a:xfrm>
            <a:off x="11106578" y="1678077"/>
            <a:ext cx="82631" cy="87223"/>
          </a:xfrm>
          <a:custGeom>
            <a:avLst/>
            <a:gdLst/>
            <a:ahLst/>
            <a:cxnLst/>
            <a:rect l="l" t="t" r="r" b="b"/>
            <a:pathLst>
              <a:path w="82631" h="87223">
                <a:moveTo>
                  <a:pt x="69422" y="87223"/>
                </a:moveTo>
                <a:lnTo>
                  <a:pt x="0" y="32790"/>
                </a:lnTo>
                <a:lnTo>
                  <a:pt x="82631" y="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 flipH="1">
            <a:off x="11531600" y="1365250"/>
            <a:ext cx="190500" cy="400050"/>
          </a:xfrm>
          <a:prstGeom prst="line">
            <a:avLst/>
          </a:prstGeom>
          <a:ln w="1397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Freeform 145"/>
          <p:cNvSpPr/>
          <p:nvPr/>
        </p:nvSpPr>
        <p:spPr>
          <a:xfrm>
            <a:off x="11524228" y="1677391"/>
            <a:ext cx="80265" cy="87909"/>
          </a:xfrm>
          <a:custGeom>
            <a:avLst/>
            <a:gdLst/>
            <a:ahLst/>
            <a:cxnLst/>
            <a:rect l="l" t="t" r="r" b="b"/>
            <a:pathLst>
              <a:path w="80265" h="87909">
                <a:moveTo>
                  <a:pt x="7372" y="87909"/>
                </a:moveTo>
                <a:lnTo>
                  <a:pt x="0" y="0"/>
                </a:lnTo>
                <a:lnTo>
                  <a:pt x="80265" y="38221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9296400" y="1765300"/>
            <a:ext cx="1003300" cy="609600"/>
          </a:xfrm>
          <a:custGeom>
            <a:avLst/>
            <a:gdLst/>
            <a:ahLst/>
            <a:cxnLst/>
            <a:rect l="l" t="t" r="r" b="b"/>
            <a:pathLst>
              <a:path w="1003300" h="609600">
                <a:moveTo>
                  <a:pt x="0" y="0"/>
                </a:moveTo>
                <a:lnTo>
                  <a:pt x="889000" y="0"/>
                </a:lnTo>
                <a:lnTo>
                  <a:pt x="1003300" y="114299"/>
                </a:lnTo>
                <a:lnTo>
                  <a:pt x="100330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F7FFFC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10185400" y="1765300"/>
            <a:ext cx="0" cy="114299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185400" y="1879599"/>
            <a:ext cx="114300" cy="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9328150" y="1822450"/>
            <a:ext cx="939799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Meta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Domain</a:t>
            </a:r>
          </a:p>
        </p:txBody>
      </p:sp>
      <p:sp>
        <p:nvSpPr>
          <p:cNvPr id="151" name="Freeform 150"/>
          <p:cNvSpPr/>
          <p:nvPr/>
        </p:nvSpPr>
        <p:spPr>
          <a:xfrm>
            <a:off x="10858500" y="1765300"/>
            <a:ext cx="1003300" cy="609600"/>
          </a:xfrm>
          <a:custGeom>
            <a:avLst/>
            <a:gdLst/>
            <a:ahLst/>
            <a:cxnLst/>
            <a:rect l="l" t="t" r="r" b="b"/>
            <a:pathLst>
              <a:path w="1003300" h="609600">
                <a:moveTo>
                  <a:pt x="0" y="0"/>
                </a:moveTo>
                <a:lnTo>
                  <a:pt x="889000" y="0"/>
                </a:lnTo>
                <a:lnTo>
                  <a:pt x="1003300" y="114299"/>
                </a:lnTo>
                <a:lnTo>
                  <a:pt x="100330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F7FFFC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11747500" y="1765300"/>
            <a:ext cx="0" cy="114299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1747500" y="1879599"/>
            <a:ext cx="114300" cy="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10890250" y="1822450"/>
            <a:ext cx="939799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Meta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Domain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458450" y="2000250"/>
            <a:ext cx="177800" cy="209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0A0A"/>
                </a:solidFill>
                <a:latin typeface="Arial"/>
              </a:rPr>
              <a:t>...</a:t>
            </a:r>
          </a:p>
        </p:txBody>
      </p:sp>
      <p:pic>
        <p:nvPicPr>
          <p:cNvPr id="156" name="Picture 155" descr="llm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07650" y="2330450"/>
            <a:ext cx="311150" cy="323850"/>
          </a:xfrm>
          <a:prstGeom prst="rect">
            <a:avLst/>
          </a:prstGeom>
          <a:effectLst/>
        </p:spPr>
      </p:pic>
      <p:cxnSp>
        <p:nvCxnSpPr>
          <p:cNvPr id="157" name="Connector 156"/>
          <p:cNvCxnSpPr/>
          <p:nvPr/>
        </p:nvCxnSpPr>
        <p:spPr>
          <a:xfrm>
            <a:off x="9798050" y="2381250"/>
            <a:ext cx="539750" cy="273050"/>
          </a:xfrm>
          <a:prstGeom prst="line">
            <a:avLst/>
          </a:prstGeom>
          <a:ln w="1397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Freeform 157"/>
          <p:cNvSpPr/>
          <p:nvPr/>
        </p:nvSpPr>
        <p:spPr>
          <a:xfrm>
            <a:off x="10249740" y="2580239"/>
            <a:ext cx="88060" cy="79327"/>
          </a:xfrm>
          <a:custGeom>
            <a:avLst/>
            <a:gdLst/>
            <a:ahLst/>
            <a:cxnLst/>
            <a:rect l="l" t="t" r="r" b="b"/>
            <a:pathLst>
              <a:path w="88060" h="79327">
                <a:moveTo>
                  <a:pt x="88060" y="74061"/>
                </a:moveTo>
                <a:lnTo>
                  <a:pt x="0" y="79327"/>
                </a:lnTo>
                <a:lnTo>
                  <a:pt x="40130" y="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 flipH="1">
            <a:off x="10756900" y="2381250"/>
            <a:ext cx="603250" cy="273050"/>
          </a:xfrm>
          <a:prstGeom prst="line">
            <a:avLst/>
          </a:prstGeom>
          <a:ln w="1397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reeform 159"/>
          <p:cNvSpPr/>
          <p:nvPr/>
        </p:nvSpPr>
        <p:spPr>
          <a:xfrm>
            <a:off x="10756900" y="2582383"/>
            <a:ext cx="87749" cy="80990"/>
          </a:xfrm>
          <a:custGeom>
            <a:avLst/>
            <a:gdLst/>
            <a:ahLst/>
            <a:cxnLst/>
            <a:rect l="l" t="t" r="r" b="b"/>
            <a:pathLst>
              <a:path w="87749" h="80990">
                <a:moveTo>
                  <a:pt x="0" y="71917"/>
                </a:moveTo>
                <a:lnTo>
                  <a:pt x="51090" y="0"/>
                </a:lnTo>
                <a:lnTo>
                  <a:pt x="87749" y="8099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9944100" y="2660650"/>
            <a:ext cx="1289050" cy="654050"/>
          </a:xfrm>
          <a:custGeom>
            <a:avLst/>
            <a:gdLst/>
            <a:ahLst/>
            <a:cxnLst/>
            <a:rect l="l" t="t" r="r" b="b"/>
            <a:pathLst>
              <a:path w="1289050" h="654050">
                <a:moveTo>
                  <a:pt x="0" y="0"/>
                </a:moveTo>
                <a:lnTo>
                  <a:pt x="1168400" y="0"/>
                </a:lnTo>
                <a:lnTo>
                  <a:pt x="1289050" y="120650"/>
                </a:lnTo>
                <a:lnTo>
                  <a:pt x="1289050" y="654050"/>
                </a:lnTo>
                <a:lnTo>
                  <a:pt x="0" y="654050"/>
                </a:lnTo>
                <a:close/>
              </a:path>
            </a:pathLst>
          </a:custGeom>
          <a:solidFill>
            <a:srgbClr val="F7FFFC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11112500" y="2660650"/>
            <a:ext cx="0" cy="120650"/>
          </a:xfrm>
          <a:prstGeom prst="line">
            <a:avLst/>
          </a:prstGeom>
          <a:ln w="15875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1112500" y="2781300"/>
            <a:ext cx="120650" cy="0"/>
          </a:xfrm>
          <a:prstGeom prst="line">
            <a:avLst/>
          </a:prstGeom>
          <a:ln w="15875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9975850" y="2717800"/>
            <a:ext cx="1225550" cy="55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A0A0A"/>
                </a:solidFill>
                <a:latin typeface="Arial"/>
              </a:rPr>
              <a:t>Meta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A0A0A"/>
                </a:solidFill>
                <a:latin typeface="Arial"/>
              </a:rPr>
              <a:t>Domain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71500" y="3797300"/>
            <a:ext cx="2286000" cy="971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0A0A0A"/>
                </a:solidFill>
                <a:latin typeface="Arial"/>
              </a:rPr>
              <a:t>Move the corn from the pot</a:t>
            </a:r>
          </a:p>
          <a:p>
            <a:pPr algn="ctr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0A0A0A"/>
                </a:solidFill>
                <a:latin typeface="Arial"/>
              </a:rPr>
              <a:t>into the orange bowl, wipe the</a:t>
            </a:r>
          </a:p>
          <a:p>
            <a:pPr algn="ctr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0A0A0A"/>
                </a:solidFill>
                <a:latin typeface="Arial"/>
              </a:rPr>
              <a:t>table with the towel in the</a:t>
            </a:r>
          </a:p>
          <a:p>
            <a:pPr algn="ctr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0A0A0A"/>
                </a:solidFill>
                <a:latin typeface="Arial"/>
              </a:rPr>
              <a:t>drawer and put it back to the</a:t>
            </a:r>
          </a:p>
          <a:p>
            <a:pPr algn="ctr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0A0A0A"/>
                </a:solidFill>
                <a:latin typeface="Arial"/>
              </a:rPr>
              <a:t>closed drawer.</a:t>
            </a:r>
          </a:p>
        </p:txBody>
      </p:sp>
      <p:pic>
        <p:nvPicPr>
          <p:cNvPr id="166" name="Picture 165" descr="planning_scen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000" y="4991100"/>
            <a:ext cx="2178050" cy="1758950"/>
          </a:xfrm>
          <a:prstGeom prst="rect">
            <a:avLst/>
          </a:prstGeom>
          <a:effectLst/>
        </p:spPr>
      </p:pic>
      <p:cxnSp>
        <p:nvCxnSpPr>
          <p:cNvPr id="167" name="Connector 166"/>
          <p:cNvCxnSpPr/>
          <p:nvPr/>
        </p:nvCxnSpPr>
        <p:spPr>
          <a:xfrm>
            <a:off x="2908300" y="4521200"/>
            <a:ext cx="158750" cy="0"/>
          </a:xfrm>
          <a:prstGeom prst="line">
            <a:avLst/>
          </a:prstGeom>
          <a:ln w="25400">
            <a:solidFill>
              <a:srgbClr val="69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067050" y="4521200"/>
            <a:ext cx="0" cy="946150"/>
          </a:xfrm>
          <a:prstGeom prst="line">
            <a:avLst/>
          </a:prstGeom>
          <a:ln w="25400">
            <a:solidFill>
              <a:srgbClr val="69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067050" y="5467350"/>
            <a:ext cx="247650" cy="0"/>
          </a:xfrm>
          <a:prstGeom prst="line">
            <a:avLst/>
          </a:prstGeom>
          <a:ln w="25400">
            <a:solidFill>
              <a:srgbClr val="69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reeform 169"/>
          <p:cNvSpPr/>
          <p:nvPr/>
        </p:nvSpPr>
        <p:spPr>
          <a:xfrm>
            <a:off x="3238500" y="54229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76200" y="44450"/>
                </a:move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69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2813050" y="5867400"/>
            <a:ext cx="254000" cy="0"/>
          </a:xfrm>
          <a:prstGeom prst="line">
            <a:avLst/>
          </a:prstGeom>
          <a:ln w="25400">
            <a:solidFill>
              <a:srgbClr val="69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Freeform 171"/>
          <p:cNvSpPr/>
          <p:nvPr/>
        </p:nvSpPr>
        <p:spPr>
          <a:xfrm>
            <a:off x="3333750" y="4356100"/>
            <a:ext cx="939800" cy="596900"/>
          </a:xfrm>
          <a:custGeom>
            <a:avLst/>
            <a:gdLst/>
            <a:ahLst/>
            <a:cxnLst/>
            <a:rect l="l" t="t" r="r" b="b"/>
            <a:pathLst>
              <a:path w="939800" h="596900">
                <a:moveTo>
                  <a:pt x="0" y="0"/>
                </a:moveTo>
                <a:lnTo>
                  <a:pt x="812800" y="0"/>
                </a:lnTo>
                <a:lnTo>
                  <a:pt x="939800" y="127000"/>
                </a:lnTo>
                <a:lnTo>
                  <a:pt x="939800" y="596900"/>
                </a:lnTo>
                <a:lnTo>
                  <a:pt x="0" y="596900"/>
                </a:lnTo>
                <a:close/>
              </a:path>
            </a:pathLst>
          </a:custGeom>
          <a:solidFill>
            <a:srgbClr val="F9FFFD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>
            <a:off x="4146550" y="4356100"/>
            <a:ext cx="0" cy="12700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4146550" y="4483100"/>
            <a:ext cx="127000" cy="0"/>
          </a:xfrm>
          <a:prstGeom prst="line">
            <a:avLst/>
          </a:prstGeom>
          <a:ln w="1524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3365500" y="4413250"/>
            <a:ext cx="876300" cy="501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Meta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Domain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495800" y="4356100"/>
            <a:ext cx="1111250" cy="596900"/>
          </a:xfrm>
          <a:prstGeom prst="roundRect">
            <a:avLst>
              <a:gd name="adj" fmla="val 16000"/>
            </a:avLst>
          </a:prstGeom>
          <a:solidFill>
            <a:srgbClr val="DD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72000" y="4419600"/>
            <a:ext cx="958850" cy="482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Predicate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Grouping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4279900" y="4654550"/>
            <a:ext cx="196850" cy="0"/>
          </a:xfrm>
          <a:prstGeom prst="line">
            <a:avLst/>
          </a:prstGeom>
          <a:ln w="190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Freeform 178"/>
          <p:cNvSpPr/>
          <p:nvPr/>
        </p:nvSpPr>
        <p:spPr>
          <a:xfrm>
            <a:off x="4400550" y="4610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76200" y="44450"/>
                </a:move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5048250" y="4953000"/>
            <a:ext cx="0" cy="190500"/>
          </a:xfrm>
          <a:prstGeom prst="line">
            <a:avLst/>
          </a:prstGeom>
          <a:ln w="190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Freeform 180"/>
          <p:cNvSpPr/>
          <p:nvPr/>
        </p:nvSpPr>
        <p:spPr>
          <a:xfrm>
            <a:off x="5003800" y="50673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88900" h="76200">
                <a:moveTo>
                  <a:pt x="44450" y="76200"/>
                </a:moveTo>
                <a:lnTo>
                  <a:pt x="0" y="0"/>
                </a:lnTo>
                <a:lnTo>
                  <a:pt x="88900" y="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3321050" y="5156200"/>
            <a:ext cx="2292350" cy="666750"/>
          </a:xfrm>
          <a:prstGeom prst="roundRect">
            <a:avLst>
              <a:gd name="adj" fmla="val 16000"/>
            </a:avLst>
          </a:prstGeom>
          <a:solidFill>
            <a:srgbClr val="DD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llm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0" y="5270500"/>
            <a:ext cx="342900" cy="355600"/>
          </a:xfrm>
          <a:prstGeom prst="rect">
            <a:avLst/>
          </a:prstGeom>
          <a:effectLst/>
        </p:spPr>
      </p:pic>
      <p:sp>
        <p:nvSpPr>
          <p:cNvPr id="184" name="TextBox 183"/>
          <p:cNvSpPr txBox="1"/>
          <p:nvPr/>
        </p:nvSpPr>
        <p:spPr>
          <a:xfrm>
            <a:off x="3835400" y="5207000"/>
            <a:ext cx="1695450" cy="565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Predicate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&amp; Operator Filtering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4470400" y="5822950"/>
            <a:ext cx="0" cy="158750"/>
          </a:xfrm>
          <a:prstGeom prst="line">
            <a:avLst/>
          </a:prstGeom>
          <a:ln w="190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Freeform 185"/>
          <p:cNvSpPr/>
          <p:nvPr/>
        </p:nvSpPr>
        <p:spPr>
          <a:xfrm>
            <a:off x="4425950" y="59055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88900" h="76200">
                <a:moveTo>
                  <a:pt x="44450" y="76200"/>
                </a:moveTo>
                <a:lnTo>
                  <a:pt x="0" y="0"/>
                </a:lnTo>
                <a:lnTo>
                  <a:pt x="88900" y="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3321050" y="5988050"/>
            <a:ext cx="2292350" cy="603250"/>
          </a:xfrm>
          <a:prstGeom prst="roundRect">
            <a:avLst>
              <a:gd name="adj" fmla="val 16000"/>
            </a:avLst>
          </a:prstGeom>
          <a:solidFill>
            <a:srgbClr val="DD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8" name="Picture 187" descr="llm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0" y="6089650"/>
            <a:ext cx="342900" cy="355600"/>
          </a:xfrm>
          <a:prstGeom prst="rect">
            <a:avLst/>
          </a:prstGeom>
          <a:effectLst/>
        </p:spPr>
      </p:pic>
      <p:sp>
        <p:nvSpPr>
          <p:cNvPr id="189" name="TextBox 188"/>
          <p:cNvSpPr txBox="1"/>
          <p:nvPr/>
        </p:nvSpPr>
        <p:spPr>
          <a:xfrm>
            <a:off x="3835400" y="6045200"/>
            <a:ext cx="927100" cy="4952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Problem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Arial"/>
              </a:rPr>
              <a:t>Generation</a:t>
            </a:r>
          </a:p>
        </p:txBody>
      </p:sp>
      <p:sp>
        <p:nvSpPr>
          <p:cNvPr id="190" name="Freeform 189"/>
          <p:cNvSpPr/>
          <p:nvPr/>
        </p:nvSpPr>
        <p:spPr>
          <a:xfrm>
            <a:off x="4826000" y="6083300"/>
            <a:ext cx="711200" cy="419100"/>
          </a:xfrm>
          <a:custGeom>
            <a:avLst/>
            <a:gdLst/>
            <a:ahLst/>
            <a:cxnLst/>
            <a:rect l="l" t="t" r="r" b="b"/>
            <a:pathLst>
              <a:path w="711200" h="419100">
                <a:moveTo>
                  <a:pt x="0" y="0"/>
                </a:moveTo>
                <a:lnTo>
                  <a:pt x="622300" y="0"/>
                </a:lnTo>
                <a:lnTo>
                  <a:pt x="711200" y="88900"/>
                </a:lnTo>
                <a:lnTo>
                  <a:pt x="711200" y="419100"/>
                </a:lnTo>
                <a:lnTo>
                  <a:pt x="0" y="419100"/>
                </a:lnTo>
                <a:close/>
              </a:path>
            </a:pathLst>
          </a:custGeom>
          <a:solidFill>
            <a:srgbClr val="FBFFFD"/>
          </a:solidFill>
          <a:ln w="1016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5448300" y="6083300"/>
            <a:ext cx="0" cy="88900"/>
          </a:xfrm>
          <a:prstGeom prst="line">
            <a:avLst/>
          </a:prstGeom>
          <a:ln w="1016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5448300" y="6172200"/>
            <a:ext cx="88900" cy="0"/>
          </a:xfrm>
          <a:prstGeom prst="line">
            <a:avLst/>
          </a:prstGeom>
          <a:ln w="1016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4864100" y="6108700"/>
            <a:ext cx="641350" cy="381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sz="650" i="1">
                <a:solidFill>
                  <a:srgbClr val="1266A0"/>
                </a:solidFill>
                <a:latin typeface="Arial"/>
              </a:rPr>
              <a:t>:objects</a:t>
            </a:r>
            <a:r>
              <a:rPr sz="650" i="1">
                <a:solidFill>
                  <a:srgbClr val="0A0A0A"/>
                </a:solidFill>
                <a:latin typeface="Arial"/>
              </a:rPr>
              <a:t> (...)</a:t>
            </a:r>
          </a:p>
          <a:p>
            <a: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sz="650" i="1">
                <a:solidFill>
                  <a:srgbClr val="159936"/>
                </a:solidFill>
                <a:latin typeface="Arial"/>
              </a:rPr>
              <a:t>:init ...</a:t>
            </a:r>
          </a:p>
          <a:p>
            <a: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sz="650" i="1">
                <a:solidFill>
                  <a:srgbClr val="D19100"/>
                </a:solidFill>
                <a:latin typeface="Arial"/>
              </a:rPr>
              <a:t>:goal</a:t>
            </a:r>
            <a:r>
              <a:rPr sz="650" i="1">
                <a:solidFill>
                  <a:srgbClr val="0A0A0A"/>
                </a:solidFill>
                <a:latin typeface="Arial"/>
              </a:rPr>
              <a:t> (...)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5613400" y="6292850"/>
            <a:ext cx="196850" cy="0"/>
          </a:xfrm>
          <a:prstGeom prst="line">
            <a:avLst/>
          </a:prstGeom>
          <a:ln w="25400">
            <a:solidFill>
              <a:srgbClr val="69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5810250" y="4654550"/>
            <a:ext cx="0" cy="1638300"/>
          </a:xfrm>
          <a:prstGeom prst="line">
            <a:avLst/>
          </a:prstGeom>
          <a:ln w="25400">
            <a:solidFill>
              <a:srgbClr val="69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5810250" y="4654550"/>
            <a:ext cx="266700" cy="0"/>
          </a:xfrm>
          <a:prstGeom prst="line">
            <a:avLst/>
          </a:prstGeom>
          <a:ln w="25400">
            <a:solidFill>
              <a:srgbClr val="69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Freeform 196"/>
          <p:cNvSpPr/>
          <p:nvPr/>
        </p:nvSpPr>
        <p:spPr>
          <a:xfrm>
            <a:off x="6000750" y="4610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76200" y="44450"/>
                </a:move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69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6083300" y="4356100"/>
            <a:ext cx="1708150" cy="590550"/>
          </a:xfrm>
          <a:prstGeom prst="roundRect">
            <a:avLst>
              <a:gd name="adj" fmla="val 16000"/>
            </a:avLst>
          </a:prstGeom>
          <a:solidFill>
            <a:srgbClr val="DD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6495796" y="4445000"/>
            <a:ext cx="166497" cy="15201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895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0" name="Connector 199"/>
          <p:cNvCxnSpPr/>
          <p:nvPr/>
        </p:nvCxnSpPr>
        <p:spPr>
          <a:xfrm>
            <a:off x="6579044" y="4597019"/>
            <a:ext cx="0" cy="86868"/>
          </a:xfrm>
          <a:prstGeom prst="line">
            <a:avLst/>
          </a:prstGeom>
          <a:ln w="2895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H="1">
            <a:off x="6445123" y="4683887"/>
            <a:ext cx="133921" cy="0"/>
          </a:xfrm>
          <a:prstGeom prst="line">
            <a:avLst/>
          </a:prstGeom>
          <a:ln w="2895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6445123" y="4683887"/>
            <a:ext cx="0" cy="79629"/>
          </a:xfrm>
          <a:prstGeom prst="line">
            <a:avLst/>
          </a:prstGeom>
          <a:ln w="2895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6579044" y="4683887"/>
            <a:ext cx="133922" cy="0"/>
          </a:xfrm>
          <a:prstGeom prst="line">
            <a:avLst/>
          </a:prstGeom>
          <a:ln w="2895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6712966" y="4683887"/>
            <a:ext cx="0" cy="79629"/>
          </a:xfrm>
          <a:prstGeom prst="line">
            <a:avLst/>
          </a:prstGeom>
          <a:ln w="2895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Rounded Rectangle 204"/>
          <p:cNvSpPr/>
          <p:nvPr/>
        </p:nvSpPr>
        <p:spPr>
          <a:xfrm>
            <a:off x="6394450" y="4763516"/>
            <a:ext cx="101346" cy="9410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895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6662293" y="4763516"/>
            <a:ext cx="101346" cy="9410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895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6946900" y="4419600"/>
            <a:ext cx="723900" cy="482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A0A0A"/>
                </a:solidFill>
                <a:latin typeface="Arial"/>
              </a:rPr>
              <a:t>PDDL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A0A0A"/>
                </a:solidFill>
                <a:latin typeface="Arial"/>
              </a:rPr>
              <a:t>Solver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6940550" y="4946650"/>
            <a:ext cx="0" cy="177800"/>
          </a:xfrm>
          <a:prstGeom prst="line">
            <a:avLst/>
          </a:prstGeom>
          <a:ln w="190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Freeform 208"/>
          <p:cNvSpPr/>
          <p:nvPr/>
        </p:nvSpPr>
        <p:spPr>
          <a:xfrm>
            <a:off x="6896100" y="5048250"/>
            <a:ext cx="88900" cy="76200"/>
          </a:xfrm>
          <a:custGeom>
            <a:avLst/>
            <a:gdLst/>
            <a:ahLst/>
            <a:cxnLst/>
            <a:rect l="l" t="t" r="r" b="b"/>
            <a:pathLst>
              <a:path w="88900" h="76200">
                <a:moveTo>
                  <a:pt x="44450" y="76200"/>
                </a:moveTo>
                <a:lnTo>
                  <a:pt x="0" y="0"/>
                </a:lnTo>
                <a:lnTo>
                  <a:pt x="88900" y="0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6064250" y="5143500"/>
            <a:ext cx="1771650" cy="1492250"/>
          </a:xfrm>
          <a:custGeom>
            <a:avLst/>
            <a:gdLst/>
            <a:ahLst/>
            <a:cxnLst/>
            <a:rect l="l" t="t" r="r" b="b"/>
            <a:pathLst>
              <a:path w="1771650" h="1492250">
                <a:moveTo>
                  <a:pt x="0" y="0"/>
                </a:moveTo>
                <a:lnTo>
                  <a:pt x="1657350" y="0"/>
                </a:lnTo>
                <a:lnTo>
                  <a:pt x="1771650" y="114300"/>
                </a:lnTo>
                <a:lnTo>
                  <a:pt x="1771650" y="1492250"/>
                </a:lnTo>
                <a:lnTo>
                  <a:pt x="0" y="1492250"/>
                </a:lnTo>
                <a:close/>
              </a:path>
            </a:pathLst>
          </a:custGeom>
          <a:solidFill>
            <a:srgbClr val="FBFAF7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7721600" y="5143500"/>
            <a:ext cx="0" cy="114300"/>
          </a:xfrm>
          <a:prstGeom prst="line">
            <a:avLst/>
          </a:prstGeom>
          <a:ln w="9525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7721600" y="5257800"/>
            <a:ext cx="114300" cy="0"/>
          </a:xfrm>
          <a:prstGeom prst="line">
            <a:avLst/>
          </a:prstGeom>
          <a:ln w="9525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6159500" y="5232400"/>
            <a:ext cx="1549400" cy="1314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A21A"/>
                </a:solidFill>
                <a:latin typeface="Arial"/>
              </a:rPr>
              <a:t>remove_lid</a:t>
            </a:r>
            <a:r>
              <a:rPr sz="1100" i="1">
                <a:solidFill>
                  <a:srgbClr val="125DA2"/>
                </a:solidFill>
                <a:latin typeface="Arial"/>
              </a:rPr>
              <a:t> (lid)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A21A"/>
                </a:solidFill>
                <a:latin typeface="Arial"/>
              </a:rPr>
              <a:t>pick_from_rack</a:t>
            </a:r>
            <a:r>
              <a:rPr sz="1100" i="1">
                <a:solidFill>
                  <a:srgbClr val="125DA2"/>
                </a:solidFill>
                <a:latin typeface="Arial"/>
              </a:rPr>
              <a:t> (bowl)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A21A"/>
                </a:solidFill>
                <a:latin typeface="Arial"/>
              </a:rPr>
              <a:t>place_on_table</a:t>
            </a:r>
            <a:r>
              <a:rPr sz="1100" i="1">
                <a:solidFill>
                  <a:srgbClr val="125DA2"/>
                </a:solidFill>
                <a:latin typeface="Arial"/>
              </a:rPr>
              <a:t> (bowl)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A21A"/>
                </a:solidFill>
                <a:latin typeface="Arial"/>
              </a:rPr>
              <a:t>...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A21A"/>
                </a:solidFill>
                <a:latin typeface="Arial"/>
              </a:rPr>
              <a:t>wipe_table</a:t>
            </a:r>
            <a:r>
              <a:rPr sz="1100" i="1">
                <a:solidFill>
                  <a:srgbClr val="125DA2"/>
                </a:solidFill>
                <a:latin typeface="Arial"/>
              </a:rPr>
              <a:t> (towel)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A21A"/>
                </a:solidFill>
                <a:latin typeface="Arial"/>
              </a:rPr>
              <a:t>place_in_drawer</a:t>
            </a:r>
            <a:r>
              <a:rPr sz="1100" i="1">
                <a:solidFill>
                  <a:srgbClr val="125DA2"/>
                </a:solidFill>
                <a:latin typeface="Arial"/>
              </a:rPr>
              <a:t> (towel)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A21A"/>
                </a:solidFill>
                <a:latin typeface="Arial"/>
              </a:rPr>
              <a:t>close_drawer</a:t>
            </a:r>
            <a:r>
              <a:rPr sz="1100" i="1">
                <a:solidFill>
                  <a:srgbClr val="125DA2"/>
                </a:solidFill>
                <a:latin typeface="Arial"/>
              </a:rPr>
              <a:t> (drawer)</a:t>
            </a:r>
          </a:p>
        </p:txBody>
      </p:sp>
      <p:cxnSp>
        <p:nvCxnSpPr>
          <p:cNvPr id="214" name="Connector 213"/>
          <p:cNvCxnSpPr/>
          <p:nvPr/>
        </p:nvCxnSpPr>
        <p:spPr>
          <a:xfrm>
            <a:off x="7835900" y="5918200"/>
            <a:ext cx="241300" cy="0"/>
          </a:xfrm>
          <a:prstGeom prst="line">
            <a:avLst/>
          </a:prstGeom>
          <a:ln w="25400">
            <a:solidFill>
              <a:srgbClr val="69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8077200" y="4546600"/>
            <a:ext cx="0" cy="1371600"/>
          </a:xfrm>
          <a:prstGeom prst="line">
            <a:avLst/>
          </a:prstGeom>
          <a:ln w="25400">
            <a:solidFill>
              <a:srgbClr val="69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8077200" y="4546600"/>
            <a:ext cx="209550" cy="0"/>
          </a:xfrm>
          <a:prstGeom prst="line">
            <a:avLst/>
          </a:prstGeom>
          <a:ln w="25400">
            <a:solidFill>
              <a:srgbClr val="69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Freeform 216"/>
          <p:cNvSpPr/>
          <p:nvPr/>
        </p:nvSpPr>
        <p:spPr>
          <a:xfrm>
            <a:off x="8210549" y="4502150"/>
            <a:ext cx="76201" cy="88900"/>
          </a:xfrm>
          <a:custGeom>
            <a:avLst/>
            <a:gdLst/>
            <a:ahLst/>
            <a:cxnLst/>
            <a:rect l="l" t="t" r="r" b="b"/>
            <a:pathLst>
              <a:path w="76201" h="88900">
                <a:moveTo>
                  <a:pt x="76201" y="44450"/>
                </a:move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69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8" name="Picture 217" descr="exec_r1c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4171950"/>
            <a:ext cx="914400" cy="787400"/>
          </a:xfrm>
          <a:prstGeom prst="rect">
            <a:avLst/>
          </a:prstGeom>
          <a:effectLst/>
        </p:spPr>
      </p:pic>
      <p:pic>
        <p:nvPicPr>
          <p:cNvPr id="219" name="Picture 218" descr="exec_r1c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39250" y="4171950"/>
            <a:ext cx="908050" cy="787400"/>
          </a:xfrm>
          <a:prstGeom prst="rect">
            <a:avLst/>
          </a:prstGeom>
          <a:effectLst/>
        </p:spPr>
      </p:pic>
      <p:pic>
        <p:nvPicPr>
          <p:cNvPr id="220" name="Picture 219" descr="exec_r1c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0000" y="4171950"/>
            <a:ext cx="914400" cy="787400"/>
          </a:xfrm>
          <a:prstGeom prst="rect">
            <a:avLst/>
          </a:prstGeom>
          <a:effectLst/>
        </p:spPr>
      </p:pic>
      <p:pic>
        <p:nvPicPr>
          <p:cNvPr id="221" name="Picture 220" descr="exec_r1c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93450" y="4171950"/>
            <a:ext cx="901700" cy="787400"/>
          </a:xfrm>
          <a:prstGeom prst="rect">
            <a:avLst/>
          </a:prstGeom>
          <a:effectLst/>
        </p:spPr>
      </p:pic>
      <p:pic>
        <p:nvPicPr>
          <p:cNvPr id="222" name="Picture 221" descr="exec_r2c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5800" y="4991100"/>
            <a:ext cx="914400" cy="806450"/>
          </a:xfrm>
          <a:prstGeom prst="rect">
            <a:avLst/>
          </a:prstGeom>
          <a:effectLst/>
        </p:spPr>
      </p:pic>
      <p:pic>
        <p:nvPicPr>
          <p:cNvPr id="223" name="Picture 222" descr="exec_r2c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39250" y="4991100"/>
            <a:ext cx="908050" cy="806450"/>
          </a:xfrm>
          <a:prstGeom prst="rect">
            <a:avLst/>
          </a:prstGeom>
          <a:effectLst/>
        </p:spPr>
      </p:pic>
      <p:pic>
        <p:nvPicPr>
          <p:cNvPr id="224" name="Picture 223" descr="exec_r2c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60000" y="4991100"/>
            <a:ext cx="914400" cy="806450"/>
          </a:xfrm>
          <a:prstGeom prst="rect">
            <a:avLst/>
          </a:prstGeom>
          <a:effectLst/>
        </p:spPr>
      </p:pic>
      <p:pic>
        <p:nvPicPr>
          <p:cNvPr id="225" name="Picture 224" descr="exec_r2c4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93450" y="4991100"/>
            <a:ext cx="901700" cy="806450"/>
          </a:xfrm>
          <a:prstGeom prst="rect">
            <a:avLst/>
          </a:prstGeom>
          <a:effectLst/>
        </p:spPr>
      </p:pic>
      <p:pic>
        <p:nvPicPr>
          <p:cNvPr id="226" name="Picture 225" descr="exec_r3c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5800" y="5835650"/>
            <a:ext cx="914400" cy="793750"/>
          </a:xfrm>
          <a:prstGeom prst="rect">
            <a:avLst/>
          </a:prstGeom>
          <a:effectLst/>
        </p:spPr>
      </p:pic>
      <p:pic>
        <p:nvPicPr>
          <p:cNvPr id="227" name="Picture 226" descr="exec_r3c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9250" y="5835650"/>
            <a:ext cx="908050" cy="793750"/>
          </a:xfrm>
          <a:prstGeom prst="rect">
            <a:avLst/>
          </a:prstGeom>
          <a:effectLst/>
        </p:spPr>
      </p:pic>
      <p:pic>
        <p:nvPicPr>
          <p:cNvPr id="228" name="Picture 227" descr="exec_r3c3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60000" y="5835650"/>
            <a:ext cx="914400" cy="793750"/>
          </a:xfrm>
          <a:prstGeom prst="rect">
            <a:avLst/>
          </a:prstGeom>
          <a:effectLst/>
        </p:spPr>
      </p:pic>
      <p:pic>
        <p:nvPicPr>
          <p:cNvPr id="229" name="Picture 228" descr="exec_r3c4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93450" y="5835650"/>
            <a:ext cx="901700" cy="79375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UniDomain Pretraining a Unified PDDL Domain from Real-World Demonstrations for Generalizable Robot Task Plan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UniDomain workflow diagram — editable reconstruction</dc:title>
  <dc:subject>Editable vector reconstruction from the supplied reference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